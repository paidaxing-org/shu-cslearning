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4767" r:id="rId2"/>
    <p:sldMasterId id="2147485045" r:id="rId3"/>
  </p:sldMasterIdLst>
  <p:notesMasterIdLst>
    <p:notesMasterId r:id="rId86"/>
  </p:notesMasterIdLst>
  <p:sldIdLst>
    <p:sldId id="310" r:id="rId4"/>
    <p:sldId id="316" r:id="rId5"/>
    <p:sldId id="544" r:id="rId6"/>
    <p:sldId id="420" r:id="rId7"/>
    <p:sldId id="433" r:id="rId8"/>
    <p:sldId id="519" r:id="rId9"/>
    <p:sldId id="435" r:id="rId10"/>
    <p:sldId id="436" r:id="rId11"/>
    <p:sldId id="520" r:id="rId12"/>
    <p:sldId id="322" r:id="rId13"/>
    <p:sldId id="327" r:id="rId14"/>
    <p:sldId id="331" r:id="rId15"/>
    <p:sldId id="442" r:id="rId16"/>
    <p:sldId id="443" r:id="rId17"/>
    <p:sldId id="444" r:id="rId18"/>
    <p:sldId id="458" r:id="rId19"/>
    <p:sldId id="459" r:id="rId20"/>
    <p:sldId id="460" r:id="rId21"/>
    <p:sldId id="344" r:id="rId22"/>
    <p:sldId id="404" r:id="rId23"/>
    <p:sldId id="528" r:id="rId24"/>
    <p:sldId id="522" r:id="rId25"/>
    <p:sldId id="455" r:id="rId26"/>
    <p:sldId id="551" r:id="rId27"/>
    <p:sldId id="552" r:id="rId28"/>
    <p:sldId id="463" r:id="rId29"/>
    <p:sldId id="457" r:id="rId30"/>
    <p:sldId id="464" r:id="rId31"/>
    <p:sldId id="529" r:id="rId32"/>
    <p:sldId id="471" r:id="rId33"/>
    <p:sldId id="472" r:id="rId34"/>
    <p:sldId id="473" r:id="rId35"/>
    <p:sldId id="474" r:id="rId36"/>
    <p:sldId id="475" r:id="rId37"/>
    <p:sldId id="476" r:id="rId38"/>
    <p:sldId id="477" r:id="rId39"/>
    <p:sldId id="530" r:id="rId40"/>
    <p:sldId id="526" r:id="rId41"/>
    <p:sldId id="553" r:id="rId42"/>
    <p:sldId id="554" r:id="rId43"/>
    <p:sldId id="532" r:id="rId44"/>
    <p:sldId id="536" r:id="rId45"/>
    <p:sldId id="534" r:id="rId46"/>
    <p:sldId id="564" r:id="rId47"/>
    <p:sldId id="565" r:id="rId48"/>
    <p:sldId id="566" r:id="rId49"/>
    <p:sldId id="567" r:id="rId50"/>
    <p:sldId id="568" r:id="rId51"/>
    <p:sldId id="569" r:id="rId52"/>
    <p:sldId id="570" r:id="rId53"/>
    <p:sldId id="572" r:id="rId54"/>
    <p:sldId id="571" r:id="rId55"/>
    <p:sldId id="535" r:id="rId56"/>
    <p:sldId id="539" r:id="rId57"/>
    <p:sldId id="537" r:id="rId58"/>
    <p:sldId id="541" r:id="rId59"/>
    <p:sldId id="495" r:id="rId60"/>
    <p:sldId id="501" r:id="rId61"/>
    <p:sldId id="515" r:id="rId62"/>
    <p:sldId id="502" r:id="rId63"/>
    <p:sldId id="503" r:id="rId64"/>
    <p:sldId id="504" r:id="rId65"/>
    <p:sldId id="542" r:id="rId66"/>
    <p:sldId id="545" r:id="rId67"/>
    <p:sldId id="546" r:id="rId68"/>
    <p:sldId id="547" r:id="rId69"/>
    <p:sldId id="465" r:id="rId70"/>
    <p:sldId id="466" r:id="rId71"/>
    <p:sldId id="467" r:id="rId72"/>
    <p:sldId id="548" r:id="rId73"/>
    <p:sldId id="549" r:id="rId74"/>
    <p:sldId id="550" r:id="rId75"/>
    <p:sldId id="468" r:id="rId76"/>
    <p:sldId id="469" r:id="rId77"/>
    <p:sldId id="451" r:id="rId78"/>
    <p:sldId id="440" r:id="rId79"/>
    <p:sldId id="445" r:id="rId80"/>
    <p:sldId id="450" r:id="rId81"/>
    <p:sldId id="452" r:id="rId82"/>
    <p:sldId id="439" r:id="rId83"/>
    <p:sldId id="533" r:id="rId84"/>
    <p:sldId id="276" r:id="rId8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黑体" pitchFamily="2" charset="-122"/>
        <a:cs typeface="+mn-cs"/>
      </a:defRPr>
    </a:lvl1pPr>
    <a:lvl2pPr marL="457200" algn="l" rtl="0" fontAlgn="base">
      <a:spcBef>
        <a:spcPct val="0"/>
      </a:spcBef>
      <a:spcAft>
        <a:spcPct val="0"/>
      </a:spcAft>
      <a:defRPr kern="1200">
        <a:solidFill>
          <a:schemeClr val="tx1"/>
        </a:solidFill>
        <a:latin typeface="Arial" charset="0"/>
        <a:ea typeface="黑体" pitchFamily="2" charset="-122"/>
        <a:cs typeface="+mn-cs"/>
      </a:defRPr>
    </a:lvl2pPr>
    <a:lvl3pPr marL="914400" algn="l" rtl="0" fontAlgn="base">
      <a:spcBef>
        <a:spcPct val="0"/>
      </a:spcBef>
      <a:spcAft>
        <a:spcPct val="0"/>
      </a:spcAft>
      <a:defRPr kern="1200">
        <a:solidFill>
          <a:schemeClr val="tx1"/>
        </a:solidFill>
        <a:latin typeface="Arial" charset="0"/>
        <a:ea typeface="黑体" pitchFamily="2" charset="-122"/>
        <a:cs typeface="+mn-cs"/>
      </a:defRPr>
    </a:lvl3pPr>
    <a:lvl4pPr marL="1371600" algn="l" rtl="0" fontAlgn="base">
      <a:spcBef>
        <a:spcPct val="0"/>
      </a:spcBef>
      <a:spcAft>
        <a:spcPct val="0"/>
      </a:spcAft>
      <a:defRPr kern="1200">
        <a:solidFill>
          <a:schemeClr val="tx1"/>
        </a:solidFill>
        <a:latin typeface="Arial" charset="0"/>
        <a:ea typeface="黑体" pitchFamily="2" charset="-122"/>
        <a:cs typeface="+mn-cs"/>
      </a:defRPr>
    </a:lvl4pPr>
    <a:lvl5pPr marL="1828800" algn="l" rtl="0" fontAlgn="base">
      <a:spcBef>
        <a:spcPct val="0"/>
      </a:spcBef>
      <a:spcAft>
        <a:spcPct val="0"/>
      </a:spcAft>
      <a:defRPr kern="1200">
        <a:solidFill>
          <a:schemeClr val="tx1"/>
        </a:solidFill>
        <a:latin typeface="Arial" charset="0"/>
        <a:ea typeface="黑体" pitchFamily="2" charset="-122"/>
        <a:cs typeface="+mn-cs"/>
      </a:defRPr>
    </a:lvl5pPr>
    <a:lvl6pPr marL="2286000" algn="l" defTabSz="914400" rtl="0" eaLnBrk="1" latinLnBrk="0" hangingPunct="1">
      <a:defRPr kern="1200">
        <a:solidFill>
          <a:schemeClr val="tx1"/>
        </a:solidFill>
        <a:latin typeface="Arial" charset="0"/>
        <a:ea typeface="黑体" pitchFamily="2" charset="-122"/>
        <a:cs typeface="+mn-cs"/>
      </a:defRPr>
    </a:lvl6pPr>
    <a:lvl7pPr marL="2743200" algn="l" defTabSz="914400" rtl="0" eaLnBrk="1" latinLnBrk="0" hangingPunct="1">
      <a:defRPr kern="1200">
        <a:solidFill>
          <a:schemeClr val="tx1"/>
        </a:solidFill>
        <a:latin typeface="Arial" charset="0"/>
        <a:ea typeface="黑体" pitchFamily="2" charset="-122"/>
        <a:cs typeface="+mn-cs"/>
      </a:defRPr>
    </a:lvl7pPr>
    <a:lvl8pPr marL="3200400" algn="l" defTabSz="914400" rtl="0" eaLnBrk="1" latinLnBrk="0" hangingPunct="1">
      <a:defRPr kern="1200">
        <a:solidFill>
          <a:schemeClr val="tx1"/>
        </a:solidFill>
        <a:latin typeface="Arial" charset="0"/>
        <a:ea typeface="黑体" pitchFamily="2" charset="-122"/>
        <a:cs typeface="+mn-cs"/>
      </a:defRPr>
    </a:lvl8pPr>
    <a:lvl9pPr marL="3657600" algn="l" defTabSz="914400" rtl="0" eaLnBrk="1" latinLnBrk="0" hangingPunct="1">
      <a:defRPr kern="1200">
        <a:solidFill>
          <a:schemeClr val="tx1"/>
        </a:solidFill>
        <a:latin typeface="Arial" charset="0"/>
        <a:ea typeface="黑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66FF"/>
    <a:srgbClr val="990000"/>
    <a:srgbClr val="808080"/>
    <a:srgbClr val="3F6D97"/>
    <a:srgbClr val="00808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88" autoAdjust="0"/>
    <p:restoredTop sz="85327" autoAdjust="0"/>
  </p:normalViewPr>
  <p:slideViewPr>
    <p:cSldViewPr>
      <p:cViewPr varScale="1">
        <p:scale>
          <a:sx n="58" d="100"/>
          <a:sy n="58" d="100"/>
        </p:scale>
        <p:origin x="1664" y="56"/>
      </p:cViewPr>
      <p:guideLst>
        <p:guide orient="horz" pos="2160"/>
        <p:guide pos="2880"/>
      </p:guideLst>
    </p:cSldViewPr>
  </p:slideViewPr>
  <p:outlineViewPr>
    <p:cViewPr>
      <p:scale>
        <a:sx n="33" d="100"/>
        <a:sy n="33" d="100"/>
      </p:scale>
      <p:origin x="0" y="1532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ableStyles" Target="tableStyles.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EFC6FDAF-F388-4910-92C4-CF98A6E40003}" type="datetimeFigureOut">
              <a:rPr lang="zh-CN" altLang="en-US"/>
              <a:pPr>
                <a:defRPr/>
              </a:pPr>
              <a:t>2024/8/25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49182FC5-C057-4B02-8B5D-53FE6B06738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dirty="0"/>
              <a:t>已经学过</a:t>
            </a:r>
            <a:r>
              <a:rPr lang="en-US" altLang="zh-CN" dirty="0"/>
              <a:t>C</a:t>
            </a:r>
            <a:r>
              <a:rPr lang="zh-CN" altLang="en-US" dirty="0"/>
              <a:t>语言程序设计，准备学习</a:t>
            </a:r>
            <a:r>
              <a:rPr lang="en-US" altLang="zh-CN" dirty="0"/>
              <a:t>C++</a:t>
            </a:r>
            <a:r>
              <a:rPr lang="zh-CN" altLang="en-US" dirty="0"/>
              <a:t>面向对象程序设计者适用 </a:t>
            </a:r>
          </a:p>
        </p:txBody>
      </p:sp>
      <p:sp>
        <p:nvSpPr>
          <p:cNvPr id="7066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B872187-A9FC-43BB-AA08-23AAF461B293}" type="slidenum">
              <a:rPr lang="zh-CN" altLang="en-US"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p:spPr>
      </p:sp>
      <p:sp>
        <p:nvSpPr>
          <p:cNvPr id="716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16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E03991-2376-4C7F-AC73-56A03393F9BE}"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10547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B87106C-5614-4705-9E98-6BFB36324A74}" type="slidenum">
              <a:rPr lang="zh-CN" altLang="en-US" smtClean="0">
                <a:solidFill>
                  <a:srgbClr val="000000"/>
                </a:solidFill>
              </a:rPr>
              <a:pPr/>
              <a:t>3</a:t>
            </a:fld>
            <a:endParaRPr lang="en-US" altLang="zh-CN">
              <a:solidFill>
                <a:srgbClr val="000000"/>
              </a:solidFill>
            </a:endParaRPr>
          </a:p>
        </p:txBody>
      </p:sp>
    </p:spTree>
    <p:extLst>
      <p:ext uri="{BB962C8B-B14F-4D97-AF65-F5344CB8AC3E}">
        <p14:creationId xmlns:p14="http://schemas.microsoft.com/office/powerpoint/2010/main" val="1029827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bwMode="auto">
          <a:noFill/>
          <a:ln>
            <a:solidFill>
              <a:srgbClr val="000000"/>
            </a:solidFill>
            <a:miter lim="800000"/>
            <a:headEnd/>
            <a:tailEnd/>
          </a:ln>
        </p:spPr>
      </p:sp>
      <p:sp>
        <p:nvSpPr>
          <p:cNvPr id="7577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578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AA68FA2-316F-4DA3-AD88-CE5A084503B2}" type="slidenum">
              <a:rPr lang="zh-CN" altLang="en-US" smtClean="0">
                <a:solidFill>
                  <a:srgbClr val="000000"/>
                </a:solidFill>
              </a:rPr>
              <a:pPr/>
              <a:t>4</a:t>
            </a:fld>
            <a:endParaRPr lang="en-US" altLang="zh-CN">
              <a:solidFill>
                <a:srgbClr val="000000"/>
              </a:solidFill>
            </a:endParaRPr>
          </a:p>
        </p:txBody>
      </p:sp>
    </p:spTree>
    <p:extLst>
      <p:ext uri="{BB962C8B-B14F-4D97-AF65-F5344CB8AC3E}">
        <p14:creationId xmlns:p14="http://schemas.microsoft.com/office/powerpoint/2010/main" val="3963799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headEnd/>
            <a:tailEnd/>
          </a:ln>
        </p:spPr>
      </p:sp>
      <p:sp>
        <p:nvSpPr>
          <p:cNvPr id="8601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8602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42AA0B9-20D3-4CF1-AE73-5A0A40403E59}" type="slidenum">
              <a:rPr lang="zh-CN" altLang="en-US" smtClean="0">
                <a:solidFill>
                  <a:srgbClr val="000000"/>
                </a:solidFill>
              </a:rPr>
              <a:pPr/>
              <a:t>5</a:t>
            </a:fld>
            <a:endParaRPr lang="en-US" altLang="zh-CN">
              <a:solidFill>
                <a:srgbClr val="000000"/>
              </a:solidFill>
            </a:endParaRPr>
          </a:p>
        </p:txBody>
      </p:sp>
    </p:spTree>
    <p:extLst>
      <p:ext uri="{BB962C8B-B14F-4D97-AF65-F5344CB8AC3E}">
        <p14:creationId xmlns:p14="http://schemas.microsoft.com/office/powerpoint/2010/main" val="3616747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headEnd/>
            <a:tailEnd/>
          </a:ln>
        </p:spPr>
      </p:sp>
      <p:sp>
        <p:nvSpPr>
          <p:cNvPr id="8806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8806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C12DC71-CAFE-4621-95C4-E71576B0845C}" type="slidenum">
              <a:rPr lang="zh-CN" altLang="en-US" smtClean="0">
                <a:solidFill>
                  <a:srgbClr val="000000"/>
                </a:solidFill>
              </a:rPr>
              <a:pPr/>
              <a:t>7</a:t>
            </a:fld>
            <a:endParaRPr lang="en-US" altLang="zh-CN">
              <a:solidFill>
                <a:srgbClr val="000000"/>
              </a:solidFill>
            </a:endParaRPr>
          </a:p>
        </p:txBody>
      </p:sp>
    </p:spTree>
    <p:extLst>
      <p:ext uri="{BB962C8B-B14F-4D97-AF65-F5344CB8AC3E}">
        <p14:creationId xmlns:p14="http://schemas.microsoft.com/office/powerpoint/2010/main" val="622573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8909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2BCE0-1319-4BD4-97EF-53045CA84BDC}" type="slidenum">
              <a:rPr lang="zh-CN" altLang="en-US" smtClean="0">
                <a:solidFill>
                  <a:srgbClr val="000000"/>
                </a:solidFill>
              </a:rPr>
              <a:pPr/>
              <a:t>8</a:t>
            </a:fld>
            <a:endParaRPr lang="en-US" altLang="zh-CN">
              <a:solidFill>
                <a:srgbClr val="000000"/>
              </a:solidFill>
            </a:endParaRPr>
          </a:p>
        </p:txBody>
      </p:sp>
    </p:spTree>
    <p:extLst>
      <p:ext uri="{BB962C8B-B14F-4D97-AF65-F5344CB8AC3E}">
        <p14:creationId xmlns:p14="http://schemas.microsoft.com/office/powerpoint/2010/main" val="125617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9114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B9DB3CB-E5F1-4670-9967-C9F47828B6C6}" type="slidenum">
              <a:rPr lang="zh-CN" altLang="en-US" smtClean="0">
                <a:solidFill>
                  <a:srgbClr val="000000"/>
                </a:solidFill>
              </a:rPr>
              <a:pPr/>
              <a:t>10</a:t>
            </a:fld>
            <a:endParaRPr lang="en-US" altLang="zh-CN">
              <a:solidFill>
                <a:srgbClr val="000000"/>
              </a:solidFill>
            </a:endParaRPr>
          </a:p>
        </p:txBody>
      </p:sp>
    </p:spTree>
    <p:extLst>
      <p:ext uri="{BB962C8B-B14F-4D97-AF65-F5344CB8AC3E}">
        <p14:creationId xmlns:p14="http://schemas.microsoft.com/office/powerpoint/2010/main" val="3480898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9318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E102A56-A287-4091-8893-A136EBDA4E41}" type="slidenum">
              <a:rPr lang="zh-CN" altLang="en-US" smtClean="0">
                <a:solidFill>
                  <a:srgbClr val="000000"/>
                </a:solidFill>
              </a:rPr>
              <a:pPr/>
              <a:t>11</a:t>
            </a:fld>
            <a:endParaRPr lang="en-US" altLang="zh-CN">
              <a:solidFill>
                <a:srgbClr val="000000"/>
              </a:solidFill>
            </a:endParaRPr>
          </a:p>
        </p:txBody>
      </p:sp>
    </p:spTree>
    <p:extLst>
      <p:ext uri="{BB962C8B-B14F-4D97-AF65-F5344CB8AC3E}">
        <p14:creationId xmlns:p14="http://schemas.microsoft.com/office/powerpoint/2010/main" val="2968692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bwMode="auto">
          <a:noFill/>
          <a:ln>
            <a:solidFill>
              <a:srgbClr val="000000"/>
            </a:solidFill>
            <a:miter lim="800000"/>
            <a:headEnd/>
            <a:tailEnd/>
          </a:ln>
        </p:spPr>
      </p:sp>
      <p:sp>
        <p:nvSpPr>
          <p:cNvPr id="9625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9626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0C53A3-7B6E-4213-8792-9837038D9FFB}" type="slidenum">
              <a:rPr lang="zh-CN" altLang="en-US" smtClean="0">
                <a:solidFill>
                  <a:srgbClr val="000000"/>
                </a:solidFill>
              </a:rPr>
              <a:pPr/>
              <a:t>12</a:t>
            </a:fld>
            <a:endParaRPr lang="en-US" altLang="zh-CN">
              <a:solidFill>
                <a:srgbClr val="000000"/>
              </a:solidFill>
            </a:endParaRPr>
          </a:p>
        </p:txBody>
      </p:sp>
    </p:spTree>
    <p:extLst>
      <p:ext uri="{BB962C8B-B14F-4D97-AF65-F5344CB8AC3E}">
        <p14:creationId xmlns:p14="http://schemas.microsoft.com/office/powerpoint/2010/main" val="2605562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bwMode="auto">
          <a:noFill/>
          <a:ln>
            <a:solidFill>
              <a:srgbClr val="000000"/>
            </a:solidFill>
            <a:miter lim="800000"/>
            <a:headEnd/>
            <a:tailEnd/>
          </a:ln>
        </p:spPr>
      </p:sp>
      <p:sp>
        <p:nvSpPr>
          <p:cNvPr id="1085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10854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0C501CC-1A08-4B59-B066-A182F60C6EFF}" type="slidenum">
              <a:rPr lang="zh-CN" altLang="en-US" smtClean="0">
                <a:solidFill>
                  <a:srgbClr val="000000"/>
                </a:solidFill>
              </a:rPr>
              <a:pPr/>
              <a:t>13</a:t>
            </a:fld>
            <a:endParaRPr lang="en-US" altLang="zh-CN">
              <a:solidFill>
                <a:srgbClr val="000000"/>
              </a:solidFill>
            </a:endParaRPr>
          </a:p>
        </p:txBody>
      </p:sp>
    </p:spTree>
    <p:extLst>
      <p:ext uri="{BB962C8B-B14F-4D97-AF65-F5344CB8AC3E}">
        <p14:creationId xmlns:p14="http://schemas.microsoft.com/office/powerpoint/2010/main" val="3977791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10957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5122E54-CAA4-4360-BB50-8FA95E1B3497}" type="slidenum">
              <a:rPr lang="zh-CN" altLang="en-US" smtClean="0">
                <a:solidFill>
                  <a:srgbClr val="000000"/>
                </a:solidFill>
              </a:rPr>
              <a:pPr/>
              <a:t>14</a:t>
            </a:fld>
            <a:endParaRPr lang="en-US" altLang="zh-CN">
              <a:solidFill>
                <a:srgbClr val="000000"/>
              </a:solidFill>
            </a:endParaRPr>
          </a:p>
        </p:txBody>
      </p:sp>
    </p:spTree>
    <p:extLst>
      <p:ext uri="{BB962C8B-B14F-4D97-AF65-F5344CB8AC3E}">
        <p14:creationId xmlns:p14="http://schemas.microsoft.com/office/powerpoint/2010/main" val="4197141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bwMode="auto">
          <a:noFill/>
          <a:ln>
            <a:solidFill>
              <a:srgbClr val="000000"/>
            </a:solidFill>
            <a:miter lim="800000"/>
            <a:headEnd/>
            <a:tailEnd/>
          </a:ln>
        </p:spPr>
      </p:sp>
      <p:sp>
        <p:nvSpPr>
          <p:cNvPr id="11059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11059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93F6761-8EFE-4E39-BC42-1C1B2105CEC1}" type="slidenum">
              <a:rPr lang="zh-CN" altLang="en-US" smtClean="0">
                <a:solidFill>
                  <a:srgbClr val="000000"/>
                </a:solidFill>
              </a:rPr>
              <a:pPr/>
              <a:t>15</a:t>
            </a:fld>
            <a:endParaRPr lang="en-US" altLang="zh-CN">
              <a:solidFill>
                <a:srgbClr val="000000"/>
              </a:solidFill>
            </a:endParaRPr>
          </a:p>
        </p:txBody>
      </p:sp>
    </p:spTree>
    <p:extLst>
      <p:ext uri="{BB962C8B-B14F-4D97-AF65-F5344CB8AC3E}">
        <p14:creationId xmlns:p14="http://schemas.microsoft.com/office/powerpoint/2010/main" val="2745749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270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D7DC2FD-A9B0-4208-843F-DAB4B0F39463}" type="slidenum">
              <a:rPr lang="zh-CN" altLang="en-US" smtClean="0"/>
              <a:pPr/>
              <a:t>19</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bwMode="auto">
          <a:noFill/>
          <a:ln>
            <a:solidFill>
              <a:srgbClr val="000000"/>
            </a:solidFill>
            <a:miter lim="800000"/>
            <a:headEnd/>
            <a:tailEnd/>
          </a:ln>
        </p:spPr>
      </p:sp>
      <p:sp>
        <p:nvSpPr>
          <p:cNvPr id="7373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373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C5C333-2EA4-4560-81FD-2802F658F4D8}" type="slidenum">
              <a:rPr lang="zh-CN" altLang="en-US" smtClean="0"/>
              <a:pPr/>
              <a:t>20</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p:spPr>
      </p:sp>
      <p:sp>
        <p:nvSpPr>
          <p:cNvPr id="716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16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E03991-2376-4C7F-AC73-56A03393F9BE}" type="slidenum">
              <a:rPr lang="zh-CN" altLang="en-US" smtClean="0"/>
              <a:pPr/>
              <a:t>21</a:t>
            </a:fld>
            <a:endParaRPr lang="zh-CN" altLang="en-US"/>
          </a:p>
        </p:txBody>
      </p:sp>
    </p:spTree>
    <p:extLst>
      <p:ext uri="{BB962C8B-B14F-4D97-AF65-F5344CB8AC3E}">
        <p14:creationId xmlns:p14="http://schemas.microsoft.com/office/powerpoint/2010/main" val="1476618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p:spPr>
      </p:sp>
      <p:sp>
        <p:nvSpPr>
          <p:cNvPr id="716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16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E03991-2376-4C7F-AC73-56A03393F9BE}" type="slidenum">
              <a:rPr lang="zh-CN" altLang="en-US" smtClean="0"/>
              <a:pPr/>
              <a:t>29</a:t>
            </a:fld>
            <a:endParaRPr lang="zh-CN" altLang="en-US"/>
          </a:p>
        </p:txBody>
      </p:sp>
    </p:spTree>
    <p:extLst>
      <p:ext uri="{BB962C8B-B14F-4D97-AF65-F5344CB8AC3E}">
        <p14:creationId xmlns:p14="http://schemas.microsoft.com/office/powerpoint/2010/main" val="2583068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9182FC5-C057-4B02-8B5D-53FE6B06738E}" type="slidenum">
              <a:rPr lang="zh-CN" altLang="en-US" smtClean="0"/>
              <a:pPr>
                <a:defRPr/>
              </a:pPr>
              <a:t>34</a:t>
            </a:fld>
            <a:endParaRPr lang="zh-CN" altLang="en-US"/>
          </a:p>
        </p:txBody>
      </p:sp>
    </p:spTree>
    <p:extLst>
      <p:ext uri="{BB962C8B-B14F-4D97-AF65-F5344CB8AC3E}">
        <p14:creationId xmlns:p14="http://schemas.microsoft.com/office/powerpoint/2010/main" val="20290453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9182FC5-C057-4B02-8B5D-53FE6B06738E}" type="slidenum">
              <a:rPr lang="zh-CN" altLang="en-US" smtClean="0"/>
              <a:pPr>
                <a:defRPr/>
              </a:pPr>
              <a:t>35</a:t>
            </a:fld>
            <a:endParaRPr lang="zh-CN" altLang="en-US"/>
          </a:p>
        </p:txBody>
      </p:sp>
    </p:spTree>
    <p:extLst>
      <p:ext uri="{BB962C8B-B14F-4D97-AF65-F5344CB8AC3E}">
        <p14:creationId xmlns:p14="http://schemas.microsoft.com/office/powerpoint/2010/main" val="34514670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p:spPr>
      </p:sp>
      <p:sp>
        <p:nvSpPr>
          <p:cNvPr id="716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16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E03991-2376-4C7F-AC73-56A03393F9BE}" type="slidenum">
              <a:rPr lang="zh-CN" altLang="en-US" smtClean="0"/>
              <a:pPr/>
              <a:t>37</a:t>
            </a:fld>
            <a:endParaRPr lang="zh-CN" altLang="en-US"/>
          </a:p>
        </p:txBody>
      </p:sp>
    </p:spTree>
    <p:extLst>
      <p:ext uri="{BB962C8B-B14F-4D97-AF65-F5344CB8AC3E}">
        <p14:creationId xmlns:p14="http://schemas.microsoft.com/office/powerpoint/2010/main" val="30921620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9182FC5-C057-4B02-8B5D-53FE6B06738E}" type="slidenum">
              <a:rPr lang="zh-CN" altLang="en-US" smtClean="0"/>
              <a:pPr>
                <a:defRPr/>
              </a:pPr>
              <a:t>38</a:t>
            </a:fld>
            <a:endParaRPr lang="zh-CN" altLang="en-US"/>
          </a:p>
        </p:txBody>
      </p:sp>
    </p:spTree>
    <p:extLst>
      <p:ext uri="{BB962C8B-B14F-4D97-AF65-F5344CB8AC3E}">
        <p14:creationId xmlns:p14="http://schemas.microsoft.com/office/powerpoint/2010/main" val="2062989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10547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B87106C-5614-4705-9E98-6BFB36324A74}" type="slidenum">
              <a:rPr lang="zh-CN" altLang="en-US" smtClean="0">
                <a:solidFill>
                  <a:srgbClr val="000000"/>
                </a:solidFill>
              </a:rPr>
              <a:pPr/>
              <a:t>43</a:t>
            </a:fld>
            <a:endParaRPr lang="en-US" altLang="zh-CN">
              <a:solidFill>
                <a:srgbClr val="000000"/>
              </a:solidFill>
            </a:endParaRPr>
          </a:p>
        </p:txBody>
      </p:sp>
    </p:spTree>
    <p:extLst>
      <p:ext uri="{BB962C8B-B14F-4D97-AF65-F5344CB8AC3E}">
        <p14:creationId xmlns:p14="http://schemas.microsoft.com/office/powerpoint/2010/main" val="2322252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10547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B87106C-5614-4705-9E98-6BFB36324A74}" type="slidenum">
              <a:rPr lang="zh-CN" altLang="en-US" smtClean="0">
                <a:solidFill>
                  <a:srgbClr val="000000"/>
                </a:solidFill>
              </a:rPr>
              <a:pPr/>
              <a:t>55</a:t>
            </a:fld>
            <a:endParaRPr lang="en-US" altLang="zh-CN">
              <a:solidFill>
                <a:srgbClr val="000000"/>
              </a:solidFill>
            </a:endParaRPr>
          </a:p>
        </p:txBody>
      </p:sp>
    </p:spTree>
    <p:extLst>
      <p:ext uri="{BB962C8B-B14F-4D97-AF65-F5344CB8AC3E}">
        <p14:creationId xmlns:p14="http://schemas.microsoft.com/office/powerpoint/2010/main" val="3586862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10547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B87106C-5614-4705-9E98-6BFB36324A74}" type="slidenum">
              <a:rPr lang="zh-CN" altLang="en-US" smtClean="0">
                <a:solidFill>
                  <a:srgbClr val="000000"/>
                </a:solidFill>
              </a:rPr>
              <a:pPr/>
              <a:t>56</a:t>
            </a:fld>
            <a:endParaRPr lang="en-US" altLang="zh-CN">
              <a:solidFill>
                <a:srgbClr val="000000"/>
              </a:solidFill>
            </a:endParaRPr>
          </a:p>
        </p:txBody>
      </p:sp>
    </p:spTree>
    <p:extLst>
      <p:ext uri="{BB962C8B-B14F-4D97-AF65-F5344CB8AC3E}">
        <p14:creationId xmlns:p14="http://schemas.microsoft.com/office/powerpoint/2010/main" val="8168051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p:spPr>
      </p:sp>
      <p:sp>
        <p:nvSpPr>
          <p:cNvPr id="7168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71684"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E03991-2376-4C7F-AC73-56A03393F9BE}" type="slidenum">
              <a:rPr lang="zh-CN" altLang="en-US" smtClean="0"/>
              <a:pPr/>
              <a:t>63</a:t>
            </a:fld>
            <a:endParaRPr lang="zh-CN" altLang="en-US"/>
          </a:p>
        </p:txBody>
      </p:sp>
    </p:spTree>
    <p:extLst>
      <p:ext uri="{BB962C8B-B14F-4D97-AF65-F5344CB8AC3E}">
        <p14:creationId xmlns:p14="http://schemas.microsoft.com/office/powerpoint/2010/main" val="1483189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645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30333AA-9A41-4235-9DA7-E1F81696C92F}" type="slidenum">
              <a:rPr lang="en-US" altLang="zh-CN" sz="1300">
                <a:ea typeface="隶书" panose="02010509060101010101" pitchFamily="49" charset="-122"/>
              </a:rPr>
              <a:pPr>
                <a:spcBef>
                  <a:spcPct val="0"/>
                </a:spcBef>
              </a:pPr>
              <a:t>66</a:t>
            </a:fld>
            <a:endParaRPr lang="en-US" altLang="zh-CN" sz="1300">
              <a:ea typeface="隶书" panose="02010509060101010101" pitchFamily="49" charset="-122"/>
            </a:endParaRPr>
          </a:p>
        </p:txBody>
      </p:sp>
    </p:spTree>
    <p:extLst>
      <p:ext uri="{BB962C8B-B14F-4D97-AF65-F5344CB8AC3E}">
        <p14:creationId xmlns:p14="http://schemas.microsoft.com/office/powerpoint/2010/main" val="4441435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p:spPr>
      </p:sp>
      <p:sp>
        <p:nvSpPr>
          <p:cNvPr id="104451" name="备注占位符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dirty="0"/>
              <a:t>建议将本页的内容写在黑板上，以便与下页对应</a:t>
            </a:r>
          </a:p>
        </p:txBody>
      </p:sp>
      <p:sp>
        <p:nvSpPr>
          <p:cNvPr id="10445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313F15B-3C0F-4242-84DF-8090DE92201D}" type="slidenum">
              <a:rPr lang="zh-CN" altLang="en-US" smtClean="0">
                <a:solidFill>
                  <a:srgbClr val="000000"/>
                </a:solidFill>
              </a:rPr>
              <a:pPr/>
              <a:t>75</a:t>
            </a:fld>
            <a:endParaRPr lang="en-US" altLang="zh-CN">
              <a:solidFill>
                <a:srgbClr val="000000"/>
              </a:solidFill>
            </a:endParaRPr>
          </a:p>
        </p:txBody>
      </p:sp>
    </p:spTree>
    <p:extLst>
      <p:ext uri="{BB962C8B-B14F-4D97-AF65-F5344CB8AC3E}">
        <p14:creationId xmlns:p14="http://schemas.microsoft.com/office/powerpoint/2010/main" val="3435536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p:spPr>
      </p:sp>
      <p:sp>
        <p:nvSpPr>
          <p:cNvPr id="1044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10445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313F15B-3C0F-4242-84DF-8090DE92201D}" type="slidenum">
              <a:rPr lang="zh-CN" altLang="en-US" smtClean="0">
                <a:solidFill>
                  <a:srgbClr val="000000"/>
                </a:solidFill>
              </a:rPr>
              <a:pPr/>
              <a:t>76</a:t>
            </a:fld>
            <a:endParaRPr lang="en-US" altLang="zh-CN">
              <a:solidFill>
                <a:srgbClr val="000000"/>
              </a:solidFill>
            </a:endParaRPr>
          </a:p>
        </p:txBody>
      </p:sp>
    </p:spTree>
    <p:extLst>
      <p:ext uri="{BB962C8B-B14F-4D97-AF65-F5344CB8AC3E}">
        <p14:creationId xmlns:p14="http://schemas.microsoft.com/office/powerpoint/2010/main" val="1690836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dirty="0"/>
              <a:t>建议将本页的内容写在黑板上，以便与下页对应</a:t>
            </a:r>
          </a:p>
        </p:txBody>
      </p:sp>
      <p:sp>
        <p:nvSpPr>
          <p:cNvPr id="105476"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B87106C-5614-4705-9E98-6BFB36324A74}" type="slidenum">
              <a:rPr lang="zh-CN" altLang="en-US" smtClean="0">
                <a:solidFill>
                  <a:srgbClr val="000000"/>
                </a:solidFill>
              </a:rPr>
              <a:pPr/>
              <a:t>77</a:t>
            </a:fld>
            <a:endParaRPr lang="en-US" altLang="zh-CN">
              <a:solidFill>
                <a:srgbClr val="000000"/>
              </a:solidFill>
            </a:endParaRPr>
          </a:p>
        </p:txBody>
      </p:sp>
    </p:spTree>
    <p:extLst>
      <p:ext uri="{BB962C8B-B14F-4D97-AF65-F5344CB8AC3E}">
        <p14:creationId xmlns:p14="http://schemas.microsoft.com/office/powerpoint/2010/main" val="3452617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10342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84C1F12-1846-4282-A995-6A8FCD22DB13}" type="slidenum">
              <a:rPr lang="zh-CN" altLang="en-US" smtClean="0">
                <a:solidFill>
                  <a:srgbClr val="000000"/>
                </a:solidFill>
              </a:rPr>
              <a:pPr/>
              <a:t>78</a:t>
            </a:fld>
            <a:endParaRPr lang="en-US" altLang="zh-CN">
              <a:solidFill>
                <a:srgbClr val="000000"/>
              </a:solidFill>
            </a:endParaRPr>
          </a:p>
        </p:txBody>
      </p:sp>
    </p:spTree>
    <p:extLst>
      <p:ext uri="{BB962C8B-B14F-4D97-AF65-F5344CB8AC3E}">
        <p14:creationId xmlns:p14="http://schemas.microsoft.com/office/powerpoint/2010/main" val="2641927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dirty="0"/>
              <a:t>建议将本页的内容写在黑板上，以便与下页对应</a:t>
            </a:r>
          </a:p>
        </p:txBody>
      </p:sp>
      <p:sp>
        <p:nvSpPr>
          <p:cNvPr id="10342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84C1F12-1846-4282-A995-6A8FCD22DB13}" type="slidenum">
              <a:rPr lang="zh-CN" altLang="en-US" smtClean="0">
                <a:solidFill>
                  <a:srgbClr val="000000"/>
                </a:solidFill>
              </a:rPr>
              <a:pPr/>
              <a:t>79</a:t>
            </a:fld>
            <a:endParaRPr lang="en-US" altLang="zh-CN">
              <a:solidFill>
                <a:srgbClr val="000000"/>
              </a:solidFill>
            </a:endParaRPr>
          </a:p>
        </p:txBody>
      </p:sp>
    </p:spTree>
    <p:extLst>
      <p:ext uri="{BB962C8B-B14F-4D97-AF65-F5344CB8AC3E}">
        <p14:creationId xmlns:p14="http://schemas.microsoft.com/office/powerpoint/2010/main" val="24275804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
        <p:nvSpPr>
          <p:cNvPr id="10342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84C1F12-1846-4282-A995-6A8FCD22DB13}" type="slidenum">
              <a:rPr lang="zh-CN" altLang="en-US" smtClean="0">
                <a:solidFill>
                  <a:srgbClr val="000000"/>
                </a:solidFill>
              </a:rPr>
              <a:pPr/>
              <a:t>80</a:t>
            </a:fld>
            <a:endParaRPr lang="en-US" altLang="zh-CN">
              <a:solidFill>
                <a:srgbClr val="000000"/>
              </a:solidFill>
            </a:endParaRPr>
          </a:p>
        </p:txBody>
      </p:sp>
    </p:spTree>
    <p:extLst>
      <p:ext uri="{BB962C8B-B14F-4D97-AF65-F5344CB8AC3E}">
        <p14:creationId xmlns:p14="http://schemas.microsoft.com/office/powerpoint/2010/main" val="34745418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p:spPr>
      </p:sp>
      <p:sp>
        <p:nvSpPr>
          <p:cNvPr id="12185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121860"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99FE02F-BAE0-41CF-B690-D693916A36D4}" type="slidenum">
              <a:rPr lang="zh-CN" altLang="en-US" smtClean="0"/>
              <a:pPr/>
              <a:t>82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5" Type="http://schemas.openxmlformats.org/officeDocument/2006/relationships/image" Target="../media/image2.gif"/><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vmlDrawing" Target="../drawings/vmlDrawing2.vml"/><Relationship Id="rId5" Type="http://schemas.openxmlformats.org/officeDocument/2006/relationships/image" Target="../media/image2.gif"/><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rgbClr val="326496"/>
        </a:solidFill>
        <a:effectLst/>
      </p:bgPr>
    </p:bg>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0"/>
          <a:ext cx="9144000" cy="4876800"/>
        </p:xfrm>
        <a:graphic>
          <a:graphicData uri="http://schemas.openxmlformats.org/presentationml/2006/ole">
            <mc:AlternateContent xmlns:mc="http://schemas.openxmlformats.org/markup-compatibility/2006">
              <mc:Choice xmlns:v="urn:schemas-microsoft-com:vml" Requires="v">
                <p:oleObj spid="_x0000_s1042" name="Image" r:id="rId3" imgW="13003175" imgH="6933333" progId="">
                  <p:embed/>
                </p:oleObj>
              </mc:Choice>
              <mc:Fallback>
                <p:oleObj name="Image" r:id="rId3" imgW="13003175" imgH="6933333"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0" y="0"/>
                        <a:ext cx="91440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66"/>
          <p:cNvSpPr>
            <a:spLocks noChangeArrowheads="1"/>
          </p:cNvSpPr>
          <p:nvPr/>
        </p:nvSpPr>
        <p:spPr bwMode="ltGray">
          <a:xfrm>
            <a:off x="0" y="4906963"/>
            <a:ext cx="9144000" cy="1951037"/>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1D528D"/>
              </a:solidFill>
            </a:endParaRPr>
          </a:p>
        </p:txBody>
      </p:sp>
      <p:pic>
        <p:nvPicPr>
          <p:cNvPr id="6" name="Picture 68" descr="5"/>
          <p:cNvPicPr>
            <a:picLocks noChangeAspect="1" noChangeArrowheads="1" noCrop="1"/>
          </p:cNvPicPr>
          <p:nvPr userDrawn="1"/>
        </p:nvPicPr>
        <p:blipFill>
          <a:blip r:embed="rId5" cstate="print"/>
          <a:srcRect/>
          <a:stretch>
            <a:fillRect/>
          </a:stretch>
        </p:blipFill>
        <p:spPr bwMode="auto">
          <a:xfrm>
            <a:off x="6653213" y="1731963"/>
            <a:ext cx="1390650" cy="1419225"/>
          </a:xfrm>
          <a:prstGeom prst="rect">
            <a:avLst/>
          </a:prstGeom>
          <a:noFill/>
          <a:ln w="9525">
            <a:noFill/>
            <a:miter lim="800000"/>
            <a:headEnd/>
            <a:tailEnd/>
          </a:ln>
        </p:spPr>
      </p:pic>
      <p:sp>
        <p:nvSpPr>
          <p:cNvPr id="3074" name="Rectangle 2"/>
          <p:cNvSpPr>
            <a:spLocks noGrp="1" noChangeArrowheads="1"/>
          </p:cNvSpPr>
          <p:nvPr>
            <p:ph type="ctrTitle"/>
          </p:nvPr>
        </p:nvSpPr>
        <p:spPr bwMode="white">
          <a:xfrm>
            <a:off x="228600" y="2879725"/>
            <a:ext cx="8686800" cy="1555750"/>
          </a:xfrm>
          <a:ln w="9525">
            <a:noFill/>
          </a:ln>
          <a:effectLst>
            <a:outerShdw dist="71842" dir="2700000" algn="ctr" rotWithShape="0">
              <a:srgbClr val="000000">
                <a:alpha val="50000"/>
              </a:srgbClr>
            </a:outerShdw>
          </a:effectLst>
        </p:spPr>
        <p:txBody>
          <a:bodyPr/>
          <a:lstStyle>
            <a:lvl1pPr>
              <a:defRPr sz="4800" b="0">
                <a:solidFill>
                  <a:srgbClr val="FFFF00"/>
                </a:solidFill>
              </a:defRPr>
            </a:lvl1pPr>
          </a:lstStyle>
          <a:p>
            <a:r>
              <a:rPr lang="zh-CN" altLang="en-US"/>
              <a:t>标题</a:t>
            </a:r>
            <a:r>
              <a:rPr lang="en-US" altLang="zh-CN"/>
              <a:t>Click to edit Master title style</a:t>
            </a:r>
          </a:p>
        </p:txBody>
      </p:sp>
      <p:sp>
        <p:nvSpPr>
          <p:cNvPr id="3075" name="Rectangle 3"/>
          <p:cNvSpPr>
            <a:spLocks noGrp="1" noChangeArrowheads="1"/>
          </p:cNvSpPr>
          <p:nvPr>
            <p:ph type="subTitle" idx="1"/>
          </p:nvPr>
        </p:nvSpPr>
        <p:spPr bwMode="white">
          <a:xfrm>
            <a:off x="1219200" y="5257800"/>
            <a:ext cx="6705600" cy="822325"/>
          </a:xfrm>
        </p:spPr>
        <p:txBody>
          <a:bodyPr lIns="91440">
            <a:spAutoFit/>
          </a:bodyPr>
          <a:lstStyle>
            <a:lvl1pPr marL="0" indent="0" algn="ctr">
              <a:buFont typeface="Wingdings" pitchFamily="2" charset="2"/>
              <a:buNone/>
              <a:defRPr sz="2400">
                <a:solidFill>
                  <a:srgbClr val="FFFF00"/>
                </a:solidFill>
              </a:defRPr>
            </a:lvl1pPr>
          </a:lstStyle>
          <a:p>
            <a:r>
              <a:rPr lang="zh-CN" altLang="en-US"/>
              <a:t>编辑副标题</a:t>
            </a:r>
            <a:r>
              <a:rPr lang="en-US" altLang="zh-CN"/>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167EA1D-2DEC-4594-B1B3-B8369AFA87E9}" type="slidenum">
              <a:rPr lang="zh-CN" altLang="en-US"/>
              <a:pPr>
                <a:defRPr/>
              </a:pPr>
              <a:t>‹#›</a:t>
            </a:fld>
            <a:endParaRPr lang="en-US" altLang="zh-CN"/>
          </a:p>
        </p:txBody>
      </p:sp>
      <p:sp>
        <p:nvSpPr>
          <p:cNvPr id="5"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灯片编号占位符 2"/>
          <p:cNvSpPr>
            <a:spLocks noGrp="1"/>
          </p:cNvSpPr>
          <p:nvPr>
            <p:ph type="sldNum" sz="quarter" idx="10"/>
          </p:nvPr>
        </p:nvSpPr>
        <p:spPr/>
        <p:txBody>
          <a:bodyPr/>
          <a:lstStyle>
            <a:lvl1pPr>
              <a:defRPr/>
            </a:lvl1pPr>
          </a:lstStyle>
          <a:p>
            <a:pPr>
              <a:defRPr/>
            </a:pPr>
            <a:fld id="{A95A61CA-DA42-4664-AD1C-338436787E87}" type="slidenum">
              <a:rPr lang="zh-CN" altLang="en-US"/>
              <a:pPr>
                <a:defRPr/>
              </a:pPr>
              <a:t>‹#›</a:t>
            </a:fld>
            <a:endParaRPr lang="en-US" altLang="zh-CN"/>
          </a:p>
        </p:txBody>
      </p:sp>
      <p:sp>
        <p:nvSpPr>
          <p:cNvPr id="4" name="日期占位符 3"/>
          <p:cNvSpPr>
            <a:spLocks noGrp="1"/>
          </p:cNvSpPr>
          <p:nvPr>
            <p:ph type="dt" sz="half" idx="11"/>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B8CAF426-8C23-42AA-A382-0F0F1F6D15F0}" type="slidenum">
              <a:rPr lang="zh-CN" altLang="en-US"/>
              <a:pPr>
                <a:defRPr/>
              </a:pPr>
              <a:t>‹#›</a:t>
            </a:fld>
            <a:endParaRPr lang="en-US" altLang="zh-CN"/>
          </a:p>
        </p:txBody>
      </p:sp>
      <p:sp>
        <p:nvSpPr>
          <p:cNvPr id="3" name="Rectangle 71"/>
          <p:cNvSpPr>
            <a:spLocks noGrp="1" noChangeArrowheads="1"/>
          </p:cNvSpPr>
          <p:nvPr>
            <p:ph type="dt" sz="half" idx="11"/>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03292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rgbClr val="326496"/>
        </a:solidFill>
        <a:effectLst/>
      </p:bgPr>
    </p:bg>
    <p:spTree>
      <p:nvGrpSpPr>
        <p:cNvPr id="1" name=""/>
        <p:cNvGrpSpPr/>
        <p:nvPr/>
      </p:nvGrpSpPr>
      <p:grpSpPr>
        <a:xfrm>
          <a:off x="0" y="0"/>
          <a:ext cx="0" cy="0"/>
          <a:chOff x="0" y="0"/>
          <a:chExt cx="0" cy="0"/>
        </a:xfrm>
      </p:grpSpPr>
      <p:graphicFrame>
        <p:nvGraphicFramePr>
          <p:cNvPr id="4" name="Object 65"/>
          <p:cNvGraphicFramePr>
            <a:graphicFrameLocks noChangeAspect="1"/>
          </p:cNvGraphicFramePr>
          <p:nvPr/>
        </p:nvGraphicFramePr>
        <p:xfrm>
          <a:off x="0" y="0"/>
          <a:ext cx="9144000" cy="4876800"/>
        </p:xfrm>
        <a:graphic>
          <a:graphicData uri="http://schemas.openxmlformats.org/presentationml/2006/ole">
            <mc:AlternateContent xmlns:mc="http://schemas.openxmlformats.org/markup-compatibility/2006">
              <mc:Choice xmlns:v="urn:schemas-microsoft-com:vml" Requires="v">
                <p:oleObj spid="_x0000_s2066" name="Image" r:id="rId3" imgW="13003175" imgH="6933333" progId="">
                  <p:embed/>
                </p:oleObj>
              </mc:Choice>
              <mc:Fallback>
                <p:oleObj name="Image" r:id="rId3" imgW="13003175" imgH="6933333" progId="">
                  <p:embed/>
                  <p:pic>
                    <p:nvPicPr>
                      <p:cNvPr id="0" name="Object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0" y="0"/>
                        <a:ext cx="91440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66"/>
          <p:cNvSpPr>
            <a:spLocks noChangeArrowheads="1"/>
          </p:cNvSpPr>
          <p:nvPr/>
        </p:nvSpPr>
        <p:spPr bwMode="ltGray">
          <a:xfrm>
            <a:off x="0" y="4906963"/>
            <a:ext cx="9144000" cy="1951037"/>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1D528D"/>
              </a:solidFill>
            </a:endParaRPr>
          </a:p>
        </p:txBody>
      </p:sp>
      <p:pic>
        <p:nvPicPr>
          <p:cNvPr id="6" name="Picture 68" descr="5"/>
          <p:cNvPicPr>
            <a:picLocks noChangeAspect="1" noChangeArrowheads="1" noCrop="1"/>
          </p:cNvPicPr>
          <p:nvPr userDrawn="1"/>
        </p:nvPicPr>
        <p:blipFill>
          <a:blip r:embed="rId5" cstate="print"/>
          <a:srcRect/>
          <a:stretch>
            <a:fillRect/>
          </a:stretch>
        </p:blipFill>
        <p:spPr bwMode="auto">
          <a:xfrm>
            <a:off x="6653213" y="1731963"/>
            <a:ext cx="1390650" cy="1419225"/>
          </a:xfrm>
          <a:prstGeom prst="rect">
            <a:avLst/>
          </a:prstGeom>
          <a:noFill/>
          <a:ln w="9525">
            <a:noFill/>
            <a:miter lim="800000"/>
            <a:headEnd/>
            <a:tailEnd/>
          </a:ln>
        </p:spPr>
      </p:pic>
      <p:sp>
        <p:nvSpPr>
          <p:cNvPr id="3074" name="Rectangle 2"/>
          <p:cNvSpPr>
            <a:spLocks noGrp="1" noChangeArrowheads="1"/>
          </p:cNvSpPr>
          <p:nvPr>
            <p:ph type="ctrTitle"/>
          </p:nvPr>
        </p:nvSpPr>
        <p:spPr bwMode="white">
          <a:xfrm>
            <a:off x="228600" y="2879725"/>
            <a:ext cx="8686800" cy="1555750"/>
          </a:xfrm>
          <a:ln w="9525">
            <a:noFill/>
          </a:ln>
          <a:effectLst>
            <a:outerShdw dist="71842" dir="2700000" algn="ctr" rotWithShape="0">
              <a:srgbClr val="000000">
                <a:alpha val="50000"/>
              </a:srgbClr>
            </a:outerShdw>
          </a:effectLst>
        </p:spPr>
        <p:txBody>
          <a:bodyPr/>
          <a:lstStyle>
            <a:lvl1pPr>
              <a:defRPr sz="4800" b="0">
                <a:solidFill>
                  <a:srgbClr val="FFFF00"/>
                </a:solidFill>
              </a:defRPr>
            </a:lvl1pPr>
          </a:lstStyle>
          <a:p>
            <a:r>
              <a:rPr lang="zh-CN" altLang="en-US"/>
              <a:t>标题</a:t>
            </a:r>
            <a:r>
              <a:rPr lang="en-US" altLang="zh-CN"/>
              <a:t>Click to edit Master title style</a:t>
            </a:r>
          </a:p>
        </p:txBody>
      </p:sp>
      <p:sp>
        <p:nvSpPr>
          <p:cNvPr id="3075" name="Rectangle 3"/>
          <p:cNvSpPr>
            <a:spLocks noGrp="1" noChangeArrowheads="1"/>
          </p:cNvSpPr>
          <p:nvPr>
            <p:ph type="subTitle" idx="1"/>
          </p:nvPr>
        </p:nvSpPr>
        <p:spPr bwMode="white">
          <a:xfrm>
            <a:off x="1219200" y="5257800"/>
            <a:ext cx="6705600" cy="822325"/>
          </a:xfrm>
        </p:spPr>
        <p:txBody>
          <a:bodyPr lIns="91440">
            <a:spAutoFit/>
          </a:bodyPr>
          <a:lstStyle>
            <a:lvl1pPr marL="0" indent="0" algn="ctr">
              <a:buFont typeface="Wingdings" pitchFamily="2" charset="2"/>
              <a:buNone/>
              <a:defRPr sz="2400">
                <a:solidFill>
                  <a:srgbClr val="FFFF00"/>
                </a:solidFill>
              </a:defRPr>
            </a:lvl1pPr>
          </a:lstStyle>
          <a:p>
            <a:r>
              <a:rPr lang="zh-CN" altLang="en-US"/>
              <a:t>编辑副标题</a:t>
            </a:r>
            <a:r>
              <a:rPr lang="en-US" altLang="zh-CN"/>
              <a:t>Click to edit Master subtitle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33366BC3-CA26-47AE-8588-4468AD78B816}" type="slidenum">
              <a:rPr lang="zh-CN" altLang="en-US"/>
              <a:pPr>
                <a:defRPr/>
              </a:pPr>
              <a:t>‹#›</a:t>
            </a:fld>
            <a:endParaRPr lang="en-US" altLang="zh-CN"/>
          </a:p>
        </p:txBody>
      </p:sp>
      <p:sp>
        <p:nvSpPr>
          <p:cNvPr id="5"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0FE93342-FE53-41C0-A508-5FDAFFD042C8}" type="slidenum">
              <a:rPr lang="zh-CN" altLang="en-US"/>
              <a:pPr>
                <a:defRPr/>
              </a:pPr>
              <a:t>‹#›</a:t>
            </a:fld>
            <a:endParaRPr lang="en-US" altLang="zh-CN"/>
          </a:p>
        </p:txBody>
      </p:sp>
      <p:sp>
        <p:nvSpPr>
          <p:cNvPr id="5"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371600"/>
            <a:ext cx="42291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371600"/>
            <a:ext cx="42291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CC6DC05C-28EE-4B8D-BCC1-AE633D24E41D}" type="slidenum">
              <a:rPr lang="zh-CN" altLang="en-US"/>
              <a:pPr>
                <a:defRPr/>
              </a:pPr>
              <a:t>‹#›</a:t>
            </a:fld>
            <a:endParaRPr lang="en-US" altLang="zh-CN"/>
          </a:p>
        </p:txBody>
      </p:sp>
      <p:sp>
        <p:nvSpPr>
          <p:cNvPr id="6"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3C549246-41BF-4554-87E9-A2B4254BA439}" type="slidenum">
              <a:rPr lang="zh-CN" altLang="en-US"/>
              <a:pPr>
                <a:defRPr/>
              </a:pPr>
              <a:t>‹#›</a:t>
            </a:fld>
            <a:endParaRPr lang="en-US" altLang="zh-CN"/>
          </a:p>
        </p:txBody>
      </p:sp>
      <p:sp>
        <p:nvSpPr>
          <p:cNvPr id="8"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F785431A-D326-4B7A-A588-F9BEDBE5D285}" type="slidenum">
              <a:rPr lang="zh-CN" altLang="en-US"/>
              <a:pPr>
                <a:defRPr/>
              </a:pPr>
              <a:t>‹#›</a:t>
            </a:fld>
            <a:endParaRPr lang="en-US" altLang="zh-CN"/>
          </a:p>
        </p:txBody>
      </p:sp>
      <p:sp>
        <p:nvSpPr>
          <p:cNvPr id="4"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B8CAF426-8C23-42AA-A382-0F0F1F6D15F0}" type="slidenum">
              <a:rPr lang="zh-CN" altLang="en-US"/>
              <a:pPr>
                <a:defRPr/>
              </a:pPr>
              <a:t>‹#›</a:t>
            </a:fld>
            <a:endParaRPr lang="en-US" altLang="zh-CN"/>
          </a:p>
        </p:txBody>
      </p:sp>
      <p:sp>
        <p:nvSpPr>
          <p:cNvPr id="3"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3E91C588-0A38-46F1-AF8C-5F59B6EACFA2}" type="slidenum">
              <a:rPr lang="zh-CN" altLang="en-US"/>
              <a:pPr>
                <a:defRPr/>
              </a:pPr>
              <a:t>‹#›</a:t>
            </a:fld>
            <a:endParaRPr lang="en-US" altLang="zh-CN"/>
          </a:p>
        </p:txBody>
      </p:sp>
      <p:sp>
        <p:nvSpPr>
          <p:cNvPr id="6"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DF8502FA-0247-452B-A191-BA0B23E190E7}" type="slidenum">
              <a:rPr lang="zh-CN" altLang="en-US"/>
              <a:pPr>
                <a:defRPr/>
              </a:pPr>
              <a:t>‹#›</a:t>
            </a:fld>
            <a:endParaRPr lang="en-US" altLang="zh-CN"/>
          </a:p>
        </p:txBody>
      </p:sp>
      <p:sp>
        <p:nvSpPr>
          <p:cNvPr id="6"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B019E418-B708-46B4-9C57-094D098EEF35}" type="slidenum">
              <a:rPr lang="zh-CN" altLang="en-US"/>
              <a:pPr>
                <a:defRPr/>
              </a:pPr>
              <a:t>‹#›</a:t>
            </a:fld>
            <a:endParaRPr lang="en-US" altLang="zh-CN"/>
          </a:p>
        </p:txBody>
      </p:sp>
      <p:sp>
        <p:nvSpPr>
          <p:cNvPr id="5"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38950" y="125413"/>
            <a:ext cx="2152650" cy="6580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25413"/>
            <a:ext cx="6305550" cy="6580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E6E81C7-8C7E-4C6A-9111-F981A7FFD60A}" type="slidenum">
              <a:rPr lang="zh-CN" altLang="en-US"/>
              <a:pPr>
                <a:defRPr/>
              </a:pPr>
              <a:t>‹#›</a:t>
            </a:fld>
            <a:endParaRPr lang="en-US" altLang="zh-CN"/>
          </a:p>
        </p:txBody>
      </p:sp>
      <p:sp>
        <p:nvSpPr>
          <p:cNvPr id="5" name="Rectangle 71"/>
          <p:cNvSpPr>
            <a:spLocks noGrp="1" noChangeArrowheads="1"/>
          </p:cNvSpPr>
          <p:nvPr>
            <p:ph type="dt" sz="half" idx="11"/>
          </p:nvPr>
        </p:nvSpPr>
        <p:spPr>
          <a:ln/>
        </p:spPr>
        <p:txBody>
          <a:bodyPr/>
          <a:lstStyle>
            <a:lvl1pPr>
              <a:defRPr/>
            </a:lvl1pPr>
          </a:lstStyle>
          <a:p>
            <a:pPr>
              <a:defRPr/>
            </a:pP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B5C74E5-7725-411F-802E-F6D3EFF27D7E}" type="slidenum">
              <a:rPr lang="en-US" altLang="zh-CN"/>
              <a:pPr/>
              <a:t>‹#›</a:t>
            </a:fld>
            <a:endParaRPr lang="en-US" altLang="zh-CN"/>
          </a:p>
        </p:txBody>
      </p:sp>
    </p:spTree>
    <p:extLst>
      <p:ext uri="{BB962C8B-B14F-4D97-AF65-F5344CB8AC3E}">
        <p14:creationId xmlns:p14="http://schemas.microsoft.com/office/powerpoint/2010/main" val="27015462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5AFF3FD-E22A-4D1A-A5D3-0E7B84573E64}" type="slidenum">
              <a:rPr lang="en-US" altLang="zh-CN"/>
              <a:pPr/>
              <a:t>‹#›</a:t>
            </a:fld>
            <a:endParaRPr lang="en-US" altLang="zh-CN"/>
          </a:p>
        </p:txBody>
      </p:sp>
    </p:spTree>
    <p:extLst>
      <p:ext uri="{BB962C8B-B14F-4D97-AF65-F5344CB8AC3E}">
        <p14:creationId xmlns:p14="http://schemas.microsoft.com/office/powerpoint/2010/main" val="1569159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E8FA6BB-1A72-4E39-BE17-C3D3D05297F5}" type="slidenum">
              <a:rPr lang="en-US" altLang="zh-CN"/>
              <a:pPr/>
              <a:t>‹#›</a:t>
            </a:fld>
            <a:endParaRPr lang="en-US" altLang="zh-CN"/>
          </a:p>
        </p:txBody>
      </p:sp>
    </p:spTree>
    <p:extLst>
      <p:ext uri="{BB962C8B-B14F-4D97-AF65-F5344CB8AC3E}">
        <p14:creationId xmlns:p14="http://schemas.microsoft.com/office/powerpoint/2010/main" val="24978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4F79976-D228-4F02-927A-50788589DFD4}" type="slidenum">
              <a:rPr lang="en-US" altLang="zh-CN"/>
              <a:pPr/>
              <a:t>‹#›</a:t>
            </a:fld>
            <a:endParaRPr lang="en-US" altLang="zh-CN"/>
          </a:p>
        </p:txBody>
      </p:sp>
    </p:spTree>
    <p:extLst>
      <p:ext uri="{BB962C8B-B14F-4D97-AF65-F5344CB8AC3E}">
        <p14:creationId xmlns:p14="http://schemas.microsoft.com/office/powerpoint/2010/main" val="40240293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AE818F6-C5C7-4750-8743-3EA64D286BE3}" type="slidenum">
              <a:rPr lang="en-US" altLang="zh-CN"/>
              <a:pPr/>
              <a:t>‹#›</a:t>
            </a:fld>
            <a:endParaRPr lang="en-US" altLang="zh-CN"/>
          </a:p>
        </p:txBody>
      </p:sp>
    </p:spTree>
    <p:extLst>
      <p:ext uri="{BB962C8B-B14F-4D97-AF65-F5344CB8AC3E}">
        <p14:creationId xmlns:p14="http://schemas.microsoft.com/office/powerpoint/2010/main" val="25887963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BCA66E59-398E-4F6C-BC64-1A699B7C2D19}" type="slidenum">
              <a:rPr lang="en-US" altLang="zh-CN"/>
              <a:pPr/>
              <a:t>‹#›</a:t>
            </a:fld>
            <a:endParaRPr lang="en-US" altLang="zh-CN"/>
          </a:p>
        </p:txBody>
      </p:sp>
    </p:spTree>
    <p:extLst>
      <p:ext uri="{BB962C8B-B14F-4D97-AF65-F5344CB8AC3E}">
        <p14:creationId xmlns:p14="http://schemas.microsoft.com/office/powerpoint/2010/main" val="22501916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0B846A36-F439-429E-827A-852DE3F3C6B6}" type="slidenum">
              <a:rPr lang="en-US" altLang="zh-CN"/>
              <a:pPr/>
              <a:t>‹#›</a:t>
            </a:fld>
            <a:endParaRPr lang="en-US" altLang="zh-CN"/>
          </a:p>
        </p:txBody>
      </p:sp>
    </p:spTree>
    <p:extLst>
      <p:ext uri="{BB962C8B-B14F-4D97-AF65-F5344CB8AC3E}">
        <p14:creationId xmlns:p14="http://schemas.microsoft.com/office/powerpoint/2010/main" val="20892719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C8BAA05-489E-47D3-B09D-CD532FABC1F2}" type="slidenum">
              <a:rPr lang="en-US" altLang="zh-CN"/>
              <a:pPr/>
              <a:t>‹#›</a:t>
            </a:fld>
            <a:endParaRPr lang="en-US" altLang="zh-CN"/>
          </a:p>
        </p:txBody>
      </p:sp>
    </p:spTree>
    <p:extLst>
      <p:ext uri="{BB962C8B-B14F-4D97-AF65-F5344CB8AC3E}">
        <p14:creationId xmlns:p14="http://schemas.microsoft.com/office/powerpoint/2010/main" val="3873166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D0ED4A0-0C5A-438A-A106-C2D7E2B6A778}" type="slidenum">
              <a:rPr lang="en-US" altLang="zh-CN"/>
              <a:pPr/>
              <a:t>‹#›</a:t>
            </a:fld>
            <a:endParaRPr lang="en-US" altLang="zh-CN"/>
          </a:p>
        </p:txBody>
      </p:sp>
    </p:spTree>
    <p:extLst>
      <p:ext uri="{BB962C8B-B14F-4D97-AF65-F5344CB8AC3E}">
        <p14:creationId xmlns:p14="http://schemas.microsoft.com/office/powerpoint/2010/main" val="2248567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BCC6E93-1AD4-4DE6-B872-E2BBB8C450C7}" type="slidenum">
              <a:rPr lang="en-US" altLang="zh-CN"/>
              <a:pPr/>
              <a:t>‹#›</a:t>
            </a:fld>
            <a:endParaRPr lang="en-US" altLang="zh-CN"/>
          </a:p>
        </p:txBody>
      </p:sp>
    </p:spTree>
    <p:extLst>
      <p:ext uri="{BB962C8B-B14F-4D97-AF65-F5344CB8AC3E}">
        <p14:creationId xmlns:p14="http://schemas.microsoft.com/office/powerpoint/2010/main" val="4764895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31688AF3-69AF-4FBF-B065-5F980AF74C26}" type="slidenum">
              <a:rPr lang="en-US" altLang="zh-CN"/>
              <a:pPr/>
              <a:t>‹#›</a:t>
            </a:fld>
            <a:endParaRPr lang="en-US" altLang="zh-CN"/>
          </a:p>
        </p:txBody>
      </p:sp>
    </p:spTree>
    <p:extLst>
      <p:ext uri="{BB962C8B-B14F-4D97-AF65-F5344CB8AC3E}">
        <p14:creationId xmlns:p14="http://schemas.microsoft.com/office/powerpoint/2010/main" val="37090466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4" name="AutoShape 70"/>
          <p:cNvSpPr>
            <a:spLocks noChangeArrowheads="1"/>
          </p:cNvSpPr>
          <p:nvPr userDrawn="1"/>
        </p:nvSpPr>
        <p:spPr bwMode="auto">
          <a:xfrm>
            <a:off x="228600" y="1295400"/>
            <a:ext cx="8686800" cy="5257800"/>
          </a:xfrm>
          <a:prstGeom prst="flowChartAlternateProcess">
            <a:avLst/>
          </a:prstGeom>
          <a:noFill/>
          <a:ln w="19050">
            <a:solidFill>
              <a:schemeClr val="tx2"/>
            </a:solidFill>
            <a:miter lim="800000"/>
            <a:headEnd/>
            <a:tailEnd/>
          </a:ln>
          <a:effectLst/>
        </p:spPr>
        <p:txBody>
          <a:bodyPr wrap="none" anchor="ctr"/>
          <a:lstStyle/>
          <a:p>
            <a:pPr>
              <a:defRPr/>
            </a:pPr>
            <a:endParaRPr lang="zh-CN" altLang="en-US">
              <a:solidFill>
                <a:srgbClr val="1D528D"/>
              </a:solidFill>
            </a:endParaRPr>
          </a:p>
        </p:txBody>
      </p:sp>
      <p:sp>
        <p:nvSpPr>
          <p:cNvPr id="1092" name="Rectangle 68"/>
          <p:cNvSpPr>
            <a:spLocks noChangeArrowheads="1"/>
          </p:cNvSpPr>
          <p:nvPr/>
        </p:nvSpPr>
        <p:spPr bwMode="ltGray">
          <a:xfrm flipV="1">
            <a:off x="0" y="1065213"/>
            <a:ext cx="9144000" cy="87312"/>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1D528D"/>
              </a:solidFill>
            </a:endParaRPr>
          </a:p>
        </p:txBody>
      </p:sp>
      <p:sp>
        <p:nvSpPr>
          <p:cNvPr id="1093" name="Line 69"/>
          <p:cNvSpPr>
            <a:spLocks noChangeShapeType="1"/>
          </p:cNvSpPr>
          <p:nvPr/>
        </p:nvSpPr>
        <p:spPr bwMode="ltGray">
          <a:xfrm>
            <a:off x="0" y="1096963"/>
            <a:ext cx="9144000" cy="0"/>
          </a:xfrm>
          <a:prstGeom prst="line">
            <a:avLst/>
          </a:prstGeom>
          <a:noFill/>
          <a:ln w="9525">
            <a:solidFill>
              <a:schemeClr val="bg1"/>
            </a:solidFill>
            <a:round/>
            <a:headEnd/>
            <a:tailEnd/>
          </a:ln>
          <a:effectLst/>
        </p:spPr>
        <p:txBody>
          <a:bodyPr/>
          <a:lstStyle/>
          <a:p>
            <a:pPr>
              <a:defRPr/>
            </a:pPr>
            <a:endParaRPr lang="zh-CN" altLang="en-US">
              <a:solidFill>
                <a:srgbClr val="1D528D"/>
              </a:solidFill>
            </a:endParaRPr>
          </a:p>
        </p:txBody>
      </p:sp>
      <p:sp>
        <p:nvSpPr>
          <p:cNvPr id="11269" name="Rectangle 3"/>
          <p:cNvSpPr>
            <a:spLocks noGrp="1" noChangeArrowheads="1"/>
          </p:cNvSpPr>
          <p:nvPr>
            <p:ph type="body" idx="1"/>
          </p:nvPr>
        </p:nvSpPr>
        <p:spPr bwMode="auto">
          <a:xfrm>
            <a:off x="381000" y="1371600"/>
            <a:ext cx="8610600" cy="5334000"/>
          </a:xfrm>
          <a:prstGeom prst="rect">
            <a:avLst/>
          </a:prstGeom>
          <a:noFill/>
          <a:ln w="9525">
            <a:noFill/>
            <a:miter lim="800000"/>
            <a:headEnd/>
            <a:tailEnd/>
          </a:ln>
        </p:spPr>
        <p:txBody>
          <a:bodyPr vert="horz" wrap="square" lIns="18000" tIns="45720" rIns="91440" bIns="45720" numCol="1" anchor="t" anchorCtr="0" compatLnSpc="1">
            <a:prstTxWarp prst="textNoShape">
              <a:avLst/>
            </a:prstTxWarp>
          </a:bodyPr>
          <a:lstStyle/>
          <a:p>
            <a:pPr lvl="0"/>
            <a:r>
              <a:rPr lang="en-US" altLang="zh-CN"/>
              <a:t> </a:t>
            </a:r>
            <a:r>
              <a:rPr lang="zh-CN" altLang="en-US"/>
              <a:t>一级</a:t>
            </a:r>
            <a:r>
              <a:rPr lang="en-US" altLang="zh-CN"/>
              <a:t>Click to edit Master text styles</a:t>
            </a:r>
          </a:p>
          <a:p>
            <a:pPr lvl="1"/>
            <a:r>
              <a:rPr lang="zh-CN" altLang="en-US"/>
              <a:t>二级</a:t>
            </a:r>
            <a:r>
              <a:rPr lang="en-US" altLang="zh-CN"/>
              <a:t>Second level</a:t>
            </a:r>
          </a:p>
          <a:p>
            <a:pPr lvl="2"/>
            <a:r>
              <a:rPr lang="zh-CN" altLang="en-US"/>
              <a:t>三级</a:t>
            </a:r>
            <a:r>
              <a:rPr lang="en-US" altLang="zh-CN"/>
              <a:t>Third level</a:t>
            </a:r>
          </a:p>
          <a:p>
            <a:pPr lvl="3"/>
            <a:r>
              <a:rPr lang="zh-CN" altLang="en-US"/>
              <a:t>四级</a:t>
            </a:r>
            <a:r>
              <a:rPr lang="en-US" altLang="zh-CN"/>
              <a:t>Fourth level</a:t>
            </a:r>
          </a:p>
          <a:p>
            <a:pPr lvl="4"/>
            <a:r>
              <a:rPr lang="zh-CN" altLang="en-US"/>
              <a:t>五级</a:t>
            </a:r>
            <a:r>
              <a:rPr lang="en-US" altLang="zh-CN"/>
              <a:t>Fifth level</a:t>
            </a:r>
          </a:p>
        </p:txBody>
      </p:sp>
      <p:sp>
        <p:nvSpPr>
          <p:cNvPr id="1030" name="Rectangle 6"/>
          <p:cNvSpPr>
            <a:spLocks noGrp="1" noChangeArrowheads="1"/>
          </p:cNvSpPr>
          <p:nvPr>
            <p:ph type="sldNum" sz="quarter" idx="4"/>
          </p:nvPr>
        </p:nvSpPr>
        <p:spPr bwMode="auto">
          <a:xfrm>
            <a:off x="6858000" y="6550025"/>
            <a:ext cx="2133600" cy="307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b="1">
                <a:solidFill>
                  <a:srgbClr val="1D528D"/>
                </a:solidFill>
                <a:latin typeface="Verdana" pitchFamily="34" charset="0"/>
                <a:ea typeface="宋体" pitchFamily="2" charset="-122"/>
              </a:defRPr>
            </a:lvl1pPr>
          </a:lstStyle>
          <a:p>
            <a:pPr>
              <a:defRPr/>
            </a:pPr>
            <a:fld id="{B74F20A5-CB89-4921-8FEA-550853C08E48}" type="slidenum">
              <a:rPr lang="zh-CN" altLang="en-US"/>
              <a:pPr>
                <a:defRPr/>
              </a:pPr>
              <a:t>‹#›</a:t>
            </a:fld>
            <a:endParaRPr lang="en-US" altLang="zh-CN"/>
          </a:p>
        </p:txBody>
      </p:sp>
      <p:sp>
        <p:nvSpPr>
          <p:cNvPr id="11271" name="Rectangle 2"/>
          <p:cNvSpPr>
            <a:spLocks noGrp="1" noChangeArrowheads="1"/>
          </p:cNvSpPr>
          <p:nvPr>
            <p:ph type="title"/>
          </p:nvPr>
        </p:nvSpPr>
        <p:spPr bwMode="auto">
          <a:xfrm>
            <a:off x="457200" y="125413"/>
            <a:ext cx="8153400" cy="771525"/>
          </a:xfrm>
          <a:prstGeom prst="rect">
            <a:avLst/>
          </a:prstGeom>
          <a:noFill/>
          <a:ln w="12700">
            <a:solidFill>
              <a:srgbClr val="990000"/>
            </a:solidFill>
            <a:miter lim="800000"/>
            <a:headEnd/>
            <a:tailEnd/>
          </a:ln>
        </p:spPr>
        <p:txBody>
          <a:bodyPr vert="horz" wrap="square" lIns="91440" tIns="45720" rIns="91440" bIns="45720" numCol="1" anchor="ctr" anchorCtr="0" compatLnSpc="1">
            <a:prstTxWarp prst="textNoShape">
              <a:avLst/>
            </a:prstTxWarp>
            <a:spAutoFit/>
          </a:bodyPr>
          <a:lstStyle/>
          <a:p>
            <a:pPr lvl="0"/>
            <a:r>
              <a:rPr lang="zh-CN" altLang="en-US"/>
              <a:t>点击此处编辑标题</a:t>
            </a:r>
            <a:r>
              <a:rPr lang="en-US" altLang="zh-CN"/>
              <a:t>Title</a:t>
            </a:r>
          </a:p>
        </p:txBody>
      </p:sp>
      <p:sp>
        <p:nvSpPr>
          <p:cNvPr id="1095" name="Rectangle 71"/>
          <p:cNvSpPr>
            <a:spLocks noGrp="1" noChangeArrowheads="1"/>
          </p:cNvSpPr>
          <p:nvPr>
            <p:ph type="dt" sz="half" idx="2"/>
          </p:nvPr>
        </p:nvSpPr>
        <p:spPr bwMode="auto">
          <a:xfrm>
            <a:off x="381000" y="65341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1D528D"/>
                </a:solidFill>
                <a:ea typeface="宋体"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5038" r:id="rId1"/>
    <p:sldLayoutId id="2147484997" r:id="rId2"/>
    <p:sldLayoutId id="2147485039" r:id="rId3"/>
    <p:sldLayoutId id="2147485044" r:id="rId4"/>
  </p:sldLayoutIdLst>
  <p:txStyles>
    <p:titleStyle>
      <a:lvl1pPr algn="l" rtl="0" eaLnBrk="0" fontAlgn="base" hangingPunct="0">
        <a:spcBef>
          <a:spcPct val="0"/>
        </a:spcBef>
        <a:spcAft>
          <a:spcPct val="0"/>
        </a:spcAft>
        <a:defRPr sz="4400" b="1">
          <a:solidFill>
            <a:schemeClr val="folHlink"/>
          </a:solidFill>
          <a:latin typeface="+mj-lt"/>
          <a:ea typeface="+mj-ea"/>
          <a:cs typeface="+mj-cs"/>
        </a:defRPr>
      </a:lvl1pPr>
      <a:lvl2pPr algn="l" rtl="0" eaLnBrk="0" fontAlgn="base" hangingPunct="0">
        <a:spcBef>
          <a:spcPct val="0"/>
        </a:spcBef>
        <a:spcAft>
          <a:spcPct val="0"/>
        </a:spcAft>
        <a:defRPr sz="4400" b="1">
          <a:solidFill>
            <a:schemeClr val="folHlink"/>
          </a:solidFill>
          <a:latin typeface="Courier New" pitchFamily="49" charset="0"/>
          <a:ea typeface="黑体" pitchFamily="2" charset="-122"/>
        </a:defRPr>
      </a:lvl2pPr>
      <a:lvl3pPr algn="l" rtl="0" eaLnBrk="0" fontAlgn="base" hangingPunct="0">
        <a:spcBef>
          <a:spcPct val="0"/>
        </a:spcBef>
        <a:spcAft>
          <a:spcPct val="0"/>
        </a:spcAft>
        <a:defRPr sz="4400" b="1">
          <a:solidFill>
            <a:schemeClr val="folHlink"/>
          </a:solidFill>
          <a:latin typeface="Courier New" pitchFamily="49" charset="0"/>
          <a:ea typeface="黑体" pitchFamily="2" charset="-122"/>
        </a:defRPr>
      </a:lvl3pPr>
      <a:lvl4pPr algn="l" rtl="0" eaLnBrk="0" fontAlgn="base" hangingPunct="0">
        <a:spcBef>
          <a:spcPct val="0"/>
        </a:spcBef>
        <a:spcAft>
          <a:spcPct val="0"/>
        </a:spcAft>
        <a:defRPr sz="4400" b="1">
          <a:solidFill>
            <a:schemeClr val="folHlink"/>
          </a:solidFill>
          <a:latin typeface="Courier New" pitchFamily="49" charset="0"/>
          <a:ea typeface="黑体" pitchFamily="2" charset="-122"/>
        </a:defRPr>
      </a:lvl4pPr>
      <a:lvl5pPr algn="l" rtl="0" eaLnBrk="0" fontAlgn="base" hangingPunct="0">
        <a:spcBef>
          <a:spcPct val="0"/>
        </a:spcBef>
        <a:spcAft>
          <a:spcPct val="0"/>
        </a:spcAft>
        <a:defRPr sz="4400" b="1">
          <a:solidFill>
            <a:schemeClr val="folHlink"/>
          </a:solidFill>
          <a:latin typeface="Courier New" pitchFamily="49" charset="0"/>
          <a:ea typeface="黑体" pitchFamily="2" charset="-122"/>
        </a:defRPr>
      </a:lvl5pPr>
      <a:lvl6pPr marL="457200" algn="l" rtl="0" fontAlgn="base">
        <a:spcBef>
          <a:spcPct val="0"/>
        </a:spcBef>
        <a:spcAft>
          <a:spcPct val="0"/>
        </a:spcAft>
        <a:defRPr sz="4400" b="1">
          <a:solidFill>
            <a:schemeClr val="folHlink"/>
          </a:solidFill>
          <a:latin typeface="Courier New" pitchFamily="49" charset="0"/>
          <a:ea typeface="黑体" pitchFamily="2" charset="-122"/>
        </a:defRPr>
      </a:lvl6pPr>
      <a:lvl7pPr marL="914400" algn="l" rtl="0" fontAlgn="base">
        <a:spcBef>
          <a:spcPct val="0"/>
        </a:spcBef>
        <a:spcAft>
          <a:spcPct val="0"/>
        </a:spcAft>
        <a:defRPr sz="4400" b="1">
          <a:solidFill>
            <a:schemeClr val="folHlink"/>
          </a:solidFill>
          <a:latin typeface="Courier New" pitchFamily="49" charset="0"/>
          <a:ea typeface="黑体" pitchFamily="2" charset="-122"/>
        </a:defRPr>
      </a:lvl7pPr>
      <a:lvl8pPr marL="1371600" algn="l" rtl="0" fontAlgn="base">
        <a:spcBef>
          <a:spcPct val="0"/>
        </a:spcBef>
        <a:spcAft>
          <a:spcPct val="0"/>
        </a:spcAft>
        <a:defRPr sz="4400" b="1">
          <a:solidFill>
            <a:schemeClr val="folHlink"/>
          </a:solidFill>
          <a:latin typeface="Courier New" pitchFamily="49" charset="0"/>
          <a:ea typeface="黑体" pitchFamily="2" charset="-122"/>
        </a:defRPr>
      </a:lvl8pPr>
      <a:lvl9pPr marL="1828800" algn="l" rtl="0" fontAlgn="base">
        <a:spcBef>
          <a:spcPct val="0"/>
        </a:spcBef>
        <a:spcAft>
          <a:spcPct val="0"/>
        </a:spcAft>
        <a:defRPr sz="4400" b="1">
          <a:solidFill>
            <a:schemeClr val="folHlink"/>
          </a:solidFill>
          <a:latin typeface="Courier New" pitchFamily="49" charset="0"/>
          <a:ea typeface="黑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itchFamily="18" charset="2"/>
        <a:buChar char="ê"/>
        <a:defRPr sz="2000" b="1">
          <a:solidFill>
            <a:schemeClr val="tx2"/>
          </a:solidFill>
          <a:latin typeface="+mn-lt"/>
          <a:ea typeface="+mn-ea"/>
        </a:defRPr>
      </a:lvl5pPr>
      <a:lvl6pPr marL="25146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6pPr>
      <a:lvl7pPr marL="29718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7pPr>
      <a:lvl8pPr marL="34290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8pPr>
      <a:lvl9pPr marL="38862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4" name="AutoShape 70"/>
          <p:cNvSpPr>
            <a:spLocks noChangeArrowheads="1"/>
          </p:cNvSpPr>
          <p:nvPr userDrawn="1"/>
        </p:nvSpPr>
        <p:spPr bwMode="auto">
          <a:xfrm>
            <a:off x="228600" y="1295400"/>
            <a:ext cx="8686800" cy="5257800"/>
          </a:xfrm>
          <a:prstGeom prst="flowChartAlternateProcess">
            <a:avLst/>
          </a:prstGeom>
          <a:noFill/>
          <a:ln w="19050">
            <a:solidFill>
              <a:schemeClr val="tx2"/>
            </a:solidFill>
            <a:miter lim="800000"/>
            <a:headEnd/>
            <a:tailEnd/>
          </a:ln>
          <a:effectLst/>
        </p:spPr>
        <p:txBody>
          <a:bodyPr wrap="none" anchor="ctr"/>
          <a:lstStyle/>
          <a:p>
            <a:pPr>
              <a:defRPr/>
            </a:pPr>
            <a:endParaRPr lang="zh-CN" altLang="en-US">
              <a:solidFill>
                <a:srgbClr val="1D528D"/>
              </a:solidFill>
            </a:endParaRPr>
          </a:p>
        </p:txBody>
      </p:sp>
      <p:sp>
        <p:nvSpPr>
          <p:cNvPr id="1092" name="Rectangle 68"/>
          <p:cNvSpPr>
            <a:spLocks noChangeArrowheads="1"/>
          </p:cNvSpPr>
          <p:nvPr/>
        </p:nvSpPr>
        <p:spPr bwMode="ltGray">
          <a:xfrm flipV="1">
            <a:off x="0" y="1065213"/>
            <a:ext cx="9144000" cy="87312"/>
          </a:xfrm>
          <a:prstGeom prst="rect">
            <a:avLst/>
          </a:prstGeom>
          <a:solidFill>
            <a:schemeClr val="accent1"/>
          </a:solidFill>
          <a:ln w="9525">
            <a:noFill/>
            <a:miter lim="800000"/>
            <a:headEnd/>
            <a:tailEnd/>
          </a:ln>
          <a:effectLst/>
        </p:spPr>
        <p:txBody>
          <a:bodyPr wrap="none" anchor="ctr"/>
          <a:lstStyle/>
          <a:p>
            <a:pPr>
              <a:defRPr/>
            </a:pPr>
            <a:endParaRPr lang="zh-CN" altLang="en-US">
              <a:solidFill>
                <a:srgbClr val="1D528D"/>
              </a:solidFill>
            </a:endParaRPr>
          </a:p>
        </p:txBody>
      </p:sp>
      <p:sp>
        <p:nvSpPr>
          <p:cNvPr id="1093" name="Line 69"/>
          <p:cNvSpPr>
            <a:spLocks noChangeShapeType="1"/>
          </p:cNvSpPr>
          <p:nvPr/>
        </p:nvSpPr>
        <p:spPr bwMode="ltGray">
          <a:xfrm>
            <a:off x="0" y="1096963"/>
            <a:ext cx="9144000" cy="0"/>
          </a:xfrm>
          <a:prstGeom prst="line">
            <a:avLst/>
          </a:prstGeom>
          <a:noFill/>
          <a:ln w="9525">
            <a:solidFill>
              <a:schemeClr val="bg1"/>
            </a:solidFill>
            <a:round/>
            <a:headEnd/>
            <a:tailEnd/>
          </a:ln>
          <a:effectLst/>
        </p:spPr>
        <p:txBody>
          <a:bodyPr/>
          <a:lstStyle/>
          <a:p>
            <a:pPr>
              <a:defRPr/>
            </a:pPr>
            <a:endParaRPr lang="zh-CN" altLang="en-US">
              <a:solidFill>
                <a:srgbClr val="1D528D"/>
              </a:solidFill>
            </a:endParaRPr>
          </a:p>
        </p:txBody>
      </p:sp>
      <p:sp>
        <p:nvSpPr>
          <p:cNvPr id="15365" name="Rectangle 3"/>
          <p:cNvSpPr>
            <a:spLocks noGrp="1" noChangeArrowheads="1"/>
          </p:cNvSpPr>
          <p:nvPr>
            <p:ph type="body" idx="1"/>
          </p:nvPr>
        </p:nvSpPr>
        <p:spPr bwMode="auto">
          <a:xfrm>
            <a:off x="381000" y="1371600"/>
            <a:ext cx="8610600" cy="5334000"/>
          </a:xfrm>
          <a:prstGeom prst="rect">
            <a:avLst/>
          </a:prstGeom>
          <a:noFill/>
          <a:ln w="9525">
            <a:noFill/>
            <a:miter lim="800000"/>
            <a:headEnd/>
            <a:tailEnd/>
          </a:ln>
        </p:spPr>
        <p:txBody>
          <a:bodyPr vert="horz" wrap="square" lIns="18000" tIns="45720" rIns="91440" bIns="45720" numCol="1" anchor="t" anchorCtr="0" compatLnSpc="1">
            <a:prstTxWarp prst="textNoShape">
              <a:avLst/>
            </a:prstTxWarp>
          </a:bodyPr>
          <a:lstStyle/>
          <a:p>
            <a:pPr lvl="0"/>
            <a:r>
              <a:rPr lang="en-US" altLang="zh-CN"/>
              <a:t> </a:t>
            </a:r>
            <a:r>
              <a:rPr lang="zh-CN" altLang="en-US"/>
              <a:t>一级</a:t>
            </a:r>
            <a:r>
              <a:rPr lang="en-US" altLang="zh-CN"/>
              <a:t>Click to edit Master text styles</a:t>
            </a:r>
          </a:p>
          <a:p>
            <a:pPr lvl="1"/>
            <a:r>
              <a:rPr lang="zh-CN" altLang="en-US"/>
              <a:t>二级</a:t>
            </a:r>
            <a:r>
              <a:rPr lang="en-US" altLang="zh-CN"/>
              <a:t>Second level</a:t>
            </a:r>
          </a:p>
          <a:p>
            <a:pPr lvl="2"/>
            <a:r>
              <a:rPr lang="zh-CN" altLang="en-US"/>
              <a:t>三级</a:t>
            </a:r>
            <a:r>
              <a:rPr lang="en-US" altLang="zh-CN"/>
              <a:t>Third level</a:t>
            </a:r>
          </a:p>
          <a:p>
            <a:pPr lvl="3"/>
            <a:r>
              <a:rPr lang="zh-CN" altLang="en-US"/>
              <a:t>四级</a:t>
            </a:r>
            <a:r>
              <a:rPr lang="en-US" altLang="zh-CN"/>
              <a:t>Fourth level</a:t>
            </a:r>
          </a:p>
          <a:p>
            <a:pPr lvl="4"/>
            <a:r>
              <a:rPr lang="zh-CN" altLang="en-US"/>
              <a:t>五级</a:t>
            </a:r>
            <a:r>
              <a:rPr lang="en-US" altLang="zh-CN"/>
              <a:t>Fifth level</a:t>
            </a:r>
          </a:p>
        </p:txBody>
      </p:sp>
      <p:sp>
        <p:nvSpPr>
          <p:cNvPr id="1030" name="Rectangle 6"/>
          <p:cNvSpPr>
            <a:spLocks noGrp="1" noChangeArrowheads="1"/>
          </p:cNvSpPr>
          <p:nvPr>
            <p:ph type="sldNum" sz="quarter" idx="4"/>
          </p:nvPr>
        </p:nvSpPr>
        <p:spPr bwMode="auto">
          <a:xfrm>
            <a:off x="6858000" y="6550025"/>
            <a:ext cx="2133600" cy="307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b="1">
                <a:solidFill>
                  <a:srgbClr val="1D528D"/>
                </a:solidFill>
                <a:latin typeface="Verdana" pitchFamily="34" charset="0"/>
                <a:ea typeface="宋体" pitchFamily="2" charset="-122"/>
              </a:defRPr>
            </a:lvl1pPr>
          </a:lstStyle>
          <a:p>
            <a:pPr>
              <a:defRPr/>
            </a:pPr>
            <a:fld id="{D7459DF7-D541-4071-B1C8-301675DF345F}" type="slidenum">
              <a:rPr lang="zh-CN" altLang="en-US"/>
              <a:pPr>
                <a:defRPr/>
              </a:pPr>
              <a:t>‹#›</a:t>
            </a:fld>
            <a:endParaRPr lang="en-US" altLang="zh-CN"/>
          </a:p>
        </p:txBody>
      </p:sp>
      <p:sp>
        <p:nvSpPr>
          <p:cNvPr id="15367" name="Rectangle 2"/>
          <p:cNvSpPr>
            <a:spLocks noGrp="1" noChangeArrowheads="1"/>
          </p:cNvSpPr>
          <p:nvPr>
            <p:ph type="title"/>
          </p:nvPr>
        </p:nvSpPr>
        <p:spPr bwMode="auto">
          <a:xfrm>
            <a:off x="457200" y="125413"/>
            <a:ext cx="8153400" cy="771525"/>
          </a:xfrm>
          <a:prstGeom prst="rect">
            <a:avLst/>
          </a:prstGeom>
          <a:noFill/>
          <a:ln w="12700">
            <a:solidFill>
              <a:srgbClr val="990000"/>
            </a:solidFill>
            <a:miter lim="800000"/>
            <a:headEnd/>
            <a:tailEnd/>
          </a:ln>
        </p:spPr>
        <p:txBody>
          <a:bodyPr vert="horz" wrap="square" lIns="91440" tIns="45720" rIns="91440" bIns="45720" numCol="1" anchor="ctr" anchorCtr="0" compatLnSpc="1">
            <a:prstTxWarp prst="textNoShape">
              <a:avLst/>
            </a:prstTxWarp>
            <a:spAutoFit/>
          </a:bodyPr>
          <a:lstStyle/>
          <a:p>
            <a:pPr lvl="0"/>
            <a:r>
              <a:rPr lang="zh-CN" altLang="en-US"/>
              <a:t>点击此处编辑标题</a:t>
            </a:r>
            <a:r>
              <a:rPr lang="en-US" altLang="zh-CN"/>
              <a:t>Title</a:t>
            </a:r>
          </a:p>
        </p:txBody>
      </p:sp>
      <p:sp>
        <p:nvSpPr>
          <p:cNvPr id="1095" name="Rectangle 71"/>
          <p:cNvSpPr>
            <a:spLocks noGrp="1" noChangeArrowheads="1"/>
          </p:cNvSpPr>
          <p:nvPr>
            <p:ph type="dt" sz="half" idx="2"/>
          </p:nvPr>
        </p:nvSpPr>
        <p:spPr bwMode="auto">
          <a:xfrm>
            <a:off x="381000" y="65341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1D528D"/>
                </a:solidFill>
                <a:ea typeface="宋体"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5043" r:id="rId1"/>
    <p:sldLayoutId id="2147485028" r:id="rId2"/>
    <p:sldLayoutId id="2147485029" r:id="rId3"/>
    <p:sldLayoutId id="2147485030" r:id="rId4"/>
    <p:sldLayoutId id="2147485031" r:id="rId5"/>
    <p:sldLayoutId id="2147485032" r:id="rId6"/>
    <p:sldLayoutId id="2147485033" r:id="rId7"/>
    <p:sldLayoutId id="2147485034" r:id="rId8"/>
    <p:sldLayoutId id="2147485035" r:id="rId9"/>
    <p:sldLayoutId id="2147485036" r:id="rId10"/>
    <p:sldLayoutId id="2147485037" r:id="rId11"/>
  </p:sldLayoutIdLst>
  <p:txStyles>
    <p:titleStyle>
      <a:lvl1pPr algn="l" rtl="0" eaLnBrk="0" fontAlgn="base" hangingPunct="0">
        <a:spcBef>
          <a:spcPct val="0"/>
        </a:spcBef>
        <a:spcAft>
          <a:spcPct val="0"/>
        </a:spcAft>
        <a:defRPr sz="4400" b="1">
          <a:solidFill>
            <a:schemeClr val="folHlink"/>
          </a:solidFill>
          <a:latin typeface="+mj-lt"/>
          <a:ea typeface="+mj-ea"/>
          <a:cs typeface="+mj-cs"/>
        </a:defRPr>
      </a:lvl1pPr>
      <a:lvl2pPr algn="l" rtl="0" eaLnBrk="0" fontAlgn="base" hangingPunct="0">
        <a:spcBef>
          <a:spcPct val="0"/>
        </a:spcBef>
        <a:spcAft>
          <a:spcPct val="0"/>
        </a:spcAft>
        <a:defRPr sz="4400" b="1">
          <a:solidFill>
            <a:schemeClr val="folHlink"/>
          </a:solidFill>
          <a:latin typeface="Courier New" pitchFamily="49" charset="0"/>
          <a:ea typeface="黑体" pitchFamily="2" charset="-122"/>
        </a:defRPr>
      </a:lvl2pPr>
      <a:lvl3pPr algn="l" rtl="0" eaLnBrk="0" fontAlgn="base" hangingPunct="0">
        <a:spcBef>
          <a:spcPct val="0"/>
        </a:spcBef>
        <a:spcAft>
          <a:spcPct val="0"/>
        </a:spcAft>
        <a:defRPr sz="4400" b="1">
          <a:solidFill>
            <a:schemeClr val="folHlink"/>
          </a:solidFill>
          <a:latin typeface="Courier New" pitchFamily="49" charset="0"/>
          <a:ea typeface="黑体" pitchFamily="2" charset="-122"/>
        </a:defRPr>
      </a:lvl3pPr>
      <a:lvl4pPr algn="l" rtl="0" eaLnBrk="0" fontAlgn="base" hangingPunct="0">
        <a:spcBef>
          <a:spcPct val="0"/>
        </a:spcBef>
        <a:spcAft>
          <a:spcPct val="0"/>
        </a:spcAft>
        <a:defRPr sz="4400" b="1">
          <a:solidFill>
            <a:schemeClr val="folHlink"/>
          </a:solidFill>
          <a:latin typeface="Courier New" pitchFamily="49" charset="0"/>
          <a:ea typeface="黑体" pitchFamily="2" charset="-122"/>
        </a:defRPr>
      </a:lvl4pPr>
      <a:lvl5pPr algn="l" rtl="0" eaLnBrk="0" fontAlgn="base" hangingPunct="0">
        <a:spcBef>
          <a:spcPct val="0"/>
        </a:spcBef>
        <a:spcAft>
          <a:spcPct val="0"/>
        </a:spcAft>
        <a:defRPr sz="4400" b="1">
          <a:solidFill>
            <a:schemeClr val="folHlink"/>
          </a:solidFill>
          <a:latin typeface="Courier New" pitchFamily="49" charset="0"/>
          <a:ea typeface="黑体" pitchFamily="2" charset="-122"/>
        </a:defRPr>
      </a:lvl5pPr>
      <a:lvl6pPr marL="457200" algn="l" rtl="0" fontAlgn="base">
        <a:spcBef>
          <a:spcPct val="0"/>
        </a:spcBef>
        <a:spcAft>
          <a:spcPct val="0"/>
        </a:spcAft>
        <a:defRPr sz="4400" b="1">
          <a:solidFill>
            <a:schemeClr val="folHlink"/>
          </a:solidFill>
          <a:latin typeface="Courier New" pitchFamily="49" charset="0"/>
          <a:ea typeface="黑体" pitchFamily="2" charset="-122"/>
        </a:defRPr>
      </a:lvl6pPr>
      <a:lvl7pPr marL="914400" algn="l" rtl="0" fontAlgn="base">
        <a:spcBef>
          <a:spcPct val="0"/>
        </a:spcBef>
        <a:spcAft>
          <a:spcPct val="0"/>
        </a:spcAft>
        <a:defRPr sz="4400" b="1">
          <a:solidFill>
            <a:schemeClr val="folHlink"/>
          </a:solidFill>
          <a:latin typeface="Courier New" pitchFamily="49" charset="0"/>
          <a:ea typeface="黑体" pitchFamily="2" charset="-122"/>
        </a:defRPr>
      </a:lvl7pPr>
      <a:lvl8pPr marL="1371600" algn="l" rtl="0" fontAlgn="base">
        <a:spcBef>
          <a:spcPct val="0"/>
        </a:spcBef>
        <a:spcAft>
          <a:spcPct val="0"/>
        </a:spcAft>
        <a:defRPr sz="4400" b="1">
          <a:solidFill>
            <a:schemeClr val="folHlink"/>
          </a:solidFill>
          <a:latin typeface="Courier New" pitchFamily="49" charset="0"/>
          <a:ea typeface="黑体" pitchFamily="2" charset="-122"/>
        </a:defRPr>
      </a:lvl8pPr>
      <a:lvl9pPr marL="1828800" algn="l" rtl="0" fontAlgn="base">
        <a:spcBef>
          <a:spcPct val="0"/>
        </a:spcBef>
        <a:spcAft>
          <a:spcPct val="0"/>
        </a:spcAft>
        <a:defRPr sz="4400" b="1">
          <a:solidFill>
            <a:schemeClr val="folHlink"/>
          </a:solidFill>
          <a:latin typeface="Courier New" pitchFamily="49" charset="0"/>
          <a:ea typeface="黑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amp;"/>
        <a:defRPr sz="2800" b="1">
          <a:solidFill>
            <a:schemeClr val="tx2"/>
          </a:solidFill>
          <a:latin typeface="+mn-lt"/>
          <a:ea typeface="+mn-ea"/>
          <a:cs typeface="+mn-cs"/>
        </a:defRPr>
      </a:lvl1pPr>
      <a:lvl2pPr marL="742950" indent="-285750" algn="l" rtl="0" eaLnBrk="0" fontAlgn="base" hangingPunct="0">
        <a:spcBef>
          <a:spcPct val="20000"/>
        </a:spcBef>
        <a:spcAft>
          <a:spcPct val="0"/>
        </a:spcAft>
        <a:buClr>
          <a:srgbClr val="CA3B1E"/>
        </a:buClr>
        <a:buFont typeface="Wingdings" pitchFamily="2" charset="2"/>
        <a:buChar char="Ø"/>
        <a:defRPr sz="2400" b="1">
          <a:solidFill>
            <a:schemeClr val="folHlink"/>
          </a:solidFill>
          <a:latin typeface="+mn-lt"/>
          <a:ea typeface="+mn-ea"/>
        </a:defRPr>
      </a:lvl2pPr>
      <a:lvl3pPr marL="1143000" indent="-228600" algn="l" rtl="0" eaLnBrk="0" fontAlgn="base" hangingPunct="0">
        <a:spcBef>
          <a:spcPct val="20000"/>
        </a:spcBef>
        <a:spcAft>
          <a:spcPct val="0"/>
        </a:spcAft>
        <a:buClr>
          <a:srgbClr val="CC6600"/>
        </a:buClr>
        <a:buSzPct val="120000"/>
        <a:buFont typeface="Webdings" pitchFamily="18" charset="2"/>
        <a:buChar char="4"/>
        <a:defRPr sz="2200" b="1">
          <a:solidFill>
            <a:schemeClr val="tx2"/>
          </a:solidFill>
          <a:latin typeface="+mn-lt"/>
          <a:ea typeface="+mn-ea"/>
        </a:defRPr>
      </a:lvl3pPr>
      <a:lvl4pPr marL="1600200" indent="-228600" algn="l" rtl="0" eaLnBrk="0" fontAlgn="base" hangingPunct="0">
        <a:spcBef>
          <a:spcPct val="20000"/>
        </a:spcBef>
        <a:spcAft>
          <a:spcPct val="0"/>
        </a:spcAft>
        <a:buClr>
          <a:srgbClr val="CC6600"/>
        </a:buClr>
        <a:buSzPct val="85000"/>
        <a:buFont typeface="Wingdings" pitchFamily="2" charset="2"/>
        <a:buChar char="u"/>
        <a:defRPr sz="2000" b="1">
          <a:solidFill>
            <a:srgbClr val="3333FF"/>
          </a:solidFill>
          <a:latin typeface="+mn-lt"/>
          <a:ea typeface="+mn-ea"/>
        </a:defRPr>
      </a:lvl4pPr>
      <a:lvl5pPr marL="2057400" indent="-228600" algn="l" rtl="0" eaLnBrk="0" fontAlgn="base" hangingPunct="0">
        <a:spcBef>
          <a:spcPct val="20000"/>
        </a:spcBef>
        <a:spcAft>
          <a:spcPct val="0"/>
        </a:spcAft>
        <a:buClr>
          <a:srgbClr val="990000"/>
        </a:buClr>
        <a:buFont typeface="Wingdings 2" pitchFamily="18" charset="2"/>
        <a:buChar char="ê"/>
        <a:defRPr sz="2000" b="1">
          <a:solidFill>
            <a:schemeClr val="tx2"/>
          </a:solidFill>
          <a:latin typeface="+mn-lt"/>
          <a:ea typeface="+mn-ea"/>
        </a:defRPr>
      </a:lvl5pPr>
      <a:lvl6pPr marL="25146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6pPr>
      <a:lvl7pPr marL="29718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7pPr>
      <a:lvl8pPr marL="34290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8pPr>
      <a:lvl9pPr marL="3886200" indent="-228600" algn="l" rtl="0" fontAlgn="base">
        <a:spcBef>
          <a:spcPct val="20000"/>
        </a:spcBef>
        <a:spcAft>
          <a:spcPct val="0"/>
        </a:spcAft>
        <a:buClr>
          <a:srgbClr val="990000"/>
        </a:buClr>
        <a:buFont typeface="Wingdings 2" pitchFamily="18" charset="2"/>
        <a:buChar char="ê"/>
        <a:defRPr sz="2000" b="1">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hlink"/>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defRPr sz="1400" b="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defRPr sz="1400" b="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sz="1400" b="0"/>
            </a:lvl1pPr>
          </a:lstStyle>
          <a:p>
            <a:fld id="{3D691F53-04E6-4C96-A9DF-092345949851}" type="slidenum">
              <a:rPr lang="en-US" altLang="zh-CN"/>
              <a:pPr/>
              <a:t>‹#›</a:t>
            </a:fld>
            <a:endParaRPr lang="en-US" altLang="zh-CN"/>
          </a:p>
        </p:txBody>
      </p:sp>
    </p:spTree>
    <p:extLst>
      <p:ext uri="{BB962C8B-B14F-4D97-AF65-F5344CB8AC3E}">
        <p14:creationId xmlns:p14="http://schemas.microsoft.com/office/powerpoint/2010/main" val="3910137094"/>
      </p:ext>
    </p:extLst>
  </p:cSld>
  <p:clrMap bg1="lt1" tx1="dk1" bg2="lt2" tx2="dk2" accent1="accent1" accent2="accent2" accent3="accent3" accent4="accent4" accent5="accent5" accent6="accent6" hlink="hlink" folHlink="folHlink"/>
  <p:sldLayoutIdLst>
    <p:sldLayoutId id="2147485046" r:id="rId1"/>
    <p:sldLayoutId id="2147485047" r:id="rId2"/>
    <p:sldLayoutId id="2147485048" r:id="rId3"/>
    <p:sldLayoutId id="2147485049" r:id="rId4"/>
    <p:sldLayoutId id="2147485050" r:id="rId5"/>
    <p:sldLayoutId id="2147485051" r:id="rId6"/>
    <p:sldLayoutId id="2147485052" r:id="rId7"/>
    <p:sldLayoutId id="2147485053" r:id="rId8"/>
    <p:sldLayoutId id="2147485054" r:id="rId9"/>
    <p:sldLayoutId id="2147485055" r:id="rId10"/>
    <p:sldLayoutId id="2147485056" r:id="rId11"/>
  </p:sldLayoutIdLst>
  <p:hf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01-01&#21464;&#37327;&#30340;&#38388;&#25509;&#35775;&#38382;/01-01.mds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01-02&#20132;&#25442;Swap/01-02.mds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01-03Complex&#36816;&#31639;&#31526;&#20989;&#25968;/01-03.mdsp"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52400" y="727372"/>
            <a:ext cx="6139822" cy="923330"/>
          </a:xfrm>
          <a:solidFill>
            <a:srgbClr val="DDDDDD">
              <a:alpha val="39999"/>
            </a:srgbClr>
          </a:solidFill>
        </p:spPr>
        <p:txBody>
          <a:bodyPr wrap="none"/>
          <a:lstStyle/>
          <a:p>
            <a:pPr eaLnBrk="1" hangingPunct="1">
              <a:defRPr/>
            </a:pPr>
            <a:r>
              <a:rPr lang="zh-CN" altLang="en-US" sz="5400" dirty="0"/>
              <a:t>面向对象程序设计</a:t>
            </a:r>
            <a:r>
              <a:rPr lang="en-US" altLang="zh-CN" sz="5400" b="1" dirty="0"/>
              <a:t>A</a:t>
            </a:r>
            <a:endParaRPr lang="zh-CN" altLang="en-US" sz="5400" b="1" dirty="0"/>
          </a:p>
        </p:txBody>
      </p:sp>
      <p:sp>
        <p:nvSpPr>
          <p:cNvPr id="2101" name="Rectangle 53"/>
          <p:cNvSpPr>
            <a:spLocks noChangeArrowheads="1"/>
          </p:cNvSpPr>
          <p:nvPr/>
        </p:nvSpPr>
        <p:spPr bwMode="white">
          <a:xfrm>
            <a:off x="0" y="3200400"/>
            <a:ext cx="9144000" cy="1015663"/>
          </a:xfrm>
          <a:prstGeom prst="rect">
            <a:avLst/>
          </a:prstGeom>
          <a:solidFill>
            <a:srgbClr val="DDDDDD">
              <a:alpha val="39999"/>
            </a:srgbClr>
          </a:solidFill>
          <a:ln w="9525">
            <a:noFill/>
            <a:miter lim="800000"/>
            <a:headEnd/>
            <a:tailEnd/>
          </a:ln>
          <a:effectLst>
            <a:outerShdw dist="71842" dir="2700000" algn="ctr" rotWithShape="0">
              <a:srgbClr val="000000">
                <a:alpha val="50000"/>
              </a:srgbClr>
            </a:outerShdw>
          </a:effectLst>
        </p:spPr>
        <p:txBody>
          <a:bodyPr wrap="square" anchor="ctr">
            <a:spAutoFit/>
          </a:bodyPr>
          <a:lstStyle/>
          <a:p>
            <a:pPr>
              <a:defRPr/>
            </a:pPr>
            <a:r>
              <a:rPr lang="zh-CN" altLang="en-US" sz="6000" b="1" dirty="0">
                <a:solidFill>
                  <a:srgbClr val="FFFF00"/>
                </a:solidFill>
                <a:latin typeface="Courier New" pitchFamily="49" charset="0"/>
              </a:rPr>
              <a:t>从</a:t>
            </a:r>
            <a:r>
              <a:rPr lang="en-US" altLang="zh-CN" sz="6000" b="1" dirty="0">
                <a:solidFill>
                  <a:srgbClr val="FFFF00"/>
                </a:solidFill>
                <a:latin typeface="Courier New" pitchFamily="49" charset="0"/>
              </a:rPr>
              <a:t>C</a:t>
            </a:r>
            <a:r>
              <a:rPr lang="zh-CN" altLang="en-US" sz="6000" b="1" dirty="0">
                <a:solidFill>
                  <a:srgbClr val="FFFF00"/>
                </a:solidFill>
                <a:latin typeface="Courier New" pitchFamily="49" charset="0"/>
              </a:rPr>
              <a:t>到</a:t>
            </a:r>
            <a:r>
              <a:rPr lang="en-US" altLang="zh-CN" sz="6000" b="1" dirty="0">
                <a:solidFill>
                  <a:srgbClr val="FFFF00"/>
                </a:solidFill>
                <a:latin typeface="Courier New" pitchFamily="49" charset="0"/>
              </a:rPr>
              <a:t>C++ </a:t>
            </a:r>
            <a:r>
              <a:rPr lang="en-US" altLang="zh-CN" sz="4400" b="1" dirty="0">
                <a:solidFill>
                  <a:srgbClr val="FFFF00"/>
                </a:solidFill>
                <a:latin typeface="Courier New" pitchFamily="49" charset="0"/>
              </a:rPr>
              <a:t>—— </a:t>
            </a:r>
            <a:r>
              <a:rPr lang="zh-CN" altLang="en-US" sz="4400" b="1" dirty="0">
                <a:solidFill>
                  <a:srgbClr val="FFFF00"/>
                </a:solidFill>
                <a:latin typeface="Courier New" pitchFamily="49" charset="0"/>
              </a:rPr>
              <a:t>若干概念和语法</a:t>
            </a:r>
            <a:endParaRPr lang="en-US" altLang="zh-CN" sz="6000" b="1" dirty="0">
              <a:solidFill>
                <a:srgbClr val="FFFF00"/>
              </a:solidFill>
              <a:latin typeface="Courier New" pitchFamily="49" charset="0"/>
            </a:endParaRPr>
          </a:p>
        </p:txBody>
      </p:sp>
      <p:sp>
        <p:nvSpPr>
          <p:cNvPr id="4" name="Rectangle 54"/>
          <p:cNvSpPr>
            <a:spLocks noChangeArrowheads="1"/>
          </p:cNvSpPr>
          <p:nvPr/>
        </p:nvSpPr>
        <p:spPr bwMode="white">
          <a:xfrm>
            <a:off x="3444875" y="4430345"/>
            <a:ext cx="2348720" cy="830997"/>
          </a:xfrm>
          <a:prstGeom prst="rect">
            <a:avLst/>
          </a:prstGeom>
          <a:solidFill>
            <a:schemeClr val="bg1">
              <a:alpha val="84000"/>
            </a:schemeClr>
          </a:solidFill>
          <a:ln w="28575">
            <a:solidFill>
              <a:srgbClr val="990000"/>
            </a:solidFill>
            <a:miter lim="800000"/>
            <a:headEnd/>
            <a:tailEnd/>
          </a:ln>
          <a:effectLst>
            <a:outerShdw dist="71842" dir="2700000" algn="ctr" rotWithShape="0">
              <a:srgbClr val="000000">
                <a:alpha val="50000"/>
              </a:srgbClr>
            </a:outerShdw>
          </a:effectLst>
        </p:spPr>
        <p:txBody>
          <a:bodyPr wrap="none" anchor="ctr">
            <a:spAutoFit/>
          </a:bodyPr>
          <a:lstStyle/>
          <a:p>
            <a:pPr>
              <a:defRPr/>
            </a:pPr>
            <a:r>
              <a:rPr lang="zh-CN" altLang="en-US" sz="4800" b="1" dirty="0">
                <a:solidFill>
                  <a:schemeClr val="tx2"/>
                </a:solidFill>
                <a:latin typeface="楷体" panose="02010609060101010101" pitchFamily="49" charset="-122"/>
                <a:ea typeface="楷体" panose="02010609060101010101" pitchFamily="49" charset="-122"/>
              </a:rPr>
              <a:t>第</a:t>
            </a:r>
            <a:r>
              <a:rPr lang="en-US" altLang="zh-CN" sz="4800" b="1" dirty="0">
                <a:solidFill>
                  <a:schemeClr val="tx2"/>
                </a:solidFill>
                <a:latin typeface="Times New Roman" pitchFamily="18" charset="0"/>
                <a:ea typeface="楷体" panose="02010609060101010101" pitchFamily="49" charset="-122"/>
              </a:rPr>
              <a:t>01</a:t>
            </a:r>
            <a:r>
              <a:rPr lang="zh-CN" altLang="en-US" sz="4800" b="1" dirty="0">
                <a:solidFill>
                  <a:schemeClr val="tx2"/>
                </a:solidFill>
                <a:latin typeface="楷体" panose="02010609060101010101" pitchFamily="49" charset="-122"/>
                <a:ea typeface="楷体" panose="02010609060101010101" pitchFamily="49" charset="-122"/>
              </a:rPr>
              <a:t>讲 </a:t>
            </a:r>
            <a:endParaRPr lang="zh-CN" altLang="en-US" sz="4400" dirty="0">
              <a:solidFill>
                <a:schemeClr val="tx2"/>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dirty="0"/>
              <a:t>主要内容</a:t>
            </a:r>
          </a:p>
        </p:txBody>
      </p:sp>
      <p:sp>
        <p:nvSpPr>
          <p:cNvPr id="18435" name="内容占位符 2"/>
          <p:cNvSpPr>
            <a:spLocks noGrp="1"/>
          </p:cNvSpPr>
          <p:nvPr>
            <p:ph idx="1"/>
          </p:nvPr>
        </p:nvSpPr>
        <p:spPr>
          <a:xfrm>
            <a:off x="457200" y="1295400"/>
            <a:ext cx="8229600" cy="5334000"/>
          </a:xfrm>
        </p:spPr>
        <p:txBody>
          <a:bodyPr/>
          <a:lstStyle/>
          <a:p>
            <a:pPr eaLnBrk="1" hangingPunct="1">
              <a:buNone/>
            </a:pPr>
            <a:r>
              <a:rPr lang="zh-CN" altLang="en-US" dirty="0"/>
              <a:t>一、</a:t>
            </a:r>
            <a:r>
              <a:rPr lang="zh-CN" altLang="en-US" sz="3200" dirty="0"/>
              <a:t>从变量名谈起</a:t>
            </a:r>
            <a:endParaRPr lang="en-US" altLang="zh-CN" sz="3200" dirty="0"/>
          </a:p>
          <a:p>
            <a:pPr lvl="1" eaLnBrk="1" hangingPunct="1"/>
            <a:r>
              <a:rPr lang="zh-CN" altLang="en-US" sz="2800" dirty="0">
                <a:solidFill>
                  <a:srgbClr val="0000FF"/>
                </a:solidFill>
              </a:rPr>
              <a:t>变量</a:t>
            </a:r>
            <a:r>
              <a:rPr lang="en-US" altLang="zh-CN" sz="2800" dirty="0">
                <a:solidFill>
                  <a:srgbClr val="0000FF"/>
                </a:solidFill>
              </a:rPr>
              <a:t>(</a:t>
            </a:r>
            <a:r>
              <a:rPr lang="zh-CN" altLang="en-US" sz="2800" dirty="0">
                <a:solidFill>
                  <a:srgbClr val="0000FF"/>
                </a:solidFill>
              </a:rPr>
              <a:t>原</a:t>
            </a:r>
            <a:r>
              <a:rPr lang="en-US" altLang="zh-CN" sz="2800" dirty="0">
                <a:solidFill>
                  <a:srgbClr val="0000FF"/>
                </a:solidFill>
              </a:rPr>
              <a:t>)</a:t>
            </a:r>
            <a:r>
              <a:rPr lang="zh-CN" altLang="en-US" sz="2800" dirty="0">
                <a:solidFill>
                  <a:srgbClr val="0000FF"/>
                </a:solidFill>
              </a:rPr>
              <a:t>名</a:t>
            </a:r>
            <a:endParaRPr lang="en-US" altLang="zh-CN" sz="2800" dirty="0">
              <a:solidFill>
                <a:srgbClr val="0000FF"/>
              </a:solidFill>
            </a:endParaRPr>
          </a:p>
          <a:p>
            <a:pPr lvl="1" eaLnBrk="1" hangingPunct="1"/>
            <a:r>
              <a:rPr lang="zh-CN" altLang="en-US" sz="2800" dirty="0">
                <a:solidFill>
                  <a:srgbClr val="0000FF"/>
                </a:solidFill>
              </a:rPr>
              <a:t>变量的间接名</a:t>
            </a:r>
            <a:endParaRPr lang="en-US" altLang="zh-CN" sz="2800" dirty="0">
              <a:solidFill>
                <a:srgbClr val="0000FF"/>
              </a:solidFill>
            </a:endParaRPr>
          </a:p>
          <a:p>
            <a:pPr lvl="1" eaLnBrk="1" hangingPunct="1"/>
            <a:r>
              <a:rPr lang="zh-CN" altLang="en-US" sz="2800" dirty="0">
                <a:solidFill>
                  <a:srgbClr val="0000FF"/>
                </a:solidFill>
              </a:rPr>
              <a:t>变量的别名</a:t>
            </a:r>
            <a:endParaRPr lang="en-US" altLang="zh-CN" sz="2800" dirty="0">
              <a:solidFill>
                <a:srgbClr val="0000FF"/>
              </a:solidFill>
            </a:endParaRPr>
          </a:p>
          <a:p>
            <a:pPr eaLnBrk="1" hangingPunct="1">
              <a:buNone/>
            </a:pPr>
            <a:r>
              <a:rPr lang="zh-CN" altLang="en-US" dirty="0"/>
              <a:t>二、从泛型程序设计谈起</a:t>
            </a:r>
            <a:endParaRPr lang="en-US" altLang="zh-CN" dirty="0"/>
          </a:p>
          <a:p>
            <a:pPr lvl="1" eaLnBrk="1" hangingPunct="1"/>
            <a:r>
              <a:rPr lang="zh-CN" altLang="en-US" dirty="0">
                <a:solidFill>
                  <a:srgbClr val="0000FF"/>
                </a:solidFill>
              </a:rPr>
              <a:t>函数重载</a:t>
            </a:r>
            <a:endParaRPr lang="en-US" altLang="zh-CN" dirty="0">
              <a:solidFill>
                <a:srgbClr val="0000FF"/>
              </a:solidFill>
            </a:endParaRPr>
          </a:p>
          <a:p>
            <a:pPr lvl="1" eaLnBrk="1" hangingPunct="1"/>
            <a:r>
              <a:rPr lang="zh-CN" altLang="en-US" dirty="0">
                <a:solidFill>
                  <a:srgbClr val="0000FF"/>
                </a:solidFill>
              </a:rPr>
              <a:t>函数模板</a:t>
            </a:r>
            <a:endParaRPr lang="en-US" altLang="zh-CN" dirty="0">
              <a:solidFill>
                <a:srgbClr val="0000FF"/>
              </a:solidFill>
            </a:endParaRPr>
          </a:p>
          <a:p>
            <a:pPr lvl="1" eaLnBrk="1" hangingPunct="1"/>
            <a:r>
              <a:rPr lang="zh-CN" altLang="en-US" dirty="0">
                <a:solidFill>
                  <a:srgbClr val="0000FF"/>
                </a:solidFill>
              </a:rPr>
              <a:t>运算符函数</a:t>
            </a:r>
            <a:endParaRPr lang="en-US" altLang="zh-CN" dirty="0">
              <a:solidFill>
                <a:srgbClr val="0000FF"/>
              </a:solidFill>
            </a:endParaRPr>
          </a:p>
          <a:p>
            <a:pPr eaLnBrk="1" hangingPunct="1">
              <a:buNone/>
            </a:pPr>
            <a:r>
              <a:rPr lang="zh-CN" altLang="en-US" dirty="0"/>
              <a:t>三、其他</a:t>
            </a:r>
            <a:endParaRPr lang="en-US" altLang="zh-CN" dirty="0"/>
          </a:p>
          <a:p>
            <a:pPr lvl="1" eaLnBrk="1" hangingPunct="1"/>
            <a:r>
              <a:rPr lang="zh-CN" altLang="en-US" dirty="0">
                <a:solidFill>
                  <a:srgbClr val="0000FF"/>
                </a:solidFill>
              </a:rPr>
              <a:t>默认参数、内联函数</a:t>
            </a:r>
            <a:r>
              <a:rPr lang="en-US" altLang="zh-CN" dirty="0">
                <a:solidFill>
                  <a:srgbClr val="0000FF"/>
                </a:solidFill>
              </a:rPr>
              <a:t/>
            </a:r>
            <a:br>
              <a:rPr lang="en-US" altLang="zh-CN" dirty="0">
                <a:solidFill>
                  <a:srgbClr val="0000FF"/>
                </a:solidFill>
              </a:rPr>
            </a:br>
            <a:r>
              <a:rPr lang="zh-CN" altLang="en-US" dirty="0">
                <a:solidFill>
                  <a:srgbClr val="0000FF"/>
                </a:solidFill>
              </a:rPr>
              <a:t>（通过“就地展开”理解形参与实参的关系）</a:t>
            </a:r>
            <a:endParaRPr lang="en-US" altLang="zh-CN" dirty="0">
              <a:solidFill>
                <a:srgbClr val="0000FF"/>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76200" y="88900"/>
            <a:ext cx="8991600" cy="30353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a:solidFill>
                  <a:srgbClr val="C00000"/>
                </a:solidFill>
                <a:latin typeface="Courier New" pitchFamily="49" charset="0"/>
              </a:rPr>
              <a:t>/* </a:t>
            </a:r>
            <a:r>
              <a:rPr lang="en-US" altLang="zh-CN" sz="2400" b="1" dirty="0" err="1">
                <a:solidFill>
                  <a:srgbClr val="C00000"/>
                </a:solidFill>
                <a:latin typeface="Courier New" pitchFamily="49" charset="0"/>
              </a:rPr>
              <a:t>Hello.c</a:t>
            </a:r>
            <a:r>
              <a:rPr lang="en-US" altLang="zh-CN" sz="2400" b="1" dirty="0">
                <a:solidFill>
                  <a:srgbClr val="C00000"/>
                </a:solidFill>
                <a:latin typeface="Courier New" pitchFamily="49" charset="0"/>
              </a:rPr>
              <a:t> */</a:t>
            </a:r>
          </a:p>
          <a:p>
            <a:pPr>
              <a:lnSpc>
                <a:spcPct val="90000"/>
              </a:lnSpc>
            </a:pPr>
            <a:r>
              <a:rPr lang="en-US" altLang="zh-CN" sz="2400" b="1" dirty="0">
                <a:solidFill>
                  <a:srgbClr val="000000"/>
                </a:solidFill>
                <a:latin typeface="Courier New" pitchFamily="49" charset="0"/>
              </a:rPr>
              <a:t> #include &lt;</a:t>
            </a:r>
            <a:r>
              <a:rPr lang="en-US" altLang="zh-CN" sz="2400" b="1" dirty="0" err="1">
                <a:solidFill>
                  <a:srgbClr val="000000"/>
                </a:solidFill>
                <a:latin typeface="Courier New" pitchFamily="49" charset="0"/>
              </a:rPr>
              <a:t>stdio.h</a:t>
            </a:r>
            <a:r>
              <a:rPr lang="en-US" altLang="zh-CN" sz="2400" b="1" dirty="0">
                <a:solidFill>
                  <a:srgbClr val="000000"/>
                </a:solidFill>
                <a:latin typeface="Courier New" pitchFamily="49" charset="0"/>
              </a:rPr>
              <a:t>&gt;</a:t>
            </a:r>
          </a:p>
          <a:p>
            <a:pPr>
              <a:lnSpc>
                <a:spcPct val="90000"/>
              </a:lnSpc>
            </a:pPr>
            <a:endParaRPr lang="en-US" altLang="zh-CN" sz="2400" b="1" dirty="0">
              <a:solidFill>
                <a:srgbClr val="000000"/>
              </a:solidFill>
              <a:latin typeface="Courier New" pitchFamily="49" charset="0"/>
            </a:endParaRPr>
          </a:p>
          <a:p>
            <a:pPr>
              <a:lnSpc>
                <a:spcPct val="90000"/>
              </a:lnSpc>
            </a:pPr>
            <a:r>
              <a:rPr lang="en-US" altLang="zh-CN" sz="2400" b="1" dirty="0">
                <a:solidFill>
                  <a:srgbClr val="0000FF"/>
                </a:solidFill>
                <a:latin typeface="Courier New" pitchFamily="49" charset="0"/>
              </a:rPr>
              <a:t> int</a:t>
            </a:r>
            <a:r>
              <a:rPr lang="en-US" altLang="zh-CN" sz="2400" b="1" dirty="0">
                <a:solidFill>
                  <a:srgbClr val="000000"/>
                </a:solidFill>
                <a:latin typeface="Courier New" pitchFamily="49" charset="0"/>
              </a:rPr>
              <a:t> main()</a:t>
            </a:r>
          </a:p>
          <a:p>
            <a:pPr>
              <a:lnSpc>
                <a:spcPct val="90000"/>
              </a:lnSpc>
            </a:pP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a:t>
            </a: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 </a:t>
            </a:r>
            <a:r>
              <a:rPr lang="en-US" altLang="zh-CN" sz="2400" b="1" dirty="0" err="1">
                <a:solidFill>
                  <a:srgbClr val="000000"/>
                </a:solidFill>
                <a:latin typeface="Courier New" pitchFamily="49" charset="0"/>
              </a:rPr>
              <a:t>printf</a:t>
            </a:r>
            <a:r>
              <a:rPr lang="en-US" altLang="zh-CN" sz="2400" b="1" dirty="0">
                <a:solidFill>
                  <a:srgbClr val="000000"/>
                </a:solidFill>
                <a:latin typeface="Courier New" pitchFamily="49" charset="0"/>
              </a:rPr>
              <a:t>("Hello world\n");</a:t>
            </a:r>
            <a:endParaRPr lang="zh-CN" altLang="en-US" sz="2400" b="1" dirty="0">
              <a:solidFill>
                <a:srgbClr val="990000"/>
              </a:solidFill>
              <a:latin typeface="Courier New" pitchFamily="49" charset="0"/>
            </a:endParaRPr>
          </a:p>
          <a:p>
            <a:pPr>
              <a:spcBef>
                <a:spcPct val="3000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p>
          <a:p>
            <a:pPr>
              <a:spcBef>
                <a:spcPct val="30000"/>
              </a:spcBef>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a:p>
            <a:pPr>
              <a:spcBef>
                <a:spcPct val="30000"/>
              </a:spcBef>
            </a:pPr>
            <a:endParaRPr lang="en-US" altLang="zh-CN" sz="2400" b="1" dirty="0">
              <a:solidFill>
                <a:srgbClr val="000000"/>
              </a:solidFill>
              <a:latin typeface="Courier New" pitchFamily="49" charset="0"/>
            </a:endParaRPr>
          </a:p>
        </p:txBody>
      </p:sp>
      <p:sp>
        <p:nvSpPr>
          <p:cNvPr id="3" name="Text Box 4">
            <a:extLst>
              <a:ext uri="{FF2B5EF4-FFF2-40B4-BE49-F238E27FC236}">
                <a16:creationId xmlns:a16="http://schemas.microsoft.com/office/drawing/2014/main" id="{D633A98A-B0C6-4D4E-ADCE-E5131B241D10}"/>
              </a:ext>
            </a:extLst>
          </p:cNvPr>
          <p:cNvSpPr txBox="1">
            <a:spLocks noChangeArrowheads="1"/>
          </p:cNvSpPr>
          <p:nvPr/>
        </p:nvSpPr>
        <p:spPr bwMode="auto">
          <a:xfrm>
            <a:off x="93617" y="3276600"/>
            <a:ext cx="8991600" cy="34290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a:solidFill>
                  <a:srgbClr val="C00000"/>
                </a:solidFill>
                <a:latin typeface="Courier New" pitchFamily="49" charset="0"/>
              </a:rPr>
              <a:t>// Hello.cpp</a:t>
            </a:r>
          </a:p>
          <a:p>
            <a:pPr>
              <a:lnSpc>
                <a:spcPct val="90000"/>
              </a:lnSpc>
            </a:pPr>
            <a:r>
              <a:rPr lang="en-US" altLang="zh-CN" sz="2400" b="1" dirty="0">
                <a:solidFill>
                  <a:srgbClr val="000000"/>
                </a:solidFill>
                <a:latin typeface="Courier New" pitchFamily="49" charset="0"/>
              </a:rPr>
              <a:t> #include &lt;iostream&gt;</a:t>
            </a: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using namespace </a:t>
            </a:r>
            <a:r>
              <a:rPr lang="en-US" altLang="zh-CN" sz="2400" b="1" dirty="0">
                <a:solidFill>
                  <a:srgbClr val="000000"/>
                </a:solidFill>
                <a:latin typeface="Courier New" pitchFamily="49" charset="0"/>
              </a:rPr>
              <a:t>std;</a:t>
            </a:r>
          </a:p>
          <a:p>
            <a:pPr>
              <a:lnSpc>
                <a:spcPct val="90000"/>
              </a:lnSpc>
            </a:pPr>
            <a:endParaRPr lang="en-US" altLang="zh-CN" sz="2400" b="1" dirty="0">
              <a:solidFill>
                <a:srgbClr val="000000"/>
              </a:solidFill>
              <a:latin typeface="Courier New" pitchFamily="49" charset="0"/>
            </a:endParaRPr>
          </a:p>
          <a:p>
            <a:pPr>
              <a:lnSpc>
                <a:spcPct val="90000"/>
              </a:lnSpc>
            </a:pPr>
            <a:r>
              <a:rPr lang="en-US" altLang="zh-CN" sz="2400" b="1" dirty="0">
                <a:solidFill>
                  <a:srgbClr val="0000FF"/>
                </a:solidFill>
                <a:latin typeface="Courier New" pitchFamily="49" charset="0"/>
              </a:rPr>
              <a:t> int</a:t>
            </a:r>
            <a:r>
              <a:rPr lang="en-US" altLang="zh-CN" sz="2400" b="1" dirty="0">
                <a:solidFill>
                  <a:srgbClr val="000000"/>
                </a:solidFill>
                <a:latin typeface="Courier New" pitchFamily="49" charset="0"/>
              </a:rPr>
              <a:t> main()</a:t>
            </a:r>
          </a:p>
          <a:p>
            <a:pPr>
              <a:lnSpc>
                <a:spcPct val="90000"/>
              </a:lnSpc>
            </a:pP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a:t>
            </a: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"Hello world" &lt;&lt; </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endParaRPr lang="zh-CN" altLang="en-US" sz="2400" b="1" dirty="0">
              <a:solidFill>
                <a:srgbClr val="990000"/>
              </a:solidFill>
              <a:latin typeface="Courier New" pitchFamily="49" charset="0"/>
            </a:endParaRPr>
          </a:p>
          <a:p>
            <a:pPr>
              <a:spcBef>
                <a:spcPct val="3000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p>
          <a:p>
            <a:pPr>
              <a:spcBef>
                <a:spcPct val="30000"/>
              </a:spcBef>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a:p>
            <a:pPr>
              <a:spcBef>
                <a:spcPct val="30000"/>
              </a:spcBef>
            </a:pPr>
            <a:endParaRPr lang="en-US" altLang="zh-CN" sz="2400" b="1" dirty="0">
              <a:solidFill>
                <a:srgbClr val="000000"/>
              </a:solidFill>
              <a:latin typeface="Courier New" pitchFamily="49" charset="0"/>
            </a:endParaRPr>
          </a:p>
        </p:txBody>
      </p:sp>
    </p:spTree>
    <p:extLst>
      <p:ext uri="{BB962C8B-B14F-4D97-AF65-F5344CB8AC3E}">
        <p14:creationId xmlns:p14="http://schemas.microsoft.com/office/powerpoint/2010/main" val="33962530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cs typeface="Times New Roman" panose="02020603050405020304" pitchFamily="18" charset="0"/>
              </a:rPr>
              <a:t>§3.1.2</a:t>
            </a:r>
            <a:r>
              <a:rPr lang="en-US" altLang="zh-CN" dirty="0"/>
              <a:t> </a:t>
            </a:r>
            <a:r>
              <a:rPr lang="zh-CN" altLang="en-US" dirty="0"/>
              <a:t>变</a:t>
            </a:r>
            <a:r>
              <a:rPr lang="zh-CN" altLang="en-US" dirty="0">
                <a:latin typeface="Times New Roman" pitchFamily="18" charset="0"/>
              </a:rPr>
              <a:t>量</a:t>
            </a:r>
          </a:p>
        </p:txBody>
      </p:sp>
      <p:sp>
        <p:nvSpPr>
          <p:cNvPr id="163843" name="Rectangle 3"/>
          <p:cNvSpPr>
            <a:spLocks noGrp="1" noChangeArrowheads="1"/>
          </p:cNvSpPr>
          <p:nvPr>
            <p:ph type="body" idx="1"/>
          </p:nvPr>
        </p:nvSpPr>
        <p:spPr>
          <a:xfrm>
            <a:off x="152400" y="1447800"/>
            <a:ext cx="8915400" cy="5181600"/>
          </a:xfrm>
        </p:spPr>
        <p:txBody>
          <a:bodyPr/>
          <a:lstStyle/>
          <a:p>
            <a:pPr marL="533400" indent="-533400" eaLnBrk="1" hangingPunct="1">
              <a:defRPr/>
            </a:pPr>
            <a:r>
              <a:rPr lang="zh-CN" altLang="en-US" sz="3200" dirty="0"/>
              <a:t> 变量</a:t>
            </a:r>
            <a:r>
              <a:rPr lang="en-US" altLang="zh-CN" sz="3200" dirty="0"/>
              <a:t>——</a:t>
            </a:r>
            <a:r>
              <a:rPr lang="zh-CN" altLang="en-US" sz="3200" dirty="0"/>
              <a:t>其值在程序运行中可以被改变的量</a:t>
            </a:r>
          </a:p>
          <a:p>
            <a:pPr marL="914400" lvl="1" indent="-457200" eaLnBrk="1" hangingPunct="1">
              <a:defRPr/>
            </a:pPr>
            <a:r>
              <a:rPr lang="zh-CN" altLang="en-US" sz="2800" dirty="0"/>
              <a:t> 变量必须先定义、后使用</a:t>
            </a:r>
          </a:p>
          <a:p>
            <a:pPr marL="1333500" lvl="2" indent="-419100" eaLnBrk="1" hangingPunct="1">
              <a:defRPr/>
            </a:pPr>
            <a:r>
              <a:rPr lang="zh-CN" altLang="en-US" sz="3000" u="sng" dirty="0">
                <a:solidFill>
                  <a:srgbClr val="0000FF"/>
                </a:solidFill>
                <a:effectLst>
                  <a:outerShdw blurRad="38100" dist="38100" dir="2700000" algn="tl">
                    <a:srgbClr val="C0C0C0"/>
                  </a:outerShdw>
                </a:effectLst>
                <a:ea typeface="华文中宋" pitchFamily="2" charset="-122"/>
              </a:rPr>
              <a:t>定义变量意味着为该变量分配内存空间</a:t>
            </a:r>
          </a:p>
          <a:p>
            <a:pPr marL="914400" lvl="1" indent="-457200" eaLnBrk="1" hangingPunct="1">
              <a:spcBef>
                <a:spcPct val="50000"/>
              </a:spcBef>
              <a:defRPr/>
            </a:pPr>
            <a:r>
              <a:rPr lang="zh-CN" altLang="en-US" sz="2800" dirty="0"/>
              <a:t> 变量定义需要确定其</a:t>
            </a:r>
            <a:r>
              <a:rPr lang="zh-CN" altLang="en-US" sz="1400" dirty="0"/>
              <a:t> </a:t>
            </a:r>
            <a:r>
              <a:rPr lang="en-US" altLang="zh-CN" sz="2800" dirty="0"/>
              <a:t>5</a:t>
            </a:r>
            <a:r>
              <a:rPr lang="en-US" altLang="zh-CN" sz="1400" dirty="0"/>
              <a:t> </a:t>
            </a:r>
            <a:r>
              <a:rPr lang="zh-CN" altLang="en-US" sz="2800" dirty="0"/>
              <a:t>要素：</a:t>
            </a:r>
          </a:p>
          <a:p>
            <a:pPr marL="1333500" lvl="2" indent="-419100" eaLnBrk="1" hangingPunct="1">
              <a:spcBef>
                <a:spcPct val="35000"/>
              </a:spcBef>
              <a:buFont typeface="Webdings" pitchFamily="18" charset="2"/>
              <a:buAutoNum type="arabicPeriod"/>
              <a:defRPr/>
            </a:pPr>
            <a:r>
              <a:rPr lang="zh-CN" altLang="en-US" sz="2800" dirty="0"/>
              <a:t>存储类型	</a:t>
            </a:r>
            <a:r>
              <a:rPr lang="en-US" altLang="zh-CN" sz="2800" dirty="0"/>
              <a:t>(</a:t>
            </a:r>
            <a:r>
              <a:rPr lang="zh-CN" altLang="en-US" sz="2800" dirty="0">
                <a:ea typeface="楷体" panose="02010609060101010101" pitchFamily="49" charset="-122"/>
              </a:rPr>
              <a:t>决定变量的生命期、可见性</a:t>
            </a:r>
            <a:r>
              <a:rPr lang="en-US" altLang="zh-CN" sz="2800" dirty="0"/>
              <a:t>)</a:t>
            </a:r>
          </a:p>
          <a:p>
            <a:pPr marL="1333500" lvl="2" indent="-419100" eaLnBrk="1" hangingPunct="1">
              <a:spcBef>
                <a:spcPct val="35000"/>
              </a:spcBef>
              <a:buFont typeface="Webdings" pitchFamily="18" charset="2"/>
              <a:buAutoNum type="arabicPeriod"/>
              <a:defRPr/>
            </a:pPr>
            <a:r>
              <a:rPr lang="zh-CN" altLang="en-US" sz="2600" dirty="0"/>
              <a:t>数据类型		</a:t>
            </a:r>
            <a:r>
              <a:rPr lang="en-US" altLang="zh-CN" sz="2600" dirty="0"/>
              <a:t>(</a:t>
            </a:r>
            <a:r>
              <a:rPr lang="zh-CN" altLang="en-US" sz="2600" dirty="0">
                <a:ea typeface="楷体" panose="02010609060101010101" pitchFamily="49" charset="-122"/>
              </a:rPr>
              <a:t>决定变量的存储格式、取值范围</a:t>
            </a:r>
            <a:r>
              <a:rPr lang="en-US" altLang="zh-CN" sz="2600" dirty="0"/>
              <a:t>)</a:t>
            </a:r>
            <a:endParaRPr lang="zh-CN" altLang="en-US" sz="2600" dirty="0"/>
          </a:p>
          <a:p>
            <a:pPr marL="1333500" lvl="2" indent="-419100" eaLnBrk="1" hangingPunct="1">
              <a:spcBef>
                <a:spcPct val="35000"/>
              </a:spcBef>
              <a:buFont typeface="Webdings" pitchFamily="18" charset="2"/>
              <a:buAutoNum type="arabicPeriod"/>
              <a:defRPr/>
            </a:pPr>
            <a:r>
              <a:rPr lang="zh-CN" altLang="en-US" sz="2800" u="sng" dirty="0"/>
              <a:t>变量名		</a:t>
            </a:r>
            <a:r>
              <a:rPr lang="en-US" altLang="zh-CN" sz="2800" u="sng" dirty="0"/>
              <a:t>(</a:t>
            </a:r>
            <a:r>
              <a:rPr lang="zh-CN" altLang="en-US" sz="2800" u="sng" dirty="0">
                <a:latin typeface="Times New Roman" pitchFamily="18" charset="0"/>
                <a:ea typeface="楷体" panose="02010609060101010101" pitchFamily="49" charset="-122"/>
              </a:rPr>
              <a:t>“小</a:t>
            </a:r>
            <a:r>
              <a:rPr lang="zh-CN" altLang="en-US" sz="2800" u="sng" dirty="0">
                <a:ea typeface="楷体" panose="02010609060101010101" pitchFamily="49" charset="-122"/>
              </a:rPr>
              <a:t>精灵</a:t>
            </a:r>
            <a:r>
              <a:rPr lang="zh-CN" altLang="en-US" sz="2800" u="sng" dirty="0">
                <a:latin typeface="Times New Roman" pitchFamily="18" charset="0"/>
                <a:ea typeface="楷体" panose="02010609060101010101" pitchFamily="49" charset="-122"/>
              </a:rPr>
              <a:t>”</a:t>
            </a:r>
            <a:r>
              <a:rPr lang="zh-CN" altLang="en-US" sz="2800" u="sng" dirty="0">
                <a:ea typeface="楷体" panose="02010609060101010101" pitchFamily="49" charset="-122"/>
              </a:rPr>
              <a:t>的名字</a:t>
            </a:r>
            <a:r>
              <a:rPr lang="en-US" altLang="zh-CN" sz="2800" u="sng" dirty="0"/>
              <a:t>)</a:t>
            </a:r>
            <a:endParaRPr lang="zh-CN" altLang="en-US" sz="2800" u="sng" dirty="0"/>
          </a:p>
          <a:p>
            <a:pPr marL="1333500" lvl="2" indent="-419100" eaLnBrk="1" hangingPunct="1">
              <a:spcBef>
                <a:spcPct val="35000"/>
              </a:spcBef>
              <a:buFont typeface="Webdings" pitchFamily="18" charset="2"/>
              <a:buAutoNum type="arabicPeriod"/>
              <a:defRPr/>
            </a:pPr>
            <a:r>
              <a:rPr lang="zh-CN" altLang="en-US" sz="2600" dirty="0"/>
              <a:t>变量的初始值	</a:t>
            </a:r>
            <a:r>
              <a:rPr lang="en-US" altLang="zh-CN" sz="2600" dirty="0"/>
              <a:t>(</a:t>
            </a:r>
            <a:r>
              <a:rPr lang="zh-CN" altLang="en-US" sz="2600" dirty="0">
                <a:latin typeface="Times New Roman" pitchFamily="18" charset="0"/>
                <a:ea typeface="楷体" panose="02010609060101010101" pitchFamily="49" charset="-122"/>
              </a:rPr>
              <a:t>“小</a:t>
            </a:r>
            <a:r>
              <a:rPr lang="zh-CN" altLang="en-US" sz="2600" dirty="0">
                <a:ea typeface="楷体" panose="02010609060101010101" pitchFamily="49" charset="-122"/>
              </a:rPr>
              <a:t>精灵</a:t>
            </a:r>
            <a:r>
              <a:rPr lang="zh-CN" altLang="en-US" sz="2600" dirty="0">
                <a:latin typeface="Times New Roman" pitchFamily="18" charset="0"/>
                <a:ea typeface="楷体" panose="02010609060101010101" pitchFamily="49" charset="-122"/>
              </a:rPr>
              <a:t>”</a:t>
            </a:r>
            <a:r>
              <a:rPr lang="zh-CN" altLang="en-US" sz="2600" dirty="0">
                <a:ea typeface="楷体" panose="02010609060101010101" pitchFamily="49" charset="-122"/>
              </a:rPr>
              <a:t>的初态</a:t>
            </a:r>
            <a:r>
              <a:rPr lang="en-US" altLang="zh-CN" sz="2600" dirty="0"/>
              <a:t>)</a:t>
            </a:r>
            <a:endParaRPr lang="zh-CN" altLang="en-US" sz="2600" dirty="0"/>
          </a:p>
          <a:p>
            <a:pPr marL="1333500" lvl="2" indent="-419100" eaLnBrk="1" hangingPunct="1">
              <a:spcBef>
                <a:spcPct val="35000"/>
              </a:spcBef>
              <a:buFont typeface="Webdings" pitchFamily="18" charset="2"/>
              <a:buAutoNum type="arabicPeriod"/>
              <a:defRPr/>
            </a:pPr>
            <a:r>
              <a:rPr lang="zh-CN" altLang="en-US" sz="2600" dirty="0"/>
              <a:t>变量的地址	</a:t>
            </a:r>
            <a:r>
              <a:rPr lang="en-US" altLang="zh-CN" sz="2600" dirty="0"/>
              <a:t>(</a:t>
            </a:r>
            <a:r>
              <a:rPr lang="zh-CN" altLang="en-US" sz="2600" dirty="0">
                <a:ea typeface="楷体" panose="02010609060101010101" pitchFamily="49" charset="-122"/>
              </a:rPr>
              <a:t>由系统确定</a:t>
            </a:r>
            <a:r>
              <a:rPr lang="en-US" altLang="zh-CN" sz="2600" dirty="0"/>
              <a:t>)</a:t>
            </a:r>
          </a:p>
        </p:txBody>
      </p:sp>
    </p:spTree>
    <p:extLst>
      <p:ext uri="{BB962C8B-B14F-4D97-AF65-F5344CB8AC3E}">
        <p14:creationId xmlns:p14="http://schemas.microsoft.com/office/powerpoint/2010/main" val="306221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384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8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84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8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dirty="0"/>
              <a:t>变量名</a:t>
            </a:r>
          </a:p>
        </p:txBody>
      </p:sp>
      <p:sp>
        <p:nvSpPr>
          <p:cNvPr id="191491" name="Rectangle 3"/>
          <p:cNvSpPr>
            <a:spLocks noGrp="1" noChangeArrowheads="1"/>
          </p:cNvSpPr>
          <p:nvPr>
            <p:ph type="body" idx="1"/>
          </p:nvPr>
        </p:nvSpPr>
        <p:spPr/>
        <p:txBody>
          <a:bodyPr/>
          <a:lstStyle/>
          <a:p>
            <a:pPr eaLnBrk="1" hangingPunct="1"/>
            <a:r>
              <a:rPr lang="zh-CN" altLang="en-US" dirty="0"/>
              <a:t> 实际问题与计算机内存单元之间的桥梁</a:t>
            </a:r>
          </a:p>
          <a:p>
            <a:pPr lvl="1" eaLnBrk="1" hangingPunct="1"/>
            <a:r>
              <a:rPr lang="zh-CN" altLang="en-US" dirty="0"/>
              <a:t>表达实际事物的数量</a:t>
            </a:r>
          </a:p>
          <a:p>
            <a:pPr lvl="1" eaLnBrk="1" hangingPunct="1"/>
            <a:r>
              <a:rPr lang="zh-CN" altLang="en-US" dirty="0"/>
              <a:t>代表计算机内存单元</a:t>
            </a:r>
          </a:p>
          <a:p>
            <a:pPr eaLnBrk="1" hangingPunct="1">
              <a:spcBef>
                <a:spcPct val="50000"/>
              </a:spcBef>
            </a:pPr>
            <a:r>
              <a:rPr lang="zh-CN" altLang="en-US" dirty="0"/>
              <a:t> 变量名是上述两方面的抽象记号。切记</a:t>
            </a:r>
          </a:p>
          <a:p>
            <a:pPr lvl="1" eaLnBrk="1" hangingPunct="1"/>
            <a:r>
              <a:rPr lang="zh-CN" altLang="en-US" dirty="0"/>
              <a:t>计算机内存单元是实体</a:t>
            </a:r>
          </a:p>
          <a:p>
            <a:pPr eaLnBrk="1" hangingPunct="1">
              <a:spcBef>
                <a:spcPct val="50000"/>
              </a:spcBef>
            </a:pPr>
            <a:r>
              <a:rPr lang="zh-CN" altLang="en-US" dirty="0"/>
              <a:t> 变量名</a:t>
            </a:r>
          </a:p>
          <a:p>
            <a:pPr lvl="1" eaLnBrk="1" hangingPunct="1"/>
            <a:r>
              <a:rPr lang="zh-CN" altLang="en-US" dirty="0"/>
              <a:t>原</a:t>
            </a:r>
            <a:r>
              <a:rPr lang="zh-CN" altLang="en-US" sz="2000" dirty="0"/>
              <a:t>  </a:t>
            </a:r>
            <a:r>
              <a:rPr lang="zh-CN" altLang="en-US" dirty="0"/>
              <a:t>名 </a:t>
            </a:r>
            <a:r>
              <a:rPr lang="en-US" altLang="zh-CN" dirty="0"/>
              <a:t>—— </a:t>
            </a:r>
            <a:r>
              <a:rPr lang="zh-CN" altLang="en-US" dirty="0"/>
              <a:t>定义变量时使用的标识符</a:t>
            </a:r>
          </a:p>
          <a:p>
            <a:pPr lvl="1" eaLnBrk="1" hangingPunct="1"/>
            <a:r>
              <a:rPr lang="zh-CN" altLang="en-US" dirty="0"/>
              <a:t>间接名 </a:t>
            </a:r>
            <a:r>
              <a:rPr lang="en-US" altLang="zh-CN" dirty="0"/>
              <a:t>—— </a:t>
            </a:r>
            <a:r>
              <a:rPr lang="zh-CN" altLang="en-US" dirty="0"/>
              <a:t>根据地址值找到的变量</a:t>
            </a:r>
          </a:p>
          <a:p>
            <a:pPr lvl="1" eaLnBrk="1" hangingPunct="1"/>
            <a:r>
              <a:rPr lang="zh-CN" altLang="en-US" dirty="0">
                <a:solidFill>
                  <a:srgbClr val="FF0000"/>
                </a:solidFill>
              </a:rPr>
              <a:t>别</a:t>
            </a:r>
            <a:r>
              <a:rPr lang="zh-CN" altLang="en-US" sz="2000" dirty="0">
                <a:solidFill>
                  <a:srgbClr val="FF0000"/>
                </a:solidFill>
              </a:rPr>
              <a:t>  </a:t>
            </a:r>
            <a:r>
              <a:rPr lang="zh-CN" altLang="en-US" dirty="0">
                <a:solidFill>
                  <a:srgbClr val="FF0000"/>
                </a:solidFill>
              </a:rPr>
              <a:t>名 </a:t>
            </a:r>
            <a:r>
              <a:rPr lang="en-US" altLang="zh-CN" dirty="0">
                <a:solidFill>
                  <a:srgbClr val="FF0000"/>
                </a:solidFill>
              </a:rPr>
              <a:t>—— </a:t>
            </a:r>
            <a:r>
              <a:rPr lang="zh-CN" altLang="en-US" dirty="0">
                <a:solidFill>
                  <a:srgbClr val="FF0000"/>
                </a:solidFill>
              </a:rPr>
              <a:t>为已经存在的变量声明的引用（</a:t>
            </a:r>
            <a:r>
              <a:rPr lang="en-US" altLang="zh-CN" dirty="0">
                <a:solidFill>
                  <a:srgbClr val="FF0000"/>
                </a:solidFill>
              </a:rPr>
              <a:t>C++</a:t>
            </a:r>
            <a:r>
              <a:rPr lang="zh-CN" altLang="en-US" dirty="0">
                <a:solidFill>
                  <a:srgbClr val="FF0000"/>
                </a:solidFill>
              </a:rPr>
              <a:t>）</a:t>
            </a:r>
            <a:endParaRPr lang="en-US" altLang="zh-CN" dirty="0">
              <a:solidFill>
                <a:srgbClr val="FF0000"/>
              </a:solidFill>
            </a:endParaRPr>
          </a:p>
        </p:txBody>
      </p:sp>
    </p:spTree>
    <p:extLst>
      <p:ext uri="{BB962C8B-B14F-4D97-AF65-F5344CB8AC3E}">
        <p14:creationId xmlns:p14="http://schemas.microsoft.com/office/powerpoint/2010/main" val="370414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14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14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1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149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149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149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149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14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656EF-8326-4EF8-8F31-9BD34729489A}"/>
              </a:ext>
            </a:extLst>
          </p:cNvPr>
          <p:cNvSpPr>
            <a:spLocks noGrp="1"/>
          </p:cNvSpPr>
          <p:nvPr>
            <p:ph type="title"/>
          </p:nvPr>
        </p:nvSpPr>
        <p:spPr/>
        <p:txBody>
          <a:bodyPr/>
          <a:lstStyle/>
          <a:p>
            <a:r>
              <a:rPr lang="zh-CN" altLang="en-US" dirty="0"/>
              <a:t>间接访问变量</a:t>
            </a:r>
          </a:p>
        </p:txBody>
      </p:sp>
      <p:sp>
        <p:nvSpPr>
          <p:cNvPr id="3" name="内容占位符 2">
            <a:extLst>
              <a:ext uri="{FF2B5EF4-FFF2-40B4-BE49-F238E27FC236}">
                <a16:creationId xmlns:a16="http://schemas.microsoft.com/office/drawing/2014/main" id="{2B842FC4-B038-4826-ADBF-770848D061AF}"/>
              </a:ext>
            </a:extLst>
          </p:cNvPr>
          <p:cNvSpPr>
            <a:spLocks noGrp="1"/>
          </p:cNvSpPr>
          <p:nvPr>
            <p:ph idx="1"/>
          </p:nvPr>
        </p:nvSpPr>
        <p:spPr>
          <a:xfrm>
            <a:off x="381000" y="1295400"/>
            <a:ext cx="8610600" cy="2362200"/>
          </a:xfrm>
        </p:spPr>
        <p:txBody>
          <a:bodyPr/>
          <a:lstStyle/>
          <a:p>
            <a:r>
              <a:rPr lang="zh-CN" altLang="en-US" dirty="0"/>
              <a:t>例：变量的间接名</a:t>
            </a:r>
            <a:endParaRPr lang="en-US" altLang="zh-CN" dirty="0"/>
          </a:p>
          <a:p>
            <a:pPr lvl="1"/>
            <a:r>
              <a:rPr lang="en-US" altLang="zh-CN" dirty="0"/>
              <a:t> </a:t>
            </a:r>
            <a:r>
              <a:rPr lang="en-US" altLang="zh-CN" kern="1200" dirty="0">
                <a:solidFill>
                  <a:srgbClr val="0000FF"/>
                </a:solidFill>
                <a:latin typeface="Courier New" pitchFamily="49" charset="0"/>
                <a:ea typeface="黑体" pitchFamily="2" charset="-122"/>
                <a:cs typeface="+mn-cs"/>
              </a:rPr>
              <a:t>double</a:t>
            </a:r>
            <a:r>
              <a:rPr lang="en-US" altLang="zh-CN" dirty="0">
                <a:solidFill>
                  <a:schemeClr val="tx2"/>
                </a:solidFill>
              </a:rPr>
              <a:t> x = 3.14; </a:t>
            </a:r>
            <a:r>
              <a:rPr lang="en-US" altLang="zh-CN" kern="1200" dirty="0">
                <a:solidFill>
                  <a:srgbClr val="C00000"/>
                </a:solidFill>
                <a:latin typeface="Courier New" pitchFamily="49" charset="0"/>
                <a:ea typeface="黑体" pitchFamily="2" charset="-122"/>
                <a:cs typeface="+mn-cs"/>
              </a:rPr>
              <a:t>// </a:t>
            </a:r>
            <a:r>
              <a:rPr lang="zh-CN" altLang="en-US" kern="1200" dirty="0">
                <a:solidFill>
                  <a:srgbClr val="C00000"/>
                </a:solidFill>
                <a:latin typeface="Courier New" pitchFamily="49" charset="0"/>
                <a:ea typeface="黑体" pitchFamily="2" charset="-122"/>
                <a:cs typeface="+mn-cs"/>
              </a:rPr>
              <a:t>变量</a:t>
            </a:r>
            <a:r>
              <a:rPr lang="en-US" altLang="zh-CN" kern="1200" dirty="0">
                <a:solidFill>
                  <a:srgbClr val="C00000"/>
                </a:solidFill>
                <a:latin typeface="Courier New" pitchFamily="49" charset="0"/>
                <a:ea typeface="黑体" pitchFamily="2" charset="-122"/>
                <a:cs typeface="+mn-cs"/>
              </a:rPr>
              <a:t>x</a:t>
            </a:r>
            <a:r>
              <a:rPr lang="zh-CN" altLang="en-US" kern="1200" dirty="0">
                <a:solidFill>
                  <a:srgbClr val="C00000"/>
                </a:solidFill>
                <a:latin typeface="Courier New" pitchFamily="49" charset="0"/>
                <a:ea typeface="黑体" pitchFamily="2" charset="-122"/>
                <a:cs typeface="+mn-cs"/>
              </a:rPr>
              <a:t>占用</a:t>
            </a:r>
            <a:r>
              <a:rPr lang="en-US" altLang="zh-CN" kern="1200" dirty="0">
                <a:solidFill>
                  <a:srgbClr val="C00000"/>
                </a:solidFill>
                <a:latin typeface="Courier New" pitchFamily="49" charset="0"/>
                <a:ea typeface="黑体" pitchFamily="2" charset="-122"/>
                <a:cs typeface="+mn-cs"/>
              </a:rPr>
              <a:t>8</a:t>
            </a:r>
            <a:r>
              <a:rPr lang="zh-CN" altLang="en-US" kern="1200" dirty="0">
                <a:solidFill>
                  <a:srgbClr val="C00000"/>
                </a:solidFill>
                <a:latin typeface="Courier New" pitchFamily="49" charset="0"/>
                <a:ea typeface="黑体" pitchFamily="2" charset="-122"/>
                <a:cs typeface="+mn-cs"/>
              </a:rPr>
              <a:t>字节</a:t>
            </a:r>
            <a:endParaRPr lang="en-US" altLang="zh-CN" dirty="0"/>
          </a:p>
          <a:p>
            <a:pPr lvl="1"/>
            <a:r>
              <a:rPr lang="en-US" altLang="zh-CN" dirty="0"/>
              <a:t> </a:t>
            </a:r>
            <a:r>
              <a:rPr lang="en-US" altLang="zh-CN" kern="1200" dirty="0">
                <a:solidFill>
                  <a:srgbClr val="0000FF"/>
                </a:solidFill>
                <a:latin typeface="Courier New" pitchFamily="49" charset="0"/>
                <a:ea typeface="黑体" pitchFamily="2" charset="-122"/>
                <a:cs typeface="+mn-cs"/>
              </a:rPr>
              <a:t>double</a:t>
            </a:r>
            <a:r>
              <a:rPr lang="en-US" altLang="zh-CN" dirty="0">
                <a:solidFill>
                  <a:schemeClr val="tx2"/>
                </a:solidFill>
              </a:rPr>
              <a:t> *a = &amp;x;</a:t>
            </a:r>
            <a:r>
              <a:rPr lang="en-US" altLang="zh-CN" dirty="0"/>
              <a:t>  </a:t>
            </a:r>
            <a:r>
              <a:rPr lang="en-US" altLang="zh-CN" kern="1200" dirty="0">
                <a:solidFill>
                  <a:srgbClr val="C00000"/>
                </a:solidFill>
                <a:latin typeface="Courier New" pitchFamily="49" charset="0"/>
                <a:ea typeface="黑体" pitchFamily="2" charset="-122"/>
                <a:cs typeface="+mn-cs"/>
              </a:rPr>
              <a:t>// </a:t>
            </a:r>
            <a:r>
              <a:rPr lang="zh-CN" altLang="en-US" kern="1200" dirty="0">
                <a:solidFill>
                  <a:srgbClr val="C00000"/>
                </a:solidFill>
                <a:latin typeface="Courier New" pitchFamily="49" charset="0"/>
                <a:ea typeface="黑体" pitchFamily="2" charset="-122"/>
                <a:cs typeface="+mn-cs"/>
              </a:rPr>
              <a:t>指针</a:t>
            </a:r>
            <a:r>
              <a:rPr lang="en-US" altLang="zh-CN" kern="1200" dirty="0">
                <a:solidFill>
                  <a:srgbClr val="C00000"/>
                </a:solidFill>
                <a:latin typeface="Courier New" pitchFamily="49" charset="0"/>
                <a:ea typeface="黑体" pitchFamily="2" charset="-122"/>
                <a:cs typeface="+mn-cs"/>
              </a:rPr>
              <a:t>a</a:t>
            </a:r>
            <a:r>
              <a:rPr lang="zh-CN" altLang="en-US" kern="1200" dirty="0">
                <a:solidFill>
                  <a:srgbClr val="C00000"/>
                </a:solidFill>
                <a:latin typeface="Courier New" pitchFamily="49" charset="0"/>
                <a:ea typeface="黑体" pitchFamily="2" charset="-122"/>
                <a:cs typeface="+mn-cs"/>
              </a:rPr>
              <a:t>占用</a:t>
            </a:r>
            <a:r>
              <a:rPr lang="en-US" altLang="zh-CN" kern="1200" dirty="0">
                <a:solidFill>
                  <a:srgbClr val="C00000"/>
                </a:solidFill>
                <a:latin typeface="Courier New" pitchFamily="49" charset="0"/>
                <a:ea typeface="黑体" pitchFamily="2" charset="-122"/>
                <a:cs typeface="+mn-cs"/>
              </a:rPr>
              <a:t>4</a:t>
            </a:r>
            <a:r>
              <a:rPr lang="zh-CN" altLang="en-US" kern="1200" dirty="0">
                <a:solidFill>
                  <a:srgbClr val="C00000"/>
                </a:solidFill>
                <a:latin typeface="Courier New" pitchFamily="49" charset="0"/>
                <a:ea typeface="黑体" pitchFamily="2" charset="-122"/>
                <a:cs typeface="+mn-cs"/>
              </a:rPr>
              <a:t>字节</a:t>
            </a:r>
            <a:endParaRPr lang="en-US" altLang="zh-CN" kern="1200" dirty="0">
              <a:solidFill>
                <a:srgbClr val="C00000"/>
              </a:solidFill>
              <a:latin typeface="Courier New" pitchFamily="49" charset="0"/>
              <a:ea typeface="黑体" pitchFamily="2" charset="-122"/>
              <a:cs typeface="+mn-cs"/>
            </a:endParaRPr>
          </a:p>
          <a:p>
            <a:pPr lvl="1"/>
            <a:r>
              <a:rPr lang="en-US" altLang="zh-CN" dirty="0"/>
              <a:t> *a </a:t>
            </a:r>
            <a:r>
              <a:rPr lang="zh-CN" altLang="en-US" dirty="0"/>
              <a:t>或 </a:t>
            </a:r>
            <a:r>
              <a:rPr lang="en-US" altLang="zh-CN" dirty="0"/>
              <a:t>a[0] </a:t>
            </a:r>
            <a:r>
              <a:rPr lang="zh-CN" altLang="en-US" dirty="0"/>
              <a:t>是 </a:t>
            </a:r>
            <a:r>
              <a:rPr lang="en-US" altLang="zh-CN" dirty="0"/>
              <a:t>x </a:t>
            </a:r>
            <a:r>
              <a:rPr lang="zh-CN" altLang="en-US" dirty="0"/>
              <a:t>的间接名</a:t>
            </a:r>
            <a:endParaRPr lang="en-US" altLang="zh-CN" dirty="0"/>
          </a:p>
          <a:p>
            <a:r>
              <a:rPr lang="zh-CN" altLang="en-US" dirty="0"/>
              <a:t> 只要获得变量的数据类型和地址，便可以访问它</a:t>
            </a:r>
            <a:r>
              <a:rPr lang="en-US" altLang="zh-CN" dirty="0"/>
              <a:t>!</a:t>
            </a:r>
          </a:p>
          <a:p>
            <a:endParaRPr lang="zh-CN" altLang="en-US" dirty="0"/>
          </a:p>
        </p:txBody>
      </p:sp>
      <p:sp>
        <p:nvSpPr>
          <p:cNvPr id="4" name="Text Box 4">
            <a:extLst>
              <a:ext uri="{FF2B5EF4-FFF2-40B4-BE49-F238E27FC236}">
                <a16:creationId xmlns:a16="http://schemas.microsoft.com/office/drawing/2014/main" id="{830AB04E-A100-4AE5-8C77-79EC0DD6BD8E}"/>
              </a:ext>
            </a:extLst>
          </p:cNvPr>
          <p:cNvSpPr txBox="1">
            <a:spLocks noChangeArrowheads="1"/>
          </p:cNvSpPr>
          <p:nvPr/>
        </p:nvSpPr>
        <p:spPr bwMode="auto">
          <a:xfrm>
            <a:off x="228599" y="3733800"/>
            <a:ext cx="8677275" cy="2514600"/>
          </a:xfrm>
          <a:prstGeom prst="rect">
            <a:avLst/>
          </a:prstGeom>
          <a:noFill/>
          <a:ln w="9525">
            <a:noFill/>
            <a:miter lim="800000"/>
            <a:headEnd/>
            <a:tailEnd/>
          </a:ln>
        </p:spPr>
        <p:txBody>
          <a:bodyPr wrap="none" lIns="72000" tIns="72000" rIns="72000" bIns="72000"/>
          <a:lstStyle/>
          <a:p>
            <a:pPr>
              <a:lnSpc>
                <a:spcPct val="90000"/>
              </a:lnSpc>
            </a:pPr>
            <a:r>
              <a:rPr lang="en-US" altLang="zh-CN" sz="2400" b="1" dirty="0">
                <a:solidFill>
                  <a:srgbClr val="0000FF"/>
                </a:solidFill>
                <a:latin typeface="Courier New" pitchFamily="49" charset="0"/>
              </a:rPr>
              <a:t>void</a:t>
            </a:r>
            <a:r>
              <a:rPr lang="en-US" altLang="zh-CN" sz="2400" b="1" dirty="0">
                <a:solidFill>
                  <a:srgbClr val="000000"/>
                </a:solidFill>
                <a:latin typeface="Courier New" pitchFamily="49" charset="0"/>
              </a:rPr>
              <a:t> swap(</a:t>
            </a:r>
            <a:r>
              <a:rPr lang="en-US" altLang="zh-CN" sz="2400" b="1" dirty="0">
                <a:solidFill>
                  <a:srgbClr val="0000FF"/>
                </a:solidFill>
                <a:latin typeface="Courier New" pitchFamily="49" charset="0"/>
              </a:rPr>
              <a:t>double</a:t>
            </a:r>
            <a:r>
              <a:rPr lang="en-US" altLang="zh-CN" sz="2400" b="1" dirty="0">
                <a:solidFill>
                  <a:srgbClr val="000000"/>
                </a:solidFill>
                <a:latin typeface="Courier New" pitchFamily="49" charset="0"/>
              </a:rPr>
              <a:t> *a, </a:t>
            </a:r>
            <a:r>
              <a:rPr lang="en-US" altLang="zh-CN" sz="2400" b="1" dirty="0">
                <a:solidFill>
                  <a:srgbClr val="0000FF"/>
                </a:solidFill>
                <a:latin typeface="Courier New" pitchFamily="49" charset="0"/>
              </a:rPr>
              <a:t>double</a:t>
            </a:r>
            <a:r>
              <a:rPr lang="en-US" altLang="zh-CN" sz="2400" b="1" dirty="0">
                <a:solidFill>
                  <a:srgbClr val="000000"/>
                </a:solidFill>
                <a:latin typeface="Courier New" pitchFamily="49" charset="0"/>
              </a:rPr>
              <a:t> *b)</a:t>
            </a:r>
            <a:r>
              <a:rPr lang="en-US" altLang="zh-CN" sz="2400" b="1" kern="0" dirty="0">
                <a:solidFill>
                  <a:srgbClr val="000000"/>
                </a:solidFill>
                <a:latin typeface="Courier New"/>
                <a:ea typeface="黑体"/>
              </a:rPr>
              <a:t> </a:t>
            </a:r>
            <a:r>
              <a:rPr lang="en-US" altLang="zh-CN" sz="2400" b="1" dirty="0">
                <a:solidFill>
                  <a:srgbClr val="C00000"/>
                </a:solidFill>
                <a:latin typeface="Courier New" pitchFamily="49" charset="0"/>
              </a:rPr>
              <a:t>//</a:t>
            </a:r>
            <a:r>
              <a:rPr lang="zh-CN" altLang="en-US" sz="2400" b="1" dirty="0">
                <a:solidFill>
                  <a:srgbClr val="C00000"/>
                </a:solidFill>
                <a:latin typeface="Courier New" pitchFamily="49" charset="0"/>
              </a:rPr>
              <a:t>指针均占用</a:t>
            </a:r>
            <a:r>
              <a:rPr lang="en-US" altLang="zh-CN" sz="2400" b="1" dirty="0">
                <a:solidFill>
                  <a:srgbClr val="C00000"/>
                </a:solidFill>
                <a:latin typeface="Courier New" pitchFamily="49" charset="0"/>
              </a:rPr>
              <a:t>4</a:t>
            </a:r>
            <a:r>
              <a:rPr lang="zh-CN" altLang="en-US" sz="2400" b="1" dirty="0">
                <a:solidFill>
                  <a:srgbClr val="C00000"/>
                </a:solidFill>
                <a:latin typeface="Courier New" pitchFamily="49" charset="0"/>
              </a:rPr>
              <a:t>字节</a:t>
            </a:r>
            <a:endParaRPr lang="en-US" altLang="zh-CN" sz="2400" b="1" dirty="0">
              <a:solidFill>
                <a:srgbClr val="000000"/>
              </a:solidFill>
              <a:latin typeface="Courier New" pitchFamily="49" charset="0"/>
            </a:endParaRPr>
          </a:p>
          <a:p>
            <a:pPr>
              <a:lnSpc>
                <a:spcPct val="90000"/>
              </a:lnSpc>
            </a:pPr>
            <a:r>
              <a:rPr lang="en-US" altLang="zh-CN" sz="2400" b="1" dirty="0">
                <a:solidFill>
                  <a:srgbClr val="000000"/>
                </a:solidFill>
                <a:latin typeface="Courier New" pitchFamily="49" charset="0"/>
              </a:rPr>
              <a:t>{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函数调用时，创建两个指针变量，用实参初始化</a:t>
            </a:r>
            <a:endParaRPr lang="en-US" altLang="zh-CN" sz="2400" b="1" dirty="0">
              <a:solidFill>
                <a:srgbClr val="000000"/>
              </a:solidFill>
              <a:latin typeface="Courier New" pitchFamily="49" charset="0"/>
            </a:endParaRP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double</a:t>
            </a:r>
            <a:r>
              <a:rPr lang="en-US" altLang="zh-CN" sz="2400" b="1" dirty="0">
                <a:solidFill>
                  <a:srgbClr val="000000"/>
                </a:solidFill>
                <a:latin typeface="Courier New" pitchFamily="49" charset="0"/>
              </a:rPr>
              <a:t> temp;</a:t>
            </a:r>
          </a:p>
          <a:p>
            <a:pPr>
              <a:lnSpc>
                <a:spcPct val="90000"/>
              </a:lnSpc>
            </a:pPr>
            <a:r>
              <a:rPr lang="en-US" altLang="zh-CN" sz="2400" b="1" dirty="0">
                <a:solidFill>
                  <a:srgbClr val="000000"/>
                </a:solidFill>
                <a:latin typeface="Courier New" pitchFamily="49" charset="0"/>
              </a:rPr>
              <a:t>  temp = *a;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或 </a:t>
            </a:r>
            <a:r>
              <a:rPr lang="en-US" altLang="zh-CN" sz="2400" b="1" dirty="0">
                <a:solidFill>
                  <a:srgbClr val="C00000"/>
                </a:solidFill>
                <a:latin typeface="Courier New" pitchFamily="49" charset="0"/>
              </a:rPr>
              <a:t>temp = a[0];</a:t>
            </a:r>
          </a:p>
          <a:p>
            <a:pPr>
              <a:lnSpc>
                <a:spcPct val="90000"/>
              </a:lnSpc>
            </a:pPr>
            <a:r>
              <a:rPr lang="en-US" altLang="zh-CN" sz="2400" b="1" dirty="0">
                <a:solidFill>
                  <a:srgbClr val="000000"/>
                </a:solidFill>
                <a:latin typeface="Courier New" pitchFamily="49" charset="0"/>
              </a:rPr>
              <a:t>  *a = *b;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或 </a:t>
            </a:r>
            <a:r>
              <a:rPr lang="en-US" altLang="zh-CN" sz="2400" b="1" dirty="0">
                <a:solidFill>
                  <a:srgbClr val="C00000"/>
                </a:solidFill>
                <a:latin typeface="Courier New" pitchFamily="49" charset="0"/>
              </a:rPr>
              <a:t>a[0] = b[0];</a:t>
            </a:r>
          </a:p>
          <a:p>
            <a:pPr>
              <a:lnSpc>
                <a:spcPct val="90000"/>
              </a:lnSpc>
            </a:pPr>
            <a:r>
              <a:rPr lang="en-US" altLang="zh-CN" sz="2400" b="1" dirty="0">
                <a:solidFill>
                  <a:srgbClr val="000000"/>
                </a:solidFill>
                <a:latin typeface="Courier New" pitchFamily="49" charset="0"/>
              </a:rPr>
              <a:t>  *b = temp;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或 </a:t>
            </a:r>
            <a:r>
              <a:rPr lang="en-US" altLang="zh-CN" sz="2400" b="1" dirty="0">
                <a:solidFill>
                  <a:srgbClr val="C00000"/>
                </a:solidFill>
                <a:latin typeface="Courier New" pitchFamily="49" charset="0"/>
              </a:rPr>
              <a:t>b[0] = temp;</a:t>
            </a:r>
          </a:p>
          <a:p>
            <a:pPr>
              <a:lnSpc>
                <a:spcPct val="90000"/>
              </a:lnSpc>
            </a:pPr>
            <a:r>
              <a:rPr lang="en-US" altLang="zh-CN" sz="2400" b="1" dirty="0">
                <a:solidFill>
                  <a:srgbClr val="000000"/>
                </a:solidFill>
                <a:latin typeface="Courier New" pitchFamily="49" charset="0"/>
              </a:rPr>
              <a:t>}</a:t>
            </a:r>
            <a:endParaRPr lang="en-US" altLang="zh-CN" sz="2400" b="1" dirty="0">
              <a:solidFill>
                <a:schemeClr val="tx2"/>
              </a:solidFill>
              <a:latin typeface="Courier New" pitchFamily="49" charset="0"/>
            </a:endParaRPr>
          </a:p>
        </p:txBody>
      </p:sp>
      <p:pic>
        <p:nvPicPr>
          <p:cNvPr id="6" name="图片 5">
            <a:hlinkClick r:id="rId2" action="ppaction://hlinkfile"/>
            <a:extLst>
              <a:ext uri="{FF2B5EF4-FFF2-40B4-BE49-F238E27FC236}">
                <a16:creationId xmlns:a16="http://schemas.microsoft.com/office/drawing/2014/main" id="{FFD38EC3-2E0C-4FE1-88D3-CBB87887E36A}"/>
              </a:ext>
            </a:extLst>
          </p:cNvPr>
          <p:cNvPicPr>
            <a:picLocks noChangeAspect="1"/>
          </p:cNvPicPr>
          <p:nvPr/>
        </p:nvPicPr>
        <p:blipFill>
          <a:blip r:embed="rId3"/>
          <a:stretch>
            <a:fillRect/>
          </a:stretch>
        </p:blipFill>
        <p:spPr>
          <a:xfrm>
            <a:off x="7620000" y="4991100"/>
            <a:ext cx="1175336" cy="1524000"/>
          </a:xfrm>
          <a:prstGeom prst="rect">
            <a:avLst/>
          </a:prstGeom>
        </p:spPr>
      </p:pic>
    </p:spTree>
    <p:extLst>
      <p:ext uri="{BB962C8B-B14F-4D97-AF65-F5344CB8AC3E}">
        <p14:creationId xmlns:p14="http://schemas.microsoft.com/office/powerpoint/2010/main" val="424852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cs typeface="Times New Roman" panose="02020603050405020304" pitchFamily="18" charset="0"/>
              </a:rPr>
              <a:t>§3.1.3</a:t>
            </a:r>
            <a:r>
              <a:rPr lang="en-US" altLang="zh-CN" dirty="0"/>
              <a:t> </a:t>
            </a:r>
            <a:r>
              <a:rPr lang="zh-CN" altLang="en-US" dirty="0"/>
              <a:t>变量的引用</a:t>
            </a:r>
          </a:p>
        </p:txBody>
      </p:sp>
      <p:sp>
        <p:nvSpPr>
          <p:cNvPr id="193539" name="Rectangle 3"/>
          <p:cNvSpPr>
            <a:spLocks noGrp="1" noChangeArrowheads="1"/>
          </p:cNvSpPr>
          <p:nvPr>
            <p:ph type="body" idx="1"/>
          </p:nvPr>
        </p:nvSpPr>
        <p:spPr>
          <a:xfrm>
            <a:off x="381000" y="1295400"/>
            <a:ext cx="8610600" cy="5334000"/>
          </a:xfrm>
        </p:spPr>
        <p:txBody>
          <a:bodyPr/>
          <a:lstStyle/>
          <a:p>
            <a:pPr eaLnBrk="1" hangingPunct="1"/>
            <a:r>
              <a:rPr lang="zh-CN" altLang="en-US" dirty="0"/>
              <a:t> 变量的引用是</a:t>
            </a:r>
            <a:r>
              <a:rPr lang="en-US" altLang="zh-CN" dirty="0"/>
              <a:t>C++</a:t>
            </a:r>
            <a:r>
              <a:rPr lang="zh-CN" altLang="en-US" dirty="0"/>
              <a:t>语言的一个重要特色。</a:t>
            </a:r>
            <a:br>
              <a:rPr lang="zh-CN" altLang="en-US" dirty="0"/>
            </a:br>
            <a:r>
              <a:rPr lang="zh-CN" altLang="en-US" dirty="0"/>
              <a:t> （</a:t>
            </a:r>
            <a:r>
              <a:rPr lang="en-US" altLang="zh-CN" dirty="0"/>
              <a:t>C</a:t>
            </a:r>
            <a:r>
              <a:rPr lang="zh-CN" altLang="en-US" dirty="0"/>
              <a:t>语言中没有变量引用的概念）</a:t>
            </a:r>
          </a:p>
          <a:p>
            <a:pPr eaLnBrk="1" hangingPunct="1"/>
            <a:r>
              <a:rPr lang="zh-CN" altLang="en-US" dirty="0"/>
              <a:t> 变量的引用是变量实体（一个已经存在的变量）</a:t>
            </a:r>
            <a:br>
              <a:rPr lang="zh-CN" altLang="en-US" dirty="0"/>
            </a:br>
            <a:r>
              <a:rPr lang="zh-CN" altLang="en-US" dirty="0"/>
              <a:t> 的一个别名。</a:t>
            </a:r>
          </a:p>
          <a:p>
            <a:pPr lvl="1" algn="ctr" eaLnBrk="1" hangingPunct="1">
              <a:buFont typeface="Wingdings" pitchFamily="2" charset="2"/>
              <a:buNone/>
            </a:pPr>
            <a:r>
              <a:rPr lang="zh-CN" altLang="en-US" dirty="0">
                <a:ea typeface="楷体" panose="02010609060101010101" pitchFamily="49" charset="-122"/>
              </a:rPr>
              <a:t>数据类型</a:t>
            </a:r>
            <a:r>
              <a:rPr lang="zh-CN" altLang="en-US" dirty="0"/>
              <a:t> </a:t>
            </a:r>
            <a:r>
              <a:rPr lang="en-US" altLang="zh-CN" dirty="0"/>
              <a:t>&amp; </a:t>
            </a:r>
            <a:r>
              <a:rPr lang="zh-CN" altLang="en-US" dirty="0">
                <a:ea typeface="楷体" panose="02010609060101010101" pitchFamily="49" charset="-122"/>
              </a:rPr>
              <a:t>引用名</a:t>
            </a:r>
            <a:r>
              <a:rPr lang="zh-CN" altLang="en-US" dirty="0"/>
              <a:t> </a:t>
            </a:r>
            <a:r>
              <a:rPr lang="en-US" altLang="zh-CN" dirty="0"/>
              <a:t>= </a:t>
            </a:r>
            <a:r>
              <a:rPr lang="zh-CN" altLang="en-US" dirty="0">
                <a:ea typeface="楷体" panose="02010609060101010101" pitchFamily="49" charset="-122"/>
              </a:rPr>
              <a:t>已存在的变量名；</a:t>
            </a:r>
          </a:p>
          <a:p>
            <a:pPr lvl="1" eaLnBrk="1" hangingPunct="1"/>
            <a:r>
              <a:rPr lang="zh-CN" altLang="en-US" dirty="0"/>
              <a:t>变量的引用只是声明，不是定义，不会另外分配内存空间（称：引用不占空间）；</a:t>
            </a:r>
          </a:p>
          <a:p>
            <a:pPr lvl="1" eaLnBrk="1" hangingPunct="1"/>
            <a:r>
              <a:rPr lang="zh-CN" altLang="en-US" dirty="0"/>
              <a:t>声明引用时，必须用一个变量实体对其进行初始化；</a:t>
            </a:r>
          </a:p>
          <a:p>
            <a:pPr lvl="1" eaLnBrk="1" hangingPunct="1"/>
            <a:r>
              <a:rPr lang="zh-CN" altLang="en-US" dirty="0"/>
              <a:t>这样的</a:t>
            </a:r>
            <a:r>
              <a:rPr lang="zh-CN" altLang="en-US" dirty="0">
                <a:latin typeface="Times New Roman" pitchFamily="18" charset="0"/>
              </a:rPr>
              <a:t>“</a:t>
            </a:r>
            <a:r>
              <a:rPr lang="zh-CN" altLang="en-US" dirty="0"/>
              <a:t>绑定</a:t>
            </a:r>
            <a:r>
              <a:rPr lang="zh-CN" altLang="en-US" dirty="0">
                <a:latin typeface="Times New Roman" pitchFamily="18" charset="0"/>
              </a:rPr>
              <a:t>”</a:t>
            </a:r>
            <a:r>
              <a:rPr lang="zh-CN" altLang="en-US" dirty="0"/>
              <a:t>从引用声明开始，直到引用的生命期结束不能更改；</a:t>
            </a:r>
          </a:p>
          <a:p>
            <a:pPr lvl="1" eaLnBrk="1" hangingPunct="1"/>
            <a:r>
              <a:rPr lang="zh-CN" altLang="en-US" dirty="0"/>
              <a:t>对引用的操作就是对其</a:t>
            </a:r>
            <a:r>
              <a:rPr lang="zh-CN" altLang="en-US" dirty="0">
                <a:latin typeface="Times New Roman" pitchFamily="18" charset="0"/>
              </a:rPr>
              <a:t>“</a:t>
            </a:r>
            <a:r>
              <a:rPr lang="zh-CN" altLang="en-US" dirty="0"/>
              <a:t>绑定</a:t>
            </a:r>
            <a:r>
              <a:rPr lang="zh-CN" altLang="en-US" dirty="0">
                <a:latin typeface="Times New Roman" pitchFamily="18" charset="0"/>
              </a:rPr>
              <a:t>”</a:t>
            </a:r>
            <a:r>
              <a:rPr lang="zh-CN" altLang="en-US" dirty="0"/>
              <a:t>的变量的操作（读</a:t>
            </a:r>
            <a:r>
              <a:rPr lang="en-US" altLang="zh-CN" dirty="0"/>
              <a:t>/</a:t>
            </a:r>
            <a:r>
              <a:rPr lang="zh-CN" altLang="en-US" dirty="0"/>
              <a:t>写）；</a:t>
            </a:r>
          </a:p>
          <a:p>
            <a:pPr lvl="1" eaLnBrk="1" hangingPunct="1"/>
            <a:r>
              <a:rPr lang="zh-CN" altLang="en-US" dirty="0"/>
              <a:t>程序中应保证变量实体的生命期包含其引用的生命期。</a:t>
            </a:r>
          </a:p>
        </p:txBody>
      </p:sp>
    </p:spTree>
    <p:extLst>
      <p:ext uri="{BB962C8B-B14F-4D97-AF65-F5344CB8AC3E}">
        <p14:creationId xmlns:p14="http://schemas.microsoft.com/office/powerpoint/2010/main" val="371801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35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35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35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35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35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35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35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35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cs typeface="Times New Roman" panose="02020603050405020304" pitchFamily="18" charset="0"/>
              </a:rPr>
              <a:t>§3.1.4</a:t>
            </a:r>
            <a:r>
              <a:rPr lang="en-US" altLang="zh-CN" dirty="0"/>
              <a:t> </a:t>
            </a:r>
            <a:r>
              <a:rPr lang="zh-CN" altLang="en-US" dirty="0"/>
              <a:t>常量的引用</a:t>
            </a:r>
          </a:p>
        </p:txBody>
      </p:sp>
      <p:sp>
        <p:nvSpPr>
          <p:cNvPr id="194563" name="Rectangle 3"/>
          <p:cNvSpPr>
            <a:spLocks noGrp="1" noChangeArrowheads="1"/>
          </p:cNvSpPr>
          <p:nvPr>
            <p:ph type="body" idx="1"/>
          </p:nvPr>
        </p:nvSpPr>
        <p:spPr/>
        <p:txBody>
          <a:bodyPr/>
          <a:lstStyle/>
          <a:p>
            <a:pPr eaLnBrk="1" hangingPunct="1"/>
            <a:r>
              <a:rPr lang="zh-CN" altLang="en-US" dirty="0"/>
              <a:t> 可以对字面常量、符号常量、甚至变量取别名</a:t>
            </a:r>
          </a:p>
          <a:p>
            <a:pPr lvl="1" eaLnBrk="1" hangingPunct="1">
              <a:spcBef>
                <a:spcPct val="80000"/>
              </a:spcBef>
              <a:buFont typeface="Wingdings" pitchFamily="2" charset="2"/>
              <a:buNone/>
            </a:pPr>
            <a:r>
              <a:rPr lang="en-US" altLang="zh-CN" dirty="0">
                <a:ea typeface="楷体" panose="02010609060101010101" pitchFamily="49" charset="-122"/>
              </a:rPr>
              <a:t>		const </a:t>
            </a:r>
            <a:r>
              <a:rPr lang="zh-CN" altLang="en-US" dirty="0">
                <a:ea typeface="楷体" panose="02010609060101010101" pitchFamily="49" charset="-122"/>
              </a:rPr>
              <a:t>数据类型</a:t>
            </a:r>
            <a:r>
              <a:rPr lang="zh-CN" altLang="en-US" dirty="0"/>
              <a:t> </a:t>
            </a:r>
            <a:r>
              <a:rPr lang="en-US" altLang="zh-CN" dirty="0"/>
              <a:t>&amp; </a:t>
            </a:r>
            <a:r>
              <a:rPr lang="zh-CN" altLang="en-US" dirty="0">
                <a:ea typeface="楷体" panose="02010609060101010101" pitchFamily="49" charset="-122"/>
              </a:rPr>
              <a:t>引用名</a:t>
            </a:r>
            <a:r>
              <a:rPr lang="zh-CN" altLang="en-US" dirty="0"/>
              <a:t> </a:t>
            </a:r>
            <a:r>
              <a:rPr lang="en-US" altLang="zh-CN" dirty="0"/>
              <a:t>= </a:t>
            </a:r>
            <a:r>
              <a:rPr lang="zh-CN" altLang="en-US" dirty="0">
                <a:ea typeface="楷体" panose="02010609060101010101" pitchFamily="49" charset="-122"/>
              </a:rPr>
              <a:t>常量；</a:t>
            </a:r>
            <a:endParaRPr lang="en-US" altLang="zh-CN" dirty="0">
              <a:ea typeface="楷体" panose="02010609060101010101" pitchFamily="49" charset="-122"/>
            </a:endParaRPr>
          </a:p>
          <a:p>
            <a:pPr lvl="1" eaLnBrk="1" hangingPunct="1">
              <a:buFont typeface="Wingdings" pitchFamily="2" charset="2"/>
              <a:buNone/>
            </a:pPr>
            <a:r>
              <a:rPr lang="en-US" altLang="zh-CN" dirty="0">
                <a:ea typeface="楷体" panose="02010609060101010101" pitchFamily="49" charset="-122"/>
              </a:rPr>
              <a:t>		const </a:t>
            </a:r>
            <a:r>
              <a:rPr lang="zh-CN" altLang="en-US" dirty="0">
                <a:ea typeface="楷体" panose="02010609060101010101" pitchFamily="49" charset="-122"/>
              </a:rPr>
              <a:t>数据类型</a:t>
            </a:r>
            <a:r>
              <a:rPr lang="zh-CN" altLang="en-US" dirty="0"/>
              <a:t> </a:t>
            </a:r>
            <a:r>
              <a:rPr lang="en-US" altLang="zh-CN" dirty="0"/>
              <a:t>&amp; </a:t>
            </a:r>
            <a:r>
              <a:rPr lang="zh-CN" altLang="en-US" dirty="0">
                <a:ea typeface="楷体" panose="02010609060101010101" pitchFamily="49" charset="-122"/>
              </a:rPr>
              <a:t>引用名</a:t>
            </a:r>
            <a:r>
              <a:rPr lang="zh-CN" altLang="en-US" dirty="0"/>
              <a:t> </a:t>
            </a:r>
            <a:r>
              <a:rPr lang="en-US" altLang="zh-CN" dirty="0"/>
              <a:t>= </a:t>
            </a:r>
            <a:r>
              <a:rPr lang="zh-CN" altLang="en-US" dirty="0">
                <a:ea typeface="楷体" panose="02010609060101010101" pitchFamily="49" charset="-122"/>
              </a:rPr>
              <a:t>已存在的变量名；</a:t>
            </a:r>
          </a:p>
          <a:p>
            <a:pPr lvl="1" eaLnBrk="1" hangingPunct="1">
              <a:buFont typeface="Wingdings" pitchFamily="2" charset="2"/>
              <a:buNone/>
            </a:pPr>
            <a:r>
              <a:rPr lang="zh-CN" altLang="en-US" dirty="0"/>
              <a:t>			可以将变量视为常量，但不能将常量作为变量。</a:t>
            </a:r>
          </a:p>
          <a:p>
            <a:pPr lvl="1" eaLnBrk="1" hangingPunct="1"/>
            <a:endParaRPr lang="zh-CN" altLang="en-US" dirty="0"/>
          </a:p>
          <a:p>
            <a:pPr eaLnBrk="1" hangingPunct="1">
              <a:lnSpc>
                <a:spcPct val="125000"/>
              </a:lnSpc>
            </a:pPr>
            <a:r>
              <a:rPr lang="zh-CN" altLang="en-US" dirty="0"/>
              <a:t> 编写或阅读程序时，要正确地辨明引用（别名）</a:t>
            </a:r>
            <a:br>
              <a:rPr lang="zh-CN" altLang="en-US" dirty="0"/>
            </a:br>
            <a:r>
              <a:rPr lang="zh-CN" altLang="en-US" dirty="0"/>
              <a:t> 所指代的真正变量或常量实体。</a:t>
            </a:r>
            <a:endParaRPr lang="en-US" altLang="zh-CN" dirty="0"/>
          </a:p>
        </p:txBody>
      </p:sp>
    </p:spTree>
    <p:extLst>
      <p:ext uri="{BB962C8B-B14F-4D97-AF65-F5344CB8AC3E}">
        <p14:creationId xmlns:p14="http://schemas.microsoft.com/office/powerpoint/2010/main" val="241585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6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5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656EF-8326-4EF8-8F31-9BD34729489A}"/>
              </a:ext>
            </a:extLst>
          </p:cNvPr>
          <p:cNvSpPr>
            <a:spLocks noGrp="1"/>
          </p:cNvSpPr>
          <p:nvPr>
            <p:ph type="title"/>
          </p:nvPr>
        </p:nvSpPr>
        <p:spPr/>
        <p:txBody>
          <a:bodyPr/>
          <a:lstStyle/>
          <a:p>
            <a:r>
              <a:rPr lang="zh-CN" altLang="en-US" dirty="0"/>
              <a:t>引用</a:t>
            </a:r>
            <a:r>
              <a:rPr lang="en-US" altLang="zh-CN" dirty="0"/>
              <a:t>(</a:t>
            </a:r>
            <a:r>
              <a:rPr lang="zh-CN" altLang="en-US" dirty="0"/>
              <a:t>直接</a:t>
            </a:r>
            <a:r>
              <a:rPr lang="en-US" altLang="zh-CN" dirty="0"/>
              <a:t>)</a:t>
            </a:r>
            <a:r>
              <a:rPr lang="zh-CN" altLang="en-US" dirty="0"/>
              <a:t>访问变量</a:t>
            </a:r>
          </a:p>
        </p:txBody>
      </p:sp>
      <p:sp>
        <p:nvSpPr>
          <p:cNvPr id="3" name="内容占位符 2">
            <a:extLst>
              <a:ext uri="{FF2B5EF4-FFF2-40B4-BE49-F238E27FC236}">
                <a16:creationId xmlns:a16="http://schemas.microsoft.com/office/drawing/2014/main" id="{2B842FC4-B038-4826-ADBF-770848D061AF}"/>
              </a:ext>
            </a:extLst>
          </p:cNvPr>
          <p:cNvSpPr>
            <a:spLocks noGrp="1"/>
          </p:cNvSpPr>
          <p:nvPr>
            <p:ph idx="1"/>
          </p:nvPr>
        </p:nvSpPr>
        <p:spPr>
          <a:xfrm>
            <a:off x="381000" y="1371600"/>
            <a:ext cx="8610600" cy="2362200"/>
          </a:xfrm>
        </p:spPr>
        <p:txBody>
          <a:bodyPr/>
          <a:lstStyle/>
          <a:p>
            <a:r>
              <a:rPr lang="zh-CN" altLang="en-US" dirty="0"/>
              <a:t>例：变量的“绰号”</a:t>
            </a:r>
            <a:endParaRPr lang="en-US" altLang="zh-CN" dirty="0"/>
          </a:p>
          <a:p>
            <a:pPr lvl="1"/>
            <a:r>
              <a:rPr lang="en-US" altLang="zh-CN" dirty="0"/>
              <a:t> </a:t>
            </a:r>
            <a:r>
              <a:rPr lang="en-US" altLang="zh-CN" kern="1200" dirty="0">
                <a:solidFill>
                  <a:srgbClr val="0000FF"/>
                </a:solidFill>
                <a:latin typeface="Courier New" pitchFamily="49" charset="0"/>
                <a:ea typeface="黑体" pitchFamily="2" charset="-122"/>
                <a:cs typeface="+mn-cs"/>
              </a:rPr>
              <a:t>double</a:t>
            </a:r>
            <a:r>
              <a:rPr lang="en-US" altLang="zh-CN" dirty="0"/>
              <a:t> </a:t>
            </a:r>
            <a:r>
              <a:rPr lang="en-US" altLang="zh-CN" kern="1200" dirty="0">
                <a:solidFill>
                  <a:srgbClr val="000000"/>
                </a:solidFill>
                <a:latin typeface="Courier New" pitchFamily="49" charset="0"/>
                <a:ea typeface="黑体" pitchFamily="2" charset="-122"/>
                <a:cs typeface="+mn-cs"/>
              </a:rPr>
              <a:t>x = 100;</a:t>
            </a:r>
          </a:p>
          <a:p>
            <a:pPr lvl="1"/>
            <a:r>
              <a:rPr lang="en-US" altLang="zh-CN" dirty="0"/>
              <a:t> </a:t>
            </a:r>
            <a:r>
              <a:rPr lang="en-US" altLang="zh-CN" kern="1200" dirty="0">
                <a:solidFill>
                  <a:srgbClr val="0000FF"/>
                </a:solidFill>
                <a:latin typeface="Courier New" pitchFamily="49" charset="0"/>
                <a:ea typeface="黑体" pitchFamily="2" charset="-122"/>
                <a:cs typeface="+mn-cs"/>
              </a:rPr>
              <a:t>double</a:t>
            </a:r>
            <a:r>
              <a:rPr lang="en-US" altLang="zh-CN" dirty="0"/>
              <a:t> </a:t>
            </a:r>
            <a:r>
              <a:rPr lang="en-US" altLang="zh-CN" kern="1200" dirty="0">
                <a:solidFill>
                  <a:srgbClr val="000000"/>
                </a:solidFill>
                <a:latin typeface="Courier New" pitchFamily="49" charset="0"/>
                <a:ea typeface="黑体" pitchFamily="2" charset="-122"/>
                <a:cs typeface="+mn-cs"/>
              </a:rPr>
              <a:t>&amp;r = x;</a:t>
            </a:r>
            <a:r>
              <a:rPr lang="en-US" altLang="zh-CN" dirty="0"/>
              <a:t>	</a:t>
            </a:r>
            <a:r>
              <a:rPr lang="en-US" altLang="zh-CN" kern="1200" dirty="0">
                <a:solidFill>
                  <a:srgbClr val="C00000"/>
                </a:solidFill>
                <a:latin typeface="Courier New" pitchFamily="49" charset="0"/>
                <a:ea typeface="黑体" pitchFamily="2" charset="-122"/>
                <a:cs typeface="+mn-cs"/>
              </a:rPr>
              <a:t>// </a:t>
            </a:r>
            <a:r>
              <a:rPr lang="zh-CN" altLang="en-US" kern="1200" dirty="0">
                <a:solidFill>
                  <a:srgbClr val="C00000"/>
                </a:solidFill>
                <a:latin typeface="Courier New" pitchFamily="49" charset="0"/>
                <a:ea typeface="黑体" pitchFamily="2" charset="-122"/>
                <a:cs typeface="+mn-cs"/>
              </a:rPr>
              <a:t>不占空间</a:t>
            </a:r>
            <a:endParaRPr lang="en-US" altLang="zh-CN" kern="1200" dirty="0">
              <a:solidFill>
                <a:srgbClr val="C00000"/>
              </a:solidFill>
              <a:latin typeface="Courier New" pitchFamily="49" charset="0"/>
              <a:ea typeface="黑体" pitchFamily="2" charset="-122"/>
              <a:cs typeface="+mn-cs"/>
            </a:endParaRPr>
          </a:p>
          <a:p>
            <a:pPr lvl="1"/>
            <a:r>
              <a:rPr lang="en-US" altLang="zh-CN" dirty="0"/>
              <a:t> r </a:t>
            </a:r>
            <a:r>
              <a:rPr lang="zh-CN" altLang="en-US" dirty="0"/>
              <a:t>是 </a:t>
            </a:r>
            <a:r>
              <a:rPr lang="en-US" altLang="zh-CN" dirty="0"/>
              <a:t>x </a:t>
            </a:r>
            <a:r>
              <a:rPr lang="zh-CN" altLang="en-US" dirty="0"/>
              <a:t>的别名（绰号）</a:t>
            </a:r>
            <a:endParaRPr lang="en-US" altLang="zh-CN" dirty="0"/>
          </a:p>
          <a:p>
            <a:r>
              <a:rPr lang="zh-CN" altLang="en-US" dirty="0"/>
              <a:t> 引用型参数“绑定”实参变量，便可以访问实参</a:t>
            </a:r>
            <a:r>
              <a:rPr lang="en-US" altLang="zh-CN" dirty="0"/>
              <a:t>!</a:t>
            </a:r>
          </a:p>
          <a:p>
            <a:endParaRPr lang="zh-CN" altLang="en-US" dirty="0"/>
          </a:p>
        </p:txBody>
      </p:sp>
      <p:sp>
        <p:nvSpPr>
          <p:cNvPr id="4" name="Text Box 4">
            <a:extLst>
              <a:ext uri="{FF2B5EF4-FFF2-40B4-BE49-F238E27FC236}">
                <a16:creationId xmlns:a16="http://schemas.microsoft.com/office/drawing/2014/main" id="{830AB04E-A100-4AE5-8C77-79EC0DD6BD8E}"/>
              </a:ext>
            </a:extLst>
          </p:cNvPr>
          <p:cNvSpPr txBox="1">
            <a:spLocks noChangeArrowheads="1"/>
          </p:cNvSpPr>
          <p:nvPr/>
        </p:nvSpPr>
        <p:spPr bwMode="auto">
          <a:xfrm>
            <a:off x="228599" y="3733800"/>
            <a:ext cx="8677275" cy="2514600"/>
          </a:xfrm>
          <a:prstGeom prst="rect">
            <a:avLst/>
          </a:prstGeom>
          <a:noFill/>
          <a:ln w="9525">
            <a:noFill/>
            <a:miter lim="800000"/>
            <a:headEnd/>
            <a:tailEnd/>
          </a:ln>
        </p:spPr>
        <p:txBody>
          <a:bodyPr wrap="none" lIns="72000" tIns="72000" rIns="72000" bIns="72000"/>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黑体" pitchFamily="2" charset="-122"/>
                <a:cs typeface="+mn-cs"/>
              </a:rPr>
              <a:t>void</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swap(</a:t>
            </a: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黑体" pitchFamily="2" charset="-122"/>
                <a:cs typeface="+mn-cs"/>
              </a:rPr>
              <a:t>double</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&amp;a, </a:t>
            </a: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黑体" pitchFamily="2" charset="-122"/>
                <a:cs typeface="+mn-cs"/>
              </a:rPr>
              <a:t>double</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&amp;b)</a:t>
            </a:r>
          </a:p>
          <a:p>
            <a:pPr lvl="0">
              <a:lnSpc>
                <a:spcPct val="90000"/>
              </a:lnSpc>
            </a:pPr>
            <a:r>
              <a:rPr lang="en-US" altLang="zh-CN" sz="2400" b="1" dirty="0">
                <a:solidFill>
                  <a:srgbClr val="000000"/>
                </a:solidFill>
                <a:latin typeface="Courier New" pitchFamily="49" charset="0"/>
              </a:rPr>
              <a:t>{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引用型形参不是定义，只是声明，不占空间</a:t>
            </a:r>
            <a:endPar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a:t>
            </a: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黑体" pitchFamily="2" charset="-122"/>
                <a:cs typeface="+mn-cs"/>
              </a:rPr>
              <a:t>double</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temp;</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temp = a;  </a:t>
            </a:r>
            <a:r>
              <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//a, b </a:t>
            </a:r>
            <a:r>
              <a:rPr kumimoji="0" lang="zh-CN" altLang="en-US"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绑定</a:t>
            </a:r>
            <a:r>
              <a:rPr lang="zh-CN" altLang="en-US" sz="2400" b="1" dirty="0">
                <a:solidFill>
                  <a:srgbClr val="C00000"/>
                </a:solidFill>
                <a:latin typeface="Courier New" pitchFamily="49" charset="0"/>
              </a:rPr>
              <a:t>对应的</a:t>
            </a:r>
            <a:r>
              <a:rPr kumimoji="0" lang="zh-CN" altLang="en-US"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实参，是实参的别名。</a:t>
            </a:r>
            <a:endPar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a = b;	</a:t>
            </a:r>
            <a:r>
              <a:rPr kumimoji="0" lang="en-US" altLang="zh-CN" sz="2400" b="1" i="0" u="none" strike="noStrike" kern="1200" cap="none" spc="0" normalizeH="0" noProof="0" dirty="0">
                <a:ln>
                  <a:noFill/>
                </a:ln>
                <a:solidFill>
                  <a:srgbClr val="000000"/>
                </a:solidFill>
                <a:effectLst/>
                <a:uLnTx/>
                <a:uFillTx/>
                <a:latin typeface="Courier New" pitchFamily="49" charset="0"/>
                <a:ea typeface="黑体" pitchFamily="2" charset="-122"/>
                <a:cs typeface="+mn-cs"/>
              </a:rPr>
              <a:t>   </a:t>
            </a:r>
            <a:r>
              <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a:t>
            </a:r>
            <a:r>
              <a:rPr kumimoji="0" lang="en-US" altLang="zh-CN" sz="2400" b="1" i="0" u="none" strike="noStrike" kern="1200" cap="none" spc="0" normalizeH="0" baseline="0" noProof="0" dirty="0" err="1">
                <a:ln>
                  <a:noFill/>
                </a:ln>
                <a:solidFill>
                  <a:srgbClr val="C00000"/>
                </a:solidFill>
                <a:effectLst/>
                <a:uLnTx/>
                <a:uFillTx/>
                <a:latin typeface="Courier New" pitchFamily="49" charset="0"/>
                <a:ea typeface="黑体" pitchFamily="2" charset="-122"/>
                <a:cs typeface="+mn-cs"/>
              </a:rPr>
              <a:t>a,b</a:t>
            </a:r>
            <a:r>
              <a:rPr kumimoji="0" lang="zh-CN" altLang="en-US"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的生命周期是局部的</a:t>
            </a:r>
            <a:r>
              <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a:t>
            </a:r>
            <a:r>
              <a:rPr kumimoji="0" lang="zh-CN" altLang="en-US"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函数返回后消失。</a:t>
            </a:r>
            <a:endPar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b = temp;  </a:t>
            </a:r>
            <a:r>
              <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a:t>
            </a:r>
            <a:r>
              <a:rPr kumimoji="0" lang="zh-CN" altLang="en-US"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rPr>
              <a:t>再次调用该函数时，可绑定不同的实参。</a:t>
            </a:r>
            <a:endParaRPr kumimoji="0" lang="en-US" altLang="zh-CN" sz="2400" b="1" i="0" u="none" strike="noStrike" kern="1200" cap="none" spc="0" normalizeH="0" baseline="0" noProof="0" dirty="0">
              <a:ln>
                <a:noFill/>
              </a:ln>
              <a:solidFill>
                <a:srgbClr val="C00000"/>
              </a:solidFill>
              <a:effectLst/>
              <a:uLnTx/>
              <a:uFillTx/>
              <a:latin typeface="Courier New" pitchFamily="49" charset="0"/>
              <a:ea typeface="黑体"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a:t>
            </a:r>
          </a:p>
        </p:txBody>
      </p:sp>
      <p:pic>
        <p:nvPicPr>
          <p:cNvPr id="7" name="图片 6">
            <a:hlinkClick r:id="rId2" action="ppaction://hlinkfile"/>
            <a:extLst>
              <a:ext uri="{FF2B5EF4-FFF2-40B4-BE49-F238E27FC236}">
                <a16:creationId xmlns:a16="http://schemas.microsoft.com/office/drawing/2014/main" id="{A3176E34-034F-49FA-876D-DEEE15861D4E}"/>
              </a:ext>
            </a:extLst>
          </p:cNvPr>
          <p:cNvPicPr>
            <a:picLocks noChangeAspect="1"/>
          </p:cNvPicPr>
          <p:nvPr/>
        </p:nvPicPr>
        <p:blipFill>
          <a:blip r:embed="rId3"/>
          <a:stretch>
            <a:fillRect/>
          </a:stretch>
        </p:blipFill>
        <p:spPr>
          <a:xfrm>
            <a:off x="6967592" y="1447799"/>
            <a:ext cx="1306383" cy="1542257"/>
          </a:xfrm>
          <a:prstGeom prst="rect">
            <a:avLst/>
          </a:prstGeom>
        </p:spPr>
      </p:pic>
    </p:spTree>
    <p:extLst>
      <p:ext uri="{BB962C8B-B14F-4D97-AF65-F5344CB8AC3E}">
        <p14:creationId xmlns:p14="http://schemas.microsoft.com/office/powerpoint/2010/main" val="135014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dirty="0"/>
              <a:t>函数</a:t>
            </a:r>
          </a:p>
        </p:txBody>
      </p:sp>
      <p:sp>
        <p:nvSpPr>
          <p:cNvPr id="37891" name="Rectangle 3"/>
          <p:cNvSpPr>
            <a:spLocks noGrp="1" noChangeArrowheads="1"/>
          </p:cNvSpPr>
          <p:nvPr>
            <p:ph type="body" idx="1"/>
          </p:nvPr>
        </p:nvSpPr>
        <p:spPr>
          <a:xfrm>
            <a:off x="228600" y="1371600"/>
            <a:ext cx="8915400" cy="5334000"/>
          </a:xfrm>
        </p:spPr>
        <p:txBody>
          <a:bodyPr/>
          <a:lstStyle/>
          <a:p>
            <a:pPr eaLnBrk="1" hangingPunct="1"/>
            <a:r>
              <a:rPr lang="zh-CN" altLang="en-US" sz="3200" dirty="0"/>
              <a:t>函数的形式参数 </a:t>
            </a:r>
            <a:endParaRPr lang="en-US" altLang="zh-CN" sz="3200" dirty="0"/>
          </a:p>
          <a:p>
            <a:pPr lvl="1" eaLnBrk="1" hangingPunct="1"/>
            <a:r>
              <a:rPr lang="en-US" altLang="zh-CN" sz="2800" dirty="0">
                <a:solidFill>
                  <a:schemeClr val="tx2"/>
                </a:solidFill>
              </a:rPr>
              <a:t> </a:t>
            </a:r>
            <a:r>
              <a:rPr lang="zh-CN" altLang="en-US" sz="2800" dirty="0">
                <a:solidFill>
                  <a:schemeClr val="tx2"/>
                </a:solidFill>
              </a:rPr>
              <a:t>无形式参数（</a:t>
            </a:r>
            <a:r>
              <a:rPr lang="en-US" altLang="zh-CN" sz="2800" dirty="0">
                <a:solidFill>
                  <a:schemeClr val="tx2"/>
                </a:solidFill>
              </a:rPr>
              <a:t>void</a:t>
            </a:r>
            <a:r>
              <a:rPr lang="zh-CN" altLang="en-US" sz="2800" dirty="0">
                <a:solidFill>
                  <a:schemeClr val="tx2"/>
                </a:solidFill>
              </a:rPr>
              <a:t>） </a:t>
            </a:r>
            <a:endParaRPr lang="en-US" altLang="zh-CN" sz="2800" dirty="0">
              <a:solidFill>
                <a:schemeClr val="tx2"/>
              </a:solidFill>
            </a:endParaRPr>
          </a:p>
          <a:p>
            <a:pPr lvl="1" eaLnBrk="1" hangingPunct="1"/>
            <a:r>
              <a:rPr lang="zh-CN" altLang="en-US" sz="2800" dirty="0">
                <a:solidFill>
                  <a:schemeClr val="tx2"/>
                </a:solidFill>
              </a:rPr>
              <a:t> 传值型参数（传递右值） </a:t>
            </a:r>
          </a:p>
          <a:p>
            <a:pPr lvl="1" eaLnBrk="1" hangingPunct="1"/>
            <a:r>
              <a:rPr lang="zh-CN" altLang="en-US" sz="2800" dirty="0">
                <a:solidFill>
                  <a:srgbClr val="0000FF"/>
                </a:solidFill>
              </a:rPr>
              <a:t> </a:t>
            </a:r>
            <a:r>
              <a:rPr lang="zh-CN" altLang="en-US" sz="3200" dirty="0">
                <a:solidFill>
                  <a:srgbClr val="0000FF"/>
                </a:solidFill>
              </a:rPr>
              <a:t>引用型参数（传递变量，传递左值） </a:t>
            </a:r>
            <a:endParaRPr lang="en-US" altLang="zh-CN" sz="2800" dirty="0">
              <a:solidFill>
                <a:srgbClr val="0000FF"/>
              </a:solidFill>
            </a:endParaRPr>
          </a:p>
          <a:p>
            <a:pPr lvl="1" eaLnBrk="1" hangingPunct="1"/>
            <a:endParaRPr lang="zh-CN" altLang="en-US" sz="2800" dirty="0">
              <a:solidFill>
                <a:schemeClr val="tx2"/>
              </a:solidFill>
            </a:endParaRPr>
          </a:p>
          <a:p>
            <a:pPr eaLnBrk="1" hangingPunct="1"/>
            <a:r>
              <a:rPr lang="zh-CN" altLang="en-US" sz="3200" dirty="0"/>
              <a:t>函数的返回类型 </a:t>
            </a:r>
          </a:p>
          <a:p>
            <a:pPr lvl="1" eaLnBrk="1" hangingPunct="1"/>
            <a:r>
              <a:rPr lang="zh-CN" altLang="en-US" sz="2800" dirty="0">
                <a:solidFill>
                  <a:schemeClr val="tx2"/>
                </a:solidFill>
              </a:rPr>
              <a:t> 无返回类型（</a:t>
            </a:r>
            <a:r>
              <a:rPr lang="en-US" altLang="zh-CN" sz="2800" dirty="0">
                <a:solidFill>
                  <a:schemeClr val="tx2"/>
                </a:solidFill>
              </a:rPr>
              <a:t>void</a:t>
            </a:r>
            <a:r>
              <a:rPr lang="zh-CN" altLang="en-US" sz="2800" dirty="0">
                <a:solidFill>
                  <a:schemeClr val="tx2"/>
                </a:solidFill>
              </a:rPr>
              <a:t>） </a:t>
            </a:r>
          </a:p>
          <a:p>
            <a:pPr lvl="1" eaLnBrk="1" hangingPunct="1"/>
            <a:r>
              <a:rPr lang="zh-CN" altLang="en-US" sz="2800" dirty="0">
                <a:solidFill>
                  <a:schemeClr val="tx2"/>
                </a:solidFill>
              </a:rPr>
              <a:t> 数值返回</a:t>
            </a:r>
            <a:r>
              <a:rPr lang="zh-CN" altLang="en-US" dirty="0">
                <a:solidFill>
                  <a:srgbClr val="0000FF"/>
                </a:solidFill>
              </a:rPr>
              <a:t>（创建临时无名变量，用函数调用表达式表示）</a:t>
            </a:r>
            <a:endParaRPr lang="zh-CN" altLang="en-US" sz="2800" dirty="0">
              <a:solidFill>
                <a:srgbClr val="0000FF"/>
              </a:solidFill>
            </a:endParaRPr>
          </a:p>
          <a:p>
            <a:pPr lvl="1" eaLnBrk="1" hangingPunct="1"/>
            <a:r>
              <a:rPr lang="zh-CN" altLang="en-US" sz="2800" dirty="0">
                <a:solidFill>
                  <a:srgbClr val="0000FF"/>
                </a:solidFill>
              </a:rPr>
              <a:t> </a:t>
            </a:r>
            <a:r>
              <a:rPr lang="zh-CN" altLang="en-US" sz="3200" dirty="0">
                <a:solidFill>
                  <a:srgbClr val="0000FF"/>
                </a:solidFill>
              </a:rPr>
              <a:t>引用返回（变量返回） </a:t>
            </a:r>
            <a:endParaRPr lang="zh-CN" altLang="en-US" sz="2800" dirty="0">
              <a:solidFill>
                <a:srgbClr val="0000FF"/>
              </a:solidFill>
            </a:endParaRPr>
          </a:p>
          <a:p>
            <a:pPr eaLnBrk="1" hangingPunct="1">
              <a:buFont typeface="Wingdings" pitchFamily="2" charset="2"/>
              <a:buNone/>
            </a:pPr>
            <a:endParaRPr lang="zh-CN" altLang="en-US" sz="3200" dirty="0">
              <a:solidFill>
                <a:schemeClr val="folHlink"/>
              </a:solidFill>
            </a:endParaRPr>
          </a:p>
        </p:txBody>
      </p:sp>
    </p:spTree>
    <p:extLst>
      <p:ext uri="{BB962C8B-B14F-4D97-AF65-F5344CB8AC3E}">
        <p14:creationId xmlns:p14="http://schemas.microsoft.com/office/powerpoint/2010/main" val="27904938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23825"/>
            <a:ext cx="8153400" cy="774700"/>
          </a:xfrm>
        </p:spPr>
        <p:txBody>
          <a:bodyPr/>
          <a:lstStyle/>
          <a:p>
            <a:pPr eaLnBrk="1" hangingPunct="1"/>
            <a:r>
              <a:rPr lang="zh-CN" altLang="en-US">
                <a:latin typeface="Times New Roman" pitchFamily="18" charset="0"/>
              </a:rPr>
              <a:t>函数的形式参数</a:t>
            </a:r>
            <a:endParaRPr lang="zh-CN" altLang="en-US"/>
          </a:p>
        </p:txBody>
      </p:sp>
      <p:sp>
        <p:nvSpPr>
          <p:cNvPr id="101379" name="Rectangle 3"/>
          <p:cNvSpPr>
            <a:spLocks noGrp="1" noChangeArrowheads="1"/>
          </p:cNvSpPr>
          <p:nvPr>
            <p:ph type="body" idx="1"/>
          </p:nvPr>
        </p:nvSpPr>
        <p:spPr>
          <a:xfrm>
            <a:off x="228600" y="1295400"/>
            <a:ext cx="8763000" cy="5257800"/>
          </a:xfrm>
        </p:spPr>
        <p:txBody>
          <a:bodyPr/>
          <a:lstStyle/>
          <a:p>
            <a:pPr marL="0" indent="0" eaLnBrk="1" hangingPunct="1">
              <a:buNone/>
            </a:pPr>
            <a:r>
              <a:rPr lang="zh-CN" altLang="en-US" dirty="0"/>
              <a:t>  传值型（形式参数为</a:t>
            </a:r>
            <a:r>
              <a:rPr lang="zh-CN" altLang="en-US" dirty="0">
                <a:solidFill>
                  <a:srgbClr val="C00000"/>
                </a:solidFill>
              </a:rPr>
              <a:t>定义</a:t>
            </a:r>
            <a:r>
              <a:rPr lang="zh-CN" altLang="en-US" dirty="0"/>
              <a:t>变量） </a:t>
            </a:r>
            <a:r>
              <a:rPr lang="en-US" altLang="zh-CN" dirty="0"/>
              <a:t>———— C/C++</a:t>
            </a:r>
            <a:endParaRPr lang="zh-CN" altLang="en-US" dirty="0"/>
          </a:p>
          <a:p>
            <a:pPr lvl="1" eaLnBrk="1" hangingPunct="1"/>
            <a:r>
              <a:rPr lang="zh-CN" altLang="en-US" dirty="0"/>
              <a:t> 函数调用时，将创建形参变量，意味着</a:t>
            </a:r>
          </a:p>
          <a:p>
            <a:pPr lvl="2" eaLnBrk="1" hangingPunct="1"/>
            <a:r>
              <a:rPr lang="zh-CN" altLang="en-US" sz="2000" dirty="0"/>
              <a:t>为形式参数变量分配</a:t>
            </a:r>
            <a:r>
              <a:rPr lang="zh-CN" altLang="en-US" sz="2000" dirty="0">
                <a:solidFill>
                  <a:srgbClr val="0000FF"/>
                </a:solidFill>
              </a:rPr>
              <a:t>自己的</a:t>
            </a:r>
            <a:r>
              <a:rPr lang="zh-CN" altLang="en-US" sz="2000" dirty="0"/>
              <a:t>内存空间</a:t>
            </a:r>
          </a:p>
          <a:p>
            <a:pPr lvl="2" eaLnBrk="1" hangingPunct="1"/>
            <a:r>
              <a:rPr lang="zh-CN" altLang="en-US" sz="2000" dirty="0"/>
              <a:t>用实际参数（表达式）的值初始化形参变量</a:t>
            </a:r>
          </a:p>
          <a:p>
            <a:pPr lvl="2" eaLnBrk="1" hangingPunct="1"/>
            <a:r>
              <a:rPr lang="zh-CN" altLang="en-US" sz="2000" dirty="0"/>
              <a:t>形参变量存放在栈空间中，函数返回时销毁（与自动变量类似）</a:t>
            </a:r>
          </a:p>
          <a:p>
            <a:pPr lvl="2" eaLnBrk="1" hangingPunct="1"/>
            <a:r>
              <a:rPr lang="zh-CN" altLang="en-US" sz="2000" dirty="0"/>
              <a:t>函数体内对形参的操作</a:t>
            </a:r>
            <a:r>
              <a:rPr lang="zh-CN" altLang="en-US" sz="2000" dirty="0">
                <a:solidFill>
                  <a:srgbClr val="0000FF"/>
                </a:solidFill>
              </a:rPr>
              <a:t>与实参无关</a:t>
            </a:r>
            <a:endParaRPr lang="en-US" altLang="zh-CN" sz="2000" dirty="0"/>
          </a:p>
          <a:p>
            <a:pPr marL="0" indent="0" eaLnBrk="1" hangingPunct="1">
              <a:buNone/>
            </a:pPr>
            <a:r>
              <a:rPr lang="zh-CN" altLang="en-US" dirty="0"/>
              <a:t>  引用型（形式参数为</a:t>
            </a:r>
            <a:r>
              <a:rPr lang="zh-CN" altLang="en-US" dirty="0">
                <a:solidFill>
                  <a:srgbClr val="C00000"/>
                </a:solidFill>
              </a:rPr>
              <a:t>声明</a:t>
            </a:r>
            <a:r>
              <a:rPr lang="zh-CN" altLang="en-US" dirty="0"/>
              <a:t>引用）</a:t>
            </a:r>
            <a:r>
              <a:rPr lang="en-US" altLang="zh-CN" dirty="0"/>
              <a:t> ———— C++</a:t>
            </a:r>
            <a:endParaRPr lang="zh-CN" altLang="en-US" dirty="0"/>
          </a:p>
          <a:p>
            <a:pPr lvl="1" eaLnBrk="1" hangingPunct="1"/>
            <a:r>
              <a:rPr lang="zh-CN" altLang="en-US" dirty="0"/>
              <a:t>函数调用时，不创建变量，形参为实参的别名，意味着</a:t>
            </a:r>
          </a:p>
          <a:p>
            <a:pPr lvl="2" eaLnBrk="1" hangingPunct="1"/>
            <a:r>
              <a:rPr lang="zh-CN" altLang="en-US" sz="2000" dirty="0"/>
              <a:t>形参不另外占用内存空间</a:t>
            </a:r>
          </a:p>
          <a:p>
            <a:pPr lvl="2" eaLnBrk="1" hangingPunct="1"/>
            <a:r>
              <a:rPr lang="zh-CN" altLang="en-US" sz="2000" dirty="0"/>
              <a:t>用实参初始化形参的引用声明</a:t>
            </a:r>
          </a:p>
          <a:p>
            <a:pPr lvl="2" eaLnBrk="1" hangingPunct="1"/>
            <a:r>
              <a:rPr lang="zh-CN" altLang="en-US" sz="2000" dirty="0"/>
              <a:t>引用型形参</a:t>
            </a:r>
            <a:r>
              <a:rPr lang="zh-CN" altLang="en-US" sz="2000" dirty="0">
                <a:latin typeface="Times New Roman" pitchFamily="18" charset="0"/>
              </a:rPr>
              <a:t>“</a:t>
            </a:r>
            <a:r>
              <a:rPr lang="zh-CN" altLang="en-US" sz="2000" dirty="0"/>
              <a:t>绑定</a:t>
            </a:r>
            <a:r>
              <a:rPr lang="zh-CN" altLang="en-US" sz="2000" dirty="0">
                <a:latin typeface="Times New Roman" pitchFamily="18" charset="0"/>
              </a:rPr>
              <a:t>”实参</a:t>
            </a:r>
            <a:r>
              <a:rPr lang="zh-CN" altLang="en-US" sz="2000" dirty="0"/>
              <a:t>，直至函数返回时销毁引用</a:t>
            </a:r>
            <a:r>
              <a:rPr lang="en-US" altLang="zh-CN" sz="2000" dirty="0"/>
              <a:t>(</a:t>
            </a:r>
            <a:r>
              <a:rPr lang="zh-CN" altLang="en-US" sz="2000" dirty="0"/>
              <a:t>生命周期</a:t>
            </a:r>
            <a:r>
              <a:rPr lang="en-US" altLang="zh-CN" sz="2000" dirty="0"/>
              <a:t>)</a:t>
            </a:r>
            <a:r>
              <a:rPr lang="zh-CN" altLang="en-US" sz="2000" dirty="0"/>
              <a:t>，再次用其他变量作为实参调用时，引用型形参则“绑定”不同变量</a:t>
            </a:r>
          </a:p>
          <a:p>
            <a:pPr lvl="2" eaLnBrk="1" hangingPunct="1"/>
            <a:r>
              <a:rPr lang="zh-CN" altLang="en-US" sz="2000" dirty="0"/>
              <a:t>函数体内对形参的操作，就是对实参的操作</a:t>
            </a:r>
          </a:p>
          <a:p>
            <a:pPr eaLnBrk="1" hangingPunct="1"/>
            <a:endParaRPr lang="zh-CN" altLang="en-US" sz="2400" dirty="0"/>
          </a:p>
        </p:txBody>
      </p:sp>
    </p:spTree>
    <p:extLst>
      <p:ext uri="{BB962C8B-B14F-4D97-AF65-F5344CB8AC3E}">
        <p14:creationId xmlns:p14="http://schemas.microsoft.com/office/powerpoint/2010/main" val="275080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379">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1379">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13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13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13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13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1379">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1379">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1379">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1379">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137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函数的返回类型</a:t>
            </a:r>
          </a:p>
        </p:txBody>
      </p:sp>
      <p:sp>
        <p:nvSpPr>
          <p:cNvPr id="203779" name="Rectangle 3"/>
          <p:cNvSpPr>
            <a:spLocks noGrp="1" noChangeArrowheads="1"/>
          </p:cNvSpPr>
          <p:nvPr>
            <p:ph type="body" idx="1"/>
          </p:nvPr>
        </p:nvSpPr>
        <p:spPr/>
        <p:txBody>
          <a:bodyPr/>
          <a:lstStyle/>
          <a:p>
            <a:pPr marL="514350" indent="-514350" eaLnBrk="1" hangingPunct="1">
              <a:buFont typeface="Courier New" pitchFamily="49" charset="0"/>
              <a:buAutoNum type="arabicPeriod"/>
            </a:pPr>
            <a:r>
              <a:rPr lang="zh-CN" altLang="en-US" sz="3200" dirty="0"/>
              <a:t> 无返回（</a:t>
            </a:r>
            <a:r>
              <a:rPr lang="en-US" altLang="zh-CN" sz="3200" dirty="0"/>
              <a:t>void</a:t>
            </a:r>
            <a:r>
              <a:rPr lang="zh-CN" altLang="en-US" sz="3200" dirty="0"/>
              <a:t>） </a:t>
            </a:r>
            <a:endParaRPr lang="en-US" altLang="zh-CN" sz="3200" dirty="0"/>
          </a:p>
          <a:p>
            <a:pPr marL="514350" indent="-514350" eaLnBrk="1" hangingPunct="1">
              <a:buFont typeface="Courier New" pitchFamily="49" charset="0"/>
              <a:buAutoNum type="arabicPeriod"/>
            </a:pPr>
            <a:r>
              <a:rPr lang="en-US" altLang="zh-CN" sz="3200" dirty="0"/>
              <a:t> </a:t>
            </a:r>
            <a:r>
              <a:rPr lang="zh-CN" altLang="en-US" sz="3200" dirty="0"/>
              <a:t>数值返回  </a:t>
            </a:r>
            <a:r>
              <a:rPr lang="en-US" altLang="zh-CN" sz="3200" dirty="0"/>
              <a:t>———— C/C++</a:t>
            </a:r>
            <a:endParaRPr lang="zh-CN" altLang="en-US" sz="3200" dirty="0"/>
          </a:p>
          <a:p>
            <a:pPr lvl="2" algn="ctr" eaLnBrk="1" hangingPunct="1">
              <a:buFont typeface="Webdings" pitchFamily="18" charset="2"/>
              <a:buNone/>
            </a:pPr>
            <a:r>
              <a:rPr lang="zh-CN" altLang="en-US" sz="3000" u="sng" dirty="0">
                <a:ea typeface="楷体" panose="02010609060101010101" pitchFamily="49" charset="-122"/>
              </a:rPr>
              <a:t>数据类型</a:t>
            </a:r>
            <a:r>
              <a:rPr lang="zh-CN" altLang="en-US" sz="3000" dirty="0">
                <a:ea typeface="楷体" panose="02010609060101010101" pitchFamily="49" charset="-122"/>
              </a:rPr>
              <a:t> 函数名</a:t>
            </a:r>
            <a:r>
              <a:rPr lang="en-US" altLang="zh-CN" sz="3000" dirty="0">
                <a:ea typeface="楷体" panose="02010609060101010101" pitchFamily="49" charset="-122"/>
              </a:rPr>
              <a:t>(</a:t>
            </a:r>
            <a:r>
              <a:rPr lang="zh-CN" altLang="en-US" sz="3000" dirty="0">
                <a:ea typeface="楷体" panose="02010609060101010101" pitchFamily="49" charset="-122"/>
              </a:rPr>
              <a:t>参数表</a:t>
            </a:r>
            <a:r>
              <a:rPr lang="en-US" altLang="zh-CN" sz="3000" dirty="0">
                <a:ea typeface="楷体" panose="02010609060101010101" pitchFamily="49" charset="-122"/>
              </a:rPr>
              <a:t>);</a:t>
            </a:r>
          </a:p>
          <a:p>
            <a:pPr lvl="1" eaLnBrk="1" hangingPunct="1"/>
            <a:r>
              <a:rPr lang="zh-CN" altLang="en-US" dirty="0"/>
              <a:t>函数结果存放在一个</a:t>
            </a:r>
            <a:r>
              <a:rPr lang="zh-CN" altLang="en-US" dirty="0">
                <a:solidFill>
                  <a:srgbClr val="990000"/>
                </a:solidFill>
                <a:ea typeface="楷体" panose="02010609060101010101" pitchFamily="49" charset="-122"/>
              </a:rPr>
              <a:t>临时变量</a:t>
            </a:r>
            <a:r>
              <a:rPr lang="zh-CN" altLang="en-US" dirty="0"/>
              <a:t>中，该临时变量</a:t>
            </a:r>
            <a:r>
              <a:rPr lang="zh-CN" altLang="en-US" dirty="0">
                <a:solidFill>
                  <a:srgbClr val="0000FF"/>
                </a:solidFill>
              </a:rPr>
              <a:t>用函数调用表达式本身表示</a:t>
            </a:r>
            <a:r>
              <a:rPr lang="zh-CN" altLang="en-US" dirty="0"/>
              <a:t>；</a:t>
            </a:r>
          </a:p>
          <a:p>
            <a:pPr lvl="1" eaLnBrk="1" hangingPunct="1"/>
            <a:r>
              <a:rPr lang="zh-CN" altLang="en-US" dirty="0"/>
              <a:t>该临时变量的在参与一次运算后被销毁。</a:t>
            </a:r>
          </a:p>
          <a:p>
            <a:pPr marL="514350" indent="-514350" eaLnBrk="1" hangingPunct="1">
              <a:buFont typeface="Courier New" pitchFamily="49" charset="0"/>
              <a:buAutoNum type="arabicPeriod"/>
            </a:pPr>
            <a:r>
              <a:rPr lang="zh-CN" altLang="en-US" sz="3200" dirty="0"/>
              <a:t> 引用返回  </a:t>
            </a:r>
            <a:r>
              <a:rPr lang="en-US" altLang="zh-CN" sz="3200" dirty="0"/>
              <a:t>———— C++</a:t>
            </a:r>
            <a:endParaRPr lang="zh-CN" altLang="en-US" sz="3200" dirty="0"/>
          </a:p>
          <a:p>
            <a:pPr lvl="2" algn="ctr" eaLnBrk="1" hangingPunct="1">
              <a:buFont typeface="Webdings" pitchFamily="18" charset="2"/>
              <a:buNone/>
            </a:pPr>
            <a:r>
              <a:rPr lang="zh-CN" altLang="en-US" sz="3000" u="sng" dirty="0">
                <a:ea typeface="楷体" panose="02010609060101010101" pitchFamily="49" charset="-122"/>
              </a:rPr>
              <a:t>数据类型 </a:t>
            </a:r>
            <a:r>
              <a:rPr lang="en-US" altLang="zh-CN" sz="3000" u="sng" dirty="0">
                <a:solidFill>
                  <a:srgbClr val="0000FF"/>
                </a:solidFill>
                <a:ea typeface="楷体" panose="02010609060101010101" pitchFamily="49" charset="-122"/>
              </a:rPr>
              <a:t>&amp;</a:t>
            </a:r>
            <a:r>
              <a:rPr lang="en-US" altLang="zh-CN" sz="3000" dirty="0">
                <a:ea typeface="楷体" panose="02010609060101010101" pitchFamily="49" charset="-122"/>
              </a:rPr>
              <a:t> </a:t>
            </a:r>
            <a:r>
              <a:rPr lang="zh-CN" altLang="en-US" sz="3000" dirty="0">
                <a:ea typeface="楷体" panose="02010609060101010101" pitchFamily="49" charset="-122"/>
              </a:rPr>
              <a:t>函数名</a:t>
            </a:r>
            <a:r>
              <a:rPr lang="en-US" altLang="zh-CN" sz="3000" dirty="0">
                <a:ea typeface="楷体" panose="02010609060101010101" pitchFamily="49" charset="-122"/>
              </a:rPr>
              <a:t>(</a:t>
            </a:r>
            <a:r>
              <a:rPr lang="zh-CN" altLang="en-US" sz="3000" dirty="0">
                <a:ea typeface="楷体" panose="02010609060101010101" pitchFamily="49" charset="-122"/>
              </a:rPr>
              <a:t>参数表</a:t>
            </a:r>
            <a:r>
              <a:rPr lang="en-US" altLang="zh-CN" sz="3000" dirty="0">
                <a:ea typeface="楷体" panose="02010609060101010101" pitchFamily="49" charset="-122"/>
              </a:rPr>
              <a:t>);</a:t>
            </a:r>
            <a:endParaRPr lang="zh-CN" altLang="en-US" dirty="0"/>
          </a:p>
          <a:p>
            <a:pPr lvl="1" eaLnBrk="1" hangingPunct="1"/>
            <a:r>
              <a:rPr lang="zh-CN" altLang="en-US" dirty="0"/>
              <a:t>返回一个</a:t>
            </a:r>
            <a:r>
              <a:rPr lang="zh-CN" altLang="en-US" dirty="0">
                <a:solidFill>
                  <a:srgbClr val="990000"/>
                </a:solidFill>
                <a:ea typeface="楷体" panose="02010609060101010101" pitchFamily="49" charset="-122"/>
              </a:rPr>
              <a:t>已经存在的变量</a:t>
            </a:r>
            <a:r>
              <a:rPr lang="zh-CN" altLang="en-US" dirty="0"/>
              <a:t>，该变量</a:t>
            </a:r>
            <a:r>
              <a:rPr lang="zh-CN" altLang="en-US" dirty="0">
                <a:solidFill>
                  <a:srgbClr val="0000FF"/>
                </a:solidFill>
              </a:rPr>
              <a:t>用函数调用表达式本身表示</a:t>
            </a:r>
            <a:r>
              <a:rPr lang="zh-CN" altLang="en-US" dirty="0"/>
              <a:t>。</a:t>
            </a:r>
          </a:p>
        </p:txBody>
      </p:sp>
    </p:spTree>
    <p:extLst>
      <p:ext uri="{BB962C8B-B14F-4D97-AF65-F5344CB8AC3E}">
        <p14:creationId xmlns:p14="http://schemas.microsoft.com/office/powerpoint/2010/main" val="18907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3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3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377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377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377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377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37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zh-CN" altLang="en-US"/>
              <a:t>例</a:t>
            </a:r>
            <a:r>
              <a:rPr lang="en-US" altLang="zh-CN"/>
              <a:t>3.4 </a:t>
            </a:r>
            <a:r>
              <a:rPr lang="zh-CN" altLang="en-US"/>
              <a:t>加法运算函数</a:t>
            </a:r>
          </a:p>
        </p:txBody>
      </p:sp>
      <p:sp>
        <p:nvSpPr>
          <p:cNvPr id="55299" name="Text Box 4"/>
          <p:cNvSpPr txBox="1">
            <a:spLocks noChangeArrowheads="1"/>
          </p:cNvSpPr>
          <p:nvPr/>
        </p:nvSpPr>
        <p:spPr bwMode="auto">
          <a:xfrm>
            <a:off x="76200" y="990600"/>
            <a:ext cx="8991600" cy="57658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85000"/>
              </a:lnSpc>
            </a:pP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include</a:t>
            </a:r>
            <a:r>
              <a:rPr lang="en-US" altLang="zh-CN" sz="2400" b="1">
                <a:solidFill>
                  <a:srgbClr val="000000"/>
                </a:solidFill>
                <a:latin typeface="Courier New" pitchFamily="49" charset="0"/>
              </a:rPr>
              <a:t> &lt;iostream&gt;	</a:t>
            </a:r>
            <a:r>
              <a:rPr lang="zh-CN" altLang="en-US" sz="2400" b="1">
                <a:solidFill>
                  <a:srgbClr val="990000"/>
                </a:solidFill>
                <a:latin typeface="Courier New" pitchFamily="49" charset="0"/>
              </a:rPr>
              <a:t/>
            </a:r>
            <a:br>
              <a:rPr lang="zh-CN" altLang="en-US" sz="2400" b="1">
                <a:solidFill>
                  <a:srgbClr val="990000"/>
                </a:solidFill>
                <a:latin typeface="Courier New" pitchFamily="49" charset="0"/>
              </a:rPr>
            </a:br>
            <a:r>
              <a:rPr lang="zh-CN" altLang="en-US" sz="2400" b="1">
                <a:solidFill>
                  <a:srgbClr val="000000"/>
                </a:solidFill>
                <a:latin typeface="Courier New" pitchFamily="49" charset="0"/>
              </a:rPr>
              <a:t> </a:t>
            </a:r>
            <a:r>
              <a:rPr lang="en-US" altLang="zh-CN" sz="2400" b="1">
                <a:solidFill>
                  <a:srgbClr val="0000FF"/>
                </a:solidFill>
                <a:latin typeface="Courier New" pitchFamily="49" charset="0"/>
              </a:rPr>
              <a:t>using namespace</a:t>
            </a:r>
            <a:r>
              <a:rPr lang="en-US" altLang="zh-CN" sz="2400" b="1">
                <a:solidFill>
                  <a:srgbClr val="000000"/>
                </a:solidFill>
                <a:latin typeface="Courier New" pitchFamily="49" charset="0"/>
              </a:rPr>
              <a:t> std;</a:t>
            </a:r>
          </a:p>
          <a:p>
            <a:pPr>
              <a:lnSpc>
                <a:spcPct val="85000"/>
              </a:lnSpc>
            </a:pPr>
            <a:endParaRPr lang="en-US" altLang="zh-CN" sz="2400" b="1">
              <a:solidFill>
                <a:srgbClr val="0000FF"/>
              </a:solidFill>
              <a:latin typeface="Courier New" pitchFamily="49" charset="0"/>
            </a:endParaRPr>
          </a:p>
          <a:p>
            <a:pPr>
              <a:lnSpc>
                <a:spcPct val="85000"/>
              </a:lnSpc>
            </a:pPr>
            <a:r>
              <a:rPr lang="en-US" altLang="zh-CN" sz="2400" b="1">
                <a:solidFill>
                  <a:srgbClr val="0000FF"/>
                </a:solidFill>
                <a:latin typeface="Courier New" pitchFamily="49" charset="0"/>
              </a:rPr>
              <a:t> int</a:t>
            </a:r>
            <a:r>
              <a:rPr lang="en-US" altLang="zh-CN" sz="2400" b="1">
                <a:solidFill>
                  <a:srgbClr val="000000"/>
                </a:solidFill>
                <a:latin typeface="Courier New" pitchFamily="49" charset="0"/>
              </a:rPr>
              <a:t> Add(</a:t>
            </a:r>
            <a:r>
              <a:rPr lang="en-US" altLang="zh-CN" sz="2400" b="1">
                <a:solidFill>
                  <a:srgbClr val="0000FF"/>
                </a:solidFill>
                <a:latin typeface="Courier New" pitchFamily="49" charset="0"/>
              </a:rPr>
              <a:t>int </a:t>
            </a:r>
            <a:r>
              <a:rPr lang="en-US" altLang="zh-CN" sz="2400" b="1">
                <a:solidFill>
                  <a:srgbClr val="000000"/>
                </a:solidFill>
                <a:latin typeface="Courier New" pitchFamily="49" charset="0"/>
              </a:rPr>
              <a:t>a,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b)</a:t>
            </a:r>
          </a:p>
          <a:p>
            <a:pPr>
              <a:lnSpc>
                <a:spcPct val="85000"/>
              </a:lnSpc>
            </a:pPr>
            <a:r>
              <a:rPr lang="en-US" altLang="zh-CN" sz="2400" b="1">
                <a:solidFill>
                  <a:srgbClr val="000000"/>
                </a:solidFill>
                <a:latin typeface="Courier New" pitchFamily="49" charset="0"/>
              </a:rPr>
              <a:t> {</a:t>
            </a:r>
          </a:p>
          <a:p>
            <a:pPr>
              <a:lnSpc>
                <a:spcPct val="85000"/>
              </a:lnSpc>
            </a:pPr>
            <a:r>
              <a:rPr lang="en-US" altLang="zh-CN" sz="2400" b="1">
                <a:solidFill>
                  <a:srgbClr val="000000"/>
                </a:solidFill>
                <a:latin typeface="Courier New" pitchFamily="49" charset="0"/>
              </a:rPr>
              <a:t> </a:t>
            </a:r>
            <a:r>
              <a:rPr lang="en-US" altLang="zh-CN" sz="2400" b="1">
                <a:solidFill>
                  <a:srgbClr val="FFFFFF"/>
                </a:solidFill>
                <a:latin typeface="Courier New" pitchFamily="49" charset="0"/>
              </a:rPr>
              <a:t>   a += b;</a:t>
            </a:r>
            <a:endParaRPr lang="zh-CN" altLang="en-US" sz="2400" b="1">
              <a:solidFill>
                <a:srgbClr val="FFFFFF"/>
              </a:solidFill>
              <a:latin typeface="Courier New" pitchFamily="49" charset="0"/>
            </a:endParaRPr>
          </a:p>
          <a:p>
            <a:pPr>
              <a:lnSpc>
                <a:spcPct val="85000"/>
              </a:lnSpc>
            </a:pPr>
            <a:r>
              <a:rPr lang="en-US" altLang="zh-CN" sz="2400" b="1">
                <a:solidFill>
                  <a:srgbClr val="FFFFFF"/>
                </a:solidFill>
                <a:latin typeface="Courier New" pitchFamily="49" charset="0"/>
              </a:rPr>
              <a:t>    return a;</a:t>
            </a:r>
          </a:p>
          <a:p>
            <a:pPr>
              <a:lnSpc>
                <a:spcPct val="85000"/>
              </a:lnSpc>
            </a:pPr>
            <a:r>
              <a:rPr lang="en-US" altLang="zh-CN" sz="2400" b="1">
                <a:solidFill>
                  <a:srgbClr val="000000"/>
                </a:solidFill>
                <a:latin typeface="Courier New" pitchFamily="49" charset="0"/>
              </a:rPr>
              <a:t> }</a:t>
            </a:r>
          </a:p>
          <a:p>
            <a:pPr>
              <a:lnSpc>
                <a:spcPct val="85000"/>
              </a:lnSpc>
            </a:pPr>
            <a:endParaRPr lang="en-US" altLang="zh-CN" sz="2400" b="1">
              <a:solidFill>
                <a:srgbClr val="000000"/>
              </a:solidFill>
              <a:latin typeface="Courier New" pitchFamily="49" charset="0"/>
            </a:endParaRPr>
          </a:p>
          <a:p>
            <a:pPr>
              <a:lnSpc>
                <a:spcPct val="85000"/>
              </a:lnSpc>
            </a:pPr>
            <a:r>
              <a:rPr lang="zh-CN" altLang="en-US" sz="2400" b="1">
                <a:solidFill>
                  <a:srgbClr val="0000FF"/>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main()</a:t>
            </a:r>
            <a:br>
              <a:rPr lang="en-US" altLang="zh-CN" sz="2400" b="1">
                <a:solidFill>
                  <a:srgbClr val="000000"/>
                </a:solidFill>
                <a:latin typeface="Courier New" pitchFamily="49" charset="0"/>
              </a:rPr>
            </a:br>
            <a:r>
              <a:rPr lang="en-US" altLang="zh-CN" sz="2400" b="1">
                <a:solidFill>
                  <a:srgbClr val="000000"/>
                </a:solidFill>
                <a:latin typeface="Courier New" pitchFamily="49" charset="0"/>
              </a:rPr>
              <a:t> {</a:t>
            </a:r>
            <a:br>
              <a:rPr lang="en-US" altLang="zh-CN" sz="2400" b="1">
                <a:solidFill>
                  <a:srgbClr val="000000"/>
                </a:solidFill>
                <a:latin typeface="Courier New" pitchFamily="49" charset="0"/>
              </a:rPr>
            </a:b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a=3, b;</a:t>
            </a:r>
            <a:endParaRPr lang="zh-CN" altLang="en-US" sz="2400" b="1">
              <a:solidFill>
                <a:srgbClr val="990000"/>
              </a:solidFill>
              <a:latin typeface="Courier New" pitchFamily="49" charset="0"/>
            </a:endParaRPr>
          </a:p>
          <a:p>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b = Add(a, 2);</a:t>
            </a:r>
          </a:p>
          <a:p>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cout &lt;&lt; a &lt;&lt; ”, ” &lt;&lt; b &lt;&lt; endl;</a:t>
            </a:r>
          </a:p>
          <a:p>
            <a:pPr>
              <a:lnSpc>
                <a:spcPct val="85000"/>
              </a:lnSpc>
            </a:pPr>
            <a:r>
              <a:rPr lang="en-US" altLang="zh-CN" sz="2400" b="1">
                <a:solidFill>
                  <a:srgbClr val="0000FF"/>
                </a:solidFill>
                <a:latin typeface="Courier New" pitchFamily="49" charset="0"/>
              </a:rPr>
              <a:t>    return</a:t>
            </a:r>
            <a:r>
              <a:rPr lang="en-US" altLang="zh-CN" sz="2400" b="1">
                <a:solidFill>
                  <a:srgbClr val="000000"/>
                </a:solidFill>
                <a:latin typeface="Courier New" pitchFamily="49" charset="0"/>
              </a:rPr>
              <a:t> 0;</a:t>
            </a:r>
            <a:br>
              <a:rPr lang="en-US" altLang="zh-CN" sz="2400" b="1">
                <a:solidFill>
                  <a:srgbClr val="000000"/>
                </a:solidFill>
                <a:latin typeface="Courier New" pitchFamily="49" charset="0"/>
              </a:rPr>
            </a:br>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a:t>
            </a:r>
          </a:p>
        </p:txBody>
      </p:sp>
      <p:sp>
        <p:nvSpPr>
          <p:cNvPr id="216070" name="Rectangle 6"/>
          <p:cNvSpPr>
            <a:spLocks noChangeArrowheads="1"/>
          </p:cNvSpPr>
          <p:nvPr/>
        </p:nvSpPr>
        <p:spPr bwMode="auto">
          <a:xfrm>
            <a:off x="4495800" y="1814513"/>
            <a:ext cx="4425950" cy="2493962"/>
          </a:xfrm>
          <a:prstGeom prst="rect">
            <a:avLst/>
          </a:prstGeom>
          <a:solidFill>
            <a:schemeClr val="bg1"/>
          </a:solidFill>
          <a:ln w="28575">
            <a:solidFill>
              <a:srgbClr val="990000"/>
            </a:solidFill>
            <a:miter lim="800000"/>
            <a:headEnd/>
            <a:tailEnd/>
          </a:ln>
        </p:spPr>
        <p:txBody>
          <a:bodyPr wrap="none" lIns="108000" rIns="0" anchor="ctr">
            <a:spAutoFit/>
          </a:bodyPr>
          <a:lstStyle/>
          <a:p>
            <a:r>
              <a:rPr lang="zh-CN" altLang="en-US" sz="2400" b="1" dirty="0">
                <a:solidFill>
                  <a:srgbClr val="000000"/>
                </a:solidFill>
                <a:latin typeface="Courier New" pitchFamily="49" charset="0"/>
              </a:rPr>
              <a:t>希望输出 </a:t>
            </a:r>
            <a:r>
              <a:rPr lang="en-US" altLang="zh-CN" sz="2400" b="1" dirty="0">
                <a:solidFill>
                  <a:srgbClr val="000000"/>
                </a:solidFill>
                <a:latin typeface="Courier New" pitchFamily="49" charset="0"/>
              </a:rPr>
              <a:t>3, 5</a:t>
            </a:r>
          </a:p>
          <a:p>
            <a:pPr>
              <a:spcBef>
                <a:spcPct val="50000"/>
              </a:spcBef>
            </a:pPr>
            <a:r>
              <a:rPr lang="zh-CN" altLang="en-US" sz="2400" b="1" dirty="0">
                <a:solidFill>
                  <a:srgbClr val="000000"/>
                </a:solidFill>
                <a:latin typeface="Courier New" pitchFamily="49" charset="0"/>
              </a:rPr>
              <a:t>注意：不能改变两个加数的值，</a:t>
            </a:r>
          </a:p>
          <a:p>
            <a:r>
              <a:rPr lang="zh-CN" altLang="en-US" sz="2400" b="1" dirty="0">
                <a:solidFill>
                  <a:srgbClr val="000000"/>
                </a:solidFill>
                <a:latin typeface="Courier New" pitchFamily="49" charset="0"/>
              </a:rPr>
              <a:t>且得到一个新结果</a:t>
            </a:r>
            <a:r>
              <a:rPr lang="en-US" altLang="zh-CN" sz="2400" b="1" dirty="0">
                <a:solidFill>
                  <a:srgbClr val="000000"/>
                </a:solidFill>
                <a:latin typeface="Courier New" pitchFamily="49" charset="0"/>
              </a:rPr>
              <a:t>(</a:t>
            </a:r>
            <a:r>
              <a:rPr lang="zh-CN" altLang="en-US" sz="2400" b="1" dirty="0">
                <a:solidFill>
                  <a:srgbClr val="000000"/>
                </a:solidFill>
                <a:latin typeface="Courier New" pitchFamily="49" charset="0"/>
              </a:rPr>
              <a:t>第</a:t>
            </a:r>
            <a:r>
              <a:rPr lang="en-US" altLang="zh-CN" sz="2400" b="1" dirty="0">
                <a:solidFill>
                  <a:srgbClr val="000000"/>
                </a:solidFill>
                <a:latin typeface="Courier New" pitchFamily="49" charset="0"/>
              </a:rPr>
              <a:t>3</a:t>
            </a:r>
            <a:r>
              <a:rPr lang="zh-CN" altLang="en-US" sz="2400" b="1" dirty="0">
                <a:solidFill>
                  <a:srgbClr val="000000"/>
                </a:solidFill>
                <a:latin typeface="Courier New" pitchFamily="49" charset="0"/>
              </a:rPr>
              <a:t>个量</a:t>
            </a:r>
            <a:r>
              <a:rPr lang="en-US" altLang="zh-CN" sz="2400" b="1" dirty="0">
                <a:solidFill>
                  <a:srgbClr val="000000"/>
                </a:solidFill>
                <a:latin typeface="Courier New" pitchFamily="49" charset="0"/>
              </a:rPr>
              <a:t>)</a:t>
            </a:r>
            <a:r>
              <a:rPr lang="zh-CN" altLang="en-US" sz="2400" b="1" dirty="0">
                <a:solidFill>
                  <a:srgbClr val="000000"/>
                </a:solidFill>
                <a:latin typeface="Courier New" pitchFamily="49" charset="0"/>
              </a:rPr>
              <a:t>。</a:t>
            </a:r>
          </a:p>
          <a:p>
            <a:r>
              <a:rPr lang="zh-CN" altLang="en-US" sz="2400" b="1" dirty="0">
                <a:solidFill>
                  <a:srgbClr val="000000"/>
                </a:solidFill>
                <a:latin typeface="楷体" panose="02010609060101010101" pitchFamily="49" charset="-122"/>
                <a:ea typeface="楷体" panose="02010609060101010101" pitchFamily="49" charset="-122"/>
              </a:rPr>
              <a:t>  系统提供的临时变量</a:t>
            </a:r>
            <a:r>
              <a:rPr lang="en-US" altLang="zh-CN" sz="2400" b="1" dirty="0">
                <a:solidFill>
                  <a:srgbClr val="000000"/>
                </a:solidFill>
                <a:latin typeface="楷体" panose="02010609060101010101" pitchFamily="49" charset="-122"/>
                <a:ea typeface="楷体" panose="02010609060101010101" pitchFamily="49" charset="-122"/>
              </a:rPr>
              <a:t>;</a:t>
            </a:r>
          </a:p>
          <a:p>
            <a:r>
              <a:rPr lang="zh-CN" altLang="en-US" sz="2400" b="1" dirty="0">
                <a:solidFill>
                  <a:srgbClr val="000000"/>
                </a:solidFill>
                <a:latin typeface="楷体" panose="02010609060101010101" pitchFamily="49" charset="-122"/>
                <a:ea typeface="楷体" panose="02010609060101010101" pitchFamily="49" charset="-122"/>
              </a:rPr>
              <a:t>  这个变量是无名的，用函数</a:t>
            </a:r>
          </a:p>
          <a:p>
            <a:r>
              <a:rPr lang="zh-CN" altLang="en-US" sz="2400" b="1" dirty="0">
                <a:solidFill>
                  <a:srgbClr val="000000"/>
                </a:solidFill>
                <a:latin typeface="楷体" panose="02010609060101010101" pitchFamily="49" charset="-122"/>
                <a:ea typeface="楷体" panose="02010609060101010101" pitchFamily="49" charset="-122"/>
              </a:rPr>
              <a:t>调用表达式表示。</a:t>
            </a:r>
          </a:p>
        </p:txBody>
      </p:sp>
      <p:grpSp>
        <p:nvGrpSpPr>
          <p:cNvPr id="2" name="Group 10"/>
          <p:cNvGrpSpPr>
            <a:grpSpLocks/>
          </p:cNvGrpSpPr>
          <p:nvPr/>
        </p:nvGrpSpPr>
        <p:grpSpPr bwMode="auto">
          <a:xfrm>
            <a:off x="1552575" y="5181600"/>
            <a:ext cx="5480050" cy="1431925"/>
            <a:chOff x="978" y="3264"/>
            <a:chExt cx="3452" cy="902"/>
          </a:xfrm>
        </p:grpSpPr>
        <p:sp>
          <p:nvSpPr>
            <p:cNvPr id="55303" name="Line 8"/>
            <p:cNvSpPr>
              <a:spLocks noChangeShapeType="1"/>
            </p:cNvSpPr>
            <p:nvPr/>
          </p:nvSpPr>
          <p:spPr bwMode="auto">
            <a:xfrm>
              <a:off x="978" y="3264"/>
              <a:ext cx="1056" cy="0"/>
            </a:xfrm>
            <a:prstGeom prst="line">
              <a:avLst/>
            </a:prstGeom>
            <a:noFill/>
            <a:ln w="28575">
              <a:solidFill>
                <a:srgbClr val="990000"/>
              </a:solidFill>
              <a:round/>
              <a:headEnd/>
              <a:tailEnd/>
            </a:ln>
          </p:spPr>
          <p:txBody>
            <a:bodyPr/>
            <a:lstStyle/>
            <a:p>
              <a:endParaRPr lang="zh-CN" altLang="en-US"/>
            </a:p>
          </p:txBody>
        </p:sp>
        <p:sp>
          <p:nvSpPr>
            <p:cNvPr id="55304" name="AutoShape 9"/>
            <p:cNvSpPr>
              <a:spLocks/>
            </p:cNvSpPr>
            <p:nvPr/>
          </p:nvSpPr>
          <p:spPr bwMode="auto">
            <a:xfrm>
              <a:off x="2496" y="3552"/>
              <a:ext cx="1934" cy="614"/>
            </a:xfrm>
            <a:prstGeom prst="borderCallout1">
              <a:avLst>
                <a:gd name="adj1" fmla="val 11727"/>
                <a:gd name="adj2" fmla="val -2481"/>
                <a:gd name="adj3" fmla="val -48208"/>
                <a:gd name="adj4" fmla="val -33764"/>
              </a:avLst>
            </a:prstGeom>
            <a:solidFill>
              <a:schemeClr val="bg1"/>
            </a:solidFill>
            <a:ln w="28575">
              <a:solidFill>
                <a:srgbClr val="990000"/>
              </a:solidFill>
              <a:miter lim="800000"/>
              <a:headEnd/>
              <a:tailEnd/>
            </a:ln>
          </p:spPr>
          <p:txBody>
            <a:bodyPr wrap="none">
              <a:spAutoFit/>
            </a:bodyPr>
            <a:lstStyle/>
            <a:p>
              <a:pPr algn="ctr"/>
              <a:r>
                <a:rPr lang="zh-CN" altLang="en-US" sz="2800" b="1" dirty="0">
                  <a:solidFill>
                    <a:srgbClr val="1D528D"/>
                  </a:solidFill>
                  <a:ea typeface="楷体" panose="02010609060101010101" pitchFamily="49" charset="-122"/>
                </a:rPr>
                <a:t>临时的无名变量，</a:t>
              </a:r>
            </a:p>
            <a:p>
              <a:pPr algn="ctr"/>
              <a:r>
                <a:rPr lang="zh-CN" altLang="en-US" sz="2800" b="1" dirty="0">
                  <a:solidFill>
                    <a:srgbClr val="1D528D"/>
                  </a:solidFill>
                  <a:ea typeface="楷体" panose="02010609060101010101" pitchFamily="49" charset="-122"/>
                </a:rPr>
                <a:t>其生命期随即结束</a:t>
              </a:r>
            </a:p>
          </p:txBody>
        </p:sp>
      </p:grpSp>
      <p:sp>
        <p:nvSpPr>
          <p:cNvPr id="216075" name="Rectangle 11"/>
          <p:cNvSpPr>
            <a:spLocks noChangeArrowheads="1"/>
          </p:cNvSpPr>
          <p:nvPr/>
        </p:nvSpPr>
        <p:spPr bwMode="auto">
          <a:xfrm>
            <a:off x="914400" y="2514600"/>
            <a:ext cx="1643063" cy="822325"/>
          </a:xfrm>
          <a:prstGeom prst="rect">
            <a:avLst/>
          </a:prstGeom>
          <a:solidFill>
            <a:schemeClr val="bg1"/>
          </a:solidFill>
          <a:ln w="28575">
            <a:noFill/>
            <a:miter lim="800000"/>
            <a:headEnd/>
            <a:tailEnd/>
          </a:ln>
        </p:spPr>
        <p:txBody>
          <a:bodyPr wrap="none" lIns="0" rIns="0" anchor="ctr">
            <a:spAutoFit/>
          </a:bodyPr>
          <a:lstStyle/>
          <a:p>
            <a:r>
              <a:rPr lang="en-US" altLang="zh-CN" sz="2400" b="1">
                <a:solidFill>
                  <a:srgbClr val="000000"/>
                </a:solidFill>
                <a:latin typeface="Courier New" pitchFamily="49" charset="0"/>
              </a:rPr>
              <a:t>a += b;</a:t>
            </a:r>
          </a:p>
          <a:p>
            <a:r>
              <a:rPr lang="en-US" altLang="zh-CN" sz="2400" b="1">
                <a:solidFill>
                  <a:srgbClr val="0000FF"/>
                </a:solidFill>
                <a:latin typeface="Courier New" pitchFamily="49" charset="0"/>
              </a:rPr>
              <a:t>return</a:t>
            </a:r>
            <a:r>
              <a:rPr lang="en-US" altLang="zh-CN" sz="2400" b="1">
                <a:solidFill>
                  <a:srgbClr val="000000"/>
                </a:solidFill>
                <a:latin typeface="Courier New" pitchFamily="49" charset="0"/>
              </a:rPr>
              <a:t> a;</a:t>
            </a:r>
          </a:p>
        </p:txBody>
      </p:sp>
    </p:spTree>
    <p:extLst>
      <p:ext uri="{BB962C8B-B14F-4D97-AF65-F5344CB8AC3E}">
        <p14:creationId xmlns:p14="http://schemas.microsoft.com/office/powerpoint/2010/main" val="185192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60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6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70" grpId="0" animBg="1"/>
      <p:bldP spid="21607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t>例</a:t>
            </a:r>
            <a:r>
              <a:rPr lang="en-US" altLang="zh-CN"/>
              <a:t>3.5 </a:t>
            </a:r>
            <a:r>
              <a:rPr lang="zh-CN" altLang="en-US"/>
              <a:t>迭加计算函数</a:t>
            </a:r>
          </a:p>
        </p:txBody>
      </p:sp>
      <p:sp>
        <p:nvSpPr>
          <p:cNvPr id="217092" name="Text Box 4"/>
          <p:cNvSpPr txBox="1">
            <a:spLocks noChangeArrowheads="1"/>
          </p:cNvSpPr>
          <p:nvPr/>
        </p:nvSpPr>
        <p:spPr bwMode="auto">
          <a:xfrm>
            <a:off x="76200" y="990600"/>
            <a:ext cx="8991600" cy="57658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85000"/>
              </a:lnSpc>
            </a:pP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include</a:t>
            </a:r>
            <a:r>
              <a:rPr lang="en-US" altLang="zh-CN" sz="2400" b="1">
                <a:solidFill>
                  <a:srgbClr val="000000"/>
                </a:solidFill>
                <a:latin typeface="Courier New" pitchFamily="49" charset="0"/>
              </a:rPr>
              <a:t> &lt;iostream&gt;	</a:t>
            </a:r>
            <a:r>
              <a:rPr lang="zh-CN" altLang="en-US" sz="2400" b="1">
                <a:solidFill>
                  <a:srgbClr val="990000"/>
                </a:solidFill>
                <a:latin typeface="Courier New" pitchFamily="49" charset="0"/>
              </a:rPr>
              <a:t/>
            </a:r>
            <a:br>
              <a:rPr lang="zh-CN" altLang="en-US" sz="2400" b="1">
                <a:solidFill>
                  <a:srgbClr val="990000"/>
                </a:solidFill>
                <a:latin typeface="Courier New" pitchFamily="49" charset="0"/>
              </a:rPr>
            </a:br>
            <a:r>
              <a:rPr lang="zh-CN" altLang="en-US" sz="2400" b="1">
                <a:solidFill>
                  <a:srgbClr val="000000"/>
                </a:solidFill>
                <a:latin typeface="Courier New" pitchFamily="49" charset="0"/>
              </a:rPr>
              <a:t> </a:t>
            </a:r>
            <a:r>
              <a:rPr lang="en-US" altLang="zh-CN" sz="2400" b="1">
                <a:solidFill>
                  <a:srgbClr val="0000FF"/>
                </a:solidFill>
                <a:latin typeface="Courier New" pitchFamily="49" charset="0"/>
              </a:rPr>
              <a:t>using namespace</a:t>
            </a:r>
            <a:r>
              <a:rPr lang="en-US" altLang="zh-CN" sz="2400" b="1">
                <a:solidFill>
                  <a:srgbClr val="000000"/>
                </a:solidFill>
                <a:latin typeface="Courier New" pitchFamily="49" charset="0"/>
              </a:rPr>
              <a:t> std;</a:t>
            </a:r>
          </a:p>
          <a:p>
            <a:pPr>
              <a:lnSpc>
                <a:spcPct val="85000"/>
              </a:lnSpc>
            </a:pPr>
            <a:endParaRPr lang="en-US" altLang="zh-CN" sz="2400" b="1">
              <a:solidFill>
                <a:srgbClr val="0000FF"/>
              </a:solidFill>
              <a:latin typeface="Courier New" pitchFamily="49" charset="0"/>
            </a:endParaRPr>
          </a:p>
          <a:p>
            <a:pPr>
              <a:lnSpc>
                <a:spcPct val="85000"/>
              </a:lnSpc>
            </a:pPr>
            <a:r>
              <a:rPr lang="en-US" altLang="zh-CN" sz="2400" b="1">
                <a:solidFill>
                  <a:srgbClr val="0000FF"/>
                </a:solidFill>
                <a:latin typeface="Courier New" pitchFamily="49" charset="0"/>
              </a:rPr>
              <a:t> int</a:t>
            </a:r>
            <a:r>
              <a:rPr lang="en-US" altLang="zh-CN" sz="2400" b="1">
                <a:solidFill>
                  <a:srgbClr val="000000"/>
                </a:solidFill>
                <a:latin typeface="Courier New" pitchFamily="49" charset="0"/>
              </a:rPr>
              <a:t> &amp; AddAssign(</a:t>
            </a:r>
            <a:r>
              <a:rPr lang="en-US" altLang="zh-CN" sz="2400" b="1">
                <a:solidFill>
                  <a:srgbClr val="0000FF"/>
                </a:solidFill>
                <a:latin typeface="Courier New" pitchFamily="49" charset="0"/>
              </a:rPr>
              <a:t>int </a:t>
            </a:r>
            <a:r>
              <a:rPr lang="en-US" altLang="zh-CN" sz="2400" b="1">
                <a:solidFill>
                  <a:srgbClr val="000000"/>
                </a:solidFill>
                <a:latin typeface="Courier New" pitchFamily="49" charset="0"/>
              </a:rPr>
              <a:t>&amp;a,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b)</a:t>
            </a:r>
          </a:p>
          <a:p>
            <a:pPr>
              <a:lnSpc>
                <a:spcPct val="85000"/>
              </a:lnSpc>
            </a:pPr>
            <a:r>
              <a:rPr lang="en-US" altLang="zh-CN" sz="2400" b="1">
                <a:solidFill>
                  <a:srgbClr val="000000"/>
                </a:solidFill>
                <a:latin typeface="Courier New" pitchFamily="49" charset="0"/>
              </a:rPr>
              <a:t> {</a:t>
            </a:r>
          </a:p>
          <a:p>
            <a:pPr>
              <a:lnSpc>
                <a:spcPct val="85000"/>
              </a:lnSpc>
            </a:pPr>
            <a:r>
              <a:rPr lang="en-US" altLang="zh-CN" sz="2400" b="1">
                <a:solidFill>
                  <a:srgbClr val="000000"/>
                </a:solidFill>
                <a:latin typeface="Courier New" pitchFamily="49" charset="0"/>
              </a:rPr>
              <a:t>    a += b;</a:t>
            </a:r>
            <a:endParaRPr lang="zh-CN" altLang="en-US" sz="2400" b="1">
              <a:solidFill>
                <a:srgbClr val="000000"/>
              </a:solidFill>
              <a:latin typeface="Courier New" pitchFamily="49" charset="0"/>
            </a:endParaRPr>
          </a:p>
          <a:p>
            <a:pPr>
              <a:lnSpc>
                <a:spcPct val="85000"/>
              </a:lnSpc>
            </a:pP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return</a:t>
            </a:r>
            <a:r>
              <a:rPr lang="en-US" altLang="zh-CN" sz="2400" b="1">
                <a:solidFill>
                  <a:srgbClr val="000000"/>
                </a:solidFill>
                <a:latin typeface="Courier New" pitchFamily="49" charset="0"/>
              </a:rPr>
              <a:t> a;</a:t>
            </a:r>
          </a:p>
          <a:p>
            <a:pPr>
              <a:lnSpc>
                <a:spcPct val="85000"/>
              </a:lnSpc>
            </a:pPr>
            <a:r>
              <a:rPr lang="en-US" altLang="zh-CN" sz="2400" b="1">
                <a:solidFill>
                  <a:srgbClr val="000000"/>
                </a:solidFill>
                <a:latin typeface="Courier New" pitchFamily="49" charset="0"/>
              </a:rPr>
              <a:t> }</a:t>
            </a:r>
          </a:p>
          <a:p>
            <a:pPr>
              <a:lnSpc>
                <a:spcPct val="85000"/>
              </a:lnSpc>
            </a:pPr>
            <a:r>
              <a:rPr lang="zh-CN" altLang="en-US" sz="2400" b="1">
                <a:solidFill>
                  <a:srgbClr val="0000FF"/>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main()</a:t>
            </a:r>
            <a:br>
              <a:rPr lang="en-US" altLang="zh-CN" sz="2400" b="1">
                <a:solidFill>
                  <a:srgbClr val="000000"/>
                </a:solidFill>
                <a:latin typeface="Courier New" pitchFamily="49" charset="0"/>
              </a:rPr>
            </a:br>
            <a:r>
              <a:rPr lang="en-US" altLang="zh-CN" sz="2400" b="1">
                <a:solidFill>
                  <a:srgbClr val="000000"/>
                </a:solidFill>
                <a:latin typeface="Courier New" pitchFamily="49" charset="0"/>
              </a:rPr>
              <a:t> {</a:t>
            </a:r>
            <a:br>
              <a:rPr lang="en-US" altLang="zh-CN" sz="2400" b="1">
                <a:solidFill>
                  <a:srgbClr val="000000"/>
                </a:solidFill>
                <a:latin typeface="Courier New" pitchFamily="49" charset="0"/>
              </a:rPr>
            </a:b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a=3;</a:t>
            </a:r>
            <a:endParaRPr lang="zh-CN" altLang="en-US" sz="2400" b="1">
              <a:solidFill>
                <a:srgbClr val="990000"/>
              </a:solidFill>
              <a:latin typeface="Courier New" pitchFamily="49" charset="0"/>
            </a:endParaRPr>
          </a:p>
          <a:p>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AddAssign(a, 2);</a:t>
            </a:r>
          </a:p>
          <a:p>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cout &lt;&lt; a &lt;&lt; endl;</a:t>
            </a:r>
            <a:r>
              <a:rPr lang="en-US" altLang="zh-CN" sz="2400" b="1">
                <a:solidFill>
                  <a:srgbClr val="990000"/>
                </a:solidFill>
                <a:latin typeface="Courier New" pitchFamily="49" charset="0"/>
              </a:rPr>
              <a:t>	// </a:t>
            </a:r>
            <a:r>
              <a:rPr lang="zh-CN" altLang="en-US" sz="2400" b="1">
                <a:solidFill>
                  <a:srgbClr val="990000"/>
                </a:solidFill>
                <a:latin typeface="Courier New" pitchFamily="49" charset="0"/>
              </a:rPr>
              <a:t>输出 </a:t>
            </a:r>
            <a:r>
              <a:rPr lang="en-US" altLang="zh-CN" sz="2400" b="1">
                <a:solidFill>
                  <a:srgbClr val="990000"/>
                </a:solidFill>
                <a:latin typeface="Courier New" pitchFamily="49" charset="0"/>
              </a:rPr>
              <a:t>5 </a:t>
            </a:r>
          </a:p>
          <a:p>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AddAssign(a, 2)++;	</a:t>
            </a:r>
            <a:r>
              <a:rPr lang="en-US" altLang="zh-CN" sz="2400" b="1">
                <a:solidFill>
                  <a:srgbClr val="990000"/>
                </a:solidFill>
                <a:latin typeface="Courier New" pitchFamily="49" charset="0"/>
              </a:rPr>
              <a:t>// </a:t>
            </a:r>
            <a:r>
              <a:rPr lang="zh-CN" altLang="en-US" sz="2400" b="1">
                <a:solidFill>
                  <a:srgbClr val="990000"/>
                </a:solidFill>
                <a:latin typeface="Courier New" pitchFamily="49" charset="0"/>
              </a:rPr>
              <a:t>引用返回，可作左值 </a:t>
            </a:r>
          </a:p>
          <a:p>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cout &lt;&lt; a &lt;&lt; endl; </a:t>
            </a:r>
            <a:r>
              <a:rPr lang="en-US" altLang="zh-CN" sz="2400" b="1">
                <a:solidFill>
                  <a:srgbClr val="990000"/>
                </a:solidFill>
                <a:latin typeface="Courier New" pitchFamily="49" charset="0"/>
              </a:rPr>
              <a:t>	// </a:t>
            </a:r>
            <a:r>
              <a:rPr lang="zh-CN" altLang="en-US" sz="2400" b="1">
                <a:solidFill>
                  <a:srgbClr val="990000"/>
                </a:solidFill>
                <a:latin typeface="Courier New" pitchFamily="49" charset="0"/>
              </a:rPr>
              <a:t>输出 </a:t>
            </a:r>
            <a:r>
              <a:rPr lang="en-US" altLang="zh-CN" sz="2400" b="1">
                <a:solidFill>
                  <a:srgbClr val="990000"/>
                </a:solidFill>
                <a:latin typeface="Courier New" pitchFamily="49" charset="0"/>
              </a:rPr>
              <a:t>8 </a:t>
            </a:r>
            <a:endParaRPr lang="en-US" altLang="zh-CN" sz="2400" b="1">
              <a:solidFill>
                <a:srgbClr val="000000"/>
              </a:solidFill>
              <a:latin typeface="Courier New" pitchFamily="49" charset="0"/>
            </a:endParaRPr>
          </a:p>
          <a:p>
            <a:pPr>
              <a:lnSpc>
                <a:spcPct val="85000"/>
              </a:lnSpc>
            </a:pPr>
            <a:r>
              <a:rPr lang="en-US" altLang="zh-CN" sz="2400" b="1">
                <a:solidFill>
                  <a:srgbClr val="0000FF"/>
                </a:solidFill>
                <a:latin typeface="Courier New" pitchFamily="49" charset="0"/>
              </a:rPr>
              <a:t>    return</a:t>
            </a:r>
            <a:r>
              <a:rPr lang="en-US" altLang="zh-CN" sz="2400" b="1">
                <a:solidFill>
                  <a:srgbClr val="000000"/>
                </a:solidFill>
                <a:latin typeface="Courier New" pitchFamily="49" charset="0"/>
              </a:rPr>
              <a:t> 0;</a:t>
            </a:r>
            <a:br>
              <a:rPr lang="en-US" altLang="zh-CN" sz="2400" b="1">
                <a:solidFill>
                  <a:srgbClr val="000000"/>
                </a:solidFill>
                <a:latin typeface="Courier New" pitchFamily="49" charset="0"/>
              </a:rPr>
            </a:br>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a:t>
            </a:r>
          </a:p>
        </p:txBody>
      </p:sp>
      <p:sp>
        <p:nvSpPr>
          <p:cNvPr id="217093" name="Oval 5"/>
          <p:cNvSpPr>
            <a:spLocks noChangeArrowheads="1"/>
          </p:cNvSpPr>
          <p:nvPr/>
        </p:nvSpPr>
        <p:spPr bwMode="auto">
          <a:xfrm>
            <a:off x="228600" y="1828800"/>
            <a:ext cx="1219200" cy="609600"/>
          </a:xfrm>
          <a:prstGeom prst="ellipse">
            <a:avLst/>
          </a:prstGeom>
          <a:noFill/>
          <a:ln w="28575">
            <a:solidFill>
              <a:srgbClr val="990000"/>
            </a:solidFill>
            <a:round/>
            <a:headEnd/>
            <a:tailEnd/>
          </a:ln>
        </p:spPr>
        <p:txBody>
          <a:bodyPr wrap="none" anchor="ctr"/>
          <a:lstStyle/>
          <a:p>
            <a:endParaRPr lang="zh-CN" altLang="en-US">
              <a:solidFill>
                <a:srgbClr val="1D528D"/>
              </a:solidFill>
            </a:endParaRPr>
          </a:p>
        </p:txBody>
      </p:sp>
    </p:spTree>
    <p:extLst>
      <p:ext uri="{BB962C8B-B14F-4D97-AF65-F5344CB8AC3E}">
        <p14:creationId xmlns:p14="http://schemas.microsoft.com/office/powerpoint/2010/main" val="161231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709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7092">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7092">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709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7092">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709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70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709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7092">
                                            <p:txEl>
                                              <p:pRg st="12" end="1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7092">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709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7092">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709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build="p" autoUpdateAnimBg="0"/>
      <p:bldP spid="21709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a:t>两个函数的比较</a:t>
            </a:r>
          </a:p>
        </p:txBody>
      </p:sp>
      <p:sp>
        <p:nvSpPr>
          <p:cNvPr id="57347" name="Text Box 5"/>
          <p:cNvSpPr txBox="1">
            <a:spLocks noChangeArrowheads="1"/>
          </p:cNvSpPr>
          <p:nvPr/>
        </p:nvSpPr>
        <p:spPr bwMode="auto">
          <a:xfrm>
            <a:off x="76200" y="990600"/>
            <a:ext cx="8991600" cy="57912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85000"/>
              </a:lnSpc>
            </a:pP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Add(</a:t>
            </a:r>
            <a:r>
              <a:rPr lang="en-US" altLang="zh-CN" sz="2400" b="1" dirty="0" err="1">
                <a:solidFill>
                  <a:srgbClr val="0000FF"/>
                </a:solidFill>
                <a:latin typeface="Courier New" pitchFamily="49" charset="0"/>
              </a:rPr>
              <a:t>int</a:t>
            </a: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a,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b)</a:t>
            </a:r>
          </a:p>
          <a:p>
            <a:pPr>
              <a:lnSpc>
                <a:spcPct val="85000"/>
              </a:lnSpc>
            </a:pPr>
            <a:r>
              <a:rPr lang="en-US" altLang="zh-CN" sz="2400" b="1" dirty="0">
                <a:solidFill>
                  <a:srgbClr val="000000"/>
                </a:solidFill>
                <a:latin typeface="Courier New" pitchFamily="49" charset="0"/>
              </a:rPr>
              <a:t> {</a:t>
            </a:r>
          </a:p>
          <a:p>
            <a:pPr>
              <a:lnSpc>
                <a:spcPct val="85000"/>
              </a:lnSpc>
            </a:pPr>
            <a:r>
              <a:rPr lang="en-US" altLang="zh-CN" sz="2400" b="1" dirty="0">
                <a:solidFill>
                  <a:srgbClr val="000000"/>
                </a:solidFill>
                <a:latin typeface="Courier New" pitchFamily="49" charset="0"/>
              </a:rPr>
              <a:t>    a += b;		</a:t>
            </a:r>
            <a:r>
              <a:rPr lang="en-US" altLang="zh-CN" sz="2000" b="1" dirty="0">
                <a:solidFill>
                  <a:srgbClr val="990000"/>
                </a:solidFill>
                <a:latin typeface="Courier New" pitchFamily="49" charset="0"/>
              </a:rPr>
              <a:t>// </a:t>
            </a:r>
            <a:r>
              <a:rPr lang="zh-CN" altLang="en-US" sz="2000" b="1" dirty="0">
                <a:solidFill>
                  <a:srgbClr val="990000"/>
                </a:solidFill>
                <a:latin typeface="Courier New" pitchFamily="49" charset="0"/>
              </a:rPr>
              <a:t>仅修改了形参变量，与实参无关 </a:t>
            </a:r>
            <a:endParaRPr lang="zh-CN" altLang="en-US" sz="2400" b="1" dirty="0">
              <a:solidFill>
                <a:srgbClr val="990000"/>
              </a:solidFill>
              <a:latin typeface="Courier New" pitchFamily="49" charset="0"/>
            </a:endParaRPr>
          </a:p>
          <a:p>
            <a:pPr>
              <a:lnSpc>
                <a:spcPct val="85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return</a:t>
            </a:r>
            <a:r>
              <a:rPr lang="en-US" altLang="zh-CN" sz="2400" b="1" dirty="0">
                <a:solidFill>
                  <a:srgbClr val="000000"/>
                </a:solidFill>
                <a:latin typeface="Courier New" pitchFamily="49" charset="0"/>
              </a:rPr>
              <a:t> a;		</a:t>
            </a:r>
            <a:r>
              <a:rPr lang="en-US" altLang="zh-CN" sz="2000" b="1" dirty="0">
                <a:solidFill>
                  <a:srgbClr val="990000"/>
                </a:solidFill>
                <a:latin typeface="Courier New" pitchFamily="49" charset="0"/>
              </a:rPr>
              <a:t>// </a:t>
            </a:r>
            <a:r>
              <a:rPr lang="zh-CN" altLang="en-US" sz="2000" b="1" dirty="0">
                <a:solidFill>
                  <a:srgbClr val="990000"/>
                </a:solidFill>
                <a:latin typeface="Courier New" pitchFamily="49" charset="0"/>
              </a:rPr>
              <a:t>返回</a:t>
            </a:r>
            <a:r>
              <a:rPr lang="en-US" altLang="zh-CN" sz="2000" b="1" dirty="0">
                <a:solidFill>
                  <a:srgbClr val="990000"/>
                </a:solidFill>
                <a:latin typeface="Courier New" pitchFamily="49" charset="0"/>
              </a:rPr>
              <a:t>a</a:t>
            </a:r>
            <a:r>
              <a:rPr lang="zh-CN" altLang="en-US" sz="2000" b="1" dirty="0">
                <a:solidFill>
                  <a:srgbClr val="990000"/>
                </a:solidFill>
                <a:latin typeface="Courier New" pitchFamily="49" charset="0"/>
              </a:rPr>
              <a:t>的值，存放到一临时变量中 </a:t>
            </a:r>
          </a:p>
          <a:p>
            <a:pPr>
              <a:lnSpc>
                <a:spcPct val="85000"/>
              </a:lnSpc>
            </a:pPr>
            <a:r>
              <a:rPr lang="en-US" altLang="zh-CN" sz="2400" b="1" dirty="0">
                <a:solidFill>
                  <a:srgbClr val="000000"/>
                </a:solidFill>
                <a:latin typeface="Courier New" pitchFamily="49" charset="0"/>
              </a:rPr>
              <a:t> }				</a:t>
            </a:r>
            <a:r>
              <a:rPr lang="en-US" altLang="zh-CN" sz="2000" b="1" dirty="0">
                <a:solidFill>
                  <a:srgbClr val="990000"/>
                </a:solidFill>
                <a:latin typeface="Courier New" pitchFamily="49" charset="0"/>
              </a:rPr>
              <a:t>// a</a:t>
            </a:r>
            <a:r>
              <a:rPr lang="zh-CN" altLang="en-US" sz="2000" b="1" dirty="0">
                <a:solidFill>
                  <a:srgbClr val="990000"/>
                </a:solidFill>
                <a:latin typeface="Courier New" pitchFamily="49" charset="0"/>
              </a:rPr>
              <a:t>及</a:t>
            </a:r>
            <a:r>
              <a:rPr lang="en-US" altLang="zh-CN" sz="2000" b="1" dirty="0">
                <a:solidFill>
                  <a:srgbClr val="990000"/>
                </a:solidFill>
                <a:latin typeface="Courier New" pitchFamily="49" charset="0"/>
              </a:rPr>
              <a:t>b</a:t>
            </a:r>
            <a:r>
              <a:rPr lang="zh-CN" altLang="en-US" sz="2000" b="1" dirty="0">
                <a:solidFill>
                  <a:srgbClr val="990000"/>
                </a:solidFill>
                <a:latin typeface="Courier New" pitchFamily="49" charset="0"/>
              </a:rPr>
              <a:t>的生命期即将结束 </a:t>
            </a:r>
          </a:p>
          <a:p>
            <a:pPr>
              <a:lnSpc>
                <a:spcPct val="85000"/>
              </a:lnSpc>
            </a:pPr>
            <a:endParaRPr lang="en-US" altLang="zh-CN" sz="2400" b="1" dirty="0">
              <a:solidFill>
                <a:srgbClr val="000000"/>
              </a:solidFill>
              <a:latin typeface="Courier New" pitchFamily="49" charset="0"/>
            </a:endParaRPr>
          </a:p>
          <a:p>
            <a:pPr>
              <a:lnSpc>
                <a:spcPct val="85000"/>
              </a:lnSpc>
            </a:pP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&amp; </a:t>
            </a:r>
            <a:r>
              <a:rPr lang="en-US" altLang="zh-CN" sz="2400" b="1" dirty="0" err="1">
                <a:solidFill>
                  <a:srgbClr val="000000"/>
                </a:solidFill>
                <a:latin typeface="Courier New" pitchFamily="49" charset="0"/>
              </a:rPr>
              <a:t>AddAssign</a:t>
            </a:r>
            <a:r>
              <a:rPr lang="en-US" altLang="zh-CN" sz="2400" b="1" dirty="0">
                <a:solidFill>
                  <a:srgbClr val="000000"/>
                </a:solidFill>
                <a:latin typeface="Courier New" pitchFamily="49" charset="0"/>
              </a:rPr>
              <a:t>(</a:t>
            </a:r>
            <a:r>
              <a:rPr lang="en-US" altLang="zh-CN" sz="2400" b="1" dirty="0" err="1">
                <a:solidFill>
                  <a:srgbClr val="0000FF"/>
                </a:solidFill>
                <a:latin typeface="Courier New" pitchFamily="49" charset="0"/>
              </a:rPr>
              <a:t>int</a:t>
            </a: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&amp;a,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b)</a:t>
            </a:r>
          </a:p>
          <a:p>
            <a:pPr>
              <a:lnSpc>
                <a:spcPct val="85000"/>
              </a:lnSpc>
            </a:pPr>
            <a:r>
              <a:rPr lang="en-US" altLang="zh-CN" sz="2400" b="1" dirty="0">
                <a:solidFill>
                  <a:srgbClr val="000000"/>
                </a:solidFill>
                <a:latin typeface="Courier New" pitchFamily="49" charset="0"/>
              </a:rPr>
              <a:t> {</a:t>
            </a:r>
          </a:p>
          <a:p>
            <a:pPr>
              <a:lnSpc>
                <a:spcPct val="85000"/>
              </a:lnSpc>
            </a:pPr>
            <a:r>
              <a:rPr lang="en-US" altLang="zh-CN" sz="2400" b="1" dirty="0">
                <a:solidFill>
                  <a:srgbClr val="000000"/>
                </a:solidFill>
                <a:latin typeface="Courier New" pitchFamily="49" charset="0"/>
              </a:rPr>
              <a:t>    a += b;		</a:t>
            </a:r>
            <a:r>
              <a:rPr lang="en-US" altLang="zh-CN" sz="2000" b="1" dirty="0">
                <a:solidFill>
                  <a:srgbClr val="990000"/>
                </a:solidFill>
                <a:latin typeface="Courier New" pitchFamily="49" charset="0"/>
              </a:rPr>
              <a:t>// </a:t>
            </a:r>
            <a:r>
              <a:rPr lang="zh-CN" altLang="en-US" sz="2000" b="1" dirty="0">
                <a:solidFill>
                  <a:srgbClr val="990000"/>
                </a:solidFill>
                <a:latin typeface="Courier New" pitchFamily="49" charset="0"/>
              </a:rPr>
              <a:t>修改了引用</a:t>
            </a:r>
            <a:r>
              <a:rPr lang="en-US" altLang="zh-CN" sz="2000" b="1" dirty="0">
                <a:solidFill>
                  <a:srgbClr val="990000"/>
                </a:solidFill>
                <a:latin typeface="Courier New" pitchFamily="49" charset="0"/>
              </a:rPr>
              <a:t>a</a:t>
            </a:r>
            <a:r>
              <a:rPr lang="zh-CN" altLang="en-US" sz="2000" b="1" dirty="0">
                <a:solidFill>
                  <a:srgbClr val="990000"/>
                </a:solidFill>
                <a:latin typeface="Courier New" pitchFamily="49" charset="0"/>
              </a:rPr>
              <a:t>所绑定的实参变量 </a:t>
            </a:r>
          </a:p>
          <a:p>
            <a:pPr>
              <a:lnSpc>
                <a:spcPct val="85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return</a:t>
            </a:r>
            <a:r>
              <a:rPr lang="en-US" altLang="zh-CN" sz="2400" b="1" dirty="0">
                <a:solidFill>
                  <a:srgbClr val="000000"/>
                </a:solidFill>
                <a:latin typeface="Courier New" pitchFamily="49" charset="0"/>
              </a:rPr>
              <a:t> a;	</a:t>
            </a:r>
            <a:r>
              <a:rPr lang="en-US" altLang="zh-CN" sz="2000" b="1" dirty="0">
                <a:solidFill>
                  <a:srgbClr val="990000"/>
                </a:solidFill>
                <a:latin typeface="Courier New" pitchFamily="49" charset="0"/>
              </a:rPr>
              <a:t>// </a:t>
            </a:r>
            <a:r>
              <a:rPr lang="zh-CN" altLang="en-US" sz="2000" b="1" dirty="0">
                <a:solidFill>
                  <a:srgbClr val="990000"/>
                </a:solidFill>
                <a:latin typeface="Courier New" pitchFamily="49" charset="0"/>
              </a:rPr>
              <a:t>引用返回</a:t>
            </a:r>
            <a:r>
              <a:rPr lang="en-US" altLang="zh-CN" sz="2000" b="1" dirty="0">
                <a:solidFill>
                  <a:srgbClr val="990000"/>
                </a:solidFill>
                <a:latin typeface="Courier New" pitchFamily="49" charset="0"/>
              </a:rPr>
              <a:t>a</a:t>
            </a:r>
            <a:r>
              <a:rPr lang="zh-CN" altLang="en-US" sz="2000" b="1" dirty="0">
                <a:solidFill>
                  <a:srgbClr val="990000"/>
                </a:solidFill>
                <a:latin typeface="Courier New" pitchFamily="49" charset="0"/>
              </a:rPr>
              <a:t>所绑定的实参变量 </a:t>
            </a:r>
            <a:endParaRPr lang="en-US" altLang="zh-CN" sz="2000" b="1" dirty="0">
              <a:solidFill>
                <a:srgbClr val="990000"/>
              </a:solidFill>
              <a:latin typeface="Courier New" pitchFamily="49" charset="0"/>
            </a:endParaRPr>
          </a:p>
          <a:p>
            <a:pPr>
              <a:lnSpc>
                <a:spcPct val="85000"/>
              </a:lnSpc>
            </a:pPr>
            <a:r>
              <a:rPr lang="en-US" altLang="zh-CN" sz="2400" b="1" dirty="0">
                <a:solidFill>
                  <a:srgbClr val="000000"/>
                </a:solidFill>
                <a:latin typeface="Courier New" pitchFamily="49" charset="0"/>
              </a:rPr>
              <a:t> }</a:t>
            </a:r>
          </a:p>
          <a:p>
            <a:pPr>
              <a:lnSpc>
                <a:spcPct val="150000"/>
              </a:lnSpc>
            </a:pPr>
            <a:r>
              <a:rPr lang="en-US" altLang="zh-CN" sz="2000" b="1" dirty="0">
                <a:solidFill>
                  <a:srgbClr val="C00000"/>
                </a:solidFill>
                <a:latin typeface="Courier New" pitchFamily="49" charset="0"/>
              </a:rPr>
              <a:t>// </a:t>
            </a:r>
            <a:r>
              <a:rPr lang="zh-CN" altLang="en-US" sz="2000" b="1" dirty="0">
                <a:solidFill>
                  <a:srgbClr val="C00000"/>
                </a:solidFill>
                <a:latin typeface="Courier New" pitchFamily="49" charset="0"/>
              </a:rPr>
              <a:t>注意：下面的函数设计有错（不能通过编译）</a:t>
            </a:r>
            <a:endParaRPr lang="en-US" altLang="zh-CN" sz="2000" b="1" dirty="0">
              <a:solidFill>
                <a:srgbClr val="C00000"/>
              </a:solidFill>
              <a:latin typeface="Courier New" pitchFamily="49" charset="0"/>
            </a:endParaRPr>
          </a:p>
          <a:p>
            <a:pPr>
              <a:lnSpc>
                <a:spcPct val="85000"/>
              </a:lnSpc>
            </a:pP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&amp; Add(</a:t>
            </a:r>
            <a:r>
              <a:rPr lang="en-US" altLang="zh-CN" sz="2400" b="1" dirty="0" err="1">
                <a:solidFill>
                  <a:srgbClr val="0000FF"/>
                </a:solidFill>
                <a:latin typeface="Courier New" pitchFamily="49" charset="0"/>
              </a:rPr>
              <a:t>int</a:t>
            </a: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a,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b)</a:t>
            </a:r>
          </a:p>
          <a:p>
            <a:pPr>
              <a:lnSpc>
                <a:spcPct val="85000"/>
              </a:lnSpc>
            </a:pPr>
            <a:r>
              <a:rPr lang="en-US" altLang="zh-CN" sz="2400" b="1" dirty="0">
                <a:solidFill>
                  <a:srgbClr val="000000"/>
                </a:solidFill>
                <a:latin typeface="Courier New" pitchFamily="49" charset="0"/>
              </a:rPr>
              <a:t> {</a:t>
            </a:r>
          </a:p>
          <a:p>
            <a:pPr>
              <a:lnSpc>
                <a:spcPct val="85000"/>
              </a:lnSpc>
            </a:pPr>
            <a:r>
              <a:rPr lang="en-US" altLang="zh-CN" sz="2400" b="1" dirty="0">
                <a:solidFill>
                  <a:srgbClr val="000000"/>
                </a:solidFill>
                <a:latin typeface="Courier New" pitchFamily="49" charset="0"/>
              </a:rPr>
              <a:t>    a += b;</a:t>
            </a:r>
            <a:endParaRPr lang="zh-CN" altLang="en-US" sz="2000" b="1" dirty="0">
              <a:solidFill>
                <a:srgbClr val="990000"/>
              </a:solidFill>
              <a:latin typeface="Courier New" pitchFamily="49" charset="0"/>
            </a:endParaRPr>
          </a:p>
          <a:p>
            <a:pPr>
              <a:lnSpc>
                <a:spcPct val="85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return</a:t>
            </a:r>
            <a:r>
              <a:rPr lang="en-US" altLang="zh-CN" sz="2400" b="1" dirty="0">
                <a:solidFill>
                  <a:srgbClr val="000000"/>
                </a:solidFill>
                <a:latin typeface="Courier New" pitchFamily="49" charset="0"/>
              </a:rPr>
              <a:t> a;		</a:t>
            </a:r>
            <a:r>
              <a:rPr lang="en-US" altLang="zh-CN" sz="2000" b="1" dirty="0">
                <a:solidFill>
                  <a:srgbClr val="990000"/>
                </a:solidFill>
                <a:latin typeface="Courier New" pitchFamily="49" charset="0"/>
              </a:rPr>
              <a:t>// </a:t>
            </a:r>
            <a:r>
              <a:rPr lang="zh-CN" altLang="en-US" sz="2000" b="1" dirty="0">
                <a:solidFill>
                  <a:srgbClr val="990000"/>
                </a:solidFill>
                <a:latin typeface="Courier New" pitchFamily="49" charset="0"/>
              </a:rPr>
              <a:t>变量</a:t>
            </a:r>
            <a:r>
              <a:rPr lang="en-US" altLang="zh-CN" sz="2000" b="1" dirty="0">
                <a:solidFill>
                  <a:srgbClr val="990000"/>
                </a:solidFill>
                <a:latin typeface="Courier New" pitchFamily="49" charset="0"/>
              </a:rPr>
              <a:t>a</a:t>
            </a:r>
            <a:r>
              <a:rPr lang="zh-CN" altLang="en-US" sz="2000" b="1" dirty="0">
                <a:solidFill>
                  <a:srgbClr val="990000"/>
                </a:solidFill>
                <a:latin typeface="Courier New" pitchFamily="49" charset="0"/>
              </a:rPr>
              <a:t>的生命期即将结束，不能被引用 </a:t>
            </a:r>
          </a:p>
          <a:p>
            <a:pPr>
              <a:lnSpc>
                <a:spcPct val="85000"/>
              </a:lnSpc>
            </a:pPr>
            <a:r>
              <a:rPr lang="en-US" altLang="zh-CN" sz="2400" b="1" dirty="0">
                <a:solidFill>
                  <a:srgbClr val="000000"/>
                </a:solidFill>
                <a:latin typeface="Courier New" pitchFamily="49" charset="0"/>
              </a:rPr>
              <a:t> }</a:t>
            </a:r>
            <a:r>
              <a:rPr lang="en-US" altLang="zh-CN" sz="2000" b="1" dirty="0">
                <a:solidFill>
                  <a:srgbClr val="990000"/>
                </a:solidFill>
                <a:latin typeface="Courier New" pitchFamily="49" charset="0"/>
              </a:rPr>
              <a:t> </a:t>
            </a:r>
            <a:r>
              <a:rPr lang="en-US" altLang="zh-CN" sz="2400" b="1" dirty="0">
                <a:solidFill>
                  <a:srgbClr val="000000"/>
                </a:solidFill>
                <a:latin typeface="Courier New" pitchFamily="49" charset="0"/>
              </a:rPr>
              <a:t>	</a:t>
            </a:r>
            <a:r>
              <a:rPr lang="en-US" altLang="zh-CN" sz="2000" b="1" dirty="0">
                <a:solidFill>
                  <a:srgbClr val="990000"/>
                </a:solidFill>
                <a:latin typeface="Courier New" pitchFamily="49" charset="0"/>
              </a:rPr>
              <a:t>	// </a:t>
            </a:r>
            <a:r>
              <a:rPr lang="zh-CN" altLang="en-US" sz="2000" b="1" dirty="0">
                <a:solidFill>
                  <a:srgbClr val="990000"/>
                </a:solidFill>
                <a:latin typeface="Courier New" pitchFamily="49" charset="0"/>
              </a:rPr>
              <a:t>不能引用返回值传递的形参，也不能返回局部自动变量</a:t>
            </a:r>
            <a:endParaRPr lang="en-US" altLang="zh-CN" sz="2000" b="1" dirty="0">
              <a:solidFill>
                <a:srgbClr val="990000"/>
              </a:solidFill>
              <a:latin typeface="Courier New" pitchFamily="49" charset="0"/>
            </a:endParaRPr>
          </a:p>
        </p:txBody>
      </p:sp>
    </p:spTree>
    <p:extLst>
      <p:ext uri="{BB962C8B-B14F-4D97-AF65-F5344CB8AC3E}">
        <p14:creationId xmlns:p14="http://schemas.microsoft.com/office/powerpoint/2010/main" val="340510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7347">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34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3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3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3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3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34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34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34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34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347">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7347">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347">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347">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347">
                                            <p:txEl>
                                              <p:pRg st="14" end="1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347">
                                            <p:txEl>
                                              <p:pRg st="15" end="1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734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dirty="0"/>
              <a:t>函数返回值优化 </a:t>
            </a:r>
          </a:p>
        </p:txBody>
      </p:sp>
      <p:sp>
        <p:nvSpPr>
          <p:cNvPr id="274435" name="Rectangle 3"/>
          <p:cNvSpPr>
            <a:spLocks noGrp="1" noChangeArrowheads="1"/>
          </p:cNvSpPr>
          <p:nvPr>
            <p:ph type="body" idx="1"/>
          </p:nvPr>
        </p:nvSpPr>
        <p:spPr/>
        <p:txBody>
          <a:bodyPr/>
          <a:lstStyle/>
          <a:p>
            <a:pPr eaLnBrk="1" hangingPunct="1">
              <a:spcBef>
                <a:spcPts val="0"/>
              </a:spcBef>
              <a:defRPr/>
            </a:pPr>
            <a:r>
              <a:rPr lang="zh-CN" altLang="en-US" dirty="0"/>
              <a:t> 编译器关于值返回优化 ── </a:t>
            </a:r>
            <a:r>
              <a:rPr lang="en-US" altLang="zh-CN" dirty="0"/>
              <a:t>RVO</a:t>
            </a:r>
            <a:br>
              <a:rPr lang="en-US" altLang="zh-CN" dirty="0"/>
            </a:br>
            <a:r>
              <a:rPr lang="zh-CN" altLang="en-US" dirty="0"/>
              <a:t>（</a:t>
            </a:r>
            <a:r>
              <a:rPr lang="en-US" altLang="zh-CN" dirty="0"/>
              <a:t>Return Value Optimization</a:t>
            </a:r>
            <a:r>
              <a:rPr lang="zh-CN" altLang="en-US" dirty="0"/>
              <a:t>）</a:t>
            </a:r>
            <a:endParaRPr lang="en-US" altLang="zh-CN" dirty="0"/>
          </a:p>
          <a:p>
            <a:pPr eaLnBrk="1" hangingPunct="1">
              <a:spcBef>
                <a:spcPts val="0"/>
              </a:spcBef>
              <a:defRPr/>
            </a:pPr>
            <a:endParaRPr lang="en-US" altLang="zh-CN" dirty="0"/>
          </a:p>
          <a:p>
            <a:pPr eaLnBrk="1" hangingPunct="1">
              <a:spcBef>
                <a:spcPts val="0"/>
              </a:spcBef>
              <a:defRPr/>
            </a:pPr>
            <a:r>
              <a:rPr lang="en-US" altLang="zh-CN" dirty="0"/>
              <a:t> </a:t>
            </a:r>
            <a:r>
              <a:rPr lang="zh-CN" altLang="en-US" dirty="0"/>
              <a:t>值返回的函数调用，将创建一个临时的无名变量（该变量用调用表达式表示）。</a:t>
            </a:r>
            <a:endParaRPr lang="en-US" altLang="zh-CN" dirty="0"/>
          </a:p>
          <a:p>
            <a:pPr eaLnBrk="1" hangingPunct="1">
              <a:spcBef>
                <a:spcPts val="0"/>
              </a:spcBef>
              <a:defRPr/>
            </a:pPr>
            <a:r>
              <a:rPr lang="en-US" altLang="zh-CN" dirty="0"/>
              <a:t> </a:t>
            </a:r>
            <a:r>
              <a:rPr lang="zh-CN" altLang="en-US" dirty="0"/>
              <a:t>例如 </a:t>
            </a:r>
            <a:r>
              <a:rPr lang="en-US" altLang="zh-CN" dirty="0" err="1"/>
              <a:t>sqrt</a:t>
            </a:r>
            <a:r>
              <a:rPr lang="en-US" altLang="zh-CN" dirty="0"/>
              <a:t>(2.0) </a:t>
            </a:r>
            <a:r>
              <a:rPr lang="zh-CN" altLang="en-US" dirty="0"/>
              <a:t>表达式本身表示一个无名变量</a:t>
            </a:r>
            <a:endParaRPr lang="en-US" altLang="zh-CN" dirty="0"/>
          </a:p>
          <a:p>
            <a:pPr lvl="1" eaLnBrk="1" hangingPunct="1">
              <a:spcBef>
                <a:spcPts val="0"/>
              </a:spcBef>
              <a:defRPr/>
            </a:pPr>
            <a:r>
              <a:rPr lang="zh-CN" altLang="en-US" dirty="0">
                <a:solidFill>
                  <a:schemeClr val="tx2"/>
                </a:solidFill>
              </a:rPr>
              <a:t>类型 </a:t>
            </a:r>
            <a:r>
              <a:rPr lang="en-US" altLang="zh-CN" dirty="0">
                <a:solidFill>
                  <a:srgbClr val="0000FF"/>
                </a:solidFill>
              </a:rPr>
              <a:t>double</a:t>
            </a:r>
          </a:p>
          <a:p>
            <a:pPr lvl="1" eaLnBrk="1" hangingPunct="1">
              <a:spcBef>
                <a:spcPts val="0"/>
              </a:spcBef>
              <a:defRPr/>
            </a:pPr>
            <a:r>
              <a:rPr lang="zh-CN" altLang="en-US" dirty="0">
                <a:solidFill>
                  <a:schemeClr val="tx2"/>
                </a:solidFill>
              </a:rPr>
              <a:t>  值 </a:t>
            </a:r>
            <a:r>
              <a:rPr lang="en-US" altLang="zh-CN" dirty="0">
                <a:solidFill>
                  <a:schemeClr val="tx2"/>
                </a:solidFill>
              </a:rPr>
              <a:t>1.414</a:t>
            </a:r>
          </a:p>
          <a:p>
            <a:pPr marL="625475" indent="-625475" eaLnBrk="1" hangingPunct="1">
              <a:spcBef>
                <a:spcPts val="0"/>
              </a:spcBef>
              <a:defRPr/>
            </a:pPr>
            <a:r>
              <a:rPr lang="zh-CN" altLang="en-US" dirty="0"/>
              <a:t>然而，编译器默认返回值优化，即可能不创建</a:t>
            </a:r>
            <a:r>
              <a:rPr lang="en-US" altLang="zh-CN" dirty="0"/>
              <a:t/>
            </a:r>
            <a:br>
              <a:rPr lang="en-US" altLang="zh-CN" dirty="0"/>
            </a:br>
            <a:r>
              <a:rPr lang="zh-CN" altLang="en-US" dirty="0"/>
              <a:t>（也可能创建）该临时无名变量。</a:t>
            </a:r>
            <a:endParaRPr lang="en-US" altLang="zh-CN" dirty="0"/>
          </a:p>
          <a:p>
            <a:pPr marL="625475" indent="-625475" eaLnBrk="1" hangingPunct="1">
              <a:spcBef>
                <a:spcPts val="0"/>
              </a:spcBef>
              <a:defRPr/>
            </a:pPr>
            <a:r>
              <a:rPr lang="zh-CN" altLang="en-US" dirty="0"/>
              <a:t>若要求编译系统不使用返回值优化，应添加编译</a:t>
            </a:r>
            <a:r>
              <a:rPr lang="en-US" altLang="zh-CN" dirty="0"/>
              <a:t/>
            </a:r>
            <a:br>
              <a:rPr lang="en-US" altLang="zh-CN" dirty="0"/>
            </a:br>
            <a:r>
              <a:rPr lang="zh-CN" altLang="en-US" dirty="0"/>
              <a:t>选项 </a:t>
            </a:r>
            <a:r>
              <a:rPr lang="en-US" altLang="zh-CN" dirty="0"/>
              <a:t>-</a:t>
            </a:r>
            <a:r>
              <a:rPr lang="en-US" altLang="zh-CN" dirty="0" err="1"/>
              <a:t>fno</a:t>
            </a:r>
            <a:r>
              <a:rPr lang="en-US" altLang="zh-CN" dirty="0"/>
              <a:t>-elide-constructors</a:t>
            </a:r>
            <a:endParaRPr lang="zh-CN" altLang="en-US" dirty="0"/>
          </a:p>
        </p:txBody>
      </p:sp>
    </p:spTree>
    <p:extLst>
      <p:ext uri="{BB962C8B-B14F-4D97-AF65-F5344CB8AC3E}">
        <p14:creationId xmlns:p14="http://schemas.microsoft.com/office/powerpoint/2010/main" val="68138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4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4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44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443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443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443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4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cstate="print"/>
          <a:srcRect/>
          <a:stretch>
            <a:fillRect/>
          </a:stretch>
        </p:blipFill>
        <p:spPr bwMode="auto">
          <a:xfrm>
            <a:off x="3352800" y="-9525"/>
            <a:ext cx="5791200" cy="6867525"/>
          </a:xfrm>
          <a:prstGeom prst="rect">
            <a:avLst/>
          </a:prstGeom>
          <a:noFill/>
          <a:ln w="9525">
            <a:noFill/>
            <a:miter lim="800000"/>
            <a:headEnd/>
            <a:tailEnd/>
          </a:ln>
        </p:spPr>
      </p:pic>
      <p:sp>
        <p:nvSpPr>
          <p:cNvPr id="24579" name="内容占位符 2"/>
          <p:cNvSpPr>
            <a:spLocks noGrp="1"/>
          </p:cNvSpPr>
          <p:nvPr>
            <p:ph idx="1"/>
          </p:nvPr>
        </p:nvSpPr>
        <p:spPr>
          <a:xfrm>
            <a:off x="228600" y="685800"/>
            <a:ext cx="4495800" cy="5334000"/>
          </a:xfrm>
        </p:spPr>
        <p:txBody>
          <a:bodyPr/>
          <a:lstStyle/>
          <a:p>
            <a:pPr>
              <a:buNone/>
            </a:pPr>
            <a:r>
              <a:rPr lang="en-US" altLang="zh-CN" sz="2000" dirty="0" err="1">
                <a:latin typeface="Times New Roman" pitchFamily="18" charset="0"/>
                <a:cs typeface="Times New Roman" pitchFamily="18" charset="0"/>
              </a:rPr>
              <a:t>MinGW</a:t>
            </a:r>
            <a:r>
              <a:rPr lang="en-US" altLang="zh-CN" sz="2000" dirty="0">
                <a:latin typeface="Times New Roman" pitchFamily="18" charset="0"/>
                <a:cs typeface="Times New Roman" pitchFamily="18" charset="0"/>
              </a:rPr>
              <a:t> Developer Studio</a:t>
            </a:r>
          </a:p>
          <a:p>
            <a:pPr>
              <a:buFont typeface="Wingdings" pitchFamily="2" charset="2"/>
              <a:buChar char="l"/>
            </a:pPr>
            <a:r>
              <a:rPr lang="en-US" altLang="zh-CN" sz="2000" dirty="0">
                <a:latin typeface="Times New Roman" pitchFamily="18" charset="0"/>
                <a:cs typeface="Times New Roman" pitchFamily="18" charset="0"/>
              </a:rPr>
              <a:t>Project</a:t>
            </a:r>
          </a:p>
          <a:p>
            <a:pPr>
              <a:buFont typeface="Wingdings" pitchFamily="2" charset="2"/>
              <a:buChar char="l"/>
            </a:pPr>
            <a:r>
              <a:rPr lang="en-US" altLang="zh-CN" sz="2000" dirty="0">
                <a:latin typeface="Times New Roman" pitchFamily="18" charset="0"/>
                <a:cs typeface="Times New Roman" pitchFamily="18" charset="0"/>
              </a:rPr>
              <a:t>Settings…</a:t>
            </a:r>
          </a:p>
          <a:p>
            <a:pPr>
              <a:buFont typeface="Wingdings" pitchFamily="2" charset="2"/>
              <a:buChar char="l"/>
            </a:pPr>
            <a:r>
              <a:rPr lang="en-US" altLang="zh-CN" sz="2000" dirty="0">
                <a:latin typeface="Times New Roman" pitchFamily="18" charset="0"/>
                <a:cs typeface="Times New Roman" pitchFamily="18" charset="0"/>
              </a:rPr>
              <a:t>Compile</a:t>
            </a:r>
          </a:p>
          <a:p>
            <a:pPr>
              <a:buFont typeface="Wingdings" pitchFamily="2" charset="2"/>
              <a:buChar char="l"/>
            </a:pPr>
            <a:r>
              <a:rPr lang="en-US" altLang="zh-CN" sz="2000" dirty="0">
                <a:latin typeface="Times New Roman" pitchFamily="18" charset="0"/>
                <a:cs typeface="Times New Roman" pitchFamily="18" charset="0"/>
              </a:rPr>
              <a:t>Extra Compiling options</a:t>
            </a:r>
          </a:p>
          <a:p>
            <a:pPr>
              <a:buFont typeface="Wingdings" pitchFamily="2" charset="2"/>
              <a:buChar char="l"/>
            </a:pPr>
            <a:r>
              <a:rPr lang="zh-CN" altLang="en-US" sz="2000" dirty="0">
                <a:latin typeface="Times New Roman" pitchFamily="18" charset="0"/>
                <a:cs typeface="Times New Roman" pitchFamily="18" charset="0"/>
              </a:rPr>
              <a:t>输入</a:t>
            </a:r>
            <a:r>
              <a:rPr lang="en-US" altLang="zh-CN" sz="2000" dirty="0">
                <a:latin typeface="Times New Roman" pitchFamily="18" charset="0"/>
                <a:cs typeface="Times New Roman" pitchFamily="18" charset="0"/>
              </a:rPr>
              <a:t/>
            </a:r>
            <a:br>
              <a:rPr lang="en-US" altLang="zh-CN" sz="2000" dirty="0">
                <a:latin typeface="Times New Roman" pitchFamily="18" charset="0"/>
                <a:cs typeface="Times New Roman" pitchFamily="18" charset="0"/>
              </a:rPr>
            </a:br>
            <a:r>
              <a:rPr lang="en-US" altLang="zh-CN" sz="2000" dirty="0">
                <a:latin typeface="Times New Roman" pitchFamily="18" charset="0"/>
                <a:cs typeface="Times New Roman" pitchFamily="18" charset="0"/>
              </a:rPr>
              <a:t> -</a:t>
            </a:r>
            <a:r>
              <a:rPr lang="en-US" altLang="zh-CN" sz="2000" dirty="0" err="1">
                <a:latin typeface="Times New Roman" pitchFamily="18" charset="0"/>
                <a:cs typeface="Times New Roman" pitchFamily="18" charset="0"/>
              </a:rPr>
              <a:t>fno</a:t>
            </a:r>
            <a:r>
              <a:rPr lang="en-US" altLang="zh-CN" sz="2000" dirty="0">
                <a:latin typeface="Times New Roman" pitchFamily="18" charset="0"/>
                <a:cs typeface="Times New Roman" pitchFamily="18" charset="0"/>
              </a:rPr>
              <a:t>-elide-constructors</a:t>
            </a:r>
            <a:endParaRPr lang="zh-CN" altLang="en-US" sz="2000" dirty="0">
              <a:latin typeface="Times New Roman" pitchFamily="18" charset="0"/>
              <a:cs typeface="Times New Roman" pitchFamily="18" charset="0"/>
            </a:endParaRPr>
          </a:p>
        </p:txBody>
      </p:sp>
      <p:sp>
        <p:nvSpPr>
          <p:cNvPr id="5" name="椭圆 4"/>
          <p:cNvSpPr/>
          <p:nvPr/>
        </p:nvSpPr>
        <p:spPr>
          <a:xfrm>
            <a:off x="2971800" y="4830763"/>
            <a:ext cx="2819400" cy="533400"/>
          </a:xfrm>
          <a:prstGeom prst="ellipse">
            <a:avLst/>
          </a:prstGeom>
          <a:no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椭圆 5"/>
          <p:cNvSpPr/>
          <p:nvPr/>
        </p:nvSpPr>
        <p:spPr>
          <a:xfrm>
            <a:off x="3200400" y="0"/>
            <a:ext cx="1600200" cy="381000"/>
          </a:xfrm>
          <a:prstGeom prst="ellipse">
            <a:avLst/>
          </a:prstGeom>
          <a:no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p:cNvSpPr/>
          <p:nvPr/>
        </p:nvSpPr>
        <p:spPr>
          <a:xfrm>
            <a:off x="4038600" y="762000"/>
            <a:ext cx="762000" cy="533400"/>
          </a:xfrm>
          <a:prstGeom prst="ellipse">
            <a:avLst/>
          </a:prstGeom>
          <a:no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22917584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6610" name="Picture 2"/>
          <p:cNvPicPr>
            <a:picLocks noChangeAspect="1" noChangeArrowheads="1"/>
          </p:cNvPicPr>
          <p:nvPr/>
        </p:nvPicPr>
        <p:blipFill>
          <a:blip r:embed="rId2" cstate="print"/>
          <a:srcRect/>
          <a:stretch>
            <a:fillRect/>
          </a:stretch>
        </p:blipFill>
        <p:spPr bwMode="auto">
          <a:xfrm>
            <a:off x="419053" y="2209800"/>
            <a:ext cx="8505873" cy="4495800"/>
          </a:xfrm>
          <a:prstGeom prst="rect">
            <a:avLst/>
          </a:prstGeom>
          <a:noFill/>
          <a:ln w="9525">
            <a:noFill/>
            <a:miter lim="800000"/>
            <a:headEnd/>
            <a:tailEnd/>
          </a:ln>
        </p:spPr>
      </p:pic>
      <p:sp>
        <p:nvSpPr>
          <p:cNvPr id="24579" name="内容占位符 2"/>
          <p:cNvSpPr>
            <a:spLocks noGrp="1"/>
          </p:cNvSpPr>
          <p:nvPr>
            <p:ph idx="1"/>
          </p:nvPr>
        </p:nvSpPr>
        <p:spPr>
          <a:xfrm>
            <a:off x="228600" y="304800"/>
            <a:ext cx="4495800" cy="5334000"/>
          </a:xfrm>
        </p:spPr>
        <p:txBody>
          <a:bodyPr/>
          <a:lstStyle/>
          <a:p>
            <a:pPr>
              <a:buNone/>
            </a:pPr>
            <a:r>
              <a:rPr lang="en-US" altLang="zh-CN" sz="2000" dirty="0">
                <a:latin typeface="Times New Roman" pitchFamily="18" charset="0"/>
                <a:cs typeface="Times New Roman" pitchFamily="18" charset="0"/>
              </a:rPr>
              <a:t>Code::Blocks</a:t>
            </a:r>
          </a:p>
          <a:p>
            <a:pPr>
              <a:buFont typeface="Wingdings" pitchFamily="2" charset="2"/>
              <a:buChar char="l"/>
            </a:pPr>
            <a:r>
              <a:rPr lang="en-US" altLang="zh-CN" sz="2000" dirty="0">
                <a:latin typeface="Times New Roman" pitchFamily="18" charset="0"/>
                <a:cs typeface="Times New Roman" pitchFamily="18" charset="0"/>
              </a:rPr>
              <a:t>Project</a:t>
            </a:r>
          </a:p>
          <a:p>
            <a:pPr>
              <a:buFont typeface="Wingdings" pitchFamily="2" charset="2"/>
              <a:buChar char="l"/>
            </a:pPr>
            <a:r>
              <a:rPr lang="en-US" altLang="zh-CN" sz="2000" dirty="0">
                <a:latin typeface="Times New Roman" pitchFamily="18" charset="0"/>
                <a:cs typeface="Times New Roman" pitchFamily="18" charset="0"/>
              </a:rPr>
              <a:t>Build options...</a:t>
            </a:r>
          </a:p>
          <a:p>
            <a:pPr>
              <a:buFont typeface="Wingdings" pitchFamily="2" charset="2"/>
              <a:buChar char="l"/>
            </a:pPr>
            <a:r>
              <a:rPr lang="en-US" altLang="zh-CN" sz="2000" dirty="0">
                <a:latin typeface="Times New Roman" pitchFamily="18" charset="0"/>
                <a:cs typeface="Times New Roman" pitchFamily="18" charset="0"/>
              </a:rPr>
              <a:t>Other compiler options</a:t>
            </a:r>
          </a:p>
          <a:p>
            <a:pPr>
              <a:buFont typeface="Wingdings" pitchFamily="2" charset="2"/>
              <a:buChar char="l"/>
            </a:pPr>
            <a:r>
              <a:rPr lang="zh-CN" altLang="en-US" sz="2000" dirty="0">
                <a:latin typeface="Times New Roman" pitchFamily="18" charset="0"/>
                <a:cs typeface="Times New Roman" pitchFamily="18" charset="0"/>
              </a:rPr>
              <a:t>输入</a:t>
            </a:r>
            <a:r>
              <a:rPr lang="en-US" altLang="zh-CN" sz="2000" dirty="0">
                <a:latin typeface="Times New Roman" pitchFamily="18" charset="0"/>
                <a:cs typeface="Times New Roman" pitchFamily="18" charset="0"/>
              </a:rPr>
              <a:t> -</a:t>
            </a:r>
            <a:r>
              <a:rPr lang="en-US" altLang="zh-CN" sz="2000" dirty="0" err="1">
                <a:latin typeface="Times New Roman" pitchFamily="18" charset="0"/>
                <a:cs typeface="Times New Roman" pitchFamily="18" charset="0"/>
              </a:rPr>
              <a:t>fno</a:t>
            </a:r>
            <a:r>
              <a:rPr lang="en-US" altLang="zh-CN" sz="2000" dirty="0">
                <a:latin typeface="Times New Roman" pitchFamily="18" charset="0"/>
                <a:cs typeface="Times New Roman" pitchFamily="18" charset="0"/>
              </a:rPr>
              <a:t>-elide-constructors</a:t>
            </a:r>
            <a:endParaRPr lang="zh-CN" altLang="en-US" sz="2000" dirty="0">
              <a:latin typeface="Times New Roman" pitchFamily="18" charset="0"/>
              <a:cs typeface="Times New Roman" pitchFamily="18" charset="0"/>
            </a:endParaRPr>
          </a:p>
        </p:txBody>
      </p:sp>
      <p:sp>
        <p:nvSpPr>
          <p:cNvPr id="5" name="椭圆 4"/>
          <p:cNvSpPr/>
          <p:nvPr/>
        </p:nvSpPr>
        <p:spPr>
          <a:xfrm>
            <a:off x="1600200" y="4449763"/>
            <a:ext cx="2667000" cy="350837"/>
          </a:xfrm>
          <a:prstGeom prst="ellipse">
            <a:avLst/>
          </a:prstGeom>
          <a:no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椭圆 5"/>
          <p:cNvSpPr/>
          <p:nvPr/>
        </p:nvSpPr>
        <p:spPr>
          <a:xfrm>
            <a:off x="381000" y="2209800"/>
            <a:ext cx="1600200" cy="381000"/>
          </a:xfrm>
          <a:prstGeom prst="ellipse">
            <a:avLst/>
          </a:prstGeom>
          <a:no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p:cNvSpPr/>
          <p:nvPr/>
        </p:nvSpPr>
        <p:spPr>
          <a:xfrm>
            <a:off x="3032760" y="4053840"/>
            <a:ext cx="1767840" cy="381000"/>
          </a:xfrm>
          <a:prstGeom prst="ellipse">
            <a:avLst/>
          </a:prstGeom>
          <a:no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7923030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eaLnBrk="1" hangingPunct="1"/>
            <a:r>
              <a:rPr lang="zh-CN" altLang="en-US"/>
              <a:t>特别强调 </a:t>
            </a:r>
          </a:p>
        </p:txBody>
      </p:sp>
      <p:sp>
        <p:nvSpPr>
          <p:cNvPr id="19459" name="内容占位符 2"/>
          <p:cNvSpPr>
            <a:spLocks noGrp="1"/>
          </p:cNvSpPr>
          <p:nvPr>
            <p:ph idx="1"/>
          </p:nvPr>
        </p:nvSpPr>
        <p:spPr>
          <a:xfrm>
            <a:off x="381000" y="1447800"/>
            <a:ext cx="8610600" cy="5181600"/>
          </a:xfrm>
        </p:spPr>
        <p:txBody>
          <a:bodyPr/>
          <a:lstStyle/>
          <a:p>
            <a:pPr eaLnBrk="1" hangingPunct="1"/>
            <a:r>
              <a:rPr lang="en-US" altLang="zh-CN" sz="2400" dirty="0"/>
              <a:t> </a:t>
            </a:r>
            <a:r>
              <a:rPr lang="en-US" altLang="zh-CN" dirty="0">
                <a:solidFill>
                  <a:srgbClr val="0000FF"/>
                </a:solidFill>
              </a:rPr>
              <a:t>C/C++</a:t>
            </a:r>
            <a:r>
              <a:rPr lang="zh-CN" altLang="en-US" dirty="0">
                <a:solidFill>
                  <a:srgbClr val="0000FF"/>
                </a:solidFill>
              </a:rPr>
              <a:t>要求“一处定义、多处声明”</a:t>
            </a:r>
            <a:endParaRPr lang="en-US" altLang="zh-CN" dirty="0">
              <a:solidFill>
                <a:srgbClr val="0000FF"/>
              </a:solidFill>
            </a:endParaRPr>
          </a:p>
          <a:p>
            <a:pPr marL="541338" indent="-541338" eaLnBrk="1" hangingPunct="1"/>
            <a:r>
              <a:rPr lang="zh-CN" altLang="en-US" sz="2400" dirty="0"/>
              <a:t>“定义”</a:t>
            </a:r>
            <a:r>
              <a:rPr lang="en-US" altLang="zh-CN" sz="2400" dirty="0"/>
              <a:t>——— </a:t>
            </a:r>
            <a:r>
              <a:rPr lang="zh-CN" altLang="en-US" sz="2400" dirty="0"/>
              <a:t>程序执行时分配相应的内存单元，应该写在源程序文件中，而不要写在头文件中 </a:t>
            </a:r>
            <a:endParaRPr lang="en-US" altLang="zh-CN" sz="2400" dirty="0"/>
          </a:p>
          <a:p>
            <a:pPr lvl="1" eaLnBrk="1" hangingPunct="1"/>
            <a:r>
              <a:rPr lang="zh-CN" altLang="en-US" sz="2000" dirty="0"/>
              <a:t>定义变量意味着位该变量分配内存单元 </a:t>
            </a:r>
            <a:endParaRPr lang="en-US" altLang="zh-CN" sz="2000" dirty="0"/>
          </a:p>
          <a:p>
            <a:pPr lvl="2" eaLnBrk="1" hangingPunct="1"/>
            <a:r>
              <a:rPr lang="zh-CN" altLang="en-US" sz="2000" dirty="0"/>
              <a:t>定义变量、定义数组、创建对象、创建对象数组 </a:t>
            </a:r>
            <a:endParaRPr lang="en-US" altLang="zh-CN" sz="2000" dirty="0"/>
          </a:p>
          <a:p>
            <a:pPr lvl="1" eaLnBrk="1" hangingPunct="1"/>
            <a:r>
              <a:rPr lang="zh-CN" altLang="en-US" sz="2000" dirty="0"/>
              <a:t>函数定义：程序执行时，函数代码存放在内存中</a:t>
            </a:r>
            <a:r>
              <a:rPr lang="en-US" altLang="zh-CN" sz="2000" dirty="0"/>
              <a:t/>
            </a:r>
            <a:br>
              <a:rPr lang="en-US" altLang="zh-CN" sz="2000" dirty="0"/>
            </a:br>
            <a:r>
              <a:rPr lang="zh-CN" altLang="en-US" sz="2000" dirty="0"/>
              <a:t>（冯</a:t>
            </a:r>
            <a:r>
              <a:rPr lang="en-US" altLang="zh-CN" sz="2000" dirty="0"/>
              <a:t>·</a:t>
            </a:r>
            <a:r>
              <a:rPr lang="zh-CN" altLang="en-US" sz="2000" dirty="0"/>
              <a:t>诺依曼“存储程序原理”） </a:t>
            </a:r>
            <a:endParaRPr lang="en-US" altLang="zh-CN" sz="2000" dirty="0"/>
          </a:p>
          <a:p>
            <a:pPr eaLnBrk="1" hangingPunct="1"/>
            <a:r>
              <a:rPr lang="zh-CN" altLang="en-US" sz="2400" dirty="0"/>
              <a:t>“声明”、“描述”</a:t>
            </a:r>
            <a:r>
              <a:rPr lang="en-US" altLang="zh-CN" sz="2400" dirty="0"/>
              <a:t>——— </a:t>
            </a:r>
            <a:r>
              <a:rPr lang="zh-CN" altLang="en-US" sz="2400" dirty="0"/>
              <a:t>不涉及内存分配，常写在头文件中 </a:t>
            </a:r>
            <a:endParaRPr lang="en-US" altLang="zh-CN" sz="2400" dirty="0"/>
          </a:p>
          <a:p>
            <a:pPr lvl="1" eaLnBrk="1" hangingPunct="1"/>
            <a:r>
              <a:rPr lang="zh-CN" altLang="en-US" sz="2000" dirty="0"/>
              <a:t>外部参照型</a:t>
            </a:r>
            <a:r>
              <a:rPr lang="en-US" altLang="zh-CN" sz="2000" dirty="0"/>
              <a:t>(extern)</a:t>
            </a:r>
            <a:r>
              <a:rPr lang="zh-CN" altLang="en-US" sz="2000" dirty="0"/>
              <a:t>变量“声明” </a:t>
            </a:r>
            <a:endParaRPr lang="en-US" altLang="zh-CN" sz="2000" dirty="0"/>
          </a:p>
          <a:p>
            <a:pPr lvl="1" eaLnBrk="1" hangingPunct="1"/>
            <a:r>
              <a:rPr lang="zh-CN" altLang="en-US" sz="2000" dirty="0"/>
              <a:t>引用“声明” </a:t>
            </a:r>
            <a:endParaRPr lang="en-US" altLang="zh-CN" sz="2000" dirty="0"/>
          </a:p>
          <a:p>
            <a:pPr lvl="1" eaLnBrk="1" hangingPunct="1"/>
            <a:r>
              <a:rPr lang="zh-CN" altLang="en-US" sz="2000" dirty="0"/>
              <a:t>函数原型“声明” </a:t>
            </a:r>
            <a:endParaRPr lang="en-US" altLang="zh-CN" sz="2000" dirty="0"/>
          </a:p>
          <a:p>
            <a:pPr lvl="1" eaLnBrk="1" hangingPunct="1"/>
            <a:r>
              <a:rPr lang="zh-CN" altLang="en-US" sz="2000" dirty="0"/>
              <a:t>结构体数据组织形式“描述” </a:t>
            </a:r>
            <a:endParaRPr lang="en-US" altLang="zh-CN" sz="2000" dirty="0"/>
          </a:p>
          <a:p>
            <a:pPr lvl="1" eaLnBrk="1" hangingPunct="1"/>
            <a:r>
              <a:rPr lang="zh-CN" altLang="en-US" sz="2000" dirty="0"/>
              <a:t>函数模板、类模板“描述” </a:t>
            </a:r>
          </a:p>
        </p:txBody>
      </p:sp>
      <p:sp>
        <p:nvSpPr>
          <p:cNvPr id="4" name="AutoShape 103"/>
          <p:cNvSpPr>
            <a:spLocks noChangeArrowheads="1"/>
          </p:cNvSpPr>
          <p:nvPr/>
        </p:nvSpPr>
        <p:spPr bwMode="auto">
          <a:xfrm>
            <a:off x="3256059" y="146051"/>
            <a:ext cx="5715000" cy="1066800"/>
          </a:xfrm>
          <a:prstGeom prst="roundRect">
            <a:avLst>
              <a:gd name="adj" fmla="val 16667"/>
            </a:avLst>
          </a:prstGeom>
          <a:gradFill>
            <a:gsLst>
              <a:gs pos="0">
                <a:srgbClr val="000000"/>
              </a:gs>
              <a:gs pos="39999">
                <a:srgbClr val="0A128C"/>
              </a:gs>
              <a:gs pos="70000">
                <a:srgbClr val="181CC7"/>
              </a:gs>
              <a:gs pos="88000">
                <a:srgbClr val="7005D4"/>
              </a:gs>
              <a:gs pos="100000">
                <a:srgbClr val="8C3D91"/>
              </a:gs>
            </a:gsLst>
            <a:lin ang="16200000" scaled="0"/>
          </a:gradFill>
          <a:ln w="25400" algn="ctr">
            <a:solidFill>
              <a:srgbClr val="FFFFFF"/>
            </a:solidFill>
            <a:round/>
            <a:headEnd/>
            <a:tailEnd/>
          </a:ln>
          <a:effectLst>
            <a:outerShdw dist="107763" dir="2700000" algn="ctr" rotWithShape="0">
              <a:srgbClr val="000000">
                <a:alpha val="50000"/>
              </a:srgbClr>
            </a:outerShdw>
          </a:effectLst>
        </p:spPr>
        <p:txBody>
          <a:bodyPr wrap="none" anchor="ctr"/>
          <a:lstStyle/>
          <a:p>
            <a:pPr eaLnBrk="0" hangingPunct="0">
              <a:defRPr/>
            </a:pPr>
            <a:r>
              <a:rPr lang="zh-CN" altLang="en-US" sz="2800" b="1" dirty="0">
                <a:solidFill>
                  <a:srgbClr val="FFFFFF"/>
                </a:solidFill>
                <a:effectLst>
                  <a:outerShdw blurRad="38100" dist="38100" dir="2700000" algn="tl">
                    <a:srgbClr val="000000"/>
                  </a:outerShdw>
                </a:effectLst>
              </a:rPr>
              <a:t>提醒：阅读教材时请特别留意</a:t>
            </a:r>
            <a:endParaRPr lang="en-US" altLang="zh-CN" sz="2800" b="1" dirty="0">
              <a:solidFill>
                <a:srgbClr val="FFFFFF"/>
              </a:solidFill>
              <a:effectLst>
                <a:outerShdw blurRad="38100" dist="38100" dir="2700000" algn="tl">
                  <a:srgbClr val="000000"/>
                </a:outerShdw>
              </a:effectLst>
            </a:endParaRPr>
          </a:p>
          <a:p>
            <a:pPr eaLnBrk="0" hangingPunct="0">
              <a:defRPr/>
            </a:pPr>
            <a:r>
              <a:rPr lang="zh-CN" altLang="en-US" sz="2800" b="1" dirty="0">
                <a:solidFill>
                  <a:srgbClr val="FFFFFF"/>
                </a:solidFill>
                <a:effectLst>
                  <a:outerShdw blurRad="38100" dist="38100" dir="2700000" algn="tl">
                    <a:srgbClr val="000000"/>
                  </a:outerShdw>
                </a:effectLst>
              </a:rPr>
              <a:t>        “定义”与“声明”的区别。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45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45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45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45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eaLnBrk="1" hangingPunct="1"/>
            <a:r>
              <a:rPr lang="zh-CN" altLang="en-US"/>
              <a:t>特别强调 </a:t>
            </a:r>
          </a:p>
        </p:txBody>
      </p:sp>
      <p:sp>
        <p:nvSpPr>
          <p:cNvPr id="20483" name="内容占位符 2"/>
          <p:cNvSpPr>
            <a:spLocks noGrp="1"/>
          </p:cNvSpPr>
          <p:nvPr>
            <p:ph idx="1"/>
          </p:nvPr>
        </p:nvSpPr>
        <p:spPr>
          <a:xfrm>
            <a:off x="381000" y="1524000"/>
            <a:ext cx="8610600" cy="5029200"/>
          </a:xfrm>
        </p:spPr>
        <p:txBody>
          <a:bodyPr/>
          <a:lstStyle/>
          <a:p>
            <a:pPr eaLnBrk="1" hangingPunct="1"/>
            <a:r>
              <a:rPr lang="zh-CN" altLang="en-US" dirty="0"/>
              <a:t>“访问”</a:t>
            </a:r>
            <a:r>
              <a:rPr lang="en-US" altLang="zh-CN" dirty="0"/>
              <a:t>——— </a:t>
            </a:r>
            <a:r>
              <a:rPr lang="zh-CN" altLang="en-US" dirty="0"/>
              <a:t>读取或修改内存单元所存放的数据 </a:t>
            </a:r>
            <a:endParaRPr lang="en-US" altLang="zh-CN" dirty="0"/>
          </a:p>
          <a:p>
            <a:pPr lvl="1" eaLnBrk="1" hangingPunct="1"/>
            <a:r>
              <a:rPr lang="zh-CN" altLang="en-US" dirty="0"/>
              <a:t>读访问 </a:t>
            </a:r>
            <a:r>
              <a:rPr lang="en-US" altLang="zh-CN" dirty="0"/>
              <a:t>——— </a:t>
            </a:r>
            <a:r>
              <a:rPr lang="zh-CN" altLang="en-US" dirty="0"/>
              <a:t>取相应变量的值（右值），不改变所访问的内存单元的数据值 </a:t>
            </a:r>
            <a:endParaRPr lang="en-US" altLang="zh-CN" dirty="0"/>
          </a:p>
          <a:p>
            <a:pPr lvl="1" eaLnBrk="1" hangingPunct="1"/>
            <a:r>
              <a:rPr lang="zh-CN" altLang="en-US" dirty="0"/>
              <a:t>写访问 </a:t>
            </a:r>
            <a:r>
              <a:rPr lang="en-US" altLang="zh-CN" dirty="0"/>
              <a:t>——— </a:t>
            </a:r>
            <a:r>
              <a:rPr lang="zh-CN" altLang="en-US" dirty="0"/>
              <a:t>将数据存入某内存单元，覆盖该内存单元中的原值</a:t>
            </a:r>
            <a:endParaRPr lang="en-US" altLang="zh-CN" dirty="0"/>
          </a:p>
          <a:p>
            <a:pPr lvl="1" eaLnBrk="1" hangingPunct="1"/>
            <a:endParaRPr lang="en-US" altLang="zh-CN" dirty="0"/>
          </a:p>
          <a:p>
            <a:pPr eaLnBrk="1" hangingPunct="1"/>
            <a:r>
              <a:rPr lang="zh-CN" altLang="en-US" dirty="0"/>
              <a:t>“引用”</a:t>
            </a:r>
            <a:r>
              <a:rPr lang="en-US" altLang="zh-CN" dirty="0"/>
              <a:t>——— </a:t>
            </a:r>
            <a:r>
              <a:rPr lang="zh-CN" altLang="en-US" dirty="0"/>
              <a:t>变量或常量的别名 </a:t>
            </a:r>
            <a:endParaRPr lang="en-US" altLang="zh-CN" dirty="0"/>
          </a:p>
          <a:p>
            <a:pPr lvl="1" eaLnBrk="1" hangingPunct="1"/>
            <a:endParaRPr lang="zh-CN" altLang="en-US" dirty="0"/>
          </a:p>
        </p:txBody>
      </p:sp>
      <p:sp>
        <p:nvSpPr>
          <p:cNvPr id="4" name="AutoShape 103"/>
          <p:cNvSpPr>
            <a:spLocks noChangeArrowheads="1"/>
          </p:cNvSpPr>
          <p:nvPr/>
        </p:nvSpPr>
        <p:spPr bwMode="auto">
          <a:xfrm>
            <a:off x="3505200" y="29817"/>
            <a:ext cx="5638800" cy="1066800"/>
          </a:xfrm>
          <a:prstGeom prst="roundRect">
            <a:avLst>
              <a:gd name="adj" fmla="val 16667"/>
            </a:avLst>
          </a:prstGeom>
          <a:gradFill>
            <a:gsLst>
              <a:gs pos="0">
                <a:srgbClr val="000000"/>
              </a:gs>
              <a:gs pos="39999">
                <a:srgbClr val="0A128C"/>
              </a:gs>
              <a:gs pos="70000">
                <a:srgbClr val="181CC7"/>
              </a:gs>
              <a:gs pos="88000">
                <a:srgbClr val="7005D4"/>
              </a:gs>
              <a:gs pos="100000">
                <a:srgbClr val="8C3D91"/>
              </a:gs>
            </a:gsLst>
            <a:lin ang="16200000" scaled="0"/>
          </a:gradFill>
          <a:ln w="25400" algn="ctr">
            <a:solidFill>
              <a:srgbClr val="FFFFFF"/>
            </a:solidFill>
            <a:round/>
            <a:headEnd/>
            <a:tailEnd/>
          </a:ln>
          <a:effectLst>
            <a:outerShdw dist="107763" dir="2700000" algn="ctr" rotWithShape="0">
              <a:srgbClr val="000000">
                <a:alpha val="50000"/>
              </a:srgbClr>
            </a:outerShdw>
          </a:effectLst>
        </p:spPr>
        <p:txBody>
          <a:bodyPr wrap="none" anchor="ctr"/>
          <a:lstStyle/>
          <a:p>
            <a:pPr eaLnBrk="0" hangingPunct="0">
              <a:defRPr/>
            </a:pPr>
            <a:r>
              <a:rPr lang="zh-CN" altLang="en-US" sz="2800" b="1" dirty="0">
                <a:solidFill>
                  <a:srgbClr val="FFFFFF"/>
                </a:solidFill>
                <a:effectLst>
                  <a:outerShdw blurRad="38100" dist="38100" dir="2700000" algn="tl">
                    <a:srgbClr val="000000"/>
                  </a:outerShdw>
                </a:effectLst>
              </a:rPr>
              <a:t>提醒：阅读教材时请特别留意</a:t>
            </a:r>
            <a:endParaRPr lang="en-US" altLang="zh-CN" sz="2800" b="1" dirty="0">
              <a:solidFill>
                <a:srgbClr val="FFFFFF"/>
              </a:solidFill>
              <a:effectLst>
                <a:outerShdw blurRad="38100" dist="38100" dir="2700000" algn="tl">
                  <a:srgbClr val="000000"/>
                </a:outerShdw>
              </a:effectLst>
            </a:endParaRPr>
          </a:p>
          <a:p>
            <a:pPr eaLnBrk="0" hangingPunct="0">
              <a:defRPr/>
            </a:pPr>
            <a:r>
              <a:rPr lang="zh-CN" altLang="en-US" sz="2800" b="1" dirty="0">
                <a:solidFill>
                  <a:srgbClr val="FFFFFF"/>
                </a:solidFill>
                <a:effectLst>
                  <a:outerShdw blurRad="38100" dist="38100" dir="2700000" algn="tl">
                    <a:srgbClr val="000000"/>
                  </a:outerShdw>
                </a:effectLst>
              </a:rPr>
              <a:t>        “访问”与“引用”的区别。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dirty="0"/>
              <a:t>主要内容</a:t>
            </a:r>
          </a:p>
        </p:txBody>
      </p:sp>
      <p:sp>
        <p:nvSpPr>
          <p:cNvPr id="18435" name="内容占位符 2"/>
          <p:cNvSpPr>
            <a:spLocks noGrp="1"/>
          </p:cNvSpPr>
          <p:nvPr>
            <p:ph idx="1"/>
          </p:nvPr>
        </p:nvSpPr>
        <p:spPr>
          <a:xfrm>
            <a:off x="457200" y="1295400"/>
            <a:ext cx="8229600" cy="5334000"/>
          </a:xfrm>
        </p:spPr>
        <p:txBody>
          <a:bodyPr/>
          <a:lstStyle/>
          <a:p>
            <a:pPr eaLnBrk="1" hangingPunct="1">
              <a:buNone/>
            </a:pPr>
            <a:r>
              <a:rPr lang="zh-CN" altLang="en-US" sz="2400" dirty="0">
                <a:solidFill>
                  <a:schemeClr val="bg1">
                    <a:lumMod val="65000"/>
                  </a:schemeClr>
                </a:solidFill>
              </a:rPr>
              <a:t>一、</a:t>
            </a:r>
            <a:r>
              <a:rPr lang="zh-CN" altLang="en-US" dirty="0">
                <a:solidFill>
                  <a:schemeClr val="bg1">
                    <a:lumMod val="65000"/>
                  </a:schemeClr>
                </a:solidFill>
              </a:rPr>
              <a:t>从变量名谈起</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a:t>
            </a:r>
            <a:r>
              <a:rPr lang="en-US" altLang="zh-CN" dirty="0">
                <a:solidFill>
                  <a:schemeClr val="bg1">
                    <a:lumMod val="65000"/>
                  </a:schemeClr>
                </a:solidFill>
              </a:rPr>
              <a:t>(</a:t>
            </a:r>
            <a:r>
              <a:rPr lang="zh-CN" altLang="en-US" dirty="0">
                <a:solidFill>
                  <a:schemeClr val="bg1">
                    <a:lumMod val="65000"/>
                  </a:schemeClr>
                </a:solidFill>
              </a:rPr>
              <a:t>原</a:t>
            </a:r>
            <a:r>
              <a:rPr lang="en-US" altLang="zh-CN" dirty="0">
                <a:solidFill>
                  <a:schemeClr val="bg1">
                    <a:lumMod val="65000"/>
                  </a:schemeClr>
                </a:solidFill>
              </a:rPr>
              <a:t>)</a:t>
            </a:r>
            <a:r>
              <a:rPr lang="zh-CN" altLang="en-US" dirty="0">
                <a:solidFill>
                  <a:schemeClr val="bg1">
                    <a:lumMod val="65000"/>
                  </a:schemeClr>
                </a:solidFill>
              </a:rPr>
              <a:t>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变量的间接名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变量的别名</a:t>
            </a:r>
            <a:endParaRPr lang="en-US" altLang="zh-CN" dirty="0">
              <a:solidFill>
                <a:schemeClr val="bg1">
                  <a:lumMod val="65000"/>
                </a:schemeClr>
              </a:solidFill>
            </a:endParaRPr>
          </a:p>
          <a:p>
            <a:pPr eaLnBrk="1" hangingPunct="1">
              <a:buNone/>
            </a:pPr>
            <a:r>
              <a:rPr lang="zh-CN" altLang="en-US" sz="3200" dirty="0"/>
              <a:t>二、从泛型程序设计谈起</a:t>
            </a:r>
            <a:endParaRPr lang="en-US" altLang="zh-CN" sz="3200" dirty="0"/>
          </a:p>
          <a:p>
            <a:pPr lvl="1" eaLnBrk="1" hangingPunct="1"/>
            <a:r>
              <a:rPr lang="zh-CN" altLang="en-US" sz="2800" dirty="0">
                <a:solidFill>
                  <a:srgbClr val="0000FF"/>
                </a:solidFill>
              </a:rPr>
              <a:t>函数重载</a:t>
            </a:r>
            <a:endParaRPr lang="en-US" altLang="zh-CN" sz="2800" dirty="0">
              <a:solidFill>
                <a:srgbClr val="0000FF"/>
              </a:solidFill>
            </a:endParaRPr>
          </a:p>
          <a:p>
            <a:pPr lvl="1" eaLnBrk="1" hangingPunct="1"/>
            <a:r>
              <a:rPr lang="zh-CN" altLang="en-US" sz="2800" dirty="0">
                <a:solidFill>
                  <a:srgbClr val="0000FF"/>
                </a:solidFill>
              </a:rPr>
              <a:t>函数模板</a:t>
            </a:r>
            <a:endParaRPr lang="en-US" altLang="zh-CN" sz="2800" dirty="0">
              <a:solidFill>
                <a:srgbClr val="0000FF"/>
              </a:solidFill>
            </a:endParaRPr>
          </a:p>
          <a:p>
            <a:pPr lvl="1" eaLnBrk="1" hangingPunct="1"/>
            <a:r>
              <a:rPr lang="zh-CN" altLang="en-US" sz="2800" dirty="0">
                <a:solidFill>
                  <a:srgbClr val="0000FF"/>
                </a:solidFill>
              </a:rPr>
              <a:t>运算符函数</a:t>
            </a:r>
            <a:endParaRPr lang="en-US" altLang="zh-CN" dirty="0">
              <a:solidFill>
                <a:srgbClr val="0000FF"/>
              </a:solidFill>
            </a:endParaRPr>
          </a:p>
          <a:p>
            <a:pPr eaLnBrk="1" hangingPunct="1">
              <a:buNone/>
            </a:pPr>
            <a:r>
              <a:rPr lang="zh-CN" altLang="en-US" dirty="0">
                <a:solidFill>
                  <a:schemeClr val="bg1">
                    <a:lumMod val="65000"/>
                  </a:schemeClr>
                </a:solidFill>
              </a:rPr>
              <a:t>三、其他</a:t>
            </a:r>
            <a:endParaRPr lang="en-US" altLang="zh-CN" dirty="0">
              <a:solidFill>
                <a:schemeClr val="bg1">
                  <a:lumMod val="65000"/>
                </a:schemeClr>
              </a:solidFill>
            </a:endParaRPr>
          </a:p>
          <a:p>
            <a:pPr lvl="1" eaLnBrk="1" hangingPunct="1"/>
            <a:r>
              <a:rPr lang="zh-CN" altLang="en-US" dirty="0">
                <a:solidFill>
                  <a:schemeClr val="bg1">
                    <a:lumMod val="65000"/>
                  </a:schemeClr>
                </a:solidFill>
              </a:rPr>
              <a:t>默认参数、内联函数</a:t>
            </a:r>
            <a:r>
              <a:rPr lang="en-US" altLang="zh-CN" dirty="0">
                <a:solidFill>
                  <a:schemeClr val="bg1">
                    <a:lumMod val="65000"/>
                  </a:schemeClr>
                </a:solidFill>
              </a:rPr>
              <a:t/>
            </a:r>
            <a:br>
              <a:rPr lang="en-US" altLang="zh-CN" dirty="0">
                <a:solidFill>
                  <a:schemeClr val="bg1">
                    <a:lumMod val="65000"/>
                  </a:schemeClr>
                </a:solidFill>
              </a:rPr>
            </a:br>
            <a:r>
              <a:rPr lang="zh-CN" altLang="en-US" dirty="0">
                <a:solidFill>
                  <a:schemeClr val="bg1">
                    <a:lumMod val="65000"/>
                  </a:schemeClr>
                </a:solidFill>
              </a:rPr>
              <a:t>（通过“就地展开”理解形参与实参的关系）</a:t>
            </a:r>
            <a:endParaRPr lang="en-US" altLang="zh-CN" dirty="0">
              <a:solidFill>
                <a:schemeClr val="bg1">
                  <a:lumMod val="65000"/>
                </a:schemeClr>
              </a:solidFill>
            </a:endParaRPr>
          </a:p>
        </p:txBody>
      </p:sp>
    </p:spTree>
    <p:extLst>
      <p:ext uri="{BB962C8B-B14F-4D97-AF65-F5344CB8AC3E}">
        <p14:creationId xmlns:p14="http://schemas.microsoft.com/office/powerpoint/2010/main" val="17233682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53465B-D6B2-4340-860D-A5ADC66AF1E9}"/>
              </a:ext>
            </a:extLst>
          </p:cNvPr>
          <p:cNvSpPr>
            <a:spLocks noGrp="1"/>
          </p:cNvSpPr>
          <p:nvPr>
            <p:ph type="title"/>
          </p:nvPr>
        </p:nvSpPr>
        <p:spPr/>
        <p:txBody>
          <a:bodyPr/>
          <a:lstStyle/>
          <a:p>
            <a:r>
              <a:rPr lang="zh-CN" altLang="en-US" dirty="0"/>
              <a:t>从泛型程序设计谈起</a:t>
            </a:r>
          </a:p>
        </p:txBody>
      </p:sp>
      <p:sp>
        <p:nvSpPr>
          <p:cNvPr id="3" name="内容占位符 2">
            <a:extLst>
              <a:ext uri="{FF2B5EF4-FFF2-40B4-BE49-F238E27FC236}">
                <a16:creationId xmlns:a16="http://schemas.microsoft.com/office/drawing/2014/main" id="{FD268BB4-49E4-413D-8719-31AE8B4C1C63}"/>
              </a:ext>
            </a:extLst>
          </p:cNvPr>
          <p:cNvSpPr>
            <a:spLocks noGrp="1"/>
          </p:cNvSpPr>
          <p:nvPr>
            <p:ph idx="1"/>
          </p:nvPr>
        </p:nvSpPr>
        <p:spPr/>
        <p:txBody>
          <a:bodyPr/>
          <a:lstStyle/>
          <a:p>
            <a:r>
              <a:rPr lang="zh-CN" altLang="en-US" dirty="0"/>
              <a:t>简言之，“泛型”编程是一种不考虑具体数据类型的编程，它将数据类型作为参数传递。</a:t>
            </a:r>
            <a:endParaRPr lang="en-US" altLang="zh-CN" dirty="0"/>
          </a:p>
          <a:p>
            <a:pPr lvl="1"/>
            <a:r>
              <a:rPr lang="zh-CN" altLang="en-US" dirty="0"/>
              <a:t>模板是</a:t>
            </a:r>
            <a:r>
              <a:rPr lang="en-US" altLang="zh-CN" dirty="0"/>
              <a:t>C++</a:t>
            </a:r>
            <a:r>
              <a:rPr lang="zh-CN" altLang="en-US" dirty="0"/>
              <a:t>“泛型”程序设计的主要途径</a:t>
            </a:r>
            <a:endParaRPr lang="en-US" altLang="zh-CN" dirty="0"/>
          </a:p>
          <a:p>
            <a:pPr lvl="1"/>
            <a:r>
              <a:rPr lang="zh-CN" altLang="en-US" dirty="0"/>
              <a:t>例如：排序算法（与数据类型关系不大）</a:t>
            </a:r>
            <a:endParaRPr lang="en-US" altLang="zh-CN" dirty="0"/>
          </a:p>
          <a:p>
            <a:endParaRPr lang="zh-CN" altLang="en-US" dirty="0"/>
          </a:p>
        </p:txBody>
      </p:sp>
      <p:sp>
        <p:nvSpPr>
          <p:cNvPr id="4" name="Text Box 4">
            <a:extLst>
              <a:ext uri="{FF2B5EF4-FFF2-40B4-BE49-F238E27FC236}">
                <a16:creationId xmlns:a16="http://schemas.microsoft.com/office/drawing/2014/main" id="{AA278811-A8F9-4E59-9388-6164BA647E4E}"/>
              </a:ext>
            </a:extLst>
          </p:cNvPr>
          <p:cNvSpPr txBox="1">
            <a:spLocks noChangeArrowheads="1"/>
          </p:cNvSpPr>
          <p:nvPr/>
        </p:nvSpPr>
        <p:spPr bwMode="auto">
          <a:xfrm>
            <a:off x="457200" y="3429000"/>
            <a:ext cx="8534400" cy="2743200"/>
          </a:xfrm>
          <a:prstGeom prst="rect">
            <a:avLst/>
          </a:prstGeom>
          <a:noFill/>
          <a:ln w="9525">
            <a:noFill/>
            <a:miter lim="800000"/>
            <a:headEnd/>
            <a:tailEnd/>
          </a:ln>
        </p:spPr>
        <p:txBody>
          <a:bodyPr wrap="none" lIns="72000" tIns="72000" rIns="72000" bIns="72000"/>
          <a:lstStyle/>
          <a:p>
            <a:pPr lvl="0">
              <a:lnSpc>
                <a:spcPct val="90000"/>
              </a:lnSpc>
            </a:pPr>
            <a:r>
              <a:rPr lang="en-US" altLang="zh-CN" sz="2400" b="1" dirty="0">
                <a:solidFill>
                  <a:srgbClr val="0000FF"/>
                </a:solidFill>
                <a:latin typeface="Courier New" pitchFamily="49" charset="0"/>
              </a:rPr>
              <a:t>template</a:t>
            </a:r>
            <a:r>
              <a:rPr lang="en-US" altLang="zh-CN" sz="2400" b="1" dirty="0">
                <a:solidFill>
                  <a:srgbClr val="000000"/>
                </a:solidFill>
                <a:latin typeface="Courier New" pitchFamily="49" charset="0"/>
              </a:rPr>
              <a:t> &lt;</a:t>
            </a:r>
            <a:r>
              <a:rPr lang="en-US" altLang="zh-CN" sz="2400" b="1" dirty="0" err="1">
                <a:solidFill>
                  <a:srgbClr val="0000FF"/>
                </a:solidFill>
                <a:latin typeface="Courier New" pitchFamily="49" charset="0"/>
              </a:rPr>
              <a:t>typename</a:t>
            </a:r>
            <a:r>
              <a:rPr lang="en-US" altLang="zh-CN" sz="2400" b="1" dirty="0">
                <a:solidFill>
                  <a:srgbClr val="000000"/>
                </a:solidFill>
                <a:latin typeface="Courier New" pitchFamily="49" charset="0"/>
              </a:rPr>
              <a:t> T&gt;</a:t>
            </a:r>
          </a:p>
          <a:p>
            <a:pPr lvl="0">
              <a:lnSpc>
                <a:spcPct val="90000"/>
              </a:lnSpc>
            </a:pPr>
            <a:r>
              <a:rPr lang="en-US" altLang="zh-CN" sz="2400" b="1" dirty="0">
                <a:solidFill>
                  <a:srgbClr val="0000FF"/>
                </a:solidFill>
                <a:latin typeface="Courier New" pitchFamily="49" charset="0"/>
              </a:rPr>
              <a:t>void</a:t>
            </a:r>
            <a:r>
              <a:rPr lang="en-US" altLang="zh-CN" sz="2400" b="1" dirty="0">
                <a:solidFill>
                  <a:srgbClr val="000000"/>
                </a:solidFill>
                <a:latin typeface="Courier New" pitchFamily="49" charset="0"/>
              </a:rPr>
              <a:t> Bubble(T *a,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size) </a:t>
            </a:r>
            <a:r>
              <a:rPr lang="en-US" altLang="zh-CN" sz="2400" b="1" dirty="0">
                <a:solidFill>
                  <a:srgbClr val="990000"/>
                </a:solidFill>
                <a:latin typeface="Courier New" pitchFamily="49" charset="0"/>
              </a:rPr>
              <a:t>// </a:t>
            </a:r>
            <a:r>
              <a:rPr lang="zh-CN" altLang="en-US" sz="2400" b="1" dirty="0">
                <a:solidFill>
                  <a:srgbClr val="990000"/>
                </a:solidFill>
                <a:latin typeface="Courier New" pitchFamily="49" charset="0"/>
              </a:rPr>
              <a:t>冒泡排序函数模板</a:t>
            </a:r>
          </a:p>
          <a:p>
            <a:pPr lvl="0">
              <a:lnSpc>
                <a:spcPct val="90000"/>
              </a:lnSpc>
            </a:pPr>
            <a:r>
              <a:rPr lang="en-US" altLang="zh-CN" sz="2400" b="1" dirty="0">
                <a:solidFill>
                  <a:srgbClr val="000000"/>
                </a:solidFill>
                <a:latin typeface="Courier New" pitchFamily="49" charset="0"/>
              </a:rPr>
              <a:t>{</a:t>
            </a:r>
          </a:p>
          <a:p>
            <a:pPr lvl="0">
              <a:lnSpc>
                <a:spcPct val="90000"/>
              </a:lnSpc>
            </a:pPr>
            <a:r>
              <a:rPr lang="en-US" altLang="zh-CN" sz="2400" b="1" dirty="0">
                <a:solidFill>
                  <a:srgbClr val="000000"/>
                </a:solidFill>
                <a:latin typeface="Courier New" pitchFamily="49" charset="0"/>
              </a:rPr>
              <a:t>   T temp;</a:t>
            </a:r>
          </a:p>
          <a:p>
            <a:pPr lvl="0">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for</a:t>
            </a:r>
            <a:r>
              <a:rPr lang="en-US" altLang="zh-CN" sz="2400" b="1" dirty="0">
                <a:solidFill>
                  <a:srgbClr val="000000"/>
                </a:solidFill>
                <a:latin typeface="Courier New" pitchFamily="49" charset="0"/>
              </a:rPr>
              <a:t>(</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a:t>
            </a:r>
            <a:r>
              <a:rPr lang="en-US" altLang="zh-CN" sz="2400" b="1" dirty="0">
                <a:solidFill>
                  <a:srgbClr val="000000"/>
                </a:solidFill>
                <a:latin typeface="Courier New" pitchFamily="49" charset="0"/>
              </a:rPr>
              <a:t>=1; </a:t>
            </a:r>
            <a:r>
              <a:rPr lang="en-US" altLang="zh-CN" sz="2400" b="1" dirty="0" err="1">
                <a:solidFill>
                  <a:srgbClr val="000000"/>
                </a:solidFill>
                <a:latin typeface="Courier New" pitchFamily="49" charset="0"/>
              </a:rPr>
              <a:t>i</a:t>
            </a:r>
            <a:r>
              <a:rPr lang="en-US" altLang="zh-CN" sz="2400" b="1" dirty="0">
                <a:solidFill>
                  <a:srgbClr val="000000"/>
                </a:solidFill>
                <a:latin typeface="Courier New" pitchFamily="49" charset="0"/>
              </a:rPr>
              <a:t>&lt;size; </a:t>
            </a:r>
            <a:r>
              <a:rPr lang="en-US" altLang="zh-CN" sz="2400" b="1" dirty="0" err="1">
                <a:solidFill>
                  <a:srgbClr val="000000"/>
                </a:solidFill>
                <a:latin typeface="Courier New" pitchFamily="49" charset="0"/>
              </a:rPr>
              <a:t>i</a:t>
            </a:r>
            <a:r>
              <a:rPr lang="en-US" altLang="zh-CN" sz="2400" b="1" dirty="0">
                <a:solidFill>
                  <a:srgbClr val="000000"/>
                </a:solidFill>
                <a:latin typeface="Courier New" pitchFamily="49" charset="0"/>
              </a:rPr>
              <a:t>++)</a:t>
            </a:r>
          </a:p>
          <a:p>
            <a:pPr lvl="0">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for</a:t>
            </a:r>
            <a:r>
              <a:rPr lang="en-US" altLang="zh-CN" sz="2400" b="1" dirty="0">
                <a:solidFill>
                  <a:srgbClr val="000000"/>
                </a:solidFill>
                <a:latin typeface="Courier New" pitchFamily="49" charset="0"/>
              </a:rPr>
              <a:t>(</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j=0; j&lt;size-</a:t>
            </a:r>
            <a:r>
              <a:rPr lang="en-US" altLang="zh-CN" sz="2400" b="1" dirty="0" err="1">
                <a:solidFill>
                  <a:srgbClr val="000000"/>
                </a:solidFill>
                <a:latin typeface="Courier New" pitchFamily="49" charset="0"/>
              </a:rPr>
              <a:t>i</a:t>
            </a: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j++</a:t>
            </a:r>
            <a:r>
              <a:rPr lang="en-US" altLang="zh-CN" sz="2400" b="1" dirty="0">
                <a:solidFill>
                  <a:srgbClr val="000000"/>
                </a:solidFill>
                <a:latin typeface="Courier New" pitchFamily="49" charset="0"/>
              </a:rPr>
              <a:t>)</a:t>
            </a:r>
          </a:p>
          <a:p>
            <a:pPr lvl="0">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if</a:t>
            </a:r>
            <a:r>
              <a:rPr lang="en-US" altLang="zh-CN" sz="2400" b="1" dirty="0">
                <a:solidFill>
                  <a:srgbClr val="000000"/>
                </a:solidFill>
                <a:latin typeface="Courier New" pitchFamily="49" charset="0"/>
              </a:rPr>
              <a:t>(a[j] &gt; a[j+1])</a:t>
            </a:r>
          </a:p>
          <a:p>
            <a:pPr lvl="0">
              <a:lnSpc>
                <a:spcPct val="90000"/>
              </a:lnSpc>
            </a:pPr>
            <a:r>
              <a:rPr lang="en-US" altLang="zh-CN" sz="2400" b="1" dirty="0">
                <a:solidFill>
                  <a:srgbClr val="000000"/>
                </a:solidFill>
                <a:latin typeface="Courier New" pitchFamily="49" charset="0"/>
              </a:rPr>
              <a:t>            swap(a[j], a[j+1]);</a:t>
            </a:r>
          </a:p>
          <a:p>
            <a:pPr lvl="0">
              <a:lnSpc>
                <a:spcPct val="90000"/>
              </a:lnSpc>
            </a:pPr>
            <a:r>
              <a:rPr lang="en-US" altLang="zh-CN" sz="2400" b="1" dirty="0">
                <a:solidFill>
                  <a:srgbClr val="000000"/>
                </a:solidFill>
                <a:latin typeface="Courier New" pitchFamily="49" charset="0"/>
              </a:rPr>
              <a:t>}</a:t>
            </a:r>
            <a:endPar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endParaRPr>
          </a:p>
        </p:txBody>
      </p:sp>
    </p:spTree>
    <p:extLst>
      <p:ext uri="{BB962C8B-B14F-4D97-AF65-F5344CB8AC3E}">
        <p14:creationId xmlns:p14="http://schemas.microsoft.com/office/powerpoint/2010/main" val="405772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zh-CN"/>
              <a:t>6.5 </a:t>
            </a:r>
            <a:r>
              <a:rPr lang="zh-CN" altLang="en-US"/>
              <a:t>函数重载</a:t>
            </a:r>
          </a:p>
        </p:txBody>
      </p:sp>
      <p:sp>
        <p:nvSpPr>
          <p:cNvPr id="290819" name="Rectangle 3"/>
          <p:cNvSpPr>
            <a:spLocks noGrp="1" noChangeArrowheads="1"/>
          </p:cNvSpPr>
          <p:nvPr>
            <p:ph type="body" idx="1"/>
          </p:nvPr>
        </p:nvSpPr>
        <p:spPr/>
        <p:txBody>
          <a:bodyPr/>
          <a:lstStyle/>
          <a:p>
            <a:pPr eaLnBrk="1" hangingPunct="1"/>
            <a:r>
              <a:rPr lang="zh-CN" altLang="en-US" dirty="0"/>
              <a:t>在 </a:t>
            </a:r>
            <a:r>
              <a:rPr lang="en-US" altLang="zh-CN" dirty="0"/>
              <a:t>C </a:t>
            </a:r>
            <a:r>
              <a:rPr lang="zh-CN" altLang="en-US" dirty="0"/>
              <a:t>语言中，不同的函数不能使用相同的函数名，以保证编译系统能正确地区分和处理。</a:t>
            </a:r>
          </a:p>
          <a:p>
            <a:pPr lvl="1" eaLnBrk="1" hangingPunct="1"/>
            <a:r>
              <a:rPr lang="zh-CN" altLang="en-US" dirty="0"/>
              <a:t>在</a:t>
            </a:r>
            <a:r>
              <a:rPr lang="zh-CN" altLang="en-US" sz="1200" dirty="0"/>
              <a:t> </a:t>
            </a:r>
            <a:r>
              <a:rPr lang="en-US" altLang="zh-CN" dirty="0"/>
              <a:t>C</a:t>
            </a:r>
            <a:r>
              <a:rPr lang="en-US" altLang="zh-CN" sz="1200" dirty="0"/>
              <a:t> </a:t>
            </a:r>
            <a:r>
              <a:rPr lang="zh-CN" altLang="en-US" dirty="0"/>
              <a:t>语言中，计算给定参数的绝对值函数有多个：</a:t>
            </a:r>
          </a:p>
          <a:p>
            <a:pPr lvl="2" eaLnBrk="1" hangingPunct="1"/>
            <a:r>
              <a:rPr lang="en-US" altLang="zh-CN" dirty="0">
                <a:solidFill>
                  <a:srgbClr val="0000FF"/>
                </a:solidFill>
              </a:rPr>
              <a:t>int</a:t>
            </a:r>
            <a:r>
              <a:rPr lang="en-US" altLang="zh-CN" dirty="0"/>
              <a:t> abs(</a:t>
            </a:r>
            <a:r>
              <a:rPr lang="en-US" altLang="zh-CN" dirty="0">
                <a:solidFill>
                  <a:srgbClr val="0000FF"/>
                </a:solidFill>
              </a:rPr>
              <a:t>int</a:t>
            </a:r>
            <a:r>
              <a:rPr lang="en-US" altLang="zh-CN" dirty="0"/>
              <a:t>);        // </a:t>
            </a:r>
            <a:r>
              <a:rPr lang="zh-CN" altLang="en-US" dirty="0"/>
              <a:t>计算整型数据的绝对值</a:t>
            </a:r>
          </a:p>
          <a:p>
            <a:pPr lvl="2" eaLnBrk="1" hangingPunct="1"/>
            <a:r>
              <a:rPr lang="en-US" altLang="zh-CN" dirty="0">
                <a:solidFill>
                  <a:srgbClr val="0000FF"/>
                </a:solidFill>
              </a:rPr>
              <a:t>long</a:t>
            </a:r>
            <a:r>
              <a:rPr lang="en-US" altLang="zh-CN" dirty="0"/>
              <a:t> labs(</a:t>
            </a:r>
            <a:r>
              <a:rPr lang="en-US" altLang="zh-CN" dirty="0">
                <a:solidFill>
                  <a:srgbClr val="0000FF"/>
                </a:solidFill>
              </a:rPr>
              <a:t>long</a:t>
            </a:r>
            <a:r>
              <a:rPr lang="en-US" altLang="zh-CN" dirty="0"/>
              <a:t>);     // </a:t>
            </a:r>
            <a:r>
              <a:rPr lang="zh-CN" altLang="en-US" dirty="0"/>
              <a:t>计算长整型数据的绝对值</a:t>
            </a:r>
          </a:p>
          <a:p>
            <a:pPr lvl="2" eaLnBrk="1" hangingPunct="1"/>
            <a:r>
              <a:rPr lang="en-US" altLang="zh-CN" dirty="0">
                <a:solidFill>
                  <a:srgbClr val="0000FF"/>
                </a:solidFill>
              </a:rPr>
              <a:t>double</a:t>
            </a:r>
            <a:r>
              <a:rPr lang="en-US" altLang="zh-CN" dirty="0"/>
              <a:t> fabs(</a:t>
            </a:r>
            <a:r>
              <a:rPr lang="en-US" altLang="zh-CN" dirty="0">
                <a:solidFill>
                  <a:srgbClr val="0000FF"/>
                </a:solidFill>
              </a:rPr>
              <a:t>double</a:t>
            </a:r>
            <a:r>
              <a:rPr lang="en-US" altLang="zh-CN" dirty="0"/>
              <a:t>); // </a:t>
            </a:r>
            <a:r>
              <a:rPr lang="zh-CN" altLang="en-US" dirty="0"/>
              <a:t>计算浮点型数据的绝对值</a:t>
            </a:r>
          </a:p>
          <a:p>
            <a:pPr eaLnBrk="1" hangingPunct="1">
              <a:lnSpc>
                <a:spcPct val="110000"/>
              </a:lnSpc>
              <a:spcBef>
                <a:spcPct val="50000"/>
              </a:spcBef>
            </a:pPr>
            <a:r>
              <a:rPr lang="zh-CN" altLang="en-US" dirty="0"/>
              <a:t>对于程序员而言，当然希望有一个统一名称的函数能分别实现上述三个函数的功能。</a:t>
            </a:r>
          </a:p>
          <a:p>
            <a:pPr eaLnBrk="1" hangingPunct="1">
              <a:lnSpc>
                <a:spcPct val="110000"/>
              </a:lnSpc>
              <a:spcBef>
                <a:spcPct val="50000"/>
              </a:spcBef>
            </a:pPr>
            <a:r>
              <a:rPr lang="zh-CN" altLang="en-US" dirty="0"/>
              <a:t>本着支持</a:t>
            </a:r>
            <a:r>
              <a:rPr lang="zh-CN" altLang="en-US" dirty="0">
                <a:solidFill>
                  <a:srgbClr val="990000"/>
                </a:solidFill>
                <a:ea typeface="楷体_GB2312" pitchFamily="49" charset="-122"/>
              </a:rPr>
              <a:t>泛型</a:t>
            </a:r>
            <a:r>
              <a:rPr lang="zh-CN" altLang="en-US" dirty="0"/>
              <a:t>和</a:t>
            </a:r>
            <a:r>
              <a:rPr lang="zh-CN" altLang="en-US" dirty="0">
                <a:solidFill>
                  <a:srgbClr val="990000"/>
                </a:solidFill>
                <a:ea typeface="楷体_GB2312" pitchFamily="49" charset="-122"/>
              </a:rPr>
              <a:t>将方便让给程序员，把困难留给编译器</a:t>
            </a:r>
            <a:r>
              <a:rPr lang="zh-CN" altLang="en-US" dirty="0"/>
              <a:t>的精神，</a:t>
            </a:r>
            <a:r>
              <a:rPr lang="en-US" altLang="zh-CN" dirty="0"/>
              <a:t>C++</a:t>
            </a:r>
            <a:r>
              <a:rPr lang="zh-CN" altLang="en-US" dirty="0"/>
              <a:t>语言提供了函数重载的支持。</a:t>
            </a:r>
          </a:p>
        </p:txBody>
      </p:sp>
    </p:spTree>
    <p:extLst>
      <p:ext uri="{BB962C8B-B14F-4D97-AF65-F5344CB8AC3E}">
        <p14:creationId xmlns:p14="http://schemas.microsoft.com/office/powerpoint/2010/main" val="109724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0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08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08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08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08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081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0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0746A66-FD37-4AB0-B672-EF8B8AA7F367}"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90914" name="Text Box 2"/>
          <p:cNvSpPr txBox="1">
            <a:spLocks noChangeArrowheads="1"/>
          </p:cNvSpPr>
          <p:nvPr/>
        </p:nvSpPr>
        <p:spPr bwMode="ltGray">
          <a:xfrm>
            <a:off x="228600" y="0"/>
            <a:ext cx="54197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函数的重载</a:t>
            </a:r>
          </a:p>
        </p:txBody>
      </p:sp>
      <p:sp>
        <p:nvSpPr>
          <p:cNvPr id="1190915" name="Text Box 3"/>
          <p:cNvSpPr txBox="1">
            <a:spLocks noChangeArrowheads="1"/>
          </p:cNvSpPr>
          <p:nvPr/>
        </p:nvSpPr>
        <p:spPr bwMode="ltGray">
          <a:xfrm>
            <a:off x="0" y="762000"/>
            <a:ext cx="87630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rPr>
              <a:t>所谓函数的重载是指完成不同功能的函数可以具有</a:t>
            </a:r>
            <a:r>
              <a:rPr kumimoji="1" lang="zh-CN" altLang="en-US"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相同的函数名</a:t>
            </a:r>
            <a:r>
              <a:rPr kumimoji="1" lang="zh-CN" altLang="en-US" sz="32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1190916" name="Text Box 4"/>
          <p:cNvSpPr txBox="1">
            <a:spLocks noChangeArrowheads="1"/>
          </p:cNvSpPr>
          <p:nvPr/>
        </p:nvSpPr>
        <p:spPr bwMode="ltGray">
          <a:xfrm>
            <a:off x="0" y="2057400"/>
            <a:ext cx="87630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的编译器是根据</a:t>
            </a:r>
            <a:r>
              <a:rPr kumimoji="1" lang="zh-CN" altLang="en-US"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函数的实参</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来确定应该调用哪一个函数的。 </a:t>
            </a:r>
          </a:p>
        </p:txBody>
      </p:sp>
      <p:sp>
        <p:nvSpPr>
          <p:cNvPr id="1190917" name="Text Box 5"/>
          <p:cNvSpPr txBox="1">
            <a:spLocks noChangeArrowheads="1"/>
          </p:cNvSpPr>
          <p:nvPr/>
        </p:nvSpPr>
        <p:spPr bwMode="auto">
          <a:xfrm>
            <a:off x="381000" y="3581400"/>
            <a:ext cx="3581400" cy="1176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int  fun(int a,  int b)</a:t>
            </a:r>
          </a:p>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   return a+b;  }</a:t>
            </a:r>
          </a:p>
        </p:txBody>
      </p:sp>
      <p:sp>
        <p:nvSpPr>
          <p:cNvPr id="1190918" name="Text Box 6"/>
          <p:cNvSpPr txBox="1">
            <a:spLocks noChangeArrowheads="1"/>
          </p:cNvSpPr>
          <p:nvPr/>
        </p:nvSpPr>
        <p:spPr bwMode="auto">
          <a:xfrm>
            <a:off x="381000" y="5029200"/>
            <a:ext cx="3581400" cy="1176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int  fun (int a)</a:t>
            </a:r>
          </a:p>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   return a*a;  }</a:t>
            </a:r>
          </a:p>
        </p:txBody>
      </p:sp>
      <p:sp>
        <p:nvSpPr>
          <p:cNvPr id="1190919" name="Text Box 7"/>
          <p:cNvSpPr txBox="1">
            <a:spLocks noChangeArrowheads="1"/>
          </p:cNvSpPr>
          <p:nvPr/>
        </p:nvSpPr>
        <p:spPr bwMode="auto">
          <a:xfrm>
            <a:off x="3962400" y="3657600"/>
            <a:ext cx="3886200" cy="2544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void  main(void)</a:t>
            </a:r>
          </a:p>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cout&lt;&lt;</a:t>
            </a: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fun(3,5)</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&lt;&lt;endl;</a:t>
            </a:r>
          </a:p>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cout&lt;&lt;</a:t>
            </a:r>
            <a:r>
              <a:rPr kumimoji="1"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fun(5)</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&lt;&lt;endl;</a:t>
            </a:r>
          </a:p>
          <a:p>
            <a:pPr marL="0" marR="0" lvl="0" indent="0" algn="l" defTabSz="914400" rtl="0" eaLnBrk="1" fontAlgn="base" latinLnBrk="0" hangingPunct="1">
              <a:lnSpc>
                <a:spcPct val="11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1190920" name="Text Box 8"/>
          <p:cNvSpPr txBox="1">
            <a:spLocks noChangeArrowheads="1"/>
          </p:cNvSpPr>
          <p:nvPr/>
        </p:nvSpPr>
        <p:spPr bwMode="auto">
          <a:xfrm>
            <a:off x="7848600" y="5029200"/>
            <a:ext cx="1066800" cy="558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8</a:t>
            </a:r>
          </a:p>
        </p:txBody>
      </p:sp>
      <p:sp>
        <p:nvSpPr>
          <p:cNvPr id="1190921" name="Text Box 9"/>
          <p:cNvSpPr txBox="1">
            <a:spLocks noChangeArrowheads="1"/>
          </p:cNvSpPr>
          <p:nvPr/>
        </p:nvSpPr>
        <p:spPr bwMode="auto">
          <a:xfrm>
            <a:off x="7848600" y="5715000"/>
            <a:ext cx="1066800" cy="558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25</a:t>
            </a:r>
          </a:p>
        </p:txBody>
      </p:sp>
    </p:spTree>
    <p:extLst>
      <p:ext uri="{BB962C8B-B14F-4D97-AF65-F5344CB8AC3E}">
        <p14:creationId xmlns:p14="http://schemas.microsoft.com/office/powerpoint/2010/main" val="2576933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0917"/>
                                        </p:tgtEl>
                                        <p:attrNameLst>
                                          <p:attrName>style.visibility</p:attrName>
                                        </p:attrNameLst>
                                      </p:cBhvr>
                                      <p:to>
                                        <p:strVal val="visible"/>
                                      </p:to>
                                    </p:set>
                                    <p:animEffect transition="in" filter="wipe(left)">
                                      <p:cBhvr>
                                        <p:cTn id="7" dur="500"/>
                                        <p:tgtEl>
                                          <p:spTgt spid="11909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0918"/>
                                        </p:tgtEl>
                                        <p:attrNameLst>
                                          <p:attrName>style.visibility</p:attrName>
                                        </p:attrNameLst>
                                      </p:cBhvr>
                                      <p:to>
                                        <p:strVal val="visible"/>
                                      </p:to>
                                    </p:set>
                                    <p:animEffect transition="in" filter="wipe(left)">
                                      <p:cBhvr>
                                        <p:cTn id="12" dur="500"/>
                                        <p:tgtEl>
                                          <p:spTgt spid="11909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0919"/>
                                        </p:tgtEl>
                                        <p:attrNameLst>
                                          <p:attrName>style.visibility</p:attrName>
                                        </p:attrNameLst>
                                      </p:cBhvr>
                                      <p:to>
                                        <p:strVal val="visible"/>
                                      </p:to>
                                    </p:set>
                                    <p:animEffect transition="in" filter="wipe(left)">
                                      <p:cBhvr>
                                        <p:cTn id="17" dur="500"/>
                                        <p:tgtEl>
                                          <p:spTgt spid="11909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90920"/>
                                        </p:tgtEl>
                                        <p:attrNameLst>
                                          <p:attrName>style.visibility</p:attrName>
                                        </p:attrNameLst>
                                      </p:cBhvr>
                                      <p:to>
                                        <p:strVal val="visible"/>
                                      </p:to>
                                    </p:set>
                                    <p:animEffect transition="in" filter="wipe(left)">
                                      <p:cBhvr>
                                        <p:cTn id="22" dur="500"/>
                                        <p:tgtEl>
                                          <p:spTgt spid="11909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90921"/>
                                        </p:tgtEl>
                                        <p:attrNameLst>
                                          <p:attrName>style.visibility</p:attrName>
                                        </p:attrNameLst>
                                      </p:cBhvr>
                                      <p:to>
                                        <p:strVal val="visible"/>
                                      </p:to>
                                    </p:set>
                                    <p:animEffect transition="in" filter="wipe(left)">
                                      <p:cBhvr>
                                        <p:cTn id="27" dur="500"/>
                                        <p:tgtEl>
                                          <p:spTgt spid="1190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0917" grpId="0" autoUpdateAnimBg="0"/>
      <p:bldP spid="1190918" grpId="0" autoUpdateAnimBg="0"/>
      <p:bldP spid="1190919" grpId="0" autoUpdateAnimBg="0"/>
      <p:bldP spid="1190920" grpId="0" autoUpdateAnimBg="0"/>
      <p:bldP spid="119092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26822B7-F9A2-4E64-940B-E1B431C79AC8}"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91938" name="Text Box 2"/>
          <p:cNvSpPr txBox="1">
            <a:spLocks noChangeArrowheads="1"/>
          </p:cNvSpPr>
          <p:nvPr/>
        </p:nvSpPr>
        <p:spPr bwMode="ltGray">
          <a:xfrm>
            <a:off x="0" y="381000"/>
            <a:ext cx="9034463"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1</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rPr>
              <a:t>定义的重载函数必须具有</a:t>
            </a:r>
            <a:r>
              <a:rPr kumimoji="1" lang="zh-CN" altLang="en-US"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不同的参数个数</a:t>
            </a:r>
            <a:r>
              <a:rPr kumimoji="1" lang="zh-CN" altLang="en-US" sz="3200" b="1" i="0" u="none" strike="noStrike" kern="1200" cap="none" spc="0" normalizeH="0" baseline="0" noProof="0" smtClean="0">
                <a:ln>
                  <a:noFill/>
                </a:ln>
                <a:solidFill>
                  <a:srgbClr val="000099"/>
                </a:solidFill>
                <a:effectLst/>
                <a:uLnTx/>
                <a:uFillTx/>
                <a:latin typeface="Times New Roman" panose="02020603050405020304" pitchFamily="18" charset="0"/>
                <a:ea typeface="宋体" panose="02010600030101010101" pitchFamily="2" charset="-122"/>
                <a:cs typeface="+mn-cs"/>
              </a:rPr>
              <a:t>，或</a:t>
            </a:r>
            <a:r>
              <a:rPr kumimoji="1" lang="zh-CN" altLang="en-US"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不同的参数类型</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。只有这样编译系统才有可能根据不同的参数去调用不同的重载函数。</a:t>
            </a:r>
          </a:p>
        </p:txBody>
      </p:sp>
      <p:sp>
        <p:nvSpPr>
          <p:cNvPr id="1191939" name="Text Box 3"/>
          <p:cNvSpPr txBox="1">
            <a:spLocks noChangeArrowheads="1"/>
          </p:cNvSpPr>
          <p:nvPr/>
        </p:nvSpPr>
        <p:spPr bwMode="auto">
          <a:xfrm>
            <a:off x="228600" y="2895600"/>
            <a:ext cx="8382000" cy="606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、仅返回值不同时，不能定义为重载函数。 </a:t>
            </a:r>
          </a:p>
        </p:txBody>
      </p:sp>
    </p:spTree>
    <p:extLst>
      <p:ext uri="{BB962C8B-B14F-4D97-AF65-F5344CB8AC3E}">
        <p14:creationId xmlns:p14="http://schemas.microsoft.com/office/powerpoint/2010/main" val="750769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1939"/>
                                        </p:tgtEl>
                                        <p:attrNameLst>
                                          <p:attrName>style.visibility</p:attrName>
                                        </p:attrNameLst>
                                      </p:cBhvr>
                                      <p:to>
                                        <p:strVal val="visible"/>
                                      </p:to>
                                    </p:set>
                                    <p:animEffect transition="in" filter="blinds(horizontal)">
                                      <p:cBhvr>
                                        <p:cTn id="7" dur="500"/>
                                        <p:tgtEl>
                                          <p:spTgt spid="1191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193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a:t>6.5 </a:t>
            </a:r>
            <a:r>
              <a:rPr lang="zh-CN" altLang="en-US"/>
              <a:t>函数重载</a:t>
            </a:r>
          </a:p>
        </p:txBody>
      </p:sp>
      <p:sp>
        <p:nvSpPr>
          <p:cNvPr id="296963" name="Rectangle 3"/>
          <p:cNvSpPr>
            <a:spLocks noGrp="1" noChangeArrowheads="1"/>
          </p:cNvSpPr>
          <p:nvPr>
            <p:ph type="body" idx="1"/>
          </p:nvPr>
        </p:nvSpPr>
        <p:spPr>
          <a:xfrm>
            <a:off x="381000" y="1219200"/>
            <a:ext cx="8610600" cy="5486400"/>
          </a:xfrm>
        </p:spPr>
        <p:txBody>
          <a:bodyPr/>
          <a:lstStyle/>
          <a:p>
            <a:pPr eaLnBrk="1" hangingPunct="1"/>
            <a:r>
              <a:rPr lang="zh-CN" altLang="en-US" dirty="0"/>
              <a:t>本质上，在编译系统进行实质性编译时仍然不允许不同的函数使用相同的函数名。</a:t>
            </a:r>
          </a:p>
          <a:p>
            <a:pPr lvl="1" eaLnBrk="1" hangingPunct="1"/>
            <a:r>
              <a:rPr lang="zh-CN" altLang="en-US" dirty="0"/>
              <a:t>编译系统根据函数的</a:t>
            </a:r>
            <a:r>
              <a:rPr lang="zh-CN" altLang="en-US" dirty="0">
                <a:solidFill>
                  <a:srgbClr val="990000"/>
                </a:solidFill>
              </a:rPr>
              <a:t>形式参数</a:t>
            </a:r>
            <a:r>
              <a:rPr lang="zh-CN" altLang="en-US" dirty="0"/>
              <a:t>信息</a:t>
            </a:r>
            <a:r>
              <a:rPr lang="zh-CN" altLang="en-US" dirty="0">
                <a:solidFill>
                  <a:srgbClr val="990000"/>
                </a:solidFill>
                <a:ea typeface="楷体_GB2312" pitchFamily="49" charset="-122"/>
              </a:rPr>
              <a:t>悄悄地修改</a:t>
            </a:r>
            <a:r>
              <a:rPr lang="zh-CN" altLang="en-US" dirty="0"/>
              <a:t>了程序员给函数的命名，然后进行编译和连接</a:t>
            </a:r>
          </a:p>
          <a:p>
            <a:pPr lvl="2" eaLnBrk="1" hangingPunct="1"/>
            <a:r>
              <a:rPr lang="zh-CN" altLang="en-US" sz="2800" dirty="0"/>
              <a:t>形式参数的信息包括 </a:t>
            </a:r>
            <a:r>
              <a:rPr lang="zh-CN" altLang="en-US" sz="2800" dirty="0">
                <a:solidFill>
                  <a:srgbClr val="990000"/>
                </a:solidFill>
                <a:ea typeface="楷体_GB2312" pitchFamily="49" charset="-122"/>
              </a:rPr>
              <a:t>数据类型、顺序、个数</a:t>
            </a:r>
          </a:p>
          <a:p>
            <a:pPr eaLnBrk="1" hangingPunct="1">
              <a:lnSpc>
                <a:spcPct val="110000"/>
              </a:lnSpc>
              <a:spcBef>
                <a:spcPct val="15000"/>
              </a:spcBef>
            </a:pPr>
            <a:r>
              <a:rPr lang="zh-CN" altLang="en-US" dirty="0"/>
              <a:t>因此，函数重载必须满足下列要求之一</a:t>
            </a:r>
          </a:p>
          <a:p>
            <a:pPr lvl="1" eaLnBrk="1" hangingPunct="1">
              <a:lnSpc>
                <a:spcPct val="110000"/>
              </a:lnSpc>
              <a:spcBef>
                <a:spcPct val="15000"/>
              </a:spcBef>
              <a:buFont typeface="Wingdings" pitchFamily="2" charset="2"/>
              <a:buNone/>
            </a:pPr>
            <a:r>
              <a:rPr lang="zh-CN" altLang="en-US" dirty="0"/>
              <a:t>（</a:t>
            </a:r>
            <a:r>
              <a:rPr lang="en-US" altLang="zh-CN" dirty="0"/>
              <a:t>1</a:t>
            </a:r>
            <a:r>
              <a:rPr lang="zh-CN" altLang="en-US" dirty="0"/>
              <a:t>） 函数的形式参数个数不同；</a:t>
            </a:r>
          </a:p>
          <a:p>
            <a:pPr lvl="1" eaLnBrk="1" hangingPunct="1">
              <a:lnSpc>
                <a:spcPct val="110000"/>
              </a:lnSpc>
              <a:spcBef>
                <a:spcPct val="15000"/>
              </a:spcBef>
              <a:buFont typeface="Wingdings" pitchFamily="2" charset="2"/>
              <a:buNone/>
            </a:pPr>
            <a:r>
              <a:rPr lang="zh-CN" altLang="en-US" dirty="0"/>
              <a:t>（</a:t>
            </a:r>
            <a:r>
              <a:rPr lang="en-US" altLang="zh-CN" dirty="0"/>
              <a:t>2</a:t>
            </a:r>
            <a:r>
              <a:rPr lang="zh-CN" altLang="en-US" dirty="0"/>
              <a:t>） 形式参数个数相同时，参数的数据类型不同，</a:t>
            </a:r>
            <a:br>
              <a:rPr lang="zh-CN" altLang="en-US" dirty="0"/>
            </a:br>
            <a:r>
              <a:rPr lang="zh-CN" altLang="en-US" dirty="0"/>
              <a:t>    或数据类型出现的次序不同。</a:t>
            </a:r>
          </a:p>
          <a:p>
            <a:pPr eaLnBrk="1" hangingPunct="1">
              <a:lnSpc>
                <a:spcPct val="110000"/>
              </a:lnSpc>
              <a:spcBef>
                <a:spcPct val="15000"/>
              </a:spcBef>
            </a:pPr>
            <a:r>
              <a:rPr lang="zh-CN" altLang="en-US" dirty="0"/>
              <a:t>仅形式参数名称不同，仅函数的返回类型不同均</a:t>
            </a:r>
            <a:br>
              <a:rPr lang="zh-CN" altLang="en-US" dirty="0"/>
            </a:br>
            <a:r>
              <a:rPr lang="zh-CN" altLang="en-US" dirty="0"/>
              <a:t>不构成函数重载</a:t>
            </a:r>
          </a:p>
        </p:txBody>
      </p:sp>
    </p:spTree>
    <p:extLst>
      <p:ext uri="{BB962C8B-B14F-4D97-AF65-F5344CB8AC3E}">
        <p14:creationId xmlns:p14="http://schemas.microsoft.com/office/powerpoint/2010/main" val="379873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69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696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696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69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696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6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a:t>6.5 </a:t>
            </a:r>
            <a:r>
              <a:rPr lang="zh-CN" altLang="en-US"/>
              <a:t>函数重载</a:t>
            </a:r>
          </a:p>
        </p:txBody>
      </p:sp>
      <p:sp>
        <p:nvSpPr>
          <p:cNvPr id="297987" name="Rectangle 3"/>
          <p:cNvSpPr>
            <a:spLocks noGrp="1" noChangeArrowheads="1"/>
          </p:cNvSpPr>
          <p:nvPr>
            <p:ph type="body" idx="1"/>
          </p:nvPr>
        </p:nvSpPr>
        <p:spPr/>
        <p:txBody>
          <a:bodyPr/>
          <a:lstStyle/>
          <a:p>
            <a:pPr eaLnBrk="1" hangingPunct="1"/>
            <a:r>
              <a:rPr lang="zh-CN" altLang="en-US" sz="2400" dirty="0"/>
              <a:t>例如，如下函数均构成函数重载</a:t>
            </a:r>
          </a:p>
          <a:p>
            <a:pPr lvl="1" eaLnBrk="1" hangingPunct="1"/>
            <a:r>
              <a:rPr lang="en-US" altLang="zh-CN" sz="2000" dirty="0">
                <a:solidFill>
                  <a:srgbClr val="0000FF"/>
                </a:solidFill>
              </a:rPr>
              <a:t>char </a:t>
            </a:r>
            <a:r>
              <a:rPr lang="en-US" altLang="zh-CN" sz="2000" dirty="0">
                <a:solidFill>
                  <a:schemeClr val="tx2"/>
                </a:solidFill>
              </a:rPr>
              <a:t>Max(</a:t>
            </a:r>
            <a:r>
              <a:rPr lang="en-US" altLang="zh-CN" sz="2000" dirty="0">
                <a:solidFill>
                  <a:srgbClr val="0000FF"/>
                </a:solidFill>
              </a:rPr>
              <a:t>char</a:t>
            </a:r>
            <a:r>
              <a:rPr lang="en-US" altLang="zh-CN" sz="2000" dirty="0">
                <a:solidFill>
                  <a:schemeClr val="tx2"/>
                </a:solidFill>
              </a:rPr>
              <a:t>, </a:t>
            </a:r>
            <a:r>
              <a:rPr lang="en-US" altLang="zh-CN" sz="2000" dirty="0">
                <a:solidFill>
                  <a:srgbClr val="0000FF"/>
                </a:solidFill>
              </a:rPr>
              <a:t>char</a:t>
            </a:r>
            <a:r>
              <a:rPr lang="en-US" altLang="zh-CN" sz="2000" dirty="0">
                <a:solidFill>
                  <a:schemeClr val="tx2"/>
                </a:solidFill>
              </a:rPr>
              <a:t>);</a:t>
            </a:r>
          </a:p>
          <a:p>
            <a:pPr lvl="1" eaLnBrk="1" hangingPunct="1"/>
            <a:r>
              <a:rPr lang="en-US" altLang="zh-CN" sz="2000" dirty="0">
                <a:solidFill>
                  <a:srgbClr val="0000FF"/>
                </a:solidFill>
              </a:rPr>
              <a:t>char </a:t>
            </a:r>
            <a:r>
              <a:rPr lang="en-US" altLang="zh-CN" sz="2000" dirty="0">
                <a:solidFill>
                  <a:schemeClr val="tx2"/>
                </a:solidFill>
              </a:rPr>
              <a:t>*Max(</a:t>
            </a:r>
            <a:r>
              <a:rPr lang="en-US" altLang="zh-CN" sz="2000" dirty="0">
                <a:solidFill>
                  <a:srgbClr val="0000FF"/>
                </a:solidFill>
              </a:rPr>
              <a:t>char</a:t>
            </a:r>
            <a:r>
              <a:rPr lang="en-US" altLang="zh-CN" sz="2000" dirty="0">
                <a:solidFill>
                  <a:schemeClr val="tx2"/>
                </a:solidFill>
              </a:rPr>
              <a:t>*, </a:t>
            </a:r>
            <a:r>
              <a:rPr lang="en-US" altLang="zh-CN" sz="2000" dirty="0">
                <a:solidFill>
                  <a:srgbClr val="0000FF"/>
                </a:solidFill>
              </a:rPr>
              <a:t>char</a:t>
            </a:r>
            <a:r>
              <a:rPr lang="en-US" altLang="zh-CN" sz="2000" dirty="0">
                <a:solidFill>
                  <a:schemeClr val="tx2"/>
                </a:solidFill>
              </a:rPr>
              <a:t>*);</a:t>
            </a:r>
          </a:p>
          <a:p>
            <a:pPr lvl="1" eaLnBrk="1" hangingPunct="1"/>
            <a:r>
              <a:rPr lang="en-US" altLang="zh-CN" sz="2000" dirty="0">
                <a:solidFill>
                  <a:srgbClr val="0000FF"/>
                </a:solidFill>
              </a:rPr>
              <a:t>int </a:t>
            </a:r>
            <a:r>
              <a:rPr lang="en-US" altLang="zh-CN" sz="2000" dirty="0">
                <a:solidFill>
                  <a:schemeClr val="tx2"/>
                </a:solidFill>
              </a:rPr>
              <a:t>Max(</a:t>
            </a:r>
            <a:r>
              <a:rPr lang="en-US" altLang="zh-CN" sz="2000" dirty="0">
                <a:solidFill>
                  <a:srgbClr val="0000FF"/>
                </a:solidFill>
              </a:rPr>
              <a:t>int</a:t>
            </a:r>
            <a:r>
              <a:rPr lang="en-US" altLang="zh-CN" sz="2000" dirty="0">
                <a:solidFill>
                  <a:schemeClr val="tx2"/>
                </a:solidFill>
              </a:rPr>
              <a:t>, </a:t>
            </a:r>
            <a:r>
              <a:rPr lang="en-US" altLang="zh-CN" sz="2000" dirty="0">
                <a:solidFill>
                  <a:srgbClr val="0000FF"/>
                </a:solidFill>
              </a:rPr>
              <a:t>int</a:t>
            </a:r>
            <a:r>
              <a:rPr lang="en-US" altLang="zh-CN" sz="2000" dirty="0">
                <a:solidFill>
                  <a:schemeClr val="tx2"/>
                </a:solidFill>
              </a:rPr>
              <a:t>);</a:t>
            </a:r>
          </a:p>
          <a:p>
            <a:pPr lvl="1" eaLnBrk="1" hangingPunct="1"/>
            <a:r>
              <a:rPr lang="en-US" altLang="zh-CN" sz="2000" dirty="0">
                <a:solidFill>
                  <a:srgbClr val="0000FF"/>
                </a:solidFill>
              </a:rPr>
              <a:t>double </a:t>
            </a:r>
            <a:r>
              <a:rPr lang="en-US" altLang="zh-CN" sz="2000" dirty="0">
                <a:solidFill>
                  <a:schemeClr val="tx2"/>
                </a:solidFill>
              </a:rPr>
              <a:t>Max(</a:t>
            </a:r>
            <a:r>
              <a:rPr lang="en-US" altLang="zh-CN" sz="2000" dirty="0">
                <a:solidFill>
                  <a:srgbClr val="0000FF"/>
                </a:solidFill>
              </a:rPr>
              <a:t>double</a:t>
            </a:r>
            <a:r>
              <a:rPr lang="en-US" altLang="zh-CN" sz="2000" dirty="0">
                <a:solidFill>
                  <a:schemeClr val="tx2"/>
                </a:solidFill>
              </a:rPr>
              <a:t>, </a:t>
            </a:r>
            <a:r>
              <a:rPr lang="en-US" altLang="zh-CN" sz="2000" dirty="0">
                <a:solidFill>
                  <a:srgbClr val="0000FF"/>
                </a:solidFill>
              </a:rPr>
              <a:t>double</a:t>
            </a:r>
            <a:r>
              <a:rPr lang="en-US" altLang="zh-CN" sz="2000" dirty="0">
                <a:solidFill>
                  <a:schemeClr val="tx2"/>
                </a:solidFill>
              </a:rPr>
              <a:t>);</a:t>
            </a:r>
          </a:p>
          <a:p>
            <a:pPr lvl="1" eaLnBrk="1" hangingPunct="1"/>
            <a:r>
              <a:rPr lang="en-US" altLang="zh-CN" sz="2000" dirty="0">
                <a:solidFill>
                  <a:srgbClr val="0000FF"/>
                </a:solidFill>
              </a:rPr>
              <a:t>int </a:t>
            </a:r>
            <a:r>
              <a:rPr lang="en-US" altLang="zh-CN" sz="2000" dirty="0">
                <a:solidFill>
                  <a:schemeClr val="tx2"/>
                </a:solidFill>
              </a:rPr>
              <a:t>Max(</a:t>
            </a:r>
            <a:r>
              <a:rPr lang="en-US" altLang="zh-CN" sz="2000" dirty="0">
                <a:solidFill>
                  <a:srgbClr val="0000FF"/>
                </a:solidFill>
              </a:rPr>
              <a:t>int</a:t>
            </a:r>
            <a:r>
              <a:rPr lang="en-US" altLang="zh-CN" sz="2000" dirty="0">
                <a:solidFill>
                  <a:schemeClr val="tx2"/>
                </a:solidFill>
              </a:rPr>
              <a:t>, </a:t>
            </a:r>
            <a:r>
              <a:rPr lang="en-US" altLang="zh-CN" sz="2000" dirty="0">
                <a:solidFill>
                  <a:srgbClr val="0000FF"/>
                </a:solidFill>
              </a:rPr>
              <a:t>int</a:t>
            </a:r>
            <a:r>
              <a:rPr lang="en-US" altLang="zh-CN" sz="2000" dirty="0">
                <a:solidFill>
                  <a:schemeClr val="tx2"/>
                </a:solidFill>
              </a:rPr>
              <a:t>, </a:t>
            </a:r>
            <a:r>
              <a:rPr lang="en-US" altLang="zh-CN" sz="2000" dirty="0">
                <a:solidFill>
                  <a:srgbClr val="0000FF"/>
                </a:solidFill>
              </a:rPr>
              <a:t>int</a:t>
            </a:r>
            <a:r>
              <a:rPr lang="en-US" altLang="zh-CN" sz="2000" dirty="0">
                <a:solidFill>
                  <a:schemeClr val="tx2"/>
                </a:solidFill>
              </a:rPr>
              <a:t>);</a:t>
            </a:r>
          </a:p>
          <a:p>
            <a:pPr lvl="1" eaLnBrk="1" hangingPunct="1"/>
            <a:r>
              <a:rPr lang="en-US" altLang="zh-CN" sz="2000" dirty="0">
                <a:solidFill>
                  <a:srgbClr val="0000FF"/>
                </a:solidFill>
              </a:rPr>
              <a:t>int </a:t>
            </a:r>
            <a:r>
              <a:rPr lang="en-US" altLang="zh-CN" sz="2000" dirty="0">
                <a:solidFill>
                  <a:schemeClr val="tx2"/>
                </a:solidFill>
              </a:rPr>
              <a:t>Max(</a:t>
            </a:r>
            <a:r>
              <a:rPr lang="en-US" altLang="zh-CN" sz="2000" dirty="0">
                <a:solidFill>
                  <a:srgbClr val="0000FF"/>
                </a:solidFill>
              </a:rPr>
              <a:t>int</a:t>
            </a:r>
            <a:r>
              <a:rPr lang="en-US" altLang="zh-CN" sz="2000" dirty="0">
                <a:solidFill>
                  <a:schemeClr val="tx2"/>
                </a:solidFill>
              </a:rPr>
              <a:t>, </a:t>
            </a:r>
            <a:r>
              <a:rPr lang="en-US" altLang="zh-CN" sz="2000" dirty="0">
                <a:solidFill>
                  <a:srgbClr val="0000FF"/>
                </a:solidFill>
              </a:rPr>
              <a:t>int</a:t>
            </a:r>
            <a:r>
              <a:rPr lang="en-US" altLang="zh-CN" sz="2000" dirty="0">
                <a:solidFill>
                  <a:schemeClr val="tx2"/>
                </a:solidFill>
              </a:rPr>
              <a:t>, </a:t>
            </a:r>
            <a:r>
              <a:rPr lang="en-US" altLang="zh-CN" sz="2000" dirty="0">
                <a:solidFill>
                  <a:srgbClr val="0000FF"/>
                </a:solidFill>
              </a:rPr>
              <a:t>int</a:t>
            </a:r>
            <a:r>
              <a:rPr lang="en-US" altLang="zh-CN" sz="2000" dirty="0">
                <a:solidFill>
                  <a:schemeClr val="tx2"/>
                </a:solidFill>
              </a:rPr>
              <a:t>, </a:t>
            </a:r>
            <a:r>
              <a:rPr lang="en-US" altLang="zh-CN" sz="2000" dirty="0">
                <a:solidFill>
                  <a:srgbClr val="0000FF"/>
                </a:solidFill>
              </a:rPr>
              <a:t>int</a:t>
            </a:r>
            <a:r>
              <a:rPr lang="en-US" altLang="zh-CN" sz="2000" dirty="0">
                <a:solidFill>
                  <a:schemeClr val="tx2"/>
                </a:solidFill>
              </a:rPr>
              <a:t>);</a:t>
            </a:r>
          </a:p>
          <a:p>
            <a:pPr eaLnBrk="1" hangingPunct="1"/>
            <a:r>
              <a:rPr lang="zh-CN" altLang="en-US" sz="2400" dirty="0"/>
              <a:t>但 </a:t>
            </a:r>
            <a:r>
              <a:rPr lang="en-US" altLang="zh-CN" sz="2400" dirty="0">
                <a:solidFill>
                  <a:srgbClr val="0000FF"/>
                </a:solidFill>
              </a:rPr>
              <a:t>int</a:t>
            </a:r>
            <a:r>
              <a:rPr lang="en-US" altLang="zh-CN" sz="2400" dirty="0"/>
              <a:t> Max(</a:t>
            </a:r>
            <a:r>
              <a:rPr lang="en-US" altLang="zh-CN" sz="2400" dirty="0">
                <a:solidFill>
                  <a:srgbClr val="0000FF"/>
                </a:solidFill>
              </a:rPr>
              <a:t>int</a:t>
            </a:r>
            <a:r>
              <a:rPr lang="en-US" altLang="zh-CN" sz="2400" dirty="0"/>
              <a:t>&amp;, </a:t>
            </a:r>
            <a:r>
              <a:rPr lang="en-US" altLang="zh-CN" sz="2400" dirty="0">
                <a:solidFill>
                  <a:srgbClr val="0000FF"/>
                </a:solidFill>
              </a:rPr>
              <a:t>int</a:t>
            </a:r>
            <a:r>
              <a:rPr lang="en-US" altLang="zh-CN" sz="2400" dirty="0"/>
              <a:t>&amp;); </a:t>
            </a:r>
            <a:r>
              <a:rPr lang="zh-CN" altLang="en-US" sz="2400" dirty="0"/>
              <a:t>与上述函数却不能构成重载，因为下面的函数调用</a:t>
            </a:r>
          </a:p>
          <a:p>
            <a:pPr lvl="1" eaLnBrk="1" hangingPunct="1"/>
            <a:r>
              <a:rPr lang="en-US" altLang="zh-CN" sz="2000" dirty="0">
                <a:solidFill>
                  <a:srgbClr val="0000FF"/>
                </a:solidFill>
              </a:rPr>
              <a:t>int</a:t>
            </a:r>
            <a:r>
              <a:rPr lang="en-US" altLang="zh-CN" sz="2000" dirty="0">
                <a:solidFill>
                  <a:schemeClr val="tx2"/>
                </a:solidFill>
              </a:rPr>
              <a:t> a=1, b=2, c;</a:t>
            </a:r>
          </a:p>
          <a:p>
            <a:pPr lvl="1" eaLnBrk="1" hangingPunct="1"/>
            <a:r>
              <a:rPr lang="en-US" altLang="zh-CN" sz="2000" dirty="0">
                <a:solidFill>
                  <a:schemeClr val="tx2"/>
                </a:solidFill>
              </a:rPr>
              <a:t>c = Max(a, b);</a:t>
            </a:r>
          </a:p>
          <a:p>
            <a:pPr eaLnBrk="1" hangingPunct="1">
              <a:buFont typeface="Wingdings" pitchFamily="2" charset="2"/>
              <a:buNone/>
            </a:pPr>
            <a:r>
              <a:rPr lang="zh-CN" altLang="en-US" sz="2400" dirty="0"/>
              <a:t>  无法确定匹配 </a:t>
            </a:r>
            <a:r>
              <a:rPr lang="en-US" altLang="zh-CN" sz="2400" dirty="0">
                <a:solidFill>
                  <a:srgbClr val="0000FF"/>
                </a:solidFill>
              </a:rPr>
              <a:t>int</a:t>
            </a:r>
            <a:r>
              <a:rPr lang="en-US" altLang="zh-CN" sz="2400" dirty="0"/>
              <a:t> Max(</a:t>
            </a:r>
            <a:r>
              <a:rPr lang="en-US" altLang="zh-CN" sz="2400" dirty="0">
                <a:solidFill>
                  <a:srgbClr val="0000FF"/>
                </a:solidFill>
              </a:rPr>
              <a:t>int</a:t>
            </a:r>
            <a:r>
              <a:rPr lang="en-US" altLang="zh-CN" sz="2400" dirty="0"/>
              <a:t>, </a:t>
            </a:r>
            <a:r>
              <a:rPr lang="en-US" altLang="zh-CN" sz="2400" dirty="0">
                <a:solidFill>
                  <a:srgbClr val="0000FF"/>
                </a:solidFill>
              </a:rPr>
              <a:t>int</a:t>
            </a:r>
            <a:r>
              <a:rPr lang="en-US" altLang="zh-CN" sz="2400" dirty="0"/>
              <a:t>); </a:t>
            </a:r>
            <a:r>
              <a:rPr lang="zh-CN" altLang="en-US" sz="2400" dirty="0"/>
              <a:t>函数 </a:t>
            </a:r>
            <a:br>
              <a:rPr lang="zh-CN" altLang="en-US" sz="2400" dirty="0"/>
            </a:br>
            <a:r>
              <a:rPr lang="zh-CN" altLang="en-US" sz="2400" dirty="0"/>
              <a:t>还是匹配 </a:t>
            </a:r>
            <a:r>
              <a:rPr lang="en-US" altLang="zh-CN" sz="2400" dirty="0">
                <a:solidFill>
                  <a:srgbClr val="0000FF"/>
                </a:solidFill>
              </a:rPr>
              <a:t>int</a:t>
            </a:r>
            <a:r>
              <a:rPr lang="en-US" altLang="zh-CN" sz="2400" dirty="0"/>
              <a:t> Max(</a:t>
            </a:r>
            <a:r>
              <a:rPr lang="en-US" altLang="zh-CN" sz="2400" dirty="0">
                <a:solidFill>
                  <a:srgbClr val="0000FF"/>
                </a:solidFill>
              </a:rPr>
              <a:t>int</a:t>
            </a:r>
            <a:r>
              <a:rPr lang="en-US" altLang="zh-CN" sz="2400" dirty="0"/>
              <a:t>&amp;, </a:t>
            </a:r>
            <a:r>
              <a:rPr lang="en-US" altLang="zh-CN" sz="2400" dirty="0">
                <a:solidFill>
                  <a:srgbClr val="0000FF"/>
                </a:solidFill>
              </a:rPr>
              <a:t>int</a:t>
            </a:r>
            <a:r>
              <a:rPr lang="en-US" altLang="zh-CN" sz="2400" dirty="0"/>
              <a:t>&amp;); </a:t>
            </a:r>
            <a:r>
              <a:rPr lang="zh-CN" altLang="en-US" sz="2400" dirty="0"/>
              <a:t>函数</a:t>
            </a:r>
          </a:p>
        </p:txBody>
      </p:sp>
    </p:spTree>
    <p:extLst>
      <p:ext uri="{BB962C8B-B14F-4D97-AF65-F5344CB8AC3E}">
        <p14:creationId xmlns:p14="http://schemas.microsoft.com/office/powerpoint/2010/main" val="112893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9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79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79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79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79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798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798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798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798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798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t>6.5 </a:t>
            </a:r>
            <a:r>
              <a:rPr lang="zh-CN" altLang="en-US"/>
              <a:t>函数重载</a:t>
            </a:r>
          </a:p>
        </p:txBody>
      </p:sp>
      <p:sp>
        <p:nvSpPr>
          <p:cNvPr id="299011" name="Rectangle 3"/>
          <p:cNvSpPr>
            <a:spLocks noGrp="1" noChangeArrowheads="1"/>
          </p:cNvSpPr>
          <p:nvPr>
            <p:ph type="body" idx="1"/>
          </p:nvPr>
        </p:nvSpPr>
        <p:spPr/>
        <p:txBody>
          <a:bodyPr/>
          <a:lstStyle/>
          <a:p>
            <a:pPr eaLnBrk="1" hangingPunct="1"/>
            <a:r>
              <a:rPr lang="zh-CN" altLang="en-US" dirty="0"/>
              <a:t>匹配重载函数的规则 </a:t>
            </a:r>
            <a:r>
              <a:rPr lang="en-US" altLang="zh-CN" dirty="0"/>
              <a:t>C++ </a:t>
            </a:r>
            <a:r>
              <a:rPr lang="zh-CN" altLang="en-US" dirty="0"/>
              <a:t>按下列三个步骤的次序寻找匹配的重载函数：</a:t>
            </a:r>
          </a:p>
          <a:p>
            <a:pPr lvl="1" eaLnBrk="1" hangingPunct="1">
              <a:buFont typeface="Wingdings" pitchFamily="2" charset="2"/>
              <a:buNone/>
            </a:pPr>
            <a:r>
              <a:rPr lang="en-US" altLang="zh-CN" dirty="0"/>
              <a:t>(1) </a:t>
            </a:r>
            <a:r>
              <a:rPr lang="zh-CN" altLang="en-US" dirty="0"/>
              <a:t>根据数据类型寻找一个严格的匹配；</a:t>
            </a:r>
            <a:endParaRPr lang="en-US" altLang="zh-CN" dirty="0"/>
          </a:p>
          <a:p>
            <a:pPr lvl="1" eaLnBrk="1" hangingPunct="1">
              <a:buFont typeface="Wingdings" pitchFamily="2" charset="2"/>
              <a:buNone/>
            </a:pPr>
            <a:r>
              <a:rPr lang="en-US" altLang="zh-CN" dirty="0"/>
              <a:t>(2) </a:t>
            </a:r>
            <a:r>
              <a:rPr lang="zh-CN" altLang="en-US" dirty="0"/>
              <a:t>通过数据类型兼容性的隐式转换（自动转换）寻找</a:t>
            </a:r>
            <a:br>
              <a:rPr lang="zh-CN" altLang="en-US" dirty="0"/>
            </a:br>
            <a:r>
              <a:rPr lang="zh-CN" altLang="en-US" dirty="0"/>
              <a:t>  一个匹配</a:t>
            </a:r>
          </a:p>
          <a:p>
            <a:pPr lvl="1" eaLnBrk="1" hangingPunct="1">
              <a:buFont typeface="Wingdings" pitchFamily="2" charset="2"/>
              <a:buNone/>
            </a:pPr>
            <a:r>
              <a:rPr lang="en-US" altLang="zh-CN" dirty="0"/>
              <a:t>(3) </a:t>
            </a:r>
            <a:r>
              <a:rPr lang="zh-CN" altLang="en-US" dirty="0"/>
              <a:t>通过用户定义的类型转换寻找一个匹配（参见</a:t>
            </a:r>
            <a:br>
              <a:rPr lang="zh-CN" altLang="en-US" dirty="0"/>
            </a:br>
            <a:r>
              <a:rPr lang="zh-CN" altLang="en-US" dirty="0"/>
              <a:t>  第</a:t>
            </a:r>
            <a:r>
              <a:rPr lang="en-US" altLang="zh-CN" dirty="0"/>
              <a:t>12.4</a:t>
            </a:r>
            <a:r>
              <a:rPr lang="zh-CN" altLang="en-US" dirty="0"/>
              <a:t>节）</a:t>
            </a:r>
          </a:p>
          <a:p>
            <a:pPr eaLnBrk="1" hangingPunct="1">
              <a:lnSpc>
                <a:spcPct val="120000"/>
              </a:lnSpc>
            </a:pPr>
            <a:r>
              <a:rPr lang="zh-CN" altLang="en-US" dirty="0"/>
              <a:t>倘若经过上述三种寻找仍不能匹配一个重载函数，则编译系统放弃匹配并给出错误报告。</a:t>
            </a:r>
          </a:p>
        </p:txBody>
      </p:sp>
    </p:spTree>
    <p:extLst>
      <p:ext uri="{BB962C8B-B14F-4D97-AF65-F5344CB8AC3E}">
        <p14:creationId xmlns:p14="http://schemas.microsoft.com/office/powerpoint/2010/main" val="267681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90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90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901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9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dirty="0"/>
              <a:t>主要内容</a:t>
            </a:r>
          </a:p>
        </p:txBody>
      </p:sp>
      <p:sp>
        <p:nvSpPr>
          <p:cNvPr id="18435" name="内容占位符 2"/>
          <p:cNvSpPr>
            <a:spLocks noGrp="1"/>
          </p:cNvSpPr>
          <p:nvPr>
            <p:ph idx="1"/>
          </p:nvPr>
        </p:nvSpPr>
        <p:spPr>
          <a:xfrm>
            <a:off x="457200" y="1295400"/>
            <a:ext cx="8229600" cy="5334000"/>
          </a:xfrm>
        </p:spPr>
        <p:txBody>
          <a:bodyPr/>
          <a:lstStyle/>
          <a:p>
            <a:pPr eaLnBrk="1" hangingPunct="1">
              <a:buNone/>
            </a:pPr>
            <a:r>
              <a:rPr lang="zh-CN" altLang="en-US" sz="2400" dirty="0">
                <a:solidFill>
                  <a:schemeClr val="bg1">
                    <a:lumMod val="65000"/>
                  </a:schemeClr>
                </a:solidFill>
              </a:rPr>
              <a:t>一、</a:t>
            </a:r>
            <a:r>
              <a:rPr lang="zh-CN" altLang="en-US" dirty="0">
                <a:solidFill>
                  <a:schemeClr val="bg1">
                    <a:lumMod val="65000"/>
                  </a:schemeClr>
                </a:solidFill>
              </a:rPr>
              <a:t>从变量名谈起</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a:t>
            </a:r>
            <a:r>
              <a:rPr lang="en-US" altLang="zh-CN" dirty="0">
                <a:solidFill>
                  <a:schemeClr val="bg1">
                    <a:lumMod val="65000"/>
                  </a:schemeClr>
                </a:solidFill>
              </a:rPr>
              <a:t>(</a:t>
            </a:r>
            <a:r>
              <a:rPr lang="zh-CN" altLang="en-US" dirty="0">
                <a:solidFill>
                  <a:schemeClr val="bg1">
                    <a:lumMod val="65000"/>
                  </a:schemeClr>
                </a:solidFill>
              </a:rPr>
              <a:t>原</a:t>
            </a:r>
            <a:r>
              <a:rPr lang="en-US" altLang="zh-CN" dirty="0">
                <a:solidFill>
                  <a:schemeClr val="bg1">
                    <a:lumMod val="65000"/>
                  </a:schemeClr>
                </a:solidFill>
              </a:rPr>
              <a:t>)</a:t>
            </a:r>
            <a:r>
              <a:rPr lang="zh-CN" altLang="en-US" dirty="0">
                <a:solidFill>
                  <a:schemeClr val="bg1">
                    <a:lumMod val="65000"/>
                  </a:schemeClr>
                </a:solidFill>
              </a:rPr>
              <a:t>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变量的间接名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变量的别名</a:t>
            </a:r>
            <a:endParaRPr lang="en-US" altLang="zh-CN" dirty="0">
              <a:solidFill>
                <a:schemeClr val="bg1">
                  <a:lumMod val="65000"/>
                </a:schemeClr>
              </a:solidFill>
            </a:endParaRPr>
          </a:p>
          <a:p>
            <a:pPr eaLnBrk="1" hangingPunct="1">
              <a:buNone/>
            </a:pPr>
            <a:r>
              <a:rPr lang="zh-CN" altLang="en-US" sz="3200" dirty="0"/>
              <a:t>二、从泛型程序设计谈起</a:t>
            </a:r>
            <a:endParaRPr lang="en-US" altLang="zh-CN" sz="3200" dirty="0"/>
          </a:p>
          <a:p>
            <a:pPr lvl="1" eaLnBrk="1" hangingPunct="1"/>
            <a:r>
              <a:rPr lang="zh-CN" altLang="en-US" sz="2800" dirty="0">
                <a:solidFill>
                  <a:schemeClr val="bg1">
                    <a:lumMod val="65000"/>
                  </a:schemeClr>
                </a:solidFill>
              </a:rPr>
              <a:t>函数重载</a:t>
            </a:r>
            <a:endParaRPr lang="en-US" altLang="zh-CN" sz="2800" dirty="0">
              <a:solidFill>
                <a:schemeClr val="bg1">
                  <a:lumMod val="65000"/>
                </a:schemeClr>
              </a:solidFill>
            </a:endParaRPr>
          </a:p>
          <a:p>
            <a:pPr lvl="1" eaLnBrk="1" hangingPunct="1"/>
            <a:r>
              <a:rPr lang="zh-CN" altLang="en-US" sz="2800" dirty="0">
                <a:solidFill>
                  <a:srgbClr val="0000FF"/>
                </a:solidFill>
              </a:rPr>
              <a:t>函数模板</a:t>
            </a:r>
            <a:endParaRPr lang="en-US" altLang="zh-CN" sz="2800" dirty="0">
              <a:solidFill>
                <a:srgbClr val="0000FF"/>
              </a:solidFill>
            </a:endParaRPr>
          </a:p>
          <a:p>
            <a:pPr lvl="1" eaLnBrk="1" hangingPunct="1"/>
            <a:r>
              <a:rPr lang="zh-CN" altLang="en-US" sz="2800" dirty="0">
                <a:solidFill>
                  <a:srgbClr val="0000FF"/>
                </a:solidFill>
              </a:rPr>
              <a:t>运算符函数</a:t>
            </a:r>
            <a:endParaRPr lang="en-US" altLang="zh-CN" dirty="0">
              <a:solidFill>
                <a:srgbClr val="0000FF"/>
              </a:solidFill>
            </a:endParaRPr>
          </a:p>
          <a:p>
            <a:pPr eaLnBrk="1" hangingPunct="1">
              <a:buNone/>
            </a:pPr>
            <a:r>
              <a:rPr lang="zh-CN" altLang="en-US" dirty="0">
                <a:solidFill>
                  <a:schemeClr val="bg1">
                    <a:lumMod val="65000"/>
                  </a:schemeClr>
                </a:solidFill>
              </a:rPr>
              <a:t>三、其他</a:t>
            </a:r>
            <a:endParaRPr lang="en-US" altLang="zh-CN" dirty="0">
              <a:solidFill>
                <a:schemeClr val="bg1">
                  <a:lumMod val="65000"/>
                </a:schemeClr>
              </a:solidFill>
            </a:endParaRPr>
          </a:p>
          <a:p>
            <a:pPr lvl="1" eaLnBrk="1" hangingPunct="1"/>
            <a:r>
              <a:rPr lang="zh-CN" altLang="en-US" dirty="0">
                <a:solidFill>
                  <a:schemeClr val="bg1">
                    <a:lumMod val="65000"/>
                  </a:schemeClr>
                </a:solidFill>
              </a:rPr>
              <a:t>默认参数、内联函数</a:t>
            </a:r>
            <a:r>
              <a:rPr lang="en-US" altLang="zh-CN" dirty="0">
                <a:solidFill>
                  <a:schemeClr val="bg1">
                    <a:lumMod val="65000"/>
                  </a:schemeClr>
                </a:solidFill>
              </a:rPr>
              <a:t/>
            </a:r>
            <a:br>
              <a:rPr lang="en-US" altLang="zh-CN" dirty="0">
                <a:solidFill>
                  <a:schemeClr val="bg1">
                    <a:lumMod val="65000"/>
                  </a:schemeClr>
                </a:solidFill>
              </a:rPr>
            </a:br>
            <a:r>
              <a:rPr lang="zh-CN" altLang="en-US" dirty="0">
                <a:solidFill>
                  <a:schemeClr val="bg1">
                    <a:lumMod val="65000"/>
                  </a:schemeClr>
                </a:solidFill>
              </a:rPr>
              <a:t>（通过“就地展开”理解形参与实参的关系）</a:t>
            </a:r>
            <a:endParaRPr lang="en-US" altLang="zh-CN" dirty="0">
              <a:solidFill>
                <a:schemeClr val="bg1">
                  <a:lumMod val="65000"/>
                </a:schemeClr>
              </a:solidFill>
            </a:endParaRPr>
          </a:p>
        </p:txBody>
      </p:sp>
    </p:spTree>
    <p:extLst>
      <p:ext uri="{BB962C8B-B14F-4D97-AF65-F5344CB8AC3E}">
        <p14:creationId xmlns:p14="http://schemas.microsoft.com/office/powerpoint/2010/main" val="23138255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279555" name="Rectangle 3"/>
          <p:cNvSpPr>
            <a:spLocks noGrp="1" noChangeArrowheads="1"/>
          </p:cNvSpPr>
          <p:nvPr>
            <p:ph type="body" idx="1"/>
          </p:nvPr>
        </p:nvSpPr>
        <p:spPr/>
        <p:txBody>
          <a:bodyPr/>
          <a:lstStyle/>
          <a:p>
            <a:pPr marL="360000" eaLnBrk="1" hangingPunct="1">
              <a:lnSpc>
                <a:spcPct val="114000"/>
              </a:lnSpc>
              <a:spcBef>
                <a:spcPts val="600"/>
              </a:spcBef>
            </a:pPr>
            <a:r>
              <a:rPr lang="zh-CN" altLang="en-US" dirty="0"/>
              <a:t>模板是</a:t>
            </a:r>
            <a:r>
              <a:rPr lang="zh-CN" altLang="en-US" dirty="0">
                <a:solidFill>
                  <a:srgbClr val="990000"/>
                </a:solidFill>
                <a:latin typeface="微软雅黑" panose="020B0503020204020204" pitchFamily="34" charset="-122"/>
                <a:ea typeface="微软雅黑" panose="020B0503020204020204" pitchFamily="34" charset="-122"/>
              </a:rPr>
              <a:t>泛型</a:t>
            </a:r>
            <a:r>
              <a:rPr lang="zh-CN" altLang="en-US" dirty="0"/>
              <a:t>程序设计的具体体现；是实现</a:t>
            </a:r>
            <a:r>
              <a:rPr lang="zh-CN" altLang="en-US" dirty="0">
                <a:solidFill>
                  <a:srgbClr val="990000"/>
                </a:solidFill>
                <a:latin typeface="微软雅黑" panose="020B0503020204020204" pitchFamily="34" charset="-122"/>
                <a:ea typeface="微软雅黑" panose="020B0503020204020204" pitchFamily="34" charset="-122"/>
              </a:rPr>
              <a:t>代码复用</a:t>
            </a:r>
            <a:r>
              <a:rPr lang="zh-CN" altLang="en-US" dirty="0"/>
              <a:t>的重要方法。</a:t>
            </a:r>
            <a:endParaRPr lang="en-US" altLang="zh-CN" dirty="0"/>
          </a:p>
          <a:p>
            <a:pPr marL="360000" eaLnBrk="1" hangingPunct="1">
              <a:lnSpc>
                <a:spcPct val="114000"/>
              </a:lnSpc>
              <a:spcBef>
                <a:spcPts val="600"/>
              </a:spcBef>
            </a:pPr>
            <a:r>
              <a:rPr lang="zh-CN" altLang="en-US" dirty="0"/>
              <a:t>函数模板更加体现了</a:t>
            </a:r>
            <a:r>
              <a:rPr lang="en-US" altLang="zh-CN" dirty="0"/>
              <a:t>C++</a:t>
            </a:r>
            <a:r>
              <a:rPr lang="zh-CN" altLang="en-US" dirty="0"/>
              <a:t>语言</a:t>
            </a:r>
            <a:r>
              <a:rPr lang="en-US" altLang="zh-CN" dirty="0">
                <a:latin typeface="Times New Roman" pitchFamily="18" charset="0"/>
              </a:rPr>
              <a:t>“</a:t>
            </a:r>
            <a:r>
              <a:rPr lang="zh-CN" altLang="en-US" dirty="0">
                <a:solidFill>
                  <a:srgbClr val="990000"/>
                </a:solidFill>
                <a:latin typeface="微软雅黑" panose="020B0503020204020204" pitchFamily="34" charset="-122"/>
                <a:ea typeface="微软雅黑" panose="020B0503020204020204" pitchFamily="34" charset="-122"/>
              </a:rPr>
              <a:t>将方便让给程序员，把困难留给编译器</a:t>
            </a:r>
            <a:r>
              <a:rPr lang="zh-CN" altLang="en-US" dirty="0">
                <a:latin typeface="Times New Roman" pitchFamily="18" charset="0"/>
              </a:rPr>
              <a:t>”</a:t>
            </a:r>
            <a:r>
              <a:rPr lang="zh-CN" altLang="en-US" dirty="0"/>
              <a:t>的精神。</a:t>
            </a:r>
            <a:r>
              <a:rPr lang="en-US" altLang="zh-CN" dirty="0"/>
              <a:t>C++</a:t>
            </a:r>
            <a:r>
              <a:rPr lang="zh-CN" altLang="en-US" dirty="0"/>
              <a:t>允许程序员在源程序级将那些语句完全相同，仅数据类型不同的函数做成模具──函数模板</a:t>
            </a:r>
            <a:r>
              <a:rPr lang="en-US" altLang="zh-CN" dirty="0"/>
              <a:t>(</a:t>
            </a:r>
            <a:r>
              <a:rPr lang="en-US" altLang="zh-CN" dirty="0">
                <a:solidFill>
                  <a:srgbClr val="0000FF"/>
                </a:solidFill>
              </a:rPr>
              <a:t>template</a:t>
            </a:r>
            <a:r>
              <a:rPr lang="en-US" altLang="zh-CN" dirty="0"/>
              <a:t>)</a:t>
            </a:r>
            <a:endParaRPr lang="zh-CN" altLang="en-US" dirty="0"/>
          </a:p>
          <a:p>
            <a:pPr marL="360000" eaLnBrk="1" hangingPunct="1">
              <a:lnSpc>
                <a:spcPct val="114000"/>
              </a:lnSpc>
              <a:spcBef>
                <a:spcPts val="600"/>
              </a:spcBef>
            </a:pPr>
            <a:r>
              <a:rPr lang="zh-CN" altLang="en-US" dirty="0"/>
              <a:t>在编译过程中遇到相应的函数调用时，由编译系统根据函数模板</a:t>
            </a:r>
            <a:r>
              <a:rPr lang="zh-CN" altLang="en-US" dirty="0">
                <a:solidFill>
                  <a:srgbClr val="990000"/>
                </a:solidFill>
                <a:latin typeface="微软雅黑" panose="020B0503020204020204" pitchFamily="34" charset="-122"/>
                <a:ea typeface="微软雅黑" panose="020B0503020204020204" pitchFamily="34" charset="-122"/>
              </a:rPr>
              <a:t>自动生成</a:t>
            </a:r>
            <a:r>
              <a:rPr lang="zh-CN" altLang="en-US" dirty="0"/>
              <a:t>模板函数</a:t>
            </a:r>
            <a:r>
              <a:rPr lang="zh-CN" altLang="en-US" dirty="0">
                <a:solidFill>
                  <a:srgbClr val="990000"/>
                </a:solidFill>
                <a:latin typeface="微软雅黑" panose="020B0503020204020204" pitchFamily="34" charset="-122"/>
                <a:ea typeface="微软雅黑" panose="020B0503020204020204" pitchFamily="34" charset="-122"/>
              </a:rPr>
              <a:t>然后进行编译。省却了</a:t>
            </a:r>
            <a:r>
              <a:rPr lang="zh-CN" altLang="en-US" dirty="0"/>
              <a:t>程序员编写一批重载函数还不一定能穷尽所有数据类型的麻烦。</a:t>
            </a:r>
          </a:p>
        </p:txBody>
      </p:sp>
    </p:spTree>
    <p:extLst>
      <p:ext uri="{BB962C8B-B14F-4D97-AF65-F5344CB8AC3E}">
        <p14:creationId xmlns:p14="http://schemas.microsoft.com/office/powerpoint/2010/main" val="885492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9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9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307203" name="Rectangle 3"/>
          <p:cNvSpPr>
            <a:spLocks noGrp="1" noChangeArrowheads="1"/>
          </p:cNvSpPr>
          <p:nvPr>
            <p:ph type="body" idx="1"/>
          </p:nvPr>
        </p:nvSpPr>
        <p:spPr>
          <a:xfrm>
            <a:off x="381000" y="1266825"/>
            <a:ext cx="8610600" cy="5334000"/>
          </a:xfrm>
        </p:spPr>
        <p:txBody>
          <a:bodyPr/>
          <a:lstStyle/>
          <a:p>
            <a:pPr eaLnBrk="1" hangingPunct="1"/>
            <a:r>
              <a:rPr lang="en-US" altLang="zh-CN" dirty="0"/>
              <a:t>6.8.1 </a:t>
            </a:r>
            <a:r>
              <a:rPr lang="zh-CN" altLang="en-US" dirty="0"/>
              <a:t>描述函数模板</a:t>
            </a:r>
          </a:p>
          <a:p>
            <a:pPr lvl="1" eaLnBrk="1" hangingPunct="1"/>
            <a:r>
              <a:rPr lang="zh-CN" altLang="en-US" dirty="0"/>
              <a:t>函数模板描述声明（并非定义）的格式</a:t>
            </a:r>
          </a:p>
          <a:p>
            <a:pPr lvl="1" eaLnBrk="1" hangingPunct="1">
              <a:spcBef>
                <a:spcPct val="25000"/>
              </a:spcBef>
              <a:buFont typeface="Wingdings" pitchFamily="2" charset="2"/>
              <a:buNone/>
            </a:pPr>
            <a:r>
              <a:rPr lang="en-US" altLang="zh-CN" dirty="0">
                <a:solidFill>
                  <a:srgbClr val="0000FF"/>
                </a:solidFill>
              </a:rPr>
              <a:t>  template</a:t>
            </a:r>
            <a:r>
              <a:rPr lang="en-US" altLang="zh-CN" dirty="0">
                <a:solidFill>
                  <a:schemeClr val="tx2"/>
                </a:solidFill>
              </a:rPr>
              <a:t> &lt;</a:t>
            </a:r>
            <a:r>
              <a:rPr lang="en-US" altLang="zh-CN" dirty="0" err="1">
                <a:solidFill>
                  <a:srgbClr val="0000FF"/>
                </a:solidFill>
              </a:rPr>
              <a:t>typename</a:t>
            </a:r>
            <a:r>
              <a:rPr lang="en-US" altLang="zh-CN" dirty="0">
                <a:solidFill>
                  <a:schemeClr val="tx2"/>
                </a:solidFill>
              </a:rPr>
              <a:t> </a:t>
            </a:r>
            <a:r>
              <a:rPr lang="zh-CN" altLang="en-US" dirty="0">
                <a:solidFill>
                  <a:schemeClr val="tx2"/>
                </a:solidFill>
                <a:ea typeface="楷体_GB2312" pitchFamily="49" charset="-122"/>
              </a:rPr>
              <a:t>形式数据类型表</a:t>
            </a:r>
            <a:r>
              <a:rPr lang="en-US" altLang="zh-CN" dirty="0">
                <a:solidFill>
                  <a:schemeClr val="tx2"/>
                </a:solidFill>
              </a:rPr>
              <a:t>&gt;</a:t>
            </a:r>
            <a:br>
              <a:rPr lang="en-US" altLang="zh-CN" dirty="0">
                <a:solidFill>
                  <a:schemeClr val="tx2"/>
                </a:solidFill>
              </a:rPr>
            </a:br>
            <a:r>
              <a:rPr lang="en-US" altLang="zh-CN" sz="2000" dirty="0">
                <a:solidFill>
                  <a:schemeClr val="tx2"/>
                </a:solidFill>
              </a:rPr>
              <a:t> </a:t>
            </a:r>
            <a:r>
              <a:rPr lang="zh-CN" altLang="en-US" dirty="0">
                <a:solidFill>
                  <a:schemeClr val="tx2"/>
                </a:solidFill>
                <a:ea typeface="楷体_GB2312" pitchFamily="49" charset="-122"/>
              </a:rPr>
              <a:t>返回类型 函数模板名</a:t>
            </a:r>
            <a:r>
              <a:rPr lang="en-US" altLang="zh-CN" dirty="0">
                <a:solidFill>
                  <a:schemeClr val="tx2"/>
                </a:solidFill>
              </a:rPr>
              <a:t>(</a:t>
            </a:r>
            <a:r>
              <a:rPr lang="zh-CN" altLang="en-US" dirty="0">
                <a:solidFill>
                  <a:schemeClr val="tx2"/>
                </a:solidFill>
                <a:ea typeface="楷体_GB2312" pitchFamily="49" charset="-122"/>
              </a:rPr>
              <a:t>形式参数表</a:t>
            </a:r>
            <a:r>
              <a:rPr lang="en-US" altLang="zh-CN" dirty="0">
                <a:solidFill>
                  <a:schemeClr val="tx2"/>
                </a:solidFill>
              </a:rPr>
              <a:t>)</a:t>
            </a:r>
          </a:p>
          <a:p>
            <a:pPr lvl="1" eaLnBrk="1" hangingPunct="1">
              <a:spcBef>
                <a:spcPct val="0"/>
              </a:spcBef>
              <a:buFont typeface="Wingdings" pitchFamily="2" charset="2"/>
              <a:buNone/>
            </a:pPr>
            <a:r>
              <a:rPr lang="en-US" altLang="zh-CN" dirty="0">
                <a:solidFill>
                  <a:schemeClr val="tx2"/>
                </a:solidFill>
              </a:rPr>
              <a:t>  {</a:t>
            </a:r>
          </a:p>
          <a:p>
            <a:pPr lvl="1" eaLnBrk="1" hangingPunct="1">
              <a:spcBef>
                <a:spcPct val="0"/>
              </a:spcBef>
              <a:buFont typeface="Wingdings" pitchFamily="2" charset="2"/>
              <a:buNone/>
            </a:pPr>
            <a:r>
              <a:rPr lang="en-US" altLang="zh-CN" dirty="0">
                <a:solidFill>
                  <a:schemeClr val="tx2"/>
                </a:solidFill>
              </a:rPr>
              <a:t>      </a:t>
            </a:r>
            <a:r>
              <a:rPr lang="en-US" altLang="zh-CN" dirty="0">
                <a:solidFill>
                  <a:srgbClr val="990000"/>
                </a:solidFill>
              </a:rPr>
              <a:t>// </a:t>
            </a:r>
            <a:r>
              <a:rPr lang="zh-CN" altLang="en-US" dirty="0">
                <a:solidFill>
                  <a:srgbClr val="990000"/>
                </a:solidFill>
              </a:rPr>
              <a:t>函数模板体</a:t>
            </a:r>
          </a:p>
          <a:p>
            <a:pPr lvl="1" eaLnBrk="1" hangingPunct="1">
              <a:spcBef>
                <a:spcPct val="0"/>
              </a:spcBef>
              <a:buFont typeface="Wingdings" pitchFamily="2" charset="2"/>
              <a:buNone/>
            </a:pPr>
            <a:r>
              <a:rPr lang="en-US" altLang="zh-CN" dirty="0">
                <a:solidFill>
                  <a:schemeClr val="tx2"/>
                </a:solidFill>
              </a:rPr>
              <a:t>  }</a:t>
            </a:r>
          </a:p>
          <a:p>
            <a:pPr lvl="1" eaLnBrk="1" hangingPunct="1">
              <a:spcBef>
                <a:spcPct val="0"/>
              </a:spcBef>
              <a:buFont typeface="Wingdings" pitchFamily="2" charset="2"/>
              <a:buNone/>
            </a:pPr>
            <a:endParaRPr lang="en-US" altLang="zh-CN" dirty="0">
              <a:solidFill>
                <a:schemeClr val="tx2"/>
              </a:solidFill>
            </a:endParaRPr>
          </a:p>
          <a:p>
            <a:pPr eaLnBrk="1" hangingPunct="1">
              <a:spcBef>
                <a:spcPct val="0"/>
              </a:spcBef>
            </a:pPr>
            <a:r>
              <a:rPr lang="zh-CN" altLang="en-US" dirty="0"/>
              <a:t>说明</a:t>
            </a:r>
          </a:p>
          <a:p>
            <a:pPr lvl="1" eaLnBrk="1" hangingPunct="1"/>
            <a:r>
              <a:rPr lang="en-US" altLang="zh-CN" dirty="0">
                <a:solidFill>
                  <a:srgbClr val="0000FF"/>
                </a:solidFill>
              </a:rPr>
              <a:t>template</a:t>
            </a:r>
            <a:r>
              <a:rPr lang="en-US" altLang="zh-CN" dirty="0"/>
              <a:t>, </a:t>
            </a:r>
            <a:r>
              <a:rPr lang="en-US" altLang="zh-CN" dirty="0" err="1">
                <a:solidFill>
                  <a:srgbClr val="0000FF"/>
                </a:solidFill>
              </a:rPr>
              <a:t>typename</a:t>
            </a:r>
            <a:r>
              <a:rPr lang="zh-CN" altLang="en-US" dirty="0"/>
              <a:t>都是</a:t>
            </a:r>
            <a:r>
              <a:rPr lang="en-US" altLang="zh-CN" dirty="0"/>
              <a:t>C++</a:t>
            </a:r>
            <a:r>
              <a:rPr lang="zh-CN" altLang="en-US" dirty="0"/>
              <a:t>的保留字；</a:t>
            </a:r>
          </a:p>
          <a:p>
            <a:pPr lvl="1" eaLnBrk="1" hangingPunct="1"/>
            <a:r>
              <a:rPr lang="zh-CN" altLang="en-US" dirty="0"/>
              <a:t>形式数据类型需要用自定义的标识符</a:t>
            </a:r>
            <a:r>
              <a:rPr lang="en-US" altLang="zh-CN" dirty="0"/>
              <a:t>(</a:t>
            </a:r>
            <a:r>
              <a:rPr lang="zh-CN" altLang="en-US" dirty="0"/>
              <a:t>如：</a:t>
            </a:r>
            <a:r>
              <a:rPr lang="en-US" altLang="zh-CN" dirty="0"/>
              <a:t>T</a:t>
            </a:r>
            <a:r>
              <a:rPr lang="zh-CN" altLang="en-US" dirty="0"/>
              <a:t>，</a:t>
            </a:r>
            <a:r>
              <a:rPr lang="en-US" altLang="zh-CN" dirty="0"/>
              <a:t>T1</a:t>
            </a:r>
            <a:r>
              <a:rPr lang="zh-CN" altLang="en-US" dirty="0"/>
              <a:t>，</a:t>
            </a:r>
            <a:r>
              <a:rPr lang="en-US" altLang="zh-CN" dirty="0"/>
              <a:t>TYPE)</a:t>
            </a:r>
            <a:r>
              <a:rPr lang="zh-CN" altLang="en-US" dirty="0"/>
              <a:t>表示，代表某种可能的数据类型。</a:t>
            </a:r>
            <a:endParaRPr lang="zh-CN" altLang="en-US" dirty="0">
              <a:solidFill>
                <a:schemeClr val="tx2"/>
              </a:solidFill>
            </a:endParaRPr>
          </a:p>
        </p:txBody>
      </p:sp>
    </p:spTree>
    <p:extLst>
      <p:ext uri="{BB962C8B-B14F-4D97-AF65-F5344CB8AC3E}">
        <p14:creationId xmlns:p14="http://schemas.microsoft.com/office/powerpoint/2010/main" val="47339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72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0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720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20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20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20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20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720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72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308227" name="Rectangle 3"/>
          <p:cNvSpPr>
            <a:spLocks noGrp="1" noChangeArrowheads="1"/>
          </p:cNvSpPr>
          <p:nvPr>
            <p:ph type="body" idx="1"/>
          </p:nvPr>
        </p:nvSpPr>
        <p:spPr/>
        <p:txBody>
          <a:bodyPr/>
          <a:lstStyle/>
          <a:p>
            <a:pPr eaLnBrk="1" hangingPunct="1"/>
            <a:r>
              <a:rPr lang="zh-CN" altLang="en-US"/>
              <a:t>例</a:t>
            </a:r>
            <a:r>
              <a:rPr lang="en-US" altLang="zh-CN"/>
              <a:t>6.8</a:t>
            </a:r>
          </a:p>
          <a:p>
            <a:pPr lvl="1" eaLnBrk="1" hangingPunct="1"/>
            <a:r>
              <a:rPr lang="zh-CN" altLang="en-US"/>
              <a:t>对于给定的两个实参，返回其中较大值的函数模板</a:t>
            </a:r>
          </a:p>
          <a:p>
            <a:pPr lvl="1" eaLnBrk="1" hangingPunct="1">
              <a:spcBef>
                <a:spcPct val="0"/>
              </a:spcBef>
              <a:buFont typeface="Wingdings" pitchFamily="2" charset="2"/>
              <a:buNone/>
            </a:pPr>
            <a:r>
              <a:rPr lang="en-US" altLang="zh-CN">
                <a:solidFill>
                  <a:srgbClr val="0000FF"/>
                </a:solidFill>
              </a:rPr>
              <a:t>  template</a:t>
            </a:r>
            <a:r>
              <a:rPr lang="en-US" altLang="zh-CN">
                <a:solidFill>
                  <a:schemeClr val="tx2"/>
                </a:solidFill>
              </a:rPr>
              <a:t> &lt;</a:t>
            </a:r>
            <a:r>
              <a:rPr lang="en-US" altLang="zh-CN">
                <a:solidFill>
                  <a:srgbClr val="0000FF"/>
                </a:solidFill>
              </a:rPr>
              <a:t>typename </a:t>
            </a:r>
            <a:r>
              <a:rPr lang="en-US" altLang="zh-CN">
                <a:solidFill>
                  <a:schemeClr val="tx2"/>
                </a:solidFill>
              </a:rPr>
              <a:t>T&gt; T Max(T a, T b)</a:t>
            </a:r>
          </a:p>
          <a:p>
            <a:pPr lvl="1" eaLnBrk="1" hangingPunct="1">
              <a:spcBef>
                <a:spcPct val="0"/>
              </a:spcBef>
              <a:buFont typeface="Wingdings" pitchFamily="2" charset="2"/>
              <a:buNone/>
            </a:pPr>
            <a:r>
              <a:rPr lang="en-US" altLang="zh-CN">
                <a:solidFill>
                  <a:schemeClr val="tx2"/>
                </a:solidFill>
              </a:rPr>
              <a:t>  {</a:t>
            </a:r>
          </a:p>
          <a:p>
            <a:pPr lvl="1" eaLnBrk="1" hangingPunct="1">
              <a:spcBef>
                <a:spcPct val="0"/>
              </a:spcBef>
              <a:buFont typeface="Wingdings" pitchFamily="2" charset="2"/>
              <a:buNone/>
            </a:pPr>
            <a:r>
              <a:rPr lang="en-US" altLang="zh-CN">
                <a:solidFill>
                  <a:schemeClr val="tx2"/>
                </a:solidFill>
              </a:rPr>
              <a:t>      </a:t>
            </a:r>
            <a:r>
              <a:rPr lang="en-US" altLang="zh-CN">
                <a:solidFill>
                  <a:srgbClr val="0000FF"/>
                </a:solidFill>
              </a:rPr>
              <a:t>return</a:t>
            </a:r>
            <a:r>
              <a:rPr lang="en-US" altLang="zh-CN">
                <a:solidFill>
                  <a:schemeClr val="tx2"/>
                </a:solidFill>
              </a:rPr>
              <a:t> (a&gt;b) ? a : b;</a:t>
            </a:r>
          </a:p>
          <a:p>
            <a:pPr lvl="1" eaLnBrk="1" hangingPunct="1">
              <a:spcBef>
                <a:spcPct val="0"/>
              </a:spcBef>
              <a:buFont typeface="Wingdings" pitchFamily="2" charset="2"/>
              <a:buNone/>
            </a:pPr>
            <a:r>
              <a:rPr lang="en-US" altLang="zh-CN">
                <a:solidFill>
                  <a:schemeClr val="tx2"/>
                </a:solidFill>
              </a:rPr>
              <a:t>  }</a:t>
            </a:r>
            <a:endParaRPr lang="zh-CN" altLang="en-US">
              <a:solidFill>
                <a:schemeClr val="tx2"/>
              </a:solidFill>
            </a:endParaRPr>
          </a:p>
          <a:p>
            <a:pPr eaLnBrk="1" hangingPunct="1"/>
            <a:r>
              <a:rPr lang="zh-CN" altLang="en-US"/>
              <a:t>说明</a:t>
            </a:r>
          </a:p>
          <a:p>
            <a:pPr lvl="1" eaLnBrk="1" hangingPunct="1"/>
            <a:r>
              <a:rPr lang="zh-CN" altLang="en-US"/>
              <a:t>该函数有返回类型，为</a:t>
            </a:r>
            <a:r>
              <a:rPr lang="en-US" altLang="zh-CN"/>
              <a:t>T</a:t>
            </a:r>
            <a:r>
              <a:rPr lang="zh-CN" altLang="en-US"/>
              <a:t>所代表的数据类型；</a:t>
            </a:r>
          </a:p>
          <a:p>
            <a:pPr lvl="1" eaLnBrk="1" hangingPunct="1"/>
            <a:r>
              <a:rPr lang="zh-CN" altLang="en-US"/>
              <a:t>该函数有两个形式参数，数据类型亦为</a:t>
            </a:r>
            <a:r>
              <a:rPr lang="en-US" altLang="zh-CN"/>
              <a:t>T</a:t>
            </a:r>
            <a:r>
              <a:rPr lang="zh-CN" altLang="en-US"/>
              <a:t>；</a:t>
            </a:r>
          </a:p>
          <a:p>
            <a:pPr lvl="1" eaLnBrk="1" hangingPunct="1"/>
            <a:r>
              <a:rPr lang="zh-CN" altLang="en-US"/>
              <a:t>函数体中涉及的操作（如</a:t>
            </a:r>
            <a:r>
              <a:rPr lang="en-US" altLang="zh-CN"/>
              <a:t>a&gt;b</a:t>
            </a:r>
            <a:r>
              <a:rPr lang="zh-CN" altLang="en-US"/>
              <a:t>）能否执行取决于使用该模板的实际数据类型；</a:t>
            </a:r>
          </a:p>
          <a:p>
            <a:pPr lvl="1" eaLnBrk="1" hangingPunct="1"/>
            <a:r>
              <a:rPr lang="zh-CN" altLang="en-US"/>
              <a:t>在函数模板中不变的是操作，可变的是数据类型。</a:t>
            </a:r>
          </a:p>
        </p:txBody>
      </p:sp>
      <p:grpSp>
        <p:nvGrpSpPr>
          <p:cNvPr id="2" name="Group 12"/>
          <p:cNvGrpSpPr>
            <a:grpSpLocks/>
          </p:cNvGrpSpPr>
          <p:nvPr/>
        </p:nvGrpSpPr>
        <p:grpSpPr bwMode="auto">
          <a:xfrm>
            <a:off x="5105400" y="1295400"/>
            <a:ext cx="1322388" cy="1371600"/>
            <a:chOff x="3216" y="816"/>
            <a:chExt cx="833" cy="864"/>
          </a:xfrm>
        </p:grpSpPr>
        <p:sp>
          <p:nvSpPr>
            <p:cNvPr id="25610" name="Oval 4"/>
            <p:cNvSpPr>
              <a:spLocks noChangeArrowheads="1"/>
            </p:cNvSpPr>
            <p:nvPr/>
          </p:nvSpPr>
          <p:spPr bwMode="auto">
            <a:xfrm>
              <a:off x="3216" y="1440"/>
              <a:ext cx="288" cy="240"/>
            </a:xfrm>
            <a:prstGeom prst="ellipse">
              <a:avLst/>
            </a:prstGeom>
            <a:noFill/>
            <a:ln w="28575">
              <a:solidFill>
                <a:srgbClr val="990000"/>
              </a:solidFill>
              <a:round/>
              <a:headEnd/>
              <a:tailEnd/>
            </a:ln>
          </p:spPr>
          <p:txBody>
            <a:bodyPr wrap="none" anchor="ctr"/>
            <a:lstStyle/>
            <a:p>
              <a:endParaRPr lang="zh-CN" altLang="en-US">
                <a:solidFill>
                  <a:srgbClr val="1D528D"/>
                </a:solidFill>
                <a:latin typeface="Arial" pitchFamily="34" charset="0"/>
                <a:ea typeface="黑体" pitchFamily="49" charset="-122"/>
              </a:endParaRPr>
            </a:p>
          </p:txBody>
        </p:sp>
        <p:sp>
          <p:nvSpPr>
            <p:cNvPr id="25611" name="AutoShape 5"/>
            <p:cNvSpPr>
              <a:spLocks noChangeArrowheads="1"/>
            </p:cNvSpPr>
            <p:nvPr/>
          </p:nvSpPr>
          <p:spPr bwMode="auto">
            <a:xfrm>
              <a:off x="3216" y="816"/>
              <a:ext cx="833" cy="321"/>
            </a:xfrm>
            <a:prstGeom prst="wedgeEllipseCallout">
              <a:avLst>
                <a:gd name="adj1" fmla="val -32111"/>
                <a:gd name="adj2" fmla="val 145949"/>
              </a:avLst>
            </a:prstGeom>
            <a:noFill/>
            <a:ln w="28575">
              <a:solidFill>
                <a:srgbClr val="990000"/>
              </a:solidFill>
              <a:miter lim="800000"/>
              <a:headEnd/>
              <a:tailEnd/>
            </a:ln>
          </p:spPr>
          <p:txBody>
            <a:bodyPr wrap="none" lIns="0" rIns="0">
              <a:spAutoFit/>
            </a:bodyPr>
            <a:lstStyle/>
            <a:p>
              <a:pPr algn="ctr"/>
              <a:r>
                <a:rPr lang="zh-CN" altLang="en-US" b="1">
                  <a:solidFill>
                    <a:srgbClr val="990000"/>
                  </a:solidFill>
                  <a:latin typeface="Arial" pitchFamily="34" charset="0"/>
                  <a:ea typeface="黑体" pitchFamily="49" charset="-122"/>
                </a:rPr>
                <a:t>返回类型</a:t>
              </a:r>
            </a:p>
          </p:txBody>
        </p:sp>
      </p:grpSp>
      <p:grpSp>
        <p:nvGrpSpPr>
          <p:cNvPr id="3" name="Group 11"/>
          <p:cNvGrpSpPr>
            <a:grpSpLocks/>
          </p:cNvGrpSpPr>
          <p:nvPr/>
        </p:nvGrpSpPr>
        <p:grpSpPr bwMode="auto">
          <a:xfrm>
            <a:off x="6172200" y="2286000"/>
            <a:ext cx="2160588" cy="1347788"/>
            <a:chOff x="3888" y="1440"/>
            <a:chExt cx="1361" cy="849"/>
          </a:xfrm>
        </p:grpSpPr>
        <p:sp>
          <p:nvSpPr>
            <p:cNvPr id="25606" name="Oval 6"/>
            <p:cNvSpPr>
              <a:spLocks noChangeArrowheads="1"/>
            </p:cNvSpPr>
            <p:nvPr/>
          </p:nvSpPr>
          <p:spPr bwMode="auto">
            <a:xfrm>
              <a:off x="3888" y="1440"/>
              <a:ext cx="288" cy="240"/>
            </a:xfrm>
            <a:prstGeom prst="ellipse">
              <a:avLst/>
            </a:prstGeom>
            <a:noFill/>
            <a:ln w="28575">
              <a:solidFill>
                <a:srgbClr val="0000FF"/>
              </a:solidFill>
              <a:round/>
              <a:headEnd/>
              <a:tailEnd/>
            </a:ln>
          </p:spPr>
          <p:txBody>
            <a:bodyPr wrap="none" anchor="ctr"/>
            <a:lstStyle/>
            <a:p>
              <a:endParaRPr lang="zh-CN" altLang="en-US">
                <a:solidFill>
                  <a:srgbClr val="1D528D"/>
                </a:solidFill>
                <a:latin typeface="Arial" pitchFamily="34" charset="0"/>
                <a:ea typeface="黑体" pitchFamily="49" charset="-122"/>
              </a:endParaRPr>
            </a:p>
          </p:txBody>
        </p:sp>
        <p:sp>
          <p:nvSpPr>
            <p:cNvPr id="25607" name="AutoShape 9"/>
            <p:cNvSpPr>
              <a:spLocks noChangeArrowheads="1"/>
            </p:cNvSpPr>
            <p:nvPr/>
          </p:nvSpPr>
          <p:spPr bwMode="auto">
            <a:xfrm>
              <a:off x="4416" y="1968"/>
              <a:ext cx="833" cy="321"/>
            </a:xfrm>
            <a:prstGeom prst="wedgeEllipseCallout">
              <a:avLst>
                <a:gd name="adj1" fmla="val -21431"/>
                <a:gd name="adj2" fmla="val -150935"/>
              </a:avLst>
            </a:prstGeom>
            <a:noFill/>
            <a:ln w="28575">
              <a:solidFill>
                <a:srgbClr val="0000FF"/>
              </a:solidFill>
              <a:miter lim="800000"/>
              <a:headEnd/>
              <a:tailEnd/>
            </a:ln>
          </p:spPr>
          <p:txBody>
            <a:bodyPr wrap="none" lIns="0" rIns="0">
              <a:spAutoFit/>
            </a:bodyPr>
            <a:lstStyle/>
            <a:p>
              <a:pPr algn="ctr"/>
              <a:r>
                <a:rPr lang="zh-CN" altLang="en-US" b="1">
                  <a:solidFill>
                    <a:srgbClr val="FFFFFF"/>
                  </a:solidFill>
                  <a:latin typeface="Arial" pitchFamily="34" charset="0"/>
                  <a:ea typeface="黑体" pitchFamily="49" charset="-122"/>
                </a:rPr>
                <a:t>返回类型</a:t>
              </a:r>
            </a:p>
          </p:txBody>
        </p:sp>
        <p:sp>
          <p:nvSpPr>
            <p:cNvPr id="25608" name="AutoShape 7"/>
            <p:cNvSpPr>
              <a:spLocks noChangeArrowheads="1"/>
            </p:cNvSpPr>
            <p:nvPr/>
          </p:nvSpPr>
          <p:spPr bwMode="auto">
            <a:xfrm>
              <a:off x="4416" y="1968"/>
              <a:ext cx="833" cy="321"/>
            </a:xfrm>
            <a:prstGeom prst="wedgeEllipseCallout">
              <a:avLst>
                <a:gd name="adj1" fmla="val -73051"/>
                <a:gd name="adj2" fmla="val -150935"/>
              </a:avLst>
            </a:prstGeom>
            <a:noFill/>
            <a:ln w="28575">
              <a:solidFill>
                <a:srgbClr val="0000FF"/>
              </a:solidFill>
              <a:miter lim="800000"/>
              <a:headEnd/>
              <a:tailEnd/>
            </a:ln>
          </p:spPr>
          <p:txBody>
            <a:bodyPr wrap="none" lIns="0" rIns="0">
              <a:spAutoFit/>
            </a:bodyPr>
            <a:lstStyle/>
            <a:p>
              <a:pPr algn="ctr"/>
              <a:r>
                <a:rPr lang="zh-CN" altLang="en-US" b="1">
                  <a:solidFill>
                    <a:srgbClr val="0000FF"/>
                  </a:solidFill>
                  <a:latin typeface="Arial" pitchFamily="34" charset="0"/>
                  <a:ea typeface="黑体" pitchFamily="49" charset="-122"/>
                </a:rPr>
                <a:t>形参类型</a:t>
              </a:r>
            </a:p>
          </p:txBody>
        </p:sp>
        <p:sp>
          <p:nvSpPr>
            <p:cNvPr id="25609" name="Oval 8"/>
            <p:cNvSpPr>
              <a:spLocks noChangeArrowheads="1"/>
            </p:cNvSpPr>
            <p:nvPr/>
          </p:nvSpPr>
          <p:spPr bwMode="auto">
            <a:xfrm>
              <a:off x="4464" y="1440"/>
              <a:ext cx="288" cy="240"/>
            </a:xfrm>
            <a:prstGeom prst="ellipse">
              <a:avLst/>
            </a:prstGeom>
            <a:noFill/>
            <a:ln w="28575">
              <a:solidFill>
                <a:srgbClr val="0000FF"/>
              </a:solidFill>
              <a:round/>
              <a:headEnd/>
              <a:tailEnd/>
            </a:ln>
          </p:spPr>
          <p:txBody>
            <a:bodyPr wrap="none" anchor="ctr"/>
            <a:lstStyle/>
            <a:p>
              <a:endParaRPr lang="zh-CN" altLang="en-US">
                <a:solidFill>
                  <a:srgbClr val="1D528D"/>
                </a:solidFill>
                <a:latin typeface="Arial" pitchFamily="34" charset="0"/>
                <a:ea typeface="黑体" pitchFamily="49" charset="-122"/>
              </a:endParaRPr>
            </a:p>
          </p:txBody>
        </p:sp>
      </p:grpSp>
    </p:spTree>
    <p:extLst>
      <p:ext uri="{BB962C8B-B14F-4D97-AF65-F5344CB8AC3E}">
        <p14:creationId xmlns:p14="http://schemas.microsoft.com/office/powerpoint/2010/main" val="10253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822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822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822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822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822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822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822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8227">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8227">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822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309251" name="Rectangle 3"/>
          <p:cNvSpPr>
            <a:spLocks noGrp="1" noChangeArrowheads="1"/>
          </p:cNvSpPr>
          <p:nvPr>
            <p:ph type="body" idx="1"/>
          </p:nvPr>
        </p:nvSpPr>
        <p:spPr/>
        <p:txBody>
          <a:bodyPr/>
          <a:lstStyle/>
          <a:p>
            <a:pPr eaLnBrk="1" hangingPunct="1"/>
            <a:r>
              <a:rPr lang="en-US" altLang="zh-CN"/>
              <a:t>6.8.2 </a:t>
            </a:r>
            <a:r>
              <a:rPr lang="zh-CN" altLang="en-US"/>
              <a:t>函数模板的使用</a:t>
            </a:r>
          </a:p>
          <a:p>
            <a:pPr lvl="1" eaLnBrk="1" hangingPunct="1">
              <a:lnSpc>
                <a:spcPct val="115000"/>
              </a:lnSpc>
              <a:spcBef>
                <a:spcPct val="35000"/>
              </a:spcBef>
            </a:pPr>
            <a:r>
              <a:rPr lang="zh-CN" altLang="en-US"/>
              <a:t>函数模板只是描述了对某种</a:t>
            </a:r>
            <a:r>
              <a:rPr lang="zh-CN" altLang="en-US">
                <a:solidFill>
                  <a:srgbClr val="990000"/>
                </a:solidFill>
                <a:ea typeface="楷体_GB2312" pitchFamily="49" charset="-122"/>
              </a:rPr>
              <a:t>假想的</a:t>
            </a:r>
            <a:r>
              <a:rPr lang="zh-CN" altLang="en-US"/>
              <a:t>数据类型的数据将要进行的操作。</a:t>
            </a:r>
          </a:p>
          <a:p>
            <a:pPr lvl="2" eaLnBrk="1" hangingPunct="1">
              <a:lnSpc>
                <a:spcPct val="115000"/>
              </a:lnSpc>
              <a:spcBef>
                <a:spcPct val="35000"/>
              </a:spcBef>
            </a:pPr>
            <a:r>
              <a:rPr lang="zh-CN" altLang="en-US"/>
              <a:t>编译系统不会编译函数模板本身，因此，我们称模板为声明（它仅描述了可能进行的操作），而非定义。</a:t>
            </a:r>
          </a:p>
          <a:p>
            <a:pPr lvl="1" eaLnBrk="1" hangingPunct="1">
              <a:lnSpc>
                <a:spcPct val="115000"/>
              </a:lnSpc>
              <a:spcBef>
                <a:spcPct val="35000"/>
              </a:spcBef>
            </a:pPr>
            <a:r>
              <a:rPr lang="zh-CN" altLang="en-US"/>
              <a:t>当编译系统遇到用具体的实际参数使用函数模板时</a:t>
            </a:r>
          </a:p>
          <a:p>
            <a:pPr lvl="2" eaLnBrk="1" hangingPunct="1">
              <a:lnSpc>
                <a:spcPct val="115000"/>
              </a:lnSpc>
              <a:spcBef>
                <a:spcPct val="35000"/>
              </a:spcBef>
            </a:pPr>
            <a:r>
              <a:rPr lang="zh-CN" altLang="en-US"/>
              <a:t>用实际参数的数据类型取代形式数据类型；</a:t>
            </a:r>
            <a:endParaRPr lang="en-US" altLang="zh-CN"/>
          </a:p>
          <a:p>
            <a:pPr lvl="2" eaLnBrk="1" hangingPunct="1">
              <a:lnSpc>
                <a:spcPct val="115000"/>
              </a:lnSpc>
              <a:spcBef>
                <a:spcPct val="35000"/>
              </a:spcBef>
            </a:pPr>
            <a:r>
              <a:rPr lang="zh-CN" altLang="en-US"/>
              <a:t>根据函数模板体的执行语句，自动地为程序员定义一个函数──称为</a:t>
            </a:r>
            <a:r>
              <a:rPr lang="zh-CN" altLang="en-US">
                <a:solidFill>
                  <a:srgbClr val="990000"/>
                </a:solidFill>
              </a:rPr>
              <a:t>模板函数</a:t>
            </a:r>
            <a:r>
              <a:rPr lang="zh-CN" altLang="en-US"/>
              <a:t>；</a:t>
            </a:r>
          </a:p>
          <a:p>
            <a:pPr lvl="2" eaLnBrk="1" hangingPunct="1">
              <a:lnSpc>
                <a:spcPct val="115000"/>
              </a:lnSpc>
              <a:spcBef>
                <a:spcPct val="35000"/>
              </a:spcBef>
            </a:pPr>
            <a:r>
              <a:rPr lang="zh-CN" altLang="en-US"/>
              <a:t>然后对所生成的模板函数进行编译（编译系统只检查模板函数的语法）。</a:t>
            </a:r>
          </a:p>
        </p:txBody>
      </p:sp>
    </p:spTree>
    <p:extLst>
      <p:ext uri="{BB962C8B-B14F-4D97-AF65-F5344CB8AC3E}">
        <p14:creationId xmlns:p14="http://schemas.microsoft.com/office/powerpoint/2010/main" val="345105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9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9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9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92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92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92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92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27651" name="Rectangle 3"/>
          <p:cNvSpPr>
            <a:spLocks noGrp="1" noChangeArrowheads="1"/>
          </p:cNvSpPr>
          <p:nvPr>
            <p:ph type="body" idx="1"/>
          </p:nvPr>
        </p:nvSpPr>
        <p:spPr>
          <a:xfrm>
            <a:off x="381000" y="1066800"/>
            <a:ext cx="8610600" cy="5334000"/>
          </a:xfrm>
        </p:spPr>
        <p:txBody>
          <a:bodyPr/>
          <a:lstStyle/>
          <a:p>
            <a:pPr eaLnBrk="1" hangingPunct="1"/>
            <a:r>
              <a:rPr lang="zh-CN" altLang="en-US"/>
              <a:t>接例</a:t>
            </a:r>
            <a:r>
              <a:rPr lang="en-US" altLang="zh-CN"/>
              <a:t>6.8</a:t>
            </a:r>
          </a:p>
        </p:txBody>
      </p:sp>
      <p:sp>
        <p:nvSpPr>
          <p:cNvPr id="27652" name="Text Box 4"/>
          <p:cNvSpPr txBox="1">
            <a:spLocks noChangeArrowheads="1"/>
          </p:cNvSpPr>
          <p:nvPr/>
        </p:nvSpPr>
        <p:spPr bwMode="auto">
          <a:xfrm>
            <a:off x="381000" y="1524000"/>
            <a:ext cx="8153400" cy="4876800"/>
          </a:xfrm>
          <a:prstGeom prst="rect">
            <a:avLst/>
          </a:prstGeom>
          <a:solidFill>
            <a:schemeClr val="bg1"/>
          </a:solidFill>
          <a:ln w="28575">
            <a:solidFill>
              <a:srgbClr val="990000"/>
            </a:solidFill>
            <a:miter lim="800000"/>
            <a:headEnd/>
            <a:tailEnd/>
          </a:ln>
        </p:spPr>
        <p:txBody>
          <a:bodyPr wrap="none" lIns="72000" tIns="72000" rIns="72000" bIns="72000"/>
          <a:lstStyle/>
          <a:p>
            <a:pPr>
              <a:lnSpc>
                <a:spcPct val="85000"/>
              </a:lnSpc>
            </a:pPr>
            <a:r>
              <a:rPr lang="en-US" altLang="zh-CN" sz="2400" b="1">
                <a:solidFill>
                  <a:srgbClr val="0000FF"/>
                </a:solidFill>
                <a:latin typeface="Courier New" pitchFamily="49" charset="0"/>
                <a:ea typeface="黑体" pitchFamily="49" charset="-122"/>
              </a:rPr>
              <a:t> </a:t>
            </a:r>
            <a:r>
              <a:rPr lang="en-US" altLang="zh-CN" sz="2400" b="1">
                <a:solidFill>
                  <a:srgbClr val="000000"/>
                </a:solidFill>
                <a:latin typeface="Courier New" pitchFamily="49" charset="0"/>
                <a:ea typeface="黑体" pitchFamily="49" charset="-122"/>
              </a:rPr>
              <a:t>#</a:t>
            </a:r>
            <a:r>
              <a:rPr lang="en-US" altLang="zh-CN" sz="2400" b="1">
                <a:solidFill>
                  <a:srgbClr val="0000FF"/>
                </a:solidFill>
                <a:latin typeface="Courier New" pitchFamily="49" charset="0"/>
                <a:ea typeface="黑体" pitchFamily="49" charset="-122"/>
              </a:rPr>
              <a:t>include</a:t>
            </a:r>
            <a:r>
              <a:rPr lang="en-US" altLang="zh-CN" sz="2400" b="1">
                <a:solidFill>
                  <a:srgbClr val="000000"/>
                </a:solidFill>
                <a:latin typeface="Courier New" pitchFamily="49" charset="0"/>
                <a:ea typeface="黑体" pitchFamily="49" charset="-122"/>
              </a:rPr>
              <a:t> &lt;iostream&gt;</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using namespace</a:t>
            </a:r>
            <a:r>
              <a:rPr lang="en-US" altLang="zh-CN" sz="2400" b="1">
                <a:solidFill>
                  <a:srgbClr val="000000"/>
                </a:solidFill>
                <a:latin typeface="Courier New" pitchFamily="49" charset="0"/>
                <a:ea typeface="黑体" pitchFamily="49" charset="-122"/>
              </a:rPr>
              <a:t> std;</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int</a:t>
            </a:r>
            <a:r>
              <a:rPr lang="en-US" altLang="zh-CN" sz="2400" b="1">
                <a:solidFill>
                  <a:srgbClr val="000000"/>
                </a:solidFill>
                <a:latin typeface="Courier New" pitchFamily="49" charset="0"/>
                <a:ea typeface="黑体" pitchFamily="49" charset="-122"/>
              </a:rPr>
              <a:t> main()</a:t>
            </a:r>
          </a:p>
          <a:p>
            <a:pPr>
              <a:lnSpc>
                <a:spcPct val="85000"/>
              </a:lnSpc>
            </a:pPr>
            <a:r>
              <a:rPr lang="en-US" altLang="zh-CN" sz="2400" b="1">
                <a:solidFill>
                  <a:srgbClr val="000000"/>
                </a:solidFill>
                <a:latin typeface="Courier New" pitchFamily="49" charset="0"/>
                <a:ea typeface="黑体" pitchFamily="49" charset="-122"/>
              </a:rPr>
              <a:t> {</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int</a:t>
            </a:r>
            <a:r>
              <a:rPr lang="en-US" altLang="zh-CN" sz="2400" b="1">
                <a:solidFill>
                  <a:srgbClr val="000000"/>
                </a:solidFill>
                <a:latin typeface="Courier New" pitchFamily="49" charset="0"/>
                <a:ea typeface="黑体" pitchFamily="49" charset="-122"/>
              </a:rPr>
              <a:t> a=3, b=5;</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c=’3’, d=’5’;</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double</a:t>
            </a:r>
            <a:r>
              <a:rPr lang="en-US" altLang="zh-CN" sz="2400" b="1">
                <a:solidFill>
                  <a:srgbClr val="000000"/>
                </a:solidFill>
                <a:latin typeface="Courier New" pitchFamily="49" charset="0"/>
                <a:ea typeface="黑体" pitchFamily="49" charset="-122"/>
              </a:rPr>
              <a:t> x=3.5, y = 5.5;</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s[10]=”ABCD”, t[10]=”abcd”;</a:t>
            </a:r>
          </a:p>
          <a:p>
            <a:pPr>
              <a:lnSpc>
                <a:spcPct val="85000"/>
              </a:lnSpc>
            </a:pPr>
            <a:endParaRPr lang="en-US" altLang="zh-CN" sz="2400" b="1">
              <a:solidFill>
                <a:srgbClr val="000000"/>
              </a:solidFill>
              <a:latin typeface="Courier New" pitchFamily="49" charset="0"/>
              <a:ea typeface="黑体" pitchFamily="49" charset="-122"/>
            </a:endParaRPr>
          </a:p>
          <a:p>
            <a:pPr>
              <a:lnSpc>
                <a:spcPct val="85000"/>
              </a:lnSpc>
            </a:pPr>
            <a:r>
              <a:rPr lang="en-US" altLang="zh-CN" sz="2400" b="1">
                <a:solidFill>
                  <a:srgbClr val="000000"/>
                </a:solidFill>
                <a:latin typeface="Courier New" pitchFamily="49" charset="0"/>
                <a:ea typeface="黑体" pitchFamily="49" charset="-122"/>
              </a:rPr>
              <a:t>    cout &lt;&lt; Max(a, b) &lt;&lt; endl;</a:t>
            </a:r>
          </a:p>
          <a:p>
            <a:pPr>
              <a:lnSpc>
                <a:spcPct val="85000"/>
              </a:lnSpc>
            </a:pPr>
            <a:r>
              <a:rPr lang="en-US" altLang="zh-CN" sz="2400" b="1">
                <a:solidFill>
                  <a:srgbClr val="000000"/>
                </a:solidFill>
                <a:latin typeface="Courier New" pitchFamily="49" charset="0"/>
                <a:ea typeface="黑体" pitchFamily="49" charset="-122"/>
              </a:rPr>
              <a:t>    cout &lt;&lt; Max(c, d) &lt;&lt; endl;</a:t>
            </a:r>
          </a:p>
          <a:p>
            <a:pPr>
              <a:lnSpc>
                <a:spcPct val="85000"/>
              </a:lnSpc>
            </a:pPr>
            <a:r>
              <a:rPr lang="en-US" altLang="zh-CN" sz="2400" b="1">
                <a:solidFill>
                  <a:srgbClr val="000000"/>
                </a:solidFill>
                <a:latin typeface="Courier New" pitchFamily="49" charset="0"/>
                <a:ea typeface="黑体" pitchFamily="49" charset="-122"/>
              </a:rPr>
              <a:t>    cout &lt;&lt; Max(x, y) &lt;&lt; endl;</a:t>
            </a:r>
          </a:p>
          <a:p>
            <a:pPr>
              <a:lnSpc>
                <a:spcPct val="85000"/>
              </a:lnSpc>
            </a:pPr>
            <a:r>
              <a:rPr lang="en-US" altLang="zh-CN" sz="2400" b="1">
                <a:solidFill>
                  <a:srgbClr val="000000"/>
                </a:solidFill>
                <a:latin typeface="Courier New" pitchFamily="49" charset="0"/>
                <a:ea typeface="黑体" pitchFamily="49" charset="-122"/>
              </a:rPr>
              <a:t>    cout &lt;&lt; Max(s, t) &lt;&lt; endl;</a:t>
            </a:r>
          </a:p>
          <a:p>
            <a:pPr>
              <a:lnSpc>
                <a:spcPct val="85000"/>
              </a:lnSpc>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return</a:t>
            </a:r>
            <a:r>
              <a:rPr lang="en-US" altLang="zh-CN" sz="2400" b="1">
                <a:solidFill>
                  <a:srgbClr val="000000"/>
                </a:solidFill>
                <a:latin typeface="Courier New" pitchFamily="49" charset="0"/>
                <a:ea typeface="黑体" pitchFamily="49" charset="-122"/>
              </a:rPr>
              <a:t> 0;</a:t>
            </a:r>
          </a:p>
          <a:p>
            <a:pPr>
              <a:lnSpc>
                <a:spcPct val="85000"/>
              </a:lnSpc>
            </a:pPr>
            <a:r>
              <a:rPr lang="en-US" altLang="zh-CN" sz="2400" b="1">
                <a:solidFill>
                  <a:srgbClr val="000000"/>
                </a:solidFill>
                <a:latin typeface="Courier New" pitchFamily="49" charset="0"/>
                <a:ea typeface="黑体" pitchFamily="49" charset="-122"/>
              </a:rPr>
              <a:t> }</a:t>
            </a:r>
          </a:p>
        </p:txBody>
      </p:sp>
      <p:sp>
        <p:nvSpPr>
          <p:cNvPr id="310277" name="Text Box 5"/>
          <p:cNvSpPr txBox="1">
            <a:spLocks noChangeArrowheads="1"/>
          </p:cNvSpPr>
          <p:nvPr/>
        </p:nvSpPr>
        <p:spPr bwMode="auto">
          <a:xfrm>
            <a:off x="6781800" y="4114800"/>
            <a:ext cx="1600200" cy="1981200"/>
          </a:xfrm>
          <a:prstGeom prst="rect">
            <a:avLst/>
          </a:prstGeom>
          <a:solidFill>
            <a:schemeClr val="bg1"/>
          </a:solidFill>
          <a:ln w="28575">
            <a:solidFill>
              <a:srgbClr val="990000"/>
            </a:solidFill>
            <a:miter lim="800000"/>
            <a:headEnd/>
            <a:tailEnd/>
          </a:ln>
        </p:spPr>
        <p:txBody>
          <a:bodyPr wrap="none" lIns="72000" tIns="72000" rIns="72000" bIns="72000"/>
          <a:lstStyle/>
          <a:p>
            <a:pPr>
              <a:lnSpc>
                <a:spcPct val="90000"/>
              </a:lnSpc>
            </a:pPr>
            <a:r>
              <a:rPr lang="zh-CN" altLang="en-US" sz="2400" b="1">
                <a:solidFill>
                  <a:srgbClr val="000000"/>
                </a:solidFill>
                <a:latin typeface="宋体" pitchFamily="2" charset="-122"/>
                <a:ea typeface="宋体" pitchFamily="2" charset="-122"/>
              </a:rPr>
              <a:t>运行结果</a:t>
            </a:r>
            <a:endParaRPr lang="en-US" altLang="zh-CN" sz="2400" b="1">
              <a:solidFill>
                <a:srgbClr val="000000"/>
              </a:solidFill>
              <a:latin typeface="宋体" pitchFamily="2" charset="-122"/>
              <a:ea typeface="宋体" pitchFamily="2" charset="-122"/>
            </a:endParaRPr>
          </a:p>
          <a:p>
            <a:pPr>
              <a:lnSpc>
                <a:spcPct val="90000"/>
              </a:lnSpc>
            </a:pPr>
            <a:r>
              <a:rPr lang="en-US" altLang="zh-CN" sz="2400" b="1">
                <a:solidFill>
                  <a:srgbClr val="000000"/>
                </a:solidFill>
                <a:latin typeface="Courier New" pitchFamily="49" charset="0"/>
                <a:ea typeface="黑体" pitchFamily="49" charset="-122"/>
              </a:rPr>
              <a:t>5</a:t>
            </a:r>
          </a:p>
          <a:p>
            <a:pPr>
              <a:lnSpc>
                <a:spcPct val="90000"/>
              </a:lnSpc>
            </a:pPr>
            <a:r>
              <a:rPr lang="en-US" altLang="zh-CN" sz="2400" b="1">
                <a:solidFill>
                  <a:srgbClr val="000000"/>
                </a:solidFill>
                <a:latin typeface="Courier New" pitchFamily="49" charset="0"/>
                <a:ea typeface="黑体" pitchFamily="49" charset="-122"/>
              </a:rPr>
              <a:t>5</a:t>
            </a:r>
          </a:p>
          <a:p>
            <a:pPr>
              <a:lnSpc>
                <a:spcPct val="90000"/>
              </a:lnSpc>
            </a:pPr>
            <a:r>
              <a:rPr lang="en-US" altLang="zh-CN" sz="2400" b="1">
                <a:solidFill>
                  <a:srgbClr val="000000"/>
                </a:solidFill>
                <a:latin typeface="Courier New" pitchFamily="49" charset="0"/>
                <a:ea typeface="黑体" pitchFamily="49" charset="-122"/>
              </a:rPr>
              <a:t>5.5</a:t>
            </a:r>
          </a:p>
          <a:p>
            <a:pPr>
              <a:lnSpc>
                <a:spcPct val="90000"/>
              </a:lnSpc>
            </a:pPr>
            <a:r>
              <a:rPr lang="en-US" altLang="zh-CN" sz="2400" b="1">
                <a:solidFill>
                  <a:srgbClr val="000000"/>
                </a:solidFill>
                <a:latin typeface="Courier New" pitchFamily="49" charset="0"/>
                <a:ea typeface="黑体" pitchFamily="49" charset="-122"/>
              </a:rPr>
              <a:t>ABCD</a:t>
            </a:r>
          </a:p>
        </p:txBody>
      </p:sp>
      <p:sp>
        <p:nvSpPr>
          <p:cNvPr id="310278" name="AutoShape 6"/>
          <p:cNvSpPr>
            <a:spLocks noChangeArrowheads="1"/>
          </p:cNvSpPr>
          <p:nvPr/>
        </p:nvSpPr>
        <p:spPr bwMode="auto">
          <a:xfrm>
            <a:off x="2646363" y="5834063"/>
            <a:ext cx="4178300" cy="871537"/>
          </a:xfrm>
          <a:prstGeom prst="wedgeEllipseCallout">
            <a:avLst>
              <a:gd name="adj1" fmla="val 52403"/>
              <a:gd name="adj2" fmla="val -63296"/>
            </a:avLst>
          </a:prstGeom>
          <a:solidFill>
            <a:srgbClr val="FFFF00"/>
          </a:solidFill>
          <a:ln w="9525">
            <a:solidFill>
              <a:srgbClr val="990000"/>
            </a:solidFill>
            <a:miter lim="800000"/>
            <a:headEnd/>
            <a:tailEnd/>
          </a:ln>
        </p:spPr>
        <p:txBody>
          <a:bodyPr wrap="none" lIns="0" tIns="0" rIns="0" bIns="0">
            <a:spAutoFit/>
          </a:bodyPr>
          <a:lstStyle/>
          <a:p>
            <a:pPr algn="ctr"/>
            <a:r>
              <a:rPr lang="zh-CN" altLang="en-US" sz="2000" b="1">
                <a:solidFill>
                  <a:srgbClr val="0000FF"/>
                </a:solidFill>
                <a:latin typeface="Courier New" pitchFamily="49" charset="0"/>
                <a:ea typeface="黑体" pitchFamily="49" charset="-122"/>
              </a:rPr>
              <a:t>是否有问题？</a:t>
            </a:r>
          </a:p>
          <a:p>
            <a:pPr algn="ctr"/>
            <a:r>
              <a:rPr lang="zh-CN" altLang="en-US" sz="2000" b="1">
                <a:solidFill>
                  <a:srgbClr val="0000FF"/>
                </a:solidFill>
                <a:latin typeface="Courier New" pitchFamily="49" charset="0"/>
                <a:ea typeface="黑体" pitchFamily="49" charset="-122"/>
              </a:rPr>
              <a:t>字母</a:t>
            </a:r>
            <a:r>
              <a:rPr lang="en-US" altLang="zh-CN" sz="2000" b="1">
                <a:solidFill>
                  <a:srgbClr val="0000FF"/>
                </a:solidFill>
                <a:latin typeface="Courier New" pitchFamily="49" charset="0"/>
                <a:ea typeface="黑体" pitchFamily="49" charset="-122"/>
              </a:rPr>
              <a:t>’a’</a:t>
            </a:r>
            <a:r>
              <a:rPr lang="zh-CN" altLang="en-US" sz="2000" b="1">
                <a:solidFill>
                  <a:srgbClr val="0000FF"/>
                </a:solidFill>
                <a:latin typeface="Courier New" pitchFamily="49" charset="0"/>
                <a:ea typeface="黑体" pitchFamily="49" charset="-122"/>
              </a:rPr>
              <a:t>为</a:t>
            </a:r>
            <a:r>
              <a:rPr lang="en-US" altLang="zh-CN" sz="2000" b="1">
                <a:solidFill>
                  <a:srgbClr val="0000FF"/>
                </a:solidFill>
                <a:latin typeface="Courier New" pitchFamily="49" charset="0"/>
                <a:ea typeface="黑体" pitchFamily="49" charset="-122"/>
              </a:rPr>
              <a:t>97</a:t>
            </a:r>
            <a:r>
              <a:rPr lang="zh-CN" altLang="en-US" sz="2000" b="1">
                <a:solidFill>
                  <a:srgbClr val="0000FF"/>
                </a:solidFill>
                <a:latin typeface="Courier New" pitchFamily="49" charset="0"/>
                <a:ea typeface="黑体" pitchFamily="49" charset="-122"/>
              </a:rPr>
              <a:t>，’</a:t>
            </a:r>
            <a:r>
              <a:rPr lang="en-US" altLang="zh-CN" sz="2000" b="1">
                <a:solidFill>
                  <a:srgbClr val="0000FF"/>
                </a:solidFill>
                <a:latin typeface="Courier New" pitchFamily="49" charset="0"/>
                <a:ea typeface="黑体" pitchFamily="49" charset="-122"/>
              </a:rPr>
              <a:t>A’</a:t>
            </a:r>
            <a:r>
              <a:rPr lang="zh-CN" altLang="en-US" sz="2000" b="1">
                <a:solidFill>
                  <a:srgbClr val="0000FF"/>
                </a:solidFill>
                <a:latin typeface="Courier New" pitchFamily="49" charset="0"/>
                <a:ea typeface="黑体" pitchFamily="49" charset="-122"/>
              </a:rPr>
              <a:t>为</a:t>
            </a:r>
            <a:r>
              <a:rPr lang="en-US" altLang="zh-CN" sz="2000" b="1">
                <a:solidFill>
                  <a:srgbClr val="0000FF"/>
                </a:solidFill>
                <a:latin typeface="Courier New" pitchFamily="49" charset="0"/>
                <a:ea typeface="黑体" pitchFamily="49" charset="-122"/>
              </a:rPr>
              <a:t>65 </a:t>
            </a:r>
            <a:endParaRPr lang="zh-CN" altLang="en-US" sz="2000" b="1">
              <a:solidFill>
                <a:srgbClr val="0000FF"/>
              </a:solidFill>
              <a:latin typeface="Courier New" pitchFamily="49" charset="0"/>
              <a:ea typeface="黑体" pitchFamily="49" charset="-122"/>
            </a:endParaRPr>
          </a:p>
        </p:txBody>
      </p:sp>
    </p:spTree>
    <p:extLst>
      <p:ext uri="{BB962C8B-B14F-4D97-AF65-F5344CB8AC3E}">
        <p14:creationId xmlns:p14="http://schemas.microsoft.com/office/powerpoint/2010/main" val="270114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7" grpId="0" animBg="1"/>
      <p:bldP spid="310278"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28675" name="Rectangle 3"/>
          <p:cNvSpPr>
            <a:spLocks noGrp="1" noChangeArrowheads="1"/>
          </p:cNvSpPr>
          <p:nvPr>
            <p:ph type="body" idx="1"/>
          </p:nvPr>
        </p:nvSpPr>
        <p:spPr>
          <a:xfrm>
            <a:off x="381000" y="838200"/>
            <a:ext cx="8610600" cy="5334000"/>
          </a:xfrm>
        </p:spPr>
        <p:txBody>
          <a:bodyPr/>
          <a:lstStyle/>
          <a:p>
            <a:pPr eaLnBrk="1" hangingPunct="1"/>
            <a:r>
              <a:rPr lang="zh-CN" altLang="en-US" sz="2400"/>
              <a:t>编译系统在编译主函数时，将遇到四次实际参数数据类型均不相同的</a:t>
            </a:r>
            <a:r>
              <a:rPr lang="zh-CN" altLang="en-US" sz="1800"/>
              <a:t> </a:t>
            </a:r>
            <a:r>
              <a:rPr lang="en-US" altLang="zh-CN" sz="2400"/>
              <a:t>Max</a:t>
            </a:r>
            <a:r>
              <a:rPr lang="en-US" altLang="zh-CN" sz="1800"/>
              <a:t> </a:t>
            </a:r>
            <a:r>
              <a:rPr lang="zh-CN" altLang="en-US" sz="2400"/>
              <a:t>函数调用</a:t>
            </a:r>
          </a:p>
          <a:p>
            <a:pPr eaLnBrk="1" hangingPunct="1">
              <a:spcBef>
                <a:spcPct val="10000"/>
              </a:spcBef>
            </a:pPr>
            <a:r>
              <a:rPr lang="zh-CN" altLang="en-US" sz="2400"/>
              <a:t>编译系统根据实际参数的数据类型、模板函数体的执行语句，自动生成如下</a:t>
            </a:r>
            <a:r>
              <a:rPr lang="zh-CN" altLang="en-US" sz="1600"/>
              <a:t> </a:t>
            </a:r>
            <a:r>
              <a:rPr lang="en-US" altLang="zh-CN" sz="2400"/>
              <a:t>4</a:t>
            </a:r>
            <a:r>
              <a:rPr lang="en-US" altLang="zh-CN" sz="1600"/>
              <a:t> </a:t>
            </a:r>
            <a:r>
              <a:rPr lang="zh-CN" altLang="en-US" sz="2400"/>
              <a:t>个模板函数并进行编译</a:t>
            </a:r>
          </a:p>
        </p:txBody>
      </p:sp>
      <p:sp>
        <p:nvSpPr>
          <p:cNvPr id="311300" name="Text Box 4"/>
          <p:cNvSpPr txBox="1">
            <a:spLocks noChangeArrowheads="1"/>
          </p:cNvSpPr>
          <p:nvPr/>
        </p:nvSpPr>
        <p:spPr bwMode="auto">
          <a:xfrm>
            <a:off x="457200" y="2438400"/>
            <a:ext cx="8458200" cy="4343400"/>
          </a:xfrm>
          <a:prstGeom prst="rect">
            <a:avLst/>
          </a:prstGeom>
          <a:solidFill>
            <a:schemeClr val="bg1"/>
          </a:solidFill>
          <a:ln w="28575">
            <a:solidFill>
              <a:srgbClr val="990000"/>
            </a:solidFill>
            <a:miter lim="800000"/>
            <a:headEnd/>
            <a:tailEnd/>
          </a:ln>
        </p:spPr>
        <p:txBody>
          <a:bodyPr wrap="none" lIns="72000" tIns="72000" rIns="72000" bIns="72000"/>
          <a:lstStyle/>
          <a:p>
            <a:pPr>
              <a:lnSpc>
                <a:spcPct val="70000"/>
              </a:lnSpc>
              <a:spcBef>
                <a:spcPct val="15000"/>
              </a:spcBef>
            </a:pPr>
            <a:r>
              <a:rPr lang="en-US" altLang="zh-CN" sz="2400" b="1">
                <a:solidFill>
                  <a:srgbClr val="0000FF"/>
                </a:solidFill>
                <a:latin typeface="Courier New" pitchFamily="49" charset="0"/>
                <a:ea typeface="黑体" pitchFamily="49" charset="-122"/>
              </a:rPr>
              <a:t> int</a:t>
            </a:r>
            <a:r>
              <a:rPr lang="en-US" altLang="zh-CN" sz="2400" b="1">
                <a:solidFill>
                  <a:srgbClr val="000000"/>
                </a:solidFill>
                <a:latin typeface="Courier New" pitchFamily="49" charset="0"/>
                <a:ea typeface="黑体" pitchFamily="49" charset="-122"/>
              </a:rPr>
              <a:t> Max(</a:t>
            </a:r>
            <a:r>
              <a:rPr lang="en-US" altLang="zh-CN" sz="2400" b="1">
                <a:solidFill>
                  <a:srgbClr val="0000FF"/>
                </a:solidFill>
                <a:latin typeface="Courier New" pitchFamily="49" charset="0"/>
                <a:ea typeface="黑体" pitchFamily="49" charset="-122"/>
              </a:rPr>
              <a:t>int</a:t>
            </a:r>
            <a:r>
              <a:rPr lang="en-US" altLang="zh-CN" sz="2400" b="1">
                <a:solidFill>
                  <a:srgbClr val="000000"/>
                </a:solidFill>
                <a:latin typeface="Courier New" pitchFamily="49" charset="0"/>
                <a:ea typeface="黑体" pitchFamily="49" charset="-122"/>
              </a:rPr>
              <a:t> a, </a:t>
            </a:r>
            <a:r>
              <a:rPr lang="en-US" altLang="zh-CN" sz="2400" b="1">
                <a:solidFill>
                  <a:srgbClr val="0000FF"/>
                </a:solidFill>
                <a:latin typeface="Courier New" pitchFamily="49" charset="0"/>
                <a:ea typeface="黑体" pitchFamily="49" charset="-122"/>
              </a:rPr>
              <a:t>int </a:t>
            </a:r>
            <a:r>
              <a:rPr lang="en-US" altLang="zh-CN" sz="2400" b="1">
                <a:solidFill>
                  <a:srgbClr val="000000"/>
                </a:solidFill>
                <a:latin typeface="Courier New" pitchFamily="49" charset="0"/>
                <a:ea typeface="黑体" pitchFamily="49" charset="-122"/>
              </a:rPr>
              <a:t>b) 		</a:t>
            </a:r>
            <a:r>
              <a:rPr lang="en-US" altLang="zh-CN" sz="2400" b="1">
                <a:solidFill>
                  <a:srgbClr val="990000"/>
                </a:solidFill>
                <a:latin typeface="Courier New" pitchFamily="49" charset="0"/>
                <a:ea typeface="黑体" pitchFamily="49" charset="-122"/>
              </a:rPr>
              <a:t>// T </a:t>
            </a:r>
            <a:r>
              <a:rPr lang="zh-CN" altLang="en-US" sz="2400" b="1">
                <a:solidFill>
                  <a:srgbClr val="990000"/>
                </a:solidFill>
                <a:latin typeface="Courier New" pitchFamily="49" charset="0"/>
                <a:ea typeface="黑体" pitchFamily="49" charset="-122"/>
              </a:rPr>
              <a:t>为 </a:t>
            </a:r>
            <a:r>
              <a:rPr lang="en-US" altLang="zh-CN" sz="2400" b="1">
                <a:solidFill>
                  <a:srgbClr val="990000"/>
                </a:solidFill>
                <a:latin typeface="Courier New" pitchFamily="49" charset="0"/>
                <a:ea typeface="黑体" pitchFamily="49" charset="-122"/>
              </a:rPr>
              <a:t>int </a:t>
            </a:r>
            <a:br>
              <a:rPr lang="en-US" altLang="zh-CN" sz="2400" b="1">
                <a:solidFill>
                  <a:srgbClr val="99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br>
              <a:rPr lang="en-US" altLang="zh-CN" sz="2400" b="1">
                <a:solidFill>
                  <a:srgbClr val="000000"/>
                </a:solidFill>
                <a:latin typeface="Courier New" pitchFamily="49" charset="0"/>
                <a:ea typeface="黑体" pitchFamily="49" charset="-122"/>
              </a:rPr>
            </a:br>
            <a:r>
              <a:rPr lang="en-US" altLang="zh-CN" sz="2400" b="1">
                <a:solidFill>
                  <a:srgbClr val="0000FF"/>
                </a:solidFill>
                <a:latin typeface="Courier New" pitchFamily="49" charset="0"/>
                <a:ea typeface="黑体" pitchFamily="49" charset="-122"/>
              </a:rPr>
              <a:t>    return</a:t>
            </a:r>
            <a:r>
              <a:rPr lang="en-US" altLang="zh-CN" sz="2400" b="1">
                <a:solidFill>
                  <a:srgbClr val="000000"/>
                </a:solidFill>
                <a:latin typeface="Courier New" pitchFamily="49" charset="0"/>
                <a:ea typeface="黑体" pitchFamily="49" charset="-122"/>
              </a:rPr>
              <a:t> (a&gt;b) ? a : b;</a:t>
            </a:r>
            <a:br>
              <a:rPr lang="en-US" altLang="zh-CN" sz="2400" b="1">
                <a:solidFill>
                  <a:srgbClr val="00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p>
          <a:p>
            <a:pPr>
              <a:lnSpc>
                <a:spcPct val="70000"/>
              </a:lnSpc>
              <a:spcBef>
                <a:spcPct val="15000"/>
              </a:spcBef>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Max(</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a, </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b) 	</a:t>
            </a:r>
            <a:r>
              <a:rPr lang="en-US" altLang="zh-CN" sz="2400" b="1">
                <a:solidFill>
                  <a:srgbClr val="990000"/>
                </a:solidFill>
                <a:latin typeface="Courier New" pitchFamily="49" charset="0"/>
                <a:ea typeface="黑体" pitchFamily="49" charset="-122"/>
              </a:rPr>
              <a:t>// T </a:t>
            </a:r>
            <a:r>
              <a:rPr lang="zh-CN" altLang="en-US" sz="2400" b="1">
                <a:solidFill>
                  <a:srgbClr val="990000"/>
                </a:solidFill>
                <a:latin typeface="Courier New" pitchFamily="49" charset="0"/>
                <a:ea typeface="黑体" pitchFamily="49" charset="-122"/>
              </a:rPr>
              <a:t>为 </a:t>
            </a:r>
            <a:r>
              <a:rPr lang="en-US" altLang="zh-CN" sz="2400" b="1">
                <a:solidFill>
                  <a:srgbClr val="990000"/>
                </a:solidFill>
                <a:latin typeface="Courier New" pitchFamily="49" charset="0"/>
                <a:ea typeface="黑体" pitchFamily="49" charset="-122"/>
              </a:rPr>
              <a:t>char </a:t>
            </a:r>
            <a:r>
              <a:rPr lang="en-US" altLang="zh-CN" sz="2400" b="1">
                <a:solidFill>
                  <a:srgbClr val="000000"/>
                </a:solidFill>
                <a:latin typeface="Courier New" pitchFamily="49" charset="0"/>
                <a:ea typeface="黑体" pitchFamily="49" charset="-122"/>
              </a:rPr>
              <a:t/>
            </a:r>
            <a:br>
              <a:rPr lang="en-US" altLang="zh-CN" sz="2400" b="1">
                <a:solidFill>
                  <a:srgbClr val="00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br>
              <a:rPr lang="en-US" altLang="zh-CN" sz="2400" b="1">
                <a:solidFill>
                  <a:srgbClr val="000000"/>
                </a:solidFill>
                <a:latin typeface="Courier New" pitchFamily="49" charset="0"/>
                <a:ea typeface="黑体" pitchFamily="49" charset="-122"/>
              </a:rPr>
            </a:br>
            <a:r>
              <a:rPr lang="en-US" altLang="zh-CN" sz="2400" b="1">
                <a:solidFill>
                  <a:srgbClr val="0000FF"/>
                </a:solidFill>
                <a:latin typeface="Courier New" pitchFamily="49" charset="0"/>
                <a:ea typeface="黑体" pitchFamily="49" charset="-122"/>
              </a:rPr>
              <a:t>    return</a:t>
            </a:r>
            <a:r>
              <a:rPr lang="en-US" altLang="zh-CN" sz="2400" b="1">
                <a:solidFill>
                  <a:srgbClr val="000000"/>
                </a:solidFill>
                <a:latin typeface="Courier New" pitchFamily="49" charset="0"/>
                <a:ea typeface="黑体" pitchFamily="49" charset="-122"/>
              </a:rPr>
              <a:t> (a&gt;b) ? a : b;</a:t>
            </a:r>
            <a:br>
              <a:rPr lang="en-US" altLang="zh-CN" sz="2400" b="1">
                <a:solidFill>
                  <a:srgbClr val="00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p>
          <a:p>
            <a:pPr>
              <a:lnSpc>
                <a:spcPct val="70000"/>
              </a:lnSpc>
              <a:spcBef>
                <a:spcPct val="15000"/>
              </a:spcBef>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double</a:t>
            </a:r>
            <a:r>
              <a:rPr lang="en-US" altLang="zh-CN" sz="2400" b="1">
                <a:solidFill>
                  <a:srgbClr val="000000"/>
                </a:solidFill>
                <a:latin typeface="Courier New" pitchFamily="49" charset="0"/>
                <a:ea typeface="黑体" pitchFamily="49" charset="-122"/>
              </a:rPr>
              <a:t> Max(</a:t>
            </a:r>
            <a:r>
              <a:rPr lang="en-US" altLang="zh-CN" sz="2400" b="1">
                <a:solidFill>
                  <a:srgbClr val="0000FF"/>
                </a:solidFill>
                <a:latin typeface="Courier New" pitchFamily="49" charset="0"/>
                <a:ea typeface="黑体" pitchFamily="49" charset="-122"/>
              </a:rPr>
              <a:t>double</a:t>
            </a:r>
            <a:r>
              <a:rPr lang="en-US" altLang="zh-CN" sz="2400" b="1">
                <a:solidFill>
                  <a:srgbClr val="000000"/>
                </a:solidFill>
                <a:latin typeface="Courier New" pitchFamily="49" charset="0"/>
                <a:ea typeface="黑体" pitchFamily="49" charset="-122"/>
              </a:rPr>
              <a:t> a, </a:t>
            </a:r>
            <a:r>
              <a:rPr lang="en-US" altLang="zh-CN" sz="2400" b="1">
                <a:solidFill>
                  <a:srgbClr val="0000FF"/>
                </a:solidFill>
                <a:latin typeface="Courier New" pitchFamily="49" charset="0"/>
                <a:ea typeface="黑体" pitchFamily="49" charset="-122"/>
              </a:rPr>
              <a:t>double</a:t>
            </a:r>
            <a:r>
              <a:rPr lang="en-US" altLang="zh-CN" sz="2400" b="1">
                <a:solidFill>
                  <a:srgbClr val="000000"/>
                </a:solidFill>
                <a:latin typeface="Courier New" pitchFamily="49" charset="0"/>
                <a:ea typeface="黑体" pitchFamily="49" charset="-122"/>
              </a:rPr>
              <a:t> b)</a:t>
            </a:r>
            <a:r>
              <a:rPr lang="en-US" altLang="zh-CN" sz="2400" b="1">
                <a:solidFill>
                  <a:srgbClr val="990000"/>
                </a:solidFill>
                <a:latin typeface="Courier New" pitchFamily="49" charset="0"/>
                <a:ea typeface="黑体" pitchFamily="49" charset="-122"/>
              </a:rPr>
              <a:t>// T </a:t>
            </a:r>
            <a:r>
              <a:rPr lang="zh-CN" altLang="en-US" sz="2400" b="1">
                <a:solidFill>
                  <a:srgbClr val="990000"/>
                </a:solidFill>
                <a:latin typeface="Courier New" pitchFamily="49" charset="0"/>
                <a:ea typeface="黑体" pitchFamily="49" charset="-122"/>
              </a:rPr>
              <a:t>为 </a:t>
            </a:r>
            <a:r>
              <a:rPr lang="en-US" altLang="zh-CN" sz="2400" b="1">
                <a:solidFill>
                  <a:srgbClr val="990000"/>
                </a:solidFill>
                <a:latin typeface="Courier New" pitchFamily="49" charset="0"/>
                <a:ea typeface="黑体" pitchFamily="49" charset="-122"/>
              </a:rPr>
              <a:t>double </a:t>
            </a:r>
            <a:r>
              <a:rPr lang="en-US" altLang="zh-CN" sz="2400" b="1">
                <a:solidFill>
                  <a:srgbClr val="000000"/>
                </a:solidFill>
                <a:latin typeface="Courier New" pitchFamily="49" charset="0"/>
                <a:ea typeface="黑体" pitchFamily="49" charset="-122"/>
              </a:rPr>
              <a:t/>
            </a:r>
            <a:br>
              <a:rPr lang="en-US" altLang="zh-CN" sz="2400" b="1">
                <a:solidFill>
                  <a:srgbClr val="00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br>
              <a:rPr lang="en-US" altLang="zh-CN" sz="2400" b="1">
                <a:solidFill>
                  <a:srgbClr val="000000"/>
                </a:solidFill>
                <a:latin typeface="Courier New" pitchFamily="49" charset="0"/>
                <a:ea typeface="黑体" pitchFamily="49" charset="-122"/>
              </a:rPr>
            </a:br>
            <a:r>
              <a:rPr lang="en-US" altLang="zh-CN" sz="2400" b="1">
                <a:solidFill>
                  <a:srgbClr val="0000FF"/>
                </a:solidFill>
                <a:latin typeface="Courier New" pitchFamily="49" charset="0"/>
                <a:ea typeface="黑体" pitchFamily="49" charset="-122"/>
              </a:rPr>
              <a:t>    return</a:t>
            </a:r>
            <a:r>
              <a:rPr lang="en-US" altLang="zh-CN" sz="2400" b="1">
                <a:solidFill>
                  <a:srgbClr val="000000"/>
                </a:solidFill>
                <a:latin typeface="Courier New" pitchFamily="49" charset="0"/>
                <a:ea typeface="黑体" pitchFamily="49" charset="-122"/>
              </a:rPr>
              <a:t> (a&gt;b) ? a : b;</a:t>
            </a:r>
            <a:br>
              <a:rPr lang="en-US" altLang="zh-CN" sz="2400" b="1">
                <a:solidFill>
                  <a:srgbClr val="00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p>
          <a:p>
            <a:pPr>
              <a:lnSpc>
                <a:spcPct val="70000"/>
              </a:lnSpc>
              <a:spcBef>
                <a:spcPct val="15000"/>
              </a:spcBef>
            </a:pPr>
            <a:r>
              <a:rPr lang="en-US" altLang="zh-CN" sz="2400" b="1">
                <a:solidFill>
                  <a:srgbClr val="000000"/>
                </a:solidFill>
                <a:latin typeface="Courier New" pitchFamily="49" charset="0"/>
                <a:ea typeface="黑体" pitchFamily="49" charset="-122"/>
              </a:rPr>
              <a:t> </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*Max(</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*a, </a:t>
            </a:r>
            <a:r>
              <a:rPr lang="en-US" altLang="zh-CN" sz="2400" b="1">
                <a:solidFill>
                  <a:srgbClr val="0000FF"/>
                </a:solidFill>
                <a:latin typeface="Courier New" pitchFamily="49" charset="0"/>
                <a:ea typeface="黑体" pitchFamily="49" charset="-122"/>
              </a:rPr>
              <a:t>char</a:t>
            </a:r>
            <a:r>
              <a:rPr lang="en-US" altLang="zh-CN" sz="2400" b="1">
                <a:solidFill>
                  <a:srgbClr val="000000"/>
                </a:solidFill>
                <a:latin typeface="Courier New" pitchFamily="49" charset="0"/>
                <a:ea typeface="黑体" pitchFamily="49" charset="-122"/>
              </a:rPr>
              <a:t> *b) 	</a:t>
            </a:r>
            <a:r>
              <a:rPr lang="en-US" altLang="zh-CN" sz="2400" b="1">
                <a:solidFill>
                  <a:srgbClr val="990000"/>
                </a:solidFill>
                <a:latin typeface="Courier New" pitchFamily="49" charset="0"/>
                <a:ea typeface="黑体" pitchFamily="49" charset="-122"/>
              </a:rPr>
              <a:t>// T </a:t>
            </a:r>
            <a:r>
              <a:rPr lang="zh-CN" altLang="en-US" sz="2400" b="1">
                <a:solidFill>
                  <a:srgbClr val="990000"/>
                </a:solidFill>
                <a:latin typeface="Courier New" pitchFamily="49" charset="0"/>
                <a:ea typeface="黑体" pitchFamily="49" charset="-122"/>
              </a:rPr>
              <a:t>为 </a:t>
            </a:r>
            <a:r>
              <a:rPr lang="en-US" altLang="zh-CN" sz="2400" b="1">
                <a:solidFill>
                  <a:srgbClr val="990000"/>
                </a:solidFill>
                <a:latin typeface="Courier New" pitchFamily="49" charset="0"/>
                <a:ea typeface="黑体" pitchFamily="49" charset="-122"/>
              </a:rPr>
              <a:t>char* </a:t>
            </a:r>
            <a:r>
              <a:rPr lang="en-US" altLang="zh-CN" sz="2400" b="1">
                <a:solidFill>
                  <a:srgbClr val="000000"/>
                </a:solidFill>
                <a:latin typeface="Courier New" pitchFamily="49" charset="0"/>
                <a:ea typeface="黑体" pitchFamily="49" charset="-122"/>
              </a:rPr>
              <a:t/>
            </a:r>
            <a:br>
              <a:rPr lang="en-US" altLang="zh-CN" sz="2400" b="1">
                <a:solidFill>
                  <a:srgbClr val="00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br>
              <a:rPr lang="en-US" altLang="zh-CN" sz="2400" b="1">
                <a:solidFill>
                  <a:srgbClr val="000000"/>
                </a:solidFill>
                <a:latin typeface="Courier New" pitchFamily="49" charset="0"/>
                <a:ea typeface="黑体" pitchFamily="49" charset="-122"/>
              </a:rPr>
            </a:br>
            <a:r>
              <a:rPr lang="en-US" altLang="zh-CN" sz="2400" b="1">
                <a:solidFill>
                  <a:srgbClr val="0000FF"/>
                </a:solidFill>
                <a:latin typeface="Courier New" pitchFamily="49" charset="0"/>
                <a:ea typeface="黑体" pitchFamily="49" charset="-122"/>
              </a:rPr>
              <a:t>    return</a:t>
            </a:r>
            <a:r>
              <a:rPr lang="en-US" altLang="zh-CN" sz="2400" b="1">
                <a:solidFill>
                  <a:srgbClr val="000000"/>
                </a:solidFill>
                <a:latin typeface="Courier New" pitchFamily="49" charset="0"/>
                <a:ea typeface="黑体" pitchFamily="49" charset="-122"/>
              </a:rPr>
              <a:t> (a&gt;b) ? a : b;  	</a:t>
            </a:r>
            <a:r>
              <a:rPr lang="en-US" altLang="zh-CN" sz="2400" b="1">
                <a:solidFill>
                  <a:srgbClr val="990000"/>
                </a:solidFill>
                <a:latin typeface="Courier New" pitchFamily="49" charset="0"/>
                <a:ea typeface="黑体" pitchFamily="49" charset="-122"/>
              </a:rPr>
              <a:t>// </a:t>
            </a:r>
            <a:r>
              <a:rPr lang="zh-CN" altLang="en-US" sz="2400" b="1">
                <a:solidFill>
                  <a:srgbClr val="990000"/>
                </a:solidFill>
                <a:latin typeface="Courier New" pitchFamily="49" charset="0"/>
                <a:ea typeface="黑体" pitchFamily="49" charset="-122"/>
              </a:rPr>
              <a:t>比较两个地址值 </a:t>
            </a:r>
            <a:br>
              <a:rPr lang="zh-CN" altLang="en-US" sz="2400" b="1">
                <a:solidFill>
                  <a:srgbClr val="990000"/>
                </a:solidFill>
                <a:latin typeface="Courier New" pitchFamily="49" charset="0"/>
                <a:ea typeface="黑体" pitchFamily="49" charset="-122"/>
              </a:rPr>
            </a:br>
            <a:r>
              <a:rPr lang="en-US" altLang="zh-CN" sz="2400" b="1">
                <a:solidFill>
                  <a:srgbClr val="000000"/>
                </a:solidFill>
                <a:latin typeface="Courier New" pitchFamily="49" charset="0"/>
                <a:ea typeface="黑体" pitchFamily="49" charset="-122"/>
              </a:rPr>
              <a:t> }</a:t>
            </a:r>
          </a:p>
        </p:txBody>
      </p:sp>
    </p:spTree>
    <p:extLst>
      <p:ext uri="{BB962C8B-B14F-4D97-AF65-F5344CB8AC3E}">
        <p14:creationId xmlns:p14="http://schemas.microsoft.com/office/powerpoint/2010/main" val="273416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1300">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130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130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130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130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300" grpId="0"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a:t>6.8 </a:t>
            </a:r>
            <a:r>
              <a:rPr lang="zh-CN" altLang="en-US"/>
              <a:t>函数模板</a:t>
            </a:r>
          </a:p>
        </p:txBody>
      </p:sp>
      <p:sp>
        <p:nvSpPr>
          <p:cNvPr id="312323" name="Rectangle 3"/>
          <p:cNvSpPr>
            <a:spLocks noGrp="1" noChangeArrowheads="1"/>
          </p:cNvSpPr>
          <p:nvPr>
            <p:ph type="body" idx="1"/>
          </p:nvPr>
        </p:nvSpPr>
        <p:spPr/>
        <p:txBody>
          <a:bodyPr/>
          <a:lstStyle/>
          <a:p>
            <a:pPr eaLnBrk="1" hangingPunct="1"/>
            <a:r>
              <a:rPr lang="en-US" altLang="zh-CN" dirty="0"/>
              <a:t>6.8.3 </a:t>
            </a:r>
            <a:r>
              <a:rPr lang="zh-CN" altLang="en-US" dirty="0"/>
              <a:t>重载模板函数</a:t>
            </a:r>
          </a:p>
          <a:p>
            <a:pPr lvl="1" eaLnBrk="1" hangingPunct="1"/>
            <a:r>
              <a:rPr lang="zh-CN" altLang="en-US" dirty="0"/>
              <a:t>例</a:t>
            </a:r>
            <a:r>
              <a:rPr lang="en-US" altLang="zh-CN" dirty="0"/>
              <a:t>6.8</a:t>
            </a:r>
            <a:r>
              <a:rPr lang="zh-CN" altLang="en-US" dirty="0"/>
              <a:t>中，比较两个字符串的地址值的大小没有意义。应该比较字符串的内容。</a:t>
            </a:r>
          </a:p>
          <a:p>
            <a:pPr lvl="1" eaLnBrk="1" hangingPunct="1">
              <a:spcBef>
                <a:spcPct val="0"/>
              </a:spcBef>
              <a:buFont typeface="Wingdings" pitchFamily="2" charset="2"/>
              <a:buNone/>
            </a:pPr>
            <a:r>
              <a:rPr lang="en-US" altLang="zh-CN" dirty="0">
                <a:solidFill>
                  <a:srgbClr val="0000FF"/>
                </a:solidFill>
              </a:rPr>
              <a:t>	char</a:t>
            </a:r>
            <a:r>
              <a:rPr lang="en-US" altLang="zh-CN" dirty="0">
                <a:solidFill>
                  <a:schemeClr val="tx2"/>
                </a:solidFill>
              </a:rPr>
              <a:t> *Max(</a:t>
            </a:r>
            <a:r>
              <a:rPr lang="en-US" altLang="zh-CN" dirty="0">
                <a:solidFill>
                  <a:srgbClr val="0000FF"/>
                </a:solidFill>
              </a:rPr>
              <a:t>char</a:t>
            </a:r>
            <a:r>
              <a:rPr lang="en-US" altLang="zh-CN" dirty="0">
                <a:solidFill>
                  <a:schemeClr val="tx2"/>
                </a:solidFill>
              </a:rPr>
              <a:t> *a, </a:t>
            </a:r>
            <a:r>
              <a:rPr lang="en-US" altLang="zh-CN" dirty="0">
                <a:solidFill>
                  <a:srgbClr val="0000FF"/>
                </a:solidFill>
              </a:rPr>
              <a:t>char</a:t>
            </a:r>
            <a:r>
              <a:rPr lang="en-US" altLang="zh-CN" dirty="0">
                <a:solidFill>
                  <a:schemeClr val="tx2"/>
                </a:solidFill>
              </a:rPr>
              <a:t> *b)</a:t>
            </a:r>
          </a:p>
          <a:p>
            <a:pPr lvl="1" eaLnBrk="1" hangingPunct="1">
              <a:spcBef>
                <a:spcPct val="0"/>
              </a:spcBef>
              <a:buFont typeface="Wingdings" pitchFamily="2" charset="2"/>
              <a:buNone/>
            </a:pPr>
            <a:r>
              <a:rPr lang="en-US" altLang="zh-CN" dirty="0">
                <a:solidFill>
                  <a:schemeClr val="tx2"/>
                </a:solidFill>
              </a:rPr>
              <a:t>	{</a:t>
            </a:r>
          </a:p>
          <a:p>
            <a:pPr lvl="1" eaLnBrk="1" hangingPunct="1">
              <a:spcBef>
                <a:spcPct val="0"/>
              </a:spcBef>
              <a:buFont typeface="Wingdings" pitchFamily="2" charset="2"/>
              <a:buNone/>
            </a:pPr>
            <a:r>
              <a:rPr lang="en-US" altLang="zh-CN" dirty="0">
                <a:solidFill>
                  <a:schemeClr val="tx2"/>
                </a:solidFill>
              </a:rPr>
              <a:t>    </a:t>
            </a:r>
            <a:r>
              <a:rPr lang="en-US" altLang="zh-CN" dirty="0">
                <a:solidFill>
                  <a:srgbClr val="0000FF"/>
                </a:solidFill>
              </a:rPr>
              <a:t>return</a:t>
            </a:r>
            <a:r>
              <a:rPr lang="en-US" altLang="zh-CN" dirty="0">
                <a:solidFill>
                  <a:schemeClr val="tx2"/>
                </a:solidFill>
              </a:rPr>
              <a:t> </a:t>
            </a:r>
            <a:r>
              <a:rPr lang="en-US" altLang="zh-CN" dirty="0" err="1">
                <a:solidFill>
                  <a:schemeClr val="tx2"/>
                </a:solidFill>
              </a:rPr>
              <a:t>strcmp</a:t>
            </a:r>
            <a:r>
              <a:rPr lang="en-US" altLang="zh-CN" dirty="0">
                <a:solidFill>
                  <a:schemeClr val="tx2"/>
                </a:solidFill>
              </a:rPr>
              <a:t>(a, b)&gt;0 ? a : b;</a:t>
            </a:r>
          </a:p>
          <a:p>
            <a:pPr lvl="1" eaLnBrk="1" hangingPunct="1">
              <a:spcBef>
                <a:spcPct val="0"/>
              </a:spcBef>
              <a:buFont typeface="Wingdings" pitchFamily="2" charset="2"/>
              <a:buNone/>
            </a:pPr>
            <a:r>
              <a:rPr lang="en-US" altLang="zh-CN" dirty="0">
                <a:solidFill>
                  <a:schemeClr val="tx2"/>
                </a:solidFill>
              </a:rPr>
              <a:t>	}</a:t>
            </a:r>
          </a:p>
          <a:p>
            <a:pPr lvl="1" eaLnBrk="1" hangingPunct="1"/>
            <a:r>
              <a:rPr lang="zh-CN" altLang="en-US" dirty="0"/>
              <a:t>为此，</a:t>
            </a:r>
            <a:r>
              <a:rPr lang="en-US" altLang="zh-CN" dirty="0"/>
              <a:t>C++</a:t>
            </a:r>
            <a:r>
              <a:rPr lang="zh-CN" altLang="en-US" dirty="0"/>
              <a:t>允许重载模板函数</a:t>
            </a:r>
          </a:p>
          <a:p>
            <a:pPr lvl="1" eaLnBrk="1" hangingPunct="1"/>
            <a:r>
              <a:rPr lang="zh-CN" altLang="en-US" dirty="0"/>
              <a:t>并且规定：编译系统首先匹配重载模板函数，而不会生成前面的第四个函数去比较字符串起始地址值的大小。</a:t>
            </a:r>
            <a:endParaRPr lang="en-US" altLang="zh-CN" dirty="0"/>
          </a:p>
        </p:txBody>
      </p:sp>
    </p:spTree>
    <p:extLst>
      <p:ext uri="{BB962C8B-B14F-4D97-AF65-F5344CB8AC3E}">
        <p14:creationId xmlns:p14="http://schemas.microsoft.com/office/powerpoint/2010/main" val="306174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23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23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23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23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232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232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232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2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dirty="0"/>
              <a:t>主要内容</a:t>
            </a:r>
          </a:p>
        </p:txBody>
      </p:sp>
      <p:sp>
        <p:nvSpPr>
          <p:cNvPr id="18435" name="内容占位符 2"/>
          <p:cNvSpPr>
            <a:spLocks noGrp="1"/>
          </p:cNvSpPr>
          <p:nvPr>
            <p:ph idx="1"/>
          </p:nvPr>
        </p:nvSpPr>
        <p:spPr>
          <a:xfrm>
            <a:off x="457200" y="1295400"/>
            <a:ext cx="8229600" cy="5334000"/>
          </a:xfrm>
        </p:spPr>
        <p:txBody>
          <a:bodyPr/>
          <a:lstStyle/>
          <a:p>
            <a:pPr eaLnBrk="1" hangingPunct="1">
              <a:buNone/>
            </a:pPr>
            <a:r>
              <a:rPr lang="zh-CN" altLang="en-US" sz="2400" dirty="0">
                <a:solidFill>
                  <a:schemeClr val="bg1">
                    <a:lumMod val="65000"/>
                  </a:schemeClr>
                </a:solidFill>
              </a:rPr>
              <a:t>一、</a:t>
            </a:r>
            <a:r>
              <a:rPr lang="zh-CN" altLang="en-US" dirty="0">
                <a:solidFill>
                  <a:schemeClr val="bg1">
                    <a:lumMod val="65000"/>
                  </a:schemeClr>
                </a:solidFill>
              </a:rPr>
              <a:t>从变量名谈起</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a:t>
            </a:r>
            <a:r>
              <a:rPr lang="en-US" altLang="zh-CN" dirty="0">
                <a:solidFill>
                  <a:schemeClr val="bg1">
                    <a:lumMod val="65000"/>
                  </a:schemeClr>
                </a:solidFill>
              </a:rPr>
              <a:t>(</a:t>
            </a:r>
            <a:r>
              <a:rPr lang="zh-CN" altLang="en-US" dirty="0">
                <a:solidFill>
                  <a:schemeClr val="bg1">
                    <a:lumMod val="65000"/>
                  </a:schemeClr>
                </a:solidFill>
              </a:rPr>
              <a:t>原</a:t>
            </a:r>
            <a:r>
              <a:rPr lang="en-US" altLang="zh-CN" dirty="0">
                <a:solidFill>
                  <a:schemeClr val="bg1">
                    <a:lumMod val="65000"/>
                  </a:schemeClr>
                </a:solidFill>
              </a:rPr>
              <a:t>)</a:t>
            </a:r>
            <a:r>
              <a:rPr lang="zh-CN" altLang="en-US" dirty="0">
                <a:solidFill>
                  <a:schemeClr val="bg1">
                    <a:lumMod val="65000"/>
                  </a:schemeClr>
                </a:solidFill>
              </a:rPr>
              <a:t>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变量的间接名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变量的别名</a:t>
            </a:r>
            <a:endParaRPr lang="en-US" altLang="zh-CN" dirty="0">
              <a:solidFill>
                <a:schemeClr val="bg1">
                  <a:lumMod val="65000"/>
                </a:schemeClr>
              </a:solidFill>
            </a:endParaRPr>
          </a:p>
          <a:p>
            <a:pPr eaLnBrk="1" hangingPunct="1">
              <a:buNone/>
            </a:pPr>
            <a:r>
              <a:rPr lang="zh-CN" altLang="en-US" sz="3200" dirty="0"/>
              <a:t>二、从泛型程序设计谈起</a:t>
            </a:r>
            <a:endParaRPr lang="en-US" altLang="zh-CN" sz="3200" dirty="0"/>
          </a:p>
          <a:p>
            <a:pPr lvl="1" eaLnBrk="1" hangingPunct="1"/>
            <a:r>
              <a:rPr lang="zh-CN" altLang="en-US" sz="2800" dirty="0">
                <a:solidFill>
                  <a:schemeClr val="bg1">
                    <a:lumMod val="65000"/>
                  </a:schemeClr>
                </a:solidFill>
              </a:rPr>
              <a:t>函数重载</a:t>
            </a:r>
            <a:endParaRPr lang="en-US" altLang="zh-CN" sz="2800" dirty="0">
              <a:solidFill>
                <a:schemeClr val="bg1">
                  <a:lumMod val="65000"/>
                </a:schemeClr>
              </a:solidFill>
            </a:endParaRPr>
          </a:p>
          <a:p>
            <a:pPr lvl="1" eaLnBrk="1" hangingPunct="1"/>
            <a:r>
              <a:rPr lang="zh-CN" altLang="en-US" sz="2800" dirty="0">
                <a:solidFill>
                  <a:schemeClr val="bg1">
                    <a:lumMod val="65000"/>
                  </a:schemeClr>
                </a:solidFill>
              </a:rPr>
              <a:t>函数模板</a:t>
            </a:r>
            <a:endParaRPr lang="en-US" altLang="zh-CN" sz="2800" dirty="0">
              <a:solidFill>
                <a:schemeClr val="bg1">
                  <a:lumMod val="65000"/>
                </a:schemeClr>
              </a:solidFill>
            </a:endParaRPr>
          </a:p>
          <a:p>
            <a:pPr lvl="1" eaLnBrk="1" hangingPunct="1"/>
            <a:r>
              <a:rPr lang="zh-CN" altLang="en-US" sz="2800" dirty="0">
                <a:solidFill>
                  <a:srgbClr val="0000FF"/>
                </a:solidFill>
              </a:rPr>
              <a:t>运算符函数</a:t>
            </a:r>
            <a:endParaRPr lang="en-US" altLang="zh-CN" dirty="0">
              <a:solidFill>
                <a:srgbClr val="0000FF"/>
              </a:solidFill>
            </a:endParaRPr>
          </a:p>
          <a:p>
            <a:pPr eaLnBrk="1" hangingPunct="1">
              <a:buNone/>
            </a:pPr>
            <a:r>
              <a:rPr lang="zh-CN" altLang="en-US" dirty="0">
                <a:solidFill>
                  <a:schemeClr val="bg1">
                    <a:lumMod val="65000"/>
                  </a:schemeClr>
                </a:solidFill>
              </a:rPr>
              <a:t>三、其他</a:t>
            </a:r>
            <a:endParaRPr lang="en-US" altLang="zh-CN" dirty="0">
              <a:solidFill>
                <a:schemeClr val="bg1">
                  <a:lumMod val="65000"/>
                </a:schemeClr>
              </a:solidFill>
            </a:endParaRPr>
          </a:p>
          <a:p>
            <a:pPr lvl="1" eaLnBrk="1" hangingPunct="1"/>
            <a:r>
              <a:rPr lang="zh-CN" altLang="en-US" dirty="0">
                <a:solidFill>
                  <a:schemeClr val="bg1">
                    <a:lumMod val="65000"/>
                  </a:schemeClr>
                </a:solidFill>
              </a:rPr>
              <a:t>默认参数、内联函数</a:t>
            </a:r>
            <a:r>
              <a:rPr lang="en-US" altLang="zh-CN" dirty="0">
                <a:solidFill>
                  <a:schemeClr val="bg1">
                    <a:lumMod val="65000"/>
                  </a:schemeClr>
                </a:solidFill>
              </a:rPr>
              <a:t/>
            </a:r>
            <a:br>
              <a:rPr lang="en-US" altLang="zh-CN" dirty="0">
                <a:solidFill>
                  <a:schemeClr val="bg1">
                    <a:lumMod val="65000"/>
                  </a:schemeClr>
                </a:solidFill>
              </a:rPr>
            </a:br>
            <a:r>
              <a:rPr lang="zh-CN" altLang="en-US" dirty="0">
                <a:solidFill>
                  <a:schemeClr val="bg1">
                    <a:lumMod val="65000"/>
                  </a:schemeClr>
                </a:solidFill>
              </a:rPr>
              <a:t>（通过“就地展开”理解形参与实参的关系）</a:t>
            </a:r>
            <a:endParaRPr lang="en-US" altLang="zh-CN" dirty="0">
              <a:solidFill>
                <a:schemeClr val="bg1">
                  <a:lumMod val="65000"/>
                </a:schemeClr>
              </a:solidFill>
            </a:endParaRPr>
          </a:p>
        </p:txBody>
      </p:sp>
    </p:spTree>
    <p:extLst>
      <p:ext uri="{BB962C8B-B14F-4D97-AF65-F5344CB8AC3E}">
        <p14:creationId xmlns:p14="http://schemas.microsoft.com/office/powerpoint/2010/main" val="34314740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F92063-2EF8-4657-86A5-802009D7556F}"/>
              </a:ext>
            </a:extLst>
          </p:cNvPr>
          <p:cNvSpPr>
            <a:spLocks noGrp="1"/>
          </p:cNvSpPr>
          <p:nvPr>
            <p:ph type="title"/>
          </p:nvPr>
        </p:nvSpPr>
        <p:spPr/>
        <p:txBody>
          <a:bodyPr/>
          <a:lstStyle/>
          <a:p>
            <a:r>
              <a:rPr lang="zh-CN" altLang="en-US" dirty="0"/>
              <a:t>运算符函数及其重载</a:t>
            </a:r>
          </a:p>
        </p:txBody>
      </p:sp>
      <p:sp>
        <p:nvSpPr>
          <p:cNvPr id="3" name="内容占位符 2">
            <a:extLst>
              <a:ext uri="{FF2B5EF4-FFF2-40B4-BE49-F238E27FC236}">
                <a16:creationId xmlns:a16="http://schemas.microsoft.com/office/drawing/2014/main" id="{8CBE40F4-0518-48B6-B864-A4BD8295820F}"/>
              </a:ext>
            </a:extLst>
          </p:cNvPr>
          <p:cNvSpPr>
            <a:spLocks noGrp="1"/>
          </p:cNvSpPr>
          <p:nvPr>
            <p:ph idx="1"/>
          </p:nvPr>
        </p:nvSpPr>
        <p:spPr>
          <a:xfrm>
            <a:off x="381000" y="2820194"/>
            <a:ext cx="8610600" cy="3885406"/>
          </a:xfrm>
        </p:spPr>
        <p:txBody>
          <a:bodyPr/>
          <a:lstStyle/>
          <a:p>
            <a:pPr>
              <a:lnSpc>
                <a:spcPct val="150000"/>
              </a:lnSpc>
              <a:spcBef>
                <a:spcPts val="0"/>
              </a:spcBef>
            </a:pPr>
            <a:r>
              <a:rPr lang="zh-CN" altLang="en-US" dirty="0"/>
              <a:t>对复数结构体，问能否直接执行算术运算、输出</a:t>
            </a:r>
            <a:r>
              <a:rPr lang="en-US" altLang="zh-CN" dirty="0"/>
              <a:t>?</a:t>
            </a:r>
          </a:p>
          <a:p>
            <a:pPr marL="180975" lvl="1" indent="0">
              <a:lnSpc>
                <a:spcPct val="125000"/>
              </a:lnSpc>
              <a:spcBef>
                <a:spcPts val="0"/>
              </a:spcBef>
              <a:buNone/>
            </a:pPr>
            <a:r>
              <a:rPr lang="zh-CN" altLang="en-US" dirty="0">
                <a:solidFill>
                  <a:schemeClr val="tx2"/>
                </a:solidFill>
              </a:rPr>
              <a:t>有 </a:t>
            </a:r>
            <a:r>
              <a:rPr lang="en-US" altLang="zh-CN" dirty="0">
                <a:solidFill>
                  <a:schemeClr val="tx2"/>
                </a:solidFill>
              </a:rPr>
              <a:t>Complex c1={1,2},</a:t>
            </a:r>
            <a:r>
              <a:rPr lang="zh-CN" altLang="en-US" dirty="0">
                <a:solidFill>
                  <a:schemeClr val="tx2"/>
                </a:solidFill>
              </a:rPr>
              <a:t> </a:t>
            </a:r>
            <a:r>
              <a:rPr lang="en-US" altLang="zh-CN" dirty="0">
                <a:solidFill>
                  <a:schemeClr val="tx2"/>
                </a:solidFill>
              </a:rPr>
              <a:t>c2={3,4};</a:t>
            </a:r>
          </a:p>
          <a:p>
            <a:pPr marL="180975" lvl="1" indent="0">
              <a:lnSpc>
                <a:spcPct val="125000"/>
              </a:lnSpc>
              <a:spcBef>
                <a:spcPts val="0"/>
              </a:spcBef>
              <a:buNone/>
            </a:pPr>
            <a:r>
              <a:rPr lang="en-US" altLang="zh-CN" dirty="0" err="1">
                <a:solidFill>
                  <a:schemeClr val="tx2"/>
                </a:solidFill>
              </a:rPr>
              <a:t>printf</a:t>
            </a:r>
            <a:r>
              <a:rPr lang="en-US" altLang="zh-CN" dirty="0">
                <a:solidFill>
                  <a:schemeClr val="tx2"/>
                </a:solidFill>
              </a:rPr>
              <a:t>("</a:t>
            </a:r>
            <a:r>
              <a:rPr lang="zh-CN" altLang="en-US" dirty="0">
                <a:solidFill>
                  <a:srgbClr val="C00000"/>
                </a:solidFill>
              </a:rPr>
              <a:t>某种格式控制</a:t>
            </a:r>
            <a:r>
              <a:rPr lang="en-US" altLang="zh-CN" dirty="0">
                <a:solidFill>
                  <a:schemeClr val="tx2"/>
                </a:solidFill>
              </a:rPr>
              <a:t>", c1, c2, c1+c2);</a:t>
            </a:r>
          </a:p>
          <a:p>
            <a:pPr marL="180975" lvl="1" indent="0">
              <a:lnSpc>
                <a:spcPct val="125000"/>
              </a:lnSpc>
              <a:spcBef>
                <a:spcPts val="0"/>
              </a:spcBef>
              <a:buNone/>
            </a:pPr>
            <a:r>
              <a:rPr lang="zh-CN" altLang="en-US" dirty="0">
                <a:solidFill>
                  <a:schemeClr val="tx2"/>
                </a:solidFill>
              </a:rPr>
              <a:t>   或</a:t>
            </a:r>
            <a:endParaRPr lang="en-US" altLang="zh-CN" dirty="0">
              <a:solidFill>
                <a:schemeClr val="tx2"/>
              </a:solidFill>
            </a:endParaRPr>
          </a:p>
          <a:p>
            <a:pPr marL="180975" lvl="1" indent="0">
              <a:lnSpc>
                <a:spcPct val="125000"/>
              </a:lnSpc>
              <a:spcBef>
                <a:spcPts val="0"/>
              </a:spcBef>
              <a:buNone/>
            </a:pPr>
            <a:r>
              <a:rPr lang="en-US" altLang="zh-CN" dirty="0" err="1">
                <a:solidFill>
                  <a:schemeClr val="tx2"/>
                </a:solidFill>
              </a:rPr>
              <a:t>cout</a:t>
            </a:r>
            <a:r>
              <a:rPr lang="en-US" altLang="zh-CN" dirty="0">
                <a:solidFill>
                  <a:schemeClr val="tx2"/>
                </a:solidFill>
              </a:rPr>
              <a:t>&lt;&lt; "c1 = "&lt;&lt; c1&lt;&lt; ", c2 = "&lt;&lt; c2 &lt;&lt;</a:t>
            </a:r>
            <a:r>
              <a:rPr lang="en-US" altLang="zh-CN" dirty="0" err="1">
                <a:solidFill>
                  <a:schemeClr val="tx2"/>
                </a:solidFill>
              </a:rPr>
              <a:t>endl</a:t>
            </a:r>
            <a:r>
              <a:rPr lang="en-US" altLang="zh-CN" dirty="0">
                <a:solidFill>
                  <a:schemeClr val="tx2"/>
                </a:solidFill>
              </a:rPr>
              <a:t>;</a:t>
            </a:r>
            <a:br>
              <a:rPr lang="en-US" altLang="zh-CN" dirty="0">
                <a:solidFill>
                  <a:schemeClr val="tx2"/>
                </a:solidFill>
              </a:rPr>
            </a:br>
            <a:r>
              <a:rPr lang="en-US" altLang="zh-CN" dirty="0" err="1">
                <a:solidFill>
                  <a:schemeClr val="tx2"/>
                </a:solidFill>
              </a:rPr>
              <a:t>cout</a:t>
            </a:r>
            <a:r>
              <a:rPr lang="en-US" altLang="zh-CN" dirty="0">
                <a:solidFill>
                  <a:schemeClr val="tx2"/>
                </a:solidFill>
              </a:rPr>
              <a:t> &lt;&lt; "c1 + c2 = " &lt;&lt; c1 + c2 &lt;&lt; </a:t>
            </a:r>
            <a:r>
              <a:rPr lang="en-US" altLang="zh-CN" dirty="0" err="1">
                <a:solidFill>
                  <a:schemeClr val="tx2"/>
                </a:solidFill>
              </a:rPr>
              <a:t>endl</a:t>
            </a:r>
            <a:r>
              <a:rPr lang="en-US" altLang="zh-CN" dirty="0">
                <a:solidFill>
                  <a:schemeClr val="tx2"/>
                </a:solidFill>
              </a:rPr>
              <a:t>;</a:t>
            </a:r>
          </a:p>
        </p:txBody>
      </p:sp>
      <p:sp>
        <p:nvSpPr>
          <p:cNvPr id="4" name="Text Box 4">
            <a:extLst>
              <a:ext uri="{FF2B5EF4-FFF2-40B4-BE49-F238E27FC236}">
                <a16:creationId xmlns:a16="http://schemas.microsoft.com/office/drawing/2014/main" id="{8628B8B7-D5A1-4972-AB9B-1C175890665F}"/>
              </a:ext>
            </a:extLst>
          </p:cNvPr>
          <p:cNvSpPr txBox="1">
            <a:spLocks noChangeArrowheads="1"/>
          </p:cNvSpPr>
          <p:nvPr/>
        </p:nvSpPr>
        <p:spPr bwMode="auto">
          <a:xfrm>
            <a:off x="438150" y="1372394"/>
            <a:ext cx="8677275" cy="1447800"/>
          </a:xfrm>
          <a:prstGeom prst="rect">
            <a:avLst/>
          </a:prstGeom>
          <a:noFill/>
          <a:ln w="9525">
            <a:noFill/>
            <a:miter lim="800000"/>
            <a:headEnd/>
            <a:tailEnd/>
          </a:ln>
        </p:spPr>
        <p:txBody>
          <a:bodyPr wrap="none" lIns="72000" tIns="72000" rIns="72000" bIns="72000"/>
          <a:lstStyle/>
          <a:p>
            <a:pPr lvl="0">
              <a:lnSpc>
                <a:spcPct val="90000"/>
              </a:lnSpc>
            </a:pP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黑体" pitchFamily="2" charset="-122"/>
                <a:cs typeface="+mn-cs"/>
              </a:rPr>
              <a:t>struct</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Complex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复数结构体</a:t>
            </a:r>
            <a:endPar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endParaRPr>
          </a:p>
          <a:p>
            <a:pPr lvl="0">
              <a:lnSpc>
                <a:spcPct val="90000"/>
              </a:lnSpc>
            </a:pPr>
            <a:r>
              <a:rPr lang="en-US" altLang="zh-CN" sz="2400" b="1" dirty="0">
                <a:solidFill>
                  <a:srgbClr val="000000"/>
                </a:solidFill>
                <a:latin typeface="Courier New" pitchFamily="49" charset="0"/>
              </a:rPr>
              <a:t>{</a:t>
            </a:r>
          </a:p>
          <a:p>
            <a:pPr lvl="0">
              <a:lnSpc>
                <a:spcPct val="90000"/>
              </a:lnSpc>
            </a:pPr>
            <a:r>
              <a:rPr kumimoji="0" lang="en-US" altLang="zh-CN" sz="2400" b="1" i="0" u="none" strike="noStrike" kern="1200" cap="none" spc="0" normalizeH="0" baseline="0" noProof="0" dirty="0">
                <a:ln>
                  <a:noFill/>
                </a:ln>
                <a:solidFill>
                  <a:srgbClr val="0000FF"/>
                </a:solidFill>
                <a:effectLst/>
                <a:uLnTx/>
                <a:uFillTx/>
                <a:latin typeface="Courier New" pitchFamily="49" charset="0"/>
                <a:ea typeface="黑体" pitchFamily="2" charset="-122"/>
                <a:cs typeface="+mn-cs"/>
              </a:rPr>
              <a:t>   double</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 re, </a:t>
            </a:r>
            <a:r>
              <a:rPr kumimoji="0" lang="en-US" altLang="zh-CN" sz="2400" b="1" i="0" u="none" strike="noStrike" kern="1200" cap="none" spc="0" normalizeH="0" baseline="0" noProof="0" dirty="0" err="1">
                <a:ln>
                  <a:noFill/>
                </a:ln>
                <a:solidFill>
                  <a:srgbClr val="000000"/>
                </a:solidFill>
                <a:effectLst/>
                <a:uLnTx/>
                <a:uFillTx/>
                <a:latin typeface="Courier New" pitchFamily="49" charset="0"/>
                <a:ea typeface="黑体" pitchFamily="2" charset="-122"/>
                <a:cs typeface="+mn-cs"/>
              </a:rPr>
              <a:t>im</a:t>
            </a: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Courier New" pitchFamily="49" charset="0"/>
                <a:ea typeface="黑体" pitchFamily="2" charset="-122"/>
                <a:cs typeface="+mn-cs"/>
              </a:rPr>
              <a:t>};</a:t>
            </a:r>
          </a:p>
        </p:txBody>
      </p:sp>
    </p:spTree>
    <p:extLst>
      <p:ext uri="{BB962C8B-B14F-4D97-AF65-F5344CB8AC3E}">
        <p14:creationId xmlns:p14="http://schemas.microsoft.com/office/powerpoint/2010/main" val="1470148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4A9E2AA-00CA-48A8-8E32-12AB07CE819F}"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95010" name="Text Box 2"/>
          <p:cNvSpPr txBox="1">
            <a:spLocks noChangeArrowheads="1"/>
          </p:cNvSpPr>
          <p:nvPr/>
        </p:nvSpPr>
        <p:spPr bwMode="auto">
          <a:xfrm>
            <a:off x="0" y="228600"/>
            <a:ext cx="8991600" cy="199231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运算符的重载从另一个方面体现了</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OOP</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技术的多态性，</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且同一运算符根据不同的运算对象可以完成不同的操作。</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1195011" name="Text Box 3"/>
          <p:cNvSpPr txBox="1">
            <a:spLocks noChangeArrowheads="1"/>
          </p:cNvSpPr>
          <p:nvPr/>
        </p:nvSpPr>
        <p:spPr bwMode="auto">
          <a:xfrm>
            <a:off x="0" y="2362200"/>
            <a:ext cx="8991600"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en-US" altLang="zh-CN"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为了重载运算符，必须定义一个函数，并告诉编译器，</a:t>
            </a:r>
            <a:r>
              <a:rPr kumimoji="1" lang="zh-CN" altLang="en-US" sz="32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遇到这个重载运算符就调用该函数，由这个函数来完成该运算符应该完成的操作。</a:t>
            </a:r>
            <a:r>
              <a:rPr kumimoji="1"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这种函数称为运算符重载函数。</a:t>
            </a:r>
            <a:endParaRPr kumimoji="1" lang="zh-CN" altLang="en-US" sz="3200" b="1" i="0" u="none" strike="noStrike" kern="1200" cap="none" spc="0" normalizeH="0" baseline="0" noProof="0" dirty="0" smtClean="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257148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95011"/>
                                        </p:tgtEl>
                                        <p:attrNameLst>
                                          <p:attrName>style.visibility</p:attrName>
                                        </p:attrNameLst>
                                      </p:cBhvr>
                                      <p:to>
                                        <p:strVal val="visible"/>
                                      </p:to>
                                    </p:set>
                                    <p:animEffect transition="in" filter="wipe(up)">
                                      <p:cBhvr>
                                        <p:cTn id="7" dur="500"/>
                                        <p:tgtEl>
                                          <p:spTgt spid="1195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501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3590DD-91BD-4CFB-B5F8-53212A6EAE34}"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8563" name="Text Box 3"/>
          <p:cNvSpPr txBox="1">
            <a:spLocks noChangeArrowheads="1"/>
          </p:cNvSpPr>
          <p:nvPr/>
        </p:nvSpPr>
        <p:spPr bwMode="auto">
          <a:xfrm>
            <a:off x="0" y="152400"/>
            <a:ext cx="8915400" cy="57943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运算符重载</a:t>
            </a:r>
            <a:endParaRPr kumimoji="1" lang="zh-CN" altLang="en-US" sz="3200" b="1" i="0" u="none" strike="noStrike" kern="1200" cap="none" spc="0" normalizeH="0" baseline="0" noProof="0" dirty="0" smtClean="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578564" name="Text Box 4"/>
          <p:cNvSpPr txBox="1">
            <a:spLocks noChangeArrowheads="1"/>
          </p:cNvSpPr>
          <p:nvPr/>
        </p:nvSpPr>
        <p:spPr bwMode="auto">
          <a:xfrm>
            <a:off x="0" y="838200"/>
            <a:ext cx="9144000" cy="21875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格式如下：</a:t>
            </a:r>
          </a:p>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&lt;</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返回类型</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&gt;  operator&lt;</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运算符</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&gt;(&lt;</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参数表</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&gt;)</a:t>
            </a:r>
          </a:p>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函数体	</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a:t>
            </a:r>
          </a:p>
        </p:txBody>
      </p:sp>
      <p:sp>
        <p:nvSpPr>
          <p:cNvPr id="578565" name="Text Box 5"/>
          <p:cNvSpPr txBox="1">
            <a:spLocks noChangeArrowheads="1"/>
          </p:cNvSpPr>
          <p:nvPr/>
        </p:nvSpPr>
        <p:spPr bwMode="auto">
          <a:xfrm>
            <a:off x="457200" y="4038600"/>
            <a:ext cx="5029200" cy="64135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  </a:t>
            </a:r>
            <a:r>
              <a:rPr kumimoji="1" lang="en-US" altLang="zh-CN" sz="36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operator +</a:t>
            </a:r>
            <a:r>
              <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  (A &amp;);</a:t>
            </a:r>
          </a:p>
        </p:txBody>
      </p:sp>
      <p:sp>
        <p:nvSpPr>
          <p:cNvPr id="578566" name="Text Box 6"/>
          <p:cNvSpPr txBox="1">
            <a:spLocks noChangeArrowheads="1"/>
          </p:cNvSpPr>
          <p:nvPr/>
        </p:nvSpPr>
        <p:spPr bwMode="auto">
          <a:xfrm>
            <a:off x="4724400" y="4114800"/>
            <a:ext cx="4419600" cy="954107"/>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重载了类型</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A</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的“</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运算符</a:t>
            </a:r>
          </a:p>
        </p:txBody>
      </p:sp>
      <p:sp>
        <p:nvSpPr>
          <p:cNvPr id="578567" name="Rectangle 7"/>
          <p:cNvSpPr>
            <a:spLocks noChangeArrowheads="1"/>
          </p:cNvSpPr>
          <p:nvPr/>
        </p:nvSpPr>
        <p:spPr bwMode="auto">
          <a:xfrm>
            <a:off x="0" y="5029200"/>
            <a:ext cx="9144000" cy="1439863"/>
          </a:xfrm>
          <a:prstGeom prst="rect">
            <a:avLst/>
          </a:prstGeom>
          <a:noFill/>
          <a:ln>
            <a:noFill/>
          </a:ln>
          <a:effectLst/>
          <a:extLst>
            <a:ext uri="{909E8E84-426E-40DD-AFC4-6F175D3DCCD1}">
              <a14:hiddenFill xmlns:a14="http://schemas.microsoft.com/office/drawing/2010/main">
                <a:gradFill rotWithShape="0">
                  <a:gsLst>
                    <a:gs pos="0">
                      <a:srgbClr val="FF9900">
                        <a:gamma/>
                        <a:shade val="46275"/>
                        <a:invGamma/>
                      </a:srgbClr>
                    </a:gs>
                    <a:gs pos="100000">
                      <a:srgbClr val="FF9900"/>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其中：</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operator</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是定义运算符重载函数的关键字，</a:t>
            </a:r>
            <a:r>
              <a:rPr kumimoji="1" lang="zh-CN" altLang="en-US" sz="36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它与其后的运算符一起构成函数名。</a:t>
            </a:r>
          </a:p>
        </p:txBody>
      </p:sp>
      <p:sp>
        <p:nvSpPr>
          <p:cNvPr id="578568" name="AutoShape 8"/>
          <p:cNvSpPr>
            <a:spLocks noChangeArrowheads="1"/>
          </p:cNvSpPr>
          <p:nvPr/>
        </p:nvSpPr>
        <p:spPr bwMode="auto">
          <a:xfrm>
            <a:off x="0" y="3276600"/>
            <a:ext cx="1752600" cy="520700"/>
          </a:xfrm>
          <a:prstGeom prst="wedgeRoundRectCallout">
            <a:avLst>
              <a:gd name="adj1" fmla="val -11593"/>
              <a:gd name="adj2" fmla="val 110671"/>
              <a:gd name="adj3" fmla="val 16667"/>
            </a:avLst>
          </a:prstGeom>
          <a:solidFill>
            <a:srgbClr val="FF00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返回类型</a:t>
            </a:r>
          </a:p>
        </p:txBody>
      </p:sp>
      <p:sp>
        <p:nvSpPr>
          <p:cNvPr id="578569" name="AutoShape 9"/>
          <p:cNvSpPr>
            <a:spLocks noChangeArrowheads="1"/>
          </p:cNvSpPr>
          <p:nvPr/>
        </p:nvSpPr>
        <p:spPr bwMode="auto">
          <a:xfrm>
            <a:off x="4965853" y="906463"/>
            <a:ext cx="2057400" cy="520700"/>
          </a:xfrm>
          <a:prstGeom prst="wedgeRoundRectCallout">
            <a:avLst>
              <a:gd name="adj1" fmla="val -18903"/>
              <a:gd name="adj2" fmla="val 94815"/>
              <a:gd name="adj3" fmla="val 16667"/>
            </a:avLst>
          </a:prstGeom>
          <a:solidFill>
            <a:srgbClr val="FF00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zh-CN" altLang="en-US" sz="2800" b="1" i="0" u="none" strike="noStrike" kern="1200" cap="none" spc="0" normalizeH="0" baseline="0" noProof="0" dirty="0" smtClean="0">
                <a:ln>
                  <a:noFill/>
                </a:ln>
                <a:solidFill>
                  <a:srgbClr val="FFFF00"/>
                </a:solidFill>
                <a:effectLst/>
                <a:uLnTx/>
                <a:uFillTx/>
                <a:latin typeface="Times New Roman" panose="02020603050405020304" pitchFamily="18" charset="0"/>
                <a:ea typeface="宋体" panose="02010600030101010101" pitchFamily="2" charset="-122"/>
                <a:cs typeface="+mn-cs"/>
              </a:rPr>
              <a:t>运算的对象</a:t>
            </a:r>
          </a:p>
        </p:txBody>
      </p:sp>
      <p:sp>
        <p:nvSpPr>
          <p:cNvPr id="578570" name="AutoShape 10"/>
          <p:cNvSpPr>
            <a:spLocks noChangeArrowheads="1"/>
          </p:cNvSpPr>
          <p:nvPr/>
        </p:nvSpPr>
        <p:spPr bwMode="auto">
          <a:xfrm>
            <a:off x="2324100" y="1166813"/>
            <a:ext cx="1295400" cy="520700"/>
          </a:xfrm>
          <a:prstGeom prst="wedgeRoundRectCallout">
            <a:avLst>
              <a:gd name="adj1" fmla="val -27940"/>
              <a:gd name="adj2" fmla="val 77134"/>
              <a:gd name="adj3" fmla="val 16667"/>
            </a:avLst>
          </a:prstGeom>
          <a:solidFill>
            <a:srgbClr val="FF00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zh-CN" altLang="en-US" sz="2800" b="1" i="0" u="none" strike="noStrike" kern="1200" cap="none" spc="0" normalizeH="0" baseline="0" noProof="0" dirty="0" smtClean="0">
                <a:ln>
                  <a:noFill/>
                </a:ln>
                <a:solidFill>
                  <a:srgbClr val="FFFF00"/>
                </a:solidFill>
                <a:effectLst/>
                <a:uLnTx/>
                <a:uFillTx/>
                <a:latin typeface="Times New Roman" panose="02020603050405020304" pitchFamily="18" charset="0"/>
                <a:ea typeface="宋体" panose="02010600030101010101" pitchFamily="2" charset="-122"/>
                <a:cs typeface="+mn-cs"/>
              </a:rPr>
              <a:t>关键字</a:t>
            </a:r>
          </a:p>
        </p:txBody>
      </p:sp>
      <p:sp>
        <p:nvSpPr>
          <p:cNvPr id="578571" name="AutoShape 11"/>
          <p:cNvSpPr>
            <a:spLocks/>
          </p:cNvSpPr>
          <p:nvPr/>
        </p:nvSpPr>
        <p:spPr bwMode="auto">
          <a:xfrm rot="5400000">
            <a:off x="1943100" y="3086100"/>
            <a:ext cx="457200" cy="1905000"/>
          </a:xfrm>
          <a:prstGeom prst="leftBrace">
            <a:avLst>
              <a:gd name="adj1" fmla="val 23553"/>
              <a:gd name="adj2" fmla="val 47319"/>
            </a:avLst>
          </a:prstGeom>
          <a:noFill/>
          <a:ln w="57150">
            <a:solidFill>
              <a:srgbClr val="000099"/>
            </a:solidFill>
            <a:round/>
            <a:headEnd/>
            <a:tailEnd/>
          </a:ln>
          <a:effectLst/>
          <a:extLst>
            <a:ext uri="{909E8E84-426E-40DD-AFC4-6F175D3DCCD1}">
              <a14:hiddenFill xmlns:a14="http://schemas.microsoft.com/office/drawing/2010/main">
                <a:gradFill rotWithShape="0">
                  <a:gsLst>
                    <a:gs pos="0">
                      <a:srgbClr val="FF9900">
                        <a:gamma/>
                        <a:shade val="46275"/>
                        <a:invGamma/>
                      </a:srgbClr>
                    </a:gs>
                    <a:gs pos="100000">
                      <a:srgbClr val="FF9900"/>
                    </a:gs>
                  </a:gsLst>
                  <a:lin ang="189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8572" name="AutoShape 12"/>
          <p:cNvSpPr>
            <a:spLocks noChangeArrowheads="1"/>
          </p:cNvSpPr>
          <p:nvPr/>
        </p:nvSpPr>
        <p:spPr bwMode="auto">
          <a:xfrm>
            <a:off x="2057400" y="3124200"/>
            <a:ext cx="1295400" cy="520700"/>
          </a:xfrm>
          <a:prstGeom prst="wedgeRoundRectCallout">
            <a:avLst>
              <a:gd name="adj1" fmla="val -38111"/>
              <a:gd name="adj2" fmla="val 100917"/>
              <a:gd name="adj3" fmla="val 16667"/>
            </a:avLst>
          </a:prstGeom>
          <a:solidFill>
            <a:srgbClr val="FF00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函数名</a:t>
            </a:r>
          </a:p>
        </p:txBody>
      </p:sp>
      <p:sp>
        <p:nvSpPr>
          <p:cNvPr id="578573" name="AutoShape 13"/>
          <p:cNvSpPr>
            <a:spLocks noChangeArrowheads="1"/>
          </p:cNvSpPr>
          <p:nvPr/>
        </p:nvSpPr>
        <p:spPr bwMode="auto">
          <a:xfrm>
            <a:off x="3581400" y="3200400"/>
            <a:ext cx="2057400" cy="520700"/>
          </a:xfrm>
          <a:prstGeom prst="wedgeRoundRectCallout">
            <a:avLst>
              <a:gd name="adj1" fmla="val -22069"/>
              <a:gd name="adj2" fmla="val 121648"/>
              <a:gd name="adj3" fmla="val 16667"/>
            </a:avLst>
          </a:prstGeom>
          <a:solidFill>
            <a:srgbClr val="FF00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p>
            <a:pPr marL="0" marR="0" lvl="0" indent="0" algn="ctr" defTabSz="914400" rtl="0" eaLnBrk="1" fontAlgn="base" latinLnBrk="0" hangingPunct="1">
              <a:lnSpc>
                <a:spcPct val="11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运算的对象</a:t>
            </a:r>
          </a:p>
        </p:txBody>
      </p:sp>
    </p:spTree>
    <p:extLst>
      <p:ext uri="{BB962C8B-B14F-4D97-AF65-F5344CB8AC3E}">
        <p14:creationId xmlns:p14="http://schemas.microsoft.com/office/powerpoint/2010/main" val="511805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8570"/>
                                        </p:tgtEl>
                                        <p:attrNameLst>
                                          <p:attrName>style.visibility</p:attrName>
                                        </p:attrNameLst>
                                      </p:cBhvr>
                                      <p:to>
                                        <p:strVal val="visible"/>
                                      </p:to>
                                    </p:set>
                                    <p:animEffect transition="in" filter="wipe(up)">
                                      <p:cBhvr>
                                        <p:cTn id="7" dur="500"/>
                                        <p:tgtEl>
                                          <p:spTgt spid="5785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8569"/>
                                        </p:tgtEl>
                                        <p:attrNameLst>
                                          <p:attrName>style.visibility</p:attrName>
                                        </p:attrNameLst>
                                      </p:cBhvr>
                                      <p:to>
                                        <p:strVal val="visible"/>
                                      </p:to>
                                    </p:set>
                                    <p:animEffect transition="in" filter="wipe(up)">
                                      <p:cBhvr>
                                        <p:cTn id="12" dur="500"/>
                                        <p:tgtEl>
                                          <p:spTgt spid="5785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78565"/>
                                        </p:tgtEl>
                                        <p:attrNameLst>
                                          <p:attrName>style.visibility</p:attrName>
                                        </p:attrNameLst>
                                      </p:cBhvr>
                                      <p:to>
                                        <p:strVal val="visible"/>
                                      </p:to>
                                    </p:set>
                                    <p:animEffect transition="in" filter="wipe(up)">
                                      <p:cBhvr>
                                        <p:cTn id="17" dur="500"/>
                                        <p:tgtEl>
                                          <p:spTgt spid="5785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78566"/>
                                        </p:tgtEl>
                                        <p:attrNameLst>
                                          <p:attrName>style.visibility</p:attrName>
                                        </p:attrNameLst>
                                      </p:cBhvr>
                                      <p:to>
                                        <p:strVal val="visible"/>
                                      </p:to>
                                    </p:set>
                                    <p:animEffect transition="in" filter="wipe(up)">
                                      <p:cBhvr>
                                        <p:cTn id="22" dur="500"/>
                                        <p:tgtEl>
                                          <p:spTgt spid="5785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78568"/>
                                        </p:tgtEl>
                                        <p:attrNameLst>
                                          <p:attrName>style.visibility</p:attrName>
                                        </p:attrNameLst>
                                      </p:cBhvr>
                                      <p:to>
                                        <p:strVal val="visible"/>
                                      </p:to>
                                    </p:set>
                                    <p:animEffect transition="in" filter="wipe(up)">
                                      <p:cBhvr>
                                        <p:cTn id="27" dur="500"/>
                                        <p:tgtEl>
                                          <p:spTgt spid="5785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78571"/>
                                        </p:tgtEl>
                                        <p:attrNameLst>
                                          <p:attrName>style.visibility</p:attrName>
                                        </p:attrNameLst>
                                      </p:cBhvr>
                                      <p:to>
                                        <p:strVal val="visible"/>
                                      </p:to>
                                    </p:set>
                                    <p:animEffect transition="in" filter="wipe(up)">
                                      <p:cBhvr>
                                        <p:cTn id="32" dur="500"/>
                                        <p:tgtEl>
                                          <p:spTgt spid="5785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78572"/>
                                        </p:tgtEl>
                                        <p:attrNameLst>
                                          <p:attrName>style.visibility</p:attrName>
                                        </p:attrNameLst>
                                      </p:cBhvr>
                                      <p:to>
                                        <p:strVal val="visible"/>
                                      </p:to>
                                    </p:set>
                                    <p:animEffect transition="in" filter="wipe(up)">
                                      <p:cBhvr>
                                        <p:cTn id="37" dur="500"/>
                                        <p:tgtEl>
                                          <p:spTgt spid="5785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78573"/>
                                        </p:tgtEl>
                                        <p:attrNameLst>
                                          <p:attrName>style.visibility</p:attrName>
                                        </p:attrNameLst>
                                      </p:cBhvr>
                                      <p:to>
                                        <p:strVal val="visible"/>
                                      </p:to>
                                    </p:set>
                                    <p:animEffect transition="in" filter="wipe(up)">
                                      <p:cBhvr>
                                        <p:cTn id="42" dur="500"/>
                                        <p:tgtEl>
                                          <p:spTgt spid="5785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578567"/>
                                        </p:tgtEl>
                                        <p:attrNameLst>
                                          <p:attrName>style.visibility</p:attrName>
                                        </p:attrNameLst>
                                      </p:cBhvr>
                                      <p:to>
                                        <p:strVal val="visible"/>
                                      </p:to>
                                    </p:set>
                                    <p:animEffect transition="in" filter="wipe(up)">
                                      <p:cBhvr>
                                        <p:cTn id="47" dur="500"/>
                                        <p:tgtEl>
                                          <p:spTgt spid="578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5" grpId="0" autoUpdateAnimBg="0"/>
      <p:bldP spid="578566" grpId="0" autoUpdateAnimBg="0"/>
      <p:bldP spid="578567" grpId="0" autoUpdateAnimBg="0"/>
      <p:bldP spid="578568" grpId="0" animBg="1" autoUpdateAnimBg="0"/>
      <p:bldP spid="578569" grpId="0" animBg="1" autoUpdateAnimBg="0"/>
      <p:bldP spid="578570" grpId="0" animBg="1" autoUpdateAnimBg="0"/>
      <p:bldP spid="578572" grpId="0" animBg="1" autoUpdateAnimBg="0"/>
      <p:bldP spid="578573"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3C78D-4098-4E79-8CD5-E75311C66820}"/>
              </a:ext>
            </a:extLst>
          </p:cNvPr>
          <p:cNvSpPr>
            <a:spLocks noGrp="1"/>
          </p:cNvSpPr>
          <p:nvPr>
            <p:ph type="title"/>
          </p:nvPr>
        </p:nvSpPr>
        <p:spPr/>
        <p:txBody>
          <a:bodyPr/>
          <a:lstStyle/>
          <a:p>
            <a:r>
              <a:rPr lang="en-US" altLang="zh-CN" dirty="0"/>
              <a:t>C++</a:t>
            </a:r>
            <a:r>
              <a:rPr lang="zh-CN" altLang="en-US" dirty="0"/>
              <a:t>运算符函数</a:t>
            </a:r>
          </a:p>
        </p:txBody>
      </p:sp>
      <p:sp>
        <p:nvSpPr>
          <p:cNvPr id="3" name="内容占位符 2">
            <a:extLst>
              <a:ext uri="{FF2B5EF4-FFF2-40B4-BE49-F238E27FC236}">
                <a16:creationId xmlns:a16="http://schemas.microsoft.com/office/drawing/2014/main" id="{98476F33-549A-4EAB-B9F3-894AEB236D42}"/>
              </a:ext>
            </a:extLst>
          </p:cNvPr>
          <p:cNvSpPr>
            <a:spLocks noGrp="1"/>
          </p:cNvSpPr>
          <p:nvPr>
            <p:ph idx="1"/>
          </p:nvPr>
        </p:nvSpPr>
        <p:spPr/>
        <p:txBody>
          <a:bodyPr/>
          <a:lstStyle/>
          <a:p>
            <a:r>
              <a:rPr lang="zh-CN" altLang="en-US" dirty="0"/>
              <a:t>要执行</a:t>
            </a:r>
            <a:r>
              <a:rPr lang="en-US" altLang="zh-CN" dirty="0"/>
              <a:t>c1+c2</a:t>
            </a:r>
            <a:r>
              <a:rPr lang="zh-CN" altLang="en-US" dirty="0"/>
              <a:t>，需要一个特殊的功能模块</a:t>
            </a:r>
            <a:r>
              <a:rPr lang="en-US" altLang="zh-CN" dirty="0"/>
              <a:t>(</a:t>
            </a:r>
            <a:r>
              <a:rPr lang="zh-CN" altLang="en-US" dirty="0"/>
              <a:t>函数</a:t>
            </a:r>
            <a:r>
              <a:rPr lang="en-US" altLang="zh-CN" dirty="0"/>
              <a:t>)</a:t>
            </a:r>
            <a:br>
              <a:rPr lang="en-US" altLang="zh-CN" dirty="0"/>
            </a:br>
            <a:r>
              <a:rPr lang="en-US" altLang="zh-CN" dirty="0"/>
              <a:t>            ———— </a:t>
            </a:r>
            <a:r>
              <a:rPr lang="zh-CN" altLang="en-US" dirty="0"/>
              <a:t>复数相加运算符函数</a:t>
            </a:r>
            <a:endParaRPr lang="en-US" altLang="zh-CN" dirty="0"/>
          </a:p>
          <a:p>
            <a:pPr lvl="1"/>
            <a:r>
              <a:rPr lang="zh-CN" altLang="en-US" dirty="0">
                <a:solidFill>
                  <a:schemeClr val="tx2"/>
                </a:solidFill>
              </a:rPr>
              <a:t>函</a:t>
            </a:r>
            <a:r>
              <a:rPr lang="zh-CN" altLang="en-US" sz="2000" dirty="0">
                <a:solidFill>
                  <a:schemeClr val="tx2"/>
                </a:solidFill>
              </a:rPr>
              <a:t> </a:t>
            </a:r>
            <a:r>
              <a:rPr lang="zh-CN" altLang="en-US" dirty="0">
                <a:solidFill>
                  <a:schemeClr val="tx2"/>
                </a:solidFill>
              </a:rPr>
              <a:t>数</a:t>
            </a:r>
            <a:r>
              <a:rPr lang="zh-CN" altLang="en-US" sz="2000" dirty="0">
                <a:solidFill>
                  <a:schemeClr val="tx2"/>
                </a:solidFill>
              </a:rPr>
              <a:t> </a:t>
            </a:r>
            <a:r>
              <a:rPr lang="zh-CN" altLang="en-US" dirty="0">
                <a:solidFill>
                  <a:schemeClr val="tx2"/>
                </a:solidFill>
              </a:rPr>
              <a:t>名： </a:t>
            </a:r>
            <a:r>
              <a:rPr lang="en-US" altLang="zh-CN" dirty="0">
                <a:solidFill>
                  <a:srgbClr val="0000FF"/>
                </a:solidFill>
              </a:rPr>
              <a:t>operator</a:t>
            </a:r>
            <a:r>
              <a:rPr lang="en-US" altLang="zh-CN" dirty="0">
                <a:solidFill>
                  <a:schemeClr val="tx2"/>
                </a:solidFill>
              </a:rPr>
              <a:t>+	(</a:t>
            </a:r>
            <a:r>
              <a:rPr lang="en-US" altLang="zh-CN" dirty="0">
                <a:solidFill>
                  <a:srgbClr val="0000FF"/>
                </a:solidFill>
              </a:rPr>
              <a:t>operator</a:t>
            </a:r>
            <a:r>
              <a:rPr lang="zh-CN" altLang="en-US" dirty="0">
                <a:solidFill>
                  <a:schemeClr val="tx2"/>
                </a:solidFill>
              </a:rPr>
              <a:t>是</a:t>
            </a:r>
            <a:r>
              <a:rPr lang="en-US" altLang="zh-CN" dirty="0">
                <a:solidFill>
                  <a:schemeClr val="tx2"/>
                </a:solidFill>
              </a:rPr>
              <a:t>C++</a:t>
            </a:r>
            <a:r>
              <a:rPr lang="zh-CN" altLang="en-US" dirty="0">
                <a:solidFill>
                  <a:schemeClr val="tx2"/>
                </a:solidFill>
              </a:rPr>
              <a:t>的关键词</a:t>
            </a:r>
            <a:r>
              <a:rPr lang="en-US" altLang="zh-CN" dirty="0">
                <a:solidFill>
                  <a:schemeClr val="tx2"/>
                </a:solidFill>
              </a:rPr>
              <a:t>)</a:t>
            </a:r>
          </a:p>
          <a:p>
            <a:pPr lvl="1"/>
            <a:r>
              <a:rPr lang="zh-CN" altLang="en-US" dirty="0">
                <a:solidFill>
                  <a:schemeClr val="tx2"/>
                </a:solidFill>
              </a:rPr>
              <a:t>形式参数： 个数（</a:t>
            </a:r>
            <a:r>
              <a:rPr lang="en-US" altLang="zh-CN" dirty="0">
                <a:solidFill>
                  <a:schemeClr val="tx2"/>
                </a:solidFill>
              </a:rPr>
              <a:t>2</a:t>
            </a:r>
            <a:r>
              <a:rPr lang="zh-CN" altLang="en-US" dirty="0">
                <a:solidFill>
                  <a:schemeClr val="tx2"/>
                </a:solidFill>
              </a:rPr>
              <a:t>个，因为双目运算）</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数据类型（复数）</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传递形式（</a:t>
            </a:r>
            <a:r>
              <a:rPr lang="en-US" altLang="zh-CN" dirty="0" err="1">
                <a:solidFill>
                  <a:srgbClr val="FF0000"/>
                </a:solidFill>
                <a:highlight>
                  <a:srgbClr val="FFFF00"/>
                </a:highlight>
              </a:rPr>
              <a:t>in,in</a:t>
            </a:r>
            <a:r>
              <a:rPr lang="zh-CN" altLang="en-US" dirty="0">
                <a:solidFill>
                  <a:schemeClr val="tx2"/>
                </a:solidFill>
              </a:rPr>
              <a:t>值传递，或</a:t>
            </a:r>
            <a:r>
              <a:rPr lang="zh-CN" altLang="en-US" dirty="0">
                <a:solidFill>
                  <a:srgbClr val="0000FF"/>
                </a:solidFill>
              </a:rPr>
              <a:t>传递常引用</a:t>
            </a:r>
            <a:r>
              <a:rPr lang="zh-CN" altLang="en-US" dirty="0">
                <a:solidFill>
                  <a:schemeClr val="tx2"/>
                </a:solidFill>
              </a:rPr>
              <a:t>）</a:t>
            </a:r>
            <a:endParaRPr lang="en-US" altLang="zh-CN" dirty="0">
              <a:solidFill>
                <a:schemeClr val="tx2"/>
              </a:solidFill>
            </a:endParaRPr>
          </a:p>
          <a:p>
            <a:pPr lvl="1"/>
            <a:r>
              <a:rPr lang="zh-CN" altLang="en-US" dirty="0">
                <a:solidFill>
                  <a:schemeClr val="tx2"/>
                </a:solidFill>
              </a:rPr>
              <a:t>返回类型： 值返回（复数）</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为什么不采取引用返回</a:t>
            </a:r>
            <a:r>
              <a:rPr lang="en-US" altLang="zh-CN" dirty="0">
                <a:solidFill>
                  <a:schemeClr val="tx2"/>
                </a:solidFill>
              </a:rPr>
              <a:t>?</a:t>
            </a:r>
          </a:p>
          <a:p>
            <a:pPr marL="85725" lvl="1" indent="-85725" algn="ctr">
              <a:buNone/>
            </a:pPr>
            <a:r>
              <a:rPr lang="zh-CN" altLang="en-US" sz="2200" dirty="0">
                <a:solidFill>
                  <a:srgbClr val="C00000"/>
                </a:solidFill>
              </a:rPr>
              <a:t>答：没有可引用的量，两个加数不能被改变，其和为一个新的复数</a:t>
            </a:r>
            <a:endParaRPr lang="en-US" altLang="zh-CN" sz="2200" dirty="0">
              <a:solidFill>
                <a:srgbClr val="C00000"/>
              </a:solidFill>
            </a:endParaRPr>
          </a:p>
          <a:p>
            <a:pPr lvl="1"/>
            <a:r>
              <a:rPr lang="en-US" altLang="zh-CN" dirty="0">
                <a:solidFill>
                  <a:schemeClr val="tx2"/>
                </a:solidFill>
              </a:rPr>
              <a:t>Complex </a:t>
            </a:r>
            <a:r>
              <a:rPr lang="en-US" altLang="zh-CN" dirty="0">
                <a:solidFill>
                  <a:srgbClr val="0000FF"/>
                </a:solidFill>
              </a:rPr>
              <a:t>operator</a:t>
            </a:r>
            <a:r>
              <a:rPr lang="en-US" altLang="zh-CN" dirty="0">
                <a:solidFill>
                  <a:schemeClr val="tx2"/>
                </a:solidFill>
              </a:rPr>
              <a:t>+(</a:t>
            </a:r>
            <a:r>
              <a:rPr lang="en-US" altLang="zh-CN" dirty="0">
                <a:solidFill>
                  <a:srgbClr val="0000FF"/>
                </a:solidFill>
              </a:rPr>
              <a:t>const</a:t>
            </a:r>
            <a:r>
              <a:rPr lang="en-US" altLang="zh-CN" dirty="0">
                <a:solidFill>
                  <a:schemeClr val="tx2"/>
                </a:solidFill>
              </a:rPr>
              <a:t> Complex &amp;c1,</a:t>
            </a:r>
            <a:br>
              <a:rPr lang="en-US" altLang="zh-CN" dirty="0">
                <a:solidFill>
                  <a:schemeClr val="tx2"/>
                </a:solidFill>
              </a:rPr>
            </a:br>
            <a:r>
              <a:rPr lang="en-US" altLang="zh-CN" dirty="0">
                <a:solidFill>
                  <a:schemeClr val="tx2"/>
                </a:solidFill>
              </a:rPr>
              <a:t>                  </a:t>
            </a:r>
            <a:r>
              <a:rPr lang="en-US" altLang="zh-CN" dirty="0">
                <a:solidFill>
                  <a:srgbClr val="0000FF"/>
                </a:solidFill>
              </a:rPr>
              <a:t>const</a:t>
            </a:r>
            <a:r>
              <a:rPr lang="en-US" altLang="zh-CN" dirty="0">
                <a:solidFill>
                  <a:schemeClr val="tx2"/>
                </a:solidFill>
              </a:rPr>
              <a:t> Complex &amp;c2);</a:t>
            </a:r>
            <a:br>
              <a:rPr lang="en-US" altLang="zh-CN" dirty="0">
                <a:solidFill>
                  <a:schemeClr val="tx2"/>
                </a:solidFill>
              </a:rPr>
            </a:br>
            <a:r>
              <a:rPr lang="en-US" altLang="zh-CN" dirty="0">
                <a:solidFill>
                  <a:schemeClr val="tx2"/>
                </a:solidFill>
              </a:rPr>
              <a:t>		   </a:t>
            </a:r>
          </a:p>
        </p:txBody>
      </p:sp>
    </p:spTree>
    <p:extLst>
      <p:ext uri="{BB962C8B-B14F-4D97-AF65-F5344CB8AC3E}">
        <p14:creationId xmlns:p14="http://schemas.microsoft.com/office/powerpoint/2010/main" val="244449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3C78D-4098-4E79-8CD5-E75311C66820}"/>
              </a:ext>
            </a:extLst>
          </p:cNvPr>
          <p:cNvSpPr>
            <a:spLocks noGrp="1"/>
          </p:cNvSpPr>
          <p:nvPr>
            <p:ph type="title"/>
          </p:nvPr>
        </p:nvSpPr>
        <p:spPr/>
        <p:txBody>
          <a:bodyPr/>
          <a:lstStyle/>
          <a:p>
            <a:r>
              <a:rPr lang="en-US" altLang="zh-CN" dirty="0"/>
              <a:t>C++</a:t>
            </a:r>
            <a:r>
              <a:rPr lang="zh-CN" altLang="en-US" dirty="0"/>
              <a:t>运算符函数</a:t>
            </a:r>
          </a:p>
        </p:txBody>
      </p:sp>
      <p:sp>
        <p:nvSpPr>
          <p:cNvPr id="3" name="内容占位符 2">
            <a:extLst>
              <a:ext uri="{FF2B5EF4-FFF2-40B4-BE49-F238E27FC236}">
                <a16:creationId xmlns:a16="http://schemas.microsoft.com/office/drawing/2014/main" id="{98476F33-549A-4EAB-B9F3-894AEB236D42}"/>
              </a:ext>
            </a:extLst>
          </p:cNvPr>
          <p:cNvSpPr>
            <a:spLocks noGrp="1"/>
          </p:cNvSpPr>
          <p:nvPr>
            <p:ph idx="1"/>
          </p:nvPr>
        </p:nvSpPr>
        <p:spPr/>
        <p:txBody>
          <a:bodyPr/>
          <a:lstStyle/>
          <a:p>
            <a:r>
              <a:rPr lang="zh-CN" altLang="en-US" dirty="0"/>
              <a:t>要执行 </a:t>
            </a:r>
            <a:r>
              <a:rPr lang="en-US" altLang="zh-CN" dirty="0"/>
              <a:t>c1 += c2</a:t>
            </a:r>
            <a:r>
              <a:rPr lang="zh-CN" altLang="en-US" dirty="0"/>
              <a:t>，需要一个特殊的函数</a:t>
            </a:r>
            <a:r>
              <a:rPr lang="en-US" altLang="zh-CN" dirty="0"/>
              <a:t/>
            </a:r>
            <a:br>
              <a:rPr lang="en-US" altLang="zh-CN" dirty="0"/>
            </a:br>
            <a:r>
              <a:rPr lang="en-US" altLang="zh-CN" dirty="0"/>
              <a:t>           ———— </a:t>
            </a:r>
            <a:r>
              <a:rPr lang="zh-CN" altLang="en-US" dirty="0"/>
              <a:t>复数迭代相加运算符函数</a:t>
            </a:r>
            <a:endParaRPr lang="en-US" altLang="zh-CN" dirty="0"/>
          </a:p>
          <a:p>
            <a:pPr lvl="1"/>
            <a:r>
              <a:rPr lang="zh-CN" altLang="en-US" dirty="0">
                <a:solidFill>
                  <a:schemeClr val="tx2"/>
                </a:solidFill>
              </a:rPr>
              <a:t>函</a:t>
            </a:r>
            <a:r>
              <a:rPr lang="zh-CN" altLang="en-US" sz="2000" dirty="0">
                <a:solidFill>
                  <a:schemeClr val="tx2"/>
                </a:solidFill>
              </a:rPr>
              <a:t> </a:t>
            </a:r>
            <a:r>
              <a:rPr lang="zh-CN" altLang="en-US" dirty="0">
                <a:solidFill>
                  <a:schemeClr val="tx2"/>
                </a:solidFill>
              </a:rPr>
              <a:t>数</a:t>
            </a:r>
            <a:r>
              <a:rPr lang="zh-CN" altLang="en-US" sz="2000" dirty="0">
                <a:solidFill>
                  <a:schemeClr val="tx2"/>
                </a:solidFill>
              </a:rPr>
              <a:t> </a:t>
            </a:r>
            <a:r>
              <a:rPr lang="zh-CN" altLang="en-US" dirty="0">
                <a:solidFill>
                  <a:schemeClr val="tx2"/>
                </a:solidFill>
              </a:rPr>
              <a:t>名： </a:t>
            </a:r>
            <a:r>
              <a:rPr lang="en-US" altLang="zh-CN" dirty="0">
                <a:solidFill>
                  <a:srgbClr val="0000FF"/>
                </a:solidFill>
              </a:rPr>
              <a:t>operator</a:t>
            </a:r>
            <a:r>
              <a:rPr lang="en-US" altLang="zh-CN" dirty="0">
                <a:solidFill>
                  <a:schemeClr val="tx2"/>
                </a:solidFill>
              </a:rPr>
              <a:t>+=</a:t>
            </a:r>
          </a:p>
          <a:p>
            <a:pPr lvl="1"/>
            <a:r>
              <a:rPr lang="zh-CN" altLang="en-US" dirty="0">
                <a:solidFill>
                  <a:schemeClr val="tx2"/>
                </a:solidFill>
              </a:rPr>
              <a:t>形式参数： 个数（</a:t>
            </a:r>
            <a:r>
              <a:rPr lang="en-US" altLang="zh-CN" dirty="0">
                <a:solidFill>
                  <a:schemeClr val="tx2"/>
                </a:solidFill>
              </a:rPr>
              <a:t>2</a:t>
            </a:r>
            <a:r>
              <a:rPr lang="zh-CN" altLang="en-US" dirty="0">
                <a:solidFill>
                  <a:schemeClr val="tx2"/>
                </a:solidFill>
              </a:rPr>
              <a:t>个，因为双目运算）</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数据类型（</a:t>
            </a:r>
            <a:r>
              <a:rPr lang="en-US" altLang="zh-CN" dirty="0">
                <a:solidFill>
                  <a:srgbClr val="FF0000"/>
                </a:solidFill>
                <a:highlight>
                  <a:srgbClr val="FFFF00"/>
                </a:highlight>
              </a:rPr>
              <a:t>out</a:t>
            </a:r>
            <a:r>
              <a:rPr lang="zh-CN" altLang="en-US" dirty="0">
                <a:solidFill>
                  <a:schemeClr val="tx2"/>
                </a:solidFill>
              </a:rPr>
              <a:t>复数引用、</a:t>
            </a:r>
            <a:r>
              <a:rPr lang="en-US" altLang="zh-CN" dirty="0">
                <a:solidFill>
                  <a:srgbClr val="FF0000"/>
                </a:solidFill>
                <a:highlight>
                  <a:srgbClr val="FFFF00"/>
                </a:highlight>
              </a:rPr>
              <a:t>in</a:t>
            </a:r>
            <a:r>
              <a:rPr lang="zh-CN" altLang="en-US" dirty="0">
                <a:solidFill>
                  <a:schemeClr val="tx2"/>
                </a:solidFill>
              </a:rPr>
              <a:t>复数常引用）</a:t>
            </a:r>
            <a:r>
              <a:rPr lang="en-US" altLang="zh-CN" dirty="0">
                <a:solidFill>
                  <a:schemeClr val="tx2"/>
                </a:solidFill>
              </a:rPr>
              <a:t/>
            </a:r>
            <a:br>
              <a:rPr lang="en-US" altLang="zh-CN" dirty="0">
                <a:solidFill>
                  <a:schemeClr val="tx2"/>
                </a:solidFill>
              </a:rPr>
            </a:br>
            <a:r>
              <a:rPr lang="zh-CN" altLang="en-US" dirty="0">
                <a:solidFill>
                  <a:schemeClr val="tx2"/>
                </a:solidFill>
              </a:rPr>
              <a:t>返回类型： 值返回（引用返回左操作数）</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为什么不采取值返回</a:t>
            </a:r>
            <a:r>
              <a:rPr lang="en-US" altLang="zh-CN" dirty="0">
                <a:solidFill>
                  <a:schemeClr val="tx2"/>
                </a:solidFill>
              </a:rPr>
              <a:t>?</a:t>
            </a:r>
          </a:p>
          <a:p>
            <a:pPr marL="85725" lvl="1" indent="-85725" algn="ctr">
              <a:buNone/>
            </a:pPr>
            <a:r>
              <a:rPr lang="zh-CN" altLang="en-US" sz="2200" dirty="0">
                <a:solidFill>
                  <a:srgbClr val="C00000"/>
                </a:solidFill>
              </a:rPr>
              <a:t>答：向基本数据类型看齐，使运算表达式成为左值。</a:t>
            </a:r>
            <a:endParaRPr lang="en-US" altLang="zh-CN" sz="2200" dirty="0">
              <a:solidFill>
                <a:srgbClr val="C00000"/>
              </a:solidFill>
            </a:endParaRPr>
          </a:p>
          <a:p>
            <a:pPr lvl="1"/>
            <a:r>
              <a:rPr lang="en-US" altLang="zh-CN" dirty="0">
                <a:solidFill>
                  <a:schemeClr val="tx2"/>
                </a:solidFill>
              </a:rPr>
              <a:t>Complex &amp; </a:t>
            </a:r>
            <a:r>
              <a:rPr lang="en-US" altLang="zh-CN" dirty="0">
                <a:solidFill>
                  <a:srgbClr val="0000FF"/>
                </a:solidFill>
              </a:rPr>
              <a:t>operator</a:t>
            </a:r>
            <a:r>
              <a:rPr lang="en-US" altLang="zh-CN" dirty="0">
                <a:solidFill>
                  <a:schemeClr val="tx2"/>
                </a:solidFill>
              </a:rPr>
              <a:t>+=(Complex &amp;c1,</a:t>
            </a:r>
            <a:br>
              <a:rPr lang="en-US" altLang="zh-CN" dirty="0">
                <a:solidFill>
                  <a:schemeClr val="tx2"/>
                </a:solidFill>
              </a:rPr>
            </a:br>
            <a:r>
              <a:rPr lang="en-US" altLang="zh-CN" dirty="0">
                <a:solidFill>
                  <a:schemeClr val="tx2"/>
                </a:solidFill>
              </a:rPr>
              <a:t>                     </a:t>
            </a:r>
            <a:r>
              <a:rPr lang="en-US" altLang="zh-CN" dirty="0">
                <a:solidFill>
                  <a:srgbClr val="0000FF"/>
                </a:solidFill>
              </a:rPr>
              <a:t>const</a:t>
            </a:r>
            <a:r>
              <a:rPr lang="en-US" altLang="zh-CN" dirty="0">
                <a:solidFill>
                  <a:schemeClr val="tx2"/>
                </a:solidFill>
              </a:rPr>
              <a:t> Complex &amp;c2);</a:t>
            </a:r>
            <a:br>
              <a:rPr lang="en-US" altLang="zh-CN" dirty="0">
                <a:solidFill>
                  <a:schemeClr val="tx2"/>
                </a:solidFill>
              </a:rPr>
            </a:br>
            <a:r>
              <a:rPr lang="en-US" altLang="zh-CN" dirty="0">
                <a:solidFill>
                  <a:schemeClr val="tx2"/>
                </a:solidFill>
              </a:rPr>
              <a:t>		   </a:t>
            </a:r>
          </a:p>
        </p:txBody>
      </p:sp>
    </p:spTree>
    <p:extLst>
      <p:ext uri="{BB962C8B-B14F-4D97-AF65-F5344CB8AC3E}">
        <p14:creationId xmlns:p14="http://schemas.microsoft.com/office/powerpoint/2010/main" val="298531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76200" y="88900"/>
            <a:ext cx="8991600" cy="66675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Complex </a:t>
            </a:r>
            <a:r>
              <a:rPr lang="en-US" altLang="zh-CN" sz="2400" b="1" dirty="0">
                <a:solidFill>
                  <a:srgbClr val="0000FF"/>
                </a:solidFill>
                <a:latin typeface="Courier New" pitchFamily="49" charset="0"/>
              </a:rPr>
              <a:t>operator</a:t>
            </a:r>
            <a:r>
              <a:rPr lang="en-US" altLang="zh-CN" sz="2400" b="1" dirty="0">
                <a:solidFill>
                  <a:srgbClr val="000000"/>
                </a:solidFill>
                <a:latin typeface="Courier New" pitchFamily="49" charset="0"/>
              </a:rPr>
              <a:t>+(</a:t>
            </a:r>
            <a:r>
              <a:rPr lang="en-US" altLang="zh-CN" sz="2400" b="1" dirty="0">
                <a:solidFill>
                  <a:srgbClr val="0000FF"/>
                </a:solidFill>
                <a:latin typeface="Courier New" pitchFamily="49" charset="0"/>
              </a:rPr>
              <a:t>const</a:t>
            </a:r>
            <a:r>
              <a:rPr lang="en-US" altLang="zh-CN" sz="2400" b="1" dirty="0">
                <a:solidFill>
                  <a:srgbClr val="000000"/>
                </a:solidFill>
                <a:latin typeface="Courier New" pitchFamily="49" charset="0"/>
              </a:rPr>
              <a:t> Complex &amp;c1,</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const</a:t>
            </a:r>
            <a:r>
              <a:rPr lang="en-US" altLang="zh-CN" sz="2400" b="1" dirty="0">
                <a:solidFill>
                  <a:srgbClr val="000000"/>
                </a:solidFill>
                <a:latin typeface="Courier New" pitchFamily="49" charset="0"/>
              </a:rPr>
              <a:t> Complex &amp;c2)</a:t>
            </a:r>
          </a:p>
          <a:p>
            <a:pPr>
              <a:lnSpc>
                <a:spcPct val="90000"/>
              </a:lnSpc>
            </a:pPr>
            <a:r>
              <a:rPr lang="en-US" altLang="zh-CN" sz="2400" b="1" dirty="0">
                <a:solidFill>
                  <a:srgbClr val="000000"/>
                </a:solidFill>
                <a:latin typeface="Courier New" pitchFamily="49" charset="0"/>
              </a:rPr>
              <a:t> {</a:t>
            </a: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Complex temp;</a:t>
            </a:r>
            <a:endParaRPr lang="zh-CN" altLang="en-US" sz="2400" b="1" dirty="0">
              <a:solidFill>
                <a:srgbClr val="990000"/>
              </a:solidFill>
              <a:latin typeface="Courier New" pitchFamily="49" charset="0"/>
            </a:endParaRPr>
          </a:p>
          <a:p>
            <a:pPr>
              <a:spcBef>
                <a:spcPct val="30000"/>
              </a:spcBef>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temp.re = c1.re + c2.re;	</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浮点型数据相加</a:t>
            </a:r>
            <a:endParaRPr lang="en-US" altLang="zh-CN" sz="2400" b="1" dirty="0">
              <a:solidFill>
                <a:srgbClr val="C00000"/>
              </a:solidFill>
              <a:latin typeface="Courier New" pitchFamily="49" charset="0"/>
            </a:endParaRPr>
          </a:p>
          <a:p>
            <a:pPr>
              <a:spcBef>
                <a:spcPct val="30000"/>
              </a:spcBef>
            </a:pPr>
            <a:r>
              <a:rPr lang="en-US" altLang="zh-CN" sz="2400" b="1" dirty="0">
                <a:solidFill>
                  <a:srgbClr val="000000"/>
                </a:solidFill>
                <a:latin typeface="Courier New" pitchFamily="49" charset="0"/>
              </a:rPr>
              <a:t>     temp.im = c1.im + c2.im;</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浮点型数据相加</a:t>
            </a:r>
            <a:endParaRPr lang="en-US" altLang="zh-CN" sz="2400" b="1" dirty="0">
              <a:solidFill>
                <a:srgbClr val="C00000"/>
              </a:solidFill>
              <a:latin typeface="Courier New" pitchFamily="49" charset="0"/>
            </a:endParaRPr>
          </a:p>
          <a:p>
            <a:pPr>
              <a:spcBef>
                <a:spcPct val="3000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temp;</a:t>
            </a:r>
          </a:p>
          <a:p>
            <a:pPr>
              <a:spcBef>
                <a:spcPct val="30000"/>
              </a:spcBef>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a:p>
            <a:pPr>
              <a:spcBef>
                <a:spcPct val="30000"/>
              </a:spcBef>
            </a:pPr>
            <a:endParaRPr lang="en-US" altLang="zh-CN" sz="2400" b="1" dirty="0">
              <a:solidFill>
                <a:srgbClr val="000000"/>
              </a:solidFill>
              <a:latin typeface="Courier New" pitchFamily="49" charset="0"/>
            </a:endParaRPr>
          </a:p>
          <a:p>
            <a:pPr>
              <a:lnSpc>
                <a:spcPct val="90000"/>
              </a:lnSpc>
            </a:pPr>
            <a:r>
              <a:rPr lang="en-US" altLang="zh-CN" sz="2400" b="1" dirty="0">
                <a:solidFill>
                  <a:srgbClr val="000000"/>
                </a:solidFill>
                <a:latin typeface="Courier New" pitchFamily="49" charset="0"/>
              </a:rPr>
              <a:t> Complex &amp; </a:t>
            </a:r>
            <a:r>
              <a:rPr lang="en-US" altLang="zh-CN" sz="2400" b="1" dirty="0">
                <a:solidFill>
                  <a:srgbClr val="0000FF"/>
                </a:solidFill>
                <a:latin typeface="Courier New" pitchFamily="49" charset="0"/>
              </a:rPr>
              <a:t>operator</a:t>
            </a:r>
            <a:r>
              <a:rPr lang="en-US" altLang="zh-CN" sz="2400" b="1" dirty="0">
                <a:solidFill>
                  <a:srgbClr val="000000"/>
                </a:solidFill>
                <a:latin typeface="Courier New" pitchFamily="49" charset="0"/>
              </a:rPr>
              <a:t>+=(Complex &amp;c1,</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const</a:t>
            </a:r>
            <a:r>
              <a:rPr lang="en-US" altLang="zh-CN" sz="2400" b="1" dirty="0">
                <a:solidFill>
                  <a:srgbClr val="000000"/>
                </a:solidFill>
                <a:latin typeface="Courier New" pitchFamily="49" charset="0"/>
              </a:rPr>
              <a:t> Complex &amp;c2)</a:t>
            </a:r>
          </a:p>
          <a:p>
            <a:pPr>
              <a:lnSpc>
                <a:spcPct val="90000"/>
              </a:lnSpc>
            </a:pPr>
            <a:r>
              <a:rPr lang="en-US" altLang="zh-CN" sz="2400" b="1" dirty="0">
                <a:solidFill>
                  <a:srgbClr val="000000"/>
                </a:solidFill>
                <a:latin typeface="Courier New" pitchFamily="49" charset="0"/>
              </a:rPr>
              <a:t> {</a:t>
            </a:r>
          </a:p>
          <a:p>
            <a:pPr>
              <a:lnSpc>
                <a:spcPct val="90000"/>
              </a:lnSpc>
            </a:pPr>
            <a:r>
              <a:rPr lang="en-US" altLang="zh-CN" sz="2400" b="1" dirty="0">
                <a:solidFill>
                  <a:srgbClr val="000000"/>
                </a:solidFill>
                <a:latin typeface="Courier New" pitchFamily="49" charset="0"/>
              </a:rPr>
              <a:t>     c1.re += c2.re;</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浮点型数据迭代相加</a:t>
            </a:r>
            <a:endParaRPr lang="en-US" altLang="zh-CN" sz="2400" b="1" dirty="0">
              <a:solidFill>
                <a:srgbClr val="C00000"/>
              </a:solidFill>
              <a:latin typeface="Courier New" pitchFamily="49" charset="0"/>
            </a:endParaRPr>
          </a:p>
          <a:p>
            <a:pPr>
              <a:lnSpc>
                <a:spcPct val="90000"/>
              </a:lnSpc>
            </a:pPr>
            <a:r>
              <a:rPr lang="en-US" altLang="zh-CN" sz="2400" b="1" dirty="0">
                <a:solidFill>
                  <a:srgbClr val="000000"/>
                </a:solidFill>
                <a:latin typeface="Courier New" pitchFamily="49" charset="0"/>
              </a:rPr>
              <a:t>     c1.im += c2.im;</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浮点型数据迭代相加</a:t>
            </a:r>
            <a:endParaRPr lang="en-US" altLang="zh-CN" sz="2400" b="1" dirty="0">
              <a:solidFill>
                <a:srgbClr val="000000"/>
              </a:solidFill>
              <a:latin typeface="Courier New" pitchFamily="49" charset="0"/>
            </a:endParaRPr>
          </a:p>
          <a:p>
            <a:pPr>
              <a:spcBef>
                <a:spcPct val="3000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c1;</a:t>
            </a:r>
          </a:p>
          <a:p>
            <a:pPr>
              <a:spcBef>
                <a:spcPct val="30000"/>
              </a:spcBef>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a:p>
            <a:pPr>
              <a:spcBef>
                <a:spcPct val="30000"/>
              </a:spcBef>
            </a:pPr>
            <a:endParaRPr lang="en-US" altLang="zh-CN" sz="2400" b="1" dirty="0">
              <a:solidFill>
                <a:srgbClr val="000000"/>
              </a:solidFill>
              <a:latin typeface="Courier New" pitchFamily="49" charset="0"/>
            </a:endParaRPr>
          </a:p>
        </p:txBody>
      </p:sp>
    </p:spTree>
    <p:extLst>
      <p:ext uri="{BB962C8B-B14F-4D97-AF65-F5344CB8AC3E}">
        <p14:creationId xmlns:p14="http://schemas.microsoft.com/office/powerpoint/2010/main" val="316042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6">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26">
                                            <p:txEl>
                                              <p:pRg st="8" end="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226">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26">
                                            <p:txEl>
                                              <p:pRg st="9" end="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26">
                                            <p:txEl>
                                              <p:pRg st="13" end="1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226">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2226">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222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uiExpand="1"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4E3AEEC-38EC-48FE-A05C-552F5A6BDA9C}"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3315" name="Text Box 3"/>
          <p:cNvSpPr txBox="1">
            <a:spLocks noChangeArrowheads="1"/>
          </p:cNvSpPr>
          <p:nvPr/>
        </p:nvSpPr>
        <p:spPr bwMode="auto">
          <a:xfrm>
            <a:off x="15607" y="228600"/>
            <a:ext cx="9144000" cy="696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程序在执行期间，</a:t>
            </a:r>
            <a:r>
              <a:rPr kumimoji="1" lang="zh-CN" altLang="en-US" sz="36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接收外部信息的操作称为程序的输入</a:t>
            </a:r>
            <a:r>
              <a:rPr kumimoji="1"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；而把</a:t>
            </a:r>
            <a:r>
              <a:rPr kumimoji="1" lang="zh-CN" altLang="en-US" sz="36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程序向外部发送信息的操作称为程序的输出</a:t>
            </a:r>
            <a:r>
              <a:rPr kumimoji="1"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zh-CN" alt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要使用</a:t>
            </a:r>
            <a:r>
              <a:rPr kumimoji="1" lang="en-US" altLang="zh-CN"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C++</a:t>
            </a:r>
            <a:r>
              <a:rPr kumimoji="1" lang="zh-CN" alt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提供的输入输出时，必须在程序的开头增加一行：</a:t>
            </a:r>
          </a:p>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en-US" altLang="zh-CN"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#include  &lt;</a:t>
            </a:r>
            <a:r>
              <a:rPr kumimoji="1" lang="en-US" altLang="zh-CN" sz="36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iostream</a:t>
            </a:r>
            <a:r>
              <a:rPr kumimoji="1" lang="en-US" altLang="zh-CN"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&gt;</a:t>
            </a:r>
            <a:endParaRPr kumimoji="1" lang="en-US" altLang="zh-CN"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zh-CN" alt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即包含输入输出流的头文件“</a:t>
            </a:r>
            <a:r>
              <a:rPr kumimoji="1" lang="en-US" altLang="zh-CN" sz="36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iostream</a:t>
            </a:r>
            <a:r>
              <a:rPr kumimoji="1" lang="en-US" altLang="zh-CN"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30000"/>
              </a:lnSpc>
              <a:spcBef>
                <a:spcPct val="50000"/>
              </a:spcBef>
              <a:spcAft>
                <a:spcPct val="0"/>
              </a:spcAft>
              <a:buClrTx/>
              <a:buSzTx/>
              <a:buFontTx/>
              <a:buNone/>
              <a:tabLst/>
              <a:defRPr/>
            </a:pPr>
            <a:endParaRPr kumimoji="1"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7345680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FC1A75F-1B66-4913-85DF-9BCF51D58046}"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4339" name="Text Box 3"/>
          <p:cNvSpPr txBox="1">
            <a:spLocks noChangeArrowheads="1"/>
          </p:cNvSpPr>
          <p:nvPr/>
        </p:nvSpPr>
        <p:spPr bwMode="auto">
          <a:xfrm>
            <a:off x="152400" y="914400"/>
            <a:ext cx="899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 &gt;&gt; &lt;</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变量名</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1&gt;《 &gt;&gt; &lt;</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变量名</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2&gt; ...... 》</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（举例说明）</a:t>
            </a:r>
            <a:endParaRPr kumimoji="1" lang="zh-CN" alt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4340" name="Text Box 4"/>
          <p:cNvSpPr txBox="1">
            <a:spLocks noChangeArrowheads="1"/>
          </p:cNvSpPr>
          <p:nvPr/>
        </p:nvSpPr>
        <p:spPr bwMode="auto">
          <a:xfrm>
            <a:off x="0" y="1676400"/>
            <a:ext cx="914400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int   a,b;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cin&gt;&gt;a&gt;&gt;b;	</a:t>
            </a: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程序运行至此停下，等待从键盘输入变量值</a:t>
            </a:r>
          </a:p>
        </p:txBody>
      </p:sp>
      <p:sp>
        <p:nvSpPr>
          <p:cNvPr id="654341" name="Text Box 5"/>
          <p:cNvSpPr txBox="1">
            <a:spLocks noChangeArrowheads="1"/>
          </p:cNvSpPr>
          <p:nvPr/>
        </p:nvSpPr>
        <p:spPr bwMode="auto">
          <a:xfrm>
            <a:off x="0" y="3657600"/>
            <a:ext cx="5292725"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键盘输入：</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3   5&lt;CR&gt;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或：</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3&lt;CR&gt;    5&lt;CR&gt;    </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均可。</a:t>
            </a:r>
          </a:p>
        </p:txBody>
      </p:sp>
      <p:sp>
        <p:nvSpPr>
          <p:cNvPr id="654342" name="Text Box 6"/>
          <p:cNvSpPr txBox="1">
            <a:spLocks noChangeArrowheads="1"/>
          </p:cNvSpPr>
          <p:nvPr/>
        </p:nvSpPr>
        <p:spPr bwMode="auto">
          <a:xfrm>
            <a:off x="0" y="5486400"/>
            <a:ext cx="899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6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输入语句自动过滤空白字符。</a:t>
            </a:r>
          </a:p>
        </p:txBody>
      </p:sp>
      <p:grpSp>
        <p:nvGrpSpPr>
          <p:cNvPr id="654345" name="Group 9"/>
          <p:cNvGrpSpPr>
            <a:grpSpLocks/>
          </p:cNvGrpSpPr>
          <p:nvPr/>
        </p:nvGrpSpPr>
        <p:grpSpPr bwMode="auto">
          <a:xfrm>
            <a:off x="7162800" y="3276600"/>
            <a:ext cx="1066800" cy="1143000"/>
            <a:chOff x="3504" y="2352"/>
            <a:chExt cx="672" cy="720"/>
          </a:xfrm>
        </p:grpSpPr>
        <p:sp>
          <p:nvSpPr>
            <p:cNvPr id="654346" name="Text Box 10"/>
            <p:cNvSpPr txBox="1">
              <a:spLocks noChangeArrowheads="1"/>
            </p:cNvSpPr>
            <p:nvPr/>
          </p:nvSpPr>
          <p:spPr bwMode="auto">
            <a:xfrm>
              <a:off x="3504" y="2352"/>
              <a:ext cx="672" cy="38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4347" name="Text Box 11"/>
            <p:cNvSpPr txBox="1">
              <a:spLocks noChangeArrowheads="1"/>
            </p:cNvSpPr>
            <p:nvPr/>
          </p:nvSpPr>
          <p:spPr bwMode="auto">
            <a:xfrm>
              <a:off x="3552" y="2784"/>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a:t>
              </a:r>
            </a:p>
          </p:txBody>
        </p:sp>
      </p:grpSp>
      <p:sp>
        <p:nvSpPr>
          <p:cNvPr id="654348" name="Text Box 12"/>
          <p:cNvSpPr txBox="1">
            <a:spLocks noChangeArrowheads="1"/>
          </p:cNvSpPr>
          <p:nvPr/>
        </p:nvSpPr>
        <p:spPr bwMode="auto">
          <a:xfrm>
            <a:off x="7239000" y="3352800"/>
            <a:ext cx="914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3</a:t>
            </a:r>
          </a:p>
        </p:txBody>
      </p:sp>
      <p:sp>
        <p:nvSpPr>
          <p:cNvPr id="654350" name="Text Box 14"/>
          <p:cNvSpPr txBox="1">
            <a:spLocks noChangeArrowheads="1"/>
          </p:cNvSpPr>
          <p:nvPr/>
        </p:nvSpPr>
        <p:spPr bwMode="auto">
          <a:xfrm>
            <a:off x="5334000" y="3352800"/>
            <a:ext cx="914400" cy="4667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键盘</a:t>
            </a:r>
          </a:p>
        </p:txBody>
      </p:sp>
      <p:sp>
        <p:nvSpPr>
          <p:cNvPr id="654352" name="AutoShape 16"/>
          <p:cNvSpPr>
            <a:spLocks noChangeArrowheads="1"/>
          </p:cNvSpPr>
          <p:nvPr/>
        </p:nvSpPr>
        <p:spPr bwMode="auto">
          <a:xfrm>
            <a:off x="6324600" y="3505200"/>
            <a:ext cx="762000" cy="228600"/>
          </a:xfrm>
          <a:prstGeom prst="rightArrow">
            <a:avLst>
              <a:gd name="adj1" fmla="val 50000"/>
              <a:gd name="adj2" fmla="val 83333"/>
            </a:avLst>
          </a:prstGeom>
          <a:solidFill>
            <a:srgbClr val="0000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654353" name="Group 17"/>
          <p:cNvGrpSpPr>
            <a:grpSpLocks/>
          </p:cNvGrpSpPr>
          <p:nvPr/>
        </p:nvGrpSpPr>
        <p:grpSpPr bwMode="auto">
          <a:xfrm>
            <a:off x="7162800" y="4800600"/>
            <a:ext cx="1066800" cy="1143000"/>
            <a:chOff x="3504" y="2352"/>
            <a:chExt cx="672" cy="720"/>
          </a:xfrm>
        </p:grpSpPr>
        <p:sp>
          <p:nvSpPr>
            <p:cNvPr id="654354" name="Text Box 18"/>
            <p:cNvSpPr txBox="1">
              <a:spLocks noChangeArrowheads="1"/>
            </p:cNvSpPr>
            <p:nvPr/>
          </p:nvSpPr>
          <p:spPr bwMode="auto">
            <a:xfrm>
              <a:off x="3504" y="2352"/>
              <a:ext cx="672" cy="38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4355" name="Text Box 19"/>
            <p:cNvSpPr txBox="1">
              <a:spLocks noChangeArrowheads="1"/>
            </p:cNvSpPr>
            <p:nvPr/>
          </p:nvSpPr>
          <p:spPr bwMode="auto">
            <a:xfrm>
              <a:off x="3552" y="2784"/>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b</a:t>
              </a:r>
            </a:p>
          </p:txBody>
        </p:sp>
      </p:grpSp>
      <p:sp>
        <p:nvSpPr>
          <p:cNvPr id="654356" name="Text Box 20"/>
          <p:cNvSpPr txBox="1">
            <a:spLocks noChangeArrowheads="1"/>
          </p:cNvSpPr>
          <p:nvPr/>
        </p:nvSpPr>
        <p:spPr bwMode="auto">
          <a:xfrm>
            <a:off x="7239000" y="4876800"/>
            <a:ext cx="914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5</a:t>
            </a:r>
          </a:p>
        </p:txBody>
      </p:sp>
      <p:sp>
        <p:nvSpPr>
          <p:cNvPr id="654357" name="Text Box 21"/>
          <p:cNvSpPr txBox="1">
            <a:spLocks noChangeArrowheads="1"/>
          </p:cNvSpPr>
          <p:nvPr/>
        </p:nvSpPr>
        <p:spPr bwMode="auto">
          <a:xfrm>
            <a:off x="5334000" y="4876800"/>
            <a:ext cx="914400" cy="4667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键盘</a:t>
            </a:r>
          </a:p>
        </p:txBody>
      </p:sp>
      <p:sp>
        <p:nvSpPr>
          <p:cNvPr id="654358" name="AutoShape 22"/>
          <p:cNvSpPr>
            <a:spLocks noChangeArrowheads="1"/>
          </p:cNvSpPr>
          <p:nvPr/>
        </p:nvSpPr>
        <p:spPr bwMode="auto">
          <a:xfrm>
            <a:off x="6324600" y="5029200"/>
            <a:ext cx="762000" cy="228600"/>
          </a:xfrm>
          <a:prstGeom prst="rightArrow">
            <a:avLst>
              <a:gd name="adj1" fmla="val 50000"/>
              <a:gd name="adj2" fmla="val 83333"/>
            </a:avLst>
          </a:prstGeom>
          <a:solidFill>
            <a:srgbClr val="0000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Text Box 2"/>
          <p:cNvSpPr txBox="1">
            <a:spLocks noChangeArrowheads="1"/>
          </p:cNvSpPr>
          <p:nvPr/>
        </p:nvSpPr>
        <p:spPr bwMode="auto">
          <a:xfrm>
            <a:off x="0" y="115295"/>
            <a:ext cx="373380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en-US" altLang="zh-CN"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输入语句：</a:t>
            </a:r>
            <a:r>
              <a:rPr kumimoji="1" lang="en-US" altLang="zh-CN" sz="36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cin</a:t>
            </a:r>
            <a:endParaRPr kumimoji="1" lang="en-US" altLang="zh-CN"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466010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54340">
                                            <p:txEl>
                                              <p:pRg st="0" end="0"/>
                                            </p:txEl>
                                          </p:spTgt>
                                        </p:tgtEl>
                                        <p:attrNameLst>
                                          <p:attrName>style.visibility</p:attrName>
                                        </p:attrNameLst>
                                      </p:cBhvr>
                                      <p:to>
                                        <p:strVal val="visible"/>
                                      </p:to>
                                    </p:set>
                                    <p:animEffect transition="in" filter="checkerboard(across)">
                                      <p:cBhvr>
                                        <p:cTn id="7" dur="500"/>
                                        <p:tgtEl>
                                          <p:spTgt spid="6543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54340">
                                            <p:txEl>
                                              <p:pRg st="1" end="1"/>
                                            </p:txEl>
                                          </p:spTgt>
                                        </p:tgtEl>
                                        <p:attrNameLst>
                                          <p:attrName>style.visibility</p:attrName>
                                        </p:attrNameLst>
                                      </p:cBhvr>
                                      <p:to>
                                        <p:strVal val="visible"/>
                                      </p:to>
                                    </p:set>
                                    <p:animEffect transition="in" filter="checkerboard(across)">
                                      <p:cBhvr>
                                        <p:cTn id="12" dur="500"/>
                                        <p:tgtEl>
                                          <p:spTgt spid="65434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54341"/>
                                        </p:tgtEl>
                                        <p:attrNameLst>
                                          <p:attrName>style.visibility</p:attrName>
                                        </p:attrNameLst>
                                      </p:cBhvr>
                                      <p:to>
                                        <p:strVal val="visible"/>
                                      </p:to>
                                    </p:set>
                                    <p:animEffect transition="in" filter="checkerboard(across)">
                                      <p:cBhvr>
                                        <p:cTn id="17" dur="500"/>
                                        <p:tgtEl>
                                          <p:spTgt spid="654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54342"/>
                                        </p:tgtEl>
                                        <p:attrNameLst>
                                          <p:attrName>style.visibility</p:attrName>
                                        </p:attrNameLst>
                                      </p:cBhvr>
                                      <p:to>
                                        <p:strVal val="visible"/>
                                      </p:to>
                                    </p:set>
                                    <p:animEffect transition="in" filter="checkerboard(across)">
                                      <p:cBhvr>
                                        <p:cTn id="22" dur="500"/>
                                        <p:tgtEl>
                                          <p:spTgt spid="6543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654345"/>
                                        </p:tgtEl>
                                        <p:attrNameLst>
                                          <p:attrName>style.visibility</p:attrName>
                                        </p:attrNameLst>
                                      </p:cBhvr>
                                      <p:to>
                                        <p:strVal val="visible"/>
                                      </p:to>
                                    </p:set>
                                    <p:animEffect transition="in" filter="checkerboard(across)">
                                      <p:cBhvr>
                                        <p:cTn id="27" dur="500"/>
                                        <p:tgtEl>
                                          <p:spTgt spid="6543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654353"/>
                                        </p:tgtEl>
                                        <p:attrNameLst>
                                          <p:attrName>style.visibility</p:attrName>
                                        </p:attrNameLst>
                                      </p:cBhvr>
                                      <p:to>
                                        <p:strVal val="visible"/>
                                      </p:to>
                                    </p:set>
                                    <p:animEffect transition="in" filter="checkerboard(across)">
                                      <p:cBhvr>
                                        <p:cTn id="32" dur="500"/>
                                        <p:tgtEl>
                                          <p:spTgt spid="6543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54350"/>
                                        </p:tgtEl>
                                        <p:attrNameLst>
                                          <p:attrName>style.visibility</p:attrName>
                                        </p:attrNameLst>
                                      </p:cBhvr>
                                      <p:to>
                                        <p:strVal val="visible"/>
                                      </p:to>
                                    </p:set>
                                    <p:animEffect transition="in" filter="wipe(left)">
                                      <p:cBhvr>
                                        <p:cTn id="37" dur="500"/>
                                        <p:tgtEl>
                                          <p:spTgt spid="6543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54352"/>
                                        </p:tgtEl>
                                        <p:attrNameLst>
                                          <p:attrName>style.visibility</p:attrName>
                                        </p:attrNameLst>
                                      </p:cBhvr>
                                      <p:to>
                                        <p:strVal val="visible"/>
                                      </p:to>
                                    </p:set>
                                    <p:animEffect transition="in" filter="wipe(left)">
                                      <p:cBhvr>
                                        <p:cTn id="42" dur="500"/>
                                        <p:tgtEl>
                                          <p:spTgt spid="6543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54348"/>
                                        </p:tgtEl>
                                        <p:attrNameLst>
                                          <p:attrName>style.visibility</p:attrName>
                                        </p:attrNameLst>
                                      </p:cBhvr>
                                      <p:to>
                                        <p:strVal val="visible"/>
                                      </p:to>
                                    </p:set>
                                    <p:animEffect transition="in" filter="wipe(left)">
                                      <p:cBhvr>
                                        <p:cTn id="47" dur="500"/>
                                        <p:tgtEl>
                                          <p:spTgt spid="6543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54357"/>
                                        </p:tgtEl>
                                        <p:attrNameLst>
                                          <p:attrName>style.visibility</p:attrName>
                                        </p:attrNameLst>
                                      </p:cBhvr>
                                      <p:to>
                                        <p:strVal val="visible"/>
                                      </p:to>
                                    </p:set>
                                    <p:animEffect transition="in" filter="wipe(left)">
                                      <p:cBhvr>
                                        <p:cTn id="52" dur="500"/>
                                        <p:tgtEl>
                                          <p:spTgt spid="6543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54358"/>
                                        </p:tgtEl>
                                        <p:attrNameLst>
                                          <p:attrName>style.visibility</p:attrName>
                                        </p:attrNameLst>
                                      </p:cBhvr>
                                      <p:to>
                                        <p:strVal val="visible"/>
                                      </p:to>
                                    </p:set>
                                    <p:animEffect transition="in" filter="wipe(left)">
                                      <p:cBhvr>
                                        <p:cTn id="57" dur="500"/>
                                        <p:tgtEl>
                                          <p:spTgt spid="65435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54356"/>
                                        </p:tgtEl>
                                        <p:attrNameLst>
                                          <p:attrName>style.visibility</p:attrName>
                                        </p:attrNameLst>
                                      </p:cBhvr>
                                      <p:to>
                                        <p:strVal val="visible"/>
                                      </p:to>
                                    </p:set>
                                    <p:animEffect transition="in" filter="wipe(left)">
                                      <p:cBhvr>
                                        <p:cTn id="62" dur="500"/>
                                        <p:tgtEl>
                                          <p:spTgt spid="654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40" grpId="0" build="p" autoUpdateAnimBg="0"/>
      <p:bldP spid="654341" grpId="0" autoUpdateAnimBg="0"/>
      <p:bldP spid="654342" grpId="0" autoUpdateAnimBg="0"/>
      <p:bldP spid="654348" grpId="0" autoUpdateAnimBg="0"/>
      <p:bldP spid="654350" grpId="0" animBg="1" autoUpdateAnimBg="0"/>
      <p:bldP spid="654356" grpId="0" autoUpdateAnimBg="0"/>
      <p:bldP spid="654357"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B5FD188-0157-4324-9E06-AE53981C9CEA}"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78978" name="Text Box 2"/>
          <p:cNvSpPr txBox="1">
            <a:spLocks noChangeArrowheads="1"/>
          </p:cNvSpPr>
          <p:nvPr/>
        </p:nvSpPr>
        <p:spPr bwMode="auto">
          <a:xfrm>
            <a:off x="0" y="228600"/>
            <a:ext cx="9144000" cy="497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int  i,j,k,l;</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cin&gt;&gt;</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hex</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&gt;&gt;i;		</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指明输入为十六进制数</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cin&gt;&gt;</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oct</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&gt;&gt;j;		</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指明输入为八进制数</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cin&gt;&gt;k;		</a:t>
            </a:r>
            <a:r>
              <a:rPr kumimoji="1" lang="en-US"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输入仍为八进制数</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cin&gt;&gt;</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dec</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&gt;&gt;l;		</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指明输入为十进制数</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当执行到语句</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时，若输入的数据为：</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11  11  12  12&lt;CR&gt;</a:t>
            </a:r>
          </a:p>
        </p:txBody>
      </p:sp>
      <p:sp>
        <p:nvSpPr>
          <p:cNvPr id="1278979" name="Text Box 3"/>
          <p:cNvSpPr txBox="1">
            <a:spLocks noChangeArrowheads="1"/>
          </p:cNvSpPr>
          <p:nvPr/>
        </p:nvSpPr>
        <p:spPr bwMode="auto">
          <a:xfrm>
            <a:off x="0" y="5486400"/>
            <a:ext cx="2438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结果：</a:t>
            </a:r>
            <a:r>
              <a:rPr kumimoji="1" lang="en-US"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i:17</a:t>
            </a:r>
          </a:p>
        </p:txBody>
      </p:sp>
      <p:sp>
        <p:nvSpPr>
          <p:cNvPr id="1278980" name="Text Box 4"/>
          <p:cNvSpPr txBox="1">
            <a:spLocks noChangeArrowheads="1"/>
          </p:cNvSpPr>
          <p:nvPr/>
        </p:nvSpPr>
        <p:spPr bwMode="auto">
          <a:xfrm>
            <a:off x="1905000" y="5562600"/>
            <a:ext cx="1981200" cy="57943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78981" name="Text Box 5"/>
          <p:cNvSpPr txBox="1">
            <a:spLocks noChangeArrowheads="1"/>
          </p:cNvSpPr>
          <p:nvPr/>
        </p:nvSpPr>
        <p:spPr bwMode="auto">
          <a:xfrm>
            <a:off x="2286000" y="5486400"/>
            <a:ext cx="83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j:9</a:t>
            </a:r>
          </a:p>
        </p:txBody>
      </p:sp>
      <p:sp>
        <p:nvSpPr>
          <p:cNvPr id="1278982" name="Text Box 6"/>
          <p:cNvSpPr txBox="1">
            <a:spLocks noChangeArrowheads="1"/>
          </p:cNvSpPr>
          <p:nvPr/>
        </p:nvSpPr>
        <p:spPr bwMode="auto">
          <a:xfrm>
            <a:off x="3200400" y="5486400"/>
            <a:ext cx="1066800" cy="57943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k:10</a:t>
            </a:r>
            <a:endParaRPr kumimoji="1" lang="en-US"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78983" name="Text Box 7"/>
          <p:cNvSpPr txBox="1">
            <a:spLocks noChangeArrowheads="1"/>
          </p:cNvSpPr>
          <p:nvPr/>
        </p:nvSpPr>
        <p:spPr bwMode="auto">
          <a:xfrm>
            <a:off x="4495800" y="5486400"/>
            <a:ext cx="1158875" cy="57943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l:12</a:t>
            </a:r>
            <a:endParaRPr kumimoji="1" lang="en-US"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562480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78979"/>
                                        </p:tgtEl>
                                        <p:attrNameLst>
                                          <p:attrName>style.visibility</p:attrName>
                                        </p:attrNameLst>
                                      </p:cBhvr>
                                      <p:to>
                                        <p:strVal val="visible"/>
                                      </p:to>
                                    </p:set>
                                    <p:animEffect transition="in" filter="dissolve">
                                      <p:cBhvr>
                                        <p:cTn id="7" dur="500"/>
                                        <p:tgtEl>
                                          <p:spTgt spid="12789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78981"/>
                                        </p:tgtEl>
                                        <p:attrNameLst>
                                          <p:attrName>style.visibility</p:attrName>
                                        </p:attrNameLst>
                                      </p:cBhvr>
                                      <p:to>
                                        <p:strVal val="visible"/>
                                      </p:to>
                                    </p:set>
                                    <p:animEffect transition="in" filter="dissolve">
                                      <p:cBhvr>
                                        <p:cTn id="12" dur="500"/>
                                        <p:tgtEl>
                                          <p:spTgt spid="12789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nodePh="1">
                                  <p:stCondLst>
                                    <p:cond delay="0"/>
                                  </p:stCondLst>
                                  <p:endCondLst>
                                    <p:cond evt="begin" delay="0">
                                      <p:tn val="15"/>
                                    </p:cond>
                                  </p:endCondLst>
                                  <p:childTnLst>
                                    <p:set>
                                      <p:cBhvr>
                                        <p:cTn id="16" dur="1" fill="hold">
                                          <p:stCondLst>
                                            <p:cond delay="0"/>
                                          </p:stCondLst>
                                        </p:cTn>
                                        <p:tgtEl>
                                          <p:spTgt spid="1278980"/>
                                        </p:tgtEl>
                                        <p:attrNameLst>
                                          <p:attrName>style.visibility</p:attrName>
                                        </p:attrNameLst>
                                      </p:cBhvr>
                                      <p:to>
                                        <p:strVal val="visible"/>
                                      </p:to>
                                    </p:set>
                                    <p:animEffect transition="in" filter="dissolve">
                                      <p:cBhvr>
                                        <p:cTn id="17" dur="500"/>
                                        <p:tgtEl>
                                          <p:spTgt spid="12789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78982"/>
                                        </p:tgtEl>
                                        <p:attrNameLst>
                                          <p:attrName>style.visibility</p:attrName>
                                        </p:attrNameLst>
                                      </p:cBhvr>
                                      <p:to>
                                        <p:strVal val="visible"/>
                                      </p:to>
                                    </p:set>
                                    <p:animEffect transition="in" filter="dissolve">
                                      <p:cBhvr>
                                        <p:cTn id="22" dur="500"/>
                                        <p:tgtEl>
                                          <p:spTgt spid="12789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78983"/>
                                        </p:tgtEl>
                                        <p:attrNameLst>
                                          <p:attrName>style.visibility</p:attrName>
                                        </p:attrNameLst>
                                      </p:cBhvr>
                                      <p:to>
                                        <p:strVal val="visible"/>
                                      </p:to>
                                    </p:set>
                                    <p:animEffect transition="in" filter="dissolve">
                                      <p:cBhvr>
                                        <p:cTn id="27" dur="500"/>
                                        <p:tgtEl>
                                          <p:spTgt spid="1278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8979" grpId="0" autoUpdateAnimBg="0"/>
      <p:bldP spid="1278980" grpId="0" autoUpdateAnimBg="0"/>
      <p:bldP spid="1278981" grpId="0" autoUpdateAnimBg="0"/>
      <p:bldP spid="1278982" grpId="0" autoUpdateAnimBg="0"/>
      <p:bldP spid="127898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228FA2F-ABEA-4532-B5AC-B76403AC5C56}"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9458" name="Text Box 2"/>
          <p:cNvSpPr txBox="1">
            <a:spLocks noChangeArrowheads="1"/>
          </p:cNvSpPr>
          <p:nvPr/>
        </p:nvSpPr>
        <p:spPr bwMode="auto">
          <a:xfrm>
            <a:off x="0" y="0"/>
            <a:ext cx="9144000"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zh-CN" altLang="en-US"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输出数据	</a:t>
            </a:r>
            <a:r>
              <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a:t>
            </a:r>
          </a:p>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与输入</a:t>
            </a:r>
            <a:r>
              <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cin</a:t>
            </a:r>
            <a:r>
              <a:rPr kumimoji="1" lang="zh-CN" altLang="en-US"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对应的输出是</a:t>
            </a:r>
            <a:r>
              <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a:t>
            </a:r>
            <a:r>
              <a:rPr kumimoji="1" lang="zh-CN" altLang="en-US"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输出流。</a:t>
            </a:r>
          </a:p>
        </p:txBody>
      </p:sp>
      <p:sp>
        <p:nvSpPr>
          <p:cNvPr id="659459" name="Text Box 3"/>
          <p:cNvSpPr txBox="1">
            <a:spLocks noChangeArrowheads="1"/>
          </p:cNvSpPr>
          <p:nvPr/>
        </p:nvSpPr>
        <p:spPr bwMode="auto">
          <a:xfrm>
            <a:off x="0" y="2286000"/>
            <a:ext cx="9144000" cy="350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当要输出一个表达式的值时，可使用</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来实现，其一般格式为：</a:t>
            </a:r>
          </a:p>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 &lt;&lt;  &lt;</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表达式</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&gt;  《&lt;&lt;  &lt;</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表达式</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&gt;......》;</a:t>
            </a:r>
          </a:p>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其中运算符“</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称为插入运算符，它将紧跟其后的表达式的值，输出到显示器</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当前光标</a:t>
            </a:r>
            <a:r>
              <a:rPr kumimoji="1"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的位置。 </a:t>
            </a:r>
          </a:p>
        </p:txBody>
      </p:sp>
    </p:spTree>
    <p:extLst>
      <p:ext uri="{BB962C8B-B14F-4D97-AF65-F5344CB8AC3E}">
        <p14:creationId xmlns:p14="http://schemas.microsoft.com/office/powerpoint/2010/main" val="1023043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9459">
                                            <p:txEl>
                                              <p:pRg st="0" end="0"/>
                                            </p:txEl>
                                          </p:spTgt>
                                        </p:tgtEl>
                                        <p:attrNameLst>
                                          <p:attrName>style.visibility</p:attrName>
                                        </p:attrNameLst>
                                      </p:cBhvr>
                                      <p:to>
                                        <p:strVal val="visible"/>
                                      </p:to>
                                    </p:set>
                                    <p:animEffect transition="in" filter="dissolve">
                                      <p:cBhvr>
                                        <p:cTn id="7" dur="500"/>
                                        <p:tgtEl>
                                          <p:spTgt spid="65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9459">
                                            <p:txEl>
                                              <p:pRg st="1" end="1"/>
                                            </p:txEl>
                                          </p:spTgt>
                                        </p:tgtEl>
                                        <p:attrNameLst>
                                          <p:attrName>style.visibility</p:attrName>
                                        </p:attrNameLst>
                                      </p:cBhvr>
                                      <p:to>
                                        <p:strVal val="visible"/>
                                      </p:to>
                                    </p:set>
                                    <p:animEffect transition="in" filter="dissolve">
                                      <p:cBhvr>
                                        <p:cTn id="12" dur="500"/>
                                        <p:tgtEl>
                                          <p:spTgt spid="659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9459">
                                            <p:txEl>
                                              <p:pRg st="2" end="2"/>
                                            </p:txEl>
                                          </p:spTgt>
                                        </p:tgtEl>
                                        <p:attrNameLst>
                                          <p:attrName>style.visibility</p:attrName>
                                        </p:attrNameLst>
                                      </p:cBhvr>
                                      <p:to>
                                        <p:strVal val="visible"/>
                                      </p:to>
                                    </p:set>
                                    <p:animEffect transition="in" filter="dissolve">
                                      <p:cBhvr>
                                        <p:cTn id="17" dur="500"/>
                                        <p:tgtEl>
                                          <p:spTgt spid="65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45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3D55875-0437-4999-B774-A9A103969BF6}"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682" name="Text Box 2"/>
          <p:cNvSpPr txBox="1">
            <a:spLocks noChangeArrowheads="1"/>
          </p:cNvSpPr>
          <p:nvPr/>
        </p:nvSpPr>
        <p:spPr bwMode="auto">
          <a:xfrm>
            <a:off x="0" y="0"/>
            <a:ext cx="7696200"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int a=6;</a:t>
            </a:r>
          </a:p>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float  f1=12.4;</a:t>
            </a:r>
          </a:p>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char  s1[ ]=“abcd”;</a:t>
            </a:r>
          </a:p>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cout&lt;&lt;a&lt;&lt;‘\t’&lt;&lt;f1&lt;&lt;‘\t’&lt;&lt;s1&lt;&lt;endl;</a:t>
            </a:r>
          </a:p>
        </p:txBody>
      </p:sp>
      <p:sp>
        <p:nvSpPr>
          <p:cNvPr id="967683" name="Text Box 3"/>
          <p:cNvSpPr txBox="1">
            <a:spLocks noChangeArrowheads="1"/>
          </p:cNvSpPr>
          <p:nvPr/>
        </p:nvSpPr>
        <p:spPr bwMode="auto">
          <a:xfrm>
            <a:off x="457200" y="3505200"/>
            <a:ext cx="4267200" cy="11509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0"/>
              </a:spcBef>
              <a:defRPr kumimoji="1" sz="2400">
                <a:solidFill>
                  <a:schemeClr val="tx1"/>
                </a:solidFill>
                <a:latin typeface="Times New Roman" panose="02020603050405020304" pitchFamily="18" charset="0"/>
                <a:ea typeface="宋体" panose="02010600030101010101" pitchFamily="2" charset="-122"/>
              </a:defRPr>
            </a:lvl1pPr>
            <a:lvl2pPr marL="914400" indent="-457200">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spcBef>
                <a:spcPct val="0"/>
              </a:spcBef>
              <a:defRPr kumimoji="1" sz="2400">
                <a:solidFill>
                  <a:schemeClr val="tx1"/>
                </a:solidFill>
                <a:latin typeface="Times New Roman" panose="02020603050405020304" pitchFamily="18" charset="0"/>
                <a:ea typeface="宋体" panose="02010600030101010101" pitchFamily="2" charset="-122"/>
              </a:defRPr>
            </a:lvl3pPr>
            <a:lvl4pPr marL="1828800" indent="-457200">
              <a:spcBef>
                <a:spcPct val="0"/>
              </a:spcBef>
              <a:defRPr kumimoji="1" sz="2400">
                <a:solidFill>
                  <a:schemeClr val="tx1"/>
                </a:solidFill>
                <a:latin typeface="Times New Roman" panose="02020603050405020304" pitchFamily="18" charset="0"/>
                <a:ea typeface="宋体" panose="02010600030101010101" pitchFamily="2" charset="-122"/>
              </a:defRPr>
            </a:lvl4pPr>
            <a:lvl5pPr marL="2286000" indent="-457200">
              <a:spcBef>
                <a:spcPct val="0"/>
              </a:spcBef>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457200" marR="0" lvl="0" indent="-457200" algn="l" defTabSz="914400" rtl="0" eaLnBrk="1" fontAlgn="base" latinLnBrk="0" hangingPunct="1">
              <a:lnSpc>
                <a:spcPct val="120000"/>
              </a:lnSpc>
              <a:spcBef>
                <a:spcPct val="50000"/>
              </a:spcBef>
              <a:spcAft>
                <a:spcPct val="0"/>
              </a:spcAft>
              <a:buClrTx/>
              <a:buSzTx/>
              <a:buFontTx/>
              <a:buAutoNum type="arabicPlain" startAt="6"/>
              <a:tabLst/>
              <a:defRPr/>
            </a:pPr>
            <a:endParaRPr kumimoji="1" lang="en-US" altLang="zh-CN" sz="2400" b="1"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50000"/>
              </a:spcBef>
              <a:spcAft>
                <a:spcPct val="0"/>
              </a:spcAft>
              <a:buClrTx/>
              <a:buSzTx/>
              <a:buFontTx/>
              <a:buAutoNum type="arabicPlain" startAt="6"/>
              <a:tabLst/>
              <a:defRPr/>
            </a:pPr>
            <a:endParaRPr kumimoji="1" lang="en-US" altLang="zh-CN" sz="2400" b="1"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67684" name="Text Box 4"/>
          <p:cNvSpPr txBox="1">
            <a:spLocks noChangeArrowheads="1"/>
          </p:cNvSpPr>
          <p:nvPr/>
        </p:nvSpPr>
        <p:spPr bwMode="auto">
          <a:xfrm>
            <a:off x="533400" y="5029200"/>
            <a:ext cx="43434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‘\t’</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为转义字符</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Tab</a:t>
            </a:r>
          </a:p>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endl</a:t>
            </a:r>
            <a:r>
              <a:rPr kumimoji="1" lang="zh-CN" altLang="en-US"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为回车或‘</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\n’</a:t>
            </a:r>
          </a:p>
        </p:txBody>
      </p:sp>
      <p:sp>
        <p:nvSpPr>
          <p:cNvPr id="967689" name="Text Box 9"/>
          <p:cNvSpPr txBox="1">
            <a:spLocks noChangeArrowheads="1"/>
          </p:cNvSpPr>
          <p:nvPr/>
        </p:nvSpPr>
        <p:spPr bwMode="auto">
          <a:xfrm>
            <a:off x="7924800" y="1524000"/>
            <a:ext cx="1219200" cy="4667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显示器</a:t>
            </a:r>
          </a:p>
        </p:txBody>
      </p:sp>
      <p:sp>
        <p:nvSpPr>
          <p:cNvPr id="967690" name="AutoShape 10"/>
          <p:cNvSpPr>
            <a:spLocks noChangeArrowheads="1"/>
          </p:cNvSpPr>
          <p:nvPr/>
        </p:nvSpPr>
        <p:spPr bwMode="auto">
          <a:xfrm>
            <a:off x="7239000" y="1676400"/>
            <a:ext cx="609600" cy="228600"/>
          </a:xfrm>
          <a:prstGeom prst="rightArrow">
            <a:avLst>
              <a:gd name="adj1" fmla="val 50000"/>
              <a:gd name="adj2" fmla="val 66667"/>
            </a:avLst>
          </a:prstGeom>
          <a:solidFill>
            <a:srgbClr val="0000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695" name="Text Box 15"/>
          <p:cNvSpPr txBox="1">
            <a:spLocks noChangeArrowheads="1"/>
          </p:cNvSpPr>
          <p:nvPr/>
        </p:nvSpPr>
        <p:spPr bwMode="auto">
          <a:xfrm>
            <a:off x="7924800" y="3124200"/>
            <a:ext cx="1219200" cy="4667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显示器</a:t>
            </a:r>
          </a:p>
        </p:txBody>
      </p:sp>
      <p:sp>
        <p:nvSpPr>
          <p:cNvPr id="967696" name="AutoShape 16"/>
          <p:cNvSpPr>
            <a:spLocks noChangeArrowheads="1"/>
          </p:cNvSpPr>
          <p:nvPr/>
        </p:nvSpPr>
        <p:spPr bwMode="auto">
          <a:xfrm>
            <a:off x="7239000" y="3276600"/>
            <a:ext cx="609600" cy="228600"/>
          </a:xfrm>
          <a:prstGeom prst="rightArrow">
            <a:avLst>
              <a:gd name="adj1" fmla="val 50000"/>
              <a:gd name="adj2" fmla="val 66667"/>
            </a:avLst>
          </a:prstGeom>
          <a:solidFill>
            <a:srgbClr val="0000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01" name="Text Box 21"/>
          <p:cNvSpPr txBox="1">
            <a:spLocks noChangeArrowheads="1"/>
          </p:cNvSpPr>
          <p:nvPr/>
        </p:nvSpPr>
        <p:spPr bwMode="auto">
          <a:xfrm>
            <a:off x="7924800" y="4572000"/>
            <a:ext cx="1219200" cy="466725"/>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smtClean="0">
                <a:ln>
                  <a:noFill/>
                </a:ln>
                <a:solidFill>
                  <a:srgbClr val="FFFF00"/>
                </a:solidFill>
                <a:effectLst/>
                <a:uLnTx/>
                <a:uFillTx/>
                <a:latin typeface="Times New Roman" panose="02020603050405020304" pitchFamily="18" charset="0"/>
                <a:ea typeface="宋体" panose="02010600030101010101" pitchFamily="2" charset="-122"/>
                <a:cs typeface="+mn-cs"/>
              </a:rPr>
              <a:t>显示器</a:t>
            </a:r>
          </a:p>
        </p:txBody>
      </p:sp>
      <p:sp>
        <p:nvSpPr>
          <p:cNvPr id="967702" name="AutoShape 22"/>
          <p:cNvSpPr>
            <a:spLocks noChangeArrowheads="1"/>
          </p:cNvSpPr>
          <p:nvPr/>
        </p:nvSpPr>
        <p:spPr bwMode="auto">
          <a:xfrm>
            <a:off x="7315200" y="4648200"/>
            <a:ext cx="533400" cy="228600"/>
          </a:xfrm>
          <a:prstGeom prst="rightArrow">
            <a:avLst>
              <a:gd name="adj1" fmla="val 50000"/>
              <a:gd name="adj2" fmla="val 58333"/>
            </a:avLst>
          </a:prstGeom>
          <a:solidFill>
            <a:srgbClr val="0000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967726" name="Group 46"/>
          <p:cNvGrpSpPr>
            <a:grpSpLocks/>
          </p:cNvGrpSpPr>
          <p:nvPr/>
        </p:nvGrpSpPr>
        <p:grpSpPr bwMode="auto">
          <a:xfrm>
            <a:off x="5486400" y="1524000"/>
            <a:ext cx="1828800" cy="4038600"/>
            <a:chOff x="3072" y="1392"/>
            <a:chExt cx="1152" cy="2544"/>
          </a:xfrm>
        </p:grpSpPr>
        <p:grpSp>
          <p:nvGrpSpPr>
            <p:cNvPr id="967722" name="Group 42"/>
            <p:cNvGrpSpPr>
              <a:grpSpLocks/>
            </p:cNvGrpSpPr>
            <p:nvPr/>
          </p:nvGrpSpPr>
          <p:grpSpPr bwMode="auto">
            <a:xfrm>
              <a:off x="3456" y="1392"/>
              <a:ext cx="672" cy="720"/>
              <a:chOff x="3504" y="288"/>
              <a:chExt cx="672" cy="720"/>
            </a:xfrm>
          </p:grpSpPr>
          <p:grpSp>
            <p:nvGrpSpPr>
              <p:cNvPr id="967685" name="Group 5"/>
              <p:cNvGrpSpPr>
                <a:grpSpLocks/>
              </p:cNvGrpSpPr>
              <p:nvPr/>
            </p:nvGrpSpPr>
            <p:grpSpPr bwMode="auto">
              <a:xfrm>
                <a:off x="3504" y="288"/>
                <a:ext cx="672" cy="720"/>
                <a:chOff x="3504" y="2352"/>
                <a:chExt cx="672" cy="720"/>
              </a:xfrm>
            </p:grpSpPr>
            <p:sp>
              <p:nvSpPr>
                <p:cNvPr id="967686" name="Text Box 6"/>
                <p:cNvSpPr txBox="1">
                  <a:spLocks noChangeArrowheads="1"/>
                </p:cNvSpPr>
                <p:nvPr/>
              </p:nvSpPr>
              <p:spPr bwMode="auto">
                <a:xfrm>
                  <a:off x="3504" y="2352"/>
                  <a:ext cx="672" cy="38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687" name="Text Box 7"/>
                <p:cNvSpPr txBox="1">
                  <a:spLocks noChangeArrowheads="1"/>
                </p:cNvSpPr>
                <p:nvPr/>
              </p:nvSpPr>
              <p:spPr bwMode="auto">
                <a:xfrm>
                  <a:off x="3552" y="2784"/>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a:t>
                  </a:r>
                </a:p>
              </p:txBody>
            </p:sp>
          </p:grpSp>
          <p:sp>
            <p:nvSpPr>
              <p:cNvPr id="967688" name="Text Box 8"/>
              <p:cNvSpPr txBox="1">
                <a:spLocks noChangeArrowheads="1"/>
              </p:cNvSpPr>
              <p:nvPr/>
            </p:nvSpPr>
            <p:spPr bwMode="auto">
              <a:xfrm>
                <a:off x="3552" y="336"/>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6</a:t>
                </a:r>
              </a:p>
            </p:txBody>
          </p:sp>
        </p:grpSp>
        <p:grpSp>
          <p:nvGrpSpPr>
            <p:cNvPr id="967723" name="Group 43"/>
            <p:cNvGrpSpPr>
              <a:grpSpLocks/>
            </p:cNvGrpSpPr>
            <p:nvPr/>
          </p:nvGrpSpPr>
          <p:grpSpPr bwMode="auto">
            <a:xfrm>
              <a:off x="3456" y="2352"/>
              <a:ext cx="672" cy="720"/>
              <a:chOff x="3504" y="1248"/>
              <a:chExt cx="672" cy="720"/>
            </a:xfrm>
          </p:grpSpPr>
          <p:grpSp>
            <p:nvGrpSpPr>
              <p:cNvPr id="967691" name="Group 11"/>
              <p:cNvGrpSpPr>
                <a:grpSpLocks/>
              </p:cNvGrpSpPr>
              <p:nvPr/>
            </p:nvGrpSpPr>
            <p:grpSpPr bwMode="auto">
              <a:xfrm>
                <a:off x="3504" y="1248"/>
                <a:ext cx="672" cy="720"/>
                <a:chOff x="3504" y="2352"/>
                <a:chExt cx="672" cy="720"/>
              </a:xfrm>
            </p:grpSpPr>
            <p:sp>
              <p:nvSpPr>
                <p:cNvPr id="967692" name="Text Box 12"/>
                <p:cNvSpPr txBox="1">
                  <a:spLocks noChangeArrowheads="1"/>
                </p:cNvSpPr>
                <p:nvPr/>
              </p:nvSpPr>
              <p:spPr bwMode="auto">
                <a:xfrm>
                  <a:off x="3504" y="2352"/>
                  <a:ext cx="672" cy="38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3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693" name="Text Box 13"/>
                <p:cNvSpPr txBox="1">
                  <a:spLocks noChangeArrowheads="1"/>
                </p:cNvSpPr>
                <p:nvPr/>
              </p:nvSpPr>
              <p:spPr bwMode="auto">
                <a:xfrm>
                  <a:off x="3552" y="2784"/>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f1</a:t>
                  </a:r>
                </a:p>
              </p:txBody>
            </p:sp>
          </p:grpSp>
          <p:sp>
            <p:nvSpPr>
              <p:cNvPr id="967694" name="Text Box 14"/>
              <p:cNvSpPr txBox="1">
                <a:spLocks noChangeArrowheads="1"/>
              </p:cNvSpPr>
              <p:nvPr/>
            </p:nvSpPr>
            <p:spPr bwMode="auto">
              <a:xfrm>
                <a:off x="3552" y="1296"/>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12.4</a:t>
                </a:r>
              </a:p>
            </p:txBody>
          </p:sp>
        </p:grpSp>
        <p:grpSp>
          <p:nvGrpSpPr>
            <p:cNvPr id="967725" name="Group 45"/>
            <p:cNvGrpSpPr>
              <a:grpSpLocks/>
            </p:cNvGrpSpPr>
            <p:nvPr/>
          </p:nvGrpSpPr>
          <p:grpSpPr bwMode="auto">
            <a:xfrm>
              <a:off x="3072" y="3264"/>
              <a:ext cx="1152" cy="672"/>
              <a:chOff x="3168" y="2160"/>
              <a:chExt cx="1152" cy="672"/>
            </a:xfrm>
          </p:grpSpPr>
          <p:sp>
            <p:nvSpPr>
              <p:cNvPr id="967699" name="Text Box 19"/>
              <p:cNvSpPr txBox="1">
                <a:spLocks noChangeArrowheads="1"/>
              </p:cNvSpPr>
              <p:nvPr/>
            </p:nvSpPr>
            <p:spPr bwMode="auto">
              <a:xfrm>
                <a:off x="3456" y="2544"/>
                <a:ext cx="576"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4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s1</a:t>
                </a:r>
              </a:p>
            </p:txBody>
          </p:sp>
          <p:sp>
            <p:nvSpPr>
              <p:cNvPr id="967708" name="Rectangle 28"/>
              <p:cNvSpPr>
                <a:spLocks noChangeArrowheads="1"/>
              </p:cNvSpPr>
              <p:nvPr/>
            </p:nvSpPr>
            <p:spPr bwMode="auto">
              <a:xfrm>
                <a:off x="4013" y="2160"/>
                <a:ext cx="307" cy="32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\0</a:t>
                </a:r>
              </a:p>
            </p:txBody>
          </p:sp>
          <p:sp>
            <p:nvSpPr>
              <p:cNvPr id="967707" name="Rectangle 27"/>
              <p:cNvSpPr>
                <a:spLocks noChangeArrowheads="1"/>
              </p:cNvSpPr>
              <p:nvPr/>
            </p:nvSpPr>
            <p:spPr bwMode="auto">
              <a:xfrm>
                <a:off x="3792" y="2160"/>
                <a:ext cx="221" cy="32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d</a:t>
                </a:r>
              </a:p>
            </p:txBody>
          </p:sp>
          <p:sp>
            <p:nvSpPr>
              <p:cNvPr id="967706" name="Rectangle 26"/>
              <p:cNvSpPr>
                <a:spLocks noChangeArrowheads="1"/>
              </p:cNvSpPr>
              <p:nvPr/>
            </p:nvSpPr>
            <p:spPr bwMode="auto">
              <a:xfrm>
                <a:off x="3590" y="2160"/>
                <a:ext cx="202" cy="32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c</a:t>
                </a:r>
              </a:p>
            </p:txBody>
          </p:sp>
          <p:sp>
            <p:nvSpPr>
              <p:cNvPr id="967705" name="Rectangle 25"/>
              <p:cNvSpPr>
                <a:spLocks noChangeArrowheads="1"/>
              </p:cNvSpPr>
              <p:nvPr/>
            </p:nvSpPr>
            <p:spPr bwMode="auto">
              <a:xfrm>
                <a:off x="3408" y="2160"/>
                <a:ext cx="182" cy="32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b</a:t>
                </a:r>
              </a:p>
            </p:txBody>
          </p:sp>
          <p:sp>
            <p:nvSpPr>
              <p:cNvPr id="967704" name="Rectangle 24"/>
              <p:cNvSpPr>
                <a:spLocks noChangeArrowheads="1"/>
              </p:cNvSpPr>
              <p:nvPr/>
            </p:nvSpPr>
            <p:spPr bwMode="auto">
              <a:xfrm>
                <a:off x="3168" y="2160"/>
                <a:ext cx="240" cy="326"/>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a:t>
                </a:r>
              </a:p>
            </p:txBody>
          </p:sp>
          <p:sp>
            <p:nvSpPr>
              <p:cNvPr id="967709" name="Line 29"/>
              <p:cNvSpPr>
                <a:spLocks noChangeShapeType="1"/>
              </p:cNvSpPr>
              <p:nvPr/>
            </p:nvSpPr>
            <p:spPr bwMode="auto">
              <a:xfrm>
                <a:off x="3168" y="2160"/>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0" name="Line 30"/>
              <p:cNvSpPr>
                <a:spLocks noChangeShapeType="1"/>
              </p:cNvSpPr>
              <p:nvPr/>
            </p:nvSpPr>
            <p:spPr bwMode="auto">
              <a:xfrm>
                <a:off x="3168" y="2486"/>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1" name="Line 31"/>
              <p:cNvSpPr>
                <a:spLocks noChangeShapeType="1"/>
              </p:cNvSpPr>
              <p:nvPr/>
            </p:nvSpPr>
            <p:spPr bwMode="auto">
              <a:xfrm>
                <a:off x="3168" y="2160"/>
                <a:ext cx="0" cy="32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2" name="Line 32"/>
              <p:cNvSpPr>
                <a:spLocks noChangeShapeType="1"/>
              </p:cNvSpPr>
              <p:nvPr/>
            </p:nvSpPr>
            <p:spPr bwMode="auto">
              <a:xfrm>
                <a:off x="3408" y="216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3" name="Line 33"/>
              <p:cNvSpPr>
                <a:spLocks noChangeShapeType="1"/>
              </p:cNvSpPr>
              <p:nvPr/>
            </p:nvSpPr>
            <p:spPr bwMode="auto">
              <a:xfrm>
                <a:off x="3590" y="216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4" name="Line 34"/>
              <p:cNvSpPr>
                <a:spLocks noChangeShapeType="1"/>
              </p:cNvSpPr>
              <p:nvPr/>
            </p:nvSpPr>
            <p:spPr bwMode="auto">
              <a:xfrm>
                <a:off x="3792" y="216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5" name="Line 35"/>
              <p:cNvSpPr>
                <a:spLocks noChangeShapeType="1"/>
              </p:cNvSpPr>
              <p:nvPr/>
            </p:nvSpPr>
            <p:spPr bwMode="auto">
              <a:xfrm>
                <a:off x="4013" y="216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67716" name="Line 36"/>
              <p:cNvSpPr>
                <a:spLocks noChangeShapeType="1"/>
              </p:cNvSpPr>
              <p:nvPr/>
            </p:nvSpPr>
            <p:spPr bwMode="auto">
              <a:xfrm>
                <a:off x="4320" y="2160"/>
                <a:ext cx="0" cy="32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endPar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sp>
        <p:nvSpPr>
          <p:cNvPr id="967727" name="Text Box 47"/>
          <p:cNvSpPr txBox="1">
            <a:spLocks noChangeArrowheads="1"/>
          </p:cNvSpPr>
          <p:nvPr/>
        </p:nvSpPr>
        <p:spPr bwMode="auto">
          <a:xfrm>
            <a:off x="609600" y="3581400"/>
            <a:ext cx="533400"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6</a:t>
            </a:r>
          </a:p>
        </p:txBody>
      </p:sp>
      <p:sp>
        <p:nvSpPr>
          <p:cNvPr id="967728" name="Text Box 48"/>
          <p:cNvSpPr txBox="1">
            <a:spLocks noChangeArrowheads="1"/>
          </p:cNvSpPr>
          <p:nvPr/>
        </p:nvSpPr>
        <p:spPr bwMode="auto">
          <a:xfrm>
            <a:off x="2133600" y="3581400"/>
            <a:ext cx="838200"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12.4</a:t>
            </a:r>
          </a:p>
        </p:txBody>
      </p:sp>
      <p:sp>
        <p:nvSpPr>
          <p:cNvPr id="967729" name="Text Box 49"/>
          <p:cNvSpPr txBox="1">
            <a:spLocks noChangeArrowheads="1"/>
          </p:cNvSpPr>
          <p:nvPr/>
        </p:nvSpPr>
        <p:spPr bwMode="auto">
          <a:xfrm>
            <a:off x="3886200" y="3581400"/>
            <a:ext cx="762000" cy="4572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abcd</a:t>
            </a:r>
          </a:p>
        </p:txBody>
      </p:sp>
      <p:sp>
        <p:nvSpPr>
          <p:cNvPr id="967730" name="Text Box 50"/>
          <p:cNvSpPr txBox="1">
            <a:spLocks noChangeArrowheads="1"/>
          </p:cNvSpPr>
          <p:nvPr/>
        </p:nvSpPr>
        <p:spPr bwMode="auto">
          <a:xfrm>
            <a:off x="669925" y="4114800"/>
            <a:ext cx="1841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2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392213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67726"/>
                                        </p:tgtEl>
                                        <p:attrNameLst>
                                          <p:attrName>style.visibility</p:attrName>
                                        </p:attrNameLst>
                                      </p:cBhvr>
                                      <p:to>
                                        <p:strVal val="visible"/>
                                      </p:to>
                                    </p:set>
                                    <p:animEffect transition="in" filter="box(in)">
                                      <p:cBhvr>
                                        <p:cTn id="7" dur="500"/>
                                        <p:tgtEl>
                                          <p:spTgt spid="9677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6768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67690"/>
                                        </p:tgtEl>
                                        <p:attrNameLst>
                                          <p:attrName>style.visibility</p:attrName>
                                        </p:attrNameLst>
                                      </p:cBhvr>
                                      <p:to>
                                        <p:strVal val="visible"/>
                                      </p:to>
                                    </p:set>
                                    <p:animEffect transition="in" filter="wipe(left)">
                                      <p:cBhvr>
                                        <p:cTn id="16" dur="500"/>
                                        <p:tgtEl>
                                          <p:spTgt spid="9676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67689"/>
                                        </p:tgtEl>
                                        <p:attrNameLst>
                                          <p:attrName>style.visibility</p:attrName>
                                        </p:attrNameLst>
                                      </p:cBhvr>
                                      <p:to>
                                        <p:strVal val="visible"/>
                                      </p:to>
                                    </p:set>
                                    <p:animEffect transition="in" filter="wipe(left)">
                                      <p:cBhvr>
                                        <p:cTn id="21" dur="500"/>
                                        <p:tgtEl>
                                          <p:spTgt spid="96768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96772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67696"/>
                                        </p:tgtEl>
                                        <p:attrNameLst>
                                          <p:attrName>style.visibility</p:attrName>
                                        </p:attrNameLst>
                                      </p:cBhvr>
                                      <p:to>
                                        <p:strVal val="visible"/>
                                      </p:to>
                                    </p:set>
                                    <p:animEffect transition="in" filter="wipe(left)">
                                      <p:cBhvr>
                                        <p:cTn id="30" dur="500"/>
                                        <p:tgtEl>
                                          <p:spTgt spid="96769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67695"/>
                                        </p:tgtEl>
                                        <p:attrNameLst>
                                          <p:attrName>style.visibility</p:attrName>
                                        </p:attrNameLst>
                                      </p:cBhvr>
                                      <p:to>
                                        <p:strVal val="visible"/>
                                      </p:to>
                                    </p:set>
                                    <p:animEffect transition="in" filter="wipe(left)">
                                      <p:cBhvr>
                                        <p:cTn id="35" dur="500"/>
                                        <p:tgtEl>
                                          <p:spTgt spid="96769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96772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967702"/>
                                        </p:tgtEl>
                                        <p:attrNameLst>
                                          <p:attrName>style.visibility</p:attrName>
                                        </p:attrNameLst>
                                      </p:cBhvr>
                                      <p:to>
                                        <p:strVal val="visible"/>
                                      </p:to>
                                    </p:set>
                                    <p:animEffect transition="in" filter="wipe(left)">
                                      <p:cBhvr>
                                        <p:cTn id="44" dur="500"/>
                                        <p:tgtEl>
                                          <p:spTgt spid="96770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67701"/>
                                        </p:tgtEl>
                                        <p:attrNameLst>
                                          <p:attrName>style.visibility</p:attrName>
                                        </p:attrNameLst>
                                      </p:cBhvr>
                                      <p:to>
                                        <p:strVal val="visible"/>
                                      </p:to>
                                    </p:set>
                                    <p:animEffect transition="in" filter="wipe(left)">
                                      <p:cBhvr>
                                        <p:cTn id="49" dur="500"/>
                                        <p:tgtEl>
                                          <p:spTgt spid="96770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967729"/>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967730"/>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67684"/>
                                        </p:tgtEl>
                                        <p:attrNameLst>
                                          <p:attrName>style.visibility</p:attrName>
                                        </p:attrNameLst>
                                      </p:cBhvr>
                                      <p:to>
                                        <p:strVal val="visible"/>
                                      </p:to>
                                    </p:set>
                                    <p:animEffect transition="in" filter="wipe(left)">
                                      <p:cBhvr>
                                        <p:cTn id="62" dur="500"/>
                                        <p:tgtEl>
                                          <p:spTgt spid="967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3" grpId="0" animBg="1" autoUpdateAnimBg="0"/>
      <p:bldP spid="967684" grpId="0" autoUpdateAnimBg="0"/>
      <p:bldP spid="967689" grpId="0" animBg="1" autoUpdateAnimBg="0"/>
      <p:bldP spid="967695" grpId="0" animBg="1" autoUpdateAnimBg="0"/>
      <p:bldP spid="967701" grpId="0" animBg="1" autoUpdateAnimBg="0"/>
      <p:bldP spid="967727" grpId="0" animBg="1" autoUpdateAnimBg="0"/>
      <p:bldP spid="967728" grpId="0" animBg="1" autoUpdateAnimBg="0"/>
      <p:bldP spid="967729" grpId="0" animBg="1" autoUpdateAnimBg="0"/>
      <p:bldP spid="967730"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E1418D4-1769-4CBB-8CD0-7CFA1424D3F5}"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0482" name="Text Box 2"/>
          <p:cNvSpPr txBox="1">
            <a:spLocks noChangeArrowheads="1"/>
          </p:cNvSpPr>
          <p:nvPr/>
        </p:nvSpPr>
        <p:spPr bwMode="auto">
          <a:xfrm>
            <a:off x="0" y="152400"/>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a:t>
            </a:r>
            <a:r>
              <a:rPr kumimoji="1" lang="zh-CN" altLang="en-US"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将</a:t>
            </a:r>
            <a:r>
              <a:rPr kumimoji="1" lang="zh-CN" altLang="en-US" sz="36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双引号中的字符串常量</a:t>
            </a:r>
            <a:r>
              <a:rPr kumimoji="1" lang="zh-CN" altLang="en-US" sz="36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按其原样输出</a:t>
            </a:r>
          </a:p>
        </p:txBody>
      </p:sp>
      <p:sp>
        <p:nvSpPr>
          <p:cNvPr id="660483" name="Text Box 3"/>
          <p:cNvSpPr txBox="1">
            <a:spLocks noChangeArrowheads="1"/>
          </p:cNvSpPr>
          <p:nvPr/>
        </p:nvSpPr>
        <p:spPr bwMode="auto">
          <a:xfrm>
            <a:off x="0" y="914400"/>
            <a:ext cx="8583613"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char  ch1=‘a’,ch2=‘b’;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cout&lt;&lt;“</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c1=</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“&lt;&lt;ch1&lt;&lt;‘\t’&lt;&lt;“</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c2=</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“&lt;&lt;ch2&lt;&lt;endl;</a:t>
            </a:r>
          </a:p>
        </p:txBody>
      </p:sp>
      <p:sp>
        <p:nvSpPr>
          <p:cNvPr id="660484" name="Text Box 4"/>
          <p:cNvSpPr txBox="1">
            <a:spLocks noChangeArrowheads="1"/>
          </p:cNvSpPr>
          <p:nvPr/>
        </p:nvSpPr>
        <p:spPr bwMode="auto">
          <a:xfrm>
            <a:off x="0" y="2362200"/>
            <a:ext cx="7224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c1=</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		</a:t>
            </a: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c2=</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b&lt;CR&gt;</a:t>
            </a:r>
          </a:p>
        </p:txBody>
      </p:sp>
      <p:sp>
        <p:nvSpPr>
          <p:cNvPr id="660487" name="Text Box 7"/>
          <p:cNvSpPr txBox="1">
            <a:spLocks noChangeArrowheads="1"/>
          </p:cNvSpPr>
          <p:nvPr/>
        </p:nvSpPr>
        <p:spPr bwMode="auto">
          <a:xfrm>
            <a:off x="0" y="3200400"/>
            <a:ext cx="9144000"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int  i1=4,i2=5;</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float  a=3.5;</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cout&lt;&lt;“</a:t>
            </a: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a*i1=</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“&lt;&lt;a*i1&lt;&lt;endl&lt;&lt;“</a:t>
            </a: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a*i2=</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“&lt;&lt;a*i2&lt;&lt;endl;</a:t>
            </a:r>
          </a:p>
        </p:txBody>
      </p:sp>
      <p:sp>
        <p:nvSpPr>
          <p:cNvPr id="660488" name="Text Box 8"/>
          <p:cNvSpPr txBox="1">
            <a:spLocks noChangeArrowheads="1"/>
          </p:cNvSpPr>
          <p:nvPr/>
        </p:nvSpPr>
        <p:spPr bwMode="auto">
          <a:xfrm>
            <a:off x="0" y="5257800"/>
            <a:ext cx="7315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a*i1=</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14</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a*i2=</a:t>
            </a:r>
            <a:r>
              <a:rPr kumimoji="1"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17.5</a:t>
            </a:r>
          </a:p>
        </p:txBody>
      </p:sp>
    </p:spTree>
    <p:extLst>
      <p:ext uri="{BB962C8B-B14F-4D97-AF65-F5344CB8AC3E}">
        <p14:creationId xmlns:p14="http://schemas.microsoft.com/office/powerpoint/2010/main" val="25933821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0483"/>
                                        </p:tgtEl>
                                        <p:attrNameLst>
                                          <p:attrName>style.visibility</p:attrName>
                                        </p:attrNameLst>
                                      </p:cBhvr>
                                      <p:to>
                                        <p:strVal val="visible"/>
                                      </p:to>
                                    </p:set>
                                    <p:animEffect transition="in" filter="wipe(left)">
                                      <p:cBhvr>
                                        <p:cTn id="7" dur="500"/>
                                        <p:tgtEl>
                                          <p:spTgt spid="660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0484"/>
                                        </p:tgtEl>
                                        <p:attrNameLst>
                                          <p:attrName>style.visibility</p:attrName>
                                        </p:attrNameLst>
                                      </p:cBhvr>
                                      <p:to>
                                        <p:strVal val="visible"/>
                                      </p:to>
                                    </p:set>
                                    <p:animEffect transition="in" filter="wipe(left)">
                                      <p:cBhvr>
                                        <p:cTn id="12" dur="500"/>
                                        <p:tgtEl>
                                          <p:spTgt spid="6604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0487"/>
                                        </p:tgtEl>
                                        <p:attrNameLst>
                                          <p:attrName>style.visibility</p:attrName>
                                        </p:attrNameLst>
                                      </p:cBhvr>
                                      <p:to>
                                        <p:strVal val="visible"/>
                                      </p:to>
                                    </p:set>
                                    <p:animEffect transition="in" filter="wipe(left)">
                                      <p:cBhvr>
                                        <p:cTn id="17" dur="500"/>
                                        <p:tgtEl>
                                          <p:spTgt spid="6604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60488"/>
                                        </p:tgtEl>
                                        <p:attrNameLst>
                                          <p:attrName>style.visibility</p:attrName>
                                        </p:attrNameLst>
                                      </p:cBhvr>
                                      <p:to>
                                        <p:strVal val="visible"/>
                                      </p:to>
                                    </p:set>
                                    <p:animEffect transition="in" filter="wipe(left)">
                                      <p:cBhvr>
                                        <p:cTn id="22" dur="500"/>
                                        <p:tgtEl>
                                          <p:spTgt spid="66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83" grpId="0" autoUpdateAnimBg="0"/>
      <p:bldP spid="660484" grpId="0" autoUpdateAnimBg="0"/>
      <p:bldP spid="660487" grpId="0" autoUpdateAnimBg="0"/>
      <p:bldP spid="660488"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A642782-2066-4D8E-8BC5-6E9A38A38CF2}"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1" lang="en-US" altLang="zh-CN" sz="1400" b="0"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1506" name="Text Box 2"/>
          <p:cNvSpPr txBox="1">
            <a:spLocks noChangeArrowheads="1"/>
          </p:cNvSpPr>
          <p:nvPr/>
        </p:nvSpPr>
        <p:spPr bwMode="auto">
          <a:xfrm>
            <a:off x="0" y="0"/>
            <a:ext cx="914400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指定输出项占用的宽度：</a:t>
            </a:r>
          </a:p>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在输出的数据项之间进行隔开的另一种办法是</a:t>
            </a:r>
            <a:r>
              <a:rPr kumimoji="1" lang="zh-CN" altLang="en-US"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指定输出项的宽度</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。如上面的两个输出语句可改写为：</a:t>
            </a:r>
          </a:p>
          <a:p>
            <a:pPr marL="0" marR="0" lvl="0" indent="0" algn="just" defTabSz="914400" rtl="0" eaLnBrk="1" fontAlgn="base" latinLnBrk="0" hangingPunct="1">
              <a:lnSpc>
                <a:spcPct val="12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cout &lt;&lt;</a:t>
            </a: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setw(6)</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 i&lt;&lt;</a:t>
            </a:r>
            <a:r>
              <a:rPr kumimoji="1" lang="en-US" altLang="zh-CN" sz="2800" b="1" i="0" u="none" strike="noStrike" kern="1200" cap="none" spc="0" normalizeH="0" baseline="0" noProof="0" smtClean="0">
                <a:ln>
                  <a:noFill/>
                </a:ln>
                <a:solidFill>
                  <a:srgbClr val="0000CC"/>
                </a:solidFill>
                <a:effectLst/>
                <a:uLnTx/>
                <a:uFillTx/>
                <a:latin typeface="Times New Roman" panose="02020603050405020304" pitchFamily="18" charset="0"/>
                <a:ea typeface="宋体" panose="02010600030101010101" pitchFamily="2" charset="-122"/>
                <a:cs typeface="+mn-cs"/>
              </a:rPr>
              <a:t>setw(10)</a:t>
            </a: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&lt;&lt;j&lt;&lt;endl;</a:t>
            </a:r>
          </a:p>
        </p:txBody>
      </p:sp>
      <p:sp>
        <p:nvSpPr>
          <p:cNvPr id="661507" name="Text Box 3"/>
          <p:cNvSpPr txBox="1">
            <a:spLocks noChangeArrowheads="1"/>
          </p:cNvSpPr>
          <p:nvPr/>
        </p:nvSpPr>
        <p:spPr bwMode="auto">
          <a:xfrm>
            <a:off x="0" y="2514600"/>
            <a:ext cx="4495800"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_ _ _ _ _</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4</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_ _ _ _ _ _ _ _</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12</a:t>
            </a:r>
          </a:p>
        </p:txBody>
      </p:sp>
      <p:sp>
        <p:nvSpPr>
          <p:cNvPr id="661510" name="Text Box 6"/>
          <p:cNvSpPr txBox="1">
            <a:spLocks noChangeArrowheads="1"/>
          </p:cNvSpPr>
          <p:nvPr/>
        </p:nvSpPr>
        <p:spPr bwMode="auto">
          <a:xfrm>
            <a:off x="15607" y="3276600"/>
            <a:ext cx="8915400" cy="16303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其中</a:t>
            </a:r>
            <a:r>
              <a:rPr kumimoji="1" lang="en-US" altLang="zh-CN" sz="2800" b="1" i="0" u="none" strike="noStrike" kern="1200" cap="none" spc="0" normalizeH="0" baseline="0" noProof="0" dirty="0" err="1" smtClean="0">
                <a:ln>
                  <a:noFill/>
                </a:ln>
                <a:solidFill>
                  <a:srgbClr val="0000CC"/>
                </a:solidFill>
                <a:effectLst/>
                <a:uLnTx/>
                <a:uFillTx/>
                <a:latin typeface="Times New Roman" panose="02020603050405020304" pitchFamily="18" charset="0"/>
                <a:ea typeface="宋体" panose="02010600030101010101" pitchFamily="2" charset="-122"/>
                <a:cs typeface="+mn-cs"/>
              </a:rPr>
              <a:t>setw</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(6)</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指明其后的</a:t>
            </a:r>
            <a:r>
              <a:rPr kumimoji="1"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输出项占用的字符宽度为</a:t>
            </a:r>
            <a:r>
              <a:rPr kumimoji="1"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6</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，即括号中的值指出紧跟其后的输出项占用的字符位置个数，</a:t>
            </a:r>
            <a:r>
              <a:rPr kumimoji="1"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并向右对齐</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setw</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是“</a:t>
            </a:r>
            <a:r>
              <a:rPr kumimoji="1" lang="en-US" altLang="zh-CN" sz="2800" b="1" i="0" u="none" strike="noStrike" kern="1200" cap="none" spc="0" normalizeH="0" baseline="0" noProof="0" dirty="0" smtClean="0">
                <a:ln>
                  <a:noFill/>
                </a:ln>
                <a:solidFill>
                  <a:srgbClr val="000099"/>
                </a:solidFill>
                <a:effectLst/>
                <a:uLnTx/>
                <a:uFillTx/>
                <a:latin typeface="Times New Roman" panose="02020603050405020304" pitchFamily="18" charset="0"/>
                <a:ea typeface="宋体" panose="02010600030101010101" pitchFamily="2" charset="-122"/>
                <a:cs typeface="+mn-cs"/>
              </a:rPr>
              <a:t>set  width</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的缩写。</a:t>
            </a:r>
            <a:endParaRPr kumimoji="1" lang="zh-CN" altLang="en-US" sz="2800" b="0"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32281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1507"/>
                                        </p:tgtEl>
                                        <p:attrNameLst>
                                          <p:attrName>style.visibility</p:attrName>
                                        </p:attrNameLst>
                                      </p:cBhvr>
                                      <p:to>
                                        <p:strVal val="visible"/>
                                      </p:to>
                                    </p:set>
                                    <p:animEffect transition="in" filter="blinds(horizontal)">
                                      <p:cBhvr>
                                        <p:cTn id="7" dur="500"/>
                                        <p:tgtEl>
                                          <p:spTgt spid="661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61510"/>
                                        </p:tgtEl>
                                        <p:attrNameLst>
                                          <p:attrName>style.visibility</p:attrName>
                                        </p:attrNameLst>
                                      </p:cBhvr>
                                      <p:to>
                                        <p:strVal val="visible"/>
                                      </p:to>
                                    </p:set>
                                    <p:animEffect transition="in" filter="blinds(horizontal)">
                                      <p:cBhvr>
                                        <p:cTn id="12" dur="500"/>
                                        <p:tgtEl>
                                          <p:spTgt spid="66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7" grpId="0" autoUpdateAnimBg="0"/>
      <p:bldP spid="661510"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9FF6FA8-36C3-4416-9EC5-94C3243AE93F}"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2530" name="Text Box 2"/>
          <p:cNvSpPr txBox="1">
            <a:spLocks noChangeArrowheads="1"/>
          </p:cNvSpPr>
          <p:nvPr/>
        </p:nvSpPr>
        <p:spPr bwMode="auto">
          <a:xfrm>
            <a:off x="0" y="228600"/>
            <a:ext cx="91440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使用</a:t>
            </a:r>
            <a:r>
              <a:rPr kumimoji="1" lang="en-US" altLang="zh-CN" sz="2800" b="1" i="0" u="none" strike="noStrike" kern="1200" cap="none" spc="0" normalizeH="0" baseline="0" noProof="0" dirty="0" err="1" smtClean="0">
                <a:ln>
                  <a:noFill/>
                </a:ln>
                <a:solidFill>
                  <a:srgbClr val="0000CC"/>
                </a:solidFill>
                <a:effectLst/>
                <a:uLnTx/>
                <a:uFillTx/>
                <a:latin typeface="Times New Roman" panose="02020603050405020304" pitchFamily="18" charset="0"/>
                <a:ea typeface="宋体" panose="02010600030101010101" pitchFamily="2" charset="-122"/>
                <a:cs typeface="+mn-cs"/>
              </a:rPr>
              <a:t>setw</a:t>
            </a:r>
            <a:r>
              <a:rPr kumimoji="1" lang="en-US" altLang="zh-CN" sz="2800" b="1" i="0" u="none" strike="noStrike" kern="1200" cap="none" spc="0" normalizeH="0" baseline="0" noProof="0" dirty="0" smtClean="0">
                <a:ln>
                  <a:noFill/>
                </a:ln>
                <a:solidFill>
                  <a:srgbClr val="0000CC"/>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应注意以下三点：</a:t>
            </a:r>
          </a:p>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、在程序的开始位置必须包含头文件</a:t>
            </a:r>
            <a:r>
              <a:rPr kumimoji="1" lang="en-US" altLang="zh-CN" sz="2800" b="1" i="0" u="none" strike="noStrike" kern="1200" cap="none" spc="0" normalizeH="0" baseline="0" noProof="0" dirty="0" err="1" smtClean="0">
                <a:ln>
                  <a:noFill/>
                </a:ln>
                <a:solidFill>
                  <a:srgbClr val="0000CC"/>
                </a:solidFill>
                <a:effectLst/>
                <a:uLnTx/>
                <a:uFillTx/>
                <a:latin typeface="Times New Roman" panose="02020603050405020304" pitchFamily="18" charset="0"/>
                <a:ea typeface="宋体" panose="02010600030101010101" pitchFamily="2" charset="-122"/>
                <a:cs typeface="+mn-cs"/>
              </a:rPr>
              <a:t>iomanip</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即在程序的开头增加：</a:t>
            </a:r>
          </a:p>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#include &lt;</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iomanip</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&gt;</a:t>
            </a:r>
            <a:endPar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2531" name="Text Box 3"/>
          <p:cNvSpPr txBox="1">
            <a:spLocks noChangeArrowheads="1"/>
          </p:cNvSpPr>
          <p:nvPr/>
        </p:nvSpPr>
        <p:spPr bwMode="auto">
          <a:xfrm>
            <a:off x="0" y="3200400"/>
            <a:ext cx="9144000" cy="120332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just" defTabSz="914400" rtl="0" eaLnBrk="1" fontAlgn="base" latinLnBrk="0" hangingPunct="1">
              <a:lnSpc>
                <a:spcPct val="13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、括号中必须给出一个表达式（值为正整数），它指明紧跟其后输出项的宽度。</a:t>
            </a:r>
            <a:endParaRPr kumimoji="1" lang="zh-CN" altLang="en-US" sz="28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2532" name="Text Box 4"/>
          <p:cNvSpPr txBox="1">
            <a:spLocks noChangeArrowheads="1"/>
          </p:cNvSpPr>
          <p:nvPr/>
        </p:nvSpPr>
        <p:spPr bwMode="auto">
          <a:xfrm>
            <a:off x="0" y="4953000"/>
            <a:ext cx="9144000" cy="120332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1"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该设置仅对其后的一个输出项有效</a:t>
            </a:r>
            <a:r>
              <a:rPr kumimoji="1"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。一旦按指定的宽度输出其后的输出项后，又回到原来的缺省输出方式。</a:t>
            </a:r>
          </a:p>
        </p:txBody>
      </p:sp>
      <p:sp>
        <p:nvSpPr>
          <p:cNvPr id="662533" name="Rectangle 5"/>
          <p:cNvSpPr>
            <a:spLocks noGrp="1" noChangeArrowheads="1"/>
          </p:cNvSpPr>
          <p:nvPr>
            <p:ph type="title" idx="4294967295"/>
          </p:nvPr>
        </p:nvSpPr>
        <p:spPr/>
        <p:txBody>
          <a:bodyPr/>
          <a:lstStyle/>
          <a:p>
            <a:r>
              <a:rPr lang="en-US" altLang="zh-CN"/>
              <a:t> </a:t>
            </a:r>
          </a:p>
        </p:txBody>
      </p:sp>
    </p:spTree>
    <p:extLst>
      <p:ext uri="{BB962C8B-B14F-4D97-AF65-F5344CB8AC3E}">
        <p14:creationId xmlns:p14="http://schemas.microsoft.com/office/powerpoint/2010/main" val="1185101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2531"/>
                                        </p:tgtEl>
                                        <p:attrNameLst>
                                          <p:attrName>style.visibility</p:attrName>
                                        </p:attrNameLst>
                                      </p:cBhvr>
                                      <p:to>
                                        <p:strVal val="visible"/>
                                      </p:to>
                                    </p:set>
                                    <p:animEffect transition="in" filter="blinds(horizontal)">
                                      <p:cBhvr>
                                        <p:cTn id="7" dur="500"/>
                                        <p:tgtEl>
                                          <p:spTgt spid="6625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62532"/>
                                        </p:tgtEl>
                                        <p:attrNameLst>
                                          <p:attrName>style.visibility</p:attrName>
                                        </p:attrNameLst>
                                      </p:cBhvr>
                                      <p:to>
                                        <p:strVal val="visible"/>
                                      </p:to>
                                    </p:set>
                                    <p:animEffect transition="in" filter="blinds(horizontal)">
                                      <p:cBhvr>
                                        <p:cTn id="12" dur="500"/>
                                        <p:tgtEl>
                                          <p:spTgt spid="66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1" grpId="0" autoUpdateAnimBg="0"/>
      <p:bldP spid="66253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cs typeface="Times New Roman" panose="02020603050405020304" pitchFamily="18" charset="0"/>
              </a:rPr>
              <a:t>§3.5</a:t>
            </a:r>
            <a:r>
              <a:rPr lang="en-US" altLang="zh-CN" dirty="0"/>
              <a:t> I/O</a:t>
            </a:r>
            <a:r>
              <a:rPr lang="zh-CN" altLang="en-US" dirty="0"/>
              <a:t>流格式控制</a:t>
            </a:r>
          </a:p>
        </p:txBody>
      </p:sp>
      <p:sp>
        <p:nvSpPr>
          <p:cNvPr id="145411" name="Rectangle 3"/>
          <p:cNvSpPr>
            <a:spLocks noGrp="1" noChangeArrowheads="1"/>
          </p:cNvSpPr>
          <p:nvPr>
            <p:ph type="body" idx="1"/>
          </p:nvPr>
        </p:nvSpPr>
        <p:spPr/>
        <p:txBody>
          <a:bodyPr/>
          <a:lstStyle/>
          <a:p>
            <a:pPr eaLnBrk="1" hangingPunct="1"/>
            <a:r>
              <a:rPr lang="en-US" altLang="zh-CN" sz="3200" dirty="0"/>
              <a:t> </a:t>
            </a:r>
            <a:r>
              <a:rPr lang="zh-CN" altLang="en-US" dirty="0"/>
              <a:t>将</a:t>
            </a:r>
            <a:r>
              <a:rPr lang="en-US" altLang="zh-CN" dirty="0"/>
              <a:t>I/O</a:t>
            </a:r>
            <a:r>
              <a:rPr lang="zh-CN" altLang="en-US" dirty="0"/>
              <a:t>流格式控制添加到</a:t>
            </a:r>
            <a:r>
              <a:rPr lang="en-US" altLang="zh-CN" dirty="0"/>
              <a:t>I/O</a:t>
            </a:r>
            <a:r>
              <a:rPr lang="zh-CN" altLang="en-US" dirty="0"/>
              <a:t>流语句中可以控制</a:t>
            </a:r>
            <a:r>
              <a:rPr lang="en-US" altLang="zh-CN" dirty="0"/>
              <a:t>I/O</a:t>
            </a:r>
            <a:r>
              <a:rPr lang="zh-CN" altLang="en-US" dirty="0"/>
              <a:t>的格式</a:t>
            </a:r>
          </a:p>
          <a:p>
            <a:pPr eaLnBrk="1" hangingPunct="1"/>
            <a:r>
              <a:rPr lang="zh-CN" altLang="en-US" dirty="0"/>
              <a:t> 应用</a:t>
            </a:r>
            <a:r>
              <a:rPr lang="en-US" altLang="zh-CN" dirty="0"/>
              <a:t>I/O</a:t>
            </a:r>
            <a:r>
              <a:rPr lang="zh-CN" altLang="en-US" dirty="0"/>
              <a:t>流格式控制需要包含头文件</a:t>
            </a:r>
            <a:br>
              <a:rPr lang="zh-CN" altLang="en-US" dirty="0"/>
            </a:br>
            <a:r>
              <a:rPr lang="zh-CN" altLang="en-US" dirty="0"/>
              <a:t>    </a:t>
            </a:r>
            <a:r>
              <a:rPr lang="en-US" altLang="zh-CN" dirty="0"/>
              <a:t>#</a:t>
            </a:r>
            <a:r>
              <a:rPr lang="en-US" altLang="zh-CN" dirty="0">
                <a:solidFill>
                  <a:srgbClr val="0000FF"/>
                </a:solidFill>
              </a:rPr>
              <a:t>include</a:t>
            </a:r>
            <a:r>
              <a:rPr lang="en-US" altLang="zh-CN" dirty="0"/>
              <a:t> &lt;</a:t>
            </a:r>
            <a:r>
              <a:rPr lang="en-US" altLang="zh-CN" dirty="0" err="1"/>
              <a:t>iomanip</a:t>
            </a:r>
            <a:r>
              <a:rPr lang="en-US" altLang="zh-CN" dirty="0"/>
              <a:t>&gt;</a:t>
            </a:r>
            <a:br>
              <a:rPr lang="en-US" altLang="zh-CN" dirty="0"/>
            </a:br>
            <a:r>
              <a:rPr lang="en-US" altLang="zh-CN" dirty="0"/>
              <a:t> (</a:t>
            </a:r>
            <a:r>
              <a:rPr lang="en-US" altLang="zh-CN" dirty="0">
                <a:solidFill>
                  <a:srgbClr val="0000FF"/>
                </a:solidFill>
              </a:rPr>
              <a:t>i</a:t>
            </a:r>
            <a:r>
              <a:rPr lang="en-US" altLang="zh-CN" dirty="0"/>
              <a:t>nput/</a:t>
            </a:r>
            <a:r>
              <a:rPr lang="en-US" altLang="zh-CN" dirty="0">
                <a:solidFill>
                  <a:srgbClr val="0000FF"/>
                </a:solidFill>
              </a:rPr>
              <a:t>o</a:t>
            </a:r>
            <a:r>
              <a:rPr lang="en-US" altLang="zh-CN" dirty="0"/>
              <a:t>utput </a:t>
            </a:r>
            <a:r>
              <a:rPr lang="en-US" altLang="zh-CN" dirty="0">
                <a:solidFill>
                  <a:srgbClr val="0000FF"/>
                </a:solidFill>
              </a:rPr>
              <a:t>manip</a:t>
            </a:r>
            <a:r>
              <a:rPr lang="en-US" altLang="zh-CN" dirty="0"/>
              <a:t>ulators)</a:t>
            </a:r>
          </a:p>
          <a:p>
            <a:pPr lvl="1" eaLnBrk="1" hangingPunct="1"/>
            <a:r>
              <a:rPr lang="zh-CN" altLang="en-US" sz="2800" dirty="0"/>
              <a:t>参见表</a:t>
            </a:r>
            <a:r>
              <a:rPr lang="en-US" altLang="zh-CN" sz="2800" dirty="0"/>
              <a:t>3-4(I/O</a:t>
            </a:r>
            <a:r>
              <a:rPr lang="zh-CN" altLang="en-US" sz="2800" dirty="0"/>
              <a:t>流格式控制标识符及其作用</a:t>
            </a:r>
            <a:r>
              <a:rPr lang="en-US" altLang="zh-CN" sz="2800" dirty="0"/>
              <a:t>)</a:t>
            </a:r>
          </a:p>
          <a:p>
            <a:pPr eaLnBrk="1" hangingPunct="1"/>
            <a:r>
              <a:rPr lang="zh-CN" altLang="en-US" sz="3200" dirty="0">
                <a:solidFill>
                  <a:schemeClr val="folHlink"/>
                </a:solidFill>
              </a:rPr>
              <a:t> </a:t>
            </a:r>
            <a:r>
              <a:rPr lang="zh-CN" altLang="en-US" dirty="0">
                <a:solidFill>
                  <a:schemeClr val="folHlink"/>
                </a:solidFill>
              </a:rPr>
              <a:t>常用的</a:t>
            </a:r>
          </a:p>
          <a:p>
            <a:pPr lvl="1" eaLnBrk="1" hangingPunct="1"/>
            <a:r>
              <a:rPr lang="zh-CN" altLang="en-US" dirty="0"/>
              <a:t> </a:t>
            </a:r>
            <a:r>
              <a:rPr lang="en-US" altLang="zh-CN" dirty="0">
                <a:solidFill>
                  <a:schemeClr val="tx2"/>
                </a:solidFill>
              </a:rPr>
              <a:t>left</a:t>
            </a:r>
            <a:r>
              <a:rPr lang="zh-CN" altLang="en-US" dirty="0">
                <a:solidFill>
                  <a:schemeClr val="tx2"/>
                </a:solidFill>
              </a:rPr>
              <a:t>，</a:t>
            </a:r>
            <a:r>
              <a:rPr lang="en-US" altLang="zh-CN" dirty="0">
                <a:solidFill>
                  <a:schemeClr val="tx2"/>
                </a:solidFill>
              </a:rPr>
              <a:t>right</a:t>
            </a:r>
          </a:p>
          <a:p>
            <a:pPr lvl="1" eaLnBrk="1" hangingPunct="1"/>
            <a:r>
              <a:rPr lang="en-US" altLang="zh-CN" dirty="0">
                <a:solidFill>
                  <a:schemeClr val="tx2"/>
                </a:solidFill>
              </a:rPr>
              <a:t> fixed</a:t>
            </a:r>
            <a:r>
              <a:rPr lang="zh-CN" altLang="en-US" dirty="0">
                <a:solidFill>
                  <a:schemeClr val="tx2"/>
                </a:solidFill>
              </a:rPr>
              <a:t>，</a:t>
            </a:r>
            <a:r>
              <a:rPr lang="en-US" altLang="zh-CN" dirty="0">
                <a:solidFill>
                  <a:schemeClr val="tx2"/>
                </a:solidFill>
              </a:rPr>
              <a:t>scientific</a:t>
            </a:r>
          </a:p>
          <a:p>
            <a:pPr lvl="1" eaLnBrk="1" hangingPunct="1"/>
            <a:r>
              <a:rPr lang="en-US" altLang="zh-CN" dirty="0">
                <a:solidFill>
                  <a:schemeClr val="tx2"/>
                </a:solidFill>
              </a:rPr>
              <a:t> </a:t>
            </a:r>
            <a:r>
              <a:rPr lang="en-US" altLang="zh-CN" dirty="0" err="1">
                <a:solidFill>
                  <a:schemeClr val="tx2"/>
                </a:solidFill>
              </a:rPr>
              <a:t>dec</a:t>
            </a:r>
            <a:r>
              <a:rPr lang="zh-CN" altLang="en-US" dirty="0">
                <a:solidFill>
                  <a:schemeClr val="tx2"/>
                </a:solidFill>
              </a:rPr>
              <a:t>，</a:t>
            </a:r>
            <a:r>
              <a:rPr lang="en-US" altLang="zh-CN" dirty="0">
                <a:solidFill>
                  <a:schemeClr val="tx2"/>
                </a:solidFill>
              </a:rPr>
              <a:t>oct</a:t>
            </a:r>
            <a:r>
              <a:rPr lang="zh-CN" altLang="en-US" dirty="0">
                <a:solidFill>
                  <a:schemeClr val="tx2"/>
                </a:solidFill>
              </a:rPr>
              <a:t>，</a:t>
            </a:r>
            <a:r>
              <a:rPr lang="en-US" altLang="zh-CN" dirty="0">
                <a:solidFill>
                  <a:schemeClr val="tx2"/>
                </a:solidFill>
              </a:rPr>
              <a:t>hex</a:t>
            </a:r>
          </a:p>
          <a:p>
            <a:pPr lvl="1" eaLnBrk="1" hangingPunct="1"/>
            <a:r>
              <a:rPr lang="en-US" altLang="zh-CN" dirty="0">
                <a:solidFill>
                  <a:schemeClr val="tx2"/>
                </a:solidFill>
              </a:rPr>
              <a:t> </a:t>
            </a:r>
            <a:r>
              <a:rPr lang="en-US" altLang="zh-CN" dirty="0" err="1">
                <a:solidFill>
                  <a:schemeClr val="tx2"/>
                </a:solidFill>
              </a:rPr>
              <a:t>setprecision</a:t>
            </a:r>
            <a:r>
              <a:rPr lang="en-US" altLang="zh-CN" dirty="0">
                <a:solidFill>
                  <a:schemeClr val="tx2"/>
                </a:solidFill>
              </a:rPr>
              <a:t>()</a:t>
            </a:r>
            <a:r>
              <a:rPr lang="zh-CN" altLang="en-US" dirty="0">
                <a:solidFill>
                  <a:schemeClr val="tx2"/>
                </a:solidFill>
              </a:rPr>
              <a:t>，</a:t>
            </a:r>
            <a:r>
              <a:rPr lang="en-US" altLang="zh-CN" dirty="0" err="1">
                <a:solidFill>
                  <a:schemeClr val="tx2"/>
                </a:solidFill>
              </a:rPr>
              <a:t>setfill</a:t>
            </a:r>
            <a:r>
              <a:rPr lang="en-US" altLang="zh-CN" dirty="0">
                <a:solidFill>
                  <a:schemeClr val="tx2"/>
                </a:solidFill>
              </a:rPr>
              <a:t>()</a:t>
            </a:r>
            <a:r>
              <a:rPr lang="zh-CN" altLang="en-US" dirty="0">
                <a:solidFill>
                  <a:schemeClr val="tx2"/>
                </a:solidFill>
              </a:rPr>
              <a:t>，</a:t>
            </a:r>
            <a:r>
              <a:rPr lang="en-US" altLang="zh-CN" dirty="0" err="1">
                <a:solidFill>
                  <a:schemeClr val="tx2"/>
                </a:solidFill>
              </a:rPr>
              <a:t>setw</a:t>
            </a:r>
            <a:r>
              <a:rPr lang="en-US" altLang="zh-CN" dirty="0">
                <a:solidFill>
                  <a:schemeClr val="tx2"/>
                </a:solidFill>
              </a:rPr>
              <a:t>()</a:t>
            </a:r>
          </a:p>
        </p:txBody>
      </p:sp>
    </p:spTree>
    <p:extLst>
      <p:ext uri="{BB962C8B-B14F-4D97-AF65-F5344CB8AC3E}">
        <p14:creationId xmlns:p14="http://schemas.microsoft.com/office/powerpoint/2010/main" val="405693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5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541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541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541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541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5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3C78D-4098-4E79-8CD5-E75311C66820}"/>
              </a:ext>
            </a:extLst>
          </p:cNvPr>
          <p:cNvSpPr>
            <a:spLocks noGrp="1"/>
          </p:cNvSpPr>
          <p:nvPr>
            <p:ph type="title"/>
          </p:nvPr>
        </p:nvSpPr>
        <p:spPr/>
        <p:txBody>
          <a:bodyPr/>
          <a:lstStyle/>
          <a:p>
            <a:r>
              <a:rPr lang="en-US" altLang="zh-CN" dirty="0"/>
              <a:t>C++</a:t>
            </a:r>
            <a:r>
              <a:rPr lang="zh-CN" altLang="en-US" dirty="0"/>
              <a:t>运算符函数</a:t>
            </a:r>
          </a:p>
        </p:txBody>
      </p:sp>
      <p:sp>
        <p:nvSpPr>
          <p:cNvPr id="3" name="内容占位符 2">
            <a:extLst>
              <a:ext uri="{FF2B5EF4-FFF2-40B4-BE49-F238E27FC236}">
                <a16:creationId xmlns:a16="http://schemas.microsoft.com/office/drawing/2014/main" id="{98476F33-549A-4EAB-B9F3-894AEB236D42}"/>
              </a:ext>
            </a:extLst>
          </p:cNvPr>
          <p:cNvSpPr>
            <a:spLocks noGrp="1"/>
          </p:cNvSpPr>
          <p:nvPr>
            <p:ph idx="1"/>
          </p:nvPr>
        </p:nvSpPr>
        <p:spPr/>
        <p:txBody>
          <a:bodyPr/>
          <a:lstStyle/>
          <a:p>
            <a:r>
              <a:rPr lang="zh-CN" altLang="en-US" dirty="0"/>
              <a:t>要执行 </a:t>
            </a:r>
            <a:r>
              <a:rPr lang="en-US" altLang="zh-CN" dirty="0" err="1"/>
              <a:t>cout</a:t>
            </a:r>
            <a:r>
              <a:rPr lang="en-US" altLang="zh-CN" dirty="0"/>
              <a:t> &lt;&lt; c</a:t>
            </a:r>
            <a:r>
              <a:rPr lang="zh-CN" altLang="en-US" dirty="0"/>
              <a:t>，需要一个特殊的函数</a:t>
            </a:r>
            <a:r>
              <a:rPr lang="en-US" altLang="zh-CN" dirty="0"/>
              <a:t/>
            </a:r>
            <a:br>
              <a:rPr lang="en-US" altLang="zh-CN" dirty="0"/>
            </a:br>
            <a:r>
              <a:rPr lang="en-US" altLang="zh-CN" dirty="0"/>
              <a:t>     ———— </a:t>
            </a:r>
            <a:r>
              <a:rPr lang="zh-CN" altLang="en-US" dirty="0"/>
              <a:t>输出复数运算符函数</a:t>
            </a:r>
            <a:endParaRPr lang="en-US" altLang="zh-CN" dirty="0"/>
          </a:p>
          <a:p>
            <a:pPr lvl="1"/>
            <a:r>
              <a:rPr lang="zh-CN" altLang="en-US" dirty="0">
                <a:solidFill>
                  <a:schemeClr val="tx2"/>
                </a:solidFill>
              </a:rPr>
              <a:t>函</a:t>
            </a:r>
            <a:r>
              <a:rPr lang="zh-CN" altLang="en-US" sz="2000" dirty="0">
                <a:solidFill>
                  <a:schemeClr val="tx2"/>
                </a:solidFill>
              </a:rPr>
              <a:t> </a:t>
            </a:r>
            <a:r>
              <a:rPr lang="zh-CN" altLang="en-US" dirty="0">
                <a:solidFill>
                  <a:schemeClr val="tx2"/>
                </a:solidFill>
              </a:rPr>
              <a:t>数</a:t>
            </a:r>
            <a:r>
              <a:rPr lang="zh-CN" altLang="en-US" sz="2000" dirty="0">
                <a:solidFill>
                  <a:schemeClr val="tx2"/>
                </a:solidFill>
              </a:rPr>
              <a:t> </a:t>
            </a:r>
            <a:r>
              <a:rPr lang="zh-CN" altLang="en-US" dirty="0">
                <a:solidFill>
                  <a:schemeClr val="tx2"/>
                </a:solidFill>
              </a:rPr>
              <a:t>名： </a:t>
            </a:r>
            <a:r>
              <a:rPr lang="en-US" altLang="zh-CN" dirty="0">
                <a:solidFill>
                  <a:srgbClr val="0000FF"/>
                </a:solidFill>
              </a:rPr>
              <a:t>operator</a:t>
            </a:r>
            <a:r>
              <a:rPr lang="en-US" altLang="zh-CN" dirty="0">
                <a:solidFill>
                  <a:schemeClr val="tx2"/>
                </a:solidFill>
              </a:rPr>
              <a:t>&lt;&lt;</a:t>
            </a:r>
          </a:p>
          <a:p>
            <a:pPr lvl="1"/>
            <a:r>
              <a:rPr lang="zh-CN" altLang="en-US" dirty="0">
                <a:solidFill>
                  <a:schemeClr val="tx2"/>
                </a:solidFill>
              </a:rPr>
              <a:t>形式参数： 个数（</a:t>
            </a:r>
            <a:r>
              <a:rPr lang="en-US" altLang="zh-CN" dirty="0">
                <a:solidFill>
                  <a:schemeClr val="tx2"/>
                </a:solidFill>
              </a:rPr>
              <a:t>2</a:t>
            </a:r>
            <a:r>
              <a:rPr lang="zh-CN" altLang="en-US" dirty="0">
                <a:solidFill>
                  <a:schemeClr val="tx2"/>
                </a:solidFill>
              </a:rPr>
              <a:t>个，因为双目运算）</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第</a:t>
            </a:r>
            <a:r>
              <a:rPr lang="en-US" altLang="zh-CN" dirty="0">
                <a:solidFill>
                  <a:schemeClr val="tx2"/>
                </a:solidFill>
              </a:rPr>
              <a:t>1</a:t>
            </a:r>
            <a:r>
              <a:rPr lang="zh-CN" altLang="en-US" dirty="0">
                <a:solidFill>
                  <a:schemeClr val="tx2"/>
                </a:solidFill>
              </a:rPr>
              <a:t>个参数（</a:t>
            </a:r>
            <a:r>
              <a:rPr lang="en-US" altLang="zh-CN" dirty="0">
                <a:solidFill>
                  <a:srgbClr val="FF0000"/>
                </a:solidFill>
                <a:highlight>
                  <a:srgbClr val="FFFF00"/>
                </a:highlight>
              </a:rPr>
              <a:t>in/out</a:t>
            </a:r>
            <a:r>
              <a:rPr lang="zh-CN" altLang="en-US" dirty="0">
                <a:solidFill>
                  <a:schemeClr val="tx2"/>
                </a:solidFill>
              </a:rPr>
              <a:t>输出设备，引用型）</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第</a:t>
            </a:r>
            <a:r>
              <a:rPr lang="en-US" altLang="zh-CN" dirty="0">
                <a:solidFill>
                  <a:schemeClr val="tx2"/>
                </a:solidFill>
              </a:rPr>
              <a:t>2</a:t>
            </a:r>
            <a:r>
              <a:rPr lang="zh-CN" altLang="en-US" dirty="0">
                <a:solidFill>
                  <a:schemeClr val="tx2"/>
                </a:solidFill>
              </a:rPr>
              <a:t>个参数（</a:t>
            </a:r>
            <a:r>
              <a:rPr lang="en-US" altLang="zh-CN" dirty="0">
                <a:solidFill>
                  <a:srgbClr val="FF0000"/>
                </a:solidFill>
                <a:highlight>
                  <a:srgbClr val="FFFF00"/>
                </a:highlight>
              </a:rPr>
              <a:t>in</a:t>
            </a:r>
            <a:r>
              <a:rPr lang="zh-CN" altLang="en-US" dirty="0">
                <a:solidFill>
                  <a:schemeClr val="tx2"/>
                </a:solidFill>
              </a:rPr>
              <a:t>复数，</a:t>
            </a:r>
            <a:r>
              <a:rPr lang="zh-CN" altLang="en-US" dirty="0">
                <a:solidFill>
                  <a:srgbClr val="0000FF"/>
                </a:solidFill>
              </a:rPr>
              <a:t>常引用传递</a:t>
            </a:r>
            <a:r>
              <a:rPr lang="zh-CN" altLang="en-US" dirty="0">
                <a:solidFill>
                  <a:schemeClr val="tx2"/>
                </a:solidFill>
              </a:rPr>
              <a:t>）</a:t>
            </a:r>
            <a:endParaRPr lang="en-US" altLang="zh-CN" dirty="0">
              <a:solidFill>
                <a:schemeClr val="tx2"/>
              </a:solidFill>
            </a:endParaRPr>
          </a:p>
          <a:p>
            <a:pPr lvl="1"/>
            <a:r>
              <a:rPr lang="zh-CN" altLang="en-US" dirty="0">
                <a:solidFill>
                  <a:schemeClr val="tx2"/>
                </a:solidFill>
              </a:rPr>
              <a:t>返回类型： 引用返回（输出设备，使之连续输出）</a:t>
            </a:r>
            <a:r>
              <a:rPr lang="en-US" altLang="zh-CN" dirty="0">
                <a:solidFill>
                  <a:schemeClr val="tx2"/>
                </a:solidFill>
              </a:rPr>
              <a:t/>
            </a:r>
            <a:br>
              <a:rPr lang="en-US" altLang="zh-CN" dirty="0">
                <a:solidFill>
                  <a:schemeClr val="tx2"/>
                </a:solidFill>
              </a:rPr>
            </a:br>
            <a:endParaRPr lang="en-US" altLang="zh-CN" dirty="0">
              <a:solidFill>
                <a:schemeClr val="tx2"/>
              </a:solidFill>
            </a:endParaRPr>
          </a:p>
          <a:p>
            <a:pPr lvl="1"/>
            <a:r>
              <a:rPr lang="en-US" altLang="zh-CN" dirty="0" err="1">
                <a:solidFill>
                  <a:schemeClr val="tx2"/>
                </a:solidFill>
              </a:rPr>
              <a:t>ostream</a:t>
            </a:r>
            <a:r>
              <a:rPr lang="en-US" altLang="zh-CN" dirty="0">
                <a:solidFill>
                  <a:schemeClr val="tx2"/>
                </a:solidFill>
              </a:rPr>
              <a:t> &amp; </a:t>
            </a:r>
            <a:r>
              <a:rPr lang="en-US" altLang="zh-CN" dirty="0">
                <a:solidFill>
                  <a:srgbClr val="0000FF"/>
                </a:solidFill>
              </a:rPr>
              <a:t>operator</a:t>
            </a:r>
            <a:r>
              <a:rPr lang="en-US" altLang="zh-CN" dirty="0">
                <a:solidFill>
                  <a:schemeClr val="tx2"/>
                </a:solidFill>
              </a:rPr>
              <a:t>&lt;&lt;(</a:t>
            </a:r>
            <a:r>
              <a:rPr lang="en-US" altLang="zh-CN" dirty="0" err="1">
                <a:solidFill>
                  <a:schemeClr val="tx2"/>
                </a:solidFill>
              </a:rPr>
              <a:t>ostream</a:t>
            </a:r>
            <a:r>
              <a:rPr lang="en-US" altLang="zh-CN" dirty="0">
                <a:solidFill>
                  <a:schemeClr val="tx2"/>
                </a:solidFill>
              </a:rPr>
              <a:t> &amp;out,</a:t>
            </a:r>
            <a:br>
              <a:rPr lang="en-US" altLang="zh-CN" dirty="0">
                <a:solidFill>
                  <a:schemeClr val="tx2"/>
                </a:solidFill>
              </a:rPr>
            </a:br>
            <a:r>
              <a:rPr lang="en-US" altLang="zh-CN" dirty="0">
                <a:solidFill>
                  <a:schemeClr val="tx2"/>
                </a:solidFill>
              </a:rPr>
              <a:t>                     </a:t>
            </a:r>
            <a:r>
              <a:rPr lang="en-US" altLang="zh-CN" dirty="0">
                <a:solidFill>
                  <a:srgbClr val="0000FF"/>
                </a:solidFill>
              </a:rPr>
              <a:t>const</a:t>
            </a:r>
            <a:r>
              <a:rPr lang="en-US" altLang="zh-CN" dirty="0">
                <a:solidFill>
                  <a:schemeClr val="tx2"/>
                </a:solidFill>
              </a:rPr>
              <a:t> Complex &amp;c);</a:t>
            </a:r>
            <a:br>
              <a:rPr lang="en-US" altLang="zh-CN" dirty="0">
                <a:solidFill>
                  <a:schemeClr val="tx2"/>
                </a:solidFill>
              </a:rPr>
            </a:br>
            <a:r>
              <a:rPr lang="en-US" altLang="zh-CN" dirty="0">
                <a:solidFill>
                  <a:schemeClr val="tx2"/>
                </a:solidFill>
              </a:rPr>
              <a:t>		   </a:t>
            </a:r>
          </a:p>
        </p:txBody>
      </p:sp>
    </p:spTree>
    <p:extLst>
      <p:ext uri="{BB962C8B-B14F-4D97-AF65-F5344CB8AC3E}">
        <p14:creationId xmlns:p14="http://schemas.microsoft.com/office/powerpoint/2010/main" val="145509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3C78D-4098-4E79-8CD5-E75311C66820}"/>
              </a:ext>
            </a:extLst>
          </p:cNvPr>
          <p:cNvSpPr>
            <a:spLocks noGrp="1"/>
          </p:cNvSpPr>
          <p:nvPr>
            <p:ph type="title"/>
          </p:nvPr>
        </p:nvSpPr>
        <p:spPr/>
        <p:txBody>
          <a:bodyPr/>
          <a:lstStyle/>
          <a:p>
            <a:r>
              <a:rPr lang="en-US" altLang="zh-CN" dirty="0"/>
              <a:t>C++</a:t>
            </a:r>
            <a:r>
              <a:rPr lang="zh-CN" altLang="en-US" dirty="0"/>
              <a:t>运算符函数</a:t>
            </a:r>
          </a:p>
        </p:txBody>
      </p:sp>
      <p:sp>
        <p:nvSpPr>
          <p:cNvPr id="3" name="内容占位符 2">
            <a:extLst>
              <a:ext uri="{FF2B5EF4-FFF2-40B4-BE49-F238E27FC236}">
                <a16:creationId xmlns:a16="http://schemas.microsoft.com/office/drawing/2014/main" id="{98476F33-549A-4EAB-B9F3-894AEB236D42}"/>
              </a:ext>
            </a:extLst>
          </p:cNvPr>
          <p:cNvSpPr>
            <a:spLocks noGrp="1"/>
          </p:cNvSpPr>
          <p:nvPr>
            <p:ph idx="1"/>
          </p:nvPr>
        </p:nvSpPr>
        <p:spPr/>
        <p:txBody>
          <a:bodyPr/>
          <a:lstStyle/>
          <a:p>
            <a:r>
              <a:rPr lang="zh-CN" altLang="en-US" dirty="0"/>
              <a:t>要执行 </a:t>
            </a:r>
            <a:r>
              <a:rPr lang="en-US" altLang="zh-CN" dirty="0" err="1"/>
              <a:t>cin</a:t>
            </a:r>
            <a:r>
              <a:rPr lang="en-US" altLang="zh-CN" dirty="0"/>
              <a:t> &gt;&gt; c</a:t>
            </a:r>
            <a:r>
              <a:rPr lang="zh-CN" altLang="en-US" dirty="0"/>
              <a:t>，需要一个特殊的函数</a:t>
            </a:r>
            <a:r>
              <a:rPr lang="en-US" altLang="zh-CN" dirty="0"/>
              <a:t/>
            </a:r>
            <a:br>
              <a:rPr lang="en-US" altLang="zh-CN" dirty="0"/>
            </a:br>
            <a:r>
              <a:rPr lang="en-US" altLang="zh-CN" dirty="0"/>
              <a:t>     ———— </a:t>
            </a:r>
            <a:r>
              <a:rPr lang="zh-CN" altLang="en-US" dirty="0" smtClean="0"/>
              <a:t>输入复数</a:t>
            </a:r>
            <a:r>
              <a:rPr lang="zh-CN" altLang="en-US" dirty="0"/>
              <a:t>运算符函数</a:t>
            </a:r>
            <a:endParaRPr lang="en-US" altLang="zh-CN" dirty="0"/>
          </a:p>
          <a:p>
            <a:pPr lvl="1"/>
            <a:r>
              <a:rPr lang="zh-CN" altLang="en-US" dirty="0">
                <a:solidFill>
                  <a:schemeClr val="tx2"/>
                </a:solidFill>
              </a:rPr>
              <a:t>函</a:t>
            </a:r>
            <a:r>
              <a:rPr lang="zh-CN" altLang="en-US" sz="2000" dirty="0">
                <a:solidFill>
                  <a:schemeClr val="tx2"/>
                </a:solidFill>
              </a:rPr>
              <a:t> </a:t>
            </a:r>
            <a:r>
              <a:rPr lang="zh-CN" altLang="en-US" dirty="0">
                <a:solidFill>
                  <a:schemeClr val="tx2"/>
                </a:solidFill>
              </a:rPr>
              <a:t>数</a:t>
            </a:r>
            <a:r>
              <a:rPr lang="zh-CN" altLang="en-US" sz="2000" dirty="0">
                <a:solidFill>
                  <a:schemeClr val="tx2"/>
                </a:solidFill>
              </a:rPr>
              <a:t> </a:t>
            </a:r>
            <a:r>
              <a:rPr lang="zh-CN" altLang="en-US" dirty="0">
                <a:solidFill>
                  <a:schemeClr val="tx2"/>
                </a:solidFill>
              </a:rPr>
              <a:t>名： </a:t>
            </a:r>
            <a:r>
              <a:rPr lang="en-US" altLang="zh-CN" dirty="0">
                <a:solidFill>
                  <a:srgbClr val="0000FF"/>
                </a:solidFill>
              </a:rPr>
              <a:t>operator</a:t>
            </a:r>
            <a:r>
              <a:rPr lang="en-US" altLang="zh-CN" dirty="0">
                <a:solidFill>
                  <a:schemeClr val="tx2"/>
                </a:solidFill>
              </a:rPr>
              <a:t>&gt;&gt;</a:t>
            </a:r>
          </a:p>
          <a:p>
            <a:pPr lvl="1"/>
            <a:r>
              <a:rPr lang="zh-CN" altLang="en-US" dirty="0">
                <a:solidFill>
                  <a:schemeClr val="tx2"/>
                </a:solidFill>
              </a:rPr>
              <a:t>形式参数： 个数（</a:t>
            </a:r>
            <a:r>
              <a:rPr lang="en-US" altLang="zh-CN" dirty="0">
                <a:solidFill>
                  <a:schemeClr val="tx2"/>
                </a:solidFill>
              </a:rPr>
              <a:t>2</a:t>
            </a:r>
            <a:r>
              <a:rPr lang="zh-CN" altLang="en-US" dirty="0">
                <a:solidFill>
                  <a:schemeClr val="tx2"/>
                </a:solidFill>
              </a:rPr>
              <a:t>个，因为双目运算）</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第</a:t>
            </a:r>
            <a:r>
              <a:rPr lang="en-US" altLang="zh-CN" dirty="0">
                <a:solidFill>
                  <a:schemeClr val="tx2"/>
                </a:solidFill>
              </a:rPr>
              <a:t>1</a:t>
            </a:r>
            <a:r>
              <a:rPr lang="zh-CN" altLang="en-US" dirty="0">
                <a:solidFill>
                  <a:schemeClr val="tx2"/>
                </a:solidFill>
              </a:rPr>
              <a:t>个参数（</a:t>
            </a:r>
            <a:r>
              <a:rPr lang="en-US" altLang="zh-CN" dirty="0">
                <a:solidFill>
                  <a:srgbClr val="FF0000"/>
                </a:solidFill>
                <a:highlight>
                  <a:srgbClr val="FFFF00"/>
                </a:highlight>
              </a:rPr>
              <a:t>in/out</a:t>
            </a:r>
            <a:r>
              <a:rPr lang="zh-CN" altLang="en-US" dirty="0">
                <a:solidFill>
                  <a:schemeClr val="tx2"/>
                </a:solidFill>
              </a:rPr>
              <a:t>输入设备，引用型）</a:t>
            </a:r>
            <a:r>
              <a:rPr lang="en-US" altLang="zh-CN" dirty="0">
                <a:solidFill>
                  <a:schemeClr val="tx2"/>
                </a:solidFill>
              </a:rPr>
              <a:t/>
            </a:r>
            <a:br>
              <a:rPr lang="en-US" altLang="zh-CN" dirty="0">
                <a:solidFill>
                  <a:schemeClr val="tx2"/>
                </a:solidFill>
              </a:rPr>
            </a:br>
            <a:r>
              <a:rPr lang="en-US" altLang="zh-CN" dirty="0">
                <a:solidFill>
                  <a:schemeClr val="tx2"/>
                </a:solidFill>
              </a:rPr>
              <a:t>         </a:t>
            </a:r>
            <a:r>
              <a:rPr lang="zh-CN" altLang="en-US" dirty="0">
                <a:solidFill>
                  <a:schemeClr val="tx2"/>
                </a:solidFill>
              </a:rPr>
              <a:t>第</a:t>
            </a:r>
            <a:r>
              <a:rPr lang="en-US" altLang="zh-CN" dirty="0">
                <a:solidFill>
                  <a:schemeClr val="tx2"/>
                </a:solidFill>
              </a:rPr>
              <a:t>2</a:t>
            </a:r>
            <a:r>
              <a:rPr lang="zh-CN" altLang="en-US" dirty="0">
                <a:solidFill>
                  <a:schemeClr val="tx2"/>
                </a:solidFill>
              </a:rPr>
              <a:t>个参数（</a:t>
            </a:r>
            <a:r>
              <a:rPr lang="en-US" altLang="zh-CN" dirty="0">
                <a:solidFill>
                  <a:srgbClr val="FF0000"/>
                </a:solidFill>
                <a:highlight>
                  <a:srgbClr val="FFFF00"/>
                </a:highlight>
              </a:rPr>
              <a:t>in/out</a:t>
            </a:r>
            <a:r>
              <a:rPr lang="zh-CN" altLang="en-US" dirty="0">
                <a:solidFill>
                  <a:schemeClr val="tx2"/>
                </a:solidFill>
              </a:rPr>
              <a:t>复数引用）</a:t>
            </a:r>
            <a:endParaRPr lang="en-US" altLang="zh-CN" dirty="0">
              <a:solidFill>
                <a:schemeClr val="tx2"/>
              </a:solidFill>
            </a:endParaRPr>
          </a:p>
          <a:p>
            <a:pPr lvl="1"/>
            <a:r>
              <a:rPr lang="zh-CN" altLang="en-US" dirty="0">
                <a:solidFill>
                  <a:schemeClr val="tx2"/>
                </a:solidFill>
              </a:rPr>
              <a:t>返回类型： 引用返回（输入设备，使之</a:t>
            </a:r>
            <a:r>
              <a:rPr lang="zh-CN" altLang="en-US">
                <a:solidFill>
                  <a:schemeClr val="tx2"/>
                </a:solidFill>
              </a:rPr>
              <a:t>连续</a:t>
            </a:r>
            <a:r>
              <a:rPr lang="zh-CN" altLang="en-US" smtClean="0">
                <a:solidFill>
                  <a:schemeClr val="tx2"/>
                </a:solidFill>
              </a:rPr>
              <a:t>输入）</a:t>
            </a:r>
            <a:r>
              <a:rPr lang="en-US" altLang="zh-CN" dirty="0">
                <a:solidFill>
                  <a:schemeClr val="tx2"/>
                </a:solidFill>
              </a:rPr>
              <a:t/>
            </a:r>
            <a:br>
              <a:rPr lang="en-US" altLang="zh-CN" dirty="0">
                <a:solidFill>
                  <a:schemeClr val="tx2"/>
                </a:solidFill>
              </a:rPr>
            </a:br>
            <a:endParaRPr lang="en-US" altLang="zh-CN" dirty="0">
              <a:solidFill>
                <a:schemeClr val="tx2"/>
              </a:solidFill>
            </a:endParaRPr>
          </a:p>
          <a:p>
            <a:pPr lvl="1"/>
            <a:r>
              <a:rPr lang="en-US" altLang="zh-CN" dirty="0" err="1">
                <a:solidFill>
                  <a:schemeClr val="tx2"/>
                </a:solidFill>
              </a:rPr>
              <a:t>istream</a:t>
            </a:r>
            <a:r>
              <a:rPr lang="en-US" altLang="zh-CN" dirty="0">
                <a:solidFill>
                  <a:schemeClr val="tx2"/>
                </a:solidFill>
              </a:rPr>
              <a:t> &amp; </a:t>
            </a:r>
            <a:r>
              <a:rPr lang="en-US" altLang="zh-CN" dirty="0">
                <a:solidFill>
                  <a:srgbClr val="0000FF"/>
                </a:solidFill>
              </a:rPr>
              <a:t>operator</a:t>
            </a:r>
            <a:r>
              <a:rPr lang="en-US" altLang="zh-CN" dirty="0">
                <a:solidFill>
                  <a:schemeClr val="tx2"/>
                </a:solidFill>
              </a:rPr>
              <a:t>&gt;&gt;(</a:t>
            </a:r>
            <a:r>
              <a:rPr lang="en-US" altLang="zh-CN" dirty="0" err="1">
                <a:solidFill>
                  <a:schemeClr val="tx2"/>
                </a:solidFill>
              </a:rPr>
              <a:t>istream</a:t>
            </a:r>
            <a:r>
              <a:rPr lang="en-US" altLang="zh-CN" dirty="0">
                <a:solidFill>
                  <a:schemeClr val="tx2"/>
                </a:solidFill>
              </a:rPr>
              <a:t> &amp;in,</a:t>
            </a:r>
            <a:br>
              <a:rPr lang="en-US" altLang="zh-CN" dirty="0">
                <a:solidFill>
                  <a:schemeClr val="tx2"/>
                </a:solidFill>
              </a:rPr>
            </a:br>
            <a:r>
              <a:rPr lang="en-US" altLang="zh-CN" dirty="0">
                <a:solidFill>
                  <a:schemeClr val="tx2"/>
                </a:solidFill>
              </a:rPr>
              <a:t>                     Complex &amp;c);</a:t>
            </a:r>
            <a:br>
              <a:rPr lang="en-US" altLang="zh-CN" dirty="0">
                <a:solidFill>
                  <a:schemeClr val="tx2"/>
                </a:solidFill>
              </a:rPr>
            </a:br>
            <a:r>
              <a:rPr lang="en-US" altLang="zh-CN" dirty="0">
                <a:solidFill>
                  <a:schemeClr val="tx2"/>
                </a:solidFill>
              </a:rPr>
              <a:t>		   </a:t>
            </a:r>
          </a:p>
        </p:txBody>
      </p:sp>
    </p:spTree>
    <p:extLst>
      <p:ext uri="{BB962C8B-B14F-4D97-AF65-F5344CB8AC3E}">
        <p14:creationId xmlns:p14="http://schemas.microsoft.com/office/powerpoint/2010/main" val="298392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76200" y="88900"/>
            <a:ext cx="8991600" cy="66675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ostream</a:t>
            </a:r>
            <a:r>
              <a:rPr lang="en-US" altLang="zh-CN" sz="2400" b="1" dirty="0">
                <a:solidFill>
                  <a:srgbClr val="000000"/>
                </a:solidFill>
                <a:latin typeface="Courier New" pitchFamily="49" charset="0"/>
              </a:rPr>
              <a:t> &amp; </a:t>
            </a:r>
            <a:r>
              <a:rPr lang="en-US" altLang="zh-CN" sz="2400" b="1" dirty="0">
                <a:solidFill>
                  <a:srgbClr val="0000FF"/>
                </a:solidFill>
                <a:latin typeface="Courier New" pitchFamily="49" charset="0"/>
              </a:rPr>
              <a:t>operator</a:t>
            </a:r>
            <a:r>
              <a:rPr lang="en-US" altLang="zh-CN" sz="2400" b="1" dirty="0">
                <a:solidFill>
                  <a:srgbClr val="000000"/>
                </a:solidFill>
                <a:latin typeface="Courier New" pitchFamily="49" charset="0"/>
              </a:rPr>
              <a:t>&lt;&lt;(</a:t>
            </a:r>
            <a:r>
              <a:rPr lang="en-US" altLang="zh-CN" sz="2400" b="1" dirty="0" err="1">
                <a:solidFill>
                  <a:srgbClr val="000000"/>
                </a:solidFill>
                <a:latin typeface="Courier New" pitchFamily="49" charset="0"/>
              </a:rPr>
              <a:t>ostream</a:t>
            </a:r>
            <a:r>
              <a:rPr lang="en-US" altLang="zh-CN" sz="2400" b="1" dirty="0">
                <a:solidFill>
                  <a:srgbClr val="000000"/>
                </a:solidFill>
                <a:latin typeface="Courier New" pitchFamily="49" charset="0"/>
              </a:rPr>
              <a:t> &amp;out,</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const</a:t>
            </a:r>
            <a:r>
              <a:rPr lang="en-US" altLang="zh-CN" sz="2400" b="1" dirty="0">
                <a:solidFill>
                  <a:srgbClr val="000000"/>
                </a:solidFill>
                <a:latin typeface="Courier New" pitchFamily="49" charset="0"/>
              </a:rPr>
              <a:t> Complex &amp;c)</a:t>
            </a:r>
          </a:p>
          <a:p>
            <a:pPr>
              <a:lnSpc>
                <a:spcPct val="90000"/>
              </a:lnSpc>
            </a:pPr>
            <a:r>
              <a:rPr lang="en-US" altLang="zh-CN" sz="2400" b="1" dirty="0">
                <a:solidFill>
                  <a:srgbClr val="000000"/>
                </a:solidFill>
                <a:latin typeface="Courier New" pitchFamily="49" charset="0"/>
              </a:rPr>
              <a:t> {</a:t>
            </a:r>
          </a:p>
          <a:p>
            <a:pPr>
              <a:lnSpc>
                <a:spcPct val="90000"/>
              </a:lnSpc>
            </a:pPr>
            <a:r>
              <a:rPr lang="en-US" altLang="zh-CN" sz="2400" b="1" dirty="0">
                <a:solidFill>
                  <a:srgbClr val="000000"/>
                </a:solidFill>
                <a:latin typeface="Courier New" pitchFamily="49" charset="0"/>
              </a:rPr>
              <a:t>     out &lt;&lt; '(' &lt;&lt; c.re &lt;&lt; ", " &lt;&lt; c.im &lt;&lt; ')’;</a:t>
            </a:r>
          </a:p>
          <a:p>
            <a:pPr>
              <a:lnSpc>
                <a:spcPct val="90000"/>
              </a:lnSpc>
            </a:pP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输出基本数据类型的值</a:t>
            </a:r>
            <a:endParaRPr lang="en-US" altLang="zh-CN" sz="2400" b="1" dirty="0">
              <a:solidFill>
                <a:srgbClr val="000000"/>
              </a:solidFill>
              <a:latin typeface="Courier New" pitchFamily="49" charset="0"/>
            </a:endParaRPr>
          </a:p>
          <a:p>
            <a:pPr>
              <a:spcBef>
                <a:spcPct val="3000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out;</a:t>
            </a:r>
          </a:p>
          <a:p>
            <a:pPr>
              <a:spcBef>
                <a:spcPct val="30000"/>
              </a:spcBef>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a:p>
            <a:pPr>
              <a:spcBef>
                <a:spcPts val="120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istream</a:t>
            </a:r>
            <a:r>
              <a:rPr lang="en-US" altLang="zh-CN" sz="2400" b="1" dirty="0">
                <a:solidFill>
                  <a:srgbClr val="000000"/>
                </a:solidFill>
                <a:latin typeface="Courier New" pitchFamily="49" charset="0"/>
              </a:rPr>
              <a:t> &amp; </a:t>
            </a:r>
            <a:r>
              <a:rPr lang="en-US" altLang="zh-CN" sz="2400" b="1" dirty="0">
                <a:solidFill>
                  <a:srgbClr val="0000FF"/>
                </a:solidFill>
                <a:latin typeface="Courier New" pitchFamily="49" charset="0"/>
              </a:rPr>
              <a:t>operator</a:t>
            </a:r>
            <a:r>
              <a:rPr lang="en-US" altLang="zh-CN" sz="2400" b="1" dirty="0">
                <a:solidFill>
                  <a:srgbClr val="000000"/>
                </a:solidFill>
                <a:latin typeface="Courier New" pitchFamily="49" charset="0"/>
              </a:rPr>
              <a:t>&gt;&gt;(</a:t>
            </a:r>
            <a:r>
              <a:rPr lang="en-US" altLang="zh-CN" sz="2400" b="1" dirty="0" err="1">
                <a:solidFill>
                  <a:srgbClr val="000000"/>
                </a:solidFill>
                <a:latin typeface="Courier New" pitchFamily="49" charset="0"/>
              </a:rPr>
              <a:t>istream</a:t>
            </a:r>
            <a:r>
              <a:rPr lang="en-US" altLang="zh-CN" sz="2400" b="1" dirty="0">
                <a:solidFill>
                  <a:srgbClr val="000000"/>
                </a:solidFill>
                <a:latin typeface="Courier New" pitchFamily="49" charset="0"/>
              </a:rPr>
              <a:t> &amp;in, Complex &amp;c)</a:t>
            </a:r>
          </a:p>
          <a:p>
            <a:pPr>
              <a:lnSpc>
                <a:spcPct val="90000"/>
              </a:lnSpc>
            </a:pPr>
            <a:r>
              <a:rPr lang="en-US" altLang="zh-CN" sz="2400" b="1" dirty="0">
                <a:solidFill>
                  <a:srgbClr val="000000"/>
                </a:solidFill>
                <a:latin typeface="Courier New" pitchFamily="49" charset="0"/>
              </a:rPr>
              <a:t> {</a:t>
            </a: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char</a:t>
            </a:r>
            <a:r>
              <a:rPr lang="en-US" altLang="zh-CN" sz="2400" b="1" dirty="0">
                <a:solidFill>
                  <a:srgbClr val="000000"/>
                </a:solidFill>
                <a:latin typeface="Courier New" pitchFamily="49" charset="0"/>
              </a:rPr>
              <a:t> str[20];</a:t>
            </a:r>
          </a:p>
          <a:p>
            <a:pPr>
              <a:lnSpc>
                <a:spcPct val="90000"/>
              </a:lnSpc>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in.getline</a:t>
            </a:r>
            <a:r>
              <a:rPr lang="en-US" altLang="zh-CN" sz="2400" b="1" dirty="0">
                <a:solidFill>
                  <a:srgbClr val="000000"/>
                </a:solidFill>
                <a:latin typeface="Courier New" pitchFamily="49" charset="0"/>
              </a:rPr>
              <a:t>(str, 20, '(');</a:t>
            </a:r>
          </a:p>
          <a:p>
            <a:pPr>
              <a:lnSpc>
                <a:spcPct val="90000"/>
              </a:lnSpc>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in.getline</a:t>
            </a:r>
            <a:r>
              <a:rPr lang="en-US" altLang="zh-CN" sz="2400" b="1" dirty="0">
                <a:solidFill>
                  <a:srgbClr val="000000"/>
                </a:solidFill>
                <a:latin typeface="Courier New" pitchFamily="49" charset="0"/>
              </a:rPr>
              <a:t>(str, 20, ',');	c.re = </a:t>
            </a:r>
            <a:r>
              <a:rPr lang="en-US" altLang="zh-CN" sz="2400" b="1" dirty="0" err="1">
                <a:solidFill>
                  <a:srgbClr val="000000"/>
                </a:solidFill>
                <a:latin typeface="Courier New" pitchFamily="49" charset="0"/>
              </a:rPr>
              <a:t>atof</a:t>
            </a:r>
            <a:r>
              <a:rPr lang="en-US" altLang="zh-CN" sz="2400" b="1" dirty="0">
                <a:solidFill>
                  <a:srgbClr val="000000"/>
                </a:solidFill>
                <a:latin typeface="Courier New" pitchFamily="49" charset="0"/>
              </a:rPr>
              <a:t>(str);</a:t>
            </a:r>
          </a:p>
          <a:p>
            <a:pPr>
              <a:lnSpc>
                <a:spcPct val="90000"/>
              </a:lnSpc>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in.getline</a:t>
            </a:r>
            <a:r>
              <a:rPr lang="en-US" altLang="zh-CN" sz="2400" b="1" dirty="0">
                <a:solidFill>
                  <a:srgbClr val="000000"/>
                </a:solidFill>
                <a:latin typeface="Courier New" pitchFamily="49" charset="0"/>
              </a:rPr>
              <a:t>(str, 20, ')');	c.im = </a:t>
            </a:r>
            <a:r>
              <a:rPr lang="en-US" altLang="zh-CN" sz="2400" b="1" dirty="0" err="1">
                <a:solidFill>
                  <a:srgbClr val="000000"/>
                </a:solidFill>
                <a:latin typeface="Courier New" pitchFamily="49" charset="0"/>
              </a:rPr>
              <a:t>atof</a:t>
            </a:r>
            <a:r>
              <a:rPr lang="en-US" altLang="zh-CN" sz="2400" b="1" dirty="0">
                <a:solidFill>
                  <a:srgbClr val="000000"/>
                </a:solidFill>
                <a:latin typeface="Courier New" pitchFamily="49" charset="0"/>
              </a:rPr>
              <a:t>(str);</a:t>
            </a:r>
          </a:p>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return</a:t>
            </a:r>
            <a:r>
              <a:rPr lang="en-US" altLang="zh-CN" sz="2400" b="1" dirty="0">
                <a:solidFill>
                  <a:srgbClr val="000000"/>
                </a:solidFill>
                <a:latin typeface="Courier New" pitchFamily="49" charset="0"/>
              </a:rPr>
              <a:t> in;</a:t>
            </a:r>
          </a:p>
          <a:p>
            <a:pPr>
              <a:lnSpc>
                <a:spcPct val="90000"/>
              </a:lnSpc>
            </a:pP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a:p>
            <a:pPr>
              <a:spcBef>
                <a:spcPct val="30000"/>
              </a:spcBef>
            </a:pPr>
            <a:r>
              <a:rPr lang="zh-CN" altLang="en-US" sz="2400" b="1" dirty="0">
                <a:solidFill>
                  <a:srgbClr val="000000"/>
                </a:solidFill>
                <a:latin typeface="Times New Roman" panose="02020603050405020304" pitchFamily="18" charset="0"/>
                <a:cs typeface="Times New Roman" panose="02020603050405020304" pitchFamily="18" charset="0"/>
              </a:rPr>
              <a:t>     用什么</a:t>
            </a:r>
            <a:r>
              <a:rPr lang="en-US" altLang="zh-CN" sz="2400" b="1" dirty="0">
                <a:solidFill>
                  <a:srgbClr val="000000"/>
                </a:solidFill>
                <a:latin typeface="Times New Roman" panose="02020603050405020304" pitchFamily="18" charset="0"/>
                <a:cs typeface="Times New Roman" panose="02020603050405020304" pitchFamily="18" charset="0"/>
              </a:rPr>
              <a:t>I/O</a:t>
            </a:r>
            <a:r>
              <a:rPr lang="zh-CN" altLang="en-US" sz="2400" b="1" dirty="0">
                <a:solidFill>
                  <a:srgbClr val="000000"/>
                </a:solidFill>
                <a:latin typeface="Times New Roman" panose="02020603050405020304" pitchFamily="18" charset="0"/>
                <a:cs typeface="Times New Roman" panose="02020603050405020304" pitchFamily="18" charset="0"/>
              </a:rPr>
              <a:t>设备（标准</a:t>
            </a:r>
            <a:r>
              <a:rPr lang="en-US" altLang="zh-CN" sz="2400" b="1" dirty="0">
                <a:solidFill>
                  <a:srgbClr val="000000"/>
                </a:solidFill>
                <a:latin typeface="Times New Roman" panose="02020603050405020304" pitchFamily="18" charset="0"/>
                <a:cs typeface="Times New Roman" panose="02020603050405020304" pitchFamily="18" charset="0"/>
              </a:rPr>
              <a:t>I/O</a:t>
            </a:r>
            <a:r>
              <a:rPr lang="zh-CN" altLang="en-US" sz="2400" b="1" dirty="0">
                <a:solidFill>
                  <a:srgbClr val="000000"/>
                </a:solidFill>
                <a:latin typeface="Times New Roman" panose="02020603050405020304" pitchFamily="18" charset="0"/>
                <a:cs typeface="Times New Roman" panose="02020603050405020304" pitchFamily="18" charset="0"/>
              </a:rPr>
              <a:t>，文件</a:t>
            </a:r>
            <a:r>
              <a:rPr lang="en-US" altLang="zh-CN" sz="2400" b="1" dirty="0">
                <a:solidFill>
                  <a:srgbClr val="000000"/>
                </a:solidFill>
                <a:latin typeface="Times New Roman" panose="02020603050405020304" pitchFamily="18" charset="0"/>
                <a:cs typeface="Times New Roman" panose="02020603050405020304" pitchFamily="18" charset="0"/>
              </a:rPr>
              <a:t>I/O</a:t>
            </a:r>
            <a:r>
              <a:rPr lang="zh-CN" altLang="en-US" sz="2400" b="1" dirty="0">
                <a:solidFill>
                  <a:srgbClr val="000000"/>
                </a:solidFill>
                <a:latin typeface="Times New Roman" panose="02020603050405020304" pitchFamily="18" charset="0"/>
                <a:cs typeface="Times New Roman" panose="02020603050405020304" pitchFamily="18" charset="0"/>
              </a:rPr>
              <a:t>）作为第一个参数，就返回</a:t>
            </a:r>
            <a:endParaRPr lang="en-US" altLang="zh-CN" sz="2400" b="1" dirty="0">
              <a:solidFill>
                <a:srgbClr val="000000"/>
              </a:solidFill>
              <a:latin typeface="Times New Roman" panose="02020603050405020304" pitchFamily="18" charset="0"/>
              <a:cs typeface="Times New Roman" panose="02020603050405020304" pitchFamily="18" charset="0"/>
            </a:endParaRPr>
          </a:p>
          <a:p>
            <a:pPr>
              <a:spcBef>
                <a:spcPct val="30000"/>
              </a:spcBef>
            </a:pPr>
            <a:r>
              <a:rPr lang="zh-CN" altLang="en-US" sz="2400" b="1" dirty="0">
                <a:solidFill>
                  <a:srgbClr val="000000"/>
                </a:solidFill>
                <a:latin typeface="Times New Roman" panose="02020603050405020304" pitchFamily="18" charset="0"/>
                <a:cs typeface="Times New Roman" panose="02020603050405020304" pitchFamily="18" charset="0"/>
              </a:rPr>
              <a:t>什么设备。</a:t>
            </a:r>
            <a:r>
              <a:rPr lang="en-US" altLang="zh-CN" sz="2400" b="1" dirty="0">
                <a:solidFill>
                  <a:srgbClr val="000000"/>
                </a:solidFill>
                <a:latin typeface="Times New Roman" panose="02020603050405020304" pitchFamily="18" charset="0"/>
                <a:cs typeface="Times New Roman" panose="02020603050405020304" pitchFamily="18" charset="0"/>
              </a:rPr>
              <a:t>I/O</a:t>
            </a:r>
            <a:r>
              <a:rPr lang="zh-CN" altLang="en-US" sz="2400" b="1" dirty="0">
                <a:solidFill>
                  <a:srgbClr val="000000"/>
                </a:solidFill>
                <a:latin typeface="Times New Roman" panose="02020603050405020304" pitchFamily="18" charset="0"/>
                <a:cs typeface="Times New Roman" panose="02020603050405020304" pitchFamily="18" charset="0"/>
              </a:rPr>
              <a:t>表达式的结果为第一操作数，使</a:t>
            </a:r>
            <a:r>
              <a:rPr lang="en-US" altLang="zh-CN" sz="2400" b="1" dirty="0">
                <a:solidFill>
                  <a:srgbClr val="000000"/>
                </a:solidFill>
                <a:latin typeface="Times New Roman" panose="02020603050405020304" pitchFamily="18" charset="0"/>
                <a:cs typeface="Times New Roman" panose="02020603050405020304" pitchFamily="18" charset="0"/>
              </a:rPr>
              <a:t>I/O</a:t>
            </a:r>
            <a:r>
              <a:rPr lang="zh-CN" altLang="en-US" sz="2400" b="1" dirty="0">
                <a:solidFill>
                  <a:srgbClr val="000000"/>
                </a:solidFill>
                <a:latin typeface="Times New Roman" panose="02020603050405020304" pitchFamily="18" charset="0"/>
                <a:cs typeface="Times New Roman" panose="02020603050405020304" pitchFamily="18" charset="0"/>
              </a:rPr>
              <a:t>能连续进行。</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pic>
        <p:nvPicPr>
          <p:cNvPr id="2" name="图片 1">
            <a:hlinkClick r:id="rId3" action="ppaction://hlinkfile"/>
            <a:extLst>
              <a:ext uri="{FF2B5EF4-FFF2-40B4-BE49-F238E27FC236}">
                <a16:creationId xmlns:a16="http://schemas.microsoft.com/office/drawing/2014/main" id="{00179D2D-A4CC-468C-9492-18F09E7A0A0E}"/>
              </a:ext>
            </a:extLst>
          </p:cNvPr>
          <p:cNvPicPr>
            <a:picLocks noChangeAspect="1"/>
          </p:cNvPicPr>
          <p:nvPr/>
        </p:nvPicPr>
        <p:blipFill>
          <a:blip r:embed="rId4"/>
          <a:stretch>
            <a:fillRect/>
          </a:stretch>
        </p:blipFill>
        <p:spPr>
          <a:xfrm>
            <a:off x="7924800" y="1676400"/>
            <a:ext cx="965791" cy="1143000"/>
          </a:xfrm>
          <a:prstGeom prst="rect">
            <a:avLst/>
          </a:prstGeom>
        </p:spPr>
      </p:pic>
    </p:spTree>
    <p:extLst>
      <p:ext uri="{BB962C8B-B14F-4D97-AF65-F5344CB8AC3E}">
        <p14:creationId xmlns:p14="http://schemas.microsoft.com/office/powerpoint/2010/main" val="102392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2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2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2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22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226">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226">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226">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226">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2226">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226">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2226">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2226">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22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76200" y="88900"/>
            <a:ext cx="8991600" cy="66675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spcBef>
                <a:spcPts val="0"/>
              </a:spcBef>
            </a:pPr>
            <a:r>
              <a:rPr lang="en-US" altLang="zh-CN" sz="2400" b="1" dirty="0">
                <a:solidFill>
                  <a:srgbClr val="0000FF"/>
                </a:solidFill>
                <a:latin typeface="Courier New" pitchFamily="49" charset="0"/>
              </a:rPr>
              <a:t>void</a:t>
            </a:r>
            <a:r>
              <a:rPr lang="en-US" altLang="zh-CN" sz="2400" b="1" dirty="0">
                <a:solidFill>
                  <a:srgbClr val="000000"/>
                </a:solidFill>
                <a:latin typeface="Courier New" pitchFamily="49" charset="0"/>
              </a:rPr>
              <a:t> test()</a:t>
            </a:r>
          </a:p>
          <a:p>
            <a:pPr>
              <a:lnSpc>
                <a:spcPct val="90000"/>
              </a:lnSpc>
              <a:spcBef>
                <a:spcPts val="0"/>
              </a:spcBef>
            </a:pP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Complex a={1,2},</a:t>
            </a: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b={3,4};</a:t>
            </a:r>
          </a:p>
          <a:p>
            <a:pPr>
              <a:lnSpc>
                <a:spcPct val="150000"/>
              </a:lnSpc>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a &lt;&lt; ", " &lt;&lt; b &lt;&lt; </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标准输出</a:t>
            </a:r>
            <a:endParaRPr lang="en-US" altLang="zh-CN" sz="2400" b="1" dirty="0">
              <a:solidFill>
                <a:srgbClr val="C00000"/>
              </a:solidFill>
              <a:latin typeface="Courier New" pitchFamily="49" charset="0"/>
            </a:endParaRPr>
          </a:p>
          <a:p>
            <a:pPr>
              <a:lnSpc>
                <a:spcPct val="150000"/>
              </a:lnSpc>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ofstream</a:t>
            </a: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outfile</a:t>
            </a:r>
            <a:r>
              <a:rPr lang="en-US" altLang="zh-CN" sz="2400" b="1" dirty="0">
                <a:solidFill>
                  <a:srgbClr val="000000"/>
                </a:solidFill>
                <a:latin typeface="Courier New" pitchFamily="49" charset="0"/>
              </a:rPr>
              <a:t>("Complex.txt");</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打开文件</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outfile</a:t>
            </a:r>
            <a:r>
              <a:rPr lang="en-US" altLang="zh-CN" sz="2400" b="1" dirty="0">
                <a:solidFill>
                  <a:srgbClr val="000000"/>
                </a:solidFill>
                <a:latin typeface="Courier New" pitchFamily="49" charset="0"/>
              </a:rPr>
              <a:t> &lt;&lt; a &lt;&lt; ", " &lt;&lt; b &lt;&lt; </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写入文件</a:t>
            </a: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outfile.close</a:t>
            </a:r>
            <a:r>
              <a:rPr lang="en-US" altLang="zh-CN" sz="2400" b="1" dirty="0">
                <a:solidFill>
                  <a:srgbClr val="000000"/>
                </a:solidFill>
                <a:latin typeface="Courier New" pitchFamily="49" charset="0"/>
              </a:rPr>
              <a:t>();</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关闭文件</a:t>
            </a:r>
            <a:endParaRPr lang="en-US" altLang="zh-CN" sz="2400" b="1" dirty="0">
              <a:solidFill>
                <a:srgbClr val="000000"/>
              </a:solidFill>
              <a:latin typeface="Courier New" pitchFamily="49" charset="0"/>
            </a:endParaRPr>
          </a:p>
          <a:p>
            <a:pPr>
              <a:lnSpc>
                <a:spcPct val="150000"/>
              </a:lnSpc>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cin</a:t>
            </a:r>
            <a:r>
              <a:rPr lang="en-US" altLang="zh-CN" sz="2400" b="1" dirty="0">
                <a:solidFill>
                  <a:srgbClr val="000000"/>
                </a:solidFill>
                <a:latin typeface="Courier New" pitchFamily="49" charset="0"/>
              </a:rPr>
              <a:t> &gt;&gt; a &gt;&gt; b;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标准输入</a:t>
            </a:r>
            <a:endParaRPr lang="en-US" altLang="zh-CN" sz="2400" b="1" dirty="0">
              <a:solidFill>
                <a:srgbClr val="000000"/>
              </a:solidFill>
              <a:latin typeface="Courier New" pitchFamily="49" charset="0"/>
            </a:endParaRPr>
          </a:p>
          <a:p>
            <a:pPr>
              <a:lnSpc>
                <a:spcPct val="150000"/>
              </a:lnSpc>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ifstream</a:t>
            </a: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infile</a:t>
            </a:r>
            <a:r>
              <a:rPr lang="en-US" altLang="zh-CN" sz="2400" b="1" dirty="0">
                <a:solidFill>
                  <a:srgbClr val="000000"/>
                </a:solidFill>
                <a:latin typeface="Courier New" pitchFamily="49" charset="0"/>
              </a:rPr>
              <a:t>("Complex.txt");</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打开文件</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infile</a:t>
            </a:r>
            <a:r>
              <a:rPr lang="en-US" altLang="zh-CN" sz="2400" b="1" dirty="0">
                <a:solidFill>
                  <a:srgbClr val="000000"/>
                </a:solidFill>
                <a:latin typeface="Courier New" pitchFamily="49" charset="0"/>
              </a:rPr>
              <a:t> &gt;&gt; a &gt;&gt; b;                  </a:t>
            </a:r>
            <a:r>
              <a:rPr lang="en-US" altLang="zh-CN" sz="2400" b="1" dirty="0">
                <a:solidFill>
                  <a:srgbClr val="C00000"/>
                </a:solidFill>
                <a:latin typeface="Courier New" pitchFamily="49" charset="0"/>
              </a:rPr>
              <a:t>// </a:t>
            </a:r>
            <a:r>
              <a:rPr lang="zh-CN" altLang="en-US" sz="2400" b="1" dirty="0">
                <a:solidFill>
                  <a:srgbClr val="C00000"/>
                </a:solidFill>
                <a:latin typeface="Courier New" pitchFamily="49" charset="0"/>
              </a:rPr>
              <a:t>从文件读</a:t>
            </a: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infile.close</a:t>
            </a:r>
            <a:r>
              <a:rPr lang="en-US" altLang="zh-CN" sz="2400" b="1" dirty="0">
                <a:solidFill>
                  <a:srgbClr val="000000"/>
                </a:solidFill>
                <a:latin typeface="Courier New" pitchFamily="49" charset="0"/>
              </a:rPr>
              <a:t>();</a:t>
            </a:r>
            <a:r>
              <a:rPr lang="en-US" altLang="zh-CN" sz="2400" b="1" dirty="0">
                <a:solidFill>
                  <a:srgbClr val="C00000"/>
                </a:solidFill>
                <a:latin typeface="Courier New" pitchFamily="49" charset="0"/>
              </a:rPr>
              <a:t>                    // </a:t>
            </a:r>
            <a:r>
              <a:rPr lang="zh-CN" altLang="en-US" sz="2400" b="1" dirty="0">
                <a:solidFill>
                  <a:srgbClr val="C00000"/>
                </a:solidFill>
                <a:latin typeface="Courier New" pitchFamily="49" charset="0"/>
              </a:rPr>
              <a:t>关闭文件</a:t>
            </a:r>
            <a:endParaRPr lang="en-US" altLang="zh-CN" sz="2400" b="1" dirty="0">
              <a:solidFill>
                <a:srgbClr val="C00000"/>
              </a:solidFill>
              <a:latin typeface="Courier New" pitchFamily="49" charset="0"/>
            </a:endParaRPr>
          </a:p>
          <a:p>
            <a:pPr>
              <a:spcBef>
                <a:spcPts val="0"/>
              </a:spcBef>
            </a:pPr>
            <a:r>
              <a:rPr lang="en-US" altLang="zh-CN" sz="2400" b="1" dirty="0">
                <a:solidFill>
                  <a:schemeClr val="tx2"/>
                </a:solidFill>
                <a:latin typeface="Courier New" pitchFamily="49" charset="0"/>
              </a:rPr>
              <a:t>}</a:t>
            </a: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cin</a:t>
            </a:r>
            <a:r>
              <a:rPr lang="en-US" altLang="zh-CN" sz="2400" b="1" dirty="0">
                <a:solidFill>
                  <a:srgbClr val="000000"/>
                </a:solidFill>
                <a:latin typeface="Courier New" pitchFamily="49" charset="0"/>
              </a:rPr>
              <a:t> </a:t>
            </a:r>
            <a:r>
              <a:rPr lang="zh-CN" altLang="en-US" sz="2400" b="1" dirty="0">
                <a:solidFill>
                  <a:srgbClr val="000000"/>
                </a:solidFill>
                <a:latin typeface="Courier New" pitchFamily="49" charset="0"/>
              </a:rPr>
              <a:t>是全局变量   </a:t>
            </a:r>
            <a:r>
              <a:rPr lang="en-US" altLang="zh-CN" sz="2400" b="1" dirty="0">
                <a:solidFill>
                  <a:srgbClr val="000000"/>
                </a:solidFill>
                <a:latin typeface="Courier New" pitchFamily="49" charset="0"/>
              </a:rPr>
              <a:t>(</a:t>
            </a:r>
            <a:r>
              <a:rPr lang="en-US" altLang="zh-CN" sz="2400" b="1" dirty="0" err="1">
                <a:solidFill>
                  <a:srgbClr val="000000"/>
                </a:solidFill>
                <a:latin typeface="Courier New" pitchFamily="49" charset="0"/>
              </a:rPr>
              <a:t>istream</a:t>
            </a:r>
            <a:r>
              <a:rPr lang="zh-CN" altLang="en-US" sz="2400" b="1" dirty="0">
                <a:solidFill>
                  <a:srgbClr val="000000"/>
                </a:solidFill>
                <a:latin typeface="Courier New" pitchFamily="49" charset="0"/>
              </a:rPr>
              <a:t>类</a:t>
            </a:r>
            <a:r>
              <a:rPr lang="en-US" altLang="zh-CN" sz="2400" b="1" dirty="0">
                <a:solidFill>
                  <a:srgbClr val="000000"/>
                </a:solidFill>
                <a:latin typeface="Courier New" pitchFamily="49" charset="0"/>
              </a:rPr>
              <a:t>), </a:t>
            </a:r>
            <a:r>
              <a:rPr lang="zh-CN" altLang="en-US" sz="2400" b="1" dirty="0">
                <a:solidFill>
                  <a:srgbClr val="000000"/>
                </a:solidFill>
                <a:latin typeface="Courier New" pitchFamily="49" charset="0"/>
              </a:rPr>
              <a:t>关联键盘</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zh-CN" altLang="en-US" sz="2400" b="1" dirty="0">
                <a:solidFill>
                  <a:srgbClr val="000000"/>
                </a:solidFill>
                <a:latin typeface="Courier New" pitchFamily="49" charset="0"/>
              </a:rPr>
              <a:t>是全局变量   </a:t>
            </a:r>
            <a:r>
              <a:rPr lang="en-US" altLang="zh-CN" sz="2400" b="1" dirty="0">
                <a:solidFill>
                  <a:srgbClr val="000000"/>
                </a:solidFill>
                <a:latin typeface="Courier New" pitchFamily="49" charset="0"/>
              </a:rPr>
              <a:t>(</a:t>
            </a:r>
            <a:r>
              <a:rPr lang="en-US" altLang="zh-CN" sz="2400" b="1" dirty="0" err="1">
                <a:solidFill>
                  <a:srgbClr val="000000"/>
                </a:solidFill>
                <a:latin typeface="Courier New" pitchFamily="49" charset="0"/>
              </a:rPr>
              <a:t>ostream</a:t>
            </a:r>
            <a:r>
              <a:rPr lang="zh-CN" altLang="en-US" sz="2400" b="1" dirty="0">
                <a:solidFill>
                  <a:srgbClr val="000000"/>
                </a:solidFill>
                <a:latin typeface="Courier New" pitchFamily="49" charset="0"/>
              </a:rPr>
              <a:t>类</a:t>
            </a:r>
            <a:r>
              <a:rPr lang="en-US" altLang="zh-CN" sz="2400" b="1" dirty="0">
                <a:solidFill>
                  <a:srgbClr val="000000"/>
                </a:solidFill>
                <a:latin typeface="Courier New" pitchFamily="49" charset="0"/>
              </a:rPr>
              <a:t>), </a:t>
            </a:r>
            <a:r>
              <a:rPr lang="zh-CN" altLang="en-US" sz="2400" b="1" dirty="0">
                <a:solidFill>
                  <a:srgbClr val="000000"/>
                </a:solidFill>
                <a:latin typeface="Courier New" pitchFamily="49" charset="0"/>
              </a:rPr>
              <a:t>关联显示器</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infile</a:t>
            </a:r>
            <a:r>
              <a:rPr lang="zh-CN" altLang="en-US" sz="2400" b="1" dirty="0">
                <a:solidFill>
                  <a:srgbClr val="000000"/>
                </a:solidFill>
                <a:latin typeface="Courier New" pitchFamily="49" charset="0"/>
              </a:rPr>
              <a:t>是局部变量 </a:t>
            </a:r>
            <a:r>
              <a:rPr lang="en-US" altLang="zh-CN" sz="2400" b="1" dirty="0">
                <a:solidFill>
                  <a:srgbClr val="000000"/>
                </a:solidFill>
                <a:latin typeface="Courier New" pitchFamily="49" charset="0"/>
              </a:rPr>
              <a:t>(</a:t>
            </a:r>
            <a:r>
              <a:rPr lang="en-US" altLang="zh-CN" sz="2400" b="1" dirty="0" err="1">
                <a:solidFill>
                  <a:srgbClr val="000000"/>
                </a:solidFill>
                <a:latin typeface="Courier New" pitchFamily="49" charset="0"/>
              </a:rPr>
              <a:t>ifstream</a:t>
            </a:r>
            <a:r>
              <a:rPr lang="zh-CN" altLang="en-US" sz="2400" b="1" dirty="0">
                <a:solidFill>
                  <a:srgbClr val="000000"/>
                </a:solidFill>
                <a:latin typeface="Courier New" pitchFamily="49" charset="0"/>
              </a:rPr>
              <a:t>类</a:t>
            </a:r>
            <a:r>
              <a:rPr lang="en-US" altLang="zh-CN" sz="2400" b="1" dirty="0">
                <a:solidFill>
                  <a:srgbClr val="000000"/>
                </a:solidFill>
                <a:latin typeface="Courier New" pitchFamily="49" charset="0"/>
              </a:rPr>
              <a:t>), </a:t>
            </a:r>
            <a:r>
              <a:rPr lang="zh-CN" altLang="en-US" sz="2400" b="1" dirty="0">
                <a:solidFill>
                  <a:srgbClr val="000000"/>
                </a:solidFill>
                <a:latin typeface="Courier New" pitchFamily="49" charset="0"/>
              </a:rPr>
              <a:t>关联</a:t>
            </a:r>
            <a:r>
              <a:rPr lang="en-US" altLang="zh-CN" sz="2400" b="1" dirty="0">
                <a:solidFill>
                  <a:srgbClr val="000000"/>
                </a:solidFill>
                <a:latin typeface="Courier New" pitchFamily="49" charset="0"/>
              </a:rPr>
              <a:t>Complex.txt</a:t>
            </a:r>
            <a:r>
              <a:rPr lang="zh-CN" altLang="en-US" sz="2400" b="1" dirty="0">
                <a:solidFill>
                  <a:srgbClr val="000000"/>
                </a:solidFill>
                <a:latin typeface="Courier New" pitchFamily="49" charset="0"/>
              </a:rPr>
              <a:t>文件</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outfile</a:t>
            </a:r>
            <a:r>
              <a:rPr lang="zh-CN" altLang="en-US" sz="2400" b="1" dirty="0">
                <a:solidFill>
                  <a:srgbClr val="000000"/>
                </a:solidFill>
                <a:latin typeface="Courier New" pitchFamily="49" charset="0"/>
              </a:rPr>
              <a:t>是局部变量</a:t>
            </a:r>
            <a:r>
              <a:rPr lang="en-US" altLang="zh-CN" sz="2400" b="1" dirty="0">
                <a:solidFill>
                  <a:srgbClr val="000000"/>
                </a:solidFill>
                <a:latin typeface="Courier New" pitchFamily="49" charset="0"/>
              </a:rPr>
              <a:t>(</a:t>
            </a:r>
            <a:r>
              <a:rPr lang="en-US" altLang="zh-CN" sz="2400" b="1" dirty="0" err="1">
                <a:solidFill>
                  <a:srgbClr val="000000"/>
                </a:solidFill>
                <a:latin typeface="Courier New" pitchFamily="49" charset="0"/>
              </a:rPr>
              <a:t>ofstream</a:t>
            </a:r>
            <a:r>
              <a:rPr lang="zh-CN" altLang="en-US" sz="2400" b="1" dirty="0">
                <a:solidFill>
                  <a:srgbClr val="000000"/>
                </a:solidFill>
                <a:latin typeface="Courier New" pitchFamily="49" charset="0"/>
              </a:rPr>
              <a:t>类</a:t>
            </a:r>
            <a:r>
              <a:rPr lang="en-US" altLang="zh-CN" sz="2400" b="1" dirty="0">
                <a:solidFill>
                  <a:srgbClr val="000000"/>
                </a:solidFill>
                <a:latin typeface="Courier New" pitchFamily="49" charset="0"/>
              </a:rPr>
              <a:t>), </a:t>
            </a:r>
            <a:r>
              <a:rPr lang="zh-CN" altLang="en-US" sz="2400" b="1" dirty="0">
                <a:solidFill>
                  <a:srgbClr val="000000"/>
                </a:solidFill>
                <a:latin typeface="Courier New" pitchFamily="49" charset="0"/>
              </a:rPr>
              <a:t>关联</a:t>
            </a:r>
            <a:r>
              <a:rPr lang="en-US" altLang="zh-CN" sz="2400" b="1" dirty="0">
                <a:solidFill>
                  <a:srgbClr val="000000"/>
                </a:solidFill>
                <a:latin typeface="Courier New" pitchFamily="49" charset="0"/>
              </a:rPr>
              <a:t>Complex.txt</a:t>
            </a:r>
            <a:r>
              <a:rPr lang="zh-CN" altLang="en-US" sz="2400" b="1" dirty="0">
                <a:solidFill>
                  <a:srgbClr val="000000"/>
                </a:solidFill>
                <a:latin typeface="Courier New" pitchFamily="49" charset="0"/>
              </a:rPr>
              <a:t>文件</a:t>
            </a:r>
            <a:endParaRPr lang="en-US" altLang="zh-CN" sz="2400" b="1" dirty="0">
              <a:solidFill>
                <a:srgbClr val="000000"/>
              </a:solidFill>
              <a:latin typeface="Courier New" pitchFamily="49" charset="0"/>
            </a:endParaRPr>
          </a:p>
        </p:txBody>
      </p:sp>
    </p:spTree>
    <p:extLst>
      <p:ext uri="{BB962C8B-B14F-4D97-AF65-F5344CB8AC3E}">
        <p14:creationId xmlns:p14="http://schemas.microsoft.com/office/powerpoint/2010/main" val="195427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2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26">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22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22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2226">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226">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2226">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2226">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226">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226">
                                            <p:txEl>
                                              <p:pRg st="14" end="1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22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381000" y="186779"/>
            <a:ext cx="8458200" cy="769441"/>
          </a:xfrm>
        </p:spPr>
        <p:txBody>
          <a:bodyPr/>
          <a:lstStyle/>
          <a:p>
            <a:r>
              <a:rPr lang="zh-CN" altLang="en-US" dirty="0"/>
              <a:t>从</a:t>
            </a:r>
            <a:r>
              <a:rPr lang="zh-CN" altLang="en-US" sz="2400" dirty="0"/>
              <a:t> </a:t>
            </a:r>
            <a:r>
              <a:rPr lang="en-US" altLang="zh-CN" dirty="0"/>
              <a:t>C</a:t>
            </a:r>
            <a:r>
              <a:rPr lang="en-US" altLang="zh-CN" sz="2400" dirty="0"/>
              <a:t> </a:t>
            </a:r>
            <a:r>
              <a:rPr lang="zh-CN" altLang="en-US" dirty="0"/>
              <a:t>到</a:t>
            </a:r>
            <a:r>
              <a:rPr lang="zh-CN" altLang="en-US" sz="2400" dirty="0"/>
              <a:t> </a:t>
            </a:r>
            <a:r>
              <a:rPr lang="en-US" altLang="zh-CN" dirty="0"/>
              <a:t>C++</a:t>
            </a:r>
            <a:r>
              <a:rPr lang="zh-CN" altLang="en-US" dirty="0"/>
              <a:t> </a:t>
            </a:r>
            <a:r>
              <a:rPr lang="zh-CN" altLang="en-US" sz="3600" dirty="0">
                <a:solidFill>
                  <a:srgbClr val="C00000"/>
                </a:solidFill>
              </a:rPr>
              <a:t>（</a:t>
            </a:r>
            <a:r>
              <a:rPr lang="en-US" altLang="zh-CN" sz="3600" dirty="0">
                <a:solidFill>
                  <a:srgbClr val="C00000"/>
                </a:solidFill>
              </a:rPr>
              <a:t>C++</a:t>
            </a:r>
            <a:r>
              <a:rPr lang="zh-CN" altLang="en-US" sz="3600" dirty="0">
                <a:solidFill>
                  <a:srgbClr val="C00000"/>
                </a:solidFill>
              </a:rPr>
              <a:t>对</a:t>
            </a:r>
            <a:r>
              <a:rPr lang="en-US" altLang="zh-CN" sz="3600" dirty="0">
                <a:solidFill>
                  <a:srgbClr val="C00000"/>
                </a:solidFill>
              </a:rPr>
              <a:t>C</a:t>
            </a:r>
            <a:r>
              <a:rPr lang="zh-CN" altLang="en-US" sz="3600" dirty="0">
                <a:solidFill>
                  <a:srgbClr val="C00000"/>
                </a:solidFill>
              </a:rPr>
              <a:t>的改进）</a:t>
            </a:r>
          </a:p>
        </p:txBody>
      </p:sp>
      <p:sp>
        <p:nvSpPr>
          <p:cNvPr id="13315" name="内容占位符 2"/>
          <p:cNvSpPr>
            <a:spLocks noGrp="1"/>
          </p:cNvSpPr>
          <p:nvPr>
            <p:ph idx="1"/>
          </p:nvPr>
        </p:nvSpPr>
        <p:spPr/>
        <p:txBody>
          <a:bodyPr/>
          <a:lstStyle/>
          <a:p>
            <a:r>
              <a:rPr lang="zh-CN" altLang="en-US" sz="3200" dirty="0"/>
              <a:t>基本观点</a:t>
            </a:r>
            <a:endParaRPr lang="en-US" altLang="zh-CN" sz="3200" dirty="0"/>
          </a:p>
          <a:p>
            <a:pPr lvl="1"/>
            <a:r>
              <a:rPr lang="en-US" altLang="zh-CN" dirty="0"/>
              <a:t>C</a:t>
            </a:r>
            <a:r>
              <a:rPr lang="zh-CN" altLang="en-US" dirty="0"/>
              <a:t>是</a:t>
            </a:r>
            <a:r>
              <a:rPr lang="en-US" altLang="zh-CN" dirty="0"/>
              <a:t>C++</a:t>
            </a:r>
            <a:r>
              <a:rPr lang="zh-CN" altLang="en-US" dirty="0"/>
              <a:t>的子集。</a:t>
            </a:r>
            <a:endParaRPr lang="en-US" altLang="zh-CN" dirty="0"/>
          </a:p>
          <a:p>
            <a:pPr lvl="1"/>
            <a:r>
              <a:rPr lang="zh-CN" altLang="en-US" dirty="0"/>
              <a:t>凡是</a:t>
            </a:r>
            <a:r>
              <a:rPr lang="en-US" altLang="zh-CN" dirty="0"/>
              <a:t>C</a:t>
            </a:r>
            <a:r>
              <a:rPr lang="zh-CN" altLang="en-US" dirty="0"/>
              <a:t>语言、</a:t>
            </a:r>
            <a:r>
              <a:rPr lang="en-US" altLang="zh-CN" dirty="0"/>
              <a:t>C++</a:t>
            </a:r>
            <a:r>
              <a:rPr lang="zh-CN" altLang="en-US" dirty="0"/>
              <a:t>语言中皆有的功能，且用法不同者，皆是因为</a:t>
            </a:r>
            <a:r>
              <a:rPr lang="en-US" altLang="zh-CN" dirty="0"/>
              <a:t>C</a:t>
            </a:r>
            <a:r>
              <a:rPr lang="zh-CN" altLang="en-US" dirty="0"/>
              <a:t>语言的不足，不能满足</a:t>
            </a:r>
            <a:r>
              <a:rPr lang="en-US" altLang="zh-CN" dirty="0"/>
              <a:t>C++</a:t>
            </a:r>
            <a:r>
              <a:rPr lang="zh-CN" altLang="en-US" dirty="0"/>
              <a:t>扩展的需要。</a:t>
            </a:r>
            <a:endParaRPr lang="en-US" altLang="zh-CN" dirty="0"/>
          </a:p>
          <a:p>
            <a:r>
              <a:rPr lang="zh-CN" altLang="en-US" sz="3200" dirty="0"/>
              <a:t>例如</a:t>
            </a:r>
            <a:endParaRPr lang="en-US" altLang="zh-CN" sz="3200" dirty="0"/>
          </a:p>
          <a:p>
            <a:pPr lvl="1"/>
            <a:r>
              <a:rPr lang="en-US" altLang="zh-CN" dirty="0"/>
              <a:t>C</a:t>
            </a:r>
            <a:r>
              <a:rPr lang="zh-CN" altLang="en-US" dirty="0"/>
              <a:t>语言无输入、输出操作，而是借助</a:t>
            </a:r>
            <a:r>
              <a:rPr lang="en-US" altLang="zh-CN" dirty="0" err="1"/>
              <a:t>scanf,printf</a:t>
            </a:r>
            <a:r>
              <a:rPr lang="zh-CN" altLang="en-US" dirty="0"/>
              <a:t>函数实现。这些函数仅对基本数据类型提供了</a:t>
            </a:r>
            <a:r>
              <a:rPr lang="en-US" altLang="zh-CN" dirty="0"/>
              <a:t>I/O</a:t>
            </a:r>
            <a:r>
              <a:rPr lang="zh-CN" altLang="en-US" dirty="0"/>
              <a:t>，难以直接输出结构体变量。</a:t>
            </a:r>
            <a:endParaRPr lang="en-US" altLang="zh-CN" dirty="0"/>
          </a:p>
          <a:p>
            <a:pPr lvl="1"/>
            <a:r>
              <a:rPr lang="en-US" altLang="zh-CN" dirty="0"/>
              <a:t>C</a:t>
            </a:r>
            <a:r>
              <a:rPr lang="zh-CN" altLang="en-US" dirty="0"/>
              <a:t>语言中分配堆内存（动态空间）用</a:t>
            </a:r>
            <a:r>
              <a:rPr lang="en-US" altLang="zh-CN" dirty="0" err="1"/>
              <a:t>calloc,free</a:t>
            </a:r>
            <a:r>
              <a:rPr lang="zh-CN" altLang="en-US" dirty="0"/>
              <a:t>函数</a:t>
            </a:r>
            <a:r>
              <a:rPr lang="en-US" altLang="zh-CN" dirty="0"/>
              <a:t/>
            </a:r>
            <a:br>
              <a:rPr lang="en-US" altLang="zh-CN" dirty="0"/>
            </a:br>
            <a:r>
              <a:rPr lang="zh-CN" altLang="en-US" dirty="0"/>
              <a:t>实现，仅辟出一块空地，无法直接自动初始化（绕过变量构造的初始化、变量销毁的善后操作）。</a:t>
            </a:r>
            <a:endParaRPr lang="en-US" altLang="zh-CN" dirty="0"/>
          </a:p>
        </p:txBody>
      </p:sp>
    </p:spTree>
    <p:extLst>
      <p:ext uri="{BB962C8B-B14F-4D97-AF65-F5344CB8AC3E}">
        <p14:creationId xmlns:p14="http://schemas.microsoft.com/office/powerpoint/2010/main" val="91369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23825"/>
            <a:ext cx="8153400" cy="774700"/>
          </a:xfrm>
        </p:spPr>
        <p:txBody>
          <a:bodyPr/>
          <a:lstStyle/>
          <a:p>
            <a:pPr eaLnBrk="1" hangingPunct="1"/>
            <a:r>
              <a:rPr lang="en-US" altLang="zh-CN"/>
              <a:t>5.4</a:t>
            </a:r>
            <a:r>
              <a:rPr lang="zh-CN" altLang="en-US"/>
              <a:t> 动态变量和动态数组</a:t>
            </a:r>
            <a:endParaRPr lang="zh-CN" altLang="en-US" sz="4800"/>
          </a:p>
        </p:txBody>
      </p:sp>
      <p:sp>
        <p:nvSpPr>
          <p:cNvPr id="19459" name="Rectangle 3"/>
          <p:cNvSpPr>
            <a:spLocks noGrp="1" noChangeArrowheads="1"/>
          </p:cNvSpPr>
          <p:nvPr>
            <p:ph type="body" idx="1"/>
          </p:nvPr>
        </p:nvSpPr>
        <p:spPr>
          <a:xfrm>
            <a:off x="609600" y="1524000"/>
            <a:ext cx="7924800" cy="5029200"/>
          </a:xfrm>
        </p:spPr>
        <p:txBody>
          <a:bodyPr/>
          <a:lstStyle/>
          <a:p>
            <a:pPr eaLnBrk="1" hangingPunct="1">
              <a:lnSpc>
                <a:spcPct val="120000"/>
              </a:lnSpc>
              <a:spcBef>
                <a:spcPct val="45000"/>
              </a:spcBef>
            </a:pPr>
            <a:r>
              <a:rPr lang="zh-CN" altLang="en-US" dirty="0"/>
              <a:t>堆（</a:t>
            </a:r>
            <a:r>
              <a:rPr lang="en-US" altLang="zh-CN" dirty="0"/>
              <a:t>heap</a:t>
            </a:r>
            <a:r>
              <a:rPr lang="zh-CN" altLang="en-US" dirty="0"/>
              <a:t>）是程序数据区中的一种。作为一种系统资源，可以</a:t>
            </a:r>
          </a:p>
          <a:p>
            <a:pPr lvl="1" eaLnBrk="1" hangingPunct="1">
              <a:lnSpc>
                <a:spcPct val="120000"/>
              </a:lnSpc>
              <a:spcBef>
                <a:spcPct val="45000"/>
              </a:spcBef>
            </a:pPr>
            <a:r>
              <a:rPr lang="zh-CN" altLang="en-US" dirty="0"/>
              <a:t>按需申请使用</a:t>
            </a:r>
          </a:p>
          <a:p>
            <a:pPr lvl="1" eaLnBrk="1" hangingPunct="1">
              <a:lnSpc>
                <a:spcPct val="120000"/>
              </a:lnSpc>
              <a:spcBef>
                <a:spcPct val="45000"/>
              </a:spcBef>
            </a:pPr>
            <a:r>
              <a:rPr lang="zh-CN" altLang="en-US" dirty="0"/>
              <a:t>用后须归还</a:t>
            </a:r>
          </a:p>
        </p:txBody>
      </p:sp>
      <p:grpSp>
        <p:nvGrpSpPr>
          <p:cNvPr id="2" name="Group 4"/>
          <p:cNvGrpSpPr>
            <a:grpSpLocks/>
          </p:cNvGrpSpPr>
          <p:nvPr/>
        </p:nvGrpSpPr>
        <p:grpSpPr bwMode="auto">
          <a:xfrm>
            <a:off x="4876800" y="2133600"/>
            <a:ext cx="3276600" cy="4267200"/>
            <a:chOff x="3456" y="2016"/>
            <a:chExt cx="2064" cy="2064"/>
          </a:xfrm>
        </p:grpSpPr>
        <p:sp>
          <p:nvSpPr>
            <p:cNvPr id="19461" name="Rectangle 5"/>
            <p:cNvSpPr>
              <a:spLocks noChangeArrowheads="1"/>
            </p:cNvSpPr>
            <p:nvPr/>
          </p:nvSpPr>
          <p:spPr bwMode="auto">
            <a:xfrm>
              <a:off x="3456" y="2016"/>
              <a:ext cx="2064" cy="336"/>
            </a:xfrm>
            <a:prstGeom prst="rect">
              <a:avLst/>
            </a:prstGeom>
            <a:solidFill>
              <a:schemeClr val="bg1"/>
            </a:solidFill>
            <a:ln w="28575">
              <a:solidFill>
                <a:srgbClr val="990000"/>
              </a:solidFill>
              <a:miter lim="800000"/>
              <a:headEnd/>
              <a:tailEnd/>
            </a:ln>
          </p:spPr>
          <p:txBody>
            <a:bodyPr wrap="none" anchor="ctr"/>
            <a:lstStyle/>
            <a:p>
              <a:pPr algn="ctr"/>
              <a:r>
                <a:rPr lang="zh-CN" altLang="en-US" sz="2000" b="1">
                  <a:solidFill>
                    <a:srgbClr val="000000"/>
                  </a:solidFill>
                  <a:latin typeface="Arial" pitchFamily="34" charset="0"/>
                  <a:ea typeface="黑体" pitchFamily="49" charset="-122"/>
                </a:rPr>
                <a:t>代码区</a:t>
              </a:r>
              <a:r>
                <a:rPr lang="zh-CN" altLang="en-US" sz="2000" b="1">
                  <a:solidFill>
                    <a:srgbClr val="000000"/>
                  </a:solidFill>
                  <a:latin typeface="Courier New" pitchFamily="49" charset="0"/>
                  <a:ea typeface="黑体" pitchFamily="49" charset="-122"/>
                </a:rPr>
                <a:t>（</a:t>
              </a:r>
              <a:r>
                <a:rPr lang="en-US" altLang="zh-CN" sz="2000" b="1">
                  <a:solidFill>
                    <a:srgbClr val="000000"/>
                  </a:solidFill>
                  <a:latin typeface="Courier New" pitchFamily="49" charset="0"/>
                  <a:ea typeface="黑体" pitchFamily="49" charset="-122"/>
                </a:rPr>
                <a:t>code area</a:t>
              </a:r>
              <a:r>
                <a:rPr lang="zh-CN" altLang="en-US" sz="2000" b="1">
                  <a:solidFill>
                    <a:srgbClr val="000000"/>
                  </a:solidFill>
                  <a:latin typeface="Courier New" pitchFamily="49" charset="0"/>
                  <a:ea typeface="黑体" pitchFamily="49" charset="-122"/>
                </a:rPr>
                <a:t>）</a:t>
              </a:r>
              <a:endParaRPr lang="en-US" altLang="zh-CN" sz="2000" b="1">
                <a:solidFill>
                  <a:srgbClr val="000000"/>
                </a:solidFill>
                <a:latin typeface="Courier New" pitchFamily="49" charset="0"/>
                <a:ea typeface="黑体" pitchFamily="49" charset="-122"/>
              </a:endParaRPr>
            </a:p>
          </p:txBody>
        </p:sp>
        <p:sp>
          <p:nvSpPr>
            <p:cNvPr id="19462" name="Rectangle 6"/>
            <p:cNvSpPr>
              <a:spLocks noChangeArrowheads="1"/>
            </p:cNvSpPr>
            <p:nvPr/>
          </p:nvSpPr>
          <p:spPr bwMode="auto">
            <a:xfrm>
              <a:off x="3456" y="2400"/>
              <a:ext cx="2064" cy="480"/>
            </a:xfrm>
            <a:prstGeom prst="rect">
              <a:avLst/>
            </a:prstGeom>
            <a:solidFill>
              <a:schemeClr val="bg1"/>
            </a:solidFill>
            <a:ln w="28575">
              <a:solidFill>
                <a:srgbClr val="990000"/>
              </a:solidFill>
              <a:miter lim="800000"/>
              <a:headEnd/>
              <a:tailEnd/>
            </a:ln>
          </p:spPr>
          <p:txBody>
            <a:bodyPr wrap="none" anchor="ctr"/>
            <a:lstStyle/>
            <a:p>
              <a:pPr algn="ctr"/>
              <a:r>
                <a:rPr lang="zh-CN" altLang="en-US" sz="2000" b="1">
                  <a:solidFill>
                    <a:srgbClr val="000000"/>
                  </a:solidFill>
                  <a:latin typeface="Arial" pitchFamily="34" charset="0"/>
                  <a:ea typeface="黑体" pitchFamily="49" charset="-122"/>
                </a:rPr>
                <a:t>全局数据区</a:t>
              </a:r>
              <a:r>
                <a:rPr lang="zh-CN" altLang="en-US" sz="2000" b="1">
                  <a:solidFill>
                    <a:srgbClr val="000000"/>
                  </a:solidFill>
                  <a:latin typeface="Courier New" pitchFamily="49" charset="0"/>
                  <a:ea typeface="黑体" pitchFamily="49" charset="-122"/>
                </a:rPr>
                <a:t>（</a:t>
              </a:r>
              <a:r>
                <a:rPr lang="en-US" altLang="zh-CN" sz="2000" b="1">
                  <a:solidFill>
                    <a:srgbClr val="000000"/>
                  </a:solidFill>
                  <a:latin typeface="Courier New" pitchFamily="49" charset="0"/>
                  <a:ea typeface="黑体" pitchFamily="49" charset="-122"/>
                </a:rPr>
                <a:t>data area</a:t>
              </a:r>
              <a:r>
                <a:rPr lang="zh-CN" altLang="en-US" sz="2000" b="1">
                  <a:solidFill>
                    <a:srgbClr val="000000"/>
                  </a:solidFill>
                  <a:latin typeface="Courier New" pitchFamily="49" charset="0"/>
                  <a:ea typeface="黑体" pitchFamily="49" charset="-122"/>
                </a:rPr>
                <a:t>）</a:t>
              </a:r>
            </a:p>
            <a:p>
              <a:pPr algn="ctr"/>
              <a:r>
                <a:rPr lang="zh-CN" altLang="en-US" sz="2000" b="1">
                  <a:solidFill>
                    <a:srgbClr val="000000"/>
                  </a:solidFill>
                  <a:latin typeface="Courier New" pitchFamily="49" charset="0"/>
                  <a:ea typeface="黑体" pitchFamily="49" charset="-122"/>
                </a:rPr>
                <a:t>常量池</a:t>
              </a:r>
              <a:endParaRPr lang="en-US" altLang="zh-CN" sz="2000" b="1">
                <a:solidFill>
                  <a:srgbClr val="000000"/>
                </a:solidFill>
                <a:latin typeface="Courier New" pitchFamily="49" charset="0"/>
                <a:ea typeface="黑体" pitchFamily="49" charset="-122"/>
              </a:endParaRPr>
            </a:p>
          </p:txBody>
        </p:sp>
        <p:sp>
          <p:nvSpPr>
            <p:cNvPr id="19463" name="Rectangle 7"/>
            <p:cNvSpPr>
              <a:spLocks noChangeArrowheads="1"/>
            </p:cNvSpPr>
            <p:nvPr/>
          </p:nvSpPr>
          <p:spPr bwMode="auto">
            <a:xfrm>
              <a:off x="3456" y="2928"/>
              <a:ext cx="2064" cy="384"/>
            </a:xfrm>
            <a:prstGeom prst="rect">
              <a:avLst/>
            </a:prstGeom>
            <a:solidFill>
              <a:schemeClr val="bg1"/>
            </a:solidFill>
            <a:ln w="28575">
              <a:solidFill>
                <a:srgbClr val="990000"/>
              </a:solidFill>
              <a:miter lim="800000"/>
              <a:headEnd/>
              <a:tailEnd/>
            </a:ln>
          </p:spPr>
          <p:txBody>
            <a:bodyPr wrap="none" anchor="ctr"/>
            <a:lstStyle/>
            <a:p>
              <a:pPr algn="ctr"/>
              <a:r>
                <a:rPr lang="zh-CN" altLang="en-US" sz="2000" b="1">
                  <a:solidFill>
                    <a:srgbClr val="000000"/>
                  </a:solidFill>
                  <a:latin typeface="Arial" pitchFamily="34" charset="0"/>
                  <a:ea typeface="黑体" pitchFamily="49" charset="-122"/>
                </a:rPr>
                <a:t>栈区</a:t>
              </a:r>
              <a:r>
                <a:rPr lang="zh-CN" altLang="en-US" sz="2000" b="1">
                  <a:solidFill>
                    <a:srgbClr val="000000"/>
                  </a:solidFill>
                  <a:latin typeface="Courier New" pitchFamily="49" charset="0"/>
                  <a:ea typeface="黑体" pitchFamily="49" charset="-122"/>
                </a:rPr>
                <a:t>（</a:t>
              </a:r>
              <a:r>
                <a:rPr lang="en-US" altLang="zh-CN" sz="2000" b="1">
                  <a:solidFill>
                    <a:srgbClr val="000000"/>
                  </a:solidFill>
                  <a:latin typeface="Courier New" pitchFamily="49" charset="0"/>
                  <a:ea typeface="黑体" pitchFamily="49" charset="-122"/>
                </a:rPr>
                <a:t>stack area</a:t>
              </a:r>
              <a:r>
                <a:rPr lang="zh-CN" altLang="en-US" sz="2000" b="1">
                  <a:solidFill>
                    <a:srgbClr val="000000"/>
                  </a:solidFill>
                  <a:latin typeface="Courier New" pitchFamily="49" charset="0"/>
                  <a:ea typeface="黑体" pitchFamily="49" charset="-122"/>
                </a:rPr>
                <a:t>）</a:t>
              </a:r>
              <a:endParaRPr lang="en-US" altLang="zh-CN" sz="2000" b="1">
                <a:solidFill>
                  <a:srgbClr val="000000"/>
                </a:solidFill>
                <a:latin typeface="Courier New" pitchFamily="49" charset="0"/>
                <a:ea typeface="黑体" pitchFamily="49" charset="-122"/>
              </a:endParaRPr>
            </a:p>
          </p:txBody>
        </p:sp>
        <p:sp>
          <p:nvSpPr>
            <p:cNvPr id="19464" name="Rectangle 8"/>
            <p:cNvSpPr>
              <a:spLocks noChangeArrowheads="1"/>
            </p:cNvSpPr>
            <p:nvPr/>
          </p:nvSpPr>
          <p:spPr bwMode="auto">
            <a:xfrm>
              <a:off x="3456" y="3360"/>
              <a:ext cx="2064" cy="720"/>
            </a:xfrm>
            <a:prstGeom prst="rect">
              <a:avLst/>
            </a:prstGeom>
            <a:solidFill>
              <a:schemeClr val="bg1"/>
            </a:solidFill>
            <a:ln w="28575">
              <a:solidFill>
                <a:srgbClr val="990000"/>
              </a:solidFill>
              <a:miter lim="800000"/>
              <a:headEnd/>
              <a:tailEnd/>
            </a:ln>
          </p:spPr>
          <p:txBody>
            <a:bodyPr wrap="none" anchor="ctr"/>
            <a:lstStyle/>
            <a:p>
              <a:pPr algn="ctr"/>
              <a:r>
                <a:rPr lang="zh-CN" altLang="en-US" sz="2000" b="1">
                  <a:solidFill>
                    <a:srgbClr val="000000"/>
                  </a:solidFill>
                  <a:latin typeface="Arial" pitchFamily="34" charset="0"/>
                  <a:ea typeface="黑体" pitchFamily="49" charset="-122"/>
                </a:rPr>
                <a:t>堆区</a:t>
              </a:r>
              <a:r>
                <a:rPr lang="zh-CN" altLang="en-US" sz="2000" b="1">
                  <a:solidFill>
                    <a:srgbClr val="000000"/>
                  </a:solidFill>
                  <a:latin typeface="Courier New" pitchFamily="49" charset="0"/>
                  <a:ea typeface="黑体" pitchFamily="49" charset="-122"/>
                </a:rPr>
                <a:t>（</a:t>
              </a:r>
              <a:r>
                <a:rPr lang="en-US" altLang="zh-CN" sz="2000" b="1">
                  <a:solidFill>
                    <a:srgbClr val="000000"/>
                  </a:solidFill>
                  <a:latin typeface="Courier New" pitchFamily="49" charset="0"/>
                  <a:ea typeface="黑体" pitchFamily="49" charset="-122"/>
                </a:rPr>
                <a:t>heap area</a:t>
              </a:r>
              <a:r>
                <a:rPr lang="zh-CN" altLang="en-US" sz="2000" b="1">
                  <a:solidFill>
                    <a:srgbClr val="000000"/>
                  </a:solidFill>
                  <a:latin typeface="Courier New" pitchFamily="49" charset="0"/>
                  <a:ea typeface="黑体" pitchFamily="49" charset="-122"/>
                </a:rPr>
                <a:t>）</a:t>
              </a:r>
              <a:endParaRPr lang="en-US" altLang="zh-CN" sz="2000" b="1">
                <a:solidFill>
                  <a:srgbClr val="000000"/>
                </a:solidFill>
                <a:latin typeface="Courier New" pitchFamily="49" charset="0"/>
                <a:ea typeface="黑体" pitchFamily="49" charset="-122"/>
              </a:endParaRPr>
            </a:p>
          </p:txBody>
        </p:sp>
      </p:grpSp>
    </p:spTree>
    <p:extLst>
      <p:ext uri="{BB962C8B-B14F-4D97-AF65-F5344CB8AC3E}">
        <p14:creationId xmlns:p14="http://schemas.microsoft.com/office/powerpoint/2010/main" val="36181549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0E0E3D-EC03-4F86-A672-41EA3B4A7E12}"/>
              </a:ext>
            </a:extLst>
          </p:cNvPr>
          <p:cNvSpPr>
            <a:spLocks noGrp="1"/>
          </p:cNvSpPr>
          <p:nvPr>
            <p:ph type="title"/>
          </p:nvPr>
        </p:nvSpPr>
        <p:spPr/>
        <p:txBody>
          <a:bodyPr/>
          <a:lstStyle/>
          <a:p>
            <a:r>
              <a:rPr lang="en-US" altLang="zh-CN" dirty="0"/>
              <a:t>C</a:t>
            </a:r>
            <a:r>
              <a:rPr lang="zh-CN" altLang="en-US" dirty="0"/>
              <a:t>语言中的函数</a:t>
            </a:r>
          </a:p>
        </p:txBody>
      </p:sp>
      <p:sp>
        <p:nvSpPr>
          <p:cNvPr id="3" name="内容占位符 2">
            <a:extLst>
              <a:ext uri="{FF2B5EF4-FFF2-40B4-BE49-F238E27FC236}">
                <a16:creationId xmlns:a16="http://schemas.microsoft.com/office/drawing/2014/main" id="{B0110AD0-1615-4491-A12C-DB4C5767F624}"/>
              </a:ext>
            </a:extLst>
          </p:cNvPr>
          <p:cNvSpPr>
            <a:spLocks noGrp="1"/>
          </p:cNvSpPr>
          <p:nvPr>
            <p:ph idx="1"/>
          </p:nvPr>
        </p:nvSpPr>
        <p:spPr/>
        <p:txBody>
          <a:bodyPr/>
          <a:lstStyle/>
          <a:p>
            <a:r>
              <a:rPr lang="en-US" altLang="zh-CN" sz="2400" dirty="0"/>
              <a:t> </a:t>
            </a:r>
            <a:r>
              <a:rPr lang="zh-CN" altLang="en-US" sz="2400" dirty="0"/>
              <a:t>申请堆空间单元</a:t>
            </a:r>
            <a:endParaRPr lang="en-US" altLang="zh-CN" sz="2400" dirty="0"/>
          </a:p>
          <a:p>
            <a:pPr marL="0" indent="0">
              <a:buNone/>
            </a:pPr>
            <a:r>
              <a:rPr lang="en-US" altLang="zh-CN" sz="2400" dirty="0"/>
              <a:t>   </a:t>
            </a:r>
            <a:r>
              <a:rPr lang="en-US" altLang="zh-CN" sz="2400" dirty="0">
                <a:solidFill>
                  <a:srgbClr val="0000FF"/>
                </a:solidFill>
              </a:rPr>
              <a:t>void </a:t>
            </a:r>
            <a:r>
              <a:rPr lang="en-US" altLang="zh-CN" sz="2400" dirty="0"/>
              <a:t>* </a:t>
            </a:r>
            <a:r>
              <a:rPr lang="en-US" altLang="zh-CN" sz="2400" dirty="0" err="1"/>
              <a:t>calloc</a:t>
            </a:r>
            <a:r>
              <a:rPr lang="en-US" altLang="zh-CN" sz="2400" dirty="0"/>
              <a:t>(</a:t>
            </a:r>
            <a:r>
              <a:rPr lang="en-US" altLang="zh-CN" sz="2400" dirty="0" err="1"/>
              <a:t>size_t</a:t>
            </a:r>
            <a:r>
              <a:rPr lang="en-US" altLang="zh-CN" sz="2400" dirty="0"/>
              <a:t> num, </a:t>
            </a:r>
            <a:r>
              <a:rPr lang="en-US" altLang="zh-CN" sz="2400" dirty="0" err="1"/>
              <a:t>size_t</a:t>
            </a:r>
            <a:r>
              <a:rPr lang="en-US" altLang="zh-CN" sz="2400" dirty="0"/>
              <a:t> size);</a:t>
            </a:r>
          </a:p>
          <a:p>
            <a:pPr marL="0" indent="0">
              <a:buNone/>
            </a:pPr>
            <a:r>
              <a:rPr lang="en-US" altLang="zh-CN" sz="2400" dirty="0"/>
              <a:t>   </a:t>
            </a:r>
            <a:r>
              <a:rPr lang="en-US" altLang="zh-CN" sz="2400" dirty="0">
                <a:solidFill>
                  <a:srgbClr val="0000FF"/>
                </a:solidFill>
              </a:rPr>
              <a:t>void </a:t>
            </a:r>
            <a:r>
              <a:rPr lang="en-US" altLang="zh-CN" sz="2400" dirty="0"/>
              <a:t>* malloc(</a:t>
            </a:r>
            <a:r>
              <a:rPr lang="en-US" altLang="zh-CN" sz="2400" dirty="0" err="1"/>
              <a:t>size_t</a:t>
            </a:r>
            <a:r>
              <a:rPr lang="en-US" altLang="zh-CN" sz="2400" dirty="0"/>
              <a:t> size);</a:t>
            </a:r>
          </a:p>
          <a:p>
            <a:r>
              <a:rPr lang="en-US" altLang="zh-CN" sz="2400" dirty="0"/>
              <a:t> </a:t>
            </a:r>
            <a:r>
              <a:rPr lang="zh-CN" altLang="en-US" sz="2400" dirty="0"/>
              <a:t>重新申请</a:t>
            </a:r>
            <a:endParaRPr lang="en-US" altLang="zh-CN" sz="2400" dirty="0"/>
          </a:p>
          <a:p>
            <a:pPr marL="0" indent="0">
              <a:buNone/>
            </a:pPr>
            <a:r>
              <a:rPr lang="en-US" altLang="zh-CN" sz="2400" dirty="0"/>
              <a:t>   </a:t>
            </a:r>
            <a:r>
              <a:rPr lang="en-US" altLang="zh-CN" sz="2400" dirty="0">
                <a:solidFill>
                  <a:srgbClr val="0000FF"/>
                </a:solidFill>
              </a:rPr>
              <a:t>void </a:t>
            </a:r>
            <a:r>
              <a:rPr lang="en-US" altLang="zh-CN" sz="2400" dirty="0"/>
              <a:t>* </a:t>
            </a:r>
            <a:r>
              <a:rPr lang="en-US" altLang="zh-CN" sz="2400" dirty="0" err="1"/>
              <a:t>realloc</a:t>
            </a:r>
            <a:r>
              <a:rPr lang="en-US" altLang="zh-CN" sz="2400" dirty="0"/>
              <a:t>(void* </a:t>
            </a:r>
            <a:r>
              <a:rPr lang="en-US" altLang="zh-CN" sz="2400" dirty="0" err="1"/>
              <a:t>ptr</a:t>
            </a:r>
            <a:r>
              <a:rPr lang="en-US" altLang="zh-CN" sz="2400" dirty="0"/>
              <a:t>, </a:t>
            </a:r>
            <a:r>
              <a:rPr lang="en-US" altLang="zh-CN" sz="2400" dirty="0" err="1"/>
              <a:t>size_t</a:t>
            </a:r>
            <a:r>
              <a:rPr lang="en-US" altLang="zh-CN" sz="2400" dirty="0"/>
              <a:t> size);</a:t>
            </a:r>
          </a:p>
          <a:p>
            <a:r>
              <a:rPr lang="en-US" altLang="zh-CN" sz="2400" dirty="0"/>
              <a:t> </a:t>
            </a:r>
            <a:r>
              <a:rPr lang="zh-CN" altLang="en-US" sz="2400" dirty="0"/>
              <a:t>释放</a:t>
            </a:r>
            <a:endParaRPr lang="en-US" altLang="zh-CN" sz="2400" dirty="0"/>
          </a:p>
          <a:p>
            <a:pPr marL="0" indent="0">
              <a:buNone/>
            </a:pPr>
            <a:r>
              <a:rPr lang="en-US" altLang="zh-CN" sz="2400" dirty="0"/>
              <a:t>   </a:t>
            </a:r>
            <a:r>
              <a:rPr lang="en-US" altLang="zh-CN" sz="2400" dirty="0">
                <a:solidFill>
                  <a:srgbClr val="0000FF"/>
                </a:solidFill>
              </a:rPr>
              <a:t>void</a:t>
            </a:r>
            <a:r>
              <a:rPr lang="en-US" altLang="zh-CN" sz="2400" dirty="0"/>
              <a:t> free(</a:t>
            </a:r>
            <a:r>
              <a:rPr lang="en-US" altLang="zh-CN" sz="2400" dirty="0">
                <a:solidFill>
                  <a:srgbClr val="0000FF"/>
                </a:solidFill>
              </a:rPr>
              <a:t>void </a:t>
            </a:r>
            <a:r>
              <a:rPr lang="en-US" altLang="zh-CN" sz="2400" dirty="0"/>
              <a:t>* </a:t>
            </a:r>
            <a:r>
              <a:rPr lang="en-US" altLang="zh-CN" sz="2400" dirty="0" err="1"/>
              <a:t>ptr</a:t>
            </a:r>
            <a:r>
              <a:rPr lang="en-US" altLang="zh-CN" sz="2400" dirty="0"/>
              <a:t>);</a:t>
            </a:r>
          </a:p>
          <a:p>
            <a:pPr marL="0" indent="0">
              <a:buNone/>
            </a:pPr>
            <a:endParaRPr lang="en-US" altLang="zh-CN" sz="2400" dirty="0"/>
          </a:p>
          <a:p>
            <a:r>
              <a:rPr lang="zh-CN" altLang="en-US" sz="2400" dirty="0"/>
              <a:t> 说明（</a:t>
            </a:r>
            <a:r>
              <a:rPr lang="en-US" altLang="zh-CN" sz="2400" dirty="0"/>
              <a:t>C</a:t>
            </a:r>
            <a:r>
              <a:rPr lang="zh-CN" altLang="en-US" sz="2400" dirty="0"/>
              <a:t>语言中上述函数的“不足”）</a:t>
            </a:r>
            <a:endParaRPr lang="en-US" altLang="zh-CN" sz="2400" dirty="0"/>
          </a:p>
          <a:p>
            <a:pPr lvl="1"/>
            <a:r>
              <a:rPr lang="zh-CN" altLang="en-US" sz="2000" dirty="0"/>
              <a:t>申请堆空间单元的函数不知道这一片内存单元的作用，返回首地址值（目标类型 </a:t>
            </a:r>
            <a:r>
              <a:rPr lang="en-US" altLang="zh-CN" sz="2000" dirty="0"/>
              <a:t>void</a:t>
            </a:r>
            <a:r>
              <a:rPr lang="zh-CN" altLang="en-US" sz="2000" dirty="0"/>
              <a:t>*）。</a:t>
            </a:r>
            <a:endParaRPr lang="en-US" altLang="zh-CN" sz="2000" dirty="0"/>
          </a:p>
          <a:p>
            <a:pPr lvl="1"/>
            <a:r>
              <a:rPr lang="zh-CN" altLang="en-US" sz="2000" dirty="0"/>
              <a:t>释放：只是简单地“收回”，不管其什么目标类型。</a:t>
            </a:r>
          </a:p>
        </p:txBody>
      </p:sp>
    </p:spTree>
    <p:extLst>
      <p:ext uri="{BB962C8B-B14F-4D97-AF65-F5344CB8AC3E}">
        <p14:creationId xmlns:p14="http://schemas.microsoft.com/office/powerpoint/2010/main" val="427521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a:t>申请及释放动态变量（堆变量）</a:t>
            </a:r>
          </a:p>
        </p:txBody>
      </p:sp>
      <p:sp>
        <p:nvSpPr>
          <p:cNvPr id="257027" name="Rectangle 3"/>
          <p:cNvSpPr>
            <a:spLocks noGrp="1" noChangeArrowheads="1"/>
          </p:cNvSpPr>
          <p:nvPr>
            <p:ph type="body" idx="1"/>
          </p:nvPr>
        </p:nvSpPr>
        <p:spPr/>
        <p:txBody>
          <a:bodyPr/>
          <a:lstStyle/>
          <a:p>
            <a:pPr eaLnBrk="1" hangingPunct="1"/>
            <a:r>
              <a:rPr lang="zh-CN" altLang="en-US" dirty="0"/>
              <a:t>语法格式</a:t>
            </a:r>
          </a:p>
          <a:p>
            <a:pPr lvl="1" eaLnBrk="1" hangingPunct="1"/>
            <a:r>
              <a:rPr lang="zh-CN" altLang="en-US" dirty="0"/>
              <a:t>申请堆变量</a:t>
            </a:r>
            <a:r>
              <a:rPr lang="en-US" altLang="zh-CN" dirty="0"/>
              <a:t>	</a:t>
            </a:r>
            <a:r>
              <a:rPr lang="en-US" altLang="zh-CN" dirty="0">
                <a:solidFill>
                  <a:srgbClr val="0000FF"/>
                </a:solidFill>
              </a:rPr>
              <a:t>new</a:t>
            </a:r>
            <a:r>
              <a:rPr lang="en-US" altLang="zh-CN" dirty="0"/>
              <a:t> </a:t>
            </a:r>
            <a:r>
              <a:rPr lang="zh-CN" altLang="en-US" sz="2000" dirty="0">
                <a:ea typeface="楷体_GB2312" pitchFamily="49" charset="-122"/>
              </a:rPr>
              <a:t>数据类型</a:t>
            </a:r>
            <a:r>
              <a:rPr lang="en-US" altLang="zh-CN" dirty="0">
                <a:ea typeface="楷体_GB2312" pitchFamily="49" charset="-122"/>
              </a:rPr>
              <a:t/>
            </a:r>
            <a:br>
              <a:rPr lang="en-US" altLang="zh-CN" dirty="0">
                <a:ea typeface="楷体_GB2312" pitchFamily="49" charset="-122"/>
              </a:rPr>
            </a:br>
            <a:r>
              <a:rPr lang="en-US" altLang="zh-CN" dirty="0">
                <a:ea typeface="楷体_GB2312" pitchFamily="49" charset="-122"/>
              </a:rPr>
              <a:t>        	</a:t>
            </a:r>
            <a:r>
              <a:rPr lang="en-US" altLang="zh-CN" dirty="0">
                <a:solidFill>
                  <a:srgbClr val="0000FF"/>
                </a:solidFill>
              </a:rPr>
              <a:t>new</a:t>
            </a:r>
            <a:r>
              <a:rPr lang="en-US" altLang="zh-CN" dirty="0"/>
              <a:t> </a:t>
            </a:r>
            <a:r>
              <a:rPr lang="zh-CN" altLang="en-US" sz="2000" dirty="0">
                <a:ea typeface="楷体_GB2312" pitchFamily="49" charset="-122"/>
              </a:rPr>
              <a:t>数据类型</a:t>
            </a:r>
            <a:r>
              <a:rPr lang="en-US" altLang="zh-CN" sz="2000" dirty="0">
                <a:ea typeface="楷体_GB2312" pitchFamily="49" charset="-122"/>
              </a:rPr>
              <a:t>(</a:t>
            </a:r>
            <a:r>
              <a:rPr lang="zh-CN" altLang="en-US" sz="2000" dirty="0">
                <a:ea typeface="楷体_GB2312" pitchFamily="49" charset="-122"/>
              </a:rPr>
              <a:t>初始化数值</a:t>
            </a:r>
            <a:r>
              <a:rPr lang="en-US" altLang="zh-CN" sz="2000" dirty="0">
                <a:ea typeface="楷体_GB2312" pitchFamily="49" charset="-122"/>
              </a:rPr>
              <a:t>)</a:t>
            </a:r>
            <a:endParaRPr lang="zh-CN" altLang="en-US" sz="2000" dirty="0"/>
          </a:p>
          <a:p>
            <a:pPr lvl="1" eaLnBrk="1" hangingPunct="1"/>
            <a:r>
              <a:rPr lang="zh-CN" altLang="en-US" dirty="0"/>
              <a:t>释放堆变量</a:t>
            </a:r>
            <a:r>
              <a:rPr lang="en-US" altLang="zh-CN" dirty="0"/>
              <a:t>	</a:t>
            </a:r>
            <a:r>
              <a:rPr lang="en-US" altLang="zh-CN" dirty="0">
                <a:solidFill>
                  <a:srgbClr val="0000FF"/>
                </a:solidFill>
              </a:rPr>
              <a:t>delete</a:t>
            </a:r>
            <a:r>
              <a:rPr lang="en-US" altLang="zh-CN" dirty="0"/>
              <a:t> </a:t>
            </a:r>
            <a:r>
              <a:rPr lang="zh-CN" altLang="en-US" sz="2000" dirty="0">
                <a:ea typeface="楷体_GB2312" pitchFamily="49" charset="-122"/>
              </a:rPr>
              <a:t>堆地址</a:t>
            </a:r>
            <a:endParaRPr lang="zh-CN" altLang="en-US" dirty="0">
              <a:ea typeface="楷体_GB2312" pitchFamily="49" charset="-122"/>
            </a:endParaRPr>
          </a:p>
          <a:p>
            <a:pPr eaLnBrk="1" hangingPunct="1"/>
            <a:r>
              <a:rPr lang="zh-CN" altLang="en-US" dirty="0"/>
              <a:t>说明</a:t>
            </a:r>
          </a:p>
          <a:p>
            <a:pPr lvl="1" eaLnBrk="1" hangingPunct="1"/>
            <a:r>
              <a:rPr lang="en-US" altLang="zh-CN" sz="2000" dirty="0">
                <a:solidFill>
                  <a:srgbClr val="0000FF"/>
                </a:solidFill>
              </a:rPr>
              <a:t>new</a:t>
            </a:r>
            <a:r>
              <a:rPr lang="en-US" altLang="zh-CN" sz="2000" dirty="0"/>
              <a:t> </a:t>
            </a:r>
            <a:r>
              <a:rPr lang="zh-CN" altLang="en-US" sz="2000" dirty="0">
                <a:solidFill>
                  <a:schemeClr val="tx2"/>
                </a:solidFill>
              </a:rPr>
              <a:t>是运算符，是</a:t>
            </a:r>
            <a:r>
              <a:rPr lang="en-US" altLang="zh-CN" sz="2000" dirty="0">
                <a:solidFill>
                  <a:schemeClr val="tx2"/>
                </a:solidFill>
              </a:rPr>
              <a:t>C++</a:t>
            </a:r>
            <a:r>
              <a:rPr lang="zh-CN" altLang="en-US" sz="2000" dirty="0">
                <a:solidFill>
                  <a:schemeClr val="tx2"/>
                </a:solidFill>
              </a:rPr>
              <a:t>的保留字</a:t>
            </a:r>
          </a:p>
          <a:p>
            <a:pPr lvl="1" eaLnBrk="1" hangingPunct="1"/>
            <a:r>
              <a:rPr lang="zh-CN" altLang="en-US" sz="2000" dirty="0">
                <a:solidFill>
                  <a:schemeClr val="tx2"/>
                </a:solidFill>
              </a:rPr>
              <a:t>执行</a:t>
            </a:r>
            <a:r>
              <a:rPr lang="en-US" altLang="zh-CN" sz="2000" dirty="0">
                <a:solidFill>
                  <a:srgbClr val="0000FF"/>
                </a:solidFill>
              </a:rPr>
              <a:t>new</a:t>
            </a:r>
            <a:r>
              <a:rPr lang="zh-CN" altLang="en-US" sz="2000" dirty="0">
                <a:solidFill>
                  <a:schemeClr val="tx2"/>
                </a:solidFill>
              </a:rPr>
              <a:t>操作，将在堆空间中</a:t>
            </a:r>
            <a:r>
              <a:rPr lang="zh-CN" altLang="en-US" sz="2000" dirty="0">
                <a:solidFill>
                  <a:schemeClr val="tx2"/>
                </a:solidFill>
                <a:latin typeface="Times New Roman" pitchFamily="18" charset="0"/>
              </a:rPr>
              <a:t>“</a:t>
            </a:r>
            <a:r>
              <a:rPr lang="zh-CN" altLang="en-US" sz="2000" dirty="0">
                <a:solidFill>
                  <a:schemeClr val="tx2"/>
                </a:solidFill>
              </a:rPr>
              <a:t>切下</a:t>
            </a:r>
            <a:r>
              <a:rPr lang="zh-CN" altLang="en-US" sz="2000" dirty="0">
                <a:solidFill>
                  <a:schemeClr val="tx2"/>
                </a:solidFill>
                <a:latin typeface="Times New Roman" pitchFamily="18" charset="0"/>
              </a:rPr>
              <a:t>”</a:t>
            </a:r>
            <a:r>
              <a:rPr lang="en-US" altLang="zh-CN" sz="2000" u="sng" dirty="0" err="1">
                <a:solidFill>
                  <a:srgbClr val="0000FF"/>
                </a:solidFill>
              </a:rPr>
              <a:t>sizeof</a:t>
            </a:r>
            <a:r>
              <a:rPr lang="en-US" altLang="zh-CN" sz="2000" u="sng" dirty="0">
                <a:solidFill>
                  <a:schemeClr val="tx2"/>
                </a:solidFill>
              </a:rPr>
              <a:t>(</a:t>
            </a:r>
            <a:r>
              <a:rPr lang="zh-CN" altLang="en-US" sz="2000" u="sng" dirty="0">
                <a:solidFill>
                  <a:schemeClr val="tx2"/>
                </a:solidFill>
                <a:ea typeface="楷体_GB2312" pitchFamily="49" charset="-122"/>
              </a:rPr>
              <a:t>数据类型</a:t>
            </a:r>
            <a:r>
              <a:rPr lang="en-US" altLang="zh-CN" sz="2000" u="sng" dirty="0">
                <a:solidFill>
                  <a:schemeClr val="tx2"/>
                </a:solidFill>
              </a:rPr>
              <a:t>)</a:t>
            </a:r>
            <a:r>
              <a:rPr lang="zh-CN" altLang="en-US" sz="2000" dirty="0">
                <a:solidFill>
                  <a:schemeClr val="tx2"/>
                </a:solidFill>
              </a:rPr>
              <a:t>字节的内存空间</a:t>
            </a:r>
          </a:p>
          <a:p>
            <a:pPr lvl="2" eaLnBrk="1" hangingPunct="1"/>
            <a:r>
              <a:rPr lang="zh-CN" altLang="en-US" sz="2000" dirty="0"/>
              <a:t>若操作成功，该运算返回所</a:t>
            </a:r>
            <a:r>
              <a:rPr lang="zh-CN" altLang="en-US" sz="2000" dirty="0">
                <a:latin typeface="Times New Roman" pitchFamily="18" charset="0"/>
              </a:rPr>
              <a:t>“</a:t>
            </a:r>
            <a:r>
              <a:rPr lang="zh-CN" altLang="en-US" sz="2000" dirty="0"/>
              <a:t>切下</a:t>
            </a:r>
            <a:r>
              <a:rPr lang="zh-CN" altLang="en-US" sz="2000" dirty="0">
                <a:latin typeface="Times New Roman" pitchFamily="18" charset="0"/>
              </a:rPr>
              <a:t>”的堆空间的首地址。该地址值须细心保存，以便访问该单元的内容已及（</a:t>
            </a:r>
            <a:r>
              <a:rPr lang="en-US" altLang="zh-CN" sz="2000" dirty="0">
                <a:solidFill>
                  <a:srgbClr val="0000FF"/>
                </a:solidFill>
              </a:rPr>
              <a:t>delete</a:t>
            </a:r>
            <a:r>
              <a:rPr lang="zh-CN" altLang="en-US" sz="2000" dirty="0">
                <a:solidFill>
                  <a:srgbClr val="0000FF"/>
                </a:solidFill>
              </a:rPr>
              <a:t>）</a:t>
            </a:r>
            <a:r>
              <a:rPr lang="zh-CN" altLang="en-US" sz="2000" dirty="0">
                <a:latin typeface="Times New Roman" pitchFamily="18" charset="0"/>
              </a:rPr>
              <a:t>释放该空间。</a:t>
            </a:r>
          </a:p>
          <a:p>
            <a:pPr lvl="2" eaLnBrk="1" hangingPunct="1"/>
            <a:r>
              <a:rPr lang="zh-CN" altLang="en-US" sz="2000" dirty="0">
                <a:latin typeface="Times New Roman" pitchFamily="18" charset="0"/>
              </a:rPr>
              <a:t>若操作不成功，该运算返回空地址</a:t>
            </a:r>
            <a:r>
              <a:rPr lang="en-US" altLang="zh-CN" sz="2000" dirty="0"/>
              <a:t>NULL</a:t>
            </a:r>
          </a:p>
          <a:p>
            <a:pPr lvl="1" eaLnBrk="1" hangingPunct="1"/>
            <a:r>
              <a:rPr lang="zh-CN" altLang="en-US" sz="2000" dirty="0">
                <a:solidFill>
                  <a:schemeClr val="tx2"/>
                </a:solidFill>
                <a:latin typeface="Times New Roman" pitchFamily="18" charset="0"/>
              </a:rPr>
              <a:t>堆变量没有原名，常用其间接名</a:t>
            </a:r>
          </a:p>
        </p:txBody>
      </p:sp>
      <p:sp>
        <p:nvSpPr>
          <p:cNvPr id="4" name="AutoShape 5">
            <a:extLst>
              <a:ext uri="{FF2B5EF4-FFF2-40B4-BE49-F238E27FC236}">
                <a16:creationId xmlns:a16="http://schemas.microsoft.com/office/drawing/2014/main" id="{2B7254FB-C75E-4A41-9206-F2C39397B1B9}"/>
              </a:ext>
            </a:extLst>
          </p:cNvPr>
          <p:cNvSpPr>
            <a:spLocks noChangeArrowheads="1"/>
          </p:cNvSpPr>
          <p:nvPr/>
        </p:nvSpPr>
        <p:spPr bwMode="auto">
          <a:xfrm>
            <a:off x="5344886" y="1219200"/>
            <a:ext cx="3657600" cy="783193"/>
          </a:xfrm>
          <a:prstGeom prst="wedgeRoundRectCallout">
            <a:avLst>
              <a:gd name="adj1" fmla="val -35025"/>
              <a:gd name="adj2" fmla="val 80967"/>
              <a:gd name="adj3" fmla="val 16667"/>
            </a:avLst>
          </a:prstGeom>
          <a:solidFill>
            <a:srgbClr val="FFFF00"/>
          </a:solidFill>
          <a:ln w="28575">
            <a:solidFill>
              <a:srgbClr val="990000"/>
            </a:solidFill>
            <a:miter lim="800000"/>
            <a:headEnd/>
            <a:tailEnd/>
          </a:ln>
        </p:spPr>
        <p:txBody>
          <a:bodyPr wrap="square">
            <a:spAutoFit/>
          </a:bodyPr>
          <a:lstStyle/>
          <a:p>
            <a:pPr algn="ctr"/>
            <a:r>
              <a:rPr lang="zh-CN" altLang="en-US" sz="2000" b="1" dirty="0">
                <a:solidFill>
                  <a:srgbClr val="0000FF"/>
                </a:solidFill>
              </a:rPr>
              <a:t>  与目标类型直接相关。</a:t>
            </a:r>
            <a:endParaRPr lang="en-US" altLang="zh-CN" sz="2000" b="1" dirty="0">
              <a:solidFill>
                <a:srgbClr val="0000FF"/>
              </a:solidFill>
            </a:endParaRPr>
          </a:p>
          <a:p>
            <a:pPr algn="ctr"/>
            <a:r>
              <a:rPr lang="zh-CN" altLang="en-US" sz="2000" b="1" dirty="0">
                <a:solidFill>
                  <a:srgbClr val="0000FF"/>
                </a:solidFill>
              </a:rPr>
              <a:t>可隐式（默认）或显式初始化</a:t>
            </a:r>
          </a:p>
        </p:txBody>
      </p:sp>
    </p:spTree>
    <p:extLst>
      <p:ext uri="{BB962C8B-B14F-4D97-AF65-F5344CB8AC3E}">
        <p14:creationId xmlns:p14="http://schemas.microsoft.com/office/powerpoint/2010/main" val="322095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70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702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702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70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702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702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702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702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702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build="p"/>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a:t>动态变量（堆变量）举例</a:t>
            </a:r>
          </a:p>
        </p:txBody>
      </p:sp>
      <p:sp>
        <p:nvSpPr>
          <p:cNvPr id="258051" name="Rectangle 3"/>
          <p:cNvSpPr>
            <a:spLocks noGrp="1" noChangeArrowheads="1"/>
          </p:cNvSpPr>
          <p:nvPr>
            <p:ph type="body" idx="1"/>
          </p:nvPr>
        </p:nvSpPr>
        <p:spPr/>
        <p:txBody>
          <a:bodyPr/>
          <a:lstStyle/>
          <a:p>
            <a:pPr eaLnBrk="1" hangingPunct="1"/>
            <a:endParaRPr lang="zh-CN" altLang="en-US" dirty="0">
              <a:latin typeface="Times New Roman" pitchFamily="18" charset="0"/>
            </a:endParaRPr>
          </a:p>
          <a:p>
            <a:pPr lvl="1" eaLnBrk="1" hangingPunct="1">
              <a:buFont typeface="Wingdings" pitchFamily="2" charset="2"/>
              <a:buNone/>
            </a:pPr>
            <a:r>
              <a:rPr lang="en-US" altLang="zh-CN" dirty="0">
                <a:solidFill>
                  <a:srgbClr val="0000FF"/>
                </a:solidFill>
              </a:rPr>
              <a:t>double</a:t>
            </a:r>
            <a:r>
              <a:rPr lang="en-US" altLang="zh-CN" dirty="0">
                <a:solidFill>
                  <a:schemeClr val="tx2"/>
                </a:solidFill>
              </a:rPr>
              <a:t> *p;	</a:t>
            </a:r>
            <a:r>
              <a:rPr lang="en-US" altLang="zh-CN" sz="2000" dirty="0">
                <a:solidFill>
                  <a:srgbClr val="990000"/>
                </a:solidFill>
              </a:rPr>
              <a:t>// </a:t>
            </a:r>
            <a:r>
              <a:rPr lang="zh-CN" altLang="en-US" sz="2000" dirty="0">
                <a:solidFill>
                  <a:srgbClr val="990000"/>
                </a:solidFill>
              </a:rPr>
              <a:t>定义指针变量，占</a:t>
            </a:r>
            <a:r>
              <a:rPr lang="en-US" altLang="zh-CN" sz="2000" dirty="0">
                <a:solidFill>
                  <a:srgbClr val="990000"/>
                </a:solidFill>
              </a:rPr>
              <a:t>4</a:t>
            </a:r>
            <a:r>
              <a:rPr lang="zh-CN" altLang="en-US" sz="2000" dirty="0">
                <a:solidFill>
                  <a:srgbClr val="990000"/>
                </a:solidFill>
              </a:rPr>
              <a:t>字节，用于存放地址值</a:t>
            </a:r>
          </a:p>
          <a:p>
            <a:pPr lvl="1" eaLnBrk="1" hangingPunct="1">
              <a:buFont typeface="Wingdings" pitchFamily="2" charset="2"/>
              <a:buNone/>
            </a:pPr>
            <a:r>
              <a:rPr lang="en-US" altLang="zh-CN" dirty="0">
                <a:solidFill>
                  <a:schemeClr val="tx2"/>
                </a:solidFill>
              </a:rPr>
              <a:t>p = </a:t>
            </a:r>
            <a:r>
              <a:rPr lang="en-US" altLang="zh-CN" dirty="0">
                <a:solidFill>
                  <a:srgbClr val="0000FF"/>
                </a:solidFill>
              </a:rPr>
              <a:t>new</a:t>
            </a:r>
            <a:r>
              <a:rPr lang="en-US" altLang="zh-CN" dirty="0">
                <a:solidFill>
                  <a:schemeClr val="tx2"/>
                </a:solidFill>
              </a:rPr>
              <a:t> </a:t>
            </a:r>
            <a:r>
              <a:rPr lang="en-US" altLang="zh-CN" dirty="0">
                <a:solidFill>
                  <a:srgbClr val="0000FF"/>
                </a:solidFill>
              </a:rPr>
              <a:t>double</a:t>
            </a:r>
            <a:r>
              <a:rPr lang="en-US" altLang="zh-CN" dirty="0">
                <a:solidFill>
                  <a:schemeClr val="tx2"/>
                </a:solidFill>
              </a:rPr>
              <a:t>;</a:t>
            </a:r>
            <a:r>
              <a:rPr lang="en-US" altLang="zh-CN" dirty="0">
                <a:solidFill>
                  <a:srgbClr val="0000FF"/>
                </a:solidFill>
              </a:rPr>
              <a:t>	</a:t>
            </a:r>
            <a:r>
              <a:rPr lang="en-US" altLang="zh-CN" sz="2000" dirty="0">
                <a:solidFill>
                  <a:srgbClr val="990000"/>
                </a:solidFill>
              </a:rPr>
              <a:t>// </a:t>
            </a:r>
            <a:r>
              <a:rPr lang="zh-CN" altLang="en-US" sz="2000" dirty="0">
                <a:solidFill>
                  <a:srgbClr val="990000"/>
                </a:solidFill>
              </a:rPr>
              <a:t>申请堆变量，将地址值保存到 </a:t>
            </a:r>
            <a:r>
              <a:rPr lang="en-US" altLang="zh-CN" sz="2000" dirty="0">
                <a:solidFill>
                  <a:srgbClr val="990000"/>
                </a:solidFill>
              </a:rPr>
              <a:t>p </a:t>
            </a:r>
            <a:r>
              <a:rPr lang="zh-CN" altLang="en-US" sz="2000" dirty="0">
                <a:solidFill>
                  <a:srgbClr val="990000"/>
                </a:solidFill>
              </a:rPr>
              <a:t>中</a:t>
            </a:r>
          </a:p>
          <a:p>
            <a:pPr lvl="1" eaLnBrk="1" hangingPunct="1">
              <a:buFont typeface="Wingdings" pitchFamily="2" charset="2"/>
              <a:buNone/>
            </a:pPr>
            <a:r>
              <a:rPr lang="zh-CN" altLang="en-US" dirty="0">
                <a:solidFill>
                  <a:schemeClr val="tx2"/>
                </a:solidFill>
              </a:rPr>
              <a:t>*</a:t>
            </a:r>
            <a:r>
              <a:rPr lang="en-US" altLang="zh-CN" dirty="0">
                <a:solidFill>
                  <a:schemeClr val="tx2"/>
                </a:solidFill>
              </a:rPr>
              <a:t>p = 3.14;		</a:t>
            </a:r>
            <a:r>
              <a:rPr lang="en-US" altLang="zh-CN" sz="2000" dirty="0">
                <a:solidFill>
                  <a:srgbClr val="990000"/>
                </a:solidFill>
              </a:rPr>
              <a:t>// *p </a:t>
            </a:r>
            <a:r>
              <a:rPr lang="zh-CN" altLang="en-US" sz="2000" dirty="0">
                <a:solidFill>
                  <a:srgbClr val="990000"/>
                </a:solidFill>
              </a:rPr>
              <a:t>为堆变量的间接名，作左值</a:t>
            </a:r>
          </a:p>
          <a:p>
            <a:pPr lvl="1" eaLnBrk="1" hangingPunct="1">
              <a:buFont typeface="Wingdings" pitchFamily="2" charset="2"/>
              <a:buNone/>
            </a:pPr>
            <a:r>
              <a:rPr lang="en-US" altLang="zh-CN" dirty="0" err="1">
                <a:solidFill>
                  <a:schemeClr val="tx2"/>
                </a:solidFill>
              </a:rPr>
              <a:t>cout</a:t>
            </a:r>
            <a:r>
              <a:rPr lang="en-US" altLang="zh-CN" dirty="0">
                <a:solidFill>
                  <a:schemeClr val="tx2"/>
                </a:solidFill>
              </a:rPr>
              <a:t> &lt;&lt; *p &lt;&lt; </a:t>
            </a:r>
            <a:r>
              <a:rPr lang="en-US" altLang="zh-CN" dirty="0" err="1">
                <a:solidFill>
                  <a:schemeClr val="tx2"/>
                </a:solidFill>
              </a:rPr>
              <a:t>endl</a:t>
            </a:r>
            <a:r>
              <a:rPr lang="en-US" altLang="zh-CN" dirty="0">
                <a:solidFill>
                  <a:schemeClr val="tx2"/>
                </a:solidFill>
              </a:rPr>
              <a:t>;	</a:t>
            </a:r>
            <a:r>
              <a:rPr lang="en-US" altLang="zh-CN" sz="2000" dirty="0">
                <a:solidFill>
                  <a:srgbClr val="990000"/>
                </a:solidFill>
              </a:rPr>
              <a:t>// *p </a:t>
            </a:r>
            <a:r>
              <a:rPr lang="zh-CN" altLang="en-US" sz="2000" dirty="0">
                <a:solidFill>
                  <a:srgbClr val="990000"/>
                </a:solidFill>
              </a:rPr>
              <a:t>作右值</a:t>
            </a:r>
          </a:p>
          <a:p>
            <a:pPr lvl="1" eaLnBrk="1" hangingPunct="1">
              <a:buFont typeface="Wingdings" pitchFamily="2" charset="2"/>
              <a:buNone/>
            </a:pPr>
            <a:r>
              <a:rPr lang="en-US" altLang="zh-CN" dirty="0">
                <a:solidFill>
                  <a:srgbClr val="0000FF"/>
                </a:solidFill>
              </a:rPr>
              <a:t>delete </a:t>
            </a:r>
            <a:r>
              <a:rPr lang="en-US" altLang="zh-CN" dirty="0">
                <a:solidFill>
                  <a:schemeClr val="tx2"/>
                </a:solidFill>
              </a:rPr>
              <a:t>p;			</a:t>
            </a:r>
            <a:r>
              <a:rPr lang="en-US" altLang="zh-CN" sz="2000" dirty="0">
                <a:solidFill>
                  <a:srgbClr val="990000"/>
                </a:solidFill>
              </a:rPr>
              <a:t>// </a:t>
            </a:r>
            <a:r>
              <a:rPr lang="zh-CN" altLang="en-US" sz="2000" dirty="0">
                <a:solidFill>
                  <a:srgbClr val="990000"/>
                </a:solidFill>
              </a:rPr>
              <a:t>释放堆变量</a:t>
            </a:r>
          </a:p>
          <a:p>
            <a:pPr eaLnBrk="1" hangingPunct="1"/>
            <a:endParaRPr lang="zh-CN" altLang="en-US" dirty="0"/>
          </a:p>
        </p:txBody>
      </p:sp>
    </p:spTree>
    <p:extLst>
      <p:ext uri="{BB962C8B-B14F-4D97-AF65-F5344CB8AC3E}">
        <p14:creationId xmlns:p14="http://schemas.microsoft.com/office/powerpoint/2010/main" val="73875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80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80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80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805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8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a:t>申请及释放动态数组（堆数组）</a:t>
            </a:r>
          </a:p>
        </p:txBody>
      </p:sp>
      <p:sp>
        <p:nvSpPr>
          <p:cNvPr id="259075" name="Rectangle 3"/>
          <p:cNvSpPr>
            <a:spLocks noGrp="1" noChangeArrowheads="1"/>
          </p:cNvSpPr>
          <p:nvPr>
            <p:ph type="body" idx="1"/>
          </p:nvPr>
        </p:nvSpPr>
        <p:spPr>
          <a:xfrm>
            <a:off x="381000" y="1295400"/>
            <a:ext cx="8610600" cy="5334000"/>
          </a:xfrm>
        </p:spPr>
        <p:txBody>
          <a:bodyPr/>
          <a:lstStyle/>
          <a:p>
            <a:pPr eaLnBrk="1" hangingPunct="1"/>
            <a:r>
              <a:rPr lang="zh-CN" altLang="en-US" dirty="0"/>
              <a:t>语法格式</a:t>
            </a:r>
          </a:p>
          <a:p>
            <a:pPr lvl="1" eaLnBrk="1" hangingPunct="1"/>
            <a:r>
              <a:rPr lang="zh-CN" altLang="en-US" dirty="0"/>
              <a:t>申请堆数组   </a:t>
            </a:r>
            <a:r>
              <a:rPr lang="en-US" altLang="zh-CN" dirty="0">
                <a:solidFill>
                  <a:srgbClr val="0000FF"/>
                </a:solidFill>
              </a:rPr>
              <a:t>new</a:t>
            </a:r>
            <a:r>
              <a:rPr lang="en-US" altLang="zh-CN" dirty="0"/>
              <a:t> </a:t>
            </a:r>
            <a:r>
              <a:rPr lang="zh-CN" altLang="en-US" sz="2000" dirty="0">
                <a:ea typeface="楷体_GB2312" pitchFamily="49" charset="-122"/>
              </a:rPr>
              <a:t>数据类型</a:t>
            </a:r>
            <a:r>
              <a:rPr lang="en-US" altLang="zh-CN" sz="2000" dirty="0">
                <a:ea typeface="楷体_GB2312" pitchFamily="49" charset="-122"/>
              </a:rPr>
              <a:t>[</a:t>
            </a:r>
            <a:r>
              <a:rPr lang="zh-CN" altLang="en-US" sz="2000" dirty="0">
                <a:ea typeface="楷体_GB2312" pitchFamily="49" charset="-122"/>
              </a:rPr>
              <a:t>元素个数</a:t>
            </a:r>
            <a:r>
              <a:rPr lang="en-US" altLang="zh-CN" sz="2000" dirty="0">
                <a:ea typeface="楷体_GB2312" pitchFamily="49" charset="-122"/>
              </a:rPr>
              <a:t>]</a:t>
            </a:r>
            <a:endParaRPr lang="en-US" altLang="zh-CN" sz="2000" dirty="0"/>
          </a:p>
          <a:p>
            <a:pPr lvl="1" eaLnBrk="1" hangingPunct="1"/>
            <a:r>
              <a:rPr lang="zh-CN" altLang="en-US" dirty="0"/>
              <a:t>释放堆数组   </a:t>
            </a:r>
            <a:r>
              <a:rPr lang="en-US" altLang="zh-CN" dirty="0">
                <a:solidFill>
                  <a:srgbClr val="0000FF"/>
                </a:solidFill>
              </a:rPr>
              <a:t>delete</a:t>
            </a:r>
            <a:r>
              <a:rPr lang="en-US" altLang="zh-CN" dirty="0"/>
              <a:t> </a:t>
            </a:r>
            <a:r>
              <a:rPr lang="en-US" altLang="zh-CN" sz="2000" dirty="0"/>
              <a:t>[] </a:t>
            </a:r>
            <a:r>
              <a:rPr lang="zh-CN" altLang="en-US" sz="2000" dirty="0">
                <a:ea typeface="楷体_GB2312" pitchFamily="49" charset="-122"/>
              </a:rPr>
              <a:t>堆地址</a:t>
            </a:r>
            <a:endParaRPr lang="zh-CN" altLang="en-US" dirty="0">
              <a:ea typeface="楷体_GB2312" pitchFamily="49" charset="-122"/>
            </a:endParaRPr>
          </a:p>
          <a:p>
            <a:pPr eaLnBrk="1" hangingPunct="1"/>
            <a:r>
              <a:rPr lang="zh-CN" altLang="en-US" dirty="0"/>
              <a:t>说明</a:t>
            </a:r>
          </a:p>
          <a:p>
            <a:pPr lvl="1" eaLnBrk="1" hangingPunct="1"/>
            <a:r>
              <a:rPr lang="zh-CN" altLang="en-US" dirty="0">
                <a:solidFill>
                  <a:schemeClr val="tx2"/>
                </a:solidFill>
              </a:rPr>
              <a:t>将在堆空间中</a:t>
            </a:r>
            <a:r>
              <a:rPr lang="zh-CN" altLang="en-US" dirty="0">
                <a:solidFill>
                  <a:schemeClr val="tx2"/>
                </a:solidFill>
                <a:latin typeface="Times New Roman" pitchFamily="18" charset="0"/>
              </a:rPr>
              <a:t>“</a:t>
            </a:r>
            <a:r>
              <a:rPr lang="zh-CN" altLang="en-US" dirty="0">
                <a:solidFill>
                  <a:schemeClr val="tx2"/>
                </a:solidFill>
              </a:rPr>
              <a:t>切下</a:t>
            </a:r>
            <a:r>
              <a:rPr lang="zh-CN" altLang="en-US" dirty="0">
                <a:solidFill>
                  <a:schemeClr val="tx2"/>
                </a:solidFill>
                <a:latin typeface="Times New Roman" pitchFamily="18" charset="0"/>
              </a:rPr>
              <a:t>”  </a:t>
            </a:r>
            <a:r>
              <a:rPr lang="zh-CN" altLang="en-US" sz="2000" u="sng" dirty="0">
                <a:solidFill>
                  <a:schemeClr val="tx2"/>
                </a:solidFill>
                <a:latin typeface="Times New Roman" pitchFamily="18" charset="0"/>
                <a:ea typeface="楷体_GB2312" pitchFamily="49" charset="-122"/>
              </a:rPr>
              <a:t>元素个数</a:t>
            </a:r>
            <a:r>
              <a:rPr lang="en-US" altLang="zh-CN" u="sng" dirty="0">
                <a:solidFill>
                  <a:schemeClr val="tx2"/>
                </a:solidFill>
                <a:latin typeface="Times New Roman" pitchFamily="18" charset="0"/>
                <a:ea typeface="楷体_GB2312" pitchFamily="49" charset="-122"/>
              </a:rPr>
              <a:t>×</a:t>
            </a:r>
            <a:r>
              <a:rPr lang="en-US" altLang="zh-CN" u="sng" dirty="0" err="1">
                <a:solidFill>
                  <a:srgbClr val="0000FF"/>
                </a:solidFill>
              </a:rPr>
              <a:t>sizeof</a:t>
            </a:r>
            <a:r>
              <a:rPr lang="en-US" altLang="zh-CN" u="sng" dirty="0">
                <a:solidFill>
                  <a:schemeClr val="tx2"/>
                </a:solidFill>
              </a:rPr>
              <a:t>(</a:t>
            </a:r>
            <a:r>
              <a:rPr lang="zh-CN" altLang="en-US" sz="2000" u="sng" dirty="0">
                <a:solidFill>
                  <a:schemeClr val="tx2"/>
                </a:solidFill>
                <a:ea typeface="楷体_GB2312" pitchFamily="49" charset="-122"/>
              </a:rPr>
              <a:t>数据类型</a:t>
            </a:r>
            <a:r>
              <a:rPr lang="en-US" altLang="zh-CN" u="sng" dirty="0">
                <a:solidFill>
                  <a:schemeClr val="tx2"/>
                </a:solidFill>
              </a:rPr>
              <a:t>)</a:t>
            </a:r>
            <a:r>
              <a:rPr lang="zh-CN" altLang="en-US" dirty="0">
                <a:solidFill>
                  <a:schemeClr val="tx2"/>
                </a:solidFill>
              </a:rPr>
              <a:t>字节的内存空间，</a:t>
            </a:r>
            <a:r>
              <a:rPr lang="zh-CN" altLang="en-US" dirty="0">
                <a:solidFill>
                  <a:srgbClr val="990000"/>
                </a:solidFill>
              </a:rPr>
              <a:t>元素个数可以不是常量</a:t>
            </a:r>
            <a:r>
              <a:rPr lang="zh-CN" altLang="en-US" dirty="0">
                <a:solidFill>
                  <a:schemeClr val="tx2"/>
                </a:solidFill>
              </a:rPr>
              <a:t>。</a:t>
            </a:r>
          </a:p>
          <a:p>
            <a:pPr lvl="2" eaLnBrk="1" hangingPunct="1"/>
            <a:r>
              <a:rPr lang="zh-CN" altLang="en-US" dirty="0"/>
              <a:t>若操作成功，该运算返回所</a:t>
            </a:r>
            <a:r>
              <a:rPr lang="zh-CN" altLang="en-US" dirty="0">
                <a:latin typeface="Times New Roman" pitchFamily="18" charset="0"/>
              </a:rPr>
              <a:t>“</a:t>
            </a:r>
            <a:r>
              <a:rPr lang="zh-CN" altLang="en-US" dirty="0"/>
              <a:t>切下</a:t>
            </a:r>
            <a:r>
              <a:rPr lang="zh-CN" altLang="en-US" dirty="0">
                <a:latin typeface="Times New Roman" pitchFamily="18" charset="0"/>
              </a:rPr>
              <a:t>”的堆空间的首地址。该地址值须细心保存，以便访问其各单元的内容，以及用（</a:t>
            </a:r>
            <a:r>
              <a:rPr lang="en-US" altLang="zh-CN" dirty="0">
                <a:solidFill>
                  <a:srgbClr val="0000FF"/>
                </a:solidFill>
              </a:rPr>
              <a:t>delete </a:t>
            </a:r>
            <a:r>
              <a:rPr lang="en-US" altLang="zh-CN" dirty="0"/>
              <a:t>[]</a:t>
            </a:r>
            <a:r>
              <a:rPr lang="zh-CN" altLang="en-US" dirty="0">
                <a:latin typeface="Times New Roman" pitchFamily="18" charset="0"/>
              </a:rPr>
              <a:t>）释放该空间。</a:t>
            </a:r>
          </a:p>
          <a:p>
            <a:pPr lvl="2" eaLnBrk="1" hangingPunct="1"/>
            <a:r>
              <a:rPr lang="zh-CN" altLang="en-US" dirty="0">
                <a:latin typeface="Times New Roman" pitchFamily="18" charset="0"/>
              </a:rPr>
              <a:t>若操作不成功，该运算返回空地址</a:t>
            </a:r>
            <a:r>
              <a:rPr lang="en-US" altLang="zh-CN" dirty="0"/>
              <a:t>NULL</a:t>
            </a:r>
          </a:p>
          <a:p>
            <a:pPr lvl="1" eaLnBrk="1" hangingPunct="1"/>
            <a:r>
              <a:rPr lang="en-US" altLang="zh-CN" dirty="0">
                <a:solidFill>
                  <a:srgbClr val="0000FF"/>
                </a:solidFill>
              </a:rPr>
              <a:t>new</a:t>
            </a:r>
            <a:r>
              <a:rPr lang="zh-CN" altLang="en-US" dirty="0">
                <a:solidFill>
                  <a:schemeClr val="tx2"/>
                </a:solidFill>
                <a:latin typeface="Times New Roman" pitchFamily="18" charset="0"/>
              </a:rPr>
              <a:t>返回的地址为堆数组的首地址（相当于</a:t>
            </a:r>
            <a:r>
              <a:rPr lang="zh-CN" altLang="en-US" dirty="0">
                <a:solidFill>
                  <a:srgbClr val="0000FF"/>
                </a:solidFill>
                <a:latin typeface="Times New Roman" pitchFamily="18" charset="0"/>
                <a:ea typeface="楷体_GB2312" pitchFamily="49" charset="-122"/>
              </a:rPr>
              <a:t>堆数组名</a:t>
            </a:r>
            <a:r>
              <a:rPr lang="zh-CN" altLang="en-US" dirty="0">
                <a:solidFill>
                  <a:schemeClr val="tx2"/>
                </a:solidFill>
                <a:latin typeface="Times New Roman" pitchFamily="18" charset="0"/>
              </a:rPr>
              <a:t>），加上</a:t>
            </a:r>
            <a:r>
              <a:rPr lang="zh-CN" altLang="en-US" dirty="0">
                <a:solidFill>
                  <a:srgbClr val="0000FF"/>
                </a:solidFill>
                <a:latin typeface="Times New Roman" pitchFamily="18" charset="0"/>
                <a:ea typeface="楷体_GB2312" pitchFamily="49" charset="-122"/>
              </a:rPr>
              <a:t>数据类型</a:t>
            </a:r>
            <a:r>
              <a:rPr lang="zh-CN" altLang="en-US" dirty="0">
                <a:solidFill>
                  <a:schemeClr val="tx2"/>
                </a:solidFill>
                <a:latin typeface="Times New Roman" pitchFamily="18" charset="0"/>
              </a:rPr>
              <a:t>、</a:t>
            </a:r>
            <a:r>
              <a:rPr lang="zh-CN" altLang="en-US" dirty="0">
                <a:solidFill>
                  <a:srgbClr val="0000FF"/>
                </a:solidFill>
                <a:latin typeface="Times New Roman" pitchFamily="18" charset="0"/>
                <a:ea typeface="楷体_GB2312" pitchFamily="49" charset="-122"/>
              </a:rPr>
              <a:t>元素个数</a:t>
            </a:r>
            <a:r>
              <a:rPr lang="zh-CN" altLang="en-US" dirty="0">
                <a:solidFill>
                  <a:schemeClr val="tx2"/>
                </a:solidFill>
                <a:latin typeface="Times New Roman" pitchFamily="18" charset="0"/>
              </a:rPr>
              <a:t>，成为</a:t>
            </a:r>
            <a:r>
              <a:rPr lang="zh-CN" altLang="en-US" dirty="0">
                <a:solidFill>
                  <a:srgbClr val="990000"/>
                </a:solidFill>
                <a:latin typeface="Times New Roman" pitchFamily="18" charset="0"/>
              </a:rPr>
              <a:t>堆数组三要素</a:t>
            </a:r>
            <a:r>
              <a:rPr lang="zh-CN" altLang="en-US" dirty="0">
                <a:solidFill>
                  <a:schemeClr val="tx2"/>
                </a:solidFill>
                <a:latin typeface="Times New Roman" pitchFamily="18" charset="0"/>
              </a:rPr>
              <a:t>。</a:t>
            </a:r>
            <a:endParaRPr lang="zh-CN" altLang="en-US" dirty="0"/>
          </a:p>
        </p:txBody>
      </p:sp>
    </p:spTree>
    <p:extLst>
      <p:ext uri="{BB962C8B-B14F-4D97-AF65-F5344CB8AC3E}">
        <p14:creationId xmlns:p14="http://schemas.microsoft.com/office/powerpoint/2010/main" val="121760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90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907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907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907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90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90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907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90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dirty="0"/>
              <a:t>主要内容</a:t>
            </a:r>
          </a:p>
        </p:txBody>
      </p:sp>
      <p:sp>
        <p:nvSpPr>
          <p:cNvPr id="18435" name="内容占位符 2"/>
          <p:cNvSpPr>
            <a:spLocks noGrp="1"/>
          </p:cNvSpPr>
          <p:nvPr>
            <p:ph idx="1"/>
          </p:nvPr>
        </p:nvSpPr>
        <p:spPr>
          <a:xfrm>
            <a:off x="457200" y="1295400"/>
            <a:ext cx="8229600" cy="5334000"/>
          </a:xfrm>
        </p:spPr>
        <p:txBody>
          <a:bodyPr/>
          <a:lstStyle/>
          <a:p>
            <a:pPr eaLnBrk="1" hangingPunct="1">
              <a:buNone/>
            </a:pPr>
            <a:r>
              <a:rPr lang="zh-CN" altLang="en-US" sz="2400" dirty="0">
                <a:solidFill>
                  <a:schemeClr val="bg1">
                    <a:lumMod val="65000"/>
                  </a:schemeClr>
                </a:solidFill>
              </a:rPr>
              <a:t>一、</a:t>
            </a:r>
            <a:r>
              <a:rPr lang="zh-CN" altLang="en-US" dirty="0">
                <a:solidFill>
                  <a:schemeClr val="bg1">
                    <a:lumMod val="65000"/>
                  </a:schemeClr>
                </a:solidFill>
              </a:rPr>
              <a:t>从变量名谈起</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a:t>
            </a:r>
            <a:r>
              <a:rPr lang="en-US" altLang="zh-CN" dirty="0">
                <a:solidFill>
                  <a:schemeClr val="bg1">
                    <a:lumMod val="65000"/>
                  </a:schemeClr>
                </a:solidFill>
              </a:rPr>
              <a:t>(</a:t>
            </a:r>
            <a:r>
              <a:rPr lang="zh-CN" altLang="en-US" dirty="0">
                <a:solidFill>
                  <a:schemeClr val="bg1">
                    <a:lumMod val="65000"/>
                  </a:schemeClr>
                </a:solidFill>
              </a:rPr>
              <a:t>原</a:t>
            </a:r>
            <a:r>
              <a:rPr lang="en-US" altLang="zh-CN" dirty="0">
                <a:solidFill>
                  <a:schemeClr val="bg1">
                    <a:lumMod val="65000"/>
                  </a:schemeClr>
                </a:solidFill>
              </a:rPr>
              <a:t>)</a:t>
            </a:r>
            <a:r>
              <a:rPr lang="zh-CN" altLang="en-US" dirty="0">
                <a:solidFill>
                  <a:schemeClr val="bg1">
                    <a:lumMod val="65000"/>
                  </a:schemeClr>
                </a:solidFill>
              </a:rPr>
              <a:t>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变量的间接名</a:t>
            </a:r>
            <a:endParaRPr lang="en-US" altLang="zh-CN" dirty="0">
              <a:solidFill>
                <a:schemeClr val="bg1">
                  <a:lumMod val="65000"/>
                </a:schemeClr>
              </a:solidFill>
            </a:endParaRPr>
          </a:p>
          <a:p>
            <a:pPr lvl="1" eaLnBrk="1" hangingPunct="1"/>
            <a:r>
              <a:rPr lang="zh-CN" altLang="en-US" dirty="0">
                <a:solidFill>
                  <a:schemeClr val="bg1">
                    <a:lumMod val="65000"/>
                  </a:schemeClr>
                </a:solidFill>
              </a:rPr>
              <a:t>变量的别名</a:t>
            </a:r>
            <a:endParaRPr lang="en-US" altLang="zh-CN" dirty="0">
              <a:solidFill>
                <a:schemeClr val="bg1">
                  <a:lumMod val="65000"/>
                </a:schemeClr>
              </a:solidFill>
            </a:endParaRPr>
          </a:p>
          <a:p>
            <a:pPr eaLnBrk="1" hangingPunct="1">
              <a:buNone/>
            </a:pPr>
            <a:r>
              <a:rPr lang="zh-CN" altLang="en-US" dirty="0">
                <a:solidFill>
                  <a:schemeClr val="bg1">
                    <a:lumMod val="65000"/>
                  </a:schemeClr>
                </a:solidFill>
              </a:rPr>
              <a:t>二、从泛型程序设计谈起</a:t>
            </a:r>
            <a:endParaRPr lang="en-US" altLang="zh-CN" dirty="0">
              <a:solidFill>
                <a:schemeClr val="bg1">
                  <a:lumMod val="65000"/>
                </a:schemeClr>
              </a:solidFill>
            </a:endParaRPr>
          </a:p>
          <a:p>
            <a:pPr lvl="1" eaLnBrk="1" hangingPunct="1"/>
            <a:r>
              <a:rPr lang="zh-CN" altLang="en-US" dirty="0">
                <a:solidFill>
                  <a:schemeClr val="bg1">
                    <a:lumMod val="65000"/>
                  </a:schemeClr>
                </a:solidFill>
              </a:rPr>
              <a:t>函数重载</a:t>
            </a:r>
            <a:endParaRPr lang="en-US" altLang="zh-CN" dirty="0">
              <a:solidFill>
                <a:schemeClr val="bg1">
                  <a:lumMod val="65000"/>
                </a:schemeClr>
              </a:solidFill>
            </a:endParaRPr>
          </a:p>
          <a:p>
            <a:pPr lvl="1" eaLnBrk="1" hangingPunct="1"/>
            <a:r>
              <a:rPr lang="zh-CN" altLang="en-US" dirty="0">
                <a:solidFill>
                  <a:schemeClr val="bg1">
                    <a:lumMod val="65000"/>
                  </a:schemeClr>
                </a:solidFill>
              </a:rPr>
              <a:t>函数模板</a:t>
            </a:r>
            <a:endParaRPr lang="en-US" altLang="zh-CN" dirty="0">
              <a:solidFill>
                <a:schemeClr val="bg1">
                  <a:lumMod val="65000"/>
                </a:schemeClr>
              </a:solidFill>
            </a:endParaRPr>
          </a:p>
          <a:p>
            <a:pPr lvl="1" eaLnBrk="1" hangingPunct="1"/>
            <a:r>
              <a:rPr lang="zh-CN" altLang="en-US" dirty="0">
                <a:solidFill>
                  <a:schemeClr val="bg1">
                    <a:lumMod val="65000"/>
                  </a:schemeClr>
                </a:solidFill>
              </a:rPr>
              <a:t>运算符函数</a:t>
            </a:r>
            <a:endParaRPr lang="en-US" altLang="zh-CN" dirty="0">
              <a:solidFill>
                <a:schemeClr val="bg1">
                  <a:lumMod val="65000"/>
                </a:schemeClr>
              </a:solidFill>
            </a:endParaRPr>
          </a:p>
          <a:p>
            <a:pPr eaLnBrk="1" hangingPunct="1">
              <a:buNone/>
            </a:pPr>
            <a:r>
              <a:rPr lang="zh-CN" altLang="en-US" sz="3200" dirty="0"/>
              <a:t>三、其他</a:t>
            </a:r>
            <a:endParaRPr lang="en-US" altLang="zh-CN" sz="3200" dirty="0"/>
          </a:p>
          <a:p>
            <a:pPr lvl="1" eaLnBrk="1" hangingPunct="1"/>
            <a:r>
              <a:rPr lang="zh-CN" altLang="en-US" sz="2800" dirty="0">
                <a:solidFill>
                  <a:srgbClr val="0000FF"/>
                </a:solidFill>
              </a:rPr>
              <a:t>默认参数、内联函数</a:t>
            </a:r>
            <a:r>
              <a:rPr lang="en-US" altLang="zh-CN" sz="2800" dirty="0">
                <a:solidFill>
                  <a:srgbClr val="0000FF"/>
                </a:solidFill>
              </a:rPr>
              <a:t/>
            </a:r>
            <a:br>
              <a:rPr lang="en-US" altLang="zh-CN" sz="2800" dirty="0">
                <a:solidFill>
                  <a:srgbClr val="0000FF"/>
                </a:solidFill>
              </a:rPr>
            </a:br>
            <a:r>
              <a:rPr lang="zh-CN" altLang="en-US" sz="2800" dirty="0">
                <a:solidFill>
                  <a:srgbClr val="0000FF"/>
                </a:solidFill>
              </a:rPr>
              <a:t>（通过“就地展开”理解形参与实参的关系）</a:t>
            </a:r>
            <a:endParaRPr lang="en-US" altLang="zh-CN" sz="2800" dirty="0">
              <a:solidFill>
                <a:srgbClr val="0000FF"/>
              </a:solidFill>
            </a:endParaRPr>
          </a:p>
        </p:txBody>
      </p:sp>
    </p:spTree>
    <p:extLst>
      <p:ext uri="{BB962C8B-B14F-4D97-AF65-F5344CB8AC3E}">
        <p14:creationId xmlns:p14="http://schemas.microsoft.com/office/powerpoint/2010/main" val="362886768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76200" y="228600"/>
            <a:ext cx="8229838" cy="799892"/>
          </a:xfrm>
        </p:spPr>
        <p:txBody>
          <a:bodyPr/>
          <a:lstStyle/>
          <a:p>
            <a:r>
              <a:rPr kumimoji="0" lang="zh-CN" altLang="en-US">
                <a:solidFill>
                  <a:srgbClr val="009999"/>
                </a:solidFill>
              </a:rPr>
              <a:t>带默认参数值的函数</a:t>
            </a:r>
          </a:p>
        </p:txBody>
      </p:sp>
      <p:sp>
        <p:nvSpPr>
          <p:cNvPr id="78851" name="内容占位符 2"/>
          <p:cNvSpPr>
            <a:spLocks noGrp="1"/>
          </p:cNvSpPr>
          <p:nvPr>
            <p:ph idx="1"/>
          </p:nvPr>
        </p:nvSpPr>
        <p:spPr>
          <a:xfrm>
            <a:off x="533400" y="1143000"/>
            <a:ext cx="8002488" cy="3347166"/>
          </a:xfrm>
        </p:spPr>
        <p:txBody>
          <a:bodyPr/>
          <a:lstStyle/>
          <a:p>
            <a:pPr eaLnBrk="1" hangingPunct="1"/>
            <a:r>
              <a:rPr kumimoji="0" lang="zh-CN" altLang="en-US" dirty="0">
                <a:latin typeface="Consolas" panose="020B0609020204030204" pitchFamily="49" charset="0"/>
              </a:rPr>
              <a:t>可以预先设置默认的参数值，调用时如给出实参，则采用实参值，否则采用预先设置的默认参数值。</a:t>
            </a:r>
          </a:p>
          <a:p>
            <a:pPr eaLnBrk="1" hangingPunct="1"/>
            <a:r>
              <a:rPr kumimoji="0" lang="zh-CN" altLang="en-US" dirty="0">
                <a:latin typeface="Consolas" panose="020B0609020204030204" pitchFamily="49" charset="0"/>
              </a:rPr>
              <a:t>例如：</a:t>
            </a:r>
          </a:p>
          <a:p>
            <a:pPr lvl="1" eaLnBrk="1" hangingPunct="1">
              <a:buFontTx/>
              <a:buNone/>
            </a:pPr>
            <a:r>
              <a:rPr kumimoji="0" lang="en-US" altLang="zh-CN" dirty="0" err="1"/>
              <a:t>int</a:t>
            </a:r>
            <a:r>
              <a:rPr kumimoji="0" lang="en-US" altLang="zh-CN" dirty="0"/>
              <a:t> add(</a:t>
            </a:r>
            <a:r>
              <a:rPr kumimoji="0" lang="en-US" altLang="zh-CN" dirty="0" err="1"/>
              <a:t>int</a:t>
            </a:r>
            <a:r>
              <a:rPr kumimoji="0" lang="en-US" altLang="zh-CN" dirty="0"/>
              <a:t> x = 5,int y = 6</a:t>
            </a:r>
            <a:r>
              <a:rPr kumimoji="0" lang="en-US" altLang="zh-CN" dirty="0" smtClean="0"/>
              <a:t>)</a:t>
            </a:r>
          </a:p>
          <a:p>
            <a:pPr lvl="1" eaLnBrk="1" hangingPunct="1">
              <a:buFontTx/>
              <a:buNone/>
            </a:pPr>
            <a:r>
              <a:rPr kumimoji="0" lang="en-US" altLang="zh-CN" dirty="0" smtClean="0"/>
              <a:t>{</a:t>
            </a:r>
            <a:endParaRPr kumimoji="0" lang="en-US" altLang="zh-CN" dirty="0"/>
          </a:p>
          <a:p>
            <a:pPr lvl="1" eaLnBrk="1" hangingPunct="1">
              <a:buFontTx/>
              <a:buNone/>
            </a:pPr>
            <a:r>
              <a:rPr kumimoji="0" lang="en-US" altLang="zh-CN" dirty="0"/>
              <a:t>	return x + y;</a:t>
            </a:r>
          </a:p>
          <a:p>
            <a:pPr lvl="1" eaLnBrk="1" hangingPunct="1">
              <a:buFontTx/>
              <a:buNone/>
            </a:pPr>
            <a:r>
              <a:rPr kumimoji="0" lang="en-US" altLang="zh-CN" dirty="0"/>
              <a:t>}</a:t>
            </a:r>
          </a:p>
          <a:p>
            <a:pPr lvl="1" eaLnBrk="1" hangingPunct="1">
              <a:buFontTx/>
              <a:buNone/>
            </a:pPr>
            <a:r>
              <a:rPr kumimoji="0" lang="en-US" altLang="zh-CN" dirty="0" err="1"/>
              <a:t>int</a:t>
            </a:r>
            <a:r>
              <a:rPr kumimoji="0" lang="en-US" altLang="zh-CN" dirty="0"/>
              <a:t> main() {</a:t>
            </a:r>
          </a:p>
          <a:p>
            <a:pPr lvl="1" eaLnBrk="1" hangingPunct="1">
              <a:buFontTx/>
              <a:buNone/>
            </a:pPr>
            <a:r>
              <a:rPr kumimoji="0" lang="en-US" altLang="zh-CN" dirty="0"/>
              <a:t>	add(10,20);  //10+20</a:t>
            </a:r>
          </a:p>
          <a:p>
            <a:pPr lvl="1" eaLnBrk="1" hangingPunct="1">
              <a:buFontTx/>
              <a:buNone/>
            </a:pPr>
            <a:r>
              <a:rPr kumimoji="0" lang="en-US" altLang="zh-CN" dirty="0"/>
              <a:t>	add(10);    </a:t>
            </a:r>
            <a:r>
              <a:rPr kumimoji="0" lang="en-US" altLang="zh-CN" dirty="0" smtClean="0"/>
              <a:t> </a:t>
            </a:r>
            <a:r>
              <a:rPr kumimoji="0" lang="en-US" altLang="zh-CN" dirty="0"/>
              <a:t>//10+6</a:t>
            </a:r>
          </a:p>
          <a:p>
            <a:pPr lvl="1" eaLnBrk="1" hangingPunct="1">
              <a:buFontTx/>
              <a:buNone/>
            </a:pPr>
            <a:r>
              <a:rPr kumimoji="0" lang="en-US" altLang="zh-CN" dirty="0"/>
              <a:t>	add();       </a:t>
            </a:r>
            <a:r>
              <a:rPr kumimoji="0" lang="en-US" altLang="zh-CN" dirty="0" smtClean="0"/>
              <a:t>//</a:t>
            </a:r>
            <a:r>
              <a:rPr kumimoji="0" lang="en-US" altLang="zh-CN" dirty="0"/>
              <a:t>5+6</a:t>
            </a:r>
          </a:p>
          <a:p>
            <a:pPr lvl="1" eaLnBrk="1" hangingPunct="1">
              <a:buFontTx/>
              <a:buNone/>
            </a:pPr>
            <a:r>
              <a:rPr kumimoji="0" lang="en-US" altLang="zh-CN" dirty="0"/>
              <a:t>}</a:t>
            </a:r>
          </a:p>
        </p:txBody>
      </p:sp>
      <p:sp>
        <p:nvSpPr>
          <p:cNvPr id="2" name="灯片编号占位符 1"/>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4035895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fade">
                                      <p:cBhvr>
                                        <p:cTn id="7" dur="500"/>
                                        <p:tgtEl>
                                          <p:spTgt spid="78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8851">
                                            <p:txEl>
                                              <p:pRg st="1" end="1"/>
                                            </p:txEl>
                                          </p:spTgt>
                                        </p:tgtEl>
                                        <p:attrNameLst>
                                          <p:attrName>style.visibility</p:attrName>
                                        </p:attrNameLst>
                                      </p:cBhvr>
                                      <p:to>
                                        <p:strVal val="visible"/>
                                      </p:to>
                                    </p:set>
                                    <p:animEffect transition="in" filter="fade">
                                      <p:cBhvr>
                                        <p:cTn id="12" dur="500"/>
                                        <p:tgtEl>
                                          <p:spTgt spid="788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animEffect transition="in" filter="fade">
                                      <p:cBhvr>
                                        <p:cTn id="17" dur="500"/>
                                        <p:tgtEl>
                                          <p:spTgt spid="788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8851">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8851">
                                            <p:txEl>
                                              <p:pRg st="4" end="4"/>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78851">
                                            <p:txEl>
                                              <p:pRg st="5" end="5"/>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8851">
                                            <p:txEl>
                                              <p:pRg st="6" end="6"/>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78851">
                                            <p:txEl>
                                              <p:pRg st="7" end="7"/>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8851">
                                            <p:txEl>
                                              <p:pRg st="8" end="8"/>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78851">
                                            <p:txEl>
                                              <p:pRg st="9" end="9"/>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7885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xfrm>
            <a:off x="229732" y="162499"/>
            <a:ext cx="8229838" cy="799892"/>
          </a:xfrm>
        </p:spPr>
        <p:txBody>
          <a:bodyPr/>
          <a:lstStyle/>
          <a:p>
            <a:r>
              <a:rPr kumimoji="0" lang="zh-CN" altLang="en-US">
                <a:solidFill>
                  <a:srgbClr val="009999"/>
                </a:solidFill>
              </a:rPr>
              <a:t>默认参数值的说明次序</a:t>
            </a:r>
          </a:p>
        </p:txBody>
      </p:sp>
      <p:sp>
        <p:nvSpPr>
          <p:cNvPr id="79875" name="内容占位符 2"/>
          <p:cNvSpPr>
            <a:spLocks noGrp="1"/>
          </p:cNvSpPr>
          <p:nvPr>
            <p:ph idx="1"/>
          </p:nvPr>
        </p:nvSpPr>
        <p:spPr>
          <a:xfrm>
            <a:off x="380047" y="1524000"/>
            <a:ext cx="8102475" cy="2861517"/>
          </a:xfrm>
        </p:spPr>
        <p:txBody>
          <a:bodyPr/>
          <a:lstStyle/>
          <a:p>
            <a:pPr eaLnBrk="1" hangingPunct="1">
              <a:spcBef>
                <a:spcPts val="450"/>
              </a:spcBef>
            </a:pPr>
            <a:r>
              <a:rPr kumimoji="0" lang="zh-CN" altLang="en-US" dirty="0">
                <a:latin typeface="Consolas" panose="020B0609020204030204" pitchFamily="49" charset="0"/>
              </a:rPr>
              <a:t>有默认参数的形参必须列在形参列表的最右，即默认参数值的右面不能有无默认值的参数</a:t>
            </a:r>
            <a:endParaRPr kumimoji="0" lang="en-US" altLang="zh-CN" dirty="0">
              <a:latin typeface="Consolas" panose="020B0609020204030204" pitchFamily="49" charset="0"/>
            </a:endParaRPr>
          </a:p>
          <a:p>
            <a:pPr eaLnBrk="1" hangingPunct="1">
              <a:spcBef>
                <a:spcPts val="450"/>
              </a:spcBef>
            </a:pPr>
            <a:r>
              <a:rPr kumimoji="0" lang="zh-CN" altLang="en-US" dirty="0">
                <a:latin typeface="Consolas" panose="020B0609020204030204" pitchFamily="49" charset="0"/>
              </a:rPr>
              <a:t>调用时实参与形参的结合次序是从左向右</a:t>
            </a:r>
          </a:p>
          <a:p>
            <a:pPr eaLnBrk="1" hangingPunct="1">
              <a:spcBef>
                <a:spcPts val="450"/>
              </a:spcBef>
            </a:pPr>
            <a:r>
              <a:rPr kumimoji="0" lang="zh-CN" altLang="en-US" dirty="0"/>
              <a:t>例：</a:t>
            </a:r>
          </a:p>
          <a:p>
            <a:pPr lvl="1" eaLnBrk="1" hangingPunct="1">
              <a:spcBef>
                <a:spcPts val="450"/>
              </a:spcBef>
              <a:buNone/>
            </a:pPr>
            <a:r>
              <a:rPr kumimoji="0" lang="en-US" altLang="zh-CN" dirty="0" err="1"/>
              <a:t>int</a:t>
            </a:r>
            <a:r>
              <a:rPr kumimoji="0" lang="en-US" altLang="zh-CN" dirty="0"/>
              <a:t> add(</a:t>
            </a:r>
            <a:r>
              <a:rPr kumimoji="0" lang="en-US" altLang="zh-CN" dirty="0" err="1"/>
              <a:t>int</a:t>
            </a:r>
            <a:r>
              <a:rPr kumimoji="0" lang="en-US" altLang="zh-CN" dirty="0"/>
              <a:t> x, </a:t>
            </a:r>
            <a:r>
              <a:rPr kumimoji="0" lang="en-US" altLang="zh-CN" dirty="0" err="1"/>
              <a:t>int</a:t>
            </a:r>
            <a:r>
              <a:rPr kumimoji="0" lang="en-US" altLang="zh-CN" dirty="0"/>
              <a:t> y = 5, </a:t>
            </a:r>
            <a:r>
              <a:rPr kumimoji="0" lang="en-US" altLang="zh-CN" dirty="0" err="1"/>
              <a:t>int</a:t>
            </a:r>
            <a:r>
              <a:rPr kumimoji="0" lang="en-US" altLang="zh-CN" dirty="0"/>
              <a:t> z = 6);//</a:t>
            </a:r>
            <a:r>
              <a:rPr kumimoji="0" lang="zh-CN" altLang="en-US" dirty="0"/>
              <a:t>正确</a:t>
            </a:r>
          </a:p>
          <a:p>
            <a:pPr lvl="1" eaLnBrk="1" hangingPunct="1">
              <a:spcBef>
                <a:spcPts val="450"/>
              </a:spcBef>
              <a:buNone/>
            </a:pPr>
            <a:r>
              <a:rPr kumimoji="0" lang="en-US" altLang="zh-CN" dirty="0" err="1"/>
              <a:t>int</a:t>
            </a:r>
            <a:r>
              <a:rPr kumimoji="0" lang="en-US" altLang="zh-CN" dirty="0"/>
              <a:t> add(</a:t>
            </a:r>
            <a:r>
              <a:rPr kumimoji="0" lang="en-US" altLang="zh-CN" dirty="0" err="1"/>
              <a:t>int</a:t>
            </a:r>
            <a:r>
              <a:rPr kumimoji="0" lang="en-US" altLang="zh-CN" dirty="0"/>
              <a:t> x = 1, </a:t>
            </a:r>
            <a:r>
              <a:rPr kumimoji="0" lang="en-US" altLang="zh-CN" dirty="0" err="1"/>
              <a:t>int</a:t>
            </a:r>
            <a:r>
              <a:rPr kumimoji="0" lang="en-US" altLang="zh-CN" dirty="0"/>
              <a:t> y = 5, </a:t>
            </a:r>
            <a:r>
              <a:rPr kumimoji="0" lang="en-US" altLang="zh-CN" dirty="0" err="1">
                <a:solidFill>
                  <a:srgbClr val="C00000"/>
                </a:solidFill>
              </a:rPr>
              <a:t>int</a:t>
            </a:r>
            <a:r>
              <a:rPr kumimoji="0" lang="en-US" altLang="zh-CN" dirty="0">
                <a:solidFill>
                  <a:srgbClr val="C00000"/>
                </a:solidFill>
              </a:rPr>
              <a:t> z</a:t>
            </a:r>
            <a:r>
              <a:rPr kumimoji="0" lang="en-US" altLang="zh-CN" dirty="0"/>
              <a:t>);//</a:t>
            </a:r>
            <a:r>
              <a:rPr kumimoji="0" lang="zh-CN" altLang="en-US" dirty="0"/>
              <a:t>错误</a:t>
            </a:r>
            <a:endParaRPr kumimoji="0" lang="zh-CN" altLang="zh-CN" dirty="0"/>
          </a:p>
          <a:p>
            <a:pPr lvl="1" eaLnBrk="1" hangingPunct="1">
              <a:spcBef>
                <a:spcPts val="450"/>
              </a:spcBef>
              <a:buNone/>
            </a:pPr>
            <a:r>
              <a:rPr kumimoji="0" lang="en-US" altLang="zh-CN" dirty="0" err="1"/>
              <a:t>int</a:t>
            </a:r>
            <a:r>
              <a:rPr kumimoji="0" lang="en-US" altLang="zh-CN" dirty="0"/>
              <a:t> add(</a:t>
            </a:r>
            <a:r>
              <a:rPr kumimoji="0" lang="en-US" altLang="zh-CN" dirty="0" err="1"/>
              <a:t>int</a:t>
            </a:r>
            <a:r>
              <a:rPr kumimoji="0" lang="en-US" altLang="zh-CN" dirty="0"/>
              <a:t> x = 1, </a:t>
            </a:r>
            <a:r>
              <a:rPr kumimoji="0" lang="en-US" altLang="zh-CN" dirty="0" err="1">
                <a:solidFill>
                  <a:srgbClr val="C00000"/>
                </a:solidFill>
              </a:rPr>
              <a:t>int</a:t>
            </a:r>
            <a:r>
              <a:rPr kumimoji="0" lang="en-US" altLang="zh-CN" dirty="0">
                <a:solidFill>
                  <a:srgbClr val="C00000"/>
                </a:solidFill>
              </a:rPr>
              <a:t> y</a:t>
            </a:r>
            <a:r>
              <a:rPr kumimoji="0" lang="en-US" altLang="zh-CN" dirty="0"/>
              <a:t>, </a:t>
            </a:r>
            <a:r>
              <a:rPr kumimoji="0" lang="en-US" altLang="zh-CN" dirty="0" err="1"/>
              <a:t>int</a:t>
            </a:r>
            <a:r>
              <a:rPr kumimoji="0" lang="en-US" altLang="zh-CN" dirty="0"/>
              <a:t> z = 6);//</a:t>
            </a:r>
            <a:r>
              <a:rPr kumimoji="0" lang="zh-CN" altLang="en-US" dirty="0"/>
              <a:t>错误</a:t>
            </a:r>
          </a:p>
        </p:txBody>
      </p:sp>
      <p:sp>
        <p:nvSpPr>
          <p:cNvPr id="2" name="灯片编号占位符 1"/>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30216699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fade">
                                      <p:cBhvr>
                                        <p:cTn id="7" dur="500"/>
                                        <p:tgtEl>
                                          <p:spTgt spid="79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fade">
                                      <p:cBhvr>
                                        <p:cTn id="12" dur="500"/>
                                        <p:tgtEl>
                                          <p:spTgt spid="798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fade">
                                      <p:cBhvr>
                                        <p:cTn id="17" dur="500"/>
                                        <p:tgtEl>
                                          <p:spTgt spid="7987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9875">
                                            <p:txEl>
                                              <p:pRg st="3" end="3"/>
                                            </p:txEl>
                                          </p:spTgt>
                                        </p:tgtEl>
                                        <p:attrNameLst>
                                          <p:attrName>style.visibility</p:attrName>
                                        </p:attrNameLst>
                                      </p:cBhvr>
                                      <p:to>
                                        <p:strVal val="visible"/>
                                      </p:to>
                                    </p:set>
                                    <p:animEffect transition="in" filter="fade">
                                      <p:cBhvr>
                                        <p:cTn id="20" dur="500"/>
                                        <p:tgtEl>
                                          <p:spTgt spid="79875">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79875">
                                            <p:txEl>
                                              <p:pRg st="4" end="4"/>
                                            </p:txEl>
                                          </p:spTgt>
                                        </p:tgtEl>
                                        <p:attrNameLst>
                                          <p:attrName>style.visibility</p:attrName>
                                        </p:attrNameLst>
                                      </p:cBhvr>
                                      <p:to>
                                        <p:strVal val="visible"/>
                                      </p:to>
                                    </p:set>
                                    <p:animEffect transition="in" filter="fade">
                                      <p:cBhvr>
                                        <p:cTn id="23" dur="500"/>
                                        <p:tgtEl>
                                          <p:spTgt spid="79875">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9875">
                                            <p:txEl>
                                              <p:pRg st="5" end="5"/>
                                            </p:txEl>
                                          </p:spTgt>
                                        </p:tgtEl>
                                        <p:attrNameLst>
                                          <p:attrName>style.visibility</p:attrName>
                                        </p:attrNameLst>
                                      </p:cBhvr>
                                      <p:to>
                                        <p:strVal val="visible"/>
                                      </p:to>
                                    </p:set>
                                    <p:animEffect transition="in" filter="fade">
                                      <p:cBhvr>
                                        <p:cTn id="26" dur="500"/>
                                        <p:tgtEl>
                                          <p:spTgt spid="79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338050" y="152400"/>
            <a:ext cx="8229838" cy="799892"/>
          </a:xfrm>
        </p:spPr>
        <p:txBody>
          <a:bodyPr/>
          <a:lstStyle/>
          <a:p>
            <a:r>
              <a:rPr kumimoji="0" lang="zh-CN" altLang="en-US">
                <a:solidFill>
                  <a:srgbClr val="009999"/>
                </a:solidFill>
              </a:rPr>
              <a:t>默认参数值与函数的调用位置</a:t>
            </a:r>
          </a:p>
        </p:txBody>
      </p:sp>
      <p:sp>
        <p:nvSpPr>
          <p:cNvPr id="80899" name="内容占位符 2"/>
          <p:cNvSpPr>
            <a:spLocks noGrp="1"/>
          </p:cNvSpPr>
          <p:nvPr>
            <p:ph idx="1"/>
          </p:nvPr>
        </p:nvSpPr>
        <p:spPr>
          <a:xfrm>
            <a:off x="502314" y="1295400"/>
            <a:ext cx="8139374" cy="1178412"/>
          </a:xfrm>
        </p:spPr>
        <p:txBody>
          <a:bodyPr/>
          <a:lstStyle/>
          <a:p>
            <a:pPr eaLnBrk="1" hangingPunct="1">
              <a:spcBef>
                <a:spcPct val="0"/>
              </a:spcBef>
            </a:pPr>
            <a:r>
              <a:rPr kumimoji="0" lang="zh-CN" altLang="en-US" dirty="0"/>
              <a:t>如果一个函数有原型声明，且原型声明在定义之前，则默认参数值必须在函数原型声明中给出；而如果只有函数的定义，或函数定义在前，则默认参数值需在函数定义中给出。</a:t>
            </a:r>
          </a:p>
          <a:p>
            <a:pPr eaLnBrk="1" hangingPunct="1">
              <a:spcBef>
                <a:spcPct val="0"/>
              </a:spcBef>
            </a:pPr>
            <a:r>
              <a:rPr kumimoji="0" lang="zh-CN" altLang="en-US" dirty="0"/>
              <a:t>例：</a:t>
            </a:r>
          </a:p>
        </p:txBody>
      </p:sp>
      <p:sp>
        <p:nvSpPr>
          <p:cNvPr id="80902" name="Text Box 5"/>
          <p:cNvSpPr txBox="1">
            <a:spLocks noChangeArrowheads="1"/>
          </p:cNvSpPr>
          <p:nvPr/>
        </p:nvSpPr>
        <p:spPr bwMode="auto">
          <a:xfrm>
            <a:off x="4799351" y="3731340"/>
            <a:ext cx="3768537" cy="20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50000"/>
              </a:spcBef>
              <a:buClrTx/>
              <a:buFontTx/>
              <a:buNone/>
            </a:pPr>
            <a:r>
              <a:rPr lang="en-US" altLang="zh-CN" sz="1350">
                <a:solidFill>
                  <a:srgbClr val="C00000"/>
                </a:solidFill>
                <a:latin typeface="微软雅黑" panose="020B0503020204020204" pitchFamily="34" charset="-122"/>
                <a:ea typeface="微软雅黑" panose="020B0503020204020204" pitchFamily="34" charset="-122"/>
              </a:rPr>
              <a:t>int add(int x = 5,int y = 6) {</a:t>
            </a:r>
          </a:p>
          <a:p>
            <a:pPr eaLnBrk="1" hangingPunct="1">
              <a:lnSpc>
                <a:spcPct val="90000"/>
              </a:lnSpc>
              <a:spcBef>
                <a:spcPct val="50000"/>
              </a:spcBef>
              <a:buClrTx/>
              <a:buFontTx/>
              <a:buNone/>
            </a:pPr>
            <a:r>
              <a:rPr lang="en-US" altLang="zh-CN" sz="1350">
                <a:solidFill>
                  <a:srgbClr val="C00000"/>
                </a:solidFill>
                <a:latin typeface="微软雅黑" panose="020B0503020204020204" pitchFamily="34" charset="-122"/>
                <a:ea typeface="微软雅黑" panose="020B0503020204020204" pitchFamily="34" charset="-122"/>
              </a:rPr>
              <a:t>//</a:t>
            </a:r>
            <a:r>
              <a:rPr lang="zh-CN" altLang="en-US" sz="1350">
                <a:solidFill>
                  <a:srgbClr val="C00000"/>
                </a:solidFill>
                <a:latin typeface="微软雅黑" panose="020B0503020204020204" pitchFamily="34" charset="-122"/>
                <a:ea typeface="微软雅黑" panose="020B0503020204020204" pitchFamily="34" charset="-122"/>
              </a:rPr>
              <a:t>只有定义，没有原型声明</a:t>
            </a:r>
            <a:endParaRPr lang="en-US" altLang="zh-CN" sz="1350">
              <a:solidFill>
                <a:srgbClr val="C00000"/>
              </a:solidFill>
              <a:latin typeface="微软雅黑" panose="020B0503020204020204" pitchFamily="34" charset="-122"/>
              <a:ea typeface="微软雅黑" panose="020B0503020204020204" pitchFamily="34" charset="-122"/>
            </a:endParaRPr>
          </a:p>
          <a:p>
            <a:pPr eaLnBrk="1" hangingPunct="1">
              <a:lnSpc>
                <a:spcPct val="90000"/>
              </a:lnSpc>
              <a:spcBef>
                <a:spcPct val="50000"/>
              </a:spcBef>
              <a:buClrTx/>
              <a:buFontTx/>
              <a:buNone/>
            </a:pPr>
            <a:r>
              <a:rPr lang="en-US" altLang="zh-CN" sz="1350">
                <a:latin typeface="微软雅黑" panose="020B0503020204020204" pitchFamily="34" charset="-122"/>
                <a:ea typeface="微软雅黑" panose="020B0503020204020204" pitchFamily="34" charset="-122"/>
              </a:rPr>
              <a:t>  return  x + y;</a:t>
            </a:r>
          </a:p>
          <a:p>
            <a:pPr eaLnBrk="1" hangingPunct="1">
              <a:lnSpc>
                <a:spcPct val="90000"/>
              </a:lnSpc>
              <a:spcBef>
                <a:spcPct val="50000"/>
              </a:spcBef>
              <a:buClrTx/>
              <a:buFontTx/>
              <a:buNone/>
            </a:pPr>
            <a:r>
              <a:rPr lang="en-US" altLang="zh-CN" sz="1350">
                <a:latin typeface="微软雅黑" panose="020B0503020204020204" pitchFamily="34" charset="-122"/>
                <a:ea typeface="微软雅黑" panose="020B0503020204020204" pitchFamily="34" charset="-122"/>
              </a:rPr>
              <a:t>}</a:t>
            </a:r>
          </a:p>
          <a:p>
            <a:pPr eaLnBrk="1" hangingPunct="1">
              <a:lnSpc>
                <a:spcPct val="90000"/>
              </a:lnSpc>
              <a:spcBef>
                <a:spcPct val="50000"/>
              </a:spcBef>
              <a:buClrTx/>
              <a:buFontTx/>
              <a:buNone/>
            </a:pPr>
            <a:r>
              <a:rPr lang="en-US" altLang="zh-CN" sz="1350">
                <a:latin typeface="微软雅黑" panose="020B0503020204020204" pitchFamily="34" charset="-122"/>
                <a:ea typeface="微软雅黑" panose="020B0503020204020204" pitchFamily="34" charset="-122"/>
              </a:rPr>
              <a:t>int main() {</a:t>
            </a:r>
          </a:p>
          <a:p>
            <a:pPr eaLnBrk="1" hangingPunct="1">
              <a:lnSpc>
                <a:spcPct val="90000"/>
              </a:lnSpc>
              <a:spcBef>
                <a:spcPct val="50000"/>
              </a:spcBef>
              <a:buClrTx/>
              <a:buFontTx/>
              <a:buNone/>
            </a:pPr>
            <a:r>
              <a:rPr lang="en-US" altLang="zh-CN" sz="1350">
                <a:latin typeface="微软雅黑" panose="020B0503020204020204" pitchFamily="34" charset="-122"/>
                <a:ea typeface="微软雅黑" panose="020B0503020204020204" pitchFamily="34" charset="-122"/>
              </a:rPr>
              <a:t>  add();</a:t>
            </a:r>
            <a:endParaRPr lang="zh-CN" altLang="en-US" sz="1350">
              <a:latin typeface="微软雅黑" panose="020B0503020204020204" pitchFamily="34" charset="-122"/>
              <a:ea typeface="微软雅黑" panose="020B0503020204020204" pitchFamily="34" charset="-122"/>
            </a:endParaRPr>
          </a:p>
          <a:p>
            <a:pPr eaLnBrk="1" hangingPunct="1">
              <a:lnSpc>
                <a:spcPct val="90000"/>
              </a:lnSpc>
              <a:spcBef>
                <a:spcPct val="50000"/>
              </a:spcBef>
              <a:buClrTx/>
              <a:buFontTx/>
              <a:buNone/>
            </a:pPr>
            <a:r>
              <a:rPr lang="en-US" altLang="zh-CN" sz="1350">
                <a:latin typeface="微软雅黑" panose="020B0503020204020204" pitchFamily="34" charset="-122"/>
                <a:ea typeface="微软雅黑" panose="020B0503020204020204" pitchFamily="34" charset="-122"/>
              </a:rPr>
              <a:t>}</a:t>
            </a:r>
          </a:p>
        </p:txBody>
      </p:sp>
      <p:sp>
        <p:nvSpPr>
          <p:cNvPr id="80903" name="Line 7"/>
          <p:cNvSpPr>
            <a:spLocks noChangeShapeType="1"/>
          </p:cNvSpPr>
          <p:nvPr/>
        </p:nvSpPr>
        <p:spPr bwMode="auto">
          <a:xfrm>
            <a:off x="4572001" y="3750385"/>
            <a:ext cx="0" cy="1942594"/>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4" name="Text Box 4"/>
          <p:cNvSpPr txBox="1">
            <a:spLocks noChangeArrowheads="1"/>
          </p:cNvSpPr>
          <p:nvPr/>
        </p:nvSpPr>
        <p:spPr bwMode="auto">
          <a:xfrm>
            <a:off x="661816" y="3705153"/>
            <a:ext cx="3531665" cy="2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kumimoji="1"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kumimoji="1"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kumimoji="1"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kumimoji="1"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kumimoji="1" sz="2000">
                <a:solidFill>
                  <a:srgbClr val="A04DA3"/>
                </a:solidFill>
                <a:latin typeface="Georgia" panose="02040502050405020303" pitchFamily="18" charset="0"/>
                <a:ea typeface="宋体" panose="02010600030101010101" pitchFamily="2" charset="-122"/>
              </a:defRPr>
            </a:lvl9pPr>
          </a:lstStyle>
          <a:p>
            <a:pPr eaLnBrk="1" hangingPunct="1">
              <a:lnSpc>
                <a:spcPct val="70000"/>
              </a:lnSpc>
              <a:spcBef>
                <a:spcPct val="50000"/>
              </a:spcBef>
              <a:buClrTx/>
              <a:buFontTx/>
              <a:buNone/>
            </a:pPr>
            <a:r>
              <a:rPr lang="en-US" altLang="zh-CN" sz="1350">
                <a:solidFill>
                  <a:srgbClr val="C00000"/>
                </a:solidFill>
                <a:latin typeface="微软雅黑" panose="020B0503020204020204" pitchFamily="34" charset="-122"/>
                <a:ea typeface="微软雅黑" panose="020B0503020204020204" pitchFamily="34" charset="-122"/>
              </a:rPr>
              <a:t>int add(int x = 5,int y = 6);</a:t>
            </a:r>
          </a:p>
          <a:p>
            <a:pPr eaLnBrk="1" hangingPunct="1">
              <a:lnSpc>
                <a:spcPct val="70000"/>
              </a:lnSpc>
              <a:spcBef>
                <a:spcPct val="50000"/>
              </a:spcBef>
              <a:buClrTx/>
              <a:buFontTx/>
              <a:buNone/>
            </a:pPr>
            <a:r>
              <a:rPr lang="en-US" altLang="zh-CN" sz="1350">
                <a:solidFill>
                  <a:srgbClr val="C00000"/>
                </a:solidFill>
                <a:latin typeface="微软雅黑" panose="020B0503020204020204" pitchFamily="34" charset="-122"/>
                <a:ea typeface="微软雅黑" panose="020B0503020204020204" pitchFamily="34" charset="-122"/>
              </a:rPr>
              <a:t>//</a:t>
            </a:r>
            <a:r>
              <a:rPr lang="zh-CN" altLang="en-US" sz="1350">
                <a:solidFill>
                  <a:srgbClr val="C00000"/>
                </a:solidFill>
                <a:latin typeface="微软雅黑" panose="020B0503020204020204" pitchFamily="34" charset="-122"/>
                <a:ea typeface="微软雅黑" panose="020B0503020204020204" pitchFamily="34" charset="-122"/>
              </a:rPr>
              <a:t>原型声明在前</a:t>
            </a:r>
            <a:endParaRPr lang="en-US" altLang="zh-CN" sz="1350">
              <a:solidFill>
                <a:srgbClr val="C00000"/>
              </a:solidFill>
              <a:latin typeface="微软雅黑" panose="020B0503020204020204" pitchFamily="34" charset="-122"/>
              <a:ea typeface="微软雅黑" panose="020B0503020204020204" pitchFamily="34" charset="-122"/>
            </a:endParaRPr>
          </a:p>
          <a:p>
            <a:pPr eaLnBrk="1" hangingPunct="1">
              <a:lnSpc>
                <a:spcPct val="70000"/>
              </a:lnSpc>
              <a:spcBef>
                <a:spcPct val="50000"/>
              </a:spcBef>
              <a:buClrTx/>
              <a:buFontTx/>
              <a:buNone/>
            </a:pPr>
            <a:r>
              <a:rPr lang="en-US" altLang="zh-CN" sz="1350">
                <a:latin typeface="微软雅黑" panose="020B0503020204020204" pitchFamily="34" charset="-122"/>
                <a:ea typeface="微软雅黑" panose="020B0503020204020204" pitchFamily="34" charset="-122"/>
              </a:rPr>
              <a:t>int main() {</a:t>
            </a:r>
          </a:p>
          <a:p>
            <a:pPr eaLnBrk="1" hangingPunct="1">
              <a:lnSpc>
                <a:spcPct val="70000"/>
              </a:lnSpc>
              <a:spcBef>
                <a:spcPct val="50000"/>
              </a:spcBef>
              <a:buClrTx/>
              <a:buFontTx/>
              <a:buNone/>
            </a:pPr>
            <a:r>
              <a:rPr lang="en-US" altLang="zh-CN" sz="1350">
                <a:latin typeface="微软雅黑" panose="020B0503020204020204" pitchFamily="34" charset="-122"/>
                <a:ea typeface="微软雅黑" panose="020B0503020204020204" pitchFamily="34" charset="-122"/>
              </a:rPr>
              <a:t>  add(); </a:t>
            </a:r>
          </a:p>
          <a:p>
            <a:pPr eaLnBrk="1" hangingPunct="1">
              <a:lnSpc>
                <a:spcPct val="70000"/>
              </a:lnSpc>
              <a:spcBef>
                <a:spcPct val="50000"/>
              </a:spcBef>
              <a:buClrTx/>
              <a:buFontTx/>
              <a:buNone/>
            </a:pPr>
            <a:r>
              <a:rPr lang="en-US" altLang="zh-CN" sz="1350">
                <a:latin typeface="微软雅黑" panose="020B0503020204020204" pitchFamily="34" charset="-122"/>
                <a:ea typeface="微软雅黑" panose="020B0503020204020204" pitchFamily="34" charset="-122"/>
              </a:rPr>
              <a:t>}</a:t>
            </a:r>
          </a:p>
          <a:p>
            <a:pPr eaLnBrk="1" hangingPunct="1">
              <a:lnSpc>
                <a:spcPct val="70000"/>
              </a:lnSpc>
              <a:spcBef>
                <a:spcPct val="50000"/>
              </a:spcBef>
              <a:buClrTx/>
              <a:buFontTx/>
              <a:buNone/>
            </a:pPr>
            <a:r>
              <a:rPr lang="en-US" altLang="zh-CN" sz="1350">
                <a:latin typeface="微软雅黑" panose="020B0503020204020204" pitchFamily="34" charset="-122"/>
                <a:ea typeface="微软雅黑" panose="020B0503020204020204" pitchFamily="34" charset="-122"/>
              </a:rPr>
              <a:t>int add(int x,int y) {</a:t>
            </a:r>
          </a:p>
          <a:p>
            <a:pPr eaLnBrk="1" hangingPunct="1">
              <a:lnSpc>
                <a:spcPct val="70000"/>
              </a:lnSpc>
              <a:spcBef>
                <a:spcPct val="50000"/>
              </a:spcBef>
              <a:buClrTx/>
              <a:buFontTx/>
              <a:buNone/>
            </a:pPr>
            <a:r>
              <a:rPr lang="en-US" altLang="zh-CN" sz="1350">
                <a:solidFill>
                  <a:srgbClr val="C00000"/>
                </a:solidFill>
                <a:latin typeface="微软雅黑" panose="020B0503020204020204" pitchFamily="34" charset="-122"/>
                <a:ea typeface="微软雅黑" panose="020B0503020204020204" pitchFamily="34" charset="-122"/>
              </a:rPr>
              <a:t>//</a:t>
            </a:r>
            <a:r>
              <a:rPr lang="zh-CN" altLang="en-US" sz="1350">
                <a:solidFill>
                  <a:srgbClr val="C00000"/>
                </a:solidFill>
                <a:latin typeface="微软雅黑" panose="020B0503020204020204" pitchFamily="34" charset="-122"/>
                <a:ea typeface="微软雅黑" panose="020B0503020204020204" pitchFamily="34" charset="-122"/>
              </a:rPr>
              <a:t>此处不能再指定默认值</a:t>
            </a:r>
            <a:endParaRPr lang="en-US" altLang="zh-CN" sz="1350">
              <a:solidFill>
                <a:srgbClr val="C00000"/>
              </a:solidFill>
              <a:latin typeface="微软雅黑" panose="020B0503020204020204" pitchFamily="34" charset="-122"/>
              <a:ea typeface="微软雅黑" panose="020B0503020204020204" pitchFamily="34" charset="-122"/>
            </a:endParaRPr>
          </a:p>
          <a:p>
            <a:pPr eaLnBrk="1" hangingPunct="1">
              <a:lnSpc>
                <a:spcPct val="70000"/>
              </a:lnSpc>
              <a:spcBef>
                <a:spcPct val="50000"/>
              </a:spcBef>
              <a:buClrTx/>
              <a:buFontTx/>
              <a:buNone/>
            </a:pPr>
            <a:r>
              <a:rPr lang="en-US" altLang="zh-CN" sz="1350">
                <a:latin typeface="微软雅黑" panose="020B0503020204020204" pitchFamily="34" charset="-122"/>
                <a:ea typeface="微软雅黑" panose="020B0503020204020204" pitchFamily="34" charset="-122"/>
              </a:rPr>
              <a:t>  return x + y;</a:t>
            </a:r>
          </a:p>
          <a:p>
            <a:pPr eaLnBrk="1" hangingPunct="1">
              <a:lnSpc>
                <a:spcPct val="70000"/>
              </a:lnSpc>
              <a:spcBef>
                <a:spcPct val="50000"/>
              </a:spcBef>
              <a:buClrTx/>
              <a:buFontTx/>
              <a:buNone/>
            </a:pPr>
            <a:r>
              <a:rPr lang="en-US" altLang="zh-CN" sz="1350">
                <a:latin typeface="微软雅黑" panose="020B0503020204020204" pitchFamily="34" charset="-122"/>
                <a:ea typeface="微软雅黑" panose="020B0503020204020204" pitchFamily="34" charset="-122"/>
              </a:rPr>
              <a:t>}</a:t>
            </a:r>
          </a:p>
        </p:txBody>
      </p:sp>
      <p:sp>
        <p:nvSpPr>
          <p:cNvPr id="2" name="灯片编号占位符 1"/>
          <p:cNvSpPr>
            <a:spLocks noGrp="1"/>
          </p:cNvSpPr>
          <p:nvPr>
            <p:ph type="sldNum" sz="quarter" idx="4294967295"/>
          </p:nvPr>
        </p:nvSpPr>
        <p:spPr/>
        <p:txBody>
          <a:bodyPr/>
          <a:lstStyle/>
          <a:p>
            <a:endParaRPr lang="zh-CN" altLang="en-US" dirty="0"/>
          </a:p>
        </p:txBody>
      </p:sp>
    </p:spTree>
    <p:extLst>
      <p:ext uri="{BB962C8B-B14F-4D97-AF65-F5344CB8AC3E}">
        <p14:creationId xmlns:p14="http://schemas.microsoft.com/office/powerpoint/2010/main" val="6394774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Effect transition="in" filter="fade">
                                      <p:cBhvr>
                                        <p:cTn id="7" dur="500"/>
                                        <p:tgtEl>
                                          <p:spTgt spid="80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0899">
                                            <p:txEl>
                                              <p:pRg st="1" end="1"/>
                                            </p:txEl>
                                          </p:spTgt>
                                        </p:tgtEl>
                                        <p:attrNameLst>
                                          <p:attrName>style.visibility</p:attrName>
                                        </p:attrNameLst>
                                      </p:cBhvr>
                                      <p:to>
                                        <p:strVal val="visible"/>
                                      </p:to>
                                    </p:set>
                                    <p:animEffect transition="in" filter="fade">
                                      <p:cBhvr>
                                        <p:cTn id="12" dur="500"/>
                                        <p:tgtEl>
                                          <p:spTgt spid="808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0904"/>
                                        </p:tgtEl>
                                        <p:attrNameLst>
                                          <p:attrName>style.visibility</p:attrName>
                                        </p:attrNameLst>
                                      </p:cBhvr>
                                      <p:to>
                                        <p:strVal val="visible"/>
                                      </p:to>
                                    </p:set>
                                    <p:animEffect transition="in" filter="fade">
                                      <p:cBhvr>
                                        <p:cTn id="17" dur="500"/>
                                        <p:tgtEl>
                                          <p:spTgt spid="809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0903"/>
                                        </p:tgtEl>
                                        <p:attrNameLst>
                                          <p:attrName>style.visibility</p:attrName>
                                        </p:attrNameLst>
                                      </p:cBhvr>
                                      <p:to>
                                        <p:strVal val="visible"/>
                                      </p:to>
                                    </p:set>
                                    <p:animEffect transition="in" filter="fade">
                                      <p:cBhvr>
                                        <p:cTn id="22" dur="500"/>
                                        <p:tgtEl>
                                          <p:spTgt spid="8090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0902"/>
                                        </p:tgtEl>
                                        <p:attrNameLst>
                                          <p:attrName>style.visibility</p:attrName>
                                        </p:attrNameLst>
                                      </p:cBhvr>
                                      <p:to>
                                        <p:strVal val="visible"/>
                                      </p:to>
                                    </p:set>
                                    <p:animEffect transition="in" filter="fade">
                                      <p:cBhvr>
                                        <p:cTn id="25" dur="500"/>
                                        <p:tgtEl>
                                          <p:spTgt spid="80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p:bldP spid="80903" grpId="0" animBg="1"/>
      <p:bldP spid="8090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a:t>6.6 </a:t>
            </a:r>
            <a:r>
              <a:rPr lang="zh-CN" altLang="en-US"/>
              <a:t>参数带默认值的函数</a:t>
            </a:r>
          </a:p>
        </p:txBody>
      </p:sp>
      <p:sp>
        <p:nvSpPr>
          <p:cNvPr id="300035" name="Rectangle 3"/>
          <p:cNvSpPr>
            <a:spLocks noGrp="1" noChangeArrowheads="1"/>
          </p:cNvSpPr>
          <p:nvPr>
            <p:ph type="body" idx="1"/>
          </p:nvPr>
        </p:nvSpPr>
        <p:spPr/>
        <p:txBody>
          <a:bodyPr/>
          <a:lstStyle/>
          <a:p>
            <a:pPr eaLnBrk="1" hangingPunct="1"/>
            <a:r>
              <a:rPr lang="zh-CN" altLang="en-US" sz="2400"/>
              <a:t>仍然是</a:t>
            </a:r>
            <a:r>
              <a:rPr lang="zh-CN" altLang="en-US" sz="2400">
                <a:latin typeface="Times New Roman" pitchFamily="18" charset="0"/>
                <a:ea typeface="楷体_GB2312" pitchFamily="49" charset="-122"/>
              </a:rPr>
              <a:t>“</a:t>
            </a:r>
            <a:r>
              <a:rPr lang="zh-CN" altLang="en-US" sz="2400">
                <a:solidFill>
                  <a:srgbClr val="990000"/>
                </a:solidFill>
                <a:ea typeface="楷体_GB2312" pitchFamily="49" charset="-122"/>
              </a:rPr>
              <a:t>将方便让给程序员，把困难留给编译器</a:t>
            </a:r>
            <a:r>
              <a:rPr lang="zh-CN" altLang="en-US" sz="2400">
                <a:latin typeface="Times New Roman" pitchFamily="18" charset="0"/>
                <a:ea typeface="楷体_GB2312" pitchFamily="49" charset="-122"/>
              </a:rPr>
              <a:t>”</a:t>
            </a:r>
          </a:p>
          <a:p>
            <a:pPr eaLnBrk="1" hangingPunct="1"/>
            <a:r>
              <a:rPr lang="en-US" altLang="zh-CN" sz="2400"/>
              <a:t>C++</a:t>
            </a:r>
            <a:r>
              <a:rPr lang="zh-CN" altLang="en-US" sz="2400"/>
              <a:t>编译器支持参数带默认值的函数。</a:t>
            </a:r>
          </a:p>
          <a:p>
            <a:pPr eaLnBrk="1" hangingPunct="1"/>
            <a:r>
              <a:rPr lang="zh-CN" altLang="en-US" sz="2400"/>
              <a:t>例如，在下面的函数中，形式参数类型为字符指针，其后有一设定的值为该参数的默认值。该函数被称为参数带默认值的函数。</a:t>
            </a:r>
          </a:p>
          <a:p>
            <a:pPr eaLnBrk="1" hangingPunct="1"/>
            <a:r>
              <a:rPr lang="zh-CN" altLang="en-US" sz="2400"/>
              <a:t>例</a:t>
            </a:r>
            <a:r>
              <a:rPr lang="en-US" altLang="zh-CN" sz="2400"/>
              <a:t>6.6 </a:t>
            </a:r>
            <a:r>
              <a:rPr lang="zh-CN" altLang="en-US" sz="2400"/>
              <a:t>参数带默认值的函数示例。</a:t>
            </a:r>
          </a:p>
          <a:p>
            <a:pPr lvl="1" eaLnBrk="1" hangingPunct="1">
              <a:buFont typeface="Wingdings" pitchFamily="2" charset="2"/>
              <a:buNone/>
            </a:pPr>
            <a:r>
              <a:rPr lang="en-US" altLang="zh-CN" sz="2000">
                <a:solidFill>
                  <a:schemeClr val="tx2"/>
                </a:solidFill>
              </a:rPr>
              <a:t>#</a:t>
            </a:r>
            <a:r>
              <a:rPr lang="en-US" altLang="zh-CN" sz="2000">
                <a:solidFill>
                  <a:srgbClr val="0000FF"/>
                </a:solidFill>
              </a:rPr>
              <a:t>include</a:t>
            </a:r>
            <a:r>
              <a:rPr lang="en-US" altLang="zh-CN" sz="2000">
                <a:solidFill>
                  <a:schemeClr val="tx2"/>
                </a:solidFill>
              </a:rPr>
              <a:t> &lt;conio.h&gt;</a:t>
            </a:r>
          </a:p>
          <a:p>
            <a:pPr lvl="1" eaLnBrk="1" hangingPunct="1">
              <a:buFont typeface="Wingdings" pitchFamily="2" charset="2"/>
              <a:buNone/>
            </a:pPr>
            <a:r>
              <a:rPr lang="en-US" altLang="zh-CN" sz="2000">
                <a:solidFill>
                  <a:srgbClr val="0000FF"/>
                </a:solidFill>
              </a:rPr>
              <a:t>int</a:t>
            </a:r>
            <a:r>
              <a:rPr lang="en-US" altLang="zh-CN" sz="2000">
                <a:solidFill>
                  <a:schemeClr val="tx2"/>
                </a:solidFill>
              </a:rPr>
              <a:t> Pause(</a:t>
            </a:r>
            <a:r>
              <a:rPr lang="en-US" altLang="zh-CN" sz="2000">
                <a:solidFill>
                  <a:srgbClr val="0000FF"/>
                </a:solidFill>
              </a:rPr>
              <a:t>char </a:t>
            </a:r>
            <a:r>
              <a:rPr lang="en-US" altLang="zh-CN" sz="2000">
                <a:solidFill>
                  <a:schemeClr val="tx2"/>
                </a:solidFill>
              </a:rPr>
              <a:t>*prompt =”</a:t>
            </a:r>
            <a:r>
              <a:rPr lang="zh-CN" altLang="en-US" sz="2000">
                <a:solidFill>
                  <a:schemeClr val="tx2"/>
                </a:solidFill>
              </a:rPr>
              <a:t>按任意键继续</a:t>
            </a:r>
            <a:r>
              <a:rPr lang="en-US" altLang="zh-CN" sz="2000">
                <a:solidFill>
                  <a:schemeClr val="tx2"/>
                </a:solidFill>
              </a:rPr>
              <a:t>……”); </a:t>
            </a:r>
            <a:r>
              <a:rPr lang="en-US" altLang="zh-CN" sz="2000">
                <a:solidFill>
                  <a:srgbClr val="990000"/>
                </a:solidFill>
              </a:rPr>
              <a:t>// </a:t>
            </a:r>
            <a:r>
              <a:rPr lang="zh-CN" altLang="en-US" sz="2000">
                <a:solidFill>
                  <a:srgbClr val="990000"/>
                </a:solidFill>
              </a:rPr>
              <a:t>函数原型 </a:t>
            </a:r>
          </a:p>
          <a:p>
            <a:pPr lvl="1" eaLnBrk="1" hangingPunct="1">
              <a:spcBef>
                <a:spcPct val="80000"/>
              </a:spcBef>
              <a:buFont typeface="Wingdings" pitchFamily="2" charset="2"/>
              <a:buNone/>
            </a:pPr>
            <a:r>
              <a:rPr lang="en-US" altLang="zh-CN" sz="2000">
                <a:solidFill>
                  <a:srgbClr val="0000FF"/>
                </a:solidFill>
              </a:rPr>
              <a:t>int</a:t>
            </a:r>
            <a:r>
              <a:rPr lang="en-US" altLang="zh-CN" sz="2000">
                <a:solidFill>
                  <a:schemeClr val="tx2"/>
                </a:solidFill>
              </a:rPr>
              <a:t> Pause(</a:t>
            </a:r>
            <a:r>
              <a:rPr lang="en-US" altLang="zh-CN" sz="2000">
                <a:solidFill>
                  <a:srgbClr val="0000FF"/>
                </a:solidFill>
              </a:rPr>
              <a:t>char </a:t>
            </a:r>
            <a:r>
              <a:rPr lang="en-US" altLang="zh-CN" sz="2000">
                <a:solidFill>
                  <a:schemeClr val="tx2"/>
                </a:solidFill>
              </a:rPr>
              <a:t>*prompt)    	</a:t>
            </a:r>
            <a:r>
              <a:rPr lang="en-US" altLang="zh-CN" sz="2000">
                <a:solidFill>
                  <a:srgbClr val="990000"/>
                </a:solidFill>
              </a:rPr>
              <a:t>	  // </a:t>
            </a:r>
            <a:r>
              <a:rPr lang="zh-CN" altLang="en-US" sz="2000">
                <a:solidFill>
                  <a:srgbClr val="990000"/>
                </a:solidFill>
              </a:rPr>
              <a:t>函数定义 </a:t>
            </a:r>
          </a:p>
          <a:p>
            <a:pPr lvl="1" eaLnBrk="1" hangingPunct="1">
              <a:buFont typeface="Wingdings" pitchFamily="2" charset="2"/>
              <a:buNone/>
            </a:pPr>
            <a:r>
              <a:rPr lang="en-US" altLang="zh-CN" sz="2000">
                <a:solidFill>
                  <a:schemeClr val="tx2"/>
                </a:solidFill>
              </a:rPr>
              <a:t>{</a:t>
            </a:r>
          </a:p>
          <a:p>
            <a:pPr lvl="1" eaLnBrk="1" hangingPunct="1">
              <a:buFont typeface="Wingdings" pitchFamily="2" charset="2"/>
              <a:buNone/>
            </a:pPr>
            <a:r>
              <a:rPr lang="en-US" altLang="zh-CN" sz="2000">
                <a:solidFill>
                  <a:schemeClr val="tx2"/>
                </a:solidFill>
              </a:rPr>
              <a:t>    cout &lt;&lt; prompt &lt;&lt; flush;</a:t>
            </a:r>
          </a:p>
          <a:p>
            <a:pPr lvl="1" eaLnBrk="1" hangingPunct="1">
              <a:buFont typeface="Wingdings" pitchFamily="2" charset="2"/>
              <a:buNone/>
            </a:pPr>
            <a:r>
              <a:rPr lang="en-US" altLang="zh-CN" sz="2000">
                <a:solidFill>
                  <a:schemeClr val="tx2"/>
                </a:solidFill>
              </a:rPr>
              <a:t>    </a:t>
            </a:r>
            <a:r>
              <a:rPr lang="en-US" altLang="zh-CN" sz="2000">
                <a:solidFill>
                  <a:srgbClr val="0000FF"/>
                </a:solidFill>
              </a:rPr>
              <a:t>return</a:t>
            </a:r>
            <a:r>
              <a:rPr lang="en-US" altLang="zh-CN" sz="2000">
                <a:solidFill>
                  <a:schemeClr val="tx2"/>
                </a:solidFill>
              </a:rPr>
              <a:t> getch();</a:t>
            </a:r>
          </a:p>
          <a:p>
            <a:pPr lvl="1" eaLnBrk="1" hangingPunct="1">
              <a:buFont typeface="Wingdings" pitchFamily="2" charset="2"/>
              <a:buNone/>
            </a:pPr>
            <a:r>
              <a:rPr lang="en-US" altLang="zh-CN" sz="2000">
                <a:solidFill>
                  <a:schemeClr val="tx2"/>
                </a:solidFill>
              </a:rPr>
              <a:t>}</a:t>
            </a:r>
            <a:endParaRPr lang="zh-CN" altLang="en-US" sz="2000">
              <a:solidFill>
                <a:schemeClr val="tx2"/>
              </a:solidFill>
            </a:endParaRPr>
          </a:p>
        </p:txBody>
      </p:sp>
      <p:sp>
        <p:nvSpPr>
          <p:cNvPr id="300036" name="Oval 4"/>
          <p:cNvSpPr>
            <a:spLocks noChangeArrowheads="1"/>
          </p:cNvSpPr>
          <p:nvPr/>
        </p:nvSpPr>
        <p:spPr bwMode="auto">
          <a:xfrm>
            <a:off x="4267200" y="4067175"/>
            <a:ext cx="2514600" cy="685800"/>
          </a:xfrm>
          <a:prstGeom prst="ellipse">
            <a:avLst/>
          </a:prstGeom>
          <a:noFill/>
          <a:ln w="38100">
            <a:solidFill>
              <a:srgbClr val="990000"/>
            </a:solidFill>
            <a:round/>
            <a:headEnd/>
            <a:tailEnd/>
          </a:ln>
        </p:spPr>
        <p:txBody>
          <a:bodyPr wrap="none" anchor="ctr"/>
          <a:lstStyle/>
          <a:p>
            <a:endParaRPr lang="zh-CN" altLang="en-US">
              <a:solidFill>
                <a:srgbClr val="1D528D"/>
              </a:solidFill>
              <a:latin typeface="Arial" pitchFamily="34" charset="0"/>
              <a:ea typeface="黑体" pitchFamily="49" charset="-122"/>
            </a:endParaRPr>
          </a:p>
        </p:txBody>
      </p:sp>
    </p:spTree>
    <p:extLst>
      <p:ext uri="{BB962C8B-B14F-4D97-AF65-F5344CB8AC3E}">
        <p14:creationId xmlns:p14="http://schemas.microsoft.com/office/powerpoint/2010/main" val="391806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0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00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003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003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00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003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003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003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003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0035">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0035">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0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build="p"/>
      <p:bldP spid="30003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t>6.6 </a:t>
            </a:r>
            <a:r>
              <a:rPr lang="zh-CN" altLang="en-US"/>
              <a:t>参数带默认值的函数</a:t>
            </a:r>
          </a:p>
        </p:txBody>
      </p:sp>
      <p:sp>
        <p:nvSpPr>
          <p:cNvPr id="301059" name="Rectangle 3"/>
          <p:cNvSpPr>
            <a:spLocks noGrp="1" noChangeArrowheads="1"/>
          </p:cNvSpPr>
          <p:nvPr>
            <p:ph type="body" idx="1"/>
          </p:nvPr>
        </p:nvSpPr>
        <p:spPr>
          <a:xfrm>
            <a:off x="381000" y="1295400"/>
            <a:ext cx="8610600" cy="5410200"/>
          </a:xfrm>
        </p:spPr>
        <p:txBody>
          <a:bodyPr/>
          <a:lstStyle/>
          <a:p>
            <a:pPr eaLnBrk="1" hangingPunct="1"/>
            <a:r>
              <a:rPr lang="zh-CN" altLang="en-US"/>
              <a:t>该函数在调用时，可以有以下两种形式。</a:t>
            </a:r>
          </a:p>
          <a:p>
            <a:pPr lvl="1" eaLnBrk="1" hangingPunct="1"/>
            <a:r>
              <a:rPr lang="zh-CN" altLang="en-US"/>
              <a:t>不提供实参。此时编译系统使用默认值。如：</a:t>
            </a:r>
          </a:p>
          <a:p>
            <a:pPr lvl="2" eaLnBrk="1" hangingPunct="1">
              <a:buFont typeface="Webdings" pitchFamily="18" charset="2"/>
              <a:buNone/>
            </a:pPr>
            <a:r>
              <a:rPr lang="en-US" altLang="zh-CN" sz="2400"/>
              <a:t>Pause();</a:t>
            </a:r>
          </a:p>
          <a:p>
            <a:pPr lvl="1" eaLnBrk="1" hangingPunct="1"/>
            <a:r>
              <a:rPr lang="zh-CN" altLang="en-US"/>
              <a:t>提供实参。此时编译系统不使用默认值，而使用程序员提供的实参数据。如：</a:t>
            </a:r>
          </a:p>
          <a:p>
            <a:pPr lvl="2" eaLnBrk="1" hangingPunct="1">
              <a:buFont typeface="Webdings" pitchFamily="18" charset="2"/>
              <a:buNone/>
            </a:pPr>
            <a:r>
              <a:rPr lang="en-US" altLang="zh-CN" sz="2400"/>
              <a:t>Pause(”Press any key to continue...”);</a:t>
            </a:r>
          </a:p>
          <a:p>
            <a:pPr lvl="2" eaLnBrk="1" hangingPunct="1">
              <a:buFont typeface="Webdings" pitchFamily="18" charset="2"/>
              <a:buNone/>
            </a:pPr>
            <a:r>
              <a:rPr lang="en-US" altLang="zh-CN" sz="2400">
                <a:solidFill>
                  <a:srgbClr val="0000FF"/>
                </a:solidFill>
              </a:rPr>
              <a:t>int</a:t>
            </a:r>
            <a:r>
              <a:rPr lang="en-US" altLang="zh-CN" sz="2400"/>
              <a:t> flag;</a:t>
            </a:r>
          </a:p>
          <a:p>
            <a:pPr lvl="2" eaLnBrk="1" hangingPunct="1">
              <a:buFont typeface="Webdings" pitchFamily="18" charset="2"/>
              <a:buNone/>
            </a:pPr>
            <a:r>
              <a:rPr lang="en-US" altLang="zh-CN" sz="2400"/>
              <a:t>flag = Pause(”</a:t>
            </a:r>
            <a:r>
              <a:rPr lang="zh-CN" altLang="en-US" sz="2400"/>
              <a:t>确实要删除该记录吗？</a:t>
            </a:r>
            <a:r>
              <a:rPr lang="en-US" altLang="zh-CN" sz="2400"/>
              <a:t>(y/[N])”);</a:t>
            </a:r>
          </a:p>
        </p:txBody>
      </p:sp>
    </p:spTree>
    <p:extLst>
      <p:ext uri="{BB962C8B-B14F-4D97-AF65-F5344CB8AC3E}">
        <p14:creationId xmlns:p14="http://schemas.microsoft.com/office/powerpoint/2010/main" val="385498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10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10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10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105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105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10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a:t>6.6 </a:t>
            </a:r>
            <a:r>
              <a:rPr lang="zh-CN" altLang="en-US"/>
              <a:t>参数带默认值的函数</a:t>
            </a:r>
          </a:p>
        </p:txBody>
      </p:sp>
      <p:sp>
        <p:nvSpPr>
          <p:cNvPr id="306179" name="Rectangle 3"/>
          <p:cNvSpPr>
            <a:spLocks noGrp="1" noChangeArrowheads="1"/>
          </p:cNvSpPr>
          <p:nvPr>
            <p:ph type="body" idx="1"/>
          </p:nvPr>
        </p:nvSpPr>
        <p:spPr>
          <a:xfrm>
            <a:off x="381000" y="1219200"/>
            <a:ext cx="8610600" cy="5486400"/>
          </a:xfrm>
        </p:spPr>
        <p:txBody>
          <a:bodyPr/>
          <a:lstStyle/>
          <a:p>
            <a:pPr eaLnBrk="1" hangingPunct="1">
              <a:lnSpc>
                <a:spcPct val="115000"/>
              </a:lnSpc>
              <a:spcBef>
                <a:spcPct val="35000"/>
              </a:spcBef>
            </a:pPr>
            <a:r>
              <a:rPr lang="zh-CN" altLang="en-US"/>
              <a:t>一个函数中可以有多个参数带默认值</a:t>
            </a:r>
          </a:p>
          <a:p>
            <a:pPr lvl="1" eaLnBrk="1" hangingPunct="1">
              <a:lnSpc>
                <a:spcPct val="115000"/>
              </a:lnSpc>
              <a:spcBef>
                <a:spcPct val="35000"/>
              </a:spcBef>
            </a:pPr>
            <a:r>
              <a:rPr lang="zh-CN" altLang="en-US"/>
              <a:t>无默认值的参数不能缺省实参，实参从左边依次初始化形参，其余的形参使用其默认值</a:t>
            </a:r>
          </a:p>
          <a:p>
            <a:pPr lvl="1" eaLnBrk="1" hangingPunct="1">
              <a:lnSpc>
                <a:spcPct val="115000"/>
              </a:lnSpc>
              <a:spcBef>
                <a:spcPct val="35000"/>
              </a:spcBef>
            </a:pPr>
            <a:r>
              <a:rPr lang="zh-CN" altLang="en-US"/>
              <a:t>因此，函数设计时应将带默认值的形参全部安排在参数表的右边</a:t>
            </a:r>
          </a:p>
          <a:p>
            <a:pPr eaLnBrk="1" hangingPunct="1">
              <a:lnSpc>
                <a:spcPct val="115000"/>
              </a:lnSpc>
              <a:spcBef>
                <a:spcPct val="35000"/>
              </a:spcBef>
            </a:pPr>
            <a:r>
              <a:rPr lang="zh-CN" altLang="en-US"/>
              <a:t>注意</a:t>
            </a:r>
          </a:p>
          <a:p>
            <a:pPr lvl="1" eaLnBrk="1" hangingPunct="1">
              <a:lnSpc>
                <a:spcPct val="115000"/>
              </a:lnSpc>
              <a:spcBef>
                <a:spcPct val="35000"/>
              </a:spcBef>
            </a:pPr>
            <a:r>
              <a:rPr lang="zh-CN" altLang="en-US"/>
              <a:t>参数的默认值只应出现在函数声明中；</a:t>
            </a:r>
            <a:endParaRPr lang="en-US" altLang="zh-CN"/>
          </a:p>
          <a:p>
            <a:pPr lvl="1" eaLnBrk="1" hangingPunct="1">
              <a:lnSpc>
                <a:spcPct val="115000"/>
              </a:lnSpc>
              <a:spcBef>
                <a:spcPct val="35000"/>
              </a:spcBef>
            </a:pPr>
            <a:r>
              <a:rPr lang="zh-CN" altLang="en-US"/>
              <a:t>有函数原型声明时，函数定义中不应出现参数默认值；</a:t>
            </a:r>
          </a:p>
          <a:p>
            <a:pPr lvl="1" eaLnBrk="1" hangingPunct="1">
              <a:lnSpc>
                <a:spcPct val="115000"/>
              </a:lnSpc>
              <a:spcBef>
                <a:spcPct val="35000"/>
              </a:spcBef>
            </a:pPr>
            <a:r>
              <a:rPr lang="zh-CN" altLang="en-US"/>
              <a:t>若无函数原型声明函数（即函数定义兼作函数声明）时，才允许在函数定义时声明参数默认值。</a:t>
            </a:r>
          </a:p>
        </p:txBody>
      </p:sp>
    </p:spTree>
    <p:extLst>
      <p:ext uri="{BB962C8B-B14F-4D97-AF65-F5344CB8AC3E}">
        <p14:creationId xmlns:p14="http://schemas.microsoft.com/office/powerpoint/2010/main" val="73219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61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61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61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617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617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617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61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3"/>
          <p:cNvSpPr>
            <a:spLocks noGrp="1"/>
          </p:cNvSpPr>
          <p:nvPr>
            <p:ph type="sldNum" sz="quarter" idx="4294967295"/>
          </p:nvPr>
        </p:nvSpPr>
        <p:spPr>
          <a:xfrm>
            <a:off x="0" y="228600"/>
            <a:ext cx="0" cy="0"/>
          </a:xfrm>
        </p:spPr>
        <p:txBody>
          <a:bodyPr/>
          <a:lstStyle/>
          <a:p>
            <a:endParaRPr lang="en-US" altLang="zh-CN" dirty="0"/>
          </a:p>
        </p:txBody>
      </p:sp>
      <p:sp>
        <p:nvSpPr>
          <p:cNvPr id="996356" name="Rectangle 4"/>
          <p:cNvSpPr>
            <a:spLocks noChangeArrowheads="1"/>
          </p:cNvSpPr>
          <p:nvPr/>
        </p:nvSpPr>
        <p:spPr bwMode="auto">
          <a:xfrm>
            <a:off x="3429000" y="762000"/>
            <a:ext cx="1447800" cy="22098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endParaRPr lang="zh-CN" altLang="en-US"/>
          </a:p>
        </p:txBody>
      </p:sp>
      <p:sp>
        <p:nvSpPr>
          <p:cNvPr id="996357" name="Rectangle 5"/>
          <p:cNvSpPr>
            <a:spLocks noChangeArrowheads="1"/>
          </p:cNvSpPr>
          <p:nvPr/>
        </p:nvSpPr>
        <p:spPr bwMode="auto">
          <a:xfrm>
            <a:off x="2971800" y="1295400"/>
            <a:ext cx="1752600" cy="213360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996358" name="Text Box 6"/>
          <p:cNvSpPr txBox="1">
            <a:spLocks noChangeArrowheads="1"/>
          </p:cNvSpPr>
          <p:nvPr/>
        </p:nvSpPr>
        <p:spPr bwMode="auto">
          <a:xfrm>
            <a:off x="3200400" y="685800"/>
            <a:ext cx="1600200" cy="492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gn="ctr">
              <a:lnSpc>
                <a:spcPct val="110000"/>
              </a:lnSpc>
            </a:pPr>
            <a:r>
              <a:rPr lang="zh-CN" altLang="en-US"/>
              <a:t>主调函数</a:t>
            </a:r>
          </a:p>
        </p:txBody>
      </p:sp>
      <p:sp>
        <p:nvSpPr>
          <p:cNvPr id="996359" name="Text Box 7"/>
          <p:cNvSpPr txBox="1">
            <a:spLocks noChangeArrowheads="1"/>
          </p:cNvSpPr>
          <p:nvPr/>
        </p:nvSpPr>
        <p:spPr bwMode="auto">
          <a:xfrm>
            <a:off x="3352800" y="2133600"/>
            <a:ext cx="1143000" cy="492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gn="ctr">
              <a:lnSpc>
                <a:spcPct val="110000"/>
              </a:lnSpc>
            </a:pPr>
            <a:r>
              <a:rPr lang="zh-CN" altLang="en-US"/>
              <a:t>调用处</a:t>
            </a:r>
          </a:p>
        </p:txBody>
      </p:sp>
      <p:sp>
        <p:nvSpPr>
          <p:cNvPr id="996361" name="Rectangle 9"/>
          <p:cNvSpPr>
            <a:spLocks noChangeArrowheads="1"/>
          </p:cNvSpPr>
          <p:nvPr/>
        </p:nvSpPr>
        <p:spPr bwMode="auto">
          <a:xfrm>
            <a:off x="6019800" y="1219200"/>
            <a:ext cx="1752600" cy="213360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996362" name="Text Box 10"/>
          <p:cNvSpPr txBox="1">
            <a:spLocks noChangeArrowheads="1"/>
          </p:cNvSpPr>
          <p:nvPr/>
        </p:nvSpPr>
        <p:spPr bwMode="auto">
          <a:xfrm>
            <a:off x="6172200" y="685800"/>
            <a:ext cx="1600200" cy="492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gn="ctr">
              <a:lnSpc>
                <a:spcPct val="110000"/>
              </a:lnSpc>
            </a:pPr>
            <a:r>
              <a:rPr lang="zh-CN" altLang="en-US"/>
              <a:t>被调函数</a:t>
            </a:r>
          </a:p>
        </p:txBody>
      </p:sp>
      <p:sp>
        <p:nvSpPr>
          <p:cNvPr id="996363" name="Line 11"/>
          <p:cNvSpPr>
            <a:spLocks noChangeShapeType="1"/>
          </p:cNvSpPr>
          <p:nvPr/>
        </p:nvSpPr>
        <p:spPr bwMode="auto">
          <a:xfrm>
            <a:off x="6781800" y="1295400"/>
            <a:ext cx="1588" cy="198120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endParaRPr lang="zh-CN" altLang="en-US"/>
          </a:p>
        </p:txBody>
      </p:sp>
      <p:sp>
        <p:nvSpPr>
          <p:cNvPr id="996364" name="Line 12"/>
          <p:cNvSpPr>
            <a:spLocks noChangeShapeType="1"/>
          </p:cNvSpPr>
          <p:nvPr/>
        </p:nvSpPr>
        <p:spPr bwMode="auto">
          <a:xfrm flipH="1" flipV="1">
            <a:off x="4419600" y="2362200"/>
            <a:ext cx="2286000" cy="91440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endParaRPr lang="zh-CN" altLang="en-US"/>
          </a:p>
        </p:txBody>
      </p:sp>
      <p:sp>
        <p:nvSpPr>
          <p:cNvPr id="996360" name="Line 8"/>
          <p:cNvSpPr>
            <a:spLocks noChangeShapeType="1"/>
          </p:cNvSpPr>
          <p:nvPr/>
        </p:nvSpPr>
        <p:spPr bwMode="auto">
          <a:xfrm flipV="1">
            <a:off x="4419600" y="1371600"/>
            <a:ext cx="2057400" cy="99060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endParaRPr lang="zh-CN" altLang="en-US"/>
          </a:p>
        </p:txBody>
      </p:sp>
      <p:grpSp>
        <p:nvGrpSpPr>
          <p:cNvPr id="996378" name="Group 26"/>
          <p:cNvGrpSpPr>
            <a:grpSpLocks/>
          </p:cNvGrpSpPr>
          <p:nvPr/>
        </p:nvGrpSpPr>
        <p:grpSpPr bwMode="auto">
          <a:xfrm>
            <a:off x="457200" y="3810000"/>
            <a:ext cx="1981200" cy="2743200"/>
            <a:chOff x="432" y="2256"/>
            <a:chExt cx="1104" cy="1728"/>
          </a:xfrm>
        </p:grpSpPr>
        <p:sp>
          <p:nvSpPr>
            <p:cNvPr id="996366" name="Rectangle 14"/>
            <p:cNvSpPr>
              <a:spLocks noChangeArrowheads="1"/>
            </p:cNvSpPr>
            <p:nvPr/>
          </p:nvSpPr>
          <p:spPr bwMode="auto">
            <a:xfrm>
              <a:off x="432" y="2640"/>
              <a:ext cx="1104" cy="1344"/>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996367" name="Text Box 15"/>
            <p:cNvSpPr txBox="1">
              <a:spLocks noChangeArrowheads="1"/>
            </p:cNvSpPr>
            <p:nvPr/>
          </p:nvSpPr>
          <p:spPr bwMode="auto">
            <a:xfrm>
              <a:off x="576" y="2256"/>
              <a:ext cx="912" cy="3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gn="ctr">
                <a:lnSpc>
                  <a:spcPct val="110000"/>
                </a:lnSpc>
              </a:pPr>
              <a:r>
                <a:rPr lang="zh-CN" altLang="en-US">
                  <a:solidFill>
                    <a:srgbClr val="0000CC"/>
                  </a:solidFill>
                </a:rPr>
                <a:t>主调函数</a:t>
              </a:r>
            </a:p>
          </p:txBody>
        </p:sp>
        <p:sp>
          <p:nvSpPr>
            <p:cNvPr id="996368" name="Text Box 16"/>
            <p:cNvSpPr txBox="1">
              <a:spLocks noChangeArrowheads="1"/>
            </p:cNvSpPr>
            <p:nvPr/>
          </p:nvSpPr>
          <p:spPr bwMode="auto">
            <a:xfrm>
              <a:off x="672" y="3168"/>
              <a:ext cx="624" cy="3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gn="ctr">
                <a:lnSpc>
                  <a:spcPct val="110000"/>
                </a:lnSpc>
              </a:pPr>
              <a:r>
                <a:rPr lang="zh-CN" altLang="en-US">
                  <a:solidFill>
                    <a:srgbClr val="0000CC"/>
                  </a:solidFill>
                </a:rPr>
                <a:t>调用处</a:t>
              </a:r>
            </a:p>
          </p:txBody>
        </p:sp>
      </p:grpSp>
      <p:grpSp>
        <p:nvGrpSpPr>
          <p:cNvPr id="996379" name="Group 27"/>
          <p:cNvGrpSpPr>
            <a:grpSpLocks/>
          </p:cNvGrpSpPr>
          <p:nvPr/>
        </p:nvGrpSpPr>
        <p:grpSpPr bwMode="auto">
          <a:xfrm>
            <a:off x="3733800" y="4267200"/>
            <a:ext cx="1676400" cy="2057400"/>
            <a:chOff x="2352" y="2544"/>
            <a:chExt cx="912" cy="1296"/>
          </a:xfrm>
        </p:grpSpPr>
        <p:sp>
          <p:nvSpPr>
            <p:cNvPr id="996369" name="Rectangle 17"/>
            <p:cNvSpPr>
              <a:spLocks noChangeArrowheads="1"/>
            </p:cNvSpPr>
            <p:nvPr/>
          </p:nvSpPr>
          <p:spPr bwMode="auto">
            <a:xfrm>
              <a:off x="2448" y="2832"/>
              <a:ext cx="624" cy="1008"/>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996370" name="Text Box 18"/>
            <p:cNvSpPr txBox="1">
              <a:spLocks noChangeArrowheads="1"/>
            </p:cNvSpPr>
            <p:nvPr/>
          </p:nvSpPr>
          <p:spPr bwMode="auto">
            <a:xfrm>
              <a:off x="2352" y="2544"/>
              <a:ext cx="912" cy="3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gn="ctr">
                <a:lnSpc>
                  <a:spcPct val="110000"/>
                </a:lnSpc>
              </a:pPr>
              <a:r>
                <a:rPr lang="zh-CN" altLang="en-US">
                  <a:solidFill>
                    <a:srgbClr val="0000CC"/>
                  </a:solidFill>
                </a:rPr>
                <a:t>被调函数</a:t>
              </a:r>
            </a:p>
          </p:txBody>
        </p:sp>
      </p:grpSp>
      <p:sp>
        <p:nvSpPr>
          <p:cNvPr id="996374" name="Text Box 22"/>
          <p:cNvSpPr txBox="1">
            <a:spLocks noChangeArrowheads="1"/>
          </p:cNvSpPr>
          <p:nvPr/>
        </p:nvSpPr>
        <p:spPr bwMode="auto">
          <a:xfrm>
            <a:off x="112804" y="159610"/>
            <a:ext cx="1905000" cy="579438"/>
          </a:xfrm>
          <a:prstGeom prst="rect">
            <a:avLst/>
          </a:prstGeom>
          <a:noFill/>
          <a:ln>
            <a:noFill/>
          </a:ln>
          <a:effectLst/>
          <a:extLst>
            <a:ext uri="{909E8E84-426E-40DD-AFC4-6F175D3DCCD1}">
              <a14:hiddenFill xmlns:a14="http://schemas.microsoft.com/office/drawing/2010/main">
                <a:gradFill rotWithShape="0">
                  <a:gsLst>
                    <a:gs pos="0">
                      <a:srgbClr val="FF9900">
                        <a:gamma/>
                        <a:shade val="46275"/>
                        <a:invGamma/>
                      </a:srgbClr>
                    </a:gs>
                    <a:gs pos="100000">
                      <a:srgbClr val="FF9900"/>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3200" dirty="0"/>
              <a:t>内联函数</a:t>
            </a:r>
            <a:r>
              <a:rPr lang="zh-CN" altLang="en-US" sz="3200" b="0" dirty="0"/>
              <a:t> </a:t>
            </a:r>
          </a:p>
        </p:txBody>
      </p:sp>
      <p:sp>
        <p:nvSpPr>
          <p:cNvPr id="996375" name="AutoShape 23"/>
          <p:cNvSpPr>
            <a:spLocks noChangeArrowheads="1"/>
          </p:cNvSpPr>
          <p:nvPr/>
        </p:nvSpPr>
        <p:spPr bwMode="auto">
          <a:xfrm>
            <a:off x="2438400" y="5181600"/>
            <a:ext cx="1447800" cy="609600"/>
          </a:xfrm>
          <a:prstGeom prst="leftArrow">
            <a:avLst>
              <a:gd name="adj1" fmla="val 50000"/>
              <a:gd name="adj2" fmla="val 59375"/>
            </a:avLst>
          </a:prstGeom>
          <a:solidFill>
            <a:srgbClr val="FF0000"/>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nchor="ctr">
            <a:spAutoFit/>
          </a:bodyPr>
          <a:lstStyle/>
          <a:p>
            <a:endParaRPr lang="zh-CN" altLang="en-US"/>
          </a:p>
        </p:txBody>
      </p:sp>
      <p:sp>
        <p:nvSpPr>
          <p:cNvPr id="996376" name="Text Box 24"/>
          <p:cNvSpPr txBox="1">
            <a:spLocks noChangeArrowheads="1"/>
          </p:cNvSpPr>
          <p:nvPr/>
        </p:nvSpPr>
        <p:spPr bwMode="auto">
          <a:xfrm>
            <a:off x="5334000" y="4876800"/>
            <a:ext cx="3505200" cy="1346200"/>
          </a:xfrm>
          <a:prstGeom prst="rect">
            <a:avLst/>
          </a:prstGeom>
          <a:noFill/>
          <a:ln w="57150">
            <a:solidFill>
              <a:srgbClr val="CC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nSpc>
                <a:spcPct val="130000"/>
              </a:lnSpc>
            </a:pPr>
            <a:r>
              <a:rPr lang="zh-CN" altLang="en-US" sz="3200"/>
              <a:t>将被调函数体的代码直接插到调用处</a:t>
            </a:r>
          </a:p>
        </p:txBody>
      </p:sp>
      <p:sp>
        <p:nvSpPr>
          <p:cNvPr id="996377" name="AutoShape 25"/>
          <p:cNvSpPr>
            <a:spLocks noChangeArrowheads="1"/>
          </p:cNvSpPr>
          <p:nvPr/>
        </p:nvSpPr>
        <p:spPr bwMode="auto">
          <a:xfrm>
            <a:off x="4953000" y="3730625"/>
            <a:ext cx="1905000" cy="520700"/>
          </a:xfrm>
          <a:prstGeom prst="wedgeRoundRectCallout">
            <a:avLst>
              <a:gd name="adj1" fmla="val -53667"/>
              <a:gd name="adj2" fmla="val 92282"/>
              <a:gd name="adj3" fmla="val 16667"/>
            </a:avLst>
          </a:prstGeom>
          <a:solidFill>
            <a:srgbClr val="FF00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lnSpc>
                <a:spcPct val="110000"/>
              </a:lnSpc>
              <a:spcBef>
                <a:spcPct val="10000"/>
              </a:spcBef>
            </a:pPr>
            <a:r>
              <a:rPr lang="zh-CN" altLang="en-US">
                <a:solidFill>
                  <a:srgbClr val="FFFF00"/>
                </a:solidFill>
              </a:rPr>
              <a:t>内联函数</a:t>
            </a:r>
          </a:p>
        </p:txBody>
      </p:sp>
    </p:spTree>
    <p:extLst>
      <p:ext uri="{BB962C8B-B14F-4D97-AF65-F5344CB8AC3E}">
        <p14:creationId xmlns:p14="http://schemas.microsoft.com/office/powerpoint/2010/main" val="25282595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96360"/>
                                        </p:tgtEl>
                                        <p:attrNameLst>
                                          <p:attrName>style.visibility</p:attrName>
                                        </p:attrNameLst>
                                      </p:cBhvr>
                                      <p:to>
                                        <p:strVal val="visible"/>
                                      </p:to>
                                    </p:set>
                                    <p:animEffect transition="in" filter="wipe(left)">
                                      <p:cBhvr>
                                        <p:cTn id="7" dur="500"/>
                                        <p:tgtEl>
                                          <p:spTgt spid="9963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96363"/>
                                        </p:tgtEl>
                                        <p:attrNameLst>
                                          <p:attrName>style.visibility</p:attrName>
                                        </p:attrNameLst>
                                      </p:cBhvr>
                                      <p:to>
                                        <p:strVal val="visible"/>
                                      </p:to>
                                    </p:set>
                                    <p:animEffect transition="in" filter="wipe(up)">
                                      <p:cBhvr>
                                        <p:cTn id="12" dur="500"/>
                                        <p:tgtEl>
                                          <p:spTgt spid="9963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996364"/>
                                        </p:tgtEl>
                                        <p:attrNameLst>
                                          <p:attrName>style.visibility</p:attrName>
                                        </p:attrNameLst>
                                      </p:cBhvr>
                                      <p:to>
                                        <p:strVal val="visible"/>
                                      </p:to>
                                    </p:set>
                                    <p:animEffect transition="in" filter="wipe(right)">
                                      <p:cBhvr>
                                        <p:cTn id="17" dur="500"/>
                                        <p:tgtEl>
                                          <p:spTgt spid="9963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996378"/>
                                        </p:tgtEl>
                                        <p:attrNameLst>
                                          <p:attrName>style.visibility</p:attrName>
                                        </p:attrNameLst>
                                      </p:cBhvr>
                                      <p:to>
                                        <p:strVal val="visible"/>
                                      </p:to>
                                    </p:set>
                                    <p:animEffect transition="in" filter="box(in)">
                                      <p:cBhvr>
                                        <p:cTn id="22" dur="500"/>
                                        <p:tgtEl>
                                          <p:spTgt spid="9963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96379"/>
                                        </p:tgtEl>
                                        <p:attrNameLst>
                                          <p:attrName>style.visibility</p:attrName>
                                        </p:attrNameLst>
                                      </p:cBhvr>
                                      <p:to>
                                        <p:strVal val="visible"/>
                                      </p:to>
                                    </p:set>
                                    <p:animEffect transition="in" filter="blinds(horizontal)">
                                      <p:cBhvr>
                                        <p:cTn id="27" dur="500"/>
                                        <p:tgtEl>
                                          <p:spTgt spid="9963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96377"/>
                                        </p:tgtEl>
                                        <p:attrNameLst>
                                          <p:attrName>style.visibility</p:attrName>
                                        </p:attrNameLst>
                                      </p:cBhvr>
                                      <p:to>
                                        <p:strVal val="visible"/>
                                      </p:to>
                                    </p:set>
                                    <p:animEffect transition="in" filter="wipe(up)">
                                      <p:cBhvr>
                                        <p:cTn id="32" dur="500"/>
                                        <p:tgtEl>
                                          <p:spTgt spid="9963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996375"/>
                                        </p:tgtEl>
                                        <p:attrNameLst>
                                          <p:attrName>style.visibility</p:attrName>
                                        </p:attrNameLst>
                                      </p:cBhvr>
                                      <p:to>
                                        <p:strVal val="visible"/>
                                      </p:to>
                                    </p:set>
                                    <p:animEffect transition="in" filter="wipe(right)">
                                      <p:cBhvr>
                                        <p:cTn id="37" dur="500"/>
                                        <p:tgtEl>
                                          <p:spTgt spid="9963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996376"/>
                                        </p:tgtEl>
                                        <p:attrNameLst>
                                          <p:attrName>style.visibility</p:attrName>
                                        </p:attrNameLst>
                                      </p:cBhvr>
                                      <p:to>
                                        <p:strVal val="visible"/>
                                      </p:to>
                                    </p:set>
                                    <p:animEffect transition="in" filter="wipe(up)">
                                      <p:cBhvr>
                                        <p:cTn id="42" dur="500"/>
                                        <p:tgtEl>
                                          <p:spTgt spid="996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76" grpId="0" animBg="1" autoUpdateAnimBg="0"/>
      <p:bldP spid="996377"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p:txBody>
          <a:bodyPr/>
          <a:lstStyle/>
          <a:p>
            <a:endParaRPr lang="en-US" altLang="zh-CN" dirty="0"/>
          </a:p>
        </p:txBody>
      </p:sp>
      <p:sp>
        <p:nvSpPr>
          <p:cNvPr id="761860" name="Text Box 4"/>
          <p:cNvSpPr txBox="1">
            <a:spLocks noChangeArrowheads="1"/>
          </p:cNvSpPr>
          <p:nvPr/>
        </p:nvSpPr>
        <p:spPr bwMode="auto">
          <a:xfrm>
            <a:off x="76200" y="1374775"/>
            <a:ext cx="9144000" cy="4416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a:lnSpc>
                <a:spcPct val="150000"/>
              </a:lnSpc>
            </a:pPr>
            <a:r>
              <a:rPr lang="en-US" altLang="zh-CN" sz="3600" dirty="0"/>
              <a:t>	</a:t>
            </a:r>
            <a:r>
              <a:rPr lang="zh-CN" altLang="en-US" sz="3600" dirty="0"/>
              <a:t>内联函数的实质是用存储空间（使用更多的存储空间）来换取时间（减少执行时间）</a:t>
            </a:r>
            <a:r>
              <a:rPr lang="en-US" altLang="zh-CN" sz="3600" dirty="0"/>
              <a:t>.</a:t>
            </a:r>
          </a:p>
          <a:p>
            <a:pPr>
              <a:lnSpc>
                <a:spcPct val="150000"/>
              </a:lnSpc>
            </a:pPr>
            <a:r>
              <a:rPr lang="en-US" altLang="zh-CN" sz="3600" dirty="0"/>
              <a:t>	</a:t>
            </a:r>
            <a:r>
              <a:rPr lang="zh-CN" altLang="en-US" sz="3600" dirty="0"/>
              <a:t>内联函数的定义方法是，在函数定义时，</a:t>
            </a:r>
            <a:r>
              <a:rPr lang="zh-CN" altLang="en-US" sz="3600" dirty="0">
                <a:solidFill>
                  <a:srgbClr val="0000CC"/>
                </a:solidFill>
              </a:rPr>
              <a:t>在函数的类型前增加修饰词</a:t>
            </a:r>
            <a:r>
              <a:rPr lang="en-US" altLang="zh-CN" sz="3600" dirty="0">
                <a:solidFill>
                  <a:srgbClr val="0000CC"/>
                </a:solidFill>
              </a:rPr>
              <a:t>inline</a:t>
            </a:r>
            <a:r>
              <a:rPr lang="zh-CN" altLang="en-US" sz="3600" dirty="0">
                <a:solidFill>
                  <a:srgbClr val="0000CC"/>
                </a:solidFill>
              </a:rPr>
              <a:t>。</a:t>
            </a:r>
            <a:r>
              <a:rPr lang="zh-CN" altLang="en-US" sz="3600" dirty="0"/>
              <a:t> </a:t>
            </a:r>
          </a:p>
        </p:txBody>
      </p:sp>
      <p:sp>
        <p:nvSpPr>
          <p:cNvPr id="5" name="Text Box 22"/>
          <p:cNvSpPr txBox="1">
            <a:spLocks noChangeArrowheads="1"/>
          </p:cNvSpPr>
          <p:nvPr/>
        </p:nvSpPr>
        <p:spPr bwMode="auto">
          <a:xfrm>
            <a:off x="116595" y="123824"/>
            <a:ext cx="1905000" cy="579438"/>
          </a:xfrm>
          <a:prstGeom prst="rect">
            <a:avLst/>
          </a:prstGeom>
          <a:noFill/>
          <a:ln>
            <a:noFill/>
          </a:ln>
          <a:effectLst/>
          <a:extLst>
            <a:ext uri="{909E8E84-426E-40DD-AFC4-6F175D3DCCD1}">
              <a14:hiddenFill xmlns:a14="http://schemas.microsoft.com/office/drawing/2010/main">
                <a:gradFill rotWithShape="0">
                  <a:gsLst>
                    <a:gs pos="0">
                      <a:srgbClr val="FF9900">
                        <a:gamma/>
                        <a:shade val="46275"/>
                        <a:invGamma/>
                      </a:srgbClr>
                    </a:gs>
                    <a:gs pos="100000">
                      <a:srgbClr val="FF9900"/>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3200" dirty="0"/>
              <a:t>内联函数</a:t>
            </a:r>
            <a:r>
              <a:rPr lang="zh-CN" altLang="en-US" sz="3200" b="0" dirty="0"/>
              <a:t> </a:t>
            </a:r>
          </a:p>
        </p:txBody>
      </p:sp>
    </p:spTree>
    <p:extLst>
      <p:ext uri="{BB962C8B-B14F-4D97-AF65-F5344CB8AC3E}">
        <p14:creationId xmlns:p14="http://schemas.microsoft.com/office/powerpoint/2010/main" val="263918105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9FBD6BB-DA8F-40BB-BE08-CE226613D813}" type="slidenum">
              <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1" lang="en-US" altLang="zh-CN" sz="14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62882" name="Text Box 2"/>
          <p:cNvSpPr txBox="1">
            <a:spLocks noChangeArrowheads="1"/>
          </p:cNvSpPr>
          <p:nvPr/>
        </p:nvSpPr>
        <p:spPr bwMode="auto">
          <a:xfrm>
            <a:off x="914400" y="152400"/>
            <a:ext cx="5638800" cy="28860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宋体" panose="02010600030101010101" pitchFamily="2" charset="-122"/>
                <a:cs typeface="+mn-cs"/>
              </a:rPr>
              <a:t>inline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int</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max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int</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x,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int</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y)</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int</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z;</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z=(x&gt;y)? x : y ;</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return  z;</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762883" name="Text Box 3"/>
          <p:cNvSpPr txBox="1">
            <a:spLocks noChangeArrowheads="1"/>
          </p:cNvSpPr>
          <p:nvPr/>
        </p:nvSpPr>
        <p:spPr bwMode="auto">
          <a:xfrm>
            <a:off x="762000" y="3200400"/>
            <a:ext cx="6477000" cy="34845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void main (void )</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int</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a,b,c</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cin</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&gt;&gt;a&gt;&gt;b;</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c=max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a+b</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 a*b) ;</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cout</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&lt;&lt;“The max is”&lt;&lt;c&lt;&lt;</a:t>
            </a:r>
            <a:r>
              <a:rPr kumimoji="1" lang="en-US" altLang="zh-CN" sz="2800" b="1" i="0" u="none" strike="noStrike" kern="1200" cap="none" spc="0" normalizeH="0" baseline="0" noProof="0" dirty="0" err="1" smtClean="0">
                <a:ln>
                  <a:noFill/>
                </a:ln>
                <a:solidFill>
                  <a:srgbClr val="000000"/>
                </a:solidFill>
                <a:effectLst/>
                <a:uLnTx/>
                <a:uFillTx/>
                <a:latin typeface="Times New Roman" panose="02020603050405020304" pitchFamily="18" charset="0"/>
                <a:ea typeface="宋体" panose="02010600030101010101" pitchFamily="2" charset="-122"/>
                <a:cs typeface="+mn-cs"/>
              </a:rPr>
              <a:t>endl</a:t>
            </a: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10000"/>
              </a:lnSpc>
              <a:spcBef>
                <a:spcPct val="30000"/>
              </a:spcBef>
              <a:spcAft>
                <a:spcPct val="0"/>
              </a:spcAft>
              <a:buClrTx/>
              <a:buSzTx/>
              <a:buFontTx/>
              <a:buNone/>
              <a:tabLst/>
              <a:defRPr/>
            </a:pPr>
            <a:r>
              <a:rPr kumimoji="1"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Tree>
    <p:extLst>
      <p:ext uri="{BB962C8B-B14F-4D97-AF65-F5344CB8AC3E}">
        <p14:creationId xmlns:p14="http://schemas.microsoft.com/office/powerpoint/2010/main" val="65588669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t>6.7 </a:t>
            </a:r>
            <a:r>
              <a:rPr lang="zh-CN" altLang="en-US"/>
              <a:t>内联函数</a:t>
            </a:r>
          </a:p>
        </p:txBody>
      </p:sp>
      <p:sp>
        <p:nvSpPr>
          <p:cNvPr id="302083" name="Rectangle 3"/>
          <p:cNvSpPr>
            <a:spLocks noGrp="1" noChangeArrowheads="1"/>
          </p:cNvSpPr>
          <p:nvPr>
            <p:ph type="body" idx="1"/>
          </p:nvPr>
        </p:nvSpPr>
        <p:spPr/>
        <p:txBody>
          <a:bodyPr/>
          <a:lstStyle/>
          <a:p>
            <a:pPr eaLnBrk="1" hangingPunct="1">
              <a:lnSpc>
                <a:spcPct val="110000"/>
              </a:lnSpc>
              <a:spcBef>
                <a:spcPct val="40000"/>
              </a:spcBef>
            </a:pPr>
            <a:r>
              <a:rPr lang="zh-CN" altLang="en-US" sz="2400"/>
              <a:t>调用函数及函数返回都需要一些辅助操作而耗费一定的时间。</a:t>
            </a:r>
            <a:r>
              <a:rPr lang="zh-CN" altLang="en-US" sz="2400">
                <a:solidFill>
                  <a:srgbClr val="990000"/>
                </a:solidFill>
              </a:rPr>
              <a:t>为了提高程序执行的速度</a:t>
            </a:r>
            <a:r>
              <a:rPr lang="zh-CN" altLang="en-US" sz="2400"/>
              <a:t>，</a:t>
            </a:r>
            <a:r>
              <a:rPr lang="en-US" altLang="zh-CN" sz="2400"/>
              <a:t>C++</a:t>
            </a:r>
            <a:r>
              <a:rPr lang="zh-CN" altLang="en-US" sz="2400"/>
              <a:t>语言提供了一种机制，允许一些小巧的、常用的函数在编译时直接内嵌到调用它的函数体内。即在调用点</a:t>
            </a:r>
            <a:r>
              <a:rPr lang="zh-CN" altLang="en-US" sz="2400">
                <a:latin typeface="Times New Roman" pitchFamily="18" charset="0"/>
              </a:rPr>
              <a:t>“</a:t>
            </a:r>
            <a:r>
              <a:rPr lang="zh-CN" altLang="en-US" sz="2400"/>
              <a:t>就地展开</a:t>
            </a:r>
            <a:r>
              <a:rPr lang="zh-CN" altLang="en-US" sz="2400">
                <a:latin typeface="Times New Roman" pitchFamily="18" charset="0"/>
              </a:rPr>
              <a:t>”</a:t>
            </a:r>
            <a:r>
              <a:rPr lang="zh-CN" altLang="en-US" sz="2400"/>
              <a:t>。</a:t>
            </a:r>
          </a:p>
          <a:p>
            <a:pPr eaLnBrk="1" hangingPunct="1">
              <a:lnSpc>
                <a:spcPct val="110000"/>
              </a:lnSpc>
              <a:spcBef>
                <a:spcPct val="40000"/>
              </a:spcBef>
            </a:pPr>
            <a:r>
              <a:rPr lang="zh-CN" altLang="en-US" sz="2400"/>
              <a:t>这样的函数已经成了调用点处的一段代码，本质上已经不是函数。之所以仍将其称为函数，是因为在形式上它和函数几乎是相同的。</a:t>
            </a:r>
          </a:p>
          <a:p>
            <a:pPr eaLnBrk="1" hangingPunct="1">
              <a:lnSpc>
                <a:spcPct val="110000"/>
              </a:lnSpc>
              <a:spcBef>
                <a:spcPct val="40000"/>
              </a:spcBef>
            </a:pPr>
            <a:r>
              <a:rPr lang="en-US" altLang="zh-CN" sz="2400"/>
              <a:t>C++</a:t>
            </a:r>
            <a:r>
              <a:rPr lang="zh-CN" altLang="en-US" sz="2400"/>
              <a:t>采用这样的做法是用空间换时间──程序最后生成的可执行文件的尺寸增大，但程序的执行时间缩短了。</a:t>
            </a:r>
          </a:p>
          <a:p>
            <a:pPr eaLnBrk="1" hangingPunct="1">
              <a:lnSpc>
                <a:spcPct val="110000"/>
              </a:lnSpc>
              <a:spcBef>
                <a:spcPct val="40000"/>
              </a:spcBef>
            </a:pPr>
            <a:r>
              <a:rPr lang="zh-CN" altLang="en-US" sz="2400"/>
              <a:t>在兼作函数声明的函数定义前加上保留字 </a:t>
            </a:r>
            <a:r>
              <a:rPr lang="en-US" altLang="zh-CN" sz="2400">
                <a:solidFill>
                  <a:srgbClr val="0000FF"/>
                </a:solidFill>
              </a:rPr>
              <a:t>inline</a:t>
            </a:r>
            <a:r>
              <a:rPr lang="en-US" altLang="zh-CN" sz="2400"/>
              <a:t> </a:t>
            </a:r>
            <a:r>
              <a:rPr lang="zh-CN" altLang="en-US" sz="2400"/>
              <a:t>可将该函数设计成内联函数。</a:t>
            </a:r>
          </a:p>
        </p:txBody>
      </p:sp>
    </p:spTree>
    <p:extLst>
      <p:ext uri="{BB962C8B-B14F-4D97-AF65-F5344CB8AC3E}">
        <p14:creationId xmlns:p14="http://schemas.microsoft.com/office/powerpoint/2010/main" val="155648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2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20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2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a:t>6.7 </a:t>
            </a:r>
            <a:r>
              <a:rPr lang="zh-CN" altLang="en-US"/>
              <a:t>内联函数</a:t>
            </a:r>
          </a:p>
        </p:txBody>
      </p:sp>
      <p:sp>
        <p:nvSpPr>
          <p:cNvPr id="303107" name="Rectangle 3"/>
          <p:cNvSpPr>
            <a:spLocks noGrp="1" noChangeArrowheads="1"/>
          </p:cNvSpPr>
          <p:nvPr>
            <p:ph type="body" idx="1"/>
          </p:nvPr>
        </p:nvSpPr>
        <p:spPr/>
        <p:txBody>
          <a:bodyPr/>
          <a:lstStyle/>
          <a:p>
            <a:pPr eaLnBrk="1" hangingPunct="1">
              <a:lnSpc>
                <a:spcPct val="110000"/>
              </a:lnSpc>
              <a:spcBef>
                <a:spcPct val="35000"/>
              </a:spcBef>
            </a:pPr>
            <a:r>
              <a:rPr lang="zh-CN" altLang="en-US" dirty="0"/>
              <a:t>内联函数中不能含有复杂的流程控制语句（如</a:t>
            </a:r>
            <a:r>
              <a:rPr lang="en-US" altLang="zh-CN" dirty="0">
                <a:solidFill>
                  <a:srgbClr val="0000FF"/>
                </a:solidFill>
              </a:rPr>
              <a:t>switch</a:t>
            </a:r>
            <a:r>
              <a:rPr lang="zh-CN" altLang="en-US" dirty="0"/>
              <a:t>，</a:t>
            </a:r>
            <a:r>
              <a:rPr lang="en-US" altLang="zh-CN" dirty="0">
                <a:solidFill>
                  <a:srgbClr val="0000FF"/>
                </a:solidFill>
              </a:rPr>
              <a:t>while</a:t>
            </a:r>
            <a:r>
              <a:rPr lang="zh-CN" altLang="en-US" dirty="0"/>
              <a:t>）；</a:t>
            </a:r>
          </a:p>
          <a:p>
            <a:pPr eaLnBrk="1" hangingPunct="1">
              <a:lnSpc>
                <a:spcPct val="110000"/>
              </a:lnSpc>
              <a:spcBef>
                <a:spcPct val="35000"/>
              </a:spcBef>
            </a:pPr>
            <a:r>
              <a:rPr lang="zh-CN" altLang="en-US" dirty="0"/>
              <a:t>递归函数不可能在调用点</a:t>
            </a:r>
            <a:r>
              <a:rPr lang="zh-CN" altLang="en-US" dirty="0">
                <a:latin typeface="Times New Roman" pitchFamily="18" charset="0"/>
              </a:rPr>
              <a:t>“</a:t>
            </a:r>
            <a:r>
              <a:rPr lang="zh-CN" altLang="en-US" dirty="0"/>
              <a:t>就地展开</a:t>
            </a:r>
            <a:r>
              <a:rPr lang="zh-CN" altLang="en-US" dirty="0">
                <a:latin typeface="Times New Roman" pitchFamily="18" charset="0"/>
              </a:rPr>
              <a:t>”</a:t>
            </a:r>
            <a:r>
              <a:rPr lang="zh-CN" altLang="en-US" dirty="0"/>
              <a:t>因而不能是内联函数。</a:t>
            </a:r>
          </a:p>
          <a:p>
            <a:pPr eaLnBrk="1" hangingPunct="1">
              <a:lnSpc>
                <a:spcPct val="110000"/>
              </a:lnSpc>
              <a:spcBef>
                <a:spcPct val="35000"/>
              </a:spcBef>
            </a:pPr>
            <a:r>
              <a:rPr lang="zh-CN" altLang="en-US" dirty="0"/>
              <a:t>如果编译系统不能将程序员设计的内联函数</a:t>
            </a:r>
            <a:r>
              <a:rPr lang="zh-CN" altLang="en-US" dirty="0">
                <a:latin typeface="Times New Roman" pitchFamily="18" charset="0"/>
              </a:rPr>
              <a:t>“</a:t>
            </a:r>
            <a:r>
              <a:rPr lang="zh-CN" altLang="en-US" dirty="0"/>
              <a:t>就地展开</a:t>
            </a:r>
            <a:r>
              <a:rPr lang="zh-CN" altLang="en-US" dirty="0">
                <a:latin typeface="Times New Roman" pitchFamily="18" charset="0"/>
              </a:rPr>
              <a:t>”</a:t>
            </a:r>
            <a:r>
              <a:rPr lang="zh-CN" altLang="en-US" dirty="0"/>
              <a:t>，编译系统就按照普通的函数进行编译。</a:t>
            </a:r>
          </a:p>
          <a:p>
            <a:pPr lvl="1" eaLnBrk="1" hangingPunct="1">
              <a:lnSpc>
                <a:spcPct val="110000"/>
              </a:lnSpc>
              <a:spcBef>
                <a:spcPct val="35000"/>
              </a:spcBef>
            </a:pPr>
            <a:r>
              <a:rPr lang="zh-CN" altLang="en-US" dirty="0"/>
              <a:t>即，程序员在程序中将某个函数设置成内联的，只是程序设计者对编译器</a:t>
            </a:r>
            <a:r>
              <a:rPr lang="zh-CN" altLang="en-US" dirty="0">
                <a:solidFill>
                  <a:srgbClr val="990000"/>
                </a:solidFill>
                <a:ea typeface="楷体_GB2312" pitchFamily="49" charset="-122"/>
              </a:rPr>
              <a:t>提出的一个建议</a:t>
            </a:r>
            <a:r>
              <a:rPr lang="zh-CN" altLang="en-US" dirty="0"/>
              <a:t>。对程序员建议的内联函数，编译系统不是一定将该函数按内联函数处理的。</a:t>
            </a:r>
          </a:p>
        </p:txBody>
      </p:sp>
    </p:spTree>
    <p:extLst>
      <p:ext uri="{BB962C8B-B14F-4D97-AF65-F5344CB8AC3E}">
        <p14:creationId xmlns:p14="http://schemas.microsoft.com/office/powerpoint/2010/main" val="3069823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3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310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3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
          <p:cNvSpPr txBox="1">
            <a:spLocks noChangeArrowheads="1"/>
          </p:cNvSpPr>
          <p:nvPr/>
        </p:nvSpPr>
        <p:spPr bwMode="auto">
          <a:xfrm>
            <a:off x="76200" y="990600"/>
            <a:ext cx="8991600" cy="57658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include</a:t>
            </a:r>
            <a:r>
              <a:rPr lang="en-US" altLang="zh-CN" sz="2400" b="1" dirty="0">
                <a:solidFill>
                  <a:srgbClr val="000000"/>
                </a:solidFill>
                <a:latin typeface="Courier New" pitchFamily="49" charset="0"/>
              </a:rPr>
              <a:t> &lt;</a:t>
            </a:r>
            <a:r>
              <a:rPr lang="en-US" altLang="zh-CN" sz="2400" b="1" dirty="0" err="1">
                <a:solidFill>
                  <a:srgbClr val="000000"/>
                </a:solidFill>
                <a:latin typeface="Courier New" pitchFamily="49" charset="0"/>
              </a:rPr>
              <a:t>iostream</a:t>
            </a:r>
            <a:r>
              <a:rPr lang="en-US" altLang="zh-CN" sz="2400" b="1" dirty="0">
                <a:solidFill>
                  <a:srgbClr val="000000"/>
                </a:solidFill>
                <a:latin typeface="Courier New" pitchFamily="49" charset="0"/>
              </a:rPr>
              <a:t>&gt;	</a:t>
            </a:r>
            <a:r>
              <a:rPr lang="zh-CN" altLang="en-US" sz="2400" b="1" dirty="0">
                <a:solidFill>
                  <a:srgbClr val="990000"/>
                </a:solidFill>
                <a:latin typeface="Courier New" pitchFamily="49" charset="0"/>
              </a:rPr>
              <a:t/>
            </a:r>
            <a:br>
              <a:rPr lang="zh-CN" altLang="en-US" sz="2400" b="1" dirty="0">
                <a:solidFill>
                  <a:srgbClr val="99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FF"/>
                </a:solidFill>
                <a:latin typeface="Courier New" pitchFamily="49" charset="0"/>
              </a:rPr>
              <a:t>using namespace</a:t>
            </a:r>
            <a:r>
              <a:rPr lang="en-US" altLang="zh-CN" sz="2400" b="1" dirty="0">
                <a:solidFill>
                  <a:srgbClr val="000000"/>
                </a:solidFill>
                <a:latin typeface="Courier New" pitchFamily="49" charset="0"/>
              </a:rPr>
              <a:t> std;</a:t>
            </a:r>
          </a:p>
          <a:p>
            <a:pPr>
              <a:lnSpc>
                <a:spcPct val="150000"/>
              </a:lnSpc>
              <a:spcBef>
                <a:spcPts val="0"/>
              </a:spcBef>
            </a:pPr>
            <a:r>
              <a:rPr lang="en-US" altLang="zh-CN" sz="2400" b="1" dirty="0">
                <a:solidFill>
                  <a:srgbClr val="0000FF"/>
                </a:solidFill>
                <a:latin typeface="Courier New" pitchFamily="49" charset="0"/>
              </a:rPr>
              <a:t> void</a:t>
            </a:r>
            <a:r>
              <a:rPr lang="en-US" altLang="zh-CN" sz="2400" b="1" dirty="0">
                <a:solidFill>
                  <a:srgbClr val="000000"/>
                </a:solidFill>
                <a:latin typeface="Courier New" pitchFamily="49" charset="0"/>
              </a:rPr>
              <a:t> swap1(</a:t>
            </a:r>
            <a:r>
              <a:rPr lang="en-US" altLang="zh-CN" sz="2400" b="1" dirty="0" err="1">
                <a:solidFill>
                  <a:srgbClr val="0000FF"/>
                </a:solidFill>
                <a:latin typeface="Courier New" pitchFamily="49" charset="0"/>
              </a:rPr>
              <a:t>int</a:t>
            </a:r>
            <a:r>
              <a:rPr lang="en-US" altLang="zh-CN" sz="2400" b="1" dirty="0">
                <a:solidFill>
                  <a:srgbClr val="0000FF"/>
                </a:solidFill>
                <a:latin typeface="Courier New" pitchFamily="49" charset="0"/>
              </a:rPr>
              <a:t> </a:t>
            </a:r>
            <a:r>
              <a:rPr lang="en-US" altLang="zh-CN" sz="2400" b="1" dirty="0">
                <a:solidFill>
                  <a:srgbClr val="000000"/>
                </a:solidFill>
                <a:latin typeface="Courier New" pitchFamily="49" charset="0"/>
              </a:rPr>
              <a:t>a,</a:t>
            </a:r>
            <a:r>
              <a:rPr lang="en-US" altLang="zh-CN" sz="2400" b="1" dirty="0">
                <a:solidFill>
                  <a:srgbClr val="FFFF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FFFFFF"/>
                </a:solidFill>
                <a:latin typeface="Courier New" pitchFamily="49" charset="0"/>
              </a:rPr>
              <a:t> </a:t>
            </a:r>
            <a:r>
              <a:rPr lang="en-US" altLang="zh-CN" sz="2400" b="1" dirty="0">
                <a:solidFill>
                  <a:srgbClr val="000000"/>
                </a:solidFill>
                <a:latin typeface="Courier New" pitchFamily="49" charset="0"/>
              </a:rPr>
              <a:t>b)</a:t>
            </a:r>
          </a:p>
          <a:p>
            <a:pPr>
              <a:spcBef>
                <a:spcPts val="0"/>
              </a:spcBef>
            </a:pPr>
            <a:r>
              <a:rPr lang="en-US" altLang="zh-CN" sz="2400" b="1" dirty="0">
                <a:solidFill>
                  <a:srgbClr val="000000"/>
                </a:solidFill>
                <a:latin typeface="Courier New" pitchFamily="49" charset="0"/>
              </a:rPr>
              <a:t> {</a:t>
            </a:r>
          </a:p>
          <a:p>
            <a:pPr>
              <a:spcBef>
                <a:spcPts val="0"/>
              </a:spcBef>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temp;</a:t>
            </a:r>
          </a:p>
          <a:p>
            <a:pPr>
              <a:spcBef>
                <a:spcPts val="0"/>
              </a:spcBef>
            </a:pPr>
            <a:r>
              <a:rPr lang="en-US" altLang="zh-CN" sz="2400" b="1" dirty="0">
                <a:solidFill>
                  <a:srgbClr val="000000"/>
                </a:solidFill>
                <a:latin typeface="Courier New" pitchFamily="49" charset="0"/>
              </a:rPr>
              <a:t>    temp = a; a = b; b = temp;</a:t>
            </a:r>
          </a:p>
          <a:p>
            <a:pPr>
              <a:spcBef>
                <a:spcPts val="0"/>
              </a:spcBef>
            </a:pPr>
            <a:r>
              <a:rPr lang="en-US" altLang="zh-CN" sz="2400" b="1" dirty="0">
                <a:solidFill>
                  <a:srgbClr val="000000"/>
                </a:solidFill>
                <a:latin typeface="Courier New" pitchFamily="49" charset="0"/>
              </a:rPr>
              <a:t> }</a:t>
            </a:r>
          </a:p>
          <a:p>
            <a:pPr>
              <a:spcBef>
                <a:spcPts val="0"/>
              </a:spcBef>
            </a:pPr>
            <a:r>
              <a:rPr lang="zh-CN" altLang="en-US"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main()</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x=3, y=5;</a:t>
            </a:r>
            <a:endParaRPr lang="zh-CN" altLang="en-US" sz="2400" b="1" dirty="0">
              <a:solidFill>
                <a:srgbClr val="990000"/>
              </a:solidFill>
              <a:latin typeface="Courier New" pitchFamily="49" charset="0"/>
            </a:endParaRP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swap1(x, y);</a:t>
            </a: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br>
              <a:rPr lang="en-US" altLang="zh-CN" sz="2400" b="1" dirty="0">
                <a:solidFill>
                  <a:srgbClr val="00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p:txBody>
      </p:sp>
      <p:sp>
        <p:nvSpPr>
          <p:cNvPr id="51203" name="Rectangle 6"/>
          <p:cNvSpPr>
            <a:spLocks noChangeArrowheads="1"/>
          </p:cNvSpPr>
          <p:nvPr/>
        </p:nvSpPr>
        <p:spPr bwMode="auto">
          <a:xfrm>
            <a:off x="152400" y="1828800"/>
            <a:ext cx="8839200" cy="1905000"/>
          </a:xfrm>
          <a:prstGeom prst="rect">
            <a:avLst/>
          </a:prstGeom>
          <a:solidFill>
            <a:schemeClr val="accent1">
              <a:alpha val="39999"/>
            </a:schemeClr>
          </a:solidFill>
          <a:ln w="9525">
            <a:solidFill>
              <a:schemeClr val="tx1"/>
            </a:solidFill>
            <a:miter lim="800000"/>
            <a:headEnd/>
            <a:tailEnd/>
          </a:ln>
        </p:spPr>
        <p:txBody>
          <a:bodyPr wrap="none" anchor="ctr"/>
          <a:lstStyle/>
          <a:p>
            <a:endParaRPr lang="zh-CN" altLang="en-US">
              <a:solidFill>
                <a:srgbClr val="1D528D"/>
              </a:solidFill>
            </a:endParaRPr>
          </a:p>
        </p:txBody>
      </p:sp>
      <p:sp>
        <p:nvSpPr>
          <p:cNvPr id="211973" name="Rectangle 5"/>
          <p:cNvSpPr>
            <a:spLocks noChangeArrowheads="1"/>
          </p:cNvSpPr>
          <p:nvPr/>
        </p:nvSpPr>
        <p:spPr bwMode="auto">
          <a:xfrm>
            <a:off x="5562600" y="1143000"/>
            <a:ext cx="3357563" cy="1581150"/>
          </a:xfrm>
          <a:prstGeom prst="rect">
            <a:avLst/>
          </a:prstGeom>
          <a:solidFill>
            <a:schemeClr val="bg1"/>
          </a:solidFill>
          <a:ln w="28575">
            <a:solidFill>
              <a:srgbClr val="990000"/>
            </a:solidFill>
            <a:miter lim="800000"/>
            <a:headEnd/>
            <a:tailEnd/>
          </a:ln>
        </p:spPr>
        <p:txBody>
          <a:bodyPr lIns="0" rIns="0" anchor="ctr">
            <a:spAutoFit/>
          </a:bodyPr>
          <a:lstStyle/>
          <a:p>
            <a:pPr algn="ctr"/>
            <a:r>
              <a:rPr lang="zh-CN" altLang="en-US" sz="2400" b="1" dirty="0">
                <a:solidFill>
                  <a:srgbClr val="000000"/>
                </a:solidFill>
                <a:latin typeface="Courier New" pitchFamily="49" charset="0"/>
              </a:rPr>
              <a:t>输出结果</a:t>
            </a:r>
            <a:endParaRPr lang="en-US" altLang="zh-CN" sz="2400" b="1" dirty="0">
              <a:solidFill>
                <a:srgbClr val="000000"/>
              </a:solidFill>
              <a:latin typeface="Courier New" pitchFamily="49" charset="0"/>
            </a:endParaRPr>
          </a:p>
          <a:p>
            <a:pPr algn="ctr"/>
            <a:r>
              <a:rPr lang="en-US" altLang="zh-CN" sz="2400" b="1" dirty="0">
                <a:solidFill>
                  <a:srgbClr val="000000"/>
                </a:solidFill>
                <a:latin typeface="Courier New" pitchFamily="49" charset="0"/>
              </a:rPr>
              <a:t>x = 3, y = 5</a:t>
            </a:r>
          </a:p>
          <a:p>
            <a:pPr algn="ctr"/>
            <a:r>
              <a:rPr lang="en-US" altLang="zh-CN" sz="2400" b="1" dirty="0">
                <a:solidFill>
                  <a:srgbClr val="000000"/>
                </a:solidFill>
                <a:latin typeface="Courier New" pitchFamily="49" charset="0"/>
              </a:rPr>
              <a:t>x = 3, y = 5</a:t>
            </a:r>
          </a:p>
          <a:p>
            <a:pPr algn="ctr"/>
            <a:r>
              <a:rPr lang="en-US" altLang="zh-CN" sz="2400" b="1" dirty="0">
                <a:solidFill>
                  <a:srgbClr val="000000"/>
                </a:solidFill>
                <a:latin typeface="Courier New" pitchFamily="49" charset="0"/>
              </a:rPr>
              <a:t>Swap1</a:t>
            </a:r>
            <a:r>
              <a:rPr lang="zh-CN" altLang="en-US" sz="2400" b="1" dirty="0">
                <a:solidFill>
                  <a:srgbClr val="000000"/>
                </a:solidFill>
                <a:latin typeface="Courier New" pitchFamily="49" charset="0"/>
              </a:rPr>
              <a:t>是个无用的函数</a:t>
            </a:r>
          </a:p>
        </p:txBody>
      </p:sp>
      <p:sp>
        <p:nvSpPr>
          <p:cNvPr id="5" name="Rectangle 2"/>
          <p:cNvSpPr txBox="1">
            <a:spLocks noChangeArrowheads="1"/>
          </p:cNvSpPr>
          <p:nvPr/>
        </p:nvSpPr>
        <p:spPr>
          <a:xfrm>
            <a:off x="457200" y="125413"/>
            <a:ext cx="8153400" cy="7715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4400" b="1" i="0" u="none" strike="noStrike" kern="0" cap="none" spc="0" normalizeH="0" baseline="0" noProof="0" dirty="0">
                <a:ln>
                  <a:noFill/>
                </a:ln>
                <a:solidFill>
                  <a:schemeClr val="folHlink"/>
                </a:solidFill>
                <a:effectLst/>
                <a:uLnTx/>
                <a:uFillTx/>
                <a:latin typeface="+mj-lt"/>
                <a:ea typeface="+mj-ea"/>
                <a:cs typeface="+mj-cs"/>
              </a:rPr>
              <a:t>例</a:t>
            </a:r>
            <a:r>
              <a:rPr kumimoji="0" lang="en-US" altLang="zh-CN" sz="4400" b="1" i="0" u="none" strike="noStrike" kern="0" cap="none" spc="0" normalizeH="0" baseline="0" noProof="0" dirty="0">
                <a:ln>
                  <a:noFill/>
                </a:ln>
                <a:solidFill>
                  <a:schemeClr val="folHlink"/>
                </a:solidFill>
                <a:effectLst/>
                <a:uLnTx/>
                <a:uFillTx/>
                <a:latin typeface="+mj-lt"/>
                <a:ea typeface="+mj-ea"/>
                <a:cs typeface="+mj-cs"/>
              </a:rPr>
              <a:t>3.3 </a:t>
            </a:r>
            <a:r>
              <a:rPr kumimoji="0" lang="zh-CN" altLang="en-US" sz="4400" b="1" i="0" u="none" strike="noStrike" kern="0" cap="none" spc="0" normalizeH="0" baseline="0" noProof="0" dirty="0">
                <a:ln>
                  <a:noFill/>
                </a:ln>
                <a:solidFill>
                  <a:schemeClr val="folHlink"/>
                </a:solidFill>
                <a:effectLst/>
                <a:uLnTx/>
                <a:uFillTx/>
                <a:latin typeface="+mj-lt"/>
                <a:ea typeface="+mj-ea"/>
                <a:cs typeface="+mj-cs"/>
              </a:rPr>
              <a:t>交换两个实参的值</a:t>
            </a:r>
          </a:p>
        </p:txBody>
      </p:sp>
    </p:spTree>
    <p:extLst>
      <p:ext uri="{BB962C8B-B14F-4D97-AF65-F5344CB8AC3E}">
        <p14:creationId xmlns:p14="http://schemas.microsoft.com/office/powerpoint/2010/main" val="268475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
          <p:cNvSpPr txBox="1">
            <a:spLocks noChangeArrowheads="1"/>
          </p:cNvSpPr>
          <p:nvPr/>
        </p:nvSpPr>
        <p:spPr bwMode="auto">
          <a:xfrm>
            <a:off x="76200" y="990600"/>
            <a:ext cx="8991600" cy="57658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include</a:t>
            </a:r>
            <a:r>
              <a:rPr lang="en-US" altLang="zh-CN" sz="2400" b="1" dirty="0">
                <a:solidFill>
                  <a:srgbClr val="000000"/>
                </a:solidFill>
                <a:latin typeface="Courier New" pitchFamily="49" charset="0"/>
              </a:rPr>
              <a:t> &lt;</a:t>
            </a:r>
            <a:r>
              <a:rPr lang="en-US" altLang="zh-CN" sz="2400" b="1" dirty="0" err="1">
                <a:solidFill>
                  <a:srgbClr val="000000"/>
                </a:solidFill>
                <a:latin typeface="Courier New" pitchFamily="49" charset="0"/>
              </a:rPr>
              <a:t>iostream</a:t>
            </a:r>
            <a:r>
              <a:rPr lang="en-US" altLang="zh-CN" sz="2400" b="1" dirty="0">
                <a:solidFill>
                  <a:srgbClr val="000000"/>
                </a:solidFill>
                <a:latin typeface="Courier New" pitchFamily="49" charset="0"/>
              </a:rPr>
              <a:t>&gt;	</a:t>
            </a:r>
            <a:r>
              <a:rPr lang="zh-CN" altLang="en-US" sz="2400" b="1" dirty="0">
                <a:solidFill>
                  <a:srgbClr val="990000"/>
                </a:solidFill>
                <a:latin typeface="Courier New" pitchFamily="49" charset="0"/>
              </a:rPr>
              <a:t/>
            </a:r>
            <a:br>
              <a:rPr lang="zh-CN" altLang="en-US" sz="2400" b="1" dirty="0">
                <a:solidFill>
                  <a:srgbClr val="99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FF"/>
                </a:solidFill>
                <a:latin typeface="Courier New" pitchFamily="49" charset="0"/>
              </a:rPr>
              <a:t>using namespace</a:t>
            </a:r>
            <a:r>
              <a:rPr lang="en-US" altLang="zh-CN" sz="2400" b="1" dirty="0">
                <a:solidFill>
                  <a:srgbClr val="000000"/>
                </a:solidFill>
                <a:latin typeface="Courier New" pitchFamily="49" charset="0"/>
              </a:rPr>
              <a:t> std;</a:t>
            </a:r>
          </a:p>
          <a:p>
            <a:pPr>
              <a:lnSpc>
                <a:spcPct val="90000"/>
              </a:lnSpc>
            </a:pPr>
            <a:endParaRPr lang="en-US" altLang="zh-CN" sz="2400" b="1" dirty="0">
              <a:solidFill>
                <a:srgbClr val="0000FF"/>
              </a:solidFill>
              <a:latin typeface="Courier New" pitchFamily="49" charset="0"/>
            </a:endParaRPr>
          </a:p>
          <a:p>
            <a:pPr>
              <a:lnSpc>
                <a:spcPct val="90000"/>
              </a:lnSpc>
            </a:pP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main()</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x=3, y=5;</a:t>
            </a:r>
            <a:endParaRPr lang="zh-CN" altLang="en-US" sz="2400" b="1" dirty="0">
              <a:solidFill>
                <a:srgbClr val="990000"/>
              </a:solidFill>
              <a:latin typeface="Courier New" pitchFamily="49" charset="0"/>
            </a:endParaRPr>
          </a:p>
          <a:p>
            <a:pPr>
              <a:spcBef>
                <a:spcPct val="3000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			</a:t>
            </a:r>
            <a:endParaRPr lang="en-US" altLang="zh-CN" sz="2400" b="1" dirty="0">
              <a:solidFill>
                <a:srgbClr val="990000"/>
              </a:solidFill>
              <a:latin typeface="Courier New" pitchFamily="49" charset="0"/>
              <a:ea typeface="楷体" panose="02010609060101010101" pitchFamily="49" charset="-122"/>
              <a:cs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a = x  , b=y;</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定义变量</a:t>
            </a:r>
            <a:r>
              <a:rPr lang="en-US" altLang="zh-CN" sz="2000" b="1" dirty="0" err="1">
                <a:solidFill>
                  <a:srgbClr val="990000"/>
                </a:solidFill>
                <a:latin typeface="Courier New" pitchFamily="49" charset="0"/>
                <a:ea typeface="楷体" panose="02010609060101010101" pitchFamily="49" charset="-122"/>
                <a:cs typeface="Courier New" pitchFamily="49" charset="0"/>
              </a:rPr>
              <a:t>a,b</a:t>
            </a:r>
            <a:r>
              <a:rPr lang="zh-CN" altLang="en-US" sz="2000" b="1" dirty="0">
                <a:solidFill>
                  <a:srgbClr val="990000"/>
                </a:solidFill>
                <a:latin typeface="Courier New" pitchFamily="49" charset="0"/>
                <a:ea typeface="楷体" panose="02010609060101010101" pitchFamily="49" charset="-122"/>
                <a:cs typeface="Courier New" pitchFamily="49" charset="0"/>
              </a:rPr>
              <a:t>并初始化（值传递）</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temp;</a:t>
            </a:r>
            <a:r>
              <a:rPr lang="en-US" altLang="zh-CN" sz="2000" b="1" dirty="0">
                <a:solidFill>
                  <a:srgbClr val="000000"/>
                </a:solidFill>
                <a:latin typeface="Courier New" pitchFamily="49" charset="0"/>
              </a:rPr>
              <a:t>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定义 </a:t>
            </a:r>
            <a:r>
              <a:rPr lang="en-US" altLang="zh-CN" sz="2000" b="1" dirty="0">
                <a:solidFill>
                  <a:srgbClr val="990000"/>
                </a:solidFill>
                <a:latin typeface="Courier New" pitchFamily="49" charset="0"/>
                <a:ea typeface="楷体" panose="02010609060101010101" pitchFamily="49" charset="-122"/>
                <a:cs typeface="Courier New" pitchFamily="49" charset="0"/>
              </a:rPr>
              <a:t>tem</a:t>
            </a:r>
            <a:r>
              <a:rPr lang="en-US" altLang="zh-CN" sz="2400" b="1" dirty="0">
                <a:solidFill>
                  <a:srgbClr val="990000"/>
                </a:solidFill>
                <a:latin typeface="Courier New" pitchFamily="49" charset="0"/>
                <a:ea typeface="楷体" panose="02010609060101010101" pitchFamily="49" charset="-122"/>
                <a:cs typeface="Courier New" pitchFamily="49" charset="0"/>
              </a:rPr>
              <a:t>p</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temp = a; a = b; b = temp;</a:t>
            </a:r>
          </a:p>
          <a:p>
            <a:pPr>
              <a:spcBef>
                <a:spcPts val="0"/>
              </a:spcBef>
            </a:pPr>
            <a:r>
              <a:rPr lang="en-US" altLang="zh-CN" sz="2400" b="1" dirty="0">
                <a:solidFill>
                  <a:srgbClr val="000000"/>
                </a:solidFill>
                <a:latin typeface="Courier New" pitchFamily="49" charset="0"/>
              </a:rPr>
              <a:t>    }</a:t>
            </a:r>
            <a:r>
              <a:rPr lang="en-US" altLang="zh-CN" sz="2800" b="1" dirty="0">
                <a:solidFill>
                  <a:srgbClr val="000000"/>
                </a:solidFill>
                <a:latin typeface="Courier New" pitchFamily="49" charset="0"/>
              </a:rPr>
              <a:t>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变量</a:t>
            </a:r>
            <a:r>
              <a:rPr lang="en-US" altLang="zh-CN" sz="2000" b="1" dirty="0">
                <a:solidFill>
                  <a:srgbClr val="990000"/>
                </a:solidFill>
                <a:latin typeface="Courier New" pitchFamily="49" charset="0"/>
                <a:ea typeface="楷体" panose="02010609060101010101" pitchFamily="49" charset="-122"/>
                <a:cs typeface="Courier New" pitchFamily="49" charset="0"/>
              </a:rPr>
              <a:t>temp</a:t>
            </a:r>
            <a:r>
              <a:rPr lang="zh-CN" altLang="en-US" sz="2000" b="1" dirty="0">
                <a:solidFill>
                  <a:srgbClr val="990000"/>
                </a:solidFill>
                <a:latin typeface="Courier New" pitchFamily="49" charset="0"/>
                <a:ea typeface="楷体" panose="02010609060101010101" pitchFamily="49" charset="-122"/>
                <a:cs typeface="Courier New" pitchFamily="49" charset="0"/>
              </a:rPr>
              <a:t>，</a:t>
            </a:r>
            <a:r>
              <a:rPr lang="en-US" altLang="zh-CN" sz="2000" b="1" dirty="0">
                <a:solidFill>
                  <a:srgbClr val="990000"/>
                </a:solidFill>
                <a:latin typeface="Courier New" pitchFamily="49" charset="0"/>
                <a:ea typeface="楷体" panose="02010609060101010101" pitchFamily="49" charset="-122"/>
                <a:cs typeface="Courier New" pitchFamily="49" charset="0"/>
              </a:rPr>
              <a:t>a</a:t>
            </a:r>
            <a:r>
              <a:rPr lang="zh-CN" altLang="en-US" sz="2000" b="1" dirty="0">
                <a:solidFill>
                  <a:srgbClr val="990000"/>
                </a:solidFill>
                <a:latin typeface="Courier New" pitchFamily="49" charset="0"/>
                <a:ea typeface="楷体" panose="02010609060101010101" pitchFamily="49" charset="-122"/>
                <a:cs typeface="Courier New" pitchFamily="49" charset="0"/>
              </a:rPr>
              <a:t>，</a:t>
            </a:r>
            <a:r>
              <a:rPr lang="en-US" altLang="zh-CN" sz="2000" b="1" dirty="0">
                <a:solidFill>
                  <a:srgbClr val="990000"/>
                </a:solidFill>
                <a:latin typeface="Courier New" pitchFamily="49" charset="0"/>
                <a:ea typeface="楷体" panose="02010609060101010101" pitchFamily="49" charset="-122"/>
                <a:cs typeface="Courier New" pitchFamily="49" charset="0"/>
              </a:rPr>
              <a:t>b</a:t>
            </a:r>
            <a:r>
              <a:rPr lang="zh-CN" altLang="en-US" sz="2000" b="1" dirty="0">
                <a:solidFill>
                  <a:srgbClr val="990000"/>
                </a:solidFill>
                <a:latin typeface="Courier New" pitchFamily="49" charset="0"/>
                <a:ea typeface="楷体" panose="02010609060101010101" pitchFamily="49" charset="-122"/>
                <a:cs typeface="Courier New" pitchFamily="49" charset="0"/>
              </a:rPr>
              <a:t>的生命期结束</a:t>
            </a:r>
            <a:endParaRPr lang="en-US" altLang="zh-CN" sz="2000" b="1" dirty="0">
              <a:solidFill>
                <a:srgbClr val="990000"/>
              </a:solidFill>
              <a:latin typeface="Courier New" pitchFamily="49" charset="0"/>
              <a:ea typeface="楷体" panose="02010609060101010101" pitchFamily="49" charset="-122"/>
              <a:cs typeface="Courier New" pitchFamily="49" charset="0"/>
            </a:endParaRP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lnSpc>
                <a:spcPct val="90000"/>
              </a:lnSpc>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br>
              <a:rPr lang="en-US" altLang="zh-CN" sz="2400" b="1" dirty="0">
                <a:solidFill>
                  <a:srgbClr val="00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p:txBody>
      </p:sp>
      <p:sp>
        <p:nvSpPr>
          <p:cNvPr id="6" name="Rectangle 6"/>
          <p:cNvSpPr>
            <a:spLocks noChangeArrowheads="1"/>
          </p:cNvSpPr>
          <p:nvPr/>
        </p:nvSpPr>
        <p:spPr bwMode="auto">
          <a:xfrm>
            <a:off x="152400" y="3505200"/>
            <a:ext cx="8839200" cy="1905000"/>
          </a:xfrm>
          <a:prstGeom prst="rect">
            <a:avLst/>
          </a:prstGeom>
          <a:solidFill>
            <a:schemeClr val="accent1">
              <a:alpha val="39999"/>
            </a:schemeClr>
          </a:solidFill>
          <a:ln w="9525">
            <a:solidFill>
              <a:schemeClr val="tx1"/>
            </a:solidFill>
            <a:miter lim="800000"/>
            <a:headEnd/>
            <a:tailEnd/>
          </a:ln>
        </p:spPr>
        <p:txBody>
          <a:bodyPr wrap="none" anchor="ctr"/>
          <a:lstStyle/>
          <a:p>
            <a:endParaRPr lang="zh-CN" altLang="en-US">
              <a:solidFill>
                <a:srgbClr val="1D528D"/>
              </a:solidFill>
            </a:endParaRPr>
          </a:p>
        </p:txBody>
      </p:sp>
      <p:sp>
        <p:nvSpPr>
          <p:cNvPr id="8" name="Rectangle 2"/>
          <p:cNvSpPr txBox="1">
            <a:spLocks noChangeArrowheads="1"/>
          </p:cNvSpPr>
          <p:nvPr/>
        </p:nvSpPr>
        <p:spPr>
          <a:xfrm>
            <a:off x="457200" y="218787"/>
            <a:ext cx="8153400" cy="584775"/>
          </a:xfrm>
          <a:prstGeom prst="rect">
            <a:avLst/>
          </a:prstGeom>
          <a:ln>
            <a:solidFill>
              <a:srgbClr val="990000"/>
            </a:solid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schemeClr val="folHlink"/>
                </a:solidFill>
                <a:effectLst/>
                <a:uLnTx/>
                <a:uFillTx/>
                <a:latin typeface="+mj-lt"/>
                <a:ea typeface="+mj-ea"/>
                <a:cs typeface="+mj-cs"/>
              </a:rPr>
              <a:t>例</a:t>
            </a:r>
            <a:r>
              <a:rPr kumimoji="0" lang="en-US" altLang="zh-CN" sz="3200" b="1" i="0" u="none" strike="noStrike" kern="0" cap="none" spc="0" normalizeH="0" baseline="0" noProof="0" dirty="0">
                <a:ln>
                  <a:noFill/>
                </a:ln>
                <a:solidFill>
                  <a:schemeClr val="folHlink"/>
                </a:solidFill>
                <a:effectLst/>
                <a:uLnTx/>
                <a:uFillTx/>
                <a:latin typeface="+mj-lt"/>
                <a:ea typeface="+mj-ea"/>
                <a:cs typeface="+mj-cs"/>
              </a:rPr>
              <a:t>3.3 </a:t>
            </a:r>
            <a:r>
              <a:rPr kumimoji="0" lang="zh-CN" altLang="en-US" sz="3200" b="1" i="0" u="none" strike="noStrike" kern="0" cap="none" spc="0" normalizeH="0" baseline="0" noProof="0" dirty="0">
                <a:ln>
                  <a:noFill/>
                </a:ln>
                <a:solidFill>
                  <a:schemeClr val="folHlink"/>
                </a:solidFill>
                <a:effectLst/>
                <a:uLnTx/>
                <a:uFillTx/>
                <a:latin typeface="+mj-lt"/>
                <a:ea typeface="+mj-ea"/>
                <a:cs typeface="+mj-cs"/>
              </a:rPr>
              <a:t>交换两个实参的值</a:t>
            </a:r>
            <a:r>
              <a:rPr kumimoji="0" lang="zh-CN" altLang="en-US" sz="3200" b="1" i="0" u="none" strike="noStrike" kern="0" cap="none" spc="0" normalizeH="0" baseline="0" noProof="0" dirty="0">
                <a:ln>
                  <a:noFill/>
                </a:ln>
                <a:solidFill>
                  <a:srgbClr val="990000"/>
                </a:solidFill>
                <a:effectLst/>
                <a:uLnTx/>
                <a:uFillTx/>
                <a:latin typeface="+mj-lt"/>
                <a:ea typeface="+mj-ea"/>
                <a:cs typeface="+mj-cs"/>
              </a:rPr>
              <a:t>（就地展开）</a:t>
            </a:r>
          </a:p>
        </p:txBody>
      </p:sp>
      <p:sp>
        <p:nvSpPr>
          <p:cNvPr id="7" name="矩形标注 9">
            <a:extLst>
              <a:ext uri="{FF2B5EF4-FFF2-40B4-BE49-F238E27FC236}">
                <a16:creationId xmlns:a16="http://schemas.microsoft.com/office/drawing/2014/main" id="{FF4646F0-C622-432B-90E9-987F76399047}"/>
              </a:ext>
            </a:extLst>
          </p:cNvPr>
          <p:cNvSpPr/>
          <p:nvPr/>
        </p:nvSpPr>
        <p:spPr>
          <a:xfrm>
            <a:off x="3733800" y="2047875"/>
            <a:ext cx="4572000" cy="685800"/>
          </a:xfrm>
          <a:prstGeom prst="wedgeRectCallout">
            <a:avLst>
              <a:gd name="adj1" fmla="val -70303"/>
              <a:gd name="adj2" fmla="val 199722"/>
            </a:avLst>
          </a:prstGeom>
          <a:solidFill>
            <a:schemeClr val="accent1">
              <a:alpha val="26000"/>
            </a:schemeClr>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990000"/>
                </a:solidFill>
              </a:rPr>
              <a:t>相当于，以初始化记号“</a:t>
            </a:r>
            <a:r>
              <a:rPr lang="en-US" altLang="zh-CN" b="1" dirty="0">
                <a:solidFill>
                  <a:srgbClr val="990000"/>
                </a:solidFill>
              </a:rPr>
              <a:t>=</a:t>
            </a:r>
            <a:r>
              <a:rPr lang="zh-CN" altLang="en-US" b="1" dirty="0">
                <a:solidFill>
                  <a:srgbClr val="990000"/>
                </a:solidFill>
              </a:rPr>
              <a:t>”为界</a:t>
            </a:r>
            <a:endParaRPr lang="en-US" altLang="zh-CN" b="1" dirty="0">
              <a:solidFill>
                <a:srgbClr val="990000"/>
              </a:solidFill>
            </a:endParaRPr>
          </a:p>
          <a:p>
            <a:pPr algn="ctr"/>
            <a:r>
              <a:rPr lang="zh-CN" altLang="en-US" b="1" dirty="0">
                <a:solidFill>
                  <a:srgbClr val="990000"/>
                </a:solidFill>
              </a:rPr>
              <a:t>左侧</a:t>
            </a:r>
            <a:r>
              <a:rPr lang="en-US" altLang="zh-CN" b="1" dirty="0">
                <a:solidFill>
                  <a:srgbClr val="990000"/>
                </a:solidFill>
              </a:rPr>
              <a:t>int a</a:t>
            </a:r>
            <a:r>
              <a:rPr lang="zh-CN" altLang="en-US" b="1" dirty="0">
                <a:solidFill>
                  <a:srgbClr val="990000"/>
                </a:solidFill>
              </a:rPr>
              <a:t>为形参；右侧</a:t>
            </a:r>
            <a:r>
              <a:rPr lang="en-US" altLang="zh-CN" b="1" dirty="0">
                <a:solidFill>
                  <a:srgbClr val="990000"/>
                </a:solidFill>
              </a:rPr>
              <a:t>x</a:t>
            </a:r>
            <a:r>
              <a:rPr lang="zh-CN" altLang="en-US" b="1" dirty="0">
                <a:solidFill>
                  <a:srgbClr val="990000"/>
                </a:solidFill>
              </a:rPr>
              <a:t>为实参</a:t>
            </a:r>
          </a:p>
        </p:txBody>
      </p:sp>
      <p:sp>
        <p:nvSpPr>
          <p:cNvPr id="10" name="矩形: 圆角 9">
            <a:extLst>
              <a:ext uri="{FF2B5EF4-FFF2-40B4-BE49-F238E27FC236}">
                <a16:creationId xmlns:a16="http://schemas.microsoft.com/office/drawing/2014/main" id="{45428D34-EA8A-4F10-8F3D-7EA3697B7414}"/>
              </a:ext>
            </a:extLst>
          </p:cNvPr>
          <p:cNvSpPr/>
          <p:nvPr/>
        </p:nvSpPr>
        <p:spPr>
          <a:xfrm>
            <a:off x="1447800" y="3857625"/>
            <a:ext cx="1143000" cy="447675"/>
          </a:xfrm>
          <a:prstGeom prst="roundRect">
            <a:avLst/>
          </a:prstGeom>
          <a:solidFill>
            <a:srgbClr val="0000FF"/>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rPr>
              <a:t>int a</a:t>
            </a:r>
            <a:endParaRPr lang="zh-CN" altLang="en-US" sz="2000" b="1" dirty="0">
              <a:solidFill>
                <a:schemeClr val="bg1"/>
              </a:solidFill>
            </a:endParaRPr>
          </a:p>
        </p:txBody>
      </p:sp>
      <p:sp>
        <p:nvSpPr>
          <p:cNvPr id="11" name="矩形: 圆角 10">
            <a:extLst>
              <a:ext uri="{FF2B5EF4-FFF2-40B4-BE49-F238E27FC236}">
                <a16:creationId xmlns:a16="http://schemas.microsoft.com/office/drawing/2014/main" id="{F0E4CBE8-82C2-48D0-B18B-E31D8F186462}"/>
              </a:ext>
            </a:extLst>
          </p:cNvPr>
          <p:cNvSpPr/>
          <p:nvPr/>
        </p:nvSpPr>
        <p:spPr>
          <a:xfrm>
            <a:off x="2971800" y="3857624"/>
            <a:ext cx="533400" cy="447675"/>
          </a:xfrm>
          <a:prstGeom prst="roundRect">
            <a:avLst/>
          </a:prstGeom>
          <a:solidFill>
            <a:srgbClr val="0000FF"/>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rPr>
              <a:t>x</a:t>
            </a:r>
            <a:endParaRPr lang="zh-CN" altLang="en-US" sz="2000" b="1" dirty="0">
              <a:solidFill>
                <a:schemeClr val="bg1"/>
              </a:solidFill>
            </a:endParaRPr>
          </a:p>
        </p:txBody>
      </p:sp>
    </p:spTree>
    <p:extLst>
      <p:ext uri="{BB962C8B-B14F-4D97-AF65-F5344CB8AC3E}">
        <p14:creationId xmlns:p14="http://schemas.microsoft.com/office/powerpoint/2010/main" val="359445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76200" y="88900"/>
            <a:ext cx="8991600" cy="66675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include</a:t>
            </a:r>
            <a:r>
              <a:rPr lang="en-US" altLang="zh-CN" sz="2400" b="1">
                <a:solidFill>
                  <a:srgbClr val="000000"/>
                </a:solidFill>
                <a:latin typeface="Courier New" pitchFamily="49" charset="0"/>
              </a:rPr>
              <a:t> &lt;iostream&gt;	   </a:t>
            </a:r>
            <a:r>
              <a:rPr lang="zh-CN" altLang="en-US" sz="2400" b="1">
                <a:solidFill>
                  <a:srgbClr val="000000"/>
                </a:solidFill>
                <a:latin typeface="Courier New" pitchFamily="49" charset="0"/>
              </a:rPr>
              <a:t>例</a:t>
            </a:r>
            <a:r>
              <a:rPr lang="en-US" altLang="zh-CN" sz="2400" b="1">
                <a:solidFill>
                  <a:srgbClr val="000000"/>
                </a:solidFill>
                <a:latin typeface="Courier New" pitchFamily="49" charset="0"/>
              </a:rPr>
              <a:t>5.2 </a:t>
            </a:r>
            <a:r>
              <a:rPr lang="zh-CN" altLang="en-US" sz="2400" b="1">
                <a:solidFill>
                  <a:srgbClr val="000000"/>
                </a:solidFill>
                <a:latin typeface="Courier New" pitchFamily="49" charset="0"/>
              </a:rPr>
              <a:t>交换实参目标的值</a:t>
            </a:r>
            <a:r>
              <a:rPr lang="zh-CN" altLang="en-US" sz="2400" b="1">
                <a:solidFill>
                  <a:srgbClr val="990000"/>
                </a:solidFill>
                <a:latin typeface="Courier New" pitchFamily="49" charset="0"/>
              </a:rPr>
              <a:t/>
            </a:r>
            <a:br>
              <a:rPr lang="zh-CN" altLang="en-US" sz="2400" b="1">
                <a:solidFill>
                  <a:srgbClr val="990000"/>
                </a:solidFill>
                <a:latin typeface="Courier New" pitchFamily="49" charset="0"/>
              </a:rPr>
            </a:br>
            <a:r>
              <a:rPr lang="zh-CN" altLang="en-US" sz="2400" b="1">
                <a:solidFill>
                  <a:srgbClr val="000000"/>
                </a:solidFill>
                <a:latin typeface="Courier New" pitchFamily="49" charset="0"/>
              </a:rPr>
              <a:t> </a:t>
            </a:r>
            <a:r>
              <a:rPr lang="en-US" altLang="zh-CN" sz="2400" b="1">
                <a:solidFill>
                  <a:srgbClr val="0000FF"/>
                </a:solidFill>
                <a:latin typeface="Courier New" pitchFamily="49" charset="0"/>
              </a:rPr>
              <a:t>using namespace</a:t>
            </a:r>
            <a:r>
              <a:rPr lang="en-US" altLang="zh-CN" sz="2400" b="1">
                <a:solidFill>
                  <a:srgbClr val="000000"/>
                </a:solidFill>
                <a:latin typeface="Courier New" pitchFamily="49" charset="0"/>
              </a:rPr>
              <a:t> std;</a:t>
            </a:r>
          </a:p>
          <a:p>
            <a:pPr>
              <a:lnSpc>
                <a:spcPct val="90000"/>
              </a:lnSpc>
            </a:pPr>
            <a:endParaRPr lang="en-US" altLang="zh-CN" sz="2400" b="1">
              <a:solidFill>
                <a:srgbClr val="0000FF"/>
              </a:solidFill>
              <a:latin typeface="Courier New" pitchFamily="49" charset="0"/>
            </a:endParaRPr>
          </a:p>
          <a:p>
            <a:pPr>
              <a:lnSpc>
                <a:spcPct val="90000"/>
              </a:lnSpc>
            </a:pPr>
            <a:r>
              <a:rPr lang="en-US" altLang="zh-CN" sz="2400" b="1">
                <a:solidFill>
                  <a:srgbClr val="0000FF"/>
                </a:solidFill>
                <a:latin typeface="Courier New" pitchFamily="49" charset="0"/>
              </a:rPr>
              <a:t> void</a:t>
            </a:r>
            <a:r>
              <a:rPr lang="en-US" altLang="zh-CN" sz="2400" b="1">
                <a:solidFill>
                  <a:srgbClr val="000000"/>
                </a:solidFill>
                <a:latin typeface="Courier New" pitchFamily="49" charset="0"/>
              </a:rPr>
              <a:t> swap_p(</a:t>
            </a:r>
            <a:r>
              <a:rPr lang="en-US" altLang="zh-CN" sz="2400" b="1">
                <a:solidFill>
                  <a:srgbClr val="0000FF"/>
                </a:solidFill>
                <a:latin typeface="Courier New" pitchFamily="49" charset="0"/>
              </a:rPr>
              <a:t>int </a:t>
            </a:r>
            <a:r>
              <a:rPr lang="zh-CN" altLang="en-US" sz="2400" b="1">
                <a:solidFill>
                  <a:srgbClr val="000000"/>
                </a:solidFill>
                <a:latin typeface="Courier New" pitchFamily="49" charset="0"/>
              </a:rPr>
              <a:t>*</a:t>
            </a:r>
            <a:r>
              <a:rPr lang="en-US" altLang="zh-CN" sz="2400" b="1">
                <a:solidFill>
                  <a:srgbClr val="000000"/>
                </a:solidFill>
                <a:latin typeface="Courier New" pitchFamily="49" charset="0"/>
              </a:rPr>
              <a:t>a,</a:t>
            </a:r>
            <a:r>
              <a:rPr lang="en-US" altLang="zh-CN" sz="2400" b="1">
                <a:solidFill>
                  <a:srgbClr val="FFFFFF"/>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FFFFFF"/>
                </a:solidFill>
                <a:latin typeface="Courier New" pitchFamily="49" charset="0"/>
              </a:rPr>
              <a:t> </a:t>
            </a:r>
            <a:r>
              <a:rPr lang="zh-CN" altLang="en-US" sz="2400" b="1">
                <a:solidFill>
                  <a:srgbClr val="000000"/>
                </a:solidFill>
                <a:latin typeface="Courier New" pitchFamily="49" charset="0"/>
              </a:rPr>
              <a:t>*</a:t>
            </a:r>
            <a:r>
              <a:rPr lang="en-US" altLang="zh-CN" sz="2400" b="1">
                <a:solidFill>
                  <a:srgbClr val="000000"/>
                </a:solidFill>
                <a:latin typeface="Courier New" pitchFamily="49" charset="0"/>
              </a:rPr>
              <a:t>b)</a:t>
            </a:r>
          </a:p>
          <a:p>
            <a:pPr>
              <a:lnSpc>
                <a:spcPct val="90000"/>
              </a:lnSpc>
            </a:pPr>
            <a:r>
              <a:rPr lang="en-US" altLang="zh-CN" sz="2400" b="1">
                <a:solidFill>
                  <a:srgbClr val="000000"/>
                </a:solidFill>
                <a:latin typeface="Courier New" pitchFamily="49" charset="0"/>
              </a:rPr>
              <a:t> {</a:t>
            </a:r>
          </a:p>
          <a:p>
            <a:pPr>
              <a:lnSpc>
                <a:spcPct val="90000"/>
              </a:lnSpc>
            </a:pP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 int</a:t>
            </a:r>
            <a:r>
              <a:rPr lang="en-US" altLang="zh-CN" sz="2400" b="1">
                <a:solidFill>
                  <a:srgbClr val="000000"/>
                </a:solidFill>
                <a:latin typeface="Courier New" pitchFamily="49" charset="0"/>
              </a:rPr>
              <a:t> temp;</a:t>
            </a:r>
          </a:p>
          <a:p>
            <a:pPr>
              <a:lnSpc>
                <a:spcPct val="90000"/>
              </a:lnSpc>
            </a:pPr>
            <a:r>
              <a:rPr lang="en-US" altLang="zh-CN" sz="2400" b="1">
                <a:solidFill>
                  <a:srgbClr val="000000"/>
                </a:solidFill>
                <a:latin typeface="Courier New" pitchFamily="49" charset="0"/>
              </a:rPr>
              <a:t>    temp = </a:t>
            </a:r>
            <a:r>
              <a:rPr lang="zh-CN" altLang="en-US" sz="2400" b="1">
                <a:solidFill>
                  <a:srgbClr val="000000"/>
                </a:solidFill>
                <a:latin typeface="Courier New" pitchFamily="49" charset="0"/>
              </a:rPr>
              <a:t>*</a:t>
            </a:r>
            <a:r>
              <a:rPr lang="en-US" altLang="zh-CN" sz="2400" b="1">
                <a:solidFill>
                  <a:srgbClr val="000000"/>
                </a:solidFill>
                <a:latin typeface="Courier New" pitchFamily="49" charset="0"/>
              </a:rPr>
              <a:t>a; </a:t>
            </a:r>
            <a:r>
              <a:rPr lang="zh-CN" altLang="en-US" sz="2400" b="1">
                <a:solidFill>
                  <a:srgbClr val="000000"/>
                </a:solidFill>
                <a:latin typeface="Courier New" pitchFamily="49" charset="0"/>
              </a:rPr>
              <a:t>*</a:t>
            </a:r>
            <a:r>
              <a:rPr lang="en-US" altLang="zh-CN" sz="2400" b="1">
                <a:solidFill>
                  <a:srgbClr val="000000"/>
                </a:solidFill>
                <a:latin typeface="Courier New" pitchFamily="49" charset="0"/>
              </a:rPr>
              <a:t>a = </a:t>
            </a:r>
            <a:r>
              <a:rPr lang="zh-CN" altLang="en-US" sz="2400" b="1">
                <a:solidFill>
                  <a:srgbClr val="000000"/>
                </a:solidFill>
                <a:latin typeface="Courier New" pitchFamily="49" charset="0"/>
              </a:rPr>
              <a:t>*</a:t>
            </a:r>
            <a:r>
              <a:rPr lang="en-US" altLang="zh-CN" sz="2400" b="1">
                <a:solidFill>
                  <a:srgbClr val="000000"/>
                </a:solidFill>
                <a:latin typeface="Courier New" pitchFamily="49" charset="0"/>
              </a:rPr>
              <a:t>b; </a:t>
            </a:r>
            <a:r>
              <a:rPr lang="zh-CN" altLang="en-US" sz="2400" b="1">
                <a:solidFill>
                  <a:srgbClr val="000000"/>
                </a:solidFill>
                <a:latin typeface="Courier New" pitchFamily="49" charset="0"/>
              </a:rPr>
              <a:t>*</a:t>
            </a:r>
            <a:r>
              <a:rPr lang="en-US" altLang="zh-CN" sz="2400" b="1">
                <a:solidFill>
                  <a:srgbClr val="000000"/>
                </a:solidFill>
                <a:latin typeface="Courier New" pitchFamily="49" charset="0"/>
              </a:rPr>
              <a:t>b = temp;</a:t>
            </a:r>
          </a:p>
          <a:p>
            <a:pPr>
              <a:lnSpc>
                <a:spcPct val="90000"/>
              </a:lnSpc>
            </a:pPr>
            <a:r>
              <a:rPr lang="en-US" altLang="zh-CN" sz="2400" b="1">
                <a:solidFill>
                  <a:srgbClr val="000000"/>
                </a:solidFill>
                <a:latin typeface="Courier New" pitchFamily="49" charset="0"/>
              </a:rPr>
              <a:t> }</a:t>
            </a:r>
          </a:p>
          <a:p>
            <a:pPr>
              <a:lnSpc>
                <a:spcPct val="90000"/>
              </a:lnSpc>
            </a:pPr>
            <a:endParaRPr lang="en-US" altLang="zh-CN" sz="2400" b="1">
              <a:solidFill>
                <a:srgbClr val="000000"/>
              </a:solidFill>
              <a:latin typeface="Courier New" pitchFamily="49" charset="0"/>
            </a:endParaRPr>
          </a:p>
          <a:p>
            <a:pPr>
              <a:lnSpc>
                <a:spcPct val="90000"/>
              </a:lnSpc>
            </a:pPr>
            <a:r>
              <a:rPr lang="zh-CN" altLang="en-US" sz="2400" b="1">
                <a:solidFill>
                  <a:srgbClr val="0000FF"/>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main()</a:t>
            </a:r>
            <a:br>
              <a:rPr lang="en-US" altLang="zh-CN" sz="2400" b="1">
                <a:solidFill>
                  <a:srgbClr val="000000"/>
                </a:solidFill>
                <a:latin typeface="Courier New" pitchFamily="49" charset="0"/>
              </a:rPr>
            </a:br>
            <a:r>
              <a:rPr lang="en-US" altLang="zh-CN" sz="2400" b="1">
                <a:solidFill>
                  <a:srgbClr val="000000"/>
                </a:solidFill>
                <a:latin typeface="Courier New" pitchFamily="49" charset="0"/>
              </a:rPr>
              <a:t> {</a:t>
            </a:r>
            <a:br>
              <a:rPr lang="en-US" altLang="zh-CN" sz="2400" b="1">
                <a:solidFill>
                  <a:srgbClr val="000000"/>
                </a:solidFill>
                <a:latin typeface="Courier New" pitchFamily="49" charset="0"/>
              </a:rPr>
            </a:br>
            <a:r>
              <a:rPr lang="en-US" altLang="zh-CN" sz="2400" b="1">
                <a:solidFill>
                  <a:srgbClr val="000000"/>
                </a:solidFill>
                <a:latin typeface="Courier New" pitchFamily="49" charset="0"/>
              </a:rPr>
              <a:t>    </a:t>
            </a:r>
            <a:r>
              <a:rPr lang="en-US" altLang="zh-CN" sz="2400" b="1">
                <a:solidFill>
                  <a:srgbClr val="0000FF"/>
                </a:solidFill>
                <a:latin typeface="Courier New" pitchFamily="49" charset="0"/>
              </a:rPr>
              <a:t>int</a:t>
            </a:r>
            <a:r>
              <a:rPr lang="en-US" altLang="zh-CN" sz="2400" b="1">
                <a:solidFill>
                  <a:srgbClr val="000000"/>
                </a:solidFill>
                <a:latin typeface="Courier New" pitchFamily="49" charset="0"/>
              </a:rPr>
              <a:t> x=3, y=5;</a:t>
            </a:r>
            <a:endParaRPr lang="zh-CN" altLang="en-US" sz="2400" b="1">
              <a:solidFill>
                <a:srgbClr val="990000"/>
              </a:solidFill>
              <a:latin typeface="Courier New" pitchFamily="49" charset="0"/>
            </a:endParaRPr>
          </a:p>
          <a:p>
            <a:pPr>
              <a:spcBef>
                <a:spcPct val="30000"/>
              </a:spcBef>
            </a:pPr>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cout &lt;&lt; ”x = ” &lt;&lt; x &lt;&lt; ”, y = ”&lt;&lt; y &lt;&lt;endl;</a:t>
            </a:r>
          </a:p>
          <a:p>
            <a:pPr>
              <a:spcBef>
                <a:spcPct val="30000"/>
              </a:spcBef>
            </a:pPr>
            <a:r>
              <a:rPr lang="en-US" altLang="zh-CN" sz="2400" b="1">
                <a:solidFill>
                  <a:srgbClr val="000000"/>
                </a:solidFill>
                <a:latin typeface="Courier New" pitchFamily="49" charset="0"/>
              </a:rPr>
              <a:t>    swap_p(&amp;x, &amp;y);</a:t>
            </a:r>
          </a:p>
          <a:p>
            <a:pPr>
              <a:spcBef>
                <a:spcPct val="30000"/>
              </a:spcBef>
            </a:pPr>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cout &lt;&lt; ”x = ” &lt;&lt; x &lt;&lt; ”, y = ”&lt;&lt; y &lt;&lt;endl;</a:t>
            </a:r>
          </a:p>
          <a:p>
            <a:pPr>
              <a:lnSpc>
                <a:spcPct val="90000"/>
              </a:lnSpc>
            </a:pPr>
            <a:r>
              <a:rPr lang="en-US" altLang="zh-CN" sz="2400" b="1">
                <a:solidFill>
                  <a:srgbClr val="0000FF"/>
                </a:solidFill>
                <a:latin typeface="Courier New" pitchFamily="49" charset="0"/>
              </a:rPr>
              <a:t>    return</a:t>
            </a:r>
            <a:r>
              <a:rPr lang="en-US" altLang="zh-CN" sz="2400" b="1">
                <a:solidFill>
                  <a:srgbClr val="000000"/>
                </a:solidFill>
                <a:latin typeface="Courier New" pitchFamily="49" charset="0"/>
              </a:rPr>
              <a:t> 0;</a:t>
            </a:r>
            <a:br>
              <a:rPr lang="en-US" altLang="zh-CN" sz="2400" b="1">
                <a:solidFill>
                  <a:srgbClr val="000000"/>
                </a:solidFill>
                <a:latin typeface="Courier New" pitchFamily="49" charset="0"/>
              </a:rPr>
            </a:br>
            <a:r>
              <a:rPr lang="zh-CN" altLang="en-US" sz="2400" b="1">
                <a:solidFill>
                  <a:srgbClr val="000000"/>
                </a:solidFill>
                <a:latin typeface="Courier New" pitchFamily="49" charset="0"/>
              </a:rPr>
              <a:t> </a:t>
            </a:r>
            <a:r>
              <a:rPr lang="en-US" altLang="zh-CN" sz="2400" b="1">
                <a:solidFill>
                  <a:srgbClr val="000000"/>
                </a:solidFill>
                <a:latin typeface="Courier New" pitchFamily="49" charset="0"/>
              </a:rPr>
              <a:t>}</a:t>
            </a:r>
          </a:p>
        </p:txBody>
      </p:sp>
      <p:sp>
        <p:nvSpPr>
          <p:cNvPr id="211973" name="Rectangle 5"/>
          <p:cNvSpPr>
            <a:spLocks noChangeArrowheads="1"/>
          </p:cNvSpPr>
          <p:nvPr/>
        </p:nvSpPr>
        <p:spPr bwMode="auto">
          <a:xfrm>
            <a:off x="5562600" y="533400"/>
            <a:ext cx="3357563" cy="1570038"/>
          </a:xfrm>
          <a:prstGeom prst="rect">
            <a:avLst/>
          </a:prstGeom>
          <a:solidFill>
            <a:schemeClr val="bg1"/>
          </a:solidFill>
          <a:ln w="28575">
            <a:solidFill>
              <a:srgbClr val="990000"/>
            </a:solidFill>
            <a:miter lim="800000"/>
            <a:headEnd/>
            <a:tailEnd/>
          </a:ln>
        </p:spPr>
        <p:txBody>
          <a:bodyPr lIns="0" rIns="0" anchor="ctr">
            <a:spAutoFit/>
          </a:bodyPr>
          <a:lstStyle/>
          <a:p>
            <a:pPr algn="ctr"/>
            <a:r>
              <a:rPr lang="zh-CN" altLang="en-US" sz="2400" b="1">
                <a:solidFill>
                  <a:srgbClr val="000000"/>
                </a:solidFill>
                <a:latin typeface="Courier New" pitchFamily="49" charset="0"/>
              </a:rPr>
              <a:t>输出结果</a:t>
            </a:r>
            <a:endParaRPr lang="en-US" altLang="zh-CN" sz="2400" b="1">
              <a:solidFill>
                <a:srgbClr val="000000"/>
              </a:solidFill>
              <a:latin typeface="Courier New" pitchFamily="49" charset="0"/>
            </a:endParaRPr>
          </a:p>
          <a:p>
            <a:pPr algn="ctr"/>
            <a:r>
              <a:rPr lang="en-US" altLang="zh-CN" sz="2400" b="1">
                <a:solidFill>
                  <a:srgbClr val="000000"/>
                </a:solidFill>
                <a:latin typeface="Courier New" pitchFamily="49" charset="0"/>
              </a:rPr>
              <a:t>x = 3, y = 5</a:t>
            </a:r>
          </a:p>
          <a:p>
            <a:pPr algn="ctr"/>
            <a:r>
              <a:rPr lang="en-US" altLang="zh-CN" sz="2400" b="1">
                <a:solidFill>
                  <a:srgbClr val="000000"/>
                </a:solidFill>
                <a:latin typeface="Courier New" pitchFamily="49" charset="0"/>
              </a:rPr>
              <a:t>x = 5, y = 3</a:t>
            </a:r>
          </a:p>
          <a:p>
            <a:r>
              <a:rPr lang="en-US" altLang="zh-CN" sz="2400" b="1">
                <a:solidFill>
                  <a:srgbClr val="000000"/>
                </a:solidFill>
                <a:latin typeface="Courier New" pitchFamily="49" charset="0"/>
              </a:rPr>
              <a:t>C</a:t>
            </a:r>
            <a:r>
              <a:rPr lang="zh-CN" altLang="en-US" sz="2400" b="1">
                <a:solidFill>
                  <a:srgbClr val="000000"/>
                </a:solidFill>
                <a:latin typeface="Courier New" pitchFamily="49" charset="0"/>
              </a:rPr>
              <a:t>语言的解决方案</a:t>
            </a:r>
          </a:p>
        </p:txBody>
      </p:sp>
      <p:sp>
        <p:nvSpPr>
          <p:cNvPr id="5" name="Rectangle 5"/>
          <p:cNvSpPr>
            <a:spLocks noChangeArrowheads="1"/>
          </p:cNvSpPr>
          <p:nvPr/>
        </p:nvSpPr>
        <p:spPr bwMode="auto">
          <a:xfrm>
            <a:off x="4876800" y="4551363"/>
            <a:ext cx="3962400" cy="646112"/>
          </a:xfrm>
          <a:prstGeom prst="rect">
            <a:avLst/>
          </a:prstGeom>
          <a:solidFill>
            <a:schemeClr val="bg1"/>
          </a:solidFill>
          <a:ln w="28575">
            <a:solidFill>
              <a:srgbClr val="990000"/>
            </a:solidFill>
            <a:miter lim="800000"/>
            <a:headEnd/>
            <a:tailEnd/>
          </a:ln>
        </p:spPr>
        <p:txBody>
          <a:bodyPr lIns="0" rIns="0" anchor="ctr">
            <a:spAutoFit/>
          </a:bodyPr>
          <a:lstStyle/>
          <a:p>
            <a:r>
              <a:rPr lang="zh-CN" altLang="en-US" b="1">
                <a:solidFill>
                  <a:srgbClr val="000000"/>
                </a:solidFill>
                <a:latin typeface="Courier New" pitchFamily="49" charset="0"/>
              </a:rPr>
              <a:t>有点“语句不通”。</a:t>
            </a:r>
            <a:endParaRPr lang="en-US" altLang="zh-CN" b="1">
              <a:solidFill>
                <a:srgbClr val="000000"/>
              </a:solidFill>
              <a:latin typeface="Courier New" pitchFamily="49" charset="0"/>
            </a:endParaRPr>
          </a:p>
          <a:p>
            <a:r>
              <a:rPr lang="zh-CN" altLang="en-US" b="1">
                <a:solidFill>
                  <a:srgbClr val="000000"/>
                </a:solidFill>
                <a:latin typeface="Courier New" pitchFamily="49" charset="0"/>
              </a:rPr>
              <a:t>直接念：交换</a:t>
            </a:r>
            <a:r>
              <a:rPr lang="en-US" altLang="zh-CN" b="1">
                <a:solidFill>
                  <a:srgbClr val="000000"/>
                </a:solidFill>
                <a:latin typeface="Courier New" pitchFamily="49" charset="0"/>
              </a:rPr>
              <a:t>x</a:t>
            </a:r>
            <a:r>
              <a:rPr lang="zh-CN" altLang="en-US" b="1">
                <a:solidFill>
                  <a:srgbClr val="000000"/>
                </a:solidFill>
                <a:latin typeface="Courier New" pitchFamily="49" charset="0"/>
              </a:rPr>
              <a:t>的地址与</a:t>
            </a:r>
            <a:r>
              <a:rPr lang="en-US" altLang="zh-CN" b="1">
                <a:solidFill>
                  <a:srgbClr val="000000"/>
                </a:solidFill>
                <a:latin typeface="Courier New" pitchFamily="49" charset="0"/>
              </a:rPr>
              <a:t>y</a:t>
            </a:r>
            <a:r>
              <a:rPr lang="zh-CN" altLang="en-US" b="1">
                <a:solidFill>
                  <a:srgbClr val="000000"/>
                </a:solidFill>
                <a:latin typeface="Courier New" pitchFamily="49" charset="0"/>
              </a:rPr>
              <a:t>的地址？</a:t>
            </a:r>
          </a:p>
        </p:txBody>
      </p:sp>
    </p:spTree>
    <p:extLst>
      <p:ext uri="{BB962C8B-B14F-4D97-AF65-F5344CB8AC3E}">
        <p14:creationId xmlns:p14="http://schemas.microsoft.com/office/powerpoint/2010/main" val="2323993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9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3" grpId="0" animBg="1"/>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218787"/>
            <a:ext cx="8153400" cy="584775"/>
          </a:xfrm>
        </p:spPr>
        <p:txBody>
          <a:bodyPr/>
          <a:lstStyle/>
          <a:p>
            <a:pPr eaLnBrk="1" hangingPunct="1"/>
            <a:r>
              <a:rPr lang="zh-CN" altLang="en-US" sz="3200" dirty="0"/>
              <a:t>例</a:t>
            </a:r>
            <a:r>
              <a:rPr lang="en-US" altLang="zh-CN" sz="3200" dirty="0"/>
              <a:t>3.3 </a:t>
            </a:r>
            <a:r>
              <a:rPr lang="zh-CN" altLang="en-US" sz="3200" dirty="0"/>
              <a:t>交换两个实参的值</a:t>
            </a:r>
            <a:r>
              <a:rPr lang="zh-CN" altLang="en-US" sz="3200" dirty="0">
                <a:solidFill>
                  <a:srgbClr val="990000"/>
                </a:solidFill>
              </a:rPr>
              <a:t>（就地展开）</a:t>
            </a:r>
          </a:p>
        </p:txBody>
      </p:sp>
      <p:sp>
        <p:nvSpPr>
          <p:cNvPr id="50179" name="Text Box 5"/>
          <p:cNvSpPr txBox="1">
            <a:spLocks noChangeArrowheads="1"/>
          </p:cNvSpPr>
          <p:nvPr/>
        </p:nvSpPr>
        <p:spPr bwMode="auto">
          <a:xfrm>
            <a:off x="76200" y="1066800"/>
            <a:ext cx="8991600" cy="56896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include</a:t>
            </a:r>
            <a:r>
              <a:rPr lang="en-US" altLang="zh-CN" sz="2400" b="1" dirty="0">
                <a:solidFill>
                  <a:srgbClr val="000000"/>
                </a:solidFill>
                <a:latin typeface="Courier New" pitchFamily="49" charset="0"/>
              </a:rPr>
              <a:t> &lt;</a:t>
            </a:r>
            <a:r>
              <a:rPr lang="en-US" altLang="zh-CN" sz="2400" b="1" dirty="0" err="1">
                <a:solidFill>
                  <a:srgbClr val="000000"/>
                </a:solidFill>
                <a:latin typeface="Courier New" pitchFamily="49" charset="0"/>
              </a:rPr>
              <a:t>iostream</a:t>
            </a:r>
            <a:r>
              <a:rPr lang="en-US" altLang="zh-CN" sz="2400" b="1" dirty="0">
                <a:solidFill>
                  <a:srgbClr val="000000"/>
                </a:solidFill>
                <a:latin typeface="Courier New" pitchFamily="49" charset="0"/>
              </a:rPr>
              <a:t>&gt;	</a:t>
            </a:r>
            <a:r>
              <a:rPr lang="zh-CN" altLang="en-US" sz="2400" b="1" dirty="0">
                <a:solidFill>
                  <a:srgbClr val="990000"/>
                </a:solidFill>
                <a:latin typeface="Courier New" pitchFamily="49" charset="0"/>
              </a:rPr>
              <a:t/>
            </a:r>
            <a:br>
              <a:rPr lang="zh-CN" altLang="en-US" sz="2400" b="1" dirty="0">
                <a:solidFill>
                  <a:srgbClr val="99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FF"/>
                </a:solidFill>
                <a:latin typeface="Courier New" pitchFamily="49" charset="0"/>
              </a:rPr>
              <a:t>using namespace</a:t>
            </a:r>
            <a:r>
              <a:rPr lang="en-US" altLang="zh-CN" sz="2400" b="1" dirty="0">
                <a:solidFill>
                  <a:srgbClr val="000000"/>
                </a:solidFill>
                <a:latin typeface="Courier New" pitchFamily="49" charset="0"/>
              </a:rPr>
              <a:t> std;</a:t>
            </a:r>
          </a:p>
          <a:p>
            <a:pPr>
              <a:lnSpc>
                <a:spcPct val="200000"/>
              </a:lnSpc>
            </a:pP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main()</a:t>
            </a:r>
          </a:p>
          <a:p>
            <a:pPr>
              <a:spcBef>
                <a:spcPts val="0"/>
              </a:spcBef>
            </a:pPr>
            <a:r>
              <a:rPr lang="en-US" altLang="zh-CN" sz="2400" b="1" dirty="0">
                <a:solidFill>
                  <a:srgbClr val="000000"/>
                </a:solidFill>
                <a:latin typeface="Courier New" pitchFamily="49" charset="0"/>
              </a:rPr>
              <a:t> {</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x=3, y=5;</a:t>
            </a:r>
            <a:endParaRPr lang="zh-CN" altLang="en-US" sz="2400" b="1" dirty="0">
              <a:solidFill>
                <a:srgbClr val="990000"/>
              </a:solidFill>
              <a:latin typeface="Courier New" pitchFamily="49" charset="0"/>
            </a:endParaRP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			</a:t>
            </a:r>
            <a:endParaRPr lang="en-US" altLang="zh-CN" sz="2400" b="1" dirty="0">
              <a:solidFill>
                <a:srgbClr val="990000"/>
              </a:solidFill>
              <a:latin typeface="Courier New" pitchFamily="49" charset="0"/>
              <a:ea typeface="楷体" panose="02010609060101010101" pitchFamily="49" charset="-122"/>
              <a:cs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a:t>
            </a:r>
            <a:r>
              <a:rPr lang="zh-CN" altLang="en-US" sz="2400" b="1" dirty="0">
                <a:solidFill>
                  <a:srgbClr val="000000"/>
                </a:solidFill>
                <a:latin typeface="Courier New" pitchFamily="49" charset="0"/>
              </a:rPr>
              <a:t>*</a:t>
            </a:r>
            <a:r>
              <a:rPr lang="en-US" altLang="zh-CN" sz="2400" b="1" dirty="0">
                <a:solidFill>
                  <a:srgbClr val="000000"/>
                </a:solidFill>
                <a:latin typeface="Courier New" pitchFamily="49" charset="0"/>
              </a:rPr>
              <a:t>a = &amp;x , </a:t>
            </a:r>
            <a:r>
              <a:rPr lang="zh-CN" altLang="en-US" sz="2400" b="1" dirty="0">
                <a:solidFill>
                  <a:srgbClr val="000000"/>
                </a:solidFill>
                <a:latin typeface="Courier New" pitchFamily="49" charset="0"/>
              </a:rPr>
              <a:t>*</a:t>
            </a:r>
            <a:r>
              <a:rPr lang="en-US" altLang="zh-CN" sz="2400" b="1" dirty="0">
                <a:solidFill>
                  <a:srgbClr val="000000"/>
                </a:solidFill>
                <a:latin typeface="Courier New" pitchFamily="49" charset="0"/>
              </a:rPr>
              <a:t>b=&amp;y;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定义指针 </a:t>
            </a:r>
            <a:r>
              <a:rPr lang="en-US" altLang="zh-CN" sz="2000" b="1" dirty="0">
                <a:solidFill>
                  <a:srgbClr val="990000"/>
                </a:solidFill>
                <a:latin typeface="Courier New" pitchFamily="49" charset="0"/>
                <a:ea typeface="楷体" panose="02010609060101010101" pitchFamily="49" charset="-122"/>
                <a:cs typeface="Courier New" pitchFamily="49" charset="0"/>
              </a:rPr>
              <a:t>a, b </a:t>
            </a:r>
            <a:r>
              <a:rPr lang="zh-CN" altLang="en-US" sz="2000" b="1" dirty="0">
                <a:solidFill>
                  <a:srgbClr val="990000"/>
                </a:solidFill>
                <a:latin typeface="Courier New" pitchFamily="49" charset="0"/>
                <a:ea typeface="楷体" panose="02010609060101010101" pitchFamily="49" charset="-122"/>
                <a:cs typeface="Courier New" pitchFamily="49" charset="0"/>
              </a:rPr>
              <a:t>并初始化</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temp;</a:t>
            </a:r>
            <a:r>
              <a:rPr lang="en-US" altLang="zh-CN" sz="2000" b="1" dirty="0">
                <a:solidFill>
                  <a:srgbClr val="000000"/>
                </a:solidFill>
                <a:latin typeface="Courier New" pitchFamily="49" charset="0"/>
              </a:rPr>
              <a:t>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定义局部的局部变量</a:t>
            </a:r>
            <a:r>
              <a:rPr lang="en-US" altLang="zh-CN" sz="2000" b="1" dirty="0">
                <a:solidFill>
                  <a:srgbClr val="990000"/>
                </a:solidFill>
                <a:latin typeface="Courier New" pitchFamily="49" charset="0"/>
                <a:ea typeface="楷体" panose="02010609060101010101" pitchFamily="49" charset="-122"/>
                <a:cs typeface="Courier New" pitchFamily="49" charset="0"/>
              </a:rPr>
              <a:t>tem</a:t>
            </a:r>
            <a:r>
              <a:rPr lang="en-US" altLang="zh-CN" sz="2400" b="1" dirty="0">
                <a:solidFill>
                  <a:srgbClr val="990000"/>
                </a:solidFill>
                <a:latin typeface="Courier New" pitchFamily="49" charset="0"/>
                <a:ea typeface="楷体" panose="02010609060101010101" pitchFamily="49" charset="-122"/>
                <a:cs typeface="Courier New" pitchFamily="49" charset="0"/>
              </a:rPr>
              <a:t>p</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temp = </a:t>
            </a:r>
            <a:r>
              <a:rPr lang="zh-CN" altLang="en-US" sz="2400" b="1" dirty="0">
                <a:solidFill>
                  <a:srgbClr val="000000"/>
                </a:solidFill>
                <a:latin typeface="Courier New" pitchFamily="49" charset="0"/>
              </a:rPr>
              <a:t>*</a:t>
            </a:r>
            <a:r>
              <a:rPr lang="en-US" altLang="zh-CN" sz="2400" b="1" dirty="0">
                <a:solidFill>
                  <a:srgbClr val="000000"/>
                </a:solidFill>
                <a:latin typeface="Courier New" pitchFamily="49" charset="0"/>
              </a:rPr>
              <a:t>a; </a:t>
            </a:r>
            <a:r>
              <a:rPr lang="zh-CN" altLang="en-US" sz="2400" b="1" dirty="0">
                <a:solidFill>
                  <a:srgbClr val="000000"/>
                </a:solidFill>
                <a:latin typeface="Courier New" pitchFamily="49" charset="0"/>
              </a:rPr>
              <a:t>*</a:t>
            </a:r>
            <a:r>
              <a:rPr lang="en-US" altLang="zh-CN" sz="2400" b="1" dirty="0">
                <a:solidFill>
                  <a:srgbClr val="000000"/>
                </a:solidFill>
                <a:latin typeface="Courier New" pitchFamily="49" charset="0"/>
              </a:rPr>
              <a:t>a = </a:t>
            </a:r>
            <a:r>
              <a:rPr lang="zh-CN" altLang="en-US" sz="2400" b="1" dirty="0">
                <a:solidFill>
                  <a:srgbClr val="000000"/>
                </a:solidFill>
                <a:latin typeface="Courier New" pitchFamily="49" charset="0"/>
              </a:rPr>
              <a:t>*</a:t>
            </a:r>
            <a:r>
              <a:rPr lang="en-US" altLang="zh-CN" sz="2400" b="1" dirty="0">
                <a:solidFill>
                  <a:srgbClr val="000000"/>
                </a:solidFill>
                <a:latin typeface="Courier New" pitchFamily="49" charset="0"/>
              </a:rPr>
              <a:t>b; </a:t>
            </a:r>
            <a:r>
              <a:rPr lang="zh-CN" altLang="en-US" sz="2400" b="1" dirty="0">
                <a:solidFill>
                  <a:srgbClr val="000000"/>
                </a:solidFill>
                <a:latin typeface="Courier New" pitchFamily="49" charset="0"/>
              </a:rPr>
              <a:t>*</a:t>
            </a:r>
            <a:r>
              <a:rPr lang="en-US" altLang="zh-CN" sz="2400" b="1" dirty="0">
                <a:solidFill>
                  <a:srgbClr val="000000"/>
                </a:solidFill>
                <a:latin typeface="Courier New" pitchFamily="49" charset="0"/>
              </a:rPr>
              <a:t>b = temp;</a:t>
            </a:r>
          </a:p>
          <a:p>
            <a:pPr>
              <a:spcBef>
                <a:spcPts val="0"/>
              </a:spcBef>
            </a:pPr>
            <a:r>
              <a:rPr lang="en-US" altLang="zh-CN" sz="2400" b="1" dirty="0">
                <a:solidFill>
                  <a:srgbClr val="000000"/>
                </a:solidFill>
                <a:latin typeface="Courier New" pitchFamily="49" charset="0"/>
              </a:rPr>
              <a:t>    }</a:t>
            </a:r>
            <a:r>
              <a:rPr lang="en-US" altLang="zh-CN" sz="2800" b="1" dirty="0">
                <a:solidFill>
                  <a:srgbClr val="000000"/>
                </a:solidFill>
                <a:latin typeface="Courier New" pitchFamily="49" charset="0"/>
              </a:rPr>
              <a:t>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引用 </a:t>
            </a:r>
            <a:r>
              <a:rPr lang="en-US" altLang="zh-CN" sz="2000" b="1" dirty="0" err="1">
                <a:solidFill>
                  <a:srgbClr val="990000"/>
                </a:solidFill>
                <a:latin typeface="Courier New" pitchFamily="49" charset="0"/>
                <a:ea typeface="楷体" panose="02010609060101010101" pitchFamily="49" charset="-122"/>
                <a:cs typeface="Courier New" pitchFamily="49" charset="0"/>
              </a:rPr>
              <a:t>a,b</a:t>
            </a:r>
            <a:r>
              <a:rPr lang="zh-CN" altLang="en-US" sz="2000" b="1" dirty="0">
                <a:solidFill>
                  <a:srgbClr val="990000"/>
                </a:solidFill>
                <a:latin typeface="Courier New" pitchFamily="49" charset="0"/>
                <a:ea typeface="楷体" panose="02010609060101010101" pitchFamily="49" charset="-122"/>
                <a:cs typeface="Courier New" pitchFamily="49" charset="0"/>
              </a:rPr>
              <a:t>，变量 </a:t>
            </a:r>
            <a:r>
              <a:rPr lang="en-US" altLang="zh-CN" sz="2000" b="1" dirty="0">
                <a:solidFill>
                  <a:srgbClr val="990000"/>
                </a:solidFill>
                <a:latin typeface="Courier New" pitchFamily="49" charset="0"/>
                <a:ea typeface="楷体" panose="02010609060101010101" pitchFamily="49" charset="-122"/>
                <a:cs typeface="Courier New" pitchFamily="49" charset="0"/>
              </a:rPr>
              <a:t>temp </a:t>
            </a:r>
            <a:r>
              <a:rPr lang="zh-CN" altLang="en-US" sz="2000" b="1" dirty="0">
                <a:solidFill>
                  <a:srgbClr val="990000"/>
                </a:solidFill>
                <a:latin typeface="Courier New" pitchFamily="49" charset="0"/>
                <a:ea typeface="楷体" panose="02010609060101010101" pitchFamily="49" charset="-122"/>
                <a:cs typeface="Courier New" pitchFamily="49" charset="0"/>
              </a:rPr>
              <a:t>的生命期结束</a:t>
            </a:r>
            <a:endParaRPr lang="en-US" altLang="zh-CN" sz="2400" b="1" dirty="0">
              <a:solidFill>
                <a:srgbClr val="000000"/>
              </a:solidFill>
              <a:latin typeface="Courier New" pitchFamily="49" charset="0"/>
            </a:endParaRP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br>
              <a:rPr lang="en-US" altLang="zh-CN" sz="2400" b="1" dirty="0">
                <a:solidFill>
                  <a:srgbClr val="00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p:txBody>
      </p:sp>
      <p:sp>
        <p:nvSpPr>
          <p:cNvPr id="5" name="矩形标注 9">
            <a:extLst>
              <a:ext uri="{FF2B5EF4-FFF2-40B4-BE49-F238E27FC236}">
                <a16:creationId xmlns:a16="http://schemas.microsoft.com/office/drawing/2014/main" id="{47EE33A8-373F-43A6-874A-353CCE6CC06C}"/>
              </a:ext>
            </a:extLst>
          </p:cNvPr>
          <p:cNvSpPr/>
          <p:nvPr/>
        </p:nvSpPr>
        <p:spPr>
          <a:xfrm>
            <a:off x="3810000" y="2133600"/>
            <a:ext cx="4572000" cy="685800"/>
          </a:xfrm>
          <a:prstGeom prst="wedgeRectCallout">
            <a:avLst>
              <a:gd name="adj1" fmla="val -70303"/>
              <a:gd name="adj2" fmla="val 199722"/>
            </a:avLst>
          </a:prstGeom>
          <a:solidFill>
            <a:schemeClr val="accent1">
              <a:alpha val="26000"/>
            </a:schemeClr>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990000"/>
                </a:solidFill>
              </a:rPr>
              <a:t>相当于，以初始化记号“</a:t>
            </a:r>
            <a:r>
              <a:rPr lang="en-US" altLang="zh-CN" b="1" dirty="0">
                <a:solidFill>
                  <a:srgbClr val="990000"/>
                </a:solidFill>
              </a:rPr>
              <a:t>=</a:t>
            </a:r>
            <a:r>
              <a:rPr lang="zh-CN" altLang="en-US" b="1" dirty="0">
                <a:solidFill>
                  <a:srgbClr val="990000"/>
                </a:solidFill>
              </a:rPr>
              <a:t>”为界</a:t>
            </a:r>
            <a:endParaRPr lang="en-US" altLang="zh-CN" b="1" dirty="0">
              <a:solidFill>
                <a:srgbClr val="990000"/>
              </a:solidFill>
            </a:endParaRPr>
          </a:p>
          <a:p>
            <a:pPr algn="ctr"/>
            <a:r>
              <a:rPr lang="zh-CN" altLang="en-US" b="1" dirty="0">
                <a:solidFill>
                  <a:srgbClr val="990000"/>
                </a:solidFill>
              </a:rPr>
              <a:t>左侧</a:t>
            </a:r>
            <a:r>
              <a:rPr lang="en-US" altLang="zh-CN" b="1" dirty="0">
                <a:solidFill>
                  <a:srgbClr val="990000"/>
                </a:solidFill>
              </a:rPr>
              <a:t>int </a:t>
            </a:r>
            <a:r>
              <a:rPr lang="zh-CN" altLang="en-US" b="1" dirty="0">
                <a:solidFill>
                  <a:srgbClr val="990000"/>
                </a:solidFill>
              </a:rPr>
              <a:t>*</a:t>
            </a:r>
            <a:r>
              <a:rPr lang="en-US" altLang="zh-CN" b="1" dirty="0">
                <a:solidFill>
                  <a:srgbClr val="990000"/>
                </a:solidFill>
              </a:rPr>
              <a:t>a</a:t>
            </a:r>
            <a:r>
              <a:rPr lang="zh-CN" altLang="en-US" b="1" dirty="0">
                <a:solidFill>
                  <a:srgbClr val="990000"/>
                </a:solidFill>
              </a:rPr>
              <a:t>为形参，右侧</a:t>
            </a:r>
            <a:r>
              <a:rPr lang="en-US" altLang="zh-CN" b="1" dirty="0">
                <a:solidFill>
                  <a:srgbClr val="990000"/>
                </a:solidFill>
              </a:rPr>
              <a:t>&amp;x</a:t>
            </a:r>
            <a:r>
              <a:rPr lang="zh-CN" altLang="en-US" b="1" dirty="0">
                <a:solidFill>
                  <a:srgbClr val="990000"/>
                </a:solidFill>
              </a:rPr>
              <a:t>为实参</a:t>
            </a:r>
          </a:p>
        </p:txBody>
      </p:sp>
      <p:sp>
        <p:nvSpPr>
          <p:cNvPr id="6" name="矩形: 圆角 5">
            <a:extLst>
              <a:ext uri="{FF2B5EF4-FFF2-40B4-BE49-F238E27FC236}">
                <a16:creationId xmlns:a16="http://schemas.microsoft.com/office/drawing/2014/main" id="{931AE600-04EC-4F9A-AE65-163BD880AAD1}"/>
              </a:ext>
            </a:extLst>
          </p:cNvPr>
          <p:cNvSpPr/>
          <p:nvPr/>
        </p:nvSpPr>
        <p:spPr>
          <a:xfrm>
            <a:off x="1447800" y="3943350"/>
            <a:ext cx="1295400" cy="457200"/>
          </a:xfrm>
          <a:prstGeom prst="roundRect">
            <a:avLst/>
          </a:prstGeom>
          <a:solidFill>
            <a:srgbClr val="0000FF"/>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rPr>
              <a:t>int </a:t>
            </a:r>
            <a:r>
              <a:rPr lang="zh-CN" altLang="en-US" sz="2000" b="1" dirty="0">
                <a:solidFill>
                  <a:schemeClr val="bg1"/>
                </a:solidFill>
              </a:rPr>
              <a:t>*</a:t>
            </a:r>
            <a:r>
              <a:rPr lang="en-US" altLang="zh-CN" sz="2000" b="1" dirty="0">
                <a:solidFill>
                  <a:schemeClr val="bg1"/>
                </a:solidFill>
              </a:rPr>
              <a:t>a</a:t>
            </a:r>
            <a:endParaRPr lang="zh-CN" altLang="en-US" sz="2000" b="1" dirty="0">
              <a:solidFill>
                <a:schemeClr val="bg1"/>
              </a:solidFill>
            </a:endParaRPr>
          </a:p>
        </p:txBody>
      </p:sp>
      <p:sp>
        <p:nvSpPr>
          <p:cNvPr id="7" name="矩形: 圆角 6">
            <a:extLst>
              <a:ext uri="{FF2B5EF4-FFF2-40B4-BE49-F238E27FC236}">
                <a16:creationId xmlns:a16="http://schemas.microsoft.com/office/drawing/2014/main" id="{860D3787-C52E-4E67-8640-CDB66AC3E382}"/>
              </a:ext>
            </a:extLst>
          </p:cNvPr>
          <p:cNvSpPr/>
          <p:nvPr/>
        </p:nvSpPr>
        <p:spPr>
          <a:xfrm>
            <a:off x="3200400" y="3952874"/>
            <a:ext cx="533400" cy="447675"/>
          </a:xfrm>
          <a:prstGeom prst="roundRect">
            <a:avLst/>
          </a:prstGeom>
          <a:solidFill>
            <a:srgbClr val="0000FF"/>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rPr>
              <a:t>&amp;x</a:t>
            </a:r>
            <a:endParaRPr lang="zh-CN" altLang="en-US" sz="2000" b="1" dirty="0">
              <a:solidFill>
                <a:schemeClr val="bg1"/>
              </a:solidFill>
            </a:endParaRPr>
          </a:p>
        </p:txBody>
      </p:sp>
    </p:spTree>
    <p:extLst>
      <p:ext uri="{BB962C8B-B14F-4D97-AF65-F5344CB8AC3E}">
        <p14:creationId xmlns:p14="http://schemas.microsoft.com/office/powerpoint/2010/main" val="138597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218787"/>
            <a:ext cx="8153400" cy="584775"/>
          </a:xfrm>
        </p:spPr>
        <p:txBody>
          <a:bodyPr/>
          <a:lstStyle/>
          <a:p>
            <a:pPr eaLnBrk="1" hangingPunct="1"/>
            <a:r>
              <a:rPr lang="zh-CN" altLang="en-US" sz="3200" dirty="0"/>
              <a:t>例</a:t>
            </a:r>
            <a:r>
              <a:rPr lang="en-US" altLang="zh-CN" sz="3200" dirty="0"/>
              <a:t>3.3 </a:t>
            </a:r>
            <a:r>
              <a:rPr lang="zh-CN" altLang="en-US" sz="3200" dirty="0"/>
              <a:t>交换两个实参的值</a:t>
            </a:r>
            <a:r>
              <a:rPr lang="zh-CN" altLang="en-US" sz="3200" dirty="0">
                <a:solidFill>
                  <a:srgbClr val="990000"/>
                </a:solidFill>
              </a:rPr>
              <a:t>（采用引用？）</a:t>
            </a:r>
          </a:p>
        </p:txBody>
      </p:sp>
      <p:sp>
        <p:nvSpPr>
          <p:cNvPr id="50179" name="Text Box 5"/>
          <p:cNvSpPr txBox="1">
            <a:spLocks noChangeArrowheads="1"/>
          </p:cNvSpPr>
          <p:nvPr/>
        </p:nvSpPr>
        <p:spPr bwMode="auto">
          <a:xfrm>
            <a:off x="76200" y="1066800"/>
            <a:ext cx="8991600" cy="56896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include</a:t>
            </a:r>
            <a:r>
              <a:rPr lang="en-US" altLang="zh-CN" sz="2400" b="1" dirty="0">
                <a:solidFill>
                  <a:srgbClr val="000000"/>
                </a:solidFill>
                <a:latin typeface="Courier New" pitchFamily="49" charset="0"/>
              </a:rPr>
              <a:t> &lt;</a:t>
            </a:r>
            <a:r>
              <a:rPr lang="en-US" altLang="zh-CN" sz="2400" b="1" dirty="0" err="1">
                <a:solidFill>
                  <a:srgbClr val="000000"/>
                </a:solidFill>
                <a:latin typeface="Courier New" pitchFamily="49" charset="0"/>
              </a:rPr>
              <a:t>iostream</a:t>
            </a:r>
            <a:r>
              <a:rPr lang="en-US" altLang="zh-CN" sz="2400" b="1" dirty="0">
                <a:solidFill>
                  <a:srgbClr val="000000"/>
                </a:solidFill>
                <a:latin typeface="Courier New" pitchFamily="49" charset="0"/>
              </a:rPr>
              <a:t>&gt;	</a:t>
            </a:r>
            <a:r>
              <a:rPr lang="zh-CN" altLang="en-US" sz="2400" b="1" dirty="0">
                <a:solidFill>
                  <a:srgbClr val="990000"/>
                </a:solidFill>
                <a:latin typeface="Courier New" pitchFamily="49" charset="0"/>
              </a:rPr>
              <a:t/>
            </a:r>
            <a:br>
              <a:rPr lang="zh-CN" altLang="en-US" sz="2400" b="1" dirty="0">
                <a:solidFill>
                  <a:srgbClr val="99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FF"/>
                </a:solidFill>
                <a:latin typeface="Courier New" pitchFamily="49" charset="0"/>
              </a:rPr>
              <a:t>using namespace</a:t>
            </a:r>
            <a:r>
              <a:rPr lang="en-US" altLang="zh-CN" sz="2400" b="1" dirty="0">
                <a:solidFill>
                  <a:srgbClr val="000000"/>
                </a:solidFill>
                <a:latin typeface="Courier New" pitchFamily="49" charset="0"/>
              </a:rPr>
              <a:t> std;</a:t>
            </a:r>
          </a:p>
          <a:p>
            <a:pPr>
              <a:lnSpc>
                <a:spcPct val="200000"/>
              </a:lnSpc>
            </a:pPr>
            <a:r>
              <a:rPr lang="en-US" altLang="zh-CN" sz="2400" b="1" dirty="0">
                <a:solidFill>
                  <a:srgbClr val="0000FF"/>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main()</a:t>
            </a:r>
          </a:p>
          <a:p>
            <a:pPr>
              <a:spcBef>
                <a:spcPts val="0"/>
              </a:spcBef>
            </a:pPr>
            <a:r>
              <a:rPr lang="en-US" altLang="zh-CN" sz="2400" b="1" dirty="0">
                <a:solidFill>
                  <a:srgbClr val="000000"/>
                </a:solidFill>
                <a:latin typeface="Courier New" pitchFamily="49" charset="0"/>
              </a:rPr>
              <a:t> {</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err="1">
                <a:solidFill>
                  <a:srgbClr val="0000FF"/>
                </a:solidFill>
                <a:latin typeface="Courier New" pitchFamily="49" charset="0"/>
              </a:rPr>
              <a:t>int</a:t>
            </a:r>
            <a:r>
              <a:rPr lang="en-US" altLang="zh-CN" sz="2400" b="1" dirty="0">
                <a:solidFill>
                  <a:srgbClr val="000000"/>
                </a:solidFill>
                <a:latin typeface="Courier New" pitchFamily="49" charset="0"/>
              </a:rPr>
              <a:t> x=3, y=5;</a:t>
            </a:r>
            <a:endParaRPr lang="zh-CN" altLang="en-US" sz="2400" b="1" dirty="0">
              <a:solidFill>
                <a:srgbClr val="990000"/>
              </a:solidFill>
              <a:latin typeface="Courier New" pitchFamily="49" charset="0"/>
            </a:endParaRP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			</a:t>
            </a:r>
            <a:endParaRPr lang="en-US" altLang="zh-CN" sz="2400" b="1" dirty="0">
              <a:solidFill>
                <a:srgbClr val="990000"/>
              </a:solidFill>
              <a:latin typeface="Courier New" pitchFamily="49" charset="0"/>
              <a:ea typeface="楷体" panose="02010609060101010101" pitchFamily="49" charset="-122"/>
              <a:cs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&amp;a =  x , &amp;b=y;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声明引用 </a:t>
            </a:r>
            <a:r>
              <a:rPr lang="en-US" altLang="zh-CN" sz="2000" b="1" dirty="0">
                <a:solidFill>
                  <a:srgbClr val="990000"/>
                </a:solidFill>
                <a:latin typeface="Courier New" pitchFamily="49" charset="0"/>
                <a:ea typeface="楷体" panose="02010609060101010101" pitchFamily="49" charset="-122"/>
                <a:cs typeface="Courier New" pitchFamily="49" charset="0"/>
              </a:rPr>
              <a:t>a, b </a:t>
            </a:r>
            <a:r>
              <a:rPr lang="zh-CN" altLang="en-US" sz="2000" b="1" dirty="0">
                <a:solidFill>
                  <a:srgbClr val="990000"/>
                </a:solidFill>
                <a:latin typeface="Courier New" pitchFamily="49" charset="0"/>
                <a:ea typeface="楷体" panose="02010609060101010101" pitchFamily="49" charset="-122"/>
                <a:cs typeface="Courier New" pitchFamily="49" charset="0"/>
              </a:rPr>
              <a:t>并初始化</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temp;</a:t>
            </a:r>
            <a:r>
              <a:rPr lang="en-US" altLang="zh-CN" sz="2000" b="1" dirty="0">
                <a:solidFill>
                  <a:srgbClr val="000000"/>
                </a:solidFill>
                <a:latin typeface="Courier New" pitchFamily="49" charset="0"/>
              </a:rPr>
              <a:t>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定义局部的局部自动变量</a:t>
            </a:r>
            <a:r>
              <a:rPr lang="en-US" altLang="zh-CN" sz="2000" b="1" dirty="0">
                <a:solidFill>
                  <a:srgbClr val="990000"/>
                </a:solidFill>
                <a:latin typeface="Courier New" pitchFamily="49" charset="0"/>
                <a:ea typeface="楷体" panose="02010609060101010101" pitchFamily="49" charset="-122"/>
                <a:cs typeface="Courier New" pitchFamily="49" charset="0"/>
              </a:rPr>
              <a:t>tem</a:t>
            </a:r>
            <a:r>
              <a:rPr lang="en-US" altLang="zh-CN" sz="2400" b="1" dirty="0">
                <a:solidFill>
                  <a:srgbClr val="990000"/>
                </a:solidFill>
                <a:latin typeface="Courier New" pitchFamily="49" charset="0"/>
                <a:ea typeface="楷体" panose="02010609060101010101" pitchFamily="49" charset="-122"/>
                <a:cs typeface="Courier New" pitchFamily="49" charset="0"/>
              </a:rPr>
              <a:t>p</a:t>
            </a:r>
            <a:endParaRPr lang="en-US" altLang="zh-CN" sz="2400" b="1" dirty="0">
              <a:solidFill>
                <a:srgbClr val="000000"/>
              </a:solidFill>
              <a:latin typeface="Courier New" pitchFamily="49" charset="0"/>
            </a:endParaRPr>
          </a:p>
          <a:p>
            <a:pPr>
              <a:spcBef>
                <a:spcPts val="0"/>
              </a:spcBef>
            </a:pPr>
            <a:r>
              <a:rPr lang="en-US" altLang="zh-CN" sz="2400" b="1" dirty="0">
                <a:solidFill>
                  <a:srgbClr val="000000"/>
                </a:solidFill>
                <a:latin typeface="Courier New" pitchFamily="49" charset="0"/>
              </a:rPr>
              <a:t>        temp = a; a = b; b = temp;</a:t>
            </a:r>
          </a:p>
          <a:p>
            <a:pPr>
              <a:spcBef>
                <a:spcPts val="0"/>
              </a:spcBef>
            </a:pPr>
            <a:r>
              <a:rPr lang="en-US" altLang="zh-CN" sz="2400" b="1" dirty="0">
                <a:solidFill>
                  <a:srgbClr val="000000"/>
                </a:solidFill>
                <a:latin typeface="Courier New" pitchFamily="49" charset="0"/>
              </a:rPr>
              <a:t>    }</a:t>
            </a:r>
            <a:r>
              <a:rPr lang="en-US" altLang="zh-CN" sz="2800" b="1" dirty="0">
                <a:solidFill>
                  <a:srgbClr val="000000"/>
                </a:solidFill>
                <a:latin typeface="Courier New" pitchFamily="49" charset="0"/>
              </a:rPr>
              <a:t> 			</a:t>
            </a:r>
            <a:r>
              <a:rPr lang="en-US" altLang="zh-CN" sz="2000" b="1" dirty="0">
                <a:solidFill>
                  <a:srgbClr val="990000"/>
                </a:solidFill>
                <a:latin typeface="Courier New" pitchFamily="49" charset="0"/>
                <a:ea typeface="楷体" panose="02010609060101010101" pitchFamily="49" charset="-122"/>
                <a:cs typeface="Courier New" pitchFamily="49" charset="0"/>
              </a:rPr>
              <a:t>// </a:t>
            </a:r>
            <a:r>
              <a:rPr lang="zh-CN" altLang="en-US" sz="2000" b="1" dirty="0">
                <a:solidFill>
                  <a:srgbClr val="990000"/>
                </a:solidFill>
                <a:latin typeface="Courier New" pitchFamily="49" charset="0"/>
                <a:ea typeface="楷体" panose="02010609060101010101" pitchFamily="49" charset="-122"/>
                <a:cs typeface="Courier New" pitchFamily="49" charset="0"/>
              </a:rPr>
              <a:t>引用 </a:t>
            </a:r>
            <a:r>
              <a:rPr lang="en-US" altLang="zh-CN" sz="2000" b="1" dirty="0" err="1">
                <a:solidFill>
                  <a:srgbClr val="990000"/>
                </a:solidFill>
                <a:latin typeface="Courier New" pitchFamily="49" charset="0"/>
                <a:ea typeface="楷体" panose="02010609060101010101" pitchFamily="49" charset="-122"/>
                <a:cs typeface="Courier New" pitchFamily="49" charset="0"/>
              </a:rPr>
              <a:t>a,b</a:t>
            </a:r>
            <a:r>
              <a:rPr lang="zh-CN" altLang="en-US" sz="2000" b="1" dirty="0">
                <a:solidFill>
                  <a:srgbClr val="990000"/>
                </a:solidFill>
                <a:latin typeface="Courier New" pitchFamily="49" charset="0"/>
                <a:ea typeface="楷体" panose="02010609060101010101" pitchFamily="49" charset="-122"/>
                <a:cs typeface="Courier New" pitchFamily="49" charset="0"/>
              </a:rPr>
              <a:t>，变量 </a:t>
            </a:r>
            <a:r>
              <a:rPr lang="en-US" altLang="zh-CN" sz="2000" b="1" dirty="0">
                <a:solidFill>
                  <a:srgbClr val="990000"/>
                </a:solidFill>
                <a:latin typeface="Courier New" pitchFamily="49" charset="0"/>
                <a:ea typeface="楷体" panose="02010609060101010101" pitchFamily="49" charset="-122"/>
                <a:cs typeface="Courier New" pitchFamily="49" charset="0"/>
              </a:rPr>
              <a:t>temp </a:t>
            </a:r>
            <a:r>
              <a:rPr lang="zh-CN" altLang="en-US" sz="2000" b="1" dirty="0">
                <a:solidFill>
                  <a:srgbClr val="990000"/>
                </a:solidFill>
                <a:latin typeface="Courier New" pitchFamily="49" charset="0"/>
                <a:ea typeface="楷体" panose="02010609060101010101" pitchFamily="49" charset="-122"/>
                <a:cs typeface="Courier New" pitchFamily="49" charset="0"/>
              </a:rPr>
              <a:t>的生命期结束</a:t>
            </a:r>
            <a:endParaRPr lang="en-US" altLang="zh-CN" sz="2400" b="1" dirty="0">
              <a:solidFill>
                <a:srgbClr val="000000"/>
              </a:solidFill>
              <a:latin typeface="Courier New" pitchFamily="49" charset="0"/>
            </a:endParaRP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br>
              <a:rPr lang="en-US" altLang="zh-CN" sz="2400" b="1" dirty="0">
                <a:solidFill>
                  <a:srgbClr val="00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p:txBody>
      </p:sp>
      <p:sp>
        <p:nvSpPr>
          <p:cNvPr id="10" name="矩形标注 9"/>
          <p:cNvSpPr/>
          <p:nvPr/>
        </p:nvSpPr>
        <p:spPr>
          <a:xfrm>
            <a:off x="3733800" y="2133600"/>
            <a:ext cx="4572000" cy="685800"/>
          </a:xfrm>
          <a:prstGeom prst="wedgeRectCallout">
            <a:avLst>
              <a:gd name="adj1" fmla="val -70303"/>
              <a:gd name="adj2" fmla="val 199722"/>
            </a:avLst>
          </a:prstGeom>
          <a:solidFill>
            <a:schemeClr val="accent1">
              <a:alpha val="26000"/>
            </a:schemeClr>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990000"/>
                </a:solidFill>
              </a:rPr>
              <a:t>相当于，以初始化记号“</a:t>
            </a:r>
            <a:r>
              <a:rPr lang="en-US" altLang="zh-CN" b="1" dirty="0">
                <a:solidFill>
                  <a:srgbClr val="990000"/>
                </a:solidFill>
              </a:rPr>
              <a:t>=</a:t>
            </a:r>
            <a:r>
              <a:rPr lang="zh-CN" altLang="en-US" b="1" dirty="0">
                <a:solidFill>
                  <a:srgbClr val="990000"/>
                </a:solidFill>
              </a:rPr>
              <a:t>”为界</a:t>
            </a:r>
            <a:endParaRPr lang="en-US" altLang="zh-CN" b="1" dirty="0">
              <a:solidFill>
                <a:srgbClr val="990000"/>
              </a:solidFill>
            </a:endParaRPr>
          </a:p>
          <a:p>
            <a:pPr algn="ctr"/>
            <a:r>
              <a:rPr lang="zh-CN" altLang="en-US" b="1" dirty="0">
                <a:solidFill>
                  <a:srgbClr val="990000"/>
                </a:solidFill>
              </a:rPr>
              <a:t>左侧</a:t>
            </a:r>
            <a:r>
              <a:rPr lang="en-US" altLang="zh-CN" b="1" dirty="0">
                <a:solidFill>
                  <a:srgbClr val="990000"/>
                </a:solidFill>
              </a:rPr>
              <a:t>int &amp;a</a:t>
            </a:r>
            <a:r>
              <a:rPr lang="zh-CN" altLang="en-US" b="1" dirty="0">
                <a:solidFill>
                  <a:srgbClr val="990000"/>
                </a:solidFill>
              </a:rPr>
              <a:t>为形参，右侧</a:t>
            </a:r>
            <a:r>
              <a:rPr lang="en-US" altLang="zh-CN" b="1" dirty="0">
                <a:solidFill>
                  <a:srgbClr val="990000"/>
                </a:solidFill>
              </a:rPr>
              <a:t>x</a:t>
            </a:r>
            <a:r>
              <a:rPr lang="zh-CN" altLang="en-US" b="1" dirty="0">
                <a:solidFill>
                  <a:srgbClr val="990000"/>
                </a:solidFill>
              </a:rPr>
              <a:t>为实参</a:t>
            </a:r>
          </a:p>
        </p:txBody>
      </p:sp>
      <p:sp>
        <p:nvSpPr>
          <p:cNvPr id="3" name="矩形: 圆角 2">
            <a:extLst>
              <a:ext uri="{FF2B5EF4-FFF2-40B4-BE49-F238E27FC236}">
                <a16:creationId xmlns:a16="http://schemas.microsoft.com/office/drawing/2014/main" id="{FBAFDA2F-1D2A-4D5E-A20E-A34E81267199}"/>
              </a:ext>
            </a:extLst>
          </p:cNvPr>
          <p:cNvSpPr/>
          <p:nvPr/>
        </p:nvSpPr>
        <p:spPr>
          <a:xfrm>
            <a:off x="1447800" y="3943350"/>
            <a:ext cx="1295400" cy="457200"/>
          </a:xfrm>
          <a:prstGeom prst="roundRect">
            <a:avLst/>
          </a:prstGeom>
          <a:solidFill>
            <a:srgbClr val="0000FF"/>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rPr>
              <a:t>int &amp;a</a:t>
            </a:r>
            <a:endParaRPr lang="zh-CN" altLang="en-US" sz="2000" b="1" dirty="0">
              <a:solidFill>
                <a:schemeClr val="bg1"/>
              </a:solidFill>
            </a:endParaRPr>
          </a:p>
        </p:txBody>
      </p:sp>
      <p:sp>
        <p:nvSpPr>
          <p:cNvPr id="8" name="矩形: 圆角 7">
            <a:extLst>
              <a:ext uri="{FF2B5EF4-FFF2-40B4-BE49-F238E27FC236}">
                <a16:creationId xmlns:a16="http://schemas.microsoft.com/office/drawing/2014/main" id="{E1E4BCB8-9B07-49CF-85C5-D37277D7B8DC}"/>
              </a:ext>
            </a:extLst>
          </p:cNvPr>
          <p:cNvSpPr/>
          <p:nvPr/>
        </p:nvSpPr>
        <p:spPr>
          <a:xfrm>
            <a:off x="3200400" y="3952874"/>
            <a:ext cx="533400" cy="447675"/>
          </a:xfrm>
          <a:prstGeom prst="roundRect">
            <a:avLst/>
          </a:prstGeom>
          <a:solidFill>
            <a:srgbClr val="0000FF"/>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rPr>
              <a:t>x</a:t>
            </a:r>
            <a:endParaRPr lang="zh-CN" altLang="en-US" sz="2000" b="1" dirty="0">
              <a:solidFill>
                <a:schemeClr val="bg1"/>
              </a:solidFill>
            </a:endParaRPr>
          </a:p>
        </p:txBody>
      </p:sp>
    </p:spTree>
    <p:extLst>
      <p:ext uri="{BB962C8B-B14F-4D97-AF65-F5344CB8AC3E}">
        <p14:creationId xmlns:p14="http://schemas.microsoft.com/office/powerpoint/2010/main" val="293579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5"/>
          <p:cNvSpPr txBox="1">
            <a:spLocks noChangeArrowheads="1"/>
          </p:cNvSpPr>
          <p:nvPr/>
        </p:nvSpPr>
        <p:spPr bwMode="auto">
          <a:xfrm>
            <a:off x="76200" y="990600"/>
            <a:ext cx="8991600" cy="5765800"/>
          </a:xfrm>
          <a:prstGeom prst="rect">
            <a:avLst/>
          </a:prstGeom>
          <a:solidFill>
            <a:schemeClr val="bg1"/>
          </a:solidFill>
          <a:ln w="28575">
            <a:solidFill>
              <a:schemeClr val="tx2"/>
            </a:solidFill>
            <a:miter lim="800000"/>
            <a:headEnd/>
            <a:tailEnd/>
          </a:ln>
        </p:spPr>
        <p:txBody>
          <a:bodyPr wrap="none" lIns="72000" tIns="72000" rIns="72000" bIns="72000"/>
          <a:lstStyle/>
          <a:p>
            <a:pPr>
              <a:lnSpc>
                <a:spcPct val="90000"/>
              </a:lnSpc>
              <a:spcBef>
                <a:spcPts val="0"/>
              </a:spcBef>
            </a:pP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include</a:t>
            </a:r>
            <a:r>
              <a:rPr lang="en-US" altLang="zh-CN" sz="2400" b="1" dirty="0">
                <a:solidFill>
                  <a:srgbClr val="000000"/>
                </a:solidFill>
                <a:latin typeface="Courier New" pitchFamily="49" charset="0"/>
              </a:rPr>
              <a:t> &lt;</a:t>
            </a:r>
            <a:r>
              <a:rPr lang="en-US" altLang="zh-CN" sz="2400" b="1" dirty="0" err="1">
                <a:solidFill>
                  <a:srgbClr val="000000"/>
                </a:solidFill>
                <a:latin typeface="Courier New" pitchFamily="49" charset="0"/>
              </a:rPr>
              <a:t>iostream</a:t>
            </a:r>
            <a:r>
              <a:rPr lang="en-US" altLang="zh-CN" sz="2400" b="1" dirty="0">
                <a:solidFill>
                  <a:srgbClr val="000000"/>
                </a:solidFill>
                <a:latin typeface="Courier New" pitchFamily="49" charset="0"/>
              </a:rPr>
              <a:t>&gt;	</a:t>
            </a:r>
            <a:r>
              <a:rPr lang="zh-CN" altLang="en-US" sz="2400" b="1" dirty="0">
                <a:solidFill>
                  <a:srgbClr val="990000"/>
                </a:solidFill>
                <a:latin typeface="Courier New" pitchFamily="49" charset="0"/>
              </a:rPr>
              <a:t/>
            </a:r>
            <a:br>
              <a:rPr lang="zh-CN" altLang="en-US" sz="2400" b="1" dirty="0">
                <a:solidFill>
                  <a:srgbClr val="99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FF"/>
                </a:solidFill>
                <a:latin typeface="Courier New" pitchFamily="49" charset="0"/>
              </a:rPr>
              <a:t>using namespace</a:t>
            </a:r>
            <a:r>
              <a:rPr lang="en-US" altLang="zh-CN" sz="2400" b="1" dirty="0">
                <a:solidFill>
                  <a:srgbClr val="000000"/>
                </a:solidFill>
                <a:latin typeface="Courier New" pitchFamily="49" charset="0"/>
              </a:rPr>
              <a:t> std;</a:t>
            </a:r>
          </a:p>
          <a:p>
            <a:pPr>
              <a:spcBef>
                <a:spcPts val="0"/>
              </a:spcBef>
            </a:pPr>
            <a:r>
              <a:rPr lang="en-US" altLang="zh-CN" sz="2400" b="1" dirty="0">
                <a:solidFill>
                  <a:srgbClr val="0000FF"/>
                </a:solidFill>
                <a:latin typeface="Courier New" pitchFamily="49" charset="0"/>
              </a:rPr>
              <a:t> void</a:t>
            </a:r>
            <a:r>
              <a:rPr lang="en-US" altLang="zh-CN" sz="2400" b="1" dirty="0">
                <a:solidFill>
                  <a:srgbClr val="000000"/>
                </a:solidFill>
                <a:latin typeface="Courier New" pitchFamily="49" charset="0"/>
              </a:rPr>
              <a:t> swap(</a:t>
            </a:r>
            <a:r>
              <a:rPr lang="en-US" altLang="zh-CN" sz="2400" b="1" dirty="0">
                <a:solidFill>
                  <a:srgbClr val="FFFFFF"/>
                </a:solidFill>
                <a:latin typeface="Courier New" pitchFamily="49" charset="0"/>
              </a:rPr>
              <a:t>int &amp;a, int &amp;b</a:t>
            </a: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a:t>
            </a:r>
          </a:p>
          <a:p>
            <a:pPr>
              <a:spcBef>
                <a:spcPts val="0"/>
              </a:spcBef>
            </a:pPr>
            <a:r>
              <a:rPr lang="en-US" altLang="zh-CN" sz="2400" b="1" dirty="0">
                <a:solidFill>
                  <a:srgbClr val="000000"/>
                </a:solidFill>
                <a:latin typeface="Courier New" pitchFamily="49" charset="0"/>
              </a:rPr>
              <a:t>    </a:t>
            </a:r>
            <a:r>
              <a:rPr lang="en-US" altLang="zh-CN" sz="2400" b="1" dirty="0" err="1">
                <a:solidFill>
                  <a:srgbClr val="FFFFFF"/>
                </a:solidFill>
                <a:latin typeface="Courier New" pitchFamily="49" charset="0"/>
              </a:rPr>
              <a:t>int</a:t>
            </a:r>
            <a:r>
              <a:rPr lang="en-US" altLang="zh-CN" sz="2400" b="1" dirty="0">
                <a:solidFill>
                  <a:srgbClr val="FFFFFF"/>
                </a:solidFill>
                <a:latin typeface="Courier New" pitchFamily="49" charset="0"/>
              </a:rPr>
              <a:t> temp;</a:t>
            </a:r>
          </a:p>
          <a:p>
            <a:pPr>
              <a:spcBef>
                <a:spcPts val="0"/>
              </a:spcBef>
            </a:pPr>
            <a:r>
              <a:rPr lang="en-US" altLang="zh-CN" sz="2400" b="1" dirty="0">
                <a:solidFill>
                  <a:srgbClr val="FFFFFF"/>
                </a:solidFill>
                <a:latin typeface="Courier New" pitchFamily="49" charset="0"/>
              </a:rPr>
              <a:t>    temp = a; a = b; b = temp;</a:t>
            </a:r>
          </a:p>
          <a:p>
            <a:pPr>
              <a:spcBef>
                <a:spcPts val="0"/>
              </a:spcBef>
            </a:pPr>
            <a:r>
              <a:rPr lang="en-US" altLang="zh-CN" sz="2400" b="1" dirty="0">
                <a:solidFill>
                  <a:srgbClr val="000000"/>
                </a:solidFill>
                <a:latin typeface="Courier New" pitchFamily="49" charset="0"/>
              </a:rPr>
              <a:t> }</a:t>
            </a:r>
          </a:p>
          <a:p>
            <a:pPr>
              <a:spcBef>
                <a:spcPts val="0"/>
              </a:spcBef>
            </a:pPr>
            <a:r>
              <a:rPr lang="zh-CN" altLang="en-US" sz="2400" b="1" dirty="0">
                <a:solidFill>
                  <a:srgbClr val="0000FF"/>
                </a:solidFill>
                <a:latin typeface="Courier New" pitchFamily="49" charset="0"/>
              </a:rPr>
              <a:t>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main()</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br>
              <a:rPr lang="en-US" altLang="zh-CN" sz="2400" b="1" dirty="0">
                <a:solidFill>
                  <a:srgbClr val="000000"/>
                </a:solidFill>
                <a:latin typeface="Courier New" pitchFamily="49" charset="0"/>
              </a:rPr>
            </a:br>
            <a:r>
              <a:rPr lang="en-US" altLang="zh-CN" sz="2400" b="1" dirty="0">
                <a:solidFill>
                  <a:srgbClr val="000000"/>
                </a:solidFill>
                <a:latin typeface="Courier New" pitchFamily="49" charset="0"/>
              </a:rPr>
              <a:t>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x=3, y=5,</a:t>
            </a: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s=30, t=50;</a:t>
            </a:r>
            <a:endParaRPr lang="zh-CN" altLang="en-US" sz="2400" b="1" dirty="0">
              <a:solidFill>
                <a:srgbClr val="990000"/>
              </a:solidFill>
              <a:latin typeface="Courier New" pitchFamily="49" charset="0"/>
            </a:endParaRPr>
          </a:p>
          <a:p>
            <a:pPr>
              <a:spcBef>
                <a:spcPts val="0"/>
              </a:spcBef>
            </a:pPr>
            <a:r>
              <a:rPr lang="en-US" altLang="zh-CN" sz="2400" b="1" dirty="0">
                <a:solidFill>
                  <a:srgbClr val="000000"/>
                </a:solidFill>
                <a:latin typeface="Courier New" pitchFamily="49" charset="0"/>
              </a:rPr>
              <a:t>    swap(x, y);</a:t>
            </a:r>
          </a:p>
          <a:p>
            <a:pPr>
              <a:spcBef>
                <a:spcPts val="0"/>
              </a:spcBef>
            </a:pPr>
            <a:r>
              <a:rPr lang="en-US" altLang="zh-CN" sz="2400" b="1" dirty="0">
                <a:solidFill>
                  <a:srgbClr val="000000"/>
                </a:solidFill>
                <a:latin typeface="Courier New" pitchFamily="49" charset="0"/>
              </a:rPr>
              <a:t>    swap(s, t);</a:t>
            </a:r>
          </a:p>
          <a:p>
            <a:pPr>
              <a:spcBef>
                <a:spcPts val="0"/>
              </a:spcBef>
            </a:pPr>
            <a:r>
              <a:rPr lang="zh-CN" altLang="en-US"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”x = ” &lt;&lt; x &lt;&lt; ”, y = ”&lt;&lt; y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00"/>
                </a:solidFill>
                <a:latin typeface="Courier New" pitchFamily="49" charset="0"/>
              </a:rPr>
              <a:t>    </a:t>
            </a:r>
            <a:r>
              <a:rPr lang="en-US" altLang="zh-CN" sz="2400" b="1" dirty="0" err="1">
                <a:solidFill>
                  <a:srgbClr val="000000"/>
                </a:solidFill>
                <a:latin typeface="Courier New" pitchFamily="49" charset="0"/>
              </a:rPr>
              <a:t>cout</a:t>
            </a:r>
            <a:r>
              <a:rPr lang="en-US" altLang="zh-CN" sz="2400" b="1" dirty="0">
                <a:solidFill>
                  <a:srgbClr val="000000"/>
                </a:solidFill>
                <a:latin typeface="Courier New" pitchFamily="49" charset="0"/>
              </a:rPr>
              <a:t> &lt;&lt; ”s = ” &lt;&lt; s &lt;&lt; ”, t = ”&lt;&lt; t &lt;&lt;</a:t>
            </a:r>
            <a:r>
              <a:rPr lang="en-US" altLang="zh-CN" sz="2400" b="1" dirty="0" err="1">
                <a:solidFill>
                  <a:srgbClr val="000000"/>
                </a:solidFill>
                <a:latin typeface="Courier New" pitchFamily="49" charset="0"/>
              </a:rPr>
              <a:t>endl</a:t>
            </a:r>
            <a:r>
              <a:rPr lang="en-US" altLang="zh-CN" sz="2400" b="1" dirty="0">
                <a:solidFill>
                  <a:srgbClr val="000000"/>
                </a:solidFill>
                <a:latin typeface="Courier New" pitchFamily="49" charset="0"/>
              </a:rPr>
              <a:t>;</a:t>
            </a:r>
          </a:p>
          <a:p>
            <a:pPr>
              <a:spcBef>
                <a:spcPts val="0"/>
              </a:spcBef>
            </a:pPr>
            <a:r>
              <a:rPr lang="en-US" altLang="zh-CN" sz="2400" b="1" dirty="0">
                <a:solidFill>
                  <a:srgbClr val="0000FF"/>
                </a:solidFill>
                <a:latin typeface="Courier New" pitchFamily="49" charset="0"/>
              </a:rPr>
              <a:t>    return</a:t>
            </a:r>
            <a:r>
              <a:rPr lang="en-US" altLang="zh-CN" sz="2400" b="1" dirty="0">
                <a:solidFill>
                  <a:srgbClr val="000000"/>
                </a:solidFill>
                <a:latin typeface="Courier New" pitchFamily="49" charset="0"/>
              </a:rPr>
              <a:t> 0;</a:t>
            </a:r>
            <a:br>
              <a:rPr lang="en-US" altLang="zh-CN" sz="2400" b="1" dirty="0">
                <a:solidFill>
                  <a:srgbClr val="000000"/>
                </a:solidFill>
                <a:latin typeface="Courier New" pitchFamily="49" charset="0"/>
              </a:rPr>
            </a:br>
            <a:r>
              <a:rPr lang="zh-CN" altLang="en-US" sz="2400" b="1" dirty="0">
                <a:solidFill>
                  <a:srgbClr val="000000"/>
                </a:solidFill>
                <a:latin typeface="Courier New" pitchFamily="49" charset="0"/>
              </a:rPr>
              <a:t> </a:t>
            </a:r>
            <a:r>
              <a:rPr lang="en-US" altLang="zh-CN" sz="2400" b="1" dirty="0">
                <a:solidFill>
                  <a:srgbClr val="000000"/>
                </a:solidFill>
                <a:latin typeface="Courier New" pitchFamily="49" charset="0"/>
              </a:rPr>
              <a:t>}</a:t>
            </a:r>
          </a:p>
        </p:txBody>
      </p:sp>
      <p:sp>
        <p:nvSpPr>
          <p:cNvPr id="208902" name="Rectangle 6"/>
          <p:cNvSpPr>
            <a:spLocks noChangeArrowheads="1"/>
          </p:cNvSpPr>
          <p:nvPr/>
        </p:nvSpPr>
        <p:spPr bwMode="auto">
          <a:xfrm>
            <a:off x="5643563" y="1219200"/>
            <a:ext cx="3276600" cy="1581150"/>
          </a:xfrm>
          <a:prstGeom prst="rect">
            <a:avLst/>
          </a:prstGeom>
          <a:solidFill>
            <a:schemeClr val="bg1"/>
          </a:solidFill>
          <a:ln w="28575">
            <a:solidFill>
              <a:srgbClr val="990000"/>
            </a:solidFill>
            <a:miter lim="800000"/>
            <a:headEnd/>
            <a:tailEnd/>
          </a:ln>
        </p:spPr>
        <p:txBody>
          <a:bodyPr lIns="0" rIns="0" anchor="ctr">
            <a:spAutoFit/>
          </a:bodyPr>
          <a:lstStyle/>
          <a:p>
            <a:pPr algn="ctr"/>
            <a:r>
              <a:rPr lang="zh-CN" altLang="en-US" sz="2400" b="1" dirty="0">
                <a:solidFill>
                  <a:srgbClr val="000000"/>
                </a:solidFill>
                <a:latin typeface="Courier New" pitchFamily="49" charset="0"/>
              </a:rPr>
              <a:t>希望输出</a:t>
            </a:r>
          </a:p>
          <a:p>
            <a:r>
              <a:rPr lang="en-US" altLang="zh-CN" sz="2400" b="1" dirty="0">
                <a:solidFill>
                  <a:srgbClr val="000000"/>
                </a:solidFill>
                <a:latin typeface="Courier New" pitchFamily="49" charset="0"/>
              </a:rPr>
              <a:t> x = 5, y = 3</a:t>
            </a:r>
          </a:p>
          <a:p>
            <a:r>
              <a:rPr lang="en-US" altLang="zh-CN" sz="2400" b="1" dirty="0">
                <a:solidFill>
                  <a:srgbClr val="000000"/>
                </a:solidFill>
                <a:latin typeface="Courier New" pitchFamily="49" charset="0"/>
              </a:rPr>
              <a:t> s = 50, t = 30</a:t>
            </a:r>
          </a:p>
          <a:p>
            <a:pPr algn="ctr"/>
            <a:r>
              <a:rPr lang="zh-CN" altLang="en-US" sz="2400" b="1" dirty="0">
                <a:solidFill>
                  <a:srgbClr val="000000"/>
                </a:solidFill>
                <a:latin typeface="Courier New" pitchFamily="49" charset="0"/>
              </a:rPr>
              <a:t>如何设计</a:t>
            </a:r>
            <a:r>
              <a:rPr lang="en-US" altLang="zh-CN" sz="2400" b="1" dirty="0">
                <a:solidFill>
                  <a:srgbClr val="000000"/>
                </a:solidFill>
                <a:latin typeface="Courier New" pitchFamily="49" charset="0"/>
              </a:rPr>
              <a:t>swap</a:t>
            </a:r>
            <a:r>
              <a:rPr lang="zh-CN" altLang="en-US" sz="2400" b="1" dirty="0">
                <a:solidFill>
                  <a:srgbClr val="000000"/>
                </a:solidFill>
                <a:latin typeface="Courier New" pitchFamily="49" charset="0"/>
              </a:rPr>
              <a:t>函数？</a:t>
            </a:r>
          </a:p>
        </p:txBody>
      </p:sp>
      <p:sp>
        <p:nvSpPr>
          <p:cNvPr id="208903" name="Rectangle 7"/>
          <p:cNvSpPr>
            <a:spLocks noChangeArrowheads="1"/>
          </p:cNvSpPr>
          <p:nvPr/>
        </p:nvSpPr>
        <p:spPr bwMode="auto">
          <a:xfrm>
            <a:off x="5638800" y="2898775"/>
            <a:ext cx="3316288" cy="1216025"/>
          </a:xfrm>
          <a:prstGeom prst="rect">
            <a:avLst/>
          </a:prstGeom>
          <a:solidFill>
            <a:schemeClr val="bg1"/>
          </a:solidFill>
          <a:ln w="28575">
            <a:solidFill>
              <a:srgbClr val="990000"/>
            </a:solidFill>
            <a:miter lim="800000"/>
            <a:headEnd/>
            <a:tailEnd/>
          </a:ln>
        </p:spPr>
        <p:txBody>
          <a:bodyPr lIns="108000" rIns="108000" anchor="ctr">
            <a:spAutoFit/>
          </a:bodyPr>
          <a:lstStyle/>
          <a:p>
            <a:r>
              <a:rPr lang="zh-CN" altLang="en-US" sz="2400" b="1" dirty="0">
                <a:solidFill>
                  <a:srgbClr val="000000"/>
                </a:solidFill>
                <a:latin typeface="Courier New" pitchFamily="49" charset="0"/>
              </a:rPr>
              <a:t>分析：</a:t>
            </a:r>
          </a:p>
          <a:p>
            <a:r>
              <a:rPr lang="zh-CN" altLang="en-US" sz="2400" b="1" dirty="0">
                <a:solidFill>
                  <a:srgbClr val="000000"/>
                </a:solidFill>
                <a:latin typeface="Courier New" pitchFamily="49" charset="0"/>
              </a:rPr>
              <a:t>函数返回类型</a:t>
            </a:r>
            <a:r>
              <a:rPr lang="en-US" altLang="zh-CN" sz="2400" b="1" dirty="0">
                <a:solidFill>
                  <a:srgbClr val="000000"/>
                </a:solidFill>
                <a:latin typeface="Courier New" pitchFamily="49" charset="0"/>
              </a:rPr>
              <a:t>void</a:t>
            </a:r>
            <a:r>
              <a:rPr lang="zh-CN" altLang="en-US" sz="2400" b="1" dirty="0">
                <a:solidFill>
                  <a:srgbClr val="000000"/>
                </a:solidFill>
                <a:latin typeface="Courier New" pitchFamily="49" charset="0"/>
              </a:rPr>
              <a:t>，</a:t>
            </a:r>
          </a:p>
          <a:p>
            <a:r>
              <a:rPr lang="zh-CN" altLang="en-US" sz="2400" b="1" dirty="0">
                <a:solidFill>
                  <a:srgbClr val="000000"/>
                </a:solidFill>
                <a:latin typeface="Courier New" pitchFamily="49" charset="0"/>
              </a:rPr>
              <a:t>要求</a:t>
            </a:r>
            <a:r>
              <a:rPr lang="zh-CN" altLang="en-US" sz="2400" b="1" dirty="0">
                <a:solidFill>
                  <a:srgbClr val="000000"/>
                </a:solidFill>
                <a:latin typeface="Times New Roman" pitchFamily="18" charset="0"/>
              </a:rPr>
              <a:t>“</a:t>
            </a:r>
            <a:r>
              <a:rPr lang="zh-CN" altLang="en-US" sz="2400" b="1" dirty="0">
                <a:solidFill>
                  <a:srgbClr val="000000"/>
                </a:solidFill>
                <a:latin typeface="Courier New" pitchFamily="49" charset="0"/>
              </a:rPr>
              <a:t>返回</a:t>
            </a:r>
            <a:r>
              <a:rPr lang="zh-CN" altLang="en-US" sz="2400" b="1" dirty="0">
                <a:solidFill>
                  <a:srgbClr val="000000"/>
                </a:solidFill>
                <a:latin typeface="Times New Roman" pitchFamily="18" charset="0"/>
              </a:rPr>
              <a:t>”</a:t>
            </a:r>
            <a:r>
              <a:rPr lang="en-US" altLang="zh-CN" sz="2400" b="1" dirty="0">
                <a:solidFill>
                  <a:srgbClr val="000000"/>
                </a:solidFill>
                <a:latin typeface="Courier New" pitchFamily="49" charset="0"/>
              </a:rPr>
              <a:t>2</a:t>
            </a:r>
            <a:r>
              <a:rPr lang="zh-CN" altLang="en-US" sz="2400" b="1" dirty="0">
                <a:solidFill>
                  <a:srgbClr val="000000"/>
                </a:solidFill>
                <a:latin typeface="Courier New" pitchFamily="49" charset="0"/>
              </a:rPr>
              <a:t>个数值</a:t>
            </a:r>
          </a:p>
        </p:txBody>
      </p:sp>
      <p:sp>
        <p:nvSpPr>
          <p:cNvPr id="208904" name="Rectangle 8"/>
          <p:cNvSpPr>
            <a:spLocks noChangeArrowheads="1"/>
          </p:cNvSpPr>
          <p:nvPr/>
        </p:nvSpPr>
        <p:spPr bwMode="auto">
          <a:xfrm>
            <a:off x="2133600" y="1676400"/>
            <a:ext cx="2555875" cy="457200"/>
          </a:xfrm>
          <a:prstGeom prst="rect">
            <a:avLst/>
          </a:prstGeom>
          <a:solidFill>
            <a:schemeClr val="bg1"/>
          </a:solidFill>
          <a:ln w="28575">
            <a:noFill/>
            <a:miter lim="800000"/>
            <a:headEnd/>
            <a:tailEnd/>
          </a:ln>
        </p:spPr>
        <p:txBody>
          <a:bodyPr wrap="none" lIns="0" rIns="0" anchor="ctr">
            <a:spAutoFit/>
          </a:bodyPr>
          <a:lstStyle/>
          <a:p>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&amp;a, </a:t>
            </a:r>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&amp;b</a:t>
            </a:r>
          </a:p>
        </p:txBody>
      </p:sp>
      <p:sp>
        <p:nvSpPr>
          <p:cNvPr id="208905" name="Rectangle 9"/>
          <p:cNvSpPr>
            <a:spLocks noChangeArrowheads="1"/>
          </p:cNvSpPr>
          <p:nvPr/>
        </p:nvSpPr>
        <p:spPr bwMode="auto">
          <a:xfrm>
            <a:off x="685800" y="2378075"/>
            <a:ext cx="4746625" cy="822325"/>
          </a:xfrm>
          <a:prstGeom prst="rect">
            <a:avLst/>
          </a:prstGeom>
          <a:solidFill>
            <a:schemeClr val="bg1"/>
          </a:solidFill>
          <a:ln w="28575">
            <a:noFill/>
            <a:miter lim="800000"/>
            <a:headEnd/>
            <a:tailEnd/>
          </a:ln>
        </p:spPr>
        <p:txBody>
          <a:bodyPr wrap="none" lIns="0" rIns="0" anchor="ctr">
            <a:spAutoFit/>
          </a:bodyPr>
          <a:lstStyle/>
          <a:p>
            <a:r>
              <a:rPr lang="en-US" altLang="zh-CN" sz="2400" b="1" dirty="0">
                <a:solidFill>
                  <a:srgbClr val="0000FF"/>
                </a:solidFill>
                <a:latin typeface="Courier New" pitchFamily="49" charset="0"/>
              </a:rPr>
              <a:t>int</a:t>
            </a:r>
            <a:r>
              <a:rPr lang="en-US" altLang="zh-CN" sz="2400" b="1" dirty="0">
                <a:solidFill>
                  <a:srgbClr val="000000"/>
                </a:solidFill>
                <a:latin typeface="Courier New" pitchFamily="49" charset="0"/>
              </a:rPr>
              <a:t> temp;</a:t>
            </a:r>
          </a:p>
          <a:p>
            <a:r>
              <a:rPr lang="en-US" altLang="zh-CN" sz="2400" b="1" dirty="0">
                <a:solidFill>
                  <a:srgbClr val="000000"/>
                </a:solidFill>
                <a:latin typeface="Courier New" pitchFamily="49" charset="0"/>
              </a:rPr>
              <a:t>temp = a; a = b; b = temp;</a:t>
            </a:r>
          </a:p>
        </p:txBody>
      </p:sp>
      <p:sp>
        <p:nvSpPr>
          <p:cNvPr id="8" name="Rectangle 5"/>
          <p:cNvSpPr>
            <a:spLocks noChangeArrowheads="1"/>
          </p:cNvSpPr>
          <p:nvPr/>
        </p:nvSpPr>
        <p:spPr bwMode="auto">
          <a:xfrm>
            <a:off x="5638799" y="4800600"/>
            <a:ext cx="3316287" cy="461665"/>
          </a:xfrm>
          <a:prstGeom prst="rect">
            <a:avLst/>
          </a:prstGeom>
          <a:solidFill>
            <a:schemeClr val="bg1"/>
          </a:solidFill>
          <a:ln w="28575">
            <a:solidFill>
              <a:srgbClr val="990000"/>
            </a:solidFill>
            <a:miter lim="800000"/>
            <a:headEnd/>
            <a:tailEnd/>
          </a:ln>
        </p:spPr>
        <p:txBody>
          <a:bodyPr wrap="square" lIns="0" rIns="0" anchor="ctr">
            <a:spAutoFit/>
          </a:bodyPr>
          <a:lstStyle/>
          <a:p>
            <a:r>
              <a:rPr lang="zh-CN" altLang="en-US" sz="2400" b="1" dirty="0">
                <a:solidFill>
                  <a:srgbClr val="000000"/>
                </a:solidFill>
                <a:latin typeface="Courier New" pitchFamily="49" charset="0"/>
              </a:rPr>
              <a:t>语句通顺：直接念</a:t>
            </a:r>
          </a:p>
        </p:txBody>
      </p:sp>
      <p:sp>
        <p:nvSpPr>
          <p:cNvPr id="9" name="Rectangle 2"/>
          <p:cNvSpPr txBox="1">
            <a:spLocks noChangeArrowheads="1"/>
          </p:cNvSpPr>
          <p:nvPr/>
        </p:nvSpPr>
        <p:spPr bwMode="auto">
          <a:xfrm>
            <a:off x="457200" y="218787"/>
            <a:ext cx="8153400" cy="584775"/>
          </a:xfrm>
          <a:prstGeom prst="rect">
            <a:avLst/>
          </a:prstGeom>
          <a:noFill/>
          <a:ln w="12700">
            <a:solidFill>
              <a:srgbClr val="990000"/>
            </a:solidFill>
            <a:miter lim="800000"/>
            <a:headEnd/>
            <a:tailEnd/>
          </a:ln>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schemeClr val="folHlink"/>
                </a:solidFill>
                <a:effectLst/>
                <a:uLnTx/>
                <a:uFillTx/>
                <a:latin typeface="+mj-lt"/>
                <a:ea typeface="+mj-ea"/>
                <a:cs typeface="+mj-cs"/>
              </a:rPr>
              <a:t>例</a:t>
            </a:r>
            <a:r>
              <a:rPr kumimoji="0" lang="en-US" altLang="zh-CN" sz="3200" b="1" i="0" u="none" strike="noStrike" kern="0" cap="none" spc="0" normalizeH="0" baseline="0" noProof="0" dirty="0">
                <a:ln>
                  <a:noFill/>
                </a:ln>
                <a:solidFill>
                  <a:schemeClr val="folHlink"/>
                </a:solidFill>
                <a:effectLst/>
                <a:uLnTx/>
                <a:uFillTx/>
                <a:latin typeface="+mj-lt"/>
                <a:ea typeface="+mj-ea"/>
                <a:cs typeface="+mj-cs"/>
              </a:rPr>
              <a:t>3.3 </a:t>
            </a:r>
            <a:r>
              <a:rPr kumimoji="0" lang="zh-CN" altLang="en-US" sz="3200" b="1" i="0" u="none" strike="noStrike" kern="0" cap="none" spc="0" normalizeH="0" baseline="0" noProof="0" dirty="0">
                <a:ln>
                  <a:noFill/>
                </a:ln>
                <a:solidFill>
                  <a:schemeClr val="folHlink"/>
                </a:solidFill>
                <a:effectLst/>
                <a:uLnTx/>
                <a:uFillTx/>
                <a:latin typeface="+mj-lt"/>
                <a:ea typeface="+mj-ea"/>
                <a:cs typeface="+mj-cs"/>
              </a:rPr>
              <a:t>交换两个实参的值</a:t>
            </a:r>
            <a:r>
              <a:rPr kumimoji="0" lang="zh-CN" altLang="en-US" sz="3200" b="1" i="0" u="none" strike="noStrike" kern="0" cap="none" spc="0" normalizeH="0" baseline="0" noProof="0" dirty="0">
                <a:ln>
                  <a:noFill/>
                </a:ln>
                <a:solidFill>
                  <a:srgbClr val="990000"/>
                </a:solidFill>
                <a:effectLst/>
                <a:uLnTx/>
                <a:uFillTx/>
                <a:latin typeface="+mj-lt"/>
                <a:ea typeface="+mj-ea"/>
                <a:cs typeface="+mj-cs"/>
              </a:rPr>
              <a:t>（写成函数）</a:t>
            </a:r>
          </a:p>
        </p:txBody>
      </p:sp>
    </p:spTree>
    <p:extLst>
      <p:ext uri="{BB962C8B-B14F-4D97-AF65-F5344CB8AC3E}">
        <p14:creationId xmlns:p14="http://schemas.microsoft.com/office/powerpoint/2010/main" val="19930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9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89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89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89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2" grpId="0" animBg="1"/>
      <p:bldP spid="208903" grpId="0" animBg="1"/>
      <p:bldP spid="208904" grpId="0" animBg="1"/>
      <p:bldP spid="208905" grpId="0" animBg="1"/>
      <p:bldP spid="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27B273-5BDD-4971-A163-D493CF4996A4}"/>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2DCCCF06-F714-4677-A6DA-2378433C29E4}"/>
              </a:ext>
            </a:extLst>
          </p:cNvPr>
          <p:cNvSpPr>
            <a:spLocks noGrp="1"/>
          </p:cNvSpPr>
          <p:nvPr>
            <p:ph idx="1"/>
          </p:nvPr>
        </p:nvSpPr>
        <p:spPr>
          <a:xfrm>
            <a:off x="381000" y="1600200"/>
            <a:ext cx="8610600" cy="5105400"/>
          </a:xfrm>
        </p:spPr>
        <p:txBody>
          <a:bodyPr/>
          <a:lstStyle/>
          <a:p>
            <a:r>
              <a:rPr lang="zh-CN" altLang="en-US" dirty="0"/>
              <a:t> 引用的作用</a:t>
            </a:r>
            <a:endParaRPr lang="en-US" altLang="zh-CN" dirty="0"/>
          </a:p>
          <a:p>
            <a:r>
              <a:rPr lang="zh-CN" altLang="en-US" dirty="0"/>
              <a:t> 函数重载的必要性</a:t>
            </a:r>
            <a:endParaRPr lang="en-US" altLang="zh-CN" dirty="0"/>
          </a:p>
          <a:p>
            <a:r>
              <a:rPr lang="zh-CN" altLang="en-US" dirty="0"/>
              <a:t> 运算符函数重载的必要性</a:t>
            </a:r>
            <a:endParaRPr lang="en-US" altLang="zh-CN" dirty="0"/>
          </a:p>
          <a:p>
            <a:r>
              <a:rPr lang="zh-CN" altLang="en-US" dirty="0"/>
              <a:t> 参数传递、函数返回的几种形式、特点</a:t>
            </a:r>
            <a:endParaRPr lang="en-US" altLang="zh-CN" dirty="0"/>
          </a:p>
          <a:p>
            <a:r>
              <a:rPr lang="zh-CN" altLang="en-US" dirty="0"/>
              <a:t> 参数、函数返回类型设计的原则</a:t>
            </a:r>
            <a:endParaRPr lang="en-US" altLang="zh-CN" dirty="0"/>
          </a:p>
          <a:p>
            <a:pPr lvl="1"/>
            <a:r>
              <a:rPr lang="zh-CN" altLang="en-US" dirty="0"/>
              <a:t>能采用引用传递时，尽量采用引用型参数</a:t>
            </a:r>
            <a:endParaRPr lang="en-US" altLang="zh-CN" dirty="0"/>
          </a:p>
          <a:p>
            <a:pPr lvl="1"/>
            <a:r>
              <a:rPr lang="zh-CN" altLang="en-US" dirty="0"/>
              <a:t>能采用引用返回时，尽量采用引用返回</a:t>
            </a:r>
            <a:endParaRPr lang="en-US" altLang="zh-CN" dirty="0"/>
          </a:p>
          <a:p>
            <a:endParaRPr lang="en-US" altLang="zh-CN" dirty="0"/>
          </a:p>
        </p:txBody>
      </p:sp>
    </p:spTree>
    <p:extLst>
      <p:ext uri="{BB962C8B-B14F-4D97-AF65-F5344CB8AC3E}">
        <p14:creationId xmlns:p14="http://schemas.microsoft.com/office/powerpoint/2010/main" val="32511060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WordArt 4"/>
          <p:cNvSpPr>
            <a:spLocks noChangeArrowheads="1" noChangeShapeType="1" noTextEdit="1"/>
          </p:cNvSpPr>
          <p:nvPr/>
        </p:nvSpPr>
        <p:spPr bwMode="gray">
          <a:xfrm>
            <a:off x="609600" y="3200400"/>
            <a:ext cx="4459288" cy="762000"/>
          </a:xfrm>
          <a:prstGeom prst="rect">
            <a:avLst/>
          </a:prstGeom>
        </p:spPr>
        <p:txBody>
          <a:bodyPr wrap="none" fromWordArt="1">
            <a:prstTxWarp prst="textDeflate">
              <a:avLst>
                <a:gd name="adj" fmla="val 0"/>
              </a:avLst>
            </a:prstTxWarp>
          </a:bodyPr>
          <a:lstStyle/>
          <a:p>
            <a:pPr algn="ctr"/>
            <a:r>
              <a:rPr lang="en-US" altLang="zh-CN" sz="5400" b="1" kern="10">
                <a:ln w="28575">
                  <a:solidFill>
                    <a:schemeClr val="bg1"/>
                  </a:solidFill>
                  <a:round/>
                  <a:headEnd/>
                  <a:tailEnd/>
                </a:ln>
                <a:gradFill rotWithShape="1">
                  <a:gsLst>
                    <a:gs pos="0">
                      <a:schemeClr val="folHlink"/>
                    </a:gs>
                    <a:gs pos="100000">
                      <a:schemeClr val="accent2"/>
                    </a:gs>
                  </a:gsLst>
                  <a:lin ang="5400000" scaled="1"/>
                </a:gradFill>
                <a:effectLst>
                  <a:outerShdw dist="71842" dir="2700000" algn="ctr" rotWithShape="0">
                    <a:schemeClr val="bg2">
                      <a:alpha val="50000"/>
                    </a:schemeClr>
                  </a:outerShdw>
                </a:effectLst>
                <a:latin typeface="Verdana"/>
                <a:ea typeface="Verdana"/>
                <a:cs typeface="Verdana"/>
              </a:rPr>
              <a:t>Thank You !</a:t>
            </a:r>
            <a:endParaRPr lang="zh-CN" altLang="en-US" sz="5400" b="1" kern="10">
              <a:ln w="28575">
                <a:solidFill>
                  <a:schemeClr val="bg1"/>
                </a:solidFill>
                <a:round/>
                <a:headEnd/>
                <a:tailEnd/>
              </a:ln>
              <a:gradFill rotWithShape="1">
                <a:gsLst>
                  <a:gs pos="0">
                    <a:schemeClr val="folHlink"/>
                  </a:gs>
                  <a:gs pos="100000">
                    <a:schemeClr val="accent2"/>
                  </a:gs>
                </a:gsLst>
                <a:lin ang="5400000" scaled="1"/>
              </a:gradFill>
              <a:effectLst>
                <a:outerShdw dist="71842" dir="2700000" algn="ctr" rotWithShape="0">
                  <a:schemeClr val="bg2">
                    <a:alpha val="50000"/>
                  </a:schemeClr>
                </a:outerShdw>
              </a:effectLst>
              <a:latin typeface="Verdana"/>
              <a:cs typeface="Verdan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n012TGp_Global_light">
  <a:themeElements>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fontScheme name="n012TGp_Global_light">
      <a:majorFont>
        <a:latin typeface="Courier New"/>
        <a:ea typeface="黑体"/>
        <a:cs typeface=""/>
      </a:majorFont>
      <a:minorFont>
        <a:latin typeface="Courier New"/>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012TGp_Global_light 1">
        <a:dk1>
          <a:srgbClr val="29698D"/>
        </a:dk1>
        <a:lt1>
          <a:srgbClr val="FFFFFF"/>
        </a:lt1>
        <a:dk2>
          <a:srgbClr val="000000"/>
        </a:dk2>
        <a:lt2>
          <a:srgbClr val="D6E1E2"/>
        </a:lt2>
        <a:accent1>
          <a:srgbClr val="8F94A7"/>
        </a:accent1>
        <a:accent2>
          <a:srgbClr val="FF9933"/>
        </a:accent2>
        <a:accent3>
          <a:srgbClr val="FFFFFF"/>
        </a:accent3>
        <a:accent4>
          <a:srgbClr val="215978"/>
        </a:accent4>
        <a:accent5>
          <a:srgbClr val="C6C8D0"/>
        </a:accent5>
        <a:accent6>
          <a:srgbClr val="E78A2D"/>
        </a:accent6>
        <a:hlink>
          <a:srgbClr val="00CC99"/>
        </a:hlink>
        <a:folHlink>
          <a:srgbClr val="985CCE"/>
        </a:folHlink>
      </a:clrScheme>
      <a:clrMap bg1="lt1" tx1="dk1" bg2="lt2" tx2="dk2" accent1="accent1" accent2="accent2" accent3="accent3" accent4="accent4" accent5="accent5" accent6="accent6" hlink="hlink" folHlink="folHlink"/>
    </a:extraClrScheme>
    <a:extraClrScheme>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clrMap bg1="lt1" tx1="dk1" bg2="lt2" tx2="dk2" accent1="accent1" accent2="accent2" accent3="accent3" accent4="accent4" accent5="accent5" accent6="accent6" hlink="hlink" folHlink="folHlink"/>
    </a:extraClrScheme>
    <a:extraClrScheme>
      <a:clrScheme name="n012TGp_Global_light 3">
        <a:dk1>
          <a:srgbClr val="666699"/>
        </a:dk1>
        <a:lt1>
          <a:srgbClr val="FFFFFF"/>
        </a:lt1>
        <a:dk2>
          <a:srgbClr val="000000"/>
        </a:dk2>
        <a:lt2>
          <a:srgbClr val="C0C0C0"/>
        </a:lt2>
        <a:accent1>
          <a:srgbClr val="59B2D1"/>
        </a:accent1>
        <a:accent2>
          <a:srgbClr val="C78DD7"/>
        </a:accent2>
        <a:accent3>
          <a:srgbClr val="FFFFFF"/>
        </a:accent3>
        <a:accent4>
          <a:srgbClr val="565682"/>
        </a:accent4>
        <a:accent5>
          <a:srgbClr val="B5D5E5"/>
        </a:accent5>
        <a:accent6>
          <a:srgbClr val="B47FC3"/>
        </a:accent6>
        <a:hlink>
          <a:srgbClr val="33B976"/>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012TGp_Global_light">
  <a:themeElements>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fontScheme name="n012TGp_Global_light">
      <a:majorFont>
        <a:latin typeface="Courier New"/>
        <a:ea typeface="黑体"/>
        <a:cs typeface=""/>
      </a:majorFont>
      <a:minorFont>
        <a:latin typeface="Courier New"/>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012TGp_Global_light 1">
        <a:dk1>
          <a:srgbClr val="29698D"/>
        </a:dk1>
        <a:lt1>
          <a:srgbClr val="FFFFFF"/>
        </a:lt1>
        <a:dk2>
          <a:srgbClr val="000000"/>
        </a:dk2>
        <a:lt2>
          <a:srgbClr val="D6E1E2"/>
        </a:lt2>
        <a:accent1>
          <a:srgbClr val="8F94A7"/>
        </a:accent1>
        <a:accent2>
          <a:srgbClr val="FF9933"/>
        </a:accent2>
        <a:accent3>
          <a:srgbClr val="FFFFFF"/>
        </a:accent3>
        <a:accent4>
          <a:srgbClr val="215978"/>
        </a:accent4>
        <a:accent5>
          <a:srgbClr val="C6C8D0"/>
        </a:accent5>
        <a:accent6>
          <a:srgbClr val="E78A2D"/>
        </a:accent6>
        <a:hlink>
          <a:srgbClr val="00CC99"/>
        </a:hlink>
        <a:folHlink>
          <a:srgbClr val="985CCE"/>
        </a:folHlink>
      </a:clrScheme>
      <a:clrMap bg1="lt1" tx1="dk1" bg2="lt2" tx2="dk2" accent1="accent1" accent2="accent2" accent3="accent3" accent4="accent4" accent5="accent5" accent6="accent6" hlink="hlink" folHlink="folHlink"/>
    </a:extraClrScheme>
    <a:extraClrScheme>
      <a:clrScheme name="n012TGp_Global_light 2">
        <a:dk1>
          <a:srgbClr val="1D528D"/>
        </a:dk1>
        <a:lt1>
          <a:srgbClr val="FFFFFF"/>
        </a:lt1>
        <a:dk2>
          <a:srgbClr val="000000"/>
        </a:dk2>
        <a:lt2>
          <a:srgbClr val="DDDDDD"/>
        </a:lt2>
        <a:accent1>
          <a:srgbClr val="8AAECE"/>
        </a:accent1>
        <a:accent2>
          <a:srgbClr val="009999"/>
        </a:accent2>
        <a:accent3>
          <a:srgbClr val="FFFFFF"/>
        </a:accent3>
        <a:accent4>
          <a:srgbClr val="174578"/>
        </a:accent4>
        <a:accent5>
          <a:srgbClr val="C4D3E3"/>
        </a:accent5>
        <a:accent6>
          <a:srgbClr val="008A8A"/>
        </a:accent6>
        <a:hlink>
          <a:srgbClr val="CA3B1E"/>
        </a:hlink>
        <a:folHlink>
          <a:srgbClr val="003399"/>
        </a:folHlink>
      </a:clrScheme>
      <a:clrMap bg1="lt1" tx1="dk1" bg2="lt2" tx2="dk2" accent1="accent1" accent2="accent2" accent3="accent3" accent4="accent4" accent5="accent5" accent6="accent6" hlink="hlink" folHlink="folHlink"/>
    </a:extraClrScheme>
    <a:extraClrScheme>
      <a:clrScheme name="n012TGp_Global_light 3">
        <a:dk1>
          <a:srgbClr val="666699"/>
        </a:dk1>
        <a:lt1>
          <a:srgbClr val="FFFFFF"/>
        </a:lt1>
        <a:dk2>
          <a:srgbClr val="000000"/>
        </a:dk2>
        <a:lt2>
          <a:srgbClr val="C0C0C0"/>
        </a:lt2>
        <a:accent1>
          <a:srgbClr val="59B2D1"/>
        </a:accent1>
        <a:accent2>
          <a:srgbClr val="C78DD7"/>
        </a:accent2>
        <a:accent3>
          <a:srgbClr val="FFFFFF"/>
        </a:accent3>
        <a:accent4>
          <a:srgbClr val="565682"/>
        </a:accent4>
        <a:accent5>
          <a:srgbClr val="B5D5E5"/>
        </a:accent5>
        <a:accent6>
          <a:srgbClr val="B47FC3"/>
        </a:accent6>
        <a:hlink>
          <a:srgbClr val="33B976"/>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2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10197</TotalTime>
  <Words>8083</Words>
  <Application>Microsoft Office PowerPoint</Application>
  <PresentationFormat>全屏显示(4:3)</PresentationFormat>
  <Paragraphs>906</Paragraphs>
  <Slides>82</Slides>
  <Notes>33</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82</vt:i4>
      </vt:variant>
    </vt:vector>
  </HeadingPairs>
  <TitlesOfParts>
    <vt:vector size="102" baseType="lpstr">
      <vt:lpstr>黑体</vt:lpstr>
      <vt:lpstr>华文中宋</vt:lpstr>
      <vt:lpstr>楷体</vt:lpstr>
      <vt:lpstr>楷体_GB2312</vt:lpstr>
      <vt:lpstr>隶书</vt:lpstr>
      <vt:lpstr>宋体</vt:lpstr>
      <vt:lpstr>微软雅黑</vt:lpstr>
      <vt:lpstr>Arial</vt:lpstr>
      <vt:lpstr>Calibri</vt:lpstr>
      <vt:lpstr>Consolas</vt:lpstr>
      <vt:lpstr>Courier New</vt:lpstr>
      <vt:lpstr>Times New Roman</vt:lpstr>
      <vt:lpstr>Verdana</vt:lpstr>
      <vt:lpstr>Webdings</vt:lpstr>
      <vt:lpstr>Wingdings</vt:lpstr>
      <vt:lpstr>Wingdings 2</vt:lpstr>
      <vt:lpstr>1_n012TGp_Global_light</vt:lpstr>
      <vt:lpstr>n012TGp_Global_light</vt:lpstr>
      <vt:lpstr>默认设计模板</vt:lpstr>
      <vt:lpstr>Image</vt:lpstr>
      <vt:lpstr>面向对象程序设计A</vt:lpstr>
      <vt:lpstr>主要内容</vt:lpstr>
      <vt:lpstr>PowerPoint 演示文稿</vt:lpstr>
      <vt:lpstr>§3.1.2 变量</vt:lpstr>
      <vt:lpstr>变量名</vt:lpstr>
      <vt:lpstr>间接访问变量</vt:lpstr>
      <vt:lpstr>§3.1.3 变量的引用</vt:lpstr>
      <vt:lpstr>§3.1.4 常量的引用</vt:lpstr>
      <vt:lpstr>引用(直接)访问变量</vt:lpstr>
      <vt:lpstr>函数</vt:lpstr>
      <vt:lpstr>函数的形式参数</vt:lpstr>
      <vt:lpstr>函数的返回类型</vt:lpstr>
      <vt:lpstr>例3.4 加法运算函数</vt:lpstr>
      <vt:lpstr>例3.5 迭加计算函数</vt:lpstr>
      <vt:lpstr>两个函数的比较</vt:lpstr>
      <vt:lpstr>函数返回值优化 </vt:lpstr>
      <vt:lpstr>PowerPoint 演示文稿</vt:lpstr>
      <vt:lpstr>PowerPoint 演示文稿</vt:lpstr>
      <vt:lpstr>特别强调 </vt:lpstr>
      <vt:lpstr>特别强调 </vt:lpstr>
      <vt:lpstr>主要内容</vt:lpstr>
      <vt:lpstr>从泛型程序设计谈起</vt:lpstr>
      <vt:lpstr>6.5 函数重载</vt:lpstr>
      <vt:lpstr>PowerPoint 演示文稿</vt:lpstr>
      <vt:lpstr>PowerPoint 演示文稿</vt:lpstr>
      <vt:lpstr>6.5 函数重载</vt:lpstr>
      <vt:lpstr>6.5 函数重载</vt:lpstr>
      <vt:lpstr>6.5 函数重载</vt:lpstr>
      <vt:lpstr>主要内容</vt:lpstr>
      <vt:lpstr>6.8 函数模板</vt:lpstr>
      <vt:lpstr>6.8 函数模板</vt:lpstr>
      <vt:lpstr>6.8 函数模板</vt:lpstr>
      <vt:lpstr>6.8 函数模板</vt:lpstr>
      <vt:lpstr>6.8 函数模板</vt:lpstr>
      <vt:lpstr>6.8 函数模板</vt:lpstr>
      <vt:lpstr>6.8 函数模板</vt:lpstr>
      <vt:lpstr>主要内容</vt:lpstr>
      <vt:lpstr>运算符函数及其重载</vt:lpstr>
      <vt:lpstr>PowerPoint 演示文稿</vt:lpstr>
      <vt:lpstr>PowerPoint 演示文稿</vt:lpstr>
      <vt:lpstr>C++运算符函数</vt:lpstr>
      <vt:lpstr>C++运算符函数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§3.5 I/O流格式控制</vt:lpstr>
      <vt:lpstr>C++运算符函数</vt:lpstr>
      <vt:lpstr>C++运算符函数</vt:lpstr>
      <vt:lpstr>PowerPoint 演示文稿</vt:lpstr>
      <vt:lpstr>PowerPoint 演示文稿</vt:lpstr>
      <vt:lpstr>从 C 到 C++ （C++对C的改进）</vt:lpstr>
      <vt:lpstr>5.4 动态变量和动态数组</vt:lpstr>
      <vt:lpstr>C语言中的函数</vt:lpstr>
      <vt:lpstr>申请及释放动态变量（堆变量）</vt:lpstr>
      <vt:lpstr>动态变量（堆变量）举例</vt:lpstr>
      <vt:lpstr>申请及释放动态数组（堆数组）</vt:lpstr>
      <vt:lpstr>主要内容</vt:lpstr>
      <vt:lpstr>带默认参数值的函数</vt:lpstr>
      <vt:lpstr>默认参数值的说明次序</vt:lpstr>
      <vt:lpstr>默认参数值与函数的调用位置</vt:lpstr>
      <vt:lpstr>6.6 参数带默认值的函数</vt:lpstr>
      <vt:lpstr>6.6 参数带默认值的函数</vt:lpstr>
      <vt:lpstr>6.6 参数带默认值的函数</vt:lpstr>
      <vt:lpstr>PowerPoint 演示文稿</vt:lpstr>
      <vt:lpstr>PowerPoint 演示文稿</vt:lpstr>
      <vt:lpstr>PowerPoint 演示文稿</vt:lpstr>
      <vt:lpstr>6.7 内联函数</vt:lpstr>
      <vt:lpstr>6.7 内联函数</vt:lpstr>
      <vt:lpstr>PowerPoint 演示文稿</vt:lpstr>
      <vt:lpstr>PowerPoint 演示文稿</vt:lpstr>
      <vt:lpstr>PowerPoint 演示文稿</vt:lpstr>
      <vt:lpstr>例3.3 交换两个实参的值（就地展开）</vt:lpstr>
      <vt:lpstr>例3.3 交换两个实参的值（采用引用？）</vt:lpstr>
      <vt:lpstr>PowerPoint 演示文稿</vt:lpstr>
      <vt:lpstr>思考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面向对象程序设计(08305121)</dc:title>
  <dc:subject>从C到C++</dc:subject>
  <dc:creator>LiQing</dc:creator>
  <cp:lastModifiedBy>daijz</cp:lastModifiedBy>
  <cp:revision>327</cp:revision>
  <dcterms:created xsi:type="dcterms:W3CDTF">2005-03-23T09:08:03Z</dcterms:created>
  <dcterms:modified xsi:type="dcterms:W3CDTF">2024-08-25T14:02:48Z</dcterms:modified>
</cp:coreProperties>
</file>