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5044" r:id="rId2"/>
  </p:sldMasterIdLst>
  <p:notesMasterIdLst>
    <p:notesMasterId r:id="rId22"/>
  </p:notesMasterIdLst>
  <p:sldIdLst>
    <p:sldId id="310" r:id="rId3"/>
    <p:sldId id="316" r:id="rId4"/>
    <p:sldId id="480" r:id="rId5"/>
    <p:sldId id="461" r:id="rId6"/>
    <p:sldId id="464" r:id="rId7"/>
    <p:sldId id="467" r:id="rId8"/>
    <p:sldId id="466" r:id="rId9"/>
    <p:sldId id="439" r:id="rId10"/>
    <p:sldId id="440" r:id="rId11"/>
    <p:sldId id="460" r:id="rId12"/>
    <p:sldId id="438" r:id="rId13"/>
    <p:sldId id="470" r:id="rId14"/>
    <p:sldId id="474" r:id="rId15"/>
    <p:sldId id="475" r:id="rId16"/>
    <p:sldId id="476" r:id="rId17"/>
    <p:sldId id="477" r:id="rId18"/>
    <p:sldId id="478" r:id="rId19"/>
    <p:sldId id="479" r:id="rId20"/>
    <p:sldId id="276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黑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Qing" initials="LQ" lastIdx="1" clrIdx="0">
    <p:extLst>
      <p:ext uri="{19B8F6BF-5375-455C-9EA6-DF929625EA0E}">
        <p15:presenceInfo xmlns:p15="http://schemas.microsoft.com/office/powerpoint/2012/main" userId="9129bd2ab51b1f8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00"/>
    <a:srgbClr val="808080"/>
    <a:srgbClr val="3F6D97"/>
    <a:srgbClr val="008080"/>
    <a:srgbClr val="00FF00"/>
    <a:srgbClr val="FFFF00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8" autoAdjust="0"/>
    <p:restoredTop sz="85327" autoAdjust="0"/>
  </p:normalViewPr>
  <p:slideViewPr>
    <p:cSldViewPr>
      <p:cViewPr varScale="1">
        <p:scale>
          <a:sx n="58" d="100"/>
          <a:sy n="58" d="100"/>
        </p:scale>
        <p:origin x="166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24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FC6FDAF-F388-4910-92C4-CF98A6E40003}" type="datetimeFigureOut">
              <a:rPr lang="zh-CN" altLang="en-US"/>
              <a:pPr>
                <a:defRPr/>
              </a:pPr>
              <a:t>2021/9/13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9182FC5-C057-4B02-8B5D-53FE6B0673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B872187-A9FC-43BB-AA08-23AAF461B293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DE03991-2376-4C7F-AC73-56A03393F9B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E03991-2376-4C7F-AC73-56A03393F9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黑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800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913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dirty="0"/>
              <a:t>层次性</a:t>
            </a:r>
            <a:endParaRPr lang="en-US" altLang="zh-CN" dirty="0"/>
          </a:p>
          <a:p>
            <a:pPr lvl="2"/>
            <a:r>
              <a:rPr lang="zh-CN" altLang="en-US" dirty="0"/>
              <a:t>数据 </a:t>
            </a:r>
            <a:r>
              <a:rPr lang="en-US" altLang="zh-CN" dirty="0"/>
              <a:t>—— </a:t>
            </a:r>
            <a:r>
              <a:rPr lang="zh-CN" altLang="en-US" dirty="0"/>
              <a:t>抽象化（泛化，类型无关）</a:t>
            </a:r>
            <a:endParaRPr lang="en-US" altLang="zh-CN" dirty="0"/>
          </a:p>
          <a:p>
            <a:pPr lvl="2"/>
            <a:r>
              <a:rPr lang="zh-CN" altLang="en-US" dirty="0"/>
              <a:t>结点 </a:t>
            </a:r>
            <a:r>
              <a:rPr lang="en-US" altLang="zh-CN" dirty="0"/>
              <a:t>—— </a:t>
            </a:r>
            <a:r>
              <a:rPr lang="zh-CN" altLang="en-US" dirty="0"/>
              <a:t>简单化（结构、功能）</a:t>
            </a:r>
            <a:endParaRPr lang="en-US" altLang="zh-CN" dirty="0"/>
          </a:p>
          <a:p>
            <a:pPr lvl="2"/>
            <a:r>
              <a:rPr lang="zh-CN" altLang="en-US" dirty="0"/>
              <a:t>链表 </a:t>
            </a:r>
            <a:r>
              <a:rPr lang="en-US" altLang="zh-CN" dirty="0"/>
              <a:t>—— </a:t>
            </a:r>
            <a:r>
              <a:rPr lang="zh-CN" altLang="en-US" dirty="0"/>
              <a:t>普适化（泛化）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36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252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082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89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345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354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387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182FC5-C057-4B02-8B5D-53FE6B06738E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091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9FE02F-BAE0-41CF-B690-D693916A36D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3264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" r:id="rId3" imgW="13003175" imgH="6933333" progId="">
                  <p:embed/>
                </p:oleObj>
              </mc:Choice>
              <mc:Fallback>
                <p:oleObj name="Image" r:id="rId3" imgW="13003175" imgH="6933333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6"/>
          <p:cNvSpPr>
            <a:spLocks noChangeArrowheads="1"/>
          </p:cNvSpPr>
          <p:nvPr/>
        </p:nvSpPr>
        <p:spPr bwMode="ltGray">
          <a:xfrm>
            <a:off x="0" y="4906963"/>
            <a:ext cx="9144000" cy="19510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1D528D"/>
              </a:solidFill>
            </a:endParaRPr>
          </a:p>
        </p:txBody>
      </p:sp>
      <p:pic>
        <p:nvPicPr>
          <p:cNvPr id="6" name="Picture 68" descr="5"/>
          <p:cNvPicPr>
            <a:picLocks noChangeAspect="1" noChangeArrowheads="1" noCrop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53213" y="1731963"/>
            <a:ext cx="1390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white">
          <a:xfrm>
            <a:off x="228600" y="2879725"/>
            <a:ext cx="8686800" cy="1555750"/>
          </a:xfrm>
          <a:ln w="9525">
            <a:noFill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>
              <a:defRPr sz="4800" b="0">
                <a:solidFill>
                  <a:srgbClr val="FFFF00"/>
                </a:solidFill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19200" y="5257800"/>
            <a:ext cx="6705600" cy="822325"/>
          </a:xfrm>
        </p:spPr>
        <p:txBody>
          <a:bodyPr lIns="91440">
            <a:spAutoFit/>
          </a:bodyPr>
          <a:lstStyle>
            <a:lvl1pPr marL="0" indent="0" algn="ctr">
              <a:buFont typeface="Wingdings" pitchFamily="2" charset="2"/>
              <a:buNone/>
              <a:defRPr sz="2400">
                <a:solidFill>
                  <a:srgbClr val="FFFF00"/>
                </a:solidFill>
              </a:defRPr>
            </a:lvl1pPr>
          </a:lstStyle>
          <a:p>
            <a:r>
              <a:rPr lang="zh-CN" altLang="en-US"/>
              <a:t>编辑副标题</a:t>
            </a:r>
            <a:r>
              <a:rPr lang="en-US" altLang="zh-CN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7EA1D-2DEC-4594-B1B3-B8369AFA87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A61CA-DA42-4664-AD1C-338436787E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3264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7" name="Object 65">
            <a:extLst>
              <a:ext uri="{FF2B5EF4-FFF2-40B4-BE49-F238E27FC236}">
                <a16:creationId xmlns:a16="http://schemas.microsoft.com/office/drawing/2014/main" id="{81BDE3F7-D225-4704-98B0-A1953A078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Image" r:id="rId3" imgW="13003175" imgH="6933333" progId="Photoshop.Image.7">
                  <p:embed/>
                </p:oleObj>
              </mc:Choice>
              <mc:Fallback>
                <p:oleObj name="Image" r:id="rId3" imgW="13003175" imgH="6933333" progId="Photoshop.Image.7">
                  <p:embed/>
                  <p:pic>
                    <p:nvPicPr>
                      <p:cNvPr id="3137" name="Object 65">
                        <a:extLst>
                          <a:ext uri="{FF2B5EF4-FFF2-40B4-BE49-F238E27FC236}">
                            <a16:creationId xmlns:a16="http://schemas.microsoft.com/office/drawing/2014/main" id="{81BDE3F7-D225-4704-98B0-A1953A078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8" name="Rectangle 66">
            <a:extLst>
              <a:ext uri="{FF2B5EF4-FFF2-40B4-BE49-F238E27FC236}">
                <a16:creationId xmlns:a16="http://schemas.microsoft.com/office/drawing/2014/main" id="{D39F9101-22F5-4197-8E3B-162CB9F4D6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4906963"/>
            <a:ext cx="9144000" cy="19510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CACE724-D941-42E5-9B82-27016D788D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white">
          <a:xfrm>
            <a:off x="228600" y="2879725"/>
            <a:ext cx="8686800" cy="1555750"/>
          </a:xfrm>
          <a:ln w="9525">
            <a:noFill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zh-CN" altLang="en-US" noProof="0"/>
              <a:t>标题</a:t>
            </a:r>
            <a:r>
              <a:rPr lang="en-US" altLang="zh-CN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2B3988E-B972-4D0A-AE95-1283B0904F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19200" y="5257800"/>
            <a:ext cx="6705600" cy="822325"/>
          </a:xfrm>
        </p:spPr>
        <p:txBody>
          <a:bodyPr lIns="91440">
            <a:spAutoFit/>
          </a:bodyPr>
          <a:lstStyle>
            <a:lvl1pPr marL="0" indent="0" algn="ctr">
              <a:buFont typeface="Wingdings" panose="05000000000000000000" pitchFamily="2" charset="2"/>
              <a:buNone/>
              <a:defRPr sz="2400">
                <a:solidFill>
                  <a:srgbClr val="FFFF00"/>
                </a:solidFill>
              </a:defRPr>
            </a:lvl1pPr>
          </a:lstStyle>
          <a:p>
            <a:pPr lvl="0"/>
            <a:r>
              <a:rPr lang="zh-CN" altLang="en-US" noProof="0"/>
              <a:t>编辑副标题</a:t>
            </a:r>
            <a:r>
              <a:rPr lang="en-US" altLang="zh-CN" noProof="0"/>
              <a:t>Click to edit Master subtitle style</a:t>
            </a:r>
          </a:p>
        </p:txBody>
      </p:sp>
      <p:pic>
        <p:nvPicPr>
          <p:cNvPr id="3140" name="Picture 68">
            <a:extLst>
              <a:ext uri="{FF2B5EF4-FFF2-40B4-BE49-F238E27FC236}">
                <a16:creationId xmlns:a16="http://schemas.microsoft.com/office/drawing/2014/main" id="{83FB10E0-AD62-4763-B38F-905A99CCCEE2}"/>
              </a:ext>
            </a:extLst>
          </p:cNvPr>
          <p:cNvPicPr>
            <a:picLocks noChangeAspect="1" noChangeArrowheads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213" y="1731963"/>
            <a:ext cx="13906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425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B4FD9-BBB3-4F6E-B17F-19EAE70B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8F521-6FC4-4F55-B131-810C187F6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011E0-9624-4071-AD28-BDD38AF29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4823E0-1F39-4A7E-8A1F-7D79A95A458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A146AF-55A9-48FE-888A-2AEF64F5D6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08620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5CEF8-DD4D-4505-A121-A377ED87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A200D-43BF-44F1-8726-042DAD3A1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48E0B5-0C06-42BB-AD05-D2F972D88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D3F8784-516E-40EE-88A0-F00209E23CA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6B59B-FD79-48A2-8F02-617C7F7445F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35411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7E70B-BEF3-497E-95EE-6DB167CF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7E94D-3BBD-4DEB-BA27-08A104BAC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229100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5460FB-CAB7-46B6-8E04-E768E3D1A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371600"/>
            <a:ext cx="4229100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9F65B1-BEC9-4C2A-BE1F-862964852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9BE3279-1181-4E55-BAA7-434234AAA52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B6A01966-FBCC-4042-A24A-D55D10FE05F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38222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A3828-C9CC-4E50-8047-A06FA656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4180E-8AA5-4388-8FD1-2BE89ABFD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65974D-E1CB-44AE-B4F4-151152559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B263AA-0422-449C-A8FE-0576751BB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2F38D7-6E12-4B6F-92EB-482C07C4E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CEAFA4-B870-4F54-8CA9-4A1A72C2E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A8C50D-D10F-4E90-84B4-8DBEAEC7DAD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31D00CF6-36C0-479D-BA45-0C7CCFA32C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12350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42135-6063-42D3-BF53-AAE0FC05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8E2F6A-1E83-40FD-B8F2-839DC7031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C1C7D5-8BC7-4441-A84E-55E1A403C4A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431A69-4F16-45D2-9C9E-B6BCF6AC1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7274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D9E87D-69C7-4399-A2D8-1FC5925D2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58CE69-F09F-4F71-A6F5-2533502162C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1D1BAA-7CBE-4130-8BE7-04FB75E651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46674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8180A-1397-40E9-A559-3CD90390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045D3-CC25-4711-8E39-69D81E6A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212CDC-6176-4BF3-8E3C-94D68DD74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35CB40-395E-4067-BFD5-EA679EBA7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AE308B3-7946-4154-9033-7A831768E04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C25A05B-13A3-4F6A-9041-0E1CDD943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930830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752A4-7588-4C15-BFAA-6E71AFE8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ED50A0-F153-415B-AEE3-7F657BE7B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1951EF-510C-4BA4-A4E4-933E24A21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B91663-95D7-4DB8-96C8-801E84C42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CD7C693-450A-4ADA-B3E6-47B56F30E61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2CFB8D6-C8DE-4821-A1EE-264E0B2266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00905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E8A49-81AA-4DD7-B03D-60B0F8FD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581332-9ED8-4C54-B57B-02C22F9C4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7404E-BD07-4804-93B9-6CD05FD7A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D39A9D-365F-41FF-840F-38A60F1BCAE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9DB0F7-4723-40A8-9937-FBA337461AB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7848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31750D-8CEE-4C6B-A121-07E6A65CF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38950" y="125413"/>
            <a:ext cx="2152650" cy="65801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F56E4E-E2D4-42F5-A86E-6F90AFF86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125413"/>
            <a:ext cx="6305550" cy="65801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13200-0DE7-4F2A-9CA4-48E828951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8C1F33-EAD1-43F6-9DF5-78F0E47E581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350C0-9414-4A86-90D4-3D744BB104F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5908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AutoShape 70"/>
          <p:cNvSpPr>
            <a:spLocks noChangeArrowheads="1"/>
          </p:cNvSpPr>
          <p:nvPr userDrawn="1"/>
        </p:nvSpPr>
        <p:spPr bwMode="auto">
          <a:xfrm>
            <a:off x="228600" y="1295400"/>
            <a:ext cx="8686800" cy="5257800"/>
          </a:xfrm>
          <a:prstGeom prst="flowChartAlternateProcess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1D528D"/>
              </a:solidFill>
            </a:endParaRPr>
          </a:p>
        </p:txBody>
      </p:sp>
      <p:sp>
        <p:nvSpPr>
          <p:cNvPr id="1092" name="Rectangle 68"/>
          <p:cNvSpPr>
            <a:spLocks noChangeArrowheads="1"/>
          </p:cNvSpPr>
          <p:nvPr/>
        </p:nvSpPr>
        <p:spPr bwMode="ltGray">
          <a:xfrm flipV="1">
            <a:off x="0" y="1065213"/>
            <a:ext cx="9144000" cy="873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1D528D"/>
              </a:solidFill>
            </a:endParaRPr>
          </a:p>
        </p:txBody>
      </p:sp>
      <p:sp>
        <p:nvSpPr>
          <p:cNvPr id="1093" name="Line 69"/>
          <p:cNvSpPr>
            <a:spLocks noChangeShapeType="1"/>
          </p:cNvSpPr>
          <p:nvPr/>
        </p:nvSpPr>
        <p:spPr bwMode="ltGray">
          <a:xfrm>
            <a:off x="0" y="1096963"/>
            <a:ext cx="9144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1D528D"/>
              </a:solidFill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610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 </a:t>
            </a:r>
            <a:r>
              <a:rPr lang="zh-CN" altLang="en-US"/>
              <a:t>一级</a:t>
            </a:r>
            <a:r>
              <a:rPr lang="en-US" altLang="zh-CN"/>
              <a:t>Click to edit Master text styles</a:t>
            </a:r>
          </a:p>
          <a:p>
            <a:pPr lvl="1"/>
            <a:r>
              <a:rPr lang="zh-CN" altLang="en-US"/>
              <a:t>二级</a:t>
            </a:r>
            <a:r>
              <a:rPr lang="en-US" altLang="zh-CN"/>
              <a:t>Second level</a:t>
            </a:r>
          </a:p>
          <a:p>
            <a:pPr lvl="2"/>
            <a:r>
              <a:rPr lang="zh-CN" altLang="en-US"/>
              <a:t>三级</a:t>
            </a:r>
            <a:r>
              <a:rPr lang="en-US" altLang="zh-CN"/>
              <a:t>Third level</a:t>
            </a:r>
          </a:p>
          <a:p>
            <a:pPr lvl="3"/>
            <a:r>
              <a:rPr lang="zh-CN" altLang="en-US"/>
              <a:t>四级</a:t>
            </a:r>
            <a:r>
              <a:rPr lang="en-US" altLang="zh-CN"/>
              <a:t>Fourth level</a:t>
            </a:r>
          </a:p>
          <a:p>
            <a:pPr lvl="4"/>
            <a:r>
              <a:rPr lang="zh-CN" altLang="en-US"/>
              <a:t>五级</a:t>
            </a:r>
            <a:r>
              <a:rPr lang="en-US" altLang="zh-CN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0025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1D528D"/>
                </a:solidFill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74F20A5-CB89-4921-8FEA-550853C08E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153400" cy="771525"/>
          </a:xfrm>
          <a:prstGeom prst="rect">
            <a:avLst/>
          </a:prstGeom>
          <a:noFill/>
          <a:ln w="12700">
            <a:solidFill>
              <a:srgbClr val="99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点击此处编辑标题</a:t>
            </a:r>
            <a:r>
              <a:rPr lang="en-US" altLang="zh-CN"/>
              <a:t>Title</a:t>
            </a:r>
          </a:p>
        </p:txBody>
      </p:sp>
      <p:sp>
        <p:nvSpPr>
          <p:cNvPr id="1095" name="Rectangle 7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1D528D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8" r:id="rId1"/>
    <p:sldLayoutId id="2147484997" r:id="rId2"/>
    <p:sldLayoutId id="214748503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itchFamily="49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&amp;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A3B1E"/>
        </a:buClr>
        <a:buFont typeface="Wingdings" pitchFamily="2" charset="2"/>
        <a:buChar char="Ø"/>
        <a:defRPr sz="2400" b="1">
          <a:solidFill>
            <a:schemeClr val="folHlink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120000"/>
        <a:buFont typeface="Webdings" pitchFamily="18" charset="2"/>
        <a:buChar char="4"/>
        <a:defRPr sz="2200" b="1">
          <a:solidFill>
            <a:schemeClr val="tx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85000"/>
        <a:buFont typeface="Wingdings" pitchFamily="2" charset="2"/>
        <a:buChar char="u"/>
        <a:defRPr sz="2000" b="1">
          <a:solidFill>
            <a:srgbClr val="3333FF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 2" pitchFamily="18" charset="2"/>
        <a:buChar char="ê"/>
        <a:defRPr sz="2000" b="1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 2" pitchFamily="18" charset="2"/>
        <a:buChar char="ê"/>
        <a:defRPr sz="2000" b="1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 2" pitchFamily="18" charset="2"/>
        <a:buChar char="ê"/>
        <a:defRPr sz="2000" b="1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 2" pitchFamily="18" charset="2"/>
        <a:buChar char="ê"/>
        <a:defRPr sz="2000" b="1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 2" pitchFamily="18" charset="2"/>
        <a:buChar char="ê"/>
        <a:defRPr sz="2000" b="1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AutoShape 70">
            <a:extLst>
              <a:ext uri="{FF2B5EF4-FFF2-40B4-BE49-F238E27FC236}">
                <a16:creationId xmlns:a16="http://schemas.microsoft.com/office/drawing/2014/main" id="{4187EC7D-D0CF-4D5F-ADCD-ECF0D751BB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1295400"/>
            <a:ext cx="8686800" cy="5257800"/>
          </a:xfrm>
          <a:prstGeom prst="flowChartAlternateProcess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2649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2" name="Rectangle 68">
            <a:extLst>
              <a:ext uri="{FF2B5EF4-FFF2-40B4-BE49-F238E27FC236}">
                <a16:creationId xmlns:a16="http://schemas.microsoft.com/office/drawing/2014/main" id="{117713CA-6C3E-4108-948D-DA32E962027B}"/>
              </a:ext>
            </a:extLst>
          </p:cNvPr>
          <p:cNvSpPr>
            <a:spLocks noChangeArrowheads="1"/>
          </p:cNvSpPr>
          <p:nvPr/>
        </p:nvSpPr>
        <p:spPr bwMode="ltGray">
          <a:xfrm flipV="1">
            <a:off x="0" y="1065213"/>
            <a:ext cx="9144000" cy="87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" name="Line 69">
            <a:extLst>
              <a:ext uri="{FF2B5EF4-FFF2-40B4-BE49-F238E27FC236}">
                <a16:creationId xmlns:a16="http://schemas.microsoft.com/office/drawing/2014/main" id="{ABA1197C-EAD6-485B-921B-5FD31F6B9BE8}"/>
              </a:ext>
            </a:extLst>
          </p:cNvPr>
          <p:cNvSpPr>
            <a:spLocks noChangeShapeType="1"/>
          </p:cNvSpPr>
          <p:nvPr/>
        </p:nvSpPr>
        <p:spPr bwMode="ltGray">
          <a:xfrm>
            <a:off x="0" y="1096963"/>
            <a:ext cx="9144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78CB2CC-032F-47D4-85B0-13C312CCF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610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 </a:t>
            </a:r>
            <a:r>
              <a:rPr lang="zh-CN" altLang="en-US"/>
              <a:t>一级</a:t>
            </a:r>
            <a:r>
              <a:rPr lang="en-US" altLang="zh-CN"/>
              <a:t>Click to edit Master text styles</a:t>
            </a:r>
          </a:p>
          <a:p>
            <a:pPr lvl="1"/>
            <a:r>
              <a:rPr lang="zh-CN" altLang="en-US"/>
              <a:t>二级</a:t>
            </a:r>
            <a:r>
              <a:rPr lang="en-US" altLang="zh-CN"/>
              <a:t>Second level</a:t>
            </a:r>
          </a:p>
          <a:p>
            <a:pPr lvl="2"/>
            <a:r>
              <a:rPr lang="zh-CN" altLang="en-US"/>
              <a:t>三级</a:t>
            </a:r>
            <a:r>
              <a:rPr lang="en-US" altLang="zh-CN"/>
              <a:t>Third level</a:t>
            </a:r>
          </a:p>
          <a:p>
            <a:pPr lvl="3"/>
            <a:r>
              <a:rPr lang="zh-CN" altLang="en-US"/>
              <a:t>四级</a:t>
            </a:r>
            <a:r>
              <a:rPr lang="en-US" altLang="zh-CN"/>
              <a:t>Fourth level</a:t>
            </a:r>
          </a:p>
          <a:p>
            <a:pPr lvl="4"/>
            <a:r>
              <a:rPr lang="zh-CN" altLang="en-US"/>
              <a:t>五级</a:t>
            </a:r>
            <a:r>
              <a:rPr lang="en-US" altLang="zh-CN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640C32-071F-46FE-992A-EB52E1EDEE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0025"/>
            <a:ext cx="21336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BA154D7E-4E15-41DC-A069-C1043CE2795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865E2109-7AF4-4E16-ABD7-D370674B9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153400" cy="771525"/>
          </a:xfrm>
          <a:prstGeom prst="rect">
            <a:avLst/>
          </a:prstGeom>
          <a:noFill/>
          <a:ln w="1270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点击此处编辑标题</a:t>
            </a:r>
            <a:r>
              <a:rPr lang="en-US" altLang="zh-CN"/>
              <a:t>Title</a:t>
            </a:r>
          </a:p>
        </p:txBody>
      </p:sp>
      <p:sp>
        <p:nvSpPr>
          <p:cNvPr id="1095" name="Rectangle 71">
            <a:extLst>
              <a:ext uri="{FF2B5EF4-FFF2-40B4-BE49-F238E27FC236}">
                <a16:creationId xmlns:a16="http://schemas.microsoft.com/office/drawing/2014/main" id="{22EE24DD-F4B2-427B-BC42-7E1103C96B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90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folHlink"/>
          </a:solidFill>
          <a:latin typeface="Courier New" panose="02070309020205020404" pitchFamily="49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&amp;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A3B1E"/>
        </a:buClr>
        <a:buFont typeface="Wingdings" panose="05000000000000000000" pitchFamily="2" charset="2"/>
        <a:buChar char="Ø"/>
        <a:defRPr sz="2400" b="1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C6600"/>
        </a:buClr>
        <a:buSzPct val="120000"/>
        <a:buFont typeface="Webdings" panose="05030102010509060703" pitchFamily="18" charset="2"/>
        <a:buChar char="4"/>
        <a:defRPr sz="22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C6600"/>
        </a:buClr>
        <a:buSzPct val="85000"/>
        <a:buFont typeface="Wingdings" panose="05000000000000000000" pitchFamily="2" charset="2"/>
        <a:buChar char="u"/>
        <a:defRPr sz="2000" b="1" kern="1200">
          <a:solidFill>
            <a:srgbClr val="3333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Font typeface="Wingdings 2" panose="05020102010507070707" pitchFamily="18" charset="2"/>
        <a:buChar char="ê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../&#12298;&#38754;&#21521;&#23545;&#35937;&#31243;&#24207;&#35774;&#35745;A&#12299;&#35838;&#31243;&#21450;&#23454;&#39564;&#23433;&#25490;/&#23454;&#39564;02/List_int/List_int.mdsp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hyperlink" Target="../&#12298;&#38754;&#21521;&#23545;&#35937;&#31243;&#24207;&#35774;&#35745;A&#12299;&#35838;&#31243;&#21450;&#23454;&#39564;&#23433;&#25490;/2020-2011&#31179;&#12298;&#38754;&#21521;&#23545;&#35937;&#31243;&#24207;&#35774;&#35745;A&#12299;&#25945;&#23398;&#23433;&#25490;20200808.docx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727372"/>
            <a:ext cx="6139822" cy="923330"/>
          </a:xfrm>
          <a:solidFill>
            <a:srgbClr val="DDDDDD">
              <a:alpha val="39999"/>
            </a:srgbClr>
          </a:solidFill>
        </p:spPr>
        <p:txBody>
          <a:bodyPr wrap="none"/>
          <a:lstStyle/>
          <a:p>
            <a:pPr eaLnBrk="1" hangingPunct="1">
              <a:defRPr/>
            </a:pPr>
            <a:r>
              <a:rPr lang="zh-CN" altLang="en-US" sz="5400" dirty="0"/>
              <a:t>面向对象程序设计</a:t>
            </a:r>
            <a:r>
              <a:rPr lang="en-US" altLang="zh-CN" sz="5400" b="1" dirty="0"/>
              <a:t>A</a:t>
            </a:r>
            <a:endParaRPr lang="zh-CN" altLang="en-US" sz="5400" b="1" dirty="0"/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white">
          <a:xfrm>
            <a:off x="304800" y="3200400"/>
            <a:ext cx="8534400" cy="1015663"/>
          </a:xfrm>
          <a:prstGeom prst="rect">
            <a:avLst/>
          </a:prstGeom>
          <a:solidFill>
            <a:srgbClr val="DDDDDD">
              <a:alpha val="39999"/>
            </a:srgbClr>
          </a:solidFill>
          <a:ln w="9525">
            <a:noFill/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6000" b="1" dirty="0">
                <a:solidFill>
                  <a:srgbClr val="FFFF00"/>
                </a:solidFill>
                <a:latin typeface="Courier New" pitchFamily="49" charset="0"/>
              </a:rPr>
              <a:t>C++</a:t>
            </a:r>
            <a:r>
              <a:rPr lang="zh-CN" altLang="en-US" sz="4800" b="1" dirty="0">
                <a:solidFill>
                  <a:srgbClr val="FFFF00"/>
                </a:solidFill>
                <a:latin typeface="Courier New" pitchFamily="49" charset="0"/>
              </a:rPr>
              <a:t>过程化程序设计</a:t>
            </a:r>
            <a:r>
              <a:rPr lang="en-US" altLang="zh-CN" sz="4800" b="1" dirty="0">
                <a:solidFill>
                  <a:srgbClr val="FFFF00"/>
                </a:solidFill>
                <a:latin typeface="Courier New" pitchFamily="49" charset="0"/>
              </a:rPr>
              <a:t>(</a:t>
            </a:r>
            <a:r>
              <a:rPr lang="zh-CN" altLang="en-US" sz="4800" b="1" dirty="0">
                <a:solidFill>
                  <a:srgbClr val="FFFF00"/>
                </a:solidFill>
                <a:latin typeface="Courier New" pitchFamily="49" charset="0"/>
              </a:rPr>
              <a:t>示例</a:t>
            </a:r>
            <a:r>
              <a:rPr lang="en-US" altLang="zh-CN" sz="4800" b="1" dirty="0">
                <a:solidFill>
                  <a:srgbClr val="FFFF00"/>
                </a:solidFill>
                <a:latin typeface="Courier New" pitchFamily="49" charset="0"/>
              </a:rPr>
              <a:t>)</a:t>
            </a:r>
            <a:endParaRPr lang="en-US" altLang="zh-CN" sz="6000" b="1" dirty="0">
              <a:solidFill>
                <a:srgbClr val="FFFF00"/>
              </a:solidFill>
              <a:latin typeface="Courier New" pitchFamily="49" charset="0"/>
            </a:endParaRPr>
          </a:p>
        </p:txBody>
      </p:sp>
      <p:sp>
        <p:nvSpPr>
          <p:cNvPr id="4" name="Rectangle 54"/>
          <p:cNvSpPr>
            <a:spLocks noChangeArrowheads="1"/>
          </p:cNvSpPr>
          <p:nvPr/>
        </p:nvSpPr>
        <p:spPr bwMode="white">
          <a:xfrm>
            <a:off x="3444875" y="4430345"/>
            <a:ext cx="2348720" cy="830997"/>
          </a:xfrm>
          <a:prstGeom prst="rect">
            <a:avLst/>
          </a:prstGeom>
          <a:solidFill>
            <a:schemeClr val="bg1">
              <a:alpha val="84000"/>
            </a:schemeClr>
          </a:solidFill>
          <a:ln w="28575">
            <a:solidFill>
              <a:srgbClr val="990000"/>
            </a:solidFill>
            <a:miter lim="800000"/>
            <a:headEnd/>
            <a:tailEnd/>
          </a:ln>
          <a:effectLst>
            <a:outerShdw dist="7184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4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4800" b="1" dirty="0">
                <a:solidFill>
                  <a:schemeClr val="tx2"/>
                </a:solidFill>
                <a:latin typeface="Times New Roman" pitchFamily="18" charset="0"/>
                <a:ea typeface="楷体" panose="02010609060101010101" pitchFamily="49" charset="-122"/>
              </a:rPr>
              <a:t>02</a:t>
            </a:r>
            <a:r>
              <a:rPr lang="zh-CN" altLang="en-US" sz="48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讲 </a:t>
            </a:r>
            <a:endParaRPr lang="zh-CN" altLang="en-US" sz="44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dirty="0"/>
              <a:t>一、过程化（面向过程）程序设计 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公式</a:t>
            </a:r>
            <a:endParaRPr lang="en-US" altLang="zh-CN" dirty="0">
              <a:solidFill>
                <a:srgbClr val="0000FF"/>
              </a:solidFill>
            </a:endParaRPr>
          </a:p>
          <a:p>
            <a:pPr lvl="2" eaLnBrk="1" hangingPunct="1"/>
            <a:r>
              <a:rPr lang="zh-CN" altLang="en-US" dirty="0">
                <a:solidFill>
                  <a:srgbClr val="0000FF"/>
                </a:solidFill>
              </a:rPr>
              <a:t>程序 </a:t>
            </a:r>
            <a:r>
              <a:rPr lang="en-US" altLang="zh-CN" dirty="0">
                <a:solidFill>
                  <a:srgbClr val="0000FF"/>
                </a:solidFill>
              </a:rPr>
              <a:t>= </a:t>
            </a:r>
            <a:r>
              <a:rPr lang="zh-CN" altLang="en-US" dirty="0">
                <a:solidFill>
                  <a:srgbClr val="0000FF"/>
                </a:solidFill>
              </a:rPr>
              <a:t>算法 </a:t>
            </a:r>
            <a:r>
              <a:rPr lang="en-US" altLang="zh-CN" dirty="0">
                <a:solidFill>
                  <a:srgbClr val="0000FF"/>
                </a:solidFill>
              </a:rPr>
              <a:t>+ </a:t>
            </a:r>
            <a:r>
              <a:rPr lang="zh-CN" altLang="en-US" dirty="0">
                <a:solidFill>
                  <a:srgbClr val="0000FF"/>
                </a:solidFill>
              </a:rPr>
              <a:t>数据结构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特点</a:t>
            </a:r>
            <a:endParaRPr lang="en-US" altLang="zh-CN" dirty="0">
              <a:solidFill>
                <a:srgbClr val="0000FF"/>
              </a:solidFill>
            </a:endParaRPr>
          </a:p>
          <a:p>
            <a:pPr lvl="2" eaLnBrk="1" hangingPunct="1"/>
            <a:r>
              <a:rPr lang="zh-CN" altLang="en-US" dirty="0">
                <a:solidFill>
                  <a:srgbClr val="0000FF"/>
                </a:solidFill>
              </a:rPr>
              <a:t>自顶向下，逐步求精</a:t>
            </a:r>
            <a:endParaRPr lang="en-US" altLang="zh-CN" dirty="0">
              <a:solidFill>
                <a:srgbClr val="0000FF"/>
              </a:solidFill>
            </a:endParaRPr>
          </a:p>
          <a:p>
            <a:pPr lvl="2" eaLnBrk="1" hangingPunct="1"/>
            <a:endParaRPr lang="en-US" altLang="zh-CN" dirty="0">
              <a:solidFill>
                <a:srgbClr val="0000FF"/>
              </a:solidFill>
            </a:endParaRPr>
          </a:p>
          <a:p>
            <a:pPr eaLnBrk="1" hangingPunct="1">
              <a:buNone/>
            </a:pPr>
            <a:r>
              <a:rPr lang="zh-CN" altLang="en-US" dirty="0"/>
              <a:t>二、示例</a:t>
            </a:r>
            <a:r>
              <a:rPr lang="en-US" altLang="zh-CN" dirty="0"/>
              <a:t>(</a:t>
            </a:r>
            <a:r>
              <a:rPr lang="zh-CN" altLang="en-US" dirty="0"/>
              <a:t>关键问题</a:t>
            </a:r>
            <a:r>
              <a:rPr lang="en-US" altLang="zh-CN" dirty="0"/>
              <a:t>:</a:t>
            </a:r>
            <a:r>
              <a:rPr lang="zh-CN" altLang="en-US" dirty="0"/>
              <a:t>什么数据结构</a:t>
            </a:r>
            <a:r>
              <a:rPr lang="en-US" altLang="zh-CN" dirty="0"/>
              <a:t>?</a:t>
            </a:r>
            <a:r>
              <a:rPr lang="zh-CN" altLang="en-US" dirty="0"/>
              <a:t>有哪些算法</a:t>
            </a:r>
            <a:r>
              <a:rPr lang="en-US" altLang="zh-CN" dirty="0"/>
              <a:t>?)</a:t>
            </a: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</a:rPr>
              <a:t>C-</a:t>
            </a:r>
            <a:r>
              <a:rPr lang="zh-CN" altLang="en-US" dirty="0">
                <a:solidFill>
                  <a:srgbClr val="0000FF"/>
                </a:solidFill>
              </a:rPr>
              <a:t>字符串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rgbClr val="0000FF"/>
                </a:solidFill>
              </a:rPr>
              <a:t>单向链表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dirty="0"/>
              <a:t>一</a:t>
            </a:r>
            <a:r>
              <a:rPr lang="zh-CN" altLang="en-US" dirty="0" smtClean="0"/>
              <a:t>、数据结构（</a:t>
            </a:r>
            <a:r>
              <a:rPr lang="en-US" altLang="zh-CN" dirty="0" smtClean="0"/>
              <a:t>Data Structure</a:t>
            </a:r>
            <a:r>
              <a:rPr lang="zh-CN" altLang="en-US" dirty="0" smtClean="0"/>
              <a:t>）是指与特定问题相关的某一数据集合的组织与表示，包含数据内容以及和该集合中数据之间的关系。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>
                <a:solidFill>
                  <a:srgbClr val="0000FF"/>
                </a:solidFill>
              </a:rPr>
              <a:t>链表；栈和队列；数组；串；树；图</a:t>
            </a:r>
            <a:endParaRPr lang="en-US" altLang="zh-CN" dirty="0">
              <a:solidFill>
                <a:srgbClr val="0000FF"/>
              </a:solidFill>
            </a:endParaRPr>
          </a:p>
          <a:p>
            <a:pPr eaLnBrk="1" hangingPunct="1">
              <a:buNone/>
            </a:pPr>
            <a:r>
              <a:rPr lang="zh-CN" altLang="en-US" dirty="0"/>
              <a:t>二</a:t>
            </a:r>
            <a:r>
              <a:rPr lang="zh-CN" altLang="en-US" dirty="0" smtClean="0"/>
              <a:t>、算法（</a:t>
            </a:r>
            <a:r>
              <a:rPr lang="en-US" altLang="zh-CN" dirty="0" smtClean="0"/>
              <a:t>Algorithm</a:t>
            </a:r>
            <a:r>
              <a:rPr lang="zh-CN" altLang="en-US" dirty="0" smtClean="0"/>
              <a:t>）是求解问题的一系列计算步骤，用来把输入数据转换成输出结果。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>
                <a:solidFill>
                  <a:srgbClr val="0000FF"/>
                </a:solidFill>
              </a:rPr>
              <a:t>算法和程序是有区别的：算法侧重于对解决问题的方法的描述；程序指使用某种计算机语言对一个算法的具体实现。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72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BCE86-8BF9-474D-94DA-C1696192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C-</a:t>
            </a:r>
            <a:r>
              <a:rPr lang="zh-CN" altLang="en-US" dirty="0"/>
              <a:t>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EE353-C868-4193-8F32-593B84130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610600" cy="53340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存储</a:t>
            </a:r>
            <a:r>
              <a:rPr lang="en-US" altLang="zh-CN" dirty="0"/>
              <a:t>C-</a:t>
            </a:r>
            <a:r>
              <a:rPr lang="zh-CN" altLang="en-US" dirty="0"/>
              <a:t>字符串采用什么数据结构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线性结构（顺序结构）</a:t>
            </a:r>
            <a:endParaRPr lang="en-US" altLang="zh-CN" dirty="0"/>
          </a:p>
          <a:p>
            <a:pPr lvl="2"/>
            <a:r>
              <a:rPr lang="zh-CN" altLang="en-US" dirty="0"/>
              <a:t>连续存放</a:t>
            </a:r>
            <a:r>
              <a:rPr lang="en-US" altLang="zh-CN" dirty="0"/>
              <a:t>? </a:t>
            </a:r>
            <a:r>
              <a:rPr lang="zh-CN" altLang="en-US" dirty="0"/>
              <a:t>链式存放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非线性结构</a:t>
            </a:r>
            <a:endParaRPr lang="en-US" altLang="zh-CN" dirty="0"/>
          </a:p>
          <a:p>
            <a:pPr lvl="2"/>
            <a:r>
              <a:rPr lang="en-US" altLang="zh-CN" dirty="0"/>
              <a:t>?</a:t>
            </a:r>
          </a:p>
          <a:p>
            <a:r>
              <a:rPr lang="en-US" altLang="zh-CN" dirty="0"/>
              <a:t> C-</a:t>
            </a:r>
            <a:r>
              <a:rPr lang="zh-CN" altLang="en-US" dirty="0"/>
              <a:t>字符串处理需要哪些方法（算法、操作）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求长度</a:t>
            </a:r>
            <a:endParaRPr lang="en-US" altLang="zh-CN" dirty="0"/>
          </a:p>
          <a:p>
            <a:pPr lvl="1"/>
            <a:r>
              <a:rPr lang="zh-CN" altLang="en-US" dirty="0"/>
              <a:t>赋值（拷贝）</a:t>
            </a:r>
            <a:endParaRPr lang="en-US" altLang="zh-CN" dirty="0"/>
          </a:p>
          <a:p>
            <a:pPr lvl="1"/>
            <a:r>
              <a:rPr lang="zh-CN" altLang="en-US" dirty="0"/>
              <a:t>算术运算（拼接）</a:t>
            </a:r>
            <a:endParaRPr lang="en-US" altLang="zh-CN" dirty="0"/>
          </a:p>
          <a:p>
            <a:pPr lvl="1"/>
            <a:r>
              <a:rPr lang="zh-CN" altLang="en-US" dirty="0"/>
              <a:t>关系运算（比较）</a:t>
            </a:r>
            <a:endParaRPr lang="en-US" altLang="zh-CN" dirty="0"/>
          </a:p>
          <a:p>
            <a:pPr lvl="1"/>
            <a:r>
              <a:rPr lang="en-US" altLang="zh-CN" dirty="0"/>
              <a:t>I/O</a:t>
            </a:r>
          </a:p>
          <a:p>
            <a:pPr lvl="1"/>
            <a:r>
              <a:rPr lang="en-US" altLang="zh-CN" dirty="0">
                <a:latin typeface="+mn-ea"/>
              </a:rPr>
              <a:t>……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FD356CD-6919-463C-A5BC-075CAEE73F79}"/>
              </a:ext>
            </a:extLst>
          </p:cNvPr>
          <p:cNvSpPr/>
          <p:nvPr/>
        </p:nvSpPr>
        <p:spPr>
          <a:xfrm>
            <a:off x="1600200" y="2133600"/>
            <a:ext cx="1447800" cy="609600"/>
          </a:xfrm>
          <a:prstGeom prst="ellipse">
            <a:avLst/>
          </a:prstGeom>
          <a:noFill/>
          <a:ln w="5080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CC318F56-6FB8-4C7D-8965-ABCCAE6B55A4}"/>
              </a:ext>
            </a:extLst>
          </p:cNvPr>
          <p:cNvSpPr/>
          <p:nvPr/>
        </p:nvSpPr>
        <p:spPr>
          <a:xfrm>
            <a:off x="4127863" y="4191000"/>
            <a:ext cx="4495800" cy="2133600"/>
          </a:xfrm>
          <a:prstGeom prst="wedgeRoundRectCallout">
            <a:avLst>
              <a:gd name="adj1" fmla="val -59309"/>
              <a:gd name="adj2" fmla="val -42345"/>
              <a:gd name="adj3" fmla="val 16667"/>
            </a:avLst>
          </a:prstGeom>
          <a:noFill/>
          <a:ln w="5080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400" b="1" dirty="0">
                <a:solidFill>
                  <a:schemeClr val="tx2"/>
                </a:solidFill>
              </a:rPr>
              <a:t>C</a:t>
            </a:r>
            <a:r>
              <a:rPr lang="zh-CN" altLang="en-US" sz="2400" dirty="0">
                <a:solidFill>
                  <a:schemeClr val="tx2"/>
                </a:solidFill>
              </a:rPr>
              <a:t>语言并没有字符串数据类型。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/>
            <a:r>
              <a:rPr lang="zh-CN" altLang="en-US" sz="2400" dirty="0">
                <a:solidFill>
                  <a:schemeClr val="tx2"/>
                </a:solidFill>
              </a:rPr>
              <a:t>编译器内部没有提供彻底的解决方案。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/>
            <a:r>
              <a:rPr lang="zh-CN" altLang="en-US" sz="2400" dirty="0">
                <a:solidFill>
                  <a:schemeClr val="tx2"/>
                </a:solidFill>
              </a:rPr>
              <a:t>由程序员在逻辑上控制</a:t>
            </a:r>
            <a:r>
              <a:rPr lang="en-US" altLang="zh-CN" sz="2400" b="1" dirty="0">
                <a:solidFill>
                  <a:schemeClr val="tx2"/>
                </a:solidFill>
              </a:rPr>
              <a:t>char</a:t>
            </a:r>
            <a:r>
              <a:rPr lang="zh-CN" altLang="en-US" sz="2400" b="1" dirty="0">
                <a:solidFill>
                  <a:schemeClr val="tx2"/>
                </a:solidFill>
              </a:rPr>
              <a:t>*</a:t>
            </a:r>
            <a:r>
              <a:rPr lang="zh-CN" altLang="en-US" sz="2400" dirty="0">
                <a:solidFill>
                  <a:schemeClr val="tx2"/>
                </a:solidFill>
              </a:rPr>
              <a:t>类型。</a:t>
            </a:r>
          </a:p>
        </p:txBody>
      </p:sp>
    </p:spTree>
    <p:extLst>
      <p:ext uri="{BB962C8B-B14F-4D97-AF65-F5344CB8AC3E}">
        <p14:creationId xmlns:p14="http://schemas.microsoft.com/office/powerpoint/2010/main" val="205234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BCE86-8BF9-474D-94DA-C1696192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单向链表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EE353-C868-4193-8F32-593B84130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610600" cy="53340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单向链表的数据结构</a:t>
            </a:r>
            <a:endParaRPr lang="en-US" altLang="zh-CN" dirty="0"/>
          </a:p>
          <a:p>
            <a:pPr lvl="1"/>
            <a:r>
              <a:rPr lang="zh-CN" altLang="en-US" dirty="0"/>
              <a:t>线性结构（顺序结构）</a:t>
            </a:r>
            <a:endParaRPr lang="en-US" altLang="zh-CN" dirty="0"/>
          </a:p>
          <a:p>
            <a:pPr lvl="2"/>
            <a:r>
              <a:rPr lang="zh-CN" altLang="en-US" dirty="0"/>
              <a:t>链式存放</a:t>
            </a:r>
            <a:endParaRPr lang="en-US" altLang="zh-CN" dirty="0"/>
          </a:p>
          <a:p>
            <a:pPr lvl="1"/>
            <a:r>
              <a:rPr lang="zh-CN" altLang="en-US" dirty="0"/>
              <a:t>层次性</a:t>
            </a:r>
            <a:endParaRPr lang="en-US" altLang="zh-CN" dirty="0"/>
          </a:p>
          <a:p>
            <a:pPr lvl="2"/>
            <a:r>
              <a:rPr lang="zh-CN" altLang="en-US" dirty="0"/>
              <a:t>数据</a:t>
            </a:r>
            <a:endParaRPr lang="en-US" altLang="zh-CN" dirty="0"/>
          </a:p>
          <a:p>
            <a:pPr lvl="2"/>
            <a:r>
              <a:rPr lang="zh-CN" altLang="en-US" dirty="0"/>
              <a:t>结点</a:t>
            </a:r>
            <a:endParaRPr lang="en-US" altLang="zh-CN" dirty="0"/>
          </a:p>
          <a:p>
            <a:pPr lvl="2"/>
            <a:r>
              <a:rPr lang="zh-CN" altLang="en-US" dirty="0"/>
              <a:t>链表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单向链表通用操作应该有哪些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创建</a:t>
            </a:r>
            <a:r>
              <a:rPr lang="en-US" altLang="zh-CN" dirty="0"/>
              <a:t>/</a:t>
            </a:r>
            <a:r>
              <a:rPr lang="zh-CN" altLang="en-US" dirty="0"/>
              <a:t>销毁链表</a:t>
            </a:r>
            <a:endParaRPr lang="en-US" altLang="zh-CN" dirty="0"/>
          </a:p>
          <a:p>
            <a:pPr lvl="1"/>
            <a:r>
              <a:rPr lang="zh-CN" altLang="en-US" dirty="0"/>
              <a:t>结点增、删、改、查</a:t>
            </a:r>
            <a:endParaRPr lang="en-US" altLang="zh-CN" dirty="0"/>
          </a:p>
          <a:p>
            <a:pPr lvl="1"/>
            <a:r>
              <a:rPr lang="zh-CN" altLang="en-US" dirty="0"/>
              <a:t>结点</a:t>
            </a:r>
            <a:r>
              <a:rPr lang="en-US" altLang="zh-CN" dirty="0"/>
              <a:t>I/O</a:t>
            </a:r>
            <a:r>
              <a:rPr lang="zh-CN" altLang="en-US" dirty="0"/>
              <a:t>、链表</a:t>
            </a:r>
            <a:r>
              <a:rPr lang="en-US" altLang="zh-CN" dirty="0"/>
              <a:t>I/O</a:t>
            </a:r>
            <a:r>
              <a:rPr lang="zh-CN" altLang="en-US" dirty="0"/>
              <a:t>（包括文件</a:t>
            </a:r>
            <a:r>
              <a:rPr lang="en-US" altLang="zh-CN" dirty="0"/>
              <a:t>I/O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>
                <a:latin typeface="+mn-ea"/>
              </a:rPr>
              <a:t>……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FD356CD-6919-463C-A5BC-075CAEE73F79}"/>
              </a:ext>
            </a:extLst>
          </p:cNvPr>
          <p:cNvSpPr/>
          <p:nvPr/>
        </p:nvSpPr>
        <p:spPr>
          <a:xfrm>
            <a:off x="1600200" y="2133600"/>
            <a:ext cx="1447800" cy="609600"/>
          </a:xfrm>
          <a:prstGeom prst="ellipse">
            <a:avLst/>
          </a:prstGeom>
          <a:noFill/>
          <a:ln w="5080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1889B6E-7B0D-479C-A0DF-744A01261EF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574074"/>
            <a:ext cx="1546225" cy="1430338"/>
            <a:chOff x="1736" y="2726"/>
            <a:chExt cx="974" cy="901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874EB93-3307-467C-8B20-C7CAF3E50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2726"/>
              <a:ext cx="633" cy="901"/>
              <a:chOff x="1736" y="2726"/>
              <a:chExt cx="633" cy="90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9680E1-1D85-47CC-B115-70F68145A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948B792-8A0A-4F2E-BE1C-F50CA595F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</a:p>
            </p:txBody>
          </p:sp>
        </p:grp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ED33ED9D-0B3F-454E-9BF2-BEF3F0D08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3513"/>
              <a:ext cx="341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37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FF8D8BBD-A1C7-4F16-822B-51BFFA61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dirty="0"/>
              <a:t>链表的概念（不带头结点）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711CC3C6-A1E6-41B0-85A6-5DA6D248F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975" y="3048000"/>
            <a:ext cx="8810625" cy="3657600"/>
          </a:xfrm>
          <a:ln w="28575">
            <a:solidFill>
              <a:srgbClr val="99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不带头结点的单向链表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首结点的 </a:t>
            </a:r>
            <a:r>
              <a:rPr lang="en-US" altLang="zh-CN" dirty="0"/>
              <a:t>next </a:t>
            </a:r>
            <a:r>
              <a:rPr lang="zh-CN" altLang="en-US" dirty="0"/>
              <a:t>指针存放第2个结点的地址值；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第2个结点的 </a:t>
            </a:r>
            <a:r>
              <a:rPr lang="en-US" altLang="zh-CN" dirty="0"/>
              <a:t>next </a:t>
            </a:r>
            <a:r>
              <a:rPr lang="zh-CN" altLang="en-US" dirty="0"/>
              <a:t>指针存放第3个结点地址值；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/>
              <a:t>尾结点的 </a:t>
            </a:r>
            <a:r>
              <a:rPr lang="en-US" altLang="zh-CN" dirty="0"/>
              <a:t>next </a:t>
            </a:r>
            <a:r>
              <a:rPr lang="zh-CN" altLang="en-US" dirty="0"/>
              <a:t>指针赋值空地址(</a:t>
            </a:r>
            <a:r>
              <a:rPr lang="en-US" altLang="zh-CN" dirty="0"/>
              <a:t>NULL)。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单向链表三要素（隐藏</a:t>
            </a:r>
            <a:r>
              <a:rPr lang="zh-CN" altLang="en-US" dirty="0">
                <a:solidFill>
                  <a:srgbClr val="990000"/>
                </a:solidFill>
                <a:ea typeface="楷体_GB2312" pitchFamily="49" charset="-122"/>
              </a:rPr>
              <a:t>数据类型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990000"/>
                </a:solidFill>
                <a:ea typeface="楷体_GB2312" pitchFamily="49" charset="-122"/>
              </a:rPr>
              <a:t>结点个数</a:t>
            </a:r>
            <a:r>
              <a:rPr lang="zh-CN" altLang="en-US" dirty="0"/>
              <a:t>两要素）</a:t>
            </a:r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链表由其</a:t>
            </a:r>
            <a:r>
              <a:rPr lang="zh-CN" altLang="en-US" sz="2800" dirty="0">
                <a:solidFill>
                  <a:srgbClr val="990000"/>
                </a:solidFill>
                <a:ea typeface="楷体_GB2312" pitchFamily="49" charset="-122"/>
              </a:rPr>
              <a:t>首结点地址</a:t>
            </a:r>
            <a:r>
              <a:rPr lang="zh-CN" altLang="en-US" sz="2800" dirty="0"/>
              <a:t>决定（可类比字符串）</a:t>
            </a:r>
          </a:p>
        </p:txBody>
      </p:sp>
      <p:sp>
        <p:nvSpPr>
          <p:cNvPr id="288772" name="Line 4">
            <a:extLst>
              <a:ext uri="{FF2B5EF4-FFF2-40B4-BE49-F238E27FC236}">
                <a16:creationId xmlns:a16="http://schemas.microsoft.com/office/drawing/2014/main" id="{8643E37E-DA60-499A-B8F3-DFC3F246F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50" y="1503363"/>
            <a:ext cx="541338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288773" name="AutoShape 5">
            <a:extLst>
              <a:ext uri="{FF2B5EF4-FFF2-40B4-BE49-F238E27FC236}">
                <a16:creationId xmlns:a16="http://schemas.microsoft.com/office/drawing/2014/main" id="{C3DA5B56-7FB5-4376-8F42-483A1F50F6D9}"/>
              </a:ext>
            </a:extLst>
          </p:cNvPr>
          <p:cNvCxnSpPr>
            <a:cxnSpLocks noChangeShapeType="1"/>
            <a:stCxn id="288777" idx="3"/>
            <a:endCxn id="288783" idx="0"/>
          </p:cNvCxnSpPr>
          <p:nvPr/>
        </p:nvCxnSpPr>
        <p:spPr bwMode="auto">
          <a:xfrm flipV="1">
            <a:off x="1681163" y="1476375"/>
            <a:ext cx="782637" cy="1265238"/>
          </a:xfrm>
          <a:prstGeom prst="bentConnector4">
            <a:avLst>
              <a:gd name="adj1" fmla="val 48884"/>
              <a:gd name="adj2" fmla="val 9887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74" name="Group 6">
            <a:extLst>
              <a:ext uri="{FF2B5EF4-FFF2-40B4-BE49-F238E27FC236}">
                <a16:creationId xmlns:a16="http://schemas.microsoft.com/office/drawing/2014/main" id="{FBE35C8F-4341-4381-8FE8-23037B7622A5}"/>
              </a:ext>
            </a:extLst>
          </p:cNvPr>
          <p:cNvGrpSpPr>
            <a:grpSpLocks/>
          </p:cNvGrpSpPr>
          <p:nvPr/>
        </p:nvGrpSpPr>
        <p:grpSpPr bwMode="auto">
          <a:xfrm>
            <a:off x="661988" y="1490663"/>
            <a:ext cx="1004887" cy="1430337"/>
            <a:chOff x="633" y="1209"/>
            <a:chExt cx="633" cy="901"/>
          </a:xfrm>
        </p:grpSpPr>
        <p:grpSp>
          <p:nvGrpSpPr>
            <p:cNvPr id="288775" name="Group 7">
              <a:extLst>
                <a:ext uri="{FF2B5EF4-FFF2-40B4-BE49-F238E27FC236}">
                  <a16:creationId xmlns:a16="http://schemas.microsoft.com/office/drawing/2014/main" id="{13955392-2CC8-44CB-BB51-8E5A79BB2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76" name="Rectangle 8">
                <a:extLst>
                  <a:ext uri="{FF2B5EF4-FFF2-40B4-BE49-F238E27FC236}">
                    <a16:creationId xmlns:a16="http://schemas.microsoft.com/office/drawing/2014/main" id="{842F1102-9A80-4028-9F47-AC650D9DB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77" name="Rectangle 9">
                <a:extLst>
                  <a:ext uri="{FF2B5EF4-FFF2-40B4-BE49-F238E27FC236}">
                    <a16:creationId xmlns:a16="http://schemas.microsoft.com/office/drawing/2014/main" id="{39855FAF-FC76-436E-80F8-F107FDA3A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78" name="Line 10">
              <a:extLst>
                <a:ext uri="{FF2B5EF4-FFF2-40B4-BE49-F238E27FC236}">
                  <a16:creationId xmlns:a16="http://schemas.microsoft.com/office/drawing/2014/main" id="{CC8F1C52-54FB-4C21-B481-7393F3FC1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79" name="Group 11">
            <a:extLst>
              <a:ext uri="{FF2B5EF4-FFF2-40B4-BE49-F238E27FC236}">
                <a16:creationId xmlns:a16="http://schemas.microsoft.com/office/drawing/2014/main" id="{940C544E-B5C4-477C-8A2D-E053C2672023}"/>
              </a:ext>
            </a:extLst>
          </p:cNvPr>
          <p:cNvGrpSpPr>
            <a:grpSpLocks/>
          </p:cNvGrpSpPr>
          <p:nvPr/>
        </p:nvGrpSpPr>
        <p:grpSpPr bwMode="auto">
          <a:xfrm>
            <a:off x="2463800" y="1490663"/>
            <a:ext cx="1004888" cy="1430337"/>
            <a:chOff x="633" y="1209"/>
            <a:chExt cx="633" cy="901"/>
          </a:xfrm>
        </p:grpSpPr>
        <p:grpSp>
          <p:nvGrpSpPr>
            <p:cNvPr id="288780" name="Group 12">
              <a:extLst>
                <a:ext uri="{FF2B5EF4-FFF2-40B4-BE49-F238E27FC236}">
                  <a16:creationId xmlns:a16="http://schemas.microsoft.com/office/drawing/2014/main" id="{DFAF0BFD-BF2B-4F2B-B4E4-AE3CF500A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1" name="Rectangle 13">
                <a:extLst>
                  <a:ext uri="{FF2B5EF4-FFF2-40B4-BE49-F238E27FC236}">
                    <a16:creationId xmlns:a16="http://schemas.microsoft.com/office/drawing/2014/main" id="{E83C3472-3C38-4842-9EF2-DCE7048BF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2" name="Rectangle 14">
                <a:extLst>
                  <a:ext uri="{FF2B5EF4-FFF2-40B4-BE49-F238E27FC236}">
                    <a16:creationId xmlns:a16="http://schemas.microsoft.com/office/drawing/2014/main" id="{B69CB63F-D1BD-460B-A01F-0E6560A91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3" name="Line 15">
              <a:extLst>
                <a:ext uri="{FF2B5EF4-FFF2-40B4-BE49-F238E27FC236}">
                  <a16:creationId xmlns:a16="http://schemas.microsoft.com/office/drawing/2014/main" id="{52B66797-FF31-4BF1-B8BC-051CE9F0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84" name="AutoShape 16">
            <a:extLst>
              <a:ext uri="{FF2B5EF4-FFF2-40B4-BE49-F238E27FC236}">
                <a16:creationId xmlns:a16="http://schemas.microsoft.com/office/drawing/2014/main" id="{DD3309FE-28BF-4050-9548-8E3A4BCDC27A}"/>
              </a:ext>
            </a:extLst>
          </p:cNvPr>
          <p:cNvCxnSpPr>
            <a:cxnSpLocks noChangeShapeType="1"/>
            <a:stCxn id="288782" idx="3"/>
            <a:endCxn id="288789" idx="0"/>
          </p:cNvCxnSpPr>
          <p:nvPr/>
        </p:nvCxnSpPr>
        <p:spPr bwMode="auto">
          <a:xfrm flipV="1">
            <a:off x="3482975" y="1490663"/>
            <a:ext cx="809625" cy="1250950"/>
          </a:xfrm>
          <a:prstGeom prst="bentConnector4">
            <a:avLst>
              <a:gd name="adj1" fmla="val 49019"/>
              <a:gd name="adj2" fmla="val 98981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85" name="Group 17">
            <a:extLst>
              <a:ext uri="{FF2B5EF4-FFF2-40B4-BE49-F238E27FC236}">
                <a16:creationId xmlns:a16="http://schemas.microsoft.com/office/drawing/2014/main" id="{7A539BD7-2AE4-4606-A440-D64180367B0C}"/>
              </a:ext>
            </a:extLst>
          </p:cNvPr>
          <p:cNvGrpSpPr>
            <a:grpSpLocks/>
          </p:cNvGrpSpPr>
          <p:nvPr/>
        </p:nvGrpSpPr>
        <p:grpSpPr bwMode="auto">
          <a:xfrm>
            <a:off x="4292600" y="1504950"/>
            <a:ext cx="1004888" cy="1430338"/>
            <a:chOff x="633" y="1209"/>
            <a:chExt cx="633" cy="901"/>
          </a:xfrm>
        </p:grpSpPr>
        <p:grpSp>
          <p:nvGrpSpPr>
            <p:cNvPr id="288786" name="Group 18">
              <a:extLst>
                <a:ext uri="{FF2B5EF4-FFF2-40B4-BE49-F238E27FC236}">
                  <a16:creationId xmlns:a16="http://schemas.microsoft.com/office/drawing/2014/main" id="{0435B68B-3A17-4E05-9F59-0143DC895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7" name="Rectangle 19">
                <a:extLst>
                  <a:ext uri="{FF2B5EF4-FFF2-40B4-BE49-F238E27FC236}">
                    <a16:creationId xmlns:a16="http://schemas.microsoft.com/office/drawing/2014/main" id="{74897172-24D2-47FB-8FDA-B24BD1075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8" name="Rectangle 20">
                <a:extLst>
                  <a:ext uri="{FF2B5EF4-FFF2-40B4-BE49-F238E27FC236}">
                    <a16:creationId xmlns:a16="http://schemas.microsoft.com/office/drawing/2014/main" id="{45046B5B-444D-4FE6-BF2B-427FC0B14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9" name="Line 21">
              <a:extLst>
                <a:ext uri="{FF2B5EF4-FFF2-40B4-BE49-F238E27FC236}">
                  <a16:creationId xmlns:a16="http://schemas.microsoft.com/office/drawing/2014/main" id="{D0CBEAFF-ABF7-44AB-8489-19A66D84E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90" name="AutoShape 22">
            <a:extLst>
              <a:ext uri="{FF2B5EF4-FFF2-40B4-BE49-F238E27FC236}">
                <a16:creationId xmlns:a16="http://schemas.microsoft.com/office/drawing/2014/main" id="{E409A149-EBB7-449F-8822-D161F75F4571}"/>
              </a:ext>
            </a:extLst>
          </p:cNvPr>
          <p:cNvCxnSpPr>
            <a:cxnSpLocks noChangeShapeType="1"/>
            <a:stCxn id="288788" idx="3"/>
            <a:endCxn id="288795" idx="0"/>
          </p:cNvCxnSpPr>
          <p:nvPr/>
        </p:nvCxnSpPr>
        <p:spPr bwMode="auto">
          <a:xfrm flipV="1">
            <a:off x="5311775" y="1503363"/>
            <a:ext cx="809625" cy="1252537"/>
          </a:xfrm>
          <a:prstGeom prst="bentConnector4">
            <a:avLst>
              <a:gd name="adj1" fmla="val 49019"/>
              <a:gd name="adj2" fmla="val 101014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91" name="Group 23">
            <a:extLst>
              <a:ext uri="{FF2B5EF4-FFF2-40B4-BE49-F238E27FC236}">
                <a16:creationId xmlns:a16="http://schemas.microsoft.com/office/drawing/2014/main" id="{1A3BDE74-4430-4C55-B093-681E5260486B}"/>
              </a:ext>
            </a:extLst>
          </p:cNvPr>
          <p:cNvGrpSpPr>
            <a:grpSpLocks/>
          </p:cNvGrpSpPr>
          <p:nvPr/>
        </p:nvGrpSpPr>
        <p:grpSpPr bwMode="auto">
          <a:xfrm>
            <a:off x="6121400" y="1517650"/>
            <a:ext cx="1004888" cy="1430338"/>
            <a:chOff x="633" y="1209"/>
            <a:chExt cx="633" cy="901"/>
          </a:xfrm>
        </p:grpSpPr>
        <p:grpSp>
          <p:nvGrpSpPr>
            <p:cNvPr id="288792" name="Group 24">
              <a:extLst>
                <a:ext uri="{FF2B5EF4-FFF2-40B4-BE49-F238E27FC236}">
                  <a16:creationId xmlns:a16="http://schemas.microsoft.com/office/drawing/2014/main" id="{34F30764-DB68-41AC-B3B9-E500DADED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3" name="Rectangle 25">
                <a:extLst>
                  <a:ext uri="{FF2B5EF4-FFF2-40B4-BE49-F238E27FC236}">
                    <a16:creationId xmlns:a16="http://schemas.microsoft.com/office/drawing/2014/main" id="{2C013BB9-49D3-4576-9F73-EE20A2F5D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94" name="Rectangle 26">
                <a:extLst>
                  <a:ext uri="{FF2B5EF4-FFF2-40B4-BE49-F238E27FC236}">
                    <a16:creationId xmlns:a16="http://schemas.microsoft.com/office/drawing/2014/main" id="{14882ED2-2169-4B3E-8B9F-DD29E08EA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95" name="Line 27">
              <a:extLst>
                <a:ext uri="{FF2B5EF4-FFF2-40B4-BE49-F238E27FC236}">
                  <a16:creationId xmlns:a16="http://schemas.microsoft.com/office/drawing/2014/main" id="{1DCF3017-FEAE-4995-9337-CACA6AD83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96" name="AutoShape 28">
            <a:extLst>
              <a:ext uri="{FF2B5EF4-FFF2-40B4-BE49-F238E27FC236}">
                <a16:creationId xmlns:a16="http://schemas.microsoft.com/office/drawing/2014/main" id="{3F37F1E2-B2CA-4207-8157-3A7FD7CFD30B}"/>
              </a:ext>
            </a:extLst>
          </p:cNvPr>
          <p:cNvCxnSpPr>
            <a:cxnSpLocks noChangeShapeType="1"/>
            <a:stCxn id="288794" idx="3"/>
            <a:endCxn id="288801" idx="0"/>
          </p:cNvCxnSpPr>
          <p:nvPr/>
        </p:nvCxnSpPr>
        <p:spPr bwMode="auto">
          <a:xfrm flipV="1">
            <a:off x="7140575" y="1503363"/>
            <a:ext cx="795338" cy="1265237"/>
          </a:xfrm>
          <a:prstGeom prst="bentConnector4">
            <a:avLst>
              <a:gd name="adj1" fmla="val 48903"/>
              <a:gd name="adj2" fmla="val 98616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97" name="Group 29">
            <a:extLst>
              <a:ext uri="{FF2B5EF4-FFF2-40B4-BE49-F238E27FC236}">
                <a16:creationId xmlns:a16="http://schemas.microsoft.com/office/drawing/2014/main" id="{FDC43897-B358-4074-B4A0-4C8CDB0C7C22}"/>
              </a:ext>
            </a:extLst>
          </p:cNvPr>
          <p:cNvGrpSpPr>
            <a:grpSpLocks/>
          </p:cNvGrpSpPr>
          <p:nvPr/>
        </p:nvGrpSpPr>
        <p:grpSpPr bwMode="auto">
          <a:xfrm>
            <a:off x="7935913" y="1517650"/>
            <a:ext cx="1004887" cy="1430338"/>
            <a:chOff x="633" y="1209"/>
            <a:chExt cx="633" cy="901"/>
          </a:xfrm>
        </p:grpSpPr>
        <p:grpSp>
          <p:nvGrpSpPr>
            <p:cNvPr id="288798" name="Group 30">
              <a:extLst>
                <a:ext uri="{FF2B5EF4-FFF2-40B4-BE49-F238E27FC236}">
                  <a16:creationId xmlns:a16="http://schemas.microsoft.com/office/drawing/2014/main" id="{6E66A9AA-9E7C-438D-931B-D26F81752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9" name="Rectangle 31">
                <a:extLst>
                  <a:ext uri="{FF2B5EF4-FFF2-40B4-BE49-F238E27FC236}">
                    <a16:creationId xmlns:a16="http://schemas.microsoft.com/office/drawing/2014/main" id="{D9645719-D2B2-4200-9CA7-A9939C591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800" name="Rectangle 32">
                <a:extLst>
                  <a:ext uri="{FF2B5EF4-FFF2-40B4-BE49-F238E27FC236}">
                    <a16:creationId xmlns:a16="http://schemas.microsoft.com/office/drawing/2014/main" id="{E2607A75-2324-495B-B552-A1D887F7B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NULL </a:t>
                </a:r>
              </a:p>
            </p:txBody>
          </p:sp>
        </p:grpSp>
        <p:sp>
          <p:nvSpPr>
            <p:cNvPr id="288801" name="Line 33">
              <a:extLst>
                <a:ext uri="{FF2B5EF4-FFF2-40B4-BE49-F238E27FC236}">
                  <a16:creationId xmlns:a16="http://schemas.microsoft.com/office/drawing/2014/main" id="{6BC908F2-D92D-456E-ADF1-FADC7EA3C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88802" name="Rectangle 34">
            <a:extLst>
              <a:ext uri="{FF2B5EF4-FFF2-40B4-BE49-F238E27FC236}">
                <a16:creationId xmlns:a16="http://schemas.microsoft.com/office/drawing/2014/main" id="{BF3A5D94-2BEA-4FCE-8F81-E73A26422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" y="1066800"/>
            <a:ext cx="901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head </a:t>
            </a:r>
          </a:p>
        </p:txBody>
      </p:sp>
    </p:spTree>
    <p:extLst>
      <p:ext uri="{BB962C8B-B14F-4D97-AF65-F5344CB8AC3E}">
        <p14:creationId xmlns:p14="http://schemas.microsoft.com/office/powerpoint/2010/main" val="223275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uiExpand="1" build="p" bldLvl="2" autoUpdateAnimBg="0"/>
      <p:bldP spid="28880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FF8D8BBD-A1C7-4F16-822B-51BFFA61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dirty="0"/>
              <a:t>链表的概念（带头结点）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711CC3C6-A1E6-41B0-85A6-5DA6D248F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375" y="2743200"/>
            <a:ext cx="8505825" cy="1068379"/>
          </a:xfrm>
          <a:ln w="28575">
            <a:solidFill>
              <a:srgbClr val="99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带头结点的单向链表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头结点的数据域无意义（不用）</a:t>
            </a:r>
            <a:endParaRPr lang="en-US" altLang="zh-CN" dirty="0"/>
          </a:p>
        </p:txBody>
      </p:sp>
      <p:cxnSp>
        <p:nvCxnSpPr>
          <p:cNvPr id="288773" name="AutoShape 5">
            <a:extLst>
              <a:ext uri="{FF2B5EF4-FFF2-40B4-BE49-F238E27FC236}">
                <a16:creationId xmlns:a16="http://schemas.microsoft.com/office/drawing/2014/main" id="{C3DA5B56-7FB5-4376-8F42-483A1F50F6D9}"/>
              </a:ext>
            </a:extLst>
          </p:cNvPr>
          <p:cNvCxnSpPr>
            <a:cxnSpLocks noChangeShapeType="1"/>
            <a:stCxn id="288777" idx="3"/>
            <a:endCxn id="288783" idx="0"/>
          </p:cNvCxnSpPr>
          <p:nvPr/>
        </p:nvCxnSpPr>
        <p:spPr bwMode="auto">
          <a:xfrm flipV="1">
            <a:off x="1681163" y="1066800"/>
            <a:ext cx="782637" cy="1265238"/>
          </a:xfrm>
          <a:prstGeom prst="bentConnector4">
            <a:avLst>
              <a:gd name="adj1" fmla="val 48884"/>
              <a:gd name="adj2" fmla="val 9887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74" name="Group 6">
            <a:extLst>
              <a:ext uri="{FF2B5EF4-FFF2-40B4-BE49-F238E27FC236}">
                <a16:creationId xmlns:a16="http://schemas.microsoft.com/office/drawing/2014/main" id="{FBE35C8F-4341-4381-8FE8-23037B7622A5}"/>
              </a:ext>
            </a:extLst>
          </p:cNvPr>
          <p:cNvGrpSpPr>
            <a:grpSpLocks/>
          </p:cNvGrpSpPr>
          <p:nvPr/>
        </p:nvGrpSpPr>
        <p:grpSpPr bwMode="auto">
          <a:xfrm>
            <a:off x="661988" y="1081088"/>
            <a:ext cx="1004887" cy="1430337"/>
            <a:chOff x="633" y="1209"/>
            <a:chExt cx="633" cy="901"/>
          </a:xfrm>
        </p:grpSpPr>
        <p:grpSp>
          <p:nvGrpSpPr>
            <p:cNvPr id="288775" name="Group 7">
              <a:extLst>
                <a:ext uri="{FF2B5EF4-FFF2-40B4-BE49-F238E27FC236}">
                  <a16:creationId xmlns:a16="http://schemas.microsoft.com/office/drawing/2014/main" id="{13955392-2CC8-44CB-BB51-8E5A79BB2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76" name="Rectangle 8">
                <a:extLst>
                  <a:ext uri="{FF2B5EF4-FFF2-40B4-BE49-F238E27FC236}">
                    <a16:creationId xmlns:a16="http://schemas.microsoft.com/office/drawing/2014/main" id="{842F1102-9A80-4028-9F47-AC650D9DB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Courier New" panose="02070309020205020404" pitchFamily="49" charset="0"/>
                    <a:ea typeface="黑体" panose="02010609060101010101" pitchFamily="49" charset="-122"/>
                  </a:rPr>
                  <a:t>不用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88777" name="Rectangle 9">
                <a:extLst>
                  <a:ext uri="{FF2B5EF4-FFF2-40B4-BE49-F238E27FC236}">
                    <a16:creationId xmlns:a16="http://schemas.microsoft.com/office/drawing/2014/main" id="{39855FAF-FC76-436E-80F8-F107FDA3A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78" name="Line 10">
              <a:extLst>
                <a:ext uri="{FF2B5EF4-FFF2-40B4-BE49-F238E27FC236}">
                  <a16:creationId xmlns:a16="http://schemas.microsoft.com/office/drawing/2014/main" id="{CC8F1C52-54FB-4C21-B481-7393F3FC1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79" name="Group 11">
            <a:extLst>
              <a:ext uri="{FF2B5EF4-FFF2-40B4-BE49-F238E27FC236}">
                <a16:creationId xmlns:a16="http://schemas.microsoft.com/office/drawing/2014/main" id="{940C544E-B5C4-477C-8A2D-E053C2672023}"/>
              </a:ext>
            </a:extLst>
          </p:cNvPr>
          <p:cNvGrpSpPr>
            <a:grpSpLocks/>
          </p:cNvGrpSpPr>
          <p:nvPr/>
        </p:nvGrpSpPr>
        <p:grpSpPr bwMode="auto">
          <a:xfrm>
            <a:off x="2463800" y="1081088"/>
            <a:ext cx="1004888" cy="1430337"/>
            <a:chOff x="633" y="1209"/>
            <a:chExt cx="633" cy="901"/>
          </a:xfrm>
        </p:grpSpPr>
        <p:grpSp>
          <p:nvGrpSpPr>
            <p:cNvPr id="288780" name="Group 12">
              <a:extLst>
                <a:ext uri="{FF2B5EF4-FFF2-40B4-BE49-F238E27FC236}">
                  <a16:creationId xmlns:a16="http://schemas.microsoft.com/office/drawing/2014/main" id="{DFAF0BFD-BF2B-4F2B-B4E4-AE3CF500A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1" name="Rectangle 13">
                <a:extLst>
                  <a:ext uri="{FF2B5EF4-FFF2-40B4-BE49-F238E27FC236}">
                    <a16:creationId xmlns:a16="http://schemas.microsoft.com/office/drawing/2014/main" id="{E83C3472-3C38-4842-9EF2-DCE7048BF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2" name="Rectangle 14">
                <a:extLst>
                  <a:ext uri="{FF2B5EF4-FFF2-40B4-BE49-F238E27FC236}">
                    <a16:creationId xmlns:a16="http://schemas.microsoft.com/office/drawing/2014/main" id="{B69CB63F-D1BD-460B-A01F-0E6560A91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3" name="Line 15">
              <a:extLst>
                <a:ext uri="{FF2B5EF4-FFF2-40B4-BE49-F238E27FC236}">
                  <a16:creationId xmlns:a16="http://schemas.microsoft.com/office/drawing/2014/main" id="{52B66797-FF31-4BF1-B8BC-051CE9F0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84" name="AutoShape 16">
            <a:extLst>
              <a:ext uri="{FF2B5EF4-FFF2-40B4-BE49-F238E27FC236}">
                <a16:creationId xmlns:a16="http://schemas.microsoft.com/office/drawing/2014/main" id="{DD3309FE-28BF-4050-9548-8E3A4BCDC27A}"/>
              </a:ext>
            </a:extLst>
          </p:cNvPr>
          <p:cNvCxnSpPr>
            <a:cxnSpLocks noChangeShapeType="1"/>
            <a:stCxn id="288782" idx="3"/>
            <a:endCxn id="288789" idx="0"/>
          </p:cNvCxnSpPr>
          <p:nvPr/>
        </p:nvCxnSpPr>
        <p:spPr bwMode="auto">
          <a:xfrm flipV="1">
            <a:off x="3482975" y="1081088"/>
            <a:ext cx="809625" cy="1250950"/>
          </a:xfrm>
          <a:prstGeom prst="bentConnector4">
            <a:avLst>
              <a:gd name="adj1" fmla="val 49019"/>
              <a:gd name="adj2" fmla="val 98981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85" name="Group 17">
            <a:extLst>
              <a:ext uri="{FF2B5EF4-FFF2-40B4-BE49-F238E27FC236}">
                <a16:creationId xmlns:a16="http://schemas.microsoft.com/office/drawing/2014/main" id="{7A539BD7-2AE4-4606-A440-D64180367B0C}"/>
              </a:ext>
            </a:extLst>
          </p:cNvPr>
          <p:cNvGrpSpPr>
            <a:grpSpLocks/>
          </p:cNvGrpSpPr>
          <p:nvPr/>
        </p:nvGrpSpPr>
        <p:grpSpPr bwMode="auto">
          <a:xfrm>
            <a:off x="4292600" y="1095375"/>
            <a:ext cx="1004888" cy="1430338"/>
            <a:chOff x="633" y="1209"/>
            <a:chExt cx="633" cy="901"/>
          </a:xfrm>
        </p:grpSpPr>
        <p:grpSp>
          <p:nvGrpSpPr>
            <p:cNvPr id="288786" name="Group 18">
              <a:extLst>
                <a:ext uri="{FF2B5EF4-FFF2-40B4-BE49-F238E27FC236}">
                  <a16:creationId xmlns:a16="http://schemas.microsoft.com/office/drawing/2014/main" id="{0435B68B-3A17-4E05-9F59-0143DC895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7" name="Rectangle 19">
                <a:extLst>
                  <a:ext uri="{FF2B5EF4-FFF2-40B4-BE49-F238E27FC236}">
                    <a16:creationId xmlns:a16="http://schemas.microsoft.com/office/drawing/2014/main" id="{74897172-24D2-47FB-8FDA-B24BD1075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8" name="Rectangle 20">
                <a:extLst>
                  <a:ext uri="{FF2B5EF4-FFF2-40B4-BE49-F238E27FC236}">
                    <a16:creationId xmlns:a16="http://schemas.microsoft.com/office/drawing/2014/main" id="{45046B5B-444D-4FE6-BF2B-427FC0B14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9" name="Line 21">
              <a:extLst>
                <a:ext uri="{FF2B5EF4-FFF2-40B4-BE49-F238E27FC236}">
                  <a16:creationId xmlns:a16="http://schemas.microsoft.com/office/drawing/2014/main" id="{D0CBEAFF-ABF7-44AB-8489-19A66D84E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90" name="AutoShape 22">
            <a:extLst>
              <a:ext uri="{FF2B5EF4-FFF2-40B4-BE49-F238E27FC236}">
                <a16:creationId xmlns:a16="http://schemas.microsoft.com/office/drawing/2014/main" id="{E409A149-EBB7-449F-8822-D161F75F4571}"/>
              </a:ext>
            </a:extLst>
          </p:cNvPr>
          <p:cNvCxnSpPr>
            <a:cxnSpLocks noChangeShapeType="1"/>
            <a:stCxn id="288788" idx="3"/>
            <a:endCxn id="288795" idx="0"/>
          </p:cNvCxnSpPr>
          <p:nvPr/>
        </p:nvCxnSpPr>
        <p:spPr bwMode="auto">
          <a:xfrm flipV="1">
            <a:off x="5311775" y="1093788"/>
            <a:ext cx="809625" cy="1252537"/>
          </a:xfrm>
          <a:prstGeom prst="bentConnector4">
            <a:avLst>
              <a:gd name="adj1" fmla="val 49019"/>
              <a:gd name="adj2" fmla="val 101014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91" name="Group 23">
            <a:extLst>
              <a:ext uri="{FF2B5EF4-FFF2-40B4-BE49-F238E27FC236}">
                <a16:creationId xmlns:a16="http://schemas.microsoft.com/office/drawing/2014/main" id="{1A3BDE74-4430-4C55-B093-681E5260486B}"/>
              </a:ext>
            </a:extLst>
          </p:cNvPr>
          <p:cNvGrpSpPr>
            <a:grpSpLocks/>
          </p:cNvGrpSpPr>
          <p:nvPr/>
        </p:nvGrpSpPr>
        <p:grpSpPr bwMode="auto">
          <a:xfrm>
            <a:off x="6121400" y="1108075"/>
            <a:ext cx="1004888" cy="1430338"/>
            <a:chOff x="633" y="1209"/>
            <a:chExt cx="633" cy="901"/>
          </a:xfrm>
        </p:grpSpPr>
        <p:grpSp>
          <p:nvGrpSpPr>
            <p:cNvPr id="288792" name="Group 24">
              <a:extLst>
                <a:ext uri="{FF2B5EF4-FFF2-40B4-BE49-F238E27FC236}">
                  <a16:creationId xmlns:a16="http://schemas.microsoft.com/office/drawing/2014/main" id="{34F30764-DB68-41AC-B3B9-E500DADED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3" name="Rectangle 25">
                <a:extLst>
                  <a:ext uri="{FF2B5EF4-FFF2-40B4-BE49-F238E27FC236}">
                    <a16:creationId xmlns:a16="http://schemas.microsoft.com/office/drawing/2014/main" id="{2C013BB9-49D3-4576-9F73-EE20A2F5D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94" name="Rectangle 26">
                <a:extLst>
                  <a:ext uri="{FF2B5EF4-FFF2-40B4-BE49-F238E27FC236}">
                    <a16:creationId xmlns:a16="http://schemas.microsoft.com/office/drawing/2014/main" id="{14882ED2-2169-4B3E-8B9F-DD29E08EA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95" name="Line 27">
              <a:extLst>
                <a:ext uri="{FF2B5EF4-FFF2-40B4-BE49-F238E27FC236}">
                  <a16:creationId xmlns:a16="http://schemas.microsoft.com/office/drawing/2014/main" id="{1DCF3017-FEAE-4995-9337-CACA6AD83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cxnSp>
        <p:nvCxnSpPr>
          <p:cNvPr id="288796" name="AutoShape 28">
            <a:extLst>
              <a:ext uri="{FF2B5EF4-FFF2-40B4-BE49-F238E27FC236}">
                <a16:creationId xmlns:a16="http://schemas.microsoft.com/office/drawing/2014/main" id="{3F37F1E2-B2CA-4207-8157-3A7FD7CFD30B}"/>
              </a:ext>
            </a:extLst>
          </p:cNvPr>
          <p:cNvCxnSpPr>
            <a:cxnSpLocks noChangeShapeType="1"/>
            <a:stCxn id="288794" idx="3"/>
            <a:endCxn id="288801" idx="0"/>
          </p:cNvCxnSpPr>
          <p:nvPr/>
        </p:nvCxnSpPr>
        <p:spPr bwMode="auto">
          <a:xfrm flipV="1">
            <a:off x="7140575" y="1093788"/>
            <a:ext cx="795338" cy="1265237"/>
          </a:xfrm>
          <a:prstGeom prst="bentConnector4">
            <a:avLst>
              <a:gd name="adj1" fmla="val 48903"/>
              <a:gd name="adj2" fmla="val 98616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97" name="Group 29">
            <a:extLst>
              <a:ext uri="{FF2B5EF4-FFF2-40B4-BE49-F238E27FC236}">
                <a16:creationId xmlns:a16="http://schemas.microsoft.com/office/drawing/2014/main" id="{FDC43897-B358-4074-B4A0-4C8CDB0C7C22}"/>
              </a:ext>
            </a:extLst>
          </p:cNvPr>
          <p:cNvGrpSpPr>
            <a:grpSpLocks/>
          </p:cNvGrpSpPr>
          <p:nvPr/>
        </p:nvGrpSpPr>
        <p:grpSpPr bwMode="auto">
          <a:xfrm>
            <a:off x="7935913" y="1108075"/>
            <a:ext cx="1004887" cy="1430338"/>
            <a:chOff x="633" y="1209"/>
            <a:chExt cx="633" cy="901"/>
          </a:xfrm>
        </p:grpSpPr>
        <p:grpSp>
          <p:nvGrpSpPr>
            <p:cNvPr id="288798" name="Group 30">
              <a:extLst>
                <a:ext uri="{FF2B5EF4-FFF2-40B4-BE49-F238E27FC236}">
                  <a16:creationId xmlns:a16="http://schemas.microsoft.com/office/drawing/2014/main" id="{6E66A9AA-9E7C-438D-931B-D26F81752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9" name="Rectangle 31">
                <a:extLst>
                  <a:ext uri="{FF2B5EF4-FFF2-40B4-BE49-F238E27FC236}">
                    <a16:creationId xmlns:a16="http://schemas.microsoft.com/office/drawing/2014/main" id="{D9645719-D2B2-4200-9CA7-A9939C591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800" name="Rectangle 32">
                <a:extLst>
                  <a:ext uri="{FF2B5EF4-FFF2-40B4-BE49-F238E27FC236}">
                    <a16:creationId xmlns:a16="http://schemas.microsoft.com/office/drawing/2014/main" id="{E2607A75-2324-495B-B552-A1D887F7B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NULL </a:t>
                </a:r>
              </a:p>
            </p:txBody>
          </p:sp>
        </p:grpSp>
        <p:sp>
          <p:nvSpPr>
            <p:cNvPr id="288801" name="Line 33">
              <a:extLst>
                <a:ext uri="{FF2B5EF4-FFF2-40B4-BE49-F238E27FC236}">
                  <a16:creationId xmlns:a16="http://schemas.microsoft.com/office/drawing/2014/main" id="{6BC908F2-D92D-456E-ADF1-FADC7EA3C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8ABD0EEA-C19B-4AFD-9A78-F060F6984F5F}"/>
              </a:ext>
            </a:extLst>
          </p:cNvPr>
          <p:cNvGrpSpPr>
            <a:grpSpLocks/>
          </p:cNvGrpSpPr>
          <p:nvPr/>
        </p:nvGrpSpPr>
        <p:grpSpPr bwMode="auto">
          <a:xfrm>
            <a:off x="676276" y="3994149"/>
            <a:ext cx="1004887" cy="1430337"/>
            <a:chOff x="633" y="1209"/>
            <a:chExt cx="633" cy="901"/>
          </a:xfrm>
        </p:grpSpPr>
        <p:grpSp>
          <p:nvGrpSpPr>
            <p:cNvPr id="34" name="Group 7">
              <a:extLst>
                <a:ext uri="{FF2B5EF4-FFF2-40B4-BE49-F238E27FC236}">
                  <a16:creationId xmlns:a16="http://schemas.microsoft.com/office/drawing/2014/main" id="{FF618947-56DA-41BF-9194-6C5917650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36" name="Rectangle 8">
                <a:extLst>
                  <a:ext uri="{FF2B5EF4-FFF2-40B4-BE49-F238E27FC236}">
                    <a16:creationId xmlns:a16="http://schemas.microsoft.com/office/drawing/2014/main" id="{EC89114D-7051-4323-8ABA-ACC72E199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Courier New" panose="02070309020205020404" pitchFamily="49" charset="0"/>
                    <a:ea typeface="黑体" panose="02010609060101010101" pitchFamily="49" charset="-122"/>
                  </a:rPr>
                  <a:t>不用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Rectangle 9">
                <a:extLst>
                  <a:ext uri="{FF2B5EF4-FFF2-40B4-BE49-F238E27FC236}">
                    <a16:creationId xmlns:a16="http://schemas.microsoft.com/office/drawing/2014/main" id="{5B468B96-DC1F-4A45-8AF4-7640CBDDF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latin typeface="Courier New" panose="02070309020205020404" pitchFamily="49" charset="0"/>
                    <a:ea typeface="黑体" panose="02010609060101010101" pitchFamily="49" charset="-122"/>
                  </a:rPr>
                  <a:t>NULL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 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CD273739-4B92-4E4B-B4AF-FE8975976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8" name="Rectangle 3">
            <a:extLst>
              <a:ext uri="{FF2B5EF4-FFF2-40B4-BE49-F238E27FC236}">
                <a16:creationId xmlns:a16="http://schemas.microsoft.com/office/drawing/2014/main" id="{3960B8B2-FF36-4B1C-A5E6-636CB488D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5653881"/>
            <a:ext cx="8505825" cy="746920"/>
          </a:xfrm>
          <a:prstGeom prst="rect">
            <a:avLst/>
          </a:prstGeom>
          <a:noFill/>
          <a:ln w="28575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&amp;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A3B1E"/>
              </a:buClr>
              <a:buFont typeface="Wingdings" panose="05000000000000000000" pitchFamily="2" charset="2"/>
              <a:buChar char="Ø"/>
              <a:defRPr sz="2400" b="1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120000"/>
              <a:buFont typeface="Webdings" panose="05030102010509060703" pitchFamily="18" charset="2"/>
              <a:buChar char="4"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5000"/>
              <a:buFont typeface="Wingdings" panose="05000000000000000000" pitchFamily="2" charset="2"/>
              <a:buChar char="u"/>
              <a:defRPr sz="2000" b="1" kern="1200">
                <a:solidFill>
                  <a:srgbClr val="3333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Font typeface="Wingdings 2" panose="05020102010507070707" pitchFamily="18" charset="2"/>
              <a:buChar char="ê"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dirty="0"/>
              <a:t>空链表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966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uiExpand="1" build="p" bldLvl="2" autoUpdateAnimBg="0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1C43071D-F9FD-41FA-986A-6455B04B8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/>
              <a:t>单向链表的特点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400208FC-BA9F-4971-9E53-E6683A261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335280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“单线联系”——知其“下属”不知其“上司”。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把握链表首结点的地址是关键</a:t>
            </a:r>
          </a:p>
          <a:p>
            <a:pPr>
              <a:spcBef>
                <a:spcPct val="8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结点在内存中不一定连续存放。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操作首结点最简单。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添加结点、删除结点、排序等操作不移动内存中的结点，仅重新编排连接顺序，操作方便。</a:t>
            </a:r>
          </a:p>
        </p:txBody>
      </p:sp>
      <p:sp>
        <p:nvSpPr>
          <p:cNvPr id="289796" name="Rectangle 4">
            <a:extLst>
              <a:ext uri="{FF2B5EF4-FFF2-40B4-BE49-F238E27FC236}">
                <a16:creationId xmlns:a16="http://schemas.microsoft.com/office/drawing/2014/main" id="{293F8432-F022-4409-A721-18671E1BC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4953000"/>
            <a:ext cx="8388350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60375" indent="-4603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2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700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330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1675" indent="-325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28875" indent="-325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86075" indent="-325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3275" indent="-325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0475" indent="-325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60375" marR="0" lvl="0" indent="-460375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Blip>
                <a:blip r:embed="rId2"/>
              </a:buBlip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单向链表是今后学习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数据结构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课程的基础。</a:t>
            </a:r>
          </a:p>
        </p:txBody>
      </p:sp>
    </p:spTree>
    <p:extLst>
      <p:ext uri="{BB962C8B-B14F-4D97-AF65-F5344CB8AC3E}">
        <p14:creationId xmlns:p14="http://schemas.microsoft.com/office/powerpoint/2010/main" val="3614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uiExpand="1" build="p" autoUpdateAnimBg="0"/>
      <p:bldP spid="289796" grpId="0" uiExpand="1" build="p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4E58B396-F688-40A4-9E9D-0E3F8D4EE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dirty="0"/>
              <a:t>（不带头结点）空链表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82772DE1-AED3-4107-8259-B2C7AFAD9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613" y="2438400"/>
            <a:ext cx="8104187" cy="396240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/>
              <a:t>定义一个结点类型的指针变量，并初始化为空指针（如上）便是创建了一条链表（空链表）。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/>
              <a:t>空链表的结点个数为0。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/>
              <a:t>链表应用程序中，常常首先创建一条空链表，便于其后向链表添加结点。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/>
              <a:t>这一点</a:t>
            </a:r>
            <a:r>
              <a:rPr lang="zh-CN" altLang="en-US">
                <a:solidFill>
                  <a:srgbClr val="990000"/>
                </a:solidFill>
              </a:rPr>
              <a:t>非常重要！</a:t>
            </a:r>
          </a:p>
        </p:txBody>
      </p:sp>
      <p:sp>
        <p:nvSpPr>
          <p:cNvPr id="290820" name="Rectangle 4">
            <a:extLst>
              <a:ext uri="{FF2B5EF4-FFF2-40B4-BE49-F238E27FC236}">
                <a16:creationId xmlns:a16="http://schemas.microsoft.com/office/drawing/2014/main" id="{99EBECE3-D137-4691-AE75-922BCB2D1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4656138" cy="796925"/>
          </a:xfrm>
          <a:prstGeom prst="rect">
            <a:avLst/>
          </a:prstGeom>
          <a:noFill/>
          <a:ln w="28575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Player *head = NULL;</a:t>
            </a:r>
          </a:p>
        </p:txBody>
      </p:sp>
    </p:spTree>
    <p:extLst>
      <p:ext uri="{BB962C8B-B14F-4D97-AF65-F5344CB8AC3E}">
        <p14:creationId xmlns:p14="http://schemas.microsoft.com/office/powerpoint/2010/main" val="159640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09AAB129-16AB-4AFD-853C-A7377DABE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dirty="0"/>
              <a:t>链表的概念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0A9F28D8-F1D4-454F-8C5F-A8981F40E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6096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结点的结构</a:t>
            </a:r>
          </a:p>
          <a:p>
            <a:endParaRPr lang="zh-CN" altLang="en-US" dirty="0"/>
          </a:p>
        </p:txBody>
      </p:sp>
      <p:sp>
        <p:nvSpPr>
          <p:cNvPr id="311300" name="Rectangle 4">
            <a:extLst>
              <a:ext uri="{FF2B5EF4-FFF2-40B4-BE49-F238E27FC236}">
                <a16:creationId xmlns:a16="http://schemas.microsoft.com/office/drawing/2014/main" id="{64677BFE-7AC1-4A1B-8A0B-EDF7ED703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9"/>
            <a:ext cx="8382000" cy="4267192"/>
          </a:xfrm>
          <a:prstGeom prst="rect">
            <a:avLst/>
          </a:prstGeom>
          <a:solidFill>
            <a:schemeClr val="bg1"/>
          </a:solidFill>
          <a:ln w="9525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600" indent="-533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52600" indent="-381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09800" indent="-381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en-US" altLang="zh-CN" sz="2000" b="1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en-US" altLang="zh-CN" sz="2000" b="1" dirty="0" err="1">
                <a:solidFill>
                  <a:srgbClr val="990000"/>
                </a:solidFill>
                <a:latin typeface="+mn-lt"/>
                <a:ea typeface="黑体" panose="02010609060101010101" pitchFamily="49" charset="-122"/>
              </a:rPr>
              <a:t>List_int.h</a:t>
            </a:r>
            <a:r>
              <a:rPr lang="en-US" altLang="zh-CN" sz="2000" b="1" dirty="0">
                <a:solidFill>
                  <a:srgbClr val="99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单向链表结点数据组织形式描述</a:t>
            </a:r>
          </a:p>
          <a:p>
            <a:pPr lvl="0">
              <a:buClr>
                <a:srgbClr val="000000"/>
              </a:buClr>
            </a:pP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ifndef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LIST_INT_H</a:t>
            </a:r>
          </a:p>
          <a:p>
            <a:pPr lvl="0">
              <a:lnSpc>
                <a:spcPct val="90000"/>
              </a:lnSpc>
              <a:buClr>
                <a:srgbClr val="000000"/>
              </a:buClr>
            </a:pP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define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LIST_INT_H</a:t>
            </a:r>
          </a:p>
          <a:p>
            <a:pPr lvl="0">
              <a:lnSpc>
                <a:spcPct val="90000"/>
              </a:lnSpc>
              <a:buClr>
                <a:srgbClr val="000000"/>
              </a:buClr>
            </a:pPr>
            <a:endParaRPr lang="en-US" altLang="zh-CN" sz="2400" b="1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0000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struct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Node</a:t>
            </a: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data;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数据域</a:t>
            </a:r>
            <a:r>
              <a:rPr lang="zh-CN" altLang="en-US" b="1" dirty="0">
                <a:solidFill>
                  <a:srgbClr val="990000"/>
                </a:solidFill>
                <a:latin typeface="+mn-lt"/>
                <a:ea typeface="黑体" panose="02010609060101010101" pitchFamily="49" charset="-122"/>
              </a:rPr>
              <a:t>简单化。虽然仅有一个数据，仍用复数形式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Node *next; 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同类指针，指向下一个结点 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lvl="0">
              <a:lnSpc>
                <a:spcPct val="90000"/>
              </a:lnSpc>
              <a:buClr>
                <a:srgbClr val="000000"/>
              </a:buClr>
            </a:pP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 lvl="0">
              <a:lnSpc>
                <a:spcPct val="90000"/>
              </a:lnSpc>
              <a:buClr>
                <a:srgbClr val="000000"/>
              </a:buClr>
            </a:pPr>
            <a:endParaRPr lang="en-US" altLang="zh-CN" sz="2400" b="1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0">
              <a:lnSpc>
                <a:spcPct val="90000"/>
              </a:lnSpc>
              <a:buClr>
                <a:srgbClr val="000000"/>
              </a:buClr>
            </a:pP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endif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pSp>
        <p:nvGrpSpPr>
          <p:cNvPr id="311301" name="Group 5">
            <a:extLst>
              <a:ext uri="{FF2B5EF4-FFF2-40B4-BE49-F238E27FC236}">
                <a16:creationId xmlns:a16="http://schemas.microsoft.com/office/drawing/2014/main" id="{86567932-CC15-40AE-A9D9-C5A6DE3F5CA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574074"/>
            <a:ext cx="1546225" cy="1430338"/>
            <a:chOff x="1736" y="2726"/>
            <a:chExt cx="974" cy="901"/>
          </a:xfrm>
        </p:grpSpPr>
        <p:grpSp>
          <p:nvGrpSpPr>
            <p:cNvPr id="311302" name="Group 6">
              <a:extLst>
                <a:ext uri="{FF2B5EF4-FFF2-40B4-BE49-F238E27FC236}">
                  <a16:creationId xmlns:a16="http://schemas.microsoft.com/office/drawing/2014/main" id="{4BAF5EFD-2E60-41A3-9847-6C10AB6B0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" y="2726"/>
              <a:ext cx="633" cy="901"/>
              <a:chOff x="1736" y="2726"/>
              <a:chExt cx="633" cy="901"/>
            </a:xfrm>
          </p:grpSpPr>
          <p:sp>
            <p:nvSpPr>
              <p:cNvPr id="311303" name="Rectangle 7">
                <a:extLst>
                  <a:ext uri="{FF2B5EF4-FFF2-40B4-BE49-F238E27FC236}">
                    <a16:creationId xmlns:a16="http://schemas.microsoft.com/office/drawing/2014/main" id="{79F84EF5-E6C6-4F7C-A662-6E09848FE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</a:t>
                </a:r>
              </a:p>
            </p:txBody>
          </p:sp>
          <p:sp>
            <p:nvSpPr>
              <p:cNvPr id="311304" name="Rectangle 8">
                <a:extLst>
                  <a:ext uri="{FF2B5EF4-FFF2-40B4-BE49-F238E27FC236}">
                    <a16:creationId xmlns:a16="http://schemas.microsoft.com/office/drawing/2014/main" id="{88AF2685-7F47-4F33-82A0-3D1A727CB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</a:p>
            </p:txBody>
          </p:sp>
        </p:grpSp>
        <p:sp>
          <p:nvSpPr>
            <p:cNvPr id="311305" name="Line 9">
              <a:extLst>
                <a:ext uri="{FF2B5EF4-FFF2-40B4-BE49-F238E27FC236}">
                  <a16:creationId xmlns:a16="http://schemas.microsoft.com/office/drawing/2014/main" id="{9D2C4151-3E19-4BE8-A5B9-EF87B8D67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3513"/>
              <a:ext cx="341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uiExpand="1" build="p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AutoShape 5">
            <a:extLst>
              <a:ext uri="{FF2B5EF4-FFF2-40B4-BE49-F238E27FC236}">
                <a16:creationId xmlns:a16="http://schemas.microsoft.com/office/drawing/2014/main" id="{092422FC-32B6-401B-8548-2220DE022E4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942137" y="5573005"/>
            <a:ext cx="1135063" cy="1015666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5">
            <a:extLst>
              <a:ext uri="{FF2B5EF4-FFF2-40B4-BE49-F238E27FC236}">
                <a16:creationId xmlns:a16="http://schemas.microsoft.com/office/drawing/2014/main" id="{333136AC-276E-426E-86B8-48ED7F77B8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50123" y="5552313"/>
            <a:ext cx="1135063" cy="1015666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5">
            <a:extLst>
              <a:ext uri="{FF2B5EF4-FFF2-40B4-BE49-F238E27FC236}">
                <a16:creationId xmlns:a16="http://schemas.microsoft.com/office/drawing/2014/main" id="{328F0942-AA21-44EE-B54B-26149E65FD5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19463" y="5533621"/>
            <a:ext cx="1135063" cy="1015666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8770" name="Rectangle 2">
            <a:extLst>
              <a:ext uri="{FF2B5EF4-FFF2-40B4-BE49-F238E27FC236}">
                <a16:creationId xmlns:a16="http://schemas.microsoft.com/office/drawing/2014/main" id="{FF8D8BBD-A1C7-4F16-822B-51BFFA61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zh-CN" altLang="en-US" dirty="0"/>
              <a:t>链表的概念（不带头结点）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711CC3C6-A1E6-41B0-85A6-5DA6D248F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682" y="914400"/>
            <a:ext cx="8810625" cy="1986188"/>
          </a:xfrm>
          <a:ln w="28575">
            <a:solidFill>
              <a:srgbClr val="99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空链表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单结点链表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一般情形</a:t>
            </a:r>
            <a:endParaRPr lang="en-US" altLang="zh-CN" sz="2400" dirty="0"/>
          </a:p>
        </p:txBody>
      </p:sp>
      <p:sp>
        <p:nvSpPr>
          <p:cNvPr id="288772" name="Line 4">
            <a:extLst>
              <a:ext uri="{FF2B5EF4-FFF2-40B4-BE49-F238E27FC236}">
                <a16:creationId xmlns:a16="http://schemas.microsoft.com/office/drawing/2014/main" id="{8643E37E-DA60-499A-B8F3-DFC3F246F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" y="5529263"/>
            <a:ext cx="541338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288773" name="AutoShape 5">
            <a:extLst>
              <a:ext uri="{FF2B5EF4-FFF2-40B4-BE49-F238E27FC236}">
                <a16:creationId xmlns:a16="http://schemas.microsoft.com/office/drawing/2014/main" id="{C3DA5B56-7FB5-4376-8F42-483A1F50F6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86694" y="5543550"/>
            <a:ext cx="1135063" cy="1015666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90000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8774" name="Group 6">
            <a:extLst>
              <a:ext uri="{FF2B5EF4-FFF2-40B4-BE49-F238E27FC236}">
                <a16:creationId xmlns:a16="http://schemas.microsoft.com/office/drawing/2014/main" id="{FBE35C8F-4341-4381-8FE8-23037B7622A5}"/>
              </a:ext>
            </a:extLst>
          </p:cNvPr>
          <p:cNvGrpSpPr>
            <a:grpSpLocks/>
          </p:cNvGrpSpPr>
          <p:nvPr/>
        </p:nvGrpSpPr>
        <p:grpSpPr bwMode="auto">
          <a:xfrm>
            <a:off x="788988" y="5516563"/>
            <a:ext cx="1004887" cy="1162049"/>
            <a:chOff x="633" y="1209"/>
            <a:chExt cx="633" cy="901"/>
          </a:xfrm>
        </p:grpSpPr>
        <p:grpSp>
          <p:nvGrpSpPr>
            <p:cNvPr id="288775" name="Group 7">
              <a:extLst>
                <a:ext uri="{FF2B5EF4-FFF2-40B4-BE49-F238E27FC236}">
                  <a16:creationId xmlns:a16="http://schemas.microsoft.com/office/drawing/2014/main" id="{13955392-2CC8-44CB-BB51-8E5A79BB2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76" name="Rectangle 8">
                <a:extLst>
                  <a:ext uri="{FF2B5EF4-FFF2-40B4-BE49-F238E27FC236}">
                    <a16:creationId xmlns:a16="http://schemas.microsoft.com/office/drawing/2014/main" id="{842F1102-9A80-4028-9F47-AC650D9DB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77" name="Rectangle 9">
                <a:extLst>
                  <a:ext uri="{FF2B5EF4-FFF2-40B4-BE49-F238E27FC236}">
                    <a16:creationId xmlns:a16="http://schemas.microsoft.com/office/drawing/2014/main" id="{39855FAF-FC76-436E-80F8-F107FDA3A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78" name="Line 10">
              <a:extLst>
                <a:ext uri="{FF2B5EF4-FFF2-40B4-BE49-F238E27FC236}">
                  <a16:creationId xmlns:a16="http://schemas.microsoft.com/office/drawing/2014/main" id="{CC8F1C52-54FB-4C21-B481-7393F3FC1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79" name="Group 11">
            <a:extLst>
              <a:ext uri="{FF2B5EF4-FFF2-40B4-BE49-F238E27FC236}">
                <a16:creationId xmlns:a16="http://schemas.microsoft.com/office/drawing/2014/main" id="{940C544E-B5C4-477C-8A2D-E053C2672023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516563"/>
            <a:ext cx="1004888" cy="1162049"/>
            <a:chOff x="633" y="1209"/>
            <a:chExt cx="633" cy="901"/>
          </a:xfrm>
        </p:grpSpPr>
        <p:grpSp>
          <p:nvGrpSpPr>
            <p:cNvPr id="288780" name="Group 12">
              <a:extLst>
                <a:ext uri="{FF2B5EF4-FFF2-40B4-BE49-F238E27FC236}">
                  <a16:creationId xmlns:a16="http://schemas.microsoft.com/office/drawing/2014/main" id="{DFAF0BFD-BF2B-4F2B-B4E4-AE3CF500A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1" name="Rectangle 13">
                <a:extLst>
                  <a:ext uri="{FF2B5EF4-FFF2-40B4-BE49-F238E27FC236}">
                    <a16:creationId xmlns:a16="http://schemas.microsoft.com/office/drawing/2014/main" id="{E83C3472-3C38-4842-9EF2-DCE7048BF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2" name="Rectangle 14">
                <a:extLst>
                  <a:ext uri="{FF2B5EF4-FFF2-40B4-BE49-F238E27FC236}">
                    <a16:creationId xmlns:a16="http://schemas.microsoft.com/office/drawing/2014/main" id="{B69CB63F-D1BD-460B-A01F-0E6560A91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3" name="Line 15">
              <a:extLst>
                <a:ext uri="{FF2B5EF4-FFF2-40B4-BE49-F238E27FC236}">
                  <a16:creationId xmlns:a16="http://schemas.microsoft.com/office/drawing/2014/main" id="{52B66797-FF31-4BF1-B8BC-051CE9F0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85" name="Group 17">
            <a:extLst>
              <a:ext uri="{FF2B5EF4-FFF2-40B4-BE49-F238E27FC236}">
                <a16:creationId xmlns:a16="http://schemas.microsoft.com/office/drawing/2014/main" id="{7A539BD7-2AE4-4606-A440-D64180367B0C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5530850"/>
            <a:ext cx="1004888" cy="1162050"/>
            <a:chOff x="633" y="1209"/>
            <a:chExt cx="633" cy="901"/>
          </a:xfrm>
        </p:grpSpPr>
        <p:grpSp>
          <p:nvGrpSpPr>
            <p:cNvPr id="288786" name="Group 18">
              <a:extLst>
                <a:ext uri="{FF2B5EF4-FFF2-40B4-BE49-F238E27FC236}">
                  <a16:creationId xmlns:a16="http://schemas.microsoft.com/office/drawing/2014/main" id="{0435B68B-3A17-4E05-9F59-0143DC895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87" name="Rectangle 19">
                <a:extLst>
                  <a:ext uri="{FF2B5EF4-FFF2-40B4-BE49-F238E27FC236}">
                    <a16:creationId xmlns:a16="http://schemas.microsoft.com/office/drawing/2014/main" id="{74897172-24D2-47FB-8FDA-B24BD1075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88" name="Rectangle 20">
                <a:extLst>
                  <a:ext uri="{FF2B5EF4-FFF2-40B4-BE49-F238E27FC236}">
                    <a16:creationId xmlns:a16="http://schemas.microsoft.com/office/drawing/2014/main" id="{45046B5B-444D-4FE6-BF2B-427FC0B14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89" name="Line 21">
              <a:extLst>
                <a:ext uri="{FF2B5EF4-FFF2-40B4-BE49-F238E27FC236}">
                  <a16:creationId xmlns:a16="http://schemas.microsoft.com/office/drawing/2014/main" id="{D0CBEAFF-ABF7-44AB-8489-19A66D84E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91" name="Group 23">
            <a:extLst>
              <a:ext uri="{FF2B5EF4-FFF2-40B4-BE49-F238E27FC236}">
                <a16:creationId xmlns:a16="http://schemas.microsoft.com/office/drawing/2014/main" id="{1A3BDE74-4430-4C55-B093-681E5260486B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543550"/>
            <a:ext cx="1004888" cy="1162050"/>
            <a:chOff x="633" y="1209"/>
            <a:chExt cx="633" cy="901"/>
          </a:xfrm>
        </p:grpSpPr>
        <p:grpSp>
          <p:nvGrpSpPr>
            <p:cNvPr id="288792" name="Group 24">
              <a:extLst>
                <a:ext uri="{FF2B5EF4-FFF2-40B4-BE49-F238E27FC236}">
                  <a16:creationId xmlns:a16="http://schemas.microsoft.com/office/drawing/2014/main" id="{34F30764-DB68-41AC-B3B9-E500DADED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3" name="Rectangle 25">
                <a:extLst>
                  <a:ext uri="{FF2B5EF4-FFF2-40B4-BE49-F238E27FC236}">
                    <a16:creationId xmlns:a16="http://schemas.microsoft.com/office/drawing/2014/main" id="{2C013BB9-49D3-4576-9F73-EE20A2F5D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794" name="Rectangle 26">
                <a:extLst>
                  <a:ext uri="{FF2B5EF4-FFF2-40B4-BE49-F238E27FC236}">
                    <a16:creationId xmlns:a16="http://schemas.microsoft.com/office/drawing/2014/main" id="{14882ED2-2169-4B3E-8B9F-DD29E08EA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指针 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88795" name="Line 27">
              <a:extLst>
                <a:ext uri="{FF2B5EF4-FFF2-40B4-BE49-F238E27FC236}">
                  <a16:creationId xmlns:a16="http://schemas.microsoft.com/office/drawing/2014/main" id="{1DCF3017-FEAE-4995-9337-CACA6AD83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88797" name="Group 29">
            <a:extLst>
              <a:ext uri="{FF2B5EF4-FFF2-40B4-BE49-F238E27FC236}">
                <a16:creationId xmlns:a16="http://schemas.microsoft.com/office/drawing/2014/main" id="{FDC43897-B358-4074-B4A0-4C8CDB0C7C22}"/>
              </a:ext>
            </a:extLst>
          </p:cNvPr>
          <p:cNvGrpSpPr>
            <a:grpSpLocks/>
          </p:cNvGrpSpPr>
          <p:nvPr/>
        </p:nvGrpSpPr>
        <p:grpSpPr bwMode="auto">
          <a:xfrm>
            <a:off x="8062913" y="5543550"/>
            <a:ext cx="1004887" cy="1162050"/>
            <a:chOff x="633" y="1209"/>
            <a:chExt cx="633" cy="901"/>
          </a:xfrm>
        </p:grpSpPr>
        <p:grpSp>
          <p:nvGrpSpPr>
            <p:cNvPr id="288798" name="Group 30">
              <a:extLst>
                <a:ext uri="{FF2B5EF4-FFF2-40B4-BE49-F238E27FC236}">
                  <a16:creationId xmlns:a16="http://schemas.microsoft.com/office/drawing/2014/main" id="{6E66A9AA-9E7C-438D-931B-D26F81752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209"/>
              <a:ext cx="633" cy="901"/>
              <a:chOff x="1736" y="2726"/>
              <a:chExt cx="633" cy="901"/>
            </a:xfrm>
          </p:grpSpPr>
          <p:sp>
            <p:nvSpPr>
              <p:cNvPr id="288799" name="Rectangle 31">
                <a:extLst>
                  <a:ext uri="{FF2B5EF4-FFF2-40B4-BE49-F238E27FC236}">
                    <a16:creationId xmlns:a16="http://schemas.microsoft.com/office/drawing/2014/main" id="{D9645719-D2B2-4200-9CA7-A9939C591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2726"/>
                <a:ext cx="633" cy="673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数据域 </a:t>
                </a:r>
              </a:p>
            </p:txBody>
          </p:sp>
          <p:sp>
            <p:nvSpPr>
              <p:cNvPr id="288800" name="Rectangle 32">
                <a:extLst>
                  <a:ext uri="{FF2B5EF4-FFF2-40B4-BE49-F238E27FC236}">
                    <a16:creationId xmlns:a16="http://schemas.microsoft.com/office/drawing/2014/main" id="{E2607A75-2324-495B-B552-A1D887F7B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3400"/>
                <a:ext cx="633" cy="227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99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+mn-cs"/>
                  </a:rPr>
                  <a:t>NULL </a:t>
                </a:r>
              </a:p>
            </p:txBody>
          </p:sp>
        </p:grpSp>
        <p:sp>
          <p:nvSpPr>
            <p:cNvPr id="288801" name="Line 33">
              <a:extLst>
                <a:ext uri="{FF2B5EF4-FFF2-40B4-BE49-F238E27FC236}">
                  <a16:creationId xmlns:a16="http://schemas.microsoft.com/office/drawing/2014/main" id="{6BC908F2-D92D-456E-ADF1-FADC7EA3C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1209"/>
              <a:ext cx="144" cy="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88802" name="Rectangle 34">
            <a:extLst>
              <a:ext uri="{FF2B5EF4-FFF2-40B4-BE49-F238E27FC236}">
                <a16:creationId xmlns:a16="http://schemas.microsoft.com/office/drawing/2014/main" id="{BF3A5D94-2BEA-4FCE-8F81-E73A26422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5092701"/>
            <a:ext cx="901700" cy="270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head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DF243E5-0B6A-43AA-97DD-0092BE2FFCA4}"/>
              </a:ext>
            </a:extLst>
          </p:cNvPr>
          <p:cNvGrpSpPr/>
          <p:nvPr/>
        </p:nvGrpSpPr>
        <p:grpSpPr>
          <a:xfrm>
            <a:off x="152400" y="3598636"/>
            <a:ext cx="1625600" cy="1394278"/>
            <a:chOff x="41275" y="2815376"/>
            <a:chExt cx="1625600" cy="1570860"/>
          </a:xfrm>
        </p:grpSpPr>
        <p:sp>
          <p:nvSpPr>
            <p:cNvPr id="42" name="Line 4">
              <a:extLst>
                <a:ext uri="{FF2B5EF4-FFF2-40B4-BE49-F238E27FC236}">
                  <a16:creationId xmlns:a16="http://schemas.microsoft.com/office/drawing/2014/main" id="{1CADFAA1-FB96-41E5-BD0E-68B7D3E1F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650" y="3251938"/>
              <a:ext cx="541338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64" name="Group 29">
              <a:extLst>
                <a:ext uri="{FF2B5EF4-FFF2-40B4-BE49-F238E27FC236}">
                  <a16:creationId xmlns:a16="http://schemas.microsoft.com/office/drawing/2014/main" id="{F23EDD9C-F745-4A47-8B2A-61310EB56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1988" y="3224186"/>
              <a:ext cx="1004887" cy="1162050"/>
              <a:chOff x="633" y="1209"/>
              <a:chExt cx="633" cy="901"/>
            </a:xfrm>
          </p:grpSpPr>
          <p:grpSp>
            <p:nvGrpSpPr>
              <p:cNvPr id="65" name="Group 30">
                <a:extLst>
                  <a:ext uri="{FF2B5EF4-FFF2-40B4-BE49-F238E27FC236}">
                    <a16:creationId xmlns:a16="http://schemas.microsoft.com/office/drawing/2014/main" id="{1C94A6E0-E4F3-4E59-BDA1-38DD28DCA1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1209"/>
                <a:ext cx="633" cy="901"/>
                <a:chOff x="1736" y="2726"/>
                <a:chExt cx="633" cy="901"/>
              </a:xfrm>
            </p:grpSpPr>
            <p:sp>
              <p:nvSpPr>
                <p:cNvPr id="67" name="Rectangle 31">
                  <a:extLst>
                    <a:ext uri="{FF2B5EF4-FFF2-40B4-BE49-F238E27FC236}">
                      <a16:creationId xmlns:a16="http://schemas.microsoft.com/office/drawing/2014/main" id="{AC7837B4-9BC5-48C9-96F7-9F0E4D2785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36" y="2726"/>
                  <a:ext cx="633" cy="673"/>
                </a:xfrm>
                <a:prstGeom prst="rect">
                  <a:avLst/>
                </a:prstGeom>
                <a:solidFill>
                  <a:srgbClr val="FFFF00"/>
                </a:solidFill>
                <a:ln w="28575">
                  <a:solidFill>
                    <a:srgbClr val="99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"/>
                    </a:spcBef>
                    <a:spcAft>
                      <a:spcPct val="0"/>
                    </a:spcAft>
                    <a:buClr>
                      <a:srgbClr val="000000"/>
                    </a:buClr>
                    <a:buSzTx/>
                    <a:buFont typeface="Wingdings" panose="05000000000000000000" pitchFamily="2" charset="2"/>
                    <a:buNone/>
                    <a:tabLst/>
                    <a:defRPr/>
                  </a:pPr>
                  <a:r>
                    <a: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黑体" panose="02010609060101010101" pitchFamily="49" charset="-122"/>
                      <a:cs typeface="+mn-cs"/>
                    </a:rPr>
                    <a:t>数据域 </a:t>
                  </a:r>
                </a:p>
              </p:txBody>
            </p:sp>
            <p:sp>
              <p:nvSpPr>
                <p:cNvPr id="68" name="Rectangle 32">
                  <a:extLst>
                    <a:ext uri="{FF2B5EF4-FFF2-40B4-BE49-F238E27FC236}">
                      <a16:creationId xmlns:a16="http://schemas.microsoft.com/office/drawing/2014/main" id="{C3FCFADD-5495-4245-A60F-35BA62DD6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36" y="3400"/>
                  <a:ext cx="633" cy="227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rgbClr val="99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"/>
                    </a:spcBef>
                    <a:spcAft>
                      <a:spcPct val="0"/>
                    </a:spcAft>
                    <a:buClr>
                      <a:srgbClr val="000000"/>
                    </a:buClr>
                    <a:buSzTx/>
                    <a:buFont typeface="Wingdings" panose="05000000000000000000" pitchFamily="2" charset="2"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黑体" panose="02010609060101010101" pitchFamily="49" charset="-122"/>
                      <a:cs typeface="+mn-cs"/>
                    </a:rPr>
                    <a:t>NULL </a:t>
                  </a:r>
                </a:p>
              </p:txBody>
            </p:sp>
          </p:grpSp>
          <p:sp>
            <p:nvSpPr>
              <p:cNvPr id="66" name="Line 33">
                <a:extLst>
                  <a:ext uri="{FF2B5EF4-FFF2-40B4-BE49-F238E27FC236}">
                    <a16:creationId xmlns:a16="http://schemas.microsoft.com/office/drawing/2014/main" id="{94782EAD-686E-472D-87C5-165935E18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" y="1209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99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D528D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id="{ABD34942-F61D-4FB5-A0F3-C26D24409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" y="2815376"/>
              <a:ext cx="901700" cy="2708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F5F5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黑体" panose="02010609060101010101" pitchFamily="49" charset="-122"/>
                  <a:cs typeface="+mn-cs"/>
                </a:rPr>
                <a:t>head </a:t>
              </a:r>
            </a:p>
          </p:txBody>
        </p:sp>
      </p:grpSp>
      <p:sp>
        <p:nvSpPr>
          <p:cNvPr id="74" name="Rectangle 34">
            <a:extLst>
              <a:ext uri="{FF2B5EF4-FFF2-40B4-BE49-F238E27FC236}">
                <a16:creationId xmlns:a16="http://schemas.microsoft.com/office/drawing/2014/main" id="{39D8DCA6-5DDC-4FE3-8616-F1EEBB86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5" y="3048000"/>
            <a:ext cx="8917531" cy="471666"/>
          </a:xfrm>
          <a:prstGeom prst="rect">
            <a:avLst/>
          </a:prstGeom>
          <a:solidFill>
            <a:srgbClr val="FFFF00"/>
          </a:solidFill>
          <a:ln w="38100">
            <a:solidFill>
              <a:srgbClr val="990000"/>
            </a:solidFill>
          </a:ln>
          <a:effectLst/>
        </p:spPr>
        <p:txBody>
          <a:bodyPr wrap="none" anchor="ctr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Node *head = NULL;</a:t>
            </a:r>
            <a:r>
              <a:rPr kumimoji="0" lang="en-US" altLang="zh-CN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</a:rPr>
              <a:t>   </a:t>
            </a:r>
            <a:r>
              <a:rPr lang="en-US" altLang="zh-CN" sz="2000" b="1" dirty="0">
                <a:solidFill>
                  <a:srgbClr val="990000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990000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这一点很重要，是一切操作的基础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uiExpand="1" build="p" animBg="1"/>
      <p:bldP spid="288802" grpId="0" autoUpdateAnimBg="0"/>
      <p:bldP spid="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E7A5-3B10-4751-AF76-1641B350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1F0559-896A-473E-A0B2-7D868A55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5334000"/>
          </a:xfrm>
        </p:spPr>
        <p:txBody>
          <a:bodyPr/>
          <a:lstStyle/>
          <a:p>
            <a:r>
              <a:rPr lang="zh-CN" altLang="en-US" dirty="0"/>
              <a:t> 如何表示不带头结点的链表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单向链表三要素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结点类型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首结点地址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结点个数</a:t>
            </a:r>
            <a:r>
              <a:rPr lang="en-US" altLang="zh-CN" dirty="0"/>
              <a:t>	</a:t>
            </a:r>
            <a:r>
              <a:rPr lang="zh-CN" altLang="en-US" dirty="0"/>
              <a:t>（因为有尾结点标志，可隐藏结点个数）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链表由其</a:t>
            </a:r>
            <a:r>
              <a:rPr lang="zh-CN" altLang="en-US" dirty="0">
                <a:solidFill>
                  <a:srgbClr val="990000"/>
                </a:solidFill>
                <a:ea typeface="楷体_GB2312" pitchFamily="49" charset="-122"/>
              </a:rPr>
              <a:t>首结点地址</a:t>
            </a:r>
            <a:r>
              <a:rPr lang="zh-CN" altLang="en-US" dirty="0"/>
              <a:t>决定（可类比</a:t>
            </a:r>
            <a:r>
              <a:rPr lang="en-US" altLang="zh-CN" dirty="0"/>
              <a:t>C-</a:t>
            </a:r>
            <a:r>
              <a:rPr lang="zh-CN" altLang="en-US" dirty="0"/>
              <a:t>字符串）</a:t>
            </a:r>
            <a:endParaRPr lang="en-US" altLang="zh-CN" dirty="0"/>
          </a:p>
          <a:p>
            <a:r>
              <a:rPr lang="zh-CN" altLang="en-US" dirty="0"/>
              <a:t> 故将链表传递给函数，仅需要一个参数！</a:t>
            </a:r>
            <a:endParaRPr lang="en-US" altLang="zh-CN" dirty="0"/>
          </a:p>
          <a:p>
            <a:pPr lvl="1"/>
            <a:r>
              <a:rPr lang="zh-CN" altLang="en-US" dirty="0"/>
              <a:t>可能改变首结点的函数（</a:t>
            </a:r>
            <a:r>
              <a:rPr lang="en-US" altLang="zh-CN" dirty="0"/>
              <a:t>in/out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传递首结点（指针）的地址 </a:t>
            </a:r>
            <a:r>
              <a:rPr lang="en-US" altLang="zh-CN" dirty="0"/>
              <a:t>———— </a:t>
            </a:r>
            <a:r>
              <a:rPr lang="zh-CN" altLang="en-US" dirty="0"/>
              <a:t>二级指针 （</a:t>
            </a:r>
            <a:r>
              <a:rPr lang="en-US" altLang="zh-CN" dirty="0"/>
              <a:t>C/C++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传递首结点（指针）      </a:t>
            </a:r>
            <a:r>
              <a:rPr lang="en-US" altLang="zh-CN" dirty="0"/>
              <a:t>———— </a:t>
            </a:r>
            <a:r>
              <a:rPr lang="zh-CN" altLang="en-US" dirty="0"/>
              <a:t>指针的引用（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不改变首结点的函数（</a:t>
            </a:r>
            <a:r>
              <a:rPr lang="en-US" altLang="zh-CN" dirty="0"/>
              <a:t>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值传递首结点（指针）     </a:t>
            </a:r>
            <a:r>
              <a:rPr lang="en-US" altLang="zh-CN" dirty="0"/>
              <a:t>———— </a:t>
            </a:r>
            <a:r>
              <a:rPr lang="zh-CN" altLang="en-US" dirty="0"/>
              <a:t>一级指针（</a:t>
            </a:r>
            <a:r>
              <a:rPr lang="en-US" altLang="zh-CN" dirty="0"/>
              <a:t>C/C++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常引用传递首结点（指针） </a:t>
            </a:r>
            <a:r>
              <a:rPr lang="en-US" altLang="zh-CN" dirty="0"/>
              <a:t>———— </a:t>
            </a:r>
            <a:r>
              <a:rPr lang="zh-CN" altLang="en-US" dirty="0"/>
              <a:t>常引用  （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598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E7A5-3B10-4751-AF76-1641B350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函数原型设计</a:t>
            </a:r>
          </a:p>
        </p:txBody>
      </p:sp>
      <p:sp useBgFill="1">
        <p:nvSpPr>
          <p:cNvPr id="3" name="内容占位符 2">
            <a:extLst>
              <a:ext uri="{FF2B5EF4-FFF2-40B4-BE49-F238E27FC236}">
                <a16:creationId xmlns:a16="http://schemas.microsoft.com/office/drawing/2014/main" id="{001F0559-896A-473E-A0B2-7D868A55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2999"/>
            <a:ext cx="8915400" cy="5589587"/>
          </a:xfrm>
          <a:ln w="25400">
            <a:solidFill>
              <a:srgbClr val="990000"/>
            </a:solidFill>
          </a:ln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1. </a:t>
            </a:r>
            <a:r>
              <a:rPr lang="zh-CN" altLang="en-US" dirty="0"/>
              <a:t>增加一系列结点</a:t>
            </a:r>
            <a:endParaRPr lang="en-US" altLang="zh-CN" dirty="0"/>
          </a:p>
          <a:p>
            <a:pPr lvl="1"/>
            <a:r>
              <a:rPr lang="zh-CN" altLang="en-US" dirty="0"/>
              <a:t>函数名 </a:t>
            </a:r>
            <a:r>
              <a:rPr lang="en-US" altLang="zh-CN" dirty="0"/>
              <a:t>Create</a:t>
            </a:r>
          </a:p>
          <a:p>
            <a:pPr lvl="1"/>
            <a:r>
              <a:rPr lang="zh-CN" altLang="en-US" dirty="0"/>
              <a:t>形式参数</a:t>
            </a:r>
            <a:endParaRPr lang="en-US" altLang="zh-CN" dirty="0"/>
          </a:p>
          <a:p>
            <a:pPr lvl="2"/>
            <a:r>
              <a:rPr lang="zh-CN" altLang="en-US" dirty="0"/>
              <a:t>链表</a:t>
            </a:r>
            <a:r>
              <a:rPr lang="en-US" altLang="zh-CN" dirty="0"/>
              <a:t>					in</a:t>
            </a:r>
            <a:r>
              <a:rPr lang="en-US" altLang="zh-CN" sz="24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宋体" panose="02010600030101010101" pitchFamily="2" charset="-122"/>
              </a:rPr>
              <a:t>?</a:t>
            </a:r>
            <a:r>
              <a:rPr lang="zh-CN" altLang="en-US" dirty="0"/>
              <a:t>    </a:t>
            </a:r>
            <a:r>
              <a:rPr lang="en-US" altLang="zh-CN" dirty="0"/>
              <a:t>out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endParaRPr lang="en-US" altLang="zh-CN" dirty="0"/>
          </a:p>
          <a:p>
            <a:pPr lvl="2"/>
            <a:r>
              <a:rPr lang="zh-CN" altLang="en-US" dirty="0"/>
              <a:t>一系列数据（数组三要素）</a:t>
            </a:r>
            <a:r>
              <a:rPr lang="en-US" altLang="zh-CN" dirty="0"/>
              <a:t>	in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（</a:t>
            </a:r>
            <a:r>
              <a:rPr lang="zh-CN" altLang="zh-CN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加以保护</a:t>
            </a:r>
            <a:r>
              <a:rPr lang="zh-CN" altLang="en-US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</a:t>
            </a:r>
            <a:endParaRPr lang="en-US" altLang="zh-CN" dirty="0"/>
          </a:p>
          <a:p>
            <a:pPr lvl="2"/>
            <a:r>
              <a:rPr lang="zh-CN" altLang="en-US" dirty="0"/>
              <a:t>其他考虑（如：默认参数）</a:t>
            </a:r>
            <a:endParaRPr lang="en-US" altLang="zh-CN" dirty="0"/>
          </a:p>
          <a:p>
            <a:pPr lvl="1"/>
            <a:r>
              <a:rPr lang="zh-CN" altLang="en-US" dirty="0"/>
              <a:t>返回类型</a:t>
            </a:r>
            <a:endParaRPr lang="en-US" altLang="zh-CN" dirty="0"/>
          </a:p>
          <a:p>
            <a:pPr lvl="2"/>
            <a:r>
              <a:rPr lang="en-US" altLang="zh-CN" dirty="0"/>
              <a:t>Node *&amp;</a:t>
            </a:r>
            <a:r>
              <a:rPr lang="zh-CN" altLang="en-US" dirty="0"/>
              <a:t>（引用返回链表首结点）</a:t>
            </a:r>
            <a:endParaRPr lang="en-US" altLang="zh-CN" dirty="0"/>
          </a:p>
          <a:p>
            <a:pPr lvl="2"/>
            <a:r>
              <a:rPr lang="zh-CN" altLang="en-US" dirty="0"/>
              <a:t>或者 </a:t>
            </a:r>
            <a:r>
              <a:rPr lang="en-US" altLang="zh-CN" dirty="0">
                <a:solidFill>
                  <a:srgbClr val="0000FF"/>
                </a:solidFill>
              </a:rPr>
              <a:t>void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函数原型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  </a:t>
            </a:r>
            <a:r>
              <a:rPr lang="en-US" altLang="zh-CN" dirty="0">
                <a:solidFill>
                  <a:schemeClr val="tx2"/>
                </a:solidFill>
              </a:rPr>
              <a:t>Node *&amp; Create(Node *&amp;head,</a:t>
            </a:r>
            <a:br>
              <a:rPr lang="en-US" altLang="zh-CN" dirty="0">
                <a:solidFill>
                  <a:schemeClr val="tx2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              int</a:t>
            </a:r>
            <a:r>
              <a:rPr lang="en-US" altLang="zh-CN" dirty="0">
                <a:solidFill>
                  <a:schemeClr val="tx2"/>
                </a:solidFill>
              </a:rPr>
              <a:t> n=0, </a:t>
            </a:r>
            <a:r>
              <a:rPr lang="en-US" altLang="zh-CN" dirty="0">
                <a:solidFill>
                  <a:srgbClr val="0000FF"/>
                </a:solidFill>
              </a:rPr>
              <a:t>const int</a:t>
            </a:r>
            <a:r>
              <a:rPr lang="en-US" altLang="zh-CN" dirty="0">
                <a:solidFill>
                  <a:schemeClr val="tx2"/>
                </a:solidFill>
              </a:rPr>
              <a:t> *array=NULL);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调用格式：</a:t>
            </a:r>
            <a:r>
              <a:rPr lang="en-US" altLang="zh-CN" dirty="0">
                <a:solidFill>
                  <a:schemeClr val="tx2"/>
                </a:solidFill>
              </a:rPr>
              <a:t>Create(head, 10, a);	  </a:t>
            </a:r>
            <a:r>
              <a:rPr lang="en-US" altLang="zh-CN" dirty="0">
                <a:solidFill>
                  <a:srgbClr val="990000"/>
                </a:solidFill>
              </a:rPr>
              <a:t>// a</a:t>
            </a:r>
            <a:r>
              <a:rPr lang="zh-CN" altLang="en-US" dirty="0">
                <a:solidFill>
                  <a:srgbClr val="990000"/>
                </a:solidFill>
              </a:rPr>
              <a:t>是某整型数组名</a:t>
            </a:r>
            <a:endParaRPr lang="en-US" altLang="zh-CN" dirty="0">
              <a:solidFill>
                <a:srgbClr val="99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5C85BD-DDA3-425A-A477-55542B2B2E44}"/>
              </a:ext>
            </a:extLst>
          </p:cNvPr>
          <p:cNvSpPr txBox="1"/>
          <p:nvPr/>
        </p:nvSpPr>
        <p:spPr>
          <a:xfrm>
            <a:off x="6096000" y="2514600"/>
            <a:ext cx="53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737944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E7A5-3B10-4751-AF76-1641B350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函数原型设计</a:t>
            </a:r>
          </a:p>
        </p:txBody>
      </p:sp>
      <p:sp useBgFill="1">
        <p:nvSpPr>
          <p:cNvPr id="3" name="内容占位符 2">
            <a:extLst>
              <a:ext uri="{FF2B5EF4-FFF2-40B4-BE49-F238E27FC236}">
                <a16:creationId xmlns:a16="http://schemas.microsoft.com/office/drawing/2014/main" id="{001F0559-896A-473E-A0B2-7D868A55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2999"/>
            <a:ext cx="8915400" cy="5589587"/>
          </a:xfrm>
          <a:ln w="25400">
            <a:solidFill>
              <a:srgbClr val="990000"/>
            </a:solidFill>
          </a:ln>
        </p:spPr>
        <p:txBody>
          <a:bodyPr/>
          <a:lstStyle/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函数原型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  </a:t>
            </a:r>
            <a:r>
              <a:rPr lang="en-US" altLang="zh-CN" dirty="0">
                <a:solidFill>
                  <a:schemeClr val="tx2"/>
                </a:solidFill>
              </a:rPr>
              <a:t>Node *&amp; Create(Node *&amp; head,</a:t>
            </a:r>
            <a:br>
              <a:rPr lang="en-US" altLang="zh-CN" dirty="0">
                <a:solidFill>
                  <a:schemeClr val="tx2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              int</a:t>
            </a:r>
            <a:r>
              <a:rPr lang="en-US" altLang="zh-CN" dirty="0">
                <a:solidFill>
                  <a:schemeClr val="tx2"/>
                </a:solidFill>
              </a:rPr>
              <a:t> n=0, </a:t>
            </a:r>
            <a:r>
              <a:rPr lang="en-US" altLang="zh-CN" dirty="0">
                <a:solidFill>
                  <a:srgbClr val="0000FF"/>
                </a:solidFill>
              </a:rPr>
              <a:t>const int</a:t>
            </a:r>
            <a:r>
              <a:rPr lang="en-US" altLang="zh-CN" dirty="0">
                <a:solidFill>
                  <a:schemeClr val="tx2"/>
                </a:solidFill>
              </a:rPr>
              <a:t> *array=NULL);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调用格式：</a:t>
            </a:r>
            <a:r>
              <a:rPr lang="en-US" altLang="zh-CN" dirty="0">
                <a:solidFill>
                  <a:schemeClr val="tx2"/>
                </a:solidFill>
              </a:rPr>
              <a:t>Create(head, 10, a);	  </a:t>
            </a:r>
            <a:r>
              <a:rPr lang="en-US" altLang="zh-CN" dirty="0">
                <a:solidFill>
                  <a:srgbClr val="990000"/>
                </a:solidFill>
              </a:rPr>
              <a:t>// a</a:t>
            </a:r>
            <a:r>
              <a:rPr lang="zh-CN" altLang="en-US" dirty="0">
                <a:solidFill>
                  <a:srgbClr val="990000"/>
                </a:solidFill>
              </a:rPr>
              <a:t>是某整型数组名</a:t>
            </a:r>
            <a:endParaRPr lang="en-US" altLang="zh-CN" dirty="0">
              <a:solidFill>
                <a:srgbClr val="990000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990000"/>
                </a:solidFill>
              </a:rPr>
              <a:t>【</a:t>
            </a:r>
            <a:r>
              <a:rPr lang="zh-CN" altLang="en-US" dirty="0">
                <a:solidFill>
                  <a:srgbClr val="990000"/>
                </a:solidFill>
              </a:rPr>
              <a:t>注</a:t>
            </a:r>
            <a:r>
              <a:rPr lang="en-US" altLang="zh-CN" dirty="0">
                <a:solidFill>
                  <a:srgbClr val="990000"/>
                </a:solidFill>
              </a:rPr>
              <a:t>】</a:t>
            </a:r>
            <a:r>
              <a:rPr lang="zh-CN" altLang="en-US" dirty="0">
                <a:solidFill>
                  <a:srgbClr val="990000"/>
                </a:solidFill>
              </a:rPr>
              <a:t>隐含假定</a:t>
            </a:r>
            <a:r>
              <a:rPr lang="en-US" altLang="zh-CN" dirty="0">
                <a:solidFill>
                  <a:srgbClr val="990000"/>
                </a:solidFill>
              </a:rPr>
              <a:t>head</a:t>
            </a:r>
            <a:r>
              <a:rPr lang="zh-CN" altLang="en-US" dirty="0">
                <a:solidFill>
                  <a:srgbClr val="990000"/>
                </a:solidFill>
              </a:rPr>
              <a:t>是一条完整的链表（可以是空链表）</a:t>
            </a:r>
            <a:endParaRPr lang="en-US" altLang="zh-CN" dirty="0">
              <a:solidFill>
                <a:srgbClr val="990000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endParaRPr lang="en-US" altLang="zh-CN" dirty="0">
              <a:solidFill>
                <a:srgbClr val="990000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如果不用引用（如：</a:t>
            </a:r>
            <a:r>
              <a:rPr lang="en-US" altLang="zh-CN" dirty="0">
                <a:solidFill>
                  <a:schemeClr val="tx2"/>
                </a:solidFill>
              </a:rPr>
              <a:t>C</a:t>
            </a:r>
            <a:r>
              <a:rPr lang="zh-CN" altLang="en-US" dirty="0">
                <a:solidFill>
                  <a:schemeClr val="tx2"/>
                </a:solidFill>
              </a:rPr>
              <a:t>语言）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en-US" altLang="zh-CN" dirty="0">
                <a:solidFill>
                  <a:srgbClr val="0000FF"/>
                </a:solidFill>
              </a:rPr>
              <a:t>void </a:t>
            </a:r>
            <a:r>
              <a:rPr lang="en-US" altLang="zh-CN" dirty="0">
                <a:solidFill>
                  <a:schemeClr val="tx2"/>
                </a:solidFill>
              </a:rPr>
              <a:t>Create(Node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** head,       </a:t>
            </a:r>
            <a:r>
              <a:rPr lang="en-US" altLang="zh-CN" dirty="0">
                <a:solidFill>
                  <a:srgbClr val="990000"/>
                </a:solidFill>
              </a:rPr>
              <a:t>// </a:t>
            </a:r>
            <a:r>
              <a:rPr lang="zh-CN" altLang="en-US" dirty="0">
                <a:solidFill>
                  <a:srgbClr val="990000"/>
                </a:solidFill>
              </a:rPr>
              <a:t>二级指针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           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const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int </a:t>
            </a:r>
            <a:r>
              <a:rPr lang="en-US" altLang="zh-CN" dirty="0">
                <a:solidFill>
                  <a:schemeClr val="tx2"/>
                </a:solidFill>
              </a:rPr>
              <a:t>*array, 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n);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en-US" dirty="0">
                <a:solidFill>
                  <a:schemeClr val="tx2"/>
                </a:solidFill>
              </a:rPr>
              <a:t>调用格式 </a:t>
            </a:r>
            <a:r>
              <a:rPr lang="en-US" altLang="zh-CN" dirty="0">
                <a:solidFill>
                  <a:schemeClr val="tx2"/>
                </a:solidFill>
              </a:rPr>
              <a:t>Create(&amp;head, a, 10);   </a:t>
            </a:r>
            <a:r>
              <a:rPr lang="en-US" altLang="zh-CN" dirty="0">
                <a:solidFill>
                  <a:srgbClr val="990000"/>
                </a:solidFill>
              </a:rPr>
              <a:t>// </a:t>
            </a:r>
            <a:r>
              <a:rPr lang="zh-CN" altLang="en-US" dirty="0">
                <a:solidFill>
                  <a:srgbClr val="990000"/>
                </a:solidFill>
              </a:rPr>
              <a:t>取</a:t>
            </a:r>
            <a:r>
              <a:rPr lang="en-US" altLang="zh-CN" dirty="0">
                <a:solidFill>
                  <a:srgbClr val="990000"/>
                </a:solidFill>
              </a:rPr>
              <a:t>head</a:t>
            </a:r>
            <a:r>
              <a:rPr lang="zh-CN" altLang="en-US" dirty="0">
                <a:solidFill>
                  <a:srgbClr val="990000"/>
                </a:solidFill>
              </a:rPr>
              <a:t>的地址</a:t>
            </a:r>
            <a:endParaRPr lang="en-US" altLang="zh-CN" dirty="0">
              <a:solidFill>
                <a:srgbClr val="990000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990000"/>
                </a:solidFill>
              </a:rPr>
              <a:t>【</a:t>
            </a:r>
            <a:r>
              <a:rPr lang="zh-CN" altLang="en-US" dirty="0">
                <a:solidFill>
                  <a:srgbClr val="990000"/>
                </a:solidFill>
              </a:rPr>
              <a:t>注</a:t>
            </a:r>
            <a:r>
              <a:rPr lang="en-US" altLang="zh-CN" dirty="0">
                <a:solidFill>
                  <a:srgbClr val="990000"/>
                </a:solidFill>
              </a:rPr>
              <a:t>】</a:t>
            </a:r>
            <a:r>
              <a:rPr lang="zh-CN" altLang="en-US" dirty="0">
                <a:solidFill>
                  <a:srgbClr val="990000"/>
                </a:solidFill>
              </a:rPr>
              <a:t>隐含假定</a:t>
            </a:r>
            <a:r>
              <a:rPr lang="en-US" altLang="zh-CN" dirty="0">
                <a:solidFill>
                  <a:srgbClr val="990000"/>
                </a:solidFill>
              </a:rPr>
              <a:t>head</a:t>
            </a:r>
            <a:r>
              <a:rPr lang="zh-CN" altLang="en-US" dirty="0">
                <a:solidFill>
                  <a:srgbClr val="990000"/>
                </a:solidFill>
              </a:rPr>
              <a:t>是一条完整的链表（可以是空链表）</a:t>
            </a:r>
            <a:endParaRPr lang="en-US" altLang="zh-CN" dirty="0">
              <a:solidFill>
                <a:srgbClr val="990000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或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Node * Create(</a:t>
            </a:r>
            <a:r>
              <a:rPr lang="en-US" altLang="zh-CN" dirty="0">
                <a:solidFill>
                  <a:srgbClr val="0000FF"/>
                </a:solidFill>
              </a:rPr>
              <a:t>const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*array, 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n);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en-US" dirty="0">
                <a:solidFill>
                  <a:schemeClr val="tx2"/>
                </a:solidFill>
              </a:rPr>
              <a:t>调用格式 </a:t>
            </a:r>
            <a:r>
              <a:rPr lang="en-US" altLang="zh-CN" dirty="0">
                <a:solidFill>
                  <a:schemeClr val="tx2"/>
                </a:solidFill>
              </a:rPr>
              <a:t>head = Create(a, 10);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990000"/>
                </a:solidFill>
              </a:rPr>
              <a:t>【</a:t>
            </a:r>
            <a:r>
              <a:rPr lang="zh-CN" altLang="en-US" dirty="0">
                <a:solidFill>
                  <a:srgbClr val="990000"/>
                </a:solidFill>
              </a:rPr>
              <a:t>注</a:t>
            </a:r>
            <a:r>
              <a:rPr lang="en-US" altLang="zh-CN" dirty="0">
                <a:solidFill>
                  <a:srgbClr val="990000"/>
                </a:solidFill>
              </a:rPr>
              <a:t>】</a:t>
            </a:r>
            <a:r>
              <a:rPr lang="zh-CN" altLang="en-US" dirty="0">
                <a:solidFill>
                  <a:srgbClr val="990000"/>
                </a:solidFill>
              </a:rPr>
              <a:t>实参不提供链表首地址</a:t>
            </a:r>
            <a:endParaRPr lang="en-US" altLang="zh-C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595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E7A5-3B10-4751-AF76-1641B350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函数原型设计</a:t>
            </a:r>
          </a:p>
        </p:txBody>
      </p:sp>
      <p:sp useBgFill="1">
        <p:nvSpPr>
          <p:cNvPr id="3" name="内容占位符 2">
            <a:extLst>
              <a:ext uri="{FF2B5EF4-FFF2-40B4-BE49-F238E27FC236}">
                <a16:creationId xmlns:a16="http://schemas.microsoft.com/office/drawing/2014/main" id="{001F0559-896A-473E-A0B2-7D868A55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2999"/>
            <a:ext cx="8915400" cy="5589587"/>
          </a:xfrm>
          <a:ln w="25400">
            <a:solidFill>
              <a:srgbClr val="990000"/>
            </a:solidFill>
          </a:ln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2. </a:t>
            </a:r>
            <a:r>
              <a:rPr lang="zh-CN" altLang="en-US" dirty="0"/>
              <a:t>释放所有结点</a:t>
            </a:r>
            <a:endParaRPr lang="en-US" altLang="zh-CN" dirty="0"/>
          </a:p>
          <a:p>
            <a:pPr lvl="1"/>
            <a:r>
              <a:rPr lang="zh-CN" altLang="en-US" dirty="0"/>
              <a:t>函数名 </a:t>
            </a:r>
            <a:r>
              <a:rPr lang="en-US" altLang="zh-CN" dirty="0" err="1"/>
              <a:t>FreeList</a:t>
            </a:r>
            <a:endParaRPr lang="en-US" altLang="zh-CN" dirty="0"/>
          </a:p>
          <a:p>
            <a:pPr lvl="1"/>
            <a:r>
              <a:rPr lang="zh-CN" altLang="en-US" dirty="0"/>
              <a:t>形式参数</a:t>
            </a:r>
            <a:endParaRPr lang="en-US" altLang="zh-CN" dirty="0"/>
          </a:p>
          <a:p>
            <a:pPr lvl="2"/>
            <a:r>
              <a:rPr lang="zh-CN" altLang="en-US" dirty="0"/>
              <a:t>链表</a:t>
            </a:r>
            <a:r>
              <a:rPr lang="en-US" altLang="zh-CN" dirty="0"/>
              <a:t>					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r>
              <a:rPr lang="zh-CN" altLang="en-US" dirty="0"/>
              <a:t>  </a:t>
            </a:r>
            <a:r>
              <a:rPr lang="en-US" altLang="zh-CN" dirty="0"/>
              <a:t>out</a:t>
            </a:r>
            <a:r>
              <a:rPr lang="en-US" altLang="zh-CN" sz="24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宋体" panose="02010600030101010101" pitchFamily="2" charset="-122"/>
              </a:rPr>
              <a:t>?</a:t>
            </a:r>
            <a:endParaRPr lang="en-US" altLang="zh-CN" dirty="0"/>
          </a:p>
          <a:p>
            <a:pPr lvl="1"/>
            <a:r>
              <a:rPr lang="zh-CN" altLang="en-US" dirty="0"/>
              <a:t>返回类型</a:t>
            </a:r>
            <a:endParaRPr lang="en-US" altLang="zh-CN" dirty="0"/>
          </a:p>
          <a:p>
            <a:pPr lvl="2"/>
            <a:r>
              <a:rPr lang="en-US" altLang="zh-CN" dirty="0"/>
              <a:t>Node *&amp;</a:t>
            </a:r>
            <a:r>
              <a:rPr lang="zh-CN" altLang="en-US" dirty="0"/>
              <a:t>（引用返回链表首结点）</a:t>
            </a:r>
            <a:endParaRPr lang="en-US" altLang="zh-CN" dirty="0"/>
          </a:p>
          <a:p>
            <a:pPr lvl="2"/>
            <a:r>
              <a:rPr lang="zh-CN" altLang="en-US" dirty="0"/>
              <a:t>或者 </a:t>
            </a:r>
            <a:r>
              <a:rPr lang="en-US" altLang="zh-CN" dirty="0">
                <a:solidFill>
                  <a:srgbClr val="0000FF"/>
                </a:solidFill>
              </a:rPr>
              <a:t>void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函数原型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void </a:t>
            </a:r>
            <a:r>
              <a:rPr lang="en-US" altLang="zh-CN" dirty="0" err="1">
                <a:solidFill>
                  <a:schemeClr val="tx2"/>
                </a:solidFill>
              </a:rPr>
              <a:t>FreeList</a:t>
            </a:r>
            <a:r>
              <a:rPr lang="en-US" altLang="zh-CN" dirty="0">
                <a:solidFill>
                  <a:schemeClr val="tx2"/>
                </a:solidFill>
              </a:rPr>
              <a:t>(Node *&amp;head);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调用格式：</a:t>
            </a:r>
            <a:r>
              <a:rPr lang="en-US" altLang="zh-CN" dirty="0" err="1">
                <a:solidFill>
                  <a:schemeClr val="tx2"/>
                </a:solidFill>
              </a:rPr>
              <a:t>FreeList</a:t>
            </a:r>
            <a:r>
              <a:rPr lang="en-US" altLang="zh-CN" dirty="0">
                <a:solidFill>
                  <a:schemeClr val="tx2"/>
                </a:solidFill>
              </a:rPr>
              <a:t>(head);</a:t>
            </a:r>
            <a:endParaRPr lang="en-US" altLang="zh-CN" dirty="0">
              <a:solidFill>
                <a:srgbClr val="99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5C85BD-DDA3-425A-A477-55542B2B2E44}"/>
              </a:ext>
            </a:extLst>
          </p:cNvPr>
          <p:cNvSpPr txBox="1"/>
          <p:nvPr/>
        </p:nvSpPr>
        <p:spPr>
          <a:xfrm>
            <a:off x="7162800" y="2514600"/>
            <a:ext cx="53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11035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47C37ADB-BE4C-4644-91D1-2E3D1DA3F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88900"/>
            <a:ext cx="5029200" cy="6667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lIns="72000" tIns="72000" rIns="72000" bIns="72000"/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void </a:t>
            </a:r>
            <a:r>
              <a:rPr lang="en-US" altLang="zh-CN" sz="2400" b="1" dirty="0" err="1">
                <a:solidFill>
                  <a:srgbClr val="000000"/>
                </a:solidFill>
                <a:latin typeface="Courier New"/>
                <a:ea typeface="黑体"/>
              </a:rPr>
              <a:t>FreeList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(Node *&amp; head)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Node *p;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while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(head != NULL)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{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   p = head;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   head = head-&gt;next;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   </a:t>
            </a: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delete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p;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} 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}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void </a:t>
            </a:r>
            <a:r>
              <a:rPr lang="en-US" altLang="zh-CN" sz="2400" b="1" dirty="0" err="1">
                <a:solidFill>
                  <a:srgbClr val="000000"/>
                </a:solidFill>
                <a:latin typeface="Courier New"/>
                <a:ea typeface="黑体"/>
              </a:rPr>
              <a:t>FreeList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(Node * head)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{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Node *p;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while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(head != NULL)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{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   p = head;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   head = head-&gt;next;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/>
                <a:ea typeface="黑体"/>
              </a:rPr>
              <a:t>      delete</a:t>
            </a: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p;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   } 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Courier New"/>
                <a:ea typeface="黑体"/>
              </a:rPr>
              <a:t>}</a:t>
            </a:r>
            <a:endParaRPr lang="en-US" altLang="zh-CN" sz="2800" b="1" dirty="0">
              <a:solidFill>
                <a:srgbClr val="000000"/>
              </a:solidFill>
              <a:latin typeface="Courier New"/>
              <a:ea typeface="黑体"/>
            </a:endParaRPr>
          </a:p>
        </p:txBody>
      </p:sp>
      <p:sp useBgFill="1">
        <p:nvSpPr>
          <p:cNvPr id="5" name="内容占位符 2">
            <a:extLst>
              <a:ext uri="{FF2B5EF4-FFF2-40B4-BE49-F238E27FC236}">
                <a16:creationId xmlns:a16="http://schemas.microsoft.com/office/drawing/2014/main" id="{CD466224-EC98-4562-AB54-E0703AAE4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07950"/>
            <a:ext cx="3886200" cy="6648450"/>
          </a:xfrm>
          <a:ln w="25400">
            <a:solidFill>
              <a:srgbClr val="990000"/>
            </a:solidFill>
          </a:ln>
        </p:spPr>
        <p:txBody>
          <a:bodyPr/>
          <a:lstStyle/>
          <a:p>
            <a:pPr marL="285750" lvl="1"/>
            <a:r>
              <a:rPr lang="zh-CN" altLang="en-US" dirty="0"/>
              <a:t>问：这两种设计的相同点、不同点？</a:t>
            </a:r>
            <a:endParaRPr lang="en-US" altLang="zh-CN" dirty="0"/>
          </a:p>
          <a:p>
            <a:pPr marL="285750" lvl="1"/>
            <a:r>
              <a:rPr lang="zh-CN" altLang="en-US" dirty="0"/>
              <a:t>相同点</a:t>
            </a:r>
            <a:endParaRPr lang="en-US" altLang="zh-CN" dirty="0"/>
          </a:p>
          <a:p>
            <a:pPr marL="685800" lvl="2" indent="-419100"/>
            <a:r>
              <a:rPr lang="zh-CN" altLang="en-US" dirty="0"/>
              <a:t>都隐含假定所有的结点均为堆结点</a:t>
            </a:r>
            <a:endParaRPr lang="en-US" altLang="zh-CN" dirty="0"/>
          </a:p>
          <a:p>
            <a:pPr marL="685800" lvl="2" indent="-419100"/>
            <a:r>
              <a:rPr lang="zh-CN" altLang="en-US" dirty="0"/>
              <a:t>都能释放所有的结点</a:t>
            </a:r>
            <a:endParaRPr lang="en-US" altLang="zh-CN" dirty="0"/>
          </a:p>
          <a:p>
            <a:pPr marL="285750" lvl="1" indent="-419100"/>
            <a:r>
              <a:rPr lang="zh-CN" altLang="en-US" dirty="0"/>
              <a:t>不同点</a:t>
            </a:r>
            <a:endParaRPr lang="en-US" altLang="zh-CN" dirty="0"/>
          </a:p>
          <a:p>
            <a:pPr marL="685800" lvl="2" indent="-419100"/>
            <a:r>
              <a:rPr lang="zh-CN" altLang="en-US" dirty="0"/>
              <a:t>第一个函数调用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err="1"/>
              <a:t>FreeList</a:t>
            </a:r>
            <a:r>
              <a:rPr lang="en-US" altLang="zh-CN" dirty="0"/>
              <a:t>(head);</a:t>
            </a:r>
            <a:br>
              <a:rPr lang="en-US" altLang="zh-CN" dirty="0"/>
            </a:br>
            <a:r>
              <a:rPr lang="zh-CN" altLang="en-US" dirty="0"/>
              <a:t>则</a:t>
            </a:r>
            <a:r>
              <a:rPr lang="en-US" altLang="zh-CN" dirty="0"/>
              <a:t>head</a:t>
            </a:r>
            <a:r>
              <a:rPr lang="zh-CN" altLang="en-US" dirty="0"/>
              <a:t>指向</a:t>
            </a:r>
            <a:r>
              <a:rPr lang="en-US" altLang="zh-CN" dirty="0"/>
              <a:t>?</a:t>
            </a:r>
          </a:p>
          <a:p>
            <a:pPr marL="685800" lvl="2" indent="-419100"/>
            <a:r>
              <a:rPr lang="zh-CN" altLang="en-US" dirty="0"/>
              <a:t>第二个函数调用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err="1"/>
              <a:t>FreeList</a:t>
            </a:r>
            <a:r>
              <a:rPr lang="en-US" altLang="zh-CN" dirty="0"/>
              <a:t>(head);</a:t>
            </a:r>
            <a:br>
              <a:rPr lang="en-US" altLang="zh-CN" dirty="0"/>
            </a:br>
            <a:r>
              <a:rPr lang="zh-CN" altLang="en-US" dirty="0"/>
              <a:t>则</a:t>
            </a:r>
            <a:r>
              <a:rPr lang="en-US" altLang="zh-CN" dirty="0"/>
              <a:t>head</a:t>
            </a:r>
            <a:r>
              <a:rPr lang="zh-CN" altLang="en-US" dirty="0"/>
              <a:t>指向</a:t>
            </a:r>
            <a:r>
              <a:rPr lang="en-US" altLang="zh-CN" dirty="0"/>
              <a:t>?</a:t>
            </a:r>
          </a:p>
          <a:p>
            <a:pPr marL="285750" lvl="1" indent="-419100"/>
            <a:r>
              <a:rPr lang="zh-CN" altLang="en-US" sz="2200" dirty="0"/>
              <a:t>约定：</a:t>
            </a:r>
            <a:r>
              <a:rPr lang="en-US" altLang="zh-CN" sz="2200" dirty="0"/>
              <a:t>head==NULL</a:t>
            </a:r>
            <a:r>
              <a:rPr lang="zh-CN" altLang="en-US" sz="2200" dirty="0"/>
              <a:t>时为空链表，否则链表非空。</a:t>
            </a:r>
            <a:endParaRPr lang="en-US" altLang="zh-CN" sz="2200" dirty="0"/>
          </a:p>
          <a:p>
            <a:pPr marL="685800" lvl="2" indent="-419100"/>
            <a:r>
              <a:rPr lang="zh-CN" altLang="en-US" dirty="0"/>
              <a:t>在此约定下</a:t>
            </a:r>
            <a:r>
              <a:rPr lang="en-US" altLang="zh-CN" dirty="0"/>
              <a:t>,</a:t>
            </a:r>
            <a:r>
              <a:rPr lang="zh-CN" altLang="en-US" dirty="0"/>
              <a:t>那个函数好</a:t>
            </a:r>
            <a:r>
              <a:rPr lang="en-US" altLang="zh-CN" dirty="0"/>
              <a:t>?</a:t>
            </a:r>
            <a:r>
              <a:rPr lang="zh-CN" altLang="en-US" dirty="0"/>
              <a:t>为什么</a:t>
            </a:r>
            <a:r>
              <a:rPr lang="en-US" altLang="zh-C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5661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EE7A5-3B10-4751-AF76-1641B350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函数原型设计</a:t>
            </a:r>
          </a:p>
        </p:txBody>
      </p:sp>
      <p:sp useBgFill="1">
        <p:nvSpPr>
          <p:cNvPr id="3" name="内容占位符 2">
            <a:extLst>
              <a:ext uri="{FF2B5EF4-FFF2-40B4-BE49-F238E27FC236}">
                <a16:creationId xmlns:a16="http://schemas.microsoft.com/office/drawing/2014/main" id="{001F0559-896A-473E-A0B2-7D868A55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2999"/>
            <a:ext cx="8915400" cy="5589587"/>
          </a:xfrm>
          <a:ln w="25400">
            <a:solidFill>
              <a:srgbClr val="990000"/>
            </a:solidFill>
          </a:ln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3. </a:t>
            </a:r>
            <a:r>
              <a:rPr lang="zh-CN" altLang="en-US" dirty="0"/>
              <a:t>输出所有结点数据域数据</a:t>
            </a:r>
            <a:endParaRPr lang="en-US" altLang="zh-CN" dirty="0"/>
          </a:p>
          <a:p>
            <a:pPr lvl="1"/>
            <a:r>
              <a:rPr lang="zh-CN" altLang="en-US" dirty="0"/>
              <a:t>函数名 </a:t>
            </a:r>
            <a:r>
              <a:rPr lang="en-US" altLang="zh-CN" dirty="0" err="1"/>
              <a:t>ShowList</a:t>
            </a:r>
            <a:endParaRPr lang="en-US" altLang="zh-CN" dirty="0"/>
          </a:p>
          <a:p>
            <a:pPr lvl="1"/>
            <a:r>
              <a:rPr lang="zh-CN" altLang="en-US" dirty="0"/>
              <a:t>形式参数：链表</a:t>
            </a:r>
            <a:r>
              <a:rPr lang="en-US" altLang="zh-CN" dirty="0"/>
              <a:t>	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82" charset="2"/>
              </a:rPr>
              <a:t></a:t>
            </a:r>
            <a:r>
              <a:rPr lang="zh-CN" altLang="en-US" dirty="0"/>
              <a:t>  </a:t>
            </a:r>
            <a:r>
              <a:rPr lang="en-US" altLang="zh-CN" dirty="0"/>
              <a:t>out</a:t>
            </a:r>
            <a:r>
              <a:rPr lang="en-US" altLang="zh-CN" dirty="0">
                <a:effectLst/>
                <a:ea typeface="宋体" panose="02010600030101010101" pitchFamily="2" charset="-122"/>
                <a:cs typeface="Courier New" panose="02070309020205020404" pitchFamily="49" charset="0"/>
                <a:sym typeface="Wingdings 2" panose="05020102010507070707" pitchFamily="18" charset="2"/>
              </a:rPr>
              <a:t></a:t>
            </a:r>
            <a:endParaRPr lang="en-US" altLang="zh-CN" dirty="0"/>
          </a:p>
          <a:p>
            <a:pPr lvl="1"/>
            <a:r>
              <a:rPr lang="zh-CN" altLang="en-US" dirty="0"/>
              <a:t>返回类型：</a:t>
            </a:r>
            <a:r>
              <a:rPr lang="en-US" altLang="zh-CN" dirty="0">
                <a:solidFill>
                  <a:srgbClr val="0000FF"/>
                </a:solidFill>
              </a:rPr>
              <a:t>void </a:t>
            </a:r>
            <a:r>
              <a:rPr lang="zh-CN" altLang="en-US" dirty="0">
                <a:solidFill>
                  <a:srgbClr val="0000FF"/>
                </a:solidFill>
              </a:rPr>
              <a:t>或 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zh-CN" altLang="en-US" sz="2200" dirty="0">
                <a:solidFill>
                  <a:srgbClr val="0000FF"/>
                </a:solidFill>
              </a:rPr>
              <a:t>（返回结点的个数）</a:t>
            </a:r>
            <a:endParaRPr lang="en-US" altLang="zh-CN" sz="2200" dirty="0">
              <a:solidFill>
                <a:srgbClr val="0000FF"/>
              </a:solidFill>
            </a:endParaRP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函数原型：</a:t>
            </a:r>
            <a:r>
              <a:rPr lang="en-US" altLang="zh-CN" dirty="0">
                <a:solidFill>
                  <a:srgbClr val="0000FF"/>
                </a:solidFill>
              </a:rPr>
              <a:t> int </a:t>
            </a:r>
            <a:r>
              <a:rPr lang="en-US" altLang="zh-CN" dirty="0" err="1">
                <a:solidFill>
                  <a:schemeClr val="tx2"/>
                </a:solidFill>
              </a:rPr>
              <a:t>ShowList</a:t>
            </a:r>
            <a:r>
              <a:rPr lang="en-US" altLang="zh-CN" dirty="0">
                <a:solidFill>
                  <a:schemeClr val="tx2"/>
                </a:solidFill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const</a:t>
            </a:r>
            <a:r>
              <a:rPr lang="en-US" altLang="zh-CN" dirty="0">
                <a:solidFill>
                  <a:schemeClr val="tx2"/>
                </a:solidFill>
              </a:rPr>
              <a:t> Node *head);</a:t>
            </a:r>
          </a:p>
          <a:p>
            <a:pPr marL="87313" lvl="1" indent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函数定义</a:t>
            </a:r>
            <a:endParaRPr lang="en-US" altLang="zh-CN" dirty="0">
              <a:solidFill>
                <a:schemeClr val="tx2"/>
              </a:solidFill>
            </a:endParaRP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ShowList</a:t>
            </a:r>
            <a:r>
              <a:rPr lang="en-US" altLang="zh-CN" dirty="0">
                <a:solidFill>
                  <a:schemeClr val="tx2"/>
                </a:solidFill>
              </a:rPr>
              <a:t>(const Node *head)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{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</a:t>
            </a:r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n;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</a:t>
            </a:r>
            <a:r>
              <a:rPr lang="en-US" altLang="zh-CN" dirty="0" err="1">
                <a:solidFill>
                  <a:schemeClr val="tx2"/>
                </a:solidFill>
              </a:rPr>
              <a:t>cout</a:t>
            </a:r>
            <a:r>
              <a:rPr lang="en-US" altLang="zh-CN" dirty="0">
                <a:solidFill>
                  <a:schemeClr val="tx2"/>
                </a:solidFill>
              </a:rPr>
              <a:t> &lt;&lt; "head";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</a:t>
            </a:r>
            <a:r>
              <a:rPr lang="en-US" altLang="zh-CN" dirty="0">
                <a:solidFill>
                  <a:srgbClr val="0000FF"/>
                </a:solidFill>
              </a:rPr>
              <a:t>for</a:t>
            </a:r>
            <a:r>
              <a:rPr lang="en-US" altLang="zh-CN" dirty="0">
                <a:solidFill>
                  <a:schemeClr val="tx2"/>
                </a:solidFill>
              </a:rPr>
              <a:t>(n=0; head!=NULL; head=head-&gt;</a:t>
            </a:r>
            <a:r>
              <a:rPr lang="en-US" altLang="zh-CN" dirty="0" err="1">
                <a:solidFill>
                  <a:schemeClr val="tx2"/>
                </a:solidFill>
              </a:rPr>
              <a:t>next,n</a:t>
            </a:r>
            <a:r>
              <a:rPr lang="en-US" altLang="zh-CN" dirty="0">
                <a:solidFill>
                  <a:schemeClr val="tx2"/>
                </a:solidFill>
              </a:rPr>
              <a:t>++)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	</a:t>
            </a:r>
            <a:r>
              <a:rPr lang="en-US" altLang="zh-CN" dirty="0" err="1">
                <a:solidFill>
                  <a:schemeClr val="tx2"/>
                </a:solidFill>
              </a:rPr>
              <a:t>cout</a:t>
            </a:r>
            <a:r>
              <a:rPr lang="en-US" altLang="zh-CN" dirty="0">
                <a:solidFill>
                  <a:schemeClr val="tx2"/>
                </a:solidFill>
              </a:rPr>
              <a:t> &lt;&lt; " -&gt; " &lt;&lt; head-&gt;data;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</a:t>
            </a:r>
            <a:r>
              <a:rPr lang="en-US" altLang="zh-CN" dirty="0" err="1">
                <a:solidFill>
                  <a:schemeClr val="tx2"/>
                </a:solidFill>
              </a:rPr>
              <a:t>cout</a:t>
            </a:r>
            <a:r>
              <a:rPr lang="en-US" altLang="zh-CN" dirty="0">
                <a:solidFill>
                  <a:schemeClr val="tx2"/>
                </a:solidFill>
              </a:rPr>
              <a:t> &lt;&lt; " -&gt; NULL" &lt;&lt; </a:t>
            </a:r>
            <a:r>
              <a:rPr lang="en-US" altLang="zh-CN" dirty="0" err="1">
                <a:solidFill>
                  <a:schemeClr val="tx2"/>
                </a:solidFill>
              </a:rPr>
              <a:t>endl</a:t>
            </a:r>
            <a:r>
              <a:rPr lang="en-US" altLang="zh-CN" dirty="0">
                <a:solidFill>
                  <a:schemeClr val="tx2"/>
                </a:solidFill>
              </a:rPr>
              <a:t>;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	</a:t>
            </a:r>
            <a:r>
              <a:rPr lang="en-US" altLang="zh-CN" dirty="0">
                <a:solidFill>
                  <a:srgbClr val="0000FF"/>
                </a:solidFill>
              </a:rPr>
              <a:t>return</a:t>
            </a:r>
            <a:r>
              <a:rPr lang="en-US" altLang="zh-CN" dirty="0">
                <a:solidFill>
                  <a:schemeClr val="tx2"/>
                </a:solidFill>
              </a:rPr>
              <a:t> n;</a:t>
            </a:r>
          </a:p>
          <a:p>
            <a:pPr marL="8731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6672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CD14D-37A6-4C31-B6F5-5E32DD37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0BF4A6-1AA0-47B4-A039-D500C918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hlinkClick r:id="rId2" action="ppaction://hlinkfile"/>
            <a:extLst>
              <a:ext uri="{FF2B5EF4-FFF2-40B4-BE49-F238E27FC236}">
                <a16:creationId xmlns:a16="http://schemas.microsoft.com/office/drawing/2014/main" id="{4B7459C6-46E5-44B5-8EDC-F9382F4E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05000"/>
            <a:ext cx="1575124" cy="1809877"/>
          </a:xfrm>
          <a:prstGeom prst="rect">
            <a:avLst/>
          </a:prstGeom>
        </p:spPr>
      </p:pic>
      <p:pic>
        <p:nvPicPr>
          <p:cNvPr id="7" name="图片 6">
            <a:hlinkClick r:id="rId4" action="ppaction://hlinkfile"/>
            <a:extLst>
              <a:ext uri="{FF2B5EF4-FFF2-40B4-BE49-F238E27FC236}">
                <a16:creationId xmlns:a16="http://schemas.microsoft.com/office/drawing/2014/main" id="{3FB3F287-3105-4D6C-9A00-50CFCE061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7" y="1881187"/>
            <a:ext cx="1052513" cy="180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091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WordArt 4"/>
          <p:cNvSpPr>
            <a:spLocks noChangeArrowheads="1" noChangeShapeType="1" noTextEdit="1"/>
          </p:cNvSpPr>
          <p:nvPr/>
        </p:nvSpPr>
        <p:spPr bwMode="gray">
          <a:xfrm>
            <a:off x="609600" y="3200400"/>
            <a:ext cx="4459288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folHlink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bg2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folHlink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71842" dir="2700000" algn="ctr" rotWithShape="0">
                  <a:schemeClr val="bg2">
                    <a:alpha val="50000"/>
                  </a:schemeClr>
                </a:outerShdw>
              </a:effectLst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012TGp_Global_light">
  <a:themeElements>
    <a:clrScheme name="n012TGp_Global_light 2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8AAECE"/>
      </a:accent1>
      <a:accent2>
        <a:srgbClr val="009999"/>
      </a:accent2>
      <a:accent3>
        <a:srgbClr val="FFFFFF"/>
      </a:accent3>
      <a:accent4>
        <a:srgbClr val="174578"/>
      </a:accent4>
      <a:accent5>
        <a:srgbClr val="C4D3E3"/>
      </a:accent5>
      <a:accent6>
        <a:srgbClr val="008A8A"/>
      </a:accent6>
      <a:hlink>
        <a:srgbClr val="CA3B1E"/>
      </a:hlink>
      <a:folHlink>
        <a:srgbClr val="003399"/>
      </a:folHlink>
    </a:clrScheme>
    <a:fontScheme name="n012TGp_Global_light">
      <a:majorFont>
        <a:latin typeface="Courier New"/>
        <a:ea typeface="黑体"/>
        <a:cs typeface=""/>
      </a:majorFont>
      <a:minorFont>
        <a:latin typeface="Courier New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012TGp_Global_light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8F94A7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C6C8D0"/>
        </a:accent5>
        <a:accent6>
          <a:srgbClr val="E78A2D"/>
        </a:accent6>
        <a:hlink>
          <a:srgbClr val="00CC99"/>
        </a:hlink>
        <a:folHlink>
          <a:srgbClr val="985C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012TGp_Global_light 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8AAECE"/>
        </a:accent1>
        <a:accent2>
          <a:srgbClr val="009999"/>
        </a:accent2>
        <a:accent3>
          <a:srgbClr val="FFFFFF"/>
        </a:accent3>
        <a:accent4>
          <a:srgbClr val="174578"/>
        </a:accent4>
        <a:accent5>
          <a:srgbClr val="C4D3E3"/>
        </a:accent5>
        <a:accent6>
          <a:srgbClr val="008A8A"/>
        </a:accent6>
        <a:hlink>
          <a:srgbClr val="CA3B1E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012TGp_Global_light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59B2D1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5D5E5"/>
        </a:accent5>
        <a:accent6>
          <a:srgbClr val="B47FC3"/>
        </a:accent6>
        <a:hlink>
          <a:srgbClr val="33B976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n012TGp_Global_light">
  <a:themeElements>
    <a:clrScheme name="n012TGp_Global_light 2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8AAECE"/>
      </a:accent1>
      <a:accent2>
        <a:srgbClr val="009999"/>
      </a:accent2>
      <a:accent3>
        <a:srgbClr val="FFFFFF"/>
      </a:accent3>
      <a:accent4>
        <a:srgbClr val="174578"/>
      </a:accent4>
      <a:accent5>
        <a:srgbClr val="C4D3E3"/>
      </a:accent5>
      <a:accent6>
        <a:srgbClr val="008A8A"/>
      </a:accent6>
      <a:hlink>
        <a:srgbClr val="CA3B1E"/>
      </a:hlink>
      <a:folHlink>
        <a:srgbClr val="003399"/>
      </a:folHlink>
    </a:clrScheme>
    <a:fontScheme name="n012TGp_Global_light">
      <a:majorFont>
        <a:latin typeface="Courier New"/>
        <a:ea typeface="黑体"/>
        <a:cs typeface=""/>
      </a:majorFont>
      <a:minorFont>
        <a:latin typeface="Courier New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012TGp_Global_light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8F94A7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C6C8D0"/>
        </a:accent5>
        <a:accent6>
          <a:srgbClr val="E78A2D"/>
        </a:accent6>
        <a:hlink>
          <a:srgbClr val="00CC99"/>
        </a:hlink>
        <a:folHlink>
          <a:srgbClr val="985C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012TGp_Global_light 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8AAECE"/>
        </a:accent1>
        <a:accent2>
          <a:srgbClr val="009999"/>
        </a:accent2>
        <a:accent3>
          <a:srgbClr val="FFFFFF"/>
        </a:accent3>
        <a:accent4>
          <a:srgbClr val="174578"/>
        </a:accent4>
        <a:accent5>
          <a:srgbClr val="C4D3E3"/>
        </a:accent5>
        <a:accent6>
          <a:srgbClr val="008A8A"/>
        </a:accent6>
        <a:hlink>
          <a:srgbClr val="CA3B1E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012TGp_Global_light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59B2D1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5D5E5"/>
        </a:accent5>
        <a:accent6>
          <a:srgbClr val="B47FC3"/>
        </a:accent6>
        <a:hlink>
          <a:srgbClr val="33B976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10613</TotalTime>
  <Words>1411</Words>
  <Application>Microsoft Office PowerPoint</Application>
  <PresentationFormat>全屏显示(4:3)</PresentationFormat>
  <Paragraphs>250</Paragraphs>
  <Slides>19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黑体</vt:lpstr>
      <vt:lpstr>华文新魏</vt:lpstr>
      <vt:lpstr>楷体</vt:lpstr>
      <vt:lpstr>楷体_GB2312</vt:lpstr>
      <vt:lpstr>宋体</vt:lpstr>
      <vt:lpstr>Arial</vt:lpstr>
      <vt:lpstr>Calibri</vt:lpstr>
      <vt:lpstr>Courier New</vt:lpstr>
      <vt:lpstr>Times New Roman</vt:lpstr>
      <vt:lpstr>Verdana</vt:lpstr>
      <vt:lpstr>Webdings</vt:lpstr>
      <vt:lpstr>Wingdings</vt:lpstr>
      <vt:lpstr>Wingdings 2</vt:lpstr>
      <vt:lpstr>1_n012TGp_Global_light</vt:lpstr>
      <vt:lpstr>2_n012TGp_Global_light</vt:lpstr>
      <vt:lpstr>Image</vt:lpstr>
      <vt:lpstr>面向对象程序设计A</vt:lpstr>
      <vt:lpstr>主要内容</vt:lpstr>
      <vt:lpstr>主要内容</vt:lpstr>
      <vt:lpstr>C-字符串</vt:lpstr>
      <vt:lpstr>单向链表</vt:lpstr>
      <vt:lpstr>链表的概念（不带头结点）</vt:lpstr>
      <vt:lpstr>链表的概念（带头结点）</vt:lpstr>
      <vt:lpstr>单向链表的特点</vt:lpstr>
      <vt:lpstr>（不带头结点）空链表</vt:lpstr>
      <vt:lpstr>链表的概念</vt:lpstr>
      <vt:lpstr>链表的概念（不带头结点）</vt:lpstr>
      <vt:lpstr>函数原型设计</vt:lpstr>
      <vt:lpstr>函数原型设计</vt:lpstr>
      <vt:lpstr>函数原型设计</vt:lpstr>
      <vt:lpstr>函数原型设计</vt:lpstr>
      <vt:lpstr>PowerPoint 演示文稿</vt:lpstr>
      <vt:lpstr>函数原型设计</vt:lpstr>
      <vt:lpstr>关于实验2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面向对象程序设计(08305121)</dc:title>
  <dc:subject>从C到C++</dc:subject>
  <dc:creator>LiQing</dc:creator>
  <cp:lastModifiedBy>daijz</cp:lastModifiedBy>
  <cp:revision>282</cp:revision>
  <dcterms:created xsi:type="dcterms:W3CDTF">2005-03-23T09:08:03Z</dcterms:created>
  <dcterms:modified xsi:type="dcterms:W3CDTF">2021-09-13T02:02:29Z</dcterms:modified>
</cp:coreProperties>
</file>