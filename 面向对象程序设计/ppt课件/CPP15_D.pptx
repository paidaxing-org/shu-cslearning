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42"/>
  </p:notesMasterIdLst>
  <p:sldIdLst>
    <p:sldId id="256" r:id="rId3"/>
    <p:sldId id="361" r:id="rId4"/>
    <p:sldId id="290" r:id="rId5"/>
    <p:sldId id="431" r:id="rId6"/>
    <p:sldId id="572" r:id="rId7"/>
    <p:sldId id="497" r:id="rId8"/>
    <p:sldId id="525" r:id="rId9"/>
    <p:sldId id="573" r:id="rId10"/>
    <p:sldId id="574" r:id="rId11"/>
    <p:sldId id="542" r:id="rId12"/>
    <p:sldId id="543" r:id="rId13"/>
    <p:sldId id="545" r:id="rId14"/>
    <p:sldId id="544" r:id="rId15"/>
    <p:sldId id="575" r:id="rId16"/>
    <p:sldId id="576" r:id="rId17"/>
    <p:sldId id="546" r:id="rId18"/>
    <p:sldId id="551" r:id="rId19"/>
    <p:sldId id="552" r:id="rId20"/>
    <p:sldId id="547" r:id="rId21"/>
    <p:sldId id="548" r:id="rId22"/>
    <p:sldId id="549" r:id="rId23"/>
    <p:sldId id="571" r:id="rId24"/>
    <p:sldId id="550" r:id="rId25"/>
    <p:sldId id="528" r:id="rId26"/>
    <p:sldId id="534" r:id="rId27"/>
    <p:sldId id="535" r:id="rId28"/>
    <p:sldId id="577" r:id="rId29"/>
    <p:sldId id="578" r:id="rId30"/>
    <p:sldId id="501" r:id="rId31"/>
    <p:sldId id="502" r:id="rId32"/>
    <p:sldId id="503" r:id="rId33"/>
    <p:sldId id="504" r:id="rId34"/>
    <p:sldId id="506" r:id="rId35"/>
    <p:sldId id="496" r:id="rId36"/>
    <p:sldId id="507" r:id="rId37"/>
    <p:sldId id="508" r:id="rId38"/>
    <p:sldId id="509" r:id="rId39"/>
    <p:sldId id="510" r:id="rId40"/>
    <p:sldId id="276" r:id="rId41"/>
  </p:sldIdLst>
  <p:sldSz cx="9144000" cy="6858000" type="screen4x3"/>
  <p:notesSz cx="6858000" cy="9144000"/>
  <p:custDataLst>
    <p:tags r:id="rId43"/>
  </p:custDataLst>
  <p:kinsoku lang="zh-CN" invalStChars="!),.:;?]}、。—ˇ¨〃々～‖…’”〕〉》」』〗】∶！＂＇），．：；？］｀｜｝·" invalEndChars="([{‘“〔〈《「『〖【（［｛．·"/>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黑体" panose="0201060906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3F6D97"/>
    <a:srgbClr val="008080"/>
    <a:srgbClr val="00FF00"/>
    <a:srgbClr val="0000FF"/>
    <a:srgbClr val="1EAEF6"/>
    <a:srgbClr val="FFFF00"/>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5"/>
    <p:restoredTop sz="94660"/>
  </p:normalViewPr>
  <p:slideViewPr>
    <p:cSldViewPr showGuides="1">
      <p:cViewPr varScale="1">
        <p:scale>
          <a:sx n="123" d="100"/>
          <a:sy n="123" d="100"/>
        </p:scale>
        <p:origin x="546" y="114"/>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81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1981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11981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81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smtClean="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2A3306C-8F1A-48A2-915B-07C42D772AEA}"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5" Type="http://schemas.openxmlformats.org/officeDocument/2006/relationships/image" Target="../media/image2.GIF"/><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vmlDrawing" Target="../drawings/vmlDrawing2.vml"/><Relationship Id="rId5" Type="http://schemas.openxmlformats.org/officeDocument/2006/relationships/image" Target="../media/image2.GIF"/><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rgbClr val="326496"/>
        </a:solidFill>
        <a:effectLst/>
      </p:bgPr>
    </p:bg>
    <p:spTree>
      <p:nvGrpSpPr>
        <p:cNvPr id="1" name=""/>
        <p:cNvGrpSpPr/>
        <p:nvPr/>
      </p:nvGrpSpPr>
      <p:grpSpPr>
        <a:xfrm>
          <a:off x="0" y="0"/>
          <a:ext cx="0" cy="0"/>
          <a:chOff x="0" y="0"/>
          <a:chExt cx="0" cy="0"/>
        </a:xfrm>
      </p:grpSpPr>
      <p:graphicFrame>
        <p:nvGraphicFramePr>
          <p:cNvPr id="2050" name="Object 65"/>
          <p:cNvGraphicFramePr>
            <a:graphicFrameLocks noChangeAspect="1"/>
          </p:cNvGraphicFramePr>
          <p:nvPr/>
        </p:nvGraphicFramePr>
        <p:xfrm>
          <a:off x="0" y="0"/>
          <a:ext cx="9144000" cy="4876800"/>
        </p:xfrm>
        <a:graphic>
          <a:graphicData uri="http://schemas.openxmlformats.org/presentationml/2006/ole">
            <mc:AlternateContent xmlns:mc="http://schemas.openxmlformats.org/markup-compatibility/2006">
              <mc:Choice xmlns:v="urn:schemas-microsoft-com:vml" Requires="v">
                <p:oleObj spid="_x0000_s3095" r:id="rId3" imgW="13004800" imgH="6934200" progId="Photoshop.Image.7">
                  <p:embed/>
                </p:oleObj>
              </mc:Choice>
              <mc:Fallback>
                <p:oleObj r:id="rId3" imgW="13004800" imgH="6934200" progId="Photoshop.Image.7">
                  <p:embed/>
                  <p:pic>
                    <p:nvPicPr>
                      <p:cNvPr id="0" name="图片 3075"/>
                      <p:cNvPicPr/>
                      <p:nvPr/>
                    </p:nvPicPr>
                    <p:blipFill>
                      <a:blip r:embed="rId4"/>
                      <a:stretch>
                        <a:fillRect/>
                      </a:stretch>
                    </p:blipFill>
                    <p:spPr>
                      <a:xfrm>
                        <a:off x="0" y="0"/>
                        <a:ext cx="9144000" cy="4876800"/>
                      </a:xfrm>
                      <a:prstGeom prst="rect">
                        <a:avLst/>
                      </a:prstGeom>
                      <a:noFill/>
                      <a:ln w="38100">
                        <a:noFill/>
                        <a:miter/>
                      </a:ln>
                    </p:spPr>
                  </p:pic>
                </p:oleObj>
              </mc:Fallback>
            </mc:AlternateContent>
          </a:graphicData>
        </a:graphic>
      </p:graphicFrame>
      <p:sp>
        <p:nvSpPr>
          <p:cNvPr id="10" name="Rectangle 66"/>
          <p:cNvSpPr>
            <a:spLocks noChangeArrowheads="1"/>
          </p:cNvSpPr>
          <p:nvPr/>
        </p:nvSpPr>
        <p:spPr bwMode="ltGray">
          <a:xfrm>
            <a:off x="0" y="4906963"/>
            <a:ext cx="9144000" cy="19510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endParaRPr>
          </a:p>
        </p:txBody>
      </p:sp>
      <p:pic>
        <p:nvPicPr>
          <p:cNvPr id="2052" name="Picture 68" descr="5"/>
          <p:cNvPicPr>
            <a:picLocks noChangeAspect="1"/>
          </p:cNvPicPr>
          <p:nvPr userDrawn="1"/>
        </p:nvPicPr>
        <p:blipFill>
          <a:blip r:embed="rId5"/>
          <a:stretch>
            <a:fillRect/>
          </a:stretch>
        </p:blipFill>
        <p:spPr>
          <a:xfrm>
            <a:off x="6653213" y="1731963"/>
            <a:ext cx="1390650" cy="1419225"/>
          </a:xfrm>
          <a:prstGeom prst="rect">
            <a:avLst/>
          </a:prstGeom>
          <a:noFill/>
          <a:ln w="9525">
            <a:noFill/>
          </a:ln>
        </p:spPr>
      </p:pic>
      <p:sp>
        <p:nvSpPr>
          <p:cNvPr id="3074" name="Rectangle 2"/>
          <p:cNvSpPr>
            <a:spLocks noGrp="1" noChangeArrowheads="1"/>
          </p:cNvSpPr>
          <p:nvPr>
            <p:ph type="ctrTitle" hasCustomPrompt="1"/>
          </p:nvPr>
        </p:nvSpPr>
        <p:spPr bwMode="white">
          <a:xfrm>
            <a:off x="228600" y="2879725"/>
            <a:ext cx="8686800" cy="1555750"/>
          </a:xfrm>
          <a:ln w="9525">
            <a:noFill/>
          </a:ln>
          <a:effectLst>
            <a:outerShdw dist="71842" dir="2700000" algn="ctr" rotWithShape="0">
              <a:srgbClr val="000000">
                <a:alpha val="50000"/>
              </a:srgbClr>
            </a:outerShdw>
          </a:effectLst>
        </p:spPr>
        <p:txBody>
          <a:bodyPr/>
          <a:lstStyle>
            <a:lvl1pPr>
              <a:defRPr sz="4800" b="0">
                <a:solidFill>
                  <a:srgbClr val="FFFF00"/>
                </a:solidFill>
              </a:defRPr>
            </a:lvl1pPr>
          </a:lstStyle>
          <a:p>
            <a:r>
              <a:rPr lang="zh-CN" altLang="en-US"/>
              <a:t>标题</a:t>
            </a:r>
            <a:r>
              <a:rPr lang="en-US" altLang="zh-CN"/>
              <a:t>Click to edit Master title style</a:t>
            </a:r>
          </a:p>
        </p:txBody>
      </p:sp>
      <p:sp>
        <p:nvSpPr>
          <p:cNvPr id="3075" name="Rectangle 3"/>
          <p:cNvSpPr>
            <a:spLocks noGrp="1" noChangeArrowheads="1"/>
          </p:cNvSpPr>
          <p:nvPr>
            <p:ph type="subTitle" idx="1" hasCustomPrompt="1"/>
          </p:nvPr>
        </p:nvSpPr>
        <p:spPr bwMode="white">
          <a:xfrm>
            <a:off x="1219200" y="5257800"/>
            <a:ext cx="6705600" cy="822325"/>
          </a:xfrm>
        </p:spPr>
        <p:txBody>
          <a:bodyPr lIns="91440">
            <a:spAutoFit/>
          </a:bodyPr>
          <a:lstStyle>
            <a:lvl1pPr marL="0" indent="0" algn="ctr">
              <a:buFont typeface="Wingdings" panose="05000000000000000000" pitchFamily="2" charset="2"/>
              <a:buNone/>
              <a:defRPr sz="2400">
                <a:solidFill>
                  <a:srgbClr val="FFFF00"/>
                </a:solidFill>
              </a:defRPr>
            </a:lvl1pPr>
          </a:lstStyle>
          <a:p>
            <a:r>
              <a:rPr lang="zh-CN" altLang="en-US"/>
              <a:t>编辑副标题</a:t>
            </a:r>
            <a:r>
              <a:rPr lang="en-US" altLang="zh-CN"/>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1371600"/>
            <a:ext cx="42291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371600"/>
            <a:ext cx="42291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日期占位符 7"/>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日期占位符 3"/>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1800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38950" y="125413"/>
            <a:ext cx="2152650" cy="65801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125413"/>
            <a:ext cx="6305550" cy="65801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rgbClr val="326496"/>
        </a:solidFill>
        <a:effectLst/>
      </p:bgPr>
    </p:bg>
    <p:spTree>
      <p:nvGrpSpPr>
        <p:cNvPr id="1" name=""/>
        <p:cNvGrpSpPr/>
        <p:nvPr/>
      </p:nvGrpSpPr>
      <p:grpSpPr>
        <a:xfrm>
          <a:off x="0" y="0"/>
          <a:ext cx="0" cy="0"/>
          <a:chOff x="0" y="0"/>
          <a:chExt cx="0" cy="0"/>
        </a:xfrm>
      </p:grpSpPr>
      <p:graphicFrame>
        <p:nvGraphicFramePr>
          <p:cNvPr id="2050" name="Object 65"/>
          <p:cNvGraphicFramePr>
            <a:graphicFrameLocks noChangeAspect="1"/>
          </p:cNvGraphicFramePr>
          <p:nvPr/>
        </p:nvGraphicFramePr>
        <p:xfrm>
          <a:off x="0" y="0"/>
          <a:ext cx="9144000" cy="4876800"/>
        </p:xfrm>
        <a:graphic>
          <a:graphicData uri="http://schemas.openxmlformats.org/presentationml/2006/ole">
            <mc:AlternateContent xmlns:mc="http://schemas.openxmlformats.org/markup-compatibility/2006">
              <mc:Choice xmlns:v="urn:schemas-microsoft-com:vml" Requires="v">
                <p:oleObj spid="_x0000_s4114" r:id="rId3" imgW="13004800" imgH="6934200" progId="Photoshop.Image.7">
                  <p:embed/>
                </p:oleObj>
              </mc:Choice>
              <mc:Fallback>
                <p:oleObj r:id="rId3" imgW="13004800" imgH="6934200" progId="Photoshop.Image.7">
                  <p:embed/>
                  <p:pic>
                    <p:nvPicPr>
                      <p:cNvPr id="0" name="图片 3075"/>
                      <p:cNvPicPr/>
                      <p:nvPr/>
                    </p:nvPicPr>
                    <p:blipFill>
                      <a:blip r:embed="rId4"/>
                      <a:stretch>
                        <a:fillRect/>
                      </a:stretch>
                    </p:blipFill>
                    <p:spPr>
                      <a:xfrm>
                        <a:off x="0" y="0"/>
                        <a:ext cx="9144000" cy="4876800"/>
                      </a:xfrm>
                      <a:prstGeom prst="rect">
                        <a:avLst/>
                      </a:prstGeom>
                      <a:noFill/>
                      <a:ln w="38100">
                        <a:noFill/>
                        <a:miter/>
                      </a:ln>
                    </p:spPr>
                  </p:pic>
                </p:oleObj>
              </mc:Fallback>
            </mc:AlternateContent>
          </a:graphicData>
        </a:graphic>
      </p:graphicFrame>
      <p:sp>
        <p:nvSpPr>
          <p:cNvPr id="10" name="Rectangle 66"/>
          <p:cNvSpPr>
            <a:spLocks noChangeArrowheads="1"/>
          </p:cNvSpPr>
          <p:nvPr/>
        </p:nvSpPr>
        <p:spPr bwMode="ltGray">
          <a:xfrm>
            <a:off x="0" y="4906963"/>
            <a:ext cx="9144000" cy="19510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endParaRPr>
          </a:p>
        </p:txBody>
      </p:sp>
      <p:pic>
        <p:nvPicPr>
          <p:cNvPr id="2052" name="Picture 68" descr="5"/>
          <p:cNvPicPr>
            <a:picLocks noChangeAspect="1"/>
          </p:cNvPicPr>
          <p:nvPr userDrawn="1"/>
        </p:nvPicPr>
        <p:blipFill>
          <a:blip r:embed="rId5"/>
          <a:stretch>
            <a:fillRect/>
          </a:stretch>
        </p:blipFill>
        <p:spPr>
          <a:xfrm>
            <a:off x="6653213" y="1731963"/>
            <a:ext cx="1390650" cy="1419225"/>
          </a:xfrm>
          <a:prstGeom prst="rect">
            <a:avLst/>
          </a:prstGeom>
          <a:noFill/>
          <a:ln w="9525">
            <a:noFill/>
          </a:ln>
        </p:spPr>
      </p:pic>
      <p:sp>
        <p:nvSpPr>
          <p:cNvPr id="3074" name="Rectangle 2"/>
          <p:cNvSpPr>
            <a:spLocks noGrp="1" noChangeArrowheads="1"/>
          </p:cNvSpPr>
          <p:nvPr>
            <p:ph type="ctrTitle" hasCustomPrompt="1"/>
          </p:nvPr>
        </p:nvSpPr>
        <p:spPr bwMode="white">
          <a:xfrm>
            <a:off x="228600" y="2879725"/>
            <a:ext cx="8686800" cy="1555750"/>
          </a:xfrm>
          <a:ln w="9525">
            <a:noFill/>
          </a:ln>
          <a:effectLst>
            <a:outerShdw dist="71842" dir="2700000" algn="ctr" rotWithShape="0">
              <a:srgbClr val="000000">
                <a:alpha val="50000"/>
              </a:srgbClr>
            </a:outerShdw>
          </a:effectLst>
        </p:spPr>
        <p:txBody>
          <a:bodyPr/>
          <a:lstStyle>
            <a:lvl1pPr>
              <a:defRPr sz="4800" b="0">
                <a:solidFill>
                  <a:srgbClr val="FFFF00"/>
                </a:solidFill>
              </a:defRPr>
            </a:lvl1pPr>
          </a:lstStyle>
          <a:p>
            <a:r>
              <a:rPr lang="zh-CN" altLang="en-US"/>
              <a:t>标题</a:t>
            </a:r>
            <a:r>
              <a:rPr lang="en-US" altLang="zh-CN"/>
              <a:t>Click to edit Master title style</a:t>
            </a:r>
          </a:p>
        </p:txBody>
      </p:sp>
      <p:sp>
        <p:nvSpPr>
          <p:cNvPr id="3075" name="Rectangle 3"/>
          <p:cNvSpPr>
            <a:spLocks noGrp="1" noChangeArrowheads="1"/>
          </p:cNvSpPr>
          <p:nvPr>
            <p:ph type="subTitle" idx="1" hasCustomPrompt="1"/>
          </p:nvPr>
        </p:nvSpPr>
        <p:spPr bwMode="white">
          <a:xfrm>
            <a:off x="1219200" y="5257800"/>
            <a:ext cx="6705600" cy="822325"/>
          </a:xfrm>
        </p:spPr>
        <p:txBody>
          <a:bodyPr lIns="91440">
            <a:spAutoFit/>
          </a:bodyPr>
          <a:lstStyle>
            <a:lvl1pPr marL="0" indent="0" algn="ctr">
              <a:buFont typeface="Wingdings" panose="05000000000000000000" pitchFamily="2" charset="2"/>
              <a:buNone/>
              <a:defRPr sz="2400">
                <a:solidFill>
                  <a:srgbClr val="FFFF00"/>
                </a:solidFill>
              </a:defRPr>
            </a:lvl1pPr>
          </a:lstStyle>
          <a:p>
            <a:r>
              <a:rPr lang="zh-CN" altLang="en-US"/>
              <a:t>编辑副标题</a:t>
            </a:r>
            <a:r>
              <a:rPr lang="en-US" altLang="zh-CN"/>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1371600"/>
            <a:ext cx="42291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371600"/>
            <a:ext cx="42291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日期占位符 7"/>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日期占位符 3"/>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1800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38950" y="125413"/>
            <a:ext cx="2152650" cy="65801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125413"/>
            <a:ext cx="6305550" cy="65801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AutoShape 70"/>
          <p:cNvSpPr>
            <a:spLocks noChangeArrowheads="1"/>
          </p:cNvSpPr>
          <p:nvPr/>
        </p:nvSpPr>
        <p:spPr bwMode="auto">
          <a:xfrm>
            <a:off x="228600" y="1295400"/>
            <a:ext cx="8686800" cy="5257800"/>
          </a:xfrm>
          <a:prstGeom prst="flowChartAlternateProcess">
            <a:avLst/>
          </a:prstGeom>
          <a:noFill/>
          <a:ln w="190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endParaRPr>
          </a:p>
        </p:txBody>
      </p:sp>
      <p:sp>
        <p:nvSpPr>
          <p:cNvPr id="1027" name="Rectangle 68"/>
          <p:cNvSpPr>
            <a:spLocks noChangeArrowheads="1"/>
          </p:cNvSpPr>
          <p:nvPr/>
        </p:nvSpPr>
        <p:spPr bwMode="ltGray">
          <a:xfrm flipV="1">
            <a:off x="0" y="1065213"/>
            <a:ext cx="9144000" cy="873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endParaRPr>
          </a:p>
        </p:txBody>
      </p:sp>
      <p:sp>
        <p:nvSpPr>
          <p:cNvPr id="1028" name="Line 69"/>
          <p:cNvSpPr/>
          <p:nvPr/>
        </p:nvSpPr>
        <p:spPr>
          <a:xfrm>
            <a:off x="0" y="1096963"/>
            <a:ext cx="9144000" cy="0"/>
          </a:xfrm>
          <a:prstGeom prst="line">
            <a:avLst/>
          </a:prstGeom>
          <a:ln w="9525" cap="flat" cmpd="sng">
            <a:solidFill>
              <a:schemeClr val="bg1"/>
            </a:solidFill>
            <a:prstDash val="solid"/>
            <a:headEnd type="none" w="med" len="med"/>
            <a:tailEnd type="none" w="med" len="med"/>
          </a:ln>
        </p:spPr>
      </p:sp>
      <p:sp>
        <p:nvSpPr>
          <p:cNvPr id="1029" name="Rectangle 3"/>
          <p:cNvSpPr>
            <a:spLocks noGrp="1"/>
          </p:cNvSpPr>
          <p:nvPr>
            <p:ph type="body" idx="1"/>
          </p:nvPr>
        </p:nvSpPr>
        <p:spPr>
          <a:xfrm>
            <a:off x="381000" y="1371600"/>
            <a:ext cx="8610600" cy="5334000"/>
          </a:xfrm>
          <a:prstGeom prst="rect">
            <a:avLst/>
          </a:prstGeom>
          <a:noFill/>
          <a:ln w="9525">
            <a:noFill/>
          </a:ln>
        </p:spPr>
        <p:txBody>
          <a:bodyPr lIns="18000"/>
          <a:lstStyle/>
          <a:p>
            <a:pPr lvl="0"/>
            <a:r>
              <a:rPr lang="en-US" altLang="zh-CN" dirty="0"/>
              <a:t> </a:t>
            </a:r>
            <a:r>
              <a:rPr lang="zh-CN" altLang="en-US" dirty="0"/>
              <a:t>一级</a:t>
            </a:r>
            <a:r>
              <a:rPr lang="en-US" altLang="zh-CN" dirty="0"/>
              <a:t>Click to edit Master text styles</a:t>
            </a:r>
          </a:p>
          <a:p>
            <a:pPr lvl="1"/>
            <a:r>
              <a:rPr lang="zh-CN" altLang="en-US" dirty="0"/>
              <a:t>二级</a:t>
            </a:r>
            <a:r>
              <a:rPr lang="en-US" altLang="zh-CN" dirty="0"/>
              <a:t>Second level</a:t>
            </a:r>
          </a:p>
          <a:p>
            <a:pPr lvl="2"/>
            <a:r>
              <a:rPr lang="zh-CN" altLang="en-US" dirty="0"/>
              <a:t>三级</a:t>
            </a:r>
            <a:r>
              <a:rPr lang="en-US" altLang="zh-CN" dirty="0"/>
              <a:t>Third level</a:t>
            </a:r>
          </a:p>
          <a:p>
            <a:pPr lvl="3"/>
            <a:r>
              <a:rPr lang="zh-CN" altLang="en-US" dirty="0"/>
              <a:t>四级</a:t>
            </a:r>
            <a:r>
              <a:rPr lang="en-US" altLang="zh-CN" dirty="0"/>
              <a:t>Fourth level</a:t>
            </a:r>
          </a:p>
          <a:p>
            <a:pPr lvl="4"/>
            <a:r>
              <a:rPr lang="zh-CN" altLang="en-US" dirty="0"/>
              <a:t>五级</a:t>
            </a:r>
            <a:r>
              <a:rPr lang="en-US" altLang="zh-CN" dirty="0"/>
              <a:t>Fifth level</a:t>
            </a:r>
          </a:p>
        </p:txBody>
      </p:sp>
      <p:sp>
        <p:nvSpPr>
          <p:cNvPr id="1030" name="Rectangle 6"/>
          <p:cNvSpPr>
            <a:spLocks noGrp="1" noChangeArrowheads="1"/>
          </p:cNvSpPr>
          <p:nvPr>
            <p:ph type="sldNum" sz="quarter" idx="4"/>
          </p:nvPr>
        </p:nvSpPr>
        <p:spPr bwMode="auto">
          <a:xfrm>
            <a:off x="6858000" y="6550025"/>
            <a:ext cx="2133600" cy="30797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b="1" smtClean="0">
                <a:latin typeface="Verdana" panose="020B060403050404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1" name="Rectangle 2"/>
          <p:cNvSpPr>
            <a:spLocks noGrp="1"/>
          </p:cNvSpPr>
          <p:nvPr>
            <p:ph type="title"/>
          </p:nvPr>
        </p:nvSpPr>
        <p:spPr>
          <a:xfrm>
            <a:off x="457200" y="125413"/>
            <a:ext cx="8153400" cy="771525"/>
          </a:xfrm>
          <a:prstGeom prst="rect">
            <a:avLst/>
          </a:prstGeom>
          <a:noFill/>
          <a:ln w="12700" cap="flat" cmpd="sng">
            <a:solidFill>
              <a:srgbClr val="990000"/>
            </a:solidFill>
            <a:prstDash val="solid"/>
            <a:miter/>
            <a:headEnd type="none" w="med" len="med"/>
            <a:tailEnd type="none" w="med" len="med"/>
          </a:ln>
        </p:spPr>
        <p:txBody>
          <a:bodyPr anchor="ctr" anchorCtr="0">
            <a:spAutoFit/>
          </a:bodyPr>
          <a:lstStyle/>
          <a:p>
            <a:pPr lvl="0"/>
            <a:r>
              <a:rPr lang="zh-CN" altLang="en-US" dirty="0"/>
              <a:t>点击此处编辑标题</a:t>
            </a:r>
            <a:r>
              <a:rPr lang="en-US" altLang="zh-CN" dirty="0"/>
              <a:t>Title</a:t>
            </a:r>
          </a:p>
        </p:txBody>
      </p:sp>
      <p:sp>
        <p:nvSpPr>
          <p:cNvPr id="1095" name="Rectangle 71"/>
          <p:cNvSpPr>
            <a:spLocks noGrp="1" noChangeArrowheads="1"/>
          </p:cNvSpPr>
          <p:nvPr>
            <p:ph type="dt" sz="half" idx="2"/>
          </p:nvPr>
        </p:nvSpPr>
        <p:spPr bwMode="auto">
          <a:xfrm>
            <a:off x="381000" y="6534150"/>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400" b="1">
          <a:solidFill>
            <a:schemeClr val="folHlink"/>
          </a:solidFill>
          <a:latin typeface="+mj-lt"/>
          <a:ea typeface="+mj-ea"/>
          <a:cs typeface="+mj-cs"/>
        </a:defRPr>
      </a:lvl1pPr>
      <a:lvl2pPr algn="l" rtl="0" eaLnBrk="0" fontAlgn="base" hangingPunct="0">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2pPr>
      <a:lvl3pPr algn="l" rtl="0" eaLnBrk="0" fontAlgn="base" hangingPunct="0">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3pPr>
      <a:lvl4pPr algn="l" rtl="0" eaLnBrk="0" fontAlgn="base" hangingPunct="0">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4pPr>
      <a:lvl5pPr algn="l" rtl="0" eaLnBrk="0" fontAlgn="base" hangingPunct="0">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5pPr>
      <a:lvl6pPr marL="457200" algn="l" rtl="0" fontAlgn="base">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6pPr>
      <a:lvl7pPr marL="914400" algn="l" rtl="0" fontAlgn="base">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7pPr>
      <a:lvl8pPr marL="1371600" algn="l" rtl="0" fontAlgn="base">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8pPr>
      <a:lvl9pPr marL="1828800" algn="l" rtl="0" fontAlgn="base">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vl6pPr marL="2514600" indent="-228600" algn="l" rtl="0" fontAlgn="base">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6pPr>
      <a:lvl7pPr marL="2971800" indent="-228600" algn="l" rtl="0" fontAlgn="base">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7pPr>
      <a:lvl8pPr marL="3429000" indent="-228600" algn="l" rtl="0" fontAlgn="base">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8pPr>
      <a:lvl9pPr marL="3886200" indent="-228600" algn="l" rtl="0" fontAlgn="base">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AutoShape 70"/>
          <p:cNvSpPr>
            <a:spLocks noChangeArrowheads="1"/>
          </p:cNvSpPr>
          <p:nvPr/>
        </p:nvSpPr>
        <p:spPr bwMode="auto">
          <a:xfrm>
            <a:off x="228600" y="1295400"/>
            <a:ext cx="8686800" cy="5257800"/>
          </a:xfrm>
          <a:prstGeom prst="flowChartAlternateProcess">
            <a:avLst/>
          </a:prstGeom>
          <a:noFill/>
          <a:ln w="190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endParaRPr>
          </a:p>
        </p:txBody>
      </p:sp>
      <p:sp>
        <p:nvSpPr>
          <p:cNvPr id="1027" name="Rectangle 68"/>
          <p:cNvSpPr>
            <a:spLocks noChangeArrowheads="1"/>
          </p:cNvSpPr>
          <p:nvPr/>
        </p:nvSpPr>
        <p:spPr bwMode="ltGray">
          <a:xfrm flipV="1">
            <a:off x="0" y="1065213"/>
            <a:ext cx="9144000" cy="873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endParaRPr>
          </a:p>
        </p:txBody>
      </p:sp>
      <p:sp>
        <p:nvSpPr>
          <p:cNvPr id="1028" name="Line 69"/>
          <p:cNvSpPr/>
          <p:nvPr/>
        </p:nvSpPr>
        <p:spPr>
          <a:xfrm>
            <a:off x="0" y="1096963"/>
            <a:ext cx="9144000" cy="0"/>
          </a:xfrm>
          <a:prstGeom prst="line">
            <a:avLst/>
          </a:prstGeom>
          <a:ln w="9525" cap="flat" cmpd="sng">
            <a:solidFill>
              <a:schemeClr val="bg1"/>
            </a:solidFill>
            <a:prstDash val="solid"/>
            <a:headEnd type="none" w="med" len="med"/>
            <a:tailEnd type="none" w="med" len="med"/>
          </a:ln>
        </p:spPr>
      </p:sp>
      <p:sp>
        <p:nvSpPr>
          <p:cNvPr id="1029" name="Rectangle 3"/>
          <p:cNvSpPr>
            <a:spLocks noGrp="1"/>
          </p:cNvSpPr>
          <p:nvPr>
            <p:ph type="body" idx="1"/>
          </p:nvPr>
        </p:nvSpPr>
        <p:spPr>
          <a:xfrm>
            <a:off x="381000" y="1371600"/>
            <a:ext cx="8610600" cy="5334000"/>
          </a:xfrm>
          <a:prstGeom prst="rect">
            <a:avLst/>
          </a:prstGeom>
          <a:noFill/>
          <a:ln w="9525">
            <a:noFill/>
          </a:ln>
        </p:spPr>
        <p:txBody>
          <a:bodyPr lIns="18000"/>
          <a:lstStyle/>
          <a:p>
            <a:pPr lvl="0"/>
            <a:r>
              <a:rPr lang="en-US" altLang="zh-CN" dirty="0"/>
              <a:t> </a:t>
            </a:r>
            <a:r>
              <a:rPr lang="zh-CN" altLang="en-US" dirty="0"/>
              <a:t>一级</a:t>
            </a:r>
            <a:r>
              <a:rPr lang="en-US" altLang="zh-CN" dirty="0"/>
              <a:t>Click to edit Master text styles</a:t>
            </a:r>
          </a:p>
          <a:p>
            <a:pPr lvl="1"/>
            <a:r>
              <a:rPr lang="zh-CN" altLang="en-US" dirty="0"/>
              <a:t>二级</a:t>
            </a:r>
            <a:r>
              <a:rPr lang="en-US" altLang="zh-CN" dirty="0"/>
              <a:t>Second level</a:t>
            </a:r>
          </a:p>
          <a:p>
            <a:pPr lvl="2"/>
            <a:r>
              <a:rPr lang="zh-CN" altLang="en-US" dirty="0"/>
              <a:t>三级</a:t>
            </a:r>
            <a:r>
              <a:rPr lang="en-US" altLang="zh-CN" dirty="0"/>
              <a:t>Third level</a:t>
            </a:r>
          </a:p>
          <a:p>
            <a:pPr lvl="3"/>
            <a:r>
              <a:rPr lang="zh-CN" altLang="en-US" dirty="0"/>
              <a:t>四级</a:t>
            </a:r>
            <a:r>
              <a:rPr lang="en-US" altLang="zh-CN" dirty="0"/>
              <a:t>Fourth level</a:t>
            </a:r>
          </a:p>
          <a:p>
            <a:pPr lvl="4"/>
            <a:r>
              <a:rPr lang="zh-CN" altLang="en-US" dirty="0"/>
              <a:t>五级</a:t>
            </a:r>
            <a:r>
              <a:rPr lang="en-US" altLang="zh-CN" dirty="0"/>
              <a:t>Fifth level</a:t>
            </a:r>
          </a:p>
        </p:txBody>
      </p:sp>
      <p:sp>
        <p:nvSpPr>
          <p:cNvPr id="1030" name="Rectangle 6"/>
          <p:cNvSpPr>
            <a:spLocks noGrp="1" noChangeArrowheads="1"/>
          </p:cNvSpPr>
          <p:nvPr>
            <p:ph type="sldNum" sz="quarter" idx="4"/>
          </p:nvPr>
        </p:nvSpPr>
        <p:spPr bwMode="auto">
          <a:xfrm>
            <a:off x="6858000" y="6550025"/>
            <a:ext cx="2133600" cy="30797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b="1" smtClean="0">
                <a:latin typeface="Verdana" panose="020B060403050404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3C74291A-E8CC-4045-9914-DD6C15C7CFD4}" type="slidenum">
              <a:rPr kumimoji="0"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1" name="Rectangle 2"/>
          <p:cNvSpPr>
            <a:spLocks noGrp="1"/>
          </p:cNvSpPr>
          <p:nvPr>
            <p:ph type="title"/>
          </p:nvPr>
        </p:nvSpPr>
        <p:spPr>
          <a:xfrm>
            <a:off x="457200" y="125413"/>
            <a:ext cx="8153400" cy="771525"/>
          </a:xfrm>
          <a:prstGeom prst="rect">
            <a:avLst/>
          </a:prstGeom>
          <a:noFill/>
          <a:ln w="12700" cap="flat" cmpd="sng">
            <a:solidFill>
              <a:srgbClr val="990000"/>
            </a:solidFill>
            <a:prstDash val="solid"/>
            <a:miter/>
            <a:headEnd type="none" w="med" len="med"/>
            <a:tailEnd type="none" w="med" len="med"/>
          </a:ln>
        </p:spPr>
        <p:txBody>
          <a:bodyPr anchor="ctr" anchorCtr="0">
            <a:spAutoFit/>
          </a:bodyPr>
          <a:lstStyle/>
          <a:p>
            <a:pPr lvl="0"/>
            <a:r>
              <a:rPr lang="zh-CN" altLang="en-US" dirty="0"/>
              <a:t>点击此处编辑标题</a:t>
            </a:r>
            <a:r>
              <a:rPr lang="en-US" altLang="zh-CN" dirty="0"/>
              <a:t>Title</a:t>
            </a:r>
          </a:p>
        </p:txBody>
      </p:sp>
      <p:sp>
        <p:nvSpPr>
          <p:cNvPr id="1095" name="Rectangle 71"/>
          <p:cNvSpPr>
            <a:spLocks noGrp="1" noChangeArrowheads="1"/>
          </p:cNvSpPr>
          <p:nvPr>
            <p:ph type="dt" sz="half" idx="2"/>
          </p:nvPr>
        </p:nvSpPr>
        <p:spPr bwMode="auto">
          <a:xfrm>
            <a:off x="381000" y="6534150"/>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4400" b="1">
          <a:solidFill>
            <a:schemeClr val="folHlink"/>
          </a:solidFill>
          <a:latin typeface="+mj-lt"/>
          <a:ea typeface="+mj-ea"/>
          <a:cs typeface="+mj-cs"/>
        </a:defRPr>
      </a:lvl1pPr>
      <a:lvl2pPr algn="l" rtl="0" eaLnBrk="0" fontAlgn="base" hangingPunct="0">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2pPr>
      <a:lvl3pPr algn="l" rtl="0" eaLnBrk="0" fontAlgn="base" hangingPunct="0">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3pPr>
      <a:lvl4pPr algn="l" rtl="0" eaLnBrk="0" fontAlgn="base" hangingPunct="0">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4pPr>
      <a:lvl5pPr algn="l" rtl="0" eaLnBrk="0" fontAlgn="base" hangingPunct="0">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5pPr>
      <a:lvl6pPr marL="457200" algn="l" rtl="0" fontAlgn="base">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6pPr>
      <a:lvl7pPr marL="914400" algn="l" rtl="0" fontAlgn="base">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7pPr>
      <a:lvl8pPr marL="1371600" algn="l" rtl="0" fontAlgn="base">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8pPr>
      <a:lvl9pPr marL="1828800" algn="l" rtl="0" fontAlgn="base">
        <a:spcBef>
          <a:spcPct val="0"/>
        </a:spcBef>
        <a:spcAft>
          <a:spcPct val="0"/>
        </a:spcAft>
        <a:defRPr sz="4400" b="1">
          <a:solidFill>
            <a:schemeClr val="folHlink"/>
          </a:solidFill>
          <a:latin typeface="Courier New" panose="02070309020205020404" pitchFamily="49" charset="0"/>
          <a:ea typeface="黑体" panose="0201060906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vl6pPr marL="2514600" indent="-228600" algn="l" rtl="0" fontAlgn="base">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6pPr>
      <a:lvl7pPr marL="2971800" indent="-228600" algn="l" rtl="0" fontAlgn="base">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7pPr>
      <a:lvl8pPr marL="3429000" indent="-228600" algn="l" rtl="0" fontAlgn="base">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8pPr>
      <a:lvl9pPr marL="3886200" indent="-228600" algn="l" rtl="0" fontAlgn="base">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ctrTitle" hasCustomPrompt="1"/>
          </p:nvPr>
        </p:nvSpPr>
        <p:spPr>
          <a:xfrm>
            <a:off x="152400" y="681038"/>
            <a:ext cx="7110413" cy="1016000"/>
          </a:xfrm>
          <a:solidFill>
            <a:srgbClr val="DDDDDD">
              <a:alpha val="39999"/>
            </a:srgbClr>
          </a:solidFill>
          <a:ln/>
          <a:effectLst>
            <a:outerShdw dist="71842" dir="2699999" algn="ctr" rotWithShape="0">
              <a:srgbClr val="000000">
                <a:alpha val="50000"/>
              </a:srgbClr>
            </a:outerShdw>
          </a:effectLst>
        </p:spPr>
        <p:txBody>
          <a:bodyPr vert="horz" wrap="none" lIns="91440" tIns="45720" rIns="91440" bIns="45720" anchor="ctr" anchorCtr="0">
            <a:spAutoFit/>
          </a:bodyPr>
          <a:lstStyle/>
          <a:p>
            <a:pPr eaLnBrk="1" hangingPunct="1">
              <a:buClrTx/>
              <a:buSzTx/>
              <a:buFontTx/>
            </a:pPr>
            <a:r>
              <a:rPr lang="en-US" altLang="zh-CN" sz="6000" b="1" dirty="0">
                <a:solidFill>
                  <a:srgbClr val="FFFF00"/>
                </a:solidFill>
                <a:latin typeface="+mj-lt"/>
                <a:ea typeface="Arial Unicode MS" pitchFamily="34" charset="-122"/>
                <a:cs typeface="+mj-cs"/>
              </a:rPr>
              <a:t>C++</a:t>
            </a:r>
            <a:r>
              <a:rPr lang="zh-CN" altLang="en-US" sz="5400" dirty="0">
                <a:solidFill>
                  <a:srgbClr val="FFFF00"/>
                </a:solidFill>
                <a:latin typeface="+mj-lt"/>
                <a:ea typeface="+mj-ea"/>
                <a:cs typeface="+mj-cs"/>
              </a:rPr>
              <a:t>程序设计基础教程</a:t>
            </a:r>
          </a:p>
        </p:txBody>
      </p:sp>
      <p:sp>
        <p:nvSpPr>
          <p:cNvPr id="4099" name="Rectangle 3"/>
          <p:cNvSpPr>
            <a:spLocks noGrp="1"/>
          </p:cNvSpPr>
          <p:nvPr>
            <p:ph type="subTitle" idx="1" hasCustomPrompt="1"/>
          </p:nvPr>
        </p:nvSpPr>
        <p:spPr>
          <a:xfrm>
            <a:off x="3870325" y="5638800"/>
            <a:ext cx="3197225" cy="461963"/>
          </a:xfrm>
          <a:ln/>
        </p:spPr>
        <p:txBody>
          <a:bodyPr vert="horz" wrap="none" lIns="91440" tIns="45720" rIns="91440" bIns="45720" anchor="t" anchorCtr="0">
            <a:spAutoFit/>
          </a:bodyPr>
          <a:lstStyle/>
          <a:p>
            <a:pPr eaLnBrk="1" hangingPunct="1">
              <a:buSzTx/>
            </a:pPr>
            <a:r>
              <a:rPr lang="zh-CN" altLang="en-US" dirty="0">
                <a:solidFill>
                  <a:schemeClr val="tx2"/>
                </a:solidFill>
                <a:latin typeface="+mn-lt"/>
                <a:ea typeface="+mn-ea"/>
                <a:cs typeface="+mn-cs"/>
              </a:rPr>
              <a:t>上海大学出版社</a:t>
            </a:r>
            <a:r>
              <a:rPr lang="zh-CN" altLang="en-US" dirty="0">
                <a:solidFill>
                  <a:schemeClr val="tx2"/>
                </a:solidFill>
                <a:latin typeface="Times New Roman" panose="02020603050405020304" pitchFamily="18" charset="0"/>
                <a:ea typeface="+mn-ea"/>
                <a:cs typeface="+mn-cs"/>
              </a:rPr>
              <a:t>   </a:t>
            </a:r>
            <a:r>
              <a:rPr lang="en-US" altLang="zh-CN" dirty="0">
                <a:solidFill>
                  <a:schemeClr val="tx2"/>
                </a:solidFill>
                <a:latin typeface="Times New Roman" panose="02020603050405020304" pitchFamily="18" charset="0"/>
                <a:ea typeface="+mn-ea"/>
                <a:cs typeface="+mn-cs"/>
              </a:rPr>
              <a:t>2016</a:t>
            </a:r>
          </a:p>
        </p:txBody>
      </p:sp>
      <p:grpSp>
        <p:nvGrpSpPr>
          <p:cNvPr id="4100" name="Group 31"/>
          <p:cNvGrpSpPr/>
          <p:nvPr/>
        </p:nvGrpSpPr>
        <p:grpSpPr>
          <a:xfrm rot="-2248299">
            <a:off x="7010400" y="5105400"/>
            <a:ext cx="1676400" cy="319088"/>
            <a:chOff x="901" y="3744"/>
            <a:chExt cx="1387" cy="201"/>
          </a:xfrm>
        </p:grpSpPr>
        <p:grpSp>
          <p:nvGrpSpPr>
            <p:cNvPr id="4102" name="Group 32"/>
            <p:cNvGrpSpPr/>
            <p:nvPr/>
          </p:nvGrpSpPr>
          <p:grpSpPr>
            <a:xfrm>
              <a:off x="901" y="3744"/>
              <a:ext cx="971" cy="201"/>
              <a:chOff x="4789" y="16"/>
              <a:chExt cx="971" cy="201"/>
            </a:xfrm>
          </p:grpSpPr>
          <p:sp>
            <p:nvSpPr>
              <p:cNvPr id="4110" name="AutoShape 33"/>
              <p:cNvSpPr/>
              <p:nvPr/>
            </p:nvSpPr>
            <p:spPr>
              <a:xfrm rot="-5400000">
                <a:off x="4865" y="-20"/>
                <a:ext cx="200" cy="272"/>
              </a:xfrm>
              <a:prstGeom prst="triangle">
                <a:avLst>
                  <a:gd name="adj" fmla="val 50000"/>
                </a:avLst>
              </a:prstGeom>
              <a:gradFill rotWithShape="1">
                <a:gsLst>
                  <a:gs pos="0">
                    <a:srgbClr val="715F4D"/>
                  </a:gs>
                  <a:gs pos="50000">
                    <a:srgbClr val="F4CDA6"/>
                  </a:gs>
                  <a:gs pos="100000">
                    <a:srgbClr val="715F4D"/>
                  </a:gs>
                </a:gsLst>
                <a:lin ang="0" scaled="1"/>
                <a:tileRect/>
              </a:gra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grpSp>
            <p:nvGrpSpPr>
              <p:cNvPr id="4111" name="Group 34"/>
              <p:cNvGrpSpPr/>
              <p:nvPr/>
            </p:nvGrpSpPr>
            <p:grpSpPr>
              <a:xfrm>
                <a:off x="5100" y="17"/>
                <a:ext cx="660" cy="200"/>
                <a:chOff x="5100" y="17"/>
                <a:chExt cx="3160" cy="200"/>
              </a:xfrm>
            </p:grpSpPr>
            <p:sp>
              <p:nvSpPr>
                <p:cNvPr id="4117" name="Rectangle 35"/>
                <p:cNvSpPr/>
                <p:nvPr/>
              </p:nvSpPr>
              <p:spPr>
                <a:xfrm rot="-5400000">
                  <a:off x="6660" y="-1383"/>
                  <a:ext cx="40" cy="3160"/>
                </a:xfrm>
                <a:prstGeom prst="rect">
                  <a:avLst/>
                </a:prstGeom>
                <a:solidFill>
                  <a:srgbClr val="DCB2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sp>
              <p:nvSpPr>
                <p:cNvPr id="4118" name="Rectangle 36"/>
                <p:cNvSpPr/>
                <p:nvPr/>
              </p:nvSpPr>
              <p:spPr>
                <a:xfrm rot="-5400000">
                  <a:off x="6628" y="-1455"/>
                  <a:ext cx="104" cy="3160"/>
                </a:xfrm>
                <a:prstGeom prst="rect">
                  <a:avLst/>
                </a:prstGeom>
                <a:solidFill>
                  <a:srgbClr val="B485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sp>
              <p:nvSpPr>
                <p:cNvPr id="4119" name="Rectangle 37"/>
                <p:cNvSpPr/>
                <p:nvPr/>
              </p:nvSpPr>
              <p:spPr>
                <a:xfrm rot="-5400000">
                  <a:off x="6652" y="-1535"/>
                  <a:ext cx="56" cy="3160"/>
                </a:xfrm>
                <a:prstGeom prst="rect">
                  <a:avLst/>
                </a:prstGeom>
                <a:solidFill>
                  <a:srgbClr val="DCB2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grpSp>
          <p:sp>
            <p:nvSpPr>
              <p:cNvPr id="4112" name="AutoShape 38"/>
              <p:cNvSpPr/>
              <p:nvPr/>
            </p:nvSpPr>
            <p:spPr>
              <a:xfrm rot="-5400000">
                <a:off x="4820" y="64"/>
                <a:ext cx="48" cy="111"/>
              </a:xfrm>
              <a:prstGeom prst="triangle">
                <a:avLst>
                  <a:gd name="adj" fmla="val 50000"/>
                </a:avLst>
              </a:prstGeom>
              <a:solidFill>
                <a:srgbClr val="0000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grpSp>
            <p:nvGrpSpPr>
              <p:cNvPr id="4113" name="Group 39"/>
              <p:cNvGrpSpPr/>
              <p:nvPr/>
            </p:nvGrpSpPr>
            <p:grpSpPr>
              <a:xfrm>
                <a:off x="5043" y="18"/>
                <a:ext cx="59" cy="197"/>
                <a:chOff x="1231" y="2178"/>
                <a:chExt cx="59" cy="197"/>
              </a:xfrm>
            </p:grpSpPr>
            <p:sp>
              <p:nvSpPr>
                <p:cNvPr id="4114" name="AutoShape 40"/>
                <p:cNvSpPr/>
                <p:nvPr/>
              </p:nvSpPr>
              <p:spPr>
                <a:xfrm rot="-5400000">
                  <a:off x="1234" y="2178"/>
                  <a:ext cx="56" cy="56"/>
                </a:xfrm>
                <a:prstGeom prst="triangle">
                  <a:avLst>
                    <a:gd name="adj" fmla="val 50000"/>
                  </a:avLst>
                </a:prstGeom>
                <a:solidFill>
                  <a:srgbClr val="DCB2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sp>
              <p:nvSpPr>
                <p:cNvPr id="4115" name="AutoShape 41"/>
                <p:cNvSpPr/>
                <p:nvPr/>
              </p:nvSpPr>
              <p:spPr>
                <a:xfrm rot="-5400000">
                  <a:off x="1213" y="2250"/>
                  <a:ext cx="95" cy="59"/>
                </a:xfrm>
                <a:prstGeom prst="triangle">
                  <a:avLst>
                    <a:gd name="adj" fmla="val 50000"/>
                  </a:avLst>
                </a:prstGeom>
                <a:solidFill>
                  <a:srgbClr val="B485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sp>
              <p:nvSpPr>
                <p:cNvPr id="4116" name="AutoShape 42"/>
                <p:cNvSpPr/>
                <p:nvPr/>
              </p:nvSpPr>
              <p:spPr>
                <a:xfrm rot="-5400000">
                  <a:off x="1241" y="2326"/>
                  <a:ext cx="41" cy="56"/>
                </a:xfrm>
                <a:prstGeom prst="triangle">
                  <a:avLst>
                    <a:gd name="adj" fmla="val 50000"/>
                  </a:avLst>
                </a:prstGeom>
                <a:solidFill>
                  <a:srgbClr val="DCB2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grpSp>
        </p:grpSp>
        <p:grpSp>
          <p:nvGrpSpPr>
            <p:cNvPr id="4103" name="Group 43"/>
            <p:cNvGrpSpPr/>
            <p:nvPr/>
          </p:nvGrpSpPr>
          <p:grpSpPr>
            <a:xfrm>
              <a:off x="1344" y="3744"/>
              <a:ext cx="944" cy="200"/>
              <a:chOff x="0" y="1385"/>
              <a:chExt cx="944" cy="200"/>
            </a:xfrm>
          </p:grpSpPr>
          <p:sp>
            <p:nvSpPr>
              <p:cNvPr id="4104" name="AutoShape 44"/>
              <p:cNvSpPr/>
              <p:nvPr/>
            </p:nvSpPr>
            <p:spPr>
              <a:xfrm rot="-5400000">
                <a:off x="776" y="1393"/>
                <a:ext cx="160" cy="176"/>
              </a:xfrm>
              <a:prstGeom prst="roundRect">
                <a:avLst>
                  <a:gd name="adj" fmla="val 36875"/>
                </a:avLst>
              </a:prstGeom>
              <a:gradFill rotWithShape="1">
                <a:gsLst>
                  <a:gs pos="0">
                    <a:srgbClr val="E3AA71"/>
                  </a:gs>
                  <a:gs pos="100000">
                    <a:srgbClr val="694F34"/>
                  </a:gs>
                </a:gsLst>
                <a:lin ang="0" scaled="1"/>
                <a:tileRect/>
              </a:gra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sp>
            <p:nvSpPr>
              <p:cNvPr id="4105" name="Rectangle 45"/>
              <p:cNvSpPr/>
              <p:nvPr/>
            </p:nvSpPr>
            <p:spPr>
              <a:xfrm rot="-5400000">
                <a:off x="640" y="1385"/>
                <a:ext cx="184" cy="200"/>
              </a:xfrm>
              <a:prstGeom prst="rect">
                <a:avLst/>
              </a:prstGeom>
              <a:gradFill rotWithShape="1">
                <a:gsLst>
                  <a:gs pos="0">
                    <a:srgbClr val="666666"/>
                  </a:gs>
                  <a:gs pos="50000">
                    <a:srgbClr val="DDDDDD"/>
                  </a:gs>
                  <a:gs pos="100000">
                    <a:srgbClr val="666666"/>
                  </a:gs>
                </a:gsLst>
                <a:lin ang="0" scaled="1"/>
                <a:tileRect/>
              </a:gra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grpSp>
            <p:nvGrpSpPr>
              <p:cNvPr id="4106" name="Group 46"/>
              <p:cNvGrpSpPr/>
              <p:nvPr/>
            </p:nvGrpSpPr>
            <p:grpSpPr>
              <a:xfrm>
                <a:off x="0" y="1385"/>
                <a:ext cx="640" cy="200"/>
                <a:chOff x="311" y="1385"/>
                <a:chExt cx="3160" cy="200"/>
              </a:xfrm>
            </p:grpSpPr>
            <p:sp>
              <p:nvSpPr>
                <p:cNvPr id="4107" name="Rectangle 47"/>
                <p:cNvSpPr/>
                <p:nvPr/>
              </p:nvSpPr>
              <p:spPr>
                <a:xfrm rot="-5400000">
                  <a:off x="1871" y="-15"/>
                  <a:ext cx="40" cy="3160"/>
                </a:xfrm>
                <a:prstGeom prst="rect">
                  <a:avLst/>
                </a:prstGeom>
                <a:solidFill>
                  <a:srgbClr val="DCB2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sp>
              <p:nvSpPr>
                <p:cNvPr id="4108" name="Rectangle 48"/>
                <p:cNvSpPr/>
                <p:nvPr/>
              </p:nvSpPr>
              <p:spPr>
                <a:xfrm rot="-5400000">
                  <a:off x="1839" y="-87"/>
                  <a:ext cx="104" cy="3160"/>
                </a:xfrm>
                <a:prstGeom prst="rect">
                  <a:avLst/>
                </a:prstGeom>
                <a:solidFill>
                  <a:srgbClr val="B485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sp>
              <p:nvSpPr>
                <p:cNvPr id="4109" name="Rectangle 49"/>
                <p:cNvSpPr/>
                <p:nvPr/>
              </p:nvSpPr>
              <p:spPr>
                <a:xfrm rot="-5400000">
                  <a:off x="1863" y="-167"/>
                  <a:ext cx="56" cy="3160"/>
                </a:xfrm>
                <a:prstGeom prst="rect">
                  <a:avLst/>
                </a:prstGeom>
                <a:solidFill>
                  <a:srgbClr val="DCB200"/>
                </a:solid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grpSp>
        </p:grpSp>
      </p:grpSp>
      <p:sp>
        <p:nvSpPr>
          <p:cNvPr id="4101" name="Rectangle 53"/>
          <p:cNvSpPr/>
          <p:nvPr/>
        </p:nvSpPr>
        <p:spPr>
          <a:xfrm>
            <a:off x="152400" y="2895600"/>
            <a:ext cx="6324600" cy="1006475"/>
          </a:xfrm>
          <a:prstGeom prst="rect">
            <a:avLst/>
          </a:prstGeom>
          <a:solidFill>
            <a:srgbClr val="DDDDDD">
              <a:alpha val="39999"/>
            </a:srgbClr>
          </a:solidFill>
          <a:ln w="9525">
            <a:noFill/>
          </a:ln>
          <a:effectLst>
            <a:outerShdw dist="71842" dir="2699999" algn="ctr" rotWithShape="0">
              <a:srgbClr val="000000">
                <a:alpha val="50000"/>
              </a:srgbClr>
            </a:outerShdw>
          </a:effectLst>
        </p:spPr>
        <p:txBody>
          <a:bodyPr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r>
              <a:rPr lang="zh-CN" altLang="en-US" sz="5400" dirty="0">
                <a:solidFill>
                  <a:srgbClr val="FFFF00"/>
                </a:solidFill>
              </a:rPr>
              <a:t>第</a:t>
            </a:r>
            <a:r>
              <a:rPr lang="en-US" altLang="zh-CN" sz="5400" dirty="0">
                <a:solidFill>
                  <a:srgbClr val="FFFF00"/>
                </a:solidFill>
              </a:rPr>
              <a:t>15</a:t>
            </a:r>
            <a:r>
              <a:rPr lang="zh-CN" altLang="en-US" sz="5400" dirty="0">
                <a:solidFill>
                  <a:srgbClr val="FFFF00"/>
                </a:solidFill>
              </a:rPr>
              <a:t>章	异常处理</a:t>
            </a:r>
            <a:r>
              <a:rPr lang="zh-CN" altLang="en-US" sz="6000" dirty="0">
                <a:solidFill>
                  <a:srgbClr val="FFFF00"/>
                </a:solidFill>
              </a:rPr>
              <a:t> </a:t>
            </a:r>
            <a:endParaRPr lang="zh-CN" altLang="en-US" sz="5400" b="0" dirty="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ln/>
        </p:spPr>
        <p:txBody>
          <a:bodyPr vert="horz" wrap="square" lIns="91440" tIns="45720" rIns="91440" bIns="45720" anchor="ctr" anchorCtr="0">
            <a:spAutoFit/>
          </a:bodyPr>
          <a:lstStyle/>
          <a:p>
            <a:pPr eaLnBrk="1" hangingPunct="1"/>
            <a:r>
              <a:rPr lang="zh-CN" altLang="en-US" dirty="0"/>
              <a:t>内容提要</a:t>
            </a:r>
          </a:p>
        </p:txBody>
      </p:sp>
      <p:sp>
        <p:nvSpPr>
          <p:cNvPr id="196611" name="Rectangle 3"/>
          <p:cNvSpPr>
            <a:spLocks noGrp="1"/>
          </p:cNvSpPr>
          <p:nvPr>
            <p:ph idx="1"/>
          </p:nvPr>
        </p:nvSpPr>
        <p:spPr>
          <a:xfrm>
            <a:off x="381000" y="1295400"/>
            <a:ext cx="8610600" cy="5334000"/>
          </a:xfrm>
          <a:ln/>
        </p:spPr>
        <p:txBody>
          <a:bodyPr vert="horz" wrap="square" lIns="18000" tIns="45720" rIns="91440" bIns="45720" anchor="t" anchorCtr="0"/>
          <a:lstStyle/>
          <a:p>
            <a:pPr eaLnBrk="1" hangingPunct="1"/>
            <a:r>
              <a:rPr lang="zh-CN" altLang="en-US" dirty="0"/>
              <a:t>本章简要介绍程序中</a:t>
            </a:r>
          </a:p>
          <a:p>
            <a:pPr lvl="1" eaLnBrk="1" hangingPunct="1"/>
            <a:r>
              <a:rPr lang="zh-CN" altLang="en-US" dirty="0"/>
              <a:t>异常状况的概念</a:t>
            </a:r>
          </a:p>
          <a:p>
            <a:pPr lvl="1" eaLnBrk="1" hangingPunct="1"/>
            <a:r>
              <a:rPr lang="zh-CN" altLang="en-US" dirty="0"/>
              <a:t>异常处理的方法</a:t>
            </a:r>
          </a:p>
          <a:p>
            <a:pPr lvl="1" eaLnBrk="1" hangingPunct="1"/>
            <a:r>
              <a:rPr lang="zh-CN" altLang="en-US" dirty="0"/>
              <a:t>运算符 </a:t>
            </a:r>
            <a:r>
              <a:rPr lang="en-US" altLang="zh-CN" dirty="0">
                <a:solidFill>
                  <a:srgbClr val="0000FF"/>
                </a:solidFill>
              </a:rPr>
              <a:t>throw</a:t>
            </a:r>
          </a:p>
          <a:p>
            <a:pPr eaLnBrk="1" hangingPunct="1"/>
            <a:r>
              <a:rPr lang="zh-CN" altLang="en-US" dirty="0"/>
              <a:t>通过学习本章，读者应该初步掌握异常处理的语法和基本应用。</a:t>
            </a:r>
          </a:p>
          <a:p>
            <a:pPr algn="ctr" eaLnBrk="1" hangingPunct="1">
              <a:buNone/>
            </a:pPr>
            <a:r>
              <a:rPr lang="zh-CN" altLang="en-US" sz="4000" dirty="0"/>
              <a:t>异常 ≠ 错误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66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661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661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66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457200" y="123825"/>
            <a:ext cx="8153400" cy="774700"/>
          </a:xfrm>
          <a:ln/>
        </p:spPr>
        <p:txBody>
          <a:bodyPr vert="horz" wrap="square" lIns="91440" tIns="45720" rIns="91440" bIns="45720" anchor="ctr" anchorCtr="0">
            <a:spAutoFit/>
          </a:bodyPr>
          <a:lstStyle/>
          <a:p>
            <a:pPr eaLnBrk="1" hangingPunct="1"/>
            <a:r>
              <a:rPr lang="zh-CN" altLang="en-US" dirty="0"/>
              <a:t>第</a:t>
            </a:r>
            <a:r>
              <a:rPr lang="en-US" altLang="zh-CN" dirty="0"/>
              <a:t>15</a:t>
            </a:r>
            <a:r>
              <a:rPr lang="zh-CN" altLang="en-US" dirty="0"/>
              <a:t>章 *异常处理 </a:t>
            </a:r>
          </a:p>
        </p:txBody>
      </p:sp>
      <p:sp>
        <p:nvSpPr>
          <p:cNvPr id="6147" name="Rectangle 3"/>
          <p:cNvSpPr>
            <a:spLocks noGrp="1"/>
          </p:cNvSpPr>
          <p:nvPr>
            <p:ph idx="1"/>
          </p:nvPr>
        </p:nvSpPr>
        <p:spPr>
          <a:xfrm>
            <a:off x="381000" y="1371600"/>
            <a:ext cx="8229600" cy="4953000"/>
          </a:xfrm>
          <a:ln/>
        </p:spPr>
        <p:txBody>
          <a:bodyPr vert="horz" wrap="square" lIns="18000" tIns="45720" rIns="91440" bIns="45720" anchor="t" anchorCtr="0"/>
          <a:lstStyle/>
          <a:p>
            <a:pPr marL="533400" indent="-533400" eaLnBrk="1" hangingPunct="1">
              <a:buFont typeface="Wingdings" panose="05000000000000000000" pitchFamily="2" charset="2"/>
              <a:buAutoNum type="arabicPeriod"/>
            </a:pPr>
            <a:r>
              <a:rPr lang="zh-CN" altLang="en-US" sz="3200" dirty="0">
                <a:solidFill>
                  <a:srgbClr val="0000FF"/>
                </a:solidFill>
              </a:rPr>
              <a:t> 异常处理的概念 </a:t>
            </a:r>
          </a:p>
          <a:p>
            <a:pPr marL="533400" indent="-533400" eaLnBrk="1" hangingPunct="1">
              <a:buFont typeface="Wingdings" panose="05000000000000000000" pitchFamily="2" charset="2"/>
              <a:buAutoNum type="arabicPeriod"/>
            </a:pPr>
            <a:r>
              <a:rPr lang="zh-CN" altLang="en-US" sz="3200" dirty="0">
                <a:solidFill>
                  <a:srgbClr val="0000FF"/>
                </a:solidFill>
              </a:rPr>
              <a:t> 异常处理的方法</a:t>
            </a:r>
          </a:p>
          <a:p>
            <a:pPr marL="914400" lvl="1" indent="-457200" eaLnBrk="1" hangingPunct="1">
              <a:buNone/>
            </a:pPr>
            <a:r>
              <a:rPr lang="zh-CN" altLang="en-US" sz="2800" dirty="0">
                <a:solidFill>
                  <a:srgbClr val="0000FF"/>
                </a:solidFill>
              </a:rPr>
              <a:t>  </a:t>
            </a:r>
            <a:r>
              <a:rPr lang="en-US" altLang="zh-CN" sz="2800" dirty="0">
                <a:solidFill>
                  <a:srgbClr val="0000FF"/>
                </a:solidFill>
              </a:rPr>
              <a:t>15.2.1 </a:t>
            </a:r>
            <a:r>
              <a:rPr lang="zh-CN" altLang="en-US" sz="2800" dirty="0">
                <a:solidFill>
                  <a:srgbClr val="0000FF"/>
                </a:solidFill>
              </a:rPr>
              <a:t>抛掷异常</a:t>
            </a:r>
          </a:p>
          <a:p>
            <a:pPr marL="914400" lvl="1" indent="-457200" eaLnBrk="1" hangingPunct="1">
              <a:buNone/>
            </a:pPr>
            <a:r>
              <a:rPr lang="zh-CN" altLang="en-US" sz="2800" dirty="0">
                <a:solidFill>
                  <a:srgbClr val="0000FF"/>
                </a:solidFill>
              </a:rPr>
              <a:t>  </a:t>
            </a:r>
            <a:r>
              <a:rPr lang="en-US" altLang="zh-CN" sz="2800" dirty="0">
                <a:solidFill>
                  <a:srgbClr val="0000FF"/>
                </a:solidFill>
              </a:rPr>
              <a:t>15.2.2 </a:t>
            </a:r>
            <a:r>
              <a:rPr lang="zh-CN" altLang="en-US" sz="2800" dirty="0">
                <a:solidFill>
                  <a:srgbClr val="0000FF"/>
                </a:solidFill>
              </a:rPr>
              <a:t>圈定及捕捉处理</a:t>
            </a:r>
          </a:p>
          <a:p>
            <a:pPr marL="533400" indent="-533400" eaLnBrk="1" hangingPunct="1">
              <a:buFont typeface="Wingdings" panose="05000000000000000000" pitchFamily="2" charset="2"/>
              <a:buAutoNum type="arabicPeriod"/>
            </a:pPr>
            <a:r>
              <a:rPr lang="zh-CN" altLang="en-US" sz="3200" dirty="0">
                <a:solidFill>
                  <a:srgbClr val="0000FF"/>
                </a:solidFill>
              </a:rPr>
              <a:t>*趣味程序</a:t>
            </a:r>
            <a:r>
              <a:rPr lang="en-US" altLang="zh-CN" sz="3200" dirty="0">
                <a:solidFill>
                  <a:srgbClr val="0000FF"/>
                </a:solidFill>
              </a:rPr>
              <a:t>———</a:t>
            </a:r>
            <a:r>
              <a:rPr lang="zh-CN" altLang="en-US" sz="3200" dirty="0">
                <a:solidFill>
                  <a:srgbClr val="0000FF"/>
                </a:solidFill>
              </a:rPr>
              <a:t>正整数算术运算测验程序</a:t>
            </a:r>
          </a:p>
          <a:p>
            <a:pPr marL="533400" indent="-533400" eaLnBrk="1" hangingPunct="1">
              <a:buFont typeface="Wingdings" panose="05000000000000000000" pitchFamily="2" charset="2"/>
              <a:buAutoNum type="arabicPeriod"/>
            </a:pPr>
            <a:r>
              <a:rPr lang="zh-CN" altLang="en-US" sz="3200" dirty="0">
                <a:solidFill>
                  <a:srgbClr val="0000FF"/>
                </a:solidFill>
              </a:rPr>
              <a:t> 小结</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457200" y="123825"/>
            <a:ext cx="8153400" cy="774700"/>
          </a:xfrm>
          <a:ln/>
        </p:spPr>
        <p:txBody>
          <a:bodyPr vert="horz" wrap="square" lIns="91440" tIns="45720" rIns="91440" bIns="45720" anchor="ctr" anchorCtr="0">
            <a:spAutoFit/>
          </a:bodyPr>
          <a:lstStyle/>
          <a:p>
            <a:pPr eaLnBrk="1" hangingPunct="1"/>
            <a:r>
              <a:rPr lang="en-US" altLang="zh-CN" dirty="0"/>
              <a:t>15.1 </a:t>
            </a:r>
            <a:r>
              <a:rPr lang="zh-CN" altLang="en-US" dirty="0"/>
              <a:t>异常处理的概念 </a:t>
            </a:r>
          </a:p>
        </p:txBody>
      </p:sp>
      <p:sp>
        <p:nvSpPr>
          <p:cNvPr id="281603" name="Rectangle 3"/>
          <p:cNvSpPr>
            <a:spLocks noGrp="1"/>
          </p:cNvSpPr>
          <p:nvPr>
            <p:ph idx="1"/>
          </p:nvPr>
        </p:nvSpPr>
        <p:spPr>
          <a:ln/>
        </p:spPr>
        <p:txBody>
          <a:bodyPr vert="horz" wrap="square" lIns="18000" tIns="45720" rIns="91440" bIns="45720" anchor="t" anchorCtr="0"/>
          <a:lstStyle/>
          <a:p>
            <a:pPr eaLnBrk="1" hangingPunct="1"/>
            <a:r>
              <a:rPr lang="zh-CN" altLang="en-US" dirty="0"/>
              <a:t>程序中常见的错误有两大类：语法错误和运行异常。</a:t>
            </a:r>
            <a:endParaRPr lang="en-US" altLang="zh-CN" dirty="0"/>
          </a:p>
          <a:p>
            <a:pPr lvl="1" eaLnBrk="1" hangingPunct="1"/>
            <a:r>
              <a:rPr lang="zh-CN" altLang="en-US" dirty="0"/>
              <a:t>语法错误：</a:t>
            </a:r>
            <a:endParaRPr lang="en-US" altLang="zh-CN" dirty="0"/>
          </a:p>
          <a:p>
            <a:pPr lvl="2" eaLnBrk="1" hangingPunct="1"/>
            <a:r>
              <a:rPr lang="zh-CN" altLang="en-US" dirty="0"/>
              <a:t>在编译时，编译系统能发现程序中的语法错误</a:t>
            </a:r>
            <a:r>
              <a:rPr lang="en-US" altLang="zh-CN" dirty="0"/>
              <a:t>(</a:t>
            </a:r>
            <a:r>
              <a:rPr lang="zh-CN" altLang="en-US" dirty="0"/>
              <a:t>如关键字拼写错误、变量名未定义、语句末尾缺分号、括号不配对等</a:t>
            </a:r>
            <a:r>
              <a:rPr lang="en-US" altLang="zh-CN" dirty="0"/>
              <a:t>)</a:t>
            </a:r>
            <a:r>
              <a:rPr lang="zh-CN" altLang="en-US" dirty="0"/>
              <a:t>，编译系统会告知用户在第几行出错，是什么样的错误。由于是在编译阶段发现的错误，因此这类错误又称编译错误。。</a:t>
            </a:r>
          </a:p>
          <a:p>
            <a:pPr lvl="1" eaLnBrk="1" hangingPunct="1"/>
            <a:r>
              <a:rPr lang="zh-CN" altLang="en-US" dirty="0"/>
              <a:t>运行异常：</a:t>
            </a:r>
            <a:endParaRPr lang="en-US" altLang="zh-CN" dirty="0"/>
          </a:p>
          <a:p>
            <a:pPr lvl="2" eaLnBrk="1" hangingPunct="1"/>
            <a:r>
              <a:rPr lang="zh-CN" altLang="en-US" dirty="0"/>
              <a:t>有些程序能正常通过编译，也能投入运行。但是在运行过程中会出现异常，得不到正确的运行结果，甚至导致程序不正常终止，或出现死机现象。</a:t>
            </a:r>
            <a:endParaRPr lang="en-US" altLang="zh-CN" dirty="0"/>
          </a:p>
          <a:p>
            <a:pPr lvl="2" eaLnBrk="1" hangingPunct="1"/>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16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160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160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160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16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457200" y="123825"/>
            <a:ext cx="8153400" cy="774700"/>
          </a:xfrm>
          <a:ln/>
        </p:spPr>
        <p:txBody>
          <a:bodyPr vert="horz" wrap="square" lIns="91440" tIns="45720" rIns="91440" bIns="45720" anchor="ctr" anchorCtr="0">
            <a:spAutoFit/>
          </a:bodyPr>
          <a:lstStyle/>
          <a:p>
            <a:pPr eaLnBrk="1" hangingPunct="1"/>
            <a:r>
              <a:rPr lang="en-US" altLang="zh-CN" dirty="0"/>
              <a:t>15.1 </a:t>
            </a:r>
            <a:r>
              <a:rPr lang="zh-CN" altLang="en-US" dirty="0"/>
              <a:t>异常处理的概念 </a:t>
            </a:r>
          </a:p>
        </p:txBody>
      </p:sp>
      <p:sp>
        <p:nvSpPr>
          <p:cNvPr id="281603" name="Rectangle 3"/>
          <p:cNvSpPr>
            <a:spLocks noGrp="1"/>
          </p:cNvSpPr>
          <p:nvPr>
            <p:ph idx="1"/>
          </p:nvPr>
        </p:nvSpPr>
        <p:spPr>
          <a:ln/>
        </p:spPr>
        <p:txBody>
          <a:bodyPr vert="horz" wrap="square" lIns="18000" tIns="45720" rIns="91440" bIns="45720" anchor="t" anchorCtr="0"/>
          <a:lstStyle/>
          <a:p>
            <a:pPr eaLnBrk="1" hangingPunct="1"/>
            <a:r>
              <a:rPr lang="zh-CN" altLang="en-US" sz="2400" dirty="0"/>
              <a:t>程序在编译、连接生成可执行程序文件后</a:t>
            </a:r>
            <a:r>
              <a:rPr lang="en-US" altLang="zh-CN" sz="2400" dirty="0"/>
              <a:t>(</a:t>
            </a:r>
            <a:r>
              <a:rPr lang="zh-CN" altLang="en-US" sz="2400" dirty="0"/>
              <a:t>表明程序无语法、连接错</a:t>
            </a:r>
            <a:r>
              <a:rPr lang="en-US" altLang="zh-CN" sz="2400" dirty="0"/>
              <a:t>)</a:t>
            </a:r>
            <a:r>
              <a:rPr lang="zh-CN" altLang="en-US" sz="2400" dirty="0"/>
              <a:t>，便可以在操作系统下启动运行。</a:t>
            </a:r>
          </a:p>
          <a:p>
            <a:pPr eaLnBrk="1" hangingPunct="1"/>
            <a:r>
              <a:rPr lang="zh-CN" altLang="en-US" sz="2400" dirty="0"/>
              <a:t>程序运行过程中可能出现一些</a:t>
            </a:r>
            <a:r>
              <a:rPr lang="zh-CN" altLang="en-US" sz="2400" dirty="0">
                <a:solidFill>
                  <a:srgbClr val="990000"/>
                </a:solidFill>
                <a:ea typeface="楷体_GB2312" pitchFamily="49" charset="-122"/>
              </a:rPr>
              <a:t>可以预料，难以避免</a:t>
            </a:r>
            <a:r>
              <a:rPr lang="zh-CN" altLang="en-US" sz="2400" dirty="0"/>
              <a:t>的状况。这些状况就是所谓的</a:t>
            </a:r>
            <a:r>
              <a:rPr lang="zh-CN" altLang="en-US" sz="2400" dirty="0">
                <a:solidFill>
                  <a:srgbClr val="990000"/>
                </a:solidFill>
                <a:ea typeface="楷体_GB2312" pitchFamily="49" charset="-122"/>
              </a:rPr>
              <a:t>异常</a:t>
            </a:r>
            <a:r>
              <a:rPr lang="zh-CN" altLang="en-US" sz="2400" dirty="0"/>
              <a:t>。</a:t>
            </a:r>
          </a:p>
          <a:p>
            <a:pPr eaLnBrk="1" hangingPunct="1"/>
            <a:r>
              <a:rPr lang="zh-CN" altLang="en-US" sz="2400" dirty="0"/>
              <a:t>异常不一定是错误。在一般情况下，异常指的是出错</a:t>
            </a:r>
            <a:r>
              <a:rPr lang="en-US" altLang="zh-CN" sz="2400" dirty="0"/>
              <a:t>(</a:t>
            </a:r>
            <a:r>
              <a:rPr lang="zh-CN" altLang="en-US" sz="2400" dirty="0"/>
              <a:t>差错</a:t>
            </a:r>
            <a:r>
              <a:rPr lang="en-US" altLang="zh-CN" sz="2400" dirty="0"/>
              <a:t>)</a:t>
            </a:r>
            <a:r>
              <a:rPr lang="zh-CN" altLang="en-US" sz="2400" dirty="0"/>
              <a:t>，只要出现与人们期望的情况不同，都可以认为是异常，并对它进行异常处理。常见的异常状况有：</a:t>
            </a:r>
          </a:p>
          <a:p>
            <a:pPr lvl="1" eaLnBrk="1" hangingPunct="1"/>
            <a:r>
              <a:rPr lang="zh-CN" altLang="en-US" dirty="0"/>
              <a:t>用</a:t>
            </a:r>
            <a:r>
              <a:rPr lang="en-US" altLang="zh-CN" dirty="0"/>
              <a:t>0</a:t>
            </a:r>
            <a:r>
              <a:rPr lang="zh-CN" altLang="en-US" dirty="0"/>
              <a:t>作除数</a:t>
            </a:r>
          </a:p>
          <a:p>
            <a:pPr lvl="1" eaLnBrk="1" hangingPunct="1"/>
            <a:r>
              <a:rPr lang="zh-CN" altLang="en-US" dirty="0"/>
              <a:t>打开输入文件错</a:t>
            </a:r>
          </a:p>
          <a:p>
            <a:pPr lvl="1" eaLnBrk="1" hangingPunct="1"/>
            <a:r>
              <a:rPr lang="zh-CN" altLang="en-US" dirty="0"/>
              <a:t>内存空间分配错</a:t>
            </a:r>
            <a:endParaRPr lang="en-US" altLang="zh-CN" dirty="0"/>
          </a:p>
          <a:p>
            <a:pPr lvl="1" eaLnBrk="1" hangingPunct="1"/>
            <a:r>
              <a:rPr lang="zh-CN" altLang="en-US" dirty="0"/>
              <a:t>输入数据时类型不匹配</a:t>
            </a:r>
          </a:p>
          <a:p>
            <a:pPr lvl="1" eaLnBrk="1" hangingPunct="1"/>
            <a:r>
              <a:rPr lang="en-US" altLang="zh-CN" dirty="0">
                <a:latin typeface="宋体" panose="02010600030101010101" pitchFamily="2" charset="-122"/>
                <a:ea typeface="宋体" panose="02010600030101010101" pitchFamily="2" charset="-122"/>
              </a:rPr>
              <a:t>……</a:t>
            </a:r>
            <a:endParaRPr lang="en-US" altLang="zh-CN" dirty="0">
              <a:ea typeface="宋体" panose="02010600030101010101" pitchFamily="2" charset="-122"/>
            </a:endParaRPr>
          </a:p>
        </p:txBody>
      </p:sp>
    </p:spTree>
    <p:extLst>
      <p:ext uri="{BB962C8B-B14F-4D97-AF65-F5344CB8AC3E}">
        <p14:creationId xmlns:p14="http://schemas.microsoft.com/office/powerpoint/2010/main" val="160096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1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1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160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160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160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160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160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16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15.1 </a:t>
            </a:r>
            <a:r>
              <a:rPr lang="zh-CN" altLang="en-US" dirty="0"/>
              <a:t>异常处理的概念</a:t>
            </a:r>
          </a:p>
        </p:txBody>
      </p:sp>
      <p:sp>
        <p:nvSpPr>
          <p:cNvPr id="362499" name="Rectangle 3"/>
          <p:cNvSpPr>
            <a:spLocks noGrp="1"/>
          </p:cNvSpPr>
          <p:nvPr>
            <p:ph idx="1"/>
          </p:nvPr>
        </p:nvSpPr>
        <p:spPr>
          <a:ln/>
        </p:spPr>
        <p:txBody>
          <a:bodyPr vert="horz" wrap="square" lIns="18000" tIns="45720" rIns="91440" bIns="45720" anchor="t" anchorCtr="0"/>
          <a:lstStyle/>
          <a:p>
            <a:pPr eaLnBrk="1" hangingPunct="1"/>
            <a:r>
              <a:rPr lang="zh-CN" altLang="en-US" dirty="0"/>
              <a:t>对于程序中所出现的异常，甚至是极端异常（错误）状况的处理，最好不要</a:t>
            </a:r>
            <a:r>
              <a:rPr lang="zh-CN" altLang="en-US" dirty="0">
                <a:solidFill>
                  <a:srgbClr val="990000"/>
                </a:solidFill>
                <a:latin typeface="Times New Roman" panose="02020603050405020304" pitchFamily="18" charset="0"/>
                <a:ea typeface="楷体_GB2312" pitchFamily="49" charset="-122"/>
              </a:rPr>
              <a:t>“一遇见便终止了事”</a:t>
            </a:r>
            <a:r>
              <a:rPr lang="zh-CN" altLang="en-US" dirty="0"/>
              <a:t>。</a:t>
            </a:r>
          </a:p>
          <a:p>
            <a:pPr eaLnBrk="1" hangingPunct="1"/>
            <a:r>
              <a:rPr lang="zh-CN" altLang="en-US" dirty="0"/>
              <a:t>我们希望程序不仅在正确的情况下能正常运行，而且在程序运行异常的情况下也能作出相应的处理，而不致使程序莫名其妙地终止，甚至出现死机的现象。</a:t>
            </a:r>
            <a:endParaRPr lang="en-US" altLang="zh-CN" dirty="0"/>
          </a:p>
          <a:p>
            <a:pPr lvl="0" eaLnBrk="1" hangingPunct="1">
              <a:buClr>
                <a:srgbClr val="CA3B1E"/>
              </a:buClr>
            </a:pPr>
            <a:r>
              <a:rPr lang="zh-CN" altLang="en-US" dirty="0">
                <a:solidFill>
                  <a:srgbClr val="000000"/>
                </a:solidFill>
              </a:rPr>
              <a:t>在设计程序时，应当事先分析程序运行时可能出现的各种意外的情况，并且分别制定出相应的处理方法，这就是程序的异常处理的任务。</a:t>
            </a:r>
            <a:endParaRPr lang="en-US" altLang="zh-CN" dirty="0">
              <a:solidFill>
                <a:srgbClr val="000000"/>
              </a:solidFill>
            </a:endParaRPr>
          </a:p>
          <a:p>
            <a:pPr eaLnBrk="1" hangingPunct="1"/>
            <a:endParaRPr lang="en-US" altLang="zh-CN" dirty="0"/>
          </a:p>
          <a:p>
            <a:pPr lvl="1"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15.1 </a:t>
            </a:r>
            <a:r>
              <a:rPr lang="zh-CN" altLang="en-US" dirty="0"/>
              <a:t>异常处理的概念</a:t>
            </a:r>
          </a:p>
        </p:txBody>
      </p:sp>
      <p:sp>
        <p:nvSpPr>
          <p:cNvPr id="362499" name="Rectangle 3"/>
          <p:cNvSpPr>
            <a:spLocks noGrp="1"/>
          </p:cNvSpPr>
          <p:nvPr>
            <p:ph idx="1"/>
          </p:nvPr>
        </p:nvSpPr>
        <p:spPr>
          <a:ln/>
        </p:spPr>
        <p:txBody>
          <a:bodyPr vert="horz" wrap="square" lIns="18000" tIns="45720" rIns="91440" bIns="45720" anchor="t" anchorCtr="0"/>
          <a:lstStyle/>
          <a:p>
            <a:pPr lvl="0" eaLnBrk="1" hangingPunct="1">
              <a:buClr>
                <a:srgbClr val="CA3B1E"/>
              </a:buClr>
            </a:pPr>
            <a:r>
              <a:rPr lang="zh-CN" altLang="en-US" dirty="0">
                <a:solidFill>
                  <a:srgbClr val="000000"/>
                </a:solidFill>
              </a:rPr>
              <a:t>本质上，异常处理是一种程序流程控制转移。</a:t>
            </a:r>
          </a:p>
          <a:p>
            <a:pPr lvl="1" eaLnBrk="1" hangingPunct="1"/>
            <a:r>
              <a:rPr lang="zh-CN" altLang="en-US" dirty="0">
                <a:solidFill>
                  <a:srgbClr val="003399"/>
                </a:solidFill>
              </a:rPr>
              <a:t>这种控制转移不同于以前的函数逐个地嵌套调用（入栈）及逐层地返回（退栈）；</a:t>
            </a:r>
          </a:p>
          <a:p>
            <a:pPr lvl="1" eaLnBrk="1" hangingPunct="1"/>
            <a:r>
              <a:rPr lang="zh-CN" altLang="en-US" dirty="0">
                <a:solidFill>
                  <a:srgbClr val="003399"/>
                </a:solidFill>
              </a:rPr>
              <a:t>异常处理应该能够跨越函数。</a:t>
            </a:r>
            <a:endParaRPr lang="en-US" altLang="zh-CN" dirty="0">
              <a:solidFill>
                <a:srgbClr val="003399"/>
              </a:solidFill>
            </a:endParaRPr>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15.1 </a:t>
            </a:r>
            <a:r>
              <a:rPr lang="zh-CN" altLang="en-US" dirty="0"/>
              <a:t>异常处理的概念</a:t>
            </a:r>
          </a:p>
        </p:txBody>
      </p:sp>
      <p:sp>
        <p:nvSpPr>
          <p:cNvPr id="362499" name="Rectangle 3"/>
          <p:cNvSpPr>
            <a:spLocks noGrp="1"/>
          </p:cNvSpPr>
          <p:nvPr>
            <p:ph idx="1"/>
          </p:nvPr>
        </p:nvSpPr>
        <p:spPr>
          <a:ln/>
        </p:spPr>
        <p:txBody>
          <a:bodyPr vert="horz" wrap="square" lIns="18000" tIns="45720" rIns="91440" bIns="45720" anchor="t" anchorCtr="0"/>
          <a:lstStyle/>
          <a:p>
            <a:pPr eaLnBrk="1" hangingPunct="1"/>
            <a:r>
              <a:rPr lang="zh-CN" altLang="en-US" dirty="0"/>
              <a:t>在一个小的程序中，可以用比较简单的方法处理异常。但是在一个大的系统中，如果在每一个函数中都设置处理异常的程序段，会使程序过于复杂和庞大。</a:t>
            </a:r>
            <a:endParaRPr lang="en-US" altLang="zh-CN" dirty="0"/>
          </a:p>
          <a:p>
            <a:pPr eaLnBrk="1" hangingPunct="1"/>
            <a:r>
              <a:rPr lang="en-US" altLang="zh-CN" dirty="0"/>
              <a:t>C++</a:t>
            </a:r>
            <a:r>
              <a:rPr lang="zh-CN" altLang="en-US" dirty="0"/>
              <a:t>采取的办法是</a:t>
            </a:r>
            <a:r>
              <a:rPr lang="en-US" altLang="zh-CN" dirty="0"/>
              <a:t>: </a:t>
            </a:r>
            <a:r>
              <a:rPr lang="zh-CN" altLang="en-US" dirty="0"/>
              <a:t>如果在执行一个函数过程中出现异常，可以不在本函数中立即处理，而是发出一个信息，传给它的上一级</a:t>
            </a:r>
            <a:r>
              <a:rPr lang="en-US" altLang="zh-CN" dirty="0"/>
              <a:t>(</a:t>
            </a:r>
            <a:r>
              <a:rPr lang="zh-CN" altLang="en-US" dirty="0"/>
              <a:t>即调用它的函数</a:t>
            </a:r>
            <a:r>
              <a:rPr lang="en-US" altLang="zh-CN" dirty="0"/>
              <a:t>)</a:t>
            </a:r>
            <a:r>
              <a:rPr lang="zh-CN" altLang="en-US" dirty="0"/>
              <a:t>，它的上级捕捉到这个信息后进行处理。如果上一级的函数也不能处理，就再传给其上一级，由其上一级处理。如此逐级上送，如果到最高一级还无法处理，最后只好异常终止程序的执行。</a:t>
            </a:r>
          </a:p>
          <a:p>
            <a:pPr eaLnBrk="1" hangingPunct="1"/>
            <a:endParaRPr lang="zh-CN" altLang="en-US" dirty="0"/>
          </a:p>
        </p:txBody>
      </p:sp>
    </p:spTree>
    <p:extLst>
      <p:ext uri="{BB962C8B-B14F-4D97-AF65-F5344CB8AC3E}">
        <p14:creationId xmlns:p14="http://schemas.microsoft.com/office/powerpoint/2010/main" val="376278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15.1 </a:t>
            </a:r>
            <a:r>
              <a:rPr lang="zh-CN" altLang="en-US" dirty="0"/>
              <a:t>异常处理的概念</a:t>
            </a:r>
          </a:p>
        </p:txBody>
      </p:sp>
      <p:sp>
        <p:nvSpPr>
          <p:cNvPr id="363523" name="Rectangle 3"/>
          <p:cNvSpPr>
            <a:spLocks noGrp="1"/>
          </p:cNvSpPr>
          <p:nvPr>
            <p:ph idx="1"/>
          </p:nvPr>
        </p:nvSpPr>
        <p:spPr>
          <a:ln/>
        </p:spPr>
        <p:txBody>
          <a:bodyPr vert="horz" wrap="square" lIns="18000" tIns="45720" rIns="91440" bIns="45720" anchor="t" anchorCtr="0"/>
          <a:lstStyle/>
          <a:p>
            <a:pPr eaLnBrk="1" hangingPunct="1"/>
            <a:r>
              <a:rPr lang="zh-CN" altLang="en-US" dirty="0"/>
              <a:t>这样做使得异常的发现和处理不必由同一函数来完成。</a:t>
            </a:r>
            <a:endParaRPr lang="en-US" altLang="zh-CN" dirty="0"/>
          </a:p>
          <a:p>
            <a:pPr eaLnBrk="1" hangingPunct="1"/>
            <a:r>
              <a:rPr lang="zh-CN" altLang="en-US" dirty="0"/>
              <a:t>好处是使底层的函数专门用于解决实际任务，而不必再承担处理异常的任务，以减轻底层函数的负担，而把处理异常的任务上移到某一层去处理。例如在主函数中调用十几个函数，只须在主函数中设置处理异常即可，而不必在每个函数中都设置处理异常，这样可以提高效率。</a:t>
            </a:r>
          </a:p>
          <a:p>
            <a:pPr eaLnBrk="1" hangingPunct="1"/>
            <a:endParaRPr lang="zh-CN" altLang="en-US" dirty="0"/>
          </a:p>
        </p:txBody>
      </p:sp>
    </p:spTree>
    <p:extLst>
      <p:ext uri="{BB962C8B-B14F-4D97-AF65-F5344CB8AC3E}">
        <p14:creationId xmlns:p14="http://schemas.microsoft.com/office/powerpoint/2010/main" val="278360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35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15.1 </a:t>
            </a:r>
            <a:r>
              <a:rPr lang="zh-CN" altLang="en-US" dirty="0"/>
              <a:t>异常处理的概念</a:t>
            </a:r>
          </a:p>
        </p:txBody>
      </p:sp>
      <p:sp>
        <p:nvSpPr>
          <p:cNvPr id="363523" name="Rectangle 3"/>
          <p:cNvSpPr>
            <a:spLocks noGrp="1"/>
          </p:cNvSpPr>
          <p:nvPr>
            <p:ph idx="1"/>
          </p:nvPr>
        </p:nvSpPr>
        <p:spPr>
          <a:ln/>
        </p:spPr>
        <p:txBody>
          <a:bodyPr vert="horz" wrap="square" lIns="18000" tIns="45720" rIns="91440" bIns="45720" anchor="t" anchorCtr="0"/>
          <a:lstStyle/>
          <a:p>
            <a:pPr eaLnBrk="1" hangingPunct="1"/>
            <a:r>
              <a:rPr lang="en-US" altLang="zh-CN" dirty="0"/>
              <a:t>C++</a:t>
            </a:r>
            <a:r>
              <a:rPr lang="zh-CN" altLang="en-US" dirty="0"/>
              <a:t>提供了性能卓越的异常处理机制。</a:t>
            </a:r>
          </a:p>
          <a:p>
            <a:pPr eaLnBrk="1" hangingPunct="1"/>
            <a:r>
              <a:rPr lang="zh-CN" altLang="en-US" dirty="0"/>
              <a:t>使程序设计人员在庞大而复杂的程序设计中能够集中精力解决主要方面的问题。</a:t>
            </a:r>
          </a:p>
          <a:p>
            <a:pPr eaLnBrk="1" hangingPunct="1"/>
            <a:r>
              <a:rPr lang="zh-CN" altLang="en-US" dirty="0"/>
              <a:t>当遇到那些可以预料的情况，只管将其向外抛掷而不必处理。</a:t>
            </a:r>
          </a:p>
          <a:p>
            <a:pPr eaLnBrk="1" hangingPunct="1"/>
            <a:r>
              <a:rPr lang="zh-CN" altLang="en-US" dirty="0"/>
              <a:t>程序设计的另一些人员则可以只管圈定、捕捉并处理异常即可。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35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35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35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15.1 </a:t>
            </a:r>
            <a:r>
              <a:rPr lang="zh-CN" altLang="en-US" dirty="0"/>
              <a:t>异常处理的概念</a:t>
            </a:r>
          </a:p>
        </p:txBody>
      </p:sp>
      <p:sp>
        <p:nvSpPr>
          <p:cNvPr id="364547" name="Rectangle 3"/>
          <p:cNvSpPr>
            <a:spLocks noGrp="1"/>
          </p:cNvSpPr>
          <p:nvPr>
            <p:ph idx="1"/>
          </p:nvPr>
        </p:nvSpPr>
        <p:spPr>
          <a:ln/>
        </p:spPr>
        <p:txBody>
          <a:bodyPr vert="horz" wrap="square" lIns="18000" tIns="45720" rIns="91440" bIns="45720" anchor="t" anchorCtr="0"/>
          <a:lstStyle/>
          <a:p>
            <a:pPr eaLnBrk="1" hangingPunct="1"/>
            <a:r>
              <a:rPr lang="zh-CN" altLang="en-US" dirty="0"/>
              <a:t>这表明发生异常和处理异常不在同一函数中</a:t>
            </a:r>
          </a:p>
          <a:p>
            <a:pPr lvl="1" eaLnBrk="1" hangingPunct="1"/>
            <a:r>
              <a:rPr lang="zh-CN" altLang="en-US" dirty="0"/>
              <a:t>这一</a:t>
            </a:r>
            <a:r>
              <a:rPr lang="zh-CN" altLang="en-US" dirty="0">
                <a:latin typeface="Times New Roman" panose="02020603050405020304" pitchFamily="18" charset="0"/>
              </a:rPr>
              <a:t>“不在现场处理”</a:t>
            </a:r>
            <a:r>
              <a:rPr lang="zh-CN" altLang="en-US" dirty="0"/>
              <a:t>的机制，使异常处理能轻松跨越复杂的函数嵌套调用；</a:t>
            </a:r>
          </a:p>
          <a:p>
            <a:pPr lvl="1" eaLnBrk="1" hangingPunct="1"/>
            <a:r>
              <a:rPr lang="zh-CN" altLang="en-US" dirty="0"/>
              <a:t>可以从最深层的异常抛掷现场自动地逐层传递，直到跳转到能处理这种异常的层次为止；</a:t>
            </a:r>
          </a:p>
          <a:p>
            <a:pPr lvl="1" eaLnBrk="1" hangingPunct="1"/>
            <a:r>
              <a:rPr lang="zh-CN" altLang="en-US" dirty="0"/>
              <a:t>处理完异常后，程序可以继续执行。</a:t>
            </a:r>
          </a:p>
          <a:p>
            <a:pPr eaLnBrk="1" hangingPunct="1"/>
            <a:r>
              <a:rPr lang="zh-CN" altLang="en-US" dirty="0"/>
              <a:t>若所抛掷的异常皆未被捕捉到，则系统会使用</a:t>
            </a:r>
            <a:r>
              <a:rPr lang="zh-CN" altLang="en-US" dirty="0">
                <a:latin typeface="Times New Roman" panose="02020603050405020304" pitchFamily="18" charset="0"/>
              </a:rPr>
              <a:t>“</a:t>
            </a:r>
            <a:r>
              <a:rPr lang="zh-CN" altLang="en-US" dirty="0"/>
              <a:t>强制捕捉器</a:t>
            </a:r>
            <a:r>
              <a:rPr lang="zh-CN" altLang="en-US" dirty="0">
                <a:latin typeface="Times New Roman" panose="02020603050405020304" pitchFamily="18" charset="0"/>
              </a:rPr>
              <a:t>”</a:t>
            </a:r>
            <a:r>
              <a:rPr lang="en-US" altLang="zh-CN" dirty="0"/>
              <a:t>terminate</a:t>
            </a:r>
            <a:r>
              <a:rPr lang="zh-CN" altLang="en-US" dirty="0"/>
              <a:t>函数进行捕捉。</a:t>
            </a:r>
          </a:p>
          <a:p>
            <a:pPr lvl="1" eaLnBrk="1" hangingPunct="1"/>
            <a:r>
              <a:rPr lang="en-US" altLang="zh-CN" dirty="0"/>
              <a:t>terminate</a:t>
            </a:r>
            <a:r>
              <a:rPr lang="zh-CN" altLang="en-US" dirty="0"/>
              <a:t>是系统函数，它的默认操作是调用系统的</a:t>
            </a:r>
            <a:r>
              <a:rPr lang="en-US" altLang="zh-CN" dirty="0"/>
              <a:t>abort</a:t>
            </a:r>
            <a:r>
              <a:rPr lang="zh-CN" altLang="en-US" dirty="0"/>
              <a:t>函数而无条件地终止程序。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45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45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454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454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454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45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 </a:t>
            </a:r>
            <a:r>
              <a:rPr lang="zh-CN" altLang="en-US" dirty="0"/>
              <a:t>异常处理的方法 </a:t>
            </a:r>
          </a:p>
        </p:txBody>
      </p:sp>
      <p:sp>
        <p:nvSpPr>
          <p:cNvPr id="365571" name="Rectangle 3"/>
          <p:cNvSpPr>
            <a:spLocks noGrp="1"/>
          </p:cNvSpPr>
          <p:nvPr>
            <p:ph idx="1"/>
          </p:nvPr>
        </p:nvSpPr>
        <p:spPr>
          <a:ln/>
        </p:spPr>
        <p:txBody>
          <a:bodyPr vert="horz" wrap="square" lIns="18000" tIns="45720" rIns="91440" bIns="45720" anchor="t" anchorCtr="0"/>
          <a:lstStyle/>
          <a:p>
            <a:pPr eaLnBrk="1" hangingPunct="1"/>
            <a:r>
              <a:rPr lang="en-US" altLang="zh-CN" dirty="0"/>
              <a:t>C++</a:t>
            </a:r>
            <a:r>
              <a:rPr lang="zh-CN" altLang="en-US" dirty="0"/>
              <a:t>处理异常的机制是由两个部分组成的，包括：</a:t>
            </a:r>
          </a:p>
          <a:p>
            <a:pPr lvl="1" eaLnBrk="1" hangingPunct="1"/>
            <a:r>
              <a:rPr lang="zh-CN" altLang="en-US" dirty="0"/>
              <a:t>在函数中预料的可能有异常之处抛掷（</a:t>
            </a:r>
            <a:r>
              <a:rPr lang="en-US" altLang="zh-CN" dirty="0">
                <a:solidFill>
                  <a:srgbClr val="0000FF"/>
                </a:solidFill>
              </a:rPr>
              <a:t>throw</a:t>
            </a:r>
            <a:r>
              <a:rPr lang="zh-CN" altLang="en-US" dirty="0"/>
              <a:t>）异常；</a:t>
            </a:r>
          </a:p>
          <a:p>
            <a:pPr lvl="1" eaLnBrk="1" hangingPunct="1"/>
            <a:r>
              <a:rPr lang="zh-CN" altLang="en-US" dirty="0"/>
              <a:t>圈定并尝试调用（</a:t>
            </a:r>
            <a:r>
              <a:rPr lang="en-US" altLang="zh-CN" dirty="0">
                <a:solidFill>
                  <a:srgbClr val="0000FF"/>
                </a:solidFill>
              </a:rPr>
              <a:t>try</a:t>
            </a:r>
            <a:r>
              <a:rPr lang="zh-CN" altLang="en-US" dirty="0"/>
              <a:t>）那些可能抛掷异常的函数，再进行捕捉（</a:t>
            </a:r>
            <a:r>
              <a:rPr lang="en-US" altLang="zh-CN" dirty="0">
                <a:solidFill>
                  <a:srgbClr val="0000FF"/>
                </a:solidFill>
              </a:rPr>
              <a:t>catch</a:t>
            </a:r>
            <a:r>
              <a:rPr lang="zh-CN" altLang="en-US" dirty="0"/>
              <a:t>）及处理。</a:t>
            </a:r>
          </a:p>
          <a:p>
            <a:pPr eaLnBrk="1" hangingPunct="1"/>
            <a:r>
              <a:rPr lang="zh-CN" altLang="en-US" dirty="0"/>
              <a:t>这里</a:t>
            </a:r>
            <a:r>
              <a:rPr lang="en-US" altLang="zh-CN" dirty="0">
                <a:solidFill>
                  <a:srgbClr val="0000FF"/>
                </a:solidFill>
              </a:rPr>
              <a:t>throw</a:t>
            </a:r>
            <a:r>
              <a:rPr lang="en-US" altLang="zh-CN" dirty="0"/>
              <a:t>, </a:t>
            </a:r>
            <a:r>
              <a:rPr lang="en-US" altLang="zh-CN" dirty="0">
                <a:solidFill>
                  <a:srgbClr val="0000FF"/>
                </a:solidFill>
              </a:rPr>
              <a:t>try</a:t>
            </a:r>
            <a:r>
              <a:rPr lang="en-US" altLang="zh-CN" dirty="0"/>
              <a:t>, </a:t>
            </a:r>
            <a:r>
              <a:rPr lang="en-US" altLang="zh-CN" dirty="0">
                <a:solidFill>
                  <a:srgbClr val="0000FF"/>
                </a:solidFill>
              </a:rPr>
              <a:t>catch</a:t>
            </a:r>
            <a:r>
              <a:rPr lang="zh-CN" altLang="en-US" dirty="0"/>
              <a:t>都是</a:t>
            </a:r>
            <a:r>
              <a:rPr lang="en-US" altLang="zh-CN" dirty="0"/>
              <a:t>C++</a:t>
            </a:r>
            <a:r>
              <a:rPr lang="zh-CN" altLang="en-US" dirty="0"/>
              <a:t>的保留字。</a:t>
            </a:r>
          </a:p>
          <a:p>
            <a:pPr eaLnBrk="1" hangingPunct="1"/>
            <a:r>
              <a:rPr lang="zh-CN" altLang="en-US" dirty="0"/>
              <a:t>其中</a:t>
            </a:r>
            <a:r>
              <a:rPr lang="en-US" altLang="zh-CN" dirty="0">
                <a:solidFill>
                  <a:srgbClr val="0000FF"/>
                </a:solidFill>
              </a:rPr>
              <a:t>throw</a:t>
            </a:r>
            <a:r>
              <a:rPr lang="zh-CN" altLang="en-US" dirty="0"/>
              <a:t>是运算符，其运算优先级为第</a:t>
            </a:r>
            <a:r>
              <a:rPr lang="en-US" altLang="zh-CN" dirty="0"/>
              <a:t>17</a:t>
            </a:r>
            <a:r>
              <a:rPr lang="zh-CN" altLang="en-US" dirty="0"/>
              <a:t>级，</a:t>
            </a:r>
            <a:br>
              <a:rPr lang="zh-CN" altLang="en-US" dirty="0"/>
            </a:br>
            <a:r>
              <a:rPr lang="zh-CN" altLang="en-US" dirty="0"/>
              <a:t>仅高于最低的逗号运算符。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55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55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55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55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55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 </a:t>
            </a:r>
            <a:r>
              <a:rPr lang="zh-CN" altLang="en-US" dirty="0"/>
              <a:t>异常处理的方法</a:t>
            </a:r>
          </a:p>
        </p:txBody>
      </p:sp>
      <p:sp>
        <p:nvSpPr>
          <p:cNvPr id="362499" name="Rectangle 3"/>
          <p:cNvSpPr>
            <a:spLocks noGrp="1"/>
          </p:cNvSpPr>
          <p:nvPr>
            <p:ph idx="1"/>
          </p:nvPr>
        </p:nvSpPr>
        <p:spPr>
          <a:ln/>
        </p:spPr>
        <p:txBody>
          <a:bodyPr vert="horz" wrap="square" lIns="18000" tIns="45720" rIns="91440" bIns="45720" anchor="t" anchorCtr="0"/>
          <a:lstStyle/>
          <a:p>
            <a:pPr eaLnBrk="1" hangingPunct="1"/>
            <a:r>
              <a:rPr lang="en-US" altLang="zh-CN" dirty="0"/>
              <a:t>throw</a:t>
            </a:r>
            <a:r>
              <a:rPr lang="zh-CN" altLang="en-US" dirty="0"/>
              <a:t>语句一般是由</a:t>
            </a:r>
            <a:r>
              <a:rPr lang="en-US" altLang="zh-CN" dirty="0"/>
              <a:t>throw</a:t>
            </a:r>
            <a:r>
              <a:rPr lang="zh-CN" altLang="en-US" dirty="0"/>
              <a:t>运算符和一个数据组成的，其形式为</a:t>
            </a:r>
          </a:p>
          <a:p>
            <a:pPr lvl="1" eaLnBrk="1" hangingPunct="1"/>
            <a:r>
              <a:rPr lang="en-US" altLang="zh-CN" dirty="0"/>
              <a:t>throw </a:t>
            </a:r>
            <a:r>
              <a:rPr lang="zh-CN" altLang="en-US" dirty="0"/>
              <a:t>表达式</a:t>
            </a:r>
            <a:r>
              <a:rPr lang="en-US" altLang="zh-CN" dirty="0"/>
              <a:t>;</a:t>
            </a:r>
          </a:p>
          <a:p>
            <a:pPr eaLnBrk="1" hangingPunct="1"/>
            <a:r>
              <a:rPr lang="en-US" altLang="zh-CN" dirty="0"/>
              <a:t>try-catch</a:t>
            </a:r>
            <a:r>
              <a:rPr lang="zh-CN" altLang="en-US" dirty="0"/>
              <a:t>的结构为</a:t>
            </a:r>
          </a:p>
          <a:p>
            <a:pPr lvl="1" eaLnBrk="1" hangingPunct="1"/>
            <a:r>
              <a:rPr lang="en-US" altLang="zh-CN" dirty="0"/>
              <a:t>try</a:t>
            </a:r>
          </a:p>
          <a:p>
            <a:pPr lvl="1" eaLnBrk="1" hangingPunct="1"/>
            <a:r>
              <a:rPr lang="en-US" altLang="zh-CN" dirty="0"/>
              <a:t>      {</a:t>
            </a:r>
            <a:r>
              <a:rPr lang="zh-CN" altLang="en-US" dirty="0"/>
              <a:t>被检查的语句</a:t>
            </a:r>
            <a:r>
              <a:rPr lang="en-US" altLang="zh-CN" dirty="0"/>
              <a:t>} </a:t>
            </a:r>
          </a:p>
          <a:p>
            <a:pPr lvl="1" eaLnBrk="1" hangingPunct="1"/>
            <a:r>
              <a:rPr lang="en-US" altLang="zh-CN" dirty="0"/>
              <a:t>catch(</a:t>
            </a:r>
            <a:r>
              <a:rPr lang="zh-CN" altLang="en-US" dirty="0"/>
              <a:t>异常信息类型 </a:t>
            </a:r>
            <a:r>
              <a:rPr lang="en-US" altLang="zh-CN" dirty="0"/>
              <a:t>[</a:t>
            </a:r>
            <a:r>
              <a:rPr lang="zh-CN" altLang="en-US" dirty="0"/>
              <a:t>变量名</a:t>
            </a:r>
            <a:r>
              <a:rPr lang="en-US" altLang="zh-CN" dirty="0"/>
              <a:t>])</a:t>
            </a:r>
          </a:p>
          <a:p>
            <a:pPr lvl="1" eaLnBrk="1" hangingPunct="1"/>
            <a:r>
              <a:rPr lang="en-US" altLang="zh-CN" dirty="0"/>
              <a:t>      {</a:t>
            </a:r>
            <a:r>
              <a:rPr lang="zh-CN" altLang="en-US" dirty="0"/>
              <a:t>进行异常处理的语句</a:t>
            </a:r>
            <a:r>
              <a:rPr lang="en-US" altLang="zh-CN" dirty="0"/>
              <a:t>}</a:t>
            </a:r>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249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249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249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24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 </a:t>
            </a:r>
            <a:r>
              <a:rPr lang="zh-CN" altLang="en-US" dirty="0"/>
              <a:t>异常处理的方法</a:t>
            </a:r>
          </a:p>
        </p:txBody>
      </p:sp>
      <p:sp>
        <p:nvSpPr>
          <p:cNvPr id="362499" name="Rectangle 3"/>
          <p:cNvSpPr>
            <a:spLocks noGrp="1"/>
          </p:cNvSpPr>
          <p:nvPr>
            <p:ph idx="1"/>
          </p:nvPr>
        </p:nvSpPr>
        <p:spPr>
          <a:ln/>
        </p:spPr>
        <p:txBody>
          <a:bodyPr vert="horz" wrap="square" lIns="18000" tIns="45720" rIns="91440" bIns="45720" anchor="t" anchorCtr="0"/>
          <a:lstStyle/>
          <a:p>
            <a:pPr eaLnBrk="1" hangingPunct="1"/>
            <a:r>
              <a:rPr lang="en-US" altLang="zh-CN" sz="2000" dirty="0"/>
              <a:t>throw</a:t>
            </a:r>
            <a:r>
              <a:rPr lang="zh-CN" altLang="en-US" sz="2000" dirty="0"/>
              <a:t>语句一般是由</a:t>
            </a:r>
            <a:r>
              <a:rPr lang="en-US" altLang="zh-CN" sz="2000" dirty="0"/>
              <a:t>throw</a:t>
            </a:r>
            <a:r>
              <a:rPr lang="zh-CN" altLang="en-US" sz="2000" dirty="0"/>
              <a:t>运算符和一个数据组成的，其形式为</a:t>
            </a:r>
          </a:p>
          <a:p>
            <a:pPr lvl="1" eaLnBrk="1" hangingPunct="1"/>
            <a:r>
              <a:rPr lang="en-US" altLang="zh-CN" sz="2000" dirty="0"/>
              <a:t>throw </a:t>
            </a:r>
            <a:r>
              <a:rPr lang="zh-CN" altLang="en-US" sz="2000" dirty="0"/>
              <a:t>表达式</a:t>
            </a:r>
            <a:r>
              <a:rPr lang="en-US" altLang="zh-CN" sz="2000" dirty="0"/>
              <a:t>;</a:t>
            </a:r>
          </a:p>
          <a:p>
            <a:pPr eaLnBrk="1" hangingPunct="1"/>
            <a:r>
              <a:rPr lang="zh-CN" altLang="en-US" sz="2000" dirty="0"/>
              <a:t>为了便于阅读程序，使用户在看程序时能知道所用的函数是否会抛出异常信息以及异常信息的类型，</a:t>
            </a:r>
            <a:r>
              <a:rPr lang="en-US" altLang="zh-CN" sz="2000" dirty="0"/>
              <a:t>C++</a:t>
            </a:r>
            <a:r>
              <a:rPr lang="zh-CN" altLang="en-US" sz="2000" dirty="0"/>
              <a:t>允许在声明函数时列出可能抛出的异常类型，例如：</a:t>
            </a:r>
            <a:endParaRPr lang="en-US" altLang="zh-CN" sz="2000" dirty="0"/>
          </a:p>
          <a:p>
            <a:pPr lvl="1" eaLnBrk="1" hangingPunct="1"/>
            <a:r>
              <a:rPr lang="en-US" altLang="zh-CN" sz="1800" dirty="0"/>
              <a:t>double triangle(</a:t>
            </a:r>
            <a:r>
              <a:rPr lang="en-US" altLang="zh-CN" sz="1800" dirty="0" err="1"/>
              <a:t>double,double,double</a:t>
            </a:r>
            <a:r>
              <a:rPr lang="en-US" altLang="zh-CN" sz="1800" dirty="0"/>
              <a:t>) throw(double);//</a:t>
            </a:r>
            <a:r>
              <a:rPr lang="zh-CN" altLang="en-US" sz="1800" dirty="0"/>
              <a:t>表示</a:t>
            </a:r>
            <a:r>
              <a:rPr lang="en-US" altLang="zh-CN" sz="1800" dirty="0"/>
              <a:t>triangle</a:t>
            </a:r>
            <a:r>
              <a:rPr lang="zh-CN" altLang="en-US" sz="1800" dirty="0"/>
              <a:t>函数只能抛出</a:t>
            </a:r>
            <a:r>
              <a:rPr lang="en-US" altLang="zh-CN" sz="1800" dirty="0"/>
              <a:t>double</a:t>
            </a:r>
            <a:r>
              <a:rPr lang="zh-CN" altLang="en-US" sz="1800" dirty="0"/>
              <a:t>类型的异常信息。</a:t>
            </a:r>
            <a:endParaRPr lang="en-US" altLang="zh-CN" sz="1800" dirty="0"/>
          </a:p>
          <a:p>
            <a:pPr lvl="1" eaLnBrk="1" hangingPunct="1"/>
            <a:r>
              <a:rPr lang="en-US" altLang="zh-CN" sz="1800" dirty="0"/>
              <a:t>double triangle(</a:t>
            </a:r>
            <a:r>
              <a:rPr lang="en-US" altLang="zh-CN" sz="1800" dirty="0" err="1"/>
              <a:t>double,double,double</a:t>
            </a:r>
            <a:r>
              <a:rPr lang="en-US" altLang="zh-CN" sz="1800" dirty="0"/>
              <a:t>) throw(</a:t>
            </a:r>
            <a:r>
              <a:rPr lang="en-US" altLang="zh-CN" sz="1800" dirty="0" err="1"/>
              <a:t>int,double,float,char</a:t>
            </a:r>
            <a:r>
              <a:rPr lang="en-US" altLang="zh-CN" sz="1800" dirty="0"/>
              <a:t>);//</a:t>
            </a:r>
            <a:r>
              <a:rPr lang="zh-CN" altLang="en-US" sz="1800" dirty="0"/>
              <a:t>表示</a:t>
            </a:r>
            <a:r>
              <a:rPr lang="en-US" altLang="zh-CN" sz="1800" dirty="0"/>
              <a:t>triangle</a:t>
            </a:r>
            <a:r>
              <a:rPr lang="zh-CN" altLang="en-US" sz="1800" dirty="0"/>
              <a:t>函数只限于抛出</a:t>
            </a:r>
            <a:r>
              <a:rPr lang="en-US" altLang="zh-CN" sz="1800" dirty="0" err="1"/>
              <a:t>int,double,float</a:t>
            </a:r>
            <a:r>
              <a:rPr lang="zh-CN" altLang="en-US" sz="1800" dirty="0"/>
              <a:t>或</a:t>
            </a:r>
            <a:r>
              <a:rPr lang="en-US" altLang="zh-CN" sz="1800" dirty="0"/>
              <a:t>char</a:t>
            </a:r>
            <a:r>
              <a:rPr lang="zh-CN" altLang="en-US" sz="1800" dirty="0"/>
              <a:t>类型的异常信息。</a:t>
            </a:r>
            <a:endParaRPr lang="en-US" altLang="zh-CN" sz="1800" dirty="0"/>
          </a:p>
          <a:p>
            <a:pPr lvl="1" eaLnBrk="1" hangingPunct="1"/>
            <a:r>
              <a:rPr lang="en-US" altLang="zh-CN" sz="1800" dirty="0"/>
              <a:t>double triangle(</a:t>
            </a:r>
            <a:r>
              <a:rPr lang="en-US" altLang="zh-CN" sz="1800" dirty="0" err="1"/>
              <a:t>double,double,double</a:t>
            </a:r>
            <a:r>
              <a:rPr lang="en-US" altLang="zh-CN" sz="1800" dirty="0"/>
              <a:t>) throw();//throw</a:t>
            </a:r>
            <a:r>
              <a:rPr lang="zh-CN" altLang="en-US" sz="1800" dirty="0"/>
              <a:t>无参数。此时声明一个不能抛出异常的函数</a:t>
            </a:r>
            <a:r>
              <a:rPr lang="en-US" altLang="zh-CN" sz="1800" dirty="0"/>
              <a:t>,</a:t>
            </a:r>
            <a:r>
              <a:rPr lang="zh-CN" altLang="en-US" sz="1800" dirty="0"/>
              <a:t>这时即使在函数执行过程中出现了</a:t>
            </a:r>
            <a:r>
              <a:rPr lang="en-US" altLang="zh-CN" sz="1800" dirty="0"/>
              <a:t>throw</a:t>
            </a:r>
            <a:r>
              <a:rPr lang="zh-CN" altLang="en-US" sz="1800" dirty="0"/>
              <a:t>语句，但实际上并不执行</a:t>
            </a:r>
            <a:r>
              <a:rPr lang="en-US" altLang="zh-CN" sz="1800" dirty="0"/>
              <a:t>throw</a:t>
            </a:r>
            <a:r>
              <a:rPr lang="zh-CN" altLang="en-US" sz="1800" dirty="0"/>
              <a:t>语句，并不抛出任何异常信息，程序将非正常终止。</a:t>
            </a:r>
            <a:endParaRPr lang="en-US" altLang="zh-CN" sz="1800" dirty="0"/>
          </a:p>
          <a:p>
            <a:pPr lvl="1" eaLnBrk="1" hangingPunct="1"/>
            <a:r>
              <a:rPr lang="en-US" altLang="zh-CN" sz="1800" dirty="0"/>
              <a:t>double triangle(</a:t>
            </a:r>
            <a:r>
              <a:rPr lang="en-US" altLang="zh-CN" sz="1800" dirty="0" err="1"/>
              <a:t>double,double,double</a:t>
            </a:r>
            <a:r>
              <a:rPr lang="en-US" altLang="zh-CN" sz="1800" dirty="0"/>
              <a:t>)</a:t>
            </a:r>
            <a:r>
              <a:rPr lang="zh-CN" altLang="en-US" sz="1800" dirty="0"/>
              <a:t>；</a:t>
            </a:r>
            <a:r>
              <a:rPr lang="en-US" altLang="zh-CN" sz="1800" dirty="0"/>
              <a:t>//</a:t>
            </a:r>
            <a:r>
              <a:rPr lang="zh-CN" altLang="en-US" sz="1800" dirty="0"/>
              <a:t>如果在声明函数时未列出可能抛出的异常类型，则该函数可以抛出任何类型的异常信息。</a:t>
            </a:r>
          </a:p>
        </p:txBody>
      </p:sp>
    </p:spTree>
    <p:extLst>
      <p:ext uri="{BB962C8B-B14F-4D97-AF65-F5344CB8AC3E}">
        <p14:creationId xmlns:p14="http://schemas.microsoft.com/office/powerpoint/2010/main" val="350867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249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249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249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24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 </a:t>
            </a:r>
            <a:r>
              <a:rPr lang="zh-CN" altLang="en-US" dirty="0"/>
              <a:t>异常处理的方法</a:t>
            </a:r>
          </a:p>
        </p:txBody>
      </p:sp>
      <p:sp>
        <p:nvSpPr>
          <p:cNvPr id="362499" name="Rectangle 3"/>
          <p:cNvSpPr>
            <a:spLocks noGrp="1"/>
          </p:cNvSpPr>
          <p:nvPr>
            <p:ph idx="1"/>
          </p:nvPr>
        </p:nvSpPr>
        <p:spPr>
          <a:ln/>
        </p:spPr>
        <p:txBody>
          <a:bodyPr vert="horz" wrap="square" lIns="18000" tIns="45720" rIns="91440" bIns="45720" anchor="t" anchorCtr="0"/>
          <a:lstStyle/>
          <a:p>
            <a:pPr lvl="1" eaLnBrk="1" hangingPunct="1"/>
            <a:r>
              <a:rPr lang="zh-CN" altLang="en-US" sz="1800" dirty="0"/>
              <a:t>异常指定是函数声明的一部分，必须同时出现在函数声明和函数定义的首行中，否则在进行函数的另一次声明时，编译系统会报告“类型不匹配”。</a:t>
            </a:r>
          </a:p>
        </p:txBody>
      </p:sp>
    </p:spTree>
    <p:extLst>
      <p:ext uri="{BB962C8B-B14F-4D97-AF65-F5344CB8AC3E}">
        <p14:creationId xmlns:p14="http://schemas.microsoft.com/office/powerpoint/2010/main" val="375481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15.2.2 </a:t>
            </a:r>
            <a:r>
              <a:rPr lang="zh-CN" altLang="en-US" dirty="0"/>
              <a:t>圈定及捕捉处理 </a:t>
            </a:r>
          </a:p>
        </p:txBody>
      </p:sp>
      <p:sp>
        <p:nvSpPr>
          <p:cNvPr id="14339" name="Rectangle 3"/>
          <p:cNvSpPr>
            <a:spLocks noGrp="1"/>
          </p:cNvSpPr>
          <p:nvPr>
            <p:ph idx="1"/>
          </p:nvPr>
        </p:nvSpPr>
        <p:spPr>
          <a:ln/>
        </p:spPr>
        <p:txBody>
          <a:bodyPr vert="horz" wrap="square" lIns="18000" tIns="45720" rIns="91440" bIns="45720" anchor="t" anchorCtr="0"/>
          <a:lstStyle/>
          <a:p>
            <a:pPr eaLnBrk="1" hangingPunct="1">
              <a:lnSpc>
                <a:spcPct val="80000"/>
              </a:lnSpc>
            </a:pPr>
            <a:r>
              <a:rPr lang="zh-CN" altLang="en-US" sz="2400" dirty="0"/>
              <a:t> 语法格式</a:t>
            </a:r>
          </a:p>
          <a:p>
            <a:pPr lvl="1" eaLnBrk="1" hangingPunct="1">
              <a:lnSpc>
                <a:spcPct val="80000"/>
              </a:lnSpc>
            </a:pPr>
            <a:r>
              <a:rPr lang="en-US" altLang="zh-CN" dirty="0">
                <a:solidFill>
                  <a:srgbClr val="0000FF"/>
                </a:solidFill>
                <a:ea typeface="楷体_GB2312" pitchFamily="49" charset="-122"/>
              </a:rPr>
              <a:t>try</a:t>
            </a:r>
            <a:br>
              <a:rPr lang="en-US" altLang="zh-CN" dirty="0">
                <a:solidFill>
                  <a:schemeClr val="tx2"/>
                </a:solidFill>
                <a:ea typeface="楷体_GB2312" pitchFamily="49" charset="-122"/>
              </a:rPr>
            </a:b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chemeClr val="tx2"/>
                </a:solidFill>
                <a:ea typeface="楷体_GB2312" pitchFamily="49" charset="-122"/>
              </a:rPr>
              <a:t>    </a:t>
            </a:r>
            <a:r>
              <a:rPr lang="zh-CN" altLang="en-US" dirty="0">
                <a:solidFill>
                  <a:schemeClr val="tx2"/>
                </a:solidFill>
                <a:ea typeface="楷体_GB2312" pitchFamily="49" charset="-122"/>
              </a:rPr>
              <a:t>被圈定的语句序列；</a:t>
            </a:r>
            <a:br>
              <a:rPr lang="zh-CN" altLang="en-US" dirty="0">
                <a:solidFill>
                  <a:schemeClr val="tx2"/>
                </a:solidFill>
                <a:ea typeface="楷体_GB2312" pitchFamily="49" charset="-122"/>
              </a:rPr>
            </a:b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rgbClr val="0000FF"/>
                </a:solidFill>
                <a:ea typeface="楷体_GB2312" pitchFamily="49" charset="-122"/>
              </a:rPr>
              <a:t>catch</a:t>
            </a:r>
            <a:r>
              <a:rPr lang="en-US" altLang="zh-CN" dirty="0">
                <a:solidFill>
                  <a:schemeClr val="tx2"/>
                </a:solidFill>
                <a:ea typeface="楷体_GB2312" pitchFamily="49" charset="-122"/>
              </a:rPr>
              <a:t>(</a:t>
            </a:r>
            <a:r>
              <a:rPr lang="zh-CN" altLang="en-US" dirty="0">
                <a:solidFill>
                  <a:schemeClr val="tx2"/>
                </a:solidFill>
                <a:ea typeface="楷体_GB2312" pitchFamily="49" charset="-122"/>
              </a:rPr>
              <a:t>数据类型</a:t>
            </a:r>
            <a:r>
              <a:rPr lang="en-US" altLang="zh-CN" dirty="0">
                <a:solidFill>
                  <a:schemeClr val="tx2"/>
                </a:solidFill>
                <a:ea typeface="楷体_GB2312" pitchFamily="49" charset="-122"/>
              </a:rPr>
              <a:t>1  </a:t>
            </a:r>
            <a:r>
              <a:rPr lang="zh-CN" altLang="en-US" dirty="0">
                <a:solidFill>
                  <a:schemeClr val="tx2"/>
                </a:solidFill>
                <a:ea typeface="楷体_GB2312" pitchFamily="49" charset="-122"/>
              </a:rPr>
              <a:t>形式参数</a:t>
            </a: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chemeClr val="tx2"/>
                </a:solidFill>
                <a:ea typeface="楷体_GB2312" pitchFamily="49" charset="-122"/>
              </a:rPr>
              <a:t>    </a:t>
            </a:r>
            <a:r>
              <a:rPr lang="zh-CN" altLang="en-US" dirty="0">
                <a:solidFill>
                  <a:schemeClr val="tx2"/>
                </a:solidFill>
                <a:ea typeface="楷体_GB2312" pitchFamily="49" charset="-122"/>
              </a:rPr>
              <a:t>具体的异常处理语句；</a:t>
            </a:r>
            <a:br>
              <a:rPr lang="zh-CN" altLang="en-US" dirty="0">
                <a:solidFill>
                  <a:schemeClr val="tx2"/>
                </a:solidFill>
                <a:ea typeface="楷体_GB2312" pitchFamily="49" charset="-122"/>
              </a:rPr>
            </a:b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rgbClr val="0000FF"/>
                </a:solidFill>
                <a:ea typeface="楷体_GB2312" pitchFamily="49" charset="-122"/>
              </a:rPr>
              <a:t>catch</a:t>
            </a:r>
            <a:r>
              <a:rPr lang="en-US" altLang="zh-CN" dirty="0">
                <a:solidFill>
                  <a:schemeClr val="tx2"/>
                </a:solidFill>
                <a:ea typeface="楷体_GB2312" pitchFamily="49" charset="-122"/>
              </a:rPr>
              <a:t>(</a:t>
            </a:r>
            <a:r>
              <a:rPr lang="zh-CN" altLang="en-US" dirty="0">
                <a:solidFill>
                  <a:schemeClr val="tx2"/>
                </a:solidFill>
                <a:ea typeface="楷体_GB2312" pitchFamily="49" charset="-122"/>
              </a:rPr>
              <a:t>数据类型</a:t>
            </a:r>
            <a:r>
              <a:rPr lang="en-US" altLang="zh-CN" dirty="0">
                <a:solidFill>
                  <a:schemeClr val="tx2"/>
                </a:solidFill>
                <a:ea typeface="楷体_GB2312" pitchFamily="49" charset="-122"/>
              </a:rPr>
              <a:t>2  </a:t>
            </a:r>
            <a:r>
              <a:rPr lang="zh-CN" altLang="en-US" dirty="0">
                <a:solidFill>
                  <a:schemeClr val="tx2"/>
                </a:solidFill>
                <a:ea typeface="楷体_GB2312" pitchFamily="49" charset="-122"/>
              </a:rPr>
              <a:t>形式参数</a:t>
            </a: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chemeClr val="tx2"/>
                </a:solidFill>
                <a:ea typeface="楷体_GB2312" pitchFamily="49" charset="-122"/>
              </a:rPr>
              <a:t>    </a:t>
            </a:r>
            <a:r>
              <a:rPr lang="zh-CN" altLang="en-US" dirty="0">
                <a:solidFill>
                  <a:schemeClr val="tx2"/>
                </a:solidFill>
                <a:ea typeface="楷体_GB2312" pitchFamily="49" charset="-122"/>
              </a:rPr>
              <a:t>具体的异常处理语句；</a:t>
            </a:r>
            <a:br>
              <a:rPr lang="zh-CN" altLang="en-US" dirty="0">
                <a:solidFill>
                  <a:schemeClr val="tx2"/>
                </a:solidFill>
                <a:ea typeface="楷体_GB2312" pitchFamily="49" charset="-122"/>
              </a:rPr>
            </a:b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rgbClr val="0000FF"/>
                </a:solidFill>
                <a:ea typeface="楷体_GB2312" pitchFamily="49" charset="-122"/>
              </a:rPr>
              <a:t>catch</a:t>
            </a: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chemeClr val="tx2"/>
                </a:solidFill>
                <a:ea typeface="楷体_GB2312" pitchFamily="49" charset="-122"/>
              </a:rPr>
              <a:t>{</a:t>
            </a:r>
            <a:br>
              <a:rPr lang="en-US" altLang="zh-CN" dirty="0">
                <a:solidFill>
                  <a:schemeClr val="tx2"/>
                </a:solidFill>
                <a:ea typeface="楷体_GB2312" pitchFamily="49" charset="-122"/>
              </a:rPr>
            </a:br>
            <a:r>
              <a:rPr lang="en-US" altLang="zh-CN" dirty="0">
                <a:solidFill>
                  <a:schemeClr val="tx2"/>
                </a:solidFill>
                <a:ea typeface="楷体_GB2312" pitchFamily="49" charset="-122"/>
              </a:rPr>
              <a:t>    </a:t>
            </a:r>
            <a:r>
              <a:rPr lang="zh-CN" altLang="en-US" dirty="0">
                <a:solidFill>
                  <a:schemeClr val="tx2"/>
                </a:solidFill>
                <a:ea typeface="楷体_GB2312" pitchFamily="49" charset="-122"/>
              </a:rPr>
              <a:t>处理其他任何类型的异常；</a:t>
            </a:r>
            <a:br>
              <a:rPr lang="zh-CN" altLang="en-US" dirty="0">
                <a:solidFill>
                  <a:schemeClr val="tx2"/>
                </a:solidFill>
                <a:ea typeface="楷体_GB2312" pitchFamily="49" charset="-122"/>
              </a:rPr>
            </a:br>
            <a:r>
              <a:rPr lang="en-US" altLang="zh-CN" dirty="0">
                <a:solidFill>
                  <a:schemeClr val="tx2"/>
                </a:solidFill>
                <a:ea typeface="楷体_GB2312" pitchFamily="49" charset="-122"/>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ln/>
        </p:spPr>
        <p:txBody>
          <a:bodyPr vert="horz" wrap="square" lIns="91440" tIns="45720" rIns="91440" bIns="45720" anchor="ctr" anchorCtr="0">
            <a:spAutoFit/>
          </a:bodyPr>
          <a:lstStyle/>
          <a:p>
            <a:pPr eaLnBrk="1" hangingPunct="1"/>
            <a:r>
              <a:rPr lang="zh-CN" altLang="en-US" dirty="0"/>
              <a:t>异常处理的流程</a:t>
            </a:r>
          </a:p>
        </p:txBody>
      </p:sp>
      <p:sp>
        <p:nvSpPr>
          <p:cNvPr id="362499" name="Rectangle 3"/>
          <p:cNvSpPr>
            <a:spLocks noGrp="1"/>
          </p:cNvSpPr>
          <p:nvPr>
            <p:ph idx="1"/>
          </p:nvPr>
        </p:nvSpPr>
        <p:spPr>
          <a:xfrm>
            <a:off x="381000" y="1219200"/>
            <a:ext cx="8610600" cy="5486400"/>
          </a:xfrm>
          <a:ln/>
        </p:spPr>
        <p:txBody>
          <a:bodyPr vert="horz" wrap="square" lIns="18000" tIns="45720" rIns="91440" bIns="45720" anchor="t" anchorCtr="0"/>
          <a:lstStyle/>
          <a:p>
            <a:pPr eaLnBrk="1" hangingPunct="1"/>
            <a:r>
              <a:rPr lang="en-US" altLang="zh-CN" dirty="0"/>
              <a:t>(1)</a:t>
            </a:r>
            <a:r>
              <a:rPr lang="zh-CN" altLang="en-US" dirty="0"/>
              <a:t>首先把可能出现异常的、需要检查的语句或程序段放在</a:t>
            </a:r>
            <a:r>
              <a:rPr lang="en-US" altLang="zh-CN" dirty="0"/>
              <a:t>try</a:t>
            </a:r>
            <a:r>
              <a:rPr lang="zh-CN" altLang="en-US" dirty="0"/>
              <a:t>后面的花括号中。</a:t>
            </a:r>
          </a:p>
          <a:p>
            <a:pPr eaLnBrk="1" hangingPunct="1"/>
            <a:r>
              <a:rPr lang="en-US" altLang="zh-CN" dirty="0"/>
              <a:t>(2)</a:t>
            </a:r>
            <a:r>
              <a:rPr lang="zh-CN" altLang="en-US" dirty="0"/>
              <a:t>程序开始运行后，按正常的顺序执行到</a:t>
            </a:r>
            <a:r>
              <a:rPr lang="en-US" altLang="zh-CN" dirty="0"/>
              <a:t>try</a:t>
            </a:r>
            <a:r>
              <a:rPr lang="zh-CN" altLang="en-US" dirty="0"/>
              <a:t>块，开始执行</a:t>
            </a:r>
            <a:r>
              <a:rPr lang="en-US" altLang="zh-CN" dirty="0"/>
              <a:t>try</a:t>
            </a:r>
            <a:r>
              <a:rPr lang="zh-CN" altLang="en-US" dirty="0"/>
              <a:t>块中花括号内的语句。如果在执行</a:t>
            </a:r>
            <a:r>
              <a:rPr lang="en-US" altLang="zh-CN" dirty="0"/>
              <a:t>try</a:t>
            </a:r>
            <a:r>
              <a:rPr lang="zh-CN" altLang="en-US" dirty="0"/>
              <a:t>块内的语句过程中没有发生异常，则</a:t>
            </a:r>
            <a:r>
              <a:rPr lang="en-US" altLang="zh-CN" dirty="0"/>
              <a:t>catch</a:t>
            </a:r>
            <a:r>
              <a:rPr lang="zh-CN" altLang="en-US" dirty="0"/>
              <a:t>子句不起作用，流程转到</a:t>
            </a:r>
            <a:r>
              <a:rPr lang="en-US" altLang="zh-CN" dirty="0"/>
              <a:t>catch</a:t>
            </a:r>
            <a:r>
              <a:rPr lang="zh-CN" altLang="en-US" dirty="0"/>
              <a:t>子句后面的语句继续执行。</a:t>
            </a:r>
          </a:p>
          <a:p>
            <a:pPr eaLnBrk="1" hangingPunct="1"/>
            <a:r>
              <a:rPr lang="en-US" altLang="zh-CN" dirty="0"/>
              <a:t>(3)</a:t>
            </a:r>
            <a:r>
              <a:rPr lang="zh-CN" altLang="en-US" dirty="0"/>
              <a:t>如果在执行</a:t>
            </a:r>
            <a:r>
              <a:rPr lang="en-US" altLang="zh-CN" dirty="0"/>
              <a:t>try</a:t>
            </a:r>
            <a:r>
              <a:rPr lang="zh-CN" altLang="en-US" dirty="0"/>
              <a:t>块内的语句</a:t>
            </a:r>
            <a:r>
              <a:rPr lang="en-US" altLang="zh-CN" dirty="0"/>
              <a:t>(</a:t>
            </a:r>
            <a:r>
              <a:rPr lang="zh-CN" altLang="en-US" dirty="0"/>
              <a:t>包括其所调用的函数</a:t>
            </a:r>
            <a:r>
              <a:rPr lang="en-US" altLang="zh-CN" dirty="0"/>
              <a:t>)</a:t>
            </a:r>
            <a:r>
              <a:rPr lang="zh-CN" altLang="en-US" dirty="0"/>
              <a:t>过程中发生异常，则</a:t>
            </a:r>
            <a:r>
              <a:rPr lang="en-US" altLang="zh-CN" dirty="0"/>
              <a:t>throw</a:t>
            </a:r>
            <a:r>
              <a:rPr lang="zh-CN" altLang="en-US" dirty="0"/>
              <a:t>运算符抛出一个异常信息。</a:t>
            </a:r>
            <a:endParaRPr lang="en-US" altLang="zh-CN" dirty="0"/>
          </a:p>
          <a:p>
            <a:pPr lvl="1" eaLnBrk="1" hangingPunct="1"/>
            <a:r>
              <a:rPr lang="en-US" altLang="zh-CN" dirty="0"/>
              <a:t>throw</a:t>
            </a:r>
            <a:r>
              <a:rPr lang="zh-CN" altLang="en-US" dirty="0"/>
              <a:t>抛出什么样的数据由程序设计者自定，可以是任何类型的数据。</a:t>
            </a:r>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ln/>
        </p:spPr>
        <p:txBody>
          <a:bodyPr vert="horz" wrap="square" lIns="91440" tIns="45720" rIns="91440" bIns="45720" anchor="ctr" anchorCtr="0">
            <a:spAutoFit/>
          </a:bodyPr>
          <a:lstStyle/>
          <a:p>
            <a:pPr eaLnBrk="1" hangingPunct="1"/>
            <a:r>
              <a:rPr lang="zh-CN" altLang="en-US" dirty="0"/>
              <a:t>异常处理的流程</a:t>
            </a:r>
          </a:p>
        </p:txBody>
      </p:sp>
      <p:sp>
        <p:nvSpPr>
          <p:cNvPr id="362499" name="Rectangle 3"/>
          <p:cNvSpPr>
            <a:spLocks noGrp="1"/>
          </p:cNvSpPr>
          <p:nvPr>
            <p:ph idx="1"/>
          </p:nvPr>
        </p:nvSpPr>
        <p:spPr>
          <a:ln/>
        </p:spPr>
        <p:txBody>
          <a:bodyPr vert="horz" wrap="square" lIns="18000" tIns="45720" rIns="91440" bIns="45720" anchor="t" anchorCtr="0"/>
          <a:lstStyle/>
          <a:p>
            <a:pPr eaLnBrk="1" hangingPunct="1"/>
            <a:r>
              <a:rPr lang="en-US" altLang="zh-CN" dirty="0"/>
              <a:t>(4)</a:t>
            </a:r>
            <a:r>
              <a:rPr lang="zh-CN" altLang="en-US" dirty="0"/>
              <a:t>这个异常信息提供给</a:t>
            </a:r>
            <a:r>
              <a:rPr lang="en-US" altLang="zh-CN" dirty="0"/>
              <a:t>try-catch</a:t>
            </a:r>
            <a:r>
              <a:rPr lang="zh-CN" altLang="en-US" dirty="0"/>
              <a:t>结构，系统会寻找与之匹配的</a:t>
            </a:r>
            <a:r>
              <a:rPr lang="en-US" altLang="zh-CN" dirty="0"/>
              <a:t>catch</a:t>
            </a:r>
            <a:r>
              <a:rPr lang="zh-CN" altLang="en-US" dirty="0"/>
              <a:t>子句。</a:t>
            </a:r>
          </a:p>
          <a:p>
            <a:pPr eaLnBrk="1" hangingPunct="1"/>
            <a:r>
              <a:rPr lang="en-US" altLang="zh-CN" dirty="0"/>
              <a:t>(5)</a:t>
            </a:r>
            <a:r>
              <a:rPr lang="zh-CN" altLang="en-US" dirty="0"/>
              <a:t>在进行异常处理后，程序并不会自动终止，继续执行</a:t>
            </a:r>
            <a:r>
              <a:rPr lang="en-US" altLang="zh-CN" dirty="0"/>
              <a:t>catch</a:t>
            </a:r>
            <a:r>
              <a:rPr lang="zh-CN" altLang="en-US" dirty="0"/>
              <a:t>子句后面的语句。</a:t>
            </a:r>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9" name="Rectangle 3"/>
          <p:cNvSpPr>
            <a:spLocks noGrp="1"/>
          </p:cNvSpPr>
          <p:nvPr>
            <p:ph idx="1"/>
          </p:nvPr>
        </p:nvSpPr>
        <p:spPr>
          <a:xfrm>
            <a:off x="381000" y="533400"/>
            <a:ext cx="8610600" cy="6172200"/>
          </a:xfrm>
          <a:ln/>
        </p:spPr>
        <p:txBody>
          <a:bodyPr vert="horz" wrap="square" lIns="18000" tIns="45720" rIns="91440" bIns="45720" anchor="t" anchorCtr="0"/>
          <a:lstStyle/>
          <a:p>
            <a:pPr eaLnBrk="1" hangingPunct="1"/>
            <a:r>
              <a:rPr lang="en-US" altLang="zh-CN" dirty="0"/>
              <a:t>(1)</a:t>
            </a:r>
            <a:r>
              <a:rPr lang="zh-CN" altLang="en-US" dirty="0"/>
              <a:t>被检测的函数必须放在</a:t>
            </a:r>
            <a:r>
              <a:rPr lang="en-US" altLang="zh-CN" dirty="0"/>
              <a:t>try</a:t>
            </a:r>
            <a:r>
              <a:rPr lang="zh-CN" altLang="en-US" dirty="0"/>
              <a:t>块中，否则不起作用。</a:t>
            </a:r>
          </a:p>
          <a:p>
            <a:pPr eaLnBrk="1" hangingPunct="1"/>
            <a:r>
              <a:rPr lang="en-US" altLang="zh-CN" dirty="0"/>
              <a:t>(2)try</a:t>
            </a:r>
            <a:r>
              <a:rPr lang="zh-CN" altLang="en-US" dirty="0"/>
              <a:t>块和</a:t>
            </a:r>
            <a:r>
              <a:rPr lang="en-US" altLang="zh-CN" dirty="0"/>
              <a:t>catch</a:t>
            </a:r>
            <a:r>
              <a:rPr lang="zh-CN" altLang="en-US" dirty="0"/>
              <a:t>块作为一个整体出现，</a:t>
            </a:r>
            <a:r>
              <a:rPr lang="en-US" altLang="zh-CN" dirty="0"/>
              <a:t>catch</a:t>
            </a:r>
            <a:r>
              <a:rPr lang="zh-CN" altLang="en-US" dirty="0"/>
              <a:t>块是</a:t>
            </a:r>
            <a:r>
              <a:rPr lang="en-US" altLang="zh-CN" dirty="0"/>
              <a:t>try-catch</a:t>
            </a:r>
            <a:r>
              <a:rPr lang="zh-CN" altLang="en-US" dirty="0"/>
              <a:t>结构中的一部分，必须紧跟在</a:t>
            </a:r>
            <a:r>
              <a:rPr lang="en-US" altLang="zh-CN" dirty="0"/>
              <a:t>try</a:t>
            </a:r>
            <a:r>
              <a:rPr lang="zh-CN" altLang="en-US" dirty="0"/>
              <a:t>块之后，不能单独使用，在二者之间也不能插入其他语句。但是在一个</a:t>
            </a:r>
            <a:r>
              <a:rPr lang="en-US" altLang="zh-CN" dirty="0"/>
              <a:t>try-catch</a:t>
            </a:r>
            <a:r>
              <a:rPr lang="zh-CN" altLang="en-US" dirty="0"/>
              <a:t>结构中，可以只有</a:t>
            </a:r>
            <a:r>
              <a:rPr lang="en-US" altLang="zh-CN" dirty="0"/>
              <a:t>try</a:t>
            </a:r>
            <a:r>
              <a:rPr lang="zh-CN" altLang="en-US" dirty="0"/>
              <a:t>块而无</a:t>
            </a:r>
            <a:r>
              <a:rPr lang="en-US" altLang="zh-CN" dirty="0"/>
              <a:t>catch</a:t>
            </a:r>
            <a:r>
              <a:rPr lang="zh-CN" altLang="en-US" dirty="0"/>
              <a:t>块。即在本函数中只检查而不处理，把</a:t>
            </a:r>
            <a:r>
              <a:rPr lang="en-US" altLang="zh-CN" dirty="0"/>
              <a:t>catch</a:t>
            </a:r>
            <a:r>
              <a:rPr lang="zh-CN" altLang="en-US" dirty="0"/>
              <a:t>处理块放在其他函数中。</a:t>
            </a:r>
          </a:p>
          <a:p>
            <a:pPr eaLnBrk="1" hangingPunct="1"/>
            <a:r>
              <a:rPr lang="en-US" altLang="zh-CN" dirty="0"/>
              <a:t>(3)try</a:t>
            </a:r>
            <a:r>
              <a:rPr lang="zh-CN" altLang="en-US" dirty="0"/>
              <a:t>和</a:t>
            </a:r>
            <a:r>
              <a:rPr lang="en-US" altLang="zh-CN" dirty="0"/>
              <a:t>catch</a:t>
            </a:r>
            <a:r>
              <a:rPr lang="zh-CN" altLang="en-US" dirty="0"/>
              <a:t>块中必须有用花括号括起来的复合语句，即使花括号内只有一个语句，也不能省略花括号。</a:t>
            </a:r>
          </a:p>
          <a:p>
            <a:pPr eaLnBrk="1" hangingPunct="1"/>
            <a:r>
              <a:rPr lang="en-US" altLang="zh-CN" dirty="0"/>
              <a:t>(4)</a:t>
            </a:r>
            <a:r>
              <a:rPr lang="zh-CN" altLang="en-US" dirty="0"/>
              <a:t>一个</a:t>
            </a:r>
            <a:r>
              <a:rPr lang="en-US" altLang="zh-CN" dirty="0"/>
              <a:t>try-catch</a:t>
            </a:r>
            <a:r>
              <a:rPr lang="zh-CN" altLang="en-US" dirty="0"/>
              <a:t>结构中只能有一个</a:t>
            </a:r>
            <a:r>
              <a:rPr lang="en-US" altLang="zh-CN" dirty="0"/>
              <a:t>try</a:t>
            </a:r>
            <a:r>
              <a:rPr lang="zh-CN" altLang="en-US" dirty="0"/>
              <a:t>块，但却可以有多个</a:t>
            </a:r>
            <a:r>
              <a:rPr lang="en-US" altLang="zh-CN" dirty="0"/>
              <a:t>catch</a:t>
            </a:r>
            <a:r>
              <a:rPr lang="zh-CN" altLang="en-US" dirty="0"/>
              <a:t>块，以便与不同的异常信息匹配。</a:t>
            </a:r>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9" name="Rectangle 3"/>
          <p:cNvSpPr>
            <a:spLocks noGrp="1"/>
          </p:cNvSpPr>
          <p:nvPr>
            <p:ph idx="1"/>
          </p:nvPr>
        </p:nvSpPr>
        <p:spPr>
          <a:xfrm>
            <a:off x="381000" y="533400"/>
            <a:ext cx="8610600" cy="6172200"/>
          </a:xfrm>
          <a:ln/>
        </p:spPr>
        <p:txBody>
          <a:bodyPr vert="horz" wrap="square" lIns="18000" tIns="45720" rIns="91440" bIns="45720" anchor="t" anchorCtr="0"/>
          <a:lstStyle/>
          <a:p>
            <a:pPr eaLnBrk="1" hangingPunct="1"/>
            <a:r>
              <a:rPr lang="en-US" altLang="zh-CN" dirty="0"/>
              <a:t>(5)catch</a:t>
            </a:r>
            <a:r>
              <a:rPr lang="zh-CN" altLang="en-US" dirty="0"/>
              <a:t>后面的圆括号中，一般只写异常信息的类型名，如</a:t>
            </a:r>
            <a:endParaRPr lang="en-US" altLang="zh-CN" dirty="0"/>
          </a:p>
          <a:p>
            <a:pPr lvl="1" eaLnBrk="1" hangingPunct="1"/>
            <a:r>
              <a:rPr lang="en-US" altLang="zh-CN" dirty="0"/>
              <a:t>catch(double)</a:t>
            </a:r>
          </a:p>
          <a:p>
            <a:pPr eaLnBrk="1" hangingPunct="1"/>
            <a:r>
              <a:rPr lang="en-US" altLang="zh-CN" dirty="0"/>
              <a:t>catch</a:t>
            </a:r>
            <a:r>
              <a:rPr lang="zh-CN" altLang="en-US" dirty="0"/>
              <a:t>只检查所捕获异常信息的类型，而不检查它们的值。因此如果需要检测多个不同的异常信息，应当由</a:t>
            </a:r>
            <a:r>
              <a:rPr lang="en-US" altLang="zh-CN" dirty="0"/>
              <a:t>throw</a:t>
            </a:r>
            <a:r>
              <a:rPr lang="zh-CN" altLang="en-US" dirty="0"/>
              <a:t>抛出不同类型的异常信息。</a:t>
            </a:r>
          </a:p>
          <a:p>
            <a:pPr eaLnBrk="1" hangingPunct="1"/>
            <a:r>
              <a:rPr lang="zh-CN" altLang="en-US" dirty="0"/>
              <a:t>异常信息可以是</a:t>
            </a:r>
            <a:r>
              <a:rPr lang="en-US" altLang="zh-CN" dirty="0"/>
              <a:t>C++</a:t>
            </a:r>
            <a:r>
              <a:rPr lang="zh-CN" altLang="en-US" dirty="0"/>
              <a:t>系统预定义的标准类型，也可以是用户自定义的类型</a:t>
            </a:r>
            <a:r>
              <a:rPr lang="en-US" altLang="zh-CN" dirty="0"/>
              <a:t>(</a:t>
            </a:r>
            <a:r>
              <a:rPr lang="zh-CN" altLang="en-US" dirty="0"/>
              <a:t>如结构体或类</a:t>
            </a:r>
            <a:r>
              <a:rPr lang="en-US" altLang="zh-CN" dirty="0"/>
              <a:t>)</a:t>
            </a:r>
            <a:r>
              <a:rPr lang="zh-CN" altLang="en-US" dirty="0"/>
              <a:t>。如果由</a:t>
            </a:r>
            <a:r>
              <a:rPr lang="en-US" altLang="zh-CN" dirty="0"/>
              <a:t>throw</a:t>
            </a:r>
            <a:r>
              <a:rPr lang="zh-CN" altLang="en-US" dirty="0"/>
              <a:t>抛出的信息属于该类型或其子类型，则</a:t>
            </a:r>
            <a:r>
              <a:rPr lang="en-US" altLang="zh-CN" dirty="0"/>
              <a:t>catch</a:t>
            </a:r>
            <a:r>
              <a:rPr lang="zh-CN" altLang="en-US" dirty="0"/>
              <a:t>与</a:t>
            </a:r>
            <a:r>
              <a:rPr lang="en-US" altLang="zh-CN" dirty="0"/>
              <a:t>throw</a:t>
            </a:r>
            <a:r>
              <a:rPr lang="zh-CN" altLang="en-US" dirty="0"/>
              <a:t>二者匹配，</a:t>
            </a:r>
            <a:r>
              <a:rPr lang="en-US" altLang="zh-CN" dirty="0"/>
              <a:t>catch</a:t>
            </a:r>
            <a:r>
              <a:rPr lang="zh-CN" altLang="en-US" dirty="0"/>
              <a:t>捕获该异常信息。</a:t>
            </a:r>
          </a:p>
          <a:p>
            <a:pPr eaLnBrk="1" hangingPunct="1"/>
            <a:r>
              <a:rPr lang="en-US" altLang="zh-CN" dirty="0"/>
              <a:t>catch</a:t>
            </a:r>
            <a:r>
              <a:rPr lang="zh-CN" altLang="en-US" dirty="0"/>
              <a:t>还可以有另外一种写法，即除了指定类型名外，还指定变量名，如</a:t>
            </a:r>
          </a:p>
          <a:p>
            <a:pPr lvl="1" eaLnBrk="1" hangingPunct="1"/>
            <a:r>
              <a:rPr lang="en-US" altLang="zh-CN" dirty="0"/>
              <a:t>catch(double d)</a:t>
            </a:r>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249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249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24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9" name="Rectangle 3"/>
          <p:cNvSpPr>
            <a:spLocks noGrp="1"/>
          </p:cNvSpPr>
          <p:nvPr>
            <p:ph idx="1"/>
          </p:nvPr>
        </p:nvSpPr>
        <p:spPr>
          <a:xfrm>
            <a:off x="381000" y="304800"/>
            <a:ext cx="8610600" cy="6400800"/>
          </a:xfrm>
          <a:ln/>
        </p:spPr>
        <p:txBody>
          <a:bodyPr vert="horz" wrap="square" lIns="18000" tIns="45720" rIns="91440" bIns="45720" anchor="t" anchorCtr="0"/>
          <a:lstStyle/>
          <a:p>
            <a:pPr eaLnBrk="1" hangingPunct="1"/>
            <a:r>
              <a:rPr lang="zh-CN" altLang="en-US" dirty="0"/>
              <a:t>此时如果</a:t>
            </a:r>
            <a:r>
              <a:rPr lang="en-US" altLang="zh-CN" dirty="0"/>
              <a:t>throw</a:t>
            </a:r>
            <a:r>
              <a:rPr lang="zh-CN" altLang="en-US" dirty="0"/>
              <a:t>抛出的异常信息是</a:t>
            </a:r>
            <a:r>
              <a:rPr lang="en-US" altLang="zh-CN" dirty="0"/>
              <a:t>double</a:t>
            </a:r>
            <a:r>
              <a:rPr lang="zh-CN" altLang="en-US" dirty="0"/>
              <a:t>型的变量</a:t>
            </a:r>
            <a:r>
              <a:rPr lang="en-US" altLang="zh-CN" dirty="0"/>
              <a:t>a</a:t>
            </a:r>
            <a:r>
              <a:rPr lang="zh-CN" altLang="en-US" dirty="0"/>
              <a:t>，则</a:t>
            </a:r>
            <a:r>
              <a:rPr lang="en-US" altLang="zh-CN" dirty="0"/>
              <a:t>catch</a:t>
            </a:r>
            <a:r>
              <a:rPr lang="zh-CN" altLang="en-US" dirty="0"/>
              <a:t>在捕获异常信息</a:t>
            </a:r>
            <a:r>
              <a:rPr lang="en-US" altLang="zh-CN" dirty="0"/>
              <a:t>a</a:t>
            </a:r>
            <a:r>
              <a:rPr lang="zh-CN" altLang="en-US" dirty="0"/>
              <a:t>的同时，还使</a:t>
            </a:r>
            <a:r>
              <a:rPr lang="en-US" altLang="zh-CN" dirty="0"/>
              <a:t>d</a:t>
            </a:r>
            <a:r>
              <a:rPr lang="zh-CN" altLang="en-US" dirty="0"/>
              <a:t>获得</a:t>
            </a:r>
            <a:r>
              <a:rPr lang="en-US" altLang="zh-CN" dirty="0"/>
              <a:t>a</a:t>
            </a:r>
            <a:r>
              <a:rPr lang="zh-CN" altLang="en-US" dirty="0"/>
              <a:t>的值。有时希望在捕获异常信息时，还能利用</a:t>
            </a:r>
            <a:r>
              <a:rPr lang="en-US" altLang="zh-CN" dirty="0"/>
              <a:t>throw</a:t>
            </a:r>
            <a:r>
              <a:rPr lang="zh-CN" altLang="en-US" dirty="0"/>
              <a:t>抛出的值，如</a:t>
            </a:r>
          </a:p>
          <a:p>
            <a:pPr lvl="1" eaLnBrk="1" hangingPunct="1"/>
            <a:r>
              <a:rPr lang="en-US" altLang="zh-CN" dirty="0"/>
              <a:t>catch(double d)</a:t>
            </a:r>
          </a:p>
          <a:p>
            <a:pPr lvl="1" eaLnBrk="1" hangingPunct="1"/>
            <a:r>
              <a:rPr lang="en-US" altLang="zh-CN" dirty="0"/>
              <a:t>  {cout&lt;&lt;″throw ″&lt;&lt;d;}</a:t>
            </a:r>
          </a:p>
          <a:p>
            <a:pPr eaLnBrk="1" hangingPunct="1"/>
            <a:r>
              <a:rPr lang="en-US" altLang="zh-CN" dirty="0"/>
              <a:t>(6)</a:t>
            </a:r>
            <a:r>
              <a:rPr lang="zh-CN" altLang="en-US" dirty="0"/>
              <a:t>如果在</a:t>
            </a:r>
            <a:r>
              <a:rPr lang="en-US" altLang="zh-CN" dirty="0"/>
              <a:t>catch</a:t>
            </a:r>
            <a:r>
              <a:rPr lang="zh-CN" altLang="en-US" dirty="0"/>
              <a:t>子句中没有指定异常信息的类型，而用了删节号“</a:t>
            </a:r>
            <a:r>
              <a:rPr lang="en-US" altLang="zh-CN" dirty="0"/>
              <a:t>…”</a:t>
            </a:r>
            <a:r>
              <a:rPr lang="zh-CN" altLang="en-US" dirty="0"/>
              <a:t>，则表示它可以捕捉任何类型的异常信息。这种</a:t>
            </a:r>
            <a:r>
              <a:rPr lang="en-US" altLang="zh-CN" dirty="0"/>
              <a:t>catch</a:t>
            </a:r>
            <a:r>
              <a:rPr lang="zh-CN" altLang="en-US" dirty="0"/>
              <a:t>子句应放在</a:t>
            </a:r>
            <a:r>
              <a:rPr lang="en-US" altLang="zh-CN" dirty="0"/>
              <a:t>try_catch</a:t>
            </a:r>
            <a:r>
              <a:rPr lang="zh-CN" altLang="en-US" dirty="0"/>
              <a:t>结构中的最后，相当于“其他”。如果把它作为第一个</a:t>
            </a:r>
            <a:r>
              <a:rPr lang="en-US" altLang="zh-CN" dirty="0"/>
              <a:t>catch</a:t>
            </a:r>
            <a:r>
              <a:rPr lang="zh-CN" altLang="en-US" dirty="0"/>
              <a:t>子句，则后面的</a:t>
            </a:r>
            <a:r>
              <a:rPr lang="en-US" altLang="zh-CN" dirty="0"/>
              <a:t>catch</a:t>
            </a:r>
            <a:r>
              <a:rPr lang="zh-CN" altLang="en-US" dirty="0"/>
              <a:t>子句都不起作用。</a:t>
            </a:r>
          </a:p>
          <a:p>
            <a:pPr eaLnBrk="1" hangingPunct="1"/>
            <a:endParaRPr lang="zh-CN" altLang="en-US" dirty="0"/>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p:cNvSpPr>
          <p:nvPr>
            <p:ph idx="1"/>
          </p:nvPr>
        </p:nvSpPr>
        <p:spPr>
          <a:xfrm>
            <a:off x="381000" y="304800"/>
            <a:ext cx="8610600" cy="6400800"/>
          </a:xfrm>
        </p:spPr>
        <p:txBody>
          <a:bodyPr vert="horz" wrap="square" lIns="18000" tIns="45720" rIns="91440" bIns="45720" anchor="t" anchorCtr="0"/>
          <a:lstStyle/>
          <a:p>
            <a:pPr eaLnBrk="1" hangingPunct="1"/>
            <a:r>
              <a:rPr lang="en-US" altLang="zh-CN" dirty="0"/>
              <a:t>(7)try_catch</a:t>
            </a:r>
            <a:r>
              <a:rPr lang="zh-CN" altLang="en-US" dirty="0"/>
              <a:t>结构可以与</a:t>
            </a:r>
            <a:r>
              <a:rPr lang="en-US" altLang="zh-CN" dirty="0"/>
              <a:t>throw</a:t>
            </a:r>
            <a:r>
              <a:rPr lang="zh-CN" altLang="en-US" dirty="0"/>
              <a:t>出现在同一个函数中，也可以不在同一函数中。当</a:t>
            </a:r>
            <a:r>
              <a:rPr lang="en-US" altLang="zh-CN" dirty="0"/>
              <a:t>throw</a:t>
            </a:r>
            <a:r>
              <a:rPr lang="zh-CN" altLang="en-US" dirty="0"/>
              <a:t>抛出异常信息后，首先在本函数中寻找与之匹配的</a:t>
            </a:r>
            <a:r>
              <a:rPr lang="en-US" altLang="zh-CN" dirty="0"/>
              <a:t>catch</a:t>
            </a:r>
            <a:r>
              <a:rPr lang="zh-CN" altLang="en-US" dirty="0"/>
              <a:t>，如果在本函数中无</a:t>
            </a:r>
            <a:r>
              <a:rPr lang="en-US" altLang="zh-CN" dirty="0"/>
              <a:t>try_catch</a:t>
            </a:r>
            <a:r>
              <a:rPr lang="zh-CN" altLang="en-US" dirty="0"/>
              <a:t>结构或找不到与之匹配的</a:t>
            </a:r>
            <a:r>
              <a:rPr lang="en-US" altLang="zh-CN" dirty="0"/>
              <a:t>catch</a:t>
            </a:r>
            <a:r>
              <a:rPr lang="zh-CN" altLang="en-US" dirty="0"/>
              <a:t>，就转到</a:t>
            </a:r>
            <a:r>
              <a:rPr lang="zh-CN" dirty="0"/>
              <a:t>上一层</a:t>
            </a:r>
            <a:r>
              <a:rPr lang="zh-CN" altLang="en-US" dirty="0"/>
              <a:t>去处理。</a:t>
            </a:r>
            <a:r>
              <a:rPr lang="zh-CN" altLang="en-US" dirty="0">
                <a:sym typeface="+mn-ea"/>
              </a:rPr>
              <a:t>如果在上一层中无</a:t>
            </a:r>
            <a:r>
              <a:rPr lang="en-US" altLang="zh-CN" dirty="0">
                <a:sym typeface="+mn-ea"/>
              </a:rPr>
              <a:t>try_catch</a:t>
            </a:r>
            <a:r>
              <a:rPr lang="zh-CN" altLang="en-US" dirty="0">
                <a:sym typeface="+mn-ea"/>
              </a:rPr>
              <a:t>结构或找不到与之匹配的</a:t>
            </a:r>
            <a:r>
              <a:rPr lang="en-US" altLang="zh-CN" dirty="0">
                <a:sym typeface="+mn-ea"/>
              </a:rPr>
              <a:t>catch</a:t>
            </a:r>
            <a:r>
              <a:rPr lang="zh-CN" altLang="en-US" dirty="0">
                <a:sym typeface="+mn-ea"/>
              </a:rPr>
              <a:t>，再转到更上一层去处理。</a:t>
            </a:r>
            <a:endParaRPr lang="en-US" altLang="zh-CN" dirty="0"/>
          </a:p>
          <a:p>
            <a:pPr eaLnBrk="1" hangingPunct="1"/>
            <a:r>
              <a:rPr lang="zh-CN" altLang="en-US" dirty="0"/>
              <a:t>在某些情况下，在</a:t>
            </a:r>
            <a:r>
              <a:rPr lang="en-US" altLang="zh-CN" dirty="0"/>
              <a:t>throw</a:t>
            </a:r>
            <a:r>
              <a:rPr lang="zh-CN" altLang="en-US" dirty="0"/>
              <a:t>语句中可以不包括表达式，如</a:t>
            </a:r>
          </a:p>
          <a:p>
            <a:pPr lvl="1" eaLnBrk="1" hangingPunct="1"/>
            <a:r>
              <a:rPr lang="en-US" altLang="zh-CN" dirty="0"/>
              <a:t>catch</a:t>
            </a:r>
            <a:r>
              <a:rPr lang="zh-CN" altLang="en-US" dirty="0"/>
              <a:t>（</a:t>
            </a:r>
            <a:r>
              <a:rPr lang="en-US" altLang="zh-CN" dirty="0"/>
              <a:t>int</a:t>
            </a:r>
            <a:r>
              <a:rPr lang="zh-CN" altLang="en-US" dirty="0"/>
              <a:t>）</a:t>
            </a:r>
          </a:p>
          <a:p>
            <a:pPr lvl="1" eaLnBrk="1" hangingPunct="1"/>
            <a:r>
              <a:rPr lang="en-US" altLang="zh-CN" dirty="0"/>
              <a:t>{</a:t>
            </a:r>
          </a:p>
          <a:p>
            <a:pPr lvl="1" eaLnBrk="1" hangingPunct="1"/>
            <a:r>
              <a:rPr lang="en-US" altLang="zh-CN" dirty="0"/>
              <a:t>throw;//</a:t>
            </a:r>
            <a:r>
              <a:rPr lang="zh-CN" altLang="en-US" dirty="0"/>
              <a:t>将已捕获的异常信息再次原样抛出，</a:t>
            </a:r>
            <a:r>
              <a:rPr lang="zh-CN" altLang="en-US" dirty="0">
                <a:sym typeface="+mn-ea"/>
              </a:rPr>
              <a:t>表示“我不处理这个异常，请上级处理”</a:t>
            </a:r>
            <a:endParaRPr lang="en-US" altLang="zh-CN" dirty="0"/>
          </a:p>
          <a:p>
            <a:pPr lvl="1" eaLnBrk="1" hangingPunct="1"/>
            <a:r>
              <a:rPr lang="en-US" altLang="zh-CN" dirty="0"/>
              <a:t>}</a:t>
            </a:r>
          </a:p>
          <a:p>
            <a:pPr marL="457200" lvl="1" indent="0" eaLnBrk="1" hangingPunct="1">
              <a:buNone/>
            </a:pPr>
            <a:endParaRPr lang="zh-CN" altLang="en-US" dirty="0"/>
          </a:p>
          <a:p>
            <a:pPr eaLnBrk="1" hangingPunct="1"/>
            <a:endParaRPr lang="zh-CN" altLang="en-US" dirty="0"/>
          </a:p>
          <a:p>
            <a:pPr eaLnBrk="1" hangingPunct="1"/>
            <a:endParaRPr lang="zh-CN" altLang="en-US" dirty="0"/>
          </a:p>
          <a:p>
            <a:pPr eaLnBrk="1" hangingPunct="1"/>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p:cNvSpPr>
          <p:nvPr>
            <p:ph idx="1"/>
          </p:nvPr>
        </p:nvSpPr>
        <p:spPr>
          <a:xfrm>
            <a:off x="381000" y="304800"/>
            <a:ext cx="8610600" cy="6400800"/>
          </a:xfrm>
          <a:ln/>
        </p:spPr>
        <p:txBody>
          <a:bodyPr vert="horz" wrap="square" lIns="18000" tIns="45720" rIns="91440" bIns="45720" anchor="t" anchorCtr="0"/>
          <a:lstStyle/>
          <a:p>
            <a:pPr eaLnBrk="1" hangingPunct="1"/>
            <a:endParaRPr lang="zh-CN" altLang="en-US" dirty="0"/>
          </a:p>
          <a:p>
            <a:pPr eaLnBrk="1" hangingPunct="1"/>
            <a:r>
              <a:rPr lang="en-US" altLang="zh-CN" dirty="0"/>
              <a:t>(8)</a:t>
            </a:r>
            <a:r>
              <a:rPr lang="zh-CN" altLang="en-US" dirty="0"/>
              <a:t>如果</a:t>
            </a:r>
            <a:r>
              <a:rPr lang="en-US" altLang="zh-CN" dirty="0"/>
              <a:t>throw</a:t>
            </a:r>
            <a:r>
              <a:rPr lang="zh-CN" altLang="en-US" dirty="0"/>
              <a:t>抛出的异常信息找不到与之匹配的</a:t>
            </a:r>
            <a:r>
              <a:rPr lang="en-US" altLang="zh-CN" dirty="0"/>
              <a:t>catch</a:t>
            </a:r>
            <a:r>
              <a:rPr lang="zh-CN" altLang="en-US" dirty="0"/>
              <a:t>块，那么系统就会调用一个系统函数</a:t>
            </a:r>
            <a:r>
              <a:rPr lang="en-US" altLang="zh-CN" dirty="0"/>
              <a:t>terminate</a:t>
            </a:r>
            <a:r>
              <a:rPr lang="zh-CN" altLang="en-US" dirty="0"/>
              <a:t>，使程序终止运行。</a:t>
            </a:r>
          </a:p>
          <a:p>
            <a:pPr eaLnBrk="1" hangingPunct="1"/>
            <a:endParaRPr lang="zh-CN" altLang="en-US" dirty="0"/>
          </a:p>
          <a:p>
            <a:pPr eaLnBrk="1" hangingPunct="1"/>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 </a:t>
            </a:r>
            <a:r>
              <a:rPr lang="zh-CN" altLang="en-US" dirty="0"/>
              <a:t>异常处理的方法</a:t>
            </a:r>
          </a:p>
        </p:txBody>
      </p:sp>
      <p:sp>
        <p:nvSpPr>
          <p:cNvPr id="362499" name="Rectangle 3"/>
          <p:cNvSpPr>
            <a:spLocks noGrp="1"/>
          </p:cNvSpPr>
          <p:nvPr>
            <p:ph idx="1"/>
          </p:nvPr>
        </p:nvSpPr>
        <p:spPr>
          <a:ln/>
        </p:spPr>
        <p:txBody>
          <a:bodyPr vert="horz" wrap="square" lIns="18000" tIns="45720" rIns="91440" bIns="45720" anchor="t" anchorCtr="0"/>
          <a:lstStyle/>
          <a:p>
            <a:pPr eaLnBrk="1" hangingPunct="1"/>
            <a:r>
              <a:rPr lang="zh-CN" altLang="en-US" dirty="0"/>
              <a:t>例：在函数</a:t>
            </a:r>
            <a:r>
              <a:rPr lang="en-US" altLang="zh-CN" dirty="0"/>
              <a:t>triangle</a:t>
            </a:r>
            <a:r>
              <a:rPr lang="zh-CN" altLang="en-US" dirty="0"/>
              <a:t>中对三角形条件进行检查，如果不符合三角形条件，就抛出一个异常信息，在主函数中的</a:t>
            </a:r>
            <a:r>
              <a:rPr lang="en-US" altLang="zh-CN" dirty="0"/>
              <a:t>try-catch</a:t>
            </a:r>
            <a:r>
              <a:rPr lang="zh-CN" altLang="en-US" dirty="0"/>
              <a:t>块中调用</a:t>
            </a:r>
            <a:r>
              <a:rPr lang="en-US" altLang="zh-CN" dirty="0"/>
              <a:t>triangle</a:t>
            </a:r>
            <a:r>
              <a:rPr lang="zh-CN" altLang="en-US" dirty="0"/>
              <a:t>函数，检测有无异常信息，并作相应处理。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9" name="Rectangle 3"/>
          <p:cNvSpPr>
            <a:spLocks noGrp="1"/>
          </p:cNvSpPr>
          <p:nvPr>
            <p:ph idx="1"/>
          </p:nvPr>
        </p:nvSpPr>
        <p:spPr>
          <a:xfrm>
            <a:off x="381000" y="125413"/>
            <a:ext cx="8610600" cy="6580187"/>
          </a:xfrm>
          <a:ln/>
        </p:spPr>
        <p:txBody>
          <a:bodyPr vert="horz" wrap="square" lIns="18000" tIns="45720" rIns="91440" bIns="45720" anchor="t" anchorCtr="0"/>
          <a:lstStyle/>
          <a:p>
            <a:pPr eaLnBrk="1" hangingPunct="1"/>
            <a:r>
              <a:rPr lang="zh-CN" altLang="en-US" dirty="0"/>
              <a:t>程序如下</a:t>
            </a:r>
            <a:r>
              <a:rPr lang="en-US" altLang="zh-CN" dirty="0"/>
              <a:t>:</a:t>
            </a:r>
          </a:p>
          <a:p>
            <a:pPr lvl="1" eaLnBrk="1" hangingPunct="1"/>
            <a:r>
              <a:rPr lang="en-US" altLang="zh-CN" sz="1800" dirty="0"/>
              <a:t>#include &lt;iostream&gt;</a:t>
            </a:r>
          </a:p>
          <a:p>
            <a:pPr lvl="1" eaLnBrk="1" hangingPunct="1"/>
            <a:r>
              <a:rPr lang="en-US" altLang="zh-CN" sz="1800" dirty="0"/>
              <a:t>#include &lt;cmath&gt;</a:t>
            </a:r>
          </a:p>
          <a:p>
            <a:pPr lvl="1" eaLnBrk="1" hangingPunct="1"/>
            <a:r>
              <a:rPr lang="en-US" altLang="zh-CN" sz="1800" dirty="0"/>
              <a:t>using namespace std;</a:t>
            </a:r>
          </a:p>
          <a:p>
            <a:pPr lvl="1" eaLnBrk="1" hangingPunct="1"/>
            <a:r>
              <a:rPr lang="en-US" altLang="zh-CN" sz="1800" dirty="0"/>
              <a:t>void main( )</a:t>
            </a:r>
          </a:p>
          <a:p>
            <a:pPr lvl="1" eaLnBrk="1" hangingPunct="1"/>
            <a:r>
              <a:rPr lang="en-US" altLang="zh-CN" sz="1800" dirty="0"/>
              <a:t>{</a:t>
            </a:r>
          </a:p>
          <a:p>
            <a:pPr lvl="2" eaLnBrk="1" hangingPunct="1"/>
            <a:r>
              <a:rPr lang="en-US" altLang="zh-CN" sz="1600" dirty="0"/>
              <a:t>double triangle(double,double,double) throw(double);</a:t>
            </a:r>
          </a:p>
          <a:p>
            <a:pPr lvl="2" eaLnBrk="1" hangingPunct="1"/>
            <a:r>
              <a:rPr lang="en-US" altLang="zh-CN" sz="1600" dirty="0"/>
              <a:t>double a,b,c;</a:t>
            </a:r>
          </a:p>
          <a:p>
            <a:pPr lvl="2" eaLnBrk="1" hangingPunct="1"/>
            <a:r>
              <a:rPr lang="en-US" altLang="zh-CN" sz="1600" dirty="0"/>
              <a:t>cin&gt;&gt;a&gt;&gt;b&gt;&gt;c;</a:t>
            </a:r>
          </a:p>
          <a:p>
            <a:pPr lvl="2" eaLnBrk="1" hangingPunct="1"/>
            <a:r>
              <a:rPr lang="en-US" altLang="zh-CN" sz="1600" dirty="0"/>
              <a:t>try    //</a:t>
            </a:r>
            <a:r>
              <a:rPr lang="zh-CN" altLang="en-US" sz="1600" dirty="0"/>
              <a:t>在</a:t>
            </a:r>
            <a:r>
              <a:rPr lang="en-US" altLang="zh-CN" sz="1600" dirty="0"/>
              <a:t>try</a:t>
            </a:r>
            <a:r>
              <a:rPr lang="zh-CN" altLang="en-US" sz="1600" dirty="0"/>
              <a:t>块中包含要检查的函数</a:t>
            </a:r>
          </a:p>
          <a:p>
            <a:pPr lvl="2" eaLnBrk="1" hangingPunct="1"/>
            <a:r>
              <a:rPr lang="zh-CN" altLang="en-US" sz="1600" dirty="0"/>
              <a:t>  </a:t>
            </a:r>
            <a:r>
              <a:rPr lang="en-US" altLang="zh-CN" sz="1600" dirty="0"/>
              <a:t>{while(a&gt;0 &amp;&amp; b&gt;0 &amp;&amp; c&gt;0)</a:t>
            </a:r>
          </a:p>
          <a:p>
            <a:pPr lvl="2" eaLnBrk="1" hangingPunct="1"/>
            <a:r>
              <a:rPr lang="en-US" altLang="zh-CN" sz="1600" dirty="0"/>
              <a:t>    {cout&lt;&lt;triangle(a,b,c)&lt;&lt;endl;</a:t>
            </a:r>
          </a:p>
          <a:p>
            <a:pPr lvl="2" eaLnBrk="1" hangingPunct="1"/>
            <a:r>
              <a:rPr lang="en-US" altLang="zh-CN" sz="1600" dirty="0"/>
              <a:t>     cin&gt;&gt;a&gt;&gt;b&gt;&gt;c;</a:t>
            </a:r>
          </a:p>
          <a:p>
            <a:pPr lvl="2" eaLnBrk="1" hangingPunct="1"/>
            <a:r>
              <a:rPr lang="en-US" altLang="zh-CN" sz="1600" dirty="0"/>
              <a:t>    }</a:t>
            </a:r>
          </a:p>
          <a:p>
            <a:pPr lvl="2" eaLnBrk="1" hangingPunct="1"/>
            <a:r>
              <a:rPr lang="en-US" altLang="zh-CN" sz="1600" dirty="0"/>
              <a:t>  }</a:t>
            </a:r>
          </a:p>
          <a:p>
            <a:pPr lvl="2" eaLnBrk="1" hangingPunct="1"/>
            <a:r>
              <a:rPr lang="en-US" altLang="zh-CN" sz="1600" dirty="0"/>
              <a:t>catch(double)          //</a:t>
            </a:r>
            <a:r>
              <a:rPr lang="zh-CN" altLang="en-US" sz="1600" dirty="0"/>
              <a:t>用</a:t>
            </a:r>
            <a:r>
              <a:rPr lang="en-US" altLang="zh-CN" sz="1600" dirty="0"/>
              <a:t>catch</a:t>
            </a:r>
            <a:r>
              <a:rPr lang="zh-CN" altLang="en-US" sz="1600" dirty="0"/>
              <a:t>捕捉异常信息并作相应处理</a:t>
            </a:r>
          </a:p>
          <a:p>
            <a:pPr lvl="2" eaLnBrk="1" hangingPunct="1"/>
            <a:r>
              <a:rPr lang="zh-CN" altLang="en-US" sz="1600" dirty="0"/>
              <a:t>  </a:t>
            </a:r>
            <a:r>
              <a:rPr lang="en-US" altLang="zh-CN" sz="1600" dirty="0"/>
              <a:t>{cout&lt;&lt;″a=″&lt;&lt;a&lt;&lt;″,b=″&lt;&lt;b&lt;&lt;″,c=″&lt;&lt;c&lt;&lt;″,that is not a triangle!″&lt;&lt;endl;}</a:t>
            </a:r>
          </a:p>
          <a:p>
            <a:pPr lvl="2" eaLnBrk="1" hangingPunct="1"/>
            <a:r>
              <a:rPr lang="en-US" altLang="zh-CN" sz="1600" dirty="0"/>
              <a:t>cout&lt;&lt;″end″&lt;&lt;endl;</a:t>
            </a:r>
          </a:p>
          <a:p>
            <a:pPr lvl="1" eaLnBrk="1" hangingPunct="1"/>
            <a:r>
              <a:rPr lang="en-US" altLang="zh-CN" sz="1800" dirty="0"/>
              <a:t>}</a:t>
            </a:r>
          </a:p>
          <a:p>
            <a:pPr eaLnBrk="1" hangingPunct="1"/>
            <a:endParaRPr lang="en-US" altLang="zh-CN" dirty="0"/>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249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249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249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249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2499">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2499">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2499">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2499">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2499">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2499">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2499">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2499">
                                            <p:txEl>
                                              <p:pRg st="14" end="1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2499">
                                            <p:txEl>
                                              <p:pRg st="15" end="1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2499">
                                            <p:txEl>
                                              <p:pRg st="16" end="1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2499">
                                            <p:txEl>
                                              <p:pRg st="17" end="1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2499">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9" name="Rectangle 3"/>
          <p:cNvSpPr>
            <a:spLocks noGrp="1"/>
          </p:cNvSpPr>
          <p:nvPr>
            <p:ph idx="1"/>
          </p:nvPr>
        </p:nvSpPr>
        <p:spPr>
          <a:xfrm>
            <a:off x="381000" y="1066800"/>
            <a:ext cx="8610600" cy="5638800"/>
          </a:xfrm>
          <a:ln/>
        </p:spPr>
        <p:txBody>
          <a:bodyPr vert="horz" wrap="square" lIns="18000" tIns="45720" rIns="91440" bIns="45720" anchor="t" anchorCtr="0"/>
          <a:lstStyle/>
          <a:p>
            <a:pPr eaLnBrk="1" hangingPunct="1"/>
            <a:endParaRPr lang="en-US" altLang="zh-CN" sz="1600" dirty="0"/>
          </a:p>
          <a:p>
            <a:pPr lvl="1" eaLnBrk="1" hangingPunct="1"/>
            <a:r>
              <a:rPr lang="en-US" altLang="zh-CN" sz="1800" dirty="0"/>
              <a:t>double triangle(double a,double b,double c)throw(double)  //</a:t>
            </a:r>
            <a:r>
              <a:rPr lang="zh-CN" altLang="en-US" sz="1800" dirty="0"/>
              <a:t>计算三角形的面积的函数</a:t>
            </a:r>
          </a:p>
          <a:p>
            <a:pPr lvl="1" eaLnBrk="1" hangingPunct="1"/>
            <a:r>
              <a:rPr lang="en-US" altLang="zh-CN" sz="1800" dirty="0"/>
              <a:t>{</a:t>
            </a:r>
          </a:p>
          <a:p>
            <a:pPr lvl="2" eaLnBrk="1" hangingPunct="1"/>
            <a:r>
              <a:rPr lang="en-US" altLang="zh-CN" sz="1600" dirty="0"/>
              <a:t>double s=(a+b+c)/2;</a:t>
            </a:r>
          </a:p>
          <a:p>
            <a:pPr lvl="2" eaLnBrk="1" hangingPunct="1"/>
            <a:r>
              <a:rPr lang="en-US" altLang="zh-CN" sz="1600" dirty="0"/>
              <a:t> if (a+b&lt;=c||b+c&lt;=a||c+a&lt;=b) throw a;   //</a:t>
            </a:r>
            <a:r>
              <a:rPr lang="zh-CN" altLang="en-US" sz="1600" dirty="0"/>
              <a:t>当不符合三角形条件抛出异常信息</a:t>
            </a:r>
          </a:p>
          <a:p>
            <a:pPr lvl="2" eaLnBrk="1" hangingPunct="1"/>
            <a:r>
              <a:rPr lang="zh-CN" altLang="en-US" sz="1600" dirty="0"/>
              <a:t> </a:t>
            </a:r>
            <a:r>
              <a:rPr lang="en-US" altLang="zh-CN" sz="1600" dirty="0"/>
              <a:t>return sqrt(s*(s-a)*(s-b)*(s-c));</a:t>
            </a:r>
          </a:p>
          <a:p>
            <a:pPr lvl="1" eaLnBrk="1" hangingPunct="1"/>
            <a:r>
              <a:rPr lang="en-US" altLang="zh-CN" sz="1800" dirty="0"/>
              <a:t>}</a:t>
            </a:r>
          </a:p>
          <a:p>
            <a:pPr lvl="1" eaLnBrk="1" hangingPunct="1"/>
            <a:r>
              <a:rPr lang="zh-CN" altLang="en-US" sz="1800" dirty="0"/>
              <a:t>程序运行结果如下</a:t>
            </a:r>
            <a:r>
              <a:rPr lang="en-US" altLang="zh-CN" sz="1800" dirty="0"/>
              <a:t>:</a:t>
            </a:r>
          </a:p>
          <a:p>
            <a:pPr lvl="1" eaLnBrk="1" hangingPunct="1"/>
            <a:r>
              <a:rPr lang="en-US" altLang="zh-CN" sz="1800" dirty="0"/>
              <a:t>6 5 4↙(</a:t>
            </a:r>
            <a:r>
              <a:rPr lang="zh-CN" altLang="en-US" sz="1800" dirty="0"/>
              <a:t>输入</a:t>
            </a:r>
            <a:r>
              <a:rPr lang="en-US" altLang="zh-CN" sz="1800" dirty="0"/>
              <a:t>a,b,c</a:t>
            </a:r>
            <a:r>
              <a:rPr lang="zh-CN" altLang="en-US" sz="1800" dirty="0"/>
              <a:t>的值</a:t>
            </a:r>
            <a:r>
              <a:rPr lang="en-US" altLang="zh-CN" sz="1800" dirty="0"/>
              <a:t>) </a:t>
            </a:r>
          </a:p>
          <a:p>
            <a:pPr lvl="1" eaLnBrk="1" hangingPunct="1"/>
            <a:r>
              <a:rPr lang="en-US" altLang="zh-CN" sz="1800" dirty="0"/>
              <a:t>9.92157             (</a:t>
            </a:r>
            <a:r>
              <a:rPr lang="zh-CN" altLang="en-US" sz="1800" dirty="0"/>
              <a:t>计算出三角形的面积</a:t>
            </a:r>
            <a:r>
              <a:rPr lang="en-US" altLang="zh-CN" sz="1800" dirty="0"/>
              <a:t>)</a:t>
            </a:r>
          </a:p>
          <a:p>
            <a:pPr lvl="1" eaLnBrk="1" hangingPunct="1"/>
            <a:r>
              <a:rPr lang="en-US" altLang="zh-CN" sz="1800" dirty="0"/>
              <a:t>1 1.5 2↙           (</a:t>
            </a:r>
            <a:r>
              <a:rPr lang="zh-CN" altLang="en-US" sz="1800" dirty="0"/>
              <a:t>输入</a:t>
            </a:r>
            <a:r>
              <a:rPr lang="en-US" altLang="zh-CN" sz="1800" dirty="0"/>
              <a:t>a,b,c</a:t>
            </a:r>
            <a:r>
              <a:rPr lang="zh-CN" altLang="en-US" sz="1800" dirty="0"/>
              <a:t>的值</a:t>
            </a:r>
            <a:r>
              <a:rPr lang="en-US" altLang="zh-CN" sz="1800" dirty="0"/>
              <a:t>)</a:t>
            </a:r>
          </a:p>
          <a:p>
            <a:pPr lvl="1" eaLnBrk="1" hangingPunct="1"/>
            <a:r>
              <a:rPr lang="en-US" altLang="zh-CN" sz="1800" dirty="0"/>
              <a:t>0.726184            (</a:t>
            </a:r>
            <a:r>
              <a:rPr lang="zh-CN" altLang="en-US" sz="1800" dirty="0"/>
              <a:t>计算出三角形的面积</a:t>
            </a:r>
            <a:r>
              <a:rPr lang="en-US" altLang="zh-CN" sz="1800" dirty="0"/>
              <a:t>)</a:t>
            </a:r>
          </a:p>
          <a:p>
            <a:pPr lvl="1" eaLnBrk="1" hangingPunct="1"/>
            <a:r>
              <a:rPr lang="en-US" altLang="zh-CN" sz="1800" dirty="0"/>
              <a:t>1 2 1↙             (</a:t>
            </a:r>
            <a:r>
              <a:rPr lang="zh-CN" altLang="en-US" sz="1800" dirty="0"/>
              <a:t>输入</a:t>
            </a:r>
            <a:r>
              <a:rPr lang="en-US" altLang="zh-CN" sz="1800" dirty="0"/>
              <a:t>a,b,c</a:t>
            </a:r>
            <a:r>
              <a:rPr lang="zh-CN" altLang="en-US" sz="1800" dirty="0"/>
              <a:t>的值</a:t>
            </a:r>
            <a:r>
              <a:rPr lang="en-US" altLang="zh-CN" sz="1800" dirty="0"/>
              <a:t>)</a:t>
            </a:r>
          </a:p>
          <a:p>
            <a:pPr lvl="1" eaLnBrk="1" hangingPunct="1"/>
            <a:r>
              <a:rPr lang="en-US" altLang="zh-CN" sz="1800" dirty="0"/>
              <a:t>a=1,b=2,c=1, that is not a triangle!  (</a:t>
            </a:r>
            <a:r>
              <a:rPr lang="zh-CN" altLang="en-US" sz="1800" dirty="0"/>
              <a:t>异常处理</a:t>
            </a:r>
            <a:r>
              <a:rPr lang="en-US" altLang="zh-CN" sz="1800" dirty="0"/>
              <a:t>)</a:t>
            </a:r>
          </a:p>
          <a:p>
            <a:pPr lvl="1" eaLnBrk="1" hangingPunct="1"/>
            <a:r>
              <a:rPr lang="en-US" altLang="zh-CN" sz="1800" dirty="0"/>
              <a:t>end</a:t>
            </a:r>
          </a:p>
          <a:p>
            <a:pPr eaLnBrk="1" hangingPunct="1"/>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2499">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2499">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2499">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2499">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2499">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2499">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2499">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2499">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2499">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2499">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249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 </a:t>
            </a:r>
            <a:r>
              <a:rPr lang="zh-CN" altLang="en-US" dirty="0"/>
              <a:t>异常处理的方法</a:t>
            </a:r>
          </a:p>
        </p:txBody>
      </p:sp>
      <p:sp>
        <p:nvSpPr>
          <p:cNvPr id="362499" name="Rectangle 3"/>
          <p:cNvSpPr>
            <a:spLocks noGrp="1"/>
          </p:cNvSpPr>
          <p:nvPr>
            <p:ph idx="1"/>
          </p:nvPr>
        </p:nvSpPr>
        <p:spPr>
          <a:ln/>
        </p:spPr>
        <p:txBody>
          <a:bodyPr vert="horz" wrap="square" lIns="18000" tIns="45720" rIns="91440" bIns="45720" anchor="t" anchorCtr="0"/>
          <a:lstStyle/>
          <a:p>
            <a:pPr eaLnBrk="1" hangingPunct="1"/>
            <a:r>
              <a:rPr lang="zh-CN" altLang="en-US" dirty="0"/>
              <a:t>例：在函数嵌套的情况下检测异常处理。</a:t>
            </a:r>
          </a:p>
        </p:txBody>
      </p:sp>
    </p:spTree>
    <p:extLst>
      <p:ext uri="{BB962C8B-B14F-4D97-AF65-F5344CB8AC3E}">
        <p14:creationId xmlns:p14="http://schemas.microsoft.com/office/powerpoint/2010/main" val="103484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941214-823D-4697-899D-629BB838AD76}"/>
              </a:ext>
            </a:extLst>
          </p:cNvPr>
          <p:cNvSpPr>
            <a:spLocks noGrp="1"/>
          </p:cNvSpPr>
          <p:nvPr>
            <p:ph type="title"/>
          </p:nvPr>
        </p:nvSpPr>
        <p:spPr/>
        <p:txBody>
          <a:bodyPr/>
          <a:lstStyle/>
          <a:p>
            <a:r>
              <a:rPr lang="zh-CN" altLang="en-US" dirty="0"/>
              <a:t>另一个例子</a:t>
            </a:r>
          </a:p>
        </p:txBody>
      </p:sp>
      <p:pic>
        <p:nvPicPr>
          <p:cNvPr id="4" name="内容占位符 3">
            <a:extLst>
              <a:ext uri="{FF2B5EF4-FFF2-40B4-BE49-F238E27FC236}">
                <a16:creationId xmlns:a16="http://schemas.microsoft.com/office/drawing/2014/main" id="{006F0E01-5EAB-4583-8556-D6DB884C19F2}"/>
              </a:ext>
            </a:extLst>
          </p:cNvPr>
          <p:cNvPicPr>
            <a:picLocks noGrp="1" noChangeAspect="1"/>
          </p:cNvPicPr>
          <p:nvPr>
            <p:ph idx="1"/>
          </p:nvPr>
        </p:nvPicPr>
        <p:blipFill>
          <a:blip r:embed="rId2"/>
          <a:stretch>
            <a:fillRect/>
          </a:stretch>
        </p:blipFill>
        <p:spPr>
          <a:xfrm>
            <a:off x="16790" y="898230"/>
            <a:ext cx="2943810" cy="3336667"/>
          </a:xfrm>
          <a:prstGeom prst="rect">
            <a:avLst/>
          </a:prstGeom>
        </p:spPr>
      </p:pic>
      <p:pic>
        <p:nvPicPr>
          <p:cNvPr id="5" name="图片 4">
            <a:extLst>
              <a:ext uri="{FF2B5EF4-FFF2-40B4-BE49-F238E27FC236}">
                <a16:creationId xmlns:a16="http://schemas.microsoft.com/office/drawing/2014/main" id="{EB4C2406-6C6A-41F5-85C3-EBAEF12565B8}"/>
              </a:ext>
            </a:extLst>
          </p:cNvPr>
          <p:cNvPicPr>
            <a:picLocks noChangeAspect="1"/>
          </p:cNvPicPr>
          <p:nvPr/>
        </p:nvPicPr>
        <p:blipFill>
          <a:blip r:embed="rId3"/>
          <a:stretch>
            <a:fillRect/>
          </a:stretch>
        </p:blipFill>
        <p:spPr>
          <a:xfrm>
            <a:off x="5584425" y="907224"/>
            <a:ext cx="3259428" cy="3141143"/>
          </a:xfrm>
          <a:prstGeom prst="rect">
            <a:avLst/>
          </a:prstGeom>
        </p:spPr>
      </p:pic>
      <p:pic>
        <p:nvPicPr>
          <p:cNvPr id="6" name="图片 5">
            <a:extLst>
              <a:ext uri="{FF2B5EF4-FFF2-40B4-BE49-F238E27FC236}">
                <a16:creationId xmlns:a16="http://schemas.microsoft.com/office/drawing/2014/main" id="{63FFCF5D-391C-45DA-9755-D7868A0C6CC4}"/>
              </a:ext>
            </a:extLst>
          </p:cNvPr>
          <p:cNvPicPr>
            <a:picLocks noChangeAspect="1"/>
          </p:cNvPicPr>
          <p:nvPr/>
        </p:nvPicPr>
        <p:blipFill>
          <a:blip r:embed="rId4"/>
          <a:stretch>
            <a:fillRect/>
          </a:stretch>
        </p:blipFill>
        <p:spPr>
          <a:xfrm>
            <a:off x="2971800" y="908516"/>
            <a:ext cx="2609619" cy="3326381"/>
          </a:xfrm>
          <a:prstGeom prst="rect">
            <a:avLst/>
          </a:prstGeom>
        </p:spPr>
      </p:pic>
      <p:pic>
        <p:nvPicPr>
          <p:cNvPr id="7" name="图片 6">
            <a:extLst>
              <a:ext uri="{FF2B5EF4-FFF2-40B4-BE49-F238E27FC236}">
                <a16:creationId xmlns:a16="http://schemas.microsoft.com/office/drawing/2014/main" id="{8B6DDED7-A688-43C4-918C-CC940AA090F7}"/>
              </a:ext>
            </a:extLst>
          </p:cNvPr>
          <p:cNvPicPr>
            <a:picLocks noChangeAspect="1"/>
          </p:cNvPicPr>
          <p:nvPr/>
        </p:nvPicPr>
        <p:blipFill>
          <a:blip r:embed="rId5"/>
          <a:stretch>
            <a:fillRect/>
          </a:stretch>
        </p:blipFill>
        <p:spPr>
          <a:xfrm>
            <a:off x="16790" y="5105400"/>
            <a:ext cx="4490667" cy="1029333"/>
          </a:xfrm>
          <a:prstGeom prst="rect">
            <a:avLst/>
          </a:prstGeom>
        </p:spPr>
      </p:pic>
      <p:pic>
        <p:nvPicPr>
          <p:cNvPr id="8" name="图片 7">
            <a:extLst>
              <a:ext uri="{FF2B5EF4-FFF2-40B4-BE49-F238E27FC236}">
                <a16:creationId xmlns:a16="http://schemas.microsoft.com/office/drawing/2014/main" id="{D6BD8E75-CE00-45BA-9EC4-848D77F3C17B}"/>
              </a:ext>
            </a:extLst>
          </p:cNvPr>
          <p:cNvPicPr>
            <a:picLocks noChangeAspect="1"/>
          </p:cNvPicPr>
          <p:nvPr/>
        </p:nvPicPr>
        <p:blipFill>
          <a:blip r:embed="rId6"/>
          <a:stretch>
            <a:fillRect/>
          </a:stretch>
        </p:blipFill>
        <p:spPr>
          <a:xfrm>
            <a:off x="4539066" y="4751159"/>
            <a:ext cx="4598000" cy="1981428"/>
          </a:xfrm>
          <a:prstGeom prst="rect">
            <a:avLst/>
          </a:prstGeom>
        </p:spPr>
      </p:pic>
      <p:sp>
        <p:nvSpPr>
          <p:cNvPr id="9" name="文本框 8">
            <a:extLst>
              <a:ext uri="{FF2B5EF4-FFF2-40B4-BE49-F238E27FC236}">
                <a16:creationId xmlns:a16="http://schemas.microsoft.com/office/drawing/2014/main" id="{27C71B1C-FB71-4241-A388-F5B5267546CD}"/>
              </a:ext>
            </a:extLst>
          </p:cNvPr>
          <p:cNvSpPr txBox="1"/>
          <p:nvPr/>
        </p:nvSpPr>
        <p:spPr>
          <a:xfrm>
            <a:off x="3657600" y="4343400"/>
            <a:ext cx="5186253" cy="369332"/>
          </a:xfrm>
          <a:prstGeom prst="rect">
            <a:avLst/>
          </a:prstGeom>
          <a:noFill/>
        </p:spPr>
        <p:txBody>
          <a:bodyPr wrap="square" rtlCol="0">
            <a:spAutoFit/>
          </a:bodyPr>
          <a:lstStyle/>
          <a:p>
            <a:r>
              <a:rPr lang="zh-CN" altLang="en-US" dirty="0"/>
              <a:t>如果上述程序中函数</a:t>
            </a:r>
            <a:r>
              <a:rPr lang="en-US" altLang="zh-CN" dirty="0"/>
              <a:t>f3</a:t>
            </a:r>
            <a:r>
              <a:rPr lang="zh-CN" altLang="en-US" dirty="0"/>
              <a:t>中改为</a:t>
            </a:r>
            <a:r>
              <a:rPr lang="en-US" altLang="zh-CN" dirty="0"/>
              <a:t>catch</a:t>
            </a:r>
            <a:r>
              <a:rPr lang="zh-CN" altLang="en-US" dirty="0"/>
              <a:t>（</a:t>
            </a:r>
            <a:r>
              <a:rPr lang="en-US" altLang="zh-CN" dirty="0"/>
              <a:t>double</a:t>
            </a:r>
            <a:r>
              <a:rPr lang="zh-CN" altLang="en-US" dirty="0"/>
              <a:t>）：</a:t>
            </a:r>
          </a:p>
        </p:txBody>
      </p:sp>
    </p:spTree>
    <p:extLst>
      <p:ext uri="{BB962C8B-B14F-4D97-AF65-F5344CB8AC3E}">
        <p14:creationId xmlns:p14="http://schemas.microsoft.com/office/powerpoint/2010/main" val="232239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15.2.1 </a:t>
            </a:r>
            <a:r>
              <a:rPr lang="zh-CN" altLang="en-US" dirty="0"/>
              <a:t> 抛掷异常 </a:t>
            </a:r>
          </a:p>
        </p:txBody>
      </p:sp>
      <p:sp>
        <p:nvSpPr>
          <p:cNvPr id="366595" name="Rectangle 3"/>
          <p:cNvSpPr>
            <a:spLocks noGrp="1"/>
          </p:cNvSpPr>
          <p:nvPr>
            <p:ph idx="1"/>
          </p:nvPr>
        </p:nvSpPr>
        <p:spPr>
          <a:ln/>
        </p:spPr>
        <p:txBody>
          <a:bodyPr vert="horz" wrap="square" lIns="18000" tIns="45720" rIns="91440" bIns="45720" anchor="t" anchorCtr="0"/>
          <a:lstStyle/>
          <a:p>
            <a:pPr eaLnBrk="1" hangingPunct="1"/>
            <a:r>
              <a:rPr lang="zh-CN" altLang="en-US" dirty="0"/>
              <a:t>例</a:t>
            </a:r>
            <a:r>
              <a:rPr lang="en-US" altLang="zh-CN" dirty="0"/>
              <a:t>15.1 </a:t>
            </a:r>
            <a:r>
              <a:rPr lang="zh-CN" altLang="en-US" dirty="0"/>
              <a:t>编写一个函数，计算并返回实参（整数）的商。</a:t>
            </a:r>
          </a:p>
          <a:p>
            <a:pPr lvl="1" eaLnBrk="1" hangingPunct="1"/>
            <a:r>
              <a:rPr lang="en-US" altLang="zh-CN" dirty="0">
                <a:solidFill>
                  <a:srgbClr val="0000FF"/>
                </a:solidFill>
              </a:rPr>
              <a:t>int</a:t>
            </a:r>
            <a:r>
              <a:rPr lang="en-US" altLang="zh-CN" dirty="0">
                <a:solidFill>
                  <a:schemeClr val="tx2"/>
                </a:solidFill>
              </a:rPr>
              <a:t> Div(</a:t>
            </a:r>
            <a:r>
              <a:rPr lang="en-US" altLang="zh-CN" dirty="0">
                <a:solidFill>
                  <a:srgbClr val="0000FF"/>
                </a:solidFill>
              </a:rPr>
              <a:t>int</a:t>
            </a:r>
            <a:r>
              <a:rPr lang="en-US" altLang="zh-CN" dirty="0">
                <a:solidFill>
                  <a:schemeClr val="tx2"/>
                </a:solidFill>
              </a:rPr>
              <a:t> a, </a:t>
            </a:r>
            <a:r>
              <a:rPr lang="en-US" altLang="zh-CN" dirty="0">
                <a:solidFill>
                  <a:srgbClr val="0000FF"/>
                </a:solidFill>
              </a:rPr>
              <a:t>int</a:t>
            </a:r>
            <a:r>
              <a:rPr lang="en-US" altLang="zh-CN" dirty="0">
                <a:solidFill>
                  <a:schemeClr val="tx2"/>
                </a:solidFill>
              </a:rPr>
              <a:t> b)</a:t>
            </a:r>
            <a:br>
              <a:rPr lang="en-US" altLang="zh-CN" dirty="0">
                <a:solidFill>
                  <a:schemeClr val="tx2"/>
                </a:solidFill>
              </a:rPr>
            </a:br>
            <a:r>
              <a:rPr lang="en-US" altLang="zh-CN" dirty="0">
                <a:solidFill>
                  <a:schemeClr val="tx2"/>
                </a:solidFill>
              </a:rPr>
              <a:t>{</a:t>
            </a:r>
            <a:br>
              <a:rPr lang="en-US" altLang="zh-CN" dirty="0">
                <a:solidFill>
                  <a:schemeClr val="tx2"/>
                </a:solidFill>
              </a:rPr>
            </a:br>
            <a:r>
              <a:rPr lang="en-US" altLang="zh-CN" dirty="0">
                <a:solidFill>
                  <a:schemeClr val="tx2"/>
                </a:solidFill>
              </a:rPr>
              <a:t>    </a:t>
            </a:r>
            <a:r>
              <a:rPr lang="en-US" altLang="zh-CN" dirty="0">
                <a:solidFill>
                  <a:srgbClr val="0000FF"/>
                </a:solidFill>
              </a:rPr>
              <a:t>return</a:t>
            </a:r>
            <a:r>
              <a:rPr lang="en-US" altLang="zh-CN" dirty="0">
                <a:solidFill>
                  <a:schemeClr val="tx2"/>
                </a:solidFill>
              </a:rPr>
              <a:t> a/b;</a:t>
            </a:r>
            <a:br>
              <a:rPr lang="en-US" altLang="zh-CN" dirty="0">
                <a:solidFill>
                  <a:schemeClr val="tx2"/>
                </a:solidFill>
              </a:rPr>
            </a:br>
            <a:r>
              <a:rPr lang="en-US" altLang="zh-CN" dirty="0">
                <a:solidFill>
                  <a:schemeClr val="tx2"/>
                </a:solidFill>
              </a:rPr>
              <a:t>}</a:t>
            </a:r>
          </a:p>
          <a:p>
            <a:pPr eaLnBrk="1" hangingPunct="1"/>
            <a:r>
              <a:rPr lang="zh-CN" altLang="en-US" dirty="0"/>
              <a:t>可以预料，若</a:t>
            </a:r>
            <a:r>
              <a:rPr lang="en-US" altLang="zh-CN" dirty="0"/>
              <a:t>b</a:t>
            </a:r>
            <a:r>
              <a:rPr lang="zh-CN" altLang="en-US" dirty="0"/>
              <a:t>为零，则函数调用时出错，此时</a:t>
            </a:r>
          </a:p>
          <a:p>
            <a:pPr lvl="1" eaLnBrk="1" hangingPunct="1"/>
            <a:r>
              <a:rPr lang="zh-CN" altLang="en-US" dirty="0"/>
              <a:t>由于函数要求返回一个整型数值，不能为其指定一个值返回了之，</a:t>
            </a:r>
            <a:r>
              <a:rPr lang="zh-CN" altLang="en-US" dirty="0">
                <a:solidFill>
                  <a:srgbClr val="990000"/>
                </a:solidFill>
              </a:rPr>
              <a:t>因为返回任何值都是不妥的</a:t>
            </a:r>
            <a:r>
              <a:rPr lang="zh-CN" altLang="en-US" dirty="0"/>
              <a:t>。</a:t>
            </a:r>
          </a:p>
          <a:p>
            <a:pPr lvl="1" eaLnBrk="1" hangingPunct="1"/>
            <a:r>
              <a:rPr lang="zh-CN" altLang="en-US" dirty="0"/>
              <a:t>应该在执行</a:t>
            </a:r>
            <a:r>
              <a:rPr lang="en-US" altLang="zh-CN" dirty="0"/>
              <a:t>a/b</a:t>
            </a:r>
            <a:r>
              <a:rPr lang="zh-CN" altLang="en-US" dirty="0"/>
              <a:t>之前，当机立断跳转</a:t>
            </a:r>
            <a:r>
              <a:rPr lang="en-US" altLang="zh-CN" dirty="0"/>
              <a:t>———</a:t>
            </a:r>
            <a:r>
              <a:rPr lang="zh-CN" altLang="en-US" dirty="0"/>
              <a:t>这就是</a:t>
            </a:r>
            <a:r>
              <a:rPr lang="en-US" altLang="zh-CN" dirty="0"/>
              <a:t>C++</a:t>
            </a:r>
            <a:r>
              <a:rPr lang="zh-CN" altLang="en-US" dirty="0"/>
              <a:t>的异常处理方法。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65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65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659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659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65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15.2.1 </a:t>
            </a:r>
            <a:r>
              <a:rPr lang="zh-CN" altLang="en-US" dirty="0"/>
              <a:t> 抛掷异常</a:t>
            </a:r>
          </a:p>
        </p:txBody>
      </p:sp>
      <p:sp>
        <p:nvSpPr>
          <p:cNvPr id="367619" name="Rectangle 3"/>
          <p:cNvSpPr>
            <a:spLocks noGrp="1"/>
          </p:cNvSpPr>
          <p:nvPr>
            <p:ph idx="1"/>
          </p:nvPr>
        </p:nvSpPr>
        <p:spPr>
          <a:xfrm>
            <a:off x="381000" y="4419600"/>
            <a:ext cx="8610600" cy="1828800"/>
          </a:xfrm>
          <a:ln/>
        </p:spPr>
        <p:txBody>
          <a:bodyPr vert="horz" wrap="square" lIns="18000" tIns="45720" rIns="91440" bIns="45720" anchor="t" anchorCtr="0"/>
          <a:lstStyle/>
          <a:p>
            <a:pPr eaLnBrk="1" hangingPunct="1"/>
            <a:r>
              <a:rPr lang="zh-CN" altLang="en-US" dirty="0"/>
              <a:t> 抛掷何种类型，什么值由程序员自行确定。</a:t>
            </a:r>
          </a:p>
          <a:p>
            <a:pPr eaLnBrk="1" hangingPunct="1"/>
            <a:r>
              <a:rPr lang="zh-CN" altLang="en-US" dirty="0"/>
              <a:t> 一个函数还可抛掷多种不同类型的异常。</a:t>
            </a:r>
          </a:p>
        </p:txBody>
      </p:sp>
      <p:sp>
        <p:nvSpPr>
          <p:cNvPr id="367620" name="Text Box 4"/>
          <p:cNvSpPr txBox="1"/>
          <p:nvPr/>
        </p:nvSpPr>
        <p:spPr>
          <a:xfrm>
            <a:off x="152400" y="1371600"/>
            <a:ext cx="8991600" cy="2819400"/>
          </a:xfrm>
          <a:prstGeom prst="rect">
            <a:avLst/>
          </a:prstGeom>
          <a:solidFill>
            <a:schemeClr val="bg1"/>
          </a:solidFill>
          <a:ln w="28575" cap="flat" cmpd="sng">
            <a:solidFill>
              <a:schemeClr val="tx2"/>
            </a:solidFill>
            <a:prstDash val="solid"/>
            <a:miter/>
            <a:headEnd type="none" w="med" len="med"/>
            <a:tailEnd type="none" w="med" len="med"/>
          </a:ln>
        </p:spPr>
        <p:txBody>
          <a:bodyPr wrap="none" lIns="72000" tIns="72000" rIns="72000" bIns="7200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buClrTx/>
              <a:buFontTx/>
              <a:buNone/>
            </a:pPr>
            <a:r>
              <a:rPr lang="en-US" altLang="zh-CN" sz="2400" dirty="0"/>
              <a:t> </a:t>
            </a:r>
            <a:r>
              <a:rPr lang="en-US" altLang="zh-CN" sz="2400" dirty="0">
                <a:solidFill>
                  <a:srgbClr val="0000FF"/>
                </a:solidFill>
              </a:rPr>
              <a:t>int</a:t>
            </a:r>
            <a:r>
              <a:rPr lang="en-US" altLang="zh-CN" sz="2400" dirty="0"/>
              <a:t> Div(</a:t>
            </a:r>
            <a:r>
              <a:rPr lang="en-US" altLang="zh-CN" sz="2400" dirty="0">
                <a:solidFill>
                  <a:srgbClr val="0000FF"/>
                </a:solidFill>
              </a:rPr>
              <a:t>int</a:t>
            </a:r>
            <a:r>
              <a:rPr lang="en-US" altLang="zh-CN" sz="2400" dirty="0"/>
              <a:t> a, </a:t>
            </a:r>
            <a:r>
              <a:rPr lang="en-US" altLang="zh-CN" sz="2400" dirty="0">
                <a:solidFill>
                  <a:srgbClr val="0000FF"/>
                </a:solidFill>
              </a:rPr>
              <a:t>int</a:t>
            </a:r>
            <a:r>
              <a:rPr lang="en-US" altLang="zh-CN" sz="2400" dirty="0"/>
              <a:t> b) </a:t>
            </a:r>
            <a:r>
              <a:rPr lang="en-US" altLang="zh-CN" sz="2400" dirty="0">
                <a:solidFill>
                  <a:srgbClr val="0000FF"/>
                </a:solidFill>
              </a:rPr>
              <a:t>throw</a:t>
            </a:r>
            <a:r>
              <a:rPr lang="en-US" altLang="zh-CN" sz="2400" dirty="0"/>
              <a:t>(</a:t>
            </a:r>
            <a:r>
              <a:rPr lang="en-US" altLang="zh-CN" sz="2400" dirty="0">
                <a:solidFill>
                  <a:srgbClr val="0000FF"/>
                </a:solidFill>
              </a:rPr>
              <a:t>char</a:t>
            </a:r>
            <a:r>
              <a:rPr lang="en-US" altLang="zh-CN" sz="2400" dirty="0"/>
              <a:t>);  </a:t>
            </a:r>
            <a:r>
              <a:rPr lang="en-US" altLang="zh-CN" sz="2400" dirty="0">
                <a:solidFill>
                  <a:srgbClr val="990000"/>
                </a:solidFill>
              </a:rPr>
              <a:t>// </a:t>
            </a:r>
            <a:r>
              <a:rPr lang="zh-CN" altLang="en-US" sz="2400" dirty="0">
                <a:solidFill>
                  <a:srgbClr val="990000"/>
                </a:solidFill>
              </a:rPr>
              <a:t>函数原型 </a:t>
            </a:r>
          </a:p>
          <a:p>
            <a:pPr marL="0" lvl="0" indent="0" eaLnBrk="1" hangingPunct="1">
              <a:lnSpc>
                <a:spcPct val="95000"/>
              </a:lnSpc>
              <a:buClrTx/>
              <a:buFontTx/>
              <a:buNone/>
            </a:pPr>
            <a:endParaRPr lang="en-US" altLang="zh-CN" sz="2400" dirty="0"/>
          </a:p>
          <a:p>
            <a:pPr marL="0" lvl="0" indent="0" eaLnBrk="1" hangingPunct="1">
              <a:lnSpc>
                <a:spcPct val="95000"/>
              </a:lnSpc>
              <a:buClrTx/>
              <a:buFontTx/>
              <a:buNone/>
            </a:pPr>
            <a:r>
              <a:rPr lang="en-US" altLang="zh-CN" sz="2400" dirty="0"/>
              <a:t> </a:t>
            </a:r>
            <a:r>
              <a:rPr lang="en-US" altLang="zh-CN" sz="2400" dirty="0">
                <a:solidFill>
                  <a:srgbClr val="0000FF"/>
                </a:solidFill>
              </a:rPr>
              <a:t>int</a:t>
            </a:r>
            <a:r>
              <a:rPr lang="en-US" altLang="zh-CN" sz="2400" dirty="0"/>
              <a:t> Div(</a:t>
            </a:r>
            <a:r>
              <a:rPr lang="en-US" altLang="zh-CN" sz="2400" dirty="0">
                <a:solidFill>
                  <a:srgbClr val="0000FF"/>
                </a:solidFill>
              </a:rPr>
              <a:t>int</a:t>
            </a:r>
            <a:r>
              <a:rPr lang="en-US" altLang="zh-CN" sz="2400" dirty="0"/>
              <a:t> a, </a:t>
            </a:r>
            <a:r>
              <a:rPr lang="en-US" altLang="zh-CN" sz="2400" dirty="0">
                <a:solidFill>
                  <a:srgbClr val="0000FF"/>
                </a:solidFill>
              </a:rPr>
              <a:t>int</a:t>
            </a:r>
            <a:r>
              <a:rPr lang="en-US" altLang="zh-CN" sz="2400" dirty="0"/>
              <a:t> b) </a:t>
            </a:r>
            <a:r>
              <a:rPr lang="en-US" altLang="zh-CN" sz="2400" dirty="0">
                <a:solidFill>
                  <a:srgbClr val="0000FF"/>
                </a:solidFill>
              </a:rPr>
              <a:t>throw</a:t>
            </a:r>
            <a:r>
              <a:rPr lang="en-US" altLang="zh-CN" sz="2400" dirty="0"/>
              <a:t>(</a:t>
            </a:r>
            <a:r>
              <a:rPr lang="en-US" altLang="zh-CN" sz="2400" dirty="0">
                <a:solidFill>
                  <a:srgbClr val="0000FF"/>
                </a:solidFill>
              </a:rPr>
              <a:t>char</a:t>
            </a:r>
            <a:r>
              <a:rPr lang="en-US" altLang="zh-CN" sz="2400" dirty="0"/>
              <a:t>)	  </a:t>
            </a:r>
            <a:r>
              <a:rPr lang="en-US" altLang="zh-CN" sz="2400" dirty="0">
                <a:solidFill>
                  <a:srgbClr val="990000"/>
                </a:solidFill>
              </a:rPr>
              <a:t>// </a:t>
            </a:r>
            <a:r>
              <a:rPr lang="zh-CN" altLang="en-US" sz="2400" dirty="0">
                <a:solidFill>
                  <a:srgbClr val="990000"/>
                </a:solidFill>
              </a:rPr>
              <a:t>函数定义 </a:t>
            </a:r>
            <a:br>
              <a:rPr lang="zh-CN" altLang="en-US" sz="2400" dirty="0"/>
            </a:br>
            <a:r>
              <a:rPr lang="zh-CN" altLang="en-US" sz="2400" dirty="0"/>
              <a:t> </a:t>
            </a:r>
            <a:r>
              <a:rPr lang="en-US" altLang="zh-CN" sz="2400" dirty="0"/>
              <a:t>{</a:t>
            </a:r>
            <a:br>
              <a:rPr lang="en-US" altLang="zh-CN" sz="2400" dirty="0"/>
            </a:br>
            <a:r>
              <a:rPr lang="en-US" altLang="zh-CN" sz="2400" dirty="0"/>
              <a:t>    </a:t>
            </a:r>
            <a:r>
              <a:rPr lang="en-US" altLang="zh-CN" sz="2400" dirty="0">
                <a:solidFill>
                  <a:srgbClr val="0000FF"/>
                </a:solidFill>
              </a:rPr>
              <a:t>if</a:t>
            </a:r>
            <a:r>
              <a:rPr lang="en-US" altLang="zh-CN" sz="2400" dirty="0"/>
              <a:t>(b==0) </a:t>
            </a:r>
            <a:r>
              <a:rPr lang="en-US" altLang="zh-CN" sz="2400" dirty="0">
                <a:solidFill>
                  <a:srgbClr val="0000FF"/>
                </a:solidFill>
              </a:rPr>
              <a:t>throw</a:t>
            </a:r>
            <a:r>
              <a:rPr lang="en-US" altLang="zh-CN" sz="2400" dirty="0"/>
              <a:t>(</a:t>
            </a:r>
            <a:r>
              <a:rPr lang="en-US" altLang="zh-CN" sz="2400" dirty="0">
                <a:solidFill>
                  <a:srgbClr val="0000FF"/>
                </a:solidFill>
              </a:rPr>
              <a:t>char</a:t>
            </a:r>
            <a:r>
              <a:rPr lang="en-US" altLang="zh-CN" sz="2400" dirty="0"/>
              <a:t>)0; </a:t>
            </a:r>
            <a:r>
              <a:rPr lang="en-US" altLang="zh-CN" sz="2400" dirty="0">
                <a:solidFill>
                  <a:srgbClr val="990000"/>
                </a:solidFill>
              </a:rPr>
              <a:t>// </a:t>
            </a:r>
            <a:r>
              <a:rPr lang="zh-CN" altLang="en-US" sz="2400" dirty="0">
                <a:solidFill>
                  <a:srgbClr val="990000"/>
                </a:solidFill>
              </a:rPr>
              <a:t>在可以预料时抛掷异常 </a:t>
            </a:r>
            <a:br>
              <a:rPr lang="zh-CN" altLang="en-US" sz="2400" dirty="0"/>
            </a:br>
            <a:r>
              <a:rPr lang="zh-CN" altLang="en-US" sz="2400" dirty="0"/>
              <a:t>    </a:t>
            </a:r>
            <a:r>
              <a:rPr lang="en-US" altLang="zh-CN" sz="2400" dirty="0">
                <a:solidFill>
                  <a:srgbClr val="0000FF"/>
                </a:solidFill>
              </a:rPr>
              <a:t>return</a:t>
            </a:r>
            <a:r>
              <a:rPr lang="en-US" altLang="zh-CN" sz="2400" dirty="0"/>
              <a:t> a/b;</a:t>
            </a:r>
            <a:br>
              <a:rPr lang="en-US" altLang="zh-CN" sz="2400" dirty="0"/>
            </a:br>
            <a:r>
              <a:rPr lang="en-US" altLang="zh-CN" sz="24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76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76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761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76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p:bldP spid="367620"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15.2.1 </a:t>
            </a:r>
            <a:r>
              <a:rPr lang="zh-CN" altLang="en-US" dirty="0"/>
              <a:t> 抛掷异常</a:t>
            </a:r>
          </a:p>
        </p:txBody>
      </p:sp>
      <p:sp>
        <p:nvSpPr>
          <p:cNvPr id="368643" name="Rectangle 3"/>
          <p:cNvSpPr>
            <a:spLocks noGrp="1"/>
          </p:cNvSpPr>
          <p:nvPr>
            <p:ph idx="1"/>
          </p:nvPr>
        </p:nvSpPr>
        <p:spPr>
          <a:xfrm>
            <a:off x="304800" y="4191000"/>
            <a:ext cx="8610600" cy="2362200"/>
          </a:xfrm>
          <a:ln/>
        </p:spPr>
        <p:txBody>
          <a:bodyPr vert="horz" wrap="square" lIns="18000" tIns="45720" rIns="91440" bIns="45720" anchor="t" anchorCtr="0"/>
          <a:lstStyle/>
          <a:p>
            <a:pPr eaLnBrk="1" hangingPunct="1"/>
            <a:r>
              <a:rPr lang="zh-CN" altLang="en-US" dirty="0"/>
              <a:t>其中，</a:t>
            </a:r>
            <a:r>
              <a:rPr lang="en-US" altLang="zh-CN" dirty="0"/>
              <a:t>b==0</a:t>
            </a:r>
            <a:r>
              <a:rPr lang="zh-CN" altLang="en-US" dirty="0"/>
              <a:t>成立时为了避免错误而抛掷一个</a:t>
            </a:r>
            <a:r>
              <a:rPr lang="en-US" altLang="zh-CN" dirty="0">
                <a:solidFill>
                  <a:srgbClr val="0000FF"/>
                </a:solidFill>
              </a:rPr>
              <a:t>char</a:t>
            </a:r>
            <a:r>
              <a:rPr lang="zh-CN" altLang="en-US" dirty="0"/>
              <a:t>型异常；</a:t>
            </a:r>
          </a:p>
          <a:p>
            <a:pPr eaLnBrk="1" hangingPunct="1"/>
            <a:r>
              <a:rPr lang="zh-CN" altLang="en-US" dirty="0"/>
              <a:t>而</a:t>
            </a:r>
            <a:r>
              <a:rPr lang="en-US" altLang="zh-CN" dirty="0"/>
              <a:t>a%b!=0</a:t>
            </a:r>
            <a:r>
              <a:rPr lang="zh-CN" altLang="en-US" dirty="0"/>
              <a:t>成立时则是为了回避一种特定的状态（不是错误），此处约定抛掷一个</a:t>
            </a:r>
            <a:r>
              <a:rPr lang="en-US" altLang="zh-CN" dirty="0">
                <a:solidFill>
                  <a:srgbClr val="0000FF"/>
                </a:solidFill>
              </a:rPr>
              <a:t>double</a:t>
            </a:r>
            <a:r>
              <a:rPr lang="zh-CN" altLang="en-US" dirty="0"/>
              <a:t>型的异常。</a:t>
            </a:r>
          </a:p>
        </p:txBody>
      </p:sp>
      <p:sp>
        <p:nvSpPr>
          <p:cNvPr id="368644" name="Text Box 4"/>
          <p:cNvSpPr txBox="1"/>
          <p:nvPr/>
        </p:nvSpPr>
        <p:spPr>
          <a:xfrm>
            <a:off x="76200" y="1219200"/>
            <a:ext cx="8991600" cy="2743200"/>
          </a:xfrm>
          <a:prstGeom prst="rect">
            <a:avLst/>
          </a:prstGeom>
          <a:solidFill>
            <a:schemeClr val="bg1"/>
          </a:solidFill>
          <a:ln w="28575" cap="flat" cmpd="sng">
            <a:solidFill>
              <a:schemeClr val="tx2"/>
            </a:solidFill>
            <a:prstDash val="solid"/>
            <a:miter/>
            <a:headEnd type="none" w="med" len="med"/>
            <a:tailEnd type="none" w="med" len="med"/>
          </a:ln>
        </p:spPr>
        <p:txBody>
          <a:bodyPr wrap="none" lIns="72000" tIns="72000" rIns="72000" bIns="7200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buClrTx/>
              <a:buFontTx/>
              <a:buNone/>
            </a:pPr>
            <a:r>
              <a:rPr lang="en-US" altLang="zh-CN" sz="2400" dirty="0"/>
              <a:t> </a:t>
            </a:r>
            <a:r>
              <a:rPr lang="en-US" altLang="zh-CN" sz="2400" dirty="0">
                <a:solidFill>
                  <a:srgbClr val="0000FF"/>
                </a:solidFill>
              </a:rPr>
              <a:t>int</a:t>
            </a:r>
            <a:r>
              <a:rPr lang="en-US" altLang="zh-CN" sz="2400" dirty="0"/>
              <a:t> Div(</a:t>
            </a:r>
            <a:r>
              <a:rPr lang="en-US" altLang="zh-CN" sz="2400" dirty="0">
                <a:solidFill>
                  <a:srgbClr val="0000FF"/>
                </a:solidFill>
              </a:rPr>
              <a:t>int</a:t>
            </a:r>
            <a:r>
              <a:rPr lang="en-US" altLang="zh-CN" sz="2400" dirty="0"/>
              <a:t> a, </a:t>
            </a:r>
            <a:r>
              <a:rPr lang="en-US" altLang="zh-CN" sz="2400" dirty="0">
                <a:solidFill>
                  <a:srgbClr val="0000FF"/>
                </a:solidFill>
              </a:rPr>
              <a:t>int</a:t>
            </a:r>
            <a:r>
              <a:rPr lang="en-US" altLang="zh-CN" sz="2400" dirty="0"/>
              <a:t> b) </a:t>
            </a:r>
            <a:r>
              <a:rPr lang="en-US" altLang="zh-CN" sz="2400" dirty="0">
                <a:solidFill>
                  <a:srgbClr val="0000FF"/>
                </a:solidFill>
              </a:rPr>
              <a:t>throw</a:t>
            </a:r>
            <a:r>
              <a:rPr lang="en-US" altLang="zh-CN" sz="2400" dirty="0"/>
              <a:t>(</a:t>
            </a:r>
            <a:r>
              <a:rPr lang="en-US" altLang="zh-CN" sz="2400" dirty="0">
                <a:solidFill>
                  <a:srgbClr val="0000FF"/>
                </a:solidFill>
              </a:rPr>
              <a:t>char</a:t>
            </a:r>
            <a:r>
              <a:rPr lang="en-US" altLang="zh-CN" sz="2400" dirty="0"/>
              <a:t>, </a:t>
            </a:r>
            <a:r>
              <a:rPr lang="en-US" altLang="zh-CN" sz="2400" dirty="0">
                <a:solidFill>
                  <a:srgbClr val="0000FF"/>
                </a:solidFill>
              </a:rPr>
              <a:t>double</a:t>
            </a:r>
            <a:r>
              <a:rPr lang="en-US" altLang="zh-CN" sz="2400" dirty="0"/>
              <a:t>);</a:t>
            </a:r>
            <a:endParaRPr lang="zh-CN" altLang="en-US" sz="2400" dirty="0"/>
          </a:p>
          <a:p>
            <a:pPr marL="0" lvl="0" indent="0" eaLnBrk="1" hangingPunct="1">
              <a:lnSpc>
                <a:spcPct val="95000"/>
              </a:lnSpc>
              <a:buClrTx/>
              <a:buFontTx/>
              <a:buNone/>
            </a:pPr>
            <a:r>
              <a:rPr lang="en-US" altLang="zh-CN" sz="2400" dirty="0"/>
              <a:t> </a:t>
            </a:r>
            <a:r>
              <a:rPr lang="en-US" altLang="zh-CN" sz="2400" dirty="0">
                <a:solidFill>
                  <a:srgbClr val="0000FF"/>
                </a:solidFill>
              </a:rPr>
              <a:t>int</a:t>
            </a:r>
            <a:r>
              <a:rPr lang="en-US" altLang="zh-CN" sz="2400" dirty="0"/>
              <a:t> Div(</a:t>
            </a:r>
            <a:r>
              <a:rPr lang="en-US" altLang="zh-CN" sz="2400" dirty="0">
                <a:solidFill>
                  <a:srgbClr val="0000FF"/>
                </a:solidFill>
              </a:rPr>
              <a:t>int</a:t>
            </a:r>
            <a:r>
              <a:rPr lang="en-US" altLang="zh-CN" sz="2400" dirty="0"/>
              <a:t> a, </a:t>
            </a:r>
            <a:r>
              <a:rPr lang="en-US" altLang="zh-CN" sz="2400" dirty="0">
                <a:solidFill>
                  <a:srgbClr val="0000FF"/>
                </a:solidFill>
              </a:rPr>
              <a:t>int</a:t>
            </a:r>
            <a:r>
              <a:rPr lang="en-US" altLang="zh-CN" sz="2400" dirty="0"/>
              <a:t> b) </a:t>
            </a:r>
            <a:r>
              <a:rPr lang="en-US" altLang="zh-CN" sz="2400" dirty="0">
                <a:solidFill>
                  <a:srgbClr val="0000FF"/>
                </a:solidFill>
              </a:rPr>
              <a:t>throw</a:t>
            </a:r>
            <a:r>
              <a:rPr lang="en-US" altLang="zh-CN" sz="2400" dirty="0"/>
              <a:t>(</a:t>
            </a:r>
            <a:r>
              <a:rPr lang="en-US" altLang="zh-CN" sz="2400" dirty="0">
                <a:solidFill>
                  <a:srgbClr val="0000FF"/>
                </a:solidFill>
              </a:rPr>
              <a:t>char</a:t>
            </a:r>
            <a:r>
              <a:rPr lang="en-US" altLang="zh-CN" sz="2400" dirty="0"/>
              <a:t>, </a:t>
            </a:r>
            <a:r>
              <a:rPr lang="en-US" altLang="zh-CN" sz="2400" dirty="0">
                <a:solidFill>
                  <a:srgbClr val="0000FF"/>
                </a:solidFill>
              </a:rPr>
              <a:t>double</a:t>
            </a:r>
            <a:r>
              <a:rPr lang="en-US" altLang="zh-CN" sz="2400" dirty="0"/>
              <a:t>)</a:t>
            </a:r>
            <a:br>
              <a:rPr lang="en-US" altLang="zh-CN" sz="2400" dirty="0"/>
            </a:br>
            <a:r>
              <a:rPr lang="en-US" altLang="zh-CN" sz="2400" dirty="0"/>
              <a:t> {</a:t>
            </a:r>
            <a:br>
              <a:rPr lang="en-US" altLang="zh-CN" sz="2400" dirty="0"/>
            </a:br>
            <a:r>
              <a:rPr lang="en-US" altLang="zh-CN" sz="2400" dirty="0"/>
              <a:t>    </a:t>
            </a:r>
            <a:r>
              <a:rPr lang="en-US" altLang="zh-CN" sz="2400" dirty="0">
                <a:solidFill>
                  <a:srgbClr val="0000FF"/>
                </a:solidFill>
              </a:rPr>
              <a:t>if</a:t>
            </a:r>
            <a:r>
              <a:rPr lang="en-US" altLang="zh-CN" sz="2400" dirty="0"/>
              <a:t>(b==0) </a:t>
            </a:r>
            <a:r>
              <a:rPr lang="en-US" altLang="zh-CN" sz="2400" dirty="0">
                <a:solidFill>
                  <a:srgbClr val="0000FF"/>
                </a:solidFill>
              </a:rPr>
              <a:t>throw</a:t>
            </a:r>
            <a:r>
              <a:rPr lang="en-US" altLang="zh-CN" sz="2400" dirty="0"/>
              <a:t>(</a:t>
            </a:r>
            <a:r>
              <a:rPr lang="en-US" altLang="zh-CN" sz="2400" dirty="0">
                <a:solidFill>
                  <a:srgbClr val="0000FF"/>
                </a:solidFill>
              </a:rPr>
              <a:t>char</a:t>
            </a:r>
            <a:r>
              <a:rPr lang="en-US" altLang="zh-CN" sz="2400" dirty="0"/>
              <a:t>)0;		</a:t>
            </a:r>
            <a:r>
              <a:rPr lang="en-US" altLang="zh-CN" sz="2000" dirty="0">
                <a:solidFill>
                  <a:srgbClr val="990000"/>
                </a:solidFill>
              </a:rPr>
              <a:t>// </a:t>
            </a:r>
            <a:r>
              <a:rPr lang="zh-CN" altLang="en-US" sz="2000" dirty="0">
                <a:solidFill>
                  <a:srgbClr val="990000"/>
                </a:solidFill>
              </a:rPr>
              <a:t>除数为</a:t>
            </a:r>
            <a:r>
              <a:rPr lang="en-US" altLang="zh-CN" sz="2000" dirty="0">
                <a:solidFill>
                  <a:srgbClr val="990000"/>
                </a:solidFill>
              </a:rPr>
              <a:t>0</a:t>
            </a:r>
            <a:r>
              <a:rPr lang="zh-CN" altLang="en-US" sz="2000" dirty="0">
                <a:solidFill>
                  <a:srgbClr val="990000"/>
                </a:solidFill>
              </a:rPr>
              <a:t>时 </a:t>
            </a:r>
            <a:br>
              <a:rPr lang="zh-CN" altLang="en-US" sz="2400" dirty="0"/>
            </a:br>
            <a:r>
              <a:rPr lang="zh-CN" altLang="en-US" sz="2400" dirty="0"/>
              <a:t>    </a:t>
            </a:r>
            <a:r>
              <a:rPr lang="en-US" altLang="zh-CN" sz="2400" dirty="0">
                <a:solidFill>
                  <a:srgbClr val="0000FF"/>
                </a:solidFill>
              </a:rPr>
              <a:t>if</a:t>
            </a:r>
            <a:r>
              <a:rPr lang="en-US" altLang="zh-CN" sz="2400" dirty="0"/>
              <a:t>(a%b!=0) </a:t>
            </a:r>
            <a:r>
              <a:rPr lang="en-US" altLang="zh-CN" sz="2400" dirty="0">
                <a:solidFill>
                  <a:srgbClr val="0000FF"/>
                </a:solidFill>
              </a:rPr>
              <a:t>throw</a:t>
            </a:r>
            <a:r>
              <a:rPr lang="en-US" altLang="zh-CN" sz="2400" dirty="0"/>
              <a:t>(</a:t>
            </a:r>
            <a:r>
              <a:rPr lang="en-US" altLang="zh-CN" sz="2400" dirty="0">
                <a:solidFill>
                  <a:srgbClr val="0000FF"/>
                </a:solidFill>
              </a:rPr>
              <a:t>double</a:t>
            </a:r>
            <a:r>
              <a:rPr lang="en-US" altLang="zh-CN" sz="2400" dirty="0"/>
              <a:t>)b;		</a:t>
            </a:r>
            <a:r>
              <a:rPr lang="en-US" altLang="zh-CN" sz="2000" dirty="0">
                <a:solidFill>
                  <a:srgbClr val="990000"/>
                </a:solidFill>
              </a:rPr>
              <a:t>// </a:t>
            </a:r>
            <a:r>
              <a:rPr lang="zh-CN" altLang="en-US" sz="2000" dirty="0">
                <a:solidFill>
                  <a:srgbClr val="990000"/>
                </a:solidFill>
              </a:rPr>
              <a:t>除不尽时 </a:t>
            </a:r>
            <a:br>
              <a:rPr lang="zh-CN" altLang="en-US" sz="2400" dirty="0"/>
            </a:br>
            <a:r>
              <a:rPr lang="zh-CN" altLang="en-US" sz="2400" dirty="0"/>
              <a:t>    </a:t>
            </a:r>
            <a:r>
              <a:rPr lang="en-US" altLang="zh-CN" sz="2400" dirty="0">
                <a:solidFill>
                  <a:srgbClr val="0000FF"/>
                </a:solidFill>
              </a:rPr>
              <a:t>return</a:t>
            </a:r>
            <a:r>
              <a:rPr lang="en-US" altLang="zh-CN" sz="2400" dirty="0"/>
              <a:t> a/b;</a:t>
            </a:r>
            <a:br>
              <a:rPr lang="en-US" altLang="zh-CN" sz="2400" dirty="0"/>
            </a:br>
            <a:r>
              <a:rPr lang="en-US" altLang="zh-CN" sz="24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86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64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86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p:bldP spid="36864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15.2.1 </a:t>
            </a:r>
            <a:r>
              <a:rPr lang="zh-CN" altLang="en-US" dirty="0"/>
              <a:t> 抛掷异常</a:t>
            </a:r>
          </a:p>
        </p:txBody>
      </p:sp>
      <p:sp>
        <p:nvSpPr>
          <p:cNvPr id="369667" name="Rectangle 3"/>
          <p:cNvSpPr>
            <a:spLocks noGrp="1"/>
          </p:cNvSpPr>
          <p:nvPr>
            <p:ph idx="1"/>
          </p:nvPr>
        </p:nvSpPr>
        <p:spPr>
          <a:ln/>
        </p:spPr>
        <p:txBody>
          <a:bodyPr vert="horz" wrap="square" lIns="18000" tIns="45720" rIns="91440" bIns="45720" anchor="t" anchorCtr="0"/>
          <a:lstStyle/>
          <a:p>
            <a:pPr eaLnBrk="1" hangingPunct="1"/>
            <a:r>
              <a:rPr lang="zh-CN" altLang="en-US" dirty="0"/>
              <a:t>要求函数自己处理异常的确是</a:t>
            </a:r>
            <a:r>
              <a:rPr lang="zh-CN" altLang="en-US" dirty="0">
                <a:latin typeface="Times New Roman" panose="02020603050405020304" pitchFamily="18" charset="0"/>
              </a:rPr>
              <a:t>“强人所难” </a:t>
            </a:r>
            <a:r>
              <a:rPr lang="zh-CN" altLang="en-US" dirty="0"/>
              <a:t>。</a:t>
            </a:r>
          </a:p>
          <a:p>
            <a:pPr lvl="1" eaLnBrk="1" hangingPunct="1"/>
            <a:r>
              <a:rPr lang="zh-CN" altLang="en-US" dirty="0"/>
              <a:t>因为函数并不能擅自修改调用时所传入的参数值，而擅自变更任务内容。</a:t>
            </a:r>
          </a:p>
          <a:p>
            <a:pPr lvl="1" eaLnBrk="1" hangingPunct="1"/>
            <a:r>
              <a:rPr lang="zh-CN" altLang="en-US" dirty="0"/>
              <a:t>调用函数时所用的实际参数是由调用者或者更</a:t>
            </a:r>
            <a:r>
              <a:rPr lang="zh-CN" altLang="en-US" dirty="0">
                <a:latin typeface="Times New Roman" panose="02020603050405020304" pitchFamily="18" charset="0"/>
              </a:rPr>
              <a:t>“高层”</a:t>
            </a:r>
            <a:r>
              <a:rPr lang="zh-CN" altLang="en-US" dirty="0"/>
              <a:t>指定的，理应由它们进行处理。</a:t>
            </a:r>
          </a:p>
          <a:p>
            <a:pPr eaLnBrk="1" hangingPunct="1"/>
            <a:r>
              <a:rPr lang="zh-CN" altLang="en-US" dirty="0"/>
              <a:t>例如：打开文件的函数</a:t>
            </a:r>
          </a:p>
          <a:p>
            <a:pPr lvl="1" eaLnBrk="1" hangingPunct="1"/>
            <a:r>
              <a:rPr lang="zh-CN" altLang="en-US" dirty="0"/>
              <a:t> 	</a:t>
            </a:r>
            <a:r>
              <a:rPr lang="en-US" altLang="zh-CN" dirty="0">
                <a:solidFill>
                  <a:srgbClr val="0000FF"/>
                </a:solidFill>
              </a:rPr>
              <a:t>void</a:t>
            </a:r>
            <a:r>
              <a:rPr lang="en-US" altLang="zh-CN" dirty="0">
                <a:solidFill>
                  <a:schemeClr val="tx2"/>
                </a:solidFill>
              </a:rPr>
              <a:t> Open(</a:t>
            </a:r>
            <a:r>
              <a:rPr lang="en-US" altLang="zh-CN" dirty="0">
                <a:solidFill>
                  <a:srgbClr val="0000FF"/>
                </a:solidFill>
              </a:rPr>
              <a:t>char</a:t>
            </a:r>
            <a:r>
              <a:rPr lang="en-US" altLang="zh-CN" dirty="0">
                <a:solidFill>
                  <a:schemeClr val="tx2"/>
                </a:solidFill>
              </a:rPr>
              <a:t> *filename);</a:t>
            </a:r>
            <a:br>
              <a:rPr lang="en-US" altLang="zh-CN" dirty="0"/>
            </a:br>
            <a:r>
              <a:rPr lang="zh-CN" altLang="en-US" dirty="0"/>
              <a:t>当实参所指的文件不存在而无法打开时，显然，函数</a:t>
            </a:r>
            <a:r>
              <a:rPr lang="en-US" altLang="zh-CN" dirty="0"/>
              <a:t>Open</a:t>
            </a:r>
            <a:r>
              <a:rPr lang="zh-CN" altLang="en-US" dirty="0"/>
              <a:t>不能自作主张地随便打开另一个文件。</a:t>
            </a:r>
          </a:p>
          <a:p>
            <a:pPr eaLnBrk="1" hangingPunct="1"/>
            <a:r>
              <a:rPr lang="zh-CN" altLang="en-US" dirty="0"/>
              <a:t>当函数遇到自己无法完成的事情时，最好的处理方案是</a:t>
            </a:r>
            <a:r>
              <a:rPr lang="zh-CN" altLang="en-US" dirty="0">
                <a:latin typeface="Times New Roman" panose="02020603050405020304" pitchFamily="18" charset="0"/>
              </a:rPr>
              <a:t>“</a:t>
            </a:r>
            <a:r>
              <a:rPr lang="zh-CN" altLang="en-US" dirty="0">
                <a:solidFill>
                  <a:srgbClr val="990000"/>
                </a:solidFill>
                <a:latin typeface="微软雅黑" panose="020B0503020204020204" pitchFamily="34" charset="-122"/>
                <a:ea typeface="微软雅黑" panose="020B0503020204020204" pitchFamily="34" charset="-122"/>
              </a:rPr>
              <a:t>说明原因，上交矛盾</a:t>
            </a:r>
            <a:r>
              <a:rPr lang="zh-CN" altLang="en-US" dirty="0">
                <a:latin typeface="Times New Roman" panose="02020603050405020304" pitchFamily="18" charset="0"/>
              </a:rPr>
              <a:t>”</a:t>
            </a:r>
            <a:r>
              <a:rPr lang="zh-CN" altLang="en-US" dirty="0"/>
              <a:t>，由下达任务者另行处理 </a:t>
            </a:r>
            <a:r>
              <a:rPr lang="en-US" altLang="zh-CN" dirty="0"/>
              <a:t>——— </a:t>
            </a:r>
            <a:r>
              <a:rPr lang="zh-CN" altLang="en-US" dirty="0"/>
              <a:t>这就是</a:t>
            </a:r>
            <a:r>
              <a:rPr lang="en-US" altLang="zh-CN" dirty="0"/>
              <a:t>C++</a:t>
            </a:r>
            <a:r>
              <a:rPr lang="zh-CN" altLang="en-US" dirty="0"/>
              <a:t>异常处理的基本思想。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96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96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966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966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966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9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p:cNvSpPr>
          <p:nvPr>
            <p:ph type="title"/>
          </p:nvPr>
        </p:nvSpPr>
        <p:spPr>
          <a:ln/>
        </p:spPr>
        <p:txBody>
          <a:bodyPr vert="horz" wrap="square" lIns="91440" tIns="45720" rIns="91440" bIns="45720" anchor="ctr" anchorCtr="0">
            <a:spAutoFit/>
          </a:bodyPr>
          <a:lstStyle/>
          <a:p>
            <a:pPr eaLnBrk="1" hangingPunct="1"/>
            <a:r>
              <a:rPr lang="zh-CN" altLang="en-US" dirty="0"/>
              <a:t>例</a:t>
            </a:r>
            <a:r>
              <a:rPr lang="en-US" altLang="zh-CN" dirty="0"/>
              <a:t>15.2 </a:t>
            </a:r>
            <a:r>
              <a:rPr lang="zh-CN" altLang="en-US" dirty="0"/>
              <a:t>简单的异常处理 </a:t>
            </a:r>
          </a:p>
        </p:txBody>
      </p:sp>
      <p:sp>
        <p:nvSpPr>
          <p:cNvPr id="371716" name="Text Box 4"/>
          <p:cNvSpPr txBox="1"/>
          <p:nvPr/>
        </p:nvSpPr>
        <p:spPr>
          <a:xfrm>
            <a:off x="152400" y="1143000"/>
            <a:ext cx="8991600" cy="5549900"/>
          </a:xfrm>
          <a:prstGeom prst="rect">
            <a:avLst/>
          </a:prstGeom>
          <a:solidFill>
            <a:schemeClr val="bg1"/>
          </a:solidFill>
          <a:ln w="28575" cap="flat" cmpd="sng">
            <a:solidFill>
              <a:schemeClr val="tx2"/>
            </a:solidFill>
            <a:prstDash val="solid"/>
            <a:miter/>
            <a:headEnd type="none" w="med" len="med"/>
            <a:tailEnd type="none" w="med" len="med"/>
          </a:ln>
        </p:spPr>
        <p:txBody>
          <a:bodyPr wrap="none" lIns="72000" tIns="72000" rIns="72000" bIns="7200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lnSpc>
                <a:spcPct val="95000"/>
              </a:lnSpc>
              <a:spcBef>
                <a:spcPct val="10000"/>
              </a:spcBef>
              <a:buClrTx/>
              <a:buFontTx/>
              <a:buNone/>
            </a:pPr>
            <a:r>
              <a:rPr lang="en-US" altLang="zh-CN" sz="2400" dirty="0"/>
              <a:t> </a:t>
            </a:r>
            <a:r>
              <a:rPr lang="en-US" altLang="zh-CN" sz="2400" dirty="0">
                <a:solidFill>
                  <a:srgbClr val="990000"/>
                </a:solidFill>
              </a:rPr>
              <a:t>// </a:t>
            </a:r>
            <a:r>
              <a:rPr lang="zh-CN" altLang="en-US" sz="2400" dirty="0">
                <a:solidFill>
                  <a:srgbClr val="990000"/>
                </a:solidFill>
              </a:rPr>
              <a:t>简单的异常处理</a:t>
            </a:r>
            <a:r>
              <a:rPr lang="en-US" altLang="zh-CN" sz="2400" dirty="0">
                <a:solidFill>
                  <a:srgbClr val="990000"/>
                </a:solidFill>
              </a:rPr>
              <a:t>.cpp</a:t>
            </a:r>
          </a:p>
          <a:p>
            <a:pPr marL="0" lvl="0" indent="0" eaLnBrk="1" hangingPunct="1">
              <a:lnSpc>
                <a:spcPct val="95000"/>
              </a:lnSpc>
              <a:spcBef>
                <a:spcPct val="10000"/>
              </a:spcBef>
              <a:buClrTx/>
              <a:buFontTx/>
              <a:buNone/>
            </a:pPr>
            <a:r>
              <a:rPr lang="en-US" altLang="zh-CN" sz="2400" dirty="0"/>
              <a:t> #</a:t>
            </a:r>
            <a:r>
              <a:rPr lang="en-US" altLang="zh-CN" sz="2400" dirty="0">
                <a:solidFill>
                  <a:srgbClr val="0000FF"/>
                </a:solidFill>
              </a:rPr>
              <a:t>include</a:t>
            </a:r>
            <a:r>
              <a:rPr lang="en-US" altLang="zh-CN" sz="2400" dirty="0"/>
              <a:t> &lt;iostream&gt;</a:t>
            </a:r>
          </a:p>
          <a:p>
            <a:pPr marL="0" lvl="0" indent="0" eaLnBrk="1" hangingPunct="1">
              <a:lnSpc>
                <a:spcPct val="95000"/>
              </a:lnSpc>
              <a:spcBef>
                <a:spcPct val="10000"/>
              </a:spcBef>
              <a:buClrTx/>
              <a:buFontTx/>
              <a:buNone/>
            </a:pPr>
            <a:r>
              <a:rPr lang="en-US" altLang="zh-CN" sz="2400" dirty="0"/>
              <a:t> </a:t>
            </a:r>
            <a:r>
              <a:rPr lang="en-US" altLang="zh-CN" sz="2400" dirty="0">
                <a:solidFill>
                  <a:srgbClr val="0000FF"/>
                </a:solidFill>
              </a:rPr>
              <a:t>using</a:t>
            </a:r>
            <a:r>
              <a:rPr lang="en-US" altLang="zh-CN" sz="2400" dirty="0"/>
              <a:t> </a:t>
            </a:r>
            <a:r>
              <a:rPr lang="en-US" altLang="zh-CN" sz="2400" dirty="0">
                <a:solidFill>
                  <a:srgbClr val="0000FF"/>
                </a:solidFill>
              </a:rPr>
              <a:t>namespace</a:t>
            </a:r>
            <a:r>
              <a:rPr lang="en-US" altLang="zh-CN" sz="2400" dirty="0"/>
              <a:t> std;</a:t>
            </a:r>
          </a:p>
          <a:p>
            <a:pPr marL="0" lvl="0" indent="0" eaLnBrk="1" hangingPunct="1">
              <a:lnSpc>
                <a:spcPct val="95000"/>
              </a:lnSpc>
              <a:spcBef>
                <a:spcPct val="10000"/>
              </a:spcBef>
              <a:buClrTx/>
              <a:buFontTx/>
              <a:buNone/>
            </a:pPr>
            <a:r>
              <a:rPr lang="en-US" altLang="zh-CN" sz="2400" dirty="0"/>
              <a:t> </a:t>
            </a:r>
            <a:r>
              <a:rPr lang="en-US" altLang="zh-CN" sz="2400" dirty="0">
                <a:solidFill>
                  <a:srgbClr val="0000FF"/>
                </a:solidFill>
              </a:rPr>
              <a:t>int</a:t>
            </a:r>
            <a:r>
              <a:rPr lang="en-US" altLang="zh-CN" sz="2400" dirty="0"/>
              <a:t> Div(</a:t>
            </a:r>
            <a:r>
              <a:rPr lang="en-US" altLang="zh-CN" sz="2400" dirty="0">
                <a:solidFill>
                  <a:srgbClr val="0000FF"/>
                </a:solidFill>
              </a:rPr>
              <a:t>int</a:t>
            </a:r>
            <a:r>
              <a:rPr lang="en-US" altLang="zh-CN" sz="2400" dirty="0"/>
              <a:t> a, </a:t>
            </a:r>
            <a:r>
              <a:rPr lang="en-US" altLang="zh-CN" sz="2400" dirty="0">
                <a:solidFill>
                  <a:srgbClr val="0000FF"/>
                </a:solidFill>
              </a:rPr>
              <a:t>int</a:t>
            </a:r>
            <a:r>
              <a:rPr lang="en-US" altLang="zh-CN" sz="2400" dirty="0"/>
              <a:t> b) </a:t>
            </a:r>
            <a:r>
              <a:rPr lang="en-US" altLang="zh-CN" sz="2400" dirty="0">
                <a:solidFill>
                  <a:srgbClr val="0000FF"/>
                </a:solidFill>
              </a:rPr>
              <a:t>throw</a:t>
            </a:r>
            <a:r>
              <a:rPr lang="en-US" altLang="zh-CN" sz="2400" dirty="0"/>
              <a:t>(</a:t>
            </a:r>
            <a:r>
              <a:rPr lang="en-US" altLang="zh-CN" sz="2400" dirty="0">
                <a:solidFill>
                  <a:srgbClr val="0000FF"/>
                </a:solidFill>
              </a:rPr>
              <a:t>char</a:t>
            </a:r>
            <a:r>
              <a:rPr lang="en-US" altLang="zh-CN" sz="2400" dirty="0"/>
              <a:t>, </a:t>
            </a:r>
            <a:r>
              <a:rPr lang="en-US" altLang="zh-CN" sz="2400" dirty="0">
                <a:solidFill>
                  <a:srgbClr val="0000FF"/>
                </a:solidFill>
              </a:rPr>
              <a:t>double</a:t>
            </a:r>
            <a:r>
              <a:rPr lang="en-US" altLang="zh-CN" sz="2400" dirty="0"/>
              <a:t>)</a:t>
            </a:r>
          </a:p>
          <a:p>
            <a:pPr marL="0" lvl="0" indent="0" eaLnBrk="1" hangingPunct="1">
              <a:lnSpc>
                <a:spcPct val="95000"/>
              </a:lnSpc>
              <a:spcBef>
                <a:spcPct val="10000"/>
              </a:spcBef>
              <a:buClrTx/>
              <a:buFontTx/>
              <a:buNone/>
            </a:pPr>
            <a:r>
              <a:rPr lang="en-US" altLang="zh-CN" sz="2400" dirty="0"/>
              <a:t> {</a:t>
            </a:r>
          </a:p>
          <a:p>
            <a:pPr marL="0" lvl="0" indent="0" eaLnBrk="1" hangingPunct="1">
              <a:lnSpc>
                <a:spcPct val="95000"/>
              </a:lnSpc>
              <a:spcBef>
                <a:spcPct val="10000"/>
              </a:spcBef>
              <a:buClrTx/>
              <a:buFontTx/>
              <a:buNone/>
            </a:pPr>
            <a:r>
              <a:rPr lang="en-US" altLang="zh-CN" sz="2400" dirty="0"/>
              <a:t>    </a:t>
            </a:r>
            <a:r>
              <a:rPr lang="en-US" altLang="zh-CN" sz="2400" dirty="0">
                <a:solidFill>
                  <a:srgbClr val="0000FF"/>
                </a:solidFill>
              </a:rPr>
              <a:t>if</a:t>
            </a:r>
            <a:r>
              <a:rPr lang="en-US" altLang="zh-CN" sz="2400" dirty="0"/>
              <a:t>(b==0) </a:t>
            </a:r>
            <a:r>
              <a:rPr lang="en-US" altLang="zh-CN" sz="2400" dirty="0">
                <a:solidFill>
                  <a:srgbClr val="0000FF"/>
                </a:solidFill>
              </a:rPr>
              <a:t>throw</a:t>
            </a:r>
            <a:r>
              <a:rPr lang="en-US" altLang="zh-CN" sz="2400" dirty="0"/>
              <a:t> (</a:t>
            </a:r>
            <a:r>
              <a:rPr lang="en-US" altLang="zh-CN" sz="2400" dirty="0">
                <a:solidFill>
                  <a:srgbClr val="0000FF"/>
                </a:solidFill>
              </a:rPr>
              <a:t>char</a:t>
            </a:r>
            <a:r>
              <a:rPr lang="en-US" altLang="zh-CN" sz="2400" dirty="0"/>
              <a:t>)0;   </a:t>
            </a:r>
            <a:r>
              <a:rPr lang="en-US" altLang="zh-CN" sz="2400" dirty="0">
                <a:solidFill>
                  <a:srgbClr val="990000"/>
                </a:solidFill>
              </a:rPr>
              <a:t>// </a:t>
            </a:r>
            <a:r>
              <a:rPr lang="zh-CN" altLang="en-US" sz="2400" dirty="0">
                <a:solidFill>
                  <a:srgbClr val="990000"/>
                </a:solidFill>
              </a:rPr>
              <a:t>抛掷异常 </a:t>
            </a:r>
          </a:p>
          <a:p>
            <a:pPr marL="0" lvl="0" indent="0" eaLnBrk="1" hangingPunct="1">
              <a:lnSpc>
                <a:spcPct val="95000"/>
              </a:lnSpc>
              <a:spcBef>
                <a:spcPct val="10000"/>
              </a:spcBef>
              <a:buClrTx/>
              <a:buFontTx/>
              <a:buNone/>
            </a:pPr>
            <a:r>
              <a:rPr lang="zh-CN" altLang="en-US" sz="2400" dirty="0"/>
              <a:t>    </a:t>
            </a:r>
            <a:r>
              <a:rPr lang="en-US" altLang="zh-CN" sz="2400" dirty="0">
                <a:solidFill>
                  <a:srgbClr val="0000FF"/>
                </a:solidFill>
              </a:rPr>
              <a:t>if</a:t>
            </a:r>
            <a:r>
              <a:rPr lang="en-US" altLang="zh-CN" sz="2400" dirty="0"/>
              <a:t>(a%b) </a:t>
            </a:r>
            <a:r>
              <a:rPr lang="en-US" altLang="zh-CN" sz="2400" dirty="0">
                <a:solidFill>
                  <a:srgbClr val="0000FF"/>
                </a:solidFill>
              </a:rPr>
              <a:t>throw</a:t>
            </a:r>
            <a:r>
              <a:rPr lang="en-US" altLang="zh-CN" sz="2400" dirty="0"/>
              <a:t> (</a:t>
            </a:r>
            <a:r>
              <a:rPr lang="en-US" altLang="zh-CN" sz="2400" dirty="0">
                <a:solidFill>
                  <a:srgbClr val="0000FF"/>
                </a:solidFill>
              </a:rPr>
              <a:t>double</a:t>
            </a:r>
            <a:r>
              <a:rPr lang="en-US" altLang="zh-CN" sz="2400" dirty="0"/>
              <a:t>)b;  </a:t>
            </a:r>
            <a:r>
              <a:rPr lang="en-US" altLang="zh-CN" sz="2400" dirty="0">
                <a:solidFill>
                  <a:srgbClr val="990000"/>
                </a:solidFill>
              </a:rPr>
              <a:t>// </a:t>
            </a:r>
            <a:r>
              <a:rPr lang="zh-CN" altLang="en-US" sz="2400" dirty="0">
                <a:solidFill>
                  <a:srgbClr val="990000"/>
                </a:solidFill>
              </a:rPr>
              <a:t>抛掷异常 </a:t>
            </a:r>
          </a:p>
          <a:p>
            <a:pPr marL="0" lvl="0" indent="0" eaLnBrk="1" hangingPunct="1">
              <a:lnSpc>
                <a:spcPct val="95000"/>
              </a:lnSpc>
              <a:spcBef>
                <a:spcPct val="10000"/>
              </a:spcBef>
              <a:buClrTx/>
              <a:buFontTx/>
              <a:buNone/>
            </a:pPr>
            <a:r>
              <a:rPr lang="zh-CN" altLang="en-US" sz="2400" dirty="0"/>
              <a:t>    </a:t>
            </a:r>
            <a:r>
              <a:rPr lang="en-US" altLang="zh-CN" sz="2400" dirty="0">
                <a:solidFill>
                  <a:srgbClr val="0000FF"/>
                </a:solidFill>
              </a:rPr>
              <a:t>return</a:t>
            </a:r>
            <a:r>
              <a:rPr lang="en-US" altLang="zh-CN" sz="2400" dirty="0"/>
              <a:t> a/b;</a:t>
            </a:r>
          </a:p>
          <a:p>
            <a:pPr marL="0" lvl="0" indent="0" eaLnBrk="1" hangingPunct="1">
              <a:lnSpc>
                <a:spcPct val="95000"/>
              </a:lnSpc>
              <a:spcBef>
                <a:spcPct val="10000"/>
              </a:spcBef>
              <a:buClrTx/>
              <a:buFontTx/>
              <a:buNone/>
            </a:pPr>
            <a:r>
              <a:rPr lang="en-US" altLang="zh-CN" sz="2400" dirty="0"/>
              <a:t> }</a:t>
            </a:r>
          </a:p>
          <a:p>
            <a:pPr marL="0" lvl="0" indent="0" eaLnBrk="1" hangingPunct="1">
              <a:lnSpc>
                <a:spcPct val="95000"/>
              </a:lnSpc>
              <a:spcBef>
                <a:spcPct val="10000"/>
              </a:spcBef>
              <a:buClrTx/>
              <a:buFontTx/>
              <a:buNone/>
            </a:pPr>
            <a:r>
              <a:rPr lang="en-US" altLang="zh-CN" sz="2400" dirty="0"/>
              <a:t> </a:t>
            </a:r>
            <a:r>
              <a:rPr lang="en-US" altLang="zh-CN" sz="2400" dirty="0">
                <a:solidFill>
                  <a:srgbClr val="0000FF"/>
                </a:solidFill>
              </a:rPr>
              <a:t>int</a:t>
            </a:r>
            <a:r>
              <a:rPr lang="en-US" altLang="zh-CN" sz="2400" dirty="0"/>
              <a:t> main()</a:t>
            </a:r>
          </a:p>
          <a:p>
            <a:pPr marL="0" lvl="0" indent="0" eaLnBrk="1" hangingPunct="1">
              <a:lnSpc>
                <a:spcPct val="95000"/>
              </a:lnSpc>
              <a:spcBef>
                <a:spcPct val="10000"/>
              </a:spcBef>
              <a:buClrTx/>
              <a:buFontTx/>
              <a:buNone/>
            </a:pPr>
            <a:r>
              <a:rPr lang="en-US" altLang="zh-CN" sz="2400" dirty="0"/>
              <a:t> {</a:t>
            </a:r>
          </a:p>
          <a:p>
            <a:pPr marL="0" lvl="0" indent="0" eaLnBrk="1" hangingPunct="1">
              <a:lnSpc>
                <a:spcPct val="95000"/>
              </a:lnSpc>
              <a:spcBef>
                <a:spcPct val="10000"/>
              </a:spcBef>
              <a:buClrTx/>
              <a:buFontTx/>
              <a:buNone/>
            </a:pPr>
            <a:r>
              <a:rPr lang="en-US" altLang="zh-CN" sz="2400" dirty="0"/>
              <a:t>    </a:t>
            </a:r>
            <a:r>
              <a:rPr lang="en-US" altLang="zh-CN" sz="2400" dirty="0">
                <a:solidFill>
                  <a:srgbClr val="0000FF"/>
                </a:solidFill>
              </a:rPr>
              <a:t>int</a:t>
            </a:r>
            <a:r>
              <a:rPr lang="en-US" altLang="zh-CN" sz="2400" dirty="0"/>
              <a:t> x[5] = {10, 10, 8, 6, 4};</a:t>
            </a:r>
          </a:p>
          <a:p>
            <a:pPr marL="0" lvl="0" indent="0" eaLnBrk="1" hangingPunct="1">
              <a:lnSpc>
                <a:spcPct val="95000"/>
              </a:lnSpc>
              <a:spcBef>
                <a:spcPct val="10000"/>
              </a:spcBef>
              <a:buClrTx/>
              <a:buFontTx/>
              <a:buNone/>
            </a:pPr>
            <a:r>
              <a:rPr lang="en-US" altLang="zh-CN" sz="2400" dirty="0"/>
              <a:t>    </a:t>
            </a:r>
            <a:r>
              <a:rPr lang="en-US" altLang="zh-CN" sz="2400" dirty="0">
                <a:solidFill>
                  <a:srgbClr val="0000FF"/>
                </a:solidFill>
              </a:rPr>
              <a:t>int</a:t>
            </a:r>
            <a:r>
              <a:rPr lang="en-US" altLang="zh-CN" sz="2400" dirty="0"/>
              <a:t> y[5] = { 5,  3, 0, 2, 0};</a:t>
            </a:r>
          </a:p>
          <a:p>
            <a:pPr marL="0" lvl="0" indent="0" eaLnBrk="1" hangingPunct="1">
              <a:lnSpc>
                <a:spcPct val="95000"/>
              </a:lnSpc>
              <a:spcBef>
                <a:spcPct val="10000"/>
              </a:spcBef>
              <a:buClrTx/>
              <a:buFontTx/>
              <a:buNone/>
            </a:pPr>
            <a:r>
              <a:rPr lang="en-US" altLang="zh-CN" sz="2400" dirty="0"/>
              <a:t>    </a:t>
            </a:r>
            <a:r>
              <a:rPr lang="en-US" altLang="zh-CN" sz="2400" dirty="0">
                <a:solidFill>
                  <a:srgbClr val="0000FF"/>
                </a:solidFill>
              </a:rPr>
              <a:t>int</a:t>
            </a:r>
            <a:r>
              <a:rPr lang="en-US" altLang="zh-CN" sz="2400" dirty="0"/>
              <a:t> n=0, i, z;</a:t>
            </a:r>
          </a:p>
        </p:txBody>
      </p:sp>
      <p:sp>
        <p:nvSpPr>
          <p:cNvPr id="371717" name="AutoShape 5"/>
          <p:cNvSpPr/>
          <p:nvPr/>
        </p:nvSpPr>
        <p:spPr>
          <a:xfrm>
            <a:off x="5097463" y="4448175"/>
            <a:ext cx="3295650" cy="511175"/>
          </a:xfrm>
          <a:prstGeom prst="wedgeRoundRectCallout">
            <a:avLst>
              <a:gd name="adj1" fmla="val -34551"/>
              <a:gd name="adj2" fmla="val 146296"/>
              <a:gd name="adj3" fmla="val 16667"/>
            </a:avLst>
          </a:prstGeom>
          <a:solidFill>
            <a:schemeClr val="bg1"/>
          </a:solidFill>
          <a:ln w="28575" cap="flat" cmpd="sng">
            <a:solidFill>
              <a:srgbClr val="9900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algn="ctr" eaLnBrk="1" hangingPunct="1">
              <a:spcBef>
                <a:spcPct val="0"/>
              </a:spcBef>
              <a:buClrTx/>
              <a:buFontTx/>
              <a:buNone/>
            </a:pPr>
            <a:r>
              <a:rPr lang="zh-CN" altLang="en-US" sz="2400" dirty="0">
                <a:solidFill>
                  <a:schemeClr val="tx1"/>
                </a:solidFill>
              </a:rPr>
              <a:t>准备计算</a:t>
            </a:r>
            <a:r>
              <a:rPr lang="en-US" altLang="zh-CN" sz="2400" dirty="0">
                <a:solidFill>
                  <a:schemeClr val="tx1"/>
                </a:solidFill>
              </a:rPr>
              <a:t>x[i]/y[i]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717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171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171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171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171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171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1716">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1716">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171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1716">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1716">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1716">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1716">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1716">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17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6" grpId="0" build="p"/>
      <p:bldP spid="371717"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0452" name="Text Box 4"/>
          <p:cNvSpPr txBox="1"/>
          <p:nvPr/>
        </p:nvSpPr>
        <p:spPr>
          <a:xfrm>
            <a:off x="76200" y="76200"/>
            <a:ext cx="8991600" cy="6769100"/>
          </a:xfrm>
          <a:prstGeom prst="rect">
            <a:avLst/>
          </a:prstGeom>
          <a:solidFill>
            <a:schemeClr val="bg1"/>
          </a:solidFill>
          <a:ln w="28575" cap="flat" cmpd="sng">
            <a:solidFill>
              <a:schemeClr val="tx2"/>
            </a:solidFill>
            <a:prstDash val="solid"/>
            <a:miter/>
            <a:headEnd type="none" w="med" len="med"/>
            <a:tailEnd type="none" w="med" len="med"/>
          </a:ln>
        </p:spPr>
        <p:txBody>
          <a:bodyPr wrap="none" lIns="72000" tIns="72000" rIns="72000" bIns="7200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lnSpc>
                <a:spcPct val="75000"/>
              </a:lnSpc>
              <a:spcBef>
                <a:spcPct val="0"/>
              </a:spcBef>
              <a:buClrTx/>
              <a:buFontTx/>
              <a:buNone/>
            </a:pPr>
            <a:r>
              <a:rPr lang="en-US" altLang="zh-CN" sz="2400" dirty="0"/>
              <a:t>  </a:t>
            </a:r>
            <a:r>
              <a:rPr lang="en-US" altLang="zh-CN" sz="2400" dirty="0">
                <a:solidFill>
                  <a:srgbClr val="0000FF"/>
                </a:solidFill>
              </a:rPr>
              <a:t>for</a:t>
            </a:r>
            <a:r>
              <a:rPr lang="en-US" altLang="zh-CN" sz="2400" dirty="0"/>
              <a:t>(i=0; i&lt;5; i++)</a:t>
            </a:r>
            <a:br>
              <a:rPr lang="en-US" altLang="zh-CN" sz="2400" dirty="0"/>
            </a:br>
            <a:r>
              <a:rPr lang="en-US" altLang="zh-CN" sz="2400" dirty="0"/>
              <a:t>  {</a:t>
            </a:r>
          </a:p>
          <a:p>
            <a:pPr marL="0" lvl="0" indent="0" eaLnBrk="1" hangingPunct="1">
              <a:lnSpc>
                <a:spcPct val="75000"/>
              </a:lnSpc>
              <a:spcBef>
                <a:spcPct val="0"/>
              </a:spcBef>
              <a:buClrTx/>
              <a:buFontTx/>
              <a:buNone/>
            </a:pPr>
            <a:r>
              <a:rPr lang="en-US" altLang="zh-CN" sz="2400" dirty="0"/>
              <a:t>    </a:t>
            </a:r>
            <a:r>
              <a:rPr lang="en-US" altLang="zh-CN" sz="2400" dirty="0">
                <a:solidFill>
                  <a:srgbClr val="0000FF"/>
                </a:solidFill>
              </a:rPr>
              <a:t>try</a:t>
            </a:r>
            <a:r>
              <a:rPr lang="en-US" altLang="zh-CN" sz="2400" dirty="0"/>
              <a:t>                     </a:t>
            </a:r>
            <a:r>
              <a:rPr lang="en-US" altLang="zh-CN" sz="2000" dirty="0">
                <a:solidFill>
                  <a:srgbClr val="990000"/>
                </a:solidFill>
              </a:rPr>
              <a:t>// </a:t>
            </a:r>
            <a:r>
              <a:rPr lang="zh-CN" altLang="en-US" sz="2000" dirty="0">
                <a:solidFill>
                  <a:srgbClr val="990000"/>
                </a:solidFill>
              </a:rPr>
              <a:t>圈定 </a:t>
            </a:r>
            <a:br>
              <a:rPr lang="zh-CN" altLang="en-US" sz="2400" dirty="0"/>
            </a:br>
            <a:r>
              <a:rPr lang="zh-CN" altLang="en-US" sz="2400" dirty="0"/>
              <a:t>    </a:t>
            </a:r>
            <a:r>
              <a:rPr lang="en-US" altLang="zh-CN" sz="2400" dirty="0"/>
              <a:t>{</a:t>
            </a:r>
            <a:br>
              <a:rPr lang="en-US" altLang="zh-CN" sz="2400" dirty="0"/>
            </a:br>
            <a:r>
              <a:rPr lang="en-US" altLang="zh-CN" sz="2400" dirty="0"/>
              <a:t>      cout &lt;&lt; ”No. ” &lt;&lt; i+1 &lt;&lt; ”\t”</a:t>
            </a:r>
            <a:br>
              <a:rPr lang="en-US" altLang="zh-CN" sz="2400" dirty="0"/>
            </a:br>
            <a:r>
              <a:rPr lang="en-US" altLang="zh-CN" sz="2400" dirty="0"/>
              <a:t>           &lt;&lt; x[i] &lt;&lt; ”/” &lt;&lt; y[i];</a:t>
            </a:r>
          </a:p>
          <a:p>
            <a:pPr marL="0" lvl="0" indent="0" eaLnBrk="1" hangingPunct="1">
              <a:lnSpc>
                <a:spcPct val="150000"/>
              </a:lnSpc>
              <a:spcBef>
                <a:spcPct val="0"/>
              </a:spcBef>
              <a:buClrTx/>
              <a:buFontTx/>
              <a:buNone/>
            </a:pPr>
            <a:r>
              <a:rPr lang="en-US" altLang="zh-CN" sz="2400" dirty="0"/>
              <a:t>      z = Div(x[i], y[i]);  </a:t>
            </a:r>
            <a:r>
              <a:rPr lang="en-US" altLang="zh-CN" sz="2000" dirty="0">
                <a:solidFill>
                  <a:srgbClr val="990000"/>
                </a:solidFill>
              </a:rPr>
              <a:t>// </a:t>
            </a:r>
            <a:r>
              <a:rPr lang="zh-CN" altLang="en-US" sz="2000" dirty="0">
                <a:solidFill>
                  <a:srgbClr val="990000"/>
                </a:solidFill>
              </a:rPr>
              <a:t>调用可能有异常抛掷的函数 </a:t>
            </a:r>
          </a:p>
          <a:p>
            <a:pPr marL="0" lvl="0" indent="0" eaLnBrk="1" hangingPunct="1">
              <a:lnSpc>
                <a:spcPct val="120000"/>
              </a:lnSpc>
              <a:spcBef>
                <a:spcPct val="0"/>
              </a:spcBef>
              <a:buClrTx/>
              <a:buFontTx/>
              <a:buNone/>
            </a:pPr>
            <a:r>
              <a:rPr lang="zh-CN" altLang="en-US" sz="2400" dirty="0"/>
              <a:t>      </a:t>
            </a:r>
            <a:r>
              <a:rPr lang="en-US" altLang="zh-CN" sz="2400" dirty="0"/>
              <a:t>cout &lt;&lt; ” = ” &lt;&lt; z &lt;&lt; endl;</a:t>
            </a:r>
          </a:p>
          <a:p>
            <a:pPr marL="0" lvl="0" indent="0" eaLnBrk="1" hangingPunct="1">
              <a:lnSpc>
                <a:spcPct val="75000"/>
              </a:lnSpc>
              <a:spcBef>
                <a:spcPct val="0"/>
              </a:spcBef>
              <a:buClrTx/>
              <a:buFontTx/>
              <a:buNone/>
            </a:pPr>
            <a:r>
              <a:rPr lang="en-US" altLang="zh-CN" sz="2400" dirty="0"/>
              <a:t>      n++;</a:t>
            </a:r>
            <a:br>
              <a:rPr lang="en-US" altLang="zh-CN" sz="2400" dirty="0"/>
            </a:br>
            <a:r>
              <a:rPr lang="en-US" altLang="zh-CN" sz="2400" dirty="0"/>
              <a:t>    }</a:t>
            </a:r>
          </a:p>
          <a:p>
            <a:pPr marL="0" lvl="0" indent="0" eaLnBrk="1" hangingPunct="1">
              <a:lnSpc>
                <a:spcPct val="75000"/>
              </a:lnSpc>
              <a:spcBef>
                <a:spcPct val="0"/>
              </a:spcBef>
              <a:buClrTx/>
              <a:buFontTx/>
              <a:buNone/>
            </a:pPr>
            <a:r>
              <a:rPr lang="en-US" altLang="zh-CN" sz="2400" dirty="0"/>
              <a:t>    </a:t>
            </a:r>
            <a:r>
              <a:rPr lang="en-US" altLang="zh-CN" sz="2400" dirty="0">
                <a:solidFill>
                  <a:srgbClr val="0000FF"/>
                </a:solidFill>
              </a:rPr>
              <a:t>catch</a:t>
            </a:r>
            <a:r>
              <a:rPr lang="en-US" altLang="zh-CN" sz="2400" dirty="0"/>
              <a:t>(</a:t>
            </a:r>
            <a:r>
              <a:rPr lang="en-US" altLang="zh-CN" sz="2400" dirty="0">
                <a:solidFill>
                  <a:srgbClr val="0000FF"/>
                </a:solidFill>
              </a:rPr>
              <a:t>char</a:t>
            </a:r>
            <a:r>
              <a:rPr lang="en-US" altLang="zh-CN" sz="2400" dirty="0"/>
              <a:t>)             </a:t>
            </a:r>
            <a:r>
              <a:rPr lang="en-US" altLang="zh-CN" sz="2000" dirty="0">
                <a:solidFill>
                  <a:srgbClr val="990000"/>
                </a:solidFill>
              </a:rPr>
              <a:t>// </a:t>
            </a:r>
            <a:r>
              <a:rPr lang="zh-CN" altLang="en-US" sz="2000" dirty="0">
                <a:solidFill>
                  <a:srgbClr val="990000"/>
                </a:solidFill>
              </a:rPr>
              <a:t>捕捉及处理 </a:t>
            </a:r>
            <a:br>
              <a:rPr lang="zh-CN" altLang="en-US" sz="2400" dirty="0"/>
            </a:br>
            <a:r>
              <a:rPr lang="zh-CN" altLang="en-US" sz="2400" dirty="0"/>
              <a:t>    </a:t>
            </a:r>
            <a:r>
              <a:rPr lang="en-US" altLang="zh-CN" sz="2400" dirty="0"/>
              <a:t>{</a:t>
            </a:r>
            <a:br>
              <a:rPr lang="en-US" altLang="zh-CN" sz="2400" dirty="0"/>
            </a:br>
            <a:r>
              <a:rPr lang="en-US" altLang="zh-CN" sz="2400" dirty="0"/>
              <a:t>      cout &lt;&lt; ”\t</a:t>
            </a:r>
            <a:r>
              <a:rPr lang="zh-CN" altLang="en-US" sz="2400" dirty="0"/>
              <a:t>除数为 </a:t>
            </a:r>
            <a:r>
              <a:rPr lang="en-US" altLang="zh-CN" sz="2400" dirty="0"/>
              <a:t>0 </a:t>
            </a:r>
            <a:r>
              <a:rPr lang="zh-CN" altLang="en-US" sz="2400" dirty="0"/>
              <a:t>。跳过此题。</a:t>
            </a:r>
            <a:r>
              <a:rPr lang="en-US" altLang="zh-CN" sz="2400" dirty="0"/>
              <a:t>” &lt;&lt; endl;</a:t>
            </a:r>
            <a:br>
              <a:rPr lang="en-US" altLang="zh-CN" sz="2400" dirty="0"/>
            </a:br>
            <a:r>
              <a:rPr lang="en-US" altLang="zh-CN" sz="2400" dirty="0"/>
              <a:t>    }</a:t>
            </a:r>
          </a:p>
          <a:p>
            <a:pPr marL="0" lvl="0" indent="0" eaLnBrk="1" hangingPunct="1">
              <a:lnSpc>
                <a:spcPct val="75000"/>
              </a:lnSpc>
              <a:spcBef>
                <a:spcPct val="0"/>
              </a:spcBef>
              <a:buClrTx/>
              <a:buFontTx/>
              <a:buNone/>
            </a:pPr>
            <a:r>
              <a:rPr lang="en-US" altLang="zh-CN" sz="2400" dirty="0"/>
              <a:t>    </a:t>
            </a:r>
            <a:r>
              <a:rPr lang="en-US" altLang="zh-CN" sz="2400" dirty="0">
                <a:solidFill>
                  <a:srgbClr val="0000FF"/>
                </a:solidFill>
              </a:rPr>
              <a:t>catch</a:t>
            </a:r>
            <a:r>
              <a:rPr lang="en-US" altLang="zh-CN" sz="2400" dirty="0"/>
              <a:t>(</a:t>
            </a:r>
            <a:r>
              <a:rPr lang="en-US" altLang="zh-CN" sz="2400" dirty="0">
                <a:solidFill>
                  <a:srgbClr val="0000FF"/>
                </a:solidFill>
              </a:rPr>
              <a:t>double</a:t>
            </a:r>
            <a:r>
              <a:rPr lang="en-US" altLang="zh-CN" sz="2400" dirty="0"/>
              <a:t> &amp;x)        </a:t>
            </a:r>
            <a:r>
              <a:rPr lang="en-US" altLang="zh-CN" sz="2000" dirty="0">
                <a:solidFill>
                  <a:srgbClr val="990000"/>
                </a:solidFill>
              </a:rPr>
              <a:t>// </a:t>
            </a:r>
            <a:r>
              <a:rPr lang="zh-CN" altLang="en-US" sz="2000" dirty="0">
                <a:solidFill>
                  <a:srgbClr val="990000"/>
                </a:solidFill>
              </a:rPr>
              <a:t>此处的</a:t>
            </a:r>
            <a:r>
              <a:rPr lang="en-US" altLang="zh-CN" sz="2000" dirty="0">
                <a:solidFill>
                  <a:srgbClr val="990000"/>
                </a:solidFill>
              </a:rPr>
              <a:t>x</a:t>
            </a:r>
            <a:r>
              <a:rPr lang="zh-CN" altLang="en-US" sz="2000" dirty="0">
                <a:solidFill>
                  <a:srgbClr val="990000"/>
                </a:solidFill>
              </a:rPr>
              <a:t>为引用型形式参数 </a:t>
            </a:r>
            <a:br>
              <a:rPr lang="zh-CN" altLang="en-US" sz="2400" dirty="0"/>
            </a:br>
            <a:r>
              <a:rPr lang="zh-CN" altLang="en-US" sz="2400" dirty="0"/>
              <a:t>    </a:t>
            </a:r>
            <a:r>
              <a:rPr lang="en-US" altLang="zh-CN" sz="2400" dirty="0"/>
              <a:t>{</a:t>
            </a:r>
            <a:br>
              <a:rPr lang="en-US" altLang="zh-CN" sz="2400" dirty="0"/>
            </a:br>
            <a:r>
              <a:rPr lang="en-US" altLang="zh-CN" sz="2400" dirty="0"/>
              <a:t>      cout &lt;&lt; ”\t</a:t>
            </a:r>
            <a:r>
              <a:rPr lang="zh-CN" altLang="en-US" sz="2400" dirty="0"/>
              <a:t>除不尽，除数为</a:t>
            </a:r>
            <a:r>
              <a:rPr lang="en-US" altLang="zh-CN" sz="2400" dirty="0"/>
              <a:t>” &lt;&lt; x</a:t>
            </a:r>
            <a:br>
              <a:rPr lang="zh-CN" altLang="en-US" sz="2400" dirty="0"/>
            </a:br>
            <a:r>
              <a:rPr lang="zh-CN" altLang="en-US" sz="2400" dirty="0"/>
              <a:t>           </a:t>
            </a:r>
            <a:r>
              <a:rPr lang="en-US" altLang="zh-CN" sz="2400" dirty="0"/>
              <a:t>&lt;&lt; ”</a:t>
            </a:r>
            <a:r>
              <a:rPr lang="zh-CN" altLang="en-US" sz="2400" dirty="0"/>
              <a:t>。跳过此题。</a:t>
            </a:r>
            <a:r>
              <a:rPr lang="en-US" altLang="zh-CN" sz="2400" dirty="0"/>
              <a:t>”&lt;&lt;endl; </a:t>
            </a:r>
            <a:r>
              <a:rPr lang="en-US" altLang="zh-CN" sz="2000" dirty="0">
                <a:solidFill>
                  <a:srgbClr val="990000"/>
                </a:solidFill>
              </a:rPr>
              <a:t>// </a:t>
            </a:r>
            <a:r>
              <a:rPr lang="zh-CN" altLang="en-US" sz="2000" dirty="0">
                <a:solidFill>
                  <a:srgbClr val="990000"/>
                </a:solidFill>
              </a:rPr>
              <a:t>访问被抛掷的变量 </a:t>
            </a:r>
            <a:br>
              <a:rPr lang="en-US" altLang="zh-CN" sz="2400" dirty="0"/>
            </a:br>
            <a:r>
              <a:rPr lang="en-US" altLang="zh-CN" sz="2400" dirty="0"/>
              <a:t>    }</a:t>
            </a:r>
          </a:p>
          <a:p>
            <a:pPr marL="0" lvl="0" indent="0" eaLnBrk="1" hangingPunct="1">
              <a:lnSpc>
                <a:spcPct val="75000"/>
              </a:lnSpc>
              <a:spcBef>
                <a:spcPct val="0"/>
              </a:spcBef>
              <a:buClrTx/>
              <a:buFontTx/>
              <a:buNone/>
            </a:pPr>
            <a:r>
              <a:rPr lang="en-US" altLang="zh-CN" sz="2400" dirty="0"/>
              <a:t>  }</a:t>
            </a:r>
          </a:p>
          <a:p>
            <a:pPr marL="0" lvl="0" indent="0" eaLnBrk="1" hangingPunct="1">
              <a:lnSpc>
                <a:spcPct val="75000"/>
              </a:lnSpc>
              <a:spcBef>
                <a:spcPct val="0"/>
              </a:spcBef>
              <a:buClrTx/>
              <a:buFontTx/>
              <a:buNone/>
            </a:pPr>
            <a:r>
              <a:rPr lang="en-US" altLang="zh-CN" sz="2400" dirty="0"/>
              <a:t>  cout &lt;&lt; ”</a:t>
            </a:r>
            <a:r>
              <a:rPr lang="zh-CN" altLang="en-US" sz="2400" dirty="0"/>
              <a:t>共 </a:t>
            </a:r>
            <a:r>
              <a:rPr lang="en-US" altLang="zh-CN" sz="2400" dirty="0"/>
              <a:t>” &lt;&lt; n &lt;&lt; ” </a:t>
            </a:r>
            <a:r>
              <a:rPr lang="zh-CN" altLang="en-US" sz="2400" dirty="0"/>
              <a:t>题。</a:t>
            </a:r>
            <a:r>
              <a:rPr lang="en-US" altLang="zh-CN" sz="2400" dirty="0"/>
              <a:t>” &lt;&lt; endl;</a:t>
            </a:r>
          </a:p>
          <a:p>
            <a:pPr marL="0" lvl="0" indent="0" eaLnBrk="1" hangingPunct="1">
              <a:lnSpc>
                <a:spcPct val="75000"/>
              </a:lnSpc>
              <a:spcBef>
                <a:spcPct val="0"/>
              </a:spcBef>
              <a:buClrTx/>
              <a:buFontTx/>
              <a:buNone/>
            </a:pPr>
            <a:r>
              <a:rPr lang="en-US" altLang="zh-CN" sz="2400" dirty="0"/>
              <a:t>  </a:t>
            </a:r>
            <a:r>
              <a:rPr lang="en-US" altLang="zh-CN" sz="2400" dirty="0">
                <a:solidFill>
                  <a:srgbClr val="0000FF"/>
                </a:solidFill>
              </a:rPr>
              <a:t>return</a:t>
            </a:r>
            <a:r>
              <a:rPr lang="en-US" altLang="zh-CN" sz="2400" dirty="0"/>
              <a:t> 0;</a:t>
            </a:r>
            <a:br>
              <a:rPr lang="en-US" altLang="zh-CN" sz="2400" dirty="0"/>
            </a:br>
            <a:r>
              <a:rPr lang="en-US" altLang="zh-CN" sz="2400" dirty="0"/>
              <a:t>}</a:t>
            </a:r>
          </a:p>
        </p:txBody>
      </p:sp>
      <p:sp>
        <p:nvSpPr>
          <p:cNvPr id="360453" name="Oval 5"/>
          <p:cNvSpPr/>
          <p:nvPr/>
        </p:nvSpPr>
        <p:spPr>
          <a:xfrm>
            <a:off x="1828800" y="1828800"/>
            <a:ext cx="3429000" cy="533400"/>
          </a:xfrm>
          <a:prstGeom prst="ellipse">
            <a:avLst/>
          </a:prstGeom>
          <a:noFill/>
          <a:ln w="28575" cap="flat" cmpd="sng">
            <a:solidFill>
              <a:srgbClr val="99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endParaRPr lang="zh-CN" altLang="en-US" sz="1800" b="0" dirty="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04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045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045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045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045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045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0452">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045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0453"/>
                                        </p:tgtEl>
                                        <p:attrNameLst>
                                          <p:attrName>style.visibility</p:attrName>
                                        </p:attrNameLst>
                                      </p:cBhvr>
                                      <p:to>
                                        <p:strVal val="visible"/>
                                      </p:to>
                                    </p:set>
                                  </p:childTnLst>
                                  <p:subTnLst>
                                    <p:set>
                                      <p:cBhvr override="childStyle">
                                        <p:cTn dur="1" fill="hold" display="0" masterRel="nextClick" afterEffect="1"/>
                                        <p:tgtEl>
                                          <p:spTgt spid="360453"/>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360452">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045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2" grpId="0" build="p"/>
      <p:bldP spid="360453"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p:cNvSpPr>
          <p:nvPr>
            <p:ph type="title"/>
          </p:nvPr>
        </p:nvSpPr>
        <p:spPr>
          <a:ln/>
        </p:spPr>
        <p:txBody>
          <a:bodyPr vert="horz" wrap="square" lIns="91440" tIns="45720" rIns="91440" bIns="45720" anchor="ctr" anchorCtr="0">
            <a:spAutoFit/>
          </a:bodyPr>
          <a:lstStyle/>
          <a:p>
            <a:pPr eaLnBrk="1" hangingPunct="1"/>
            <a:r>
              <a:rPr lang="zh-CN" altLang="en-US" dirty="0"/>
              <a:t>运行结果</a:t>
            </a:r>
          </a:p>
        </p:txBody>
      </p:sp>
      <p:sp>
        <p:nvSpPr>
          <p:cNvPr id="30723" name="Text Box 4"/>
          <p:cNvSpPr txBox="1"/>
          <p:nvPr/>
        </p:nvSpPr>
        <p:spPr>
          <a:xfrm>
            <a:off x="762000" y="1828800"/>
            <a:ext cx="7467600" cy="2438400"/>
          </a:xfrm>
          <a:prstGeom prst="rect">
            <a:avLst/>
          </a:prstGeom>
          <a:solidFill>
            <a:schemeClr val="bg1"/>
          </a:solidFill>
          <a:ln w="28575" cap="flat" cmpd="sng">
            <a:solidFill>
              <a:schemeClr val="tx2"/>
            </a:solidFill>
            <a:prstDash val="solid"/>
            <a:miter/>
            <a:headEnd type="none" w="med" len="med"/>
            <a:tailEnd type="none" w="med" len="med"/>
          </a:ln>
        </p:spPr>
        <p:txBody>
          <a:bodyPr wrap="none" lIns="72000" tIns="72000" rIns="72000" bIns="72000"/>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spcBef>
                <a:spcPct val="0"/>
              </a:spcBef>
              <a:buClrTx/>
              <a:buFontTx/>
              <a:buNone/>
            </a:pPr>
            <a:r>
              <a:rPr lang="en-US" altLang="zh-CN" sz="2400" dirty="0"/>
              <a:t>No. 1   10/5 = 2</a:t>
            </a:r>
          </a:p>
          <a:p>
            <a:pPr marL="0" lvl="0" indent="0" eaLnBrk="1" hangingPunct="1">
              <a:spcBef>
                <a:spcPct val="0"/>
              </a:spcBef>
              <a:buClrTx/>
              <a:buFontTx/>
              <a:buNone/>
            </a:pPr>
            <a:r>
              <a:rPr lang="en-US" altLang="zh-CN" sz="2400" dirty="0"/>
              <a:t>No. 2   10/3     </a:t>
            </a:r>
            <a:r>
              <a:rPr lang="zh-CN" altLang="en-US" sz="2400" dirty="0"/>
              <a:t>除不尽，除数为</a:t>
            </a:r>
            <a:r>
              <a:rPr lang="en-US" altLang="zh-CN" sz="2400" dirty="0"/>
              <a:t>3</a:t>
            </a:r>
            <a:r>
              <a:rPr lang="zh-CN" altLang="en-US" sz="2400" dirty="0"/>
              <a:t>。跳过此题。</a:t>
            </a:r>
            <a:endParaRPr lang="en-US" altLang="zh-CN" sz="2400" dirty="0"/>
          </a:p>
          <a:p>
            <a:pPr marL="0" lvl="0" indent="0" eaLnBrk="1" hangingPunct="1">
              <a:spcBef>
                <a:spcPct val="0"/>
              </a:spcBef>
              <a:buClrTx/>
              <a:buFontTx/>
              <a:buNone/>
            </a:pPr>
            <a:r>
              <a:rPr lang="en-US" altLang="zh-CN" sz="2400" dirty="0"/>
              <a:t>No. 3   8/0      </a:t>
            </a:r>
            <a:r>
              <a:rPr lang="zh-CN" altLang="en-US" sz="2400" dirty="0"/>
              <a:t>除数为</a:t>
            </a:r>
            <a:r>
              <a:rPr lang="en-US" altLang="zh-CN" sz="2400" dirty="0"/>
              <a:t>0</a:t>
            </a:r>
            <a:r>
              <a:rPr lang="zh-CN" altLang="en-US" sz="2400" dirty="0"/>
              <a:t>。跳过此题。</a:t>
            </a:r>
            <a:endParaRPr lang="en-US" altLang="zh-CN" sz="2400" dirty="0"/>
          </a:p>
          <a:p>
            <a:pPr marL="0" lvl="0" indent="0" eaLnBrk="1" hangingPunct="1">
              <a:spcBef>
                <a:spcPct val="0"/>
              </a:spcBef>
              <a:buClrTx/>
              <a:buFontTx/>
              <a:buNone/>
            </a:pPr>
            <a:r>
              <a:rPr lang="en-US" altLang="zh-CN" sz="2400" dirty="0"/>
              <a:t>No. 4   6/2 = 3</a:t>
            </a:r>
          </a:p>
          <a:p>
            <a:pPr marL="0" lvl="0" indent="0" eaLnBrk="1" hangingPunct="1">
              <a:spcBef>
                <a:spcPct val="0"/>
              </a:spcBef>
              <a:buClrTx/>
              <a:buFontTx/>
              <a:buNone/>
            </a:pPr>
            <a:r>
              <a:rPr lang="en-US" altLang="zh-CN" sz="2400" dirty="0"/>
              <a:t>No. 5   4/0      </a:t>
            </a:r>
            <a:r>
              <a:rPr lang="zh-CN" altLang="en-US" sz="2400" dirty="0"/>
              <a:t>除数为</a:t>
            </a:r>
            <a:r>
              <a:rPr lang="en-US" altLang="zh-CN" sz="2400" dirty="0"/>
              <a:t>0</a:t>
            </a:r>
            <a:r>
              <a:rPr lang="zh-CN" altLang="en-US" sz="2400" dirty="0"/>
              <a:t>。跳过此题。</a:t>
            </a:r>
            <a:endParaRPr lang="en-US" altLang="zh-CN" sz="2400" dirty="0"/>
          </a:p>
          <a:p>
            <a:pPr marL="0" lvl="0" indent="0" eaLnBrk="1" hangingPunct="1">
              <a:spcBef>
                <a:spcPct val="0"/>
              </a:spcBef>
              <a:buClrTx/>
              <a:buFontTx/>
              <a:buNone/>
            </a:pPr>
            <a:r>
              <a:rPr lang="zh-CN" altLang="en-US" sz="2400" dirty="0"/>
              <a:t>共</a:t>
            </a:r>
            <a:r>
              <a:rPr lang="en-US" altLang="zh-CN" sz="2400" dirty="0"/>
              <a:t> 2 </a:t>
            </a:r>
            <a:r>
              <a:rPr lang="zh-CN" altLang="en-US" sz="2400" dirty="0"/>
              <a:t>题。</a:t>
            </a:r>
            <a:endParaRPr lang="en-US" altLang="zh-CN" sz="2400" dirty="0"/>
          </a:p>
        </p:txBody>
      </p:sp>
      <p:sp>
        <p:nvSpPr>
          <p:cNvPr id="30724" name="文本框 4"/>
          <p:cNvSpPr txBox="1"/>
          <p:nvPr/>
        </p:nvSpPr>
        <p:spPr>
          <a:xfrm>
            <a:off x="1600200" y="4843463"/>
            <a:ext cx="4876800" cy="711200"/>
          </a:xfrm>
          <a:prstGeom prst="rect">
            <a:avLst/>
          </a:prstGeom>
          <a:no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anose="05000000000000000000"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anose="05030102010509060703"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anose="05000000000000000000"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anose="05020102010507070707" pitchFamily="18" charset="2"/>
              <a:buChar char="ê"/>
              <a:defRPr sz="2000" b="1">
                <a:solidFill>
                  <a:schemeClr val="tx2"/>
                </a:solidFill>
                <a:latin typeface="+mn-lt"/>
                <a:ea typeface="+mn-ea"/>
              </a:defRPr>
            </a:lvl5pPr>
          </a:lstStyle>
          <a:p>
            <a:pPr marL="0" lvl="0" indent="0" eaLnBrk="1" hangingPunct="1">
              <a:lnSpc>
                <a:spcPct val="95000"/>
              </a:lnSpc>
              <a:spcBef>
                <a:spcPct val="10000"/>
              </a:spcBef>
              <a:buClrTx/>
              <a:buFontTx/>
              <a:buNone/>
            </a:pPr>
            <a:r>
              <a:rPr lang="en-US" altLang="zh-CN" sz="2000" dirty="0"/>
              <a:t> </a:t>
            </a:r>
            <a:r>
              <a:rPr lang="en-US" altLang="zh-CN" sz="2000" dirty="0">
                <a:solidFill>
                  <a:srgbClr val="0000FF"/>
                </a:solidFill>
              </a:rPr>
              <a:t>int</a:t>
            </a:r>
            <a:r>
              <a:rPr lang="en-US" altLang="zh-CN" sz="2000" dirty="0"/>
              <a:t> x[5] = {10, 10, 8, 6, 4};</a:t>
            </a:r>
          </a:p>
          <a:p>
            <a:pPr marL="0" lvl="0" indent="0" eaLnBrk="1" hangingPunct="1">
              <a:lnSpc>
                <a:spcPct val="95000"/>
              </a:lnSpc>
              <a:spcBef>
                <a:spcPct val="10000"/>
              </a:spcBef>
              <a:buClrTx/>
              <a:buFontTx/>
              <a:buNone/>
            </a:pPr>
            <a:r>
              <a:rPr lang="en-US" altLang="zh-CN" sz="2000" dirty="0"/>
              <a:t> </a:t>
            </a:r>
            <a:r>
              <a:rPr lang="en-US" altLang="zh-CN" sz="2000" dirty="0">
                <a:solidFill>
                  <a:srgbClr val="0000FF"/>
                </a:solidFill>
              </a:rPr>
              <a:t>int</a:t>
            </a:r>
            <a:r>
              <a:rPr lang="en-US" altLang="zh-CN" sz="2000" dirty="0"/>
              <a:t> y[5] = { 5,  3, 0, 2, 0};</a:t>
            </a:r>
            <a:endParaRPr lang="zh-CN" altLang="en-US" sz="1800" b="0" dirty="0">
              <a:solidFill>
                <a:schemeClr val="tx1"/>
              </a:solidFill>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15.3 </a:t>
            </a:r>
            <a:r>
              <a:rPr lang="zh-CN" altLang="en-US" dirty="0"/>
              <a:t>趣味程序</a:t>
            </a:r>
          </a:p>
        </p:txBody>
      </p:sp>
      <p:sp>
        <p:nvSpPr>
          <p:cNvPr id="31747" name="Rectangle 3"/>
          <p:cNvSpPr>
            <a:spLocks noGrp="1"/>
          </p:cNvSpPr>
          <p:nvPr>
            <p:ph idx="1"/>
          </p:nvPr>
        </p:nvSpPr>
        <p:spPr>
          <a:xfrm>
            <a:off x="381000" y="914400"/>
            <a:ext cx="8610600" cy="5334000"/>
          </a:xfrm>
          <a:ln/>
        </p:spPr>
        <p:txBody>
          <a:bodyPr vert="horz" wrap="square" lIns="18000" tIns="45720" rIns="91440" bIns="45720" anchor="t" anchorCtr="0"/>
          <a:lstStyle/>
          <a:p>
            <a:pPr eaLnBrk="1" hangingPunct="1"/>
            <a:r>
              <a:rPr lang="zh-CN" altLang="en-US" dirty="0"/>
              <a:t>正整数算术运算测验程序</a:t>
            </a:r>
          </a:p>
          <a:p>
            <a:pPr lvl="1" eaLnBrk="1" hangingPunct="1"/>
            <a:endParaRPr lang="zh-CN" altLang="en-US" dirty="0"/>
          </a:p>
        </p:txBody>
      </p:sp>
      <p:pic>
        <p:nvPicPr>
          <p:cNvPr id="31748" name="Picture 5"/>
          <p:cNvPicPr>
            <a:picLocks noChangeAspect="1"/>
          </p:cNvPicPr>
          <p:nvPr/>
        </p:nvPicPr>
        <p:blipFill>
          <a:blip r:embed="rId2"/>
          <a:stretch>
            <a:fillRect/>
          </a:stretch>
        </p:blipFill>
        <p:spPr>
          <a:xfrm>
            <a:off x="152400" y="1371600"/>
            <a:ext cx="8839200" cy="5410200"/>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15.4 </a:t>
            </a:r>
            <a:r>
              <a:rPr lang="zh-CN" altLang="en-US" dirty="0"/>
              <a:t>小结</a:t>
            </a:r>
          </a:p>
        </p:txBody>
      </p:sp>
      <p:sp>
        <p:nvSpPr>
          <p:cNvPr id="374787" name="Rectangle 3"/>
          <p:cNvSpPr>
            <a:spLocks noGrp="1"/>
          </p:cNvSpPr>
          <p:nvPr>
            <p:ph idx="1"/>
          </p:nvPr>
        </p:nvSpPr>
        <p:spPr>
          <a:ln/>
        </p:spPr>
        <p:txBody>
          <a:bodyPr vert="horz" wrap="square" lIns="18000" tIns="45720" rIns="91440" bIns="45720" anchor="t" anchorCtr="0"/>
          <a:lstStyle/>
          <a:p>
            <a:pPr eaLnBrk="1" hangingPunct="1">
              <a:lnSpc>
                <a:spcPct val="125000"/>
              </a:lnSpc>
              <a:spcBef>
                <a:spcPct val="50000"/>
              </a:spcBef>
            </a:pPr>
            <a:r>
              <a:rPr lang="zh-CN" altLang="en-US" dirty="0"/>
              <a:t>函数调用是通过栈结构实现的。函数的嵌套调用是一个压栈过程，函数的返回是逐次退栈过程。</a:t>
            </a:r>
          </a:p>
          <a:p>
            <a:pPr eaLnBrk="1" hangingPunct="1">
              <a:lnSpc>
                <a:spcPct val="125000"/>
              </a:lnSpc>
              <a:spcBef>
                <a:spcPct val="50000"/>
              </a:spcBef>
            </a:pPr>
            <a:r>
              <a:rPr lang="zh-CN" altLang="en-US" dirty="0"/>
              <a:t>异常的传播方向与函数退栈过程相同──使最近的能处理异常的层次处理（不一定蔓延到最高层，直至崩溃）。</a:t>
            </a:r>
          </a:p>
          <a:p>
            <a:pPr eaLnBrk="1" hangingPunct="1">
              <a:lnSpc>
                <a:spcPct val="125000"/>
              </a:lnSpc>
              <a:spcBef>
                <a:spcPct val="50000"/>
              </a:spcBef>
            </a:pPr>
            <a:r>
              <a:rPr lang="zh-CN" altLang="en-US" dirty="0"/>
              <a:t>异常不一定是错误。</a:t>
            </a:r>
            <a:r>
              <a:rPr lang="en-US" altLang="zh-CN" dirty="0"/>
              <a:t>C++</a:t>
            </a:r>
            <a:r>
              <a:rPr lang="zh-CN" altLang="en-US" dirty="0"/>
              <a:t>异常处理机制也给程序员提供了一种新的流程控制方法。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747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47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47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ln/>
        </p:spPr>
        <p:txBody>
          <a:bodyPr vert="horz" wrap="square" lIns="91440" tIns="45720" rIns="91440" bIns="45720" anchor="ctr" anchorCtr="0">
            <a:spAutoFit/>
          </a:bodyPr>
          <a:lstStyle/>
          <a:p>
            <a:pPr eaLnBrk="1" hangingPunct="1"/>
            <a:r>
              <a:rPr lang="en-US" altLang="zh-CN" dirty="0"/>
              <a:t>16.4 </a:t>
            </a:r>
            <a:r>
              <a:rPr lang="zh-CN" altLang="en-US" dirty="0"/>
              <a:t>小结</a:t>
            </a:r>
          </a:p>
        </p:txBody>
      </p:sp>
      <p:sp>
        <p:nvSpPr>
          <p:cNvPr id="375811" name="Rectangle 3"/>
          <p:cNvSpPr>
            <a:spLocks noGrp="1"/>
          </p:cNvSpPr>
          <p:nvPr>
            <p:ph idx="1"/>
          </p:nvPr>
        </p:nvSpPr>
        <p:spPr>
          <a:ln/>
        </p:spPr>
        <p:txBody>
          <a:bodyPr vert="horz" wrap="square" lIns="18000" tIns="45720" rIns="91440" bIns="45720" anchor="t" anchorCtr="0"/>
          <a:lstStyle/>
          <a:p>
            <a:pPr eaLnBrk="1" hangingPunct="1">
              <a:lnSpc>
                <a:spcPct val="125000"/>
              </a:lnSpc>
              <a:spcBef>
                <a:spcPct val="50000"/>
              </a:spcBef>
            </a:pPr>
            <a:r>
              <a:rPr lang="zh-CN" altLang="en-US" dirty="0"/>
              <a:t>设计函数（包括类的成员函数）时，在预料出现异常处只管抛掷可能的异常，而不必考虑本函数将可能在何种情形下、何种深层次中被调用。</a:t>
            </a:r>
          </a:p>
          <a:p>
            <a:pPr eaLnBrk="1" hangingPunct="1">
              <a:lnSpc>
                <a:spcPct val="125000"/>
              </a:lnSpc>
              <a:spcBef>
                <a:spcPct val="50000"/>
              </a:spcBef>
            </a:pPr>
            <a:r>
              <a:rPr lang="zh-CN" altLang="en-US" dirty="0"/>
              <a:t>调用有抛掷异常的函数时，应该将其调用语句进行圈定，并根据异常类型分情况捕捉及进行处理。</a:t>
            </a:r>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58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WordArt 4"/>
          <p:cNvSpPr>
            <a:spLocks noTextEdit="1"/>
          </p:cNvSpPr>
          <p:nvPr/>
        </p:nvSpPr>
        <p:spPr>
          <a:xfrm>
            <a:off x="609600" y="3200400"/>
            <a:ext cx="4459288" cy="762000"/>
          </a:xfrm>
          <a:prstGeom prst="rect">
            <a:avLst/>
          </a:prstGeom>
        </p:spPr>
        <p:txBody>
          <a:bodyPr wrap="none" fromWordArt="1">
            <a:prstTxWarp prst="textDeflate">
              <a:avLst>
                <a:gd name="adj" fmla="val 0"/>
              </a:avLst>
            </a:prstTxWarp>
            <a:normAutofit fontScale="92500" lnSpcReduction="20000"/>
          </a:bodyPr>
          <a:lstStyle/>
          <a:p>
            <a:pPr algn="ctr"/>
            <a:r>
              <a:rPr lang="zh-CN" altLang="en-US" sz="5400" b="1">
                <a:ln w="28575" cap="flat" cmpd="sng">
                  <a:solidFill>
                    <a:schemeClr val="bg1"/>
                  </a:solidFill>
                  <a:prstDash val="solid"/>
                  <a:headEnd type="none" w="med" len="med"/>
                  <a:tailEnd type="none" w="med" len="med"/>
                </a:ln>
                <a:gradFill rotWithShape="1">
                  <a:gsLst>
                    <a:gs pos="0">
                      <a:schemeClr val="folHlink"/>
                    </a:gs>
                    <a:gs pos="100000">
                      <a:schemeClr val="accent2"/>
                    </a:gs>
                  </a:gsLst>
                  <a:lin ang="5400000" scaled="1"/>
                  <a:tileRect/>
                </a:gradFill>
                <a:effectLst>
                  <a:outerShdw dist="71842" dir="2699999" algn="ctr" rotWithShape="0">
                    <a:schemeClr val="bg2">
                      <a:alpha val="50000"/>
                    </a:schemeClr>
                  </a:outerShdw>
                </a:effectLst>
                <a:latin typeface="Verdana" panose="020B0604030504040204" pitchFamily="34" charset="0"/>
                <a:ea typeface="Verdana" panose="020B0604030504040204" pitchFamily="34" charset="0"/>
              </a:rPr>
              <a:t>Thank You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9e5bf39-80da-4755-a385-5018b8f8286a"/>
  <p:tag name="COMMONDATA" val="eyJoZGlkIjoiYjE3MjEwN2RjYWYzNTM3OGU3YTIxZWYxYmI3NmViNTgifQ=="/>
</p:tagLst>
</file>

<file path=ppt/theme/theme1.xml><?xml version="1.0" encoding="utf-8"?>
<a:theme xmlns:a="http://schemas.openxmlformats.org/drawingml/2006/main" name="n012TGp_Global_light">
  <a:themeElements>
    <a:clrScheme name="n012TGp_Global_light 2">
      <a:dk1>
        <a:srgbClr val="1D528D"/>
      </a:dk1>
      <a:lt1>
        <a:srgbClr val="FFFFFF"/>
      </a:lt1>
      <a:dk2>
        <a:srgbClr val="000000"/>
      </a:dk2>
      <a:lt2>
        <a:srgbClr val="DDDDDD"/>
      </a:lt2>
      <a:accent1>
        <a:srgbClr val="8AAECE"/>
      </a:accent1>
      <a:accent2>
        <a:srgbClr val="009999"/>
      </a:accent2>
      <a:accent3>
        <a:srgbClr val="FFFFFF"/>
      </a:accent3>
      <a:accent4>
        <a:srgbClr val="174578"/>
      </a:accent4>
      <a:accent5>
        <a:srgbClr val="C4D3E3"/>
      </a:accent5>
      <a:accent6>
        <a:srgbClr val="008A8A"/>
      </a:accent6>
      <a:hlink>
        <a:srgbClr val="CA3B1E"/>
      </a:hlink>
      <a:folHlink>
        <a:srgbClr val="003399"/>
      </a:folHlink>
    </a:clrScheme>
    <a:fontScheme name="n012TGp_Global_light">
      <a:majorFont>
        <a:latin typeface="Courier New"/>
        <a:ea typeface="黑体"/>
        <a:cs typeface=""/>
      </a:majorFont>
      <a:minorFont>
        <a:latin typeface="Courier New"/>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012TGp_Global_light 1">
        <a:dk1>
          <a:srgbClr val="29698D"/>
        </a:dk1>
        <a:lt1>
          <a:srgbClr val="FFFFFF"/>
        </a:lt1>
        <a:dk2>
          <a:srgbClr val="000000"/>
        </a:dk2>
        <a:lt2>
          <a:srgbClr val="D6E1E2"/>
        </a:lt2>
        <a:accent1>
          <a:srgbClr val="8F94A7"/>
        </a:accent1>
        <a:accent2>
          <a:srgbClr val="FF9933"/>
        </a:accent2>
        <a:accent3>
          <a:srgbClr val="FFFFFF"/>
        </a:accent3>
        <a:accent4>
          <a:srgbClr val="215978"/>
        </a:accent4>
        <a:accent5>
          <a:srgbClr val="C6C8D0"/>
        </a:accent5>
        <a:accent6>
          <a:srgbClr val="E78A2D"/>
        </a:accent6>
        <a:hlink>
          <a:srgbClr val="00CC99"/>
        </a:hlink>
        <a:folHlink>
          <a:srgbClr val="985CCE"/>
        </a:folHlink>
      </a:clrScheme>
      <a:clrMap bg1="lt1" tx1="dk1" bg2="lt2" tx2="dk2" accent1="accent1" accent2="accent2" accent3="accent3" accent4="accent4" accent5="accent5" accent6="accent6" hlink="hlink" folHlink="folHlink"/>
    </a:extraClrScheme>
    <a:extraClrScheme>
      <a:clrScheme name="n012TGp_Global_light 2">
        <a:dk1>
          <a:srgbClr val="1D528D"/>
        </a:dk1>
        <a:lt1>
          <a:srgbClr val="FFFFFF"/>
        </a:lt1>
        <a:dk2>
          <a:srgbClr val="000000"/>
        </a:dk2>
        <a:lt2>
          <a:srgbClr val="DDDDDD"/>
        </a:lt2>
        <a:accent1>
          <a:srgbClr val="8AAECE"/>
        </a:accent1>
        <a:accent2>
          <a:srgbClr val="009999"/>
        </a:accent2>
        <a:accent3>
          <a:srgbClr val="FFFFFF"/>
        </a:accent3>
        <a:accent4>
          <a:srgbClr val="174578"/>
        </a:accent4>
        <a:accent5>
          <a:srgbClr val="C4D3E3"/>
        </a:accent5>
        <a:accent6>
          <a:srgbClr val="008A8A"/>
        </a:accent6>
        <a:hlink>
          <a:srgbClr val="CA3B1E"/>
        </a:hlink>
        <a:folHlink>
          <a:srgbClr val="003399"/>
        </a:folHlink>
      </a:clrScheme>
      <a:clrMap bg1="lt1" tx1="dk1" bg2="lt2" tx2="dk2" accent1="accent1" accent2="accent2" accent3="accent3" accent4="accent4" accent5="accent5" accent6="accent6" hlink="hlink" folHlink="folHlink"/>
    </a:extraClrScheme>
    <a:extraClrScheme>
      <a:clrScheme name="n012TGp_Global_light 3">
        <a:dk1>
          <a:srgbClr val="666699"/>
        </a:dk1>
        <a:lt1>
          <a:srgbClr val="FFFFFF"/>
        </a:lt1>
        <a:dk2>
          <a:srgbClr val="000000"/>
        </a:dk2>
        <a:lt2>
          <a:srgbClr val="C0C0C0"/>
        </a:lt2>
        <a:accent1>
          <a:srgbClr val="59B2D1"/>
        </a:accent1>
        <a:accent2>
          <a:srgbClr val="C78DD7"/>
        </a:accent2>
        <a:accent3>
          <a:srgbClr val="FFFFFF"/>
        </a:accent3>
        <a:accent4>
          <a:srgbClr val="565682"/>
        </a:accent4>
        <a:accent5>
          <a:srgbClr val="B5D5E5"/>
        </a:accent5>
        <a:accent6>
          <a:srgbClr val="B47FC3"/>
        </a:accent6>
        <a:hlink>
          <a:srgbClr val="33B976"/>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012TGp_Global_light">
  <a:themeElements>
    <a:clrScheme name="n012TGp_Global_light 2">
      <a:dk1>
        <a:srgbClr val="1D528D"/>
      </a:dk1>
      <a:lt1>
        <a:srgbClr val="FFFFFF"/>
      </a:lt1>
      <a:dk2>
        <a:srgbClr val="000000"/>
      </a:dk2>
      <a:lt2>
        <a:srgbClr val="DDDDDD"/>
      </a:lt2>
      <a:accent1>
        <a:srgbClr val="8AAECE"/>
      </a:accent1>
      <a:accent2>
        <a:srgbClr val="009999"/>
      </a:accent2>
      <a:accent3>
        <a:srgbClr val="FFFFFF"/>
      </a:accent3>
      <a:accent4>
        <a:srgbClr val="174578"/>
      </a:accent4>
      <a:accent5>
        <a:srgbClr val="C4D3E3"/>
      </a:accent5>
      <a:accent6>
        <a:srgbClr val="008A8A"/>
      </a:accent6>
      <a:hlink>
        <a:srgbClr val="CA3B1E"/>
      </a:hlink>
      <a:folHlink>
        <a:srgbClr val="003399"/>
      </a:folHlink>
    </a:clrScheme>
    <a:fontScheme name="n012TGp_Global_light">
      <a:majorFont>
        <a:latin typeface="Courier New"/>
        <a:ea typeface="黑体"/>
        <a:cs typeface=""/>
      </a:majorFont>
      <a:minorFont>
        <a:latin typeface="Courier New"/>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012TGp_Global_light 1">
        <a:dk1>
          <a:srgbClr val="29698D"/>
        </a:dk1>
        <a:lt1>
          <a:srgbClr val="FFFFFF"/>
        </a:lt1>
        <a:dk2>
          <a:srgbClr val="000000"/>
        </a:dk2>
        <a:lt2>
          <a:srgbClr val="D6E1E2"/>
        </a:lt2>
        <a:accent1>
          <a:srgbClr val="8F94A7"/>
        </a:accent1>
        <a:accent2>
          <a:srgbClr val="FF9933"/>
        </a:accent2>
        <a:accent3>
          <a:srgbClr val="FFFFFF"/>
        </a:accent3>
        <a:accent4>
          <a:srgbClr val="215978"/>
        </a:accent4>
        <a:accent5>
          <a:srgbClr val="C6C8D0"/>
        </a:accent5>
        <a:accent6>
          <a:srgbClr val="E78A2D"/>
        </a:accent6>
        <a:hlink>
          <a:srgbClr val="00CC99"/>
        </a:hlink>
        <a:folHlink>
          <a:srgbClr val="985CCE"/>
        </a:folHlink>
      </a:clrScheme>
      <a:clrMap bg1="lt1" tx1="dk1" bg2="lt2" tx2="dk2" accent1="accent1" accent2="accent2" accent3="accent3" accent4="accent4" accent5="accent5" accent6="accent6" hlink="hlink" folHlink="folHlink"/>
    </a:extraClrScheme>
    <a:extraClrScheme>
      <a:clrScheme name="n012TGp_Global_light 2">
        <a:dk1>
          <a:srgbClr val="1D528D"/>
        </a:dk1>
        <a:lt1>
          <a:srgbClr val="FFFFFF"/>
        </a:lt1>
        <a:dk2>
          <a:srgbClr val="000000"/>
        </a:dk2>
        <a:lt2>
          <a:srgbClr val="DDDDDD"/>
        </a:lt2>
        <a:accent1>
          <a:srgbClr val="8AAECE"/>
        </a:accent1>
        <a:accent2>
          <a:srgbClr val="009999"/>
        </a:accent2>
        <a:accent3>
          <a:srgbClr val="FFFFFF"/>
        </a:accent3>
        <a:accent4>
          <a:srgbClr val="174578"/>
        </a:accent4>
        <a:accent5>
          <a:srgbClr val="C4D3E3"/>
        </a:accent5>
        <a:accent6>
          <a:srgbClr val="008A8A"/>
        </a:accent6>
        <a:hlink>
          <a:srgbClr val="CA3B1E"/>
        </a:hlink>
        <a:folHlink>
          <a:srgbClr val="003399"/>
        </a:folHlink>
      </a:clrScheme>
      <a:clrMap bg1="lt1" tx1="dk1" bg2="lt2" tx2="dk2" accent1="accent1" accent2="accent2" accent3="accent3" accent4="accent4" accent5="accent5" accent6="accent6" hlink="hlink" folHlink="folHlink"/>
    </a:extraClrScheme>
    <a:extraClrScheme>
      <a:clrScheme name="n012TGp_Global_light 3">
        <a:dk1>
          <a:srgbClr val="666699"/>
        </a:dk1>
        <a:lt1>
          <a:srgbClr val="FFFFFF"/>
        </a:lt1>
        <a:dk2>
          <a:srgbClr val="000000"/>
        </a:dk2>
        <a:lt2>
          <a:srgbClr val="C0C0C0"/>
        </a:lt2>
        <a:accent1>
          <a:srgbClr val="59B2D1"/>
        </a:accent1>
        <a:accent2>
          <a:srgbClr val="C78DD7"/>
        </a:accent2>
        <a:accent3>
          <a:srgbClr val="FFFFFF"/>
        </a:accent3>
        <a:accent4>
          <a:srgbClr val="565682"/>
        </a:accent4>
        <a:accent5>
          <a:srgbClr val="B5D5E5"/>
        </a:accent5>
        <a:accent6>
          <a:srgbClr val="B47FC3"/>
        </a:accent6>
        <a:hlink>
          <a:srgbClr val="33B976"/>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3681</Words>
  <Application>Microsoft Office PowerPoint</Application>
  <PresentationFormat>全屏显示(4:3)</PresentationFormat>
  <Paragraphs>226</Paragraphs>
  <Slides>39</Slides>
  <Notes>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39</vt:i4>
      </vt:variant>
    </vt:vector>
  </HeadingPairs>
  <TitlesOfParts>
    <vt:vector size="54" baseType="lpstr">
      <vt:lpstr>Arial Unicode MS</vt:lpstr>
      <vt:lpstr>黑体</vt:lpstr>
      <vt:lpstr>楷体_GB2312</vt:lpstr>
      <vt:lpstr>宋体</vt:lpstr>
      <vt:lpstr>微软雅黑</vt:lpstr>
      <vt:lpstr>Arial</vt:lpstr>
      <vt:lpstr>Courier New</vt:lpstr>
      <vt:lpstr>Times New Roman</vt:lpstr>
      <vt:lpstr>Verdana</vt:lpstr>
      <vt:lpstr>Webdings</vt:lpstr>
      <vt:lpstr>Wingdings</vt:lpstr>
      <vt:lpstr>Wingdings 2</vt:lpstr>
      <vt:lpstr>n012TGp_Global_light</vt:lpstr>
      <vt:lpstr>1_n012TGp_Global_light</vt:lpstr>
      <vt:lpstr>Photoshop.Image.7</vt:lpstr>
      <vt:lpstr>C++程序设计基础教程</vt:lpstr>
      <vt:lpstr>内容提要</vt:lpstr>
      <vt:lpstr>第15章 *异常处理 </vt:lpstr>
      <vt:lpstr>15.1 异常处理的概念 </vt:lpstr>
      <vt:lpstr>15.1 异常处理的概念 </vt:lpstr>
      <vt:lpstr>15.1 异常处理的概念</vt:lpstr>
      <vt:lpstr>15.1 异常处理的概念</vt:lpstr>
      <vt:lpstr>15.1 异常处理的概念</vt:lpstr>
      <vt:lpstr>15.1 异常处理的概念</vt:lpstr>
      <vt:lpstr>15.1 异常处理的概念</vt:lpstr>
      <vt:lpstr>15.1 异常处理的概念</vt:lpstr>
      <vt:lpstr>15.2 异常处理的方法 </vt:lpstr>
      <vt:lpstr>15.2 异常处理的方法</vt:lpstr>
      <vt:lpstr>15.2 异常处理的方法</vt:lpstr>
      <vt:lpstr>15.2 异常处理的方法</vt:lpstr>
      <vt:lpstr>15.2.2 圈定及捕捉处理 </vt:lpstr>
      <vt:lpstr>异常处理的流程</vt:lpstr>
      <vt:lpstr>异常处理的流程</vt:lpstr>
      <vt:lpstr>PowerPoint 演示文稿</vt:lpstr>
      <vt:lpstr>PowerPoint 演示文稿</vt:lpstr>
      <vt:lpstr>PowerPoint 演示文稿</vt:lpstr>
      <vt:lpstr>PowerPoint 演示文稿</vt:lpstr>
      <vt:lpstr>PowerPoint 演示文稿</vt:lpstr>
      <vt:lpstr>15.2 异常处理的方法</vt:lpstr>
      <vt:lpstr>PowerPoint 演示文稿</vt:lpstr>
      <vt:lpstr>PowerPoint 演示文稿</vt:lpstr>
      <vt:lpstr>15.2 异常处理的方法</vt:lpstr>
      <vt:lpstr>另一个例子</vt:lpstr>
      <vt:lpstr>15.2.1  抛掷异常 </vt:lpstr>
      <vt:lpstr>15.2.1  抛掷异常</vt:lpstr>
      <vt:lpstr>15.2.1  抛掷异常</vt:lpstr>
      <vt:lpstr>15.2.1  抛掷异常</vt:lpstr>
      <vt:lpstr>例15.2 简单的异常处理 </vt:lpstr>
      <vt:lpstr>PowerPoint 演示文稿</vt:lpstr>
      <vt:lpstr>运行结果</vt:lpstr>
      <vt:lpstr>15.3 趣味程序</vt:lpstr>
      <vt:lpstr>15.4 小结</vt:lpstr>
      <vt:lpstr>16.4 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C++程序设计基础教程</dc:title>
  <dc:subject>第15章 异常处理</dc:subject>
  <dc:creator>LiQing</dc:creator>
  <cp:lastModifiedBy>daijz</cp:lastModifiedBy>
  <cp:revision>538</cp:revision>
  <dcterms:created xsi:type="dcterms:W3CDTF">2005-03-23T09:08:03Z</dcterms:created>
  <dcterms:modified xsi:type="dcterms:W3CDTF">2022-10-25T13:32:10Z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A0A8B06FD49C4A4692EA681A217DD880</vt:lpwstr>
  </property>
  <property fmtid="{D5CDD505-2E9C-101B-9397-08002B2CF9AE}" pid="3" name="KSOProductBuildVer">
    <vt:lpwstr>2052-11.1.0.12598</vt:lpwstr>
  </property>
</Properties>
</file>