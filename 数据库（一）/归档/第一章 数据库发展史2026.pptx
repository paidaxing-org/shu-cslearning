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 id="2147483671" r:id="rId3"/>
  </p:sldMasterIdLst>
  <p:notesMasterIdLst>
    <p:notesMasterId r:id="rId55"/>
  </p:notesMasterIdLst>
  <p:sldIdLst>
    <p:sldId id="392" r:id="rId4"/>
    <p:sldId id="256" r:id="rId5"/>
    <p:sldId id="257" r:id="rId6"/>
    <p:sldId id="258" r:id="rId7"/>
    <p:sldId id="259" r:id="rId8"/>
    <p:sldId id="260" r:id="rId9"/>
    <p:sldId id="261" r:id="rId10"/>
    <p:sldId id="262" r:id="rId11"/>
    <p:sldId id="263" r:id="rId12"/>
    <p:sldId id="264" r:id="rId13"/>
    <p:sldId id="265"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300" r:id="rId31"/>
    <p:sldId id="284" r:id="rId32"/>
    <p:sldId id="285" r:id="rId33"/>
    <p:sldId id="286" r:id="rId34"/>
    <p:sldId id="287" r:id="rId35"/>
    <p:sldId id="288" r:id="rId36"/>
    <p:sldId id="289" r:id="rId37"/>
    <p:sldId id="290" r:id="rId38"/>
    <p:sldId id="291" r:id="rId39"/>
    <p:sldId id="292" r:id="rId40"/>
    <p:sldId id="299" r:id="rId41"/>
    <p:sldId id="455" r:id="rId42"/>
    <p:sldId id="335" r:id="rId43"/>
    <p:sldId id="360" r:id="rId44"/>
    <p:sldId id="369" r:id="rId45"/>
    <p:sldId id="354" r:id="rId46"/>
    <p:sldId id="367" r:id="rId47"/>
    <p:sldId id="370" r:id="rId48"/>
    <p:sldId id="355" r:id="rId49"/>
    <p:sldId id="366" r:id="rId50"/>
    <p:sldId id="353" r:id="rId51"/>
    <p:sldId id="456" r:id="rId52"/>
    <p:sldId id="457" r:id="rId53"/>
    <p:sldId id="407" r:id="rId54"/>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just" defTabSz="914400" rtl="0" fontAlgn="auto" latinLnBrk="0" hangingPunct="0">
      <a:lnSpc>
        <a:spcPct val="18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Times New Roman"/>
      </a:defRPr>
    </a:lvl1pPr>
    <a:lvl2pPr marL="0" marR="0" indent="457200" algn="just" defTabSz="914400" rtl="0" fontAlgn="auto" latinLnBrk="0" hangingPunct="0">
      <a:lnSpc>
        <a:spcPct val="18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Times New Roman"/>
      </a:defRPr>
    </a:lvl2pPr>
    <a:lvl3pPr marL="0" marR="0" indent="914400" algn="just" defTabSz="914400" rtl="0" fontAlgn="auto" latinLnBrk="0" hangingPunct="0">
      <a:lnSpc>
        <a:spcPct val="18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Times New Roman"/>
      </a:defRPr>
    </a:lvl3pPr>
    <a:lvl4pPr marL="0" marR="0" indent="1371600" algn="just" defTabSz="914400" rtl="0" fontAlgn="auto" latinLnBrk="0" hangingPunct="0">
      <a:lnSpc>
        <a:spcPct val="18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Times New Roman"/>
      </a:defRPr>
    </a:lvl4pPr>
    <a:lvl5pPr marL="0" marR="0" indent="1828800" algn="just" defTabSz="914400" rtl="0" fontAlgn="auto" latinLnBrk="0" hangingPunct="0">
      <a:lnSpc>
        <a:spcPct val="18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Times New Roman"/>
      </a:defRPr>
    </a:lvl5pPr>
    <a:lvl6pPr marL="0" marR="0" indent="2286000" algn="just" defTabSz="914400" rtl="0" fontAlgn="auto" latinLnBrk="0" hangingPunct="0">
      <a:lnSpc>
        <a:spcPct val="18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Times New Roman"/>
      </a:defRPr>
    </a:lvl6pPr>
    <a:lvl7pPr marL="0" marR="0" indent="2743200" algn="just" defTabSz="914400" rtl="0" fontAlgn="auto" latinLnBrk="0" hangingPunct="0">
      <a:lnSpc>
        <a:spcPct val="18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Times New Roman"/>
      </a:defRPr>
    </a:lvl7pPr>
    <a:lvl8pPr marL="0" marR="0" indent="3200400" algn="just" defTabSz="914400" rtl="0" fontAlgn="auto" latinLnBrk="0" hangingPunct="0">
      <a:lnSpc>
        <a:spcPct val="18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Times New Roman"/>
      </a:defRPr>
    </a:lvl8pPr>
    <a:lvl9pPr marL="0" marR="0" indent="3657600" algn="just" defTabSz="914400" rtl="0" fontAlgn="auto" latinLnBrk="0" hangingPunct="0">
      <a:lnSpc>
        <a:spcPct val="18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Times New Roman"/>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FFFF"/>
          </a:solidFill>
        </a:fill>
      </a:tcStyle>
    </a:wholeTbl>
    <a:band2H>
      <a:tcTxStyle/>
      <a:tcStyle>
        <a:tcBdr/>
        <a:fill>
          <a:solidFill>
            <a:srgbClr val="E6FF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2E2FF"/>
          </a:solidFill>
        </a:fill>
      </a:tcStyle>
    </a:wholeTbl>
    <a:band2H>
      <a:tcTxStyle/>
      <a:tcStyle>
        <a:tcBdr/>
        <a:fill>
          <a:solidFill>
            <a:srgbClr val="F1F1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D1F6"/>
          </a:solidFill>
        </a:fill>
      </a:tcStyle>
    </a:wholeTbl>
    <a:band2H>
      <a:tcTxStyle/>
      <a:tcStyle>
        <a:tcBdr/>
        <a:fill>
          <a:solidFill>
            <a:srgbClr val="E7E9F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254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91"/>
    <p:restoredTop sz="63323"/>
  </p:normalViewPr>
  <p:slideViewPr>
    <p:cSldViewPr snapToGrid="0" snapToObjects="1">
      <p:cViewPr>
        <p:scale>
          <a:sx n="93" d="100"/>
          <a:sy n="93" d="100"/>
        </p:scale>
        <p:origin x="2392" y="-5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theme" Target="theme/theme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viewProps" Target="view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 name="Shape 102"/>
          <p:cNvSpPr>
            <a:spLocks noGrp="1" noRot="1" noChangeAspect="1"/>
          </p:cNvSpPr>
          <p:nvPr>
            <p:ph type="sldImg"/>
          </p:nvPr>
        </p:nvSpPr>
        <p:spPr>
          <a:xfrm>
            <a:off x="1143000" y="685800"/>
            <a:ext cx="4572000" cy="3429000"/>
          </a:xfrm>
          <a:prstGeom prst="rect">
            <a:avLst/>
          </a:prstGeom>
        </p:spPr>
        <p:txBody>
          <a:bodyPr/>
          <a:lstStyle/>
          <a:p>
            <a:endParaRPr/>
          </a:p>
        </p:txBody>
      </p:sp>
      <p:sp>
        <p:nvSpPr>
          <p:cNvPr id="103" name="Shape 10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Times New Roman"/>
      </a:defRPr>
    </a:lvl1pPr>
    <a:lvl2pPr indent="228600" latinLnBrk="0">
      <a:spcBef>
        <a:spcPts val="400"/>
      </a:spcBef>
      <a:defRPr sz="1200">
        <a:latin typeface="+mn-lt"/>
        <a:ea typeface="+mn-ea"/>
        <a:cs typeface="+mn-cs"/>
        <a:sym typeface="Times New Roman"/>
      </a:defRPr>
    </a:lvl2pPr>
    <a:lvl3pPr indent="457200" latinLnBrk="0">
      <a:spcBef>
        <a:spcPts val="400"/>
      </a:spcBef>
      <a:defRPr sz="1200">
        <a:latin typeface="+mn-lt"/>
        <a:ea typeface="+mn-ea"/>
        <a:cs typeface="+mn-cs"/>
        <a:sym typeface="Times New Roman"/>
      </a:defRPr>
    </a:lvl3pPr>
    <a:lvl4pPr indent="685800" latinLnBrk="0">
      <a:spcBef>
        <a:spcPts val="400"/>
      </a:spcBef>
      <a:defRPr sz="1200">
        <a:latin typeface="+mn-lt"/>
        <a:ea typeface="+mn-ea"/>
        <a:cs typeface="+mn-cs"/>
        <a:sym typeface="Times New Roman"/>
      </a:defRPr>
    </a:lvl4pPr>
    <a:lvl5pPr indent="914400" latinLnBrk="0">
      <a:spcBef>
        <a:spcPts val="400"/>
      </a:spcBef>
      <a:defRPr sz="1200">
        <a:latin typeface="+mn-lt"/>
        <a:ea typeface="+mn-ea"/>
        <a:cs typeface="+mn-cs"/>
        <a:sym typeface="Times New Roman"/>
      </a:defRPr>
    </a:lvl5pPr>
    <a:lvl6pPr indent="1143000" latinLnBrk="0">
      <a:spcBef>
        <a:spcPts val="400"/>
      </a:spcBef>
      <a:defRPr sz="1200">
        <a:latin typeface="+mn-lt"/>
        <a:ea typeface="+mn-ea"/>
        <a:cs typeface="+mn-cs"/>
        <a:sym typeface="Times New Roman"/>
      </a:defRPr>
    </a:lvl6pPr>
    <a:lvl7pPr indent="1371600" latinLnBrk="0">
      <a:spcBef>
        <a:spcPts val="400"/>
      </a:spcBef>
      <a:defRPr sz="1200">
        <a:latin typeface="+mn-lt"/>
        <a:ea typeface="+mn-ea"/>
        <a:cs typeface="+mn-cs"/>
        <a:sym typeface="Times New Roman"/>
      </a:defRPr>
    </a:lvl7pPr>
    <a:lvl8pPr indent="1600200" latinLnBrk="0">
      <a:spcBef>
        <a:spcPts val="400"/>
      </a:spcBef>
      <a:defRPr sz="1200">
        <a:latin typeface="+mn-lt"/>
        <a:ea typeface="+mn-ea"/>
        <a:cs typeface="+mn-cs"/>
        <a:sym typeface="Times New Roman"/>
      </a:defRPr>
    </a:lvl8pPr>
    <a:lvl9pPr indent="1828800" latinLnBrk="0">
      <a:spcBef>
        <a:spcPts val="400"/>
      </a:spcBef>
      <a:defRPr sz="1200">
        <a:latin typeface="+mn-lt"/>
        <a:ea typeface="+mn-ea"/>
        <a:cs typeface="+mn-cs"/>
        <a:sym typeface="Times New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例如学校里教务处、财务处、保卫处建立的文件中都有学生详细资料，譬如联系电话，家 庭住址等。这就是“数据”冗余；如果某个学生搬家，就要修改三个部门文件中的数据， 否则会引起同一数据在三个部门中不一致；产生上述问题的原因是这三个部门的文件中数据没有联系。</a:t>
            </a:r>
          </a:p>
        </p:txBody>
      </p:sp>
    </p:spTree>
    <p:extLst>
      <p:ext uri="{BB962C8B-B14F-4D97-AF65-F5344CB8AC3E}">
        <p14:creationId xmlns:p14="http://schemas.microsoft.com/office/powerpoint/2010/main" val="3822283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4269600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进入数据库阶段的标志是 </a:t>
            </a:r>
            <a:r>
              <a:rPr kumimoji="1" lang="en-US" altLang="zh-CN" dirty="0"/>
              <a:t>20 </a:t>
            </a:r>
            <a:r>
              <a:rPr kumimoji="1" lang="zh-CN" altLang="en-US" dirty="0"/>
              <a:t>世纪 </a:t>
            </a:r>
            <a:r>
              <a:rPr kumimoji="1" lang="en-US" altLang="zh-CN" dirty="0"/>
              <a:t>60 </a:t>
            </a:r>
            <a:r>
              <a:rPr kumimoji="1" lang="zh-CN" altLang="en-US" dirty="0"/>
              <a:t>年代末发生的三件事件： </a:t>
            </a:r>
            <a:r>
              <a:rPr kumimoji="1" lang="en-US" altLang="zh-CN" dirty="0"/>
              <a:t>·1968 </a:t>
            </a:r>
            <a:r>
              <a:rPr kumimoji="1" lang="zh-CN" altLang="en-US" dirty="0"/>
              <a:t>年 </a:t>
            </a:r>
            <a:r>
              <a:rPr kumimoji="1" lang="en-US" altLang="zh-CN" dirty="0"/>
              <a:t>IBM </a:t>
            </a:r>
            <a:r>
              <a:rPr kumimoji="1" lang="zh-CN" altLang="en-US" dirty="0"/>
              <a:t>公司研制的 </a:t>
            </a:r>
            <a:r>
              <a:rPr kumimoji="1" lang="en-US" altLang="zh-CN" dirty="0"/>
              <a:t>IMS </a:t>
            </a:r>
            <a:r>
              <a:rPr kumimoji="1" lang="zh-CN" altLang="en-US" dirty="0"/>
              <a:t>系统是一个典型的层次 </a:t>
            </a:r>
            <a:r>
              <a:rPr kumimoji="1" lang="en-US" altLang="zh-CN" dirty="0"/>
              <a:t>DBS</a:t>
            </a:r>
            <a:r>
              <a:rPr kumimoji="1" lang="zh-CN" altLang="en-US" dirty="0"/>
              <a:t>； </a:t>
            </a:r>
            <a:r>
              <a:rPr kumimoji="1" lang="en-US" altLang="zh-CN" dirty="0"/>
              <a:t>·1969 </a:t>
            </a:r>
            <a:r>
              <a:rPr kumimoji="1" lang="zh-CN" altLang="en-US" dirty="0"/>
              <a:t>年美国 </a:t>
            </a:r>
            <a:r>
              <a:rPr kumimoji="1" lang="en-US" altLang="zh-CN" dirty="0"/>
              <a:t>CODASYL </a:t>
            </a:r>
            <a:r>
              <a:rPr kumimoji="1" lang="zh-CN" altLang="en-US" dirty="0"/>
              <a:t>组织 </a:t>
            </a:r>
            <a:r>
              <a:rPr kumimoji="1" lang="en-US" altLang="zh-CN" dirty="0"/>
              <a:t>DBTG </a:t>
            </a:r>
            <a:r>
              <a:rPr kumimoji="1" lang="zh-CN" altLang="en-US" dirty="0"/>
              <a:t>报告，提出网状 </a:t>
            </a:r>
            <a:r>
              <a:rPr kumimoji="1" lang="en-US" altLang="zh-CN" dirty="0"/>
              <a:t>DBS </a:t>
            </a:r>
            <a:r>
              <a:rPr kumimoji="1" lang="zh-CN" altLang="en-US" dirty="0"/>
              <a:t>的概念； </a:t>
            </a:r>
            <a:r>
              <a:rPr kumimoji="1" lang="en-US" altLang="zh-CN" dirty="0"/>
              <a:t>·1970 </a:t>
            </a:r>
            <a:r>
              <a:rPr kumimoji="1" lang="zh-CN" altLang="en-US" dirty="0"/>
              <a:t>年美国 </a:t>
            </a:r>
            <a:r>
              <a:rPr kumimoji="1" lang="en-US" altLang="zh-CN" dirty="0"/>
              <a:t>IBM </a:t>
            </a:r>
            <a:r>
              <a:rPr kumimoji="1" lang="zh-CN" altLang="en-US" dirty="0"/>
              <a:t>公司的 </a:t>
            </a:r>
            <a:r>
              <a:rPr kumimoji="1" lang="en-US" altLang="zh-CN" dirty="0" err="1"/>
              <a:t>E.F.Codd</a:t>
            </a:r>
            <a:r>
              <a:rPr kumimoji="1" lang="en-US" altLang="zh-CN" dirty="0"/>
              <a:t> </a:t>
            </a:r>
            <a:r>
              <a:rPr kumimoji="1" lang="zh-CN" altLang="en-US" dirty="0"/>
              <a:t>发表论文，提出关系模型的思想。</a:t>
            </a:r>
          </a:p>
        </p:txBody>
      </p:sp>
    </p:spTree>
    <p:extLst>
      <p:ext uri="{BB962C8B-B14F-4D97-AF65-F5344CB8AC3E}">
        <p14:creationId xmlns:p14="http://schemas.microsoft.com/office/powerpoint/2010/main" val="1831242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回忆文件系统三大缺陷，如何消除？</a:t>
            </a:r>
          </a:p>
        </p:txBody>
      </p:sp>
    </p:spTree>
    <p:extLst>
      <p:ext uri="{BB962C8B-B14F-4D97-AF65-F5344CB8AC3E}">
        <p14:creationId xmlns:p14="http://schemas.microsoft.com/office/powerpoint/2010/main" val="384301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CRUD</a:t>
            </a:r>
          </a:p>
          <a:p>
            <a:r>
              <a:rPr lang="zh-CN" altLang="en-US" b="0" i="0" u="none" strike="noStrike" dirty="0">
                <a:solidFill>
                  <a:srgbClr val="262626"/>
                </a:solidFill>
                <a:effectLst/>
                <a:latin typeface="-apple-system"/>
              </a:rPr>
              <a:t>创建</a:t>
            </a:r>
            <a:r>
              <a:rPr lang="en-US" altLang="zh-CN" b="0" i="0" u="none" strike="noStrike" dirty="0">
                <a:solidFill>
                  <a:srgbClr val="262626"/>
                </a:solidFill>
                <a:effectLst/>
                <a:latin typeface="-apple-system"/>
              </a:rPr>
              <a:t>(Create)</a:t>
            </a:r>
            <a:r>
              <a:rPr lang="zh-CN" altLang="en-US" b="0" i="0" u="none" strike="noStrike" dirty="0">
                <a:solidFill>
                  <a:srgbClr val="262626"/>
                </a:solidFill>
                <a:effectLst/>
                <a:latin typeface="-apple-system"/>
              </a:rPr>
              <a:t>、读取</a:t>
            </a:r>
            <a:r>
              <a:rPr lang="en-US" altLang="zh-CN" b="0" i="0" u="none" strike="noStrike" dirty="0">
                <a:solidFill>
                  <a:srgbClr val="262626"/>
                </a:solidFill>
                <a:effectLst/>
                <a:latin typeface="-apple-system"/>
              </a:rPr>
              <a:t>(Retrieve)</a:t>
            </a:r>
            <a:r>
              <a:rPr lang="zh-CN" altLang="en-US" b="0" i="0" u="none" strike="noStrike" dirty="0">
                <a:solidFill>
                  <a:srgbClr val="262626"/>
                </a:solidFill>
                <a:effectLst/>
                <a:latin typeface="-apple-system"/>
              </a:rPr>
              <a:t>、更新</a:t>
            </a:r>
            <a:r>
              <a:rPr lang="en-US" altLang="zh-CN" b="0" i="0" u="none" strike="noStrike" dirty="0">
                <a:solidFill>
                  <a:srgbClr val="262626"/>
                </a:solidFill>
                <a:effectLst/>
                <a:latin typeface="-apple-system"/>
              </a:rPr>
              <a:t>(Update)</a:t>
            </a:r>
            <a:r>
              <a:rPr lang="zh-CN" altLang="en-US" b="0" i="0" u="none" strike="noStrike" dirty="0">
                <a:solidFill>
                  <a:srgbClr val="262626"/>
                </a:solidFill>
                <a:effectLst/>
                <a:latin typeface="-apple-system"/>
              </a:rPr>
              <a:t>、删除</a:t>
            </a:r>
            <a:r>
              <a:rPr lang="en-US" altLang="zh-CN" b="0" i="0" u="none" strike="noStrike" dirty="0">
                <a:solidFill>
                  <a:srgbClr val="262626"/>
                </a:solidFill>
                <a:effectLst/>
                <a:latin typeface="-apple-system"/>
              </a:rPr>
              <a:t>(Delete)</a:t>
            </a:r>
            <a:endParaRPr kumimoji="1" lang="zh-CN" altLang="en-US" dirty="0"/>
          </a:p>
        </p:txBody>
      </p:sp>
    </p:spTree>
    <p:extLst>
      <p:ext uri="{BB962C8B-B14F-4D97-AF65-F5344CB8AC3E}">
        <p14:creationId xmlns:p14="http://schemas.microsoft.com/office/powerpoint/2010/main" val="1659042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spcBef>
                <a:spcPts val="2100"/>
              </a:spcBef>
              <a:defRPr sz="3600" b="1">
                <a:effectLst>
                  <a:outerShdw blurRad="38100" dist="38100" dir="2700000" rotWithShape="0">
                    <a:srgbClr val="C0C0C0"/>
                  </a:outerShdw>
                </a:effectLst>
              </a:defRPr>
            </a:pPr>
            <a:r>
              <a:rPr lang="zh-CN" altLang="en-US" sz="1200" b="0" dirty="0">
                <a:solidFill>
                  <a:srgbClr val="00006A"/>
                </a:solidFill>
                <a:latin typeface="Wingdings 3"/>
                <a:ea typeface="Wingdings 3"/>
                <a:cs typeface="Wingdings 3"/>
                <a:sym typeface="Wingdings 3"/>
              </a:rPr>
              <a:t> </a:t>
            </a:r>
            <a:r>
              <a:rPr lang="zh-CN" altLang="en-US" sz="1200" b="0" dirty="0">
                <a:solidFill>
                  <a:srgbClr val="00006A"/>
                </a:solidFill>
                <a:latin typeface="SimSun"/>
                <a:ea typeface="SimSun"/>
                <a:cs typeface="SimSun"/>
                <a:sym typeface="SimSun"/>
              </a:rPr>
              <a:t>分布式数据库技术</a:t>
            </a:r>
            <a:endParaRPr lang="zh-CN" altLang="en-US" b="0" dirty="0">
              <a:latin typeface="SimSong Bold"/>
              <a:ea typeface="SimSong Bold"/>
              <a:cs typeface="SimSong Bold"/>
              <a:sym typeface="SimSong Bold"/>
            </a:endParaRPr>
          </a:p>
          <a:p>
            <a:pPr algn="l">
              <a:lnSpc>
                <a:spcPct val="150000"/>
              </a:lnSpc>
              <a:spcBef>
                <a:spcPts val="1600"/>
              </a:spcBef>
              <a:defRPr b="1">
                <a:solidFill>
                  <a:srgbClr val="00006A"/>
                </a:solidFill>
              </a:defRPr>
            </a:pPr>
            <a:r>
              <a:rPr lang="zh-CN" altLang="en-US" b="0" dirty="0">
                <a:latin typeface="Wingdings 3"/>
                <a:ea typeface="Wingdings 3"/>
                <a:cs typeface="Wingdings 3"/>
                <a:sym typeface="Wingdings 3"/>
              </a:rPr>
              <a:t> </a:t>
            </a:r>
            <a:r>
              <a:rPr lang="zh-CN" altLang="en-US" b="0" dirty="0">
                <a:latin typeface="SimSun"/>
                <a:ea typeface="SimSun"/>
                <a:cs typeface="SimSun"/>
                <a:sym typeface="SimSun"/>
              </a:rPr>
              <a:t>面向对象数据库技术</a:t>
            </a:r>
            <a:endParaRPr lang="zh-CN" altLang="en-US" b="0" dirty="0">
              <a:latin typeface="SimSong Bold"/>
              <a:ea typeface="SimSong Bold"/>
              <a:cs typeface="SimSong Bold"/>
              <a:sym typeface="SimSong Bold"/>
            </a:endParaRPr>
          </a:p>
          <a:p>
            <a:pPr algn="l">
              <a:lnSpc>
                <a:spcPct val="150000"/>
              </a:lnSpc>
              <a:spcBef>
                <a:spcPts val="1600"/>
              </a:spcBef>
              <a:defRPr b="1">
                <a:solidFill>
                  <a:srgbClr val="00006A"/>
                </a:solidFill>
              </a:defRPr>
            </a:pPr>
            <a:r>
              <a:rPr lang="zh-CN" altLang="en-US" b="0" dirty="0">
                <a:latin typeface="Wingdings 3"/>
                <a:ea typeface="Wingdings 3"/>
                <a:cs typeface="Wingdings 3"/>
                <a:sym typeface="Wingdings 3"/>
              </a:rPr>
              <a:t> </a:t>
            </a:r>
            <a:r>
              <a:rPr lang="zh-CN" altLang="en-US" b="0" dirty="0">
                <a:latin typeface="SimSun"/>
                <a:ea typeface="SimSun"/>
                <a:cs typeface="SimSun"/>
                <a:sym typeface="SimSun"/>
              </a:rPr>
              <a:t>数据仓库</a:t>
            </a:r>
          </a:p>
          <a:p>
            <a:pPr algn="l">
              <a:lnSpc>
                <a:spcPct val="150000"/>
              </a:lnSpc>
              <a:spcBef>
                <a:spcPts val="1600"/>
              </a:spcBef>
              <a:defRPr b="1">
                <a:solidFill>
                  <a:srgbClr val="00006A"/>
                </a:solidFill>
              </a:defRPr>
            </a:pPr>
            <a:r>
              <a:rPr lang="zh-CN" altLang="en-US" b="0" dirty="0">
                <a:latin typeface="Wingdings 3"/>
                <a:ea typeface="Wingdings 3"/>
                <a:cs typeface="Wingdings 3"/>
                <a:sym typeface="Wingdings 3"/>
              </a:rPr>
              <a:t> </a:t>
            </a:r>
            <a:r>
              <a:rPr lang="zh-CN" altLang="en-US" b="0" dirty="0">
                <a:latin typeface="SimSun"/>
                <a:ea typeface="SimSun"/>
                <a:cs typeface="SimSun"/>
                <a:sym typeface="SimSun"/>
              </a:rPr>
              <a:t>云数据库</a:t>
            </a:r>
          </a:p>
          <a:p>
            <a:pPr algn="l">
              <a:lnSpc>
                <a:spcPct val="150000"/>
              </a:lnSpc>
              <a:spcBef>
                <a:spcPts val="1600"/>
              </a:spcBef>
              <a:defRPr b="1">
                <a:solidFill>
                  <a:srgbClr val="00006A"/>
                </a:solidFill>
              </a:defRPr>
            </a:pPr>
            <a:r>
              <a:rPr lang="zh-CN" altLang="en-US" b="0" dirty="0">
                <a:latin typeface="Wingdings 3"/>
                <a:ea typeface="Wingdings 3"/>
                <a:cs typeface="Wingdings 3"/>
                <a:sym typeface="Wingdings 3"/>
              </a:rPr>
              <a:t> </a:t>
            </a:r>
            <a:r>
              <a:rPr lang="zh-CN" altLang="en-US" b="0" dirty="0">
                <a:latin typeface="SimSun"/>
                <a:ea typeface="SimSun"/>
                <a:cs typeface="SimSun"/>
                <a:sym typeface="SimSun"/>
              </a:rPr>
              <a:t>大数据</a:t>
            </a:r>
          </a:p>
          <a:p>
            <a:pPr algn="l">
              <a:lnSpc>
                <a:spcPct val="150000"/>
              </a:lnSpc>
              <a:spcBef>
                <a:spcPts val="1900"/>
              </a:spcBef>
              <a:defRPr b="1">
                <a:solidFill>
                  <a:srgbClr val="00006A"/>
                </a:solidFill>
              </a:defRPr>
            </a:pPr>
            <a:r>
              <a:rPr lang="zh-CN" altLang="en-US" b="0" dirty="0">
                <a:latin typeface="Wingdings 3"/>
                <a:ea typeface="Wingdings 3"/>
                <a:cs typeface="Wingdings 3"/>
                <a:sym typeface="Wingdings 3"/>
              </a:rPr>
              <a:t></a:t>
            </a:r>
            <a:r>
              <a:rPr lang="zh-CN" altLang="en-US" dirty="0">
                <a:latin typeface="Wingdings 3"/>
                <a:ea typeface="Wingdings 3"/>
                <a:cs typeface="Wingdings 3"/>
                <a:sym typeface="Wingdings 3"/>
              </a:rPr>
              <a:t> </a:t>
            </a:r>
            <a:r>
              <a:rPr lang="zh-CN" altLang="en-US" b="0" dirty="0">
                <a:latin typeface="SimSun"/>
                <a:ea typeface="SimSun"/>
                <a:cs typeface="SimSun"/>
                <a:sym typeface="SimSun"/>
              </a:rPr>
              <a:t>其他新型数据库技术</a:t>
            </a:r>
            <a:r>
              <a:rPr lang="zh-CN" altLang="en-US" dirty="0"/>
              <a:t>      </a:t>
            </a:r>
            <a:r>
              <a:rPr lang="zh-CN" altLang="en-US" dirty="0">
                <a:solidFill>
                  <a:srgbClr val="000000"/>
                </a:solidFill>
              </a:rPr>
              <a:t>       </a:t>
            </a:r>
            <a:r>
              <a:rPr lang="zh-CN" altLang="en-US" sz="1400" dirty="0">
                <a:solidFill>
                  <a:srgbClr val="000000"/>
                </a:solidFill>
              </a:rPr>
              <a:t>                                                   </a:t>
            </a:r>
          </a:p>
          <a:p>
            <a:endParaRPr kumimoji="1" lang="zh-CN" altLang="en-US" dirty="0"/>
          </a:p>
        </p:txBody>
      </p:sp>
    </p:spTree>
    <p:extLst>
      <p:ext uri="{BB962C8B-B14F-4D97-AF65-F5344CB8AC3E}">
        <p14:creationId xmlns:p14="http://schemas.microsoft.com/office/powerpoint/2010/main" val="3245374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传统的关系数据库不擅长处理大量的历史数据和多维度的数据建模，且对业务系统的性能造成很大的挑战，影响正常交易。于是数据仓库（</a:t>
            </a:r>
            <a:r>
              <a:rPr lang="en-US" altLang="zh-CN" dirty="0"/>
              <a:t>1980</a:t>
            </a:r>
            <a:r>
              <a:rPr lang="zh-CN" altLang="en-US" dirty="0"/>
              <a:t>年中后期）出现了</a:t>
            </a:r>
            <a:endParaRPr lang="en-US" altLang="zh-CN" dirty="0"/>
          </a:p>
          <a:p>
            <a:endParaRPr lang="en-US" altLang="zh-CN" b="1" i="0" dirty="0">
              <a:solidFill>
                <a:srgbClr val="BE191C"/>
              </a:solidFill>
              <a:effectLst/>
              <a:latin typeface="-apple-system"/>
            </a:endParaRPr>
          </a:p>
          <a:p>
            <a:r>
              <a:rPr lang="zh-CN" altLang="en-US" b="0" i="0" dirty="0">
                <a:solidFill>
                  <a:srgbClr val="BE191C"/>
                </a:solidFill>
                <a:effectLst/>
                <a:latin typeface="-apple-system"/>
              </a:rPr>
              <a:t>数据仓库是一个面向主题的</a:t>
            </a:r>
            <a:r>
              <a:rPr lang="en-US" altLang="zh-CN" b="0" i="0" dirty="0">
                <a:solidFill>
                  <a:srgbClr val="BE191C"/>
                </a:solidFill>
                <a:effectLst/>
                <a:latin typeface="-apple-system"/>
              </a:rPr>
              <a:t>…..</a:t>
            </a:r>
          </a:p>
          <a:p>
            <a:endParaRPr lang="en-US" altLang="zh-CN" b="0" i="0" dirty="0">
              <a:solidFill>
                <a:srgbClr val="BE191C"/>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数据仓库背后理念是：</a:t>
            </a:r>
            <a:r>
              <a:rPr lang="zh-CN" altLang="en-US" b="1" i="0" dirty="0">
                <a:solidFill>
                  <a:srgbClr val="BE191C"/>
                </a:solidFill>
                <a:effectLst/>
                <a:latin typeface="-apple-system"/>
              </a:rPr>
              <a:t>专业的人做专业的事情。业务系统中使用传统的关系型数据库专门处理交易型需求，数据仓库处理分析型需求</a:t>
            </a:r>
            <a:endParaRPr lang="en-US" altLang="zh-CN" b="1" i="0" dirty="0">
              <a:solidFill>
                <a:srgbClr val="BE191C"/>
              </a:solidFill>
              <a:effectLst/>
              <a:latin typeface="-apple-system"/>
            </a:endParaRPr>
          </a:p>
          <a:p>
            <a:endParaRPr lang="en-US" altLang="zh-CN" b="1" i="0" dirty="0">
              <a:solidFill>
                <a:srgbClr val="BE191C"/>
              </a:solidFill>
              <a:effectLst/>
              <a:latin typeface="-apple-system"/>
            </a:endParaRPr>
          </a:p>
          <a:p>
            <a:endParaRPr lang="en-US" altLang="zh-CN" b="0" i="0" dirty="0">
              <a:solidFill>
                <a:srgbClr val="222222"/>
              </a:solidFill>
              <a:effectLst/>
              <a:latin typeface="Arial" panose="020B0604020202020204" pitchFamily="34" charset="0"/>
            </a:endParaRPr>
          </a:p>
          <a:p>
            <a:r>
              <a:rPr lang="zh-CN" altLang="en-US" b="0" i="0" u="none" strike="noStrike" dirty="0">
                <a:solidFill>
                  <a:srgbClr val="222222"/>
                </a:solidFill>
                <a:effectLst/>
                <a:latin typeface="arial" panose="020B0604020202020204" pitchFamily="34" charset="0"/>
              </a:rPr>
              <a:t>数据仓库由比尔</a:t>
            </a:r>
            <a:r>
              <a:rPr lang="en-US" altLang="zh-CN" b="0" i="0" u="none" strike="noStrike" dirty="0">
                <a:solidFill>
                  <a:srgbClr val="222222"/>
                </a:solidFill>
                <a:effectLst/>
                <a:latin typeface="arial" panose="020B0604020202020204" pitchFamily="34" charset="0"/>
              </a:rPr>
              <a:t>·</a:t>
            </a:r>
            <a:r>
              <a:rPr lang="zh-CN" altLang="en-US" b="0" i="0" u="none" strike="noStrike" dirty="0">
                <a:solidFill>
                  <a:srgbClr val="222222"/>
                </a:solidFill>
                <a:effectLst/>
                <a:latin typeface="arial" panose="020B0604020202020204" pitchFamily="34" charset="0"/>
              </a:rPr>
              <a:t>恩门（</a:t>
            </a:r>
            <a:r>
              <a:rPr lang="en-US" altLang="zh-CN" b="0" i="0" u="none" strike="noStrike" dirty="0">
                <a:solidFill>
                  <a:srgbClr val="222222"/>
                </a:solidFill>
                <a:effectLst/>
                <a:latin typeface="arial" panose="020B0604020202020204" pitchFamily="34" charset="0"/>
              </a:rPr>
              <a:t>Bill </a:t>
            </a:r>
            <a:r>
              <a:rPr lang="en-US" altLang="zh-CN" b="0" i="0" u="none" strike="noStrike" dirty="0" err="1">
                <a:solidFill>
                  <a:srgbClr val="222222"/>
                </a:solidFill>
                <a:effectLst/>
                <a:latin typeface="arial" panose="020B0604020202020204" pitchFamily="34" charset="0"/>
              </a:rPr>
              <a:t>Inmon</a:t>
            </a:r>
            <a:r>
              <a:rPr lang="zh-CN" altLang="en-US" b="0" i="0" u="none" strike="noStrike" dirty="0">
                <a:solidFill>
                  <a:srgbClr val="222222"/>
                </a:solidFill>
                <a:effectLst/>
                <a:latin typeface="arial" panose="020B0604020202020204" pitchFamily="34" charset="0"/>
              </a:rPr>
              <a:t>，数据仓库之父）于</a:t>
            </a:r>
            <a:r>
              <a:rPr lang="en-US" altLang="zh-CN" b="0" i="0" u="none" strike="noStrike" dirty="0">
                <a:solidFill>
                  <a:srgbClr val="222222"/>
                </a:solidFill>
                <a:effectLst/>
                <a:latin typeface="arial" panose="020B0604020202020204" pitchFamily="34" charset="0"/>
              </a:rPr>
              <a:t>1990</a:t>
            </a:r>
            <a:r>
              <a:rPr lang="zh-CN" altLang="en-US" b="0" i="0" u="none" strike="noStrike" dirty="0">
                <a:solidFill>
                  <a:srgbClr val="222222"/>
                </a:solidFill>
                <a:effectLst/>
                <a:latin typeface="arial" panose="020B0604020202020204" pitchFamily="34" charset="0"/>
              </a:rPr>
              <a:t>年提出，主要功能是将企业系统联机事务处理（</a:t>
            </a:r>
            <a:r>
              <a:rPr lang="en-US" altLang="zh-CN" b="0" i="0" u="none" strike="noStrike" dirty="0">
                <a:solidFill>
                  <a:srgbClr val="222222"/>
                </a:solidFill>
                <a:effectLst/>
                <a:latin typeface="arial" panose="020B0604020202020204" pitchFamily="34" charset="0"/>
              </a:rPr>
              <a:t>OLTP</a:t>
            </a:r>
            <a:r>
              <a:rPr lang="zh-CN" altLang="en-US" b="0" i="0" u="none" strike="noStrike" dirty="0">
                <a:solidFill>
                  <a:srgbClr val="222222"/>
                </a:solidFill>
                <a:effectLst/>
                <a:latin typeface="arial" panose="020B0604020202020204" pitchFamily="34" charset="0"/>
              </a:rPr>
              <a:t>）长期壁垒的大量数据，通过数据仓库理论支持所持有的数据存储结构，做有系统的分析整理。</a:t>
            </a: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E2B322-AF06-46BC-B595-6BD3B2954C2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89938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22222"/>
                </a:solidFill>
                <a:effectLst/>
                <a:latin typeface="Arial" panose="020B0604020202020204" pitchFamily="34" charset="0"/>
              </a:rPr>
              <a:t>数据仓库对于数据的处理可分为数据集成（装载）、数据加工（</a:t>
            </a:r>
            <a:r>
              <a:rPr lang="en-US" altLang="zh-CN" b="0" i="0" dirty="0">
                <a:solidFill>
                  <a:srgbClr val="222222"/>
                </a:solidFill>
                <a:effectLst/>
                <a:latin typeface="Arial" panose="020B0604020202020204" pitchFamily="34" charset="0"/>
              </a:rPr>
              <a:t>ETL</a:t>
            </a:r>
            <a:r>
              <a:rPr lang="zh-CN" altLang="en-US" b="0" i="0" dirty="0">
                <a:solidFill>
                  <a:srgbClr val="222222"/>
                </a:solidFill>
                <a:effectLst/>
                <a:latin typeface="Arial" panose="020B0604020202020204" pitchFamily="34" charset="0"/>
              </a:rPr>
              <a:t>）、数据汇聚、数据展示及挖掘。数据经过这一过程，被抽取到数据仓库中，并</a:t>
            </a:r>
            <a:r>
              <a:rPr lang="zh-CN" altLang="en-US" b="1" i="0" dirty="0">
                <a:solidFill>
                  <a:srgbClr val="222222"/>
                </a:solidFill>
                <a:effectLst/>
                <a:latin typeface="Arial" panose="020B0604020202020204" pitchFamily="34" charset="0"/>
              </a:rPr>
              <a:t>严格按照预先定义的模式被装载进来</a:t>
            </a:r>
            <a:r>
              <a:rPr lang="zh-CN" altLang="en-US" b="0" i="0" dirty="0">
                <a:solidFill>
                  <a:srgbClr val="222222"/>
                </a:solidFill>
                <a:effectLst/>
                <a:latin typeface="Arial" panose="020B0604020202020204" pitchFamily="34" charset="0"/>
              </a:rPr>
              <a:t>，经过多层加工形成数据集市，并最终提供给终端应用或进一步供挖掘使用，主要场景包括编制报表、发布下游数据集市</a:t>
            </a:r>
            <a:r>
              <a:rPr lang="en-US" altLang="zh-CN" b="0" i="0" dirty="0">
                <a:solidFill>
                  <a:srgbClr val="222222"/>
                </a:solidFill>
                <a:effectLst/>
                <a:latin typeface="Arial" panose="020B0604020202020204" pitchFamily="34" charset="0"/>
              </a:rPr>
              <a:t>(Data Marts)</a:t>
            </a:r>
            <a:r>
              <a:rPr lang="zh-CN" altLang="en-US" b="0" i="0" dirty="0">
                <a:solidFill>
                  <a:srgbClr val="222222"/>
                </a:solidFill>
                <a:effectLst/>
                <a:latin typeface="Arial" panose="020B0604020202020204" pitchFamily="34" charset="0"/>
              </a:rPr>
              <a:t>，以及支持自助式商业智能等。</a:t>
            </a:r>
            <a:endParaRPr lang="en-US" altLang="zh-CN" b="0" i="0" dirty="0">
              <a:solidFill>
                <a:srgbClr val="222222"/>
              </a:solidFill>
              <a:effectLst/>
              <a:latin typeface="Arial" panose="020B0604020202020204" pitchFamily="34" charset="0"/>
            </a:endParaRPr>
          </a:p>
          <a:p>
            <a:endParaRPr kumimoji="1" lang="en-US" altLang="zh-CN" dirty="0"/>
          </a:p>
          <a:p>
            <a:endParaRPr kumimoji="1" lang="en-US" altLang="zh-CN" dirty="0"/>
          </a:p>
          <a:p>
            <a:r>
              <a:rPr lang="zh-CN" altLang="en-US" b="0" i="0" u="none" strike="noStrike" dirty="0">
                <a:solidFill>
                  <a:srgbClr val="222222"/>
                </a:solidFill>
                <a:effectLst/>
                <a:latin typeface="arial" panose="020B0604020202020204" pitchFamily="34" charset="0"/>
              </a:rPr>
              <a:t>传统的数据仓库集成处理架构是</a:t>
            </a:r>
            <a:r>
              <a:rPr lang="en-US" altLang="zh-CN" b="0" i="0" u="none" strike="noStrike" dirty="0">
                <a:solidFill>
                  <a:srgbClr val="222222"/>
                </a:solidFill>
                <a:effectLst/>
                <a:latin typeface="arial" panose="020B0604020202020204" pitchFamily="34" charset="0"/>
              </a:rPr>
              <a:t>ETL</a:t>
            </a:r>
            <a:r>
              <a:rPr lang="zh-CN" altLang="en-US" b="0" i="0" u="none" strike="noStrike" dirty="0">
                <a:solidFill>
                  <a:srgbClr val="222222"/>
                </a:solidFill>
                <a:effectLst/>
                <a:latin typeface="arial" panose="020B0604020202020204" pitchFamily="34" charset="0"/>
              </a:rPr>
              <a:t>，利用</a:t>
            </a:r>
            <a:r>
              <a:rPr lang="en-US" altLang="zh-CN" b="0" i="0" u="none" strike="noStrike" dirty="0">
                <a:solidFill>
                  <a:srgbClr val="222222"/>
                </a:solidFill>
                <a:effectLst/>
                <a:latin typeface="arial" panose="020B0604020202020204" pitchFamily="34" charset="0"/>
              </a:rPr>
              <a:t>ETL</a:t>
            </a:r>
            <a:r>
              <a:rPr lang="zh-CN" altLang="en-US" b="0" i="0" u="none" strike="noStrike" dirty="0">
                <a:solidFill>
                  <a:srgbClr val="222222"/>
                </a:solidFill>
                <a:effectLst/>
                <a:latin typeface="arial" panose="020B0604020202020204" pitchFamily="34" charset="0"/>
              </a:rPr>
              <a:t>平台的能力，</a:t>
            </a:r>
            <a:r>
              <a:rPr lang="en-US" altLang="zh-CN" b="1" i="0" u="none" strike="noStrike" dirty="0">
                <a:solidFill>
                  <a:srgbClr val="333333"/>
                </a:solidFill>
                <a:effectLst/>
                <a:latin typeface="arial" panose="020B0604020202020204" pitchFamily="34" charset="0"/>
              </a:rPr>
              <a:t>E=</a:t>
            </a:r>
            <a:r>
              <a:rPr lang="zh-CN" altLang="en-US" b="1" i="0" u="none" strike="noStrike" dirty="0">
                <a:solidFill>
                  <a:srgbClr val="333333"/>
                </a:solidFill>
                <a:effectLst/>
                <a:latin typeface="arial" panose="020B0604020202020204" pitchFamily="34" charset="0"/>
              </a:rPr>
              <a:t>从源数据库抽取数据</a:t>
            </a:r>
            <a:r>
              <a:rPr lang="zh-CN" altLang="en-US" b="0" i="0" u="none" strike="noStrike" dirty="0">
                <a:solidFill>
                  <a:srgbClr val="222222"/>
                </a:solidFill>
                <a:effectLst/>
                <a:latin typeface="arial" panose="020B0604020202020204" pitchFamily="34" charset="0"/>
              </a:rPr>
              <a:t>，</a:t>
            </a:r>
            <a:r>
              <a:rPr lang="en-US" altLang="zh-CN" b="1" i="0" u="none" strike="noStrike" dirty="0">
                <a:solidFill>
                  <a:srgbClr val="333333"/>
                </a:solidFill>
                <a:effectLst/>
                <a:latin typeface="arial" panose="020B0604020202020204" pitchFamily="34" charset="0"/>
              </a:rPr>
              <a:t>T=</a:t>
            </a:r>
            <a:r>
              <a:rPr lang="zh-CN" altLang="en-US" b="1" i="0" u="none" strike="noStrike" dirty="0">
                <a:solidFill>
                  <a:srgbClr val="333333"/>
                </a:solidFill>
                <a:effectLst/>
                <a:latin typeface="arial" panose="020B0604020202020204" pitchFamily="34" charset="0"/>
              </a:rPr>
              <a:t>将数据清洗</a:t>
            </a:r>
            <a:r>
              <a:rPr lang="zh-CN" altLang="en-US" b="0" i="0" u="none" strike="noStrike" dirty="0">
                <a:solidFill>
                  <a:srgbClr val="222222"/>
                </a:solidFill>
                <a:effectLst/>
                <a:latin typeface="arial" panose="020B0604020202020204" pitchFamily="34" charset="0"/>
              </a:rPr>
              <a:t>（不符合规则的数据）、</a:t>
            </a:r>
            <a:r>
              <a:rPr lang="zh-CN" altLang="en-US" b="1" i="0" u="none" strike="noStrike" dirty="0">
                <a:solidFill>
                  <a:srgbClr val="333333"/>
                </a:solidFill>
                <a:effectLst/>
                <a:latin typeface="arial" panose="020B0604020202020204" pitchFamily="34" charset="0"/>
              </a:rPr>
              <a:t>转化</a:t>
            </a:r>
            <a:r>
              <a:rPr lang="zh-CN" altLang="en-US" b="0" i="0" u="none" strike="noStrike" dirty="0">
                <a:solidFill>
                  <a:srgbClr val="222222"/>
                </a:solidFill>
                <a:effectLst/>
                <a:latin typeface="arial" panose="020B0604020202020204" pitchFamily="34" charset="0"/>
              </a:rPr>
              <a:t>（对表按照业务需求进行不同维度、不同颗粒度、不同业务规则计算进行统计），</a:t>
            </a:r>
            <a:r>
              <a:rPr lang="en-US" altLang="zh-CN" b="0" i="0" u="none" strike="noStrike" dirty="0">
                <a:solidFill>
                  <a:srgbClr val="222222"/>
                </a:solidFill>
                <a:effectLst/>
                <a:latin typeface="arial" panose="020B0604020202020204" pitchFamily="34" charset="0"/>
              </a:rPr>
              <a:t>L=</a:t>
            </a:r>
            <a:r>
              <a:rPr lang="zh-CN" altLang="en-US" b="0" i="0" u="none" strike="noStrike" dirty="0">
                <a:solidFill>
                  <a:srgbClr val="222222"/>
                </a:solidFill>
                <a:effectLst/>
                <a:latin typeface="arial" panose="020B0604020202020204" pitchFamily="34" charset="0"/>
              </a:rPr>
              <a:t>将加工好的表以增量、全量、不同时间加载到数据仓库。</a:t>
            </a:r>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E2B322-AF06-46BC-B595-6BD3B2954C2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158879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4D4D4D"/>
                </a:solidFill>
                <a:effectLst/>
                <a:latin typeface="-apple-system"/>
              </a:rPr>
              <a:t>随着大数据时代的到来，数据量发生了显著的增加，</a:t>
            </a:r>
            <a:r>
              <a:rPr lang="zh-CN" altLang="en-US" b="0" i="0" dirty="0">
                <a:solidFill>
                  <a:srgbClr val="222222"/>
                </a:solidFill>
                <a:effectLst/>
                <a:latin typeface="Arial" panose="020B0604020202020204" pitchFamily="34" charset="0"/>
              </a:rPr>
              <a:t>对数据承载能力（容量、算力）的要求也不断增大。</a:t>
            </a:r>
            <a:r>
              <a:rPr lang="zh-CN" altLang="en-US" b="0" i="0" dirty="0">
                <a:solidFill>
                  <a:srgbClr val="4D4D4D"/>
                </a:solidFill>
                <a:effectLst/>
                <a:latin typeface="-apple-system"/>
              </a:rPr>
              <a:t>其次，数据结构也非常多元化，不再都是结构化数据，而是出现了半结构化数据，甚至语音视频等非结构数据。这些变化</a:t>
            </a:r>
            <a:r>
              <a:rPr lang="zh-CN" altLang="en-US" b="0" i="0" dirty="0">
                <a:solidFill>
                  <a:srgbClr val="222222"/>
                </a:solidFill>
                <a:effectLst/>
                <a:latin typeface="Arial" panose="020B0604020202020204" pitchFamily="34" charset="0"/>
              </a:rPr>
              <a:t>使得传统的数据仓库架构面临诸多的挑战。这时，</a:t>
            </a:r>
            <a:r>
              <a:rPr lang="zh-CN" altLang="en-US" dirty="0"/>
              <a:t>数据湖（</a:t>
            </a:r>
            <a:r>
              <a:rPr lang="en-US" altLang="zh-CN" dirty="0"/>
              <a:t>2011</a:t>
            </a:r>
            <a:r>
              <a:rPr lang="zh-CN" altLang="en-US" dirty="0"/>
              <a:t>年）出现了。</a:t>
            </a:r>
            <a:endParaRPr lang="en-US" altLang="zh-CN" dirty="0"/>
          </a:p>
          <a:p>
            <a:endParaRPr lang="en-US" altLang="zh-CN" dirty="0"/>
          </a:p>
          <a:p>
            <a:r>
              <a:rPr lang="zh-CN" altLang="en-US" dirty="0"/>
              <a:t>数据湖是</a:t>
            </a:r>
            <a:r>
              <a:rPr lang="en-US" altLang="zh-CN" dirty="0"/>
              <a:t>……</a:t>
            </a:r>
          </a:p>
          <a:p>
            <a:endParaRPr lang="en-US" altLang="zh-CN" dirty="0"/>
          </a:p>
          <a:p>
            <a:r>
              <a:rPr lang="zh-CN" altLang="en-US" dirty="0"/>
              <a:t>其方式是：</a:t>
            </a:r>
            <a:r>
              <a:rPr lang="zh-CN" altLang="en-US" b="1" i="0" dirty="0">
                <a:solidFill>
                  <a:srgbClr val="BE191C"/>
                </a:solidFill>
                <a:effectLst/>
                <a:latin typeface="-apple-system"/>
              </a:rPr>
              <a:t>从先处理后用，变成了先存储，以后用的时候再考虑怎么处理。</a:t>
            </a:r>
            <a:r>
              <a:rPr lang="zh-CN" altLang="en-US" b="0" i="0" dirty="0">
                <a:solidFill>
                  <a:srgbClr val="4D4D4D"/>
                </a:solidFill>
                <a:effectLst/>
                <a:latin typeface="-apple-system"/>
              </a:rPr>
              <a:t>这样做有几个好处，一个其存储更大了，并且保留了原始数据的格式，这样可以</a:t>
            </a:r>
            <a:r>
              <a:rPr lang="zh-CN" altLang="en-US" b="1" i="0" dirty="0">
                <a:solidFill>
                  <a:srgbClr val="4D4D4D"/>
                </a:solidFill>
                <a:effectLst/>
                <a:latin typeface="-apple-system"/>
              </a:rPr>
              <a:t>避免</a:t>
            </a:r>
            <a:r>
              <a:rPr lang="zh-CN" altLang="en-US" b="0" i="0" dirty="0">
                <a:solidFill>
                  <a:srgbClr val="4D4D4D"/>
                </a:solidFill>
                <a:effectLst/>
                <a:latin typeface="-apple-system"/>
              </a:rPr>
              <a:t>任何对前期数据加工所造成的</a:t>
            </a:r>
            <a:r>
              <a:rPr lang="zh-CN" altLang="en-US" b="1" i="0" dirty="0">
                <a:solidFill>
                  <a:srgbClr val="4D4D4D"/>
                </a:solidFill>
                <a:effectLst/>
                <a:latin typeface="-apple-system"/>
              </a:rPr>
              <a:t>数据变形</a:t>
            </a:r>
            <a:r>
              <a:rPr lang="zh-CN" altLang="en-US" b="0" i="0" dirty="0">
                <a:solidFill>
                  <a:srgbClr val="4D4D4D"/>
                </a:solidFill>
                <a:effectLst/>
                <a:latin typeface="-apple-system"/>
              </a:rPr>
              <a:t>。另外一个好处就是</a:t>
            </a:r>
            <a:r>
              <a:rPr lang="zh-CN" altLang="en-US" b="1" i="0" dirty="0">
                <a:solidFill>
                  <a:srgbClr val="4D4D4D"/>
                </a:solidFill>
                <a:effectLst/>
                <a:latin typeface="-apple-system"/>
              </a:rPr>
              <a:t>节约</a:t>
            </a:r>
            <a:r>
              <a:rPr lang="zh-CN" altLang="en-US" b="0" i="0" dirty="0">
                <a:solidFill>
                  <a:srgbClr val="4D4D4D"/>
                </a:solidFill>
                <a:effectLst/>
                <a:latin typeface="-apple-system"/>
              </a:rPr>
              <a:t>了前期数据接入时的</a:t>
            </a:r>
            <a:r>
              <a:rPr lang="zh-CN" altLang="en-US" b="1" i="0" dirty="0">
                <a:solidFill>
                  <a:srgbClr val="4D4D4D"/>
                </a:solidFill>
                <a:effectLst/>
                <a:latin typeface="-apple-system"/>
              </a:rPr>
              <a:t>成本</a:t>
            </a:r>
            <a:r>
              <a:rPr lang="zh-CN" altLang="en-US" b="0" i="0" dirty="0">
                <a:solidFill>
                  <a:srgbClr val="4D4D4D"/>
                </a:solidFill>
                <a:effectLst/>
                <a:latin typeface="-apple-system"/>
              </a:rPr>
              <a:t>。</a:t>
            </a:r>
            <a:endParaRPr lang="en-US" altLang="zh-CN" b="0" i="0" dirty="0">
              <a:solidFill>
                <a:srgbClr val="4D4D4D"/>
              </a:solidFill>
              <a:effectLst/>
              <a:latin typeface="-apple-system"/>
            </a:endParaRPr>
          </a:p>
          <a:p>
            <a:endParaRPr lang="en-US" altLang="zh-CN" b="0" i="0" dirty="0">
              <a:solidFill>
                <a:srgbClr val="4D4D4D"/>
              </a:solidFill>
              <a:effectLst/>
              <a:latin typeface="-apple-system"/>
            </a:endParaRPr>
          </a:p>
          <a:p>
            <a:endParaRPr lang="en-US" altLang="zh-CN" b="0" i="0" dirty="0">
              <a:solidFill>
                <a:srgbClr val="4D4D4D"/>
              </a:solidFill>
              <a:effectLst/>
              <a:latin typeface="-apple-system"/>
            </a:endParaRPr>
          </a:p>
          <a:p>
            <a:pPr algn="l"/>
            <a:r>
              <a:rPr lang="zh-CN" altLang="en-US" b="0" i="0" u="none" strike="noStrike" dirty="0">
                <a:solidFill>
                  <a:srgbClr val="555555"/>
                </a:solidFill>
                <a:effectLst/>
                <a:latin typeface="Tahoma" panose="020B0604030504040204" pitchFamily="34" charset="0"/>
              </a:rPr>
              <a:t>“河”强调的是流动性，“海纳百川”，河终究是要流入大海的，而企业级数据是需要长期沉淀的，因此叫“湖”比叫“河”要贴切；</a:t>
            </a:r>
          </a:p>
          <a:p>
            <a:pPr algn="l"/>
            <a:r>
              <a:rPr lang="zh-CN" altLang="en-US" b="0" i="0" u="none" strike="noStrike" dirty="0">
                <a:solidFill>
                  <a:srgbClr val="555555"/>
                </a:solidFill>
                <a:effectLst/>
                <a:latin typeface="Tahoma" panose="020B0604030504040204" pitchFamily="34" charset="0"/>
              </a:rPr>
              <a:t>同时，湖水天然是分层的，满足不同的生态系统要求，这与企业建设统一数据中心，存放管理数据的需求是一致的，“热”数据在上层，方便应用随时使用；温数据、冷数据位于数据中心不同的存储介质中，达到数据存储容量与成本的平衡。</a:t>
            </a:r>
          </a:p>
          <a:p>
            <a:pPr algn="l"/>
            <a:r>
              <a:rPr lang="zh-CN" altLang="en-US" b="0" i="0" u="none" strike="noStrike" dirty="0">
                <a:solidFill>
                  <a:srgbClr val="555555"/>
                </a:solidFill>
                <a:effectLst/>
                <a:latin typeface="Tahoma" panose="020B0604030504040204" pitchFamily="34" charset="0"/>
              </a:rPr>
              <a:t>不叫“海”的原因在于，海是无边无界的，而“湖”是有边界的，这个边界就是企业</a:t>
            </a:r>
            <a:r>
              <a:rPr lang="en-US" altLang="zh-CN" b="0" i="0" u="none" strike="noStrike" dirty="0">
                <a:solidFill>
                  <a:srgbClr val="555555"/>
                </a:solidFill>
                <a:effectLst/>
                <a:latin typeface="Tahoma" panose="020B0604030504040204" pitchFamily="34" charset="0"/>
              </a:rPr>
              <a:t>/</a:t>
            </a:r>
            <a:r>
              <a:rPr lang="zh-CN" altLang="en-US" b="0" i="0" u="none" strike="noStrike" dirty="0">
                <a:solidFill>
                  <a:srgbClr val="555555"/>
                </a:solidFill>
                <a:effectLst/>
                <a:latin typeface="Tahoma" panose="020B0604030504040204" pitchFamily="34" charset="0"/>
              </a:rPr>
              <a:t>组织的业务边界；因此数据湖需要更多的数据管理和权限管理能力。</a:t>
            </a:r>
          </a:p>
          <a:p>
            <a:pPr algn="l"/>
            <a:r>
              <a:rPr lang="zh-CN" altLang="en-US" b="0" i="0" u="none" strike="noStrike" dirty="0">
                <a:solidFill>
                  <a:srgbClr val="555555"/>
                </a:solidFill>
                <a:effectLst/>
                <a:latin typeface="Tahoma" panose="020B0604030504040204" pitchFamily="34" charset="0"/>
              </a:rPr>
              <a:t>叫“湖”的另一个重要原因是数据湖是需要精细治理的，一个缺乏管控、缺乏治理的数据湖最终会退化为“数据沼泽”，从而使应用无法有效访问数据，使存于其中的数据失去价值。</a:t>
            </a:r>
          </a:p>
          <a:p>
            <a:endParaRPr lang="en-US" altLang="zh-CN" b="0" i="0" dirty="0">
              <a:solidFill>
                <a:srgbClr val="4D4D4D"/>
              </a:solidFill>
              <a:effectLst/>
              <a:latin typeface="-apple-system"/>
            </a:endParaRPr>
          </a:p>
          <a:p>
            <a:endParaRPr lang="zh-CN" altLang="en-US" b="0"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E2B322-AF06-46BC-B595-6BD3B2954C2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043701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22222"/>
                </a:solidFill>
                <a:effectLst/>
                <a:latin typeface="system-ui"/>
              </a:rPr>
              <a:t>数据湖和数据仓库都有各自的优势和不足，但不难发现，二者在某些层面是非常互补的，于是在</a:t>
            </a:r>
            <a:r>
              <a:rPr lang="en-US" altLang="zh-CN" b="0" i="0" dirty="0">
                <a:solidFill>
                  <a:srgbClr val="222222"/>
                </a:solidFill>
                <a:effectLst/>
                <a:latin typeface="system-ui"/>
              </a:rPr>
              <a:t>2020</a:t>
            </a:r>
            <a:r>
              <a:rPr lang="zh-CN" altLang="en-US" b="0" i="0" dirty="0">
                <a:solidFill>
                  <a:srgbClr val="222222"/>
                </a:solidFill>
                <a:effectLst/>
                <a:latin typeface="system-ui"/>
              </a:rPr>
              <a:t>年，大数据</a:t>
            </a:r>
            <a:r>
              <a:rPr lang="en-US" altLang="zh-CN" b="0" i="0" dirty="0" err="1">
                <a:solidFill>
                  <a:srgbClr val="222222"/>
                </a:solidFill>
                <a:effectLst/>
                <a:latin typeface="system-ui"/>
              </a:rPr>
              <a:t>DataBricks</a:t>
            </a:r>
            <a:r>
              <a:rPr lang="zh-CN" altLang="en-US" b="0" i="0" dirty="0">
                <a:solidFill>
                  <a:srgbClr val="222222"/>
                </a:solidFill>
                <a:effectLst/>
                <a:latin typeface="system-ui"/>
              </a:rPr>
              <a:t>公司首次提出了湖仓一体概念，希望将数据湖和数据仓库技术合二为一。</a:t>
            </a:r>
            <a:endParaRPr lang="en-US" altLang="zh-CN" b="0" i="0" dirty="0">
              <a:solidFill>
                <a:srgbClr val="222222"/>
              </a:solidFill>
              <a:effectLst/>
              <a:latin typeface="system-ui"/>
            </a:endParaRPr>
          </a:p>
          <a:p>
            <a:endParaRPr lang="en-US" altLang="zh-CN" b="0" i="0" dirty="0">
              <a:solidFill>
                <a:srgbClr val="222222"/>
              </a:solidFill>
              <a:effectLst/>
              <a:latin typeface="system-ui"/>
            </a:endParaRPr>
          </a:p>
          <a:p>
            <a:r>
              <a:rPr lang="zh-CN" altLang="en-US" b="0" i="0" dirty="0">
                <a:solidFill>
                  <a:srgbClr val="222222"/>
                </a:solidFill>
                <a:effectLst/>
                <a:latin typeface="system-ui"/>
              </a:rPr>
              <a:t>湖仓一体是</a:t>
            </a:r>
            <a:r>
              <a:rPr lang="en-US" altLang="zh-CN" b="0" i="0" dirty="0">
                <a:solidFill>
                  <a:srgbClr val="222222"/>
                </a:solidFill>
                <a:effectLst/>
                <a:latin typeface="system-ui"/>
              </a:rPr>
              <a:t>….</a:t>
            </a:r>
          </a:p>
          <a:p>
            <a:endParaRPr lang="en-US" altLang="zh-CN" b="0" i="0" dirty="0">
              <a:solidFill>
                <a:srgbClr val="222222"/>
              </a:solidFill>
              <a:effectLst/>
              <a:latin typeface="system-ui"/>
            </a:endParaRPr>
          </a:p>
          <a:p>
            <a:r>
              <a:rPr lang="zh-CN" altLang="en-US" b="0" i="0" dirty="0">
                <a:solidFill>
                  <a:srgbClr val="222222"/>
                </a:solidFill>
                <a:effectLst/>
                <a:latin typeface="system-ui"/>
              </a:rPr>
              <a:t>湖仓一体</a:t>
            </a:r>
            <a:r>
              <a:rPr lang="zh-CN" altLang="en-US" b="0" i="0" dirty="0">
                <a:solidFill>
                  <a:srgbClr val="121212"/>
                </a:solidFill>
                <a:effectLst/>
                <a:latin typeface="-apple-system"/>
              </a:rPr>
              <a:t>架构最重要的一点，是实现</a:t>
            </a:r>
            <a:r>
              <a:rPr lang="en-US" altLang="zh-CN" b="0" i="0" dirty="0">
                <a:solidFill>
                  <a:srgbClr val="121212"/>
                </a:solidFill>
                <a:effectLst/>
                <a:latin typeface="-apple-system"/>
              </a:rPr>
              <a:t>"</a:t>
            </a:r>
            <a:r>
              <a:rPr lang="zh-CN" altLang="en-US" b="0" i="0" dirty="0">
                <a:solidFill>
                  <a:srgbClr val="121212"/>
                </a:solidFill>
                <a:effectLst/>
                <a:latin typeface="-apple-system"/>
              </a:rPr>
              <a:t>湖里</a:t>
            </a:r>
            <a:r>
              <a:rPr lang="en-US" altLang="zh-CN" b="0" i="0" dirty="0">
                <a:solidFill>
                  <a:srgbClr val="121212"/>
                </a:solidFill>
                <a:effectLst/>
                <a:latin typeface="-apple-system"/>
              </a:rPr>
              <a:t>"</a:t>
            </a:r>
            <a:r>
              <a:rPr lang="zh-CN" altLang="en-US" b="0" i="0" dirty="0">
                <a:solidFill>
                  <a:srgbClr val="121212"/>
                </a:solidFill>
                <a:effectLst/>
                <a:latin typeface="-apple-system"/>
              </a:rPr>
              <a:t>和</a:t>
            </a:r>
            <a:r>
              <a:rPr lang="en-US" altLang="zh-CN" b="0" i="0" dirty="0">
                <a:solidFill>
                  <a:srgbClr val="121212"/>
                </a:solidFill>
                <a:effectLst/>
                <a:latin typeface="-apple-system"/>
              </a:rPr>
              <a:t>"</a:t>
            </a:r>
            <a:r>
              <a:rPr lang="zh-CN" altLang="en-US" b="0" i="0" dirty="0">
                <a:solidFill>
                  <a:srgbClr val="121212"/>
                </a:solidFill>
                <a:effectLst/>
                <a:latin typeface="-apple-system"/>
              </a:rPr>
              <a:t>仓里</a:t>
            </a:r>
            <a:r>
              <a:rPr lang="en-US" altLang="zh-CN" b="0" i="0" dirty="0">
                <a:solidFill>
                  <a:srgbClr val="121212"/>
                </a:solidFill>
                <a:effectLst/>
                <a:latin typeface="-apple-system"/>
              </a:rPr>
              <a:t>"</a:t>
            </a:r>
            <a:r>
              <a:rPr lang="zh-CN" altLang="en-US" b="0" i="0" dirty="0">
                <a:solidFill>
                  <a:srgbClr val="121212"/>
                </a:solidFill>
                <a:effectLst/>
                <a:latin typeface="-apple-system"/>
              </a:rPr>
              <a:t>的数据、元数据能够无缝打通，并且“自由”流动。</a:t>
            </a:r>
            <a:endParaRPr lang="en-US" altLang="zh-CN" b="0" i="0" dirty="0">
              <a:solidFill>
                <a:srgbClr val="121212"/>
              </a:solidFill>
              <a:effectLst/>
              <a:latin typeface="-apple-system"/>
            </a:endParaRPr>
          </a:p>
          <a:p>
            <a:endParaRPr lang="en-US" altLang="zh-CN" b="0" i="0" dirty="0">
              <a:solidFill>
                <a:srgbClr val="121212"/>
              </a:solidFill>
              <a:effectLst/>
              <a:latin typeface="-apple-system"/>
            </a:endParaRPr>
          </a:p>
          <a:p>
            <a:r>
              <a:rPr lang="zh-CN" altLang="en-US" b="0" i="0" dirty="0">
                <a:solidFill>
                  <a:srgbClr val="222222"/>
                </a:solidFill>
                <a:effectLst/>
                <a:latin typeface="system-ui"/>
              </a:rPr>
              <a:t>有人把它做了一个比喻</a:t>
            </a:r>
            <a:r>
              <a:rPr lang="zh-CN" altLang="en-US" b="1" i="0" dirty="0">
                <a:solidFill>
                  <a:srgbClr val="222222"/>
                </a:solidFill>
                <a:effectLst/>
                <a:latin typeface="system-ui"/>
              </a:rPr>
              <a:t>（点击</a:t>
            </a:r>
            <a:r>
              <a:rPr lang="en-US" altLang="zh-CN" b="1" i="0" dirty="0">
                <a:solidFill>
                  <a:srgbClr val="222222"/>
                </a:solidFill>
                <a:effectLst/>
                <a:latin typeface="system-ui"/>
              </a:rPr>
              <a:t>ppt</a:t>
            </a:r>
            <a:r>
              <a:rPr lang="zh-CN" altLang="en-US" b="1" i="0" dirty="0">
                <a:solidFill>
                  <a:srgbClr val="222222"/>
                </a:solidFill>
                <a:effectLst/>
                <a:latin typeface="system-ui"/>
              </a:rPr>
              <a:t>），</a:t>
            </a:r>
            <a:r>
              <a:rPr lang="zh-CN" altLang="en-US" b="0" i="0" dirty="0">
                <a:solidFill>
                  <a:srgbClr val="222222"/>
                </a:solidFill>
                <a:effectLst/>
                <a:latin typeface="system-ui"/>
              </a:rPr>
              <a:t>就类似于在湖边搭建了很多小房子，有的负责数据分析，有的运转机器学习，有的来检索音视频等，至于那些数据源流，都可以从数据湖里轻松获取。</a:t>
            </a:r>
            <a:endParaRPr lang="en-US" altLang="zh-CN" b="0" i="0" dirty="0">
              <a:solidFill>
                <a:srgbClr val="222222"/>
              </a:solidFill>
              <a:effectLst/>
              <a:latin typeface="system-ui"/>
            </a:endParaRPr>
          </a:p>
          <a:p>
            <a:endParaRPr lang="en-US" altLang="zh-CN" b="0" i="0" dirty="0">
              <a:solidFill>
                <a:srgbClr val="222222"/>
              </a:solidFill>
              <a:effectLst/>
              <a:latin typeface="system-ui"/>
            </a:endParaRPr>
          </a:p>
          <a:p>
            <a:pPr algn="l" fontAlgn="base"/>
            <a:r>
              <a:rPr lang="en-US" altLang="zh-CN" b="0" i="0" u="none" strike="noStrike" dirty="0">
                <a:solidFill>
                  <a:srgbClr val="333333"/>
                </a:solidFill>
                <a:effectLst/>
                <a:latin typeface="Arial" panose="020B0604020202020204" pitchFamily="34" charset="0"/>
              </a:rPr>
              <a:t>2020</a:t>
            </a:r>
            <a:r>
              <a:rPr lang="zh-CN" altLang="en-US" b="0" i="0" u="none" strike="noStrike" dirty="0">
                <a:solidFill>
                  <a:srgbClr val="333333"/>
                </a:solidFill>
                <a:effectLst/>
                <a:latin typeface="Arial" panose="020B0604020202020204" pitchFamily="34" charset="0"/>
              </a:rPr>
              <a:t>年，大数据</a:t>
            </a:r>
            <a:r>
              <a:rPr lang="en-US" altLang="zh-CN" b="0" i="0" u="none" strike="noStrike" dirty="0" err="1">
                <a:solidFill>
                  <a:srgbClr val="333333"/>
                </a:solidFill>
                <a:effectLst/>
                <a:latin typeface="Arial" panose="020B0604020202020204" pitchFamily="34" charset="0"/>
              </a:rPr>
              <a:t>DataBricks</a:t>
            </a:r>
            <a:r>
              <a:rPr lang="zh-CN" altLang="en-US" b="0" i="0" u="none" strike="noStrike" dirty="0">
                <a:solidFill>
                  <a:srgbClr val="333333"/>
                </a:solidFill>
                <a:effectLst/>
                <a:latin typeface="Arial" panose="020B0604020202020204" pitchFamily="34" charset="0"/>
              </a:rPr>
              <a:t>公司首次提出了湖仓一体（</a:t>
            </a:r>
            <a:r>
              <a:rPr lang="en-US" altLang="zh-CN" b="0" i="0" u="none" strike="noStrike" dirty="0">
                <a:solidFill>
                  <a:srgbClr val="333333"/>
                </a:solidFill>
                <a:effectLst/>
                <a:latin typeface="Arial" panose="020B0604020202020204" pitchFamily="34" charset="0"/>
              </a:rPr>
              <a:t>Data Lakehouse</a:t>
            </a:r>
            <a:r>
              <a:rPr lang="zh-CN" altLang="en-US" b="0" i="0" u="none" strike="noStrike" dirty="0">
                <a:solidFill>
                  <a:srgbClr val="333333"/>
                </a:solidFill>
                <a:effectLst/>
                <a:latin typeface="Arial" panose="020B0604020202020204" pitchFamily="34" charset="0"/>
              </a:rPr>
              <a:t>）概念，希望将数据湖和数据仓库技术合而为一，此概念一出各路云厂商纷纷跟进。</a:t>
            </a:r>
          </a:p>
          <a:p>
            <a:pPr algn="l" fontAlgn="base"/>
            <a:r>
              <a:rPr lang="en-US" altLang="zh-CN" b="0" i="0" u="none" strike="noStrike" dirty="0">
                <a:solidFill>
                  <a:srgbClr val="333333"/>
                </a:solidFill>
                <a:effectLst/>
                <a:latin typeface="Arial" panose="020B0604020202020204" pitchFamily="34" charset="0"/>
              </a:rPr>
              <a:t>Data Lakehouse</a:t>
            </a:r>
            <a:r>
              <a:rPr lang="zh-CN" altLang="en-US" b="0" i="0" u="none" strike="noStrike" dirty="0">
                <a:solidFill>
                  <a:srgbClr val="333333"/>
                </a:solidFill>
                <a:effectLst/>
                <a:latin typeface="Arial" panose="020B0604020202020204" pitchFamily="34" charset="0"/>
              </a:rPr>
              <a:t>（湖仓一体）是新出现的一种数据架构，它同时吸收了数据仓库和数据湖的优势，数据分析师和数据科学家可以在同一个数据存储中对数据进行操作，同时它也能为公司进行数据治理带来更多的便利性。</a:t>
            </a:r>
          </a:p>
          <a:p>
            <a:endParaRPr lang="zh-CN" altLang="en-US" b="0"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E2B322-AF06-46BC-B595-6BD3B2954C2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57996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u="none" strike="noStrike" dirty="0">
                <a:solidFill>
                  <a:srgbClr val="F73131"/>
                </a:solidFill>
                <a:effectLst/>
                <a:latin typeface="Arial" panose="020B0604020202020204" pitchFamily="34" charset="0"/>
              </a:rPr>
              <a:t>Databricks</a:t>
            </a:r>
            <a:r>
              <a:rPr lang="zh-CN" altLang="en-US" b="0" i="0" u="none" strike="noStrike" dirty="0">
                <a:solidFill>
                  <a:srgbClr val="333333"/>
                </a:solidFill>
                <a:effectLst/>
                <a:latin typeface="Arial" panose="020B0604020202020204" pitchFamily="34" charset="0"/>
              </a:rPr>
              <a:t>，是属于 </a:t>
            </a:r>
            <a:r>
              <a:rPr lang="en-US" altLang="zh-CN" b="0" i="0" u="none" strike="noStrike" dirty="0">
                <a:solidFill>
                  <a:srgbClr val="333333"/>
                </a:solidFill>
                <a:effectLst/>
                <a:latin typeface="Arial" panose="020B0604020202020204" pitchFamily="34" charset="0"/>
              </a:rPr>
              <a:t>Spark </a:t>
            </a:r>
            <a:r>
              <a:rPr lang="zh-CN" altLang="en-US" b="0" i="0" u="none" strike="noStrike" dirty="0">
                <a:solidFill>
                  <a:srgbClr val="333333"/>
                </a:solidFill>
                <a:effectLst/>
                <a:latin typeface="Arial" panose="020B0604020202020204" pitchFamily="34" charset="0"/>
              </a:rPr>
              <a:t>的商业化公司，由美国加州大学伯克利 </a:t>
            </a:r>
            <a:r>
              <a:rPr lang="en-US" altLang="zh-CN" b="0" i="0" u="none" strike="noStrike" dirty="0">
                <a:solidFill>
                  <a:srgbClr val="333333"/>
                </a:solidFill>
                <a:effectLst/>
                <a:latin typeface="Arial" panose="020B0604020202020204" pitchFamily="34" charset="0"/>
              </a:rPr>
              <a:t>AMP </a:t>
            </a:r>
            <a:r>
              <a:rPr lang="zh-CN" altLang="en-US" b="0" i="0" u="none" strike="noStrike" dirty="0">
                <a:solidFill>
                  <a:srgbClr val="333333"/>
                </a:solidFill>
                <a:effectLst/>
                <a:latin typeface="Arial" panose="020B0604020202020204" pitchFamily="34" charset="0"/>
              </a:rPr>
              <a:t>实验室的 </a:t>
            </a:r>
            <a:r>
              <a:rPr lang="en-US" altLang="zh-CN" b="0" i="0" u="none" strike="noStrike" dirty="0">
                <a:solidFill>
                  <a:srgbClr val="333333"/>
                </a:solidFill>
                <a:effectLst/>
                <a:latin typeface="Arial" panose="020B0604020202020204" pitchFamily="34" charset="0"/>
              </a:rPr>
              <a:t>Spark </a:t>
            </a:r>
            <a:r>
              <a:rPr lang="zh-CN" altLang="en-US" b="0" i="0" u="none" strike="noStrike" dirty="0">
                <a:solidFill>
                  <a:srgbClr val="333333"/>
                </a:solidFill>
                <a:effectLst/>
                <a:latin typeface="Arial" panose="020B0604020202020204" pitchFamily="34" charset="0"/>
              </a:rPr>
              <a:t>大数据处理系统多位创始人联合创立。</a:t>
            </a:r>
            <a:r>
              <a:rPr lang="en-US" altLang="zh-CN" b="0" i="0" u="none" strike="noStrike" dirty="0">
                <a:solidFill>
                  <a:srgbClr val="F73131"/>
                </a:solidFill>
                <a:effectLst/>
                <a:latin typeface="Arial" panose="020B0604020202020204" pitchFamily="34" charset="0"/>
              </a:rPr>
              <a:t>Databricks</a:t>
            </a:r>
            <a:r>
              <a:rPr lang="en-US" altLang="zh-CN" b="0" i="0" u="none" strike="noStrike" dirty="0">
                <a:solidFill>
                  <a:srgbClr val="333333"/>
                </a:solidFill>
                <a:effectLst/>
                <a:latin typeface="Arial" panose="020B0604020202020204" pitchFamily="34" charset="0"/>
              </a:rPr>
              <a:t> </a:t>
            </a:r>
            <a:r>
              <a:rPr lang="zh-CN" altLang="en-US" b="0" i="0" u="none" strike="noStrike" dirty="0">
                <a:solidFill>
                  <a:srgbClr val="333333"/>
                </a:solidFill>
                <a:effectLst/>
                <a:latin typeface="Arial" panose="020B0604020202020204" pitchFamily="34" charset="0"/>
              </a:rPr>
              <a:t>致力于提供基于 </a:t>
            </a:r>
            <a:r>
              <a:rPr lang="en-US" altLang="zh-CN" b="0" i="0" u="none" strike="noStrike" dirty="0">
                <a:solidFill>
                  <a:srgbClr val="333333"/>
                </a:solidFill>
                <a:effectLst/>
                <a:latin typeface="Arial" panose="020B0604020202020204" pitchFamily="34" charset="0"/>
              </a:rPr>
              <a:t>Spark </a:t>
            </a:r>
            <a:r>
              <a:rPr lang="zh-CN" altLang="en-US" b="0" i="0" u="none" strike="noStrike">
                <a:solidFill>
                  <a:srgbClr val="333333"/>
                </a:solidFill>
                <a:effectLst/>
                <a:latin typeface="Arial" panose="020B0604020202020204" pitchFamily="34" charset="0"/>
              </a:rPr>
              <a:t>的云服务，可用于数据集成，数据管道等任务。</a:t>
            </a:r>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E2B322-AF06-46BC-B595-6BD3B2954C2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92233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en-US" sz="1200" kern="0" dirty="0">
                <a:solidFill>
                  <a:srgbClr val="000000"/>
                </a:solidFill>
                <a:latin typeface="Lucida Sans Unicode"/>
                <a:ea typeface="黑体"/>
              </a:rPr>
              <a:t>上述提到的数据仓库</a:t>
            </a:r>
            <a:r>
              <a:rPr lang="en-US" altLang="zh-CN" sz="1200" kern="0" dirty="0">
                <a:solidFill>
                  <a:srgbClr val="000000"/>
                </a:solidFill>
                <a:latin typeface="Lucida Sans Unicode"/>
                <a:ea typeface="黑体"/>
              </a:rPr>
              <a:t>…..</a:t>
            </a:r>
          </a:p>
          <a:p>
            <a:pPr algn="just"/>
            <a:endParaRPr lang="en-US" altLang="zh-CN" dirty="0">
              <a:effectLst/>
            </a:endParaRPr>
          </a:p>
          <a:p>
            <a:pPr algn="just"/>
            <a:r>
              <a:rPr lang="zh-CN" altLang="en-US" dirty="0">
                <a:effectLst/>
              </a:rPr>
              <a:t>（</a:t>
            </a:r>
            <a:r>
              <a:rPr lang="en-US" altLang="zh-CN" dirty="0">
                <a:effectLst/>
              </a:rPr>
              <a:t>1</a:t>
            </a:r>
            <a:r>
              <a:rPr lang="zh-CN" altLang="en-US" dirty="0">
                <a:effectLst/>
              </a:rPr>
              <a:t>）为什么数据一定要集中到一起呢？</a:t>
            </a:r>
            <a:r>
              <a:rPr lang="zh-CN" altLang="en-US" b="0" i="0" dirty="0">
                <a:solidFill>
                  <a:srgbClr val="222222"/>
                </a:solidFill>
                <a:effectLst/>
                <a:latin typeface="system-ui"/>
              </a:rPr>
              <a:t>因为大家对于数据分析有一个根深蒂固的认知，即数据具有网络效应，多维度的数据只有融合分析才能产生发挥出数据的最大价值，而要实现融合分析的前提是数据要进行集中化的管理。</a:t>
            </a:r>
            <a:endParaRPr lang="en-US" altLang="zh-CN" b="0" i="0" dirty="0">
              <a:solidFill>
                <a:srgbClr val="222222"/>
              </a:solidFill>
              <a:effectLst/>
              <a:latin typeface="system-ui"/>
            </a:endParaRPr>
          </a:p>
          <a:p>
            <a:pPr algn="just"/>
            <a:r>
              <a:rPr lang="zh-CN" altLang="en-US" b="0" i="0" dirty="0">
                <a:solidFill>
                  <a:srgbClr val="222222"/>
                </a:solidFill>
                <a:effectLst/>
                <a:latin typeface="system-ui"/>
              </a:rPr>
              <a:t>（</a:t>
            </a:r>
            <a:r>
              <a:rPr lang="en-US" altLang="zh-CN" b="0" i="0" dirty="0">
                <a:solidFill>
                  <a:srgbClr val="222222"/>
                </a:solidFill>
                <a:effectLst/>
                <a:latin typeface="system-ui"/>
              </a:rPr>
              <a:t>2</a:t>
            </a:r>
            <a:r>
              <a:rPr lang="zh-CN" altLang="en-US" b="0" i="0" dirty="0">
                <a:solidFill>
                  <a:srgbClr val="222222"/>
                </a:solidFill>
                <a:effectLst/>
                <a:latin typeface="system-ui"/>
              </a:rPr>
              <a:t>）但数字化时代的到来使得集中化数据平台面临多方面的巨大挑战</a:t>
            </a:r>
            <a:r>
              <a:rPr lang="zh-CN" altLang="en-US" b="1" i="0" dirty="0">
                <a:solidFill>
                  <a:srgbClr val="222222"/>
                </a:solidFill>
                <a:effectLst/>
                <a:latin typeface="system-ui"/>
              </a:rPr>
              <a:t>（点击</a:t>
            </a:r>
            <a:r>
              <a:rPr lang="en-US" altLang="zh-CN" b="1" i="0" dirty="0">
                <a:solidFill>
                  <a:srgbClr val="222222"/>
                </a:solidFill>
                <a:effectLst/>
                <a:latin typeface="system-ui"/>
              </a:rPr>
              <a:t>PPT</a:t>
            </a:r>
            <a:r>
              <a:rPr lang="zh-CN" altLang="en-US" b="1" i="0" dirty="0">
                <a:solidFill>
                  <a:srgbClr val="222222"/>
                </a:solidFill>
                <a:effectLst/>
                <a:latin typeface="system-ui"/>
              </a:rPr>
              <a:t>）</a:t>
            </a:r>
            <a:endParaRPr lang="en-US" altLang="zh-CN" b="1" i="0" dirty="0">
              <a:solidFill>
                <a:srgbClr val="222222"/>
              </a:solidFill>
              <a:effectLst/>
              <a:latin typeface="system-ui"/>
            </a:endParaRPr>
          </a:p>
          <a:p>
            <a:pPr algn="just"/>
            <a:r>
              <a:rPr lang="zh-CN" altLang="en-US" b="0" i="0" dirty="0">
                <a:solidFill>
                  <a:srgbClr val="222222"/>
                </a:solidFill>
                <a:effectLst/>
                <a:latin typeface="system-ui"/>
              </a:rPr>
              <a:t>①第一、无处不在的数据使得集中化数据平台对各类数据进行采集的响应能力变弱，企业拥有越多来源的数据，</a:t>
            </a:r>
            <a:r>
              <a:rPr lang="zh-CN" altLang="en-US" b="1" i="0" dirty="0">
                <a:solidFill>
                  <a:srgbClr val="222222"/>
                </a:solidFill>
                <a:effectLst/>
                <a:latin typeface="system-ui"/>
              </a:rPr>
              <a:t>集中化管理的压力就越大</a:t>
            </a:r>
            <a:endParaRPr lang="en-US" altLang="zh-CN" b="1" i="0" dirty="0">
              <a:solidFill>
                <a:srgbClr val="222222"/>
              </a:solidFill>
              <a:effectLst/>
              <a:latin typeface="system-ui"/>
            </a:endParaRPr>
          </a:p>
          <a:p>
            <a:pPr algn="just"/>
            <a:r>
              <a:rPr lang="zh-CN" altLang="en-US" b="0" i="0" dirty="0">
                <a:solidFill>
                  <a:srgbClr val="222222"/>
                </a:solidFill>
                <a:effectLst/>
                <a:latin typeface="system-ui"/>
              </a:rPr>
              <a:t>②第二、集中化的数据平台意味着要进行大量的数据搬迁，传统的批处理方式很容易造成</a:t>
            </a:r>
            <a:r>
              <a:rPr lang="zh-CN" altLang="en-US" b="1" i="0" dirty="0">
                <a:solidFill>
                  <a:srgbClr val="222222"/>
                </a:solidFill>
                <a:effectLst/>
                <a:latin typeface="system-ui"/>
              </a:rPr>
              <a:t>数据延迟、不一致的现象</a:t>
            </a:r>
            <a:r>
              <a:rPr lang="zh-CN" altLang="en-US" b="0" i="0" dirty="0">
                <a:solidFill>
                  <a:srgbClr val="222222"/>
                </a:solidFill>
                <a:effectLst/>
                <a:latin typeface="system-ui"/>
              </a:rPr>
              <a:t>，这影响到了下游应用的准确性。</a:t>
            </a:r>
            <a:endParaRPr lang="en-US" altLang="zh-CN" b="0" i="0" dirty="0">
              <a:solidFill>
                <a:srgbClr val="222222"/>
              </a:solidFill>
              <a:effectLst/>
              <a:latin typeface="system-ui"/>
            </a:endParaRPr>
          </a:p>
          <a:p>
            <a:pPr algn="just"/>
            <a:r>
              <a:rPr lang="zh-CN" altLang="en-US" b="0" i="0" dirty="0">
                <a:solidFill>
                  <a:srgbClr val="222222"/>
                </a:solidFill>
                <a:effectLst/>
                <a:latin typeface="system-ui"/>
              </a:rPr>
              <a:t>③第三、数据应用需求的大幅增加使得集中化平台对</a:t>
            </a:r>
            <a:r>
              <a:rPr lang="zh-CN" altLang="en-US" b="1" i="0" dirty="0">
                <a:solidFill>
                  <a:srgbClr val="222222"/>
                </a:solidFill>
                <a:effectLst/>
                <a:latin typeface="system-ui"/>
              </a:rPr>
              <a:t>各类数据进行处理和分析的响应速度变慢</a:t>
            </a:r>
            <a:r>
              <a:rPr lang="zh-CN" altLang="en-US" b="0" i="0" dirty="0">
                <a:solidFill>
                  <a:srgbClr val="222222"/>
                </a:solidFill>
                <a:effectLst/>
                <a:latin typeface="system-ui"/>
              </a:rPr>
              <a:t>，大量的领域需求被耽搁或拒绝，各个领域想尽办法另起炉灶。</a:t>
            </a:r>
            <a:endParaRPr lang="en-US" altLang="zh-CN" b="0" i="0" dirty="0">
              <a:solidFill>
                <a:srgbClr val="222222"/>
              </a:solidFill>
              <a:effectLst/>
              <a:latin typeface="system-ui"/>
            </a:endParaRPr>
          </a:p>
          <a:p>
            <a:pPr algn="just"/>
            <a:r>
              <a:rPr lang="zh-CN" altLang="en-US" b="0" i="0" dirty="0">
                <a:solidFill>
                  <a:srgbClr val="222222"/>
                </a:solidFill>
                <a:effectLst/>
                <a:latin typeface="system-ui"/>
              </a:rPr>
              <a:t>④第四、企业将面向领域的数据所有权转移到了集中化平台上的数据工程师，集中化平台上的数据工程师对各领域的来源数据缺乏了解，也</a:t>
            </a:r>
            <a:r>
              <a:rPr lang="zh-CN" altLang="en-US" b="1" i="0" dirty="0">
                <a:solidFill>
                  <a:srgbClr val="222222"/>
                </a:solidFill>
                <a:effectLst/>
                <a:latin typeface="system-ui"/>
              </a:rPr>
              <a:t>缺乏领域专业知识</a:t>
            </a:r>
            <a:r>
              <a:rPr lang="zh-CN" altLang="en-US" b="0" i="0" dirty="0">
                <a:solidFill>
                  <a:srgbClr val="222222"/>
                </a:solidFill>
                <a:effectLst/>
                <a:latin typeface="system-ui"/>
              </a:rPr>
              <a:t>，越来越难以满足各领域的数据消费需求。</a:t>
            </a: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E2B322-AF06-46BC-B595-6BD3B2954C2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207582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u="none" strike="noStrike" dirty="0">
                <a:effectLst/>
                <a:latin typeface="+mn-lt"/>
                <a:ea typeface="+mn-ea"/>
                <a:cs typeface="+mn-cs"/>
                <a:sym typeface="Times New Roman"/>
              </a:rPr>
              <a:t>混合搜索成为“分水岭”</a:t>
            </a:r>
            <a:r>
              <a:rPr lang="zh-CN" altLang="en-US" sz="1200" b="0" i="0" u="none" strike="noStrike" dirty="0">
                <a:effectLst/>
                <a:latin typeface="+mn-lt"/>
                <a:ea typeface="+mn-ea"/>
                <a:cs typeface="+mn-cs"/>
                <a:sym typeface="Times New Roman"/>
              </a:rPr>
              <a:t>：这或许是当前最重要的技术趋势。单一的关键词或向量搜索已无法满足需求。</a:t>
            </a:r>
            <a:r>
              <a:rPr lang="en-US" altLang="zh-CN" sz="1200" b="0" i="0" u="none" strike="noStrike" dirty="0" err="1">
                <a:effectLst/>
                <a:latin typeface="+mn-lt"/>
                <a:ea typeface="+mn-ea"/>
                <a:cs typeface="+mn-cs"/>
                <a:sym typeface="Times New Roman"/>
              </a:rPr>
              <a:t>OceanBase</a:t>
            </a:r>
            <a:r>
              <a:rPr lang="en-US" altLang="zh-CN" sz="1200" b="0" i="0" u="none" strike="noStrike" dirty="0">
                <a:effectLst/>
                <a:latin typeface="+mn-lt"/>
                <a:ea typeface="+mn-ea"/>
                <a:cs typeface="+mn-cs"/>
                <a:sym typeface="Times New Roman"/>
              </a:rPr>
              <a:t> </a:t>
            </a:r>
            <a:r>
              <a:rPr lang="en-US" altLang="zh-CN" sz="1200" b="0" i="0" u="none" strike="noStrike" dirty="0" err="1">
                <a:effectLst/>
                <a:latin typeface="+mn-lt"/>
                <a:ea typeface="+mn-ea"/>
                <a:cs typeface="+mn-cs"/>
                <a:sym typeface="Times New Roman"/>
              </a:rPr>
              <a:t>seekdb</a:t>
            </a:r>
            <a:r>
              <a:rPr lang="zh-CN" altLang="en-US" sz="1200" b="0" i="0" u="none" strike="noStrike" dirty="0">
                <a:effectLst/>
                <a:latin typeface="+mn-lt"/>
                <a:ea typeface="+mn-ea"/>
                <a:cs typeface="+mn-cs"/>
                <a:sym typeface="Times New Roman"/>
              </a:rPr>
              <a:t>和</a:t>
            </a:r>
            <a:r>
              <a:rPr lang="zh-CN" altLang="en-US" sz="1200" b="1" i="0" u="none" strike="noStrike" dirty="0">
                <a:effectLst/>
                <a:latin typeface="+mn-lt"/>
                <a:ea typeface="+mn-ea"/>
                <a:cs typeface="+mn-cs"/>
                <a:sym typeface="Times New Roman"/>
              </a:rPr>
              <a:t>字节跳动的</a:t>
            </a:r>
            <a:r>
              <a:rPr lang="en-US" altLang="zh-CN" sz="1200" b="1" i="0" u="none" strike="noStrike" dirty="0" err="1">
                <a:effectLst/>
                <a:latin typeface="+mn-lt"/>
                <a:ea typeface="+mn-ea"/>
                <a:cs typeface="+mn-cs"/>
                <a:sym typeface="Times New Roman"/>
              </a:rPr>
              <a:t>DataMind</a:t>
            </a:r>
            <a:r>
              <a:rPr lang="zh-CN" altLang="en-US" sz="1200" b="0" i="0" u="none" strike="noStrike" dirty="0">
                <a:effectLst/>
                <a:latin typeface="+mn-lt"/>
                <a:ea typeface="+mn-ea"/>
                <a:cs typeface="+mn-cs"/>
                <a:sym typeface="Times New Roman"/>
              </a:rPr>
              <a:t>（基于</a:t>
            </a:r>
            <a:r>
              <a:rPr lang="en-US" altLang="zh-CN" sz="1200" b="0" i="0" u="none" strike="noStrike" dirty="0">
                <a:effectLst/>
                <a:latin typeface="+mn-lt"/>
                <a:ea typeface="+mn-ea"/>
                <a:cs typeface="+mn-cs"/>
                <a:sym typeface="Times New Roman"/>
              </a:rPr>
              <a:t>Apache Doris</a:t>
            </a:r>
            <a:r>
              <a:rPr lang="zh-CN" altLang="en-US" sz="1200" b="0" i="0" u="none" strike="noStrike" dirty="0">
                <a:effectLst/>
                <a:latin typeface="+mn-lt"/>
                <a:ea typeface="+mn-ea"/>
                <a:cs typeface="+mn-cs"/>
                <a:sym typeface="Times New Roman"/>
              </a:rPr>
              <a:t>）都在强</a:t>
            </a:r>
            <a:r>
              <a:rPr lang="zh-CN" altLang="en-US" sz="1200" b="1" i="0" u="none" strike="noStrike" dirty="0">
                <a:effectLst/>
                <a:latin typeface="+mn-lt"/>
                <a:ea typeface="+mn-ea"/>
                <a:cs typeface="+mn-cs"/>
                <a:sym typeface="Times New Roman"/>
              </a:rPr>
              <a:t>混合搜索</a:t>
            </a:r>
            <a:r>
              <a:rPr lang="zh-CN" altLang="en-US" sz="1200" b="0" i="0" u="none" strike="noStrike" dirty="0">
                <a:effectLst/>
                <a:latin typeface="+mn-lt"/>
                <a:ea typeface="+mn-ea"/>
                <a:cs typeface="+mn-cs"/>
                <a:sym typeface="Times New Roman"/>
              </a:rPr>
              <a:t>能力。它允许在一个查询中同时进行向量检索（找相似）、全文搜索（找关键词）和标量过滤（筛条件），让</a:t>
            </a:r>
            <a:r>
              <a:rPr lang="en-US" altLang="zh-CN" sz="1200" b="0" i="0" u="none" strike="noStrike" dirty="0">
                <a:effectLst/>
                <a:latin typeface="+mn-lt"/>
                <a:ea typeface="+mn-ea"/>
                <a:cs typeface="+mn-cs"/>
                <a:sym typeface="Times New Roman"/>
              </a:rPr>
              <a:t>AI</a:t>
            </a:r>
            <a:r>
              <a:rPr lang="zh-CN" altLang="en-US" sz="1200" b="0" i="0" u="none" strike="noStrike" dirty="0">
                <a:effectLst/>
                <a:latin typeface="+mn-lt"/>
                <a:ea typeface="+mn-ea"/>
                <a:cs typeface="+mn-cs"/>
                <a:sym typeface="Times New Roman"/>
              </a:rPr>
              <a:t>理解得又准又快。</a:t>
            </a:r>
          </a:p>
          <a:p>
            <a:r>
              <a:rPr lang="zh-CN" altLang="en-US" sz="1200" b="1" i="0" u="none" strike="noStrike" dirty="0">
                <a:effectLst/>
                <a:latin typeface="+mn-lt"/>
                <a:ea typeface="+mn-ea"/>
                <a:cs typeface="+mn-cs"/>
                <a:sym typeface="Times New Roman"/>
              </a:rPr>
              <a:t>多模态数据统一管理</a:t>
            </a:r>
            <a:r>
              <a:rPr lang="zh-CN" altLang="en-US" sz="1200" b="0" i="0" u="none" strike="noStrike" dirty="0">
                <a:effectLst/>
                <a:latin typeface="+mn-lt"/>
                <a:ea typeface="+mn-ea"/>
                <a:cs typeface="+mn-cs"/>
                <a:sym typeface="Times New Roman"/>
              </a:rPr>
              <a:t>：</a:t>
            </a:r>
            <a:r>
              <a:rPr lang="en-US" altLang="zh-CN" sz="1200" b="0" i="0" u="none" strike="noStrike" dirty="0">
                <a:effectLst/>
                <a:latin typeface="+mn-lt"/>
                <a:ea typeface="+mn-ea"/>
                <a:cs typeface="+mn-cs"/>
                <a:sym typeface="Times New Roman"/>
              </a:rPr>
              <a:t>AI</a:t>
            </a:r>
            <a:r>
              <a:rPr lang="zh-CN" altLang="en-US" sz="1200" b="0" i="0" u="none" strike="noStrike" dirty="0">
                <a:effectLst/>
                <a:latin typeface="+mn-lt"/>
                <a:ea typeface="+mn-ea"/>
                <a:cs typeface="+mn-cs"/>
                <a:sym typeface="Times New Roman"/>
              </a:rPr>
              <a:t>需要处理文本、图像、时序等各类数据。</a:t>
            </a:r>
            <a:r>
              <a:rPr lang="zh-CN" altLang="en-US" sz="1200" b="1" i="0" u="none" strike="noStrike" dirty="0">
                <a:effectLst/>
                <a:latin typeface="+mn-lt"/>
                <a:ea typeface="+mn-ea"/>
                <a:cs typeface="+mn-cs"/>
                <a:sym typeface="Times New Roman"/>
              </a:rPr>
              <a:t>金仓数据库</a:t>
            </a:r>
            <a:r>
              <a:rPr lang="zh-CN" altLang="en-US" sz="1200" b="0" i="0" u="none" strike="noStrike" dirty="0">
                <a:effectLst/>
                <a:latin typeface="+mn-lt"/>
                <a:ea typeface="+mn-ea"/>
                <a:cs typeface="+mn-cs"/>
                <a:sym typeface="Times New Roman"/>
              </a:rPr>
              <a:t>通过统一内核支持七种数据模型，打破数据孤岛；阿里云</a:t>
            </a:r>
            <a:r>
              <a:rPr lang="en-US" altLang="zh-CN" sz="1200" b="0" i="0" u="none" strike="noStrike" dirty="0" err="1">
                <a:effectLst/>
                <a:latin typeface="+mn-lt"/>
                <a:ea typeface="+mn-ea"/>
                <a:cs typeface="+mn-cs"/>
                <a:sym typeface="Times New Roman"/>
              </a:rPr>
              <a:t>PolarDB</a:t>
            </a:r>
            <a:r>
              <a:rPr lang="zh-CN" altLang="en-US" sz="1200" b="0" i="0" u="none" strike="noStrike" dirty="0">
                <a:effectLst/>
                <a:latin typeface="+mn-lt"/>
                <a:ea typeface="+mn-ea"/>
                <a:cs typeface="+mn-cs"/>
                <a:sym typeface="Times New Roman"/>
              </a:rPr>
              <a:t>也通过“湖库一体”架构</a:t>
            </a:r>
            <a:r>
              <a:rPr lang="en-US" altLang="zh-CN" sz="1200" b="0" i="0" u="none" strike="noStrike" dirty="0" err="1">
                <a:effectLst/>
                <a:latin typeface="+mn-lt"/>
                <a:ea typeface="+mn-ea"/>
                <a:cs typeface="+mn-cs"/>
                <a:sym typeface="Times New Roman"/>
              </a:rPr>
              <a:t>Lakebase</a:t>
            </a:r>
            <a:r>
              <a:rPr lang="zh-CN" altLang="en-US" sz="1200" b="0" i="0" u="none" strike="noStrike" dirty="0">
                <a:effectLst/>
                <a:latin typeface="+mn-lt"/>
                <a:ea typeface="+mn-ea"/>
                <a:cs typeface="+mn-cs"/>
                <a:sym typeface="Times New Roman"/>
              </a:rPr>
              <a:t>，实现全模态数据的统一存取。</a:t>
            </a:r>
          </a:p>
          <a:p>
            <a:r>
              <a:rPr lang="zh-CN" altLang="en-US" sz="1200" b="1" i="0" u="none" strike="noStrike" dirty="0">
                <a:effectLst/>
                <a:latin typeface="+mn-lt"/>
                <a:ea typeface="+mn-ea"/>
                <a:cs typeface="+mn-cs"/>
                <a:sym typeface="Times New Roman"/>
              </a:rPr>
              <a:t>库内</a:t>
            </a:r>
            <a:r>
              <a:rPr lang="en-US" altLang="zh-CN" sz="1200" b="1" i="0" u="none" strike="noStrike" dirty="0">
                <a:effectLst/>
                <a:latin typeface="+mn-lt"/>
                <a:ea typeface="+mn-ea"/>
                <a:cs typeface="+mn-cs"/>
                <a:sym typeface="Times New Roman"/>
              </a:rPr>
              <a:t>AI</a:t>
            </a:r>
            <a:r>
              <a:rPr lang="zh-CN" altLang="en-US" sz="1200" b="1" i="0" u="none" strike="noStrike" dirty="0">
                <a:effectLst/>
                <a:latin typeface="+mn-lt"/>
                <a:ea typeface="+mn-ea"/>
                <a:cs typeface="+mn-cs"/>
                <a:sym typeface="Times New Roman"/>
              </a:rPr>
              <a:t>能力集成</a:t>
            </a:r>
            <a:r>
              <a:rPr lang="zh-CN" altLang="en-US" sz="1200" b="0" i="0" u="none" strike="noStrike" dirty="0">
                <a:effectLst/>
                <a:latin typeface="+mn-lt"/>
                <a:ea typeface="+mn-ea"/>
                <a:cs typeface="+mn-cs"/>
                <a:sym typeface="Times New Roman"/>
              </a:rPr>
              <a:t>：数据库开始“自带”</a:t>
            </a:r>
            <a:r>
              <a:rPr lang="en-US" altLang="zh-CN" sz="1200" b="0" i="0" u="none" strike="noStrike" dirty="0">
                <a:effectLst/>
                <a:latin typeface="+mn-lt"/>
                <a:ea typeface="+mn-ea"/>
                <a:cs typeface="+mn-cs"/>
                <a:sym typeface="Times New Roman"/>
              </a:rPr>
              <a:t>AI</a:t>
            </a:r>
            <a:r>
              <a:rPr lang="zh-CN" altLang="en-US" sz="1200" b="0" i="0" u="none" strike="noStrike" dirty="0">
                <a:effectLst/>
                <a:latin typeface="+mn-lt"/>
                <a:ea typeface="+mn-ea"/>
                <a:cs typeface="+mn-cs"/>
                <a:sym typeface="Times New Roman"/>
              </a:rPr>
              <a:t>技能。除了上面提到的模型算子化，</a:t>
            </a:r>
            <a:r>
              <a:rPr lang="zh-CN" altLang="en-US" sz="1200" b="1" i="0" u="none" strike="noStrike" dirty="0">
                <a:effectLst/>
                <a:latin typeface="+mn-lt"/>
                <a:ea typeface="+mn-ea"/>
                <a:cs typeface="+mn-cs"/>
                <a:sym typeface="Times New Roman"/>
              </a:rPr>
              <a:t>字节跳动的</a:t>
            </a:r>
            <a:r>
              <a:rPr lang="en-US" altLang="zh-CN" sz="1200" b="1" i="0" u="none" strike="noStrike" dirty="0" err="1">
                <a:effectLst/>
                <a:latin typeface="+mn-lt"/>
                <a:ea typeface="+mn-ea"/>
                <a:cs typeface="+mn-cs"/>
                <a:sym typeface="Times New Roman"/>
              </a:rPr>
              <a:t>DataMind</a:t>
            </a:r>
            <a:r>
              <a:rPr lang="zh-CN" altLang="en-US" sz="1200" b="0" i="0" u="none" strike="noStrike" dirty="0">
                <a:effectLst/>
                <a:latin typeface="+mn-lt"/>
                <a:ea typeface="+mn-ea"/>
                <a:cs typeface="+mn-cs"/>
                <a:sym typeface="Times New Roman"/>
              </a:rPr>
              <a:t>还支持</a:t>
            </a:r>
            <a:r>
              <a:rPr lang="en-US" altLang="zh-CN" sz="1200" b="0" i="0" u="none" strike="noStrike" dirty="0">
                <a:effectLst/>
                <a:latin typeface="+mn-lt"/>
                <a:ea typeface="+mn-ea"/>
                <a:cs typeface="+mn-cs"/>
                <a:sym typeface="Times New Roman"/>
              </a:rPr>
              <a:t>Python UDF</a:t>
            </a:r>
            <a:r>
              <a:rPr lang="zh-CN" altLang="en-US" sz="1200" b="0" i="0" u="none" strike="noStrike" dirty="0">
                <a:effectLst/>
                <a:latin typeface="+mn-lt"/>
                <a:ea typeface="+mn-ea"/>
                <a:cs typeface="+mn-cs"/>
                <a:sym typeface="Times New Roman"/>
              </a:rPr>
              <a:t>（用户自定义函数），允许用户在库内直接运行自己部署的重排序模型或大模型，串联起从搜索到打分的完整流程。</a:t>
            </a:r>
          </a:p>
          <a:p>
            <a:endParaRPr kumimoji="1" lang="zh-CN" altLang="en-US" dirty="0"/>
          </a:p>
        </p:txBody>
      </p:sp>
    </p:spTree>
    <p:extLst>
      <p:ext uri="{BB962C8B-B14F-4D97-AF65-F5344CB8AC3E}">
        <p14:creationId xmlns:p14="http://schemas.microsoft.com/office/powerpoint/2010/main" val="28215131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CF24D-E10B-BC20-F051-94D03A9ECE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BEAC4C-E102-ADC2-11E9-10F12256DDB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CAFE07-7003-F73D-75A8-A6C172B1F2FB}"/>
              </a:ext>
            </a:extLst>
          </p:cNvPr>
          <p:cNvSpPr>
            <a:spLocks noGrp="1"/>
          </p:cNvSpPr>
          <p:nvPr>
            <p:ph type="body" idx="1"/>
          </p:nvPr>
        </p:nvSpPr>
        <p:spPr/>
        <p:txBody>
          <a:bodyPr/>
          <a:lstStyle/>
          <a:p>
            <a:r>
              <a:rPr lang="zh-CN" altLang="en-US" sz="1200" b="1" i="0" u="none" strike="noStrike" dirty="0">
                <a:effectLst/>
                <a:latin typeface="+mn-lt"/>
                <a:ea typeface="+mn-ea"/>
                <a:cs typeface="+mn-cs"/>
                <a:sym typeface="Times New Roman"/>
              </a:rPr>
              <a:t>混合搜索成为“分水岭”</a:t>
            </a:r>
            <a:r>
              <a:rPr lang="zh-CN" altLang="en-US" sz="1200" b="0" i="0" u="none" strike="noStrike" dirty="0">
                <a:effectLst/>
                <a:latin typeface="+mn-lt"/>
                <a:ea typeface="+mn-ea"/>
                <a:cs typeface="+mn-cs"/>
                <a:sym typeface="Times New Roman"/>
              </a:rPr>
              <a:t>：这或许是当前最重要的技术趋势。单一的关键词或向量搜索已无法满足需求。</a:t>
            </a:r>
            <a:r>
              <a:rPr lang="en-US" altLang="zh-CN" sz="1200" b="0" i="0" u="none" strike="noStrike" dirty="0" err="1">
                <a:effectLst/>
                <a:latin typeface="+mn-lt"/>
                <a:ea typeface="+mn-ea"/>
                <a:cs typeface="+mn-cs"/>
                <a:sym typeface="Times New Roman"/>
              </a:rPr>
              <a:t>OceanBase</a:t>
            </a:r>
            <a:r>
              <a:rPr lang="en-US" altLang="zh-CN" sz="1200" b="0" i="0" u="none" strike="noStrike" dirty="0">
                <a:effectLst/>
                <a:latin typeface="+mn-lt"/>
                <a:ea typeface="+mn-ea"/>
                <a:cs typeface="+mn-cs"/>
                <a:sym typeface="Times New Roman"/>
              </a:rPr>
              <a:t> </a:t>
            </a:r>
            <a:r>
              <a:rPr lang="en-US" altLang="zh-CN" sz="1200" b="0" i="0" u="none" strike="noStrike" dirty="0" err="1">
                <a:effectLst/>
                <a:latin typeface="+mn-lt"/>
                <a:ea typeface="+mn-ea"/>
                <a:cs typeface="+mn-cs"/>
                <a:sym typeface="Times New Roman"/>
              </a:rPr>
              <a:t>seekdb</a:t>
            </a:r>
            <a:r>
              <a:rPr lang="zh-CN" altLang="en-US" sz="1200" b="0" i="0" u="none" strike="noStrike" dirty="0">
                <a:effectLst/>
                <a:latin typeface="+mn-lt"/>
                <a:ea typeface="+mn-ea"/>
                <a:cs typeface="+mn-cs"/>
                <a:sym typeface="Times New Roman"/>
              </a:rPr>
              <a:t>和</a:t>
            </a:r>
            <a:r>
              <a:rPr lang="zh-CN" altLang="en-US" sz="1200" b="1" i="0" u="none" strike="noStrike" dirty="0">
                <a:effectLst/>
                <a:latin typeface="+mn-lt"/>
                <a:ea typeface="+mn-ea"/>
                <a:cs typeface="+mn-cs"/>
                <a:sym typeface="Times New Roman"/>
              </a:rPr>
              <a:t>字节跳动的</a:t>
            </a:r>
            <a:r>
              <a:rPr lang="en-US" altLang="zh-CN" sz="1200" b="1" i="0" u="none" strike="noStrike" dirty="0" err="1">
                <a:effectLst/>
                <a:latin typeface="+mn-lt"/>
                <a:ea typeface="+mn-ea"/>
                <a:cs typeface="+mn-cs"/>
                <a:sym typeface="Times New Roman"/>
              </a:rPr>
              <a:t>DataMind</a:t>
            </a:r>
            <a:r>
              <a:rPr lang="zh-CN" altLang="en-US" sz="1200" b="0" i="0" u="none" strike="noStrike" dirty="0">
                <a:effectLst/>
                <a:latin typeface="+mn-lt"/>
                <a:ea typeface="+mn-ea"/>
                <a:cs typeface="+mn-cs"/>
                <a:sym typeface="Times New Roman"/>
              </a:rPr>
              <a:t>（基于</a:t>
            </a:r>
            <a:r>
              <a:rPr lang="en-US" altLang="zh-CN" sz="1200" b="0" i="0" u="none" strike="noStrike" dirty="0">
                <a:effectLst/>
                <a:latin typeface="+mn-lt"/>
                <a:ea typeface="+mn-ea"/>
                <a:cs typeface="+mn-cs"/>
                <a:sym typeface="Times New Roman"/>
              </a:rPr>
              <a:t>Apache Doris</a:t>
            </a:r>
            <a:r>
              <a:rPr lang="zh-CN" altLang="en-US" sz="1200" b="0" i="0" u="none" strike="noStrike" dirty="0">
                <a:effectLst/>
                <a:latin typeface="+mn-lt"/>
                <a:ea typeface="+mn-ea"/>
                <a:cs typeface="+mn-cs"/>
                <a:sym typeface="Times New Roman"/>
              </a:rPr>
              <a:t>）都在强</a:t>
            </a:r>
            <a:r>
              <a:rPr lang="zh-CN" altLang="en-US" sz="1200" b="1" i="0" u="none" strike="noStrike" dirty="0">
                <a:effectLst/>
                <a:latin typeface="+mn-lt"/>
                <a:ea typeface="+mn-ea"/>
                <a:cs typeface="+mn-cs"/>
                <a:sym typeface="Times New Roman"/>
              </a:rPr>
              <a:t>混合搜索</a:t>
            </a:r>
            <a:r>
              <a:rPr lang="zh-CN" altLang="en-US" sz="1200" b="0" i="0" u="none" strike="noStrike" dirty="0">
                <a:effectLst/>
                <a:latin typeface="+mn-lt"/>
                <a:ea typeface="+mn-ea"/>
                <a:cs typeface="+mn-cs"/>
                <a:sym typeface="Times New Roman"/>
              </a:rPr>
              <a:t>能力。它允许在一个查询中同时进行向量检索（找相似）、全文搜索（找关键词）和标量过滤（筛条件），让</a:t>
            </a:r>
            <a:r>
              <a:rPr lang="en-US" altLang="zh-CN" sz="1200" b="0" i="0" u="none" strike="noStrike" dirty="0">
                <a:effectLst/>
                <a:latin typeface="+mn-lt"/>
                <a:ea typeface="+mn-ea"/>
                <a:cs typeface="+mn-cs"/>
                <a:sym typeface="Times New Roman"/>
              </a:rPr>
              <a:t>AI</a:t>
            </a:r>
            <a:r>
              <a:rPr lang="zh-CN" altLang="en-US" sz="1200" b="0" i="0" u="none" strike="noStrike" dirty="0">
                <a:effectLst/>
                <a:latin typeface="+mn-lt"/>
                <a:ea typeface="+mn-ea"/>
                <a:cs typeface="+mn-cs"/>
                <a:sym typeface="Times New Roman"/>
              </a:rPr>
              <a:t>理解得又准又快。</a:t>
            </a:r>
          </a:p>
          <a:p>
            <a:r>
              <a:rPr lang="zh-CN" altLang="en-US" sz="1200" b="1" i="0" u="none" strike="noStrike" dirty="0">
                <a:effectLst/>
                <a:latin typeface="+mn-lt"/>
                <a:ea typeface="+mn-ea"/>
                <a:cs typeface="+mn-cs"/>
                <a:sym typeface="Times New Roman"/>
              </a:rPr>
              <a:t>多模态数据统一管理</a:t>
            </a:r>
            <a:r>
              <a:rPr lang="zh-CN" altLang="en-US" sz="1200" b="0" i="0" u="none" strike="noStrike" dirty="0">
                <a:effectLst/>
                <a:latin typeface="+mn-lt"/>
                <a:ea typeface="+mn-ea"/>
                <a:cs typeface="+mn-cs"/>
                <a:sym typeface="Times New Roman"/>
              </a:rPr>
              <a:t>：</a:t>
            </a:r>
            <a:r>
              <a:rPr lang="en-US" altLang="zh-CN" sz="1200" b="0" i="0" u="none" strike="noStrike" dirty="0">
                <a:effectLst/>
                <a:latin typeface="+mn-lt"/>
                <a:ea typeface="+mn-ea"/>
                <a:cs typeface="+mn-cs"/>
                <a:sym typeface="Times New Roman"/>
              </a:rPr>
              <a:t>AI</a:t>
            </a:r>
            <a:r>
              <a:rPr lang="zh-CN" altLang="en-US" sz="1200" b="0" i="0" u="none" strike="noStrike" dirty="0">
                <a:effectLst/>
                <a:latin typeface="+mn-lt"/>
                <a:ea typeface="+mn-ea"/>
                <a:cs typeface="+mn-cs"/>
                <a:sym typeface="Times New Roman"/>
              </a:rPr>
              <a:t>需要处理文本、图像、时序等各类数据。</a:t>
            </a:r>
            <a:r>
              <a:rPr lang="zh-CN" altLang="en-US" sz="1200" b="1" i="0" u="none" strike="noStrike" dirty="0">
                <a:effectLst/>
                <a:latin typeface="+mn-lt"/>
                <a:ea typeface="+mn-ea"/>
                <a:cs typeface="+mn-cs"/>
                <a:sym typeface="Times New Roman"/>
              </a:rPr>
              <a:t>金仓数据库</a:t>
            </a:r>
            <a:r>
              <a:rPr lang="zh-CN" altLang="en-US" sz="1200" b="0" i="0" u="none" strike="noStrike" dirty="0">
                <a:effectLst/>
                <a:latin typeface="+mn-lt"/>
                <a:ea typeface="+mn-ea"/>
                <a:cs typeface="+mn-cs"/>
                <a:sym typeface="Times New Roman"/>
              </a:rPr>
              <a:t>通过统一内核支持七种数据模型，打破数据孤岛；阿里云</a:t>
            </a:r>
            <a:r>
              <a:rPr lang="en-US" altLang="zh-CN" sz="1200" b="0" i="0" u="none" strike="noStrike" dirty="0" err="1">
                <a:effectLst/>
                <a:latin typeface="+mn-lt"/>
                <a:ea typeface="+mn-ea"/>
                <a:cs typeface="+mn-cs"/>
                <a:sym typeface="Times New Roman"/>
              </a:rPr>
              <a:t>PolarDB</a:t>
            </a:r>
            <a:r>
              <a:rPr lang="zh-CN" altLang="en-US" sz="1200" b="0" i="0" u="none" strike="noStrike" dirty="0">
                <a:effectLst/>
                <a:latin typeface="+mn-lt"/>
                <a:ea typeface="+mn-ea"/>
                <a:cs typeface="+mn-cs"/>
                <a:sym typeface="Times New Roman"/>
              </a:rPr>
              <a:t>也通过“湖库一体”架构</a:t>
            </a:r>
            <a:r>
              <a:rPr lang="en-US" altLang="zh-CN" sz="1200" b="0" i="0" u="none" strike="noStrike" dirty="0" err="1">
                <a:effectLst/>
                <a:latin typeface="+mn-lt"/>
                <a:ea typeface="+mn-ea"/>
                <a:cs typeface="+mn-cs"/>
                <a:sym typeface="Times New Roman"/>
              </a:rPr>
              <a:t>Lakebase</a:t>
            </a:r>
            <a:r>
              <a:rPr lang="zh-CN" altLang="en-US" sz="1200" b="0" i="0" u="none" strike="noStrike" dirty="0">
                <a:effectLst/>
                <a:latin typeface="+mn-lt"/>
                <a:ea typeface="+mn-ea"/>
                <a:cs typeface="+mn-cs"/>
                <a:sym typeface="Times New Roman"/>
              </a:rPr>
              <a:t>，实现全模态数据的统一存取。</a:t>
            </a:r>
          </a:p>
          <a:p>
            <a:r>
              <a:rPr lang="zh-CN" altLang="en-US" sz="1200" b="1" i="0" u="none" strike="noStrike" dirty="0">
                <a:effectLst/>
                <a:latin typeface="+mn-lt"/>
                <a:ea typeface="+mn-ea"/>
                <a:cs typeface="+mn-cs"/>
                <a:sym typeface="Times New Roman"/>
              </a:rPr>
              <a:t>库内</a:t>
            </a:r>
            <a:r>
              <a:rPr lang="en-US" altLang="zh-CN" sz="1200" b="1" i="0" u="none" strike="noStrike" dirty="0">
                <a:effectLst/>
                <a:latin typeface="+mn-lt"/>
                <a:ea typeface="+mn-ea"/>
                <a:cs typeface="+mn-cs"/>
                <a:sym typeface="Times New Roman"/>
              </a:rPr>
              <a:t>AI</a:t>
            </a:r>
            <a:r>
              <a:rPr lang="zh-CN" altLang="en-US" sz="1200" b="1" i="0" u="none" strike="noStrike" dirty="0">
                <a:effectLst/>
                <a:latin typeface="+mn-lt"/>
                <a:ea typeface="+mn-ea"/>
                <a:cs typeface="+mn-cs"/>
                <a:sym typeface="Times New Roman"/>
              </a:rPr>
              <a:t>能力集成</a:t>
            </a:r>
            <a:r>
              <a:rPr lang="zh-CN" altLang="en-US" sz="1200" b="0" i="0" u="none" strike="noStrike" dirty="0">
                <a:effectLst/>
                <a:latin typeface="+mn-lt"/>
                <a:ea typeface="+mn-ea"/>
                <a:cs typeface="+mn-cs"/>
                <a:sym typeface="Times New Roman"/>
              </a:rPr>
              <a:t>：数据库开始“自带”</a:t>
            </a:r>
            <a:r>
              <a:rPr lang="en-US" altLang="zh-CN" sz="1200" b="0" i="0" u="none" strike="noStrike" dirty="0">
                <a:effectLst/>
                <a:latin typeface="+mn-lt"/>
                <a:ea typeface="+mn-ea"/>
                <a:cs typeface="+mn-cs"/>
                <a:sym typeface="Times New Roman"/>
              </a:rPr>
              <a:t>AI</a:t>
            </a:r>
            <a:r>
              <a:rPr lang="zh-CN" altLang="en-US" sz="1200" b="0" i="0" u="none" strike="noStrike" dirty="0">
                <a:effectLst/>
                <a:latin typeface="+mn-lt"/>
                <a:ea typeface="+mn-ea"/>
                <a:cs typeface="+mn-cs"/>
                <a:sym typeface="Times New Roman"/>
              </a:rPr>
              <a:t>技能。除了上面提到的模型算子化，</a:t>
            </a:r>
            <a:r>
              <a:rPr lang="zh-CN" altLang="en-US" sz="1200" b="1" i="0" u="none" strike="noStrike" dirty="0">
                <a:effectLst/>
                <a:latin typeface="+mn-lt"/>
                <a:ea typeface="+mn-ea"/>
                <a:cs typeface="+mn-cs"/>
                <a:sym typeface="Times New Roman"/>
              </a:rPr>
              <a:t>字节跳动的</a:t>
            </a:r>
            <a:r>
              <a:rPr lang="en-US" altLang="zh-CN" sz="1200" b="1" i="0" u="none" strike="noStrike" dirty="0" err="1">
                <a:effectLst/>
                <a:latin typeface="+mn-lt"/>
                <a:ea typeface="+mn-ea"/>
                <a:cs typeface="+mn-cs"/>
                <a:sym typeface="Times New Roman"/>
              </a:rPr>
              <a:t>DataMind</a:t>
            </a:r>
            <a:r>
              <a:rPr lang="zh-CN" altLang="en-US" sz="1200" b="0" i="0" u="none" strike="noStrike" dirty="0">
                <a:effectLst/>
                <a:latin typeface="+mn-lt"/>
                <a:ea typeface="+mn-ea"/>
                <a:cs typeface="+mn-cs"/>
                <a:sym typeface="Times New Roman"/>
              </a:rPr>
              <a:t>还支持</a:t>
            </a:r>
            <a:r>
              <a:rPr lang="en-US" altLang="zh-CN" sz="1200" b="0" i="0" u="none" strike="noStrike" dirty="0">
                <a:effectLst/>
                <a:latin typeface="+mn-lt"/>
                <a:ea typeface="+mn-ea"/>
                <a:cs typeface="+mn-cs"/>
                <a:sym typeface="Times New Roman"/>
              </a:rPr>
              <a:t>Python UDF</a:t>
            </a:r>
            <a:r>
              <a:rPr lang="zh-CN" altLang="en-US" sz="1200" b="0" i="0" u="none" strike="noStrike" dirty="0">
                <a:effectLst/>
                <a:latin typeface="+mn-lt"/>
                <a:ea typeface="+mn-ea"/>
                <a:cs typeface="+mn-cs"/>
                <a:sym typeface="Times New Roman"/>
              </a:rPr>
              <a:t>（用户自定义函数），允许用户在库内直接运行自己部署的重排序模型或大模型，串联起从搜索到打分的完整流程。</a:t>
            </a:r>
          </a:p>
          <a:p>
            <a:endParaRPr kumimoji="1" lang="zh-CN" altLang="en-US" dirty="0"/>
          </a:p>
        </p:txBody>
      </p:sp>
    </p:spTree>
    <p:extLst>
      <p:ext uri="{BB962C8B-B14F-4D97-AF65-F5344CB8AC3E}">
        <p14:creationId xmlns:p14="http://schemas.microsoft.com/office/powerpoint/2010/main" val="2832067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标题幻灯片">
    <p:spTree>
      <p:nvGrpSpPr>
        <p:cNvPr id="1" name=""/>
        <p:cNvGrpSpPr/>
        <p:nvPr/>
      </p:nvGrpSpPr>
      <p:grpSpPr>
        <a:xfrm>
          <a:off x="0" y="0"/>
          <a:ext cx="0" cy="0"/>
          <a:chOff x="0" y="0"/>
          <a:chExt cx="0" cy="0"/>
        </a:xfrm>
      </p:grpSpPr>
      <p:grpSp>
        <p:nvGrpSpPr>
          <p:cNvPr id="13" name="Group 2"/>
          <p:cNvGrpSpPr/>
          <p:nvPr/>
        </p:nvGrpSpPr>
        <p:grpSpPr>
          <a:xfrm>
            <a:off x="203075" y="1552574"/>
            <a:ext cx="8939338" cy="5305426"/>
            <a:chOff x="0" y="0"/>
            <a:chExt cx="8939336" cy="5305425"/>
          </a:xfrm>
        </p:grpSpPr>
        <p:sp>
          <p:nvSpPr>
            <p:cNvPr id="11" name="Freeform 3"/>
            <p:cNvSpPr/>
            <p:nvPr/>
          </p:nvSpPr>
          <p:spPr>
            <a:xfrm>
              <a:off x="3068761" y="1157287"/>
              <a:ext cx="5870576" cy="4146551"/>
            </a:xfrm>
            <a:custGeom>
              <a:avLst/>
              <a:gdLst/>
              <a:ahLst/>
              <a:cxnLst>
                <a:cxn ang="0">
                  <a:pos x="wd2" y="hd2"/>
                </a:cxn>
                <a:cxn ang="5400000">
                  <a:pos x="wd2" y="hd2"/>
                </a:cxn>
                <a:cxn ang="10800000">
                  <a:pos x="wd2" y="hd2"/>
                </a:cxn>
                <a:cxn ang="16200000">
                  <a:pos x="wd2" y="hd2"/>
                </a:cxn>
              </a:cxnLst>
              <a:rect l="0" t="0" r="r" b="b"/>
              <a:pathLst>
                <a:path w="21600" h="21600" extrusionOk="0">
                  <a:moveTo>
                    <a:pt x="8896" y="21592"/>
                  </a:moveTo>
                  <a:lnTo>
                    <a:pt x="21600" y="21600"/>
                  </a:lnTo>
                  <a:lnTo>
                    <a:pt x="21600" y="18425"/>
                  </a:lnTo>
                  <a:lnTo>
                    <a:pt x="0" y="0"/>
                  </a:lnTo>
                  <a:lnTo>
                    <a:pt x="935" y="976"/>
                  </a:lnTo>
                  <a:lnTo>
                    <a:pt x="1706" y="1811"/>
                  </a:lnTo>
                  <a:lnTo>
                    <a:pt x="2576" y="2870"/>
                  </a:lnTo>
                  <a:lnTo>
                    <a:pt x="3417" y="3986"/>
                  </a:lnTo>
                  <a:lnTo>
                    <a:pt x="4649" y="5880"/>
                  </a:lnTo>
                  <a:lnTo>
                    <a:pt x="5742" y="7897"/>
                  </a:lnTo>
                  <a:lnTo>
                    <a:pt x="6536" y="9659"/>
                  </a:lnTo>
                  <a:lnTo>
                    <a:pt x="7231" y="11478"/>
                  </a:lnTo>
                  <a:lnTo>
                    <a:pt x="7774" y="13297"/>
                  </a:lnTo>
                  <a:lnTo>
                    <a:pt x="8177" y="14960"/>
                  </a:lnTo>
                  <a:lnTo>
                    <a:pt x="8452" y="16365"/>
                  </a:lnTo>
                  <a:lnTo>
                    <a:pt x="8703" y="18110"/>
                  </a:lnTo>
                  <a:lnTo>
                    <a:pt x="8826" y="19632"/>
                  </a:lnTo>
                  <a:lnTo>
                    <a:pt x="8896" y="21592"/>
                  </a:lnTo>
                </a:path>
              </a:pathLst>
            </a:custGeom>
            <a:gradFill flip="none" rotWithShape="1">
              <a:gsLst>
                <a:gs pos="0">
                  <a:srgbClr val="182F76"/>
                </a:gs>
                <a:gs pos="100000">
                  <a:schemeClr val="accent2"/>
                </a:gs>
              </a:gsLst>
              <a:lin ang="0" scaled="0"/>
            </a:gradFill>
            <a:ln w="12700" cap="flat">
              <a:noFill/>
              <a:miter lim="400000"/>
            </a:ln>
            <a:effectLst/>
          </p:spPr>
          <p:txBody>
            <a:bodyPr wrap="square" lIns="45719" tIns="45719" rIns="45719" bIns="45719" numCol="1" anchor="t">
              <a:noAutofit/>
            </a:bodyPr>
            <a:lstStyle/>
            <a:p>
              <a:pPr>
                <a:defRPr>
                  <a:latin typeface="SimSun"/>
                  <a:ea typeface="SimSun"/>
                  <a:cs typeface="SimSun"/>
                  <a:sym typeface="SimSun"/>
                </a:defRPr>
              </a:pPr>
              <a:endParaRPr/>
            </a:p>
          </p:txBody>
        </p:sp>
        <p:sp>
          <p:nvSpPr>
            <p:cNvPr id="12" name="Arc 4"/>
            <p:cNvSpPr/>
            <p:nvPr/>
          </p:nvSpPr>
          <p:spPr>
            <a:xfrm>
              <a:off x="0" y="0"/>
              <a:ext cx="5488112" cy="53054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2523" y="1947"/>
                    <a:pt x="21600" y="11023"/>
                    <a:pt x="21600" y="21600"/>
                  </a:cubicBezTo>
                </a:path>
              </a:pathLst>
            </a:custGeom>
            <a:noFill/>
            <a:ln w="12700" cap="rnd">
              <a:solidFill>
                <a:schemeClr val="accent2"/>
              </a:solidFill>
              <a:prstDash val="solid"/>
              <a:round/>
            </a:ln>
            <a:effectLst/>
          </p:spPr>
          <p:txBody>
            <a:bodyPr wrap="square" lIns="45719" tIns="45719" rIns="45719" bIns="45719" numCol="1" anchor="ctr">
              <a:noAutofit/>
            </a:bodyPr>
            <a:lstStyle/>
            <a:p>
              <a:pPr>
                <a:defRPr>
                  <a:latin typeface="SimSun"/>
                  <a:ea typeface="SimSun"/>
                  <a:cs typeface="SimSun"/>
                  <a:sym typeface="SimSun"/>
                </a:defRPr>
              </a:pPr>
              <a:endParaRPr/>
            </a:p>
          </p:txBody>
        </p:sp>
      </p:grpSp>
      <p:sp>
        <p:nvSpPr>
          <p:cNvPr id="14" name="标题文本"/>
          <p:cNvSpPr txBox="1">
            <a:spLocks noGrp="1"/>
          </p:cNvSpPr>
          <p:nvPr>
            <p:ph type="title"/>
          </p:nvPr>
        </p:nvSpPr>
        <p:spPr>
          <a:xfrm>
            <a:off x="1293812" y="762000"/>
            <a:ext cx="7772401" cy="1143000"/>
          </a:xfrm>
          <a:prstGeom prst="rect">
            <a:avLst/>
          </a:prstGeom>
        </p:spPr>
        <p:txBody>
          <a:bodyPr anchor="b"/>
          <a:lstStyle/>
          <a:p>
            <a:r>
              <a:t>标题文本</a:t>
            </a:r>
          </a:p>
        </p:txBody>
      </p:sp>
      <p:sp>
        <p:nvSpPr>
          <p:cNvPr id="15" name="正文级别 1…"/>
          <p:cNvSpPr txBox="1">
            <a:spLocks noGrp="1"/>
          </p:cNvSpPr>
          <p:nvPr>
            <p:ph type="body" sz="quarter" idx="1"/>
          </p:nvPr>
        </p:nvSpPr>
        <p:spPr>
          <a:xfrm>
            <a:off x="685800" y="3429000"/>
            <a:ext cx="6400800" cy="1752600"/>
          </a:xfrm>
          <a:prstGeom prst="rect">
            <a:avLst/>
          </a:prstGeom>
        </p:spPr>
        <p:txBody>
          <a:bodyPr lIns="46037" tIns="46037" rIns="46037" bIns="46037" anchor="ctr">
            <a:normAutofit/>
          </a:bodyPr>
          <a:lstStyle>
            <a:lvl1pPr marL="0" indent="0" algn="ctr">
              <a:buClrTx/>
              <a:buSzTx/>
              <a:buNone/>
            </a:lvl1pPr>
            <a:lvl2pPr algn="ctr">
              <a:buClrTx/>
            </a:lvl2pPr>
            <a:lvl3pPr algn="ctr">
              <a:buClrTx/>
            </a:lvl3pPr>
            <a:lvl4pPr algn="ctr">
              <a:buClrTx/>
            </a:lvl4pPr>
            <a:lvl5pPr algn="ctr">
              <a:buClrTx/>
            </a:lvl5pPr>
          </a:lstStyle>
          <a:p>
            <a:r>
              <a:t>正文级别 1</a:t>
            </a:r>
          </a:p>
          <a:p>
            <a:pPr lvl="1"/>
            <a:r>
              <a:t>正文级别 2</a:t>
            </a:r>
          </a:p>
          <a:p>
            <a:pPr lvl="2"/>
            <a:r>
              <a:t>正文级别 3</a:t>
            </a:r>
          </a:p>
          <a:p>
            <a:pPr lvl="3"/>
            <a:r>
              <a:t>正文级别 4</a:t>
            </a:r>
          </a:p>
          <a:p>
            <a:pPr lvl="4"/>
            <a:r>
              <a:t>正文级别 5</a:t>
            </a:r>
          </a:p>
        </p:txBody>
      </p:sp>
      <p:sp>
        <p:nvSpPr>
          <p:cNvPr id="16" name="幻灯片编号"/>
          <p:cNvSpPr txBox="1">
            <a:spLocks noGrp="1"/>
          </p:cNvSpPr>
          <p:nvPr>
            <p:ph type="sldNum" sz="quarter" idx="2"/>
          </p:nvPr>
        </p:nvSpPr>
        <p:spPr>
          <a:xfrm>
            <a:off x="8175624" y="6333138"/>
            <a:ext cx="282577" cy="287724"/>
          </a:xfrm>
          <a:prstGeom prst="rect">
            <a:avLst/>
          </a:prstGeom>
        </p:spPr>
        <p:txBody>
          <a:bodyPr lIns="46037" tIns="46037" rIns="46037" bIns="46037"/>
          <a:lstStyle>
            <a:lvl1pPr>
              <a:lnSpc>
                <a:spcPct val="100000"/>
              </a:lnSpc>
              <a:defRPr sz="1400">
                <a:solidFill>
                  <a:srgbClr val="FFFFFF"/>
                </a:solidFill>
                <a:latin typeface="+mn-lt"/>
                <a:ea typeface="+mn-ea"/>
                <a:cs typeface="+mn-cs"/>
                <a:sym typeface="Times New Roman"/>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和内容">
    <p:spTree>
      <p:nvGrpSpPr>
        <p:cNvPr id="1" name=""/>
        <p:cNvGrpSpPr/>
        <p:nvPr/>
      </p:nvGrpSpPr>
      <p:grpSpPr>
        <a:xfrm>
          <a:off x="0" y="0"/>
          <a:ext cx="0" cy="0"/>
          <a:chOff x="0" y="0"/>
          <a:chExt cx="0" cy="0"/>
        </a:xfrm>
      </p:grpSpPr>
      <p:sp>
        <p:nvSpPr>
          <p:cNvPr id="23" name="标题文本"/>
          <p:cNvSpPr txBox="1">
            <a:spLocks noGrp="1"/>
          </p:cNvSpPr>
          <p:nvPr>
            <p:ph type="title"/>
          </p:nvPr>
        </p:nvSpPr>
        <p:spPr>
          <a:prstGeom prst="rect">
            <a:avLst/>
          </a:prstGeom>
        </p:spPr>
        <p:txBody>
          <a:bodyPr/>
          <a:lstStyle/>
          <a:p>
            <a:r>
              <a:t>标题文本</a:t>
            </a:r>
          </a:p>
        </p:txBody>
      </p:sp>
      <p:sp>
        <p:nvSpPr>
          <p:cNvPr id="24" name="正文级别 1…"/>
          <p:cNvSpPr txBox="1">
            <a:spLocks noGrp="1"/>
          </p:cNvSpPr>
          <p:nvPr>
            <p:ph type="body" idx="1"/>
          </p:nvPr>
        </p:nvSpPr>
        <p:spPr>
          <a:xfrm>
            <a:off x="685800" y="1981200"/>
            <a:ext cx="7772400" cy="4114800"/>
          </a:xfrm>
          <a:prstGeom prst="rect">
            <a:avLst/>
          </a:prstGeom>
        </p:spPr>
        <p:txBody>
          <a:bodyPr>
            <a:normAutofit/>
          </a:bodyPr>
          <a:lstStyle/>
          <a:p>
            <a:r>
              <a:t>正文级别 1</a:t>
            </a:r>
          </a:p>
          <a:p>
            <a:pPr lvl="1"/>
            <a:r>
              <a:t>正文级别 2</a:t>
            </a:r>
          </a:p>
          <a:p>
            <a:pPr lvl="2"/>
            <a:r>
              <a:t>正文级别 3</a:t>
            </a:r>
          </a:p>
          <a:p>
            <a:pPr lvl="3"/>
            <a:r>
              <a:t>正文级别 4</a:t>
            </a:r>
          </a:p>
          <a:p>
            <a:pPr lvl="4"/>
            <a:r>
              <a:t>正文级别 5</a:t>
            </a:r>
          </a:p>
        </p:txBody>
      </p:sp>
      <p:sp>
        <p:nvSpPr>
          <p:cNvPr id="25"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节标题">
    <p:spTree>
      <p:nvGrpSpPr>
        <p:cNvPr id="1" name=""/>
        <p:cNvGrpSpPr/>
        <p:nvPr/>
      </p:nvGrpSpPr>
      <p:grpSpPr>
        <a:xfrm>
          <a:off x="0" y="0"/>
          <a:ext cx="0" cy="0"/>
          <a:chOff x="0" y="0"/>
          <a:chExt cx="0" cy="0"/>
        </a:xfrm>
      </p:grpSpPr>
      <p:sp>
        <p:nvSpPr>
          <p:cNvPr id="32" name="标题文本"/>
          <p:cNvSpPr txBox="1">
            <a:spLocks noGrp="1"/>
          </p:cNvSpPr>
          <p:nvPr>
            <p:ph type="title"/>
          </p:nvPr>
        </p:nvSpPr>
        <p:spPr>
          <a:xfrm>
            <a:off x="722312" y="4406900"/>
            <a:ext cx="7772401" cy="1362075"/>
          </a:xfrm>
          <a:prstGeom prst="rect">
            <a:avLst/>
          </a:prstGeom>
        </p:spPr>
        <p:txBody>
          <a:bodyPr anchor="t"/>
          <a:lstStyle>
            <a:lvl1pPr algn="l">
              <a:defRPr sz="4000" b="1" cap="all"/>
            </a:lvl1pPr>
          </a:lstStyle>
          <a:p>
            <a:r>
              <a:t>标题文本</a:t>
            </a:r>
          </a:p>
        </p:txBody>
      </p:sp>
      <p:sp>
        <p:nvSpPr>
          <p:cNvPr id="33" name="正文级别 1…"/>
          <p:cNvSpPr txBox="1">
            <a:spLocks noGrp="1"/>
          </p:cNvSpPr>
          <p:nvPr>
            <p:ph type="body" sz="quarter" idx="1"/>
          </p:nvPr>
        </p:nvSpPr>
        <p:spPr>
          <a:xfrm>
            <a:off x="722312" y="2906713"/>
            <a:ext cx="7772401" cy="1500188"/>
          </a:xfrm>
          <a:prstGeom prst="rect">
            <a:avLst/>
          </a:prstGeom>
        </p:spPr>
        <p:txBody>
          <a:bodyPr anchor="b">
            <a:normAutofit/>
          </a:bodyPr>
          <a:lstStyle>
            <a:lvl1pPr marL="0" indent="0">
              <a:spcBef>
                <a:spcPts val="400"/>
              </a:spcBef>
              <a:buClrTx/>
              <a:buSzTx/>
              <a:buNone/>
              <a:defRPr sz="2000"/>
            </a:lvl1pPr>
            <a:lvl2pPr marL="0" indent="457200">
              <a:spcBef>
                <a:spcPts val="400"/>
              </a:spcBef>
              <a:buClrTx/>
              <a:buSzTx/>
              <a:buNone/>
              <a:defRPr sz="2000"/>
            </a:lvl2pPr>
            <a:lvl3pPr marL="0" indent="914400">
              <a:spcBef>
                <a:spcPts val="400"/>
              </a:spcBef>
              <a:buClrTx/>
              <a:buSzTx/>
              <a:buNone/>
              <a:defRPr sz="2000"/>
            </a:lvl3pPr>
            <a:lvl4pPr marL="0" indent="1371600">
              <a:spcBef>
                <a:spcPts val="400"/>
              </a:spcBef>
              <a:buClrTx/>
              <a:buSzTx/>
              <a:buNone/>
              <a:defRPr sz="2000"/>
            </a:lvl4pPr>
            <a:lvl5pPr marL="0" indent="1828800">
              <a:spcBef>
                <a:spcPts val="400"/>
              </a:spcBef>
              <a:buClrTx/>
              <a:buSzTx/>
              <a:buNone/>
              <a:defRPr sz="2000"/>
            </a:lvl5pPr>
          </a:lstStyle>
          <a:p>
            <a:r>
              <a:t>正文级别 1</a:t>
            </a:r>
          </a:p>
          <a:p>
            <a:pPr lvl="1"/>
            <a:r>
              <a:t>正文级别 2</a:t>
            </a:r>
          </a:p>
          <a:p>
            <a:pPr lvl="2"/>
            <a:r>
              <a:t>正文级别 3</a:t>
            </a:r>
          </a:p>
          <a:p>
            <a:pPr lvl="3"/>
            <a:r>
              <a:t>正文级别 4</a:t>
            </a:r>
          </a:p>
          <a:p>
            <a:pPr lvl="4"/>
            <a:r>
              <a:t>正文级别 5</a:t>
            </a:r>
          </a:p>
        </p:txBody>
      </p:sp>
      <p:sp>
        <p:nvSpPr>
          <p:cNvPr id="34"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两栏内容">
    <p:spTree>
      <p:nvGrpSpPr>
        <p:cNvPr id="1" name=""/>
        <p:cNvGrpSpPr/>
        <p:nvPr/>
      </p:nvGrpSpPr>
      <p:grpSpPr>
        <a:xfrm>
          <a:off x="0" y="0"/>
          <a:ext cx="0" cy="0"/>
          <a:chOff x="0" y="0"/>
          <a:chExt cx="0" cy="0"/>
        </a:xfrm>
      </p:grpSpPr>
      <p:sp>
        <p:nvSpPr>
          <p:cNvPr id="41" name="标题文本"/>
          <p:cNvSpPr txBox="1">
            <a:spLocks noGrp="1"/>
          </p:cNvSpPr>
          <p:nvPr>
            <p:ph type="title"/>
          </p:nvPr>
        </p:nvSpPr>
        <p:spPr>
          <a:prstGeom prst="rect">
            <a:avLst/>
          </a:prstGeom>
        </p:spPr>
        <p:txBody>
          <a:bodyPr/>
          <a:lstStyle/>
          <a:p>
            <a:r>
              <a:t>标题文本</a:t>
            </a:r>
          </a:p>
        </p:txBody>
      </p:sp>
      <p:sp>
        <p:nvSpPr>
          <p:cNvPr id="42" name="正文级别 1…"/>
          <p:cNvSpPr txBox="1">
            <a:spLocks noGrp="1"/>
          </p:cNvSpPr>
          <p:nvPr>
            <p:ph type="body" sz="half" idx="1"/>
          </p:nvPr>
        </p:nvSpPr>
        <p:spPr>
          <a:xfrm>
            <a:off x="685800" y="1981200"/>
            <a:ext cx="3810000" cy="4114800"/>
          </a:xfrm>
          <a:prstGeom prst="rect">
            <a:avLst/>
          </a:prstGeom>
        </p:spPr>
        <p:txBody>
          <a:bodyPr>
            <a:normAutofit/>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正文级别 1</a:t>
            </a:r>
          </a:p>
          <a:p>
            <a:pPr lvl="1"/>
            <a:r>
              <a:t>正文级别 2</a:t>
            </a:r>
          </a:p>
          <a:p>
            <a:pPr lvl="2"/>
            <a:r>
              <a:t>正文级别 3</a:t>
            </a:r>
          </a:p>
          <a:p>
            <a:pPr lvl="3"/>
            <a:r>
              <a:t>正文级别 4</a:t>
            </a:r>
          </a:p>
          <a:p>
            <a:pPr lvl="4"/>
            <a:r>
              <a:t>正文级别 5</a:t>
            </a:r>
          </a:p>
        </p:txBody>
      </p:sp>
      <p:sp>
        <p:nvSpPr>
          <p:cNvPr id="43"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比较">
    <p:spTree>
      <p:nvGrpSpPr>
        <p:cNvPr id="1" name=""/>
        <p:cNvGrpSpPr/>
        <p:nvPr/>
      </p:nvGrpSpPr>
      <p:grpSpPr>
        <a:xfrm>
          <a:off x="0" y="0"/>
          <a:ext cx="0" cy="0"/>
          <a:chOff x="0" y="0"/>
          <a:chExt cx="0" cy="0"/>
        </a:xfrm>
      </p:grpSpPr>
      <p:sp>
        <p:nvSpPr>
          <p:cNvPr id="50" name="标题文本"/>
          <p:cNvSpPr txBox="1">
            <a:spLocks noGrp="1"/>
          </p:cNvSpPr>
          <p:nvPr>
            <p:ph type="title"/>
          </p:nvPr>
        </p:nvSpPr>
        <p:spPr>
          <a:xfrm>
            <a:off x="457200" y="274638"/>
            <a:ext cx="8229600" cy="1143001"/>
          </a:xfrm>
          <a:prstGeom prst="rect">
            <a:avLst/>
          </a:prstGeom>
        </p:spPr>
        <p:txBody>
          <a:bodyPr/>
          <a:lstStyle/>
          <a:p>
            <a:r>
              <a:t>标题文本</a:t>
            </a:r>
          </a:p>
        </p:txBody>
      </p:sp>
      <p:sp>
        <p:nvSpPr>
          <p:cNvPr id="51" name="正文级别 1…"/>
          <p:cNvSpPr txBox="1">
            <a:spLocks noGrp="1"/>
          </p:cNvSpPr>
          <p:nvPr>
            <p:ph type="body" sz="quarter" idx="1"/>
          </p:nvPr>
        </p:nvSpPr>
        <p:spPr>
          <a:xfrm>
            <a:off x="457200" y="1535112"/>
            <a:ext cx="4040188" cy="639763"/>
          </a:xfrm>
          <a:prstGeom prst="rect">
            <a:avLst/>
          </a:prstGeom>
        </p:spPr>
        <p:txBody>
          <a:bodyPr anchor="b">
            <a:normAutofit/>
          </a:bodyPr>
          <a:lstStyle>
            <a:lvl1pPr marL="0" indent="0">
              <a:spcBef>
                <a:spcPts val="500"/>
              </a:spcBef>
              <a:buClrTx/>
              <a:buSzTx/>
              <a:buNone/>
              <a:defRPr sz="2400" b="1"/>
            </a:lvl1pPr>
            <a:lvl2pPr marL="0" indent="457200">
              <a:spcBef>
                <a:spcPts val="500"/>
              </a:spcBef>
              <a:buClrTx/>
              <a:buSzTx/>
              <a:buNone/>
              <a:defRPr sz="2400" b="1"/>
            </a:lvl2pPr>
            <a:lvl3pPr marL="0" indent="914400">
              <a:spcBef>
                <a:spcPts val="500"/>
              </a:spcBef>
              <a:buClrTx/>
              <a:buSzTx/>
              <a:buNone/>
              <a:defRPr sz="2400" b="1"/>
            </a:lvl3pPr>
            <a:lvl4pPr marL="0" indent="1371600">
              <a:spcBef>
                <a:spcPts val="500"/>
              </a:spcBef>
              <a:buClrTx/>
              <a:buSzTx/>
              <a:buNone/>
              <a:defRPr sz="2400" b="1"/>
            </a:lvl4pPr>
            <a:lvl5pPr marL="0" indent="1828800">
              <a:spcBef>
                <a:spcPts val="500"/>
              </a:spcBef>
              <a:buClrTx/>
              <a:buSzTx/>
              <a:buNone/>
              <a:defRPr sz="2400" b="1"/>
            </a:lvl5pPr>
          </a:lstStyle>
          <a:p>
            <a:r>
              <a:t>正文级别 1</a:t>
            </a:r>
          </a:p>
          <a:p>
            <a:pPr lvl="1"/>
            <a:r>
              <a:t>正文级别 2</a:t>
            </a:r>
          </a:p>
          <a:p>
            <a:pPr lvl="2"/>
            <a:r>
              <a:t>正文级别 3</a:t>
            </a:r>
          </a:p>
          <a:p>
            <a:pPr lvl="3"/>
            <a:r>
              <a:t>正文级别 4</a:t>
            </a:r>
          </a:p>
          <a:p>
            <a:pPr lvl="4"/>
            <a:r>
              <a:t>正文级别 5</a:t>
            </a:r>
          </a:p>
        </p:txBody>
      </p:sp>
      <p:sp>
        <p:nvSpPr>
          <p:cNvPr id="52" name="文本占位符 4"/>
          <p:cNvSpPr>
            <a:spLocks noGrp="1"/>
          </p:cNvSpPr>
          <p:nvPr>
            <p:ph type="body" sz="quarter" idx="21"/>
          </p:nvPr>
        </p:nvSpPr>
        <p:spPr>
          <a:xfrm>
            <a:off x="4645025" y="1535112"/>
            <a:ext cx="4041775" cy="639763"/>
          </a:xfrm>
          <a:prstGeom prst="rect">
            <a:avLst/>
          </a:prstGeom>
        </p:spPr>
        <p:txBody>
          <a:bodyPr anchor="b">
            <a:normAutofit/>
          </a:bodyPr>
          <a:lstStyle/>
          <a:p>
            <a:pPr marL="0" indent="0">
              <a:spcBef>
                <a:spcPts val="500"/>
              </a:spcBef>
              <a:buClrTx/>
              <a:buSzTx/>
              <a:buNone/>
              <a:defRPr sz="2400" b="1"/>
            </a:pPr>
            <a:endParaRPr/>
          </a:p>
        </p:txBody>
      </p:sp>
      <p:sp>
        <p:nvSpPr>
          <p:cNvPr id="53"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仅标题">
    <p:spTree>
      <p:nvGrpSpPr>
        <p:cNvPr id="1" name=""/>
        <p:cNvGrpSpPr/>
        <p:nvPr/>
      </p:nvGrpSpPr>
      <p:grpSpPr>
        <a:xfrm>
          <a:off x="0" y="0"/>
          <a:ext cx="0" cy="0"/>
          <a:chOff x="0" y="0"/>
          <a:chExt cx="0" cy="0"/>
        </a:xfrm>
      </p:grpSpPr>
      <p:sp>
        <p:nvSpPr>
          <p:cNvPr id="60" name="标题文本"/>
          <p:cNvSpPr txBox="1">
            <a:spLocks noGrp="1"/>
          </p:cNvSpPr>
          <p:nvPr>
            <p:ph type="title"/>
          </p:nvPr>
        </p:nvSpPr>
        <p:spPr>
          <a:prstGeom prst="rect">
            <a:avLst/>
          </a:prstGeom>
        </p:spPr>
        <p:txBody>
          <a:bodyPr/>
          <a:lstStyle/>
          <a:p>
            <a:r>
              <a:t>标题文本</a:t>
            </a:r>
          </a:p>
        </p:txBody>
      </p:sp>
      <p:sp>
        <p:nvSpPr>
          <p:cNvPr id="61"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6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内容与标题">
    <p:spTree>
      <p:nvGrpSpPr>
        <p:cNvPr id="1" name=""/>
        <p:cNvGrpSpPr/>
        <p:nvPr/>
      </p:nvGrpSpPr>
      <p:grpSpPr>
        <a:xfrm>
          <a:off x="0" y="0"/>
          <a:ext cx="0" cy="0"/>
          <a:chOff x="0" y="0"/>
          <a:chExt cx="0" cy="0"/>
        </a:xfrm>
      </p:grpSpPr>
      <p:sp>
        <p:nvSpPr>
          <p:cNvPr id="75" name="标题文本"/>
          <p:cNvSpPr txBox="1">
            <a:spLocks noGrp="1"/>
          </p:cNvSpPr>
          <p:nvPr>
            <p:ph type="title"/>
          </p:nvPr>
        </p:nvSpPr>
        <p:spPr>
          <a:xfrm>
            <a:off x="457200" y="273050"/>
            <a:ext cx="3008314" cy="1162050"/>
          </a:xfrm>
          <a:prstGeom prst="rect">
            <a:avLst/>
          </a:prstGeom>
        </p:spPr>
        <p:txBody>
          <a:bodyPr anchor="b"/>
          <a:lstStyle>
            <a:lvl1pPr algn="l">
              <a:defRPr sz="2000" b="1"/>
            </a:lvl1pPr>
          </a:lstStyle>
          <a:p>
            <a:r>
              <a:t>标题文本</a:t>
            </a:r>
          </a:p>
        </p:txBody>
      </p:sp>
      <p:sp>
        <p:nvSpPr>
          <p:cNvPr id="76" name="正文级别 1…"/>
          <p:cNvSpPr txBox="1">
            <a:spLocks noGrp="1"/>
          </p:cNvSpPr>
          <p:nvPr>
            <p:ph type="body" idx="1"/>
          </p:nvPr>
        </p:nvSpPr>
        <p:spPr>
          <a:xfrm>
            <a:off x="3575050" y="273050"/>
            <a:ext cx="5111750" cy="5853113"/>
          </a:xfrm>
          <a:prstGeom prst="rect">
            <a:avLst/>
          </a:prstGeom>
        </p:spPr>
        <p:txBody>
          <a:bodyPr>
            <a:normAutofit/>
          </a:bodyPr>
          <a:lstStyle/>
          <a:p>
            <a:r>
              <a:t>正文级别 1</a:t>
            </a:r>
          </a:p>
          <a:p>
            <a:pPr lvl="1"/>
            <a:r>
              <a:t>正文级别 2</a:t>
            </a:r>
          </a:p>
          <a:p>
            <a:pPr lvl="2"/>
            <a:r>
              <a:t>正文级别 3</a:t>
            </a:r>
          </a:p>
          <a:p>
            <a:pPr lvl="3"/>
            <a:r>
              <a:t>正文级别 4</a:t>
            </a:r>
          </a:p>
          <a:p>
            <a:pPr lvl="4"/>
            <a:r>
              <a:t>正文级别 5</a:t>
            </a:r>
          </a:p>
        </p:txBody>
      </p:sp>
      <p:sp>
        <p:nvSpPr>
          <p:cNvPr id="77" name="文本占位符 3"/>
          <p:cNvSpPr>
            <a:spLocks noGrp="1"/>
          </p:cNvSpPr>
          <p:nvPr>
            <p:ph type="body" sz="half" idx="21"/>
          </p:nvPr>
        </p:nvSpPr>
        <p:spPr>
          <a:xfrm>
            <a:off x="457199" y="1435100"/>
            <a:ext cx="3008315" cy="4691063"/>
          </a:xfrm>
          <a:prstGeom prst="rect">
            <a:avLst/>
          </a:prstGeom>
        </p:spPr>
        <p:txBody>
          <a:bodyPr>
            <a:normAutofit/>
          </a:bodyPr>
          <a:lstStyle/>
          <a:p>
            <a:pPr marL="0" indent="0">
              <a:spcBef>
                <a:spcPts val="300"/>
              </a:spcBef>
              <a:buClrTx/>
              <a:buSzTx/>
              <a:buNone/>
              <a:defRPr sz="1400"/>
            </a:pPr>
            <a:endParaRPr/>
          </a:p>
        </p:txBody>
      </p:sp>
      <p:sp>
        <p:nvSpPr>
          <p:cNvPr id="7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图片与标题">
    <p:spTree>
      <p:nvGrpSpPr>
        <p:cNvPr id="1" name=""/>
        <p:cNvGrpSpPr/>
        <p:nvPr/>
      </p:nvGrpSpPr>
      <p:grpSpPr>
        <a:xfrm>
          <a:off x="0" y="0"/>
          <a:ext cx="0" cy="0"/>
          <a:chOff x="0" y="0"/>
          <a:chExt cx="0" cy="0"/>
        </a:xfrm>
      </p:grpSpPr>
      <p:sp>
        <p:nvSpPr>
          <p:cNvPr id="85" name="标题文本"/>
          <p:cNvSpPr txBox="1">
            <a:spLocks noGrp="1"/>
          </p:cNvSpPr>
          <p:nvPr>
            <p:ph type="title"/>
          </p:nvPr>
        </p:nvSpPr>
        <p:spPr>
          <a:xfrm>
            <a:off x="1792288" y="4800600"/>
            <a:ext cx="5486401" cy="566738"/>
          </a:xfrm>
          <a:prstGeom prst="rect">
            <a:avLst/>
          </a:prstGeom>
        </p:spPr>
        <p:txBody>
          <a:bodyPr anchor="b"/>
          <a:lstStyle>
            <a:lvl1pPr algn="l">
              <a:defRPr sz="2000" b="1"/>
            </a:lvl1pPr>
          </a:lstStyle>
          <a:p>
            <a:r>
              <a:t>标题文本</a:t>
            </a:r>
          </a:p>
        </p:txBody>
      </p:sp>
      <p:sp>
        <p:nvSpPr>
          <p:cNvPr id="86" name="图片占位符 2"/>
          <p:cNvSpPr>
            <a:spLocks noGrp="1"/>
          </p:cNvSpPr>
          <p:nvPr>
            <p:ph type="pic" sz="half" idx="21"/>
          </p:nvPr>
        </p:nvSpPr>
        <p:spPr>
          <a:xfrm>
            <a:off x="1792288" y="612775"/>
            <a:ext cx="5486401" cy="4114800"/>
          </a:xfrm>
          <a:prstGeom prst="rect">
            <a:avLst/>
          </a:prstGeom>
        </p:spPr>
        <p:txBody>
          <a:bodyPr lIns="91439" rIns="91439"/>
          <a:lstStyle/>
          <a:p>
            <a:endParaRPr/>
          </a:p>
        </p:txBody>
      </p:sp>
      <p:sp>
        <p:nvSpPr>
          <p:cNvPr id="87" name="正文级别 1…"/>
          <p:cNvSpPr txBox="1">
            <a:spLocks noGrp="1"/>
          </p:cNvSpPr>
          <p:nvPr>
            <p:ph type="body" sz="quarter" idx="1"/>
          </p:nvPr>
        </p:nvSpPr>
        <p:spPr>
          <a:xfrm>
            <a:off x="1792288" y="5367337"/>
            <a:ext cx="5486401" cy="804863"/>
          </a:xfrm>
          <a:prstGeom prst="rect">
            <a:avLst/>
          </a:prstGeom>
        </p:spPr>
        <p:txBody>
          <a:bodyPr>
            <a:normAutofit/>
          </a:bodyPr>
          <a:lstStyle>
            <a:lvl1pPr marL="0" indent="0">
              <a:spcBef>
                <a:spcPts val="300"/>
              </a:spcBef>
              <a:buClrTx/>
              <a:buSzTx/>
              <a:buNone/>
              <a:defRPr sz="1400"/>
            </a:lvl1pPr>
            <a:lvl2pPr marL="0" indent="457200">
              <a:spcBef>
                <a:spcPts val="300"/>
              </a:spcBef>
              <a:buClrTx/>
              <a:buSzTx/>
              <a:buNone/>
              <a:defRPr sz="1400"/>
            </a:lvl2pPr>
            <a:lvl3pPr marL="0" indent="914400">
              <a:spcBef>
                <a:spcPts val="300"/>
              </a:spcBef>
              <a:buClrTx/>
              <a:buSzTx/>
              <a:buNone/>
              <a:defRPr sz="1400"/>
            </a:lvl3pPr>
            <a:lvl4pPr marL="0" indent="1371600">
              <a:spcBef>
                <a:spcPts val="300"/>
              </a:spcBef>
              <a:buClrTx/>
              <a:buSzTx/>
              <a:buNone/>
              <a:defRPr sz="1400"/>
            </a:lvl4pPr>
            <a:lvl5pPr marL="0" indent="1828800">
              <a:spcBef>
                <a:spcPts val="300"/>
              </a:spcBef>
              <a:buClrTx/>
              <a:buSzTx/>
              <a:buNone/>
              <a:defRPr sz="1400"/>
            </a:lvl5pPr>
          </a:lstStyle>
          <a:p>
            <a:r>
              <a:t>正文级别 1</a:t>
            </a:r>
          </a:p>
          <a:p>
            <a:pPr lvl="1"/>
            <a:r>
              <a:t>正文级别 2</a:t>
            </a:r>
          </a:p>
          <a:p>
            <a:pPr lvl="2"/>
            <a:r>
              <a:t>正文级别 3</a:t>
            </a:r>
          </a:p>
          <a:p>
            <a:pPr lvl="3"/>
            <a:r>
              <a:t>正文级别 4</a:t>
            </a:r>
          </a:p>
          <a:p>
            <a:pPr lvl="4"/>
            <a:r>
              <a:t>正文级别 5</a:t>
            </a:r>
          </a:p>
        </p:txBody>
      </p:sp>
      <p:sp>
        <p:nvSpPr>
          <p:cNvPr id="8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内容">
    <p:spTree>
      <p:nvGrpSpPr>
        <p:cNvPr id="1" name=""/>
        <p:cNvGrpSpPr/>
        <p:nvPr/>
      </p:nvGrpSpPr>
      <p:grpSpPr>
        <a:xfrm>
          <a:off x="0" y="0"/>
          <a:ext cx="0" cy="0"/>
          <a:chOff x="0" y="0"/>
          <a:chExt cx="0" cy="0"/>
        </a:xfrm>
      </p:grpSpPr>
      <p:sp>
        <p:nvSpPr>
          <p:cNvPr id="95" name="正文级别 1…"/>
          <p:cNvSpPr txBox="1">
            <a:spLocks noGrp="1"/>
          </p:cNvSpPr>
          <p:nvPr>
            <p:ph type="body" idx="1"/>
          </p:nvPr>
        </p:nvSpPr>
        <p:spPr>
          <a:xfrm>
            <a:off x="685800" y="609600"/>
            <a:ext cx="7772400" cy="5486400"/>
          </a:xfrm>
          <a:prstGeom prst="rect">
            <a:avLst/>
          </a:prstGeom>
        </p:spPr>
        <p:txBody>
          <a:bodyPr>
            <a:normAutofit/>
          </a:bodyPr>
          <a:lstStyle/>
          <a:p>
            <a:r>
              <a:t>正文级别 1</a:t>
            </a:r>
          </a:p>
          <a:p>
            <a:pPr lvl="1"/>
            <a:r>
              <a:t>正文级别 2</a:t>
            </a:r>
          </a:p>
          <a:p>
            <a:pPr lvl="2"/>
            <a:r>
              <a:t>正文级别 3</a:t>
            </a:r>
          </a:p>
          <a:p>
            <a:pPr lvl="3"/>
            <a:r>
              <a:t>正文级别 4</a:t>
            </a:r>
          </a:p>
          <a:p>
            <a:pPr lvl="4"/>
            <a:r>
              <a:t>正文级别 5</a:t>
            </a:r>
          </a:p>
        </p:txBody>
      </p:sp>
      <p:sp>
        <p:nvSpPr>
          <p:cNvPr id="96"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690626" y="1346947"/>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90626" y="4299697"/>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90626" y="1484779"/>
            <a:ext cx="7667244"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7236911" y="4068923"/>
            <a:ext cx="810678"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475220" cy="3035808"/>
          </a:xfrm>
        </p:spPr>
        <p:txBody>
          <a:bodyPr anchor="ctr">
            <a:noAutofit/>
          </a:bodyPr>
          <a:lstStyle>
            <a:lvl1pPr algn="l">
              <a:lnSpc>
                <a:spcPct val="80000"/>
              </a:lnSpc>
              <a:defRPr sz="7200" cap="all" baseline="0">
                <a:blipFill dpi="0" rotWithShape="1">
                  <a:blip r:embed="rId4"/>
                  <a:srcRect/>
                  <a:tile tx="6350" ty="-127000" sx="65000" sy="64000" flip="none" algn="tl"/>
                </a:blip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650">
                <a:solidFill>
                  <a:schemeClr val="tx1"/>
                </a:solidFill>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2652076B-CAB3-47BB-83F2-2C989CE82F41}" type="datetimeFigureOut">
              <a:rPr lang="zh-CN" altLang="en-US" smtClean="0"/>
              <a:t>2026/3/1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7194550" y="4289334"/>
            <a:ext cx="895401" cy="640080"/>
          </a:xfrm>
        </p:spPr>
        <p:txBody>
          <a:bodyPr/>
          <a:lstStyle>
            <a:lvl1pPr>
              <a:defRPr sz="2100"/>
            </a:lvl1pPr>
          </a:lstStyle>
          <a:p>
            <a:fld id="{64020093-D1F0-47B3-AB03-A33541B4B9CD}" type="slidenum">
              <a:rPr lang="zh-CN" altLang="en-US" smtClean="0"/>
              <a:t>‹#›</a:t>
            </a:fld>
            <a:endParaRPr lang="zh-CN" altLang="en-US"/>
          </a:p>
        </p:txBody>
      </p:sp>
    </p:spTree>
    <p:extLst>
      <p:ext uri="{BB962C8B-B14F-4D97-AF65-F5344CB8AC3E}">
        <p14:creationId xmlns:p14="http://schemas.microsoft.com/office/powerpoint/2010/main" val="2611092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00100" y="0"/>
            <a:ext cx="7543800" cy="1609344"/>
          </a:xfrm>
        </p:spPr>
        <p:txBody>
          <a:bodyPr>
            <a:normAutofit/>
          </a:bodyPr>
          <a:lstStyle>
            <a:lvl1pPr>
              <a:defRPr sz="2700">
                <a:latin typeface="楷体" panose="02010609060101010101" pitchFamily="49" charset="-122"/>
                <a:ea typeface="楷体" panose="02010609060101010101" pitchFamily="49"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802386" y="1609344"/>
            <a:ext cx="7543800" cy="4562856"/>
          </a:xfrm>
        </p:spPr>
        <p:txBody>
          <a:bodyPr>
            <a:normAutofit/>
          </a:bodyPr>
          <a:lstStyle>
            <a:lvl1pPr>
              <a:defRPr sz="1800">
                <a:latin typeface="华文中宋" panose="02010600040101010101" pitchFamily="2" charset="-122"/>
                <a:ea typeface="华文中宋" panose="02010600040101010101" pitchFamily="2" charset="-122"/>
              </a:defRPr>
            </a:lvl1pPr>
            <a:lvl2pPr>
              <a:defRPr sz="1500">
                <a:latin typeface="华文中宋" panose="02010600040101010101" pitchFamily="2" charset="-122"/>
                <a:ea typeface="华文中宋" panose="02010600040101010101" pitchFamily="2" charset="-122"/>
              </a:defRPr>
            </a:lvl2pPr>
            <a:lvl3pPr>
              <a:defRPr sz="1350">
                <a:latin typeface="华文中宋" panose="02010600040101010101" pitchFamily="2" charset="-122"/>
                <a:ea typeface="华文中宋" panose="02010600040101010101" pitchFamily="2" charset="-122"/>
              </a:defRPr>
            </a:lvl3pPr>
            <a:lvl4pPr>
              <a:defRPr sz="1350">
                <a:latin typeface="华文中宋" panose="02010600040101010101" pitchFamily="2" charset="-122"/>
                <a:ea typeface="华文中宋" panose="02010600040101010101" pitchFamily="2" charset="-122"/>
              </a:defRPr>
            </a:lvl4pPr>
            <a:lvl5pPr>
              <a:defRPr sz="1350">
                <a:latin typeface="华文中宋" panose="02010600040101010101" pitchFamily="2" charset="-122"/>
                <a:ea typeface="华文中宋" panose="02010600040101010101" pitchFamily="2"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10"/>
          </p:nvPr>
        </p:nvSpPr>
        <p:spPr/>
        <p:txBody>
          <a:bodyPr/>
          <a:lstStyle/>
          <a:p>
            <a:fld id="{2652076B-CAB3-47BB-83F2-2C989CE82F41}" type="datetimeFigureOut">
              <a:rPr lang="zh-CN" altLang="en-US" smtClean="0"/>
              <a:t>2026/3/1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4020093-D1F0-47B3-AB03-A33541B4B9CD}" type="slidenum">
              <a:rPr lang="zh-CN" altLang="en-US" smtClean="0"/>
              <a:t>‹#›</a:t>
            </a:fld>
            <a:endParaRPr lang="zh-CN" altLang="en-US"/>
          </a:p>
        </p:txBody>
      </p:sp>
    </p:spTree>
    <p:extLst>
      <p:ext uri="{BB962C8B-B14F-4D97-AF65-F5344CB8AC3E}">
        <p14:creationId xmlns:p14="http://schemas.microsoft.com/office/powerpoint/2010/main" val="3844209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0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1624331" y="5020056"/>
            <a:ext cx="6789420" cy="1066800"/>
          </a:xfrm>
        </p:spPr>
        <p:txBody>
          <a:bodyPr anchor="t">
            <a:normAutofit/>
          </a:bodyPr>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6445251" y="6272785"/>
            <a:ext cx="1983232" cy="365125"/>
          </a:xfrm>
        </p:spPr>
        <p:txBody>
          <a:bodyPr/>
          <a:lstStyle/>
          <a:p>
            <a:fld id="{2652076B-CAB3-47BB-83F2-2C989CE82F41}" type="datetimeFigureOut">
              <a:rPr lang="zh-CN" altLang="en-US" smtClean="0"/>
              <a:t>2026/3/1</a:t>
            </a:fld>
            <a:endParaRPr lang="zh-CN" altLang="en-US"/>
          </a:p>
        </p:txBody>
      </p:sp>
      <p:sp>
        <p:nvSpPr>
          <p:cNvPr id="5" name="Footer Placeholder 4"/>
          <p:cNvSpPr>
            <a:spLocks noGrp="1"/>
          </p:cNvSpPr>
          <p:nvPr>
            <p:ph type="ftr" sz="quarter" idx="11"/>
          </p:nvPr>
        </p:nvSpPr>
        <p:spPr>
          <a:xfrm>
            <a:off x="1637031" y="6272785"/>
            <a:ext cx="4745736" cy="365125"/>
          </a:xfrm>
        </p:spPr>
        <p:txBody>
          <a:bodyPr/>
          <a:lstStyle/>
          <a:p>
            <a:endParaRPr lang="zh-CN" altLang="en-US"/>
          </a:p>
        </p:txBody>
      </p:sp>
      <p:grpSp>
        <p:nvGrpSpPr>
          <p:cNvPr id="8" name="Group 7"/>
          <p:cNvGrpSpPr/>
          <p:nvPr/>
        </p:nvGrpSpPr>
        <p:grpSpPr>
          <a:xfrm>
            <a:off x="673049" y="2325848"/>
            <a:ext cx="810678"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32776" y="2506133"/>
            <a:ext cx="891224" cy="720332"/>
          </a:xfrm>
        </p:spPr>
        <p:txBody>
          <a:bodyPr/>
          <a:lstStyle>
            <a:lvl1pPr>
              <a:defRPr sz="2100"/>
            </a:lvl1pPr>
          </a:lstStyle>
          <a:p>
            <a:fld id="{64020093-D1F0-47B3-AB03-A33541B4B9CD}" type="slidenum">
              <a:rPr lang="zh-CN" altLang="en-US" smtClean="0"/>
              <a:t>‹#›</a:t>
            </a:fld>
            <a:endParaRPr lang="zh-CN" altLang="en-US"/>
          </a:p>
        </p:txBody>
      </p:sp>
    </p:spTree>
    <p:extLst>
      <p:ext uri="{BB962C8B-B14F-4D97-AF65-F5344CB8AC3E}">
        <p14:creationId xmlns:p14="http://schemas.microsoft.com/office/powerpoint/2010/main" val="1956939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02386" y="2194560"/>
            <a:ext cx="3566160" cy="397764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773168" y="2194560"/>
            <a:ext cx="3566160" cy="397764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2652076B-CAB3-47BB-83F2-2C989CE82F41}" type="datetimeFigureOut">
              <a:rPr lang="zh-CN" altLang="en-US" smtClean="0"/>
              <a:t>2026/3/1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4020093-D1F0-47B3-AB03-A33541B4B9CD}" type="slidenum">
              <a:rPr lang="zh-CN" altLang="en-US" smtClean="0"/>
              <a:t>‹#›</a:t>
            </a:fld>
            <a:endParaRPr lang="zh-CN" altLang="en-US"/>
          </a:p>
        </p:txBody>
      </p:sp>
    </p:spTree>
    <p:extLst>
      <p:ext uri="{BB962C8B-B14F-4D97-AF65-F5344CB8AC3E}">
        <p14:creationId xmlns:p14="http://schemas.microsoft.com/office/powerpoint/2010/main" val="23391943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00100" y="2048256"/>
            <a:ext cx="3566160" cy="640080"/>
          </a:xfrm>
        </p:spPr>
        <p:txBody>
          <a:bodyPr anchor="ctr">
            <a:normAutofit/>
          </a:bodyPr>
          <a:lstStyle>
            <a:lvl1pPr marL="0" indent="0">
              <a:buNone/>
              <a:defRPr sz="1500" b="1">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802386" y="2743200"/>
            <a:ext cx="3566160" cy="329184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773168" y="2048256"/>
            <a:ext cx="3566160" cy="640080"/>
          </a:xfrm>
        </p:spPr>
        <p:txBody>
          <a:bodyPr anchor="ctr">
            <a:normAutofit/>
          </a:bodyPr>
          <a:lstStyle>
            <a:lvl1pPr marL="0" indent="0">
              <a:buNone/>
              <a:defRPr sz="1500" b="1">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773168" y="2743200"/>
            <a:ext cx="3566160" cy="329184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2652076B-CAB3-47BB-83F2-2C989CE82F41}" type="datetimeFigureOut">
              <a:rPr lang="zh-CN" altLang="en-US" smtClean="0"/>
              <a:t>2026/3/1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4020093-D1F0-47B3-AB03-A33541B4B9CD}" type="slidenum">
              <a:rPr lang="zh-CN" altLang="en-US" smtClean="0"/>
              <a:t>‹#›</a:t>
            </a:fld>
            <a:endParaRPr lang="zh-CN" altLang="en-US"/>
          </a:p>
        </p:txBody>
      </p:sp>
    </p:spTree>
    <p:extLst>
      <p:ext uri="{BB962C8B-B14F-4D97-AF65-F5344CB8AC3E}">
        <p14:creationId xmlns:p14="http://schemas.microsoft.com/office/powerpoint/2010/main" val="15568469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652076B-CAB3-47BB-83F2-2C989CE82F41}" type="datetimeFigureOut">
              <a:rPr lang="zh-CN" altLang="en-US" smtClean="0"/>
              <a:t>2026/3/1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64020093-D1F0-47B3-AB03-A33541B4B9CD}" type="slidenum">
              <a:rPr lang="zh-CN" altLang="en-US" smtClean="0"/>
              <a:t>‹#›</a:t>
            </a:fld>
            <a:endParaRPr lang="zh-CN" altLang="en-US"/>
          </a:p>
        </p:txBody>
      </p:sp>
    </p:spTree>
    <p:extLst>
      <p:ext uri="{BB962C8B-B14F-4D97-AF65-F5344CB8AC3E}">
        <p14:creationId xmlns:p14="http://schemas.microsoft.com/office/powerpoint/2010/main" val="38528841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52076B-CAB3-47BB-83F2-2C989CE82F41}" type="datetimeFigureOut">
              <a:rPr lang="zh-CN" altLang="en-US" smtClean="0"/>
              <a:t>2026/3/1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64020093-D1F0-47B3-AB03-A33541B4B9CD}" type="slidenum">
              <a:rPr lang="zh-CN" altLang="en-US" smtClean="0"/>
              <a:t>‹#›</a:t>
            </a:fld>
            <a:endParaRPr lang="zh-CN" altLang="en-US"/>
          </a:p>
        </p:txBody>
      </p:sp>
    </p:spTree>
    <p:extLst>
      <p:ext uri="{BB962C8B-B14F-4D97-AF65-F5344CB8AC3E}">
        <p14:creationId xmlns:p14="http://schemas.microsoft.com/office/powerpoint/2010/main" val="2062169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400" b="1"/>
            </a:lvl1pPr>
          </a:lstStyle>
          <a:p>
            <a:r>
              <a:rPr lang="zh-CN" altLang="en-US"/>
              <a:t>单击此处编辑母版标题样式</a:t>
            </a:r>
            <a:endParaRPr lang="en-US" dirty="0"/>
          </a:p>
        </p:txBody>
      </p:sp>
      <p:sp>
        <p:nvSpPr>
          <p:cNvPr id="3" name="Content Placeholder 2"/>
          <p:cNvSpPr>
            <a:spLocks noGrp="1"/>
          </p:cNvSpPr>
          <p:nvPr>
            <p:ph idx="1"/>
          </p:nvPr>
        </p:nvSpPr>
        <p:spPr>
          <a:xfrm>
            <a:off x="628650" y="685800"/>
            <a:ext cx="5033772" cy="5020056"/>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652076B-CAB3-47BB-83F2-2C989CE82F41}" type="datetimeFigureOut">
              <a:rPr lang="zh-CN" altLang="en-US" smtClean="0"/>
              <a:t>2026/3/1</a:t>
            </a:fld>
            <a:endParaRPr lang="zh-CN" altLang="en-US"/>
          </a:p>
        </p:txBody>
      </p:sp>
      <p:sp>
        <p:nvSpPr>
          <p:cNvPr id="6" name="Footer Placeholder 5"/>
          <p:cNvSpPr>
            <a:spLocks noGrp="1"/>
          </p:cNvSpPr>
          <p:nvPr>
            <p:ph type="ftr" sz="quarter" idx="11"/>
          </p:nvPr>
        </p:nvSpPr>
        <p:spPr/>
        <p:txBody>
          <a:bodyPr/>
          <a:lstStyle/>
          <a:p>
            <a:endParaRPr lang="zh-CN" altLang="en-US"/>
          </a:p>
        </p:txBody>
      </p:sp>
      <p:grpSp>
        <p:nvGrpSpPr>
          <p:cNvPr id="9" name="Group 8"/>
          <p:cNvGrpSpPr>
            <a:grpSpLocks noChangeAspect="1"/>
          </p:cNvGrpSpPr>
          <p:nvPr/>
        </p:nvGrpSpPr>
        <p:grpSpPr>
          <a:xfrm>
            <a:off x="8551294" y="6229681"/>
            <a:ext cx="3429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4020093-D1F0-47B3-AB03-A33541B4B9CD}" type="slidenum">
              <a:rPr lang="zh-CN" altLang="en-US" smtClean="0"/>
              <a:t>‹#›</a:t>
            </a:fld>
            <a:endParaRPr lang="zh-CN" altLang="en-US"/>
          </a:p>
        </p:txBody>
      </p:sp>
    </p:spTree>
    <p:extLst>
      <p:ext uri="{BB962C8B-B14F-4D97-AF65-F5344CB8AC3E}">
        <p14:creationId xmlns:p14="http://schemas.microsoft.com/office/powerpoint/2010/main" val="24966916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400" b="1"/>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652076B-CAB3-47BB-83F2-2C989CE82F41}" type="datetimeFigureOut">
              <a:rPr lang="zh-CN" altLang="en-US" smtClean="0"/>
              <a:t>2026/3/1</a:t>
            </a:fld>
            <a:endParaRPr lang="zh-CN" altLang="en-US"/>
          </a:p>
        </p:txBody>
      </p:sp>
      <p:grpSp>
        <p:nvGrpSpPr>
          <p:cNvPr id="8" name="Group 7"/>
          <p:cNvGrpSpPr>
            <a:grpSpLocks noChangeAspect="1"/>
          </p:cNvGrpSpPr>
          <p:nvPr/>
        </p:nvGrpSpPr>
        <p:grpSpPr>
          <a:xfrm>
            <a:off x="8551294" y="6229681"/>
            <a:ext cx="3429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4020093-D1F0-47B3-AB03-A33541B4B9CD}" type="slidenum">
              <a:rPr lang="zh-CN" altLang="en-US" smtClean="0"/>
              <a:t>‹#›</a:t>
            </a:fld>
            <a:endParaRPr lang="zh-CN" altLang="en-US"/>
          </a:p>
        </p:txBody>
      </p:sp>
    </p:spTree>
    <p:extLst>
      <p:ext uri="{BB962C8B-B14F-4D97-AF65-F5344CB8AC3E}">
        <p14:creationId xmlns:p14="http://schemas.microsoft.com/office/powerpoint/2010/main" val="18589391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652076B-CAB3-47BB-83F2-2C989CE82F41}" type="datetimeFigureOut">
              <a:rPr lang="zh-CN" altLang="en-US" smtClean="0"/>
              <a:t>2026/3/1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4020093-D1F0-47B3-AB03-A33541B4B9CD}" type="slidenum">
              <a:rPr lang="zh-CN" altLang="en-US" smtClean="0"/>
              <a:t>‹#›</a:t>
            </a:fld>
            <a:endParaRPr lang="zh-CN" altLang="en-US"/>
          </a:p>
        </p:txBody>
      </p:sp>
    </p:spTree>
    <p:extLst>
      <p:ext uri="{BB962C8B-B14F-4D97-AF65-F5344CB8AC3E}">
        <p14:creationId xmlns:p14="http://schemas.microsoft.com/office/powerpoint/2010/main" val="3216844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652076B-CAB3-47BB-83F2-2C989CE82F41}" type="datetimeFigureOut">
              <a:rPr lang="zh-CN" altLang="en-US" smtClean="0"/>
              <a:t>2026/3/1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4020093-D1F0-47B3-AB03-A33541B4B9CD}" type="slidenum">
              <a:rPr lang="zh-CN" altLang="en-US" smtClean="0"/>
              <a:t>‹#›</a:t>
            </a:fld>
            <a:endParaRPr lang="zh-CN" altLang="en-US"/>
          </a:p>
        </p:txBody>
      </p:sp>
    </p:spTree>
    <p:extLst>
      <p:ext uri="{BB962C8B-B14F-4D97-AF65-F5344CB8AC3E}">
        <p14:creationId xmlns:p14="http://schemas.microsoft.com/office/powerpoint/2010/main" val="12699152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1030">
            <a:extLst>
              <a:ext uri="{FF2B5EF4-FFF2-40B4-BE49-F238E27FC236}">
                <a16:creationId xmlns:a16="http://schemas.microsoft.com/office/drawing/2014/main" id="{5CB0732B-FF33-694B-AB42-14A0816C0126}"/>
              </a:ext>
            </a:extLst>
          </p:cNvPr>
          <p:cNvSpPr>
            <a:spLocks noGrp="1" noChangeArrowheads="1"/>
          </p:cNvSpPr>
          <p:nvPr>
            <p:ph type="dt" sz="half" idx="10"/>
          </p:nvPr>
        </p:nvSpPr>
        <p:spPr>
          <a:ln/>
        </p:spPr>
        <p:txBody>
          <a:bodyPr/>
          <a:lstStyle>
            <a:lvl1pPr>
              <a:defRPr/>
            </a:lvl1pPr>
          </a:lstStyle>
          <a:p>
            <a:pPr>
              <a:defRPr/>
            </a:pPr>
            <a:fld id="{B2638B7F-69B4-E341-831D-489793F708A0}" type="datetime11">
              <a:rPr lang="zh-CN" altLang="en-US"/>
              <a:pPr>
                <a:defRPr/>
              </a:pPr>
              <a:t>14:55:18</a:t>
            </a:fld>
            <a:endParaRPr lang="en-US" altLang="zh-CN"/>
          </a:p>
        </p:txBody>
      </p:sp>
      <p:sp>
        <p:nvSpPr>
          <p:cNvPr id="5" name="Rectangle 1031">
            <a:extLst>
              <a:ext uri="{FF2B5EF4-FFF2-40B4-BE49-F238E27FC236}">
                <a16:creationId xmlns:a16="http://schemas.microsoft.com/office/drawing/2014/main" id="{8A703B1D-E6B2-124B-A840-AEAFAD421731}"/>
              </a:ext>
            </a:extLst>
          </p:cNvPr>
          <p:cNvSpPr>
            <a:spLocks noGrp="1" noChangeArrowheads="1"/>
          </p:cNvSpPr>
          <p:nvPr>
            <p:ph type="ftr" sz="quarter" idx="11"/>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651330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1030">
            <a:extLst>
              <a:ext uri="{FF2B5EF4-FFF2-40B4-BE49-F238E27FC236}">
                <a16:creationId xmlns:a16="http://schemas.microsoft.com/office/drawing/2014/main" id="{4C584D25-E372-EC4E-82D0-96AF7ADA8429}"/>
              </a:ext>
            </a:extLst>
          </p:cNvPr>
          <p:cNvSpPr>
            <a:spLocks noGrp="1" noChangeArrowheads="1"/>
          </p:cNvSpPr>
          <p:nvPr>
            <p:ph type="dt" sz="half" idx="10"/>
          </p:nvPr>
        </p:nvSpPr>
        <p:spPr>
          <a:ln/>
        </p:spPr>
        <p:txBody>
          <a:bodyPr/>
          <a:lstStyle>
            <a:lvl1pPr>
              <a:defRPr/>
            </a:lvl1pPr>
          </a:lstStyle>
          <a:p>
            <a:pPr>
              <a:defRPr/>
            </a:pPr>
            <a:fld id="{CDEEB418-CD20-BE45-8EE6-B6698A13D4EA}" type="datetime11">
              <a:rPr lang="zh-CN" altLang="en-US"/>
              <a:pPr>
                <a:defRPr/>
              </a:pPr>
              <a:t>14:55:18</a:t>
            </a:fld>
            <a:endParaRPr lang="en-US" altLang="zh-CN"/>
          </a:p>
        </p:txBody>
      </p:sp>
      <p:sp>
        <p:nvSpPr>
          <p:cNvPr id="5" name="Rectangle 1031">
            <a:extLst>
              <a:ext uri="{FF2B5EF4-FFF2-40B4-BE49-F238E27FC236}">
                <a16:creationId xmlns:a16="http://schemas.microsoft.com/office/drawing/2014/main" id="{0449C5F1-24FD-184F-A821-EAD5E8054EDB}"/>
              </a:ext>
            </a:extLst>
          </p:cNvPr>
          <p:cNvSpPr>
            <a:spLocks noGrp="1" noChangeArrowheads="1"/>
          </p:cNvSpPr>
          <p:nvPr>
            <p:ph type="ftr" sz="quarter" idx="11"/>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464903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1030">
            <a:extLst>
              <a:ext uri="{FF2B5EF4-FFF2-40B4-BE49-F238E27FC236}">
                <a16:creationId xmlns:a16="http://schemas.microsoft.com/office/drawing/2014/main" id="{62BC1E94-1158-9646-90EE-C8EB8F8BB239}"/>
              </a:ext>
            </a:extLst>
          </p:cNvPr>
          <p:cNvSpPr>
            <a:spLocks noGrp="1" noChangeArrowheads="1"/>
          </p:cNvSpPr>
          <p:nvPr>
            <p:ph type="dt" sz="half" idx="10"/>
          </p:nvPr>
        </p:nvSpPr>
        <p:spPr>
          <a:ln/>
        </p:spPr>
        <p:txBody>
          <a:bodyPr/>
          <a:lstStyle>
            <a:lvl1pPr>
              <a:defRPr/>
            </a:lvl1pPr>
          </a:lstStyle>
          <a:p>
            <a:pPr>
              <a:defRPr/>
            </a:pPr>
            <a:fld id="{C20FA0C7-A266-404D-BEE6-D31D5E49C291}" type="datetime11">
              <a:rPr lang="zh-CN" altLang="en-US"/>
              <a:pPr>
                <a:defRPr/>
              </a:pPr>
              <a:t>14:55:18</a:t>
            </a:fld>
            <a:endParaRPr lang="en-US" altLang="zh-CN"/>
          </a:p>
        </p:txBody>
      </p:sp>
      <p:sp>
        <p:nvSpPr>
          <p:cNvPr id="5" name="Rectangle 1031">
            <a:extLst>
              <a:ext uri="{FF2B5EF4-FFF2-40B4-BE49-F238E27FC236}">
                <a16:creationId xmlns:a16="http://schemas.microsoft.com/office/drawing/2014/main" id="{969421B2-6CB1-2A41-AADC-86B8A97FB9AC}"/>
              </a:ext>
            </a:extLst>
          </p:cNvPr>
          <p:cNvSpPr>
            <a:spLocks noGrp="1" noChangeArrowheads="1"/>
          </p:cNvSpPr>
          <p:nvPr>
            <p:ph type="ftr" sz="quarter" idx="11"/>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9344113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1030">
            <a:extLst>
              <a:ext uri="{FF2B5EF4-FFF2-40B4-BE49-F238E27FC236}">
                <a16:creationId xmlns:a16="http://schemas.microsoft.com/office/drawing/2014/main" id="{ACC57B83-AFC1-EE4A-A302-9AA97605EAEE}"/>
              </a:ext>
            </a:extLst>
          </p:cNvPr>
          <p:cNvSpPr>
            <a:spLocks noGrp="1" noChangeArrowheads="1"/>
          </p:cNvSpPr>
          <p:nvPr>
            <p:ph type="dt" sz="half" idx="10"/>
          </p:nvPr>
        </p:nvSpPr>
        <p:spPr>
          <a:ln/>
        </p:spPr>
        <p:txBody>
          <a:bodyPr/>
          <a:lstStyle>
            <a:lvl1pPr>
              <a:defRPr/>
            </a:lvl1pPr>
          </a:lstStyle>
          <a:p>
            <a:pPr>
              <a:defRPr/>
            </a:pPr>
            <a:fld id="{25AB9FAA-66A0-D743-87D1-A45213B8B086}" type="datetime11">
              <a:rPr lang="zh-CN" altLang="en-US"/>
              <a:pPr>
                <a:defRPr/>
              </a:pPr>
              <a:t>14:55:18</a:t>
            </a:fld>
            <a:endParaRPr lang="en-US" altLang="zh-CN"/>
          </a:p>
        </p:txBody>
      </p:sp>
      <p:sp>
        <p:nvSpPr>
          <p:cNvPr id="6" name="Rectangle 1031">
            <a:extLst>
              <a:ext uri="{FF2B5EF4-FFF2-40B4-BE49-F238E27FC236}">
                <a16:creationId xmlns:a16="http://schemas.microsoft.com/office/drawing/2014/main" id="{36B6903E-4125-334C-8976-DC5F2CD49863}"/>
              </a:ext>
            </a:extLst>
          </p:cNvPr>
          <p:cNvSpPr>
            <a:spLocks noGrp="1" noChangeArrowheads="1"/>
          </p:cNvSpPr>
          <p:nvPr>
            <p:ph type="ftr" sz="quarter" idx="11"/>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9454029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Rectangle 1030">
            <a:extLst>
              <a:ext uri="{FF2B5EF4-FFF2-40B4-BE49-F238E27FC236}">
                <a16:creationId xmlns:a16="http://schemas.microsoft.com/office/drawing/2014/main" id="{330E1120-4E63-8B47-A1DB-6034500665FF}"/>
              </a:ext>
            </a:extLst>
          </p:cNvPr>
          <p:cNvSpPr>
            <a:spLocks noGrp="1" noChangeArrowheads="1"/>
          </p:cNvSpPr>
          <p:nvPr>
            <p:ph type="dt" sz="half" idx="10"/>
          </p:nvPr>
        </p:nvSpPr>
        <p:spPr>
          <a:ln/>
        </p:spPr>
        <p:txBody>
          <a:bodyPr/>
          <a:lstStyle>
            <a:lvl1pPr>
              <a:defRPr/>
            </a:lvl1pPr>
          </a:lstStyle>
          <a:p>
            <a:pPr>
              <a:defRPr/>
            </a:pPr>
            <a:fld id="{A72C6968-82B7-5C42-A8E0-AFA11AFE79A5}" type="datetime11">
              <a:rPr lang="zh-CN" altLang="en-US"/>
              <a:pPr>
                <a:defRPr/>
              </a:pPr>
              <a:t>14:55:18</a:t>
            </a:fld>
            <a:endParaRPr lang="en-US" altLang="zh-CN"/>
          </a:p>
        </p:txBody>
      </p:sp>
      <p:sp>
        <p:nvSpPr>
          <p:cNvPr id="8" name="Rectangle 1031">
            <a:extLst>
              <a:ext uri="{FF2B5EF4-FFF2-40B4-BE49-F238E27FC236}">
                <a16:creationId xmlns:a16="http://schemas.microsoft.com/office/drawing/2014/main" id="{EBDBDF2C-B5E6-494F-9BFC-34765A47EB56}"/>
              </a:ext>
            </a:extLst>
          </p:cNvPr>
          <p:cNvSpPr>
            <a:spLocks noGrp="1" noChangeArrowheads="1"/>
          </p:cNvSpPr>
          <p:nvPr>
            <p:ph type="ftr" sz="quarter" idx="11"/>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2742591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30">
            <a:extLst>
              <a:ext uri="{FF2B5EF4-FFF2-40B4-BE49-F238E27FC236}">
                <a16:creationId xmlns:a16="http://schemas.microsoft.com/office/drawing/2014/main" id="{D1958666-3975-AA4F-88B5-B3FDC45DE50A}"/>
              </a:ext>
            </a:extLst>
          </p:cNvPr>
          <p:cNvSpPr>
            <a:spLocks noGrp="1" noChangeArrowheads="1"/>
          </p:cNvSpPr>
          <p:nvPr>
            <p:ph type="dt" sz="half" idx="10"/>
          </p:nvPr>
        </p:nvSpPr>
        <p:spPr>
          <a:ln/>
        </p:spPr>
        <p:txBody>
          <a:bodyPr/>
          <a:lstStyle>
            <a:lvl1pPr>
              <a:defRPr/>
            </a:lvl1pPr>
          </a:lstStyle>
          <a:p>
            <a:pPr>
              <a:defRPr/>
            </a:pPr>
            <a:fld id="{201B7BFE-0C72-774C-B740-6CD5FD116A16}" type="datetime11">
              <a:rPr lang="zh-CN" altLang="en-US"/>
              <a:pPr>
                <a:defRPr/>
              </a:pPr>
              <a:t>14:55:18</a:t>
            </a:fld>
            <a:endParaRPr lang="en-US" altLang="zh-CN"/>
          </a:p>
        </p:txBody>
      </p:sp>
      <p:sp>
        <p:nvSpPr>
          <p:cNvPr id="4" name="Rectangle 1031">
            <a:extLst>
              <a:ext uri="{FF2B5EF4-FFF2-40B4-BE49-F238E27FC236}">
                <a16:creationId xmlns:a16="http://schemas.microsoft.com/office/drawing/2014/main" id="{3346E70B-9EAB-AA40-92FC-5556CFB028D6}"/>
              </a:ext>
            </a:extLst>
          </p:cNvPr>
          <p:cNvSpPr>
            <a:spLocks noGrp="1" noChangeArrowheads="1"/>
          </p:cNvSpPr>
          <p:nvPr>
            <p:ph type="ftr" sz="quarter" idx="11"/>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8940322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30">
            <a:extLst>
              <a:ext uri="{FF2B5EF4-FFF2-40B4-BE49-F238E27FC236}">
                <a16:creationId xmlns:a16="http://schemas.microsoft.com/office/drawing/2014/main" id="{0EDDB54D-CA16-0A44-ABB3-97C409D43124}"/>
              </a:ext>
            </a:extLst>
          </p:cNvPr>
          <p:cNvSpPr>
            <a:spLocks noGrp="1" noChangeArrowheads="1"/>
          </p:cNvSpPr>
          <p:nvPr>
            <p:ph type="dt" sz="half" idx="10"/>
          </p:nvPr>
        </p:nvSpPr>
        <p:spPr>
          <a:ln/>
        </p:spPr>
        <p:txBody>
          <a:bodyPr/>
          <a:lstStyle>
            <a:lvl1pPr>
              <a:defRPr/>
            </a:lvl1pPr>
          </a:lstStyle>
          <a:p>
            <a:pPr>
              <a:defRPr/>
            </a:pPr>
            <a:fld id="{0FB0111D-A2F4-6A4D-A818-F804324DA1DB}" type="datetime11">
              <a:rPr lang="zh-CN" altLang="en-US"/>
              <a:pPr>
                <a:defRPr/>
              </a:pPr>
              <a:t>14:48:17</a:t>
            </a:fld>
            <a:endParaRPr lang="en-US" altLang="zh-CN"/>
          </a:p>
        </p:txBody>
      </p:sp>
      <p:sp>
        <p:nvSpPr>
          <p:cNvPr id="3" name="Rectangle 1031">
            <a:extLst>
              <a:ext uri="{FF2B5EF4-FFF2-40B4-BE49-F238E27FC236}">
                <a16:creationId xmlns:a16="http://schemas.microsoft.com/office/drawing/2014/main" id="{D8ADAF6F-03B4-EA4E-B1F1-359840781B44}"/>
              </a:ext>
            </a:extLst>
          </p:cNvPr>
          <p:cNvSpPr>
            <a:spLocks noGrp="1" noChangeArrowheads="1"/>
          </p:cNvSpPr>
          <p:nvPr>
            <p:ph type="ftr" sz="quarter" idx="11"/>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763268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030">
            <a:extLst>
              <a:ext uri="{FF2B5EF4-FFF2-40B4-BE49-F238E27FC236}">
                <a16:creationId xmlns:a16="http://schemas.microsoft.com/office/drawing/2014/main" id="{55246A50-A00E-4A40-82E8-E00E4CBF5D24}"/>
              </a:ext>
            </a:extLst>
          </p:cNvPr>
          <p:cNvSpPr>
            <a:spLocks noGrp="1" noChangeArrowheads="1"/>
          </p:cNvSpPr>
          <p:nvPr>
            <p:ph type="dt" sz="half" idx="10"/>
          </p:nvPr>
        </p:nvSpPr>
        <p:spPr>
          <a:ln/>
        </p:spPr>
        <p:txBody>
          <a:bodyPr/>
          <a:lstStyle>
            <a:lvl1pPr>
              <a:defRPr/>
            </a:lvl1pPr>
          </a:lstStyle>
          <a:p>
            <a:pPr>
              <a:defRPr/>
            </a:pPr>
            <a:fld id="{50DFA662-C1A0-5F47-9A67-54A3BC557FF0}" type="datetime11">
              <a:rPr lang="zh-CN" altLang="en-US"/>
              <a:pPr>
                <a:defRPr/>
              </a:pPr>
              <a:t>14:55:18</a:t>
            </a:fld>
            <a:endParaRPr lang="en-US" altLang="zh-CN"/>
          </a:p>
        </p:txBody>
      </p:sp>
      <p:sp>
        <p:nvSpPr>
          <p:cNvPr id="6" name="Rectangle 1031">
            <a:extLst>
              <a:ext uri="{FF2B5EF4-FFF2-40B4-BE49-F238E27FC236}">
                <a16:creationId xmlns:a16="http://schemas.microsoft.com/office/drawing/2014/main" id="{D52AC4AA-6FA7-C244-BBBF-283657AC358F}"/>
              </a:ext>
            </a:extLst>
          </p:cNvPr>
          <p:cNvSpPr>
            <a:spLocks noGrp="1" noChangeArrowheads="1"/>
          </p:cNvSpPr>
          <p:nvPr>
            <p:ph type="ftr" sz="quarter" idx="11"/>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324171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030">
            <a:extLst>
              <a:ext uri="{FF2B5EF4-FFF2-40B4-BE49-F238E27FC236}">
                <a16:creationId xmlns:a16="http://schemas.microsoft.com/office/drawing/2014/main" id="{01169B17-FCEF-B24B-90F7-D5A649EE8FB5}"/>
              </a:ext>
            </a:extLst>
          </p:cNvPr>
          <p:cNvSpPr>
            <a:spLocks noGrp="1" noChangeArrowheads="1"/>
          </p:cNvSpPr>
          <p:nvPr>
            <p:ph type="dt" sz="half" idx="10"/>
          </p:nvPr>
        </p:nvSpPr>
        <p:spPr>
          <a:ln/>
        </p:spPr>
        <p:txBody>
          <a:bodyPr/>
          <a:lstStyle>
            <a:lvl1pPr>
              <a:defRPr/>
            </a:lvl1pPr>
          </a:lstStyle>
          <a:p>
            <a:pPr>
              <a:defRPr/>
            </a:pPr>
            <a:fld id="{7306199E-01CD-0A4A-98E5-D95CCA7AD532}" type="datetime11">
              <a:rPr lang="zh-CN" altLang="en-US"/>
              <a:pPr>
                <a:defRPr/>
              </a:pPr>
              <a:t>14:55:18</a:t>
            </a:fld>
            <a:endParaRPr lang="en-US" altLang="zh-CN"/>
          </a:p>
        </p:txBody>
      </p:sp>
      <p:sp>
        <p:nvSpPr>
          <p:cNvPr id="6" name="Rectangle 1031">
            <a:extLst>
              <a:ext uri="{FF2B5EF4-FFF2-40B4-BE49-F238E27FC236}">
                <a16:creationId xmlns:a16="http://schemas.microsoft.com/office/drawing/2014/main" id="{778C6562-045B-BF4A-ABCD-682BCBC56DE4}"/>
              </a:ext>
            </a:extLst>
          </p:cNvPr>
          <p:cNvSpPr>
            <a:spLocks noGrp="1" noChangeArrowheads="1"/>
          </p:cNvSpPr>
          <p:nvPr>
            <p:ph type="ftr" sz="quarter" idx="11"/>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05393535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1030">
            <a:extLst>
              <a:ext uri="{FF2B5EF4-FFF2-40B4-BE49-F238E27FC236}">
                <a16:creationId xmlns:a16="http://schemas.microsoft.com/office/drawing/2014/main" id="{50757041-6732-7546-8BA3-28E329D0B892}"/>
              </a:ext>
            </a:extLst>
          </p:cNvPr>
          <p:cNvSpPr>
            <a:spLocks noGrp="1" noChangeArrowheads="1"/>
          </p:cNvSpPr>
          <p:nvPr>
            <p:ph type="dt" sz="half" idx="10"/>
          </p:nvPr>
        </p:nvSpPr>
        <p:spPr>
          <a:ln/>
        </p:spPr>
        <p:txBody>
          <a:bodyPr/>
          <a:lstStyle>
            <a:lvl1pPr>
              <a:defRPr/>
            </a:lvl1pPr>
          </a:lstStyle>
          <a:p>
            <a:pPr>
              <a:defRPr/>
            </a:pPr>
            <a:fld id="{408762AB-D9F2-E545-A834-69BD1CF5C3B4}" type="datetime11">
              <a:rPr lang="zh-CN" altLang="en-US"/>
              <a:pPr>
                <a:defRPr/>
              </a:pPr>
              <a:t>14:55:18</a:t>
            </a:fld>
            <a:endParaRPr lang="en-US" altLang="zh-CN"/>
          </a:p>
        </p:txBody>
      </p:sp>
      <p:sp>
        <p:nvSpPr>
          <p:cNvPr id="5" name="Rectangle 1031">
            <a:extLst>
              <a:ext uri="{FF2B5EF4-FFF2-40B4-BE49-F238E27FC236}">
                <a16:creationId xmlns:a16="http://schemas.microsoft.com/office/drawing/2014/main" id="{22647113-F496-AF4A-9314-2B4A6BAAC160}"/>
              </a:ext>
            </a:extLst>
          </p:cNvPr>
          <p:cNvSpPr>
            <a:spLocks noGrp="1" noChangeArrowheads="1"/>
          </p:cNvSpPr>
          <p:nvPr>
            <p:ph type="ftr" sz="quarter" idx="11"/>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3406986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1030">
            <a:extLst>
              <a:ext uri="{FF2B5EF4-FFF2-40B4-BE49-F238E27FC236}">
                <a16:creationId xmlns:a16="http://schemas.microsoft.com/office/drawing/2014/main" id="{76ABFDD9-353F-144D-A72A-C7E847BF3014}"/>
              </a:ext>
            </a:extLst>
          </p:cNvPr>
          <p:cNvSpPr>
            <a:spLocks noGrp="1" noChangeArrowheads="1"/>
          </p:cNvSpPr>
          <p:nvPr>
            <p:ph type="dt" sz="half" idx="10"/>
          </p:nvPr>
        </p:nvSpPr>
        <p:spPr>
          <a:ln/>
        </p:spPr>
        <p:txBody>
          <a:bodyPr/>
          <a:lstStyle>
            <a:lvl1pPr>
              <a:defRPr/>
            </a:lvl1pPr>
          </a:lstStyle>
          <a:p>
            <a:pPr>
              <a:defRPr/>
            </a:pPr>
            <a:fld id="{E5AA3253-336E-D245-A411-1C64A329E050}" type="datetime11">
              <a:rPr lang="zh-CN" altLang="en-US"/>
              <a:pPr>
                <a:defRPr/>
              </a:pPr>
              <a:t>14:55:18</a:t>
            </a:fld>
            <a:endParaRPr lang="en-US" altLang="zh-CN"/>
          </a:p>
        </p:txBody>
      </p:sp>
      <p:sp>
        <p:nvSpPr>
          <p:cNvPr id="5" name="Rectangle 1031">
            <a:extLst>
              <a:ext uri="{FF2B5EF4-FFF2-40B4-BE49-F238E27FC236}">
                <a16:creationId xmlns:a16="http://schemas.microsoft.com/office/drawing/2014/main" id="{63F8F29A-0836-EC4B-B8C0-B37E8E4469D7}"/>
              </a:ext>
            </a:extLst>
          </p:cNvPr>
          <p:cNvSpPr>
            <a:spLocks noGrp="1" noChangeArrowheads="1"/>
          </p:cNvSpPr>
          <p:nvPr>
            <p:ph type="ftr" sz="quarter" idx="11"/>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241770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2.pn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6"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image" Target="../media/image3.png"/><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microsoft.com/office/2007/relationships/hdphoto" Target="../media/hdphoto1.wdp"/></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685800" y="609600"/>
            <a:ext cx="7772400"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6037" tIns="46037" rIns="46037" bIns="46037" anchor="ctr">
            <a:normAutofit/>
          </a:bodyPr>
          <a:lstStyle/>
          <a:p>
            <a:r>
              <a:t>标题文本</a:t>
            </a:r>
          </a:p>
        </p:txBody>
      </p:sp>
      <p:sp>
        <p:nvSpPr>
          <p:cNvPr id="3" name="正文级别 1…"/>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正文级别 1</a:t>
            </a:r>
          </a:p>
          <a:p>
            <a:pPr lvl="1"/>
            <a:r>
              <a:t>正文级别 2</a:t>
            </a:r>
          </a:p>
          <a:p>
            <a:pPr lvl="2"/>
            <a:r>
              <a:t>正文级别 3</a:t>
            </a:r>
          </a:p>
          <a:p>
            <a:pPr lvl="3"/>
            <a:r>
              <a:t>正文级别 4</a:t>
            </a:r>
          </a:p>
          <a:p>
            <a:pPr lvl="4"/>
            <a:r>
              <a:t>正文级别 5</a:t>
            </a:r>
          </a:p>
        </p:txBody>
      </p:sp>
      <p:sp>
        <p:nvSpPr>
          <p:cNvPr id="4" name="幻灯片编号"/>
          <p:cNvSpPr txBox="1">
            <a:spLocks noGrp="1"/>
          </p:cNvSpPr>
          <p:nvPr>
            <p:ph type="sldNum" sz="quarter" idx="2"/>
          </p:nvPr>
        </p:nvSpPr>
        <p:spPr>
          <a:xfrm>
            <a:off x="4419600" y="6172200"/>
            <a:ext cx="2133600" cy="368301"/>
          </a:xfrm>
          <a:prstGeom prst="rect">
            <a:avLst/>
          </a:prstGeom>
          <a:ln w="12700">
            <a:miter lim="400000"/>
          </a:ln>
        </p:spPr>
        <p:txBody>
          <a:bodyPr wrap="none" lIns="45719" rIns="45719" anchor="ctr">
            <a:spAutoFit/>
          </a:bodyPr>
          <a:lstStyle>
            <a:lvl1pPr algn="r">
              <a:defRPr sz="1200">
                <a:latin typeface="SimSun"/>
                <a:ea typeface="SimSun"/>
                <a:cs typeface="SimSun"/>
                <a:sym typeface="SimSun"/>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5pPr>
      <a:lvl6pPr marL="0" marR="0" indent="45720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6pPr>
      <a:lvl7pPr marL="0" marR="0" indent="91440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7pPr>
      <a:lvl8pPr marL="0" marR="0" indent="137160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8pPr>
      <a:lvl9pPr marL="0" marR="0" indent="182880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9pPr>
    </p:titleStyle>
    <p:bodyStyle>
      <a:lvl1pPr marL="342900" marR="0" indent="-342900" algn="l" defTabSz="914400" rtl="0" latinLnBrk="0">
        <a:lnSpc>
          <a:spcPct val="100000"/>
        </a:lnSpc>
        <a:spcBef>
          <a:spcPts val="700"/>
        </a:spcBef>
        <a:spcAft>
          <a:spcPts val="0"/>
        </a:spcAft>
        <a:buClr>
          <a:schemeClr val="accent2"/>
        </a:buClr>
        <a:buSzPct val="80000"/>
        <a:buFontTx/>
        <a:buChar char="●"/>
        <a:tabLst/>
        <a:defRPr sz="3200" b="0" i="0" u="none" strike="noStrike" cap="none" spc="0" baseline="0">
          <a:solidFill>
            <a:srgbClr val="000000"/>
          </a:solidFill>
          <a:uFillTx/>
          <a:latin typeface="+mn-lt"/>
          <a:ea typeface="+mn-ea"/>
          <a:cs typeface="+mn-cs"/>
          <a:sym typeface="Times New Roman"/>
        </a:defRPr>
      </a:lvl1pPr>
      <a:lvl2pPr marL="783771" marR="0" indent="-326571" algn="l" defTabSz="914400" rtl="0" latinLnBrk="0">
        <a:lnSpc>
          <a:spcPct val="100000"/>
        </a:lnSpc>
        <a:spcBef>
          <a:spcPts val="700"/>
        </a:spcBef>
        <a:spcAft>
          <a:spcPts val="0"/>
        </a:spcAft>
        <a:buClr>
          <a:schemeClr val="accent2"/>
        </a:buClr>
        <a:buSzPct val="90000"/>
        <a:buFontTx/>
        <a:buChar char="–"/>
        <a:tabLst/>
        <a:defRPr sz="3200" b="0" i="0" u="none" strike="noStrike" cap="none" spc="0" baseline="0">
          <a:solidFill>
            <a:srgbClr val="000000"/>
          </a:solidFill>
          <a:uFillTx/>
          <a:latin typeface="+mn-lt"/>
          <a:ea typeface="+mn-ea"/>
          <a:cs typeface="+mn-cs"/>
          <a:sym typeface="Times New Roman"/>
        </a:defRPr>
      </a:lvl2pPr>
      <a:lvl3pPr marL="1219200" marR="0" indent="-304800" algn="l" defTabSz="914400" rtl="0" latinLnBrk="0">
        <a:lnSpc>
          <a:spcPct val="100000"/>
        </a:lnSpc>
        <a:spcBef>
          <a:spcPts val="700"/>
        </a:spcBef>
        <a:spcAft>
          <a:spcPts val="0"/>
        </a:spcAft>
        <a:buClr>
          <a:schemeClr val="accent2"/>
        </a:buClr>
        <a:buSzPct val="60000"/>
        <a:buFontTx/>
        <a:buChar char="●"/>
        <a:tabLst/>
        <a:defRPr sz="3200" b="0" i="0" u="none" strike="noStrike" cap="none" spc="0" baseline="0">
          <a:solidFill>
            <a:srgbClr val="000000"/>
          </a:solidFill>
          <a:uFillTx/>
          <a:latin typeface="+mn-lt"/>
          <a:ea typeface="+mn-ea"/>
          <a:cs typeface="+mn-cs"/>
          <a:sym typeface="Times New Roman"/>
        </a:defRPr>
      </a:lvl3pPr>
      <a:lvl4pPr marL="1737360" marR="0" indent="-365760" algn="l" defTabSz="914400" rtl="0" latinLnBrk="0">
        <a:lnSpc>
          <a:spcPct val="100000"/>
        </a:lnSpc>
        <a:spcBef>
          <a:spcPts val="700"/>
        </a:spcBef>
        <a:spcAft>
          <a:spcPts val="0"/>
        </a:spcAft>
        <a:buClr>
          <a:schemeClr val="accent2"/>
        </a:buClr>
        <a:buSzPct val="100000"/>
        <a:buFontTx/>
        <a:buChar char="–"/>
        <a:tabLst/>
        <a:defRPr sz="3200" b="0" i="0" u="none" strike="noStrike" cap="none" spc="0" baseline="0">
          <a:solidFill>
            <a:srgbClr val="000000"/>
          </a:solidFill>
          <a:uFillTx/>
          <a:latin typeface="+mn-lt"/>
          <a:ea typeface="+mn-ea"/>
          <a:cs typeface="+mn-cs"/>
          <a:sym typeface="Times New Roman"/>
        </a:defRPr>
      </a:lvl4pPr>
      <a:lvl5pPr marL="2194560" marR="0" indent="-365760" algn="l" defTabSz="914400" rtl="0" latinLnBrk="0">
        <a:lnSpc>
          <a:spcPct val="100000"/>
        </a:lnSpc>
        <a:spcBef>
          <a:spcPts val="700"/>
        </a:spcBef>
        <a:spcAft>
          <a:spcPts val="0"/>
        </a:spcAft>
        <a:buClr>
          <a:schemeClr val="accent2"/>
        </a:buClr>
        <a:buSzPct val="100000"/>
        <a:buFontTx/>
        <a:buChar char="•"/>
        <a:tabLst/>
        <a:defRPr sz="3200" b="0" i="0" u="none" strike="noStrike" cap="none" spc="0" baseline="0">
          <a:solidFill>
            <a:srgbClr val="000000"/>
          </a:solidFill>
          <a:uFillTx/>
          <a:latin typeface="+mn-lt"/>
          <a:ea typeface="+mn-ea"/>
          <a:cs typeface="+mn-cs"/>
          <a:sym typeface="Times New Roman"/>
        </a:defRPr>
      </a:lvl5pPr>
      <a:lvl6pPr marL="2651760" marR="0" indent="-365760" algn="l" defTabSz="914400" rtl="0" latinLnBrk="0">
        <a:lnSpc>
          <a:spcPct val="100000"/>
        </a:lnSpc>
        <a:spcBef>
          <a:spcPts val="700"/>
        </a:spcBef>
        <a:spcAft>
          <a:spcPts val="0"/>
        </a:spcAft>
        <a:buClr>
          <a:schemeClr val="accent2"/>
        </a:buClr>
        <a:buSzPct val="100000"/>
        <a:buFontTx/>
        <a:buChar char="•"/>
        <a:tabLst/>
        <a:defRPr sz="3200" b="0" i="0" u="none" strike="noStrike" cap="none" spc="0" baseline="0">
          <a:solidFill>
            <a:srgbClr val="000000"/>
          </a:solidFill>
          <a:uFillTx/>
          <a:latin typeface="+mn-lt"/>
          <a:ea typeface="+mn-ea"/>
          <a:cs typeface="+mn-cs"/>
          <a:sym typeface="Times New Roman"/>
        </a:defRPr>
      </a:lvl6pPr>
      <a:lvl7pPr marL="3108960" marR="0" indent="-365760" algn="l" defTabSz="914400" rtl="0" latinLnBrk="0">
        <a:lnSpc>
          <a:spcPct val="100000"/>
        </a:lnSpc>
        <a:spcBef>
          <a:spcPts val="700"/>
        </a:spcBef>
        <a:spcAft>
          <a:spcPts val="0"/>
        </a:spcAft>
        <a:buClr>
          <a:schemeClr val="accent2"/>
        </a:buClr>
        <a:buSzPct val="100000"/>
        <a:buFontTx/>
        <a:buChar char="•"/>
        <a:tabLst/>
        <a:defRPr sz="3200" b="0" i="0" u="none" strike="noStrike" cap="none" spc="0" baseline="0">
          <a:solidFill>
            <a:srgbClr val="000000"/>
          </a:solidFill>
          <a:uFillTx/>
          <a:latin typeface="+mn-lt"/>
          <a:ea typeface="+mn-ea"/>
          <a:cs typeface="+mn-cs"/>
          <a:sym typeface="Times New Roman"/>
        </a:defRPr>
      </a:lvl7pPr>
      <a:lvl8pPr marL="3566159" marR="0" indent="-365759" algn="l" defTabSz="914400" rtl="0" latinLnBrk="0">
        <a:lnSpc>
          <a:spcPct val="100000"/>
        </a:lnSpc>
        <a:spcBef>
          <a:spcPts val="700"/>
        </a:spcBef>
        <a:spcAft>
          <a:spcPts val="0"/>
        </a:spcAft>
        <a:buClr>
          <a:schemeClr val="accent2"/>
        </a:buClr>
        <a:buSzPct val="100000"/>
        <a:buFontTx/>
        <a:buChar char="•"/>
        <a:tabLst/>
        <a:defRPr sz="3200" b="0" i="0" u="none" strike="noStrike" cap="none" spc="0" baseline="0">
          <a:solidFill>
            <a:srgbClr val="000000"/>
          </a:solidFill>
          <a:uFillTx/>
          <a:latin typeface="+mn-lt"/>
          <a:ea typeface="+mn-ea"/>
          <a:cs typeface="+mn-cs"/>
          <a:sym typeface="Times New Roman"/>
        </a:defRPr>
      </a:lvl8pPr>
      <a:lvl9pPr marL="4023359" marR="0" indent="-365759" algn="l" defTabSz="914400" rtl="0" latinLnBrk="0">
        <a:lnSpc>
          <a:spcPct val="100000"/>
        </a:lnSpc>
        <a:spcBef>
          <a:spcPts val="700"/>
        </a:spcBef>
        <a:spcAft>
          <a:spcPts val="0"/>
        </a:spcAft>
        <a:buClr>
          <a:schemeClr val="accent2"/>
        </a:buClr>
        <a:buSzPct val="100000"/>
        <a:buFontTx/>
        <a:buChar char="•"/>
        <a:tabLst/>
        <a:defRPr sz="3200" b="0" i="0" u="none" strike="noStrike" cap="none" spc="0" baseline="0">
          <a:solidFill>
            <a:srgbClr val="000000"/>
          </a:solidFill>
          <a:uFillTx/>
          <a:latin typeface="+mn-lt"/>
          <a:ea typeface="+mn-ea"/>
          <a:cs typeface="+mn-cs"/>
          <a:sym typeface="Times New Roman"/>
        </a:defRPr>
      </a:lvl9pPr>
    </p:bodyStyle>
    <p:otherStyle>
      <a:lvl1pPr marL="0" marR="0" indent="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1pPr>
      <a:lvl2pPr marL="0" marR="0" indent="45720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2pPr>
      <a:lvl3pPr marL="0" marR="0" indent="91440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3pPr>
      <a:lvl4pPr marL="0" marR="0" indent="137160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4pPr>
      <a:lvl5pPr marL="0" marR="0" indent="182880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5pPr>
      <a:lvl6pPr marL="0" marR="0" indent="228600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6pPr>
      <a:lvl7pPr marL="0" marR="0" indent="274320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7pPr>
      <a:lvl8pPr marL="0" marR="0" indent="320040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8pPr>
      <a:lvl9pPr marL="0" marR="0" indent="365760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02386" y="484632"/>
            <a:ext cx="7543800" cy="1609344"/>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02386" y="2121408"/>
            <a:ext cx="7543800" cy="405079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5973318" y="6272785"/>
            <a:ext cx="2455164" cy="365125"/>
          </a:xfrm>
          <a:prstGeom prst="rect">
            <a:avLst/>
          </a:prstGeom>
        </p:spPr>
        <p:txBody>
          <a:bodyPr vert="horz" lIns="91440" tIns="45720" rIns="91440" bIns="45720" rtlCol="0" anchor="ctr"/>
          <a:lstStyle>
            <a:lvl1pPr algn="r">
              <a:defRPr sz="825">
                <a:solidFill>
                  <a:schemeClr val="tx2"/>
                </a:solidFill>
              </a:defRPr>
            </a:lvl1pPr>
          </a:lstStyle>
          <a:p>
            <a:fld id="{2652076B-CAB3-47BB-83F2-2C989CE82F41}" type="datetimeFigureOut">
              <a:rPr lang="zh-CN" altLang="en-US" smtClean="0"/>
              <a:t>2026/3/1</a:t>
            </a:fld>
            <a:endParaRPr lang="zh-CN" altLang="en-US"/>
          </a:p>
        </p:txBody>
      </p:sp>
      <p:sp>
        <p:nvSpPr>
          <p:cNvPr id="5" name="Footer Placeholder 4"/>
          <p:cNvSpPr>
            <a:spLocks noGrp="1"/>
          </p:cNvSpPr>
          <p:nvPr>
            <p:ph type="ftr" sz="quarter" idx="3"/>
          </p:nvPr>
        </p:nvSpPr>
        <p:spPr>
          <a:xfrm>
            <a:off x="816102" y="6272785"/>
            <a:ext cx="4745736" cy="365125"/>
          </a:xfrm>
          <a:prstGeom prst="rect">
            <a:avLst/>
          </a:prstGeom>
        </p:spPr>
        <p:txBody>
          <a:bodyPr vert="horz" lIns="91440" tIns="45720" rIns="91440" bIns="45720" rtlCol="0" anchor="ctr"/>
          <a:lstStyle>
            <a:lvl1pPr algn="l">
              <a:defRPr sz="825">
                <a:solidFill>
                  <a:schemeClr val="tx2"/>
                </a:solidFill>
              </a:defRPr>
            </a:lvl1pPr>
          </a:lstStyle>
          <a:p>
            <a:endParaRPr lang="zh-CN" altLang="en-US"/>
          </a:p>
        </p:txBody>
      </p:sp>
      <p:grpSp>
        <p:nvGrpSpPr>
          <p:cNvPr id="7" name="Group 6"/>
          <p:cNvGrpSpPr>
            <a:grpSpLocks noChangeAspect="1"/>
          </p:cNvGrpSpPr>
          <p:nvPr/>
        </p:nvGrpSpPr>
        <p:grpSpPr>
          <a:xfrm>
            <a:off x="8551294" y="6229681"/>
            <a:ext cx="3429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050" b="1">
                <a:solidFill>
                  <a:srgbClr val="FFFFFF"/>
                </a:solidFill>
                <a:latin typeface="+mj-lt"/>
              </a:defRPr>
            </a:lvl1pPr>
          </a:lstStyle>
          <a:p>
            <a:fld id="{64020093-D1F0-47B3-AB03-A33541B4B9CD}" type="slidenum">
              <a:rPr lang="zh-CN" altLang="en-US" smtClean="0"/>
              <a:t>‹#›</a:t>
            </a:fld>
            <a:endParaRPr lang="zh-CN" altLang="en-US"/>
          </a:p>
        </p:txBody>
      </p:sp>
      <p:pic>
        <p:nvPicPr>
          <p:cNvPr id="12" name="图片 11">
            <a:extLst>
              <a:ext uri="{FF2B5EF4-FFF2-40B4-BE49-F238E27FC236}">
                <a16:creationId xmlns:a16="http://schemas.microsoft.com/office/drawing/2014/main" id="{ACF58DDF-6743-4612-A3ED-5192D49CC629}"/>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49272" y="198722"/>
            <a:ext cx="648542" cy="1090583"/>
          </a:xfrm>
          <a:prstGeom prst="rect">
            <a:avLst/>
          </a:prstGeom>
        </p:spPr>
      </p:pic>
    </p:spTree>
    <p:extLst>
      <p:ext uri="{BB962C8B-B14F-4D97-AF65-F5344CB8AC3E}">
        <p14:creationId xmlns:p14="http://schemas.microsoft.com/office/powerpoint/2010/main" val="33960872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defTabSz="685800" rtl="0" eaLnBrk="1" latinLnBrk="0" hangingPunct="1">
        <a:lnSpc>
          <a:spcPct val="90000"/>
        </a:lnSpc>
        <a:spcBef>
          <a:spcPct val="0"/>
        </a:spcBef>
        <a:buNone/>
        <a:defRPr sz="405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37160" indent="-137160" algn="l" defTabSz="685800" rtl="0" eaLnBrk="1" latinLnBrk="0" hangingPunct="1">
        <a:lnSpc>
          <a:spcPct val="90000"/>
        </a:lnSpc>
        <a:spcBef>
          <a:spcPts val="900"/>
        </a:spcBef>
        <a:buClr>
          <a:schemeClr val="accent1">
            <a:lumMod val="75000"/>
          </a:schemeClr>
        </a:buClr>
        <a:buSzPct val="85000"/>
        <a:buFont typeface="Wingdings" pitchFamily="2" charset="2"/>
        <a:buChar char="§"/>
        <a:defRPr sz="1500" kern="1200">
          <a:solidFill>
            <a:schemeClr val="tx1"/>
          </a:solidFill>
          <a:latin typeface="+mn-lt"/>
          <a:ea typeface="+mn-ea"/>
          <a:cs typeface="+mn-cs"/>
        </a:defRPr>
      </a:lvl1pPr>
      <a:lvl2pPr marL="34290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350" kern="1200">
          <a:solidFill>
            <a:schemeClr val="tx1"/>
          </a:solidFill>
          <a:latin typeface="+mn-lt"/>
          <a:ea typeface="+mn-ea"/>
          <a:cs typeface="+mn-cs"/>
        </a:defRPr>
      </a:lvl2pPr>
      <a:lvl3pPr marL="54864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3pPr>
      <a:lvl4pPr marL="75438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4pPr>
      <a:lvl5pPr marL="96012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5pPr>
      <a:lvl6pPr marL="120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6pPr>
      <a:lvl7pPr marL="142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7pPr>
      <a:lvl8pPr marL="165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8pPr>
      <a:lvl9pPr marL="187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3493" name="Rectangle 1029">
            <a:extLst>
              <a:ext uri="{FF2B5EF4-FFF2-40B4-BE49-F238E27FC236}">
                <a16:creationId xmlns:a16="http://schemas.microsoft.com/office/drawing/2014/main" id="{F42F5901-5BD2-5A47-B839-475CD71E24B0}"/>
              </a:ext>
            </a:extLst>
          </p:cNvPr>
          <p:cNvSpPr>
            <a:spLocks noGrp="1" noChangeArrowheads="1"/>
          </p:cNvSpPr>
          <p:nvPr>
            <p:ph type="title"/>
          </p:nvPr>
        </p:nvSpPr>
        <p:spPr bwMode="auto">
          <a:xfrm>
            <a:off x="685800" y="609600"/>
            <a:ext cx="7772400" cy="1143000"/>
          </a:xfrm>
          <a:prstGeom prst="rect">
            <a:avLst/>
          </a:prstGeom>
          <a:noFill/>
          <a:ln>
            <a:noFill/>
          </a:ln>
          <a:effectLst/>
        </p:spPr>
        <p:txBody>
          <a:bodyPr vert="horz" wrap="square" lIns="92075" tIns="46038" rIns="92075" bIns="46038" numCol="1" anchor="ctr" anchorCtr="0" compatLnSpc="1">
            <a:prstTxWarp prst="textNoShape">
              <a:avLst/>
            </a:prstTxWarp>
          </a:bodyPr>
          <a:lstStyle/>
          <a:p>
            <a:pPr lvl="0"/>
            <a:r>
              <a:rPr lang="zh-CN" altLang="en-US"/>
              <a:t>单击此处编辑母版标题样式</a:t>
            </a:r>
          </a:p>
        </p:txBody>
      </p:sp>
      <p:sp>
        <p:nvSpPr>
          <p:cNvPr id="63494" name="Rectangle 1030">
            <a:extLst>
              <a:ext uri="{FF2B5EF4-FFF2-40B4-BE49-F238E27FC236}">
                <a16:creationId xmlns:a16="http://schemas.microsoft.com/office/drawing/2014/main" id="{4A8739B3-F3A0-F24B-B0BE-C60256009FD4}"/>
              </a:ext>
            </a:extLst>
          </p:cNvPr>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2075" tIns="46038" rIns="92075" bIns="46038" numCol="1" anchor="ctr" anchorCtr="0" compatLnSpc="1">
            <a:prstTxWarp prst="textNoShape">
              <a:avLst/>
            </a:prstTxWarp>
          </a:bodyPr>
          <a:lstStyle>
            <a:lvl1pPr algn="l" eaLnBrk="1" hangingPunct="1">
              <a:lnSpc>
                <a:spcPct val="100000"/>
              </a:lnSpc>
              <a:spcBef>
                <a:spcPct val="0"/>
              </a:spcBef>
              <a:defRPr kumimoji="0" sz="1400">
                <a:latin typeface="+mn-lt"/>
              </a:defRPr>
            </a:lvl1pPr>
          </a:lstStyle>
          <a:p>
            <a:pPr>
              <a:defRPr/>
            </a:pPr>
            <a:fld id="{97B3738E-4425-B24D-8228-491B1632729E}" type="datetime11">
              <a:rPr lang="zh-CN" altLang="en-US"/>
              <a:pPr>
                <a:defRPr/>
              </a:pPr>
              <a:t>14:48:16</a:t>
            </a:fld>
            <a:endParaRPr lang="en-US" altLang="zh-CN"/>
          </a:p>
        </p:txBody>
      </p:sp>
      <p:sp>
        <p:nvSpPr>
          <p:cNvPr id="63495" name="Rectangle 1031">
            <a:extLst>
              <a:ext uri="{FF2B5EF4-FFF2-40B4-BE49-F238E27FC236}">
                <a16:creationId xmlns:a16="http://schemas.microsoft.com/office/drawing/2014/main" id="{AEC7EE97-2C9F-554F-BDD8-667D36D0024E}"/>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2075" tIns="46038" rIns="92075" bIns="46038" numCol="1" anchor="ctr" anchorCtr="0" compatLnSpc="1">
            <a:prstTxWarp prst="textNoShape">
              <a:avLst/>
            </a:prstTxWarp>
          </a:bodyPr>
          <a:lstStyle>
            <a:lvl1pPr algn="ctr" eaLnBrk="1" hangingPunct="1">
              <a:lnSpc>
                <a:spcPct val="100000"/>
              </a:lnSpc>
              <a:spcBef>
                <a:spcPct val="0"/>
              </a:spcBef>
              <a:defRPr kumimoji="0" sz="1400">
                <a:latin typeface="+mn-lt"/>
              </a:defRPr>
            </a:lvl1pPr>
          </a:lstStyle>
          <a:p>
            <a:pPr>
              <a:defRPr/>
            </a:pPr>
            <a:endParaRPr lang="en-US" altLang="zh-CN"/>
          </a:p>
        </p:txBody>
      </p:sp>
      <p:sp>
        <p:nvSpPr>
          <p:cNvPr id="1029" name="Rectangle 1033">
            <a:extLst>
              <a:ext uri="{FF2B5EF4-FFF2-40B4-BE49-F238E27FC236}">
                <a16:creationId xmlns:a16="http://schemas.microsoft.com/office/drawing/2014/main" id="{F014563E-AB51-0348-950D-39C77B79A8F7}"/>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53022855"/>
      </p:ext>
    </p:extLst>
  </p:cSld>
  <p:clrMap bg1="dk2" tx1="lt1" bg2="dk1"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ctr" rtl="0" eaLnBrk="0" fontAlgn="base" hangingPunct="0">
        <a:spcBef>
          <a:spcPct val="0"/>
        </a:spcBef>
        <a:spcAft>
          <a:spcPct val="0"/>
        </a:spcAft>
        <a:defRPr kumimoji="1" sz="4400" kern="1200">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image" Target="../media/image6.jpg"/><Relationship Id="rId2" Type="http://schemas.openxmlformats.org/officeDocument/2006/relationships/slide" Target="slide5.xml"/><Relationship Id="rId1" Type="http://schemas.openxmlformats.org/officeDocument/2006/relationships/slideLayout" Target="../slideLayouts/slideLayout7.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slide" Target="slide14.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 Target="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0.xml"/><Relationship Id="rId7" Type="http://schemas.openxmlformats.org/officeDocument/2006/relationships/image" Target="../media/image19.png"/><Relationship Id="rId2" Type="http://schemas.openxmlformats.org/officeDocument/2006/relationships/slide" Target="slide24.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slide" Target="slide25.xml"/><Relationship Id="rId4" Type="http://schemas.openxmlformats.org/officeDocument/2006/relationships/slide" Target="slide23.xml"/></Relationships>
</file>

<file path=ppt/slides/_rels/slide23.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 Target="slide24.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27.xml.rels><?xml version="1.0" encoding="UTF-8" standalone="yes"?>
<Relationships xmlns="http://schemas.openxmlformats.org/package/2006/relationships"><Relationship Id="rId3" Type="http://schemas.openxmlformats.org/officeDocument/2006/relationships/slide" Target="slide28.xml"/><Relationship Id="rId7" Type="http://schemas.openxmlformats.org/officeDocument/2006/relationships/image" Target="../media/image24.jpeg"/><Relationship Id="rId2" Type="http://schemas.openxmlformats.org/officeDocument/2006/relationships/slide" Target="slide22.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9" name="Rectangle 11"/>
          <p:cNvSpPr>
            <a:spLocks noChangeArrowheads="1"/>
          </p:cNvSpPr>
          <p:nvPr/>
        </p:nvSpPr>
        <p:spPr bwMode="auto">
          <a:xfrm>
            <a:off x="1403350" y="2349500"/>
            <a:ext cx="6625034" cy="10373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indent="609600"/>
            <a:r>
              <a:rPr lang="zh-CN" altLang="en-US" sz="4000" b="1" dirty="0">
                <a:solidFill>
                  <a:srgbClr val="660033"/>
                </a:solidFill>
              </a:rPr>
              <a:t>第一章  数据库发展史</a:t>
            </a:r>
          </a:p>
        </p:txBody>
      </p:sp>
      <p:grpSp>
        <p:nvGrpSpPr>
          <p:cNvPr id="683020" name="Group 12"/>
          <p:cNvGrpSpPr>
            <a:grpSpLocks/>
          </p:cNvGrpSpPr>
          <p:nvPr/>
        </p:nvGrpSpPr>
        <p:grpSpPr bwMode="auto">
          <a:xfrm>
            <a:off x="395288" y="404813"/>
            <a:ext cx="8382000" cy="1371600"/>
            <a:chOff x="0" y="288"/>
            <a:chExt cx="5760" cy="864"/>
          </a:xfrm>
        </p:grpSpPr>
        <p:sp>
          <p:nvSpPr>
            <p:cNvPr id="683021" name="Rectangle 13"/>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83022" name="Rectangle 14"/>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83023" name="Rectangle 15"/>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83024" name="Rectangle 16"/>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83025" name="Rectangle 17"/>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83026" name="Rectangle 18"/>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grpSp>
      <p:sp>
        <p:nvSpPr>
          <p:cNvPr id="683027" name="Rectangle 19"/>
          <p:cNvSpPr>
            <a:spLocks noChangeArrowheads="1"/>
          </p:cNvSpPr>
          <p:nvPr/>
        </p:nvSpPr>
        <p:spPr bwMode="auto">
          <a:xfrm>
            <a:off x="1331913" y="4292600"/>
            <a:ext cx="64008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marL="342900" indent="-342900" algn="ctr">
              <a:lnSpc>
                <a:spcPct val="100000"/>
              </a:lnSpc>
              <a:spcBef>
                <a:spcPct val="20000"/>
              </a:spcBef>
              <a:buClr>
                <a:schemeClr val="accent2"/>
              </a:buClr>
              <a:buSzPct val="80000"/>
              <a:buFont typeface="Wingdings" pitchFamily="2" charset="2"/>
              <a:buNone/>
            </a:pPr>
            <a:r>
              <a:rPr lang="zh-CN" altLang="en-US" sz="2800" b="1">
                <a:solidFill>
                  <a:schemeClr val="bg2"/>
                </a:solidFill>
              </a:rPr>
              <a:t>清华大学出版社</a:t>
            </a:r>
          </a:p>
          <a:p>
            <a:pPr marL="342900" indent="-342900" algn="ctr">
              <a:lnSpc>
                <a:spcPct val="100000"/>
              </a:lnSpc>
              <a:spcBef>
                <a:spcPct val="20000"/>
              </a:spcBef>
              <a:buClr>
                <a:schemeClr val="accent2"/>
              </a:buClr>
              <a:buSzPct val="80000"/>
              <a:buFont typeface="Wingdings" pitchFamily="2" charset="2"/>
              <a:buNone/>
            </a:pPr>
            <a:endParaRPr lang="zh-CN" altLang="en-US" sz="2800" b="1">
              <a:solidFill>
                <a:schemeClr val="bg2"/>
              </a:solidFill>
            </a:endParaRPr>
          </a:p>
          <a:p>
            <a:pPr marL="342900" indent="-342900" algn="ctr">
              <a:lnSpc>
                <a:spcPct val="100000"/>
              </a:lnSpc>
              <a:spcBef>
                <a:spcPct val="20000"/>
              </a:spcBef>
              <a:buClr>
                <a:schemeClr val="accent2"/>
              </a:buClr>
              <a:buSzPct val="80000"/>
              <a:buFont typeface="Wingdings" pitchFamily="2" charset="2"/>
              <a:buNone/>
            </a:pPr>
            <a:fld id="{3D7E11C2-7AF0-4142-AFB0-0E2926EC2F1D}" type="datetime2">
              <a:rPr lang="zh-CN" altLang="en-US" sz="2800" b="1">
                <a:solidFill>
                  <a:schemeClr val="bg2"/>
                </a:solidFill>
              </a:rPr>
              <a:pPr marL="342900" indent="-342900" algn="ctr">
                <a:lnSpc>
                  <a:spcPct val="100000"/>
                </a:lnSpc>
                <a:spcBef>
                  <a:spcPct val="20000"/>
                </a:spcBef>
                <a:buClr>
                  <a:schemeClr val="accent2"/>
                </a:buClr>
                <a:buSzPct val="80000"/>
                <a:buFont typeface="Wingdings" pitchFamily="2" charset="2"/>
                <a:buNone/>
              </a:pPr>
              <a:t>2026年3月1日 Sunday</a:t>
            </a:fld>
            <a:endParaRPr lang="zh-CN" altLang="en-US" sz="2800" b="1">
              <a:solidFill>
                <a:schemeClr val="bg2"/>
              </a:solidFill>
            </a:endParaRPr>
          </a:p>
        </p:txBody>
      </p:sp>
      <p:sp>
        <p:nvSpPr>
          <p:cNvPr id="683028" name="Rectangle 20"/>
          <p:cNvSpPr>
            <a:spLocks noChangeArrowheads="1"/>
          </p:cNvSpPr>
          <p:nvPr/>
        </p:nvSpPr>
        <p:spPr bwMode="auto">
          <a:xfrm>
            <a:off x="2411413" y="620713"/>
            <a:ext cx="5400675"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lnSpc>
                <a:spcPct val="100000"/>
              </a:lnSpc>
              <a:spcBef>
                <a:spcPct val="0"/>
              </a:spcBef>
            </a:pPr>
            <a:r>
              <a:rPr lang="zh-CN" altLang="en-US" sz="4000" b="1">
                <a:solidFill>
                  <a:srgbClr val="000099"/>
                </a:solidFill>
                <a:effectLst>
                  <a:outerShdw blurRad="38100" dist="38100" dir="2700000" algn="tl">
                    <a:srgbClr val="C0C0C0"/>
                  </a:outerShdw>
                </a:effectLst>
              </a:rPr>
              <a:t>数据库原理（</a:t>
            </a:r>
            <a:r>
              <a:rPr lang="en-US" altLang="zh-CN" sz="4000" b="1">
                <a:solidFill>
                  <a:srgbClr val="000099"/>
                </a:solidFill>
                <a:effectLst>
                  <a:outerShdw blurRad="38100" dist="38100" dir="2700000" algn="tl">
                    <a:srgbClr val="C0C0C0"/>
                  </a:outerShdw>
                </a:effectLst>
              </a:rPr>
              <a:t>1</a:t>
            </a:r>
            <a:r>
              <a:rPr lang="zh-CN" altLang="en-US" sz="4000" b="1">
                <a:solidFill>
                  <a:srgbClr val="000099"/>
                </a:solidFill>
                <a:effectLst>
                  <a:outerShdw blurRad="38100" dist="38100" dir="2700000" algn="tl">
                    <a:srgbClr val="C0C0C0"/>
                  </a:outerShdw>
                </a:effectLst>
              </a:rPr>
              <a:t>）</a:t>
            </a:r>
            <a:endParaRPr lang="zh-CN" altLang="en-US" sz="4000" b="1" i="1">
              <a:solidFill>
                <a:schemeClr val="bg2"/>
              </a:solidFill>
              <a:effectLst>
                <a:outerShdw blurRad="38100" dist="38100" dir="2700000" algn="tl">
                  <a:srgbClr val="C0C0C0"/>
                </a:outerShdw>
              </a:effectLs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tangle 2"/>
          <p:cNvSpPr txBox="1"/>
          <p:nvPr/>
        </p:nvSpPr>
        <p:spPr>
          <a:xfrm>
            <a:off x="91438" y="63142"/>
            <a:ext cx="9052562" cy="29413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indent="609600" algn="ctr">
              <a:defRPr sz="3600">
                <a:effectLst>
                  <a:outerShdw blurRad="38100" dist="38100" dir="2700000" rotWithShape="0">
                    <a:srgbClr val="C0C0C0"/>
                  </a:outerShdw>
                </a:effectLst>
                <a:latin typeface="SimSun"/>
                <a:ea typeface="SimSun"/>
                <a:cs typeface="SimSun"/>
                <a:sym typeface="SimSun"/>
              </a:defRPr>
            </a:pPr>
            <a:r>
              <a:rPr dirty="0" err="1"/>
              <a:t>第一章</a:t>
            </a:r>
            <a:r>
              <a:rPr dirty="0"/>
              <a:t>  </a:t>
            </a:r>
            <a:r>
              <a:rPr dirty="0" err="1"/>
              <a:t>数据库发展史</a:t>
            </a:r>
            <a:endParaRPr dirty="0"/>
          </a:p>
          <a:p>
            <a:pPr indent="609600">
              <a:lnSpc>
                <a:spcPct val="150000"/>
              </a:lnSpc>
              <a:defRPr>
                <a:solidFill>
                  <a:srgbClr val="000099"/>
                </a:solidFill>
                <a:latin typeface="SimSun"/>
                <a:ea typeface="SimSun"/>
                <a:cs typeface="SimSun"/>
                <a:sym typeface="SimSun"/>
              </a:defRPr>
            </a:pPr>
            <a:r>
              <a:rPr dirty="0" err="1"/>
              <a:t>教学内容</a:t>
            </a:r>
            <a:r>
              <a:rPr dirty="0"/>
              <a:t>：</a:t>
            </a:r>
            <a:r>
              <a:rPr dirty="0">
                <a:solidFill>
                  <a:srgbClr val="000000"/>
                </a:solidFill>
              </a:rPr>
              <a:t> </a:t>
            </a:r>
            <a:r>
              <a:rPr dirty="0">
                <a:solidFill>
                  <a:srgbClr val="000000"/>
                </a:solidFill>
                <a:latin typeface="Symbol"/>
                <a:ea typeface="Symbol"/>
                <a:cs typeface="Symbol"/>
                <a:sym typeface="Symbol"/>
              </a:rPr>
              <a:t>· </a:t>
            </a:r>
            <a:r>
              <a:rPr dirty="0" err="1">
                <a:solidFill>
                  <a:srgbClr val="000000"/>
                </a:solidFill>
              </a:rPr>
              <a:t>数据管理技术的发展</a:t>
            </a:r>
            <a:r>
              <a:rPr dirty="0">
                <a:solidFill>
                  <a:srgbClr val="000000"/>
                </a:solidFill>
              </a:rPr>
              <a:t>；</a:t>
            </a:r>
          </a:p>
          <a:p>
            <a:pPr indent="609600">
              <a:lnSpc>
                <a:spcPct val="150000"/>
              </a:lnSpc>
              <a:defRPr>
                <a:latin typeface="SimSun"/>
                <a:ea typeface="SimSun"/>
                <a:cs typeface="SimSun"/>
                <a:sym typeface="SimSun"/>
              </a:defRPr>
            </a:pPr>
            <a:r>
              <a:rPr dirty="0"/>
              <a:t>           </a:t>
            </a:r>
            <a:r>
              <a:rPr dirty="0">
                <a:latin typeface="Symbol"/>
                <a:ea typeface="Symbol"/>
                <a:cs typeface="Symbol"/>
                <a:sym typeface="Symbol"/>
              </a:rPr>
              <a:t>· </a:t>
            </a:r>
            <a:r>
              <a:rPr dirty="0" err="1"/>
              <a:t>数据库技术的产生和发展</a:t>
            </a:r>
            <a:r>
              <a:rPr dirty="0"/>
              <a:t>；</a:t>
            </a:r>
          </a:p>
          <a:p>
            <a:pPr indent="609600">
              <a:lnSpc>
                <a:spcPct val="150000"/>
              </a:lnSpc>
              <a:defRPr>
                <a:latin typeface="SimSun"/>
                <a:ea typeface="SimSun"/>
                <a:cs typeface="SimSun"/>
                <a:sym typeface="SimSun"/>
              </a:defRPr>
            </a:pPr>
            <a:r>
              <a:rPr dirty="0"/>
              <a:t>           </a:t>
            </a:r>
            <a:r>
              <a:rPr dirty="0">
                <a:latin typeface="Symbol"/>
                <a:ea typeface="Symbol"/>
                <a:cs typeface="Symbol"/>
                <a:sym typeface="Symbol"/>
              </a:rPr>
              <a:t>· </a:t>
            </a:r>
            <a:r>
              <a:rPr dirty="0" err="1"/>
              <a:t>数据库应用系统体系结构的发展</a:t>
            </a:r>
            <a:r>
              <a:rPr dirty="0"/>
              <a:t>。</a:t>
            </a:r>
          </a:p>
        </p:txBody>
      </p:sp>
      <p:sp>
        <p:nvSpPr>
          <p:cNvPr id="106" name="Rectangle 7"/>
          <p:cNvSpPr txBox="1"/>
          <p:nvPr/>
        </p:nvSpPr>
        <p:spPr>
          <a:xfrm>
            <a:off x="769804" y="2830489"/>
            <a:ext cx="8104009" cy="1930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nSpc>
                <a:spcPct val="150000"/>
              </a:lnSpc>
              <a:defRPr>
                <a:solidFill>
                  <a:srgbClr val="000099"/>
                </a:solidFill>
                <a:latin typeface="SimSun"/>
                <a:ea typeface="SimSun"/>
                <a:cs typeface="SimSun"/>
                <a:sym typeface="SimSun"/>
              </a:defRPr>
            </a:pPr>
            <a:r>
              <a:rPr dirty="0" err="1"/>
              <a:t>教学重点</a:t>
            </a:r>
            <a:r>
              <a:rPr dirty="0"/>
              <a:t>：</a:t>
            </a:r>
            <a:r>
              <a:rPr lang="zh-CN" altLang="en-US" dirty="0"/>
              <a:t>  </a:t>
            </a:r>
            <a:r>
              <a:rPr lang="zh-CN" altLang="en-US" dirty="0">
                <a:solidFill>
                  <a:schemeClr val="tx1"/>
                </a:solidFill>
                <a:latin typeface="SimSun"/>
                <a:ea typeface="SimSun"/>
              </a:rPr>
              <a:t>数据管理技术发展的三个阶段、</a:t>
            </a:r>
            <a:endParaRPr lang="en-US" altLang="zh-CN" dirty="0">
              <a:solidFill>
                <a:schemeClr val="tx1"/>
              </a:solidFill>
              <a:latin typeface="SimSun"/>
              <a:ea typeface="SimSun"/>
            </a:endParaRPr>
          </a:p>
          <a:p>
            <a:pPr>
              <a:lnSpc>
                <a:spcPct val="150000"/>
              </a:lnSpc>
              <a:defRPr>
                <a:solidFill>
                  <a:srgbClr val="000099"/>
                </a:solidFill>
                <a:latin typeface="SimSun"/>
                <a:ea typeface="SimSun"/>
                <a:cs typeface="SimSun"/>
                <a:sym typeface="SimSun"/>
              </a:defRPr>
            </a:pPr>
            <a:r>
              <a:rPr lang="zh-CN" altLang="en-US" dirty="0">
                <a:solidFill>
                  <a:schemeClr val="tx1"/>
                </a:solidFill>
                <a:latin typeface="SimSun"/>
                <a:ea typeface="SimSun"/>
              </a:rPr>
              <a:t>            数据库阶段特点、数据库技术的术语 </a:t>
            </a:r>
            <a:endParaRPr lang="en-US" altLang="zh-CN" dirty="0">
              <a:solidFill>
                <a:schemeClr val="tx1"/>
              </a:solidFill>
              <a:latin typeface="SimSun"/>
              <a:ea typeface="SimSun"/>
            </a:endParaRPr>
          </a:p>
          <a:p>
            <a:pPr>
              <a:lnSpc>
                <a:spcPct val="150000"/>
              </a:lnSpc>
              <a:defRPr>
                <a:solidFill>
                  <a:srgbClr val="000099"/>
                </a:solidFill>
                <a:latin typeface="SimSun"/>
                <a:ea typeface="SimSun"/>
                <a:cs typeface="SimSun"/>
                <a:sym typeface="SimSun"/>
              </a:defRPr>
            </a:pPr>
            <a:r>
              <a:rPr lang="zh-CN" altLang="en-US" dirty="0"/>
              <a:t>教学难点：</a:t>
            </a:r>
            <a:r>
              <a:rPr lang="zh-CN" altLang="en-US" dirty="0">
                <a:solidFill>
                  <a:srgbClr val="000000"/>
                </a:solidFill>
              </a:rPr>
              <a:t>  数据独立性</a:t>
            </a:r>
            <a:endParaRPr dirty="0">
              <a:solidFill>
                <a:srgbClr val="000000"/>
              </a:solidFill>
            </a:endParaRPr>
          </a:p>
        </p:txBody>
      </p:sp>
      <p:sp>
        <p:nvSpPr>
          <p:cNvPr id="107" name="Rectangle 8"/>
          <p:cNvSpPr txBox="1"/>
          <p:nvPr/>
        </p:nvSpPr>
        <p:spPr>
          <a:xfrm>
            <a:off x="769804" y="4762570"/>
            <a:ext cx="8823962" cy="1930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50000"/>
              </a:lnSpc>
              <a:defRPr>
                <a:solidFill>
                  <a:srgbClr val="000099"/>
                </a:solidFill>
                <a:latin typeface="SimSun"/>
                <a:ea typeface="SimSun"/>
                <a:cs typeface="SimSun"/>
                <a:sym typeface="SimSun"/>
              </a:defRPr>
            </a:pPr>
            <a:r>
              <a:rPr dirty="0" err="1"/>
              <a:t>教学目的</a:t>
            </a:r>
            <a:r>
              <a:rPr dirty="0"/>
              <a:t>：</a:t>
            </a:r>
            <a:r>
              <a:rPr dirty="0">
                <a:solidFill>
                  <a:srgbClr val="000000"/>
                </a:solidFill>
              </a:rPr>
              <a:t> </a:t>
            </a:r>
            <a:r>
              <a:rPr lang="zh-CN" altLang="en-US" dirty="0">
                <a:solidFill>
                  <a:srgbClr val="000000"/>
                </a:solidFill>
              </a:rPr>
              <a:t> </a:t>
            </a:r>
            <a:r>
              <a:rPr dirty="0" err="1">
                <a:solidFill>
                  <a:srgbClr val="000000"/>
                </a:solidFill>
              </a:rPr>
              <a:t>使同学们对数据库技术的概貌有一个</a:t>
            </a:r>
            <a:r>
              <a:rPr dirty="0">
                <a:solidFill>
                  <a:srgbClr val="000000"/>
                </a:solidFill>
              </a:rPr>
              <a:t>            </a:t>
            </a:r>
          </a:p>
          <a:p>
            <a:pPr>
              <a:lnSpc>
                <a:spcPct val="150000"/>
              </a:lnSpc>
              <a:defRPr>
                <a:latin typeface="SimSun"/>
                <a:ea typeface="SimSun"/>
                <a:cs typeface="SimSun"/>
                <a:sym typeface="SimSun"/>
              </a:defRPr>
            </a:pPr>
            <a:r>
              <a:rPr dirty="0"/>
              <a:t>           </a:t>
            </a:r>
            <a:r>
              <a:rPr lang="zh-CN" altLang="en-US" dirty="0"/>
              <a:t> </a:t>
            </a:r>
            <a:r>
              <a:rPr dirty="0" err="1"/>
              <a:t>初步的了解,提高同学们对学习数据库</a:t>
            </a:r>
            <a:endParaRPr dirty="0"/>
          </a:p>
          <a:p>
            <a:pPr>
              <a:lnSpc>
                <a:spcPct val="150000"/>
              </a:lnSpc>
              <a:defRPr>
                <a:latin typeface="SimSun"/>
                <a:ea typeface="SimSun"/>
                <a:cs typeface="SimSun"/>
                <a:sym typeface="SimSun"/>
              </a:defRPr>
            </a:pPr>
            <a:r>
              <a:rPr dirty="0"/>
              <a:t>           </a:t>
            </a:r>
            <a:r>
              <a:rPr lang="zh-CN" altLang="en-US" dirty="0"/>
              <a:t> </a:t>
            </a:r>
            <a:r>
              <a:rPr dirty="0" err="1"/>
              <a:t>技术的兴趣</a:t>
            </a:r>
            <a:r>
              <a:rPr dirty="0"/>
              <a:t>。</a:t>
            </a:r>
          </a:p>
        </p:txBody>
      </p:sp>
      <p:grpSp>
        <p:nvGrpSpPr>
          <p:cNvPr id="114" name="Group 9"/>
          <p:cNvGrpSpPr/>
          <p:nvPr/>
        </p:nvGrpSpPr>
        <p:grpSpPr>
          <a:xfrm>
            <a:off x="-1" y="0"/>
            <a:ext cx="8382001" cy="1371600"/>
            <a:chOff x="0" y="0"/>
            <a:chExt cx="8381999" cy="1371600"/>
          </a:xfrm>
        </p:grpSpPr>
        <p:sp>
          <p:nvSpPr>
            <p:cNvPr id="108" name="Rectangle 10"/>
            <p:cNvSpPr/>
            <p:nvPr/>
          </p:nvSpPr>
          <p:spPr>
            <a:xfrm>
              <a:off x="285220" y="141287"/>
              <a:ext cx="622830" cy="617538"/>
            </a:xfrm>
            <a:prstGeom prst="rect">
              <a:avLst/>
            </a:prstGeom>
            <a:gradFill flip="none" rotWithShape="1">
              <a:gsLst>
                <a:gs pos="0">
                  <a:srgbClr val="0000FF"/>
                </a:gs>
                <a:gs pos="100000">
                  <a:schemeClr val="accent1"/>
                </a:gs>
              </a:gsLst>
              <a:lin ang="54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09" name="Rectangle 11"/>
            <p:cNvSpPr/>
            <p:nvPr/>
          </p:nvSpPr>
          <p:spPr>
            <a:xfrm>
              <a:off x="406003" y="690562"/>
              <a:ext cx="414735" cy="619126"/>
            </a:xfrm>
            <a:prstGeom prst="rect">
              <a:avLst/>
            </a:prstGeom>
            <a:solidFill>
              <a:srgbClr val="FFFF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10" name="Rectangle 12"/>
            <p:cNvSpPr/>
            <p:nvPr/>
          </p:nvSpPr>
          <p:spPr>
            <a:xfrm>
              <a:off x="769805" y="690562"/>
              <a:ext cx="360892" cy="619126"/>
            </a:xfrm>
            <a:prstGeom prst="rect">
              <a:avLst/>
            </a:prstGeom>
            <a:gradFill flip="none" rotWithShape="1">
              <a:gsLst>
                <a:gs pos="0">
                  <a:srgbClr val="FFFF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11" name="Rectangle 13"/>
            <p:cNvSpPr/>
            <p:nvPr/>
          </p:nvSpPr>
          <p:spPr>
            <a:xfrm>
              <a:off x="-1" y="457200"/>
              <a:ext cx="628651" cy="609600"/>
            </a:xfrm>
            <a:prstGeom prst="rect">
              <a:avLst/>
            </a:prstGeom>
            <a:gradFill flip="none" rotWithShape="1">
              <a:gsLst>
                <a:gs pos="0">
                  <a:srgbClr val="0000FF"/>
                </a:gs>
                <a:gs pos="100000">
                  <a:srgbClr val="FF0033"/>
                </a:gs>
              </a:gsLst>
              <a:lin ang="189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12" name="Rectangle 14"/>
            <p:cNvSpPr/>
            <p:nvPr/>
          </p:nvSpPr>
          <p:spPr>
            <a:xfrm>
              <a:off x="622829" y="0"/>
              <a:ext cx="32015" cy="1371600"/>
            </a:xfrm>
            <a:prstGeom prst="rect">
              <a:avLst/>
            </a:prstGeom>
            <a:solidFill>
              <a:srgbClr val="0000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13" name="Rectangle 15"/>
            <p:cNvSpPr/>
            <p:nvPr/>
          </p:nvSpPr>
          <p:spPr>
            <a:xfrm>
              <a:off x="309959" y="1030287"/>
              <a:ext cx="8072041" cy="41276"/>
            </a:xfrm>
            <a:prstGeom prst="rect">
              <a:avLst/>
            </a:prstGeom>
            <a:gradFill flip="none" rotWithShape="1">
              <a:gsLst>
                <a:gs pos="0">
                  <a:srgbClr val="0000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gr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2"/>
          <p:cNvSpPr txBox="1"/>
          <p:nvPr/>
        </p:nvSpPr>
        <p:spPr>
          <a:xfrm>
            <a:off x="369569" y="1420812"/>
            <a:ext cx="9052562" cy="30073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spcBef>
                <a:spcPts val="1600"/>
              </a:spcBef>
              <a:defRPr>
                <a:solidFill>
                  <a:srgbClr val="000099"/>
                </a:solidFill>
                <a:latin typeface="SimSun"/>
                <a:ea typeface="SimSun"/>
                <a:cs typeface="SimSun"/>
                <a:sym typeface="SimSun"/>
              </a:defRPr>
            </a:pPr>
            <a:r>
              <a:t>数据处理：</a:t>
            </a:r>
          </a:p>
          <a:p>
            <a:pPr>
              <a:spcBef>
                <a:spcPts val="1600"/>
              </a:spcBef>
              <a:defRPr>
                <a:solidFill>
                  <a:srgbClr val="000099"/>
                </a:solidFill>
                <a:latin typeface="SimSun"/>
                <a:ea typeface="SimSun"/>
                <a:cs typeface="SimSun"/>
                <a:sym typeface="SimSun"/>
              </a:defRPr>
            </a:pPr>
            <a:endParaRPr/>
          </a:p>
          <a:p>
            <a:pPr>
              <a:spcBef>
                <a:spcPts val="1600"/>
              </a:spcBef>
              <a:defRPr>
                <a:solidFill>
                  <a:srgbClr val="000099"/>
                </a:solidFill>
                <a:latin typeface="SimSun"/>
                <a:ea typeface="SimSun"/>
                <a:cs typeface="SimSun"/>
                <a:sym typeface="SimSun"/>
              </a:defRPr>
            </a:pPr>
            <a:endParaRPr/>
          </a:p>
          <a:p>
            <a:pPr>
              <a:spcBef>
                <a:spcPts val="1600"/>
              </a:spcBef>
              <a:defRPr>
                <a:solidFill>
                  <a:srgbClr val="000099"/>
                </a:solidFill>
                <a:latin typeface="SimSun"/>
                <a:ea typeface="SimSun"/>
                <a:cs typeface="SimSun"/>
                <a:sym typeface="SimSun"/>
              </a:defRPr>
            </a:pPr>
            <a:r>
              <a:t>数据管理：</a:t>
            </a:r>
          </a:p>
        </p:txBody>
      </p:sp>
      <p:sp>
        <p:nvSpPr>
          <p:cNvPr id="117" name="Rectangle 3"/>
          <p:cNvSpPr txBox="1"/>
          <p:nvPr/>
        </p:nvSpPr>
        <p:spPr>
          <a:xfrm>
            <a:off x="658494" y="1428750"/>
            <a:ext cx="9268462" cy="1981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200000"/>
              </a:lnSpc>
              <a:spcBef>
                <a:spcPts val="1400"/>
              </a:spcBef>
              <a:defRPr sz="2400">
                <a:solidFill>
                  <a:srgbClr val="000099"/>
                </a:solidFill>
                <a:latin typeface="SimSun"/>
                <a:ea typeface="SimSun"/>
                <a:cs typeface="SimSun"/>
                <a:sym typeface="SimSun"/>
              </a:defRPr>
            </a:pPr>
            <a:r>
              <a:t>          </a:t>
            </a:r>
            <a:r>
              <a:rPr>
                <a:solidFill>
                  <a:srgbClr val="000000"/>
                </a:solidFill>
              </a:rPr>
              <a:t>最初是指在计算机上加工商业、企业的信息</a:t>
            </a:r>
          </a:p>
          <a:p>
            <a:pPr>
              <a:lnSpc>
                <a:spcPct val="200000"/>
              </a:lnSpc>
              <a:spcBef>
                <a:spcPts val="1400"/>
              </a:spcBef>
              <a:defRPr sz="2400">
                <a:latin typeface="SimSun"/>
                <a:ea typeface="SimSun"/>
                <a:cs typeface="SimSun"/>
                <a:sym typeface="SimSun"/>
              </a:defRPr>
            </a:pPr>
            <a:r>
              <a:t>          和数据；现在常用来泛指非科技工程方面的</a:t>
            </a:r>
          </a:p>
          <a:p>
            <a:pPr>
              <a:lnSpc>
                <a:spcPct val="200000"/>
              </a:lnSpc>
              <a:spcBef>
                <a:spcPts val="1400"/>
              </a:spcBef>
              <a:defRPr sz="2400">
                <a:latin typeface="SimSun"/>
                <a:ea typeface="SimSun"/>
                <a:cs typeface="SimSun"/>
                <a:sym typeface="SimSun"/>
              </a:defRPr>
            </a:pPr>
            <a:r>
              <a:t>          所有计算、管理和操纵任何形式的数据资料。</a:t>
            </a:r>
          </a:p>
        </p:txBody>
      </p:sp>
      <p:sp>
        <p:nvSpPr>
          <p:cNvPr id="118" name="Rectangle 4"/>
          <p:cNvSpPr txBox="1"/>
          <p:nvPr/>
        </p:nvSpPr>
        <p:spPr>
          <a:xfrm>
            <a:off x="623569" y="4292599"/>
            <a:ext cx="9447850" cy="12903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200000"/>
              </a:lnSpc>
              <a:spcBef>
                <a:spcPts val="1600"/>
              </a:spcBef>
              <a:defRPr>
                <a:solidFill>
                  <a:srgbClr val="000099"/>
                </a:solidFill>
                <a:latin typeface="SimSun"/>
                <a:ea typeface="SimSun"/>
                <a:cs typeface="SimSun"/>
                <a:sym typeface="SimSun"/>
              </a:defRPr>
            </a:pPr>
            <a:r>
              <a:t>         </a:t>
            </a:r>
            <a:r>
              <a:rPr sz="2400">
                <a:solidFill>
                  <a:srgbClr val="000000"/>
                </a:solidFill>
              </a:rPr>
              <a:t>指对数据进行收集、分类、组织、编码、</a:t>
            </a:r>
          </a:p>
          <a:p>
            <a:pPr>
              <a:lnSpc>
                <a:spcPct val="200000"/>
              </a:lnSpc>
              <a:spcBef>
                <a:spcPts val="1400"/>
              </a:spcBef>
              <a:defRPr sz="2400">
                <a:latin typeface="SimSun"/>
                <a:ea typeface="SimSun"/>
                <a:cs typeface="SimSun"/>
                <a:sym typeface="SimSun"/>
              </a:defRPr>
            </a:pPr>
            <a:r>
              <a:t>           存储、检索、维护和传播等工作。</a:t>
            </a:r>
          </a:p>
        </p:txBody>
      </p:sp>
      <p:sp>
        <p:nvSpPr>
          <p:cNvPr id="119" name="Rectangle 5"/>
          <p:cNvSpPr txBox="1"/>
          <p:nvPr/>
        </p:nvSpPr>
        <p:spPr>
          <a:xfrm>
            <a:off x="-180302" y="227090"/>
            <a:ext cx="9052561" cy="715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50000"/>
              </a:lnSpc>
              <a:spcBef>
                <a:spcPts val="2100"/>
              </a:spcBef>
              <a:defRPr sz="3600">
                <a:latin typeface="SimSun"/>
                <a:ea typeface="SimSun"/>
                <a:cs typeface="SimSun"/>
                <a:sym typeface="SimSun"/>
              </a:defRPr>
            </a:pPr>
            <a:r>
              <a:rPr sz="3200" dirty="0"/>
              <a:t>        </a:t>
            </a:r>
            <a:r>
              <a:rPr lang="en-US" sz="3200" dirty="0">
                <a:effectLst>
                  <a:outerShdw blurRad="38100" dist="38100" dir="2700000" rotWithShape="0">
                    <a:srgbClr val="C0C0C0"/>
                  </a:outerShdw>
                </a:effectLst>
              </a:rPr>
              <a:t>1.1 </a:t>
            </a:r>
            <a:r>
              <a:rPr sz="3200" dirty="0" err="1">
                <a:effectLst>
                  <a:outerShdw blurRad="38100" dist="38100" dir="2700000" rotWithShape="0">
                    <a:srgbClr val="C0C0C0"/>
                  </a:outerShdw>
                </a:effectLst>
              </a:rPr>
              <a:t>数据管理技术的发展</a:t>
            </a:r>
            <a:endParaRPr sz="3200" dirty="0">
              <a:effectLst>
                <a:outerShdw blurRad="38100" dist="38100" dir="2700000" rotWithShape="0">
                  <a:srgbClr val="C0C0C0"/>
                </a:outerShdw>
              </a:effectLst>
            </a:endParaRPr>
          </a:p>
        </p:txBody>
      </p:sp>
      <p:grpSp>
        <p:nvGrpSpPr>
          <p:cNvPr id="126" name="Group 6"/>
          <p:cNvGrpSpPr/>
          <p:nvPr/>
        </p:nvGrpSpPr>
        <p:grpSpPr>
          <a:xfrm>
            <a:off x="-1" y="0"/>
            <a:ext cx="8382001" cy="1371600"/>
            <a:chOff x="0" y="0"/>
            <a:chExt cx="8381999" cy="1371600"/>
          </a:xfrm>
        </p:grpSpPr>
        <p:sp>
          <p:nvSpPr>
            <p:cNvPr id="120" name="Rectangle 7"/>
            <p:cNvSpPr/>
            <p:nvPr/>
          </p:nvSpPr>
          <p:spPr>
            <a:xfrm>
              <a:off x="285220" y="141287"/>
              <a:ext cx="622830" cy="617538"/>
            </a:xfrm>
            <a:prstGeom prst="rect">
              <a:avLst/>
            </a:prstGeom>
            <a:gradFill flip="none" rotWithShape="1">
              <a:gsLst>
                <a:gs pos="0">
                  <a:srgbClr val="0000FF"/>
                </a:gs>
                <a:gs pos="100000">
                  <a:schemeClr val="accent1"/>
                </a:gs>
              </a:gsLst>
              <a:lin ang="54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21" name="Rectangle 8"/>
            <p:cNvSpPr/>
            <p:nvPr/>
          </p:nvSpPr>
          <p:spPr>
            <a:xfrm>
              <a:off x="406003" y="690562"/>
              <a:ext cx="414735" cy="619126"/>
            </a:xfrm>
            <a:prstGeom prst="rect">
              <a:avLst/>
            </a:prstGeom>
            <a:solidFill>
              <a:srgbClr val="FFFF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22" name="Rectangle 9"/>
            <p:cNvSpPr/>
            <p:nvPr/>
          </p:nvSpPr>
          <p:spPr>
            <a:xfrm>
              <a:off x="769805" y="690562"/>
              <a:ext cx="360892" cy="619126"/>
            </a:xfrm>
            <a:prstGeom prst="rect">
              <a:avLst/>
            </a:prstGeom>
            <a:gradFill flip="none" rotWithShape="1">
              <a:gsLst>
                <a:gs pos="0">
                  <a:srgbClr val="FFFF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23" name="Rectangle 10"/>
            <p:cNvSpPr/>
            <p:nvPr/>
          </p:nvSpPr>
          <p:spPr>
            <a:xfrm>
              <a:off x="-1" y="457200"/>
              <a:ext cx="628651" cy="609600"/>
            </a:xfrm>
            <a:prstGeom prst="rect">
              <a:avLst/>
            </a:prstGeom>
            <a:gradFill flip="none" rotWithShape="1">
              <a:gsLst>
                <a:gs pos="0">
                  <a:srgbClr val="0000FF"/>
                </a:gs>
                <a:gs pos="100000">
                  <a:srgbClr val="FF0033"/>
                </a:gs>
              </a:gsLst>
              <a:lin ang="189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24" name="Rectangle 11"/>
            <p:cNvSpPr/>
            <p:nvPr/>
          </p:nvSpPr>
          <p:spPr>
            <a:xfrm>
              <a:off x="622829" y="0"/>
              <a:ext cx="32015" cy="1371600"/>
            </a:xfrm>
            <a:prstGeom prst="rect">
              <a:avLst/>
            </a:prstGeom>
            <a:solidFill>
              <a:srgbClr val="0000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25" name="Rectangle 12"/>
            <p:cNvSpPr/>
            <p:nvPr/>
          </p:nvSpPr>
          <p:spPr>
            <a:xfrm>
              <a:off x="309959" y="1030287"/>
              <a:ext cx="8072041" cy="41276"/>
            </a:xfrm>
            <a:prstGeom prst="rect">
              <a:avLst/>
            </a:prstGeom>
            <a:gradFill flip="none" rotWithShape="1">
              <a:gsLst>
                <a:gs pos="0">
                  <a:srgbClr val="0000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gr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3" presetClass="entr" presetSubtype="10" fill="hold" grpId="1" nodeType="clickEffect">
                                  <p:stCondLst>
                                    <p:cond delay="0"/>
                                  </p:stCondLst>
                                  <p:iterate>
                                    <p:tmAbs val="0"/>
                                  </p:iterate>
                                  <p:childTnLst>
                                    <p:set>
                                      <p:cBhvr>
                                        <p:cTn id="6" fill="hold"/>
                                        <p:tgtEl>
                                          <p:spTgt spid="117"/>
                                        </p:tgtEl>
                                        <p:attrNameLst>
                                          <p:attrName>style.visibility</p:attrName>
                                        </p:attrNameLst>
                                      </p:cBhvr>
                                      <p:to>
                                        <p:strVal val="visible"/>
                                      </p:to>
                                    </p:set>
                                    <p:animEffect transition="in" filter="blinds(horizontal)">
                                      <p:cBhvr>
                                        <p:cTn id="7" dur="500"/>
                                        <p:tgtEl>
                                          <p:spTgt spid="1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2" nodeType="clickEffect">
                                  <p:stCondLst>
                                    <p:cond delay="0"/>
                                  </p:stCondLst>
                                  <p:iterate>
                                    <p:tmAbs val="0"/>
                                  </p:iterate>
                                  <p:childTnLst>
                                    <p:set>
                                      <p:cBhvr>
                                        <p:cTn id="11" fill="hold"/>
                                        <p:tgtEl>
                                          <p:spTgt spid="118"/>
                                        </p:tgtEl>
                                        <p:attrNameLst>
                                          <p:attrName>style.visibility</p:attrName>
                                        </p:attrNameLst>
                                      </p:cBhvr>
                                      <p:to>
                                        <p:strVal val="visible"/>
                                      </p:to>
                                    </p:set>
                                    <p:animEffect transition="in" filter="blinds(horizontal)">
                                      <p:cBhvr>
                                        <p:cTn id="12"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1" animBg="1" advAuto="0"/>
      <p:bldP spid="118" grpId="2"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Rectangle 2"/>
          <p:cNvSpPr txBox="1"/>
          <p:nvPr/>
        </p:nvSpPr>
        <p:spPr>
          <a:xfrm>
            <a:off x="45719" y="685800"/>
            <a:ext cx="9052562" cy="47663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50000"/>
              </a:lnSpc>
              <a:spcBef>
                <a:spcPts val="2100"/>
              </a:spcBef>
              <a:defRPr sz="3600">
                <a:effectLst>
                  <a:outerShdw blurRad="38100" dist="38100" dir="2700000" rotWithShape="0">
                    <a:srgbClr val="C0C0C0"/>
                  </a:outerShdw>
                </a:effectLst>
                <a:latin typeface="SimSun"/>
                <a:ea typeface="SimSun"/>
                <a:cs typeface="SimSun"/>
                <a:sym typeface="SimSun"/>
              </a:defRPr>
            </a:pPr>
            <a:r>
              <a:rPr dirty="0"/>
              <a:t>        </a:t>
            </a:r>
            <a:r>
              <a:rPr dirty="0" err="1"/>
              <a:t>数据管理技术的发展阶段</a:t>
            </a:r>
            <a:r>
              <a:rPr dirty="0"/>
              <a:t>：</a:t>
            </a:r>
          </a:p>
          <a:p>
            <a:pPr>
              <a:lnSpc>
                <a:spcPct val="150000"/>
              </a:lnSpc>
              <a:spcBef>
                <a:spcPts val="2400"/>
              </a:spcBef>
              <a:defRPr sz="4000">
                <a:solidFill>
                  <a:srgbClr val="000099"/>
                </a:solidFill>
                <a:latin typeface="SimSun"/>
                <a:ea typeface="SimSun"/>
                <a:cs typeface="SimSun"/>
                <a:sym typeface="SimSun"/>
              </a:defRPr>
            </a:pPr>
            <a:r>
              <a:rPr dirty="0"/>
              <a:t>           </a:t>
            </a:r>
            <a:r>
              <a:rPr u="sng" dirty="0">
                <a:solidFill>
                  <a:srgbClr val="FF0033"/>
                </a:solidFill>
                <a:uFill>
                  <a:solidFill>
                    <a:srgbClr val="FF0033"/>
                  </a:solidFill>
                </a:uFill>
                <a:hlinkClick r:id="rId2" action="ppaction://hlinksldjump"/>
              </a:rPr>
              <a:t>人工管理阶段</a:t>
            </a:r>
          </a:p>
          <a:p>
            <a:pPr>
              <a:lnSpc>
                <a:spcPct val="150000"/>
              </a:lnSpc>
              <a:spcBef>
                <a:spcPts val="2400"/>
              </a:spcBef>
              <a:defRPr sz="4000">
                <a:solidFill>
                  <a:srgbClr val="000099"/>
                </a:solidFill>
                <a:latin typeface="SimSun"/>
                <a:ea typeface="SimSun"/>
                <a:cs typeface="SimSun"/>
                <a:sym typeface="SimSun"/>
              </a:defRPr>
            </a:pPr>
            <a:r>
              <a:rPr dirty="0"/>
              <a:t>           </a:t>
            </a:r>
            <a:r>
              <a:rPr u="sng" dirty="0">
                <a:solidFill>
                  <a:srgbClr val="FF0033"/>
                </a:solidFill>
                <a:uFill>
                  <a:solidFill>
                    <a:srgbClr val="FF0033"/>
                  </a:solidFill>
                </a:uFill>
                <a:hlinkClick r:id="rId3" action="ppaction://hlinksldjump"/>
              </a:rPr>
              <a:t>文件系统阶段</a:t>
            </a:r>
          </a:p>
          <a:p>
            <a:pPr>
              <a:lnSpc>
                <a:spcPct val="150000"/>
              </a:lnSpc>
              <a:spcBef>
                <a:spcPts val="2400"/>
              </a:spcBef>
              <a:defRPr sz="4000">
                <a:solidFill>
                  <a:srgbClr val="000099"/>
                </a:solidFill>
                <a:latin typeface="SimSun"/>
                <a:ea typeface="SimSun"/>
                <a:cs typeface="SimSun"/>
                <a:sym typeface="SimSun"/>
              </a:defRPr>
            </a:pPr>
            <a:r>
              <a:rPr dirty="0"/>
              <a:t>           </a:t>
            </a:r>
            <a:r>
              <a:rPr u="sng" dirty="0">
                <a:solidFill>
                  <a:srgbClr val="FF0033"/>
                </a:solidFill>
                <a:uFill>
                  <a:solidFill>
                    <a:srgbClr val="FF0033"/>
                  </a:solidFill>
                </a:uFill>
                <a:hlinkClick r:id="rId4" action="ppaction://hlinksldjump"/>
              </a:rPr>
              <a:t>倒排文件系统</a:t>
            </a:r>
          </a:p>
          <a:p>
            <a:pPr>
              <a:lnSpc>
                <a:spcPct val="120000"/>
              </a:lnSpc>
              <a:spcBef>
                <a:spcPts val="2100"/>
              </a:spcBef>
              <a:defRPr sz="3600">
                <a:latin typeface="SimSun"/>
                <a:ea typeface="SimSun"/>
                <a:cs typeface="SimSun"/>
                <a:sym typeface="SimSun"/>
              </a:defRPr>
            </a:pPr>
            <a:r>
              <a:rPr dirty="0"/>
              <a:t> </a:t>
            </a:r>
          </a:p>
        </p:txBody>
      </p:sp>
      <p:grpSp>
        <p:nvGrpSpPr>
          <p:cNvPr id="135" name="Group 4"/>
          <p:cNvGrpSpPr/>
          <p:nvPr/>
        </p:nvGrpSpPr>
        <p:grpSpPr>
          <a:xfrm>
            <a:off x="0" y="692150"/>
            <a:ext cx="8893176" cy="1371600"/>
            <a:chOff x="0" y="0"/>
            <a:chExt cx="8893175" cy="1371600"/>
          </a:xfrm>
        </p:grpSpPr>
        <p:sp>
          <p:nvSpPr>
            <p:cNvPr id="129" name="Rectangle 5"/>
            <p:cNvSpPr/>
            <p:nvPr/>
          </p:nvSpPr>
          <p:spPr>
            <a:xfrm>
              <a:off x="302614" y="141287"/>
              <a:ext cx="660813" cy="617538"/>
            </a:xfrm>
            <a:prstGeom prst="rect">
              <a:avLst/>
            </a:prstGeom>
            <a:gradFill flip="none" rotWithShape="1">
              <a:gsLst>
                <a:gs pos="0">
                  <a:srgbClr val="0000FF"/>
                </a:gs>
                <a:gs pos="100000">
                  <a:schemeClr val="accent1"/>
                </a:gs>
              </a:gsLst>
              <a:lin ang="54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30" name="Rectangle 6"/>
            <p:cNvSpPr/>
            <p:nvPr/>
          </p:nvSpPr>
          <p:spPr>
            <a:xfrm>
              <a:off x="430763" y="690562"/>
              <a:ext cx="440027" cy="619126"/>
            </a:xfrm>
            <a:prstGeom prst="rect">
              <a:avLst/>
            </a:prstGeom>
            <a:solidFill>
              <a:srgbClr val="FFFF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31" name="Rectangle 7"/>
            <p:cNvSpPr/>
            <p:nvPr/>
          </p:nvSpPr>
          <p:spPr>
            <a:xfrm>
              <a:off x="816751" y="690562"/>
              <a:ext cx="382901" cy="619126"/>
            </a:xfrm>
            <a:prstGeom prst="rect">
              <a:avLst/>
            </a:prstGeom>
            <a:gradFill flip="none" rotWithShape="1">
              <a:gsLst>
                <a:gs pos="0">
                  <a:srgbClr val="FFFF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32" name="Rectangle 8"/>
            <p:cNvSpPr/>
            <p:nvPr/>
          </p:nvSpPr>
          <p:spPr>
            <a:xfrm>
              <a:off x="-1" y="457200"/>
              <a:ext cx="666989" cy="609600"/>
            </a:xfrm>
            <a:prstGeom prst="rect">
              <a:avLst/>
            </a:prstGeom>
            <a:gradFill flip="none" rotWithShape="1">
              <a:gsLst>
                <a:gs pos="0">
                  <a:srgbClr val="0000FF"/>
                </a:gs>
                <a:gs pos="100000">
                  <a:srgbClr val="FF0033"/>
                </a:gs>
              </a:gsLst>
              <a:lin ang="189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33" name="Rectangle 9"/>
            <p:cNvSpPr/>
            <p:nvPr/>
          </p:nvSpPr>
          <p:spPr>
            <a:xfrm>
              <a:off x="660812" y="0"/>
              <a:ext cx="33967" cy="1371600"/>
            </a:xfrm>
            <a:prstGeom prst="rect">
              <a:avLst/>
            </a:prstGeom>
            <a:solidFill>
              <a:srgbClr val="0000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34" name="Rectangle 10"/>
            <p:cNvSpPr/>
            <p:nvPr/>
          </p:nvSpPr>
          <p:spPr>
            <a:xfrm>
              <a:off x="328862" y="1030287"/>
              <a:ext cx="8564314" cy="41276"/>
            </a:xfrm>
            <a:prstGeom prst="rect">
              <a:avLst/>
            </a:prstGeom>
            <a:gradFill flip="none" rotWithShape="1">
              <a:gsLst>
                <a:gs pos="0">
                  <a:srgbClr val="0000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grpSp>
      <p:sp>
        <p:nvSpPr>
          <p:cNvPr id="136" name="AutoShape 11">
            <a:hlinkClick r:id="rId5" action="ppaction://hlinksldjump"/>
          </p:cNvPr>
          <p:cNvSpPr/>
          <p:nvPr/>
        </p:nvSpPr>
        <p:spPr>
          <a:xfrm>
            <a:off x="2195513" y="2420938"/>
            <a:ext cx="503238" cy="215901"/>
          </a:xfrm>
          <a:prstGeom prst="chevron">
            <a:avLst>
              <a:gd name="adj" fmla="val 58272"/>
            </a:avLst>
          </a:prstGeom>
          <a:solidFill>
            <a:schemeClr val="accent2"/>
          </a:solidFill>
          <a:ln w="12700">
            <a:miter lim="400000"/>
          </a:ln>
        </p:spPr>
        <p:txBody>
          <a:bodyPr lIns="45719" rIns="45719" anchor="ctr"/>
          <a:lstStyle/>
          <a:p>
            <a:pPr>
              <a:defRPr>
                <a:latin typeface="SimSun"/>
                <a:ea typeface="SimSun"/>
                <a:cs typeface="SimSun"/>
                <a:sym typeface="SimSun"/>
              </a:defRPr>
            </a:pPr>
            <a:endParaRPr/>
          </a:p>
        </p:txBody>
      </p:sp>
      <p:sp>
        <p:nvSpPr>
          <p:cNvPr id="137" name="AutoShape 12">
            <a:hlinkClick r:id="rId6" action="ppaction://hlinksldjump"/>
          </p:cNvPr>
          <p:cNvSpPr/>
          <p:nvPr/>
        </p:nvSpPr>
        <p:spPr>
          <a:xfrm>
            <a:off x="2195513" y="3573462"/>
            <a:ext cx="503238" cy="215901"/>
          </a:xfrm>
          <a:prstGeom prst="chevron">
            <a:avLst>
              <a:gd name="adj" fmla="val 58272"/>
            </a:avLst>
          </a:prstGeom>
          <a:solidFill>
            <a:schemeClr val="accent2"/>
          </a:solidFill>
          <a:ln w="12700">
            <a:miter lim="400000"/>
          </a:ln>
        </p:spPr>
        <p:txBody>
          <a:bodyPr lIns="45719" rIns="45719" anchor="ctr"/>
          <a:lstStyle/>
          <a:p>
            <a:pPr>
              <a:defRPr>
                <a:latin typeface="SimSun"/>
                <a:ea typeface="SimSun"/>
                <a:cs typeface="SimSun"/>
                <a:sym typeface="SimSun"/>
              </a:defRPr>
            </a:pPr>
            <a:endParaRPr/>
          </a:p>
        </p:txBody>
      </p:sp>
      <p:sp>
        <p:nvSpPr>
          <p:cNvPr id="138" name="AutoShape 13">
            <a:hlinkClick r:id="rId4" action="ppaction://hlinksldjump"/>
          </p:cNvPr>
          <p:cNvSpPr/>
          <p:nvPr/>
        </p:nvSpPr>
        <p:spPr>
          <a:xfrm>
            <a:off x="2195513" y="4797425"/>
            <a:ext cx="503238" cy="217489"/>
          </a:xfrm>
          <a:prstGeom prst="chevron">
            <a:avLst>
              <a:gd name="adj" fmla="val 57847"/>
            </a:avLst>
          </a:prstGeom>
          <a:solidFill>
            <a:schemeClr val="accent2"/>
          </a:solidFill>
          <a:ln w="12700">
            <a:miter lim="400000"/>
          </a:ln>
        </p:spPr>
        <p:txBody>
          <a:bodyPr lIns="45719" rIns="45719" anchor="ctr"/>
          <a:lstStyle/>
          <a:p>
            <a:pPr>
              <a:defRPr>
                <a:latin typeface="SimSun"/>
                <a:ea typeface="SimSun"/>
                <a:cs typeface="SimSun"/>
                <a:sym typeface="SimSun"/>
              </a:defRPr>
            </a:pPr>
            <a:endParaRPr/>
          </a:p>
        </p:txBody>
      </p:sp>
      <p:pic>
        <p:nvPicPr>
          <p:cNvPr id="13" name="图片 12">
            <a:extLst>
              <a:ext uri="{FF2B5EF4-FFF2-40B4-BE49-F238E27FC236}">
                <a16:creationId xmlns:a16="http://schemas.microsoft.com/office/drawing/2014/main" id="{52405D1D-6990-8E4F-B5A2-8F4DABCD03E8}"/>
              </a:ext>
            </a:extLst>
          </p:cNvPr>
          <p:cNvPicPr>
            <a:picLocks noChangeAspect="1"/>
          </p:cNvPicPr>
          <p:nvPr/>
        </p:nvPicPr>
        <p:blipFill rotWithShape="1">
          <a:blip r:embed="rId7"/>
          <a:srcRect l="676" t="20973" r="54062" b="13716"/>
          <a:stretch/>
        </p:blipFill>
        <p:spPr>
          <a:xfrm>
            <a:off x="1282081" y="904638"/>
            <a:ext cx="577970" cy="55043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6" name="Group 4"/>
          <p:cNvGrpSpPr/>
          <p:nvPr/>
        </p:nvGrpSpPr>
        <p:grpSpPr>
          <a:xfrm>
            <a:off x="0" y="692150"/>
            <a:ext cx="8893176" cy="1371600"/>
            <a:chOff x="0" y="0"/>
            <a:chExt cx="8893175" cy="1371600"/>
          </a:xfrm>
        </p:grpSpPr>
        <p:sp>
          <p:nvSpPr>
            <p:cNvPr id="140" name="Rectangle 5"/>
            <p:cNvSpPr/>
            <p:nvPr/>
          </p:nvSpPr>
          <p:spPr>
            <a:xfrm>
              <a:off x="302614" y="141287"/>
              <a:ext cx="660813" cy="617538"/>
            </a:xfrm>
            <a:prstGeom prst="rect">
              <a:avLst/>
            </a:prstGeom>
            <a:gradFill flip="none" rotWithShape="1">
              <a:gsLst>
                <a:gs pos="0">
                  <a:srgbClr val="0000FF"/>
                </a:gs>
                <a:gs pos="100000">
                  <a:schemeClr val="accent1"/>
                </a:gs>
              </a:gsLst>
              <a:lin ang="54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41" name="Rectangle 6"/>
            <p:cNvSpPr/>
            <p:nvPr/>
          </p:nvSpPr>
          <p:spPr>
            <a:xfrm>
              <a:off x="430763" y="690562"/>
              <a:ext cx="440027" cy="619126"/>
            </a:xfrm>
            <a:prstGeom prst="rect">
              <a:avLst/>
            </a:prstGeom>
            <a:solidFill>
              <a:srgbClr val="FFFF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42" name="Rectangle 7"/>
            <p:cNvSpPr/>
            <p:nvPr/>
          </p:nvSpPr>
          <p:spPr>
            <a:xfrm>
              <a:off x="816751" y="690562"/>
              <a:ext cx="382901" cy="619126"/>
            </a:xfrm>
            <a:prstGeom prst="rect">
              <a:avLst/>
            </a:prstGeom>
            <a:gradFill flip="none" rotWithShape="1">
              <a:gsLst>
                <a:gs pos="0">
                  <a:srgbClr val="FFFF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43" name="Rectangle 8"/>
            <p:cNvSpPr/>
            <p:nvPr/>
          </p:nvSpPr>
          <p:spPr>
            <a:xfrm>
              <a:off x="-1" y="457200"/>
              <a:ext cx="666989" cy="609600"/>
            </a:xfrm>
            <a:prstGeom prst="rect">
              <a:avLst/>
            </a:prstGeom>
            <a:gradFill flip="none" rotWithShape="1">
              <a:gsLst>
                <a:gs pos="0">
                  <a:srgbClr val="0000FF"/>
                </a:gs>
                <a:gs pos="100000">
                  <a:srgbClr val="FF0033"/>
                </a:gs>
              </a:gsLst>
              <a:lin ang="189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44" name="Rectangle 9"/>
            <p:cNvSpPr/>
            <p:nvPr/>
          </p:nvSpPr>
          <p:spPr>
            <a:xfrm>
              <a:off x="660812" y="0"/>
              <a:ext cx="33967" cy="1371600"/>
            </a:xfrm>
            <a:prstGeom prst="rect">
              <a:avLst/>
            </a:prstGeom>
            <a:solidFill>
              <a:srgbClr val="0000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45" name="Rectangle 10"/>
            <p:cNvSpPr/>
            <p:nvPr/>
          </p:nvSpPr>
          <p:spPr>
            <a:xfrm>
              <a:off x="328862" y="1030287"/>
              <a:ext cx="8564314" cy="41276"/>
            </a:xfrm>
            <a:prstGeom prst="rect">
              <a:avLst/>
            </a:prstGeom>
            <a:gradFill flip="none" rotWithShape="1">
              <a:gsLst>
                <a:gs pos="0">
                  <a:srgbClr val="0000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grpSp>
      <p:pic>
        <p:nvPicPr>
          <p:cNvPr id="147" name="Picture 13" descr="Picture 13"/>
          <p:cNvPicPr>
            <a:picLocks noChangeAspect="1"/>
          </p:cNvPicPr>
          <p:nvPr/>
        </p:nvPicPr>
        <p:blipFill>
          <a:blip r:embed="rId2"/>
          <a:stretch>
            <a:fillRect/>
          </a:stretch>
        </p:blipFill>
        <p:spPr>
          <a:xfrm>
            <a:off x="0" y="30044"/>
            <a:ext cx="9144000" cy="6804026"/>
          </a:xfrm>
          <a:prstGeom prst="rect">
            <a:avLst/>
          </a:prstGeom>
          <a:ln w="12700">
            <a:miter lim="400000"/>
          </a:ln>
        </p:spPr>
      </p:pic>
      <p:sp>
        <p:nvSpPr>
          <p:cNvPr id="148" name="Text Box 14"/>
          <p:cNvSpPr txBox="1"/>
          <p:nvPr/>
        </p:nvSpPr>
        <p:spPr>
          <a:xfrm>
            <a:off x="3317557" y="5462587"/>
            <a:ext cx="3270886" cy="447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a:solidFill>
                  <a:srgbClr val="FF6600"/>
                </a:solidFill>
                <a:effectLst>
                  <a:outerShdw blurRad="38100" dist="38100" dir="2700000" rotWithShape="0">
                    <a:srgbClr val="000000">
                      <a:alpha val="43137"/>
                    </a:srgbClr>
                  </a:outerShdw>
                </a:effectLst>
                <a:latin typeface="SimSun"/>
                <a:ea typeface="SimSun"/>
                <a:cs typeface="SimSun"/>
                <a:sym typeface="SimSun"/>
              </a:defRPr>
            </a:lvl1pPr>
          </a:lstStyle>
          <a:p>
            <a:r>
              <a:t>I   am  ENIAC</a:t>
            </a:r>
          </a:p>
        </p:txBody>
      </p:sp>
      <p:sp>
        <p:nvSpPr>
          <p:cNvPr id="149" name="Text Box 4"/>
          <p:cNvSpPr txBox="1"/>
          <p:nvPr/>
        </p:nvSpPr>
        <p:spPr>
          <a:xfrm>
            <a:off x="1014094" y="6092824"/>
            <a:ext cx="7615875" cy="345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2000">
                <a:solidFill>
                  <a:schemeClr val="accent6"/>
                </a:solidFill>
                <a:latin typeface="SimSun"/>
                <a:ea typeface="SimSun"/>
                <a:cs typeface="SimSun"/>
                <a:sym typeface="SimSun"/>
              </a:defRPr>
            </a:pPr>
            <a:r>
              <a:t>1800square feet~12.93x12.93metres  .0002s ~ 5000Hz</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5" presetClass="entr" presetSubtype="9" fill="hold" grpId="1" nodeType="clickEffect">
                                  <p:stCondLst>
                                    <p:cond delay="0"/>
                                  </p:stCondLst>
                                  <p:iterate>
                                    <p:tmAbs val="0"/>
                                  </p:iterate>
                                  <p:childTnLst>
                                    <p:set>
                                      <p:cBhvr>
                                        <p:cTn id="6" fill="hold"/>
                                        <p:tgtEl>
                                          <p:spTgt spid="148"/>
                                        </p:tgtEl>
                                        <p:attrNameLst>
                                          <p:attrName>style.visibility</p:attrName>
                                        </p:attrNameLst>
                                      </p:cBhvr>
                                      <p:to>
                                        <p:strVal val="visible"/>
                                      </p:to>
                                    </p:set>
                                    <p:anim calcmode="lin" valueType="num">
                                      <p:cBhvr>
                                        <p:cTn id="7" dur="1000" fill="hold"/>
                                        <p:tgtEl>
                                          <p:spTgt spid="148"/>
                                        </p:tgtEl>
                                        <p:attrNameLst>
                                          <p:attrName>ppt_w</p:attrName>
                                        </p:attrNameLst>
                                      </p:cBhvr>
                                      <p:tavLst>
                                        <p:tav tm="0">
                                          <p:val>
                                            <p:fltVal val="0"/>
                                          </p:val>
                                        </p:tav>
                                        <p:tav tm="100000">
                                          <p:val>
                                            <p:strVal val="#ppt_w"/>
                                          </p:val>
                                        </p:tav>
                                      </p:tavLst>
                                    </p:anim>
                                    <p:anim calcmode="lin" valueType="num">
                                      <p:cBhvr>
                                        <p:cTn id="8" dur="1000" fill="hold"/>
                                        <p:tgtEl>
                                          <p:spTgt spid="148"/>
                                        </p:tgtEl>
                                        <p:attrNameLst>
                                          <p:attrName>ppt_h</p:attrName>
                                        </p:attrNameLst>
                                      </p:cBhvr>
                                      <p:tavLst>
                                        <p:tav tm="0">
                                          <p:val>
                                            <p:fltVal val="0"/>
                                          </p:val>
                                        </p:tav>
                                        <p:tav tm="100000">
                                          <p:val>
                                            <p:strVal val="#ppt_h"/>
                                          </p:val>
                                        </p:tav>
                                      </p:tavLst>
                                    </p:anim>
                                    <p:anim calcmode="lin" valueType="num">
                                      <p:cBhvr>
                                        <p:cTn id="9" dur="1000" fill="hold"/>
                                        <p:tgtEl>
                                          <p:spTgt spid="14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4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2" nodeType="clickEffect">
                                  <p:stCondLst>
                                    <p:cond delay="0"/>
                                  </p:stCondLst>
                                  <p:iterate>
                                    <p:tmAbs val="0"/>
                                  </p:iterate>
                                  <p:childTnLst>
                                    <p:set>
                                      <p:cBhvr>
                                        <p:cTn id="14" fill="hold"/>
                                        <p:tgtEl>
                                          <p:spTgt spid="149"/>
                                        </p:tgtEl>
                                        <p:attrNameLst>
                                          <p:attrName>style.visibility</p:attrName>
                                        </p:attrNameLst>
                                      </p:cBhvr>
                                      <p:to>
                                        <p:strVal val="visible"/>
                                      </p:to>
                                    </p:set>
                                    <p:anim calcmode="lin" valueType="num">
                                      <p:cBhvr>
                                        <p:cTn id="15" dur="500" fill="hold"/>
                                        <p:tgtEl>
                                          <p:spTgt spid="149"/>
                                        </p:tgtEl>
                                        <p:attrNameLst>
                                          <p:attrName>ppt_x</p:attrName>
                                        </p:attrNameLst>
                                      </p:cBhvr>
                                      <p:tavLst>
                                        <p:tav tm="0">
                                          <p:val>
                                            <p:strVal val="#ppt_x"/>
                                          </p:val>
                                        </p:tav>
                                        <p:tav tm="100000">
                                          <p:val>
                                            <p:strVal val="#ppt_x"/>
                                          </p:val>
                                        </p:tav>
                                      </p:tavLst>
                                    </p:anim>
                                    <p:anim calcmode="lin" valueType="num">
                                      <p:cBhvr>
                                        <p:cTn id="16" dur="500" fill="hold"/>
                                        <p:tgtEl>
                                          <p:spTgt spid="1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1" animBg="1" advAuto="0"/>
      <p:bldP spid="149" grpId="2"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WordArt 2"/>
          <p:cNvSpPr txBox="1"/>
          <p:nvPr/>
        </p:nvSpPr>
        <p:spPr>
          <a:xfrm>
            <a:off x="685800" y="228600"/>
            <a:ext cx="2819400" cy="1066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lnSpcReduction="10000"/>
          </a:bodyPr>
          <a:lstStyle>
            <a:lvl1pPr algn="ctr" defTabSz="530351">
              <a:defRPr sz="4871">
                <a:gradFill flip="none" rotWithShape="1">
                  <a:gsLst>
                    <a:gs pos="0">
                      <a:srgbClr val="FFE701"/>
                    </a:gs>
                    <a:gs pos="100000">
                      <a:srgbClr val="FE3E02"/>
                    </a:gs>
                  </a:gsLst>
                  <a:lin ang="5400000" scaled="0"/>
                </a:gradFill>
                <a:effectLst>
                  <a:outerShdw blurRad="22098" dist="22098" dir="2700000" rotWithShape="0">
                    <a:srgbClr val="000000">
                      <a:alpha val="43137"/>
                    </a:srgbClr>
                  </a:outerShdw>
                </a:effectLst>
                <a:latin typeface="SimSun"/>
                <a:ea typeface="SimSun"/>
                <a:cs typeface="SimSun"/>
                <a:sym typeface="SimSun"/>
              </a:defRPr>
            </a:lvl1pPr>
          </a:lstStyle>
          <a:p>
            <a:r>
              <a:t>Who's who</a:t>
            </a:r>
          </a:p>
        </p:txBody>
      </p:sp>
      <p:sp>
        <p:nvSpPr>
          <p:cNvPr id="152" name="Text Box 3"/>
          <p:cNvSpPr txBox="1"/>
          <p:nvPr/>
        </p:nvSpPr>
        <p:spPr>
          <a:xfrm>
            <a:off x="3855719" y="136524"/>
            <a:ext cx="4937762" cy="2875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a:latin typeface="SimSun"/>
                <a:ea typeface="SimSun"/>
                <a:cs typeface="SimSun"/>
                <a:sym typeface="SimSun"/>
              </a:defRPr>
            </a:pPr>
            <a:r>
              <a:t>Gottfried Wilhelm von Leibniz(</a:t>
            </a:r>
            <a:r>
              <a:rPr sz="2000"/>
              <a:t>B. 1 July 1646 in Leipzig, Saxony (now Germany); D. 14 Nov 1716 in Hannover, Hanover (now Germany</a:t>
            </a:r>
            <a:r>
              <a:t>)</a:t>
            </a:r>
            <a:endParaRPr sz="3200"/>
          </a:p>
        </p:txBody>
      </p:sp>
      <p:pic>
        <p:nvPicPr>
          <p:cNvPr id="153" name="Picture 6" descr="Picture 6"/>
          <p:cNvPicPr>
            <a:picLocks noChangeAspect="1"/>
          </p:cNvPicPr>
          <p:nvPr/>
        </p:nvPicPr>
        <p:blipFill>
          <a:blip r:embed="rId2"/>
          <a:stretch>
            <a:fillRect/>
          </a:stretch>
        </p:blipFill>
        <p:spPr>
          <a:xfrm>
            <a:off x="73025" y="68263"/>
            <a:ext cx="9036050" cy="6789737"/>
          </a:xfrm>
          <a:prstGeom prst="rect">
            <a:avLst/>
          </a:prstGeom>
          <a:ln w="12700">
            <a:miter lim="400000"/>
          </a:ln>
        </p:spPr>
      </p:pic>
      <p:sp>
        <p:nvSpPr>
          <p:cNvPr id="154" name="Text Box 7"/>
          <p:cNvSpPr txBox="1"/>
          <p:nvPr/>
        </p:nvSpPr>
        <p:spPr>
          <a:xfrm>
            <a:off x="395287" y="228600"/>
            <a:ext cx="3313114" cy="400110"/>
          </a:xfrm>
          <a:prstGeom prst="rect">
            <a:avLst/>
          </a:prstGeom>
          <a:solidFill>
            <a:srgbClr val="F2F2F2"/>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000">
                <a:latin typeface="SimSun"/>
                <a:ea typeface="SimSun"/>
                <a:cs typeface="SimSun"/>
                <a:sym typeface="SimSun"/>
              </a:defRPr>
            </a:lvl1pPr>
          </a:lstStyle>
          <a:p>
            <a:pPr>
              <a:lnSpc>
                <a:spcPct val="100000"/>
              </a:lnSpc>
            </a:pPr>
            <a:r>
              <a:rPr dirty="0"/>
              <a:t>Replacing  a  bad  tube</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WordArt 2"/>
          <p:cNvSpPr txBox="1"/>
          <p:nvPr/>
        </p:nvSpPr>
        <p:spPr>
          <a:xfrm>
            <a:off x="685800" y="228600"/>
            <a:ext cx="2819400" cy="1066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lnSpcReduction="10000"/>
          </a:bodyPr>
          <a:lstStyle>
            <a:lvl1pPr algn="ctr" defTabSz="530351">
              <a:defRPr sz="4871">
                <a:gradFill flip="none" rotWithShape="1">
                  <a:gsLst>
                    <a:gs pos="0">
                      <a:srgbClr val="FFE701"/>
                    </a:gs>
                    <a:gs pos="100000">
                      <a:srgbClr val="FE3E02"/>
                    </a:gs>
                  </a:gsLst>
                  <a:lin ang="5400000" scaled="0"/>
                </a:gradFill>
                <a:effectLst>
                  <a:outerShdw blurRad="22098" dist="22098" dir="2700000" rotWithShape="0">
                    <a:srgbClr val="000000">
                      <a:alpha val="43137"/>
                    </a:srgbClr>
                  </a:outerShdw>
                </a:effectLst>
                <a:latin typeface="SimSun"/>
                <a:ea typeface="SimSun"/>
                <a:cs typeface="SimSun"/>
                <a:sym typeface="SimSun"/>
              </a:defRPr>
            </a:lvl1pPr>
          </a:lstStyle>
          <a:p>
            <a:r>
              <a:t>Who's who</a:t>
            </a:r>
          </a:p>
        </p:txBody>
      </p:sp>
      <p:pic>
        <p:nvPicPr>
          <p:cNvPr id="157" name="Picture 7" descr="Picture 7"/>
          <p:cNvPicPr>
            <a:picLocks noChangeAspect="1"/>
          </p:cNvPicPr>
          <p:nvPr/>
        </p:nvPicPr>
        <p:blipFill>
          <a:blip r:embed="rId2"/>
          <a:stretch>
            <a:fillRect/>
          </a:stretch>
        </p:blipFill>
        <p:spPr>
          <a:xfrm>
            <a:off x="0" y="44450"/>
            <a:ext cx="9036050" cy="6742114"/>
          </a:xfrm>
          <a:prstGeom prst="rect">
            <a:avLst/>
          </a:prstGeom>
          <a:ln w="12700">
            <a:miter lim="400000"/>
          </a:ln>
        </p:spPr>
      </p:pic>
      <p:sp>
        <p:nvSpPr>
          <p:cNvPr id="158" name="Text Box 8"/>
          <p:cNvSpPr txBox="1"/>
          <p:nvPr/>
        </p:nvSpPr>
        <p:spPr>
          <a:xfrm>
            <a:off x="539750" y="333374"/>
            <a:ext cx="3600450" cy="400110"/>
          </a:xfrm>
          <a:prstGeom prst="rect">
            <a:avLst/>
          </a:prstGeom>
          <a:solidFill>
            <a:srgbClr val="F2F2F2"/>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000">
                <a:latin typeface="SimSun"/>
                <a:ea typeface="SimSun"/>
                <a:cs typeface="SimSun"/>
                <a:sym typeface="SimSun"/>
              </a:defRPr>
            </a:lvl1pPr>
          </a:lstStyle>
          <a:p>
            <a:pPr>
              <a:lnSpc>
                <a:spcPct val="100000"/>
              </a:lnSpc>
            </a:pPr>
            <a:r>
              <a:rPr dirty="0"/>
              <a:t>Programming a new program</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Rectangle 2"/>
          <p:cNvSpPr txBox="1"/>
          <p:nvPr/>
        </p:nvSpPr>
        <p:spPr>
          <a:xfrm>
            <a:off x="45719" y="0"/>
            <a:ext cx="9052562" cy="7375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indent="304800">
              <a:lnSpc>
                <a:spcPct val="150000"/>
              </a:lnSpc>
              <a:defRPr sz="3200" b="1">
                <a:solidFill>
                  <a:srgbClr val="000099"/>
                </a:solidFill>
              </a:defRPr>
            </a:pPr>
            <a:r>
              <a:rPr lang="zh-CN" altLang="en-US" dirty="0"/>
              <a:t>◆ </a:t>
            </a:r>
            <a:r>
              <a:rPr lang="en-US" altLang="zh-CN" dirty="0"/>
              <a:t>1.1.1 </a:t>
            </a:r>
            <a:r>
              <a:rPr b="0" dirty="0" err="1">
                <a:effectLst>
                  <a:outerShdw blurRad="38100" dist="38100" dir="2700000" rotWithShape="0">
                    <a:srgbClr val="C0C0C0"/>
                  </a:outerShdw>
                </a:effectLst>
                <a:latin typeface="SimSun"/>
                <a:ea typeface="SimSun"/>
                <a:cs typeface="SimSun"/>
                <a:sym typeface="SimSun"/>
              </a:rPr>
              <a:t>人工管理阶段</a:t>
            </a:r>
            <a:endParaRPr b="0" dirty="0">
              <a:latin typeface="SimSun"/>
              <a:ea typeface="SimSun"/>
              <a:cs typeface="SimSun"/>
              <a:sym typeface="SimSun"/>
            </a:endParaRPr>
          </a:p>
        </p:txBody>
      </p:sp>
      <p:sp>
        <p:nvSpPr>
          <p:cNvPr id="161" name="Rectangle 4"/>
          <p:cNvSpPr txBox="1"/>
          <p:nvPr/>
        </p:nvSpPr>
        <p:spPr>
          <a:xfrm>
            <a:off x="889431" y="804862"/>
            <a:ext cx="9052562" cy="504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342900" indent="-342900" algn="l">
              <a:lnSpc>
                <a:spcPct val="130000"/>
              </a:lnSpc>
              <a:spcBef>
                <a:spcPts val="1400"/>
              </a:spcBef>
              <a:buFont typeface="Arial" panose="020B0604020202020204" pitchFamily="34" charset="0"/>
              <a:buChar char="•"/>
              <a:defRPr sz="2400" b="1"/>
            </a:pPr>
            <a:r>
              <a:rPr b="0" dirty="0" err="1">
                <a:latin typeface="SimSun"/>
                <a:ea typeface="SimSun"/>
                <a:cs typeface="SimSun"/>
                <a:sym typeface="SimSun"/>
              </a:rPr>
              <a:t>数据的逻辑结构和物理结构相同</a:t>
            </a:r>
            <a:endParaRPr lang="en-US" b="0" dirty="0">
              <a:latin typeface="SimSun"/>
              <a:ea typeface="SimSun"/>
              <a:cs typeface="SimSun"/>
              <a:sym typeface="SimSun"/>
            </a:endParaRPr>
          </a:p>
        </p:txBody>
      </p:sp>
      <p:sp>
        <p:nvSpPr>
          <p:cNvPr id="162" name="Rectangle 5"/>
          <p:cNvSpPr txBox="1"/>
          <p:nvPr/>
        </p:nvSpPr>
        <p:spPr>
          <a:xfrm>
            <a:off x="216602" y="1339023"/>
            <a:ext cx="9052562" cy="15949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1071563" lvl="7" indent="350838">
              <a:lnSpc>
                <a:spcPct val="130000"/>
              </a:lnSpc>
              <a:spcBef>
                <a:spcPts val="1400"/>
              </a:spcBef>
              <a:buClr>
                <a:srgbClr val="FF0000"/>
              </a:buClr>
              <a:buFont typeface="Apple Symbols" panose="02000000000000000000" pitchFamily="2" charset="-79"/>
              <a:buChar char="⎼"/>
              <a:defRPr sz="2400" b="1"/>
            </a:pPr>
            <a:r>
              <a:rPr sz="2000" b="0" dirty="0" err="1">
                <a:latin typeface="SimSun"/>
                <a:ea typeface="SimSun"/>
                <a:cs typeface="SimSun"/>
                <a:sym typeface="SimSun"/>
              </a:rPr>
              <a:t>逻辑结构：数据在用户面前所呈现的结构</a:t>
            </a:r>
            <a:r>
              <a:rPr sz="2000" b="0" dirty="0">
                <a:latin typeface="SimSun"/>
                <a:ea typeface="SimSun"/>
                <a:cs typeface="SimSun"/>
                <a:sym typeface="SimSun"/>
              </a:rPr>
              <a:t>。</a:t>
            </a:r>
            <a:endParaRPr sz="2000" b="0" dirty="0">
              <a:latin typeface="SimSong Bold"/>
              <a:ea typeface="SimSong Bold"/>
              <a:cs typeface="SimSong Bold"/>
              <a:sym typeface="SimSong Bold"/>
            </a:endParaRPr>
          </a:p>
          <a:p>
            <a:pPr marL="1071563" indent="350838">
              <a:lnSpc>
                <a:spcPct val="130000"/>
              </a:lnSpc>
              <a:spcBef>
                <a:spcPts val="1400"/>
              </a:spcBef>
              <a:buClr>
                <a:srgbClr val="FF0000"/>
              </a:buClr>
              <a:buFont typeface="Apple Symbols" panose="02000000000000000000" pitchFamily="2" charset="-79"/>
              <a:buChar char="⎼"/>
              <a:defRPr sz="2400" b="1"/>
            </a:pPr>
            <a:r>
              <a:rPr sz="2000" b="0" dirty="0" err="1">
                <a:latin typeface="SimSun"/>
                <a:ea typeface="SimSun"/>
                <a:cs typeface="SimSun"/>
                <a:sym typeface="SimSun"/>
              </a:rPr>
              <a:t>物理结构：数据在物理存储设备上的结构</a:t>
            </a:r>
            <a:r>
              <a:rPr sz="2000" b="0" dirty="0">
                <a:latin typeface="SimSun"/>
                <a:ea typeface="SimSun"/>
                <a:cs typeface="SimSun"/>
                <a:sym typeface="SimSun"/>
              </a:rPr>
              <a:t>。</a:t>
            </a:r>
            <a:endParaRPr lang="en-US" sz="2000" dirty="0">
              <a:latin typeface="SimSong Bold"/>
              <a:ea typeface="SimSong Bold"/>
              <a:cs typeface="SimSun"/>
              <a:sym typeface="SimSong Bold"/>
            </a:endParaRPr>
          </a:p>
          <a:p>
            <a:pPr marL="1071563" lvl="3" indent="0">
              <a:lnSpc>
                <a:spcPct val="130000"/>
              </a:lnSpc>
              <a:spcBef>
                <a:spcPts val="1400"/>
              </a:spcBef>
              <a:buClr>
                <a:srgbClr val="FF0000"/>
              </a:buClr>
              <a:defRPr sz="2400" b="1"/>
            </a:pPr>
            <a:r>
              <a:rPr lang="en-US" sz="2000" b="1" dirty="0">
                <a:latin typeface="SimSong Bold"/>
                <a:ea typeface="SimSong Bold"/>
                <a:cs typeface="SimSun"/>
                <a:sym typeface="SimSong Bold"/>
              </a:rPr>
              <a:t>            </a:t>
            </a:r>
            <a:r>
              <a:rPr sz="2000" b="0" dirty="0">
                <a:latin typeface="SimSun"/>
                <a:ea typeface="SimSun"/>
                <a:cs typeface="SimSun"/>
                <a:sym typeface="SimSun"/>
              </a:rPr>
              <a:t>（</a:t>
            </a:r>
            <a:r>
              <a:rPr sz="2000" b="0" dirty="0" err="1">
                <a:latin typeface="SimSun"/>
                <a:ea typeface="SimSun"/>
                <a:cs typeface="SimSun"/>
                <a:sym typeface="SimSun"/>
              </a:rPr>
              <a:t>存储结构改变就要修改程序</a:t>
            </a:r>
            <a:r>
              <a:rPr sz="2000" b="0" dirty="0">
                <a:latin typeface="SimSun"/>
                <a:ea typeface="SimSun"/>
                <a:cs typeface="SimSun"/>
                <a:sym typeface="SimSun"/>
              </a:rPr>
              <a:t>）</a:t>
            </a:r>
          </a:p>
        </p:txBody>
      </p:sp>
      <p:sp>
        <p:nvSpPr>
          <p:cNvPr id="163" name="Rectangle 6"/>
          <p:cNvSpPr txBox="1"/>
          <p:nvPr/>
        </p:nvSpPr>
        <p:spPr>
          <a:xfrm>
            <a:off x="1476364" y="4044461"/>
            <a:ext cx="8900162" cy="2194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30000"/>
              </a:lnSpc>
              <a:spcBef>
                <a:spcPts val="1400"/>
              </a:spcBef>
              <a:defRPr sz="2400" b="1"/>
            </a:pPr>
            <a:r>
              <a:rPr lang="zh-CN" altLang="en-US" sz="2000" dirty="0"/>
              <a:t>① </a:t>
            </a:r>
            <a:r>
              <a:rPr sz="2000" b="0" dirty="0" err="1">
                <a:latin typeface="SimSun"/>
                <a:ea typeface="SimSun"/>
                <a:cs typeface="SimSun"/>
                <a:sym typeface="SimSun"/>
              </a:rPr>
              <a:t>数据不保存在</a:t>
            </a:r>
            <a:r>
              <a:rPr lang="zh-CN" altLang="en-US" sz="2000" b="0" dirty="0">
                <a:latin typeface="SimSun"/>
                <a:ea typeface="SimSun"/>
                <a:cs typeface="SimSun"/>
                <a:sym typeface="SimSun"/>
              </a:rPr>
              <a:t>计算机</a:t>
            </a:r>
            <a:r>
              <a:rPr sz="2000" b="0" dirty="0" err="1">
                <a:latin typeface="SimSun"/>
                <a:ea typeface="SimSun"/>
                <a:cs typeface="SimSun"/>
                <a:sym typeface="SimSun"/>
              </a:rPr>
              <a:t>中</a:t>
            </a:r>
            <a:r>
              <a:rPr sz="2000" dirty="0"/>
              <a:t>;</a:t>
            </a:r>
            <a:endParaRPr sz="2000" b="0" dirty="0">
              <a:latin typeface="SimSong Bold"/>
              <a:ea typeface="SimSong Bold"/>
              <a:cs typeface="SimSong Bold"/>
              <a:sym typeface="SimSong Bold"/>
            </a:endParaRPr>
          </a:p>
          <a:p>
            <a:pPr>
              <a:lnSpc>
                <a:spcPct val="130000"/>
              </a:lnSpc>
              <a:spcBef>
                <a:spcPts val="1400"/>
              </a:spcBef>
              <a:defRPr sz="2400" b="1"/>
            </a:pPr>
            <a:r>
              <a:rPr lang="zh-CN" altLang="en-US" sz="2000" dirty="0"/>
              <a:t>② </a:t>
            </a:r>
            <a:r>
              <a:rPr sz="2000" b="0" dirty="0" err="1">
                <a:latin typeface="SimSun"/>
                <a:ea typeface="SimSun"/>
                <a:cs typeface="SimSun"/>
                <a:sym typeface="SimSun"/>
              </a:rPr>
              <a:t>没有专用的软件对数据进行管理</a:t>
            </a:r>
            <a:r>
              <a:rPr sz="2000" dirty="0"/>
              <a:t>;</a:t>
            </a:r>
            <a:endParaRPr sz="2000" b="0" dirty="0">
              <a:latin typeface="SimSong Bold"/>
              <a:ea typeface="SimSong Bold"/>
              <a:cs typeface="SimSong Bold"/>
              <a:sym typeface="SimSong Bold"/>
            </a:endParaRPr>
          </a:p>
          <a:p>
            <a:pPr>
              <a:lnSpc>
                <a:spcPct val="130000"/>
              </a:lnSpc>
              <a:spcBef>
                <a:spcPts val="1400"/>
              </a:spcBef>
              <a:defRPr sz="2400" b="1"/>
            </a:pPr>
            <a:r>
              <a:rPr lang="zh-CN" altLang="en-US" sz="2000" dirty="0"/>
              <a:t>③</a:t>
            </a:r>
            <a:r>
              <a:rPr sz="2000" b="0" dirty="0" err="1">
                <a:latin typeface="SimSun"/>
                <a:ea typeface="SimSun"/>
                <a:cs typeface="SimSun"/>
                <a:sym typeface="SimSun"/>
              </a:rPr>
              <a:t>只有程序的概念</a:t>
            </a:r>
            <a:r>
              <a:rPr lang="zh-CN" altLang="en-US" sz="2000" b="0" dirty="0">
                <a:latin typeface="SimSun"/>
                <a:ea typeface="SimSun"/>
                <a:cs typeface="SimSun"/>
                <a:sym typeface="SimSun"/>
              </a:rPr>
              <a:t>，</a:t>
            </a:r>
            <a:r>
              <a:rPr sz="2000" b="0" dirty="0" err="1">
                <a:latin typeface="SimSun"/>
                <a:ea typeface="SimSun"/>
                <a:cs typeface="SimSun"/>
                <a:sym typeface="SimSun"/>
              </a:rPr>
              <a:t>而没有文件的概念</a:t>
            </a:r>
            <a:r>
              <a:rPr lang="zh-CN" altLang="en-US" sz="2000" b="0" dirty="0">
                <a:latin typeface="SimSun"/>
                <a:ea typeface="SimSun"/>
                <a:cs typeface="SimSun"/>
                <a:sym typeface="SimSun"/>
              </a:rPr>
              <a:t>；</a:t>
            </a:r>
            <a:endParaRPr lang="en-US" altLang="zh-CN" sz="2000" b="0" dirty="0">
              <a:latin typeface="SimSun"/>
              <a:ea typeface="SimSun"/>
              <a:cs typeface="SimSun"/>
              <a:sym typeface="SimSun"/>
            </a:endParaRPr>
          </a:p>
          <a:p>
            <a:pPr>
              <a:lnSpc>
                <a:spcPct val="130000"/>
              </a:lnSpc>
              <a:spcBef>
                <a:spcPts val="1400"/>
              </a:spcBef>
              <a:defRPr sz="2400" b="1"/>
            </a:pPr>
            <a:r>
              <a:rPr lang="zh-CN" altLang="en-US" sz="2000" dirty="0"/>
              <a:t>④ </a:t>
            </a:r>
            <a:r>
              <a:rPr sz="2000" b="0" dirty="0" err="1">
                <a:latin typeface="SimSun"/>
                <a:ea typeface="SimSun"/>
                <a:cs typeface="SimSun"/>
                <a:sym typeface="SimSun"/>
              </a:rPr>
              <a:t>数据面向应用</a:t>
            </a:r>
            <a:r>
              <a:rPr lang="zh-CN" altLang="en-US" sz="2000" b="0" dirty="0">
                <a:latin typeface="SimSun"/>
                <a:ea typeface="SimSun"/>
                <a:cs typeface="SimSun"/>
                <a:sym typeface="SimSun"/>
              </a:rPr>
              <a:t>，</a:t>
            </a:r>
            <a:r>
              <a:rPr sz="2000" b="0" dirty="0" err="1">
                <a:latin typeface="SimSun"/>
                <a:ea typeface="SimSun"/>
                <a:cs typeface="SimSun"/>
                <a:sym typeface="SimSun"/>
              </a:rPr>
              <a:t>也就是一组数据只能对应一个程序</a:t>
            </a:r>
            <a:r>
              <a:rPr sz="2000" b="0" dirty="0">
                <a:latin typeface="SimSun"/>
                <a:ea typeface="SimSun"/>
                <a:cs typeface="SimSun"/>
                <a:sym typeface="SimSun"/>
              </a:rPr>
              <a:t>。</a:t>
            </a:r>
          </a:p>
        </p:txBody>
      </p:sp>
      <p:grpSp>
        <p:nvGrpSpPr>
          <p:cNvPr id="166" name="AutoShape 1029">
            <a:hlinkClick r:id="rId2" action="ppaction://hlinksldjump"/>
          </p:cNvPr>
          <p:cNvGrpSpPr/>
          <p:nvPr/>
        </p:nvGrpSpPr>
        <p:grpSpPr>
          <a:xfrm>
            <a:off x="8249439" y="5386256"/>
            <a:ext cx="576391" cy="493167"/>
            <a:chOff x="0" y="0"/>
            <a:chExt cx="576389" cy="493165"/>
          </a:xfrm>
        </p:grpSpPr>
        <p:sp>
          <p:nvSpPr>
            <p:cNvPr id="164" name="形状"/>
            <p:cNvSpPr/>
            <p:nvPr/>
          </p:nvSpPr>
          <p:spPr>
            <a:xfrm rot="10800000" flipH="1">
              <a:off x="0" y="0"/>
              <a:ext cx="576390" cy="493166"/>
            </a:xfrm>
            <a:custGeom>
              <a:avLst/>
              <a:gdLst/>
              <a:ahLst/>
              <a:cxnLst>
                <a:cxn ang="0">
                  <a:pos x="wd2" y="hd2"/>
                </a:cxn>
                <a:cxn ang="5400000">
                  <a:pos x="wd2" y="hd2"/>
                </a:cxn>
                <a:cxn ang="10800000">
                  <a:pos x="wd2" y="hd2"/>
                </a:cxn>
                <a:cxn ang="16200000">
                  <a:pos x="wd2" y="hd2"/>
                </a:cxn>
              </a:cxnLst>
              <a:rect l="0" t="0" r="r" b="b"/>
              <a:pathLst>
                <a:path w="19454" h="21600" extrusionOk="0">
                  <a:moveTo>
                    <a:pt x="0" y="17633"/>
                  </a:moveTo>
                  <a:lnTo>
                    <a:pt x="6483" y="12784"/>
                  </a:lnTo>
                  <a:lnTo>
                    <a:pt x="6483" y="14988"/>
                  </a:lnTo>
                  <a:lnTo>
                    <a:pt x="6483" y="14988"/>
                  </a:lnTo>
                  <a:cubicBezTo>
                    <a:pt x="12345" y="14166"/>
                    <a:pt x="16863" y="12282"/>
                    <a:pt x="18639" y="9919"/>
                  </a:cubicBezTo>
                  <a:cubicBezTo>
                    <a:pt x="21600" y="13858"/>
                    <a:pt x="16254" y="18026"/>
                    <a:pt x="6483" y="19396"/>
                  </a:cubicBezTo>
                  <a:lnTo>
                    <a:pt x="6483" y="21600"/>
                  </a:lnTo>
                  <a:close/>
                  <a:moveTo>
                    <a:pt x="19450" y="12123"/>
                  </a:moveTo>
                  <a:cubicBezTo>
                    <a:pt x="19450" y="7862"/>
                    <a:pt x="10742" y="4408"/>
                    <a:pt x="0" y="4408"/>
                  </a:cubicBezTo>
                  <a:lnTo>
                    <a:pt x="0" y="0"/>
                  </a:lnTo>
                  <a:cubicBezTo>
                    <a:pt x="10742" y="0"/>
                    <a:pt x="19450" y="3454"/>
                    <a:pt x="19450" y="7714"/>
                  </a:cubicBezTo>
                  <a:close/>
                </a:path>
              </a:pathLst>
            </a:custGeom>
            <a:solidFill>
              <a:schemeClr val="accent2"/>
            </a:solidFill>
            <a:ln w="12700" cap="flat">
              <a:noFill/>
              <a:miter lim="400000"/>
            </a:ln>
            <a:effectLst/>
          </p:spPr>
          <p:txBody>
            <a:bodyPr wrap="square" lIns="45719" tIns="45719" rIns="45719" bIns="45719" numCol="1" anchor="ctr">
              <a:noAutofit/>
            </a:bodyPr>
            <a:lstStyle/>
            <a:p>
              <a:pPr>
                <a:defRPr>
                  <a:latin typeface="SimSun"/>
                  <a:ea typeface="SimSun"/>
                  <a:cs typeface="SimSun"/>
                  <a:sym typeface="SimSun"/>
                </a:defRPr>
              </a:pPr>
              <a:endParaRPr/>
            </a:p>
          </p:txBody>
        </p:sp>
        <p:sp>
          <p:nvSpPr>
            <p:cNvPr id="165" name="形状"/>
            <p:cNvSpPr/>
            <p:nvPr/>
          </p:nvSpPr>
          <p:spPr>
            <a:xfrm rot="10800000" flipH="1">
              <a:off x="0" y="216384"/>
              <a:ext cx="576264" cy="27678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14009"/>
                    <a:pt x="11929" y="7855"/>
                    <a:pt x="0" y="7855"/>
                  </a:cubicBezTo>
                  <a:lnTo>
                    <a:pt x="0" y="0"/>
                  </a:lnTo>
                  <a:cubicBezTo>
                    <a:pt x="11929" y="0"/>
                    <a:pt x="21600" y="6154"/>
                    <a:pt x="21600" y="13745"/>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a:defRPr>
                  <a:latin typeface="SimSun"/>
                  <a:ea typeface="SimSun"/>
                  <a:cs typeface="SimSun"/>
                  <a:sym typeface="SimSun"/>
                </a:defRPr>
              </a:pPr>
              <a:endParaRPr/>
            </a:p>
          </p:txBody>
        </p:sp>
      </p:grpSp>
      <p:sp>
        <p:nvSpPr>
          <p:cNvPr id="10" name="左大括号 9">
            <a:extLst>
              <a:ext uri="{FF2B5EF4-FFF2-40B4-BE49-F238E27FC236}">
                <a16:creationId xmlns:a16="http://schemas.microsoft.com/office/drawing/2014/main" id="{9AF234B8-2EF5-E64B-9F51-48408E6D08D6}"/>
              </a:ext>
            </a:extLst>
          </p:cNvPr>
          <p:cNvSpPr/>
          <p:nvPr/>
        </p:nvSpPr>
        <p:spPr bwMode="auto">
          <a:xfrm>
            <a:off x="1050880" y="4132611"/>
            <a:ext cx="359266" cy="2160000"/>
          </a:xfrm>
          <a:prstGeom prst="leftBrace">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dirty="0">
              <a:ln>
                <a:noFill/>
              </a:ln>
              <a:solidFill>
                <a:schemeClr val="tx1"/>
              </a:solidFill>
              <a:effectLst/>
              <a:latin typeface="宋体" pitchFamily="2" charset="-122"/>
              <a:ea typeface="宋体" pitchFamily="2" charset="-122"/>
            </a:endParaRPr>
          </a:p>
        </p:txBody>
      </p:sp>
      <p:sp>
        <p:nvSpPr>
          <p:cNvPr id="13" name="文本框 12">
            <a:extLst>
              <a:ext uri="{FF2B5EF4-FFF2-40B4-BE49-F238E27FC236}">
                <a16:creationId xmlns:a16="http://schemas.microsoft.com/office/drawing/2014/main" id="{1D2D3EB2-876D-D84E-8507-50498FECCF66}"/>
              </a:ext>
            </a:extLst>
          </p:cNvPr>
          <p:cNvSpPr txBox="1"/>
          <p:nvPr/>
        </p:nvSpPr>
        <p:spPr>
          <a:xfrm>
            <a:off x="984663" y="2975433"/>
            <a:ext cx="7516439" cy="5208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lgn="l">
              <a:lnSpc>
                <a:spcPct val="130000"/>
              </a:lnSpc>
              <a:spcBef>
                <a:spcPts val="1400"/>
              </a:spcBef>
              <a:buFont typeface="Arial" panose="020B0604020202020204" pitchFamily="34" charset="0"/>
              <a:buChar char="•"/>
              <a:defRPr sz="2400" b="1"/>
            </a:pPr>
            <a:r>
              <a:rPr lang="zh-CN" altLang="en-US" b="0" dirty="0">
                <a:latin typeface="SimSun"/>
                <a:ea typeface="SimSun"/>
                <a:cs typeface="SimSun"/>
                <a:sym typeface="SimSun"/>
              </a:rPr>
              <a:t>数据的组织方式必须由程序员自行设计与安排</a:t>
            </a:r>
            <a:endParaRPr lang="en-US" altLang="zh-CN" dirty="0"/>
          </a:p>
        </p:txBody>
      </p:sp>
      <p:sp>
        <p:nvSpPr>
          <p:cNvPr id="14" name="文本框 13">
            <a:extLst>
              <a:ext uri="{FF2B5EF4-FFF2-40B4-BE49-F238E27FC236}">
                <a16:creationId xmlns:a16="http://schemas.microsoft.com/office/drawing/2014/main" id="{2584C45F-776D-A240-AB8A-C742BC6F9097}"/>
              </a:ext>
            </a:extLst>
          </p:cNvPr>
          <p:cNvSpPr txBox="1"/>
          <p:nvPr/>
        </p:nvSpPr>
        <p:spPr>
          <a:xfrm>
            <a:off x="984662" y="3517751"/>
            <a:ext cx="7516439" cy="5208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lgn="l">
              <a:lnSpc>
                <a:spcPct val="130000"/>
              </a:lnSpc>
              <a:spcBef>
                <a:spcPts val="1400"/>
              </a:spcBef>
              <a:buFont typeface="Arial" panose="020B0604020202020204" pitchFamily="34" charset="0"/>
              <a:buChar char="•"/>
              <a:defRPr sz="2400" b="1"/>
            </a:pPr>
            <a:r>
              <a:rPr lang="zh-CN" altLang="en-US" b="0" dirty="0">
                <a:latin typeface="SimSun"/>
                <a:ea typeface="SimSun"/>
                <a:cs typeface="SimSun"/>
                <a:sym typeface="SimSun"/>
              </a:rPr>
              <a:t>数据</a:t>
            </a:r>
            <a:r>
              <a:rPr lang="zh-CN" altLang="en-US" dirty="0">
                <a:latin typeface="SimSun"/>
                <a:ea typeface="SimSun"/>
                <a:cs typeface="SimSun"/>
                <a:sym typeface="SimSun"/>
              </a:rPr>
              <a:t>管理的</a:t>
            </a:r>
            <a:r>
              <a:rPr lang="en-US" altLang="zh-CN" dirty="0">
                <a:solidFill>
                  <a:srgbClr val="FF0000"/>
                </a:solidFill>
                <a:latin typeface="SimSun"/>
                <a:ea typeface="SimSun"/>
                <a:cs typeface="SimSun"/>
                <a:sym typeface="SimSun"/>
              </a:rPr>
              <a:t>4</a:t>
            </a:r>
            <a:r>
              <a:rPr lang="zh-CN" altLang="en-US" dirty="0">
                <a:latin typeface="SimSun"/>
                <a:ea typeface="SimSun"/>
                <a:cs typeface="SimSun"/>
                <a:sym typeface="SimSun"/>
              </a:rPr>
              <a:t>个特点</a:t>
            </a:r>
            <a:endParaRPr lang="en-US" altLang="zh-CN" dirty="0"/>
          </a:p>
        </p:txBody>
      </p:sp>
      <p:pic>
        <p:nvPicPr>
          <p:cNvPr id="9" name="图片 8">
            <a:extLst>
              <a:ext uri="{FF2B5EF4-FFF2-40B4-BE49-F238E27FC236}">
                <a16:creationId xmlns:a16="http://schemas.microsoft.com/office/drawing/2014/main" id="{8FA1C02F-96FD-B64F-B9E3-310CB02D114B}"/>
              </a:ext>
            </a:extLst>
          </p:cNvPr>
          <p:cNvPicPr>
            <a:picLocks noChangeAspect="1"/>
          </p:cNvPicPr>
          <p:nvPr/>
        </p:nvPicPr>
        <p:blipFill rotWithShape="1">
          <a:blip r:embed="rId3"/>
          <a:srcRect l="676" t="20973" r="54062" b="13716"/>
          <a:stretch/>
        </p:blipFill>
        <p:spPr>
          <a:xfrm>
            <a:off x="889431" y="3529590"/>
            <a:ext cx="577970" cy="55043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1" nodeType="clickEffect">
                                  <p:stCondLst>
                                    <p:cond delay="0"/>
                                  </p:stCondLst>
                                  <p:iterate>
                                    <p:tmAbs val="0"/>
                                  </p:iterate>
                                  <p:childTnLst>
                                    <p:set>
                                      <p:cBhvr>
                                        <p:cTn id="10" fill="hold"/>
                                        <p:tgtEl>
                                          <p:spTgt spid="162"/>
                                        </p:tgtEl>
                                        <p:attrNameLst>
                                          <p:attrName>style.visibility</p:attrName>
                                        </p:attrNameLst>
                                      </p:cBhvr>
                                      <p:to>
                                        <p:strVal val="visible"/>
                                      </p:to>
                                    </p:set>
                                    <p:animEffect transition="in" filter="blinds(horizontal)">
                                      <p:cBhvr>
                                        <p:cTn id="11" dur="500"/>
                                        <p:tgtEl>
                                          <p:spTgt spid="16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6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 grpId="0" animBg="1"/>
      <p:bldP spid="162" grpId="1" animBg="1" advAuto="0"/>
      <p:bldP spid="163" grpId="0" animBg="1"/>
      <p:bldP spid="10" grpId="0" animBg="1"/>
      <p:bldP spid="13"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 name="Picture 5" descr="Picture 5"/>
          <p:cNvPicPr>
            <a:picLocks noChangeAspect="1"/>
          </p:cNvPicPr>
          <p:nvPr/>
        </p:nvPicPr>
        <p:blipFill>
          <a:blip r:embed="rId2"/>
          <a:stretch>
            <a:fillRect/>
          </a:stretch>
        </p:blipFill>
        <p:spPr>
          <a:xfrm>
            <a:off x="400844" y="941552"/>
            <a:ext cx="8342312" cy="4783139"/>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8" name="Picture 6" descr="Picture 6"/>
          <p:cNvPicPr>
            <a:picLocks noChangeAspect="1"/>
          </p:cNvPicPr>
          <p:nvPr/>
        </p:nvPicPr>
        <p:blipFill>
          <a:blip r:embed="rId2"/>
          <a:stretch>
            <a:fillRect/>
          </a:stretch>
        </p:blipFill>
        <p:spPr>
          <a:xfrm>
            <a:off x="551855" y="1023134"/>
            <a:ext cx="8040290" cy="4985781"/>
          </a:xfrm>
          <a:prstGeom prst="rect">
            <a:avLst/>
          </a:prstGeom>
          <a:ln w="12700">
            <a:solidFill>
              <a:srgbClr val="0000FF"/>
            </a:solidFill>
            <a:miter/>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8" name="Picture 7" descr="Picture 7"/>
          <p:cNvPicPr>
            <a:picLocks noChangeAspect="1"/>
          </p:cNvPicPr>
          <p:nvPr/>
        </p:nvPicPr>
        <p:blipFill>
          <a:blip r:embed="rId2"/>
          <a:stretch>
            <a:fillRect/>
          </a:stretch>
        </p:blipFill>
        <p:spPr>
          <a:xfrm>
            <a:off x="457334" y="544512"/>
            <a:ext cx="4327526" cy="5768975"/>
          </a:xfrm>
          <a:prstGeom prst="rect">
            <a:avLst/>
          </a:prstGeom>
          <a:ln w="12700">
            <a:miter lim="400000"/>
          </a:ln>
        </p:spPr>
      </p:pic>
      <p:pic>
        <p:nvPicPr>
          <p:cNvPr id="11" name="Picture 8" descr="Picture 8">
            <a:extLst>
              <a:ext uri="{FF2B5EF4-FFF2-40B4-BE49-F238E27FC236}">
                <a16:creationId xmlns:a16="http://schemas.microsoft.com/office/drawing/2014/main" id="{9B104720-54E6-1B46-8A86-AF4DC07DBE63}"/>
              </a:ext>
            </a:extLst>
          </p:cNvPr>
          <p:cNvPicPr>
            <a:picLocks noChangeAspect="1"/>
          </p:cNvPicPr>
          <p:nvPr/>
        </p:nvPicPr>
        <p:blipFill>
          <a:blip r:embed="rId3"/>
          <a:stretch>
            <a:fillRect/>
          </a:stretch>
        </p:blipFill>
        <p:spPr>
          <a:xfrm>
            <a:off x="4906514" y="1905917"/>
            <a:ext cx="4106795" cy="3877727"/>
          </a:xfrm>
          <a:prstGeom prst="rect">
            <a:avLst/>
          </a:prstGeom>
          <a:ln w="12700">
            <a:solidFill>
              <a:srgbClr val="0000FF"/>
            </a:solidFill>
            <a:miter/>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Rectangle 2"/>
          <p:cNvSpPr txBox="1"/>
          <p:nvPr/>
        </p:nvSpPr>
        <p:spPr>
          <a:xfrm>
            <a:off x="195150" y="22428"/>
            <a:ext cx="9052562" cy="8263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indent="304800">
              <a:defRPr sz="3200">
                <a:solidFill>
                  <a:srgbClr val="000099"/>
                </a:solidFill>
                <a:effectLst>
                  <a:outerShdw blurRad="38100" dist="38100" dir="2700000" rotWithShape="0">
                    <a:srgbClr val="C0C0C0"/>
                  </a:outerShdw>
                </a:effectLst>
                <a:latin typeface="SimSun"/>
                <a:ea typeface="SimSun"/>
                <a:cs typeface="SimSun"/>
                <a:sym typeface="SimSun"/>
              </a:defRPr>
            </a:pPr>
            <a:r>
              <a:rPr dirty="0"/>
              <a:t>◆ </a:t>
            </a:r>
            <a:r>
              <a:rPr lang="en-US" sz="3200" b="1" dirty="0">
                <a:solidFill>
                  <a:srgbClr val="000099"/>
                </a:solidFill>
                <a:effectLst>
                  <a:outerShdw blurRad="38100" dist="38100" dir="2700000" rotWithShape="0">
                    <a:srgbClr val="C0C0C0"/>
                  </a:outerShdw>
                </a:effectLst>
                <a:latin typeface="SimSun"/>
                <a:ea typeface="SimSun"/>
              </a:rPr>
              <a:t>1.1.2 </a:t>
            </a:r>
            <a:r>
              <a:rPr sz="3200" b="1" dirty="0" err="1">
                <a:solidFill>
                  <a:srgbClr val="000099"/>
                </a:solidFill>
                <a:effectLst>
                  <a:outerShdw blurRad="38100" dist="38100" dir="2700000" rotWithShape="0">
                    <a:srgbClr val="C0C0C0"/>
                  </a:outerShdw>
                </a:effectLst>
                <a:latin typeface="SimSun"/>
                <a:ea typeface="SimSun"/>
              </a:rPr>
              <a:t>文件系统阶段</a:t>
            </a:r>
            <a:endParaRPr sz="2800" dirty="0"/>
          </a:p>
        </p:txBody>
      </p:sp>
      <p:sp>
        <p:nvSpPr>
          <p:cNvPr id="209" name="Rectangle 4"/>
          <p:cNvSpPr txBox="1"/>
          <p:nvPr/>
        </p:nvSpPr>
        <p:spPr>
          <a:xfrm>
            <a:off x="769804" y="2026024"/>
            <a:ext cx="9052562" cy="11277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50000"/>
              </a:lnSpc>
              <a:defRPr sz="2400">
                <a:latin typeface="SimSun"/>
                <a:ea typeface="SimSun"/>
                <a:cs typeface="SimSun"/>
                <a:sym typeface="SimSun"/>
              </a:defRPr>
            </a:pPr>
            <a:r>
              <a:rPr lang="zh-CN" altLang="en-US" b="1" dirty="0"/>
              <a:t>①</a:t>
            </a:r>
            <a:r>
              <a:rPr lang="zh-CN" altLang="en-US" dirty="0"/>
              <a:t> </a:t>
            </a:r>
            <a:r>
              <a:rPr b="1" dirty="0" err="1"/>
              <a:t>数据的逻辑结构和物理结构有一定的区别</a:t>
            </a:r>
            <a:r>
              <a:rPr dirty="0" err="1"/>
              <a:t>，有文</a:t>
            </a:r>
            <a:r>
              <a:rPr lang="zh-CN" altLang="en-US" dirty="0"/>
              <a:t>件   </a:t>
            </a:r>
          </a:p>
          <a:p>
            <a:pPr>
              <a:lnSpc>
                <a:spcPct val="150000"/>
              </a:lnSpc>
              <a:defRPr sz="2400">
                <a:latin typeface="SimSun"/>
                <a:ea typeface="SimSun"/>
                <a:cs typeface="SimSun"/>
                <a:sym typeface="SimSun"/>
              </a:defRPr>
            </a:pPr>
            <a:r>
              <a:rPr lang="zh-CN" altLang="en-US" dirty="0"/>
              <a:t>   系统的存取方法来实现两者间的转换；</a:t>
            </a:r>
          </a:p>
        </p:txBody>
      </p:sp>
      <p:sp>
        <p:nvSpPr>
          <p:cNvPr id="210" name="Rectangle 5"/>
          <p:cNvSpPr txBox="1"/>
          <p:nvPr/>
        </p:nvSpPr>
        <p:spPr>
          <a:xfrm>
            <a:off x="769804" y="3153784"/>
            <a:ext cx="9052562" cy="30650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spcBef>
                <a:spcPts val="1400"/>
              </a:spcBef>
              <a:defRPr sz="2400">
                <a:latin typeface="SimSun"/>
                <a:ea typeface="SimSun"/>
                <a:cs typeface="SimSun"/>
                <a:sym typeface="SimSun"/>
              </a:defRPr>
            </a:pPr>
            <a:r>
              <a:rPr lang="zh-CN" altLang="en-US" b="1" dirty="0"/>
              <a:t>② </a:t>
            </a:r>
            <a:r>
              <a:rPr b="1" dirty="0" err="1"/>
              <a:t>数据</a:t>
            </a:r>
            <a:r>
              <a:rPr lang="zh-CN" altLang="en-US" b="1" dirty="0"/>
              <a:t>以“文件形式”</a:t>
            </a:r>
            <a:r>
              <a:rPr b="1" dirty="0" err="1"/>
              <a:t>长期保存</a:t>
            </a:r>
            <a:r>
              <a:rPr dirty="0" err="1"/>
              <a:t>在外存的磁盘上</a:t>
            </a:r>
            <a:r>
              <a:rPr dirty="0"/>
              <a:t>；</a:t>
            </a:r>
          </a:p>
          <a:p>
            <a:pPr>
              <a:lnSpc>
                <a:spcPct val="150000"/>
              </a:lnSpc>
              <a:spcBef>
                <a:spcPts val="1440"/>
              </a:spcBef>
              <a:defRPr sz="2400">
                <a:latin typeface="SimSun"/>
                <a:ea typeface="SimSun"/>
                <a:cs typeface="SimSun"/>
                <a:sym typeface="SimSun"/>
              </a:defRPr>
            </a:pPr>
            <a:r>
              <a:rPr b="1" dirty="0"/>
              <a:t>③ </a:t>
            </a:r>
            <a:r>
              <a:rPr sz="2400" b="1" dirty="0" err="1">
                <a:latin typeface="SimSun"/>
                <a:ea typeface="SimSun"/>
                <a:cs typeface="SimSun"/>
              </a:rPr>
              <a:t>文件组织已多样化</a:t>
            </a:r>
            <a:r>
              <a:rPr lang="zh-CN" altLang="en-US" sz="2400" dirty="0">
                <a:latin typeface="SimSun"/>
                <a:ea typeface="SimSun"/>
                <a:cs typeface="SimSun"/>
              </a:rPr>
              <a:t>：</a:t>
            </a:r>
            <a:r>
              <a:rPr sz="2400" dirty="0" err="1">
                <a:latin typeface="SimSun"/>
                <a:ea typeface="SimSun"/>
                <a:cs typeface="SimSun"/>
              </a:rPr>
              <a:t>索引文件,链接文件和散列文件等</a:t>
            </a:r>
            <a:r>
              <a:rPr sz="2400" dirty="0">
                <a:latin typeface="SimSun"/>
                <a:ea typeface="SimSun"/>
                <a:cs typeface="SimSun"/>
              </a:rPr>
              <a:t>；</a:t>
            </a:r>
          </a:p>
          <a:p>
            <a:pPr>
              <a:spcBef>
                <a:spcPts val="1400"/>
              </a:spcBef>
              <a:defRPr sz="2400">
                <a:latin typeface="SimSun"/>
                <a:ea typeface="SimSun"/>
                <a:cs typeface="SimSun"/>
                <a:sym typeface="SimSun"/>
              </a:defRPr>
            </a:pPr>
            <a:r>
              <a:rPr b="1" dirty="0"/>
              <a:t>④</a:t>
            </a:r>
            <a:r>
              <a:rPr lang="zh-CN" altLang="en-US" b="1" dirty="0"/>
              <a:t> 数据面向应用</a:t>
            </a:r>
            <a:r>
              <a:rPr lang="zh-CN" altLang="en-US" dirty="0"/>
              <a:t>，</a:t>
            </a:r>
            <a:r>
              <a:rPr lang="zh-CN" altLang="en-US" b="1" dirty="0"/>
              <a:t>不再属于某个特定的程序</a:t>
            </a:r>
            <a:r>
              <a:rPr lang="zh-CN" altLang="en-US" dirty="0"/>
              <a:t>，可以重复使用；</a:t>
            </a:r>
            <a:endParaRPr lang="en-US" b="1" dirty="0"/>
          </a:p>
          <a:p>
            <a:pPr>
              <a:spcBef>
                <a:spcPts val="1400"/>
              </a:spcBef>
              <a:defRPr sz="2400">
                <a:latin typeface="SimSun"/>
                <a:ea typeface="SimSun"/>
                <a:cs typeface="SimSun"/>
                <a:sym typeface="SimSun"/>
              </a:defRPr>
            </a:pPr>
            <a:r>
              <a:rPr b="1" dirty="0"/>
              <a:t>⑤</a:t>
            </a:r>
            <a:r>
              <a:rPr lang="zh-CN" altLang="en-US" b="1" dirty="0"/>
              <a:t> 对数据的访问以记录为单位</a:t>
            </a:r>
            <a:r>
              <a:rPr dirty="0"/>
              <a:t>。</a:t>
            </a:r>
          </a:p>
        </p:txBody>
      </p:sp>
      <p:grpSp>
        <p:nvGrpSpPr>
          <p:cNvPr id="5" name="Group 9">
            <a:extLst>
              <a:ext uri="{FF2B5EF4-FFF2-40B4-BE49-F238E27FC236}">
                <a16:creationId xmlns:a16="http://schemas.microsoft.com/office/drawing/2014/main" id="{4920FEF7-1F05-F64D-AA9A-55E850FA7537}"/>
              </a:ext>
            </a:extLst>
          </p:cNvPr>
          <p:cNvGrpSpPr/>
          <p:nvPr/>
        </p:nvGrpSpPr>
        <p:grpSpPr>
          <a:xfrm>
            <a:off x="-1" y="0"/>
            <a:ext cx="8382001" cy="1371600"/>
            <a:chOff x="0" y="0"/>
            <a:chExt cx="8381999" cy="1371600"/>
          </a:xfrm>
        </p:grpSpPr>
        <p:sp>
          <p:nvSpPr>
            <p:cNvPr id="6" name="Rectangle 10">
              <a:extLst>
                <a:ext uri="{FF2B5EF4-FFF2-40B4-BE49-F238E27FC236}">
                  <a16:creationId xmlns:a16="http://schemas.microsoft.com/office/drawing/2014/main" id="{904389AD-A76E-8046-97FB-EEF5755D8616}"/>
                </a:ext>
              </a:extLst>
            </p:cNvPr>
            <p:cNvSpPr/>
            <p:nvPr/>
          </p:nvSpPr>
          <p:spPr>
            <a:xfrm>
              <a:off x="285220" y="141287"/>
              <a:ext cx="622830" cy="617538"/>
            </a:xfrm>
            <a:prstGeom prst="rect">
              <a:avLst/>
            </a:prstGeom>
            <a:gradFill flip="none" rotWithShape="1">
              <a:gsLst>
                <a:gs pos="0">
                  <a:srgbClr val="0000FF"/>
                </a:gs>
                <a:gs pos="100000">
                  <a:schemeClr val="accent1"/>
                </a:gs>
              </a:gsLst>
              <a:lin ang="54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7" name="Rectangle 11">
              <a:extLst>
                <a:ext uri="{FF2B5EF4-FFF2-40B4-BE49-F238E27FC236}">
                  <a16:creationId xmlns:a16="http://schemas.microsoft.com/office/drawing/2014/main" id="{C4AA08AD-7655-6345-BBD7-32E41387C379}"/>
                </a:ext>
              </a:extLst>
            </p:cNvPr>
            <p:cNvSpPr/>
            <p:nvPr/>
          </p:nvSpPr>
          <p:spPr>
            <a:xfrm>
              <a:off x="406003" y="690562"/>
              <a:ext cx="414735" cy="619126"/>
            </a:xfrm>
            <a:prstGeom prst="rect">
              <a:avLst/>
            </a:prstGeom>
            <a:solidFill>
              <a:srgbClr val="FFFF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8" name="Rectangle 12">
              <a:extLst>
                <a:ext uri="{FF2B5EF4-FFF2-40B4-BE49-F238E27FC236}">
                  <a16:creationId xmlns:a16="http://schemas.microsoft.com/office/drawing/2014/main" id="{920C9316-AA56-8647-AA1E-3E51BAA184F7}"/>
                </a:ext>
              </a:extLst>
            </p:cNvPr>
            <p:cNvSpPr/>
            <p:nvPr/>
          </p:nvSpPr>
          <p:spPr>
            <a:xfrm>
              <a:off x="769805" y="690562"/>
              <a:ext cx="360892" cy="619126"/>
            </a:xfrm>
            <a:prstGeom prst="rect">
              <a:avLst/>
            </a:prstGeom>
            <a:gradFill flip="none" rotWithShape="1">
              <a:gsLst>
                <a:gs pos="0">
                  <a:srgbClr val="FFFF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9" name="Rectangle 13">
              <a:extLst>
                <a:ext uri="{FF2B5EF4-FFF2-40B4-BE49-F238E27FC236}">
                  <a16:creationId xmlns:a16="http://schemas.microsoft.com/office/drawing/2014/main" id="{E5B8D88A-1F06-6B4F-90F3-3F8710B56293}"/>
                </a:ext>
              </a:extLst>
            </p:cNvPr>
            <p:cNvSpPr/>
            <p:nvPr/>
          </p:nvSpPr>
          <p:spPr>
            <a:xfrm>
              <a:off x="-1" y="457200"/>
              <a:ext cx="628651" cy="609600"/>
            </a:xfrm>
            <a:prstGeom prst="rect">
              <a:avLst/>
            </a:prstGeom>
            <a:gradFill flip="none" rotWithShape="1">
              <a:gsLst>
                <a:gs pos="0">
                  <a:srgbClr val="0000FF"/>
                </a:gs>
                <a:gs pos="100000">
                  <a:srgbClr val="FF0033"/>
                </a:gs>
              </a:gsLst>
              <a:lin ang="189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0" name="Rectangle 14">
              <a:extLst>
                <a:ext uri="{FF2B5EF4-FFF2-40B4-BE49-F238E27FC236}">
                  <a16:creationId xmlns:a16="http://schemas.microsoft.com/office/drawing/2014/main" id="{6BDC92FE-D9FB-334A-84D9-6BD873E5CC80}"/>
                </a:ext>
              </a:extLst>
            </p:cNvPr>
            <p:cNvSpPr/>
            <p:nvPr/>
          </p:nvSpPr>
          <p:spPr>
            <a:xfrm>
              <a:off x="622829" y="0"/>
              <a:ext cx="32015" cy="1371600"/>
            </a:xfrm>
            <a:prstGeom prst="rect">
              <a:avLst/>
            </a:prstGeom>
            <a:solidFill>
              <a:srgbClr val="0000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1" name="Rectangle 15">
              <a:extLst>
                <a:ext uri="{FF2B5EF4-FFF2-40B4-BE49-F238E27FC236}">
                  <a16:creationId xmlns:a16="http://schemas.microsoft.com/office/drawing/2014/main" id="{A1D9E155-E058-264F-8721-D4D62AA430C1}"/>
                </a:ext>
              </a:extLst>
            </p:cNvPr>
            <p:cNvSpPr/>
            <p:nvPr/>
          </p:nvSpPr>
          <p:spPr>
            <a:xfrm>
              <a:off x="309959" y="1030287"/>
              <a:ext cx="8072041" cy="41276"/>
            </a:xfrm>
            <a:prstGeom prst="rect">
              <a:avLst/>
            </a:prstGeom>
            <a:gradFill flip="none" rotWithShape="1">
              <a:gsLst>
                <a:gs pos="0">
                  <a:srgbClr val="0000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grpSp>
      <p:sp>
        <p:nvSpPr>
          <p:cNvPr id="14" name="文本框 13">
            <a:extLst>
              <a:ext uri="{FF2B5EF4-FFF2-40B4-BE49-F238E27FC236}">
                <a16:creationId xmlns:a16="http://schemas.microsoft.com/office/drawing/2014/main" id="{BE340B43-6203-1744-AC83-6BE2446A5B87}"/>
              </a:ext>
            </a:extLst>
          </p:cNvPr>
          <p:cNvSpPr txBox="1"/>
          <p:nvPr/>
        </p:nvSpPr>
        <p:spPr>
          <a:xfrm>
            <a:off x="769804" y="1510432"/>
            <a:ext cx="7516439" cy="5208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lgn="l">
              <a:lnSpc>
                <a:spcPct val="130000"/>
              </a:lnSpc>
              <a:spcBef>
                <a:spcPts val="1400"/>
              </a:spcBef>
              <a:buFont typeface="Arial" panose="020B0604020202020204" pitchFamily="34" charset="0"/>
              <a:buChar char="•"/>
              <a:defRPr sz="2400" b="1"/>
            </a:pPr>
            <a:r>
              <a:rPr lang="zh-CN" altLang="en-US" b="0" dirty="0">
                <a:latin typeface="SimSun"/>
                <a:ea typeface="SimSun"/>
                <a:cs typeface="SimSun"/>
                <a:sym typeface="SimSun"/>
              </a:rPr>
              <a:t>数据</a:t>
            </a:r>
            <a:r>
              <a:rPr lang="zh-CN" altLang="en-US" dirty="0">
                <a:latin typeface="SimSun"/>
                <a:ea typeface="SimSun"/>
                <a:cs typeface="SimSun"/>
                <a:sym typeface="SimSun"/>
              </a:rPr>
              <a:t>管理的</a:t>
            </a:r>
            <a:r>
              <a:rPr lang="en-US" altLang="zh-CN" dirty="0">
                <a:solidFill>
                  <a:srgbClr val="FF0000"/>
                </a:solidFill>
                <a:latin typeface="SimSun"/>
                <a:ea typeface="SimSun"/>
                <a:cs typeface="SimSun"/>
                <a:sym typeface="SimSun"/>
              </a:rPr>
              <a:t>5</a:t>
            </a:r>
            <a:r>
              <a:rPr lang="zh-CN" altLang="en-US" dirty="0">
                <a:latin typeface="SimSun"/>
                <a:ea typeface="SimSun"/>
                <a:cs typeface="SimSun"/>
                <a:sym typeface="SimSun"/>
              </a:rPr>
              <a:t>个特点</a:t>
            </a:r>
            <a:endParaRPr lang="en-US" altLang="zh-CN" dirty="0"/>
          </a:p>
        </p:txBody>
      </p:sp>
      <p:pic>
        <p:nvPicPr>
          <p:cNvPr id="13" name="图片 12">
            <a:extLst>
              <a:ext uri="{FF2B5EF4-FFF2-40B4-BE49-F238E27FC236}">
                <a16:creationId xmlns:a16="http://schemas.microsoft.com/office/drawing/2014/main" id="{945E9DE8-E58A-D440-AD8A-3F46C22A72D6}"/>
              </a:ext>
            </a:extLst>
          </p:cNvPr>
          <p:cNvPicPr>
            <a:picLocks noChangeAspect="1"/>
          </p:cNvPicPr>
          <p:nvPr/>
        </p:nvPicPr>
        <p:blipFill rotWithShape="1">
          <a:blip r:embed="rId2"/>
          <a:srcRect l="676" t="20973" r="54062" b="13716"/>
          <a:stretch/>
        </p:blipFill>
        <p:spPr>
          <a:xfrm>
            <a:off x="604497" y="1510432"/>
            <a:ext cx="577970" cy="550431"/>
          </a:xfrm>
          <a:prstGeom prst="rect">
            <a:avLst/>
          </a:prstGeom>
        </p:spPr>
      </p:pic>
      <p:sp>
        <p:nvSpPr>
          <p:cNvPr id="15" name="左大括号 14">
            <a:extLst>
              <a:ext uri="{FF2B5EF4-FFF2-40B4-BE49-F238E27FC236}">
                <a16:creationId xmlns:a16="http://schemas.microsoft.com/office/drawing/2014/main" id="{A97F2904-DF86-4045-BC9C-143B6F164ED5}"/>
              </a:ext>
            </a:extLst>
          </p:cNvPr>
          <p:cNvSpPr/>
          <p:nvPr/>
        </p:nvSpPr>
        <p:spPr bwMode="auto">
          <a:xfrm>
            <a:off x="285219" y="2244016"/>
            <a:ext cx="484585" cy="3953503"/>
          </a:xfrm>
          <a:prstGeom prst="leftBrace">
            <a:avLst>
              <a:gd name="adj1" fmla="val 0"/>
              <a:gd name="adj2" fmla="val 49725"/>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dirty="0">
              <a:ln>
                <a:noFill/>
              </a:ln>
              <a:solidFill>
                <a:schemeClr val="tx1"/>
              </a:solidFill>
              <a:effectLst/>
              <a:latin typeface="宋体" pitchFamily="2" charset="-122"/>
              <a:ea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3" presetClass="entr" presetSubtype="10" fill="hold" grpId="1" nodeType="clickEffect">
                                  <p:stCondLst>
                                    <p:cond delay="0"/>
                                  </p:stCondLst>
                                  <p:iterate>
                                    <p:tmAbs val="0"/>
                                  </p:iterate>
                                  <p:childTnLst>
                                    <p:set>
                                      <p:cBhvr>
                                        <p:cTn id="6" fill="hold"/>
                                        <p:tgtEl>
                                          <p:spTgt spid="210"/>
                                        </p:tgtEl>
                                        <p:attrNameLst>
                                          <p:attrName>style.visibility</p:attrName>
                                        </p:attrNameLst>
                                      </p:cBhvr>
                                      <p:to>
                                        <p:strVal val="visible"/>
                                      </p:to>
                                    </p:set>
                                    <p:animEffect transition="in" filter="blinds(horizontal)">
                                      <p:cBhvr>
                                        <p:cTn id="7" dur="500"/>
                                        <p:tgtEl>
                                          <p:spTgt spid="210"/>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1" animBg="1" advAuto="0"/>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Rectangle 2"/>
          <p:cNvSpPr txBox="1"/>
          <p:nvPr/>
        </p:nvSpPr>
        <p:spPr>
          <a:xfrm>
            <a:off x="426719" y="533400"/>
            <a:ext cx="8293948" cy="22740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nSpc>
                <a:spcPct val="200000"/>
              </a:lnSpc>
              <a:spcBef>
                <a:spcPts val="2400"/>
              </a:spcBef>
              <a:defRPr sz="4000">
                <a:solidFill>
                  <a:srgbClr val="000099"/>
                </a:solidFill>
                <a:latin typeface="SimSun"/>
                <a:ea typeface="SimSun"/>
                <a:cs typeface="SimSun"/>
                <a:sym typeface="SimSun"/>
              </a:defRPr>
            </a:pPr>
            <a:r>
              <a:rPr dirty="0" err="1"/>
              <a:t>文件系统的三个缺陷</a:t>
            </a:r>
            <a:r>
              <a:rPr dirty="0"/>
              <a:t>：</a:t>
            </a:r>
          </a:p>
          <a:p>
            <a:pPr>
              <a:lnSpc>
                <a:spcPct val="200000"/>
              </a:lnSpc>
              <a:spcBef>
                <a:spcPts val="1900"/>
              </a:spcBef>
              <a:defRPr>
                <a:latin typeface="SimSun"/>
                <a:ea typeface="SimSun"/>
                <a:cs typeface="SimSun"/>
                <a:sym typeface="SimSun"/>
              </a:defRPr>
            </a:pPr>
            <a:r>
              <a:rPr dirty="0"/>
              <a:t>                     </a:t>
            </a:r>
            <a:r>
              <a:rPr lang="en-US" dirty="0"/>
              <a:t>      </a:t>
            </a:r>
            <a:r>
              <a:rPr dirty="0"/>
              <a:t> </a:t>
            </a:r>
          </a:p>
        </p:txBody>
      </p:sp>
      <p:grpSp>
        <p:nvGrpSpPr>
          <p:cNvPr id="215" name="AutoShape 5">
            <a:hlinkClick r:id="rId3" action="ppaction://hlinksldjump"/>
          </p:cNvPr>
          <p:cNvGrpSpPr/>
          <p:nvPr/>
        </p:nvGrpSpPr>
        <p:grpSpPr>
          <a:xfrm>
            <a:off x="8388349" y="6034352"/>
            <a:ext cx="576391" cy="634736"/>
            <a:chOff x="0" y="0"/>
            <a:chExt cx="576389" cy="634735"/>
          </a:xfrm>
        </p:grpSpPr>
        <p:sp>
          <p:nvSpPr>
            <p:cNvPr id="213" name="形状"/>
            <p:cNvSpPr/>
            <p:nvPr/>
          </p:nvSpPr>
          <p:spPr>
            <a:xfrm rot="10800000" flipH="1">
              <a:off x="0" y="0"/>
              <a:ext cx="576390" cy="634736"/>
            </a:xfrm>
            <a:custGeom>
              <a:avLst/>
              <a:gdLst/>
              <a:ahLst/>
              <a:cxnLst>
                <a:cxn ang="0">
                  <a:pos x="wd2" y="hd2"/>
                </a:cxn>
                <a:cxn ang="5400000">
                  <a:pos x="wd2" y="hd2"/>
                </a:cxn>
                <a:cxn ang="10800000">
                  <a:pos x="wd2" y="hd2"/>
                </a:cxn>
                <a:cxn ang="16200000">
                  <a:pos x="wd2" y="hd2"/>
                </a:cxn>
              </a:cxnLst>
              <a:rect l="0" t="0" r="r" b="b"/>
              <a:pathLst>
                <a:path w="19454" h="21600" extrusionOk="0">
                  <a:moveTo>
                    <a:pt x="0" y="17633"/>
                  </a:moveTo>
                  <a:lnTo>
                    <a:pt x="6483" y="12783"/>
                  </a:lnTo>
                  <a:lnTo>
                    <a:pt x="6483" y="14988"/>
                  </a:lnTo>
                  <a:cubicBezTo>
                    <a:pt x="12345" y="14166"/>
                    <a:pt x="16863" y="12282"/>
                    <a:pt x="18639" y="9918"/>
                  </a:cubicBezTo>
                  <a:cubicBezTo>
                    <a:pt x="21600" y="13858"/>
                    <a:pt x="16254" y="18026"/>
                    <a:pt x="6483" y="19396"/>
                  </a:cubicBezTo>
                  <a:lnTo>
                    <a:pt x="6483" y="21600"/>
                  </a:lnTo>
                  <a:close/>
                  <a:moveTo>
                    <a:pt x="19450" y="12123"/>
                  </a:moveTo>
                  <a:cubicBezTo>
                    <a:pt x="19450" y="7862"/>
                    <a:pt x="10742" y="4408"/>
                    <a:pt x="0" y="4408"/>
                  </a:cubicBezTo>
                  <a:lnTo>
                    <a:pt x="0" y="0"/>
                  </a:lnTo>
                  <a:cubicBezTo>
                    <a:pt x="10742" y="0"/>
                    <a:pt x="19450" y="3454"/>
                    <a:pt x="19450" y="7714"/>
                  </a:cubicBezTo>
                  <a:close/>
                </a:path>
              </a:pathLst>
            </a:custGeom>
            <a:solidFill>
              <a:schemeClr val="accent2"/>
            </a:solidFill>
            <a:ln w="12700" cap="flat">
              <a:noFill/>
              <a:miter lim="400000"/>
            </a:ln>
            <a:effectLst/>
          </p:spPr>
          <p:txBody>
            <a:bodyPr wrap="square" lIns="45719" tIns="45719" rIns="45719" bIns="45719" numCol="1" anchor="ctr">
              <a:noAutofit/>
            </a:bodyPr>
            <a:lstStyle/>
            <a:p>
              <a:pPr>
                <a:defRPr>
                  <a:latin typeface="SimSun"/>
                  <a:ea typeface="SimSun"/>
                  <a:cs typeface="SimSun"/>
                  <a:sym typeface="SimSun"/>
                </a:defRPr>
              </a:pPr>
              <a:endParaRPr/>
            </a:p>
          </p:txBody>
        </p:sp>
        <p:sp>
          <p:nvSpPr>
            <p:cNvPr id="214" name="形状"/>
            <p:cNvSpPr/>
            <p:nvPr/>
          </p:nvSpPr>
          <p:spPr>
            <a:xfrm rot="10800000" flipH="1">
              <a:off x="0" y="278502"/>
              <a:ext cx="576264" cy="356234"/>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14009"/>
                    <a:pt x="11929" y="7854"/>
                    <a:pt x="0" y="7854"/>
                  </a:cubicBezTo>
                  <a:lnTo>
                    <a:pt x="0" y="0"/>
                  </a:lnTo>
                  <a:cubicBezTo>
                    <a:pt x="11929" y="0"/>
                    <a:pt x="21600" y="6154"/>
                    <a:pt x="21600" y="13746"/>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a:defRPr>
                  <a:latin typeface="SimSun"/>
                  <a:ea typeface="SimSun"/>
                  <a:cs typeface="SimSun"/>
                  <a:sym typeface="SimSun"/>
                </a:defRPr>
              </a:pPr>
              <a:endParaRPr/>
            </a:p>
          </p:txBody>
        </p:sp>
      </p:grpSp>
      <p:sp>
        <p:nvSpPr>
          <p:cNvPr id="2" name="圆柱体 1">
            <a:extLst>
              <a:ext uri="{FF2B5EF4-FFF2-40B4-BE49-F238E27FC236}">
                <a16:creationId xmlns:a16="http://schemas.microsoft.com/office/drawing/2014/main" id="{827E43F0-5089-264B-AF6C-F71F2193D86F}"/>
              </a:ext>
            </a:extLst>
          </p:cNvPr>
          <p:cNvSpPr/>
          <p:nvPr/>
        </p:nvSpPr>
        <p:spPr>
          <a:xfrm>
            <a:off x="2345634" y="2239617"/>
            <a:ext cx="2239617" cy="3670853"/>
          </a:xfrm>
          <a:prstGeom prst="can">
            <a:avLst/>
          </a:prstGeom>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endParaRPr kumimoji="0" lang="zh-CN" altLang="en-US" sz="2800" b="0" i="0" u="none" strike="noStrike" cap="none" spc="0" normalizeH="0" baseline="0">
              <a:ln>
                <a:noFill/>
              </a:ln>
              <a:solidFill>
                <a:srgbClr val="000000"/>
              </a:solidFill>
              <a:effectLst/>
              <a:uFillTx/>
              <a:latin typeface="+mn-lt"/>
              <a:ea typeface="+mn-ea"/>
              <a:cs typeface="+mn-cs"/>
              <a:sym typeface="Times New Roman"/>
            </a:endParaRPr>
          </a:p>
        </p:txBody>
      </p:sp>
      <p:sp>
        <p:nvSpPr>
          <p:cNvPr id="3" name="矩形 2">
            <a:extLst>
              <a:ext uri="{FF2B5EF4-FFF2-40B4-BE49-F238E27FC236}">
                <a16:creationId xmlns:a16="http://schemas.microsoft.com/office/drawing/2014/main" id="{B994C3FE-A948-3441-A63E-ECBE778CC7BC}"/>
              </a:ext>
            </a:extLst>
          </p:cNvPr>
          <p:cNvSpPr/>
          <p:nvPr/>
        </p:nvSpPr>
        <p:spPr>
          <a:xfrm>
            <a:off x="3723859" y="3207115"/>
            <a:ext cx="755374" cy="867928"/>
          </a:xfrm>
          <a:prstGeom prst="rect">
            <a:avLst/>
          </a:prstGeom>
          <a:solidFill>
            <a:srgbClr val="FFFFFF"/>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80000"/>
              </a:lnSpc>
              <a:spcBef>
                <a:spcPts val="0"/>
              </a:spcBef>
              <a:spcAft>
                <a:spcPts val="0"/>
              </a:spcAft>
              <a:buClrTx/>
              <a:buSzTx/>
              <a:buFontTx/>
              <a:buNone/>
              <a:tabLst/>
            </a:pPr>
            <a:r>
              <a:rPr kumimoji="0" lang="en-US" altLang="zh-CN" sz="2800" b="0" i="0" u="none" strike="noStrike" cap="none" spc="0" normalizeH="0" baseline="0" dirty="0">
                <a:ln>
                  <a:noFill/>
                </a:ln>
                <a:solidFill>
                  <a:srgbClr val="000000"/>
                </a:solidFill>
                <a:effectLst/>
                <a:uFillTx/>
                <a:latin typeface="+mn-lt"/>
                <a:ea typeface="+mn-ea"/>
                <a:cs typeface="+mn-cs"/>
                <a:sym typeface="Times New Roman"/>
              </a:rPr>
              <a:t>o</a:t>
            </a:r>
            <a:endParaRPr kumimoji="0" lang="zh-CN" altLang="en-US" sz="2800" b="0" i="0" u="none" strike="noStrike" cap="none" spc="0" normalizeH="0" baseline="0" dirty="0">
              <a:ln>
                <a:noFill/>
              </a:ln>
              <a:solidFill>
                <a:srgbClr val="000000"/>
              </a:solidFill>
              <a:effectLst/>
              <a:uFillTx/>
              <a:latin typeface="+mn-lt"/>
              <a:ea typeface="+mn-ea"/>
              <a:cs typeface="+mn-cs"/>
              <a:sym typeface="Times New Roman"/>
            </a:endParaRPr>
          </a:p>
        </p:txBody>
      </p:sp>
      <p:sp>
        <p:nvSpPr>
          <p:cNvPr id="9" name="矩形 8">
            <a:extLst>
              <a:ext uri="{FF2B5EF4-FFF2-40B4-BE49-F238E27FC236}">
                <a16:creationId xmlns:a16="http://schemas.microsoft.com/office/drawing/2014/main" id="{38EFD08D-0137-0048-A334-0C6813AE4948}"/>
              </a:ext>
            </a:extLst>
          </p:cNvPr>
          <p:cNvSpPr/>
          <p:nvPr/>
        </p:nvSpPr>
        <p:spPr>
          <a:xfrm>
            <a:off x="3710607" y="4404361"/>
            <a:ext cx="755374" cy="867928"/>
          </a:xfrm>
          <a:prstGeom prst="rect">
            <a:avLst/>
          </a:prstGeom>
          <a:solidFill>
            <a:srgbClr val="FFFFFF"/>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80000"/>
              </a:lnSpc>
              <a:spcBef>
                <a:spcPts val="0"/>
              </a:spcBef>
              <a:spcAft>
                <a:spcPts val="0"/>
              </a:spcAft>
              <a:buClrTx/>
              <a:buSzTx/>
              <a:buFontTx/>
              <a:buNone/>
              <a:tabLst/>
            </a:pPr>
            <a:r>
              <a:rPr kumimoji="0" lang="en-US" altLang="zh-CN" sz="2800" b="0" i="0" u="none" strike="noStrike" cap="none" spc="0" normalizeH="0" baseline="0" dirty="0">
                <a:ln>
                  <a:noFill/>
                </a:ln>
                <a:solidFill>
                  <a:srgbClr val="000000"/>
                </a:solidFill>
                <a:effectLst/>
                <a:uFillTx/>
                <a:latin typeface="+mn-lt"/>
                <a:ea typeface="+mn-ea"/>
                <a:cs typeface="+mn-cs"/>
                <a:sym typeface="Times New Roman"/>
              </a:rPr>
              <a:t>o</a:t>
            </a:r>
            <a:endParaRPr kumimoji="0" lang="zh-CN" altLang="en-US" sz="2800" b="0" i="0" u="none" strike="noStrike" cap="none" spc="0" normalizeH="0" baseline="0" dirty="0">
              <a:ln>
                <a:noFill/>
              </a:ln>
              <a:solidFill>
                <a:srgbClr val="000000"/>
              </a:solidFill>
              <a:effectLst/>
              <a:uFillTx/>
              <a:latin typeface="+mn-lt"/>
              <a:ea typeface="+mn-ea"/>
              <a:cs typeface="+mn-cs"/>
              <a:sym typeface="Times New Roman"/>
            </a:endParaRPr>
          </a:p>
        </p:txBody>
      </p:sp>
      <p:sp>
        <p:nvSpPr>
          <p:cNvPr id="10" name="矩形 9">
            <a:extLst>
              <a:ext uri="{FF2B5EF4-FFF2-40B4-BE49-F238E27FC236}">
                <a16:creationId xmlns:a16="http://schemas.microsoft.com/office/drawing/2014/main" id="{6B0EB046-A0BC-F348-AA4B-23BCBE9171E3}"/>
              </a:ext>
            </a:extLst>
          </p:cNvPr>
          <p:cNvSpPr/>
          <p:nvPr/>
        </p:nvSpPr>
        <p:spPr>
          <a:xfrm>
            <a:off x="2464902" y="3855523"/>
            <a:ext cx="755374" cy="867928"/>
          </a:xfrm>
          <a:prstGeom prst="rect">
            <a:avLst/>
          </a:prstGeom>
          <a:solidFill>
            <a:srgbClr val="FFFFFF"/>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80000"/>
              </a:lnSpc>
              <a:spcBef>
                <a:spcPts val="0"/>
              </a:spcBef>
              <a:spcAft>
                <a:spcPts val="0"/>
              </a:spcAft>
              <a:buClrTx/>
              <a:buSzTx/>
              <a:buFontTx/>
              <a:buNone/>
              <a:tabLst/>
            </a:pPr>
            <a:r>
              <a:rPr kumimoji="0" lang="en-US" altLang="zh-CN" sz="2800" b="0" i="0" u="none" strike="noStrike" cap="none" spc="0" normalizeH="0" baseline="0" dirty="0">
                <a:ln>
                  <a:noFill/>
                </a:ln>
                <a:solidFill>
                  <a:srgbClr val="000000"/>
                </a:solidFill>
                <a:effectLst/>
                <a:uFillTx/>
                <a:latin typeface="+mn-lt"/>
                <a:ea typeface="+mn-ea"/>
                <a:cs typeface="+mn-cs"/>
                <a:sym typeface="Times New Roman"/>
              </a:rPr>
              <a:t>o</a:t>
            </a:r>
            <a:endParaRPr kumimoji="0" lang="zh-CN" altLang="en-US" sz="2800" b="0" i="0" u="none" strike="noStrike" cap="none" spc="0" normalizeH="0" baseline="0" dirty="0">
              <a:ln>
                <a:noFill/>
              </a:ln>
              <a:solidFill>
                <a:srgbClr val="000000"/>
              </a:solidFill>
              <a:effectLst/>
              <a:uFillTx/>
              <a:latin typeface="+mn-lt"/>
              <a:ea typeface="+mn-ea"/>
              <a:cs typeface="+mn-cs"/>
              <a:sym typeface="Times New Roman"/>
            </a:endParaRPr>
          </a:p>
        </p:txBody>
      </p:sp>
      <p:cxnSp>
        <p:nvCxnSpPr>
          <p:cNvPr id="6" name="直线连接符 5">
            <a:extLst>
              <a:ext uri="{FF2B5EF4-FFF2-40B4-BE49-F238E27FC236}">
                <a16:creationId xmlns:a16="http://schemas.microsoft.com/office/drawing/2014/main" id="{16F6306E-61F8-AC43-A320-C389067EC849}"/>
              </a:ext>
            </a:extLst>
          </p:cNvPr>
          <p:cNvCxnSpPr/>
          <p:nvPr/>
        </p:nvCxnSpPr>
        <p:spPr>
          <a:xfrm>
            <a:off x="2040833" y="3429000"/>
            <a:ext cx="1669774" cy="0"/>
          </a:xfrm>
          <a:prstGeom prst="line">
            <a:avLst/>
          </a:prstGeom>
          <a:noFill/>
          <a:ln w="12700" cap="flat">
            <a:solidFill>
              <a:schemeClr val="accent1"/>
            </a:solidFill>
            <a:prstDash val="solid"/>
            <a:round/>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3" name="直线连接符 12">
            <a:extLst>
              <a:ext uri="{FF2B5EF4-FFF2-40B4-BE49-F238E27FC236}">
                <a16:creationId xmlns:a16="http://schemas.microsoft.com/office/drawing/2014/main" id="{7211783B-DB46-AA4A-AE02-6ED35CEBCED2}"/>
              </a:ext>
            </a:extLst>
          </p:cNvPr>
          <p:cNvCxnSpPr>
            <a:cxnSpLocks/>
          </p:cNvCxnSpPr>
          <p:nvPr/>
        </p:nvCxnSpPr>
        <p:spPr>
          <a:xfrm>
            <a:off x="2054085" y="4959626"/>
            <a:ext cx="1669774" cy="0"/>
          </a:xfrm>
          <a:prstGeom prst="line">
            <a:avLst/>
          </a:prstGeom>
          <a:noFill/>
          <a:ln w="12700" cap="flat">
            <a:solidFill>
              <a:schemeClr val="accent1"/>
            </a:solidFill>
            <a:prstDash val="solid"/>
            <a:round/>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5" name="直线连接符 14">
            <a:extLst>
              <a:ext uri="{FF2B5EF4-FFF2-40B4-BE49-F238E27FC236}">
                <a16:creationId xmlns:a16="http://schemas.microsoft.com/office/drawing/2014/main" id="{CF3CBB45-705F-644A-B45E-0A0B06A43307}"/>
              </a:ext>
            </a:extLst>
          </p:cNvPr>
          <p:cNvCxnSpPr>
            <a:cxnSpLocks/>
          </p:cNvCxnSpPr>
          <p:nvPr/>
        </p:nvCxnSpPr>
        <p:spPr>
          <a:xfrm>
            <a:off x="2054085" y="4250635"/>
            <a:ext cx="463828" cy="0"/>
          </a:xfrm>
          <a:prstGeom prst="line">
            <a:avLst/>
          </a:prstGeom>
          <a:noFill/>
          <a:ln w="12700" cap="flat">
            <a:solidFill>
              <a:schemeClr val="accent1"/>
            </a:solidFill>
            <a:prstDash val="solid"/>
            <a:round/>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1" name="文本框 10">
            <a:extLst>
              <a:ext uri="{FF2B5EF4-FFF2-40B4-BE49-F238E27FC236}">
                <a16:creationId xmlns:a16="http://schemas.microsoft.com/office/drawing/2014/main" id="{EF445B59-4DCC-6542-9853-6B71D9BA46AD}"/>
              </a:ext>
            </a:extLst>
          </p:cNvPr>
          <p:cNvSpPr txBox="1"/>
          <p:nvPr/>
        </p:nvSpPr>
        <p:spPr>
          <a:xfrm>
            <a:off x="848139" y="2953425"/>
            <a:ext cx="1477325" cy="5909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r>
              <a:rPr lang="zh-CN" altLang="en-US" sz="1800" dirty="0"/>
              <a:t>职工工资文件</a:t>
            </a:r>
            <a:endParaRPr kumimoji="0" lang="zh-CN" altLang="en-US" sz="1800" b="0" i="0" u="none" strike="noStrike" cap="none" spc="0" normalizeH="0" baseline="0" dirty="0">
              <a:ln>
                <a:noFill/>
              </a:ln>
              <a:solidFill>
                <a:srgbClr val="000000"/>
              </a:solidFill>
              <a:effectLst/>
              <a:uFillTx/>
              <a:latin typeface="+mn-lt"/>
              <a:ea typeface="+mn-ea"/>
              <a:cs typeface="+mn-cs"/>
              <a:sym typeface="Times New Roman"/>
            </a:endParaRPr>
          </a:p>
        </p:txBody>
      </p:sp>
      <p:sp>
        <p:nvSpPr>
          <p:cNvPr id="18" name="文本框 17">
            <a:extLst>
              <a:ext uri="{FF2B5EF4-FFF2-40B4-BE49-F238E27FC236}">
                <a16:creationId xmlns:a16="http://schemas.microsoft.com/office/drawing/2014/main" id="{1255368D-4CEE-554D-9AD8-A4E335C7B86B}"/>
              </a:ext>
            </a:extLst>
          </p:cNvPr>
          <p:cNvSpPr txBox="1"/>
          <p:nvPr/>
        </p:nvSpPr>
        <p:spPr>
          <a:xfrm>
            <a:off x="881269" y="3713318"/>
            <a:ext cx="1477325" cy="5909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r>
              <a:rPr lang="zh-CN" altLang="en-US" sz="1800" dirty="0"/>
              <a:t>职工档案文件</a:t>
            </a:r>
            <a:endParaRPr kumimoji="0" lang="zh-CN" altLang="en-US" sz="1800" b="0" i="0" u="none" strike="noStrike" cap="none" spc="0" normalizeH="0" baseline="0" dirty="0">
              <a:ln>
                <a:noFill/>
              </a:ln>
              <a:solidFill>
                <a:srgbClr val="000000"/>
              </a:solidFill>
              <a:effectLst/>
              <a:uFillTx/>
              <a:latin typeface="+mn-lt"/>
              <a:ea typeface="+mn-ea"/>
              <a:cs typeface="+mn-cs"/>
              <a:sym typeface="Times New Roman"/>
            </a:endParaRPr>
          </a:p>
        </p:txBody>
      </p:sp>
      <p:sp>
        <p:nvSpPr>
          <p:cNvPr id="19" name="文本框 18">
            <a:extLst>
              <a:ext uri="{FF2B5EF4-FFF2-40B4-BE49-F238E27FC236}">
                <a16:creationId xmlns:a16="http://schemas.microsoft.com/office/drawing/2014/main" id="{22BE245F-A32D-0F4E-8D5B-DE2C387EE707}"/>
              </a:ext>
            </a:extLst>
          </p:cNvPr>
          <p:cNvSpPr txBox="1"/>
          <p:nvPr/>
        </p:nvSpPr>
        <p:spPr>
          <a:xfrm>
            <a:off x="868307" y="4460015"/>
            <a:ext cx="1477325" cy="5909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r>
              <a:rPr lang="zh-CN" altLang="en-US" sz="1800" dirty="0"/>
              <a:t>职工保健文件</a:t>
            </a:r>
            <a:endParaRPr kumimoji="0" lang="zh-CN" altLang="en-US" sz="1800" b="0" i="0" u="none" strike="noStrike" cap="none" spc="0" normalizeH="0" baseline="0" dirty="0">
              <a:ln>
                <a:noFill/>
              </a:ln>
              <a:solidFill>
                <a:srgbClr val="000000"/>
              </a:solidFill>
              <a:effectLst/>
              <a:uFillTx/>
              <a:latin typeface="+mn-lt"/>
              <a:ea typeface="+mn-ea"/>
              <a:cs typeface="+mn-cs"/>
              <a:sym typeface="Times New Roman"/>
            </a:endParaRPr>
          </a:p>
        </p:txBody>
      </p:sp>
      <p:pic>
        <p:nvPicPr>
          <p:cNvPr id="16" name="图片 15">
            <a:extLst>
              <a:ext uri="{FF2B5EF4-FFF2-40B4-BE49-F238E27FC236}">
                <a16:creationId xmlns:a16="http://schemas.microsoft.com/office/drawing/2014/main" id="{EE7DFB69-F339-4A4D-96C3-2CDB9D25ABA6}"/>
              </a:ext>
            </a:extLst>
          </p:cNvPr>
          <p:cNvPicPr>
            <a:picLocks noChangeAspect="1"/>
          </p:cNvPicPr>
          <p:nvPr/>
        </p:nvPicPr>
        <p:blipFill rotWithShape="1">
          <a:blip r:embed="rId4"/>
          <a:srcRect l="676" t="20973" r="54062" b="13716"/>
          <a:stretch/>
        </p:blipFill>
        <p:spPr>
          <a:xfrm>
            <a:off x="4825027" y="2064022"/>
            <a:ext cx="577970" cy="550431"/>
          </a:xfrm>
          <a:prstGeom prst="rect">
            <a:avLst/>
          </a:prstGeom>
        </p:spPr>
      </p:pic>
      <p:sp>
        <p:nvSpPr>
          <p:cNvPr id="20" name="文本框 19">
            <a:extLst>
              <a:ext uri="{FF2B5EF4-FFF2-40B4-BE49-F238E27FC236}">
                <a16:creationId xmlns:a16="http://schemas.microsoft.com/office/drawing/2014/main" id="{0523D0AE-F835-1C42-B892-B85371FE294E}"/>
              </a:ext>
            </a:extLst>
          </p:cNvPr>
          <p:cNvSpPr txBox="1"/>
          <p:nvPr/>
        </p:nvSpPr>
        <p:spPr>
          <a:xfrm>
            <a:off x="5466884" y="2219830"/>
            <a:ext cx="3218296" cy="35779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50000"/>
              </a:lnSpc>
              <a:defRPr>
                <a:latin typeface="SimSun"/>
                <a:ea typeface="SimSun"/>
                <a:cs typeface="SimSun"/>
                <a:sym typeface="SimSun"/>
              </a:defRPr>
            </a:pPr>
            <a:r>
              <a:rPr lang="zh-CN" altLang="en-US" sz="2800" dirty="0"/>
              <a:t>数据冗余性、</a:t>
            </a:r>
          </a:p>
          <a:p>
            <a:pPr>
              <a:lnSpc>
                <a:spcPct val="150000"/>
              </a:lnSpc>
              <a:defRPr sz="3200">
                <a:latin typeface="SimSun"/>
                <a:ea typeface="SimSun"/>
                <a:cs typeface="SimSun"/>
                <a:sym typeface="SimSun"/>
              </a:defRPr>
            </a:pPr>
            <a:r>
              <a:rPr lang="zh-CN" altLang="en-US" dirty="0"/>
              <a:t>                         数据不一致性、</a:t>
            </a:r>
          </a:p>
          <a:p>
            <a:pPr>
              <a:lnSpc>
                <a:spcPct val="150000"/>
              </a:lnSpc>
              <a:defRPr sz="3200">
                <a:latin typeface="SimSun"/>
                <a:ea typeface="SimSun"/>
                <a:cs typeface="SimSun"/>
                <a:sym typeface="SimSun"/>
              </a:defRPr>
            </a:pPr>
            <a:r>
              <a:rPr lang="zh-CN" altLang="en-US" dirty="0"/>
              <a:t>                         数据联系弱。</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Rectangle 2"/>
          <p:cNvSpPr txBox="1"/>
          <p:nvPr/>
        </p:nvSpPr>
        <p:spPr>
          <a:xfrm>
            <a:off x="45719" y="0"/>
            <a:ext cx="9052562" cy="24218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l">
              <a:lnSpc>
                <a:spcPct val="200000"/>
              </a:lnSpc>
              <a:defRPr sz="3200">
                <a:solidFill>
                  <a:srgbClr val="000099"/>
                </a:solidFill>
                <a:effectLst>
                  <a:outerShdw blurRad="38100" dist="38100" dir="2700000" rotWithShape="0">
                    <a:srgbClr val="C0C0C0"/>
                  </a:outerShdw>
                </a:effectLst>
                <a:latin typeface="SimSun"/>
                <a:ea typeface="SimSun"/>
                <a:cs typeface="SimSun"/>
                <a:sym typeface="SimSun"/>
              </a:defRPr>
            </a:pPr>
            <a:r>
              <a:rPr dirty="0"/>
              <a:t> </a:t>
            </a:r>
            <a:r>
              <a:rPr b="1" dirty="0">
                <a:latin typeface="+mn-lt"/>
                <a:ea typeface="+mn-ea"/>
                <a:cs typeface="+mn-cs"/>
                <a:sym typeface="Times New Roman"/>
              </a:rPr>
              <a:t>◆</a:t>
            </a:r>
            <a:r>
              <a:rPr lang="zh-CN" altLang="en-US" b="1" dirty="0">
                <a:latin typeface="+mn-lt"/>
                <a:ea typeface="+mn-ea"/>
                <a:cs typeface="+mn-cs"/>
                <a:sym typeface="Times New Roman"/>
              </a:rPr>
              <a:t>      </a:t>
            </a:r>
            <a:r>
              <a:rPr b="1" dirty="0">
                <a:latin typeface="+mn-lt"/>
                <a:ea typeface="+mn-ea"/>
                <a:cs typeface="+mn-cs"/>
                <a:sym typeface="Times New Roman"/>
              </a:rPr>
              <a:t> </a:t>
            </a:r>
            <a:r>
              <a:rPr lang="en-US" b="1" dirty="0">
                <a:latin typeface="+mn-lt"/>
                <a:ea typeface="+mn-ea"/>
                <a:cs typeface="+mn-cs"/>
                <a:sym typeface="Times New Roman"/>
              </a:rPr>
              <a:t>1.1.3 </a:t>
            </a:r>
            <a:r>
              <a:rPr sz="3200" b="1" dirty="0" err="1">
                <a:solidFill>
                  <a:srgbClr val="000099"/>
                </a:solidFill>
                <a:effectLst>
                  <a:outerShdw blurRad="38100" dist="38100" dir="2700000" rotWithShape="0">
                    <a:srgbClr val="C0C0C0"/>
                  </a:outerShdw>
                </a:effectLst>
              </a:rPr>
              <a:t>倒排文件系统阶段</a:t>
            </a:r>
            <a:r>
              <a:rPr sz="3200" b="1" dirty="0">
                <a:solidFill>
                  <a:srgbClr val="000099"/>
                </a:solidFill>
                <a:effectLst>
                  <a:outerShdw blurRad="38100" dist="38100" dir="2700000" rotWithShape="0">
                    <a:srgbClr val="C0C0C0"/>
                  </a:outerShdw>
                </a:effectLst>
              </a:rPr>
              <a:t>：</a:t>
            </a:r>
          </a:p>
          <a:p>
            <a:pPr algn="l">
              <a:lnSpc>
                <a:spcPct val="200000"/>
              </a:lnSpc>
              <a:defRPr sz="2400">
                <a:latin typeface="SimSun"/>
                <a:ea typeface="SimSun"/>
                <a:cs typeface="SimSun"/>
                <a:sym typeface="SimSun"/>
              </a:defRPr>
            </a:pPr>
            <a:r>
              <a:rPr dirty="0"/>
              <a:t>      </a:t>
            </a:r>
            <a:r>
              <a:rPr dirty="0" err="1"/>
              <a:t>为了提高系统性能，对索引文件进行推广，即</a:t>
            </a:r>
            <a:r>
              <a:rPr dirty="0"/>
              <a:t>：</a:t>
            </a:r>
          </a:p>
          <a:p>
            <a:pPr algn="l">
              <a:lnSpc>
                <a:spcPct val="200000"/>
              </a:lnSpc>
              <a:defRPr sz="2400">
                <a:latin typeface="SimSun"/>
                <a:ea typeface="SimSun"/>
                <a:cs typeface="SimSun"/>
                <a:sym typeface="SimSun"/>
              </a:defRPr>
            </a:pPr>
            <a:r>
              <a:rPr dirty="0"/>
              <a:t>         </a:t>
            </a:r>
            <a:r>
              <a:rPr b="1" dirty="0" err="1"/>
              <a:t>对每个字段都提供单独的索引</a:t>
            </a:r>
            <a:r>
              <a:rPr dirty="0"/>
              <a:t>。</a:t>
            </a:r>
          </a:p>
        </p:txBody>
      </p:sp>
      <p:sp>
        <p:nvSpPr>
          <p:cNvPr id="218" name="Rectangle 3"/>
          <p:cNvSpPr txBox="1"/>
          <p:nvPr/>
        </p:nvSpPr>
        <p:spPr>
          <a:xfrm>
            <a:off x="45719" y="2666999"/>
            <a:ext cx="9052562" cy="16164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200000"/>
              </a:lnSpc>
              <a:spcBef>
                <a:spcPts val="1400"/>
              </a:spcBef>
              <a:defRPr sz="2400">
                <a:solidFill>
                  <a:srgbClr val="993300"/>
                </a:solidFill>
                <a:latin typeface="SimSun"/>
                <a:ea typeface="SimSun"/>
                <a:cs typeface="SimSun"/>
                <a:sym typeface="SimSun"/>
              </a:defRPr>
            </a:pPr>
            <a:r>
              <a:rPr dirty="0"/>
              <a:t>  </a:t>
            </a:r>
            <a:r>
              <a:rPr dirty="0" err="1">
                <a:solidFill>
                  <a:srgbClr val="660066"/>
                </a:solidFill>
              </a:rPr>
              <a:t>优点：</a:t>
            </a:r>
            <a:r>
              <a:rPr b="1" dirty="0" err="1">
                <a:solidFill>
                  <a:srgbClr val="000000"/>
                </a:solidFill>
              </a:rPr>
              <a:t>使用户不仅能用关键码</a:t>
            </a:r>
            <a:r>
              <a:rPr dirty="0" err="1">
                <a:solidFill>
                  <a:srgbClr val="000000"/>
                </a:solidFill>
              </a:rPr>
              <a:t>，</a:t>
            </a:r>
            <a:r>
              <a:rPr b="1" dirty="0" err="1">
                <a:solidFill>
                  <a:srgbClr val="000000"/>
                </a:solidFill>
              </a:rPr>
              <a:t>而且也能按字段的任何组合</a:t>
            </a:r>
            <a:endParaRPr b="1" dirty="0">
              <a:solidFill>
                <a:srgbClr val="000000"/>
              </a:solidFill>
            </a:endParaRPr>
          </a:p>
          <a:p>
            <a:pPr>
              <a:lnSpc>
                <a:spcPct val="200000"/>
              </a:lnSpc>
              <a:spcBef>
                <a:spcPts val="1400"/>
              </a:spcBef>
              <a:defRPr sz="2400">
                <a:latin typeface="SimSun"/>
                <a:ea typeface="SimSun"/>
                <a:cs typeface="SimSun"/>
                <a:sym typeface="SimSun"/>
              </a:defRPr>
            </a:pPr>
            <a:r>
              <a:rPr b="1" dirty="0"/>
              <a:t>       </a:t>
            </a:r>
            <a:r>
              <a:rPr b="1" dirty="0" err="1"/>
              <a:t>容易地检索记录</a:t>
            </a:r>
            <a:r>
              <a:rPr dirty="0" err="1"/>
              <a:t>。很适合于信息检索系统</a:t>
            </a:r>
            <a:r>
              <a:rPr dirty="0"/>
              <a:t>。</a:t>
            </a:r>
          </a:p>
        </p:txBody>
      </p:sp>
      <p:sp>
        <p:nvSpPr>
          <p:cNvPr id="219" name="Rectangle 4"/>
          <p:cNvSpPr txBox="1"/>
          <p:nvPr/>
        </p:nvSpPr>
        <p:spPr>
          <a:xfrm>
            <a:off x="350519" y="4800599"/>
            <a:ext cx="9052562" cy="11887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200000"/>
              </a:lnSpc>
              <a:spcBef>
                <a:spcPts val="1400"/>
              </a:spcBef>
              <a:defRPr sz="2400">
                <a:solidFill>
                  <a:srgbClr val="660066"/>
                </a:solidFill>
                <a:latin typeface="SimSun"/>
                <a:ea typeface="SimSun"/>
                <a:cs typeface="SimSun"/>
                <a:sym typeface="SimSun"/>
              </a:defRPr>
            </a:pPr>
            <a:r>
              <a:t>缺点：</a:t>
            </a:r>
            <a:r>
              <a:rPr>
                <a:solidFill>
                  <a:srgbClr val="000000"/>
                </a:solidFill>
              </a:rPr>
              <a:t>索引可能比数据占有更多的存储空间；</a:t>
            </a:r>
          </a:p>
          <a:p>
            <a:pPr>
              <a:lnSpc>
                <a:spcPct val="200000"/>
              </a:lnSpc>
              <a:spcBef>
                <a:spcPts val="1400"/>
              </a:spcBef>
              <a:defRPr sz="2400">
                <a:latin typeface="SimSun"/>
                <a:ea typeface="SimSun"/>
                <a:cs typeface="SimSun"/>
                <a:sym typeface="SimSun"/>
              </a:defRPr>
            </a:pPr>
            <a:r>
              <a:t>        数据的更新比较复杂和困难。</a:t>
            </a:r>
          </a:p>
        </p:txBody>
      </p:sp>
      <p:grpSp>
        <p:nvGrpSpPr>
          <p:cNvPr id="5" name="Group 9">
            <a:extLst>
              <a:ext uri="{FF2B5EF4-FFF2-40B4-BE49-F238E27FC236}">
                <a16:creationId xmlns:a16="http://schemas.microsoft.com/office/drawing/2014/main" id="{2FEC1229-51F4-4F48-BE3A-F0C57015DF07}"/>
              </a:ext>
            </a:extLst>
          </p:cNvPr>
          <p:cNvGrpSpPr/>
          <p:nvPr/>
        </p:nvGrpSpPr>
        <p:grpSpPr>
          <a:xfrm>
            <a:off x="-1" y="0"/>
            <a:ext cx="8382001" cy="1371600"/>
            <a:chOff x="0" y="0"/>
            <a:chExt cx="8381999" cy="1371600"/>
          </a:xfrm>
        </p:grpSpPr>
        <p:sp>
          <p:nvSpPr>
            <p:cNvPr id="6" name="Rectangle 10">
              <a:extLst>
                <a:ext uri="{FF2B5EF4-FFF2-40B4-BE49-F238E27FC236}">
                  <a16:creationId xmlns:a16="http://schemas.microsoft.com/office/drawing/2014/main" id="{1A3AAC3A-8719-B14D-A265-2DC6EDC83BCA}"/>
                </a:ext>
              </a:extLst>
            </p:cNvPr>
            <p:cNvSpPr/>
            <p:nvPr/>
          </p:nvSpPr>
          <p:spPr>
            <a:xfrm>
              <a:off x="285220" y="141287"/>
              <a:ext cx="622830" cy="617538"/>
            </a:xfrm>
            <a:prstGeom prst="rect">
              <a:avLst/>
            </a:prstGeom>
            <a:gradFill flip="none" rotWithShape="1">
              <a:gsLst>
                <a:gs pos="0">
                  <a:srgbClr val="0000FF"/>
                </a:gs>
                <a:gs pos="100000">
                  <a:schemeClr val="accent1"/>
                </a:gs>
              </a:gsLst>
              <a:lin ang="54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7" name="Rectangle 11">
              <a:extLst>
                <a:ext uri="{FF2B5EF4-FFF2-40B4-BE49-F238E27FC236}">
                  <a16:creationId xmlns:a16="http://schemas.microsoft.com/office/drawing/2014/main" id="{9EFEDCC1-763F-1B43-803B-0B051C7DFB05}"/>
                </a:ext>
              </a:extLst>
            </p:cNvPr>
            <p:cNvSpPr/>
            <p:nvPr/>
          </p:nvSpPr>
          <p:spPr>
            <a:xfrm>
              <a:off x="406003" y="690562"/>
              <a:ext cx="414735" cy="619126"/>
            </a:xfrm>
            <a:prstGeom prst="rect">
              <a:avLst/>
            </a:prstGeom>
            <a:solidFill>
              <a:srgbClr val="FFFF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8" name="Rectangle 12">
              <a:extLst>
                <a:ext uri="{FF2B5EF4-FFF2-40B4-BE49-F238E27FC236}">
                  <a16:creationId xmlns:a16="http://schemas.microsoft.com/office/drawing/2014/main" id="{F969FE2A-1BBD-3446-B2C3-3EC83E5EE3E8}"/>
                </a:ext>
              </a:extLst>
            </p:cNvPr>
            <p:cNvSpPr/>
            <p:nvPr/>
          </p:nvSpPr>
          <p:spPr>
            <a:xfrm>
              <a:off x="769805" y="690562"/>
              <a:ext cx="360892" cy="619126"/>
            </a:xfrm>
            <a:prstGeom prst="rect">
              <a:avLst/>
            </a:prstGeom>
            <a:gradFill flip="none" rotWithShape="1">
              <a:gsLst>
                <a:gs pos="0">
                  <a:srgbClr val="FFFF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9" name="Rectangle 13">
              <a:extLst>
                <a:ext uri="{FF2B5EF4-FFF2-40B4-BE49-F238E27FC236}">
                  <a16:creationId xmlns:a16="http://schemas.microsoft.com/office/drawing/2014/main" id="{4A3ACA89-A26C-E941-B562-F49DD7DD7684}"/>
                </a:ext>
              </a:extLst>
            </p:cNvPr>
            <p:cNvSpPr/>
            <p:nvPr/>
          </p:nvSpPr>
          <p:spPr>
            <a:xfrm>
              <a:off x="-1" y="457200"/>
              <a:ext cx="628651" cy="609600"/>
            </a:xfrm>
            <a:prstGeom prst="rect">
              <a:avLst/>
            </a:prstGeom>
            <a:gradFill flip="none" rotWithShape="1">
              <a:gsLst>
                <a:gs pos="0">
                  <a:srgbClr val="0000FF"/>
                </a:gs>
                <a:gs pos="100000">
                  <a:srgbClr val="FF0033"/>
                </a:gs>
              </a:gsLst>
              <a:lin ang="189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0" name="Rectangle 14">
              <a:extLst>
                <a:ext uri="{FF2B5EF4-FFF2-40B4-BE49-F238E27FC236}">
                  <a16:creationId xmlns:a16="http://schemas.microsoft.com/office/drawing/2014/main" id="{B928445B-FD60-9746-AAB1-BBC6DC902F2F}"/>
                </a:ext>
              </a:extLst>
            </p:cNvPr>
            <p:cNvSpPr/>
            <p:nvPr/>
          </p:nvSpPr>
          <p:spPr>
            <a:xfrm>
              <a:off x="622829" y="0"/>
              <a:ext cx="32015" cy="1371600"/>
            </a:xfrm>
            <a:prstGeom prst="rect">
              <a:avLst/>
            </a:prstGeom>
            <a:solidFill>
              <a:srgbClr val="0000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11" name="Rectangle 15">
              <a:extLst>
                <a:ext uri="{FF2B5EF4-FFF2-40B4-BE49-F238E27FC236}">
                  <a16:creationId xmlns:a16="http://schemas.microsoft.com/office/drawing/2014/main" id="{5243E9FC-85AF-5B41-B9B1-2182F31A1C04}"/>
                </a:ext>
              </a:extLst>
            </p:cNvPr>
            <p:cNvSpPr/>
            <p:nvPr/>
          </p:nvSpPr>
          <p:spPr>
            <a:xfrm>
              <a:off x="309959" y="1030287"/>
              <a:ext cx="8072041" cy="41276"/>
            </a:xfrm>
            <a:prstGeom prst="rect">
              <a:avLst/>
            </a:prstGeom>
            <a:gradFill flip="none" rotWithShape="1">
              <a:gsLst>
                <a:gs pos="0">
                  <a:srgbClr val="0000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grpSp>
      <p:pic>
        <p:nvPicPr>
          <p:cNvPr id="12" name="图片 11">
            <a:extLst>
              <a:ext uri="{FF2B5EF4-FFF2-40B4-BE49-F238E27FC236}">
                <a16:creationId xmlns:a16="http://schemas.microsoft.com/office/drawing/2014/main" id="{31215CF5-81B0-4447-ACD7-375E420D54C0}"/>
              </a:ext>
            </a:extLst>
          </p:cNvPr>
          <p:cNvPicPr>
            <a:picLocks noChangeAspect="1"/>
          </p:cNvPicPr>
          <p:nvPr/>
        </p:nvPicPr>
        <p:blipFill rotWithShape="1">
          <a:blip r:embed="rId2"/>
          <a:srcRect l="676" t="20973" r="54062" b="13716"/>
          <a:stretch/>
        </p:blipFill>
        <p:spPr>
          <a:xfrm>
            <a:off x="309958" y="2379963"/>
            <a:ext cx="577970" cy="55043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3" presetClass="entr" presetSubtype="10" fill="hold" grpId="1" nodeType="clickEffect">
                                  <p:stCondLst>
                                    <p:cond delay="0"/>
                                  </p:stCondLst>
                                  <p:iterate>
                                    <p:tmAbs val="0"/>
                                  </p:iterate>
                                  <p:childTnLst>
                                    <p:set>
                                      <p:cBhvr>
                                        <p:cTn id="6" fill="hold"/>
                                        <p:tgtEl>
                                          <p:spTgt spid="218"/>
                                        </p:tgtEl>
                                        <p:attrNameLst>
                                          <p:attrName>style.visibility</p:attrName>
                                        </p:attrNameLst>
                                      </p:cBhvr>
                                      <p:to>
                                        <p:strVal val="visible"/>
                                      </p:to>
                                    </p:set>
                                    <p:animEffect transition="in" filter="blinds(horizontal)">
                                      <p:cBhvr>
                                        <p:cTn id="7" dur="500"/>
                                        <p:tgtEl>
                                          <p:spTgt spid="2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2" nodeType="clickEffect">
                                  <p:stCondLst>
                                    <p:cond delay="0"/>
                                  </p:stCondLst>
                                  <p:iterate>
                                    <p:tmAbs val="0"/>
                                  </p:iterate>
                                  <p:childTnLst>
                                    <p:set>
                                      <p:cBhvr>
                                        <p:cTn id="11" fill="hold"/>
                                        <p:tgtEl>
                                          <p:spTgt spid="219"/>
                                        </p:tgtEl>
                                        <p:attrNameLst>
                                          <p:attrName>style.visibility</p:attrName>
                                        </p:attrNameLst>
                                      </p:cBhvr>
                                      <p:to>
                                        <p:strVal val="visible"/>
                                      </p:to>
                                    </p:set>
                                    <p:animEffect transition="in" filter="blinds(horizontal)">
                                      <p:cBhvr>
                                        <p:cTn id="12" dur="500"/>
                                        <p:tgtEl>
                                          <p:spTgt spid="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 grpId="1" animBg="1" advAuto="0"/>
      <p:bldP spid="219" grpId="2" animBg="1" advAuto="0"/>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23" name="AutoShape 36"/>
          <p:cNvGrpSpPr/>
          <p:nvPr/>
        </p:nvGrpSpPr>
        <p:grpSpPr>
          <a:xfrm>
            <a:off x="577086" y="1342280"/>
            <a:ext cx="5607051" cy="1350714"/>
            <a:chOff x="0" y="0"/>
            <a:chExt cx="5607050" cy="1350713"/>
          </a:xfrm>
        </p:grpSpPr>
        <p:sp>
          <p:nvSpPr>
            <p:cNvPr id="221" name="形状"/>
            <p:cNvSpPr/>
            <p:nvPr/>
          </p:nvSpPr>
          <p:spPr>
            <a:xfrm>
              <a:off x="0" y="0"/>
              <a:ext cx="4938713" cy="1350714"/>
            </a:xfrm>
            <a:custGeom>
              <a:avLst/>
              <a:gdLst/>
              <a:ahLst/>
              <a:cxnLst>
                <a:cxn ang="0">
                  <a:pos x="wd2" y="hd2"/>
                </a:cxn>
                <a:cxn ang="5400000">
                  <a:pos x="wd2" y="hd2"/>
                </a:cxn>
                <a:cxn ang="10800000">
                  <a:pos x="wd2" y="hd2"/>
                </a:cxn>
                <a:cxn ang="16200000">
                  <a:pos x="wd2" y="hd2"/>
                </a:cxn>
              </a:cxnLst>
              <a:rect l="0" t="0" r="r" b="b"/>
              <a:pathLst>
                <a:path w="21600" h="19255" extrusionOk="0">
                  <a:moveTo>
                    <a:pt x="0" y="0"/>
                  </a:moveTo>
                  <a:lnTo>
                    <a:pt x="21600" y="0"/>
                  </a:lnTo>
                  <a:lnTo>
                    <a:pt x="21600" y="15641"/>
                  </a:lnTo>
                  <a:cubicBezTo>
                    <a:pt x="10800" y="15641"/>
                    <a:pt x="10800" y="21600"/>
                    <a:pt x="0" y="18214"/>
                  </a:cubicBezTo>
                  <a:close/>
                </a:path>
              </a:pathLst>
            </a:custGeom>
            <a:solidFill>
              <a:schemeClr val="accent4"/>
            </a:solidFill>
            <a:ln w="12700" cap="flat">
              <a:solidFill>
                <a:srgbClr val="FFFFFF"/>
              </a:solidFill>
              <a:prstDash val="solid"/>
              <a:miter lim="800000"/>
            </a:ln>
            <a:effectLst/>
          </p:spPr>
          <p:txBody>
            <a:bodyPr wrap="square" lIns="45719" tIns="45719" rIns="45719" bIns="45719" numCol="1" anchor="ctr">
              <a:noAutofit/>
            </a:bodyPr>
            <a:lstStyle/>
            <a:p>
              <a:pPr>
                <a:defRPr>
                  <a:latin typeface="SimSun"/>
                  <a:ea typeface="SimSun"/>
                  <a:cs typeface="SimSun"/>
                  <a:sym typeface="SimSun"/>
                </a:defRPr>
              </a:pPr>
              <a:endParaRPr/>
            </a:p>
          </p:txBody>
        </p:sp>
        <p:sp>
          <p:nvSpPr>
            <p:cNvPr id="222" name="001 张三 男 1980.1.2  56335633  1200.00 1010.00  …….…"/>
            <p:cNvSpPr txBox="1"/>
            <p:nvPr/>
          </p:nvSpPr>
          <p:spPr>
            <a:xfrm>
              <a:off x="6350" y="81230"/>
              <a:ext cx="5600700" cy="93472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ctr">
              <a:spAutoFit/>
            </a:bodyPr>
            <a:lstStyle/>
            <a:p>
              <a:pPr>
                <a:defRPr sz="1600">
                  <a:latin typeface="SimSun"/>
                  <a:ea typeface="SimSun"/>
                  <a:cs typeface="SimSun"/>
                  <a:sym typeface="SimSun"/>
                </a:defRPr>
              </a:pPr>
              <a:r>
                <a:rPr dirty="0"/>
                <a:t> 001 </a:t>
              </a:r>
              <a:r>
                <a:rPr dirty="0" err="1"/>
                <a:t>张三</a:t>
              </a:r>
              <a:r>
                <a:rPr dirty="0"/>
                <a:t> </a:t>
              </a:r>
              <a:r>
                <a:rPr dirty="0" err="1"/>
                <a:t>男</a:t>
              </a:r>
              <a:r>
                <a:rPr dirty="0"/>
                <a:t> 1980.1.2  56335633  1200.00 1010.00  …….</a:t>
              </a:r>
            </a:p>
            <a:p>
              <a:pPr>
                <a:defRPr sz="1600">
                  <a:latin typeface="SimSun"/>
                  <a:ea typeface="SimSun"/>
                  <a:cs typeface="SimSun"/>
                  <a:sym typeface="SimSun"/>
                </a:defRPr>
              </a:pPr>
              <a:r>
                <a:rPr dirty="0"/>
                <a:t> 002 </a:t>
              </a:r>
              <a:r>
                <a:rPr dirty="0" err="1"/>
                <a:t>李四</a:t>
              </a:r>
              <a:r>
                <a:rPr dirty="0"/>
                <a:t> </a:t>
              </a:r>
              <a:r>
                <a:rPr dirty="0" err="1"/>
                <a:t>女</a:t>
              </a:r>
              <a:r>
                <a:rPr dirty="0"/>
                <a:t> 1982.5.7  56331234  1100.00  500.00  …….</a:t>
              </a:r>
            </a:p>
            <a:p>
              <a:pPr>
                <a:defRPr sz="1600">
                  <a:latin typeface="SimSun"/>
                  <a:ea typeface="SimSun"/>
                  <a:cs typeface="SimSun"/>
                  <a:sym typeface="SimSun"/>
                </a:defRPr>
              </a:pPr>
              <a:r>
                <a:rPr dirty="0"/>
                <a:t>          ……</a:t>
              </a:r>
            </a:p>
          </p:txBody>
        </p:sp>
      </p:grpSp>
      <p:sp>
        <p:nvSpPr>
          <p:cNvPr id="224" name="Text Box 39"/>
          <p:cNvSpPr txBox="1"/>
          <p:nvPr/>
        </p:nvSpPr>
        <p:spPr>
          <a:xfrm>
            <a:off x="6574661" y="1691529"/>
            <a:ext cx="1851026" cy="367024"/>
          </a:xfrm>
          <a:prstGeom prst="rect">
            <a:avLst/>
          </a:prstGeom>
          <a:ln>
            <a:solidFill>
              <a:srgbClr val="000000"/>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ctr">
              <a:spcBef>
                <a:spcPts val="900"/>
              </a:spcBef>
              <a:defRPr sz="1600">
                <a:solidFill>
                  <a:srgbClr val="0000FF"/>
                </a:solidFill>
                <a:latin typeface="SimSun"/>
                <a:ea typeface="SimSun"/>
                <a:cs typeface="SimSun"/>
                <a:sym typeface="SimSun"/>
              </a:defRPr>
            </a:pPr>
            <a:r>
              <a:rPr dirty="0"/>
              <a:t>索引2（出生日期）</a:t>
            </a:r>
          </a:p>
        </p:txBody>
      </p:sp>
      <p:sp>
        <p:nvSpPr>
          <p:cNvPr id="225" name="Text Box 41"/>
          <p:cNvSpPr txBox="1"/>
          <p:nvPr/>
        </p:nvSpPr>
        <p:spPr>
          <a:xfrm>
            <a:off x="6574661" y="1126379"/>
            <a:ext cx="1851026" cy="367024"/>
          </a:xfrm>
          <a:prstGeom prst="rect">
            <a:avLst/>
          </a:prstGeom>
          <a:ln>
            <a:solidFill>
              <a:srgbClr val="000000"/>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ctr">
              <a:spcBef>
                <a:spcPts val="900"/>
              </a:spcBef>
              <a:defRPr sz="1600">
                <a:solidFill>
                  <a:srgbClr val="0000FF"/>
                </a:solidFill>
                <a:latin typeface="SimSun"/>
                <a:ea typeface="SimSun"/>
                <a:cs typeface="SimSun"/>
                <a:sym typeface="SimSun"/>
              </a:defRPr>
            </a:pPr>
            <a:r>
              <a:rPr dirty="0"/>
              <a:t>索引1（工号）</a:t>
            </a:r>
          </a:p>
        </p:txBody>
      </p:sp>
      <p:sp>
        <p:nvSpPr>
          <p:cNvPr id="226" name="Text Box 42"/>
          <p:cNvSpPr txBox="1"/>
          <p:nvPr/>
        </p:nvSpPr>
        <p:spPr>
          <a:xfrm>
            <a:off x="6574661" y="2207468"/>
            <a:ext cx="1851026" cy="367024"/>
          </a:xfrm>
          <a:prstGeom prst="rect">
            <a:avLst/>
          </a:prstGeom>
          <a:ln>
            <a:solidFill>
              <a:srgbClr val="000000"/>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ctr">
              <a:spcBef>
                <a:spcPts val="900"/>
              </a:spcBef>
              <a:defRPr sz="1600">
                <a:solidFill>
                  <a:srgbClr val="0000FF"/>
                </a:solidFill>
                <a:latin typeface="SimSun"/>
                <a:ea typeface="SimSun"/>
                <a:cs typeface="SimSun"/>
                <a:sym typeface="SimSun"/>
              </a:defRPr>
            </a:pPr>
            <a:r>
              <a:rPr dirty="0"/>
              <a:t>索引3（电话）</a:t>
            </a:r>
          </a:p>
        </p:txBody>
      </p:sp>
      <p:sp>
        <p:nvSpPr>
          <p:cNvPr id="227" name="Line 43"/>
          <p:cNvSpPr/>
          <p:nvPr/>
        </p:nvSpPr>
        <p:spPr>
          <a:xfrm>
            <a:off x="5690424" y="2207468"/>
            <a:ext cx="322264" cy="1"/>
          </a:xfrm>
          <a:prstGeom prst="line">
            <a:avLst/>
          </a:prstGeom>
          <a:ln w="25400">
            <a:solidFill>
              <a:srgbClr val="000000"/>
            </a:solidFill>
            <a:prstDash val="sysDot"/>
          </a:ln>
        </p:spPr>
        <p:txBody>
          <a:bodyPr lIns="45719" rIns="45719"/>
          <a:lstStyle/>
          <a:p>
            <a:pPr>
              <a:defRPr>
                <a:solidFill>
                  <a:srgbClr val="FFFFFF"/>
                </a:solidFill>
              </a:defRPr>
            </a:pPr>
            <a:endParaRPr/>
          </a:p>
        </p:txBody>
      </p:sp>
      <p:sp>
        <p:nvSpPr>
          <p:cNvPr id="228" name="Line 44"/>
          <p:cNvSpPr/>
          <p:nvPr/>
        </p:nvSpPr>
        <p:spPr>
          <a:xfrm flipH="1" flipV="1">
            <a:off x="5515799" y="1415304"/>
            <a:ext cx="966789" cy="1"/>
          </a:xfrm>
          <a:prstGeom prst="line">
            <a:avLst/>
          </a:prstGeom>
          <a:ln>
            <a:solidFill>
              <a:srgbClr val="000000"/>
            </a:solidFill>
            <a:tailEnd type="stealth"/>
          </a:ln>
        </p:spPr>
        <p:txBody>
          <a:bodyPr lIns="45719" rIns="45719"/>
          <a:lstStyle/>
          <a:p>
            <a:pPr>
              <a:defRPr>
                <a:solidFill>
                  <a:srgbClr val="FFFFFF"/>
                </a:solidFill>
              </a:defRPr>
            </a:pPr>
            <a:endParaRPr/>
          </a:p>
        </p:txBody>
      </p:sp>
      <p:sp>
        <p:nvSpPr>
          <p:cNvPr id="229" name="Line 45"/>
          <p:cNvSpPr/>
          <p:nvPr/>
        </p:nvSpPr>
        <p:spPr>
          <a:xfrm flipH="1" flipV="1">
            <a:off x="5474524" y="1775668"/>
            <a:ext cx="1079501" cy="215901"/>
          </a:xfrm>
          <a:prstGeom prst="line">
            <a:avLst/>
          </a:prstGeom>
          <a:ln>
            <a:solidFill>
              <a:srgbClr val="000000"/>
            </a:solidFill>
            <a:tailEnd type="stealth"/>
          </a:ln>
        </p:spPr>
        <p:txBody>
          <a:bodyPr lIns="45719" rIns="45719"/>
          <a:lstStyle/>
          <a:p>
            <a:pPr>
              <a:defRPr>
                <a:solidFill>
                  <a:srgbClr val="FFFFFF"/>
                </a:solidFill>
              </a:defRPr>
            </a:pPr>
            <a:endParaRPr/>
          </a:p>
        </p:txBody>
      </p:sp>
      <p:sp>
        <p:nvSpPr>
          <p:cNvPr id="230" name="Line 46"/>
          <p:cNvSpPr/>
          <p:nvPr/>
        </p:nvSpPr>
        <p:spPr>
          <a:xfrm flipH="1" flipV="1">
            <a:off x="5474524" y="1991568"/>
            <a:ext cx="1079501" cy="431801"/>
          </a:xfrm>
          <a:prstGeom prst="line">
            <a:avLst/>
          </a:prstGeom>
          <a:ln>
            <a:solidFill>
              <a:srgbClr val="000000"/>
            </a:solidFill>
            <a:tailEnd type="stealth"/>
          </a:ln>
        </p:spPr>
        <p:txBody>
          <a:bodyPr lIns="45719" rIns="45719"/>
          <a:lstStyle/>
          <a:p>
            <a:pPr>
              <a:defRPr>
                <a:solidFill>
                  <a:srgbClr val="FFFFFF"/>
                </a:solidFill>
              </a:defRPr>
            </a:pPr>
            <a:endParaRPr/>
          </a:p>
        </p:txBody>
      </p:sp>
    </p:spTree>
  </p:cSld>
  <p:clrMapOvr>
    <a:masterClrMapping/>
  </p:clrMapOvr>
  <p:transition spd="slow">
    <p:fade/>
  </p:transition>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3" presetClass="entr" presetSubtype="5" fill="hold" grpId="1" nodeType="clickEffect">
                                  <p:stCondLst>
                                    <p:cond delay="0"/>
                                  </p:stCondLst>
                                  <p:iterate>
                                    <p:tmAbs val="0"/>
                                  </p:iterate>
                                  <p:childTnLst>
                                    <p:set>
                                      <p:cBhvr>
                                        <p:cTn id="6" fill="hold"/>
                                        <p:tgtEl>
                                          <p:spTgt spid="223"/>
                                        </p:tgtEl>
                                        <p:attrNameLst>
                                          <p:attrName>style.visibility</p:attrName>
                                        </p:attrNameLst>
                                      </p:cBhvr>
                                      <p:to>
                                        <p:strVal val="visible"/>
                                      </p:to>
                                    </p:set>
                                    <p:animEffect transition="in" filter="blinds(vertical)">
                                      <p:cBhvr>
                                        <p:cTn id="7" dur="500"/>
                                        <p:tgtEl>
                                          <p:spTgt spid="22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2" nodeType="clickEffect">
                                  <p:stCondLst>
                                    <p:cond delay="0"/>
                                  </p:stCondLst>
                                  <p:iterate>
                                    <p:tmAbs val="0"/>
                                  </p:iterate>
                                  <p:childTnLst>
                                    <p:set>
                                      <p:cBhvr>
                                        <p:cTn id="11" fill="hold"/>
                                        <p:tgtEl>
                                          <p:spTgt spid="225"/>
                                        </p:tgtEl>
                                        <p:attrNameLst>
                                          <p:attrName>style.visibility</p:attrName>
                                        </p:attrNameLst>
                                      </p:cBhvr>
                                      <p:to>
                                        <p:strVal val="visible"/>
                                      </p:to>
                                    </p:set>
                                    <p:animEffect transition="in" filter="box(out)">
                                      <p:cBhvr>
                                        <p:cTn id="12" dur="2000"/>
                                        <p:tgtEl>
                                          <p:spTgt spid="225"/>
                                        </p:tgtEl>
                                      </p:cBhvr>
                                    </p:animEffect>
                                  </p:childTnLst>
                                </p:cTn>
                              </p:par>
                            </p:childTnLst>
                          </p:cTn>
                        </p:par>
                        <p:par>
                          <p:cTn id="13" fill="hold">
                            <p:stCondLst>
                              <p:cond delay="2000"/>
                            </p:stCondLst>
                            <p:childTnLst>
                              <p:par>
                                <p:cTn id="14" presetID="22" presetClass="entr" presetSubtype="2" fill="hold" grpId="3" nodeType="afterEffect">
                                  <p:stCondLst>
                                    <p:cond delay="0"/>
                                  </p:stCondLst>
                                  <p:iterate>
                                    <p:tmAbs val="0"/>
                                  </p:iterate>
                                  <p:childTnLst>
                                    <p:set>
                                      <p:cBhvr>
                                        <p:cTn id="15" fill="hold"/>
                                        <p:tgtEl>
                                          <p:spTgt spid="228"/>
                                        </p:tgtEl>
                                        <p:attrNameLst>
                                          <p:attrName>style.visibility</p:attrName>
                                        </p:attrNameLst>
                                      </p:cBhvr>
                                      <p:to>
                                        <p:strVal val="visible"/>
                                      </p:to>
                                    </p:set>
                                    <p:animEffect transition="in" filter="wipe(right)">
                                      <p:cBhvr>
                                        <p:cTn id="16" dur="2000"/>
                                        <p:tgtEl>
                                          <p:spTgt spid="228"/>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4" nodeType="clickEffect">
                                  <p:stCondLst>
                                    <p:cond delay="0"/>
                                  </p:stCondLst>
                                  <p:iterate>
                                    <p:tmAbs val="0"/>
                                  </p:iterate>
                                  <p:childTnLst>
                                    <p:set>
                                      <p:cBhvr>
                                        <p:cTn id="20" fill="hold"/>
                                        <p:tgtEl>
                                          <p:spTgt spid="224"/>
                                        </p:tgtEl>
                                        <p:attrNameLst>
                                          <p:attrName>style.visibility</p:attrName>
                                        </p:attrNameLst>
                                      </p:cBhvr>
                                      <p:to>
                                        <p:strVal val="visible"/>
                                      </p:to>
                                    </p:set>
                                    <p:animEffect transition="in" filter="blinds(horizontal)">
                                      <p:cBhvr>
                                        <p:cTn id="21" dur="500"/>
                                        <p:tgtEl>
                                          <p:spTgt spid="224"/>
                                        </p:tgtEl>
                                      </p:cBhvr>
                                    </p:animEffect>
                                  </p:childTnLst>
                                </p:cTn>
                              </p:par>
                            </p:childTnLst>
                          </p:cTn>
                        </p:par>
                        <p:par>
                          <p:cTn id="22" fill="hold">
                            <p:stCondLst>
                              <p:cond delay="500"/>
                            </p:stCondLst>
                            <p:childTnLst>
                              <p:par>
                                <p:cTn id="23" presetID="22" presetClass="entr" presetSubtype="2" fill="hold" grpId="5" nodeType="afterEffect">
                                  <p:stCondLst>
                                    <p:cond delay="0"/>
                                  </p:stCondLst>
                                  <p:iterate>
                                    <p:tmAbs val="0"/>
                                  </p:iterate>
                                  <p:childTnLst>
                                    <p:set>
                                      <p:cBhvr>
                                        <p:cTn id="24" fill="hold"/>
                                        <p:tgtEl>
                                          <p:spTgt spid="229"/>
                                        </p:tgtEl>
                                        <p:attrNameLst>
                                          <p:attrName>style.visibility</p:attrName>
                                        </p:attrNameLst>
                                      </p:cBhvr>
                                      <p:to>
                                        <p:strVal val="visible"/>
                                      </p:to>
                                    </p:set>
                                    <p:animEffect transition="in" filter="wipe(right)">
                                      <p:cBhvr>
                                        <p:cTn id="25" dur="2000"/>
                                        <p:tgtEl>
                                          <p:spTgt spid="229"/>
                                        </p:tgtEl>
                                      </p:cBhvr>
                                    </p:animEffect>
                                  </p:childTnLst>
                                </p:cTn>
                              </p:par>
                            </p:childTnLst>
                          </p:cTn>
                        </p:par>
                        <p:par>
                          <p:cTn id="26" fill="hold">
                            <p:stCondLst>
                              <p:cond delay="2500"/>
                            </p:stCondLst>
                            <p:childTnLst>
                              <p:par>
                                <p:cTn id="27" presetID="3" presetClass="entr" presetSubtype="10" fill="hold" grpId="6" nodeType="afterEffect">
                                  <p:stCondLst>
                                    <p:cond delay="0"/>
                                  </p:stCondLst>
                                  <p:iterate>
                                    <p:tmAbs val="0"/>
                                  </p:iterate>
                                  <p:childTnLst>
                                    <p:set>
                                      <p:cBhvr>
                                        <p:cTn id="28" fill="hold"/>
                                        <p:tgtEl>
                                          <p:spTgt spid="226"/>
                                        </p:tgtEl>
                                        <p:attrNameLst>
                                          <p:attrName>style.visibility</p:attrName>
                                        </p:attrNameLst>
                                      </p:cBhvr>
                                      <p:to>
                                        <p:strVal val="visible"/>
                                      </p:to>
                                    </p:set>
                                    <p:animEffect transition="in" filter="blinds(horizontal)">
                                      <p:cBhvr>
                                        <p:cTn id="29" dur="500"/>
                                        <p:tgtEl>
                                          <p:spTgt spid="226"/>
                                        </p:tgtEl>
                                      </p:cBhvr>
                                    </p:animEffect>
                                  </p:childTnLst>
                                </p:cTn>
                              </p:par>
                            </p:childTnLst>
                          </p:cTn>
                        </p:par>
                        <p:par>
                          <p:cTn id="30" fill="hold">
                            <p:stCondLst>
                              <p:cond delay="3000"/>
                            </p:stCondLst>
                            <p:childTnLst>
                              <p:par>
                                <p:cTn id="31" presetID="22" presetClass="entr" presetSubtype="2" fill="hold" grpId="7" nodeType="afterEffect">
                                  <p:stCondLst>
                                    <p:cond delay="0"/>
                                  </p:stCondLst>
                                  <p:iterate>
                                    <p:tmAbs val="0"/>
                                  </p:iterate>
                                  <p:childTnLst>
                                    <p:set>
                                      <p:cBhvr>
                                        <p:cTn id="32" fill="hold"/>
                                        <p:tgtEl>
                                          <p:spTgt spid="230"/>
                                        </p:tgtEl>
                                        <p:attrNameLst>
                                          <p:attrName>style.visibility</p:attrName>
                                        </p:attrNameLst>
                                      </p:cBhvr>
                                      <p:to>
                                        <p:strVal val="visible"/>
                                      </p:to>
                                    </p:set>
                                    <p:animEffect transition="in" filter="wipe(right)">
                                      <p:cBhvr>
                                        <p:cTn id="33" dur="2000"/>
                                        <p:tgtEl>
                                          <p:spTgt spid="230"/>
                                        </p:tgtEl>
                                      </p:cBhvr>
                                    </p:animEffect>
                                  </p:childTnLst>
                                </p:cTn>
                              </p:par>
                            </p:childTnLst>
                          </p:cTn>
                        </p:par>
                        <p:par>
                          <p:cTn id="34" fill="hold">
                            <p:stCondLst>
                              <p:cond delay="5000"/>
                            </p:stCondLst>
                            <p:childTnLst>
                              <p:par>
                                <p:cTn id="35" presetID="3" presetClass="entr" presetSubtype="10" fill="hold" grpId="8" nodeType="afterEffect">
                                  <p:stCondLst>
                                    <p:cond delay="0"/>
                                  </p:stCondLst>
                                  <p:iterate>
                                    <p:tmAbs val="0"/>
                                  </p:iterate>
                                  <p:childTnLst>
                                    <p:set>
                                      <p:cBhvr>
                                        <p:cTn id="36" fill="hold"/>
                                        <p:tgtEl>
                                          <p:spTgt spid="227"/>
                                        </p:tgtEl>
                                        <p:attrNameLst>
                                          <p:attrName>style.visibility</p:attrName>
                                        </p:attrNameLst>
                                      </p:cBhvr>
                                      <p:to>
                                        <p:strVal val="visible"/>
                                      </p:to>
                                    </p:set>
                                    <p:animEffect transition="in" filter="blinds(horizontal)">
                                      <p:cBhvr>
                                        <p:cTn id="37" dur="500"/>
                                        <p:tgtEl>
                                          <p:spTgt spid="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 grpId="1" animBg="1" advAuto="0"/>
      <p:bldP spid="224" grpId="4" animBg="1" advAuto="0"/>
      <p:bldP spid="225" grpId="2" animBg="1" advAuto="0"/>
      <p:bldP spid="226" grpId="6" animBg="1" advAuto="0"/>
      <p:bldP spid="227" grpId="8" animBg="1" advAuto="0"/>
      <p:bldP spid="228" grpId="3" animBg="1" advAuto="0"/>
      <p:bldP spid="229" grpId="5" animBg="1" advAuto="0"/>
      <p:bldP spid="230" grpId="7"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Rectangle 2"/>
          <p:cNvSpPr txBox="1"/>
          <p:nvPr/>
        </p:nvSpPr>
        <p:spPr>
          <a:xfrm>
            <a:off x="-135256" y="333375"/>
            <a:ext cx="9052562" cy="7934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50000"/>
              </a:lnSpc>
              <a:spcBef>
                <a:spcPts val="2100"/>
              </a:spcBef>
              <a:defRPr sz="3600">
                <a:latin typeface="SimSun"/>
                <a:ea typeface="SimSun"/>
                <a:cs typeface="SimSun"/>
                <a:sym typeface="SimSun"/>
              </a:defRPr>
            </a:pPr>
            <a:r>
              <a:rPr dirty="0"/>
              <a:t>      </a:t>
            </a:r>
            <a:r>
              <a:rPr lang="en-US" dirty="0">
                <a:effectLst>
                  <a:outerShdw blurRad="38100" dist="38100" dir="2700000" rotWithShape="0">
                    <a:srgbClr val="C0C0C0"/>
                  </a:outerShdw>
                </a:effectLst>
              </a:rPr>
              <a:t>1.2 </a:t>
            </a:r>
            <a:r>
              <a:rPr dirty="0" err="1">
                <a:effectLst>
                  <a:outerShdw blurRad="38100" dist="38100" dir="2700000" rotWithShape="0">
                    <a:srgbClr val="C0C0C0"/>
                  </a:outerShdw>
                </a:effectLst>
              </a:rPr>
              <a:t>数据库</a:t>
            </a:r>
            <a:r>
              <a:rPr lang="en-US" dirty="0" err="1">
                <a:effectLst>
                  <a:outerShdw blurRad="38100" dist="38100" dir="2700000" rotWithShape="0">
                    <a:srgbClr val="C0C0C0"/>
                  </a:outerShdw>
                </a:effectLst>
              </a:rPr>
              <a:t>技术的产生与发展</a:t>
            </a:r>
            <a:endParaRPr dirty="0">
              <a:effectLst>
                <a:outerShdw blurRad="38100" dist="38100" dir="2700000" rotWithShape="0">
                  <a:srgbClr val="C0C0C0"/>
                </a:outerShdw>
              </a:effectLst>
            </a:endParaRPr>
          </a:p>
        </p:txBody>
      </p:sp>
      <p:sp>
        <p:nvSpPr>
          <p:cNvPr id="233" name="Rectangle 5"/>
          <p:cNvSpPr/>
          <p:nvPr/>
        </p:nvSpPr>
        <p:spPr>
          <a:xfrm>
            <a:off x="1763713" y="3141663"/>
            <a:ext cx="6480176" cy="1950086"/>
          </a:xfrm>
          <a:prstGeom prst="rect">
            <a:avLst/>
          </a:prstGeom>
          <a:ln>
            <a:solidFill>
              <a:srgbClr val="FFFFFF"/>
            </a:solidFill>
            <a:prstDash val="dash"/>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50000"/>
              </a:lnSpc>
              <a:spcBef>
                <a:spcPts val="1600"/>
              </a:spcBef>
              <a:defRPr>
                <a:latin typeface="SimSun"/>
                <a:ea typeface="SimSun"/>
                <a:cs typeface="SimSun"/>
                <a:sym typeface="SimSun"/>
              </a:defRPr>
            </a:pPr>
            <a:r>
              <a:t>IMS系统（层次模型）---------1968年</a:t>
            </a:r>
          </a:p>
          <a:p>
            <a:pPr>
              <a:lnSpc>
                <a:spcPct val="150000"/>
              </a:lnSpc>
              <a:spcBef>
                <a:spcPts val="1600"/>
              </a:spcBef>
              <a:defRPr>
                <a:latin typeface="SimSun"/>
                <a:ea typeface="SimSun"/>
                <a:cs typeface="SimSun"/>
                <a:sym typeface="SimSun"/>
              </a:defRPr>
            </a:pPr>
            <a:r>
              <a:t>DBTG报告（网状系统）--------1969年</a:t>
            </a:r>
          </a:p>
          <a:p>
            <a:pPr>
              <a:lnSpc>
                <a:spcPct val="150000"/>
              </a:lnSpc>
              <a:spcBef>
                <a:spcPts val="1600"/>
              </a:spcBef>
              <a:defRPr>
                <a:latin typeface="SimSun"/>
                <a:ea typeface="SimSun"/>
                <a:cs typeface="SimSun"/>
                <a:sym typeface="SimSun"/>
              </a:defRPr>
            </a:pPr>
            <a:r>
              <a:t>E.F.Codd的文章（关系模型）--1970年</a:t>
            </a:r>
          </a:p>
        </p:txBody>
      </p:sp>
      <p:grpSp>
        <p:nvGrpSpPr>
          <p:cNvPr id="240" name="Group 6"/>
          <p:cNvGrpSpPr/>
          <p:nvPr/>
        </p:nvGrpSpPr>
        <p:grpSpPr>
          <a:xfrm>
            <a:off x="-1" y="333375"/>
            <a:ext cx="8382001" cy="1371600"/>
            <a:chOff x="0" y="0"/>
            <a:chExt cx="8381999" cy="1371600"/>
          </a:xfrm>
        </p:grpSpPr>
        <p:sp>
          <p:nvSpPr>
            <p:cNvPr id="234" name="Rectangle 7"/>
            <p:cNvSpPr/>
            <p:nvPr/>
          </p:nvSpPr>
          <p:spPr>
            <a:xfrm>
              <a:off x="285220" y="141287"/>
              <a:ext cx="622830" cy="617538"/>
            </a:xfrm>
            <a:prstGeom prst="rect">
              <a:avLst/>
            </a:prstGeom>
            <a:gradFill flip="none" rotWithShape="1">
              <a:gsLst>
                <a:gs pos="0">
                  <a:srgbClr val="0000FF"/>
                </a:gs>
                <a:gs pos="100000">
                  <a:schemeClr val="accent1"/>
                </a:gs>
              </a:gsLst>
              <a:lin ang="54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35" name="Rectangle 8"/>
            <p:cNvSpPr/>
            <p:nvPr/>
          </p:nvSpPr>
          <p:spPr>
            <a:xfrm>
              <a:off x="406003" y="690562"/>
              <a:ext cx="414735" cy="619126"/>
            </a:xfrm>
            <a:prstGeom prst="rect">
              <a:avLst/>
            </a:prstGeom>
            <a:solidFill>
              <a:srgbClr val="FFFF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36" name="Rectangle 9"/>
            <p:cNvSpPr/>
            <p:nvPr/>
          </p:nvSpPr>
          <p:spPr>
            <a:xfrm>
              <a:off x="769805" y="690562"/>
              <a:ext cx="360892" cy="619126"/>
            </a:xfrm>
            <a:prstGeom prst="rect">
              <a:avLst/>
            </a:prstGeom>
            <a:gradFill flip="none" rotWithShape="1">
              <a:gsLst>
                <a:gs pos="0">
                  <a:srgbClr val="FFFF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37" name="Rectangle 10"/>
            <p:cNvSpPr/>
            <p:nvPr/>
          </p:nvSpPr>
          <p:spPr>
            <a:xfrm>
              <a:off x="-1" y="457200"/>
              <a:ext cx="628651" cy="609600"/>
            </a:xfrm>
            <a:prstGeom prst="rect">
              <a:avLst/>
            </a:prstGeom>
            <a:gradFill flip="none" rotWithShape="1">
              <a:gsLst>
                <a:gs pos="0">
                  <a:srgbClr val="0000FF"/>
                </a:gs>
                <a:gs pos="100000">
                  <a:srgbClr val="FF0033"/>
                </a:gs>
              </a:gsLst>
              <a:lin ang="189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38" name="Rectangle 11"/>
            <p:cNvSpPr/>
            <p:nvPr/>
          </p:nvSpPr>
          <p:spPr>
            <a:xfrm>
              <a:off x="622829" y="0"/>
              <a:ext cx="32015" cy="1371600"/>
            </a:xfrm>
            <a:prstGeom prst="rect">
              <a:avLst/>
            </a:prstGeom>
            <a:solidFill>
              <a:srgbClr val="0000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39" name="Rectangle 12"/>
            <p:cNvSpPr/>
            <p:nvPr/>
          </p:nvSpPr>
          <p:spPr>
            <a:xfrm>
              <a:off x="309959" y="1030287"/>
              <a:ext cx="8072041" cy="41276"/>
            </a:xfrm>
            <a:prstGeom prst="rect">
              <a:avLst/>
            </a:prstGeom>
            <a:gradFill flip="none" rotWithShape="1">
              <a:gsLst>
                <a:gs pos="0">
                  <a:srgbClr val="0000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grpSp>
      <p:sp>
        <p:nvSpPr>
          <p:cNvPr id="241" name="Text Box 13"/>
          <p:cNvSpPr txBox="1"/>
          <p:nvPr/>
        </p:nvSpPr>
        <p:spPr>
          <a:xfrm>
            <a:off x="1763713" y="2084312"/>
            <a:ext cx="5310701" cy="80021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indent="609600">
              <a:lnSpc>
                <a:spcPct val="100000"/>
              </a:lnSpc>
              <a:defRPr>
                <a:solidFill>
                  <a:srgbClr val="800000"/>
                </a:solidFill>
                <a:latin typeface="SimSun"/>
                <a:ea typeface="SimSun"/>
                <a:cs typeface="SimSun"/>
                <a:sym typeface="SimSun"/>
              </a:defRPr>
            </a:pPr>
            <a:r>
              <a:rPr lang="en-US" altLang="zh-CN" dirty="0"/>
              <a:t>20</a:t>
            </a:r>
            <a:r>
              <a:rPr lang="zh-CN" altLang="en-US" dirty="0"/>
              <a:t>世纪</a:t>
            </a:r>
            <a:r>
              <a:rPr lang="en-US" altLang="zh-CN" dirty="0"/>
              <a:t>60</a:t>
            </a:r>
            <a:r>
              <a:rPr lang="zh-CN" altLang="en-US" dirty="0"/>
              <a:t>年代末的</a:t>
            </a:r>
            <a:r>
              <a:rPr lang="zh-CN" altLang="en-US" b="1" dirty="0">
                <a:solidFill>
                  <a:srgbClr val="FF0000"/>
                </a:solidFill>
              </a:rPr>
              <a:t>三</a:t>
            </a:r>
            <a:r>
              <a:rPr lang="zh-CN" altLang="en-US" dirty="0"/>
              <a:t>件大事</a:t>
            </a:r>
            <a:endParaRPr lang="en-US" altLang="zh-CN" dirty="0"/>
          </a:p>
          <a:p>
            <a:pPr indent="609600">
              <a:lnSpc>
                <a:spcPct val="100000"/>
              </a:lnSpc>
              <a:defRPr>
                <a:solidFill>
                  <a:srgbClr val="800000"/>
                </a:solidFill>
                <a:latin typeface="SimSun"/>
                <a:ea typeface="SimSun"/>
                <a:cs typeface="SimSun"/>
                <a:sym typeface="SimSun"/>
              </a:defRPr>
            </a:pPr>
            <a:r>
              <a:rPr lang="zh-CN" altLang="en-US" sz="1800" dirty="0"/>
              <a:t>（数据管理技术进入数据库阶段的标志）</a:t>
            </a:r>
            <a:endParaRPr lang="zh-CN" altLang="en-US" dirty="0"/>
          </a:p>
        </p:txBody>
      </p:sp>
      <p:pic>
        <p:nvPicPr>
          <p:cNvPr id="12" name="图片 11">
            <a:extLst>
              <a:ext uri="{FF2B5EF4-FFF2-40B4-BE49-F238E27FC236}">
                <a16:creationId xmlns:a16="http://schemas.microsoft.com/office/drawing/2014/main" id="{DD9A7596-D266-594B-84CF-ABDF4246EC4E}"/>
              </a:ext>
            </a:extLst>
          </p:cNvPr>
          <p:cNvPicPr>
            <a:picLocks noChangeAspect="1"/>
          </p:cNvPicPr>
          <p:nvPr/>
        </p:nvPicPr>
        <p:blipFill rotWithShape="1">
          <a:blip r:embed="rId3"/>
          <a:srcRect l="676" t="20973" r="54062" b="13716"/>
          <a:stretch/>
        </p:blipFill>
        <p:spPr>
          <a:xfrm>
            <a:off x="1129074" y="3243071"/>
            <a:ext cx="577970" cy="55043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3" presetClass="entr" presetSubtype="10" fill="hold" grpId="1" nodeType="clickEffect">
                                  <p:stCondLst>
                                    <p:cond delay="0"/>
                                  </p:stCondLst>
                                  <p:iterate>
                                    <p:tmAbs val="0"/>
                                  </p:iterate>
                                  <p:childTnLst>
                                    <p:set>
                                      <p:cBhvr>
                                        <p:cTn id="6" fill="hold"/>
                                        <p:tgtEl>
                                          <p:spTgt spid="233"/>
                                        </p:tgtEl>
                                        <p:attrNameLst>
                                          <p:attrName>style.visibility</p:attrName>
                                        </p:attrNameLst>
                                      </p:cBhvr>
                                      <p:to>
                                        <p:strVal val="visible"/>
                                      </p:to>
                                    </p:set>
                                    <p:animEffect transition="in" filter="blinds(horizontal)">
                                      <p:cBhvr>
                                        <p:cTn id="7" dur="500"/>
                                        <p:tgtEl>
                                          <p:spTgt spid="23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 grpId="1"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Rectangle 3"/>
          <p:cNvSpPr txBox="1">
            <a:spLocks noGrp="1"/>
          </p:cNvSpPr>
          <p:nvPr>
            <p:ph type="body" sz="quarter" idx="4294967295"/>
          </p:nvPr>
        </p:nvSpPr>
        <p:spPr>
          <a:xfrm>
            <a:off x="1042988" y="1568450"/>
            <a:ext cx="7993061" cy="1068388"/>
          </a:xfrm>
          <a:prstGeom prst="rect">
            <a:avLst/>
          </a:prstGeom>
        </p:spPr>
        <p:txBody>
          <a:bodyPr>
            <a:normAutofit/>
          </a:bodyPr>
          <a:lstStyle/>
          <a:p>
            <a:pPr>
              <a:defRPr sz="3000" b="1"/>
            </a:pPr>
            <a:r>
              <a:rPr sz="2400" dirty="0"/>
              <a:t>1960</a:t>
            </a:r>
            <a:r>
              <a:rPr sz="2400" b="0" dirty="0">
                <a:latin typeface="SimSun"/>
                <a:ea typeface="SimSun"/>
                <a:cs typeface="SimSun"/>
                <a:sym typeface="SimSun"/>
              </a:rPr>
              <a:t>，</a:t>
            </a:r>
            <a:r>
              <a:rPr sz="2400" dirty="0"/>
              <a:t>Charls </a:t>
            </a:r>
            <a:r>
              <a:rPr sz="2400" dirty="0" err="1"/>
              <a:t>Batchman</a:t>
            </a:r>
            <a:r>
              <a:rPr sz="2400" b="0" dirty="0">
                <a:latin typeface="SimSun"/>
                <a:ea typeface="SimSun"/>
                <a:cs typeface="SimSun"/>
                <a:sym typeface="SimSun"/>
              </a:rPr>
              <a:t> </a:t>
            </a:r>
            <a:r>
              <a:rPr sz="2400" b="0" dirty="0" err="1">
                <a:latin typeface="SimSun"/>
                <a:ea typeface="SimSun"/>
                <a:cs typeface="SimSun"/>
                <a:sym typeface="SimSun"/>
              </a:rPr>
              <a:t>网状数据库之父</a:t>
            </a:r>
            <a:endParaRPr sz="2400" b="0" dirty="0">
              <a:latin typeface="SimSun"/>
              <a:ea typeface="SimSun"/>
              <a:cs typeface="SimSun"/>
              <a:sym typeface="SimSun"/>
            </a:endParaRPr>
          </a:p>
        </p:txBody>
      </p:sp>
      <p:pic>
        <p:nvPicPr>
          <p:cNvPr id="244" name="Picture 2" descr="Picture 2"/>
          <p:cNvPicPr>
            <a:picLocks noChangeAspect="1"/>
          </p:cNvPicPr>
          <p:nvPr/>
        </p:nvPicPr>
        <p:blipFill>
          <a:blip r:embed="rId2"/>
          <a:stretch>
            <a:fillRect/>
          </a:stretch>
        </p:blipFill>
        <p:spPr>
          <a:xfrm>
            <a:off x="596634" y="2303483"/>
            <a:ext cx="2524729" cy="3525341"/>
          </a:xfrm>
          <a:prstGeom prst="rect">
            <a:avLst/>
          </a:prstGeom>
          <a:ln w="12700">
            <a:miter lim="400000"/>
          </a:ln>
        </p:spPr>
      </p:pic>
      <p:sp>
        <p:nvSpPr>
          <p:cNvPr id="245" name="矩形 2"/>
          <p:cNvSpPr txBox="1"/>
          <p:nvPr/>
        </p:nvSpPr>
        <p:spPr>
          <a:xfrm>
            <a:off x="774605" y="5827713"/>
            <a:ext cx="4228148" cy="41549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l">
              <a:lnSpc>
                <a:spcPct val="100000"/>
              </a:lnSpc>
              <a:defRPr sz="2400">
                <a:latin typeface="SimSun"/>
                <a:ea typeface="SimSun"/>
                <a:cs typeface="SimSun"/>
                <a:sym typeface="SimSun"/>
              </a:defRPr>
            </a:pPr>
            <a:r>
              <a:rPr dirty="0" err="1"/>
              <a:t>查尔斯·巴赫曼</a:t>
            </a:r>
            <a:r>
              <a:rPr dirty="0"/>
              <a:t> </a:t>
            </a:r>
            <a:endParaRPr lang="en-US" dirty="0"/>
          </a:p>
          <a:p>
            <a:pPr algn="l">
              <a:lnSpc>
                <a:spcPct val="100000"/>
              </a:lnSpc>
              <a:defRPr sz="2400">
                <a:latin typeface="SimSun"/>
                <a:ea typeface="SimSun"/>
                <a:cs typeface="SimSun"/>
                <a:sym typeface="SimSun"/>
              </a:defRPr>
            </a:pPr>
            <a:endParaRPr lang="en-US" dirty="0"/>
          </a:p>
          <a:p>
            <a:pPr algn="l">
              <a:lnSpc>
                <a:spcPct val="100000"/>
              </a:lnSpc>
              <a:defRPr sz="2400">
                <a:latin typeface="SimSun"/>
                <a:ea typeface="SimSun"/>
                <a:cs typeface="SimSun"/>
                <a:sym typeface="SimSun"/>
              </a:defRPr>
            </a:pPr>
            <a:br>
              <a:rPr dirty="0"/>
            </a:br>
            <a:br>
              <a:rPr lang="en-US" altLang="zh-CN" dirty="0"/>
            </a:br>
            <a:br>
              <a:rPr lang="zh-CN" altLang="en-US" dirty="0"/>
            </a:br>
            <a:br>
              <a:rPr lang="zh-CN" altLang="en-US" dirty="0"/>
            </a:br>
            <a:br>
              <a:rPr lang="en-US" dirty="0"/>
            </a:br>
            <a:r>
              <a:rPr lang="zh-CN" altLang="en-US" dirty="0"/>
              <a:t> </a:t>
            </a:r>
            <a:br>
              <a:rPr lang="zh-CN" altLang="en-US" dirty="0"/>
            </a:br>
            <a:br>
              <a:rPr lang="zh-CN" altLang="en-US" dirty="0"/>
            </a:br>
            <a:br>
              <a:rPr lang="zh-CN" altLang="en-US" dirty="0"/>
            </a:br>
            <a:r>
              <a:rPr lang="zh-CN" altLang="en-US" dirty="0"/>
              <a:t> </a:t>
            </a:r>
            <a:endParaRPr dirty="0"/>
          </a:p>
        </p:txBody>
      </p:sp>
      <p:sp>
        <p:nvSpPr>
          <p:cNvPr id="246" name="Rectangle 2"/>
          <p:cNvSpPr txBox="1"/>
          <p:nvPr/>
        </p:nvSpPr>
        <p:spPr>
          <a:xfrm>
            <a:off x="1124875" y="-125016"/>
            <a:ext cx="9052562" cy="10259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indent="609600" algn="ctr">
              <a:defRPr sz="3600">
                <a:solidFill>
                  <a:srgbClr val="800000"/>
                </a:solidFill>
                <a:effectLst>
                  <a:outerShdw blurRad="38100" dist="38100" dir="2700000" rotWithShape="0">
                    <a:srgbClr val="C0C0C0"/>
                  </a:outerShdw>
                </a:effectLst>
                <a:latin typeface="SimSun"/>
                <a:ea typeface="SimSun"/>
                <a:cs typeface="SimSun"/>
                <a:sym typeface="SimSun"/>
              </a:defRPr>
            </a:lvl1pPr>
          </a:lstStyle>
          <a:p>
            <a:pPr marL="0" marR="0" lvl="0" indent="0" algn="l" defTabSz="914400" rtl="0" eaLnBrk="1" fontAlgn="auto" latinLnBrk="0" hangingPunct="0">
              <a:lnSpc>
                <a:spcPct val="200000"/>
              </a:lnSpc>
              <a:spcBef>
                <a:spcPts val="0"/>
              </a:spcBef>
              <a:spcAft>
                <a:spcPts val="0"/>
              </a:spcAft>
              <a:buClrTx/>
              <a:buSzTx/>
              <a:buFontTx/>
              <a:buNone/>
              <a:tabLst/>
              <a:defRPr sz="3200">
                <a:solidFill>
                  <a:srgbClr val="000099"/>
                </a:solidFill>
                <a:effectLst>
                  <a:outerShdw blurRad="38100" dist="38100" dir="2700000" rotWithShape="0">
                    <a:srgbClr val="C0C0C0"/>
                  </a:outerShdw>
                </a:effectLst>
                <a:latin typeface="SimSun"/>
                <a:ea typeface="SimSun"/>
                <a:cs typeface="SimSun"/>
                <a:sym typeface="SimSun"/>
              </a:defRPr>
            </a:pPr>
            <a:r>
              <a:rPr kumimoji="0" lang="zh-CN" altLang="en-US" sz="3600" b="0"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SimSun"/>
                <a:ea typeface="SimSun"/>
                <a:sym typeface="SimSun"/>
              </a:rPr>
              <a:t> </a:t>
            </a:r>
            <a:r>
              <a:rPr kumimoji="0" lang="zh-CN" altLang="en-US" sz="36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 </a:t>
            </a:r>
            <a:r>
              <a:rPr kumimoji="0" lang="en-US" altLang="zh-CN" sz="36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1.2.1</a:t>
            </a:r>
            <a:r>
              <a:rPr kumimoji="0" lang="zh-CN" altLang="en-US" sz="36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 </a:t>
            </a:r>
            <a:r>
              <a:rPr lang="zh-CN" altLang="en-US" dirty="0"/>
              <a:t>数据库技术的产生</a:t>
            </a:r>
            <a:endParaRPr kumimoji="0" lang="zh-CN" altLang="en-US" sz="3600" b="0"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SimSun"/>
              <a:ea typeface="SimSun"/>
              <a:sym typeface="SimSun"/>
            </a:endParaRPr>
          </a:p>
        </p:txBody>
      </p:sp>
      <p:grpSp>
        <p:nvGrpSpPr>
          <p:cNvPr id="253" name="Group 9"/>
          <p:cNvGrpSpPr/>
          <p:nvPr/>
        </p:nvGrpSpPr>
        <p:grpSpPr>
          <a:xfrm>
            <a:off x="-1" y="0"/>
            <a:ext cx="8382001" cy="1371600"/>
            <a:chOff x="0" y="0"/>
            <a:chExt cx="8381999" cy="1371600"/>
          </a:xfrm>
        </p:grpSpPr>
        <p:sp>
          <p:nvSpPr>
            <p:cNvPr id="247" name="Rectangle 10"/>
            <p:cNvSpPr/>
            <p:nvPr/>
          </p:nvSpPr>
          <p:spPr>
            <a:xfrm>
              <a:off x="285220" y="141287"/>
              <a:ext cx="622830" cy="617538"/>
            </a:xfrm>
            <a:prstGeom prst="rect">
              <a:avLst/>
            </a:prstGeom>
            <a:gradFill flip="none" rotWithShape="1">
              <a:gsLst>
                <a:gs pos="0">
                  <a:srgbClr val="0000FF"/>
                </a:gs>
                <a:gs pos="100000">
                  <a:schemeClr val="accent1"/>
                </a:gs>
              </a:gsLst>
              <a:lin ang="54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48" name="Rectangle 11"/>
            <p:cNvSpPr/>
            <p:nvPr/>
          </p:nvSpPr>
          <p:spPr>
            <a:xfrm>
              <a:off x="406003" y="690562"/>
              <a:ext cx="414735" cy="619126"/>
            </a:xfrm>
            <a:prstGeom prst="rect">
              <a:avLst/>
            </a:prstGeom>
            <a:solidFill>
              <a:srgbClr val="FFFF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49" name="Rectangle 12"/>
            <p:cNvSpPr/>
            <p:nvPr/>
          </p:nvSpPr>
          <p:spPr>
            <a:xfrm>
              <a:off x="769805" y="690562"/>
              <a:ext cx="360892" cy="619126"/>
            </a:xfrm>
            <a:prstGeom prst="rect">
              <a:avLst/>
            </a:prstGeom>
            <a:gradFill flip="none" rotWithShape="1">
              <a:gsLst>
                <a:gs pos="0">
                  <a:srgbClr val="FFFF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50" name="Rectangle 13"/>
            <p:cNvSpPr/>
            <p:nvPr/>
          </p:nvSpPr>
          <p:spPr>
            <a:xfrm>
              <a:off x="-1" y="457200"/>
              <a:ext cx="628651" cy="609600"/>
            </a:xfrm>
            <a:prstGeom prst="rect">
              <a:avLst/>
            </a:prstGeom>
            <a:gradFill flip="none" rotWithShape="1">
              <a:gsLst>
                <a:gs pos="0">
                  <a:srgbClr val="0000FF"/>
                </a:gs>
                <a:gs pos="100000">
                  <a:srgbClr val="FF0033"/>
                </a:gs>
              </a:gsLst>
              <a:lin ang="189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51" name="Rectangle 14"/>
            <p:cNvSpPr/>
            <p:nvPr/>
          </p:nvSpPr>
          <p:spPr>
            <a:xfrm>
              <a:off x="622829" y="0"/>
              <a:ext cx="32015" cy="1371600"/>
            </a:xfrm>
            <a:prstGeom prst="rect">
              <a:avLst/>
            </a:prstGeom>
            <a:solidFill>
              <a:srgbClr val="0000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52" name="Rectangle 15"/>
            <p:cNvSpPr/>
            <p:nvPr/>
          </p:nvSpPr>
          <p:spPr>
            <a:xfrm>
              <a:off x="309959" y="1030287"/>
              <a:ext cx="8072041" cy="41276"/>
            </a:xfrm>
            <a:prstGeom prst="rect">
              <a:avLst/>
            </a:prstGeom>
            <a:gradFill flip="none" rotWithShape="1">
              <a:gsLst>
                <a:gs pos="0">
                  <a:srgbClr val="0000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grpSp>
      <p:graphicFrame>
        <p:nvGraphicFramePr>
          <p:cNvPr id="3" name="表格 3">
            <a:extLst>
              <a:ext uri="{FF2B5EF4-FFF2-40B4-BE49-F238E27FC236}">
                <a16:creationId xmlns:a16="http://schemas.microsoft.com/office/drawing/2014/main" id="{7921E41D-C159-384E-874E-056B195DD1AA}"/>
              </a:ext>
            </a:extLst>
          </p:cNvPr>
          <p:cNvGraphicFramePr>
            <a:graphicFrameLocks noGrp="1"/>
          </p:cNvGraphicFramePr>
          <p:nvPr>
            <p:extLst>
              <p:ext uri="{D42A27DB-BD31-4B8C-83A1-F6EECF244321}">
                <p14:modId xmlns:p14="http://schemas.microsoft.com/office/powerpoint/2010/main" val="2551247748"/>
              </p:ext>
            </p:extLst>
          </p:nvPr>
        </p:nvGraphicFramePr>
        <p:xfrm>
          <a:off x="3542727" y="2261330"/>
          <a:ext cx="4839274" cy="4100513"/>
        </p:xfrm>
        <a:graphic>
          <a:graphicData uri="http://schemas.openxmlformats.org/drawingml/2006/table">
            <a:tbl>
              <a:tblPr firstRow="1" bandRow="1">
                <a:tableStyleId>{10A1B5D5-9B99-4C35-A422-299274C87663}</a:tableStyleId>
              </a:tblPr>
              <a:tblGrid>
                <a:gridCol w="1234867">
                  <a:extLst>
                    <a:ext uri="{9D8B030D-6E8A-4147-A177-3AD203B41FA5}">
                      <a16:colId xmlns:a16="http://schemas.microsoft.com/office/drawing/2014/main" val="1243825248"/>
                    </a:ext>
                  </a:extLst>
                </a:gridCol>
                <a:gridCol w="3604407">
                  <a:extLst>
                    <a:ext uri="{9D8B030D-6E8A-4147-A177-3AD203B41FA5}">
                      <a16:colId xmlns:a16="http://schemas.microsoft.com/office/drawing/2014/main" val="2770960868"/>
                    </a:ext>
                  </a:extLst>
                </a:gridCol>
              </a:tblGrid>
              <a:tr h="370840">
                <a:tc>
                  <a:txBody>
                    <a:bodyPr/>
                    <a:lstStyle/>
                    <a:p>
                      <a:pPr algn="ctr"/>
                      <a:r>
                        <a:rPr lang="zh-CN" altLang="en-US" sz="1800" dirty="0">
                          <a:solidFill>
                            <a:schemeClr val="bg1"/>
                          </a:solidFill>
                        </a:rPr>
                        <a:t>出生日期</a:t>
                      </a:r>
                    </a:p>
                  </a:txBody>
                  <a:tcPr>
                    <a:solidFill>
                      <a:schemeClr val="accent2"/>
                    </a:solidFill>
                  </a:tcPr>
                </a:tc>
                <a:tc>
                  <a:txBody>
                    <a:bodyPr/>
                    <a:lstStyle/>
                    <a:p>
                      <a:pPr algn="ctr"/>
                      <a:r>
                        <a:rPr lang="en-US" altLang="zh-CN" sz="1800" dirty="0">
                          <a:solidFill>
                            <a:schemeClr val="tx1"/>
                          </a:solidFill>
                        </a:rPr>
                        <a:t>1924</a:t>
                      </a:r>
                      <a:r>
                        <a:rPr lang="zh-CN" altLang="en-US" sz="1800" dirty="0">
                          <a:solidFill>
                            <a:schemeClr val="tx1"/>
                          </a:solidFill>
                        </a:rPr>
                        <a:t>年</a:t>
                      </a:r>
                      <a:r>
                        <a:rPr lang="en-US" altLang="zh-CN" sz="1800" dirty="0">
                          <a:solidFill>
                            <a:schemeClr val="tx1"/>
                          </a:solidFill>
                        </a:rPr>
                        <a:t>12</a:t>
                      </a:r>
                      <a:r>
                        <a:rPr lang="zh-CN" altLang="en-US" sz="1800" dirty="0">
                          <a:solidFill>
                            <a:schemeClr val="tx1"/>
                          </a:solidFill>
                        </a:rPr>
                        <a:t>月</a:t>
                      </a:r>
                      <a:r>
                        <a:rPr lang="en-US" altLang="zh-CN" sz="1800" dirty="0">
                          <a:solidFill>
                            <a:schemeClr val="tx1"/>
                          </a:solidFill>
                        </a:rPr>
                        <a:t>11</a:t>
                      </a:r>
                      <a:endParaRPr lang="zh-CN" altLang="en-US" sz="1800" dirty="0">
                        <a:solidFill>
                          <a:schemeClr val="tx1"/>
                        </a:solidFill>
                      </a:endParaRPr>
                    </a:p>
                  </a:txBody>
                  <a:tcPr>
                    <a:noFill/>
                  </a:tcPr>
                </a:tc>
                <a:extLst>
                  <a:ext uri="{0D108BD9-81ED-4DB2-BD59-A6C34878D82A}">
                    <a16:rowId xmlns:a16="http://schemas.microsoft.com/office/drawing/2014/main" val="2294443657"/>
                  </a:ext>
                </a:extLst>
              </a:tr>
              <a:tr h="370840">
                <a:tc>
                  <a:txBody>
                    <a:bodyPr/>
                    <a:lstStyle/>
                    <a:p>
                      <a:pPr algn="ctr"/>
                      <a:r>
                        <a:rPr lang="zh-CN" altLang="en-US" sz="1800" dirty="0">
                          <a:solidFill>
                            <a:schemeClr val="bg1"/>
                          </a:solidFill>
                        </a:rPr>
                        <a:t>出生地</a:t>
                      </a:r>
                    </a:p>
                  </a:txBody>
                  <a:tcPr>
                    <a:solidFill>
                      <a:schemeClr val="accent2"/>
                    </a:solidFill>
                  </a:tcPr>
                </a:tc>
                <a:tc>
                  <a:txBody>
                    <a:bodyPr/>
                    <a:lstStyle/>
                    <a:p>
                      <a:pPr algn="ctr"/>
                      <a:r>
                        <a:rPr lang="zh-CN" altLang="en-US" sz="1800" dirty="0">
                          <a:solidFill>
                            <a:schemeClr val="tx1"/>
                          </a:solidFill>
                        </a:rPr>
                        <a:t>堪萨斯州曼哈顿 </a:t>
                      </a:r>
                    </a:p>
                  </a:txBody>
                  <a:tcPr>
                    <a:noFill/>
                  </a:tcPr>
                </a:tc>
                <a:extLst>
                  <a:ext uri="{0D108BD9-81ED-4DB2-BD59-A6C34878D82A}">
                    <a16:rowId xmlns:a16="http://schemas.microsoft.com/office/drawing/2014/main" val="2788482184"/>
                  </a:ext>
                </a:extLst>
              </a:tr>
              <a:tr h="352011">
                <a:tc>
                  <a:txBody>
                    <a:bodyPr/>
                    <a:lstStyle/>
                    <a:p>
                      <a:pPr marL="0" marR="0" lvl="0" indent="0" algn="ctr" defTabSz="914400" rtl="0" eaLnBrk="1" fontAlgn="auto" latinLnBrk="0" hangingPunct="1">
                        <a:lnSpc>
                          <a:spcPct val="180000"/>
                        </a:lnSpc>
                        <a:spcBef>
                          <a:spcPts val="0"/>
                        </a:spcBef>
                        <a:spcAft>
                          <a:spcPts val="0"/>
                        </a:spcAft>
                        <a:buClrTx/>
                        <a:buSzTx/>
                        <a:buFontTx/>
                        <a:buNone/>
                        <a:tabLst/>
                        <a:defRPr/>
                      </a:pPr>
                      <a:r>
                        <a:rPr lang="zh-CN" altLang="en-US" sz="1800" dirty="0">
                          <a:solidFill>
                            <a:schemeClr val="bg1"/>
                          </a:solidFill>
                        </a:rPr>
                        <a:t>研究领域 </a:t>
                      </a:r>
                    </a:p>
                  </a:txBody>
                  <a:tcPr>
                    <a:solidFill>
                      <a:schemeClr val="accent2"/>
                    </a:solidFill>
                  </a:tcPr>
                </a:tc>
                <a:tc>
                  <a:txBody>
                    <a:bodyPr/>
                    <a:lstStyle/>
                    <a:p>
                      <a:pPr algn="ctr"/>
                      <a:r>
                        <a:rPr lang="zh-CN" altLang="en-US" sz="1800" dirty="0">
                          <a:solidFill>
                            <a:schemeClr val="tx1"/>
                          </a:solidFill>
                        </a:rPr>
                        <a:t>计算机科学 </a:t>
                      </a:r>
                    </a:p>
                  </a:txBody>
                  <a:tcPr>
                    <a:noFill/>
                  </a:tcPr>
                </a:tc>
                <a:extLst>
                  <a:ext uri="{0D108BD9-81ED-4DB2-BD59-A6C34878D82A}">
                    <a16:rowId xmlns:a16="http://schemas.microsoft.com/office/drawing/2014/main" val="826397403"/>
                  </a:ext>
                </a:extLst>
              </a:tr>
              <a:tr h="370840">
                <a:tc>
                  <a:txBody>
                    <a:bodyPr/>
                    <a:lstStyle/>
                    <a:p>
                      <a:pPr algn="ctr"/>
                      <a:r>
                        <a:rPr lang="zh-CN" altLang="en-US" sz="1800" dirty="0">
                          <a:solidFill>
                            <a:schemeClr val="bg1"/>
                          </a:solidFill>
                        </a:rPr>
                        <a:t>著名成就 </a:t>
                      </a:r>
                    </a:p>
                  </a:txBody>
                  <a:tcPr>
                    <a:solidFill>
                      <a:schemeClr val="accent2"/>
                    </a:solidFill>
                  </a:tcPr>
                </a:tc>
                <a:tc>
                  <a:txBody>
                    <a:bodyPr/>
                    <a:lstStyle/>
                    <a:p>
                      <a:pPr algn="ctr"/>
                      <a:r>
                        <a:rPr lang="zh-CN" altLang="en-US" sz="1800" dirty="0">
                          <a:solidFill>
                            <a:schemeClr val="tx1"/>
                          </a:solidFill>
                        </a:rPr>
                        <a:t>数据库技术（</a:t>
                      </a:r>
                      <a:r>
                        <a:rPr lang="en-US" altLang="zh-CN" sz="1800" dirty="0">
                          <a:solidFill>
                            <a:schemeClr val="tx1"/>
                          </a:solidFill>
                        </a:rPr>
                        <a:t>Integrated Data Store） </a:t>
                      </a:r>
                      <a:endParaRPr lang="zh-CN" altLang="en-US" sz="1800" dirty="0">
                        <a:solidFill>
                          <a:schemeClr val="tx1"/>
                        </a:solidFill>
                      </a:endParaRPr>
                    </a:p>
                  </a:txBody>
                  <a:tcPr>
                    <a:noFill/>
                  </a:tcPr>
                </a:tc>
                <a:extLst>
                  <a:ext uri="{0D108BD9-81ED-4DB2-BD59-A6C34878D82A}">
                    <a16:rowId xmlns:a16="http://schemas.microsoft.com/office/drawing/2014/main" val="2703213499"/>
                  </a:ext>
                </a:extLst>
              </a:tr>
              <a:tr h="370840">
                <a:tc>
                  <a:txBody>
                    <a:bodyPr/>
                    <a:lstStyle/>
                    <a:p>
                      <a:pPr algn="ctr"/>
                      <a:r>
                        <a:rPr lang="zh-CN" altLang="en-US" sz="1800" dirty="0">
                          <a:solidFill>
                            <a:schemeClr val="bg1"/>
                          </a:solidFill>
                        </a:rPr>
                        <a:t>国籍</a:t>
                      </a:r>
                    </a:p>
                  </a:txBody>
                  <a:tcPr>
                    <a:solidFill>
                      <a:schemeClr val="accent2"/>
                    </a:solidFill>
                  </a:tcPr>
                </a:tc>
                <a:tc>
                  <a:txBody>
                    <a:bodyPr/>
                    <a:lstStyle/>
                    <a:p>
                      <a:pPr algn="ctr"/>
                      <a:r>
                        <a:rPr lang="zh-CN" altLang="en-US" sz="1800" dirty="0">
                          <a:solidFill>
                            <a:schemeClr val="tx1"/>
                          </a:solidFill>
                        </a:rPr>
                        <a:t>美国</a:t>
                      </a:r>
                    </a:p>
                  </a:txBody>
                  <a:tcPr>
                    <a:noFill/>
                  </a:tcPr>
                </a:tc>
                <a:extLst>
                  <a:ext uri="{0D108BD9-81ED-4DB2-BD59-A6C34878D82A}">
                    <a16:rowId xmlns:a16="http://schemas.microsoft.com/office/drawing/2014/main" val="1898209268"/>
                  </a:ext>
                </a:extLst>
              </a:tr>
              <a:tr h="370840">
                <a:tc>
                  <a:txBody>
                    <a:bodyPr/>
                    <a:lstStyle/>
                    <a:p>
                      <a:pPr algn="ctr"/>
                      <a:r>
                        <a:rPr lang="zh-CN" altLang="en-US" sz="1800" dirty="0">
                          <a:solidFill>
                            <a:schemeClr val="bg1"/>
                          </a:solidFill>
                        </a:rPr>
                        <a:t>研究机构 </a:t>
                      </a:r>
                    </a:p>
                  </a:txBody>
                  <a:tcPr>
                    <a:solidFill>
                      <a:schemeClr val="accent2"/>
                    </a:solidFill>
                  </a:tcPr>
                </a:tc>
                <a:tc>
                  <a:txBody>
                    <a:bodyPr/>
                    <a:lstStyle/>
                    <a:p>
                      <a:pPr algn="ctr"/>
                      <a:r>
                        <a:rPr lang="zh-CN" altLang="en-US" sz="1800" dirty="0">
                          <a:solidFill>
                            <a:schemeClr val="tx1"/>
                          </a:solidFill>
                        </a:rPr>
                        <a:t>陶氏化工、通用电气</a:t>
                      </a:r>
                    </a:p>
                  </a:txBody>
                  <a:tcPr>
                    <a:noFill/>
                  </a:tcPr>
                </a:tc>
                <a:extLst>
                  <a:ext uri="{0D108BD9-81ED-4DB2-BD59-A6C34878D82A}">
                    <a16:rowId xmlns:a16="http://schemas.microsoft.com/office/drawing/2014/main" val="3024198497"/>
                  </a:ext>
                </a:extLst>
              </a:tr>
              <a:tr h="370840">
                <a:tc>
                  <a:txBody>
                    <a:bodyPr/>
                    <a:lstStyle/>
                    <a:p>
                      <a:pPr algn="ctr"/>
                      <a:r>
                        <a:rPr lang="zh-CN" altLang="en-US" sz="1800" dirty="0">
                          <a:solidFill>
                            <a:schemeClr val="bg1"/>
                          </a:solidFill>
                        </a:rPr>
                        <a:t>母校</a:t>
                      </a:r>
                    </a:p>
                  </a:txBody>
                  <a:tcPr>
                    <a:solidFill>
                      <a:schemeClr val="accent2"/>
                    </a:solidFill>
                  </a:tcPr>
                </a:tc>
                <a:tc>
                  <a:txBody>
                    <a:bodyPr/>
                    <a:lstStyle/>
                    <a:p>
                      <a:pPr algn="ctr"/>
                      <a:r>
                        <a:rPr lang="zh-CN" altLang="en-US" sz="1800" dirty="0">
                          <a:solidFill>
                            <a:schemeClr val="tx1"/>
                          </a:solidFill>
                        </a:rPr>
                        <a:t>宾夕法尼亚大学 </a:t>
                      </a:r>
                    </a:p>
                  </a:txBody>
                  <a:tcPr>
                    <a:noFill/>
                  </a:tcPr>
                </a:tc>
                <a:extLst>
                  <a:ext uri="{0D108BD9-81ED-4DB2-BD59-A6C34878D82A}">
                    <a16:rowId xmlns:a16="http://schemas.microsoft.com/office/drawing/2014/main" val="3296624987"/>
                  </a:ext>
                </a:extLst>
              </a:tr>
              <a:tr h="370840">
                <a:tc>
                  <a:txBody>
                    <a:bodyPr/>
                    <a:lstStyle/>
                    <a:p>
                      <a:pPr algn="ctr"/>
                      <a:r>
                        <a:rPr lang="zh-CN" altLang="en-US" sz="1800" dirty="0">
                          <a:solidFill>
                            <a:schemeClr val="bg1"/>
                          </a:solidFill>
                        </a:rPr>
                        <a:t>获奖</a:t>
                      </a:r>
                    </a:p>
                  </a:txBody>
                  <a:tcPr>
                    <a:solidFill>
                      <a:schemeClr val="accent2"/>
                    </a:solidFill>
                  </a:tcPr>
                </a:tc>
                <a:tc>
                  <a:txBody>
                    <a:bodyPr/>
                    <a:lstStyle/>
                    <a:p>
                      <a:pPr algn="ctr"/>
                      <a:r>
                        <a:rPr lang="zh-CN" altLang="en-US" sz="1800" dirty="0">
                          <a:solidFill>
                            <a:schemeClr val="tx1"/>
                          </a:solidFill>
                        </a:rPr>
                        <a:t>图灵奖（</a:t>
                      </a:r>
                      <a:r>
                        <a:rPr lang="en-US" altLang="zh-CN" sz="1800" dirty="0">
                          <a:solidFill>
                            <a:schemeClr val="tx1"/>
                          </a:solidFill>
                        </a:rPr>
                        <a:t>1973</a:t>
                      </a:r>
                      <a:r>
                        <a:rPr lang="zh-CN" altLang="en-US" sz="1800" dirty="0">
                          <a:solidFill>
                            <a:schemeClr val="tx1"/>
                          </a:solidFill>
                        </a:rPr>
                        <a:t>）</a:t>
                      </a:r>
                    </a:p>
                  </a:txBody>
                  <a:tcPr>
                    <a:noFill/>
                  </a:tcPr>
                </a:tc>
                <a:extLst>
                  <a:ext uri="{0D108BD9-81ED-4DB2-BD59-A6C34878D82A}">
                    <a16:rowId xmlns:a16="http://schemas.microsoft.com/office/drawing/2014/main" val="155132409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5" name="Picture 3" descr="Picture 3"/>
          <p:cNvPicPr>
            <a:picLocks noChangeAspect="1"/>
          </p:cNvPicPr>
          <p:nvPr/>
        </p:nvPicPr>
        <p:blipFill>
          <a:blip r:embed="rId2"/>
          <a:stretch>
            <a:fillRect/>
          </a:stretch>
        </p:blipFill>
        <p:spPr>
          <a:xfrm>
            <a:off x="1116012" y="115887"/>
            <a:ext cx="3416301" cy="3889376"/>
          </a:xfrm>
          <a:prstGeom prst="rect">
            <a:avLst/>
          </a:prstGeom>
          <a:ln w="12700">
            <a:solidFill>
              <a:srgbClr val="0000FF"/>
            </a:solidFill>
            <a:miter/>
          </a:ln>
        </p:spPr>
      </p:pic>
      <p:grpSp>
        <p:nvGrpSpPr>
          <p:cNvPr id="258" name="Picture 7"/>
          <p:cNvGrpSpPr/>
          <p:nvPr/>
        </p:nvGrpSpPr>
        <p:grpSpPr>
          <a:xfrm>
            <a:off x="4787900" y="115887"/>
            <a:ext cx="4216400" cy="6769101"/>
            <a:chOff x="0" y="0"/>
            <a:chExt cx="4216400" cy="6769100"/>
          </a:xfrm>
        </p:grpSpPr>
        <p:sp>
          <p:nvSpPr>
            <p:cNvPr id="256" name="矩形"/>
            <p:cNvSpPr/>
            <p:nvPr/>
          </p:nvSpPr>
          <p:spPr>
            <a:xfrm>
              <a:off x="0" y="0"/>
              <a:ext cx="4216400" cy="6769100"/>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pic>
          <p:nvPicPr>
            <p:cNvPr id="257" name="image10.png" descr="image10.png"/>
            <p:cNvPicPr>
              <a:picLocks noChangeAspect="1"/>
            </p:cNvPicPr>
            <p:nvPr/>
          </p:nvPicPr>
          <p:blipFill>
            <a:blip r:embed="rId3"/>
            <a:stretch>
              <a:fillRect/>
            </a:stretch>
          </p:blipFill>
          <p:spPr>
            <a:xfrm>
              <a:off x="0" y="0"/>
              <a:ext cx="4216400" cy="6769100"/>
            </a:xfrm>
            <a:prstGeom prst="rect">
              <a:avLst/>
            </a:prstGeom>
            <a:ln w="12700" cap="flat">
              <a:solidFill>
                <a:srgbClr val="0000FF"/>
              </a:solidFill>
              <a:prstDash val="solid"/>
              <a:miter lim="800000"/>
            </a:ln>
            <a:effectLst/>
          </p:spPr>
        </p:pic>
      </p:grpSp>
      <p:sp>
        <p:nvSpPr>
          <p:cNvPr id="259" name="矩形 2"/>
          <p:cNvSpPr txBox="1"/>
          <p:nvPr/>
        </p:nvSpPr>
        <p:spPr>
          <a:xfrm>
            <a:off x="1304607" y="4076700"/>
            <a:ext cx="3367724" cy="1717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2000">
                <a:latin typeface="SimSun"/>
                <a:ea typeface="SimSun"/>
                <a:cs typeface="SimSun"/>
                <a:sym typeface="SimSun"/>
              </a:defRPr>
            </a:pPr>
            <a:r>
              <a:t>巴赫曼工作中</a:t>
            </a:r>
          </a:p>
          <a:p>
            <a:pPr algn="r">
              <a:defRPr sz="2000">
                <a:latin typeface="SimSun"/>
                <a:ea typeface="SimSun"/>
                <a:cs typeface="SimSun"/>
                <a:sym typeface="SimSun"/>
              </a:defRPr>
            </a:pPr>
            <a:endParaRPr/>
          </a:p>
          <a:p>
            <a:pPr algn="r">
              <a:defRPr sz="2000">
                <a:latin typeface="SimSun"/>
                <a:ea typeface="SimSun"/>
                <a:cs typeface="SimSun"/>
                <a:sym typeface="SimSun"/>
              </a:defRPr>
            </a:pPr>
            <a:r>
              <a:t> “巴赫曼图”</a:t>
            </a:r>
          </a:p>
          <a:p>
            <a:pPr algn="r">
              <a:defRPr sz="2000">
                <a:latin typeface="SimSun"/>
                <a:ea typeface="SimSun"/>
                <a:cs typeface="SimSun"/>
                <a:sym typeface="SimSun"/>
              </a:defRPr>
            </a:pPr>
            <a:r>
              <a:t>(Bachman diagram)。</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Rectangle 3"/>
          <p:cNvSpPr txBox="1">
            <a:spLocks noGrp="1"/>
          </p:cNvSpPr>
          <p:nvPr>
            <p:ph type="body" sz="quarter" idx="4294967295"/>
          </p:nvPr>
        </p:nvSpPr>
        <p:spPr>
          <a:xfrm>
            <a:off x="1187450" y="1479549"/>
            <a:ext cx="7956550" cy="766765"/>
          </a:xfrm>
          <a:prstGeom prst="rect">
            <a:avLst/>
          </a:prstGeom>
        </p:spPr>
        <p:txBody>
          <a:bodyPr>
            <a:normAutofit/>
          </a:bodyPr>
          <a:lstStyle/>
          <a:p>
            <a:pPr>
              <a:defRPr>
                <a:latin typeface="SimSun"/>
                <a:ea typeface="SimSun"/>
                <a:cs typeface="SimSun"/>
                <a:sym typeface="SimSun"/>
              </a:defRPr>
            </a:pPr>
            <a:r>
              <a:rPr sz="2400" dirty="0"/>
              <a:t>1970，E. </a:t>
            </a:r>
            <a:r>
              <a:rPr sz="2400" dirty="0" err="1"/>
              <a:t>F.Codd</a:t>
            </a:r>
            <a:r>
              <a:rPr sz="2400" dirty="0"/>
              <a:t> </a:t>
            </a:r>
            <a:r>
              <a:rPr sz="2400" dirty="0" err="1"/>
              <a:t>关系数据库</a:t>
            </a:r>
            <a:r>
              <a:rPr lang="zh-CN" altLang="en-US" sz="2400" dirty="0"/>
              <a:t>之父</a:t>
            </a:r>
            <a:endParaRPr sz="2400" dirty="0"/>
          </a:p>
        </p:txBody>
      </p:sp>
      <p:pic>
        <p:nvPicPr>
          <p:cNvPr id="262" name="Picture 1" descr="Picture 1"/>
          <p:cNvPicPr>
            <a:picLocks noChangeAspect="1"/>
          </p:cNvPicPr>
          <p:nvPr/>
        </p:nvPicPr>
        <p:blipFill>
          <a:blip r:embed="rId2"/>
          <a:stretch>
            <a:fillRect/>
          </a:stretch>
        </p:blipFill>
        <p:spPr>
          <a:xfrm>
            <a:off x="656473" y="2128809"/>
            <a:ext cx="2524993" cy="3591219"/>
          </a:xfrm>
          <a:prstGeom prst="rect">
            <a:avLst/>
          </a:prstGeom>
          <a:ln w="12700">
            <a:solidFill>
              <a:srgbClr val="0000FF"/>
            </a:solidFill>
            <a:miter/>
          </a:ln>
        </p:spPr>
      </p:pic>
      <p:sp>
        <p:nvSpPr>
          <p:cNvPr id="264" name="Rectangle 2"/>
          <p:cNvSpPr txBox="1"/>
          <p:nvPr/>
        </p:nvSpPr>
        <p:spPr>
          <a:xfrm>
            <a:off x="992452" y="-57759"/>
            <a:ext cx="9052562" cy="10259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indent="609600" algn="ctr">
              <a:defRPr sz="3600">
                <a:solidFill>
                  <a:srgbClr val="800000"/>
                </a:solidFill>
                <a:effectLst>
                  <a:outerShdw blurRad="38100" dist="38100" dir="2700000" rotWithShape="0">
                    <a:srgbClr val="C0C0C0"/>
                  </a:outerShdw>
                </a:effectLst>
                <a:latin typeface="SimSun"/>
                <a:ea typeface="SimSun"/>
                <a:cs typeface="SimSun"/>
                <a:sym typeface="SimSun"/>
              </a:defRPr>
            </a:lvl1pPr>
          </a:lstStyle>
          <a:p>
            <a:pPr marL="0" marR="0" lvl="0" indent="0" algn="l" defTabSz="914400" rtl="0" eaLnBrk="1" fontAlgn="auto" latinLnBrk="0" hangingPunct="0">
              <a:lnSpc>
                <a:spcPct val="200000"/>
              </a:lnSpc>
              <a:spcBef>
                <a:spcPts val="0"/>
              </a:spcBef>
              <a:spcAft>
                <a:spcPts val="0"/>
              </a:spcAft>
              <a:buClrTx/>
              <a:buSzTx/>
              <a:buFontTx/>
              <a:buNone/>
              <a:tabLst/>
              <a:defRPr sz="3200">
                <a:solidFill>
                  <a:srgbClr val="000099"/>
                </a:solidFill>
                <a:effectLst>
                  <a:outerShdw blurRad="38100" dist="38100" dir="2700000" rotWithShape="0">
                    <a:srgbClr val="C0C0C0"/>
                  </a:outerShdw>
                </a:effectLst>
                <a:latin typeface="SimSun"/>
                <a:ea typeface="SimSun"/>
                <a:cs typeface="SimSun"/>
                <a:sym typeface="SimSun"/>
              </a:defRPr>
            </a:pPr>
            <a:r>
              <a:rPr kumimoji="0" lang="zh-CN" altLang="en-US" sz="3600" b="0"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SimSun"/>
                <a:ea typeface="SimSun"/>
                <a:sym typeface="SimSun"/>
              </a:rPr>
              <a:t> </a:t>
            </a:r>
            <a:r>
              <a:rPr kumimoji="0" lang="zh-CN" altLang="en-US" sz="36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 </a:t>
            </a:r>
            <a:r>
              <a:rPr kumimoji="0" lang="en-US" altLang="zh-CN" sz="36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1.2.1</a:t>
            </a:r>
            <a:r>
              <a:rPr kumimoji="0" lang="zh-CN" altLang="en-US" sz="36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 </a:t>
            </a:r>
            <a:r>
              <a:rPr lang="zh-CN" altLang="en-US" dirty="0"/>
              <a:t>数据库技术的产生</a:t>
            </a:r>
            <a:endParaRPr kumimoji="0" lang="zh-CN" altLang="en-US" sz="3600" b="0"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SimSun"/>
              <a:ea typeface="SimSun"/>
              <a:sym typeface="SimSun"/>
            </a:endParaRPr>
          </a:p>
        </p:txBody>
      </p:sp>
      <p:grpSp>
        <p:nvGrpSpPr>
          <p:cNvPr id="271" name="Group 9"/>
          <p:cNvGrpSpPr/>
          <p:nvPr/>
        </p:nvGrpSpPr>
        <p:grpSpPr>
          <a:xfrm>
            <a:off x="-1" y="0"/>
            <a:ext cx="8382001" cy="1371600"/>
            <a:chOff x="0" y="0"/>
            <a:chExt cx="8381999" cy="1371600"/>
          </a:xfrm>
        </p:grpSpPr>
        <p:sp>
          <p:nvSpPr>
            <p:cNvPr id="265" name="Rectangle 10"/>
            <p:cNvSpPr/>
            <p:nvPr/>
          </p:nvSpPr>
          <p:spPr>
            <a:xfrm>
              <a:off x="285220" y="141287"/>
              <a:ext cx="622830" cy="617538"/>
            </a:xfrm>
            <a:prstGeom prst="rect">
              <a:avLst/>
            </a:prstGeom>
            <a:gradFill flip="none" rotWithShape="1">
              <a:gsLst>
                <a:gs pos="0">
                  <a:srgbClr val="0000FF"/>
                </a:gs>
                <a:gs pos="100000">
                  <a:schemeClr val="accent1"/>
                </a:gs>
              </a:gsLst>
              <a:lin ang="54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66" name="Rectangle 11"/>
            <p:cNvSpPr/>
            <p:nvPr/>
          </p:nvSpPr>
          <p:spPr>
            <a:xfrm>
              <a:off x="406003" y="690562"/>
              <a:ext cx="414735" cy="619126"/>
            </a:xfrm>
            <a:prstGeom prst="rect">
              <a:avLst/>
            </a:prstGeom>
            <a:solidFill>
              <a:srgbClr val="FFFF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67" name="Rectangle 12"/>
            <p:cNvSpPr/>
            <p:nvPr/>
          </p:nvSpPr>
          <p:spPr>
            <a:xfrm>
              <a:off x="769805" y="690562"/>
              <a:ext cx="360892" cy="619126"/>
            </a:xfrm>
            <a:prstGeom prst="rect">
              <a:avLst/>
            </a:prstGeom>
            <a:gradFill flip="none" rotWithShape="1">
              <a:gsLst>
                <a:gs pos="0">
                  <a:srgbClr val="FFFF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68" name="Rectangle 13"/>
            <p:cNvSpPr/>
            <p:nvPr/>
          </p:nvSpPr>
          <p:spPr>
            <a:xfrm>
              <a:off x="-1" y="457200"/>
              <a:ext cx="628651" cy="609600"/>
            </a:xfrm>
            <a:prstGeom prst="rect">
              <a:avLst/>
            </a:prstGeom>
            <a:gradFill flip="none" rotWithShape="1">
              <a:gsLst>
                <a:gs pos="0">
                  <a:srgbClr val="0000FF"/>
                </a:gs>
                <a:gs pos="100000">
                  <a:srgbClr val="FF0033"/>
                </a:gs>
              </a:gsLst>
              <a:lin ang="189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69" name="Rectangle 14"/>
            <p:cNvSpPr/>
            <p:nvPr/>
          </p:nvSpPr>
          <p:spPr>
            <a:xfrm>
              <a:off x="622829" y="0"/>
              <a:ext cx="32015" cy="1371600"/>
            </a:xfrm>
            <a:prstGeom prst="rect">
              <a:avLst/>
            </a:prstGeom>
            <a:solidFill>
              <a:srgbClr val="0000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70" name="Rectangle 15"/>
            <p:cNvSpPr/>
            <p:nvPr/>
          </p:nvSpPr>
          <p:spPr>
            <a:xfrm>
              <a:off x="309959" y="1030287"/>
              <a:ext cx="8072041" cy="41276"/>
            </a:xfrm>
            <a:prstGeom prst="rect">
              <a:avLst/>
            </a:prstGeom>
            <a:gradFill flip="none" rotWithShape="1">
              <a:gsLst>
                <a:gs pos="0">
                  <a:srgbClr val="0000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grpSp>
      <p:graphicFrame>
        <p:nvGraphicFramePr>
          <p:cNvPr id="13" name="表格 3">
            <a:extLst>
              <a:ext uri="{FF2B5EF4-FFF2-40B4-BE49-F238E27FC236}">
                <a16:creationId xmlns:a16="http://schemas.microsoft.com/office/drawing/2014/main" id="{22F82EBD-391F-1B43-BFFD-922704535D80}"/>
              </a:ext>
            </a:extLst>
          </p:cNvPr>
          <p:cNvGraphicFramePr>
            <a:graphicFrameLocks noGrp="1"/>
          </p:cNvGraphicFramePr>
          <p:nvPr>
            <p:extLst>
              <p:ext uri="{D42A27DB-BD31-4B8C-83A1-F6EECF244321}">
                <p14:modId xmlns:p14="http://schemas.microsoft.com/office/powerpoint/2010/main" val="2396830002"/>
              </p:ext>
            </p:extLst>
          </p:nvPr>
        </p:nvGraphicFramePr>
        <p:xfrm>
          <a:off x="3483989" y="2128810"/>
          <a:ext cx="4839274" cy="4103307"/>
        </p:xfrm>
        <a:graphic>
          <a:graphicData uri="http://schemas.openxmlformats.org/drawingml/2006/table">
            <a:tbl>
              <a:tblPr firstRow="1" bandRow="1">
                <a:tableStyleId>{10A1B5D5-9B99-4C35-A422-299274C87663}</a:tableStyleId>
              </a:tblPr>
              <a:tblGrid>
                <a:gridCol w="1234867">
                  <a:extLst>
                    <a:ext uri="{9D8B030D-6E8A-4147-A177-3AD203B41FA5}">
                      <a16:colId xmlns:a16="http://schemas.microsoft.com/office/drawing/2014/main" val="1243825248"/>
                    </a:ext>
                  </a:extLst>
                </a:gridCol>
                <a:gridCol w="3604407">
                  <a:extLst>
                    <a:ext uri="{9D8B030D-6E8A-4147-A177-3AD203B41FA5}">
                      <a16:colId xmlns:a16="http://schemas.microsoft.com/office/drawing/2014/main" val="2770960868"/>
                    </a:ext>
                  </a:extLst>
                </a:gridCol>
              </a:tblGrid>
              <a:tr h="370840">
                <a:tc>
                  <a:txBody>
                    <a:bodyPr/>
                    <a:lstStyle/>
                    <a:p>
                      <a:pPr algn="ctr"/>
                      <a:r>
                        <a:rPr lang="zh-CN" altLang="en-US" sz="1800" dirty="0">
                          <a:solidFill>
                            <a:schemeClr val="bg1"/>
                          </a:solidFill>
                        </a:rPr>
                        <a:t>生平</a:t>
                      </a:r>
                    </a:p>
                  </a:txBody>
                  <a:tcPr>
                    <a:solidFill>
                      <a:schemeClr val="accent2"/>
                    </a:solidFill>
                  </a:tcPr>
                </a:tc>
                <a:tc>
                  <a:txBody>
                    <a:bodyPr/>
                    <a:lstStyle/>
                    <a:p>
                      <a:pPr algn="ctr"/>
                      <a:r>
                        <a:rPr lang="en-US" altLang="zh-CN" sz="1800" dirty="0">
                          <a:solidFill>
                            <a:schemeClr val="tx1"/>
                          </a:solidFill>
                        </a:rPr>
                        <a:t>1923</a:t>
                      </a:r>
                      <a:r>
                        <a:rPr lang="zh-CN" altLang="en-US" sz="1800" dirty="0">
                          <a:solidFill>
                            <a:schemeClr val="tx1"/>
                          </a:solidFill>
                        </a:rPr>
                        <a:t>年</a:t>
                      </a:r>
                      <a:r>
                        <a:rPr lang="en-US" altLang="zh-CN" sz="1800" dirty="0">
                          <a:solidFill>
                            <a:schemeClr val="tx1"/>
                          </a:solidFill>
                        </a:rPr>
                        <a:t>8</a:t>
                      </a:r>
                      <a:r>
                        <a:rPr lang="zh-CN" altLang="en-US" sz="1800" dirty="0">
                          <a:solidFill>
                            <a:schemeClr val="tx1"/>
                          </a:solidFill>
                        </a:rPr>
                        <a:t>月</a:t>
                      </a:r>
                      <a:r>
                        <a:rPr lang="en-US" altLang="zh-CN" sz="1800" dirty="0">
                          <a:solidFill>
                            <a:schemeClr val="tx1"/>
                          </a:solidFill>
                        </a:rPr>
                        <a:t>23</a:t>
                      </a:r>
                      <a:r>
                        <a:rPr lang="zh-CN" altLang="en-US" sz="1800" dirty="0">
                          <a:solidFill>
                            <a:schemeClr val="tx1"/>
                          </a:solidFill>
                        </a:rPr>
                        <a:t>日－</a:t>
                      </a:r>
                      <a:r>
                        <a:rPr lang="en-US" altLang="zh-CN" sz="1800" dirty="0">
                          <a:solidFill>
                            <a:schemeClr val="tx1"/>
                          </a:solidFill>
                        </a:rPr>
                        <a:t>2003</a:t>
                      </a:r>
                      <a:r>
                        <a:rPr lang="zh-CN" altLang="en-US" sz="1800" dirty="0">
                          <a:solidFill>
                            <a:schemeClr val="tx1"/>
                          </a:solidFill>
                        </a:rPr>
                        <a:t>年</a:t>
                      </a:r>
                      <a:r>
                        <a:rPr lang="en-US" altLang="zh-CN" sz="1800" dirty="0">
                          <a:solidFill>
                            <a:schemeClr val="tx1"/>
                          </a:solidFill>
                        </a:rPr>
                        <a:t>4</a:t>
                      </a:r>
                      <a:r>
                        <a:rPr lang="zh-CN" altLang="en-US" sz="1800" dirty="0">
                          <a:solidFill>
                            <a:schemeClr val="tx1"/>
                          </a:solidFill>
                        </a:rPr>
                        <a:t>月</a:t>
                      </a:r>
                      <a:r>
                        <a:rPr lang="en-US" altLang="zh-CN" sz="1800" dirty="0">
                          <a:solidFill>
                            <a:schemeClr val="tx1"/>
                          </a:solidFill>
                        </a:rPr>
                        <a:t>18</a:t>
                      </a:r>
                      <a:r>
                        <a:rPr lang="zh-CN" altLang="en-US" sz="1800" dirty="0">
                          <a:solidFill>
                            <a:schemeClr val="tx1"/>
                          </a:solidFill>
                        </a:rPr>
                        <a:t>日</a:t>
                      </a:r>
                    </a:p>
                  </a:txBody>
                  <a:tcPr>
                    <a:noFill/>
                  </a:tcPr>
                </a:tc>
                <a:extLst>
                  <a:ext uri="{0D108BD9-81ED-4DB2-BD59-A6C34878D82A}">
                    <a16:rowId xmlns:a16="http://schemas.microsoft.com/office/drawing/2014/main" val="2294443657"/>
                  </a:ext>
                </a:extLst>
              </a:tr>
              <a:tr h="370840">
                <a:tc>
                  <a:txBody>
                    <a:bodyPr/>
                    <a:lstStyle/>
                    <a:p>
                      <a:pPr algn="ctr"/>
                      <a:r>
                        <a:rPr lang="zh-CN" altLang="en-US" sz="1800" dirty="0">
                          <a:solidFill>
                            <a:schemeClr val="bg1"/>
                          </a:solidFill>
                        </a:rPr>
                        <a:t>出生地</a:t>
                      </a:r>
                    </a:p>
                  </a:txBody>
                  <a:tcPr>
                    <a:solidFill>
                      <a:schemeClr val="accent2"/>
                    </a:solidFill>
                  </a:tcPr>
                </a:tc>
                <a:tc>
                  <a:txBody>
                    <a:bodyPr/>
                    <a:lstStyle/>
                    <a:p>
                      <a:pPr algn="ctr"/>
                      <a:r>
                        <a:rPr lang="zh-CN" altLang="en-US" sz="1800" dirty="0"/>
                        <a:t>英格兰多塞特郡的波特兰</a:t>
                      </a:r>
                      <a:endParaRPr lang="zh-CN" altLang="en-US" sz="1800" dirty="0">
                        <a:solidFill>
                          <a:schemeClr val="tx1"/>
                        </a:solidFill>
                      </a:endParaRPr>
                    </a:p>
                  </a:txBody>
                  <a:tcPr>
                    <a:noFill/>
                  </a:tcPr>
                </a:tc>
                <a:extLst>
                  <a:ext uri="{0D108BD9-81ED-4DB2-BD59-A6C34878D82A}">
                    <a16:rowId xmlns:a16="http://schemas.microsoft.com/office/drawing/2014/main" val="2788482184"/>
                  </a:ext>
                </a:extLst>
              </a:tr>
              <a:tr h="352011">
                <a:tc>
                  <a:txBody>
                    <a:bodyPr/>
                    <a:lstStyle/>
                    <a:p>
                      <a:pPr marL="0" marR="0" lvl="0" indent="0" algn="ctr" defTabSz="914400" rtl="0" eaLnBrk="1" fontAlgn="auto" latinLnBrk="0" hangingPunct="1">
                        <a:lnSpc>
                          <a:spcPct val="180000"/>
                        </a:lnSpc>
                        <a:spcBef>
                          <a:spcPts val="0"/>
                        </a:spcBef>
                        <a:spcAft>
                          <a:spcPts val="0"/>
                        </a:spcAft>
                        <a:buClrTx/>
                        <a:buSzTx/>
                        <a:buFontTx/>
                        <a:buNone/>
                        <a:tabLst/>
                        <a:defRPr/>
                      </a:pPr>
                      <a:r>
                        <a:rPr lang="zh-CN" altLang="en-US" sz="1800" dirty="0">
                          <a:solidFill>
                            <a:schemeClr val="bg1"/>
                          </a:solidFill>
                        </a:rPr>
                        <a:t>研究领域 </a:t>
                      </a:r>
                    </a:p>
                  </a:txBody>
                  <a:tcPr>
                    <a:solidFill>
                      <a:schemeClr val="accent2"/>
                    </a:solidFill>
                  </a:tcPr>
                </a:tc>
                <a:tc>
                  <a:txBody>
                    <a:bodyPr/>
                    <a:lstStyle/>
                    <a:p>
                      <a:pPr algn="ctr"/>
                      <a:r>
                        <a:rPr lang="zh-CN" altLang="en-US" sz="1800" dirty="0">
                          <a:solidFill>
                            <a:schemeClr val="tx1"/>
                          </a:solidFill>
                        </a:rPr>
                        <a:t>计算机科学 </a:t>
                      </a:r>
                    </a:p>
                  </a:txBody>
                  <a:tcPr>
                    <a:noFill/>
                  </a:tcPr>
                </a:tc>
                <a:extLst>
                  <a:ext uri="{0D108BD9-81ED-4DB2-BD59-A6C34878D82A}">
                    <a16:rowId xmlns:a16="http://schemas.microsoft.com/office/drawing/2014/main" val="826397403"/>
                  </a:ext>
                </a:extLst>
              </a:tr>
              <a:tr h="370840">
                <a:tc>
                  <a:txBody>
                    <a:bodyPr/>
                    <a:lstStyle/>
                    <a:p>
                      <a:pPr algn="ctr"/>
                      <a:r>
                        <a:rPr lang="zh-CN" altLang="en-US" sz="1800" dirty="0">
                          <a:solidFill>
                            <a:schemeClr val="bg1"/>
                          </a:solidFill>
                        </a:rPr>
                        <a:t>著名成就 </a:t>
                      </a:r>
                    </a:p>
                  </a:txBody>
                  <a:tcPr>
                    <a:solidFill>
                      <a:schemeClr val="accent2"/>
                    </a:solidFill>
                  </a:tcPr>
                </a:tc>
                <a:tc>
                  <a:txBody>
                    <a:bodyPr/>
                    <a:lstStyle/>
                    <a:p>
                      <a:pPr algn="ctr"/>
                      <a:r>
                        <a:rPr lang="zh-CN" altLang="en-US" sz="1800" dirty="0"/>
                        <a:t>关系数据库理论</a:t>
                      </a:r>
                      <a:endParaRPr lang="zh-CN" altLang="en-US" sz="1800" dirty="0">
                        <a:solidFill>
                          <a:schemeClr val="tx1"/>
                        </a:solidFill>
                      </a:endParaRPr>
                    </a:p>
                  </a:txBody>
                  <a:tcPr>
                    <a:noFill/>
                  </a:tcPr>
                </a:tc>
                <a:extLst>
                  <a:ext uri="{0D108BD9-81ED-4DB2-BD59-A6C34878D82A}">
                    <a16:rowId xmlns:a16="http://schemas.microsoft.com/office/drawing/2014/main" val="2703213499"/>
                  </a:ext>
                </a:extLst>
              </a:tr>
              <a:tr h="370840">
                <a:tc>
                  <a:txBody>
                    <a:bodyPr/>
                    <a:lstStyle/>
                    <a:p>
                      <a:pPr algn="ctr"/>
                      <a:r>
                        <a:rPr lang="zh-CN" altLang="en-US" sz="1800" dirty="0">
                          <a:solidFill>
                            <a:schemeClr val="bg1"/>
                          </a:solidFill>
                        </a:rPr>
                        <a:t>国籍</a:t>
                      </a:r>
                    </a:p>
                  </a:txBody>
                  <a:tcPr>
                    <a:solidFill>
                      <a:schemeClr val="accent2"/>
                    </a:solidFill>
                  </a:tcPr>
                </a:tc>
                <a:tc>
                  <a:txBody>
                    <a:bodyPr/>
                    <a:lstStyle/>
                    <a:p>
                      <a:pPr algn="ctr"/>
                      <a:r>
                        <a:rPr lang="zh-CN" altLang="en-US" sz="1800" dirty="0"/>
                        <a:t>英</a:t>
                      </a:r>
                      <a:r>
                        <a:rPr lang="zh-CN" altLang="en-US" sz="1800" dirty="0">
                          <a:solidFill>
                            <a:schemeClr val="tx1"/>
                          </a:solidFill>
                        </a:rPr>
                        <a:t>国</a:t>
                      </a:r>
                    </a:p>
                  </a:txBody>
                  <a:tcPr>
                    <a:noFill/>
                  </a:tcPr>
                </a:tc>
                <a:extLst>
                  <a:ext uri="{0D108BD9-81ED-4DB2-BD59-A6C34878D82A}">
                    <a16:rowId xmlns:a16="http://schemas.microsoft.com/office/drawing/2014/main" val="1898209268"/>
                  </a:ext>
                </a:extLst>
              </a:tr>
              <a:tr h="370840">
                <a:tc>
                  <a:txBody>
                    <a:bodyPr/>
                    <a:lstStyle/>
                    <a:p>
                      <a:pPr algn="ctr"/>
                      <a:r>
                        <a:rPr lang="zh-CN" altLang="en-US" sz="1800" dirty="0">
                          <a:solidFill>
                            <a:schemeClr val="bg1"/>
                          </a:solidFill>
                        </a:rPr>
                        <a:t>研究机构 </a:t>
                      </a:r>
                    </a:p>
                  </a:txBody>
                  <a:tcPr>
                    <a:solidFill>
                      <a:schemeClr val="accent2"/>
                    </a:solidFill>
                  </a:tcPr>
                </a:tc>
                <a:tc>
                  <a:txBody>
                    <a:bodyPr/>
                    <a:lstStyle/>
                    <a:p>
                      <a:pPr algn="ctr"/>
                      <a:r>
                        <a:rPr lang="en-US" altLang="zh-CN" sz="1800" dirty="0"/>
                        <a:t>IBM</a:t>
                      </a:r>
                      <a:endParaRPr lang="zh-CN" altLang="en-US" sz="1800" dirty="0">
                        <a:solidFill>
                          <a:schemeClr val="tx1"/>
                        </a:solidFill>
                      </a:endParaRPr>
                    </a:p>
                  </a:txBody>
                  <a:tcPr>
                    <a:noFill/>
                  </a:tcPr>
                </a:tc>
                <a:extLst>
                  <a:ext uri="{0D108BD9-81ED-4DB2-BD59-A6C34878D82A}">
                    <a16:rowId xmlns:a16="http://schemas.microsoft.com/office/drawing/2014/main" val="3024198497"/>
                  </a:ext>
                </a:extLst>
              </a:tr>
              <a:tr h="370840">
                <a:tc>
                  <a:txBody>
                    <a:bodyPr/>
                    <a:lstStyle/>
                    <a:p>
                      <a:pPr algn="ctr"/>
                      <a:r>
                        <a:rPr lang="zh-CN" altLang="en-US" sz="1800" dirty="0">
                          <a:solidFill>
                            <a:schemeClr val="bg1"/>
                          </a:solidFill>
                        </a:rPr>
                        <a:t>母校</a:t>
                      </a:r>
                    </a:p>
                  </a:txBody>
                  <a:tcPr>
                    <a:solidFill>
                      <a:schemeClr val="accent2"/>
                    </a:solidFill>
                  </a:tcPr>
                </a:tc>
                <a:tc>
                  <a:txBody>
                    <a:bodyPr/>
                    <a:lstStyle/>
                    <a:p>
                      <a:pPr algn="ctr"/>
                      <a:r>
                        <a:rPr lang="zh-CN" altLang="en-US" sz="1800" dirty="0"/>
                        <a:t>密歇根大学</a:t>
                      </a:r>
                      <a:endParaRPr lang="zh-CN" altLang="en-US" sz="1800" dirty="0">
                        <a:solidFill>
                          <a:schemeClr val="tx1"/>
                        </a:solidFill>
                      </a:endParaRPr>
                    </a:p>
                  </a:txBody>
                  <a:tcPr>
                    <a:noFill/>
                  </a:tcPr>
                </a:tc>
                <a:extLst>
                  <a:ext uri="{0D108BD9-81ED-4DB2-BD59-A6C34878D82A}">
                    <a16:rowId xmlns:a16="http://schemas.microsoft.com/office/drawing/2014/main" val="3296624987"/>
                  </a:ext>
                </a:extLst>
              </a:tr>
              <a:tr h="370840">
                <a:tc>
                  <a:txBody>
                    <a:bodyPr/>
                    <a:lstStyle/>
                    <a:p>
                      <a:pPr algn="ctr"/>
                      <a:r>
                        <a:rPr lang="zh-CN" altLang="en-US" sz="1800" dirty="0">
                          <a:solidFill>
                            <a:schemeClr val="bg1"/>
                          </a:solidFill>
                        </a:rPr>
                        <a:t>获奖</a:t>
                      </a:r>
                    </a:p>
                  </a:txBody>
                  <a:tcPr>
                    <a:solidFill>
                      <a:schemeClr val="accent2"/>
                    </a:solidFill>
                  </a:tcPr>
                </a:tc>
                <a:tc>
                  <a:txBody>
                    <a:bodyPr/>
                    <a:lstStyle/>
                    <a:p>
                      <a:pPr algn="ctr"/>
                      <a:r>
                        <a:rPr lang="zh-CN" altLang="en-US" sz="1800" dirty="0">
                          <a:solidFill>
                            <a:schemeClr val="tx1"/>
                          </a:solidFill>
                        </a:rPr>
                        <a:t>图灵奖（</a:t>
                      </a:r>
                      <a:r>
                        <a:rPr lang="en-US" altLang="zh-CN" sz="1800" dirty="0">
                          <a:solidFill>
                            <a:schemeClr val="tx1"/>
                          </a:solidFill>
                        </a:rPr>
                        <a:t>1981</a:t>
                      </a:r>
                      <a:r>
                        <a:rPr lang="zh-CN" altLang="en-US" sz="1800" dirty="0">
                          <a:solidFill>
                            <a:schemeClr val="tx1"/>
                          </a:solidFill>
                        </a:rPr>
                        <a:t>）</a:t>
                      </a:r>
                    </a:p>
                  </a:txBody>
                  <a:tcPr>
                    <a:noFill/>
                  </a:tcPr>
                </a:tc>
                <a:extLst>
                  <a:ext uri="{0D108BD9-81ED-4DB2-BD59-A6C34878D82A}">
                    <a16:rowId xmlns:a16="http://schemas.microsoft.com/office/drawing/2014/main" val="1551324097"/>
                  </a:ext>
                </a:extLst>
              </a:tr>
            </a:tbl>
          </a:graphicData>
        </a:graphic>
      </p:graphicFrame>
      <p:sp>
        <p:nvSpPr>
          <p:cNvPr id="15" name="文本框 14">
            <a:extLst>
              <a:ext uri="{FF2B5EF4-FFF2-40B4-BE49-F238E27FC236}">
                <a16:creationId xmlns:a16="http://schemas.microsoft.com/office/drawing/2014/main" id="{70912084-9ACC-AF4A-8E15-0375645630FF}"/>
              </a:ext>
            </a:extLst>
          </p:cNvPr>
          <p:cNvSpPr txBox="1"/>
          <p:nvPr/>
        </p:nvSpPr>
        <p:spPr>
          <a:xfrm>
            <a:off x="654843" y="5658117"/>
            <a:ext cx="6672468" cy="5648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en-US" sz="2000" dirty="0"/>
              <a:t>埃德加</a:t>
            </a:r>
            <a:r>
              <a:rPr lang="en-US" altLang="zh-CN" sz="2000" dirty="0"/>
              <a:t>·</a:t>
            </a:r>
            <a:r>
              <a:rPr lang="zh-CN" altLang="en-US" sz="2000" dirty="0"/>
              <a:t>弗兰克</a:t>
            </a:r>
            <a:r>
              <a:rPr lang="en-US" altLang="zh-CN" sz="2000" dirty="0"/>
              <a:t>·</a:t>
            </a:r>
            <a:r>
              <a:rPr lang="zh-CN" altLang="en-US" sz="2000" dirty="0"/>
              <a:t>科德</a:t>
            </a:r>
          </a:p>
        </p:txBody>
      </p:sp>
      <p:sp>
        <p:nvSpPr>
          <p:cNvPr id="17" name="文本框 16">
            <a:extLst>
              <a:ext uri="{FF2B5EF4-FFF2-40B4-BE49-F238E27FC236}">
                <a16:creationId xmlns:a16="http://schemas.microsoft.com/office/drawing/2014/main" id="{2F799058-F975-BB4C-9484-CFB909983FC8}"/>
              </a:ext>
            </a:extLst>
          </p:cNvPr>
          <p:cNvSpPr txBox="1"/>
          <p:nvPr/>
        </p:nvSpPr>
        <p:spPr>
          <a:xfrm>
            <a:off x="769804" y="6337665"/>
            <a:ext cx="9079993" cy="5203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1800" dirty="0"/>
              <a:t>A Relational Model of Data for Large Shared Data Banks</a:t>
            </a:r>
            <a:r>
              <a:rPr lang="zh-CN" altLang="en-US" sz="1800" dirty="0"/>
              <a:t>，</a:t>
            </a:r>
            <a:r>
              <a:rPr lang="en-US" altLang="zh-CN" sz="1800" dirty="0"/>
              <a:t>CACM</a:t>
            </a:r>
            <a:r>
              <a:rPr lang="zh-CN" altLang="en-US" sz="1800" dirty="0"/>
              <a:t>，</a:t>
            </a:r>
            <a:r>
              <a:rPr lang="en-US" altLang="zh-CN" sz="1800" dirty="0"/>
              <a:t>1970</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Rectangle 2"/>
          <p:cNvSpPr txBox="1"/>
          <p:nvPr/>
        </p:nvSpPr>
        <p:spPr>
          <a:xfrm>
            <a:off x="871669" y="-120855"/>
            <a:ext cx="9052562" cy="10259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indent="609600" algn="ctr">
              <a:defRPr sz="3600">
                <a:solidFill>
                  <a:srgbClr val="800000"/>
                </a:solidFill>
                <a:effectLst>
                  <a:outerShdw blurRad="38100" dist="38100" dir="2700000" rotWithShape="0">
                    <a:srgbClr val="C0C0C0"/>
                  </a:outerShdw>
                </a:effectLst>
                <a:latin typeface="SimSun"/>
                <a:ea typeface="SimSun"/>
                <a:cs typeface="SimSun"/>
                <a:sym typeface="SimSun"/>
              </a:defRPr>
            </a:lvl1pPr>
          </a:lstStyle>
          <a:p>
            <a:pPr marL="0" marR="0" lvl="0" indent="0" algn="l" defTabSz="914400" rtl="0" eaLnBrk="1" fontAlgn="auto" latinLnBrk="0" hangingPunct="0">
              <a:lnSpc>
                <a:spcPct val="200000"/>
              </a:lnSpc>
              <a:spcBef>
                <a:spcPts val="0"/>
              </a:spcBef>
              <a:spcAft>
                <a:spcPts val="0"/>
              </a:spcAft>
              <a:buClrTx/>
              <a:buSzTx/>
              <a:buFontTx/>
              <a:buNone/>
              <a:tabLst/>
              <a:defRPr sz="3200">
                <a:solidFill>
                  <a:srgbClr val="000099"/>
                </a:solidFill>
                <a:effectLst>
                  <a:outerShdw blurRad="38100" dist="38100" dir="2700000" rotWithShape="0">
                    <a:srgbClr val="C0C0C0"/>
                  </a:outerShdw>
                </a:effectLst>
                <a:latin typeface="SimSun"/>
                <a:ea typeface="SimSun"/>
                <a:cs typeface="SimSun"/>
                <a:sym typeface="SimSun"/>
              </a:defRPr>
            </a:pPr>
            <a:r>
              <a:rPr kumimoji="0" lang="zh-CN" altLang="en-US" sz="3600" b="0"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SimSun"/>
                <a:ea typeface="SimSun"/>
                <a:sym typeface="SimSun"/>
              </a:rPr>
              <a:t> </a:t>
            </a:r>
            <a:r>
              <a:rPr kumimoji="0" lang="zh-CN" altLang="en-US" sz="36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 </a:t>
            </a:r>
            <a:r>
              <a:rPr kumimoji="0" lang="en-US" altLang="zh-CN" sz="36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1.2.1</a:t>
            </a:r>
            <a:r>
              <a:rPr kumimoji="0" lang="zh-CN" altLang="en-US" sz="36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 </a:t>
            </a:r>
            <a:r>
              <a:rPr lang="zh-CN" altLang="en-US" sz="3200" b="1" dirty="0">
                <a:solidFill>
                  <a:srgbClr val="000099"/>
                </a:solidFill>
                <a:latin typeface="Times New Roman"/>
                <a:ea typeface="+mn-ea"/>
                <a:cs typeface="Times New Roman"/>
                <a:sym typeface="Times New Roman"/>
              </a:rPr>
              <a:t>数据库技术的产生</a:t>
            </a:r>
            <a:endParaRPr kumimoji="0" lang="zh-CN" altLang="en-US" sz="3600" b="0"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SimSun"/>
              <a:ea typeface="SimSun"/>
              <a:sym typeface="SimSun"/>
            </a:endParaRPr>
          </a:p>
        </p:txBody>
      </p:sp>
      <p:grpSp>
        <p:nvGrpSpPr>
          <p:cNvPr id="282" name="Group 9"/>
          <p:cNvGrpSpPr/>
          <p:nvPr/>
        </p:nvGrpSpPr>
        <p:grpSpPr>
          <a:xfrm>
            <a:off x="-1" y="0"/>
            <a:ext cx="8382001" cy="1371600"/>
            <a:chOff x="0" y="0"/>
            <a:chExt cx="8381999" cy="1371600"/>
          </a:xfrm>
        </p:grpSpPr>
        <p:sp>
          <p:nvSpPr>
            <p:cNvPr id="276" name="Rectangle 10"/>
            <p:cNvSpPr/>
            <p:nvPr/>
          </p:nvSpPr>
          <p:spPr>
            <a:xfrm>
              <a:off x="285220" y="141287"/>
              <a:ext cx="622830" cy="617538"/>
            </a:xfrm>
            <a:prstGeom prst="rect">
              <a:avLst/>
            </a:prstGeom>
            <a:gradFill flip="none" rotWithShape="1">
              <a:gsLst>
                <a:gs pos="0">
                  <a:srgbClr val="0000FF"/>
                </a:gs>
                <a:gs pos="100000">
                  <a:schemeClr val="accent1"/>
                </a:gs>
              </a:gsLst>
              <a:lin ang="54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77" name="Rectangle 11"/>
            <p:cNvSpPr/>
            <p:nvPr/>
          </p:nvSpPr>
          <p:spPr>
            <a:xfrm>
              <a:off x="406003" y="690562"/>
              <a:ext cx="414735" cy="619126"/>
            </a:xfrm>
            <a:prstGeom prst="rect">
              <a:avLst/>
            </a:prstGeom>
            <a:solidFill>
              <a:srgbClr val="FFFF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78" name="Rectangle 12"/>
            <p:cNvSpPr/>
            <p:nvPr/>
          </p:nvSpPr>
          <p:spPr>
            <a:xfrm>
              <a:off x="769805" y="690562"/>
              <a:ext cx="360892" cy="619126"/>
            </a:xfrm>
            <a:prstGeom prst="rect">
              <a:avLst/>
            </a:prstGeom>
            <a:gradFill flip="none" rotWithShape="1">
              <a:gsLst>
                <a:gs pos="0">
                  <a:srgbClr val="FFFF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79" name="Rectangle 13"/>
            <p:cNvSpPr/>
            <p:nvPr/>
          </p:nvSpPr>
          <p:spPr>
            <a:xfrm>
              <a:off x="-1" y="457200"/>
              <a:ext cx="628651" cy="609600"/>
            </a:xfrm>
            <a:prstGeom prst="rect">
              <a:avLst/>
            </a:prstGeom>
            <a:gradFill flip="none" rotWithShape="1">
              <a:gsLst>
                <a:gs pos="0">
                  <a:srgbClr val="0000FF"/>
                </a:gs>
                <a:gs pos="100000">
                  <a:srgbClr val="FF0033"/>
                </a:gs>
              </a:gsLst>
              <a:lin ang="189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80" name="Rectangle 14"/>
            <p:cNvSpPr/>
            <p:nvPr/>
          </p:nvSpPr>
          <p:spPr>
            <a:xfrm>
              <a:off x="622829" y="0"/>
              <a:ext cx="32015" cy="1371600"/>
            </a:xfrm>
            <a:prstGeom prst="rect">
              <a:avLst/>
            </a:prstGeom>
            <a:solidFill>
              <a:srgbClr val="0000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81" name="Rectangle 15"/>
            <p:cNvSpPr/>
            <p:nvPr/>
          </p:nvSpPr>
          <p:spPr>
            <a:xfrm>
              <a:off x="309959" y="1030287"/>
              <a:ext cx="8072041" cy="41276"/>
            </a:xfrm>
            <a:prstGeom prst="rect">
              <a:avLst/>
            </a:prstGeom>
            <a:gradFill flip="none" rotWithShape="1">
              <a:gsLst>
                <a:gs pos="0">
                  <a:srgbClr val="0000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grpSp>
      <p:sp>
        <p:nvSpPr>
          <p:cNvPr id="12" name="圆柱体 11">
            <a:extLst>
              <a:ext uri="{FF2B5EF4-FFF2-40B4-BE49-F238E27FC236}">
                <a16:creationId xmlns:a16="http://schemas.microsoft.com/office/drawing/2014/main" id="{B07E4A5D-0C2C-2A49-A048-2ED8A0564F63}"/>
              </a:ext>
            </a:extLst>
          </p:cNvPr>
          <p:cNvSpPr/>
          <p:nvPr/>
        </p:nvSpPr>
        <p:spPr>
          <a:xfrm>
            <a:off x="1903497" y="2156860"/>
            <a:ext cx="2239617" cy="3670853"/>
          </a:xfrm>
          <a:prstGeom prst="can">
            <a:avLst/>
          </a:prstGeom>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endParaRPr kumimoji="0" lang="zh-CN" altLang="en-US" sz="2800" b="0" i="0" u="none" strike="noStrike" cap="none" spc="0" normalizeH="0" baseline="0">
              <a:ln>
                <a:noFill/>
              </a:ln>
              <a:solidFill>
                <a:srgbClr val="000000"/>
              </a:solidFill>
              <a:effectLst/>
              <a:uFillTx/>
              <a:latin typeface="+mn-lt"/>
              <a:ea typeface="+mn-ea"/>
              <a:cs typeface="+mn-cs"/>
              <a:sym typeface="Times New Roman"/>
            </a:endParaRPr>
          </a:p>
        </p:txBody>
      </p:sp>
      <p:sp>
        <p:nvSpPr>
          <p:cNvPr id="13" name="矩形 12">
            <a:extLst>
              <a:ext uri="{FF2B5EF4-FFF2-40B4-BE49-F238E27FC236}">
                <a16:creationId xmlns:a16="http://schemas.microsoft.com/office/drawing/2014/main" id="{FB86F631-80DE-9247-8667-394A14060AA5}"/>
              </a:ext>
            </a:extLst>
          </p:cNvPr>
          <p:cNvSpPr/>
          <p:nvPr/>
        </p:nvSpPr>
        <p:spPr>
          <a:xfrm>
            <a:off x="3281722" y="3124358"/>
            <a:ext cx="755374" cy="867928"/>
          </a:xfrm>
          <a:prstGeom prst="rect">
            <a:avLst/>
          </a:prstGeom>
          <a:solidFill>
            <a:srgbClr val="FFFFFF"/>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80000"/>
              </a:lnSpc>
              <a:spcBef>
                <a:spcPts val="0"/>
              </a:spcBef>
              <a:spcAft>
                <a:spcPts val="0"/>
              </a:spcAft>
              <a:buClrTx/>
              <a:buSzTx/>
              <a:buFontTx/>
              <a:buNone/>
              <a:tabLst/>
            </a:pPr>
            <a:r>
              <a:rPr kumimoji="0" lang="en-US" altLang="zh-CN" sz="2800" b="0" i="0" u="none" strike="noStrike" cap="none" spc="0" normalizeH="0" baseline="0" dirty="0">
                <a:ln>
                  <a:noFill/>
                </a:ln>
                <a:solidFill>
                  <a:srgbClr val="000000"/>
                </a:solidFill>
                <a:effectLst/>
                <a:uFillTx/>
                <a:latin typeface="+mn-lt"/>
                <a:ea typeface="+mn-ea"/>
                <a:cs typeface="+mn-cs"/>
                <a:sym typeface="Times New Roman"/>
              </a:rPr>
              <a:t>o</a:t>
            </a:r>
            <a:endParaRPr kumimoji="0" lang="zh-CN" altLang="en-US" sz="2800" b="0" i="0" u="none" strike="noStrike" cap="none" spc="0" normalizeH="0" baseline="0" dirty="0">
              <a:ln>
                <a:noFill/>
              </a:ln>
              <a:solidFill>
                <a:srgbClr val="000000"/>
              </a:solidFill>
              <a:effectLst/>
              <a:uFillTx/>
              <a:latin typeface="+mn-lt"/>
              <a:ea typeface="+mn-ea"/>
              <a:cs typeface="+mn-cs"/>
              <a:sym typeface="Times New Roman"/>
            </a:endParaRPr>
          </a:p>
        </p:txBody>
      </p:sp>
      <p:sp>
        <p:nvSpPr>
          <p:cNvPr id="14" name="矩形 13">
            <a:extLst>
              <a:ext uri="{FF2B5EF4-FFF2-40B4-BE49-F238E27FC236}">
                <a16:creationId xmlns:a16="http://schemas.microsoft.com/office/drawing/2014/main" id="{C1B0BB5F-9412-5647-BB81-2F14F5B3C3E1}"/>
              </a:ext>
            </a:extLst>
          </p:cNvPr>
          <p:cNvSpPr/>
          <p:nvPr/>
        </p:nvSpPr>
        <p:spPr>
          <a:xfrm>
            <a:off x="3268470" y="4321604"/>
            <a:ext cx="755374" cy="867928"/>
          </a:xfrm>
          <a:prstGeom prst="rect">
            <a:avLst/>
          </a:prstGeom>
          <a:solidFill>
            <a:srgbClr val="FFFFFF"/>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80000"/>
              </a:lnSpc>
              <a:spcBef>
                <a:spcPts val="0"/>
              </a:spcBef>
              <a:spcAft>
                <a:spcPts val="0"/>
              </a:spcAft>
              <a:buClrTx/>
              <a:buSzTx/>
              <a:buFontTx/>
              <a:buNone/>
              <a:tabLst/>
            </a:pPr>
            <a:r>
              <a:rPr kumimoji="0" lang="en-US" altLang="zh-CN" sz="2800" b="0" i="0" u="none" strike="noStrike" cap="none" spc="0" normalizeH="0" baseline="0" dirty="0">
                <a:ln>
                  <a:noFill/>
                </a:ln>
                <a:solidFill>
                  <a:srgbClr val="000000"/>
                </a:solidFill>
                <a:effectLst/>
                <a:uFillTx/>
                <a:latin typeface="+mn-lt"/>
                <a:ea typeface="+mn-ea"/>
                <a:cs typeface="+mn-cs"/>
                <a:sym typeface="Times New Roman"/>
              </a:rPr>
              <a:t>o</a:t>
            </a:r>
            <a:endParaRPr kumimoji="0" lang="zh-CN" altLang="en-US" sz="2800" b="0" i="0" u="none" strike="noStrike" cap="none" spc="0" normalizeH="0" baseline="0" dirty="0">
              <a:ln>
                <a:noFill/>
              </a:ln>
              <a:solidFill>
                <a:srgbClr val="000000"/>
              </a:solidFill>
              <a:effectLst/>
              <a:uFillTx/>
              <a:latin typeface="+mn-lt"/>
              <a:ea typeface="+mn-ea"/>
              <a:cs typeface="+mn-cs"/>
              <a:sym typeface="Times New Roman"/>
            </a:endParaRPr>
          </a:p>
        </p:txBody>
      </p:sp>
      <p:sp>
        <p:nvSpPr>
          <p:cNvPr id="15" name="矩形 14">
            <a:extLst>
              <a:ext uri="{FF2B5EF4-FFF2-40B4-BE49-F238E27FC236}">
                <a16:creationId xmlns:a16="http://schemas.microsoft.com/office/drawing/2014/main" id="{06E9B98A-79A9-794F-8AFE-BE16258F95E6}"/>
              </a:ext>
            </a:extLst>
          </p:cNvPr>
          <p:cNvSpPr/>
          <p:nvPr/>
        </p:nvSpPr>
        <p:spPr>
          <a:xfrm>
            <a:off x="2022765" y="3772766"/>
            <a:ext cx="755374" cy="867928"/>
          </a:xfrm>
          <a:prstGeom prst="rect">
            <a:avLst/>
          </a:prstGeom>
          <a:solidFill>
            <a:srgbClr val="FFFFFF"/>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80000"/>
              </a:lnSpc>
              <a:spcBef>
                <a:spcPts val="0"/>
              </a:spcBef>
              <a:spcAft>
                <a:spcPts val="0"/>
              </a:spcAft>
              <a:buClrTx/>
              <a:buSzTx/>
              <a:buFontTx/>
              <a:buNone/>
              <a:tabLst/>
            </a:pPr>
            <a:r>
              <a:rPr kumimoji="0" lang="en-US" altLang="zh-CN" sz="2800" b="0" i="0" u="none" strike="noStrike" cap="none" spc="0" normalizeH="0" baseline="0" dirty="0">
                <a:ln>
                  <a:noFill/>
                </a:ln>
                <a:solidFill>
                  <a:srgbClr val="000000"/>
                </a:solidFill>
                <a:effectLst/>
                <a:uFillTx/>
                <a:latin typeface="+mn-lt"/>
                <a:ea typeface="+mn-ea"/>
                <a:cs typeface="+mn-cs"/>
                <a:sym typeface="Times New Roman"/>
              </a:rPr>
              <a:t>o</a:t>
            </a:r>
            <a:endParaRPr kumimoji="0" lang="zh-CN" altLang="en-US" sz="2800" b="0" i="0" u="none" strike="noStrike" cap="none" spc="0" normalizeH="0" baseline="0" dirty="0">
              <a:ln>
                <a:noFill/>
              </a:ln>
              <a:solidFill>
                <a:srgbClr val="000000"/>
              </a:solidFill>
              <a:effectLst/>
              <a:uFillTx/>
              <a:latin typeface="+mn-lt"/>
              <a:ea typeface="+mn-ea"/>
              <a:cs typeface="+mn-cs"/>
              <a:sym typeface="Times New Roman"/>
            </a:endParaRPr>
          </a:p>
        </p:txBody>
      </p:sp>
      <p:cxnSp>
        <p:nvCxnSpPr>
          <p:cNvPr id="16" name="直线连接符 15">
            <a:extLst>
              <a:ext uri="{FF2B5EF4-FFF2-40B4-BE49-F238E27FC236}">
                <a16:creationId xmlns:a16="http://schemas.microsoft.com/office/drawing/2014/main" id="{3CA19445-E041-AA42-A684-4618A9BC4DAA}"/>
              </a:ext>
            </a:extLst>
          </p:cNvPr>
          <p:cNvCxnSpPr/>
          <p:nvPr/>
        </p:nvCxnSpPr>
        <p:spPr>
          <a:xfrm>
            <a:off x="1598696" y="3346243"/>
            <a:ext cx="1669774" cy="0"/>
          </a:xfrm>
          <a:prstGeom prst="line">
            <a:avLst/>
          </a:prstGeom>
          <a:noFill/>
          <a:ln w="12700" cap="flat">
            <a:solidFill>
              <a:schemeClr val="accent1"/>
            </a:solidFill>
            <a:prstDash val="solid"/>
            <a:round/>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7" name="直线连接符 16">
            <a:extLst>
              <a:ext uri="{FF2B5EF4-FFF2-40B4-BE49-F238E27FC236}">
                <a16:creationId xmlns:a16="http://schemas.microsoft.com/office/drawing/2014/main" id="{BFEAA5CF-3B2E-0442-9119-43ED3687B72B}"/>
              </a:ext>
            </a:extLst>
          </p:cNvPr>
          <p:cNvCxnSpPr>
            <a:cxnSpLocks/>
          </p:cNvCxnSpPr>
          <p:nvPr/>
        </p:nvCxnSpPr>
        <p:spPr>
          <a:xfrm>
            <a:off x="1611948" y="4876869"/>
            <a:ext cx="1669774" cy="0"/>
          </a:xfrm>
          <a:prstGeom prst="line">
            <a:avLst/>
          </a:prstGeom>
          <a:noFill/>
          <a:ln w="12700" cap="flat">
            <a:solidFill>
              <a:schemeClr val="accent1"/>
            </a:solidFill>
            <a:prstDash val="solid"/>
            <a:round/>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8" name="直线连接符 17">
            <a:extLst>
              <a:ext uri="{FF2B5EF4-FFF2-40B4-BE49-F238E27FC236}">
                <a16:creationId xmlns:a16="http://schemas.microsoft.com/office/drawing/2014/main" id="{95480BF8-5603-0043-A5B8-2A9A1B60017D}"/>
              </a:ext>
            </a:extLst>
          </p:cNvPr>
          <p:cNvCxnSpPr>
            <a:cxnSpLocks/>
          </p:cNvCxnSpPr>
          <p:nvPr/>
        </p:nvCxnSpPr>
        <p:spPr>
          <a:xfrm>
            <a:off x="1611948" y="4167878"/>
            <a:ext cx="463828" cy="0"/>
          </a:xfrm>
          <a:prstGeom prst="line">
            <a:avLst/>
          </a:prstGeom>
          <a:noFill/>
          <a:ln w="12700" cap="flat">
            <a:solidFill>
              <a:schemeClr val="accent1"/>
            </a:solidFill>
            <a:prstDash val="solid"/>
            <a:round/>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9" name="文本框 18">
            <a:extLst>
              <a:ext uri="{FF2B5EF4-FFF2-40B4-BE49-F238E27FC236}">
                <a16:creationId xmlns:a16="http://schemas.microsoft.com/office/drawing/2014/main" id="{00C6BE19-A534-6C48-BD86-78716581A3A4}"/>
              </a:ext>
            </a:extLst>
          </p:cNvPr>
          <p:cNvSpPr txBox="1"/>
          <p:nvPr/>
        </p:nvSpPr>
        <p:spPr>
          <a:xfrm>
            <a:off x="406002" y="2870668"/>
            <a:ext cx="1477325" cy="5909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r>
              <a:rPr lang="zh-CN" altLang="en-US" sz="1800" dirty="0"/>
              <a:t>职工工资文件</a:t>
            </a:r>
            <a:endParaRPr kumimoji="0" lang="zh-CN" altLang="en-US" sz="1800" b="0" i="0" u="none" strike="noStrike" cap="none" spc="0" normalizeH="0" baseline="0" dirty="0">
              <a:ln>
                <a:noFill/>
              </a:ln>
              <a:solidFill>
                <a:srgbClr val="000000"/>
              </a:solidFill>
              <a:effectLst/>
              <a:uFillTx/>
              <a:latin typeface="+mn-lt"/>
              <a:ea typeface="+mn-ea"/>
              <a:cs typeface="+mn-cs"/>
              <a:sym typeface="Times New Roman"/>
            </a:endParaRPr>
          </a:p>
        </p:txBody>
      </p:sp>
      <p:sp>
        <p:nvSpPr>
          <p:cNvPr id="20" name="文本框 19">
            <a:extLst>
              <a:ext uri="{FF2B5EF4-FFF2-40B4-BE49-F238E27FC236}">
                <a16:creationId xmlns:a16="http://schemas.microsoft.com/office/drawing/2014/main" id="{51840E4F-55A8-7C4B-AF70-A154F458FAB2}"/>
              </a:ext>
            </a:extLst>
          </p:cNvPr>
          <p:cNvSpPr txBox="1"/>
          <p:nvPr/>
        </p:nvSpPr>
        <p:spPr>
          <a:xfrm>
            <a:off x="439132" y="3630561"/>
            <a:ext cx="1477325" cy="5909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r>
              <a:rPr lang="zh-CN" altLang="en-US" sz="1800" dirty="0"/>
              <a:t>职工档案文件</a:t>
            </a:r>
            <a:endParaRPr kumimoji="0" lang="zh-CN" altLang="en-US" sz="1800" b="0" i="0" u="none" strike="noStrike" cap="none" spc="0" normalizeH="0" baseline="0" dirty="0">
              <a:ln>
                <a:noFill/>
              </a:ln>
              <a:solidFill>
                <a:srgbClr val="000000"/>
              </a:solidFill>
              <a:effectLst/>
              <a:uFillTx/>
              <a:latin typeface="+mn-lt"/>
              <a:ea typeface="+mn-ea"/>
              <a:cs typeface="+mn-cs"/>
              <a:sym typeface="Times New Roman"/>
            </a:endParaRPr>
          </a:p>
        </p:txBody>
      </p:sp>
      <p:sp>
        <p:nvSpPr>
          <p:cNvPr id="21" name="文本框 20">
            <a:extLst>
              <a:ext uri="{FF2B5EF4-FFF2-40B4-BE49-F238E27FC236}">
                <a16:creationId xmlns:a16="http://schemas.microsoft.com/office/drawing/2014/main" id="{5C67D3B4-3F8F-374F-BA94-F5E4779FFCB5}"/>
              </a:ext>
            </a:extLst>
          </p:cNvPr>
          <p:cNvSpPr txBox="1"/>
          <p:nvPr/>
        </p:nvSpPr>
        <p:spPr>
          <a:xfrm>
            <a:off x="426170" y="4377258"/>
            <a:ext cx="1477325" cy="5909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r>
              <a:rPr lang="zh-CN" altLang="en-US" sz="1800" dirty="0"/>
              <a:t>职工保健文件</a:t>
            </a:r>
            <a:endParaRPr kumimoji="0" lang="zh-CN" altLang="en-US" sz="1800" b="0" i="0" u="none" strike="noStrike" cap="none" spc="0" normalizeH="0" baseline="0" dirty="0">
              <a:ln>
                <a:noFill/>
              </a:ln>
              <a:solidFill>
                <a:srgbClr val="000000"/>
              </a:solidFill>
              <a:effectLst/>
              <a:uFillTx/>
              <a:latin typeface="+mn-lt"/>
              <a:ea typeface="+mn-ea"/>
              <a:cs typeface="+mn-cs"/>
              <a:sym typeface="Times New Roman"/>
            </a:endParaRPr>
          </a:p>
        </p:txBody>
      </p:sp>
      <p:sp>
        <p:nvSpPr>
          <p:cNvPr id="22" name="圆柱体 21">
            <a:extLst>
              <a:ext uri="{FF2B5EF4-FFF2-40B4-BE49-F238E27FC236}">
                <a16:creationId xmlns:a16="http://schemas.microsoft.com/office/drawing/2014/main" id="{96E1F4B6-9485-7B42-A043-D6029814B421}"/>
              </a:ext>
            </a:extLst>
          </p:cNvPr>
          <p:cNvSpPr/>
          <p:nvPr/>
        </p:nvSpPr>
        <p:spPr>
          <a:xfrm>
            <a:off x="6120694" y="2156860"/>
            <a:ext cx="2239617" cy="3670853"/>
          </a:xfrm>
          <a:prstGeom prst="can">
            <a:avLst/>
          </a:prstGeom>
          <a:noFill/>
          <a:ln>
            <a:solidFill>
              <a:srgbClr val="00B050"/>
            </a:solidFill>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endParaRPr kumimoji="0" lang="zh-CN" altLang="en-US" sz="2800" b="0" i="0" u="none" strike="noStrike" cap="none" spc="0" normalizeH="0" baseline="0" dirty="0">
              <a:ln>
                <a:noFill/>
              </a:ln>
              <a:solidFill>
                <a:srgbClr val="000000"/>
              </a:solidFill>
              <a:effectLst/>
              <a:uFillTx/>
              <a:latin typeface="+mn-lt"/>
              <a:ea typeface="+mn-ea"/>
              <a:cs typeface="+mn-cs"/>
              <a:sym typeface="Times New Roman"/>
            </a:endParaRPr>
          </a:p>
        </p:txBody>
      </p:sp>
      <p:sp>
        <p:nvSpPr>
          <p:cNvPr id="23" name="矩形 22">
            <a:extLst>
              <a:ext uri="{FF2B5EF4-FFF2-40B4-BE49-F238E27FC236}">
                <a16:creationId xmlns:a16="http://schemas.microsoft.com/office/drawing/2014/main" id="{57CE1997-EC73-014A-9588-0989C7851817}"/>
              </a:ext>
            </a:extLst>
          </p:cNvPr>
          <p:cNvSpPr/>
          <p:nvPr/>
        </p:nvSpPr>
        <p:spPr>
          <a:xfrm>
            <a:off x="7498919" y="3124358"/>
            <a:ext cx="755374" cy="867928"/>
          </a:xfrm>
          <a:prstGeom prst="rect">
            <a:avLst/>
          </a:prstGeom>
          <a:solidFill>
            <a:srgbClr val="FFFFFF"/>
          </a:solidFill>
          <a:ln w="25400" cap="flat">
            <a:solidFill>
              <a:srgbClr val="92D05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80000"/>
              </a:lnSpc>
              <a:spcBef>
                <a:spcPts val="0"/>
              </a:spcBef>
              <a:spcAft>
                <a:spcPts val="0"/>
              </a:spcAft>
              <a:buClrTx/>
              <a:buSzTx/>
              <a:buFontTx/>
              <a:buNone/>
              <a:tabLst/>
            </a:pPr>
            <a:r>
              <a:rPr kumimoji="0" lang="en-US" altLang="zh-CN" sz="2800" b="0" i="0" u="none" strike="noStrike" cap="none" spc="0" normalizeH="0" baseline="0" dirty="0">
                <a:ln>
                  <a:noFill/>
                </a:ln>
                <a:solidFill>
                  <a:srgbClr val="000000"/>
                </a:solidFill>
                <a:effectLst/>
                <a:uFillTx/>
                <a:latin typeface="+mn-lt"/>
                <a:ea typeface="+mn-ea"/>
                <a:cs typeface="+mn-cs"/>
                <a:sym typeface="Times New Roman"/>
              </a:rPr>
              <a:t>o</a:t>
            </a:r>
            <a:endParaRPr kumimoji="0" lang="zh-CN" altLang="en-US" sz="2800" b="0" i="0" u="none" strike="noStrike" cap="none" spc="0" normalizeH="0" baseline="0" dirty="0">
              <a:ln>
                <a:noFill/>
              </a:ln>
              <a:solidFill>
                <a:srgbClr val="000000"/>
              </a:solidFill>
              <a:effectLst/>
              <a:uFillTx/>
              <a:latin typeface="+mn-lt"/>
              <a:ea typeface="+mn-ea"/>
              <a:cs typeface="+mn-cs"/>
              <a:sym typeface="Times New Roman"/>
            </a:endParaRPr>
          </a:p>
        </p:txBody>
      </p:sp>
      <p:sp>
        <p:nvSpPr>
          <p:cNvPr id="24" name="矩形 23">
            <a:extLst>
              <a:ext uri="{FF2B5EF4-FFF2-40B4-BE49-F238E27FC236}">
                <a16:creationId xmlns:a16="http://schemas.microsoft.com/office/drawing/2014/main" id="{AA7A3E87-4D4C-0041-9190-EF3CE8D2ED32}"/>
              </a:ext>
            </a:extLst>
          </p:cNvPr>
          <p:cNvSpPr/>
          <p:nvPr/>
        </p:nvSpPr>
        <p:spPr>
          <a:xfrm>
            <a:off x="7485667" y="4321604"/>
            <a:ext cx="755374" cy="867928"/>
          </a:xfrm>
          <a:prstGeom prst="rect">
            <a:avLst/>
          </a:prstGeom>
          <a:solidFill>
            <a:srgbClr val="FFFFFF"/>
          </a:solidFill>
          <a:ln w="25400" cap="flat">
            <a:solidFill>
              <a:srgbClr val="92D05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80000"/>
              </a:lnSpc>
              <a:spcBef>
                <a:spcPts val="0"/>
              </a:spcBef>
              <a:spcAft>
                <a:spcPts val="0"/>
              </a:spcAft>
              <a:buClrTx/>
              <a:buSzTx/>
              <a:buFontTx/>
              <a:buNone/>
              <a:tabLst/>
            </a:pPr>
            <a:r>
              <a:rPr kumimoji="0" lang="en-US" altLang="zh-CN" sz="2800" b="0" i="0" u="none" strike="noStrike" cap="none" spc="0" normalizeH="0" baseline="0" dirty="0">
                <a:ln>
                  <a:noFill/>
                </a:ln>
                <a:solidFill>
                  <a:srgbClr val="000000"/>
                </a:solidFill>
                <a:effectLst/>
                <a:uFillTx/>
                <a:latin typeface="+mn-lt"/>
                <a:ea typeface="+mn-ea"/>
                <a:cs typeface="+mn-cs"/>
                <a:sym typeface="Times New Roman"/>
              </a:rPr>
              <a:t>o</a:t>
            </a:r>
            <a:endParaRPr kumimoji="0" lang="zh-CN" altLang="en-US" sz="2800" b="0" i="0" u="none" strike="noStrike" cap="none" spc="0" normalizeH="0" baseline="0" dirty="0">
              <a:ln>
                <a:noFill/>
              </a:ln>
              <a:solidFill>
                <a:srgbClr val="000000"/>
              </a:solidFill>
              <a:effectLst/>
              <a:uFillTx/>
              <a:latin typeface="+mn-lt"/>
              <a:ea typeface="+mn-ea"/>
              <a:cs typeface="+mn-cs"/>
              <a:sym typeface="Times New Roman"/>
            </a:endParaRPr>
          </a:p>
        </p:txBody>
      </p:sp>
      <p:sp>
        <p:nvSpPr>
          <p:cNvPr id="25" name="矩形 24">
            <a:extLst>
              <a:ext uri="{FF2B5EF4-FFF2-40B4-BE49-F238E27FC236}">
                <a16:creationId xmlns:a16="http://schemas.microsoft.com/office/drawing/2014/main" id="{6D8B536B-4AFA-734B-8EEA-20F4D839579D}"/>
              </a:ext>
            </a:extLst>
          </p:cNvPr>
          <p:cNvSpPr/>
          <p:nvPr/>
        </p:nvSpPr>
        <p:spPr>
          <a:xfrm>
            <a:off x="6239962" y="3772766"/>
            <a:ext cx="755374" cy="867928"/>
          </a:xfrm>
          <a:prstGeom prst="rect">
            <a:avLst/>
          </a:prstGeom>
          <a:solidFill>
            <a:srgbClr val="FFFFFF"/>
          </a:solidFill>
          <a:ln w="25400" cap="flat">
            <a:solidFill>
              <a:srgbClr val="92D05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80000"/>
              </a:lnSpc>
              <a:spcBef>
                <a:spcPts val="0"/>
              </a:spcBef>
              <a:spcAft>
                <a:spcPts val="0"/>
              </a:spcAft>
              <a:buClrTx/>
              <a:buSzTx/>
              <a:buFontTx/>
              <a:buNone/>
              <a:tabLst/>
            </a:pPr>
            <a:r>
              <a:rPr kumimoji="0" lang="en-US" altLang="zh-CN" sz="2800" b="0" i="0" u="none" strike="noStrike" cap="none" spc="0" normalizeH="0" baseline="0" dirty="0">
                <a:ln>
                  <a:noFill/>
                </a:ln>
                <a:solidFill>
                  <a:srgbClr val="000000"/>
                </a:solidFill>
                <a:effectLst/>
                <a:uFillTx/>
                <a:latin typeface="+mn-lt"/>
                <a:ea typeface="+mn-ea"/>
                <a:cs typeface="+mn-cs"/>
                <a:sym typeface="Times New Roman"/>
              </a:rPr>
              <a:t>o</a:t>
            </a:r>
            <a:endParaRPr kumimoji="0" lang="zh-CN" altLang="en-US" sz="2800" b="0" i="0" u="none" strike="noStrike" cap="none" spc="0" normalizeH="0" baseline="0" dirty="0">
              <a:ln>
                <a:noFill/>
              </a:ln>
              <a:solidFill>
                <a:srgbClr val="000000"/>
              </a:solidFill>
              <a:effectLst/>
              <a:uFillTx/>
              <a:latin typeface="+mn-lt"/>
              <a:ea typeface="+mn-ea"/>
              <a:cs typeface="+mn-cs"/>
              <a:sym typeface="Times New Roman"/>
            </a:endParaRPr>
          </a:p>
        </p:txBody>
      </p:sp>
      <p:cxnSp>
        <p:nvCxnSpPr>
          <p:cNvPr id="26" name="直线连接符 25">
            <a:extLst>
              <a:ext uri="{FF2B5EF4-FFF2-40B4-BE49-F238E27FC236}">
                <a16:creationId xmlns:a16="http://schemas.microsoft.com/office/drawing/2014/main" id="{CE62136D-87F0-214D-A714-9F7B46EF36EB}"/>
              </a:ext>
            </a:extLst>
          </p:cNvPr>
          <p:cNvCxnSpPr/>
          <p:nvPr/>
        </p:nvCxnSpPr>
        <p:spPr>
          <a:xfrm>
            <a:off x="5815893" y="3346243"/>
            <a:ext cx="1669774" cy="0"/>
          </a:xfrm>
          <a:prstGeom prst="line">
            <a:avLst/>
          </a:prstGeom>
          <a:noFill/>
          <a:ln w="12700" cap="flat">
            <a:solidFill>
              <a:srgbClr val="92D050"/>
            </a:solidFill>
            <a:prstDash val="solid"/>
            <a:round/>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7" name="直线连接符 26">
            <a:extLst>
              <a:ext uri="{FF2B5EF4-FFF2-40B4-BE49-F238E27FC236}">
                <a16:creationId xmlns:a16="http://schemas.microsoft.com/office/drawing/2014/main" id="{48369305-0C7F-864B-804B-54403C708846}"/>
              </a:ext>
            </a:extLst>
          </p:cNvPr>
          <p:cNvCxnSpPr>
            <a:cxnSpLocks/>
          </p:cNvCxnSpPr>
          <p:nvPr/>
        </p:nvCxnSpPr>
        <p:spPr>
          <a:xfrm>
            <a:off x="5829145" y="4876869"/>
            <a:ext cx="1669774" cy="0"/>
          </a:xfrm>
          <a:prstGeom prst="line">
            <a:avLst/>
          </a:prstGeom>
          <a:noFill/>
          <a:ln w="12700" cap="flat">
            <a:solidFill>
              <a:srgbClr val="92D050"/>
            </a:solidFill>
            <a:prstDash val="solid"/>
            <a:round/>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8" name="直线连接符 27">
            <a:extLst>
              <a:ext uri="{FF2B5EF4-FFF2-40B4-BE49-F238E27FC236}">
                <a16:creationId xmlns:a16="http://schemas.microsoft.com/office/drawing/2014/main" id="{80B98499-0631-1B42-9AED-B59A77B440FB}"/>
              </a:ext>
            </a:extLst>
          </p:cNvPr>
          <p:cNvCxnSpPr>
            <a:cxnSpLocks/>
          </p:cNvCxnSpPr>
          <p:nvPr/>
        </p:nvCxnSpPr>
        <p:spPr>
          <a:xfrm>
            <a:off x="5829145" y="4167878"/>
            <a:ext cx="463828" cy="0"/>
          </a:xfrm>
          <a:prstGeom prst="line">
            <a:avLst/>
          </a:prstGeom>
          <a:noFill/>
          <a:ln w="12700" cap="flat">
            <a:solidFill>
              <a:srgbClr val="92D050"/>
            </a:solidFill>
            <a:prstDash val="solid"/>
            <a:round/>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9" name="文本框 28">
            <a:extLst>
              <a:ext uri="{FF2B5EF4-FFF2-40B4-BE49-F238E27FC236}">
                <a16:creationId xmlns:a16="http://schemas.microsoft.com/office/drawing/2014/main" id="{01A15409-3925-5047-963C-E564C47612F9}"/>
              </a:ext>
            </a:extLst>
          </p:cNvPr>
          <p:cNvSpPr txBox="1"/>
          <p:nvPr/>
        </p:nvSpPr>
        <p:spPr>
          <a:xfrm>
            <a:off x="4623199" y="2870668"/>
            <a:ext cx="1477325" cy="5909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r>
              <a:rPr lang="zh-CN" altLang="en-US" sz="1800" dirty="0"/>
              <a:t>职工工资文件</a:t>
            </a:r>
            <a:endParaRPr kumimoji="0" lang="zh-CN" altLang="en-US" sz="1800" b="0" i="0" u="none" strike="noStrike" cap="none" spc="0" normalizeH="0" baseline="0" dirty="0">
              <a:ln>
                <a:noFill/>
              </a:ln>
              <a:solidFill>
                <a:srgbClr val="000000"/>
              </a:solidFill>
              <a:effectLst/>
              <a:uFillTx/>
              <a:latin typeface="+mn-lt"/>
              <a:ea typeface="+mn-ea"/>
              <a:cs typeface="+mn-cs"/>
              <a:sym typeface="Times New Roman"/>
            </a:endParaRPr>
          </a:p>
        </p:txBody>
      </p:sp>
      <p:sp>
        <p:nvSpPr>
          <p:cNvPr id="30" name="文本框 29">
            <a:extLst>
              <a:ext uri="{FF2B5EF4-FFF2-40B4-BE49-F238E27FC236}">
                <a16:creationId xmlns:a16="http://schemas.microsoft.com/office/drawing/2014/main" id="{15B41441-EA8B-064E-AA65-98A9BC4F287B}"/>
              </a:ext>
            </a:extLst>
          </p:cNvPr>
          <p:cNvSpPr txBox="1"/>
          <p:nvPr/>
        </p:nvSpPr>
        <p:spPr>
          <a:xfrm>
            <a:off x="4656329" y="3630561"/>
            <a:ext cx="1477325" cy="5909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r>
              <a:rPr lang="zh-CN" altLang="en-US" sz="1800" dirty="0"/>
              <a:t>职工档案文件</a:t>
            </a:r>
            <a:endParaRPr kumimoji="0" lang="zh-CN" altLang="en-US" sz="1800" b="0" i="0" u="none" strike="noStrike" cap="none" spc="0" normalizeH="0" baseline="0" dirty="0">
              <a:ln>
                <a:noFill/>
              </a:ln>
              <a:solidFill>
                <a:srgbClr val="000000"/>
              </a:solidFill>
              <a:effectLst/>
              <a:uFillTx/>
              <a:latin typeface="+mn-lt"/>
              <a:ea typeface="+mn-ea"/>
              <a:cs typeface="+mn-cs"/>
              <a:sym typeface="Times New Roman"/>
            </a:endParaRPr>
          </a:p>
        </p:txBody>
      </p:sp>
      <p:sp>
        <p:nvSpPr>
          <p:cNvPr id="31" name="文本框 30">
            <a:extLst>
              <a:ext uri="{FF2B5EF4-FFF2-40B4-BE49-F238E27FC236}">
                <a16:creationId xmlns:a16="http://schemas.microsoft.com/office/drawing/2014/main" id="{4CA09DEE-77DA-9741-9773-C1BA4270251E}"/>
              </a:ext>
            </a:extLst>
          </p:cNvPr>
          <p:cNvSpPr txBox="1"/>
          <p:nvPr/>
        </p:nvSpPr>
        <p:spPr>
          <a:xfrm>
            <a:off x="4643367" y="4377258"/>
            <a:ext cx="1477325" cy="5909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r>
              <a:rPr lang="zh-CN" altLang="en-US" sz="1800" dirty="0"/>
              <a:t>职工保健文件</a:t>
            </a:r>
            <a:endParaRPr kumimoji="0" lang="zh-CN" altLang="en-US" sz="1800" b="0" i="0" u="none" strike="noStrike" cap="none" spc="0" normalizeH="0" baseline="0" dirty="0">
              <a:ln>
                <a:noFill/>
              </a:ln>
              <a:solidFill>
                <a:srgbClr val="000000"/>
              </a:solidFill>
              <a:effectLst/>
              <a:uFillTx/>
              <a:latin typeface="+mn-lt"/>
              <a:ea typeface="+mn-ea"/>
              <a:cs typeface="+mn-cs"/>
              <a:sym typeface="Times New Roman"/>
            </a:endParaRPr>
          </a:p>
        </p:txBody>
      </p:sp>
      <p:cxnSp>
        <p:nvCxnSpPr>
          <p:cNvPr id="3" name="直线箭头连接符 2">
            <a:extLst>
              <a:ext uri="{FF2B5EF4-FFF2-40B4-BE49-F238E27FC236}">
                <a16:creationId xmlns:a16="http://schemas.microsoft.com/office/drawing/2014/main" id="{5BDCB1B7-A39E-CA4E-91BB-7D1458F4A2D3}"/>
              </a:ext>
            </a:extLst>
          </p:cNvPr>
          <p:cNvCxnSpPr>
            <a:cxnSpLocks/>
            <a:stCxn id="23" idx="1"/>
          </p:cNvCxnSpPr>
          <p:nvPr/>
        </p:nvCxnSpPr>
        <p:spPr>
          <a:xfrm flipH="1">
            <a:off x="6723669" y="3558322"/>
            <a:ext cx="775250" cy="639848"/>
          </a:xfrm>
          <a:prstGeom prst="straightConnector1">
            <a:avLst/>
          </a:prstGeom>
          <a:noFill/>
          <a:ln w="25400" cap="flat">
            <a:solidFill>
              <a:srgbClr val="92D050"/>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34" name="直线箭头连接符 33">
            <a:extLst>
              <a:ext uri="{FF2B5EF4-FFF2-40B4-BE49-F238E27FC236}">
                <a16:creationId xmlns:a16="http://schemas.microsoft.com/office/drawing/2014/main" id="{3CCBBB7B-53FF-344F-A428-0FF0D2CC7027}"/>
              </a:ext>
            </a:extLst>
          </p:cNvPr>
          <p:cNvCxnSpPr>
            <a:cxnSpLocks/>
            <a:stCxn id="24" idx="1"/>
          </p:cNvCxnSpPr>
          <p:nvPr/>
        </p:nvCxnSpPr>
        <p:spPr>
          <a:xfrm flipH="1" flipV="1">
            <a:off x="6723669" y="4346567"/>
            <a:ext cx="761998" cy="409001"/>
          </a:xfrm>
          <a:prstGeom prst="straightConnector1">
            <a:avLst/>
          </a:prstGeom>
          <a:noFill/>
          <a:ln w="25400" cap="flat">
            <a:solidFill>
              <a:srgbClr val="92D050"/>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2" name="文本框 1">
            <a:extLst>
              <a:ext uri="{FF2B5EF4-FFF2-40B4-BE49-F238E27FC236}">
                <a16:creationId xmlns:a16="http://schemas.microsoft.com/office/drawing/2014/main" id="{5E084021-37A3-4F4A-8FCE-63DD38C2ECE0}"/>
              </a:ext>
            </a:extLst>
          </p:cNvPr>
          <p:cNvSpPr txBox="1"/>
          <p:nvPr/>
        </p:nvSpPr>
        <p:spPr>
          <a:xfrm>
            <a:off x="1879669" y="5852483"/>
            <a:ext cx="2144175"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r>
              <a:rPr lang="zh-CN" altLang="en-US" sz="2000" dirty="0"/>
              <a:t>文件系统中的文件</a:t>
            </a:r>
            <a:endParaRPr kumimoji="0" lang="zh-CN" altLang="en-US" sz="2000" b="0" i="0" u="none" strike="noStrike" cap="none" spc="0" normalizeH="0" baseline="0" dirty="0">
              <a:ln>
                <a:noFill/>
              </a:ln>
              <a:solidFill>
                <a:srgbClr val="000000"/>
              </a:solidFill>
              <a:effectLst/>
              <a:uFillTx/>
              <a:latin typeface="+mn-lt"/>
              <a:ea typeface="+mn-ea"/>
              <a:cs typeface="+mn-cs"/>
              <a:sym typeface="Times New Roman"/>
            </a:endParaRPr>
          </a:p>
        </p:txBody>
      </p:sp>
      <p:sp>
        <p:nvSpPr>
          <p:cNvPr id="33" name="文本框 32">
            <a:extLst>
              <a:ext uri="{FF2B5EF4-FFF2-40B4-BE49-F238E27FC236}">
                <a16:creationId xmlns:a16="http://schemas.microsoft.com/office/drawing/2014/main" id="{4550B42A-65B2-0344-B569-4EE2B9E9F99F}"/>
              </a:ext>
            </a:extLst>
          </p:cNvPr>
          <p:cNvSpPr txBox="1"/>
          <p:nvPr/>
        </p:nvSpPr>
        <p:spPr>
          <a:xfrm>
            <a:off x="6353347" y="5852483"/>
            <a:ext cx="1887694"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r>
              <a:rPr lang="zh-CN" altLang="en-US" sz="2000" dirty="0"/>
              <a:t>数据库中的文件</a:t>
            </a:r>
            <a:endParaRPr kumimoji="0" lang="zh-CN" altLang="en-US" sz="2000" b="0" i="0" u="none" strike="noStrike" cap="none" spc="0" normalizeH="0" baseline="0" dirty="0">
              <a:ln>
                <a:noFill/>
              </a:ln>
              <a:solidFill>
                <a:srgbClr val="000000"/>
              </a:solidFill>
              <a:effectLst/>
              <a:uFillTx/>
              <a:latin typeface="+mn-lt"/>
              <a:ea typeface="+mn-ea"/>
              <a:cs typeface="+mn-cs"/>
              <a:sym typeface="Times New Roman"/>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Rectangle 2"/>
          <p:cNvSpPr txBox="1"/>
          <p:nvPr/>
        </p:nvSpPr>
        <p:spPr>
          <a:xfrm>
            <a:off x="1034653" y="53067"/>
            <a:ext cx="9052562" cy="700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lvl="0">
              <a:lnSpc>
                <a:spcPct val="140000"/>
              </a:lnSpc>
              <a:spcBef>
                <a:spcPts val="1900"/>
              </a:spcBef>
              <a:defRPr sz="3200">
                <a:latin typeface="SimSun"/>
                <a:ea typeface="SimSun"/>
                <a:cs typeface="SimSun"/>
                <a:sym typeface="SimSun"/>
              </a:defRPr>
            </a:pPr>
            <a:r>
              <a:rPr kumimoji="0" lang="zh-CN" altLang="en-US" sz="3200" b="0"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SimSun"/>
                <a:ea typeface="SimSun"/>
                <a:sym typeface="SimSun"/>
              </a:rPr>
              <a:t> </a:t>
            </a:r>
            <a:r>
              <a:rPr kumimoji="0" lang="zh-CN" altLang="en-US" sz="32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 </a:t>
            </a:r>
            <a:r>
              <a:rPr kumimoji="0" lang="en-US" altLang="zh-CN" sz="32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1.2.2</a:t>
            </a:r>
            <a:r>
              <a:rPr kumimoji="0" lang="zh-CN" altLang="en-US" sz="32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 数据库系统阶段的特点</a:t>
            </a:r>
            <a:endParaRPr kumimoji="0" lang="zh-CN" altLang="en-US" sz="3200" b="0"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SimSun"/>
              <a:ea typeface="SimSun"/>
              <a:sym typeface="SimSun"/>
            </a:endParaRPr>
          </a:p>
        </p:txBody>
      </p:sp>
      <p:sp>
        <p:nvSpPr>
          <p:cNvPr id="285" name="Rectangle 3"/>
          <p:cNvSpPr txBox="1"/>
          <p:nvPr/>
        </p:nvSpPr>
        <p:spPr>
          <a:xfrm>
            <a:off x="580178" y="2572412"/>
            <a:ext cx="9052562" cy="3962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40000"/>
              </a:lnSpc>
              <a:spcBef>
                <a:spcPts val="1400"/>
              </a:spcBef>
              <a:defRPr sz="2400">
                <a:latin typeface="SimSun"/>
                <a:ea typeface="SimSun"/>
                <a:cs typeface="SimSun"/>
                <a:sym typeface="SimSun"/>
              </a:defRPr>
            </a:pPr>
            <a:r>
              <a:rPr dirty="0"/>
              <a:t>② </a:t>
            </a:r>
            <a:r>
              <a:rPr dirty="0" err="1">
                <a:solidFill>
                  <a:srgbClr val="000099"/>
                </a:solidFill>
              </a:rPr>
              <a:t>有较高的数据独立性</a:t>
            </a:r>
            <a:r>
              <a:rPr dirty="0">
                <a:solidFill>
                  <a:srgbClr val="000099"/>
                </a:solidFill>
              </a:rPr>
              <a:t>;</a:t>
            </a:r>
          </a:p>
        </p:txBody>
      </p:sp>
      <p:grpSp>
        <p:nvGrpSpPr>
          <p:cNvPr id="289" name="Group 1057"/>
          <p:cNvGrpSpPr/>
          <p:nvPr/>
        </p:nvGrpSpPr>
        <p:grpSpPr>
          <a:xfrm>
            <a:off x="580178" y="4222025"/>
            <a:ext cx="9073280" cy="1875221"/>
            <a:chOff x="-20718" y="734288"/>
            <a:chExt cx="9073279" cy="1875220"/>
          </a:xfrm>
        </p:grpSpPr>
        <p:sp>
          <p:nvSpPr>
            <p:cNvPr id="286" name="Rectangle 4"/>
            <p:cNvSpPr txBox="1"/>
            <p:nvPr/>
          </p:nvSpPr>
          <p:spPr>
            <a:xfrm>
              <a:off x="-20718" y="734288"/>
              <a:ext cx="9052561" cy="111376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lnSpc>
                  <a:spcPct val="150000"/>
                </a:lnSpc>
                <a:defRPr sz="2400">
                  <a:latin typeface="SimSun"/>
                  <a:ea typeface="SimSun"/>
                  <a:cs typeface="SimSun"/>
                  <a:sym typeface="SimSun"/>
                </a:defRPr>
              </a:pPr>
              <a:r>
                <a:rPr lang="zh-CN" altLang="en-US" dirty="0"/>
                <a:t>④</a:t>
              </a:r>
              <a:r>
                <a:rPr dirty="0"/>
                <a:t> </a:t>
              </a:r>
              <a:r>
                <a:rPr b="1" dirty="0" err="1"/>
                <a:t>系统提供了四个方面的控制功能</a:t>
              </a:r>
              <a:r>
                <a:rPr dirty="0"/>
                <a:t>：</a:t>
              </a:r>
              <a:endParaRPr lang="en-US" dirty="0"/>
            </a:p>
            <a:p>
              <a:pPr>
                <a:lnSpc>
                  <a:spcPct val="150000"/>
                </a:lnSpc>
                <a:defRPr sz="2400">
                  <a:latin typeface="SimSun"/>
                  <a:ea typeface="SimSun"/>
                  <a:cs typeface="SimSun"/>
                  <a:sym typeface="SimSun"/>
                </a:defRPr>
              </a:pPr>
              <a:r>
                <a:rPr b="1" dirty="0" err="1"/>
                <a:t>数据库恢复、数据库的并发控制、数据完整性、数据安全性</a:t>
              </a:r>
              <a:r>
                <a:rPr dirty="0"/>
                <a:t>;</a:t>
              </a:r>
            </a:p>
          </p:txBody>
        </p:sp>
        <p:sp>
          <p:nvSpPr>
            <p:cNvPr id="287" name="Rectangle 5"/>
            <p:cNvSpPr txBox="1"/>
            <p:nvPr/>
          </p:nvSpPr>
          <p:spPr>
            <a:xfrm>
              <a:off x="0" y="2035402"/>
              <a:ext cx="9052561" cy="5320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lnSpc>
                  <a:spcPct val="140000"/>
                </a:lnSpc>
                <a:spcBef>
                  <a:spcPts val="1400"/>
                </a:spcBef>
                <a:defRPr sz="2400">
                  <a:latin typeface="SimSun"/>
                  <a:ea typeface="SimSun"/>
                  <a:cs typeface="SimSun"/>
                  <a:sym typeface="SimSun"/>
                </a:defRPr>
              </a:pPr>
              <a:r>
                <a:rPr lang="zh-CN" altLang="en-US" dirty="0"/>
                <a:t>⑤ </a:t>
              </a:r>
              <a:r>
                <a:rPr dirty="0" err="1"/>
                <a:t>对</a:t>
              </a:r>
              <a:r>
                <a:rPr lang="zh-CN" altLang="en-US" dirty="0"/>
                <a:t>数据的</a:t>
              </a:r>
              <a:r>
                <a:rPr dirty="0" err="1"/>
                <a:t>操作可以以数据项为单位,增加了系统的灵活性</a:t>
              </a:r>
              <a:r>
                <a:rPr lang="zh-CN" altLang="en-US" dirty="0"/>
                <a:t>。</a:t>
              </a:r>
              <a:endParaRPr dirty="0"/>
            </a:p>
          </p:txBody>
        </p:sp>
        <p:sp>
          <p:nvSpPr>
            <p:cNvPr id="288" name="Rectangle 6"/>
            <p:cNvSpPr txBox="1"/>
            <p:nvPr/>
          </p:nvSpPr>
          <p:spPr>
            <a:xfrm>
              <a:off x="4044472" y="2077441"/>
              <a:ext cx="92396" cy="5320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p>
              <a:pPr>
                <a:lnSpc>
                  <a:spcPct val="140000"/>
                </a:lnSpc>
                <a:spcBef>
                  <a:spcPts val="1400"/>
                </a:spcBef>
                <a:defRPr sz="2400">
                  <a:latin typeface="SimSun"/>
                  <a:ea typeface="SimSun"/>
                  <a:cs typeface="SimSun"/>
                  <a:sym typeface="SimSun"/>
                </a:defRPr>
              </a:pPr>
              <a:endParaRPr dirty="0"/>
            </a:p>
          </p:txBody>
        </p:sp>
      </p:grpSp>
      <p:grpSp>
        <p:nvGrpSpPr>
          <p:cNvPr id="296" name="Group 8"/>
          <p:cNvGrpSpPr/>
          <p:nvPr/>
        </p:nvGrpSpPr>
        <p:grpSpPr>
          <a:xfrm>
            <a:off x="-1" y="-171450"/>
            <a:ext cx="8382001" cy="1296988"/>
            <a:chOff x="0" y="0"/>
            <a:chExt cx="8381999" cy="1296987"/>
          </a:xfrm>
        </p:grpSpPr>
        <p:sp>
          <p:nvSpPr>
            <p:cNvPr id="290" name="Rectangle 9"/>
            <p:cNvSpPr/>
            <p:nvPr/>
          </p:nvSpPr>
          <p:spPr>
            <a:xfrm>
              <a:off x="285220" y="133601"/>
              <a:ext cx="622830" cy="583945"/>
            </a:xfrm>
            <a:prstGeom prst="rect">
              <a:avLst/>
            </a:prstGeom>
            <a:gradFill flip="none" rotWithShape="1">
              <a:gsLst>
                <a:gs pos="0">
                  <a:srgbClr val="0000FF"/>
                </a:gs>
                <a:gs pos="100000">
                  <a:schemeClr val="accent1"/>
                </a:gs>
              </a:gsLst>
              <a:lin ang="54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91" name="Rectangle 10"/>
            <p:cNvSpPr/>
            <p:nvPr/>
          </p:nvSpPr>
          <p:spPr>
            <a:xfrm>
              <a:off x="406003" y="652997"/>
              <a:ext cx="414735" cy="585446"/>
            </a:xfrm>
            <a:prstGeom prst="rect">
              <a:avLst/>
            </a:prstGeom>
            <a:solidFill>
              <a:srgbClr val="FFFF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92" name="Rectangle 11"/>
            <p:cNvSpPr/>
            <p:nvPr/>
          </p:nvSpPr>
          <p:spPr>
            <a:xfrm>
              <a:off x="769805" y="652997"/>
              <a:ext cx="360892" cy="585446"/>
            </a:xfrm>
            <a:prstGeom prst="rect">
              <a:avLst/>
            </a:prstGeom>
            <a:gradFill flip="none" rotWithShape="1">
              <a:gsLst>
                <a:gs pos="0">
                  <a:srgbClr val="FFFF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93" name="Rectangle 12"/>
            <p:cNvSpPr/>
            <p:nvPr/>
          </p:nvSpPr>
          <p:spPr>
            <a:xfrm>
              <a:off x="-1" y="432329"/>
              <a:ext cx="628651" cy="576440"/>
            </a:xfrm>
            <a:prstGeom prst="rect">
              <a:avLst/>
            </a:prstGeom>
            <a:gradFill flip="none" rotWithShape="1">
              <a:gsLst>
                <a:gs pos="0">
                  <a:srgbClr val="0000FF"/>
                </a:gs>
                <a:gs pos="100000">
                  <a:srgbClr val="FF0033"/>
                </a:gs>
              </a:gsLst>
              <a:lin ang="189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94" name="Rectangle 13"/>
            <p:cNvSpPr/>
            <p:nvPr/>
          </p:nvSpPr>
          <p:spPr>
            <a:xfrm>
              <a:off x="622829" y="0"/>
              <a:ext cx="32015" cy="1296988"/>
            </a:xfrm>
            <a:prstGeom prst="rect">
              <a:avLst/>
            </a:prstGeom>
            <a:solidFill>
              <a:srgbClr val="0000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95" name="Rectangle 14"/>
            <p:cNvSpPr/>
            <p:nvPr/>
          </p:nvSpPr>
          <p:spPr>
            <a:xfrm>
              <a:off x="309959" y="974242"/>
              <a:ext cx="8072041" cy="39030"/>
            </a:xfrm>
            <a:prstGeom prst="rect">
              <a:avLst/>
            </a:prstGeom>
            <a:gradFill flip="none" rotWithShape="1">
              <a:gsLst>
                <a:gs pos="0">
                  <a:srgbClr val="0000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grpSp>
      <p:grpSp>
        <p:nvGrpSpPr>
          <p:cNvPr id="299" name="AutoShape 1056">
            <a:hlinkClick r:id="rId2" action="ppaction://hlinksldjump"/>
          </p:cNvPr>
          <p:cNvGrpSpPr/>
          <p:nvPr/>
        </p:nvGrpSpPr>
        <p:grpSpPr>
          <a:xfrm>
            <a:off x="7958843" y="2626069"/>
            <a:ext cx="846316" cy="288926"/>
            <a:chOff x="0" y="0"/>
            <a:chExt cx="846314" cy="288925"/>
          </a:xfrm>
        </p:grpSpPr>
        <p:sp>
          <p:nvSpPr>
            <p:cNvPr id="297" name="形状"/>
            <p:cNvSpPr/>
            <p:nvPr/>
          </p:nvSpPr>
          <p:spPr>
            <a:xfrm>
              <a:off x="0" y="0"/>
              <a:ext cx="846315" cy="288926"/>
            </a:xfrm>
            <a:custGeom>
              <a:avLst/>
              <a:gdLst/>
              <a:ahLst/>
              <a:cxnLst>
                <a:cxn ang="0">
                  <a:pos x="wd2" y="hd2"/>
                </a:cxn>
                <a:cxn ang="5400000">
                  <a:pos x="wd2" y="hd2"/>
                </a:cxn>
                <a:cxn ang="10800000">
                  <a:pos x="wd2" y="hd2"/>
                </a:cxn>
                <a:cxn ang="16200000">
                  <a:pos x="wd2" y="hd2"/>
                </a:cxn>
              </a:cxnLst>
              <a:rect l="0" t="0" r="r" b="b"/>
              <a:pathLst>
                <a:path w="21600" h="21600" extrusionOk="0">
                  <a:moveTo>
                    <a:pt x="17633" y="21600"/>
                  </a:moveTo>
                  <a:lnTo>
                    <a:pt x="12784" y="14400"/>
                  </a:lnTo>
                  <a:lnTo>
                    <a:pt x="14988" y="14400"/>
                  </a:lnTo>
                  <a:lnTo>
                    <a:pt x="14988" y="14400"/>
                  </a:lnTo>
                  <a:cubicBezTo>
                    <a:pt x="13898" y="5770"/>
                    <a:pt x="10984" y="0"/>
                    <a:pt x="7714" y="0"/>
                  </a:cubicBezTo>
                  <a:lnTo>
                    <a:pt x="12123" y="0"/>
                  </a:lnTo>
                  <a:cubicBezTo>
                    <a:pt x="15392" y="0"/>
                    <a:pt x="18306" y="5770"/>
                    <a:pt x="19396" y="14400"/>
                  </a:cubicBezTo>
                  <a:lnTo>
                    <a:pt x="21600" y="14400"/>
                  </a:lnTo>
                  <a:close/>
                  <a:moveTo>
                    <a:pt x="9919" y="900"/>
                  </a:moveTo>
                  <a:cubicBezTo>
                    <a:pt x="6649" y="3630"/>
                    <a:pt x="4408" y="12048"/>
                    <a:pt x="4408" y="21600"/>
                  </a:cubicBezTo>
                  <a:lnTo>
                    <a:pt x="0" y="21600"/>
                  </a:lnTo>
                  <a:cubicBezTo>
                    <a:pt x="0" y="9671"/>
                    <a:pt x="3454" y="0"/>
                    <a:pt x="7714" y="0"/>
                  </a:cubicBezTo>
                  <a:cubicBezTo>
                    <a:pt x="8461" y="0"/>
                    <a:pt x="9203" y="303"/>
                    <a:pt x="9919" y="900"/>
                  </a:cubicBezTo>
                  <a:close/>
                </a:path>
              </a:pathLst>
            </a:custGeom>
            <a:solidFill>
              <a:schemeClr val="accent2"/>
            </a:solidFill>
            <a:ln w="12700" cap="flat">
              <a:noFill/>
              <a:miter lim="400000"/>
            </a:ln>
            <a:effectLst/>
          </p:spPr>
          <p:txBody>
            <a:bodyPr wrap="square" lIns="45719" tIns="45719" rIns="45719" bIns="45719" numCol="1" anchor="ctr">
              <a:noAutofit/>
            </a:bodyPr>
            <a:lstStyle/>
            <a:p>
              <a:pPr>
                <a:defRPr>
                  <a:latin typeface="SimSun"/>
                  <a:ea typeface="SimSun"/>
                  <a:cs typeface="SimSun"/>
                  <a:sym typeface="SimSun"/>
                </a:defRPr>
              </a:pPr>
              <a:endParaRPr/>
            </a:p>
          </p:txBody>
        </p:sp>
        <p:sp>
          <p:nvSpPr>
            <p:cNvPr id="298" name="形状"/>
            <p:cNvSpPr/>
            <p:nvPr/>
          </p:nvSpPr>
          <p:spPr>
            <a:xfrm>
              <a:off x="0" y="0"/>
              <a:ext cx="388621" cy="288926"/>
            </a:xfrm>
            <a:custGeom>
              <a:avLst/>
              <a:gdLst/>
              <a:ahLst/>
              <a:cxnLst>
                <a:cxn ang="0">
                  <a:pos x="wd2" y="hd2"/>
                </a:cxn>
                <a:cxn ang="5400000">
                  <a:pos x="wd2" y="hd2"/>
                </a:cxn>
                <a:cxn ang="10800000">
                  <a:pos x="wd2" y="hd2"/>
                </a:cxn>
                <a:cxn ang="16200000">
                  <a:pos x="wd2" y="hd2"/>
                </a:cxn>
              </a:cxnLst>
              <a:rect l="0" t="0" r="r" b="b"/>
              <a:pathLst>
                <a:path w="21600" h="21600" extrusionOk="0">
                  <a:moveTo>
                    <a:pt x="21600" y="900"/>
                  </a:moveTo>
                  <a:cubicBezTo>
                    <a:pt x="14480" y="3630"/>
                    <a:pt x="9600" y="12048"/>
                    <a:pt x="9600" y="21600"/>
                  </a:cubicBezTo>
                  <a:lnTo>
                    <a:pt x="0" y="21600"/>
                  </a:lnTo>
                  <a:cubicBezTo>
                    <a:pt x="0" y="9671"/>
                    <a:pt x="7522" y="0"/>
                    <a:pt x="16800" y="0"/>
                  </a:cubicBezTo>
                  <a:cubicBezTo>
                    <a:pt x="18425" y="0"/>
                    <a:pt x="20042" y="303"/>
                    <a:pt x="21600" y="900"/>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a:defRPr>
                  <a:latin typeface="SimSun"/>
                  <a:ea typeface="SimSun"/>
                  <a:cs typeface="SimSun"/>
                  <a:sym typeface="SimSun"/>
                </a:defRPr>
              </a:pPr>
              <a:endParaRPr/>
            </a:p>
          </p:txBody>
        </p:sp>
      </p:grpSp>
      <p:sp>
        <p:nvSpPr>
          <p:cNvPr id="19" name="文本框 18">
            <a:extLst>
              <a:ext uri="{FF2B5EF4-FFF2-40B4-BE49-F238E27FC236}">
                <a16:creationId xmlns:a16="http://schemas.microsoft.com/office/drawing/2014/main" id="{20508766-FACD-FE4B-9A02-E3453E15D54D}"/>
              </a:ext>
            </a:extLst>
          </p:cNvPr>
          <p:cNvSpPr txBox="1"/>
          <p:nvPr/>
        </p:nvSpPr>
        <p:spPr>
          <a:xfrm>
            <a:off x="-88805" y="1139249"/>
            <a:ext cx="9653138" cy="14010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40000"/>
              </a:lnSpc>
              <a:spcBef>
                <a:spcPts val="1900"/>
              </a:spcBef>
              <a:defRPr sz="3200">
                <a:latin typeface="SimSun"/>
                <a:ea typeface="SimSun"/>
                <a:cs typeface="SimSun"/>
                <a:sym typeface="SimSun"/>
              </a:defRPr>
            </a:pPr>
            <a:r>
              <a:rPr lang="zh-CN" altLang="en-US" sz="3200" dirty="0"/>
              <a:t>   </a:t>
            </a:r>
            <a:endParaRPr lang="zh-CN" altLang="en-US" sz="2400" dirty="0"/>
          </a:p>
          <a:p>
            <a:pPr>
              <a:lnSpc>
                <a:spcPct val="140000"/>
              </a:lnSpc>
              <a:spcBef>
                <a:spcPts val="1400"/>
              </a:spcBef>
              <a:defRPr sz="2400">
                <a:latin typeface="SimSun"/>
                <a:ea typeface="SimSun"/>
                <a:cs typeface="SimSun"/>
                <a:sym typeface="SimSun"/>
              </a:defRPr>
            </a:pPr>
            <a:r>
              <a:rPr lang="zh-CN" altLang="en-US" dirty="0"/>
              <a:t>    ① </a:t>
            </a:r>
            <a:r>
              <a:rPr lang="zh-CN" altLang="en-US" dirty="0">
                <a:solidFill>
                  <a:srgbClr val="800000"/>
                </a:solidFill>
              </a:rPr>
              <a:t>面向全组织的复杂的数据结构，实现了数据的结构化</a:t>
            </a:r>
            <a:r>
              <a:rPr lang="en-US" altLang="zh-CN" dirty="0">
                <a:solidFill>
                  <a:srgbClr val="800000"/>
                </a:solidFill>
              </a:rPr>
              <a:t>;</a:t>
            </a:r>
            <a:r>
              <a:rPr lang="zh-CN" altLang="en-US" dirty="0">
                <a:solidFill>
                  <a:srgbClr val="800000"/>
                </a:solidFill>
              </a:rPr>
              <a:t> </a:t>
            </a:r>
            <a:endParaRPr lang="en-US" altLang="zh-CN" dirty="0">
              <a:solidFill>
                <a:srgbClr val="800000"/>
              </a:solidFill>
            </a:endParaRPr>
          </a:p>
        </p:txBody>
      </p:sp>
      <p:sp>
        <p:nvSpPr>
          <p:cNvPr id="21" name="Rectangle 3">
            <a:extLst>
              <a:ext uri="{FF2B5EF4-FFF2-40B4-BE49-F238E27FC236}">
                <a16:creationId xmlns:a16="http://schemas.microsoft.com/office/drawing/2014/main" id="{1B0C0C2C-AD47-244F-8783-C0F64E3B9CB1}"/>
              </a:ext>
            </a:extLst>
          </p:cNvPr>
          <p:cNvSpPr txBox="1"/>
          <p:nvPr/>
        </p:nvSpPr>
        <p:spPr>
          <a:xfrm>
            <a:off x="580178" y="3105673"/>
            <a:ext cx="8396864" cy="10491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nSpc>
                <a:spcPct val="140000"/>
              </a:lnSpc>
              <a:spcBef>
                <a:spcPts val="1400"/>
              </a:spcBef>
              <a:defRPr sz="2400">
                <a:latin typeface="SimSun"/>
                <a:ea typeface="SimSun"/>
                <a:cs typeface="SimSun"/>
                <a:sym typeface="SimSun"/>
              </a:defRPr>
            </a:pPr>
            <a:r>
              <a:rPr lang="zh-CN" altLang="en-US" dirty="0"/>
              <a:t>③</a:t>
            </a:r>
            <a:r>
              <a:rPr dirty="0"/>
              <a:t> </a:t>
            </a:r>
            <a:r>
              <a:rPr lang="zh-CN" altLang="en-US" b="1" dirty="0">
                <a:solidFill>
                  <a:schemeClr val="tx1"/>
                </a:solidFill>
              </a:rPr>
              <a:t>为用户提供了方便的用户接口</a:t>
            </a:r>
            <a:r>
              <a:rPr lang="zh-CN" altLang="en-US" dirty="0">
                <a:solidFill>
                  <a:srgbClr val="000099"/>
                </a:solidFill>
              </a:rPr>
              <a:t>：</a:t>
            </a:r>
            <a:r>
              <a:rPr lang="zh-CN" altLang="en-US" dirty="0"/>
              <a:t>用户可以使用</a:t>
            </a:r>
            <a:r>
              <a:rPr lang="zh-CN" altLang="en-US" b="1" dirty="0"/>
              <a:t>程序方式</a:t>
            </a:r>
            <a:r>
              <a:rPr lang="zh-CN" altLang="en-US" dirty="0"/>
              <a:t>也可以使用</a:t>
            </a:r>
            <a:r>
              <a:rPr lang="zh-CN" altLang="en-US" b="1" dirty="0"/>
              <a:t>交互方式</a:t>
            </a:r>
            <a:r>
              <a:rPr lang="zh-CN" altLang="en-US" dirty="0"/>
              <a:t>操作数据库。</a:t>
            </a:r>
          </a:p>
        </p:txBody>
      </p:sp>
      <p:sp>
        <p:nvSpPr>
          <p:cNvPr id="22" name="左大括号 21">
            <a:extLst>
              <a:ext uri="{FF2B5EF4-FFF2-40B4-BE49-F238E27FC236}">
                <a16:creationId xmlns:a16="http://schemas.microsoft.com/office/drawing/2014/main" id="{93C0FE76-825A-4441-8119-1FD8AE2C4A97}"/>
              </a:ext>
            </a:extLst>
          </p:cNvPr>
          <p:cNvSpPr/>
          <p:nvPr/>
        </p:nvSpPr>
        <p:spPr bwMode="auto">
          <a:xfrm>
            <a:off x="163709" y="2143743"/>
            <a:ext cx="484585" cy="3953503"/>
          </a:xfrm>
          <a:prstGeom prst="leftBrace">
            <a:avLst>
              <a:gd name="adj1" fmla="val 0"/>
              <a:gd name="adj2" fmla="val 49725"/>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dirty="0">
              <a:ln>
                <a:noFill/>
              </a:ln>
              <a:solidFill>
                <a:schemeClr val="tx1"/>
              </a:solidFill>
              <a:effectLst/>
              <a:latin typeface="宋体" pitchFamily="2" charset="-122"/>
              <a:ea typeface="宋体" pitchFamily="2" charset="-122"/>
            </a:endParaRPr>
          </a:p>
        </p:txBody>
      </p:sp>
      <p:sp>
        <p:nvSpPr>
          <p:cNvPr id="23" name="文本框 22">
            <a:extLst>
              <a:ext uri="{FF2B5EF4-FFF2-40B4-BE49-F238E27FC236}">
                <a16:creationId xmlns:a16="http://schemas.microsoft.com/office/drawing/2014/main" id="{AB6E6D4B-896F-D446-9567-D68CDB03FDCF}"/>
              </a:ext>
            </a:extLst>
          </p:cNvPr>
          <p:cNvSpPr txBox="1"/>
          <p:nvPr/>
        </p:nvSpPr>
        <p:spPr>
          <a:xfrm>
            <a:off x="471864" y="1191752"/>
            <a:ext cx="5089070" cy="7537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57200" indent="-457200">
              <a:buFont typeface="Arial" panose="020B0604020202020204" pitchFamily="34" charset="0"/>
              <a:buChar char="•"/>
            </a:pPr>
            <a:r>
              <a:rPr lang="zh-CN" altLang="en-US" sz="2800" dirty="0"/>
              <a:t>数据管理的</a:t>
            </a:r>
            <a:r>
              <a:rPr lang="en-US" altLang="zh-CN" sz="2800" b="1" dirty="0">
                <a:solidFill>
                  <a:srgbClr val="FF0000"/>
                </a:solidFill>
              </a:rPr>
              <a:t>5</a:t>
            </a:r>
            <a:r>
              <a:rPr lang="zh-CN" altLang="en-US" sz="2800" dirty="0"/>
              <a:t>个特点：</a:t>
            </a:r>
            <a:endParaRPr lang="zh-CN" altLang="en-US" dirty="0"/>
          </a:p>
        </p:txBody>
      </p:sp>
      <p:pic>
        <p:nvPicPr>
          <p:cNvPr id="20" name="图片 19">
            <a:extLst>
              <a:ext uri="{FF2B5EF4-FFF2-40B4-BE49-F238E27FC236}">
                <a16:creationId xmlns:a16="http://schemas.microsoft.com/office/drawing/2014/main" id="{1FD67810-0800-744C-9828-DF71728CA9C2}"/>
              </a:ext>
            </a:extLst>
          </p:cNvPr>
          <p:cNvPicPr>
            <a:picLocks noChangeAspect="1"/>
          </p:cNvPicPr>
          <p:nvPr/>
        </p:nvPicPr>
        <p:blipFill rotWithShape="1">
          <a:blip r:embed="rId3"/>
          <a:srcRect l="676" t="20973" r="54062" b="13716"/>
          <a:stretch/>
        </p:blipFill>
        <p:spPr>
          <a:xfrm>
            <a:off x="285219" y="1375258"/>
            <a:ext cx="577970" cy="550431"/>
          </a:xfrm>
          <a:prstGeom prst="rect">
            <a:avLst/>
          </a:prstGeom>
        </p:spPr>
      </p:pic>
      <p:pic>
        <p:nvPicPr>
          <p:cNvPr id="24" name="图片 23">
            <a:extLst>
              <a:ext uri="{FF2B5EF4-FFF2-40B4-BE49-F238E27FC236}">
                <a16:creationId xmlns:a16="http://schemas.microsoft.com/office/drawing/2014/main" id="{F0438C99-EED6-D244-9270-6B7B1A3DAACE}"/>
              </a:ext>
            </a:extLst>
          </p:cNvPr>
          <p:cNvPicPr>
            <a:picLocks noChangeAspect="1"/>
          </p:cNvPicPr>
          <p:nvPr/>
        </p:nvPicPr>
        <p:blipFill rotWithShape="1">
          <a:blip r:embed="rId3"/>
          <a:srcRect l="676" t="20973" r="54062" b="13716"/>
          <a:stretch/>
        </p:blipFill>
        <p:spPr>
          <a:xfrm>
            <a:off x="471864" y="2659556"/>
            <a:ext cx="577970" cy="55043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1" nodeType="clickEffect">
                                  <p:stCondLst>
                                    <p:cond delay="0"/>
                                  </p:stCondLst>
                                  <p:iterate>
                                    <p:tmAbs val="0"/>
                                  </p:iterate>
                                  <p:childTnLst>
                                    <p:set>
                                      <p:cBhvr>
                                        <p:cTn id="10" fill="hold"/>
                                        <p:tgtEl>
                                          <p:spTgt spid="285"/>
                                        </p:tgtEl>
                                        <p:attrNameLst>
                                          <p:attrName>style.visibility</p:attrName>
                                        </p:attrNameLst>
                                      </p:cBhvr>
                                      <p:to>
                                        <p:strVal val="visible"/>
                                      </p:to>
                                    </p:set>
                                    <p:animEffect transition="in" filter="blinds(horizontal)">
                                      <p:cBhvr>
                                        <p:cTn id="11" dur="500"/>
                                        <p:tgtEl>
                                          <p:spTgt spid="28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iterate>
                                    <p:tmAbs val="0"/>
                                  </p:iterate>
                                  <p:childTnLst>
                                    <p:set>
                                      <p:cBhvr>
                                        <p:cTn id="19" fill="hold"/>
                                        <p:tgtEl>
                                          <p:spTgt spid="21"/>
                                        </p:tgtEl>
                                        <p:attrNameLst>
                                          <p:attrName>style.visibility</p:attrName>
                                        </p:attrNameLst>
                                      </p:cBhvr>
                                      <p:to>
                                        <p:strVal val="visible"/>
                                      </p:to>
                                    </p:set>
                                    <p:animEffect transition="in" filter="blinds(horizontal)">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8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8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 grpId="1" animBg="1" advAuto="0"/>
      <p:bldP spid="19" grpId="0"/>
      <p:bldP spid="21" grpId="0" animBg="1" advAuto="0"/>
      <p:bldP spid="22"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 name="Rectangle 13">
            <a:extLst>
              <a:ext uri="{FF2B5EF4-FFF2-40B4-BE49-F238E27FC236}">
                <a16:creationId xmlns:a16="http://schemas.microsoft.com/office/drawing/2014/main" id="{35050741-C03E-904F-91F7-36EAB02EF0D2}"/>
              </a:ext>
            </a:extLst>
          </p:cNvPr>
          <p:cNvSpPr>
            <a:spLocks noChangeArrowheads="1"/>
          </p:cNvSpPr>
          <p:nvPr/>
        </p:nvSpPr>
        <p:spPr bwMode="auto">
          <a:xfrm>
            <a:off x="971550" y="3232150"/>
            <a:ext cx="5562600" cy="757238"/>
          </a:xfrm>
          <a:prstGeom prst="rect">
            <a:avLst/>
          </a:prstGeom>
          <a:pattFill prst="pct5">
            <a:fgClr>
              <a:srgbClr val="AAFFFF"/>
            </a:fgClr>
            <a:bgClr>
              <a:srgbClr val="0000FF"/>
            </a:bgClr>
          </a:pattFill>
          <a:ln w="9525">
            <a:solidFill>
              <a:srgbClr val="000000"/>
            </a:solidFill>
            <a:miter lim="800000"/>
            <a:headEnd/>
            <a:tailEnd/>
          </a:ln>
        </p:spPr>
        <p:txBody>
          <a:bodyPr/>
          <a:lstStyle>
            <a:lvl1pPr indent="609600">
              <a:spcBef>
                <a:spcPct val="20000"/>
              </a:spcBef>
              <a:buClr>
                <a:schemeClr val="accent2"/>
              </a:buClr>
              <a:buSzPct val="80000"/>
              <a:buFont typeface="Wingdings" panose="05000000000000000000" pitchFamily="2" charset="2"/>
              <a:buChar char="l"/>
              <a:defRPr kumimoji="1" sz="3200">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bg2"/>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bg2"/>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bg2"/>
                </a:solidFill>
                <a:latin typeface="Times New Roman" panose="02020603050405020304" pitchFamily="18" charset="0"/>
                <a:ea typeface="宋体" panose="02010600030101010101" pitchFamily="2" charset="-122"/>
              </a:defRPr>
            </a:lvl9pPr>
          </a:lstStyle>
          <a:p>
            <a:pPr marL="0" marR="0" lvl="0" indent="609600" defTabSz="914400" eaLnBrk="0" fontAlgn="base" latinLnBrk="0" hangingPunct="1">
              <a:lnSpc>
                <a:spcPct val="100000"/>
              </a:lnSpc>
              <a:spcBef>
                <a:spcPct val="0"/>
              </a:spcBef>
              <a:spcAft>
                <a:spcPct val="0"/>
              </a:spcAft>
              <a:buClrTx/>
              <a:buSzTx/>
              <a:buFontTx/>
              <a:buNone/>
              <a:tabLst/>
              <a:defRPr/>
            </a:pPr>
            <a:endParaRPr kumimoji="1" lang="zh-CN" altLang="zh-CN" sz="28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endParaRPr>
          </a:p>
        </p:txBody>
      </p:sp>
      <p:sp>
        <p:nvSpPr>
          <p:cNvPr id="301" name="Line 15"/>
          <p:cNvSpPr/>
          <p:nvPr/>
        </p:nvSpPr>
        <p:spPr>
          <a:xfrm>
            <a:off x="1720850" y="2187575"/>
            <a:ext cx="484188" cy="1096964"/>
          </a:xfrm>
          <a:prstGeom prst="line">
            <a:avLst/>
          </a:prstGeom>
          <a:ln w="28575">
            <a:solidFill>
              <a:srgbClr val="000000"/>
            </a:solidFill>
          </a:ln>
        </p:spPr>
        <p:txBody>
          <a:bodyPr lIns="45719" rIns="45719"/>
          <a:lstStyle/>
          <a:p>
            <a:pPr>
              <a:defRPr>
                <a:solidFill>
                  <a:srgbClr val="FFFFFF"/>
                </a:solidFill>
              </a:defRPr>
            </a:pPr>
            <a:endParaRPr/>
          </a:p>
        </p:txBody>
      </p:sp>
      <p:sp>
        <p:nvSpPr>
          <p:cNvPr id="302" name="Line 17"/>
          <p:cNvSpPr/>
          <p:nvPr/>
        </p:nvSpPr>
        <p:spPr>
          <a:xfrm flipH="1">
            <a:off x="5786437" y="2187575"/>
            <a:ext cx="400051" cy="1096964"/>
          </a:xfrm>
          <a:prstGeom prst="line">
            <a:avLst/>
          </a:prstGeom>
          <a:ln w="28575">
            <a:solidFill>
              <a:srgbClr val="000000"/>
            </a:solidFill>
          </a:ln>
        </p:spPr>
        <p:txBody>
          <a:bodyPr lIns="45719" rIns="45719"/>
          <a:lstStyle/>
          <a:p>
            <a:pPr>
              <a:defRPr>
                <a:solidFill>
                  <a:srgbClr val="FFFFFF"/>
                </a:solidFill>
              </a:defRPr>
            </a:pPr>
            <a:endParaRPr/>
          </a:p>
        </p:txBody>
      </p:sp>
      <p:sp>
        <p:nvSpPr>
          <p:cNvPr id="303" name="Line 50"/>
          <p:cNvSpPr/>
          <p:nvPr/>
        </p:nvSpPr>
        <p:spPr>
          <a:xfrm>
            <a:off x="3994150" y="3505199"/>
            <a:ext cx="1589" cy="1652589"/>
          </a:xfrm>
          <a:prstGeom prst="line">
            <a:avLst/>
          </a:prstGeom>
          <a:ln w="28575">
            <a:solidFill>
              <a:srgbClr val="000000"/>
            </a:solidFill>
          </a:ln>
        </p:spPr>
        <p:txBody>
          <a:bodyPr lIns="45719" rIns="45719"/>
          <a:lstStyle/>
          <a:p>
            <a:pPr>
              <a:defRPr>
                <a:solidFill>
                  <a:srgbClr val="FFFFFF"/>
                </a:solidFill>
              </a:defRPr>
            </a:pPr>
            <a:endParaRPr/>
          </a:p>
        </p:txBody>
      </p:sp>
      <p:sp>
        <p:nvSpPr>
          <p:cNvPr id="304" name="Rectangle 45"/>
          <p:cNvSpPr txBox="1"/>
          <p:nvPr/>
        </p:nvSpPr>
        <p:spPr>
          <a:xfrm>
            <a:off x="-220981" y="677862"/>
            <a:ext cx="9585962" cy="49968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indent="304800">
              <a:defRPr sz="2000" b="1"/>
            </a:pPr>
            <a:r>
              <a:rPr dirty="0"/>
              <a:t>                    </a:t>
            </a:r>
            <a:r>
              <a:rPr b="0" dirty="0">
                <a:latin typeface="SimSun"/>
                <a:ea typeface="SimSun"/>
                <a:cs typeface="SimSun"/>
                <a:sym typeface="SimSun"/>
              </a:rPr>
              <a:t>用户1      用户2    用户3       </a:t>
            </a:r>
            <a:r>
              <a:rPr b="0" dirty="0" err="1">
                <a:latin typeface="SimSun"/>
                <a:ea typeface="SimSun"/>
                <a:cs typeface="SimSun"/>
                <a:sym typeface="SimSun"/>
              </a:rPr>
              <a:t>用户n</a:t>
            </a:r>
            <a:endParaRPr sz="3200" dirty="0"/>
          </a:p>
          <a:p>
            <a:pPr indent="304800">
              <a:defRPr sz="2000" b="1">
                <a:solidFill>
                  <a:srgbClr val="006600"/>
                </a:solidFill>
              </a:defRPr>
            </a:pPr>
            <a:r>
              <a:rPr dirty="0"/>
              <a:t>  </a:t>
            </a:r>
            <a:r>
              <a:rPr b="0" u="sng" dirty="0">
                <a:solidFill>
                  <a:srgbClr val="FF0033"/>
                </a:solidFill>
                <a:uFill>
                  <a:solidFill>
                    <a:srgbClr val="FF0033"/>
                  </a:solidFill>
                </a:uFill>
                <a:latin typeface="SimSun"/>
                <a:ea typeface="SimSun"/>
                <a:cs typeface="SimSun"/>
                <a:sym typeface="SimSun"/>
                <a:hlinkClick r:id="rId2" action="ppaction://hlinksldjump"/>
              </a:rPr>
              <a:t>外模式</a:t>
            </a:r>
            <a:r>
              <a:rPr u="sng" dirty="0">
                <a:solidFill>
                  <a:srgbClr val="FF0033"/>
                </a:solidFill>
                <a:uFill>
                  <a:solidFill>
                    <a:srgbClr val="FF0033"/>
                  </a:solidFill>
                </a:uFill>
                <a:hlinkClick r:id="rId3" action="ppaction://hlinksldjump"/>
              </a:rPr>
              <a:t> </a:t>
            </a:r>
            <a:r>
              <a:rPr dirty="0">
                <a:solidFill>
                  <a:srgbClr val="000000"/>
                </a:solidFill>
              </a:rPr>
              <a:t>                                                                                               </a:t>
            </a:r>
            <a:r>
              <a:rPr b="0" dirty="0" err="1">
                <a:solidFill>
                  <a:srgbClr val="800000"/>
                </a:solidFill>
                <a:latin typeface="SimSun"/>
                <a:ea typeface="SimSun"/>
                <a:cs typeface="SimSun"/>
                <a:sym typeface="SimSun"/>
              </a:rPr>
              <a:t>局部逻辑结构</a:t>
            </a:r>
            <a:r>
              <a:rPr dirty="0">
                <a:solidFill>
                  <a:srgbClr val="000000"/>
                </a:solidFill>
              </a:rPr>
              <a:t> </a:t>
            </a:r>
            <a:endParaRPr sz="3200" dirty="0"/>
          </a:p>
          <a:p>
            <a:pPr indent="304800">
              <a:defRPr sz="2000" b="1"/>
            </a:pPr>
            <a:r>
              <a:rPr dirty="0"/>
              <a:t>                                                                         </a:t>
            </a:r>
            <a:r>
              <a:rPr lang="zh-CN" altLang="en-US" dirty="0"/>
              <a:t>  </a:t>
            </a:r>
            <a:r>
              <a:rPr dirty="0"/>
              <a:t> …                                </a:t>
            </a:r>
            <a:r>
              <a:rPr b="0" dirty="0" err="1">
                <a:latin typeface="SimSun"/>
                <a:ea typeface="SimSun"/>
                <a:cs typeface="SimSun"/>
                <a:sym typeface="SimSun"/>
              </a:rPr>
              <a:t>映像功能</a:t>
            </a:r>
            <a:endParaRPr sz="3200" dirty="0"/>
          </a:p>
          <a:p>
            <a:pPr indent="304800">
              <a:defRPr sz="2000" b="1"/>
            </a:pPr>
            <a:r>
              <a:rPr dirty="0"/>
              <a:t>   </a:t>
            </a:r>
            <a:r>
              <a:rPr lang="zh-CN" altLang="en-US" dirty="0"/>
              <a:t>                                                                                                                                </a:t>
            </a:r>
            <a:endParaRPr lang="en-US" altLang="zh-CN" dirty="0"/>
          </a:p>
          <a:p>
            <a:pPr indent="304800">
              <a:defRPr sz="2000" b="1"/>
            </a:pPr>
            <a:r>
              <a:rPr lang="en-US" b="0" dirty="0">
                <a:solidFill>
                  <a:srgbClr val="FF0066"/>
                </a:solidFill>
                <a:latin typeface="SimSun"/>
                <a:ea typeface="SimSun"/>
                <a:cs typeface="SimSun"/>
                <a:sym typeface="SimSun"/>
              </a:rPr>
              <a:t> </a:t>
            </a:r>
            <a:r>
              <a:rPr b="0" dirty="0" err="1">
                <a:solidFill>
                  <a:srgbClr val="FF0066"/>
                </a:solidFill>
                <a:latin typeface="SimSun"/>
                <a:ea typeface="SimSun"/>
                <a:cs typeface="SimSun"/>
                <a:sym typeface="SimSun"/>
              </a:rPr>
              <a:t>概念</a:t>
            </a:r>
            <a:r>
              <a:rPr lang="en-US" b="0" dirty="0">
                <a:solidFill>
                  <a:srgbClr val="FF0066"/>
                </a:solidFill>
                <a:latin typeface="SimSun"/>
                <a:ea typeface="SimSun"/>
                <a:cs typeface="SimSun"/>
                <a:sym typeface="SimSun"/>
              </a:rPr>
              <a:t>                              </a:t>
            </a:r>
            <a:r>
              <a:rPr b="0" dirty="0">
                <a:latin typeface="SimSun"/>
                <a:ea typeface="SimSun"/>
                <a:cs typeface="SimSun"/>
                <a:sym typeface="SimSun"/>
              </a:rPr>
              <a:t>      </a:t>
            </a:r>
            <a:r>
              <a:rPr lang="zh-CN" altLang="en-US" b="0" dirty="0">
                <a:latin typeface="SimSun"/>
                <a:ea typeface="SimSun"/>
                <a:cs typeface="SimSun"/>
                <a:sym typeface="SimSun"/>
              </a:rPr>
              <a:t>    </a:t>
            </a:r>
            <a:r>
              <a:rPr lang="en-US" altLang="zh-CN" dirty="0">
                <a:latin typeface="SimSun"/>
                <a:ea typeface="SimSun"/>
                <a:cs typeface="SimSun"/>
                <a:sym typeface="SimSun"/>
              </a:rPr>
              <a:t>     </a:t>
            </a:r>
            <a:r>
              <a:rPr b="0" dirty="0">
                <a:latin typeface="SimSun"/>
                <a:ea typeface="SimSun"/>
                <a:cs typeface="SimSun"/>
                <a:sym typeface="SimSun"/>
              </a:rPr>
              <a:t>（</a:t>
            </a:r>
            <a:r>
              <a:rPr b="0" dirty="0" err="1">
                <a:solidFill>
                  <a:srgbClr val="000099"/>
                </a:solidFill>
                <a:latin typeface="SimSun"/>
                <a:ea typeface="SimSun"/>
                <a:cs typeface="SimSun"/>
                <a:sym typeface="SimSun"/>
              </a:rPr>
              <a:t>逻辑数据独立性</a:t>
            </a:r>
            <a:r>
              <a:rPr b="0" dirty="0">
                <a:latin typeface="SimSun"/>
                <a:ea typeface="SimSun"/>
                <a:cs typeface="SimSun"/>
                <a:sym typeface="SimSun"/>
              </a:rPr>
              <a:t>）</a:t>
            </a:r>
            <a:endParaRPr sz="3200" dirty="0"/>
          </a:p>
          <a:p>
            <a:pPr indent="304800">
              <a:defRPr sz="2000" b="1">
                <a:solidFill>
                  <a:srgbClr val="990033"/>
                </a:solidFill>
              </a:defRPr>
            </a:pPr>
            <a:r>
              <a:rPr lang="en-US" b="0" u="sng" dirty="0">
                <a:solidFill>
                  <a:srgbClr val="FF0033"/>
                </a:solidFill>
                <a:uFill>
                  <a:solidFill>
                    <a:srgbClr val="FF0033"/>
                  </a:solidFill>
                </a:uFill>
                <a:latin typeface="SimSun"/>
                <a:ea typeface="SimSun"/>
                <a:cs typeface="SimSun"/>
                <a:sym typeface="SimSun"/>
                <a:hlinkClick r:id="rId4" action="ppaction://hlinksldjump"/>
              </a:rPr>
              <a:t> </a:t>
            </a:r>
            <a:r>
              <a:rPr b="0" u="sng" dirty="0">
                <a:solidFill>
                  <a:srgbClr val="FF0033"/>
                </a:solidFill>
                <a:uFill>
                  <a:solidFill>
                    <a:srgbClr val="FF0033"/>
                  </a:solidFill>
                </a:uFill>
                <a:latin typeface="SimSun"/>
                <a:ea typeface="SimSun"/>
                <a:cs typeface="SimSun"/>
                <a:sym typeface="SimSun"/>
                <a:hlinkClick r:id="rId4" action="ppaction://hlinksldjump"/>
              </a:rPr>
              <a:t>模式</a:t>
            </a:r>
            <a:r>
              <a:rPr dirty="0"/>
              <a:t>                                                                                      </a:t>
            </a:r>
            <a:r>
              <a:rPr lang="en-US" dirty="0"/>
              <a:t>     </a:t>
            </a:r>
            <a:r>
              <a:rPr dirty="0"/>
              <a:t> </a:t>
            </a:r>
            <a:r>
              <a:rPr lang="zh-CN" altLang="en-US" b="0" dirty="0">
                <a:latin typeface="SimSun"/>
                <a:ea typeface="SimSun"/>
                <a:cs typeface="SimSun"/>
                <a:sym typeface="SimSun"/>
              </a:rPr>
              <a:t>数据库的整体逻辑结构</a:t>
            </a:r>
            <a:endParaRPr b="0" dirty="0">
              <a:latin typeface="SimSun"/>
              <a:ea typeface="SimSun"/>
              <a:cs typeface="SimSun"/>
              <a:sym typeface="SimSun"/>
            </a:endParaRPr>
          </a:p>
          <a:p>
            <a:pPr indent="304800">
              <a:defRPr sz="2000" b="1">
                <a:solidFill>
                  <a:srgbClr val="990033"/>
                </a:solidFill>
              </a:defRPr>
            </a:pPr>
            <a:r>
              <a:rPr dirty="0"/>
              <a:t> </a:t>
            </a:r>
            <a:r>
              <a:rPr dirty="0">
                <a:solidFill>
                  <a:srgbClr val="000000"/>
                </a:solidFill>
              </a:rPr>
              <a:t>                                                                        …                                  </a:t>
            </a:r>
            <a:r>
              <a:rPr b="0" dirty="0" err="1">
                <a:solidFill>
                  <a:srgbClr val="000000"/>
                </a:solidFill>
                <a:latin typeface="SimSun"/>
                <a:ea typeface="SimSun"/>
                <a:cs typeface="SimSun"/>
                <a:sym typeface="SimSun"/>
              </a:rPr>
              <a:t>映像功能</a:t>
            </a:r>
            <a:endParaRPr sz="3200" dirty="0"/>
          </a:p>
          <a:p>
            <a:pPr indent="304800">
              <a:defRPr sz="2000" b="1"/>
            </a:pPr>
            <a:r>
              <a:rPr dirty="0"/>
              <a:t>                                                           </a:t>
            </a:r>
            <a:r>
              <a:rPr b="0" dirty="0">
                <a:latin typeface="SimSun"/>
                <a:ea typeface="SimSun"/>
                <a:cs typeface="SimSun"/>
                <a:sym typeface="SimSun"/>
              </a:rPr>
              <a:t>  </a:t>
            </a:r>
            <a:r>
              <a:rPr dirty="0"/>
              <a:t>                                         </a:t>
            </a:r>
            <a:r>
              <a:rPr b="0" dirty="0">
                <a:latin typeface="SimSun"/>
                <a:ea typeface="SimSun"/>
                <a:cs typeface="SimSun"/>
                <a:sym typeface="SimSun"/>
              </a:rPr>
              <a:t>（</a:t>
            </a:r>
            <a:r>
              <a:rPr b="0" dirty="0" err="1">
                <a:solidFill>
                  <a:srgbClr val="000099"/>
                </a:solidFill>
                <a:latin typeface="SimSun"/>
                <a:ea typeface="SimSun"/>
                <a:cs typeface="SimSun"/>
                <a:sym typeface="SimSun"/>
              </a:rPr>
              <a:t>物理数据独立性</a:t>
            </a:r>
            <a:r>
              <a:rPr lang="zh-CN" altLang="en-US" b="0" dirty="0">
                <a:latin typeface="SimSun"/>
                <a:ea typeface="SimSun"/>
                <a:cs typeface="SimSun"/>
                <a:sym typeface="SimSun"/>
              </a:rPr>
              <a:t>）</a:t>
            </a:r>
            <a:endParaRPr lang="zh-CN" altLang="en-US" sz="3200" dirty="0"/>
          </a:p>
          <a:p>
            <a:pPr indent="304800">
              <a:defRPr sz="2000" b="1">
                <a:solidFill>
                  <a:srgbClr val="990033"/>
                </a:solidFill>
              </a:defRPr>
            </a:pPr>
            <a:r>
              <a:rPr lang="zh-CN" altLang="en-US" b="0" u="sng" dirty="0">
                <a:solidFill>
                  <a:srgbClr val="FF0033"/>
                </a:solidFill>
                <a:uFill>
                  <a:solidFill>
                    <a:srgbClr val="FF0033"/>
                  </a:solidFill>
                </a:uFill>
                <a:latin typeface="SimSun"/>
                <a:ea typeface="SimSun"/>
                <a:cs typeface="SimSun"/>
                <a:sym typeface="SimSun"/>
                <a:hlinkClick r:id="rId5" action="ppaction://hlinksldjump"/>
              </a:rPr>
              <a:t>内模式</a:t>
            </a:r>
            <a:r>
              <a:rPr lang="zh-CN" altLang="en-US" dirty="0">
                <a:solidFill>
                  <a:srgbClr val="000000"/>
                </a:solidFill>
              </a:rPr>
              <a:t>                                                                                            </a:t>
            </a:r>
            <a:r>
              <a:rPr lang="zh-CN" altLang="en-US" b="0" dirty="0">
                <a:solidFill>
                  <a:srgbClr val="800000"/>
                </a:solidFill>
                <a:latin typeface="SimSun"/>
                <a:ea typeface="SimSun"/>
                <a:cs typeface="SimSun"/>
                <a:sym typeface="SimSun"/>
              </a:rPr>
              <a:t>数据库的物理结构</a:t>
            </a:r>
            <a:endParaRPr lang="zh-CN" altLang="en-US" sz="3200" dirty="0"/>
          </a:p>
        </p:txBody>
      </p:sp>
      <p:sp>
        <p:nvSpPr>
          <p:cNvPr id="305" name="Text Box 11"/>
          <p:cNvSpPr/>
          <p:nvPr/>
        </p:nvSpPr>
        <p:spPr>
          <a:xfrm>
            <a:off x="5786437" y="1749425"/>
            <a:ext cx="1011238" cy="452438"/>
          </a:xfrm>
          <a:prstGeom prst="rect">
            <a:avLst/>
          </a:prstGeom>
          <a:blipFill>
            <a:blip r:embed="rId6"/>
          </a:blipFill>
          <a:ln>
            <a:solidFill>
              <a:srgbClr val="000000"/>
            </a:solidFill>
            <a:miter/>
          </a:ln>
        </p:spPr>
        <p:txBody>
          <a:bodyPr lIns="45719" rIns="45719"/>
          <a:lstStyle/>
          <a:p>
            <a:pPr>
              <a:defRPr sz="1000">
                <a:solidFill>
                  <a:srgbClr val="FFFFFF"/>
                </a:solidFill>
              </a:defRPr>
            </a:pPr>
            <a:endParaRPr/>
          </a:p>
        </p:txBody>
      </p:sp>
      <p:grpSp>
        <p:nvGrpSpPr>
          <p:cNvPr id="311" name="AutoShape 14"/>
          <p:cNvGrpSpPr/>
          <p:nvPr/>
        </p:nvGrpSpPr>
        <p:grpSpPr>
          <a:xfrm>
            <a:off x="3182937" y="5159375"/>
            <a:ext cx="1622428" cy="1009651"/>
            <a:chOff x="-1" y="0"/>
            <a:chExt cx="1622427" cy="1009650"/>
          </a:xfrm>
        </p:grpSpPr>
        <p:grpSp>
          <p:nvGrpSpPr>
            <p:cNvPr id="309" name="成组"/>
            <p:cNvGrpSpPr/>
            <p:nvPr/>
          </p:nvGrpSpPr>
          <p:grpSpPr>
            <a:xfrm>
              <a:off x="-2" y="0"/>
              <a:ext cx="1622429" cy="1009651"/>
              <a:chOff x="-1" y="0"/>
              <a:chExt cx="1622427" cy="1009650"/>
            </a:xfrm>
          </p:grpSpPr>
          <p:sp>
            <p:nvSpPr>
              <p:cNvPr id="307" name="形状"/>
              <p:cNvSpPr/>
              <p:nvPr/>
            </p:nvSpPr>
            <p:spPr>
              <a:xfrm>
                <a:off x="-2" y="0"/>
                <a:ext cx="1622429" cy="1009651"/>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gradFill flip="none" rotWithShape="1">
                <a:gsLst>
                  <a:gs pos="0">
                    <a:srgbClr val="FFFFFF"/>
                  </a:gs>
                  <a:gs pos="50000">
                    <a:srgbClr val="767676"/>
                  </a:gs>
                  <a:gs pos="100000">
                    <a:srgbClr val="FFFFFF"/>
                  </a:gs>
                </a:gsLst>
                <a:lin ang="5400000" scaled="0"/>
              </a:gradFill>
              <a:ln w="12700" cap="flat">
                <a:noFill/>
                <a:miter lim="400000"/>
              </a:ln>
              <a:effectLst/>
            </p:spPr>
            <p:txBody>
              <a:bodyPr wrap="square" lIns="45719" tIns="45719" rIns="45719" bIns="45719" numCol="1" anchor="t">
                <a:noAutofit/>
              </a:bodyPr>
              <a:lstStyle/>
              <a:p>
                <a:pPr indent="609600">
                  <a:defRPr>
                    <a:latin typeface="SimSun"/>
                    <a:ea typeface="SimSun"/>
                    <a:cs typeface="SimSun"/>
                    <a:sym typeface="SimSun"/>
                  </a:defRPr>
                </a:pPr>
                <a:endParaRPr/>
              </a:p>
            </p:txBody>
          </p:sp>
          <p:sp>
            <p:nvSpPr>
              <p:cNvPr id="308" name="形状"/>
              <p:cNvSpPr/>
              <p:nvPr/>
            </p:nvSpPr>
            <p:spPr>
              <a:xfrm>
                <a:off x="-2" y="0"/>
                <a:ext cx="1622429" cy="1009651"/>
              </a:xfrm>
              <a:custGeom>
                <a:avLst/>
                <a:gdLst/>
                <a:ahLst/>
                <a:cxnLst>
                  <a:cxn ang="0">
                    <a:pos x="wd2" y="hd2"/>
                  </a:cxn>
                  <a:cxn ang="5400000">
                    <a:pos x="wd2" y="hd2"/>
                  </a:cxn>
                  <a:cxn ang="10800000">
                    <a:pos x="wd2" y="hd2"/>
                  </a:cxn>
                  <a:cxn ang="16200000">
                    <a:pos x="wd2" y="hd2"/>
                  </a:cxn>
                </a:cxnLst>
                <a:rect l="0" t="0" r="r" b="b"/>
                <a:pathLst>
                  <a:path w="21600" h="21600"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8575" cap="flat">
                <a:solidFill>
                  <a:srgbClr val="000000"/>
                </a:solidFill>
                <a:prstDash val="solid"/>
                <a:round/>
              </a:ln>
              <a:effectLst/>
            </p:spPr>
            <p:txBody>
              <a:bodyPr wrap="square" lIns="45719" tIns="45719" rIns="45719" bIns="45719" numCol="1" anchor="t">
                <a:noAutofit/>
              </a:bodyPr>
              <a:lstStyle/>
              <a:p>
                <a:pPr indent="609600">
                  <a:defRPr>
                    <a:latin typeface="SimSun"/>
                    <a:ea typeface="SimSun"/>
                    <a:cs typeface="SimSun"/>
                    <a:sym typeface="SimSun"/>
                  </a:defRPr>
                </a:pPr>
                <a:endParaRPr/>
              </a:p>
            </p:txBody>
          </p:sp>
        </p:grpSp>
        <p:sp>
          <p:nvSpPr>
            <p:cNvPr id="310" name="DB"/>
            <p:cNvSpPr txBox="1"/>
            <p:nvPr/>
          </p:nvSpPr>
          <p:spPr>
            <a:xfrm>
              <a:off x="60007" y="350837"/>
              <a:ext cx="1502411" cy="447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indent="609600">
                <a:defRPr>
                  <a:latin typeface="SimSun"/>
                  <a:ea typeface="SimSun"/>
                  <a:cs typeface="SimSun"/>
                  <a:sym typeface="SimSun"/>
                </a:defRPr>
              </a:lvl1pPr>
            </a:lstStyle>
            <a:p>
              <a:r>
                <a:t>DB</a:t>
              </a:r>
            </a:p>
          </p:txBody>
        </p:sp>
      </p:grpSp>
      <p:grpSp>
        <p:nvGrpSpPr>
          <p:cNvPr id="314" name="Text Box 19"/>
          <p:cNvGrpSpPr/>
          <p:nvPr/>
        </p:nvGrpSpPr>
        <p:grpSpPr>
          <a:xfrm>
            <a:off x="1719263" y="4365625"/>
            <a:ext cx="4857593" cy="533400"/>
            <a:chOff x="0" y="0"/>
            <a:chExt cx="4857592" cy="533400"/>
          </a:xfrm>
        </p:grpSpPr>
        <p:sp>
          <p:nvSpPr>
            <p:cNvPr id="312" name="矩形"/>
            <p:cNvSpPr/>
            <p:nvPr/>
          </p:nvSpPr>
          <p:spPr>
            <a:xfrm>
              <a:off x="0" y="0"/>
              <a:ext cx="4733925" cy="533400"/>
            </a:xfrm>
            <a:prstGeom prst="rect">
              <a:avLst/>
            </a:prstGeom>
            <a:noFill/>
            <a:ln w="28575" cap="flat">
              <a:solidFill>
                <a:srgbClr val="000000"/>
              </a:solidFill>
              <a:prstDash val="dash"/>
              <a:miter lim="800000"/>
            </a:ln>
            <a:effectLst/>
          </p:spPr>
          <p:txBody>
            <a:bodyPr wrap="square" lIns="45719" tIns="45719" rIns="45719" bIns="45719" numCol="1" anchor="t">
              <a:noAutofit/>
            </a:bodyPr>
            <a:lstStyle/>
            <a:p>
              <a:pPr>
                <a:defRPr sz="3200"/>
              </a:pPr>
              <a:endParaRPr/>
            </a:p>
          </p:txBody>
        </p:sp>
        <p:sp>
          <p:nvSpPr>
            <p:cNvPr id="313" name="文本"/>
            <p:cNvSpPr txBox="1"/>
            <p:nvPr/>
          </p:nvSpPr>
          <p:spPr>
            <a:xfrm>
              <a:off x="243681" y="104224"/>
              <a:ext cx="4613911" cy="22574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sz="1000">
                  <a:solidFill>
                    <a:srgbClr val="FFFFFF"/>
                  </a:solidFill>
                </a:defRPr>
              </a:lvl1pPr>
            </a:lstStyle>
            <a:p>
              <a:r>
                <a:t>                                       </a:t>
              </a:r>
            </a:p>
          </p:txBody>
        </p:sp>
      </p:grpSp>
      <p:sp>
        <p:nvSpPr>
          <p:cNvPr id="315" name="Line 6"/>
          <p:cNvSpPr/>
          <p:nvPr/>
        </p:nvSpPr>
        <p:spPr>
          <a:xfrm>
            <a:off x="1719263" y="1303337"/>
            <a:ext cx="1" cy="452438"/>
          </a:xfrm>
          <a:prstGeom prst="line">
            <a:avLst/>
          </a:prstGeom>
          <a:ln w="28575">
            <a:solidFill>
              <a:srgbClr val="000000"/>
            </a:solidFill>
            <a:tailEnd type="triangle"/>
          </a:ln>
        </p:spPr>
        <p:txBody>
          <a:bodyPr lIns="45719" rIns="45719"/>
          <a:lstStyle/>
          <a:p>
            <a:pPr>
              <a:defRPr>
                <a:solidFill>
                  <a:srgbClr val="FFFFFF"/>
                </a:solidFill>
              </a:defRPr>
            </a:pPr>
            <a:endParaRPr/>
          </a:p>
        </p:txBody>
      </p:sp>
      <p:sp>
        <p:nvSpPr>
          <p:cNvPr id="316" name="Line 9"/>
          <p:cNvSpPr/>
          <p:nvPr/>
        </p:nvSpPr>
        <p:spPr>
          <a:xfrm>
            <a:off x="3357562" y="1289050"/>
            <a:ext cx="1" cy="452438"/>
          </a:xfrm>
          <a:prstGeom prst="line">
            <a:avLst/>
          </a:prstGeom>
          <a:ln w="28575">
            <a:solidFill>
              <a:srgbClr val="000000"/>
            </a:solidFill>
            <a:tailEnd type="triangle"/>
          </a:ln>
        </p:spPr>
        <p:txBody>
          <a:bodyPr lIns="45719" rIns="45719"/>
          <a:lstStyle/>
          <a:p>
            <a:pPr>
              <a:defRPr>
                <a:solidFill>
                  <a:srgbClr val="FFFFFF"/>
                </a:solidFill>
              </a:defRPr>
            </a:pPr>
            <a:endParaRPr/>
          </a:p>
        </p:txBody>
      </p:sp>
      <p:sp>
        <p:nvSpPr>
          <p:cNvPr id="317" name="Line 12"/>
          <p:cNvSpPr/>
          <p:nvPr/>
        </p:nvSpPr>
        <p:spPr>
          <a:xfrm>
            <a:off x="6223000" y="1289050"/>
            <a:ext cx="0" cy="452438"/>
          </a:xfrm>
          <a:prstGeom prst="line">
            <a:avLst/>
          </a:prstGeom>
          <a:ln w="28575">
            <a:solidFill>
              <a:srgbClr val="000000"/>
            </a:solidFill>
            <a:tailEnd type="triangle"/>
          </a:ln>
        </p:spPr>
        <p:txBody>
          <a:bodyPr lIns="45719" rIns="45719"/>
          <a:lstStyle/>
          <a:p>
            <a:pPr>
              <a:defRPr>
                <a:solidFill>
                  <a:srgbClr val="FFFFFF"/>
                </a:solidFill>
              </a:defRPr>
            </a:pPr>
            <a:endParaRPr/>
          </a:p>
        </p:txBody>
      </p:sp>
      <p:grpSp>
        <p:nvGrpSpPr>
          <p:cNvPr id="320" name="Text Box 3"/>
          <p:cNvGrpSpPr/>
          <p:nvPr/>
        </p:nvGrpSpPr>
        <p:grpSpPr>
          <a:xfrm>
            <a:off x="1666875" y="2462213"/>
            <a:ext cx="4797425" cy="395288"/>
            <a:chOff x="0" y="0"/>
            <a:chExt cx="4797425" cy="395287"/>
          </a:xfrm>
        </p:grpSpPr>
        <p:sp>
          <p:nvSpPr>
            <p:cNvPr id="318" name="矩形"/>
            <p:cNvSpPr/>
            <p:nvPr/>
          </p:nvSpPr>
          <p:spPr>
            <a:xfrm>
              <a:off x="0" y="-1"/>
              <a:ext cx="4797425" cy="395289"/>
            </a:xfrm>
            <a:prstGeom prst="rect">
              <a:avLst/>
            </a:prstGeom>
            <a:noFill/>
            <a:ln w="9525" cap="flat">
              <a:solidFill>
                <a:srgbClr val="000000"/>
              </a:solidFill>
              <a:prstDash val="dash"/>
              <a:miter lim="800000"/>
            </a:ln>
            <a:effectLst/>
          </p:spPr>
          <p:txBody>
            <a:bodyPr wrap="square" lIns="45719" tIns="45719" rIns="45719" bIns="45719" numCol="1" anchor="t">
              <a:noAutofit/>
            </a:bodyPr>
            <a:lstStyle/>
            <a:p>
              <a:pPr>
                <a:defRPr sz="3200"/>
              </a:pPr>
              <a:endParaRPr/>
            </a:p>
          </p:txBody>
        </p:sp>
        <p:sp>
          <p:nvSpPr>
            <p:cNvPr id="319" name="文本"/>
            <p:cNvSpPr txBox="1"/>
            <p:nvPr/>
          </p:nvSpPr>
          <p:spPr>
            <a:xfrm>
              <a:off x="50482" y="4762"/>
              <a:ext cx="4696461" cy="22574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sz="1000">
                  <a:solidFill>
                    <a:srgbClr val="FFFFFF"/>
                  </a:solidFill>
                </a:defRPr>
              </a:lvl1pPr>
            </a:lstStyle>
            <a:p>
              <a:r>
                <a:t>                                                           </a:t>
              </a:r>
            </a:p>
          </p:txBody>
        </p:sp>
      </p:grpSp>
      <p:sp>
        <p:nvSpPr>
          <p:cNvPr id="322" name="Text Box 8"/>
          <p:cNvSpPr/>
          <p:nvPr/>
        </p:nvSpPr>
        <p:spPr>
          <a:xfrm>
            <a:off x="2900363" y="1755775"/>
            <a:ext cx="1011238" cy="452438"/>
          </a:xfrm>
          <a:prstGeom prst="rect">
            <a:avLst/>
          </a:prstGeom>
          <a:blipFill>
            <a:blip r:embed="rId7"/>
          </a:blipFill>
          <a:ln>
            <a:solidFill>
              <a:srgbClr val="000000"/>
            </a:solidFill>
            <a:miter/>
          </a:ln>
        </p:spPr>
        <p:txBody>
          <a:bodyPr lIns="45719" rIns="45719"/>
          <a:lstStyle/>
          <a:p>
            <a:pPr>
              <a:defRPr sz="1000">
                <a:solidFill>
                  <a:srgbClr val="FFFFFF"/>
                </a:solidFill>
              </a:defRPr>
            </a:pPr>
            <a:endParaRPr/>
          </a:p>
        </p:txBody>
      </p:sp>
      <p:sp>
        <p:nvSpPr>
          <p:cNvPr id="323" name="Line 49"/>
          <p:cNvSpPr/>
          <p:nvPr/>
        </p:nvSpPr>
        <p:spPr>
          <a:xfrm>
            <a:off x="3357562" y="2219325"/>
            <a:ext cx="1" cy="1020764"/>
          </a:xfrm>
          <a:prstGeom prst="line">
            <a:avLst/>
          </a:prstGeom>
          <a:ln w="28575">
            <a:solidFill>
              <a:srgbClr val="000000"/>
            </a:solidFill>
          </a:ln>
        </p:spPr>
        <p:txBody>
          <a:bodyPr lIns="45719" rIns="45719"/>
          <a:lstStyle/>
          <a:p>
            <a:pPr>
              <a:defRPr>
                <a:solidFill>
                  <a:srgbClr val="FFFFFF"/>
                </a:solidFill>
              </a:defRPr>
            </a:pPr>
            <a:endParaRPr/>
          </a:p>
        </p:txBody>
      </p:sp>
      <p:sp>
        <p:nvSpPr>
          <p:cNvPr id="324" name="Line 56"/>
          <p:cNvSpPr/>
          <p:nvPr/>
        </p:nvSpPr>
        <p:spPr>
          <a:xfrm flipH="1">
            <a:off x="3743324" y="1287462"/>
            <a:ext cx="649290" cy="431801"/>
          </a:xfrm>
          <a:prstGeom prst="line">
            <a:avLst/>
          </a:prstGeom>
          <a:ln w="28575">
            <a:solidFill>
              <a:srgbClr val="000000"/>
            </a:solidFill>
            <a:tailEnd type="triangle"/>
          </a:ln>
        </p:spPr>
        <p:txBody>
          <a:bodyPr lIns="45719" rIns="45719"/>
          <a:lstStyle/>
          <a:p>
            <a:pPr>
              <a:defRPr>
                <a:solidFill>
                  <a:srgbClr val="FFFFFF"/>
                </a:solidFill>
              </a:defRPr>
            </a:pPr>
            <a:endParaRPr/>
          </a:p>
        </p:txBody>
      </p:sp>
      <p:grpSp>
        <p:nvGrpSpPr>
          <p:cNvPr id="327" name="AutoShape 62">
            <a:hlinkClick r:id="rId2" action="ppaction://hlinksldjump"/>
          </p:cNvPr>
          <p:cNvGrpSpPr/>
          <p:nvPr/>
        </p:nvGrpSpPr>
        <p:grpSpPr>
          <a:xfrm>
            <a:off x="1077711" y="6087081"/>
            <a:ext cx="760615" cy="640744"/>
            <a:chOff x="0" y="0"/>
            <a:chExt cx="760613" cy="640743"/>
          </a:xfrm>
        </p:grpSpPr>
        <p:sp>
          <p:nvSpPr>
            <p:cNvPr id="325" name="形状"/>
            <p:cNvSpPr/>
            <p:nvPr/>
          </p:nvSpPr>
          <p:spPr>
            <a:xfrm rot="10800000">
              <a:off x="0" y="0"/>
              <a:ext cx="760614" cy="640744"/>
            </a:xfrm>
            <a:custGeom>
              <a:avLst/>
              <a:gdLst/>
              <a:ahLst/>
              <a:cxnLst>
                <a:cxn ang="0">
                  <a:pos x="wd2" y="hd2"/>
                </a:cxn>
                <a:cxn ang="5400000">
                  <a:pos x="wd2" y="hd2"/>
                </a:cxn>
                <a:cxn ang="10800000">
                  <a:pos x="wd2" y="hd2"/>
                </a:cxn>
                <a:cxn ang="16200000">
                  <a:pos x="wd2" y="hd2"/>
                </a:cxn>
              </a:cxnLst>
              <a:rect l="0" t="0" r="r" b="b"/>
              <a:pathLst>
                <a:path w="19049" h="21600" extrusionOk="0">
                  <a:moveTo>
                    <a:pt x="0" y="16630"/>
                  </a:moveTo>
                  <a:lnTo>
                    <a:pt x="5406" y="11084"/>
                  </a:lnTo>
                  <a:lnTo>
                    <a:pt x="5406" y="13713"/>
                  </a:lnTo>
                  <a:lnTo>
                    <a:pt x="5406" y="13713"/>
                  </a:lnTo>
                  <a:cubicBezTo>
                    <a:pt x="10966" y="13108"/>
                    <a:pt x="15473" y="11605"/>
                    <a:pt x="17651" y="9629"/>
                  </a:cubicBezTo>
                  <a:cubicBezTo>
                    <a:pt x="21600" y="13213"/>
                    <a:pt x="16899" y="17294"/>
                    <a:pt x="7151" y="18746"/>
                  </a:cubicBezTo>
                  <a:cubicBezTo>
                    <a:pt x="6580" y="18831"/>
                    <a:pt x="5997" y="18906"/>
                    <a:pt x="5406" y="18970"/>
                  </a:cubicBezTo>
                  <a:lnTo>
                    <a:pt x="5406" y="21600"/>
                  </a:lnTo>
                  <a:close/>
                  <a:moveTo>
                    <a:pt x="19044" y="12258"/>
                  </a:moveTo>
                  <a:cubicBezTo>
                    <a:pt x="19044" y="8392"/>
                    <a:pt x="10518" y="5257"/>
                    <a:pt x="0" y="5257"/>
                  </a:cubicBezTo>
                  <a:lnTo>
                    <a:pt x="0" y="0"/>
                  </a:lnTo>
                  <a:cubicBezTo>
                    <a:pt x="10518" y="0"/>
                    <a:pt x="19044" y="3134"/>
                    <a:pt x="19044" y="7001"/>
                  </a:cubicBezTo>
                  <a:close/>
                </a:path>
              </a:pathLst>
            </a:custGeom>
            <a:solidFill>
              <a:schemeClr val="accent2"/>
            </a:solidFill>
            <a:ln w="12700" cap="flat">
              <a:noFill/>
              <a:miter lim="400000"/>
            </a:ln>
            <a:effectLst/>
          </p:spPr>
          <p:txBody>
            <a:bodyPr wrap="square" lIns="45719" tIns="45719" rIns="45719" bIns="45719" numCol="1" anchor="ctr">
              <a:noAutofit/>
            </a:bodyPr>
            <a:lstStyle/>
            <a:p>
              <a:pPr indent="609600" algn="ctr">
                <a:defRPr>
                  <a:latin typeface="SimSun"/>
                  <a:ea typeface="SimSun"/>
                  <a:cs typeface="SimSun"/>
                  <a:sym typeface="SimSun"/>
                </a:defRPr>
              </a:pPr>
              <a:endParaRPr/>
            </a:p>
          </p:txBody>
        </p:sp>
        <p:sp>
          <p:nvSpPr>
            <p:cNvPr id="326" name="形状"/>
            <p:cNvSpPr/>
            <p:nvPr/>
          </p:nvSpPr>
          <p:spPr>
            <a:xfrm rot="10800000">
              <a:off x="201" y="277124"/>
              <a:ext cx="760413" cy="36362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14787"/>
                    <a:pt x="11929" y="9264"/>
                    <a:pt x="0" y="9264"/>
                  </a:cubicBezTo>
                  <a:lnTo>
                    <a:pt x="0" y="0"/>
                  </a:lnTo>
                  <a:cubicBezTo>
                    <a:pt x="11929" y="0"/>
                    <a:pt x="21600" y="5523"/>
                    <a:pt x="21600" y="12336"/>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indent="609600" algn="ctr">
                <a:defRPr>
                  <a:latin typeface="SimSun"/>
                  <a:ea typeface="SimSun"/>
                  <a:cs typeface="SimSun"/>
                  <a:sym typeface="SimSun"/>
                </a:defRPr>
              </a:pPr>
              <a:endParaRPr/>
            </a:p>
          </p:txBody>
        </p:sp>
      </p:grpSp>
      <p:grpSp>
        <p:nvGrpSpPr>
          <p:cNvPr id="330" name="AutoShape 63">
            <a:hlinkClick r:id="rId8" action="ppaction://hlinksldjump"/>
          </p:cNvPr>
          <p:cNvGrpSpPr/>
          <p:nvPr/>
        </p:nvGrpSpPr>
        <p:grpSpPr>
          <a:xfrm>
            <a:off x="7596188" y="458787"/>
            <a:ext cx="846315" cy="288927"/>
            <a:chOff x="0" y="0"/>
            <a:chExt cx="846314" cy="288925"/>
          </a:xfrm>
        </p:grpSpPr>
        <p:sp>
          <p:nvSpPr>
            <p:cNvPr id="328" name="形状"/>
            <p:cNvSpPr/>
            <p:nvPr/>
          </p:nvSpPr>
          <p:spPr>
            <a:xfrm>
              <a:off x="0" y="0"/>
              <a:ext cx="846315" cy="288926"/>
            </a:xfrm>
            <a:custGeom>
              <a:avLst/>
              <a:gdLst/>
              <a:ahLst/>
              <a:cxnLst>
                <a:cxn ang="0">
                  <a:pos x="wd2" y="hd2"/>
                </a:cxn>
                <a:cxn ang="5400000">
                  <a:pos x="wd2" y="hd2"/>
                </a:cxn>
                <a:cxn ang="10800000">
                  <a:pos x="wd2" y="hd2"/>
                </a:cxn>
                <a:cxn ang="16200000">
                  <a:pos x="wd2" y="hd2"/>
                </a:cxn>
              </a:cxnLst>
              <a:rect l="0" t="0" r="r" b="b"/>
              <a:pathLst>
                <a:path w="21600" h="21600" extrusionOk="0">
                  <a:moveTo>
                    <a:pt x="17633" y="21600"/>
                  </a:moveTo>
                  <a:lnTo>
                    <a:pt x="12784" y="14400"/>
                  </a:lnTo>
                  <a:lnTo>
                    <a:pt x="14988" y="14400"/>
                  </a:lnTo>
                  <a:lnTo>
                    <a:pt x="14988" y="14400"/>
                  </a:lnTo>
                  <a:cubicBezTo>
                    <a:pt x="13898" y="5770"/>
                    <a:pt x="10984" y="0"/>
                    <a:pt x="7714" y="0"/>
                  </a:cubicBezTo>
                  <a:lnTo>
                    <a:pt x="12123" y="0"/>
                  </a:lnTo>
                  <a:cubicBezTo>
                    <a:pt x="15392" y="0"/>
                    <a:pt x="18306" y="5770"/>
                    <a:pt x="19396" y="14400"/>
                  </a:cubicBezTo>
                  <a:lnTo>
                    <a:pt x="21600" y="14400"/>
                  </a:lnTo>
                  <a:close/>
                  <a:moveTo>
                    <a:pt x="9919" y="900"/>
                  </a:moveTo>
                  <a:cubicBezTo>
                    <a:pt x="6649" y="3630"/>
                    <a:pt x="4408" y="12048"/>
                    <a:pt x="4408" y="21600"/>
                  </a:cubicBezTo>
                  <a:lnTo>
                    <a:pt x="0" y="21600"/>
                  </a:lnTo>
                  <a:cubicBezTo>
                    <a:pt x="0" y="9671"/>
                    <a:pt x="3454" y="0"/>
                    <a:pt x="7714" y="0"/>
                  </a:cubicBezTo>
                  <a:cubicBezTo>
                    <a:pt x="8461" y="0"/>
                    <a:pt x="9203" y="303"/>
                    <a:pt x="9919" y="900"/>
                  </a:cubicBezTo>
                  <a:close/>
                </a:path>
              </a:pathLst>
            </a:custGeom>
            <a:solidFill>
              <a:schemeClr val="accent2"/>
            </a:solidFill>
            <a:ln w="12700" cap="flat">
              <a:noFill/>
              <a:miter lim="400000"/>
            </a:ln>
            <a:effectLst/>
          </p:spPr>
          <p:txBody>
            <a:bodyPr wrap="square" lIns="45719" tIns="45719" rIns="45719" bIns="45719" numCol="1" anchor="ctr">
              <a:noAutofit/>
            </a:bodyPr>
            <a:lstStyle/>
            <a:p>
              <a:pPr indent="609600" algn="ctr">
                <a:defRPr>
                  <a:latin typeface="SimSun"/>
                  <a:ea typeface="SimSun"/>
                  <a:cs typeface="SimSun"/>
                  <a:sym typeface="SimSun"/>
                </a:defRPr>
              </a:pPr>
              <a:endParaRPr/>
            </a:p>
          </p:txBody>
        </p:sp>
        <p:sp>
          <p:nvSpPr>
            <p:cNvPr id="329" name="形状"/>
            <p:cNvSpPr/>
            <p:nvPr/>
          </p:nvSpPr>
          <p:spPr>
            <a:xfrm>
              <a:off x="0" y="0"/>
              <a:ext cx="388621" cy="288926"/>
            </a:xfrm>
            <a:custGeom>
              <a:avLst/>
              <a:gdLst/>
              <a:ahLst/>
              <a:cxnLst>
                <a:cxn ang="0">
                  <a:pos x="wd2" y="hd2"/>
                </a:cxn>
                <a:cxn ang="5400000">
                  <a:pos x="wd2" y="hd2"/>
                </a:cxn>
                <a:cxn ang="10800000">
                  <a:pos x="wd2" y="hd2"/>
                </a:cxn>
                <a:cxn ang="16200000">
                  <a:pos x="wd2" y="hd2"/>
                </a:cxn>
              </a:cxnLst>
              <a:rect l="0" t="0" r="r" b="b"/>
              <a:pathLst>
                <a:path w="21600" h="21600" extrusionOk="0">
                  <a:moveTo>
                    <a:pt x="21600" y="900"/>
                  </a:moveTo>
                  <a:cubicBezTo>
                    <a:pt x="14480" y="3630"/>
                    <a:pt x="9600" y="12048"/>
                    <a:pt x="9600" y="21600"/>
                  </a:cubicBezTo>
                  <a:lnTo>
                    <a:pt x="0" y="21600"/>
                  </a:lnTo>
                  <a:cubicBezTo>
                    <a:pt x="0" y="9671"/>
                    <a:pt x="7522" y="0"/>
                    <a:pt x="16800" y="0"/>
                  </a:cubicBezTo>
                  <a:cubicBezTo>
                    <a:pt x="18425" y="0"/>
                    <a:pt x="20042" y="303"/>
                    <a:pt x="21600" y="900"/>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indent="609600" algn="ctr">
                <a:defRPr>
                  <a:latin typeface="SimSun"/>
                  <a:ea typeface="SimSun"/>
                  <a:cs typeface="SimSun"/>
                  <a:sym typeface="SimSun"/>
                </a:defRPr>
              </a:pPr>
              <a:endParaRPr/>
            </a:p>
          </p:txBody>
        </p:sp>
      </p:grpSp>
      <p:sp>
        <p:nvSpPr>
          <p:cNvPr id="331" name="文本框 22"/>
          <p:cNvSpPr txBox="1"/>
          <p:nvPr/>
        </p:nvSpPr>
        <p:spPr>
          <a:xfrm>
            <a:off x="121919" y="-116522"/>
            <a:ext cx="8900162" cy="8263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3200" b="1">
                <a:solidFill>
                  <a:srgbClr val="0000D5"/>
                </a:solidFill>
                <a:latin typeface="楷体"/>
                <a:ea typeface="楷体"/>
                <a:cs typeface="楷体"/>
                <a:sym typeface="楷体"/>
              </a:defRPr>
            </a:pPr>
            <a:r>
              <a:rPr dirty="0" err="1"/>
              <a:t>数据库的三级模式结构</a:t>
            </a:r>
            <a:endParaRPr dirty="0"/>
          </a:p>
        </p:txBody>
      </p:sp>
      <p:sp>
        <p:nvSpPr>
          <p:cNvPr id="36" name="Text Box 5">
            <a:extLst>
              <a:ext uri="{FF2B5EF4-FFF2-40B4-BE49-F238E27FC236}">
                <a16:creationId xmlns:a16="http://schemas.microsoft.com/office/drawing/2014/main" id="{56A90603-67AD-0843-995E-BAF12D5FC8F0}"/>
              </a:ext>
            </a:extLst>
          </p:cNvPr>
          <p:cNvSpPr txBox="1">
            <a:spLocks noChangeArrowheads="1"/>
          </p:cNvSpPr>
          <p:nvPr/>
        </p:nvSpPr>
        <p:spPr bwMode="auto">
          <a:xfrm>
            <a:off x="1298575" y="1755775"/>
            <a:ext cx="1011238" cy="452438"/>
          </a:xfrm>
          <a:prstGeom prst="rect">
            <a:avLst/>
          </a:prstGeom>
          <a:pattFill prst="solidDmnd">
            <a:fgClr>
              <a:srgbClr val="AAFFFF"/>
            </a:fgClr>
            <a:bgClr>
              <a:srgbClr val="FFFFFF"/>
            </a:bgClr>
          </a:pattFill>
          <a:ln w="9525">
            <a:solidFill>
              <a:srgbClr val="000000"/>
            </a:solidFill>
            <a:miter lim="800000"/>
            <a:headEnd/>
            <a:tailEnd/>
          </a:ln>
          <a:effectLst/>
        </p:spPr>
        <p:txBody>
          <a:bodyPr/>
          <a:lstStyle/>
          <a:p>
            <a:pPr marL="0" marR="0" lvl="0" indent="0" defTabSz="914400" eaLnBrk="0" fontAlgn="base" latinLnBrk="0" hangingPunct="1">
              <a:lnSpc>
                <a:spcPct val="100000"/>
              </a:lnSpc>
              <a:spcBef>
                <a:spcPct val="0"/>
              </a:spcBef>
              <a:spcAft>
                <a:spcPct val="0"/>
              </a:spcAft>
              <a:buClrTx/>
              <a:buSzTx/>
              <a:buFontTx/>
              <a:buNone/>
              <a:tabLst/>
              <a:defRPr/>
            </a:pPr>
            <a:endParaRPr kumimoji="0" lang="zh-CN" altLang="zh-CN" sz="1000" b="0" i="0" u="none" strike="noStrike" kern="1200" cap="none" spc="0" normalizeH="0" baseline="0" noProof="0">
              <a:ln>
                <a:noFill/>
              </a:ln>
              <a:solidFill>
                <a:srgbClr val="FFFFFF"/>
              </a:solidFill>
              <a:effectLst/>
              <a:uLnTx/>
              <a:uFillTx/>
              <a:ea typeface="宋体" pitchFamily="2" charset="-122"/>
            </a:endParaRPr>
          </a:p>
        </p:txBody>
      </p:sp>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3" name="Rectangle 2"/>
          <p:cNvSpPr txBox="1">
            <a:spLocks noGrp="1"/>
          </p:cNvSpPr>
          <p:nvPr>
            <p:ph type="title"/>
          </p:nvPr>
        </p:nvSpPr>
        <p:spPr>
          <a:xfrm>
            <a:off x="76200" y="1001584"/>
            <a:ext cx="9144000" cy="1752601"/>
          </a:xfrm>
          <a:prstGeom prst="rect">
            <a:avLst/>
          </a:prstGeom>
        </p:spPr>
        <p:txBody>
          <a:bodyPr>
            <a:normAutofit/>
          </a:bodyPr>
          <a:lstStyle/>
          <a:p>
            <a:pPr marL="342900" indent="-342900" algn="l">
              <a:lnSpc>
                <a:spcPct val="130000"/>
              </a:lnSpc>
              <a:buSzPct val="100000"/>
              <a:buChar char="p"/>
              <a:defRPr sz="2400" b="1">
                <a:solidFill>
                  <a:srgbClr val="990033"/>
                </a:solidFill>
              </a:defRPr>
            </a:pPr>
            <a:r>
              <a:rPr b="0" dirty="0" err="1">
                <a:latin typeface="SimSun"/>
                <a:ea typeface="SimSun"/>
                <a:cs typeface="SimSun"/>
                <a:sym typeface="SimSun"/>
              </a:rPr>
              <a:t>概念模式</a:t>
            </a:r>
            <a:r>
              <a:rPr b="0" dirty="0">
                <a:latin typeface="SimSun"/>
                <a:ea typeface="SimSun"/>
                <a:cs typeface="SimSun"/>
                <a:sym typeface="SimSun"/>
              </a:rPr>
              <a:t>  </a:t>
            </a:r>
            <a:r>
              <a:rPr b="0" dirty="0">
                <a:solidFill>
                  <a:srgbClr val="000000"/>
                </a:solidFill>
                <a:latin typeface="SimSun"/>
                <a:ea typeface="SimSun"/>
                <a:cs typeface="SimSun"/>
                <a:sym typeface="SimSun"/>
              </a:rPr>
              <a:t>（ </a:t>
            </a:r>
            <a:r>
              <a:rPr dirty="0">
                <a:solidFill>
                  <a:srgbClr val="000000"/>
                </a:solidFill>
              </a:rPr>
              <a:t>Conceptual  Schema</a:t>
            </a:r>
            <a:r>
              <a:rPr b="0" dirty="0">
                <a:solidFill>
                  <a:srgbClr val="000000"/>
                </a:solidFill>
                <a:latin typeface="SimSun"/>
                <a:ea typeface="SimSun"/>
                <a:cs typeface="SimSun"/>
                <a:sym typeface="SimSun"/>
              </a:rPr>
              <a:t>）</a:t>
            </a:r>
            <a:br>
              <a:rPr b="0" dirty="0">
                <a:solidFill>
                  <a:srgbClr val="000000"/>
                </a:solidFill>
                <a:latin typeface="SimSun"/>
                <a:ea typeface="SimSun"/>
                <a:cs typeface="SimSun"/>
                <a:sym typeface="SimSun"/>
              </a:rPr>
            </a:br>
            <a:r>
              <a:rPr b="0" dirty="0">
                <a:solidFill>
                  <a:srgbClr val="000000"/>
                </a:solidFill>
                <a:latin typeface="SimSun"/>
                <a:ea typeface="SimSun"/>
                <a:cs typeface="SimSun"/>
                <a:sym typeface="SimSun"/>
              </a:rPr>
              <a:t>           </a:t>
            </a:r>
            <a:r>
              <a:rPr b="0" dirty="0" err="1">
                <a:solidFill>
                  <a:srgbClr val="000000"/>
                </a:solidFill>
                <a:latin typeface="SimSun"/>
                <a:ea typeface="SimSun"/>
                <a:cs typeface="SimSun"/>
                <a:sym typeface="SimSun"/>
              </a:rPr>
              <a:t>也称</a:t>
            </a:r>
            <a:r>
              <a:rPr b="0" dirty="0" err="1">
                <a:solidFill>
                  <a:srgbClr val="800000"/>
                </a:solidFill>
                <a:latin typeface="SimSun"/>
                <a:ea typeface="SimSun"/>
                <a:cs typeface="SimSun"/>
                <a:sym typeface="SimSun"/>
              </a:rPr>
              <a:t>整体逻辑结构</a:t>
            </a:r>
            <a:r>
              <a:rPr b="0" dirty="0" err="1">
                <a:solidFill>
                  <a:srgbClr val="000000"/>
                </a:solidFill>
                <a:latin typeface="SimSun"/>
                <a:ea typeface="SimSun"/>
                <a:cs typeface="SimSun"/>
                <a:sym typeface="SimSun"/>
              </a:rPr>
              <a:t>或</a:t>
            </a:r>
            <a:r>
              <a:rPr b="0" dirty="0" err="1">
                <a:solidFill>
                  <a:srgbClr val="800000"/>
                </a:solidFill>
                <a:latin typeface="SimSun"/>
                <a:ea typeface="SimSun"/>
                <a:cs typeface="SimSun"/>
                <a:sym typeface="SimSun"/>
              </a:rPr>
              <a:t>模式</a:t>
            </a:r>
            <a:r>
              <a:rPr b="0" dirty="0" err="1">
                <a:solidFill>
                  <a:srgbClr val="000000"/>
                </a:solidFill>
                <a:latin typeface="SimSun"/>
                <a:ea typeface="SimSun"/>
                <a:cs typeface="SimSun"/>
                <a:sym typeface="SimSun"/>
              </a:rPr>
              <a:t>或</a:t>
            </a:r>
            <a:r>
              <a:rPr b="0" dirty="0" err="1">
                <a:solidFill>
                  <a:srgbClr val="800000"/>
                </a:solidFill>
                <a:latin typeface="SimSun"/>
                <a:ea typeface="SimSun"/>
                <a:cs typeface="SimSun"/>
                <a:sym typeface="SimSun"/>
              </a:rPr>
              <a:t>全局模式</a:t>
            </a:r>
            <a:br>
              <a:rPr b="0" dirty="0">
                <a:solidFill>
                  <a:srgbClr val="800000"/>
                </a:solidFill>
                <a:latin typeface="SimSun"/>
                <a:ea typeface="SimSun"/>
                <a:cs typeface="SimSun"/>
                <a:sym typeface="SimSun"/>
              </a:rPr>
            </a:br>
            <a:r>
              <a:rPr dirty="0"/>
              <a:t>                   </a:t>
            </a:r>
          </a:p>
        </p:txBody>
      </p:sp>
      <p:sp>
        <p:nvSpPr>
          <p:cNvPr id="334" name="文本框 1"/>
          <p:cNvSpPr txBox="1"/>
          <p:nvPr/>
        </p:nvSpPr>
        <p:spPr>
          <a:xfrm>
            <a:off x="198119" y="92075"/>
            <a:ext cx="8900162" cy="662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200" b="1">
                <a:solidFill>
                  <a:srgbClr val="0000FF"/>
                </a:solidFill>
                <a:latin typeface="楷体"/>
                <a:ea typeface="楷体"/>
                <a:cs typeface="楷体"/>
                <a:sym typeface="楷体"/>
              </a:defRPr>
            </a:lvl1pPr>
          </a:lstStyle>
          <a:p>
            <a:r>
              <a:t>数据库的三级模式结构</a:t>
            </a:r>
          </a:p>
        </p:txBody>
      </p:sp>
      <p:sp>
        <p:nvSpPr>
          <p:cNvPr id="335" name="Rectangle 3"/>
          <p:cNvSpPr txBox="1"/>
          <p:nvPr/>
        </p:nvSpPr>
        <p:spPr>
          <a:xfrm>
            <a:off x="-13018" y="2249488"/>
            <a:ext cx="9052561" cy="63276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342900" indent="-342900" algn="l">
              <a:lnSpc>
                <a:spcPct val="150000"/>
              </a:lnSpc>
              <a:spcBef>
                <a:spcPts val="400"/>
              </a:spcBef>
              <a:buClr>
                <a:schemeClr val="accent2"/>
              </a:buClr>
              <a:buSzPct val="80000"/>
              <a:buChar char="➢"/>
              <a:defRPr sz="2000">
                <a:solidFill>
                  <a:srgbClr val="800000"/>
                </a:solidFill>
                <a:latin typeface="华文楷体"/>
                <a:ea typeface="华文楷体"/>
                <a:cs typeface="华文楷体"/>
                <a:sym typeface="华文楷体"/>
              </a:defRPr>
            </a:pPr>
            <a:r>
              <a:t>模式</a:t>
            </a:r>
            <a:r>
              <a:rPr>
                <a:solidFill>
                  <a:srgbClr val="0000FF"/>
                </a:solidFill>
              </a:rPr>
              <a:t>是数据库中</a:t>
            </a:r>
            <a:r>
              <a:t>全部数据</a:t>
            </a:r>
            <a:r>
              <a:rPr>
                <a:solidFill>
                  <a:srgbClr val="0000BF"/>
                </a:solidFill>
              </a:rPr>
              <a:t>的整体逻辑结构的描述</a:t>
            </a:r>
            <a:r>
              <a:rPr>
                <a:solidFill>
                  <a:srgbClr val="0000FF"/>
                </a:solidFill>
              </a:rPr>
              <a:t>。</a:t>
            </a:r>
            <a:endParaRPr>
              <a:solidFill>
                <a:srgbClr val="0000D5"/>
              </a:solidFill>
            </a:endParaRPr>
          </a:p>
          <a:p>
            <a:pPr marL="342900" indent="-342900" algn="l">
              <a:lnSpc>
                <a:spcPct val="150000"/>
              </a:lnSpc>
              <a:spcBef>
                <a:spcPts val="400"/>
              </a:spcBef>
              <a:buClr>
                <a:schemeClr val="accent2"/>
              </a:buClr>
              <a:buSzPct val="80000"/>
              <a:buChar char="➢"/>
              <a:defRPr sz="2000">
                <a:solidFill>
                  <a:srgbClr val="800000"/>
                </a:solidFill>
                <a:latin typeface="华文楷体"/>
                <a:ea typeface="华文楷体"/>
                <a:cs typeface="华文楷体"/>
                <a:sym typeface="华文楷体"/>
              </a:defRPr>
            </a:pPr>
            <a:r>
              <a:t>模式中描述了</a:t>
            </a:r>
            <a:r>
              <a:rPr>
                <a:solidFill>
                  <a:srgbClr val="000000"/>
                </a:solidFill>
              </a:rPr>
              <a:t>所有用户的数据定义</a:t>
            </a:r>
            <a:r>
              <a:t>（全局数据视图）</a:t>
            </a:r>
            <a:r>
              <a:rPr>
                <a:solidFill>
                  <a:srgbClr val="000000"/>
                </a:solidFill>
              </a:rPr>
              <a:t>综合了所有用户的需求      </a:t>
            </a:r>
            <a:r>
              <a:rPr>
                <a:solidFill>
                  <a:srgbClr val="0000FF"/>
                </a:solidFill>
              </a:rPr>
              <a:t>数据的逻辑结构(概念记录类型的组成)</a:t>
            </a:r>
            <a:endParaRPr sz="3200"/>
          </a:p>
          <a:p>
            <a:pPr marL="342900" indent="-342900" algn="l">
              <a:lnSpc>
                <a:spcPct val="150000"/>
              </a:lnSpc>
              <a:spcBef>
                <a:spcPts val="400"/>
              </a:spcBef>
              <a:buClr>
                <a:schemeClr val="accent2"/>
              </a:buClr>
              <a:buSzPct val="80000"/>
              <a:buFont typeface="Arial"/>
              <a:buChar char="•"/>
              <a:defRPr sz="2000">
                <a:solidFill>
                  <a:srgbClr val="0000FF"/>
                </a:solidFill>
                <a:latin typeface="华文楷体"/>
                <a:ea typeface="华文楷体"/>
                <a:cs typeface="华文楷体"/>
                <a:sym typeface="华文楷体"/>
              </a:defRPr>
            </a:pPr>
            <a:r>
              <a:t>记录间的联系</a:t>
            </a:r>
          </a:p>
          <a:p>
            <a:pPr marL="342900" indent="-342900" algn="l">
              <a:lnSpc>
                <a:spcPct val="150000"/>
              </a:lnSpc>
              <a:spcBef>
                <a:spcPts val="400"/>
              </a:spcBef>
              <a:buClr>
                <a:schemeClr val="accent2"/>
              </a:buClr>
              <a:buSzPct val="80000"/>
              <a:buFont typeface="Arial"/>
              <a:buChar char="•"/>
              <a:defRPr sz="2000">
                <a:solidFill>
                  <a:srgbClr val="0000FF"/>
                </a:solidFill>
                <a:latin typeface="华文楷体"/>
                <a:ea typeface="华文楷体"/>
                <a:cs typeface="华文楷体"/>
                <a:sym typeface="华文楷体"/>
              </a:defRPr>
            </a:pPr>
            <a:r>
              <a:t>数据的完整性和安全性要求</a:t>
            </a:r>
          </a:p>
          <a:p>
            <a:pPr marL="342900" indent="-342900" algn="l">
              <a:lnSpc>
                <a:spcPct val="150000"/>
              </a:lnSpc>
              <a:spcBef>
                <a:spcPts val="400"/>
              </a:spcBef>
              <a:buClr>
                <a:schemeClr val="accent2"/>
              </a:buClr>
              <a:buSzPct val="80000"/>
              <a:buChar char="➢"/>
              <a:defRPr sz="2000">
                <a:solidFill>
                  <a:srgbClr val="800000"/>
                </a:solidFill>
                <a:latin typeface="华文楷体"/>
                <a:ea typeface="华文楷体"/>
                <a:cs typeface="华文楷体"/>
                <a:sym typeface="华文楷体"/>
              </a:defRPr>
            </a:pPr>
            <a:r>
              <a:t>模式位于</a:t>
            </a:r>
            <a:r>
              <a:rPr>
                <a:solidFill>
                  <a:srgbClr val="000000"/>
                </a:solidFill>
              </a:rPr>
              <a:t>数据库系统模式结构的中间层；</a:t>
            </a:r>
            <a:endParaRPr sz="3200"/>
          </a:p>
          <a:p>
            <a:pPr marL="342900" indent="-342900" algn="l">
              <a:spcBef>
                <a:spcPts val="400"/>
              </a:spcBef>
              <a:defRPr sz="2000">
                <a:latin typeface="华文楷体"/>
                <a:ea typeface="华文楷体"/>
                <a:cs typeface="华文楷体"/>
                <a:sym typeface="华文楷体"/>
              </a:defRPr>
            </a:pPr>
            <a:r>
              <a:t>            </a:t>
            </a:r>
            <a:r>
              <a:rPr>
                <a:solidFill>
                  <a:srgbClr val="0000FF"/>
                </a:solidFill>
              </a:rPr>
              <a:t>与数据的物理存储结构和硬件环境无关；   </a:t>
            </a:r>
            <a:endParaRPr sz="3200"/>
          </a:p>
          <a:p>
            <a:pPr marL="342900" indent="-342900" algn="l">
              <a:spcBef>
                <a:spcPts val="400"/>
              </a:spcBef>
              <a:defRPr sz="2000">
                <a:solidFill>
                  <a:srgbClr val="0000FF"/>
                </a:solidFill>
                <a:latin typeface="华文楷体"/>
                <a:ea typeface="华文楷体"/>
                <a:cs typeface="华文楷体"/>
                <a:sym typeface="华文楷体"/>
              </a:defRPr>
            </a:pPr>
            <a:r>
              <a:t>            与具体的用户应用程序、开发工具及高级程序设计语言无关。</a:t>
            </a:r>
            <a:endParaRPr sz="3200"/>
          </a:p>
          <a:p>
            <a:pPr marL="342900" indent="-342900" algn="l">
              <a:lnSpc>
                <a:spcPct val="150000"/>
              </a:lnSpc>
              <a:spcBef>
                <a:spcPts val="700"/>
              </a:spcBef>
              <a:buClr>
                <a:schemeClr val="accent2"/>
              </a:buClr>
              <a:buSzPct val="80000"/>
              <a:buChar char="➢"/>
              <a:defRPr sz="2000">
                <a:solidFill>
                  <a:srgbClr val="0000FF"/>
                </a:solidFill>
                <a:latin typeface="华文楷体"/>
                <a:ea typeface="华文楷体"/>
                <a:cs typeface="华文楷体"/>
                <a:sym typeface="华文楷体"/>
              </a:defRPr>
            </a:pPr>
            <a:endParaRPr sz="3200"/>
          </a:p>
          <a:p>
            <a:pPr marL="342900" indent="-342900" algn="l">
              <a:lnSpc>
                <a:spcPct val="150000"/>
              </a:lnSpc>
              <a:spcBef>
                <a:spcPts val="700"/>
              </a:spcBef>
              <a:buClr>
                <a:schemeClr val="accent2"/>
              </a:buClr>
              <a:buSzPct val="80000"/>
              <a:buChar char="➢"/>
              <a:defRPr sz="2000">
                <a:solidFill>
                  <a:srgbClr val="0000FF"/>
                </a:solidFill>
                <a:latin typeface="华文楷体"/>
                <a:ea typeface="华文楷体"/>
                <a:cs typeface="华文楷体"/>
                <a:sym typeface="华文楷体"/>
              </a:defRPr>
            </a:pPr>
            <a:endParaRPr sz="3200"/>
          </a:p>
          <a:p>
            <a:pPr marL="342900" indent="-342900" algn="l">
              <a:lnSpc>
                <a:spcPct val="150000"/>
              </a:lnSpc>
              <a:spcBef>
                <a:spcPts val="700"/>
              </a:spcBef>
              <a:buClr>
                <a:schemeClr val="accent2"/>
              </a:buClr>
              <a:buSzPct val="80000"/>
              <a:buChar char="➢"/>
              <a:defRPr sz="2000">
                <a:latin typeface="华文楷体"/>
                <a:ea typeface="华文楷体"/>
                <a:cs typeface="华文楷体"/>
                <a:sym typeface="华文楷体"/>
              </a:defRPr>
            </a:pPr>
            <a:endParaRPr sz="3200"/>
          </a:p>
          <a:p>
            <a:pPr marL="342900" indent="-342900" algn="l">
              <a:spcBef>
                <a:spcPts val="400"/>
              </a:spcBef>
              <a:defRPr sz="2000">
                <a:latin typeface="华文楷体"/>
                <a:ea typeface="华文楷体"/>
                <a:cs typeface="华文楷体"/>
                <a:sym typeface="华文楷体"/>
              </a:defRPr>
            </a:pPr>
            <a:r>
              <a:t>   </a:t>
            </a:r>
          </a:p>
        </p:txBody>
      </p:sp>
      <p:grpSp>
        <p:nvGrpSpPr>
          <p:cNvPr id="338" name="AutoShape 62">
            <a:hlinkClick r:id="rId2" action="ppaction://hlinksldjump"/>
          </p:cNvPr>
          <p:cNvGrpSpPr/>
          <p:nvPr/>
        </p:nvGrpSpPr>
        <p:grpSpPr>
          <a:xfrm>
            <a:off x="8172327" y="6032670"/>
            <a:ext cx="503362" cy="564980"/>
            <a:chOff x="0" y="0"/>
            <a:chExt cx="503360" cy="564979"/>
          </a:xfrm>
        </p:grpSpPr>
        <p:sp>
          <p:nvSpPr>
            <p:cNvPr id="336" name="形状"/>
            <p:cNvSpPr/>
            <p:nvPr/>
          </p:nvSpPr>
          <p:spPr>
            <a:xfrm rot="10800000">
              <a:off x="0" y="0"/>
              <a:ext cx="503361" cy="564980"/>
            </a:xfrm>
            <a:custGeom>
              <a:avLst/>
              <a:gdLst/>
              <a:ahLst/>
              <a:cxnLst>
                <a:cxn ang="0">
                  <a:pos x="wd2" y="hd2"/>
                </a:cxn>
                <a:cxn ang="5400000">
                  <a:pos x="wd2" y="hd2"/>
                </a:cxn>
                <a:cxn ang="10800000">
                  <a:pos x="wd2" y="hd2"/>
                </a:cxn>
                <a:cxn ang="16200000">
                  <a:pos x="wd2" y="hd2"/>
                </a:cxn>
              </a:cxnLst>
              <a:rect l="0" t="0" r="r" b="b"/>
              <a:pathLst>
                <a:path w="19326" h="21600" extrusionOk="0">
                  <a:moveTo>
                    <a:pt x="0" y="17401"/>
                  </a:moveTo>
                  <a:lnTo>
                    <a:pt x="6440" y="12339"/>
                  </a:lnTo>
                  <a:lnTo>
                    <a:pt x="6440" y="14654"/>
                  </a:lnTo>
                  <a:lnTo>
                    <a:pt x="6440" y="14654"/>
                  </a:lnTo>
                  <a:cubicBezTo>
                    <a:pt x="12121" y="13870"/>
                    <a:pt x="16539" y="12096"/>
                    <a:pt x="18389" y="9858"/>
                  </a:cubicBezTo>
                  <a:cubicBezTo>
                    <a:pt x="21600" y="13745"/>
                    <a:pt x="16304" y="17923"/>
                    <a:pt x="6440" y="19285"/>
                  </a:cubicBezTo>
                  <a:lnTo>
                    <a:pt x="6440" y="21600"/>
                  </a:lnTo>
                  <a:close/>
                  <a:moveTo>
                    <a:pt x="19322" y="12173"/>
                  </a:moveTo>
                  <a:cubicBezTo>
                    <a:pt x="19322" y="8008"/>
                    <a:pt x="10671" y="4631"/>
                    <a:pt x="0" y="4631"/>
                  </a:cubicBezTo>
                  <a:lnTo>
                    <a:pt x="0" y="0"/>
                  </a:lnTo>
                  <a:cubicBezTo>
                    <a:pt x="10671" y="0"/>
                    <a:pt x="19322" y="3377"/>
                    <a:pt x="19322" y="7543"/>
                  </a:cubicBezTo>
                  <a:close/>
                </a:path>
              </a:pathLst>
            </a:custGeom>
            <a:solidFill>
              <a:schemeClr val="accent2"/>
            </a:solidFill>
            <a:ln w="12700" cap="flat">
              <a:noFill/>
              <a:miter lim="400000"/>
            </a:ln>
            <a:effectLst/>
          </p:spPr>
          <p:txBody>
            <a:bodyPr wrap="square" lIns="45719" tIns="45719" rIns="45719" bIns="45719" numCol="1" anchor="ctr">
              <a:noAutofit/>
            </a:bodyPr>
            <a:lstStyle/>
            <a:p>
              <a:pPr indent="609600" algn="ctr">
                <a:defRPr>
                  <a:latin typeface="SimSun"/>
                  <a:ea typeface="SimSun"/>
                  <a:cs typeface="SimSun"/>
                  <a:sym typeface="SimSun"/>
                </a:defRPr>
              </a:pPr>
              <a:endParaRPr/>
            </a:p>
          </p:txBody>
        </p:sp>
        <p:sp>
          <p:nvSpPr>
            <p:cNvPr id="337" name="形状"/>
            <p:cNvSpPr/>
            <p:nvPr/>
          </p:nvSpPr>
          <p:spPr>
            <a:xfrm rot="10800000">
              <a:off x="122" y="246568"/>
              <a:ext cx="503239" cy="31841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14208"/>
                    <a:pt x="11929" y="8216"/>
                    <a:pt x="0" y="8216"/>
                  </a:cubicBezTo>
                  <a:lnTo>
                    <a:pt x="0" y="0"/>
                  </a:lnTo>
                  <a:cubicBezTo>
                    <a:pt x="11929" y="0"/>
                    <a:pt x="21600" y="5992"/>
                    <a:pt x="21600" y="13384"/>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indent="609600" algn="ctr">
                <a:defRPr>
                  <a:latin typeface="SimSun"/>
                  <a:ea typeface="SimSun"/>
                  <a:cs typeface="SimSun"/>
                  <a:sym typeface="SimSun"/>
                </a:defRPr>
              </a:pPr>
              <a:endParaRPr/>
            </a:p>
          </p:txBody>
        </p:sp>
      </p:grpSp>
    </p:spTree>
  </p:cSld>
  <p:clrMapOvr>
    <a:masterClrMapping/>
  </p:clrMapOvr>
  <p:transition spd="slow">
    <p:fade/>
  </p:transition>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3" presetClass="entr" presetSubtype="10" fill="hold" grpId="1" nodeType="clickEffect">
                                  <p:stCondLst>
                                    <p:cond delay="0"/>
                                  </p:stCondLst>
                                  <p:iterate>
                                    <p:tmAbs val="0"/>
                                  </p:iterate>
                                  <p:childTnLst>
                                    <p:set>
                                      <p:cBhvr>
                                        <p:cTn id="6" fill="hold"/>
                                        <p:tgtEl>
                                          <p:spTgt spid="335">
                                            <p:bg/>
                                          </p:spTgt>
                                        </p:tgtEl>
                                        <p:attrNameLst>
                                          <p:attrName>style.visibility</p:attrName>
                                        </p:attrNameLst>
                                      </p:cBhvr>
                                      <p:to>
                                        <p:strVal val="visible"/>
                                      </p:to>
                                    </p:set>
                                    <p:animEffect transition="in" filter="blinds(horizontal)">
                                      <p:cBhvr>
                                        <p:cTn id="7" dur="500"/>
                                        <p:tgtEl>
                                          <p:spTgt spid="335">
                                            <p:bg/>
                                          </p:spTgt>
                                        </p:tgtEl>
                                      </p:cBhvr>
                                    </p:animEffect>
                                  </p:childTnLst>
                                </p:cTn>
                              </p:par>
                              <p:par>
                                <p:cTn id="8" presetID="3" presetClass="entr" presetSubtype="10" fill="hold" grpId="1" nodeType="withEffect">
                                  <p:stCondLst>
                                    <p:cond delay="0"/>
                                  </p:stCondLst>
                                  <p:iterate>
                                    <p:tmAbs val="0"/>
                                  </p:iterate>
                                  <p:childTnLst>
                                    <p:set>
                                      <p:cBhvr>
                                        <p:cTn id="9" fill="hold"/>
                                        <p:tgtEl>
                                          <p:spTgt spid="335">
                                            <p:txEl>
                                              <p:pRg st="0" end="0"/>
                                            </p:txEl>
                                          </p:spTgt>
                                        </p:tgtEl>
                                        <p:attrNameLst>
                                          <p:attrName>style.visibility</p:attrName>
                                        </p:attrNameLst>
                                      </p:cBhvr>
                                      <p:to>
                                        <p:strVal val="visible"/>
                                      </p:to>
                                    </p:set>
                                    <p:animEffect transition="in" filter="blinds(horizontal)">
                                      <p:cBhvr>
                                        <p:cTn id="10" dur="500"/>
                                        <p:tgtEl>
                                          <p:spTgt spid="33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1" nodeType="clickEffect">
                                  <p:stCondLst>
                                    <p:cond delay="0"/>
                                  </p:stCondLst>
                                  <p:iterate>
                                    <p:tmAbs val="0"/>
                                  </p:iterate>
                                  <p:childTnLst>
                                    <p:set>
                                      <p:cBhvr>
                                        <p:cTn id="14" fill="hold"/>
                                        <p:tgtEl>
                                          <p:spTgt spid="335">
                                            <p:txEl>
                                              <p:pRg st="1" end="1"/>
                                            </p:txEl>
                                          </p:spTgt>
                                        </p:tgtEl>
                                        <p:attrNameLst>
                                          <p:attrName>style.visibility</p:attrName>
                                        </p:attrNameLst>
                                      </p:cBhvr>
                                      <p:to>
                                        <p:strVal val="visible"/>
                                      </p:to>
                                    </p:set>
                                    <p:animEffect transition="in" filter="blinds(horizontal)">
                                      <p:cBhvr>
                                        <p:cTn id="15" dur="500"/>
                                        <p:tgtEl>
                                          <p:spTgt spid="33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1" nodeType="clickEffect">
                                  <p:stCondLst>
                                    <p:cond delay="0"/>
                                  </p:stCondLst>
                                  <p:iterate>
                                    <p:tmAbs val="0"/>
                                  </p:iterate>
                                  <p:childTnLst>
                                    <p:set>
                                      <p:cBhvr>
                                        <p:cTn id="19" fill="hold"/>
                                        <p:tgtEl>
                                          <p:spTgt spid="335">
                                            <p:txEl>
                                              <p:pRg st="2" end="2"/>
                                            </p:txEl>
                                          </p:spTgt>
                                        </p:tgtEl>
                                        <p:attrNameLst>
                                          <p:attrName>style.visibility</p:attrName>
                                        </p:attrNameLst>
                                      </p:cBhvr>
                                      <p:to>
                                        <p:strVal val="visible"/>
                                      </p:to>
                                    </p:set>
                                    <p:animEffect transition="in" filter="blinds(horizontal)">
                                      <p:cBhvr>
                                        <p:cTn id="20" dur="500"/>
                                        <p:tgtEl>
                                          <p:spTgt spid="33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1" nodeType="clickEffect">
                                  <p:stCondLst>
                                    <p:cond delay="0"/>
                                  </p:stCondLst>
                                  <p:iterate>
                                    <p:tmAbs val="0"/>
                                  </p:iterate>
                                  <p:childTnLst>
                                    <p:set>
                                      <p:cBhvr>
                                        <p:cTn id="24" fill="hold"/>
                                        <p:tgtEl>
                                          <p:spTgt spid="335">
                                            <p:txEl>
                                              <p:pRg st="3" end="3"/>
                                            </p:txEl>
                                          </p:spTgt>
                                        </p:tgtEl>
                                        <p:attrNameLst>
                                          <p:attrName>style.visibility</p:attrName>
                                        </p:attrNameLst>
                                      </p:cBhvr>
                                      <p:to>
                                        <p:strVal val="visible"/>
                                      </p:to>
                                    </p:set>
                                    <p:animEffect transition="in" filter="blinds(horizontal)">
                                      <p:cBhvr>
                                        <p:cTn id="25" dur="500"/>
                                        <p:tgtEl>
                                          <p:spTgt spid="335">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1" nodeType="clickEffect">
                                  <p:stCondLst>
                                    <p:cond delay="0"/>
                                  </p:stCondLst>
                                  <p:iterate>
                                    <p:tmAbs val="0"/>
                                  </p:iterate>
                                  <p:childTnLst>
                                    <p:set>
                                      <p:cBhvr>
                                        <p:cTn id="29" fill="hold"/>
                                        <p:tgtEl>
                                          <p:spTgt spid="335">
                                            <p:txEl>
                                              <p:pRg st="4" end="4"/>
                                            </p:txEl>
                                          </p:spTgt>
                                        </p:tgtEl>
                                        <p:attrNameLst>
                                          <p:attrName>style.visibility</p:attrName>
                                        </p:attrNameLst>
                                      </p:cBhvr>
                                      <p:to>
                                        <p:strVal val="visible"/>
                                      </p:to>
                                    </p:set>
                                    <p:animEffect transition="in" filter="blinds(horizontal)">
                                      <p:cBhvr>
                                        <p:cTn id="30" dur="500"/>
                                        <p:tgtEl>
                                          <p:spTgt spid="335">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1" nodeType="clickEffect">
                                  <p:stCondLst>
                                    <p:cond delay="0"/>
                                  </p:stCondLst>
                                  <p:iterate>
                                    <p:tmAbs val="0"/>
                                  </p:iterate>
                                  <p:childTnLst>
                                    <p:set>
                                      <p:cBhvr>
                                        <p:cTn id="34" fill="hold"/>
                                        <p:tgtEl>
                                          <p:spTgt spid="335">
                                            <p:txEl>
                                              <p:pRg st="5" end="5"/>
                                            </p:txEl>
                                          </p:spTgt>
                                        </p:tgtEl>
                                        <p:attrNameLst>
                                          <p:attrName>style.visibility</p:attrName>
                                        </p:attrNameLst>
                                      </p:cBhvr>
                                      <p:to>
                                        <p:strVal val="visible"/>
                                      </p:to>
                                    </p:set>
                                    <p:animEffect transition="in" filter="blinds(horizontal)">
                                      <p:cBhvr>
                                        <p:cTn id="35" dur="500"/>
                                        <p:tgtEl>
                                          <p:spTgt spid="335">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1" nodeType="clickEffect">
                                  <p:stCondLst>
                                    <p:cond delay="0"/>
                                  </p:stCondLst>
                                  <p:iterate>
                                    <p:tmAbs val="0"/>
                                  </p:iterate>
                                  <p:childTnLst>
                                    <p:set>
                                      <p:cBhvr>
                                        <p:cTn id="39" fill="hold"/>
                                        <p:tgtEl>
                                          <p:spTgt spid="335">
                                            <p:txEl>
                                              <p:pRg st="6" end="6"/>
                                            </p:txEl>
                                          </p:spTgt>
                                        </p:tgtEl>
                                        <p:attrNameLst>
                                          <p:attrName>style.visibility</p:attrName>
                                        </p:attrNameLst>
                                      </p:cBhvr>
                                      <p:to>
                                        <p:strVal val="visible"/>
                                      </p:to>
                                    </p:set>
                                    <p:animEffect transition="in" filter="blinds(horizontal)">
                                      <p:cBhvr>
                                        <p:cTn id="40" dur="500"/>
                                        <p:tgtEl>
                                          <p:spTgt spid="335">
                                            <p:txEl>
                                              <p:pRg st="6" end="6"/>
                                            </p:txEl>
                                          </p:spTgt>
                                        </p:tgtEl>
                                      </p:cBhvr>
                                    </p:animEffect>
                                  </p:childTnLst>
                                </p:cTn>
                              </p:par>
                            </p:childTnLst>
                          </p:cTn>
                        </p:par>
                        <p:par>
                          <p:cTn id="41" fill="hold">
                            <p:stCondLst>
                              <p:cond delay="500"/>
                            </p:stCondLst>
                            <p:childTnLst>
                              <p:par>
                                <p:cTn id="42" presetID="3" presetClass="entr" presetSubtype="10" fill="hold" grpId="1" nodeType="afterEffect">
                                  <p:stCondLst>
                                    <p:cond delay="0"/>
                                  </p:stCondLst>
                                  <p:iterate>
                                    <p:tmAbs val="0"/>
                                  </p:iterate>
                                  <p:childTnLst>
                                    <p:set>
                                      <p:cBhvr>
                                        <p:cTn id="43" fill="hold"/>
                                        <p:tgtEl>
                                          <p:spTgt spid="335">
                                            <p:txEl>
                                              <p:pRg st="7" end="7"/>
                                            </p:txEl>
                                          </p:spTgt>
                                        </p:tgtEl>
                                        <p:attrNameLst>
                                          <p:attrName>style.visibility</p:attrName>
                                        </p:attrNameLst>
                                      </p:cBhvr>
                                      <p:to>
                                        <p:strVal val="visible"/>
                                      </p:to>
                                    </p:set>
                                    <p:animEffect transition="in" filter="blinds(horizontal)">
                                      <p:cBhvr>
                                        <p:cTn id="44" dur="500"/>
                                        <p:tgtEl>
                                          <p:spTgt spid="335">
                                            <p:txEl>
                                              <p:pRg st="7" end="7"/>
                                            </p:txEl>
                                          </p:spTgt>
                                        </p:tgtEl>
                                      </p:cBhvr>
                                    </p:animEffect>
                                  </p:childTnLst>
                                </p:cTn>
                              </p:par>
                            </p:childTnLst>
                          </p:cTn>
                        </p:par>
                        <p:par>
                          <p:cTn id="45" fill="hold">
                            <p:stCondLst>
                              <p:cond delay="1000"/>
                            </p:stCondLst>
                            <p:childTnLst>
                              <p:par>
                                <p:cTn id="46" presetID="3" presetClass="entr" presetSubtype="10" fill="hold" grpId="1" nodeType="afterEffect">
                                  <p:stCondLst>
                                    <p:cond delay="0"/>
                                  </p:stCondLst>
                                  <p:iterate>
                                    <p:tmAbs val="0"/>
                                  </p:iterate>
                                  <p:childTnLst>
                                    <p:set>
                                      <p:cBhvr>
                                        <p:cTn id="47" fill="hold"/>
                                        <p:tgtEl>
                                          <p:spTgt spid="335">
                                            <p:txEl>
                                              <p:pRg st="8" end="8"/>
                                            </p:txEl>
                                          </p:spTgt>
                                        </p:tgtEl>
                                        <p:attrNameLst>
                                          <p:attrName>style.visibility</p:attrName>
                                        </p:attrNameLst>
                                      </p:cBhvr>
                                      <p:to>
                                        <p:strVal val="visible"/>
                                      </p:to>
                                    </p:set>
                                    <p:animEffect transition="in" filter="blinds(horizontal)">
                                      <p:cBhvr>
                                        <p:cTn id="48" dur="500"/>
                                        <p:tgtEl>
                                          <p:spTgt spid="335">
                                            <p:txEl>
                                              <p:pRg st="8" end="8"/>
                                            </p:txEl>
                                          </p:spTgt>
                                        </p:tgtEl>
                                      </p:cBhvr>
                                    </p:animEffect>
                                  </p:childTnLst>
                                </p:cTn>
                              </p:par>
                            </p:childTnLst>
                          </p:cTn>
                        </p:par>
                        <p:par>
                          <p:cTn id="49" fill="hold">
                            <p:stCondLst>
                              <p:cond delay="1500"/>
                            </p:stCondLst>
                            <p:childTnLst>
                              <p:par>
                                <p:cTn id="50" presetID="3" presetClass="entr" presetSubtype="10" fill="hold" grpId="1" nodeType="afterEffect">
                                  <p:stCondLst>
                                    <p:cond delay="0"/>
                                  </p:stCondLst>
                                  <p:iterate>
                                    <p:tmAbs val="0"/>
                                  </p:iterate>
                                  <p:childTnLst>
                                    <p:set>
                                      <p:cBhvr>
                                        <p:cTn id="51" fill="hold"/>
                                        <p:tgtEl>
                                          <p:spTgt spid="335">
                                            <p:txEl>
                                              <p:pRg st="9" end="9"/>
                                            </p:txEl>
                                          </p:spTgt>
                                        </p:tgtEl>
                                        <p:attrNameLst>
                                          <p:attrName>style.visibility</p:attrName>
                                        </p:attrNameLst>
                                      </p:cBhvr>
                                      <p:to>
                                        <p:strVal val="visible"/>
                                      </p:to>
                                    </p:set>
                                    <p:animEffect transition="in" filter="blinds(horizontal)">
                                      <p:cBhvr>
                                        <p:cTn id="52" dur="500"/>
                                        <p:tgtEl>
                                          <p:spTgt spid="33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1" nodeType="clickEffect">
                                  <p:stCondLst>
                                    <p:cond delay="0"/>
                                  </p:stCondLst>
                                  <p:iterate>
                                    <p:tmAbs val="0"/>
                                  </p:iterate>
                                  <p:childTnLst>
                                    <p:set>
                                      <p:cBhvr>
                                        <p:cTn id="56" fill="hold"/>
                                        <p:tgtEl>
                                          <p:spTgt spid="335">
                                            <p:txEl>
                                              <p:pRg st="10" end="10"/>
                                            </p:txEl>
                                          </p:spTgt>
                                        </p:tgtEl>
                                        <p:attrNameLst>
                                          <p:attrName>style.visibility</p:attrName>
                                        </p:attrNameLst>
                                      </p:cBhvr>
                                      <p:to>
                                        <p:strVal val="visible"/>
                                      </p:to>
                                    </p:set>
                                    <p:animEffect transition="in" filter="blinds(horizontal)">
                                      <p:cBhvr>
                                        <p:cTn id="57" dur="500"/>
                                        <p:tgtEl>
                                          <p:spTgt spid="33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 grpId="1" build="p" bldLvl="5" animBg="1" advAuto="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0" name="Rectangle 2"/>
          <p:cNvSpPr txBox="1">
            <a:spLocks noGrp="1"/>
          </p:cNvSpPr>
          <p:nvPr>
            <p:ph type="title"/>
          </p:nvPr>
        </p:nvSpPr>
        <p:spPr>
          <a:xfrm>
            <a:off x="192087" y="549274"/>
            <a:ext cx="8759826" cy="1728790"/>
          </a:xfrm>
          <a:prstGeom prst="rect">
            <a:avLst/>
          </a:prstGeom>
        </p:spPr>
        <p:txBody>
          <a:bodyPr/>
          <a:lstStyle/>
          <a:p>
            <a:pPr marL="342900" indent="-342900" algn="l">
              <a:lnSpc>
                <a:spcPct val="150000"/>
              </a:lnSpc>
              <a:buSzPct val="100000"/>
              <a:buChar char="p"/>
              <a:defRPr sz="2400">
                <a:solidFill>
                  <a:srgbClr val="800000"/>
                </a:solidFill>
                <a:effectLst/>
                <a:latin typeface="SimSun"/>
                <a:ea typeface="SimSun"/>
                <a:cs typeface="SimSun"/>
                <a:sym typeface="SimSun"/>
              </a:defRPr>
            </a:pPr>
            <a:r>
              <a:t>外模式 </a:t>
            </a:r>
            <a:r>
              <a:rPr>
                <a:solidFill>
                  <a:srgbClr val="000000"/>
                </a:solidFill>
              </a:rPr>
              <a:t>（External Schema）</a:t>
            </a:r>
            <a:br>
              <a:rPr>
                <a:solidFill>
                  <a:srgbClr val="000000"/>
                </a:solidFill>
              </a:rPr>
            </a:br>
            <a:r>
              <a:rPr>
                <a:solidFill>
                  <a:srgbClr val="006600"/>
                </a:solidFill>
                <a:effectLst>
                  <a:outerShdw blurRad="38100" dist="38100" dir="2700000" rotWithShape="0">
                    <a:srgbClr val="C0C0C0"/>
                  </a:outerShdw>
                </a:effectLst>
              </a:rPr>
              <a:t>                   </a:t>
            </a:r>
            <a:r>
              <a:rPr>
                <a:solidFill>
                  <a:srgbClr val="000000"/>
                </a:solidFill>
              </a:rPr>
              <a:t>也称</a:t>
            </a:r>
            <a:r>
              <a:rPr>
                <a:effectLst>
                  <a:outerShdw blurRad="38100" dist="38100" dir="2700000" rotWithShape="0">
                    <a:srgbClr val="C0C0C0"/>
                  </a:outerShdw>
                </a:effectLst>
              </a:rPr>
              <a:t>局部逻辑结构</a:t>
            </a:r>
            <a:r>
              <a:rPr>
                <a:solidFill>
                  <a:srgbClr val="000000"/>
                </a:solidFill>
                <a:effectLst>
                  <a:outerShdw blurRad="38100" dist="38100" dir="2700000" rotWithShape="0">
                    <a:srgbClr val="C0C0C0"/>
                  </a:outerShdw>
                </a:effectLst>
              </a:rPr>
              <a:t>或</a:t>
            </a:r>
            <a:r>
              <a:rPr>
                <a:effectLst>
                  <a:outerShdw blurRad="38100" dist="38100" dir="2700000" rotWithShape="0">
                    <a:srgbClr val="C0C0C0"/>
                  </a:outerShdw>
                </a:effectLst>
              </a:rPr>
              <a:t>子模式</a:t>
            </a:r>
            <a:r>
              <a:rPr>
                <a:solidFill>
                  <a:srgbClr val="000000"/>
                </a:solidFill>
                <a:effectLst>
                  <a:outerShdw blurRad="38100" dist="38100" dir="2700000" rotWithShape="0">
                    <a:srgbClr val="C0C0C0"/>
                  </a:outerShdw>
                </a:effectLst>
              </a:rPr>
              <a:t>或</a:t>
            </a:r>
            <a:r>
              <a:rPr>
                <a:effectLst>
                  <a:outerShdw blurRad="38100" dist="38100" dir="2700000" rotWithShape="0">
                    <a:srgbClr val="C0C0C0"/>
                  </a:outerShdw>
                </a:effectLst>
              </a:rPr>
              <a:t>用户模式</a:t>
            </a:r>
          </a:p>
        </p:txBody>
      </p:sp>
      <p:sp>
        <p:nvSpPr>
          <p:cNvPr id="341" name="Rectangle 3"/>
          <p:cNvSpPr txBox="1">
            <a:spLocks noGrp="1"/>
          </p:cNvSpPr>
          <p:nvPr>
            <p:ph type="body" idx="1"/>
          </p:nvPr>
        </p:nvSpPr>
        <p:spPr>
          <a:xfrm>
            <a:off x="111124" y="2420938"/>
            <a:ext cx="9072565" cy="4608513"/>
          </a:xfrm>
          <a:prstGeom prst="rect">
            <a:avLst/>
          </a:prstGeom>
        </p:spPr>
        <p:txBody>
          <a:bodyPr/>
          <a:lstStyle/>
          <a:p>
            <a:pPr>
              <a:lnSpc>
                <a:spcPct val="150000"/>
              </a:lnSpc>
              <a:spcBef>
                <a:spcPts val="400"/>
              </a:spcBef>
              <a:buChar char="➢"/>
              <a:defRPr sz="2000">
                <a:solidFill>
                  <a:srgbClr val="800000"/>
                </a:solidFill>
                <a:latin typeface="华文楷体"/>
                <a:ea typeface="华文楷体"/>
                <a:cs typeface="华文楷体"/>
                <a:sym typeface="华文楷体"/>
              </a:defRPr>
            </a:pPr>
            <a:r>
              <a:t>外模式</a:t>
            </a:r>
            <a:r>
              <a:rPr>
                <a:solidFill>
                  <a:srgbClr val="0000D5"/>
                </a:solidFill>
              </a:rPr>
              <a:t>是用户与数据库系统的</a:t>
            </a:r>
            <a:r>
              <a:t>接口</a:t>
            </a:r>
            <a:r>
              <a:rPr>
                <a:solidFill>
                  <a:srgbClr val="0000D5"/>
                </a:solidFill>
              </a:rPr>
              <a:t>，是</a:t>
            </a:r>
            <a:r>
              <a:t>用户用到的那部分数据</a:t>
            </a:r>
            <a:r>
              <a:rPr>
                <a:solidFill>
                  <a:srgbClr val="0000D5"/>
                </a:solidFill>
              </a:rPr>
              <a:t>（用户的局部逻辑结构）的描述；</a:t>
            </a:r>
          </a:p>
          <a:p>
            <a:pPr>
              <a:lnSpc>
                <a:spcPct val="150000"/>
              </a:lnSpc>
              <a:spcBef>
                <a:spcPts val="400"/>
              </a:spcBef>
              <a:buChar char="➢"/>
              <a:defRPr sz="2000">
                <a:solidFill>
                  <a:srgbClr val="800000"/>
                </a:solidFill>
                <a:latin typeface="华文楷体"/>
                <a:ea typeface="华文楷体"/>
                <a:cs typeface="华文楷体"/>
                <a:sym typeface="华文楷体"/>
              </a:defRPr>
            </a:pPr>
            <a:r>
              <a:t>用户用到的那部分数据（用户的数据视图）</a:t>
            </a:r>
            <a:r>
              <a:rPr>
                <a:solidFill>
                  <a:srgbClr val="000000"/>
                </a:solidFill>
              </a:rPr>
              <a:t>是与某一特定应用有关的数据的逻辑表示；</a:t>
            </a:r>
          </a:p>
          <a:p>
            <a:pPr>
              <a:lnSpc>
                <a:spcPct val="150000"/>
              </a:lnSpc>
              <a:spcBef>
                <a:spcPts val="400"/>
              </a:spcBef>
              <a:buChar char="➢"/>
              <a:defRPr sz="2000">
                <a:solidFill>
                  <a:srgbClr val="800000"/>
                </a:solidFill>
                <a:latin typeface="华文楷体"/>
                <a:ea typeface="华文楷体"/>
                <a:cs typeface="华文楷体"/>
                <a:sym typeface="华文楷体"/>
              </a:defRPr>
            </a:pPr>
            <a:r>
              <a:t>外模式介于</a:t>
            </a:r>
            <a:r>
              <a:rPr>
                <a:solidFill>
                  <a:srgbClr val="000000"/>
                </a:solidFill>
              </a:rPr>
              <a:t>模式与应用之间；</a:t>
            </a:r>
          </a:p>
          <a:p>
            <a:pPr>
              <a:lnSpc>
                <a:spcPct val="150000"/>
              </a:lnSpc>
              <a:spcBef>
                <a:spcPts val="400"/>
              </a:spcBef>
              <a:buChar char="➢"/>
              <a:defRPr sz="2000">
                <a:solidFill>
                  <a:srgbClr val="800000"/>
                </a:solidFill>
                <a:latin typeface="华文楷体"/>
                <a:ea typeface="华文楷体"/>
                <a:cs typeface="华文楷体"/>
                <a:sym typeface="华文楷体"/>
              </a:defRPr>
            </a:pPr>
            <a:r>
              <a:t>外模式</a:t>
            </a:r>
            <a:r>
              <a:rPr>
                <a:solidFill>
                  <a:srgbClr val="000000"/>
                </a:solidFill>
              </a:rPr>
              <a:t>通常是</a:t>
            </a:r>
            <a:r>
              <a:t>模式的子集</a:t>
            </a:r>
            <a:r>
              <a:rPr>
                <a:solidFill>
                  <a:srgbClr val="000000"/>
                </a:solidFill>
              </a:rPr>
              <a:t>，一个数据库可以有多个外模式；</a:t>
            </a:r>
          </a:p>
          <a:p>
            <a:pPr>
              <a:lnSpc>
                <a:spcPct val="150000"/>
              </a:lnSpc>
              <a:spcBef>
                <a:spcPts val="400"/>
              </a:spcBef>
              <a:buChar char="➢"/>
              <a:defRPr sz="2000">
                <a:latin typeface="华文楷体"/>
                <a:ea typeface="华文楷体"/>
                <a:cs typeface="华文楷体"/>
                <a:sym typeface="华文楷体"/>
              </a:defRPr>
            </a:pPr>
            <a:r>
              <a:t> 为保证了</a:t>
            </a:r>
            <a:r>
              <a:rPr>
                <a:solidFill>
                  <a:srgbClr val="800000"/>
                </a:solidFill>
              </a:rPr>
              <a:t>数据库的安全性</a:t>
            </a:r>
            <a:r>
              <a:t>提供了有力的措施。</a:t>
            </a:r>
          </a:p>
        </p:txBody>
      </p:sp>
      <p:sp>
        <p:nvSpPr>
          <p:cNvPr id="342" name="文本框 1"/>
          <p:cNvSpPr txBox="1"/>
          <p:nvPr/>
        </p:nvSpPr>
        <p:spPr>
          <a:xfrm>
            <a:off x="237807" y="188912"/>
            <a:ext cx="8900161" cy="662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200" b="1">
                <a:solidFill>
                  <a:srgbClr val="0000D5"/>
                </a:solidFill>
                <a:latin typeface="楷体"/>
                <a:ea typeface="楷体"/>
                <a:cs typeface="楷体"/>
                <a:sym typeface="楷体"/>
              </a:defRPr>
            </a:lvl1pPr>
          </a:lstStyle>
          <a:p>
            <a:r>
              <a:t>数据库的三级模式结构</a:t>
            </a:r>
          </a:p>
        </p:txBody>
      </p:sp>
      <p:grpSp>
        <p:nvGrpSpPr>
          <p:cNvPr id="345" name="AutoShape 62">
            <a:hlinkClick r:id="rId2" action="ppaction://hlinksldjump"/>
          </p:cNvPr>
          <p:cNvGrpSpPr/>
          <p:nvPr/>
        </p:nvGrpSpPr>
        <p:grpSpPr>
          <a:xfrm>
            <a:off x="8172327" y="6032670"/>
            <a:ext cx="503362" cy="564980"/>
            <a:chOff x="0" y="0"/>
            <a:chExt cx="503360" cy="564979"/>
          </a:xfrm>
        </p:grpSpPr>
        <p:sp>
          <p:nvSpPr>
            <p:cNvPr id="343" name="形状"/>
            <p:cNvSpPr/>
            <p:nvPr/>
          </p:nvSpPr>
          <p:spPr>
            <a:xfrm rot="10800000">
              <a:off x="0" y="0"/>
              <a:ext cx="503361" cy="564980"/>
            </a:xfrm>
            <a:custGeom>
              <a:avLst/>
              <a:gdLst/>
              <a:ahLst/>
              <a:cxnLst>
                <a:cxn ang="0">
                  <a:pos x="wd2" y="hd2"/>
                </a:cxn>
                <a:cxn ang="5400000">
                  <a:pos x="wd2" y="hd2"/>
                </a:cxn>
                <a:cxn ang="10800000">
                  <a:pos x="wd2" y="hd2"/>
                </a:cxn>
                <a:cxn ang="16200000">
                  <a:pos x="wd2" y="hd2"/>
                </a:cxn>
              </a:cxnLst>
              <a:rect l="0" t="0" r="r" b="b"/>
              <a:pathLst>
                <a:path w="19326" h="21600" extrusionOk="0">
                  <a:moveTo>
                    <a:pt x="0" y="17401"/>
                  </a:moveTo>
                  <a:lnTo>
                    <a:pt x="6440" y="12339"/>
                  </a:lnTo>
                  <a:lnTo>
                    <a:pt x="6440" y="14654"/>
                  </a:lnTo>
                  <a:lnTo>
                    <a:pt x="6440" y="14654"/>
                  </a:lnTo>
                  <a:cubicBezTo>
                    <a:pt x="12121" y="13870"/>
                    <a:pt x="16539" y="12096"/>
                    <a:pt x="18389" y="9858"/>
                  </a:cubicBezTo>
                  <a:cubicBezTo>
                    <a:pt x="21600" y="13745"/>
                    <a:pt x="16304" y="17923"/>
                    <a:pt x="6440" y="19285"/>
                  </a:cubicBezTo>
                  <a:lnTo>
                    <a:pt x="6440" y="21600"/>
                  </a:lnTo>
                  <a:close/>
                  <a:moveTo>
                    <a:pt x="19322" y="12173"/>
                  </a:moveTo>
                  <a:cubicBezTo>
                    <a:pt x="19322" y="8008"/>
                    <a:pt x="10671" y="4631"/>
                    <a:pt x="0" y="4631"/>
                  </a:cubicBezTo>
                  <a:lnTo>
                    <a:pt x="0" y="0"/>
                  </a:lnTo>
                  <a:cubicBezTo>
                    <a:pt x="10671" y="0"/>
                    <a:pt x="19322" y="3377"/>
                    <a:pt x="19322" y="7543"/>
                  </a:cubicBezTo>
                  <a:close/>
                </a:path>
              </a:pathLst>
            </a:custGeom>
            <a:solidFill>
              <a:schemeClr val="accent2"/>
            </a:solidFill>
            <a:ln w="12700" cap="flat">
              <a:noFill/>
              <a:miter lim="400000"/>
            </a:ln>
            <a:effectLst/>
          </p:spPr>
          <p:txBody>
            <a:bodyPr wrap="square" lIns="45719" tIns="45719" rIns="45719" bIns="45719" numCol="1" anchor="ctr">
              <a:noAutofit/>
            </a:bodyPr>
            <a:lstStyle/>
            <a:p>
              <a:pPr indent="609600" algn="ctr">
                <a:defRPr>
                  <a:latin typeface="SimSun"/>
                  <a:ea typeface="SimSun"/>
                  <a:cs typeface="SimSun"/>
                  <a:sym typeface="SimSun"/>
                </a:defRPr>
              </a:pPr>
              <a:endParaRPr/>
            </a:p>
          </p:txBody>
        </p:sp>
        <p:sp>
          <p:nvSpPr>
            <p:cNvPr id="344" name="形状"/>
            <p:cNvSpPr/>
            <p:nvPr/>
          </p:nvSpPr>
          <p:spPr>
            <a:xfrm rot="10800000">
              <a:off x="122" y="246568"/>
              <a:ext cx="503239" cy="31841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14208"/>
                    <a:pt x="11929" y="8216"/>
                    <a:pt x="0" y="8216"/>
                  </a:cubicBezTo>
                  <a:lnTo>
                    <a:pt x="0" y="0"/>
                  </a:lnTo>
                  <a:cubicBezTo>
                    <a:pt x="11929" y="0"/>
                    <a:pt x="21600" y="5992"/>
                    <a:pt x="21600" y="13384"/>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indent="609600" algn="ctr">
                <a:defRPr>
                  <a:latin typeface="SimSun"/>
                  <a:ea typeface="SimSun"/>
                  <a:cs typeface="SimSun"/>
                  <a:sym typeface="SimSun"/>
                </a:defRPr>
              </a:pPr>
              <a:endParaRPr/>
            </a:p>
          </p:txBody>
        </p:sp>
      </p:grpSp>
    </p:spTree>
  </p:cSld>
  <p:clrMapOvr>
    <a:masterClrMapping/>
  </p:clrMapOvr>
  <p:transition spd="slow">
    <p:fade/>
  </p:transition>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3" presetClass="entr" presetSubtype="10" fill="hold" grpId="1" nodeType="clickEffect">
                                  <p:stCondLst>
                                    <p:cond delay="0"/>
                                  </p:stCondLst>
                                  <p:iterate>
                                    <p:tmAbs val="0"/>
                                  </p:iterate>
                                  <p:childTnLst>
                                    <p:set>
                                      <p:cBhvr>
                                        <p:cTn id="6" fill="hold"/>
                                        <p:tgtEl>
                                          <p:spTgt spid="341">
                                            <p:bg/>
                                          </p:spTgt>
                                        </p:tgtEl>
                                        <p:attrNameLst>
                                          <p:attrName>style.visibility</p:attrName>
                                        </p:attrNameLst>
                                      </p:cBhvr>
                                      <p:to>
                                        <p:strVal val="visible"/>
                                      </p:to>
                                    </p:set>
                                    <p:animEffect transition="in" filter="blinds(horizontal)">
                                      <p:cBhvr>
                                        <p:cTn id="7" dur="500"/>
                                        <p:tgtEl>
                                          <p:spTgt spid="341">
                                            <p:bg/>
                                          </p:spTgt>
                                        </p:tgtEl>
                                      </p:cBhvr>
                                    </p:animEffect>
                                  </p:childTnLst>
                                </p:cTn>
                              </p:par>
                              <p:par>
                                <p:cTn id="8" presetID="3" presetClass="entr" presetSubtype="10" fill="hold" grpId="1" nodeType="withEffect">
                                  <p:stCondLst>
                                    <p:cond delay="0"/>
                                  </p:stCondLst>
                                  <p:iterate>
                                    <p:tmAbs val="0"/>
                                  </p:iterate>
                                  <p:childTnLst>
                                    <p:set>
                                      <p:cBhvr>
                                        <p:cTn id="9" fill="hold"/>
                                        <p:tgtEl>
                                          <p:spTgt spid="341">
                                            <p:txEl>
                                              <p:pRg st="0" end="0"/>
                                            </p:txEl>
                                          </p:spTgt>
                                        </p:tgtEl>
                                        <p:attrNameLst>
                                          <p:attrName>style.visibility</p:attrName>
                                        </p:attrNameLst>
                                      </p:cBhvr>
                                      <p:to>
                                        <p:strVal val="visible"/>
                                      </p:to>
                                    </p:set>
                                    <p:animEffect transition="in" filter="blinds(horizontal)">
                                      <p:cBhvr>
                                        <p:cTn id="10" dur="500"/>
                                        <p:tgtEl>
                                          <p:spTgt spid="34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1" nodeType="clickEffect">
                                  <p:stCondLst>
                                    <p:cond delay="0"/>
                                  </p:stCondLst>
                                  <p:iterate>
                                    <p:tmAbs val="0"/>
                                  </p:iterate>
                                  <p:childTnLst>
                                    <p:set>
                                      <p:cBhvr>
                                        <p:cTn id="14" fill="hold"/>
                                        <p:tgtEl>
                                          <p:spTgt spid="341">
                                            <p:txEl>
                                              <p:pRg st="1" end="1"/>
                                            </p:txEl>
                                          </p:spTgt>
                                        </p:tgtEl>
                                        <p:attrNameLst>
                                          <p:attrName>style.visibility</p:attrName>
                                        </p:attrNameLst>
                                      </p:cBhvr>
                                      <p:to>
                                        <p:strVal val="visible"/>
                                      </p:to>
                                    </p:set>
                                    <p:animEffect transition="in" filter="blinds(horizontal)">
                                      <p:cBhvr>
                                        <p:cTn id="15" dur="500"/>
                                        <p:tgtEl>
                                          <p:spTgt spid="341">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1" nodeType="clickEffect">
                                  <p:stCondLst>
                                    <p:cond delay="0"/>
                                  </p:stCondLst>
                                  <p:iterate>
                                    <p:tmAbs val="0"/>
                                  </p:iterate>
                                  <p:childTnLst>
                                    <p:set>
                                      <p:cBhvr>
                                        <p:cTn id="19" fill="hold"/>
                                        <p:tgtEl>
                                          <p:spTgt spid="341">
                                            <p:txEl>
                                              <p:pRg st="2" end="2"/>
                                            </p:txEl>
                                          </p:spTgt>
                                        </p:tgtEl>
                                        <p:attrNameLst>
                                          <p:attrName>style.visibility</p:attrName>
                                        </p:attrNameLst>
                                      </p:cBhvr>
                                      <p:to>
                                        <p:strVal val="visible"/>
                                      </p:to>
                                    </p:set>
                                    <p:animEffect transition="in" filter="blinds(horizontal)">
                                      <p:cBhvr>
                                        <p:cTn id="20" dur="500"/>
                                        <p:tgtEl>
                                          <p:spTgt spid="34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1" nodeType="clickEffect">
                                  <p:stCondLst>
                                    <p:cond delay="0"/>
                                  </p:stCondLst>
                                  <p:iterate>
                                    <p:tmAbs val="0"/>
                                  </p:iterate>
                                  <p:childTnLst>
                                    <p:set>
                                      <p:cBhvr>
                                        <p:cTn id="24" fill="hold"/>
                                        <p:tgtEl>
                                          <p:spTgt spid="341">
                                            <p:txEl>
                                              <p:pRg st="3" end="3"/>
                                            </p:txEl>
                                          </p:spTgt>
                                        </p:tgtEl>
                                        <p:attrNameLst>
                                          <p:attrName>style.visibility</p:attrName>
                                        </p:attrNameLst>
                                      </p:cBhvr>
                                      <p:to>
                                        <p:strVal val="visible"/>
                                      </p:to>
                                    </p:set>
                                    <p:animEffect transition="in" filter="blinds(horizontal)">
                                      <p:cBhvr>
                                        <p:cTn id="25" dur="500"/>
                                        <p:tgtEl>
                                          <p:spTgt spid="341">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1" nodeType="clickEffect">
                                  <p:stCondLst>
                                    <p:cond delay="0"/>
                                  </p:stCondLst>
                                  <p:iterate>
                                    <p:tmAbs val="0"/>
                                  </p:iterate>
                                  <p:childTnLst>
                                    <p:set>
                                      <p:cBhvr>
                                        <p:cTn id="29" fill="hold"/>
                                        <p:tgtEl>
                                          <p:spTgt spid="341">
                                            <p:txEl>
                                              <p:pRg st="4" end="4"/>
                                            </p:txEl>
                                          </p:spTgt>
                                        </p:tgtEl>
                                        <p:attrNameLst>
                                          <p:attrName>style.visibility</p:attrName>
                                        </p:attrNameLst>
                                      </p:cBhvr>
                                      <p:to>
                                        <p:strVal val="visible"/>
                                      </p:to>
                                    </p:set>
                                    <p:animEffect transition="in" filter="blinds(horizontal)">
                                      <p:cBhvr>
                                        <p:cTn id="30" dur="500"/>
                                        <p:tgtEl>
                                          <p:spTgt spid="34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1" grpId="1" build="p" animBg="1" advAuto="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7" name="Rectangle 2"/>
          <p:cNvSpPr txBox="1">
            <a:spLocks noGrp="1"/>
          </p:cNvSpPr>
          <p:nvPr>
            <p:ph type="title"/>
          </p:nvPr>
        </p:nvSpPr>
        <p:spPr>
          <a:xfrm>
            <a:off x="230187" y="1125537"/>
            <a:ext cx="8812214" cy="1152526"/>
          </a:xfrm>
          <a:prstGeom prst="rect">
            <a:avLst/>
          </a:prstGeom>
        </p:spPr>
        <p:txBody>
          <a:bodyPr>
            <a:normAutofit fontScale="90000"/>
          </a:bodyPr>
          <a:lstStyle/>
          <a:p>
            <a:pPr marL="270890" indent="-270890" algn="l" defTabSz="722376">
              <a:lnSpc>
                <a:spcPct val="150000"/>
              </a:lnSpc>
              <a:buSzPct val="100000"/>
              <a:buChar char="p"/>
              <a:defRPr sz="1896">
                <a:solidFill>
                  <a:srgbClr val="800000"/>
                </a:solidFill>
                <a:effectLst/>
                <a:latin typeface="SimSun"/>
                <a:ea typeface="SimSun"/>
                <a:cs typeface="SimSun"/>
                <a:sym typeface="SimSun"/>
              </a:defRPr>
            </a:pPr>
            <a:r>
              <a:t>内模式（Internal Schema）</a:t>
            </a:r>
            <a:br/>
            <a:r>
              <a:t>                    </a:t>
            </a:r>
            <a:r>
              <a:rPr>
                <a:solidFill>
                  <a:srgbClr val="000000"/>
                </a:solidFill>
              </a:rPr>
              <a:t>也称</a:t>
            </a:r>
            <a:r>
              <a:t>存储模式 </a:t>
            </a:r>
            <a:r>
              <a:rPr>
                <a:solidFill>
                  <a:srgbClr val="000000"/>
                </a:solidFill>
              </a:rPr>
              <a:t>或</a:t>
            </a:r>
            <a:r>
              <a:t> 数据库的物理结构</a:t>
            </a:r>
            <a:br/>
            <a:r>
              <a:rPr sz="2528">
                <a:solidFill>
                  <a:srgbClr val="006600"/>
                </a:solidFill>
              </a:rPr>
              <a:t>     </a:t>
            </a:r>
          </a:p>
        </p:txBody>
      </p:sp>
      <p:sp>
        <p:nvSpPr>
          <p:cNvPr id="348" name="Rectangle 4"/>
          <p:cNvSpPr txBox="1"/>
          <p:nvPr/>
        </p:nvSpPr>
        <p:spPr>
          <a:xfrm>
            <a:off x="198119" y="2205038"/>
            <a:ext cx="8981125" cy="3505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342900" indent="-342900">
              <a:lnSpc>
                <a:spcPct val="150000"/>
              </a:lnSpc>
              <a:spcBef>
                <a:spcPts val="400"/>
              </a:spcBef>
              <a:buClr>
                <a:schemeClr val="accent2"/>
              </a:buClr>
              <a:buSzPct val="80000"/>
              <a:buChar char="➢"/>
              <a:defRPr sz="2000">
                <a:latin typeface="华文楷体"/>
                <a:ea typeface="华文楷体"/>
                <a:cs typeface="华文楷体"/>
                <a:sym typeface="华文楷体"/>
              </a:defRPr>
            </a:pPr>
            <a:r>
              <a:t> </a:t>
            </a:r>
            <a:r>
              <a:rPr>
                <a:solidFill>
                  <a:srgbClr val="800000"/>
                </a:solidFill>
              </a:rPr>
              <a:t>内模式</a:t>
            </a:r>
            <a:r>
              <a:rPr>
                <a:solidFill>
                  <a:srgbClr val="0000FF"/>
                </a:solidFill>
              </a:rPr>
              <a:t>是数据库</a:t>
            </a:r>
            <a:r>
              <a:rPr>
                <a:solidFill>
                  <a:srgbClr val="800000"/>
                </a:solidFill>
              </a:rPr>
              <a:t>在物理存储方面的描述</a:t>
            </a:r>
            <a:r>
              <a:rPr>
                <a:solidFill>
                  <a:srgbClr val="0000FF"/>
                </a:solidFill>
              </a:rPr>
              <a:t>；</a:t>
            </a:r>
          </a:p>
          <a:p>
            <a:pPr marL="342900" indent="-342900">
              <a:lnSpc>
                <a:spcPct val="150000"/>
              </a:lnSpc>
              <a:spcBef>
                <a:spcPts val="400"/>
              </a:spcBef>
              <a:buClr>
                <a:schemeClr val="accent2"/>
              </a:buClr>
              <a:buSzPct val="80000"/>
              <a:buChar char="➢"/>
              <a:defRPr sz="2000">
                <a:solidFill>
                  <a:srgbClr val="0000FF"/>
                </a:solidFill>
                <a:latin typeface="华文楷体"/>
                <a:ea typeface="华文楷体"/>
                <a:cs typeface="华文楷体"/>
                <a:sym typeface="华文楷体"/>
              </a:defRPr>
            </a:pPr>
            <a:r>
              <a:t>定义了所有内部记录类型，即数据在数据库内部的表示方式：</a:t>
            </a:r>
          </a:p>
          <a:p>
            <a:pPr marL="342900" indent="-342900">
              <a:lnSpc>
                <a:spcPct val="150000"/>
              </a:lnSpc>
              <a:spcBef>
                <a:spcPts val="400"/>
              </a:spcBef>
              <a:buClr>
                <a:schemeClr val="accent2"/>
              </a:buClr>
              <a:buSzPct val="80000"/>
              <a:buFont typeface="Arial"/>
              <a:buChar char="•"/>
              <a:defRPr sz="2000">
                <a:solidFill>
                  <a:srgbClr val="660033"/>
                </a:solidFill>
                <a:latin typeface="华文楷体"/>
                <a:ea typeface="华文楷体"/>
                <a:cs typeface="华文楷体"/>
                <a:sym typeface="华文楷体"/>
              </a:defRPr>
            </a:pPr>
            <a:r>
              <a:t>        记录</a:t>
            </a:r>
            <a:r>
              <a:rPr>
                <a:solidFill>
                  <a:srgbClr val="000000"/>
                </a:solidFill>
              </a:rPr>
              <a:t>的存储方式（ 顺序存储、按照B树结构存储、按hash方法存储）；</a:t>
            </a:r>
            <a:endParaRPr sz="3200"/>
          </a:p>
          <a:p>
            <a:pPr marL="342900" indent="-342900">
              <a:lnSpc>
                <a:spcPct val="150000"/>
              </a:lnSpc>
              <a:spcBef>
                <a:spcPts val="400"/>
              </a:spcBef>
              <a:buClr>
                <a:schemeClr val="accent2"/>
              </a:buClr>
              <a:buSzPct val="80000"/>
              <a:buFont typeface="Arial"/>
              <a:buChar char="•"/>
              <a:defRPr sz="2000">
                <a:latin typeface="华文楷体"/>
                <a:ea typeface="华文楷体"/>
                <a:cs typeface="华文楷体"/>
                <a:sym typeface="华文楷体"/>
              </a:defRPr>
            </a:pPr>
            <a:r>
              <a:t>        </a:t>
            </a:r>
            <a:r>
              <a:rPr>
                <a:solidFill>
                  <a:srgbClr val="660033"/>
                </a:solidFill>
              </a:rPr>
              <a:t>索引</a:t>
            </a:r>
            <a:r>
              <a:t>的组织方式；</a:t>
            </a:r>
            <a:endParaRPr sz="3200"/>
          </a:p>
          <a:p>
            <a:pPr marL="342900" indent="-342900">
              <a:lnSpc>
                <a:spcPct val="150000"/>
              </a:lnSpc>
              <a:spcBef>
                <a:spcPts val="400"/>
              </a:spcBef>
              <a:buClr>
                <a:schemeClr val="accent2"/>
              </a:buClr>
              <a:buSzPct val="80000"/>
              <a:buFont typeface="Arial"/>
              <a:buChar char="•"/>
              <a:defRPr sz="2000">
                <a:latin typeface="华文楷体"/>
                <a:ea typeface="华文楷体"/>
                <a:cs typeface="华文楷体"/>
                <a:sym typeface="华文楷体"/>
              </a:defRPr>
            </a:pPr>
            <a:r>
              <a:t>        </a:t>
            </a:r>
            <a:r>
              <a:rPr>
                <a:solidFill>
                  <a:srgbClr val="660033"/>
                </a:solidFill>
              </a:rPr>
              <a:t>文件</a:t>
            </a:r>
            <a:r>
              <a:t>的组织方式；</a:t>
            </a:r>
            <a:endParaRPr sz="3200"/>
          </a:p>
          <a:p>
            <a:pPr marL="342900" indent="-342900">
              <a:lnSpc>
                <a:spcPct val="150000"/>
              </a:lnSpc>
              <a:spcBef>
                <a:spcPts val="400"/>
              </a:spcBef>
              <a:buClr>
                <a:schemeClr val="accent2"/>
              </a:buClr>
              <a:buSzPct val="80000"/>
              <a:buChar char="➢"/>
              <a:defRPr sz="2000">
                <a:latin typeface="华文楷体"/>
                <a:ea typeface="华文楷体"/>
                <a:cs typeface="华文楷体"/>
                <a:sym typeface="华文楷体"/>
              </a:defRPr>
            </a:pPr>
            <a:r>
              <a:t> 数据控制方面的细节。</a:t>
            </a:r>
            <a:endParaRPr sz="3200"/>
          </a:p>
          <a:p>
            <a:pPr marL="342900" indent="-342900">
              <a:lnSpc>
                <a:spcPct val="150000"/>
              </a:lnSpc>
              <a:spcBef>
                <a:spcPts val="400"/>
              </a:spcBef>
              <a:defRPr sz="2000">
                <a:latin typeface="华文楷体"/>
                <a:ea typeface="华文楷体"/>
                <a:cs typeface="华文楷体"/>
                <a:sym typeface="华文楷体"/>
              </a:defRPr>
            </a:pPr>
            <a:r>
              <a:t> </a:t>
            </a:r>
          </a:p>
        </p:txBody>
      </p:sp>
      <p:sp>
        <p:nvSpPr>
          <p:cNvPr id="349" name="文本框 1"/>
          <p:cNvSpPr txBox="1"/>
          <p:nvPr/>
        </p:nvSpPr>
        <p:spPr>
          <a:xfrm>
            <a:off x="198119" y="92075"/>
            <a:ext cx="8900162" cy="662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200" b="1">
                <a:solidFill>
                  <a:srgbClr val="0000FF"/>
                </a:solidFill>
                <a:latin typeface="楷体"/>
                <a:ea typeface="楷体"/>
                <a:cs typeface="楷体"/>
                <a:sym typeface="楷体"/>
              </a:defRPr>
            </a:lvl1pPr>
          </a:lstStyle>
          <a:p>
            <a:r>
              <a:t>数据库的三级模式结构</a:t>
            </a:r>
          </a:p>
        </p:txBody>
      </p:sp>
      <p:grpSp>
        <p:nvGrpSpPr>
          <p:cNvPr id="352" name="AutoShape 62">
            <a:hlinkClick r:id="rId2" action="ppaction://hlinksldjump"/>
          </p:cNvPr>
          <p:cNvGrpSpPr/>
          <p:nvPr/>
        </p:nvGrpSpPr>
        <p:grpSpPr>
          <a:xfrm>
            <a:off x="8100891" y="5888207"/>
            <a:ext cx="503360" cy="564982"/>
            <a:chOff x="0" y="0"/>
            <a:chExt cx="503359" cy="564980"/>
          </a:xfrm>
        </p:grpSpPr>
        <p:sp>
          <p:nvSpPr>
            <p:cNvPr id="350" name="形状"/>
            <p:cNvSpPr/>
            <p:nvPr/>
          </p:nvSpPr>
          <p:spPr>
            <a:xfrm rot="10800000">
              <a:off x="0" y="0"/>
              <a:ext cx="503360" cy="564981"/>
            </a:xfrm>
            <a:custGeom>
              <a:avLst/>
              <a:gdLst/>
              <a:ahLst/>
              <a:cxnLst>
                <a:cxn ang="0">
                  <a:pos x="wd2" y="hd2"/>
                </a:cxn>
                <a:cxn ang="5400000">
                  <a:pos x="wd2" y="hd2"/>
                </a:cxn>
                <a:cxn ang="10800000">
                  <a:pos x="wd2" y="hd2"/>
                </a:cxn>
                <a:cxn ang="16200000">
                  <a:pos x="wd2" y="hd2"/>
                </a:cxn>
              </a:cxnLst>
              <a:rect l="0" t="0" r="r" b="b"/>
              <a:pathLst>
                <a:path w="19326" h="21600" extrusionOk="0">
                  <a:moveTo>
                    <a:pt x="0" y="17401"/>
                  </a:moveTo>
                  <a:lnTo>
                    <a:pt x="6440" y="12339"/>
                  </a:lnTo>
                  <a:lnTo>
                    <a:pt x="6440" y="14654"/>
                  </a:lnTo>
                  <a:cubicBezTo>
                    <a:pt x="12121" y="13870"/>
                    <a:pt x="16539" y="12096"/>
                    <a:pt x="18389" y="9858"/>
                  </a:cubicBezTo>
                  <a:cubicBezTo>
                    <a:pt x="21600" y="13745"/>
                    <a:pt x="16304" y="17923"/>
                    <a:pt x="6440" y="19285"/>
                  </a:cubicBezTo>
                  <a:lnTo>
                    <a:pt x="6440" y="21600"/>
                  </a:lnTo>
                  <a:close/>
                  <a:moveTo>
                    <a:pt x="19321" y="12173"/>
                  </a:moveTo>
                  <a:cubicBezTo>
                    <a:pt x="19321" y="8008"/>
                    <a:pt x="10671" y="4631"/>
                    <a:pt x="0" y="4631"/>
                  </a:cubicBezTo>
                  <a:lnTo>
                    <a:pt x="0" y="0"/>
                  </a:lnTo>
                  <a:cubicBezTo>
                    <a:pt x="10671" y="0"/>
                    <a:pt x="19321" y="3377"/>
                    <a:pt x="19321" y="7543"/>
                  </a:cubicBezTo>
                  <a:close/>
                </a:path>
              </a:pathLst>
            </a:custGeom>
            <a:solidFill>
              <a:schemeClr val="accent2"/>
            </a:solidFill>
            <a:ln w="12700" cap="flat">
              <a:noFill/>
              <a:miter lim="400000"/>
            </a:ln>
            <a:effectLst/>
          </p:spPr>
          <p:txBody>
            <a:bodyPr wrap="square" lIns="45719" tIns="45719" rIns="45719" bIns="45719" numCol="1" anchor="ctr">
              <a:noAutofit/>
            </a:bodyPr>
            <a:lstStyle/>
            <a:p>
              <a:pPr indent="609600" algn="ctr">
                <a:defRPr>
                  <a:latin typeface="SimSun"/>
                  <a:ea typeface="SimSun"/>
                  <a:cs typeface="SimSun"/>
                  <a:sym typeface="SimSun"/>
                </a:defRPr>
              </a:pPr>
              <a:endParaRPr/>
            </a:p>
          </p:txBody>
        </p:sp>
        <p:sp>
          <p:nvSpPr>
            <p:cNvPr id="351" name="形状"/>
            <p:cNvSpPr/>
            <p:nvPr/>
          </p:nvSpPr>
          <p:spPr>
            <a:xfrm rot="10800000">
              <a:off x="122" y="246566"/>
              <a:ext cx="503238" cy="31841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14209"/>
                    <a:pt x="11929" y="8217"/>
                    <a:pt x="0" y="8217"/>
                  </a:cubicBezTo>
                  <a:lnTo>
                    <a:pt x="0" y="0"/>
                  </a:lnTo>
                  <a:cubicBezTo>
                    <a:pt x="11929" y="0"/>
                    <a:pt x="21600" y="5992"/>
                    <a:pt x="21600" y="13383"/>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indent="609600" algn="ctr">
                <a:defRPr>
                  <a:latin typeface="SimSun"/>
                  <a:ea typeface="SimSun"/>
                  <a:cs typeface="SimSun"/>
                  <a:sym typeface="SimSun"/>
                </a:defRPr>
              </a:pPr>
              <a:endParaRPr/>
            </a:p>
          </p:txBody>
        </p:sp>
      </p:grpSp>
    </p:spTree>
  </p:cSld>
  <p:clrMapOvr>
    <a:masterClrMapping/>
  </p:clrMapOvr>
  <p:transition spd="slow">
    <p:fade/>
  </p:transition>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1" nodeType="afterEffect">
                                  <p:stCondLst>
                                    <p:cond delay="0"/>
                                  </p:stCondLst>
                                  <p:iterate>
                                    <p:tmAbs val="0"/>
                                  </p:iterate>
                                  <p:childTnLst>
                                    <p:set>
                                      <p:cBhvr>
                                        <p:cTn id="6" fill="hold"/>
                                        <p:tgtEl>
                                          <p:spTgt spid="348">
                                            <p:bg/>
                                          </p:spTgt>
                                        </p:tgtEl>
                                        <p:attrNameLst>
                                          <p:attrName>style.visibility</p:attrName>
                                        </p:attrNameLst>
                                      </p:cBhvr>
                                      <p:to>
                                        <p:strVal val="visible"/>
                                      </p:to>
                                    </p:set>
                                    <p:animEffect transition="in" filter="blinds(horizontal)">
                                      <p:cBhvr>
                                        <p:cTn id="7" dur="500"/>
                                        <p:tgtEl>
                                          <p:spTgt spid="348">
                                            <p:bg/>
                                          </p:spTgt>
                                        </p:tgtEl>
                                      </p:cBhvr>
                                    </p:animEffect>
                                  </p:childTnLst>
                                </p:cTn>
                              </p:par>
                              <p:par>
                                <p:cTn id="8" presetID="3" presetClass="entr" presetSubtype="10" fill="hold" grpId="1" nodeType="withEffect">
                                  <p:stCondLst>
                                    <p:cond delay="0"/>
                                  </p:stCondLst>
                                  <p:iterate>
                                    <p:tmAbs val="0"/>
                                  </p:iterate>
                                  <p:childTnLst>
                                    <p:set>
                                      <p:cBhvr>
                                        <p:cTn id="9" fill="hold"/>
                                        <p:tgtEl>
                                          <p:spTgt spid="348">
                                            <p:txEl>
                                              <p:pRg st="0" end="0"/>
                                            </p:txEl>
                                          </p:spTgt>
                                        </p:tgtEl>
                                        <p:attrNameLst>
                                          <p:attrName>style.visibility</p:attrName>
                                        </p:attrNameLst>
                                      </p:cBhvr>
                                      <p:to>
                                        <p:strVal val="visible"/>
                                      </p:to>
                                    </p:set>
                                    <p:animEffect transition="in" filter="blinds(horizontal)">
                                      <p:cBhvr>
                                        <p:cTn id="10" dur="500"/>
                                        <p:tgtEl>
                                          <p:spTgt spid="348">
                                            <p:txEl>
                                              <p:pRg st="0" end="0"/>
                                            </p:txEl>
                                          </p:spTgt>
                                        </p:tgtEl>
                                      </p:cBhvr>
                                    </p:animEffect>
                                  </p:childTnLst>
                                </p:cTn>
                              </p:par>
                            </p:childTnLst>
                          </p:cTn>
                        </p:par>
                        <p:par>
                          <p:cTn id="11" fill="hold">
                            <p:stCondLst>
                              <p:cond delay="500"/>
                            </p:stCondLst>
                            <p:childTnLst>
                              <p:par>
                                <p:cTn id="12" presetID="3" presetClass="entr" presetSubtype="10" fill="hold" grpId="1" nodeType="afterEffect">
                                  <p:stCondLst>
                                    <p:cond delay="0"/>
                                  </p:stCondLst>
                                  <p:iterate>
                                    <p:tmAbs val="0"/>
                                  </p:iterate>
                                  <p:childTnLst>
                                    <p:set>
                                      <p:cBhvr>
                                        <p:cTn id="13" fill="hold"/>
                                        <p:tgtEl>
                                          <p:spTgt spid="348">
                                            <p:txEl>
                                              <p:pRg st="1" end="1"/>
                                            </p:txEl>
                                          </p:spTgt>
                                        </p:tgtEl>
                                        <p:attrNameLst>
                                          <p:attrName>style.visibility</p:attrName>
                                        </p:attrNameLst>
                                      </p:cBhvr>
                                      <p:to>
                                        <p:strVal val="visible"/>
                                      </p:to>
                                    </p:set>
                                    <p:animEffect transition="in" filter="blinds(horizontal)">
                                      <p:cBhvr>
                                        <p:cTn id="14" dur="500"/>
                                        <p:tgtEl>
                                          <p:spTgt spid="348">
                                            <p:txEl>
                                              <p:pRg st="1" end="1"/>
                                            </p:txEl>
                                          </p:spTgt>
                                        </p:tgtEl>
                                      </p:cBhvr>
                                    </p:animEffect>
                                  </p:childTnLst>
                                </p:cTn>
                              </p:par>
                            </p:childTnLst>
                          </p:cTn>
                        </p:par>
                        <p:par>
                          <p:cTn id="15" fill="hold">
                            <p:stCondLst>
                              <p:cond delay="1000"/>
                            </p:stCondLst>
                            <p:childTnLst>
                              <p:par>
                                <p:cTn id="16" presetID="3" presetClass="entr" presetSubtype="10" fill="hold" grpId="1" nodeType="afterEffect">
                                  <p:stCondLst>
                                    <p:cond delay="0"/>
                                  </p:stCondLst>
                                  <p:iterate>
                                    <p:tmAbs val="0"/>
                                  </p:iterate>
                                  <p:childTnLst>
                                    <p:set>
                                      <p:cBhvr>
                                        <p:cTn id="17" fill="hold"/>
                                        <p:tgtEl>
                                          <p:spTgt spid="348">
                                            <p:txEl>
                                              <p:pRg st="2" end="2"/>
                                            </p:txEl>
                                          </p:spTgt>
                                        </p:tgtEl>
                                        <p:attrNameLst>
                                          <p:attrName>style.visibility</p:attrName>
                                        </p:attrNameLst>
                                      </p:cBhvr>
                                      <p:to>
                                        <p:strVal val="visible"/>
                                      </p:to>
                                    </p:set>
                                    <p:animEffect transition="in" filter="blinds(horizontal)">
                                      <p:cBhvr>
                                        <p:cTn id="18" dur="500"/>
                                        <p:tgtEl>
                                          <p:spTgt spid="348">
                                            <p:txEl>
                                              <p:pRg st="2" end="2"/>
                                            </p:txEl>
                                          </p:spTgt>
                                        </p:tgtEl>
                                      </p:cBhvr>
                                    </p:animEffect>
                                  </p:childTnLst>
                                </p:cTn>
                              </p:par>
                            </p:childTnLst>
                          </p:cTn>
                        </p:par>
                        <p:par>
                          <p:cTn id="19" fill="hold">
                            <p:stCondLst>
                              <p:cond delay="1500"/>
                            </p:stCondLst>
                            <p:childTnLst>
                              <p:par>
                                <p:cTn id="20" presetID="3" presetClass="entr" presetSubtype="10" fill="hold" grpId="1" nodeType="afterEffect">
                                  <p:stCondLst>
                                    <p:cond delay="0"/>
                                  </p:stCondLst>
                                  <p:iterate>
                                    <p:tmAbs val="0"/>
                                  </p:iterate>
                                  <p:childTnLst>
                                    <p:set>
                                      <p:cBhvr>
                                        <p:cTn id="21" fill="hold"/>
                                        <p:tgtEl>
                                          <p:spTgt spid="348">
                                            <p:txEl>
                                              <p:pRg st="3" end="3"/>
                                            </p:txEl>
                                          </p:spTgt>
                                        </p:tgtEl>
                                        <p:attrNameLst>
                                          <p:attrName>style.visibility</p:attrName>
                                        </p:attrNameLst>
                                      </p:cBhvr>
                                      <p:to>
                                        <p:strVal val="visible"/>
                                      </p:to>
                                    </p:set>
                                    <p:animEffect transition="in" filter="blinds(horizontal)">
                                      <p:cBhvr>
                                        <p:cTn id="22" dur="500"/>
                                        <p:tgtEl>
                                          <p:spTgt spid="348">
                                            <p:txEl>
                                              <p:pRg st="3" end="3"/>
                                            </p:txEl>
                                          </p:spTgt>
                                        </p:tgtEl>
                                      </p:cBhvr>
                                    </p:animEffect>
                                  </p:childTnLst>
                                </p:cTn>
                              </p:par>
                            </p:childTnLst>
                          </p:cTn>
                        </p:par>
                        <p:par>
                          <p:cTn id="23" fill="hold">
                            <p:stCondLst>
                              <p:cond delay="2000"/>
                            </p:stCondLst>
                            <p:childTnLst>
                              <p:par>
                                <p:cTn id="24" presetID="3" presetClass="entr" presetSubtype="10" fill="hold" grpId="1" nodeType="afterEffect">
                                  <p:stCondLst>
                                    <p:cond delay="0"/>
                                  </p:stCondLst>
                                  <p:iterate>
                                    <p:tmAbs val="0"/>
                                  </p:iterate>
                                  <p:childTnLst>
                                    <p:set>
                                      <p:cBhvr>
                                        <p:cTn id="25" fill="hold"/>
                                        <p:tgtEl>
                                          <p:spTgt spid="348">
                                            <p:txEl>
                                              <p:pRg st="4" end="4"/>
                                            </p:txEl>
                                          </p:spTgt>
                                        </p:tgtEl>
                                        <p:attrNameLst>
                                          <p:attrName>style.visibility</p:attrName>
                                        </p:attrNameLst>
                                      </p:cBhvr>
                                      <p:to>
                                        <p:strVal val="visible"/>
                                      </p:to>
                                    </p:set>
                                    <p:animEffect transition="in" filter="blinds(horizontal)">
                                      <p:cBhvr>
                                        <p:cTn id="26" dur="500"/>
                                        <p:tgtEl>
                                          <p:spTgt spid="348">
                                            <p:txEl>
                                              <p:pRg st="4" end="4"/>
                                            </p:txEl>
                                          </p:spTgt>
                                        </p:tgtEl>
                                      </p:cBhvr>
                                    </p:animEffect>
                                  </p:childTnLst>
                                </p:cTn>
                              </p:par>
                            </p:childTnLst>
                          </p:cTn>
                        </p:par>
                        <p:par>
                          <p:cTn id="27" fill="hold">
                            <p:stCondLst>
                              <p:cond delay="2500"/>
                            </p:stCondLst>
                            <p:childTnLst>
                              <p:par>
                                <p:cTn id="28" presetID="3" presetClass="entr" presetSubtype="10" fill="hold" grpId="1" nodeType="afterEffect">
                                  <p:stCondLst>
                                    <p:cond delay="0"/>
                                  </p:stCondLst>
                                  <p:iterate>
                                    <p:tmAbs val="0"/>
                                  </p:iterate>
                                  <p:childTnLst>
                                    <p:set>
                                      <p:cBhvr>
                                        <p:cTn id="29" fill="hold"/>
                                        <p:tgtEl>
                                          <p:spTgt spid="348">
                                            <p:txEl>
                                              <p:pRg st="5" end="5"/>
                                            </p:txEl>
                                          </p:spTgt>
                                        </p:tgtEl>
                                        <p:attrNameLst>
                                          <p:attrName>style.visibility</p:attrName>
                                        </p:attrNameLst>
                                      </p:cBhvr>
                                      <p:to>
                                        <p:strVal val="visible"/>
                                      </p:to>
                                    </p:set>
                                    <p:animEffect transition="in" filter="blinds(horizontal)">
                                      <p:cBhvr>
                                        <p:cTn id="30" dur="500"/>
                                        <p:tgtEl>
                                          <p:spTgt spid="348">
                                            <p:txEl>
                                              <p:pRg st="5" end="5"/>
                                            </p:txEl>
                                          </p:spTgt>
                                        </p:tgtEl>
                                      </p:cBhvr>
                                    </p:animEffect>
                                  </p:childTnLst>
                                </p:cTn>
                              </p:par>
                            </p:childTnLst>
                          </p:cTn>
                        </p:par>
                        <p:par>
                          <p:cTn id="31" fill="hold">
                            <p:stCondLst>
                              <p:cond delay="3000"/>
                            </p:stCondLst>
                            <p:childTnLst>
                              <p:par>
                                <p:cTn id="32" presetID="3" presetClass="entr" presetSubtype="10" fill="hold" grpId="1" nodeType="afterEffect">
                                  <p:stCondLst>
                                    <p:cond delay="0"/>
                                  </p:stCondLst>
                                  <p:iterate>
                                    <p:tmAbs val="0"/>
                                  </p:iterate>
                                  <p:childTnLst>
                                    <p:set>
                                      <p:cBhvr>
                                        <p:cTn id="33" fill="hold"/>
                                        <p:tgtEl>
                                          <p:spTgt spid="348">
                                            <p:txEl>
                                              <p:pRg st="6" end="6"/>
                                            </p:txEl>
                                          </p:spTgt>
                                        </p:tgtEl>
                                        <p:attrNameLst>
                                          <p:attrName>style.visibility</p:attrName>
                                        </p:attrNameLst>
                                      </p:cBhvr>
                                      <p:to>
                                        <p:strVal val="visible"/>
                                      </p:to>
                                    </p:set>
                                    <p:animEffect transition="in" filter="blinds(horizontal)">
                                      <p:cBhvr>
                                        <p:cTn id="34" dur="500"/>
                                        <p:tgtEl>
                                          <p:spTgt spid="34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 grpId="1" build="p" bldLvl="5" animBg="1" advAuto="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文本框 79"/>
          <p:cNvSpPr txBox="1"/>
          <p:nvPr/>
        </p:nvSpPr>
        <p:spPr>
          <a:xfrm>
            <a:off x="441008" y="1759406"/>
            <a:ext cx="2440622" cy="3962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000">
                <a:solidFill>
                  <a:srgbClr val="800000"/>
                </a:solidFill>
                <a:latin typeface="华文楷体"/>
                <a:ea typeface="华文楷体"/>
                <a:cs typeface="华文楷体"/>
                <a:sym typeface="华文楷体"/>
              </a:defRPr>
            </a:lvl1pPr>
          </a:lstStyle>
          <a:p>
            <a:r>
              <a:t>用户的局部逻辑结构</a:t>
            </a:r>
          </a:p>
        </p:txBody>
      </p:sp>
      <p:sp>
        <p:nvSpPr>
          <p:cNvPr id="404" name="文本框 81"/>
          <p:cNvSpPr txBox="1"/>
          <p:nvPr/>
        </p:nvSpPr>
        <p:spPr>
          <a:xfrm>
            <a:off x="3118803" y="1788233"/>
            <a:ext cx="1735772"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lnSpc>
                <a:spcPct val="100000"/>
              </a:lnSpc>
              <a:defRPr sz="1800">
                <a:solidFill>
                  <a:srgbClr val="800000"/>
                </a:solidFill>
                <a:latin typeface="华文楷体"/>
                <a:ea typeface="华文楷体"/>
                <a:cs typeface="华文楷体"/>
                <a:sym typeface="华文楷体"/>
              </a:defRPr>
            </a:pPr>
            <a:r>
              <a:rPr dirty="0" err="1"/>
              <a:t>数据库的</a:t>
            </a:r>
            <a:endParaRPr dirty="0"/>
          </a:p>
          <a:p>
            <a:pPr algn="ctr">
              <a:lnSpc>
                <a:spcPct val="100000"/>
              </a:lnSpc>
              <a:defRPr sz="1800">
                <a:solidFill>
                  <a:srgbClr val="800000"/>
                </a:solidFill>
                <a:latin typeface="华文楷体"/>
                <a:ea typeface="华文楷体"/>
                <a:cs typeface="华文楷体"/>
                <a:sym typeface="华文楷体"/>
              </a:defRPr>
            </a:pPr>
            <a:r>
              <a:rPr dirty="0" err="1"/>
              <a:t>整体逻辑结构</a:t>
            </a:r>
            <a:endParaRPr dirty="0"/>
          </a:p>
        </p:txBody>
      </p:sp>
      <p:sp>
        <p:nvSpPr>
          <p:cNvPr id="405" name="文本框 83"/>
          <p:cNvSpPr txBox="1"/>
          <p:nvPr/>
        </p:nvSpPr>
        <p:spPr>
          <a:xfrm>
            <a:off x="5916294" y="1788233"/>
            <a:ext cx="2339025"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800">
                <a:solidFill>
                  <a:srgbClr val="800000"/>
                </a:solidFill>
                <a:latin typeface="华文楷体"/>
                <a:ea typeface="华文楷体"/>
                <a:cs typeface="华文楷体"/>
                <a:sym typeface="华文楷体"/>
              </a:defRPr>
            </a:lvl1pPr>
          </a:lstStyle>
          <a:p>
            <a:r>
              <a:rPr dirty="0" err="1"/>
              <a:t>数据库的物理结构</a:t>
            </a:r>
            <a:endParaRPr dirty="0"/>
          </a:p>
        </p:txBody>
      </p:sp>
      <p:sp>
        <p:nvSpPr>
          <p:cNvPr id="406" name="文本框 86"/>
          <p:cNvSpPr txBox="1"/>
          <p:nvPr/>
        </p:nvSpPr>
        <p:spPr>
          <a:xfrm>
            <a:off x="2269808" y="5740856"/>
            <a:ext cx="1275398" cy="2438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200">
                <a:solidFill>
                  <a:srgbClr val="0000BF"/>
                </a:solidFill>
                <a:latin typeface="SimSun"/>
                <a:ea typeface="SimSun"/>
                <a:cs typeface="SimSun"/>
                <a:sym typeface="SimSun"/>
              </a:defRPr>
            </a:lvl1pPr>
          </a:lstStyle>
          <a:p>
            <a:r>
              <a:rPr dirty="0" err="1"/>
              <a:t>逻辑数据独立性</a:t>
            </a:r>
            <a:endParaRPr dirty="0"/>
          </a:p>
        </p:txBody>
      </p:sp>
      <p:sp>
        <p:nvSpPr>
          <p:cNvPr id="407" name="文本框 88"/>
          <p:cNvSpPr txBox="1"/>
          <p:nvPr/>
        </p:nvSpPr>
        <p:spPr>
          <a:xfrm>
            <a:off x="4471670" y="4785181"/>
            <a:ext cx="1275398" cy="2438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200">
                <a:solidFill>
                  <a:srgbClr val="0000BF"/>
                </a:solidFill>
                <a:latin typeface="SimSun"/>
                <a:ea typeface="SimSun"/>
                <a:cs typeface="SimSun"/>
                <a:sym typeface="SimSun"/>
              </a:defRPr>
            </a:lvl1pPr>
          </a:lstStyle>
          <a:p>
            <a:r>
              <a:rPr dirty="0" err="1"/>
              <a:t>物理数据独立性</a:t>
            </a:r>
            <a:endParaRPr dirty="0"/>
          </a:p>
        </p:txBody>
      </p:sp>
      <p:sp>
        <p:nvSpPr>
          <p:cNvPr id="408" name="文本框 22"/>
          <p:cNvSpPr txBox="1"/>
          <p:nvPr/>
        </p:nvSpPr>
        <p:spPr>
          <a:xfrm>
            <a:off x="404494" y="1908"/>
            <a:ext cx="8900161" cy="662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3200" b="1">
                <a:solidFill>
                  <a:srgbClr val="0000D5"/>
                </a:solidFill>
                <a:latin typeface="楷体"/>
                <a:ea typeface="楷体"/>
                <a:cs typeface="楷体"/>
                <a:sym typeface="楷体"/>
              </a:defRPr>
            </a:pPr>
            <a:r>
              <a:rPr dirty="0" err="1"/>
              <a:t>数据库系统的结构</a:t>
            </a:r>
            <a:r>
              <a:rPr dirty="0"/>
              <a:t>:</a:t>
            </a:r>
          </a:p>
        </p:txBody>
      </p:sp>
      <p:grpSp>
        <p:nvGrpSpPr>
          <p:cNvPr id="411" name="AutoShape 62">
            <a:hlinkClick r:id="rId2" action="ppaction://hlinksldjump"/>
          </p:cNvPr>
          <p:cNvGrpSpPr/>
          <p:nvPr/>
        </p:nvGrpSpPr>
        <p:grpSpPr>
          <a:xfrm>
            <a:off x="8329853" y="6019483"/>
            <a:ext cx="503360" cy="564982"/>
            <a:chOff x="0" y="0"/>
            <a:chExt cx="503359" cy="564980"/>
          </a:xfrm>
        </p:grpSpPr>
        <p:sp>
          <p:nvSpPr>
            <p:cNvPr id="409" name="形状"/>
            <p:cNvSpPr/>
            <p:nvPr/>
          </p:nvSpPr>
          <p:spPr>
            <a:xfrm rot="10800000">
              <a:off x="0" y="0"/>
              <a:ext cx="503360" cy="564981"/>
            </a:xfrm>
            <a:custGeom>
              <a:avLst/>
              <a:gdLst/>
              <a:ahLst/>
              <a:cxnLst>
                <a:cxn ang="0">
                  <a:pos x="wd2" y="hd2"/>
                </a:cxn>
                <a:cxn ang="5400000">
                  <a:pos x="wd2" y="hd2"/>
                </a:cxn>
                <a:cxn ang="10800000">
                  <a:pos x="wd2" y="hd2"/>
                </a:cxn>
                <a:cxn ang="16200000">
                  <a:pos x="wd2" y="hd2"/>
                </a:cxn>
              </a:cxnLst>
              <a:rect l="0" t="0" r="r" b="b"/>
              <a:pathLst>
                <a:path w="19326" h="21600" extrusionOk="0">
                  <a:moveTo>
                    <a:pt x="0" y="17401"/>
                  </a:moveTo>
                  <a:lnTo>
                    <a:pt x="6440" y="12339"/>
                  </a:lnTo>
                  <a:lnTo>
                    <a:pt x="6440" y="14654"/>
                  </a:lnTo>
                  <a:cubicBezTo>
                    <a:pt x="12121" y="13870"/>
                    <a:pt x="16539" y="12096"/>
                    <a:pt x="18389" y="9858"/>
                  </a:cubicBezTo>
                  <a:cubicBezTo>
                    <a:pt x="21600" y="13745"/>
                    <a:pt x="16304" y="17923"/>
                    <a:pt x="6440" y="19285"/>
                  </a:cubicBezTo>
                  <a:lnTo>
                    <a:pt x="6440" y="21600"/>
                  </a:lnTo>
                  <a:close/>
                  <a:moveTo>
                    <a:pt x="19321" y="12173"/>
                  </a:moveTo>
                  <a:cubicBezTo>
                    <a:pt x="19321" y="8008"/>
                    <a:pt x="10671" y="4631"/>
                    <a:pt x="0" y="4631"/>
                  </a:cubicBezTo>
                  <a:lnTo>
                    <a:pt x="0" y="0"/>
                  </a:lnTo>
                  <a:cubicBezTo>
                    <a:pt x="10671" y="0"/>
                    <a:pt x="19321" y="3377"/>
                    <a:pt x="19321" y="7543"/>
                  </a:cubicBezTo>
                  <a:close/>
                </a:path>
              </a:pathLst>
            </a:custGeom>
            <a:solidFill>
              <a:schemeClr val="accent2"/>
            </a:solidFill>
            <a:ln w="12700" cap="flat">
              <a:noFill/>
              <a:miter lim="400000"/>
            </a:ln>
            <a:effectLst/>
          </p:spPr>
          <p:txBody>
            <a:bodyPr wrap="square" lIns="45719" tIns="45719" rIns="45719" bIns="45719" numCol="1" anchor="ctr">
              <a:noAutofit/>
            </a:bodyPr>
            <a:lstStyle/>
            <a:p>
              <a:pPr indent="609600" algn="ctr">
                <a:defRPr>
                  <a:latin typeface="SimSun"/>
                  <a:ea typeface="SimSun"/>
                  <a:cs typeface="SimSun"/>
                  <a:sym typeface="SimSun"/>
                </a:defRPr>
              </a:pPr>
              <a:endParaRPr/>
            </a:p>
          </p:txBody>
        </p:sp>
        <p:sp>
          <p:nvSpPr>
            <p:cNvPr id="410" name="形状"/>
            <p:cNvSpPr/>
            <p:nvPr/>
          </p:nvSpPr>
          <p:spPr>
            <a:xfrm rot="10800000">
              <a:off x="122" y="246566"/>
              <a:ext cx="503238" cy="31841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14209"/>
                    <a:pt x="11929" y="8217"/>
                    <a:pt x="0" y="8217"/>
                  </a:cubicBezTo>
                  <a:lnTo>
                    <a:pt x="0" y="0"/>
                  </a:lnTo>
                  <a:cubicBezTo>
                    <a:pt x="11929" y="0"/>
                    <a:pt x="21600" y="5992"/>
                    <a:pt x="21600" y="13383"/>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indent="609600" algn="ctr">
                <a:defRPr>
                  <a:latin typeface="SimSun"/>
                  <a:ea typeface="SimSun"/>
                  <a:cs typeface="SimSun"/>
                  <a:sym typeface="SimSun"/>
                </a:defRPr>
              </a:pPr>
              <a:endParaRPr/>
            </a:p>
          </p:txBody>
        </p:sp>
      </p:grpSp>
      <p:pic>
        <p:nvPicPr>
          <p:cNvPr id="2" name="图片 1">
            <a:extLst>
              <a:ext uri="{FF2B5EF4-FFF2-40B4-BE49-F238E27FC236}">
                <a16:creationId xmlns:a16="http://schemas.microsoft.com/office/drawing/2014/main" id="{D192FFE0-832A-524A-9F98-46F1A146E639}"/>
              </a:ext>
            </a:extLst>
          </p:cNvPr>
          <p:cNvPicPr>
            <a:picLocks noChangeAspect="1"/>
          </p:cNvPicPr>
          <p:nvPr/>
        </p:nvPicPr>
        <p:blipFill>
          <a:blip r:embed="rId3"/>
          <a:stretch>
            <a:fillRect/>
          </a:stretch>
        </p:blipFill>
        <p:spPr>
          <a:xfrm>
            <a:off x="1208395" y="2576865"/>
            <a:ext cx="7264400" cy="4140200"/>
          </a:xfrm>
          <a:prstGeom prst="rect">
            <a:avLst/>
          </a:prstGeom>
        </p:spPr>
      </p:pic>
      <p:sp>
        <p:nvSpPr>
          <p:cNvPr id="13" name="文本框 12">
            <a:extLst>
              <a:ext uri="{FF2B5EF4-FFF2-40B4-BE49-F238E27FC236}">
                <a16:creationId xmlns:a16="http://schemas.microsoft.com/office/drawing/2014/main" id="{6534DC57-E703-FF46-91E2-AB1A87D84ED8}"/>
              </a:ext>
            </a:extLst>
          </p:cNvPr>
          <p:cNvSpPr txBox="1"/>
          <p:nvPr/>
        </p:nvSpPr>
        <p:spPr>
          <a:xfrm>
            <a:off x="814539" y="838517"/>
            <a:ext cx="9447061" cy="6593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en-US" sz="2400" b="1" dirty="0">
                <a:solidFill>
                  <a:srgbClr val="FF0000"/>
                </a:solidFill>
              </a:rPr>
              <a:t>数据独立性</a:t>
            </a:r>
            <a:r>
              <a:rPr lang="zh-CN" altLang="en-US" sz="2400" dirty="0"/>
              <a:t>是指应用程序与DB的数据结构之间相互独立。</a:t>
            </a:r>
          </a:p>
        </p:txBody>
      </p:sp>
      <p:sp>
        <p:nvSpPr>
          <p:cNvPr id="7" name="线形标注 1 6">
            <a:extLst>
              <a:ext uri="{FF2B5EF4-FFF2-40B4-BE49-F238E27FC236}">
                <a16:creationId xmlns:a16="http://schemas.microsoft.com/office/drawing/2014/main" id="{4870053F-03D8-084D-B594-DC65E6F34F59}"/>
              </a:ext>
            </a:extLst>
          </p:cNvPr>
          <p:cNvSpPr/>
          <p:nvPr/>
        </p:nvSpPr>
        <p:spPr>
          <a:xfrm>
            <a:off x="76519" y="4767405"/>
            <a:ext cx="914400" cy="1938990"/>
          </a:xfrm>
          <a:prstGeom prst="borderCallout1">
            <a:avLst>
              <a:gd name="adj1" fmla="val 34470"/>
              <a:gd name="adj2" fmla="val 96111"/>
              <a:gd name="adj3" fmla="val 60588"/>
              <a:gd name="adj4" fmla="val 239445"/>
            </a:avLst>
          </a:prstGeom>
          <a:solidFill>
            <a:srgbClr val="FFFFFF"/>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nSpc>
                <a:spcPct val="100000"/>
              </a:lnSpc>
            </a:pPr>
            <a:r>
              <a:rPr lang="zh-CN" altLang="en-US" sz="2000" dirty="0"/>
              <a:t>在逻辑结构改变时，尽量不影响应用程序</a:t>
            </a:r>
          </a:p>
        </p:txBody>
      </p:sp>
      <p:sp>
        <p:nvSpPr>
          <p:cNvPr id="20" name="线形标注 1 19">
            <a:extLst>
              <a:ext uri="{FF2B5EF4-FFF2-40B4-BE49-F238E27FC236}">
                <a16:creationId xmlns:a16="http://schemas.microsoft.com/office/drawing/2014/main" id="{FEABE3B9-45C0-E24B-95F6-164BEFB9AB01}"/>
              </a:ext>
            </a:extLst>
          </p:cNvPr>
          <p:cNvSpPr/>
          <p:nvPr/>
        </p:nvSpPr>
        <p:spPr>
          <a:xfrm>
            <a:off x="7281405" y="4767405"/>
            <a:ext cx="914400" cy="1938990"/>
          </a:xfrm>
          <a:prstGeom prst="borderCallout1">
            <a:avLst>
              <a:gd name="adj1" fmla="val 50190"/>
              <a:gd name="adj2" fmla="val 2778"/>
              <a:gd name="adj3" fmla="val 18669"/>
              <a:gd name="adj4" fmla="val -209444"/>
            </a:avLst>
          </a:prstGeom>
          <a:solidFill>
            <a:srgbClr val="FFFFFF"/>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nSpc>
                <a:spcPct val="100000"/>
              </a:lnSpc>
            </a:pPr>
            <a:r>
              <a:rPr lang="zh-CN" altLang="en-US" sz="2000" dirty="0"/>
              <a:t>在物理结构改变时，尽量不 影响应用程序</a:t>
            </a:r>
          </a:p>
        </p:txBody>
      </p:sp>
      <p:pic>
        <p:nvPicPr>
          <p:cNvPr id="21" name="图片 20">
            <a:extLst>
              <a:ext uri="{FF2B5EF4-FFF2-40B4-BE49-F238E27FC236}">
                <a16:creationId xmlns:a16="http://schemas.microsoft.com/office/drawing/2014/main" id="{BDC63DFF-4B08-964F-B098-66B96AA03C04}"/>
              </a:ext>
            </a:extLst>
          </p:cNvPr>
          <p:cNvPicPr>
            <a:picLocks noChangeAspect="1"/>
          </p:cNvPicPr>
          <p:nvPr/>
        </p:nvPicPr>
        <p:blipFill rotWithShape="1">
          <a:blip r:embed="rId4"/>
          <a:srcRect l="676" t="20973" r="54062" b="13716"/>
          <a:stretch/>
        </p:blipFill>
        <p:spPr>
          <a:xfrm>
            <a:off x="244734" y="947434"/>
            <a:ext cx="577970" cy="55043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Rectangle 2"/>
          <p:cNvSpPr txBox="1">
            <a:spLocks noGrp="1"/>
          </p:cNvSpPr>
          <p:nvPr>
            <p:ph type="title"/>
          </p:nvPr>
        </p:nvSpPr>
        <p:spPr>
          <a:xfrm>
            <a:off x="153987" y="231775"/>
            <a:ext cx="8458201" cy="1563688"/>
          </a:xfrm>
          <a:prstGeom prst="rect">
            <a:avLst/>
          </a:prstGeom>
        </p:spPr>
        <p:txBody>
          <a:bodyPr/>
          <a:lstStyle/>
          <a:p>
            <a:pPr algn="l">
              <a:defRPr sz="4000" b="1">
                <a:solidFill>
                  <a:srgbClr val="000099"/>
                </a:solidFill>
              </a:defRPr>
            </a:pPr>
            <a:r>
              <a:t>◆</a:t>
            </a:r>
            <a:r>
              <a:rPr sz="3200" b="0">
                <a:solidFill>
                  <a:srgbClr val="0000FF"/>
                </a:solidFill>
                <a:latin typeface="SimSun"/>
                <a:ea typeface="SimSun"/>
                <a:cs typeface="SimSun"/>
                <a:sym typeface="SimSun"/>
              </a:rPr>
              <a:t>数据库系统阶段</a:t>
            </a:r>
            <a:r>
              <a:rPr sz="3200" b="0">
                <a:solidFill>
                  <a:srgbClr val="800000"/>
                </a:solidFill>
                <a:latin typeface="SimSun"/>
                <a:ea typeface="SimSun"/>
                <a:cs typeface="SimSun"/>
                <a:sym typeface="SimSun"/>
              </a:rPr>
              <a:t>程序与数据的关系</a:t>
            </a:r>
          </a:p>
        </p:txBody>
      </p:sp>
      <p:grpSp>
        <p:nvGrpSpPr>
          <p:cNvPr id="416" name="AutoShape 38">
            <a:hlinkClick r:id="rId2" action="ppaction://hlinksldjump"/>
          </p:cNvPr>
          <p:cNvGrpSpPr/>
          <p:nvPr/>
        </p:nvGrpSpPr>
        <p:grpSpPr>
          <a:xfrm>
            <a:off x="203199" y="6104359"/>
            <a:ext cx="719297" cy="564730"/>
            <a:chOff x="0" y="0"/>
            <a:chExt cx="719295" cy="564728"/>
          </a:xfrm>
        </p:grpSpPr>
        <p:sp>
          <p:nvSpPr>
            <p:cNvPr id="414" name="形状"/>
            <p:cNvSpPr/>
            <p:nvPr/>
          </p:nvSpPr>
          <p:spPr>
            <a:xfrm rot="10800000" flipH="1">
              <a:off x="0" y="0"/>
              <a:ext cx="719296" cy="564729"/>
            </a:xfrm>
            <a:custGeom>
              <a:avLst/>
              <a:gdLst/>
              <a:ahLst/>
              <a:cxnLst>
                <a:cxn ang="0">
                  <a:pos x="wd2" y="hd2"/>
                </a:cxn>
                <a:cxn ang="5400000">
                  <a:pos x="wd2" y="hd2"/>
                </a:cxn>
                <a:cxn ang="10800000">
                  <a:pos x="wd2" y="hd2"/>
                </a:cxn>
                <a:cxn ang="16200000">
                  <a:pos x="wd2" y="hd2"/>
                </a:cxn>
              </a:cxnLst>
              <a:rect l="0" t="0" r="r" b="b"/>
              <a:pathLst>
                <a:path w="19454" h="21600" extrusionOk="0">
                  <a:moveTo>
                    <a:pt x="0" y="17633"/>
                  </a:moveTo>
                  <a:lnTo>
                    <a:pt x="6483" y="12784"/>
                  </a:lnTo>
                  <a:lnTo>
                    <a:pt x="6483" y="14988"/>
                  </a:lnTo>
                  <a:cubicBezTo>
                    <a:pt x="12345" y="14166"/>
                    <a:pt x="16863" y="12282"/>
                    <a:pt x="18639" y="9919"/>
                  </a:cubicBezTo>
                  <a:cubicBezTo>
                    <a:pt x="21600" y="13858"/>
                    <a:pt x="16254" y="18026"/>
                    <a:pt x="6483" y="19396"/>
                  </a:cubicBezTo>
                  <a:lnTo>
                    <a:pt x="6483" y="21600"/>
                  </a:lnTo>
                  <a:close/>
                  <a:moveTo>
                    <a:pt x="19450" y="12123"/>
                  </a:moveTo>
                  <a:cubicBezTo>
                    <a:pt x="19450" y="7862"/>
                    <a:pt x="10742" y="4408"/>
                    <a:pt x="0" y="4408"/>
                  </a:cubicBezTo>
                  <a:lnTo>
                    <a:pt x="0" y="0"/>
                  </a:lnTo>
                  <a:cubicBezTo>
                    <a:pt x="10742" y="0"/>
                    <a:pt x="19450" y="3454"/>
                    <a:pt x="19450" y="7714"/>
                  </a:cubicBezTo>
                  <a:close/>
                </a:path>
              </a:pathLst>
            </a:custGeom>
            <a:solidFill>
              <a:schemeClr val="accent2"/>
            </a:solidFill>
            <a:ln w="12700" cap="flat">
              <a:noFill/>
              <a:miter lim="400000"/>
            </a:ln>
            <a:effectLst/>
          </p:spPr>
          <p:txBody>
            <a:bodyPr wrap="square" lIns="45719" tIns="45719" rIns="45719" bIns="45719" numCol="1" anchor="ctr">
              <a:noAutofit/>
            </a:bodyPr>
            <a:lstStyle/>
            <a:p>
              <a:pPr>
                <a:defRPr>
                  <a:latin typeface="SimSun"/>
                  <a:ea typeface="SimSun"/>
                  <a:cs typeface="SimSun"/>
                  <a:sym typeface="SimSun"/>
                </a:defRPr>
              </a:pPr>
              <a:endParaRPr/>
            </a:p>
          </p:txBody>
        </p:sp>
        <p:sp>
          <p:nvSpPr>
            <p:cNvPr id="415" name="形状"/>
            <p:cNvSpPr/>
            <p:nvPr/>
          </p:nvSpPr>
          <p:spPr>
            <a:xfrm rot="10800000" flipH="1">
              <a:off x="0" y="247782"/>
              <a:ext cx="719139" cy="316946"/>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14009"/>
                    <a:pt x="11929" y="7855"/>
                    <a:pt x="0" y="7855"/>
                  </a:cubicBezTo>
                  <a:lnTo>
                    <a:pt x="0" y="0"/>
                  </a:lnTo>
                  <a:cubicBezTo>
                    <a:pt x="11929" y="0"/>
                    <a:pt x="21600" y="6154"/>
                    <a:pt x="21600" y="13745"/>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a:defRPr>
                  <a:latin typeface="SimSun"/>
                  <a:ea typeface="SimSun"/>
                  <a:cs typeface="SimSun"/>
                  <a:sym typeface="SimSun"/>
                </a:defRPr>
              </a:pPr>
              <a:endParaRPr/>
            </a:p>
          </p:txBody>
        </p:sp>
      </p:grpSp>
      <p:grpSp>
        <p:nvGrpSpPr>
          <p:cNvPr id="441" name="组合 3"/>
          <p:cNvGrpSpPr/>
          <p:nvPr/>
        </p:nvGrpSpPr>
        <p:grpSpPr>
          <a:xfrm>
            <a:off x="1238250" y="2373313"/>
            <a:ext cx="7123113" cy="3763006"/>
            <a:chOff x="0" y="0"/>
            <a:chExt cx="7123112" cy="3763005"/>
          </a:xfrm>
        </p:grpSpPr>
        <p:grpSp>
          <p:nvGrpSpPr>
            <p:cNvPr id="437" name="Group 140"/>
            <p:cNvGrpSpPr/>
            <p:nvPr/>
          </p:nvGrpSpPr>
          <p:grpSpPr>
            <a:xfrm>
              <a:off x="0" y="-1"/>
              <a:ext cx="7123113" cy="3195891"/>
              <a:chOff x="0" y="0"/>
              <a:chExt cx="7123112" cy="3195889"/>
            </a:xfrm>
          </p:grpSpPr>
          <p:sp>
            <p:nvSpPr>
              <p:cNvPr id="417" name="Line 33"/>
              <p:cNvSpPr/>
              <p:nvPr/>
            </p:nvSpPr>
            <p:spPr>
              <a:xfrm flipV="1">
                <a:off x="1476375" y="1957145"/>
                <a:ext cx="1662113" cy="1238745"/>
              </a:xfrm>
              <a:prstGeom prst="line">
                <a:avLst/>
              </a:prstGeom>
              <a:noFill/>
              <a:ln w="28575" cap="flat">
                <a:solidFill>
                  <a:srgbClr val="000000"/>
                </a:solidFill>
                <a:prstDash val="solid"/>
                <a:round/>
              </a:ln>
              <a:effectLst/>
            </p:spPr>
            <p:txBody>
              <a:bodyPr wrap="square" lIns="45719" tIns="45719" rIns="45719" bIns="45719" numCol="1" anchor="t">
                <a:noAutofit/>
              </a:bodyPr>
              <a:lstStyle/>
              <a:p>
                <a:pPr>
                  <a:defRPr>
                    <a:solidFill>
                      <a:srgbClr val="FFFFFF"/>
                    </a:solidFill>
                  </a:defRPr>
                </a:pPr>
                <a:endParaRPr/>
              </a:p>
            </p:txBody>
          </p:sp>
          <p:grpSp>
            <p:nvGrpSpPr>
              <p:cNvPr id="420" name="AutoShape 20"/>
              <p:cNvGrpSpPr/>
              <p:nvPr/>
            </p:nvGrpSpPr>
            <p:grpSpPr>
              <a:xfrm>
                <a:off x="2803525" y="950664"/>
                <a:ext cx="1662113" cy="1348576"/>
                <a:chOff x="0" y="0"/>
                <a:chExt cx="1662111" cy="1348575"/>
              </a:xfrm>
            </p:grpSpPr>
            <p:sp>
              <p:nvSpPr>
                <p:cNvPr id="418" name="形状"/>
                <p:cNvSpPr/>
                <p:nvPr/>
              </p:nvSpPr>
              <p:spPr>
                <a:xfrm>
                  <a:off x="0" y="-1"/>
                  <a:ext cx="1662112" cy="1348576"/>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6116" y="0"/>
                      </a:lnTo>
                      <a:lnTo>
                        <a:pt x="15484" y="0"/>
                      </a:lnTo>
                      <a:lnTo>
                        <a:pt x="21600" y="10800"/>
                      </a:lnTo>
                      <a:lnTo>
                        <a:pt x="15484" y="21600"/>
                      </a:lnTo>
                      <a:lnTo>
                        <a:pt x="6116" y="21600"/>
                      </a:lnTo>
                      <a:close/>
                    </a:path>
                  </a:pathLst>
                </a:custGeom>
                <a:solidFill>
                  <a:srgbClr val="FFFFFF"/>
                </a:solidFill>
                <a:ln w="28575" cap="flat">
                  <a:solidFill>
                    <a:srgbClr val="000000"/>
                  </a:solidFill>
                  <a:prstDash val="solid"/>
                  <a:miter lim="800000"/>
                </a:ln>
                <a:effectLst/>
              </p:spPr>
              <p:txBody>
                <a:bodyPr wrap="square" lIns="45719" tIns="45719" rIns="45719" bIns="45719" numCol="1" anchor="t">
                  <a:noAutofit/>
                </a:bodyPr>
                <a:lstStyle/>
                <a:p>
                  <a:pPr algn="ctr">
                    <a:defRPr>
                      <a:latin typeface="SimSun"/>
                      <a:ea typeface="SimSun"/>
                      <a:cs typeface="SimSun"/>
                      <a:sym typeface="SimSun"/>
                    </a:defRPr>
                  </a:pPr>
                  <a:endParaRPr/>
                </a:p>
              </p:txBody>
            </p:sp>
            <p:sp>
              <p:nvSpPr>
                <p:cNvPr id="419" name="DBMS"/>
                <p:cNvSpPr txBox="1"/>
                <p:nvPr/>
              </p:nvSpPr>
              <p:spPr>
                <a:xfrm>
                  <a:off x="318868" y="452213"/>
                  <a:ext cx="1024376" cy="28131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defRPr sz="2000" b="1">
                      <a:solidFill>
                        <a:srgbClr val="006600"/>
                      </a:solidFill>
                      <a:effectLst>
                        <a:outerShdw blurRad="38100" dist="38100" dir="2700000" rotWithShape="0">
                          <a:srgbClr val="C0C0C0"/>
                        </a:outerShdw>
                      </a:effectLst>
                    </a:defRPr>
                  </a:lvl1pPr>
                </a:lstStyle>
                <a:p>
                  <a:r>
                    <a:t>DBMS</a:t>
                  </a:r>
                </a:p>
              </p:txBody>
            </p:sp>
          </p:grpSp>
          <p:grpSp>
            <p:nvGrpSpPr>
              <p:cNvPr id="426" name="AutoShape 21"/>
              <p:cNvGrpSpPr/>
              <p:nvPr/>
            </p:nvGrpSpPr>
            <p:grpSpPr>
              <a:xfrm>
                <a:off x="5461000" y="482534"/>
                <a:ext cx="1662113" cy="1831632"/>
                <a:chOff x="0" y="0"/>
                <a:chExt cx="1662111" cy="1831631"/>
              </a:xfrm>
            </p:grpSpPr>
            <p:grpSp>
              <p:nvGrpSpPr>
                <p:cNvPr id="424" name="成组"/>
                <p:cNvGrpSpPr/>
                <p:nvPr/>
              </p:nvGrpSpPr>
              <p:grpSpPr>
                <a:xfrm>
                  <a:off x="-1" y="0"/>
                  <a:ext cx="1662113" cy="1800500"/>
                  <a:chOff x="0" y="0"/>
                  <a:chExt cx="1662111" cy="1800500"/>
                </a:xfrm>
              </p:grpSpPr>
              <p:sp>
                <p:nvSpPr>
                  <p:cNvPr id="421" name="形状"/>
                  <p:cNvSpPr/>
                  <p:nvPr/>
                </p:nvSpPr>
                <p:spPr>
                  <a:xfrm>
                    <a:off x="0" y="0"/>
                    <a:ext cx="1662112" cy="1800501"/>
                  </a:xfrm>
                  <a:custGeom>
                    <a:avLst/>
                    <a:gdLst/>
                    <a:ahLst/>
                    <a:cxnLst>
                      <a:cxn ang="0">
                        <a:pos x="wd2" y="hd2"/>
                      </a:cxn>
                      <a:cxn ang="5400000">
                        <a:pos x="wd2" y="hd2"/>
                      </a:cxn>
                      <a:cxn ang="10800000">
                        <a:pos x="wd2" y="hd2"/>
                      </a:cxn>
                      <a:cxn ang="16200000">
                        <a:pos x="wd2" y="hd2"/>
                      </a:cxn>
                    </a:cxnLst>
                    <a:rect l="0" t="0" r="r" b="b"/>
                    <a:pathLst>
                      <a:path w="21600" h="21600" extrusionOk="0">
                        <a:moveTo>
                          <a:pt x="0" y="4166"/>
                        </a:moveTo>
                        <a:cubicBezTo>
                          <a:pt x="0" y="1865"/>
                          <a:pt x="4835" y="0"/>
                          <a:pt x="10800" y="0"/>
                        </a:cubicBezTo>
                        <a:cubicBezTo>
                          <a:pt x="16765" y="0"/>
                          <a:pt x="21600" y="1865"/>
                          <a:pt x="21600" y="4166"/>
                        </a:cubicBezTo>
                        <a:lnTo>
                          <a:pt x="21600" y="17434"/>
                        </a:lnTo>
                        <a:cubicBezTo>
                          <a:pt x="21600" y="19735"/>
                          <a:pt x="16765" y="21600"/>
                          <a:pt x="10800" y="21600"/>
                        </a:cubicBezTo>
                        <a:cubicBezTo>
                          <a:pt x="4835" y="21600"/>
                          <a:pt x="0" y="19735"/>
                          <a:pt x="0" y="17434"/>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latin typeface="SimSun"/>
                        <a:ea typeface="SimSun"/>
                        <a:cs typeface="SimSun"/>
                        <a:sym typeface="SimSun"/>
                      </a:defRPr>
                    </a:pPr>
                    <a:endParaRPr/>
                  </a:p>
                </p:txBody>
              </p:sp>
              <p:sp>
                <p:nvSpPr>
                  <p:cNvPr id="422" name="椭圆形"/>
                  <p:cNvSpPr/>
                  <p:nvPr/>
                </p:nvSpPr>
                <p:spPr>
                  <a:xfrm>
                    <a:off x="0" y="-1"/>
                    <a:ext cx="1662112" cy="694531"/>
                  </a:xfrm>
                  <a:prstGeom prst="ellipse">
                    <a:avLst/>
                  </a:prstGeom>
                  <a:solidFill>
                    <a:srgbClr val="FFFFFF">
                      <a:alpha val="40000"/>
                    </a:srgbClr>
                  </a:solidFill>
                  <a:ln w="12700" cap="flat">
                    <a:noFill/>
                    <a:miter lim="400000"/>
                  </a:ln>
                  <a:effectLst/>
                </p:spPr>
                <p:txBody>
                  <a:bodyPr wrap="square" lIns="45719" tIns="45719" rIns="45719" bIns="45719" numCol="1" anchor="t">
                    <a:noAutofit/>
                  </a:bodyPr>
                  <a:lstStyle/>
                  <a:p>
                    <a:pPr>
                      <a:defRPr>
                        <a:latin typeface="SimSun"/>
                        <a:ea typeface="SimSun"/>
                        <a:cs typeface="SimSun"/>
                        <a:sym typeface="SimSun"/>
                      </a:defRPr>
                    </a:pPr>
                    <a:endParaRPr/>
                  </a:p>
                </p:txBody>
              </p:sp>
              <p:sp>
                <p:nvSpPr>
                  <p:cNvPr id="423" name="线条"/>
                  <p:cNvSpPr/>
                  <p:nvPr/>
                </p:nvSpPr>
                <p:spPr>
                  <a:xfrm>
                    <a:off x="0" y="0"/>
                    <a:ext cx="1662112" cy="1800501"/>
                  </a:xfrm>
                  <a:custGeom>
                    <a:avLst/>
                    <a:gdLst/>
                    <a:ahLst/>
                    <a:cxnLst>
                      <a:cxn ang="0">
                        <a:pos x="wd2" y="hd2"/>
                      </a:cxn>
                      <a:cxn ang="5400000">
                        <a:pos x="wd2" y="hd2"/>
                      </a:cxn>
                      <a:cxn ang="10800000">
                        <a:pos x="wd2" y="hd2"/>
                      </a:cxn>
                      <a:cxn ang="16200000">
                        <a:pos x="wd2" y="hd2"/>
                      </a:cxn>
                    </a:cxnLst>
                    <a:rect l="0" t="0" r="r" b="b"/>
                    <a:pathLst>
                      <a:path w="21600" h="21600" extrusionOk="0">
                        <a:moveTo>
                          <a:pt x="21600" y="4166"/>
                        </a:moveTo>
                        <a:cubicBezTo>
                          <a:pt x="21600" y="6467"/>
                          <a:pt x="16765" y="8332"/>
                          <a:pt x="10800" y="8332"/>
                        </a:cubicBezTo>
                        <a:cubicBezTo>
                          <a:pt x="4835" y="8332"/>
                          <a:pt x="0" y="6467"/>
                          <a:pt x="0" y="4166"/>
                        </a:cubicBezTo>
                        <a:cubicBezTo>
                          <a:pt x="0" y="1865"/>
                          <a:pt x="4835" y="0"/>
                          <a:pt x="10800" y="0"/>
                        </a:cubicBezTo>
                        <a:cubicBezTo>
                          <a:pt x="16765" y="0"/>
                          <a:pt x="21600" y="1865"/>
                          <a:pt x="21600" y="4166"/>
                        </a:cubicBezTo>
                        <a:lnTo>
                          <a:pt x="21600" y="17434"/>
                        </a:lnTo>
                        <a:cubicBezTo>
                          <a:pt x="21600" y="19735"/>
                          <a:pt x="16765" y="21600"/>
                          <a:pt x="10800" y="21600"/>
                        </a:cubicBezTo>
                        <a:cubicBezTo>
                          <a:pt x="4835" y="21600"/>
                          <a:pt x="0" y="19735"/>
                          <a:pt x="0" y="17434"/>
                        </a:cubicBezTo>
                        <a:lnTo>
                          <a:pt x="0" y="4166"/>
                        </a:lnTo>
                      </a:path>
                    </a:pathLst>
                  </a:custGeom>
                  <a:noFill/>
                  <a:ln w="28575" cap="flat">
                    <a:solidFill>
                      <a:srgbClr val="000000"/>
                    </a:solidFill>
                    <a:prstDash val="solid"/>
                    <a:round/>
                  </a:ln>
                  <a:effectLst/>
                </p:spPr>
                <p:txBody>
                  <a:bodyPr wrap="square" lIns="45719" tIns="45719" rIns="45719" bIns="45719" numCol="1" anchor="t">
                    <a:noAutofit/>
                  </a:bodyPr>
                  <a:lstStyle/>
                  <a:p>
                    <a:pPr>
                      <a:defRPr>
                        <a:latin typeface="SimSun"/>
                        <a:ea typeface="SimSun"/>
                        <a:cs typeface="SimSun"/>
                        <a:sym typeface="SimSun"/>
                      </a:defRPr>
                    </a:pPr>
                    <a:endParaRPr/>
                  </a:p>
                </p:txBody>
              </p:sp>
            </p:grpSp>
            <p:sp>
              <p:nvSpPr>
                <p:cNvPr id="425" name="数据库…"/>
                <p:cNvSpPr txBox="1"/>
                <p:nvPr/>
              </p:nvSpPr>
              <p:spPr>
                <a:xfrm>
                  <a:off x="60007" y="708817"/>
                  <a:ext cx="1542098" cy="112281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defRPr b="1">
                      <a:solidFill>
                        <a:srgbClr val="006600"/>
                      </a:solidFill>
                      <a:effectLst>
                        <a:outerShdw blurRad="38100" dist="38100" dir="2700000" rotWithShape="0">
                          <a:srgbClr val="C0C0C0"/>
                        </a:outerShdw>
                      </a:effectLst>
                    </a:defRPr>
                  </a:pPr>
                  <a:r>
                    <a:rPr b="0">
                      <a:latin typeface="SimSun"/>
                      <a:ea typeface="SimSun"/>
                      <a:cs typeface="SimSun"/>
                      <a:sym typeface="SimSun"/>
                    </a:rPr>
                    <a:t>  数据库</a:t>
                  </a:r>
                  <a:endParaRPr b="0">
                    <a:latin typeface="SimSong Bold"/>
                    <a:ea typeface="SimSong Bold"/>
                    <a:cs typeface="SimSong Bold"/>
                    <a:sym typeface="SimSong Bold"/>
                  </a:endParaRPr>
                </a:p>
                <a:p>
                  <a:pPr>
                    <a:defRPr>
                      <a:latin typeface="SimSun"/>
                      <a:ea typeface="SimSun"/>
                      <a:cs typeface="SimSun"/>
                      <a:sym typeface="SimSun"/>
                    </a:defRPr>
                  </a:pPr>
                  <a:r>
                    <a:t>   </a:t>
                  </a:r>
                  <a:r>
                    <a:rPr b="1">
                      <a:solidFill>
                        <a:srgbClr val="006600"/>
                      </a:solidFill>
                      <a:effectLst>
                        <a:outerShdw blurRad="38100" dist="38100" dir="2700000" rotWithShape="0">
                          <a:srgbClr val="C0C0C0"/>
                        </a:outerShdw>
                      </a:effectLst>
                      <a:latin typeface="+mn-lt"/>
                      <a:ea typeface="+mn-ea"/>
                      <a:cs typeface="+mn-cs"/>
                      <a:sym typeface="Times New Roman"/>
                    </a:rPr>
                    <a:t>DB</a:t>
                  </a:r>
                </a:p>
              </p:txBody>
            </p:sp>
          </p:grpSp>
          <p:sp>
            <p:nvSpPr>
              <p:cNvPr id="427" name="Line 30"/>
              <p:cNvSpPr/>
              <p:nvPr/>
            </p:nvSpPr>
            <p:spPr>
              <a:xfrm>
                <a:off x="4467225" y="1607847"/>
                <a:ext cx="996951" cy="1"/>
              </a:xfrm>
              <a:prstGeom prst="line">
                <a:avLst/>
              </a:prstGeom>
              <a:noFill/>
              <a:ln w="28575" cap="flat">
                <a:solidFill>
                  <a:srgbClr val="000000"/>
                </a:solidFill>
                <a:prstDash val="solid"/>
                <a:round/>
              </a:ln>
              <a:effectLst/>
            </p:spPr>
            <p:txBody>
              <a:bodyPr wrap="square" lIns="45719" tIns="45719" rIns="45719" bIns="45719" numCol="1" anchor="t">
                <a:noAutofit/>
              </a:bodyPr>
              <a:lstStyle/>
              <a:p>
                <a:pPr>
                  <a:defRPr>
                    <a:solidFill>
                      <a:srgbClr val="FFFFFF"/>
                    </a:solidFill>
                  </a:defRPr>
                </a:pPr>
                <a:endParaRPr/>
              </a:p>
            </p:txBody>
          </p:sp>
          <p:sp>
            <p:nvSpPr>
              <p:cNvPr id="428" name="Line 31"/>
              <p:cNvSpPr/>
              <p:nvPr/>
            </p:nvSpPr>
            <p:spPr>
              <a:xfrm>
                <a:off x="1476375" y="257471"/>
                <a:ext cx="1662113" cy="923657"/>
              </a:xfrm>
              <a:prstGeom prst="line">
                <a:avLst/>
              </a:prstGeom>
              <a:noFill/>
              <a:ln w="28575" cap="flat">
                <a:solidFill>
                  <a:srgbClr val="000000"/>
                </a:solidFill>
                <a:prstDash val="solid"/>
                <a:round/>
              </a:ln>
              <a:effectLst/>
            </p:spPr>
            <p:txBody>
              <a:bodyPr wrap="square" lIns="45719" tIns="45719" rIns="45719" bIns="45719" numCol="1" anchor="t">
                <a:noAutofit/>
              </a:bodyPr>
              <a:lstStyle/>
              <a:p>
                <a:pPr>
                  <a:defRPr>
                    <a:solidFill>
                      <a:srgbClr val="FFFFFF"/>
                    </a:solidFill>
                  </a:defRPr>
                </a:pPr>
                <a:endParaRPr/>
              </a:p>
            </p:txBody>
          </p:sp>
          <p:sp>
            <p:nvSpPr>
              <p:cNvPr id="429" name="Line 32"/>
              <p:cNvSpPr/>
              <p:nvPr/>
            </p:nvSpPr>
            <p:spPr>
              <a:xfrm>
                <a:off x="1476375" y="1157722"/>
                <a:ext cx="1328738" cy="450126"/>
              </a:xfrm>
              <a:prstGeom prst="line">
                <a:avLst/>
              </a:prstGeom>
              <a:noFill/>
              <a:ln w="28575" cap="flat">
                <a:solidFill>
                  <a:srgbClr val="000000"/>
                </a:solidFill>
                <a:prstDash val="solid"/>
                <a:round/>
              </a:ln>
              <a:effectLst/>
            </p:spPr>
            <p:txBody>
              <a:bodyPr wrap="square" lIns="45719" tIns="45719" rIns="45719" bIns="45719" numCol="1" anchor="t">
                <a:noAutofit/>
              </a:bodyPr>
              <a:lstStyle/>
              <a:p>
                <a:pPr>
                  <a:defRPr>
                    <a:solidFill>
                      <a:srgbClr val="FFFFFF"/>
                    </a:solidFill>
                  </a:defRPr>
                </a:pPr>
                <a:endParaRPr/>
              </a:p>
            </p:txBody>
          </p:sp>
          <p:grpSp>
            <p:nvGrpSpPr>
              <p:cNvPr id="432" name="Text Box 34"/>
              <p:cNvGrpSpPr/>
              <p:nvPr/>
            </p:nvGrpSpPr>
            <p:grpSpPr>
              <a:xfrm>
                <a:off x="-1" y="0"/>
                <a:ext cx="1519238" cy="671587"/>
                <a:chOff x="0" y="0"/>
                <a:chExt cx="1519236" cy="671585"/>
              </a:xfrm>
            </p:grpSpPr>
            <p:sp>
              <p:nvSpPr>
                <p:cNvPr id="430" name="矩形"/>
                <p:cNvSpPr/>
                <p:nvPr/>
              </p:nvSpPr>
              <p:spPr>
                <a:xfrm>
                  <a:off x="0" y="0"/>
                  <a:ext cx="1519237" cy="671586"/>
                </a:xfrm>
                <a:prstGeom prst="rect">
                  <a:avLst/>
                </a:prstGeom>
                <a:solidFill>
                  <a:srgbClr val="FFFFFF"/>
                </a:solidFill>
                <a:ln w="28575" cap="flat">
                  <a:solidFill>
                    <a:srgbClr val="000000"/>
                  </a:solidFill>
                  <a:prstDash val="solid"/>
                  <a:miter lim="800000"/>
                </a:ln>
                <a:effectLst/>
              </p:spPr>
              <p:txBody>
                <a:bodyPr wrap="square" lIns="45719" tIns="45719" rIns="45719" bIns="45719" numCol="1" anchor="t">
                  <a:noAutofit/>
                </a:bodyPr>
                <a:lstStyle/>
                <a:p>
                  <a:pPr>
                    <a:defRPr>
                      <a:latin typeface="SimSun"/>
                      <a:ea typeface="SimSun"/>
                      <a:cs typeface="SimSun"/>
                      <a:sym typeface="SimSun"/>
                    </a:defRPr>
                  </a:pPr>
                  <a:endParaRPr/>
                </a:p>
              </p:txBody>
            </p:sp>
            <p:sp>
              <p:nvSpPr>
                <p:cNvPr id="431" name="应用程序1"/>
                <p:cNvSpPr txBox="1"/>
                <p:nvPr/>
              </p:nvSpPr>
              <p:spPr>
                <a:xfrm>
                  <a:off x="60007" y="87367"/>
                  <a:ext cx="1399223" cy="3727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defRPr sz="2000" b="1">
                      <a:solidFill>
                        <a:srgbClr val="006600"/>
                      </a:solidFill>
                      <a:effectLst>
                        <a:outerShdw blurRad="38100" dist="38100" dir="2700000" rotWithShape="0">
                          <a:srgbClr val="C0C0C0"/>
                        </a:outerShdw>
                      </a:effectLst>
                    </a:defRPr>
                  </a:pPr>
                  <a:r>
                    <a:rPr b="0">
                      <a:latin typeface="SimSun"/>
                      <a:ea typeface="SimSun"/>
                      <a:cs typeface="SimSun"/>
                      <a:sym typeface="SimSun"/>
                    </a:rPr>
                    <a:t>应用程序</a:t>
                  </a:r>
                  <a:r>
                    <a:t>1</a:t>
                  </a:r>
                </a:p>
              </p:txBody>
            </p:sp>
          </p:grpSp>
          <p:grpSp>
            <p:nvGrpSpPr>
              <p:cNvPr id="435" name="Text Box 35"/>
              <p:cNvGrpSpPr/>
              <p:nvPr/>
            </p:nvGrpSpPr>
            <p:grpSpPr>
              <a:xfrm>
                <a:off x="-1" y="894848"/>
                <a:ext cx="1519238" cy="669787"/>
                <a:chOff x="0" y="0"/>
                <a:chExt cx="1519236" cy="669786"/>
              </a:xfrm>
            </p:grpSpPr>
            <p:sp>
              <p:nvSpPr>
                <p:cNvPr id="433" name="矩形"/>
                <p:cNvSpPr/>
                <p:nvPr/>
              </p:nvSpPr>
              <p:spPr>
                <a:xfrm>
                  <a:off x="0" y="-1"/>
                  <a:ext cx="1519237" cy="669788"/>
                </a:xfrm>
                <a:prstGeom prst="rect">
                  <a:avLst/>
                </a:prstGeom>
                <a:solidFill>
                  <a:srgbClr val="FFFFFF"/>
                </a:solidFill>
                <a:ln w="28575" cap="flat">
                  <a:solidFill>
                    <a:srgbClr val="000000"/>
                  </a:solidFill>
                  <a:prstDash val="solid"/>
                  <a:miter lim="800000"/>
                </a:ln>
                <a:effectLst/>
              </p:spPr>
              <p:txBody>
                <a:bodyPr wrap="square" lIns="45719" tIns="45719" rIns="45719" bIns="45719" numCol="1" anchor="t">
                  <a:noAutofit/>
                </a:bodyPr>
                <a:lstStyle/>
                <a:p>
                  <a:pPr>
                    <a:defRPr>
                      <a:latin typeface="SimSun"/>
                      <a:ea typeface="SimSun"/>
                      <a:cs typeface="SimSun"/>
                      <a:sym typeface="SimSun"/>
                    </a:defRPr>
                  </a:pPr>
                  <a:endParaRPr/>
                </a:p>
              </p:txBody>
            </p:sp>
            <p:sp>
              <p:nvSpPr>
                <p:cNvPr id="434" name="应用程序2"/>
                <p:cNvSpPr txBox="1"/>
                <p:nvPr/>
              </p:nvSpPr>
              <p:spPr>
                <a:xfrm>
                  <a:off x="60007" y="87367"/>
                  <a:ext cx="1399223" cy="3727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defRPr sz="2000" b="1">
                      <a:solidFill>
                        <a:srgbClr val="006600"/>
                      </a:solidFill>
                      <a:effectLst>
                        <a:outerShdw blurRad="38100" dist="38100" dir="2700000" rotWithShape="0">
                          <a:srgbClr val="C0C0C0"/>
                        </a:outerShdw>
                      </a:effectLst>
                    </a:defRPr>
                  </a:pPr>
                  <a:r>
                    <a:rPr b="0">
                      <a:latin typeface="SimSun"/>
                      <a:ea typeface="SimSun"/>
                      <a:cs typeface="SimSun"/>
                      <a:sym typeface="SimSun"/>
                    </a:rPr>
                    <a:t>应用程序</a:t>
                  </a:r>
                  <a:r>
                    <a:t>2</a:t>
                  </a:r>
                </a:p>
              </p:txBody>
            </p:sp>
          </p:grpSp>
          <p:sp>
            <p:nvSpPr>
              <p:cNvPr id="436" name="Text Box 37"/>
              <p:cNvSpPr txBox="1"/>
              <p:nvPr/>
            </p:nvSpPr>
            <p:spPr>
              <a:xfrm>
                <a:off x="762312" y="1877922"/>
                <a:ext cx="401326" cy="932660"/>
              </a:xfrm>
              <a:prstGeom prst="rect">
                <a:avLst/>
              </a:prstGeom>
              <a:noFill/>
              <a:ln w="28575" cap="flat">
                <a:solidFill>
                  <a:srgbClr val="FFFFFF"/>
                </a:solidFill>
                <a:prstDash val="solid"/>
                <a:miter lim="8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eaVert" wrap="square" lIns="45719" tIns="45719" rIns="45719" bIns="45719" numCol="1" anchor="t">
                <a:spAutoFit/>
              </a:bodyPr>
              <a:lstStyle>
                <a:lvl1pPr>
                  <a:spcBef>
                    <a:spcPts val="1200"/>
                  </a:spcBef>
                  <a:defRPr sz="2000" b="1">
                    <a:solidFill>
                      <a:srgbClr val="006600"/>
                    </a:solidFill>
                    <a:effectLst>
                      <a:outerShdw blurRad="38100" dist="38100" dir="2700000" rotWithShape="0">
                        <a:srgbClr val="C0C0C0"/>
                      </a:outerShdw>
                    </a:effectLst>
                  </a:defRPr>
                </a:lvl1pPr>
              </a:lstStyle>
              <a:p>
                <a:r>
                  <a:t>……</a:t>
                </a:r>
              </a:p>
            </p:txBody>
          </p:sp>
        </p:grpSp>
        <p:grpSp>
          <p:nvGrpSpPr>
            <p:cNvPr id="440" name="Text Box 35"/>
            <p:cNvGrpSpPr/>
            <p:nvPr/>
          </p:nvGrpSpPr>
          <p:grpSpPr>
            <a:xfrm>
              <a:off x="65088" y="2813049"/>
              <a:ext cx="1519238" cy="949957"/>
              <a:chOff x="0" y="0"/>
              <a:chExt cx="1519237" cy="949955"/>
            </a:xfrm>
          </p:grpSpPr>
          <p:sp>
            <p:nvSpPr>
              <p:cNvPr id="438" name="矩形"/>
              <p:cNvSpPr/>
              <p:nvPr/>
            </p:nvSpPr>
            <p:spPr>
              <a:xfrm>
                <a:off x="0" y="0"/>
                <a:ext cx="1519238" cy="684213"/>
              </a:xfrm>
              <a:prstGeom prst="rect">
                <a:avLst/>
              </a:prstGeom>
              <a:solidFill>
                <a:srgbClr val="FFFFFF"/>
              </a:solidFill>
              <a:ln w="28575" cap="flat">
                <a:solidFill>
                  <a:srgbClr val="000000"/>
                </a:solidFill>
                <a:prstDash val="solid"/>
                <a:miter lim="800000"/>
              </a:ln>
              <a:effectLst/>
            </p:spPr>
            <p:txBody>
              <a:bodyPr wrap="square" lIns="45719" tIns="45719" rIns="45719" bIns="45719" numCol="1" anchor="t">
                <a:noAutofit/>
              </a:bodyPr>
              <a:lstStyle/>
              <a:p>
                <a:pPr>
                  <a:defRPr sz="2000" b="1">
                    <a:solidFill>
                      <a:srgbClr val="006600"/>
                    </a:solidFill>
                    <a:effectLst>
                      <a:outerShdw blurRad="38100" dist="38100" dir="2700000" rotWithShape="0">
                        <a:srgbClr val="C0C0C0"/>
                      </a:outerShdw>
                    </a:effectLst>
                  </a:defRPr>
                </a:pPr>
                <a:endParaRPr/>
              </a:p>
            </p:txBody>
          </p:sp>
          <p:sp>
            <p:nvSpPr>
              <p:cNvPr id="439" name="应用程序n"/>
              <p:cNvSpPr txBox="1"/>
              <p:nvPr/>
            </p:nvSpPr>
            <p:spPr>
              <a:xfrm>
                <a:off x="60007" y="87367"/>
                <a:ext cx="1399223" cy="862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defRPr sz="2000" b="1">
                    <a:solidFill>
                      <a:srgbClr val="006600"/>
                    </a:solidFill>
                    <a:effectLst>
                      <a:outerShdw blurRad="38100" dist="38100" dir="2700000" rotWithShape="0">
                        <a:srgbClr val="C0C0C0"/>
                      </a:outerShdw>
                    </a:effectLst>
                  </a:defRPr>
                </a:pPr>
                <a:r>
                  <a:rPr b="0">
                    <a:latin typeface="SimSun"/>
                    <a:ea typeface="SimSun"/>
                    <a:cs typeface="SimSun"/>
                    <a:sym typeface="SimSun"/>
                  </a:rPr>
                  <a:t>应用程序</a:t>
                </a:r>
                <a:r>
                  <a:t>n</a:t>
                </a:r>
                <a:endParaRPr b="0">
                  <a:latin typeface="SimSong Bold"/>
                  <a:ea typeface="SimSong Bold"/>
                  <a:cs typeface="SimSong Bold"/>
                  <a:sym typeface="SimSong Bold"/>
                </a:endParaRPr>
              </a:p>
            </p:txBody>
          </p:sp>
        </p:grpSp>
      </p:grpSp>
      <p:grpSp>
        <p:nvGrpSpPr>
          <p:cNvPr id="444" name="AutoShape 5">
            <a:hlinkClick r:id="rId3" action="ppaction://hlinksldjump"/>
          </p:cNvPr>
          <p:cNvGrpSpPr/>
          <p:nvPr/>
        </p:nvGrpSpPr>
        <p:grpSpPr>
          <a:xfrm>
            <a:off x="8126413" y="6138862"/>
            <a:ext cx="846315" cy="288927"/>
            <a:chOff x="0" y="0"/>
            <a:chExt cx="846314" cy="288925"/>
          </a:xfrm>
        </p:grpSpPr>
        <p:sp>
          <p:nvSpPr>
            <p:cNvPr id="442" name="形状"/>
            <p:cNvSpPr/>
            <p:nvPr/>
          </p:nvSpPr>
          <p:spPr>
            <a:xfrm>
              <a:off x="0" y="0"/>
              <a:ext cx="846315" cy="288926"/>
            </a:xfrm>
            <a:custGeom>
              <a:avLst/>
              <a:gdLst/>
              <a:ahLst/>
              <a:cxnLst>
                <a:cxn ang="0">
                  <a:pos x="wd2" y="hd2"/>
                </a:cxn>
                <a:cxn ang="5400000">
                  <a:pos x="wd2" y="hd2"/>
                </a:cxn>
                <a:cxn ang="10800000">
                  <a:pos x="wd2" y="hd2"/>
                </a:cxn>
                <a:cxn ang="16200000">
                  <a:pos x="wd2" y="hd2"/>
                </a:cxn>
              </a:cxnLst>
              <a:rect l="0" t="0" r="r" b="b"/>
              <a:pathLst>
                <a:path w="21600" h="21600" extrusionOk="0">
                  <a:moveTo>
                    <a:pt x="17633" y="21600"/>
                  </a:moveTo>
                  <a:lnTo>
                    <a:pt x="12784" y="14400"/>
                  </a:lnTo>
                  <a:lnTo>
                    <a:pt x="14988" y="14400"/>
                  </a:lnTo>
                  <a:lnTo>
                    <a:pt x="14988" y="14400"/>
                  </a:lnTo>
                  <a:cubicBezTo>
                    <a:pt x="13898" y="5770"/>
                    <a:pt x="10984" y="0"/>
                    <a:pt x="7714" y="0"/>
                  </a:cubicBezTo>
                  <a:lnTo>
                    <a:pt x="12123" y="0"/>
                  </a:lnTo>
                  <a:cubicBezTo>
                    <a:pt x="15392" y="0"/>
                    <a:pt x="18306" y="5770"/>
                    <a:pt x="19396" y="14400"/>
                  </a:cubicBezTo>
                  <a:lnTo>
                    <a:pt x="21600" y="14400"/>
                  </a:lnTo>
                  <a:close/>
                  <a:moveTo>
                    <a:pt x="9919" y="900"/>
                  </a:moveTo>
                  <a:cubicBezTo>
                    <a:pt x="6649" y="3630"/>
                    <a:pt x="4408" y="12048"/>
                    <a:pt x="4408" y="21600"/>
                  </a:cubicBezTo>
                  <a:lnTo>
                    <a:pt x="0" y="21600"/>
                  </a:lnTo>
                  <a:cubicBezTo>
                    <a:pt x="0" y="9671"/>
                    <a:pt x="3454" y="0"/>
                    <a:pt x="7714" y="0"/>
                  </a:cubicBezTo>
                  <a:cubicBezTo>
                    <a:pt x="8461" y="0"/>
                    <a:pt x="9203" y="303"/>
                    <a:pt x="9919" y="900"/>
                  </a:cubicBezTo>
                  <a:close/>
                </a:path>
              </a:pathLst>
            </a:custGeom>
            <a:solidFill>
              <a:schemeClr val="accent2"/>
            </a:solidFill>
            <a:ln w="12700" cap="flat">
              <a:noFill/>
              <a:miter lim="400000"/>
            </a:ln>
            <a:effectLst/>
          </p:spPr>
          <p:txBody>
            <a:bodyPr wrap="square" lIns="45719" tIns="45719" rIns="45719" bIns="45719" numCol="1" anchor="ctr">
              <a:noAutofit/>
            </a:bodyPr>
            <a:lstStyle/>
            <a:p>
              <a:pPr>
                <a:defRPr>
                  <a:latin typeface="SimSun"/>
                  <a:ea typeface="SimSun"/>
                  <a:cs typeface="SimSun"/>
                  <a:sym typeface="SimSun"/>
                </a:defRPr>
              </a:pPr>
              <a:endParaRPr/>
            </a:p>
          </p:txBody>
        </p:sp>
        <p:sp>
          <p:nvSpPr>
            <p:cNvPr id="443" name="形状"/>
            <p:cNvSpPr/>
            <p:nvPr/>
          </p:nvSpPr>
          <p:spPr>
            <a:xfrm>
              <a:off x="0" y="0"/>
              <a:ext cx="388621" cy="288926"/>
            </a:xfrm>
            <a:custGeom>
              <a:avLst/>
              <a:gdLst/>
              <a:ahLst/>
              <a:cxnLst>
                <a:cxn ang="0">
                  <a:pos x="wd2" y="hd2"/>
                </a:cxn>
                <a:cxn ang="5400000">
                  <a:pos x="wd2" y="hd2"/>
                </a:cxn>
                <a:cxn ang="10800000">
                  <a:pos x="wd2" y="hd2"/>
                </a:cxn>
                <a:cxn ang="16200000">
                  <a:pos x="wd2" y="hd2"/>
                </a:cxn>
              </a:cxnLst>
              <a:rect l="0" t="0" r="r" b="b"/>
              <a:pathLst>
                <a:path w="21600" h="21600" extrusionOk="0">
                  <a:moveTo>
                    <a:pt x="21600" y="900"/>
                  </a:moveTo>
                  <a:cubicBezTo>
                    <a:pt x="14480" y="3630"/>
                    <a:pt x="9600" y="12048"/>
                    <a:pt x="9600" y="21600"/>
                  </a:cubicBezTo>
                  <a:lnTo>
                    <a:pt x="0" y="21600"/>
                  </a:lnTo>
                  <a:cubicBezTo>
                    <a:pt x="0" y="9671"/>
                    <a:pt x="7522" y="0"/>
                    <a:pt x="16800" y="0"/>
                  </a:cubicBezTo>
                  <a:cubicBezTo>
                    <a:pt x="18425" y="0"/>
                    <a:pt x="20042" y="303"/>
                    <a:pt x="21600" y="900"/>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a:defRPr>
                  <a:latin typeface="SimSun"/>
                  <a:ea typeface="SimSun"/>
                  <a:cs typeface="SimSun"/>
                  <a:sym typeface="SimSun"/>
                </a:defRPr>
              </a:pPr>
              <a:endParaRPr/>
            </a:p>
          </p:txBody>
        </p:sp>
      </p:grpSp>
      <p:grpSp>
        <p:nvGrpSpPr>
          <p:cNvPr id="454" name="组合 18"/>
          <p:cNvGrpSpPr/>
          <p:nvPr/>
        </p:nvGrpSpPr>
        <p:grpSpPr>
          <a:xfrm>
            <a:off x="7032697" y="629878"/>
            <a:ext cx="2001767" cy="1366314"/>
            <a:chOff x="0" y="0"/>
            <a:chExt cx="2001765" cy="1366313"/>
          </a:xfrm>
        </p:grpSpPr>
        <p:sp>
          <p:nvSpPr>
            <p:cNvPr id="445" name="Text Box 35"/>
            <p:cNvSpPr/>
            <p:nvPr/>
          </p:nvSpPr>
          <p:spPr>
            <a:xfrm>
              <a:off x="1685852" y="432158"/>
              <a:ext cx="315914" cy="484189"/>
            </a:xfrm>
            <a:prstGeom prst="rect">
              <a:avLst/>
            </a:prstGeom>
            <a:solidFill>
              <a:srgbClr val="FFFFFF"/>
            </a:solidFill>
            <a:ln w="12700" cap="flat">
              <a:noFill/>
              <a:miter lim="400000"/>
            </a:ln>
            <a:effectLst/>
          </p:spPr>
          <p:txBody>
            <a:bodyPr wrap="square" lIns="45719" tIns="45719" rIns="45719" bIns="45719" numCol="1" anchor="t">
              <a:noAutofit/>
            </a:bodyPr>
            <a:lstStyle/>
            <a:p>
              <a:pPr>
                <a:defRPr sz="1600" b="1">
                  <a:solidFill>
                    <a:srgbClr val="006600"/>
                  </a:solidFill>
                  <a:effectLst>
                    <a:outerShdw blurRad="38100" dist="38100" dir="2700000" rotWithShape="0">
                      <a:srgbClr val="C0C0C0"/>
                    </a:outerShdw>
                  </a:effectLst>
                </a:defRPr>
              </a:pPr>
              <a:endParaRPr/>
            </a:p>
          </p:txBody>
        </p:sp>
        <p:grpSp>
          <p:nvGrpSpPr>
            <p:cNvPr id="450" name="组合 16"/>
            <p:cNvGrpSpPr/>
            <p:nvPr/>
          </p:nvGrpSpPr>
          <p:grpSpPr>
            <a:xfrm>
              <a:off x="391934" y="122098"/>
              <a:ext cx="1038611" cy="1052649"/>
              <a:chOff x="0" y="0"/>
              <a:chExt cx="1038610" cy="1052647"/>
            </a:xfrm>
          </p:grpSpPr>
          <p:pic>
            <p:nvPicPr>
              <p:cNvPr id="446" name="图片 5" descr="图片 5"/>
              <p:cNvPicPr>
                <a:picLocks noChangeAspect="1"/>
              </p:cNvPicPr>
              <p:nvPr/>
            </p:nvPicPr>
            <p:blipFill>
              <a:blip r:embed="rId4"/>
              <a:stretch>
                <a:fillRect/>
              </a:stretch>
            </p:blipFill>
            <p:spPr>
              <a:xfrm>
                <a:off x="0" y="78573"/>
                <a:ext cx="327699" cy="463067"/>
              </a:xfrm>
              <a:prstGeom prst="rect">
                <a:avLst/>
              </a:prstGeom>
              <a:ln w="12700" cap="flat">
                <a:noFill/>
                <a:miter lim="400000"/>
              </a:ln>
              <a:effectLst/>
            </p:spPr>
          </p:pic>
          <p:pic>
            <p:nvPicPr>
              <p:cNvPr id="447" name="图片 6" descr="图片 6"/>
              <p:cNvPicPr>
                <a:picLocks noChangeAspect="1"/>
              </p:cNvPicPr>
              <p:nvPr/>
            </p:nvPicPr>
            <p:blipFill>
              <a:blip r:embed="rId5"/>
              <a:stretch>
                <a:fillRect/>
              </a:stretch>
            </p:blipFill>
            <p:spPr>
              <a:xfrm>
                <a:off x="523333" y="641310"/>
                <a:ext cx="428359" cy="411338"/>
              </a:xfrm>
              <a:prstGeom prst="rect">
                <a:avLst/>
              </a:prstGeom>
              <a:ln w="12700" cap="flat">
                <a:noFill/>
                <a:miter lim="400000"/>
              </a:ln>
              <a:effectLst/>
            </p:spPr>
          </p:pic>
          <p:pic>
            <p:nvPicPr>
              <p:cNvPr id="448" name="图片 8" descr="图片 8"/>
              <p:cNvPicPr>
                <a:picLocks noChangeAspect="1"/>
              </p:cNvPicPr>
              <p:nvPr/>
            </p:nvPicPr>
            <p:blipFill>
              <a:blip r:embed="rId6"/>
              <a:stretch>
                <a:fillRect/>
              </a:stretch>
            </p:blipFill>
            <p:spPr>
              <a:xfrm>
                <a:off x="9510" y="623682"/>
                <a:ext cx="390686" cy="392079"/>
              </a:xfrm>
              <a:prstGeom prst="rect">
                <a:avLst/>
              </a:prstGeom>
              <a:ln w="12700" cap="flat">
                <a:noFill/>
                <a:miter lim="400000"/>
              </a:ln>
              <a:effectLst/>
            </p:spPr>
          </p:pic>
          <p:pic>
            <p:nvPicPr>
              <p:cNvPr id="449" name="图片 14" descr="图片 14"/>
              <p:cNvPicPr>
                <a:picLocks noChangeAspect="1"/>
              </p:cNvPicPr>
              <p:nvPr/>
            </p:nvPicPr>
            <p:blipFill>
              <a:blip r:embed="rId7"/>
              <a:stretch>
                <a:fillRect/>
              </a:stretch>
            </p:blipFill>
            <p:spPr>
              <a:xfrm>
                <a:off x="376951" y="0"/>
                <a:ext cx="661660" cy="635235"/>
              </a:xfrm>
              <a:prstGeom prst="rect">
                <a:avLst/>
              </a:prstGeom>
              <a:ln w="12700" cap="flat">
                <a:noFill/>
                <a:miter lim="400000"/>
              </a:ln>
              <a:effectLst/>
            </p:spPr>
          </p:pic>
        </p:grpSp>
        <p:grpSp>
          <p:nvGrpSpPr>
            <p:cNvPr id="453" name="云形 15"/>
            <p:cNvGrpSpPr/>
            <p:nvPr/>
          </p:nvGrpSpPr>
          <p:grpSpPr>
            <a:xfrm>
              <a:off x="-1" y="-1"/>
              <a:ext cx="1789897" cy="1366315"/>
              <a:chOff x="0" y="0"/>
              <a:chExt cx="1789895" cy="1366313"/>
            </a:xfrm>
          </p:grpSpPr>
          <p:sp>
            <p:nvSpPr>
              <p:cNvPr id="451" name="形状"/>
              <p:cNvSpPr/>
              <p:nvPr/>
            </p:nvSpPr>
            <p:spPr>
              <a:xfrm>
                <a:off x="0" y="0"/>
                <a:ext cx="1789896" cy="1366314"/>
              </a:xfrm>
              <a:custGeom>
                <a:avLst/>
                <a:gdLst/>
                <a:ahLst/>
                <a:cxnLst>
                  <a:cxn ang="0">
                    <a:pos x="wd2" y="hd2"/>
                  </a:cxn>
                  <a:cxn ang="5400000">
                    <a:pos x="wd2" y="hd2"/>
                  </a:cxn>
                  <a:cxn ang="10800000">
                    <a:pos x="wd2" y="hd2"/>
                  </a:cxn>
                  <a:cxn ang="16200000">
                    <a:pos x="wd2" y="hd2"/>
                  </a:cxn>
                </a:cxnLst>
                <a:rect l="0" t="0" r="r" b="b"/>
                <a:pathLst>
                  <a:path w="20879" h="20684" extrusionOk="0">
                    <a:moveTo>
                      <a:pt x="1901" y="6800"/>
                    </a:moveTo>
                    <a:cubicBezTo>
                      <a:pt x="1658" y="4397"/>
                      <a:pt x="2907" y="2184"/>
                      <a:pt x="4691" y="1857"/>
                    </a:cubicBezTo>
                    <a:cubicBezTo>
                      <a:pt x="5414" y="1724"/>
                      <a:pt x="6149" y="1922"/>
                      <a:pt x="6778" y="2419"/>
                    </a:cubicBezTo>
                    <a:cubicBezTo>
                      <a:pt x="7445" y="725"/>
                      <a:pt x="9003" y="82"/>
                      <a:pt x="10259" y="981"/>
                    </a:cubicBezTo>
                    <a:cubicBezTo>
                      <a:pt x="10478" y="1139"/>
                      <a:pt x="10680" y="1338"/>
                      <a:pt x="10857" y="1573"/>
                    </a:cubicBezTo>
                    <a:lnTo>
                      <a:pt x="10857" y="1573"/>
                    </a:lnTo>
                    <a:cubicBezTo>
                      <a:pt x="11377" y="169"/>
                      <a:pt x="12642" y="-401"/>
                      <a:pt x="13683" y="299"/>
                    </a:cubicBezTo>
                    <a:cubicBezTo>
                      <a:pt x="13971" y="493"/>
                      <a:pt x="14223" y="774"/>
                      <a:pt x="14418" y="1119"/>
                    </a:cubicBezTo>
                    <a:cubicBezTo>
                      <a:pt x="15255" y="-209"/>
                      <a:pt x="16734" y="-373"/>
                      <a:pt x="17722" y="753"/>
                    </a:cubicBezTo>
                    <a:cubicBezTo>
                      <a:pt x="18137" y="1226"/>
                      <a:pt x="18417" y="1878"/>
                      <a:pt x="18513" y="2598"/>
                    </a:cubicBezTo>
                    <a:cubicBezTo>
                      <a:pt x="19885" y="3102"/>
                      <a:pt x="20694" y="5013"/>
                      <a:pt x="20321" y="6865"/>
                    </a:cubicBezTo>
                    <a:cubicBezTo>
                      <a:pt x="20289" y="7020"/>
                      <a:pt x="20250" y="7173"/>
                      <a:pt x="20203" y="7321"/>
                    </a:cubicBezTo>
                    <a:cubicBezTo>
                      <a:pt x="21303" y="9251"/>
                      <a:pt x="21034" y="12017"/>
                      <a:pt x="19601" y="13499"/>
                    </a:cubicBezTo>
                    <a:cubicBezTo>
                      <a:pt x="19156" y="13961"/>
                      <a:pt x="18629" y="14259"/>
                      <a:pt x="18072" y="14367"/>
                    </a:cubicBezTo>
                    <a:cubicBezTo>
                      <a:pt x="18072" y="16443"/>
                      <a:pt x="16822" y="18126"/>
                      <a:pt x="15280" y="18126"/>
                    </a:cubicBezTo>
                    <a:cubicBezTo>
                      <a:pt x="14757" y="18126"/>
                      <a:pt x="14245" y="17928"/>
                      <a:pt x="13801" y="17556"/>
                    </a:cubicBezTo>
                    <a:cubicBezTo>
                      <a:pt x="13280" y="19883"/>
                      <a:pt x="11460" y="21199"/>
                      <a:pt x="9738" y="20494"/>
                    </a:cubicBezTo>
                    <a:cubicBezTo>
                      <a:pt x="9016" y="20199"/>
                      <a:pt x="8392" y="19574"/>
                      <a:pt x="7973" y="18727"/>
                    </a:cubicBezTo>
                    <a:cubicBezTo>
                      <a:pt x="6209" y="20160"/>
                      <a:pt x="3920" y="19389"/>
                      <a:pt x="2859" y="17004"/>
                    </a:cubicBezTo>
                    <a:cubicBezTo>
                      <a:pt x="2846" y="16974"/>
                      <a:pt x="2833" y="16944"/>
                      <a:pt x="2820" y="16914"/>
                    </a:cubicBezTo>
                    <a:lnTo>
                      <a:pt x="2820" y="16914"/>
                    </a:lnTo>
                    <a:cubicBezTo>
                      <a:pt x="1666" y="17096"/>
                      <a:pt x="620" y="15986"/>
                      <a:pt x="485" y="14435"/>
                    </a:cubicBezTo>
                    <a:cubicBezTo>
                      <a:pt x="412" y="13608"/>
                      <a:pt x="615" y="12780"/>
                      <a:pt x="1038" y="12172"/>
                    </a:cubicBezTo>
                    <a:lnTo>
                      <a:pt x="1038" y="12172"/>
                    </a:lnTo>
                    <a:cubicBezTo>
                      <a:pt x="39" y="11379"/>
                      <a:pt x="-297" y="9639"/>
                      <a:pt x="288" y="8285"/>
                    </a:cubicBezTo>
                    <a:cubicBezTo>
                      <a:pt x="626" y="7504"/>
                      <a:pt x="1218" y="6988"/>
                      <a:pt x="1883" y="6895"/>
                    </a:cubicBezTo>
                    <a:close/>
                  </a:path>
                </a:pathLst>
              </a:custGeom>
              <a:noFill/>
              <a:ln w="9525" cap="flat">
                <a:solidFill>
                  <a:schemeClr val="accent6"/>
                </a:solidFill>
                <a:prstDash val="solid"/>
                <a:round/>
              </a:ln>
              <a:effectLst/>
            </p:spPr>
            <p:txBody>
              <a:bodyPr wrap="square" lIns="45719" tIns="45719" rIns="45719" bIns="45719" numCol="1" anchor="t">
                <a:noAutofit/>
              </a:bodyPr>
              <a:lstStyle/>
              <a:p>
                <a:pPr indent="609600">
                  <a:defRPr>
                    <a:latin typeface="SimSun"/>
                    <a:ea typeface="SimSun"/>
                    <a:cs typeface="SimSun"/>
                    <a:sym typeface="SimSun"/>
                  </a:defRPr>
                </a:pPr>
                <a:endParaRPr/>
              </a:p>
            </p:txBody>
          </p:sp>
          <p:sp>
            <p:nvSpPr>
              <p:cNvPr id="452" name="形状"/>
              <p:cNvSpPr/>
              <p:nvPr/>
            </p:nvSpPr>
            <p:spPr>
              <a:xfrm>
                <a:off x="90887" y="69475"/>
                <a:ext cx="1640142" cy="1160048"/>
              </a:xfrm>
              <a:custGeom>
                <a:avLst/>
                <a:gdLst/>
                <a:ahLst/>
                <a:cxnLst>
                  <a:cxn ang="0">
                    <a:pos x="wd2" y="hd2"/>
                  </a:cxn>
                  <a:cxn ang="5400000">
                    <a:pos x="wd2" y="hd2"/>
                  </a:cxn>
                  <a:cxn ang="10800000">
                    <a:pos x="wd2" y="hd2"/>
                  </a:cxn>
                  <a:cxn ang="16200000">
                    <a:pos x="wd2" y="hd2"/>
                  </a:cxn>
                </a:cxnLst>
                <a:rect l="0" t="0" r="r" b="b"/>
                <a:pathLst>
                  <a:path w="21600" h="21600" extrusionOk="0">
                    <a:moveTo>
                      <a:pt x="1380" y="14010"/>
                    </a:moveTo>
                    <a:cubicBezTo>
                      <a:pt x="899" y="14066"/>
                      <a:pt x="417" y="13902"/>
                      <a:pt x="0" y="13542"/>
                    </a:cubicBezTo>
                    <a:moveTo>
                      <a:pt x="2598" y="19137"/>
                    </a:moveTo>
                    <a:cubicBezTo>
                      <a:pt x="2405" y="19250"/>
                      <a:pt x="2202" y="19325"/>
                      <a:pt x="1994" y="19361"/>
                    </a:cubicBezTo>
                    <a:moveTo>
                      <a:pt x="7802" y="21600"/>
                    </a:moveTo>
                    <a:lnTo>
                      <a:pt x="7802" y="21600"/>
                    </a:lnTo>
                    <a:cubicBezTo>
                      <a:pt x="7657" y="21279"/>
                      <a:pt x="7535" y="20936"/>
                      <a:pt x="7438" y="20577"/>
                    </a:cubicBezTo>
                    <a:moveTo>
                      <a:pt x="14532" y="19050"/>
                    </a:moveTo>
                    <a:cubicBezTo>
                      <a:pt x="14510" y="19430"/>
                      <a:pt x="14462" y="19806"/>
                      <a:pt x="14386" y="20172"/>
                    </a:cubicBezTo>
                    <a:moveTo>
                      <a:pt x="17421" y="12116"/>
                    </a:moveTo>
                    <a:cubicBezTo>
                      <a:pt x="18505" y="12890"/>
                      <a:pt x="19193" y="14504"/>
                      <a:pt x="19193" y="16273"/>
                    </a:cubicBezTo>
                    <a:moveTo>
                      <a:pt x="21600" y="7649"/>
                    </a:moveTo>
                    <a:cubicBezTo>
                      <a:pt x="21423" y="8256"/>
                      <a:pt x="21153" y="8794"/>
                      <a:pt x="20811" y="9222"/>
                    </a:cubicBezTo>
                    <a:moveTo>
                      <a:pt x="19707" y="1814"/>
                    </a:moveTo>
                    <a:cubicBezTo>
                      <a:pt x="19737" y="2059"/>
                      <a:pt x="19751" y="2307"/>
                      <a:pt x="19749" y="2556"/>
                    </a:cubicBezTo>
                    <a:moveTo>
                      <a:pt x="14668" y="947"/>
                    </a:moveTo>
                    <a:cubicBezTo>
                      <a:pt x="14771" y="605"/>
                      <a:pt x="14907" y="286"/>
                      <a:pt x="15073" y="0"/>
                    </a:cubicBezTo>
                    <a:moveTo>
                      <a:pt x="10888" y="1399"/>
                    </a:moveTo>
                    <a:cubicBezTo>
                      <a:pt x="10930" y="1115"/>
                      <a:pt x="10996" y="841"/>
                      <a:pt x="11084" y="582"/>
                    </a:cubicBezTo>
                    <a:moveTo>
                      <a:pt x="6452" y="1676"/>
                    </a:moveTo>
                    <a:cubicBezTo>
                      <a:pt x="6709" y="1897"/>
                      <a:pt x="6947" y="2163"/>
                      <a:pt x="7160" y="2469"/>
                    </a:cubicBezTo>
                    <a:moveTo>
                      <a:pt x="1072" y="7905"/>
                    </a:moveTo>
                    <a:lnTo>
                      <a:pt x="1072" y="7905"/>
                    </a:lnTo>
                    <a:cubicBezTo>
                      <a:pt x="1016" y="7632"/>
                      <a:pt x="974" y="7353"/>
                      <a:pt x="948" y="7071"/>
                    </a:cubicBezTo>
                  </a:path>
                </a:pathLst>
              </a:custGeom>
              <a:noFill/>
              <a:ln w="9525" cap="flat">
                <a:solidFill>
                  <a:schemeClr val="accent6"/>
                </a:solidFill>
                <a:prstDash val="solid"/>
                <a:round/>
              </a:ln>
              <a:effectLst/>
            </p:spPr>
            <p:txBody>
              <a:bodyPr wrap="square" lIns="45719" tIns="45719" rIns="45719" bIns="45719" numCol="1" anchor="t">
                <a:noAutofit/>
              </a:bodyPr>
              <a:lstStyle/>
              <a:p>
                <a:pPr indent="609600">
                  <a:defRPr>
                    <a:latin typeface="SimSun"/>
                    <a:ea typeface="SimSun"/>
                    <a:cs typeface="SimSun"/>
                    <a:sym typeface="SimSun"/>
                  </a:defRPr>
                </a:pPr>
                <a:endParaRPr/>
              </a:p>
            </p:txBody>
          </p:sp>
        </p:grpSp>
      </p:gr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Rectangle 2"/>
          <p:cNvSpPr txBox="1"/>
          <p:nvPr/>
        </p:nvSpPr>
        <p:spPr>
          <a:xfrm>
            <a:off x="1034653" y="53067"/>
            <a:ext cx="9052562" cy="700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lvl="0">
              <a:lnSpc>
                <a:spcPct val="140000"/>
              </a:lnSpc>
              <a:spcBef>
                <a:spcPts val="1900"/>
              </a:spcBef>
              <a:defRPr sz="3200">
                <a:latin typeface="SimSun"/>
                <a:ea typeface="SimSun"/>
                <a:cs typeface="SimSun"/>
                <a:sym typeface="SimSun"/>
              </a:defRPr>
            </a:pPr>
            <a:r>
              <a:rPr kumimoji="0" lang="zh-CN" altLang="en-US" sz="3200" b="0"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SimSun"/>
                <a:ea typeface="SimSun"/>
                <a:sym typeface="SimSun"/>
              </a:rPr>
              <a:t> </a:t>
            </a:r>
            <a:r>
              <a:rPr kumimoji="0" lang="zh-CN" altLang="en-US" sz="32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 </a:t>
            </a:r>
            <a:r>
              <a:rPr kumimoji="0" lang="en-US" altLang="zh-CN" sz="32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1.2.3</a:t>
            </a:r>
            <a:r>
              <a:rPr kumimoji="0" lang="zh-CN" altLang="en-US" sz="32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  </a:t>
            </a:r>
            <a:r>
              <a:rPr lang="zh-CN" altLang="en-US" sz="3200" b="1" dirty="0">
                <a:solidFill>
                  <a:srgbClr val="000099"/>
                </a:solidFill>
                <a:effectLst>
                  <a:outerShdw blurRad="38100" dist="38100" dir="2700000" rotWithShape="0">
                    <a:srgbClr val="C0C0C0"/>
                  </a:outerShdw>
                </a:effectLst>
                <a:latin typeface="Times New Roman"/>
                <a:cs typeface="Times New Roman"/>
                <a:sym typeface="SimSun"/>
              </a:rPr>
              <a:t>数据库技术的术语</a:t>
            </a:r>
          </a:p>
        </p:txBody>
      </p:sp>
      <p:grpSp>
        <p:nvGrpSpPr>
          <p:cNvPr id="296" name="Group 8"/>
          <p:cNvGrpSpPr/>
          <p:nvPr/>
        </p:nvGrpSpPr>
        <p:grpSpPr>
          <a:xfrm>
            <a:off x="-1" y="-171450"/>
            <a:ext cx="8382001" cy="1296988"/>
            <a:chOff x="0" y="0"/>
            <a:chExt cx="8381999" cy="1296987"/>
          </a:xfrm>
        </p:grpSpPr>
        <p:sp>
          <p:nvSpPr>
            <p:cNvPr id="290" name="Rectangle 9"/>
            <p:cNvSpPr/>
            <p:nvPr/>
          </p:nvSpPr>
          <p:spPr>
            <a:xfrm>
              <a:off x="285220" y="133601"/>
              <a:ext cx="622830" cy="583945"/>
            </a:xfrm>
            <a:prstGeom prst="rect">
              <a:avLst/>
            </a:prstGeom>
            <a:gradFill flip="none" rotWithShape="1">
              <a:gsLst>
                <a:gs pos="0">
                  <a:srgbClr val="0000FF"/>
                </a:gs>
                <a:gs pos="100000">
                  <a:schemeClr val="accent1"/>
                </a:gs>
              </a:gsLst>
              <a:lin ang="54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91" name="Rectangle 10"/>
            <p:cNvSpPr/>
            <p:nvPr/>
          </p:nvSpPr>
          <p:spPr>
            <a:xfrm>
              <a:off x="406003" y="652997"/>
              <a:ext cx="414735" cy="585446"/>
            </a:xfrm>
            <a:prstGeom prst="rect">
              <a:avLst/>
            </a:prstGeom>
            <a:solidFill>
              <a:srgbClr val="FFFF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92" name="Rectangle 11"/>
            <p:cNvSpPr/>
            <p:nvPr/>
          </p:nvSpPr>
          <p:spPr>
            <a:xfrm>
              <a:off x="769805" y="652997"/>
              <a:ext cx="360892" cy="585446"/>
            </a:xfrm>
            <a:prstGeom prst="rect">
              <a:avLst/>
            </a:prstGeom>
            <a:gradFill flip="none" rotWithShape="1">
              <a:gsLst>
                <a:gs pos="0">
                  <a:srgbClr val="FFFF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93" name="Rectangle 12"/>
            <p:cNvSpPr/>
            <p:nvPr/>
          </p:nvSpPr>
          <p:spPr>
            <a:xfrm>
              <a:off x="-1" y="432329"/>
              <a:ext cx="628651" cy="576440"/>
            </a:xfrm>
            <a:prstGeom prst="rect">
              <a:avLst/>
            </a:prstGeom>
            <a:gradFill flip="none" rotWithShape="1">
              <a:gsLst>
                <a:gs pos="0">
                  <a:srgbClr val="0000FF"/>
                </a:gs>
                <a:gs pos="100000">
                  <a:srgbClr val="FF0033"/>
                </a:gs>
              </a:gsLst>
              <a:lin ang="1890000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94" name="Rectangle 13"/>
            <p:cNvSpPr/>
            <p:nvPr/>
          </p:nvSpPr>
          <p:spPr>
            <a:xfrm>
              <a:off x="622829" y="0"/>
              <a:ext cx="32015" cy="1296988"/>
            </a:xfrm>
            <a:prstGeom prst="rect">
              <a:avLst/>
            </a:prstGeom>
            <a:solidFill>
              <a:srgbClr val="000000"/>
            </a:soli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sp>
          <p:nvSpPr>
            <p:cNvPr id="295" name="Rectangle 14"/>
            <p:cNvSpPr/>
            <p:nvPr/>
          </p:nvSpPr>
          <p:spPr>
            <a:xfrm>
              <a:off x="309959" y="974242"/>
              <a:ext cx="8072041" cy="39030"/>
            </a:xfrm>
            <a:prstGeom prst="rect">
              <a:avLst/>
            </a:prstGeom>
            <a:gradFill flip="none" rotWithShape="1">
              <a:gsLst>
                <a:gs pos="0">
                  <a:srgbClr val="000000"/>
                </a:gs>
                <a:gs pos="100000">
                  <a:srgbClr val="0000FF"/>
                </a:gs>
              </a:gsLst>
              <a:lin ang="0" scaled="0"/>
            </a:gradFill>
            <a:ln w="12700" cap="flat">
              <a:noFill/>
              <a:miter lim="400000"/>
            </a:ln>
            <a:effectLst/>
          </p:spPr>
          <p:txBody>
            <a:bodyPr wrap="square" lIns="45719" tIns="45719" rIns="45719" bIns="45719" numCol="1" anchor="ctr">
              <a:noAutofit/>
            </a:bodyPr>
            <a:lstStyle/>
            <a:p>
              <a:pPr algn="ctr">
                <a:lnSpc>
                  <a:spcPct val="100000"/>
                </a:lnSpc>
                <a:defRPr sz="2400">
                  <a:solidFill>
                    <a:srgbClr val="FFFFFF"/>
                  </a:solidFill>
                  <a:latin typeface="Tahoma"/>
                  <a:ea typeface="Tahoma"/>
                  <a:cs typeface="Tahoma"/>
                  <a:sym typeface="Tahoma"/>
                </a:defRPr>
              </a:pPr>
              <a:endParaRPr/>
            </a:p>
          </p:txBody>
        </p:sp>
      </p:grpSp>
      <p:sp>
        <p:nvSpPr>
          <p:cNvPr id="20" name="Rectangle 4">
            <a:extLst>
              <a:ext uri="{FF2B5EF4-FFF2-40B4-BE49-F238E27FC236}">
                <a16:creationId xmlns:a16="http://schemas.microsoft.com/office/drawing/2014/main" id="{77FEEC62-E543-854E-8F4C-5129D7B8D7BD}"/>
              </a:ext>
            </a:extLst>
          </p:cNvPr>
          <p:cNvSpPr txBox="1"/>
          <p:nvPr/>
        </p:nvSpPr>
        <p:spPr>
          <a:xfrm>
            <a:off x="406002" y="1885270"/>
            <a:ext cx="5723575" cy="25806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indent="609600">
              <a:lnSpc>
                <a:spcPct val="200000"/>
              </a:lnSpc>
              <a:defRPr>
                <a:latin typeface="SimSun"/>
                <a:ea typeface="SimSun"/>
                <a:cs typeface="SimSun"/>
                <a:sym typeface="SimSun"/>
              </a:defRPr>
            </a:pPr>
            <a:r>
              <a:rPr dirty="0" err="1"/>
              <a:t>数据库</a:t>
            </a:r>
            <a:r>
              <a:rPr dirty="0"/>
              <a:t>(DB)</a:t>
            </a:r>
          </a:p>
          <a:p>
            <a:pPr indent="609600">
              <a:lnSpc>
                <a:spcPct val="200000"/>
              </a:lnSpc>
              <a:defRPr>
                <a:latin typeface="SimSun"/>
                <a:ea typeface="SimSun"/>
                <a:cs typeface="SimSun"/>
                <a:sym typeface="SimSun"/>
              </a:defRPr>
            </a:pPr>
            <a:r>
              <a:rPr dirty="0" err="1"/>
              <a:t>数据库管理系统（DBMS</a:t>
            </a:r>
            <a:r>
              <a:rPr dirty="0"/>
              <a:t>）</a:t>
            </a:r>
          </a:p>
          <a:p>
            <a:pPr indent="609600">
              <a:lnSpc>
                <a:spcPct val="200000"/>
              </a:lnSpc>
              <a:defRPr>
                <a:latin typeface="SimSun"/>
                <a:ea typeface="SimSun"/>
                <a:cs typeface="SimSun"/>
                <a:sym typeface="SimSun"/>
              </a:defRPr>
            </a:pPr>
            <a:r>
              <a:rPr dirty="0" err="1"/>
              <a:t>数据库技术</a:t>
            </a:r>
            <a:r>
              <a:rPr dirty="0"/>
              <a:t> </a:t>
            </a:r>
          </a:p>
          <a:p>
            <a:pPr indent="609600">
              <a:lnSpc>
                <a:spcPct val="200000"/>
              </a:lnSpc>
              <a:defRPr>
                <a:latin typeface="SimSun"/>
                <a:ea typeface="SimSun"/>
                <a:cs typeface="SimSun"/>
                <a:sym typeface="SimSun"/>
              </a:defRPr>
            </a:pPr>
            <a:r>
              <a:rPr dirty="0" err="1"/>
              <a:t>数据库系统（DBS</a:t>
            </a:r>
            <a:r>
              <a:rPr dirty="0"/>
              <a:t>）  </a:t>
            </a:r>
          </a:p>
        </p:txBody>
      </p:sp>
      <p:grpSp>
        <p:nvGrpSpPr>
          <p:cNvPr id="28" name="Group 6">
            <a:extLst>
              <a:ext uri="{FF2B5EF4-FFF2-40B4-BE49-F238E27FC236}">
                <a16:creationId xmlns:a16="http://schemas.microsoft.com/office/drawing/2014/main" id="{6B8207F6-4B61-FE4E-9872-BBB6090A84D3}"/>
              </a:ext>
            </a:extLst>
          </p:cNvPr>
          <p:cNvGrpSpPr/>
          <p:nvPr/>
        </p:nvGrpSpPr>
        <p:grpSpPr>
          <a:xfrm>
            <a:off x="5223622" y="2521482"/>
            <a:ext cx="2857503" cy="2808289"/>
            <a:chOff x="0" y="0"/>
            <a:chExt cx="2857502" cy="2808288"/>
          </a:xfrm>
        </p:grpSpPr>
        <p:grpSp>
          <p:nvGrpSpPr>
            <p:cNvPr id="29" name="AutoShape 7">
              <a:extLst>
                <a:ext uri="{FF2B5EF4-FFF2-40B4-BE49-F238E27FC236}">
                  <a16:creationId xmlns:a16="http://schemas.microsoft.com/office/drawing/2014/main" id="{B541A921-3FFB-1645-ACAB-371AE2BC3D70}"/>
                </a:ext>
              </a:extLst>
            </p:cNvPr>
            <p:cNvGrpSpPr/>
            <p:nvPr/>
          </p:nvGrpSpPr>
          <p:grpSpPr>
            <a:xfrm>
              <a:off x="0" y="0"/>
              <a:ext cx="2857502" cy="2808288"/>
              <a:chOff x="0" y="0"/>
              <a:chExt cx="2857501" cy="2808287"/>
            </a:xfrm>
          </p:grpSpPr>
          <p:sp>
            <p:nvSpPr>
              <p:cNvPr id="34" name="形状">
                <a:extLst>
                  <a:ext uri="{FF2B5EF4-FFF2-40B4-BE49-F238E27FC236}">
                    <a16:creationId xmlns:a16="http://schemas.microsoft.com/office/drawing/2014/main" id="{45F2C8E7-2455-AD4E-AA3F-5171AC40098E}"/>
                  </a:ext>
                </a:extLst>
              </p:cNvPr>
              <p:cNvSpPr/>
              <p:nvPr/>
            </p:nvSpPr>
            <p:spPr>
              <a:xfrm>
                <a:off x="0" y="0"/>
                <a:ext cx="2857501" cy="2808287"/>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FF"/>
              </a:solidFill>
              <a:ln w="9525" cap="flat">
                <a:solidFill>
                  <a:srgbClr val="000000"/>
                </a:solidFill>
                <a:prstDash val="solid"/>
                <a:round/>
              </a:ln>
              <a:effectLst/>
            </p:spPr>
            <p:txBody>
              <a:bodyPr wrap="square" lIns="45719" tIns="45719" rIns="45719" bIns="45719" numCol="1" anchor="t">
                <a:noAutofit/>
              </a:bodyPr>
              <a:lstStyle/>
              <a:p>
                <a:pPr algn="ctr">
                  <a:lnSpc>
                    <a:spcPct val="100000"/>
                  </a:lnSpc>
                  <a:defRPr>
                    <a:latin typeface="SimSun"/>
                    <a:ea typeface="SimSun"/>
                    <a:cs typeface="SimSun"/>
                    <a:sym typeface="SimSun"/>
                  </a:defRPr>
                </a:pPr>
                <a:endParaRPr/>
              </a:p>
            </p:txBody>
          </p:sp>
          <p:sp>
            <p:nvSpPr>
              <p:cNvPr id="35" name="DBMS">
                <a:extLst>
                  <a:ext uri="{FF2B5EF4-FFF2-40B4-BE49-F238E27FC236}">
                    <a16:creationId xmlns:a16="http://schemas.microsoft.com/office/drawing/2014/main" id="{CBCFA70D-71D2-8141-8749-1665FFAA9FCB}"/>
                  </a:ext>
                </a:extLst>
              </p:cNvPr>
              <p:cNvSpPr txBox="1"/>
              <p:nvPr/>
            </p:nvSpPr>
            <p:spPr>
              <a:xfrm>
                <a:off x="514640" y="273401"/>
                <a:ext cx="1828218" cy="28131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lnSpc>
                    <a:spcPct val="100000"/>
                  </a:lnSpc>
                  <a:defRPr sz="2000" b="1"/>
                </a:lvl1pPr>
              </a:lstStyle>
              <a:p>
                <a:r>
                  <a:rPr dirty="0"/>
                  <a:t>DBMS</a:t>
                </a:r>
              </a:p>
            </p:txBody>
          </p:sp>
        </p:grpSp>
        <p:grpSp>
          <p:nvGrpSpPr>
            <p:cNvPr id="30" name="AutoShape 8">
              <a:extLst>
                <a:ext uri="{FF2B5EF4-FFF2-40B4-BE49-F238E27FC236}">
                  <a16:creationId xmlns:a16="http://schemas.microsoft.com/office/drawing/2014/main" id="{3026D62F-A617-7448-A44A-BD8426BC30FE}"/>
                </a:ext>
              </a:extLst>
            </p:cNvPr>
            <p:cNvGrpSpPr/>
            <p:nvPr/>
          </p:nvGrpSpPr>
          <p:grpSpPr>
            <a:xfrm>
              <a:off x="537764" y="624769"/>
              <a:ext cx="1785941" cy="1741944"/>
              <a:chOff x="-1" y="0"/>
              <a:chExt cx="1785939" cy="1741943"/>
            </a:xfrm>
          </p:grpSpPr>
          <p:sp>
            <p:nvSpPr>
              <p:cNvPr id="32" name="形状">
                <a:extLst>
                  <a:ext uri="{FF2B5EF4-FFF2-40B4-BE49-F238E27FC236}">
                    <a16:creationId xmlns:a16="http://schemas.microsoft.com/office/drawing/2014/main" id="{0E71548F-4F13-854A-9EF8-68818CD1C0AD}"/>
                  </a:ext>
                </a:extLst>
              </p:cNvPr>
              <p:cNvSpPr/>
              <p:nvPr/>
            </p:nvSpPr>
            <p:spPr>
              <a:xfrm>
                <a:off x="-1" y="0"/>
                <a:ext cx="1785939" cy="1741943"/>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FF"/>
              </a:solidFill>
              <a:ln w="9525" cap="flat">
                <a:solidFill>
                  <a:srgbClr val="000000"/>
                </a:solidFill>
                <a:prstDash val="solid"/>
                <a:round/>
              </a:ln>
              <a:effectLst/>
            </p:spPr>
            <p:txBody>
              <a:bodyPr wrap="square" lIns="45719" tIns="45719" rIns="45719" bIns="45719" numCol="1" anchor="t">
                <a:noAutofit/>
              </a:bodyPr>
              <a:lstStyle/>
              <a:p>
                <a:pPr algn="ctr">
                  <a:lnSpc>
                    <a:spcPct val="100000"/>
                  </a:lnSpc>
                  <a:defRPr>
                    <a:latin typeface="SimSun"/>
                    <a:ea typeface="SimSun"/>
                    <a:cs typeface="SimSun"/>
                    <a:sym typeface="SimSun"/>
                  </a:defRPr>
                </a:pPr>
                <a:endParaRPr/>
              </a:p>
            </p:txBody>
          </p:sp>
          <p:sp>
            <p:nvSpPr>
              <p:cNvPr id="33" name="OS">
                <a:extLst>
                  <a:ext uri="{FF2B5EF4-FFF2-40B4-BE49-F238E27FC236}">
                    <a16:creationId xmlns:a16="http://schemas.microsoft.com/office/drawing/2014/main" id="{9259FB9A-3DB1-4941-AFDE-82EFFB50C757}"/>
                  </a:ext>
                </a:extLst>
              </p:cNvPr>
              <p:cNvSpPr txBox="1"/>
              <p:nvPr/>
            </p:nvSpPr>
            <p:spPr>
              <a:xfrm>
                <a:off x="260717" y="128661"/>
                <a:ext cx="1253365" cy="28131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lnSpc>
                    <a:spcPct val="100000"/>
                  </a:lnSpc>
                  <a:defRPr sz="2000" b="1"/>
                </a:lvl1pPr>
              </a:lstStyle>
              <a:p>
                <a:r>
                  <a:rPr dirty="0"/>
                  <a:t>OS</a:t>
                </a:r>
              </a:p>
            </p:txBody>
          </p:sp>
        </p:grpSp>
        <p:sp>
          <p:nvSpPr>
            <p:cNvPr id="31" name="AutoShape 9">
              <a:extLst>
                <a:ext uri="{FF2B5EF4-FFF2-40B4-BE49-F238E27FC236}">
                  <a16:creationId xmlns:a16="http://schemas.microsoft.com/office/drawing/2014/main" id="{FD373932-3BB4-9945-9579-7EED67AD68D1}"/>
                </a:ext>
              </a:extLst>
            </p:cNvPr>
            <p:cNvSpPr txBox="1"/>
            <p:nvPr/>
          </p:nvSpPr>
          <p:spPr>
            <a:xfrm>
              <a:off x="1176180" y="1253121"/>
              <a:ext cx="505140" cy="28131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lnSpc>
                  <a:spcPct val="100000"/>
                </a:lnSpc>
                <a:defRPr sz="2000" b="1">
                  <a:solidFill>
                    <a:srgbClr val="FFFFFF"/>
                  </a:solidFill>
                </a:defRPr>
              </a:lvl1pPr>
            </a:lstStyle>
            <a:p>
              <a:r>
                <a:t>DB</a:t>
              </a:r>
            </a:p>
          </p:txBody>
        </p:sp>
      </p:grpSp>
      <p:sp>
        <p:nvSpPr>
          <p:cNvPr id="36" name="OS">
            <a:extLst>
              <a:ext uri="{FF2B5EF4-FFF2-40B4-BE49-F238E27FC236}">
                <a16:creationId xmlns:a16="http://schemas.microsoft.com/office/drawing/2014/main" id="{0E285FA8-507E-9A40-84EB-17902D332645}"/>
              </a:ext>
            </a:extLst>
          </p:cNvPr>
          <p:cNvSpPr txBox="1"/>
          <p:nvPr/>
        </p:nvSpPr>
        <p:spPr>
          <a:xfrm>
            <a:off x="6042819" y="3865511"/>
            <a:ext cx="1253367" cy="30777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lnSpc>
                <a:spcPct val="100000"/>
              </a:lnSpc>
              <a:defRPr sz="2000" b="1"/>
            </a:lvl1pPr>
          </a:lstStyle>
          <a:p>
            <a:r>
              <a:rPr lang="en-US" altLang="zh-CN" dirty="0"/>
              <a:t>DB</a:t>
            </a:r>
            <a:endParaRPr dirty="0"/>
          </a:p>
        </p:txBody>
      </p:sp>
      <p:sp>
        <p:nvSpPr>
          <p:cNvPr id="37" name="OS">
            <a:extLst>
              <a:ext uri="{FF2B5EF4-FFF2-40B4-BE49-F238E27FC236}">
                <a16:creationId xmlns:a16="http://schemas.microsoft.com/office/drawing/2014/main" id="{12F119A1-86DA-9941-87BA-0D7C2430F8C5}"/>
              </a:ext>
            </a:extLst>
          </p:cNvPr>
          <p:cNvSpPr txBox="1"/>
          <p:nvPr/>
        </p:nvSpPr>
        <p:spPr>
          <a:xfrm>
            <a:off x="6008001" y="2120406"/>
            <a:ext cx="1253367" cy="30777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lnSpc>
                <a:spcPct val="100000"/>
              </a:lnSpc>
              <a:defRPr sz="2000" b="1"/>
            </a:lvl1pPr>
          </a:lstStyle>
          <a:p>
            <a:r>
              <a:rPr lang="zh-CN" altLang="en-US" dirty="0"/>
              <a:t>用户</a:t>
            </a:r>
            <a:endParaRPr dirty="0"/>
          </a:p>
        </p:txBody>
      </p:sp>
      <p:pic>
        <p:nvPicPr>
          <p:cNvPr id="38" name="图片 37">
            <a:extLst>
              <a:ext uri="{FF2B5EF4-FFF2-40B4-BE49-F238E27FC236}">
                <a16:creationId xmlns:a16="http://schemas.microsoft.com/office/drawing/2014/main" id="{BD9FA3E9-4DB1-D045-94C9-6CF7AC9C0D51}"/>
              </a:ext>
            </a:extLst>
          </p:cNvPr>
          <p:cNvPicPr>
            <a:picLocks noChangeAspect="1"/>
          </p:cNvPicPr>
          <p:nvPr/>
        </p:nvPicPr>
        <p:blipFill rotWithShape="1">
          <a:blip r:embed="rId2"/>
          <a:srcRect l="676" t="20973" r="54062" b="13716"/>
          <a:stretch/>
        </p:blipFill>
        <p:spPr>
          <a:xfrm>
            <a:off x="349850" y="2152967"/>
            <a:ext cx="577970" cy="550431"/>
          </a:xfrm>
          <a:prstGeom prst="rect">
            <a:avLst/>
          </a:prstGeom>
        </p:spPr>
      </p:pic>
    </p:spTree>
    <p:extLst>
      <p:ext uri="{BB962C8B-B14F-4D97-AF65-F5344CB8AC3E}">
        <p14:creationId xmlns:p14="http://schemas.microsoft.com/office/powerpoint/2010/main" val="118629287"/>
      </p:ext>
    </p:extLst>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 name="Rectangle 3"/>
          <p:cNvSpPr txBox="1">
            <a:spLocks noGrp="1"/>
          </p:cNvSpPr>
          <p:nvPr>
            <p:ph type="body" idx="1"/>
          </p:nvPr>
        </p:nvSpPr>
        <p:spPr>
          <a:xfrm>
            <a:off x="641267" y="1042409"/>
            <a:ext cx="7730837" cy="4321176"/>
          </a:xfrm>
          <a:prstGeom prst="rect">
            <a:avLst/>
          </a:prstGeom>
        </p:spPr>
        <p:txBody>
          <a:bodyPr>
            <a:normAutofit fontScale="92500" lnSpcReduction="10000"/>
          </a:bodyPr>
          <a:lstStyle/>
          <a:p>
            <a:pPr latinLnBrk="1">
              <a:lnSpc>
                <a:spcPct val="200000"/>
              </a:lnSpc>
              <a:spcBef>
                <a:spcPts val="0"/>
              </a:spcBef>
              <a:buSzTx/>
              <a:buFont typeface="Wingdings" pitchFamily="2" charset="2"/>
              <a:buChar char="u"/>
              <a:defRPr b="1">
                <a:solidFill>
                  <a:srgbClr val="000099"/>
                </a:solidFill>
              </a:defRPr>
            </a:pPr>
            <a:r>
              <a:rPr dirty="0"/>
              <a:t> </a:t>
            </a:r>
            <a:r>
              <a:rPr sz="3000" b="1" dirty="0" err="1">
                <a:solidFill>
                  <a:srgbClr val="FF0000"/>
                </a:solidFill>
                <a:latin typeface="SimSun"/>
                <a:ea typeface="SimSun"/>
                <a:sym typeface="SimSun"/>
              </a:rPr>
              <a:t>数据库</a:t>
            </a:r>
            <a:r>
              <a:rPr sz="3000" b="1" dirty="0">
                <a:solidFill>
                  <a:srgbClr val="FF0000"/>
                </a:solidFill>
                <a:latin typeface="SimSun"/>
                <a:ea typeface="SimSun"/>
              </a:rPr>
              <a:t>(DB)</a:t>
            </a:r>
            <a:r>
              <a:rPr b="0" dirty="0" err="1">
                <a:solidFill>
                  <a:srgbClr val="000000"/>
                </a:solidFill>
                <a:latin typeface="SimSun"/>
                <a:ea typeface="SimSun"/>
                <a:cs typeface="SimSun"/>
                <a:sym typeface="SimSun"/>
              </a:rPr>
              <a:t>是长期存储在计算机内、有组织的、统一管理的相关数据的集合</a:t>
            </a:r>
            <a:r>
              <a:rPr lang="zh-CN" altLang="en-US" dirty="0">
                <a:latin typeface="SimSun"/>
                <a:ea typeface="SimSun"/>
                <a:cs typeface="SimSun"/>
                <a:sym typeface="SimSun"/>
              </a:rPr>
              <a:t>。</a:t>
            </a:r>
            <a:endParaRPr lang="en-US" altLang="zh-CN" dirty="0">
              <a:latin typeface="SimSun"/>
              <a:ea typeface="SimSun"/>
              <a:cs typeface="SimSun"/>
              <a:sym typeface="SimSun"/>
            </a:endParaRPr>
          </a:p>
          <a:p>
            <a:pPr latinLnBrk="1">
              <a:lnSpc>
                <a:spcPct val="200000"/>
              </a:lnSpc>
              <a:spcBef>
                <a:spcPts val="0"/>
              </a:spcBef>
              <a:buSzTx/>
              <a:buFont typeface="Wingdings" pitchFamily="2" charset="2"/>
              <a:buChar char="u"/>
              <a:defRPr b="1">
                <a:solidFill>
                  <a:srgbClr val="000099"/>
                </a:solidFill>
              </a:defRPr>
            </a:pPr>
            <a:r>
              <a:rPr dirty="0" err="1">
                <a:solidFill>
                  <a:srgbClr val="000000"/>
                </a:solidFill>
              </a:rPr>
              <a:t>DB</a:t>
            </a:r>
            <a:r>
              <a:rPr b="0" dirty="0" err="1">
                <a:solidFill>
                  <a:srgbClr val="000000"/>
                </a:solidFill>
                <a:latin typeface="SimSun"/>
                <a:ea typeface="SimSun"/>
                <a:cs typeface="SimSun"/>
                <a:sym typeface="SimSun"/>
              </a:rPr>
              <a:t>能为各种用户共享，具有较小冗余度、数据间联系紧密而又有较高的数据独立性等特点</a:t>
            </a:r>
            <a:r>
              <a:rPr b="0" dirty="0">
                <a:solidFill>
                  <a:srgbClr val="000000"/>
                </a:solidFill>
                <a:latin typeface="SimSun"/>
                <a:ea typeface="SimSun"/>
                <a:cs typeface="SimSun"/>
                <a:sym typeface="SimSun"/>
              </a:rPr>
              <a:t>。 </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 name="Rectangle 2"/>
          <p:cNvSpPr txBox="1"/>
          <p:nvPr/>
        </p:nvSpPr>
        <p:spPr>
          <a:xfrm>
            <a:off x="225107" y="692150"/>
            <a:ext cx="8693786" cy="51081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457200" indent="-457200">
              <a:lnSpc>
                <a:spcPct val="200000"/>
              </a:lnSpc>
              <a:buFont typeface="Wingdings" pitchFamily="2" charset="2"/>
              <a:buChar char="u"/>
              <a:defRPr>
                <a:solidFill>
                  <a:srgbClr val="000099"/>
                </a:solidFill>
                <a:latin typeface="SimSun"/>
                <a:ea typeface="SimSun"/>
                <a:cs typeface="SimSun"/>
                <a:sym typeface="SimSun"/>
              </a:defRPr>
            </a:pPr>
            <a:r>
              <a:rPr b="1" dirty="0">
                <a:solidFill>
                  <a:srgbClr val="FF0000"/>
                </a:solidFill>
              </a:rPr>
              <a:t>数据库管理系统DBMS</a:t>
            </a:r>
            <a:r>
              <a:rPr dirty="0"/>
              <a:t>是位于</a:t>
            </a:r>
            <a:r>
              <a:rPr dirty="0">
                <a:solidFill>
                  <a:srgbClr val="000000"/>
                </a:solidFill>
              </a:rPr>
              <a:t>用户与操作系统（OS）之间的一层</a:t>
            </a:r>
            <a:r>
              <a:rPr b="1" dirty="0">
                <a:solidFill>
                  <a:srgbClr val="000000"/>
                </a:solidFill>
              </a:rPr>
              <a:t>数据管理软件</a:t>
            </a:r>
            <a:r>
              <a:rPr dirty="0">
                <a:solidFill>
                  <a:srgbClr val="000000"/>
                </a:solidFill>
              </a:rPr>
              <a:t>，它为用户或应用程序提供访问DB的方法，包括DB的建立、查询、更新及各种数据控制。</a:t>
            </a:r>
          </a:p>
          <a:p>
            <a:pPr marL="457200" indent="-457200">
              <a:lnSpc>
                <a:spcPct val="200000"/>
              </a:lnSpc>
              <a:buFont typeface="Wingdings" pitchFamily="2" charset="2"/>
              <a:buChar char="u"/>
              <a:defRPr>
                <a:solidFill>
                  <a:srgbClr val="000099"/>
                </a:solidFill>
                <a:latin typeface="SimSun"/>
                <a:ea typeface="SimSun"/>
                <a:cs typeface="SimSun"/>
                <a:sym typeface="SimSun"/>
              </a:defRPr>
            </a:pPr>
            <a:r>
              <a:rPr dirty="0" err="1"/>
              <a:t>DBMS总是基于某种数据模型，</a:t>
            </a:r>
            <a:r>
              <a:rPr dirty="0" err="1">
                <a:solidFill>
                  <a:srgbClr val="000000"/>
                </a:solidFill>
              </a:rPr>
              <a:t>可以分为</a:t>
            </a:r>
            <a:r>
              <a:rPr dirty="0">
                <a:solidFill>
                  <a:srgbClr val="000000"/>
                </a:solidFill>
              </a:rPr>
              <a:t>：</a:t>
            </a:r>
          </a:p>
          <a:p>
            <a:pPr lvl="1" indent="0">
              <a:lnSpc>
                <a:spcPct val="200000"/>
              </a:lnSpc>
              <a:defRPr>
                <a:latin typeface="SimSun"/>
                <a:ea typeface="SimSun"/>
                <a:cs typeface="SimSun"/>
                <a:sym typeface="SimSun"/>
              </a:defRPr>
            </a:pPr>
            <a:r>
              <a:rPr lang="zh-CN" altLang="en-US" dirty="0"/>
              <a:t>   </a:t>
            </a:r>
            <a:r>
              <a:rPr dirty="0" err="1"/>
              <a:t>层次型、网状型、关系型和面向对象型等</a:t>
            </a:r>
            <a:r>
              <a:rPr dirty="0"/>
              <a:t>。</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Rectangle 4"/>
          <p:cNvSpPr txBox="1"/>
          <p:nvPr/>
        </p:nvSpPr>
        <p:spPr>
          <a:xfrm>
            <a:off x="441007" y="404813"/>
            <a:ext cx="5237799" cy="447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indent="609600">
              <a:lnSpc>
                <a:spcPct val="120000"/>
              </a:lnSpc>
              <a:defRPr>
                <a:solidFill>
                  <a:srgbClr val="000099"/>
                </a:solidFill>
                <a:latin typeface="SimSun"/>
                <a:ea typeface="SimSun"/>
                <a:cs typeface="SimSun"/>
                <a:sym typeface="SimSun"/>
              </a:defRPr>
            </a:pPr>
            <a:r>
              <a:t>数据库管理系统DBMS：</a:t>
            </a:r>
          </a:p>
        </p:txBody>
      </p:sp>
      <p:grpSp>
        <p:nvGrpSpPr>
          <p:cNvPr id="471" name="Group 6"/>
          <p:cNvGrpSpPr/>
          <p:nvPr/>
        </p:nvGrpSpPr>
        <p:grpSpPr>
          <a:xfrm>
            <a:off x="5386908" y="510029"/>
            <a:ext cx="2857503" cy="2808289"/>
            <a:chOff x="0" y="0"/>
            <a:chExt cx="2857502" cy="2808288"/>
          </a:xfrm>
        </p:grpSpPr>
        <p:grpSp>
          <p:nvGrpSpPr>
            <p:cNvPr id="466" name="AutoShape 7"/>
            <p:cNvGrpSpPr/>
            <p:nvPr/>
          </p:nvGrpSpPr>
          <p:grpSpPr>
            <a:xfrm>
              <a:off x="0" y="0"/>
              <a:ext cx="2857502" cy="2808288"/>
              <a:chOff x="0" y="0"/>
              <a:chExt cx="2857501" cy="2808287"/>
            </a:xfrm>
          </p:grpSpPr>
          <p:sp>
            <p:nvSpPr>
              <p:cNvPr id="464" name="形状"/>
              <p:cNvSpPr/>
              <p:nvPr/>
            </p:nvSpPr>
            <p:spPr>
              <a:xfrm>
                <a:off x="0" y="0"/>
                <a:ext cx="2857501" cy="2808287"/>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FF"/>
              </a:solidFill>
              <a:ln w="9525" cap="flat">
                <a:solidFill>
                  <a:srgbClr val="000000"/>
                </a:solidFill>
                <a:prstDash val="solid"/>
                <a:round/>
              </a:ln>
              <a:effectLst/>
            </p:spPr>
            <p:txBody>
              <a:bodyPr wrap="square" lIns="45719" tIns="45719" rIns="45719" bIns="45719" numCol="1" anchor="t">
                <a:noAutofit/>
              </a:bodyPr>
              <a:lstStyle/>
              <a:p>
                <a:pPr algn="ctr">
                  <a:lnSpc>
                    <a:spcPct val="100000"/>
                  </a:lnSpc>
                  <a:defRPr>
                    <a:latin typeface="SimSun"/>
                    <a:ea typeface="SimSun"/>
                    <a:cs typeface="SimSun"/>
                    <a:sym typeface="SimSun"/>
                  </a:defRPr>
                </a:pPr>
                <a:endParaRPr/>
              </a:p>
            </p:txBody>
          </p:sp>
          <p:sp>
            <p:nvSpPr>
              <p:cNvPr id="465" name="DBMS"/>
              <p:cNvSpPr txBox="1"/>
              <p:nvPr/>
            </p:nvSpPr>
            <p:spPr>
              <a:xfrm>
                <a:off x="514640" y="273401"/>
                <a:ext cx="1828218" cy="28131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lnSpc>
                    <a:spcPct val="100000"/>
                  </a:lnSpc>
                  <a:defRPr sz="2000" b="1"/>
                </a:lvl1pPr>
              </a:lstStyle>
              <a:p>
                <a:r>
                  <a:rPr dirty="0"/>
                  <a:t>DBMS</a:t>
                </a:r>
              </a:p>
            </p:txBody>
          </p:sp>
        </p:grpSp>
        <p:grpSp>
          <p:nvGrpSpPr>
            <p:cNvPr id="469" name="AutoShape 8"/>
            <p:cNvGrpSpPr/>
            <p:nvPr/>
          </p:nvGrpSpPr>
          <p:grpSpPr>
            <a:xfrm>
              <a:off x="537764" y="624769"/>
              <a:ext cx="1785941" cy="1741944"/>
              <a:chOff x="-1" y="0"/>
              <a:chExt cx="1785939" cy="1741943"/>
            </a:xfrm>
          </p:grpSpPr>
          <p:sp>
            <p:nvSpPr>
              <p:cNvPr id="467" name="形状"/>
              <p:cNvSpPr/>
              <p:nvPr/>
            </p:nvSpPr>
            <p:spPr>
              <a:xfrm>
                <a:off x="-1" y="0"/>
                <a:ext cx="1785939" cy="1741943"/>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FF"/>
              </a:solidFill>
              <a:ln w="9525" cap="flat">
                <a:solidFill>
                  <a:srgbClr val="000000"/>
                </a:solidFill>
                <a:prstDash val="solid"/>
                <a:round/>
              </a:ln>
              <a:effectLst/>
            </p:spPr>
            <p:txBody>
              <a:bodyPr wrap="square" lIns="45719" tIns="45719" rIns="45719" bIns="45719" numCol="1" anchor="t">
                <a:noAutofit/>
              </a:bodyPr>
              <a:lstStyle/>
              <a:p>
                <a:pPr algn="ctr">
                  <a:lnSpc>
                    <a:spcPct val="100000"/>
                  </a:lnSpc>
                  <a:defRPr>
                    <a:latin typeface="SimSun"/>
                    <a:ea typeface="SimSun"/>
                    <a:cs typeface="SimSun"/>
                    <a:sym typeface="SimSun"/>
                  </a:defRPr>
                </a:pPr>
                <a:endParaRPr/>
              </a:p>
            </p:txBody>
          </p:sp>
          <p:sp>
            <p:nvSpPr>
              <p:cNvPr id="468" name="OS"/>
              <p:cNvSpPr txBox="1"/>
              <p:nvPr/>
            </p:nvSpPr>
            <p:spPr>
              <a:xfrm>
                <a:off x="260717" y="128661"/>
                <a:ext cx="1253365" cy="28131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lnSpc>
                    <a:spcPct val="100000"/>
                  </a:lnSpc>
                  <a:defRPr sz="2000" b="1"/>
                </a:lvl1pPr>
              </a:lstStyle>
              <a:p>
                <a:r>
                  <a:rPr dirty="0"/>
                  <a:t>OS</a:t>
                </a:r>
              </a:p>
            </p:txBody>
          </p:sp>
        </p:grpSp>
        <p:sp>
          <p:nvSpPr>
            <p:cNvPr id="470" name="AutoShape 9"/>
            <p:cNvSpPr txBox="1"/>
            <p:nvPr/>
          </p:nvSpPr>
          <p:spPr>
            <a:xfrm>
              <a:off x="1176180" y="1253121"/>
              <a:ext cx="505140" cy="28131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lnSpc>
                  <a:spcPct val="100000"/>
                </a:lnSpc>
                <a:defRPr sz="2000" b="1">
                  <a:solidFill>
                    <a:srgbClr val="FFFFFF"/>
                  </a:solidFill>
                </a:defRPr>
              </a:lvl1pPr>
            </a:lstStyle>
            <a:p>
              <a:r>
                <a:t>DB</a:t>
              </a:r>
            </a:p>
          </p:txBody>
        </p:sp>
      </p:grpSp>
      <p:grpSp>
        <p:nvGrpSpPr>
          <p:cNvPr id="510" name="Group 11"/>
          <p:cNvGrpSpPr/>
          <p:nvPr/>
        </p:nvGrpSpPr>
        <p:grpSpPr>
          <a:xfrm>
            <a:off x="611188" y="3213099"/>
            <a:ext cx="7315200" cy="3429001"/>
            <a:chOff x="0" y="0"/>
            <a:chExt cx="7315199" cy="3429000"/>
          </a:xfrm>
        </p:grpSpPr>
        <p:grpSp>
          <p:nvGrpSpPr>
            <p:cNvPr id="506" name="Group 12"/>
            <p:cNvGrpSpPr/>
            <p:nvPr/>
          </p:nvGrpSpPr>
          <p:grpSpPr>
            <a:xfrm>
              <a:off x="0" y="-1"/>
              <a:ext cx="7315200" cy="3429001"/>
              <a:chOff x="0" y="0"/>
              <a:chExt cx="7315199" cy="3429000"/>
            </a:xfrm>
          </p:grpSpPr>
          <p:grpSp>
            <p:nvGrpSpPr>
              <p:cNvPr id="474" name="Rectangle 13"/>
              <p:cNvGrpSpPr/>
              <p:nvPr/>
            </p:nvGrpSpPr>
            <p:grpSpPr>
              <a:xfrm>
                <a:off x="-1" y="-1"/>
                <a:ext cx="1868558" cy="490210"/>
                <a:chOff x="0" y="0"/>
                <a:chExt cx="1868556" cy="490208"/>
              </a:xfrm>
            </p:grpSpPr>
            <p:sp>
              <p:nvSpPr>
                <p:cNvPr id="472" name="矩形"/>
                <p:cNvSpPr/>
                <p:nvPr/>
              </p:nvSpPr>
              <p:spPr>
                <a:xfrm>
                  <a:off x="-1" y="0"/>
                  <a:ext cx="1868558" cy="490209"/>
                </a:xfrm>
                <a:prstGeom prst="rect">
                  <a:avLst/>
                </a:prstGeom>
                <a:solidFill>
                  <a:srgbClr val="FFFFFF"/>
                </a:solidFill>
                <a:ln w="9525" cap="flat">
                  <a:solidFill>
                    <a:srgbClr val="000000"/>
                  </a:solidFill>
                  <a:prstDash val="solid"/>
                  <a:miter lim="800000"/>
                </a:ln>
                <a:effectLst/>
              </p:spPr>
              <p:txBody>
                <a:bodyPr wrap="square" lIns="45719" tIns="45719" rIns="45719" bIns="45719" numCol="1" anchor="t">
                  <a:noAutofit/>
                </a:bodyPr>
                <a:lstStyle/>
                <a:p>
                  <a:pPr algn="ctr">
                    <a:lnSpc>
                      <a:spcPct val="100000"/>
                    </a:lnSpc>
                    <a:defRPr>
                      <a:latin typeface="SimSun"/>
                      <a:ea typeface="SimSun"/>
                      <a:cs typeface="SimSun"/>
                      <a:sym typeface="SimSun"/>
                    </a:defRPr>
                  </a:pPr>
                  <a:endParaRPr/>
                </a:p>
              </p:txBody>
            </p:sp>
            <p:sp>
              <p:nvSpPr>
                <p:cNvPr id="473" name="应用程序"/>
                <p:cNvSpPr txBox="1"/>
                <p:nvPr/>
              </p:nvSpPr>
              <p:spPr>
                <a:xfrm>
                  <a:off x="50482" y="4762"/>
                  <a:ext cx="1767592" cy="3962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gn="ctr">
                    <a:lnSpc>
                      <a:spcPct val="100000"/>
                    </a:lnSpc>
                    <a:defRPr sz="2400">
                      <a:latin typeface="SimSun"/>
                      <a:ea typeface="SimSun"/>
                      <a:cs typeface="SimSun"/>
                      <a:sym typeface="SimSun"/>
                    </a:defRPr>
                  </a:lvl1pPr>
                </a:lstStyle>
                <a:p>
                  <a:pPr>
                    <a:defRPr b="1">
                      <a:latin typeface="+mn-lt"/>
                      <a:ea typeface="+mn-ea"/>
                      <a:cs typeface="+mn-cs"/>
                      <a:sym typeface="Times New Roman"/>
                    </a:defRPr>
                  </a:pPr>
                  <a:r>
                    <a:rPr b="0">
                      <a:latin typeface="SimSun"/>
                      <a:ea typeface="SimSun"/>
                      <a:cs typeface="SimSun"/>
                      <a:sym typeface="SimSun"/>
                    </a:rPr>
                    <a:t>应用程序</a:t>
                  </a:r>
                </a:p>
              </p:txBody>
            </p:sp>
          </p:grpSp>
          <p:grpSp>
            <p:nvGrpSpPr>
              <p:cNvPr id="477" name="Rectangle 14"/>
              <p:cNvGrpSpPr/>
              <p:nvPr/>
            </p:nvGrpSpPr>
            <p:grpSpPr>
              <a:xfrm>
                <a:off x="-1" y="816604"/>
                <a:ext cx="1868558" cy="490210"/>
                <a:chOff x="0" y="0"/>
                <a:chExt cx="1868556" cy="490208"/>
              </a:xfrm>
            </p:grpSpPr>
            <p:sp>
              <p:nvSpPr>
                <p:cNvPr id="475" name="矩形"/>
                <p:cNvSpPr/>
                <p:nvPr/>
              </p:nvSpPr>
              <p:spPr>
                <a:xfrm>
                  <a:off x="-1" y="0"/>
                  <a:ext cx="1868558" cy="490209"/>
                </a:xfrm>
                <a:prstGeom prst="rect">
                  <a:avLst/>
                </a:prstGeom>
                <a:solidFill>
                  <a:srgbClr val="FFFFFF"/>
                </a:solidFill>
                <a:ln w="9525" cap="flat">
                  <a:solidFill>
                    <a:srgbClr val="000000"/>
                  </a:solidFill>
                  <a:prstDash val="solid"/>
                  <a:miter lim="800000"/>
                </a:ln>
                <a:effectLst/>
              </p:spPr>
              <p:txBody>
                <a:bodyPr wrap="square" lIns="45719" tIns="45719" rIns="45719" bIns="45719" numCol="1" anchor="t">
                  <a:noAutofit/>
                </a:bodyPr>
                <a:lstStyle/>
                <a:p>
                  <a:pPr algn="ctr">
                    <a:lnSpc>
                      <a:spcPct val="100000"/>
                    </a:lnSpc>
                    <a:defRPr>
                      <a:latin typeface="SimSun"/>
                      <a:ea typeface="SimSun"/>
                      <a:cs typeface="SimSun"/>
                      <a:sym typeface="SimSun"/>
                    </a:defRPr>
                  </a:pPr>
                  <a:endParaRPr/>
                </a:p>
              </p:txBody>
            </p:sp>
            <p:sp>
              <p:nvSpPr>
                <p:cNvPr id="476" name="应用程序"/>
                <p:cNvSpPr txBox="1"/>
                <p:nvPr/>
              </p:nvSpPr>
              <p:spPr>
                <a:xfrm>
                  <a:off x="50482" y="4762"/>
                  <a:ext cx="1767592" cy="3962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gn="ctr">
                    <a:lnSpc>
                      <a:spcPct val="100000"/>
                    </a:lnSpc>
                    <a:defRPr sz="2400">
                      <a:latin typeface="SimSun"/>
                      <a:ea typeface="SimSun"/>
                      <a:cs typeface="SimSun"/>
                      <a:sym typeface="SimSun"/>
                    </a:defRPr>
                  </a:lvl1pPr>
                </a:lstStyle>
                <a:p>
                  <a:pPr>
                    <a:defRPr b="1">
                      <a:latin typeface="+mn-lt"/>
                      <a:ea typeface="+mn-ea"/>
                      <a:cs typeface="+mn-cs"/>
                      <a:sym typeface="Times New Roman"/>
                    </a:defRPr>
                  </a:pPr>
                  <a:r>
                    <a:rPr b="0">
                      <a:latin typeface="SimSun"/>
                      <a:ea typeface="SimSun"/>
                      <a:cs typeface="SimSun"/>
                      <a:sym typeface="SimSun"/>
                    </a:rPr>
                    <a:t>应用程序</a:t>
                  </a:r>
                </a:p>
              </p:txBody>
            </p:sp>
          </p:grpSp>
          <p:grpSp>
            <p:nvGrpSpPr>
              <p:cNvPr id="480" name="Rectangle 15"/>
              <p:cNvGrpSpPr/>
              <p:nvPr/>
            </p:nvGrpSpPr>
            <p:grpSpPr>
              <a:xfrm>
                <a:off x="123686" y="2612395"/>
                <a:ext cx="1744870" cy="490210"/>
                <a:chOff x="0" y="0"/>
                <a:chExt cx="1744869" cy="490208"/>
              </a:xfrm>
            </p:grpSpPr>
            <p:sp>
              <p:nvSpPr>
                <p:cNvPr id="478" name="矩形"/>
                <p:cNvSpPr/>
                <p:nvPr/>
              </p:nvSpPr>
              <p:spPr>
                <a:xfrm>
                  <a:off x="-1" y="0"/>
                  <a:ext cx="1744871" cy="490209"/>
                </a:xfrm>
                <a:prstGeom prst="rect">
                  <a:avLst/>
                </a:prstGeom>
                <a:solidFill>
                  <a:srgbClr val="FFFFFF"/>
                </a:solidFill>
                <a:ln w="9525" cap="flat">
                  <a:solidFill>
                    <a:srgbClr val="000000"/>
                  </a:solidFill>
                  <a:prstDash val="solid"/>
                  <a:miter lim="800000"/>
                </a:ln>
                <a:effectLst/>
              </p:spPr>
              <p:txBody>
                <a:bodyPr wrap="square" lIns="45719" tIns="45719" rIns="45719" bIns="45719" numCol="1" anchor="t">
                  <a:noAutofit/>
                </a:bodyPr>
                <a:lstStyle/>
                <a:p>
                  <a:pPr algn="ctr">
                    <a:lnSpc>
                      <a:spcPct val="100000"/>
                    </a:lnSpc>
                    <a:defRPr>
                      <a:latin typeface="SimSun"/>
                      <a:ea typeface="SimSun"/>
                      <a:cs typeface="SimSun"/>
                      <a:sym typeface="SimSun"/>
                    </a:defRPr>
                  </a:pPr>
                  <a:endParaRPr/>
                </a:p>
              </p:txBody>
            </p:sp>
            <p:sp>
              <p:nvSpPr>
                <p:cNvPr id="479" name="应用程序"/>
                <p:cNvSpPr txBox="1"/>
                <p:nvPr/>
              </p:nvSpPr>
              <p:spPr>
                <a:xfrm>
                  <a:off x="50482" y="4762"/>
                  <a:ext cx="1643905" cy="3962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gn="ctr">
                    <a:lnSpc>
                      <a:spcPct val="100000"/>
                    </a:lnSpc>
                    <a:defRPr sz="2400">
                      <a:latin typeface="SimSun"/>
                      <a:ea typeface="SimSun"/>
                      <a:cs typeface="SimSun"/>
                      <a:sym typeface="SimSun"/>
                    </a:defRPr>
                  </a:lvl1pPr>
                </a:lstStyle>
                <a:p>
                  <a:pPr>
                    <a:defRPr b="1">
                      <a:latin typeface="+mn-lt"/>
                      <a:ea typeface="+mn-ea"/>
                      <a:cs typeface="+mn-cs"/>
                      <a:sym typeface="Times New Roman"/>
                    </a:defRPr>
                  </a:pPr>
                  <a:r>
                    <a:rPr b="0">
                      <a:latin typeface="SimSun"/>
                      <a:ea typeface="SimSun"/>
                      <a:cs typeface="SimSun"/>
                      <a:sym typeface="SimSun"/>
                    </a:rPr>
                    <a:t>应用程序</a:t>
                  </a:r>
                </a:p>
              </p:txBody>
            </p:sp>
          </p:grpSp>
          <p:grpSp>
            <p:nvGrpSpPr>
              <p:cNvPr id="483" name="Rectangle 16"/>
              <p:cNvGrpSpPr/>
              <p:nvPr/>
            </p:nvGrpSpPr>
            <p:grpSpPr>
              <a:xfrm>
                <a:off x="2990573" y="326395"/>
                <a:ext cx="1868557" cy="1143001"/>
                <a:chOff x="0" y="0"/>
                <a:chExt cx="1868556" cy="1143000"/>
              </a:xfrm>
            </p:grpSpPr>
            <p:sp>
              <p:nvSpPr>
                <p:cNvPr id="481" name="矩形"/>
                <p:cNvSpPr/>
                <p:nvPr/>
              </p:nvSpPr>
              <p:spPr>
                <a:xfrm>
                  <a:off x="-1" y="0"/>
                  <a:ext cx="1868558" cy="1143000"/>
                </a:xfrm>
                <a:prstGeom prst="rect">
                  <a:avLst/>
                </a:prstGeom>
                <a:solidFill>
                  <a:srgbClr val="FFFFFF"/>
                </a:solidFill>
                <a:ln w="9525" cap="flat">
                  <a:solidFill>
                    <a:srgbClr val="000000"/>
                  </a:solidFill>
                  <a:prstDash val="solid"/>
                  <a:miter lim="800000"/>
                </a:ln>
                <a:effectLst/>
              </p:spPr>
              <p:txBody>
                <a:bodyPr wrap="square" lIns="45719" tIns="45719" rIns="45719" bIns="45719" numCol="1" anchor="t">
                  <a:noAutofit/>
                </a:bodyPr>
                <a:lstStyle/>
                <a:p>
                  <a:pPr algn="ctr">
                    <a:lnSpc>
                      <a:spcPct val="100000"/>
                    </a:lnSpc>
                    <a:defRPr>
                      <a:latin typeface="SimSun"/>
                      <a:ea typeface="SimSun"/>
                      <a:cs typeface="SimSun"/>
                      <a:sym typeface="SimSun"/>
                    </a:defRPr>
                  </a:pPr>
                  <a:endParaRPr/>
                </a:p>
              </p:txBody>
            </p:sp>
            <p:sp>
              <p:nvSpPr>
                <p:cNvPr id="482" name="数据库…"/>
                <p:cNvSpPr txBox="1"/>
                <p:nvPr/>
              </p:nvSpPr>
              <p:spPr>
                <a:xfrm>
                  <a:off x="50482" y="4762"/>
                  <a:ext cx="1767592" cy="103099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lgn="ctr">
                    <a:lnSpc>
                      <a:spcPct val="100000"/>
                    </a:lnSpc>
                    <a:defRPr sz="2400" b="1"/>
                  </a:pPr>
                  <a:r>
                    <a:rPr b="0">
                      <a:latin typeface="SimSun"/>
                      <a:ea typeface="SimSun"/>
                      <a:cs typeface="SimSun"/>
                      <a:sym typeface="SimSun"/>
                    </a:rPr>
                    <a:t>数据库</a:t>
                  </a:r>
                  <a:endParaRPr b="0">
                    <a:latin typeface="SimSong Bold"/>
                    <a:ea typeface="SimSong Bold"/>
                    <a:cs typeface="SimSong Bold"/>
                    <a:sym typeface="SimSong Bold"/>
                  </a:endParaRPr>
                </a:p>
                <a:p>
                  <a:pPr algn="ctr">
                    <a:lnSpc>
                      <a:spcPct val="100000"/>
                    </a:lnSpc>
                    <a:defRPr sz="2400" b="1"/>
                  </a:pPr>
                  <a:r>
                    <a:rPr b="0">
                      <a:latin typeface="SimSun"/>
                      <a:ea typeface="SimSun"/>
                      <a:cs typeface="SimSun"/>
                      <a:sym typeface="SimSun"/>
                    </a:rPr>
                    <a:t>管理系统</a:t>
                  </a:r>
                  <a:endParaRPr b="0">
                    <a:latin typeface="SimSong Bold"/>
                    <a:ea typeface="SimSong Bold"/>
                    <a:cs typeface="SimSong Bold"/>
                    <a:sym typeface="SimSong Bold"/>
                  </a:endParaRPr>
                </a:p>
                <a:p>
                  <a:pPr algn="ctr">
                    <a:lnSpc>
                      <a:spcPct val="100000"/>
                    </a:lnSpc>
                    <a:defRPr sz="2400" b="1"/>
                  </a:pPr>
                  <a:r>
                    <a:t>(DBMS)</a:t>
                  </a:r>
                </a:p>
              </p:txBody>
            </p:sp>
          </p:grpSp>
          <p:grpSp>
            <p:nvGrpSpPr>
              <p:cNvPr id="486" name="Rectangle 17"/>
              <p:cNvGrpSpPr/>
              <p:nvPr/>
            </p:nvGrpSpPr>
            <p:grpSpPr>
              <a:xfrm>
                <a:off x="3116469" y="2286000"/>
                <a:ext cx="1742661" cy="1143001"/>
                <a:chOff x="0" y="0"/>
                <a:chExt cx="1742660" cy="1143000"/>
              </a:xfrm>
            </p:grpSpPr>
            <p:sp>
              <p:nvSpPr>
                <p:cNvPr id="484" name="矩形"/>
                <p:cNvSpPr/>
                <p:nvPr/>
              </p:nvSpPr>
              <p:spPr>
                <a:xfrm>
                  <a:off x="-1" y="0"/>
                  <a:ext cx="1742662" cy="1143000"/>
                </a:xfrm>
                <a:prstGeom prst="rect">
                  <a:avLst/>
                </a:prstGeom>
                <a:solidFill>
                  <a:srgbClr val="FFFFFF"/>
                </a:solidFill>
                <a:ln w="9525" cap="flat">
                  <a:solidFill>
                    <a:srgbClr val="000000"/>
                  </a:solidFill>
                  <a:prstDash val="solid"/>
                  <a:miter lim="800000"/>
                </a:ln>
                <a:effectLst/>
              </p:spPr>
              <p:txBody>
                <a:bodyPr wrap="square" lIns="45719" tIns="45719" rIns="45719" bIns="45719" numCol="1" anchor="t">
                  <a:noAutofit/>
                </a:bodyPr>
                <a:lstStyle/>
                <a:p>
                  <a:pPr algn="ctr">
                    <a:lnSpc>
                      <a:spcPct val="100000"/>
                    </a:lnSpc>
                    <a:defRPr sz="2400" b="1"/>
                  </a:pPr>
                  <a:endParaRPr/>
                </a:p>
              </p:txBody>
            </p:sp>
            <p:sp>
              <p:nvSpPr>
                <p:cNvPr id="485" name="数据库…"/>
                <p:cNvSpPr txBox="1"/>
                <p:nvPr/>
              </p:nvSpPr>
              <p:spPr>
                <a:xfrm>
                  <a:off x="50482" y="4762"/>
                  <a:ext cx="1641696" cy="10058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lgn="ctr">
                    <a:lnSpc>
                      <a:spcPct val="100000"/>
                    </a:lnSpc>
                    <a:defRPr sz="2400">
                      <a:latin typeface="SimSun"/>
                      <a:ea typeface="SimSun"/>
                      <a:cs typeface="SimSun"/>
                      <a:sym typeface="SimSun"/>
                    </a:defRPr>
                  </a:pPr>
                  <a:r>
                    <a:t>数据库</a:t>
                  </a:r>
                </a:p>
                <a:p>
                  <a:pPr algn="ctr">
                    <a:lnSpc>
                      <a:spcPct val="100000"/>
                    </a:lnSpc>
                    <a:defRPr sz="2400">
                      <a:latin typeface="SimSun"/>
                      <a:ea typeface="SimSun"/>
                      <a:cs typeface="SimSun"/>
                      <a:sym typeface="SimSun"/>
                    </a:defRPr>
                  </a:pPr>
                  <a:r>
                    <a:t>管理员</a:t>
                  </a:r>
                </a:p>
                <a:p>
                  <a:pPr algn="ctr">
                    <a:lnSpc>
                      <a:spcPct val="100000"/>
                    </a:lnSpc>
                    <a:defRPr sz="2400">
                      <a:latin typeface="SimSun"/>
                      <a:ea typeface="SimSun"/>
                      <a:cs typeface="SimSun"/>
                      <a:sym typeface="SimSun"/>
                    </a:defRPr>
                  </a:pPr>
                  <a:r>
                    <a:t>（DBA）</a:t>
                  </a:r>
                </a:p>
              </p:txBody>
            </p:sp>
          </p:grpSp>
          <p:grpSp>
            <p:nvGrpSpPr>
              <p:cNvPr id="492" name="AutoShape 18"/>
              <p:cNvGrpSpPr/>
              <p:nvPr/>
            </p:nvGrpSpPr>
            <p:grpSpPr>
              <a:xfrm>
                <a:off x="6354417" y="816604"/>
                <a:ext cx="960783" cy="1776085"/>
                <a:chOff x="0" y="0"/>
                <a:chExt cx="960782" cy="1776084"/>
              </a:xfrm>
            </p:grpSpPr>
            <p:grpSp>
              <p:nvGrpSpPr>
                <p:cNvPr id="490" name="成组"/>
                <p:cNvGrpSpPr/>
                <p:nvPr/>
              </p:nvGrpSpPr>
              <p:grpSpPr>
                <a:xfrm>
                  <a:off x="-1" y="-1"/>
                  <a:ext cx="960784" cy="1776086"/>
                  <a:chOff x="0" y="0"/>
                  <a:chExt cx="960782" cy="1776084"/>
                </a:xfrm>
              </p:grpSpPr>
              <p:sp>
                <p:nvSpPr>
                  <p:cNvPr id="487" name="形状"/>
                  <p:cNvSpPr/>
                  <p:nvPr/>
                </p:nvSpPr>
                <p:spPr>
                  <a:xfrm>
                    <a:off x="-1" y="-1"/>
                    <a:ext cx="960783" cy="1776086"/>
                  </a:xfrm>
                  <a:custGeom>
                    <a:avLst/>
                    <a:gdLst/>
                    <a:ahLst/>
                    <a:cxnLst>
                      <a:cxn ang="0">
                        <a:pos x="wd2" y="hd2"/>
                      </a:cxn>
                      <a:cxn ang="5400000">
                        <a:pos x="wd2" y="hd2"/>
                      </a:cxn>
                      <a:cxn ang="10800000">
                        <a:pos x="wd2" y="hd2"/>
                      </a:cxn>
                      <a:cxn ang="16200000">
                        <a:pos x="wd2" y="hd2"/>
                      </a:cxn>
                    </a:cxnLst>
                    <a:rect l="0" t="0" r="r" b="b"/>
                    <a:pathLst>
                      <a:path w="21600" h="21600" extrusionOk="0">
                        <a:moveTo>
                          <a:pt x="0" y="4006"/>
                        </a:moveTo>
                        <a:cubicBezTo>
                          <a:pt x="0" y="1793"/>
                          <a:pt x="4835" y="0"/>
                          <a:pt x="10800" y="0"/>
                        </a:cubicBezTo>
                        <a:cubicBezTo>
                          <a:pt x="16765" y="0"/>
                          <a:pt x="21600" y="1793"/>
                          <a:pt x="21600" y="4006"/>
                        </a:cubicBezTo>
                        <a:lnTo>
                          <a:pt x="21600" y="17594"/>
                        </a:lnTo>
                        <a:cubicBezTo>
                          <a:pt x="21600" y="19807"/>
                          <a:pt x="16765" y="21600"/>
                          <a:pt x="10800" y="21600"/>
                        </a:cubicBezTo>
                        <a:cubicBezTo>
                          <a:pt x="4835" y="21600"/>
                          <a:pt x="0" y="19807"/>
                          <a:pt x="0" y="17594"/>
                        </a:cubicBezTo>
                        <a:close/>
                      </a:path>
                    </a:pathLst>
                  </a:custGeom>
                  <a:solidFill>
                    <a:srgbClr val="FFFFFF"/>
                  </a:solidFill>
                  <a:ln w="12700" cap="flat">
                    <a:noFill/>
                    <a:miter lim="400000"/>
                  </a:ln>
                  <a:effectLst/>
                </p:spPr>
                <p:txBody>
                  <a:bodyPr wrap="square" lIns="45719" tIns="45719" rIns="45719" bIns="45719" numCol="1" anchor="t">
                    <a:noAutofit/>
                  </a:bodyPr>
                  <a:lstStyle/>
                  <a:p>
                    <a:pPr algn="ctr">
                      <a:lnSpc>
                        <a:spcPct val="100000"/>
                      </a:lnSpc>
                      <a:defRPr>
                        <a:latin typeface="SimSun"/>
                        <a:ea typeface="SimSun"/>
                        <a:cs typeface="SimSun"/>
                        <a:sym typeface="SimSun"/>
                      </a:defRPr>
                    </a:pPr>
                    <a:endParaRPr/>
                  </a:p>
                </p:txBody>
              </p:sp>
              <p:sp>
                <p:nvSpPr>
                  <p:cNvPr id="488" name="椭圆形"/>
                  <p:cNvSpPr/>
                  <p:nvPr/>
                </p:nvSpPr>
                <p:spPr>
                  <a:xfrm>
                    <a:off x="-1" y="-1"/>
                    <a:ext cx="960784" cy="658742"/>
                  </a:xfrm>
                  <a:prstGeom prst="ellipse">
                    <a:avLst/>
                  </a:prstGeom>
                  <a:solidFill>
                    <a:srgbClr val="FFFFFF">
                      <a:alpha val="40000"/>
                    </a:srgbClr>
                  </a:solidFill>
                  <a:ln w="12700" cap="flat">
                    <a:noFill/>
                    <a:miter lim="400000"/>
                  </a:ln>
                  <a:effectLst/>
                </p:spPr>
                <p:txBody>
                  <a:bodyPr wrap="square" lIns="45719" tIns="45719" rIns="45719" bIns="45719" numCol="1" anchor="t">
                    <a:noAutofit/>
                  </a:bodyPr>
                  <a:lstStyle/>
                  <a:p>
                    <a:pPr algn="ctr">
                      <a:lnSpc>
                        <a:spcPct val="100000"/>
                      </a:lnSpc>
                      <a:defRPr>
                        <a:latin typeface="SimSun"/>
                        <a:ea typeface="SimSun"/>
                        <a:cs typeface="SimSun"/>
                        <a:sym typeface="SimSun"/>
                      </a:defRPr>
                    </a:pPr>
                    <a:endParaRPr/>
                  </a:p>
                </p:txBody>
              </p:sp>
              <p:sp>
                <p:nvSpPr>
                  <p:cNvPr id="489" name="线条"/>
                  <p:cNvSpPr/>
                  <p:nvPr/>
                </p:nvSpPr>
                <p:spPr>
                  <a:xfrm>
                    <a:off x="-1" y="-1"/>
                    <a:ext cx="960783" cy="1776086"/>
                  </a:xfrm>
                  <a:custGeom>
                    <a:avLst/>
                    <a:gdLst/>
                    <a:ahLst/>
                    <a:cxnLst>
                      <a:cxn ang="0">
                        <a:pos x="wd2" y="hd2"/>
                      </a:cxn>
                      <a:cxn ang="5400000">
                        <a:pos x="wd2" y="hd2"/>
                      </a:cxn>
                      <a:cxn ang="10800000">
                        <a:pos x="wd2" y="hd2"/>
                      </a:cxn>
                      <a:cxn ang="16200000">
                        <a:pos x="wd2" y="hd2"/>
                      </a:cxn>
                    </a:cxnLst>
                    <a:rect l="0" t="0" r="r" b="b"/>
                    <a:pathLst>
                      <a:path w="21600" h="21600" extrusionOk="0">
                        <a:moveTo>
                          <a:pt x="21600" y="4006"/>
                        </a:moveTo>
                        <a:cubicBezTo>
                          <a:pt x="21600" y="6218"/>
                          <a:pt x="16765" y="8011"/>
                          <a:pt x="10800" y="8011"/>
                        </a:cubicBezTo>
                        <a:cubicBezTo>
                          <a:pt x="4835" y="8011"/>
                          <a:pt x="0" y="6218"/>
                          <a:pt x="0" y="4006"/>
                        </a:cubicBezTo>
                        <a:cubicBezTo>
                          <a:pt x="0" y="1793"/>
                          <a:pt x="4835" y="0"/>
                          <a:pt x="10800" y="0"/>
                        </a:cubicBezTo>
                        <a:cubicBezTo>
                          <a:pt x="16765" y="0"/>
                          <a:pt x="21600" y="1793"/>
                          <a:pt x="21600" y="4006"/>
                        </a:cubicBezTo>
                        <a:lnTo>
                          <a:pt x="21600" y="17594"/>
                        </a:lnTo>
                        <a:cubicBezTo>
                          <a:pt x="21600" y="19807"/>
                          <a:pt x="16765" y="21600"/>
                          <a:pt x="10800" y="21600"/>
                        </a:cubicBezTo>
                        <a:cubicBezTo>
                          <a:pt x="4835" y="21600"/>
                          <a:pt x="0" y="19807"/>
                          <a:pt x="0" y="17594"/>
                        </a:cubicBezTo>
                        <a:lnTo>
                          <a:pt x="0" y="4006"/>
                        </a:lnTo>
                      </a:path>
                    </a:pathLst>
                  </a:custGeom>
                  <a:noFill/>
                  <a:ln w="9525" cap="flat">
                    <a:solidFill>
                      <a:srgbClr val="000000"/>
                    </a:solidFill>
                    <a:prstDash val="solid"/>
                    <a:round/>
                  </a:ln>
                  <a:effectLst/>
                </p:spPr>
                <p:txBody>
                  <a:bodyPr wrap="square" lIns="45719" tIns="45719" rIns="45719" bIns="45719" numCol="1" anchor="t">
                    <a:noAutofit/>
                  </a:bodyPr>
                  <a:lstStyle/>
                  <a:p>
                    <a:pPr algn="ctr">
                      <a:lnSpc>
                        <a:spcPct val="100000"/>
                      </a:lnSpc>
                      <a:defRPr>
                        <a:latin typeface="SimSun"/>
                        <a:ea typeface="SimSun"/>
                        <a:cs typeface="SimSun"/>
                        <a:sym typeface="SimSun"/>
                      </a:defRPr>
                    </a:pPr>
                    <a:endParaRPr/>
                  </a:p>
                </p:txBody>
              </p:sp>
            </p:grpSp>
            <p:sp>
              <p:nvSpPr>
                <p:cNvPr id="491" name="数…"/>
                <p:cNvSpPr txBox="1"/>
                <p:nvPr/>
              </p:nvSpPr>
              <p:spPr>
                <a:xfrm>
                  <a:off x="50482" y="663503"/>
                  <a:ext cx="859818" cy="103423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lgn="ctr">
                    <a:lnSpc>
                      <a:spcPct val="100000"/>
                    </a:lnSpc>
                    <a:defRPr sz="1800" b="1"/>
                  </a:pPr>
                  <a:r>
                    <a:rPr b="0">
                      <a:latin typeface="SimSun"/>
                      <a:ea typeface="SimSun"/>
                      <a:cs typeface="SimSun"/>
                      <a:sym typeface="SimSun"/>
                    </a:rPr>
                    <a:t>数</a:t>
                  </a:r>
                  <a:endParaRPr b="0">
                    <a:latin typeface="SimSong Bold"/>
                    <a:ea typeface="SimSong Bold"/>
                    <a:cs typeface="SimSong Bold"/>
                    <a:sym typeface="SimSong Bold"/>
                  </a:endParaRPr>
                </a:p>
                <a:p>
                  <a:pPr algn="ctr">
                    <a:lnSpc>
                      <a:spcPct val="100000"/>
                    </a:lnSpc>
                    <a:defRPr sz="1800" b="1"/>
                  </a:pPr>
                  <a:r>
                    <a:rPr b="0">
                      <a:latin typeface="SimSun"/>
                      <a:ea typeface="SimSun"/>
                      <a:cs typeface="SimSun"/>
                      <a:sym typeface="SimSun"/>
                    </a:rPr>
                    <a:t>据</a:t>
                  </a:r>
                  <a:endParaRPr b="0">
                    <a:latin typeface="SimSong Bold"/>
                    <a:ea typeface="SimSong Bold"/>
                    <a:cs typeface="SimSong Bold"/>
                    <a:sym typeface="SimSong Bold"/>
                  </a:endParaRPr>
                </a:p>
                <a:p>
                  <a:pPr algn="ctr">
                    <a:lnSpc>
                      <a:spcPct val="100000"/>
                    </a:lnSpc>
                    <a:defRPr sz="1800" b="1"/>
                  </a:pPr>
                  <a:r>
                    <a:rPr b="0">
                      <a:latin typeface="SimSun"/>
                      <a:ea typeface="SimSun"/>
                      <a:cs typeface="SimSun"/>
                      <a:sym typeface="SimSun"/>
                    </a:rPr>
                    <a:t>库</a:t>
                  </a:r>
                  <a:endParaRPr b="0">
                    <a:latin typeface="SimSong Bold"/>
                    <a:ea typeface="SimSong Bold"/>
                    <a:cs typeface="SimSong Bold"/>
                    <a:sym typeface="SimSong Bold"/>
                  </a:endParaRPr>
                </a:p>
                <a:p>
                  <a:pPr algn="ctr">
                    <a:lnSpc>
                      <a:spcPct val="100000"/>
                    </a:lnSpc>
                    <a:defRPr sz="1800" b="1"/>
                  </a:pPr>
                  <a:r>
                    <a:t>DB</a:t>
                  </a:r>
                </a:p>
              </p:txBody>
            </p:sp>
          </p:grpSp>
          <p:grpSp>
            <p:nvGrpSpPr>
              <p:cNvPr id="505" name="Group 19"/>
              <p:cNvGrpSpPr/>
              <p:nvPr/>
            </p:nvGrpSpPr>
            <p:grpSpPr>
              <a:xfrm>
                <a:off x="1868557" y="163814"/>
                <a:ext cx="4386469" cy="2612395"/>
                <a:chOff x="0" y="0"/>
                <a:chExt cx="4386468" cy="2612393"/>
              </a:xfrm>
            </p:grpSpPr>
            <p:grpSp>
              <p:nvGrpSpPr>
                <p:cNvPr id="495" name="Group 20"/>
                <p:cNvGrpSpPr/>
                <p:nvPr/>
              </p:nvGrpSpPr>
              <p:grpSpPr>
                <a:xfrm>
                  <a:off x="0" y="0"/>
                  <a:ext cx="1097157" cy="652791"/>
                  <a:chOff x="0" y="0"/>
                  <a:chExt cx="1097156" cy="652789"/>
                </a:xfrm>
              </p:grpSpPr>
              <p:sp>
                <p:nvSpPr>
                  <p:cNvPr id="493" name="Line 21"/>
                  <p:cNvSpPr/>
                  <p:nvPr/>
                </p:nvSpPr>
                <p:spPr>
                  <a:xfrm>
                    <a:off x="243812" y="163197"/>
                    <a:ext cx="853345" cy="489594"/>
                  </a:xfrm>
                  <a:prstGeom prst="line">
                    <a:avLst/>
                  </a:prstGeom>
                  <a:noFill/>
                  <a:ln w="28575" cap="flat">
                    <a:solidFill>
                      <a:srgbClr val="000000"/>
                    </a:solidFill>
                    <a:prstDash val="solid"/>
                    <a:round/>
                    <a:tailEnd type="triangle" w="med" len="med"/>
                  </a:ln>
                  <a:effectLst/>
                </p:spPr>
                <p:txBody>
                  <a:bodyPr wrap="square" lIns="45719" tIns="45719" rIns="45719" bIns="45719" numCol="1" anchor="t">
                    <a:noAutofit/>
                  </a:bodyPr>
                  <a:lstStyle/>
                  <a:p>
                    <a:pPr>
                      <a:defRPr>
                        <a:solidFill>
                          <a:srgbClr val="FFFFFF"/>
                        </a:solidFill>
                      </a:defRPr>
                    </a:pPr>
                    <a:endParaRPr/>
                  </a:p>
                </p:txBody>
              </p:sp>
              <p:sp>
                <p:nvSpPr>
                  <p:cNvPr id="494" name="Line 22"/>
                  <p:cNvSpPr/>
                  <p:nvPr/>
                </p:nvSpPr>
                <p:spPr>
                  <a:xfrm flipH="1" flipV="1">
                    <a:off x="0" y="0"/>
                    <a:ext cx="243813" cy="163198"/>
                  </a:xfrm>
                  <a:prstGeom prst="line">
                    <a:avLst/>
                  </a:prstGeom>
                  <a:noFill/>
                  <a:ln w="28575" cap="flat">
                    <a:solidFill>
                      <a:srgbClr val="000000"/>
                    </a:solidFill>
                    <a:prstDash val="solid"/>
                    <a:round/>
                    <a:tailEnd type="triangle" w="med" len="med"/>
                  </a:ln>
                  <a:effectLst/>
                </p:spPr>
                <p:txBody>
                  <a:bodyPr wrap="square" lIns="45719" tIns="45719" rIns="45719" bIns="45719" numCol="1" anchor="t">
                    <a:noAutofit/>
                  </a:bodyPr>
                  <a:lstStyle/>
                  <a:p>
                    <a:pPr>
                      <a:defRPr>
                        <a:solidFill>
                          <a:srgbClr val="FFFFFF"/>
                        </a:solidFill>
                      </a:defRPr>
                    </a:pPr>
                    <a:endParaRPr/>
                  </a:p>
                </p:txBody>
              </p:sp>
            </p:grpSp>
            <p:grpSp>
              <p:nvGrpSpPr>
                <p:cNvPr id="498" name="Group 23"/>
                <p:cNvGrpSpPr/>
                <p:nvPr/>
              </p:nvGrpSpPr>
              <p:grpSpPr>
                <a:xfrm>
                  <a:off x="0" y="815373"/>
                  <a:ext cx="1097157" cy="163814"/>
                  <a:chOff x="0" y="0"/>
                  <a:chExt cx="1097156" cy="163812"/>
                </a:xfrm>
              </p:grpSpPr>
              <p:sp>
                <p:nvSpPr>
                  <p:cNvPr id="496" name="Line 24"/>
                  <p:cNvSpPr/>
                  <p:nvPr/>
                </p:nvSpPr>
                <p:spPr>
                  <a:xfrm>
                    <a:off x="243812" y="40953"/>
                    <a:ext cx="853345" cy="122861"/>
                  </a:xfrm>
                  <a:prstGeom prst="line">
                    <a:avLst/>
                  </a:prstGeom>
                  <a:noFill/>
                  <a:ln w="28575" cap="flat">
                    <a:solidFill>
                      <a:srgbClr val="000000"/>
                    </a:solidFill>
                    <a:prstDash val="solid"/>
                    <a:round/>
                    <a:tailEnd type="triangle" w="med" len="med"/>
                  </a:ln>
                  <a:effectLst/>
                </p:spPr>
                <p:txBody>
                  <a:bodyPr wrap="square" lIns="45719" tIns="45719" rIns="45719" bIns="45719" numCol="1" anchor="t">
                    <a:noAutofit/>
                  </a:bodyPr>
                  <a:lstStyle/>
                  <a:p>
                    <a:pPr>
                      <a:defRPr>
                        <a:solidFill>
                          <a:srgbClr val="FFFFFF"/>
                        </a:solidFill>
                      </a:defRPr>
                    </a:pPr>
                    <a:endParaRPr/>
                  </a:p>
                </p:txBody>
              </p:sp>
              <p:sp>
                <p:nvSpPr>
                  <p:cNvPr id="497" name="Line 25"/>
                  <p:cNvSpPr/>
                  <p:nvPr/>
                </p:nvSpPr>
                <p:spPr>
                  <a:xfrm flipH="1" flipV="1">
                    <a:off x="0" y="0"/>
                    <a:ext cx="243813" cy="40954"/>
                  </a:xfrm>
                  <a:prstGeom prst="line">
                    <a:avLst/>
                  </a:prstGeom>
                  <a:noFill/>
                  <a:ln w="28575" cap="flat">
                    <a:solidFill>
                      <a:srgbClr val="000000"/>
                    </a:solidFill>
                    <a:prstDash val="solid"/>
                    <a:round/>
                    <a:tailEnd type="triangle" w="med" len="med"/>
                  </a:ln>
                  <a:effectLst/>
                </p:spPr>
                <p:txBody>
                  <a:bodyPr wrap="square" lIns="45719" tIns="45719" rIns="45719" bIns="45719" numCol="1" anchor="t">
                    <a:noAutofit/>
                  </a:bodyPr>
                  <a:lstStyle/>
                  <a:p>
                    <a:pPr>
                      <a:defRPr>
                        <a:solidFill>
                          <a:srgbClr val="FFFFFF"/>
                        </a:solidFill>
                      </a:defRPr>
                    </a:pPr>
                    <a:endParaRPr/>
                  </a:p>
                </p:txBody>
              </p:sp>
            </p:grpSp>
            <p:grpSp>
              <p:nvGrpSpPr>
                <p:cNvPr id="501" name="Group 26"/>
                <p:cNvGrpSpPr/>
                <p:nvPr/>
              </p:nvGrpSpPr>
              <p:grpSpPr>
                <a:xfrm>
                  <a:off x="0" y="1143000"/>
                  <a:ext cx="1097157" cy="1469395"/>
                  <a:chOff x="0" y="0"/>
                  <a:chExt cx="1097156" cy="1469393"/>
                </a:xfrm>
              </p:grpSpPr>
              <p:sp>
                <p:nvSpPr>
                  <p:cNvPr id="499" name="Line 27"/>
                  <p:cNvSpPr/>
                  <p:nvPr/>
                </p:nvSpPr>
                <p:spPr>
                  <a:xfrm flipV="1">
                    <a:off x="243811" y="0"/>
                    <a:ext cx="853346" cy="1102046"/>
                  </a:xfrm>
                  <a:prstGeom prst="line">
                    <a:avLst/>
                  </a:prstGeom>
                  <a:noFill/>
                  <a:ln w="28575" cap="flat">
                    <a:solidFill>
                      <a:srgbClr val="000000"/>
                    </a:solidFill>
                    <a:prstDash val="solid"/>
                    <a:round/>
                    <a:tailEnd type="triangle" w="med" len="med"/>
                  </a:ln>
                  <a:effectLst/>
                </p:spPr>
                <p:txBody>
                  <a:bodyPr wrap="square" lIns="45719" tIns="45719" rIns="45719" bIns="45719" numCol="1" anchor="t">
                    <a:noAutofit/>
                  </a:bodyPr>
                  <a:lstStyle/>
                  <a:p>
                    <a:pPr>
                      <a:defRPr>
                        <a:solidFill>
                          <a:srgbClr val="FFFFFF"/>
                        </a:solidFill>
                      </a:defRPr>
                    </a:pPr>
                    <a:endParaRPr/>
                  </a:p>
                </p:txBody>
              </p:sp>
              <p:sp>
                <p:nvSpPr>
                  <p:cNvPr id="500" name="Line 28"/>
                  <p:cNvSpPr/>
                  <p:nvPr/>
                </p:nvSpPr>
                <p:spPr>
                  <a:xfrm flipH="1">
                    <a:off x="0" y="1102045"/>
                    <a:ext cx="243813" cy="367349"/>
                  </a:xfrm>
                  <a:prstGeom prst="line">
                    <a:avLst/>
                  </a:prstGeom>
                  <a:noFill/>
                  <a:ln w="28575" cap="flat">
                    <a:solidFill>
                      <a:srgbClr val="000000"/>
                    </a:solidFill>
                    <a:prstDash val="solid"/>
                    <a:round/>
                    <a:tailEnd type="triangle" w="med" len="med"/>
                  </a:ln>
                  <a:effectLst/>
                </p:spPr>
                <p:txBody>
                  <a:bodyPr wrap="square" lIns="45719" tIns="45719" rIns="45719" bIns="45719" numCol="1" anchor="t">
                    <a:noAutofit/>
                  </a:bodyPr>
                  <a:lstStyle/>
                  <a:p>
                    <a:pPr>
                      <a:defRPr>
                        <a:solidFill>
                          <a:srgbClr val="FFFFFF"/>
                        </a:solidFill>
                      </a:defRPr>
                    </a:pPr>
                    <a:endParaRPr/>
                  </a:p>
                </p:txBody>
              </p:sp>
            </p:grpSp>
            <p:grpSp>
              <p:nvGrpSpPr>
                <p:cNvPr id="504" name="Group 29"/>
                <p:cNvGrpSpPr/>
                <p:nvPr/>
              </p:nvGrpSpPr>
              <p:grpSpPr>
                <a:xfrm>
                  <a:off x="2941591" y="722997"/>
                  <a:ext cx="1444879" cy="582585"/>
                  <a:chOff x="0" y="0"/>
                  <a:chExt cx="1444877" cy="582584"/>
                </a:xfrm>
              </p:grpSpPr>
              <p:sp>
                <p:nvSpPr>
                  <p:cNvPr id="502" name="Line 30"/>
                  <p:cNvSpPr/>
                  <p:nvPr/>
                </p:nvSpPr>
                <p:spPr>
                  <a:xfrm>
                    <a:off x="321084" y="145646"/>
                    <a:ext cx="1123795" cy="436939"/>
                  </a:xfrm>
                  <a:prstGeom prst="line">
                    <a:avLst/>
                  </a:prstGeom>
                  <a:noFill/>
                  <a:ln w="28575" cap="flat">
                    <a:solidFill>
                      <a:srgbClr val="000000"/>
                    </a:solidFill>
                    <a:prstDash val="solid"/>
                    <a:round/>
                    <a:tailEnd type="triangle" w="med" len="med"/>
                  </a:ln>
                  <a:effectLst/>
                </p:spPr>
                <p:txBody>
                  <a:bodyPr wrap="square" lIns="45719" tIns="45719" rIns="45719" bIns="45719" numCol="1" anchor="t">
                    <a:noAutofit/>
                  </a:bodyPr>
                  <a:lstStyle/>
                  <a:p>
                    <a:pPr>
                      <a:defRPr>
                        <a:solidFill>
                          <a:srgbClr val="FFFFFF"/>
                        </a:solidFill>
                      </a:defRPr>
                    </a:pPr>
                    <a:endParaRPr/>
                  </a:p>
                </p:txBody>
              </p:sp>
              <p:sp>
                <p:nvSpPr>
                  <p:cNvPr id="503" name="Line 31"/>
                  <p:cNvSpPr/>
                  <p:nvPr/>
                </p:nvSpPr>
                <p:spPr>
                  <a:xfrm flipH="1" flipV="1">
                    <a:off x="0" y="0"/>
                    <a:ext cx="321085" cy="145647"/>
                  </a:xfrm>
                  <a:prstGeom prst="line">
                    <a:avLst/>
                  </a:prstGeom>
                  <a:noFill/>
                  <a:ln w="28575" cap="flat">
                    <a:solidFill>
                      <a:srgbClr val="000000"/>
                    </a:solidFill>
                    <a:prstDash val="solid"/>
                    <a:round/>
                    <a:tailEnd type="triangle" w="med" len="med"/>
                  </a:ln>
                  <a:effectLst/>
                </p:spPr>
                <p:txBody>
                  <a:bodyPr wrap="square" lIns="45719" tIns="45719" rIns="45719" bIns="45719" numCol="1" anchor="t">
                    <a:noAutofit/>
                  </a:bodyPr>
                  <a:lstStyle/>
                  <a:p>
                    <a:pPr>
                      <a:defRPr>
                        <a:solidFill>
                          <a:srgbClr val="FFFFFF"/>
                        </a:solidFill>
                      </a:defRPr>
                    </a:pPr>
                    <a:endParaRPr/>
                  </a:p>
                </p:txBody>
              </p:sp>
            </p:grpSp>
          </p:grpSp>
        </p:grpSp>
        <p:grpSp>
          <p:nvGrpSpPr>
            <p:cNvPr id="509" name="Group 32"/>
            <p:cNvGrpSpPr/>
            <p:nvPr/>
          </p:nvGrpSpPr>
          <p:grpSpPr>
            <a:xfrm>
              <a:off x="1875692" y="2187466"/>
              <a:ext cx="4595446" cy="827690"/>
              <a:chOff x="0" y="0"/>
              <a:chExt cx="4595445" cy="827689"/>
            </a:xfrm>
          </p:grpSpPr>
          <p:sp>
            <p:nvSpPr>
              <p:cNvPr id="507" name="Line 33"/>
              <p:cNvSpPr/>
              <p:nvPr/>
            </p:nvSpPr>
            <p:spPr>
              <a:xfrm flipH="1" flipV="1">
                <a:off x="0" y="661652"/>
                <a:ext cx="1088847" cy="1"/>
              </a:xfrm>
              <a:prstGeom prst="line">
                <a:avLst/>
              </a:prstGeom>
              <a:noFill/>
              <a:ln w="38100" cap="flat">
                <a:solidFill>
                  <a:srgbClr val="000000"/>
                </a:solidFill>
                <a:prstDash val="dash"/>
                <a:round/>
                <a:tailEnd type="triangle" w="med" len="med"/>
              </a:ln>
              <a:effectLst/>
            </p:spPr>
            <p:txBody>
              <a:bodyPr wrap="square" lIns="45719" tIns="45719" rIns="45719" bIns="45719" numCol="1" anchor="t">
                <a:noAutofit/>
              </a:bodyPr>
              <a:lstStyle/>
              <a:p>
                <a:pPr>
                  <a:defRPr>
                    <a:solidFill>
                      <a:srgbClr val="FFFFFF"/>
                    </a:solidFill>
                  </a:defRPr>
                </a:pPr>
                <a:endParaRPr/>
              </a:p>
            </p:txBody>
          </p:sp>
          <p:sp>
            <p:nvSpPr>
              <p:cNvPr id="508" name="Line 34"/>
              <p:cNvSpPr/>
              <p:nvPr/>
            </p:nvSpPr>
            <p:spPr>
              <a:xfrm flipV="1">
                <a:off x="2902161" y="0"/>
                <a:ext cx="1693285" cy="827690"/>
              </a:xfrm>
              <a:prstGeom prst="line">
                <a:avLst/>
              </a:prstGeom>
              <a:noFill/>
              <a:ln w="38100" cap="flat">
                <a:solidFill>
                  <a:srgbClr val="000000"/>
                </a:solidFill>
                <a:prstDash val="dash"/>
                <a:round/>
                <a:tailEnd type="triangle" w="med" len="med"/>
              </a:ln>
              <a:effectLst/>
            </p:spPr>
            <p:txBody>
              <a:bodyPr wrap="square" lIns="45719" tIns="45719" rIns="45719" bIns="45719" numCol="1" anchor="t">
                <a:noAutofit/>
              </a:bodyPr>
              <a:lstStyle/>
              <a:p>
                <a:pPr>
                  <a:defRPr>
                    <a:solidFill>
                      <a:srgbClr val="FFFFFF"/>
                    </a:solidFill>
                  </a:defRPr>
                </a:pPr>
                <a:endParaRPr/>
              </a:p>
            </p:txBody>
          </p:sp>
        </p:grpSp>
      </p:grpSp>
      <p:sp>
        <p:nvSpPr>
          <p:cNvPr id="511" name="Line 36"/>
          <p:cNvSpPr/>
          <p:nvPr/>
        </p:nvSpPr>
        <p:spPr>
          <a:xfrm>
            <a:off x="0" y="1773238"/>
            <a:ext cx="9144001" cy="2303463"/>
          </a:xfrm>
          <a:prstGeom prst="line">
            <a:avLst/>
          </a:prstGeom>
          <a:ln w="76200">
            <a:solidFill>
              <a:srgbClr val="000099"/>
            </a:solidFill>
          </a:ln>
        </p:spPr>
        <p:txBody>
          <a:bodyPr lIns="45719" rIns="45719"/>
          <a:lstStyle/>
          <a:p>
            <a:pPr>
              <a:defRPr>
                <a:solidFill>
                  <a:srgbClr val="FFFFFF"/>
                </a:solidFill>
              </a:defRPr>
            </a:pPr>
            <a:endParaRPr/>
          </a:p>
        </p:txBody>
      </p:sp>
      <p:sp>
        <p:nvSpPr>
          <p:cNvPr id="51" name="OS">
            <a:extLst>
              <a:ext uri="{FF2B5EF4-FFF2-40B4-BE49-F238E27FC236}">
                <a16:creationId xmlns:a16="http://schemas.microsoft.com/office/drawing/2014/main" id="{0D750736-9385-4E42-B6F6-79CE377DD57E}"/>
              </a:ext>
            </a:extLst>
          </p:cNvPr>
          <p:cNvSpPr txBox="1"/>
          <p:nvPr/>
        </p:nvSpPr>
        <p:spPr>
          <a:xfrm>
            <a:off x="6206105" y="1854058"/>
            <a:ext cx="1253367" cy="30777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lnSpc>
                <a:spcPct val="100000"/>
              </a:lnSpc>
              <a:defRPr sz="2000" b="1"/>
            </a:lvl1pPr>
          </a:lstStyle>
          <a:p>
            <a:r>
              <a:rPr lang="en-US" altLang="zh-CN" dirty="0"/>
              <a:t>DB</a:t>
            </a:r>
            <a:endParaRPr dirty="0"/>
          </a:p>
        </p:txBody>
      </p:sp>
      <p:sp>
        <p:nvSpPr>
          <p:cNvPr id="52" name="OS">
            <a:extLst>
              <a:ext uri="{FF2B5EF4-FFF2-40B4-BE49-F238E27FC236}">
                <a16:creationId xmlns:a16="http://schemas.microsoft.com/office/drawing/2014/main" id="{ACAC4D7B-1246-D443-968F-4AC3C26806B4}"/>
              </a:ext>
            </a:extLst>
          </p:cNvPr>
          <p:cNvSpPr txBox="1"/>
          <p:nvPr/>
        </p:nvSpPr>
        <p:spPr>
          <a:xfrm>
            <a:off x="6171287" y="108953"/>
            <a:ext cx="1253367" cy="30777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lnSpc>
                <a:spcPct val="100000"/>
              </a:lnSpc>
              <a:defRPr sz="2000" b="1"/>
            </a:lvl1pPr>
          </a:lstStyle>
          <a:p>
            <a:r>
              <a:rPr lang="zh-CN" altLang="en-US" dirty="0"/>
              <a:t>用户</a:t>
            </a:r>
            <a:endParaRPr dirty="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 name="Rectangle 2"/>
          <p:cNvSpPr txBox="1"/>
          <p:nvPr/>
        </p:nvSpPr>
        <p:spPr>
          <a:xfrm>
            <a:off x="369569" y="836612"/>
            <a:ext cx="8584250" cy="10871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a:solidFill>
                  <a:srgbClr val="000099"/>
                </a:solidFill>
                <a:latin typeface="SimSun"/>
                <a:ea typeface="SimSun"/>
                <a:cs typeface="SimSun"/>
                <a:sym typeface="SimSun"/>
              </a:defRPr>
            </a:pPr>
            <a:r>
              <a:t>    数据库技术</a:t>
            </a:r>
            <a:r>
              <a:rPr>
                <a:solidFill>
                  <a:srgbClr val="000000"/>
                </a:solidFill>
              </a:rPr>
              <a:t>是研究数据库的结构、存储、设计、管理和使用的一门软件学科。</a:t>
            </a:r>
          </a:p>
        </p:txBody>
      </p:sp>
      <p:sp>
        <p:nvSpPr>
          <p:cNvPr id="514" name="Rectangle 3"/>
          <p:cNvSpPr txBox="1"/>
          <p:nvPr/>
        </p:nvSpPr>
        <p:spPr>
          <a:xfrm>
            <a:off x="514033" y="2636838"/>
            <a:ext cx="8117521" cy="30614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a:solidFill>
                  <a:srgbClr val="000099"/>
                </a:solidFill>
                <a:latin typeface="SimSun"/>
                <a:ea typeface="SimSun"/>
                <a:cs typeface="SimSun"/>
                <a:sym typeface="SimSun"/>
              </a:defRPr>
            </a:pPr>
            <a:r>
              <a:rPr dirty="0"/>
              <a:t>   </a:t>
            </a:r>
            <a:r>
              <a:rPr b="1" dirty="0" err="1">
                <a:solidFill>
                  <a:srgbClr val="FF0000"/>
                </a:solidFill>
                <a:latin typeface="SimSun"/>
                <a:ea typeface="SimSun"/>
              </a:rPr>
              <a:t>数据库系统</a:t>
            </a:r>
            <a:r>
              <a:rPr dirty="0" err="1">
                <a:solidFill>
                  <a:srgbClr val="000000"/>
                </a:solidFill>
              </a:rPr>
              <a:t>（Database</a:t>
            </a:r>
            <a:r>
              <a:rPr dirty="0">
                <a:solidFill>
                  <a:srgbClr val="000000"/>
                </a:solidFill>
              </a:rPr>
              <a:t> </a:t>
            </a:r>
            <a:r>
              <a:rPr dirty="0" err="1">
                <a:solidFill>
                  <a:srgbClr val="000000"/>
                </a:solidFill>
              </a:rPr>
              <a:t>System，简记为DBS</a:t>
            </a:r>
            <a:r>
              <a:rPr dirty="0">
                <a:solidFill>
                  <a:srgbClr val="000000"/>
                </a:solidFill>
              </a:rPr>
              <a:t>）</a:t>
            </a:r>
          </a:p>
          <a:p>
            <a:pPr>
              <a:defRPr>
                <a:latin typeface="SimSun"/>
                <a:ea typeface="SimSun"/>
                <a:cs typeface="SimSun"/>
                <a:sym typeface="SimSun"/>
              </a:defRPr>
            </a:pPr>
            <a:r>
              <a:rPr dirty="0"/>
              <a:t>DBS是实现有组织地、动态地存储大量关联数据、方便多用户访问的计算机硬件、软件和数据资源组成的系统，即它是采用数据库技术的计算机系统。</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 name="Rectangle 2"/>
          <p:cNvSpPr txBox="1"/>
          <p:nvPr/>
        </p:nvSpPr>
        <p:spPr>
          <a:xfrm>
            <a:off x="396239" y="1488864"/>
            <a:ext cx="8747761" cy="52232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l">
              <a:lnSpc>
                <a:spcPct val="150000"/>
              </a:lnSpc>
              <a:spcBef>
                <a:spcPts val="2100"/>
              </a:spcBef>
              <a:defRPr sz="3600" b="1">
                <a:effectLst>
                  <a:outerShdw blurRad="38100" dist="38100" dir="2700000" rotWithShape="0">
                    <a:srgbClr val="C0C0C0"/>
                  </a:outerShdw>
                </a:effectLst>
              </a:defRPr>
            </a:pPr>
            <a:r>
              <a:rPr sz="2800" b="0" dirty="0">
                <a:solidFill>
                  <a:srgbClr val="00006A"/>
                </a:solidFill>
                <a:latin typeface="Wingdings 3"/>
                <a:ea typeface="Wingdings 3"/>
                <a:cs typeface="Wingdings 3"/>
                <a:sym typeface="Wingdings 3"/>
              </a:rPr>
              <a:t></a:t>
            </a:r>
            <a:r>
              <a:rPr lang="zh-CN" altLang="en-US" sz="2800" b="0" dirty="0">
                <a:solidFill>
                  <a:srgbClr val="00006A"/>
                </a:solidFill>
                <a:latin typeface="Wingdings 3"/>
                <a:ea typeface="Wingdings 3"/>
                <a:cs typeface="Wingdings 3"/>
                <a:sym typeface="Wingdings 3"/>
              </a:rPr>
              <a:t> </a:t>
            </a:r>
            <a:r>
              <a:rPr lang="zh-CN" altLang="en-US" sz="2800" b="0" dirty="0">
                <a:solidFill>
                  <a:srgbClr val="00006A"/>
                </a:solidFill>
                <a:latin typeface="SimSun"/>
                <a:ea typeface="SimSun"/>
                <a:cs typeface="SimSun"/>
                <a:sym typeface="SimSun"/>
              </a:rPr>
              <a:t>分布式数据库技术</a:t>
            </a:r>
            <a:endParaRPr b="0" dirty="0">
              <a:latin typeface="SimSong Bold"/>
              <a:ea typeface="SimSong Bold"/>
              <a:cs typeface="SimSong Bold"/>
              <a:sym typeface="SimSong Bold"/>
            </a:endParaRPr>
          </a:p>
          <a:p>
            <a:pPr algn="l">
              <a:lnSpc>
                <a:spcPct val="150000"/>
              </a:lnSpc>
              <a:spcBef>
                <a:spcPts val="1600"/>
              </a:spcBef>
              <a:defRPr b="1">
                <a:solidFill>
                  <a:srgbClr val="00006A"/>
                </a:solidFill>
              </a:defRPr>
            </a:pPr>
            <a:r>
              <a:rPr b="0" dirty="0">
                <a:latin typeface="Wingdings 3"/>
                <a:ea typeface="Wingdings 3"/>
                <a:cs typeface="Wingdings 3"/>
                <a:sym typeface="Wingdings 3"/>
              </a:rPr>
              <a:t> </a:t>
            </a:r>
            <a:r>
              <a:rPr b="0" dirty="0" err="1">
                <a:latin typeface="SimSun"/>
                <a:ea typeface="SimSun"/>
                <a:cs typeface="SimSun"/>
                <a:sym typeface="SimSun"/>
              </a:rPr>
              <a:t>面向对象数据库技术</a:t>
            </a:r>
            <a:endParaRPr b="0" dirty="0">
              <a:latin typeface="SimSong Bold"/>
              <a:ea typeface="SimSong Bold"/>
              <a:cs typeface="SimSong Bold"/>
              <a:sym typeface="SimSong Bold"/>
            </a:endParaRPr>
          </a:p>
          <a:p>
            <a:pPr algn="l">
              <a:lnSpc>
                <a:spcPct val="150000"/>
              </a:lnSpc>
              <a:spcBef>
                <a:spcPts val="1600"/>
              </a:spcBef>
              <a:defRPr b="1">
                <a:solidFill>
                  <a:srgbClr val="00006A"/>
                </a:solidFill>
              </a:defRPr>
            </a:pPr>
            <a:r>
              <a:rPr b="0" dirty="0">
                <a:latin typeface="Wingdings 3"/>
                <a:ea typeface="Wingdings 3"/>
                <a:cs typeface="Wingdings 3"/>
                <a:sym typeface="Wingdings 3"/>
              </a:rPr>
              <a:t> </a:t>
            </a:r>
            <a:r>
              <a:rPr b="0" dirty="0" err="1">
                <a:latin typeface="SimSun"/>
                <a:ea typeface="SimSun"/>
                <a:cs typeface="SimSun"/>
                <a:sym typeface="SimSun"/>
              </a:rPr>
              <a:t>数据仓库</a:t>
            </a:r>
            <a:endParaRPr b="0" dirty="0">
              <a:latin typeface="SimSun"/>
              <a:ea typeface="SimSun"/>
              <a:cs typeface="SimSun"/>
              <a:sym typeface="SimSun"/>
            </a:endParaRPr>
          </a:p>
          <a:p>
            <a:pPr algn="l">
              <a:lnSpc>
                <a:spcPct val="150000"/>
              </a:lnSpc>
              <a:spcBef>
                <a:spcPts val="1600"/>
              </a:spcBef>
              <a:defRPr b="1">
                <a:solidFill>
                  <a:srgbClr val="00006A"/>
                </a:solidFill>
              </a:defRPr>
            </a:pPr>
            <a:r>
              <a:rPr b="0" dirty="0">
                <a:latin typeface="Wingdings 3"/>
                <a:ea typeface="Wingdings 3"/>
                <a:cs typeface="Wingdings 3"/>
                <a:sym typeface="Wingdings 3"/>
              </a:rPr>
              <a:t></a:t>
            </a:r>
            <a:r>
              <a:rPr lang="zh-CN" altLang="en-US" b="0" dirty="0">
                <a:latin typeface="Wingdings 3"/>
                <a:ea typeface="Wingdings 3"/>
                <a:cs typeface="Wingdings 3"/>
                <a:sym typeface="Wingdings 3"/>
              </a:rPr>
              <a:t> </a:t>
            </a:r>
            <a:r>
              <a:rPr b="0" dirty="0" err="1">
                <a:latin typeface="SimSun"/>
                <a:ea typeface="SimSun"/>
                <a:cs typeface="SimSun"/>
                <a:sym typeface="SimSun"/>
              </a:rPr>
              <a:t>云数据库</a:t>
            </a:r>
            <a:endParaRPr b="0" dirty="0">
              <a:latin typeface="SimSun"/>
              <a:ea typeface="SimSun"/>
              <a:cs typeface="SimSun"/>
              <a:sym typeface="SimSun"/>
            </a:endParaRPr>
          </a:p>
          <a:p>
            <a:pPr algn="l">
              <a:lnSpc>
                <a:spcPct val="150000"/>
              </a:lnSpc>
              <a:spcBef>
                <a:spcPts val="1600"/>
              </a:spcBef>
              <a:defRPr b="1">
                <a:solidFill>
                  <a:srgbClr val="00006A"/>
                </a:solidFill>
              </a:defRPr>
            </a:pPr>
            <a:r>
              <a:rPr b="0" dirty="0">
                <a:latin typeface="Wingdings 3"/>
                <a:ea typeface="Wingdings 3"/>
                <a:cs typeface="Wingdings 3"/>
                <a:sym typeface="Wingdings 3"/>
              </a:rPr>
              <a:t></a:t>
            </a:r>
            <a:r>
              <a:rPr lang="zh-CN" altLang="en-US" b="0" dirty="0">
                <a:latin typeface="Wingdings 3"/>
                <a:ea typeface="Wingdings 3"/>
                <a:cs typeface="Wingdings 3"/>
                <a:sym typeface="Wingdings 3"/>
              </a:rPr>
              <a:t> </a:t>
            </a:r>
            <a:r>
              <a:rPr b="0" dirty="0" err="1">
                <a:latin typeface="SimSun"/>
                <a:ea typeface="SimSun"/>
                <a:cs typeface="SimSun"/>
                <a:sym typeface="SimSun"/>
              </a:rPr>
              <a:t>大数据</a:t>
            </a:r>
            <a:endParaRPr b="0" dirty="0">
              <a:latin typeface="SimSun"/>
              <a:ea typeface="SimSun"/>
              <a:cs typeface="SimSun"/>
              <a:sym typeface="SimSun"/>
            </a:endParaRPr>
          </a:p>
          <a:p>
            <a:pPr algn="l">
              <a:lnSpc>
                <a:spcPct val="150000"/>
              </a:lnSpc>
              <a:spcBef>
                <a:spcPts val="1900"/>
              </a:spcBef>
              <a:defRPr b="1">
                <a:solidFill>
                  <a:srgbClr val="00006A"/>
                </a:solidFill>
              </a:defRPr>
            </a:pPr>
            <a:r>
              <a:rPr b="0" dirty="0">
                <a:latin typeface="Wingdings 3"/>
                <a:ea typeface="Wingdings 3"/>
                <a:cs typeface="Wingdings 3"/>
                <a:sym typeface="Wingdings 3"/>
              </a:rPr>
              <a:t></a:t>
            </a:r>
            <a:r>
              <a:rPr lang="zh-CN" altLang="en-US" dirty="0">
                <a:latin typeface="Wingdings 3"/>
                <a:ea typeface="Wingdings 3"/>
                <a:cs typeface="Wingdings 3"/>
                <a:sym typeface="Wingdings 3"/>
              </a:rPr>
              <a:t> </a:t>
            </a:r>
            <a:r>
              <a:rPr b="0" dirty="0" err="1">
                <a:latin typeface="SimSun"/>
                <a:ea typeface="SimSun"/>
                <a:cs typeface="SimSun"/>
                <a:sym typeface="SimSun"/>
              </a:rPr>
              <a:t>其他新型数据库技术</a:t>
            </a:r>
            <a:r>
              <a:rPr dirty="0"/>
              <a:t>      </a:t>
            </a:r>
            <a:r>
              <a:rPr dirty="0">
                <a:solidFill>
                  <a:srgbClr val="000000"/>
                </a:solidFill>
              </a:rPr>
              <a:t>       </a:t>
            </a:r>
            <a:r>
              <a:rPr sz="3200" dirty="0">
                <a:solidFill>
                  <a:srgbClr val="000000"/>
                </a:solidFill>
              </a:rPr>
              <a:t>                                                   </a:t>
            </a:r>
          </a:p>
        </p:txBody>
      </p:sp>
      <p:grpSp>
        <p:nvGrpSpPr>
          <p:cNvPr id="523" name="Group 34"/>
          <p:cNvGrpSpPr/>
          <p:nvPr/>
        </p:nvGrpSpPr>
        <p:grpSpPr>
          <a:xfrm>
            <a:off x="323849" y="188912"/>
            <a:ext cx="8382001" cy="1371601"/>
            <a:chOff x="0" y="0"/>
            <a:chExt cx="8381999" cy="1371600"/>
          </a:xfrm>
        </p:grpSpPr>
        <p:sp>
          <p:nvSpPr>
            <p:cNvPr id="517" name="Rectangle 35"/>
            <p:cNvSpPr/>
            <p:nvPr/>
          </p:nvSpPr>
          <p:spPr>
            <a:xfrm>
              <a:off x="285220" y="141287"/>
              <a:ext cx="622830" cy="617538"/>
            </a:xfrm>
            <a:prstGeom prst="rect">
              <a:avLst/>
            </a:prstGeom>
            <a:gradFill flip="none" rotWithShape="1">
              <a:gsLst>
                <a:gs pos="0">
                  <a:srgbClr val="0000FF"/>
                </a:gs>
                <a:gs pos="100000">
                  <a:schemeClr val="accent1"/>
                </a:gs>
              </a:gsLst>
              <a:lin ang="540000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sp>
          <p:nvSpPr>
            <p:cNvPr id="518" name="Rectangle 36"/>
            <p:cNvSpPr/>
            <p:nvPr/>
          </p:nvSpPr>
          <p:spPr>
            <a:xfrm>
              <a:off x="406003" y="690562"/>
              <a:ext cx="414735" cy="619126"/>
            </a:xfrm>
            <a:prstGeom prst="rect">
              <a:avLst/>
            </a:prstGeom>
            <a:solidFill>
              <a:srgbClr val="FFFF00"/>
            </a:soli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sp>
          <p:nvSpPr>
            <p:cNvPr id="519" name="Rectangle 37"/>
            <p:cNvSpPr/>
            <p:nvPr/>
          </p:nvSpPr>
          <p:spPr>
            <a:xfrm>
              <a:off x="769805" y="690562"/>
              <a:ext cx="360892" cy="619126"/>
            </a:xfrm>
            <a:prstGeom prst="rect">
              <a:avLst/>
            </a:prstGeom>
            <a:gradFill flip="none" rotWithShape="1">
              <a:gsLst>
                <a:gs pos="0">
                  <a:srgbClr val="FFFF00"/>
                </a:gs>
                <a:gs pos="100000">
                  <a:srgbClr val="0000FF"/>
                </a:gs>
              </a:gsLst>
              <a:lin ang="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sp>
          <p:nvSpPr>
            <p:cNvPr id="520" name="Rectangle 38"/>
            <p:cNvSpPr/>
            <p:nvPr/>
          </p:nvSpPr>
          <p:spPr>
            <a:xfrm>
              <a:off x="-1" y="457200"/>
              <a:ext cx="628651" cy="609600"/>
            </a:xfrm>
            <a:prstGeom prst="rect">
              <a:avLst/>
            </a:prstGeom>
            <a:gradFill flip="none" rotWithShape="1">
              <a:gsLst>
                <a:gs pos="0">
                  <a:srgbClr val="0000FF"/>
                </a:gs>
                <a:gs pos="100000">
                  <a:srgbClr val="FF0033"/>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sp>
          <p:nvSpPr>
            <p:cNvPr id="521" name="Rectangle 39"/>
            <p:cNvSpPr/>
            <p:nvPr/>
          </p:nvSpPr>
          <p:spPr>
            <a:xfrm>
              <a:off x="622829" y="0"/>
              <a:ext cx="32015" cy="1371600"/>
            </a:xfrm>
            <a:prstGeom prst="rect">
              <a:avLst/>
            </a:prstGeom>
            <a:solidFill>
              <a:srgbClr val="000000"/>
            </a:soli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sp>
          <p:nvSpPr>
            <p:cNvPr id="522" name="Rectangle 40"/>
            <p:cNvSpPr/>
            <p:nvPr/>
          </p:nvSpPr>
          <p:spPr>
            <a:xfrm>
              <a:off x="309959" y="1030287"/>
              <a:ext cx="8072041" cy="41276"/>
            </a:xfrm>
            <a:prstGeom prst="rect">
              <a:avLst/>
            </a:prstGeom>
            <a:gradFill flip="none" rotWithShape="1">
              <a:gsLst>
                <a:gs pos="0">
                  <a:srgbClr val="000000"/>
                </a:gs>
                <a:gs pos="100000">
                  <a:srgbClr val="0000FF"/>
                </a:gs>
              </a:gsLst>
              <a:lin ang="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grpSp>
      <p:grpSp>
        <p:nvGrpSpPr>
          <p:cNvPr id="527" name="AutoShape 42">
            <a:hlinkClick r:id="rId3" action="ppaction://hlinksldjump"/>
          </p:cNvPr>
          <p:cNvGrpSpPr/>
          <p:nvPr/>
        </p:nvGrpSpPr>
        <p:grpSpPr>
          <a:xfrm>
            <a:off x="7667624" y="6021387"/>
            <a:ext cx="846316" cy="288927"/>
            <a:chOff x="0" y="0"/>
            <a:chExt cx="846314" cy="288925"/>
          </a:xfrm>
        </p:grpSpPr>
        <p:sp>
          <p:nvSpPr>
            <p:cNvPr id="525" name="形状"/>
            <p:cNvSpPr/>
            <p:nvPr/>
          </p:nvSpPr>
          <p:spPr>
            <a:xfrm>
              <a:off x="0" y="0"/>
              <a:ext cx="846315" cy="288926"/>
            </a:xfrm>
            <a:custGeom>
              <a:avLst/>
              <a:gdLst/>
              <a:ahLst/>
              <a:cxnLst>
                <a:cxn ang="0">
                  <a:pos x="wd2" y="hd2"/>
                </a:cxn>
                <a:cxn ang="5400000">
                  <a:pos x="wd2" y="hd2"/>
                </a:cxn>
                <a:cxn ang="10800000">
                  <a:pos x="wd2" y="hd2"/>
                </a:cxn>
                <a:cxn ang="16200000">
                  <a:pos x="wd2" y="hd2"/>
                </a:cxn>
              </a:cxnLst>
              <a:rect l="0" t="0" r="r" b="b"/>
              <a:pathLst>
                <a:path w="21600" h="21600" extrusionOk="0">
                  <a:moveTo>
                    <a:pt x="17633" y="21600"/>
                  </a:moveTo>
                  <a:lnTo>
                    <a:pt x="12784" y="14400"/>
                  </a:lnTo>
                  <a:lnTo>
                    <a:pt x="14988" y="14400"/>
                  </a:lnTo>
                  <a:lnTo>
                    <a:pt x="14988" y="14400"/>
                  </a:lnTo>
                  <a:cubicBezTo>
                    <a:pt x="13898" y="5770"/>
                    <a:pt x="10984" y="0"/>
                    <a:pt x="7714" y="0"/>
                  </a:cubicBezTo>
                  <a:lnTo>
                    <a:pt x="12123" y="0"/>
                  </a:lnTo>
                  <a:cubicBezTo>
                    <a:pt x="15392" y="0"/>
                    <a:pt x="18306" y="5770"/>
                    <a:pt x="19396" y="14400"/>
                  </a:cubicBezTo>
                  <a:lnTo>
                    <a:pt x="21600" y="14400"/>
                  </a:lnTo>
                  <a:close/>
                  <a:moveTo>
                    <a:pt x="9919" y="900"/>
                  </a:moveTo>
                  <a:cubicBezTo>
                    <a:pt x="6649" y="3630"/>
                    <a:pt x="4408" y="12048"/>
                    <a:pt x="4408" y="21600"/>
                  </a:cubicBezTo>
                  <a:lnTo>
                    <a:pt x="0" y="21600"/>
                  </a:lnTo>
                  <a:cubicBezTo>
                    <a:pt x="0" y="9671"/>
                    <a:pt x="3454" y="0"/>
                    <a:pt x="7714" y="0"/>
                  </a:cubicBezTo>
                  <a:cubicBezTo>
                    <a:pt x="8461" y="0"/>
                    <a:pt x="9203" y="303"/>
                    <a:pt x="9919" y="900"/>
                  </a:cubicBezTo>
                  <a:close/>
                </a:path>
              </a:pathLst>
            </a:custGeom>
            <a:solidFill>
              <a:schemeClr val="accent2"/>
            </a:solidFill>
            <a:ln w="12700" cap="flat">
              <a:noFill/>
              <a:miter lim="400000"/>
            </a:ln>
            <a:effectLst/>
          </p:spPr>
          <p:txBody>
            <a:bodyPr wrap="square" lIns="45719" tIns="45719" rIns="45719" bIns="45719" numCol="1" anchor="ctr">
              <a:noAutofit/>
            </a:bodyPr>
            <a:lstStyle/>
            <a:p>
              <a:pPr>
                <a:defRPr>
                  <a:latin typeface="SimSun"/>
                  <a:ea typeface="SimSun"/>
                  <a:cs typeface="SimSun"/>
                  <a:sym typeface="SimSun"/>
                </a:defRPr>
              </a:pPr>
              <a:endParaRPr/>
            </a:p>
          </p:txBody>
        </p:sp>
        <p:sp>
          <p:nvSpPr>
            <p:cNvPr id="526" name="形状"/>
            <p:cNvSpPr/>
            <p:nvPr/>
          </p:nvSpPr>
          <p:spPr>
            <a:xfrm>
              <a:off x="0" y="0"/>
              <a:ext cx="388621" cy="288926"/>
            </a:xfrm>
            <a:custGeom>
              <a:avLst/>
              <a:gdLst/>
              <a:ahLst/>
              <a:cxnLst>
                <a:cxn ang="0">
                  <a:pos x="wd2" y="hd2"/>
                </a:cxn>
                <a:cxn ang="5400000">
                  <a:pos x="wd2" y="hd2"/>
                </a:cxn>
                <a:cxn ang="10800000">
                  <a:pos x="wd2" y="hd2"/>
                </a:cxn>
                <a:cxn ang="16200000">
                  <a:pos x="wd2" y="hd2"/>
                </a:cxn>
              </a:cxnLst>
              <a:rect l="0" t="0" r="r" b="b"/>
              <a:pathLst>
                <a:path w="21600" h="21600" extrusionOk="0">
                  <a:moveTo>
                    <a:pt x="21600" y="900"/>
                  </a:moveTo>
                  <a:cubicBezTo>
                    <a:pt x="14480" y="3630"/>
                    <a:pt x="9600" y="12048"/>
                    <a:pt x="9600" y="21600"/>
                  </a:cubicBezTo>
                  <a:lnTo>
                    <a:pt x="0" y="21600"/>
                  </a:lnTo>
                  <a:cubicBezTo>
                    <a:pt x="0" y="9671"/>
                    <a:pt x="7522" y="0"/>
                    <a:pt x="16800" y="0"/>
                  </a:cubicBezTo>
                  <a:cubicBezTo>
                    <a:pt x="18425" y="0"/>
                    <a:pt x="20042" y="303"/>
                    <a:pt x="21600" y="900"/>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a:defRPr>
                  <a:latin typeface="SimSun"/>
                  <a:ea typeface="SimSun"/>
                  <a:cs typeface="SimSun"/>
                  <a:sym typeface="SimSun"/>
                </a:defRPr>
              </a:pPr>
              <a:endParaRPr/>
            </a:p>
          </p:txBody>
        </p:sp>
      </p:grpSp>
      <p:sp>
        <p:nvSpPr>
          <p:cNvPr id="14" name="Rectangle 2">
            <a:extLst>
              <a:ext uri="{FF2B5EF4-FFF2-40B4-BE49-F238E27FC236}">
                <a16:creationId xmlns:a16="http://schemas.microsoft.com/office/drawing/2014/main" id="{24E48115-E45A-6346-A486-DBD9E804DBFE}"/>
              </a:ext>
            </a:extLst>
          </p:cNvPr>
          <p:cNvSpPr txBox="1"/>
          <p:nvPr/>
        </p:nvSpPr>
        <p:spPr>
          <a:xfrm>
            <a:off x="1346860" y="295824"/>
            <a:ext cx="9052562" cy="700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40000"/>
              </a:lnSpc>
              <a:spcBef>
                <a:spcPts val="1900"/>
              </a:spcBef>
              <a:defRPr sz="3200">
                <a:latin typeface="SimSun"/>
                <a:ea typeface="SimSun"/>
                <a:cs typeface="SimSun"/>
                <a:sym typeface="SimSun"/>
              </a:defRPr>
            </a:pPr>
            <a:r>
              <a:rPr kumimoji="0" lang="zh-CN" altLang="en-US" sz="3200" b="0"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SimSun"/>
                <a:ea typeface="SimSun"/>
                <a:sym typeface="SimSun"/>
              </a:rPr>
              <a:t> </a:t>
            </a:r>
            <a:r>
              <a:rPr kumimoji="0" lang="zh-CN" altLang="en-US" sz="32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 </a:t>
            </a:r>
            <a:r>
              <a:rPr kumimoji="0" lang="en-US" altLang="zh-CN" sz="32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1.2.4</a:t>
            </a:r>
            <a:r>
              <a:rPr kumimoji="0" lang="zh-CN" altLang="en-US" sz="32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 数据库技术的发展</a:t>
            </a:r>
            <a:endParaRPr lang="zh-CN" altLang="en-US" sz="3200" b="1" dirty="0">
              <a:solidFill>
                <a:srgbClr val="000099"/>
              </a:solidFill>
              <a:effectLst>
                <a:outerShdw blurRad="38100" dist="38100" dir="2700000" rotWithShape="0">
                  <a:srgbClr val="C0C0C0"/>
                </a:outerShdw>
              </a:effectLst>
              <a:latin typeface="Times New Roman"/>
              <a:cs typeface="Times New Roman"/>
              <a:sym typeface="SimSun"/>
            </a:endParaRP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 name="Rectangle 4"/>
          <p:cNvSpPr txBox="1"/>
          <p:nvPr/>
        </p:nvSpPr>
        <p:spPr>
          <a:xfrm>
            <a:off x="-206693" y="333375"/>
            <a:ext cx="8994256" cy="59920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101600" lvl="4" indent="1058862">
              <a:lnSpc>
                <a:spcPct val="200000"/>
              </a:lnSpc>
              <a:defRPr>
                <a:solidFill>
                  <a:srgbClr val="000099"/>
                </a:solidFill>
                <a:latin typeface="SimSun"/>
                <a:ea typeface="SimSun"/>
                <a:cs typeface="SimSun"/>
                <a:sym typeface="SimSun"/>
              </a:defRPr>
            </a:pPr>
            <a:r>
              <a:rPr b="1" dirty="0"/>
              <a:t>分布式数据库系统的</a:t>
            </a:r>
            <a:r>
              <a:rPr lang="en-US" altLang="zh-CN" b="1" dirty="0">
                <a:solidFill>
                  <a:srgbClr val="FF0000"/>
                </a:solidFill>
              </a:rPr>
              <a:t>3</a:t>
            </a:r>
            <a:r>
              <a:rPr lang="zh-CN" altLang="en-US" b="1" dirty="0"/>
              <a:t>个</a:t>
            </a:r>
            <a:r>
              <a:rPr b="1" dirty="0" err="1"/>
              <a:t>特点</a:t>
            </a:r>
            <a:r>
              <a:rPr b="1" dirty="0"/>
              <a:t>：</a:t>
            </a:r>
            <a:endParaRPr sz="2400" b="1" dirty="0"/>
          </a:p>
          <a:p>
            <a:pPr marL="1262062" lvl="4" indent="-101600">
              <a:lnSpc>
                <a:spcPct val="200000"/>
              </a:lnSpc>
              <a:buSzPct val="100000"/>
              <a:buFont typeface="Symbol"/>
              <a:buChar char="·"/>
              <a:defRPr sz="2400">
                <a:latin typeface="SimSun"/>
                <a:ea typeface="SimSun"/>
                <a:cs typeface="SimSun"/>
                <a:sym typeface="SimSun"/>
              </a:defRPr>
            </a:pPr>
            <a:r>
              <a:rPr dirty="0"/>
              <a:t> </a:t>
            </a:r>
            <a:r>
              <a:rPr dirty="0" err="1"/>
              <a:t>数据库的数据物理上分布在各个场地，但逻辑上是一个</a:t>
            </a:r>
            <a:r>
              <a:rPr dirty="0"/>
              <a:t>  </a:t>
            </a:r>
          </a:p>
          <a:p>
            <a:pPr marL="101600" lvl="4" indent="1058862">
              <a:lnSpc>
                <a:spcPct val="200000"/>
              </a:lnSpc>
              <a:defRPr sz="2400">
                <a:latin typeface="SimSun"/>
                <a:ea typeface="SimSun"/>
                <a:cs typeface="SimSun"/>
                <a:sym typeface="SimSun"/>
              </a:defRPr>
            </a:pPr>
            <a:r>
              <a:rPr dirty="0"/>
              <a:t>  </a:t>
            </a:r>
            <a:r>
              <a:rPr dirty="0" err="1"/>
              <a:t>整体</a:t>
            </a:r>
            <a:r>
              <a:rPr dirty="0"/>
              <a:t>。</a:t>
            </a:r>
          </a:p>
          <a:p>
            <a:pPr marL="1262062" lvl="4" indent="-101600">
              <a:lnSpc>
                <a:spcPct val="200000"/>
              </a:lnSpc>
              <a:buSzPct val="100000"/>
              <a:buFont typeface="Symbol"/>
              <a:buChar char="·"/>
              <a:defRPr sz="2400">
                <a:latin typeface="SimSun"/>
                <a:ea typeface="SimSun"/>
                <a:cs typeface="SimSun"/>
                <a:sym typeface="SimSun"/>
              </a:defRPr>
            </a:pPr>
            <a:r>
              <a:rPr dirty="0"/>
              <a:t> </a:t>
            </a:r>
            <a:r>
              <a:rPr dirty="0" err="1"/>
              <a:t>每个场地既可以执行局部应用（访问本地DB</a:t>
            </a:r>
            <a:r>
              <a:rPr dirty="0"/>
              <a:t>），</a:t>
            </a:r>
            <a:r>
              <a:rPr dirty="0" err="1"/>
              <a:t>也可以</a:t>
            </a:r>
            <a:r>
              <a:rPr dirty="0"/>
              <a:t> </a:t>
            </a:r>
          </a:p>
          <a:p>
            <a:pPr marL="101600" lvl="4" indent="1058862">
              <a:lnSpc>
                <a:spcPct val="200000"/>
              </a:lnSpc>
              <a:defRPr sz="2400">
                <a:latin typeface="SimSun"/>
                <a:ea typeface="SimSun"/>
                <a:cs typeface="SimSun"/>
                <a:sym typeface="SimSun"/>
              </a:defRPr>
            </a:pPr>
            <a:r>
              <a:rPr dirty="0"/>
              <a:t>  </a:t>
            </a:r>
            <a:r>
              <a:rPr dirty="0" err="1"/>
              <a:t>执行全局应用（访问异地DB</a:t>
            </a:r>
            <a:r>
              <a:rPr dirty="0"/>
              <a:t>）。</a:t>
            </a:r>
          </a:p>
          <a:p>
            <a:pPr marL="1262062" lvl="4" indent="-101600">
              <a:lnSpc>
                <a:spcPct val="200000"/>
              </a:lnSpc>
              <a:buSzPct val="100000"/>
              <a:buFont typeface="Symbol"/>
              <a:buChar char="·"/>
              <a:defRPr sz="2400">
                <a:latin typeface="SimSun"/>
                <a:ea typeface="SimSun"/>
                <a:cs typeface="SimSun"/>
                <a:sym typeface="SimSun"/>
              </a:defRPr>
            </a:pPr>
            <a:r>
              <a:rPr dirty="0"/>
              <a:t> </a:t>
            </a:r>
            <a:r>
              <a:rPr dirty="0" err="1"/>
              <a:t>各地的计算机由数据通信网络相连接</a:t>
            </a:r>
            <a:r>
              <a:rPr dirty="0"/>
              <a:t>。</a:t>
            </a:r>
            <a:endParaRPr lang="en-US" dirty="0"/>
          </a:p>
          <a:p>
            <a:pPr marL="1503362" lvl="7" indent="-342900">
              <a:lnSpc>
                <a:spcPct val="200000"/>
              </a:lnSpc>
              <a:buClr>
                <a:srgbClr val="FF0000"/>
              </a:buClr>
              <a:buSzPct val="100000"/>
              <a:buFont typeface="Apple Symbols" panose="02000000000000000000" pitchFamily="2" charset="-79"/>
              <a:buChar char="⎼"/>
              <a:defRPr sz="2400">
                <a:latin typeface="SimSun"/>
                <a:ea typeface="SimSun"/>
                <a:cs typeface="SimSun"/>
                <a:sym typeface="SimSun"/>
              </a:defRPr>
            </a:pPr>
            <a:r>
              <a:rPr dirty="0" err="1"/>
              <a:t>本地计算机单独不能胜任的处理任务，可以通过通信网络取得其它DB和计算机的支持</a:t>
            </a:r>
            <a:r>
              <a:rPr dirty="0"/>
              <a:t>。</a:t>
            </a:r>
          </a:p>
        </p:txBody>
      </p:sp>
      <p:pic>
        <p:nvPicPr>
          <p:cNvPr id="4" name="图片 3">
            <a:extLst>
              <a:ext uri="{FF2B5EF4-FFF2-40B4-BE49-F238E27FC236}">
                <a16:creationId xmlns:a16="http://schemas.microsoft.com/office/drawing/2014/main" id="{B636F021-441A-9F42-9C85-1D08EDBC3418}"/>
              </a:ext>
            </a:extLst>
          </p:cNvPr>
          <p:cNvPicPr>
            <a:picLocks noChangeAspect="1"/>
          </p:cNvPicPr>
          <p:nvPr/>
        </p:nvPicPr>
        <p:blipFill rotWithShape="1">
          <a:blip r:embed="rId2"/>
          <a:srcRect l="54513" t="18975" b="16967"/>
          <a:stretch/>
        </p:blipFill>
        <p:spPr>
          <a:xfrm>
            <a:off x="515748" y="679901"/>
            <a:ext cx="514932" cy="4786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 name="Rectangle 45"/>
          <p:cNvSpPr txBox="1"/>
          <p:nvPr/>
        </p:nvSpPr>
        <p:spPr>
          <a:xfrm>
            <a:off x="225107" y="0"/>
            <a:ext cx="5885499" cy="447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indent="609600">
              <a:defRPr>
                <a:solidFill>
                  <a:srgbClr val="000099"/>
                </a:solidFill>
                <a:latin typeface="SimSun"/>
                <a:ea typeface="SimSun"/>
                <a:cs typeface="SimSun"/>
                <a:sym typeface="SimSun"/>
              </a:defRPr>
            </a:lvl1pPr>
          </a:lstStyle>
          <a:p>
            <a:r>
              <a:t>分布式数据库系统结构：</a:t>
            </a:r>
          </a:p>
        </p:txBody>
      </p:sp>
      <p:grpSp>
        <p:nvGrpSpPr>
          <p:cNvPr id="578" name="Group 52"/>
          <p:cNvGrpSpPr/>
          <p:nvPr/>
        </p:nvGrpSpPr>
        <p:grpSpPr>
          <a:xfrm>
            <a:off x="-323850" y="1557337"/>
            <a:ext cx="9431338" cy="4606926"/>
            <a:chOff x="0" y="0"/>
            <a:chExt cx="9431337" cy="4606924"/>
          </a:xfrm>
        </p:grpSpPr>
        <p:grpSp>
          <p:nvGrpSpPr>
            <p:cNvPr id="535" name="Group 51"/>
            <p:cNvGrpSpPr/>
            <p:nvPr/>
          </p:nvGrpSpPr>
          <p:grpSpPr>
            <a:xfrm>
              <a:off x="2374900" y="2447924"/>
              <a:ext cx="5184776" cy="1152526"/>
              <a:chOff x="0" y="0"/>
              <a:chExt cx="5184775" cy="1152524"/>
            </a:xfrm>
          </p:grpSpPr>
          <p:sp>
            <p:nvSpPr>
              <p:cNvPr id="532" name="Line 49"/>
              <p:cNvSpPr/>
              <p:nvPr/>
            </p:nvSpPr>
            <p:spPr>
              <a:xfrm>
                <a:off x="3600450" y="360362"/>
                <a:ext cx="1" cy="792163"/>
              </a:xfrm>
              <a:prstGeom prst="line">
                <a:avLst/>
              </a:prstGeom>
              <a:noFill/>
              <a:ln w="9525" cap="flat">
                <a:solidFill>
                  <a:srgbClr val="000000"/>
                </a:solidFill>
                <a:prstDash val="solid"/>
                <a:round/>
              </a:ln>
              <a:effectLst/>
            </p:spPr>
            <p:txBody>
              <a:bodyPr wrap="square" lIns="45719" tIns="45719" rIns="45719" bIns="45719" numCol="1" anchor="t">
                <a:noAutofit/>
              </a:bodyPr>
              <a:lstStyle/>
              <a:p>
                <a:pPr>
                  <a:defRPr>
                    <a:solidFill>
                      <a:srgbClr val="FFFFFF"/>
                    </a:solidFill>
                  </a:defRPr>
                </a:pPr>
                <a:endParaRPr/>
              </a:p>
            </p:txBody>
          </p:sp>
          <p:sp>
            <p:nvSpPr>
              <p:cNvPr id="533" name="Line 47"/>
              <p:cNvSpPr/>
              <p:nvPr/>
            </p:nvSpPr>
            <p:spPr>
              <a:xfrm>
                <a:off x="0" y="-1"/>
                <a:ext cx="720726" cy="1"/>
              </a:xfrm>
              <a:prstGeom prst="line">
                <a:avLst/>
              </a:prstGeom>
              <a:noFill/>
              <a:ln w="9525" cap="flat">
                <a:solidFill>
                  <a:srgbClr val="000000"/>
                </a:solidFill>
                <a:prstDash val="solid"/>
                <a:round/>
              </a:ln>
              <a:effectLst/>
            </p:spPr>
            <p:txBody>
              <a:bodyPr wrap="square" lIns="45719" tIns="45719" rIns="45719" bIns="45719" numCol="1" anchor="t">
                <a:noAutofit/>
              </a:bodyPr>
              <a:lstStyle/>
              <a:p>
                <a:pPr>
                  <a:defRPr>
                    <a:solidFill>
                      <a:srgbClr val="FFFFFF"/>
                    </a:solidFill>
                  </a:defRPr>
                </a:pPr>
                <a:endParaRPr/>
              </a:p>
            </p:txBody>
          </p:sp>
          <p:sp>
            <p:nvSpPr>
              <p:cNvPr id="534" name="Line 48"/>
              <p:cNvSpPr/>
              <p:nvPr/>
            </p:nvSpPr>
            <p:spPr>
              <a:xfrm>
                <a:off x="4249738" y="-1"/>
                <a:ext cx="935038" cy="1"/>
              </a:xfrm>
              <a:prstGeom prst="line">
                <a:avLst/>
              </a:prstGeom>
              <a:noFill/>
              <a:ln w="9525" cap="flat">
                <a:solidFill>
                  <a:srgbClr val="000000"/>
                </a:solidFill>
                <a:prstDash val="solid"/>
                <a:round/>
              </a:ln>
              <a:effectLst/>
            </p:spPr>
            <p:txBody>
              <a:bodyPr wrap="square" lIns="45719" tIns="45719" rIns="45719" bIns="45719" numCol="1" anchor="t">
                <a:noAutofit/>
              </a:bodyPr>
              <a:lstStyle/>
              <a:p>
                <a:pPr>
                  <a:defRPr>
                    <a:solidFill>
                      <a:srgbClr val="FFFFFF"/>
                    </a:solidFill>
                  </a:defRPr>
                </a:pPr>
                <a:endParaRPr/>
              </a:p>
            </p:txBody>
          </p:sp>
        </p:grpSp>
        <p:grpSp>
          <p:nvGrpSpPr>
            <p:cNvPr id="577" name="Group 46"/>
            <p:cNvGrpSpPr/>
            <p:nvPr/>
          </p:nvGrpSpPr>
          <p:grpSpPr>
            <a:xfrm>
              <a:off x="0" y="0"/>
              <a:ext cx="9431338" cy="4606925"/>
              <a:chOff x="0" y="0"/>
              <a:chExt cx="9431337" cy="4606924"/>
            </a:xfrm>
          </p:grpSpPr>
          <p:grpSp>
            <p:nvGrpSpPr>
              <p:cNvPr id="538" name="Rectangle 7"/>
              <p:cNvGrpSpPr/>
              <p:nvPr/>
            </p:nvGrpSpPr>
            <p:grpSpPr>
              <a:xfrm>
                <a:off x="4248150" y="71437"/>
                <a:ext cx="1196976" cy="755650"/>
                <a:chOff x="0" y="0"/>
                <a:chExt cx="1196975" cy="755649"/>
              </a:xfrm>
            </p:grpSpPr>
            <p:sp>
              <p:nvSpPr>
                <p:cNvPr id="536" name="矩形"/>
                <p:cNvSpPr/>
                <p:nvPr/>
              </p:nvSpPr>
              <p:spPr>
                <a:xfrm>
                  <a:off x="-1" y="-1"/>
                  <a:ext cx="1196976" cy="755651"/>
                </a:xfrm>
                <a:prstGeom prst="rect">
                  <a:avLst/>
                </a:prstGeom>
                <a:solidFill>
                  <a:srgbClr val="FFFFFF"/>
                </a:solidFill>
                <a:ln w="9525" cap="flat">
                  <a:solidFill>
                    <a:srgbClr val="000000"/>
                  </a:solidFill>
                  <a:prstDash val="solid"/>
                  <a:miter lim="800000"/>
                </a:ln>
                <a:effectLst/>
              </p:spPr>
              <p:txBody>
                <a:bodyPr wrap="square" lIns="45719" tIns="45719" rIns="45719" bIns="45719" numCol="1" anchor="t">
                  <a:noAutofit/>
                </a:bodyPr>
                <a:lstStyle/>
                <a:p>
                  <a:pPr algn="ctr">
                    <a:defRPr sz="1800">
                      <a:latin typeface="SimSun"/>
                      <a:ea typeface="SimSun"/>
                      <a:cs typeface="SimSun"/>
                      <a:sym typeface="SimSun"/>
                    </a:defRPr>
                  </a:pPr>
                  <a:endParaRPr/>
                </a:p>
              </p:txBody>
            </p:sp>
            <p:sp>
              <p:nvSpPr>
                <p:cNvPr id="537" name="通信网"/>
                <p:cNvSpPr txBox="1"/>
                <p:nvPr/>
              </p:nvSpPr>
              <p:spPr>
                <a:xfrm>
                  <a:off x="50482" y="4762"/>
                  <a:ext cx="1096011" cy="3200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gn="ctr">
                    <a:defRPr sz="1800">
                      <a:latin typeface="SimSun"/>
                      <a:ea typeface="SimSun"/>
                      <a:cs typeface="SimSun"/>
                      <a:sym typeface="SimSun"/>
                    </a:defRPr>
                  </a:lvl1pPr>
                </a:lstStyle>
                <a:p>
                  <a:pPr>
                    <a:defRPr b="1">
                      <a:latin typeface="+mn-lt"/>
                      <a:ea typeface="+mn-ea"/>
                      <a:cs typeface="+mn-cs"/>
                      <a:sym typeface="Times New Roman"/>
                    </a:defRPr>
                  </a:pPr>
                  <a:r>
                    <a:rPr b="0">
                      <a:latin typeface="SimSun"/>
                      <a:ea typeface="SimSun"/>
                      <a:cs typeface="SimSun"/>
                      <a:sym typeface="SimSun"/>
                    </a:rPr>
                    <a:t>通信网</a:t>
                  </a:r>
                </a:p>
              </p:txBody>
            </p:sp>
          </p:grpSp>
          <p:grpSp>
            <p:nvGrpSpPr>
              <p:cNvPr id="541" name="Rectangle 8"/>
              <p:cNvGrpSpPr/>
              <p:nvPr/>
            </p:nvGrpSpPr>
            <p:grpSpPr>
              <a:xfrm>
                <a:off x="3100387" y="2087562"/>
                <a:ext cx="1406526" cy="757238"/>
                <a:chOff x="0" y="0"/>
                <a:chExt cx="1406524" cy="757237"/>
              </a:xfrm>
            </p:grpSpPr>
            <p:sp>
              <p:nvSpPr>
                <p:cNvPr id="539" name="矩形"/>
                <p:cNvSpPr/>
                <p:nvPr/>
              </p:nvSpPr>
              <p:spPr>
                <a:xfrm>
                  <a:off x="0" y="-1"/>
                  <a:ext cx="1406525" cy="757239"/>
                </a:xfrm>
                <a:prstGeom prst="rect">
                  <a:avLst/>
                </a:prstGeom>
                <a:solidFill>
                  <a:srgbClr val="FFFFFF"/>
                </a:solidFill>
                <a:ln w="9525" cap="flat">
                  <a:solidFill>
                    <a:srgbClr val="000000"/>
                  </a:solidFill>
                  <a:prstDash val="solid"/>
                  <a:miter lim="800000"/>
                </a:ln>
                <a:effectLst/>
              </p:spPr>
              <p:txBody>
                <a:bodyPr wrap="square" lIns="45719" tIns="45719" rIns="45719" bIns="45719" numCol="1" anchor="t">
                  <a:noAutofit/>
                </a:bodyPr>
                <a:lstStyle/>
                <a:p>
                  <a:pPr algn="ctr">
                    <a:defRPr sz="1800">
                      <a:solidFill>
                        <a:srgbClr val="000099"/>
                      </a:solidFill>
                      <a:latin typeface="SimSun"/>
                      <a:ea typeface="SimSun"/>
                      <a:cs typeface="SimSun"/>
                      <a:sym typeface="SimSun"/>
                    </a:defRPr>
                  </a:pPr>
                  <a:endParaRPr/>
                </a:p>
              </p:txBody>
            </p:sp>
            <p:sp>
              <p:nvSpPr>
                <p:cNvPr id="540" name="局部处理机"/>
                <p:cNvSpPr txBox="1"/>
                <p:nvPr/>
              </p:nvSpPr>
              <p:spPr>
                <a:xfrm>
                  <a:off x="4762" y="50482"/>
                  <a:ext cx="1397001" cy="2286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defRPr sz="1800">
                      <a:solidFill>
                        <a:srgbClr val="000099"/>
                      </a:solidFill>
                      <a:latin typeface="SimSun"/>
                      <a:ea typeface="SimSun"/>
                      <a:cs typeface="SimSun"/>
                      <a:sym typeface="SimSun"/>
                    </a:defRPr>
                  </a:lvl1pPr>
                </a:lstStyle>
                <a:p>
                  <a:pPr>
                    <a:defRPr b="1">
                      <a:latin typeface="+mn-lt"/>
                      <a:ea typeface="+mn-ea"/>
                      <a:cs typeface="+mn-cs"/>
                      <a:sym typeface="Times New Roman"/>
                    </a:defRPr>
                  </a:pPr>
                  <a:r>
                    <a:rPr b="0">
                      <a:latin typeface="SimSun"/>
                      <a:ea typeface="SimSun"/>
                      <a:cs typeface="SimSun"/>
                      <a:sym typeface="SimSun"/>
                    </a:rPr>
                    <a:t>局部处理机</a:t>
                  </a:r>
                </a:p>
              </p:txBody>
            </p:sp>
          </p:grpSp>
          <p:sp>
            <p:nvSpPr>
              <p:cNvPr id="542" name="AutoShape 9"/>
              <p:cNvSpPr/>
              <p:nvPr/>
            </p:nvSpPr>
            <p:spPr>
              <a:xfrm flipH="1">
                <a:off x="7554913" y="1835149"/>
                <a:ext cx="654051" cy="1009650"/>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21600" y="0"/>
                    </a:lnTo>
                    <a:lnTo>
                      <a:pt x="21600" y="21600"/>
                    </a:lnTo>
                    <a:lnTo>
                      <a:pt x="0" y="21600"/>
                    </a:lnTo>
                    <a:close/>
                  </a:path>
                </a:pathLst>
              </a:custGeom>
              <a:solidFill>
                <a:srgbClr val="FFFFFF"/>
              </a:solidFill>
              <a:ln w="9525" cap="flat">
                <a:solidFill>
                  <a:srgbClr val="000000"/>
                </a:solidFill>
                <a:prstDash val="solid"/>
                <a:miter lim="800000"/>
              </a:ln>
              <a:effectLst/>
            </p:spPr>
            <p:txBody>
              <a:bodyPr wrap="square" lIns="45719" tIns="45719" rIns="45719" bIns="45719" numCol="1" anchor="t">
                <a:noAutofit/>
              </a:bodyPr>
              <a:lstStyle/>
              <a:p>
                <a:pPr>
                  <a:defRPr>
                    <a:latin typeface="SimSun"/>
                    <a:ea typeface="SimSun"/>
                    <a:cs typeface="SimSun"/>
                    <a:sym typeface="SimSun"/>
                  </a:defRPr>
                </a:pPr>
                <a:endParaRPr/>
              </a:p>
            </p:txBody>
          </p:sp>
          <p:grpSp>
            <p:nvGrpSpPr>
              <p:cNvPr id="545" name="Rectangle 13"/>
              <p:cNvGrpSpPr/>
              <p:nvPr/>
            </p:nvGrpSpPr>
            <p:grpSpPr>
              <a:xfrm>
                <a:off x="5211763" y="2087562"/>
                <a:ext cx="1406526" cy="757238"/>
                <a:chOff x="0" y="0"/>
                <a:chExt cx="1406524" cy="757237"/>
              </a:xfrm>
            </p:grpSpPr>
            <p:sp>
              <p:nvSpPr>
                <p:cNvPr id="543" name="矩形"/>
                <p:cNvSpPr/>
                <p:nvPr/>
              </p:nvSpPr>
              <p:spPr>
                <a:xfrm>
                  <a:off x="0" y="-1"/>
                  <a:ext cx="1406525" cy="757239"/>
                </a:xfrm>
                <a:prstGeom prst="rect">
                  <a:avLst/>
                </a:prstGeom>
                <a:solidFill>
                  <a:srgbClr val="FFFFFF"/>
                </a:solidFill>
                <a:ln w="9525" cap="flat">
                  <a:solidFill>
                    <a:srgbClr val="000000"/>
                  </a:solidFill>
                  <a:prstDash val="solid"/>
                  <a:miter lim="800000"/>
                </a:ln>
                <a:effectLst/>
              </p:spPr>
              <p:txBody>
                <a:bodyPr wrap="square" lIns="45719" tIns="45719" rIns="45719" bIns="45719" numCol="1" anchor="t">
                  <a:noAutofit/>
                </a:bodyPr>
                <a:lstStyle/>
                <a:p>
                  <a:pPr algn="ctr">
                    <a:defRPr sz="1800">
                      <a:solidFill>
                        <a:srgbClr val="000099"/>
                      </a:solidFill>
                      <a:latin typeface="SimSun"/>
                      <a:ea typeface="SimSun"/>
                      <a:cs typeface="SimSun"/>
                      <a:sym typeface="SimSun"/>
                    </a:defRPr>
                  </a:pPr>
                  <a:endParaRPr/>
                </a:p>
              </p:txBody>
            </p:sp>
            <p:sp>
              <p:nvSpPr>
                <p:cNvPr id="544" name="局部处理机"/>
                <p:cNvSpPr txBox="1"/>
                <p:nvPr/>
              </p:nvSpPr>
              <p:spPr>
                <a:xfrm>
                  <a:off x="4762" y="50482"/>
                  <a:ext cx="1397001" cy="2286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defRPr sz="1800">
                      <a:solidFill>
                        <a:srgbClr val="000099"/>
                      </a:solidFill>
                      <a:latin typeface="SimSun"/>
                      <a:ea typeface="SimSun"/>
                      <a:cs typeface="SimSun"/>
                      <a:sym typeface="SimSun"/>
                    </a:defRPr>
                  </a:lvl1pPr>
                </a:lstStyle>
                <a:p>
                  <a:pPr>
                    <a:defRPr b="1">
                      <a:latin typeface="+mn-lt"/>
                      <a:ea typeface="+mn-ea"/>
                      <a:cs typeface="+mn-cs"/>
                      <a:sym typeface="Times New Roman"/>
                    </a:defRPr>
                  </a:pPr>
                  <a:r>
                    <a:rPr b="0">
                      <a:latin typeface="SimSun"/>
                      <a:ea typeface="SimSun"/>
                      <a:cs typeface="SimSun"/>
                      <a:sym typeface="SimSun"/>
                    </a:rPr>
                    <a:t>局部处理机</a:t>
                  </a:r>
                </a:p>
              </p:txBody>
            </p:sp>
          </p:grpSp>
          <p:sp>
            <p:nvSpPr>
              <p:cNvPr id="546" name="Line 14"/>
              <p:cNvSpPr/>
              <p:nvPr/>
            </p:nvSpPr>
            <p:spPr>
              <a:xfrm>
                <a:off x="2163762" y="576262"/>
                <a:ext cx="2109788" cy="1"/>
              </a:xfrm>
              <a:prstGeom prst="line">
                <a:avLst/>
              </a:prstGeom>
              <a:noFill/>
              <a:ln w="9525" cap="flat">
                <a:solidFill>
                  <a:srgbClr val="000000"/>
                </a:solidFill>
                <a:prstDash val="solid"/>
                <a:round/>
              </a:ln>
              <a:effectLst/>
            </p:spPr>
            <p:txBody>
              <a:bodyPr wrap="square" lIns="45719" tIns="45719" rIns="45719" bIns="45719" numCol="1" anchor="t">
                <a:noAutofit/>
              </a:bodyPr>
              <a:lstStyle/>
              <a:p>
                <a:pPr>
                  <a:defRPr>
                    <a:solidFill>
                      <a:srgbClr val="FFFFFF"/>
                    </a:solidFill>
                  </a:defRPr>
                </a:pPr>
                <a:endParaRPr/>
              </a:p>
            </p:txBody>
          </p:sp>
          <p:sp>
            <p:nvSpPr>
              <p:cNvPr id="547" name="Line 15"/>
              <p:cNvSpPr/>
              <p:nvPr/>
            </p:nvSpPr>
            <p:spPr>
              <a:xfrm>
                <a:off x="5445125" y="576262"/>
                <a:ext cx="2109788" cy="1"/>
              </a:xfrm>
              <a:prstGeom prst="line">
                <a:avLst/>
              </a:prstGeom>
              <a:noFill/>
              <a:ln w="9525" cap="flat">
                <a:solidFill>
                  <a:srgbClr val="000000"/>
                </a:solidFill>
                <a:prstDash val="solid"/>
                <a:round/>
              </a:ln>
              <a:effectLst/>
            </p:spPr>
            <p:txBody>
              <a:bodyPr wrap="square" lIns="45719" tIns="45719" rIns="45719" bIns="45719" numCol="1" anchor="t">
                <a:noAutofit/>
              </a:bodyPr>
              <a:lstStyle/>
              <a:p>
                <a:pPr>
                  <a:defRPr>
                    <a:solidFill>
                      <a:srgbClr val="FFFFFF"/>
                    </a:solidFill>
                  </a:defRPr>
                </a:pPr>
                <a:endParaRPr/>
              </a:p>
            </p:txBody>
          </p:sp>
          <p:sp>
            <p:nvSpPr>
              <p:cNvPr id="548" name="Freeform 16"/>
              <p:cNvSpPr/>
              <p:nvPr/>
            </p:nvSpPr>
            <p:spPr>
              <a:xfrm flipH="1">
                <a:off x="3803650" y="1370012"/>
                <a:ext cx="392113" cy="717551"/>
              </a:xfrm>
              <a:prstGeom prst="line">
                <a:avLst/>
              </a:prstGeom>
              <a:noFill/>
              <a:ln w="9525" cap="flat">
                <a:solidFill>
                  <a:srgbClr val="000000"/>
                </a:solidFill>
                <a:prstDash val="solid"/>
                <a:round/>
              </a:ln>
              <a:effectLst/>
            </p:spPr>
            <p:txBody>
              <a:bodyPr wrap="square" lIns="45719" tIns="45719" rIns="45719" bIns="45719" numCol="1" anchor="t">
                <a:noAutofit/>
              </a:bodyPr>
              <a:lstStyle/>
              <a:p>
                <a:pPr>
                  <a:defRPr>
                    <a:solidFill>
                      <a:srgbClr val="FFFFFF"/>
                    </a:solidFill>
                  </a:defRPr>
                </a:pPr>
                <a:endParaRPr/>
              </a:p>
            </p:txBody>
          </p:sp>
          <p:sp>
            <p:nvSpPr>
              <p:cNvPr id="549" name="Freeform 17"/>
              <p:cNvSpPr/>
              <p:nvPr/>
            </p:nvSpPr>
            <p:spPr>
              <a:xfrm>
                <a:off x="5211763" y="827087"/>
                <a:ext cx="233363" cy="446088"/>
              </a:xfrm>
              <a:prstGeom prst="line">
                <a:avLst/>
              </a:prstGeom>
              <a:noFill/>
              <a:ln w="9525" cap="flat">
                <a:solidFill>
                  <a:srgbClr val="000000"/>
                </a:solidFill>
                <a:prstDash val="solid"/>
                <a:round/>
              </a:ln>
              <a:effectLst/>
            </p:spPr>
            <p:txBody>
              <a:bodyPr wrap="square" lIns="45719" tIns="45719" rIns="45719" bIns="45719" numCol="1" anchor="t">
                <a:noAutofit/>
              </a:bodyPr>
              <a:lstStyle/>
              <a:p>
                <a:pPr>
                  <a:defRPr>
                    <a:solidFill>
                      <a:srgbClr val="FFFFFF"/>
                    </a:solidFill>
                  </a:defRPr>
                </a:pPr>
                <a:endParaRPr/>
              </a:p>
            </p:txBody>
          </p:sp>
          <p:sp>
            <p:nvSpPr>
              <p:cNvPr id="550" name="Line 19"/>
              <p:cNvSpPr/>
              <p:nvPr/>
            </p:nvSpPr>
            <p:spPr>
              <a:xfrm>
                <a:off x="3803650" y="2844799"/>
                <a:ext cx="1" cy="755650"/>
              </a:xfrm>
              <a:prstGeom prst="line">
                <a:avLst/>
              </a:prstGeom>
              <a:noFill/>
              <a:ln w="9525" cap="flat">
                <a:solidFill>
                  <a:srgbClr val="000000"/>
                </a:solidFill>
                <a:prstDash val="solid"/>
                <a:round/>
              </a:ln>
              <a:effectLst/>
            </p:spPr>
            <p:txBody>
              <a:bodyPr wrap="square" lIns="45719" tIns="45719" rIns="45719" bIns="45719" numCol="1" anchor="t">
                <a:noAutofit/>
              </a:bodyPr>
              <a:lstStyle/>
              <a:p>
                <a:pPr>
                  <a:defRPr>
                    <a:solidFill>
                      <a:srgbClr val="FFFFFF"/>
                    </a:solidFill>
                  </a:defRPr>
                </a:pPr>
                <a:endParaRPr/>
              </a:p>
            </p:txBody>
          </p:sp>
          <p:sp>
            <p:nvSpPr>
              <p:cNvPr id="551" name="Freeform 22"/>
              <p:cNvSpPr/>
              <p:nvPr/>
            </p:nvSpPr>
            <p:spPr>
              <a:xfrm>
                <a:off x="4038600" y="1079499"/>
                <a:ext cx="527051" cy="24288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2133" y="720"/>
                      <a:pt x="4373" y="288"/>
                      <a:pt x="6400" y="2160"/>
                    </a:cubicBezTo>
                    <a:cubicBezTo>
                      <a:pt x="7680" y="3312"/>
                      <a:pt x="8480" y="6624"/>
                      <a:pt x="9600" y="8640"/>
                    </a:cubicBezTo>
                    <a:cubicBezTo>
                      <a:pt x="14667" y="17712"/>
                      <a:pt x="16000" y="21600"/>
                      <a:pt x="21600" y="21600"/>
                    </a:cubicBezTo>
                  </a:path>
                </a:pathLst>
              </a:custGeom>
              <a:noFill/>
              <a:ln w="9525" cap="flat">
                <a:solidFill>
                  <a:srgbClr val="000000"/>
                </a:solidFill>
                <a:prstDash val="solid"/>
                <a:round/>
              </a:ln>
              <a:effectLst/>
            </p:spPr>
            <p:txBody>
              <a:bodyPr wrap="square" lIns="45719" tIns="45719" rIns="45719" bIns="45719" numCol="1" anchor="t">
                <a:noAutofit/>
              </a:bodyPr>
              <a:lstStyle/>
              <a:p>
                <a:pPr>
                  <a:defRPr>
                    <a:latin typeface="SimSun"/>
                    <a:ea typeface="SimSun"/>
                    <a:cs typeface="SimSun"/>
                    <a:sym typeface="SimSun"/>
                  </a:defRPr>
                </a:pPr>
                <a:endParaRPr/>
              </a:p>
            </p:txBody>
          </p:sp>
          <p:sp>
            <p:nvSpPr>
              <p:cNvPr id="552" name="Freeform 23"/>
              <p:cNvSpPr/>
              <p:nvPr/>
            </p:nvSpPr>
            <p:spPr>
              <a:xfrm>
                <a:off x="4038600" y="1331912"/>
                <a:ext cx="527051" cy="24288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2133" y="720"/>
                      <a:pt x="4373" y="288"/>
                      <a:pt x="6400" y="2160"/>
                    </a:cubicBezTo>
                    <a:cubicBezTo>
                      <a:pt x="7680" y="3312"/>
                      <a:pt x="8480" y="6624"/>
                      <a:pt x="9600" y="8640"/>
                    </a:cubicBezTo>
                    <a:cubicBezTo>
                      <a:pt x="14667" y="17712"/>
                      <a:pt x="16000" y="21600"/>
                      <a:pt x="21600" y="21600"/>
                    </a:cubicBezTo>
                  </a:path>
                </a:pathLst>
              </a:custGeom>
              <a:noFill/>
              <a:ln w="9525" cap="flat">
                <a:solidFill>
                  <a:srgbClr val="000000"/>
                </a:solidFill>
                <a:prstDash val="solid"/>
                <a:round/>
              </a:ln>
              <a:effectLst/>
            </p:spPr>
            <p:txBody>
              <a:bodyPr wrap="square" lIns="45719" tIns="45719" rIns="45719" bIns="45719" numCol="1" anchor="t">
                <a:noAutofit/>
              </a:bodyPr>
              <a:lstStyle/>
              <a:p>
                <a:pPr>
                  <a:defRPr>
                    <a:latin typeface="SimSun"/>
                    <a:ea typeface="SimSun"/>
                    <a:cs typeface="SimSun"/>
                    <a:sym typeface="SimSun"/>
                  </a:defRPr>
                </a:pPr>
                <a:endParaRPr/>
              </a:p>
            </p:txBody>
          </p:sp>
          <p:sp>
            <p:nvSpPr>
              <p:cNvPr id="553" name="Freeform 24"/>
              <p:cNvSpPr/>
              <p:nvPr/>
            </p:nvSpPr>
            <p:spPr>
              <a:xfrm flipH="1">
                <a:off x="5211763" y="1079499"/>
                <a:ext cx="527051" cy="24288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2133" y="720"/>
                      <a:pt x="4373" y="288"/>
                      <a:pt x="6400" y="2160"/>
                    </a:cubicBezTo>
                    <a:cubicBezTo>
                      <a:pt x="7680" y="3312"/>
                      <a:pt x="8480" y="6624"/>
                      <a:pt x="9600" y="8640"/>
                    </a:cubicBezTo>
                    <a:cubicBezTo>
                      <a:pt x="14667" y="17712"/>
                      <a:pt x="16000" y="21600"/>
                      <a:pt x="21600" y="21600"/>
                    </a:cubicBezTo>
                  </a:path>
                </a:pathLst>
              </a:custGeom>
              <a:noFill/>
              <a:ln w="9525" cap="flat">
                <a:solidFill>
                  <a:srgbClr val="000000"/>
                </a:solidFill>
                <a:prstDash val="solid"/>
                <a:round/>
              </a:ln>
              <a:effectLst/>
            </p:spPr>
            <p:txBody>
              <a:bodyPr wrap="square" lIns="45719" tIns="45719" rIns="45719" bIns="45719" numCol="1" anchor="t">
                <a:noAutofit/>
              </a:bodyPr>
              <a:lstStyle/>
              <a:p>
                <a:pPr>
                  <a:defRPr>
                    <a:latin typeface="SimSun"/>
                    <a:ea typeface="SimSun"/>
                    <a:cs typeface="SimSun"/>
                    <a:sym typeface="SimSun"/>
                  </a:defRPr>
                </a:pPr>
                <a:endParaRPr/>
              </a:p>
            </p:txBody>
          </p:sp>
          <p:sp>
            <p:nvSpPr>
              <p:cNvPr id="554" name="Freeform 25"/>
              <p:cNvSpPr/>
              <p:nvPr/>
            </p:nvSpPr>
            <p:spPr>
              <a:xfrm flipH="1">
                <a:off x="5211763" y="1331912"/>
                <a:ext cx="527051" cy="24288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2133" y="720"/>
                      <a:pt x="4373" y="288"/>
                      <a:pt x="6400" y="2160"/>
                    </a:cubicBezTo>
                    <a:cubicBezTo>
                      <a:pt x="7680" y="3312"/>
                      <a:pt x="8480" y="6624"/>
                      <a:pt x="9600" y="8640"/>
                    </a:cubicBezTo>
                    <a:cubicBezTo>
                      <a:pt x="14667" y="17712"/>
                      <a:pt x="16000" y="21600"/>
                      <a:pt x="21600" y="21600"/>
                    </a:cubicBezTo>
                  </a:path>
                </a:pathLst>
              </a:custGeom>
              <a:noFill/>
              <a:ln w="9525" cap="flat">
                <a:solidFill>
                  <a:srgbClr val="000000"/>
                </a:solidFill>
                <a:prstDash val="solid"/>
                <a:round/>
              </a:ln>
              <a:effectLst/>
            </p:spPr>
            <p:txBody>
              <a:bodyPr wrap="square" lIns="45719" tIns="45719" rIns="45719" bIns="45719" numCol="1" anchor="t">
                <a:noAutofit/>
              </a:bodyPr>
              <a:lstStyle/>
              <a:p>
                <a:pPr>
                  <a:defRPr>
                    <a:latin typeface="SimSun"/>
                    <a:ea typeface="SimSun"/>
                    <a:cs typeface="SimSun"/>
                    <a:sym typeface="SimSun"/>
                  </a:defRPr>
                </a:pPr>
                <a:endParaRPr/>
              </a:p>
            </p:txBody>
          </p:sp>
          <p:sp>
            <p:nvSpPr>
              <p:cNvPr id="555" name="Freeform 26"/>
              <p:cNvSpPr/>
              <p:nvPr/>
            </p:nvSpPr>
            <p:spPr>
              <a:xfrm flipH="1">
                <a:off x="4292600" y="827087"/>
                <a:ext cx="214313" cy="398463"/>
              </a:xfrm>
              <a:prstGeom prst="line">
                <a:avLst/>
              </a:prstGeom>
              <a:noFill/>
              <a:ln w="9525" cap="flat">
                <a:solidFill>
                  <a:srgbClr val="000000"/>
                </a:solidFill>
                <a:prstDash val="solid"/>
                <a:round/>
              </a:ln>
              <a:effectLst/>
            </p:spPr>
            <p:txBody>
              <a:bodyPr wrap="square" lIns="45719" tIns="45719" rIns="45719" bIns="45719" numCol="1" anchor="t">
                <a:noAutofit/>
              </a:bodyPr>
              <a:lstStyle/>
              <a:p>
                <a:pPr>
                  <a:defRPr>
                    <a:solidFill>
                      <a:srgbClr val="FFFFFF"/>
                    </a:solidFill>
                  </a:defRPr>
                </a:pPr>
                <a:endParaRPr/>
              </a:p>
            </p:txBody>
          </p:sp>
          <p:sp>
            <p:nvSpPr>
              <p:cNvPr id="556" name="Freeform 27"/>
              <p:cNvSpPr/>
              <p:nvPr/>
            </p:nvSpPr>
            <p:spPr>
              <a:xfrm>
                <a:off x="5562600" y="1466849"/>
                <a:ext cx="352426" cy="620714"/>
              </a:xfrm>
              <a:prstGeom prst="line">
                <a:avLst/>
              </a:prstGeom>
              <a:noFill/>
              <a:ln w="9525" cap="flat">
                <a:solidFill>
                  <a:srgbClr val="000000"/>
                </a:solidFill>
                <a:prstDash val="solid"/>
                <a:round/>
              </a:ln>
              <a:effectLst/>
            </p:spPr>
            <p:txBody>
              <a:bodyPr wrap="square" lIns="45719" tIns="45719" rIns="45719" bIns="45719" numCol="1" anchor="t">
                <a:noAutofit/>
              </a:bodyPr>
              <a:lstStyle/>
              <a:p>
                <a:pPr>
                  <a:defRPr>
                    <a:solidFill>
                      <a:srgbClr val="FFFFFF"/>
                    </a:solidFill>
                  </a:defRPr>
                </a:pPr>
                <a:endParaRPr/>
              </a:p>
            </p:txBody>
          </p:sp>
          <p:sp>
            <p:nvSpPr>
              <p:cNvPr id="557" name="Text Box 30"/>
              <p:cNvSpPr txBox="1"/>
              <p:nvPr/>
            </p:nvSpPr>
            <p:spPr>
              <a:xfrm>
                <a:off x="7848600" y="2133282"/>
                <a:ext cx="1582738" cy="2286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indent="609600" algn="ctr">
                  <a:defRPr sz="1800">
                    <a:latin typeface="SimSun"/>
                    <a:ea typeface="SimSun"/>
                    <a:cs typeface="SimSun"/>
                    <a:sym typeface="SimSun"/>
                  </a:defRPr>
                </a:lvl1pPr>
              </a:lstStyle>
              <a:p>
                <a:pPr>
                  <a:defRPr b="1">
                    <a:latin typeface="+mn-lt"/>
                    <a:ea typeface="+mn-ea"/>
                    <a:cs typeface="+mn-cs"/>
                    <a:sym typeface="Times New Roman"/>
                  </a:defRPr>
                </a:pPr>
                <a:r>
                  <a:rPr b="0">
                    <a:latin typeface="SimSun"/>
                    <a:ea typeface="SimSun"/>
                    <a:cs typeface="SimSun"/>
                    <a:sym typeface="SimSun"/>
                  </a:rPr>
                  <a:t>局部终端</a:t>
                </a:r>
              </a:p>
            </p:txBody>
          </p:sp>
          <p:grpSp>
            <p:nvGrpSpPr>
              <p:cNvPr id="562" name="Group 34"/>
              <p:cNvGrpSpPr/>
              <p:nvPr/>
            </p:nvGrpSpPr>
            <p:grpSpPr>
              <a:xfrm>
                <a:off x="7554912" y="71437"/>
                <a:ext cx="1700214" cy="1008063"/>
                <a:chOff x="0" y="0"/>
                <a:chExt cx="1700213" cy="1008062"/>
              </a:xfrm>
            </p:grpSpPr>
            <p:grpSp>
              <p:nvGrpSpPr>
                <p:cNvPr id="560" name="AutoShape 10"/>
                <p:cNvGrpSpPr/>
                <p:nvPr/>
              </p:nvGrpSpPr>
              <p:grpSpPr>
                <a:xfrm>
                  <a:off x="-1" y="-1"/>
                  <a:ext cx="725490" cy="1008064"/>
                  <a:chOff x="0" y="0"/>
                  <a:chExt cx="725488" cy="1008062"/>
                </a:xfrm>
              </p:grpSpPr>
              <p:sp>
                <p:nvSpPr>
                  <p:cNvPr id="558" name="形状"/>
                  <p:cNvSpPr/>
                  <p:nvPr/>
                </p:nvSpPr>
                <p:spPr>
                  <a:xfrm>
                    <a:off x="-1" y="-1"/>
                    <a:ext cx="725489" cy="1008064"/>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latin typeface="SimSun"/>
                        <a:ea typeface="SimSun"/>
                        <a:cs typeface="SimSun"/>
                        <a:sym typeface="SimSun"/>
                      </a:defRPr>
                    </a:pPr>
                    <a:endParaRPr/>
                  </a:p>
                </p:txBody>
              </p:sp>
              <p:sp>
                <p:nvSpPr>
                  <p:cNvPr id="559" name="形状"/>
                  <p:cNvSpPr/>
                  <p:nvPr/>
                </p:nvSpPr>
                <p:spPr>
                  <a:xfrm>
                    <a:off x="-1" y="-1"/>
                    <a:ext cx="725489" cy="1008064"/>
                  </a:xfrm>
                  <a:custGeom>
                    <a:avLst/>
                    <a:gdLst/>
                    <a:ahLst/>
                    <a:cxnLst>
                      <a:cxn ang="0">
                        <a:pos x="wd2" y="hd2"/>
                      </a:cxn>
                      <a:cxn ang="5400000">
                        <a:pos x="wd2" y="hd2"/>
                      </a:cxn>
                      <a:cxn ang="10800000">
                        <a:pos x="wd2" y="hd2"/>
                      </a:cxn>
                      <a:cxn ang="16200000">
                        <a:pos x="wd2" y="hd2"/>
                      </a:cxn>
                    </a:cxnLst>
                    <a:rect l="0" t="0" r="r" b="b"/>
                    <a:pathLst>
                      <a:path w="21600" h="21600"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9525" cap="flat">
                    <a:solidFill>
                      <a:srgbClr val="000000"/>
                    </a:solidFill>
                    <a:prstDash val="solid"/>
                    <a:round/>
                  </a:ln>
                  <a:effectLst/>
                </p:spPr>
                <p:txBody>
                  <a:bodyPr wrap="square" lIns="45719" tIns="45719" rIns="45719" bIns="45719" numCol="1" anchor="t">
                    <a:noAutofit/>
                  </a:bodyPr>
                  <a:lstStyle/>
                  <a:p>
                    <a:pPr>
                      <a:defRPr>
                        <a:latin typeface="SimSun"/>
                        <a:ea typeface="SimSun"/>
                        <a:cs typeface="SimSun"/>
                        <a:sym typeface="SimSun"/>
                      </a:defRPr>
                    </a:pPr>
                    <a:endParaRPr/>
                  </a:p>
                </p:txBody>
              </p:sp>
            </p:grpSp>
            <p:sp>
              <p:nvSpPr>
                <p:cNvPr id="561" name="Text Box 31"/>
                <p:cNvSpPr txBox="1"/>
                <p:nvPr/>
              </p:nvSpPr>
              <p:spPr>
                <a:xfrm>
                  <a:off x="293688" y="333057"/>
                  <a:ext cx="1406526" cy="2286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indent="609600" algn="ctr">
                    <a:defRPr sz="1800">
                      <a:latin typeface="SimSun"/>
                      <a:ea typeface="SimSun"/>
                      <a:cs typeface="SimSun"/>
                      <a:sym typeface="SimSun"/>
                    </a:defRPr>
                  </a:lvl1pPr>
                </a:lstStyle>
                <a:p>
                  <a:pPr>
                    <a:defRPr b="1">
                      <a:latin typeface="+mn-lt"/>
                      <a:ea typeface="+mn-ea"/>
                      <a:cs typeface="+mn-cs"/>
                      <a:sym typeface="Times New Roman"/>
                    </a:defRPr>
                  </a:pPr>
                  <a:r>
                    <a:rPr b="0">
                      <a:latin typeface="SimSun"/>
                      <a:ea typeface="SimSun"/>
                      <a:cs typeface="SimSun"/>
                      <a:sym typeface="SimSun"/>
                    </a:rPr>
                    <a:t>数据库</a:t>
                  </a:r>
                </a:p>
              </p:txBody>
            </p:sp>
          </p:grpSp>
          <p:grpSp>
            <p:nvGrpSpPr>
              <p:cNvPr id="567" name="Group 35"/>
              <p:cNvGrpSpPr/>
              <p:nvPr/>
            </p:nvGrpSpPr>
            <p:grpSpPr>
              <a:xfrm>
                <a:off x="5616574" y="3598862"/>
                <a:ext cx="1700215" cy="1008063"/>
                <a:chOff x="0" y="0"/>
                <a:chExt cx="1700213" cy="1008062"/>
              </a:xfrm>
            </p:grpSpPr>
            <p:grpSp>
              <p:nvGrpSpPr>
                <p:cNvPr id="565" name="AutoShape 36"/>
                <p:cNvGrpSpPr/>
                <p:nvPr/>
              </p:nvGrpSpPr>
              <p:grpSpPr>
                <a:xfrm>
                  <a:off x="-1" y="-1"/>
                  <a:ext cx="725490" cy="1008064"/>
                  <a:chOff x="0" y="0"/>
                  <a:chExt cx="725488" cy="1008062"/>
                </a:xfrm>
              </p:grpSpPr>
              <p:sp>
                <p:nvSpPr>
                  <p:cNvPr id="563" name="形状"/>
                  <p:cNvSpPr/>
                  <p:nvPr/>
                </p:nvSpPr>
                <p:spPr>
                  <a:xfrm>
                    <a:off x="-1" y="-1"/>
                    <a:ext cx="725489" cy="1008064"/>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latin typeface="SimSun"/>
                        <a:ea typeface="SimSun"/>
                        <a:cs typeface="SimSun"/>
                        <a:sym typeface="SimSun"/>
                      </a:defRPr>
                    </a:pPr>
                    <a:endParaRPr/>
                  </a:p>
                </p:txBody>
              </p:sp>
              <p:sp>
                <p:nvSpPr>
                  <p:cNvPr id="564" name="形状"/>
                  <p:cNvSpPr/>
                  <p:nvPr/>
                </p:nvSpPr>
                <p:spPr>
                  <a:xfrm>
                    <a:off x="-1" y="-1"/>
                    <a:ext cx="725489" cy="1008064"/>
                  </a:xfrm>
                  <a:custGeom>
                    <a:avLst/>
                    <a:gdLst/>
                    <a:ahLst/>
                    <a:cxnLst>
                      <a:cxn ang="0">
                        <a:pos x="wd2" y="hd2"/>
                      </a:cxn>
                      <a:cxn ang="5400000">
                        <a:pos x="wd2" y="hd2"/>
                      </a:cxn>
                      <a:cxn ang="10800000">
                        <a:pos x="wd2" y="hd2"/>
                      </a:cxn>
                      <a:cxn ang="16200000">
                        <a:pos x="wd2" y="hd2"/>
                      </a:cxn>
                    </a:cxnLst>
                    <a:rect l="0" t="0" r="r" b="b"/>
                    <a:pathLst>
                      <a:path w="21600" h="21600"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9525" cap="flat">
                    <a:solidFill>
                      <a:srgbClr val="000000"/>
                    </a:solidFill>
                    <a:prstDash val="solid"/>
                    <a:round/>
                  </a:ln>
                  <a:effectLst/>
                </p:spPr>
                <p:txBody>
                  <a:bodyPr wrap="square" lIns="45719" tIns="45719" rIns="45719" bIns="45719" numCol="1" anchor="t">
                    <a:noAutofit/>
                  </a:bodyPr>
                  <a:lstStyle/>
                  <a:p>
                    <a:pPr>
                      <a:defRPr>
                        <a:latin typeface="SimSun"/>
                        <a:ea typeface="SimSun"/>
                        <a:cs typeface="SimSun"/>
                        <a:sym typeface="SimSun"/>
                      </a:defRPr>
                    </a:pPr>
                    <a:endParaRPr/>
                  </a:p>
                </p:txBody>
              </p:sp>
            </p:grpSp>
            <p:sp>
              <p:nvSpPr>
                <p:cNvPr id="566" name="Text Box 37"/>
                <p:cNvSpPr txBox="1"/>
                <p:nvPr/>
              </p:nvSpPr>
              <p:spPr>
                <a:xfrm>
                  <a:off x="293688" y="333057"/>
                  <a:ext cx="1406526" cy="2286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indent="609600" algn="ctr">
                    <a:defRPr sz="1800">
                      <a:latin typeface="SimSun"/>
                      <a:ea typeface="SimSun"/>
                      <a:cs typeface="SimSun"/>
                      <a:sym typeface="SimSun"/>
                    </a:defRPr>
                  </a:lvl1pPr>
                </a:lstStyle>
                <a:p>
                  <a:pPr>
                    <a:defRPr b="1">
                      <a:latin typeface="+mn-lt"/>
                      <a:ea typeface="+mn-ea"/>
                      <a:cs typeface="+mn-cs"/>
                      <a:sym typeface="Times New Roman"/>
                    </a:defRPr>
                  </a:pPr>
                  <a:r>
                    <a:rPr b="0">
                      <a:latin typeface="SimSun"/>
                      <a:ea typeface="SimSun"/>
                      <a:cs typeface="SimSun"/>
                      <a:sym typeface="SimSun"/>
                    </a:rPr>
                    <a:t>数据库</a:t>
                  </a:r>
                </a:p>
              </p:txBody>
            </p:sp>
          </p:grpSp>
          <p:grpSp>
            <p:nvGrpSpPr>
              <p:cNvPr id="572" name="Group 38"/>
              <p:cNvGrpSpPr/>
              <p:nvPr/>
            </p:nvGrpSpPr>
            <p:grpSpPr>
              <a:xfrm>
                <a:off x="3411536" y="3598862"/>
                <a:ext cx="1700215" cy="1008063"/>
                <a:chOff x="0" y="0"/>
                <a:chExt cx="1700213" cy="1008062"/>
              </a:xfrm>
            </p:grpSpPr>
            <p:grpSp>
              <p:nvGrpSpPr>
                <p:cNvPr id="570" name="AutoShape 39"/>
                <p:cNvGrpSpPr/>
                <p:nvPr/>
              </p:nvGrpSpPr>
              <p:grpSpPr>
                <a:xfrm>
                  <a:off x="-1" y="-1"/>
                  <a:ext cx="725490" cy="1008064"/>
                  <a:chOff x="0" y="0"/>
                  <a:chExt cx="725488" cy="1008062"/>
                </a:xfrm>
              </p:grpSpPr>
              <p:sp>
                <p:nvSpPr>
                  <p:cNvPr id="568" name="形状"/>
                  <p:cNvSpPr/>
                  <p:nvPr/>
                </p:nvSpPr>
                <p:spPr>
                  <a:xfrm>
                    <a:off x="-1" y="-1"/>
                    <a:ext cx="725489" cy="1008064"/>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latin typeface="SimSun"/>
                        <a:ea typeface="SimSun"/>
                        <a:cs typeface="SimSun"/>
                        <a:sym typeface="SimSun"/>
                      </a:defRPr>
                    </a:pPr>
                    <a:endParaRPr/>
                  </a:p>
                </p:txBody>
              </p:sp>
              <p:sp>
                <p:nvSpPr>
                  <p:cNvPr id="569" name="形状"/>
                  <p:cNvSpPr/>
                  <p:nvPr/>
                </p:nvSpPr>
                <p:spPr>
                  <a:xfrm>
                    <a:off x="-1" y="-1"/>
                    <a:ext cx="725489" cy="1008064"/>
                  </a:xfrm>
                  <a:custGeom>
                    <a:avLst/>
                    <a:gdLst/>
                    <a:ahLst/>
                    <a:cxnLst>
                      <a:cxn ang="0">
                        <a:pos x="wd2" y="hd2"/>
                      </a:cxn>
                      <a:cxn ang="5400000">
                        <a:pos x="wd2" y="hd2"/>
                      </a:cxn>
                      <a:cxn ang="10800000">
                        <a:pos x="wd2" y="hd2"/>
                      </a:cxn>
                      <a:cxn ang="16200000">
                        <a:pos x="wd2" y="hd2"/>
                      </a:cxn>
                    </a:cxnLst>
                    <a:rect l="0" t="0" r="r" b="b"/>
                    <a:pathLst>
                      <a:path w="21600" h="21600"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9525" cap="flat">
                    <a:solidFill>
                      <a:srgbClr val="000000"/>
                    </a:solidFill>
                    <a:prstDash val="solid"/>
                    <a:round/>
                  </a:ln>
                  <a:effectLst/>
                </p:spPr>
                <p:txBody>
                  <a:bodyPr wrap="square" lIns="45719" tIns="45719" rIns="45719" bIns="45719" numCol="1" anchor="t">
                    <a:noAutofit/>
                  </a:bodyPr>
                  <a:lstStyle/>
                  <a:p>
                    <a:pPr>
                      <a:defRPr>
                        <a:latin typeface="SimSun"/>
                        <a:ea typeface="SimSun"/>
                        <a:cs typeface="SimSun"/>
                        <a:sym typeface="SimSun"/>
                      </a:defRPr>
                    </a:pPr>
                    <a:endParaRPr/>
                  </a:p>
                </p:txBody>
              </p:sp>
            </p:grpSp>
            <p:sp>
              <p:nvSpPr>
                <p:cNvPr id="571" name="Text Box 40"/>
                <p:cNvSpPr txBox="1"/>
                <p:nvPr/>
              </p:nvSpPr>
              <p:spPr>
                <a:xfrm>
                  <a:off x="293688" y="333057"/>
                  <a:ext cx="1406526" cy="2286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indent="609600" algn="ctr">
                    <a:defRPr sz="1800">
                      <a:latin typeface="SimSun"/>
                      <a:ea typeface="SimSun"/>
                      <a:cs typeface="SimSun"/>
                      <a:sym typeface="SimSun"/>
                    </a:defRPr>
                  </a:lvl1pPr>
                </a:lstStyle>
                <a:p>
                  <a:pPr>
                    <a:defRPr b="1">
                      <a:latin typeface="+mn-lt"/>
                      <a:ea typeface="+mn-ea"/>
                      <a:cs typeface="+mn-cs"/>
                      <a:sym typeface="Times New Roman"/>
                    </a:defRPr>
                  </a:pPr>
                  <a:r>
                    <a:rPr b="0">
                      <a:latin typeface="SimSun"/>
                      <a:ea typeface="SimSun"/>
                      <a:cs typeface="SimSun"/>
                      <a:sym typeface="SimSun"/>
                    </a:rPr>
                    <a:t>数据库</a:t>
                  </a:r>
                </a:p>
              </p:txBody>
            </p:sp>
          </p:grpSp>
          <p:sp>
            <p:nvSpPr>
              <p:cNvPr id="573" name="AutoShape 41"/>
              <p:cNvSpPr/>
              <p:nvPr/>
            </p:nvSpPr>
            <p:spPr>
              <a:xfrm flipH="1">
                <a:off x="1727200" y="1871662"/>
                <a:ext cx="654051" cy="1009650"/>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21600" y="0"/>
                    </a:lnTo>
                    <a:lnTo>
                      <a:pt x="21600" y="21600"/>
                    </a:lnTo>
                    <a:lnTo>
                      <a:pt x="0" y="21600"/>
                    </a:lnTo>
                    <a:close/>
                  </a:path>
                </a:pathLst>
              </a:custGeom>
              <a:solidFill>
                <a:srgbClr val="FFFFFF"/>
              </a:solidFill>
              <a:ln w="9525" cap="flat">
                <a:solidFill>
                  <a:srgbClr val="000000"/>
                </a:solidFill>
                <a:prstDash val="solid"/>
                <a:miter lim="800000"/>
              </a:ln>
              <a:effectLst/>
            </p:spPr>
            <p:txBody>
              <a:bodyPr wrap="square" lIns="45719" tIns="45719" rIns="45719" bIns="45719" numCol="1" anchor="t">
                <a:noAutofit/>
              </a:bodyPr>
              <a:lstStyle/>
              <a:p>
                <a:pPr>
                  <a:defRPr>
                    <a:latin typeface="SimSun"/>
                    <a:ea typeface="SimSun"/>
                    <a:cs typeface="SimSun"/>
                    <a:sym typeface="SimSun"/>
                  </a:defRPr>
                </a:pPr>
                <a:endParaRPr/>
              </a:p>
            </p:txBody>
          </p:sp>
          <p:sp>
            <p:nvSpPr>
              <p:cNvPr id="574" name="AutoShape 42"/>
              <p:cNvSpPr/>
              <p:nvPr/>
            </p:nvSpPr>
            <p:spPr>
              <a:xfrm flipH="1">
                <a:off x="1727200" y="0"/>
                <a:ext cx="654051" cy="1009650"/>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21600" y="0"/>
                    </a:lnTo>
                    <a:lnTo>
                      <a:pt x="21600" y="21600"/>
                    </a:lnTo>
                    <a:lnTo>
                      <a:pt x="0" y="21600"/>
                    </a:lnTo>
                    <a:close/>
                  </a:path>
                </a:pathLst>
              </a:custGeom>
              <a:solidFill>
                <a:srgbClr val="FFFFFF"/>
              </a:solidFill>
              <a:ln w="9525" cap="flat">
                <a:solidFill>
                  <a:srgbClr val="000000"/>
                </a:solidFill>
                <a:prstDash val="solid"/>
                <a:miter lim="800000"/>
              </a:ln>
              <a:effectLst/>
            </p:spPr>
            <p:txBody>
              <a:bodyPr wrap="square" lIns="45719" tIns="45719" rIns="45719" bIns="45719" numCol="1" anchor="t">
                <a:noAutofit/>
              </a:bodyPr>
              <a:lstStyle/>
              <a:p>
                <a:pPr>
                  <a:defRPr>
                    <a:latin typeface="SimSun"/>
                    <a:ea typeface="SimSun"/>
                    <a:cs typeface="SimSun"/>
                    <a:sym typeface="SimSun"/>
                  </a:defRPr>
                </a:pPr>
                <a:endParaRPr/>
              </a:p>
            </p:txBody>
          </p:sp>
          <p:sp>
            <p:nvSpPr>
              <p:cNvPr id="575" name="Text Box 43"/>
              <p:cNvSpPr txBox="1"/>
              <p:nvPr/>
            </p:nvSpPr>
            <p:spPr>
              <a:xfrm>
                <a:off x="0" y="2061844"/>
                <a:ext cx="1582737" cy="2286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indent="609600" algn="ctr">
                  <a:defRPr sz="1800">
                    <a:latin typeface="SimSun"/>
                    <a:ea typeface="SimSun"/>
                    <a:cs typeface="SimSun"/>
                    <a:sym typeface="SimSun"/>
                  </a:defRPr>
                </a:lvl1pPr>
              </a:lstStyle>
              <a:p>
                <a:pPr>
                  <a:defRPr b="1">
                    <a:latin typeface="+mn-lt"/>
                    <a:ea typeface="+mn-ea"/>
                    <a:cs typeface="+mn-cs"/>
                    <a:sym typeface="Times New Roman"/>
                  </a:defRPr>
                </a:pPr>
                <a:r>
                  <a:rPr b="0">
                    <a:latin typeface="SimSun"/>
                    <a:ea typeface="SimSun"/>
                    <a:cs typeface="SimSun"/>
                    <a:sym typeface="SimSun"/>
                  </a:rPr>
                  <a:t>局部终端</a:t>
                </a:r>
              </a:p>
            </p:txBody>
          </p:sp>
          <p:sp>
            <p:nvSpPr>
              <p:cNvPr id="576" name="Text Box 44"/>
              <p:cNvSpPr txBox="1"/>
              <p:nvPr/>
            </p:nvSpPr>
            <p:spPr>
              <a:xfrm>
                <a:off x="0" y="188594"/>
                <a:ext cx="1582737" cy="2286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indent="609600" algn="ctr">
                  <a:defRPr sz="1800">
                    <a:latin typeface="SimSun"/>
                    <a:ea typeface="SimSun"/>
                    <a:cs typeface="SimSun"/>
                    <a:sym typeface="SimSun"/>
                  </a:defRPr>
                </a:lvl1pPr>
              </a:lstStyle>
              <a:p>
                <a:pPr>
                  <a:defRPr b="1">
                    <a:latin typeface="+mn-lt"/>
                    <a:ea typeface="+mn-ea"/>
                    <a:cs typeface="+mn-cs"/>
                    <a:sym typeface="Times New Roman"/>
                  </a:defRPr>
                </a:pPr>
                <a:r>
                  <a:rPr b="0">
                    <a:latin typeface="SimSun"/>
                    <a:ea typeface="SimSun"/>
                    <a:cs typeface="SimSun"/>
                    <a:sym typeface="SimSun"/>
                  </a:rPr>
                  <a:t>全局终端</a:t>
                </a:r>
              </a:p>
            </p:txBody>
          </p:sp>
        </p:grpSp>
      </p:grpSp>
      <p:grpSp>
        <p:nvGrpSpPr>
          <p:cNvPr id="581" name="AutoShape 54">
            <a:hlinkClick r:id="rId2" action="ppaction://hlinksldjump"/>
          </p:cNvPr>
          <p:cNvGrpSpPr/>
          <p:nvPr/>
        </p:nvGrpSpPr>
        <p:grpSpPr>
          <a:xfrm>
            <a:off x="8243888" y="6032922"/>
            <a:ext cx="719295" cy="564728"/>
            <a:chOff x="0" y="0"/>
            <a:chExt cx="719293" cy="564727"/>
          </a:xfrm>
        </p:grpSpPr>
        <p:sp>
          <p:nvSpPr>
            <p:cNvPr id="579" name="形状"/>
            <p:cNvSpPr/>
            <p:nvPr/>
          </p:nvSpPr>
          <p:spPr>
            <a:xfrm rot="10800000" flipH="1">
              <a:off x="0" y="0"/>
              <a:ext cx="719294" cy="564728"/>
            </a:xfrm>
            <a:custGeom>
              <a:avLst/>
              <a:gdLst/>
              <a:ahLst/>
              <a:cxnLst>
                <a:cxn ang="0">
                  <a:pos x="wd2" y="hd2"/>
                </a:cxn>
                <a:cxn ang="5400000">
                  <a:pos x="wd2" y="hd2"/>
                </a:cxn>
                <a:cxn ang="10800000">
                  <a:pos x="wd2" y="hd2"/>
                </a:cxn>
                <a:cxn ang="16200000">
                  <a:pos x="wd2" y="hd2"/>
                </a:cxn>
              </a:cxnLst>
              <a:rect l="0" t="0" r="r" b="b"/>
              <a:pathLst>
                <a:path w="19454" h="21600" extrusionOk="0">
                  <a:moveTo>
                    <a:pt x="0" y="17633"/>
                  </a:moveTo>
                  <a:lnTo>
                    <a:pt x="6483" y="12784"/>
                  </a:lnTo>
                  <a:lnTo>
                    <a:pt x="6483" y="14988"/>
                  </a:lnTo>
                  <a:lnTo>
                    <a:pt x="6483" y="14988"/>
                  </a:lnTo>
                  <a:cubicBezTo>
                    <a:pt x="12345" y="14166"/>
                    <a:pt x="16863" y="12282"/>
                    <a:pt x="18639" y="9919"/>
                  </a:cubicBezTo>
                  <a:cubicBezTo>
                    <a:pt x="21600" y="13858"/>
                    <a:pt x="16254" y="18026"/>
                    <a:pt x="6483" y="19396"/>
                  </a:cubicBezTo>
                  <a:lnTo>
                    <a:pt x="6483" y="21600"/>
                  </a:lnTo>
                  <a:close/>
                  <a:moveTo>
                    <a:pt x="19450" y="12123"/>
                  </a:moveTo>
                  <a:cubicBezTo>
                    <a:pt x="19450" y="7862"/>
                    <a:pt x="10742" y="4408"/>
                    <a:pt x="0" y="4408"/>
                  </a:cubicBezTo>
                  <a:lnTo>
                    <a:pt x="0" y="0"/>
                  </a:lnTo>
                  <a:cubicBezTo>
                    <a:pt x="10742" y="0"/>
                    <a:pt x="19450" y="3454"/>
                    <a:pt x="19450" y="7714"/>
                  </a:cubicBezTo>
                  <a:close/>
                </a:path>
              </a:pathLst>
            </a:custGeom>
            <a:solidFill>
              <a:schemeClr val="accent2"/>
            </a:solidFill>
            <a:ln w="12700" cap="flat">
              <a:noFill/>
              <a:miter lim="400000"/>
            </a:ln>
            <a:effectLst/>
          </p:spPr>
          <p:txBody>
            <a:bodyPr wrap="square" lIns="45719" tIns="45719" rIns="45719" bIns="45719" numCol="1" anchor="ctr">
              <a:noAutofit/>
            </a:bodyPr>
            <a:lstStyle/>
            <a:p>
              <a:pPr>
                <a:defRPr>
                  <a:latin typeface="SimSun"/>
                  <a:ea typeface="SimSun"/>
                  <a:cs typeface="SimSun"/>
                  <a:sym typeface="SimSun"/>
                </a:defRPr>
              </a:pPr>
              <a:endParaRPr/>
            </a:p>
          </p:txBody>
        </p:sp>
        <p:sp>
          <p:nvSpPr>
            <p:cNvPr id="580" name="形状"/>
            <p:cNvSpPr/>
            <p:nvPr/>
          </p:nvSpPr>
          <p:spPr>
            <a:xfrm rot="10800000" flipH="1">
              <a:off x="0" y="247783"/>
              <a:ext cx="719138" cy="31694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14009"/>
                    <a:pt x="11929" y="7855"/>
                    <a:pt x="0" y="7855"/>
                  </a:cubicBezTo>
                  <a:lnTo>
                    <a:pt x="0" y="0"/>
                  </a:lnTo>
                  <a:cubicBezTo>
                    <a:pt x="11929" y="0"/>
                    <a:pt x="21600" y="6154"/>
                    <a:pt x="21600" y="13745"/>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a:defRPr>
                  <a:latin typeface="SimSun"/>
                  <a:ea typeface="SimSun"/>
                  <a:cs typeface="SimSun"/>
                  <a:sym typeface="SimSun"/>
                </a:defRPr>
              </a:pPr>
              <a:endParaRPr/>
            </a:p>
          </p:txBody>
        </p:sp>
      </p:gr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 name="Rectangle 4"/>
          <p:cNvSpPr txBox="1"/>
          <p:nvPr/>
        </p:nvSpPr>
        <p:spPr>
          <a:xfrm>
            <a:off x="225107" y="836612"/>
            <a:ext cx="8873174" cy="46126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indent="609600">
              <a:defRPr>
                <a:solidFill>
                  <a:srgbClr val="000099"/>
                </a:solidFill>
                <a:latin typeface="SimSun"/>
                <a:ea typeface="SimSun"/>
                <a:cs typeface="SimSun"/>
                <a:sym typeface="SimSun"/>
              </a:defRPr>
            </a:pPr>
            <a:r>
              <a:rPr dirty="0"/>
              <a:t>面向对象数据库系统的</a:t>
            </a:r>
            <a:r>
              <a:rPr lang="en-US" altLang="zh-CN" dirty="0">
                <a:solidFill>
                  <a:srgbClr val="FF0000"/>
                </a:solidFill>
              </a:rPr>
              <a:t>2</a:t>
            </a:r>
            <a:r>
              <a:rPr lang="zh-CN" altLang="en-US" dirty="0"/>
              <a:t>个</a:t>
            </a:r>
            <a:r>
              <a:rPr dirty="0" err="1"/>
              <a:t>特点</a:t>
            </a:r>
            <a:r>
              <a:rPr dirty="0"/>
              <a:t>：</a:t>
            </a:r>
          </a:p>
          <a:p>
            <a:pPr indent="609600">
              <a:defRPr>
                <a:latin typeface="SimSun"/>
                <a:ea typeface="SimSun"/>
                <a:cs typeface="SimSun"/>
                <a:sym typeface="SimSun"/>
              </a:defRPr>
            </a:pPr>
            <a:r>
              <a:rPr dirty="0">
                <a:latin typeface="Symbol"/>
                <a:ea typeface="Symbol"/>
                <a:cs typeface="Symbol"/>
                <a:sym typeface="Symbol"/>
              </a:rPr>
              <a:t>·  </a:t>
            </a:r>
            <a:r>
              <a:rPr dirty="0" err="1"/>
              <a:t>面向对象数据模型能完整地描述现实世界的数</a:t>
            </a:r>
            <a:r>
              <a:rPr dirty="0"/>
              <a:t>  </a:t>
            </a:r>
          </a:p>
          <a:p>
            <a:pPr indent="609600">
              <a:defRPr>
                <a:latin typeface="SimSun"/>
                <a:ea typeface="SimSun"/>
                <a:cs typeface="SimSun"/>
                <a:sym typeface="SimSun"/>
              </a:defRPr>
            </a:pPr>
            <a:r>
              <a:rPr dirty="0"/>
              <a:t>   </a:t>
            </a:r>
            <a:r>
              <a:rPr dirty="0" err="1"/>
              <a:t>据结构，能表达数据间嵌套、递归的联系</a:t>
            </a:r>
            <a:r>
              <a:rPr dirty="0"/>
              <a:t>。</a:t>
            </a:r>
          </a:p>
          <a:p>
            <a:pPr indent="609600">
              <a:defRPr>
                <a:latin typeface="SimSun"/>
                <a:ea typeface="SimSun"/>
                <a:cs typeface="SimSun"/>
                <a:sym typeface="SimSun"/>
              </a:defRPr>
            </a:pPr>
            <a:r>
              <a:rPr dirty="0">
                <a:latin typeface="Symbol"/>
                <a:ea typeface="Symbol"/>
                <a:cs typeface="Symbol"/>
                <a:sym typeface="Symbol"/>
              </a:rPr>
              <a:t>· </a:t>
            </a:r>
            <a:r>
              <a:rPr dirty="0" err="1"/>
              <a:t>具有面向对象技术的封装性（把数据与操作定</a:t>
            </a:r>
            <a:endParaRPr dirty="0"/>
          </a:p>
          <a:p>
            <a:pPr indent="609600">
              <a:defRPr>
                <a:latin typeface="SimSun"/>
                <a:ea typeface="SimSun"/>
                <a:cs typeface="SimSun"/>
                <a:sym typeface="SimSun"/>
              </a:defRPr>
            </a:pPr>
            <a:r>
              <a:rPr dirty="0"/>
              <a:t> </a:t>
            </a:r>
            <a:r>
              <a:rPr dirty="0" err="1"/>
              <a:t>义在义在一起）和继承性（继承数据结构和操作</a:t>
            </a:r>
            <a:r>
              <a:rPr dirty="0"/>
              <a:t>） </a:t>
            </a:r>
          </a:p>
          <a:p>
            <a:pPr indent="609600">
              <a:defRPr>
                <a:latin typeface="SimSun"/>
                <a:ea typeface="SimSun"/>
                <a:cs typeface="SimSun"/>
                <a:sym typeface="SimSun"/>
              </a:defRPr>
            </a:pPr>
            <a:r>
              <a:rPr dirty="0"/>
              <a:t> </a:t>
            </a:r>
            <a:r>
              <a:rPr dirty="0" err="1"/>
              <a:t>的特点，提高了软件的可重用性</a:t>
            </a:r>
            <a:r>
              <a:rPr dirty="0"/>
              <a:t>。</a:t>
            </a:r>
          </a:p>
        </p:txBody>
      </p:sp>
      <p:pic>
        <p:nvPicPr>
          <p:cNvPr id="3" name="图片 2">
            <a:extLst>
              <a:ext uri="{FF2B5EF4-FFF2-40B4-BE49-F238E27FC236}">
                <a16:creationId xmlns:a16="http://schemas.microsoft.com/office/drawing/2014/main" id="{5449CE31-8AE1-EE4A-8070-2B57E99F3C23}"/>
              </a:ext>
            </a:extLst>
          </p:cNvPr>
          <p:cNvPicPr>
            <a:picLocks noChangeAspect="1"/>
          </p:cNvPicPr>
          <p:nvPr/>
        </p:nvPicPr>
        <p:blipFill rotWithShape="1">
          <a:blip r:embed="rId2"/>
          <a:srcRect l="54513" t="18975" b="16967"/>
          <a:stretch/>
        </p:blipFill>
        <p:spPr>
          <a:xfrm>
            <a:off x="414148" y="1067876"/>
            <a:ext cx="514932" cy="4786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 name="Rectangle 3"/>
          <p:cNvSpPr txBox="1">
            <a:spLocks noGrp="1"/>
          </p:cNvSpPr>
          <p:nvPr>
            <p:ph type="body" idx="1"/>
          </p:nvPr>
        </p:nvSpPr>
        <p:spPr>
          <a:xfrm>
            <a:off x="250825" y="981075"/>
            <a:ext cx="8893175" cy="5111750"/>
          </a:xfrm>
          <a:prstGeom prst="rect">
            <a:avLst/>
          </a:prstGeom>
        </p:spPr>
        <p:txBody>
          <a:bodyPr/>
          <a:lstStyle/>
          <a:p>
            <a:pPr>
              <a:lnSpc>
                <a:spcPct val="200000"/>
              </a:lnSpc>
              <a:spcBef>
                <a:spcPts val="600"/>
              </a:spcBef>
              <a:buSzTx/>
              <a:buFont typeface="Wingdings"/>
              <a:buNone/>
              <a:defRPr sz="2800">
                <a:solidFill>
                  <a:srgbClr val="000099"/>
                </a:solidFill>
                <a:latin typeface="SimSun"/>
                <a:ea typeface="SimSun"/>
                <a:cs typeface="SimSun"/>
                <a:sym typeface="SimSun"/>
              </a:defRPr>
            </a:pPr>
            <a:r>
              <a:t>  各种新型的数据库技术：</a:t>
            </a:r>
            <a:r>
              <a:rPr sz="2400"/>
              <a:t> </a:t>
            </a:r>
          </a:p>
          <a:p>
            <a:pPr>
              <a:lnSpc>
                <a:spcPct val="200000"/>
              </a:lnSpc>
              <a:spcBef>
                <a:spcPts val="500"/>
              </a:spcBef>
              <a:buSzTx/>
              <a:buFont typeface="Wingdings"/>
              <a:buNone/>
              <a:defRPr sz="2400">
                <a:latin typeface="SimSun"/>
                <a:ea typeface="SimSun"/>
                <a:cs typeface="SimSun"/>
                <a:sym typeface="SimSun"/>
              </a:defRPr>
            </a:pPr>
            <a:r>
              <a:t>   演绎数据库，主动数据库，基于逻辑的数据库，时态数据库，   </a:t>
            </a:r>
          </a:p>
          <a:p>
            <a:pPr>
              <a:lnSpc>
                <a:spcPct val="200000"/>
              </a:lnSpc>
              <a:spcBef>
                <a:spcPts val="500"/>
              </a:spcBef>
              <a:buSzTx/>
              <a:buFont typeface="Wingdings"/>
              <a:buNone/>
              <a:defRPr sz="2400">
                <a:latin typeface="SimSun"/>
                <a:ea typeface="SimSun"/>
                <a:cs typeface="SimSun"/>
                <a:sym typeface="SimSun"/>
              </a:defRPr>
            </a:pPr>
            <a:r>
              <a:t>   模糊数据库，模糊演绎数据库，并行数据库，多媒体数据库，  </a:t>
            </a:r>
          </a:p>
          <a:p>
            <a:pPr>
              <a:lnSpc>
                <a:spcPct val="200000"/>
              </a:lnSpc>
              <a:spcBef>
                <a:spcPts val="500"/>
              </a:spcBef>
              <a:buSzTx/>
              <a:buFont typeface="Wingdings"/>
              <a:buNone/>
              <a:defRPr sz="2400">
                <a:latin typeface="SimSun"/>
                <a:ea typeface="SimSun"/>
                <a:cs typeface="SimSun"/>
                <a:sym typeface="SimSun"/>
              </a:defRPr>
            </a:pPr>
            <a:r>
              <a:t>   内存数据库，联邦数据库，工作流数据库，工程数据库，</a:t>
            </a:r>
          </a:p>
          <a:p>
            <a:pPr>
              <a:lnSpc>
                <a:spcPct val="200000"/>
              </a:lnSpc>
              <a:spcBef>
                <a:spcPts val="500"/>
              </a:spcBef>
              <a:buSzTx/>
              <a:buFont typeface="Wingdings"/>
              <a:buNone/>
              <a:defRPr sz="2400">
                <a:latin typeface="SimSun"/>
                <a:ea typeface="SimSun"/>
                <a:cs typeface="SimSun"/>
                <a:sym typeface="SimSun"/>
              </a:defRPr>
            </a:pPr>
            <a:r>
              <a:t>   地理数据库等。</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 name="Rectangle 2"/>
          <p:cNvSpPr txBox="1"/>
          <p:nvPr/>
        </p:nvSpPr>
        <p:spPr>
          <a:xfrm>
            <a:off x="382269" y="1427162"/>
            <a:ext cx="8747762" cy="60541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50000"/>
              </a:lnSpc>
              <a:spcBef>
                <a:spcPts val="2100"/>
              </a:spcBef>
              <a:defRPr sz="3600" b="1">
                <a:effectLst>
                  <a:outerShdw blurRad="38100" dist="38100" dir="2700000" rotWithShape="0">
                    <a:srgbClr val="C0C0C0"/>
                  </a:outerShdw>
                </a:effectLst>
              </a:defRPr>
            </a:pPr>
            <a:r>
              <a:t>       </a:t>
            </a:r>
            <a:r>
              <a:rPr sz="2800"/>
              <a:t>           </a:t>
            </a:r>
          </a:p>
        </p:txBody>
      </p:sp>
      <p:grpSp>
        <p:nvGrpSpPr>
          <p:cNvPr id="763" name="Group 34"/>
          <p:cNvGrpSpPr/>
          <p:nvPr/>
        </p:nvGrpSpPr>
        <p:grpSpPr>
          <a:xfrm>
            <a:off x="285979" y="194731"/>
            <a:ext cx="8382001" cy="1371601"/>
            <a:chOff x="0" y="0"/>
            <a:chExt cx="8381999" cy="1371600"/>
          </a:xfrm>
        </p:grpSpPr>
        <p:sp>
          <p:nvSpPr>
            <p:cNvPr id="757" name="Rectangle 35"/>
            <p:cNvSpPr/>
            <p:nvPr/>
          </p:nvSpPr>
          <p:spPr>
            <a:xfrm>
              <a:off x="285220" y="141287"/>
              <a:ext cx="622830" cy="617538"/>
            </a:xfrm>
            <a:prstGeom prst="rect">
              <a:avLst/>
            </a:prstGeom>
            <a:gradFill flip="none" rotWithShape="1">
              <a:gsLst>
                <a:gs pos="0">
                  <a:srgbClr val="0000FF"/>
                </a:gs>
                <a:gs pos="100000">
                  <a:schemeClr val="accent1"/>
                </a:gs>
              </a:gsLst>
              <a:lin ang="540000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sp>
          <p:nvSpPr>
            <p:cNvPr id="758" name="Rectangle 36"/>
            <p:cNvSpPr/>
            <p:nvPr/>
          </p:nvSpPr>
          <p:spPr>
            <a:xfrm>
              <a:off x="406003" y="690562"/>
              <a:ext cx="414735" cy="619126"/>
            </a:xfrm>
            <a:prstGeom prst="rect">
              <a:avLst/>
            </a:prstGeom>
            <a:solidFill>
              <a:srgbClr val="FFFF00"/>
            </a:soli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sp>
          <p:nvSpPr>
            <p:cNvPr id="759" name="Rectangle 37"/>
            <p:cNvSpPr/>
            <p:nvPr/>
          </p:nvSpPr>
          <p:spPr>
            <a:xfrm>
              <a:off x="769805" y="690562"/>
              <a:ext cx="360892" cy="619126"/>
            </a:xfrm>
            <a:prstGeom prst="rect">
              <a:avLst/>
            </a:prstGeom>
            <a:gradFill flip="none" rotWithShape="1">
              <a:gsLst>
                <a:gs pos="0">
                  <a:srgbClr val="FFFF00"/>
                </a:gs>
                <a:gs pos="100000">
                  <a:srgbClr val="0000FF"/>
                </a:gs>
              </a:gsLst>
              <a:lin ang="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sp>
          <p:nvSpPr>
            <p:cNvPr id="760" name="Rectangle 38"/>
            <p:cNvSpPr/>
            <p:nvPr/>
          </p:nvSpPr>
          <p:spPr>
            <a:xfrm>
              <a:off x="-1" y="457200"/>
              <a:ext cx="628651" cy="609600"/>
            </a:xfrm>
            <a:prstGeom prst="rect">
              <a:avLst/>
            </a:prstGeom>
            <a:gradFill flip="none" rotWithShape="1">
              <a:gsLst>
                <a:gs pos="0">
                  <a:srgbClr val="0000FF"/>
                </a:gs>
                <a:gs pos="100000">
                  <a:srgbClr val="FF0033"/>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sp>
          <p:nvSpPr>
            <p:cNvPr id="761" name="Rectangle 39"/>
            <p:cNvSpPr/>
            <p:nvPr/>
          </p:nvSpPr>
          <p:spPr>
            <a:xfrm>
              <a:off x="622829" y="0"/>
              <a:ext cx="32015" cy="1371600"/>
            </a:xfrm>
            <a:prstGeom prst="rect">
              <a:avLst/>
            </a:prstGeom>
            <a:solidFill>
              <a:srgbClr val="000000"/>
            </a:soli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sp>
          <p:nvSpPr>
            <p:cNvPr id="762" name="Rectangle 40"/>
            <p:cNvSpPr/>
            <p:nvPr/>
          </p:nvSpPr>
          <p:spPr>
            <a:xfrm>
              <a:off x="309959" y="1030287"/>
              <a:ext cx="8072041" cy="41276"/>
            </a:xfrm>
            <a:prstGeom prst="rect">
              <a:avLst/>
            </a:prstGeom>
            <a:gradFill flip="none" rotWithShape="1">
              <a:gsLst>
                <a:gs pos="0">
                  <a:srgbClr val="000000"/>
                </a:gs>
                <a:gs pos="100000">
                  <a:srgbClr val="0000FF"/>
                </a:gs>
              </a:gsLst>
              <a:lin ang="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grpSp>
      <p:sp>
        <p:nvSpPr>
          <p:cNvPr id="765" name="Rectangle 2"/>
          <p:cNvSpPr txBox="1"/>
          <p:nvPr/>
        </p:nvSpPr>
        <p:spPr>
          <a:xfrm>
            <a:off x="-340312" y="1595437"/>
            <a:ext cx="8249287" cy="85095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50000"/>
              </a:lnSpc>
              <a:spcBef>
                <a:spcPts val="2100"/>
              </a:spcBef>
              <a:defRPr sz="3600" b="1">
                <a:effectLst>
                  <a:outerShdw blurRad="38100" dist="38100" dir="2700000" rotWithShape="0">
                    <a:srgbClr val="C0C0C0"/>
                  </a:outerShdw>
                </a:effectLst>
              </a:defRPr>
            </a:pPr>
            <a:r>
              <a:rPr dirty="0"/>
              <a:t>       </a:t>
            </a:r>
            <a:r>
              <a:rPr sz="2800" dirty="0"/>
              <a:t>     </a:t>
            </a:r>
            <a:r>
              <a:rPr sz="2800" b="0" dirty="0">
                <a:solidFill>
                  <a:srgbClr val="00006A"/>
                </a:solidFill>
                <a:latin typeface="Wingdings 3"/>
                <a:ea typeface="Wingdings 3"/>
                <a:cs typeface="Wingdings 3"/>
                <a:sym typeface="Wingdings 3"/>
              </a:rPr>
              <a:t> </a:t>
            </a:r>
            <a:r>
              <a:rPr sz="2800" b="0" dirty="0" err="1">
                <a:solidFill>
                  <a:srgbClr val="00006A"/>
                </a:solidFill>
                <a:latin typeface="SimSun"/>
                <a:ea typeface="SimSun"/>
                <a:cs typeface="SimSun"/>
                <a:sym typeface="SimSun"/>
              </a:rPr>
              <a:t>商业智能成为重点</a:t>
            </a:r>
            <a:endParaRPr dirty="0">
              <a:solidFill>
                <a:srgbClr val="00006A"/>
              </a:solidFill>
            </a:endParaRPr>
          </a:p>
          <a:p>
            <a:pPr>
              <a:lnSpc>
                <a:spcPct val="150000"/>
              </a:lnSpc>
              <a:spcBef>
                <a:spcPts val="1600"/>
              </a:spcBef>
              <a:defRPr b="1">
                <a:solidFill>
                  <a:srgbClr val="00006A"/>
                </a:solidFill>
              </a:defRPr>
            </a:pPr>
            <a:r>
              <a:rPr dirty="0"/>
              <a:t>              </a:t>
            </a:r>
            <a:r>
              <a:rPr b="0" dirty="0">
                <a:latin typeface="Wingdings 3"/>
                <a:ea typeface="Wingdings 3"/>
                <a:cs typeface="Wingdings 3"/>
                <a:sym typeface="Wingdings 3"/>
              </a:rPr>
              <a:t></a:t>
            </a:r>
            <a:r>
              <a:rPr lang="zh-CN" altLang="en-US" b="0" dirty="0">
                <a:latin typeface="Wingdings 3"/>
                <a:ea typeface="Wingdings 3"/>
                <a:cs typeface="Wingdings 3"/>
                <a:sym typeface="Wingdings 3"/>
              </a:rPr>
              <a:t> </a:t>
            </a:r>
            <a:r>
              <a:rPr b="0" dirty="0" err="1">
                <a:latin typeface="SimSun"/>
                <a:ea typeface="SimSun"/>
                <a:cs typeface="SimSun"/>
                <a:sym typeface="SimSun"/>
              </a:rPr>
              <a:t>数据集成和数据仓库将向内容管理过渡</a:t>
            </a:r>
            <a:endParaRPr b="0" dirty="0">
              <a:latin typeface="SimSun"/>
              <a:ea typeface="SimSun"/>
              <a:cs typeface="SimSun"/>
              <a:sym typeface="SimSun"/>
            </a:endParaRPr>
          </a:p>
          <a:p>
            <a:pPr>
              <a:lnSpc>
                <a:spcPct val="150000"/>
              </a:lnSpc>
              <a:spcBef>
                <a:spcPts val="1600"/>
              </a:spcBef>
              <a:defRPr b="1">
                <a:solidFill>
                  <a:srgbClr val="00006A"/>
                </a:solidFill>
              </a:defRPr>
            </a:pPr>
            <a:r>
              <a:rPr dirty="0"/>
              <a:t>              </a:t>
            </a:r>
            <a:r>
              <a:rPr b="0" dirty="0">
                <a:latin typeface="Wingdings 3"/>
                <a:ea typeface="Wingdings 3"/>
                <a:cs typeface="Wingdings 3"/>
                <a:sym typeface="Wingdings 3"/>
              </a:rPr>
              <a:t> </a:t>
            </a:r>
            <a:r>
              <a:rPr b="0" dirty="0" err="1">
                <a:latin typeface="SimSun"/>
                <a:ea typeface="SimSun"/>
                <a:cs typeface="SimSun"/>
                <a:sym typeface="SimSun"/>
              </a:rPr>
              <a:t>主数据管理</a:t>
            </a:r>
            <a:endParaRPr b="0" dirty="0">
              <a:latin typeface="SimSun"/>
              <a:ea typeface="SimSun"/>
              <a:cs typeface="SimSun"/>
              <a:sym typeface="SimSun"/>
            </a:endParaRPr>
          </a:p>
          <a:p>
            <a:pPr>
              <a:lnSpc>
                <a:spcPct val="150000"/>
              </a:lnSpc>
              <a:spcBef>
                <a:spcPts val="1600"/>
              </a:spcBef>
              <a:defRPr b="1">
                <a:solidFill>
                  <a:srgbClr val="00006A"/>
                </a:solidFill>
              </a:defRPr>
            </a:pPr>
            <a:r>
              <a:rPr dirty="0"/>
              <a:t>              </a:t>
            </a:r>
            <a:r>
              <a:rPr b="0" dirty="0">
                <a:latin typeface="Wingdings 3"/>
                <a:ea typeface="Wingdings 3"/>
                <a:cs typeface="Wingdings 3"/>
                <a:sym typeface="Wingdings 3"/>
              </a:rPr>
              <a:t></a:t>
            </a:r>
            <a:r>
              <a:rPr lang="zh-CN" altLang="en-US" b="0" dirty="0">
                <a:latin typeface="Wingdings 3"/>
                <a:ea typeface="Wingdings 3"/>
                <a:cs typeface="Wingdings 3"/>
                <a:sym typeface="Wingdings 3"/>
              </a:rPr>
              <a:t> </a:t>
            </a:r>
            <a:r>
              <a:rPr b="0" dirty="0" err="1">
                <a:latin typeface="SimSun"/>
                <a:ea typeface="SimSun"/>
                <a:cs typeface="SimSun"/>
                <a:sym typeface="SimSun"/>
              </a:rPr>
              <a:t>时序数据库正在崛起</a:t>
            </a:r>
            <a:endParaRPr lang="en-US" dirty="0">
              <a:latin typeface="SimSun"/>
              <a:ea typeface="SimSun"/>
              <a:cs typeface="SimSun"/>
              <a:sym typeface="SimSun"/>
            </a:endParaRPr>
          </a:p>
          <a:p>
            <a:pPr>
              <a:lnSpc>
                <a:spcPct val="150000"/>
              </a:lnSpc>
              <a:spcBef>
                <a:spcPts val="1600"/>
              </a:spcBef>
              <a:defRPr b="1">
                <a:solidFill>
                  <a:srgbClr val="00006A"/>
                </a:solidFill>
              </a:defRPr>
            </a:pPr>
            <a:r>
              <a:rPr lang="zh-CN" altLang="en-US" b="0" dirty="0">
                <a:latin typeface="SimSun"/>
                <a:ea typeface="SimSun"/>
                <a:cs typeface="Wingdings 3"/>
                <a:sym typeface="SimSun"/>
              </a:rPr>
              <a:t>       </a:t>
            </a:r>
            <a:r>
              <a:rPr b="0" dirty="0">
                <a:latin typeface="Wingdings 3"/>
                <a:ea typeface="Wingdings 3"/>
                <a:cs typeface="Wingdings 3"/>
                <a:sym typeface="Wingdings 3"/>
              </a:rPr>
              <a:t></a:t>
            </a:r>
            <a:r>
              <a:rPr lang="zh-CN" altLang="en-US" b="0" dirty="0">
                <a:latin typeface="Wingdings 3"/>
                <a:ea typeface="Wingdings 3"/>
                <a:cs typeface="Wingdings 3"/>
                <a:sym typeface="Wingdings 3"/>
              </a:rPr>
              <a:t> </a:t>
            </a:r>
            <a:r>
              <a:rPr b="0" dirty="0" err="1">
                <a:latin typeface="SimSun"/>
                <a:ea typeface="SimSun"/>
                <a:cs typeface="SimSun"/>
                <a:sym typeface="SimSun"/>
              </a:rPr>
              <a:t>移动数据管理</a:t>
            </a:r>
            <a:endParaRPr lang="en-US" b="0" dirty="0">
              <a:latin typeface="SimSun"/>
              <a:ea typeface="SimSun"/>
              <a:cs typeface="SimSun"/>
              <a:sym typeface="SimSun"/>
            </a:endParaRPr>
          </a:p>
          <a:p>
            <a:pPr algn="ctr">
              <a:lnSpc>
                <a:spcPct val="150000"/>
              </a:lnSpc>
              <a:spcBef>
                <a:spcPts val="1600"/>
              </a:spcBef>
              <a:defRPr b="1">
                <a:solidFill>
                  <a:srgbClr val="00006A"/>
                </a:solidFill>
              </a:defRPr>
            </a:pPr>
            <a:r>
              <a:rPr lang="zh-CN" altLang="en-US" dirty="0">
                <a:solidFill>
                  <a:srgbClr val="FF0000"/>
                </a:solidFill>
                <a:latin typeface="SimSun"/>
                <a:ea typeface="SimSun"/>
                <a:cs typeface="SimSun"/>
                <a:sym typeface="SimSun"/>
              </a:rPr>
              <a:t>数据库与</a:t>
            </a:r>
            <a:r>
              <a:rPr lang="en-US" dirty="0">
                <a:solidFill>
                  <a:srgbClr val="FF0000"/>
                </a:solidFill>
                <a:latin typeface="SimSun"/>
                <a:ea typeface="SimSun"/>
                <a:cs typeface="SimSun"/>
                <a:sym typeface="SimSun"/>
              </a:rPr>
              <a:t>AI</a:t>
            </a:r>
            <a:r>
              <a:rPr lang="zh-CN" altLang="en-US" dirty="0">
                <a:solidFill>
                  <a:srgbClr val="FF0000"/>
                </a:solidFill>
                <a:latin typeface="SimSun"/>
                <a:ea typeface="SimSun"/>
                <a:cs typeface="SimSun"/>
                <a:sym typeface="SimSun"/>
              </a:rPr>
              <a:t>的深度融合</a:t>
            </a:r>
          </a:p>
          <a:p>
            <a:pPr>
              <a:lnSpc>
                <a:spcPct val="150000"/>
              </a:lnSpc>
              <a:spcBef>
                <a:spcPts val="1600"/>
              </a:spcBef>
              <a:defRPr b="1">
                <a:solidFill>
                  <a:srgbClr val="00006A"/>
                </a:solidFill>
              </a:defRPr>
            </a:pPr>
            <a:endParaRPr lang="zh-CN" altLang="en-US" dirty="0">
              <a:latin typeface="SimSun"/>
              <a:ea typeface="SimSun"/>
              <a:cs typeface="SimSun"/>
              <a:sym typeface="SimSun"/>
            </a:endParaRPr>
          </a:p>
          <a:p>
            <a:pPr>
              <a:lnSpc>
                <a:spcPct val="150000"/>
              </a:lnSpc>
              <a:spcBef>
                <a:spcPts val="1600"/>
              </a:spcBef>
              <a:defRPr b="1">
                <a:solidFill>
                  <a:srgbClr val="00006A"/>
                </a:solidFill>
              </a:defRPr>
            </a:pPr>
            <a:endParaRPr lang="en-US" b="0" dirty="0">
              <a:latin typeface="SimSun"/>
              <a:ea typeface="SimSun"/>
              <a:cs typeface="SimSun"/>
              <a:sym typeface="SimSun"/>
            </a:endParaRPr>
          </a:p>
          <a:p>
            <a:pPr>
              <a:lnSpc>
                <a:spcPct val="150000"/>
              </a:lnSpc>
              <a:spcBef>
                <a:spcPts val="1600"/>
              </a:spcBef>
              <a:defRPr b="1">
                <a:solidFill>
                  <a:srgbClr val="00006A"/>
                </a:solidFill>
              </a:defRPr>
            </a:pPr>
            <a:endParaRPr b="0" dirty="0">
              <a:latin typeface="SimSun"/>
              <a:ea typeface="SimSun"/>
              <a:cs typeface="SimSun"/>
              <a:sym typeface="SimSun"/>
            </a:endParaRPr>
          </a:p>
          <a:p>
            <a:pPr>
              <a:lnSpc>
                <a:spcPct val="150000"/>
              </a:lnSpc>
              <a:spcBef>
                <a:spcPts val="1600"/>
              </a:spcBef>
              <a:defRPr b="1">
                <a:solidFill>
                  <a:srgbClr val="00006A"/>
                </a:solidFill>
              </a:defRPr>
            </a:pPr>
            <a:r>
              <a:rPr dirty="0"/>
              <a:t>             </a:t>
            </a:r>
          </a:p>
        </p:txBody>
      </p:sp>
      <p:sp>
        <p:nvSpPr>
          <p:cNvPr id="12" name="Rectangle 2">
            <a:extLst>
              <a:ext uri="{FF2B5EF4-FFF2-40B4-BE49-F238E27FC236}">
                <a16:creationId xmlns:a16="http://schemas.microsoft.com/office/drawing/2014/main" id="{AAEE533E-515A-044C-A3C8-D27546572FE7}"/>
              </a:ext>
            </a:extLst>
          </p:cNvPr>
          <p:cNvSpPr txBox="1"/>
          <p:nvPr/>
        </p:nvSpPr>
        <p:spPr>
          <a:xfrm>
            <a:off x="1346860" y="295824"/>
            <a:ext cx="9052562" cy="700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40000"/>
              </a:lnSpc>
              <a:spcBef>
                <a:spcPts val="1900"/>
              </a:spcBef>
              <a:defRPr sz="3200">
                <a:latin typeface="SimSun"/>
                <a:ea typeface="SimSun"/>
                <a:cs typeface="SimSun"/>
                <a:sym typeface="SimSun"/>
              </a:defRPr>
            </a:pPr>
            <a:r>
              <a:rPr kumimoji="0" lang="zh-CN" altLang="en-US" sz="3200" b="0"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SimSun"/>
                <a:ea typeface="SimSun"/>
                <a:sym typeface="SimSun"/>
              </a:rPr>
              <a:t> </a:t>
            </a:r>
            <a:r>
              <a:rPr kumimoji="0" lang="zh-CN" altLang="en-US" sz="32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 </a:t>
            </a:r>
            <a:r>
              <a:rPr kumimoji="0" lang="en-US" altLang="zh-CN" sz="32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1.2.5</a:t>
            </a:r>
            <a:r>
              <a:rPr kumimoji="0" lang="zh-CN" altLang="en-US" sz="32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 数据库技术的新特征和发展趋势</a:t>
            </a:r>
            <a:endParaRPr lang="zh-CN" altLang="en-US" sz="3200" b="1" dirty="0">
              <a:solidFill>
                <a:srgbClr val="000099"/>
              </a:solidFill>
              <a:effectLst>
                <a:outerShdw blurRad="38100" dist="38100" dir="2700000" rotWithShape="0">
                  <a:srgbClr val="C0C0C0"/>
                </a:outerShdw>
              </a:effectLst>
              <a:latin typeface="Times New Roman"/>
              <a:cs typeface="Times New Roman"/>
              <a:sym typeface="SimSun"/>
            </a:endParaRP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图片 2" descr="日程表&#10;&#10;描述已自动生成">
            <a:extLst>
              <a:ext uri="{FF2B5EF4-FFF2-40B4-BE49-F238E27FC236}">
                <a16:creationId xmlns:a16="http://schemas.microsoft.com/office/drawing/2014/main" id="{0366B6E5-D335-A34A-90C6-766A99D12D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420" t="-10262" r="18040" b="10262"/>
          <a:stretch>
            <a:fillRect/>
          </a:stretch>
        </p:blipFill>
        <p:spPr bwMode="auto">
          <a:xfrm>
            <a:off x="293688" y="830439"/>
            <a:ext cx="8404225" cy="588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0">
            <a:extLst>
              <a:ext uri="{FF2B5EF4-FFF2-40B4-BE49-F238E27FC236}">
                <a16:creationId xmlns:a16="http://schemas.microsoft.com/office/drawing/2014/main" id="{906BB79F-2BB1-E84B-A601-F8DA7886C61B}"/>
              </a:ext>
            </a:extLst>
          </p:cNvPr>
          <p:cNvSpPr txBox="1"/>
          <p:nvPr/>
        </p:nvSpPr>
        <p:spPr>
          <a:xfrm>
            <a:off x="1577657" y="234950"/>
            <a:ext cx="6669088" cy="584200"/>
          </a:xfrm>
          <a:prstGeom prst="rect">
            <a:avLst/>
          </a:prstGeom>
          <a:noFill/>
        </p:spPr>
        <p:txBody>
          <a:bodyPr>
            <a:spAutoFit/>
          </a:bodyPr>
          <a:lstStyle/>
          <a:p>
            <a:pPr>
              <a:defRPr/>
            </a:pPr>
            <a:r>
              <a:rPr lang="zh-CN" altLang="en-US" sz="3200" b="1" dirty="0">
                <a:solidFill>
                  <a:srgbClr val="000099"/>
                </a:solidFill>
                <a:effectLst>
                  <a:outerShdw blurRad="38100" dist="38100" dir="2700000" algn="tl">
                    <a:srgbClr val="C0C0C0"/>
                  </a:outerShdw>
                </a:effectLst>
                <a:latin typeface="楷体" panose="02010609060101010101" pitchFamily="49" charset="-122"/>
                <a:ea typeface="楷体" panose="02010609060101010101" pitchFamily="49" charset="-122"/>
              </a:rPr>
              <a:t>数据存储与计算领域技术发展历程</a:t>
            </a:r>
            <a:endParaRPr lang="zh-CN" altLang="en-US" sz="3200" dirty="0"/>
          </a:p>
        </p:txBody>
      </p:sp>
      <p:sp>
        <p:nvSpPr>
          <p:cNvPr id="21508" name="文本框 1">
            <a:extLst>
              <a:ext uri="{FF2B5EF4-FFF2-40B4-BE49-F238E27FC236}">
                <a16:creationId xmlns:a16="http://schemas.microsoft.com/office/drawing/2014/main" id="{DF5CF395-B001-104B-89C8-11E064734E97}"/>
              </a:ext>
            </a:extLst>
          </p:cNvPr>
          <p:cNvSpPr txBox="1">
            <a:spLocks noChangeArrowheads="1"/>
          </p:cNvSpPr>
          <p:nvPr/>
        </p:nvSpPr>
        <p:spPr bwMode="auto">
          <a:xfrm>
            <a:off x="6497638" y="6372402"/>
            <a:ext cx="26463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a:solidFill>
                  <a:schemeClr val="bg2"/>
                </a:solidFill>
                <a:latin typeface="宋体" panose="02010600030101010101" pitchFamily="2" charset="-122"/>
                <a:ea typeface="宋体" panose="02010600030101010101" pitchFamily="2" charset="-122"/>
              </a:defRPr>
            </a:lvl1pPr>
            <a:lvl2pPr marL="742950" indent="-285750">
              <a:defRPr kumimoji="1" sz="2800">
                <a:solidFill>
                  <a:schemeClr val="bg2"/>
                </a:solidFill>
                <a:latin typeface="宋体" panose="02010600030101010101" pitchFamily="2" charset="-122"/>
                <a:ea typeface="宋体" panose="02010600030101010101" pitchFamily="2" charset="-122"/>
              </a:defRPr>
            </a:lvl2pPr>
            <a:lvl3pPr marL="1143000" indent="-228600">
              <a:defRPr kumimoji="1" sz="2800">
                <a:solidFill>
                  <a:schemeClr val="bg2"/>
                </a:solidFill>
                <a:latin typeface="宋体" panose="02010600030101010101" pitchFamily="2" charset="-122"/>
                <a:ea typeface="宋体" panose="02010600030101010101" pitchFamily="2" charset="-122"/>
              </a:defRPr>
            </a:lvl3pPr>
            <a:lvl4pPr marL="1600200" indent="-228600">
              <a:defRPr kumimoji="1" sz="2800">
                <a:solidFill>
                  <a:schemeClr val="bg2"/>
                </a:solidFill>
                <a:latin typeface="宋体" panose="02010600030101010101" pitchFamily="2" charset="-122"/>
                <a:ea typeface="宋体" panose="02010600030101010101" pitchFamily="2" charset="-122"/>
              </a:defRPr>
            </a:lvl4pPr>
            <a:lvl5pPr marL="2057400" indent="-228600">
              <a:defRPr kumimoji="1" sz="2800">
                <a:solidFill>
                  <a:schemeClr val="bg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800">
                <a:solidFill>
                  <a:schemeClr val="bg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800">
                <a:solidFill>
                  <a:schemeClr val="bg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800">
                <a:solidFill>
                  <a:schemeClr val="bg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800">
                <a:solidFill>
                  <a:schemeClr val="bg2"/>
                </a:solidFill>
                <a:latin typeface="宋体" panose="02010600030101010101" pitchFamily="2" charset="-122"/>
                <a:ea typeface="宋体" panose="02010600030101010101" pitchFamily="2" charset="-122"/>
              </a:defRPr>
            </a:lvl9pPr>
          </a:lstStyle>
          <a:p>
            <a:r>
              <a:rPr lang="zh-CN" altLang="en-US" sz="1600" dirty="0"/>
              <a:t>来源：中国信息通信研究院</a:t>
            </a:r>
            <a:endParaRPr lang="en-US" altLang="zh-CN" sz="1600" dirty="0"/>
          </a:p>
        </p:txBody>
      </p:sp>
      <p:grpSp>
        <p:nvGrpSpPr>
          <p:cNvPr id="12" name="Group 34">
            <a:extLst>
              <a:ext uri="{FF2B5EF4-FFF2-40B4-BE49-F238E27FC236}">
                <a16:creationId xmlns:a16="http://schemas.microsoft.com/office/drawing/2014/main" id="{F13C3240-28FB-054D-B09F-AD62F02B6D02}"/>
              </a:ext>
            </a:extLst>
          </p:cNvPr>
          <p:cNvGrpSpPr/>
          <p:nvPr/>
        </p:nvGrpSpPr>
        <p:grpSpPr>
          <a:xfrm>
            <a:off x="285979" y="194731"/>
            <a:ext cx="8382001" cy="1371601"/>
            <a:chOff x="0" y="0"/>
            <a:chExt cx="8381999" cy="1371600"/>
          </a:xfrm>
        </p:grpSpPr>
        <p:sp>
          <p:nvSpPr>
            <p:cNvPr id="13" name="Rectangle 35">
              <a:extLst>
                <a:ext uri="{FF2B5EF4-FFF2-40B4-BE49-F238E27FC236}">
                  <a16:creationId xmlns:a16="http://schemas.microsoft.com/office/drawing/2014/main" id="{45006F82-58AC-D641-B180-22436D423696}"/>
                </a:ext>
              </a:extLst>
            </p:cNvPr>
            <p:cNvSpPr/>
            <p:nvPr/>
          </p:nvSpPr>
          <p:spPr>
            <a:xfrm>
              <a:off x="285220" y="141287"/>
              <a:ext cx="622830" cy="617538"/>
            </a:xfrm>
            <a:prstGeom prst="rect">
              <a:avLst/>
            </a:prstGeom>
            <a:gradFill flip="none" rotWithShape="1">
              <a:gsLst>
                <a:gs pos="0">
                  <a:srgbClr val="0000FF"/>
                </a:gs>
                <a:gs pos="100000">
                  <a:schemeClr val="accent1"/>
                </a:gs>
              </a:gsLst>
              <a:lin ang="540000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sp>
          <p:nvSpPr>
            <p:cNvPr id="14" name="Rectangle 36">
              <a:extLst>
                <a:ext uri="{FF2B5EF4-FFF2-40B4-BE49-F238E27FC236}">
                  <a16:creationId xmlns:a16="http://schemas.microsoft.com/office/drawing/2014/main" id="{A2E23376-F569-824F-9B56-9F0FA8BBED23}"/>
                </a:ext>
              </a:extLst>
            </p:cNvPr>
            <p:cNvSpPr/>
            <p:nvPr/>
          </p:nvSpPr>
          <p:spPr>
            <a:xfrm>
              <a:off x="406003" y="690562"/>
              <a:ext cx="414735" cy="619126"/>
            </a:xfrm>
            <a:prstGeom prst="rect">
              <a:avLst/>
            </a:prstGeom>
            <a:solidFill>
              <a:srgbClr val="FFFF00"/>
            </a:soli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sp>
          <p:nvSpPr>
            <p:cNvPr id="15" name="Rectangle 37">
              <a:extLst>
                <a:ext uri="{FF2B5EF4-FFF2-40B4-BE49-F238E27FC236}">
                  <a16:creationId xmlns:a16="http://schemas.microsoft.com/office/drawing/2014/main" id="{AB696174-03B1-1B47-9BEC-9151A273EC70}"/>
                </a:ext>
              </a:extLst>
            </p:cNvPr>
            <p:cNvSpPr/>
            <p:nvPr/>
          </p:nvSpPr>
          <p:spPr>
            <a:xfrm>
              <a:off x="769805" y="690562"/>
              <a:ext cx="360892" cy="619126"/>
            </a:xfrm>
            <a:prstGeom prst="rect">
              <a:avLst/>
            </a:prstGeom>
            <a:gradFill flip="none" rotWithShape="1">
              <a:gsLst>
                <a:gs pos="0">
                  <a:srgbClr val="FFFF00"/>
                </a:gs>
                <a:gs pos="100000">
                  <a:srgbClr val="0000FF"/>
                </a:gs>
              </a:gsLst>
              <a:lin ang="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sp>
          <p:nvSpPr>
            <p:cNvPr id="16" name="Rectangle 38">
              <a:extLst>
                <a:ext uri="{FF2B5EF4-FFF2-40B4-BE49-F238E27FC236}">
                  <a16:creationId xmlns:a16="http://schemas.microsoft.com/office/drawing/2014/main" id="{481E9915-478F-9546-801B-6C48B6E0CD8A}"/>
                </a:ext>
              </a:extLst>
            </p:cNvPr>
            <p:cNvSpPr/>
            <p:nvPr/>
          </p:nvSpPr>
          <p:spPr>
            <a:xfrm>
              <a:off x="-1" y="457200"/>
              <a:ext cx="628651" cy="609600"/>
            </a:xfrm>
            <a:prstGeom prst="rect">
              <a:avLst/>
            </a:prstGeom>
            <a:gradFill flip="none" rotWithShape="1">
              <a:gsLst>
                <a:gs pos="0">
                  <a:srgbClr val="0000FF"/>
                </a:gs>
                <a:gs pos="100000">
                  <a:srgbClr val="FF0033"/>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sp>
          <p:nvSpPr>
            <p:cNvPr id="17" name="Rectangle 39">
              <a:extLst>
                <a:ext uri="{FF2B5EF4-FFF2-40B4-BE49-F238E27FC236}">
                  <a16:creationId xmlns:a16="http://schemas.microsoft.com/office/drawing/2014/main" id="{437E160C-7FE9-8C4B-9064-5B03832B04C5}"/>
                </a:ext>
              </a:extLst>
            </p:cNvPr>
            <p:cNvSpPr/>
            <p:nvPr/>
          </p:nvSpPr>
          <p:spPr>
            <a:xfrm>
              <a:off x="622829" y="0"/>
              <a:ext cx="32015" cy="1371600"/>
            </a:xfrm>
            <a:prstGeom prst="rect">
              <a:avLst/>
            </a:prstGeom>
            <a:solidFill>
              <a:srgbClr val="000000"/>
            </a:soli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sp>
          <p:nvSpPr>
            <p:cNvPr id="18" name="Rectangle 40">
              <a:extLst>
                <a:ext uri="{FF2B5EF4-FFF2-40B4-BE49-F238E27FC236}">
                  <a16:creationId xmlns:a16="http://schemas.microsoft.com/office/drawing/2014/main" id="{6CBC8419-7F44-634E-9FFE-066DFF0A2F45}"/>
                </a:ext>
              </a:extLst>
            </p:cNvPr>
            <p:cNvSpPr/>
            <p:nvPr/>
          </p:nvSpPr>
          <p:spPr>
            <a:xfrm>
              <a:off x="309959" y="1030287"/>
              <a:ext cx="8072041" cy="41276"/>
            </a:xfrm>
            <a:prstGeom prst="rect">
              <a:avLst/>
            </a:prstGeom>
            <a:gradFill flip="none" rotWithShape="1">
              <a:gsLst>
                <a:gs pos="0">
                  <a:srgbClr val="000000"/>
                </a:gs>
                <a:gs pos="100000">
                  <a:srgbClr val="0000FF"/>
                </a:gs>
              </a:gsLst>
              <a:lin ang="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Tahoma"/>
                  <a:ea typeface="Tahoma"/>
                  <a:cs typeface="Tahoma"/>
                  <a:sym typeface="Tahoma"/>
                </a:defRPr>
              </a:pPr>
              <a:endParaRPr/>
            </a:p>
          </p:txBody>
        </p:sp>
      </p:grpSp>
    </p:spTree>
    <p:extLst>
      <p:ext uri="{BB962C8B-B14F-4D97-AF65-F5344CB8AC3E}">
        <p14:creationId xmlns:p14="http://schemas.microsoft.com/office/powerpoint/2010/main" val="3284849245"/>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827274"/>
            <a:ext cx="7543800" cy="1207008"/>
          </a:xfrm>
        </p:spPr>
        <p:txBody>
          <a:bodyPr/>
          <a:lstStyle/>
          <a:p>
            <a:r>
              <a:rPr lang="zh-CN" altLang="en-US" dirty="0"/>
              <a:t>数据仓库</a:t>
            </a:r>
          </a:p>
        </p:txBody>
      </p:sp>
      <p:sp>
        <p:nvSpPr>
          <p:cNvPr id="6" name="内容占位符 2"/>
          <p:cNvSpPr txBox="1">
            <a:spLocks/>
          </p:cNvSpPr>
          <p:nvPr/>
        </p:nvSpPr>
        <p:spPr bwMode="auto">
          <a:xfrm>
            <a:off x="1385646" y="1677204"/>
            <a:ext cx="6496236" cy="1134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a:solidFill>
                  <a:schemeClr val="tx1"/>
                </a:solidFill>
                <a:latin typeface="+mn-lt"/>
                <a:ea typeface="+mn-ea"/>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a:solidFill>
                  <a:schemeClr val="tx1"/>
                </a:solidFill>
                <a:latin typeface="+mn-lt"/>
                <a:ea typeface="+mn-ea"/>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a:solidFill>
                  <a:schemeClr val="tx1"/>
                </a:solidFill>
                <a:latin typeface="+mn-lt"/>
                <a:ea typeface="+mn-ea"/>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mn-lt"/>
                <a:ea typeface="+mn-ea"/>
              </a:defRPr>
            </a:lvl5pPr>
            <a:lvl6pPr marL="1828800" indent="-228600" algn="l" rtl="0" eaLnBrk="0" fontAlgn="base" hangingPunct="0">
              <a:spcBef>
                <a:spcPts val="350"/>
              </a:spcBef>
              <a:spcAft>
                <a:spcPct val="0"/>
              </a:spcAft>
              <a:buClr>
                <a:schemeClr val="accent2"/>
              </a:buClr>
              <a:buFont typeface="Wingdings 2" pitchFamily="18" charset="2"/>
              <a:buChar char=""/>
              <a:defRPr>
                <a:solidFill>
                  <a:schemeClr val="tx1"/>
                </a:solidFill>
                <a:latin typeface="+mn-lt"/>
                <a:ea typeface="+mn-ea"/>
              </a:defRPr>
            </a:lvl6pPr>
            <a:lvl7pPr marL="2286000" indent="-228600" algn="l" rtl="0" eaLnBrk="0" fontAlgn="base" hangingPunct="0">
              <a:spcBef>
                <a:spcPts val="350"/>
              </a:spcBef>
              <a:spcAft>
                <a:spcPct val="0"/>
              </a:spcAft>
              <a:buClr>
                <a:schemeClr val="accent2"/>
              </a:buClr>
              <a:buFont typeface="Wingdings 2" pitchFamily="18" charset="2"/>
              <a:buChar char=""/>
              <a:defRPr>
                <a:solidFill>
                  <a:schemeClr val="tx1"/>
                </a:solidFill>
                <a:latin typeface="+mn-lt"/>
                <a:ea typeface="+mn-ea"/>
              </a:defRPr>
            </a:lvl7pPr>
            <a:lvl8pPr marL="2743200" indent="-228600" algn="l" rtl="0" eaLnBrk="0" fontAlgn="base" hangingPunct="0">
              <a:spcBef>
                <a:spcPts val="350"/>
              </a:spcBef>
              <a:spcAft>
                <a:spcPct val="0"/>
              </a:spcAft>
              <a:buClr>
                <a:schemeClr val="accent2"/>
              </a:buClr>
              <a:buFont typeface="Wingdings 2" pitchFamily="18" charset="2"/>
              <a:buChar char=""/>
              <a:defRPr>
                <a:solidFill>
                  <a:schemeClr val="tx1"/>
                </a:solidFill>
                <a:latin typeface="+mn-lt"/>
                <a:ea typeface="+mn-ea"/>
              </a:defRPr>
            </a:lvl8pPr>
            <a:lvl9pPr marL="3200400" indent="-228600" algn="l" rtl="0" eaLnBrk="0" fontAlgn="base" hangingPunct="0">
              <a:spcBef>
                <a:spcPts val="350"/>
              </a:spcBef>
              <a:spcAft>
                <a:spcPct val="0"/>
              </a:spcAft>
              <a:buClr>
                <a:schemeClr val="accent2"/>
              </a:buClr>
              <a:buFont typeface="Wingdings 2" pitchFamily="18" charset="2"/>
              <a:buChar char=""/>
              <a:defRPr>
                <a:solidFill>
                  <a:schemeClr val="tx1"/>
                </a:solidFill>
                <a:latin typeface="+mn-lt"/>
                <a:ea typeface="+mn-ea"/>
              </a:defRPr>
            </a:lvl9pPr>
          </a:lstStyle>
          <a:p>
            <a:pPr marL="273844" indent="-191691" defTabSz="685800" eaLnBrk="1" hangingPunct="1">
              <a:lnSpc>
                <a:spcPct val="150000"/>
              </a:lnSpc>
              <a:spcBef>
                <a:spcPts val="300"/>
              </a:spcBef>
              <a:buClr>
                <a:srgbClr val="2DA2BF"/>
              </a:buClr>
              <a:defRPr/>
            </a:pPr>
            <a:r>
              <a:rPr lang="zh-CN" altLang="en-US" sz="1500" b="1" dirty="0">
                <a:solidFill>
                  <a:srgbClr val="000000"/>
                </a:solidFill>
                <a:highlight>
                  <a:srgbClr val="00FFFF"/>
                </a:highlight>
                <a:latin typeface="Lucida Sans Unicode"/>
                <a:ea typeface="黑体"/>
              </a:rPr>
              <a:t>数据仓库（</a:t>
            </a:r>
            <a:r>
              <a:rPr lang="en-US" altLang="zh-CN" sz="1500" b="1" dirty="0">
                <a:solidFill>
                  <a:srgbClr val="000000"/>
                </a:solidFill>
                <a:highlight>
                  <a:srgbClr val="00FFFF"/>
                </a:highlight>
                <a:latin typeface="Lucida Sans Unicode"/>
                <a:ea typeface="黑体"/>
              </a:rPr>
              <a:t>Data Warehouse</a:t>
            </a:r>
            <a:r>
              <a:rPr lang="zh-CN" altLang="en-US" sz="1500" b="1" dirty="0">
                <a:solidFill>
                  <a:srgbClr val="000000"/>
                </a:solidFill>
                <a:highlight>
                  <a:srgbClr val="00FFFF"/>
                </a:highlight>
                <a:latin typeface="Lucida Sans Unicode"/>
                <a:ea typeface="黑体"/>
              </a:rPr>
              <a:t>）</a:t>
            </a:r>
            <a:r>
              <a:rPr lang="zh-CN" altLang="en-US" sz="1500" dirty="0">
                <a:solidFill>
                  <a:srgbClr val="000000"/>
                </a:solidFill>
                <a:latin typeface="Lucida Sans Unicode"/>
                <a:ea typeface="黑体"/>
              </a:rPr>
              <a:t>是一个</a:t>
            </a:r>
            <a:r>
              <a:rPr lang="zh-CN" altLang="en-US" sz="1500" dirty="0">
                <a:solidFill>
                  <a:srgbClr val="FF0000"/>
                </a:solidFill>
                <a:latin typeface="Lucida Sans Unicode"/>
                <a:ea typeface="黑体"/>
              </a:rPr>
              <a:t>面向主题的</a:t>
            </a:r>
            <a:r>
              <a:rPr lang="zh-CN" altLang="en-US" sz="1500" dirty="0">
                <a:solidFill>
                  <a:srgbClr val="000000"/>
                </a:solidFill>
                <a:latin typeface="Lucida Sans Unicode"/>
                <a:ea typeface="黑体"/>
              </a:rPr>
              <a:t>、</a:t>
            </a:r>
            <a:r>
              <a:rPr lang="zh-CN" altLang="en-US" sz="1500" dirty="0">
                <a:solidFill>
                  <a:srgbClr val="FF0000"/>
                </a:solidFill>
                <a:latin typeface="Lucida Sans Unicode"/>
                <a:ea typeface="黑体"/>
              </a:rPr>
              <a:t>集成的</a:t>
            </a:r>
            <a:r>
              <a:rPr lang="zh-CN" altLang="en-US" sz="1500" dirty="0">
                <a:solidFill>
                  <a:srgbClr val="000000"/>
                </a:solidFill>
                <a:latin typeface="Lucida Sans Unicode"/>
                <a:ea typeface="黑体"/>
              </a:rPr>
              <a:t>、</a:t>
            </a:r>
            <a:r>
              <a:rPr lang="zh-CN" altLang="en-US" sz="1500" dirty="0">
                <a:solidFill>
                  <a:srgbClr val="FF0000"/>
                </a:solidFill>
                <a:latin typeface="Lucida Sans Unicode"/>
                <a:ea typeface="黑体"/>
              </a:rPr>
              <a:t>相对稳定的</a:t>
            </a:r>
            <a:r>
              <a:rPr lang="zh-CN" altLang="en-US" sz="1500" dirty="0">
                <a:solidFill>
                  <a:srgbClr val="000000"/>
                </a:solidFill>
                <a:latin typeface="Lucida Sans Unicode"/>
                <a:ea typeface="黑体"/>
              </a:rPr>
              <a:t>、</a:t>
            </a:r>
            <a:r>
              <a:rPr lang="zh-CN" altLang="en-US" sz="1500" dirty="0">
                <a:solidFill>
                  <a:srgbClr val="FF0000"/>
                </a:solidFill>
                <a:latin typeface="Lucida Sans Unicode"/>
                <a:ea typeface="黑体"/>
              </a:rPr>
              <a:t>反映历史变化</a:t>
            </a:r>
            <a:r>
              <a:rPr lang="zh-CN" altLang="en-US" sz="1500" dirty="0">
                <a:solidFill>
                  <a:srgbClr val="000000"/>
                </a:solidFill>
                <a:latin typeface="Lucida Sans Unicode"/>
                <a:ea typeface="黑体"/>
              </a:rPr>
              <a:t>的数据集合，用于</a:t>
            </a:r>
            <a:r>
              <a:rPr lang="zh-CN" altLang="en-US" sz="1500" dirty="0">
                <a:solidFill>
                  <a:srgbClr val="FF0000"/>
                </a:solidFill>
                <a:latin typeface="Lucida Sans Unicode"/>
                <a:ea typeface="黑体"/>
              </a:rPr>
              <a:t>支持管理决策</a:t>
            </a:r>
            <a:r>
              <a:rPr lang="zh-CN" altLang="en-US" sz="1500" dirty="0">
                <a:solidFill>
                  <a:prstClr val="black"/>
                </a:solidFill>
                <a:latin typeface="Lucida Sans Unicode"/>
                <a:ea typeface="黑体"/>
              </a:rPr>
              <a:t>和</a:t>
            </a:r>
            <a:r>
              <a:rPr lang="zh-CN" altLang="en-US" sz="1500" dirty="0">
                <a:solidFill>
                  <a:srgbClr val="FF0000"/>
                </a:solidFill>
                <a:latin typeface="Lucida Sans Unicode"/>
                <a:ea typeface="黑体"/>
              </a:rPr>
              <a:t>信息的全局共享</a:t>
            </a:r>
            <a:r>
              <a:rPr lang="zh-CN" altLang="en-US" sz="1500" dirty="0">
                <a:solidFill>
                  <a:srgbClr val="000000"/>
                </a:solidFill>
                <a:latin typeface="Lucida Sans Unicode"/>
                <a:ea typeface="黑体"/>
              </a:rPr>
              <a:t>。</a:t>
            </a:r>
            <a:endParaRPr lang="en-US" altLang="zh-CN" sz="1500" dirty="0">
              <a:solidFill>
                <a:srgbClr val="000000"/>
              </a:solidFill>
              <a:latin typeface="Lucida Sans Unicode"/>
              <a:ea typeface="黑体"/>
            </a:endParaRPr>
          </a:p>
        </p:txBody>
      </p:sp>
      <p:cxnSp>
        <p:nvCxnSpPr>
          <p:cNvPr id="8" name="直接连接符 7"/>
          <p:cNvCxnSpPr/>
          <p:nvPr/>
        </p:nvCxnSpPr>
        <p:spPr>
          <a:xfrm>
            <a:off x="1168252" y="2461558"/>
            <a:ext cx="6534726" cy="0"/>
          </a:xfrm>
          <a:prstGeom prst="line">
            <a:avLst/>
          </a:prstGeom>
          <a:ln w="19050">
            <a:prstDash val="lgDash"/>
          </a:ln>
        </p:spPr>
        <p:style>
          <a:lnRef idx="1">
            <a:schemeClr val="accent1"/>
          </a:lnRef>
          <a:fillRef idx="0">
            <a:schemeClr val="accent1"/>
          </a:fillRef>
          <a:effectRef idx="0">
            <a:schemeClr val="accent1"/>
          </a:effectRef>
          <a:fontRef idx="minor">
            <a:schemeClr val="tx1"/>
          </a:fontRef>
        </p:style>
      </p:cxnSp>
      <p:sp>
        <p:nvSpPr>
          <p:cNvPr id="7" name="内容占位符 2">
            <a:extLst>
              <a:ext uri="{FF2B5EF4-FFF2-40B4-BE49-F238E27FC236}">
                <a16:creationId xmlns:a16="http://schemas.microsoft.com/office/drawing/2014/main" id="{E7CDF62B-AD4A-4E4F-9EB1-7720A20C1A03}"/>
              </a:ext>
            </a:extLst>
          </p:cNvPr>
          <p:cNvSpPr>
            <a:spLocks noGrp="1"/>
          </p:cNvSpPr>
          <p:nvPr>
            <p:ph idx="1"/>
          </p:nvPr>
        </p:nvSpPr>
        <p:spPr>
          <a:xfrm>
            <a:off x="861864" y="2685371"/>
            <a:ext cx="7543800" cy="3422142"/>
          </a:xfrm>
        </p:spPr>
        <p:txBody>
          <a:bodyPr/>
          <a:lstStyle/>
          <a:p>
            <a:r>
              <a:rPr lang="zh-CN" altLang="en-US" b="1" i="0" u="none" strike="noStrike" dirty="0">
                <a:solidFill>
                  <a:srgbClr val="333333"/>
                </a:solidFill>
                <a:effectLst/>
                <a:latin typeface="arial" panose="020B0604020202020204" pitchFamily="34" charset="0"/>
              </a:rPr>
              <a:t>面向主题的：</a:t>
            </a:r>
            <a:r>
              <a:rPr lang="zh-CN" altLang="en-US" b="0" i="0" u="none" strike="noStrike" dirty="0">
                <a:solidFill>
                  <a:srgbClr val="333333"/>
                </a:solidFill>
                <a:effectLst/>
                <a:latin typeface="arial" panose="020B0604020202020204" pitchFamily="34" charset="0"/>
              </a:rPr>
              <a:t>数据仓库是用来分析特点主题域的，所以说数据仓库是面向主题的。</a:t>
            </a:r>
            <a:endParaRPr lang="en-US" altLang="zh-CN" b="0" i="0" u="none" strike="noStrike" dirty="0">
              <a:solidFill>
                <a:srgbClr val="333333"/>
              </a:solidFill>
              <a:effectLst/>
              <a:latin typeface="arial" panose="020B0604020202020204" pitchFamily="34" charset="0"/>
            </a:endParaRPr>
          </a:p>
          <a:p>
            <a:pPr lvl="1"/>
            <a:r>
              <a:rPr lang="zh-CN" altLang="en-US" b="0" i="0" u="none" strike="noStrike" dirty="0">
                <a:solidFill>
                  <a:srgbClr val="333333"/>
                </a:solidFill>
                <a:effectLst/>
                <a:latin typeface="arial" panose="020B0604020202020204" pitchFamily="34" charset="0"/>
              </a:rPr>
              <a:t>例如，电商行业的主题域通常分为交易域、会员域、商品域等。</a:t>
            </a:r>
            <a:endParaRPr lang="en-US" altLang="zh-CN" b="0" i="0" u="none" strike="noStrike" dirty="0">
              <a:solidFill>
                <a:srgbClr val="333333"/>
              </a:solidFill>
              <a:effectLst/>
              <a:latin typeface="arial" panose="020B0604020202020204" pitchFamily="34" charset="0"/>
            </a:endParaRPr>
          </a:p>
          <a:p>
            <a:r>
              <a:rPr lang="zh-CN" altLang="en-US" b="1" i="0" u="none" strike="noStrike" dirty="0">
                <a:solidFill>
                  <a:srgbClr val="333333"/>
                </a:solidFill>
                <a:effectLst/>
                <a:latin typeface="arial" panose="020B0604020202020204" pitchFamily="34" charset="0"/>
              </a:rPr>
              <a:t>集成的：</a:t>
            </a:r>
            <a:r>
              <a:rPr lang="zh-CN" altLang="en-US" b="0" i="0" u="none" strike="noStrike" dirty="0">
                <a:solidFill>
                  <a:srgbClr val="333333"/>
                </a:solidFill>
                <a:effectLst/>
                <a:latin typeface="arial" panose="020B0604020202020204" pitchFamily="34" charset="0"/>
              </a:rPr>
              <a:t>数据仓库集成了多个数据源，同一主题或产品相关数据可能来自不同的系统不同类型的数据库，日志文件等。</a:t>
            </a:r>
            <a:endParaRPr lang="en-US" altLang="zh-CN" b="0" i="0" u="none" strike="noStrike" dirty="0">
              <a:solidFill>
                <a:srgbClr val="333333"/>
              </a:solidFill>
              <a:effectLst/>
              <a:latin typeface="arial" panose="020B0604020202020204" pitchFamily="34" charset="0"/>
            </a:endParaRPr>
          </a:p>
          <a:p>
            <a:r>
              <a:rPr lang="zh-CN" altLang="en-US" b="1" i="0" u="none" strike="noStrike" dirty="0">
                <a:solidFill>
                  <a:srgbClr val="333333"/>
                </a:solidFill>
                <a:effectLst/>
                <a:latin typeface="arial" panose="020B0604020202020204" pitchFamily="34" charset="0"/>
              </a:rPr>
              <a:t>稳定的：</a:t>
            </a:r>
            <a:r>
              <a:rPr lang="zh-CN" altLang="en-US" b="0" i="0" u="none" strike="noStrike" dirty="0">
                <a:solidFill>
                  <a:srgbClr val="333333"/>
                </a:solidFill>
                <a:effectLst/>
                <a:latin typeface="arial" panose="020B0604020202020204" pitchFamily="34" charset="0"/>
              </a:rPr>
              <a:t>数据一旦进入数据仓库，则不可改变。数据仓库的历史数据是不应该被更新的，同时存储稳定性较强</a:t>
            </a:r>
            <a:r>
              <a:rPr lang="zh-CN" altLang="en-US" dirty="0">
                <a:solidFill>
                  <a:srgbClr val="333333"/>
                </a:solidFill>
                <a:latin typeface="arial" panose="020B0604020202020204" pitchFamily="34" charset="0"/>
              </a:rPr>
              <a:t>。</a:t>
            </a:r>
            <a:endParaRPr lang="en-US" altLang="zh-CN" b="0" i="0" u="none" strike="noStrike" dirty="0">
              <a:solidFill>
                <a:srgbClr val="333333"/>
              </a:solidFill>
              <a:effectLst/>
              <a:latin typeface="arial" panose="020B0604020202020204" pitchFamily="34" charset="0"/>
            </a:endParaRPr>
          </a:p>
          <a:p>
            <a:r>
              <a:rPr lang="zh-CN" altLang="en-US" b="1" i="0" u="none" strike="noStrike" dirty="0">
                <a:solidFill>
                  <a:srgbClr val="333333"/>
                </a:solidFill>
                <a:effectLst/>
                <a:latin typeface="arial" panose="020B0604020202020204" pitchFamily="34" charset="0"/>
              </a:rPr>
              <a:t>反映历史数据变化的：</a:t>
            </a:r>
            <a:r>
              <a:rPr lang="zh-CN" altLang="en-US" b="0" i="0" u="none" strike="noStrike" dirty="0">
                <a:solidFill>
                  <a:srgbClr val="333333"/>
                </a:solidFill>
                <a:effectLst/>
                <a:latin typeface="arial" panose="020B0604020202020204" pitchFamily="34" charset="0"/>
              </a:rPr>
              <a:t>数据仓库保存了长期的历史数据，这点相对</a:t>
            </a:r>
            <a:r>
              <a:rPr lang="en-US" altLang="zh-CN" b="0" i="0" u="none" strike="noStrike" dirty="0">
                <a:solidFill>
                  <a:srgbClr val="333333"/>
                </a:solidFill>
                <a:effectLst/>
                <a:latin typeface="arial" panose="020B0604020202020204" pitchFamily="34" charset="0"/>
              </a:rPr>
              <a:t>OLTP</a:t>
            </a:r>
            <a:r>
              <a:rPr lang="zh-CN" altLang="en-US" b="0" i="0" u="none" strike="noStrike" dirty="0">
                <a:solidFill>
                  <a:srgbClr val="333333"/>
                </a:solidFill>
                <a:effectLst/>
                <a:latin typeface="arial" panose="020B0604020202020204" pitchFamily="34" charset="0"/>
              </a:rPr>
              <a:t>的数据库而言。因为性能考虑后者统筹保存近期的热数据。</a:t>
            </a:r>
            <a:endParaRPr kumimoji="1" lang="zh-CN" altLang="en-US" dirty="0"/>
          </a:p>
        </p:txBody>
      </p:sp>
    </p:spTree>
    <p:extLst>
      <p:ext uri="{BB962C8B-B14F-4D97-AF65-F5344CB8AC3E}">
        <p14:creationId xmlns:p14="http://schemas.microsoft.com/office/powerpoint/2010/main" val="38244332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E02AB4-63D4-F64A-895B-B955E952B843}"/>
              </a:ext>
            </a:extLst>
          </p:cNvPr>
          <p:cNvSpPr>
            <a:spLocks noGrp="1"/>
          </p:cNvSpPr>
          <p:nvPr>
            <p:ph type="title"/>
          </p:nvPr>
        </p:nvSpPr>
        <p:spPr/>
        <p:txBody>
          <a:bodyPr/>
          <a:lstStyle/>
          <a:p>
            <a:r>
              <a:rPr lang="zh-CN" altLang="en-US" b="1" dirty="0">
                <a:solidFill>
                  <a:srgbClr val="000000"/>
                </a:solidFill>
                <a:latin typeface="arial" panose="020B0604020202020204" pitchFamily="34" charset="0"/>
              </a:rPr>
              <a:t>数据仓库特点</a:t>
            </a:r>
            <a:br>
              <a:rPr kumimoji="1" lang="zh-CN" altLang="en-US" dirty="0"/>
            </a:br>
            <a:endParaRPr kumimoji="1" lang="zh-CN" altLang="en-US" dirty="0"/>
          </a:p>
        </p:txBody>
      </p:sp>
      <p:pic>
        <p:nvPicPr>
          <p:cNvPr id="6" name="图片 5">
            <a:extLst>
              <a:ext uri="{FF2B5EF4-FFF2-40B4-BE49-F238E27FC236}">
                <a16:creationId xmlns:a16="http://schemas.microsoft.com/office/drawing/2014/main" id="{120ABBAD-0A96-4244-B786-7990833B9884}"/>
              </a:ext>
            </a:extLst>
          </p:cNvPr>
          <p:cNvPicPr>
            <a:picLocks noChangeAspect="1"/>
          </p:cNvPicPr>
          <p:nvPr/>
        </p:nvPicPr>
        <p:blipFill rotWithShape="1">
          <a:blip r:embed="rId3">
            <a:extLst>
              <a:ext uri="{28A0092B-C50C-407E-A947-70E740481C1C}">
                <a14:useLocalDpi xmlns:a14="http://schemas.microsoft.com/office/drawing/2010/main" val="0"/>
              </a:ext>
            </a:extLst>
          </a:blip>
          <a:srcRect l="7732" t="23247" r="2027" b="15461"/>
          <a:stretch/>
        </p:blipFill>
        <p:spPr>
          <a:xfrm>
            <a:off x="1090893" y="1626116"/>
            <a:ext cx="6962215" cy="2438897"/>
          </a:xfrm>
          <a:prstGeom prst="rect">
            <a:avLst/>
          </a:prstGeom>
        </p:spPr>
      </p:pic>
      <p:sp>
        <p:nvSpPr>
          <p:cNvPr id="7" name="椭圆 6">
            <a:extLst>
              <a:ext uri="{FF2B5EF4-FFF2-40B4-BE49-F238E27FC236}">
                <a16:creationId xmlns:a16="http://schemas.microsoft.com/office/drawing/2014/main" id="{25BE730B-508A-3243-8F76-357E4BE72C2B}"/>
              </a:ext>
            </a:extLst>
          </p:cNvPr>
          <p:cNvSpPr/>
          <p:nvPr/>
        </p:nvSpPr>
        <p:spPr>
          <a:xfrm>
            <a:off x="2465590" y="2307371"/>
            <a:ext cx="1359776" cy="815866"/>
          </a:xfrm>
          <a:prstGeom prst="ellipse">
            <a:avLst/>
          </a:prstGeom>
          <a:noFill/>
          <a:ln w="38100"/>
        </p:spPr>
        <p:style>
          <a:lnRef idx="2">
            <a:schemeClr val="accent1"/>
          </a:lnRef>
          <a:fillRef idx="1">
            <a:schemeClr val="lt1"/>
          </a:fillRef>
          <a:effectRef idx="0">
            <a:schemeClr val="accent1"/>
          </a:effectRef>
          <a:fontRef idx="minor">
            <a:schemeClr val="dk1"/>
          </a:fontRef>
        </p:style>
        <p:txBody>
          <a:bodyPr rtlCol="0" anchor="ctr"/>
          <a:lstStyle/>
          <a:p>
            <a:pPr algn="ctr" defTabSz="342900" hangingPunct="1">
              <a:lnSpc>
                <a:spcPct val="100000"/>
              </a:lnSpc>
            </a:pPr>
            <a:endParaRPr kumimoji="1" lang="zh-CN" altLang="en-US" sz="1350" kern="1200">
              <a:solidFill>
                <a:prstClr val="black"/>
              </a:solidFill>
              <a:latin typeface="Rockwell" panose="02060603020205020403"/>
            </a:endParaRPr>
          </a:p>
        </p:txBody>
      </p:sp>
      <p:pic>
        <p:nvPicPr>
          <p:cNvPr id="8" name="图片 7">
            <a:extLst>
              <a:ext uri="{FF2B5EF4-FFF2-40B4-BE49-F238E27FC236}">
                <a16:creationId xmlns:a16="http://schemas.microsoft.com/office/drawing/2014/main" id="{D59CD41C-DA1B-784B-BA92-83F0CCAC2A9C}"/>
              </a:ext>
            </a:extLst>
          </p:cNvPr>
          <p:cNvPicPr>
            <a:picLocks noChangeAspect="1"/>
          </p:cNvPicPr>
          <p:nvPr/>
        </p:nvPicPr>
        <p:blipFill>
          <a:blip r:embed="rId4"/>
          <a:stretch>
            <a:fillRect/>
          </a:stretch>
        </p:blipFill>
        <p:spPr>
          <a:xfrm>
            <a:off x="1385734" y="3890904"/>
            <a:ext cx="3409853" cy="2109847"/>
          </a:xfrm>
          <a:prstGeom prst="rect">
            <a:avLst/>
          </a:prstGeom>
        </p:spPr>
      </p:pic>
      <p:sp>
        <p:nvSpPr>
          <p:cNvPr id="9" name="文本框 8">
            <a:extLst>
              <a:ext uri="{FF2B5EF4-FFF2-40B4-BE49-F238E27FC236}">
                <a16:creationId xmlns:a16="http://schemas.microsoft.com/office/drawing/2014/main" id="{267EFE37-E087-C044-A88A-1BE4176C2DCE}"/>
              </a:ext>
            </a:extLst>
          </p:cNvPr>
          <p:cNvSpPr txBox="1"/>
          <p:nvPr/>
        </p:nvSpPr>
        <p:spPr>
          <a:xfrm>
            <a:off x="2178781" y="4694180"/>
            <a:ext cx="744627" cy="300082"/>
          </a:xfrm>
          <a:prstGeom prst="rect">
            <a:avLst/>
          </a:prstGeom>
          <a:noFill/>
        </p:spPr>
        <p:txBody>
          <a:bodyPr wrap="none" rtlCol="0">
            <a:spAutoFit/>
          </a:bodyPr>
          <a:lstStyle/>
          <a:p>
            <a:pPr algn="l" defTabSz="342900" hangingPunct="1">
              <a:lnSpc>
                <a:spcPct val="100000"/>
              </a:lnSpc>
            </a:pPr>
            <a:r>
              <a:rPr kumimoji="1" lang="en-US" altLang="zh-CN" sz="1350" kern="1200" dirty="0">
                <a:solidFill>
                  <a:srgbClr val="FF0000"/>
                </a:solidFill>
                <a:latin typeface="Rockwell" panose="02060603020205020403"/>
              </a:rPr>
              <a:t>E</a:t>
            </a:r>
            <a:r>
              <a:rPr kumimoji="1" lang="en-US" altLang="zh-CN" sz="1350" kern="1200" dirty="0">
                <a:solidFill>
                  <a:prstClr val="black"/>
                </a:solidFill>
                <a:latin typeface="Rockwell" panose="02060603020205020403"/>
              </a:rPr>
              <a:t>xtract</a:t>
            </a:r>
            <a:endParaRPr kumimoji="1" lang="zh-CN" altLang="en-US" sz="1350" kern="1200" dirty="0">
              <a:solidFill>
                <a:prstClr val="black"/>
              </a:solidFill>
              <a:latin typeface="Rockwell" panose="02060603020205020403"/>
            </a:endParaRPr>
          </a:p>
        </p:txBody>
      </p:sp>
      <p:sp>
        <p:nvSpPr>
          <p:cNvPr id="10" name="文本框 9">
            <a:extLst>
              <a:ext uri="{FF2B5EF4-FFF2-40B4-BE49-F238E27FC236}">
                <a16:creationId xmlns:a16="http://schemas.microsoft.com/office/drawing/2014/main" id="{524651EE-DA4D-D14E-B2C8-15AAE8F43828}"/>
              </a:ext>
            </a:extLst>
          </p:cNvPr>
          <p:cNvSpPr txBox="1"/>
          <p:nvPr/>
        </p:nvSpPr>
        <p:spPr>
          <a:xfrm>
            <a:off x="2784673" y="5231884"/>
            <a:ext cx="996555" cy="300082"/>
          </a:xfrm>
          <a:prstGeom prst="rect">
            <a:avLst/>
          </a:prstGeom>
          <a:noFill/>
        </p:spPr>
        <p:txBody>
          <a:bodyPr wrap="none" rtlCol="0">
            <a:spAutoFit/>
          </a:bodyPr>
          <a:lstStyle/>
          <a:p>
            <a:pPr algn="l" defTabSz="342900" hangingPunct="1">
              <a:lnSpc>
                <a:spcPct val="100000"/>
              </a:lnSpc>
            </a:pPr>
            <a:r>
              <a:rPr kumimoji="1" lang="en-US" altLang="zh-CN" sz="1350" kern="1200" dirty="0">
                <a:solidFill>
                  <a:srgbClr val="FF0000"/>
                </a:solidFill>
                <a:latin typeface="Rockwell" panose="02060603020205020403"/>
              </a:rPr>
              <a:t>T</a:t>
            </a:r>
            <a:r>
              <a:rPr kumimoji="1" lang="en-US" altLang="zh-CN" sz="1350" kern="1200" dirty="0">
                <a:solidFill>
                  <a:prstClr val="black"/>
                </a:solidFill>
                <a:latin typeface="Rockwell" panose="02060603020205020403"/>
              </a:rPr>
              <a:t>ransform</a:t>
            </a:r>
            <a:endParaRPr kumimoji="1" lang="zh-CN" altLang="en-US" sz="1350" kern="1200" dirty="0">
              <a:solidFill>
                <a:prstClr val="black"/>
              </a:solidFill>
              <a:latin typeface="Rockwell" panose="02060603020205020403"/>
            </a:endParaRPr>
          </a:p>
        </p:txBody>
      </p:sp>
      <p:sp>
        <p:nvSpPr>
          <p:cNvPr id="11" name="文本框 10">
            <a:extLst>
              <a:ext uri="{FF2B5EF4-FFF2-40B4-BE49-F238E27FC236}">
                <a16:creationId xmlns:a16="http://schemas.microsoft.com/office/drawing/2014/main" id="{A39C589A-D1E7-5E40-AEA7-E6B5761BC0D9}"/>
              </a:ext>
            </a:extLst>
          </p:cNvPr>
          <p:cNvSpPr txBox="1"/>
          <p:nvPr/>
        </p:nvSpPr>
        <p:spPr>
          <a:xfrm>
            <a:off x="3561351" y="4701555"/>
            <a:ext cx="574196" cy="300082"/>
          </a:xfrm>
          <a:prstGeom prst="rect">
            <a:avLst/>
          </a:prstGeom>
          <a:noFill/>
        </p:spPr>
        <p:txBody>
          <a:bodyPr wrap="none" rtlCol="0">
            <a:spAutoFit/>
          </a:bodyPr>
          <a:lstStyle/>
          <a:p>
            <a:pPr algn="l" defTabSz="342900" hangingPunct="1">
              <a:lnSpc>
                <a:spcPct val="100000"/>
              </a:lnSpc>
            </a:pPr>
            <a:r>
              <a:rPr kumimoji="1" lang="en-US" altLang="zh-CN" sz="1350" kern="1200" dirty="0">
                <a:solidFill>
                  <a:srgbClr val="FF0000"/>
                </a:solidFill>
                <a:latin typeface="Rockwell" panose="02060603020205020403"/>
              </a:rPr>
              <a:t>L</a:t>
            </a:r>
            <a:r>
              <a:rPr kumimoji="1" lang="en-US" altLang="zh-CN" sz="1350" kern="1200" dirty="0">
                <a:solidFill>
                  <a:prstClr val="black"/>
                </a:solidFill>
                <a:latin typeface="Rockwell" panose="02060603020205020403"/>
              </a:rPr>
              <a:t>oad</a:t>
            </a:r>
            <a:endParaRPr kumimoji="1" lang="zh-CN" altLang="en-US" sz="1350" kern="1200" dirty="0">
              <a:solidFill>
                <a:prstClr val="black"/>
              </a:solidFill>
              <a:latin typeface="Rockwell" panose="02060603020205020403"/>
            </a:endParaRPr>
          </a:p>
        </p:txBody>
      </p:sp>
      <p:sp>
        <p:nvSpPr>
          <p:cNvPr id="3" name="矩形标注 2">
            <a:extLst>
              <a:ext uri="{FF2B5EF4-FFF2-40B4-BE49-F238E27FC236}">
                <a16:creationId xmlns:a16="http://schemas.microsoft.com/office/drawing/2014/main" id="{FAF47F97-F256-8E46-A1A6-0A5C622BB904}"/>
              </a:ext>
            </a:extLst>
          </p:cNvPr>
          <p:cNvSpPr/>
          <p:nvPr/>
        </p:nvSpPr>
        <p:spPr>
          <a:xfrm>
            <a:off x="2288829" y="4128056"/>
            <a:ext cx="1271843" cy="495708"/>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hangingPunct="1">
              <a:lnSpc>
                <a:spcPct val="100000"/>
              </a:lnSpc>
            </a:pPr>
            <a:r>
              <a:rPr kumimoji="1" lang="zh-CN" altLang="en-US" sz="1200" kern="1200" dirty="0">
                <a:solidFill>
                  <a:prstClr val="white"/>
                </a:solidFill>
                <a:latin typeface="Rockwell" panose="02060603020205020403"/>
              </a:rPr>
              <a:t>从源数据库抽取数据</a:t>
            </a:r>
          </a:p>
        </p:txBody>
      </p:sp>
      <p:sp>
        <p:nvSpPr>
          <p:cNvPr id="12" name="矩形标注 11">
            <a:extLst>
              <a:ext uri="{FF2B5EF4-FFF2-40B4-BE49-F238E27FC236}">
                <a16:creationId xmlns:a16="http://schemas.microsoft.com/office/drawing/2014/main" id="{12C4F801-D65E-5544-9370-302BA30125A8}"/>
              </a:ext>
            </a:extLst>
          </p:cNvPr>
          <p:cNvSpPr/>
          <p:nvPr/>
        </p:nvSpPr>
        <p:spPr>
          <a:xfrm>
            <a:off x="2288829" y="5490992"/>
            <a:ext cx="3995031" cy="495708"/>
          </a:xfrm>
          <a:prstGeom prst="wedgeRectCallout">
            <a:avLst>
              <a:gd name="adj1" fmla="val -14654"/>
              <a:gd name="adj2" fmla="val -5897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hangingPunct="1">
              <a:lnSpc>
                <a:spcPct val="100000"/>
              </a:lnSpc>
            </a:pPr>
            <a:r>
              <a:rPr kumimoji="1" lang="zh-CN" altLang="en-US" sz="1050" kern="1200" dirty="0">
                <a:solidFill>
                  <a:prstClr val="white"/>
                </a:solidFill>
                <a:latin typeface="Rockwell" panose="02060603020205020403"/>
              </a:rPr>
              <a:t>将数据清洗（不符合规则的数据）、转化（对表按照业务需求进行不同维度、不同颗粒度、不同业务规则计算进行统计）</a:t>
            </a:r>
          </a:p>
        </p:txBody>
      </p:sp>
      <p:sp>
        <p:nvSpPr>
          <p:cNvPr id="13" name="矩形标注 12">
            <a:extLst>
              <a:ext uri="{FF2B5EF4-FFF2-40B4-BE49-F238E27FC236}">
                <a16:creationId xmlns:a16="http://schemas.microsoft.com/office/drawing/2014/main" id="{C43825A8-BC1F-0E47-A66A-3057DDAFD2BE}"/>
              </a:ext>
            </a:extLst>
          </p:cNvPr>
          <p:cNvSpPr/>
          <p:nvPr/>
        </p:nvSpPr>
        <p:spPr>
          <a:xfrm>
            <a:off x="3701167" y="4127119"/>
            <a:ext cx="2119770" cy="495708"/>
          </a:xfrm>
          <a:prstGeom prst="wedgeRectCallout">
            <a:avLst>
              <a:gd name="adj1" fmla="val -44590"/>
              <a:gd name="adj2" fmla="val 625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hangingPunct="1">
              <a:lnSpc>
                <a:spcPct val="100000"/>
              </a:lnSpc>
            </a:pPr>
            <a:r>
              <a:rPr kumimoji="1" lang="zh-CN" altLang="en-US" sz="1200" kern="1200" dirty="0">
                <a:solidFill>
                  <a:prstClr val="white"/>
                </a:solidFill>
                <a:latin typeface="Rockwell" panose="02060603020205020403"/>
              </a:rPr>
              <a:t>将加工好的表以增量、全量、不同时间加载到数据仓库。</a:t>
            </a:r>
          </a:p>
        </p:txBody>
      </p:sp>
    </p:spTree>
    <p:extLst>
      <p:ext uri="{BB962C8B-B14F-4D97-AF65-F5344CB8AC3E}">
        <p14:creationId xmlns:p14="http://schemas.microsoft.com/office/powerpoint/2010/main" val="366427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P spid="12" grpId="0" animBg="1"/>
      <p:bldP spid="1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AEF8AD-5426-3D4E-9C4E-498C8B3D2CD3}"/>
              </a:ext>
            </a:extLst>
          </p:cNvPr>
          <p:cNvSpPr>
            <a:spLocks noGrp="1"/>
          </p:cNvSpPr>
          <p:nvPr>
            <p:ph type="title"/>
          </p:nvPr>
        </p:nvSpPr>
        <p:spPr/>
        <p:txBody>
          <a:bodyPr/>
          <a:lstStyle/>
          <a:p>
            <a:r>
              <a:rPr kumimoji="1" lang="zh-CN" altLang="en-US" dirty="0"/>
              <a:t>数据仓库的作用</a:t>
            </a:r>
          </a:p>
        </p:txBody>
      </p:sp>
      <p:pic>
        <p:nvPicPr>
          <p:cNvPr id="5" name="内容占位符 4">
            <a:extLst>
              <a:ext uri="{FF2B5EF4-FFF2-40B4-BE49-F238E27FC236}">
                <a16:creationId xmlns:a16="http://schemas.microsoft.com/office/drawing/2014/main" id="{331410E7-1DDC-3149-BADA-CC3493E91CF7}"/>
              </a:ext>
            </a:extLst>
          </p:cNvPr>
          <p:cNvPicPr>
            <a:picLocks noGrp="1" noChangeAspect="1"/>
          </p:cNvPicPr>
          <p:nvPr>
            <p:ph idx="1"/>
          </p:nvPr>
        </p:nvPicPr>
        <p:blipFill>
          <a:blip r:embed="rId2"/>
          <a:stretch>
            <a:fillRect/>
          </a:stretch>
        </p:blipFill>
        <p:spPr>
          <a:xfrm>
            <a:off x="614363" y="2064258"/>
            <a:ext cx="7792440" cy="3679317"/>
          </a:xfrm>
        </p:spPr>
      </p:pic>
    </p:spTree>
    <p:extLst>
      <p:ext uri="{BB962C8B-B14F-4D97-AF65-F5344CB8AC3E}">
        <p14:creationId xmlns:p14="http://schemas.microsoft.com/office/powerpoint/2010/main" val="29728746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827274"/>
            <a:ext cx="7543800" cy="1207008"/>
          </a:xfrm>
        </p:spPr>
        <p:txBody>
          <a:bodyPr/>
          <a:lstStyle/>
          <a:p>
            <a:r>
              <a:rPr lang="zh-CN" altLang="en-US" dirty="0"/>
              <a:t>数据湖</a:t>
            </a:r>
          </a:p>
        </p:txBody>
      </p:sp>
      <p:sp>
        <p:nvSpPr>
          <p:cNvPr id="6" name="内容占位符 2"/>
          <p:cNvSpPr txBox="1">
            <a:spLocks/>
          </p:cNvSpPr>
          <p:nvPr/>
        </p:nvSpPr>
        <p:spPr bwMode="auto">
          <a:xfrm>
            <a:off x="120838" y="2008313"/>
            <a:ext cx="2525951" cy="1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a:solidFill>
                  <a:schemeClr val="tx1"/>
                </a:solidFill>
                <a:latin typeface="+mn-lt"/>
                <a:ea typeface="+mn-ea"/>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a:solidFill>
                  <a:schemeClr val="tx1"/>
                </a:solidFill>
                <a:latin typeface="+mn-lt"/>
                <a:ea typeface="+mn-ea"/>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a:solidFill>
                  <a:schemeClr val="tx1"/>
                </a:solidFill>
                <a:latin typeface="+mn-lt"/>
                <a:ea typeface="+mn-ea"/>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mn-lt"/>
                <a:ea typeface="+mn-ea"/>
              </a:defRPr>
            </a:lvl5pPr>
            <a:lvl6pPr marL="1828800" indent="-228600" algn="l" rtl="0" eaLnBrk="0" fontAlgn="base" hangingPunct="0">
              <a:spcBef>
                <a:spcPts val="350"/>
              </a:spcBef>
              <a:spcAft>
                <a:spcPct val="0"/>
              </a:spcAft>
              <a:buClr>
                <a:schemeClr val="accent2"/>
              </a:buClr>
              <a:buFont typeface="Wingdings 2" pitchFamily="18" charset="2"/>
              <a:buChar char=""/>
              <a:defRPr>
                <a:solidFill>
                  <a:schemeClr val="tx1"/>
                </a:solidFill>
                <a:latin typeface="+mn-lt"/>
                <a:ea typeface="+mn-ea"/>
              </a:defRPr>
            </a:lvl6pPr>
            <a:lvl7pPr marL="2286000" indent="-228600" algn="l" rtl="0" eaLnBrk="0" fontAlgn="base" hangingPunct="0">
              <a:spcBef>
                <a:spcPts val="350"/>
              </a:spcBef>
              <a:spcAft>
                <a:spcPct val="0"/>
              </a:spcAft>
              <a:buClr>
                <a:schemeClr val="accent2"/>
              </a:buClr>
              <a:buFont typeface="Wingdings 2" pitchFamily="18" charset="2"/>
              <a:buChar char=""/>
              <a:defRPr>
                <a:solidFill>
                  <a:schemeClr val="tx1"/>
                </a:solidFill>
                <a:latin typeface="+mn-lt"/>
                <a:ea typeface="+mn-ea"/>
              </a:defRPr>
            </a:lvl7pPr>
            <a:lvl8pPr marL="2743200" indent="-228600" algn="l" rtl="0" eaLnBrk="0" fontAlgn="base" hangingPunct="0">
              <a:spcBef>
                <a:spcPts val="350"/>
              </a:spcBef>
              <a:spcAft>
                <a:spcPct val="0"/>
              </a:spcAft>
              <a:buClr>
                <a:schemeClr val="accent2"/>
              </a:buClr>
              <a:buFont typeface="Wingdings 2" pitchFamily="18" charset="2"/>
              <a:buChar char=""/>
              <a:defRPr>
                <a:solidFill>
                  <a:schemeClr val="tx1"/>
                </a:solidFill>
                <a:latin typeface="+mn-lt"/>
                <a:ea typeface="+mn-ea"/>
              </a:defRPr>
            </a:lvl8pPr>
            <a:lvl9pPr marL="3200400" indent="-228600" algn="l" rtl="0" eaLnBrk="0" fontAlgn="base" hangingPunct="0">
              <a:spcBef>
                <a:spcPts val="350"/>
              </a:spcBef>
              <a:spcAft>
                <a:spcPct val="0"/>
              </a:spcAft>
              <a:buClr>
                <a:schemeClr val="accent2"/>
              </a:buClr>
              <a:buFont typeface="Wingdings 2" pitchFamily="18" charset="2"/>
              <a:buChar char=""/>
              <a:defRPr>
                <a:solidFill>
                  <a:schemeClr val="tx1"/>
                </a:solidFill>
                <a:latin typeface="+mn-lt"/>
                <a:ea typeface="+mn-ea"/>
              </a:defRPr>
            </a:lvl9pPr>
          </a:lstStyle>
          <a:p>
            <a:pPr marL="273844" indent="-191691" defTabSz="685800" eaLnBrk="1" hangingPunct="1">
              <a:lnSpc>
                <a:spcPct val="150000"/>
              </a:lnSpc>
              <a:spcBef>
                <a:spcPts val="300"/>
              </a:spcBef>
              <a:buClr>
                <a:srgbClr val="2DA2BF"/>
              </a:buClr>
              <a:defRPr/>
            </a:pPr>
            <a:r>
              <a:rPr lang="zh-CN" altLang="en-US" sz="1500" b="1" dirty="0">
                <a:solidFill>
                  <a:srgbClr val="000000"/>
                </a:solidFill>
                <a:highlight>
                  <a:srgbClr val="00FFFF"/>
                </a:highlight>
                <a:latin typeface="Lucida Sans Unicode"/>
                <a:ea typeface="黑体"/>
              </a:rPr>
              <a:t>数据湖（</a:t>
            </a:r>
            <a:r>
              <a:rPr lang="en-US" altLang="zh-CN" sz="1500" b="1" dirty="0">
                <a:solidFill>
                  <a:srgbClr val="000000"/>
                </a:solidFill>
                <a:highlight>
                  <a:srgbClr val="00FFFF"/>
                </a:highlight>
                <a:latin typeface="Lucida Sans Unicode"/>
                <a:ea typeface="黑体"/>
              </a:rPr>
              <a:t>Data Lake</a:t>
            </a:r>
            <a:r>
              <a:rPr lang="zh-CN" altLang="en-US" sz="1500" b="1" dirty="0">
                <a:solidFill>
                  <a:srgbClr val="000000"/>
                </a:solidFill>
                <a:highlight>
                  <a:srgbClr val="00FFFF"/>
                </a:highlight>
                <a:latin typeface="Lucida Sans Unicode"/>
                <a:ea typeface="黑体"/>
              </a:rPr>
              <a:t>）</a:t>
            </a:r>
            <a:r>
              <a:rPr lang="zh-CN" altLang="en-US" sz="1500" dirty="0">
                <a:solidFill>
                  <a:srgbClr val="000000"/>
                </a:solidFill>
                <a:latin typeface="Lucida Sans Unicode"/>
                <a:ea typeface="黑体"/>
              </a:rPr>
              <a:t>是一种</a:t>
            </a:r>
            <a:r>
              <a:rPr lang="zh-CN" altLang="en-US" sz="1500" dirty="0">
                <a:solidFill>
                  <a:srgbClr val="FF0000"/>
                </a:solidFill>
                <a:latin typeface="Lucida Sans Unicode"/>
                <a:ea typeface="黑体"/>
              </a:rPr>
              <a:t>不断演进</a:t>
            </a:r>
            <a:r>
              <a:rPr lang="zh-CN" altLang="en-US" sz="1500" dirty="0">
                <a:solidFill>
                  <a:srgbClr val="000000"/>
                </a:solidFill>
                <a:latin typeface="Lucida Sans Unicode"/>
                <a:ea typeface="黑体"/>
              </a:rPr>
              <a:t>中、</a:t>
            </a:r>
            <a:r>
              <a:rPr lang="zh-CN" altLang="en-US" sz="1500" dirty="0">
                <a:solidFill>
                  <a:srgbClr val="FF0000"/>
                </a:solidFill>
                <a:latin typeface="Lucida Sans Unicode"/>
                <a:ea typeface="黑体"/>
              </a:rPr>
              <a:t>可扩展</a:t>
            </a:r>
            <a:r>
              <a:rPr lang="zh-CN" altLang="en-US" sz="1500" dirty="0">
                <a:solidFill>
                  <a:srgbClr val="000000"/>
                </a:solidFill>
                <a:latin typeface="Lucida Sans Unicode"/>
                <a:ea typeface="黑体"/>
              </a:rPr>
              <a:t>的</a:t>
            </a:r>
            <a:r>
              <a:rPr lang="zh-CN" altLang="en-US" sz="1500" dirty="0">
                <a:solidFill>
                  <a:srgbClr val="FF0000"/>
                </a:solidFill>
                <a:latin typeface="Lucida Sans Unicode"/>
                <a:ea typeface="黑体"/>
              </a:rPr>
              <a:t>大数据存储、处理、分析</a:t>
            </a:r>
            <a:r>
              <a:rPr lang="zh-CN" altLang="en-US" sz="1500" dirty="0">
                <a:solidFill>
                  <a:srgbClr val="000000"/>
                </a:solidFill>
                <a:latin typeface="Lucida Sans Unicode"/>
                <a:ea typeface="黑体"/>
              </a:rPr>
              <a:t>的基础设施。</a:t>
            </a:r>
            <a:endParaRPr lang="en-US" altLang="zh-CN" sz="1500" dirty="0">
              <a:solidFill>
                <a:srgbClr val="000000"/>
              </a:solidFill>
              <a:latin typeface="Lucida Sans Unicode"/>
              <a:ea typeface="黑体"/>
            </a:endParaRPr>
          </a:p>
        </p:txBody>
      </p:sp>
      <p:cxnSp>
        <p:nvCxnSpPr>
          <p:cNvPr id="8" name="直接连接符 7"/>
          <p:cNvCxnSpPr>
            <a:cxnSpLocks/>
          </p:cNvCxnSpPr>
          <p:nvPr/>
        </p:nvCxnSpPr>
        <p:spPr>
          <a:xfrm flipV="1">
            <a:off x="2941865" y="1765538"/>
            <a:ext cx="0" cy="3780129"/>
          </a:xfrm>
          <a:prstGeom prst="line">
            <a:avLst/>
          </a:prstGeom>
          <a:ln w="19050">
            <a:prstDash val="lgDash"/>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5E98C84E-BC99-1B3A-BF8D-F87A5D00B004}"/>
              </a:ext>
            </a:extLst>
          </p:cNvPr>
          <p:cNvPicPr>
            <a:picLocks noChangeAspect="1"/>
          </p:cNvPicPr>
          <p:nvPr/>
        </p:nvPicPr>
        <p:blipFill rotWithShape="1">
          <a:blip r:embed="rId3">
            <a:extLst>
              <a:ext uri="{28A0092B-C50C-407E-A947-70E740481C1C}">
                <a14:useLocalDpi xmlns:a14="http://schemas.microsoft.com/office/drawing/2010/main" val="0"/>
              </a:ext>
            </a:extLst>
          </a:blip>
          <a:srcRect l="13793" t="16132" r="14173" b="14404"/>
          <a:stretch/>
        </p:blipFill>
        <p:spPr>
          <a:xfrm>
            <a:off x="3236942" y="1043599"/>
            <a:ext cx="5612667" cy="3753638"/>
          </a:xfrm>
          <a:prstGeom prst="rect">
            <a:avLst/>
          </a:prstGeom>
        </p:spPr>
      </p:pic>
      <p:sp>
        <p:nvSpPr>
          <p:cNvPr id="26" name="任意多边形: 形状 25">
            <a:extLst>
              <a:ext uri="{FF2B5EF4-FFF2-40B4-BE49-F238E27FC236}">
                <a16:creationId xmlns:a16="http://schemas.microsoft.com/office/drawing/2014/main" id="{FA3D4B95-CFED-3945-193B-CB7F0A3F7E1A}"/>
              </a:ext>
            </a:extLst>
          </p:cNvPr>
          <p:cNvSpPr/>
          <p:nvPr/>
        </p:nvSpPr>
        <p:spPr>
          <a:xfrm>
            <a:off x="698265" y="3667589"/>
            <a:ext cx="1418400" cy="378224"/>
          </a:xfrm>
          <a:custGeom>
            <a:avLst/>
            <a:gdLst>
              <a:gd name="connsiteX0" fmla="*/ 0 w 953839"/>
              <a:gd name="connsiteY0" fmla="*/ 32891 h 328910"/>
              <a:gd name="connsiteX1" fmla="*/ 32891 w 953839"/>
              <a:gd name="connsiteY1" fmla="*/ 0 h 328910"/>
              <a:gd name="connsiteX2" fmla="*/ 920948 w 953839"/>
              <a:gd name="connsiteY2" fmla="*/ 0 h 328910"/>
              <a:gd name="connsiteX3" fmla="*/ 953839 w 953839"/>
              <a:gd name="connsiteY3" fmla="*/ 32891 h 328910"/>
              <a:gd name="connsiteX4" fmla="*/ 953839 w 953839"/>
              <a:gd name="connsiteY4" fmla="*/ 296019 h 328910"/>
              <a:gd name="connsiteX5" fmla="*/ 920948 w 953839"/>
              <a:gd name="connsiteY5" fmla="*/ 328910 h 328910"/>
              <a:gd name="connsiteX6" fmla="*/ 32891 w 953839"/>
              <a:gd name="connsiteY6" fmla="*/ 328910 h 328910"/>
              <a:gd name="connsiteX7" fmla="*/ 0 w 953839"/>
              <a:gd name="connsiteY7" fmla="*/ 296019 h 328910"/>
              <a:gd name="connsiteX8" fmla="*/ 0 w 953839"/>
              <a:gd name="connsiteY8" fmla="*/ 32891 h 32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839" h="328910">
                <a:moveTo>
                  <a:pt x="0" y="32891"/>
                </a:moveTo>
                <a:cubicBezTo>
                  <a:pt x="0" y="14726"/>
                  <a:pt x="14726" y="0"/>
                  <a:pt x="32891" y="0"/>
                </a:cubicBezTo>
                <a:lnTo>
                  <a:pt x="920948" y="0"/>
                </a:lnTo>
                <a:cubicBezTo>
                  <a:pt x="939113" y="0"/>
                  <a:pt x="953839" y="14726"/>
                  <a:pt x="953839" y="32891"/>
                </a:cubicBezTo>
                <a:lnTo>
                  <a:pt x="953839" y="296019"/>
                </a:lnTo>
                <a:cubicBezTo>
                  <a:pt x="953839" y="314184"/>
                  <a:pt x="939113" y="328910"/>
                  <a:pt x="920948" y="328910"/>
                </a:cubicBezTo>
                <a:lnTo>
                  <a:pt x="32891" y="328910"/>
                </a:lnTo>
                <a:cubicBezTo>
                  <a:pt x="14726" y="328910"/>
                  <a:pt x="0" y="314184"/>
                  <a:pt x="0" y="296019"/>
                </a:cubicBezTo>
                <a:lnTo>
                  <a:pt x="0" y="32891"/>
                </a:lnTo>
                <a:close/>
              </a:path>
            </a:pathLst>
          </a:custGeom>
          <a:solidFill>
            <a:srgbClr val="4F81BD">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p:spPr>
        <p:style>
          <a:lnRef idx="3">
            <a:scrgbClr r="0" g="0" b="0"/>
          </a:lnRef>
          <a:fillRef idx="1">
            <a:scrgbClr r="0" g="0" b="0"/>
          </a:fillRef>
          <a:effectRef idx="1">
            <a:scrgbClr r="0" g="0" b="0"/>
          </a:effectRef>
          <a:fontRef idx="minor">
            <a:schemeClr val="lt1"/>
          </a:fontRef>
        </p:style>
        <p:txBody>
          <a:bodyPr spcFirstLastPara="0" vert="horz" wrap="square" lIns="38657" tIns="38657" rIns="38657" bIns="38657" numCol="1" spcCol="1270" anchor="ctr" anchorCtr="0">
            <a:noAutofit/>
          </a:bodyPr>
          <a:lstStyle/>
          <a:p>
            <a:pPr algn="ctr" defTabSz="366713" hangingPunct="1">
              <a:lnSpc>
                <a:spcPct val="90000"/>
              </a:lnSpc>
              <a:spcBef>
                <a:spcPct val="0"/>
              </a:spcBef>
              <a:spcAft>
                <a:spcPct val="35000"/>
              </a:spcAft>
            </a:pPr>
            <a:r>
              <a:rPr lang="zh-CN" altLang="en-US" sz="1200" kern="1200" dirty="0">
                <a:solidFill>
                  <a:sysClr val="window" lastClr="FFFFFF"/>
                </a:solidFill>
                <a:latin typeface="微软雅黑" panose="020B0503020204020204" pitchFamily="34" charset="-122"/>
                <a:ea typeface="微软雅黑" panose="020B0503020204020204" pitchFamily="34" charset="-122"/>
              </a:rPr>
              <a:t>存储更大</a:t>
            </a:r>
          </a:p>
        </p:txBody>
      </p:sp>
      <p:sp>
        <p:nvSpPr>
          <p:cNvPr id="35" name="任意多边形: 形状 34">
            <a:extLst>
              <a:ext uri="{FF2B5EF4-FFF2-40B4-BE49-F238E27FC236}">
                <a16:creationId xmlns:a16="http://schemas.microsoft.com/office/drawing/2014/main" id="{597B174F-FE78-2539-D758-C6E7CECF4FF9}"/>
              </a:ext>
            </a:extLst>
          </p:cNvPr>
          <p:cNvSpPr/>
          <p:nvPr/>
        </p:nvSpPr>
        <p:spPr>
          <a:xfrm>
            <a:off x="694286" y="5061589"/>
            <a:ext cx="1418400" cy="378224"/>
          </a:xfrm>
          <a:custGeom>
            <a:avLst/>
            <a:gdLst>
              <a:gd name="connsiteX0" fmla="*/ 0 w 953839"/>
              <a:gd name="connsiteY0" fmla="*/ 32891 h 328910"/>
              <a:gd name="connsiteX1" fmla="*/ 32891 w 953839"/>
              <a:gd name="connsiteY1" fmla="*/ 0 h 328910"/>
              <a:gd name="connsiteX2" fmla="*/ 920948 w 953839"/>
              <a:gd name="connsiteY2" fmla="*/ 0 h 328910"/>
              <a:gd name="connsiteX3" fmla="*/ 953839 w 953839"/>
              <a:gd name="connsiteY3" fmla="*/ 32891 h 328910"/>
              <a:gd name="connsiteX4" fmla="*/ 953839 w 953839"/>
              <a:gd name="connsiteY4" fmla="*/ 296019 h 328910"/>
              <a:gd name="connsiteX5" fmla="*/ 920948 w 953839"/>
              <a:gd name="connsiteY5" fmla="*/ 328910 h 328910"/>
              <a:gd name="connsiteX6" fmla="*/ 32891 w 953839"/>
              <a:gd name="connsiteY6" fmla="*/ 328910 h 328910"/>
              <a:gd name="connsiteX7" fmla="*/ 0 w 953839"/>
              <a:gd name="connsiteY7" fmla="*/ 296019 h 328910"/>
              <a:gd name="connsiteX8" fmla="*/ 0 w 953839"/>
              <a:gd name="connsiteY8" fmla="*/ 32891 h 32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839" h="328910">
                <a:moveTo>
                  <a:pt x="0" y="32891"/>
                </a:moveTo>
                <a:cubicBezTo>
                  <a:pt x="0" y="14726"/>
                  <a:pt x="14726" y="0"/>
                  <a:pt x="32891" y="0"/>
                </a:cubicBezTo>
                <a:lnTo>
                  <a:pt x="920948" y="0"/>
                </a:lnTo>
                <a:cubicBezTo>
                  <a:pt x="939113" y="0"/>
                  <a:pt x="953839" y="14726"/>
                  <a:pt x="953839" y="32891"/>
                </a:cubicBezTo>
                <a:lnTo>
                  <a:pt x="953839" y="296019"/>
                </a:lnTo>
                <a:cubicBezTo>
                  <a:pt x="953839" y="314184"/>
                  <a:pt x="939113" y="328910"/>
                  <a:pt x="920948" y="328910"/>
                </a:cubicBezTo>
                <a:lnTo>
                  <a:pt x="32891" y="328910"/>
                </a:lnTo>
                <a:cubicBezTo>
                  <a:pt x="14726" y="328910"/>
                  <a:pt x="0" y="314184"/>
                  <a:pt x="0" y="296019"/>
                </a:cubicBezTo>
                <a:lnTo>
                  <a:pt x="0" y="32891"/>
                </a:lnTo>
                <a:close/>
              </a:path>
            </a:pathLst>
          </a:custGeom>
          <a:solidFill>
            <a:srgbClr val="4F81BD">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p:spPr>
        <p:style>
          <a:lnRef idx="3">
            <a:scrgbClr r="0" g="0" b="0"/>
          </a:lnRef>
          <a:fillRef idx="1">
            <a:scrgbClr r="0" g="0" b="0"/>
          </a:fillRef>
          <a:effectRef idx="1">
            <a:scrgbClr r="0" g="0" b="0"/>
          </a:effectRef>
          <a:fontRef idx="minor">
            <a:schemeClr val="lt1"/>
          </a:fontRef>
        </p:style>
        <p:txBody>
          <a:bodyPr spcFirstLastPara="0" vert="horz" wrap="square" lIns="38657" tIns="38657" rIns="38657" bIns="38657" numCol="1" spcCol="1270" anchor="ctr" anchorCtr="0">
            <a:noAutofit/>
          </a:bodyPr>
          <a:lstStyle/>
          <a:p>
            <a:pPr algn="ctr" defTabSz="366713" hangingPunct="1">
              <a:lnSpc>
                <a:spcPct val="90000"/>
              </a:lnSpc>
              <a:spcBef>
                <a:spcPct val="0"/>
              </a:spcBef>
              <a:spcAft>
                <a:spcPct val="35000"/>
              </a:spcAft>
            </a:pPr>
            <a:r>
              <a:rPr lang="zh-CN" altLang="en-US" sz="1200" kern="1200" dirty="0">
                <a:solidFill>
                  <a:sysClr val="window" lastClr="FFFFFF"/>
                </a:solidFill>
                <a:latin typeface="微软雅黑" panose="020B0503020204020204" pitchFamily="34" charset="-122"/>
                <a:ea typeface="微软雅黑" panose="020B0503020204020204" pitchFamily="34" charset="-122"/>
              </a:rPr>
              <a:t>成本更低</a:t>
            </a:r>
          </a:p>
        </p:txBody>
      </p:sp>
      <p:sp>
        <p:nvSpPr>
          <p:cNvPr id="36" name="任意多边形: 形状 35">
            <a:extLst>
              <a:ext uri="{FF2B5EF4-FFF2-40B4-BE49-F238E27FC236}">
                <a16:creationId xmlns:a16="http://schemas.microsoft.com/office/drawing/2014/main" id="{120824B3-B97C-DB20-2BEA-2B32A06AFD8F}"/>
              </a:ext>
            </a:extLst>
          </p:cNvPr>
          <p:cNvSpPr/>
          <p:nvPr/>
        </p:nvSpPr>
        <p:spPr>
          <a:xfrm>
            <a:off x="666725" y="4350542"/>
            <a:ext cx="1418402" cy="378224"/>
          </a:xfrm>
          <a:custGeom>
            <a:avLst/>
            <a:gdLst>
              <a:gd name="connsiteX0" fmla="*/ 0 w 953839"/>
              <a:gd name="connsiteY0" fmla="*/ 32891 h 328910"/>
              <a:gd name="connsiteX1" fmla="*/ 32891 w 953839"/>
              <a:gd name="connsiteY1" fmla="*/ 0 h 328910"/>
              <a:gd name="connsiteX2" fmla="*/ 920948 w 953839"/>
              <a:gd name="connsiteY2" fmla="*/ 0 h 328910"/>
              <a:gd name="connsiteX3" fmla="*/ 953839 w 953839"/>
              <a:gd name="connsiteY3" fmla="*/ 32891 h 328910"/>
              <a:gd name="connsiteX4" fmla="*/ 953839 w 953839"/>
              <a:gd name="connsiteY4" fmla="*/ 296019 h 328910"/>
              <a:gd name="connsiteX5" fmla="*/ 920948 w 953839"/>
              <a:gd name="connsiteY5" fmla="*/ 328910 h 328910"/>
              <a:gd name="connsiteX6" fmla="*/ 32891 w 953839"/>
              <a:gd name="connsiteY6" fmla="*/ 328910 h 328910"/>
              <a:gd name="connsiteX7" fmla="*/ 0 w 953839"/>
              <a:gd name="connsiteY7" fmla="*/ 296019 h 328910"/>
              <a:gd name="connsiteX8" fmla="*/ 0 w 953839"/>
              <a:gd name="connsiteY8" fmla="*/ 32891 h 32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839" h="328910">
                <a:moveTo>
                  <a:pt x="0" y="32891"/>
                </a:moveTo>
                <a:cubicBezTo>
                  <a:pt x="0" y="14726"/>
                  <a:pt x="14726" y="0"/>
                  <a:pt x="32891" y="0"/>
                </a:cubicBezTo>
                <a:lnTo>
                  <a:pt x="920948" y="0"/>
                </a:lnTo>
                <a:cubicBezTo>
                  <a:pt x="939113" y="0"/>
                  <a:pt x="953839" y="14726"/>
                  <a:pt x="953839" y="32891"/>
                </a:cubicBezTo>
                <a:lnTo>
                  <a:pt x="953839" y="296019"/>
                </a:lnTo>
                <a:cubicBezTo>
                  <a:pt x="953839" y="314184"/>
                  <a:pt x="939113" y="328910"/>
                  <a:pt x="920948" y="328910"/>
                </a:cubicBezTo>
                <a:lnTo>
                  <a:pt x="32891" y="328910"/>
                </a:lnTo>
                <a:cubicBezTo>
                  <a:pt x="14726" y="328910"/>
                  <a:pt x="0" y="314184"/>
                  <a:pt x="0" y="296019"/>
                </a:cubicBezTo>
                <a:lnTo>
                  <a:pt x="0" y="32891"/>
                </a:lnTo>
                <a:close/>
              </a:path>
            </a:pathLst>
          </a:custGeom>
          <a:solidFill>
            <a:srgbClr val="4F81BD">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p:spPr>
        <p:style>
          <a:lnRef idx="3">
            <a:scrgbClr r="0" g="0" b="0"/>
          </a:lnRef>
          <a:fillRef idx="1">
            <a:scrgbClr r="0" g="0" b="0"/>
          </a:fillRef>
          <a:effectRef idx="1">
            <a:scrgbClr r="0" g="0" b="0"/>
          </a:effectRef>
          <a:fontRef idx="minor">
            <a:schemeClr val="lt1"/>
          </a:fontRef>
        </p:style>
        <p:txBody>
          <a:bodyPr spcFirstLastPara="0" vert="horz" wrap="square" lIns="38657" tIns="38657" rIns="38657" bIns="38657" numCol="1" spcCol="1270" anchor="ctr" anchorCtr="0">
            <a:noAutofit/>
          </a:bodyPr>
          <a:lstStyle/>
          <a:p>
            <a:pPr algn="ctr" defTabSz="366713" hangingPunct="1">
              <a:lnSpc>
                <a:spcPct val="90000"/>
              </a:lnSpc>
              <a:spcBef>
                <a:spcPct val="0"/>
              </a:spcBef>
              <a:spcAft>
                <a:spcPct val="35000"/>
              </a:spcAft>
            </a:pPr>
            <a:r>
              <a:rPr lang="zh-CN" altLang="en-US" sz="1200" kern="1200" dirty="0">
                <a:solidFill>
                  <a:sysClr val="window" lastClr="FFFFFF"/>
                </a:solidFill>
                <a:latin typeface="微软雅黑" panose="020B0503020204020204" pitchFamily="34" charset="-122"/>
                <a:ea typeface="微软雅黑" panose="020B0503020204020204" pitchFamily="34" charset="-122"/>
              </a:rPr>
              <a:t>数据格式不做规范</a:t>
            </a:r>
          </a:p>
        </p:txBody>
      </p:sp>
      <p:grpSp>
        <p:nvGrpSpPr>
          <p:cNvPr id="40" name="组合 39">
            <a:extLst>
              <a:ext uri="{FF2B5EF4-FFF2-40B4-BE49-F238E27FC236}">
                <a16:creationId xmlns:a16="http://schemas.microsoft.com/office/drawing/2014/main" id="{A0D27BE2-7668-7BA2-D56F-881D66EC7A2E}"/>
              </a:ext>
            </a:extLst>
          </p:cNvPr>
          <p:cNvGrpSpPr/>
          <p:nvPr/>
        </p:nvGrpSpPr>
        <p:grpSpPr>
          <a:xfrm>
            <a:off x="1266286" y="4116755"/>
            <a:ext cx="235055" cy="195879"/>
            <a:chOff x="2762329" y="349747"/>
            <a:chExt cx="148009" cy="123341"/>
          </a:xfrm>
        </p:grpSpPr>
        <p:sp>
          <p:nvSpPr>
            <p:cNvPr id="41" name="箭头: 右 40">
              <a:extLst>
                <a:ext uri="{FF2B5EF4-FFF2-40B4-BE49-F238E27FC236}">
                  <a16:creationId xmlns:a16="http://schemas.microsoft.com/office/drawing/2014/main" id="{BDC4E4F0-19EC-B976-E01D-E4E26AC723D8}"/>
                </a:ext>
              </a:extLst>
            </p:cNvPr>
            <p:cNvSpPr/>
            <p:nvPr/>
          </p:nvSpPr>
          <p:spPr>
            <a:xfrm rot="5400000">
              <a:off x="2774663" y="337413"/>
              <a:ext cx="123341" cy="148009"/>
            </a:xfrm>
            <a:prstGeom prst="rightArrow">
              <a:avLst>
                <a:gd name="adj1" fmla="val 60000"/>
                <a:gd name="adj2" fmla="val 50000"/>
              </a:avLst>
            </a:prstGeom>
            <a:solidFill>
              <a:srgbClr val="4F81BD">
                <a:tint val="60000"/>
                <a:hueOff val="0"/>
                <a:satOff val="0"/>
                <a:lumOff val="0"/>
                <a:alphaOff val="0"/>
              </a:srgbClr>
            </a:solidFill>
            <a:ln>
              <a:noFill/>
            </a:ln>
            <a:effectLst>
              <a:outerShdw blurRad="40000" dist="20000" dir="5400000" rotWithShape="0">
                <a:srgbClr val="000000">
                  <a:alpha val="38000"/>
                </a:srgbClr>
              </a:outerShdw>
            </a:effectLst>
          </p:spPr>
        </p:sp>
        <p:sp>
          <p:nvSpPr>
            <p:cNvPr id="42" name="箭头: 右 4">
              <a:extLst>
                <a:ext uri="{FF2B5EF4-FFF2-40B4-BE49-F238E27FC236}">
                  <a16:creationId xmlns:a16="http://schemas.microsoft.com/office/drawing/2014/main" id="{5E6A2924-A4C4-E517-96E6-FCED5908C612}"/>
                </a:ext>
              </a:extLst>
            </p:cNvPr>
            <p:cNvSpPr txBox="1"/>
            <p:nvPr/>
          </p:nvSpPr>
          <p:spPr>
            <a:xfrm>
              <a:off x="2791931" y="349747"/>
              <a:ext cx="88805" cy="86339"/>
            </a:xfrm>
            <a:prstGeom prst="rect">
              <a:avLst/>
            </a:prstGeom>
            <a:noFill/>
            <a:ln>
              <a:noFill/>
            </a:ln>
            <a:effectLst/>
          </p:spPr>
          <p:txBody>
            <a:bodyPr spcFirstLastPara="0" vert="horz" wrap="square" lIns="0" tIns="0" rIns="0" bIns="0" numCol="1" spcCol="1270" anchor="ctr" anchorCtr="0">
              <a:noAutofit/>
            </a:bodyPr>
            <a:lstStyle/>
            <a:p>
              <a:pPr algn="ctr" defTabSz="166688" hangingPunct="1">
                <a:lnSpc>
                  <a:spcPct val="90000"/>
                </a:lnSpc>
                <a:spcBef>
                  <a:spcPct val="0"/>
                </a:spcBef>
                <a:spcAft>
                  <a:spcPct val="35000"/>
                </a:spcAft>
                <a:defRPr/>
              </a:pPr>
              <a:endParaRPr lang="zh-CN" altLang="en-US" sz="375" kern="1200">
                <a:solidFill>
                  <a:sysClr val="window" lastClr="FFFFFF"/>
                </a:solidFill>
                <a:latin typeface="微软雅黑" panose="020B0503020204020204" pitchFamily="34" charset="-122"/>
                <a:ea typeface="微软雅黑" panose="020B0503020204020204" pitchFamily="34" charset="-122"/>
              </a:endParaRPr>
            </a:p>
          </p:txBody>
        </p:sp>
      </p:grpSp>
      <p:grpSp>
        <p:nvGrpSpPr>
          <p:cNvPr id="43" name="组合 42">
            <a:extLst>
              <a:ext uri="{FF2B5EF4-FFF2-40B4-BE49-F238E27FC236}">
                <a16:creationId xmlns:a16="http://schemas.microsoft.com/office/drawing/2014/main" id="{3767B900-4C88-B6B8-8380-3CB5708C90D0}"/>
              </a:ext>
            </a:extLst>
          </p:cNvPr>
          <p:cNvGrpSpPr/>
          <p:nvPr/>
        </p:nvGrpSpPr>
        <p:grpSpPr>
          <a:xfrm>
            <a:off x="1285959" y="4797238"/>
            <a:ext cx="235055" cy="195879"/>
            <a:chOff x="2762329" y="349747"/>
            <a:chExt cx="148009" cy="123341"/>
          </a:xfrm>
        </p:grpSpPr>
        <p:sp>
          <p:nvSpPr>
            <p:cNvPr id="44" name="箭头: 右 43">
              <a:extLst>
                <a:ext uri="{FF2B5EF4-FFF2-40B4-BE49-F238E27FC236}">
                  <a16:creationId xmlns:a16="http://schemas.microsoft.com/office/drawing/2014/main" id="{C2F96E68-315D-7BBF-A573-087513FB7545}"/>
                </a:ext>
              </a:extLst>
            </p:cNvPr>
            <p:cNvSpPr/>
            <p:nvPr/>
          </p:nvSpPr>
          <p:spPr>
            <a:xfrm rot="5400000">
              <a:off x="2774663" y="337413"/>
              <a:ext cx="123341" cy="148009"/>
            </a:xfrm>
            <a:prstGeom prst="rightArrow">
              <a:avLst>
                <a:gd name="adj1" fmla="val 60000"/>
                <a:gd name="adj2" fmla="val 50000"/>
              </a:avLst>
            </a:prstGeom>
            <a:solidFill>
              <a:srgbClr val="4F81BD">
                <a:tint val="60000"/>
                <a:hueOff val="0"/>
                <a:satOff val="0"/>
                <a:lumOff val="0"/>
                <a:alphaOff val="0"/>
              </a:srgbClr>
            </a:solidFill>
            <a:ln>
              <a:noFill/>
            </a:ln>
            <a:effectLst>
              <a:outerShdw blurRad="40000" dist="20000" dir="5400000" rotWithShape="0">
                <a:srgbClr val="000000">
                  <a:alpha val="38000"/>
                </a:srgbClr>
              </a:outerShdw>
            </a:effectLst>
          </p:spPr>
        </p:sp>
        <p:sp>
          <p:nvSpPr>
            <p:cNvPr id="45" name="箭头: 右 4">
              <a:extLst>
                <a:ext uri="{FF2B5EF4-FFF2-40B4-BE49-F238E27FC236}">
                  <a16:creationId xmlns:a16="http://schemas.microsoft.com/office/drawing/2014/main" id="{3B1616E9-072F-9FED-3D9B-2D79CE6AE31B}"/>
                </a:ext>
              </a:extLst>
            </p:cNvPr>
            <p:cNvSpPr txBox="1"/>
            <p:nvPr/>
          </p:nvSpPr>
          <p:spPr>
            <a:xfrm>
              <a:off x="2791931" y="349747"/>
              <a:ext cx="88805" cy="86339"/>
            </a:xfrm>
            <a:prstGeom prst="rect">
              <a:avLst/>
            </a:prstGeom>
            <a:noFill/>
            <a:ln>
              <a:noFill/>
            </a:ln>
            <a:effectLst/>
          </p:spPr>
          <p:txBody>
            <a:bodyPr spcFirstLastPara="0" vert="horz" wrap="square" lIns="0" tIns="0" rIns="0" bIns="0" numCol="1" spcCol="1270" anchor="ctr" anchorCtr="0">
              <a:noAutofit/>
            </a:bodyPr>
            <a:lstStyle/>
            <a:p>
              <a:pPr algn="ctr" defTabSz="166688" hangingPunct="1">
                <a:lnSpc>
                  <a:spcPct val="90000"/>
                </a:lnSpc>
                <a:spcBef>
                  <a:spcPct val="0"/>
                </a:spcBef>
                <a:spcAft>
                  <a:spcPct val="35000"/>
                </a:spcAft>
                <a:defRPr/>
              </a:pPr>
              <a:endParaRPr lang="zh-CN" altLang="en-US" sz="375" kern="1200">
                <a:solidFill>
                  <a:sysClr val="window" lastClr="FFFFFF"/>
                </a:solidFill>
                <a:latin typeface="微软雅黑" panose="020B0503020204020204" pitchFamily="34" charset="-122"/>
                <a:ea typeface="微软雅黑" panose="020B0503020204020204" pitchFamily="34" charset="-122"/>
              </a:endParaRPr>
            </a:p>
          </p:txBody>
        </p:sp>
      </p:grpSp>
      <p:sp>
        <p:nvSpPr>
          <p:cNvPr id="18" name="文本框 17">
            <a:extLst>
              <a:ext uri="{FF2B5EF4-FFF2-40B4-BE49-F238E27FC236}">
                <a16:creationId xmlns:a16="http://schemas.microsoft.com/office/drawing/2014/main" id="{F75A4A3B-53EF-514C-B8E9-87D2A9180385}"/>
              </a:ext>
            </a:extLst>
          </p:cNvPr>
          <p:cNvSpPr txBox="1"/>
          <p:nvPr/>
        </p:nvSpPr>
        <p:spPr>
          <a:xfrm>
            <a:off x="3059542" y="4958737"/>
            <a:ext cx="1863524" cy="300082"/>
          </a:xfrm>
          <a:prstGeom prst="rect">
            <a:avLst/>
          </a:prstGeom>
          <a:noFill/>
        </p:spPr>
        <p:txBody>
          <a:bodyPr wrap="square">
            <a:spAutoFit/>
          </a:bodyPr>
          <a:lstStyle/>
          <a:p>
            <a:pPr algn="l" defTabSz="342900" hangingPunct="1">
              <a:lnSpc>
                <a:spcPct val="100000"/>
              </a:lnSpc>
            </a:pPr>
            <a:r>
              <a:rPr lang="zh-CN" altLang="en-US" sz="1350" kern="1200" dirty="0">
                <a:solidFill>
                  <a:srgbClr val="121212"/>
                </a:solidFill>
                <a:latin typeface="-apple-system"/>
              </a:rPr>
              <a:t>关系数据库（行和列）</a:t>
            </a:r>
            <a:endParaRPr lang="zh-CN" altLang="en-US" sz="1350" kern="1200" dirty="0">
              <a:solidFill>
                <a:prstClr val="black"/>
              </a:solidFill>
              <a:latin typeface="Rockwell" panose="02060603020205020403"/>
            </a:endParaRPr>
          </a:p>
        </p:txBody>
      </p:sp>
      <p:sp>
        <p:nvSpPr>
          <p:cNvPr id="20" name="文本框 19">
            <a:extLst>
              <a:ext uri="{FF2B5EF4-FFF2-40B4-BE49-F238E27FC236}">
                <a16:creationId xmlns:a16="http://schemas.microsoft.com/office/drawing/2014/main" id="{0E9B8593-18A9-FD4C-9118-80A5AF625840}"/>
              </a:ext>
            </a:extLst>
          </p:cNvPr>
          <p:cNvSpPr txBox="1"/>
          <p:nvPr/>
        </p:nvSpPr>
        <p:spPr>
          <a:xfrm>
            <a:off x="4923066" y="4939333"/>
            <a:ext cx="5911850" cy="300082"/>
          </a:xfrm>
          <a:prstGeom prst="rect">
            <a:avLst/>
          </a:prstGeom>
          <a:noFill/>
        </p:spPr>
        <p:txBody>
          <a:bodyPr wrap="square">
            <a:spAutoFit/>
          </a:bodyPr>
          <a:lstStyle/>
          <a:p>
            <a:pPr algn="l" defTabSz="342900" hangingPunct="1">
              <a:lnSpc>
                <a:spcPct val="100000"/>
              </a:lnSpc>
            </a:pPr>
            <a:r>
              <a:rPr lang="en-US" altLang="zh-CN" sz="1350" kern="1200" dirty="0">
                <a:solidFill>
                  <a:srgbClr val="121212"/>
                </a:solidFill>
                <a:latin typeface="-apple-system"/>
              </a:rPr>
              <a:t>CSV</a:t>
            </a:r>
            <a:r>
              <a:rPr lang="zh-CN" altLang="en-US" sz="1350" kern="1200" dirty="0">
                <a:solidFill>
                  <a:srgbClr val="121212"/>
                </a:solidFill>
                <a:latin typeface="-apple-system"/>
              </a:rPr>
              <a:t>，日志，</a:t>
            </a:r>
            <a:r>
              <a:rPr lang="en-US" altLang="zh-CN" sz="1350" kern="1200" dirty="0">
                <a:solidFill>
                  <a:srgbClr val="121212"/>
                </a:solidFill>
                <a:latin typeface="-apple-system"/>
              </a:rPr>
              <a:t>XML</a:t>
            </a:r>
            <a:r>
              <a:rPr lang="zh-CN" altLang="en-US" sz="1350" kern="1200" dirty="0">
                <a:solidFill>
                  <a:srgbClr val="121212"/>
                </a:solidFill>
                <a:latin typeface="-apple-system"/>
              </a:rPr>
              <a:t>，</a:t>
            </a:r>
            <a:r>
              <a:rPr lang="en-US" altLang="zh-CN" sz="1350" kern="1200" dirty="0">
                <a:solidFill>
                  <a:srgbClr val="121212"/>
                </a:solidFill>
                <a:latin typeface="-apple-system"/>
              </a:rPr>
              <a:t>JSON</a:t>
            </a:r>
            <a:endParaRPr lang="zh-CN" altLang="en-US" sz="1350" kern="1200" dirty="0">
              <a:solidFill>
                <a:prstClr val="black"/>
              </a:solidFill>
              <a:latin typeface="Rockwell" panose="02060603020205020403"/>
            </a:endParaRPr>
          </a:p>
        </p:txBody>
      </p:sp>
      <p:sp>
        <p:nvSpPr>
          <p:cNvPr id="22" name="文本框 21">
            <a:extLst>
              <a:ext uri="{FF2B5EF4-FFF2-40B4-BE49-F238E27FC236}">
                <a16:creationId xmlns:a16="http://schemas.microsoft.com/office/drawing/2014/main" id="{312C6CB2-0917-3C43-8B51-E3B467CEFCB4}"/>
              </a:ext>
            </a:extLst>
          </p:cNvPr>
          <p:cNvSpPr txBox="1"/>
          <p:nvPr/>
        </p:nvSpPr>
        <p:spPr>
          <a:xfrm>
            <a:off x="7032625" y="4934439"/>
            <a:ext cx="5911850" cy="300082"/>
          </a:xfrm>
          <a:prstGeom prst="rect">
            <a:avLst/>
          </a:prstGeom>
          <a:noFill/>
        </p:spPr>
        <p:txBody>
          <a:bodyPr wrap="square">
            <a:spAutoFit/>
          </a:bodyPr>
          <a:lstStyle/>
          <a:p>
            <a:pPr algn="l" defTabSz="342900" hangingPunct="1">
              <a:lnSpc>
                <a:spcPct val="100000"/>
              </a:lnSpc>
            </a:pPr>
            <a:r>
              <a:rPr lang="zh-CN" altLang="en-US" sz="1350" kern="1200" dirty="0">
                <a:solidFill>
                  <a:srgbClr val="121212"/>
                </a:solidFill>
                <a:latin typeface="-apple-system"/>
              </a:rPr>
              <a:t>电子邮件，文档，</a:t>
            </a:r>
            <a:r>
              <a:rPr lang="en-US" altLang="zh-CN" sz="1350" kern="1200" dirty="0">
                <a:solidFill>
                  <a:srgbClr val="121212"/>
                </a:solidFill>
                <a:latin typeface="-apple-system"/>
              </a:rPr>
              <a:t>PDF</a:t>
            </a:r>
            <a:endParaRPr lang="zh-CN" altLang="en-US" sz="1350" kern="1200" dirty="0">
              <a:solidFill>
                <a:prstClr val="black"/>
              </a:solidFill>
              <a:latin typeface="Rockwell" panose="02060603020205020403"/>
            </a:endParaRPr>
          </a:p>
        </p:txBody>
      </p:sp>
      <p:sp>
        <p:nvSpPr>
          <p:cNvPr id="24" name="文本框 23">
            <a:extLst>
              <a:ext uri="{FF2B5EF4-FFF2-40B4-BE49-F238E27FC236}">
                <a16:creationId xmlns:a16="http://schemas.microsoft.com/office/drawing/2014/main" id="{B4A19FC4-4D52-8E4E-A990-07D2DD0711AA}"/>
              </a:ext>
            </a:extLst>
          </p:cNvPr>
          <p:cNvSpPr txBox="1"/>
          <p:nvPr/>
        </p:nvSpPr>
        <p:spPr>
          <a:xfrm>
            <a:off x="7032625" y="5197438"/>
            <a:ext cx="6534150" cy="507831"/>
          </a:xfrm>
          <a:prstGeom prst="rect">
            <a:avLst/>
          </a:prstGeom>
          <a:noFill/>
        </p:spPr>
        <p:txBody>
          <a:bodyPr wrap="square">
            <a:spAutoFit/>
          </a:bodyPr>
          <a:lstStyle/>
          <a:p>
            <a:pPr algn="l" defTabSz="342900" hangingPunct="1">
              <a:lnSpc>
                <a:spcPct val="100000"/>
              </a:lnSpc>
            </a:pPr>
            <a:r>
              <a:rPr lang="zh-CN" altLang="en-US" sz="1350" kern="1200" dirty="0">
                <a:solidFill>
                  <a:srgbClr val="121212"/>
                </a:solidFill>
                <a:latin typeface="-apple-system"/>
              </a:rPr>
              <a:t>二进制数据</a:t>
            </a:r>
            <a:endParaRPr lang="en-US" altLang="zh-CN" sz="1350" kern="1200" dirty="0">
              <a:solidFill>
                <a:srgbClr val="121212"/>
              </a:solidFill>
              <a:latin typeface="-apple-system"/>
            </a:endParaRPr>
          </a:p>
          <a:p>
            <a:pPr algn="l" defTabSz="342900" hangingPunct="1">
              <a:lnSpc>
                <a:spcPct val="100000"/>
              </a:lnSpc>
            </a:pPr>
            <a:r>
              <a:rPr lang="zh-CN" altLang="en-US" sz="1350" kern="1200" dirty="0">
                <a:solidFill>
                  <a:srgbClr val="121212"/>
                </a:solidFill>
                <a:latin typeface="-apple-system"/>
              </a:rPr>
              <a:t>图像，音频，视频</a:t>
            </a:r>
            <a:endParaRPr lang="zh-CN" altLang="en-US" sz="1350" kern="1200" dirty="0">
              <a:solidFill>
                <a:prstClr val="black"/>
              </a:solidFill>
              <a:latin typeface="Rockwell" panose="02060603020205020403"/>
            </a:endParaRPr>
          </a:p>
        </p:txBody>
      </p:sp>
    </p:spTree>
    <p:extLst>
      <p:ext uri="{BB962C8B-B14F-4D97-AF65-F5344CB8AC3E}">
        <p14:creationId xmlns:p14="http://schemas.microsoft.com/office/powerpoint/2010/main" val="16600673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48DB75-14F8-F24E-BA20-2A22B8F629E1}"/>
              </a:ext>
            </a:extLst>
          </p:cNvPr>
          <p:cNvSpPr>
            <a:spLocks noGrp="1"/>
          </p:cNvSpPr>
          <p:nvPr>
            <p:ph type="title"/>
          </p:nvPr>
        </p:nvSpPr>
        <p:spPr/>
        <p:txBody>
          <a:bodyPr/>
          <a:lstStyle/>
          <a:p>
            <a:r>
              <a:rPr kumimoji="1" lang="zh-CN" altLang="en-US" dirty="0"/>
              <a:t>数据湖核心能力</a:t>
            </a:r>
          </a:p>
        </p:txBody>
      </p:sp>
      <p:pic>
        <p:nvPicPr>
          <p:cNvPr id="4" name="内容占位符 3">
            <a:extLst>
              <a:ext uri="{FF2B5EF4-FFF2-40B4-BE49-F238E27FC236}">
                <a16:creationId xmlns:a16="http://schemas.microsoft.com/office/drawing/2014/main" id="{4315BD83-37B4-DA44-B4B4-125CBF7B0E4A}"/>
              </a:ext>
            </a:extLst>
          </p:cNvPr>
          <p:cNvPicPr>
            <a:picLocks noGrp="1" noChangeAspect="1"/>
          </p:cNvPicPr>
          <p:nvPr>
            <p:ph idx="1"/>
          </p:nvPr>
        </p:nvPicPr>
        <p:blipFill>
          <a:blip r:embed="rId2"/>
          <a:stretch>
            <a:fillRect/>
          </a:stretch>
        </p:blipFill>
        <p:spPr>
          <a:xfrm>
            <a:off x="503242" y="1729873"/>
            <a:ext cx="8298158" cy="4095194"/>
          </a:xfrm>
        </p:spPr>
      </p:pic>
    </p:spTree>
    <p:extLst>
      <p:ext uri="{BB962C8B-B14F-4D97-AF65-F5344CB8AC3E}">
        <p14:creationId xmlns:p14="http://schemas.microsoft.com/office/powerpoint/2010/main" val="18534541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E9CCD7-61F6-984C-9AFD-3889AFE251EB}"/>
              </a:ext>
            </a:extLst>
          </p:cNvPr>
          <p:cNvSpPr>
            <a:spLocks noGrp="1"/>
          </p:cNvSpPr>
          <p:nvPr>
            <p:ph type="title"/>
          </p:nvPr>
        </p:nvSpPr>
        <p:spPr/>
        <p:txBody>
          <a:bodyPr/>
          <a:lstStyle/>
          <a:p>
            <a:r>
              <a:rPr kumimoji="1" lang="zh-CN" altLang="en-US" dirty="0"/>
              <a:t>数据湖例子</a:t>
            </a:r>
          </a:p>
        </p:txBody>
      </p:sp>
      <p:pic>
        <p:nvPicPr>
          <p:cNvPr id="4" name="内容占位符 3">
            <a:extLst>
              <a:ext uri="{FF2B5EF4-FFF2-40B4-BE49-F238E27FC236}">
                <a16:creationId xmlns:a16="http://schemas.microsoft.com/office/drawing/2014/main" id="{4CBE045F-6C35-A84C-B6D6-8E185F636728}"/>
              </a:ext>
            </a:extLst>
          </p:cNvPr>
          <p:cNvPicPr>
            <a:picLocks noGrp="1" noChangeAspect="1"/>
          </p:cNvPicPr>
          <p:nvPr>
            <p:ph idx="1"/>
          </p:nvPr>
        </p:nvPicPr>
        <p:blipFill>
          <a:blip r:embed="rId2"/>
          <a:stretch>
            <a:fillRect/>
          </a:stretch>
        </p:blipFill>
        <p:spPr>
          <a:xfrm>
            <a:off x="2786063" y="938622"/>
            <a:ext cx="5743574" cy="4980756"/>
          </a:xfrm>
        </p:spPr>
      </p:pic>
    </p:spTree>
    <p:extLst>
      <p:ext uri="{BB962C8B-B14F-4D97-AF65-F5344CB8AC3E}">
        <p14:creationId xmlns:p14="http://schemas.microsoft.com/office/powerpoint/2010/main" val="18648426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827274"/>
            <a:ext cx="7543800" cy="1207008"/>
          </a:xfrm>
        </p:spPr>
        <p:txBody>
          <a:bodyPr/>
          <a:lstStyle/>
          <a:p>
            <a:r>
              <a:rPr lang="zh-CN" altLang="en-US" dirty="0"/>
              <a:t>湖仓一体</a:t>
            </a:r>
          </a:p>
        </p:txBody>
      </p:sp>
      <p:sp>
        <p:nvSpPr>
          <p:cNvPr id="6" name="内容占位符 2"/>
          <p:cNvSpPr txBox="1">
            <a:spLocks/>
          </p:cNvSpPr>
          <p:nvPr/>
        </p:nvSpPr>
        <p:spPr bwMode="auto">
          <a:xfrm>
            <a:off x="3892" y="1955306"/>
            <a:ext cx="2994896" cy="250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a:solidFill>
                  <a:schemeClr val="tx1"/>
                </a:solidFill>
                <a:latin typeface="+mn-lt"/>
                <a:ea typeface="+mn-ea"/>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a:solidFill>
                  <a:schemeClr val="tx1"/>
                </a:solidFill>
                <a:latin typeface="+mn-lt"/>
                <a:ea typeface="+mn-ea"/>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a:solidFill>
                  <a:schemeClr val="tx1"/>
                </a:solidFill>
                <a:latin typeface="+mn-lt"/>
                <a:ea typeface="+mn-ea"/>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mn-lt"/>
                <a:ea typeface="+mn-ea"/>
              </a:defRPr>
            </a:lvl5pPr>
            <a:lvl6pPr marL="1828800" indent="-228600" algn="l" rtl="0" eaLnBrk="0" fontAlgn="base" hangingPunct="0">
              <a:spcBef>
                <a:spcPts val="350"/>
              </a:spcBef>
              <a:spcAft>
                <a:spcPct val="0"/>
              </a:spcAft>
              <a:buClr>
                <a:schemeClr val="accent2"/>
              </a:buClr>
              <a:buFont typeface="Wingdings 2" pitchFamily="18" charset="2"/>
              <a:buChar char=""/>
              <a:defRPr>
                <a:solidFill>
                  <a:schemeClr val="tx1"/>
                </a:solidFill>
                <a:latin typeface="+mn-lt"/>
                <a:ea typeface="+mn-ea"/>
              </a:defRPr>
            </a:lvl6pPr>
            <a:lvl7pPr marL="2286000" indent="-228600" algn="l" rtl="0" eaLnBrk="0" fontAlgn="base" hangingPunct="0">
              <a:spcBef>
                <a:spcPts val="350"/>
              </a:spcBef>
              <a:spcAft>
                <a:spcPct val="0"/>
              </a:spcAft>
              <a:buClr>
                <a:schemeClr val="accent2"/>
              </a:buClr>
              <a:buFont typeface="Wingdings 2" pitchFamily="18" charset="2"/>
              <a:buChar char=""/>
              <a:defRPr>
                <a:solidFill>
                  <a:schemeClr val="tx1"/>
                </a:solidFill>
                <a:latin typeface="+mn-lt"/>
                <a:ea typeface="+mn-ea"/>
              </a:defRPr>
            </a:lvl7pPr>
            <a:lvl8pPr marL="2743200" indent="-228600" algn="l" rtl="0" eaLnBrk="0" fontAlgn="base" hangingPunct="0">
              <a:spcBef>
                <a:spcPts val="350"/>
              </a:spcBef>
              <a:spcAft>
                <a:spcPct val="0"/>
              </a:spcAft>
              <a:buClr>
                <a:schemeClr val="accent2"/>
              </a:buClr>
              <a:buFont typeface="Wingdings 2" pitchFamily="18" charset="2"/>
              <a:buChar char=""/>
              <a:defRPr>
                <a:solidFill>
                  <a:schemeClr val="tx1"/>
                </a:solidFill>
                <a:latin typeface="+mn-lt"/>
                <a:ea typeface="+mn-ea"/>
              </a:defRPr>
            </a:lvl8pPr>
            <a:lvl9pPr marL="3200400" indent="-228600" algn="l" rtl="0" eaLnBrk="0" fontAlgn="base" hangingPunct="0">
              <a:spcBef>
                <a:spcPts val="350"/>
              </a:spcBef>
              <a:spcAft>
                <a:spcPct val="0"/>
              </a:spcAft>
              <a:buClr>
                <a:schemeClr val="accent2"/>
              </a:buClr>
              <a:buFont typeface="Wingdings 2" pitchFamily="18" charset="2"/>
              <a:buChar char=""/>
              <a:defRPr>
                <a:solidFill>
                  <a:schemeClr val="tx1"/>
                </a:solidFill>
                <a:latin typeface="+mn-lt"/>
                <a:ea typeface="+mn-ea"/>
              </a:defRPr>
            </a:lvl9pPr>
          </a:lstStyle>
          <a:p>
            <a:pPr marL="273844" indent="-191691" defTabSz="685800" eaLnBrk="1" hangingPunct="1">
              <a:lnSpc>
                <a:spcPct val="150000"/>
              </a:lnSpc>
              <a:spcBef>
                <a:spcPts val="300"/>
              </a:spcBef>
              <a:buClr>
                <a:srgbClr val="2DA2BF"/>
              </a:buClr>
              <a:defRPr/>
            </a:pPr>
            <a:r>
              <a:rPr lang="zh-CN" altLang="en-US" sz="1500" b="1" dirty="0">
                <a:solidFill>
                  <a:srgbClr val="000000"/>
                </a:solidFill>
                <a:highlight>
                  <a:srgbClr val="00FFFF"/>
                </a:highlight>
                <a:latin typeface="Lucida Sans Unicode"/>
                <a:ea typeface="黑体"/>
              </a:rPr>
              <a:t>湖仓一体（</a:t>
            </a:r>
            <a:r>
              <a:rPr lang="en-US" altLang="zh-CN" sz="1500" b="1" dirty="0">
                <a:solidFill>
                  <a:srgbClr val="000000"/>
                </a:solidFill>
                <a:highlight>
                  <a:srgbClr val="00FFFF"/>
                </a:highlight>
                <a:latin typeface="Lucida Sans Unicode"/>
                <a:ea typeface="黑体"/>
              </a:rPr>
              <a:t>Data Lakehouse</a:t>
            </a:r>
            <a:r>
              <a:rPr lang="zh-CN" altLang="en-US" sz="1500" b="1" dirty="0">
                <a:solidFill>
                  <a:srgbClr val="000000"/>
                </a:solidFill>
                <a:highlight>
                  <a:srgbClr val="00FFFF"/>
                </a:highlight>
                <a:latin typeface="Lucida Sans Unicode"/>
                <a:ea typeface="黑体"/>
              </a:rPr>
              <a:t>）</a:t>
            </a:r>
            <a:r>
              <a:rPr lang="zh-CN" altLang="en-US" sz="1500" dirty="0">
                <a:solidFill>
                  <a:srgbClr val="000000"/>
                </a:solidFill>
                <a:latin typeface="Lucida Sans Unicode"/>
                <a:ea typeface="黑体"/>
              </a:rPr>
              <a:t>是一种更开放的新型架构，</a:t>
            </a:r>
            <a:r>
              <a:rPr lang="zh-CN" altLang="en-US" sz="1500" dirty="0">
                <a:solidFill>
                  <a:srgbClr val="FF0000"/>
                </a:solidFill>
                <a:latin typeface="Lucida Sans Unicode"/>
                <a:ea typeface="黑体"/>
              </a:rPr>
              <a:t>结合了数据湖和数据仓库优势</a:t>
            </a:r>
            <a:r>
              <a:rPr lang="zh-CN" altLang="en-US" sz="1500" dirty="0">
                <a:solidFill>
                  <a:srgbClr val="000000"/>
                </a:solidFill>
                <a:latin typeface="Lucida Sans Unicode"/>
                <a:ea typeface="黑体"/>
              </a:rPr>
              <a:t>的新范式，在用于数据湖的低成本存储上，实现与数据仓库中类似的数据结构和数据管理功能。</a:t>
            </a:r>
            <a:endParaRPr lang="en-US" altLang="zh-CN" sz="1500" dirty="0">
              <a:solidFill>
                <a:srgbClr val="000000"/>
              </a:solidFill>
              <a:latin typeface="Lucida Sans Unicode"/>
              <a:ea typeface="黑体"/>
            </a:endParaRPr>
          </a:p>
        </p:txBody>
      </p:sp>
      <p:cxnSp>
        <p:nvCxnSpPr>
          <p:cNvPr id="8" name="直接连接符 7"/>
          <p:cNvCxnSpPr>
            <a:cxnSpLocks/>
          </p:cNvCxnSpPr>
          <p:nvPr/>
        </p:nvCxnSpPr>
        <p:spPr>
          <a:xfrm flipV="1">
            <a:off x="3089405" y="1777943"/>
            <a:ext cx="0" cy="3780129"/>
          </a:xfrm>
          <a:prstGeom prst="line">
            <a:avLst/>
          </a:prstGeom>
          <a:ln w="19050">
            <a:prstDash val="lgDash"/>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97A1F7DC-BDBD-1786-3ECF-0DBAA40AACF1}"/>
              </a:ext>
            </a:extLst>
          </p:cNvPr>
          <p:cNvPicPr>
            <a:picLocks noChangeAspect="1"/>
          </p:cNvPicPr>
          <p:nvPr/>
        </p:nvPicPr>
        <p:blipFill rotWithShape="1">
          <a:blip r:embed="rId3">
            <a:extLst>
              <a:ext uri="{28A0092B-C50C-407E-A947-70E740481C1C}">
                <a14:useLocalDpi xmlns:a14="http://schemas.microsoft.com/office/drawing/2010/main" val="0"/>
              </a:ext>
            </a:extLst>
          </a:blip>
          <a:srcRect l="7435" t="17658" r="10279" b="11170"/>
          <a:stretch/>
        </p:blipFill>
        <p:spPr>
          <a:xfrm>
            <a:off x="3287827" y="2025736"/>
            <a:ext cx="5555915" cy="3248154"/>
          </a:xfrm>
          <a:prstGeom prst="rect">
            <a:avLst/>
          </a:prstGeom>
        </p:spPr>
      </p:pic>
      <p:pic>
        <p:nvPicPr>
          <p:cNvPr id="10" name="图片 9">
            <a:extLst>
              <a:ext uri="{FF2B5EF4-FFF2-40B4-BE49-F238E27FC236}">
                <a16:creationId xmlns:a16="http://schemas.microsoft.com/office/drawing/2014/main" id="{22A12879-BC56-CD09-37E1-CE4EA93F3B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3298" y="1584111"/>
            <a:ext cx="5682100" cy="3930119"/>
          </a:xfrm>
          <a:prstGeom prst="rect">
            <a:avLst/>
          </a:prstGeom>
        </p:spPr>
      </p:pic>
    </p:spTree>
    <p:extLst>
      <p:ext uri="{BB962C8B-B14F-4D97-AF65-F5344CB8AC3E}">
        <p14:creationId xmlns:p14="http://schemas.microsoft.com/office/powerpoint/2010/main" val="734568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2F4B09-4FFB-F34F-987C-4BB81023799D}"/>
              </a:ext>
            </a:extLst>
          </p:cNvPr>
          <p:cNvSpPr>
            <a:spLocks noGrp="1"/>
          </p:cNvSpPr>
          <p:nvPr>
            <p:ph type="title"/>
          </p:nvPr>
        </p:nvSpPr>
        <p:spPr/>
        <p:txBody>
          <a:bodyPr/>
          <a:lstStyle/>
          <a:p>
            <a:r>
              <a:rPr lang="en-US" altLang="zh-CN" b="0" i="0" u="none" strike="noStrike" dirty="0" err="1">
                <a:solidFill>
                  <a:srgbClr val="333333"/>
                </a:solidFill>
                <a:effectLst/>
                <a:latin typeface="Arial" panose="020B0604020202020204" pitchFamily="34" charset="0"/>
              </a:rPr>
              <a:t>DataBricks</a:t>
            </a:r>
            <a:r>
              <a:rPr lang="zh-CN" altLang="en-US" b="0" i="0" u="none" strike="noStrike" dirty="0">
                <a:solidFill>
                  <a:srgbClr val="333333"/>
                </a:solidFill>
                <a:effectLst/>
                <a:latin typeface="Arial" panose="020B0604020202020204" pitchFamily="34" charset="0"/>
              </a:rPr>
              <a:t>给出的架构演化参考图</a:t>
            </a:r>
            <a:endParaRPr kumimoji="1" lang="zh-CN" altLang="en-US" dirty="0"/>
          </a:p>
        </p:txBody>
      </p:sp>
      <p:pic>
        <p:nvPicPr>
          <p:cNvPr id="4" name="内容占位符 3">
            <a:extLst>
              <a:ext uri="{FF2B5EF4-FFF2-40B4-BE49-F238E27FC236}">
                <a16:creationId xmlns:a16="http://schemas.microsoft.com/office/drawing/2014/main" id="{B2E157D6-7AC7-964D-B128-BB3F7676DCAB}"/>
              </a:ext>
            </a:extLst>
          </p:cNvPr>
          <p:cNvPicPr>
            <a:picLocks noGrp="1" noChangeAspect="1"/>
          </p:cNvPicPr>
          <p:nvPr>
            <p:ph idx="1"/>
          </p:nvPr>
        </p:nvPicPr>
        <p:blipFill>
          <a:blip r:embed="rId3"/>
          <a:stretch>
            <a:fillRect/>
          </a:stretch>
        </p:blipFill>
        <p:spPr>
          <a:xfrm>
            <a:off x="331848" y="1609344"/>
            <a:ext cx="8480303" cy="4048506"/>
          </a:xfrm>
        </p:spPr>
      </p:pic>
    </p:spTree>
    <p:extLst>
      <p:ext uri="{BB962C8B-B14F-4D97-AF65-F5344CB8AC3E}">
        <p14:creationId xmlns:p14="http://schemas.microsoft.com/office/powerpoint/2010/main" val="7042585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97949" y="233847"/>
            <a:ext cx="7543800" cy="1207008"/>
          </a:xfrm>
        </p:spPr>
        <p:txBody>
          <a:bodyPr/>
          <a:lstStyle/>
          <a:p>
            <a:r>
              <a:rPr lang="zh-CN" altLang="en-US" dirty="0"/>
              <a:t>集中化数据平台</a:t>
            </a:r>
          </a:p>
        </p:txBody>
      </p:sp>
      <p:sp>
        <p:nvSpPr>
          <p:cNvPr id="6" name="内容占位符 2"/>
          <p:cNvSpPr txBox="1">
            <a:spLocks/>
          </p:cNvSpPr>
          <p:nvPr/>
        </p:nvSpPr>
        <p:spPr bwMode="auto">
          <a:xfrm>
            <a:off x="1385646" y="1677204"/>
            <a:ext cx="6172200" cy="1134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a:solidFill>
                  <a:schemeClr val="tx1"/>
                </a:solidFill>
                <a:latin typeface="+mn-lt"/>
                <a:ea typeface="+mn-ea"/>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a:solidFill>
                  <a:schemeClr val="tx1"/>
                </a:solidFill>
                <a:latin typeface="+mn-lt"/>
                <a:ea typeface="+mn-ea"/>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a:solidFill>
                  <a:schemeClr val="tx1"/>
                </a:solidFill>
                <a:latin typeface="+mn-lt"/>
                <a:ea typeface="+mn-ea"/>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mn-lt"/>
                <a:ea typeface="+mn-ea"/>
              </a:defRPr>
            </a:lvl5pPr>
            <a:lvl6pPr marL="1828800" indent="-228600" algn="l" rtl="0" eaLnBrk="0" fontAlgn="base" hangingPunct="0">
              <a:spcBef>
                <a:spcPts val="350"/>
              </a:spcBef>
              <a:spcAft>
                <a:spcPct val="0"/>
              </a:spcAft>
              <a:buClr>
                <a:schemeClr val="accent2"/>
              </a:buClr>
              <a:buFont typeface="Wingdings 2" pitchFamily="18" charset="2"/>
              <a:buChar char=""/>
              <a:defRPr>
                <a:solidFill>
                  <a:schemeClr val="tx1"/>
                </a:solidFill>
                <a:latin typeface="+mn-lt"/>
                <a:ea typeface="+mn-ea"/>
              </a:defRPr>
            </a:lvl6pPr>
            <a:lvl7pPr marL="2286000" indent="-228600" algn="l" rtl="0" eaLnBrk="0" fontAlgn="base" hangingPunct="0">
              <a:spcBef>
                <a:spcPts val="350"/>
              </a:spcBef>
              <a:spcAft>
                <a:spcPct val="0"/>
              </a:spcAft>
              <a:buClr>
                <a:schemeClr val="accent2"/>
              </a:buClr>
              <a:buFont typeface="Wingdings 2" pitchFamily="18" charset="2"/>
              <a:buChar char=""/>
              <a:defRPr>
                <a:solidFill>
                  <a:schemeClr val="tx1"/>
                </a:solidFill>
                <a:latin typeface="+mn-lt"/>
                <a:ea typeface="+mn-ea"/>
              </a:defRPr>
            </a:lvl7pPr>
            <a:lvl8pPr marL="2743200" indent="-228600" algn="l" rtl="0" eaLnBrk="0" fontAlgn="base" hangingPunct="0">
              <a:spcBef>
                <a:spcPts val="350"/>
              </a:spcBef>
              <a:spcAft>
                <a:spcPct val="0"/>
              </a:spcAft>
              <a:buClr>
                <a:schemeClr val="accent2"/>
              </a:buClr>
              <a:buFont typeface="Wingdings 2" pitchFamily="18" charset="2"/>
              <a:buChar char=""/>
              <a:defRPr>
                <a:solidFill>
                  <a:schemeClr val="tx1"/>
                </a:solidFill>
                <a:latin typeface="+mn-lt"/>
                <a:ea typeface="+mn-ea"/>
              </a:defRPr>
            </a:lvl8pPr>
            <a:lvl9pPr marL="3200400" indent="-228600" algn="l" rtl="0" eaLnBrk="0" fontAlgn="base" hangingPunct="0">
              <a:spcBef>
                <a:spcPts val="350"/>
              </a:spcBef>
              <a:spcAft>
                <a:spcPct val="0"/>
              </a:spcAft>
              <a:buClr>
                <a:schemeClr val="accent2"/>
              </a:buClr>
              <a:buFont typeface="Wingdings 2" pitchFamily="18" charset="2"/>
              <a:buChar char=""/>
              <a:defRPr>
                <a:solidFill>
                  <a:schemeClr val="tx1"/>
                </a:solidFill>
                <a:latin typeface="+mn-lt"/>
                <a:ea typeface="+mn-ea"/>
              </a:defRPr>
            </a:lvl9pPr>
          </a:lstStyle>
          <a:p>
            <a:pPr marL="273844" indent="-191691" algn="just" defTabSz="342900">
              <a:lnSpc>
                <a:spcPct val="150000"/>
              </a:lnSpc>
              <a:spcBef>
                <a:spcPts val="300"/>
              </a:spcBef>
              <a:buClr>
                <a:srgbClr val="D34817"/>
              </a:buClr>
            </a:pPr>
            <a:r>
              <a:rPr lang="zh-CN" altLang="en-US" sz="1500" dirty="0">
                <a:solidFill>
                  <a:srgbClr val="000000"/>
                </a:solidFill>
                <a:latin typeface="Lucida Sans Unicode"/>
                <a:ea typeface="黑体"/>
              </a:rPr>
              <a:t>数据仓库、数据湖、湖仓一体，都有一个共同的范式，就是以数据物理</a:t>
            </a:r>
            <a:r>
              <a:rPr lang="zh-CN" altLang="en-US" sz="1500" dirty="0">
                <a:solidFill>
                  <a:srgbClr val="FF0000"/>
                </a:solidFill>
                <a:latin typeface="Lucida Sans Unicode"/>
                <a:ea typeface="黑体"/>
              </a:rPr>
              <a:t>集中化</a:t>
            </a:r>
            <a:r>
              <a:rPr lang="zh-CN" altLang="en-US" sz="1500" dirty="0">
                <a:solidFill>
                  <a:srgbClr val="000000"/>
                </a:solidFill>
                <a:latin typeface="Lucida Sans Unicode"/>
                <a:ea typeface="黑体"/>
              </a:rPr>
              <a:t>为原则的、</a:t>
            </a:r>
            <a:r>
              <a:rPr lang="zh-CN" altLang="en-US" sz="1500" dirty="0">
                <a:solidFill>
                  <a:srgbClr val="FF0000"/>
                </a:solidFill>
                <a:latin typeface="Lucida Sans Unicode"/>
                <a:ea typeface="黑体"/>
              </a:rPr>
              <a:t>中心式</a:t>
            </a:r>
            <a:r>
              <a:rPr lang="zh-CN" altLang="en-US" sz="1500" dirty="0">
                <a:solidFill>
                  <a:srgbClr val="000000"/>
                </a:solidFill>
                <a:latin typeface="Lucida Sans Unicode"/>
                <a:ea typeface="黑体"/>
              </a:rPr>
              <a:t>，</a:t>
            </a:r>
            <a:r>
              <a:rPr lang="zh-CN" altLang="en-US" sz="1500" dirty="0">
                <a:solidFill>
                  <a:srgbClr val="FF0000"/>
                </a:solidFill>
                <a:latin typeface="Lucida Sans Unicode"/>
                <a:ea typeface="黑体"/>
              </a:rPr>
              <a:t>单体式</a:t>
            </a:r>
            <a:r>
              <a:rPr lang="zh-CN" altLang="en-US" sz="1500" dirty="0">
                <a:solidFill>
                  <a:srgbClr val="000000"/>
                </a:solidFill>
                <a:latin typeface="Lucida Sans Unicode"/>
                <a:ea typeface="黑体"/>
              </a:rPr>
              <a:t>的架构。这种集中化的架构有三个特点：</a:t>
            </a:r>
          </a:p>
        </p:txBody>
      </p:sp>
      <p:sp>
        <p:nvSpPr>
          <p:cNvPr id="10" name="AutoShape 8">
            <a:extLst>
              <a:ext uri="{FF2B5EF4-FFF2-40B4-BE49-F238E27FC236}">
                <a16:creationId xmlns:a16="http://schemas.microsoft.com/office/drawing/2014/main" id="{63653C2B-00BA-2948-04D1-A33F02A58D34}"/>
              </a:ext>
            </a:extLst>
          </p:cNvPr>
          <p:cNvSpPr>
            <a:spLocks noChangeArrowheads="1"/>
          </p:cNvSpPr>
          <p:nvPr/>
        </p:nvSpPr>
        <p:spPr bwMode="auto">
          <a:xfrm>
            <a:off x="1349727" y="4450737"/>
            <a:ext cx="3932356" cy="572839"/>
          </a:xfrm>
          <a:prstGeom prst="homePlate">
            <a:avLst>
              <a:gd name="adj" fmla="val 16979"/>
            </a:avLst>
          </a:prstGeom>
        </p:spPr>
        <p:style>
          <a:lnRef idx="2">
            <a:schemeClr val="accent1"/>
          </a:lnRef>
          <a:fillRef idx="1">
            <a:schemeClr val="lt1"/>
          </a:fillRef>
          <a:effectRef idx="0">
            <a:schemeClr val="accent1"/>
          </a:effectRef>
          <a:fontRef idx="minor">
            <a:schemeClr val="dk1"/>
          </a:fontRef>
        </p:style>
        <p:txBody>
          <a:bodyPr wrap="none" lIns="0" tIns="0" rIns="0" bIns="0"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defTabSz="342900" eaLnBrk="1" hangingPunct="1">
              <a:lnSpc>
                <a:spcPct val="100000"/>
              </a:lnSpc>
            </a:pPr>
            <a:endParaRPr lang="zh-CN" altLang="en-US" sz="1200" kern="1200" dirty="0">
              <a:solidFill>
                <a:prstClr val="black"/>
              </a:solidFill>
              <a:latin typeface="黑体" panose="02010609060101010101" pitchFamily="49" charset="-122"/>
              <a:ea typeface="黑体" panose="02010609060101010101" pitchFamily="49" charset="-122"/>
            </a:endParaRPr>
          </a:p>
        </p:txBody>
      </p:sp>
      <p:sp>
        <p:nvSpPr>
          <p:cNvPr id="11" name="AutoShape 8">
            <a:extLst>
              <a:ext uri="{FF2B5EF4-FFF2-40B4-BE49-F238E27FC236}">
                <a16:creationId xmlns:a16="http://schemas.microsoft.com/office/drawing/2014/main" id="{CC2851E1-A2AD-406F-CD16-329781883079}"/>
              </a:ext>
            </a:extLst>
          </p:cNvPr>
          <p:cNvSpPr>
            <a:spLocks noChangeArrowheads="1"/>
          </p:cNvSpPr>
          <p:nvPr/>
        </p:nvSpPr>
        <p:spPr bwMode="auto">
          <a:xfrm>
            <a:off x="1349728" y="3088422"/>
            <a:ext cx="3932357" cy="572839"/>
          </a:xfrm>
          <a:prstGeom prst="homePlate">
            <a:avLst>
              <a:gd name="adj" fmla="val 16979"/>
            </a:avLst>
          </a:prstGeom>
        </p:spPr>
        <p:style>
          <a:lnRef idx="2">
            <a:schemeClr val="accent1"/>
          </a:lnRef>
          <a:fillRef idx="1">
            <a:schemeClr val="lt1"/>
          </a:fillRef>
          <a:effectRef idx="0">
            <a:schemeClr val="accent1"/>
          </a:effectRef>
          <a:fontRef idx="minor">
            <a:schemeClr val="dk1"/>
          </a:fontRef>
        </p:style>
        <p:txBody>
          <a:bodyPr wrap="none" lIns="0" tIns="0" rIns="0" bIns="0"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defTabSz="342900" eaLnBrk="1" hangingPunct="1">
              <a:lnSpc>
                <a:spcPct val="100000"/>
              </a:lnSpc>
            </a:pPr>
            <a:endParaRPr lang="zh-CN" altLang="en-US" sz="1200" kern="1200" dirty="0">
              <a:solidFill>
                <a:prstClr val="black"/>
              </a:solidFill>
              <a:latin typeface="黑体" panose="02010609060101010101" pitchFamily="49" charset="-122"/>
              <a:ea typeface="黑体" panose="02010609060101010101" pitchFamily="49" charset="-122"/>
            </a:endParaRPr>
          </a:p>
        </p:txBody>
      </p:sp>
      <p:sp>
        <p:nvSpPr>
          <p:cNvPr id="12" name="AutoShape 8">
            <a:extLst>
              <a:ext uri="{FF2B5EF4-FFF2-40B4-BE49-F238E27FC236}">
                <a16:creationId xmlns:a16="http://schemas.microsoft.com/office/drawing/2014/main" id="{1AED629D-16CE-A972-69F6-98BAA9FEA653}"/>
              </a:ext>
            </a:extLst>
          </p:cNvPr>
          <p:cNvSpPr>
            <a:spLocks noChangeArrowheads="1"/>
          </p:cNvSpPr>
          <p:nvPr/>
        </p:nvSpPr>
        <p:spPr bwMode="auto">
          <a:xfrm>
            <a:off x="1349728" y="3769579"/>
            <a:ext cx="3932357" cy="572839"/>
          </a:xfrm>
          <a:prstGeom prst="homePlate">
            <a:avLst>
              <a:gd name="adj" fmla="val 16979"/>
            </a:avLst>
          </a:prstGeom>
        </p:spPr>
        <p:style>
          <a:lnRef idx="2">
            <a:schemeClr val="accent1"/>
          </a:lnRef>
          <a:fillRef idx="1">
            <a:schemeClr val="lt1"/>
          </a:fillRef>
          <a:effectRef idx="0">
            <a:schemeClr val="accent1"/>
          </a:effectRef>
          <a:fontRef idx="minor">
            <a:schemeClr val="dk1"/>
          </a:fontRef>
        </p:style>
        <p:txBody>
          <a:bodyPr wrap="none" lIns="0" tIns="0" rIns="0" bIns="0"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defTabSz="342900">
              <a:lnSpc>
                <a:spcPct val="100000"/>
              </a:lnSpc>
            </a:pPr>
            <a:endParaRPr lang="zh-CN" altLang="en-US" sz="1200" kern="1200" dirty="0">
              <a:solidFill>
                <a:prstClr val="black"/>
              </a:solidFill>
              <a:latin typeface="黑体" panose="02010609060101010101" pitchFamily="49" charset="-122"/>
              <a:ea typeface="黑体" panose="02010609060101010101" pitchFamily="49" charset="-122"/>
            </a:endParaRPr>
          </a:p>
        </p:txBody>
      </p:sp>
      <p:sp>
        <p:nvSpPr>
          <p:cNvPr id="13" name="文本框 12">
            <a:extLst>
              <a:ext uri="{FF2B5EF4-FFF2-40B4-BE49-F238E27FC236}">
                <a16:creationId xmlns:a16="http://schemas.microsoft.com/office/drawing/2014/main" id="{15F81C61-5408-F494-C018-6EFF722E080E}"/>
              </a:ext>
            </a:extLst>
          </p:cNvPr>
          <p:cNvSpPr txBox="1"/>
          <p:nvPr/>
        </p:nvSpPr>
        <p:spPr>
          <a:xfrm>
            <a:off x="1173838" y="4610198"/>
            <a:ext cx="4284134" cy="276999"/>
          </a:xfrm>
          <a:prstGeom prst="rect">
            <a:avLst/>
          </a:prstGeom>
          <a:noFill/>
        </p:spPr>
        <p:txBody>
          <a:bodyPr wrap="square" rtlCol="0">
            <a:spAutoFit/>
          </a:bodyPr>
          <a:lstStyle/>
          <a:p>
            <a:pPr algn="ctr" defTabSz="342900" hangingPunct="1">
              <a:lnSpc>
                <a:spcPct val="100000"/>
              </a:lnSpc>
            </a:pPr>
            <a:r>
              <a:rPr lang="zh-CN" altLang="en-US" sz="1200" kern="1200" dirty="0">
                <a:solidFill>
                  <a:prstClr val="black"/>
                </a:solidFill>
                <a:latin typeface="黑体" panose="02010609060101010101" pitchFamily="49" charset="-122"/>
                <a:ea typeface="黑体" panose="02010609060101010101" pitchFamily="49" charset="-122"/>
              </a:rPr>
              <a:t>第三、统一对外提供数据服务，包括数据集、</a:t>
            </a:r>
            <a:r>
              <a:rPr lang="en-US" altLang="zh-CN" sz="1200" kern="1200" dirty="0">
                <a:solidFill>
                  <a:prstClr val="black"/>
                </a:solidFill>
                <a:latin typeface="黑体" panose="02010609060101010101" pitchFamily="49" charset="-122"/>
                <a:ea typeface="黑体" panose="02010609060101010101" pitchFamily="49" charset="-122"/>
              </a:rPr>
              <a:t>API</a:t>
            </a:r>
            <a:r>
              <a:rPr lang="zh-CN" altLang="en-US" sz="1200" kern="1200" dirty="0">
                <a:solidFill>
                  <a:prstClr val="black"/>
                </a:solidFill>
                <a:latin typeface="黑体" panose="02010609060101010101" pitchFamily="49" charset="-122"/>
                <a:ea typeface="黑体" panose="02010609060101010101" pitchFamily="49" charset="-122"/>
              </a:rPr>
              <a:t>等等。</a:t>
            </a:r>
          </a:p>
        </p:txBody>
      </p:sp>
      <p:sp>
        <p:nvSpPr>
          <p:cNvPr id="14" name="文本框 13">
            <a:extLst>
              <a:ext uri="{FF2B5EF4-FFF2-40B4-BE49-F238E27FC236}">
                <a16:creationId xmlns:a16="http://schemas.microsoft.com/office/drawing/2014/main" id="{37AADD55-B490-7278-0FE9-3AFFD4ED566E}"/>
              </a:ext>
            </a:extLst>
          </p:cNvPr>
          <p:cNvSpPr txBox="1"/>
          <p:nvPr/>
        </p:nvSpPr>
        <p:spPr>
          <a:xfrm>
            <a:off x="997949" y="3938352"/>
            <a:ext cx="4284134" cy="276999"/>
          </a:xfrm>
          <a:prstGeom prst="rect">
            <a:avLst/>
          </a:prstGeom>
          <a:noFill/>
        </p:spPr>
        <p:txBody>
          <a:bodyPr wrap="square" rtlCol="0">
            <a:spAutoFit/>
          </a:bodyPr>
          <a:lstStyle/>
          <a:p>
            <a:pPr algn="ctr" defTabSz="342900" hangingPunct="1">
              <a:lnSpc>
                <a:spcPct val="100000"/>
              </a:lnSpc>
            </a:pPr>
            <a:r>
              <a:rPr lang="zh-CN" altLang="en-US" sz="1200" kern="1200" dirty="0">
                <a:solidFill>
                  <a:prstClr val="black"/>
                </a:solidFill>
                <a:latin typeface="黑体" panose="02010609060101010101" pitchFamily="49" charset="-122"/>
                <a:ea typeface="黑体" panose="02010609060101010101" pitchFamily="49" charset="-122"/>
              </a:rPr>
              <a:t>第二、统一对数据进行清洗、转化、处理及分析。</a:t>
            </a:r>
          </a:p>
        </p:txBody>
      </p:sp>
      <p:sp>
        <p:nvSpPr>
          <p:cNvPr id="15" name="文本框 14">
            <a:extLst>
              <a:ext uri="{FF2B5EF4-FFF2-40B4-BE49-F238E27FC236}">
                <a16:creationId xmlns:a16="http://schemas.microsoft.com/office/drawing/2014/main" id="{599FCD64-380A-3F7C-0E56-EC8F7090891C}"/>
              </a:ext>
            </a:extLst>
          </p:cNvPr>
          <p:cNvSpPr txBox="1"/>
          <p:nvPr/>
        </p:nvSpPr>
        <p:spPr>
          <a:xfrm>
            <a:off x="1016639" y="3256231"/>
            <a:ext cx="4284134" cy="276999"/>
          </a:xfrm>
          <a:prstGeom prst="rect">
            <a:avLst/>
          </a:prstGeom>
          <a:noFill/>
        </p:spPr>
        <p:txBody>
          <a:bodyPr wrap="square" rtlCol="0">
            <a:spAutoFit/>
          </a:bodyPr>
          <a:lstStyle/>
          <a:p>
            <a:pPr algn="ctr" defTabSz="342900" hangingPunct="1">
              <a:lnSpc>
                <a:spcPct val="100000"/>
              </a:lnSpc>
            </a:pPr>
            <a:r>
              <a:rPr lang="zh-CN" altLang="en-US" sz="1200" kern="1200" dirty="0">
                <a:solidFill>
                  <a:prstClr val="black"/>
                </a:solidFill>
                <a:latin typeface="黑体" panose="02010609060101010101" pitchFamily="49" charset="-122"/>
                <a:ea typeface="黑体" panose="02010609060101010101" pitchFamily="49" charset="-122"/>
              </a:rPr>
              <a:t>第一、统一采集企业的所有数据到一个数据平台。</a:t>
            </a:r>
          </a:p>
        </p:txBody>
      </p:sp>
      <p:grpSp>
        <p:nvGrpSpPr>
          <p:cNvPr id="16" name="组合 15">
            <a:extLst>
              <a:ext uri="{FF2B5EF4-FFF2-40B4-BE49-F238E27FC236}">
                <a16:creationId xmlns:a16="http://schemas.microsoft.com/office/drawing/2014/main" id="{3F13BB75-642B-315A-ACD8-80E1BDE42468}"/>
              </a:ext>
            </a:extLst>
          </p:cNvPr>
          <p:cNvGrpSpPr/>
          <p:nvPr/>
        </p:nvGrpSpPr>
        <p:grpSpPr>
          <a:xfrm>
            <a:off x="5615171" y="2683390"/>
            <a:ext cx="2131972" cy="572840"/>
            <a:chOff x="371875" y="57377"/>
            <a:chExt cx="5206258" cy="560880"/>
          </a:xfrm>
        </p:grpSpPr>
        <p:sp>
          <p:nvSpPr>
            <p:cNvPr id="17" name="矩形: 圆角 16">
              <a:extLst>
                <a:ext uri="{FF2B5EF4-FFF2-40B4-BE49-F238E27FC236}">
                  <a16:creationId xmlns:a16="http://schemas.microsoft.com/office/drawing/2014/main" id="{CCEFFCDD-82E4-4590-FC37-3CF4E93BF303}"/>
                </a:ext>
              </a:extLst>
            </p:cNvPr>
            <p:cNvSpPr/>
            <p:nvPr/>
          </p:nvSpPr>
          <p:spPr>
            <a:xfrm>
              <a:off x="371875" y="57377"/>
              <a:ext cx="5206258" cy="560880"/>
            </a:xfrm>
            <a:prstGeom prst="round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18" name="矩形: 圆角 4">
              <a:extLst>
                <a:ext uri="{FF2B5EF4-FFF2-40B4-BE49-F238E27FC236}">
                  <a16:creationId xmlns:a16="http://schemas.microsoft.com/office/drawing/2014/main" id="{BB6BE212-EB7F-5871-971E-E162955E949F}"/>
                </a:ext>
              </a:extLst>
            </p:cNvPr>
            <p:cNvSpPr txBox="1"/>
            <p:nvPr/>
          </p:nvSpPr>
          <p:spPr>
            <a:xfrm>
              <a:off x="399255" y="84757"/>
              <a:ext cx="5151498" cy="50612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7588" tIns="0" rIns="147588" bIns="0" numCol="1" spcCol="1270" anchor="ctr" anchorCtr="0">
              <a:noAutofit/>
            </a:bodyPr>
            <a:lstStyle/>
            <a:p>
              <a:pPr algn="l" defTabSz="633413" hangingPunct="1">
                <a:lnSpc>
                  <a:spcPct val="90000"/>
                </a:lnSpc>
                <a:spcBef>
                  <a:spcPct val="0"/>
                </a:spcBef>
                <a:spcAft>
                  <a:spcPct val="35000"/>
                </a:spcAft>
              </a:pPr>
              <a:r>
                <a:rPr lang="zh-CN" altLang="en-US" sz="1425" kern="1200" dirty="0">
                  <a:solidFill>
                    <a:prstClr val="white"/>
                  </a:solidFill>
                  <a:latin typeface="Rockwell" panose="02060603020205020403"/>
                </a:rPr>
                <a:t>集中化管理压力大</a:t>
              </a:r>
            </a:p>
          </p:txBody>
        </p:sp>
      </p:grpSp>
      <p:grpSp>
        <p:nvGrpSpPr>
          <p:cNvPr id="19" name="组合 18">
            <a:extLst>
              <a:ext uri="{FF2B5EF4-FFF2-40B4-BE49-F238E27FC236}">
                <a16:creationId xmlns:a16="http://schemas.microsoft.com/office/drawing/2014/main" id="{419CE16B-D450-D1A3-84B8-42AE6BAEC085}"/>
              </a:ext>
            </a:extLst>
          </p:cNvPr>
          <p:cNvGrpSpPr/>
          <p:nvPr/>
        </p:nvGrpSpPr>
        <p:grpSpPr>
          <a:xfrm>
            <a:off x="5615171" y="3388228"/>
            <a:ext cx="2131972" cy="587048"/>
            <a:chOff x="371875" y="57377"/>
            <a:chExt cx="5206258" cy="560880"/>
          </a:xfrm>
        </p:grpSpPr>
        <p:sp>
          <p:nvSpPr>
            <p:cNvPr id="20" name="矩形: 圆角 19">
              <a:extLst>
                <a:ext uri="{FF2B5EF4-FFF2-40B4-BE49-F238E27FC236}">
                  <a16:creationId xmlns:a16="http://schemas.microsoft.com/office/drawing/2014/main" id="{9A1A33B2-8A91-E982-50B3-42C1543913F9}"/>
                </a:ext>
              </a:extLst>
            </p:cNvPr>
            <p:cNvSpPr/>
            <p:nvPr/>
          </p:nvSpPr>
          <p:spPr>
            <a:xfrm>
              <a:off x="371875" y="57377"/>
              <a:ext cx="5206258" cy="560880"/>
            </a:xfrm>
            <a:prstGeom prst="round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21" name="矩形: 圆角 4">
              <a:extLst>
                <a:ext uri="{FF2B5EF4-FFF2-40B4-BE49-F238E27FC236}">
                  <a16:creationId xmlns:a16="http://schemas.microsoft.com/office/drawing/2014/main" id="{000C9126-1F71-B935-609B-00FFDFC7A66F}"/>
                </a:ext>
              </a:extLst>
            </p:cNvPr>
            <p:cNvSpPr txBox="1"/>
            <p:nvPr/>
          </p:nvSpPr>
          <p:spPr>
            <a:xfrm>
              <a:off x="399256" y="84757"/>
              <a:ext cx="5151498" cy="50612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7588" tIns="0" rIns="147588" bIns="0" numCol="1" spcCol="1270" anchor="ctr" anchorCtr="0">
              <a:noAutofit/>
            </a:bodyPr>
            <a:lstStyle/>
            <a:p>
              <a:pPr algn="l" defTabSz="633413" hangingPunct="1">
                <a:lnSpc>
                  <a:spcPct val="90000"/>
                </a:lnSpc>
                <a:spcBef>
                  <a:spcPct val="0"/>
                </a:spcBef>
                <a:spcAft>
                  <a:spcPct val="35000"/>
                </a:spcAft>
              </a:pPr>
              <a:r>
                <a:rPr lang="zh-CN" altLang="en-US" sz="1425" kern="1200" dirty="0">
                  <a:solidFill>
                    <a:prstClr val="white"/>
                  </a:solidFill>
                  <a:latin typeface="Rockwell" panose="02060603020205020403"/>
                </a:rPr>
                <a:t>数据延迟、不一致，影响下游应用的准确性</a:t>
              </a:r>
            </a:p>
          </p:txBody>
        </p:sp>
      </p:grpSp>
      <p:grpSp>
        <p:nvGrpSpPr>
          <p:cNvPr id="22" name="组合 21">
            <a:extLst>
              <a:ext uri="{FF2B5EF4-FFF2-40B4-BE49-F238E27FC236}">
                <a16:creationId xmlns:a16="http://schemas.microsoft.com/office/drawing/2014/main" id="{863B5DB6-66D0-17AE-5A65-92A704A48A52}"/>
              </a:ext>
            </a:extLst>
          </p:cNvPr>
          <p:cNvGrpSpPr/>
          <p:nvPr/>
        </p:nvGrpSpPr>
        <p:grpSpPr>
          <a:xfrm>
            <a:off x="5615171" y="4126249"/>
            <a:ext cx="2131972" cy="572840"/>
            <a:chOff x="371875" y="57377"/>
            <a:chExt cx="5206258" cy="560880"/>
          </a:xfrm>
        </p:grpSpPr>
        <p:sp>
          <p:nvSpPr>
            <p:cNvPr id="23" name="矩形: 圆角 22">
              <a:extLst>
                <a:ext uri="{FF2B5EF4-FFF2-40B4-BE49-F238E27FC236}">
                  <a16:creationId xmlns:a16="http://schemas.microsoft.com/office/drawing/2014/main" id="{AE765E34-5F95-3F0A-D0D5-D97CE3560912}"/>
                </a:ext>
              </a:extLst>
            </p:cNvPr>
            <p:cNvSpPr/>
            <p:nvPr/>
          </p:nvSpPr>
          <p:spPr>
            <a:xfrm>
              <a:off x="371875" y="57377"/>
              <a:ext cx="5206258" cy="560880"/>
            </a:xfrm>
            <a:prstGeom prst="round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24" name="矩形: 圆角 4">
              <a:extLst>
                <a:ext uri="{FF2B5EF4-FFF2-40B4-BE49-F238E27FC236}">
                  <a16:creationId xmlns:a16="http://schemas.microsoft.com/office/drawing/2014/main" id="{D9C61C29-4F03-DB7B-7DE6-49962F2EF557}"/>
                </a:ext>
              </a:extLst>
            </p:cNvPr>
            <p:cNvSpPr txBox="1"/>
            <p:nvPr/>
          </p:nvSpPr>
          <p:spPr>
            <a:xfrm>
              <a:off x="399256" y="84757"/>
              <a:ext cx="5151498" cy="50612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7588" tIns="0" rIns="147588" bIns="0" numCol="1" spcCol="1270" anchor="ctr" anchorCtr="0">
              <a:noAutofit/>
            </a:bodyPr>
            <a:lstStyle/>
            <a:p>
              <a:pPr algn="l" defTabSz="633413" hangingPunct="1">
                <a:lnSpc>
                  <a:spcPct val="90000"/>
                </a:lnSpc>
                <a:spcBef>
                  <a:spcPct val="0"/>
                </a:spcBef>
                <a:spcAft>
                  <a:spcPct val="35000"/>
                </a:spcAft>
              </a:pPr>
              <a:r>
                <a:rPr lang="zh-CN" altLang="en-US" sz="1425" kern="1200" dirty="0">
                  <a:solidFill>
                    <a:prstClr val="white"/>
                  </a:solidFill>
                  <a:latin typeface="Rockwell" panose="02060603020205020403"/>
                </a:rPr>
                <a:t>对各类数据进行处理和分析的响应速度变慢</a:t>
              </a:r>
            </a:p>
          </p:txBody>
        </p:sp>
      </p:grpSp>
      <p:grpSp>
        <p:nvGrpSpPr>
          <p:cNvPr id="25" name="组合 24">
            <a:extLst>
              <a:ext uri="{FF2B5EF4-FFF2-40B4-BE49-F238E27FC236}">
                <a16:creationId xmlns:a16="http://schemas.microsoft.com/office/drawing/2014/main" id="{C9D41912-C888-B9A7-375E-D99ADF73B08B}"/>
              </a:ext>
            </a:extLst>
          </p:cNvPr>
          <p:cNvGrpSpPr/>
          <p:nvPr/>
        </p:nvGrpSpPr>
        <p:grpSpPr>
          <a:xfrm>
            <a:off x="5626383" y="4838218"/>
            <a:ext cx="2131972" cy="572840"/>
            <a:chOff x="371875" y="57377"/>
            <a:chExt cx="5206258" cy="560880"/>
          </a:xfrm>
        </p:grpSpPr>
        <p:sp>
          <p:nvSpPr>
            <p:cNvPr id="26" name="矩形: 圆角 25">
              <a:extLst>
                <a:ext uri="{FF2B5EF4-FFF2-40B4-BE49-F238E27FC236}">
                  <a16:creationId xmlns:a16="http://schemas.microsoft.com/office/drawing/2014/main" id="{7E671841-4DA7-9242-F890-732E8F6E0A4D}"/>
                </a:ext>
              </a:extLst>
            </p:cNvPr>
            <p:cNvSpPr/>
            <p:nvPr/>
          </p:nvSpPr>
          <p:spPr>
            <a:xfrm>
              <a:off x="371875" y="57377"/>
              <a:ext cx="5206258" cy="560880"/>
            </a:xfrm>
            <a:prstGeom prst="round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27" name="矩形: 圆角 4">
              <a:extLst>
                <a:ext uri="{FF2B5EF4-FFF2-40B4-BE49-F238E27FC236}">
                  <a16:creationId xmlns:a16="http://schemas.microsoft.com/office/drawing/2014/main" id="{877E6212-AED9-B8CF-D274-AED9F0607B7D}"/>
                </a:ext>
              </a:extLst>
            </p:cNvPr>
            <p:cNvSpPr txBox="1"/>
            <p:nvPr/>
          </p:nvSpPr>
          <p:spPr>
            <a:xfrm>
              <a:off x="399256" y="84757"/>
              <a:ext cx="5151498" cy="50612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7588" tIns="0" rIns="147588" bIns="0" numCol="1" spcCol="1270" anchor="ctr" anchorCtr="0">
              <a:noAutofit/>
            </a:bodyPr>
            <a:lstStyle/>
            <a:p>
              <a:pPr algn="l" defTabSz="633413" hangingPunct="1">
                <a:lnSpc>
                  <a:spcPct val="90000"/>
                </a:lnSpc>
                <a:spcBef>
                  <a:spcPct val="0"/>
                </a:spcBef>
                <a:spcAft>
                  <a:spcPct val="35000"/>
                </a:spcAft>
              </a:pPr>
              <a:r>
                <a:rPr lang="zh-CN" altLang="en-US" sz="1425" kern="1200" dirty="0">
                  <a:solidFill>
                    <a:prstClr val="white"/>
                  </a:solidFill>
                  <a:latin typeface="Rockwell" panose="02060603020205020403"/>
                </a:rPr>
                <a:t>工程师对各领域的来源数据缺乏领域专业知识</a:t>
              </a:r>
            </a:p>
          </p:txBody>
        </p:sp>
      </p:grpSp>
    </p:spTree>
    <p:extLst>
      <p:ext uri="{BB962C8B-B14F-4D97-AF65-F5344CB8AC3E}">
        <p14:creationId xmlns:p14="http://schemas.microsoft.com/office/powerpoint/2010/main" val="233042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16" presetClass="entr" presetSubtype="21"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arn(inVertical)">
                                      <p:cBhvr>
                                        <p:cTn id="10" dur="500"/>
                                        <p:tgtEl>
                                          <p:spTgt spid="19"/>
                                        </p:tgtEl>
                                      </p:cBhvr>
                                    </p:animEffect>
                                  </p:childTnLst>
                                </p:cTn>
                              </p:par>
                              <p:par>
                                <p:cTn id="11" presetID="16" presetClass="entr" presetSubtype="21"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barn(inVertical)">
                                      <p:cBhvr>
                                        <p:cTn id="13" dur="500"/>
                                        <p:tgtEl>
                                          <p:spTgt spid="22"/>
                                        </p:tgtEl>
                                      </p:cBhvr>
                                    </p:animEffect>
                                  </p:childTnLst>
                                </p:cTn>
                              </p:par>
                              <p:par>
                                <p:cTn id="14" presetID="16" presetClass="entr" presetSubtype="21"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barn(inVertical)">
                                      <p:cBhvr>
                                        <p:cTn id="1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5D2BCA-4632-7BE4-05D4-E827C041E611}"/>
              </a:ext>
            </a:extLst>
          </p:cNvPr>
          <p:cNvSpPr>
            <a:spLocks noGrp="1"/>
          </p:cNvSpPr>
          <p:nvPr>
            <p:ph type="title"/>
          </p:nvPr>
        </p:nvSpPr>
        <p:spPr/>
        <p:txBody>
          <a:bodyPr/>
          <a:lstStyle/>
          <a:p>
            <a:r>
              <a:rPr kumimoji="1" lang="zh-CN" altLang="en-US" dirty="0"/>
              <a:t>数据库与</a:t>
            </a:r>
            <a:r>
              <a:rPr kumimoji="1" lang="en-US" altLang="zh-CN" dirty="0"/>
              <a:t>AI</a:t>
            </a:r>
            <a:r>
              <a:rPr kumimoji="1" lang="zh-CN" altLang="en-US" dirty="0"/>
              <a:t>的深度融合</a:t>
            </a:r>
          </a:p>
        </p:txBody>
      </p:sp>
      <p:sp>
        <p:nvSpPr>
          <p:cNvPr id="3" name="内容占位符 2">
            <a:extLst>
              <a:ext uri="{FF2B5EF4-FFF2-40B4-BE49-F238E27FC236}">
                <a16:creationId xmlns:a16="http://schemas.microsoft.com/office/drawing/2014/main" id="{DF35DC2D-CD30-1097-3A3C-FD906027238B}"/>
              </a:ext>
            </a:extLst>
          </p:cNvPr>
          <p:cNvSpPr>
            <a:spLocks noGrp="1"/>
          </p:cNvSpPr>
          <p:nvPr>
            <p:ph idx="1"/>
          </p:nvPr>
        </p:nvSpPr>
        <p:spPr>
          <a:xfrm>
            <a:off x="802385" y="1609344"/>
            <a:ext cx="7856705" cy="4943856"/>
          </a:xfrm>
        </p:spPr>
        <p:txBody>
          <a:bodyPr>
            <a:normAutofit fontScale="92500" lnSpcReduction="10000"/>
          </a:bodyPr>
          <a:lstStyle/>
          <a:p>
            <a:pPr>
              <a:lnSpc>
                <a:spcPct val="110000"/>
              </a:lnSpc>
              <a:spcBef>
                <a:spcPts val="0"/>
              </a:spcBef>
            </a:pPr>
            <a:r>
              <a:rPr lang="zh-CN" altLang="en-US" sz="2000" b="1" dirty="0"/>
              <a:t>产品形态：从“插件式”（</a:t>
            </a:r>
            <a:r>
              <a:rPr lang="zh-CN" altLang="en-US" sz="2000" dirty="0"/>
              <a:t>即在现有数据库上外挂一个向量插件</a:t>
            </a:r>
            <a:r>
              <a:rPr lang="zh-CN" altLang="en-US" sz="2000" b="1" dirty="0"/>
              <a:t>）到“原生式”</a:t>
            </a:r>
          </a:p>
          <a:p>
            <a:pPr lvl="1">
              <a:lnSpc>
                <a:spcPct val="110000"/>
              </a:lnSpc>
              <a:spcBef>
                <a:spcPts val="0"/>
              </a:spcBef>
              <a:spcAft>
                <a:spcPts val="0"/>
              </a:spcAft>
              <a:buFont typeface="系统字体常规体"/>
              <a:buChar char="⁃"/>
            </a:pPr>
            <a:r>
              <a:rPr lang="en-US" altLang="zh-CN" sz="1800" b="1" dirty="0"/>
              <a:t>AI</a:t>
            </a:r>
            <a:r>
              <a:rPr lang="zh-CN" altLang="en-US" sz="1800" b="1" dirty="0"/>
              <a:t>就绪数据库</a:t>
            </a:r>
            <a:r>
              <a:rPr lang="zh-CN" altLang="en-US" sz="1800" dirty="0"/>
              <a:t>：以</a:t>
            </a:r>
            <a:r>
              <a:rPr lang="zh-CN" altLang="en-US" sz="1800" b="1" dirty="0"/>
              <a:t>阿里云</a:t>
            </a:r>
            <a:r>
              <a:rPr lang="en-US" altLang="zh-CN" sz="1800" b="1" dirty="0" err="1"/>
              <a:t>PolarDB</a:t>
            </a:r>
            <a:r>
              <a:rPr lang="zh-CN" altLang="en-US" sz="1800" dirty="0"/>
              <a:t>为代表。它在现有成熟数据库内核中深度嵌入</a:t>
            </a:r>
            <a:r>
              <a:rPr lang="en-US" altLang="zh-CN" sz="1800" dirty="0"/>
              <a:t>AI</a:t>
            </a:r>
            <a:r>
              <a:rPr lang="zh-CN" altLang="en-US" sz="1800" dirty="0"/>
              <a:t>能力，通过“模型算子化”技术，让用户直接在</a:t>
            </a:r>
            <a:r>
              <a:rPr lang="en-US" altLang="zh-CN" sz="1800" dirty="0"/>
              <a:t>SQL</a:t>
            </a:r>
            <a:r>
              <a:rPr lang="zh-CN" altLang="en-US" sz="1800" dirty="0"/>
              <a:t>里调用</a:t>
            </a:r>
            <a:r>
              <a:rPr lang="en-US" altLang="zh-CN" sz="1800" dirty="0"/>
              <a:t>AI</a:t>
            </a:r>
            <a:r>
              <a:rPr lang="zh-CN" altLang="en-US" sz="1800" dirty="0"/>
              <a:t>模型进行推理，实现“数据不出域”的智能化分析。</a:t>
            </a:r>
          </a:p>
          <a:p>
            <a:pPr lvl="1">
              <a:lnSpc>
                <a:spcPct val="110000"/>
              </a:lnSpc>
              <a:spcBef>
                <a:spcPts val="0"/>
              </a:spcBef>
              <a:spcAft>
                <a:spcPts val="0"/>
              </a:spcAft>
              <a:buFont typeface="系统字体常规体"/>
              <a:buChar char="⁃"/>
            </a:pPr>
            <a:r>
              <a:rPr lang="en-US" altLang="zh-CN" sz="1800" b="1" dirty="0"/>
              <a:t>AI</a:t>
            </a:r>
            <a:r>
              <a:rPr lang="zh-CN" altLang="en-US" sz="1800" b="1" dirty="0"/>
              <a:t>原生数据库</a:t>
            </a:r>
            <a:r>
              <a:rPr lang="zh-CN" altLang="en-US" sz="1800" dirty="0"/>
              <a:t>：以</a:t>
            </a:r>
            <a:r>
              <a:rPr lang="en-US" altLang="zh-CN" sz="1800" b="1" dirty="0" err="1"/>
              <a:t>OceanBase</a:t>
            </a:r>
            <a:r>
              <a:rPr lang="zh-CN" altLang="en-US" sz="1800" b="1" dirty="0"/>
              <a:t>开源的</a:t>
            </a:r>
            <a:r>
              <a:rPr lang="en-US" altLang="zh-CN" sz="1800" b="1" dirty="0" err="1"/>
              <a:t>seekdb</a:t>
            </a:r>
            <a:r>
              <a:rPr lang="zh-CN" altLang="en-US" sz="1800" dirty="0"/>
              <a:t>为代表。它不是传统数据库的功能叠加，而是为</a:t>
            </a:r>
            <a:r>
              <a:rPr lang="en-US" altLang="zh-CN" sz="1800" dirty="0"/>
              <a:t>AI</a:t>
            </a:r>
            <a:r>
              <a:rPr lang="zh-CN" altLang="en-US" sz="1800" dirty="0"/>
              <a:t>时代从零重构的产物。它以混合搜索为核心，将向量、全文、标量等检索能力融合在同一个内核中。</a:t>
            </a:r>
          </a:p>
          <a:p>
            <a:pPr marL="137160" lvl="1">
              <a:lnSpc>
                <a:spcPct val="110000"/>
              </a:lnSpc>
              <a:spcBef>
                <a:spcPts val="0"/>
              </a:spcBef>
              <a:spcAft>
                <a:spcPts val="0"/>
              </a:spcAft>
            </a:pPr>
            <a:r>
              <a:rPr lang="zh-CN" altLang="en-US" sz="2000" b="1" dirty="0"/>
              <a:t>核心技术：从“单一检索”到“混合智能”</a:t>
            </a:r>
            <a:endParaRPr lang="en-US" altLang="zh-CN" sz="2000" b="1" dirty="0"/>
          </a:p>
          <a:p>
            <a:pPr lvl="1">
              <a:lnSpc>
                <a:spcPct val="110000"/>
              </a:lnSpc>
              <a:spcBef>
                <a:spcPts val="0"/>
              </a:spcBef>
              <a:spcAft>
                <a:spcPts val="0"/>
              </a:spcAft>
              <a:buFont typeface="系统字体常规体"/>
              <a:buChar char="⁃"/>
            </a:pPr>
            <a:r>
              <a:rPr lang="zh-CN" altLang="en-US" sz="1800" b="1" dirty="0">
                <a:sym typeface="Times New Roman"/>
              </a:rPr>
              <a:t>混合搜索</a:t>
            </a:r>
            <a:r>
              <a:rPr lang="zh-CN" altLang="en-US" sz="1800" dirty="0">
                <a:sym typeface="Times New Roman"/>
              </a:rPr>
              <a:t>：</a:t>
            </a:r>
            <a:r>
              <a:rPr lang="en-US" altLang="zh-CN" sz="1800" dirty="0">
                <a:sym typeface="Times New Roman"/>
              </a:rPr>
              <a:t> </a:t>
            </a:r>
            <a:r>
              <a:rPr lang="en-US" altLang="zh-CN" sz="1800" dirty="0" err="1">
                <a:sym typeface="Times New Roman"/>
              </a:rPr>
              <a:t>OceanBase</a:t>
            </a:r>
            <a:r>
              <a:rPr lang="en-US" altLang="zh-CN" sz="1800" dirty="0">
                <a:sym typeface="Times New Roman"/>
              </a:rPr>
              <a:t> </a:t>
            </a:r>
            <a:r>
              <a:rPr lang="en-US" altLang="zh-CN" sz="1800" dirty="0" err="1">
                <a:sym typeface="Times New Roman"/>
              </a:rPr>
              <a:t>seekdb</a:t>
            </a:r>
            <a:r>
              <a:rPr lang="zh-CN" altLang="en-US" sz="1800" dirty="0">
                <a:sym typeface="Times New Roman"/>
              </a:rPr>
              <a:t>和字节跳动的</a:t>
            </a:r>
            <a:r>
              <a:rPr lang="en-US" altLang="zh-CN" sz="1800" dirty="0" err="1">
                <a:sym typeface="Times New Roman"/>
              </a:rPr>
              <a:t>DataMind</a:t>
            </a:r>
            <a:r>
              <a:rPr lang="zh-CN" altLang="en-US" sz="1800" dirty="0">
                <a:sym typeface="Times New Roman"/>
              </a:rPr>
              <a:t>（基于</a:t>
            </a:r>
            <a:r>
              <a:rPr lang="en-US" altLang="zh-CN" sz="1800" dirty="0">
                <a:sym typeface="Times New Roman"/>
              </a:rPr>
              <a:t>Apache Doris</a:t>
            </a:r>
            <a:r>
              <a:rPr lang="zh-CN" altLang="en-US" sz="1800" dirty="0">
                <a:sym typeface="Times New Roman"/>
              </a:rPr>
              <a:t>）都在强混合搜索能力。它允许在一个查询中同时进行向量检索（找相似）、全文搜索（找关键词）和标量过滤（筛条件），让</a:t>
            </a:r>
            <a:r>
              <a:rPr lang="en-US" altLang="zh-CN" sz="1800" dirty="0">
                <a:sym typeface="Times New Roman"/>
              </a:rPr>
              <a:t>AI</a:t>
            </a:r>
            <a:r>
              <a:rPr lang="zh-CN" altLang="en-US" sz="1800" dirty="0">
                <a:sym typeface="Times New Roman"/>
              </a:rPr>
              <a:t>理解得又准又快。</a:t>
            </a:r>
            <a:endParaRPr lang="en-US" altLang="zh-CN" sz="1800" dirty="0">
              <a:sym typeface="Times New Roman"/>
            </a:endParaRPr>
          </a:p>
          <a:p>
            <a:pPr lvl="1">
              <a:lnSpc>
                <a:spcPct val="110000"/>
              </a:lnSpc>
              <a:spcBef>
                <a:spcPts val="0"/>
              </a:spcBef>
              <a:spcAft>
                <a:spcPts val="0"/>
              </a:spcAft>
              <a:buFont typeface="系统字体常规体"/>
              <a:buChar char="⁃"/>
            </a:pPr>
            <a:r>
              <a:rPr lang="zh-CN" altLang="en-US" sz="1800" b="1" dirty="0"/>
              <a:t>多模态数据统一管理：</a:t>
            </a:r>
            <a:r>
              <a:rPr lang="en-US" altLang="zh-CN" sz="1800" dirty="0"/>
              <a:t>AI</a:t>
            </a:r>
            <a:r>
              <a:rPr lang="zh-CN" altLang="en-US" sz="1800" dirty="0"/>
              <a:t>需要处理文本、图像、时序等各类数据。金仓数据库通过统一内核支持七种数据模型，打破数据孤岛；阿里云</a:t>
            </a:r>
            <a:r>
              <a:rPr lang="en-US" altLang="zh-CN" sz="1800" dirty="0" err="1"/>
              <a:t>PolarDB</a:t>
            </a:r>
            <a:r>
              <a:rPr lang="zh-CN" altLang="en-US" sz="1800" dirty="0"/>
              <a:t>也通过“湖库一体”架构</a:t>
            </a:r>
            <a:r>
              <a:rPr lang="en-US" altLang="zh-CN" sz="1800" dirty="0" err="1"/>
              <a:t>Lakebase</a:t>
            </a:r>
            <a:r>
              <a:rPr lang="zh-CN" altLang="en-US" sz="1800" dirty="0"/>
              <a:t>，实现全模态数据的统一存取。</a:t>
            </a:r>
          </a:p>
          <a:p>
            <a:pPr lvl="1">
              <a:lnSpc>
                <a:spcPct val="110000"/>
              </a:lnSpc>
              <a:spcBef>
                <a:spcPts val="0"/>
              </a:spcBef>
              <a:spcAft>
                <a:spcPts val="0"/>
              </a:spcAft>
              <a:buFont typeface="系统字体常规体"/>
              <a:buChar char="⁃"/>
            </a:pPr>
            <a:r>
              <a:rPr lang="zh-CN" altLang="en-US" sz="1800" b="1" dirty="0"/>
              <a:t>库内</a:t>
            </a:r>
            <a:r>
              <a:rPr lang="en-US" altLang="zh-CN" sz="1800" b="1" dirty="0"/>
              <a:t>AI</a:t>
            </a:r>
            <a:r>
              <a:rPr lang="zh-CN" altLang="en-US" sz="1800" b="1" dirty="0"/>
              <a:t>能力集成：</a:t>
            </a:r>
            <a:r>
              <a:rPr lang="zh-CN" altLang="en-US" sz="1800" dirty="0"/>
              <a:t>数据库开始“自带”</a:t>
            </a:r>
            <a:r>
              <a:rPr lang="en-US" altLang="zh-CN" sz="1800" dirty="0"/>
              <a:t>AI</a:t>
            </a:r>
            <a:r>
              <a:rPr lang="zh-CN" altLang="en-US" sz="1800" dirty="0"/>
              <a:t>技能。字节跳动的</a:t>
            </a:r>
            <a:r>
              <a:rPr lang="en-US" altLang="zh-CN" sz="1800" dirty="0" err="1"/>
              <a:t>DataMind</a:t>
            </a:r>
            <a:r>
              <a:rPr lang="zh-CN" altLang="en-US" sz="1800" dirty="0"/>
              <a:t>还支持</a:t>
            </a:r>
            <a:r>
              <a:rPr lang="en-US" altLang="zh-CN" sz="1800" dirty="0"/>
              <a:t>Python UDF</a:t>
            </a:r>
            <a:r>
              <a:rPr lang="zh-CN" altLang="en-US" sz="1800" dirty="0"/>
              <a:t>（用户自定义函数），允许用户在库内直接运行自己部署的重排序模型或大模型，串联起从搜索到打分的完整流程。</a:t>
            </a:r>
            <a:endParaRPr lang="en-US" altLang="zh-CN" sz="1800" dirty="0"/>
          </a:p>
        </p:txBody>
      </p:sp>
    </p:spTree>
    <p:extLst>
      <p:ext uri="{BB962C8B-B14F-4D97-AF65-F5344CB8AC3E}">
        <p14:creationId xmlns:p14="http://schemas.microsoft.com/office/powerpoint/2010/main" val="14195898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F5C00-A4B2-E575-D70B-EA66694B664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76B6391-CF55-C51C-5A92-2836339AF5CB}"/>
              </a:ext>
            </a:extLst>
          </p:cNvPr>
          <p:cNvSpPr>
            <a:spLocks noGrp="1"/>
          </p:cNvSpPr>
          <p:nvPr>
            <p:ph type="title"/>
          </p:nvPr>
        </p:nvSpPr>
        <p:spPr/>
        <p:txBody>
          <a:bodyPr/>
          <a:lstStyle/>
          <a:p>
            <a:r>
              <a:rPr lang="en-US" altLang="zh-CN" b="1" dirty="0"/>
              <a:t>AI</a:t>
            </a:r>
            <a:r>
              <a:rPr lang="zh-CN" altLang="en-US" b="1" dirty="0"/>
              <a:t>也在“治理”数据库</a:t>
            </a:r>
          </a:p>
        </p:txBody>
      </p:sp>
      <p:sp>
        <p:nvSpPr>
          <p:cNvPr id="3" name="内容占位符 2">
            <a:extLst>
              <a:ext uri="{FF2B5EF4-FFF2-40B4-BE49-F238E27FC236}">
                <a16:creationId xmlns:a16="http://schemas.microsoft.com/office/drawing/2014/main" id="{5499CD18-B888-5B7F-5D3D-DF68F4D7F744}"/>
              </a:ext>
            </a:extLst>
          </p:cNvPr>
          <p:cNvSpPr>
            <a:spLocks noGrp="1"/>
          </p:cNvSpPr>
          <p:nvPr>
            <p:ph idx="1"/>
          </p:nvPr>
        </p:nvSpPr>
        <p:spPr>
          <a:xfrm>
            <a:off x="802385" y="1609344"/>
            <a:ext cx="7856705" cy="4943856"/>
          </a:xfrm>
        </p:spPr>
        <p:txBody>
          <a:bodyPr>
            <a:normAutofit/>
          </a:bodyPr>
          <a:lstStyle/>
          <a:p>
            <a:r>
              <a:rPr lang="en-US" altLang="zh-CN" sz="2000" dirty="0"/>
              <a:t>AI</a:t>
            </a:r>
            <a:r>
              <a:rPr lang="zh-CN" altLang="en-US" sz="2000" dirty="0"/>
              <a:t>不仅是被数据库服务的对象，也在反过来帮助</a:t>
            </a:r>
            <a:r>
              <a:rPr lang="en-US" altLang="zh-CN" sz="2000" dirty="0"/>
              <a:t>DBA</a:t>
            </a:r>
            <a:r>
              <a:rPr lang="zh-CN" altLang="en-US" sz="2000" dirty="0"/>
              <a:t>（数据库管理员）更好地管理数据库本身。腾讯云就选择从数据库</a:t>
            </a:r>
            <a:r>
              <a:rPr lang="en-US" altLang="zh-CN" sz="2000" dirty="0"/>
              <a:t>DevOps</a:t>
            </a:r>
            <a:r>
              <a:rPr lang="zh-CN" altLang="en-US" sz="2000" dirty="0"/>
              <a:t>这个“最痛的场景”切入，推出了数据库</a:t>
            </a:r>
            <a:r>
              <a:rPr lang="en-US" altLang="zh-CN" sz="2000" dirty="0"/>
              <a:t>AI</a:t>
            </a:r>
            <a:r>
              <a:rPr lang="zh-CN" altLang="en-US" sz="2000" dirty="0"/>
              <a:t>服务（</a:t>
            </a:r>
            <a:r>
              <a:rPr lang="en-US" altLang="zh-CN" sz="2000" dirty="0"/>
              <a:t>TDAI</a:t>
            </a:r>
            <a:r>
              <a:rPr lang="zh-CN" altLang="en-US" sz="2000" dirty="0"/>
              <a:t>）。</a:t>
            </a:r>
          </a:p>
          <a:p>
            <a:r>
              <a:rPr lang="zh-CN" altLang="en-US" sz="2000" dirty="0"/>
              <a:t>通过引入智能体，腾讯云实现了：</a:t>
            </a:r>
          </a:p>
          <a:p>
            <a:pPr lvl="1">
              <a:buFont typeface="系统字体常规体"/>
              <a:buChar char="⁃"/>
            </a:pPr>
            <a:r>
              <a:rPr lang="en-US" altLang="zh-CN" sz="1800" b="1" dirty="0"/>
              <a:t>SQL</a:t>
            </a:r>
            <a:r>
              <a:rPr lang="zh-CN" altLang="en-US" sz="1800" b="1" dirty="0"/>
              <a:t>事前风险预测：</a:t>
            </a:r>
            <a:r>
              <a:rPr lang="zh-CN" altLang="en-US" sz="1800" dirty="0"/>
              <a:t>在上线前识别出有风险的</a:t>
            </a:r>
            <a:r>
              <a:rPr lang="en-US" altLang="zh-CN" sz="1800" dirty="0"/>
              <a:t>SQL</a:t>
            </a:r>
            <a:r>
              <a:rPr lang="zh-CN" altLang="en-US" sz="1800" dirty="0"/>
              <a:t>代码，阻止其被提交，从源头避免故障。</a:t>
            </a:r>
          </a:p>
          <a:p>
            <a:pPr lvl="1">
              <a:buFont typeface="系统字体常规体"/>
              <a:buChar char="⁃"/>
            </a:pPr>
            <a:r>
              <a:rPr lang="zh-CN" altLang="en-US" sz="1800" b="1" dirty="0"/>
              <a:t>高负载自动值守：</a:t>
            </a:r>
            <a:r>
              <a:rPr lang="en-US" altLang="zh-CN" sz="1800" dirty="0"/>
              <a:t>24</a:t>
            </a:r>
            <a:r>
              <a:rPr lang="zh-CN" altLang="en-US" sz="1800" dirty="0"/>
              <a:t>小时监控，一旦发现险情立即告警并提供恢复建议。</a:t>
            </a:r>
          </a:p>
          <a:p>
            <a:pPr lvl="1">
              <a:buFont typeface="系统字体常规体"/>
              <a:buChar char="⁃"/>
            </a:pPr>
            <a:r>
              <a:rPr lang="zh-CN" altLang="en-US" sz="1800" b="1" dirty="0"/>
              <a:t>主动数据洞察：</a:t>
            </a:r>
            <a:r>
              <a:rPr lang="zh-CN" altLang="en-US" sz="1800" dirty="0"/>
              <a:t>改变“人工问数”的低效模式，让智能体主动捕捉数据变化并推送结论。</a:t>
            </a:r>
            <a:endParaRPr lang="en-US" altLang="zh-CN" sz="1800" dirty="0"/>
          </a:p>
          <a:p>
            <a:pPr lvl="1">
              <a:buFont typeface="系统字体常规体"/>
              <a:buChar char="⁃"/>
            </a:pPr>
            <a:r>
              <a:rPr lang="zh-CN" altLang="en-US" sz="1800" dirty="0"/>
              <a:t>目前，这些智能体的风险预测准确率已达到</a:t>
            </a:r>
            <a:r>
              <a:rPr lang="en-US" altLang="zh-CN" sz="1800" dirty="0"/>
              <a:t>95%</a:t>
            </a:r>
            <a:r>
              <a:rPr lang="zh-CN" altLang="en-US" sz="1800" dirty="0"/>
              <a:t>以上。</a:t>
            </a:r>
          </a:p>
        </p:txBody>
      </p:sp>
    </p:spTree>
    <p:extLst>
      <p:ext uri="{BB962C8B-B14F-4D97-AF65-F5344CB8AC3E}">
        <p14:creationId xmlns:p14="http://schemas.microsoft.com/office/powerpoint/2010/main" val="36066703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9913EE69-D6F1-A54D-B452-63DF3EFDDC65}"/>
              </a:ext>
            </a:extLst>
          </p:cNvPr>
          <p:cNvSpPr>
            <a:spLocks noChangeArrowheads="1"/>
          </p:cNvSpPr>
          <p:nvPr/>
        </p:nvSpPr>
        <p:spPr bwMode="auto">
          <a:xfrm>
            <a:off x="818885" y="1831869"/>
            <a:ext cx="7705725" cy="4246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0" fontAlgn="base" latinLnBrk="0" hangingPunct="0">
              <a:lnSpc>
                <a:spcPct val="2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精 读</a:t>
            </a:r>
            <a:r>
              <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教材     </a:t>
            </a:r>
            <a:r>
              <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P.3 </a:t>
            </a:r>
            <a:r>
              <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sym typeface="Symbol" pitchFamily="2" charset="2"/>
              </a:rPr>
              <a:t> P.</a:t>
            </a:r>
            <a:r>
              <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12</a:t>
            </a:r>
          </a:p>
          <a:p>
            <a:pPr marL="0" marR="0" lvl="0" indent="0" algn="just" defTabSz="914400" rtl="0" eaLnBrk="0" fontAlgn="base" latinLnBrk="0" hangingPunct="0">
              <a:lnSpc>
                <a:spcPct val="2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习 题</a:t>
            </a:r>
            <a:r>
              <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1</a:t>
            </a:r>
            <a:r>
              <a:rPr kumimoji="1"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a:t>
            </a:r>
            <a:r>
              <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P.12    4 -- 7</a:t>
            </a:r>
          </a:p>
          <a:p>
            <a:pPr marL="0" marR="0" lvl="0" indent="0" algn="just" defTabSz="914400" rtl="0" eaLnBrk="0" fontAlgn="base" latinLnBrk="0" hangingPunct="0">
              <a:lnSpc>
                <a:spcPct val="2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（实验一）数据库系统了解和创建数据库</a:t>
            </a:r>
            <a:endPar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0" fontAlgn="base" latinLnBrk="0" hangingPunct="0">
              <a:lnSpc>
                <a:spcPct val="200000"/>
              </a:lnSpc>
              <a:spcBef>
                <a:spcPct val="0"/>
              </a:spcBef>
              <a:spcAft>
                <a:spcPct val="0"/>
              </a:spcAft>
              <a:buClrTx/>
              <a:buSzTx/>
              <a:buFontTx/>
              <a:buNone/>
              <a:tabLst/>
              <a:defRPr/>
            </a:pPr>
            <a:r>
              <a:rPr lang="zh-CN" altLang="en-US" sz="2800" b="1" kern="1200" dirty="0">
                <a:solidFill>
                  <a:srgbClr val="000000"/>
                </a:solidFill>
                <a:latin typeface="宋体" panose="02010600030101010101" pitchFamily="2" charset="-122"/>
              </a:rPr>
              <a:t>课外进阶：数据仓库、数据湖、湖仓一体、数据与</a:t>
            </a:r>
            <a:r>
              <a:rPr lang="en-US" altLang="zh-CN" sz="2800" b="1" kern="1200" dirty="0">
                <a:solidFill>
                  <a:srgbClr val="000000"/>
                </a:solidFill>
                <a:latin typeface="宋体" panose="02010600030101010101" pitchFamily="2" charset="-122"/>
              </a:rPr>
              <a:t>AI</a:t>
            </a:r>
            <a:r>
              <a:rPr lang="zh-CN" altLang="en-US" sz="2800" b="1" kern="1200" dirty="0">
                <a:solidFill>
                  <a:srgbClr val="000000"/>
                </a:solidFill>
                <a:latin typeface="宋体" panose="02010600030101010101" pitchFamily="2" charset="-122"/>
              </a:rPr>
              <a:t>的深度融合等数据库最新进展</a:t>
            </a:r>
            <a:endPar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nvGrpSpPr>
          <p:cNvPr id="71683" name="组合 1">
            <a:extLst>
              <a:ext uri="{FF2B5EF4-FFF2-40B4-BE49-F238E27FC236}">
                <a16:creationId xmlns:a16="http://schemas.microsoft.com/office/drawing/2014/main" id="{DE3D937B-AAEB-FF4F-998E-DE01899EE4A0}"/>
              </a:ext>
            </a:extLst>
          </p:cNvPr>
          <p:cNvGrpSpPr>
            <a:grpSpLocks/>
          </p:cNvGrpSpPr>
          <p:nvPr/>
        </p:nvGrpSpPr>
        <p:grpSpPr bwMode="auto">
          <a:xfrm>
            <a:off x="222250" y="131763"/>
            <a:ext cx="8382000" cy="1428750"/>
            <a:chOff x="222250" y="131203"/>
            <a:chExt cx="8382000" cy="1429310"/>
          </a:xfrm>
        </p:grpSpPr>
        <p:grpSp>
          <p:nvGrpSpPr>
            <p:cNvPr id="71684" name="Group 3">
              <a:extLst>
                <a:ext uri="{FF2B5EF4-FFF2-40B4-BE49-F238E27FC236}">
                  <a16:creationId xmlns:a16="http://schemas.microsoft.com/office/drawing/2014/main" id="{22F8500A-AAF0-6144-9282-CBD2E61F07A3}"/>
                </a:ext>
              </a:extLst>
            </p:cNvPr>
            <p:cNvGrpSpPr>
              <a:grpSpLocks/>
            </p:cNvGrpSpPr>
            <p:nvPr/>
          </p:nvGrpSpPr>
          <p:grpSpPr bwMode="auto">
            <a:xfrm>
              <a:off x="222250" y="188913"/>
              <a:ext cx="8382000" cy="1371600"/>
              <a:chOff x="0" y="288"/>
              <a:chExt cx="5760" cy="864"/>
            </a:xfrm>
          </p:grpSpPr>
          <p:sp>
            <p:nvSpPr>
              <p:cNvPr id="71686" name="Rectangle 4">
                <a:extLst>
                  <a:ext uri="{FF2B5EF4-FFF2-40B4-BE49-F238E27FC236}">
                    <a16:creationId xmlns:a16="http://schemas.microsoft.com/office/drawing/2014/main" id="{181FD0E4-8140-BA41-A3B9-91DEAFB3EBD6}"/>
                  </a:ext>
                </a:extLst>
              </p:cNvPr>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sp>
            <p:nvSpPr>
              <p:cNvPr id="71687" name="Rectangle 5">
                <a:extLst>
                  <a:ext uri="{FF2B5EF4-FFF2-40B4-BE49-F238E27FC236}">
                    <a16:creationId xmlns:a16="http://schemas.microsoft.com/office/drawing/2014/main" id="{54907731-B267-844B-8979-5E3F621C9A51}"/>
                  </a:ext>
                </a:extLst>
              </p:cNvPr>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sp>
            <p:nvSpPr>
              <p:cNvPr id="71688" name="Rectangle 6">
                <a:extLst>
                  <a:ext uri="{FF2B5EF4-FFF2-40B4-BE49-F238E27FC236}">
                    <a16:creationId xmlns:a16="http://schemas.microsoft.com/office/drawing/2014/main" id="{31F9233F-9082-3843-8C53-9563AF5C3D26}"/>
                  </a:ext>
                </a:extLst>
              </p:cNvPr>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sp>
            <p:nvSpPr>
              <p:cNvPr id="71689" name="Rectangle 7">
                <a:extLst>
                  <a:ext uri="{FF2B5EF4-FFF2-40B4-BE49-F238E27FC236}">
                    <a16:creationId xmlns:a16="http://schemas.microsoft.com/office/drawing/2014/main" id="{2866AC8B-A76B-2F4B-BA3F-89C1F7041A3B}"/>
                  </a:ext>
                </a:extLst>
              </p:cNvPr>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sp>
            <p:nvSpPr>
              <p:cNvPr id="71690" name="Rectangle 8">
                <a:extLst>
                  <a:ext uri="{FF2B5EF4-FFF2-40B4-BE49-F238E27FC236}">
                    <a16:creationId xmlns:a16="http://schemas.microsoft.com/office/drawing/2014/main" id="{4105D111-69B0-D343-8991-87699450F417}"/>
                  </a:ext>
                </a:extLst>
              </p:cNvPr>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sp>
            <p:nvSpPr>
              <p:cNvPr id="71691" name="Rectangle 9">
                <a:extLst>
                  <a:ext uri="{FF2B5EF4-FFF2-40B4-BE49-F238E27FC236}">
                    <a16:creationId xmlns:a16="http://schemas.microsoft.com/office/drawing/2014/main" id="{CDD20913-ECC1-AE4E-B799-9C4D1291C8D8}"/>
                  </a:ext>
                </a:extLst>
              </p:cNvPr>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grpSp>
        <p:sp>
          <p:nvSpPr>
            <p:cNvPr id="2" name="Text Box 10">
              <a:extLst>
                <a:ext uri="{FF2B5EF4-FFF2-40B4-BE49-F238E27FC236}">
                  <a16:creationId xmlns:a16="http://schemas.microsoft.com/office/drawing/2014/main" id="{76FCB414-0621-9E47-A57A-8152E055438D}"/>
                </a:ext>
              </a:extLst>
            </p:cNvPr>
            <p:cNvSpPr txBox="1">
              <a:spLocks noChangeArrowheads="1"/>
            </p:cNvSpPr>
            <p:nvPr/>
          </p:nvSpPr>
          <p:spPr bwMode="auto">
            <a:xfrm>
              <a:off x="1763713" y="131203"/>
              <a:ext cx="5184775" cy="1010046"/>
            </a:xfrm>
            <a:prstGeom prst="rect">
              <a:avLst/>
            </a:prstGeom>
            <a:noFill/>
            <a:ln>
              <a:noFill/>
            </a:ln>
            <a:effectLst/>
          </p:spPr>
          <p:txBody>
            <a:bodyPr>
              <a:spAutoFit/>
            </a:bodyPr>
            <a:lstStyle>
              <a:lvl1pPr indent="609600">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609600" algn="just" defTabSz="914400" rtl="0" eaLnBrk="0" fontAlgn="base" latinLnBrk="0" hangingPunct="0">
                <a:lnSpc>
                  <a:spcPct val="180000"/>
                </a:lnSpc>
                <a:spcBef>
                  <a:spcPct val="50000"/>
                </a:spcBef>
                <a:spcAft>
                  <a:spcPct val="0"/>
                </a:spcAft>
                <a:buClrTx/>
                <a:buSzTx/>
                <a:buFontTx/>
                <a:buNone/>
                <a:tabLst/>
                <a:defRPr/>
              </a:pPr>
              <a:r>
                <a:rPr kumimoji="1" lang="zh-CN" altLang="en-US" sz="4000" b="1" i="0" u="none" strike="noStrike" kern="1200" cap="none" spc="0" normalizeH="0" baseline="0" noProof="0">
                  <a:ln>
                    <a:noFill/>
                  </a:ln>
                  <a:solidFill>
                    <a:srgbClr val="990000"/>
                  </a:solidFill>
                  <a:effectLst>
                    <a:outerShdw blurRad="38100" dist="38100" dir="2700000" algn="tl">
                      <a:srgbClr val="C0C0C0"/>
                    </a:outerShdw>
                  </a:effectLst>
                  <a:uLnTx/>
                  <a:uFillTx/>
                  <a:latin typeface="楷体" panose="02010609060101010101" pitchFamily="49" charset="-122"/>
                  <a:ea typeface="楷体" panose="02010609060101010101" pitchFamily="49" charset="-122"/>
                  <a:cs typeface="+mn-cs"/>
                </a:rPr>
                <a:t>精读和习题要求</a:t>
              </a:r>
            </a:p>
          </p:txBody>
        </p:sp>
      </p:grpSp>
    </p:spTree>
  </p:cSld>
  <p:clrMapOvr>
    <a:masterClrMapping/>
  </p:clrMapOvr>
  <p:transition/>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aring">
  <a:themeElements>
    <a:clrScheme name="Soaring">
      <a:dk1>
        <a:srgbClr val="000000"/>
      </a:dk1>
      <a:lt1>
        <a:srgbClr val="FFFFFF"/>
      </a:lt1>
      <a:dk2>
        <a:srgbClr val="A7A7A7"/>
      </a:dk2>
      <a:lt2>
        <a:srgbClr val="535353"/>
      </a:lt2>
      <a:accent1>
        <a:srgbClr val="00FFFF"/>
      </a:accent1>
      <a:accent2>
        <a:srgbClr val="3366FF"/>
      </a:accent2>
      <a:accent3>
        <a:srgbClr val="AAAAFF"/>
      </a:accent3>
      <a:accent4>
        <a:srgbClr val="DADADA"/>
      </a:accent4>
      <a:accent5>
        <a:srgbClr val="AAFFFF"/>
      </a:accent5>
      <a:accent6>
        <a:srgbClr val="2D5CE7"/>
      </a:accent6>
      <a:hlink>
        <a:srgbClr val="0000FF"/>
      </a:hlink>
      <a:folHlink>
        <a:srgbClr val="FF00FF"/>
      </a:folHlink>
    </a:clrScheme>
    <a:fontScheme name="Soaring">
      <a:majorFont>
        <a:latin typeface="Helvetica"/>
        <a:ea typeface="Helvetica"/>
        <a:cs typeface="Helvetica"/>
      </a:majorFont>
      <a:minorFont>
        <a:latin typeface="Times New Roman"/>
        <a:ea typeface="Times New Roman"/>
        <a:cs typeface="Times New Roman"/>
      </a:minorFont>
    </a:fontScheme>
    <a:fmtScheme name="Soar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just" defTabSz="914400" rtl="0" fontAlgn="auto" latinLnBrk="0" hangingPunct="0">
          <a:lnSpc>
            <a:spcPct val="18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just" defTabSz="914400" rtl="0" fontAlgn="auto" latinLnBrk="0" hangingPunct="0">
          <a:lnSpc>
            <a:spcPct val="18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木材纹理">
  <a:themeElements>
    <a:clrScheme name="木材纹理">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木材纹理">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木材纹理">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3.xml><?xml version="1.0" encoding="utf-8"?>
<a:theme xmlns:a="http://schemas.openxmlformats.org/drawingml/2006/main" name="1_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spAutoFit/>
      </a:bodyPr>
      <a:lstStyle>
        <a:defPPr marL="0" marR="0" indent="0" algn="just" defTabSz="914400" rtl="0" eaLnBrk="1" fontAlgn="base" latinLnBrk="0" hangingPunct="1">
          <a:lnSpc>
            <a:spcPct val="8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spAutoFit/>
      </a:bodyPr>
      <a:lstStyle>
        <a:defPPr marL="0" marR="0" indent="0" algn="just" defTabSz="914400" rtl="0" eaLnBrk="1" fontAlgn="base" latinLnBrk="0" hangingPunct="1">
          <a:lnSpc>
            <a:spcPct val="8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oaring">
  <a:themeElements>
    <a:clrScheme name="Soaring">
      <a:dk1>
        <a:srgbClr val="000000"/>
      </a:dk1>
      <a:lt1>
        <a:srgbClr val="FFFFFF"/>
      </a:lt1>
      <a:dk2>
        <a:srgbClr val="A7A7A7"/>
      </a:dk2>
      <a:lt2>
        <a:srgbClr val="535353"/>
      </a:lt2>
      <a:accent1>
        <a:srgbClr val="00FFFF"/>
      </a:accent1>
      <a:accent2>
        <a:srgbClr val="3366FF"/>
      </a:accent2>
      <a:accent3>
        <a:srgbClr val="AAAAFF"/>
      </a:accent3>
      <a:accent4>
        <a:srgbClr val="DADADA"/>
      </a:accent4>
      <a:accent5>
        <a:srgbClr val="AAFFFF"/>
      </a:accent5>
      <a:accent6>
        <a:srgbClr val="2D5CE7"/>
      </a:accent6>
      <a:hlink>
        <a:srgbClr val="0000FF"/>
      </a:hlink>
      <a:folHlink>
        <a:srgbClr val="FF00FF"/>
      </a:folHlink>
    </a:clrScheme>
    <a:fontScheme name="Soaring">
      <a:majorFont>
        <a:latin typeface="Helvetica"/>
        <a:ea typeface="Helvetica"/>
        <a:cs typeface="Helvetica"/>
      </a:majorFont>
      <a:minorFont>
        <a:latin typeface="Times New Roman"/>
        <a:ea typeface="Times New Roman"/>
        <a:cs typeface="Times New Roman"/>
      </a:minorFont>
    </a:fontScheme>
    <a:fmtScheme name="Soar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just" defTabSz="914400" rtl="0" fontAlgn="auto" latinLnBrk="0" hangingPunct="0">
          <a:lnSpc>
            <a:spcPct val="18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just" defTabSz="914400" rtl="0" fontAlgn="auto" latinLnBrk="0" hangingPunct="0">
          <a:lnSpc>
            <a:spcPct val="18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543</TotalTime>
  <Words>4144</Words>
  <Application>Microsoft Macintosh PowerPoint</Application>
  <PresentationFormat>全屏显示(4:3)</PresentationFormat>
  <Paragraphs>425</Paragraphs>
  <Slides>51</Slides>
  <Notes>14</Notes>
  <HiddenSlides>5</HiddenSlides>
  <MMClips>0</MMClips>
  <ScaleCrop>false</ScaleCrop>
  <HeadingPairs>
    <vt:vector size="6" baseType="variant">
      <vt:variant>
        <vt:lpstr>已用的字体</vt:lpstr>
      </vt:variant>
      <vt:variant>
        <vt:i4>22</vt:i4>
      </vt:variant>
      <vt:variant>
        <vt:lpstr>主题</vt:lpstr>
      </vt:variant>
      <vt:variant>
        <vt:i4>3</vt:i4>
      </vt:variant>
      <vt:variant>
        <vt:lpstr>幻灯片标题</vt:lpstr>
      </vt:variant>
      <vt:variant>
        <vt:i4>51</vt:i4>
      </vt:variant>
    </vt:vector>
  </HeadingPairs>
  <TitlesOfParts>
    <vt:vector size="76" baseType="lpstr">
      <vt:lpstr>-apple-system</vt:lpstr>
      <vt:lpstr>等线</vt:lpstr>
      <vt:lpstr>黑体</vt:lpstr>
      <vt:lpstr>华文中宋</vt:lpstr>
      <vt:lpstr>楷体</vt:lpstr>
      <vt:lpstr>SimSun</vt:lpstr>
      <vt:lpstr>SimSun</vt:lpstr>
      <vt:lpstr>微软雅黑</vt:lpstr>
      <vt:lpstr>系统字体常规体</vt:lpstr>
      <vt:lpstr>SimSong Bold</vt:lpstr>
      <vt:lpstr>system-ui</vt:lpstr>
      <vt:lpstr>Apple Symbols</vt:lpstr>
      <vt:lpstr>Arial</vt:lpstr>
      <vt:lpstr>Arial</vt:lpstr>
      <vt:lpstr>Lucida Sans Unicode</vt:lpstr>
      <vt:lpstr>Rockwell</vt:lpstr>
      <vt:lpstr>Rockwell Condensed</vt:lpstr>
      <vt:lpstr>Symbol</vt:lpstr>
      <vt:lpstr>Tahoma</vt:lpstr>
      <vt:lpstr>Times New Roman</vt:lpstr>
      <vt:lpstr>Wingdings</vt:lpstr>
      <vt:lpstr>Wingdings 3</vt:lpstr>
      <vt:lpstr>Soaring</vt:lpstr>
      <vt:lpstr>木材纹理</vt:lpstr>
      <vt:lpstr>1_Soaring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概念模式  （ Conceptual  Schema）            也称整体逻辑结构或模式或全局模式                    </vt:lpstr>
      <vt:lpstr>外模式 （External Schema）                    也称局部逻辑结构或子模式或用户模式</vt:lpstr>
      <vt:lpstr>内模式（Internal Schema）                     也称存储模式 或 数据库的物理结构      </vt:lpstr>
      <vt:lpstr>PowerPoint 演示文稿</vt:lpstr>
      <vt:lpstr>◆数据库系统阶段程序与数据的关系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数据仓库</vt:lpstr>
      <vt:lpstr>数据仓库特点 </vt:lpstr>
      <vt:lpstr>数据仓库的作用</vt:lpstr>
      <vt:lpstr>数据湖</vt:lpstr>
      <vt:lpstr>数据湖核心能力</vt:lpstr>
      <vt:lpstr>数据湖例子</vt:lpstr>
      <vt:lpstr>湖仓一体</vt:lpstr>
      <vt:lpstr>DataBricks给出的架构演化参考图</vt:lpstr>
      <vt:lpstr>集中化数据平台</vt:lpstr>
      <vt:lpstr>数据库与AI的深度融合</vt:lpstr>
      <vt:lpstr>AI也在“治理”数据库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Microsoft Office 用户</cp:lastModifiedBy>
  <cp:revision>61</cp:revision>
  <dcterms:modified xsi:type="dcterms:W3CDTF">2026-03-01T07:14:18Z</dcterms:modified>
</cp:coreProperties>
</file>