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753" r:id="rId2"/>
    <p:sldMasterId id="2147483765" r:id="rId3"/>
  </p:sldMasterIdLst>
  <p:notesMasterIdLst>
    <p:notesMasterId r:id="rId188"/>
  </p:notesMasterIdLst>
  <p:handoutMasterIdLst>
    <p:handoutMasterId r:id="rId189"/>
  </p:handoutMasterIdLst>
  <p:sldIdLst>
    <p:sldId id="654" r:id="rId4"/>
    <p:sldId id="334" r:id="rId5"/>
    <p:sldId id="655" r:id="rId6"/>
    <p:sldId id="656" r:id="rId7"/>
    <p:sldId id="692" r:id="rId8"/>
    <p:sldId id="414" r:id="rId9"/>
    <p:sldId id="336" r:id="rId10"/>
    <p:sldId id="416" r:id="rId11"/>
    <p:sldId id="417" r:id="rId12"/>
    <p:sldId id="420" r:id="rId13"/>
    <p:sldId id="418" r:id="rId14"/>
    <p:sldId id="693" r:id="rId15"/>
    <p:sldId id="694" r:id="rId16"/>
    <p:sldId id="421" r:id="rId17"/>
    <p:sldId id="664" r:id="rId18"/>
    <p:sldId id="665" r:id="rId19"/>
    <p:sldId id="335" r:id="rId20"/>
    <p:sldId id="657" r:id="rId21"/>
    <p:sldId id="658" r:id="rId22"/>
    <p:sldId id="337" r:id="rId23"/>
    <p:sldId id="347" r:id="rId24"/>
    <p:sldId id="666" r:id="rId25"/>
    <p:sldId id="638" r:id="rId26"/>
    <p:sldId id="659" r:id="rId27"/>
    <p:sldId id="339" r:id="rId28"/>
    <p:sldId id="340" r:id="rId29"/>
    <p:sldId id="661" r:id="rId30"/>
    <p:sldId id="513" r:id="rId31"/>
    <p:sldId id="514" r:id="rId32"/>
    <p:sldId id="563" r:id="rId33"/>
    <p:sldId id="556" r:id="rId34"/>
    <p:sldId id="557" r:id="rId35"/>
    <p:sldId id="558" r:id="rId36"/>
    <p:sldId id="662" r:id="rId37"/>
    <p:sldId id="670" r:id="rId38"/>
    <p:sldId id="512" r:id="rId39"/>
    <p:sldId id="660" r:id="rId40"/>
    <p:sldId id="573" r:id="rId41"/>
    <p:sldId id="574" r:id="rId42"/>
    <p:sldId id="712" r:id="rId43"/>
    <p:sldId id="667" r:id="rId44"/>
    <p:sldId id="342" r:id="rId45"/>
    <p:sldId id="343" r:id="rId46"/>
    <p:sldId id="345" r:id="rId47"/>
    <p:sldId id="344" r:id="rId48"/>
    <p:sldId id="567" r:id="rId49"/>
    <p:sldId id="695" r:id="rId50"/>
    <p:sldId id="686" r:id="rId51"/>
    <p:sldId id="687" r:id="rId52"/>
    <p:sldId id="572" r:id="rId53"/>
    <p:sldId id="676" r:id="rId54"/>
    <p:sldId id="677" r:id="rId55"/>
    <p:sldId id="678" r:id="rId56"/>
    <p:sldId id="679" r:id="rId57"/>
    <p:sldId id="577" r:id="rId58"/>
    <p:sldId id="681" r:id="rId59"/>
    <p:sldId id="682" r:id="rId60"/>
    <p:sldId id="683" r:id="rId61"/>
    <p:sldId id="614" r:id="rId62"/>
    <p:sldId id="595" r:id="rId63"/>
    <p:sldId id="596" r:id="rId64"/>
    <p:sldId id="616" r:id="rId65"/>
    <p:sldId id="696" r:id="rId66"/>
    <p:sldId id="580" r:id="rId67"/>
    <p:sldId id="618" r:id="rId68"/>
    <p:sldId id="619" r:id="rId69"/>
    <p:sldId id="688" r:id="rId70"/>
    <p:sldId id="579" r:id="rId71"/>
    <p:sldId id="620" r:id="rId72"/>
    <p:sldId id="621" r:id="rId73"/>
    <p:sldId id="623" r:id="rId74"/>
    <p:sldId id="624" r:id="rId75"/>
    <p:sldId id="625" r:id="rId76"/>
    <p:sldId id="626" r:id="rId77"/>
    <p:sldId id="627" r:id="rId78"/>
    <p:sldId id="697" r:id="rId79"/>
    <p:sldId id="629" r:id="rId80"/>
    <p:sldId id="581" r:id="rId81"/>
    <p:sldId id="630" r:id="rId82"/>
    <p:sldId id="631" r:id="rId83"/>
    <p:sldId id="632" r:id="rId84"/>
    <p:sldId id="585" r:id="rId85"/>
    <p:sldId id="586" r:id="rId86"/>
    <p:sldId id="634" r:id="rId87"/>
    <p:sldId id="587" r:id="rId88"/>
    <p:sldId id="588" r:id="rId89"/>
    <p:sldId id="584" r:id="rId90"/>
    <p:sldId id="699" r:id="rId91"/>
    <p:sldId id="700" r:id="rId92"/>
    <p:sldId id="424" r:id="rId93"/>
    <p:sldId id="371" r:id="rId94"/>
    <p:sldId id="372" r:id="rId95"/>
    <p:sldId id="373" r:id="rId96"/>
    <p:sldId id="374" r:id="rId97"/>
    <p:sldId id="689" r:id="rId98"/>
    <p:sldId id="690" r:id="rId99"/>
    <p:sldId id="691" r:id="rId100"/>
    <p:sldId id="684" r:id="rId101"/>
    <p:sldId id="668" r:id="rId102"/>
    <p:sldId id="370" r:id="rId103"/>
    <p:sldId id="475" r:id="rId104"/>
    <p:sldId id="375" r:id="rId105"/>
    <p:sldId id="376" r:id="rId106"/>
    <p:sldId id="565" r:id="rId107"/>
    <p:sldId id="377" r:id="rId108"/>
    <p:sldId id="566" r:id="rId109"/>
    <p:sldId id="607" r:id="rId110"/>
    <p:sldId id="639" r:id="rId111"/>
    <p:sldId id="640" r:id="rId112"/>
    <p:sldId id="379" r:id="rId113"/>
    <p:sldId id="380" r:id="rId114"/>
    <p:sldId id="381" r:id="rId115"/>
    <p:sldId id="382" r:id="rId116"/>
    <p:sldId id="383" r:id="rId117"/>
    <p:sldId id="384" r:id="rId118"/>
    <p:sldId id="385" r:id="rId119"/>
    <p:sldId id="386" r:id="rId120"/>
    <p:sldId id="387" r:id="rId121"/>
    <p:sldId id="388" r:id="rId122"/>
    <p:sldId id="389" r:id="rId123"/>
    <p:sldId id="669" r:id="rId124"/>
    <p:sldId id="521" r:id="rId125"/>
    <p:sldId id="522" r:id="rId126"/>
    <p:sldId id="523" r:id="rId127"/>
    <p:sldId id="524" r:id="rId128"/>
    <p:sldId id="555" r:id="rId129"/>
    <p:sldId id="526" r:id="rId130"/>
    <p:sldId id="527" r:id="rId131"/>
    <p:sldId id="528" r:id="rId132"/>
    <p:sldId id="529" r:id="rId133"/>
    <p:sldId id="701" r:id="rId134"/>
    <p:sldId id="530" r:id="rId135"/>
    <p:sldId id="531" r:id="rId136"/>
    <p:sldId id="532" r:id="rId137"/>
    <p:sldId id="533" r:id="rId138"/>
    <p:sldId id="534" r:id="rId139"/>
    <p:sldId id="702" r:id="rId140"/>
    <p:sldId id="703" r:id="rId141"/>
    <p:sldId id="535" r:id="rId142"/>
    <p:sldId id="536" r:id="rId143"/>
    <p:sldId id="537" r:id="rId144"/>
    <p:sldId id="538" r:id="rId145"/>
    <p:sldId id="539" r:id="rId146"/>
    <p:sldId id="540" r:id="rId147"/>
    <p:sldId id="541" r:id="rId148"/>
    <p:sldId id="542" r:id="rId149"/>
    <p:sldId id="543" r:id="rId150"/>
    <p:sldId id="544" r:id="rId151"/>
    <p:sldId id="545" r:id="rId152"/>
    <p:sldId id="546" r:id="rId153"/>
    <p:sldId id="547" r:id="rId154"/>
    <p:sldId id="548" r:id="rId155"/>
    <p:sldId id="549" r:id="rId156"/>
    <p:sldId id="550" r:id="rId157"/>
    <p:sldId id="551" r:id="rId158"/>
    <p:sldId id="552" r:id="rId159"/>
    <p:sldId id="553" r:id="rId160"/>
    <p:sldId id="608" r:id="rId161"/>
    <p:sldId id="609" r:id="rId162"/>
    <p:sldId id="641" r:id="rId163"/>
    <p:sldId id="708" r:id="rId164"/>
    <p:sldId id="709" r:id="rId165"/>
    <p:sldId id="710" r:id="rId166"/>
    <p:sldId id="711" r:id="rId167"/>
    <p:sldId id="648" r:id="rId168"/>
    <p:sldId id="650" r:id="rId169"/>
    <p:sldId id="651" r:id="rId170"/>
    <p:sldId id="652" r:id="rId171"/>
    <p:sldId id="653" r:id="rId172"/>
    <p:sldId id="685" r:id="rId173"/>
    <p:sldId id="554" r:id="rId174"/>
    <p:sldId id="568" r:id="rId175"/>
    <p:sldId id="569" r:id="rId176"/>
    <p:sldId id="617" r:id="rId177"/>
    <p:sldId id="571" r:id="rId178"/>
    <p:sldId id="578" r:id="rId179"/>
    <p:sldId id="635" r:id="rId180"/>
    <p:sldId id="636" r:id="rId181"/>
    <p:sldId id="633" r:id="rId182"/>
    <p:sldId id="622" r:id="rId183"/>
    <p:sldId id="642" r:id="rId184"/>
    <p:sldId id="643" r:id="rId185"/>
    <p:sldId id="644" r:id="rId186"/>
    <p:sldId id="647" r:id="rId18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宋体" charset="-122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8FADD"/>
    <a:srgbClr val="E7E57F"/>
    <a:srgbClr val="FF0066"/>
    <a:srgbClr val="F9EBD3"/>
    <a:srgbClr val="DDDDDD"/>
    <a:srgbClr val="FFFFFF"/>
    <a:srgbClr val="FFFF00"/>
    <a:srgbClr val="660033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461" autoAdjust="0"/>
    <p:restoredTop sz="95958" autoAdjust="0"/>
  </p:normalViewPr>
  <p:slideViewPr>
    <p:cSldViewPr>
      <p:cViewPr>
        <p:scale>
          <a:sx n="57" d="100"/>
          <a:sy n="57" d="100"/>
        </p:scale>
        <p:origin x="272" y="1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16588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59" Type="http://schemas.openxmlformats.org/officeDocument/2006/relationships/slide" Target="slides/slide156.xml"/><Relationship Id="rId170" Type="http://schemas.openxmlformats.org/officeDocument/2006/relationships/slide" Target="slides/slide167.xml"/><Relationship Id="rId191" Type="http://schemas.openxmlformats.org/officeDocument/2006/relationships/viewProps" Target="viewProps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160" Type="http://schemas.openxmlformats.org/officeDocument/2006/relationships/slide" Target="slides/slide157.xml"/><Relationship Id="rId181" Type="http://schemas.openxmlformats.org/officeDocument/2006/relationships/slide" Target="slides/slide178.xml"/><Relationship Id="rId22" Type="http://schemas.openxmlformats.org/officeDocument/2006/relationships/slide" Target="slides/slide19.xml"/><Relationship Id="rId43" Type="http://schemas.openxmlformats.org/officeDocument/2006/relationships/slide" Target="slides/slide40.xml"/><Relationship Id="rId64" Type="http://schemas.openxmlformats.org/officeDocument/2006/relationships/slide" Target="slides/slide61.xml"/><Relationship Id="rId118" Type="http://schemas.openxmlformats.org/officeDocument/2006/relationships/slide" Target="slides/slide115.xml"/><Relationship Id="rId139" Type="http://schemas.openxmlformats.org/officeDocument/2006/relationships/slide" Target="slides/slide136.xml"/><Relationship Id="rId85" Type="http://schemas.openxmlformats.org/officeDocument/2006/relationships/slide" Target="slides/slide82.xml"/><Relationship Id="rId150" Type="http://schemas.openxmlformats.org/officeDocument/2006/relationships/slide" Target="slides/slide147.xml"/><Relationship Id="rId171" Type="http://schemas.openxmlformats.org/officeDocument/2006/relationships/slide" Target="slides/slide168.xml"/><Relationship Id="rId192" Type="http://schemas.openxmlformats.org/officeDocument/2006/relationships/theme" Target="theme/theme1.xml"/><Relationship Id="rId12" Type="http://schemas.openxmlformats.org/officeDocument/2006/relationships/slide" Target="slides/slide9.xml"/><Relationship Id="rId33" Type="http://schemas.openxmlformats.org/officeDocument/2006/relationships/slide" Target="slides/slide30.xml"/><Relationship Id="rId108" Type="http://schemas.openxmlformats.org/officeDocument/2006/relationships/slide" Target="slides/slide105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5" Type="http://schemas.openxmlformats.org/officeDocument/2006/relationships/slide" Target="slides/slide72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61" Type="http://schemas.openxmlformats.org/officeDocument/2006/relationships/slide" Target="slides/slide158.xml"/><Relationship Id="rId182" Type="http://schemas.openxmlformats.org/officeDocument/2006/relationships/slide" Target="slides/slide179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5" Type="http://schemas.openxmlformats.org/officeDocument/2006/relationships/slide" Target="slides/slide62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51" Type="http://schemas.openxmlformats.org/officeDocument/2006/relationships/slide" Target="slides/slide148.xml"/><Relationship Id="rId172" Type="http://schemas.openxmlformats.org/officeDocument/2006/relationships/slide" Target="slides/slide169.xml"/><Relationship Id="rId193" Type="http://schemas.openxmlformats.org/officeDocument/2006/relationships/tableStyles" Target="tableStyles.xml"/><Relationship Id="rId13" Type="http://schemas.openxmlformats.org/officeDocument/2006/relationships/slide" Target="slides/slide10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167" Type="http://schemas.openxmlformats.org/officeDocument/2006/relationships/slide" Target="slides/slide164.xml"/><Relationship Id="rId18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162" Type="http://schemas.openxmlformats.org/officeDocument/2006/relationships/slide" Target="slides/slide159.xml"/><Relationship Id="rId183" Type="http://schemas.openxmlformats.org/officeDocument/2006/relationships/slide" Target="slides/slide18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157" Type="http://schemas.openxmlformats.org/officeDocument/2006/relationships/slide" Target="slides/slide154.xml"/><Relationship Id="rId178" Type="http://schemas.openxmlformats.org/officeDocument/2006/relationships/slide" Target="slides/slide175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slide" Target="slides/slide149.xml"/><Relationship Id="rId173" Type="http://schemas.openxmlformats.org/officeDocument/2006/relationships/slide" Target="slides/slide170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168" Type="http://schemas.openxmlformats.org/officeDocument/2006/relationships/slide" Target="slides/slide165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163" Type="http://schemas.openxmlformats.org/officeDocument/2006/relationships/slide" Target="slides/slide160.xml"/><Relationship Id="rId184" Type="http://schemas.openxmlformats.org/officeDocument/2006/relationships/slide" Target="slides/slide181.xml"/><Relationship Id="rId18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158" Type="http://schemas.openxmlformats.org/officeDocument/2006/relationships/slide" Target="slides/slide155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slide" Target="slides/slide150.xml"/><Relationship Id="rId174" Type="http://schemas.openxmlformats.org/officeDocument/2006/relationships/slide" Target="slides/slide171.xml"/><Relationship Id="rId179" Type="http://schemas.openxmlformats.org/officeDocument/2006/relationships/slide" Target="slides/slide176.xml"/><Relationship Id="rId190" Type="http://schemas.openxmlformats.org/officeDocument/2006/relationships/presProps" Target="presProps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164" Type="http://schemas.openxmlformats.org/officeDocument/2006/relationships/slide" Target="slides/slide161.xml"/><Relationship Id="rId169" Type="http://schemas.openxmlformats.org/officeDocument/2006/relationships/slide" Target="slides/slide166.xml"/><Relationship Id="rId185" Type="http://schemas.openxmlformats.org/officeDocument/2006/relationships/slide" Target="slides/slide18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80" Type="http://schemas.openxmlformats.org/officeDocument/2006/relationships/slide" Target="slides/slide177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slide" Target="slides/slide151.xml"/><Relationship Id="rId175" Type="http://schemas.openxmlformats.org/officeDocument/2006/relationships/slide" Target="slides/slide172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Relationship Id="rId165" Type="http://schemas.openxmlformats.org/officeDocument/2006/relationships/slide" Target="slides/slide162.xml"/><Relationship Id="rId186" Type="http://schemas.openxmlformats.org/officeDocument/2006/relationships/slide" Target="slides/slide183.xml"/><Relationship Id="rId27" Type="http://schemas.openxmlformats.org/officeDocument/2006/relationships/slide" Target="slides/slide24.xml"/><Relationship Id="rId48" Type="http://schemas.openxmlformats.org/officeDocument/2006/relationships/slide" Target="slides/slide45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34" Type="http://schemas.openxmlformats.org/officeDocument/2006/relationships/slide" Target="slides/slide131.xml"/><Relationship Id="rId80" Type="http://schemas.openxmlformats.org/officeDocument/2006/relationships/slide" Target="slides/slide77.xml"/><Relationship Id="rId155" Type="http://schemas.openxmlformats.org/officeDocument/2006/relationships/slide" Target="slides/slide152.xml"/><Relationship Id="rId176" Type="http://schemas.openxmlformats.org/officeDocument/2006/relationships/slide" Target="slides/slide173.xml"/><Relationship Id="rId17" Type="http://schemas.openxmlformats.org/officeDocument/2006/relationships/slide" Target="slides/slide14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24" Type="http://schemas.openxmlformats.org/officeDocument/2006/relationships/slide" Target="slides/slide121.xml"/><Relationship Id="rId70" Type="http://schemas.openxmlformats.org/officeDocument/2006/relationships/slide" Target="slides/slide67.xml"/><Relationship Id="rId91" Type="http://schemas.openxmlformats.org/officeDocument/2006/relationships/slide" Target="slides/slide88.xml"/><Relationship Id="rId145" Type="http://schemas.openxmlformats.org/officeDocument/2006/relationships/slide" Target="slides/slide142.xml"/><Relationship Id="rId166" Type="http://schemas.openxmlformats.org/officeDocument/2006/relationships/slide" Target="slides/slide163.xml"/><Relationship Id="rId187" Type="http://schemas.openxmlformats.org/officeDocument/2006/relationships/slide" Target="slides/slide184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60" Type="http://schemas.openxmlformats.org/officeDocument/2006/relationships/slide" Target="slides/slide57.xml"/><Relationship Id="rId81" Type="http://schemas.openxmlformats.org/officeDocument/2006/relationships/slide" Target="slides/slide78.xml"/><Relationship Id="rId135" Type="http://schemas.openxmlformats.org/officeDocument/2006/relationships/slide" Target="slides/slide132.xml"/><Relationship Id="rId156" Type="http://schemas.openxmlformats.org/officeDocument/2006/relationships/slide" Target="slides/slide153.xml"/><Relationship Id="rId177" Type="http://schemas.openxmlformats.org/officeDocument/2006/relationships/slide" Target="slides/slide174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77.xml"/><Relationship Id="rId13" Type="http://schemas.openxmlformats.org/officeDocument/2006/relationships/slide" Target="slides/slide177.xml"/><Relationship Id="rId3" Type="http://schemas.openxmlformats.org/officeDocument/2006/relationships/slide" Target="slides/slide70.xml"/><Relationship Id="rId7" Type="http://schemas.openxmlformats.org/officeDocument/2006/relationships/slide" Target="slides/slide75.xml"/><Relationship Id="rId12" Type="http://schemas.openxmlformats.org/officeDocument/2006/relationships/slide" Target="slides/slide84.xml"/><Relationship Id="rId2" Type="http://schemas.openxmlformats.org/officeDocument/2006/relationships/slide" Target="slides/slide69.xml"/><Relationship Id="rId16" Type="http://schemas.openxmlformats.org/officeDocument/2006/relationships/slide" Target="slides/slide180.xml"/><Relationship Id="rId1" Type="http://schemas.openxmlformats.org/officeDocument/2006/relationships/slide" Target="slides/slide66.xml"/><Relationship Id="rId6" Type="http://schemas.openxmlformats.org/officeDocument/2006/relationships/slide" Target="slides/slide74.xml"/><Relationship Id="rId11" Type="http://schemas.openxmlformats.org/officeDocument/2006/relationships/slide" Target="slides/slide81.xml"/><Relationship Id="rId5" Type="http://schemas.openxmlformats.org/officeDocument/2006/relationships/slide" Target="slides/slide72.xml"/><Relationship Id="rId15" Type="http://schemas.openxmlformats.org/officeDocument/2006/relationships/slide" Target="slides/slide179.xml"/><Relationship Id="rId10" Type="http://schemas.openxmlformats.org/officeDocument/2006/relationships/slide" Target="slides/slide80.xml"/><Relationship Id="rId4" Type="http://schemas.openxmlformats.org/officeDocument/2006/relationships/slide" Target="slides/slide71.xml"/><Relationship Id="rId9" Type="http://schemas.openxmlformats.org/officeDocument/2006/relationships/slide" Target="slides/slide79.xml"/><Relationship Id="rId14" Type="http://schemas.openxmlformats.org/officeDocument/2006/relationships/slide" Target="slides/slide17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80000"/>
              </a:lnSpc>
              <a:spcBef>
                <a:spcPct val="50000"/>
              </a:spcBef>
              <a:defRPr sz="1200">
                <a:latin typeface="宋体" pitchFamily="2" charset="-122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6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spcBef>
                <a:spcPct val="50000"/>
              </a:spcBef>
              <a:defRPr sz="1200">
                <a:latin typeface="宋体" pitchFamily="2" charset="-122"/>
                <a:ea typeface="宋体" pitchFamily="2" charset="-122"/>
              </a:defRPr>
            </a:lvl1pPr>
          </a:lstStyle>
          <a:p>
            <a:pPr>
              <a:defRPr/>
            </a:pPr>
            <a:fld id="{012ECD50-6D17-4A65-B55B-CD805063E688}" type="datetime1">
              <a:rPr lang="zh-CN" altLang="en-US"/>
              <a:pPr>
                <a:defRPr/>
              </a:pPr>
              <a:t>2026/3/22</a:t>
            </a:fld>
            <a:endParaRPr lang="en-US" altLang="zh-CN"/>
          </a:p>
        </p:txBody>
      </p:sp>
      <p:sp>
        <p:nvSpPr>
          <p:cNvPr id="566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80000"/>
              </a:lnSpc>
              <a:spcBef>
                <a:spcPct val="50000"/>
              </a:spcBef>
              <a:defRPr sz="1200">
                <a:latin typeface="宋体" pitchFamily="2" charset="-122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6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spcBef>
                <a:spcPct val="50000"/>
              </a:spcBef>
              <a:defRPr sz="1200">
                <a:latin typeface="宋体" pitchFamily="2" charset="-122"/>
                <a:ea typeface="宋体" pitchFamily="2" charset="-122"/>
              </a:defRPr>
            </a:lvl1pPr>
          </a:lstStyle>
          <a:p>
            <a:pPr>
              <a:defRPr/>
            </a:pPr>
            <a:fld id="{B2A40566-93E9-4523-81BD-344D8F0EA6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278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A64FE43D-5388-4DFD-9330-55B1BA606F66}" type="datetime1">
              <a:rPr lang="zh-CN" altLang="en-US"/>
              <a:pPr>
                <a:defRPr/>
              </a:pPr>
              <a:t>2026/3/22</a:t>
            </a:fld>
            <a:endParaRPr lang="en-US" altLang="zh-CN"/>
          </a:p>
        </p:txBody>
      </p:sp>
      <p:sp>
        <p:nvSpPr>
          <p:cNvPr id="1228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0B31A3A6-C3AC-47B6-B153-7DB9895793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80992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6%95%B0%E6%8D%AE%E5%BA%93&amp;rsv_idx=2&amp;tn=baiduhome_pg&amp;usm=4&amp;ie=utf-8&amp;rsv_pq=91f23ffb006ea567&amp;oq=%E7%AC%9B%E5%8D%A1%E5%B0%94%E7%A7%AF&amp;rsv_t=63a4e46N3WkqzvR0CoNDdyAAklKqrOfMyJ9rVcTLxYcxHiQ6VPzGBc0B9Y1ZwoQmyvSJ&amp;sa=re_dqa_generate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6%95%B0%E6%8D%AE%E5%BA%93&amp;rsv_idx=2&amp;tn=baiduhome_pg&amp;usm=4&amp;ie=utf-8&amp;rsv_pq=91f23ffb006ea567&amp;oq=%E7%AC%9B%E5%8D%A1%E5%B0%94%E7%A7%AF&amp;rsv_t=63a4e46N3WkqzvR0CoNDdyAAklKqrOfMyJ9rVcTLxYcxHiQ6VPzGBc0B9Y1ZwoQmyvSJ&amp;sa=re_dqa_generate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6%95%B0%E6%8D%AE%E5%BA%93&amp;rsv_idx=2&amp;tn=baiduhome_pg&amp;usm=4&amp;ie=utf-8&amp;rsv_pq=91f23ffb006ea567&amp;oq=%E7%AC%9B%E5%8D%A1%E5%B0%94%E7%A7%AF&amp;rsv_t=63a4e46N3WkqzvR0CoNDdyAAklKqrOfMyJ9rVcTLxYcxHiQ6VPzGBc0B9Y1ZwoQmyvSJ&amp;sa=re_dqa_generate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6%95%B0%E6%8D%AE%E5%BA%93&amp;rsv_idx=2&amp;tn=baiduhome_pg&amp;usm=4&amp;ie=utf-8&amp;rsv_pq=91f23ffb006ea567&amp;oq=%E7%AC%9B%E5%8D%A1%E5%B0%94%E7%A7%AF&amp;rsv_t=63a4e46N3WkqzvR0CoNDdyAAklKqrOfMyJ9rVcTLxYcxHiQ6VPzGBc0B9Y1ZwoQmyvSJ&amp;sa=re_dqa_generate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wd=%E6%95%B0%E6%8D%AE%E5%BA%93&amp;rsv_idx=2&amp;tn=baiduhome_pg&amp;usm=4&amp;ie=utf-8&amp;rsv_pq=91f23ffb006ea567&amp;oq=%E7%AC%9B%E5%8D%A1%E5%B0%94%E7%A7%AF&amp;rsv_t=63a4e46N3WkqzvR0CoNDdyAAklKqrOfMyJ9rVcTLxYcxHiQ6VPzGBc0B9Y1ZwoQmyvSJ&amp;sa=re_dqa_generate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第四章  结构化查询语言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§1  SQL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概貌及特点 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§2  SQL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的数据定义  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§3  SQL 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的数据查询</a:t>
            </a:r>
            <a:endParaRPr lang="en-US" altLang="zh-CN" sz="1800" b="0" i="0" u="none" strike="noStrike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第四章  结构化查询语言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§3  SQL 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的数据查询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§4   SQL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的数据更新 </a:t>
            </a:r>
            <a:endParaRPr lang="en-US" altLang="zh-CN" sz="1800" b="0" i="0" u="none" strike="noStrike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第四章  结构化查询语言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§5  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视图操作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§6  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SQL</a:t>
            </a:r>
            <a: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的使用技术</a:t>
            </a:r>
            <a:br>
              <a:rPr lang="zh-CN" altLang="en-US" sz="1800" b="0" i="0" u="none" strike="noStrike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8702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chemeClr val="bg2"/>
                </a:solidFill>
              </a:rPr>
              <a:t>用</a:t>
            </a:r>
            <a:r>
              <a:rPr lang="zh-CN" altLang="en-US" sz="1200" b="1" dirty="0">
                <a:solidFill>
                  <a:srgbClr val="660033"/>
                </a:solidFill>
              </a:rPr>
              <a:t>二维表格</a:t>
            </a:r>
            <a:r>
              <a:rPr lang="zh-CN" altLang="en-US" sz="1200" b="1" dirty="0">
                <a:solidFill>
                  <a:schemeClr val="bg2"/>
                </a:solidFill>
              </a:rPr>
              <a:t>表示实体集；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rgbClr val="660033"/>
                </a:solidFill>
              </a:rPr>
              <a:t>外键</a:t>
            </a:r>
            <a:r>
              <a:rPr lang="zh-CN" altLang="en-US" sz="1200" b="1" dirty="0">
                <a:solidFill>
                  <a:schemeClr val="bg2"/>
                </a:solidFill>
              </a:rPr>
              <a:t>表示实体间联系的模型称为关系模型； 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rgbClr val="660033"/>
                </a:solidFill>
              </a:rPr>
              <a:t>关系：</a:t>
            </a:r>
            <a:r>
              <a:rPr lang="zh-CN" altLang="en-US" sz="1200" b="1" dirty="0">
                <a:solidFill>
                  <a:schemeClr val="bg2"/>
                </a:solidFill>
              </a:rPr>
              <a:t>对应二维表格； 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rgbClr val="660033"/>
                </a:solidFill>
              </a:rPr>
              <a:t>元组：</a:t>
            </a:r>
            <a:r>
              <a:rPr lang="zh-CN" altLang="en-US" sz="1200" b="1" dirty="0">
                <a:solidFill>
                  <a:schemeClr val="bg2"/>
                </a:solidFill>
              </a:rPr>
              <a:t>表中的行；    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rgbClr val="660033"/>
                </a:solidFill>
              </a:rPr>
              <a:t>属性：</a:t>
            </a:r>
            <a:r>
              <a:rPr lang="zh-CN" altLang="en-US" sz="1200" b="1" dirty="0">
                <a:solidFill>
                  <a:schemeClr val="bg2"/>
                </a:solidFill>
              </a:rPr>
              <a:t>表中的列；</a:t>
            </a:r>
          </a:p>
          <a:p>
            <a:pPr>
              <a:lnSpc>
                <a:spcPct val="120000"/>
              </a:lnSpc>
            </a:pPr>
            <a:r>
              <a:rPr lang="zh-CN" altLang="en-US" sz="1200" b="1" dirty="0">
                <a:solidFill>
                  <a:srgbClr val="660033"/>
                </a:solidFill>
              </a:rPr>
              <a:t>域：</a:t>
            </a:r>
            <a:r>
              <a:rPr lang="zh-CN" altLang="en-US" sz="1200" b="1" dirty="0">
                <a:solidFill>
                  <a:schemeClr val="bg2"/>
                </a:solidFill>
              </a:rPr>
              <a:t>属性的取值范围。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26A61A-A51F-4590-9E1E-5938672F811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7055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9F48AB-67BE-4F15-AB57-3E99E1F88797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在数学中，笛卡尔积是一个重要的概念，用于描述两个集合的所有可能有序对。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在‌</a:t>
            </a:r>
            <a:r>
              <a:rPr lang="zh-CN" altLang="en-US" b="0" i="0" u="none" strike="noStrike" dirty="0">
                <a:effectLst/>
                <a:latin typeface="-apple-system"/>
                <a:hlinkClick r:id="rId3"/>
              </a:rPr>
              <a:t>数据库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中，笛卡尔积通常用于生成两个表的所有可能记录组合。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10400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9F48AB-67BE-4F15-AB57-3E99E1F88797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在数学中，笛卡尔积是一个重要的概念，用于描述两个集合的所有可能有序对。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在‌</a:t>
            </a:r>
            <a:r>
              <a:rPr lang="zh-CN" altLang="en-US" b="0" i="0" u="none" strike="noStrike" dirty="0">
                <a:effectLst/>
                <a:latin typeface="-apple-system"/>
                <a:hlinkClick r:id="rId3"/>
              </a:rPr>
              <a:t>数据库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中，笛卡尔积通常用于生成两个表的所有可能记录组合。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635476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9F48AB-67BE-4F15-AB57-3E99E1F88797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在数学中，笛卡尔积是一个重要的概念，用于描述两个集合的所有可能有序对。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在‌</a:t>
            </a:r>
            <a:r>
              <a:rPr lang="zh-CN" altLang="en-US" b="0" i="0" u="none" strike="noStrike" dirty="0">
                <a:effectLst/>
                <a:latin typeface="-apple-system"/>
                <a:hlinkClick r:id="rId3"/>
              </a:rPr>
              <a:t>数据库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中，笛卡尔积通常用于生成两个表的所有可能记录组合。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516107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9F48AB-67BE-4F15-AB57-3E99E1F88797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在数学中，笛卡尔积是一个重要的概念，用于描述两个集合的所有可能有序对。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在‌</a:t>
            </a:r>
            <a:r>
              <a:rPr lang="zh-CN" altLang="en-US" b="0" i="0" u="none" strike="noStrike" dirty="0">
                <a:effectLst/>
                <a:latin typeface="-apple-system"/>
                <a:hlinkClick r:id="rId3"/>
              </a:rPr>
              <a:t>数据库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中，笛卡尔积通常用于生成两个表的所有可能记录组合。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166661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9F48AB-67BE-4F15-AB57-3E99E1F88797}" type="slidenum"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在数学中，笛卡尔积是一个重要的概念，用于描述两个集合的所有可能有序对。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在‌</a:t>
            </a:r>
            <a:r>
              <a:rPr lang="zh-CN" altLang="en-US" b="0" i="0" u="none" strike="noStrike" dirty="0">
                <a:effectLst/>
                <a:latin typeface="-apple-system"/>
                <a:hlinkClick r:id="rId3"/>
              </a:rPr>
              <a:t>数据库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中，笛卡尔积通常用于生成两个表的所有可能记录组合。</a:t>
            </a:r>
            <a:endParaRPr lang="en-US" altLang="zh-CN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822669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26A61A-A51F-4590-9E1E-5938672F811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849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3.2 </a:t>
            </a:r>
            <a:r>
              <a:rPr kumimoji="1" lang="zh-CN" altLang="en-US" dirty="0"/>
              <a:t>为什么关系中的元组没有先后顺序？ </a:t>
            </a:r>
            <a:endParaRPr kumimoji="1" lang="en-US" altLang="zh-CN" dirty="0"/>
          </a:p>
          <a:p>
            <a:r>
              <a:rPr kumimoji="1" lang="zh-CN" altLang="en-US" dirty="0"/>
              <a:t>答：由于关系定义为元组的集合，而集合中的元素是没有顺序的，因此关系中的元组也就没有先后的顺序（对用户而言）。这样既能减少逻辑排序，又便于在关系数据库中引进集合论的理论。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3.3 </a:t>
            </a:r>
            <a:r>
              <a:rPr kumimoji="1" lang="zh-CN" altLang="en-US" dirty="0"/>
              <a:t>为什么关系中不允许有重复元组？</a:t>
            </a:r>
          </a:p>
          <a:p>
            <a:r>
              <a:rPr kumimoji="1" lang="zh-CN" altLang="en-US" dirty="0"/>
              <a:t>答：每个关系模式都有一个主键，在关系中主键值是不允许重复的。如果关系中有重复元组，那么 其主键值肯定相等，起不了惟一标识作用，因此关系中不允许有重复元组。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3.4 </a:t>
            </a:r>
            <a:r>
              <a:rPr kumimoji="1" lang="zh-CN" altLang="en-US" dirty="0"/>
              <a:t>关系与普通表格、文件有什么区别？</a:t>
            </a:r>
          </a:p>
          <a:p>
            <a:r>
              <a:rPr kumimoji="1" lang="zh-CN" altLang="en-US" dirty="0"/>
              <a:t>答：关系与表格、文件相比，有下列 </a:t>
            </a:r>
            <a:r>
              <a:rPr kumimoji="1" lang="en-US" altLang="zh-CN" dirty="0"/>
              <a:t>4 </a:t>
            </a:r>
            <a:r>
              <a:rPr kumimoji="1" lang="zh-CN" altLang="en-US" dirty="0"/>
              <a:t>个不同点： 属性值不可分解、没有重复的元组、没有行序、使用时有列序。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461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26A61A-A51F-4590-9E1E-5938672F8115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pPr marL="0" marR="0" lvl="0" indent="0" algn="r" defTabSz="94615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7947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0" hangingPunct="0">
              <a:lnSpc>
                <a:spcPct val="14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在</a:t>
            </a:r>
            <a:r>
              <a:rPr lang="en-US" altLang="zh-CN" sz="1200" b="1" dirty="0">
                <a:solidFill>
                  <a:schemeClr val="bg2"/>
                </a:solidFill>
                <a:latin typeface="Times New Roman" pitchFamily="18" charset="0"/>
              </a:rPr>
              <a:t>SQL </a:t>
            </a: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中</a:t>
            </a:r>
            <a:r>
              <a:rPr lang="en-US" altLang="zh-CN" sz="1200" b="1" dirty="0">
                <a:solidFill>
                  <a:schemeClr val="bg2"/>
                </a:solidFill>
                <a:latin typeface="Times New Roman" pitchFamily="18" charset="0"/>
              </a:rPr>
              <a:t>:     </a:t>
            </a: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外模式对应于视图，</a:t>
            </a:r>
          </a:p>
          <a:p>
            <a:pPr algn="just" eaLnBrk="0" hangingPunct="0">
              <a:lnSpc>
                <a:spcPct val="14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                       模式对应于基本表， </a:t>
            </a:r>
          </a:p>
          <a:p>
            <a:pPr algn="just" eaLnBrk="0" hangingPunct="0">
              <a:lnSpc>
                <a:spcPct val="14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                       元组称为“行”，</a:t>
            </a:r>
          </a:p>
          <a:p>
            <a:pPr algn="just" eaLnBrk="0" hangingPunct="0">
              <a:lnSpc>
                <a:spcPct val="14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                       属性称为“列”，</a:t>
            </a:r>
          </a:p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  <a:latin typeface="Times New Roman" pitchFamily="18" charset="0"/>
              </a:rPr>
              <a:t>                       内模式对应于存储文件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7547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841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0" hangingPunct="0">
              <a:lnSpc>
                <a:spcPct val="16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</a:rPr>
              <a:t>数据定义；</a:t>
            </a:r>
            <a:endParaRPr lang="zh-CN" altLang="en-US" sz="1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6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</a:rPr>
              <a:t>                    数据操纵；</a:t>
            </a:r>
          </a:p>
          <a:p>
            <a:pPr algn="just" eaLnBrk="0" hangingPunct="0">
              <a:lnSpc>
                <a:spcPct val="16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</a:rPr>
              <a:t>                    数据控制；</a:t>
            </a:r>
          </a:p>
          <a:p>
            <a:pPr algn="just" eaLnBrk="0" hangingPunct="0">
              <a:lnSpc>
                <a:spcPct val="16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1200" b="1" dirty="0">
                <a:solidFill>
                  <a:schemeClr val="bg2"/>
                </a:solidFill>
              </a:rPr>
              <a:t>                    嵌入式</a:t>
            </a:r>
            <a:r>
              <a:rPr lang="en-US" altLang="zh-CN" sz="1200" b="1" dirty="0">
                <a:solidFill>
                  <a:schemeClr val="bg2"/>
                </a:solidFill>
              </a:rPr>
              <a:t>SQL</a:t>
            </a:r>
            <a:r>
              <a:rPr lang="zh-CN" altLang="en-US" sz="1200" b="1" dirty="0">
                <a:solidFill>
                  <a:schemeClr val="bg2"/>
                </a:solidFill>
              </a:rPr>
              <a:t>的使用。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0020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2"/>
                </a:solidFill>
              </a:rPr>
              <a:t>例：创建工程数据库</a:t>
            </a:r>
            <a:r>
              <a:rPr lang="en-US" altLang="zh-CN" sz="1200" b="1" dirty="0">
                <a:solidFill>
                  <a:schemeClr val="bg2"/>
                </a:solidFill>
              </a:rPr>
              <a:t>PROJECT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chemeClr val="bg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solidFill>
                <a:schemeClr val="bg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sqlite3 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POROJECT.db</a:t>
            </a:r>
            <a:endParaRPr lang="en-US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2889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>
                <a:solidFill>
                  <a:schemeClr val="bg2"/>
                </a:solidFill>
              </a:rPr>
              <a:t>撤消工程数据库</a:t>
            </a:r>
            <a:r>
              <a:rPr lang="en-US" altLang="zh-CN" sz="1200" b="1" dirty="0">
                <a:solidFill>
                  <a:schemeClr val="bg2"/>
                </a:solidFill>
              </a:rPr>
              <a:t>PROJECT</a:t>
            </a:r>
          </a:p>
          <a:p>
            <a:endParaRPr kumimoji="1" lang="en-US" altLang="zh-CN" sz="1200" b="1" dirty="0">
              <a:solidFill>
                <a:schemeClr val="bg2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sqlite</a:t>
            </a: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.output 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sql_result.json</a:t>
            </a:r>
            <a:endParaRPr lang="en-US" altLang="zh-CN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sqlite</a:t>
            </a: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.excel</a:t>
            </a:r>
          </a:p>
          <a:p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sqlite</a:t>
            </a: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 select * from 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sqlite_schema</a:t>
            </a: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altLang="zh-CN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sqlite</a:t>
            </a: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 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11406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1200" b="1" dirty="0">
                <a:solidFill>
                  <a:schemeClr val="bg2"/>
                </a:solidFill>
              </a:rPr>
              <a:t>CREATE TABLE S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1200" b="1" dirty="0">
                <a:solidFill>
                  <a:schemeClr val="bg2"/>
                </a:solidFill>
              </a:rPr>
              <a:t>(SNO CHAR(1)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1200" b="1" dirty="0">
                <a:solidFill>
                  <a:schemeClr val="bg2"/>
                </a:solidFill>
              </a:rPr>
              <a:t> SNAME CHAR(20)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1200" b="1" dirty="0">
                <a:solidFill>
                  <a:schemeClr val="bg2"/>
                </a:solidFill>
              </a:rPr>
              <a:t> SADDR CHAR(20),</a:t>
            </a:r>
            <a:endParaRPr lang="zh-CN" altLang="en-US" sz="1200" b="1" dirty="0">
              <a:solidFill>
                <a:schemeClr val="bg2"/>
              </a:solidFill>
            </a:endParaRP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1200" b="1" dirty="0">
                <a:solidFill>
                  <a:schemeClr val="bg2"/>
                </a:solidFill>
              </a:rPr>
              <a:t> </a:t>
            </a:r>
            <a:r>
              <a:rPr lang="en-US" altLang="zh-CN" sz="1200" b="1" dirty="0">
                <a:solidFill>
                  <a:schemeClr val="bg2"/>
                </a:solidFill>
              </a:rPr>
              <a:t>PRIMARY KEY(SNO));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3363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86303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336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6720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sz="1200" b="1" dirty="0">
                <a:solidFill>
                  <a:srgbClr val="660033"/>
                </a:solidFill>
              </a:rPr>
              <a:t>ALTER TABLE SPJ ADD CONSTRAINT SC_GRADE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>
                <a:solidFill>
                  <a:srgbClr val="660033"/>
                </a:solidFill>
              </a:rPr>
              <a:t>                        CHECK(GRADE BETWEEN 0 AND 100) 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040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4086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41286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60357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01725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SELECT SNO,SNAME,SEX                   </a:t>
            </a: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FROM S</a:t>
            </a:r>
          </a:p>
          <a:p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WHERE SNAME LIKE '</a:t>
            </a:r>
            <a:r>
              <a:rPr lang="zh-CN" alt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刘</a:t>
            </a:r>
            <a:r>
              <a:rPr lang="en-US" altLang="zh-CN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%';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0502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zh-CN" altLang="en-US" sz="1200" b="1">
                <a:solidFill>
                  <a:srgbClr val="660033"/>
                </a:solidFill>
                <a:latin typeface="宋体" panose="02010600030101010101" pitchFamily="2" charset="-122"/>
              </a:rPr>
              <a:t>李</a:t>
            </a:r>
            <a:r>
              <a:rPr lang="en-US" altLang="zh-CN" sz="1200" b="1">
                <a:solidFill>
                  <a:srgbClr val="660033"/>
                </a:solidFill>
                <a:latin typeface="宋体" panose="02010600030101010101" pitchFamily="2" charset="-122"/>
              </a:rPr>
              <a:t>%</a:t>
            </a:r>
            <a:r>
              <a:rPr lang="en-US" altLang="zh-CN" sz="1200" b="1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96410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S1 </a:t>
            </a:r>
            <a:r>
              <a:rPr kumimoji="1" lang="zh-CN" altLang="en-US" dirty="0"/>
              <a:t>程宏，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 </a:t>
            </a:r>
            <a:r>
              <a:rPr kumimoji="1" lang="zh-CN" altLang="en-US" dirty="0"/>
              <a:t>程宏，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S3</a:t>
            </a:r>
            <a:r>
              <a:rPr kumimoji="1" lang="zh-CN" altLang="en-US" dirty="0"/>
              <a:t>，刘莎莎，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S4</a:t>
            </a:r>
            <a:r>
              <a:rPr kumimoji="1" lang="zh-CN" altLang="en-US" dirty="0"/>
              <a:t>，李刚奇，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S5</a:t>
            </a:r>
            <a:r>
              <a:rPr kumimoji="1" lang="zh-CN" altLang="en-US" dirty="0"/>
              <a:t>，李小刚，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C2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S6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……C1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S7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C4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S9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  <a:r>
              <a:rPr kumimoji="1" lang="zh-CN" altLang="en-US" dirty="0"/>
              <a:t>，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S8,……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S10,……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S11,……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S12,……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S13,……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S14</a:t>
            </a:r>
            <a:r>
              <a:rPr kumimoji="1" lang="zh-CN" altLang="en-US" dirty="0"/>
              <a:t>，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S15,……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null</a:t>
            </a:r>
            <a:endParaRPr kumimoji="1"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52069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S5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C3--》</a:t>
            </a:r>
            <a:r>
              <a:rPr kumimoji="1" lang="zh-CN" altLang="en-US" dirty="0"/>
              <a:t>程宏</a:t>
            </a:r>
            <a:endParaRPr kumimoji="1" lang="en-US" altLang="zh-CN" dirty="0"/>
          </a:p>
          <a:p>
            <a:r>
              <a:rPr kumimoji="1" lang="en-US" altLang="zh-CN" dirty="0"/>
              <a:t>S2</a:t>
            </a:r>
            <a:r>
              <a:rPr kumimoji="1" lang="zh-CN" altLang="en-US" dirty="0"/>
              <a:t>，无</a:t>
            </a:r>
            <a:endParaRPr kumimoji="1" lang="en-US" altLang="zh-CN" dirty="0"/>
          </a:p>
          <a:p>
            <a:r>
              <a:rPr kumimoji="1" lang="en-US" altLang="zh-CN" dirty="0"/>
              <a:t>S3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</a:p>
          <a:p>
            <a:r>
              <a:rPr kumimoji="1" lang="en-US" altLang="zh-CN" dirty="0"/>
              <a:t>S4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</a:p>
          <a:p>
            <a:r>
              <a:rPr kumimoji="1" lang="en-US" altLang="zh-CN" dirty="0"/>
              <a:t>S5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C2--〉</a:t>
            </a:r>
            <a:r>
              <a:rPr kumimoji="1" lang="zh-CN" altLang="en-US" dirty="0"/>
              <a:t>李小刚</a:t>
            </a:r>
            <a:endParaRPr kumimoji="1" lang="en-US" altLang="zh-CN" dirty="0"/>
          </a:p>
          <a:p>
            <a:r>
              <a:rPr kumimoji="1" lang="en-US" altLang="zh-CN" dirty="0"/>
              <a:t>S6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c1</a:t>
            </a:r>
          </a:p>
          <a:p>
            <a:r>
              <a:rPr kumimoji="1" lang="en-US" altLang="zh-CN" dirty="0"/>
              <a:t>S7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c4</a:t>
            </a:r>
          </a:p>
          <a:p>
            <a:r>
              <a:rPr kumimoji="1" lang="en-US" altLang="zh-CN" dirty="0"/>
              <a:t>S8</a:t>
            </a:r>
            <a:r>
              <a:rPr kumimoji="1" lang="zh-CN" altLang="en-US" dirty="0"/>
              <a:t>，无</a:t>
            </a:r>
            <a:endParaRPr kumimoji="1" lang="en-US" altLang="zh-CN" dirty="0"/>
          </a:p>
          <a:p>
            <a:r>
              <a:rPr kumimoji="1" lang="en-US" altLang="zh-CN" dirty="0"/>
              <a:t>S9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c3</a:t>
            </a:r>
          </a:p>
          <a:p>
            <a:r>
              <a:rPr kumimoji="1" lang="en-US" altLang="zh-CN" dirty="0"/>
              <a:t>--------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T</a:t>
            </a:r>
            <a:r>
              <a:rPr kumimoji="1" lang="zh-CN" altLang="en-US" dirty="0"/>
              <a:t>，程宏</a:t>
            </a:r>
            <a:endParaRPr kumimoji="1" lang="en-US" altLang="zh-CN" dirty="0"/>
          </a:p>
          <a:p>
            <a:r>
              <a:rPr kumimoji="1" lang="en-US" altLang="zh-CN" dirty="0"/>
              <a:t>S2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</a:t>
            </a:r>
          </a:p>
          <a:p>
            <a:r>
              <a:rPr kumimoji="1" lang="en-US" altLang="zh-CN" dirty="0"/>
              <a:t>S3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</a:t>
            </a:r>
          </a:p>
          <a:p>
            <a:r>
              <a:rPr kumimoji="1" lang="en-US" altLang="zh-CN" dirty="0"/>
              <a:t>S4</a:t>
            </a:r>
            <a:r>
              <a:rPr kumimoji="1" lang="zh-CN" altLang="en-US" dirty="0"/>
              <a:t>，</a:t>
            </a:r>
            <a:r>
              <a:rPr kumimoji="1" lang="en-US" altLang="zh-CN" dirty="0"/>
              <a:t>F</a:t>
            </a:r>
          </a:p>
          <a:p>
            <a:r>
              <a:rPr kumimoji="1" lang="en-US" altLang="zh-CN" dirty="0"/>
              <a:t>S5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C2</a:t>
            </a:r>
            <a:r>
              <a:rPr kumimoji="1" lang="zh-CN" altLang="en-US" dirty="0"/>
              <a:t>，</a:t>
            </a:r>
            <a:r>
              <a:rPr kumimoji="1" lang="en-US" altLang="zh-CN" dirty="0"/>
              <a:t>T</a:t>
            </a:r>
            <a:r>
              <a:rPr kumimoji="1" lang="zh-CN" altLang="en-US" dirty="0"/>
              <a:t>，李小刚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65741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在数据库查询中，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和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NOT EXISTS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是两个常用的全称量词。它们用于测试子查询中是否存在记录。</a:t>
            </a:r>
          </a:p>
          <a:p>
            <a:pPr algn="l"/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：如果子查询至少返回一行，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将返回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TRUE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/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NOT EXISTS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：如果子查询不返回任何行，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NOT EXISTS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将返回</a:t>
            </a:r>
            <a:r>
              <a:rPr lang="en-US" altLang="zh-CN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TRUE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60263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S6 C1</a:t>
            </a: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>
                <a:sym typeface="Wingdings" pitchFamily="2" charset="2"/>
              </a:rPr>
              <a:t>陈爱国</a:t>
            </a:r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endParaRPr kumimoji="1" lang="en-US" altLang="zh-CN" dirty="0">
              <a:sym typeface="Wingdings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2"/>
                </a:solidFill>
              </a:rPr>
              <a:t>相关子查询：子查询的查询条件依赖于父查询</a:t>
            </a: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56740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Select </a:t>
            </a:r>
            <a:r>
              <a:rPr kumimoji="1" lang="en-US" altLang="zh-CN" dirty="0" err="1"/>
              <a:t>sname,age</a:t>
            </a:r>
            <a:endParaRPr kumimoji="1" lang="en-US" altLang="zh-CN" dirty="0"/>
          </a:p>
          <a:p>
            <a:r>
              <a:rPr kumimoji="1" lang="en-US" altLang="zh-CN" dirty="0"/>
              <a:t>Form s</a:t>
            </a:r>
          </a:p>
          <a:p>
            <a:r>
              <a:rPr kumimoji="1" lang="en-US" altLang="zh-CN" dirty="0"/>
              <a:t> where not exists</a:t>
            </a:r>
          </a:p>
          <a:p>
            <a:r>
              <a:rPr kumimoji="1" lang="en-US" altLang="zh-CN" dirty="0"/>
              <a:t>      ( select * from SC</a:t>
            </a:r>
          </a:p>
          <a:p>
            <a:r>
              <a:rPr kumimoji="1" lang="en-US" altLang="zh-CN" dirty="0"/>
              <a:t>        where  </a:t>
            </a:r>
            <a:r>
              <a:rPr kumimoji="1" lang="en-US" altLang="zh-CN" dirty="0" err="1"/>
              <a:t>sc.sno</a:t>
            </a:r>
            <a:r>
              <a:rPr kumimoji="1" lang="en-US" altLang="zh-CN" dirty="0"/>
              <a:t>=</a:t>
            </a:r>
            <a:r>
              <a:rPr kumimoji="1" lang="en-US" altLang="zh-CN" dirty="0" err="1"/>
              <a:t>s.sno</a:t>
            </a:r>
            <a:r>
              <a:rPr kumimoji="1" lang="en-US" altLang="zh-CN" dirty="0"/>
              <a:t>  and </a:t>
            </a:r>
            <a:r>
              <a:rPr kumimoji="1" lang="en-US" altLang="zh-CN" dirty="0" err="1"/>
              <a:t>sc.cno</a:t>
            </a:r>
            <a:r>
              <a:rPr kumimoji="1" lang="en-US" altLang="zh-CN" dirty="0"/>
              <a:t>=‘C2’);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0164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SELECT SNAME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 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     WHERE </a:t>
            </a:r>
            <a:r>
              <a:rPr lang="en-US" altLang="zh-CN" sz="1200" b="1" dirty="0">
                <a:solidFill>
                  <a:srgbClr val="FF0000"/>
                </a:solidFill>
              </a:rPr>
              <a:t>NOT</a:t>
            </a:r>
            <a:r>
              <a:rPr lang="en-US" altLang="zh-CN" sz="1200" b="1" dirty="0">
                <a:solidFill>
                  <a:schemeClr val="bg2"/>
                </a:solidFill>
              </a:rPr>
              <a:t> EXISTS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            (SELECT *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             FROM SC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            	WHERE SNO = S.SNO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1200" b="1" dirty="0">
                <a:solidFill>
                  <a:schemeClr val="bg2"/>
                </a:solidFill>
              </a:rPr>
              <a:t>                    AND CNO= </a:t>
            </a:r>
            <a:r>
              <a:rPr lang="en-US" altLang="zh-CN" sz="1200" b="1" dirty="0">
                <a:solidFill>
                  <a:schemeClr val="bg1"/>
                </a:solidFill>
              </a:rPr>
              <a:t>'</a:t>
            </a:r>
            <a:r>
              <a:rPr lang="en-US" altLang="zh-CN" sz="1200" b="1" dirty="0">
                <a:solidFill>
                  <a:schemeClr val="bg2"/>
                </a:solidFill>
              </a:rPr>
              <a:t>C1</a:t>
            </a:r>
            <a:r>
              <a:rPr lang="en-US" altLang="zh-CN" sz="1200" b="1" dirty="0">
                <a:solidFill>
                  <a:schemeClr val="bg1"/>
                </a:solidFill>
              </a:rPr>
              <a:t>'</a:t>
            </a:r>
            <a:r>
              <a:rPr lang="en-US" altLang="zh-CN" sz="1200" b="1" dirty="0">
                <a:solidFill>
                  <a:schemeClr val="bg2"/>
                </a:solidFill>
              </a:rPr>
              <a:t>);</a:t>
            </a:r>
            <a:endParaRPr lang="zh-CN" altLang="en-US" sz="1200" b="1" dirty="0">
              <a:solidFill>
                <a:schemeClr val="bg2"/>
              </a:solidFill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47497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拿出一个学生，对于任何一个课程，查看该学生是否选修了。如果未选修，返回该课程。如果选修了，则看下一个课程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……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最终，如果返回的所有课程为空的话，说明该学生选修了所有的课程。此时，输出该学生</a:t>
            </a:r>
            <a:endParaRPr lang="en-US" altLang="zh-CN" sz="2800" b="1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latinLnBrk="1"/>
            <a:endParaRPr lang="en-US" altLang="zh-CN" sz="2800" b="1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latinLnBrk="1"/>
            <a:endParaRPr lang="en-US" altLang="zh-CN" sz="2800" b="1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latinLnBrk="1"/>
            <a:endParaRPr lang="en-US" altLang="zh-CN" sz="2800" b="1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latinLnBrk="1"/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EXISTS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谓词</a:t>
            </a:r>
          </a:p>
          <a:p>
            <a:pPr algn="l"/>
            <a:endParaRPr lang="en-US" altLang="zh-CN" sz="2800" b="0" i="0" u="none" strike="noStrike" dirty="0">
              <a:solidFill>
                <a:srgbClr val="8590A6"/>
              </a:solidFill>
              <a:effectLst/>
              <a:latin typeface="-apple-system"/>
            </a:endParaRP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为了实现谓词逻辑中 量化（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quantification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），这一功能而被引入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。谓词是一种特殊的函数，返回值是真值。每个谓词，返回值都是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true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false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或者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unknown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理论篇</a:t>
            </a:r>
          </a:p>
          <a:p>
            <a:pPr algn="l" latinLnBrk="1"/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的输入</a:t>
            </a:r>
            <a:endParaRPr lang="zh-CN" altLang="en-US" sz="2800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的子查询里，</a:t>
            </a:r>
            <a:b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子句的列表可以有下面这三种写法。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通配符：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*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常量：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‘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这里的内容任意’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列名：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col</a:t>
            </a:r>
          </a:p>
          <a:p>
            <a:pPr algn="l" latinLnBrk="1"/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的阶</a:t>
            </a:r>
            <a:endParaRPr lang="zh-CN" altLang="en-US" sz="2800" b="0" i="0" u="none" strike="noStrike" dirty="0">
              <a:solidFill>
                <a:srgbClr val="333333"/>
              </a:solidFill>
              <a:effectLst/>
              <a:latin typeface="-apple-system"/>
            </a:endParaRP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=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或者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BETWEEEN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等输入值为一行的谓词叫作“一阶谓词”。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这样输入值为行的集合的谓词叫作“二阶谓词”。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中的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谓词实现了谓词逻辑中的存在量词。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中，为了表达全称量化，需要将“所有的行都满足条件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P”</a:t>
            </a:r>
            <a:b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这样的命题转换成“不存在不满足条件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P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的行”。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实践篇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查询表中“不”存在的数据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目标：查询没有参加某次会议的人。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meeting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　　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person ---------- --------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第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次 　　　 宫田 第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2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次 　　　 坂东 第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2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次 　　　 水岛 第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3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次 　　　 伊藤 思路：先假设所有人都参加了全部会议，并以此生成一个集合，然后从中减去实际参加会议的人。就能得到缺席会议的人。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将这个表减去上表，就能得到结果。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解法一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求出缺席者的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语句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(1)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：存在量化的应用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DISTINCT M1.meeting, M2.person FROM Meetings M1 CROSS JOIN Meetings M2 WHERE NOT EXISTS (SELECT * FROM Meetings M3 WHERE M1.meeting = M3.meeting AND M2.person = M3.person); 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A NOT EXISTS B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的含义是减法：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A-B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解法二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----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求出缺席者的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语句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(2)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：使用差集运算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M1.meeting, M2.person FROM Meetings M1, Meetings M2 EXCEPT SELECT meeting, person FROM Meetings; MSYQL 5.7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不支持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EXCEPT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全称量化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(1)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：“肯定⇔ 双重否定”之间的转换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目标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：查询出“所有科目分数都在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50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分以上的学生”。答案是学号分别为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100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200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、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400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DISTINCT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student_id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TestScores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TS1 WHERE NOT EXISTS (SELECT * FROM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TestScores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TS2 WHERE TS2.student_id = TS1.student_id AND TS2.score &lt; 50); 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分数不满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50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分的科目 全集（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100,200,300,400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）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-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（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300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）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=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（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100,200,400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）。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目标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2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：如何查询出满足下列条件的学生。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数学的分数在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80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分以上。</a:t>
            </a:r>
          </a:p>
          <a:p>
            <a:pPr algn="l" latinLnBrk="1">
              <a:buFont typeface="+mj-lt"/>
              <a:buAutoNum type="arabicPeriod"/>
            </a:pP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语文的分数在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50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分以上。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student_id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TestScores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TS1 WHERE subject IN ('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数学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',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语文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') AND NOT EXISTS (SELECT * FROM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TestScores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TS2 WHERE TS2.student_id = TS1.student_id AND 1 = CASE WHEN subject =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数学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AND score &lt; 80 THEN 1 WHEN subject =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语文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AND score &lt; 50 THEN 1 ELSE 0 END) GROUP BY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student_id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HAVING COUNT(*) = 2; 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必须两门科目都有分数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student_id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---------- 100 200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全称量化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(2)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：集合 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VS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谓词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目标：从这张表查询出哪些项目已经完成到了工程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。（即工程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和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已完成，工程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2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开始等待）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解法一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project_id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Projects GROUP BY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project_id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HAVING COUNT(*) = SUM(CASE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step_nbr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&lt;= 1 AND status =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完成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THEN 1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step_nbr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&gt; 1 AND status =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等待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THEN 1 ELSE 0 END);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project_id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----------- CS300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解法二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* FROM Projects P1 WHERE NOT EXISTS (SELECT status FROM Projects P2 WHERE P1.project_id = P2.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project_id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以项目为单位进行条件判断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AND status &lt;&gt; CASE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step_nbr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&lt;= 1 --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使用双重否定来表达全称量化命题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THEN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完成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ELSE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等待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END); NOT EXISTS 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和 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&lt;&gt; 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形成双重否定。</a:t>
            </a:r>
          </a:p>
          <a:p>
            <a:pPr algn="l" latinLnBrk="1"/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project_id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step_nbr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status ----------- -------- ------ CS300 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完成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CS300 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完成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CS300 2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等待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CS300 3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等待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对列进行量化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查询“至少有一个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9”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* FROM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ArrayTbl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WHERE 9 = ANY (col1, col2, col3, col4, col5, col6, col7, col8, col9, col10);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查询全是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NULL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* FROM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ArrayTbl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WHERE COALESCE(col1, col2, col3, col4, col5, col6, col7, col8, col9, col10) IS NULL;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小结</a:t>
            </a:r>
          </a:p>
          <a:p>
            <a:pPr algn="l" latinLnBrk="1">
              <a:buFont typeface="+mj-lt"/>
              <a:buAutoNum type="arabicPeriod"/>
            </a:pP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中的谓词指的是返回真值的函数。</a:t>
            </a:r>
          </a:p>
          <a:p>
            <a:pPr algn="l" latinLnBrk="1">
              <a:buFont typeface="+mj-lt"/>
              <a:buAutoNum type="arabicPeriod"/>
            </a:pP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与其他谓词不同，接受的参数是集合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>
              <a:buFont typeface="+mj-lt"/>
              <a:buAutoNum type="arabicPeriod"/>
            </a:pP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EXISTS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可以看成是一种高阶函数。</a:t>
            </a:r>
          </a:p>
          <a:p>
            <a:pPr algn="l" latinLnBrk="1">
              <a:buFont typeface="+mj-lt"/>
              <a:buAutoNum type="arabicPeriod"/>
            </a:pP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中没有与全称量词相当的谓词，可以使用 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NOT EXISTS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代替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ALL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是全称谓词。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练习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问题 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1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key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全都是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NULL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，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key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为</a:t>
            </a:r>
            <a:b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</a:b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B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的行中只有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i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=1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3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，其他的都是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NULL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，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key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C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全部都是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目标：从这张表中选出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全是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key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。即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C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解法一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ArrayTbl2 A1 where A1.val=1 GROUP BY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HAVING COUNT(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)=(SELECT count(A2.val) FROM ArrayTbl2 A2 where A2.val=1 and A1.pkey=A2.pkey);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从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A2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临时表中选出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全为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的行，计算行数，令它和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表中的行数相等，同时显示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表的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解法二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: NOT EXISTS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关键字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DISTINCT key FROM ArrayTbl2 A1 WHERE NOT EXISTS (SELECT * FROM ArrayTbl2 A2 WHERE A1.key = A2.key AND (A2.val &lt;&gt; 1 OR A2.val IS NULL)); A2.val &lt;&gt; 1 OR A2.val IS NULL 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的否定，就可以得到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全为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的行。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解法三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: ALL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关键字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DISTINCT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ArrayTbl2 A1 WHERE 1 = ALL ( SELECT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ArrayTbl2 A2 WHERE A1.pkey = A2.pkey ); 1= ALL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（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..)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限制了全部行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解法四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ArrayTbl2 GROUP BY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HAVING SUM(CASE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= 1 THEN 1 ELSE 0 END) = COUNT(*); SUM(CASE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= 1 THEN 1 ELSE 0 END) = COUNT(*)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限制了全部行的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都为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解法五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FROM ArrayTbl2 GROUP BY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pkey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HAVING MAX(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 = 1 AND MIN(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 = 1; MAX(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 = 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和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MIN(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 = 1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限制了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val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全部为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algn="l" latinLnBrk="1"/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问题 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2</a:t>
            </a:r>
          </a:p>
          <a:p>
            <a:pPr algn="l" latinLnBrk="1"/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使用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ALL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谓词表达全称量化。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* FROM Projects P1 WHERE '○' = ALL (SELECT CASE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step_nbr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&lt;= 1 AND status =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完成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THEN '○' WHEN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step_nbr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&gt; 1 AND status = '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等待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' THEN '○' ELSE '×' END FROM Projects P2 WHERE P1.project_id = P2.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project_id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); 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问题 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inherit"/>
              </a:rPr>
              <a:t>3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SQL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求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1~100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以内的质数。</a:t>
            </a:r>
          </a:p>
          <a:p>
            <a:pPr algn="l" latinLnBrk="1"/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SELECT num AS prime FROM Numbers Dividend WHERE num &gt; 1 AND NOT EXISTS (SELECT * FROM Numbers Divisor WHERE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Divisor.num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&lt;=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Dividend.num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/ 2 /*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除了自身之外的约数必定小于等于自身值的一半 *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/ AND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Divisor.num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 &lt;&gt; 1 /*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约数中不包含 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1 */ AND MOD(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Dividend.num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, </a:t>
            </a:r>
            <a:r>
              <a:rPr lang="en-US" altLang="zh-CN" sz="2800" b="0" i="0" u="none" strike="noStrike" dirty="0" err="1">
                <a:solidFill>
                  <a:srgbClr val="333333"/>
                </a:solidFill>
                <a:effectLst/>
                <a:latin typeface="-apple-system"/>
              </a:rPr>
              <a:t>Divisor.num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) = 0) /*“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除不尽”的否定条件是“除尽” *</a:t>
            </a:r>
            <a:r>
              <a:rPr lang="en-US" altLang="zh-CN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/ ORDER BY prime; 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思路是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全集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-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合数</a:t>
            </a:r>
            <a:r>
              <a:rPr lang="en-US" altLang="zh-CN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=</a:t>
            </a:r>
            <a:r>
              <a:rPr lang="zh-CN" altLang="en-US" sz="2800" b="1" i="0" u="none" strike="noStrike" dirty="0">
                <a:solidFill>
                  <a:srgbClr val="333333"/>
                </a:solidFill>
                <a:effectLst/>
                <a:latin typeface="-apple-system"/>
              </a:rPr>
              <a:t>质数</a:t>
            </a:r>
            <a:r>
              <a:rPr lang="zh-CN" altLang="en-US" sz="2800" b="0" i="0" u="none" strike="noStrike" dirty="0">
                <a:solidFill>
                  <a:srgbClr val="333333"/>
                </a:solidFill>
                <a:effectLst/>
                <a:latin typeface="-apple-system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查询上了马小红老师开的所有课的学生学号和课号及成绩。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SELECT </a:t>
            </a:r>
            <a:r>
              <a:rPr lang="en-US" altLang="zh-CN" sz="1800" b="1" dirty="0">
                <a:solidFill>
                  <a:schemeClr val="bg1"/>
                </a:solidFill>
              </a:rPr>
              <a:t>SNAME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FROM </a:t>
            </a:r>
            <a:r>
              <a:rPr lang="en-US" altLang="zh-CN" sz="1800" b="1" dirty="0">
                <a:solidFill>
                  <a:schemeClr val="bg1"/>
                </a:solidFill>
              </a:rPr>
              <a:t>S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WHERE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(SELECT </a:t>
            </a:r>
            <a:r>
              <a:rPr lang="en-US" altLang="zh-CN" sz="18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 FROM </a:t>
            </a:r>
            <a:r>
              <a:rPr lang="en-US" altLang="zh-CN" sz="1800" b="1" dirty="0">
                <a:solidFill>
                  <a:srgbClr val="660033"/>
                </a:solidFill>
              </a:rPr>
              <a:t>C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  WHERE 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            (SELECT </a:t>
            </a:r>
            <a:r>
              <a:rPr lang="en-US" altLang="zh-CN" sz="18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             FROM </a:t>
            </a:r>
            <a:r>
              <a:rPr lang="en-US" altLang="zh-CN" sz="1800" b="1" dirty="0">
                <a:solidFill>
                  <a:srgbClr val="FF0000"/>
                </a:solidFill>
              </a:rPr>
              <a:t>SC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             WHERE SC.SNO=</a:t>
            </a:r>
            <a:r>
              <a:rPr lang="en-US" altLang="zh-CN" sz="1800" b="1" dirty="0">
                <a:solidFill>
                  <a:schemeClr val="bg1"/>
                </a:solidFill>
              </a:rPr>
              <a:t>S.SNO</a:t>
            </a:r>
          </a:p>
          <a:p>
            <a:pPr>
              <a:defRPr/>
            </a:pPr>
            <a:r>
              <a:rPr lang="en-US" altLang="zh-CN" sz="1800" b="1" dirty="0">
                <a:solidFill>
                  <a:schemeClr val="bg2"/>
                </a:solidFill>
              </a:rPr>
              <a:t>                     AND </a:t>
            </a:r>
            <a:r>
              <a:rPr lang="en-US" altLang="zh-CN" sz="1800" b="1" dirty="0">
                <a:solidFill>
                  <a:srgbClr val="FF0000"/>
                </a:solidFill>
              </a:rPr>
              <a:t>SC.CNO</a:t>
            </a:r>
            <a:r>
              <a:rPr lang="en-US" altLang="zh-CN" sz="1800" b="1" dirty="0">
                <a:solidFill>
                  <a:schemeClr val="bg2"/>
                </a:solidFill>
              </a:rPr>
              <a:t>=C</a:t>
            </a:r>
            <a:r>
              <a:rPr lang="en-US" altLang="zh-CN" sz="1800" b="1" dirty="0">
                <a:solidFill>
                  <a:srgbClr val="660033"/>
                </a:solidFill>
              </a:rPr>
              <a:t>.CNO</a:t>
            </a:r>
            <a:r>
              <a:rPr lang="en-US" altLang="zh-CN" sz="1800" b="1" dirty="0">
                <a:solidFill>
                  <a:schemeClr val="bg2"/>
                </a:solidFill>
              </a:rPr>
              <a:t>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5772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SELECT </a:t>
            </a:r>
            <a:r>
              <a:rPr lang="en-US" altLang="zh-CN" sz="1200" b="1" dirty="0">
                <a:solidFill>
                  <a:schemeClr val="bg1"/>
                </a:solidFill>
              </a:rPr>
              <a:t>DISTINCT 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DISTINCT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E.xh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,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E.kh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,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E.zpcj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FROM </a:t>
            </a:r>
            <a:r>
              <a:rPr lang="en-US" altLang="zh-CN" sz="1200" b="1" dirty="0">
                <a:solidFill>
                  <a:schemeClr val="bg1"/>
                </a:solidFill>
              </a:rPr>
              <a:t>SC X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WHERE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(SELECT </a:t>
            </a:r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FROM </a:t>
            </a:r>
            <a:r>
              <a:rPr lang="en-US" altLang="zh-CN" sz="1200" b="1" dirty="0">
                <a:solidFill>
                  <a:srgbClr val="660033"/>
                </a:solidFill>
              </a:rPr>
              <a:t>SC Y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WHERE </a:t>
            </a:r>
            <a:r>
              <a:rPr lang="en-US" altLang="zh-CN" sz="1200" b="1" dirty="0">
                <a:solidFill>
                  <a:srgbClr val="660033"/>
                </a:solidFill>
              </a:rPr>
              <a:t>Y.SNO='S2'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1"/>
                </a:solidFill>
              </a:rPr>
              <a:t>          AND</a:t>
            </a:r>
            <a:r>
              <a:rPr lang="en-US" altLang="zh-CN" sz="1200" dirty="0"/>
              <a:t>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(SELECT </a:t>
            </a:r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FROM </a:t>
            </a:r>
            <a:r>
              <a:rPr lang="en-US" altLang="zh-CN" sz="1200" b="1" dirty="0">
                <a:solidFill>
                  <a:srgbClr val="FF0000"/>
                </a:solidFill>
              </a:rPr>
              <a:t>SC Z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WHERE </a:t>
            </a:r>
            <a:r>
              <a:rPr lang="en-US" altLang="zh-CN" sz="1200" b="1" dirty="0">
                <a:solidFill>
                  <a:srgbClr val="FF0000"/>
                </a:solidFill>
              </a:rPr>
              <a:t>Z</a:t>
            </a:r>
            <a:r>
              <a:rPr lang="en-US" altLang="zh-CN" sz="1200" b="1" dirty="0">
                <a:solidFill>
                  <a:schemeClr val="bg1"/>
                </a:solidFill>
              </a:rPr>
              <a:t>.SNO=X.SNO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  AND </a:t>
            </a:r>
            <a:r>
              <a:rPr lang="en-US" altLang="zh-CN" sz="1200" b="1" dirty="0">
                <a:solidFill>
                  <a:srgbClr val="FF0000"/>
                </a:solidFill>
              </a:rPr>
              <a:t>Z</a:t>
            </a:r>
            <a:r>
              <a:rPr lang="en-US" altLang="zh-CN" sz="1200" b="1" dirty="0">
                <a:solidFill>
                  <a:srgbClr val="660033"/>
                </a:solidFill>
              </a:rPr>
              <a:t>.</a:t>
            </a:r>
            <a:r>
              <a:rPr lang="en-US" altLang="zh-CN" sz="1200" b="1" dirty="0">
                <a:solidFill>
                  <a:srgbClr val="FF0000"/>
                </a:solidFill>
              </a:rPr>
              <a:t>CNO=Y.CNO</a:t>
            </a:r>
            <a:r>
              <a:rPr lang="en-US" altLang="zh-CN" sz="1200" b="1" dirty="0">
                <a:solidFill>
                  <a:schemeClr val="bg2"/>
                </a:solidFill>
              </a:rPr>
              <a:t>));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7119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SELECT </a:t>
            </a:r>
            <a:r>
              <a:rPr lang="en-US" altLang="zh-CN" sz="1200" b="1" dirty="0">
                <a:solidFill>
                  <a:schemeClr val="bg1"/>
                </a:solidFill>
              </a:rPr>
              <a:t>DISTINCT 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DISTINCT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E.xh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,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E.kh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,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</a:t>
            </a:r>
            <a:r>
              <a:rPr lang="en-US" altLang="zh-CN" err="1">
                <a:effectLst/>
                <a:latin typeface="Helvetica Neue" panose="02000503000000020004" pitchFamily="2" charset="0"/>
              </a:rPr>
              <a:t>.</a:t>
            </a:r>
            <a:r>
              <a:rPr lang="en-US" altLang="zh-CN">
                <a:effectLst/>
                <a:latin typeface="Helvetica Neue" panose="02000503000000020004" pitchFamily="2" charset="0"/>
              </a:rPr>
              <a:t>zpcj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FROM </a:t>
            </a:r>
            <a:r>
              <a:rPr lang="en-US" altLang="zh-CN" sz="1200" b="1" dirty="0">
                <a:solidFill>
                  <a:schemeClr val="bg1"/>
                </a:solidFill>
              </a:rPr>
              <a:t>SC X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WHERE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(SELECT </a:t>
            </a:r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FROM </a:t>
            </a:r>
            <a:r>
              <a:rPr lang="en-US" altLang="zh-CN" sz="1200" b="1" dirty="0">
                <a:solidFill>
                  <a:srgbClr val="660033"/>
                </a:solidFill>
              </a:rPr>
              <a:t>SC Y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WHERE </a:t>
            </a:r>
            <a:r>
              <a:rPr lang="en-US" altLang="zh-CN" sz="1200" b="1" dirty="0">
                <a:solidFill>
                  <a:srgbClr val="660033"/>
                </a:solidFill>
              </a:rPr>
              <a:t>Y.SNO='S2'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1"/>
                </a:solidFill>
              </a:rPr>
              <a:t>          AND</a:t>
            </a:r>
            <a:r>
              <a:rPr lang="en-US" altLang="zh-CN" sz="1200" dirty="0"/>
              <a:t>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(SELECT </a:t>
            </a:r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FROM </a:t>
            </a:r>
            <a:r>
              <a:rPr lang="en-US" altLang="zh-CN" sz="1200" b="1" dirty="0">
                <a:solidFill>
                  <a:srgbClr val="FF0000"/>
                </a:solidFill>
              </a:rPr>
              <a:t>SC Z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WHERE </a:t>
            </a:r>
            <a:r>
              <a:rPr lang="en-US" altLang="zh-CN" sz="1200" b="1" dirty="0">
                <a:solidFill>
                  <a:srgbClr val="FF0000"/>
                </a:solidFill>
              </a:rPr>
              <a:t>Z</a:t>
            </a:r>
            <a:r>
              <a:rPr lang="en-US" altLang="zh-CN" sz="1200" b="1" dirty="0">
                <a:solidFill>
                  <a:schemeClr val="bg1"/>
                </a:solidFill>
              </a:rPr>
              <a:t>.SNO=X.SNO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  AND </a:t>
            </a:r>
            <a:r>
              <a:rPr lang="en-US" altLang="zh-CN" sz="1200" b="1" dirty="0">
                <a:solidFill>
                  <a:srgbClr val="FF0000"/>
                </a:solidFill>
              </a:rPr>
              <a:t>Z</a:t>
            </a:r>
            <a:r>
              <a:rPr lang="en-US" altLang="zh-CN" sz="1200" b="1" dirty="0">
                <a:solidFill>
                  <a:srgbClr val="660033"/>
                </a:solidFill>
              </a:rPr>
              <a:t>.</a:t>
            </a:r>
            <a:r>
              <a:rPr lang="en-US" altLang="zh-CN" sz="1200" b="1" dirty="0">
                <a:solidFill>
                  <a:srgbClr val="FF0000"/>
                </a:solidFill>
              </a:rPr>
              <a:t>CNO=Y.CNO</a:t>
            </a:r>
            <a:r>
              <a:rPr lang="en-US" altLang="zh-CN" sz="1200" b="1" dirty="0">
                <a:solidFill>
                  <a:schemeClr val="bg2"/>
                </a:solidFill>
              </a:rPr>
              <a:t>));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88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1322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SELECT </a:t>
            </a:r>
            <a:r>
              <a:rPr lang="en-US" altLang="zh-CN" sz="1200" b="1" dirty="0">
                <a:solidFill>
                  <a:schemeClr val="bg1"/>
                </a:solidFill>
              </a:rPr>
              <a:t>DISTINCT 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DISTINCT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E.xh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,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E.kh</a:t>
            </a:r>
            <a:r>
              <a:rPr lang="en-US" altLang="zh-CN" dirty="0">
                <a:effectLst/>
                <a:latin typeface="Helvetica Neue" panose="02000503000000020004" pitchFamily="2" charset="0"/>
              </a:rPr>
              <a:t>, </a:t>
            </a:r>
            <a:r>
              <a:rPr lang="en-US" altLang="zh-CN" dirty="0" err="1">
                <a:effectLst/>
                <a:latin typeface="Helvetica Neue" panose="02000503000000020004" pitchFamily="2" charset="0"/>
              </a:rPr>
              <a:t>E</a:t>
            </a:r>
            <a:r>
              <a:rPr lang="en-US" altLang="zh-CN" err="1">
                <a:effectLst/>
                <a:latin typeface="Helvetica Neue" panose="02000503000000020004" pitchFamily="2" charset="0"/>
              </a:rPr>
              <a:t>.</a:t>
            </a:r>
            <a:r>
              <a:rPr lang="en-US" altLang="zh-CN">
                <a:effectLst/>
                <a:latin typeface="Helvetica Neue" panose="02000503000000020004" pitchFamily="2" charset="0"/>
              </a:rPr>
              <a:t>zpcj</a:t>
            </a:r>
            <a:endParaRPr lang="en-US" altLang="zh-CN" sz="12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FROM </a:t>
            </a:r>
            <a:r>
              <a:rPr lang="en-US" altLang="zh-CN" sz="1200" b="1" dirty="0">
                <a:solidFill>
                  <a:schemeClr val="bg1"/>
                </a:solidFill>
              </a:rPr>
              <a:t>SC X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WHERE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(SELECT </a:t>
            </a:r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FROM </a:t>
            </a:r>
            <a:r>
              <a:rPr lang="en-US" altLang="zh-CN" sz="1200" b="1" dirty="0">
                <a:solidFill>
                  <a:srgbClr val="660033"/>
                </a:solidFill>
              </a:rPr>
              <a:t>SC Y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WHERE </a:t>
            </a:r>
            <a:r>
              <a:rPr lang="en-US" altLang="zh-CN" sz="1200" b="1" dirty="0">
                <a:solidFill>
                  <a:srgbClr val="660033"/>
                </a:solidFill>
              </a:rPr>
              <a:t>Y.SNO='S2'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1"/>
                </a:solidFill>
              </a:rPr>
              <a:t>          AND</a:t>
            </a:r>
            <a:r>
              <a:rPr lang="en-US" altLang="zh-CN" sz="1200" dirty="0"/>
              <a:t> </a:t>
            </a:r>
            <a:r>
              <a:rPr lang="en-US" altLang="zh-CN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12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(SELECT </a:t>
            </a:r>
            <a:r>
              <a:rPr lang="en-US" altLang="zh-CN" sz="12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FROM </a:t>
            </a:r>
            <a:r>
              <a:rPr lang="en-US" altLang="zh-CN" sz="1200" b="1" dirty="0">
                <a:solidFill>
                  <a:srgbClr val="FF0000"/>
                </a:solidFill>
              </a:rPr>
              <a:t>SC Z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WHERE </a:t>
            </a:r>
            <a:r>
              <a:rPr lang="en-US" altLang="zh-CN" sz="1200" b="1" dirty="0">
                <a:solidFill>
                  <a:srgbClr val="FF0000"/>
                </a:solidFill>
              </a:rPr>
              <a:t>Z</a:t>
            </a:r>
            <a:r>
              <a:rPr lang="en-US" altLang="zh-CN" sz="1200" b="1" dirty="0">
                <a:solidFill>
                  <a:schemeClr val="bg1"/>
                </a:solidFill>
              </a:rPr>
              <a:t>.SNO=X.SNO</a:t>
            </a:r>
          </a:p>
          <a:p>
            <a:pPr>
              <a:defRPr/>
            </a:pPr>
            <a:r>
              <a:rPr lang="en-US" altLang="zh-CN" sz="1200" b="1" dirty="0">
                <a:solidFill>
                  <a:schemeClr val="bg2"/>
                </a:solidFill>
              </a:rPr>
              <a:t>                 AND </a:t>
            </a:r>
            <a:r>
              <a:rPr lang="en-US" altLang="zh-CN" sz="1200" b="1" dirty="0">
                <a:solidFill>
                  <a:srgbClr val="FF0000"/>
                </a:solidFill>
              </a:rPr>
              <a:t>Z</a:t>
            </a:r>
            <a:r>
              <a:rPr lang="en-US" altLang="zh-CN" sz="1200" b="1" dirty="0">
                <a:solidFill>
                  <a:srgbClr val="660033"/>
                </a:solidFill>
              </a:rPr>
              <a:t>.</a:t>
            </a:r>
            <a:r>
              <a:rPr lang="en-US" altLang="zh-CN" sz="1200" b="1" dirty="0">
                <a:solidFill>
                  <a:srgbClr val="FF0000"/>
                </a:solidFill>
              </a:rPr>
              <a:t>CNO=Y.CNO</a:t>
            </a:r>
            <a:r>
              <a:rPr lang="en-US" altLang="zh-CN" sz="1200" b="1" dirty="0">
                <a:solidFill>
                  <a:schemeClr val="bg2"/>
                </a:solidFill>
              </a:rPr>
              <a:t>));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89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23209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1A3A6-C3AC-47B6-B153-7DB98957934E}" type="slidenum">
              <a:rPr lang="en-US" altLang="zh-CN" smtClean="0"/>
              <a:pPr>
                <a:defRPr/>
              </a:pPr>
              <a:t>106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980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zh-CN" altLang="en-US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51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4E869-9EE8-459F-B623-535E5E3C7E07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6AEC1A0F-122A-412E-B976-D02A7F3D6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09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5417A-B76F-4AE8-B6EA-A4979ACDC2F0}" type="datetime11">
              <a:rPr lang="zh-CN" altLang="en-US"/>
              <a:pPr>
                <a:defRPr/>
              </a:pPr>
              <a:t>11:06:27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822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5E9F8-9D58-4E64-A8AA-523C16C2079F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4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391E7-0945-4B96-9B9E-EE57CE910EE1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80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F2B7E-3B21-45F3-8433-39ECE7799618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8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9072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604BF-C6A8-41D1-8922-35784D5CDBCE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4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3257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EF0A9-4E70-44CA-8F04-629947AA0616}" type="datetime11">
              <a:rPr lang="zh-CN" altLang="en-US"/>
              <a:pPr>
                <a:defRPr/>
              </a:pPr>
              <a:t>11:06:27</a:t>
            </a:fld>
            <a:endParaRPr lang="en-US" altLang="zh-CN"/>
          </a:p>
        </p:txBody>
      </p:sp>
      <p:sp>
        <p:nvSpPr>
          <p:cNvPr id="3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4252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C6402-39A5-49FC-9EF1-48D622698C3C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52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7921E-A8D9-4615-B2AE-70ABDF04C99F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769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984B3A-BE92-4ACF-BD2E-DD9F4D6A3169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95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00538-D30F-4E55-92A2-26706D8CC854}" type="datetime11">
              <a:rPr lang="zh-CN" altLang="en-US"/>
              <a:pPr>
                <a:defRPr/>
              </a:pPr>
              <a:t>11:12:16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5512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AD234-5323-40AE-801B-8A5C673FACA7}" type="datetime11">
              <a:rPr lang="zh-CN" altLang="en-US"/>
              <a:pPr>
                <a:defRPr/>
              </a:pPr>
              <a:t>11:06:27</a:t>
            </a:fld>
            <a:endParaRPr lang="en-US" altLang="zh-CN"/>
          </a:p>
        </p:txBody>
      </p:sp>
      <p:sp>
        <p:nvSpPr>
          <p:cNvPr id="4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3492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41E06F1-E6A2-42C9-8ACE-CCA2B39FC2FC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397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513496-FC66-4570-9B89-C2EB01C75D54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7937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156E6A-6A4B-43D4-BF78-183EEA202F66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0778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85B260-BFBC-437A-A232-D864FA984DE7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1296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281A3F-05E9-4361-9A34-24A2AB1B16C4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78343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9FAF48-CD5B-4370-BE60-FD9BC37451EC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75551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E00C2E-DA45-41CF-9A3C-F3287EF6E3B5}" type="datetime11">
              <a:rPr lang="zh-CN" altLang="en-US"/>
              <a:pPr/>
              <a:t>11:06:27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3334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D037AB-D4A7-4D6D-A3DF-2B3459BEB239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91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DFD687-0F82-4A95-8FA9-006770DE6E21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72795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0B56494-D15B-4F33-95CA-6D1B9745BC1E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39721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360A91E-6308-4CD3-858C-C0B282847BDA}" type="datetime11">
              <a:rPr lang="zh-CN" altLang="en-US"/>
              <a:pPr/>
              <a:t>11:12:31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5694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7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lnSpc>
                  <a:spcPct val="80000"/>
                </a:lnSpc>
                <a:spcBef>
                  <a:spcPct val="50000"/>
                </a:spcBef>
                <a:defRPr/>
              </a:pPr>
              <a:endParaRPr lang="zh-CN" altLang="en-US" sz="1350"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0 w 21600"/>
                <a:gd name="T1" fmla="*/ 0 h 21231"/>
                <a:gd name="T2" fmla="*/ 0 w 21600"/>
                <a:gd name="T3" fmla="*/ 0 h 21231"/>
                <a:gd name="T4" fmla="*/ 0 w 21600"/>
                <a:gd name="T5" fmla="*/ 0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sp>
        <p:nvSpPr>
          <p:cNvPr id="6451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4E869-9EE8-459F-B623-535E5E3C7E07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0" sz="105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6AEC1A0F-122A-412E-B976-D02A7F3D6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17047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5417A-B76F-4AE8-B6EA-A4979ACDC2F0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97209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5E9F8-9D58-4E64-A8AA-523C16C2079F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0829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391E7-0945-4B96-9B9E-EE57CE910EE1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97614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6F2B7E-3B21-45F3-8433-39ECE7799618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8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674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604BF-C6A8-41D1-8922-35784D5CDBCE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4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821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EF0A9-4E70-44CA-8F04-629947AA0616}" type="datetime11">
              <a:rPr lang="zh-CN" altLang="en-US"/>
              <a:pPr>
                <a:defRPr/>
              </a:pPr>
              <a:t>11:06:28</a:t>
            </a:fld>
            <a:endParaRPr lang="en-US" altLang="zh-CN"/>
          </a:p>
        </p:txBody>
      </p:sp>
      <p:sp>
        <p:nvSpPr>
          <p:cNvPr id="3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44881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7C6402-39A5-49FC-9EF1-48D622698C3C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58065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77921E-A8D9-4615-B2AE-70ABDF04C99F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6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3885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984B3A-BE92-4ACF-BD2E-DD9F4D6A3169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19515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00538-D30F-4E55-92A2-26706D8CC854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5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92026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3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AD234-5323-40AE-801B-8A5C673FACA7}" type="datetime11">
              <a:rPr lang="zh-CN" altLang="en-US"/>
              <a:pPr>
                <a:defRPr/>
              </a:pPr>
              <a:t>11:12:31</a:t>
            </a:fld>
            <a:endParaRPr lang="en-US" altLang="zh-CN"/>
          </a:p>
        </p:txBody>
      </p:sp>
      <p:sp>
        <p:nvSpPr>
          <p:cNvPr id="4" name="Rectangle 103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59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3494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kumimoji="0"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5A4B85D4-13A6-429C-A673-5CDA4DAAA72A}" type="datetime11">
              <a:rPr lang="zh-CN" altLang="en-US"/>
              <a:pPr>
                <a:defRPr/>
              </a:pPr>
              <a:t>11:06:27</a:t>
            </a:fld>
            <a:endParaRPr lang="en-US" altLang="zh-CN"/>
          </a:p>
        </p:txBody>
      </p:sp>
      <p:sp>
        <p:nvSpPr>
          <p:cNvPr id="63495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 sz="140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103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3494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kumimoji="0" sz="1400">
                <a:latin typeface="+mn-lt"/>
              </a:defRPr>
            </a:lvl1pPr>
          </a:lstStyle>
          <a:p>
            <a:fld id="{112AFF53-1B3D-4FBD-9491-5FA06D629B44}" type="datetime11">
              <a:rPr lang="zh-CN" altLang="en-US"/>
              <a:pPr/>
              <a:t>11:06:27</a:t>
            </a:fld>
            <a:endParaRPr lang="en-US" altLang="zh-CN"/>
          </a:p>
        </p:txBody>
      </p:sp>
      <p:sp>
        <p:nvSpPr>
          <p:cNvPr id="63495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63497" name="Rectangle 103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8423681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3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3494" name="Rectangle 103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>
              <a:lnSpc>
                <a:spcPct val="100000"/>
              </a:lnSpc>
              <a:spcBef>
                <a:spcPct val="0"/>
              </a:spcBef>
              <a:defRPr kumimoji="0" sz="105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fld id="{5A4B85D4-13A6-429C-A673-5CDA4DAAA72A}" type="datetime11">
              <a:rPr lang="zh-CN" altLang="en-US"/>
              <a:pPr>
                <a:defRPr/>
              </a:pPr>
              <a:t>11:06:27</a:t>
            </a:fld>
            <a:endParaRPr lang="en-US" altLang="zh-CN"/>
          </a:p>
        </p:txBody>
      </p:sp>
      <p:sp>
        <p:nvSpPr>
          <p:cNvPr id="63495" name="Rectangle 103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defRPr kumimoji="0" sz="105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103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1970963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emf"/><Relationship Id="rId4" Type="http://schemas.openxmlformats.org/officeDocument/2006/relationships/image" Target="../media/image2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3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slide" Target="slide114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slide" Target="slide1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slide" Target="slide112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30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99.png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9" name="Rectangle 11"/>
          <p:cNvSpPr>
            <a:spLocks noChangeArrowheads="1"/>
          </p:cNvSpPr>
          <p:nvPr/>
        </p:nvSpPr>
        <p:spPr bwMode="auto">
          <a:xfrm>
            <a:off x="1403350" y="2349500"/>
            <a:ext cx="6769050" cy="1009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11113" eaLnBrk="0" hangingPunct="0">
              <a:lnSpc>
                <a:spcPct val="180000"/>
              </a:lnSpc>
            </a:pPr>
            <a:r>
              <a:rPr lang="zh-CN" altLang="en-US" sz="4000" b="1" dirty="0">
                <a:solidFill>
                  <a:srgbClr val="660033"/>
                </a:solidFill>
              </a:rPr>
              <a:t>第四章  结构化查询语言</a:t>
            </a:r>
            <a:r>
              <a:rPr lang="en-US" altLang="zh-CN" sz="4000" b="1" dirty="0">
                <a:solidFill>
                  <a:srgbClr val="660033"/>
                </a:solidFill>
              </a:rPr>
              <a:t>SQL</a:t>
            </a:r>
            <a:endParaRPr lang="zh-CN" altLang="en-US" sz="4000" b="1" dirty="0">
              <a:solidFill>
                <a:srgbClr val="660033"/>
              </a:solidFill>
            </a:endParaRPr>
          </a:p>
        </p:txBody>
      </p:sp>
      <p:grpSp>
        <p:nvGrpSpPr>
          <p:cNvPr id="683020" name="Group 12"/>
          <p:cNvGrpSpPr>
            <a:grpSpLocks/>
          </p:cNvGrpSpPr>
          <p:nvPr/>
        </p:nvGrpSpPr>
        <p:grpSpPr bwMode="auto">
          <a:xfrm>
            <a:off x="395288" y="404813"/>
            <a:ext cx="8382000" cy="1371600"/>
            <a:chOff x="0" y="288"/>
            <a:chExt cx="5760" cy="864"/>
          </a:xfrm>
        </p:grpSpPr>
        <p:sp>
          <p:nvSpPr>
            <p:cNvPr id="683021" name="Rectangle 13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83022" name="Rectangle 14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83023" name="Rectangle 15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83024" name="Rectangle 16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83025" name="Rectangle 17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83026" name="Rectangle 18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83027" name="Rectangle 19"/>
          <p:cNvSpPr>
            <a:spLocks noChangeArrowheads="1"/>
          </p:cNvSpPr>
          <p:nvPr/>
        </p:nvSpPr>
        <p:spPr bwMode="auto">
          <a:xfrm>
            <a:off x="1331913" y="4292600"/>
            <a:ext cx="6400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/>
          <a:p>
            <a:pPr marL="342900" indent="-342900" algn="ctr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800" b="1">
                <a:solidFill>
                  <a:schemeClr val="bg2"/>
                </a:solidFill>
              </a:rPr>
              <a:t>清华大学出版社</a:t>
            </a:r>
          </a:p>
          <a:p>
            <a:pPr marL="342900" indent="-342900" algn="ctr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zh-CN" altLang="en-US" sz="2800" b="1">
              <a:solidFill>
                <a:schemeClr val="bg2"/>
              </a:solidFill>
            </a:endParaRPr>
          </a:p>
          <a:p>
            <a:pPr marL="342900" indent="-342900" algn="ctr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fld id="{3D7E11C2-7AF0-4142-AFB0-0E2926EC2F1D}" type="datetime2">
              <a:rPr lang="zh-CN" altLang="en-US" sz="2800" b="1">
                <a:solidFill>
                  <a:schemeClr val="bg2"/>
                </a:solidFill>
              </a:rPr>
              <a:pPr marL="342900" indent="-342900" algn="ctr">
                <a:lnSpc>
                  <a:spcPct val="10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None/>
              </a:pPr>
              <a:t>2026年3月22日 Sunday</a:t>
            </a:fld>
            <a:endParaRPr lang="zh-CN" altLang="en-US" sz="2800" b="1">
              <a:solidFill>
                <a:schemeClr val="bg2"/>
              </a:solidFill>
            </a:endParaRPr>
          </a:p>
        </p:txBody>
      </p:sp>
      <p:sp>
        <p:nvSpPr>
          <p:cNvPr id="683028" name="Rectangle 20"/>
          <p:cNvSpPr>
            <a:spLocks noChangeArrowheads="1"/>
          </p:cNvSpPr>
          <p:nvPr/>
        </p:nvSpPr>
        <p:spPr bwMode="auto">
          <a:xfrm>
            <a:off x="2411413" y="620713"/>
            <a:ext cx="54006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609600">
              <a:lnSpc>
                <a:spcPct val="100000"/>
              </a:lnSpc>
              <a:spcBef>
                <a:spcPct val="0"/>
              </a:spcBef>
            </a:pPr>
            <a:r>
              <a:rPr lang="zh-CN" altLang="en-US" sz="40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数据库原理（</a:t>
            </a:r>
            <a:r>
              <a:rPr lang="en-US" altLang="zh-CN" sz="40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sz="40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endParaRPr lang="zh-CN" altLang="en-US" sz="4000" b="1" i="1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2"/>
          <p:cNvGrpSpPr>
            <a:grpSpLocks/>
          </p:cNvGrpSpPr>
          <p:nvPr/>
        </p:nvGrpSpPr>
        <p:grpSpPr bwMode="auto">
          <a:xfrm>
            <a:off x="0" y="0"/>
            <a:ext cx="9144000" cy="1196975"/>
            <a:chOff x="0" y="0"/>
            <a:chExt cx="5760" cy="754"/>
          </a:xfrm>
        </p:grpSpPr>
        <p:sp>
          <p:nvSpPr>
            <p:cNvPr id="641026" name="Rectangle 2"/>
            <p:cNvSpPr>
              <a:spLocks noChangeArrowheads="1"/>
            </p:cNvSpPr>
            <p:nvPr/>
          </p:nvSpPr>
          <p:spPr bwMode="auto">
            <a:xfrm>
              <a:off x="0" y="2"/>
              <a:ext cx="5760" cy="6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266700" algn="just">
                <a:lnSpc>
                  <a:spcPct val="160000"/>
                </a:lnSpc>
                <a:defRPr/>
              </a:pPr>
              <a:r>
                <a:rPr lang="en-US" altLang="zh-CN" sz="3600" b="1" dirty="0">
                  <a:solidFill>
                    <a:schemeClr val="bg2"/>
                  </a:solidFill>
                  <a:latin typeface="宋体" pitchFamily="2" charset="-122"/>
                  <a:ea typeface="宋体" pitchFamily="2" charset="-122"/>
                </a:rPr>
                <a:t>       </a:t>
              </a:r>
              <a:r>
                <a:rPr lang="zh-CN" altLang="en-US" sz="36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  <a:ea typeface="宋体" pitchFamily="2" charset="-122"/>
                </a:rPr>
                <a:t>第四章  </a:t>
              </a:r>
              <a:r>
                <a:rPr lang="zh-CN" altLang="en-US" sz="36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结构化查询语言</a:t>
              </a:r>
              <a:r>
                <a:rPr lang="en-US" altLang="zh-CN" sz="36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SQL</a:t>
              </a:r>
              <a:r>
                <a:rPr lang="zh-CN" altLang="en-US" sz="36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（</a:t>
              </a:r>
              <a:r>
                <a:rPr lang="en-US" altLang="zh-CN" sz="36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1</a:t>
              </a:r>
              <a:r>
                <a:rPr lang="zh-CN" altLang="en-US" sz="36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）</a:t>
              </a:r>
              <a:endParaRPr lang="en-US" altLang="zh-CN" sz="24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4103" name="Group 3"/>
            <p:cNvGrpSpPr>
              <a:grpSpLocks/>
            </p:cNvGrpSpPr>
            <p:nvPr/>
          </p:nvGrpSpPr>
          <p:grpSpPr bwMode="auto">
            <a:xfrm>
              <a:off x="0" y="0"/>
              <a:ext cx="5575" cy="754"/>
              <a:chOff x="0" y="288"/>
              <a:chExt cx="5760" cy="864"/>
            </a:xfrm>
          </p:grpSpPr>
          <p:sp>
            <p:nvSpPr>
              <p:cNvPr id="4104" name="Rectangle 4"/>
              <p:cNvSpPr>
                <a:spLocks noChangeArrowheads="1"/>
              </p:cNvSpPr>
              <p:nvPr/>
            </p:nvSpPr>
            <p:spPr bwMode="ltGray">
              <a:xfrm>
                <a:off x="196" y="377"/>
                <a:ext cx="428" cy="389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2"/>
                  </a:solidFill>
                  <a:latin typeface="Tahoma" pitchFamily="34" charset="0"/>
                </a:endParaRPr>
              </a:p>
            </p:txBody>
          </p:sp>
          <p:sp>
            <p:nvSpPr>
              <p:cNvPr id="4105" name="Rectangle 5"/>
              <p:cNvSpPr>
                <a:spLocks noChangeArrowheads="1"/>
              </p:cNvSpPr>
              <p:nvPr/>
            </p:nvSpPr>
            <p:spPr bwMode="ltGray">
              <a:xfrm>
                <a:off x="279" y="723"/>
                <a:ext cx="285" cy="39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2"/>
                  </a:solidFill>
                  <a:latin typeface="Tahoma" pitchFamily="34" charset="0"/>
                </a:endParaRPr>
              </a:p>
            </p:txBody>
          </p:sp>
          <p:sp>
            <p:nvSpPr>
              <p:cNvPr id="4106" name="Rectangle 6"/>
              <p:cNvSpPr>
                <a:spLocks noChangeArrowheads="1"/>
              </p:cNvSpPr>
              <p:nvPr/>
            </p:nvSpPr>
            <p:spPr bwMode="ltGray">
              <a:xfrm>
                <a:off x="529" y="723"/>
                <a:ext cx="248" cy="390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2"/>
                  </a:solidFill>
                  <a:latin typeface="Tahoma" pitchFamily="34" charset="0"/>
                </a:endParaRPr>
              </a:p>
            </p:txBody>
          </p:sp>
          <p:sp>
            <p:nvSpPr>
              <p:cNvPr id="4107" name="Rectangle 7"/>
              <p:cNvSpPr>
                <a:spLocks noChangeArrowheads="1"/>
              </p:cNvSpPr>
              <p:nvPr/>
            </p:nvSpPr>
            <p:spPr bwMode="ltGray">
              <a:xfrm>
                <a:off x="0" y="576"/>
                <a:ext cx="432" cy="384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2"/>
                  </a:solidFill>
                  <a:latin typeface="Tahoma" pitchFamily="34" charset="0"/>
                </a:endParaRPr>
              </a:p>
            </p:txBody>
          </p:sp>
          <p:sp>
            <p:nvSpPr>
              <p:cNvPr id="4108" name="Rectangle 8"/>
              <p:cNvSpPr>
                <a:spLocks noChangeArrowheads="1"/>
              </p:cNvSpPr>
              <p:nvPr/>
            </p:nvSpPr>
            <p:spPr bwMode="gray">
              <a:xfrm>
                <a:off x="428" y="288"/>
                <a:ext cx="22" cy="86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2"/>
                  </a:solidFill>
                  <a:latin typeface="Tahoma" pitchFamily="34" charset="0"/>
                </a:endParaRPr>
              </a:p>
            </p:txBody>
          </p:sp>
          <p:sp>
            <p:nvSpPr>
              <p:cNvPr id="4109" name="Rectangle 9"/>
              <p:cNvSpPr>
                <a:spLocks noChangeArrowheads="1"/>
              </p:cNvSpPr>
              <p:nvPr/>
            </p:nvSpPr>
            <p:spPr bwMode="gray">
              <a:xfrm>
                <a:off x="213" y="937"/>
                <a:ext cx="5547" cy="2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solidFill>
                    <a:schemeClr val="bg2"/>
                  </a:solidFill>
                  <a:latin typeface="Tahoma" pitchFamily="34" charset="0"/>
                </a:endParaRPr>
              </a:p>
            </p:txBody>
          </p:sp>
        </p:grpSp>
      </p:grp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179388" y="1138238"/>
            <a:ext cx="9144000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0099"/>
                </a:solidFill>
              </a:rPr>
              <a:t>内容：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sz="2800" b="1">
              <a:solidFill>
                <a:srgbClr val="000099"/>
              </a:solidFill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sz="2800" b="1">
              <a:solidFill>
                <a:srgbClr val="000099"/>
              </a:solidFill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sz="2800" b="1">
              <a:solidFill>
                <a:srgbClr val="000099"/>
              </a:solidFill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sz="2800" b="1">
              <a:solidFill>
                <a:srgbClr val="000099"/>
              </a:solidFill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sz="2800" b="1">
              <a:solidFill>
                <a:srgbClr val="000099"/>
              </a:solidFill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000099"/>
                </a:solidFill>
              </a:rPr>
              <a:t>教学重点：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</a:t>
            </a:r>
          </a:p>
        </p:txBody>
      </p:sp>
      <p:sp>
        <p:nvSpPr>
          <p:cNvPr id="641035" name="Rectangle 11"/>
          <p:cNvSpPr>
            <a:spLocks noChangeArrowheads="1"/>
          </p:cNvSpPr>
          <p:nvPr/>
        </p:nvSpPr>
        <p:spPr bwMode="auto">
          <a:xfrm>
            <a:off x="611188" y="5876925"/>
            <a:ext cx="828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b="1">
                <a:solidFill>
                  <a:srgbClr val="660033"/>
                </a:solidFill>
              </a:rPr>
              <a:t>  </a:t>
            </a:r>
            <a:r>
              <a:rPr lang="en-US" altLang="zh-CN" sz="3200" b="1">
                <a:solidFill>
                  <a:srgbClr val="660033"/>
                </a:solidFill>
                <a:latin typeface="Times New Roman" pitchFamily="18" charset="0"/>
                <a:sym typeface="Symbol" pitchFamily="18" charset="2"/>
              </a:rPr>
              <a:t></a:t>
            </a:r>
            <a:r>
              <a:rPr lang="en-US" altLang="zh-CN" sz="3200" b="1">
                <a:solidFill>
                  <a:srgbClr val="660033"/>
                </a:solidFill>
                <a:latin typeface="Times New Roman" pitchFamily="18" charset="0"/>
              </a:rPr>
              <a:t> </a:t>
            </a:r>
            <a:r>
              <a:rPr lang="en-US" altLang="zh-CN" sz="3200" b="1">
                <a:solidFill>
                  <a:srgbClr val="660033"/>
                </a:solidFill>
              </a:rPr>
              <a:t>SQL</a:t>
            </a:r>
            <a:r>
              <a:rPr lang="zh-CN" altLang="en-US" sz="3200" b="1">
                <a:solidFill>
                  <a:srgbClr val="660033"/>
                </a:solidFill>
                <a:latin typeface="Times New Roman" pitchFamily="18" charset="0"/>
              </a:rPr>
              <a:t>的数据查询； </a:t>
            </a:r>
            <a:r>
              <a:rPr lang="zh-CN" altLang="en-US" sz="3200" b="1">
                <a:solidFill>
                  <a:srgbClr val="660033"/>
                </a:solidFill>
                <a:latin typeface="Times New Roman" pitchFamily="18" charset="0"/>
                <a:sym typeface="Symbol" pitchFamily="18" charset="2"/>
              </a:rPr>
              <a:t> </a:t>
            </a:r>
            <a:r>
              <a:rPr lang="zh-CN" altLang="en-US" sz="3200" b="1">
                <a:solidFill>
                  <a:srgbClr val="660033"/>
                </a:solidFill>
                <a:latin typeface="Times New Roman" pitchFamily="18" charset="0"/>
              </a:rPr>
              <a:t>嵌入式</a:t>
            </a:r>
            <a:r>
              <a:rPr lang="en-US" altLang="zh-CN" sz="3200" b="1">
                <a:solidFill>
                  <a:srgbClr val="660033"/>
                </a:solidFill>
              </a:rPr>
              <a:t>SQL</a:t>
            </a:r>
            <a:r>
              <a:rPr lang="zh-CN" altLang="en-US" sz="3200" b="1">
                <a:solidFill>
                  <a:srgbClr val="660033"/>
                </a:solidFill>
              </a:rPr>
              <a:t>的使用</a:t>
            </a:r>
            <a:r>
              <a:rPr lang="zh-CN" altLang="en-US" sz="3200" b="1">
                <a:solidFill>
                  <a:srgbClr val="660033"/>
                </a:solidFill>
                <a:latin typeface="Times New Roman" pitchFamily="18" charset="0"/>
              </a:rPr>
              <a:t>。</a:t>
            </a:r>
          </a:p>
        </p:txBody>
      </p:sp>
      <p:sp>
        <p:nvSpPr>
          <p:cNvPr id="641037" name="Rectangle 13"/>
          <p:cNvSpPr>
            <a:spLocks noChangeArrowheads="1"/>
          </p:cNvSpPr>
          <p:nvPr/>
        </p:nvSpPr>
        <p:spPr bwMode="auto">
          <a:xfrm>
            <a:off x="142875" y="1743075"/>
            <a:ext cx="9001125" cy="341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  <a:sym typeface="Symbol" pitchFamily="18" charset="2"/>
              </a:rPr>
              <a:t>   </a:t>
            </a:r>
            <a:r>
              <a:rPr lang="en-US" altLang="zh-CN" sz="2400" b="1">
                <a:solidFill>
                  <a:schemeClr val="bg2"/>
                </a:solidFill>
              </a:rPr>
              <a:t>SQL</a:t>
            </a:r>
            <a:r>
              <a:rPr lang="zh-CN" altLang="en-US" sz="2400" b="1">
                <a:solidFill>
                  <a:schemeClr val="bg2"/>
                </a:solidFill>
              </a:rPr>
              <a:t>数据库的体系结构，</a:t>
            </a:r>
            <a:r>
              <a:rPr lang="en-US" altLang="zh-CN" sz="2400" b="1">
                <a:solidFill>
                  <a:schemeClr val="bg2"/>
                </a:solidFill>
              </a:rPr>
              <a:t>SQL</a:t>
            </a:r>
            <a:r>
              <a:rPr lang="zh-CN" altLang="en-US" sz="2400" b="1">
                <a:solidFill>
                  <a:schemeClr val="bg2"/>
                </a:solidFill>
              </a:rPr>
              <a:t>的组成；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  <a:sym typeface="Symbol" pitchFamily="18" charset="2"/>
              </a:rPr>
              <a:t>  </a:t>
            </a:r>
            <a:r>
              <a:rPr lang="zh-CN" altLang="en-US" sz="2400" b="1">
                <a:solidFill>
                  <a:schemeClr val="bg2"/>
                </a:solidFill>
              </a:rPr>
              <a:t> </a:t>
            </a:r>
            <a:r>
              <a:rPr lang="en-US" altLang="zh-CN" sz="2400" b="1">
                <a:solidFill>
                  <a:schemeClr val="bg2"/>
                </a:solidFill>
              </a:rPr>
              <a:t>SQL</a:t>
            </a:r>
            <a:r>
              <a:rPr lang="zh-CN" altLang="en-US" sz="2400" b="1">
                <a:solidFill>
                  <a:schemeClr val="bg2"/>
                </a:solidFill>
              </a:rPr>
              <a:t>的数据定义：</a:t>
            </a:r>
            <a:r>
              <a:rPr lang="en-US" altLang="zh-CN" sz="2400" b="1">
                <a:solidFill>
                  <a:schemeClr val="bg2"/>
                </a:solidFill>
              </a:rPr>
              <a:t>SQL</a:t>
            </a:r>
            <a:r>
              <a:rPr lang="zh-CN" altLang="en-US" sz="2400" b="1">
                <a:solidFill>
                  <a:schemeClr val="bg2"/>
                </a:solidFill>
              </a:rPr>
              <a:t>模式、基本表和索引的创建和撤销；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  <a:sym typeface="Symbol" pitchFamily="18" charset="2"/>
              </a:rPr>
              <a:t>  </a:t>
            </a:r>
            <a:r>
              <a:rPr lang="zh-CN" altLang="en-US" sz="2400" b="1">
                <a:solidFill>
                  <a:schemeClr val="bg2"/>
                </a:solidFill>
              </a:rPr>
              <a:t> </a:t>
            </a:r>
            <a:r>
              <a:rPr lang="en-US" altLang="zh-CN" sz="2400" b="1">
                <a:solidFill>
                  <a:srgbClr val="660033"/>
                </a:solidFill>
              </a:rPr>
              <a:t>SQL</a:t>
            </a:r>
            <a:r>
              <a:rPr lang="zh-CN" altLang="en-US" sz="2400" b="1">
                <a:solidFill>
                  <a:srgbClr val="660033"/>
                </a:solidFill>
              </a:rPr>
              <a:t>的数据查询：</a:t>
            </a:r>
            <a:r>
              <a:rPr lang="en-US" altLang="zh-CN" sz="2400" b="1">
                <a:solidFill>
                  <a:srgbClr val="660033"/>
                </a:solidFill>
              </a:rPr>
              <a:t>SELECT</a:t>
            </a:r>
            <a:r>
              <a:rPr lang="zh-CN" altLang="en-US" sz="2400" b="1">
                <a:solidFill>
                  <a:srgbClr val="660033"/>
                </a:solidFill>
              </a:rPr>
              <a:t>语句的句法和使用；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  <a:sym typeface="Symbol" pitchFamily="18" charset="2"/>
              </a:rPr>
              <a:t>  </a:t>
            </a:r>
            <a:r>
              <a:rPr lang="zh-CN" altLang="en-US" sz="2400" b="1">
                <a:solidFill>
                  <a:schemeClr val="bg2"/>
                </a:solidFill>
              </a:rPr>
              <a:t> </a:t>
            </a:r>
            <a:r>
              <a:rPr lang="en-US" altLang="zh-CN" sz="2400" b="1">
                <a:solidFill>
                  <a:schemeClr val="bg1"/>
                </a:solidFill>
              </a:rPr>
              <a:t>SQL</a:t>
            </a:r>
            <a:r>
              <a:rPr lang="zh-CN" altLang="en-US" sz="2400" b="1">
                <a:solidFill>
                  <a:schemeClr val="bg1"/>
                </a:solidFill>
              </a:rPr>
              <a:t>的数据更新：插入、删除和修改语句；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  <a:sym typeface="Symbol" pitchFamily="18" charset="2"/>
              </a:rPr>
              <a:t>   </a:t>
            </a:r>
            <a:r>
              <a:rPr lang="zh-CN" altLang="en-US" sz="2400" b="1">
                <a:solidFill>
                  <a:schemeClr val="bg1"/>
                </a:solidFill>
              </a:rPr>
              <a:t>视图的创建和撤消，对视图更新操作的限制；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  <a:sym typeface="Symbol" pitchFamily="18" charset="2"/>
              </a:rPr>
              <a:t>   </a:t>
            </a:r>
            <a:r>
              <a:rPr lang="zh-CN" altLang="en-US" sz="2400" b="1">
                <a:solidFill>
                  <a:srgbClr val="660033"/>
                </a:solidFill>
              </a:rPr>
              <a:t>嵌入式</a:t>
            </a:r>
            <a:r>
              <a:rPr lang="en-US" altLang="zh-CN" sz="2400" b="1">
                <a:solidFill>
                  <a:srgbClr val="660033"/>
                </a:solidFill>
              </a:rPr>
              <a:t>SQL</a:t>
            </a:r>
            <a:r>
              <a:rPr lang="zh-CN" altLang="en-US" sz="2400" b="1">
                <a:solidFill>
                  <a:srgbClr val="660033"/>
                </a:solidFill>
              </a:rPr>
              <a:t>：预处理方式</a:t>
            </a:r>
            <a:r>
              <a:rPr lang="en-US" altLang="zh-CN" sz="2400" b="1">
                <a:solidFill>
                  <a:srgbClr val="660033"/>
                </a:solidFill>
              </a:rPr>
              <a:t>,</a:t>
            </a:r>
            <a:r>
              <a:rPr lang="zh-CN" altLang="en-US" sz="2400" b="1">
                <a:solidFill>
                  <a:srgbClr val="660033"/>
                </a:solidFill>
              </a:rPr>
              <a:t>使用规定</a:t>
            </a:r>
            <a:r>
              <a:rPr lang="en-US" altLang="zh-CN" sz="2400" b="1">
                <a:solidFill>
                  <a:srgbClr val="660033"/>
                </a:solidFill>
              </a:rPr>
              <a:t>,</a:t>
            </a:r>
            <a:r>
              <a:rPr lang="zh-CN" altLang="en-US" sz="2400" b="1">
                <a:solidFill>
                  <a:srgbClr val="660033"/>
                </a:solidFill>
              </a:rPr>
              <a:t>使用技术</a:t>
            </a:r>
            <a:r>
              <a:rPr lang="en-US" altLang="zh-CN" sz="2400" b="1">
                <a:solidFill>
                  <a:srgbClr val="660033"/>
                </a:solidFill>
              </a:rPr>
              <a:t>,</a:t>
            </a:r>
            <a:r>
              <a:rPr lang="zh-CN" altLang="en-US" sz="2400" b="1">
                <a:solidFill>
                  <a:srgbClr val="660033"/>
                </a:solidFill>
              </a:rPr>
              <a:t>动态</a:t>
            </a:r>
            <a:r>
              <a:rPr lang="en-US" altLang="zh-CN" sz="2400" b="1">
                <a:solidFill>
                  <a:srgbClr val="660033"/>
                </a:solidFill>
              </a:rPr>
              <a:t>SQL</a:t>
            </a:r>
            <a:r>
              <a:rPr lang="zh-CN" altLang="en-US" sz="2400" b="1">
                <a:solidFill>
                  <a:srgbClr val="660033"/>
                </a:solidFill>
              </a:rPr>
              <a:t>语句。</a:t>
            </a:r>
            <a:r>
              <a:rPr lang="zh-CN" altLang="en-US" sz="2400" b="1">
                <a:solidFill>
                  <a:schemeClr val="bg2"/>
                </a:solidFill>
              </a:rPr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35" grpId="0"/>
      <p:bldP spid="6410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>
            <a:extLst>
              <a:ext uri="{FF2B5EF4-FFF2-40B4-BE49-F238E27FC236}">
                <a16:creationId xmlns:a16="http://schemas.microsoft.com/office/drawing/2014/main" id="{9E9CD8B7-AFD3-6448-98E1-F714C56B3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68" y="1196752"/>
            <a:ext cx="9110663" cy="5124450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5356991E-11A6-6F49-98FE-E7D03C9D974E}"/>
              </a:ext>
            </a:extLst>
          </p:cNvPr>
          <p:cNvSpPr/>
          <p:nvPr/>
        </p:nvSpPr>
        <p:spPr bwMode="auto">
          <a:xfrm>
            <a:off x="3347864" y="2708920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55EAEA0-C03B-3F42-A014-9BAD561C9DCA}"/>
              </a:ext>
            </a:extLst>
          </p:cNvPr>
          <p:cNvSpPr/>
          <p:nvPr/>
        </p:nvSpPr>
        <p:spPr bwMode="auto">
          <a:xfrm>
            <a:off x="5247488" y="2892989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6E8C9BD3-B455-AB4F-9DDE-66EEE1F40C1B}"/>
              </a:ext>
            </a:extLst>
          </p:cNvPr>
          <p:cNvSpPr/>
          <p:nvPr/>
        </p:nvSpPr>
        <p:spPr bwMode="auto">
          <a:xfrm>
            <a:off x="4319971" y="2892989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AA999CA-6386-C84F-AE6E-8FA7576523D6}"/>
              </a:ext>
            </a:extLst>
          </p:cNvPr>
          <p:cNvSpPr/>
          <p:nvPr/>
        </p:nvSpPr>
        <p:spPr bwMode="auto">
          <a:xfrm>
            <a:off x="1475656" y="3429000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58E888A-448C-9740-A9E8-CACEA49557F4}"/>
              </a:ext>
            </a:extLst>
          </p:cNvPr>
          <p:cNvSpPr/>
          <p:nvPr/>
        </p:nvSpPr>
        <p:spPr bwMode="auto">
          <a:xfrm>
            <a:off x="6228184" y="3259394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B26B661-DCB0-774E-BB5A-FF30F1711273}"/>
              </a:ext>
            </a:extLst>
          </p:cNvPr>
          <p:cNvSpPr/>
          <p:nvPr/>
        </p:nvSpPr>
        <p:spPr bwMode="auto">
          <a:xfrm>
            <a:off x="7164288" y="4221088"/>
            <a:ext cx="50405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9327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3">
            <a:extLst>
              <a:ext uri="{FF2B5EF4-FFF2-40B4-BE49-F238E27FC236}">
                <a16:creationId xmlns:a16="http://schemas.microsoft.com/office/drawing/2014/main" id="{08BC5EE8-B1CE-7247-B08D-A4467E301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-20638"/>
            <a:ext cx="5181600" cy="6899275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D6CEBB2B-03B5-7E48-956A-6DC969CECB6E}"/>
              </a:ext>
            </a:extLst>
          </p:cNvPr>
          <p:cNvSpPr/>
          <p:nvPr/>
        </p:nvSpPr>
        <p:spPr bwMode="auto">
          <a:xfrm>
            <a:off x="1981200" y="2708920"/>
            <a:ext cx="395895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367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表格 4">
            <a:extLst>
              <a:ext uri="{FF2B5EF4-FFF2-40B4-BE49-F238E27FC236}">
                <a16:creationId xmlns:a16="http://schemas.microsoft.com/office/drawing/2014/main" id="{EED98DD5-DA9A-6545-A766-AF2BD1FA07C2}"/>
              </a:ext>
            </a:extLst>
          </p:cNvPr>
          <p:cNvGraphicFramePr>
            <a:graphicFrameLocks noGrp="1"/>
          </p:cNvGraphicFramePr>
          <p:nvPr/>
        </p:nvGraphicFramePr>
        <p:xfrm>
          <a:off x="395536" y="2504217"/>
          <a:ext cx="7248353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83615022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4876262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8560709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32269886"/>
                    </a:ext>
                  </a:extLst>
                </a:gridCol>
                <a:gridCol w="832791">
                  <a:extLst>
                    <a:ext uri="{9D8B030D-6E8A-4147-A177-3AD203B41FA5}">
                      <a16:colId xmlns:a16="http://schemas.microsoft.com/office/drawing/2014/main" val="2210278073"/>
                    </a:ext>
                  </a:extLst>
                </a:gridCol>
                <a:gridCol w="2239098">
                  <a:extLst>
                    <a:ext uri="{9D8B030D-6E8A-4147-A177-3AD203B41FA5}">
                      <a16:colId xmlns:a16="http://schemas.microsoft.com/office/drawing/2014/main" val="3343172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职工编号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身份证号码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程晓清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310110</a:t>
                      </a:r>
                      <a:r>
                        <a:rPr lang="zh-CN" altLang="en-US" dirty="0"/>
                        <a:t>****</a:t>
                      </a:r>
                      <a:r>
                        <a:rPr lang="en-US" altLang="zh-CN" dirty="0"/>
                        <a:t>03062405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刘红英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05062506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1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管理部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06092507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2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蒋明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采购部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08082405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王国洋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09022407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929"/>
                  </a:ext>
                </a:extLst>
              </a:tr>
            </a:tbl>
          </a:graphicData>
        </a:graphic>
      </p:graphicFrame>
      <p:sp>
        <p:nvSpPr>
          <p:cNvPr id="594947" name="Rectangle 3"/>
          <p:cNvSpPr>
            <a:spLocks noChangeArrowheads="1"/>
          </p:cNvSpPr>
          <p:nvPr/>
        </p:nvSpPr>
        <p:spPr bwMode="auto">
          <a:xfrm>
            <a:off x="84138" y="-76200"/>
            <a:ext cx="9601200" cy="1680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            §3.1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关系数据模型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的基本概念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一、基本术语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</a:p>
        </p:txBody>
      </p:sp>
      <p:grpSp>
        <p:nvGrpSpPr>
          <p:cNvPr id="594948" name="Group 4"/>
          <p:cNvGrpSpPr>
            <a:grpSpLocks/>
          </p:cNvGrpSpPr>
          <p:nvPr/>
        </p:nvGrpSpPr>
        <p:grpSpPr bwMode="auto">
          <a:xfrm>
            <a:off x="152400" y="152400"/>
            <a:ext cx="8991600" cy="973138"/>
            <a:chOff x="0" y="288"/>
            <a:chExt cx="5760" cy="864"/>
          </a:xfrm>
        </p:grpSpPr>
        <p:sp>
          <p:nvSpPr>
            <p:cNvPr id="594949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4950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4951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4952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4953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594954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itchFamily="34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806856CD-DC49-474D-872C-FF4D109DCB82}"/>
              </a:ext>
            </a:extLst>
          </p:cNvPr>
          <p:cNvSpPr txBox="1"/>
          <p:nvPr/>
        </p:nvSpPr>
        <p:spPr>
          <a:xfrm>
            <a:off x="611240" y="2163629"/>
            <a:ext cx="71272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职工表（实体集）：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由行和列交叉组成的二维表格，也即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08F436-5020-CC4A-9A51-F2368E13933A}"/>
              </a:ext>
            </a:extLst>
          </p:cNvPr>
          <p:cNvSpPr/>
          <p:nvPr/>
        </p:nvSpPr>
        <p:spPr bwMode="auto">
          <a:xfrm>
            <a:off x="388301" y="2845860"/>
            <a:ext cx="7253818" cy="37723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8" name="线形标注 1 7">
            <a:extLst>
              <a:ext uri="{FF2B5EF4-FFF2-40B4-BE49-F238E27FC236}">
                <a16:creationId xmlns:a16="http://schemas.microsoft.com/office/drawing/2014/main" id="{0ED99C50-1435-5E48-BCFE-798E8B338987}"/>
              </a:ext>
            </a:extLst>
          </p:cNvPr>
          <p:cNvSpPr/>
          <p:nvPr/>
        </p:nvSpPr>
        <p:spPr bwMode="auto">
          <a:xfrm>
            <a:off x="7836674" y="2683605"/>
            <a:ext cx="1008112" cy="1569660"/>
          </a:xfrm>
          <a:prstGeom prst="borderCallout1">
            <a:avLst>
              <a:gd name="adj1" fmla="val 49332"/>
              <a:gd name="adj2" fmla="val -2385"/>
              <a:gd name="adj3" fmla="val 31160"/>
              <a:gd name="adj4" fmla="val -16807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元组即记录：表示实体集中的一个实体</a:t>
            </a:r>
          </a:p>
        </p:txBody>
      </p:sp>
      <p:sp>
        <p:nvSpPr>
          <p:cNvPr id="18" name="线形标注 1 17">
            <a:extLst>
              <a:ext uri="{FF2B5EF4-FFF2-40B4-BE49-F238E27FC236}">
                <a16:creationId xmlns:a16="http://schemas.microsoft.com/office/drawing/2014/main" id="{AA1128E1-D3ED-B64C-B370-8188B4CAD709}"/>
              </a:ext>
            </a:extLst>
          </p:cNvPr>
          <p:cNvSpPr/>
          <p:nvPr/>
        </p:nvSpPr>
        <p:spPr bwMode="auto">
          <a:xfrm>
            <a:off x="2627784" y="5534598"/>
            <a:ext cx="1098617" cy="830997"/>
          </a:xfrm>
          <a:prstGeom prst="borderCallout1">
            <a:avLst>
              <a:gd name="adj1" fmla="val -3014"/>
              <a:gd name="adj2" fmla="val 55186"/>
              <a:gd name="adj3" fmla="val -91734"/>
              <a:gd name="adj4" fmla="val 54503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属性，字段或数据项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22EFEE4-3071-3441-8926-5C418493073D}"/>
              </a:ext>
            </a:extLst>
          </p:cNvPr>
          <p:cNvSpPr/>
          <p:nvPr/>
        </p:nvSpPr>
        <p:spPr bwMode="auto">
          <a:xfrm>
            <a:off x="2721359" y="2485360"/>
            <a:ext cx="1098617" cy="2299091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21" name="线形标注 1 20">
            <a:extLst>
              <a:ext uri="{FF2B5EF4-FFF2-40B4-BE49-F238E27FC236}">
                <a16:creationId xmlns:a16="http://schemas.microsoft.com/office/drawing/2014/main" id="{738423D3-8669-E54B-A04D-35B07191D310}"/>
              </a:ext>
            </a:extLst>
          </p:cNvPr>
          <p:cNvSpPr/>
          <p:nvPr/>
        </p:nvSpPr>
        <p:spPr bwMode="auto">
          <a:xfrm>
            <a:off x="357431" y="5042156"/>
            <a:ext cx="1350794" cy="1323439"/>
          </a:xfrm>
          <a:prstGeom prst="borderCallout1">
            <a:avLst>
              <a:gd name="adj1" fmla="val -3014"/>
              <a:gd name="adj2" fmla="val 55186"/>
              <a:gd name="adj3" fmla="val -19090"/>
              <a:gd name="adj4" fmla="val 54503"/>
            </a:avLst>
          </a:prstGeom>
          <a:noFill/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主键：能唯一标识表中不同行的属性或属性组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C2337C3-E719-1D4B-B196-EBEBECC874FF}"/>
              </a:ext>
            </a:extLst>
          </p:cNvPr>
          <p:cNvSpPr/>
          <p:nvPr/>
        </p:nvSpPr>
        <p:spPr bwMode="auto">
          <a:xfrm>
            <a:off x="331865" y="2468161"/>
            <a:ext cx="1401926" cy="2249847"/>
          </a:xfrm>
          <a:prstGeom prst="rect">
            <a:avLst/>
          </a:prstGeom>
          <a:noFill/>
          <a:ln w="19050" cap="flat" cmpd="sng" algn="ctr">
            <a:solidFill>
              <a:srgbClr val="FFFF0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24" name="线形标注 1 23">
            <a:extLst>
              <a:ext uri="{FF2B5EF4-FFF2-40B4-BE49-F238E27FC236}">
                <a16:creationId xmlns:a16="http://schemas.microsoft.com/office/drawing/2014/main" id="{0C8AD0E6-5FA4-6944-98EC-69EB1A616ECE}"/>
              </a:ext>
            </a:extLst>
          </p:cNvPr>
          <p:cNvSpPr/>
          <p:nvPr/>
        </p:nvSpPr>
        <p:spPr bwMode="auto">
          <a:xfrm>
            <a:off x="237875" y="1665416"/>
            <a:ext cx="8685636" cy="338554"/>
          </a:xfrm>
          <a:prstGeom prst="borderCallout1">
            <a:avLst>
              <a:gd name="adj1" fmla="val 103350"/>
              <a:gd name="adj2" fmla="val 29076"/>
              <a:gd name="adj3" fmla="val 162346"/>
              <a:gd name="adj4" fmla="val 27708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关系模型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：用二维表格表示实体集，外键和主键表示实体间联系的数据模型。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8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4">
            <a:extLst>
              <a:ext uri="{FF2B5EF4-FFF2-40B4-BE49-F238E27FC236}">
                <a16:creationId xmlns:a16="http://schemas.microsoft.com/office/drawing/2014/main" id="{B673E919-40CB-0B47-B5B0-9478F14E4EE1}"/>
              </a:ext>
            </a:extLst>
          </p:cNvPr>
          <p:cNvGraphicFramePr>
            <a:graphicFrameLocks noGrp="1"/>
          </p:cNvGraphicFramePr>
          <p:nvPr/>
        </p:nvGraphicFramePr>
        <p:xfrm>
          <a:off x="688631" y="2020355"/>
          <a:ext cx="7248353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83615022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4876262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8560709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32269886"/>
                    </a:ext>
                  </a:extLst>
                </a:gridCol>
                <a:gridCol w="832791">
                  <a:extLst>
                    <a:ext uri="{9D8B030D-6E8A-4147-A177-3AD203B41FA5}">
                      <a16:colId xmlns:a16="http://schemas.microsoft.com/office/drawing/2014/main" val="2210278073"/>
                    </a:ext>
                  </a:extLst>
                </a:gridCol>
                <a:gridCol w="2239098">
                  <a:extLst>
                    <a:ext uri="{9D8B030D-6E8A-4147-A177-3AD203B41FA5}">
                      <a16:colId xmlns:a16="http://schemas.microsoft.com/office/drawing/2014/main" val="3343172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职工编号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身份证号码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程晓清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310110</a:t>
                      </a:r>
                      <a:r>
                        <a:rPr lang="zh-CN" altLang="en-US" dirty="0"/>
                        <a:t>****</a:t>
                      </a:r>
                      <a:r>
                        <a:rPr lang="en-US" altLang="zh-CN" dirty="0"/>
                        <a:t>03062405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刘红英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05062506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1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管理部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06092507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2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蒋明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采购部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08082405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王国洋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09022407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929"/>
                  </a:ext>
                </a:extLst>
              </a:tr>
            </a:tbl>
          </a:graphicData>
        </a:graphic>
      </p:graphicFrame>
      <p:sp>
        <p:nvSpPr>
          <p:cNvPr id="595970" name="Rectangle 2"/>
          <p:cNvSpPr>
            <a:spLocks noChangeArrowheads="1"/>
          </p:cNvSpPr>
          <p:nvPr/>
        </p:nvSpPr>
        <p:spPr bwMode="auto">
          <a:xfrm>
            <a:off x="53975" y="0"/>
            <a:ext cx="9036050" cy="212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二、数学定义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3.1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域（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Domain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）是值的集合。即域是属性的取值范围。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761FC4-BFDA-3845-9C90-B2A319182E94}"/>
              </a:ext>
            </a:extLst>
          </p:cNvPr>
          <p:cNvSpPr txBox="1"/>
          <p:nvPr/>
        </p:nvSpPr>
        <p:spPr>
          <a:xfrm>
            <a:off x="3329401" y="1643693"/>
            <a:ext cx="224933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职工表（实体集）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9" name="线形标注 1 8">
            <a:extLst>
              <a:ext uri="{FF2B5EF4-FFF2-40B4-BE49-F238E27FC236}">
                <a16:creationId xmlns:a16="http://schemas.microsoft.com/office/drawing/2014/main" id="{9690DC09-AF33-3D4F-885F-D591CACB12E4}"/>
              </a:ext>
            </a:extLst>
          </p:cNvPr>
          <p:cNvSpPr/>
          <p:nvPr/>
        </p:nvSpPr>
        <p:spPr bwMode="auto">
          <a:xfrm>
            <a:off x="2774107" y="4747317"/>
            <a:ext cx="1251824" cy="338554"/>
          </a:xfrm>
          <a:prstGeom prst="borderCallout1">
            <a:avLst>
              <a:gd name="adj1" fmla="val -3014"/>
              <a:gd name="adj2" fmla="val 55186"/>
              <a:gd name="adj3" fmla="val -91734"/>
              <a:gd name="adj4" fmla="val 54503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属性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F4303F-C635-AB4A-987E-C27F7B1FFC4E}"/>
              </a:ext>
            </a:extLst>
          </p:cNvPr>
          <p:cNvSpPr/>
          <p:nvPr/>
        </p:nvSpPr>
        <p:spPr bwMode="auto">
          <a:xfrm>
            <a:off x="2927314" y="1958863"/>
            <a:ext cx="1098617" cy="2474524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1" name="线形标注 1 10">
            <a:extLst>
              <a:ext uri="{FF2B5EF4-FFF2-40B4-BE49-F238E27FC236}">
                <a16:creationId xmlns:a16="http://schemas.microsoft.com/office/drawing/2014/main" id="{9ED53211-0E20-B448-AD1E-7E9C5327DD17}"/>
              </a:ext>
            </a:extLst>
          </p:cNvPr>
          <p:cNvSpPr/>
          <p:nvPr/>
        </p:nvSpPr>
        <p:spPr bwMode="auto">
          <a:xfrm>
            <a:off x="2774107" y="5396443"/>
            <a:ext cx="1251824" cy="984885"/>
          </a:xfrm>
          <a:prstGeom prst="borderCallout1">
            <a:avLst>
              <a:gd name="adj1" fmla="val 1414"/>
              <a:gd name="adj2" fmla="val 55186"/>
              <a:gd name="adj3" fmla="val -31896"/>
              <a:gd name="adj4" fmla="val 54503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i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属性的取值范围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01A1D7-DB0F-F645-A476-A46707FFFCB1}"/>
              </a:ext>
            </a:extLst>
          </p:cNvPr>
          <p:cNvSpPr txBox="1"/>
          <p:nvPr/>
        </p:nvSpPr>
        <p:spPr>
          <a:xfrm>
            <a:off x="4283968" y="4308492"/>
            <a:ext cx="19800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？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职工性别的域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973AF1-90D1-4D4B-B76B-F76FFB52177A}"/>
              </a:ext>
            </a:extLst>
          </p:cNvPr>
          <p:cNvSpPr txBox="1"/>
          <p:nvPr/>
        </p:nvSpPr>
        <p:spPr>
          <a:xfrm>
            <a:off x="4283968" y="4724832"/>
            <a:ext cx="3264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！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职工性别的域是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{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男，女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}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400C205-0C94-E249-AB8D-56177567D4AE}"/>
              </a:ext>
            </a:extLst>
          </p:cNvPr>
          <p:cNvSpPr txBox="1"/>
          <p:nvPr/>
        </p:nvSpPr>
        <p:spPr>
          <a:xfrm>
            <a:off x="4283968" y="5113243"/>
            <a:ext cx="3135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！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职工年龄的域是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[0,100]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0C73650-CB99-8748-98DD-7D92580C7061}"/>
              </a:ext>
            </a:extLst>
          </p:cNvPr>
          <p:cNvSpPr txBox="1"/>
          <p:nvPr/>
        </p:nvSpPr>
        <p:spPr>
          <a:xfrm>
            <a:off x="4312808" y="5492269"/>
            <a:ext cx="428835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！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职工部门的域是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{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销售部，财务部，管理部，采购部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}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3" name="线形标注 1 12">
            <a:extLst>
              <a:ext uri="{FF2B5EF4-FFF2-40B4-BE49-F238E27FC236}">
                <a16:creationId xmlns:a16="http://schemas.microsoft.com/office/drawing/2014/main" id="{C299FE8C-9169-104C-B8C8-9DF5F2B71D0A}"/>
              </a:ext>
            </a:extLst>
          </p:cNvPr>
          <p:cNvSpPr/>
          <p:nvPr/>
        </p:nvSpPr>
        <p:spPr bwMode="auto">
          <a:xfrm>
            <a:off x="1466200" y="5428862"/>
            <a:ext cx="1049870" cy="830997"/>
          </a:xfrm>
          <a:prstGeom prst="borderCallout1">
            <a:avLst>
              <a:gd name="adj1" fmla="val 1414"/>
              <a:gd name="adj2" fmla="val 55186"/>
              <a:gd name="adj3" fmla="val -41899"/>
              <a:gd name="adj4" fmla="val 195218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元数：属性的个数</a:t>
            </a:r>
          </a:p>
        </p:txBody>
      </p:sp>
    </p:spTree>
    <p:extLst>
      <p:ext uri="{BB962C8B-B14F-4D97-AF65-F5344CB8AC3E}">
        <p14:creationId xmlns:p14="http://schemas.microsoft.com/office/powerpoint/2010/main" val="123245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2" grpId="0"/>
      <p:bldP spid="15" grpId="0"/>
      <p:bldP spid="16" grpId="0"/>
      <p:bldP spid="17" grpId="0"/>
      <p:bldP spid="17" grpId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ChangeArrowheads="1"/>
          </p:cNvSpPr>
          <p:nvPr/>
        </p:nvSpPr>
        <p:spPr bwMode="auto">
          <a:xfrm>
            <a:off x="0" y="0"/>
            <a:ext cx="9036050" cy="4345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二、数学定义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3.2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关系的定义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用集合论的观点定义关系：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用值域的观点定义关系：</a:t>
            </a:r>
          </a:p>
        </p:txBody>
      </p:sp>
    </p:spTree>
    <p:extLst>
      <p:ext uri="{BB962C8B-B14F-4D97-AF65-F5344CB8AC3E}">
        <p14:creationId xmlns:p14="http://schemas.microsoft.com/office/powerpoint/2010/main" val="3195711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ChangeArrowheads="1"/>
          </p:cNvSpPr>
          <p:nvPr/>
        </p:nvSpPr>
        <p:spPr bwMode="auto">
          <a:xfrm>
            <a:off x="0" y="0"/>
            <a:ext cx="9036050" cy="362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二、数学定义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3.2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关系的定义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用集合论的观点定义关系：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95971" name="Rectangle 3"/>
          <p:cNvSpPr>
            <a:spLocks noChangeArrowheads="1"/>
          </p:cNvSpPr>
          <p:nvPr/>
        </p:nvSpPr>
        <p:spPr bwMode="auto">
          <a:xfrm>
            <a:off x="755650" y="1352549"/>
            <a:ext cx="8388350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               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关系是一个元数为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K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的元组的集合。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即这个关系中有若干个元组，每个元组有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K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个属性值。 把关系看成一个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集合，集合中的元素是元组。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57DBA6B-1629-4346-A8FF-08C7832DBAA4}"/>
              </a:ext>
            </a:extLst>
          </p:cNvPr>
          <p:cNvSpPr txBox="1"/>
          <p:nvPr/>
        </p:nvSpPr>
        <p:spPr>
          <a:xfrm>
            <a:off x="1023561" y="3626956"/>
            <a:ext cx="712727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职工表（实体集）：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由行和列交叉组成的二维表格，也即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A82A61-129A-D74F-8DCD-940F258E8607}"/>
              </a:ext>
            </a:extLst>
          </p:cNvPr>
          <p:cNvSpPr txBox="1"/>
          <p:nvPr/>
        </p:nvSpPr>
        <p:spPr>
          <a:xfrm>
            <a:off x="3563888" y="4027066"/>
            <a:ext cx="2910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每个元组有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6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个属性值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4ABD3AC3-C34E-EF42-A678-F52CD1C6BA39}"/>
              </a:ext>
            </a:extLst>
          </p:cNvPr>
          <p:cNvSpPr/>
          <p:nvPr/>
        </p:nvSpPr>
        <p:spPr bwMode="auto">
          <a:xfrm>
            <a:off x="629476" y="4979504"/>
            <a:ext cx="126174" cy="1761864"/>
          </a:xfrm>
          <a:prstGeom prst="leftBrac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30C194-4628-9A42-AA2E-D5B261C74ED3}"/>
              </a:ext>
            </a:extLst>
          </p:cNvPr>
          <p:cNvSpPr txBox="1"/>
          <p:nvPr/>
        </p:nvSpPr>
        <p:spPr>
          <a:xfrm>
            <a:off x="55999" y="5286246"/>
            <a:ext cx="643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5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个元组</a:t>
            </a:r>
          </a:p>
        </p:txBody>
      </p:sp>
      <p:sp>
        <p:nvSpPr>
          <p:cNvPr id="13" name="左大括号 12">
            <a:extLst>
              <a:ext uri="{FF2B5EF4-FFF2-40B4-BE49-F238E27FC236}">
                <a16:creationId xmlns:a16="http://schemas.microsoft.com/office/drawing/2014/main" id="{E61B3B9E-0E8F-E24C-AD73-357A3B783772}"/>
              </a:ext>
            </a:extLst>
          </p:cNvPr>
          <p:cNvSpPr/>
          <p:nvPr/>
        </p:nvSpPr>
        <p:spPr bwMode="auto">
          <a:xfrm rot="5400000">
            <a:off x="4708648" y="531493"/>
            <a:ext cx="248675" cy="7866789"/>
          </a:xfrm>
          <a:prstGeom prst="leftBrac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graphicFrame>
        <p:nvGraphicFramePr>
          <p:cNvPr id="16" name="表格 4">
            <a:extLst>
              <a:ext uri="{FF2B5EF4-FFF2-40B4-BE49-F238E27FC236}">
                <a16:creationId xmlns:a16="http://schemas.microsoft.com/office/drawing/2014/main" id="{A3B70913-AA2B-8444-86B7-A3B89BB61B39}"/>
              </a:ext>
            </a:extLst>
          </p:cNvPr>
          <p:cNvGraphicFramePr>
            <a:graphicFrameLocks noGrp="1"/>
          </p:cNvGraphicFramePr>
          <p:nvPr/>
        </p:nvGraphicFramePr>
        <p:xfrm>
          <a:off x="860697" y="4589225"/>
          <a:ext cx="790568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6932">
                  <a:extLst>
                    <a:ext uri="{9D8B030D-6E8A-4147-A177-3AD203B41FA5}">
                      <a16:colId xmlns:a16="http://schemas.microsoft.com/office/drawing/2014/main" val="836150226"/>
                    </a:ext>
                  </a:extLst>
                </a:gridCol>
                <a:gridCol w="886850">
                  <a:extLst>
                    <a:ext uri="{9D8B030D-6E8A-4147-A177-3AD203B41FA5}">
                      <a16:colId xmlns:a16="http://schemas.microsoft.com/office/drawing/2014/main" val="348762623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485607095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832269886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210278073"/>
                    </a:ext>
                  </a:extLst>
                </a:gridCol>
                <a:gridCol w="2239098">
                  <a:extLst>
                    <a:ext uri="{9D8B030D-6E8A-4147-A177-3AD203B41FA5}">
                      <a16:colId xmlns:a16="http://schemas.microsoft.com/office/drawing/2014/main" val="3343172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职工编号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身份证号码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程晓清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310110</a:t>
                      </a:r>
                      <a:r>
                        <a:rPr lang="zh-CN" altLang="en-US" dirty="0"/>
                        <a:t>****</a:t>
                      </a:r>
                      <a:r>
                        <a:rPr lang="en-US" altLang="zh-CN" dirty="0"/>
                        <a:t>03062405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刘红英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05062506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1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管理部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06092507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2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蒋明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采购部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08082405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王国洋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09022407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56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5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1" grpId="0"/>
      <p:bldP spid="4" grpId="0"/>
      <p:bldP spid="2" grpId="0"/>
      <p:bldP spid="3" grpId="0" animBg="1"/>
      <p:bldP spid="12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ChangeArrowheads="1"/>
          </p:cNvSpPr>
          <p:nvPr/>
        </p:nvSpPr>
        <p:spPr bwMode="auto">
          <a:xfrm>
            <a:off x="0" y="0"/>
            <a:ext cx="9036050" cy="1837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二、数学定义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3.2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关系的定义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用值域的观点定义关系：</a:t>
            </a:r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auto">
          <a:xfrm>
            <a:off x="3670300" y="1126213"/>
            <a:ext cx="536575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关系是属性值域笛卡儿积的一个子集。</a:t>
            </a:r>
          </a:p>
        </p:txBody>
      </p:sp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8F2654FF-386A-C841-B934-B354874B7A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t="15750" r="29638" b="69804"/>
          <a:stretch/>
        </p:blipFill>
        <p:spPr>
          <a:xfrm>
            <a:off x="71561" y="1913985"/>
            <a:ext cx="8964489" cy="1737395"/>
          </a:xfrm>
          <a:prstGeom prst="rect">
            <a:avLst/>
          </a:prstGeom>
        </p:spPr>
      </p:pic>
      <p:sp>
        <p:nvSpPr>
          <p:cNvPr id="8" name="线形标注 1 7">
            <a:extLst>
              <a:ext uri="{FF2B5EF4-FFF2-40B4-BE49-F238E27FC236}">
                <a16:creationId xmlns:a16="http://schemas.microsoft.com/office/drawing/2014/main" id="{959DA7AB-AF69-044E-B4A7-5CEEFAB6BE83}"/>
              </a:ext>
            </a:extLst>
          </p:cNvPr>
          <p:cNvSpPr/>
          <p:nvPr/>
        </p:nvSpPr>
        <p:spPr bwMode="auto">
          <a:xfrm>
            <a:off x="333517" y="3962397"/>
            <a:ext cx="1251824" cy="338554"/>
          </a:xfrm>
          <a:prstGeom prst="borderCallout1">
            <a:avLst>
              <a:gd name="adj1" fmla="val 106293"/>
              <a:gd name="adj2" fmla="val 47070"/>
              <a:gd name="adj3" fmla="val 115966"/>
              <a:gd name="adj4" fmla="val 50445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,m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=5</a:t>
            </a:r>
          </a:p>
        </p:txBody>
      </p:sp>
      <p:sp>
        <p:nvSpPr>
          <p:cNvPr id="9" name="线形标注 1 8">
            <a:extLst>
              <a:ext uri="{FF2B5EF4-FFF2-40B4-BE49-F238E27FC236}">
                <a16:creationId xmlns:a16="http://schemas.microsoft.com/office/drawing/2014/main" id="{7C2AD34F-84F1-A748-BCB2-BCE50A5AC243}"/>
              </a:ext>
            </a:extLst>
          </p:cNvPr>
          <p:cNvSpPr/>
          <p:nvPr/>
        </p:nvSpPr>
        <p:spPr bwMode="auto">
          <a:xfrm>
            <a:off x="1701669" y="3991599"/>
            <a:ext cx="1251824" cy="338554"/>
          </a:xfrm>
          <a:prstGeom prst="borderCallout1">
            <a:avLst>
              <a:gd name="adj1" fmla="val 106293"/>
              <a:gd name="adj2" fmla="val 47070"/>
              <a:gd name="adj3" fmla="val 115966"/>
              <a:gd name="adj4" fmla="val 50445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2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,m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2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=5</a:t>
            </a:r>
          </a:p>
        </p:txBody>
      </p:sp>
      <p:sp>
        <p:nvSpPr>
          <p:cNvPr id="10" name="线形标注 1 9">
            <a:extLst>
              <a:ext uri="{FF2B5EF4-FFF2-40B4-BE49-F238E27FC236}">
                <a16:creationId xmlns:a16="http://schemas.microsoft.com/office/drawing/2014/main" id="{C58E3AE9-F9B9-1346-87FA-073C1D078AE1}"/>
              </a:ext>
            </a:extLst>
          </p:cNvPr>
          <p:cNvSpPr/>
          <p:nvPr/>
        </p:nvSpPr>
        <p:spPr bwMode="auto">
          <a:xfrm>
            <a:off x="3069821" y="3991599"/>
            <a:ext cx="1251824" cy="338554"/>
          </a:xfrm>
          <a:prstGeom prst="borderCallout1">
            <a:avLst>
              <a:gd name="adj1" fmla="val 106293"/>
              <a:gd name="adj2" fmla="val 47070"/>
              <a:gd name="adj3" fmla="val 115966"/>
              <a:gd name="adj4" fmla="val 50445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,m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=4</a:t>
            </a:r>
          </a:p>
        </p:txBody>
      </p:sp>
      <p:sp>
        <p:nvSpPr>
          <p:cNvPr id="11" name="线形标注 1 10">
            <a:extLst>
              <a:ext uri="{FF2B5EF4-FFF2-40B4-BE49-F238E27FC236}">
                <a16:creationId xmlns:a16="http://schemas.microsoft.com/office/drawing/2014/main" id="{68414F76-0D4F-324F-90C8-5638FD2C1009}"/>
              </a:ext>
            </a:extLst>
          </p:cNvPr>
          <p:cNvSpPr/>
          <p:nvPr/>
        </p:nvSpPr>
        <p:spPr bwMode="auto">
          <a:xfrm>
            <a:off x="4437973" y="3991599"/>
            <a:ext cx="1251824" cy="338554"/>
          </a:xfrm>
          <a:prstGeom prst="borderCallout1">
            <a:avLst>
              <a:gd name="adj1" fmla="val 106293"/>
              <a:gd name="adj2" fmla="val 47070"/>
              <a:gd name="adj3" fmla="val 115966"/>
              <a:gd name="adj4" fmla="val 50445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4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,m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4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=2</a:t>
            </a:r>
          </a:p>
        </p:txBody>
      </p:sp>
      <p:sp>
        <p:nvSpPr>
          <p:cNvPr id="12" name="线形标注 1 11">
            <a:extLst>
              <a:ext uri="{FF2B5EF4-FFF2-40B4-BE49-F238E27FC236}">
                <a16:creationId xmlns:a16="http://schemas.microsoft.com/office/drawing/2014/main" id="{970A005F-5D67-704A-9991-0B8D3A30BF93}"/>
              </a:ext>
            </a:extLst>
          </p:cNvPr>
          <p:cNvSpPr/>
          <p:nvPr/>
        </p:nvSpPr>
        <p:spPr bwMode="auto">
          <a:xfrm>
            <a:off x="5806125" y="4007653"/>
            <a:ext cx="1251824" cy="338554"/>
          </a:xfrm>
          <a:prstGeom prst="borderCallout1">
            <a:avLst>
              <a:gd name="adj1" fmla="val 106293"/>
              <a:gd name="adj2" fmla="val 47070"/>
              <a:gd name="adj3" fmla="val 115966"/>
              <a:gd name="adj4" fmla="val 50445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5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,m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5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=4</a:t>
            </a:r>
          </a:p>
        </p:txBody>
      </p:sp>
      <p:sp>
        <p:nvSpPr>
          <p:cNvPr id="13" name="线形标注 1 12">
            <a:extLst>
              <a:ext uri="{FF2B5EF4-FFF2-40B4-BE49-F238E27FC236}">
                <a16:creationId xmlns:a16="http://schemas.microsoft.com/office/drawing/2014/main" id="{7D12DCA5-CA1E-5044-A23A-27D7DB8DB98C}"/>
              </a:ext>
            </a:extLst>
          </p:cNvPr>
          <p:cNvSpPr/>
          <p:nvPr/>
        </p:nvSpPr>
        <p:spPr bwMode="auto">
          <a:xfrm>
            <a:off x="7317245" y="3991599"/>
            <a:ext cx="1251824" cy="338554"/>
          </a:xfrm>
          <a:prstGeom prst="borderCallout1">
            <a:avLst>
              <a:gd name="adj1" fmla="val 106293"/>
              <a:gd name="adj2" fmla="val 47070"/>
              <a:gd name="adj3" fmla="val 115966"/>
              <a:gd name="adj4" fmla="val 50445"/>
            </a:avLst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域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6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,m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6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=5</a:t>
            </a:r>
          </a:p>
        </p:txBody>
      </p:sp>
      <p:graphicFrame>
        <p:nvGraphicFramePr>
          <p:cNvPr id="15" name="表格 4">
            <a:extLst>
              <a:ext uri="{FF2B5EF4-FFF2-40B4-BE49-F238E27FC236}">
                <a16:creationId xmlns:a16="http://schemas.microsoft.com/office/drawing/2014/main" id="{3522CACA-8599-E444-AE22-1E1DA1BC81D2}"/>
              </a:ext>
            </a:extLst>
          </p:cNvPr>
          <p:cNvGraphicFramePr>
            <a:graphicFrameLocks noGrp="1"/>
          </p:cNvGraphicFramePr>
          <p:nvPr/>
        </p:nvGraphicFramePr>
        <p:xfrm>
          <a:off x="619158" y="4444320"/>
          <a:ext cx="790568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6932">
                  <a:extLst>
                    <a:ext uri="{9D8B030D-6E8A-4147-A177-3AD203B41FA5}">
                      <a16:colId xmlns:a16="http://schemas.microsoft.com/office/drawing/2014/main" val="836150226"/>
                    </a:ext>
                  </a:extLst>
                </a:gridCol>
                <a:gridCol w="886850">
                  <a:extLst>
                    <a:ext uri="{9D8B030D-6E8A-4147-A177-3AD203B41FA5}">
                      <a16:colId xmlns:a16="http://schemas.microsoft.com/office/drawing/2014/main" val="348762623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485607095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832269886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210278073"/>
                    </a:ext>
                  </a:extLst>
                </a:gridCol>
                <a:gridCol w="2239098">
                  <a:extLst>
                    <a:ext uri="{9D8B030D-6E8A-4147-A177-3AD203B41FA5}">
                      <a16:colId xmlns:a16="http://schemas.microsoft.com/office/drawing/2014/main" val="3343172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职工编号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身份证号码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程晓清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310110</a:t>
                      </a:r>
                      <a:r>
                        <a:rPr lang="zh-CN" altLang="en-US" dirty="0"/>
                        <a:t>****</a:t>
                      </a:r>
                      <a:r>
                        <a:rPr lang="en-US" altLang="zh-CN" dirty="0"/>
                        <a:t>03062405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刘红英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05062506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1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管理部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06092507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2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蒋明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采购部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08082405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王国洋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09022407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92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D71BF5-6008-3344-A2DC-DBD2620FE679}"/>
                  </a:ext>
                </a:extLst>
              </p:cNvPr>
              <p:cNvSpPr txBox="1"/>
              <p:nvPr/>
            </p:nvSpPr>
            <p:spPr>
              <a:xfrm>
                <a:off x="3872920" y="3316159"/>
                <a:ext cx="674479" cy="5366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just" defTabSz="914400" rtl="0" eaLnBrk="1" fontAlgn="base" latinLnBrk="0" hangingPunct="1">
                  <a:lnSpc>
                    <a:spcPct val="8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ctrlPr>
                            <a:rPr kumimoji="1" lang="zh-CN" alt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kumimoji="1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i</m:t>
                          </m:r>
                          <m:r>
                            <a:rPr kumimoji="1" lang="en-US" altLang="zh-CN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kumimoji="1" lang="en-US" altLang="zh-CN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n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zh-CN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D71BF5-6008-3344-A2DC-DBD2620FE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920" y="3316159"/>
                <a:ext cx="674479" cy="536685"/>
              </a:xfrm>
              <a:prstGeom prst="rect">
                <a:avLst/>
              </a:prstGeom>
              <a:blipFill>
                <a:blip r:embed="rId4"/>
                <a:stretch>
                  <a:fillRect l="-105455" t="-172093" r="-23636" b="-2372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8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72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970" name="Rectangle 2"/>
          <p:cNvSpPr>
            <a:spLocks noChangeArrowheads="1"/>
          </p:cNvSpPr>
          <p:nvPr/>
        </p:nvSpPr>
        <p:spPr bwMode="auto">
          <a:xfrm>
            <a:off x="0" y="0"/>
            <a:ext cx="9036050" cy="212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二、数学定义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定义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3.2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关系的定义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Times New Roman" pitchFamily="18" charset="0"/>
              </a:rPr>
              <a:t>②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用值域的观点定义关系：</a:t>
            </a:r>
          </a:p>
        </p:txBody>
      </p:sp>
      <p:sp>
        <p:nvSpPr>
          <p:cNvPr id="595972" name="Rectangle 4"/>
          <p:cNvSpPr>
            <a:spLocks noChangeArrowheads="1"/>
          </p:cNvSpPr>
          <p:nvPr/>
        </p:nvSpPr>
        <p:spPr bwMode="auto">
          <a:xfrm>
            <a:off x="3670300" y="1484784"/>
            <a:ext cx="536575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关系是属性值域笛卡儿积的一个子集。</a:t>
            </a:r>
          </a:p>
        </p:txBody>
      </p:sp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8F2654FF-386A-C841-B934-B354874B7AB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8" t="15750" r="29638" b="65266"/>
          <a:stretch/>
        </p:blipFill>
        <p:spPr>
          <a:xfrm>
            <a:off x="71561" y="2171985"/>
            <a:ext cx="8964489" cy="228323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C9B518B-A069-6A44-B955-BC04D04B2AC9}"/>
              </a:ext>
            </a:extLst>
          </p:cNvPr>
          <p:cNvSpPr txBox="1"/>
          <p:nvPr/>
        </p:nvSpPr>
        <p:spPr>
          <a:xfrm>
            <a:off x="430902" y="4645996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={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沈俊，郑宇，刘悦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}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D9A26F-53C9-6A4A-A247-799A695EB9C5}"/>
              </a:ext>
            </a:extLst>
          </p:cNvPr>
          <p:cNvSpPr txBox="1"/>
          <p:nvPr/>
        </p:nvSpPr>
        <p:spPr>
          <a:xfrm>
            <a:off x="3331994" y="4623917"/>
            <a:ext cx="546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2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={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数据结构，数据库，软件工程，编译原理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}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3470C2-05EA-BC4F-8B0B-DDE690151AEF}"/>
              </a:ext>
            </a:extLst>
          </p:cNvPr>
          <p:cNvSpPr txBox="1"/>
          <p:nvPr/>
        </p:nvSpPr>
        <p:spPr>
          <a:xfrm>
            <a:off x="-53685" y="5301027"/>
            <a:ext cx="93250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和</a:t>
            </a:r>
            <a:r>
              <a:rPr kumimoji="1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2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的笛卡尔积为：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D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✕</a:t>
            </a:r>
            <a:r>
              <a:rPr kumimoji="1" lang="zh-CN" altLang="en-US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2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2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</a:t>
            </a:r>
          </a:p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   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{(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沈俊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数据结构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沈俊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数据库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沈俊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软件工程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沈俊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编译原理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，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B871F4A-DE27-2946-A276-3EFF0AA1BA15}"/>
              </a:ext>
            </a:extLst>
          </p:cNvPr>
          <p:cNvSpPr txBox="1"/>
          <p:nvPr/>
        </p:nvSpPr>
        <p:spPr>
          <a:xfrm>
            <a:off x="-1136732" y="6056793"/>
            <a:ext cx="9936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            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郑宇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数据结构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郑宇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数据库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郑宇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软件工程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郑宇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编译原理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A1992C9-EB9E-2444-A6C7-957AAC25E01A}"/>
              </a:ext>
            </a:extLst>
          </p:cNvPr>
          <p:cNvSpPr txBox="1"/>
          <p:nvPr/>
        </p:nvSpPr>
        <p:spPr>
          <a:xfrm>
            <a:off x="-155285" y="6429552"/>
            <a:ext cx="93250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     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刘悦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数据结构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刘悦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数据库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刘悦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软件工程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(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刘悦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编译原理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)}</a:t>
            </a:r>
            <a:endParaRPr kumimoji="1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FC2DE47-3358-BA47-B9AB-00F4A4A350BF}"/>
              </a:ext>
            </a:extLst>
          </p:cNvPr>
          <p:cNvSpPr txBox="1"/>
          <p:nvPr/>
        </p:nvSpPr>
        <p:spPr>
          <a:xfrm>
            <a:off x="-1260648" y="5513393"/>
            <a:ext cx="546946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B8CC97B-5D2F-4C4F-BBCE-C43B83F72C6E}"/>
              </a:ext>
            </a:extLst>
          </p:cNvPr>
          <p:cNvSpPr txBox="1"/>
          <p:nvPr/>
        </p:nvSpPr>
        <p:spPr>
          <a:xfrm>
            <a:off x="-1335851" y="5889752"/>
            <a:ext cx="546946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5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187B390-AD83-C449-B2A7-0A8D5C6C3F7F}"/>
              </a:ext>
            </a:extLst>
          </p:cNvPr>
          <p:cNvSpPr txBox="1"/>
          <p:nvPr/>
        </p:nvSpPr>
        <p:spPr>
          <a:xfrm>
            <a:off x="2562878" y="5496028"/>
            <a:ext cx="546946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3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17274F1-7005-F44B-8FDD-E36C05D86210}"/>
              </a:ext>
            </a:extLst>
          </p:cNvPr>
          <p:cNvSpPr txBox="1"/>
          <p:nvPr/>
        </p:nvSpPr>
        <p:spPr>
          <a:xfrm>
            <a:off x="4748113" y="5488175"/>
            <a:ext cx="546946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4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AEFA503-91D3-C247-9AC5-886F5468CF4B}"/>
              </a:ext>
            </a:extLst>
          </p:cNvPr>
          <p:cNvSpPr txBox="1"/>
          <p:nvPr/>
        </p:nvSpPr>
        <p:spPr>
          <a:xfrm>
            <a:off x="752294" y="5889752"/>
            <a:ext cx="546946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6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2ED5AB8-50EC-5345-B332-E02F0A783BA4}"/>
              </a:ext>
            </a:extLst>
          </p:cNvPr>
          <p:cNvSpPr txBox="1"/>
          <p:nvPr/>
        </p:nvSpPr>
        <p:spPr>
          <a:xfrm>
            <a:off x="2851448" y="5837089"/>
            <a:ext cx="5469466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7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BBCE880-7781-4346-801C-C8D2EDDEFF39}"/>
              </a:ext>
            </a:extLst>
          </p:cNvPr>
          <p:cNvSpPr txBox="1"/>
          <p:nvPr/>
        </p:nvSpPr>
        <p:spPr>
          <a:xfrm>
            <a:off x="6810682" y="5894223"/>
            <a:ext cx="130010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8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CE78AF8-C4EF-8248-8391-926924C19052}"/>
              </a:ext>
            </a:extLst>
          </p:cNvPr>
          <p:cNvSpPr txBox="1"/>
          <p:nvPr/>
        </p:nvSpPr>
        <p:spPr>
          <a:xfrm>
            <a:off x="1580290" y="5496028"/>
            <a:ext cx="3717321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2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1994EE6-7EC3-2442-8BAA-282D34AB7F29}"/>
              </a:ext>
            </a:extLst>
          </p:cNvPr>
          <p:cNvSpPr txBox="1"/>
          <p:nvPr/>
        </p:nvSpPr>
        <p:spPr>
          <a:xfrm>
            <a:off x="824033" y="6233546"/>
            <a:ext cx="130010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9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506025E-026F-614E-94C1-4F945A500786}"/>
              </a:ext>
            </a:extLst>
          </p:cNvPr>
          <p:cNvSpPr txBox="1"/>
          <p:nvPr/>
        </p:nvSpPr>
        <p:spPr>
          <a:xfrm>
            <a:off x="2862599" y="6266111"/>
            <a:ext cx="130010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10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D01222-8CD6-A24F-8AD4-FB7DD07077D4}"/>
              </a:ext>
            </a:extLst>
          </p:cNvPr>
          <p:cNvSpPr txBox="1"/>
          <p:nvPr/>
        </p:nvSpPr>
        <p:spPr>
          <a:xfrm>
            <a:off x="4647559" y="6233124"/>
            <a:ext cx="130010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11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71DCF80-EA3F-B04E-88B6-B26A580509D0}"/>
              </a:ext>
            </a:extLst>
          </p:cNvPr>
          <p:cNvSpPr txBox="1"/>
          <p:nvPr/>
        </p:nvSpPr>
        <p:spPr>
          <a:xfrm>
            <a:off x="6810682" y="6233124"/>
            <a:ext cx="1300104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12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35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32" grpId="0"/>
      <p:bldP spid="32" grpId="1"/>
      <p:bldP spid="33" grpId="0"/>
      <p:bldP spid="33" grpId="1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65AFA6C-E607-AA41-BF84-1995EB49FCBC}"/>
              </a:ext>
            </a:extLst>
          </p:cNvPr>
          <p:cNvGrpSpPr/>
          <p:nvPr/>
        </p:nvGrpSpPr>
        <p:grpSpPr>
          <a:xfrm>
            <a:off x="0" y="404664"/>
            <a:ext cx="9432602" cy="2470283"/>
            <a:chOff x="107950" y="692696"/>
            <a:chExt cx="9036050" cy="2016224"/>
          </a:xfrm>
        </p:grpSpPr>
        <p:pic>
          <p:nvPicPr>
            <p:cNvPr id="2" name="图片 1" descr="文本, 信件&#10;&#10;描述已自动生成">
              <a:extLst>
                <a:ext uri="{FF2B5EF4-FFF2-40B4-BE49-F238E27FC236}">
                  <a16:creationId xmlns:a16="http://schemas.microsoft.com/office/drawing/2014/main" id="{C70ABEEA-D08B-DB49-9E95-704F6FA313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62" t="55310" r="26267" b="34406"/>
            <a:stretch/>
          </p:blipFill>
          <p:spPr>
            <a:xfrm rot="120000">
              <a:off x="150652" y="980929"/>
              <a:ext cx="8753285" cy="110566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E62F62A-CA14-544C-9EE3-D844F30D43E7}"/>
                </a:ext>
              </a:extLst>
            </p:cNvPr>
            <p:cNvSpPr/>
            <p:nvPr/>
          </p:nvSpPr>
          <p:spPr bwMode="auto">
            <a:xfrm>
              <a:off x="107950" y="692696"/>
              <a:ext cx="1439714" cy="2880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FFB3D08-3E4D-5E43-B547-E50672F19EAD}"/>
                </a:ext>
              </a:extLst>
            </p:cNvPr>
            <p:cNvSpPr/>
            <p:nvPr/>
          </p:nvSpPr>
          <p:spPr bwMode="auto">
            <a:xfrm>
              <a:off x="7956376" y="1618854"/>
              <a:ext cx="1187624" cy="29797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CC4252A-CBF7-8947-90DB-7E1276CCBEA3}"/>
                </a:ext>
              </a:extLst>
            </p:cNvPr>
            <p:cNvSpPr/>
            <p:nvPr/>
          </p:nvSpPr>
          <p:spPr bwMode="auto">
            <a:xfrm>
              <a:off x="2987823" y="2036235"/>
              <a:ext cx="5932741" cy="67268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76E9DC7-EBB6-B748-8029-694EE777A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036050" cy="1390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二、数学定义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AB9FA4-CA4A-4546-A8BA-A8ABD3DB98C9}"/>
              </a:ext>
            </a:extLst>
          </p:cNvPr>
          <p:cNvSpPr txBox="1"/>
          <p:nvPr/>
        </p:nvSpPr>
        <p:spPr>
          <a:xfrm>
            <a:off x="701373" y="2310827"/>
            <a:ext cx="7263527" cy="12413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教师任教课程的关系是教师和课程的笛卡尔积的子集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TC</a:t>
            </a:r>
            <a:r>
              <a:rPr kumimoji="1" lang="zh-CN" altLang="en-US" sz="36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（教师，课程）</a:t>
            </a:r>
            <a:endParaRPr kumimoji="1" lang="en-US" altLang="zh-CN" sz="36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F7FC7FC-51A4-6342-AEFF-9D725D673690}"/>
              </a:ext>
            </a:extLst>
          </p:cNvPr>
          <p:cNvSpPr txBox="1"/>
          <p:nvPr/>
        </p:nvSpPr>
        <p:spPr>
          <a:xfrm>
            <a:off x="624724" y="3804746"/>
            <a:ext cx="7416824" cy="78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TC={(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沈俊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数据结构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郑宇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数据结构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郑宇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数据库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    (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刘悦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数据库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),(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刘悦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软件工程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)}</a:t>
            </a:r>
          </a:p>
        </p:txBody>
      </p:sp>
      <p:sp>
        <p:nvSpPr>
          <p:cNvPr id="16" name="线形标注 2 15">
            <a:extLst>
              <a:ext uri="{FF2B5EF4-FFF2-40B4-BE49-F238E27FC236}">
                <a16:creationId xmlns:a16="http://schemas.microsoft.com/office/drawing/2014/main" id="{07823D32-9FD2-0E48-B1FA-B502150FA5C3}"/>
              </a:ext>
            </a:extLst>
          </p:cNvPr>
          <p:cNvSpPr/>
          <p:nvPr/>
        </p:nvSpPr>
        <p:spPr bwMode="auto">
          <a:xfrm>
            <a:off x="2420322" y="3391373"/>
            <a:ext cx="576064" cy="3139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9663"/>
              <a:gd name="adj6" fmla="val -34909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8" name="线形标注 2 17">
            <a:extLst>
              <a:ext uri="{FF2B5EF4-FFF2-40B4-BE49-F238E27FC236}">
                <a16:creationId xmlns:a16="http://schemas.microsoft.com/office/drawing/2014/main" id="{4DCDC720-52E5-3E48-A0F3-C824E439D513}"/>
              </a:ext>
            </a:extLst>
          </p:cNvPr>
          <p:cNvSpPr/>
          <p:nvPr/>
        </p:nvSpPr>
        <p:spPr bwMode="auto">
          <a:xfrm>
            <a:off x="4613290" y="3395226"/>
            <a:ext cx="576064" cy="3139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9663"/>
              <a:gd name="adj6" fmla="val -34909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5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19" name="线形标注 2 18">
            <a:extLst>
              <a:ext uri="{FF2B5EF4-FFF2-40B4-BE49-F238E27FC236}">
                <a16:creationId xmlns:a16="http://schemas.microsoft.com/office/drawing/2014/main" id="{8855D681-D90A-6944-B0F8-5F495D8BE87C}"/>
              </a:ext>
            </a:extLst>
          </p:cNvPr>
          <p:cNvSpPr/>
          <p:nvPr/>
        </p:nvSpPr>
        <p:spPr bwMode="auto">
          <a:xfrm>
            <a:off x="6670804" y="3316743"/>
            <a:ext cx="576064" cy="3139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9663"/>
              <a:gd name="adj6" fmla="val -34909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6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20" name="线形标注 2 19">
            <a:extLst>
              <a:ext uri="{FF2B5EF4-FFF2-40B4-BE49-F238E27FC236}">
                <a16:creationId xmlns:a16="http://schemas.microsoft.com/office/drawing/2014/main" id="{796B3971-4F3C-8144-9AFE-FD44C5418DDC}"/>
              </a:ext>
            </a:extLst>
          </p:cNvPr>
          <p:cNvSpPr/>
          <p:nvPr/>
        </p:nvSpPr>
        <p:spPr bwMode="auto">
          <a:xfrm>
            <a:off x="2123728" y="5059230"/>
            <a:ext cx="576064" cy="3139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6338"/>
              <a:gd name="adj6" fmla="val 12123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10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  <p:sp>
        <p:nvSpPr>
          <p:cNvPr id="21" name="线形标注 2 20">
            <a:extLst>
              <a:ext uri="{FF2B5EF4-FFF2-40B4-BE49-F238E27FC236}">
                <a16:creationId xmlns:a16="http://schemas.microsoft.com/office/drawing/2014/main" id="{50028991-8292-8A43-BD36-0C4337F33EBB}"/>
              </a:ext>
            </a:extLst>
          </p:cNvPr>
          <p:cNvSpPr/>
          <p:nvPr/>
        </p:nvSpPr>
        <p:spPr bwMode="auto">
          <a:xfrm>
            <a:off x="3995936" y="5120031"/>
            <a:ext cx="576064" cy="3139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6338"/>
              <a:gd name="adj6" fmla="val 12123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d</a:t>
            </a:r>
            <a:r>
              <a:rPr kumimoji="1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11</a:t>
            </a:r>
            <a:endParaRPr kumimoji="1" lang="zh-CN" altLang="en-US" sz="1800" b="0" i="0" u="none" strike="noStrike" kern="1200" cap="none" spc="0" normalizeH="0" baseline="-25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67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8" name="Rectangle 2"/>
          <p:cNvSpPr>
            <a:spLocks noChangeArrowheads="1"/>
          </p:cNvSpPr>
          <p:nvPr/>
        </p:nvSpPr>
        <p:spPr bwMode="auto">
          <a:xfrm>
            <a:off x="395536" y="404664"/>
            <a:ext cx="9448800" cy="466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三、关系的性质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、列具有相同的性质，不同的列可有相同的域，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、任意两个元组不能相同，元组的次序可交换；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、每个属性值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分量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都是不可分的数据项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即属性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    值为最小单位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).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   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C1469A3-E3DF-0642-8B05-64811177AB63}"/>
              </a:ext>
            </a:extLst>
          </p:cNvPr>
          <p:cNvGraphicFramePr>
            <a:graphicFrameLocks noGrp="1"/>
          </p:cNvGraphicFramePr>
          <p:nvPr/>
        </p:nvGraphicFramePr>
        <p:xfrm>
          <a:off x="619158" y="4228296"/>
          <a:ext cx="790568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6932">
                  <a:extLst>
                    <a:ext uri="{9D8B030D-6E8A-4147-A177-3AD203B41FA5}">
                      <a16:colId xmlns:a16="http://schemas.microsoft.com/office/drawing/2014/main" val="836150226"/>
                    </a:ext>
                  </a:extLst>
                </a:gridCol>
                <a:gridCol w="886850">
                  <a:extLst>
                    <a:ext uri="{9D8B030D-6E8A-4147-A177-3AD203B41FA5}">
                      <a16:colId xmlns:a16="http://schemas.microsoft.com/office/drawing/2014/main" val="348762623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485607095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832269886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210278073"/>
                    </a:ext>
                  </a:extLst>
                </a:gridCol>
                <a:gridCol w="2239098">
                  <a:extLst>
                    <a:ext uri="{9D8B030D-6E8A-4147-A177-3AD203B41FA5}">
                      <a16:colId xmlns:a16="http://schemas.microsoft.com/office/drawing/2014/main" val="3343172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职工编号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身份证号码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程晓清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310110</a:t>
                      </a:r>
                      <a:r>
                        <a:rPr lang="zh-CN" altLang="en-US" dirty="0"/>
                        <a:t>****</a:t>
                      </a:r>
                      <a:r>
                        <a:rPr lang="en-US" altLang="zh-CN" dirty="0"/>
                        <a:t>03062405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刘红英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05062506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1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管理部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06092507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2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蒋明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采购部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08082405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王国洋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09022407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929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980E34D3-ACB0-D84C-8452-54BB55D83C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377" t="9709" r="20826" b="8302"/>
          <a:stretch/>
        </p:blipFill>
        <p:spPr>
          <a:xfrm>
            <a:off x="7712710" y="1561388"/>
            <a:ext cx="812132" cy="15351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4">
            <a:extLst>
              <a:ext uri="{FF2B5EF4-FFF2-40B4-BE49-F238E27FC236}">
                <a16:creationId xmlns:a16="http://schemas.microsoft.com/office/drawing/2014/main" id="{DB81D5EB-5FFA-1C4A-8D42-C0E036A06536}"/>
              </a:ext>
            </a:extLst>
          </p:cNvPr>
          <p:cNvGraphicFramePr>
            <a:graphicFrameLocks noGrp="1"/>
          </p:cNvGraphicFramePr>
          <p:nvPr/>
        </p:nvGraphicFramePr>
        <p:xfrm>
          <a:off x="619158" y="4551115"/>
          <a:ext cx="7905684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6932">
                  <a:extLst>
                    <a:ext uri="{9D8B030D-6E8A-4147-A177-3AD203B41FA5}">
                      <a16:colId xmlns:a16="http://schemas.microsoft.com/office/drawing/2014/main" val="836150226"/>
                    </a:ext>
                  </a:extLst>
                </a:gridCol>
                <a:gridCol w="886850">
                  <a:extLst>
                    <a:ext uri="{9D8B030D-6E8A-4147-A177-3AD203B41FA5}">
                      <a16:colId xmlns:a16="http://schemas.microsoft.com/office/drawing/2014/main" val="348762623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485607095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832269886"/>
                    </a:ext>
                  </a:extLst>
                </a:gridCol>
                <a:gridCol w="1214268">
                  <a:extLst>
                    <a:ext uri="{9D8B030D-6E8A-4147-A177-3AD203B41FA5}">
                      <a16:colId xmlns:a16="http://schemas.microsoft.com/office/drawing/2014/main" val="2210278073"/>
                    </a:ext>
                  </a:extLst>
                </a:gridCol>
                <a:gridCol w="2239098">
                  <a:extLst>
                    <a:ext uri="{9D8B030D-6E8A-4147-A177-3AD203B41FA5}">
                      <a16:colId xmlns:a16="http://schemas.microsoft.com/office/drawing/2014/main" val="33431729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职工编号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部门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年龄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身份证号码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035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程晓清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310110</a:t>
                      </a:r>
                      <a:r>
                        <a:rPr lang="zh-CN" altLang="en-US" dirty="0"/>
                        <a:t>****</a:t>
                      </a:r>
                      <a:r>
                        <a:rPr lang="en-US" altLang="zh-CN" dirty="0"/>
                        <a:t>03062405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238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2116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刘红英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财务部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05062506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512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管理部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06092507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72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蒋明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采购部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08082405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1535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2141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王国洋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销售部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310110</a:t>
                      </a: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****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09022407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25929"/>
                  </a:ext>
                </a:extLst>
              </a:tr>
            </a:tbl>
          </a:graphicData>
        </a:graphic>
      </p:graphicFrame>
      <p:sp>
        <p:nvSpPr>
          <p:cNvPr id="596994" name="Rectangle 2"/>
          <p:cNvSpPr>
            <a:spLocks noChangeArrowheads="1"/>
          </p:cNvSpPr>
          <p:nvPr/>
        </p:nvSpPr>
        <p:spPr bwMode="auto">
          <a:xfrm>
            <a:off x="0" y="0"/>
            <a:ext cx="9448800" cy="5288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四、关键码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超    键：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候选键：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主键：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96995" name="Rectangle 3"/>
          <p:cNvSpPr>
            <a:spLocks noChangeArrowheads="1"/>
          </p:cNvSpPr>
          <p:nvPr/>
        </p:nvSpPr>
        <p:spPr bwMode="auto">
          <a:xfrm>
            <a:off x="1643063" y="1676400"/>
            <a:ext cx="75374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能唯一标识元组的属性组合（可能存在多余的属性）。</a:t>
            </a:r>
          </a:p>
        </p:txBody>
      </p:sp>
      <p:sp>
        <p:nvSpPr>
          <p:cNvPr id="596996" name="Rectangle 4"/>
          <p:cNvSpPr>
            <a:spLocks noChangeArrowheads="1"/>
          </p:cNvSpPr>
          <p:nvPr/>
        </p:nvSpPr>
        <p:spPr bwMode="auto">
          <a:xfrm>
            <a:off x="1763713" y="2390775"/>
            <a:ext cx="73088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能唯一标识元组的最小属性组合。</a:t>
            </a:r>
          </a:p>
        </p:txBody>
      </p:sp>
      <p:sp>
        <p:nvSpPr>
          <p:cNvPr id="596997" name="Rectangle 5"/>
          <p:cNvSpPr>
            <a:spLocks noChangeArrowheads="1"/>
          </p:cNvSpPr>
          <p:nvPr/>
        </p:nvSpPr>
        <p:spPr bwMode="auto">
          <a:xfrm>
            <a:off x="1115616" y="3736975"/>
            <a:ext cx="82613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若一个关系中有多个候选键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则选其中的一个为关系的主键。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75D709-8E96-964E-8507-DA41895E93C5}"/>
              </a:ext>
            </a:extLst>
          </p:cNvPr>
          <p:cNvGrpSpPr/>
          <p:nvPr/>
        </p:nvGrpSpPr>
        <p:grpSpPr>
          <a:xfrm>
            <a:off x="670661" y="3068960"/>
            <a:ext cx="1093052" cy="1912120"/>
            <a:chOff x="670661" y="3068960"/>
            <a:chExt cx="1093052" cy="1912120"/>
          </a:xfrm>
        </p:grpSpPr>
        <p:cxnSp>
          <p:nvCxnSpPr>
            <p:cNvPr id="3" name="直线箭头连接符 2">
              <a:extLst>
                <a:ext uri="{FF2B5EF4-FFF2-40B4-BE49-F238E27FC236}">
                  <a16:creationId xmlns:a16="http://schemas.microsoft.com/office/drawing/2014/main" id="{D32E694D-0C96-4647-91AF-910089003F4D}"/>
                </a:ext>
              </a:extLst>
            </p:cNvPr>
            <p:cNvCxnSpPr/>
            <p:nvPr/>
          </p:nvCxnSpPr>
          <p:spPr bwMode="auto">
            <a:xfrm flipH="1">
              <a:off x="1187449" y="3068960"/>
              <a:ext cx="1" cy="1482155"/>
            </a:xfrm>
            <a:prstGeom prst="straightConnector1">
              <a:avLst/>
            </a:prstGeom>
            <a:noFill/>
            <a:ln w="190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28CCC6C-9923-4C4A-B734-4DAF31B61E68}"/>
                </a:ext>
              </a:extLst>
            </p:cNvPr>
            <p:cNvSpPr/>
            <p:nvPr/>
          </p:nvSpPr>
          <p:spPr bwMode="auto">
            <a:xfrm>
              <a:off x="670661" y="4551146"/>
              <a:ext cx="1093052" cy="429934"/>
            </a:xfrm>
            <a:prstGeom prst="ellipse">
              <a:avLst/>
            </a:prstGeom>
            <a:noFill/>
            <a:ln w="15875">
              <a:solidFill>
                <a:srgbClr val="FF006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888442E-3CE0-3D47-8270-72D352C6DFD3}"/>
              </a:ext>
            </a:extLst>
          </p:cNvPr>
          <p:cNvGrpSpPr/>
          <p:nvPr/>
        </p:nvGrpSpPr>
        <p:grpSpPr>
          <a:xfrm>
            <a:off x="1187449" y="3068960"/>
            <a:ext cx="7015032" cy="1852611"/>
            <a:chOff x="1187449" y="3068960"/>
            <a:chExt cx="7015032" cy="1852611"/>
          </a:xfrm>
        </p:grpSpPr>
        <p:cxnSp>
          <p:nvCxnSpPr>
            <p:cNvPr id="12" name="直线箭头连接符 11">
              <a:extLst>
                <a:ext uri="{FF2B5EF4-FFF2-40B4-BE49-F238E27FC236}">
                  <a16:creationId xmlns:a16="http://schemas.microsoft.com/office/drawing/2014/main" id="{C84E7A59-044B-9849-A161-CF8DC424DA8A}"/>
                </a:ext>
              </a:extLst>
            </p:cNvPr>
            <p:cNvCxnSpPr/>
            <p:nvPr/>
          </p:nvCxnSpPr>
          <p:spPr bwMode="auto">
            <a:xfrm>
              <a:off x="1187449" y="3068960"/>
              <a:ext cx="6071574" cy="1422677"/>
            </a:xfrm>
            <a:prstGeom prst="straightConnector1">
              <a:avLst/>
            </a:prstGeom>
            <a:noFill/>
            <a:ln w="190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C0DDA0E-D1EF-8240-A246-1467D68F3BB5}"/>
                </a:ext>
              </a:extLst>
            </p:cNvPr>
            <p:cNvSpPr/>
            <p:nvPr/>
          </p:nvSpPr>
          <p:spPr bwMode="auto">
            <a:xfrm>
              <a:off x="6682761" y="4491637"/>
              <a:ext cx="1519720" cy="429934"/>
            </a:xfrm>
            <a:prstGeom prst="ellipse">
              <a:avLst/>
            </a:prstGeom>
            <a:noFill/>
            <a:ln w="15875">
              <a:solidFill>
                <a:srgbClr val="FF006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6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96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995" grpId="0"/>
      <p:bldP spid="59699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94" name="Rectangle 2"/>
          <p:cNvSpPr>
            <a:spLocks noChangeArrowheads="1"/>
          </p:cNvSpPr>
          <p:nvPr/>
        </p:nvSpPr>
        <p:spPr bwMode="auto">
          <a:xfrm>
            <a:off x="0" y="0"/>
            <a:ext cx="9448800" cy="2057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四、关键码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60033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外键：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96999" name="Rectangle 7"/>
          <p:cNvSpPr>
            <a:spLocks noChangeArrowheads="1"/>
          </p:cNvSpPr>
          <p:nvPr/>
        </p:nvSpPr>
        <p:spPr bwMode="auto">
          <a:xfrm>
            <a:off x="1258888" y="1529958"/>
            <a:ext cx="7885112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若一个关系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中包含有另一个关系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的主键所对应的属性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F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， 则称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F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的外键。称关系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为参照关系，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R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为依赖</a:t>
            </a:r>
          </a:p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关系。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4C1688-17A2-B143-B614-24386060C5D3}"/>
              </a:ext>
            </a:extLst>
          </p:cNvPr>
          <p:cNvSpPr txBox="1"/>
          <p:nvPr/>
        </p:nvSpPr>
        <p:spPr>
          <a:xfrm>
            <a:off x="369888" y="3478690"/>
            <a:ext cx="8352928" cy="120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职工关系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R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：职工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=(</a:t>
            </a:r>
            <a:r>
              <a:rPr kumimoji="1" lang="zh-CN" altLang="en-US" sz="3200" b="1" i="0" u="sng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职工编号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姓名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wavy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部门编号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性别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年龄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身份证号码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3200" b="1" i="0" u="none" strike="noStrike" kern="120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itchFamily="2" charset="-122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部门关系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S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：部门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=(</a:t>
            </a:r>
            <a:r>
              <a:rPr kumimoji="1" lang="zh-CN" altLang="en-US" sz="3200" b="1" i="0" u="sng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部门编号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部门名称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,</a:t>
            </a:r>
            <a:r>
              <a:rPr kumimoji="1" lang="zh-CN" altLang="en-US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部门经理</a:t>
            </a:r>
            <a:r>
              <a: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rPr>
              <a:t>)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5D29566-0F8D-A94B-903D-8FC1BBE06DE5}"/>
              </a:ext>
            </a:extLst>
          </p:cNvPr>
          <p:cNvGrpSpPr/>
          <p:nvPr/>
        </p:nvGrpSpPr>
        <p:grpSpPr>
          <a:xfrm>
            <a:off x="3373512" y="3478690"/>
            <a:ext cx="2422624" cy="954518"/>
            <a:chOff x="2123728" y="3482594"/>
            <a:chExt cx="2422624" cy="954518"/>
          </a:xfrm>
        </p:grpSpPr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644F0015-CCB2-7243-BC3E-F2DAFD74396D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123728" y="3933056"/>
              <a:ext cx="1728192" cy="504056"/>
            </a:xfrm>
            <a:prstGeom prst="straightConnector1">
              <a:avLst/>
            </a:prstGeom>
            <a:noFill/>
            <a:ln w="19050" cap="flat" cmpd="sng" algn="ctr">
              <a:solidFill>
                <a:srgbClr val="FF0066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80CEF74-B44A-EE46-AE6C-87587BB7F54D}"/>
                </a:ext>
              </a:extLst>
            </p:cNvPr>
            <p:cNvSpPr/>
            <p:nvPr/>
          </p:nvSpPr>
          <p:spPr bwMode="auto">
            <a:xfrm>
              <a:off x="3347864" y="3482594"/>
              <a:ext cx="1198488" cy="429934"/>
            </a:xfrm>
            <a:prstGeom prst="ellipse">
              <a:avLst/>
            </a:prstGeom>
            <a:noFill/>
            <a:ln w="15875">
              <a:solidFill>
                <a:srgbClr val="FF0066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itchFamily="2" charset="-122"/>
                <a:ea typeface="宋体" pitchFamily="2" charset="-122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20D6BE6-3D53-3C4E-92FF-5F55B3DF80C0}"/>
                </a:ext>
              </a:extLst>
            </p:cNvPr>
            <p:cNvSpPr txBox="1"/>
            <p:nvPr/>
          </p:nvSpPr>
          <p:spPr>
            <a:xfrm>
              <a:off x="3528754" y="4060489"/>
              <a:ext cx="646331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itchFamily="2" charset="-122"/>
                  <a:ea typeface="宋体" pitchFamily="2" charset="-122"/>
                  <a:cs typeface="+mn-cs"/>
                </a:rPr>
                <a:t>外键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9FF084AE-FBDF-2B48-870D-FDAD495C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990" y="4955912"/>
            <a:ext cx="5814330" cy="171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91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6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6999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主要内容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31988" y="1628775"/>
            <a:ext cx="5465762" cy="3470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rgbClr val="000066"/>
                </a:solidFill>
              </a:rPr>
              <a:t>4.1</a:t>
            </a:r>
            <a:r>
              <a:rPr lang="zh-CN" altLang="en-US" sz="2800" b="1" dirty="0">
                <a:solidFill>
                  <a:srgbClr val="000066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</a:rPr>
              <a:t>概述</a:t>
            </a:r>
            <a:endParaRPr lang="en-US" altLang="zh-CN" sz="2800" b="1" dirty="0">
              <a:solidFill>
                <a:srgbClr val="000066"/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rgbClr val="000066"/>
                </a:solidFill>
              </a:rPr>
              <a:t>4.2</a:t>
            </a:r>
            <a:r>
              <a:rPr lang="zh-CN" altLang="en-US" sz="2800" b="1" dirty="0">
                <a:solidFill>
                  <a:srgbClr val="000066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</a:rPr>
              <a:t>的数据定义</a:t>
            </a:r>
            <a:endParaRPr lang="en-US" altLang="zh-CN" sz="2800" b="1" dirty="0">
              <a:solidFill>
                <a:srgbClr val="000066"/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rgbClr val="000066"/>
                </a:solidFill>
              </a:rPr>
              <a:t>4.3</a:t>
            </a:r>
            <a:r>
              <a:rPr lang="zh-CN" altLang="en-US" sz="2800" b="1" dirty="0">
                <a:solidFill>
                  <a:srgbClr val="000066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</a:rPr>
              <a:t>的数据查询</a:t>
            </a:r>
            <a:endParaRPr lang="en-US" altLang="zh-CN" sz="2800" b="1" dirty="0">
              <a:solidFill>
                <a:srgbClr val="000066"/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rgbClr val="000066"/>
                </a:solidFill>
              </a:rPr>
              <a:t>4.4</a:t>
            </a:r>
            <a:r>
              <a:rPr lang="zh-CN" altLang="en-US" sz="2800" dirty="0">
                <a:solidFill>
                  <a:srgbClr val="000066"/>
                </a:solidFill>
              </a:rPr>
              <a:t> </a:t>
            </a:r>
            <a:r>
              <a:rPr lang="en-US" altLang="zh-CN" sz="2800" dirty="0">
                <a:solidFill>
                  <a:srgbClr val="000066"/>
                </a:solidFill>
              </a:rPr>
              <a:t>SQL</a:t>
            </a:r>
            <a:r>
              <a:rPr lang="zh-CN" altLang="en-US" sz="2800" dirty="0">
                <a:solidFill>
                  <a:srgbClr val="000066"/>
                </a:solidFill>
              </a:rPr>
              <a:t>的数据更新</a:t>
            </a:r>
            <a:endParaRPr lang="en-US" altLang="zh-CN" sz="2800" dirty="0">
              <a:solidFill>
                <a:srgbClr val="000066"/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rgbClr val="000066"/>
                </a:solidFill>
              </a:rPr>
              <a:t>4.5</a:t>
            </a:r>
            <a:r>
              <a:rPr lang="zh-CN" altLang="en-US" sz="2800" dirty="0">
                <a:solidFill>
                  <a:srgbClr val="000066"/>
                </a:solidFill>
              </a:rPr>
              <a:t> 嵌入式</a:t>
            </a:r>
            <a:r>
              <a:rPr lang="en-US" altLang="zh-CN" sz="2800" dirty="0">
                <a:solidFill>
                  <a:srgbClr val="000066"/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76770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主要内容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31988" y="1628775"/>
            <a:ext cx="5465762" cy="3470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bg1"/>
                </a:solidFill>
              </a:rPr>
              <a:t>4.1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r>
              <a:rPr lang="zh-CN" altLang="en-US" sz="2800" b="1" dirty="0">
                <a:solidFill>
                  <a:schemeClr val="bg1"/>
                </a:solidFill>
              </a:rPr>
              <a:t>概述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4.2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的数据定义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4.3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的数据查询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4.4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的数据更新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4.5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嵌入式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067856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1026"/>
          <p:cNvSpPr>
            <a:spLocks noChangeArrowheads="1"/>
          </p:cNvSpPr>
          <p:nvPr/>
        </p:nvSpPr>
        <p:spPr bwMode="auto">
          <a:xfrm>
            <a:off x="304800" y="228600"/>
            <a:ext cx="9144000" cy="2209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4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rPr>
              <a:t>              </a:t>
            </a: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§1   SQL</a:t>
            </a: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概述</a:t>
            </a:r>
          </a:p>
          <a:p>
            <a:pPr algn="just" eaLnBrk="0" hangingPunct="0">
              <a:lnSpc>
                <a:spcPct val="14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zh-CN" altLang="en-US" sz="28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    一、 </a:t>
            </a:r>
            <a:r>
              <a:rPr lang="en-US" altLang="zh-CN" sz="28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数据库的体系结构</a:t>
            </a:r>
          </a:p>
          <a:p>
            <a:pPr algn="just" eaLnBrk="0" hangingPunct="0">
              <a:lnSpc>
                <a:spcPct val="140000"/>
              </a:lnSpc>
              <a:spcBef>
                <a:spcPts val="600"/>
              </a:spcBef>
              <a:buFont typeface="Symbol" pitchFamily="18" charset="2"/>
              <a:buNone/>
              <a:defRPr/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rPr>
              <a:t>      </a:t>
            </a:r>
            <a:r>
              <a:rPr lang="en-US" altLang="zh-CN" sz="2400" b="1" dirty="0">
                <a:solidFill>
                  <a:srgbClr val="660033"/>
                </a:solidFill>
                <a:latin typeface="Times New Roman" pitchFamily="18" charset="0"/>
                <a:ea typeface="宋体" pitchFamily="2" charset="-122"/>
              </a:rPr>
              <a:t>SQL</a:t>
            </a:r>
            <a:r>
              <a:rPr lang="zh-CN" altLang="en-US" sz="2400" b="1" dirty="0">
                <a:solidFill>
                  <a:srgbClr val="660033"/>
                </a:solidFill>
                <a:latin typeface="Times New Roman" pitchFamily="18" charset="0"/>
                <a:ea typeface="宋体" pitchFamily="2" charset="-122"/>
              </a:rPr>
              <a:t>数据库的体系结构基本上是三级模式结构。</a:t>
            </a:r>
            <a:r>
              <a:rPr lang="zh-CN" altLang="en-US" sz="2000" b="1" dirty="0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rPr>
              <a:t>     </a:t>
            </a:r>
            <a:endParaRPr lang="zh-CN" altLang="en-US" sz="2400" b="1" dirty="0">
              <a:solidFill>
                <a:schemeClr val="bg2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9219" name="Group 1027"/>
          <p:cNvGrpSpPr>
            <a:grpSpLocks/>
          </p:cNvGrpSpPr>
          <p:nvPr/>
        </p:nvGrpSpPr>
        <p:grpSpPr bwMode="auto">
          <a:xfrm>
            <a:off x="228600" y="174625"/>
            <a:ext cx="8382000" cy="1196975"/>
            <a:chOff x="0" y="288"/>
            <a:chExt cx="5760" cy="864"/>
          </a:xfrm>
        </p:grpSpPr>
        <p:sp>
          <p:nvSpPr>
            <p:cNvPr id="9221" name="Rectangle 1028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9222" name="Rectangle 1029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9223" name="Rectangle 1030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9224" name="Rectangle 1031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9225" name="Rectangle 1032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9226" name="Rectangle 1033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7A5B6DB0-5048-F64F-ACCA-01C78DC30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267" y="2420888"/>
            <a:ext cx="7667237" cy="4028549"/>
          </a:xfrm>
          <a:prstGeom prst="rect">
            <a:avLst/>
          </a:prstGeom>
        </p:spPr>
      </p:pic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1CEC5277-A0AC-BB41-8FAF-6B186F5D9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915398"/>
              </p:ext>
            </p:extLst>
          </p:nvPr>
        </p:nvGraphicFramePr>
        <p:xfrm>
          <a:off x="162119" y="2431584"/>
          <a:ext cx="1279148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9148">
                  <a:extLst>
                    <a:ext uri="{9D8B030D-6E8A-4147-A177-3AD203B41FA5}">
                      <a16:colId xmlns:a16="http://schemas.microsoft.com/office/drawing/2014/main" val="42810973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2"/>
                          </a:solidFill>
                        </a:rPr>
                        <a:t>SQL</a:t>
                      </a:r>
                      <a:r>
                        <a:rPr lang="zh-CN" altLang="en-US" sz="2000" b="1" dirty="0">
                          <a:solidFill>
                            <a:schemeClr val="bg2"/>
                          </a:solidFill>
                        </a:rPr>
                        <a:t>用户</a:t>
                      </a:r>
                      <a:endParaRPr lang="en-US" altLang="zh-CN" sz="2000" b="1" dirty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altLang="zh-CN" sz="2000" b="1" dirty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endParaRPr lang="en-US" altLang="zh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10981"/>
                  </a:ext>
                </a:extLst>
              </a:tr>
              <a:tr h="96154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2"/>
                          </a:solidFill>
                        </a:rPr>
                        <a:t>VIEW</a:t>
                      </a:r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chemeClr val="bg2"/>
                          </a:solidFill>
                        </a:rPr>
                        <a:t>（外模式）</a:t>
                      </a:r>
                      <a:endParaRPr lang="en-US" altLang="zh-CN" sz="2000" b="1" dirty="0">
                        <a:solidFill>
                          <a:schemeClr val="bg2"/>
                        </a:solidFill>
                      </a:endParaRPr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chemeClr val="bg2"/>
                          </a:solidFill>
                        </a:rPr>
                        <a:t>（虚表）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569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2"/>
                          </a:solidFill>
                        </a:rPr>
                        <a:t>Base-Table</a:t>
                      </a:r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chemeClr val="bg2"/>
                          </a:solidFill>
                        </a:rPr>
                        <a:t>（模式）</a:t>
                      </a:r>
                      <a:endParaRPr lang="en-US" altLang="zh-CN" sz="20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521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bg2"/>
                          </a:solidFill>
                        </a:rPr>
                        <a:t>Stored</a:t>
                      </a:r>
                      <a:r>
                        <a:rPr lang="zh-CN" altLang="en-US" sz="2000" b="1" dirty="0">
                          <a:solidFill>
                            <a:schemeClr val="bg2"/>
                          </a:solidFill>
                        </a:rPr>
                        <a:t> </a:t>
                      </a:r>
                      <a:r>
                        <a:rPr lang="en-US" altLang="zh-CN" sz="2000" b="1" dirty="0">
                          <a:solidFill>
                            <a:schemeClr val="bg2"/>
                          </a:solidFill>
                        </a:rPr>
                        <a:t>File</a:t>
                      </a:r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chemeClr val="bg2"/>
                          </a:solidFill>
                        </a:rPr>
                        <a:t>（内模式）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0739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80888C73-01E3-9F40-908D-6BD887282EAC}"/>
              </a:ext>
            </a:extLst>
          </p:cNvPr>
          <p:cNvSpPr txBox="1"/>
          <p:nvPr/>
        </p:nvSpPr>
        <p:spPr>
          <a:xfrm>
            <a:off x="3869970" y="26480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终端用户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D2FBF3-2B17-C346-A4BA-A5A73049CAEB}"/>
              </a:ext>
            </a:extLst>
          </p:cNvPr>
          <p:cNvSpPr txBox="1"/>
          <p:nvPr/>
        </p:nvSpPr>
        <p:spPr>
          <a:xfrm>
            <a:off x="7148735" y="26480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应用程序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1A380A1-E176-5540-80CE-5D69F84EF28E}"/>
              </a:ext>
            </a:extLst>
          </p:cNvPr>
          <p:cNvSpPr txBox="1"/>
          <p:nvPr/>
        </p:nvSpPr>
        <p:spPr>
          <a:xfrm>
            <a:off x="801693" y="5322256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一个基本表可以跨一个或多个存储文件；一个存储文件也可存放一个或多个基本表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402124-418F-2C44-A820-C5A8457D0326}"/>
              </a:ext>
            </a:extLst>
          </p:cNvPr>
          <p:cNvSpPr txBox="1"/>
          <p:nvPr/>
        </p:nvSpPr>
        <p:spPr>
          <a:xfrm>
            <a:off x="2439754" y="6444734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每个存储文件与外部存储器上一个物理文件对应。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E65F60F-6BF7-9142-B042-102B101E2122}"/>
              </a:ext>
            </a:extLst>
          </p:cNvPr>
          <p:cNvSpPr txBox="1"/>
          <p:nvPr/>
        </p:nvSpPr>
        <p:spPr>
          <a:xfrm>
            <a:off x="5921037" y="384063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表可以是基本表也可以是视图。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18" grpId="0"/>
      <p:bldP spid="19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1D0394E-4544-5F4E-836A-447376F6A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5" y="764703"/>
            <a:ext cx="8070202" cy="615106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568FFFC-9611-1245-BDB0-1A3FB2449064}"/>
              </a:ext>
            </a:extLst>
          </p:cNvPr>
          <p:cNvSpPr txBox="1"/>
          <p:nvPr/>
        </p:nvSpPr>
        <p:spPr>
          <a:xfrm>
            <a:off x="677889" y="148570"/>
            <a:ext cx="78790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2"/>
                </a:solidFill>
              </a:rPr>
              <a:t>使用方式</a:t>
            </a:r>
            <a:r>
              <a:rPr kumimoji="1" lang="en-US" altLang="zh-CN" sz="2000" dirty="0">
                <a:solidFill>
                  <a:schemeClr val="bg2"/>
                </a:solidFill>
              </a:rPr>
              <a:t>1:</a:t>
            </a:r>
            <a:r>
              <a:rPr kumimoji="1" lang="zh-CN" altLang="en-US" sz="2000" dirty="0">
                <a:solidFill>
                  <a:schemeClr val="bg2"/>
                </a:solidFill>
              </a:rPr>
              <a:t> </a:t>
            </a:r>
            <a:r>
              <a:rPr kumimoji="1" lang="en-US" altLang="zh-CN" sz="2000" dirty="0">
                <a:solidFill>
                  <a:schemeClr val="bg2"/>
                </a:solidFill>
              </a:rPr>
              <a:t>SQL</a:t>
            </a:r>
            <a:r>
              <a:rPr kumimoji="1" lang="zh-CN" altLang="en-US" sz="2000" dirty="0">
                <a:solidFill>
                  <a:schemeClr val="bg2"/>
                </a:solidFill>
              </a:rPr>
              <a:t>作为独立的用户接口，供交互环境下的终端用户使用</a:t>
            </a:r>
          </a:p>
        </p:txBody>
      </p:sp>
      <p:sp>
        <p:nvSpPr>
          <p:cNvPr id="7" name="线形标注 1 6">
            <a:extLst>
              <a:ext uri="{FF2B5EF4-FFF2-40B4-BE49-F238E27FC236}">
                <a16:creationId xmlns:a16="http://schemas.microsoft.com/office/drawing/2014/main" id="{6048E61D-EEEB-4E4D-ABF2-74302FDD6DBA}"/>
              </a:ext>
            </a:extLst>
          </p:cNvPr>
          <p:cNvSpPr/>
          <p:nvPr/>
        </p:nvSpPr>
        <p:spPr bwMode="auto">
          <a:xfrm>
            <a:off x="5652120" y="2924944"/>
            <a:ext cx="2885627" cy="338554"/>
          </a:xfrm>
          <a:prstGeom prst="borderCallout1">
            <a:avLst>
              <a:gd name="adj1" fmla="val -234894"/>
              <a:gd name="adj2" fmla="val -18594"/>
              <a:gd name="adj3" fmla="val 5304"/>
              <a:gd name="adj4" fmla="val -5838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chemeClr val="bg1"/>
                </a:solidFill>
                <a:latin typeface="+mn-lt"/>
                <a:ea typeface="宋体" pitchFamily="2" charset="-122"/>
              </a:rPr>
              <a:t>s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elect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 * 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from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 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Student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60864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568FFFC-9611-1245-BDB0-1A3FB2449064}"/>
              </a:ext>
            </a:extLst>
          </p:cNvPr>
          <p:cNvSpPr txBox="1"/>
          <p:nvPr/>
        </p:nvSpPr>
        <p:spPr>
          <a:xfrm>
            <a:off x="1658382" y="836712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bg2"/>
                </a:solidFill>
              </a:rPr>
              <a:t>使用方式</a:t>
            </a:r>
            <a:r>
              <a:rPr kumimoji="1" lang="en-US" altLang="zh-CN" sz="2000" dirty="0">
                <a:solidFill>
                  <a:schemeClr val="bg2"/>
                </a:solidFill>
              </a:rPr>
              <a:t>2:</a:t>
            </a:r>
            <a:r>
              <a:rPr kumimoji="1" lang="zh-CN" altLang="en-US" sz="2000" dirty="0">
                <a:solidFill>
                  <a:schemeClr val="bg2"/>
                </a:solidFill>
              </a:rPr>
              <a:t> </a:t>
            </a:r>
            <a:r>
              <a:rPr kumimoji="1" lang="en-US" altLang="zh-CN" sz="2000" dirty="0">
                <a:solidFill>
                  <a:schemeClr val="bg2"/>
                </a:solidFill>
              </a:rPr>
              <a:t>SQL</a:t>
            </a:r>
            <a:r>
              <a:rPr kumimoji="1" lang="zh-CN" altLang="en-US" sz="2000" dirty="0">
                <a:solidFill>
                  <a:schemeClr val="bg2"/>
                </a:solidFill>
              </a:rPr>
              <a:t>语句嵌入在宿主语言的程序中使用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5F0CBB-D021-1C41-958F-4B457B6D3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8637"/>
            <a:ext cx="9144000" cy="3140726"/>
          </a:xfrm>
          <a:prstGeom prst="rect">
            <a:avLst/>
          </a:prstGeom>
        </p:spPr>
      </p:pic>
      <p:sp>
        <p:nvSpPr>
          <p:cNvPr id="7" name="线形标注 1 6">
            <a:extLst>
              <a:ext uri="{FF2B5EF4-FFF2-40B4-BE49-F238E27FC236}">
                <a16:creationId xmlns:a16="http://schemas.microsoft.com/office/drawing/2014/main" id="{4C7C0C09-1A38-1A48-B496-54C2D6D12AEA}"/>
              </a:ext>
            </a:extLst>
          </p:cNvPr>
          <p:cNvSpPr/>
          <p:nvPr/>
        </p:nvSpPr>
        <p:spPr bwMode="auto">
          <a:xfrm>
            <a:off x="4932040" y="5284259"/>
            <a:ext cx="2736304" cy="338554"/>
          </a:xfrm>
          <a:prstGeom prst="borderCallout1">
            <a:avLst>
              <a:gd name="adj1" fmla="val -672767"/>
              <a:gd name="adj2" fmla="val -5767"/>
              <a:gd name="adj3" fmla="val 5304"/>
              <a:gd name="adj4" fmla="val -5838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>
                <a:solidFill>
                  <a:schemeClr val="bg1"/>
                </a:solidFill>
                <a:latin typeface="+mn-lt"/>
                <a:ea typeface="宋体" pitchFamily="2" charset="-122"/>
              </a:rPr>
              <a:t>s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elect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 * 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from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 </a:t>
            </a:r>
            <a:r>
              <a:rPr kumimoji="1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宋体" pitchFamily="2" charset="-122"/>
              </a:rPr>
              <a:t>user_info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666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457200" y="381000"/>
            <a:ext cx="8915400" cy="3843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6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400" dirty="0">
                <a:solidFill>
                  <a:srgbClr val="000066"/>
                </a:solidFill>
                <a:latin typeface="Times New Roman" pitchFamily="18" charset="0"/>
              </a:rPr>
              <a:t> 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itchFamily="18" charset="0"/>
              </a:rPr>
              <a:t>二、</a:t>
            </a:r>
            <a:r>
              <a:rPr lang="en-US" altLang="zh-CN" sz="3200" b="1" dirty="0">
                <a:solidFill>
                  <a:srgbClr val="000066"/>
                </a:solidFill>
              </a:rPr>
              <a:t>SQL</a:t>
            </a:r>
            <a:r>
              <a:rPr lang="zh-CN" altLang="en-US" sz="3200" b="1" dirty="0">
                <a:solidFill>
                  <a:srgbClr val="000066"/>
                </a:solidFill>
              </a:rPr>
              <a:t>的组成  </a:t>
            </a:r>
            <a:endParaRPr lang="zh-CN" altLang="en-US" sz="3200" b="1" dirty="0">
              <a:solidFill>
                <a:srgbClr val="000066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6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32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                    </a:t>
            </a:r>
          </a:p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endParaRPr lang="zh-CN" altLang="en-US" sz="2800" b="1" dirty="0">
              <a:solidFill>
                <a:schemeClr val="bg2"/>
              </a:solidFill>
            </a:endParaRPr>
          </a:p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endParaRPr lang="zh-CN" altLang="en-US" sz="2400" dirty="0">
              <a:solidFill>
                <a:schemeClr val="bg2"/>
              </a:solidFill>
            </a:endParaRPr>
          </a:p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endParaRPr lang="en-US" altLang="zh-CN" sz="2400" dirty="0">
              <a:solidFill>
                <a:schemeClr val="bg2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D1FA1F-93D6-3F4B-A5A1-F720D7767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5" r="2680" b="5455"/>
          <a:stretch/>
        </p:blipFill>
        <p:spPr>
          <a:xfrm>
            <a:off x="107504" y="1412776"/>
            <a:ext cx="8424936" cy="3744416"/>
          </a:xfrm>
          <a:prstGeom prst="rect">
            <a:avLst/>
          </a:prstGeom>
        </p:spPr>
      </p:pic>
      <p:cxnSp>
        <p:nvCxnSpPr>
          <p:cNvPr id="4" name="肘形连接符 3">
            <a:extLst>
              <a:ext uri="{FF2B5EF4-FFF2-40B4-BE49-F238E27FC236}">
                <a16:creationId xmlns:a16="http://schemas.microsoft.com/office/drawing/2014/main" id="{0016F61F-9E71-DF45-99E0-38A44C0DA06B}"/>
              </a:ext>
            </a:extLst>
          </p:cNvPr>
          <p:cNvCxnSpPr/>
          <p:nvPr/>
        </p:nvCxnSpPr>
        <p:spPr bwMode="auto">
          <a:xfrm>
            <a:off x="6300192" y="2302872"/>
            <a:ext cx="2304256" cy="838096"/>
          </a:xfrm>
          <a:prstGeom prst="bentConnector3">
            <a:avLst>
              <a:gd name="adj1" fmla="val 99924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45ED36D3-B958-BC41-BA70-73B1900506AC}"/>
              </a:ext>
            </a:extLst>
          </p:cNvPr>
          <p:cNvSpPr/>
          <p:nvPr/>
        </p:nvSpPr>
        <p:spPr bwMode="auto">
          <a:xfrm>
            <a:off x="8172400" y="3140968"/>
            <a:ext cx="781744" cy="535531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嵌入式</a:t>
            </a: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SQL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403E7C4-69A4-F843-89DC-E2BF099CD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4648" y="1134420"/>
            <a:ext cx="5549900" cy="3175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387B97-B30E-6543-AAE6-555186FDB1EF}"/>
              </a:ext>
            </a:extLst>
          </p:cNvPr>
          <p:cNvSpPr txBox="1"/>
          <p:nvPr/>
        </p:nvSpPr>
        <p:spPr>
          <a:xfrm>
            <a:off x="2687367" y="6272855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66"/>
                </a:solidFill>
              </a:rPr>
              <a:t>根据</a:t>
            </a:r>
            <a:r>
              <a:rPr kumimoji="1" lang="en-US" altLang="zh-CN" dirty="0">
                <a:solidFill>
                  <a:srgbClr val="FF0066"/>
                </a:solidFill>
              </a:rPr>
              <a:t>100</a:t>
            </a:r>
            <a:r>
              <a:rPr lang="zh-CN" altLang="en-US" dirty="0">
                <a:solidFill>
                  <a:srgbClr val="FF0066"/>
                </a:solidFill>
              </a:rPr>
              <a:t>道题第一道题修改和完善这张图！</a:t>
            </a:r>
            <a:endParaRPr kumimoji="1" lang="zh-CN" altLang="en-US" dirty="0">
              <a:solidFill>
                <a:srgbClr val="FF0066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6B0226-18FF-0C46-9AF0-1B03B7CEB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" t="20973" r="54062" b="13716"/>
          <a:stretch>
            <a:fillRect/>
          </a:stretch>
        </p:blipFill>
        <p:spPr bwMode="auto">
          <a:xfrm>
            <a:off x="3419872" y="585145"/>
            <a:ext cx="577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008F487-E4B7-D24A-B960-529DBE3403E6}"/>
              </a:ext>
            </a:extLst>
          </p:cNvPr>
          <p:cNvSpPr txBox="1"/>
          <p:nvPr/>
        </p:nvSpPr>
        <p:spPr>
          <a:xfrm>
            <a:off x="7928500" y="25372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</a:rPr>
              <a:t>数据查询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05D311-2A78-0B22-68CF-F6B38A9AB7EC}"/>
              </a:ext>
            </a:extLst>
          </p:cNvPr>
          <p:cNvSpPr txBox="1"/>
          <p:nvPr/>
        </p:nvSpPr>
        <p:spPr>
          <a:xfrm>
            <a:off x="192182" y="5036403"/>
            <a:ext cx="798021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0000FF"/>
                </a:solidFill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kumimoji="0" lang="en-US" altLang="zh-CN" sz="1800" kern="0" dirty="0">
                <a:solidFill>
                  <a:srgbClr val="0000FF"/>
                </a:solidFill>
                <a:latin typeface="华文楷体"/>
                <a:ea typeface="华文楷体"/>
                <a:sym typeface="华文楷体"/>
              </a:rPr>
              <a:t>DDL(Schema Data Definition Language)</a:t>
            </a:r>
          </a:p>
          <a:p>
            <a:pPr marL="342900" lvl="0" indent="-342900" fontAlgn="auto" hangingPunct="0">
              <a:spcBef>
                <a:spcPts val="0"/>
              </a:spcBef>
              <a:spcAft>
                <a:spcPts val="0"/>
              </a:spcAft>
              <a:defRPr sz="2000">
                <a:solidFill>
                  <a:srgbClr val="0000FF"/>
                </a:solidFill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lang="en-US" altLang="zh-CN" sz="2000" dirty="0">
                <a:sym typeface="华文楷体"/>
              </a:rPr>
              <a:t>DML(Data Manipulation Language)</a:t>
            </a:r>
          </a:p>
          <a:p>
            <a:pPr marL="342900" lvl="0" indent="-342900" fontAlgn="auto" hangingPunct="0">
              <a:spcBef>
                <a:spcPts val="0"/>
              </a:spcBef>
              <a:spcAft>
                <a:spcPts val="0"/>
              </a:spcAft>
              <a:defRPr sz="2000">
                <a:solidFill>
                  <a:srgbClr val="0000FF"/>
                </a:solidFill>
                <a:latin typeface="华文楷体"/>
                <a:ea typeface="华文楷体"/>
                <a:cs typeface="华文楷体"/>
                <a:sym typeface="华文楷体"/>
              </a:defRPr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/>
                <a:ea typeface="华文楷体"/>
                <a:sym typeface="华文楷体"/>
              </a:rPr>
              <a:t>DCL(</a:t>
            </a:r>
            <a:r>
              <a:rPr lang="en-US" altLang="zh-CN" sz="2000" dirty="0">
                <a:sym typeface="华文楷体"/>
              </a:rPr>
              <a:t>Data Control Language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/>
                <a:ea typeface="华文楷体"/>
                <a:sym typeface="华文楷体"/>
              </a:rPr>
              <a:t>)</a:t>
            </a: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楷体"/>
              <a:ea typeface="华文楷体"/>
              <a:sym typeface="华文楷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ChangeArrowheads="1"/>
          </p:cNvSpPr>
          <p:nvPr/>
        </p:nvSpPr>
        <p:spPr bwMode="auto">
          <a:xfrm>
            <a:off x="304800" y="457200"/>
            <a:ext cx="8839200" cy="545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8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3200" b="1" dirty="0">
                <a:solidFill>
                  <a:srgbClr val="000066"/>
                </a:solidFill>
              </a:rPr>
              <a:t> </a:t>
            </a:r>
            <a:r>
              <a:rPr lang="zh-CN" altLang="en-US" sz="3200" b="1" dirty="0">
                <a:solidFill>
                  <a:srgbClr val="000066"/>
                </a:solidFill>
              </a:rPr>
              <a:t>三、</a:t>
            </a:r>
            <a:r>
              <a:rPr lang="en-US" altLang="zh-CN" sz="3200" b="1" dirty="0">
                <a:solidFill>
                  <a:srgbClr val="000066"/>
                </a:solidFill>
              </a:rPr>
              <a:t>SQL</a:t>
            </a:r>
            <a:r>
              <a:rPr lang="zh-CN" altLang="en-US" sz="3200" b="1" dirty="0">
                <a:solidFill>
                  <a:srgbClr val="000066"/>
                </a:solidFill>
              </a:rPr>
              <a:t>的主要特点</a:t>
            </a:r>
          </a:p>
          <a:p>
            <a:pPr algn="just" eaLnBrk="0" hangingPunct="0">
              <a:lnSpc>
                <a:spcPct val="18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3200" b="1" dirty="0">
                <a:solidFill>
                  <a:schemeClr val="bg2"/>
                </a:solidFill>
              </a:rPr>
              <a:t>    </a:t>
            </a:r>
            <a:r>
              <a:rPr lang="en-US" altLang="zh-CN" sz="3200" b="1" dirty="0">
                <a:solidFill>
                  <a:schemeClr val="bg2"/>
                </a:solidFill>
              </a:rPr>
              <a:t>1</a:t>
            </a:r>
            <a:r>
              <a:rPr lang="zh-CN" altLang="en-US" sz="3200" b="1" dirty="0">
                <a:solidFill>
                  <a:schemeClr val="bg2"/>
                </a:solidFill>
              </a:rPr>
              <a:t>、一体化；</a:t>
            </a:r>
            <a:endParaRPr lang="zh-CN" altLang="en-US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8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3200" b="1" dirty="0">
                <a:solidFill>
                  <a:schemeClr val="bg2"/>
                </a:solidFill>
              </a:rPr>
              <a:t>    </a:t>
            </a:r>
            <a:r>
              <a:rPr lang="en-US" altLang="zh-CN" sz="3200" b="1" dirty="0">
                <a:solidFill>
                  <a:schemeClr val="bg2"/>
                </a:solidFill>
              </a:rPr>
              <a:t>2</a:t>
            </a:r>
            <a:r>
              <a:rPr lang="zh-CN" altLang="en-US" sz="3200" b="1" dirty="0">
                <a:solidFill>
                  <a:schemeClr val="bg2"/>
                </a:solidFill>
              </a:rPr>
              <a:t>、两种使用方式，统一的语法结构；</a:t>
            </a:r>
          </a:p>
          <a:p>
            <a:pPr algn="just" eaLnBrk="0" hangingPunct="0">
              <a:lnSpc>
                <a:spcPct val="18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3200" b="1" dirty="0">
                <a:solidFill>
                  <a:schemeClr val="bg2"/>
                </a:solidFill>
              </a:rPr>
              <a:t>    </a:t>
            </a:r>
            <a:r>
              <a:rPr lang="en-US" altLang="zh-CN" sz="3200" b="1" dirty="0">
                <a:solidFill>
                  <a:schemeClr val="bg2"/>
                </a:solidFill>
              </a:rPr>
              <a:t>3</a:t>
            </a:r>
            <a:r>
              <a:rPr lang="zh-CN" altLang="en-US" sz="3200" b="1" dirty="0">
                <a:solidFill>
                  <a:schemeClr val="bg2"/>
                </a:solidFill>
              </a:rPr>
              <a:t>、高度非过程化；</a:t>
            </a:r>
          </a:p>
          <a:p>
            <a:pPr algn="just" eaLnBrk="0" hangingPunct="0">
              <a:lnSpc>
                <a:spcPct val="18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3200" b="1" dirty="0">
                <a:solidFill>
                  <a:schemeClr val="bg2"/>
                </a:solidFill>
              </a:rPr>
              <a:t>    </a:t>
            </a:r>
            <a:r>
              <a:rPr lang="en-US" altLang="zh-CN" sz="3200" b="1" dirty="0">
                <a:solidFill>
                  <a:schemeClr val="bg2"/>
                </a:solidFill>
              </a:rPr>
              <a:t>4</a:t>
            </a:r>
            <a:r>
              <a:rPr lang="zh-CN" altLang="en-US" sz="3200" b="1" dirty="0">
                <a:solidFill>
                  <a:schemeClr val="bg2"/>
                </a:solidFill>
              </a:rPr>
              <a:t>、语言简洁，易学易用。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320694-9764-6B48-B047-5BD3E2AF9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" t="20973" r="54062" b="13716"/>
          <a:stretch>
            <a:fillRect/>
          </a:stretch>
        </p:blipFill>
        <p:spPr bwMode="auto">
          <a:xfrm>
            <a:off x="467544" y="666749"/>
            <a:ext cx="577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主要内容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31988" y="1219200"/>
            <a:ext cx="5465762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0" hangingPunct="0">
              <a:spcBef>
                <a:spcPts val="1000"/>
              </a:spcBef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4.1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概述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bg1"/>
                </a:solidFill>
              </a:rPr>
              <a:t>4.2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r>
              <a:rPr lang="zh-CN" altLang="en-US" sz="2800" b="1" dirty="0">
                <a:solidFill>
                  <a:schemeClr val="bg1"/>
                </a:solidFill>
              </a:rPr>
              <a:t>的数据定义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en-US" altLang="zh-CN" sz="2000" b="1" dirty="0">
                <a:solidFill>
                  <a:schemeClr val="bg1"/>
                </a:solidFill>
              </a:rPr>
              <a:t>SQL</a:t>
            </a:r>
            <a:r>
              <a:rPr lang="zh-CN" altLang="en-US" sz="2000" b="1" dirty="0">
                <a:solidFill>
                  <a:schemeClr val="bg1"/>
                </a:solidFill>
              </a:rPr>
              <a:t>模式的创建和撤销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en-US" altLang="zh-CN" sz="2000" b="1" dirty="0">
                <a:solidFill>
                  <a:schemeClr val="bg1"/>
                </a:solidFill>
              </a:rPr>
              <a:t>SQL</a:t>
            </a:r>
            <a:r>
              <a:rPr lang="zh-CN" altLang="en-US" sz="2000" b="1" dirty="0">
                <a:solidFill>
                  <a:schemeClr val="bg1"/>
                </a:solidFill>
              </a:rPr>
              <a:t>的基本数据类型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基本表的创建、修改和撤销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视图的创建和撤销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索引的创建和撤销</a:t>
            </a:r>
            <a:r>
              <a:rPr lang="zh-CN" altLang="en-US" sz="2000" b="1" dirty="0">
                <a:solidFill>
                  <a:srgbClr val="000066"/>
                </a:solidFill>
              </a:rPr>
              <a:t>（自学）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4.3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的数据查询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4.4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的数据更新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4.5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嵌入式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3110584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19076" y="217487"/>
            <a:ext cx="9144000" cy="408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§2   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的数据定义</a:t>
            </a:r>
            <a:endParaRPr lang="zh-CN" alt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zh-CN" altLang="en-US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一、</a:t>
            </a:r>
            <a:r>
              <a:rPr lang="en-US" altLang="zh-CN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模式的创建和撤消</a:t>
            </a:r>
            <a:r>
              <a:rPr lang="en-US" altLang="zh-CN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: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模式的创建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CREATE SCHEMA &lt;</a:t>
            </a: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模式名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&gt; AUTHORIZATION  &lt;</a:t>
            </a: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用户名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endParaRPr lang="en-US" altLang="zh-CN" sz="2800" b="1" dirty="0">
              <a:solidFill>
                <a:srgbClr val="660033"/>
              </a:solidFill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13315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3317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3318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3319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3320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3321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3322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07704" y="4703438"/>
            <a:ext cx="8610600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800" b="1" dirty="0">
                <a:solidFill>
                  <a:srgbClr val="000066"/>
                </a:solidFill>
              </a:rPr>
              <a:t>CREATE DATABASE  &lt;</a:t>
            </a:r>
            <a:r>
              <a:rPr lang="zh-CN" altLang="en-US" sz="2800" b="1" dirty="0">
                <a:solidFill>
                  <a:srgbClr val="000066"/>
                </a:solidFill>
              </a:rPr>
              <a:t>数据库名</a:t>
            </a:r>
            <a:r>
              <a:rPr lang="en-US" altLang="zh-CN" sz="2800" b="1" dirty="0">
                <a:solidFill>
                  <a:srgbClr val="000066"/>
                </a:solidFill>
              </a:rPr>
              <a:t>&gt;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4683F9-A3EA-3A4E-880F-F9D3DA7C35C6}"/>
              </a:ext>
            </a:extLst>
          </p:cNvPr>
          <p:cNvSpPr txBox="1"/>
          <p:nvPr/>
        </p:nvSpPr>
        <p:spPr>
          <a:xfrm>
            <a:off x="1637463" y="4882503"/>
            <a:ext cx="7408812" cy="11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endParaRPr lang="en-US" altLang="zh-CN" sz="2000" b="1" dirty="0">
              <a:solidFill>
                <a:schemeClr val="bg2"/>
              </a:solidFill>
            </a:endParaRPr>
          </a:p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000" b="1" dirty="0">
                <a:solidFill>
                  <a:schemeClr val="bg2"/>
                </a:solidFill>
              </a:rPr>
              <a:t>   </a:t>
            </a:r>
            <a:r>
              <a:rPr lang="en-US" altLang="zh-CN" sz="2800" b="1" dirty="0">
                <a:solidFill>
                  <a:schemeClr val="bg2"/>
                </a:solidFill>
              </a:rPr>
              <a:t>CREATE  DATABASE  </a:t>
            </a:r>
            <a:r>
              <a:rPr lang="en-US" altLang="zh-CN" sz="2800" b="1" dirty="0">
                <a:solidFill>
                  <a:schemeClr val="bg1"/>
                </a:solidFill>
              </a:rPr>
              <a:t>PROJECT;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18C4284-3C11-E54A-A2E9-BAE99E7DF66B}"/>
              </a:ext>
            </a:extLst>
          </p:cNvPr>
          <p:cNvSpPr txBox="1"/>
          <p:nvPr/>
        </p:nvSpPr>
        <p:spPr>
          <a:xfrm>
            <a:off x="732133" y="3519598"/>
            <a:ext cx="8117885" cy="54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CREATE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SCHEMA </a:t>
            </a:r>
            <a:r>
              <a:rPr lang="en-US" altLang="zh-CN" sz="28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ST_COURSE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AUTHORIZATION </a:t>
            </a:r>
            <a:r>
              <a:rPr lang="zh-CN" altLang="en-US" sz="28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张铭</a:t>
            </a:r>
            <a:endParaRPr lang="en-US" altLang="zh-CN" sz="2800" b="1" dirty="0">
              <a:solidFill>
                <a:schemeClr val="bg1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DADAA3-1712-664B-9A6A-AFC5F63269BE}"/>
              </a:ext>
            </a:extLst>
          </p:cNvPr>
          <p:cNvSpPr/>
          <p:nvPr/>
        </p:nvSpPr>
        <p:spPr bwMode="auto">
          <a:xfrm>
            <a:off x="366713" y="2924944"/>
            <a:ext cx="8679562" cy="50405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CBCD22-6E01-514B-AE42-6E3D44B57F24}"/>
              </a:ext>
            </a:extLst>
          </p:cNvPr>
          <p:cNvSpPr/>
          <p:nvPr/>
        </p:nvSpPr>
        <p:spPr bwMode="auto">
          <a:xfrm>
            <a:off x="1806275" y="4754087"/>
            <a:ext cx="5141989" cy="50405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线形标注 1 1">
            <a:extLst>
              <a:ext uri="{FF2B5EF4-FFF2-40B4-BE49-F238E27FC236}">
                <a16:creationId xmlns:a16="http://schemas.microsoft.com/office/drawing/2014/main" id="{EDF4EA94-7F97-E049-B776-270A466BFBF9}"/>
              </a:ext>
            </a:extLst>
          </p:cNvPr>
          <p:cNvSpPr/>
          <p:nvPr/>
        </p:nvSpPr>
        <p:spPr bwMode="auto">
          <a:xfrm>
            <a:off x="3635896" y="2024999"/>
            <a:ext cx="4425441" cy="674031"/>
          </a:xfrm>
          <a:prstGeom prst="borderCallout1">
            <a:avLst>
              <a:gd name="adj1" fmla="val 58752"/>
              <a:gd name="adj2" fmla="val -386"/>
              <a:gd name="adj3" fmla="val 123180"/>
              <a:gd name="adj4" fmla="val -32464"/>
            </a:avLst>
          </a:prstGeom>
          <a:noFill/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SQL</a:t>
            </a: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模式</a:t>
            </a: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数据库模式</a:t>
            </a: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)</a:t>
            </a: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：基本表的集合。</a:t>
            </a: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创建一个</a:t>
            </a: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SQL</a:t>
            </a: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模式就是定义了一个存储空间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3" grpId="0"/>
      <p:bldP spid="12" grpId="0"/>
      <p:bldP spid="15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4084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endParaRPr lang="zh-CN" altLang="en-US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宋体" pitchFamily="2" charset="-122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zh-CN" altLang="en-US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一、</a:t>
            </a:r>
            <a:r>
              <a:rPr lang="en-US" altLang="zh-CN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模式的创建和撤消</a:t>
            </a:r>
            <a:r>
              <a:rPr lang="en-US" altLang="zh-CN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: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模式的撤消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DROP</a:t>
            </a: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SCHEMA &lt;</a:t>
            </a: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模式名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&gt; [CASCADE|RESTRICT]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DROP</a:t>
            </a: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SCHEMA </a:t>
            </a:r>
            <a:r>
              <a:rPr lang="en-US" altLang="zh-CN" sz="2800" b="1" dirty="0">
                <a:solidFill>
                  <a:schemeClr val="bg1"/>
                </a:solidFill>
                <a:latin typeface="宋体" pitchFamily="2" charset="-122"/>
                <a:ea typeface="宋体" pitchFamily="2" charset="-122"/>
              </a:rPr>
              <a:t>ST_COURSE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CASCADE</a:t>
            </a:r>
          </a:p>
        </p:txBody>
      </p: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593716" y="4439279"/>
            <a:ext cx="8610600" cy="54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2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800" b="1" dirty="0">
                <a:solidFill>
                  <a:srgbClr val="000066"/>
                </a:solidFill>
              </a:rPr>
              <a:t>DROP</a:t>
            </a:r>
            <a:r>
              <a:rPr lang="zh-CN" altLang="en-US" sz="2800" b="1" dirty="0">
                <a:solidFill>
                  <a:srgbClr val="000066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DATABASE</a:t>
            </a:r>
            <a:r>
              <a:rPr lang="zh-CN" altLang="en-US" sz="2800" b="1" dirty="0">
                <a:solidFill>
                  <a:srgbClr val="000066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&lt;</a:t>
            </a:r>
            <a:r>
              <a:rPr lang="zh-CN" altLang="en-US" sz="2800" b="1" dirty="0">
                <a:solidFill>
                  <a:srgbClr val="000066"/>
                </a:solidFill>
              </a:rPr>
              <a:t>数据库名</a:t>
            </a:r>
            <a:r>
              <a:rPr lang="en-US" altLang="zh-CN" sz="2800" b="1" dirty="0">
                <a:solidFill>
                  <a:srgbClr val="000066"/>
                </a:solidFill>
              </a:rPr>
              <a:t>&gt;   </a:t>
            </a:r>
            <a:endParaRPr lang="en-US" altLang="zh-CN" sz="2800" dirty="0">
              <a:solidFill>
                <a:srgbClr val="000066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4C5FEC-FE38-7C40-9EB8-1A6FCE052DCC}"/>
              </a:ext>
            </a:extLst>
          </p:cNvPr>
          <p:cNvSpPr txBox="1"/>
          <p:nvPr/>
        </p:nvSpPr>
        <p:spPr>
          <a:xfrm>
            <a:off x="592932" y="5095157"/>
            <a:ext cx="4731326" cy="540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Symbol" pitchFamily="18" charset="2"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DROP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DATABASE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宋体" charset="-122"/>
                <a:ea typeface="宋体" charset="-122"/>
                <a:cs typeface="+mn-cs"/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PROJECT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宋体" charset="-122"/>
              <a:ea typeface="宋体" charset="-122"/>
              <a:cs typeface="+mn-cs"/>
            </a:endParaRPr>
          </a:p>
        </p:txBody>
      </p:sp>
      <p:sp>
        <p:nvSpPr>
          <p:cNvPr id="5" name="线形标注 1 4">
            <a:extLst>
              <a:ext uri="{FF2B5EF4-FFF2-40B4-BE49-F238E27FC236}">
                <a16:creationId xmlns:a16="http://schemas.microsoft.com/office/drawing/2014/main" id="{0C3F8040-A296-634D-84AF-B0AC5FC879D4}"/>
              </a:ext>
            </a:extLst>
          </p:cNvPr>
          <p:cNvSpPr/>
          <p:nvPr/>
        </p:nvSpPr>
        <p:spPr bwMode="auto">
          <a:xfrm>
            <a:off x="3995936" y="1656177"/>
            <a:ext cx="2016224" cy="1077218"/>
          </a:xfrm>
          <a:prstGeom prst="borderCallout1">
            <a:avLst>
              <a:gd name="adj1" fmla="val 101146"/>
              <a:gd name="adj2" fmla="val 24796"/>
              <a:gd name="adj3" fmla="val 120739"/>
              <a:gd name="adj4" fmla="val 48522"/>
            </a:avLst>
          </a:prstGeom>
          <a:noFill/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把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SQL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模式及其下属的基本表、</a:t>
            </a:r>
            <a:r>
              <a:rPr lang="zh-CN" altLang="en-US" sz="20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视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图、索引等所有元素全部撤销</a:t>
            </a:r>
          </a:p>
        </p:txBody>
      </p:sp>
      <p:sp>
        <p:nvSpPr>
          <p:cNvPr id="6" name="线形标注 1 5">
            <a:extLst>
              <a:ext uri="{FF2B5EF4-FFF2-40B4-BE49-F238E27FC236}">
                <a16:creationId xmlns:a16="http://schemas.microsoft.com/office/drawing/2014/main" id="{A9620C48-4D2A-1D4B-BEE3-0EB3B401F811}"/>
              </a:ext>
            </a:extLst>
          </p:cNvPr>
          <p:cNvSpPr/>
          <p:nvPr/>
        </p:nvSpPr>
        <p:spPr bwMode="auto">
          <a:xfrm>
            <a:off x="6372200" y="1656177"/>
            <a:ext cx="2448272" cy="1077218"/>
          </a:xfrm>
          <a:prstGeom prst="borderCallout1">
            <a:avLst>
              <a:gd name="adj1" fmla="val 101146"/>
              <a:gd name="adj2" fmla="val 24796"/>
              <a:gd name="adj3" fmla="val 120739"/>
              <a:gd name="adj4" fmla="val 48522"/>
            </a:avLst>
          </a:prstGeom>
          <a:noFill/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只有当</a:t>
            </a:r>
            <a:r>
              <a:rPr kumimoji="1" lang="en-US" altLang="zh-CN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SQL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模式中没有任何</a:t>
            </a:r>
            <a:r>
              <a:rPr lang="zh-CN" altLang="en-US" sz="20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下属元素时，才可以</a:t>
            </a: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宋体" pitchFamily="2" charset="-122"/>
                <a:ea typeface="宋体" pitchFamily="2" charset="-122"/>
              </a:rPr>
              <a:t>撤销</a:t>
            </a:r>
            <a:r>
              <a:rPr lang="en-US" altLang="zh-CN" sz="20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0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模式，否则拒绝执行</a:t>
            </a:r>
            <a:endParaRPr kumimoji="1" lang="zh-CN" altLang="en-US" sz="20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795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3" grpId="0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225425"/>
            <a:ext cx="914400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800" b="1" dirty="0">
                <a:solidFill>
                  <a:srgbClr val="000066"/>
                </a:solidFill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</a:rPr>
              <a:t>二、基本表的创建、修改和撤消</a:t>
            </a:r>
          </a:p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cs typeface="Times New Roman" pitchFamily="18" charset="0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cs typeface="Times New Roman" pitchFamily="18" charset="0"/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</a:rPr>
              <a:t>、</a:t>
            </a:r>
            <a:r>
              <a:rPr lang="zh-CN" altLang="en-US" sz="2800" b="1" dirty="0">
                <a:solidFill>
                  <a:schemeClr val="bg2"/>
                </a:solidFill>
                <a:cs typeface="Times New Roman" pitchFamily="18" charset="0"/>
              </a:rPr>
              <a:t>基本表的创建</a:t>
            </a:r>
          </a:p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2800" b="1" dirty="0">
                <a:solidFill>
                  <a:schemeClr val="bg2"/>
                </a:solidFill>
                <a:cs typeface="Times New Roman" pitchFamily="18" charset="0"/>
              </a:rPr>
              <a:t>   </a:t>
            </a:r>
            <a:r>
              <a:rPr lang="en-US" altLang="zh-CN" sz="2800" b="1" dirty="0">
                <a:solidFill>
                  <a:srgbClr val="660033"/>
                </a:solidFill>
                <a:cs typeface="Times New Roman" pitchFamily="18" charset="0"/>
              </a:rPr>
              <a:t>CREATE TABLE SQL </a:t>
            </a: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模式名</a:t>
            </a:r>
            <a:r>
              <a:rPr lang="en-US" altLang="zh-CN" sz="2800" b="1" dirty="0">
                <a:solidFill>
                  <a:srgbClr val="660033"/>
                </a:solidFill>
                <a:cs typeface="Times New Roman" pitchFamily="18" charset="0"/>
              </a:rPr>
              <a:t>.</a:t>
            </a: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基本表名</a:t>
            </a:r>
          </a:p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    （列名 类型，</a:t>
            </a:r>
          </a:p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     </a:t>
            </a:r>
            <a:r>
              <a:rPr lang="en-US" altLang="zh-CN" sz="2800" b="1" dirty="0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……</a:t>
            </a:r>
            <a:r>
              <a:rPr lang="en-US" altLang="zh-CN" sz="2800" b="1" dirty="0">
                <a:solidFill>
                  <a:srgbClr val="660033"/>
                </a:solidFill>
                <a:cs typeface="Times New Roman" pitchFamily="18" charset="0"/>
              </a:rPr>
              <a:t> </a:t>
            </a:r>
          </a:p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en-US" altLang="zh-CN" sz="2800" b="1" dirty="0">
                <a:solidFill>
                  <a:srgbClr val="660033"/>
                </a:solidFill>
                <a:cs typeface="Times New Roman" pitchFamily="18" charset="0"/>
              </a:rPr>
              <a:t>        </a:t>
            </a: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完整性约束，</a:t>
            </a:r>
          </a:p>
          <a:p>
            <a:pPr algn="just" eaLnBrk="0" hangingPunct="0">
              <a:lnSpc>
                <a:spcPct val="90000"/>
              </a:lnSpc>
              <a:spcBef>
                <a:spcPct val="50000"/>
              </a:spcBef>
              <a:buFont typeface="Symbol" pitchFamily="18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     </a:t>
            </a:r>
            <a:r>
              <a:rPr lang="en-US" altLang="zh-CN" sz="2800" b="1" dirty="0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……</a:t>
            </a:r>
            <a:r>
              <a:rPr lang="zh-CN" altLang="en-US" sz="2800" b="1" dirty="0">
                <a:solidFill>
                  <a:srgbClr val="660033"/>
                </a:solidFill>
                <a:cs typeface="Times New Roman" pitchFamily="18" charset="0"/>
              </a:rPr>
              <a:t>）</a:t>
            </a:r>
            <a:endParaRPr lang="zh-CN" altLang="en-US" sz="2800" b="1" dirty="0">
              <a:solidFill>
                <a:srgbClr val="660033"/>
              </a:solidFill>
            </a:endParaRPr>
          </a:p>
        </p:txBody>
      </p:sp>
      <p:sp>
        <p:nvSpPr>
          <p:cNvPr id="646147" name="Rectangle 3"/>
          <p:cNvSpPr>
            <a:spLocks noChangeArrowheads="1"/>
          </p:cNvSpPr>
          <p:nvPr/>
        </p:nvSpPr>
        <p:spPr bwMode="auto">
          <a:xfrm>
            <a:off x="0" y="4365625"/>
            <a:ext cx="9144000" cy="2058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 </a:t>
            </a:r>
            <a:r>
              <a:rPr lang="zh-CN" altLang="en-US" sz="2400" b="1">
                <a:solidFill>
                  <a:schemeClr val="bg2"/>
                </a:solidFill>
              </a:rPr>
              <a:t>完整性规则主要有三种：</a:t>
            </a:r>
            <a:r>
              <a:rPr lang="zh-CN" altLang="en-US" sz="2800" b="1">
                <a:solidFill>
                  <a:schemeClr val="bg2"/>
                </a:solidFill>
              </a:rPr>
              <a:t>  </a:t>
            </a:r>
            <a:r>
              <a:rPr lang="zh-CN" altLang="en-US" sz="2800" b="1">
                <a:solidFill>
                  <a:srgbClr val="660033"/>
                </a:solidFill>
              </a:rPr>
              <a:t>主键子句</a:t>
            </a:r>
            <a:r>
              <a:rPr lang="zh-CN" altLang="en-US" sz="2800" b="1">
                <a:solidFill>
                  <a:schemeClr val="bg2"/>
                </a:solidFill>
              </a:rPr>
              <a:t>（</a:t>
            </a:r>
            <a:r>
              <a:rPr lang="en-US" altLang="zh-CN" sz="2800" b="1">
                <a:solidFill>
                  <a:schemeClr val="bg2"/>
                </a:solidFill>
              </a:rPr>
              <a:t>PRIMARY KEY</a:t>
            </a:r>
            <a:r>
              <a:rPr lang="zh-CN" altLang="en-US" sz="2800" b="1">
                <a:solidFill>
                  <a:schemeClr val="bg2"/>
                </a:solidFill>
              </a:rPr>
              <a:t>）；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                      </a:t>
            </a:r>
            <a:r>
              <a:rPr lang="zh-CN" altLang="en-US" sz="2800" b="1">
                <a:solidFill>
                  <a:srgbClr val="660033"/>
                </a:solidFill>
              </a:rPr>
              <a:t>检查子句</a:t>
            </a:r>
            <a:r>
              <a:rPr lang="zh-CN" altLang="en-US" sz="2800" b="1">
                <a:solidFill>
                  <a:schemeClr val="bg2"/>
                </a:solidFill>
              </a:rPr>
              <a:t>（</a:t>
            </a:r>
            <a:r>
              <a:rPr lang="en-US" altLang="zh-CN" sz="2800" b="1">
                <a:solidFill>
                  <a:schemeClr val="bg2"/>
                </a:solidFill>
              </a:rPr>
              <a:t>CHECK</a:t>
            </a:r>
            <a:r>
              <a:rPr lang="zh-CN" altLang="en-US" sz="2800" b="1">
                <a:solidFill>
                  <a:schemeClr val="bg2"/>
                </a:solidFill>
              </a:rPr>
              <a:t>）；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                      </a:t>
            </a:r>
            <a:r>
              <a:rPr lang="zh-CN" altLang="en-US" sz="2800" b="1">
                <a:solidFill>
                  <a:srgbClr val="660033"/>
                </a:solidFill>
              </a:rPr>
              <a:t>外键子句</a:t>
            </a:r>
            <a:r>
              <a:rPr lang="zh-CN" altLang="en-US" sz="2800" b="1">
                <a:solidFill>
                  <a:schemeClr val="bg2"/>
                </a:solidFill>
              </a:rPr>
              <a:t>（</a:t>
            </a:r>
            <a:r>
              <a:rPr lang="en-US" altLang="zh-CN" sz="2800" b="1">
                <a:solidFill>
                  <a:schemeClr val="bg2"/>
                </a:solidFill>
              </a:rPr>
              <a:t>FOREIGN KEY</a:t>
            </a:r>
            <a:r>
              <a:rPr lang="zh-CN" altLang="en-US" sz="2800" b="1">
                <a:solidFill>
                  <a:schemeClr val="bg2"/>
                </a:solidFill>
              </a:rPr>
              <a:t>）。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2A06B73-B37A-9744-B73A-6E4817A92F3E}"/>
              </a:ext>
            </a:extLst>
          </p:cNvPr>
          <p:cNvSpPr/>
          <p:nvPr/>
        </p:nvSpPr>
        <p:spPr bwMode="auto">
          <a:xfrm>
            <a:off x="487211" y="1484784"/>
            <a:ext cx="6173021" cy="2834622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4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D6D069F-4227-D14B-B4FE-D6ECD317A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888"/>
            <a:ext cx="9144000" cy="616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SQL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提供的基本数据类型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宋体" panose="02010600030101010101" pitchFamily="2" charset="-122"/>
              </a:rPr>
              <a:t>数值型</a:t>
            </a:r>
            <a:r>
              <a:rPr lang="en-US" altLang="zh-CN" sz="2800" b="1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  INTEGER          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长整数（也可写成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INT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）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SMALLINT          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短整数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REAL              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取决于机器精度的浮点数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DOUBLE PRECISION  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取决于机器精度的双精度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宋体" panose="02010600030101010101" pitchFamily="2" charset="-122"/>
              </a:rPr>
              <a:t>浮点数</a:t>
            </a:r>
            <a:r>
              <a:rPr lang="en-US" altLang="zh-CN" sz="2800" b="1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  FLOAT(n)       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浮点数，精度至少为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位数字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;     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        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NUMERIC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chemeClr val="bg1"/>
                </a:solidFill>
                <a:latin typeface="宋体" panose="02010600030101010101" pitchFamily="2" charset="-122"/>
              </a:rPr>
              <a:t>p,d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</a:rPr>
              <a:t>）  </a:t>
            </a:r>
            <a:r>
              <a:rPr lang="zh-CN" altLang="en-US" sz="1800" b="1">
                <a:solidFill>
                  <a:schemeClr val="bg1"/>
                </a:solidFill>
                <a:latin typeface="宋体" panose="02010600030101010101" pitchFamily="2" charset="-122"/>
              </a:rPr>
              <a:t>定点数，由</a:t>
            </a:r>
            <a:r>
              <a:rPr lang="en-US" altLang="zh-CN" sz="1800" b="1">
                <a:solidFill>
                  <a:schemeClr val="bg1"/>
                </a:solidFill>
                <a:latin typeface="宋体" panose="02010600030101010101" pitchFamily="2" charset="-122"/>
              </a:rPr>
              <a:t>p</a:t>
            </a:r>
            <a:r>
              <a:rPr lang="zh-CN" altLang="en-US" sz="1800" b="1">
                <a:solidFill>
                  <a:schemeClr val="bg1"/>
                </a:solidFill>
                <a:latin typeface="宋体" panose="02010600030101010101" pitchFamily="2" charset="-122"/>
              </a:rPr>
              <a:t>位数字（不包括符号、小数点）                             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1800" b="1">
                <a:solidFill>
                  <a:schemeClr val="bg1"/>
                </a:solidFill>
                <a:latin typeface="宋体" panose="02010600030101010101" pitchFamily="2" charset="-122"/>
              </a:rPr>
              <a:t>                                     组成，小数点后面有</a:t>
            </a:r>
            <a:r>
              <a:rPr lang="en-US" altLang="zh-CN" sz="1800" b="1">
                <a:solidFill>
                  <a:schemeClr val="bg1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1800" b="1">
                <a:solidFill>
                  <a:schemeClr val="bg1"/>
                </a:solidFill>
                <a:latin typeface="宋体" panose="02010600030101010101" pitchFamily="2" charset="-122"/>
              </a:rPr>
              <a:t>位数字</a:t>
            </a:r>
            <a:r>
              <a:rPr lang="en-US" altLang="zh-CN" sz="1800" b="1">
                <a:solidFill>
                  <a:schemeClr val="bg1"/>
                </a:solidFill>
                <a:latin typeface="宋体" panose="02010600030101010101" pitchFamily="2" charset="-122"/>
              </a:rPr>
              <a:t>;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         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也可写成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:DECIMAL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P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）或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DEC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P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b="1">
                <a:solidFill>
                  <a:schemeClr val="bg2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2800" b="1">
                <a:solidFill>
                  <a:schemeClr val="bg2"/>
                </a:solidFill>
                <a:latin typeface="宋体" panose="02010600030101010101" pitchFamily="2" charset="-122"/>
              </a:rPr>
              <a:t>））                     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4722536-3D95-3042-981B-A272DEE1C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8913"/>
            <a:ext cx="9144000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8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en-US" altLang="zh-CN" sz="2800" b="1">
                <a:solidFill>
                  <a:srgbClr val="000066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  SQL</a:t>
            </a:r>
            <a:r>
              <a:rPr lang="zh-CN" altLang="en-US" sz="2800" b="1">
                <a:solidFill>
                  <a:srgbClr val="000066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提供的基本数据类型</a:t>
            </a:r>
            <a:r>
              <a:rPr lang="zh-CN" altLang="en-US" sz="2800" b="1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CE4944C-FD80-0D42-BF90-E19740DF5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44000" cy="137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字符串型</a:t>
            </a: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  CHAR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）        长度为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的定长字符串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           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VARCHAR(n)       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具有最大长度为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的变长字符串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F146B10A-E0DF-8343-A4CF-5720D9202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9144000" cy="1370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位串型</a:t>
            </a: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BIT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）         长度为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的二进制位串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           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BIT VARYING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） 最大长度为 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n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的变长二进制位</a:t>
            </a:r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7B9CFDF9-4FDD-6244-B425-180F930A9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92600"/>
            <a:ext cx="9144000" cy="210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时间型</a:t>
            </a: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   DATE          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日期，包含年、月、日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, YYYY</a:t>
            </a:r>
            <a:r>
              <a:rPr lang="en-US" altLang="zh-CN" sz="2400" b="1">
                <a:solidFill>
                  <a:schemeClr val="bg2"/>
                </a:solidFill>
              </a:rPr>
              <a:t>—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MM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－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DD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          TIME          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时间，包含时、分、秒，</a:t>
            </a: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</a:rPr>
              <a:t>HH:MM:SS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  <a:buClrTx/>
              <a:buSzTx/>
              <a:buFont typeface="Symbol" pitchFamily="2" charset="2"/>
              <a:buNone/>
            </a:pPr>
            <a:endParaRPr lang="en-US" altLang="zh-CN" sz="2400" b="1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1103313" y="2559050"/>
            <a:ext cx="6937375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b="1"/>
              <a:t>【</a:t>
            </a:r>
            <a:r>
              <a:rPr lang="zh-CN" altLang="en-US" b="1"/>
              <a:t>例</a:t>
            </a:r>
            <a:r>
              <a:rPr lang="en-US" altLang="zh-CN" b="1"/>
              <a:t>4.1】</a:t>
            </a:r>
            <a:r>
              <a:rPr lang="zh-CN" altLang="en-US"/>
              <a:t>在有关工程项目的数据库中，有四个关系，其结构如下：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供应商关系：  </a:t>
            </a:r>
            <a:r>
              <a:rPr lang="en-US" altLang="zh-CN"/>
              <a:t>S(</a:t>
            </a:r>
            <a:r>
              <a:rPr lang="en-US" altLang="zh-CN" u="sng"/>
              <a:t>SNO</a:t>
            </a:r>
            <a:r>
              <a:rPr lang="zh-CN" altLang="en-US"/>
              <a:t>，</a:t>
            </a:r>
            <a:r>
              <a:rPr lang="en-US" altLang="zh-CN"/>
              <a:t>SNAME</a:t>
            </a:r>
            <a:r>
              <a:rPr lang="zh-CN" altLang="en-US"/>
              <a:t>，</a:t>
            </a:r>
            <a:r>
              <a:rPr lang="en-US" altLang="zh-CN"/>
              <a:t>SADDR) 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零件关系：    </a:t>
            </a:r>
            <a:r>
              <a:rPr lang="en-US" altLang="zh-CN"/>
              <a:t>P(</a:t>
            </a:r>
            <a:r>
              <a:rPr lang="en-US" altLang="zh-CN" u="sng"/>
              <a:t>PNO</a:t>
            </a:r>
            <a:r>
              <a:rPr lang="zh-CN" altLang="en-US"/>
              <a:t>，</a:t>
            </a:r>
            <a:r>
              <a:rPr lang="en-US" altLang="zh-CN"/>
              <a:t>PNAME</a:t>
            </a:r>
            <a:r>
              <a:rPr lang="zh-CN" altLang="en-US"/>
              <a:t>，</a:t>
            </a:r>
            <a:r>
              <a:rPr lang="en-US" altLang="zh-CN"/>
              <a:t>COLOR</a:t>
            </a:r>
            <a:r>
              <a:rPr lang="zh-CN" altLang="en-US"/>
              <a:t>，</a:t>
            </a:r>
            <a:r>
              <a:rPr lang="en-US" altLang="zh-CN"/>
              <a:t>WEIGHT)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工程项目关系：</a:t>
            </a:r>
            <a:r>
              <a:rPr lang="en-US" altLang="zh-CN"/>
              <a:t>J(</a:t>
            </a:r>
            <a:r>
              <a:rPr lang="en-US" altLang="zh-CN" u="sng"/>
              <a:t>JNO</a:t>
            </a:r>
            <a:r>
              <a:rPr lang="zh-CN" altLang="en-US"/>
              <a:t>，</a:t>
            </a:r>
            <a:r>
              <a:rPr lang="en-US" altLang="zh-CN"/>
              <a:t>JNAME</a:t>
            </a:r>
            <a:r>
              <a:rPr lang="zh-CN" altLang="en-US"/>
              <a:t>，</a:t>
            </a:r>
            <a:r>
              <a:rPr lang="en-US" altLang="zh-CN"/>
              <a:t>JCITY</a:t>
            </a:r>
            <a:r>
              <a:rPr lang="zh-CN" altLang="en-US"/>
              <a:t>，</a:t>
            </a:r>
            <a:r>
              <a:rPr lang="en-US" altLang="zh-CN"/>
              <a:t>BALANCE)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供应情况关系：</a:t>
            </a:r>
            <a:r>
              <a:rPr lang="en-US" altLang="zh-CN"/>
              <a:t>SPJ(</a:t>
            </a:r>
            <a:r>
              <a:rPr lang="en-US" altLang="zh-CN" u="sng"/>
              <a:t>SNO</a:t>
            </a:r>
            <a:r>
              <a:rPr lang="zh-CN" altLang="en-US" u="sng"/>
              <a:t>，</a:t>
            </a:r>
            <a:r>
              <a:rPr lang="en-US" altLang="zh-CN" u="sng"/>
              <a:t>PNO</a:t>
            </a:r>
            <a:r>
              <a:rPr lang="zh-CN" altLang="en-US" u="sng"/>
              <a:t>，</a:t>
            </a:r>
            <a:r>
              <a:rPr lang="en-US" altLang="zh-CN" u="sng"/>
              <a:t>JNO</a:t>
            </a:r>
            <a:r>
              <a:rPr lang="zh-CN" altLang="en-US"/>
              <a:t>，</a:t>
            </a:r>
            <a:r>
              <a:rPr lang="en-US" altLang="zh-CN"/>
              <a:t>PRICE</a:t>
            </a:r>
            <a:r>
              <a:rPr lang="zh-CN" altLang="en-US"/>
              <a:t>，</a:t>
            </a:r>
            <a:r>
              <a:rPr lang="en-US" altLang="zh-CN"/>
              <a:t>QTY)</a:t>
            </a:r>
          </a:p>
        </p:txBody>
      </p:sp>
      <p:sp>
        <p:nvSpPr>
          <p:cNvPr id="19459" name="Rectangle 4"/>
          <p:cNvSpPr>
            <a:spLocks noChangeArrowheads="1"/>
          </p:cNvSpPr>
          <p:nvPr/>
        </p:nvSpPr>
        <p:spPr bwMode="auto">
          <a:xfrm>
            <a:off x="-468313" y="812800"/>
            <a:ext cx="9361488" cy="465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93345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400" b="1">
                <a:solidFill>
                  <a:schemeClr val="bg2"/>
                </a:solidFill>
              </a:rPr>
              <a:t>例</a:t>
            </a:r>
            <a:r>
              <a:rPr lang="en-US" altLang="zh-CN" sz="2400" b="1">
                <a:solidFill>
                  <a:schemeClr val="bg2"/>
                </a:solidFill>
              </a:rPr>
              <a:t>: </a:t>
            </a:r>
            <a:r>
              <a:rPr lang="zh-CN" altLang="en-US" sz="2400" b="1">
                <a:solidFill>
                  <a:schemeClr val="bg2"/>
                </a:solidFill>
              </a:rPr>
              <a:t>工程项目数据库</a:t>
            </a:r>
            <a:r>
              <a:rPr lang="en-US" altLang="zh-CN" sz="2400" b="1">
                <a:solidFill>
                  <a:schemeClr val="bg2"/>
                </a:solidFill>
              </a:rPr>
              <a:t>PROJECT</a:t>
            </a:r>
            <a:r>
              <a:rPr lang="zh-CN" altLang="en-US" sz="2400" b="1">
                <a:solidFill>
                  <a:schemeClr val="bg2"/>
                </a:solidFill>
              </a:rPr>
              <a:t>中有四个关系，其结构如下：</a:t>
            </a:r>
          </a:p>
          <a:p>
            <a:pPr indent="9334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400" b="1">
                <a:solidFill>
                  <a:srgbClr val="000066"/>
                </a:solidFill>
              </a:rPr>
              <a:t>供应商关系：</a:t>
            </a:r>
            <a:r>
              <a:rPr lang="zh-CN" altLang="en-US" sz="2400" b="1">
                <a:solidFill>
                  <a:schemeClr val="bg2"/>
                </a:solidFill>
              </a:rPr>
              <a:t>  </a:t>
            </a:r>
            <a:r>
              <a:rPr lang="en-US" altLang="zh-CN" sz="2400" b="1">
                <a:solidFill>
                  <a:schemeClr val="bg2"/>
                </a:solidFill>
              </a:rPr>
              <a:t>S(</a:t>
            </a:r>
            <a:r>
              <a:rPr lang="en-US" altLang="zh-CN" sz="2400" b="1" u="sng">
                <a:solidFill>
                  <a:schemeClr val="bg2"/>
                </a:solidFill>
              </a:rPr>
              <a:t>SNO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SNAME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SADDR) </a:t>
            </a:r>
          </a:p>
          <a:p>
            <a:pPr indent="9334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400" b="1">
                <a:solidFill>
                  <a:srgbClr val="000066"/>
                </a:solidFill>
              </a:rPr>
              <a:t>零件关系：</a:t>
            </a:r>
            <a:r>
              <a:rPr lang="zh-CN" altLang="en-US" sz="2400" b="1">
                <a:solidFill>
                  <a:schemeClr val="bg2"/>
                </a:solidFill>
              </a:rPr>
              <a:t>    </a:t>
            </a:r>
            <a:r>
              <a:rPr lang="en-US" altLang="zh-CN" sz="2400" b="1">
                <a:solidFill>
                  <a:schemeClr val="bg2"/>
                </a:solidFill>
              </a:rPr>
              <a:t>P(</a:t>
            </a:r>
            <a:r>
              <a:rPr lang="en-US" altLang="zh-CN" sz="2400" b="1" u="sng">
                <a:solidFill>
                  <a:schemeClr val="bg2"/>
                </a:solidFill>
              </a:rPr>
              <a:t>PNO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PNAME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COLOR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WEIGHT)</a:t>
            </a:r>
          </a:p>
          <a:p>
            <a:pPr indent="9334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400" b="1">
                <a:solidFill>
                  <a:srgbClr val="000066"/>
                </a:solidFill>
              </a:rPr>
              <a:t>工程项目关系：</a:t>
            </a:r>
            <a:r>
              <a:rPr lang="en-US" altLang="zh-CN" sz="2400" b="1">
                <a:solidFill>
                  <a:schemeClr val="bg2"/>
                </a:solidFill>
              </a:rPr>
              <a:t>J(</a:t>
            </a:r>
            <a:r>
              <a:rPr lang="en-US" altLang="zh-CN" sz="2400" b="1" u="sng">
                <a:solidFill>
                  <a:schemeClr val="bg2"/>
                </a:solidFill>
              </a:rPr>
              <a:t>JNO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JNAME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JCITY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BALANCE)</a:t>
            </a:r>
          </a:p>
          <a:p>
            <a:pPr indent="9334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400" b="1">
                <a:solidFill>
                  <a:srgbClr val="000066"/>
                </a:solidFill>
              </a:rPr>
              <a:t>供应情况关系：</a:t>
            </a:r>
            <a:r>
              <a:rPr lang="en-US" altLang="zh-CN" sz="2400" b="1">
                <a:solidFill>
                  <a:schemeClr val="bg2"/>
                </a:solidFill>
              </a:rPr>
              <a:t>SPJ(</a:t>
            </a:r>
            <a:r>
              <a:rPr lang="en-US" altLang="zh-CN" sz="2400" b="1" u="sng">
                <a:solidFill>
                  <a:schemeClr val="bg2"/>
                </a:solidFill>
              </a:rPr>
              <a:t>SNO</a:t>
            </a:r>
            <a:r>
              <a:rPr lang="zh-CN" altLang="en-US" sz="2400" b="1" u="sng">
                <a:solidFill>
                  <a:schemeClr val="bg2"/>
                </a:solidFill>
              </a:rPr>
              <a:t>，</a:t>
            </a:r>
            <a:r>
              <a:rPr lang="en-US" altLang="zh-CN" sz="2400" b="1" u="sng">
                <a:solidFill>
                  <a:schemeClr val="bg2"/>
                </a:solidFill>
              </a:rPr>
              <a:t>PNO</a:t>
            </a:r>
            <a:r>
              <a:rPr lang="zh-CN" altLang="en-US" sz="2400" b="1" u="sng">
                <a:solidFill>
                  <a:schemeClr val="bg2"/>
                </a:solidFill>
              </a:rPr>
              <a:t>，</a:t>
            </a:r>
            <a:r>
              <a:rPr lang="en-US" altLang="zh-CN" sz="2400" b="1" u="sng">
                <a:solidFill>
                  <a:schemeClr val="bg2"/>
                </a:solidFill>
              </a:rPr>
              <a:t>JNO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PRICE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QTY)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5495" y="115888"/>
            <a:ext cx="4608513" cy="3646487"/>
          </a:xfrm>
          <a:prstGeom prst="rect">
            <a:avLst/>
          </a:prstGeom>
          <a:noFill/>
          <a:ln w="12700">
            <a:solidFill>
              <a:schemeClr val="bg2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可用下列语句创建表</a:t>
            </a:r>
            <a:r>
              <a:rPr lang="en-US" altLang="zh-CN" sz="2400" b="1" dirty="0">
                <a:solidFill>
                  <a:schemeClr val="bg2"/>
                </a:solidFill>
              </a:rPr>
              <a:t>S: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CREATE TABLE S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(SNO CHAR(4)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SNAME CHAR(20)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SADDR CHAR(20),</a:t>
            </a:r>
            <a:endParaRPr lang="zh-CN" altLang="en-US" sz="2400" b="1" dirty="0">
              <a:solidFill>
                <a:schemeClr val="bg2"/>
              </a:solidFill>
            </a:endParaRP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PRIMARY KEY(SNO));</a:t>
            </a:r>
          </a:p>
        </p:txBody>
      </p:sp>
      <p:sp>
        <p:nvSpPr>
          <p:cNvPr id="828420" name="Rectangle 4"/>
          <p:cNvSpPr>
            <a:spLocks noChangeArrowheads="1"/>
          </p:cNvSpPr>
          <p:nvPr/>
        </p:nvSpPr>
        <p:spPr bwMode="auto">
          <a:xfrm>
            <a:off x="4211638" y="2132013"/>
            <a:ext cx="4897437" cy="4264025"/>
          </a:xfrm>
          <a:prstGeom prst="rect">
            <a:avLst/>
          </a:prstGeom>
          <a:noFill/>
          <a:ln w="9525">
            <a:solidFill>
              <a:schemeClr val="bg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可用下列语句创建表</a:t>
            </a:r>
            <a:r>
              <a:rPr lang="en-US" altLang="zh-CN" sz="2400" b="1" dirty="0">
                <a:solidFill>
                  <a:schemeClr val="bg2"/>
                </a:solidFill>
              </a:rPr>
              <a:t>P: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rgbClr val="000066"/>
                </a:solidFill>
              </a:rPr>
              <a:t>CREATE TABLE P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(PNO CHAR(4)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PNAME CHAR(20) NOT NULL, 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COLOR  CHAR(8),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WEIGHT SMALLINT,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PRIMARY KEY (PNO));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3F5197FB-DE36-F840-B41B-6E5ED15B489D}"/>
              </a:ext>
            </a:extLst>
          </p:cNvPr>
          <p:cNvSpPr/>
          <p:nvPr/>
        </p:nvSpPr>
        <p:spPr bwMode="auto">
          <a:xfrm>
            <a:off x="719096" y="1371600"/>
            <a:ext cx="888031" cy="1759527"/>
          </a:xfrm>
          <a:custGeom>
            <a:avLst/>
            <a:gdLst>
              <a:gd name="connsiteX0" fmla="*/ 126031 w 888031"/>
              <a:gd name="connsiteY0" fmla="*/ 96982 h 1759527"/>
              <a:gd name="connsiteX1" fmla="*/ 126031 w 888031"/>
              <a:gd name="connsiteY1" fmla="*/ 96982 h 1759527"/>
              <a:gd name="connsiteX2" fmla="*/ 84468 w 888031"/>
              <a:gd name="connsiteY2" fmla="*/ 249382 h 1759527"/>
              <a:gd name="connsiteX3" fmla="*/ 70613 w 888031"/>
              <a:gd name="connsiteY3" fmla="*/ 318655 h 1759527"/>
              <a:gd name="connsiteX4" fmla="*/ 56759 w 888031"/>
              <a:gd name="connsiteY4" fmla="*/ 748145 h 1759527"/>
              <a:gd name="connsiteX5" fmla="*/ 42904 w 888031"/>
              <a:gd name="connsiteY5" fmla="*/ 789709 h 1759527"/>
              <a:gd name="connsiteX6" fmla="*/ 15195 w 888031"/>
              <a:gd name="connsiteY6" fmla="*/ 831273 h 1759527"/>
              <a:gd name="connsiteX7" fmla="*/ 29049 w 888031"/>
              <a:gd name="connsiteY7" fmla="*/ 900545 h 1759527"/>
              <a:gd name="connsiteX8" fmla="*/ 1340 w 888031"/>
              <a:gd name="connsiteY8" fmla="*/ 1537855 h 1759527"/>
              <a:gd name="connsiteX9" fmla="*/ 56759 w 888031"/>
              <a:gd name="connsiteY9" fmla="*/ 1620982 h 1759527"/>
              <a:gd name="connsiteX10" fmla="*/ 139886 w 888031"/>
              <a:gd name="connsiteY10" fmla="*/ 1690255 h 1759527"/>
              <a:gd name="connsiteX11" fmla="*/ 209159 w 888031"/>
              <a:gd name="connsiteY11" fmla="*/ 1759527 h 1759527"/>
              <a:gd name="connsiteX12" fmla="*/ 472395 w 888031"/>
              <a:gd name="connsiteY12" fmla="*/ 1745673 h 1759527"/>
              <a:gd name="connsiteX13" fmla="*/ 513959 w 888031"/>
              <a:gd name="connsiteY13" fmla="*/ 1731818 h 1759527"/>
              <a:gd name="connsiteX14" fmla="*/ 818759 w 888031"/>
              <a:gd name="connsiteY14" fmla="*/ 1745673 h 1759527"/>
              <a:gd name="connsiteX15" fmla="*/ 860322 w 888031"/>
              <a:gd name="connsiteY15" fmla="*/ 1717964 h 1759527"/>
              <a:gd name="connsiteX16" fmla="*/ 874177 w 888031"/>
              <a:gd name="connsiteY16" fmla="*/ 1676400 h 1759527"/>
              <a:gd name="connsiteX17" fmla="*/ 888031 w 888031"/>
              <a:gd name="connsiteY17" fmla="*/ 1108364 h 1759527"/>
              <a:gd name="connsiteX18" fmla="*/ 874177 w 888031"/>
              <a:gd name="connsiteY18" fmla="*/ 692727 h 1759527"/>
              <a:gd name="connsiteX19" fmla="*/ 832613 w 888031"/>
              <a:gd name="connsiteY19" fmla="*/ 665018 h 1759527"/>
              <a:gd name="connsiteX20" fmla="*/ 791049 w 888031"/>
              <a:gd name="connsiteY20" fmla="*/ 651164 h 1759527"/>
              <a:gd name="connsiteX21" fmla="*/ 652504 w 888031"/>
              <a:gd name="connsiteY21" fmla="*/ 623455 h 1759527"/>
              <a:gd name="connsiteX22" fmla="*/ 500104 w 888031"/>
              <a:gd name="connsiteY22" fmla="*/ 623455 h 1759527"/>
              <a:gd name="connsiteX23" fmla="*/ 513959 w 888031"/>
              <a:gd name="connsiteY23" fmla="*/ 443345 h 1759527"/>
              <a:gd name="connsiteX24" fmla="*/ 569377 w 888031"/>
              <a:gd name="connsiteY24" fmla="*/ 318655 h 1759527"/>
              <a:gd name="connsiteX25" fmla="*/ 555522 w 888031"/>
              <a:gd name="connsiteY25" fmla="*/ 96982 h 1759527"/>
              <a:gd name="connsiteX26" fmla="*/ 541668 w 888031"/>
              <a:gd name="connsiteY26" fmla="*/ 55418 h 1759527"/>
              <a:gd name="connsiteX27" fmla="*/ 500104 w 888031"/>
              <a:gd name="connsiteY27" fmla="*/ 13855 h 1759527"/>
              <a:gd name="connsiteX28" fmla="*/ 458540 w 888031"/>
              <a:gd name="connsiteY28" fmla="*/ 0 h 1759527"/>
              <a:gd name="connsiteX29" fmla="*/ 375413 w 888031"/>
              <a:gd name="connsiteY29" fmla="*/ 41564 h 1759527"/>
              <a:gd name="connsiteX30" fmla="*/ 195304 w 888031"/>
              <a:gd name="connsiteY30" fmla="*/ 83127 h 1759527"/>
              <a:gd name="connsiteX31" fmla="*/ 153740 w 888031"/>
              <a:gd name="connsiteY31" fmla="*/ 96982 h 1759527"/>
              <a:gd name="connsiteX32" fmla="*/ 126031 w 888031"/>
              <a:gd name="connsiteY32" fmla="*/ 96982 h 175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888031" h="1759527">
                <a:moveTo>
                  <a:pt x="126031" y="96982"/>
                </a:moveTo>
                <a:lnTo>
                  <a:pt x="126031" y="96982"/>
                </a:lnTo>
                <a:cubicBezTo>
                  <a:pt x="112177" y="147782"/>
                  <a:pt x="97239" y="198299"/>
                  <a:pt x="84468" y="249382"/>
                </a:cubicBezTo>
                <a:cubicBezTo>
                  <a:pt x="78757" y="272227"/>
                  <a:pt x="71919" y="295143"/>
                  <a:pt x="70613" y="318655"/>
                </a:cubicBezTo>
                <a:cubicBezTo>
                  <a:pt x="62668" y="461672"/>
                  <a:pt x="65170" y="605154"/>
                  <a:pt x="56759" y="748145"/>
                </a:cubicBezTo>
                <a:cubicBezTo>
                  <a:pt x="55901" y="762724"/>
                  <a:pt x="49435" y="776647"/>
                  <a:pt x="42904" y="789709"/>
                </a:cubicBezTo>
                <a:cubicBezTo>
                  <a:pt x="35457" y="804602"/>
                  <a:pt x="24431" y="817418"/>
                  <a:pt x="15195" y="831273"/>
                </a:cubicBezTo>
                <a:cubicBezTo>
                  <a:pt x="19813" y="854364"/>
                  <a:pt x="29511" y="877002"/>
                  <a:pt x="29049" y="900545"/>
                </a:cubicBezTo>
                <a:cubicBezTo>
                  <a:pt x="24880" y="1113141"/>
                  <a:pt x="-6833" y="1325375"/>
                  <a:pt x="1340" y="1537855"/>
                </a:cubicBezTo>
                <a:cubicBezTo>
                  <a:pt x="2620" y="1571133"/>
                  <a:pt x="30117" y="1601001"/>
                  <a:pt x="56759" y="1620982"/>
                </a:cubicBezTo>
                <a:cubicBezTo>
                  <a:pt x="83710" y="1641195"/>
                  <a:pt x="117865" y="1662728"/>
                  <a:pt x="139886" y="1690255"/>
                </a:cubicBezTo>
                <a:cubicBezTo>
                  <a:pt x="192663" y="1756227"/>
                  <a:pt x="137909" y="1712027"/>
                  <a:pt x="209159" y="1759527"/>
                </a:cubicBezTo>
                <a:cubicBezTo>
                  <a:pt x="296904" y="1754909"/>
                  <a:pt x="384889" y="1753628"/>
                  <a:pt x="472395" y="1745673"/>
                </a:cubicBezTo>
                <a:cubicBezTo>
                  <a:pt x="486939" y="1744351"/>
                  <a:pt x="499355" y="1731818"/>
                  <a:pt x="513959" y="1731818"/>
                </a:cubicBezTo>
                <a:cubicBezTo>
                  <a:pt x="615664" y="1731818"/>
                  <a:pt x="717159" y="1741055"/>
                  <a:pt x="818759" y="1745673"/>
                </a:cubicBezTo>
                <a:cubicBezTo>
                  <a:pt x="832613" y="1736437"/>
                  <a:pt x="849920" y="1730966"/>
                  <a:pt x="860322" y="1717964"/>
                </a:cubicBezTo>
                <a:cubicBezTo>
                  <a:pt x="869445" y="1706560"/>
                  <a:pt x="873514" y="1690989"/>
                  <a:pt x="874177" y="1676400"/>
                </a:cubicBezTo>
                <a:cubicBezTo>
                  <a:pt x="882777" y="1487194"/>
                  <a:pt x="883413" y="1297709"/>
                  <a:pt x="888031" y="1108364"/>
                </a:cubicBezTo>
                <a:cubicBezTo>
                  <a:pt x="883413" y="969818"/>
                  <a:pt x="891371" y="830279"/>
                  <a:pt x="874177" y="692727"/>
                </a:cubicBezTo>
                <a:cubicBezTo>
                  <a:pt x="872112" y="676204"/>
                  <a:pt x="847506" y="672464"/>
                  <a:pt x="832613" y="665018"/>
                </a:cubicBezTo>
                <a:cubicBezTo>
                  <a:pt x="819551" y="658487"/>
                  <a:pt x="805091" y="655176"/>
                  <a:pt x="791049" y="651164"/>
                </a:cubicBezTo>
                <a:cubicBezTo>
                  <a:pt x="733171" y="634628"/>
                  <a:pt x="717837" y="634343"/>
                  <a:pt x="652504" y="623455"/>
                </a:cubicBezTo>
                <a:cubicBezTo>
                  <a:pt x="633944" y="627167"/>
                  <a:pt x="513102" y="659851"/>
                  <a:pt x="500104" y="623455"/>
                </a:cubicBezTo>
                <a:cubicBezTo>
                  <a:pt x="479852" y="566749"/>
                  <a:pt x="504568" y="502822"/>
                  <a:pt x="513959" y="443345"/>
                </a:cubicBezTo>
                <a:cubicBezTo>
                  <a:pt x="524193" y="378532"/>
                  <a:pt x="538430" y="365074"/>
                  <a:pt x="569377" y="318655"/>
                </a:cubicBezTo>
                <a:cubicBezTo>
                  <a:pt x="564759" y="244764"/>
                  <a:pt x="563272" y="170610"/>
                  <a:pt x="555522" y="96982"/>
                </a:cubicBezTo>
                <a:cubicBezTo>
                  <a:pt x="553993" y="82458"/>
                  <a:pt x="549769" y="67569"/>
                  <a:pt x="541668" y="55418"/>
                </a:cubicBezTo>
                <a:cubicBezTo>
                  <a:pt x="530800" y="39115"/>
                  <a:pt x="516407" y="24723"/>
                  <a:pt x="500104" y="13855"/>
                </a:cubicBezTo>
                <a:cubicBezTo>
                  <a:pt x="487953" y="5754"/>
                  <a:pt x="472395" y="4618"/>
                  <a:pt x="458540" y="0"/>
                </a:cubicBezTo>
                <a:cubicBezTo>
                  <a:pt x="306947" y="50534"/>
                  <a:pt x="536573" y="-30062"/>
                  <a:pt x="375413" y="41564"/>
                </a:cubicBezTo>
                <a:cubicBezTo>
                  <a:pt x="303344" y="73594"/>
                  <a:pt x="274200" y="71857"/>
                  <a:pt x="195304" y="83127"/>
                </a:cubicBezTo>
                <a:cubicBezTo>
                  <a:pt x="181449" y="87745"/>
                  <a:pt x="168344" y="96982"/>
                  <a:pt x="153740" y="96982"/>
                </a:cubicBezTo>
                <a:lnTo>
                  <a:pt x="126031" y="96982"/>
                </a:lnTo>
                <a:close/>
              </a:path>
            </a:pathLst>
          </a:cu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任意形状 3">
            <a:extLst>
              <a:ext uri="{FF2B5EF4-FFF2-40B4-BE49-F238E27FC236}">
                <a16:creationId xmlns:a16="http://schemas.microsoft.com/office/drawing/2014/main" id="{23709FF8-7A56-EE4A-A9E3-E8061D648320}"/>
              </a:ext>
            </a:extLst>
          </p:cNvPr>
          <p:cNvSpPr/>
          <p:nvPr/>
        </p:nvSpPr>
        <p:spPr bwMode="auto">
          <a:xfrm>
            <a:off x="1399309" y="1302327"/>
            <a:ext cx="1676400" cy="1870364"/>
          </a:xfrm>
          <a:custGeom>
            <a:avLst/>
            <a:gdLst>
              <a:gd name="connsiteX0" fmla="*/ 0 w 1676400"/>
              <a:gd name="connsiteY0" fmla="*/ 13855 h 1870364"/>
              <a:gd name="connsiteX1" fmla="*/ 0 w 1676400"/>
              <a:gd name="connsiteY1" fmla="*/ 13855 h 1870364"/>
              <a:gd name="connsiteX2" fmla="*/ 27709 w 1676400"/>
              <a:gd name="connsiteY2" fmla="*/ 277091 h 1870364"/>
              <a:gd name="connsiteX3" fmla="*/ 55418 w 1676400"/>
              <a:gd name="connsiteY3" fmla="*/ 484909 h 1870364"/>
              <a:gd name="connsiteX4" fmla="*/ 96982 w 1676400"/>
              <a:gd name="connsiteY4" fmla="*/ 637309 h 1870364"/>
              <a:gd name="connsiteX5" fmla="*/ 180109 w 1676400"/>
              <a:gd name="connsiteY5" fmla="*/ 692728 h 1870364"/>
              <a:gd name="connsiteX6" fmla="*/ 332509 w 1676400"/>
              <a:gd name="connsiteY6" fmla="*/ 720437 h 1870364"/>
              <a:gd name="connsiteX7" fmla="*/ 374073 w 1676400"/>
              <a:gd name="connsiteY7" fmla="*/ 803564 h 1870364"/>
              <a:gd name="connsiteX8" fmla="*/ 360218 w 1676400"/>
              <a:gd name="connsiteY8" fmla="*/ 858982 h 1870364"/>
              <a:gd name="connsiteX9" fmla="*/ 332509 w 1676400"/>
              <a:gd name="connsiteY9" fmla="*/ 1177637 h 1870364"/>
              <a:gd name="connsiteX10" fmla="*/ 318655 w 1676400"/>
              <a:gd name="connsiteY10" fmla="*/ 1288473 h 1870364"/>
              <a:gd name="connsiteX11" fmla="*/ 304800 w 1676400"/>
              <a:gd name="connsiteY11" fmla="*/ 1330037 h 1870364"/>
              <a:gd name="connsiteX12" fmla="*/ 290946 w 1676400"/>
              <a:gd name="connsiteY12" fmla="*/ 1385455 h 1870364"/>
              <a:gd name="connsiteX13" fmla="*/ 318655 w 1676400"/>
              <a:gd name="connsiteY13" fmla="*/ 1773382 h 1870364"/>
              <a:gd name="connsiteX14" fmla="*/ 401782 w 1676400"/>
              <a:gd name="connsiteY14" fmla="*/ 1856509 h 1870364"/>
              <a:gd name="connsiteX15" fmla="*/ 651164 w 1676400"/>
              <a:gd name="connsiteY15" fmla="*/ 1870364 h 1870364"/>
              <a:gd name="connsiteX16" fmla="*/ 1205346 w 1676400"/>
              <a:gd name="connsiteY16" fmla="*/ 1842655 h 1870364"/>
              <a:gd name="connsiteX17" fmla="*/ 1496291 w 1676400"/>
              <a:gd name="connsiteY17" fmla="*/ 1814946 h 1870364"/>
              <a:gd name="connsiteX18" fmla="*/ 1537855 w 1676400"/>
              <a:gd name="connsiteY18" fmla="*/ 1717964 h 1870364"/>
              <a:gd name="connsiteX19" fmla="*/ 1551709 w 1676400"/>
              <a:gd name="connsiteY19" fmla="*/ 1662546 h 1870364"/>
              <a:gd name="connsiteX20" fmla="*/ 1593273 w 1676400"/>
              <a:gd name="connsiteY20" fmla="*/ 1565564 h 1870364"/>
              <a:gd name="connsiteX21" fmla="*/ 1620982 w 1676400"/>
              <a:gd name="connsiteY21" fmla="*/ 1454728 h 1870364"/>
              <a:gd name="connsiteX22" fmla="*/ 1648691 w 1676400"/>
              <a:gd name="connsiteY22" fmla="*/ 1330037 h 1870364"/>
              <a:gd name="connsiteX23" fmla="*/ 1662546 w 1676400"/>
              <a:gd name="connsiteY23" fmla="*/ 1219200 h 1870364"/>
              <a:gd name="connsiteX24" fmla="*/ 1676400 w 1676400"/>
              <a:gd name="connsiteY24" fmla="*/ 1136073 h 1870364"/>
              <a:gd name="connsiteX25" fmla="*/ 1662546 w 1676400"/>
              <a:gd name="connsiteY25" fmla="*/ 845128 h 1870364"/>
              <a:gd name="connsiteX26" fmla="*/ 1579418 w 1676400"/>
              <a:gd name="connsiteY26" fmla="*/ 734291 h 1870364"/>
              <a:gd name="connsiteX27" fmla="*/ 1496291 w 1676400"/>
              <a:gd name="connsiteY27" fmla="*/ 637309 h 1870364"/>
              <a:gd name="connsiteX28" fmla="*/ 1440873 w 1676400"/>
              <a:gd name="connsiteY28" fmla="*/ 609600 h 1870364"/>
              <a:gd name="connsiteX29" fmla="*/ 1094509 w 1676400"/>
              <a:gd name="connsiteY29" fmla="*/ 581891 h 1870364"/>
              <a:gd name="connsiteX30" fmla="*/ 1108364 w 1676400"/>
              <a:gd name="connsiteY30" fmla="*/ 457200 h 1870364"/>
              <a:gd name="connsiteX31" fmla="*/ 1149927 w 1676400"/>
              <a:gd name="connsiteY31" fmla="*/ 374073 h 1870364"/>
              <a:gd name="connsiteX32" fmla="*/ 1163782 w 1676400"/>
              <a:gd name="connsiteY32" fmla="*/ 332509 h 1870364"/>
              <a:gd name="connsiteX33" fmla="*/ 1246909 w 1676400"/>
              <a:gd name="connsiteY33" fmla="*/ 235528 h 1870364"/>
              <a:gd name="connsiteX34" fmla="*/ 1205346 w 1676400"/>
              <a:gd name="connsiteY34" fmla="*/ 138546 h 1870364"/>
              <a:gd name="connsiteX35" fmla="*/ 1122218 w 1676400"/>
              <a:gd name="connsiteY35" fmla="*/ 96982 h 1870364"/>
              <a:gd name="connsiteX36" fmla="*/ 1080655 w 1676400"/>
              <a:gd name="connsiteY36" fmla="*/ 69273 h 1870364"/>
              <a:gd name="connsiteX37" fmla="*/ 983673 w 1676400"/>
              <a:gd name="connsiteY37" fmla="*/ 55418 h 1870364"/>
              <a:gd name="connsiteX38" fmla="*/ 928255 w 1676400"/>
              <a:gd name="connsiteY38" fmla="*/ 41564 h 1870364"/>
              <a:gd name="connsiteX39" fmla="*/ 706582 w 1676400"/>
              <a:gd name="connsiteY39" fmla="*/ 27709 h 1870364"/>
              <a:gd name="connsiteX40" fmla="*/ 512618 w 1676400"/>
              <a:gd name="connsiteY40" fmla="*/ 13855 h 1870364"/>
              <a:gd name="connsiteX41" fmla="*/ 387927 w 1676400"/>
              <a:gd name="connsiteY41" fmla="*/ 0 h 1870364"/>
              <a:gd name="connsiteX42" fmla="*/ 0 w 1676400"/>
              <a:gd name="connsiteY42" fmla="*/ 13855 h 1870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1676400" h="1870364">
                <a:moveTo>
                  <a:pt x="0" y="13855"/>
                </a:moveTo>
                <a:lnTo>
                  <a:pt x="0" y="13855"/>
                </a:lnTo>
                <a:cubicBezTo>
                  <a:pt x="35214" y="330772"/>
                  <a:pt x="-8322" y="-65208"/>
                  <a:pt x="27709" y="277091"/>
                </a:cubicBezTo>
                <a:cubicBezTo>
                  <a:pt x="38686" y="381376"/>
                  <a:pt x="38706" y="392993"/>
                  <a:pt x="55418" y="484909"/>
                </a:cubicBezTo>
                <a:cubicBezTo>
                  <a:pt x="59292" y="506215"/>
                  <a:pt x="81312" y="626862"/>
                  <a:pt x="96982" y="637309"/>
                </a:cubicBezTo>
                <a:cubicBezTo>
                  <a:pt x="124691" y="655782"/>
                  <a:pt x="147453" y="686197"/>
                  <a:pt x="180109" y="692728"/>
                </a:cubicBezTo>
                <a:cubicBezTo>
                  <a:pt x="276928" y="712091"/>
                  <a:pt x="226154" y="702711"/>
                  <a:pt x="332509" y="720437"/>
                </a:cubicBezTo>
                <a:cubicBezTo>
                  <a:pt x="346519" y="741451"/>
                  <a:pt x="374073" y="774884"/>
                  <a:pt x="374073" y="803564"/>
                </a:cubicBezTo>
                <a:cubicBezTo>
                  <a:pt x="374073" y="822605"/>
                  <a:pt x="364836" y="840509"/>
                  <a:pt x="360218" y="858982"/>
                </a:cubicBezTo>
                <a:cubicBezTo>
                  <a:pt x="350982" y="965200"/>
                  <a:pt x="345733" y="1071841"/>
                  <a:pt x="332509" y="1177637"/>
                </a:cubicBezTo>
                <a:cubicBezTo>
                  <a:pt x="327891" y="1214582"/>
                  <a:pt x="325315" y="1251841"/>
                  <a:pt x="318655" y="1288473"/>
                </a:cubicBezTo>
                <a:cubicBezTo>
                  <a:pt x="316043" y="1302842"/>
                  <a:pt x="308812" y="1315995"/>
                  <a:pt x="304800" y="1330037"/>
                </a:cubicBezTo>
                <a:cubicBezTo>
                  <a:pt x="299569" y="1348346"/>
                  <a:pt x="295564" y="1366982"/>
                  <a:pt x="290946" y="1385455"/>
                </a:cubicBezTo>
                <a:cubicBezTo>
                  <a:pt x="345852" y="1550178"/>
                  <a:pt x="268500" y="1305276"/>
                  <a:pt x="318655" y="1773382"/>
                </a:cubicBezTo>
                <a:cubicBezTo>
                  <a:pt x="321414" y="1799130"/>
                  <a:pt x="385404" y="1853531"/>
                  <a:pt x="401782" y="1856509"/>
                </a:cubicBezTo>
                <a:cubicBezTo>
                  <a:pt x="483695" y="1871402"/>
                  <a:pt x="568037" y="1865746"/>
                  <a:pt x="651164" y="1870364"/>
                </a:cubicBezTo>
                <a:cubicBezTo>
                  <a:pt x="1388387" y="1845789"/>
                  <a:pt x="836726" y="1873373"/>
                  <a:pt x="1205346" y="1842655"/>
                </a:cubicBezTo>
                <a:cubicBezTo>
                  <a:pt x="1477182" y="1820002"/>
                  <a:pt x="1312319" y="1841227"/>
                  <a:pt x="1496291" y="1814946"/>
                </a:cubicBezTo>
                <a:cubicBezTo>
                  <a:pt x="1536070" y="1655836"/>
                  <a:pt x="1480446" y="1851921"/>
                  <a:pt x="1537855" y="1717964"/>
                </a:cubicBezTo>
                <a:cubicBezTo>
                  <a:pt x="1545356" y="1700462"/>
                  <a:pt x="1546478" y="1680855"/>
                  <a:pt x="1551709" y="1662546"/>
                </a:cubicBezTo>
                <a:cubicBezTo>
                  <a:pt x="1565299" y="1614982"/>
                  <a:pt x="1568644" y="1614821"/>
                  <a:pt x="1593273" y="1565564"/>
                </a:cubicBezTo>
                <a:cubicBezTo>
                  <a:pt x="1602509" y="1528619"/>
                  <a:pt x="1613514" y="1492071"/>
                  <a:pt x="1620982" y="1454728"/>
                </a:cubicBezTo>
                <a:cubicBezTo>
                  <a:pt x="1638570" y="1366784"/>
                  <a:pt x="1629125" y="1408300"/>
                  <a:pt x="1648691" y="1330037"/>
                </a:cubicBezTo>
                <a:cubicBezTo>
                  <a:pt x="1653309" y="1293091"/>
                  <a:pt x="1657280" y="1256059"/>
                  <a:pt x="1662546" y="1219200"/>
                </a:cubicBezTo>
                <a:cubicBezTo>
                  <a:pt x="1666519" y="1191391"/>
                  <a:pt x="1676400" y="1164164"/>
                  <a:pt x="1676400" y="1136073"/>
                </a:cubicBezTo>
                <a:cubicBezTo>
                  <a:pt x="1676400" y="1038981"/>
                  <a:pt x="1674114" y="941528"/>
                  <a:pt x="1662546" y="845128"/>
                </a:cubicBezTo>
                <a:cubicBezTo>
                  <a:pt x="1656750" y="796832"/>
                  <a:pt x="1606943" y="765748"/>
                  <a:pt x="1579418" y="734291"/>
                </a:cubicBezTo>
                <a:cubicBezTo>
                  <a:pt x="1547883" y="698251"/>
                  <a:pt x="1535698" y="665457"/>
                  <a:pt x="1496291" y="637309"/>
                </a:cubicBezTo>
                <a:cubicBezTo>
                  <a:pt x="1479485" y="625305"/>
                  <a:pt x="1459856" y="617736"/>
                  <a:pt x="1440873" y="609600"/>
                </a:cubicBezTo>
                <a:cubicBezTo>
                  <a:pt x="1337144" y="565146"/>
                  <a:pt x="1174877" y="585544"/>
                  <a:pt x="1094509" y="581891"/>
                </a:cubicBezTo>
                <a:cubicBezTo>
                  <a:pt x="1099127" y="540327"/>
                  <a:pt x="1097589" y="497607"/>
                  <a:pt x="1108364" y="457200"/>
                </a:cubicBezTo>
                <a:cubicBezTo>
                  <a:pt x="1116346" y="427266"/>
                  <a:pt x="1137345" y="402382"/>
                  <a:pt x="1149927" y="374073"/>
                </a:cubicBezTo>
                <a:cubicBezTo>
                  <a:pt x="1155858" y="360728"/>
                  <a:pt x="1156536" y="345189"/>
                  <a:pt x="1163782" y="332509"/>
                </a:cubicBezTo>
                <a:cubicBezTo>
                  <a:pt x="1187479" y="291039"/>
                  <a:pt x="1214153" y="268284"/>
                  <a:pt x="1246909" y="235528"/>
                </a:cubicBezTo>
                <a:cubicBezTo>
                  <a:pt x="1236310" y="193132"/>
                  <a:pt x="1237239" y="170439"/>
                  <a:pt x="1205346" y="138546"/>
                </a:cubicBezTo>
                <a:cubicBezTo>
                  <a:pt x="1165641" y="98841"/>
                  <a:pt x="1167291" y="119519"/>
                  <a:pt x="1122218" y="96982"/>
                </a:cubicBezTo>
                <a:cubicBezTo>
                  <a:pt x="1107325" y="89535"/>
                  <a:pt x="1096604" y="74058"/>
                  <a:pt x="1080655" y="69273"/>
                </a:cubicBezTo>
                <a:cubicBezTo>
                  <a:pt x="1049377" y="59889"/>
                  <a:pt x="1015802" y="61260"/>
                  <a:pt x="983673" y="55418"/>
                </a:cubicBezTo>
                <a:cubicBezTo>
                  <a:pt x="964939" y="52012"/>
                  <a:pt x="947202" y="43459"/>
                  <a:pt x="928255" y="41564"/>
                </a:cubicBezTo>
                <a:cubicBezTo>
                  <a:pt x="854587" y="34197"/>
                  <a:pt x="780453" y="32634"/>
                  <a:pt x="706582" y="27709"/>
                </a:cubicBezTo>
                <a:lnTo>
                  <a:pt x="512618" y="13855"/>
                </a:lnTo>
                <a:cubicBezTo>
                  <a:pt x="470956" y="10232"/>
                  <a:pt x="429491" y="4618"/>
                  <a:pt x="387927" y="0"/>
                </a:cubicBezTo>
                <a:lnTo>
                  <a:pt x="0" y="13855"/>
                </a:lnTo>
                <a:close/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E2D45775-029A-7646-8F90-438C142CE5A4}"/>
              </a:ext>
            </a:extLst>
          </p:cNvPr>
          <p:cNvSpPr/>
          <p:nvPr/>
        </p:nvSpPr>
        <p:spPr bwMode="auto">
          <a:xfrm>
            <a:off x="-69273" y="2604655"/>
            <a:ext cx="1704109" cy="1136072"/>
          </a:xfrm>
          <a:custGeom>
            <a:avLst/>
            <a:gdLst>
              <a:gd name="connsiteX0" fmla="*/ 706582 w 1704109"/>
              <a:gd name="connsiteY0" fmla="*/ 637309 h 1136072"/>
              <a:gd name="connsiteX1" fmla="*/ 706582 w 1704109"/>
              <a:gd name="connsiteY1" fmla="*/ 637309 h 1136072"/>
              <a:gd name="connsiteX2" fmla="*/ 1246909 w 1704109"/>
              <a:gd name="connsiteY2" fmla="*/ 942109 h 1136072"/>
              <a:gd name="connsiteX3" fmla="*/ 1371600 w 1704109"/>
              <a:gd name="connsiteY3" fmla="*/ 1011381 h 1136072"/>
              <a:gd name="connsiteX4" fmla="*/ 1496291 w 1704109"/>
              <a:gd name="connsiteY4" fmla="*/ 1080654 h 1136072"/>
              <a:gd name="connsiteX5" fmla="*/ 1593273 w 1704109"/>
              <a:gd name="connsiteY5" fmla="*/ 1108363 h 1136072"/>
              <a:gd name="connsiteX6" fmla="*/ 1704109 w 1704109"/>
              <a:gd name="connsiteY6" fmla="*/ 1136072 h 1136072"/>
              <a:gd name="connsiteX7" fmla="*/ 748146 w 1704109"/>
              <a:gd name="connsiteY7" fmla="*/ 0 h 1136072"/>
              <a:gd name="connsiteX8" fmla="*/ 0 w 1704109"/>
              <a:gd name="connsiteY8" fmla="*/ 595745 h 1136072"/>
              <a:gd name="connsiteX9" fmla="*/ 360218 w 1704109"/>
              <a:gd name="connsiteY9" fmla="*/ 1108363 h 113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04109" h="1136072">
                <a:moveTo>
                  <a:pt x="706582" y="637309"/>
                </a:moveTo>
                <a:lnTo>
                  <a:pt x="706582" y="637309"/>
                </a:lnTo>
                <a:cubicBezTo>
                  <a:pt x="921286" y="744660"/>
                  <a:pt x="1009459" y="783811"/>
                  <a:pt x="1246909" y="942109"/>
                </a:cubicBezTo>
                <a:cubicBezTo>
                  <a:pt x="1509030" y="1116854"/>
                  <a:pt x="1225280" y="938221"/>
                  <a:pt x="1371600" y="1011381"/>
                </a:cubicBezTo>
                <a:cubicBezTo>
                  <a:pt x="1418711" y="1034936"/>
                  <a:pt x="1447368" y="1062864"/>
                  <a:pt x="1496291" y="1080654"/>
                </a:cubicBezTo>
                <a:cubicBezTo>
                  <a:pt x="1527888" y="1092144"/>
                  <a:pt x="1561070" y="1098702"/>
                  <a:pt x="1593273" y="1108363"/>
                </a:cubicBezTo>
                <a:cubicBezTo>
                  <a:pt x="1651884" y="1125946"/>
                  <a:pt x="1600200" y="1082963"/>
                  <a:pt x="1704109" y="1136072"/>
                </a:cubicBezTo>
                <a:lnTo>
                  <a:pt x="748146" y="0"/>
                </a:lnTo>
                <a:lnTo>
                  <a:pt x="0" y="595745"/>
                </a:lnTo>
                <a:lnTo>
                  <a:pt x="360218" y="1108363"/>
                </a:lnTo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2A7BD7-B62F-E941-B29A-C67116271DB4}"/>
              </a:ext>
            </a:extLst>
          </p:cNvPr>
          <p:cNvSpPr/>
          <p:nvPr/>
        </p:nvSpPr>
        <p:spPr bwMode="auto">
          <a:xfrm>
            <a:off x="683568" y="3172691"/>
            <a:ext cx="1872208" cy="568036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2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8420" grpId="0" animBg="1"/>
      <p:bldP spid="3" grpId="0" animBg="1"/>
      <p:bldP spid="4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06363"/>
            <a:ext cx="3995738" cy="4302125"/>
          </a:xfrm>
          <a:prstGeom prst="rect">
            <a:avLst/>
          </a:prstGeom>
          <a:noFill/>
          <a:ln w="28575">
            <a:solidFill>
              <a:schemeClr val="bg2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rgbClr val="660033"/>
                </a:solidFill>
              </a:rPr>
              <a:t>可用下列语句创建表</a:t>
            </a:r>
            <a:r>
              <a:rPr lang="en-US" altLang="zh-CN" sz="2400" b="1" dirty="0">
                <a:solidFill>
                  <a:srgbClr val="660033"/>
                </a:solidFill>
              </a:rPr>
              <a:t>J:</a:t>
            </a:r>
            <a:r>
              <a:rPr lang="en-US" altLang="zh-CN" dirty="0">
                <a:solidFill>
                  <a:srgbClr val="000066"/>
                </a:solidFill>
              </a:rPr>
              <a:t>   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CREATE TABLE J  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(JNO CHAR(4)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JNAME CHAR(20),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JCITY CHAR(20),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BALANCE NUMERIC(7,2),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PRIMARY KEY(JNO));</a:t>
            </a:r>
          </a:p>
        </p:txBody>
      </p:sp>
      <p:sp>
        <p:nvSpPr>
          <p:cNvPr id="951299" name="Rectangle 3"/>
          <p:cNvSpPr>
            <a:spLocks noChangeArrowheads="1"/>
          </p:cNvSpPr>
          <p:nvPr/>
        </p:nvSpPr>
        <p:spPr bwMode="auto">
          <a:xfrm>
            <a:off x="3871913" y="786979"/>
            <a:ext cx="5267789" cy="6009530"/>
          </a:xfrm>
          <a:prstGeom prst="rect">
            <a:avLst/>
          </a:prstGeom>
          <a:noFill/>
          <a:ln w="19050">
            <a:solidFill>
              <a:schemeClr val="bg2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rgbClr val="000066"/>
                </a:solidFill>
              </a:rPr>
              <a:t>可用下列语句创建表</a:t>
            </a:r>
            <a:r>
              <a:rPr lang="en-US" altLang="zh-CN" sz="2400" b="1" dirty="0">
                <a:solidFill>
                  <a:srgbClr val="000066"/>
                </a:solidFill>
              </a:rPr>
              <a:t>SPJ: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CREATE TABLE SPJ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(SNO CHAR(4)  NOT NULL</a:t>
            </a:r>
            <a:r>
              <a:rPr lang="en-US" altLang="zh-CN" sz="2000" b="1" dirty="0">
                <a:solidFill>
                  <a:schemeClr val="bg2"/>
                </a:solidFill>
              </a:rPr>
              <a:t>,</a:t>
            </a:r>
            <a:endParaRPr lang="en-US" altLang="zh-CN" sz="20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PNO CHAR(4) NOT NULL</a:t>
            </a:r>
            <a:r>
              <a:rPr lang="en-US" altLang="zh-CN" sz="2000" b="1" dirty="0">
                <a:solidFill>
                  <a:schemeClr val="bg2"/>
                </a:solidFill>
              </a:rPr>
              <a:t>,</a:t>
            </a:r>
            <a:endParaRPr lang="en-US" altLang="zh-CN" sz="20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JNO CHAR(4) NOT NULL</a:t>
            </a:r>
            <a:r>
              <a:rPr lang="en-US" altLang="zh-CN" sz="2000" b="1" dirty="0">
                <a:solidFill>
                  <a:schemeClr val="bg2"/>
                </a:solidFill>
              </a:rPr>
              <a:t>,</a:t>
            </a:r>
            <a:endParaRPr lang="en-US" altLang="zh-CN" sz="20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PRICE NUMERIC(7,2)</a:t>
            </a:r>
            <a:r>
              <a:rPr lang="en-US" altLang="zh-CN" sz="2000" b="1" dirty="0">
                <a:solidFill>
                  <a:schemeClr val="bg2"/>
                </a:solidFill>
              </a:rPr>
              <a:t> ,</a:t>
            </a:r>
            <a:endParaRPr lang="en-US" altLang="zh-CN" sz="20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QTY  SMALLINT</a:t>
            </a:r>
            <a:r>
              <a:rPr lang="en-US" altLang="zh-CN" sz="2000" b="1" dirty="0">
                <a:solidFill>
                  <a:schemeClr val="bg2"/>
                </a:solidFill>
              </a:rPr>
              <a:t>,</a:t>
            </a:r>
            <a:endParaRPr lang="zh-CN" altLang="en-US" sz="20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PRIMARY KEY(SNO,PNO,JNO)</a:t>
            </a:r>
            <a:r>
              <a:rPr lang="en-US" altLang="zh-CN" sz="2000" b="1" dirty="0">
                <a:solidFill>
                  <a:schemeClr val="bg2"/>
                </a:solidFill>
              </a:rPr>
              <a:t>,</a:t>
            </a:r>
            <a:endParaRPr lang="en-US" altLang="zh-CN" sz="20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FOREIGN KEY(SNO)REFERENCES S(SNO),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FOREIGN KEY(PNO)REFERENCES P(PNO), 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FOREIGN KEY(JNO)REFERENCES J(JNO),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000" b="1" dirty="0">
                <a:solidFill>
                  <a:srgbClr val="660033"/>
                </a:solidFill>
              </a:rPr>
              <a:t>CHECK(QTY BETWEEN 0 AND 10000));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A7D50B-6C19-9449-AC72-E0A9A5A48C51}"/>
              </a:ext>
            </a:extLst>
          </p:cNvPr>
          <p:cNvSpPr/>
          <p:nvPr/>
        </p:nvSpPr>
        <p:spPr bwMode="auto">
          <a:xfrm>
            <a:off x="4427983" y="4293096"/>
            <a:ext cx="3439667" cy="568036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A7A10D-59A3-324C-96C3-0E93F7B7EE00}"/>
              </a:ext>
            </a:extLst>
          </p:cNvPr>
          <p:cNvSpPr/>
          <p:nvPr/>
        </p:nvSpPr>
        <p:spPr bwMode="auto">
          <a:xfrm>
            <a:off x="4427983" y="4951949"/>
            <a:ext cx="4464497" cy="13942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C5BF8D-172B-D447-9D92-4F977ACD1DD4}"/>
              </a:ext>
            </a:extLst>
          </p:cNvPr>
          <p:cNvSpPr/>
          <p:nvPr/>
        </p:nvSpPr>
        <p:spPr bwMode="auto">
          <a:xfrm>
            <a:off x="4432028" y="6379188"/>
            <a:ext cx="4172420" cy="5680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1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animBg="1"/>
      <p:bldP spid="4" grpId="0" animBg="1"/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103313" y="2559050"/>
            <a:ext cx="6937375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b="1"/>
              <a:t>【</a:t>
            </a:r>
            <a:r>
              <a:rPr lang="zh-CN" altLang="en-US" b="1"/>
              <a:t>例</a:t>
            </a:r>
            <a:r>
              <a:rPr lang="en-US" altLang="zh-CN" b="1"/>
              <a:t>4.1】</a:t>
            </a:r>
            <a:r>
              <a:rPr lang="zh-CN" altLang="en-US"/>
              <a:t>在有关工程项目的数据库中，有四个关系，其结构如下：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供应商关系：  </a:t>
            </a:r>
            <a:r>
              <a:rPr lang="en-US" altLang="zh-CN"/>
              <a:t>S(</a:t>
            </a:r>
            <a:r>
              <a:rPr lang="en-US" altLang="zh-CN" u="sng"/>
              <a:t>SNO</a:t>
            </a:r>
            <a:r>
              <a:rPr lang="zh-CN" altLang="en-US"/>
              <a:t>，</a:t>
            </a:r>
            <a:r>
              <a:rPr lang="en-US" altLang="zh-CN"/>
              <a:t>SNAME</a:t>
            </a:r>
            <a:r>
              <a:rPr lang="zh-CN" altLang="en-US"/>
              <a:t>，</a:t>
            </a:r>
            <a:r>
              <a:rPr lang="en-US" altLang="zh-CN"/>
              <a:t>SADDR) 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零件关系：    </a:t>
            </a:r>
            <a:r>
              <a:rPr lang="en-US" altLang="zh-CN"/>
              <a:t>P(</a:t>
            </a:r>
            <a:r>
              <a:rPr lang="en-US" altLang="zh-CN" u="sng"/>
              <a:t>PNO</a:t>
            </a:r>
            <a:r>
              <a:rPr lang="zh-CN" altLang="en-US"/>
              <a:t>，</a:t>
            </a:r>
            <a:r>
              <a:rPr lang="en-US" altLang="zh-CN"/>
              <a:t>PNAME</a:t>
            </a:r>
            <a:r>
              <a:rPr lang="zh-CN" altLang="en-US"/>
              <a:t>，</a:t>
            </a:r>
            <a:r>
              <a:rPr lang="en-US" altLang="zh-CN"/>
              <a:t>COLOR</a:t>
            </a:r>
            <a:r>
              <a:rPr lang="zh-CN" altLang="en-US"/>
              <a:t>，</a:t>
            </a:r>
            <a:r>
              <a:rPr lang="en-US" altLang="zh-CN"/>
              <a:t>WEIGHT)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工程项目关系：</a:t>
            </a:r>
            <a:r>
              <a:rPr lang="en-US" altLang="zh-CN"/>
              <a:t>J(</a:t>
            </a:r>
            <a:r>
              <a:rPr lang="en-US" altLang="zh-CN" u="sng"/>
              <a:t>JNO</a:t>
            </a:r>
            <a:r>
              <a:rPr lang="zh-CN" altLang="en-US"/>
              <a:t>，</a:t>
            </a:r>
            <a:r>
              <a:rPr lang="en-US" altLang="zh-CN"/>
              <a:t>JNAME</a:t>
            </a:r>
            <a:r>
              <a:rPr lang="zh-CN" altLang="en-US"/>
              <a:t>，</a:t>
            </a:r>
            <a:r>
              <a:rPr lang="en-US" altLang="zh-CN"/>
              <a:t>JCITY</a:t>
            </a:r>
            <a:r>
              <a:rPr lang="zh-CN" altLang="en-US"/>
              <a:t>，</a:t>
            </a:r>
            <a:r>
              <a:rPr lang="en-US" altLang="zh-CN"/>
              <a:t>BALANCE)</a:t>
            </a:r>
          </a:p>
          <a:p>
            <a:pPr indent="933450" algn="ctr">
              <a:lnSpc>
                <a:spcPct val="8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/>
              <a:t>供应情况关系：</a:t>
            </a:r>
            <a:r>
              <a:rPr lang="en-US" altLang="zh-CN"/>
              <a:t>SPJ(</a:t>
            </a:r>
            <a:r>
              <a:rPr lang="en-US" altLang="zh-CN" u="sng"/>
              <a:t>SNO</a:t>
            </a:r>
            <a:r>
              <a:rPr lang="zh-CN" altLang="en-US" u="sng"/>
              <a:t>，</a:t>
            </a:r>
            <a:r>
              <a:rPr lang="en-US" altLang="zh-CN" u="sng"/>
              <a:t>PNO</a:t>
            </a:r>
            <a:r>
              <a:rPr lang="zh-CN" altLang="en-US" u="sng"/>
              <a:t>，</a:t>
            </a:r>
            <a:r>
              <a:rPr lang="en-US" altLang="zh-CN" u="sng"/>
              <a:t>JNO</a:t>
            </a:r>
            <a:r>
              <a:rPr lang="zh-CN" altLang="en-US"/>
              <a:t>，</a:t>
            </a:r>
            <a:r>
              <a:rPr lang="en-US" altLang="zh-CN"/>
              <a:t>PRICE</a:t>
            </a:r>
            <a:r>
              <a:rPr lang="zh-CN" altLang="en-US"/>
              <a:t>，</a:t>
            </a:r>
            <a:r>
              <a:rPr lang="en-US" altLang="zh-CN"/>
              <a:t>QTY)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0" y="981075"/>
            <a:ext cx="9361488" cy="389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6195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800" b="1">
                <a:solidFill>
                  <a:srgbClr val="660033"/>
                </a:solidFill>
              </a:rPr>
              <a:t>例</a:t>
            </a:r>
            <a:r>
              <a:rPr lang="en-US" altLang="zh-CN" sz="2800" b="1">
                <a:solidFill>
                  <a:srgbClr val="660033"/>
                </a:solidFill>
              </a:rPr>
              <a:t>: </a:t>
            </a:r>
            <a:r>
              <a:rPr lang="zh-CN" altLang="en-US" sz="2800" b="1">
                <a:solidFill>
                  <a:srgbClr val="660033"/>
                </a:solidFill>
              </a:rPr>
              <a:t>学生数据库</a:t>
            </a:r>
            <a:r>
              <a:rPr lang="en-US" altLang="zh-CN" sz="2800" b="1">
                <a:solidFill>
                  <a:srgbClr val="660033"/>
                </a:solidFill>
              </a:rPr>
              <a:t>STUDENT</a:t>
            </a:r>
            <a:r>
              <a:rPr lang="zh-CN" altLang="en-US" sz="2800" b="1">
                <a:solidFill>
                  <a:srgbClr val="660033"/>
                </a:solidFill>
              </a:rPr>
              <a:t>中有三个关系，其结构如下：</a:t>
            </a:r>
          </a:p>
          <a:p>
            <a:pPr indent="3619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zh-CN" altLang="en-US" sz="2400" b="1">
                <a:solidFill>
                  <a:srgbClr val="000066"/>
                </a:solidFill>
              </a:rPr>
              <a:t>     学生关系：</a:t>
            </a:r>
            <a:r>
              <a:rPr lang="zh-CN" altLang="en-US" sz="2400" b="1">
                <a:solidFill>
                  <a:schemeClr val="bg2"/>
                </a:solidFill>
              </a:rPr>
              <a:t>  </a:t>
            </a:r>
            <a:r>
              <a:rPr lang="en-US" altLang="zh-CN" sz="2400" b="1">
                <a:solidFill>
                  <a:schemeClr val="bg2"/>
                </a:solidFill>
              </a:rPr>
              <a:t>S(</a:t>
            </a:r>
            <a:r>
              <a:rPr lang="en-US" altLang="zh-CN" sz="2400" b="1" u="sng">
                <a:solidFill>
                  <a:schemeClr val="bg2"/>
                </a:solidFill>
              </a:rPr>
              <a:t>SNO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SNAME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AGE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SEX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SDEPT) </a:t>
            </a:r>
          </a:p>
          <a:p>
            <a:pPr indent="3619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en-US" altLang="zh-CN" sz="2400" b="1">
                <a:solidFill>
                  <a:srgbClr val="000066"/>
                </a:solidFill>
              </a:rPr>
              <a:t>     </a:t>
            </a:r>
            <a:r>
              <a:rPr lang="zh-CN" altLang="en-US" sz="2400" b="1">
                <a:solidFill>
                  <a:srgbClr val="000066"/>
                </a:solidFill>
              </a:rPr>
              <a:t>课程关系：</a:t>
            </a:r>
            <a:r>
              <a:rPr lang="zh-CN" altLang="en-US" sz="2400" b="1">
                <a:solidFill>
                  <a:schemeClr val="bg2"/>
                </a:solidFill>
              </a:rPr>
              <a:t>  </a:t>
            </a:r>
            <a:r>
              <a:rPr lang="en-US" altLang="zh-CN" sz="2400" b="1">
                <a:solidFill>
                  <a:schemeClr val="bg2"/>
                </a:solidFill>
              </a:rPr>
              <a:t>C(</a:t>
            </a:r>
            <a:r>
              <a:rPr lang="en-US" altLang="zh-CN" sz="2400" b="1" u="sng">
                <a:solidFill>
                  <a:schemeClr val="bg2"/>
                </a:solidFill>
              </a:rPr>
              <a:t>CNO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CNAME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CDEPT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TNAME)</a:t>
            </a:r>
          </a:p>
          <a:p>
            <a:pPr indent="361950" eaLnBrk="0" hangingPunct="0">
              <a:lnSpc>
                <a:spcPct val="250000"/>
              </a:lnSpc>
              <a:tabLst>
                <a:tab pos="5067300" algn="l"/>
              </a:tabLst>
            </a:pPr>
            <a:r>
              <a:rPr lang="en-US" altLang="zh-CN" sz="2400" b="1">
                <a:solidFill>
                  <a:srgbClr val="000066"/>
                </a:solidFill>
              </a:rPr>
              <a:t>     </a:t>
            </a:r>
            <a:r>
              <a:rPr lang="zh-CN" altLang="en-US" sz="2400" b="1">
                <a:solidFill>
                  <a:srgbClr val="000066"/>
                </a:solidFill>
              </a:rPr>
              <a:t>学习关系：  </a:t>
            </a:r>
            <a:r>
              <a:rPr lang="en-US" altLang="zh-CN" sz="2400" b="1">
                <a:solidFill>
                  <a:srgbClr val="000066"/>
                </a:solidFill>
              </a:rPr>
              <a:t>S</a:t>
            </a:r>
            <a:r>
              <a:rPr lang="en-US" altLang="zh-CN" sz="2400" b="1">
                <a:solidFill>
                  <a:schemeClr val="bg2"/>
                </a:solidFill>
              </a:rPr>
              <a:t>C(</a:t>
            </a:r>
            <a:r>
              <a:rPr lang="en-US" altLang="zh-CN" sz="2400" b="1" u="sng">
                <a:solidFill>
                  <a:schemeClr val="bg2"/>
                </a:solidFill>
              </a:rPr>
              <a:t>SNO</a:t>
            </a:r>
            <a:r>
              <a:rPr lang="zh-CN" altLang="en-US" sz="2400" b="1" u="sng">
                <a:solidFill>
                  <a:schemeClr val="bg2"/>
                </a:solidFill>
              </a:rPr>
              <a:t>，</a:t>
            </a:r>
            <a:r>
              <a:rPr lang="en-US" altLang="zh-CN" sz="2400" b="1" u="sng">
                <a:solidFill>
                  <a:schemeClr val="bg2"/>
                </a:solidFill>
              </a:rPr>
              <a:t>CNO</a:t>
            </a:r>
            <a:r>
              <a:rPr lang="zh-CN" altLang="en-US" sz="2400" b="1">
                <a:solidFill>
                  <a:schemeClr val="bg2"/>
                </a:solidFill>
              </a:rPr>
              <a:t>，</a:t>
            </a:r>
            <a:r>
              <a:rPr lang="en-US" altLang="zh-CN" sz="2400" b="1">
                <a:solidFill>
                  <a:schemeClr val="bg2"/>
                </a:solidFill>
              </a:rPr>
              <a:t>GRADE)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94002" y="332656"/>
            <a:ext cx="4117002" cy="4871718"/>
          </a:xfrm>
          <a:prstGeom prst="rect">
            <a:avLst/>
          </a:prstGeom>
          <a:noFill/>
          <a:ln w="12700">
            <a:solidFill>
              <a:schemeClr val="bg2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rgbClr val="660033"/>
                </a:solidFill>
              </a:rPr>
              <a:t>可用下列语句创建表</a:t>
            </a:r>
            <a:r>
              <a:rPr lang="en-US" altLang="zh-CN" sz="2400" b="1" dirty="0">
                <a:solidFill>
                  <a:srgbClr val="660033"/>
                </a:solidFill>
              </a:rPr>
              <a:t>S: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1"/>
                </a:solidFill>
              </a:rPr>
              <a:t>CREATE TABLE</a:t>
            </a:r>
            <a:r>
              <a:rPr lang="en-US" altLang="zh-CN" sz="2400" b="1" dirty="0">
                <a:solidFill>
                  <a:schemeClr val="bg2"/>
                </a:solidFill>
              </a:rPr>
              <a:t> S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(SNO CHAR(4) NOT NULL,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SNAME CHAR(20) NOT NULL,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AGE CHAR(20),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SEX CHAR(2),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SDEPT  CHAR(10),</a:t>
            </a:r>
          </a:p>
          <a:p>
            <a:pPr indent="12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PRIMARY KEY</a:t>
            </a:r>
            <a:r>
              <a:rPr lang="en-US" altLang="zh-CN" sz="2400" b="1" dirty="0">
                <a:solidFill>
                  <a:srgbClr val="000066"/>
                </a:solidFill>
              </a:rPr>
              <a:t>(SNO</a:t>
            </a:r>
            <a:r>
              <a:rPr lang="en-US" altLang="zh-CN" sz="2400" b="1" dirty="0">
                <a:solidFill>
                  <a:schemeClr val="bg2"/>
                </a:solidFill>
              </a:rPr>
              <a:t>));</a:t>
            </a:r>
          </a:p>
        </p:txBody>
      </p:sp>
      <p:sp>
        <p:nvSpPr>
          <p:cNvPr id="945155" name="Rectangle 3"/>
          <p:cNvSpPr>
            <a:spLocks noChangeArrowheads="1"/>
          </p:cNvSpPr>
          <p:nvPr/>
        </p:nvSpPr>
        <p:spPr bwMode="auto">
          <a:xfrm>
            <a:off x="4246563" y="1916113"/>
            <a:ext cx="4897437" cy="4264025"/>
          </a:xfrm>
          <a:prstGeom prst="rect">
            <a:avLst/>
          </a:prstGeom>
          <a:noFill/>
          <a:ln w="9525">
            <a:solidFill>
              <a:schemeClr val="bg2"/>
            </a:solidFill>
            <a:prstDash val="lg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rgbClr val="660033"/>
                </a:solidFill>
              </a:rPr>
              <a:t>可用下列语句创建表</a:t>
            </a:r>
            <a:r>
              <a:rPr lang="en-US" altLang="zh-CN" sz="2400" b="1" dirty="0">
                <a:solidFill>
                  <a:srgbClr val="660033"/>
                </a:solidFill>
              </a:rPr>
              <a:t>C: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1"/>
                </a:solidFill>
              </a:rPr>
              <a:t> CREATE TABLE</a:t>
            </a:r>
            <a:r>
              <a:rPr lang="en-US" altLang="zh-CN" sz="2400" b="1" dirty="0">
                <a:solidFill>
                  <a:srgbClr val="000066"/>
                </a:solidFill>
              </a:rPr>
              <a:t> C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(CNO CHAR(4) NOT NULL,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CNAME CHAR(20) NOT NULL, 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CDEPT  CHAR(10),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TNAME CHAR(8),</a:t>
            </a:r>
          </a:p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1"/>
                </a:solidFill>
              </a:rPr>
              <a:t>  PRIMARY KEY</a:t>
            </a:r>
            <a:r>
              <a:rPr lang="en-US" altLang="zh-CN" sz="2400" b="1" dirty="0">
                <a:solidFill>
                  <a:srgbClr val="000066"/>
                </a:solidFill>
              </a:rPr>
              <a:t> (CNO));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FB2EB19F-A9DE-BB4B-9E26-24620341085D}"/>
              </a:ext>
            </a:extLst>
          </p:cNvPr>
          <p:cNvGrpSpPr>
            <a:grpSpLocks/>
          </p:cNvGrpSpPr>
          <p:nvPr/>
        </p:nvGrpSpPr>
        <p:grpSpPr bwMode="auto">
          <a:xfrm>
            <a:off x="22488" y="2768515"/>
            <a:ext cx="4681538" cy="2638425"/>
            <a:chOff x="113" y="1570"/>
            <a:chExt cx="2949" cy="1661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FC1AAAFA-68E4-E241-8923-770B3976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" y="2704"/>
              <a:ext cx="2376" cy="527"/>
            </a:xfrm>
            <a:custGeom>
              <a:avLst/>
              <a:gdLst>
                <a:gd name="T0" fmla="*/ 12 w 2376"/>
                <a:gd name="T1" fmla="*/ 180 h 527"/>
                <a:gd name="T2" fmla="*/ 36 w 2376"/>
                <a:gd name="T3" fmla="*/ 96 h 527"/>
                <a:gd name="T4" fmla="*/ 108 w 2376"/>
                <a:gd name="T5" fmla="*/ 72 h 527"/>
                <a:gd name="T6" fmla="*/ 432 w 2376"/>
                <a:gd name="T7" fmla="*/ 0 h 527"/>
                <a:gd name="T8" fmla="*/ 972 w 2376"/>
                <a:gd name="T9" fmla="*/ 48 h 527"/>
                <a:gd name="T10" fmla="*/ 1740 w 2376"/>
                <a:gd name="T11" fmla="*/ 36 h 527"/>
                <a:gd name="T12" fmla="*/ 2376 w 2376"/>
                <a:gd name="T13" fmla="*/ 156 h 527"/>
                <a:gd name="T14" fmla="*/ 2316 w 2376"/>
                <a:gd name="T15" fmla="*/ 384 h 527"/>
                <a:gd name="T16" fmla="*/ 2172 w 2376"/>
                <a:gd name="T17" fmla="*/ 444 h 527"/>
                <a:gd name="T18" fmla="*/ 1380 w 2376"/>
                <a:gd name="T19" fmla="*/ 456 h 527"/>
                <a:gd name="T20" fmla="*/ 1104 w 2376"/>
                <a:gd name="T21" fmla="*/ 492 h 527"/>
                <a:gd name="T22" fmla="*/ 360 w 2376"/>
                <a:gd name="T23" fmla="*/ 420 h 527"/>
                <a:gd name="T24" fmla="*/ 144 w 2376"/>
                <a:gd name="T25" fmla="*/ 372 h 527"/>
                <a:gd name="T26" fmla="*/ 72 w 2376"/>
                <a:gd name="T27" fmla="*/ 348 h 527"/>
                <a:gd name="T28" fmla="*/ 36 w 2376"/>
                <a:gd name="T29" fmla="*/ 336 h 527"/>
                <a:gd name="T30" fmla="*/ 0 w 2376"/>
                <a:gd name="T31" fmla="*/ 264 h 527"/>
                <a:gd name="T32" fmla="*/ 36 w 2376"/>
                <a:gd name="T33" fmla="*/ 192 h 527"/>
                <a:gd name="T34" fmla="*/ 60 w 2376"/>
                <a:gd name="T35" fmla="*/ 96 h 527"/>
                <a:gd name="T36" fmla="*/ 12 w 2376"/>
                <a:gd name="T37" fmla="*/ 180 h 5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376"/>
                <a:gd name="T58" fmla="*/ 0 h 527"/>
                <a:gd name="T59" fmla="*/ 2376 w 2376"/>
                <a:gd name="T60" fmla="*/ 527 h 52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376" h="527">
                  <a:moveTo>
                    <a:pt x="12" y="180"/>
                  </a:moveTo>
                  <a:cubicBezTo>
                    <a:pt x="19" y="152"/>
                    <a:pt x="12" y="113"/>
                    <a:pt x="36" y="96"/>
                  </a:cubicBezTo>
                  <a:cubicBezTo>
                    <a:pt x="57" y="81"/>
                    <a:pt x="87" y="86"/>
                    <a:pt x="108" y="72"/>
                  </a:cubicBezTo>
                  <a:cubicBezTo>
                    <a:pt x="202" y="9"/>
                    <a:pt x="323" y="10"/>
                    <a:pt x="432" y="0"/>
                  </a:cubicBezTo>
                  <a:cubicBezTo>
                    <a:pt x="614" y="11"/>
                    <a:pt x="791" y="30"/>
                    <a:pt x="972" y="48"/>
                  </a:cubicBezTo>
                  <a:cubicBezTo>
                    <a:pt x="1228" y="44"/>
                    <a:pt x="1484" y="36"/>
                    <a:pt x="1740" y="36"/>
                  </a:cubicBezTo>
                  <a:cubicBezTo>
                    <a:pt x="1975" y="36"/>
                    <a:pt x="2183" y="27"/>
                    <a:pt x="2376" y="156"/>
                  </a:cubicBezTo>
                  <a:cubicBezTo>
                    <a:pt x="2369" y="225"/>
                    <a:pt x="2372" y="328"/>
                    <a:pt x="2316" y="384"/>
                  </a:cubicBezTo>
                  <a:cubicBezTo>
                    <a:pt x="2279" y="421"/>
                    <a:pt x="2220" y="428"/>
                    <a:pt x="2172" y="444"/>
                  </a:cubicBezTo>
                  <a:cubicBezTo>
                    <a:pt x="1922" y="527"/>
                    <a:pt x="1644" y="452"/>
                    <a:pt x="1380" y="456"/>
                  </a:cubicBezTo>
                  <a:cubicBezTo>
                    <a:pt x="1287" y="465"/>
                    <a:pt x="1196" y="479"/>
                    <a:pt x="1104" y="492"/>
                  </a:cubicBezTo>
                  <a:cubicBezTo>
                    <a:pt x="837" y="483"/>
                    <a:pt x="617" y="467"/>
                    <a:pt x="360" y="420"/>
                  </a:cubicBezTo>
                  <a:cubicBezTo>
                    <a:pt x="289" y="407"/>
                    <a:pt x="214" y="393"/>
                    <a:pt x="144" y="372"/>
                  </a:cubicBezTo>
                  <a:cubicBezTo>
                    <a:pt x="120" y="365"/>
                    <a:pt x="96" y="356"/>
                    <a:pt x="72" y="348"/>
                  </a:cubicBezTo>
                  <a:cubicBezTo>
                    <a:pt x="60" y="344"/>
                    <a:pt x="36" y="336"/>
                    <a:pt x="36" y="336"/>
                  </a:cubicBezTo>
                  <a:cubicBezTo>
                    <a:pt x="24" y="318"/>
                    <a:pt x="0" y="289"/>
                    <a:pt x="0" y="264"/>
                  </a:cubicBezTo>
                  <a:cubicBezTo>
                    <a:pt x="0" y="231"/>
                    <a:pt x="24" y="219"/>
                    <a:pt x="36" y="192"/>
                  </a:cubicBezTo>
                  <a:cubicBezTo>
                    <a:pt x="63" y="132"/>
                    <a:pt x="60" y="139"/>
                    <a:pt x="60" y="96"/>
                  </a:cubicBezTo>
                  <a:lnTo>
                    <a:pt x="12" y="180"/>
                  </a:lnTo>
                  <a:close/>
                </a:path>
              </a:pathLst>
            </a:custGeom>
            <a:noFill/>
            <a:ln w="285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6" name="AutoShape 7">
              <a:extLst>
                <a:ext uri="{FF2B5EF4-FFF2-40B4-BE49-F238E27FC236}">
                  <a16:creationId xmlns:a16="http://schemas.microsoft.com/office/drawing/2014/main" id="{3435D039-3272-7440-A6D5-E24357449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70"/>
              <a:ext cx="998" cy="318"/>
            </a:xfrm>
            <a:prstGeom prst="wedgeRoundRectCallout">
              <a:avLst>
                <a:gd name="adj1" fmla="val -52403"/>
                <a:gd name="adj2" fmla="val 327671"/>
                <a:gd name="adj3" fmla="val 16667"/>
              </a:avLst>
            </a:prstGeom>
            <a:noFill/>
            <a:ln w="28575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66"/>
                  </a:solidFill>
                  <a:latin typeface="宋体" panose="02010600030101010101" pitchFamily="2" charset="-122"/>
                </a:rPr>
                <a:t>主键子句</a:t>
              </a:r>
            </a:p>
          </p:txBody>
        </p:sp>
      </p:grpSp>
      <p:sp>
        <p:nvSpPr>
          <p:cNvPr id="7" name="Freeform 9">
            <a:extLst>
              <a:ext uri="{FF2B5EF4-FFF2-40B4-BE49-F238E27FC236}">
                <a16:creationId xmlns:a16="http://schemas.microsoft.com/office/drawing/2014/main" id="{6FDF3CC1-1814-A643-ABAA-D2D7AD9755F4}"/>
              </a:ext>
            </a:extLst>
          </p:cNvPr>
          <p:cNvSpPr>
            <a:spLocks/>
          </p:cNvSpPr>
          <p:nvPr/>
        </p:nvSpPr>
        <p:spPr bwMode="auto">
          <a:xfrm>
            <a:off x="4859338" y="5589588"/>
            <a:ext cx="3771900" cy="836612"/>
          </a:xfrm>
          <a:custGeom>
            <a:avLst/>
            <a:gdLst>
              <a:gd name="T0" fmla="*/ 2147483646 w 2376"/>
              <a:gd name="T1" fmla="*/ 2147483646 h 527"/>
              <a:gd name="T2" fmla="*/ 2147483646 w 2376"/>
              <a:gd name="T3" fmla="*/ 2147483646 h 527"/>
              <a:gd name="T4" fmla="*/ 2147483646 w 2376"/>
              <a:gd name="T5" fmla="*/ 2147483646 h 527"/>
              <a:gd name="T6" fmla="*/ 2147483646 w 2376"/>
              <a:gd name="T7" fmla="*/ 0 h 527"/>
              <a:gd name="T8" fmla="*/ 2147483646 w 2376"/>
              <a:gd name="T9" fmla="*/ 2147483646 h 527"/>
              <a:gd name="T10" fmla="*/ 2147483646 w 2376"/>
              <a:gd name="T11" fmla="*/ 2147483646 h 527"/>
              <a:gd name="T12" fmla="*/ 2147483646 w 2376"/>
              <a:gd name="T13" fmla="*/ 2147483646 h 527"/>
              <a:gd name="T14" fmla="*/ 2147483646 w 2376"/>
              <a:gd name="T15" fmla="*/ 2147483646 h 527"/>
              <a:gd name="T16" fmla="*/ 2147483646 w 2376"/>
              <a:gd name="T17" fmla="*/ 2147483646 h 527"/>
              <a:gd name="T18" fmla="*/ 2147483646 w 2376"/>
              <a:gd name="T19" fmla="*/ 2147483646 h 527"/>
              <a:gd name="T20" fmla="*/ 2147483646 w 2376"/>
              <a:gd name="T21" fmla="*/ 2147483646 h 527"/>
              <a:gd name="T22" fmla="*/ 2147483646 w 2376"/>
              <a:gd name="T23" fmla="*/ 2147483646 h 527"/>
              <a:gd name="T24" fmla="*/ 2147483646 w 2376"/>
              <a:gd name="T25" fmla="*/ 2147483646 h 527"/>
              <a:gd name="T26" fmla="*/ 2147483646 w 2376"/>
              <a:gd name="T27" fmla="*/ 2147483646 h 527"/>
              <a:gd name="T28" fmla="*/ 2147483646 w 2376"/>
              <a:gd name="T29" fmla="*/ 2147483646 h 527"/>
              <a:gd name="T30" fmla="*/ 0 w 2376"/>
              <a:gd name="T31" fmla="*/ 2147483646 h 527"/>
              <a:gd name="T32" fmla="*/ 2147483646 w 2376"/>
              <a:gd name="T33" fmla="*/ 2147483646 h 527"/>
              <a:gd name="T34" fmla="*/ 2147483646 w 2376"/>
              <a:gd name="T35" fmla="*/ 2147483646 h 527"/>
              <a:gd name="T36" fmla="*/ 2147483646 w 2376"/>
              <a:gd name="T37" fmla="*/ 2147483646 h 527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376"/>
              <a:gd name="T58" fmla="*/ 0 h 527"/>
              <a:gd name="T59" fmla="*/ 2376 w 2376"/>
              <a:gd name="T60" fmla="*/ 527 h 527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376" h="527">
                <a:moveTo>
                  <a:pt x="12" y="180"/>
                </a:moveTo>
                <a:cubicBezTo>
                  <a:pt x="19" y="152"/>
                  <a:pt x="12" y="113"/>
                  <a:pt x="36" y="96"/>
                </a:cubicBezTo>
                <a:cubicBezTo>
                  <a:pt x="57" y="81"/>
                  <a:pt x="87" y="86"/>
                  <a:pt x="108" y="72"/>
                </a:cubicBezTo>
                <a:cubicBezTo>
                  <a:pt x="202" y="9"/>
                  <a:pt x="323" y="10"/>
                  <a:pt x="432" y="0"/>
                </a:cubicBezTo>
                <a:cubicBezTo>
                  <a:pt x="614" y="11"/>
                  <a:pt x="791" y="30"/>
                  <a:pt x="972" y="48"/>
                </a:cubicBezTo>
                <a:cubicBezTo>
                  <a:pt x="1228" y="44"/>
                  <a:pt x="1484" y="36"/>
                  <a:pt x="1740" y="36"/>
                </a:cubicBezTo>
                <a:cubicBezTo>
                  <a:pt x="1975" y="36"/>
                  <a:pt x="2183" y="27"/>
                  <a:pt x="2376" y="156"/>
                </a:cubicBezTo>
                <a:cubicBezTo>
                  <a:pt x="2369" y="225"/>
                  <a:pt x="2372" y="328"/>
                  <a:pt x="2316" y="384"/>
                </a:cubicBezTo>
                <a:cubicBezTo>
                  <a:pt x="2279" y="421"/>
                  <a:pt x="2220" y="428"/>
                  <a:pt x="2172" y="444"/>
                </a:cubicBezTo>
                <a:cubicBezTo>
                  <a:pt x="1922" y="527"/>
                  <a:pt x="1644" y="452"/>
                  <a:pt x="1380" y="456"/>
                </a:cubicBezTo>
                <a:cubicBezTo>
                  <a:pt x="1287" y="465"/>
                  <a:pt x="1196" y="479"/>
                  <a:pt x="1104" y="492"/>
                </a:cubicBezTo>
                <a:cubicBezTo>
                  <a:pt x="837" y="483"/>
                  <a:pt x="617" y="467"/>
                  <a:pt x="360" y="420"/>
                </a:cubicBezTo>
                <a:cubicBezTo>
                  <a:pt x="289" y="407"/>
                  <a:pt x="214" y="393"/>
                  <a:pt x="144" y="372"/>
                </a:cubicBezTo>
                <a:cubicBezTo>
                  <a:pt x="120" y="365"/>
                  <a:pt x="96" y="356"/>
                  <a:pt x="72" y="348"/>
                </a:cubicBezTo>
                <a:cubicBezTo>
                  <a:pt x="60" y="344"/>
                  <a:pt x="36" y="336"/>
                  <a:pt x="36" y="336"/>
                </a:cubicBezTo>
                <a:cubicBezTo>
                  <a:pt x="24" y="318"/>
                  <a:pt x="0" y="289"/>
                  <a:pt x="0" y="264"/>
                </a:cubicBezTo>
                <a:cubicBezTo>
                  <a:pt x="0" y="231"/>
                  <a:pt x="24" y="219"/>
                  <a:pt x="36" y="192"/>
                </a:cubicBezTo>
                <a:cubicBezTo>
                  <a:pt x="63" y="132"/>
                  <a:pt x="60" y="139"/>
                  <a:pt x="60" y="96"/>
                </a:cubicBezTo>
                <a:lnTo>
                  <a:pt x="12" y="180"/>
                </a:ln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016CF394-D33E-4A44-9E02-8C2512EFF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675" y="4652963"/>
            <a:ext cx="1584325" cy="504825"/>
          </a:xfrm>
          <a:prstGeom prst="wedgeRoundRectCallout">
            <a:avLst>
              <a:gd name="adj1" fmla="val -62625"/>
              <a:gd name="adj2" fmla="val 150000"/>
              <a:gd name="adj3" fmla="val 16667"/>
            </a:avLst>
          </a:prstGeom>
          <a:noFill/>
          <a:ln w="28575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</a:rPr>
              <a:t>主键子句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5155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ChangeArrowheads="1"/>
          </p:cNvSpPr>
          <p:nvPr/>
        </p:nvSpPr>
        <p:spPr bwMode="auto">
          <a:xfrm>
            <a:off x="250825" y="333375"/>
            <a:ext cx="8353425" cy="5297488"/>
          </a:xfrm>
          <a:prstGeom prst="rect">
            <a:avLst/>
          </a:prstGeom>
          <a:noFill/>
          <a:ln w="19050">
            <a:solidFill>
              <a:schemeClr val="bg2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34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800" b="1" dirty="0">
                <a:solidFill>
                  <a:srgbClr val="660033"/>
                </a:solidFill>
              </a:rPr>
              <a:t>可用下列语句创建表</a:t>
            </a:r>
            <a:r>
              <a:rPr lang="en-US" altLang="zh-CN" sz="2800" b="1" dirty="0">
                <a:solidFill>
                  <a:srgbClr val="660033"/>
                </a:solidFill>
              </a:rPr>
              <a:t>SC: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1"/>
                </a:solidFill>
              </a:rPr>
              <a:t>CREATE TABLE</a:t>
            </a:r>
            <a:r>
              <a:rPr lang="en-US" altLang="zh-CN" sz="2400" b="1" dirty="0">
                <a:solidFill>
                  <a:schemeClr val="bg2"/>
                </a:solidFill>
              </a:rPr>
              <a:t> SC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(SNO CHAR(4)  NOT NULL,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CNO CHAR(4) NOT NULL,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GRADE NUMERIC(7,2),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</a:t>
            </a:r>
            <a:r>
              <a:rPr lang="en-US" altLang="zh-CN" sz="2400" b="1" dirty="0">
                <a:solidFill>
                  <a:srgbClr val="660033"/>
                </a:solidFill>
              </a:rPr>
              <a:t>PRIMARY KEY(SNO,CNO),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660033"/>
                </a:solidFill>
              </a:rPr>
              <a:t>  </a:t>
            </a:r>
            <a:r>
              <a:rPr lang="en-US" altLang="zh-CN" sz="2400" b="1" dirty="0">
                <a:solidFill>
                  <a:srgbClr val="000066"/>
                </a:solidFill>
              </a:rPr>
              <a:t>FOREIGN KEY(SNO)REFERENCES S(SNO),</a:t>
            </a: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FOREIGN KEY(CNO)REFERENCES P(CNO),</a:t>
            </a:r>
            <a:endParaRPr lang="en-US" altLang="zh-CN" sz="2400" b="1" dirty="0">
              <a:solidFill>
                <a:srgbClr val="660033"/>
              </a:solidFill>
            </a:endParaRPr>
          </a:p>
          <a:p>
            <a:pPr indent="533400">
              <a:lnSpc>
                <a:spcPct val="11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660033"/>
                </a:solidFill>
              </a:rPr>
              <a:t>  CHECK(GRADE BETWEEN 0 AND 100));</a:t>
            </a:r>
          </a:p>
        </p:txBody>
      </p:sp>
      <p:grpSp>
        <p:nvGrpSpPr>
          <p:cNvPr id="946187" name="Group 11"/>
          <p:cNvGrpSpPr>
            <a:grpSpLocks/>
          </p:cNvGrpSpPr>
          <p:nvPr/>
        </p:nvGrpSpPr>
        <p:grpSpPr bwMode="auto">
          <a:xfrm>
            <a:off x="930275" y="1484313"/>
            <a:ext cx="5873750" cy="2530475"/>
            <a:chOff x="1176" y="1117"/>
            <a:chExt cx="3700" cy="1594"/>
          </a:xfrm>
        </p:grpSpPr>
        <p:sp>
          <p:nvSpPr>
            <p:cNvPr id="24586" name="Freeform 4"/>
            <p:cNvSpPr>
              <a:spLocks/>
            </p:cNvSpPr>
            <p:nvPr/>
          </p:nvSpPr>
          <p:spPr bwMode="auto">
            <a:xfrm>
              <a:off x="1176" y="2184"/>
              <a:ext cx="2376" cy="527"/>
            </a:xfrm>
            <a:custGeom>
              <a:avLst/>
              <a:gdLst>
                <a:gd name="T0" fmla="*/ 12 w 2376"/>
                <a:gd name="T1" fmla="*/ 180 h 527"/>
                <a:gd name="T2" fmla="*/ 36 w 2376"/>
                <a:gd name="T3" fmla="*/ 96 h 527"/>
                <a:gd name="T4" fmla="*/ 108 w 2376"/>
                <a:gd name="T5" fmla="*/ 72 h 527"/>
                <a:gd name="T6" fmla="*/ 432 w 2376"/>
                <a:gd name="T7" fmla="*/ 0 h 527"/>
                <a:gd name="T8" fmla="*/ 972 w 2376"/>
                <a:gd name="T9" fmla="*/ 48 h 527"/>
                <a:gd name="T10" fmla="*/ 1740 w 2376"/>
                <a:gd name="T11" fmla="*/ 36 h 527"/>
                <a:gd name="T12" fmla="*/ 2376 w 2376"/>
                <a:gd name="T13" fmla="*/ 156 h 527"/>
                <a:gd name="T14" fmla="*/ 2316 w 2376"/>
                <a:gd name="T15" fmla="*/ 384 h 527"/>
                <a:gd name="T16" fmla="*/ 2172 w 2376"/>
                <a:gd name="T17" fmla="*/ 444 h 527"/>
                <a:gd name="T18" fmla="*/ 1380 w 2376"/>
                <a:gd name="T19" fmla="*/ 456 h 527"/>
                <a:gd name="T20" fmla="*/ 1104 w 2376"/>
                <a:gd name="T21" fmla="*/ 492 h 527"/>
                <a:gd name="T22" fmla="*/ 360 w 2376"/>
                <a:gd name="T23" fmla="*/ 420 h 527"/>
                <a:gd name="T24" fmla="*/ 144 w 2376"/>
                <a:gd name="T25" fmla="*/ 372 h 527"/>
                <a:gd name="T26" fmla="*/ 72 w 2376"/>
                <a:gd name="T27" fmla="*/ 348 h 527"/>
                <a:gd name="T28" fmla="*/ 36 w 2376"/>
                <a:gd name="T29" fmla="*/ 336 h 527"/>
                <a:gd name="T30" fmla="*/ 0 w 2376"/>
                <a:gd name="T31" fmla="*/ 264 h 527"/>
                <a:gd name="T32" fmla="*/ 36 w 2376"/>
                <a:gd name="T33" fmla="*/ 192 h 527"/>
                <a:gd name="T34" fmla="*/ 60 w 2376"/>
                <a:gd name="T35" fmla="*/ 96 h 527"/>
                <a:gd name="T36" fmla="*/ 12 w 2376"/>
                <a:gd name="T37" fmla="*/ 180 h 52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376" h="527">
                  <a:moveTo>
                    <a:pt x="12" y="180"/>
                  </a:moveTo>
                  <a:cubicBezTo>
                    <a:pt x="19" y="152"/>
                    <a:pt x="12" y="113"/>
                    <a:pt x="36" y="96"/>
                  </a:cubicBezTo>
                  <a:cubicBezTo>
                    <a:pt x="57" y="81"/>
                    <a:pt x="87" y="86"/>
                    <a:pt x="108" y="72"/>
                  </a:cubicBezTo>
                  <a:cubicBezTo>
                    <a:pt x="202" y="9"/>
                    <a:pt x="323" y="10"/>
                    <a:pt x="432" y="0"/>
                  </a:cubicBezTo>
                  <a:cubicBezTo>
                    <a:pt x="614" y="11"/>
                    <a:pt x="791" y="30"/>
                    <a:pt x="972" y="48"/>
                  </a:cubicBezTo>
                  <a:cubicBezTo>
                    <a:pt x="1228" y="44"/>
                    <a:pt x="1484" y="36"/>
                    <a:pt x="1740" y="36"/>
                  </a:cubicBezTo>
                  <a:cubicBezTo>
                    <a:pt x="1975" y="36"/>
                    <a:pt x="2183" y="27"/>
                    <a:pt x="2376" y="156"/>
                  </a:cubicBezTo>
                  <a:cubicBezTo>
                    <a:pt x="2369" y="225"/>
                    <a:pt x="2372" y="328"/>
                    <a:pt x="2316" y="384"/>
                  </a:cubicBezTo>
                  <a:cubicBezTo>
                    <a:pt x="2279" y="421"/>
                    <a:pt x="2220" y="428"/>
                    <a:pt x="2172" y="444"/>
                  </a:cubicBezTo>
                  <a:cubicBezTo>
                    <a:pt x="1922" y="527"/>
                    <a:pt x="1644" y="452"/>
                    <a:pt x="1380" y="456"/>
                  </a:cubicBezTo>
                  <a:cubicBezTo>
                    <a:pt x="1287" y="465"/>
                    <a:pt x="1196" y="479"/>
                    <a:pt x="1104" y="492"/>
                  </a:cubicBezTo>
                  <a:cubicBezTo>
                    <a:pt x="837" y="483"/>
                    <a:pt x="617" y="467"/>
                    <a:pt x="360" y="420"/>
                  </a:cubicBezTo>
                  <a:cubicBezTo>
                    <a:pt x="289" y="407"/>
                    <a:pt x="214" y="393"/>
                    <a:pt x="144" y="372"/>
                  </a:cubicBezTo>
                  <a:cubicBezTo>
                    <a:pt x="120" y="365"/>
                    <a:pt x="96" y="356"/>
                    <a:pt x="72" y="348"/>
                  </a:cubicBezTo>
                  <a:cubicBezTo>
                    <a:pt x="60" y="344"/>
                    <a:pt x="36" y="336"/>
                    <a:pt x="36" y="336"/>
                  </a:cubicBezTo>
                  <a:cubicBezTo>
                    <a:pt x="24" y="318"/>
                    <a:pt x="0" y="289"/>
                    <a:pt x="0" y="264"/>
                  </a:cubicBezTo>
                  <a:cubicBezTo>
                    <a:pt x="0" y="231"/>
                    <a:pt x="24" y="219"/>
                    <a:pt x="36" y="192"/>
                  </a:cubicBezTo>
                  <a:cubicBezTo>
                    <a:pt x="63" y="132"/>
                    <a:pt x="60" y="139"/>
                    <a:pt x="60" y="96"/>
                  </a:cubicBezTo>
                  <a:lnTo>
                    <a:pt x="12" y="180"/>
                  </a:lnTo>
                  <a:close/>
                </a:path>
              </a:pathLst>
            </a:custGeom>
            <a:noFill/>
            <a:ln w="9525" cap="flat" cmpd="sng">
              <a:solidFill>
                <a:schemeClr val="hlink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587" name="AutoShape 5"/>
            <p:cNvSpPr>
              <a:spLocks noChangeArrowheads="1"/>
            </p:cNvSpPr>
            <p:nvPr/>
          </p:nvSpPr>
          <p:spPr bwMode="auto">
            <a:xfrm>
              <a:off x="3878" y="1117"/>
              <a:ext cx="998" cy="318"/>
            </a:xfrm>
            <a:prstGeom prst="wedgeRoundRectCallout">
              <a:avLst>
                <a:gd name="adj1" fmla="val -103708"/>
                <a:gd name="adj2" fmla="val 311005"/>
                <a:gd name="adj3" fmla="val 16667"/>
              </a:avLst>
            </a:prstGeom>
            <a:noFill/>
            <a:ln w="9525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66"/>
                  </a:solidFill>
                </a:rPr>
                <a:t>主键子句</a:t>
              </a:r>
            </a:p>
          </p:txBody>
        </p:sp>
      </p:grpSp>
      <p:grpSp>
        <p:nvGrpSpPr>
          <p:cNvPr id="946188" name="Group 12"/>
          <p:cNvGrpSpPr>
            <a:grpSpLocks/>
          </p:cNvGrpSpPr>
          <p:nvPr/>
        </p:nvGrpSpPr>
        <p:grpSpPr bwMode="auto">
          <a:xfrm>
            <a:off x="911225" y="2636838"/>
            <a:ext cx="6469063" cy="2451100"/>
            <a:chOff x="1164" y="1888"/>
            <a:chExt cx="4075" cy="1544"/>
          </a:xfrm>
        </p:grpSpPr>
        <p:sp>
          <p:nvSpPr>
            <p:cNvPr id="24584" name="AutoShape 7"/>
            <p:cNvSpPr>
              <a:spLocks noChangeArrowheads="1"/>
            </p:cNvSpPr>
            <p:nvPr/>
          </p:nvSpPr>
          <p:spPr bwMode="auto">
            <a:xfrm>
              <a:off x="4241" y="1888"/>
              <a:ext cx="998" cy="409"/>
            </a:xfrm>
            <a:prstGeom prst="wedgeRoundRectCallout">
              <a:avLst>
                <a:gd name="adj1" fmla="val -89880"/>
                <a:gd name="adj2" fmla="val 154157"/>
                <a:gd name="adj3" fmla="val 16667"/>
              </a:avLst>
            </a:prstGeom>
            <a:noFill/>
            <a:ln w="9525">
              <a:solidFill>
                <a:srgbClr val="660033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66"/>
                  </a:solidFill>
                </a:rPr>
                <a:t>外键子句</a:t>
              </a:r>
            </a:p>
          </p:txBody>
        </p:sp>
        <p:sp>
          <p:nvSpPr>
            <p:cNvPr id="24585" name="Freeform 9"/>
            <p:cNvSpPr>
              <a:spLocks/>
            </p:cNvSpPr>
            <p:nvPr/>
          </p:nvSpPr>
          <p:spPr bwMode="auto">
            <a:xfrm>
              <a:off x="1164" y="2652"/>
              <a:ext cx="3468" cy="780"/>
            </a:xfrm>
            <a:custGeom>
              <a:avLst/>
              <a:gdLst>
                <a:gd name="T0" fmla="*/ 144 w 3468"/>
                <a:gd name="T1" fmla="*/ 684 h 780"/>
                <a:gd name="T2" fmla="*/ 600 w 3468"/>
                <a:gd name="T3" fmla="*/ 780 h 780"/>
                <a:gd name="T4" fmla="*/ 1452 w 3468"/>
                <a:gd name="T5" fmla="*/ 720 h 780"/>
                <a:gd name="T6" fmla="*/ 1968 w 3468"/>
                <a:gd name="T7" fmla="*/ 708 h 780"/>
                <a:gd name="T8" fmla="*/ 2436 w 3468"/>
                <a:gd name="T9" fmla="*/ 768 h 780"/>
                <a:gd name="T10" fmla="*/ 2748 w 3468"/>
                <a:gd name="T11" fmla="*/ 756 h 780"/>
                <a:gd name="T12" fmla="*/ 3132 w 3468"/>
                <a:gd name="T13" fmla="*/ 696 h 780"/>
                <a:gd name="T14" fmla="*/ 3348 w 3468"/>
                <a:gd name="T15" fmla="*/ 648 h 780"/>
                <a:gd name="T16" fmla="*/ 3456 w 3468"/>
                <a:gd name="T17" fmla="*/ 504 h 780"/>
                <a:gd name="T18" fmla="*/ 3468 w 3468"/>
                <a:gd name="T19" fmla="*/ 444 h 780"/>
                <a:gd name="T20" fmla="*/ 3456 w 3468"/>
                <a:gd name="T21" fmla="*/ 156 h 780"/>
                <a:gd name="T22" fmla="*/ 3252 w 3468"/>
                <a:gd name="T23" fmla="*/ 48 h 780"/>
                <a:gd name="T24" fmla="*/ 2184 w 3468"/>
                <a:gd name="T25" fmla="*/ 96 h 780"/>
                <a:gd name="T26" fmla="*/ 1908 w 3468"/>
                <a:gd name="T27" fmla="*/ 48 h 780"/>
                <a:gd name="T28" fmla="*/ 1704 w 3468"/>
                <a:gd name="T29" fmla="*/ 0 h 780"/>
                <a:gd name="T30" fmla="*/ 924 w 3468"/>
                <a:gd name="T31" fmla="*/ 60 h 780"/>
                <a:gd name="T32" fmla="*/ 120 w 3468"/>
                <a:gd name="T33" fmla="*/ 48 h 780"/>
                <a:gd name="T34" fmla="*/ 0 w 3468"/>
                <a:gd name="T35" fmla="*/ 168 h 780"/>
                <a:gd name="T36" fmla="*/ 72 w 3468"/>
                <a:gd name="T37" fmla="*/ 552 h 780"/>
                <a:gd name="T38" fmla="*/ 144 w 3468"/>
                <a:gd name="T39" fmla="*/ 660 h 780"/>
                <a:gd name="T40" fmla="*/ 168 w 3468"/>
                <a:gd name="T41" fmla="*/ 696 h 780"/>
                <a:gd name="T42" fmla="*/ 204 w 3468"/>
                <a:gd name="T43" fmla="*/ 720 h 78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468" h="780">
                  <a:moveTo>
                    <a:pt x="144" y="684"/>
                  </a:moveTo>
                  <a:cubicBezTo>
                    <a:pt x="298" y="710"/>
                    <a:pt x="446" y="754"/>
                    <a:pt x="600" y="780"/>
                  </a:cubicBezTo>
                  <a:cubicBezTo>
                    <a:pt x="891" y="770"/>
                    <a:pt x="1160" y="730"/>
                    <a:pt x="1452" y="720"/>
                  </a:cubicBezTo>
                  <a:cubicBezTo>
                    <a:pt x="1631" y="690"/>
                    <a:pt x="1780" y="701"/>
                    <a:pt x="1968" y="708"/>
                  </a:cubicBezTo>
                  <a:cubicBezTo>
                    <a:pt x="2126" y="728"/>
                    <a:pt x="2277" y="757"/>
                    <a:pt x="2436" y="768"/>
                  </a:cubicBezTo>
                  <a:cubicBezTo>
                    <a:pt x="2540" y="764"/>
                    <a:pt x="2644" y="762"/>
                    <a:pt x="2748" y="756"/>
                  </a:cubicBezTo>
                  <a:cubicBezTo>
                    <a:pt x="2877" y="748"/>
                    <a:pt x="3004" y="712"/>
                    <a:pt x="3132" y="696"/>
                  </a:cubicBezTo>
                  <a:cubicBezTo>
                    <a:pt x="3203" y="672"/>
                    <a:pt x="3277" y="672"/>
                    <a:pt x="3348" y="648"/>
                  </a:cubicBezTo>
                  <a:cubicBezTo>
                    <a:pt x="3448" y="548"/>
                    <a:pt x="3393" y="598"/>
                    <a:pt x="3456" y="504"/>
                  </a:cubicBezTo>
                  <a:cubicBezTo>
                    <a:pt x="3460" y="484"/>
                    <a:pt x="3468" y="464"/>
                    <a:pt x="3468" y="444"/>
                  </a:cubicBezTo>
                  <a:cubicBezTo>
                    <a:pt x="3468" y="348"/>
                    <a:pt x="3463" y="252"/>
                    <a:pt x="3456" y="156"/>
                  </a:cubicBezTo>
                  <a:cubicBezTo>
                    <a:pt x="3450" y="72"/>
                    <a:pt x="3314" y="60"/>
                    <a:pt x="3252" y="48"/>
                  </a:cubicBezTo>
                  <a:cubicBezTo>
                    <a:pt x="2893" y="56"/>
                    <a:pt x="2541" y="71"/>
                    <a:pt x="2184" y="96"/>
                  </a:cubicBezTo>
                  <a:cubicBezTo>
                    <a:pt x="2090" y="84"/>
                    <a:pt x="2001" y="67"/>
                    <a:pt x="1908" y="48"/>
                  </a:cubicBezTo>
                  <a:cubicBezTo>
                    <a:pt x="1830" y="9"/>
                    <a:pt x="1802" y="10"/>
                    <a:pt x="1704" y="0"/>
                  </a:cubicBezTo>
                  <a:cubicBezTo>
                    <a:pt x="1445" y="24"/>
                    <a:pt x="1185" y="47"/>
                    <a:pt x="924" y="60"/>
                  </a:cubicBezTo>
                  <a:cubicBezTo>
                    <a:pt x="649" y="46"/>
                    <a:pt x="398" y="40"/>
                    <a:pt x="120" y="48"/>
                  </a:cubicBezTo>
                  <a:cubicBezTo>
                    <a:pt x="47" y="66"/>
                    <a:pt x="23" y="98"/>
                    <a:pt x="0" y="168"/>
                  </a:cubicBezTo>
                  <a:cubicBezTo>
                    <a:pt x="8" y="324"/>
                    <a:pt x="1" y="425"/>
                    <a:pt x="72" y="552"/>
                  </a:cubicBezTo>
                  <a:cubicBezTo>
                    <a:pt x="72" y="552"/>
                    <a:pt x="132" y="642"/>
                    <a:pt x="144" y="660"/>
                  </a:cubicBezTo>
                  <a:cubicBezTo>
                    <a:pt x="152" y="672"/>
                    <a:pt x="160" y="684"/>
                    <a:pt x="168" y="696"/>
                  </a:cubicBezTo>
                  <a:cubicBezTo>
                    <a:pt x="176" y="708"/>
                    <a:pt x="204" y="720"/>
                    <a:pt x="204" y="720"/>
                  </a:cubicBezTo>
                </a:path>
              </a:pathLst>
            </a:custGeom>
            <a:noFill/>
            <a:ln w="9525" cap="flat" cmpd="sng">
              <a:solidFill>
                <a:srgbClr val="660033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46189" name="Group 13"/>
          <p:cNvGrpSpPr>
            <a:grpSpLocks/>
          </p:cNvGrpSpPr>
          <p:nvPr/>
        </p:nvGrpSpPr>
        <p:grpSpPr bwMode="auto">
          <a:xfrm>
            <a:off x="1006475" y="4221163"/>
            <a:ext cx="7165975" cy="1454150"/>
            <a:chOff x="1224" y="2840"/>
            <a:chExt cx="4514" cy="916"/>
          </a:xfrm>
        </p:grpSpPr>
        <p:sp>
          <p:nvSpPr>
            <p:cNvPr id="24582" name="AutoShape 6"/>
            <p:cNvSpPr>
              <a:spLocks noChangeArrowheads="1"/>
            </p:cNvSpPr>
            <p:nvPr/>
          </p:nvSpPr>
          <p:spPr bwMode="auto">
            <a:xfrm>
              <a:off x="4740" y="2840"/>
              <a:ext cx="998" cy="273"/>
            </a:xfrm>
            <a:prstGeom prst="wedgeRoundRectCallout">
              <a:avLst>
                <a:gd name="adj1" fmla="val -88375"/>
                <a:gd name="adj2" fmla="val 198352"/>
                <a:gd name="adj3" fmla="val 16667"/>
              </a:avLst>
            </a:prstGeom>
            <a:noFill/>
            <a:ln w="9525">
              <a:solidFill>
                <a:srgbClr val="00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2400" b="1">
                  <a:solidFill>
                    <a:srgbClr val="000066"/>
                  </a:solidFill>
                </a:rPr>
                <a:t>检查子句</a:t>
              </a:r>
            </a:p>
          </p:txBody>
        </p:sp>
        <p:sp>
          <p:nvSpPr>
            <p:cNvPr id="24583" name="Freeform 10"/>
            <p:cNvSpPr>
              <a:spLocks/>
            </p:cNvSpPr>
            <p:nvPr/>
          </p:nvSpPr>
          <p:spPr bwMode="auto">
            <a:xfrm>
              <a:off x="1224" y="3394"/>
              <a:ext cx="3187" cy="362"/>
            </a:xfrm>
            <a:custGeom>
              <a:avLst/>
              <a:gdLst>
                <a:gd name="T0" fmla="*/ 24 w 3187"/>
                <a:gd name="T1" fmla="*/ 290 h 362"/>
                <a:gd name="T2" fmla="*/ 72 w 3187"/>
                <a:gd name="T3" fmla="*/ 146 h 362"/>
                <a:gd name="T4" fmla="*/ 108 w 3187"/>
                <a:gd name="T5" fmla="*/ 122 h 362"/>
                <a:gd name="T6" fmla="*/ 252 w 3187"/>
                <a:gd name="T7" fmla="*/ 50 h 362"/>
                <a:gd name="T8" fmla="*/ 1200 w 3187"/>
                <a:gd name="T9" fmla="*/ 62 h 362"/>
                <a:gd name="T10" fmla="*/ 1704 w 3187"/>
                <a:gd name="T11" fmla="*/ 86 h 362"/>
                <a:gd name="T12" fmla="*/ 1848 w 3187"/>
                <a:gd name="T13" fmla="*/ 62 h 362"/>
                <a:gd name="T14" fmla="*/ 1920 w 3187"/>
                <a:gd name="T15" fmla="*/ 38 h 362"/>
                <a:gd name="T16" fmla="*/ 1980 w 3187"/>
                <a:gd name="T17" fmla="*/ 26 h 362"/>
                <a:gd name="T18" fmla="*/ 2772 w 3187"/>
                <a:gd name="T19" fmla="*/ 50 h 362"/>
                <a:gd name="T20" fmla="*/ 3012 w 3187"/>
                <a:gd name="T21" fmla="*/ 122 h 362"/>
                <a:gd name="T22" fmla="*/ 3120 w 3187"/>
                <a:gd name="T23" fmla="*/ 158 h 362"/>
                <a:gd name="T24" fmla="*/ 3156 w 3187"/>
                <a:gd name="T25" fmla="*/ 170 h 362"/>
                <a:gd name="T26" fmla="*/ 3180 w 3187"/>
                <a:gd name="T27" fmla="*/ 206 h 362"/>
                <a:gd name="T28" fmla="*/ 2988 w 3187"/>
                <a:gd name="T29" fmla="*/ 290 h 362"/>
                <a:gd name="T30" fmla="*/ 2472 w 3187"/>
                <a:gd name="T31" fmla="*/ 290 h 362"/>
                <a:gd name="T32" fmla="*/ 2340 w 3187"/>
                <a:gd name="T33" fmla="*/ 326 h 362"/>
                <a:gd name="T34" fmla="*/ 2304 w 3187"/>
                <a:gd name="T35" fmla="*/ 338 h 362"/>
                <a:gd name="T36" fmla="*/ 0 w 3187"/>
                <a:gd name="T37" fmla="*/ 302 h 362"/>
                <a:gd name="T38" fmla="*/ 48 w 3187"/>
                <a:gd name="T39" fmla="*/ 218 h 36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87" h="362">
                  <a:moveTo>
                    <a:pt x="24" y="290"/>
                  </a:moveTo>
                  <a:cubicBezTo>
                    <a:pt x="40" y="242"/>
                    <a:pt x="56" y="194"/>
                    <a:pt x="72" y="146"/>
                  </a:cubicBezTo>
                  <a:cubicBezTo>
                    <a:pt x="77" y="132"/>
                    <a:pt x="96" y="130"/>
                    <a:pt x="108" y="122"/>
                  </a:cubicBezTo>
                  <a:cubicBezTo>
                    <a:pt x="148" y="62"/>
                    <a:pt x="189" y="66"/>
                    <a:pt x="252" y="50"/>
                  </a:cubicBezTo>
                  <a:cubicBezTo>
                    <a:pt x="575" y="58"/>
                    <a:pt x="879" y="75"/>
                    <a:pt x="1200" y="62"/>
                  </a:cubicBezTo>
                  <a:cubicBezTo>
                    <a:pt x="1367" y="41"/>
                    <a:pt x="1537" y="76"/>
                    <a:pt x="1704" y="86"/>
                  </a:cubicBezTo>
                  <a:cubicBezTo>
                    <a:pt x="1752" y="76"/>
                    <a:pt x="1801" y="73"/>
                    <a:pt x="1848" y="62"/>
                  </a:cubicBezTo>
                  <a:cubicBezTo>
                    <a:pt x="1873" y="56"/>
                    <a:pt x="1895" y="43"/>
                    <a:pt x="1920" y="38"/>
                  </a:cubicBezTo>
                  <a:cubicBezTo>
                    <a:pt x="1940" y="34"/>
                    <a:pt x="1960" y="30"/>
                    <a:pt x="1980" y="26"/>
                  </a:cubicBezTo>
                  <a:cubicBezTo>
                    <a:pt x="1990" y="26"/>
                    <a:pt x="2538" y="0"/>
                    <a:pt x="2772" y="50"/>
                  </a:cubicBezTo>
                  <a:cubicBezTo>
                    <a:pt x="2854" y="68"/>
                    <a:pt x="2932" y="95"/>
                    <a:pt x="3012" y="122"/>
                  </a:cubicBezTo>
                  <a:cubicBezTo>
                    <a:pt x="3048" y="134"/>
                    <a:pt x="3084" y="146"/>
                    <a:pt x="3120" y="158"/>
                  </a:cubicBezTo>
                  <a:cubicBezTo>
                    <a:pt x="3132" y="162"/>
                    <a:pt x="3156" y="170"/>
                    <a:pt x="3156" y="170"/>
                  </a:cubicBezTo>
                  <a:cubicBezTo>
                    <a:pt x="3164" y="182"/>
                    <a:pt x="3187" y="193"/>
                    <a:pt x="3180" y="206"/>
                  </a:cubicBezTo>
                  <a:cubicBezTo>
                    <a:pt x="3149" y="261"/>
                    <a:pt x="3043" y="276"/>
                    <a:pt x="2988" y="290"/>
                  </a:cubicBezTo>
                  <a:cubicBezTo>
                    <a:pt x="2724" y="282"/>
                    <a:pt x="2675" y="265"/>
                    <a:pt x="2472" y="290"/>
                  </a:cubicBezTo>
                  <a:cubicBezTo>
                    <a:pt x="2418" y="297"/>
                    <a:pt x="2393" y="308"/>
                    <a:pt x="2340" y="326"/>
                  </a:cubicBezTo>
                  <a:cubicBezTo>
                    <a:pt x="2328" y="330"/>
                    <a:pt x="2304" y="338"/>
                    <a:pt x="2304" y="338"/>
                  </a:cubicBezTo>
                  <a:cubicBezTo>
                    <a:pt x="1393" y="333"/>
                    <a:pt x="784" y="362"/>
                    <a:pt x="0" y="302"/>
                  </a:cubicBezTo>
                  <a:cubicBezTo>
                    <a:pt x="50" y="227"/>
                    <a:pt x="48" y="259"/>
                    <a:pt x="48" y="218"/>
                  </a:cubicBezTo>
                </a:path>
              </a:pathLst>
            </a:custGeom>
            <a:noFill/>
            <a:ln w="9525" cap="flat" cmpd="sng">
              <a:solidFill>
                <a:srgbClr val="000066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6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6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93F1B7-B2C5-B04D-AF6A-88D0ED60ABA7}"/>
              </a:ext>
            </a:extLst>
          </p:cNvPr>
          <p:cNvSpPr txBox="1"/>
          <p:nvPr/>
        </p:nvSpPr>
        <p:spPr>
          <a:xfrm>
            <a:off x="179512" y="116632"/>
            <a:ext cx="896448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2"/>
                </a:solidFill>
              </a:rPr>
              <a:t>CREATE TABLE department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( dept_id    INTEGER NOT NULL PRIMARY KEY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dept_name  VARCHAR(50)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) ;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CREATE TABLE job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( job_id         INTEGER NOT NULL PRIMARY KEY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job_title      VARCHAR(50)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) ;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CREATE TABLE employee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( emp_id    INTEGER NOT NULL PRIMARY KEY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emp_name  VARCHAR(50)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sex       VARCHAR(10)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dept_id   INTEGER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manager   INTEGER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hire_date DATE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job_id    INTEGER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salary    NUMERIC(8,2)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bonus     NUMERIC(8,2)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email     VARCHAR(100) NOT NULL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CONSTRAINT ck_emp_sex CHECK (sex IN ('男', '女'))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CONSTRAINT ck_emp_salary CHECK (salary &gt; 0)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CONSTRAINT uk_emp_email UNIQUE (email)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CONSTRAINT fk_emp_dept FOREIGN KEY (dept_id) REFERENCES department(dept_id)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CONSTRAINT fk_emp_job FOREIGN KEY (job_id) REFERENCES job(job_id)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, CONSTRAINT fk_emp_manager FOREIGN KEY (manager) REFERENCES employee(emp_id)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    ) ;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CREATE INDEX idx_emp_name ON employee(emp_name);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CREATE INDEX idx_emp_dept ON employee(dept_id);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CREATE INDEX idx_emp_job ON employee(job_id);</a:t>
            </a:r>
          </a:p>
          <a:p>
            <a:r>
              <a:rPr lang="zh-CN" altLang="en-US" sz="1400" dirty="0">
                <a:solidFill>
                  <a:schemeClr val="bg2"/>
                </a:solidFill>
              </a:rPr>
              <a:t>CREATE INDEX idx_emp_manager ON employee(manager);</a:t>
            </a:r>
          </a:p>
        </p:txBody>
      </p:sp>
    </p:spTree>
    <p:extLst>
      <p:ext uri="{BB962C8B-B14F-4D97-AF65-F5344CB8AC3E}">
        <p14:creationId xmlns:p14="http://schemas.microsoft.com/office/powerpoint/2010/main" val="186736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2F8723-59E6-204A-B50D-7C7A041F0E2D}"/>
              </a:ext>
            </a:extLst>
          </p:cNvPr>
          <p:cNvSpPr txBox="1"/>
          <p:nvPr/>
        </p:nvSpPr>
        <p:spPr>
          <a:xfrm>
            <a:off x="0" y="0"/>
            <a:ext cx="9324528" cy="839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-- 生成 MySQL 初始化数据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department(dept_id, dept_name) VALUES (1, '行政管理部');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department(dept_id, dept_name) VALUES (2, '人力资源部');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department(dept_id, dept_name) VALUES (3, '财务部');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department(dept_id, dept_name) VALUES (4, '研发部');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department(dept_id, dept_name) VALUES (5, '销售部');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department(dept_id, dept_name) VALUES (6, '保卫部');</a:t>
            </a:r>
          </a:p>
          <a:p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(1, '总经理');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(2, '副总经理');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(3, '人力资源总监');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(4, '人力资源专员');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(5, '财务经理');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(6, '会计');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(7, '开发经理');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(8, '程序员');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(9, '销售经理');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job(job_id, job_title) VALUES (10, '销售人员');</a:t>
            </a:r>
          </a:p>
          <a:p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(1, '刘备', '男', 1, NULL, DATE('2000-01-01'), 1, 30000, 10000, 'liubei@shuguo.com');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(2, '关羽', '男', 1, 1, DATE('2000-01-01'), 2, 26000, 10000, 'guanyu@shuguo.com');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(3, '张飞', '男', 1, 1, DATE('2000-01-01'), 2, 24000, 10000, 'zhangfei@shuguo.com');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(4, '诸葛亮', '男', 2, 1, DATE('2006-03-15'), 3, 24000, 8000, 'zhugeliang@shuguo.com');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(5, '黄忠', '男', 2, 4, DATE('2008-10-25'), 4, 8000, NULL, 'huangzhong@shuguo.com');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(6, '魏延', '男', 2, 4, DATE('2007-04-01'), 4, 7500, NULL, 'weiyan@shuguo.com');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(7, '孙尚香', '女', 3, 1, DATE('2002-08-08'), 5, 12000, 5000, 'sunshangxiang@shuguo.com');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(8, '孙丫鬟', '女', 3, 7, DATE('2002-08-08'), 6, 6000, NULL, 'sunyahuan@shuguo.com');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(9, '赵云', '男', 4, 1, DATE('2005-12-19'), 7, 15000, 6000, 'zhaoyun@shuguo.com');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(10, '廖化', '男', 4, 9, DATE('2009-02-17'), 8, 6500, NULL, 'liaohua@shuguo.com');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(11, '关平', '男', 4, 9, DATE('2011-07-24'), 8, 6800, NULL, 'guanping@shuguo.com');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(12, '赵氏', '女', 4, 9, DATE('2011-11-10'), 8, 6600, NULL, 'zhaoshi@shuguo.com');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(13, '关兴', '男', 4, 9, DATE('2011-07-30'), 8, 7000, NULL, 'guanxing@shuguo.com');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(14, '张苞', '男', 4, 9, DATE('2012-05-31'), 8, 6500, NULL, 'zhangbao@shuguo.com');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(15, '赵统', '男', 4, 9, DATE('2012-05-03'), 8, 6000, NULL, 'zhaotong@shuguo.com');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(16, '周仓', '男', 4, 9, DATE('2010-02-20'), 8, 8000, NULL, 'zhoucang@shuguo.com');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(17, '马岱', '男', 4, 9, DATE('2014-09-16'), 8, 5800, NULL, 'madai@shuguo.com');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(18, '法正', '男', 5, 2, DATE('2017-04-09'), 9, 10000, 5000, 'fazheng@shuguo.com');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(19, '庞统', '男', 5, 18, DATE('2017-06-06'), 10, 4100, 2000, 'pangtong@shuguo.com');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(20, '蒋琬', '男', 5, 18, DATE('2018-01-28'), 10, 4000, 1500, 'jiangwan@shuguo.com');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(21, '黄权', '男', 5, 18, DATE('2018-03-14'), 10, 4200, NULL, 'huangquan@shuguo.com');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(22, '糜竺', '男', 5, 18, DATE('2018-03-27'), 10, 4300, NULL, 'mizhu@shuguo.com');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(23, '邓芝', '男', 5, 18, DATE('2018-11-11'), 10, 4000, NULL, 'dengzhi@shuguo.com');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(24, '简雍', '男', 5, 18, DATE('2019-05-11'), 10, 4800, NULL, 'jianyong@shuguo.com');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employee VALUES (25, '孙乾', '男', 5, 18, DATE('2018-10-09'), 10, 4700, NULL, 'sunqian@shuguo.com');</a:t>
            </a:r>
          </a:p>
        </p:txBody>
      </p:sp>
    </p:spTree>
    <p:extLst>
      <p:ext uri="{BB962C8B-B14F-4D97-AF65-F5344CB8AC3E}">
        <p14:creationId xmlns:p14="http://schemas.microsoft.com/office/powerpoint/2010/main" val="161674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212488" y="188640"/>
            <a:ext cx="5219700" cy="4211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66616" tIns="165048" bIns="165048" anchor="ctr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</a:rPr>
              <a:t>2. </a:t>
            </a:r>
            <a:r>
              <a:rPr lang="zh-CN" altLang="en-US" sz="2800" b="1" dirty="0">
                <a:solidFill>
                  <a:srgbClr val="000066"/>
                </a:solidFill>
              </a:rPr>
              <a:t>基本表结构的修改</a:t>
            </a:r>
          </a:p>
          <a:p>
            <a:endParaRPr lang="zh-CN" altLang="en-US" sz="2800" b="1" dirty="0">
              <a:solidFill>
                <a:srgbClr val="660033"/>
              </a:solidFill>
            </a:endParaRPr>
          </a:p>
          <a:p>
            <a:r>
              <a:rPr lang="zh-CN" altLang="en-US" sz="2800" b="1" dirty="0">
                <a:solidFill>
                  <a:srgbClr val="660033"/>
                </a:solidFill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660033"/>
                </a:solidFill>
              </a:rPr>
              <a:t>增加新的属性：</a:t>
            </a:r>
          </a:p>
          <a:p>
            <a:endParaRPr lang="zh-CN" altLang="en-US" sz="2800" b="1" dirty="0">
              <a:solidFill>
                <a:srgbClr val="660033"/>
              </a:solidFill>
            </a:endParaRPr>
          </a:p>
          <a:p>
            <a:endParaRPr lang="zh-CN" altLang="en-US" sz="2800" b="1" dirty="0">
              <a:solidFill>
                <a:srgbClr val="660033"/>
              </a:solidFill>
              <a:sym typeface="Symbol" pitchFamily="18" charset="2"/>
            </a:endParaRPr>
          </a:p>
          <a:p>
            <a:endParaRPr lang="zh-CN" altLang="en-US" sz="2800" b="1" dirty="0">
              <a:solidFill>
                <a:srgbClr val="660033"/>
              </a:solidFill>
              <a:sym typeface="Symbol" pitchFamily="18" charset="2"/>
            </a:endParaRPr>
          </a:p>
          <a:p>
            <a:endParaRPr lang="zh-CN" altLang="en-US" sz="2800" b="1" dirty="0">
              <a:solidFill>
                <a:srgbClr val="660033"/>
              </a:solidFill>
              <a:sym typeface="Symbol" pitchFamily="18" charset="2"/>
            </a:endParaRPr>
          </a:p>
          <a:p>
            <a:endParaRPr lang="zh-CN" altLang="en-US" sz="2800" b="1" dirty="0">
              <a:solidFill>
                <a:srgbClr val="660033"/>
              </a:solidFill>
              <a:sym typeface="Symbol" pitchFamily="18" charset="2"/>
            </a:endParaRPr>
          </a:p>
          <a:p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826373" name="Rectangle 5"/>
          <p:cNvSpPr>
            <a:spLocks noChangeArrowheads="1"/>
          </p:cNvSpPr>
          <p:nvPr/>
        </p:nvSpPr>
        <p:spPr bwMode="auto">
          <a:xfrm>
            <a:off x="-612576" y="1817623"/>
            <a:ext cx="10153128" cy="476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    ALTER TABLE </a:t>
            </a:r>
            <a:r>
              <a:rPr lang="zh-CN" altLang="en-US" sz="2400" b="1" dirty="0">
                <a:solidFill>
                  <a:srgbClr val="000066"/>
                </a:solidFill>
              </a:rPr>
              <a:t>基本表名 </a:t>
            </a:r>
            <a:r>
              <a:rPr lang="en-US" altLang="zh-CN" sz="2400" b="1" dirty="0">
                <a:solidFill>
                  <a:srgbClr val="000066"/>
                </a:solidFill>
              </a:rPr>
              <a:t>ADD </a:t>
            </a:r>
            <a:r>
              <a:rPr lang="zh-CN" altLang="en-US" sz="2400" b="1" dirty="0">
                <a:solidFill>
                  <a:srgbClr val="000066"/>
                </a:solidFill>
              </a:rPr>
              <a:t>新属性名 新属性类型 完整性约束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08930A-BEC6-A24A-93F7-1AB87D889A11}"/>
              </a:ext>
            </a:extLst>
          </p:cNvPr>
          <p:cNvSpPr/>
          <p:nvPr/>
        </p:nvSpPr>
        <p:spPr bwMode="auto">
          <a:xfrm>
            <a:off x="179512" y="1819632"/>
            <a:ext cx="8824008" cy="50405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C961A12-44C7-1243-864B-A43F717BC97C}"/>
              </a:ext>
            </a:extLst>
          </p:cNvPr>
          <p:cNvSpPr txBox="1"/>
          <p:nvPr/>
        </p:nvSpPr>
        <p:spPr>
          <a:xfrm>
            <a:off x="304012" y="2876733"/>
            <a:ext cx="8319952" cy="1732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例</a:t>
            </a:r>
            <a:r>
              <a:rPr lang="en-US" altLang="zh-CN" sz="2400" b="1" dirty="0">
                <a:solidFill>
                  <a:schemeClr val="bg2"/>
                </a:solidFill>
              </a:rPr>
              <a:t>:</a:t>
            </a:r>
            <a:r>
              <a:rPr lang="zh-CN" altLang="en-US" sz="2400" b="1" dirty="0">
                <a:solidFill>
                  <a:schemeClr val="bg2"/>
                </a:solidFill>
              </a:rPr>
              <a:t>在基本表</a:t>
            </a:r>
            <a:r>
              <a:rPr lang="en-US" altLang="zh-CN" sz="2400" b="1" dirty="0">
                <a:solidFill>
                  <a:schemeClr val="bg2"/>
                </a:solidFill>
              </a:rPr>
              <a:t>S</a:t>
            </a:r>
            <a:r>
              <a:rPr lang="zh-CN" altLang="en-US" sz="2400" b="1" dirty="0">
                <a:solidFill>
                  <a:schemeClr val="bg2"/>
                </a:solidFill>
              </a:rPr>
              <a:t>中增加一个电话号码（</a:t>
            </a:r>
            <a:r>
              <a:rPr lang="en-US" altLang="zh-CN" sz="2400" b="1" dirty="0">
                <a:solidFill>
                  <a:schemeClr val="bg2"/>
                </a:solidFill>
              </a:rPr>
              <a:t>TELE</a:t>
            </a:r>
            <a:r>
              <a:rPr lang="zh-CN" altLang="en-US" sz="2400" b="1" dirty="0">
                <a:solidFill>
                  <a:schemeClr val="bg2"/>
                </a:solidFill>
              </a:rPr>
              <a:t>）属性语句如下：</a:t>
            </a:r>
          </a:p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  </a:t>
            </a:r>
            <a:r>
              <a:rPr lang="en-US" altLang="zh-CN" sz="2400" b="1" dirty="0">
                <a:solidFill>
                  <a:schemeClr val="bg2"/>
                </a:solidFill>
              </a:rPr>
              <a:t>ALTER TABLE </a:t>
            </a:r>
            <a:r>
              <a:rPr lang="en-US" altLang="zh-CN" sz="2400" b="1" dirty="0">
                <a:solidFill>
                  <a:schemeClr val="bg1"/>
                </a:solidFill>
              </a:rPr>
              <a:t>S</a:t>
            </a:r>
            <a:r>
              <a:rPr lang="en-US" altLang="zh-CN" sz="2400" b="1" dirty="0">
                <a:solidFill>
                  <a:schemeClr val="bg2"/>
                </a:solidFill>
              </a:rPr>
              <a:t> ADD </a:t>
            </a:r>
            <a:r>
              <a:rPr lang="en-US" altLang="zh-CN" sz="2400" b="1" dirty="0">
                <a:solidFill>
                  <a:schemeClr val="bg1"/>
                </a:solidFill>
              </a:rPr>
              <a:t>TELE</a:t>
            </a: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CHAR(12)</a:t>
            </a:r>
            <a:r>
              <a:rPr lang="en-US" altLang="zh-CN" sz="2400" b="1" dirty="0">
                <a:solidFill>
                  <a:schemeClr val="bg2"/>
                </a:solidFill>
              </a:rPr>
              <a:t>;</a:t>
            </a:r>
          </a:p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 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3F86DA0-0765-3E45-BD88-6D48EF9FAF67}"/>
              </a:ext>
            </a:extLst>
          </p:cNvPr>
          <p:cNvSpPr txBox="1"/>
          <p:nvPr/>
        </p:nvSpPr>
        <p:spPr>
          <a:xfrm>
            <a:off x="313358" y="4435229"/>
            <a:ext cx="8379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</a:rPr>
              <a:t>注意 ：新增加的属性不能被定义为</a:t>
            </a:r>
            <a:r>
              <a:rPr lang="en-US" altLang="zh-CN" dirty="0">
                <a:solidFill>
                  <a:srgbClr val="002060"/>
                </a:solidFill>
              </a:rPr>
              <a:t>NOT</a:t>
            </a:r>
            <a:r>
              <a:rPr lang="zh-CN" altLang="en-US" dirty="0">
                <a:solidFill>
                  <a:srgbClr val="002060"/>
                </a:solidFill>
              </a:rPr>
              <a:t> </a:t>
            </a:r>
            <a:r>
              <a:rPr lang="en-US" altLang="zh-CN" dirty="0">
                <a:solidFill>
                  <a:srgbClr val="002060"/>
                </a:solidFill>
              </a:rPr>
              <a:t>NULL</a:t>
            </a:r>
            <a:r>
              <a:rPr lang="zh-CN" altLang="en-US" dirty="0">
                <a:solidFill>
                  <a:srgbClr val="002060"/>
                </a:solidFill>
              </a:rPr>
              <a:t>。基本表在增加一属性后，原有元组</a:t>
            </a:r>
            <a:endParaRPr lang="en-US" altLang="zh-CN" dirty="0">
              <a:solidFill>
                <a:srgbClr val="002060"/>
              </a:solidFill>
            </a:endParaRPr>
          </a:p>
          <a:p>
            <a:r>
              <a:rPr lang="zh-CN" altLang="en-US" dirty="0">
                <a:solidFill>
                  <a:srgbClr val="002060"/>
                </a:solidFill>
              </a:rPr>
              <a:t>在新增加的</a:t>
            </a:r>
            <a:r>
              <a:rPr kumimoji="1" lang="zh-CN" altLang="en-US" dirty="0">
                <a:solidFill>
                  <a:srgbClr val="002060"/>
                </a:solidFill>
              </a:rPr>
              <a:t>属性列上的值都被定义为空值</a:t>
            </a:r>
            <a:r>
              <a:rPr kumimoji="1" lang="en-US" altLang="zh-CN" dirty="0">
                <a:solidFill>
                  <a:srgbClr val="002060"/>
                </a:solidFill>
              </a:rPr>
              <a:t>(</a:t>
            </a:r>
            <a:r>
              <a:rPr lang="en-US" altLang="zh-CN" dirty="0">
                <a:solidFill>
                  <a:srgbClr val="002060"/>
                </a:solidFill>
              </a:rPr>
              <a:t>NULL</a:t>
            </a:r>
            <a:r>
              <a:rPr kumimoji="1" lang="en-US" altLang="zh-CN" dirty="0">
                <a:solidFill>
                  <a:srgbClr val="002060"/>
                </a:solidFill>
              </a:rPr>
              <a:t>).</a:t>
            </a:r>
            <a:endParaRPr kumimoji="1"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ChangeArrowheads="1"/>
          </p:cNvSpPr>
          <p:nvPr/>
        </p:nvSpPr>
        <p:spPr bwMode="auto">
          <a:xfrm>
            <a:off x="323850" y="260648"/>
            <a:ext cx="5219700" cy="3463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66616" tIns="165048" bIns="165048" anchor="ctr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</a:rPr>
              <a:t>2. </a:t>
            </a:r>
            <a:r>
              <a:rPr lang="zh-CN" altLang="en-US" sz="2800" b="1" dirty="0">
                <a:solidFill>
                  <a:srgbClr val="000066"/>
                </a:solidFill>
              </a:rPr>
              <a:t>基本表结构的修改</a:t>
            </a:r>
          </a:p>
          <a:p>
            <a:endParaRPr lang="zh-CN" altLang="en-US" sz="2800" b="1" dirty="0">
              <a:solidFill>
                <a:srgbClr val="660033"/>
              </a:solidFill>
              <a:sym typeface="Symbol" pitchFamily="18" charset="2"/>
            </a:endParaRPr>
          </a:p>
          <a:p>
            <a:r>
              <a:rPr lang="zh-CN" altLang="en-US" sz="2800" b="1" dirty="0">
                <a:solidFill>
                  <a:srgbClr val="660033"/>
                </a:solidFill>
                <a:sym typeface="Symbol" pitchFamily="18" charset="2"/>
              </a:rPr>
              <a:t>  </a:t>
            </a:r>
            <a:r>
              <a:rPr lang="zh-CN" altLang="en-US" sz="2800" b="1" dirty="0">
                <a:solidFill>
                  <a:srgbClr val="660033"/>
                </a:solidFill>
              </a:rPr>
              <a:t>删除原有的属性：</a:t>
            </a:r>
          </a:p>
          <a:p>
            <a:pPr>
              <a:lnSpc>
                <a:spcPct val="110000"/>
              </a:lnSpc>
            </a:pPr>
            <a:endParaRPr lang="zh-CN" altLang="en-US" sz="2800" b="1" dirty="0">
              <a:solidFill>
                <a:srgbClr val="660033"/>
              </a:solidFill>
            </a:endParaRPr>
          </a:p>
          <a:p>
            <a:pPr>
              <a:lnSpc>
                <a:spcPct val="110000"/>
              </a:lnSpc>
            </a:pPr>
            <a:endParaRPr lang="zh-CN" altLang="en-US" sz="2800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endParaRPr lang="zh-CN" altLang="en-US" sz="2800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826374" name="Rectangle 6"/>
          <p:cNvSpPr>
            <a:spLocks noChangeArrowheads="1"/>
          </p:cNvSpPr>
          <p:nvPr/>
        </p:nvSpPr>
        <p:spPr bwMode="auto">
          <a:xfrm>
            <a:off x="328786" y="2232818"/>
            <a:ext cx="8893175" cy="239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000066"/>
                </a:solidFill>
              </a:rPr>
              <a:t>ALTER TABLE </a:t>
            </a:r>
            <a:r>
              <a:rPr lang="zh-CN" altLang="en-US" sz="2400" b="1" dirty="0">
                <a:solidFill>
                  <a:srgbClr val="000066"/>
                </a:solidFill>
              </a:rPr>
              <a:t>基本表名 </a:t>
            </a:r>
            <a:r>
              <a:rPr lang="en-US" altLang="zh-CN" sz="2400" b="1" dirty="0">
                <a:solidFill>
                  <a:srgbClr val="000066"/>
                </a:solidFill>
              </a:rPr>
              <a:t>DROP </a:t>
            </a:r>
            <a:r>
              <a:rPr lang="zh-CN" altLang="en-US" sz="2400" b="1" dirty="0">
                <a:solidFill>
                  <a:srgbClr val="000066"/>
                </a:solidFill>
              </a:rPr>
              <a:t>属性名 </a:t>
            </a:r>
            <a:r>
              <a:rPr lang="en-US" altLang="zh-CN" sz="2400" b="1" dirty="0">
                <a:solidFill>
                  <a:srgbClr val="000066"/>
                </a:solidFill>
              </a:rPr>
              <a:t>[CASCADE|RESTRICT]</a:t>
            </a:r>
          </a:p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例</a:t>
            </a:r>
            <a:r>
              <a:rPr lang="en-US" altLang="zh-CN" sz="2400" b="1" dirty="0">
                <a:solidFill>
                  <a:schemeClr val="bg2"/>
                </a:solidFill>
              </a:rPr>
              <a:t>:</a:t>
            </a:r>
            <a:r>
              <a:rPr lang="zh-CN" altLang="en-US" sz="2400" b="1" dirty="0">
                <a:solidFill>
                  <a:schemeClr val="bg2"/>
                </a:solidFill>
              </a:rPr>
              <a:t>在表</a:t>
            </a:r>
            <a:r>
              <a:rPr lang="en-US" altLang="zh-CN" sz="2400" b="1" dirty="0">
                <a:solidFill>
                  <a:schemeClr val="bg2"/>
                </a:solidFill>
              </a:rPr>
              <a:t>S</a:t>
            </a:r>
            <a:r>
              <a:rPr lang="zh-CN" altLang="en-US" sz="2400" b="1" dirty="0">
                <a:solidFill>
                  <a:schemeClr val="bg2"/>
                </a:solidFill>
              </a:rPr>
              <a:t>中删除电话号码（</a:t>
            </a:r>
            <a:r>
              <a:rPr lang="en-US" altLang="zh-CN" sz="2400" b="1" dirty="0">
                <a:solidFill>
                  <a:schemeClr val="bg2"/>
                </a:solidFill>
              </a:rPr>
              <a:t>TELE</a:t>
            </a:r>
            <a:r>
              <a:rPr lang="zh-CN" altLang="en-US" sz="2400" b="1" dirty="0">
                <a:solidFill>
                  <a:schemeClr val="bg2"/>
                </a:solidFill>
              </a:rPr>
              <a:t>）属性，并且</a:t>
            </a:r>
            <a:r>
              <a:rPr lang="zh-CN" altLang="en-US" sz="2400" b="1" dirty="0">
                <a:solidFill>
                  <a:srgbClr val="FF0000"/>
                </a:solidFill>
              </a:rPr>
              <a:t>将引用该属性的</a:t>
            </a:r>
          </a:p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rgbClr val="FF0000"/>
                </a:solidFill>
              </a:rPr>
              <a:t>   所有视图和约束也一起删除</a:t>
            </a:r>
            <a:r>
              <a:rPr lang="zh-CN" altLang="en-US" sz="2400" b="1" dirty="0">
                <a:solidFill>
                  <a:schemeClr val="bg2"/>
                </a:solidFill>
              </a:rPr>
              <a:t>，可用下列语句：</a:t>
            </a:r>
          </a:p>
          <a:p>
            <a:pPr indent="266700">
              <a:lnSpc>
                <a:spcPct val="12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    </a:t>
            </a:r>
            <a:r>
              <a:rPr lang="en-US" altLang="zh-CN" sz="2400" b="1" dirty="0">
                <a:solidFill>
                  <a:schemeClr val="bg2"/>
                </a:solidFill>
              </a:rPr>
              <a:t>ALTER TABLE </a:t>
            </a:r>
            <a:r>
              <a:rPr lang="en-US" altLang="zh-CN" sz="2400" b="1" dirty="0">
                <a:solidFill>
                  <a:schemeClr val="bg1"/>
                </a:solidFill>
              </a:rPr>
              <a:t>S </a:t>
            </a:r>
            <a:r>
              <a:rPr lang="en-US" altLang="zh-CN" sz="2400" b="1" dirty="0">
                <a:solidFill>
                  <a:schemeClr val="bg2"/>
                </a:solidFill>
              </a:rPr>
              <a:t>DROP </a:t>
            </a:r>
            <a:r>
              <a:rPr lang="en-US" altLang="zh-CN" sz="2400" b="1" dirty="0">
                <a:solidFill>
                  <a:schemeClr val="bg1"/>
                </a:solidFill>
              </a:rPr>
              <a:t>TELE CASCADE</a:t>
            </a:r>
            <a:r>
              <a:rPr lang="en-US" altLang="zh-CN" sz="2400" b="1" dirty="0">
                <a:solidFill>
                  <a:schemeClr val="bg2"/>
                </a:solidFill>
              </a:rPr>
              <a:t>;</a:t>
            </a:r>
            <a:r>
              <a:rPr lang="zh-CN" altLang="en-US" sz="24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738729-FBA5-8849-ADE7-27E1CC5472AC}"/>
              </a:ext>
            </a:extLst>
          </p:cNvPr>
          <p:cNvSpPr/>
          <p:nvPr/>
        </p:nvSpPr>
        <p:spPr bwMode="auto">
          <a:xfrm>
            <a:off x="159996" y="2276872"/>
            <a:ext cx="8824008" cy="50405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8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37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828E3-80AB-DD47-96AA-A5EDF4C6D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13" y="512763"/>
            <a:ext cx="8675687" cy="2089150"/>
          </a:xfrm>
        </p:spPr>
        <p:txBody>
          <a:bodyPr/>
          <a:lstStyle/>
          <a:p>
            <a:pPr marL="0" indent="0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 </a:t>
            </a:r>
            <a:r>
              <a:rPr lang="zh-CN" altLang="en-US" sz="2800" b="1" dirty="0">
                <a:solidFill>
                  <a:srgbClr val="660033"/>
                </a:solidFill>
                <a:latin typeface="宋体" panose="02010600030101010101" pitchFamily="2" charset="-122"/>
              </a:rPr>
              <a:t>删除指定的完整性约束条件，其句法如下：</a:t>
            </a:r>
          </a:p>
          <a:p>
            <a:pPr marL="0" indent="0" algn="ctr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BF"/>
                </a:solidFill>
                <a:latin typeface="宋体" panose="02010600030101010101" pitchFamily="2" charset="-122"/>
              </a:rPr>
              <a:t>ALTER TABLE </a:t>
            </a:r>
            <a:r>
              <a:rPr lang="zh-CN" altLang="en-US" sz="2800" b="1" dirty="0">
                <a:solidFill>
                  <a:srgbClr val="0000BF"/>
                </a:solidFill>
                <a:latin typeface="宋体" panose="02010600030101010101" pitchFamily="2" charset="-122"/>
              </a:rPr>
              <a:t>基本表名 </a:t>
            </a:r>
            <a:r>
              <a:rPr lang="en-US" altLang="zh-CN" sz="2800" b="1" dirty="0">
                <a:solidFill>
                  <a:srgbClr val="0000BF"/>
                </a:solidFill>
                <a:latin typeface="宋体" panose="02010600030101010101" pitchFamily="2" charset="-122"/>
              </a:rPr>
              <a:t>DROP </a:t>
            </a:r>
            <a:r>
              <a:rPr lang="zh-CN" altLang="en-US" sz="2800" b="1" dirty="0">
                <a:solidFill>
                  <a:srgbClr val="0000BF"/>
                </a:solidFill>
                <a:latin typeface="宋体" panose="02010600030101010101" pitchFamily="2" charset="-122"/>
              </a:rPr>
              <a:t>约束名；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B92ABD-6F19-6946-AAF0-6166041BA79F}"/>
              </a:ext>
            </a:extLst>
          </p:cNvPr>
          <p:cNvSpPr txBox="1"/>
          <p:nvPr/>
        </p:nvSpPr>
        <p:spPr>
          <a:xfrm>
            <a:off x="466725" y="2601913"/>
            <a:ext cx="8424863" cy="14382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chemeClr val="bg2"/>
                </a:solidFill>
              </a:rPr>
              <a:t>例</a:t>
            </a:r>
            <a:r>
              <a:rPr lang="en-US" altLang="zh-CN" sz="2400" b="1" dirty="0">
                <a:solidFill>
                  <a:schemeClr val="bg2"/>
                </a:solidFill>
              </a:rPr>
              <a:t>: </a:t>
            </a:r>
            <a:r>
              <a:rPr lang="zh-CN" altLang="en-US" sz="2400" b="1" dirty="0">
                <a:solidFill>
                  <a:schemeClr val="bg2"/>
                </a:solidFill>
              </a:rPr>
              <a:t>在基本表</a:t>
            </a:r>
            <a:r>
              <a:rPr lang="en-US" altLang="zh-CN" sz="2400" b="1" dirty="0">
                <a:solidFill>
                  <a:schemeClr val="bg2"/>
                </a:solidFill>
              </a:rPr>
              <a:t>SC</a:t>
            </a:r>
            <a:r>
              <a:rPr lang="zh-CN" altLang="en-US" sz="2400" b="1" dirty="0">
                <a:solidFill>
                  <a:schemeClr val="bg2"/>
                </a:solidFill>
              </a:rPr>
              <a:t>中删除对属性</a:t>
            </a:r>
            <a:r>
              <a:rPr lang="en-US" altLang="zh-CN" sz="2400" b="1" dirty="0">
                <a:solidFill>
                  <a:schemeClr val="bg2"/>
                </a:solidFill>
              </a:rPr>
              <a:t>GRADE</a:t>
            </a:r>
            <a:r>
              <a:rPr lang="zh-CN" altLang="en-US" sz="2400" b="1" dirty="0">
                <a:solidFill>
                  <a:schemeClr val="bg2"/>
                </a:solidFill>
              </a:rPr>
              <a:t>的约束，可用下列语句：</a:t>
            </a:r>
          </a:p>
          <a:p>
            <a:pPr>
              <a:lnSpc>
                <a:spcPct val="20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       ALTER TABLE SC DROP SC_GRADE;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79DC15-2E0C-8A41-BAEF-E5CCED429546}"/>
              </a:ext>
            </a:extLst>
          </p:cNvPr>
          <p:cNvSpPr txBox="1"/>
          <p:nvPr/>
        </p:nvSpPr>
        <p:spPr>
          <a:xfrm>
            <a:off x="341313" y="4292600"/>
            <a:ext cx="8388350" cy="1951496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chemeClr val="bg2"/>
                </a:solidFill>
              </a:rPr>
              <a:t>另外，可以用下列语句增加（即恢复）对属性</a:t>
            </a:r>
            <a:r>
              <a:rPr lang="en-US" altLang="zh-CN" sz="2400" b="1" dirty="0">
                <a:solidFill>
                  <a:schemeClr val="bg2"/>
                </a:solidFill>
              </a:rPr>
              <a:t>GRADE</a:t>
            </a:r>
            <a:r>
              <a:rPr lang="zh-CN" altLang="en-US" sz="2400" b="1" dirty="0">
                <a:solidFill>
                  <a:schemeClr val="bg2"/>
                </a:solidFill>
              </a:rPr>
              <a:t>的约束：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660033"/>
                </a:solidFill>
              </a:rPr>
              <a:t>ALTER TABLE SPJ </a:t>
            </a:r>
            <a:r>
              <a:rPr lang="en-US" altLang="zh-CN" sz="2000" b="1" dirty="0">
                <a:solidFill>
                  <a:srgbClr val="FF0000"/>
                </a:solidFill>
              </a:rPr>
              <a:t>ADD CONSTRAINT </a:t>
            </a:r>
            <a:r>
              <a:rPr lang="en-US" altLang="zh-CN" sz="2000" b="1" dirty="0">
                <a:solidFill>
                  <a:srgbClr val="660033"/>
                </a:solidFill>
              </a:rPr>
              <a:t>SC_GRADE</a:t>
            </a:r>
          </a:p>
          <a:p>
            <a:pPr>
              <a:lnSpc>
                <a:spcPct val="200000"/>
              </a:lnSpc>
            </a:pPr>
            <a:r>
              <a:rPr lang="en-US" altLang="zh-CN" sz="2000" b="1" dirty="0">
                <a:solidFill>
                  <a:srgbClr val="660033"/>
                </a:solidFill>
              </a:rPr>
              <a:t>                        CHECK(GRADE </a:t>
            </a:r>
            <a:r>
              <a:rPr lang="en-US" altLang="zh-CN" sz="2000" b="1" dirty="0">
                <a:solidFill>
                  <a:srgbClr val="FF0000"/>
                </a:solidFill>
              </a:rPr>
              <a:t>BETWEEN</a:t>
            </a:r>
            <a:r>
              <a:rPr lang="en-US" altLang="zh-CN" sz="2000" b="1" dirty="0">
                <a:solidFill>
                  <a:srgbClr val="660033"/>
                </a:solidFill>
              </a:rPr>
              <a:t> 0 </a:t>
            </a:r>
            <a:r>
              <a:rPr lang="en-US" altLang="zh-CN" sz="2000" b="1" dirty="0">
                <a:solidFill>
                  <a:srgbClr val="FF0000"/>
                </a:solidFill>
              </a:rPr>
              <a:t>AND </a:t>
            </a:r>
            <a:r>
              <a:rPr lang="en-US" altLang="zh-CN" sz="2000" b="1" dirty="0">
                <a:solidFill>
                  <a:srgbClr val="660033"/>
                </a:solidFill>
              </a:rPr>
              <a:t>100);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8FEE7CB-390F-D342-9DC0-9C9633070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" y="48355"/>
            <a:ext cx="5219700" cy="3033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266616" tIns="165048" bIns="165048" anchor="ctr">
            <a:spAutoFit/>
          </a:bodyPr>
          <a:lstStyle/>
          <a:p>
            <a:r>
              <a:rPr lang="en-US" altLang="zh-CN" sz="2800" b="1" dirty="0">
                <a:solidFill>
                  <a:srgbClr val="000066"/>
                </a:solidFill>
              </a:rPr>
              <a:t>2. </a:t>
            </a:r>
            <a:r>
              <a:rPr lang="zh-CN" altLang="en-US" sz="2800" b="1" dirty="0">
                <a:solidFill>
                  <a:srgbClr val="000066"/>
                </a:solidFill>
              </a:rPr>
              <a:t>基本表结构的修改</a:t>
            </a:r>
          </a:p>
          <a:p>
            <a:endParaRPr lang="zh-CN" altLang="en-US" sz="2800" b="1" dirty="0">
              <a:solidFill>
                <a:srgbClr val="660033"/>
              </a:solidFill>
              <a:sym typeface="Symbol" pitchFamily="18" charset="2"/>
            </a:endParaRPr>
          </a:p>
          <a:p>
            <a:pPr>
              <a:lnSpc>
                <a:spcPct val="110000"/>
              </a:lnSpc>
            </a:pPr>
            <a:endParaRPr lang="zh-CN" altLang="en-US" sz="2800" b="1" dirty="0">
              <a:solidFill>
                <a:srgbClr val="660033"/>
              </a:solidFill>
            </a:endParaRPr>
          </a:p>
          <a:p>
            <a:pPr>
              <a:lnSpc>
                <a:spcPct val="110000"/>
              </a:lnSpc>
            </a:pPr>
            <a:endParaRPr lang="zh-CN" altLang="en-US" sz="2800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endParaRPr lang="zh-CN" altLang="en-US" sz="2800" b="1" dirty="0">
              <a:solidFill>
                <a:schemeClr val="bg2"/>
              </a:solidFill>
            </a:endParaRPr>
          </a:p>
          <a:p>
            <a:pPr>
              <a:lnSpc>
                <a:spcPct val="110000"/>
              </a:lnSpc>
            </a:pPr>
            <a:endParaRPr lang="en-US" altLang="zh-C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CE92EF-1A4C-EA4D-8B19-24D1C6444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875" y="620713"/>
            <a:ext cx="8350250" cy="547211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b="1">
                <a:solidFill>
                  <a:srgbClr val="0000BF"/>
                </a:solidFill>
                <a:latin typeface="宋体" panose="02010600030101010101" pitchFamily="2" charset="-122"/>
              </a:rPr>
              <a:t>3. </a:t>
            </a:r>
            <a:r>
              <a:rPr lang="zh-CN" altLang="en-US" b="1">
                <a:solidFill>
                  <a:srgbClr val="0000BF"/>
                </a:solidFill>
                <a:latin typeface="宋体" panose="02010600030101010101" pitchFamily="2" charset="-122"/>
              </a:rPr>
              <a:t>删除基本表</a:t>
            </a:r>
          </a:p>
          <a:p>
            <a:pPr marL="0" indent="0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  删除基本表可以用“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DROP TABLE”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语句删除基本表。其句法如下：</a:t>
            </a:r>
          </a:p>
          <a:p>
            <a:pPr marL="0" indent="0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400" b="1">
                <a:solidFill>
                  <a:srgbClr val="0000BF"/>
                </a:solidFill>
                <a:latin typeface="宋体" panose="02010600030101010101" pitchFamily="2" charset="-122"/>
              </a:rPr>
              <a:t>DROP TABLE </a:t>
            </a:r>
            <a:r>
              <a:rPr lang="zh-CN" altLang="en-US" sz="2400" b="1">
                <a:solidFill>
                  <a:srgbClr val="0000BF"/>
                </a:solidFill>
                <a:latin typeface="宋体" panose="02010600030101010101" pitchFamily="2" charset="-122"/>
              </a:rPr>
              <a:t>基本表</a:t>
            </a:r>
            <a:r>
              <a:rPr lang="en-US" altLang="zh-CN" sz="2400" b="1">
                <a:solidFill>
                  <a:srgbClr val="0000BF"/>
                </a:solidFill>
                <a:latin typeface="宋体" panose="02010600030101010101" pitchFamily="2" charset="-122"/>
              </a:rPr>
              <a:t>[CASCADE|RESTRICT]</a:t>
            </a:r>
          </a:p>
          <a:p>
            <a:pPr marL="0" indent="0">
              <a:lnSpc>
                <a:spcPct val="200000"/>
              </a:lnSpc>
              <a:buFont typeface="Wingdings" pitchFamily="2" charset="2"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此处的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CASCADE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RESTRICT</a:t>
            </a:r>
            <a:r>
              <a:rPr lang="zh-CN" altLang="en-US" sz="2400" b="1">
                <a:solidFill>
                  <a:srgbClr val="000000"/>
                </a:solidFill>
                <a:latin typeface="宋体" panose="02010600030101010101" pitchFamily="2" charset="-122"/>
              </a:rPr>
              <a:t>的语义同前面句法中的语义一样。   </a:t>
            </a:r>
            <a:endParaRPr lang="en-US" altLang="zh-CN" sz="2400" b="1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在一个基本表删除后，其所有数据也就丢失了，使用时要谨慎。</a:t>
            </a:r>
            <a:endParaRPr lang="zh-CN" altLang="en-US" sz="2400">
              <a:latin typeface="宋体" panose="02010600030101010101" pitchFamily="2" charset="-122"/>
            </a:endParaRPr>
          </a:p>
          <a:p>
            <a:pPr marL="0" indent="0"/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CFBCD0-3CE9-3C41-8E24-FA4877A0407F}"/>
              </a:ext>
            </a:extLst>
          </p:cNvPr>
          <p:cNvSpPr txBox="1"/>
          <p:nvPr/>
        </p:nvSpPr>
        <p:spPr>
          <a:xfrm>
            <a:off x="1940511" y="2420888"/>
            <a:ext cx="526298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solidFill>
                  <a:srgbClr val="0070C0"/>
                </a:solidFill>
              </a:rPr>
              <a:t>100</a:t>
            </a:r>
            <a:r>
              <a:rPr kumimoji="1" lang="zh-CN" altLang="en-US" sz="3600" dirty="0">
                <a:solidFill>
                  <a:srgbClr val="0070C0"/>
                </a:solidFill>
              </a:rPr>
              <a:t>道</a:t>
            </a:r>
            <a:r>
              <a:rPr kumimoji="1" lang="en-US" altLang="zh-CN" sz="3600" dirty="0">
                <a:solidFill>
                  <a:srgbClr val="0070C0"/>
                </a:solidFill>
              </a:rPr>
              <a:t>SQL</a:t>
            </a:r>
            <a:r>
              <a:rPr kumimoji="1" lang="zh-CN" altLang="en-US" sz="3600" dirty="0">
                <a:solidFill>
                  <a:srgbClr val="0070C0"/>
                </a:solidFill>
              </a:rPr>
              <a:t>面试题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设计与开发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（</a:t>
            </a:r>
            <a:r>
              <a:rPr lang="en-US" altLang="zh-CN" sz="3600" dirty="0">
                <a:solidFill>
                  <a:srgbClr val="0070C0"/>
                </a:solidFill>
              </a:rPr>
              <a:t>66</a:t>
            </a:r>
            <a:r>
              <a:rPr lang="zh-CN" altLang="en-US" sz="3600" dirty="0">
                <a:solidFill>
                  <a:srgbClr val="0070C0"/>
                </a:solidFill>
              </a:rPr>
              <a:t>，</a:t>
            </a:r>
            <a:r>
              <a:rPr lang="en-US" altLang="zh-CN" sz="3600" dirty="0">
                <a:solidFill>
                  <a:srgbClr val="0070C0"/>
                </a:solidFill>
              </a:rPr>
              <a:t>70-78</a:t>
            </a:r>
            <a:r>
              <a:rPr lang="zh-CN" altLang="en-US" sz="3600" dirty="0">
                <a:solidFill>
                  <a:srgbClr val="0070C0"/>
                </a:solidFill>
              </a:rPr>
              <a:t>，</a:t>
            </a:r>
            <a:r>
              <a:rPr lang="en-US" altLang="zh-CN" sz="3600" dirty="0">
                <a:solidFill>
                  <a:srgbClr val="0070C0"/>
                </a:solidFill>
              </a:rPr>
              <a:t>82-86</a:t>
            </a:r>
            <a:r>
              <a:rPr lang="zh-CN" altLang="en-US" sz="3600" dirty="0">
                <a:solidFill>
                  <a:srgbClr val="0070C0"/>
                </a:solidFill>
              </a:rPr>
              <a:t>题）</a:t>
            </a:r>
            <a:endParaRPr kumimoji="1" lang="zh-CN" altLang="en-US" sz="3600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DD45D-439E-DC4A-93F7-3E7E4F67B71B}"/>
              </a:ext>
            </a:extLst>
          </p:cNvPr>
          <p:cNvSpPr txBox="1"/>
          <p:nvPr/>
        </p:nvSpPr>
        <p:spPr>
          <a:xfrm>
            <a:off x="827584" y="980728"/>
            <a:ext cx="3198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rgbClr val="002060"/>
                </a:solidFill>
              </a:rPr>
              <a:t>SQL</a:t>
            </a:r>
            <a:r>
              <a:rPr kumimoji="1" lang="zh-CN" altLang="en-US" sz="3600" b="1" dirty="0">
                <a:solidFill>
                  <a:srgbClr val="002060"/>
                </a:solidFill>
              </a:rPr>
              <a:t>设计与开发</a:t>
            </a:r>
          </a:p>
        </p:txBody>
      </p:sp>
    </p:spTree>
    <p:extLst>
      <p:ext uri="{BB962C8B-B14F-4D97-AF65-F5344CB8AC3E}">
        <p14:creationId xmlns:p14="http://schemas.microsoft.com/office/powerpoint/2010/main" val="34481139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主要内容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31988" y="908720"/>
            <a:ext cx="5465762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0" hangingPunct="0">
              <a:spcBef>
                <a:spcPts val="1000"/>
              </a:spcBef>
              <a:buBlip>
                <a:blip r:embed="rId2"/>
              </a:buBlip>
            </a:pP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</a:rPr>
              <a:t>4.1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</a:rPr>
              <a:t>概述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</a:rPr>
              <a:t>4.2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</a:rPr>
              <a:t>的数据定义</a:t>
            </a:r>
            <a:endParaRPr lang="en-US" altLang="zh-CN" sz="24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altLang="zh-CN" sz="2400" b="1" dirty="0">
                <a:solidFill>
                  <a:schemeClr val="bg1"/>
                </a:solidFill>
              </a:rPr>
              <a:t>4.3</a:t>
            </a: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SQL</a:t>
            </a:r>
            <a:r>
              <a:rPr lang="zh-CN" altLang="en-US" sz="2400" b="1" dirty="0">
                <a:solidFill>
                  <a:schemeClr val="bg1"/>
                </a:solidFill>
              </a:rPr>
              <a:t>的数据查询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en-US" altLang="zh-CN" sz="2000" b="1" dirty="0">
                <a:solidFill>
                  <a:schemeClr val="bg1"/>
                </a:solidFill>
              </a:rPr>
              <a:t>SELECT</a:t>
            </a:r>
            <a:r>
              <a:rPr lang="zh-CN" altLang="en-US" sz="2000" b="1" dirty="0">
                <a:solidFill>
                  <a:schemeClr val="bg1"/>
                </a:solidFill>
              </a:rPr>
              <a:t>语句的来历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en-US" altLang="zh-CN" sz="2000" b="1" dirty="0">
                <a:solidFill>
                  <a:schemeClr val="bg1"/>
                </a:solidFill>
              </a:rPr>
              <a:t>SELECT</a:t>
            </a:r>
            <a:r>
              <a:rPr lang="zh-CN" altLang="en-US" sz="2000" b="1" dirty="0">
                <a:solidFill>
                  <a:schemeClr val="bg1"/>
                </a:solidFill>
              </a:rPr>
              <a:t>语句的格式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单表查询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多表查询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连接操作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聚合函数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数据分组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914400" lvl="1" indent="-457200" algn="just" eaLnBrk="0" hangingPunct="0">
              <a:spcBef>
                <a:spcPts val="1000"/>
              </a:spcBef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chemeClr val="bg1"/>
                </a:solidFill>
              </a:rPr>
              <a:t>集合操作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Blip>
                <a:blip r:embed="rId2"/>
              </a:buBlip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4.4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的数据更新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spcBef>
                <a:spcPts val="1000"/>
              </a:spcBef>
              <a:buBlip>
                <a:blip r:embed="rId2"/>
              </a:buBlip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4.5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 嵌入式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SQL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6A76782-076B-DC47-84F6-C0374F0B9D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6" t="20973" r="54062" b="13716"/>
          <a:stretch/>
        </p:blipFill>
        <p:spPr>
          <a:xfrm>
            <a:off x="1835696" y="1916832"/>
            <a:ext cx="577970" cy="5504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F013FD-91E2-B246-87D6-03BFBFD5AD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6" t="20973" r="54062" b="13716"/>
          <a:stretch/>
        </p:blipFill>
        <p:spPr>
          <a:xfrm>
            <a:off x="1234591" y="1916832"/>
            <a:ext cx="577970" cy="5504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EE735B2-303E-0D43-8E04-374AA32A8E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6" t="20973" r="54062" b="13716"/>
          <a:stretch/>
        </p:blipFill>
        <p:spPr>
          <a:xfrm>
            <a:off x="596908" y="1916832"/>
            <a:ext cx="577970" cy="550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83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ChangeArrowheads="1"/>
          </p:cNvSpPr>
          <p:nvPr/>
        </p:nvSpPr>
        <p:spPr bwMode="auto">
          <a:xfrm>
            <a:off x="0" y="66675"/>
            <a:ext cx="9144000" cy="167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        §3    </a:t>
            </a: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的数据查询</a:t>
            </a: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的数据查询</a:t>
            </a: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(SELECT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语句</a:t>
            </a: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)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是</a:t>
            </a:r>
            <a:r>
              <a:rPr lang="en-US" altLang="zh-CN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的核心内容。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34925" y="-26988"/>
            <a:ext cx="9144000" cy="1196976"/>
            <a:chOff x="0" y="288"/>
            <a:chExt cx="5760" cy="864"/>
          </a:xfrm>
        </p:grpSpPr>
        <p:sp>
          <p:nvSpPr>
            <p:cNvPr id="26629" name="Rectangle 4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26630" name="Rectangle 5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26631" name="Rectangle 6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26632" name="Rectangle 7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26633" name="Rectangle 8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26634" name="Rectangle 9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9226" name="Rectangle 10"/>
          <p:cNvSpPr>
            <a:spLocks noChangeArrowheads="1"/>
          </p:cNvSpPr>
          <p:nvPr/>
        </p:nvSpPr>
        <p:spPr bwMode="auto">
          <a:xfrm>
            <a:off x="396875" y="1793875"/>
            <a:ext cx="9144000" cy="4875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</a:rPr>
              <a:t>．</a:t>
            </a:r>
            <a:r>
              <a:rPr lang="en-US" altLang="zh-CN" sz="2400" b="1" dirty="0">
                <a:solidFill>
                  <a:schemeClr val="bg1"/>
                </a:solidFill>
              </a:rPr>
              <a:t>SELECT</a:t>
            </a:r>
            <a:r>
              <a:rPr lang="zh-CN" altLang="en-US" sz="2400" b="1" dirty="0">
                <a:solidFill>
                  <a:schemeClr val="bg1"/>
                </a:solidFill>
              </a:rPr>
              <a:t>语句的来历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  在关系代数中最常用的式子是下列表达式：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    </a:t>
            </a:r>
            <a:r>
              <a:rPr lang="en-US" altLang="zh-CN" sz="2400" b="1" dirty="0">
                <a:solidFill>
                  <a:schemeClr val="bg2"/>
                </a:solidFill>
              </a:rPr>
              <a:t>πA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</a:rPr>
              <a:t>,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en-US" altLang="zh-CN" sz="2400" b="1" dirty="0">
                <a:solidFill>
                  <a:schemeClr val="bg2"/>
                </a:solidFill>
              </a:rPr>
              <a:t>,A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n</a:t>
            </a:r>
            <a:r>
              <a:rPr lang="en-US" altLang="zh-CN" sz="2400" b="1" dirty="0">
                <a:solidFill>
                  <a:schemeClr val="bg2"/>
                </a:solidFill>
              </a:rPr>
              <a:t>(</a:t>
            </a:r>
            <a:r>
              <a:rPr lang="en-US" altLang="zh-CN" sz="2400" b="1" dirty="0" err="1">
                <a:solidFill>
                  <a:schemeClr val="bg2"/>
                </a:solidFill>
              </a:rPr>
              <a:t>σ</a:t>
            </a:r>
            <a:r>
              <a:rPr lang="en-US" altLang="zh-CN" sz="2400" b="1" baseline="-25000" dirty="0" err="1">
                <a:solidFill>
                  <a:schemeClr val="bg2"/>
                </a:solidFill>
              </a:rPr>
              <a:t>F</a:t>
            </a:r>
            <a:r>
              <a:rPr lang="en-US" altLang="zh-CN" sz="2400" b="1" dirty="0">
                <a:solidFill>
                  <a:schemeClr val="bg2"/>
                </a:solidFill>
              </a:rPr>
              <a:t>(R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</a:rPr>
              <a:t>×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en-US" altLang="zh-CN" sz="2400" b="1" dirty="0">
                <a:solidFill>
                  <a:schemeClr val="bg2"/>
                </a:solidFill>
              </a:rPr>
              <a:t>×R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m</a:t>
            </a:r>
            <a:r>
              <a:rPr lang="en-US" altLang="zh-CN" sz="2400" b="1" dirty="0">
                <a:solidFill>
                  <a:schemeClr val="bg2"/>
                </a:solidFill>
              </a:rPr>
              <a:t>))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</a:t>
            </a:r>
            <a:r>
              <a:rPr lang="zh-CN" altLang="en-US" sz="2400" b="1" dirty="0">
                <a:solidFill>
                  <a:schemeClr val="bg2"/>
                </a:solidFill>
              </a:rPr>
              <a:t>这里</a:t>
            </a:r>
            <a:r>
              <a:rPr lang="en-US" altLang="zh-CN" sz="2400" b="1" dirty="0">
                <a:solidFill>
                  <a:schemeClr val="bg2"/>
                </a:solidFill>
              </a:rPr>
              <a:t>R1</a:t>
            </a:r>
            <a:r>
              <a:rPr lang="zh-CN" altLang="en-US" sz="2400" b="1" dirty="0">
                <a:solidFill>
                  <a:schemeClr val="bg2"/>
                </a:solidFill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zh-CN" altLang="en-US" sz="2400" b="1" dirty="0">
                <a:solidFill>
                  <a:schemeClr val="bg2"/>
                </a:solidFill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</a:rPr>
              <a:t>Rm</a:t>
            </a:r>
            <a:r>
              <a:rPr lang="zh-CN" altLang="en-US" sz="2400" b="1" dirty="0">
                <a:solidFill>
                  <a:schemeClr val="bg2"/>
                </a:solidFill>
              </a:rPr>
              <a:t>为关系，</a:t>
            </a:r>
            <a:r>
              <a:rPr lang="en-US" altLang="zh-CN" sz="2400" b="1" dirty="0">
                <a:solidFill>
                  <a:schemeClr val="bg2"/>
                </a:solidFill>
              </a:rPr>
              <a:t>F</a:t>
            </a:r>
            <a:r>
              <a:rPr lang="zh-CN" altLang="en-US" sz="2400" b="1" dirty="0">
                <a:solidFill>
                  <a:schemeClr val="bg2"/>
                </a:solidFill>
              </a:rPr>
              <a:t>是公式，</a:t>
            </a:r>
            <a:r>
              <a:rPr lang="en-US" altLang="zh-CN" sz="2400" b="1" dirty="0">
                <a:solidFill>
                  <a:schemeClr val="bg2"/>
                </a:solidFill>
              </a:rPr>
              <a:t>A1</a:t>
            </a:r>
            <a:r>
              <a:rPr lang="zh-CN" altLang="en-US" sz="2400" b="1" dirty="0">
                <a:solidFill>
                  <a:schemeClr val="bg2"/>
                </a:solidFill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zh-CN" altLang="en-US" sz="2400" b="1" dirty="0">
                <a:solidFill>
                  <a:schemeClr val="bg2"/>
                </a:solidFill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</a:rPr>
              <a:t>An</a:t>
            </a:r>
            <a:r>
              <a:rPr lang="zh-CN" altLang="en-US" sz="2400" b="1" dirty="0">
                <a:solidFill>
                  <a:schemeClr val="bg2"/>
                </a:solidFill>
              </a:rPr>
              <a:t>为属性。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  为此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设计成 </a:t>
            </a:r>
            <a:r>
              <a:rPr lang="en-US" altLang="zh-CN" sz="2400" b="1" dirty="0">
                <a:solidFill>
                  <a:schemeClr val="bg2"/>
                </a:solidFill>
              </a:rPr>
              <a:t>SELECT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–</a:t>
            </a:r>
            <a:r>
              <a:rPr lang="en-US" altLang="zh-CN" sz="2400" b="1" dirty="0">
                <a:solidFill>
                  <a:schemeClr val="bg2"/>
                </a:solidFill>
              </a:rPr>
              <a:t> FROM - WHERE</a:t>
            </a:r>
            <a:r>
              <a:rPr lang="zh-CN" altLang="en-US" sz="2400" b="1" dirty="0">
                <a:solidFill>
                  <a:schemeClr val="bg2"/>
                </a:solidFill>
              </a:rPr>
              <a:t>句型：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			</a:t>
            </a:r>
            <a:r>
              <a:rPr lang="en-US" altLang="zh-CN" sz="2400" b="1" dirty="0">
                <a:solidFill>
                  <a:srgbClr val="FF0000"/>
                </a:solidFill>
              </a:rPr>
              <a:t>SELECT </a:t>
            </a:r>
            <a:r>
              <a:rPr lang="en-US" altLang="zh-CN" sz="2400" b="1" dirty="0">
                <a:solidFill>
                  <a:schemeClr val="bg2"/>
                </a:solidFill>
              </a:rPr>
              <a:t> A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A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n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			</a:t>
            </a:r>
            <a:r>
              <a:rPr lang="en-US" altLang="zh-CN" sz="2400" b="1" dirty="0">
                <a:solidFill>
                  <a:srgbClr val="FF0000"/>
                </a:solidFill>
              </a:rPr>
              <a:t>FROM</a:t>
            </a:r>
            <a:r>
              <a:rPr lang="en-US" altLang="zh-CN" sz="2400" b="1" dirty="0">
                <a:solidFill>
                  <a:schemeClr val="bg2"/>
                </a:solidFill>
              </a:rPr>
              <a:t>    R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R</a:t>
            </a:r>
            <a:r>
              <a:rPr lang="en-US" altLang="zh-CN" sz="2400" b="1" baseline="-25000" dirty="0">
                <a:solidFill>
                  <a:schemeClr val="bg2"/>
                </a:solidFill>
              </a:rPr>
              <a:t>m</a:t>
            </a:r>
          </a:p>
          <a:p>
            <a:pPr algn="just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			</a:t>
            </a:r>
            <a:r>
              <a:rPr lang="en-US" altLang="zh-CN" sz="2400" b="1" dirty="0">
                <a:solidFill>
                  <a:srgbClr val="FF0000"/>
                </a:solidFill>
              </a:rPr>
              <a:t>WHERE</a:t>
            </a:r>
            <a:r>
              <a:rPr lang="en-US" altLang="zh-CN" sz="2400" b="1" dirty="0">
                <a:solidFill>
                  <a:schemeClr val="bg2"/>
                </a:solidFill>
              </a:rPr>
              <a:t>   F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24455A6-ED66-8441-9408-13FACAF7741A}"/>
              </a:ext>
            </a:extLst>
          </p:cNvPr>
          <p:cNvSpPr/>
          <p:nvPr/>
        </p:nvSpPr>
        <p:spPr bwMode="auto">
          <a:xfrm>
            <a:off x="2843808" y="4941168"/>
            <a:ext cx="3312368" cy="1754326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chemeClr val="tx1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533400"/>
            <a:ext cx="9144000" cy="5244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000066"/>
                </a:solidFill>
              </a:rPr>
              <a:t>  2. SELECT</a:t>
            </a:r>
            <a:r>
              <a:rPr lang="zh-CN" altLang="en-US" sz="3200" b="1" dirty="0">
                <a:solidFill>
                  <a:srgbClr val="000066"/>
                </a:solidFill>
              </a:rPr>
              <a:t>语句格式：</a:t>
            </a:r>
          </a:p>
          <a:p>
            <a:pPr algn="just" eaLnBrk="0" hangingPunct="0">
              <a:lnSpc>
                <a:spcPct val="150000"/>
              </a:lnSpc>
              <a:spcBef>
                <a:spcPts val="2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</a:t>
            </a:r>
            <a:r>
              <a:rPr lang="zh-CN" altLang="en-US" sz="2400" b="1" dirty="0">
                <a:solidFill>
                  <a:srgbClr val="660033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SELECT</a:t>
            </a:r>
            <a:r>
              <a:rPr lang="en-US" altLang="zh-CN" sz="2800" b="1" dirty="0">
                <a:solidFill>
                  <a:schemeClr val="bg2"/>
                </a:solidFill>
              </a:rPr>
              <a:t>  [DISTINCT]  </a:t>
            </a:r>
            <a:r>
              <a:rPr lang="zh-CN" altLang="en-US" sz="2800" b="1" dirty="0">
                <a:solidFill>
                  <a:schemeClr val="bg2"/>
                </a:solidFill>
              </a:rPr>
              <a:t>目标表的列名或列表达式序列</a:t>
            </a:r>
          </a:p>
          <a:p>
            <a:pPr algn="just" eaLnBrk="0" hangingPunct="0">
              <a:lnSpc>
                <a:spcPct val="150000"/>
              </a:lnSpc>
              <a:spcBef>
                <a:spcPts val="2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rgbClr val="660033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FROM</a:t>
            </a:r>
            <a:r>
              <a:rPr lang="en-US" altLang="zh-CN" sz="2800" b="1" dirty="0">
                <a:solidFill>
                  <a:srgbClr val="660033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</a:rPr>
              <a:t>基本表名</a:t>
            </a:r>
            <a:r>
              <a:rPr lang="en-US" altLang="zh-CN" sz="2800" b="1" dirty="0">
                <a:solidFill>
                  <a:schemeClr val="bg2"/>
                </a:solidFill>
              </a:rPr>
              <a:t>(</a:t>
            </a:r>
            <a:r>
              <a:rPr lang="zh-CN" altLang="en-US" sz="2800" b="1" dirty="0">
                <a:solidFill>
                  <a:schemeClr val="bg2"/>
                </a:solidFill>
              </a:rPr>
              <a:t>或</a:t>
            </a:r>
            <a:r>
              <a:rPr lang="en-US" altLang="zh-CN" sz="2800" b="1" dirty="0">
                <a:solidFill>
                  <a:schemeClr val="bg2"/>
                </a:solidFill>
              </a:rPr>
              <a:t>)</a:t>
            </a:r>
            <a:r>
              <a:rPr lang="zh-CN" altLang="en-US" sz="2800" b="1" dirty="0">
                <a:solidFill>
                  <a:schemeClr val="bg1"/>
                </a:solidFill>
              </a:rPr>
              <a:t>视图名序列</a:t>
            </a:r>
            <a:r>
              <a:rPr lang="en-US" altLang="zh-CN" sz="2800" b="1" dirty="0">
                <a:solidFill>
                  <a:schemeClr val="bg2"/>
                </a:solidFill>
              </a:rPr>
              <a:t>|</a:t>
            </a:r>
            <a:r>
              <a:rPr lang="zh-CN" altLang="en-US" sz="2800" b="1" dirty="0">
                <a:solidFill>
                  <a:srgbClr val="000066"/>
                </a:solidFill>
              </a:rPr>
              <a:t>表引用</a:t>
            </a:r>
          </a:p>
          <a:p>
            <a:pPr algn="just" eaLnBrk="0" hangingPunct="0">
              <a:lnSpc>
                <a:spcPct val="150000"/>
              </a:lnSpc>
              <a:spcBef>
                <a:spcPts val="2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</a:rPr>
              <a:t>[</a:t>
            </a:r>
            <a:r>
              <a:rPr lang="en-US" altLang="zh-CN" sz="2800" b="1" dirty="0">
                <a:solidFill>
                  <a:srgbClr val="FF0000"/>
                </a:solidFill>
              </a:rPr>
              <a:t>WHERE</a:t>
            </a:r>
            <a:r>
              <a:rPr lang="en-US" altLang="zh-CN" sz="2800" b="1" dirty="0">
                <a:solidFill>
                  <a:srgbClr val="660033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行条件表达式］</a:t>
            </a:r>
          </a:p>
          <a:p>
            <a:pPr algn="just" eaLnBrk="0" hangingPunct="0">
              <a:lnSpc>
                <a:spcPct val="150000"/>
              </a:lnSpc>
              <a:spcBef>
                <a:spcPts val="2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</a:rPr>
              <a:t>[</a:t>
            </a:r>
            <a:r>
              <a:rPr lang="en-US" altLang="zh-CN" sz="2800" b="1" dirty="0">
                <a:solidFill>
                  <a:srgbClr val="FF0000"/>
                </a:solidFill>
              </a:rPr>
              <a:t>GROUP</a:t>
            </a:r>
            <a:r>
              <a:rPr lang="en-US" altLang="zh-CN" sz="2800" b="1" dirty="0">
                <a:solidFill>
                  <a:srgbClr val="660033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BY</a:t>
            </a: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列名</a:t>
            </a:r>
            <a:r>
              <a:rPr lang="en-US" altLang="zh-CN" sz="2800" b="1" dirty="0">
                <a:solidFill>
                  <a:schemeClr val="bg2"/>
                </a:solidFill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</a:rPr>
              <a:t>序列 </a:t>
            </a:r>
            <a:r>
              <a:rPr lang="en-US" altLang="zh-CN" sz="2800" b="1" dirty="0">
                <a:solidFill>
                  <a:schemeClr val="bg2"/>
                </a:solidFill>
              </a:rPr>
              <a:t>[</a:t>
            </a:r>
            <a:r>
              <a:rPr lang="en-US" altLang="zh-CN" sz="2800" b="1" dirty="0">
                <a:solidFill>
                  <a:srgbClr val="FF0000"/>
                </a:solidFill>
              </a:rPr>
              <a:t>HAVING</a:t>
            </a:r>
            <a:r>
              <a:rPr lang="en-US" altLang="zh-CN" sz="2800" b="1" dirty="0">
                <a:solidFill>
                  <a:srgbClr val="660033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</a:rPr>
              <a:t>组条件表达式］］</a:t>
            </a:r>
          </a:p>
          <a:p>
            <a:pPr algn="just" eaLnBrk="0" hangingPunct="0">
              <a:lnSpc>
                <a:spcPct val="150000"/>
              </a:lnSpc>
              <a:spcBef>
                <a:spcPts val="2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</a:rPr>
              <a:t>[</a:t>
            </a:r>
            <a:r>
              <a:rPr lang="en-US" altLang="zh-CN" sz="2800" b="1" dirty="0">
                <a:solidFill>
                  <a:srgbClr val="FF0000"/>
                </a:solidFill>
              </a:rPr>
              <a:t>ORDER</a:t>
            </a:r>
            <a:r>
              <a:rPr lang="en-US" altLang="zh-CN" sz="2800" b="1" dirty="0">
                <a:solidFill>
                  <a:srgbClr val="660033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BY</a:t>
            </a: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列名</a:t>
            </a:r>
            <a:r>
              <a:rPr lang="en-US" altLang="zh-CN" sz="2800" b="1" dirty="0">
                <a:solidFill>
                  <a:schemeClr val="bg2"/>
                </a:solidFill>
              </a:rPr>
              <a:t>2 [ASC|DESC</a:t>
            </a:r>
            <a:r>
              <a:rPr lang="zh-CN" altLang="en-US" sz="2800" b="1" dirty="0">
                <a:solidFill>
                  <a:schemeClr val="bg2"/>
                </a:solidFill>
              </a:rPr>
              <a:t>］序列］；</a:t>
            </a:r>
          </a:p>
        </p:txBody>
      </p:sp>
      <p:sp>
        <p:nvSpPr>
          <p:cNvPr id="3" name="矩形标注 2">
            <a:extLst>
              <a:ext uri="{FF2B5EF4-FFF2-40B4-BE49-F238E27FC236}">
                <a16:creationId xmlns:a16="http://schemas.microsoft.com/office/drawing/2014/main" id="{5DC99F3C-BF77-DD40-8C77-0AFA194C09E1}"/>
              </a:ext>
            </a:extLst>
          </p:cNvPr>
          <p:cNvSpPr/>
          <p:nvPr/>
        </p:nvSpPr>
        <p:spPr bwMode="auto">
          <a:xfrm>
            <a:off x="1115616" y="3007446"/>
            <a:ext cx="2016224" cy="437043"/>
          </a:xfrm>
          <a:prstGeom prst="wedgeRectCallout">
            <a:avLst>
              <a:gd name="adj1" fmla="val -29918"/>
              <a:gd name="adj2" fmla="val 60363"/>
            </a:avLst>
          </a:prstGeom>
          <a:noFill/>
          <a:ln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solidFill>
                  <a:srgbClr val="00B050"/>
                </a:solidFill>
              </a:rPr>
              <a:t>行条件子句</a:t>
            </a: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标注 5">
            <a:extLst>
              <a:ext uri="{FF2B5EF4-FFF2-40B4-BE49-F238E27FC236}">
                <a16:creationId xmlns:a16="http://schemas.microsoft.com/office/drawing/2014/main" id="{E1B65DD3-0649-7347-A511-5E3DE0F2AE45}"/>
              </a:ext>
            </a:extLst>
          </p:cNvPr>
          <p:cNvSpPr/>
          <p:nvPr/>
        </p:nvSpPr>
        <p:spPr bwMode="auto">
          <a:xfrm>
            <a:off x="1115616" y="3942005"/>
            <a:ext cx="2016224" cy="437043"/>
          </a:xfrm>
          <a:prstGeom prst="wedgeRectCallout">
            <a:avLst>
              <a:gd name="adj1" fmla="val -30605"/>
              <a:gd name="adj2" fmla="val 63533"/>
            </a:avLst>
          </a:prstGeom>
          <a:noFill/>
          <a:ln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b="1" dirty="0">
                <a:solidFill>
                  <a:srgbClr val="00B050"/>
                </a:solidFill>
              </a:rPr>
              <a:t>分组子句</a:t>
            </a: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标注 6">
            <a:extLst>
              <a:ext uri="{FF2B5EF4-FFF2-40B4-BE49-F238E27FC236}">
                <a16:creationId xmlns:a16="http://schemas.microsoft.com/office/drawing/2014/main" id="{6BB28A86-23B9-0142-9355-ABA0465C9202}"/>
              </a:ext>
            </a:extLst>
          </p:cNvPr>
          <p:cNvSpPr/>
          <p:nvPr/>
        </p:nvSpPr>
        <p:spPr bwMode="auto">
          <a:xfrm>
            <a:off x="4644008" y="3942004"/>
            <a:ext cx="2016224" cy="437043"/>
          </a:xfrm>
          <a:prstGeom prst="wedgeRectCallout">
            <a:avLst>
              <a:gd name="adj1" fmla="val -30605"/>
              <a:gd name="adj2" fmla="val 63533"/>
            </a:avLst>
          </a:prstGeom>
          <a:noFill/>
          <a:ln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B050"/>
                </a:solidFill>
              </a:rPr>
              <a:t>组条件子句</a:t>
            </a: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矩形标注 7">
            <a:extLst>
              <a:ext uri="{FF2B5EF4-FFF2-40B4-BE49-F238E27FC236}">
                <a16:creationId xmlns:a16="http://schemas.microsoft.com/office/drawing/2014/main" id="{A7553AF5-10A7-E043-83C4-B2B422A0A676}"/>
              </a:ext>
            </a:extLst>
          </p:cNvPr>
          <p:cNvSpPr/>
          <p:nvPr/>
        </p:nvSpPr>
        <p:spPr bwMode="auto">
          <a:xfrm>
            <a:off x="1115616" y="4859734"/>
            <a:ext cx="2016224" cy="437043"/>
          </a:xfrm>
          <a:prstGeom prst="wedgeRectCallout">
            <a:avLst>
              <a:gd name="adj1" fmla="val -30605"/>
              <a:gd name="adj2" fmla="val 63533"/>
            </a:avLst>
          </a:prstGeom>
          <a:noFill/>
          <a:ln>
            <a:solidFill>
              <a:srgbClr val="00B05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B050"/>
                </a:solidFill>
              </a:rPr>
              <a:t>排序子句</a:t>
            </a:r>
            <a:endParaRPr kumimoji="1" lang="zh-CN" altLang="en-US" sz="2800" b="0" i="0" u="none" strike="noStrike" cap="none" normalizeH="0" baseline="0" dirty="0">
              <a:ln>
                <a:noFill/>
              </a:ln>
              <a:solidFill>
                <a:srgbClr val="00B050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304800" y="392113"/>
            <a:ext cx="97536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1"/>
                </a:solidFill>
              </a:rPr>
              <a:t> </a:t>
            </a:r>
            <a:r>
              <a:rPr lang="zh-CN" altLang="en-US" sz="2800" b="1">
                <a:solidFill>
                  <a:srgbClr val="000066"/>
                </a:solidFill>
              </a:rPr>
              <a:t>整个语句的执行过程如下：</a:t>
            </a:r>
            <a:r>
              <a:rPr lang="zh-CN" altLang="en-US" sz="2400">
                <a:solidFill>
                  <a:schemeClr val="bg2"/>
                </a:solidFill>
              </a:rPr>
              <a:t>	</a:t>
            </a:r>
          </a:p>
        </p:txBody>
      </p:sp>
      <p:sp>
        <p:nvSpPr>
          <p:cNvPr id="652291" name="Rectangle 3"/>
          <p:cNvSpPr>
            <a:spLocks noChangeArrowheads="1"/>
          </p:cNvSpPr>
          <p:nvPr/>
        </p:nvSpPr>
        <p:spPr bwMode="auto">
          <a:xfrm>
            <a:off x="314523" y="2119828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（</a:t>
            </a:r>
            <a:r>
              <a:rPr lang="en-US" altLang="zh-CN" sz="2400" b="1" dirty="0">
                <a:solidFill>
                  <a:srgbClr val="660033"/>
                </a:solidFill>
              </a:rPr>
              <a:t>2</a:t>
            </a:r>
            <a:r>
              <a:rPr lang="zh-CN" altLang="en-US" sz="2400" b="1" dirty="0">
                <a:solidFill>
                  <a:srgbClr val="660033"/>
                </a:solidFill>
              </a:rPr>
              <a:t>）选取满足</a:t>
            </a:r>
            <a:r>
              <a:rPr lang="en-US" altLang="zh-CN" sz="2400" b="1" dirty="0">
                <a:solidFill>
                  <a:srgbClr val="660033"/>
                </a:solidFill>
              </a:rPr>
              <a:t>WHERE</a:t>
            </a:r>
            <a:r>
              <a:rPr lang="zh-CN" altLang="en-US" sz="2400" b="1" dirty="0">
                <a:solidFill>
                  <a:srgbClr val="660033"/>
                </a:solidFill>
              </a:rPr>
              <a:t>子句中给出的条件表达式的元组。</a:t>
            </a:r>
            <a:endParaRPr lang="en-US" altLang="zh-CN" sz="2400" b="1" dirty="0">
              <a:solidFill>
                <a:srgbClr val="660033"/>
              </a:solidFill>
            </a:endParaRPr>
          </a:p>
          <a:p>
            <a:pPr algn="just" eaLnBrk="0" hangingPunct="0">
              <a:spcBef>
                <a:spcPts val="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r>
              <a:rPr lang="en-US" altLang="zh-CN" sz="2000" b="1" dirty="0">
                <a:solidFill>
                  <a:schemeClr val="bg2"/>
                </a:solidFill>
              </a:rPr>
              <a:t>[</a:t>
            </a:r>
            <a:r>
              <a:rPr lang="en-US" altLang="zh-CN" sz="2000" b="1" dirty="0">
                <a:solidFill>
                  <a:srgbClr val="FF0000"/>
                </a:solidFill>
              </a:rPr>
              <a:t>WHERE</a:t>
            </a:r>
            <a:r>
              <a:rPr lang="en-US" altLang="zh-CN" sz="2000" b="1" dirty="0">
                <a:solidFill>
                  <a:srgbClr val="660033"/>
                </a:solidFill>
              </a:rPr>
              <a:t>  </a:t>
            </a:r>
            <a:r>
              <a:rPr lang="zh-CN" altLang="en-US" sz="2000" b="1" dirty="0">
                <a:solidFill>
                  <a:schemeClr val="bg2"/>
                </a:solidFill>
              </a:rPr>
              <a:t>行条件表达式］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652292" name="Rectangle 4"/>
          <p:cNvSpPr>
            <a:spLocks noChangeArrowheads="1"/>
          </p:cNvSpPr>
          <p:nvPr/>
        </p:nvSpPr>
        <p:spPr bwMode="auto">
          <a:xfrm>
            <a:off x="314523" y="3032308"/>
            <a:ext cx="873169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spcBef>
                <a:spcPts val="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</a:rPr>
              <a:t>）按</a:t>
            </a:r>
            <a:r>
              <a:rPr lang="en-US" altLang="zh-CN" sz="2400" b="1" dirty="0">
                <a:solidFill>
                  <a:schemeClr val="bg2"/>
                </a:solidFill>
              </a:rPr>
              <a:t>GROUP</a:t>
            </a:r>
            <a:r>
              <a:rPr lang="zh-CN" altLang="en-US" sz="2400" b="1" dirty="0">
                <a:solidFill>
                  <a:schemeClr val="bg2"/>
                </a:solidFill>
              </a:rPr>
              <a:t>子句中指定列的值分组，同时提取满足</a:t>
            </a:r>
            <a:r>
              <a:rPr lang="en-US" altLang="zh-CN" sz="2400" b="1" dirty="0">
                <a:solidFill>
                  <a:schemeClr val="bg2"/>
                </a:solidFill>
              </a:rPr>
              <a:t>HAVING</a:t>
            </a:r>
            <a:r>
              <a:rPr lang="zh-CN" altLang="en-US" sz="2400" b="1" dirty="0">
                <a:solidFill>
                  <a:schemeClr val="bg2"/>
                </a:solidFill>
              </a:rPr>
              <a:t>子句中组条件表达式的那些组。</a:t>
            </a: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</a:p>
          <a:p>
            <a:pPr algn="just" eaLnBrk="0" hangingPunct="0">
              <a:spcBef>
                <a:spcPts val="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</a:t>
            </a:r>
            <a:r>
              <a:rPr lang="en-US" altLang="zh-CN" sz="2000" b="1" dirty="0">
                <a:solidFill>
                  <a:schemeClr val="bg2"/>
                </a:solidFill>
              </a:rPr>
              <a:t>[</a:t>
            </a:r>
            <a:r>
              <a:rPr lang="en-US" altLang="zh-CN" sz="2000" b="1" dirty="0">
                <a:solidFill>
                  <a:srgbClr val="FF0000"/>
                </a:solidFill>
              </a:rPr>
              <a:t>GROUP</a:t>
            </a:r>
            <a:r>
              <a:rPr lang="en-US" altLang="zh-CN" sz="2000" b="1" dirty="0">
                <a:solidFill>
                  <a:srgbClr val="660033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BY</a:t>
            </a:r>
            <a:r>
              <a:rPr lang="en-US" altLang="zh-CN" sz="2000" b="1" dirty="0">
                <a:solidFill>
                  <a:schemeClr val="bg2"/>
                </a:solidFill>
              </a:rPr>
              <a:t>  </a:t>
            </a:r>
            <a:r>
              <a:rPr lang="zh-CN" altLang="en-US" sz="2000" b="1" dirty="0">
                <a:solidFill>
                  <a:schemeClr val="bg2"/>
                </a:solidFill>
              </a:rPr>
              <a:t>列名</a:t>
            </a:r>
            <a:r>
              <a:rPr lang="en-US" altLang="zh-CN" sz="2000" b="1" dirty="0">
                <a:solidFill>
                  <a:schemeClr val="bg2"/>
                </a:solidFill>
              </a:rPr>
              <a:t>1</a:t>
            </a:r>
            <a:r>
              <a:rPr lang="zh-CN" altLang="en-US" sz="2000" b="1" dirty="0">
                <a:solidFill>
                  <a:schemeClr val="bg2"/>
                </a:solidFill>
              </a:rPr>
              <a:t>序列 </a:t>
            </a:r>
            <a:r>
              <a:rPr lang="en-US" altLang="zh-CN" sz="2000" b="1" dirty="0">
                <a:solidFill>
                  <a:schemeClr val="bg2"/>
                </a:solidFill>
              </a:rPr>
              <a:t>[</a:t>
            </a:r>
            <a:r>
              <a:rPr lang="en-US" altLang="zh-CN" sz="2000" b="1" dirty="0">
                <a:solidFill>
                  <a:srgbClr val="FF0000"/>
                </a:solidFill>
              </a:rPr>
              <a:t>HAVING</a:t>
            </a:r>
            <a:r>
              <a:rPr lang="en-US" altLang="zh-CN" sz="2000" b="1" dirty="0">
                <a:solidFill>
                  <a:srgbClr val="660033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chemeClr val="bg2"/>
                </a:solidFill>
              </a:rPr>
              <a:t>组条件表达式］］</a:t>
            </a:r>
          </a:p>
        </p:txBody>
      </p:sp>
      <p:sp>
        <p:nvSpPr>
          <p:cNvPr id="652293" name="Rectangle 5"/>
          <p:cNvSpPr>
            <a:spLocks noChangeArrowheads="1"/>
          </p:cNvSpPr>
          <p:nvPr/>
        </p:nvSpPr>
        <p:spPr bwMode="auto">
          <a:xfrm>
            <a:off x="328712" y="4498786"/>
            <a:ext cx="9144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（</a:t>
            </a:r>
            <a:r>
              <a:rPr lang="en-US" altLang="zh-CN" sz="2400" b="1" dirty="0">
                <a:solidFill>
                  <a:srgbClr val="660033"/>
                </a:solidFill>
              </a:rPr>
              <a:t>4</a:t>
            </a:r>
            <a:r>
              <a:rPr lang="zh-CN" altLang="en-US" sz="2400" b="1" dirty="0">
                <a:solidFill>
                  <a:srgbClr val="660033"/>
                </a:solidFill>
              </a:rPr>
              <a:t>）按</a:t>
            </a:r>
            <a:r>
              <a:rPr lang="en-US" altLang="zh-CN" sz="2400" b="1" dirty="0">
                <a:solidFill>
                  <a:srgbClr val="660033"/>
                </a:solidFill>
              </a:rPr>
              <a:t>SELECT</a:t>
            </a:r>
            <a:r>
              <a:rPr lang="zh-CN" altLang="en-US" sz="2400" b="1" dirty="0">
                <a:solidFill>
                  <a:srgbClr val="660033"/>
                </a:solidFill>
              </a:rPr>
              <a:t>子句中给出的列名或列表达式求值输出。</a:t>
            </a:r>
            <a:endParaRPr lang="en-US" altLang="zh-CN" sz="2400" b="1" dirty="0">
              <a:solidFill>
                <a:srgbClr val="660033"/>
              </a:solidFill>
            </a:endParaRPr>
          </a:p>
          <a:p>
            <a:pPr algn="just" eaLnBrk="0" hangingPunct="0">
              <a:spcBef>
                <a:spcPts val="0"/>
              </a:spcBef>
            </a:pPr>
            <a:r>
              <a:rPr lang="zh-CN" altLang="en-US" sz="2000" b="1" dirty="0">
                <a:solidFill>
                  <a:srgbClr val="FF0000"/>
                </a:solidFill>
              </a:rPr>
              <a:t>   </a:t>
            </a:r>
            <a:r>
              <a:rPr lang="en-US" altLang="zh-CN" sz="2000" b="1" dirty="0">
                <a:solidFill>
                  <a:srgbClr val="FF0000"/>
                </a:solidFill>
              </a:rPr>
              <a:t>SELECT</a:t>
            </a:r>
            <a:r>
              <a:rPr lang="en-US" altLang="zh-CN" sz="2000" b="1" dirty="0">
                <a:solidFill>
                  <a:schemeClr val="bg2"/>
                </a:solidFill>
              </a:rPr>
              <a:t>  [DISTINCT]  </a:t>
            </a:r>
            <a:r>
              <a:rPr lang="zh-CN" altLang="en-US" sz="2000" b="1" dirty="0">
                <a:solidFill>
                  <a:schemeClr val="bg2"/>
                </a:solidFill>
              </a:rPr>
              <a:t>目标表的列名或列表达式序列</a:t>
            </a:r>
          </a:p>
        </p:txBody>
      </p:sp>
      <p:sp>
        <p:nvSpPr>
          <p:cNvPr id="652294" name="Rectangle 6"/>
          <p:cNvSpPr>
            <a:spLocks noChangeArrowheads="1"/>
          </p:cNvSpPr>
          <p:nvPr/>
        </p:nvSpPr>
        <p:spPr bwMode="auto">
          <a:xfrm>
            <a:off x="328712" y="5373216"/>
            <a:ext cx="8731696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latinLnBrk="1">
              <a:spcBef>
                <a:spcPts val="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</a:rPr>
              <a:t>5</a:t>
            </a:r>
            <a:r>
              <a:rPr lang="zh-CN" altLang="en-US" sz="2400" b="1" dirty="0">
                <a:solidFill>
                  <a:schemeClr val="bg2"/>
                </a:solidFill>
              </a:rPr>
              <a:t>）</a:t>
            </a:r>
            <a:r>
              <a:rPr lang="en-US" altLang="zh-CN" sz="2400" b="1" dirty="0">
                <a:solidFill>
                  <a:schemeClr val="bg2"/>
                </a:solidFill>
              </a:rPr>
              <a:t>ORDER</a:t>
            </a:r>
            <a:r>
              <a:rPr lang="zh-CN" altLang="en-US" sz="2400" b="1" dirty="0">
                <a:solidFill>
                  <a:schemeClr val="bg2"/>
                </a:solidFill>
              </a:rPr>
              <a:t>子句对输出的目标表进行排序</a:t>
            </a:r>
            <a:r>
              <a:rPr lang="en-US" altLang="zh-CN" sz="2400" b="1" dirty="0">
                <a:solidFill>
                  <a:schemeClr val="bg2"/>
                </a:solidFill>
              </a:rPr>
              <a:t>,</a:t>
            </a:r>
            <a:r>
              <a:rPr lang="zh-CN" altLang="en-US" sz="2400" b="1" dirty="0">
                <a:solidFill>
                  <a:schemeClr val="bg2"/>
                </a:solidFill>
              </a:rPr>
              <a:t>按附加说明</a:t>
            </a:r>
            <a:r>
              <a:rPr lang="en-US" altLang="zh-CN" sz="2400" b="1" dirty="0">
                <a:solidFill>
                  <a:schemeClr val="bg2"/>
                </a:solidFill>
              </a:rPr>
              <a:t>ASC</a:t>
            </a:r>
            <a:r>
              <a:rPr lang="zh-CN" altLang="en-US" sz="2400" b="1" dirty="0">
                <a:solidFill>
                  <a:schemeClr val="bg2"/>
                </a:solidFill>
              </a:rPr>
              <a:t>升序排列，或按</a:t>
            </a:r>
            <a:r>
              <a:rPr lang="en-US" altLang="zh-CN" sz="2400" b="1" dirty="0">
                <a:solidFill>
                  <a:schemeClr val="bg2"/>
                </a:solidFill>
              </a:rPr>
              <a:t>DESC</a:t>
            </a:r>
            <a:r>
              <a:rPr lang="zh-CN" altLang="en-US" sz="2400" b="1" dirty="0">
                <a:solidFill>
                  <a:schemeClr val="bg2"/>
                </a:solidFill>
              </a:rPr>
              <a:t>降序排列。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algn="just" latinLnBrk="1">
              <a:spcBef>
                <a:spcPts val="0"/>
              </a:spcBef>
            </a:pPr>
            <a:r>
              <a:rPr lang="zh-CN" altLang="en-US" sz="2000" b="1" dirty="0">
                <a:solidFill>
                  <a:schemeClr val="bg2"/>
                </a:solidFill>
              </a:rPr>
              <a:t>   </a:t>
            </a:r>
            <a:r>
              <a:rPr lang="en-US" altLang="zh-CN" sz="2000" b="1" dirty="0">
                <a:solidFill>
                  <a:schemeClr val="bg2"/>
                </a:solidFill>
              </a:rPr>
              <a:t>[</a:t>
            </a:r>
            <a:r>
              <a:rPr lang="en-US" altLang="zh-CN" sz="2000" b="1" dirty="0">
                <a:solidFill>
                  <a:srgbClr val="FF0000"/>
                </a:solidFill>
              </a:rPr>
              <a:t>ORDER</a:t>
            </a:r>
            <a:r>
              <a:rPr lang="en-US" altLang="zh-CN" sz="2000" b="1" dirty="0">
                <a:solidFill>
                  <a:srgbClr val="660033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BY</a:t>
            </a:r>
            <a:r>
              <a:rPr lang="en-US" altLang="zh-CN" sz="2000" b="1" dirty="0">
                <a:solidFill>
                  <a:schemeClr val="bg2"/>
                </a:solidFill>
              </a:rPr>
              <a:t>  </a:t>
            </a:r>
            <a:r>
              <a:rPr lang="zh-CN" altLang="en-US" sz="2000" b="1" dirty="0">
                <a:solidFill>
                  <a:schemeClr val="bg2"/>
                </a:solidFill>
              </a:rPr>
              <a:t>列名</a:t>
            </a:r>
            <a:r>
              <a:rPr lang="en-US" altLang="zh-CN" sz="2000" b="1" dirty="0">
                <a:solidFill>
                  <a:schemeClr val="bg2"/>
                </a:solidFill>
              </a:rPr>
              <a:t>2 [ASC|DESC</a:t>
            </a:r>
            <a:r>
              <a:rPr lang="zh-CN" altLang="en-US" sz="2000" b="1" dirty="0">
                <a:solidFill>
                  <a:schemeClr val="bg2"/>
                </a:solidFill>
              </a:rPr>
              <a:t>］序列］</a:t>
            </a:r>
          </a:p>
        </p:txBody>
      </p:sp>
      <p:sp>
        <p:nvSpPr>
          <p:cNvPr id="28679" name="Rectangle 7"/>
          <p:cNvSpPr>
            <a:spLocks noChangeArrowheads="1"/>
          </p:cNvSpPr>
          <p:nvPr/>
        </p:nvSpPr>
        <p:spPr bwMode="auto">
          <a:xfrm>
            <a:off x="294556" y="1350159"/>
            <a:ext cx="87947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（</a:t>
            </a: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）读取</a:t>
            </a:r>
            <a:r>
              <a:rPr lang="en-US" altLang="zh-CN" sz="2400" b="1" dirty="0">
                <a:solidFill>
                  <a:schemeClr val="bg2"/>
                </a:solidFill>
              </a:rPr>
              <a:t>FROM</a:t>
            </a:r>
            <a:r>
              <a:rPr lang="zh-CN" altLang="en-US" sz="2400" b="1" dirty="0">
                <a:solidFill>
                  <a:schemeClr val="bg2"/>
                </a:solidFill>
              </a:rPr>
              <a:t>子句中基本表、视图的数据，执行笛卡尔积操作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C1382B8-81CC-E84F-BE2D-018D1A80E1C1}"/>
              </a:ext>
            </a:extLst>
          </p:cNvPr>
          <p:cNvSpPr txBox="1"/>
          <p:nvPr/>
        </p:nvSpPr>
        <p:spPr>
          <a:xfrm>
            <a:off x="827584" y="1734334"/>
            <a:ext cx="51006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FROM</a:t>
            </a:r>
            <a:r>
              <a:rPr lang="en-US" altLang="zh-CN" sz="2000" b="1" dirty="0">
                <a:solidFill>
                  <a:srgbClr val="660033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chemeClr val="bg2"/>
                </a:solidFill>
              </a:rPr>
              <a:t>基本表名</a:t>
            </a:r>
            <a:r>
              <a:rPr lang="en-US" altLang="zh-CN" sz="2000" b="1" dirty="0">
                <a:solidFill>
                  <a:schemeClr val="bg2"/>
                </a:solidFill>
              </a:rPr>
              <a:t>(</a:t>
            </a:r>
            <a:r>
              <a:rPr lang="zh-CN" altLang="en-US" sz="2000" b="1" dirty="0">
                <a:solidFill>
                  <a:schemeClr val="bg2"/>
                </a:solidFill>
              </a:rPr>
              <a:t>或</a:t>
            </a:r>
            <a:r>
              <a:rPr lang="en-US" altLang="zh-CN" sz="2000" b="1" dirty="0">
                <a:solidFill>
                  <a:schemeClr val="bg2"/>
                </a:solidFill>
              </a:rPr>
              <a:t>)</a:t>
            </a:r>
            <a:r>
              <a:rPr lang="zh-CN" altLang="en-US" sz="2000" b="1" dirty="0">
                <a:solidFill>
                  <a:schemeClr val="bg1"/>
                </a:solidFill>
              </a:rPr>
              <a:t>视图名序列</a:t>
            </a:r>
            <a:r>
              <a:rPr lang="en-US" altLang="zh-CN" sz="2000" b="1" dirty="0">
                <a:solidFill>
                  <a:schemeClr val="bg2"/>
                </a:solidFill>
              </a:rPr>
              <a:t>|</a:t>
            </a:r>
            <a:r>
              <a:rPr lang="zh-CN" altLang="en-US" sz="2000" b="1" dirty="0">
                <a:solidFill>
                  <a:srgbClr val="000066"/>
                </a:solidFill>
              </a:rPr>
              <a:t>表引用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 autoUpdateAnimBg="0"/>
      <p:bldP spid="652292" grpId="0" autoUpdateAnimBg="0"/>
      <p:bldP spid="652293" grpId="0" autoUpdateAnimBg="0"/>
      <p:bldP spid="652294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7652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66"/>
                </a:solidFill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</a:rPr>
              <a:t>在</a:t>
            </a:r>
            <a:r>
              <a:rPr lang="en-US" altLang="zh-CN" sz="2800" b="1" dirty="0">
                <a:solidFill>
                  <a:srgbClr val="000066"/>
                </a:solidFill>
              </a:rPr>
              <a:t>WHERE</a:t>
            </a:r>
            <a:r>
              <a:rPr lang="zh-CN" altLang="en-US" sz="2800" b="1" dirty="0">
                <a:solidFill>
                  <a:srgbClr val="000066"/>
                </a:solidFill>
              </a:rPr>
              <a:t>子句的行条件表达式中可使用下列运算符：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 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  </a:t>
            </a:r>
            <a:r>
              <a:rPr lang="zh-CN" altLang="en-US" sz="2400" b="1" dirty="0">
                <a:solidFill>
                  <a:srgbClr val="660033"/>
                </a:solidFill>
              </a:rPr>
              <a:t>算术比较运算符：</a:t>
            </a:r>
            <a:r>
              <a:rPr lang="zh-CN" altLang="en-US" sz="2400" b="1" dirty="0">
                <a:solidFill>
                  <a:schemeClr val="bg2"/>
                </a:solidFill>
              </a:rPr>
              <a:t>＜，＜＝，＞，＞＝，＝，＜＞或！＝；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         </a:t>
            </a:r>
            <a:r>
              <a:rPr lang="zh-CN" altLang="en-US" sz="2400" b="1" dirty="0">
                <a:solidFill>
                  <a:srgbClr val="660033"/>
                </a:solidFill>
              </a:rPr>
              <a:t>逻辑运算符</a:t>
            </a:r>
            <a:r>
              <a:rPr lang="zh-CN" altLang="en-US" sz="2400" b="1" dirty="0">
                <a:solidFill>
                  <a:schemeClr val="bg2"/>
                </a:solidFill>
              </a:rPr>
              <a:t>：</a:t>
            </a:r>
            <a:r>
              <a:rPr lang="en-US" altLang="zh-CN" sz="2400" b="1" dirty="0">
                <a:solidFill>
                  <a:schemeClr val="bg2"/>
                </a:solidFill>
              </a:rPr>
              <a:t>AND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OR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NOT</a:t>
            </a:r>
            <a:r>
              <a:rPr lang="zh-CN" altLang="en-US" sz="24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         </a:t>
            </a:r>
            <a:r>
              <a:rPr lang="zh-CN" altLang="en-US" sz="2400" b="1" dirty="0">
                <a:solidFill>
                  <a:srgbClr val="660033"/>
                </a:solidFill>
              </a:rPr>
              <a:t>集合成员资格运算符：</a:t>
            </a:r>
            <a:r>
              <a:rPr lang="en-US" altLang="zh-CN" sz="2400" b="1" dirty="0">
                <a:solidFill>
                  <a:schemeClr val="bg2"/>
                </a:solidFill>
              </a:rPr>
              <a:t>IN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NOT IN</a:t>
            </a:r>
            <a:r>
              <a:rPr lang="zh-CN" altLang="en-US" sz="24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         </a:t>
            </a:r>
            <a:r>
              <a:rPr lang="zh-CN" altLang="en-US" sz="2400" b="1" dirty="0">
                <a:solidFill>
                  <a:srgbClr val="660033"/>
                </a:solidFill>
              </a:rPr>
              <a:t>谓词：</a:t>
            </a:r>
            <a:r>
              <a:rPr lang="en-US" altLang="zh-CN" sz="2400" b="1" dirty="0">
                <a:solidFill>
                  <a:schemeClr val="bg2"/>
                </a:solidFill>
              </a:rPr>
              <a:t>EXISTS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ALL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SOME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UNIQUE</a:t>
            </a:r>
            <a:r>
              <a:rPr lang="zh-CN" altLang="en-US" sz="24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         </a:t>
            </a:r>
            <a:r>
              <a:rPr lang="zh-CN" altLang="en-US" sz="2400" b="1" dirty="0">
                <a:solidFill>
                  <a:srgbClr val="660033"/>
                </a:solidFill>
              </a:rPr>
              <a:t>聚合函数：</a:t>
            </a:r>
            <a:r>
              <a:rPr lang="en-US" altLang="zh-CN" sz="2400" b="1" dirty="0">
                <a:solidFill>
                  <a:schemeClr val="bg2"/>
                </a:solidFill>
              </a:rPr>
              <a:t>AVG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MIN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MAX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SUM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COUNT</a:t>
            </a:r>
            <a:r>
              <a:rPr lang="zh-CN" altLang="en-US" sz="24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          </a:t>
            </a:r>
            <a:r>
              <a:rPr lang="zh-CN" altLang="en-US" sz="2400" b="1" dirty="0">
                <a:solidFill>
                  <a:srgbClr val="660033"/>
                </a:solidFill>
              </a:rPr>
              <a:t>集合运算符：</a:t>
            </a:r>
            <a:r>
              <a:rPr lang="en-US" altLang="zh-CN" sz="2400" b="1" dirty="0">
                <a:solidFill>
                  <a:schemeClr val="bg2"/>
                </a:solidFill>
              </a:rPr>
              <a:t>UNION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INTERSECT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EXCEPT</a:t>
            </a:r>
            <a:r>
              <a:rPr lang="zh-CN" altLang="en-US" sz="2400" b="1" dirty="0">
                <a:solidFill>
                  <a:schemeClr val="bg2"/>
                </a:solidFill>
              </a:rPr>
              <a:t>。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endParaRPr lang="zh-CN" altLang="en-US" sz="2400" b="1" dirty="0">
              <a:solidFill>
                <a:schemeClr val="bg2"/>
              </a:solidFill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</a:t>
            </a:r>
          </a:p>
          <a:p>
            <a:pPr algn="just" eaLnBrk="0" hangingPunct="0">
              <a:lnSpc>
                <a:spcPct val="120000"/>
              </a:lnSpc>
              <a:spcBef>
                <a:spcPct val="50000"/>
              </a:spcBef>
            </a:pPr>
            <a:endParaRPr lang="en-US" altLang="zh-CN" sz="32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ChangeArrowheads="1"/>
          </p:cNvSpPr>
          <p:nvPr/>
        </p:nvSpPr>
        <p:spPr bwMode="auto">
          <a:xfrm>
            <a:off x="468313" y="549275"/>
            <a:ext cx="8294687" cy="539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/>
            </a:pPr>
            <a:r>
              <a:rPr lang="en-US" altLang="zh-CN" sz="3200" b="1" dirty="0">
                <a:solidFill>
                  <a:srgbClr val="000066"/>
                </a:solidFill>
              </a:rPr>
              <a:t>3.</a:t>
            </a:r>
            <a:r>
              <a:rPr lang="zh-CN" altLang="en-US" sz="3200" b="1" dirty="0">
                <a:solidFill>
                  <a:srgbClr val="000066"/>
                </a:solidFill>
              </a:rPr>
              <a:t> 单表查询</a:t>
            </a:r>
          </a:p>
          <a:p>
            <a:pPr marL="342900" indent="-342900" algn="just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    查询仅涉及一个表，是一种最简单的查询操作</a:t>
            </a:r>
            <a:endParaRPr lang="zh-CN" altLang="en-US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742950" lvl="1" indent="-285750" algn="just">
              <a:spcBef>
                <a:spcPct val="20000"/>
              </a:spcBef>
              <a:buClr>
                <a:srgbClr val="660033"/>
              </a:buClr>
              <a:buSzPct val="90000"/>
              <a:buFontTx/>
              <a:buChar char="–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选择表中的若干列</a:t>
            </a:r>
          </a:p>
          <a:p>
            <a:pPr marL="742950" lvl="1" indent="-285750" algn="just">
              <a:spcBef>
                <a:spcPct val="20000"/>
              </a:spcBef>
              <a:buClr>
                <a:srgbClr val="660033"/>
              </a:buClr>
              <a:buSzPct val="90000"/>
              <a:buFontTx/>
              <a:buChar char="–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选择表中的若干元组</a:t>
            </a:r>
          </a:p>
          <a:p>
            <a:pPr marL="742950" lvl="1" indent="-285750" algn="just">
              <a:spcBef>
                <a:spcPct val="20000"/>
              </a:spcBef>
              <a:buClr>
                <a:srgbClr val="660033"/>
              </a:buClr>
              <a:buSzPct val="90000"/>
              <a:buFontTx/>
              <a:buChar char="–"/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对查询结果排序</a:t>
            </a:r>
          </a:p>
          <a:p>
            <a:pPr marL="742950" lvl="1" indent="-285750" algn="just">
              <a:spcBef>
                <a:spcPct val="20000"/>
              </a:spcBef>
              <a:buClr>
                <a:srgbClr val="660033"/>
              </a:buClr>
              <a:buSzPct val="90000"/>
              <a:buFontTx/>
              <a:buChar char="–"/>
              <a:defRPr/>
            </a:pP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Times New Roman" pitchFamily="18" charset="0"/>
              </a:rPr>
              <a:t>使用集函数</a:t>
            </a:r>
          </a:p>
          <a:p>
            <a:pPr marL="742950" lvl="1" indent="-285750">
              <a:spcBef>
                <a:spcPct val="20000"/>
              </a:spcBef>
              <a:buClr>
                <a:srgbClr val="660033"/>
              </a:buClr>
              <a:buSzPct val="90000"/>
              <a:buFontTx/>
              <a:buChar char="–"/>
              <a:defRPr/>
            </a:pP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Times New Roman" pitchFamily="18" charset="0"/>
              </a:rPr>
              <a:t>对查询结果分组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444A322-082C-2C4C-8742-EBA139E4E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88913"/>
            <a:ext cx="8569325" cy="3095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举例：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假设学生数据库中的关系模式如下：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      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      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试用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表达下列每个查询语句。</a:t>
            </a:r>
          </a:p>
        </p:txBody>
      </p:sp>
      <p:cxnSp>
        <p:nvCxnSpPr>
          <p:cNvPr id="36869" name="直接连接符 2">
            <a:extLst>
              <a:ext uri="{FF2B5EF4-FFF2-40B4-BE49-F238E27FC236}">
                <a16:creationId xmlns:a16="http://schemas.microsoft.com/office/drawing/2014/main" id="{6F951E9C-4065-3C4C-8F6F-8A2D1CD675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7313" y="2205038"/>
            <a:ext cx="1512887" cy="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23450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98FC3266-2A88-5D4E-9920-6ABDD9A1D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611768"/>
              </p:ext>
            </p:extLst>
          </p:nvPr>
        </p:nvGraphicFramePr>
        <p:xfrm>
          <a:off x="395536" y="620688"/>
          <a:ext cx="4796250" cy="5933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1796">
                  <a:extLst>
                    <a:ext uri="{9D8B030D-6E8A-4147-A177-3AD203B41FA5}">
                      <a16:colId xmlns:a16="http://schemas.microsoft.com/office/drawing/2014/main" val="3250390251"/>
                    </a:ext>
                  </a:extLst>
                </a:gridCol>
                <a:gridCol w="1108404">
                  <a:extLst>
                    <a:ext uri="{9D8B030D-6E8A-4147-A177-3AD203B41FA5}">
                      <a16:colId xmlns:a16="http://schemas.microsoft.com/office/drawing/2014/main" val="395488026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168470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861137485"/>
                    </a:ext>
                  </a:extLst>
                </a:gridCol>
                <a:gridCol w="1411874">
                  <a:extLst>
                    <a:ext uri="{9D8B030D-6E8A-4147-A177-3AD203B41FA5}">
                      <a16:colId xmlns:a16="http://schemas.microsoft.com/office/drawing/2014/main" val="1193315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AGE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SEX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SDEPT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9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程宏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通信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CIE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3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张飞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通信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82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刘莎莎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通信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7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李刚奇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通信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92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李小刚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通信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24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陈爱国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计算机</a:t>
                      </a:r>
                      <a:r>
                        <a:rPr kumimoji="0" lang="en-US" altLang="zh-C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CS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40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柳庆国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计算机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09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计算机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2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计算机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949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张林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数学系</a:t>
                      </a:r>
                      <a:r>
                        <a:rPr lang="en-US" altLang="zh-CN" dirty="0"/>
                        <a:t>MA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67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吴祥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数学系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676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欧阳望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数学系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1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袁晨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网安</a:t>
                      </a:r>
                      <a:r>
                        <a:rPr kumimoji="1" lang="en-US" altLang="zh-CN" sz="1800" dirty="0">
                          <a:solidFill>
                            <a:schemeClr val="bg2"/>
                          </a:solidFill>
                        </a:rPr>
                        <a:t>CYBER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7921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左志晟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890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王家浩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29743"/>
                  </a:ext>
                </a:extLst>
              </a:tr>
            </a:tbl>
          </a:graphicData>
        </a:graphic>
      </p:graphicFrame>
      <p:graphicFrame>
        <p:nvGraphicFramePr>
          <p:cNvPr id="7" name="表格 2">
            <a:extLst>
              <a:ext uri="{FF2B5EF4-FFF2-40B4-BE49-F238E27FC236}">
                <a16:creationId xmlns:a16="http://schemas.microsoft.com/office/drawing/2014/main" id="{550F44B4-1F4E-3A47-83E7-AC7689107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596782"/>
              </p:ext>
            </p:extLst>
          </p:nvPr>
        </p:nvGraphicFramePr>
        <p:xfrm>
          <a:off x="5270308" y="620688"/>
          <a:ext cx="3873692" cy="20624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05340">
                  <a:extLst>
                    <a:ext uri="{9D8B030D-6E8A-4147-A177-3AD203B41FA5}">
                      <a16:colId xmlns:a16="http://schemas.microsoft.com/office/drawing/2014/main" val="325039025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95488026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6847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861137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CNAME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CDEPT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TNAME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9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离散数学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计算机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汪宏伟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3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高等数学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钱红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82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数据结构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计算机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宋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马良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7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计算机</a:t>
                      </a:r>
                      <a:endParaRPr lang="en-US" altLang="zh-CN" sz="1600" dirty="0"/>
                    </a:p>
                    <a:p>
                      <a:pPr algn="ctr"/>
                      <a:r>
                        <a:rPr lang="zh-CN" altLang="en-US" sz="1600" dirty="0"/>
                        <a:t>原理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计算机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imes New Roman"/>
                          <a:ea typeface="宋体"/>
                          <a:cs typeface="+mn-cs"/>
                        </a:rPr>
                        <a:t>李兵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92475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85A08E3-AE1B-2D40-B085-7742DA967F16}"/>
              </a:ext>
            </a:extLst>
          </p:cNvPr>
          <p:cNvSpPr txBox="1"/>
          <p:nvPr/>
        </p:nvSpPr>
        <p:spPr>
          <a:xfrm>
            <a:off x="6791815" y="238985"/>
            <a:ext cx="8306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u="sng" dirty="0">
                <a:solidFill>
                  <a:schemeClr val="bg1"/>
                </a:solidFill>
              </a:rPr>
              <a:t>关系</a:t>
            </a:r>
            <a:r>
              <a:rPr kumimoji="1" lang="en-US" altLang="zh-CN" sz="2000" b="1" u="sng" dirty="0">
                <a:solidFill>
                  <a:schemeClr val="bg1"/>
                </a:solidFill>
              </a:rPr>
              <a:t>C</a:t>
            </a:r>
            <a:endParaRPr kumimoji="1" lang="zh-CN" altLang="en-US" sz="2000" b="1" u="sng" dirty="0">
              <a:solidFill>
                <a:schemeClr val="bg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DBDC74-3A45-E84D-80F9-D661E8C73605}"/>
              </a:ext>
            </a:extLst>
          </p:cNvPr>
          <p:cNvSpPr txBox="1"/>
          <p:nvPr/>
        </p:nvSpPr>
        <p:spPr>
          <a:xfrm>
            <a:off x="2195736" y="255017"/>
            <a:ext cx="8306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u="sng" dirty="0">
                <a:solidFill>
                  <a:schemeClr val="bg1"/>
                </a:solidFill>
              </a:rPr>
              <a:t>关系</a:t>
            </a:r>
            <a:r>
              <a:rPr kumimoji="1" lang="en-US" altLang="zh-CN" sz="2000" b="1" u="sng" dirty="0">
                <a:solidFill>
                  <a:schemeClr val="bg1"/>
                </a:solidFill>
              </a:rPr>
              <a:t>S</a:t>
            </a:r>
            <a:endParaRPr kumimoji="1" lang="zh-CN" altLang="en-US" sz="2000" b="1" u="sng" dirty="0">
              <a:solidFill>
                <a:schemeClr val="bg1"/>
              </a:solidFill>
            </a:endParaRPr>
          </a:p>
        </p:txBody>
      </p:sp>
      <p:graphicFrame>
        <p:nvGraphicFramePr>
          <p:cNvPr id="10" name="表格 2">
            <a:extLst>
              <a:ext uri="{FF2B5EF4-FFF2-40B4-BE49-F238E27FC236}">
                <a16:creationId xmlns:a16="http://schemas.microsoft.com/office/drawing/2014/main" id="{A8CF1DAE-DB08-E549-A0DA-07140F5FF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769113"/>
              </p:ext>
            </p:extLst>
          </p:nvPr>
        </p:nvGraphicFramePr>
        <p:xfrm>
          <a:off x="6011958" y="3080207"/>
          <a:ext cx="2456443" cy="3337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1796">
                  <a:extLst>
                    <a:ext uri="{9D8B030D-6E8A-4147-A177-3AD203B41FA5}">
                      <a16:colId xmlns:a16="http://schemas.microsoft.com/office/drawing/2014/main" val="3250390251"/>
                    </a:ext>
                  </a:extLst>
                </a:gridCol>
                <a:gridCol w="748364">
                  <a:extLst>
                    <a:ext uri="{9D8B030D-6E8A-4147-A177-3AD203B41FA5}">
                      <a16:colId xmlns:a16="http://schemas.microsoft.com/office/drawing/2014/main" val="3954880262"/>
                    </a:ext>
                  </a:extLst>
                </a:gridCol>
                <a:gridCol w="1016283">
                  <a:extLst>
                    <a:ext uri="{9D8B030D-6E8A-4147-A177-3AD203B41FA5}">
                      <a16:colId xmlns:a16="http://schemas.microsoft.com/office/drawing/2014/main" val="41684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CNO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GRADE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9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37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82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79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971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76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924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247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40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936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59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921741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9AC4934-199A-9C4E-B6F1-D739F1D27B75}"/>
              </a:ext>
            </a:extLst>
          </p:cNvPr>
          <p:cNvSpPr txBox="1"/>
          <p:nvPr/>
        </p:nvSpPr>
        <p:spPr>
          <a:xfrm>
            <a:off x="6759919" y="2716408"/>
            <a:ext cx="960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u="sng" dirty="0">
                <a:solidFill>
                  <a:schemeClr val="bg1"/>
                </a:solidFill>
              </a:rPr>
              <a:t>关系</a:t>
            </a:r>
            <a:r>
              <a:rPr kumimoji="1" lang="en-US" altLang="zh-CN" sz="2000" b="1" u="sng" dirty="0">
                <a:solidFill>
                  <a:schemeClr val="bg1"/>
                </a:solidFill>
              </a:rPr>
              <a:t>SC</a:t>
            </a:r>
            <a:endParaRPr kumimoji="1" lang="zh-CN" altLang="en-US" sz="20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5868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24A355B-B137-C389-AB0B-D27C00CC72A1}"/>
              </a:ext>
            </a:extLst>
          </p:cNvPr>
          <p:cNvSpPr txBox="1"/>
          <p:nvPr/>
        </p:nvSpPr>
        <p:spPr>
          <a:xfrm>
            <a:off x="204574" y="474345"/>
            <a:ext cx="554461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b="1" dirty="0">
                <a:solidFill>
                  <a:srgbClr val="FF0000"/>
                </a:solidFill>
              </a:rPr>
              <a:t>-- </a:t>
            </a:r>
            <a:r>
              <a:rPr kumimoji="1" lang="zh-CN" altLang="en-US" sz="1400" b="1" dirty="0">
                <a:solidFill>
                  <a:srgbClr val="FF0000"/>
                </a:solidFill>
              </a:rPr>
              <a:t>创建表 </a:t>
            </a:r>
            <a:r>
              <a:rPr kumimoji="1" lang="en-US" altLang="zh-CN" sz="1400" b="1" dirty="0">
                <a:solidFill>
                  <a:srgbClr val="FF0000"/>
                </a:solidFill>
              </a:rPr>
              <a:t>S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CREATE TABLE S (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    SNO VARCHAR(10) PRIMARY KEY,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    SNAME VARCHAR(20),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    AGE INT,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    SEX VARCHAR(10),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    SDEPT VARCHAR(20)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);</a:t>
            </a:r>
          </a:p>
          <a:p>
            <a:endParaRPr kumimoji="1" lang="en-US" altLang="zh-CN" sz="1400" dirty="0">
              <a:solidFill>
                <a:schemeClr val="bg2"/>
              </a:solidFill>
            </a:endParaRPr>
          </a:p>
          <a:p>
            <a:r>
              <a:rPr lang="en-US" altLang="zh-CN" sz="1400" b="1" dirty="0">
                <a:solidFill>
                  <a:srgbClr val="FF0000"/>
                </a:solidFill>
              </a:rPr>
              <a:t>-- </a:t>
            </a:r>
            <a:r>
              <a:rPr lang="zh-CN" altLang="en-US" sz="1400" b="1" dirty="0">
                <a:solidFill>
                  <a:srgbClr val="FF0000"/>
                </a:solidFill>
              </a:rPr>
              <a:t>插入数据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INSERT INTO S (SNO, SNAME, AGE, SEX, SDEPT) VALUES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('S1', '</a:t>
            </a:r>
            <a:r>
              <a:rPr kumimoji="1" lang="zh-CN" altLang="en-US" sz="1400" dirty="0">
                <a:solidFill>
                  <a:schemeClr val="bg2"/>
                </a:solidFill>
              </a:rPr>
              <a:t>程宏</a:t>
            </a:r>
            <a:r>
              <a:rPr kumimoji="1" lang="en-US" altLang="zh-CN" sz="1400" dirty="0">
                <a:solidFill>
                  <a:schemeClr val="bg2"/>
                </a:solidFill>
              </a:rPr>
              <a:t>', 19,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'CIE'),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('S2', '</a:t>
            </a:r>
            <a:r>
              <a:rPr kumimoji="1" lang="zh-CN" altLang="en-US" sz="1400" dirty="0">
                <a:solidFill>
                  <a:schemeClr val="bg2"/>
                </a:solidFill>
              </a:rPr>
              <a:t>张飞</a:t>
            </a:r>
            <a:r>
              <a:rPr kumimoji="1" lang="en-US" altLang="zh-CN" sz="1400" dirty="0">
                <a:solidFill>
                  <a:schemeClr val="bg2"/>
                </a:solidFill>
              </a:rPr>
              <a:t>', 20,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'CIE'),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('S3', '</a:t>
            </a:r>
            <a:r>
              <a:rPr kumimoji="1" lang="zh-CN" altLang="en-US" sz="1400" dirty="0">
                <a:solidFill>
                  <a:schemeClr val="bg2"/>
                </a:solidFill>
              </a:rPr>
              <a:t>刘莎莎</a:t>
            </a:r>
            <a:r>
              <a:rPr kumimoji="1" lang="en-US" altLang="zh-CN" sz="1400" dirty="0">
                <a:solidFill>
                  <a:schemeClr val="bg2"/>
                </a:solidFill>
              </a:rPr>
              <a:t>', 18, '</a:t>
            </a:r>
            <a:r>
              <a:rPr kumimoji="1" lang="zh-CN" altLang="en-US" sz="1400" dirty="0">
                <a:solidFill>
                  <a:schemeClr val="bg2"/>
                </a:solidFill>
              </a:rPr>
              <a:t>女</a:t>
            </a:r>
            <a:r>
              <a:rPr kumimoji="1" lang="en-US" altLang="zh-CN" sz="1400" dirty="0">
                <a:solidFill>
                  <a:schemeClr val="bg2"/>
                </a:solidFill>
              </a:rPr>
              <a:t>', 'CIE'),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('S4', '</a:t>
            </a:r>
            <a:r>
              <a:rPr kumimoji="1" lang="zh-CN" altLang="en-US" sz="1400" dirty="0">
                <a:solidFill>
                  <a:schemeClr val="bg2"/>
                </a:solidFill>
              </a:rPr>
              <a:t>李刚奇</a:t>
            </a:r>
            <a:r>
              <a:rPr kumimoji="1" lang="en-US" altLang="zh-CN" sz="1400" dirty="0">
                <a:solidFill>
                  <a:schemeClr val="bg2"/>
                </a:solidFill>
              </a:rPr>
              <a:t>', 20,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'CIE'),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('S5', '</a:t>
            </a:r>
            <a:r>
              <a:rPr kumimoji="1" lang="zh-CN" altLang="en-US" sz="1400" dirty="0">
                <a:solidFill>
                  <a:schemeClr val="bg2"/>
                </a:solidFill>
              </a:rPr>
              <a:t>李小刚</a:t>
            </a:r>
            <a:r>
              <a:rPr kumimoji="1" lang="en-US" altLang="zh-CN" sz="1400" dirty="0">
                <a:solidFill>
                  <a:schemeClr val="bg2"/>
                </a:solidFill>
              </a:rPr>
              <a:t>', 21,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'CIE'),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('S6', '</a:t>
            </a:r>
            <a:r>
              <a:rPr kumimoji="1" lang="zh-CN" altLang="en-US" sz="1400" dirty="0">
                <a:solidFill>
                  <a:schemeClr val="bg2"/>
                </a:solidFill>
              </a:rPr>
              <a:t>陈爱国</a:t>
            </a:r>
            <a:r>
              <a:rPr kumimoji="1" lang="en-US" altLang="zh-CN" sz="1400" dirty="0">
                <a:solidFill>
                  <a:schemeClr val="bg2"/>
                </a:solidFill>
              </a:rPr>
              <a:t>', 19,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'CS'),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('S7', '</a:t>
            </a:r>
            <a:r>
              <a:rPr kumimoji="1" lang="zh-CN" altLang="en-US" sz="1400" dirty="0">
                <a:solidFill>
                  <a:schemeClr val="bg2"/>
                </a:solidFill>
              </a:rPr>
              <a:t>柳庆国</a:t>
            </a:r>
            <a:r>
              <a:rPr kumimoji="1" lang="en-US" altLang="zh-CN" sz="1400" dirty="0">
                <a:solidFill>
                  <a:schemeClr val="bg2"/>
                </a:solidFill>
              </a:rPr>
              <a:t>', 18,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'CS'),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('S8', '</a:t>
            </a:r>
            <a:r>
              <a:rPr kumimoji="1" lang="zh-CN" altLang="en-US" sz="1400" dirty="0">
                <a:solidFill>
                  <a:schemeClr val="bg2"/>
                </a:solidFill>
              </a:rPr>
              <a:t>李名</a:t>
            </a:r>
            <a:r>
              <a:rPr kumimoji="1" lang="en-US" altLang="zh-CN" sz="1400" dirty="0">
                <a:solidFill>
                  <a:schemeClr val="bg2"/>
                </a:solidFill>
              </a:rPr>
              <a:t>', 20,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'CS'),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('S9', '</a:t>
            </a:r>
            <a:r>
              <a:rPr kumimoji="1" lang="zh-CN" altLang="en-US" sz="1400" dirty="0">
                <a:solidFill>
                  <a:schemeClr val="bg2"/>
                </a:solidFill>
              </a:rPr>
              <a:t>王莉</a:t>
            </a:r>
            <a:r>
              <a:rPr kumimoji="1" lang="en-US" altLang="zh-CN" sz="1400" dirty="0">
                <a:solidFill>
                  <a:schemeClr val="bg2"/>
                </a:solidFill>
              </a:rPr>
              <a:t>', 21, '</a:t>
            </a:r>
            <a:r>
              <a:rPr kumimoji="1" lang="zh-CN" altLang="en-US" sz="1400" dirty="0">
                <a:solidFill>
                  <a:schemeClr val="bg2"/>
                </a:solidFill>
              </a:rPr>
              <a:t>女</a:t>
            </a:r>
            <a:r>
              <a:rPr kumimoji="1" lang="en-US" altLang="zh-CN" sz="1400" dirty="0">
                <a:solidFill>
                  <a:schemeClr val="bg2"/>
                </a:solidFill>
              </a:rPr>
              <a:t>', 'CS'),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('S10', '</a:t>
            </a:r>
            <a:r>
              <a:rPr kumimoji="1" lang="zh-CN" altLang="en-US" sz="1400" dirty="0">
                <a:solidFill>
                  <a:schemeClr val="bg2"/>
                </a:solidFill>
              </a:rPr>
              <a:t>张林</a:t>
            </a:r>
            <a:r>
              <a:rPr kumimoji="1" lang="en-US" altLang="zh-CN" sz="1400" dirty="0">
                <a:solidFill>
                  <a:schemeClr val="bg2"/>
                </a:solidFill>
              </a:rPr>
              <a:t>', 20, '</a:t>
            </a:r>
            <a:r>
              <a:rPr kumimoji="1" lang="zh-CN" altLang="en-US" sz="1400" dirty="0">
                <a:solidFill>
                  <a:schemeClr val="bg2"/>
                </a:solidFill>
              </a:rPr>
              <a:t>女</a:t>
            </a:r>
            <a:r>
              <a:rPr kumimoji="1" lang="en-US" altLang="zh-CN" sz="1400" dirty="0">
                <a:solidFill>
                  <a:schemeClr val="bg2"/>
                </a:solidFill>
              </a:rPr>
              <a:t>', 'MA'),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('S11', '</a:t>
            </a:r>
            <a:r>
              <a:rPr kumimoji="1" lang="zh-CN" altLang="en-US" sz="1400" dirty="0">
                <a:solidFill>
                  <a:schemeClr val="bg2"/>
                </a:solidFill>
              </a:rPr>
              <a:t>吴祥</a:t>
            </a:r>
            <a:r>
              <a:rPr kumimoji="1" lang="en-US" altLang="zh-CN" sz="1400" dirty="0">
                <a:solidFill>
                  <a:schemeClr val="bg2"/>
                </a:solidFill>
              </a:rPr>
              <a:t>', 19, '</a:t>
            </a:r>
            <a:r>
              <a:rPr kumimoji="1" lang="zh-CN" altLang="en-US" sz="1400" dirty="0">
                <a:solidFill>
                  <a:schemeClr val="bg2"/>
                </a:solidFill>
              </a:rPr>
              <a:t>女</a:t>
            </a:r>
            <a:r>
              <a:rPr kumimoji="1" lang="en-US" altLang="zh-CN" sz="1400" dirty="0">
                <a:solidFill>
                  <a:schemeClr val="bg2"/>
                </a:solidFill>
              </a:rPr>
              <a:t>', 'MA'),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('S12', '</a:t>
            </a:r>
            <a:r>
              <a:rPr lang="zh-CN" altLang="en-US" sz="1400" dirty="0">
                <a:solidFill>
                  <a:schemeClr val="bg2"/>
                </a:solidFill>
              </a:rPr>
              <a:t>欧阳</a:t>
            </a:r>
            <a:r>
              <a:rPr kumimoji="1" lang="zh-CN" altLang="en-US" sz="1400" dirty="0">
                <a:solidFill>
                  <a:schemeClr val="bg2"/>
                </a:solidFill>
              </a:rPr>
              <a:t>望</a:t>
            </a:r>
            <a:r>
              <a:rPr kumimoji="1" lang="en-US" altLang="zh-CN" sz="1400" dirty="0">
                <a:solidFill>
                  <a:schemeClr val="bg2"/>
                </a:solidFill>
              </a:rPr>
              <a:t>', 23,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'MA'),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('S13', '</a:t>
            </a:r>
            <a:r>
              <a:rPr kumimoji="1" lang="zh-CN" altLang="en-US" sz="1400" dirty="0">
                <a:solidFill>
                  <a:schemeClr val="bg2"/>
                </a:solidFill>
              </a:rPr>
              <a:t>袁晨</a:t>
            </a:r>
            <a:r>
              <a:rPr kumimoji="1" lang="en-US" altLang="zh-CN" sz="1400" dirty="0">
                <a:solidFill>
                  <a:schemeClr val="bg2"/>
                </a:solidFill>
              </a:rPr>
              <a:t>', 21, '</a:t>
            </a:r>
            <a:r>
              <a:rPr kumimoji="1" lang="zh-CN" altLang="en-US" sz="1400" dirty="0">
                <a:solidFill>
                  <a:schemeClr val="bg2"/>
                </a:solidFill>
              </a:rPr>
              <a:t>女</a:t>
            </a:r>
            <a:r>
              <a:rPr kumimoji="1" lang="en-US" altLang="zh-CN" sz="1400" dirty="0">
                <a:solidFill>
                  <a:schemeClr val="bg2"/>
                </a:solidFill>
              </a:rPr>
              <a:t>', 'CYBER'),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('S14', '</a:t>
            </a:r>
            <a:r>
              <a:rPr kumimoji="1" lang="zh-CN" altLang="en-US" sz="1400" dirty="0">
                <a:solidFill>
                  <a:schemeClr val="bg2"/>
                </a:solidFill>
              </a:rPr>
              <a:t>左志晟</a:t>
            </a:r>
            <a:r>
              <a:rPr kumimoji="1" lang="en-US" altLang="zh-CN" sz="1400" dirty="0">
                <a:solidFill>
                  <a:schemeClr val="bg2"/>
                </a:solidFill>
              </a:rPr>
              <a:t>', 20,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'CYBER'),</a:t>
            </a:r>
          </a:p>
          <a:p>
            <a:r>
              <a:rPr kumimoji="1" lang="en-US" altLang="zh-CN" sz="1400" dirty="0">
                <a:solidFill>
                  <a:schemeClr val="bg2"/>
                </a:solidFill>
              </a:rPr>
              <a:t>('S15', '</a:t>
            </a:r>
            <a:r>
              <a:rPr kumimoji="1" lang="zh-CN" altLang="en-US" sz="1400" dirty="0">
                <a:solidFill>
                  <a:schemeClr val="bg2"/>
                </a:solidFill>
              </a:rPr>
              <a:t>王家浩</a:t>
            </a:r>
            <a:r>
              <a:rPr kumimoji="1" lang="en-US" altLang="zh-CN" sz="1400" dirty="0">
                <a:solidFill>
                  <a:schemeClr val="bg2"/>
                </a:solidFill>
              </a:rPr>
              <a:t>', 18, '</a:t>
            </a:r>
            <a:r>
              <a:rPr kumimoji="1" lang="zh-CN" altLang="en-US" sz="1400" dirty="0">
                <a:solidFill>
                  <a:schemeClr val="bg2"/>
                </a:solidFill>
              </a:rPr>
              <a:t>男</a:t>
            </a:r>
            <a:r>
              <a:rPr kumimoji="1" lang="en-US" altLang="zh-CN" sz="1400" dirty="0">
                <a:solidFill>
                  <a:schemeClr val="bg2"/>
                </a:solidFill>
              </a:rPr>
              <a:t>', 'CYBER');</a:t>
            </a:r>
          </a:p>
          <a:p>
            <a:endParaRPr kumimoji="1" lang="zh-CN" altLang="en-US" sz="1400" dirty="0">
              <a:solidFill>
                <a:schemeClr val="bg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C151F4-C9EB-556B-C0A3-0979FBE5F3F0}"/>
              </a:ext>
            </a:extLst>
          </p:cNvPr>
          <p:cNvSpPr txBox="1"/>
          <p:nvPr/>
        </p:nvSpPr>
        <p:spPr>
          <a:xfrm>
            <a:off x="5076056" y="151179"/>
            <a:ext cx="4572000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-- 创建表 C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CREATE TABLE C (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CNO VARCHAR(10) PRIMARY KEY,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CNAME VARCHAR(20),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CDEPT VARCHAR(20),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TNAME VARCHAR(20)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);</a:t>
            </a:r>
          </a:p>
          <a:p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400" b="1" dirty="0">
                <a:solidFill>
                  <a:srgbClr val="FF0000"/>
                </a:solidFill>
              </a:rPr>
              <a:t>-- 插入数据到表 C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C (CNO, CNAME, CDEPT, TNAME) VALUES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('C2', '离散数学', '</a:t>
            </a:r>
            <a:r>
              <a:rPr lang="en-US" altLang="zh-CN" sz="1200" dirty="0">
                <a:solidFill>
                  <a:schemeClr val="bg2"/>
                </a:solidFill>
              </a:rPr>
              <a:t>CS</a:t>
            </a:r>
            <a:r>
              <a:rPr lang="zh-CN" altLang="en-US" sz="1200" dirty="0">
                <a:solidFill>
                  <a:schemeClr val="bg2"/>
                </a:solidFill>
              </a:rPr>
              <a:t>', '汪宏伟'),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('C3', '高等数学', '</a:t>
            </a:r>
            <a:r>
              <a:rPr lang="en-US" altLang="zh-CN" sz="1200" dirty="0">
                <a:solidFill>
                  <a:schemeClr val="bg2"/>
                </a:solidFill>
              </a:rPr>
              <a:t>CIE</a:t>
            </a:r>
            <a:r>
              <a:rPr lang="zh-CN" altLang="en-US" sz="1200" dirty="0">
                <a:solidFill>
                  <a:schemeClr val="bg2"/>
                </a:solidFill>
              </a:rPr>
              <a:t>', '钱红'),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('C4', '数据结构', '</a:t>
            </a:r>
            <a:r>
              <a:rPr lang="en-US" altLang="zh-CN" sz="1200" dirty="0">
                <a:solidFill>
                  <a:schemeClr val="bg2"/>
                </a:solidFill>
              </a:rPr>
              <a:t>CS</a:t>
            </a:r>
            <a:r>
              <a:rPr lang="zh-CN" altLang="en-US" sz="1200" dirty="0">
                <a:solidFill>
                  <a:schemeClr val="bg2"/>
                </a:solidFill>
              </a:rPr>
              <a:t>', '马良'),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('C1', '计算机原理', '</a:t>
            </a:r>
            <a:r>
              <a:rPr lang="en-US" altLang="zh-CN" sz="1200" dirty="0">
                <a:solidFill>
                  <a:schemeClr val="bg2"/>
                </a:solidFill>
              </a:rPr>
              <a:t>CS</a:t>
            </a:r>
            <a:r>
              <a:rPr lang="zh-CN" altLang="en-US" sz="1200" dirty="0">
                <a:solidFill>
                  <a:schemeClr val="bg2"/>
                </a:solidFill>
              </a:rPr>
              <a:t>', '李兵');</a:t>
            </a:r>
          </a:p>
          <a:p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400" b="1" dirty="0">
                <a:solidFill>
                  <a:srgbClr val="FF0000"/>
                </a:solidFill>
              </a:rPr>
              <a:t>-- 创建表 SC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CREATE TABLE SC (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SNO VARCHAR(10),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CNO VARCHAR(10),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GRADE INT,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PRIMARY KEY (SNO, CNO),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FOREIGN KEY (SNO) REFERENCES S(SNO),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    FOREIGN KEY (CNO) REFERENCES C(CNO)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);</a:t>
            </a:r>
          </a:p>
          <a:p>
            <a:endParaRPr lang="zh-CN" altLang="en-US" sz="1200" dirty="0">
              <a:solidFill>
                <a:schemeClr val="bg2"/>
              </a:solidFill>
            </a:endParaRPr>
          </a:p>
          <a:p>
            <a:r>
              <a:rPr lang="zh-CN" altLang="en-US" sz="1400" b="1" dirty="0">
                <a:solidFill>
                  <a:srgbClr val="FF0000"/>
                </a:solidFill>
              </a:rPr>
              <a:t>-- 插入数据到表 SC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INSERT INTO SC (SNO, CNO, GRADE) VALUES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('S3', 'C3', 87),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('S1', 'C2', 88),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('S4', 'C3', 79),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('S1', 'C3', 76),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('S5', 'C2', 91),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('S6', 'C1', 78),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('S7', 'C4', NULL),</a:t>
            </a:r>
          </a:p>
          <a:p>
            <a:r>
              <a:rPr lang="zh-CN" altLang="en-US" sz="1200" dirty="0">
                <a:solidFill>
                  <a:schemeClr val="bg2"/>
                </a:solidFill>
              </a:rPr>
              <a:t>('S9', 'C3', 59);</a:t>
            </a:r>
          </a:p>
        </p:txBody>
      </p:sp>
    </p:spTree>
    <p:extLst>
      <p:ext uri="{BB962C8B-B14F-4D97-AF65-F5344CB8AC3E}">
        <p14:creationId xmlns:p14="http://schemas.microsoft.com/office/powerpoint/2010/main" val="2494932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444A322-082C-2C4C-8742-EBA139E4E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88913"/>
            <a:ext cx="8569325" cy="309562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举例：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假设学生数据库中的关系模式如下：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    </a:t>
            </a: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      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      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试用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表达下列每个查询语句。</a:t>
            </a:r>
          </a:p>
        </p:txBody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6246BD75-B705-8343-9FDE-BCF9EB8E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766" y="2714626"/>
            <a:ext cx="8424863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1.</a:t>
            </a:r>
            <a:r>
              <a:rPr lang="zh-CN" altLang="en-US" sz="2400" b="1" dirty="0">
                <a:solidFill>
                  <a:schemeClr val="bg2"/>
                </a:solidFill>
              </a:rPr>
              <a:t>查询全体学生的详细记录。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964616" name="Rectangle 8">
            <a:extLst>
              <a:ext uri="{FF2B5EF4-FFF2-40B4-BE49-F238E27FC236}">
                <a16:creationId xmlns:a16="http://schemas.microsoft.com/office/drawing/2014/main" id="{20745BD5-CBAF-3A41-801F-020176FA4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416" y="3608314"/>
            <a:ext cx="5905500" cy="91986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SELECT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*</a:t>
            </a:r>
            <a:endParaRPr lang="en-US" altLang="zh-CN" sz="2400" b="1" dirty="0">
              <a:solidFill>
                <a:srgbClr val="660033"/>
              </a:solidFill>
              <a:latin typeface="宋体" panose="02010600030101010101" pitchFamily="2" charset="-122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FROM S;</a:t>
            </a:r>
          </a:p>
        </p:txBody>
      </p:sp>
      <p:cxnSp>
        <p:nvCxnSpPr>
          <p:cNvPr id="36869" name="直接连接符 2">
            <a:extLst>
              <a:ext uri="{FF2B5EF4-FFF2-40B4-BE49-F238E27FC236}">
                <a16:creationId xmlns:a16="http://schemas.microsoft.com/office/drawing/2014/main" id="{6F951E9C-4065-3C4C-8F6F-8A2D1CD675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27313" y="2205038"/>
            <a:ext cx="1512887" cy="0"/>
          </a:xfrm>
          <a:prstGeom prst="line">
            <a:avLst/>
          </a:prstGeom>
          <a:noFill/>
          <a:ln w="9525" algn="ctr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" name="Rectangle 4">
            <a:extLst>
              <a:ext uri="{FF2B5EF4-FFF2-40B4-BE49-F238E27FC236}">
                <a16:creationId xmlns:a16="http://schemas.microsoft.com/office/drawing/2014/main" id="{1BD0712A-B835-5A47-96AE-2FC8D5D86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766" y="4683128"/>
            <a:ext cx="957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2.</a:t>
            </a:r>
            <a:r>
              <a:rPr lang="zh-CN" altLang="en-US" sz="2400" b="1" dirty="0">
                <a:solidFill>
                  <a:schemeClr val="bg2"/>
                </a:solidFill>
              </a:rPr>
              <a:t>查询</a:t>
            </a:r>
            <a:r>
              <a:rPr lang="zh-CN" altLang="en-US" sz="2400" b="1" dirty="0">
                <a:solidFill>
                  <a:srgbClr val="FF0000"/>
                </a:solidFill>
              </a:rPr>
              <a:t>全体</a:t>
            </a:r>
            <a:r>
              <a:rPr lang="zh-CN" altLang="en-US" sz="2400" b="1" dirty="0">
                <a:solidFill>
                  <a:schemeClr val="bg2"/>
                </a:solidFill>
              </a:rPr>
              <a:t>学生的</a:t>
            </a:r>
            <a:r>
              <a:rPr lang="zh-CN" altLang="en-US" sz="2400" b="1" dirty="0">
                <a:solidFill>
                  <a:srgbClr val="FF0000"/>
                </a:solidFill>
              </a:rPr>
              <a:t>姓名、学号、所在系</a:t>
            </a:r>
            <a:r>
              <a:rPr lang="zh-CN" altLang="en-US" sz="2400" b="1" dirty="0">
                <a:solidFill>
                  <a:schemeClr val="bg2"/>
                </a:solidFill>
              </a:rPr>
              <a:t>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7C3D12-50B4-F84C-91B7-E87BE8D1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416" y="5534336"/>
            <a:ext cx="5905500" cy="855234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SELECT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SNAME,SNO,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SDEPT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sym typeface="Symbol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FROM S;</a:t>
            </a:r>
          </a:p>
        </p:txBody>
      </p:sp>
    </p:spTree>
    <p:extLst>
      <p:ext uri="{BB962C8B-B14F-4D97-AF65-F5344CB8AC3E}">
        <p14:creationId xmlns:p14="http://schemas.microsoft.com/office/powerpoint/2010/main" val="3124185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1" grpId="0"/>
      <p:bldP spid="964616" grpId="0" animBg="1"/>
      <p:bldP spid="6" grpId="0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1" name="Rectangle 3">
            <a:extLst>
              <a:ext uri="{FF2B5EF4-FFF2-40B4-BE49-F238E27FC236}">
                <a16:creationId xmlns:a16="http://schemas.microsoft.com/office/drawing/2014/main" id="{6246BD75-B705-8343-9FDE-BCF9EB8E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521695"/>
            <a:ext cx="8424863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4.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检索选修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课程号为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C2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的学生的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学号和成绩。</a:t>
            </a:r>
          </a:p>
        </p:txBody>
      </p:sp>
      <p:sp>
        <p:nvSpPr>
          <p:cNvPr id="964616" name="Rectangle 8">
            <a:extLst>
              <a:ext uri="{FF2B5EF4-FFF2-40B4-BE49-F238E27FC236}">
                <a16:creationId xmlns:a16="http://schemas.microsoft.com/office/drawing/2014/main" id="{20745BD5-CBAF-3A41-801F-020176FA4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772" y="4599348"/>
            <a:ext cx="5905500" cy="177165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SELECT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SNO,GRADE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FROM SC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WHERE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CNO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='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C2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BD0712A-B835-5A47-96AE-2FC8D5D86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556792"/>
            <a:ext cx="957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3.</a:t>
            </a:r>
            <a:r>
              <a:rPr lang="zh-CN" altLang="en-US" sz="2400" b="1" dirty="0">
                <a:solidFill>
                  <a:schemeClr val="bg2"/>
                </a:solidFill>
              </a:rPr>
              <a:t>查询选修了课程的学生学号。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7C3D12-50B4-F84C-91B7-E87BE8D1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772" y="2641952"/>
            <a:ext cx="5905500" cy="855234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SELECT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SNO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  <a:sym typeface="Symbol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FROM SC;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0BAA08-5C20-0044-8B14-B93223E70485}"/>
              </a:ext>
            </a:extLst>
          </p:cNvPr>
          <p:cNvSpPr txBox="1"/>
          <p:nvPr/>
        </p:nvSpPr>
        <p:spPr>
          <a:xfrm>
            <a:off x="971600" y="308307"/>
            <a:ext cx="5272086" cy="136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dirty="0"/>
          </a:p>
        </p:txBody>
      </p:sp>
      <p:pic>
        <p:nvPicPr>
          <p:cNvPr id="9" name="图片 8" descr="图片包含 示意图&#10;&#10;描述已自动生成">
            <a:extLst>
              <a:ext uri="{FF2B5EF4-FFF2-40B4-BE49-F238E27FC236}">
                <a16:creationId xmlns:a16="http://schemas.microsoft.com/office/drawing/2014/main" id="{BE6ABE94-F30D-F573-1FD0-C06DE3C4B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034" y="2338722"/>
            <a:ext cx="1513488" cy="1549016"/>
          </a:xfrm>
          <a:prstGeom prst="rect">
            <a:avLst/>
          </a:prstGeom>
        </p:spPr>
      </p:pic>
      <p:pic>
        <p:nvPicPr>
          <p:cNvPr id="11" name="图片 10" descr="日历&#10;&#10;中度可信度描述已自动生成">
            <a:extLst>
              <a:ext uri="{FF2B5EF4-FFF2-40B4-BE49-F238E27FC236}">
                <a16:creationId xmlns:a16="http://schemas.microsoft.com/office/drawing/2014/main" id="{700C4486-3489-C69B-7FEC-FC2DB096A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778" y="4725144"/>
            <a:ext cx="2026744" cy="152005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565E36D-3487-BA47-B9B6-AC53466CD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5656" y="-21901"/>
            <a:ext cx="1486591" cy="227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86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1" grpId="0"/>
      <p:bldP spid="964616" grpId="0" animBg="1"/>
      <p:bldP spid="6" grpId="0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1" name="Rectangle 3">
            <a:extLst>
              <a:ext uri="{FF2B5EF4-FFF2-40B4-BE49-F238E27FC236}">
                <a16:creationId xmlns:a16="http://schemas.microsoft.com/office/drawing/2014/main" id="{6246BD75-B705-8343-9FDE-BCF9EB8E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92" y="3699763"/>
            <a:ext cx="8424863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6.</a:t>
            </a:r>
            <a:r>
              <a:rPr lang="zh-CN" altLang="en-US" sz="2400" b="1" dirty="0">
                <a:solidFill>
                  <a:schemeClr val="bg2"/>
                </a:solidFill>
              </a:rPr>
              <a:t>查询考试成绩有不及格的学生的学号。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964616" name="Rectangle 8">
            <a:extLst>
              <a:ext uri="{FF2B5EF4-FFF2-40B4-BE49-F238E27FC236}">
                <a16:creationId xmlns:a16="http://schemas.microsoft.com/office/drawing/2014/main" id="{20745BD5-CBAF-3A41-801F-020176FA4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516" y="4586573"/>
            <a:ext cx="8316416" cy="137954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Symbol" pitchFamily="2" charset="2"/>
              </a:rPr>
              <a:t>DISTINCT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SNO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SC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GRADE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Symbol" pitchFamily="2" charset="2"/>
              </a:rPr>
              <a:t>&lt;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60;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BD0712A-B835-5A47-96AE-2FC8D5D86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621364"/>
            <a:ext cx="957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5.</a:t>
            </a:r>
            <a:r>
              <a:rPr lang="zh-CN" altLang="en-US" sz="2400" b="1" dirty="0">
                <a:solidFill>
                  <a:schemeClr val="bg2"/>
                </a:solidFill>
              </a:rPr>
              <a:t>查询计算机系全体学生的名单。</a:t>
            </a:r>
            <a:endParaRPr lang="zh-CN" altLang="en-US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F7C3D12-50B4-F84C-91B7-E87BE8D1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792" y="2545348"/>
            <a:ext cx="8316416" cy="1281698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SNO, SNAME, AGE, SEX, SDEPT</a:t>
            </a:r>
            <a:endParaRPr lang="en-US" altLang="zh-CN" sz="2400" dirty="0">
              <a:solidFill>
                <a:srgbClr val="FF0000"/>
              </a:solidFill>
              <a:latin typeface="+mn-lt"/>
              <a:sym typeface="Symbol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</a:t>
            </a:r>
          </a:p>
          <a:p>
            <a:pPr>
              <a:lnSpc>
                <a:spcPct val="11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 SDEPT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Symbol" pitchFamily="2" charset="2"/>
              </a:rPr>
              <a:t>=</a:t>
            </a:r>
            <a:r>
              <a:rPr lang="en-US" altLang="zh-CN" sz="2400" dirty="0">
                <a:solidFill>
                  <a:schemeClr val="bg2"/>
                </a:solidFill>
              </a:rPr>
              <a:t>'CS'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;</a:t>
            </a:r>
            <a:endParaRPr lang="en-US" altLang="zh-CN" sz="2400" dirty="0">
              <a:solidFill>
                <a:schemeClr val="bg2"/>
              </a:solidFill>
              <a:latin typeface="+mn-lt"/>
              <a:sym typeface="Symbol" pitchFamily="2" charset="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629DE5-8211-6047-93B3-6B0682EE93A5}"/>
              </a:ext>
            </a:extLst>
          </p:cNvPr>
          <p:cNvSpPr txBox="1"/>
          <p:nvPr/>
        </p:nvSpPr>
        <p:spPr>
          <a:xfrm>
            <a:off x="413792" y="278668"/>
            <a:ext cx="5272086" cy="136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5A36A0-4BA1-5549-ABAD-2D3724641A19}"/>
              </a:ext>
            </a:extLst>
          </p:cNvPr>
          <p:cNvSpPr txBox="1"/>
          <p:nvPr/>
        </p:nvSpPr>
        <p:spPr>
          <a:xfrm>
            <a:off x="1971675" y="6095037"/>
            <a:ext cx="5200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DISTINCT </a:t>
            </a:r>
            <a:r>
              <a:rPr lang="zh-CN" altLang="en-US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用于消除查询结果中的重复值。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E6FDC8B-3581-4360-548D-281802F1A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0456" y="2617545"/>
            <a:ext cx="2160240" cy="11373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C8546BA-9F31-1F5D-5B31-034A80809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075" y="4644210"/>
            <a:ext cx="2090621" cy="13016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DD1099C-6AF7-C545-B1AF-C4769177D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617" y="5467"/>
            <a:ext cx="1486591" cy="22713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A57DA0A-F5BA-A04D-9AA1-98E8F0577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739" y="46645"/>
            <a:ext cx="1671878" cy="22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96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11" grpId="0"/>
      <p:bldP spid="964616" grpId="0" animBg="1"/>
      <p:bldP spid="6" grpId="0"/>
      <p:bldP spid="7" grpId="0" animBg="1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B07C001-A9FC-6E4A-809D-1697359F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55" y="1799881"/>
            <a:ext cx="54006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7</a:t>
            </a:r>
            <a:r>
              <a:rPr lang="zh-CN" altLang="en-US" sz="2400" b="1" dirty="0">
                <a:solidFill>
                  <a:schemeClr val="bg2"/>
                </a:solidFill>
              </a:rPr>
              <a:t>、查询年龄在</a:t>
            </a:r>
            <a:r>
              <a:rPr lang="en-US" altLang="zh-CN" sz="2400" b="1" dirty="0">
                <a:solidFill>
                  <a:schemeClr val="bg2"/>
                </a:solidFill>
              </a:rPr>
              <a:t>20~23</a:t>
            </a:r>
            <a:r>
              <a:rPr lang="zh-CN" altLang="en-US" sz="2400" b="1" dirty="0">
                <a:solidFill>
                  <a:schemeClr val="bg2"/>
                </a:solidFill>
              </a:rPr>
              <a:t>岁（包括</a:t>
            </a:r>
            <a:r>
              <a:rPr lang="en-US" altLang="zh-CN" sz="2400" b="1" dirty="0">
                <a:solidFill>
                  <a:schemeClr val="bg2"/>
                </a:solidFill>
              </a:rPr>
              <a:t>20</a:t>
            </a:r>
            <a:r>
              <a:rPr lang="zh-CN" altLang="en-US" sz="2400" b="1" dirty="0">
                <a:solidFill>
                  <a:schemeClr val="bg2"/>
                </a:solidFill>
              </a:rPr>
              <a:t>岁和</a:t>
            </a:r>
            <a:r>
              <a:rPr lang="en-US" altLang="zh-CN" sz="2400" b="1" dirty="0">
                <a:solidFill>
                  <a:schemeClr val="bg2"/>
                </a:solidFill>
              </a:rPr>
              <a:t>23</a:t>
            </a:r>
            <a:r>
              <a:rPr lang="zh-CN" altLang="en-US" sz="2400" b="1" dirty="0">
                <a:solidFill>
                  <a:schemeClr val="bg2"/>
                </a:solidFill>
              </a:rPr>
              <a:t>岁）之间的学生的姓名、系别和年龄。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DF6DC0-647A-3F42-BED4-53AB7319C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4264496"/>
            <a:ext cx="8137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8</a:t>
            </a:r>
            <a:r>
              <a:rPr lang="zh-CN" altLang="en-US" sz="2400" b="1" dirty="0">
                <a:solidFill>
                  <a:schemeClr val="bg2"/>
                </a:solidFill>
              </a:rPr>
              <a:t>、查询年龄不在</a:t>
            </a:r>
            <a:r>
              <a:rPr lang="en-US" altLang="zh-CN" sz="2400" b="1" dirty="0">
                <a:solidFill>
                  <a:schemeClr val="bg2"/>
                </a:solidFill>
              </a:rPr>
              <a:t>20~23</a:t>
            </a:r>
            <a:r>
              <a:rPr lang="zh-CN" altLang="en-US" sz="2400" b="1" dirty="0">
                <a:solidFill>
                  <a:schemeClr val="bg2"/>
                </a:solidFill>
              </a:rPr>
              <a:t>岁之间的学生姓名、系别和年龄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A3F9BB9-375A-A543-98C5-5FBE19E6B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484" y="2609233"/>
            <a:ext cx="6662738" cy="1383264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SNAME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</a:rPr>
              <a:t> SDEPT</a:t>
            </a:r>
            <a:r>
              <a:rPr lang="en-US" altLang="zh-CN" sz="2400" dirty="0">
                <a:solidFill>
                  <a:srgbClr val="660033"/>
                </a:solidFill>
                <a:sym typeface="Symbol" pitchFamily="2" charset="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</a:rPr>
              <a:t> AGE</a:t>
            </a:r>
            <a:endParaRPr lang="en-US" altLang="zh-CN" sz="2400" dirty="0">
              <a:solidFill>
                <a:srgbClr val="660033"/>
              </a:solidFill>
              <a:latin typeface="+mn-lt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AGE</a:t>
            </a:r>
            <a:r>
              <a:rPr lang="zh-CN" altLang="en-US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Microsoft YaHei" panose="020B0503020204020204" pitchFamily="34" charset="-122"/>
              </a:rPr>
              <a:t>BETWEEN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 20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Microsoft YaHei" panose="020B0503020204020204" pitchFamily="34" charset="-122"/>
              </a:rPr>
              <a:t>AND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 30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;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D1607A7-B59E-C24E-B32D-C30827021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484" y="4871204"/>
            <a:ext cx="5905500" cy="1383264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sym typeface="Symbol" pitchFamily="2" charset="2"/>
              </a:rPr>
              <a:t>SELECT</a:t>
            </a:r>
            <a:r>
              <a:rPr lang="en-US" altLang="zh-CN" sz="2400" dirty="0">
                <a:solidFill>
                  <a:srgbClr val="660033"/>
                </a:solidFill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sym typeface="Symbol" pitchFamily="2" charset="2"/>
              </a:rPr>
              <a:t>SNAME</a:t>
            </a:r>
            <a:r>
              <a:rPr lang="en-US" altLang="zh-CN" sz="2400" dirty="0">
                <a:solidFill>
                  <a:srgbClr val="660033"/>
                </a:solidFill>
                <a:sym typeface="Symbol" pitchFamily="2" charset="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</a:rPr>
              <a:t> SDEPT</a:t>
            </a:r>
            <a:r>
              <a:rPr lang="en-US" altLang="zh-CN" sz="2400" dirty="0">
                <a:solidFill>
                  <a:srgbClr val="660033"/>
                </a:solidFill>
                <a:sym typeface="Symbol" pitchFamily="2" charset="2"/>
              </a:rPr>
              <a:t>,</a:t>
            </a:r>
            <a:r>
              <a:rPr lang="en-US" altLang="zh-CN" sz="2400" dirty="0">
                <a:solidFill>
                  <a:srgbClr val="0000FF"/>
                </a:solidFill>
              </a:rPr>
              <a:t> AGE</a:t>
            </a:r>
            <a:endParaRPr lang="en-US" altLang="zh-CN" sz="2400" dirty="0">
              <a:solidFill>
                <a:srgbClr val="660033"/>
              </a:solidFill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sym typeface="Symbol" pitchFamily="2" charset="2"/>
              </a:rPr>
              <a:t>FROM 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AGE&lt;20 </a:t>
            </a:r>
            <a:r>
              <a:rPr lang="zh-CN" altLang="en-US" sz="2400" dirty="0">
                <a:solidFill>
                  <a:schemeClr val="bg2"/>
                </a:solidFill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Microsoft YaHei" panose="020B0503020204020204" pitchFamily="34" charset="-122"/>
              </a:rPr>
              <a:t>OR</a:t>
            </a:r>
            <a:r>
              <a:rPr lang="en-US" altLang="zh-CN" sz="2400" dirty="0">
                <a:solidFill>
                  <a:schemeClr val="bg2"/>
                </a:solidFill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ea typeface="Microsoft YaHei" panose="020B0503020204020204" pitchFamily="34" charset="-122"/>
              </a:rPr>
              <a:t>AGE&gt;30</a:t>
            </a:r>
            <a:r>
              <a:rPr lang="en-US" altLang="zh-CN" sz="2400" dirty="0">
                <a:solidFill>
                  <a:schemeClr val="bg1"/>
                </a:solidFill>
                <a:sym typeface="Symbol" pitchFamily="2" charset="2"/>
              </a:rPr>
              <a:t>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125595-A16C-C644-8FB5-8FD8E3B1B768}"/>
              </a:ext>
            </a:extLst>
          </p:cNvPr>
          <p:cNvSpPr txBox="1"/>
          <p:nvPr/>
        </p:nvSpPr>
        <p:spPr>
          <a:xfrm>
            <a:off x="1041191" y="72726"/>
            <a:ext cx="5272086" cy="136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dirty="0"/>
          </a:p>
        </p:txBody>
      </p:sp>
      <p:pic>
        <p:nvPicPr>
          <p:cNvPr id="12" name="图片 11" descr="电脑屏幕的照片上有文字&#10;&#10;中度可信度描述已自动生成">
            <a:extLst>
              <a:ext uri="{FF2B5EF4-FFF2-40B4-BE49-F238E27FC236}">
                <a16:creationId xmlns:a16="http://schemas.microsoft.com/office/drawing/2014/main" id="{01B30765-4526-4901-B84F-F8587E809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2142695"/>
            <a:ext cx="2217814" cy="1869625"/>
          </a:xfrm>
          <a:prstGeom prst="rect">
            <a:avLst/>
          </a:prstGeom>
        </p:spPr>
      </p:pic>
      <p:pic>
        <p:nvPicPr>
          <p:cNvPr id="14" name="图片 13" descr="文本&#10;&#10;低可信度描述已自动生成">
            <a:extLst>
              <a:ext uri="{FF2B5EF4-FFF2-40B4-BE49-F238E27FC236}">
                <a16:creationId xmlns:a16="http://schemas.microsoft.com/office/drawing/2014/main" id="{44D30DD4-7173-9770-BA1D-E8D8C0BBFF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4745117"/>
            <a:ext cx="2217814" cy="16354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6F08F43-D1CD-4E4B-AA40-7E18A2C4A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593" y="-1076"/>
            <a:ext cx="1599258" cy="21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71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B07C001-A9FC-6E4A-809D-1697359F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72" y="1666945"/>
            <a:ext cx="6498468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9</a:t>
            </a:r>
            <a:r>
              <a:rPr lang="zh-CN" altLang="en-US" sz="2400" b="1" dirty="0">
                <a:solidFill>
                  <a:schemeClr val="bg2"/>
                </a:solidFill>
              </a:rPr>
              <a:t>、查询通信（</a:t>
            </a:r>
            <a:r>
              <a:rPr lang="en-US" altLang="zh-CN" sz="2400" b="1" dirty="0">
                <a:solidFill>
                  <a:schemeClr val="bg2"/>
                </a:solidFill>
              </a:rPr>
              <a:t>CIE</a:t>
            </a:r>
            <a:r>
              <a:rPr lang="zh-CN" altLang="en-US" sz="2400" b="1" dirty="0">
                <a:solidFill>
                  <a:schemeClr val="bg2"/>
                </a:solidFill>
              </a:rPr>
              <a:t>）、数学系（</a:t>
            </a:r>
            <a:r>
              <a:rPr lang="en-US" altLang="zh-CN" sz="2400" b="1" dirty="0">
                <a:solidFill>
                  <a:schemeClr val="bg2"/>
                </a:solidFill>
              </a:rPr>
              <a:t>MA</a:t>
            </a:r>
            <a:r>
              <a:rPr lang="zh-CN" altLang="en-US" sz="2400" b="1" dirty="0">
                <a:solidFill>
                  <a:schemeClr val="bg2"/>
                </a:solidFill>
              </a:rPr>
              <a:t>）和计算机科学系（</a:t>
            </a:r>
            <a:r>
              <a:rPr lang="en-US" altLang="zh-CN" sz="2400" b="1" dirty="0">
                <a:solidFill>
                  <a:schemeClr val="bg2"/>
                </a:solidFill>
              </a:rPr>
              <a:t>CS</a:t>
            </a:r>
            <a:r>
              <a:rPr lang="zh-CN" altLang="en-US" sz="2400" b="1" dirty="0">
                <a:solidFill>
                  <a:schemeClr val="bg2"/>
                </a:solidFill>
              </a:rPr>
              <a:t>）学生的姓名和性别。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A3F9BB9-375A-A543-98C5-5FBE19E6B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441218"/>
            <a:ext cx="6336704" cy="1383264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SNAME, SEX</a:t>
            </a:r>
            <a:endParaRPr lang="en-US" altLang="zh-CN" sz="2400" dirty="0">
              <a:solidFill>
                <a:srgbClr val="660033"/>
              </a:solidFill>
              <a:latin typeface="+mn-lt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SDEPT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Microsoft YaHei" panose="020B0503020204020204" pitchFamily="34" charset="-122"/>
              </a:rPr>
              <a:t>IN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(</a:t>
            </a:r>
            <a:r>
              <a:rPr lang="en-US" altLang="zh-CN" sz="2400" dirty="0">
                <a:solidFill>
                  <a:schemeClr val="bg2"/>
                </a:solidFill>
                <a:ea typeface="Microsoft YaHei" panose="020B0503020204020204" pitchFamily="34" charset="-122"/>
              </a:rPr>
              <a:t>'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CIE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', </a:t>
            </a:r>
            <a:r>
              <a:rPr lang="en-US" altLang="zh-CN" sz="2400" dirty="0">
                <a:solidFill>
                  <a:schemeClr val="bg2"/>
                </a:solidFill>
                <a:ea typeface="Microsoft YaHei" panose="020B0503020204020204" pitchFamily="34" charset="-122"/>
              </a:rPr>
              <a:t>'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MA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', '</a:t>
            </a:r>
            <a:r>
              <a:rPr lang="en-US" altLang="zh-CN" sz="2400" dirty="0">
                <a:solidFill>
                  <a:schemeClr val="bg2"/>
                </a:solidFill>
                <a:latin typeface="+mn-lt"/>
              </a:rPr>
              <a:t>CS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');</a:t>
            </a:r>
            <a:endParaRPr lang="en-US" altLang="zh-CN" sz="2400" dirty="0">
              <a:solidFill>
                <a:schemeClr val="bg1"/>
              </a:solidFill>
              <a:latin typeface="+mn-lt"/>
              <a:sym typeface="Symbol" pitchFamily="2" charset="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84E2386-3A23-FE47-9B6A-44A69B367425}"/>
              </a:ext>
            </a:extLst>
          </p:cNvPr>
          <p:cNvSpPr txBox="1"/>
          <p:nvPr/>
        </p:nvSpPr>
        <p:spPr>
          <a:xfrm>
            <a:off x="957149" y="120580"/>
            <a:ext cx="5272086" cy="136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7CC817AE-C38C-CE49-ABFF-44D5B541E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904" y="4119994"/>
            <a:ext cx="8676456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10</a:t>
            </a:r>
            <a:r>
              <a:rPr lang="zh-CN" altLang="en-US" sz="2400" b="1" dirty="0">
                <a:solidFill>
                  <a:schemeClr val="bg2"/>
                </a:solidFill>
              </a:rPr>
              <a:t>、查询所有姓刘学生的姓名、学号和性别。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07CCB3-30EC-3A47-A231-F74AAB9CFBE1}"/>
              </a:ext>
            </a:extLst>
          </p:cNvPr>
          <p:cNvSpPr txBox="1"/>
          <p:nvPr/>
        </p:nvSpPr>
        <p:spPr>
          <a:xfrm>
            <a:off x="539552" y="4719802"/>
            <a:ext cx="6336704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</a:rPr>
              <a:t>SELECT SNO, SNAME, SEX</a:t>
            </a:r>
          </a:p>
          <a:p>
            <a:r>
              <a:rPr lang="en-US" altLang="zh-CN" sz="2400" dirty="0">
                <a:solidFill>
                  <a:srgbClr val="000000"/>
                </a:solidFill>
              </a:rPr>
              <a:t>FROM S</a:t>
            </a:r>
          </a:p>
          <a:p>
            <a:r>
              <a:rPr lang="en-US" altLang="zh-CN" sz="2400" dirty="0">
                <a:solidFill>
                  <a:srgbClr val="000000"/>
                </a:solidFill>
              </a:rPr>
              <a:t>WHERE SNAME </a:t>
            </a:r>
            <a:r>
              <a:rPr lang="en-US" altLang="zh-CN" sz="2400" dirty="0">
                <a:solidFill>
                  <a:srgbClr val="FF0000"/>
                </a:solidFill>
              </a:rPr>
              <a:t>LIKE </a:t>
            </a:r>
            <a:r>
              <a:rPr lang="en-US" altLang="zh-CN" sz="2400" dirty="0">
                <a:solidFill>
                  <a:srgbClr val="000000"/>
                </a:solidFill>
              </a:rPr>
              <a:t>'</a:t>
            </a:r>
            <a:r>
              <a:rPr lang="zh-CN" altLang="en-US" sz="2400" dirty="0">
                <a:solidFill>
                  <a:srgbClr val="000000"/>
                </a:solidFill>
              </a:rPr>
              <a:t>刘</a:t>
            </a:r>
            <a:r>
              <a:rPr lang="en-US" altLang="zh-CN" sz="2400" dirty="0">
                <a:solidFill>
                  <a:schemeClr val="bg1"/>
                </a:solidFill>
              </a:rPr>
              <a:t>%</a:t>
            </a:r>
            <a:r>
              <a:rPr lang="en-US" altLang="zh-CN" sz="2400" dirty="0">
                <a:solidFill>
                  <a:srgbClr val="000000"/>
                </a:solidFill>
              </a:rPr>
              <a:t>';</a:t>
            </a:r>
          </a:p>
        </p:txBody>
      </p:sp>
      <p:pic>
        <p:nvPicPr>
          <p:cNvPr id="11" name="图片 10" descr="文本&#10;&#10;中度可信度描述已自动生成">
            <a:extLst>
              <a:ext uri="{FF2B5EF4-FFF2-40B4-BE49-F238E27FC236}">
                <a16:creationId xmlns:a16="http://schemas.microsoft.com/office/drawing/2014/main" id="{AE66B058-2340-5531-D6A5-B6A0460BC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16" y="2281798"/>
            <a:ext cx="2132956" cy="1690047"/>
          </a:xfrm>
          <a:prstGeom prst="rect">
            <a:avLst/>
          </a:prstGeom>
        </p:spPr>
      </p:pic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86BC4D59-489F-A072-CB6A-498ECCBC4B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15" y="4724317"/>
            <a:ext cx="2130429" cy="11913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A731F0-2093-7E4A-A311-E6B0A3A51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186" y="49588"/>
            <a:ext cx="1599258" cy="21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6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/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B9D44481-A5FD-7C46-98F5-D6E5BC31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832" y="-52912"/>
            <a:ext cx="1599258" cy="2123948"/>
          </a:xfrm>
          <a:prstGeom prst="rect">
            <a:avLst/>
          </a:prstGeom>
        </p:spPr>
      </p:pic>
      <p:sp>
        <p:nvSpPr>
          <p:cNvPr id="37890" name="Rectangle 4">
            <a:extLst>
              <a:ext uri="{FF2B5EF4-FFF2-40B4-BE49-F238E27FC236}">
                <a16:creationId xmlns:a16="http://schemas.microsoft.com/office/drawing/2014/main" id="{5C483CDC-9D75-EF4B-9404-264786F5D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141" y="37838"/>
            <a:ext cx="9575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11.</a:t>
            </a:r>
            <a:r>
              <a:rPr lang="zh-CN" altLang="en-US" sz="2000" b="1" dirty="0">
                <a:solidFill>
                  <a:schemeClr val="bg2"/>
                </a:solidFill>
                <a:latin typeface="宋体" panose="02010600030101010101" pitchFamily="2" charset="-122"/>
              </a:rPr>
              <a:t>检索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计算机</a:t>
            </a:r>
            <a:r>
              <a:rPr lang="zh-CN" altLang="en-US" sz="2000" b="1" dirty="0">
                <a:solidFill>
                  <a:schemeClr val="bg2"/>
                </a:solidFill>
                <a:latin typeface="宋体" panose="02010600030101010101" pitchFamily="2" charset="-122"/>
              </a:rPr>
              <a:t>、姓</a:t>
            </a:r>
            <a:r>
              <a:rPr lang="zh-CN" altLang="en-US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“李”</a:t>
            </a:r>
            <a:r>
              <a:rPr lang="zh-CN" altLang="en-US" sz="2000" b="1" dirty="0">
                <a:solidFill>
                  <a:schemeClr val="bg2"/>
                </a:solidFill>
                <a:latin typeface="宋体" panose="02010600030101010101" pitchFamily="2" charset="-122"/>
              </a:rPr>
              <a:t>的全体</a:t>
            </a:r>
            <a:r>
              <a:rPr lang="zh-CN" altLang="en-US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男</a:t>
            </a:r>
            <a:r>
              <a:rPr lang="zh-CN" altLang="en-US" sz="2000" b="1" dirty="0">
                <a:solidFill>
                  <a:srgbClr val="000000"/>
                </a:solidFill>
                <a:latin typeface="宋体" panose="02010600030101010101" pitchFamily="2" charset="-122"/>
              </a:rPr>
              <a:t>同学的</a:t>
            </a:r>
            <a:r>
              <a: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</a:rPr>
              <a:t>学号、姓名和出生年份。</a:t>
            </a:r>
          </a:p>
        </p:txBody>
      </p:sp>
      <p:sp>
        <p:nvSpPr>
          <p:cNvPr id="968709" name="Rectangle 5">
            <a:extLst>
              <a:ext uri="{FF2B5EF4-FFF2-40B4-BE49-F238E27FC236}">
                <a16:creationId xmlns:a16="http://schemas.microsoft.com/office/drawing/2014/main" id="{1CAEAE34-AD70-AF4A-847E-187866FF8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9242" y="1585913"/>
            <a:ext cx="8424863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SELECT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SNO,SNAME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,2020-AGE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AS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BIRTH_YEAR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FROM 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WHERE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SNAME </a:t>
            </a:r>
            <a:r>
              <a:rPr lang="en-US" altLang="zh-CN" sz="2400" b="1" dirty="0">
                <a:solidFill>
                  <a:srgbClr val="000066"/>
                </a:solidFill>
                <a:latin typeface="宋体" panose="02010600030101010101" pitchFamily="2" charset="-122"/>
                <a:sym typeface="Symbol" pitchFamily="2" charset="2"/>
              </a:rPr>
              <a:t>LIKE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李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%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endParaRPr lang="en-US" altLang="zh-CN" sz="2400" b="1" dirty="0">
              <a:solidFill>
                <a:srgbClr val="660033"/>
              </a:solidFill>
              <a:latin typeface="宋体" panose="02010600030101010101" pitchFamily="2" charset="-122"/>
              <a:sym typeface="Symbol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   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AND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SDEPT='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CS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  AND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SEX='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男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</a:p>
        </p:txBody>
      </p:sp>
      <p:sp>
        <p:nvSpPr>
          <p:cNvPr id="968711" name="Freeform 7">
            <a:extLst>
              <a:ext uri="{FF2B5EF4-FFF2-40B4-BE49-F238E27FC236}">
                <a16:creationId xmlns:a16="http://schemas.microsoft.com/office/drawing/2014/main" id="{CFFE9A97-7F85-CF4C-A2DD-1AE310BFE29E}"/>
              </a:ext>
            </a:extLst>
          </p:cNvPr>
          <p:cNvSpPr>
            <a:spLocks/>
          </p:cNvSpPr>
          <p:nvPr/>
        </p:nvSpPr>
        <p:spPr bwMode="auto">
          <a:xfrm>
            <a:off x="2095212" y="2338317"/>
            <a:ext cx="950913" cy="522288"/>
          </a:xfrm>
          <a:custGeom>
            <a:avLst/>
            <a:gdLst>
              <a:gd name="T0" fmla="*/ 2147483646 w 599"/>
              <a:gd name="T1" fmla="*/ 2147483646 h 329"/>
              <a:gd name="T2" fmla="*/ 2147483646 w 599"/>
              <a:gd name="T3" fmla="*/ 2147483646 h 329"/>
              <a:gd name="T4" fmla="*/ 2147483646 w 599"/>
              <a:gd name="T5" fmla="*/ 2147483646 h 329"/>
              <a:gd name="T6" fmla="*/ 2147483646 w 599"/>
              <a:gd name="T7" fmla="*/ 2147483646 h 329"/>
              <a:gd name="T8" fmla="*/ 2147483646 w 599"/>
              <a:gd name="T9" fmla="*/ 2147483646 h 329"/>
              <a:gd name="T10" fmla="*/ 2147483646 w 599"/>
              <a:gd name="T11" fmla="*/ 2147483646 h 329"/>
              <a:gd name="T12" fmla="*/ 2147483646 w 599"/>
              <a:gd name="T13" fmla="*/ 0 h 329"/>
              <a:gd name="T14" fmla="*/ 2147483646 w 599"/>
              <a:gd name="T15" fmla="*/ 2147483646 h 329"/>
              <a:gd name="T16" fmla="*/ 2147483646 w 599"/>
              <a:gd name="T17" fmla="*/ 2147483646 h 329"/>
              <a:gd name="T18" fmla="*/ 2147483646 w 599"/>
              <a:gd name="T19" fmla="*/ 2147483646 h 329"/>
              <a:gd name="T20" fmla="*/ 2147483646 w 599"/>
              <a:gd name="T21" fmla="*/ 2147483646 h 329"/>
              <a:gd name="T22" fmla="*/ 2147483646 w 599"/>
              <a:gd name="T23" fmla="*/ 2147483646 h 329"/>
              <a:gd name="T24" fmla="*/ 2147483646 w 599"/>
              <a:gd name="T25" fmla="*/ 2147483646 h 329"/>
              <a:gd name="T26" fmla="*/ 2147483646 w 599"/>
              <a:gd name="T27" fmla="*/ 2147483646 h 32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599"/>
              <a:gd name="T43" fmla="*/ 0 h 329"/>
              <a:gd name="T44" fmla="*/ 599 w 599"/>
              <a:gd name="T45" fmla="*/ 329 h 32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599" h="329">
                <a:moveTo>
                  <a:pt x="379" y="312"/>
                </a:moveTo>
                <a:cubicBezTo>
                  <a:pt x="301" y="318"/>
                  <a:pt x="208" y="329"/>
                  <a:pt x="131" y="312"/>
                </a:cubicBezTo>
                <a:cubicBezTo>
                  <a:pt x="0" y="283"/>
                  <a:pt x="208" y="288"/>
                  <a:pt x="107" y="288"/>
                </a:cubicBezTo>
                <a:cubicBezTo>
                  <a:pt x="93" y="275"/>
                  <a:pt x="72" y="268"/>
                  <a:pt x="66" y="250"/>
                </a:cubicBezTo>
                <a:cubicBezTo>
                  <a:pt x="65" y="246"/>
                  <a:pt x="102" y="176"/>
                  <a:pt x="107" y="168"/>
                </a:cubicBezTo>
                <a:cubicBezTo>
                  <a:pt x="110" y="131"/>
                  <a:pt x="108" y="93"/>
                  <a:pt x="115" y="56"/>
                </a:cubicBezTo>
                <a:cubicBezTo>
                  <a:pt x="122" y="18"/>
                  <a:pt x="200" y="5"/>
                  <a:pt x="227" y="0"/>
                </a:cubicBezTo>
                <a:cubicBezTo>
                  <a:pt x="324" y="6"/>
                  <a:pt x="399" y="22"/>
                  <a:pt x="491" y="40"/>
                </a:cubicBezTo>
                <a:cubicBezTo>
                  <a:pt x="521" y="55"/>
                  <a:pt x="539" y="77"/>
                  <a:pt x="571" y="88"/>
                </a:cubicBezTo>
                <a:cubicBezTo>
                  <a:pt x="599" y="131"/>
                  <a:pt x="575" y="162"/>
                  <a:pt x="563" y="208"/>
                </a:cubicBezTo>
                <a:cubicBezTo>
                  <a:pt x="552" y="248"/>
                  <a:pt x="557" y="266"/>
                  <a:pt x="515" y="280"/>
                </a:cubicBezTo>
                <a:cubicBezTo>
                  <a:pt x="506" y="308"/>
                  <a:pt x="509" y="318"/>
                  <a:pt x="467" y="320"/>
                </a:cubicBezTo>
                <a:cubicBezTo>
                  <a:pt x="424" y="322"/>
                  <a:pt x="382" y="316"/>
                  <a:pt x="339" y="312"/>
                </a:cubicBezTo>
                <a:cubicBezTo>
                  <a:pt x="326" y="311"/>
                  <a:pt x="366" y="312"/>
                  <a:pt x="379" y="312"/>
                </a:cubicBezTo>
                <a:close/>
              </a:path>
            </a:pathLst>
          </a:custGeom>
          <a:noFill/>
          <a:ln w="19050">
            <a:solidFill>
              <a:srgbClr val="66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37893" name="Rectangle 10">
            <a:extLst>
              <a:ext uri="{FF2B5EF4-FFF2-40B4-BE49-F238E27FC236}">
                <a16:creationId xmlns:a16="http://schemas.microsoft.com/office/drawing/2014/main" id="{203EE4A0-546A-BF4E-803B-A8E8C6441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3388" y="4016375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宋体" panose="02010600030101010101" pitchFamily="2" charset="-122"/>
            </a:endParaRPr>
          </a:p>
        </p:txBody>
      </p:sp>
      <p:sp>
        <p:nvSpPr>
          <p:cNvPr id="968715" name="Rectangle 11">
            <a:extLst>
              <a:ext uri="{FF2B5EF4-FFF2-40B4-BE49-F238E27FC236}">
                <a16:creationId xmlns:a16="http://schemas.microsoft.com/office/drawing/2014/main" id="{ED29A532-6950-5045-8260-1456852FF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4983" y="2035175"/>
            <a:ext cx="4252913" cy="4635500"/>
          </a:xfrm>
          <a:prstGeom prst="rect">
            <a:avLst/>
          </a:prstGeom>
          <a:solidFill>
            <a:srgbClr val="FFFFCC"/>
          </a:solidFill>
          <a:ln w="9525">
            <a:solidFill>
              <a:srgbClr val="660033"/>
            </a:solidFill>
            <a:prstDash val="dashDot"/>
            <a:miter lim="800000"/>
            <a:headEnd/>
            <a:tailEnd/>
          </a:ln>
          <a:effectLst/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LIKE </a:t>
            </a:r>
            <a:r>
              <a:rPr lang="zh-CN" altLang="en-US" sz="20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谓词的一般形式是：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     列名  </a:t>
            </a:r>
            <a:r>
              <a:rPr lang="en-US" altLang="zh-CN" sz="2000" b="1" dirty="0">
                <a:solidFill>
                  <a:schemeClr val="bg1"/>
                </a:solidFill>
              </a:rPr>
              <a:t>LIKE  </a:t>
            </a:r>
            <a:r>
              <a:rPr lang="zh-CN" altLang="en-US" sz="2000" b="1" dirty="0">
                <a:solidFill>
                  <a:schemeClr val="bg1"/>
                </a:solidFill>
              </a:rPr>
              <a:t>字符串常数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</a:rPr>
              <a:t>其中：列名的类型必须是字符串   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</a:rPr>
              <a:t>      或可变字符串。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</a:rPr>
              <a:t>字符串常数中通配符的含义如下：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0033"/>
                </a:solidFill>
              </a:rPr>
              <a:t>%(</a:t>
            </a:r>
            <a:r>
              <a:rPr lang="zh-CN" altLang="en-US" sz="2000" b="1" dirty="0">
                <a:solidFill>
                  <a:srgbClr val="660033"/>
                </a:solidFill>
              </a:rPr>
              <a:t>百分号</a:t>
            </a:r>
            <a:r>
              <a:rPr lang="en-US" altLang="zh-CN" sz="2000" b="1" dirty="0">
                <a:solidFill>
                  <a:srgbClr val="660033"/>
                </a:solidFill>
              </a:rPr>
              <a:t>):</a:t>
            </a:r>
            <a:r>
              <a:rPr lang="zh-CN" altLang="en-US" sz="2000" b="1" dirty="0">
                <a:solidFill>
                  <a:schemeClr val="bg2"/>
                </a:solidFill>
              </a:rPr>
              <a:t>表示可以与任意长度  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</a:rPr>
              <a:t>          的字符串匹配。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660033"/>
                </a:solidFill>
              </a:rPr>
              <a:t>_(</a:t>
            </a:r>
            <a:r>
              <a:rPr lang="zh-CN" altLang="en-US" sz="2000" b="1" dirty="0">
                <a:solidFill>
                  <a:srgbClr val="660033"/>
                </a:solidFill>
              </a:rPr>
              <a:t>下划线</a:t>
            </a:r>
            <a:r>
              <a:rPr lang="en-US" altLang="zh-CN" sz="2000" b="1" dirty="0">
                <a:solidFill>
                  <a:srgbClr val="660033"/>
                </a:solidFill>
              </a:rPr>
              <a:t>):</a:t>
            </a:r>
            <a:r>
              <a:rPr lang="zh-CN" altLang="en-US" sz="2000" b="1" dirty="0">
                <a:solidFill>
                  <a:schemeClr val="bg2"/>
                </a:solidFill>
              </a:rPr>
              <a:t>表示可以与任意单个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</a:rPr>
              <a:t>          字符匹配。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2"/>
                </a:solidFill>
              </a:rPr>
              <a:t>所有其他的字符只代表自己。 </a:t>
            </a:r>
            <a:endParaRPr lang="zh-CN" altLang="en-US" sz="2000" dirty="0"/>
          </a:p>
        </p:txBody>
      </p:sp>
      <p:sp>
        <p:nvSpPr>
          <p:cNvPr id="968716" name="Freeform 12">
            <a:extLst>
              <a:ext uri="{FF2B5EF4-FFF2-40B4-BE49-F238E27FC236}">
                <a16:creationId xmlns:a16="http://schemas.microsoft.com/office/drawing/2014/main" id="{9B8DA956-6D93-EB4C-BE2B-D7276BE881F6}"/>
              </a:ext>
            </a:extLst>
          </p:cNvPr>
          <p:cNvSpPr>
            <a:spLocks/>
          </p:cNvSpPr>
          <p:nvPr/>
        </p:nvSpPr>
        <p:spPr bwMode="auto">
          <a:xfrm>
            <a:off x="2974975" y="1345983"/>
            <a:ext cx="3992563" cy="792163"/>
          </a:xfrm>
          <a:custGeom>
            <a:avLst/>
            <a:gdLst>
              <a:gd name="T0" fmla="*/ 2147483646 w 2515"/>
              <a:gd name="T1" fmla="*/ 2147483646 h 499"/>
              <a:gd name="T2" fmla="*/ 2147483646 w 2515"/>
              <a:gd name="T3" fmla="*/ 2147483646 h 499"/>
              <a:gd name="T4" fmla="*/ 2147483646 w 2515"/>
              <a:gd name="T5" fmla="*/ 2147483646 h 499"/>
              <a:gd name="T6" fmla="*/ 2147483646 w 2515"/>
              <a:gd name="T7" fmla="*/ 2147483646 h 499"/>
              <a:gd name="T8" fmla="*/ 2147483646 w 2515"/>
              <a:gd name="T9" fmla="*/ 2147483646 h 499"/>
              <a:gd name="T10" fmla="*/ 2147483646 w 2515"/>
              <a:gd name="T11" fmla="*/ 2147483646 h 499"/>
              <a:gd name="T12" fmla="*/ 2147483646 w 2515"/>
              <a:gd name="T13" fmla="*/ 2147483646 h 499"/>
              <a:gd name="T14" fmla="*/ 2147483646 w 2515"/>
              <a:gd name="T15" fmla="*/ 2147483646 h 499"/>
              <a:gd name="T16" fmla="*/ 2147483646 w 2515"/>
              <a:gd name="T17" fmla="*/ 2147483646 h 499"/>
              <a:gd name="T18" fmla="*/ 2147483646 w 2515"/>
              <a:gd name="T19" fmla="*/ 2147483646 h 499"/>
              <a:gd name="T20" fmla="*/ 2147483646 w 2515"/>
              <a:gd name="T21" fmla="*/ 2147483646 h 499"/>
              <a:gd name="T22" fmla="*/ 2147483646 w 2515"/>
              <a:gd name="T23" fmla="*/ 2147483646 h 499"/>
              <a:gd name="T24" fmla="*/ 2147483646 w 2515"/>
              <a:gd name="T25" fmla="*/ 2147483646 h 499"/>
              <a:gd name="T26" fmla="*/ 2147483646 w 2515"/>
              <a:gd name="T27" fmla="*/ 2147483646 h 499"/>
              <a:gd name="T28" fmla="*/ 2147483646 w 2515"/>
              <a:gd name="T29" fmla="*/ 2147483646 h 499"/>
              <a:gd name="T30" fmla="*/ 2147483646 w 2515"/>
              <a:gd name="T31" fmla="*/ 2147483646 h 499"/>
              <a:gd name="T32" fmla="*/ 2147483646 w 2515"/>
              <a:gd name="T33" fmla="*/ 2147483646 h 499"/>
              <a:gd name="T34" fmla="*/ 2147483646 w 2515"/>
              <a:gd name="T35" fmla="*/ 2147483646 h 499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2515"/>
              <a:gd name="T55" fmla="*/ 0 h 499"/>
              <a:gd name="T56" fmla="*/ 2515 w 2515"/>
              <a:gd name="T57" fmla="*/ 499 h 499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2515" h="499">
                <a:moveTo>
                  <a:pt x="145" y="107"/>
                </a:moveTo>
                <a:cubicBezTo>
                  <a:pt x="340" y="42"/>
                  <a:pt x="549" y="50"/>
                  <a:pt x="753" y="35"/>
                </a:cubicBezTo>
                <a:cubicBezTo>
                  <a:pt x="793" y="32"/>
                  <a:pt x="833" y="20"/>
                  <a:pt x="873" y="19"/>
                </a:cubicBezTo>
                <a:cubicBezTo>
                  <a:pt x="1113" y="12"/>
                  <a:pt x="1353" y="14"/>
                  <a:pt x="1593" y="11"/>
                </a:cubicBezTo>
                <a:cubicBezTo>
                  <a:pt x="1768" y="46"/>
                  <a:pt x="1527" y="0"/>
                  <a:pt x="2017" y="27"/>
                </a:cubicBezTo>
                <a:cubicBezTo>
                  <a:pt x="2088" y="31"/>
                  <a:pt x="2162" y="66"/>
                  <a:pt x="2233" y="75"/>
                </a:cubicBezTo>
                <a:cubicBezTo>
                  <a:pt x="2284" y="92"/>
                  <a:pt x="2332" y="114"/>
                  <a:pt x="2385" y="123"/>
                </a:cubicBezTo>
                <a:cubicBezTo>
                  <a:pt x="2409" y="139"/>
                  <a:pt x="2433" y="147"/>
                  <a:pt x="2457" y="163"/>
                </a:cubicBezTo>
                <a:cubicBezTo>
                  <a:pt x="2486" y="207"/>
                  <a:pt x="2515" y="293"/>
                  <a:pt x="2449" y="315"/>
                </a:cubicBezTo>
                <a:cubicBezTo>
                  <a:pt x="2436" y="354"/>
                  <a:pt x="2410" y="347"/>
                  <a:pt x="2377" y="363"/>
                </a:cubicBezTo>
                <a:cubicBezTo>
                  <a:pt x="2289" y="407"/>
                  <a:pt x="2206" y="465"/>
                  <a:pt x="2105" y="475"/>
                </a:cubicBezTo>
                <a:cubicBezTo>
                  <a:pt x="2052" y="480"/>
                  <a:pt x="1998" y="482"/>
                  <a:pt x="1945" y="483"/>
                </a:cubicBezTo>
                <a:cubicBezTo>
                  <a:pt x="1702" y="490"/>
                  <a:pt x="1460" y="494"/>
                  <a:pt x="1217" y="499"/>
                </a:cubicBezTo>
                <a:cubicBezTo>
                  <a:pt x="876" y="496"/>
                  <a:pt x="534" y="499"/>
                  <a:pt x="193" y="491"/>
                </a:cubicBezTo>
                <a:cubicBezTo>
                  <a:pt x="168" y="490"/>
                  <a:pt x="146" y="472"/>
                  <a:pt x="121" y="467"/>
                </a:cubicBezTo>
                <a:cubicBezTo>
                  <a:pt x="87" y="444"/>
                  <a:pt x="72" y="454"/>
                  <a:pt x="49" y="419"/>
                </a:cubicBezTo>
                <a:cubicBezTo>
                  <a:pt x="34" y="346"/>
                  <a:pt x="0" y="206"/>
                  <a:pt x="81" y="179"/>
                </a:cubicBezTo>
                <a:cubicBezTo>
                  <a:pt x="106" y="141"/>
                  <a:pt x="101" y="129"/>
                  <a:pt x="145" y="107"/>
                </a:cubicBezTo>
                <a:close/>
              </a:path>
            </a:pathLst>
          </a:custGeom>
          <a:noFill/>
          <a:ln w="222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8717" name="AutoShape 13">
            <a:extLst>
              <a:ext uri="{FF2B5EF4-FFF2-40B4-BE49-F238E27FC236}">
                <a16:creationId xmlns:a16="http://schemas.microsoft.com/office/drawing/2014/main" id="{F3F526F0-5FA3-A340-B756-EE87B70F2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317" y="751682"/>
            <a:ext cx="1060163" cy="609600"/>
          </a:xfrm>
          <a:prstGeom prst="cloudCallout">
            <a:avLst>
              <a:gd name="adj1" fmla="val -51318"/>
              <a:gd name="adj2" fmla="val 64573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</a:rPr>
              <a:t>别名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30B95E-FB18-784F-83C1-13CCC5FA97C6}"/>
              </a:ext>
            </a:extLst>
          </p:cNvPr>
          <p:cNvSpPr txBox="1"/>
          <p:nvPr/>
        </p:nvSpPr>
        <p:spPr>
          <a:xfrm>
            <a:off x="2085110" y="725827"/>
            <a:ext cx="497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00FF"/>
                </a:solidFill>
              </a:rPr>
              <a:t>S</a:t>
            </a:r>
            <a:r>
              <a:rPr lang="zh-CN" altLang="en-US" sz="1800" b="1" dirty="0">
                <a:solidFill>
                  <a:srgbClr val="0000FF"/>
                </a:solidFill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1800" b="1" dirty="0">
                <a:solidFill>
                  <a:srgbClr val="0000FF"/>
                </a:solidFill>
              </a:rPr>
              <a:t>） </a:t>
            </a:r>
            <a:endParaRPr lang="zh-CN" altLang="en-US" dirty="0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01ABB9FC-E1BD-680F-F4B0-8EE378F242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61" y="4411592"/>
            <a:ext cx="3910828" cy="169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57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6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6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6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968709" grpId="0"/>
      <p:bldP spid="968715" grpId="0" animBg="1"/>
      <p:bldP spid="968717" grpId="0" animBg="1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B07C001-A9FC-6E4A-809D-1697359F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93" y="1772413"/>
            <a:ext cx="5455617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12</a:t>
            </a:r>
            <a:r>
              <a:rPr lang="zh-CN" altLang="en-US" sz="2400" b="1" dirty="0">
                <a:solidFill>
                  <a:schemeClr val="bg2"/>
                </a:solidFill>
              </a:rPr>
              <a:t>、查询姓</a:t>
            </a:r>
            <a:r>
              <a:rPr lang="en-US" altLang="zh-CN" sz="2400" b="1" dirty="0">
                <a:solidFill>
                  <a:schemeClr val="bg2"/>
                </a:solidFill>
              </a:rPr>
              <a:t>"</a:t>
            </a:r>
            <a:r>
              <a:rPr lang="zh-CN" altLang="en-US" sz="2400" b="1" dirty="0">
                <a:solidFill>
                  <a:schemeClr val="bg2"/>
                </a:solidFill>
              </a:rPr>
              <a:t>欧阳</a:t>
            </a:r>
            <a:r>
              <a:rPr lang="en-US" altLang="zh-CN" sz="2400" b="1" dirty="0">
                <a:solidFill>
                  <a:schemeClr val="bg2"/>
                </a:solidFill>
              </a:rPr>
              <a:t>"</a:t>
            </a:r>
            <a:r>
              <a:rPr lang="zh-CN" altLang="en-US" sz="2400" b="1" dirty="0">
                <a:solidFill>
                  <a:schemeClr val="bg2"/>
                </a:solidFill>
              </a:rPr>
              <a:t>且全名为三个汉字的学生的姓名。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DF6DC0-647A-3F42-BED4-53AB7319C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93" y="4001142"/>
            <a:ext cx="8137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13</a:t>
            </a:r>
            <a:r>
              <a:rPr lang="zh-CN" altLang="en-US" sz="2400" b="1" dirty="0">
                <a:solidFill>
                  <a:schemeClr val="bg2"/>
                </a:solidFill>
              </a:rPr>
              <a:t>、某些学生选修课程后没有参加考试，所以有选课记录，但没有考试成绩。查询缺少成绩的学生的学号和相应的课程号。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A3F9BB9-375A-A543-98C5-5FBE19E6B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474962"/>
            <a:ext cx="5905500" cy="137954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SNAME</a:t>
            </a:r>
            <a:endParaRPr lang="en-US" altLang="zh-CN" sz="2400" dirty="0">
              <a:solidFill>
                <a:srgbClr val="660033"/>
              </a:solidFill>
              <a:latin typeface="+mn-lt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</a:rPr>
              <a:t>SNAME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like</a:t>
            </a:r>
            <a:r>
              <a:rPr lang="zh-CN" altLang="en-US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zh-CN" altLang="en-US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欧阳</a:t>
            </a:r>
            <a:r>
              <a:rPr lang="en-US" altLang="zh-CN" sz="2400" dirty="0">
                <a:solidFill>
                  <a:schemeClr val="bg1"/>
                </a:solidFill>
                <a:latin typeface="+mn-lt"/>
              </a:rPr>
              <a:t>_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;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D1607A7-B59E-C24E-B32D-C30827021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5187868"/>
            <a:ext cx="5905500" cy="137954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SNO,CNO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SC</a:t>
            </a:r>
          </a:p>
          <a:p>
            <a:pPr>
              <a:lnSpc>
                <a:spcPct val="12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GRADE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sym typeface="Symbol" pitchFamily="2" charset="2"/>
              </a:rPr>
              <a:t>IS</a:t>
            </a:r>
            <a:r>
              <a:rPr lang="zh-CN" altLang="en-US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NULL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125595-A16C-C644-8FB5-8FD8E3B1B768}"/>
              </a:ext>
            </a:extLst>
          </p:cNvPr>
          <p:cNvSpPr txBox="1"/>
          <p:nvPr/>
        </p:nvSpPr>
        <p:spPr>
          <a:xfrm>
            <a:off x="530524" y="40917"/>
            <a:ext cx="5272086" cy="136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dirty="0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03E5165E-8E76-94A9-1F59-BCEF9E116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610" y="2414343"/>
            <a:ext cx="2839070" cy="1445158"/>
          </a:xfrm>
          <a:prstGeom prst="rect">
            <a:avLst/>
          </a:prstGeom>
        </p:spPr>
      </p:pic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543E378C-D1F1-5EAF-A531-FB858E7ABE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5" b="-1"/>
          <a:stretch/>
        </p:blipFill>
        <p:spPr>
          <a:xfrm>
            <a:off x="6078935" y="5152193"/>
            <a:ext cx="2557512" cy="14451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90F83F-7458-884C-999B-554F70D3E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238" y="-41384"/>
            <a:ext cx="1511266" cy="23090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C57027A-CD35-8047-B019-35BB49039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492" y="-41384"/>
            <a:ext cx="1738665" cy="23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>
            <a:extLst>
              <a:ext uri="{FF2B5EF4-FFF2-40B4-BE49-F238E27FC236}">
                <a16:creationId xmlns:a16="http://schemas.microsoft.com/office/drawing/2014/main" id="{1B07C001-A9FC-6E4A-809D-1697359F6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435" y="1724303"/>
            <a:ext cx="8369129" cy="111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14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</a:t>
            </a: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</a:rPr>
              <a:t>号课程的学生的学号及其成绩，查询结果按分数降序排列。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A3F9BB9-375A-A543-98C5-5FBE19E6B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3106701"/>
            <a:ext cx="5905500" cy="182646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SELECT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SNO,GRADE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 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FROM SC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  WHERE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CNO=</a:t>
            </a:r>
            <a:r>
              <a:rPr lang="zh-CN" altLang="en-US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sym typeface="Symbol" pitchFamily="2" charset="2"/>
              </a:rPr>
              <a:t>C3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endParaRPr lang="en-US" altLang="zh-CN" sz="2400" dirty="0">
              <a:solidFill>
                <a:schemeClr val="bg2"/>
              </a:solidFill>
              <a:latin typeface="+mn-lt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Microsoft YaHei" panose="020B0503020204020204" pitchFamily="34" charset="-122"/>
              </a:rPr>
              <a:t>ORDER BY </a:t>
            </a:r>
            <a:r>
              <a:rPr lang="en-US" altLang="zh-CN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GRADE</a:t>
            </a:r>
            <a:r>
              <a:rPr lang="zh-CN" altLang="en-US" sz="2400" dirty="0">
                <a:solidFill>
                  <a:srgbClr val="660033"/>
                </a:solidFill>
                <a:latin typeface="+mn-lt"/>
                <a:sym typeface="Symbol" pitchFamily="2" charset="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Microsoft YaHei" panose="020B0503020204020204" pitchFamily="34" charset="-122"/>
              </a:rPr>
              <a:t>DESC</a:t>
            </a:r>
            <a:r>
              <a:rPr lang="en-US" altLang="zh-CN" sz="2400" dirty="0">
                <a:solidFill>
                  <a:schemeClr val="bg2"/>
                </a:solidFill>
                <a:latin typeface="+mn-lt"/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+mn-lt"/>
                <a:sym typeface="Symbol" pitchFamily="2" charset="2"/>
              </a:rPr>
              <a:t>;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125595-A16C-C644-8FB5-8FD8E3B1B768}"/>
              </a:ext>
            </a:extLst>
          </p:cNvPr>
          <p:cNvSpPr txBox="1"/>
          <p:nvPr/>
        </p:nvSpPr>
        <p:spPr>
          <a:xfrm>
            <a:off x="827584" y="226922"/>
            <a:ext cx="5272086" cy="136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2400" b="1" dirty="0">
                <a:solidFill>
                  <a:srgbClr val="0000FF"/>
                </a:solidFill>
              </a:rPr>
              <a:t>）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SC</a:t>
            </a:r>
            <a:r>
              <a:rPr lang="zh-CN" altLang="en-US" sz="2400" b="1" dirty="0">
                <a:solidFill>
                  <a:srgbClr val="0000FF"/>
                </a:solidFill>
              </a:rPr>
              <a:t>（</a:t>
            </a:r>
            <a:r>
              <a:rPr lang="en-US" altLang="zh-CN" sz="2400" b="1" u="sng" dirty="0">
                <a:solidFill>
                  <a:srgbClr val="0000FF"/>
                </a:solidFill>
              </a:rPr>
              <a:t>SNO</a:t>
            </a:r>
            <a:r>
              <a:rPr lang="en-US" altLang="zh-CN" sz="2400" b="1" dirty="0">
                <a:solidFill>
                  <a:srgbClr val="0000FF"/>
                </a:solidFill>
              </a:rPr>
              <a:t>, </a:t>
            </a:r>
            <a:r>
              <a:rPr lang="en-US" altLang="zh-CN" sz="2400" b="1" u="sng" dirty="0">
                <a:solidFill>
                  <a:srgbClr val="0000FF"/>
                </a:solidFill>
              </a:rPr>
              <a:t>CNO</a:t>
            </a:r>
            <a:r>
              <a:rPr lang="en-US" altLang="zh-CN" sz="2400" b="1" dirty="0">
                <a:solidFill>
                  <a:srgbClr val="0000FF"/>
                </a:solidFill>
              </a:rPr>
              <a:t>, GRADE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3DB5AF-BA88-B847-A7B0-C0006E7CBBC3}"/>
              </a:ext>
            </a:extLst>
          </p:cNvPr>
          <p:cNvSpPr txBox="1"/>
          <p:nvPr/>
        </p:nvSpPr>
        <p:spPr>
          <a:xfrm>
            <a:off x="2051720" y="5589240"/>
            <a:ext cx="4600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ORDER BY </a:t>
            </a:r>
            <a:r>
              <a:rPr lang="zh-CN" altLang="en-US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子句用于对查询结果进行排序；</a:t>
            </a:r>
            <a:r>
              <a:rPr lang="en-US" altLang="zh-CN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ASC </a:t>
            </a:r>
            <a:r>
              <a:rPr lang="zh-CN" altLang="en-US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表示升序，</a:t>
            </a:r>
            <a:r>
              <a:rPr lang="en-US" altLang="zh-CN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DESC </a:t>
            </a:r>
            <a:r>
              <a:rPr lang="zh-CN" altLang="en-US" sz="1800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表示降序。</a:t>
            </a:r>
            <a:endParaRPr lang="zh-CN" altLang="en-US" dirty="0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DF25BA71-2F55-5DE4-DF96-EB5DEF007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016" y="3106701"/>
            <a:ext cx="2577314" cy="18423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C75E85-A46B-4E43-9D06-C25F9BEAD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-43649"/>
            <a:ext cx="1281623" cy="19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41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CFBCD0-3CE9-3C41-8E24-FA4877A0407F}"/>
              </a:ext>
            </a:extLst>
          </p:cNvPr>
          <p:cNvSpPr txBox="1"/>
          <p:nvPr/>
        </p:nvSpPr>
        <p:spPr>
          <a:xfrm>
            <a:off x="2863840" y="2420888"/>
            <a:ext cx="34163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solidFill>
                  <a:srgbClr val="0070C0"/>
                </a:solidFill>
              </a:rPr>
              <a:t>100</a:t>
            </a:r>
            <a:r>
              <a:rPr kumimoji="1" lang="zh-CN" altLang="en-US" sz="3600" dirty="0">
                <a:solidFill>
                  <a:srgbClr val="0070C0"/>
                </a:solidFill>
              </a:rPr>
              <a:t>道</a:t>
            </a:r>
            <a:r>
              <a:rPr kumimoji="1" lang="en-US" altLang="zh-CN" sz="3600" dirty="0">
                <a:solidFill>
                  <a:srgbClr val="0070C0"/>
                </a:solidFill>
              </a:rPr>
              <a:t>SQL</a:t>
            </a:r>
            <a:r>
              <a:rPr kumimoji="1" lang="zh-CN" altLang="en-US" sz="3600" dirty="0">
                <a:solidFill>
                  <a:srgbClr val="0070C0"/>
                </a:solidFill>
              </a:rPr>
              <a:t>面试题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初级查询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（</a:t>
            </a:r>
            <a:r>
              <a:rPr lang="en-US" altLang="zh-CN" sz="3600" dirty="0">
                <a:solidFill>
                  <a:srgbClr val="0070C0"/>
                </a:solidFill>
              </a:rPr>
              <a:t>1-38</a:t>
            </a:r>
            <a:r>
              <a:rPr lang="zh-CN" altLang="en-US" sz="3600" dirty="0">
                <a:solidFill>
                  <a:srgbClr val="0070C0"/>
                </a:solidFill>
              </a:rPr>
              <a:t>题）</a:t>
            </a:r>
            <a:endParaRPr kumimoji="1" lang="zh-CN" altLang="en-US" sz="3600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DD45D-439E-DC4A-93F7-3E7E4F67B71B}"/>
              </a:ext>
            </a:extLst>
          </p:cNvPr>
          <p:cNvSpPr txBox="1"/>
          <p:nvPr/>
        </p:nvSpPr>
        <p:spPr>
          <a:xfrm>
            <a:off x="832515" y="90872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rgbClr val="002060"/>
                </a:solidFill>
              </a:rPr>
              <a:t>综合应用</a:t>
            </a:r>
          </a:p>
        </p:txBody>
      </p:sp>
    </p:spTree>
    <p:extLst>
      <p:ext uri="{BB962C8B-B14F-4D97-AF65-F5344CB8AC3E}">
        <p14:creationId xmlns:p14="http://schemas.microsoft.com/office/powerpoint/2010/main" val="314561372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975" y="333375"/>
            <a:ext cx="8928100" cy="1943100"/>
          </a:xfrm>
        </p:spPr>
        <p:txBody>
          <a:bodyPr/>
          <a:lstStyle/>
          <a:p>
            <a:pPr marL="266700" indent="-266700"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0066"/>
                </a:solidFill>
              </a:rPr>
              <a:t>   4</a:t>
            </a:r>
            <a:r>
              <a:rPr lang="zh-CN" altLang="en-US" sz="2800" b="1" dirty="0">
                <a:solidFill>
                  <a:srgbClr val="000066"/>
                </a:solidFill>
              </a:rPr>
              <a:t>、多表查询（联接操作）</a:t>
            </a:r>
          </a:p>
          <a:p>
            <a:pPr marL="266700" indent="-266700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chemeClr val="bg2"/>
                </a:solidFill>
              </a:rPr>
              <a:t> </a:t>
            </a:r>
            <a:r>
              <a:rPr lang="zh-CN" altLang="en-US" sz="2800" b="1" dirty="0">
                <a:solidFill>
                  <a:srgbClr val="660033"/>
                </a:solidFill>
                <a:latin typeface="宋体" charset="-122"/>
              </a:rPr>
              <a:t>联接条件可在</a:t>
            </a:r>
            <a:r>
              <a:rPr lang="en-US" altLang="zh-CN" sz="2800" b="1" dirty="0">
                <a:solidFill>
                  <a:srgbClr val="660033"/>
                </a:solidFill>
                <a:latin typeface="宋体" charset="-122"/>
              </a:rPr>
              <a:t>WHERE</a:t>
            </a:r>
            <a:r>
              <a:rPr lang="zh-CN" altLang="en-US" sz="2800" b="1" dirty="0">
                <a:solidFill>
                  <a:srgbClr val="660033"/>
                </a:solidFill>
                <a:latin typeface="宋体" charset="-122"/>
              </a:rPr>
              <a:t>中指定</a:t>
            </a:r>
            <a:r>
              <a:rPr lang="en-US" altLang="zh-CN" sz="2800" b="1" dirty="0">
                <a:solidFill>
                  <a:srgbClr val="660033"/>
                </a:solidFill>
                <a:latin typeface="宋体" charset="-122"/>
              </a:rPr>
              <a:t>,</a:t>
            </a:r>
            <a:r>
              <a:rPr lang="zh-CN" altLang="en-US" sz="2800" b="1" dirty="0">
                <a:solidFill>
                  <a:srgbClr val="660033"/>
                </a:solidFill>
                <a:latin typeface="宋体" charset="-122"/>
              </a:rPr>
              <a:t>也可以在</a:t>
            </a:r>
            <a:r>
              <a:rPr lang="en-US" altLang="zh-CN" sz="2800" b="1" dirty="0">
                <a:solidFill>
                  <a:srgbClr val="660033"/>
                </a:solidFill>
                <a:latin typeface="宋体" charset="-122"/>
              </a:rPr>
              <a:t>FROM</a:t>
            </a:r>
            <a:r>
              <a:rPr lang="zh-CN" altLang="en-US" sz="2800" b="1" dirty="0">
                <a:solidFill>
                  <a:srgbClr val="660033"/>
                </a:solidFill>
                <a:latin typeface="宋体" charset="-122"/>
              </a:rPr>
              <a:t>子句中指定。</a:t>
            </a:r>
            <a:endParaRPr lang="zh-CN" altLang="en-US" sz="2800" b="1" dirty="0">
              <a:solidFill>
                <a:schemeClr val="bg2"/>
              </a:solidFill>
              <a:latin typeface="宋体" charset="-122"/>
            </a:endParaRPr>
          </a:p>
        </p:txBody>
      </p:sp>
      <p:sp>
        <p:nvSpPr>
          <p:cNvPr id="845828" name="Rectangle 4"/>
          <p:cNvSpPr>
            <a:spLocks noChangeArrowheads="1"/>
          </p:cNvSpPr>
          <p:nvPr/>
        </p:nvSpPr>
        <p:spPr bwMode="auto">
          <a:xfrm>
            <a:off x="250825" y="1989138"/>
            <a:ext cx="8893175" cy="2868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在</a:t>
            </a:r>
            <a:r>
              <a:rPr lang="en-US" altLang="zh-CN" sz="2800" b="1" dirty="0">
                <a:solidFill>
                  <a:schemeClr val="bg2"/>
                </a:solidFill>
              </a:rPr>
              <a:t>FROM</a:t>
            </a:r>
            <a:r>
              <a:rPr lang="zh-CN" altLang="en-US" sz="2800" b="1" dirty="0">
                <a:solidFill>
                  <a:schemeClr val="bg2"/>
                </a:solidFill>
              </a:rPr>
              <a:t>子句中指定联接条件时，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将</a:t>
            </a:r>
            <a:r>
              <a:rPr lang="zh-CN" altLang="en-US" sz="2800" b="1" dirty="0">
                <a:solidFill>
                  <a:srgbClr val="660033"/>
                </a:solidFill>
              </a:rPr>
              <a:t>联接操作符分成</a:t>
            </a:r>
            <a:r>
              <a:rPr lang="en-US" altLang="zh-CN" sz="2800" b="1" dirty="0">
                <a:solidFill>
                  <a:srgbClr val="660033"/>
                </a:solidFill>
              </a:rPr>
              <a:t>: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</a:p>
          <a:p>
            <a:pPr marL="914400" lvl="1" indent="-4572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</a:rPr>
              <a:t>联接类型：</a:t>
            </a:r>
            <a:r>
              <a:rPr lang="zh-CN" altLang="en-US" sz="2400" b="1" dirty="0">
                <a:solidFill>
                  <a:schemeClr val="bg2"/>
                </a:solidFill>
              </a:rPr>
              <a:t>决定了如何处理联接条件中不匹配的元组。</a:t>
            </a:r>
          </a:p>
          <a:p>
            <a:pPr marL="914400" lvl="1" indent="-457200" algn="just">
              <a:lnSpc>
                <a:spcPct val="15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</a:rPr>
              <a:t>联接条件：</a:t>
            </a:r>
            <a:r>
              <a:rPr lang="zh-CN" altLang="en-US" sz="2400" b="1" dirty="0">
                <a:solidFill>
                  <a:schemeClr val="bg2"/>
                </a:solidFill>
              </a:rPr>
              <a:t>决定了两个关系中哪些元组应该匹配。</a:t>
            </a:r>
          </a:p>
          <a:p>
            <a:pPr lvl="1"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联接类型中的</a:t>
            </a:r>
            <a:r>
              <a:rPr lang="en-US" altLang="zh-CN" sz="2400" b="1" dirty="0">
                <a:solidFill>
                  <a:schemeClr val="bg2"/>
                </a:solidFill>
              </a:rPr>
              <a:t>OUTER</a:t>
            </a:r>
            <a:r>
              <a:rPr lang="zh-CN" altLang="en-US" sz="2400" b="1" dirty="0">
                <a:solidFill>
                  <a:schemeClr val="bg2"/>
                </a:solidFill>
              </a:rPr>
              <a:t>字样可不写。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5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582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6968" name="Group 120">
            <a:extLst>
              <a:ext uri="{FF2B5EF4-FFF2-40B4-BE49-F238E27FC236}">
                <a16:creationId xmlns:a16="http://schemas.microsoft.com/office/drawing/2014/main" id="{AAB290D1-D342-8647-BF49-38E1445B02A8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984081339"/>
              </p:ext>
            </p:extLst>
          </p:nvPr>
        </p:nvGraphicFramePr>
        <p:xfrm>
          <a:off x="0" y="116632"/>
          <a:ext cx="9109075" cy="6557965"/>
        </p:xfrm>
        <a:graphic>
          <a:graphicData uri="http://schemas.openxmlformats.org/drawingml/2006/table">
            <a:tbl>
              <a:tblPr/>
              <a:tblGrid>
                <a:gridCol w="2699792">
                  <a:extLst>
                    <a:ext uri="{9D8B030D-6E8A-4147-A177-3AD203B41FA5}">
                      <a16:colId xmlns:a16="http://schemas.microsoft.com/office/drawing/2014/main" val="2173320839"/>
                    </a:ext>
                  </a:extLst>
                </a:gridCol>
                <a:gridCol w="6409283">
                  <a:extLst>
                    <a:ext uri="{9D8B030D-6E8A-4147-A177-3AD203B41FA5}">
                      <a16:colId xmlns:a16="http://schemas.microsoft.com/office/drawing/2014/main" val="102207534"/>
                    </a:ext>
                  </a:extLst>
                </a:gridCol>
              </a:tblGrid>
              <a:tr h="6921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联接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联接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类型说明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750774"/>
                  </a:ext>
                </a:extLst>
              </a:tr>
              <a:tr h="6746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INNER JOIN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内联接：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300671"/>
                  </a:ext>
                </a:extLst>
              </a:tr>
              <a:tr h="14938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LEFT OUTER JOIN</a:t>
                      </a: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左外联接：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134580"/>
                  </a:ext>
                </a:extLst>
              </a:tr>
              <a:tr h="143986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RIGHT OUTER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JOIN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右外联接：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805554"/>
                  </a:ext>
                </a:extLst>
              </a:tr>
              <a:tr h="10810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FULL OUTER JOIN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33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完全外联接：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19226"/>
                  </a:ext>
                </a:extLst>
              </a:tr>
              <a:tr h="11763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CROSS JOIN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交叉联接：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11181"/>
                  </a:ext>
                </a:extLst>
              </a:tr>
            </a:tbl>
          </a:graphicData>
        </a:graphic>
      </p:graphicFrame>
      <p:sp>
        <p:nvSpPr>
          <p:cNvPr id="846940" name="Rectangle 92">
            <a:extLst>
              <a:ext uri="{FF2B5EF4-FFF2-40B4-BE49-F238E27FC236}">
                <a16:creationId xmlns:a16="http://schemas.microsoft.com/office/drawing/2014/main" id="{F4204517-64F7-484C-B0B8-4F436FD3F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835770"/>
            <a:ext cx="5473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结果为两个联接表中匹配行的联接。</a:t>
            </a:r>
          </a:p>
        </p:txBody>
      </p:sp>
      <p:sp>
        <p:nvSpPr>
          <p:cNvPr id="846941" name="Rectangle 93">
            <a:extLst>
              <a:ext uri="{FF2B5EF4-FFF2-40B4-BE49-F238E27FC236}">
                <a16:creationId xmlns:a16="http://schemas.microsoft.com/office/drawing/2014/main" id="{66E1E367-55BA-CC48-8800-128484E3E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1288" y="1451720"/>
            <a:ext cx="6480175" cy="13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结果包括“左”表（出现在 </a:t>
            </a:r>
            <a:r>
              <a:rPr lang="en-US" altLang="zh-CN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JOIN 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子句的最左边）中的所有行。不包括右表中的不匹配行。</a:t>
            </a:r>
          </a:p>
        </p:txBody>
      </p:sp>
      <p:sp>
        <p:nvSpPr>
          <p:cNvPr id="846942" name="Rectangle 94">
            <a:extLst>
              <a:ext uri="{FF2B5EF4-FFF2-40B4-BE49-F238E27FC236}">
                <a16:creationId xmlns:a16="http://schemas.microsoft.com/office/drawing/2014/main" id="{DF2E81B2-7C09-CF41-8A99-2818542FF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964607"/>
            <a:ext cx="6300788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结果包括“右”表（出现在</a:t>
            </a:r>
            <a:r>
              <a:rPr lang="en-US" altLang="zh-CN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JOIN 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子句的最右边）中的所有行</a:t>
            </a:r>
            <a:r>
              <a:rPr lang="zh-CN" altLang="en-US" sz="2400" b="1">
                <a:solidFill>
                  <a:srgbClr val="66003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。不包括左表中的不匹配行。</a:t>
            </a:r>
          </a:p>
        </p:txBody>
      </p:sp>
      <p:sp>
        <p:nvSpPr>
          <p:cNvPr id="846943" name="Rectangle 95">
            <a:extLst>
              <a:ext uri="{FF2B5EF4-FFF2-40B4-BE49-F238E27FC236}">
                <a16:creationId xmlns:a16="http://schemas.microsoft.com/office/drawing/2014/main" id="{35798B49-7657-6147-848A-DF4A3A3F3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507657"/>
            <a:ext cx="63007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结果包括所有联接表中的所有行，不论它们是否匹配</a:t>
            </a:r>
          </a:p>
        </p:txBody>
      </p:sp>
      <p:sp>
        <p:nvSpPr>
          <p:cNvPr id="846944" name="Rectangle 96">
            <a:extLst>
              <a:ext uri="{FF2B5EF4-FFF2-40B4-BE49-F238E27FC236}">
                <a16:creationId xmlns:a16="http://schemas.microsoft.com/office/drawing/2014/main" id="{CD4453F8-FB56-4C42-9290-9259736A3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5444282"/>
            <a:ext cx="6408737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zh-CN" altLang="en-US" sz="2400" b="1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结果包括两个联接表中所有可能的行组合。交叉联接返回的是两个表的笛卡儿积</a:t>
            </a:r>
          </a:p>
        </p:txBody>
      </p:sp>
      <p:grpSp>
        <p:nvGrpSpPr>
          <p:cNvPr id="55326" name="Group 103">
            <a:extLst>
              <a:ext uri="{FF2B5EF4-FFF2-40B4-BE49-F238E27FC236}">
                <a16:creationId xmlns:a16="http://schemas.microsoft.com/office/drawing/2014/main" id="{0C0B0D3F-0ED8-974D-8979-510BBE4AC648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275632"/>
            <a:ext cx="457200" cy="280988"/>
            <a:chOff x="4620" y="5652"/>
            <a:chExt cx="315" cy="156"/>
          </a:xfrm>
        </p:grpSpPr>
        <p:sp>
          <p:nvSpPr>
            <p:cNvPr id="55338" name="AutoShape 104">
              <a:extLst>
                <a:ext uri="{FF2B5EF4-FFF2-40B4-BE49-F238E27FC236}">
                  <a16:creationId xmlns:a16="http://schemas.microsoft.com/office/drawing/2014/main" id="{37687FFF-057E-4C45-AC56-94719261ED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752" y="5625"/>
              <a:ext cx="156" cy="210"/>
            </a:xfrm>
            <a:prstGeom prst="flowChartCollate">
              <a:avLst/>
            </a:prstGeom>
            <a:solidFill>
              <a:srgbClr val="FFFFFF"/>
            </a:solidFill>
            <a:ln w="28575">
              <a:solidFill>
                <a:srgbClr val="6600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宋体" panose="02010600030101010101" pitchFamily="2" charset="-122"/>
              </a:endParaRPr>
            </a:p>
          </p:txBody>
        </p:sp>
        <p:sp>
          <p:nvSpPr>
            <p:cNvPr id="55339" name="Line 105">
              <a:extLst>
                <a:ext uri="{FF2B5EF4-FFF2-40B4-BE49-F238E27FC236}">
                  <a16:creationId xmlns:a16="http://schemas.microsoft.com/office/drawing/2014/main" id="{CBCF1A51-9EB8-1140-894C-5317C1413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0" y="5652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0" name="Line 106">
              <a:extLst>
                <a:ext uri="{FF2B5EF4-FFF2-40B4-BE49-F238E27FC236}">
                  <a16:creationId xmlns:a16="http://schemas.microsoft.com/office/drawing/2014/main" id="{CBC510E1-5E5E-A145-8808-C978B1127A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20" y="5808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27" name="Group 107">
            <a:extLst>
              <a:ext uri="{FF2B5EF4-FFF2-40B4-BE49-F238E27FC236}">
                <a16:creationId xmlns:a16="http://schemas.microsoft.com/office/drawing/2014/main" id="{2E837A09-8B4E-C84F-B33D-DB61EB7F6B7B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788520"/>
            <a:ext cx="447675" cy="236537"/>
            <a:chOff x="4935" y="6432"/>
            <a:chExt cx="315" cy="156"/>
          </a:xfrm>
        </p:grpSpPr>
        <p:sp>
          <p:nvSpPr>
            <p:cNvPr id="55335" name="AutoShape 108">
              <a:extLst>
                <a:ext uri="{FF2B5EF4-FFF2-40B4-BE49-F238E27FC236}">
                  <a16:creationId xmlns:a16="http://schemas.microsoft.com/office/drawing/2014/main" id="{EEEE97BD-9A8C-6C49-B693-60F156F8A9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962" y="6405"/>
              <a:ext cx="156" cy="210"/>
            </a:xfrm>
            <a:prstGeom prst="flowChartCollate">
              <a:avLst/>
            </a:prstGeom>
            <a:solidFill>
              <a:srgbClr val="FFFFFF"/>
            </a:solidFill>
            <a:ln w="28575">
              <a:solidFill>
                <a:srgbClr val="660033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宋体" panose="02010600030101010101" pitchFamily="2" charset="-122"/>
              </a:endParaRPr>
            </a:p>
          </p:txBody>
        </p:sp>
        <p:sp>
          <p:nvSpPr>
            <p:cNvPr id="55336" name="Line 109">
              <a:extLst>
                <a:ext uri="{FF2B5EF4-FFF2-40B4-BE49-F238E27FC236}">
                  <a16:creationId xmlns:a16="http://schemas.microsoft.com/office/drawing/2014/main" id="{4924C4F4-4D68-E643-A985-0E0D2BCE3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5" y="6432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7" name="Line 110">
              <a:extLst>
                <a:ext uri="{FF2B5EF4-FFF2-40B4-BE49-F238E27FC236}">
                  <a16:creationId xmlns:a16="http://schemas.microsoft.com/office/drawing/2014/main" id="{3892D302-70DE-6A46-A9CD-E34445A24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5" y="6588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28" name="Group 111">
            <a:extLst>
              <a:ext uri="{FF2B5EF4-FFF2-40B4-BE49-F238E27FC236}">
                <a16:creationId xmlns:a16="http://schemas.microsoft.com/office/drawing/2014/main" id="{0F8E0062-1CB1-1446-BEC7-94B25F795E22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5017245"/>
            <a:ext cx="701675" cy="282575"/>
            <a:chOff x="6405" y="8304"/>
            <a:chExt cx="420" cy="156"/>
          </a:xfrm>
        </p:grpSpPr>
        <p:sp>
          <p:nvSpPr>
            <p:cNvPr id="55330" name="AutoShape 112">
              <a:extLst>
                <a:ext uri="{FF2B5EF4-FFF2-40B4-BE49-F238E27FC236}">
                  <a16:creationId xmlns:a16="http://schemas.microsoft.com/office/drawing/2014/main" id="{DD9840BF-22DF-7041-8D1E-A8E1F345902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537" y="8277"/>
              <a:ext cx="156" cy="210"/>
            </a:xfrm>
            <a:prstGeom prst="flowChartCollate">
              <a:avLst/>
            </a:prstGeom>
            <a:noFill/>
            <a:ln w="28575">
              <a:solidFill>
                <a:srgbClr val="6600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宋体" panose="02010600030101010101" pitchFamily="2" charset="-122"/>
              </a:endParaRPr>
            </a:p>
          </p:txBody>
        </p:sp>
        <p:sp>
          <p:nvSpPr>
            <p:cNvPr id="55331" name="Line 113">
              <a:extLst>
                <a:ext uri="{FF2B5EF4-FFF2-40B4-BE49-F238E27FC236}">
                  <a16:creationId xmlns:a16="http://schemas.microsoft.com/office/drawing/2014/main" id="{80F4A39B-F1DF-484B-B48A-157BF83C5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0" y="8304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2" name="Line 114">
              <a:extLst>
                <a:ext uri="{FF2B5EF4-FFF2-40B4-BE49-F238E27FC236}">
                  <a16:creationId xmlns:a16="http://schemas.microsoft.com/office/drawing/2014/main" id="{677D6729-A7B2-2B4E-ABC5-7DAE97823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0" y="8460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3" name="Line 115">
              <a:extLst>
                <a:ext uri="{FF2B5EF4-FFF2-40B4-BE49-F238E27FC236}">
                  <a16:creationId xmlns:a16="http://schemas.microsoft.com/office/drawing/2014/main" id="{F9BCB884-DA53-B44E-87E1-BC01CF37C9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5" y="8304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4" name="Line 116">
              <a:extLst>
                <a:ext uri="{FF2B5EF4-FFF2-40B4-BE49-F238E27FC236}">
                  <a16:creationId xmlns:a16="http://schemas.microsoft.com/office/drawing/2014/main" id="{D29212BA-5795-AA4A-9069-1CBD40B14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05" y="8460"/>
              <a:ext cx="105" cy="0"/>
            </a:xfrm>
            <a:prstGeom prst="line">
              <a:avLst/>
            </a:prstGeom>
            <a:noFill/>
            <a:ln w="28575">
              <a:solidFill>
                <a:srgbClr val="66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29" name="AutoShape 122">
            <a:extLst>
              <a:ext uri="{FF2B5EF4-FFF2-40B4-BE49-F238E27FC236}">
                <a16:creationId xmlns:a16="http://schemas.microsoft.com/office/drawing/2014/main" id="{5A3C500A-8B7E-2B45-A330-FE8D5A0F9F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010569" y="949276"/>
            <a:ext cx="236538" cy="298450"/>
          </a:xfrm>
          <a:prstGeom prst="flowChartCollate">
            <a:avLst/>
          </a:prstGeom>
          <a:solidFill>
            <a:srgbClr val="FFFFFF"/>
          </a:solidFill>
          <a:ln w="28575">
            <a:solidFill>
              <a:srgbClr val="660033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宋体" panose="02010600030101010101" pitchFamily="2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EFF7B2C-A3C7-FC40-A75D-59BD07430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" t="20973" r="54062" b="13716"/>
          <a:stretch/>
        </p:blipFill>
        <p:spPr>
          <a:xfrm>
            <a:off x="34925" y="183403"/>
            <a:ext cx="577970" cy="5504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6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6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46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940" grpId="0"/>
      <p:bldP spid="846941" grpId="0"/>
      <p:bldP spid="846942" grpId="0"/>
      <p:bldP spid="846943" grpId="0"/>
      <p:bldP spid="84694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2">
            <a:extLst>
              <a:ext uri="{FF2B5EF4-FFF2-40B4-BE49-F238E27FC236}">
                <a16:creationId xmlns:a16="http://schemas.microsoft.com/office/drawing/2014/main" id="{5BD20FFE-6FDF-734D-B6A4-A688DF304C47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04800"/>
            <a:ext cx="1828800" cy="2547938"/>
            <a:chOff x="-3" y="-3"/>
            <a:chExt cx="895" cy="1542"/>
          </a:xfrm>
        </p:grpSpPr>
        <p:grpSp>
          <p:nvGrpSpPr>
            <p:cNvPr id="56604" name="Group 3">
              <a:extLst>
                <a:ext uri="{FF2B5EF4-FFF2-40B4-BE49-F238E27FC236}">
                  <a16:creationId xmlns:a16="http://schemas.microsoft.com/office/drawing/2014/main" id="{EF48D159-4B7C-F54E-80CB-1D2371E0C1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889" cy="1536"/>
              <a:chOff x="0" y="0"/>
              <a:chExt cx="889" cy="1536"/>
            </a:xfrm>
          </p:grpSpPr>
          <p:grpSp>
            <p:nvGrpSpPr>
              <p:cNvPr id="56606" name="Group 4">
                <a:extLst>
                  <a:ext uri="{FF2B5EF4-FFF2-40B4-BE49-F238E27FC236}">
                    <a16:creationId xmlns:a16="http://schemas.microsoft.com/office/drawing/2014/main" id="{D307C172-7E59-0042-ACD2-8FF365E605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97" cy="384"/>
                <a:chOff x="0" y="0"/>
                <a:chExt cx="297" cy="384"/>
              </a:xfrm>
            </p:grpSpPr>
            <p:sp>
              <p:nvSpPr>
                <p:cNvPr id="56640" name="Rectangle 5">
                  <a:extLst>
                    <a:ext uri="{FF2B5EF4-FFF2-40B4-BE49-F238E27FC236}">
                      <a16:creationId xmlns:a16="http://schemas.microsoft.com/office/drawing/2014/main" id="{D7C945DA-D2CF-AD4A-9F5C-965904EF9D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11" cy="384"/>
                </a:xfrm>
                <a:prstGeom prst="rect">
                  <a:avLst/>
                </a:prstGeom>
                <a:solidFill>
                  <a:schemeClr val="tx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rgbClr val="009999"/>
                    </a:solidFill>
                  </a:endParaRPr>
                </a:p>
              </p:txBody>
            </p:sp>
            <p:sp>
              <p:nvSpPr>
                <p:cNvPr id="56641" name="Rectangle 6">
                  <a:extLst>
                    <a:ext uri="{FF2B5EF4-FFF2-40B4-BE49-F238E27FC236}">
                      <a16:creationId xmlns:a16="http://schemas.microsoft.com/office/drawing/2014/main" id="{64031207-4C03-8C4E-824C-08895ECFB2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97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07" name="Group 7">
                <a:extLst>
                  <a:ext uri="{FF2B5EF4-FFF2-40B4-BE49-F238E27FC236}">
                    <a16:creationId xmlns:a16="http://schemas.microsoft.com/office/drawing/2014/main" id="{10A3E6A5-D818-474D-BFFE-BDBA6362FB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" y="0"/>
                <a:ext cx="296" cy="384"/>
                <a:chOff x="297" y="0"/>
                <a:chExt cx="296" cy="384"/>
              </a:xfrm>
            </p:grpSpPr>
            <p:sp>
              <p:nvSpPr>
                <p:cNvPr id="56638" name="Rectangle 8">
                  <a:extLst>
                    <a:ext uri="{FF2B5EF4-FFF2-40B4-BE49-F238E27FC236}">
                      <a16:creationId xmlns:a16="http://schemas.microsoft.com/office/drawing/2014/main" id="{07D3D942-1864-C840-B01B-35B42BE176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" y="0"/>
                  <a:ext cx="210" cy="384"/>
                </a:xfrm>
                <a:prstGeom prst="rect">
                  <a:avLst/>
                </a:prstGeom>
                <a:solidFill>
                  <a:schemeClr val="tx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1"/>
                      </a:solidFill>
                      <a:latin typeface="宋体" panose="02010600030101010101" pitchFamily="2" charset="-122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39" name="Rectangle 9">
                  <a:extLst>
                    <a:ext uri="{FF2B5EF4-FFF2-40B4-BE49-F238E27FC236}">
                      <a16:creationId xmlns:a16="http://schemas.microsoft.com/office/drawing/2014/main" id="{D5DBB9A7-42F3-6347-8229-4D8E4409DF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" y="0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08" name="Group 10">
                <a:extLst>
                  <a:ext uri="{FF2B5EF4-FFF2-40B4-BE49-F238E27FC236}">
                    <a16:creationId xmlns:a16="http://schemas.microsoft.com/office/drawing/2014/main" id="{759197CA-EC49-7445-A5D6-72B680E1B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" y="0"/>
                <a:ext cx="296" cy="384"/>
                <a:chOff x="593" y="0"/>
                <a:chExt cx="296" cy="384"/>
              </a:xfrm>
            </p:grpSpPr>
            <p:sp>
              <p:nvSpPr>
                <p:cNvPr id="56636" name="Rectangle 11">
                  <a:extLst>
                    <a:ext uri="{FF2B5EF4-FFF2-40B4-BE49-F238E27FC236}">
                      <a16:creationId xmlns:a16="http://schemas.microsoft.com/office/drawing/2014/main" id="{3F367DAD-79E0-E041-AB0A-252695D6C0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0"/>
                  <a:ext cx="210" cy="384"/>
                </a:xfrm>
                <a:prstGeom prst="rect">
                  <a:avLst/>
                </a:prstGeom>
                <a:solidFill>
                  <a:schemeClr val="tx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1"/>
                      </a:solidFill>
                      <a:latin typeface="宋体" panose="02010600030101010101" pitchFamily="2" charset="-122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56637" name="Rectangle 12">
                  <a:extLst>
                    <a:ext uri="{FF2B5EF4-FFF2-40B4-BE49-F238E27FC236}">
                      <a16:creationId xmlns:a16="http://schemas.microsoft.com/office/drawing/2014/main" id="{B847E15E-2A37-D24B-A373-9F7157624E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0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09" name="Group 13">
                <a:extLst>
                  <a:ext uri="{FF2B5EF4-FFF2-40B4-BE49-F238E27FC236}">
                    <a16:creationId xmlns:a16="http://schemas.microsoft.com/office/drawing/2014/main" id="{725A620A-538A-4B40-9D94-0FFDF3FA8E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297" cy="384"/>
                <a:chOff x="0" y="384"/>
                <a:chExt cx="297" cy="384"/>
              </a:xfrm>
            </p:grpSpPr>
            <p:sp>
              <p:nvSpPr>
                <p:cNvPr id="56634" name="Rectangle 14">
                  <a:extLst>
                    <a:ext uri="{FF2B5EF4-FFF2-40B4-BE49-F238E27FC236}">
                      <a16:creationId xmlns:a16="http://schemas.microsoft.com/office/drawing/2014/main" id="{3C8C2074-5285-BB46-A22D-148AEBCD47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211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35" name="Rectangle 15">
                  <a:extLst>
                    <a:ext uri="{FF2B5EF4-FFF2-40B4-BE49-F238E27FC236}">
                      <a16:creationId xmlns:a16="http://schemas.microsoft.com/office/drawing/2014/main" id="{AA3D0EC6-AD3E-1943-A806-E9CA605201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297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0" name="Group 16">
                <a:extLst>
                  <a:ext uri="{FF2B5EF4-FFF2-40B4-BE49-F238E27FC236}">
                    <a16:creationId xmlns:a16="http://schemas.microsoft.com/office/drawing/2014/main" id="{DE4B912D-9412-3B4B-8E60-317933AF3B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" y="384"/>
                <a:ext cx="296" cy="384"/>
                <a:chOff x="297" y="384"/>
                <a:chExt cx="296" cy="384"/>
              </a:xfrm>
            </p:grpSpPr>
            <p:sp>
              <p:nvSpPr>
                <p:cNvPr id="56632" name="Rectangle 17">
                  <a:extLst>
                    <a:ext uri="{FF2B5EF4-FFF2-40B4-BE49-F238E27FC236}">
                      <a16:creationId xmlns:a16="http://schemas.microsoft.com/office/drawing/2014/main" id="{BFD7EB65-7D74-0C41-ACB7-240F1F5254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" y="384"/>
                  <a:ext cx="21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33" name="Rectangle 18">
                  <a:extLst>
                    <a:ext uri="{FF2B5EF4-FFF2-40B4-BE49-F238E27FC236}">
                      <a16:creationId xmlns:a16="http://schemas.microsoft.com/office/drawing/2014/main" id="{853E801C-FFF6-094A-9101-2EAFC3F71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" y="384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1" name="Group 19">
                <a:extLst>
                  <a:ext uri="{FF2B5EF4-FFF2-40B4-BE49-F238E27FC236}">
                    <a16:creationId xmlns:a16="http://schemas.microsoft.com/office/drawing/2014/main" id="{51B37C62-137B-4E43-BA22-FE19637909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" y="384"/>
                <a:ext cx="296" cy="384"/>
                <a:chOff x="593" y="384"/>
                <a:chExt cx="296" cy="384"/>
              </a:xfrm>
            </p:grpSpPr>
            <p:sp>
              <p:nvSpPr>
                <p:cNvPr id="56630" name="Rectangle 20">
                  <a:extLst>
                    <a:ext uri="{FF2B5EF4-FFF2-40B4-BE49-F238E27FC236}">
                      <a16:creationId xmlns:a16="http://schemas.microsoft.com/office/drawing/2014/main" id="{3880ABB6-7D81-FD4E-86C5-3FE90D05E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84"/>
                  <a:ext cx="21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 dirty="0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31" name="Rectangle 21">
                  <a:extLst>
                    <a:ext uri="{FF2B5EF4-FFF2-40B4-BE49-F238E27FC236}">
                      <a16:creationId xmlns:a16="http://schemas.microsoft.com/office/drawing/2014/main" id="{5486A643-D754-4E4F-90A3-2F9201846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384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2" name="Group 22">
                <a:extLst>
                  <a:ext uri="{FF2B5EF4-FFF2-40B4-BE49-F238E27FC236}">
                    <a16:creationId xmlns:a16="http://schemas.microsoft.com/office/drawing/2014/main" id="{293AB800-97C7-4F49-B374-DFB0DB4F33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297" cy="384"/>
                <a:chOff x="0" y="768"/>
                <a:chExt cx="297" cy="384"/>
              </a:xfrm>
            </p:grpSpPr>
            <p:sp>
              <p:nvSpPr>
                <p:cNvPr id="56628" name="Rectangle 23">
                  <a:extLst>
                    <a:ext uri="{FF2B5EF4-FFF2-40B4-BE49-F238E27FC236}">
                      <a16:creationId xmlns:a16="http://schemas.microsoft.com/office/drawing/2014/main" id="{A846CA10-1AF2-B241-805F-05D46DEEC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211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29" name="Rectangle 24">
                  <a:extLst>
                    <a:ext uri="{FF2B5EF4-FFF2-40B4-BE49-F238E27FC236}">
                      <a16:creationId xmlns:a16="http://schemas.microsoft.com/office/drawing/2014/main" id="{DEAC03EE-FD15-9B46-81DB-BE7237F71B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297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3" name="Group 25">
                <a:extLst>
                  <a:ext uri="{FF2B5EF4-FFF2-40B4-BE49-F238E27FC236}">
                    <a16:creationId xmlns:a16="http://schemas.microsoft.com/office/drawing/2014/main" id="{F2008935-AAA4-1F45-BBB3-8C4ADA254D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" y="768"/>
                <a:ext cx="296" cy="384"/>
                <a:chOff x="297" y="768"/>
                <a:chExt cx="296" cy="384"/>
              </a:xfrm>
            </p:grpSpPr>
            <p:sp>
              <p:nvSpPr>
                <p:cNvPr id="56626" name="Rectangle 26">
                  <a:extLst>
                    <a:ext uri="{FF2B5EF4-FFF2-40B4-BE49-F238E27FC236}">
                      <a16:creationId xmlns:a16="http://schemas.microsoft.com/office/drawing/2014/main" id="{E08AF321-2E7A-9D49-8601-F0BF0CC814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" y="768"/>
                  <a:ext cx="21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b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27" name="Rectangle 27">
                  <a:extLst>
                    <a:ext uri="{FF2B5EF4-FFF2-40B4-BE49-F238E27FC236}">
                      <a16:creationId xmlns:a16="http://schemas.microsoft.com/office/drawing/2014/main" id="{5582A47D-D8CC-7048-952A-8D80FF8BA4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" y="768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4" name="Group 28">
                <a:extLst>
                  <a:ext uri="{FF2B5EF4-FFF2-40B4-BE49-F238E27FC236}">
                    <a16:creationId xmlns:a16="http://schemas.microsoft.com/office/drawing/2014/main" id="{9297FDCA-3D66-0D40-9AAB-1C979A9C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" y="768"/>
                <a:ext cx="296" cy="384"/>
                <a:chOff x="593" y="768"/>
                <a:chExt cx="296" cy="384"/>
              </a:xfrm>
            </p:grpSpPr>
            <p:sp>
              <p:nvSpPr>
                <p:cNvPr id="56624" name="Rectangle 29">
                  <a:extLst>
                    <a:ext uri="{FF2B5EF4-FFF2-40B4-BE49-F238E27FC236}">
                      <a16:creationId xmlns:a16="http://schemas.microsoft.com/office/drawing/2014/main" id="{A971FF9B-24FD-8742-8A92-B5620A3AA8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768"/>
                  <a:ext cx="21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f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25" name="Rectangle 30">
                  <a:extLst>
                    <a:ext uri="{FF2B5EF4-FFF2-40B4-BE49-F238E27FC236}">
                      <a16:creationId xmlns:a16="http://schemas.microsoft.com/office/drawing/2014/main" id="{DB4ADFAD-C117-B546-B2DD-3B7586760F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768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5" name="Group 31">
                <a:extLst>
                  <a:ext uri="{FF2B5EF4-FFF2-40B4-BE49-F238E27FC236}">
                    <a16:creationId xmlns:a16="http://schemas.microsoft.com/office/drawing/2014/main" id="{56ABBFFE-7D8B-6142-A579-B7AA68A84B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152"/>
                <a:ext cx="297" cy="384"/>
                <a:chOff x="0" y="1152"/>
                <a:chExt cx="297" cy="384"/>
              </a:xfrm>
            </p:grpSpPr>
            <p:sp>
              <p:nvSpPr>
                <p:cNvPr id="56622" name="Rectangle 32">
                  <a:extLst>
                    <a:ext uri="{FF2B5EF4-FFF2-40B4-BE49-F238E27FC236}">
                      <a16:creationId xmlns:a16="http://schemas.microsoft.com/office/drawing/2014/main" id="{0F114CF6-C63A-DA44-8293-193C32C60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152"/>
                  <a:ext cx="211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c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23" name="Rectangle 33">
                  <a:extLst>
                    <a:ext uri="{FF2B5EF4-FFF2-40B4-BE49-F238E27FC236}">
                      <a16:creationId xmlns:a16="http://schemas.microsoft.com/office/drawing/2014/main" id="{FD069F83-88EF-DE43-BC12-D5B069864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297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6" name="Group 34">
                <a:extLst>
                  <a:ext uri="{FF2B5EF4-FFF2-40B4-BE49-F238E27FC236}">
                    <a16:creationId xmlns:a16="http://schemas.microsoft.com/office/drawing/2014/main" id="{92350717-1548-424C-9605-3A8C911B78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" y="1152"/>
                <a:ext cx="296" cy="384"/>
                <a:chOff x="297" y="1152"/>
                <a:chExt cx="296" cy="384"/>
              </a:xfrm>
            </p:grpSpPr>
            <p:sp>
              <p:nvSpPr>
                <p:cNvPr id="56620" name="Rectangle 35">
                  <a:extLst>
                    <a:ext uri="{FF2B5EF4-FFF2-40B4-BE49-F238E27FC236}">
                      <a16:creationId xmlns:a16="http://schemas.microsoft.com/office/drawing/2014/main" id="{C7EE8FA1-C7B6-AB4D-8FAA-89A2F29FC5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" y="1152"/>
                  <a:ext cx="21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a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21" name="Rectangle 36">
                  <a:extLst>
                    <a:ext uri="{FF2B5EF4-FFF2-40B4-BE49-F238E27FC236}">
                      <a16:creationId xmlns:a16="http://schemas.microsoft.com/office/drawing/2014/main" id="{38CFF896-B230-6348-A711-9951C0DE8A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7" y="1152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grpSp>
            <p:nvGrpSpPr>
              <p:cNvPr id="56617" name="Group 37">
                <a:extLst>
                  <a:ext uri="{FF2B5EF4-FFF2-40B4-BE49-F238E27FC236}">
                    <a16:creationId xmlns:a16="http://schemas.microsoft.com/office/drawing/2014/main" id="{174CF30E-4E4C-DA42-AE64-AB6C85F4A8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3" y="1152"/>
                <a:ext cx="296" cy="384"/>
                <a:chOff x="593" y="1152"/>
                <a:chExt cx="296" cy="384"/>
              </a:xfrm>
            </p:grpSpPr>
            <p:sp>
              <p:nvSpPr>
                <p:cNvPr id="56618" name="Rectangle 38">
                  <a:extLst>
                    <a:ext uri="{FF2B5EF4-FFF2-40B4-BE49-F238E27FC236}">
                      <a16:creationId xmlns:a16="http://schemas.microsoft.com/office/drawing/2014/main" id="{BA7FF4D6-507B-3741-AD40-344EA8C7F0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1152"/>
                  <a:ext cx="21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b="1">
                      <a:solidFill>
                        <a:schemeClr val="bg2"/>
                      </a:solidFill>
                      <a:latin typeface="宋体" panose="02010600030101010101" pitchFamily="2" charset="-122"/>
                    </a:rPr>
                    <a:t>d</a:t>
                  </a:r>
                </a:p>
                <a:p>
                  <a:pPr algn="ctr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zh-CN" b="1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6619" name="Rectangle 39">
                  <a:extLst>
                    <a:ext uri="{FF2B5EF4-FFF2-40B4-BE49-F238E27FC236}">
                      <a16:creationId xmlns:a16="http://schemas.microsoft.com/office/drawing/2014/main" id="{32C3B897-7A4F-C844-89D4-F8C38B7C14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1152"/>
                  <a:ext cx="296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56605" name="Rectangle 40">
              <a:extLst>
                <a:ext uri="{FF2B5EF4-FFF2-40B4-BE49-F238E27FC236}">
                  <a16:creationId xmlns:a16="http://schemas.microsoft.com/office/drawing/2014/main" id="{360F2F5F-0019-444E-A2BE-E1562A0EE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895" cy="1542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宋体" panose="02010600030101010101" pitchFamily="2" charset="-122"/>
              </a:endParaRPr>
            </a:p>
          </p:txBody>
        </p:sp>
      </p:grpSp>
      <p:sp>
        <p:nvSpPr>
          <p:cNvPr id="56323" name="Text Box 41">
            <a:extLst>
              <a:ext uri="{FF2B5EF4-FFF2-40B4-BE49-F238E27FC236}">
                <a16:creationId xmlns:a16="http://schemas.microsoft.com/office/drawing/2014/main" id="{38F18502-850C-2C4D-A77F-31A9179B2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628775"/>
            <a:ext cx="1676400" cy="520700"/>
          </a:xfrm>
          <a:prstGeom prst="rect">
            <a:avLst/>
          </a:prstGeom>
          <a:noFill/>
          <a:ln w="38100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b="1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grpSp>
        <p:nvGrpSpPr>
          <p:cNvPr id="56324" name="Group 42">
            <a:extLst>
              <a:ext uri="{FF2B5EF4-FFF2-40B4-BE49-F238E27FC236}">
                <a16:creationId xmlns:a16="http://schemas.microsoft.com/office/drawing/2014/main" id="{CA467D54-482E-4749-AE35-12FE20DCDB1B}"/>
              </a:ext>
            </a:extLst>
          </p:cNvPr>
          <p:cNvGrpSpPr>
            <a:grpSpLocks/>
          </p:cNvGrpSpPr>
          <p:nvPr/>
        </p:nvGrpSpPr>
        <p:grpSpPr bwMode="auto">
          <a:xfrm>
            <a:off x="2346325" y="409575"/>
            <a:ext cx="1739900" cy="2759075"/>
            <a:chOff x="0" y="1539"/>
            <a:chExt cx="889" cy="1920"/>
          </a:xfrm>
        </p:grpSpPr>
        <p:grpSp>
          <p:nvGrpSpPr>
            <p:cNvPr id="56559" name="Group 43">
              <a:extLst>
                <a:ext uri="{FF2B5EF4-FFF2-40B4-BE49-F238E27FC236}">
                  <a16:creationId xmlns:a16="http://schemas.microsoft.com/office/drawing/2014/main" id="{F8B7F383-1244-3349-BE8C-32A8F365B4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539"/>
              <a:ext cx="297" cy="384"/>
              <a:chOff x="0" y="1539"/>
              <a:chExt cx="297" cy="384"/>
            </a:xfrm>
          </p:grpSpPr>
          <p:sp>
            <p:nvSpPr>
              <p:cNvPr id="56602" name="Rectangle 44">
                <a:extLst>
                  <a:ext uri="{FF2B5EF4-FFF2-40B4-BE49-F238E27FC236}">
                    <a16:creationId xmlns:a16="http://schemas.microsoft.com/office/drawing/2014/main" id="{66DC4C6A-1517-954E-8CF6-10EAA5C156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539"/>
                <a:ext cx="211" cy="38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B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603" name="Rectangle 45">
                <a:extLst>
                  <a:ext uri="{FF2B5EF4-FFF2-40B4-BE49-F238E27FC236}">
                    <a16:creationId xmlns:a16="http://schemas.microsoft.com/office/drawing/2014/main" id="{93B8CF1B-C429-1C4E-8690-2C9523E3A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539"/>
                <a:ext cx="29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0" name="Group 46">
              <a:extLst>
                <a:ext uri="{FF2B5EF4-FFF2-40B4-BE49-F238E27FC236}">
                  <a16:creationId xmlns:a16="http://schemas.microsoft.com/office/drawing/2014/main" id="{76E14D77-44C3-124E-85F3-A682327966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" y="1539"/>
              <a:ext cx="296" cy="384"/>
              <a:chOff x="297" y="1539"/>
              <a:chExt cx="296" cy="384"/>
            </a:xfrm>
          </p:grpSpPr>
          <p:sp>
            <p:nvSpPr>
              <p:cNvPr id="56600" name="Rectangle 47">
                <a:extLst>
                  <a:ext uri="{FF2B5EF4-FFF2-40B4-BE49-F238E27FC236}">
                    <a16:creationId xmlns:a16="http://schemas.microsoft.com/office/drawing/2014/main" id="{7344B2E2-3094-5749-A0DC-1ACB56D11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1539"/>
                <a:ext cx="210" cy="38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1"/>
                    </a:solidFill>
                    <a:latin typeface="宋体" panose="02010600030101010101" pitchFamily="2" charset="-122"/>
                  </a:rPr>
                  <a:t>C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601" name="Rectangle 48">
                <a:extLst>
                  <a:ext uri="{FF2B5EF4-FFF2-40B4-BE49-F238E27FC236}">
                    <a16:creationId xmlns:a16="http://schemas.microsoft.com/office/drawing/2014/main" id="{88C9C289-1E2F-D04B-864E-7D67ACB71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" y="1539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1" name="Group 49">
              <a:extLst>
                <a:ext uri="{FF2B5EF4-FFF2-40B4-BE49-F238E27FC236}">
                  <a16:creationId xmlns:a16="http://schemas.microsoft.com/office/drawing/2014/main" id="{936E2A4C-2B79-F945-B720-65DDF30D33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1539"/>
              <a:ext cx="296" cy="384"/>
              <a:chOff x="593" y="1539"/>
              <a:chExt cx="296" cy="384"/>
            </a:xfrm>
          </p:grpSpPr>
          <p:sp>
            <p:nvSpPr>
              <p:cNvPr id="56598" name="Rectangle 50">
                <a:extLst>
                  <a:ext uri="{FF2B5EF4-FFF2-40B4-BE49-F238E27FC236}">
                    <a16:creationId xmlns:a16="http://schemas.microsoft.com/office/drawing/2014/main" id="{1D22B8E5-BD02-9E49-87EA-8EFED5E75F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1539"/>
                <a:ext cx="210" cy="384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D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99" name="Rectangle 51">
                <a:extLst>
                  <a:ext uri="{FF2B5EF4-FFF2-40B4-BE49-F238E27FC236}">
                    <a16:creationId xmlns:a16="http://schemas.microsoft.com/office/drawing/2014/main" id="{4095103A-E793-B248-924F-139ECA77F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" y="1539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2" name="Group 52">
              <a:extLst>
                <a:ext uri="{FF2B5EF4-FFF2-40B4-BE49-F238E27FC236}">
                  <a16:creationId xmlns:a16="http://schemas.microsoft.com/office/drawing/2014/main" id="{D1108F4D-1B74-1040-89B8-9803C6933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923"/>
              <a:ext cx="297" cy="384"/>
              <a:chOff x="0" y="1923"/>
              <a:chExt cx="297" cy="384"/>
            </a:xfrm>
          </p:grpSpPr>
          <p:sp>
            <p:nvSpPr>
              <p:cNvPr id="56596" name="Rectangle 53">
                <a:extLst>
                  <a:ext uri="{FF2B5EF4-FFF2-40B4-BE49-F238E27FC236}">
                    <a16:creationId xmlns:a16="http://schemas.microsoft.com/office/drawing/2014/main" id="{D4BC5D24-E56C-DD49-9A06-BF7D317D0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923"/>
                <a:ext cx="211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b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97" name="Rectangle 54">
                <a:extLst>
                  <a:ext uri="{FF2B5EF4-FFF2-40B4-BE49-F238E27FC236}">
                    <a16:creationId xmlns:a16="http://schemas.microsoft.com/office/drawing/2014/main" id="{A464EEC1-F659-2F42-9CBA-339C8B1C5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23"/>
                <a:ext cx="29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3" name="Group 55">
              <a:extLst>
                <a:ext uri="{FF2B5EF4-FFF2-40B4-BE49-F238E27FC236}">
                  <a16:creationId xmlns:a16="http://schemas.microsoft.com/office/drawing/2014/main" id="{86B29DF3-1EB6-A84B-8B56-003565EA3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" y="1923"/>
              <a:ext cx="296" cy="384"/>
              <a:chOff x="297" y="1923"/>
              <a:chExt cx="296" cy="384"/>
            </a:xfrm>
          </p:grpSpPr>
          <p:sp>
            <p:nvSpPr>
              <p:cNvPr id="56594" name="Rectangle 56">
                <a:extLst>
                  <a:ext uri="{FF2B5EF4-FFF2-40B4-BE49-F238E27FC236}">
                    <a16:creationId xmlns:a16="http://schemas.microsoft.com/office/drawing/2014/main" id="{D614C540-E8C6-9841-8229-4A08D38FBC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1923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c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95" name="Rectangle 57">
                <a:extLst>
                  <a:ext uri="{FF2B5EF4-FFF2-40B4-BE49-F238E27FC236}">
                    <a16:creationId xmlns:a16="http://schemas.microsoft.com/office/drawing/2014/main" id="{8BFF4E80-1389-384D-8F81-9CFA7938AD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" y="1923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4" name="Group 58">
              <a:extLst>
                <a:ext uri="{FF2B5EF4-FFF2-40B4-BE49-F238E27FC236}">
                  <a16:creationId xmlns:a16="http://schemas.microsoft.com/office/drawing/2014/main" id="{4F554A7C-8534-7D43-A6C3-4D768D6FFB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1923"/>
              <a:ext cx="296" cy="384"/>
              <a:chOff x="593" y="1923"/>
              <a:chExt cx="296" cy="384"/>
            </a:xfrm>
          </p:grpSpPr>
          <p:sp>
            <p:nvSpPr>
              <p:cNvPr id="56592" name="Rectangle 59">
                <a:extLst>
                  <a:ext uri="{FF2B5EF4-FFF2-40B4-BE49-F238E27FC236}">
                    <a16:creationId xmlns:a16="http://schemas.microsoft.com/office/drawing/2014/main" id="{89156491-68BB-024F-948A-92ED727DD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1923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d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93" name="Rectangle 60">
                <a:extLst>
                  <a:ext uri="{FF2B5EF4-FFF2-40B4-BE49-F238E27FC236}">
                    <a16:creationId xmlns:a16="http://schemas.microsoft.com/office/drawing/2014/main" id="{FAECC4E8-4C22-4943-958D-5413EF144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" y="1923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5" name="Group 61">
              <a:extLst>
                <a:ext uri="{FF2B5EF4-FFF2-40B4-BE49-F238E27FC236}">
                  <a16:creationId xmlns:a16="http://schemas.microsoft.com/office/drawing/2014/main" id="{4E54BF33-54C1-CF47-B0F9-7C32000E0B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07"/>
              <a:ext cx="297" cy="384"/>
              <a:chOff x="0" y="2307"/>
              <a:chExt cx="297" cy="384"/>
            </a:xfrm>
          </p:grpSpPr>
          <p:sp>
            <p:nvSpPr>
              <p:cNvPr id="56590" name="Rectangle 62">
                <a:extLst>
                  <a:ext uri="{FF2B5EF4-FFF2-40B4-BE49-F238E27FC236}">
                    <a16:creationId xmlns:a16="http://schemas.microsoft.com/office/drawing/2014/main" id="{861C8036-4F3F-9D49-80A3-6EC15AFB8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307"/>
                <a:ext cx="211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b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91" name="Rectangle 63">
                <a:extLst>
                  <a:ext uri="{FF2B5EF4-FFF2-40B4-BE49-F238E27FC236}">
                    <a16:creationId xmlns:a16="http://schemas.microsoft.com/office/drawing/2014/main" id="{173EE4EA-F2E0-B944-B3F6-6E370C9A2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307"/>
                <a:ext cx="29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6" name="Group 64">
              <a:extLst>
                <a:ext uri="{FF2B5EF4-FFF2-40B4-BE49-F238E27FC236}">
                  <a16:creationId xmlns:a16="http://schemas.microsoft.com/office/drawing/2014/main" id="{2B6D5C1F-7CB4-794E-BA61-400A8CFBFB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" y="2307"/>
              <a:ext cx="296" cy="384"/>
              <a:chOff x="297" y="2307"/>
              <a:chExt cx="296" cy="384"/>
            </a:xfrm>
          </p:grpSpPr>
          <p:sp>
            <p:nvSpPr>
              <p:cNvPr id="56588" name="Rectangle 65">
                <a:extLst>
                  <a:ext uri="{FF2B5EF4-FFF2-40B4-BE49-F238E27FC236}">
                    <a16:creationId xmlns:a16="http://schemas.microsoft.com/office/drawing/2014/main" id="{7E790BA8-88AC-E540-A815-39CA1B97F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2307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c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89" name="Rectangle 66">
                <a:extLst>
                  <a:ext uri="{FF2B5EF4-FFF2-40B4-BE49-F238E27FC236}">
                    <a16:creationId xmlns:a16="http://schemas.microsoft.com/office/drawing/2014/main" id="{B2F8EAE8-574A-784C-8D73-E837B52C5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" y="2307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7" name="Group 67">
              <a:extLst>
                <a:ext uri="{FF2B5EF4-FFF2-40B4-BE49-F238E27FC236}">
                  <a16:creationId xmlns:a16="http://schemas.microsoft.com/office/drawing/2014/main" id="{52F79E55-F9DF-D74D-9626-311C4D4B99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2307"/>
              <a:ext cx="296" cy="384"/>
              <a:chOff x="593" y="2307"/>
              <a:chExt cx="296" cy="384"/>
            </a:xfrm>
          </p:grpSpPr>
          <p:sp>
            <p:nvSpPr>
              <p:cNvPr id="56586" name="Rectangle 68">
                <a:extLst>
                  <a:ext uri="{FF2B5EF4-FFF2-40B4-BE49-F238E27FC236}">
                    <a16:creationId xmlns:a16="http://schemas.microsoft.com/office/drawing/2014/main" id="{A598B7C8-3464-6945-A433-61E538B2D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307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87" name="Rectangle 69">
                <a:extLst>
                  <a:ext uri="{FF2B5EF4-FFF2-40B4-BE49-F238E27FC236}">
                    <a16:creationId xmlns:a16="http://schemas.microsoft.com/office/drawing/2014/main" id="{0B9106FC-7BC3-8643-A92C-ED00007BB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" y="2307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8" name="Group 70">
              <a:extLst>
                <a:ext uri="{FF2B5EF4-FFF2-40B4-BE49-F238E27FC236}">
                  <a16:creationId xmlns:a16="http://schemas.microsoft.com/office/drawing/2014/main" id="{2368B957-8351-644A-862E-8EAD9E60D7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691"/>
              <a:ext cx="297" cy="384"/>
              <a:chOff x="0" y="2691"/>
              <a:chExt cx="297" cy="384"/>
            </a:xfrm>
          </p:grpSpPr>
          <p:sp>
            <p:nvSpPr>
              <p:cNvPr id="56584" name="Rectangle 71">
                <a:extLst>
                  <a:ext uri="{FF2B5EF4-FFF2-40B4-BE49-F238E27FC236}">
                    <a16:creationId xmlns:a16="http://schemas.microsoft.com/office/drawing/2014/main" id="{AED1FADA-398F-414B-B881-B054D7296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691"/>
                <a:ext cx="211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a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85" name="Rectangle 72">
                <a:extLst>
                  <a:ext uri="{FF2B5EF4-FFF2-40B4-BE49-F238E27FC236}">
                    <a16:creationId xmlns:a16="http://schemas.microsoft.com/office/drawing/2014/main" id="{141E4CAF-006A-2A4B-9EFD-A58305619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691"/>
                <a:ext cx="29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69" name="Group 73">
              <a:extLst>
                <a:ext uri="{FF2B5EF4-FFF2-40B4-BE49-F238E27FC236}">
                  <a16:creationId xmlns:a16="http://schemas.microsoft.com/office/drawing/2014/main" id="{642D7FBA-0C9E-F442-A520-5469FEF08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" y="2691"/>
              <a:ext cx="296" cy="384"/>
              <a:chOff x="297" y="2691"/>
              <a:chExt cx="296" cy="384"/>
            </a:xfrm>
          </p:grpSpPr>
          <p:sp>
            <p:nvSpPr>
              <p:cNvPr id="56582" name="Rectangle 74">
                <a:extLst>
                  <a:ext uri="{FF2B5EF4-FFF2-40B4-BE49-F238E27FC236}">
                    <a16:creationId xmlns:a16="http://schemas.microsoft.com/office/drawing/2014/main" id="{7022032D-5F10-0E4B-90D5-9C19DDB21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2691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d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83" name="Rectangle 75">
                <a:extLst>
                  <a:ext uri="{FF2B5EF4-FFF2-40B4-BE49-F238E27FC236}">
                    <a16:creationId xmlns:a16="http://schemas.microsoft.com/office/drawing/2014/main" id="{52E9F8E6-FD83-8A48-B552-2184C9E06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" y="2691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70" name="Group 76">
              <a:extLst>
                <a:ext uri="{FF2B5EF4-FFF2-40B4-BE49-F238E27FC236}">
                  <a16:creationId xmlns:a16="http://schemas.microsoft.com/office/drawing/2014/main" id="{16F007F6-2049-7D42-BA4D-783BE02D29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2691"/>
              <a:ext cx="296" cy="384"/>
              <a:chOff x="593" y="2691"/>
              <a:chExt cx="296" cy="384"/>
            </a:xfrm>
          </p:grpSpPr>
          <p:sp>
            <p:nvSpPr>
              <p:cNvPr id="56580" name="Rectangle 77">
                <a:extLst>
                  <a:ext uri="{FF2B5EF4-FFF2-40B4-BE49-F238E27FC236}">
                    <a16:creationId xmlns:a16="http://schemas.microsoft.com/office/drawing/2014/main" id="{5344571F-4BF1-554E-B130-CE3E116F1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2691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b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81" name="Rectangle 78">
                <a:extLst>
                  <a:ext uri="{FF2B5EF4-FFF2-40B4-BE49-F238E27FC236}">
                    <a16:creationId xmlns:a16="http://schemas.microsoft.com/office/drawing/2014/main" id="{7DA70547-A924-1F48-8D78-0A7C6B77D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" y="2691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71" name="Group 79">
              <a:extLst>
                <a:ext uri="{FF2B5EF4-FFF2-40B4-BE49-F238E27FC236}">
                  <a16:creationId xmlns:a16="http://schemas.microsoft.com/office/drawing/2014/main" id="{762D958F-3E95-6042-8EBA-AE494F584A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075"/>
              <a:ext cx="297" cy="384"/>
              <a:chOff x="0" y="3075"/>
              <a:chExt cx="297" cy="384"/>
            </a:xfrm>
          </p:grpSpPr>
          <p:sp>
            <p:nvSpPr>
              <p:cNvPr id="56578" name="Rectangle 80">
                <a:extLst>
                  <a:ext uri="{FF2B5EF4-FFF2-40B4-BE49-F238E27FC236}">
                    <a16:creationId xmlns:a16="http://schemas.microsoft.com/office/drawing/2014/main" id="{9077F214-8161-B84B-B93D-1EB76E5E3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075"/>
                <a:ext cx="211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e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79" name="Rectangle 81">
                <a:extLst>
                  <a:ext uri="{FF2B5EF4-FFF2-40B4-BE49-F238E27FC236}">
                    <a16:creationId xmlns:a16="http://schemas.microsoft.com/office/drawing/2014/main" id="{BED91459-3E98-3646-851A-8FB8250295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075"/>
                <a:ext cx="297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72" name="Group 82">
              <a:extLst>
                <a:ext uri="{FF2B5EF4-FFF2-40B4-BE49-F238E27FC236}">
                  <a16:creationId xmlns:a16="http://schemas.microsoft.com/office/drawing/2014/main" id="{01E34A80-96FF-B94D-85A9-9C1C90FF0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" y="3075"/>
              <a:ext cx="296" cy="384"/>
              <a:chOff x="297" y="3075"/>
              <a:chExt cx="296" cy="384"/>
            </a:xfrm>
          </p:grpSpPr>
          <p:sp>
            <p:nvSpPr>
              <p:cNvPr id="56576" name="Rectangle 83">
                <a:extLst>
                  <a:ext uri="{FF2B5EF4-FFF2-40B4-BE49-F238E27FC236}">
                    <a16:creationId xmlns:a16="http://schemas.microsoft.com/office/drawing/2014/main" id="{B1816898-A09C-2E4E-A5EE-CAA99E8BD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" y="3075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f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77" name="Rectangle 84">
                <a:extLst>
                  <a:ext uri="{FF2B5EF4-FFF2-40B4-BE49-F238E27FC236}">
                    <a16:creationId xmlns:a16="http://schemas.microsoft.com/office/drawing/2014/main" id="{04741451-758B-FF43-AB67-13BF38D99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" y="3075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56573" name="Group 85">
              <a:extLst>
                <a:ext uri="{FF2B5EF4-FFF2-40B4-BE49-F238E27FC236}">
                  <a16:creationId xmlns:a16="http://schemas.microsoft.com/office/drawing/2014/main" id="{A1FE292B-EAED-A54E-ADCD-718233007C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3" y="3075"/>
              <a:ext cx="296" cy="384"/>
              <a:chOff x="593" y="3075"/>
              <a:chExt cx="296" cy="384"/>
            </a:xfrm>
          </p:grpSpPr>
          <p:sp>
            <p:nvSpPr>
              <p:cNvPr id="56574" name="Rectangle 86">
                <a:extLst>
                  <a:ext uri="{FF2B5EF4-FFF2-40B4-BE49-F238E27FC236}">
                    <a16:creationId xmlns:a16="http://schemas.microsoft.com/office/drawing/2014/main" id="{9022DF40-F2E9-544F-ABA9-29F2BBE70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3075"/>
                <a:ext cx="21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bg2"/>
                    </a:solidFill>
                    <a:latin typeface="宋体" panose="02010600030101010101" pitchFamily="2" charset="-122"/>
                  </a:rPr>
                  <a:t>g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56575" name="Rectangle 87">
                <a:extLst>
                  <a:ext uri="{FF2B5EF4-FFF2-40B4-BE49-F238E27FC236}">
                    <a16:creationId xmlns:a16="http://schemas.microsoft.com/office/drawing/2014/main" id="{2BA38728-E72B-544A-BAD3-C863329C0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" y="3075"/>
                <a:ext cx="296" cy="384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56325" name="Rectangle 88">
            <a:extLst>
              <a:ext uri="{FF2B5EF4-FFF2-40B4-BE49-F238E27FC236}">
                <a16:creationId xmlns:a16="http://schemas.microsoft.com/office/drawing/2014/main" id="{815DCC21-3242-EA4B-B108-C2F4A5F24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781300"/>
            <a:ext cx="1752600" cy="34925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56326" name="Rectangle 89">
            <a:extLst>
              <a:ext uri="{FF2B5EF4-FFF2-40B4-BE49-F238E27FC236}">
                <a16:creationId xmlns:a16="http://schemas.microsoft.com/office/drawing/2014/main" id="{2E4F0BE9-AB9F-6E42-83FB-62F451B90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715963"/>
            <a:ext cx="4787900" cy="1465262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宋体" panose="02010600030101010101" pitchFamily="2" charset="-122"/>
            </a:endParaRPr>
          </a:p>
        </p:txBody>
      </p:sp>
      <p:sp>
        <p:nvSpPr>
          <p:cNvPr id="56327" name="Rectangle 90">
            <a:extLst>
              <a:ext uri="{FF2B5EF4-FFF2-40B4-BE49-F238E27FC236}">
                <a16:creationId xmlns:a16="http://schemas.microsoft.com/office/drawing/2014/main" id="{314773AA-6A6E-1147-B222-492E686A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5" y="2262188"/>
            <a:ext cx="3248025" cy="406400"/>
          </a:xfrm>
          <a:prstGeom prst="rect">
            <a:avLst/>
          </a:prstGeom>
          <a:noFill/>
          <a:ln w="28575">
            <a:solidFill>
              <a:srgbClr val="0099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宋体" panose="02010600030101010101" pitchFamily="2" charset="-122"/>
            </a:endParaRPr>
          </a:p>
        </p:txBody>
      </p:sp>
      <p:sp>
        <p:nvSpPr>
          <p:cNvPr id="56328" name="Rectangle 174">
            <a:extLst>
              <a:ext uri="{FF2B5EF4-FFF2-40B4-BE49-F238E27FC236}">
                <a16:creationId xmlns:a16="http://schemas.microsoft.com/office/drawing/2014/main" id="{28A5C3C5-EDD8-BE4F-87B3-DEB47B639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95600"/>
            <a:ext cx="9477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关系</a:t>
            </a: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</a:rPr>
              <a:t>R</a:t>
            </a:r>
          </a:p>
        </p:txBody>
      </p:sp>
      <p:sp>
        <p:nvSpPr>
          <p:cNvPr id="56329" name="Rectangle 175">
            <a:extLst>
              <a:ext uri="{FF2B5EF4-FFF2-40B4-BE49-F238E27FC236}">
                <a16:creationId xmlns:a16="http://schemas.microsoft.com/office/drawing/2014/main" id="{7C692CB3-30C7-5647-9BEB-020104DA3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189288"/>
            <a:ext cx="94773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关系</a:t>
            </a: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</a:rPr>
              <a:t>S</a:t>
            </a:r>
          </a:p>
        </p:txBody>
      </p:sp>
      <p:grpSp>
        <p:nvGrpSpPr>
          <p:cNvPr id="56330" name="Group 322">
            <a:extLst>
              <a:ext uri="{FF2B5EF4-FFF2-40B4-BE49-F238E27FC236}">
                <a16:creationId xmlns:a16="http://schemas.microsoft.com/office/drawing/2014/main" id="{21BC5A19-21BE-DE4F-B9CA-40908AC66489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28600"/>
            <a:ext cx="4787900" cy="3513138"/>
            <a:chOff x="2744" y="144"/>
            <a:chExt cx="3016" cy="2213"/>
          </a:xfrm>
        </p:grpSpPr>
        <p:grpSp>
          <p:nvGrpSpPr>
            <p:cNvPr id="56475" name="Group 91">
              <a:extLst>
                <a:ext uri="{FF2B5EF4-FFF2-40B4-BE49-F238E27FC236}">
                  <a16:creationId xmlns:a16="http://schemas.microsoft.com/office/drawing/2014/main" id="{DA74B090-C899-904F-81C0-6D99AC24FA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" y="144"/>
              <a:ext cx="3016" cy="2152"/>
              <a:chOff x="2744" y="144"/>
              <a:chExt cx="3016" cy="2152"/>
            </a:xfrm>
          </p:grpSpPr>
          <p:grpSp>
            <p:nvGrpSpPr>
              <p:cNvPr id="56477" name="Group 92">
                <a:extLst>
                  <a:ext uri="{FF2B5EF4-FFF2-40B4-BE49-F238E27FC236}">
                    <a16:creationId xmlns:a16="http://schemas.microsoft.com/office/drawing/2014/main" id="{76EAD98F-32E2-494F-AF9A-0F917651B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" y="144"/>
                <a:ext cx="3016" cy="1947"/>
                <a:chOff x="-3" y="-3"/>
                <a:chExt cx="1317" cy="2406"/>
              </a:xfrm>
            </p:grpSpPr>
            <p:grpSp>
              <p:nvGrpSpPr>
                <p:cNvPr id="56485" name="Group 93">
                  <a:extLst>
                    <a:ext uri="{FF2B5EF4-FFF2-40B4-BE49-F238E27FC236}">
                      <a16:creationId xmlns:a16="http://schemas.microsoft.com/office/drawing/2014/main" id="{4D4BD5C3-97EA-5849-B79E-FE7939580B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1311" cy="2400"/>
                  <a:chOff x="0" y="0"/>
                  <a:chExt cx="1311" cy="2400"/>
                </a:xfrm>
              </p:grpSpPr>
              <p:grpSp>
                <p:nvGrpSpPr>
                  <p:cNvPr id="56487" name="Group 94">
                    <a:extLst>
                      <a:ext uri="{FF2B5EF4-FFF2-40B4-BE49-F238E27FC236}">
                        <a16:creationId xmlns:a16="http://schemas.microsoft.com/office/drawing/2014/main" id="{7DA39C82-DAB1-B549-A90D-F4B127EF95D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0"/>
                    <a:ext cx="339" cy="384"/>
                    <a:chOff x="0" y="0"/>
                    <a:chExt cx="339" cy="384"/>
                  </a:xfrm>
                </p:grpSpPr>
                <p:sp>
                  <p:nvSpPr>
                    <p:cNvPr id="56557" name="Rectangle 95">
                      <a:extLst>
                        <a:ext uri="{FF2B5EF4-FFF2-40B4-BE49-F238E27FC236}">
                          <a16:creationId xmlns:a16="http://schemas.microsoft.com/office/drawing/2014/main" id="{6815714F-5F44-0A45-A7B0-246C6A044F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0"/>
                      <a:ext cx="253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A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58" name="Rectangle 96">
                      <a:extLst>
                        <a:ext uri="{FF2B5EF4-FFF2-40B4-BE49-F238E27FC236}">
                          <a16:creationId xmlns:a16="http://schemas.microsoft.com/office/drawing/2014/main" id="{3F3B73C5-AF16-3843-9894-305313F35A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0"/>
                      <a:ext cx="339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88" name="Group 97">
                    <a:extLst>
                      <a:ext uri="{FF2B5EF4-FFF2-40B4-BE49-F238E27FC236}">
                        <a16:creationId xmlns:a16="http://schemas.microsoft.com/office/drawing/2014/main" id="{76D63ABF-03FC-5F49-BDBD-B31D66603C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9" y="0"/>
                    <a:ext cx="296" cy="384"/>
                    <a:chOff x="339" y="0"/>
                    <a:chExt cx="296" cy="384"/>
                  </a:xfrm>
                </p:grpSpPr>
                <p:sp>
                  <p:nvSpPr>
                    <p:cNvPr id="56555" name="Rectangle 98">
                      <a:extLst>
                        <a:ext uri="{FF2B5EF4-FFF2-40B4-BE49-F238E27FC236}">
                          <a16:creationId xmlns:a16="http://schemas.microsoft.com/office/drawing/2014/main" id="{6DF5417B-2F87-BF4A-84F0-5736686664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" y="0"/>
                      <a:ext cx="210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bg1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 dirty="0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56" name="Rectangle 99">
                      <a:extLst>
                        <a:ext uri="{FF2B5EF4-FFF2-40B4-BE49-F238E27FC236}">
                          <a16:creationId xmlns:a16="http://schemas.microsoft.com/office/drawing/2014/main" id="{CA54FBFD-89F0-F542-B510-2E61FB0D9A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" y="0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89" name="Group 100">
                    <a:extLst>
                      <a:ext uri="{FF2B5EF4-FFF2-40B4-BE49-F238E27FC236}">
                        <a16:creationId xmlns:a16="http://schemas.microsoft.com/office/drawing/2014/main" id="{C57C642A-4DEB-D745-BE6A-8544C9A0A27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5" y="0"/>
                    <a:ext cx="296" cy="384"/>
                    <a:chOff x="635" y="0"/>
                    <a:chExt cx="296" cy="384"/>
                  </a:xfrm>
                </p:grpSpPr>
                <p:sp>
                  <p:nvSpPr>
                    <p:cNvPr id="56553" name="Rectangle 101">
                      <a:extLst>
                        <a:ext uri="{FF2B5EF4-FFF2-40B4-BE49-F238E27FC236}">
                          <a16:creationId xmlns:a16="http://schemas.microsoft.com/office/drawing/2014/main" id="{E33B4C49-8861-B04F-B4C2-E58D917BF7A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8" y="0"/>
                      <a:ext cx="210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1"/>
                          </a:solidFill>
                          <a:latin typeface="宋体" panose="02010600030101010101" pitchFamily="2" charset="-122"/>
                        </a:rPr>
                        <a:t>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54" name="Rectangle 102">
                      <a:extLst>
                        <a:ext uri="{FF2B5EF4-FFF2-40B4-BE49-F238E27FC236}">
                          <a16:creationId xmlns:a16="http://schemas.microsoft.com/office/drawing/2014/main" id="{02628713-0F9C-4F48-96EB-0A8BFB87E9B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5" y="0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0" name="Group 103">
                    <a:extLst>
                      <a:ext uri="{FF2B5EF4-FFF2-40B4-BE49-F238E27FC236}">
                        <a16:creationId xmlns:a16="http://schemas.microsoft.com/office/drawing/2014/main" id="{3D47E40A-8AC6-5745-A1AA-AC9B2B6F22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31" y="0"/>
                    <a:ext cx="380" cy="384"/>
                    <a:chOff x="931" y="0"/>
                    <a:chExt cx="380" cy="384"/>
                  </a:xfrm>
                </p:grpSpPr>
                <p:sp>
                  <p:nvSpPr>
                    <p:cNvPr id="56551" name="Rectangle 104">
                      <a:extLst>
                        <a:ext uri="{FF2B5EF4-FFF2-40B4-BE49-F238E27FC236}">
                          <a16:creationId xmlns:a16="http://schemas.microsoft.com/office/drawing/2014/main" id="{C4368B6A-8FA4-EB43-B7EB-E96A33AF196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0"/>
                      <a:ext cx="294" cy="384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D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52" name="Rectangle 105">
                      <a:extLst>
                        <a:ext uri="{FF2B5EF4-FFF2-40B4-BE49-F238E27FC236}">
                          <a16:creationId xmlns:a16="http://schemas.microsoft.com/office/drawing/2014/main" id="{922753AA-C865-E842-BC9A-96EB66736E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0"/>
                      <a:ext cx="380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1" name="Group 106">
                    <a:extLst>
                      <a:ext uri="{FF2B5EF4-FFF2-40B4-BE49-F238E27FC236}">
                        <a16:creationId xmlns:a16="http://schemas.microsoft.com/office/drawing/2014/main" id="{A4D08832-9C76-654E-81ED-67E1652FDA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384"/>
                    <a:ext cx="339" cy="384"/>
                    <a:chOff x="0" y="384"/>
                    <a:chExt cx="339" cy="384"/>
                  </a:xfrm>
                </p:grpSpPr>
                <p:sp>
                  <p:nvSpPr>
                    <p:cNvPr id="56549" name="Rectangle 107">
                      <a:extLst>
                        <a:ext uri="{FF2B5EF4-FFF2-40B4-BE49-F238E27FC236}">
                          <a16:creationId xmlns:a16="http://schemas.microsoft.com/office/drawing/2014/main" id="{2833500A-D13D-9649-9CF0-889B9FBDD19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384"/>
                      <a:ext cx="253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a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 dirty="0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50" name="Rectangle 108">
                      <a:extLst>
                        <a:ext uri="{FF2B5EF4-FFF2-40B4-BE49-F238E27FC236}">
                          <a16:creationId xmlns:a16="http://schemas.microsoft.com/office/drawing/2014/main" id="{803B9EE1-C1B4-464C-97C0-375903A1D7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384"/>
                      <a:ext cx="339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2" name="Group 109">
                    <a:extLst>
                      <a:ext uri="{FF2B5EF4-FFF2-40B4-BE49-F238E27FC236}">
                        <a16:creationId xmlns:a16="http://schemas.microsoft.com/office/drawing/2014/main" id="{C8F0368C-63C4-C449-A060-A67004F520E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9" y="384"/>
                    <a:ext cx="296" cy="384"/>
                    <a:chOff x="339" y="384"/>
                    <a:chExt cx="296" cy="384"/>
                  </a:xfrm>
                </p:grpSpPr>
                <p:sp>
                  <p:nvSpPr>
                    <p:cNvPr id="56547" name="Rectangle 110">
                      <a:extLst>
                        <a:ext uri="{FF2B5EF4-FFF2-40B4-BE49-F238E27FC236}">
                          <a16:creationId xmlns:a16="http://schemas.microsoft.com/office/drawing/2014/main" id="{1A13E75F-0C7B-3E4A-B891-2D03102AC48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" y="384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48" name="Rectangle 111">
                      <a:extLst>
                        <a:ext uri="{FF2B5EF4-FFF2-40B4-BE49-F238E27FC236}">
                          <a16:creationId xmlns:a16="http://schemas.microsoft.com/office/drawing/2014/main" id="{5B64C570-9640-E340-B422-B0DA50962E0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" y="384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3" name="Group 112">
                    <a:extLst>
                      <a:ext uri="{FF2B5EF4-FFF2-40B4-BE49-F238E27FC236}">
                        <a16:creationId xmlns:a16="http://schemas.microsoft.com/office/drawing/2014/main" id="{1FE29292-5AA2-7542-A675-9F51163FD0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5" y="384"/>
                    <a:ext cx="296" cy="384"/>
                    <a:chOff x="635" y="384"/>
                    <a:chExt cx="296" cy="384"/>
                  </a:xfrm>
                </p:grpSpPr>
                <p:sp>
                  <p:nvSpPr>
                    <p:cNvPr id="56545" name="Rectangle 113">
                      <a:extLst>
                        <a:ext uri="{FF2B5EF4-FFF2-40B4-BE49-F238E27FC236}">
                          <a16:creationId xmlns:a16="http://schemas.microsoft.com/office/drawing/2014/main" id="{E5222ADC-E29A-454C-9815-A13F400A0E7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8" y="384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46" name="Rectangle 114">
                      <a:extLst>
                        <a:ext uri="{FF2B5EF4-FFF2-40B4-BE49-F238E27FC236}">
                          <a16:creationId xmlns:a16="http://schemas.microsoft.com/office/drawing/2014/main" id="{761DEAA2-114E-5343-A196-37CAC62804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5" y="384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4" name="Group 115">
                    <a:extLst>
                      <a:ext uri="{FF2B5EF4-FFF2-40B4-BE49-F238E27FC236}">
                        <a16:creationId xmlns:a16="http://schemas.microsoft.com/office/drawing/2014/main" id="{F547A1E0-DA96-114A-92E7-F7693955769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31" y="384"/>
                    <a:ext cx="380" cy="384"/>
                    <a:chOff x="931" y="384"/>
                    <a:chExt cx="380" cy="384"/>
                  </a:xfrm>
                </p:grpSpPr>
                <p:sp>
                  <p:nvSpPr>
                    <p:cNvPr id="56543" name="Rectangle 116">
                      <a:extLst>
                        <a:ext uri="{FF2B5EF4-FFF2-40B4-BE49-F238E27FC236}">
                          <a16:creationId xmlns:a16="http://schemas.microsoft.com/office/drawing/2014/main" id="{B9E42D4C-2AA0-1640-9B9D-A3A66BB8DBD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384"/>
                      <a:ext cx="294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d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44" name="Rectangle 117">
                      <a:extLst>
                        <a:ext uri="{FF2B5EF4-FFF2-40B4-BE49-F238E27FC236}">
                          <a16:creationId xmlns:a16="http://schemas.microsoft.com/office/drawing/2014/main" id="{6CEF3A84-3B58-0149-B0D8-F852483EF2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384"/>
                      <a:ext cx="380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5" name="Group 118">
                    <a:extLst>
                      <a:ext uri="{FF2B5EF4-FFF2-40B4-BE49-F238E27FC236}">
                        <a16:creationId xmlns:a16="http://schemas.microsoft.com/office/drawing/2014/main" id="{1800B5EE-E760-1C4A-959D-DFB9AB6DE33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768"/>
                    <a:ext cx="339" cy="384"/>
                    <a:chOff x="0" y="768"/>
                    <a:chExt cx="339" cy="384"/>
                  </a:xfrm>
                </p:grpSpPr>
                <p:sp>
                  <p:nvSpPr>
                    <p:cNvPr id="56541" name="Rectangle 119">
                      <a:extLst>
                        <a:ext uri="{FF2B5EF4-FFF2-40B4-BE49-F238E27FC236}">
                          <a16:creationId xmlns:a16="http://schemas.microsoft.com/office/drawing/2014/main" id="{4293FEA6-E2AC-4D49-A933-36B55ADF97C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768"/>
                      <a:ext cx="253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a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42" name="Rectangle 120">
                      <a:extLst>
                        <a:ext uri="{FF2B5EF4-FFF2-40B4-BE49-F238E27FC236}">
                          <a16:creationId xmlns:a16="http://schemas.microsoft.com/office/drawing/2014/main" id="{91C17CF4-BF3B-6942-9A5B-C3ED498B149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768"/>
                      <a:ext cx="339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6" name="Group 121">
                    <a:extLst>
                      <a:ext uri="{FF2B5EF4-FFF2-40B4-BE49-F238E27FC236}">
                        <a16:creationId xmlns:a16="http://schemas.microsoft.com/office/drawing/2014/main" id="{66280706-181C-F441-B4DE-E8C375CB794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9" y="768"/>
                    <a:ext cx="296" cy="384"/>
                    <a:chOff x="339" y="768"/>
                    <a:chExt cx="296" cy="384"/>
                  </a:xfrm>
                </p:grpSpPr>
                <p:sp>
                  <p:nvSpPr>
                    <p:cNvPr id="56539" name="Rectangle 122">
                      <a:extLst>
                        <a:ext uri="{FF2B5EF4-FFF2-40B4-BE49-F238E27FC236}">
                          <a16:creationId xmlns:a16="http://schemas.microsoft.com/office/drawing/2014/main" id="{442159B9-4250-844D-8BAF-B576A6FB1A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" y="768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40" name="Rectangle 123">
                      <a:extLst>
                        <a:ext uri="{FF2B5EF4-FFF2-40B4-BE49-F238E27FC236}">
                          <a16:creationId xmlns:a16="http://schemas.microsoft.com/office/drawing/2014/main" id="{A4B0C77D-7D31-B04C-8155-FC9BBABE88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" y="768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7" name="Group 124">
                    <a:extLst>
                      <a:ext uri="{FF2B5EF4-FFF2-40B4-BE49-F238E27FC236}">
                        <a16:creationId xmlns:a16="http://schemas.microsoft.com/office/drawing/2014/main" id="{B685FDD8-87C0-E542-87D3-F0005ED3D07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5" y="768"/>
                    <a:ext cx="296" cy="384"/>
                    <a:chOff x="635" y="768"/>
                    <a:chExt cx="296" cy="384"/>
                  </a:xfrm>
                </p:grpSpPr>
                <p:sp>
                  <p:nvSpPr>
                    <p:cNvPr id="56537" name="Rectangle 125">
                      <a:extLst>
                        <a:ext uri="{FF2B5EF4-FFF2-40B4-BE49-F238E27FC236}">
                          <a16:creationId xmlns:a16="http://schemas.microsoft.com/office/drawing/2014/main" id="{F0C5ED53-57AE-6B48-BDBC-99159E0DAD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8" y="768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38" name="Rectangle 126">
                      <a:extLst>
                        <a:ext uri="{FF2B5EF4-FFF2-40B4-BE49-F238E27FC236}">
                          <a16:creationId xmlns:a16="http://schemas.microsoft.com/office/drawing/2014/main" id="{79281378-0DA8-D946-85B0-149CA5744B2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5" y="768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8" name="Group 127">
                    <a:extLst>
                      <a:ext uri="{FF2B5EF4-FFF2-40B4-BE49-F238E27FC236}">
                        <a16:creationId xmlns:a16="http://schemas.microsoft.com/office/drawing/2014/main" id="{61FCC349-3C87-BC49-9587-762313FBC30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31" y="768"/>
                    <a:ext cx="380" cy="384"/>
                    <a:chOff x="931" y="768"/>
                    <a:chExt cx="380" cy="384"/>
                  </a:xfrm>
                </p:grpSpPr>
                <p:sp>
                  <p:nvSpPr>
                    <p:cNvPr id="56535" name="Rectangle 128">
                      <a:extLst>
                        <a:ext uri="{FF2B5EF4-FFF2-40B4-BE49-F238E27FC236}">
                          <a16:creationId xmlns:a16="http://schemas.microsoft.com/office/drawing/2014/main" id="{917D6EE6-AF8E-B84A-8903-923AC71AEC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768"/>
                      <a:ext cx="294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e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36" name="Rectangle 129">
                      <a:extLst>
                        <a:ext uri="{FF2B5EF4-FFF2-40B4-BE49-F238E27FC236}">
                          <a16:creationId xmlns:a16="http://schemas.microsoft.com/office/drawing/2014/main" id="{4DF26480-612C-D14C-895C-9D80113EF0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768"/>
                      <a:ext cx="380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499" name="Group 130">
                    <a:extLst>
                      <a:ext uri="{FF2B5EF4-FFF2-40B4-BE49-F238E27FC236}">
                        <a16:creationId xmlns:a16="http://schemas.microsoft.com/office/drawing/2014/main" id="{90B0FD4A-E825-1447-8112-944362281CF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1152"/>
                    <a:ext cx="339" cy="384"/>
                    <a:chOff x="0" y="1152"/>
                    <a:chExt cx="339" cy="384"/>
                  </a:xfrm>
                </p:grpSpPr>
                <p:sp>
                  <p:nvSpPr>
                    <p:cNvPr id="56533" name="Rectangle 131">
                      <a:extLst>
                        <a:ext uri="{FF2B5EF4-FFF2-40B4-BE49-F238E27FC236}">
                          <a16:creationId xmlns:a16="http://schemas.microsoft.com/office/drawing/2014/main" id="{0575AB24-8AAB-BE4E-9381-74D6C836A6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1152"/>
                      <a:ext cx="253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34" name="Rectangle 132">
                      <a:extLst>
                        <a:ext uri="{FF2B5EF4-FFF2-40B4-BE49-F238E27FC236}">
                          <a16:creationId xmlns:a16="http://schemas.microsoft.com/office/drawing/2014/main" id="{09190E8C-FBB8-AE41-BE99-77C6456944C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1152"/>
                      <a:ext cx="339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0" name="Group 133">
                    <a:extLst>
                      <a:ext uri="{FF2B5EF4-FFF2-40B4-BE49-F238E27FC236}">
                        <a16:creationId xmlns:a16="http://schemas.microsoft.com/office/drawing/2014/main" id="{6288D722-E6B8-EA43-B1C1-5396A609B5B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9" y="1152"/>
                    <a:ext cx="296" cy="384"/>
                    <a:chOff x="339" y="1152"/>
                    <a:chExt cx="296" cy="384"/>
                  </a:xfrm>
                </p:grpSpPr>
                <p:sp>
                  <p:nvSpPr>
                    <p:cNvPr id="56531" name="Rectangle 134">
                      <a:extLst>
                        <a:ext uri="{FF2B5EF4-FFF2-40B4-BE49-F238E27FC236}">
                          <a16:creationId xmlns:a16="http://schemas.microsoft.com/office/drawing/2014/main" id="{9B4CA99A-2CC0-B742-B013-D3328B8E954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" y="1152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a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32" name="Rectangle 135">
                      <a:extLst>
                        <a:ext uri="{FF2B5EF4-FFF2-40B4-BE49-F238E27FC236}">
                          <a16:creationId xmlns:a16="http://schemas.microsoft.com/office/drawing/2014/main" id="{4DB3C6AC-C27B-BC41-A6F3-D80DB0F51F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" y="1152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1" name="Group 136">
                    <a:extLst>
                      <a:ext uri="{FF2B5EF4-FFF2-40B4-BE49-F238E27FC236}">
                        <a16:creationId xmlns:a16="http://schemas.microsoft.com/office/drawing/2014/main" id="{D1D2505E-4573-7C4B-A875-11CD898314D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5" y="1152"/>
                    <a:ext cx="296" cy="384"/>
                    <a:chOff x="635" y="1152"/>
                    <a:chExt cx="296" cy="384"/>
                  </a:xfrm>
                </p:grpSpPr>
                <p:sp>
                  <p:nvSpPr>
                    <p:cNvPr id="56529" name="Rectangle 137">
                      <a:extLst>
                        <a:ext uri="{FF2B5EF4-FFF2-40B4-BE49-F238E27FC236}">
                          <a16:creationId xmlns:a16="http://schemas.microsoft.com/office/drawing/2014/main" id="{32E45607-E0EF-A647-91EB-E691D093BD2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8" y="1152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d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30" name="Rectangle 138">
                      <a:extLst>
                        <a:ext uri="{FF2B5EF4-FFF2-40B4-BE49-F238E27FC236}">
                          <a16:creationId xmlns:a16="http://schemas.microsoft.com/office/drawing/2014/main" id="{E8CDCCE7-9973-CC45-B467-CD80AD846FA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5" y="1152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2" name="Group 139">
                    <a:extLst>
                      <a:ext uri="{FF2B5EF4-FFF2-40B4-BE49-F238E27FC236}">
                        <a16:creationId xmlns:a16="http://schemas.microsoft.com/office/drawing/2014/main" id="{CE98EB45-3326-624A-A88D-CB20A237F78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31" y="1152"/>
                    <a:ext cx="380" cy="384"/>
                    <a:chOff x="931" y="1152"/>
                    <a:chExt cx="380" cy="384"/>
                  </a:xfrm>
                </p:grpSpPr>
                <p:sp>
                  <p:nvSpPr>
                    <p:cNvPr id="56527" name="Rectangle 140">
                      <a:extLst>
                        <a:ext uri="{FF2B5EF4-FFF2-40B4-BE49-F238E27FC236}">
                          <a16:creationId xmlns:a16="http://schemas.microsoft.com/office/drawing/2014/main" id="{BB7FA895-A49F-8A46-99E7-2565AE1AE2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1152"/>
                      <a:ext cx="294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28" name="Rectangle 141">
                      <a:extLst>
                        <a:ext uri="{FF2B5EF4-FFF2-40B4-BE49-F238E27FC236}">
                          <a16:creationId xmlns:a16="http://schemas.microsoft.com/office/drawing/2014/main" id="{FF037BB2-BB97-C94F-A379-7CD9510D9A6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1152"/>
                      <a:ext cx="380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3" name="Group 142">
                    <a:extLst>
                      <a:ext uri="{FF2B5EF4-FFF2-40B4-BE49-F238E27FC236}">
                        <a16:creationId xmlns:a16="http://schemas.microsoft.com/office/drawing/2014/main" id="{A826B78E-3F9B-D64B-ADBA-38E9E7E029E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1536"/>
                    <a:ext cx="339" cy="384"/>
                    <a:chOff x="0" y="1536"/>
                    <a:chExt cx="339" cy="384"/>
                  </a:xfrm>
                </p:grpSpPr>
                <p:sp>
                  <p:nvSpPr>
                    <p:cNvPr id="56525" name="Rectangle 143">
                      <a:extLst>
                        <a:ext uri="{FF2B5EF4-FFF2-40B4-BE49-F238E27FC236}">
                          <a16:creationId xmlns:a16="http://schemas.microsoft.com/office/drawing/2014/main" id="{BF9C8C8B-A1B6-E341-A41B-78955B0DE6C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1536"/>
                      <a:ext cx="253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26" name="Rectangle 144">
                      <a:extLst>
                        <a:ext uri="{FF2B5EF4-FFF2-40B4-BE49-F238E27FC236}">
                          <a16:creationId xmlns:a16="http://schemas.microsoft.com/office/drawing/2014/main" id="{0EFA0A61-94E3-BE4F-9BBB-252D7E8C89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1536"/>
                      <a:ext cx="339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4" name="Group 145">
                    <a:extLst>
                      <a:ext uri="{FF2B5EF4-FFF2-40B4-BE49-F238E27FC236}">
                        <a16:creationId xmlns:a16="http://schemas.microsoft.com/office/drawing/2014/main" id="{CFDDC460-D938-FB47-9B9A-D42FB23593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9" y="1536"/>
                    <a:ext cx="296" cy="384"/>
                    <a:chOff x="339" y="1536"/>
                    <a:chExt cx="296" cy="384"/>
                  </a:xfrm>
                </p:grpSpPr>
                <p:sp>
                  <p:nvSpPr>
                    <p:cNvPr id="56523" name="Rectangle 146">
                      <a:extLst>
                        <a:ext uri="{FF2B5EF4-FFF2-40B4-BE49-F238E27FC236}">
                          <a16:creationId xmlns:a16="http://schemas.microsoft.com/office/drawing/2014/main" id="{782CED45-DE47-FB41-963A-C3E4367ECF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" y="1536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b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24" name="Rectangle 147">
                      <a:extLst>
                        <a:ext uri="{FF2B5EF4-FFF2-40B4-BE49-F238E27FC236}">
                          <a16:creationId xmlns:a16="http://schemas.microsoft.com/office/drawing/2014/main" id="{20A5E0A4-E35D-8C4C-8112-EC947F32ACB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" y="1536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5" name="Group 148">
                    <a:extLst>
                      <a:ext uri="{FF2B5EF4-FFF2-40B4-BE49-F238E27FC236}">
                        <a16:creationId xmlns:a16="http://schemas.microsoft.com/office/drawing/2014/main" id="{24DBBE1D-2C49-E540-B56D-B84583A92C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5" y="1536"/>
                    <a:ext cx="296" cy="384"/>
                    <a:chOff x="635" y="1536"/>
                    <a:chExt cx="296" cy="384"/>
                  </a:xfrm>
                </p:grpSpPr>
                <p:sp>
                  <p:nvSpPr>
                    <p:cNvPr id="56521" name="Rectangle 149">
                      <a:extLst>
                        <a:ext uri="{FF2B5EF4-FFF2-40B4-BE49-F238E27FC236}">
                          <a16:creationId xmlns:a16="http://schemas.microsoft.com/office/drawing/2014/main" id="{6F2866AF-F29B-DC40-9BCE-27E1D0CFC0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8" y="1536"/>
                      <a:ext cx="210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f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22" name="Rectangle 150">
                      <a:extLst>
                        <a:ext uri="{FF2B5EF4-FFF2-40B4-BE49-F238E27FC236}">
                          <a16:creationId xmlns:a16="http://schemas.microsoft.com/office/drawing/2014/main" id="{53E48206-2248-E545-A9DE-3D3D30B8E8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5" y="1536"/>
                      <a:ext cx="296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6" name="Group 151">
                    <a:extLst>
                      <a:ext uri="{FF2B5EF4-FFF2-40B4-BE49-F238E27FC236}">
                        <a16:creationId xmlns:a16="http://schemas.microsoft.com/office/drawing/2014/main" id="{58E16142-10C0-C545-A9F6-A2A1B995867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31" y="1536"/>
                    <a:ext cx="380" cy="384"/>
                    <a:chOff x="931" y="1536"/>
                    <a:chExt cx="380" cy="384"/>
                  </a:xfrm>
                </p:grpSpPr>
                <p:sp>
                  <p:nvSpPr>
                    <p:cNvPr id="56519" name="Rectangle 152">
                      <a:extLst>
                        <a:ext uri="{FF2B5EF4-FFF2-40B4-BE49-F238E27FC236}">
                          <a16:creationId xmlns:a16="http://schemas.microsoft.com/office/drawing/2014/main" id="{2BB6B743-EF41-EB40-ABBD-B36E995AE64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1536"/>
                      <a:ext cx="294" cy="38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null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20" name="Rectangle 153">
                      <a:extLst>
                        <a:ext uri="{FF2B5EF4-FFF2-40B4-BE49-F238E27FC236}">
                          <a16:creationId xmlns:a16="http://schemas.microsoft.com/office/drawing/2014/main" id="{5D531304-3AE9-9A4E-AE9D-E4C6129FAE2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1536"/>
                      <a:ext cx="380" cy="384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7" name="Group 154">
                    <a:extLst>
                      <a:ext uri="{FF2B5EF4-FFF2-40B4-BE49-F238E27FC236}">
                        <a16:creationId xmlns:a16="http://schemas.microsoft.com/office/drawing/2014/main" id="{7F8A7DA4-FD21-7C4D-9091-E5399CF6F68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1920"/>
                    <a:ext cx="339" cy="480"/>
                    <a:chOff x="0" y="1920"/>
                    <a:chExt cx="339" cy="480"/>
                  </a:xfrm>
                </p:grpSpPr>
                <p:sp>
                  <p:nvSpPr>
                    <p:cNvPr id="56517" name="Rectangle 155">
                      <a:extLst>
                        <a:ext uri="{FF2B5EF4-FFF2-40B4-BE49-F238E27FC236}">
                          <a16:creationId xmlns:a16="http://schemas.microsoft.com/office/drawing/2014/main" id="{E47CB361-96F0-DD42-9CAC-9D536D1D87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1920"/>
                      <a:ext cx="253" cy="4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sz="2800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null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sz="2800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18" name="Rectangle 156">
                      <a:extLst>
                        <a:ext uri="{FF2B5EF4-FFF2-40B4-BE49-F238E27FC236}">
                          <a16:creationId xmlns:a16="http://schemas.microsoft.com/office/drawing/2014/main" id="{00D51993-B9D8-E447-9D48-49B5E704484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1920"/>
                      <a:ext cx="339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8" name="Group 157">
                    <a:extLst>
                      <a:ext uri="{FF2B5EF4-FFF2-40B4-BE49-F238E27FC236}">
                        <a16:creationId xmlns:a16="http://schemas.microsoft.com/office/drawing/2014/main" id="{29BE517F-B89C-C348-95E9-28BE53F729D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9" y="1920"/>
                    <a:ext cx="296" cy="480"/>
                    <a:chOff x="339" y="1920"/>
                    <a:chExt cx="296" cy="480"/>
                  </a:xfrm>
                </p:grpSpPr>
                <p:sp>
                  <p:nvSpPr>
                    <p:cNvPr id="56515" name="Rectangle 158">
                      <a:extLst>
                        <a:ext uri="{FF2B5EF4-FFF2-40B4-BE49-F238E27FC236}">
                          <a16:creationId xmlns:a16="http://schemas.microsoft.com/office/drawing/2014/main" id="{9758644A-AFB6-724F-8E29-DA533F5E94C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2" y="1920"/>
                      <a:ext cx="210" cy="4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e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16" name="Rectangle 159">
                      <a:extLst>
                        <a:ext uri="{FF2B5EF4-FFF2-40B4-BE49-F238E27FC236}">
                          <a16:creationId xmlns:a16="http://schemas.microsoft.com/office/drawing/2014/main" id="{30457FA2-129E-DA44-92AE-176C6EDC0A7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39" y="1920"/>
                      <a:ext cx="296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09" name="Group 160">
                    <a:extLst>
                      <a:ext uri="{FF2B5EF4-FFF2-40B4-BE49-F238E27FC236}">
                        <a16:creationId xmlns:a16="http://schemas.microsoft.com/office/drawing/2014/main" id="{7BDD261B-CD2E-F046-9345-26DB127E37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35" y="1920"/>
                    <a:ext cx="296" cy="480"/>
                    <a:chOff x="635" y="1920"/>
                    <a:chExt cx="296" cy="480"/>
                  </a:xfrm>
                </p:grpSpPr>
                <p:sp>
                  <p:nvSpPr>
                    <p:cNvPr id="56513" name="Rectangle 161">
                      <a:extLst>
                        <a:ext uri="{FF2B5EF4-FFF2-40B4-BE49-F238E27FC236}">
                          <a16:creationId xmlns:a16="http://schemas.microsoft.com/office/drawing/2014/main" id="{D7AA3252-363F-804D-9253-7AB53C79027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8" y="1920"/>
                      <a:ext cx="210" cy="4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f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14" name="Rectangle 162">
                      <a:extLst>
                        <a:ext uri="{FF2B5EF4-FFF2-40B4-BE49-F238E27FC236}">
                          <a16:creationId xmlns:a16="http://schemas.microsoft.com/office/drawing/2014/main" id="{727632DC-DAC8-9040-B5DF-05785101FBC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5" y="1920"/>
                      <a:ext cx="296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6510" name="Group 163">
                    <a:extLst>
                      <a:ext uri="{FF2B5EF4-FFF2-40B4-BE49-F238E27FC236}">
                        <a16:creationId xmlns:a16="http://schemas.microsoft.com/office/drawing/2014/main" id="{A0CCF984-BEAF-C24B-8501-39DC6071E8B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31" y="1920"/>
                    <a:ext cx="380" cy="480"/>
                    <a:chOff x="931" y="1920"/>
                    <a:chExt cx="380" cy="480"/>
                  </a:xfrm>
                </p:grpSpPr>
                <p:sp>
                  <p:nvSpPr>
                    <p:cNvPr id="56511" name="Rectangle 164">
                      <a:extLst>
                        <a:ext uri="{FF2B5EF4-FFF2-40B4-BE49-F238E27FC236}">
                          <a16:creationId xmlns:a16="http://schemas.microsoft.com/office/drawing/2014/main" id="{8BE83F65-3A01-5B46-A8A7-B4C3A2D727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74" y="1920"/>
                      <a:ext cx="294" cy="48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zh-CN" b="1">
                          <a:solidFill>
                            <a:schemeClr val="bg2"/>
                          </a:solidFill>
                          <a:latin typeface="宋体" panose="02010600030101010101" pitchFamily="2" charset="-122"/>
                        </a:rPr>
                        <a:t>g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zh-CN" b="1">
                        <a:solidFill>
                          <a:schemeClr val="bg2"/>
                        </a:solidFill>
                      </a:endParaRPr>
                    </a:p>
                  </p:txBody>
                </p:sp>
                <p:sp>
                  <p:nvSpPr>
                    <p:cNvPr id="56512" name="Rectangle 165">
                      <a:extLst>
                        <a:ext uri="{FF2B5EF4-FFF2-40B4-BE49-F238E27FC236}">
                          <a16:creationId xmlns:a16="http://schemas.microsoft.com/office/drawing/2014/main" id="{D2691B76-53FF-DB43-A3AF-8B0027F23FE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31" y="1920"/>
                      <a:ext cx="380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buChar char="l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90000"/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itchFamily="2" charset="2"/>
                        <a:buChar char="l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1"/>
                        </a:buClr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Char char="•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zh-CN" altLang="en-US" sz="1800">
                        <a:latin typeface="宋体" panose="02010600030101010101" pitchFamily="2" charset="-122"/>
                      </a:endParaRPr>
                    </a:p>
                  </p:txBody>
                </p:sp>
              </p:grpSp>
            </p:grpSp>
            <p:sp>
              <p:nvSpPr>
                <p:cNvPr id="56486" name="Rectangle 166">
                  <a:extLst>
                    <a:ext uri="{FF2B5EF4-FFF2-40B4-BE49-F238E27FC236}">
                      <a16:creationId xmlns:a16="http://schemas.microsoft.com/office/drawing/2014/main" id="{7205179F-B367-9542-9AA0-16BF1DC0F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3" y="-3"/>
                  <a:ext cx="1317" cy="2406"/>
                </a:xfrm>
                <a:prstGeom prst="rect">
                  <a:avLst/>
                </a:prstGeom>
                <a:noFill/>
                <a:ln w="9525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56478" name="Text Box 167">
                <a:extLst>
                  <a:ext uri="{FF2B5EF4-FFF2-40B4-BE49-F238E27FC236}">
                    <a16:creationId xmlns:a16="http://schemas.microsoft.com/office/drawing/2014/main" id="{500EDE29-049D-3740-AD6D-3609DEF84F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0" y="1784"/>
                <a:ext cx="1992" cy="322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b="1">
                  <a:solidFill>
                    <a:schemeClr val="bg2"/>
                  </a:solidFill>
                  <a:latin typeface="宋体" panose="02010600030101010101" pitchFamily="2" charset="-122"/>
                </a:endParaRPr>
              </a:p>
            </p:txBody>
          </p:sp>
          <p:grpSp>
            <p:nvGrpSpPr>
              <p:cNvPr id="56479" name="Group 168">
                <a:extLst>
                  <a:ext uri="{FF2B5EF4-FFF2-40B4-BE49-F238E27FC236}">
                    <a16:creationId xmlns:a16="http://schemas.microsoft.com/office/drawing/2014/main" id="{3B49AA8D-2075-3846-ADC9-8CF3FF2533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21" y="2142"/>
                <a:ext cx="485" cy="154"/>
                <a:chOff x="6405" y="8304"/>
                <a:chExt cx="420" cy="156"/>
              </a:xfrm>
            </p:grpSpPr>
            <p:sp>
              <p:nvSpPr>
                <p:cNvPr id="56480" name="AutoShape 169">
                  <a:extLst>
                    <a:ext uri="{FF2B5EF4-FFF2-40B4-BE49-F238E27FC236}">
                      <a16:creationId xmlns:a16="http://schemas.microsoft.com/office/drawing/2014/main" id="{CDF4A3DE-8FDB-554D-8F95-BC5DF8B7EC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6537" y="8277"/>
                  <a:ext cx="156" cy="210"/>
                </a:xfrm>
                <a:prstGeom prst="flowChartCollate">
                  <a:avLst/>
                </a:prstGeom>
                <a:solidFill>
                  <a:srgbClr val="FFFFFF"/>
                </a:solidFill>
                <a:ln w="19050">
                  <a:solidFill>
                    <a:schemeClr val="bg2"/>
                  </a:solidFill>
                  <a:miter lim="800000"/>
                  <a:headEnd/>
                  <a:tailEnd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itchFamily="2" charset="2"/>
                    <a:buChar char="l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SzPct val="90000"/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60000"/>
                    <a:buFont typeface="Wingdings" pitchFamily="2" charset="2"/>
                    <a:buChar char="l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Char char="•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>
                    <a:latin typeface="宋体" panose="02010600030101010101" pitchFamily="2" charset="-122"/>
                  </a:endParaRPr>
                </a:p>
              </p:txBody>
            </p:sp>
            <p:sp>
              <p:nvSpPr>
                <p:cNvPr id="56481" name="Line 170">
                  <a:extLst>
                    <a:ext uri="{FF2B5EF4-FFF2-40B4-BE49-F238E27FC236}">
                      <a16:creationId xmlns:a16="http://schemas.microsoft.com/office/drawing/2014/main" id="{FB35907E-F385-2F4B-9B06-143C12F194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0" y="8304"/>
                  <a:ext cx="105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482" name="Line 171">
                  <a:extLst>
                    <a:ext uri="{FF2B5EF4-FFF2-40B4-BE49-F238E27FC236}">
                      <a16:creationId xmlns:a16="http://schemas.microsoft.com/office/drawing/2014/main" id="{EA22F999-9DBB-F64D-AD87-0BC0CB384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0" y="8460"/>
                  <a:ext cx="105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483" name="Line 172">
                  <a:extLst>
                    <a:ext uri="{FF2B5EF4-FFF2-40B4-BE49-F238E27FC236}">
                      <a16:creationId xmlns:a16="http://schemas.microsoft.com/office/drawing/2014/main" id="{AD3C7052-C335-9141-AB53-09C97666E3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405" y="8304"/>
                  <a:ext cx="105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484" name="Line 173">
                  <a:extLst>
                    <a:ext uri="{FF2B5EF4-FFF2-40B4-BE49-F238E27FC236}">
                      <a16:creationId xmlns:a16="http://schemas.microsoft.com/office/drawing/2014/main" id="{1A70ED0B-E576-D848-B8FE-C7638E16A6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405" y="8460"/>
                  <a:ext cx="105" cy="0"/>
                </a:xfrm>
                <a:prstGeom prst="line">
                  <a:avLst/>
                </a:prstGeom>
                <a:noFill/>
                <a:ln w="9525">
                  <a:solidFill>
                    <a:schemeClr val="bg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6476" name="Rectangle 317">
              <a:extLst>
                <a:ext uri="{FF2B5EF4-FFF2-40B4-BE49-F238E27FC236}">
                  <a16:creationId xmlns:a16="http://schemas.microsoft.com/office/drawing/2014/main" id="{5DF46F03-557C-8F45-9E8B-69C4D441A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115"/>
              <a:ext cx="113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660033"/>
                  </a:solidFill>
                  <a:latin typeface="宋体" panose="02010600030101010101" pitchFamily="2" charset="-122"/>
                </a:rPr>
                <a:t>R       S</a:t>
              </a:r>
            </a:p>
          </p:txBody>
        </p:sp>
      </p:grpSp>
      <p:grpSp>
        <p:nvGrpSpPr>
          <p:cNvPr id="45097" name="Group 320">
            <a:extLst>
              <a:ext uri="{FF2B5EF4-FFF2-40B4-BE49-F238E27FC236}">
                <a16:creationId xmlns:a16="http://schemas.microsoft.com/office/drawing/2014/main" id="{3136A5C9-1836-F448-BB84-B77EF8379B30}"/>
              </a:ext>
            </a:extLst>
          </p:cNvPr>
          <p:cNvGrpSpPr>
            <a:grpSpLocks/>
          </p:cNvGrpSpPr>
          <p:nvPr/>
        </p:nvGrpSpPr>
        <p:grpSpPr bwMode="auto">
          <a:xfrm>
            <a:off x="0" y="3716338"/>
            <a:ext cx="4248150" cy="3097212"/>
            <a:chOff x="0" y="2341"/>
            <a:chExt cx="2676" cy="1951"/>
          </a:xfrm>
        </p:grpSpPr>
        <p:grpSp>
          <p:nvGrpSpPr>
            <p:cNvPr id="56404" name="Group 176">
              <a:extLst>
                <a:ext uri="{FF2B5EF4-FFF2-40B4-BE49-F238E27FC236}">
                  <a16:creationId xmlns:a16="http://schemas.microsoft.com/office/drawing/2014/main" id="{27687503-11CF-594B-AC67-337BCA6C9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41"/>
              <a:ext cx="2676" cy="1886"/>
              <a:chOff x="0" y="2341"/>
              <a:chExt cx="2676" cy="1886"/>
            </a:xfrm>
          </p:grpSpPr>
          <p:grpSp>
            <p:nvGrpSpPr>
              <p:cNvPr id="56406" name="Group 177">
                <a:extLst>
                  <a:ext uri="{FF2B5EF4-FFF2-40B4-BE49-F238E27FC236}">
                    <a16:creationId xmlns:a16="http://schemas.microsoft.com/office/drawing/2014/main" id="{267BE124-B730-9D45-A2C1-070862B6C7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341"/>
                <a:ext cx="2676" cy="1886"/>
                <a:chOff x="0" y="2341"/>
                <a:chExt cx="2676" cy="1886"/>
              </a:xfrm>
            </p:grpSpPr>
            <p:grpSp>
              <p:nvGrpSpPr>
                <p:cNvPr id="56408" name="Group 178">
                  <a:extLst>
                    <a:ext uri="{FF2B5EF4-FFF2-40B4-BE49-F238E27FC236}">
                      <a16:creationId xmlns:a16="http://schemas.microsoft.com/office/drawing/2014/main" id="{DFF5DE22-0F4A-0E48-9771-B27080D954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0" y="2341"/>
                  <a:ext cx="2676" cy="1680"/>
                  <a:chOff x="-3" y="2400"/>
                  <a:chExt cx="1233" cy="2022"/>
                </a:xfrm>
              </p:grpSpPr>
              <p:grpSp>
                <p:nvGrpSpPr>
                  <p:cNvPr id="56413" name="Group 179">
                    <a:extLst>
                      <a:ext uri="{FF2B5EF4-FFF2-40B4-BE49-F238E27FC236}">
                        <a16:creationId xmlns:a16="http://schemas.microsoft.com/office/drawing/2014/main" id="{B3D14266-4880-ED43-84B9-1BA4BE1E9CE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2403"/>
                    <a:ext cx="1227" cy="2016"/>
                    <a:chOff x="0" y="2403"/>
                    <a:chExt cx="1227" cy="2016"/>
                  </a:xfrm>
                </p:grpSpPr>
                <p:grpSp>
                  <p:nvGrpSpPr>
                    <p:cNvPr id="56415" name="Group 180">
                      <a:extLst>
                        <a:ext uri="{FF2B5EF4-FFF2-40B4-BE49-F238E27FC236}">
                          <a16:creationId xmlns:a16="http://schemas.microsoft.com/office/drawing/2014/main" id="{9203730D-11B9-3C4E-B0C5-52AFF4B9B9D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2403"/>
                      <a:ext cx="297" cy="384"/>
                      <a:chOff x="0" y="2403"/>
                      <a:chExt cx="297" cy="384"/>
                    </a:xfrm>
                  </p:grpSpPr>
                  <p:sp>
                    <p:nvSpPr>
                      <p:cNvPr id="56473" name="Rectangle 181">
                        <a:extLst>
                          <a:ext uri="{FF2B5EF4-FFF2-40B4-BE49-F238E27FC236}">
                            <a16:creationId xmlns:a16="http://schemas.microsoft.com/office/drawing/2014/main" id="{2B7E2D06-D277-9D40-A9B9-A222D76DAB4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2403"/>
                        <a:ext cx="211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74" name="Rectangle 182">
                        <a:extLst>
                          <a:ext uri="{FF2B5EF4-FFF2-40B4-BE49-F238E27FC236}">
                            <a16:creationId xmlns:a16="http://schemas.microsoft.com/office/drawing/2014/main" id="{E7B0D679-B3D5-E44B-A7A7-25931F1100C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2403"/>
                        <a:ext cx="297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16" name="Group 183">
                      <a:extLst>
                        <a:ext uri="{FF2B5EF4-FFF2-40B4-BE49-F238E27FC236}">
                          <a16:creationId xmlns:a16="http://schemas.microsoft.com/office/drawing/2014/main" id="{691DD738-7CCD-2543-A6EB-741CB7179FF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7" y="2403"/>
                      <a:ext cx="296" cy="384"/>
                      <a:chOff x="297" y="2403"/>
                      <a:chExt cx="296" cy="384"/>
                    </a:xfrm>
                  </p:grpSpPr>
                  <p:sp>
                    <p:nvSpPr>
                      <p:cNvPr id="56471" name="Rectangle 184">
                        <a:extLst>
                          <a:ext uri="{FF2B5EF4-FFF2-40B4-BE49-F238E27FC236}">
                            <a16:creationId xmlns:a16="http://schemas.microsoft.com/office/drawing/2014/main" id="{90B5A230-53F4-0941-9D37-7AB36F70EBC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" y="2403"/>
                        <a:ext cx="210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1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72" name="Rectangle 185">
                        <a:extLst>
                          <a:ext uri="{FF2B5EF4-FFF2-40B4-BE49-F238E27FC236}">
                            <a16:creationId xmlns:a16="http://schemas.microsoft.com/office/drawing/2014/main" id="{ECA95BC7-3D17-934C-AB14-D8412ED06F1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" y="2403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17" name="Group 186">
                      <a:extLst>
                        <a:ext uri="{FF2B5EF4-FFF2-40B4-BE49-F238E27FC236}">
                          <a16:creationId xmlns:a16="http://schemas.microsoft.com/office/drawing/2014/main" id="{7D7EA19E-F4B7-504D-81EE-A29D7DD5ADC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3" y="2403"/>
                      <a:ext cx="296" cy="384"/>
                      <a:chOff x="593" y="2403"/>
                      <a:chExt cx="296" cy="384"/>
                    </a:xfrm>
                  </p:grpSpPr>
                  <p:sp>
                    <p:nvSpPr>
                      <p:cNvPr id="56469" name="Rectangle 187">
                        <a:extLst>
                          <a:ext uri="{FF2B5EF4-FFF2-40B4-BE49-F238E27FC236}">
                            <a16:creationId xmlns:a16="http://schemas.microsoft.com/office/drawing/2014/main" id="{EEAE2901-A2E2-8947-AEE0-EA797945A8A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6" y="2403"/>
                        <a:ext cx="210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1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70" name="Rectangle 188">
                        <a:extLst>
                          <a:ext uri="{FF2B5EF4-FFF2-40B4-BE49-F238E27FC236}">
                            <a16:creationId xmlns:a16="http://schemas.microsoft.com/office/drawing/2014/main" id="{DD347F38-377D-B94A-A1D6-45EF0B9B3E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3" y="2403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18" name="Group 189">
                      <a:extLst>
                        <a:ext uri="{FF2B5EF4-FFF2-40B4-BE49-F238E27FC236}">
                          <a16:creationId xmlns:a16="http://schemas.microsoft.com/office/drawing/2014/main" id="{49D0E70E-2ED3-2A42-9172-4EE60A596D3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89" y="2403"/>
                      <a:ext cx="338" cy="384"/>
                      <a:chOff x="889" y="2403"/>
                      <a:chExt cx="338" cy="384"/>
                    </a:xfrm>
                  </p:grpSpPr>
                  <p:sp>
                    <p:nvSpPr>
                      <p:cNvPr id="56467" name="Rectangle 190">
                        <a:extLst>
                          <a:ext uri="{FF2B5EF4-FFF2-40B4-BE49-F238E27FC236}">
                            <a16:creationId xmlns:a16="http://schemas.microsoft.com/office/drawing/2014/main" id="{B5C8A12D-177B-4443-8D56-9490159FFB6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2" y="2403"/>
                        <a:ext cx="252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D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68" name="Rectangle 191">
                        <a:extLst>
                          <a:ext uri="{FF2B5EF4-FFF2-40B4-BE49-F238E27FC236}">
                            <a16:creationId xmlns:a16="http://schemas.microsoft.com/office/drawing/2014/main" id="{A4F5F78E-56E1-7F42-96BF-7D9A1B5753C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2403"/>
                        <a:ext cx="33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19" name="Group 192">
                      <a:extLst>
                        <a:ext uri="{FF2B5EF4-FFF2-40B4-BE49-F238E27FC236}">
                          <a16:creationId xmlns:a16="http://schemas.microsoft.com/office/drawing/2014/main" id="{0D7A705C-5B9C-BF4B-93F0-1824E3486BD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2787"/>
                      <a:ext cx="297" cy="384"/>
                      <a:chOff x="0" y="2787"/>
                      <a:chExt cx="297" cy="384"/>
                    </a:xfrm>
                  </p:grpSpPr>
                  <p:sp>
                    <p:nvSpPr>
                      <p:cNvPr id="56465" name="Rectangle 193">
                        <a:extLst>
                          <a:ext uri="{FF2B5EF4-FFF2-40B4-BE49-F238E27FC236}">
                            <a16:creationId xmlns:a16="http://schemas.microsoft.com/office/drawing/2014/main" id="{1A5C90B3-42FE-5840-A46F-391203EB77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2787"/>
                        <a:ext cx="211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66" name="Rectangle 194">
                        <a:extLst>
                          <a:ext uri="{FF2B5EF4-FFF2-40B4-BE49-F238E27FC236}">
                            <a16:creationId xmlns:a16="http://schemas.microsoft.com/office/drawing/2014/main" id="{AF8BEB0B-FFBD-4644-AB35-CE78AE0BEB4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2787"/>
                        <a:ext cx="297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0" name="Group 195">
                      <a:extLst>
                        <a:ext uri="{FF2B5EF4-FFF2-40B4-BE49-F238E27FC236}">
                          <a16:creationId xmlns:a16="http://schemas.microsoft.com/office/drawing/2014/main" id="{308F4D97-D6DB-3648-B45F-0E90731F53B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7" y="2787"/>
                      <a:ext cx="296" cy="384"/>
                      <a:chOff x="297" y="2787"/>
                      <a:chExt cx="296" cy="384"/>
                    </a:xfrm>
                  </p:grpSpPr>
                  <p:sp>
                    <p:nvSpPr>
                      <p:cNvPr id="56463" name="Rectangle 196">
                        <a:extLst>
                          <a:ext uri="{FF2B5EF4-FFF2-40B4-BE49-F238E27FC236}">
                            <a16:creationId xmlns:a16="http://schemas.microsoft.com/office/drawing/2014/main" id="{4D6A819C-B366-1446-AB1D-ADC02E2FEC9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" y="2787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64" name="Rectangle 197">
                        <a:extLst>
                          <a:ext uri="{FF2B5EF4-FFF2-40B4-BE49-F238E27FC236}">
                            <a16:creationId xmlns:a16="http://schemas.microsoft.com/office/drawing/2014/main" id="{8DB988D4-4B97-2741-A50F-F286C652121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" y="2787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1" name="Group 198">
                      <a:extLst>
                        <a:ext uri="{FF2B5EF4-FFF2-40B4-BE49-F238E27FC236}">
                          <a16:creationId xmlns:a16="http://schemas.microsoft.com/office/drawing/2014/main" id="{3B3A424D-432C-7A4A-BD49-539CE9CAF8E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3" y="2787"/>
                      <a:ext cx="296" cy="384"/>
                      <a:chOff x="593" y="2787"/>
                      <a:chExt cx="296" cy="384"/>
                    </a:xfrm>
                  </p:grpSpPr>
                  <p:sp>
                    <p:nvSpPr>
                      <p:cNvPr id="56461" name="Rectangle 199">
                        <a:extLst>
                          <a:ext uri="{FF2B5EF4-FFF2-40B4-BE49-F238E27FC236}">
                            <a16:creationId xmlns:a16="http://schemas.microsoft.com/office/drawing/2014/main" id="{0E75DA5D-6B41-2349-8910-76E011B12C5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6" y="2787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62" name="Rectangle 200">
                        <a:extLst>
                          <a:ext uri="{FF2B5EF4-FFF2-40B4-BE49-F238E27FC236}">
                            <a16:creationId xmlns:a16="http://schemas.microsoft.com/office/drawing/2014/main" id="{D314B291-AD2C-3649-9FB4-5B5F1A7EEDC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3" y="2787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2" name="Group 201">
                      <a:extLst>
                        <a:ext uri="{FF2B5EF4-FFF2-40B4-BE49-F238E27FC236}">
                          <a16:creationId xmlns:a16="http://schemas.microsoft.com/office/drawing/2014/main" id="{58CEB8AF-BC89-AA45-A222-7A33036ED92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89" y="2787"/>
                      <a:ext cx="338" cy="384"/>
                      <a:chOff x="889" y="2787"/>
                      <a:chExt cx="338" cy="384"/>
                    </a:xfrm>
                  </p:grpSpPr>
                  <p:sp>
                    <p:nvSpPr>
                      <p:cNvPr id="56459" name="Rectangle 202">
                        <a:extLst>
                          <a:ext uri="{FF2B5EF4-FFF2-40B4-BE49-F238E27FC236}">
                            <a16:creationId xmlns:a16="http://schemas.microsoft.com/office/drawing/2014/main" id="{46588DB9-0F03-DF4F-8F3F-C32D357D620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2" y="2787"/>
                        <a:ext cx="25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d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60" name="Rectangle 203">
                        <a:extLst>
                          <a:ext uri="{FF2B5EF4-FFF2-40B4-BE49-F238E27FC236}">
                            <a16:creationId xmlns:a16="http://schemas.microsoft.com/office/drawing/2014/main" id="{6B34FB18-FD07-844B-A9B2-E879B3332B9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2787"/>
                        <a:ext cx="33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3" name="Group 204">
                      <a:extLst>
                        <a:ext uri="{FF2B5EF4-FFF2-40B4-BE49-F238E27FC236}">
                          <a16:creationId xmlns:a16="http://schemas.microsoft.com/office/drawing/2014/main" id="{3F3D296C-51FF-4844-B8C7-7D7D96BFCD0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3171"/>
                      <a:ext cx="297" cy="384"/>
                      <a:chOff x="0" y="3171"/>
                      <a:chExt cx="297" cy="384"/>
                    </a:xfrm>
                  </p:grpSpPr>
                  <p:sp>
                    <p:nvSpPr>
                      <p:cNvPr id="56457" name="Rectangle 205">
                        <a:extLst>
                          <a:ext uri="{FF2B5EF4-FFF2-40B4-BE49-F238E27FC236}">
                            <a16:creationId xmlns:a16="http://schemas.microsoft.com/office/drawing/2014/main" id="{9BDA898E-0C14-D444-B8A5-33175F2A0B3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3171"/>
                        <a:ext cx="211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58" name="Rectangle 206">
                        <a:extLst>
                          <a:ext uri="{FF2B5EF4-FFF2-40B4-BE49-F238E27FC236}">
                            <a16:creationId xmlns:a16="http://schemas.microsoft.com/office/drawing/2014/main" id="{E978A68E-F628-0B40-9401-C65CB36DD5A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171"/>
                        <a:ext cx="297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4" name="Group 207">
                      <a:extLst>
                        <a:ext uri="{FF2B5EF4-FFF2-40B4-BE49-F238E27FC236}">
                          <a16:creationId xmlns:a16="http://schemas.microsoft.com/office/drawing/2014/main" id="{39FCFEF2-487A-9C4A-8390-ECB83C970FF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7" y="3171"/>
                      <a:ext cx="296" cy="384"/>
                      <a:chOff x="297" y="3171"/>
                      <a:chExt cx="296" cy="384"/>
                    </a:xfrm>
                  </p:grpSpPr>
                  <p:sp>
                    <p:nvSpPr>
                      <p:cNvPr id="56455" name="Rectangle 208">
                        <a:extLst>
                          <a:ext uri="{FF2B5EF4-FFF2-40B4-BE49-F238E27FC236}">
                            <a16:creationId xmlns:a16="http://schemas.microsoft.com/office/drawing/2014/main" id="{E071B1E8-88D2-BA45-9FF7-E1F81E7EE8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" y="3171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56" name="Rectangle 209">
                        <a:extLst>
                          <a:ext uri="{FF2B5EF4-FFF2-40B4-BE49-F238E27FC236}">
                            <a16:creationId xmlns:a16="http://schemas.microsoft.com/office/drawing/2014/main" id="{78E1BF1B-5DBE-444A-8C10-A419EB291C7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" y="3171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5" name="Group 210">
                      <a:extLst>
                        <a:ext uri="{FF2B5EF4-FFF2-40B4-BE49-F238E27FC236}">
                          <a16:creationId xmlns:a16="http://schemas.microsoft.com/office/drawing/2014/main" id="{8FB1D8CE-C132-8C49-838D-E78D3F6984A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3" y="3171"/>
                      <a:ext cx="296" cy="384"/>
                      <a:chOff x="593" y="3171"/>
                      <a:chExt cx="296" cy="384"/>
                    </a:xfrm>
                  </p:grpSpPr>
                  <p:sp>
                    <p:nvSpPr>
                      <p:cNvPr id="56453" name="Rectangle 211">
                        <a:extLst>
                          <a:ext uri="{FF2B5EF4-FFF2-40B4-BE49-F238E27FC236}">
                            <a16:creationId xmlns:a16="http://schemas.microsoft.com/office/drawing/2014/main" id="{465AA23E-34E4-8E41-AC05-26EE92C0AE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6" y="3171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54" name="Rectangle 212">
                        <a:extLst>
                          <a:ext uri="{FF2B5EF4-FFF2-40B4-BE49-F238E27FC236}">
                            <a16:creationId xmlns:a16="http://schemas.microsoft.com/office/drawing/2014/main" id="{E822F140-B5DE-D846-8B1A-42B0BE8987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3" y="3171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6" name="Group 213">
                      <a:extLst>
                        <a:ext uri="{FF2B5EF4-FFF2-40B4-BE49-F238E27FC236}">
                          <a16:creationId xmlns:a16="http://schemas.microsoft.com/office/drawing/2014/main" id="{F7DE4564-8CBF-954B-8A7C-D921A843A4F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89" y="3171"/>
                      <a:ext cx="338" cy="384"/>
                      <a:chOff x="889" y="3171"/>
                      <a:chExt cx="338" cy="384"/>
                    </a:xfrm>
                  </p:grpSpPr>
                  <p:sp>
                    <p:nvSpPr>
                      <p:cNvPr id="56451" name="Rectangle 214">
                        <a:extLst>
                          <a:ext uri="{FF2B5EF4-FFF2-40B4-BE49-F238E27FC236}">
                            <a16:creationId xmlns:a16="http://schemas.microsoft.com/office/drawing/2014/main" id="{727E57EB-FF59-F746-A843-1EFF4F163CA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2" y="3171"/>
                        <a:ext cx="25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e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52" name="Rectangle 215">
                        <a:extLst>
                          <a:ext uri="{FF2B5EF4-FFF2-40B4-BE49-F238E27FC236}">
                            <a16:creationId xmlns:a16="http://schemas.microsoft.com/office/drawing/2014/main" id="{3EFDCBD7-90A5-C945-BF65-68FBBE7106C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171"/>
                        <a:ext cx="33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7" name="Group 216">
                      <a:extLst>
                        <a:ext uri="{FF2B5EF4-FFF2-40B4-BE49-F238E27FC236}">
                          <a16:creationId xmlns:a16="http://schemas.microsoft.com/office/drawing/2014/main" id="{20CC992F-F8E9-9747-9783-02FB7A70DA2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3555"/>
                      <a:ext cx="297" cy="384"/>
                      <a:chOff x="0" y="3555"/>
                      <a:chExt cx="297" cy="384"/>
                    </a:xfrm>
                  </p:grpSpPr>
                  <p:sp>
                    <p:nvSpPr>
                      <p:cNvPr id="56449" name="Rectangle 217">
                        <a:extLst>
                          <a:ext uri="{FF2B5EF4-FFF2-40B4-BE49-F238E27FC236}">
                            <a16:creationId xmlns:a16="http://schemas.microsoft.com/office/drawing/2014/main" id="{0B6802EF-D810-8348-859D-DA701CC2D17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3555"/>
                        <a:ext cx="211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50" name="Rectangle 218">
                        <a:extLst>
                          <a:ext uri="{FF2B5EF4-FFF2-40B4-BE49-F238E27FC236}">
                            <a16:creationId xmlns:a16="http://schemas.microsoft.com/office/drawing/2014/main" id="{FD09F7F4-F8E2-0542-BD08-097CBAB509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555"/>
                        <a:ext cx="297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8" name="Group 219">
                      <a:extLst>
                        <a:ext uri="{FF2B5EF4-FFF2-40B4-BE49-F238E27FC236}">
                          <a16:creationId xmlns:a16="http://schemas.microsoft.com/office/drawing/2014/main" id="{3B84CCC4-4B0C-1D44-ACB3-E26351195C3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7" y="3555"/>
                      <a:ext cx="296" cy="384"/>
                      <a:chOff x="297" y="3555"/>
                      <a:chExt cx="296" cy="384"/>
                    </a:xfrm>
                  </p:grpSpPr>
                  <p:sp>
                    <p:nvSpPr>
                      <p:cNvPr id="56447" name="Rectangle 220">
                        <a:extLst>
                          <a:ext uri="{FF2B5EF4-FFF2-40B4-BE49-F238E27FC236}">
                            <a16:creationId xmlns:a16="http://schemas.microsoft.com/office/drawing/2014/main" id="{2C8CD782-904D-594D-9348-01622CA1B59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" y="3555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48" name="Rectangle 221">
                        <a:extLst>
                          <a:ext uri="{FF2B5EF4-FFF2-40B4-BE49-F238E27FC236}">
                            <a16:creationId xmlns:a16="http://schemas.microsoft.com/office/drawing/2014/main" id="{FAC710C0-17A4-F343-96CB-2FDAC85A19C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" y="3555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29" name="Group 222">
                      <a:extLst>
                        <a:ext uri="{FF2B5EF4-FFF2-40B4-BE49-F238E27FC236}">
                          <a16:creationId xmlns:a16="http://schemas.microsoft.com/office/drawing/2014/main" id="{88853182-04E8-C44C-AE02-26C87E3714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3" y="3555"/>
                      <a:ext cx="296" cy="384"/>
                      <a:chOff x="593" y="3555"/>
                      <a:chExt cx="296" cy="384"/>
                    </a:xfrm>
                  </p:grpSpPr>
                  <p:sp>
                    <p:nvSpPr>
                      <p:cNvPr id="56445" name="Rectangle 223">
                        <a:extLst>
                          <a:ext uri="{FF2B5EF4-FFF2-40B4-BE49-F238E27FC236}">
                            <a16:creationId xmlns:a16="http://schemas.microsoft.com/office/drawing/2014/main" id="{31B40F46-687A-E44C-81D3-E0363742A6A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6" y="3555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d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46" name="Rectangle 224">
                        <a:extLst>
                          <a:ext uri="{FF2B5EF4-FFF2-40B4-BE49-F238E27FC236}">
                            <a16:creationId xmlns:a16="http://schemas.microsoft.com/office/drawing/2014/main" id="{A06DE6AA-BFF3-7F49-B58A-5A8AB735374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3" y="3555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30" name="Group 225">
                      <a:extLst>
                        <a:ext uri="{FF2B5EF4-FFF2-40B4-BE49-F238E27FC236}">
                          <a16:creationId xmlns:a16="http://schemas.microsoft.com/office/drawing/2014/main" id="{FA0A3372-D2C7-F941-BFED-05DA2F083D4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89" y="3555"/>
                      <a:ext cx="338" cy="384"/>
                      <a:chOff x="889" y="3555"/>
                      <a:chExt cx="338" cy="384"/>
                    </a:xfrm>
                  </p:grpSpPr>
                  <p:sp>
                    <p:nvSpPr>
                      <p:cNvPr id="56443" name="Rectangle 226">
                        <a:extLst>
                          <a:ext uri="{FF2B5EF4-FFF2-40B4-BE49-F238E27FC236}">
                            <a16:creationId xmlns:a16="http://schemas.microsoft.com/office/drawing/2014/main" id="{741A65D9-5DC8-9347-A258-29E45D884A3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2" y="3555"/>
                        <a:ext cx="252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44" name="Rectangle 227">
                        <a:extLst>
                          <a:ext uri="{FF2B5EF4-FFF2-40B4-BE49-F238E27FC236}">
                            <a16:creationId xmlns:a16="http://schemas.microsoft.com/office/drawing/2014/main" id="{AB21FD22-8488-1B47-9C02-0E05BBBD469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555"/>
                        <a:ext cx="338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31" name="Group 228">
                      <a:extLst>
                        <a:ext uri="{FF2B5EF4-FFF2-40B4-BE49-F238E27FC236}">
                          <a16:creationId xmlns:a16="http://schemas.microsoft.com/office/drawing/2014/main" id="{F02945B6-5AC7-F44F-87DF-9C66F838D8E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3939"/>
                      <a:ext cx="297" cy="480"/>
                      <a:chOff x="0" y="3939"/>
                      <a:chExt cx="297" cy="480"/>
                    </a:xfrm>
                  </p:grpSpPr>
                  <p:sp>
                    <p:nvSpPr>
                      <p:cNvPr id="56441" name="Rectangle 229">
                        <a:extLst>
                          <a:ext uri="{FF2B5EF4-FFF2-40B4-BE49-F238E27FC236}">
                            <a16:creationId xmlns:a16="http://schemas.microsoft.com/office/drawing/2014/main" id="{53070E59-A7D0-EE49-A7F1-3266C187ACB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3939"/>
                        <a:ext cx="211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42" name="Rectangle 230">
                        <a:extLst>
                          <a:ext uri="{FF2B5EF4-FFF2-40B4-BE49-F238E27FC236}">
                            <a16:creationId xmlns:a16="http://schemas.microsoft.com/office/drawing/2014/main" id="{F8B1F2F8-AE0B-D747-8619-EFD16C96537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3939"/>
                        <a:ext cx="297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32" name="Group 231">
                      <a:extLst>
                        <a:ext uri="{FF2B5EF4-FFF2-40B4-BE49-F238E27FC236}">
                          <a16:creationId xmlns:a16="http://schemas.microsoft.com/office/drawing/2014/main" id="{50AFEFE6-BA98-9743-B7C3-403D42E8E70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7" y="3939"/>
                      <a:ext cx="296" cy="480"/>
                      <a:chOff x="297" y="3939"/>
                      <a:chExt cx="296" cy="480"/>
                    </a:xfrm>
                  </p:grpSpPr>
                  <p:sp>
                    <p:nvSpPr>
                      <p:cNvPr id="56439" name="Rectangle 232">
                        <a:extLst>
                          <a:ext uri="{FF2B5EF4-FFF2-40B4-BE49-F238E27FC236}">
                            <a16:creationId xmlns:a16="http://schemas.microsoft.com/office/drawing/2014/main" id="{0F726867-0E9D-D04E-BFC3-FBFD0BB560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" y="3939"/>
                        <a:ext cx="210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40" name="Rectangle 233">
                        <a:extLst>
                          <a:ext uri="{FF2B5EF4-FFF2-40B4-BE49-F238E27FC236}">
                            <a16:creationId xmlns:a16="http://schemas.microsoft.com/office/drawing/2014/main" id="{7BC495FE-8AFA-7146-84AF-63407526F94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7" y="3939"/>
                        <a:ext cx="296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33" name="Group 234">
                      <a:extLst>
                        <a:ext uri="{FF2B5EF4-FFF2-40B4-BE49-F238E27FC236}">
                          <a16:creationId xmlns:a16="http://schemas.microsoft.com/office/drawing/2014/main" id="{34803F0F-2AAF-8747-9712-D487F7FA6F3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3" y="3939"/>
                      <a:ext cx="296" cy="480"/>
                      <a:chOff x="593" y="3939"/>
                      <a:chExt cx="296" cy="480"/>
                    </a:xfrm>
                  </p:grpSpPr>
                  <p:sp>
                    <p:nvSpPr>
                      <p:cNvPr id="56437" name="Rectangle 235">
                        <a:extLst>
                          <a:ext uri="{FF2B5EF4-FFF2-40B4-BE49-F238E27FC236}">
                            <a16:creationId xmlns:a16="http://schemas.microsoft.com/office/drawing/2014/main" id="{D973092A-57E1-0844-8AF2-5BE93B2E912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6" y="3939"/>
                        <a:ext cx="210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f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38" name="Rectangle 236">
                        <a:extLst>
                          <a:ext uri="{FF2B5EF4-FFF2-40B4-BE49-F238E27FC236}">
                            <a16:creationId xmlns:a16="http://schemas.microsoft.com/office/drawing/2014/main" id="{7B4A6E70-FE6B-4D4A-B094-034587130FE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593" y="3939"/>
                        <a:ext cx="296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434" name="Group 237">
                      <a:extLst>
                        <a:ext uri="{FF2B5EF4-FFF2-40B4-BE49-F238E27FC236}">
                          <a16:creationId xmlns:a16="http://schemas.microsoft.com/office/drawing/2014/main" id="{A02418A1-560D-D14F-8DE0-FE770432D69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89" y="3939"/>
                      <a:ext cx="338" cy="480"/>
                      <a:chOff x="889" y="3939"/>
                      <a:chExt cx="338" cy="480"/>
                    </a:xfrm>
                  </p:grpSpPr>
                  <p:sp>
                    <p:nvSpPr>
                      <p:cNvPr id="56435" name="Rectangle 238">
                        <a:extLst>
                          <a:ext uri="{FF2B5EF4-FFF2-40B4-BE49-F238E27FC236}">
                            <a16:creationId xmlns:a16="http://schemas.microsoft.com/office/drawing/2014/main" id="{A361FAD7-2909-7743-97CB-E9201DD4A9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2" y="3939"/>
                        <a:ext cx="252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2400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null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sz="2400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36" name="Rectangle 239">
                        <a:extLst>
                          <a:ext uri="{FF2B5EF4-FFF2-40B4-BE49-F238E27FC236}">
                            <a16:creationId xmlns:a16="http://schemas.microsoft.com/office/drawing/2014/main" id="{B91BC0C4-0030-6C45-A333-37D419931C3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939"/>
                        <a:ext cx="338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</p:grpSp>
              <p:sp>
                <p:nvSpPr>
                  <p:cNvPr id="56414" name="Rectangle 240">
                    <a:extLst>
                      <a:ext uri="{FF2B5EF4-FFF2-40B4-BE49-F238E27FC236}">
                        <a16:creationId xmlns:a16="http://schemas.microsoft.com/office/drawing/2014/main" id="{492F286F-9FB6-1747-B3AC-086D1E42C6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" y="2400"/>
                    <a:ext cx="1233" cy="202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409" name="Group 241">
                  <a:extLst>
                    <a:ext uri="{FF2B5EF4-FFF2-40B4-BE49-F238E27FC236}">
                      <a16:creationId xmlns:a16="http://schemas.microsoft.com/office/drawing/2014/main" id="{E1BE45D6-BB84-AF4B-9C34-4F24C1C963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83" y="4110"/>
                  <a:ext cx="291" cy="117"/>
                  <a:chOff x="4620" y="5652"/>
                  <a:chExt cx="315" cy="156"/>
                </a:xfrm>
              </p:grpSpPr>
              <p:sp>
                <p:nvSpPr>
                  <p:cNvPr id="56410" name="AutoShape 242">
                    <a:extLst>
                      <a:ext uri="{FF2B5EF4-FFF2-40B4-BE49-F238E27FC236}">
                        <a16:creationId xmlns:a16="http://schemas.microsoft.com/office/drawing/2014/main" id="{0AD94AFE-9AAA-D348-A4EA-0F7C7F32F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752" y="5625"/>
                    <a:ext cx="156" cy="210"/>
                  </a:xfrm>
                  <a:prstGeom prst="flowChartCollate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bg2"/>
                    </a:solidFill>
                    <a:miter lim="800000"/>
                    <a:headEnd/>
                    <a:tailEnd/>
                  </a:ln>
                </p:spPr>
                <p:txBody>
                  <a:bodyPr vert="eaVert"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zh-CN" sz="1800">
                      <a:solidFill>
                        <a:schemeClr val="bg2"/>
                      </a:solidFill>
                      <a:latin typeface="宋体" panose="02010600030101010101" pitchFamily="2" charset="-122"/>
                    </a:endParaRPr>
                  </a:p>
                </p:txBody>
              </p:sp>
              <p:sp>
                <p:nvSpPr>
                  <p:cNvPr id="56411" name="Line 243">
                    <a:extLst>
                      <a:ext uri="{FF2B5EF4-FFF2-40B4-BE49-F238E27FC236}">
                        <a16:creationId xmlns:a16="http://schemas.microsoft.com/office/drawing/2014/main" id="{BC4BD04C-4FC0-6E44-A838-9CAA04043D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20" y="5652"/>
                    <a:ext cx="1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412" name="Line 244">
                    <a:extLst>
                      <a:ext uri="{FF2B5EF4-FFF2-40B4-BE49-F238E27FC236}">
                        <a16:creationId xmlns:a16="http://schemas.microsoft.com/office/drawing/2014/main" id="{2885B065-FB21-F447-A37C-3447DED41BC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620" y="5808"/>
                    <a:ext cx="1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6407" name="Rectangle 245">
                <a:extLst>
                  <a:ext uri="{FF2B5EF4-FFF2-40B4-BE49-F238E27FC236}">
                    <a16:creationId xmlns:a16="http://schemas.microsoft.com/office/drawing/2014/main" id="{59B4FFE0-AB08-9840-B3AE-5C0BFE082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702"/>
                <a:ext cx="1862" cy="288"/>
              </a:xfrm>
              <a:prstGeom prst="rect">
                <a:avLst/>
              </a:prstGeom>
              <a:noFill/>
              <a:ln w="28575">
                <a:solidFill>
                  <a:srgbClr val="0099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6405" name="Rectangle 318">
              <a:extLst>
                <a:ext uri="{FF2B5EF4-FFF2-40B4-BE49-F238E27FC236}">
                  <a16:creationId xmlns:a16="http://schemas.microsoft.com/office/drawing/2014/main" id="{86B857D9-CFD9-1C47-B656-6058115F9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" y="4050"/>
              <a:ext cx="113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660033"/>
                  </a:solidFill>
                  <a:latin typeface="宋体" panose="02010600030101010101" pitchFamily="2" charset="-122"/>
                </a:rPr>
                <a:t>R       S</a:t>
              </a:r>
            </a:p>
          </p:txBody>
        </p:sp>
      </p:grpSp>
      <p:grpSp>
        <p:nvGrpSpPr>
          <p:cNvPr id="45169" name="Group 321">
            <a:extLst>
              <a:ext uri="{FF2B5EF4-FFF2-40B4-BE49-F238E27FC236}">
                <a16:creationId xmlns:a16="http://schemas.microsoft.com/office/drawing/2014/main" id="{74301108-AEA7-1F4F-8215-D5512B3B07A9}"/>
              </a:ext>
            </a:extLst>
          </p:cNvPr>
          <p:cNvGrpSpPr>
            <a:grpSpLocks/>
          </p:cNvGrpSpPr>
          <p:nvPr/>
        </p:nvGrpSpPr>
        <p:grpSpPr bwMode="auto">
          <a:xfrm>
            <a:off x="4433888" y="3716338"/>
            <a:ext cx="4710112" cy="3121025"/>
            <a:chOff x="2793" y="2341"/>
            <a:chExt cx="2967" cy="1966"/>
          </a:xfrm>
        </p:grpSpPr>
        <p:grpSp>
          <p:nvGrpSpPr>
            <p:cNvPr id="56333" name="Group 246">
              <a:extLst>
                <a:ext uri="{FF2B5EF4-FFF2-40B4-BE49-F238E27FC236}">
                  <a16:creationId xmlns:a16="http://schemas.microsoft.com/office/drawing/2014/main" id="{1A89E892-DF60-9E4B-ACD0-032444099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93" y="2341"/>
              <a:ext cx="2967" cy="1908"/>
              <a:chOff x="2793" y="2341"/>
              <a:chExt cx="2967" cy="1908"/>
            </a:xfrm>
          </p:grpSpPr>
          <p:grpSp>
            <p:nvGrpSpPr>
              <p:cNvPr id="56335" name="Group 247">
                <a:extLst>
                  <a:ext uri="{FF2B5EF4-FFF2-40B4-BE49-F238E27FC236}">
                    <a16:creationId xmlns:a16="http://schemas.microsoft.com/office/drawing/2014/main" id="{BFA122FE-4659-A148-9CCA-7B34F30B77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93" y="2341"/>
                <a:ext cx="2967" cy="1908"/>
                <a:chOff x="2793" y="2341"/>
                <a:chExt cx="2967" cy="1908"/>
              </a:xfrm>
            </p:grpSpPr>
            <p:grpSp>
              <p:nvGrpSpPr>
                <p:cNvPr id="56337" name="Group 248">
                  <a:extLst>
                    <a:ext uri="{FF2B5EF4-FFF2-40B4-BE49-F238E27FC236}">
                      <a16:creationId xmlns:a16="http://schemas.microsoft.com/office/drawing/2014/main" id="{A974598C-90A6-B044-838E-B54F9D8E617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93" y="2341"/>
                  <a:ext cx="2967" cy="1680"/>
                  <a:chOff x="-3" y="4419"/>
                  <a:chExt cx="1317" cy="2022"/>
                </a:xfrm>
              </p:grpSpPr>
              <p:grpSp>
                <p:nvGrpSpPr>
                  <p:cNvPr id="56342" name="Group 249">
                    <a:extLst>
                      <a:ext uri="{FF2B5EF4-FFF2-40B4-BE49-F238E27FC236}">
                        <a16:creationId xmlns:a16="http://schemas.microsoft.com/office/drawing/2014/main" id="{57B9BF1F-E216-0141-817F-28693CBBF67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0" y="4422"/>
                    <a:ext cx="1311" cy="2016"/>
                    <a:chOff x="0" y="4422"/>
                    <a:chExt cx="1311" cy="2016"/>
                  </a:xfrm>
                </p:grpSpPr>
                <p:grpSp>
                  <p:nvGrpSpPr>
                    <p:cNvPr id="56344" name="Group 250">
                      <a:extLst>
                        <a:ext uri="{FF2B5EF4-FFF2-40B4-BE49-F238E27FC236}">
                          <a16:creationId xmlns:a16="http://schemas.microsoft.com/office/drawing/2014/main" id="{49BF2138-AEDA-164A-A48C-6ACE32D3447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4422"/>
                      <a:ext cx="339" cy="384"/>
                      <a:chOff x="0" y="4422"/>
                      <a:chExt cx="339" cy="384"/>
                    </a:xfrm>
                  </p:grpSpPr>
                  <p:sp>
                    <p:nvSpPr>
                      <p:cNvPr id="56402" name="Rectangle 251">
                        <a:extLst>
                          <a:ext uri="{FF2B5EF4-FFF2-40B4-BE49-F238E27FC236}">
                            <a16:creationId xmlns:a16="http://schemas.microsoft.com/office/drawing/2014/main" id="{496ADBCA-06D6-0C4A-B5B7-491AB1CF1C7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4422"/>
                        <a:ext cx="253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03" name="Rectangle 252">
                        <a:extLst>
                          <a:ext uri="{FF2B5EF4-FFF2-40B4-BE49-F238E27FC236}">
                            <a16:creationId xmlns:a16="http://schemas.microsoft.com/office/drawing/2014/main" id="{2B8CA763-76A8-8545-AB6E-822B022024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4422"/>
                        <a:ext cx="339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45" name="Group 253">
                      <a:extLst>
                        <a:ext uri="{FF2B5EF4-FFF2-40B4-BE49-F238E27FC236}">
                          <a16:creationId xmlns:a16="http://schemas.microsoft.com/office/drawing/2014/main" id="{8BF0DC28-A0BB-9D44-939F-797BECC2E0B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9" y="4422"/>
                      <a:ext cx="296" cy="384"/>
                      <a:chOff x="339" y="4422"/>
                      <a:chExt cx="296" cy="384"/>
                    </a:xfrm>
                  </p:grpSpPr>
                  <p:sp>
                    <p:nvSpPr>
                      <p:cNvPr id="56400" name="Rectangle 254">
                        <a:extLst>
                          <a:ext uri="{FF2B5EF4-FFF2-40B4-BE49-F238E27FC236}">
                            <a16:creationId xmlns:a16="http://schemas.microsoft.com/office/drawing/2014/main" id="{6564FD3E-5975-1B41-ADC3-DA170082466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2" y="4422"/>
                        <a:ext cx="210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1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401" name="Rectangle 255">
                        <a:extLst>
                          <a:ext uri="{FF2B5EF4-FFF2-40B4-BE49-F238E27FC236}">
                            <a16:creationId xmlns:a16="http://schemas.microsoft.com/office/drawing/2014/main" id="{5B41CF8D-F378-DA4C-BE1B-B975BCC0B47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9" y="4422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46" name="Group 256">
                      <a:extLst>
                        <a:ext uri="{FF2B5EF4-FFF2-40B4-BE49-F238E27FC236}">
                          <a16:creationId xmlns:a16="http://schemas.microsoft.com/office/drawing/2014/main" id="{351867E0-A25C-1249-A31B-A4CAC91A2A6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4422"/>
                      <a:ext cx="296" cy="384"/>
                      <a:chOff x="635" y="4422"/>
                      <a:chExt cx="296" cy="384"/>
                    </a:xfrm>
                  </p:grpSpPr>
                  <p:sp>
                    <p:nvSpPr>
                      <p:cNvPr id="56398" name="Rectangle 257">
                        <a:extLst>
                          <a:ext uri="{FF2B5EF4-FFF2-40B4-BE49-F238E27FC236}">
                            <a16:creationId xmlns:a16="http://schemas.microsoft.com/office/drawing/2014/main" id="{0A88EB24-0C41-E548-A2C1-34B215DEC04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8" y="4422"/>
                        <a:ext cx="210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1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99" name="Rectangle 258">
                        <a:extLst>
                          <a:ext uri="{FF2B5EF4-FFF2-40B4-BE49-F238E27FC236}">
                            <a16:creationId xmlns:a16="http://schemas.microsoft.com/office/drawing/2014/main" id="{8CC3F95A-9334-ED4E-9E14-54C2BE429F5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5" y="4422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47" name="Group 259">
                      <a:extLst>
                        <a:ext uri="{FF2B5EF4-FFF2-40B4-BE49-F238E27FC236}">
                          <a16:creationId xmlns:a16="http://schemas.microsoft.com/office/drawing/2014/main" id="{539D3BD4-9F24-9042-9D51-3A0C68423CB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31" y="4422"/>
                      <a:ext cx="380" cy="384"/>
                      <a:chOff x="931" y="4422"/>
                      <a:chExt cx="380" cy="384"/>
                    </a:xfrm>
                  </p:grpSpPr>
                  <p:sp>
                    <p:nvSpPr>
                      <p:cNvPr id="56396" name="Rectangle 260">
                        <a:extLst>
                          <a:ext uri="{FF2B5EF4-FFF2-40B4-BE49-F238E27FC236}">
                            <a16:creationId xmlns:a16="http://schemas.microsoft.com/office/drawing/2014/main" id="{4F0C157C-62FA-F149-B9F9-4A693A2352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74" y="4422"/>
                        <a:ext cx="294" cy="384"/>
                      </a:xfrm>
                      <a:prstGeom prst="rect">
                        <a:avLst/>
                      </a:prstGeom>
                      <a:solidFill>
                        <a:schemeClr val="folHlink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D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97" name="Rectangle 261">
                        <a:extLst>
                          <a:ext uri="{FF2B5EF4-FFF2-40B4-BE49-F238E27FC236}">
                            <a16:creationId xmlns:a16="http://schemas.microsoft.com/office/drawing/2014/main" id="{B79C7F95-DA75-3C47-8A45-4A16DDA62E0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4422"/>
                        <a:ext cx="38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48" name="Group 262">
                      <a:extLst>
                        <a:ext uri="{FF2B5EF4-FFF2-40B4-BE49-F238E27FC236}">
                          <a16:creationId xmlns:a16="http://schemas.microsoft.com/office/drawing/2014/main" id="{CDF97FB6-3072-6242-B557-C1BF84ABB4B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4806"/>
                      <a:ext cx="339" cy="384"/>
                      <a:chOff x="0" y="4806"/>
                      <a:chExt cx="339" cy="384"/>
                    </a:xfrm>
                  </p:grpSpPr>
                  <p:sp>
                    <p:nvSpPr>
                      <p:cNvPr id="56394" name="Rectangle 263">
                        <a:extLst>
                          <a:ext uri="{FF2B5EF4-FFF2-40B4-BE49-F238E27FC236}">
                            <a16:creationId xmlns:a16="http://schemas.microsoft.com/office/drawing/2014/main" id="{F685CDC5-0831-0648-A51E-6925F102C7E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4806"/>
                        <a:ext cx="253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95" name="Rectangle 264">
                        <a:extLst>
                          <a:ext uri="{FF2B5EF4-FFF2-40B4-BE49-F238E27FC236}">
                            <a16:creationId xmlns:a16="http://schemas.microsoft.com/office/drawing/2014/main" id="{5B5A7B92-1523-9D4C-88DF-0D71503CBB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4806"/>
                        <a:ext cx="339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49" name="Group 265">
                      <a:extLst>
                        <a:ext uri="{FF2B5EF4-FFF2-40B4-BE49-F238E27FC236}">
                          <a16:creationId xmlns:a16="http://schemas.microsoft.com/office/drawing/2014/main" id="{026B79F2-FD0F-C04E-9CEC-1D66A97ABA6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9" y="4806"/>
                      <a:ext cx="296" cy="384"/>
                      <a:chOff x="339" y="4806"/>
                      <a:chExt cx="296" cy="384"/>
                    </a:xfrm>
                  </p:grpSpPr>
                  <p:sp>
                    <p:nvSpPr>
                      <p:cNvPr id="56392" name="Rectangle 266">
                        <a:extLst>
                          <a:ext uri="{FF2B5EF4-FFF2-40B4-BE49-F238E27FC236}">
                            <a16:creationId xmlns:a16="http://schemas.microsoft.com/office/drawing/2014/main" id="{3D2B1C5C-C82D-DA40-9285-AADFC5D1D21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2" y="4806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93" name="Rectangle 267">
                        <a:extLst>
                          <a:ext uri="{FF2B5EF4-FFF2-40B4-BE49-F238E27FC236}">
                            <a16:creationId xmlns:a16="http://schemas.microsoft.com/office/drawing/2014/main" id="{76C1B19D-3F4C-0C40-91D0-4B60FBD65A5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9" y="4806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0" name="Group 268">
                      <a:extLst>
                        <a:ext uri="{FF2B5EF4-FFF2-40B4-BE49-F238E27FC236}">
                          <a16:creationId xmlns:a16="http://schemas.microsoft.com/office/drawing/2014/main" id="{4FE889E9-2F87-C041-8479-E1B6C8C8CF1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4806"/>
                      <a:ext cx="296" cy="384"/>
                      <a:chOff x="635" y="4806"/>
                      <a:chExt cx="296" cy="384"/>
                    </a:xfrm>
                  </p:grpSpPr>
                  <p:sp>
                    <p:nvSpPr>
                      <p:cNvPr id="56390" name="Rectangle 269">
                        <a:extLst>
                          <a:ext uri="{FF2B5EF4-FFF2-40B4-BE49-F238E27FC236}">
                            <a16:creationId xmlns:a16="http://schemas.microsoft.com/office/drawing/2014/main" id="{AC375573-43D7-E844-8D7A-264B020E56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8" y="4806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91" name="Rectangle 270">
                        <a:extLst>
                          <a:ext uri="{FF2B5EF4-FFF2-40B4-BE49-F238E27FC236}">
                            <a16:creationId xmlns:a16="http://schemas.microsoft.com/office/drawing/2014/main" id="{B31DBD83-0790-2B49-A874-BAF58C2F2D8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5" y="4806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1" name="Group 271">
                      <a:extLst>
                        <a:ext uri="{FF2B5EF4-FFF2-40B4-BE49-F238E27FC236}">
                          <a16:creationId xmlns:a16="http://schemas.microsoft.com/office/drawing/2014/main" id="{D97A812D-BA4D-6549-9417-3C2A6A07734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31" y="4806"/>
                      <a:ext cx="380" cy="384"/>
                      <a:chOff x="931" y="4806"/>
                      <a:chExt cx="380" cy="384"/>
                    </a:xfrm>
                  </p:grpSpPr>
                  <p:sp>
                    <p:nvSpPr>
                      <p:cNvPr id="56388" name="Rectangle 272">
                        <a:extLst>
                          <a:ext uri="{FF2B5EF4-FFF2-40B4-BE49-F238E27FC236}">
                            <a16:creationId xmlns:a16="http://schemas.microsoft.com/office/drawing/2014/main" id="{D2895AF0-C23B-EC41-89B4-58DC8C90BF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74" y="4806"/>
                        <a:ext cx="29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d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89" name="Rectangle 273">
                        <a:extLst>
                          <a:ext uri="{FF2B5EF4-FFF2-40B4-BE49-F238E27FC236}">
                            <a16:creationId xmlns:a16="http://schemas.microsoft.com/office/drawing/2014/main" id="{BCFA75B5-E678-B648-8A44-06D2D3422B3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4806"/>
                        <a:ext cx="38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2" name="Group 274">
                      <a:extLst>
                        <a:ext uri="{FF2B5EF4-FFF2-40B4-BE49-F238E27FC236}">
                          <a16:creationId xmlns:a16="http://schemas.microsoft.com/office/drawing/2014/main" id="{4CE7844D-846B-F94B-9CFC-C5B4E160F05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5190"/>
                      <a:ext cx="339" cy="384"/>
                      <a:chOff x="0" y="5190"/>
                      <a:chExt cx="339" cy="384"/>
                    </a:xfrm>
                  </p:grpSpPr>
                  <p:sp>
                    <p:nvSpPr>
                      <p:cNvPr id="56386" name="Rectangle 275">
                        <a:extLst>
                          <a:ext uri="{FF2B5EF4-FFF2-40B4-BE49-F238E27FC236}">
                            <a16:creationId xmlns:a16="http://schemas.microsoft.com/office/drawing/2014/main" id="{4A6D9428-1EB4-E744-9BB3-D77ECA24380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5190"/>
                        <a:ext cx="253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87" name="Rectangle 276">
                        <a:extLst>
                          <a:ext uri="{FF2B5EF4-FFF2-40B4-BE49-F238E27FC236}">
                            <a16:creationId xmlns:a16="http://schemas.microsoft.com/office/drawing/2014/main" id="{03370AE9-F5D0-D54C-AF94-F36D153FF35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5190"/>
                        <a:ext cx="339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3" name="Group 277">
                      <a:extLst>
                        <a:ext uri="{FF2B5EF4-FFF2-40B4-BE49-F238E27FC236}">
                          <a16:creationId xmlns:a16="http://schemas.microsoft.com/office/drawing/2014/main" id="{E93FC644-5A71-134B-9F6C-9B17FF4C60F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9" y="5190"/>
                      <a:ext cx="296" cy="384"/>
                      <a:chOff x="339" y="5190"/>
                      <a:chExt cx="296" cy="384"/>
                    </a:xfrm>
                  </p:grpSpPr>
                  <p:sp>
                    <p:nvSpPr>
                      <p:cNvPr id="56384" name="Rectangle 278">
                        <a:extLst>
                          <a:ext uri="{FF2B5EF4-FFF2-40B4-BE49-F238E27FC236}">
                            <a16:creationId xmlns:a16="http://schemas.microsoft.com/office/drawing/2014/main" id="{3AC64967-64D1-134E-A3D1-889B70477B5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2" y="5190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85" name="Rectangle 279">
                        <a:extLst>
                          <a:ext uri="{FF2B5EF4-FFF2-40B4-BE49-F238E27FC236}">
                            <a16:creationId xmlns:a16="http://schemas.microsoft.com/office/drawing/2014/main" id="{8CAC5728-D58E-FF4B-B8D9-6D046AE386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9" y="5190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4" name="Group 280">
                      <a:extLst>
                        <a:ext uri="{FF2B5EF4-FFF2-40B4-BE49-F238E27FC236}">
                          <a16:creationId xmlns:a16="http://schemas.microsoft.com/office/drawing/2014/main" id="{455B1AF1-A7D0-3E46-8C01-E7C050300B2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5190"/>
                      <a:ext cx="296" cy="384"/>
                      <a:chOff x="635" y="5190"/>
                      <a:chExt cx="296" cy="384"/>
                    </a:xfrm>
                  </p:grpSpPr>
                  <p:sp>
                    <p:nvSpPr>
                      <p:cNvPr id="56382" name="Rectangle 281">
                        <a:extLst>
                          <a:ext uri="{FF2B5EF4-FFF2-40B4-BE49-F238E27FC236}">
                            <a16:creationId xmlns:a16="http://schemas.microsoft.com/office/drawing/2014/main" id="{DC524D13-0A8D-2241-8547-D11E56BD9C9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8" y="5190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83" name="Rectangle 282">
                        <a:extLst>
                          <a:ext uri="{FF2B5EF4-FFF2-40B4-BE49-F238E27FC236}">
                            <a16:creationId xmlns:a16="http://schemas.microsoft.com/office/drawing/2014/main" id="{BC468C7B-0625-5243-BD7E-468CF298665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5" y="5190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5" name="Group 283">
                      <a:extLst>
                        <a:ext uri="{FF2B5EF4-FFF2-40B4-BE49-F238E27FC236}">
                          <a16:creationId xmlns:a16="http://schemas.microsoft.com/office/drawing/2014/main" id="{143CDCF3-2E99-314B-B7C0-BE52E6AE987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31" y="5190"/>
                      <a:ext cx="380" cy="384"/>
                      <a:chOff x="931" y="5190"/>
                      <a:chExt cx="380" cy="384"/>
                    </a:xfrm>
                  </p:grpSpPr>
                  <p:sp>
                    <p:nvSpPr>
                      <p:cNvPr id="56380" name="Rectangle 284">
                        <a:extLst>
                          <a:ext uri="{FF2B5EF4-FFF2-40B4-BE49-F238E27FC236}">
                            <a16:creationId xmlns:a16="http://schemas.microsoft.com/office/drawing/2014/main" id="{655289CB-168B-EA41-A1FE-2256842DC87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74" y="5190"/>
                        <a:ext cx="29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e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81" name="Rectangle 285">
                        <a:extLst>
                          <a:ext uri="{FF2B5EF4-FFF2-40B4-BE49-F238E27FC236}">
                            <a16:creationId xmlns:a16="http://schemas.microsoft.com/office/drawing/2014/main" id="{09DB6AE2-3B8D-514B-AC82-FDDD4212DC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5190"/>
                        <a:ext cx="38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6" name="Group 286">
                      <a:extLst>
                        <a:ext uri="{FF2B5EF4-FFF2-40B4-BE49-F238E27FC236}">
                          <a16:creationId xmlns:a16="http://schemas.microsoft.com/office/drawing/2014/main" id="{DC305154-8D7D-C542-804D-AC860DD509B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5574"/>
                      <a:ext cx="339" cy="384"/>
                      <a:chOff x="0" y="5574"/>
                      <a:chExt cx="339" cy="384"/>
                    </a:xfrm>
                  </p:grpSpPr>
                  <p:sp>
                    <p:nvSpPr>
                      <p:cNvPr id="56378" name="Rectangle 287">
                        <a:extLst>
                          <a:ext uri="{FF2B5EF4-FFF2-40B4-BE49-F238E27FC236}">
                            <a16:creationId xmlns:a16="http://schemas.microsoft.com/office/drawing/2014/main" id="{3D7C80DE-C5AF-EF48-AEFA-89D4879B3A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5574"/>
                        <a:ext cx="253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79" name="Rectangle 288">
                        <a:extLst>
                          <a:ext uri="{FF2B5EF4-FFF2-40B4-BE49-F238E27FC236}">
                            <a16:creationId xmlns:a16="http://schemas.microsoft.com/office/drawing/2014/main" id="{9D7DB306-50E2-8E45-BA5F-31D4478130D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5574"/>
                        <a:ext cx="339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7" name="Group 289">
                      <a:extLst>
                        <a:ext uri="{FF2B5EF4-FFF2-40B4-BE49-F238E27FC236}">
                          <a16:creationId xmlns:a16="http://schemas.microsoft.com/office/drawing/2014/main" id="{051F6920-0372-274F-ABD5-11B9E3A9AFC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9" y="5574"/>
                      <a:ext cx="296" cy="384"/>
                      <a:chOff x="339" y="5574"/>
                      <a:chExt cx="296" cy="384"/>
                    </a:xfrm>
                  </p:grpSpPr>
                  <p:sp>
                    <p:nvSpPr>
                      <p:cNvPr id="56376" name="Rectangle 290">
                        <a:extLst>
                          <a:ext uri="{FF2B5EF4-FFF2-40B4-BE49-F238E27FC236}">
                            <a16:creationId xmlns:a16="http://schemas.microsoft.com/office/drawing/2014/main" id="{EC087519-0F1C-3749-BD52-0753047CE4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2" y="5574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a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77" name="Rectangle 291">
                        <a:extLst>
                          <a:ext uri="{FF2B5EF4-FFF2-40B4-BE49-F238E27FC236}">
                            <a16:creationId xmlns:a16="http://schemas.microsoft.com/office/drawing/2014/main" id="{7A32D6F0-8F25-B941-AC12-90D37B5F5F1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9" y="5574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8" name="Group 292">
                      <a:extLst>
                        <a:ext uri="{FF2B5EF4-FFF2-40B4-BE49-F238E27FC236}">
                          <a16:creationId xmlns:a16="http://schemas.microsoft.com/office/drawing/2014/main" id="{A3A311BE-9485-8F47-AEE3-0704132E94D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5574"/>
                      <a:ext cx="296" cy="384"/>
                      <a:chOff x="635" y="5574"/>
                      <a:chExt cx="296" cy="384"/>
                    </a:xfrm>
                  </p:grpSpPr>
                  <p:sp>
                    <p:nvSpPr>
                      <p:cNvPr id="56374" name="Rectangle 293">
                        <a:extLst>
                          <a:ext uri="{FF2B5EF4-FFF2-40B4-BE49-F238E27FC236}">
                            <a16:creationId xmlns:a16="http://schemas.microsoft.com/office/drawing/2014/main" id="{A7AFCA88-915B-E247-AB42-32C6034CDC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8" y="5574"/>
                        <a:ext cx="210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d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75" name="Rectangle 294">
                        <a:extLst>
                          <a:ext uri="{FF2B5EF4-FFF2-40B4-BE49-F238E27FC236}">
                            <a16:creationId xmlns:a16="http://schemas.microsoft.com/office/drawing/2014/main" id="{699CE01A-63E6-044F-B320-C969D860DC2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5" y="5574"/>
                        <a:ext cx="296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59" name="Group 295">
                      <a:extLst>
                        <a:ext uri="{FF2B5EF4-FFF2-40B4-BE49-F238E27FC236}">
                          <a16:creationId xmlns:a16="http://schemas.microsoft.com/office/drawing/2014/main" id="{D28E5F21-B071-5346-B5FE-4ADDF2B737F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31" y="5574"/>
                      <a:ext cx="380" cy="384"/>
                      <a:chOff x="931" y="5574"/>
                      <a:chExt cx="380" cy="384"/>
                    </a:xfrm>
                  </p:grpSpPr>
                  <p:sp>
                    <p:nvSpPr>
                      <p:cNvPr id="56372" name="Rectangle 296">
                        <a:extLst>
                          <a:ext uri="{FF2B5EF4-FFF2-40B4-BE49-F238E27FC236}">
                            <a16:creationId xmlns:a16="http://schemas.microsoft.com/office/drawing/2014/main" id="{CD3B5ADE-4ABB-D54E-8CD6-F2846FFDE1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74" y="5574"/>
                        <a:ext cx="294" cy="3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b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73" name="Rectangle 297">
                        <a:extLst>
                          <a:ext uri="{FF2B5EF4-FFF2-40B4-BE49-F238E27FC236}">
                            <a16:creationId xmlns:a16="http://schemas.microsoft.com/office/drawing/2014/main" id="{6116C0CF-1E86-B347-95FE-53FBE4A802D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5574"/>
                        <a:ext cx="380" cy="384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60" name="Group 298">
                      <a:extLst>
                        <a:ext uri="{FF2B5EF4-FFF2-40B4-BE49-F238E27FC236}">
                          <a16:creationId xmlns:a16="http://schemas.microsoft.com/office/drawing/2014/main" id="{5EC137E8-6D0F-E849-8030-006E631B44F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0" y="5958"/>
                      <a:ext cx="339" cy="480"/>
                      <a:chOff x="0" y="5958"/>
                      <a:chExt cx="339" cy="480"/>
                    </a:xfrm>
                  </p:grpSpPr>
                  <p:sp>
                    <p:nvSpPr>
                      <p:cNvPr id="56370" name="Rectangle 299">
                        <a:extLst>
                          <a:ext uri="{FF2B5EF4-FFF2-40B4-BE49-F238E27FC236}">
                            <a16:creationId xmlns:a16="http://schemas.microsoft.com/office/drawing/2014/main" id="{8B51AC43-072E-8F49-B400-2AB0478E674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3" y="5958"/>
                        <a:ext cx="253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sz="2400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null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71" name="Rectangle 300">
                        <a:extLst>
                          <a:ext uri="{FF2B5EF4-FFF2-40B4-BE49-F238E27FC236}">
                            <a16:creationId xmlns:a16="http://schemas.microsoft.com/office/drawing/2014/main" id="{F65EF7CC-C99A-454A-8238-B1137C9E8EF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0" y="5958"/>
                        <a:ext cx="339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61" name="Group 301">
                      <a:extLst>
                        <a:ext uri="{FF2B5EF4-FFF2-40B4-BE49-F238E27FC236}">
                          <a16:creationId xmlns:a16="http://schemas.microsoft.com/office/drawing/2014/main" id="{6B052812-A34C-3448-BFB2-A3F394933BDF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9" y="5958"/>
                      <a:ext cx="296" cy="480"/>
                      <a:chOff x="339" y="5958"/>
                      <a:chExt cx="296" cy="480"/>
                    </a:xfrm>
                  </p:grpSpPr>
                  <p:sp>
                    <p:nvSpPr>
                      <p:cNvPr id="56368" name="Rectangle 302">
                        <a:extLst>
                          <a:ext uri="{FF2B5EF4-FFF2-40B4-BE49-F238E27FC236}">
                            <a16:creationId xmlns:a16="http://schemas.microsoft.com/office/drawing/2014/main" id="{EB4B5137-D45A-A74B-86B6-CDF5E8BF4CF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82" y="5958"/>
                        <a:ext cx="210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e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69" name="Rectangle 303">
                        <a:extLst>
                          <a:ext uri="{FF2B5EF4-FFF2-40B4-BE49-F238E27FC236}">
                            <a16:creationId xmlns:a16="http://schemas.microsoft.com/office/drawing/2014/main" id="{D3FBC491-BB83-6840-91AA-B36EF7B88AE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9" y="5958"/>
                        <a:ext cx="296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62" name="Group 304">
                      <a:extLst>
                        <a:ext uri="{FF2B5EF4-FFF2-40B4-BE49-F238E27FC236}">
                          <a16:creationId xmlns:a16="http://schemas.microsoft.com/office/drawing/2014/main" id="{F82C1F48-226D-F546-928B-7E5A545F592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5958"/>
                      <a:ext cx="296" cy="480"/>
                      <a:chOff x="635" y="5958"/>
                      <a:chExt cx="296" cy="480"/>
                    </a:xfrm>
                  </p:grpSpPr>
                  <p:sp>
                    <p:nvSpPr>
                      <p:cNvPr id="56366" name="Rectangle 305">
                        <a:extLst>
                          <a:ext uri="{FF2B5EF4-FFF2-40B4-BE49-F238E27FC236}">
                            <a16:creationId xmlns:a16="http://schemas.microsoft.com/office/drawing/2014/main" id="{45CC49EC-D6C6-8C4B-9772-6266B2EA8E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78" y="5958"/>
                        <a:ext cx="210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f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67" name="Rectangle 306">
                        <a:extLst>
                          <a:ext uri="{FF2B5EF4-FFF2-40B4-BE49-F238E27FC236}">
                            <a16:creationId xmlns:a16="http://schemas.microsoft.com/office/drawing/2014/main" id="{02D83257-2D00-7A46-960F-9912AA785B7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635" y="5958"/>
                        <a:ext cx="296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  <p:grpSp>
                  <p:nvGrpSpPr>
                    <p:cNvPr id="56363" name="Group 307">
                      <a:extLst>
                        <a:ext uri="{FF2B5EF4-FFF2-40B4-BE49-F238E27FC236}">
                          <a16:creationId xmlns:a16="http://schemas.microsoft.com/office/drawing/2014/main" id="{238BAB86-83ED-FB46-BD9C-AA1756F1A02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31" y="5958"/>
                      <a:ext cx="380" cy="480"/>
                      <a:chOff x="931" y="5958"/>
                      <a:chExt cx="380" cy="480"/>
                    </a:xfrm>
                  </p:grpSpPr>
                  <p:sp>
                    <p:nvSpPr>
                      <p:cNvPr id="56364" name="Rectangle 308">
                        <a:extLst>
                          <a:ext uri="{FF2B5EF4-FFF2-40B4-BE49-F238E27FC236}">
                            <a16:creationId xmlns:a16="http://schemas.microsoft.com/office/drawing/2014/main" id="{2438A5DE-AA00-174D-B66B-CF99330B75C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74" y="5958"/>
                        <a:ext cx="294" cy="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zh-CN" b="1">
                            <a:solidFill>
                              <a:schemeClr val="bg2"/>
                            </a:solidFill>
                            <a:latin typeface="宋体" panose="02010600030101010101" pitchFamily="2" charset="-122"/>
                          </a:rPr>
                          <a:t>g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en-US" altLang="zh-CN" b="1">
                          <a:solidFill>
                            <a:schemeClr val="bg2"/>
                          </a:solidFill>
                        </a:endParaRPr>
                      </a:p>
                    </p:txBody>
                  </p:sp>
                  <p:sp>
                    <p:nvSpPr>
                      <p:cNvPr id="56365" name="Rectangle 309">
                        <a:extLst>
                          <a:ext uri="{FF2B5EF4-FFF2-40B4-BE49-F238E27FC236}">
                            <a16:creationId xmlns:a16="http://schemas.microsoft.com/office/drawing/2014/main" id="{8F9D1F4D-D9A9-F042-89FE-68D7859EF32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931" y="5958"/>
                        <a:ext cx="380" cy="480"/>
                      </a:xfrm>
                      <a:prstGeom prst="rect">
                        <a:avLst/>
                      </a:prstGeom>
                      <a:noFill/>
                      <a:ln w="7">
                        <a:solidFill>
                          <a:srgbClr val="A0A0A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0000"/>
                          <a:buFont typeface="Wingdings" pitchFamily="2" charset="2"/>
                          <a:buChar char="l"/>
                          <a:defRPr kumimoji="1" sz="32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90000"/>
                          <a:buChar char="–"/>
                          <a:defRPr kumimoji="1"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60000"/>
                          <a:buFont typeface="Wingdings" pitchFamily="2" charset="2"/>
                          <a:buChar char="l"/>
                          <a:defRPr kumimoji="1"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Char char="–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accent1"/>
                          </a:buClr>
                          <a:buChar char="•"/>
                          <a:defRPr kumimoji="1"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endParaRPr lang="zh-CN" altLang="en-US" sz="1800">
                          <a:latin typeface="宋体" panose="02010600030101010101" pitchFamily="2" charset="-122"/>
                        </a:endParaRPr>
                      </a:p>
                    </p:txBody>
                  </p:sp>
                </p:grpSp>
              </p:grpSp>
              <p:sp>
                <p:nvSpPr>
                  <p:cNvPr id="56343" name="Rectangle 310">
                    <a:extLst>
                      <a:ext uri="{FF2B5EF4-FFF2-40B4-BE49-F238E27FC236}">
                        <a16:creationId xmlns:a16="http://schemas.microsoft.com/office/drawing/2014/main" id="{DBAB5245-2FE3-FD4E-AC21-105961BD95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-3" y="4419"/>
                    <a:ext cx="1317" cy="2022"/>
                  </a:xfrm>
                  <a:prstGeom prst="rect">
                    <a:avLst/>
                  </a:prstGeom>
                  <a:noFill/>
                  <a:ln w="9525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56338" name="Group 311">
                  <a:extLst>
                    <a:ext uri="{FF2B5EF4-FFF2-40B4-BE49-F238E27FC236}">
                      <a16:creationId xmlns:a16="http://schemas.microsoft.com/office/drawing/2014/main" id="{40B7963E-E6DA-6048-9365-BD861166AD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67" y="4110"/>
                  <a:ext cx="283" cy="139"/>
                  <a:chOff x="4935" y="6432"/>
                  <a:chExt cx="315" cy="156"/>
                </a:xfrm>
              </p:grpSpPr>
              <p:sp>
                <p:nvSpPr>
                  <p:cNvPr id="56339" name="AutoShape 312">
                    <a:extLst>
                      <a:ext uri="{FF2B5EF4-FFF2-40B4-BE49-F238E27FC236}">
                        <a16:creationId xmlns:a16="http://schemas.microsoft.com/office/drawing/2014/main" id="{507AEF53-7D2B-EB4A-AE95-5EC816B5BD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962" y="6405"/>
                    <a:ext cx="156" cy="210"/>
                  </a:xfrm>
                  <a:prstGeom prst="flowChartCollate">
                    <a:avLst/>
                  </a:prstGeom>
                  <a:solidFill>
                    <a:srgbClr val="FFFFFF"/>
                  </a:solidFill>
                  <a:ln w="28575">
                    <a:solidFill>
                      <a:schemeClr val="bg2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1800">
                      <a:latin typeface="宋体" panose="02010600030101010101" pitchFamily="2" charset="-122"/>
                    </a:endParaRPr>
                  </a:p>
                </p:txBody>
              </p:sp>
              <p:sp>
                <p:nvSpPr>
                  <p:cNvPr id="56340" name="Line 313">
                    <a:extLst>
                      <a:ext uri="{FF2B5EF4-FFF2-40B4-BE49-F238E27FC236}">
                        <a16:creationId xmlns:a16="http://schemas.microsoft.com/office/drawing/2014/main" id="{AB050EDE-1DB5-F74B-B3D6-F56EC764D16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45" y="6432"/>
                    <a:ext cx="1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6341" name="Line 314">
                    <a:extLst>
                      <a:ext uri="{FF2B5EF4-FFF2-40B4-BE49-F238E27FC236}">
                        <a16:creationId xmlns:a16="http://schemas.microsoft.com/office/drawing/2014/main" id="{A5F9A654-D12C-3D43-9F2A-F82188631B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145" y="6588"/>
                    <a:ext cx="10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6336" name="Rectangle 315">
                <a:extLst>
                  <a:ext uri="{FF2B5EF4-FFF2-40B4-BE49-F238E27FC236}">
                    <a16:creationId xmlns:a16="http://schemas.microsoft.com/office/drawing/2014/main" id="{F03C73DC-7B02-4F48-9AAC-D7D9321F70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5" y="3702"/>
                <a:ext cx="1920" cy="288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56334" name="Rectangle 319">
              <a:extLst>
                <a:ext uri="{FF2B5EF4-FFF2-40B4-BE49-F238E27FC236}">
                  <a16:creationId xmlns:a16="http://schemas.microsoft.com/office/drawing/2014/main" id="{ED39AB7A-C3F4-514C-AA85-39836D0AE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4065"/>
              <a:ext cx="1135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660033"/>
                  </a:solidFill>
                  <a:latin typeface="宋体" panose="02010600030101010101" pitchFamily="2" charset="-122"/>
                </a:rPr>
                <a:t>R       S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5366820-2DB4-4644-8DB7-E8F9C2503604}"/>
              </a:ext>
            </a:extLst>
          </p:cNvPr>
          <p:cNvSpPr/>
          <p:nvPr/>
        </p:nvSpPr>
        <p:spPr bwMode="auto">
          <a:xfrm>
            <a:off x="4356100" y="715963"/>
            <a:ext cx="4787900" cy="146526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324" name="AutoShape 122">
            <a:extLst>
              <a:ext uri="{FF2B5EF4-FFF2-40B4-BE49-F238E27FC236}">
                <a16:creationId xmlns:a16="http://schemas.microsoft.com/office/drawing/2014/main" id="{291AEC9E-0801-114B-B1FA-332B698E4DB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8791001" y="1825773"/>
            <a:ext cx="236538" cy="298450"/>
          </a:xfrm>
          <a:prstGeom prst="flowChartCollate">
            <a:avLst/>
          </a:prstGeom>
          <a:solidFill>
            <a:srgbClr val="FFFFFF"/>
          </a:solidFill>
          <a:ln w="28575">
            <a:solidFill>
              <a:srgbClr val="660033"/>
            </a:solidFill>
            <a:miter lim="800000"/>
            <a:headEnd/>
            <a:tailEnd/>
          </a:ln>
        </p:spPr>
        <p:txBody>
          <a:bodyPr vert="eaVert"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5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0009" name="Group 89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495618918"/>
              </p:ext>
            </p:extLst>
          </p:nvPr>
        </p:nvGraphicFramePr>
        <p:xfrm>
          <a:off x="251619" y="441036"/>
          <a:ext cx="8640762" cy="1785104"/>
        </p:xfrm>
        <a:graphic>
          <a:graphicData uri="http://schemas.openxmlformats.org/drawingml/2006/table">
            <a:tbl>
              <a:tblPr/>
              <a:tblGrid>
                <a:gridCol w="2257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047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联接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条件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联接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条件说明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463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ON  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联接条件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具体列出两个关系在哪些相应属性上做联接条件比较。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联接条件应写在联接类型的右边。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50007" name="Text Box 87"/>
          <p:cNvSpPr txBox="1">
            <a:spLocks noChangeArrowheads="1"/>
          </p:cNvSpPr>
          <p:nvPr/>
        </p:nvSpPr>
        <p:spPr bwMode="auto">
          <a:xfrm>
            <a:off x="132827" y="2226140"/>
            <a:ext cx="80645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也可以在</a:t>
            </a:r>
            <a:r>
              <a:rPr lang="en-US" altLang="zh-CN" sz="2400" b="1" dirty="0">
                <a:solidFill>
                  <a:srgbClr val="660033"/>
                </a:solidFill>
              </a:rPr>
              <a:t>WHERE</a:t>
            </a:r>
            <a:r>
              <a:rPr lang="zh-CN" altLang="en-US" sz="2400" b="1" dirty="0">
                <a:solidFill>
                  <a:srgbClr val="660033"/>
                </a:solidFill>
              </a:rPr>
              <a:t>子句中指定，一般为内联接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850017" name="Text Box 97"/>
          <p:cNvSpPr txBox="1">
            <a:spLocks noChangeArrowheads="1"/>
          </p:cNvSpPr>
          <p:nvPr/>
        </p:nvSpPr>
        <p:spPr bwMode="auto">
          <a:xfrm>
            <a:off x="153326" y="2825326"/>
            <a:ext cx="80645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例</a:t>
            </a: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：</a:t>
            </a:r>
            <a:r>
              <a:rPr lang="zh-CN" altLang="en-US" sz="2400" b="1" dirty="0">
                <a:solidFill>
                  <a:srgbClr val="660033"/>
                </a:solidFill>
              </a:rPr>
              <a:t>查询选修</a:t>
            </a:r>
            <a:r>
              <a:rPr lang="en-US" altLang="zh-CN" sz="2400" b="1" dirty="0">
                <a:solidFill>
                  <a:srgbClr val="660033"/>
                </a:solidFill>
              </a:rPr>
              <a:t>2</a:t>
            </a:r>
            <a:r>
              <a:rPr lang="zh-CN" altLang="en-US" sz="2400" b="1" dirty="0">
                <a:solidFill>
                  <a:srgbClr val="660033"/>
                </a:solidFill>
              </a:rPr>
              <a:t>号课程的学生姓名。</a:t>
            </a:r>
          </a:p>
        </p:txBody>
      </p:sp>
      <p:sp>
        <p:nvSpPr>
          <p:cNvPr id="850019" name="Text Box 99"/>
          <p:cNvSpPr txBox="1">
            <a:spLocks noChangeArrowheads="1"/>
          </p:cNvSpPr>
          <p:nvPr/>
        </p:nvSpPr>
        <p:spPr bwMode="auto">
          <a:xfrm>
            <a:off x="748469" y="3468768"/>
            <a:ext cx="4518021" cy="178510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SNAME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FROM </a:t>
            </a:r>
            <a:r>
              <a:rPr lang="en-US" altLang="zh-CN" sz="2000" b="1" dirty="0">
                <a:solidFill>
                  <a:schemeClr val="bg1"/>
                </a:solidFill>
              </a:rPr>
              <a:t>SC </a:t>
            </a:r>
            <a:r>
              <a:rPr lang="en-US" altLang="zh-CN" sz="2000" b="1" dirty="0">
                <a:solidFill>
                  <a:srgbClr val="FF0000"/>
                </a:solidFill>
              </a:rPr>
              <a:t>INNER JOIN </a:t>
            </a:r>
            <a:r>
              <a:rPr lang="en-US" altLang="zh-CN" sz="2000" b="1" dirty="0">
                <a:solidFill>
                  <a:schemeClr val="bg1"/>
                </a:solidFill>
              </a:rPr>
              <a:t>S 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1"/>
                </a:solidFill>
              </a:rPr>
              <a:t>ON S.SNO=SC.SNO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WHERE CNO =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000" b="1" dirty="0">
                <a:solidFill>
                  <a:schemeClr val="bg2"/>
                </a:solidFill>
                <a:latin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bg2"/>
                </a:solidFill>
              </a:rPr>
              <a:t>2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';</a:t>
            </a:r>
            <a:endParaRPr lang="en-US" altLang="zh-CN" sz="2000" b="1" dirty="0">
              <a:solidFill>
                <a:schemeClr val="bg2"/>
              </a:solidFill>
            </a:endParaRP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2048CE21-D4D5-9A62-BC4E-D82243A10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010" y="3460489"/>
            <a:ext cx="2807816" cy="1756240"/>
          </a:xfrm>
          <a:prstGeom prst="rect">
            <a:avLst/>
          </a:prstGeom>
        </p:spPr>
      </p:pic>
      <p:sp>
        <p:nvSpPr>
          <p:cNvPr id="9" name="Text Box 98">
            <a:extLst>
              <a:ext uri="{FF2B5EF4-FFF2-40B4-BE49-F238E27FC236}">
                <a16:creationId xmlns:a16="http://schemas.microsoft.com/office/drawing/2014/main" id="{C08E1A24-D84A-DE4C-AF85-AD331F3FC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469" y="5297158"/>
            <a:ext cx="4510138" cy="1323439"/>
          </a:xfrm>
          <a:prstGeom prst="rect">
            <a:avLst/>
          </a:prstGeom>
          <a:solidFill>
            <a:srgbClr val="E8FADD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SNAME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FROM </a:t>
            </a:r>
            <a:r>
              <a:rPr lang="en-US" altLang="zh-CN" sz="2000" b="1" dirty="0">
                <a:solidFill>
                  <a:schemeClr val="bg1"/>
                </a:solidFill>
              </a:rPr>
              <a:t>S,SC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WHERE </a:t>
            </a:r>
            <a:r>
              <a:rPr lang="en-US" altLang="zh-CN" sz="2000" b="1" dirty="0">
                <a:solidFill>
                  <a:schemeClr val="bg1"/>
                </a:solidFill>
              </a:rPr>
              <a:t>S.SNO=SC.SNO </a:t>
            </a:r>
            <a:r>
              <a:rPr lang="en-US" altLang="zh-CN" sz="2000" b="1" dirty="0">
                <a:solidFill>
                  <a:schemeClr val="bg2"/>
                </a:solidFill>
              </a:rPr>
              <a:t>AND CNO=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000" b="1" dirty="0">
                <a:solidFill>
                  <a:schemeClr val="bg2"/>
                </a:solidFill>
                <a:latin typeface="Times New Roman" pitchFamily="18" charset="0"/>
              </a:rPr>
              <a:t>C</a:t>
            </a:r>
            <a:r>
              <a:rPr lang="en-US" altLang="zh-CN" sz="2000" b="1" dirty="0">
                <a:solidFill>
                  <a:schemeClr val="bg2"/>
                </a:solidFill>
              </a:rPr>
              <a:t>2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';</a:t>
            </a:r>
            <a:endParaRPr lang="en-US" altLang="zh-CN" sz="2000" b="1" dirty="0">
              <a:solidFill>
                <a:schemeClr val="bg2"/>
              </a:solidFill>
            </a:endParaRPr>
          </a:p>
        </p:txBody>
      </p:sp>
      <p:pic>
        <p:nvPicPr>
          <p:cNvPr id="10" name="图片 9" descr="图形用户界面, 文本&#10;&#10;描述已自动生成">
            <a:extLst>
              <a:ext uri="{FF2B5EF4-FFF2-40B4-BE49-F238E27FC236}">
                <a16:creationId xmlns:a16="http://schemas.microsoft.com/office/drawing/2014/main" id="{A0C74BF2-9B26-B840-853A-2ECF57CC2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16" y="5297158"/>
            <a:ext cx="2831310" cy="1314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8C8A34D-AE33-6F4B-A8E3-6E3413F8B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2053" y="-146445"/>
            <a:ext cx="2208621" cy="33745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71BBB4E-5D27-0C44-B743-D111A6005E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6995" y="1101"/>
            <a:ext cx="2483901" cy="3298828"/>
          </a:xfrm>
          <a:prstGeom prst="rect">
            <a:avLst/>
          </a:prstGeom>
        </p:spPr>
      </p:pic>
      <p:sp>
        <p:nvSpPr>
          <p:cNvPr id="2" name="线形标注 1 (带强调线) 1">
            <a:extLst>
              <a:ext uri="{FF2B5EF4-FFF2-40B4-BE49-F238E27FC236}">
                <a16:creationId xmlns:a16="http://schemas.microsoft.com/office/drawing/2014/main" id="{566AD97F-DE5D-B742-9BB2-55EE2CE29E2A}"/>
              </a:ext>
            </a:extLst>
          </p:cNvPr>
          <p:cNvSpPr/>
          <p:nvPr/>
        </p:nvSpPr>
        <p:spPr bwMode="auto">
          <a:xfrm>
            <a:off x="3530415" y="3934183"/>
            <a:ext cx="1728192" cy="1200329"/>
          </a:xfrm>
          <a:prstGeom prst="accentCallout1">
            <a:avLst>
              <a:gd name="adj1" fmla="val 25538"/>
              <a:gd name="adj2" fmla="val -999"/>
              <a:gd name="adj3" fmla="val 62720"/>
              <a:gd name="adj4" fmla="val -46191"/>
            </a:avLst>
          </a:prstGeom>
          <a:noFill/>
          <a:ln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如果引用不同关系中的同名属性，则在属性名前加上关系名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50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017" grpId="0"/>
      <p:bldP spid="850019" grpId="0" animBg="1"/>
      <p:bldP spid="9" grpId="0" animBg="1"/>
      <p:bldP spid="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21" name="Text Box 13"/>
          <p:cNvSpPr txBox="1">
            <a:spLocks noChangeArrowheads="1"/>
          </p:cNvSpPr>
          <p:nvPr/>
        </p:nvSpPr>
        <p:spPr bwMode="auto">
          <a:xfrm>
            <a:off x="539750" y="495038"/>
            <a:ext cx="80645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660033"/>
                </a:solidFill>
              </a:rPr>
              <a:t>2-1</a:t>
            </a:r>
            <a:r>
              <a:rPr lang="zh-CN" altLang="en-US" sz="2400" b="1" dirty="0">
                <a:solidFill>
                  <a:srgbClr val="660033"/>
                </a:solidFill>
              </a:rPr>
              <a:t>、检索选修了</a:t>
            </a:r>
            <a:r>
              <a:rPr lang="en-US" altLang="zh-CN" sz="2400" b="1" dirty="0">
                <a:solidFill>
                  <a:srgbClr val="660033"/>
                </a:solidFill>
              </a:rPr>
              <a:t>C1</a:t>
            </a:r>
            <a:r>
              <a:rPr lang="zh-CN" altLang="en-US" sz="2400" b="1" dirty="0">
                <a:solidFill>
                  <a:srgbClr val="660033"/>
                </a:solidFill>
              </a:rPr>
              <a:t>和</a:t>
            </a:r>
            <a:r>
              <a:rPr lang="en-US" altLang="zh-CN" sz="2400" b="1" dirty="0">
                <a:solidFill>
                  <a:srgbClr val="660033"/>
                </a:solidFill>
              </a:rPr>
              <a:t>C3</a:t>
            </a:r>
            <a:r>
              <a:rPr lang="zh-CN" altLang="en-US" sz="2400" b="1" dirty="0">
                <a:solidFill>
                  <a:srgbClr val="660033"/>
                </a:solidFill>
              </a:rPr>
              <a:t>的课程的学生的学号。</a:t>
            </a: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964622" name="Freeform 14"/>
          <p:cNvSpPr>
            <a:spLocks/>
          </p:cNvSpPr>
          <p:nvPr/>
        </p:nvSpPr>
        <p:spPr bwMode="auto">
          <a:xfrm>
            <a:off x="1403350" y="1844675"/>
            <a:ext cx="4267200" cy="1606550"/>
          </a:xfrm>
          <a:custGeom>
            <a:avLst/>
            <a:gdLst>
              <a:gd name="T0" fmla="*/ 2147483647 w 2688"/>
              <a:gd name="T1" fmla="*/ 2147483647 h 1012"/>
              <a:gd name="T2" fmla="*/ 2147483647 w 2688"/>
              <a:gd name="T3" fmla="*/ 2147483647 h 1012"/>
              <a:gd name="T4" fmla="*/ 2147483647 w 2688"/>
              <a:gd name="T5" fmla="*/ 2147483647 h 1012"/>
              <a:gd name="T6" fmla="*/ 2147483647 w 2688"/>
              <a:gd name="T7" fmla="*/ 2147483647 h 1012"/>
              <a:gd name="T8" fmla="*/ 2147483647 w 2688"/>
              <a:gd name="T9" fmla="*/ 2147483647 h 1012"/>
              <a:gd name="T10" fmla="*/ 2147483647 w 2688"/>
              <a:gd name="T11" fmla="*/ 2147483647 h 1012"/>
              <a:gd name="T12" fmla="*/ 2147483647 w 2688"/>
              <a:gd name="T13" fmla="*/ 2147483647 h 1012"/>
              <a:gd name="T14" fmla="*/ 2147483647 w 2688"/>
              <a:gd name="T15" fmla="*/ 2147483647 h 1012"/>
              <a:gd name="T16" fmla="*/ 2147483647 w 2688"/>
              <a:gd name="T17" fmla="*/ 2147483647 h 1012"/>
              <a:gd name="T18" fmla="*/ 2147483647 w 2688"/>
              <a:gd name="T19" fmla="*/ 2147483647 h 1012"/>
              <a:gd name="T20" fmla="*/ 2147483647 w 2688"/>
              <a:gd name="T21" fmla="*/ 2147483647 h 1012"/>
              <a:gd name="T22" fmla="*/ 2147483647 w 2688"/>
              <a:gd name="T23" fmla="*/ 2147483647 h 1012"/>
              <a:gd name="T24" fmla="*/ 2147483647 w 2688"/>
              <a:gd name="T25" fmla="*/ 2147483647 h 1012"/>
              <a:gd name="T26" fmla="*/ 2147483647 w 2688"/>
              <a:gd name="T27" fmla="*/ 2147483647 h 1012"/>
              <a:gd name="T28" fmla="*/ 2147483647 w 2688"/>
              <a:gd name="T29" fmla="*/ 2147483647 h 1012"/>
              <a:gd name="T30" fmla="*/ 2147483647 w 2688"/>
              <a:gd name="T31" fmla="*/ 2147483647 h 1012"/>
              <a:gd name="T32" fmla="*/ 2147483647 w 2688"/>
              <a:gd name="T33" fmla="*/ 2147483647 h 1012"/>
              <a:gd name="T34" fmla="*/ 2147483647 w 2688"/>
              <a:gd name="T35" fmla="*/ 2147483647 h 1012"/>
              <a:gd name="T36" fmla="*/ 2147483647 w 2688"/>
              <a:gd name="T37" fmla="*/ 2147483647 h 1012"/>
              <a:gd name="T38" fmla="*/ 2147483647 w 2688"/>
              <a:gd name="T39" fmla="*/ 2147483647 h 1012"/>
              <a:gd name="T40" fmla="*/ 2147483647 w 2688"/>
              <a:gd name="T41" fmla="*/ 2147483647 h 1012"/>
              <a:gd name="T42" fmla="*/ 2147483647 w 2688"/>
              <a:gd name="T43" fmla="*/ 2147483647 h 1012"/>
              <a:gd name="T44" fmla="*/ 2147483647 w 2688"/>
              <a:gd name="T45" fmla="*/ 2147483647 h 1012"/>
              <a:gd name="T46" fmla="*/ 2147483647 w 2688"/>
              <a:gd name="T47" fmla="*/ 2147483647 h 1012"/>
              <a:gd name="T48" fmla="*/ 0 w 2688"/>
              <a:gd name="T49" fmla="*/ 2147483647 h 1012"/>
              <a:gd name="T50" fmla="*/ 2147483647 w 2688"/>
              <a:gd name="T51" fmla="*/ 2147483647 h 101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2688" h="1012">
                <a:moveTo>
                  <a:pt x="36" y="400"/>
                </a:moveTo>
                <a:cubicBezTo>
                  <a:pt x="3" y="300"/>
                  <a:pt x="66" y="193"/>
                  <a:pt x="120" y="112"/>
                </a:cubicBezTo>
                <a:cubicBezTo>
                  <a:pt x="136" y="88"/>
                  <a:pt x="168" y="80"/>
                  <a:pt x="192" y="64"/>
                </a:cubicBezTo>
                <a:cubicBezTo>
                  <a:pt x="213" y="50"/>
                  <a:pt x="264" y="40"/>
                  <a:pt x="264" y="40"/>
                </a:cubicBezTo>
                <a:cubicBezTo>
                  <a:pt x="594" y="48"/>
                  <a:pt x="876" y="64"/>
                  <a:pt x="1200" y="52"/>
                </a:cubicBezTo>
                <a:cubicBezTo>
                  <a:pt x="1406" y="0"/>
                  <a:pt x="1638" y="62"/>
                  <a:pt x="1848" y="88"/>
                </a:cubicBezTo>
                <a:cubicBezTo>
                  <a:pt x="1903" y="106"/>
                  <a:pt x="1960" y="107"/>
                  <a:pt x="2016" y="124"/>
                </a:cubicBezTo>
                <a:cubicBezTo>
                  <a:pt x="2083" y="144"/>
                  <a:pt x="2143" y="172"/>
                  <a:pt x="2208" y="196"/>
                </a:cubicBezTo>
                <a:cubicBezTo>
                  <a:pt x="2228" y="204"/>
                  <a:pt x="2249" y="210"/>
                  <a:pt x="2268" y="220"/>
                </a:cubicBezTo>
                <a:cubicBezTo>
                  <a:pt x="2281" y="226"/>
                  <a:pt x="2291" y="238"/>
                  <a:pt x="2304" y="244"/>
                </a:cubicBezTo>
                <a:cubicBezTo>
                  <a:pt x="2327" y="254"/>
                  <a:pt x="2352" y="260"/>
                  <a:pt x="2376" y="268"/>
                </a:cubicBezTo>
                <a:cubicBezTo>
                  <a:pt x="2388" y="272"/>
                  <a:pt x="2412" y="280"/>
                  <a:pt x="2412" y="280"/>
                </a:cubicBezTo>
                <a:cubicBezTo>
                  <a:pt x="2424" y="292"/>
                  <a:pt x="2435" y="306"/>
                  <a:pt x="2448" y="316"/>
                </a:cubicBezTo>
                <a:cubicBezTo>
                  <a:pt x="2471" y="334"/>
                  <a:pt x="2520" y="364"/>
                  <a:pt x="2520" y="364"/>
                </a:cubicBezTo>
                <a:cubicBezTo>
                  <a:pt x="2537" y="414"/>
                  <a:pt x="2560" y="431"/>
                  <a:pt x="2592" y="472"/>
                </a:cubicBezTo>
                <a:cubicBezTo>
                  <a:pt x="2631" y="522"/>
                  <a:pt x="2653" y="576"/>
                  <a:pt x="2688" y="628"/>
                </a:cubicBezTo>
                <a:cubicBezTo>
                  <a:pt x="2679" y="689"/>
                  <a:pt x="2676" y="790"/>
                  <a:pt x="2640" y="844"/>
                </a:cubicBezTo>
                <a:cubicBezTo>
                  <a:pt x="2528" y="1012"/>
                  <a:pt x="2303" y="999"/>
                  <a:pt x="2124" y="1012"/>
                </a:cubicBezTo>
                <a:cubicBezTo>
                  <a:pt x="1994" y="998"/>
                  <a:pt x="1858" y="955"/>
                  <a:pt x="1728" y="952"/>
                </a:cubicBezTo>
                <a:cubicBezTo>
                  <a:pt x="1544" y="948"/>
                  <a:pt x="1360" y="944"/>
                  <a:pt x="1176" y="940"/>
                </a:cubicBezTo>
                <a:cubicBezTo>
                  <a:pt x="900" y="919"/>
                  <a:pt x="624" y="913"/>
                  <a:pt x="348" y="892"/>
                </a:cubicBezTo>
                <a:cubicBezTo>
                  <a:pt x="250" y="872"/>
                  <a:pt x="178" y="839"/>
                  <a:pt x="96" y="784"/>
                </a:cubicBezTo>
                <a:cubicBezTo>
                  <a:pt x="80" y="760"/>
                  <a:pt x="64" y="736"/>
                  <a:pt x="48" y="712"/>
                </a:cubicBezTo>
                <a:cubicBezTo>
                  <a:pt x="40" y="700"/>
                  <a:pt x="24" y="676"/>
                  <a:pt x="24" y="676"/>
                </a:cubicBezTo>
                <a:cubicBezTo>
                  <a:pt x="18" y="640"/>
                  <a:pt x="0" y="605"/>
                  <a:pt x="0" y="568"/>
                </a:cubicBezTo>
                <a:cubicBezTo>
                  <a:pt x="0" y="469"/>
                  <a:pt x="36" y="379"/>
                  <a:pt x="36" y="280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510163" y="1318509"/>
            <a:ext cx="8064500" cy="28638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DISTINCT X.SNO 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  </a:t>
            </a:r>
            <a:r>
              <a:rPr lang="en-US" altLang="zh-CN" sz="2400" b="1" dirty="0">
                <a:solidFill>
                  <a:schemeClr val="bg1"/>
                </a:solidFill>
              </a:rPr>
              <a:t>SC X </a:t>
            </a:r>
            <a:r>
              <a:rPr lang="en-US" altLang="zh-CN" sz="2400" b="1" dirty="0">
                <a:solidFill>
                  <a:srgbClr val="FF0000"/>
                </a:solidFill>
              </a:rPr>
              <a:t>INNER JOIN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         SC Y ON X.SNO = Y.SNO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WHERE (X.CNO =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 AND (Y.CNO =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);</a:t>
            </a: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EFB1F10B-FDE4-4190-FB93-6B58989FF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4708525"/>
            <a:ext cx="6068913" cy="13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62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21" grpId="0"/>
      <p:bldP spid="964622" grpId="0" animBg="1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A0B4BFBB-C372-57A1-73BE-A2FA3281C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297" y="828810"/>
            <a:ext cx="2549410" cy="2223953"/>
          </a:xfrm>
          <a:prstGeom prst="rect">
            <a:avLst/>
          </a:prstGeom>
        </p:spPr>
      </p:pic>
      <p:sp>
        <p:nvSpPr>
          <p:cNvPr id="965635" name="Rectangle 3">
            <a:extLst>
              <a:ext uri="{FF2B5EF4-FFF2-40B4-BE49-F238E27FC236}">
                <a16:creationId xmlns:a16="http://schemas.microsoft.com/office/drawing/2014/main" id="{0AFDF495-B1B6-0949-A7C8-B2A1D03C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5025"/>
            <a:ext cx="3313112" cy="22494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X.SNO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FROM SC X,SC Y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WHERE X.SNO=Y.SNO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AND 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X.CNO=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'C2'</a:t>
            </a:r>
            <a:endParaRPr lang="en-US" altLang="zh-CN" sz="2400" b="1" dirty="0">
              <a:solidFill>
                <a:srgbClr val="660033"/>
              </a:solidFill>
              <a:latin typeface="宋体" panose="02010600030101010101" pitchFamily="2" charset="-122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  AND Y.CNO=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'C3'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</a:p>
        </p:txBody>
      </p:sp>
      <p:sp>
        <p:nvSpPr>
          <p:cNvPr id="40963" name="Rectangle 7">
            <a:extLst>
              <a:ext uri="{FF2B5EF4-FFF2-40B4-BE49-F238E27FC236}">
                <a16:creationId xmlns:a16="http://schemas.microsoft.com/office/drawing/2014/main" id="{FCB45BFF-40A4-1D4A-BABA-53A28890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-254000"/>
            <a:ext cx="8424863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2-2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检索选修课程号为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C2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C3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学生的学号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965640" name="Freeform 8">
            <a:extLst>
              <a:ext uri="{FF2B5EF4-FFF2-40B4-BE49-F238E27FC236}">
                <a16:creationId xmlns:a16="http://schemas.microsoft.com/office/drawing/2014/main" id="{8EEBAEA8-2697-4349-B855-F4195E36E4AE}"/>
              </a:ext>
            </a:extLst>
          </p:cNvPr>
          <p:cNvSpPr>
            <a:spLocks/>
          </p:cNvSpPr>
          <p:nvPr/>
        </p:nvSpPr>
        <p:spPr bwMode="auto">
          <a:xfrm>
            <a:off x="1428750" y="1196975"/>
            <a:ext cx="1822450" cy="644525"/>
          </a:xfrm>
          <a:custGeom>
            <a:avLst/>
            <a:gdLst>
              <a:gd name="T0" fmla="*/ 2147483646 w 1148"/>
              <a:gd name="T1" fmla="*/ 2147483646 h 500"/>
              <a:gd name="T2" fmla="*/ 2147483646 w 1148"/>
              <a:gd name="T3" fmla="*/ 2147483646 h 500"/>
              <a:gd name="T4" fmla="*/ 2147483646 w 1148"/>
              <a:gd name="T5" fmla="*/ 2147483646 h 500"/>
              <a:gd name="T6" fmla="*/ 2147483646 w 1148"/>
              <a:gd name="T7" fmla="*/ 2147483646 h 500"/>
              <a:gd name="T8" fmla="*/ 2147483646 w 1148"/>
              <a:gd name="T9" fmla="*/ 2147483646 h 500"/>
              <a:gd name="T10" fmla="*/ 2147483646 w 1148"/>
              <a:gd name="T11" fmla="*/ 2147483646 h 500"/>
              <a:gd name="T12" fmla="*/ 2147483646 w 1148"/>
              <a:gd name="T13" fmla="*/ 2147483646 h 500"/>
              <a:gd name="T14" fmla="*/ 2147483646 w 1148"/>
              <a:gd name="T15" fmla="*/ 2147483646 h 500"/>
              <a:gd name="T16" fmla="*/ 2147483646 w 1148"/>
              <a:gd name="T17" fmla="*/ 2147483646 h 500"/>
              <a:gd name="T18" fmla="*/ 2147483646 w 1148"/>
              <a:gd name="T19" fmla="*/ 2147483646 h 500"/>
              <a:gd name="T20" fmla="*/ 2147483646 w 1148"/>
              <a:gd name="T21" fmla="*/ 2147483646 h 500"/>
              <a:gd name="T22" fmla="*/ 2147483646 w 1148"/>
              <a:gd name="T23" fmla="*/ 2147483646 h 500"/>
              <a:gd name="T24" fmla="*/ 2147483646 w 1148"/>
              <a:gd name="T25" fmla="*/ 2147483646 h 5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148"/>
              <a:gd name="T40" fmla="*/ 0 h 500"/>
              <a:gd name="T41" fmla="*/ 1148 w 1148"/>
              <a:gd name="T42" fmla="*/ 500 h 5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148" h="500">
                <a:moveTo>
                  <a:pt x="54" y="102"/>
                </a:moveTo>
                <a:cubicBezTo>
                  <a:pt x="79" y="85"/>
                  <a:pt x="90" y="58"/>
                  <a:pt x="118" y="46"/>
                </a:cubicBezTo>
                <a:cubicBezTo>
                  <a:pt x="190" y="15"/>
                  <a:pt x="265" y="18"/>
                  <a:pt x="342" y="14"/>
                </a:cubicBezTo>
                <a:cubicBezTo>
                  <a:pt x="840" y="21"/>
                  <a:pt x="738" y="0"/>
                  <a:pt x="1006" y="54"/>
                </a:cubicBezTo>
                <a:cubicBezTo>
                  <a:pt x="1040" y="71"/>
                  <a:pt x="1075" y="90"/>
                  <a:pt x="1110" y="102"/>
                </a:cubicBezTo>
                <a:cubicBezTo>
                  <a:pt x="1118" y="114"/>
                  <a:pt x="1134" y="133"/>
                  <a:pt x="1134" y="150"/>
                </a:cubicBezTo>
                <a:cubicBezTo>
                  <a:pt x="1134" y="204"/>
                  <a:pt x="1148" y="265"/>
                  <a:pt x="1118" y="310"/>
                </a:cubicBezTo>
                <a:cubicBezTo>
                  <a:pt x="1095" y="344"/>
                  <a:pt x="997" y="382"/>
                  <a:pt x="958" y="390"/>
                </a:cubicBezTo>
                <a:cubicBezTo>
                  <a:pt x="883" y="427"/>
                  <a:pt x="800" y="432"/>
                  <a:pt x="718" y="438"/>
                </a:cubicBezTo>
                <a:cubicBezTo>
                  <a:pt x="560" y="436"/>
                  <a:pt x="247" y="500"/>
                  <a:pt x="70" y="382"/>
                </a:cubicBezTo>
                <a:cubicBezTo>
                  <a:pt x="59" y="350"/>
                  <a:pt x="42" y="329"/>
                  <a:pt x="22" y="302"/>
                </a:cubicBezTo>
                <a:cubicBezTo>
                  <a:pt x="1" y="240"/>
                  <a:pt x="0" y="245"/>
                  <a:pt x="22" y="134"/>
                </a:cubicBezTo>
                <a:cubicBezTo>
                  <a:pt x="25" y="119"/>
                  <a:pt x="47" y="115"/>
                  <a:pt x="54" y="102"/>
                </a:cubicBezTo>
                <a:close/>
              </a:path>
            </a:pathLst>
          </a:custGeom>
          <a:noFill/>
          <a:ln w="28575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5641" name="Freeform 9">
            <a:extLst>
              <a:ext uri="{FF2B5EF4-FFF2-40B4-BE49-F238E27FC236}">
                <a16:creationId xmlns:a16="http://schemas.microsoft.com/office/drawing/2014/main" id="{27E2712F-176B-A947-91C3-4BFDF9CA0168}"/>
              </a:ext>
            </a:extLst>
          </p:cNvPr>
          <p:cNvSpPr>
            <a:spLocks/>
          </p:cNvSpPr>
          <p:nvPr/>
        </p:nvSpPr>
        <p:spPr bwMode="auto">
          <a:xfrm>
            <a:off x="1622425" y="1724025"/>
            <a:ext cx="1857375" cy="552450"/>
          </a:xfrm>
          <a:custGeom>
            <a:avLst/>
            <a:gdLst>
              <a:gd name="T0" fmla="*/ 2147483646 w 1170"/>
              <a:gd name="T1" fmla="*/ 2147483646 h 450"/>
              <a:gd name="T2" fmla="*/ 2147483646 w 1170"/>
              <a:gd name="T3" fmla="*/ 2147483646 h 450"/>
              <a:gd name="T4" fmla="*/ 2147483646 w 1170"/>
              <a:gd name="T5" fmla="*/ 2147483646 h 450"/>
              <a:gd name="T6" fmla="*/ 2147483646 w 1170"/>
              <a:gd name="T7" fmla="*/ 2147483646 h 450"/>
              <a:gd name="T8" fmla="*/ 2147483646 w 1170"/>
              <a:gd name="T9" fmla="*/ 2147483646 h 450"/>
              <a:gd name="T10" fmla="*/ 2147483646 w 1170"/>
              <a:gd name="T11" fmla="*/ 2147483646 h 450"/>
              <a:gd name="T12" fmla="*/ 2147483646 w 1170"/>
              <a:gd name="T13" fmla="*/ 2147483646 h 450"/>
              <a:gd name="T14" fmla="*/ 2147483646 w 1170"/>
              <a:gd name="T15" fmla="*/ 2147483646 h 450"/>
              <a:gd name="T16" fmla="*/ 2147483646 w 1170"/>
              <a:gd name="T17" fmla="*/ 2147483646 h 450"/>
              <a:gd name="T18" fmla="*/ 2147483646 w 1170"/>
              <a:gd name="T19" fmla="*/ 2147483646 h 450"/>
              <a:gd name="T20" fmla="*/ 2147483646 w 1170"/>
              <a:gd name="T21" fmla="*/ 2147483646 h 450"/>
              <a:gd name="T22" fmla="*/ 2147483646 w 1170"/>
              <a:gd name="T23" fmla="*/ 2147483646 h 450"/>
              <a:gd name="T24" fmla="*/ 2147483646 w 1170"/>
              <a:gd name="T25" fmla="*/ 2147483646 h 450"/>
              <a:gd name="T26" fmla="*/ 2147483646 w 1170"/>
              <a:gd name="T27" fmla="*/ 2147483646 h 450"/>
              <a:gd name="T28" fmla="*/ 2147483646 w 1170"/>
              <a:gd name="T29" fmla="*/ 2147483646 h 450"/>
              <a:gd name="T30" fmla="*/ 2147483646 w 1170"/>
              <a:gd name="T31" fmla="*/ 2147483646 h 450"/>
              <a:gd name="T32" fmla="*/ 2147483646 w 1170"/>
              <a:gd name="T33" fmla="*/ 2147483646 h 45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1170"/>
              <a:gd name="T52" fmla="*/ 0 h 450"/>
              <a:gd name="T53" fmla="*/ 1170 w 1170"/>
              <a:gd name="T54" fmla="*/ 450 h 450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1170" h="450">
                <a:moveTo>
                  <a:pt x="17" y="258"/>
                </a:moveTo>
                <a:cubicBezTo>
                  <a:pt x="17" y="231"/>
                  <a:pt x="17" y="205"/>
                  <a:pt x="17" y="178"/>
                </a:cubicBezTo>
                <a:lnTo>
                  <a:pt x="56" y="122"/>
                </a:lnTo>
                <a:cubicBezTo>
                  <a:pt x="104" y="0"/>
                  <a:pt x="184" y="47"/>
                  <a:pt x="313" y="50"/>
                </a:cubicBezTo>
                <a:cubicBezTo>
                  <a:pt x="553" y="56"/>
                  <a:pt x="793" y="61"/>
                  <a:pt x="1033" y="66"/>
                </a:cubicBezTo>
                <a:cubicBezTo>
                  <a:pt x="1080" y="78"/>
                  <a:pt x="1116" y="107"/>
                  <a:pt x="1161" y="122"/>
                </a:cubicBezTo>
                <a:cubicBezTo>
                  <a:pt x="1158" y="171"/>
                  <a:pt x="1170" y="314"/>
                  <a:pt x="1097" y="338"/>
                </a:cubicBezTo>
                <a:cubicBezTo>
                  <a:pt x="1092" y="346"/>
                  <a:pt x="1088" y="355"/>
                  <a:pt x="1081" y="362"/>
                </a:cubicBezTo>
                <a:cubicBezTo>
                  <a:pt x="1074" y="369"/>
                  <a:pt x="1063" y="370"/>
                  <a:pt x="1057" y="378"/>
                </a:cubicBezTo>
                <a:cubicBezTo>
                  <a:pt x="1052" y="385"/>
                  <a:pt x="1055" y="396"/>
                  <a:pt x="1049" y="402"/>
                </a:cubicBezTo>
                <a:cubicBezTo>
                  <a:pt x="1043" y="408"/>
                  <a:pt x="1033" y="406"/>
                  <a:pt x="1025" y="410"/>
                </a:cubicBezTo>
                <a:cubicBezTo>
                  <a:pt x="986" y="429"/>
                  <a:pt x="947" y="436"/>
                  <a:pt x="905" y="450"/>
                </a:cubicBezTo>
                <a:cubicBezTo>
                  <a:pt x="788" y="447"/>
                  <a:pt x="670" y="449"/>
                  <a:pt x="553" y="442"/>
                </a:cubicBezTo>
                <a:cubicBezTo>
                  <a:pt x="443" y="436"/>
                  <a:pt x="328" y="406"/>
                  <a:pt x="217" y="394"/>
                </a:cubicBezTo>
                <a:cubicBezTo>
                  <a:pt x="166" y="379"/>
                  <a:pt x="116" y="359"/>
                  <a:pt x="65" y="346"/>
                </a:cubicBezTo>
                <a:cubicBezTo>
                  <a:pt x="16" y="313"/>
                  <a:pt x="32" y="290"/>
                  <a:pt x="17" y="234"/>
                </a:cubicBezTo>
                <a:cubicBezTo>
                  <a:pt x="0" y="170"/>
                  <a:pt x="1" y="230"/>
                  <a:pt x="1" y="202"/>
                </a:cubicBezTo>
              </a:path>
            </a:pathLst>
          </a:custGeom>
          <a:noFill/>
          <a:ln w="28575">
            <a:solidFill>
              <a:srgbClr val="66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0966" name="Rectangle 10">
            <a:extLst>
              <a:ext uri="{FF2B5EF4-FFF2-40B4-BE49-F238E27FC236}">
                <a16:creationId xmlns:a16="http://schemas.microsoft.com/office/drawing/2014/main" id="{2B64C38B-25B9-E947-A3A3-7B77007AD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5" y="3886200"/>
            <a:ext cx="1841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宋体" panose="02010600030101010101" pitchFamily="2" charset="-122"/>
            </a:endParaRPr>
          </a:p>
        </p:txBody>
      </p:sp>
      <p:sp>
        <p:nvSpPr>
          <p:cNvPr id="40967" name="Rectangle 11">
            <a:extLst>
              <a:ext uri="{FF2B5EF4-FFF2-40B4-BE49-F238E27FC236}">
                <a16:creationId xmlns:a16="http://schemas.microsoft.com/office/drawing/2014/main" id="{77F24651-DC3A-B549-8AEC-F58BB0DE8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196975"/>
            <a:ext cx="5040312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宋体" panose="02010600030101010101" pitchFamily="2" charset="-122"/>
            </a:endParaRPr>
          </a:p>
        </p:txBody>
      </p:sp>
      <p:sp>
        <p:nvSpPr>
          <p:cNvPr id="965644" name="Text Box 12">
            <a:extLst>
              <a:ext uri="{FF2B5EF4-FFF2-40B4-BE49-F238E27FC236}">
                <a16:creationId xmlns:a16="http://schemas.microsoft.com/office/drawing/2014/main" id="{33D8A63D-1015-004F-BF18-6A444B160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62719"/>
            <a:ext cx="8099425" cy="18062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或：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X.SNO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 FROM (SELECT SNO FROM SC WHERE 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CNO=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'C2'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)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X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,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      (SELECT SNO FROM SC WHERE 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CNO=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'C3'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)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Y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   WHERE X.SNO=Y.SNO</a:t>
            </a:r>
            <a:r>
              <a:rPr lang="en-US" altLang="zh-CN" sz="18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</a:p>
        </p:txBody>
      </p:sp>
      <p:sp>
        <p:nvSpPr>
          <p:cNvPr id="965645" name="AutoShape 13">
            <a:extLst>
              <a:ext uri="{FF2B5EF4-FFF2-40B4-BE49-F238E27FC236}">
                <a16:creationId xmlns:a16="http://schemas.microsoft.com/office/drawing/2014/main" id="{97522F4A-E2E7-F448-A7B1-733495D01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981" y="5369334"/>
            <a:ext cx="2232025" cy="863600"/>
          </a:xfrm>
          <a:prstGeom prst="cloudCallout">
            <a:avLst>
              <a:gd name="adj1" fmla="val 53788"/>
              <a:gd name="adj2" fmla="val -137751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派生表</a:t>
            </a:r>
          </a:p>
        </p:txBody>
      </p:sp>
      <p:sp>
        <p:nvSpPr>
          <p:cNvPr id="965646" name="Freeform 14">
            <a:extLst>
              <a:ext uri="{FF2B5EF4-FFF2-40B4-BE49-F238E27FC236}">
                <a16:creationId xmlns:a16="http://schemas.microsoft.com/office/drawing/2014/main" id="{0B6CC3EF-BC8E-4C41-8E5E-04D456695150}"/>
              </a:ext>
            </a:extLst>
          </p:cNvPr>
          <p:cNvSpPr>
            <a:spLocks/>
          </p:cNvSpPr>
          <p:nvPr/>
        </p:nvSpPr>
        <p:spPr bwMode="auto">
          <a:xfrm>
            <a:off x="7548141" y="3789040"/>
            <a:ext cx="384175" cy="417512"/>
          </a:xfrm>
          <a:custGeom>
            <a:avLst/>
            <a:gdLst>
              <a:gd name="T0" fmla="*/ 2147483646 w 242"/>
              <a:gd name="T1" fmla="*/ 2147483646 h 263"/>
              <a:gd name="T2" fmla="*/ 2147483646 w 242"/>
              <a:gd name="T3" fmla="*/ 2147483646 h 263"/>
              <a:gd name="T4" fmla="*/ 2147483646 w 242"/>
              <a:gd name="T5" fmla="*/ 2147483646 h 263"/>
              <a:gd name="T6" fmla="*/ 2147483646 w 242"/>
              <a:gd name="T7" fmla="*/ 2147483646 h 263"/>
              <a:gd name="T8" fmla="*/ 2147483646 w 242"/>
              <a:gd name="T9" fmla="*/ 2147483646 h 263"/>
              <a:gd name="T10" fmla="*/ 2147483646 w 242"/>
              <a:gd name="T11" fmla="*/ 2147483646 h 263"/>
              <a:gd name="T12" fmla="*/ 2147483646 w 242"/>
              <a:gd name="T13" fmla="*/ 2147483646 h 263"/>
              <a:gd name="T14" fmla="*/ 2147483646 w 242"/>
              <a:gd name="T15" fmla="*/ 2147483646 h 2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2"/>
              <a:gd name="T25" fmla="*/ 0 h 263"/>
              <a:gd name="T26" fmla="*/ 242 w 242"/>
              <a:gd name="T27" fmla="*/ 263 h 26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2" h="263">
                <a:moveTo>
                  <a:pt x="10" y="51"/>
                </a:moveTo>
                <a:cubicBezTo>
                  <a:pt x="29" y="23"/>
                  <a:pt x="42" y="14"/>
                  <a:pt x="74" y="3"/>
                </a:cubicBezTo>
                <a:cubicBezTo>
                  <a:pt x="148" y="9"/>
                  <a:pt x="174" y="0"/>
                  <a:pt x="226" y="35"/>
                </a:cubicBezTo>
                <a:cubicBezTo>
                  <a:pt x="220" y="120"/>
                  <a:pt x="242" y="227"/>
                  <a:pt x="146" y="259"/>
                </a:cubicBezTo>
                <a:cubicBezTo>
                  <a:pt x="106" y="256"/>
                  <a:pt x="64" y="263"/>
                  <a:pt x="26" y="251"/>
                </a:cubicBezTo>
                <a:cubicBezTo>
                  <a:pt x="16" y="248"/>
                  <a:pt x="22" y="229"/>
                  <a:pt x="18" y="219"/>
                </a:cubicBezTo>
                <a:cubicBezTo>
                  <a:pt x="14" y="210"/>
                  <a:pt x="2" y="205"/>
                  <a:pt x="2" y="195"/>
                </a:cubicBezTo>
                <a:cubicBezTo>
                  <a:pt x="0" y="147"/>
                  <a:pt x="7" y="99"/>
                  <a:pt x="10" y="51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5647" name="Freeform 15">
            <a:extLst>
              <a:ext uri="{FF2B5EF4-FFF2-40B4-BE49-F238E27FC236}">
                <a16:creationId xmlns:a16="http://schemas.microsoft.com/office/drawing/2014/main" id="{D768E680-981B-A542-9B19-34727D610339}"/>
              </a:ext>
            </a:extLst>
          </p:cNvPr>
          <p:cNvSpPr>
            <a:spLocks/>
          </p:cNvSpPr>
          <p:nvPr/>
        </p:nvSpPr>
        <p:spPr bwMode="auto">
          <a:xfrm>
            <a:off x="7524328" y="4206552"/>
            <a:ext cx="384175" cy="417513"/>
          </a:xfrm>
          <a:custGeom>
            <a:avLst/>
            <a:gdLst>
              <a:gd name="T0" fmla="*/ 2147483646 w 242"/>
              <a:gd name="T1" fmla="*/ 2147483646 h 263"/>
              <a:gd name="T2" fmla="*/ 2147483646 w 242"/>
              <a:gd name="T3" fmla="*/ 2147483646 h 263"/>
              <a:gd name="T4" fmla="*/ 2147483646 w 242"/>
              <a:gd name="T5" fmla="*/ 2147483646 h 263"/>
              <a:gd name="T6" fmla="*/ 2147483646 w 242"/>
              <a:gd name="T7" fmla="*/ 2147483646 h 263"/>
              <a:gd name="T8" fmla="*/ 2147483646 w 242"/>
              <a:gd name="T9" fmla="*/ 2147483646 h 263"/>
              <a:gd name="T10" fmla="*/ 2147483646 w 242"/>
              <a:gd name="T11" fmla="*/ 2147483646 h 263"/>
              <a:gd name="T12" fmla="*/ 2147483646 w 242"/>
              <a:gd name="T13" fmla="*/ 2147483646 h 263"/>
              <a:gd name="T14" fmla="*/ 2147483646 w 242"/>
              <a:gd name="T15" fmla="*/ 2147483646 h 2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242"/>
              <a:gd name="T25" fmla="*/ 0 h 263"/>
              <a:gd name="T26" fmla="*/ 242 w 242"/>
              <a:gd name="T27" fmla="*/ 263 h 26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42" h="263">
                <a:moveTo>
                  <a:pt x="10" y="51"/>
                </a:moveTo>
                <a:cubicBezTo>
                  <a:pt x="29" y="23"/>
                  <a:pt x="42" y="14"/>
                  <a:pt x="74" y="3"/>
                </a:cubicBezTo>
                <a:cubicBezTo>
                  <a:pt x="148" y="9"/>
                  <a:pt x="174" y="0"/>
                  <a:pt x="226" y="35"/>
                </a:cubicBezTo>
                <a:cubicBezTo>
                  <a:pt x="220" y="120"/>
                  <a:pt x="242" y="227"/>
                  <a:pt x="146" y="259"/>
                </a:cubicBezTo>
                <a:cubicBezTo>
                  <a:pt x="106" y="256"/>
                  <a:pt x="64" y="263"/>
                  <a:pt x="26" y="251"/>
                </a:cubicBezTo>
                <a:cubicBezTo>
                  <a:pt x="16" y="248"/>
                  <a:pt x="22" y="229"/>
                  <a:pt x="18" y="219"/>
                </a:cubicBezTo>
                <a:cubicBezTo>
                  <a:pt x="14" y="210"/>
                  <a:pt x="2" y="205"/>
                  <a:pt x="2" y="195"/>
                </a:cubicBezTo>
                <a:cubicBezTo>
                  <a:pt x="0" y="147"/>
                  <a:pt x="7" y="99"/>
                  <a:pt x="10" y="51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EC11B44F-E7E2-6F1C-C8DE-0DA22E337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96" y="5214937"/>
            <a:ext cx="3861487" cy="1432331"/>
          </a:xfrm>
          <a:prstGeom prst="rect">
            <a:avLst/>
          </a:prstGeom>
        </p:spPr>
      </p:pic>
      <p:sp>
        <p:nvSpPr>
          <p:cNvPr id="965648" name="AutoShape 16">
            <a:extLst>
              <a:ext uri="{FF2B5EF4-FFF2-40B4-BE49-F238E27FC236}">
                <a16:creationId xmlns:a16="http://schemas.microsoft.com/office/drawing/2014/main" id="{F0F01F57-F036-1F40-B7A1-25F8A26CE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693738"/>
            <a:ext cx="2487872" cy="719137"/>
          </a:xfrm>
          <a:prstGeom prst="cloudCallout">
            <a:avLst>
              <a:gd name="adj1" fmla="val -72037"/>
              <a:gd name="adj2" fmla="val 79231"/>
            </a:avLst>
          </a:prstGeom>
          <a:noFill/>
          <a:ln w="952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6600"/>
                </a:solidFill>
                <a:latin typeface="宋体" panose="02010600030101010101" pitchFamily="2" charset="-122"/>
              </a:rPr>
              <a:t>自身联接</a:t>
            </a:r>
          </a:p>
        </p:txBody>
      </p:sp>
    </p:spTree>
    <p:extLst>
      <p:ext uri="{BB962C8B-B14F-4D97-AF65-F5344CB8AC3E}">
        <p14:creationId xmlns:p14="http://schemas.microsoft.com/office/powerpoint/2010/main" val="2353150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6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6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6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6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6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6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animBg="1"/>
      <p:bldP spid="965644" grpId="0" animBg="1"/>
      <p:bldP spid="965645" grpId="0" animBg="1"/>
      <p:bldP spid="96564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7950" y="-96364"/>
            <a:ext cx="8928100" cy="1943100"/>
          </a:xfrm>
        </p:spPr>
        <p:txBody>
          <a:bodyPr/>
          <a:lstStyle/>
          <a:p>
            <a:pPr marL="266700" indent="-266700" eaLnBrk="1" hangingPunct="1">
              <a:lnSpc>
                <a:spcPct val="150000"/>
              </a:lnSpc>
            </a:pPr>
            <a:r>
              <a:rPr lang="en-US" altLang="zh-CN" sz="3600" b="1" dirty="0">
                <a:solidFill>
                  <a:srgbClr val="000066"/>
                </a:solidFill>
              </a:rPr>
              <a:t> </a:t>
            </a:r>
            <a:r>
              <a:rPr lang="zh-CN" altLang="en-US" b="1" dirty="0">
                <a:solidFill>
                  <a:srgbClr val="000066"/>
                </a:solidFill>
              </a:rPr>
              <a:t>嵌套操作</a:t>
            </a:r>
            <a:endParaRPr lang="zh-CN" altLang="en-US" sz="3600" b="1" dirty="0">
              <a:solidFill>
                <a:srgbClr val="000066"/>
              </a:solidFill>
            </a:endParaRPr>
          </a:p>
          <a:p>
            <a:pPr marL="266700" indent="-266700" eaLnBrk="1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例：</a:t>
            </a:r>
            <a:r>
              <a:rPr lang="zh-CN" altLang="en-US" sz="2800" b="1" dirty="0">
                <a:solidFill>
                  <a:srgbClr val="660033"/>
                </a:solidFill>
              </a:rPr>
              <a:t>查询选修</a:t>
            </a:r>
            <a:r>
              <a:rPr lang="en-US" altLang="zh-CN" sz="2800" b="1" dirty="0">
                <a:solidFill>
                  <a:srgbClr val="660033"/>
                </a:solidFill>
              </a:rPr>
              <a:t>2</a:t>
            </a:r>
            <a:r>
              <a:rPr lang="zh-CN" altLang="en-US" sz="2800" b="1" dirty="0">
                <a:solidFill>
                  <a:srgbClr val="660033"/>
                </a:solidFill>
              </a:rPr>
              <a:t>号课程的学生姓名</a:t>
            </a:r>
            <a:r>
              <a:rPr lang="zh-CN" altLang="en-US" sz="2800" b="1" dirty="0">
                <a:solidFill>
                  <a:schemeClr val="bg2"/>
                </a:solidFill>
              </a:rPr>
              <a:t>。</a:t>
            </a:r>
          </a:p>
        </p:txBody>
      </p:sp>
      <p:sp>
        <p:nvSpPr>
          <p:cNvPr id="965635" name="Rectangle 3"/>
          <p:cNvSpPr>
            <a:spLocks noChangeArrowheads="1"/>
          </p:cNvSpPr>
          <p:nvPr/>
        </p:nvSpPr>
        <p:spPr bwMode="auto">
          <a:xfrm>
            <a:off x="395536" y="1524442"/>
            <a:ext cx="2520975" cy="193899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SELECT SNAME</a:t>
            </a:r>
          </a:p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FROM S</a:t>
            </a:r>
          </a:p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WHERE SNO </a:t>
            </a:r>
            <a:r>
              <a:rPr lang="en-US" altLang="zh-CN" sz="2000" b="1" dirty="0">
                <a:solidFill>
                  <a:srgbClr val="FF0000"/>
                </a:solidFill>
              </a:rPr>
              <a:t>IN</a:t>
            </a:r>
            <a:r>
              <a:rPr lang="en-US" altLang="zh-CN" sz="2000" b="1" dirty="0">
                <a:solidFill>
                  <a:schemeClr val="bg2"/>
                </a:solidFill>
              </a:rPr>
              <a:t> </a:t>
            </a:r>
          </a:p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( </a:t>
            </a:r>
            <a:r>
              <a:rPr lang="en-US" altLang="zh-CN" sz="2000" b="1" dirty="0">
                <a:solidFill>
                  <a:schemeClr val="bg1"/>
                </a:solidFill>
              </a:rPr>
              <a:t>SELECT SNO </a:t>
            </a:r>
          </a:p>
          <a:p>
            <a:pPr algn="just"/>
            <a:r>
              <a:rPr lang="en-US" altLang="zh-CN" sz="2000" b="1" dirty="0">
                <a:solidFill>
                  <a:schemeClr val="bg1"/>
                </a:solidFill>
              </a:rPr>
              <a:t>FROM SC</a:t>
            </a:r>
          </a:p>
          <a:p>
            <a:pPr algn="just"/>
            <a:r>
              <a:rPr lang="en-US" altLang="zh-CN" sz="2000" b="1" dirty="0">
                <a:solidFill>
                  <a:schemeClr val="bg1"/>
                </a:solidFill>
              </a:rPr>
              <a:t>WHERE CNO=</a:t>
            </a:r>
            <a:r>
              <a:rPr lang="zh-CN" altLang="en-US" sz="2000" b="1" dirty="0">
                <a:solidFill>
                  <a:schemeClr val="bg1"/>
                </a:solidFill>
              </a:rPr>
              <a:t> 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C2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000" b="1" dirty="0">
                <a:solidFill>
                  <a:schemeClr val="bg2"/>
                </a:solidFill>
              </a:rPr>
              <a:t>)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  <a:endParaRPr lang="en-US" altLang="zh-CN" sz="2000" b="1" dirty="0">
              <a:solidFill>
                <a:schemeClr val="bg2"/>
              </a:solidFill>
            </a:endParaRPr>
          </a:p>
        </p:txBody>
      </p:sp>
      <p:sp>
        <p:nvSpPr>
          <p:cNvPr id="965636" name="Rectangle 4"/>
          <p:cNvSpPr>
            <a:spLocks noChangeArrowheads="1"/>
          </p:cNvSpPr>
          <p:nvPr/>
        </p:nvSpPr>
        <p:spPr bwMode="auto">
          <a:xfrm>
            <a:off x="465657" y="5541374"/>
            <a:ext cx="7993063" cy="118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3399"/>
                </a:solidFill>
              </a:rPr>
              <a:t>嵌套查询分类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</a:rPr>
              <a:t>不相关子查询：子查询的查询条件不依赖于父查询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</a:rPr>
              <a:t>相关子查询：子查询的查询条件依赖于父查询</a:t>
            </a:r>
          </a:p>
        </p:txBody>
      </p:sp>
      <p:sp>
        <p:nvSpPr>
          <p:cNvPr id="965637" name="Rectangle 5"/>
          <p:cNvSpPr>
            <a:spLocks noChangeArrowheads="1"/>
          </p:cNvSpPr>
          <p:nvPr/>
        </p:nvSpPr>
        <p:spPr bwMode="auto">
          <a:xfrm>
            <a:off x="5740818" y="1550452"/>
            <a:ext cx="2989328" cy="2062103"/>
          </a:xfrm>
          <a:prstGeom prst="rect">
            <a:avLst/>
          </a:prstGeom>
          <a:solidFill>
            <a:srgbClr val="E7E57F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chemeClr val="bg2"/>
                </a:solidFill>
              </a:rPr>
              <a:t>SELECT SNAME</a:t>
            </a:r>
          </a:p>
          <a:p>
            <a:pPr algn="just"/>
            <a:r>
              <a:rPr lang="en-US" altLang="zh-CN" b="1" dirty="0">
                <a:solidFill>
                  <a:schemeClr val="bg2"/>
                </a:solidFill>
              </a:rPr>
              <a:t>FROM S</a:t>
            </a:r>
          </a:p>
          <a:p>
            <a:pPr algn="just"/>
            <a:r>
              <a:rPr lang="en-US" altLang="zh-CN" b="1" dirty="0">
                <a:solidFill>
                  <a:schemeClr val="bg2"/>
                </a:solidFill>
              </a:rPr>
              <a:t>WHERE </a:t>
            </a:r>
            <a:r>
              <a:rPr lang="en-US" altLang="zh-CN" b="1" dirty="0">
                <a:solidFill>
                  <a:srgbClr val="FF0000"/>
                </a:solidFill>
              </a:rPr>
              <a:t>EXISTS </a:t>
            </a:r>
          </a:p>
          <a:p>
            <a:pPr algn="just"/>
            <a:r>
              <a:rPr lang="en-US" altLang="zh-CN" b="1" dirty="0">
                <a:solidFill>
                  <a:schemeClr val="bg2"/>
                </a:solidFill>
              </a:rPr>
              <a:t>( </a:t>
            </a:r>
            <a:r>
              <a:rPr lang="en-US" altLang="zh-CN" b="1" dirty="0">
                <a:solidFill>
                  <a:schemeClr val="bg1"/>
                </a:solidFill>
              </a:rPr>
              <a:t>SELECT *</a:t>
            </a:r>
          </a:p>
          <a:p>
            <a:pPr algn="just"/>
            <a:r>
              <a:rPr lang="en-US" altLang="zh-CN" b="1" dirty="0">
                <a:solidFill>
                  <a:schemeClr val="bg1"/>
                </a:solidFill>
              </a:rPr>
              <a:t>FROM SC</a:t>
            </a:r>
          </a:p>
          <a:p>
            <a:pPr algn="just"/>
            <a:r>
              <a:rPr lang="en-US" altLang="zh-CN" b="1" dirty="0">
                <a:solidFill>
                  <a:schemeClr val="bg1"/>
                </a:solidFill>
              </a:rPr>
              <a:t>WHERE SNO=S.SNO AND CNO=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b="1" dirty="0">
                <a:solidFill>
                  <a:schemeClr val="bg1"/>
                </a:solidFill>
                <a:latin typeface="Times New Roman" pitchFamily="18" charset="0"/>
              </a:rPr>
              <a:t>C</a:t>
            </a:r>
            <a:r>
              <a:rPr lang="en-US" altLang="zh-CN" b="1" dirty="0">
                <a:solidFill>
                  <a:schemeClr val="bg1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  <a:r>
              <a:rPr lang="en-US" altLang="zh-CN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 </a:t>
            </a:r>
            <a:r>
              <a:rPr lang="en-US" altLang="zh-CN" b="1" dirty="0">
                <a:solidFill>
                  <a:schemeClr val="bg2"/>
                </a:solidFill>
              </a:rPr>
              <a:t>	</a:t>
            </a:r>
          </a:p>
        </p:txBody>
      </p:sp>
      <p:sp>
        <p:nvSpPr>
          <p:cNvPr id="965638" name="Rectangle 6"/>
          <p:cNvSpPr>
            <a:spLocks noChangeArrowheads="1"/>
          </p:cNvSpPr>
          <p:nvPr/>
        </p:nvSpPr>
        <p:spPr bwMode="auto">
          <a:xfrm>
            <a:off x="3068177" y="1550452"/>
            <a:ext cx="2520975" cy="1938992"/>
          </a:xfrm>
          <a:prstGeom prst="rect">
            <a:avLst/>
          </a:prstGeom>
          <a:solidFill>
            <a:srgbClr val="E8FADD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SELECT SNAME</a:t>
            </a:r>
          </a:p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FROM S</a:t>
            </a:r>
          </a:p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WHERE 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'C</a:t>
            </a:r>
            <a:r>
              <a:rPr lang="en-US" altLang="zh-CN" sz="2000" b="1" dirty="0">
                <a:solidFill>
                  <a:schemeClr val="bg2"/>
                </a:solidFill>
              </a:rPr>
              <a:t>2</a:t>
            </a:r>
            <a:r>
              <a:rPr lang="en-US" altLang="zh-CN" sz="20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000" b="1" dirty="0">
                <a:solidFill>
                  <a:schemeClr val="bg2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IN</a:t>
            </a:r>
            <a:r>
              <a:rPr lang="en-US" altLang="zh-CN" sz="2000" b="1" dirty="0">
                <a:solidFill>
                  <a:schemeClr val="bg2"/>
                </a:solidFill>
              </a:rPr>
              <a:t> </a:t>
            </a:r>
          </a:p>
          <a:p>
            <a:pPr algn="just"/>
            <a:r>
              <a:rPr lang="en-US" altLang="zh-CN" sz="2000" b="1" dirty="0">
                <a:solidFill>
                  <a:schemeClr val="bg2"/>
                </a:solidFill>
              </a:rPr>
              <a:t>( </a:t>
            </a:r>
            <a:r>
              <a:rPr lang="en-US" altLang="zh-CN" sz="2000" b="1" dirty="0">
                <a:solidFill>
                  <a:schemeClr val="bg1"/>
                </a:solidFill>
              </a:rPr>
              <a:t>SELECT CNO </a:t>
            </a:r>
          </a:p>
          <a:p>
            <a:pPr algn="just"/>
            <a:r>
              <a:rPr lang="en-US" altLang="zh-CN" sz="2000" b="1" dirty="0">
                <a:solidFill>
                  <a:schemeClr val="bg1"/>
                </a:solidFill>
              </a:rPr>
              <a:t>FROM SC</a:t>
            </a:r>
          </a:p>
          <a:p>
            <a:pPr algn="just"/>
            <a:r>
              <a:rPr lang="en-US" altLang="zh-CN" sz="2000" b="1" dirty="0">
                <a:solidFill>
                  <a:schemeClr val="bg1"/>
                </a:solidFill>
              </a:rPr>
              <a:t>WHERE SNO=S.SNO</a:t>
            </a:r>
            <a:r>
              <a:rPr lang="en-US" altLang="zh-CN" sz="2000" b="1" dirty="0">
                <a:solidFill>
                  <a:schemeClr val="bg2"/>
                </a:solidFill>
              </a:rPr>
              <a:t>)</a:t>
            </a:r>
            <a:r>
              <a:rPr lang="en-US" altLang="zh-CN" sz="20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  <a:endParaRPr lang="en-US" altLang="zh-CN" sz="2000" b="1" dirty="0">
              <a:solidFill>
                <a:schemeClr val="bg2"/>
              </a:solidFill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095DE9EC-B905-C4DB-BBE2-C76D213AB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79" y="3595217"/>
            <a:ext cx="1785366" cy="1740507"/>
          </a:xfrm>
          <a:prstGeom prst="rect">
            <a:avLst/>
          </a:prstGeom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E2EF78EB-8066-9D71-DD3E-35A122AEA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482" y="3724734"/>
            <a:ext cx="2338000" cy="1610990"/>
          </a:xfrm>
          <a:prstGeom prst="rect">
            <a:avLst/>
          </a:prstGeom>
        </p:spPr>
      </p:pic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18393823-A198-0B17-2B33-74AD95F2C5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359" y="3726432"/>
            <a:ext cx="1823608" cy="1610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96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6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6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35" grpId="0" animBg="1"/>
      <p:bldP spid="965636" grpId="0"/>
      <p:bldP spid="965637" grpId="0" animBg="1"/>
      <p:bldP spid="96563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58639"/>
            <a:ext cx="7772400" cy="584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</a:rPr>
              <a:t>、</a:t>
            </a:r>
            <a:r>
              <a:rPr lang="zh-CN" altLang="en-US" sz="2800" b="1" dirty="0">
                <a:solidFill>
                  <a:srgbClr val="660033"/>
                </a:solidFill>
              </a:rPr>
              <a:t>查询与“李名”在同一个系学习的学生</a:t>
            </a:r>
            <a:r>
              <a:rPr lang="zh-CN" altLang="en-US" sz="2800" b="1" dirty="0">
                <a:solidFill>
                  <a:schemeClr val="bg2"/>
                </a:solidFill>
              </a:rPr>
              <a:t>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966660" name="Rectangle 4"/>
          <p:cNvSpPr>
            <a:spLocks noChangeArrowheads="1"/>
          </p:cNvSpPr>
          <p:nvPr/>
        </p:nvSpPr>
        <p:spPr bwMode="auto">
          <a:xfrm>
            <a:off x="107950" y="2587354"/>
            <a:ext cx="5185196" cy="2788456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SNO, SNAME, SDEPT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WHERE SDEPT </a:t>
            </a:r>
            <a:r>
              <a:rPr lang="en-US" altLang="zh-CN" sz="2400" b="1" dirty="0">
                <a:solidFill>
                  <a:schemeClr val="bg1"/>
                </a:solidFill>
              </a:rPr>
              <a:t>IN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(SELECT SDEPT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WHERE SNAME=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zh-CN" altLang="en-US" sz="2400" b="1" dirty="0">
                <a:solidFill>
                  <a:schemeClr val="bg2"/>
                </a:solidFill>
                <a:sym typeface="Symbol" pitchFamily="2" charset="2"/>
              </a:rPr>
              <a:t>李名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CAA7B1-EDC1-B1BD-C322-785D61569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146" y="2592362"/>
            <a:ext cx="3743064" cy="278845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92B8932-C6BF-B447-B970-826F87751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0200"/>
            <a:ext cx="8928100" cy="938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6700" indent="-266700" eaLnBrk="1" hangingPunct="1">
              <a:lnSpc>
                <a:spcPct val="150000"/>
              </a:lnSpc>
            </a:pPr>
            <a:r>
              <a:rPr lang="zh-CN" altLang="en-US" b="1" kern="0" dirty="0">
                <a:solidFill>
                  <a:srgbClr val="000066"/>
                </a:solidFill>
              </a:rPr>
              <a:t>带有</a:t>
            </a:r>
            <a:r>
              <a:rPr lang="en-US" altLang="zh-CN" b="1" kern="0" dirty="0">
                <a:solidFill>
                  <a:srgbClr val="000066"/>
                </a:solidFill>
              </a:rPr>
              <a:t>IN</a:t>
            </a:r>
            <a:r>
              <a:rPr lang="zh-CN" altLang="en-US" b="1" kern="0" dirty="0">
                <a:solidFill>
                  <a:srgbClr val="000066"/>
                </a:solidFill>
              </a:rPr>
              <a:t>谓词的子查询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6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6659" grpId="0" build="p"/>
      <p:bldP spid="96666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D415FC4A-A6D0-00A2-8E34-02D3448A8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620688"/>
            <a:ext cx="77724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2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、</a:t>
            </a:r>
            <a:r>
              <a:rPr lang="zh-CN" altLang="en-US" sz="2800" b="1" dirty="0">
                <a:solidFill>
                  <a:srgbClr val="660033"/>
                </a:solidFill>
                <a:latin typeface="Times New Roman" pitchFamily="18" charset="0"/>
              </a:rPr>
              <a:t>查询没有选修</a:t>
            </a:r>
            <a:r>
              <a:rPr lang="en-US" altLang="zh-CN" sz="2800" b="1" dirty="0">
                <a:solidFill>
                  <a:srgbClr val="660033"/>
                </a:solidFill>
                <a:latin typeface="Times New Roman" pitchFamily="18" charset="0"/>
              </a:rPr>
              <a:t>1</a:t>
            </a:r>
            <a:r>
              <a:rPr lang="zh-CN" altLang="en-US" sz="2800" b="1" dirty="0">
                <a:solidFill>
                  <a:srgbClr val="660033"/>
                </a:solidFill>
                <a:latin typeface="Times New Roman" pitchFamily="18" charset="0"/>
              </a:rPr>
              <a:t>号课程的学生姓名。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8F2A08B-A8AC-45C1-78A5-8D4C09D35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2" y="1219691"/>
            <a:ext cx="6264275" cy="1828193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SNAME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WHERE SNO NOT </a:t>
            </a:r>
            <a:r>
              <a:rPr lang="en-US" altLang="zh-CN" sz="2400" b="1" dirty="0">
                <a:solidFill>
                  <a:schemeClr val="bg1"/>
                </a:solidFill>
              </a:rPr>
              <a:t>IN</a:t>
            </a: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(SELECT SNO FROM SC WHERE CNO=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 '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2" charset="2"/>
              </a:rPr>
              <a:t>C1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  <a:endParaRPr lang="en-US" altLang="zh-CN" sz="2400" b="1" dirty="0">
              <a:solidFill>
                <a:schemeClr val="bg2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D42B84-A798-BB6F-5DFD-6E5AD36F19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294" y="3140968"/>
            <a:ext cx="3567410" cy="356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9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754" name="Rectangle 2">
            <a:extLst>
              <a:ext uri="{FF2B5EF4-FFF2-40B4-BE49-F238E27FC236}">
                <a16:creationId xmlns:a16="http://schemas.microsoft.com/office/drawing/2014/main" id="{41B041BA-5395-994D-8944-DDAEFB274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11250"/>
            <a:ext cx="8891588" cy="3416320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chemeClr val="bg2"/>
                </a:solidFill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</a:rPr>
              <a:t>S.SNO,SNAME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FROM S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SNO </a:t>
            </a:r>
            <a:r>
              <a:rPr lang="en-US" altLang="zh-CN" sz="2400" b="1" dirty="0">
                <a:solidFill>
                  <a:schemeClr val="bg2"/>
                </a:solidFill>
              </a:rPr>
              <a:t>IN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SNO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  FROM SC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   WHERE </a:t>
            </a:r>
            <a:r>
              <a:rPr lang="en-US" altLang="zh-CN" sz="2400" b="1" dirty="0">
                <a:solidFill>
                  <a:srgbClr val="660033"/>
                </a:solidFill>
              </a:rPr>
              <a:t>CNO</a:t>
            </a:r>
            <a:r>
              <a:rPr lang="en-US" altLang="zh-CN" sz="2400" b="1" dirty="0">
                <a:solidFill>
                  <a:schemeClr val="bg2"/>
                </a:solidFill>
              </a:rPr>
              <a:t> IN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      (SELECT </a:t>
            </a:r>
            <a:r>
              <a:rPr lang="en-US" altLang="zh-CN" sz="2400" b="1" dirty="0">
                <a:solidFill>
                  <a:srgbClr val="660033"/>
                </a:solidFill>
              </a:rPr>
              <a:t>CNO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        FROM  C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        WHERE</a:t>
            </a:r>
            <a:r>
              <a:rPr lang="en-US" altLang="zh-CN" sz="2400" b="1" dirty="0">
                <a:solidFill>
                  <a:schemeClr val="bg1"/>
                </a:solidFill>
              </a:rPr>
              <a:t> CNAME=</a:t>
            </a: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sym typeface="Symbol" pitchFamily="2" charset="2"/>
              </a:rPr>
              <a:t>'</a:t>
            </a:r>
            <a:r>
              <a:rPr lang="zh-CN" altLang="en-US" sz="2400" b="1" dirty="0">
                <a:solidFill>
                  <a:srgbClr val="660033"/>
                </a:solidFill>
              </a:rPr>
              <a:t>高等数学</a:t>
            </a:r>
            <a:r>
              <a:rPr lang="en-US" altLang="zh-CN" sz="2400" b="1" dirty="0">
                <a:solidFill>
                  <a:schemeClr val="bg2"/>
                </a:solidFill>
                <a:sym typeface="Symbol" pitchFamily="2" charset="2"/>
              </a:rPr>
              <a:t>'</a:t>
            </a:r>
            <a:r>
              <a:rPr lang="zh-CN" altLang="en-US" sz="2400" b="1" dirty="0">
                <a:solidFill>
                  <a:schemeClr val="bg2"/>
                </a:solidFill>
                <a:sym typeface="Symbol" pitchFamily="2" charset="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)); 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648D45B-AA5A-D648-9A6D-755387AB2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-100013"/>
            <a:ext cx="842486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3-1.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检索选修课程名为</a:t>
            </a:r>
            <a:r>
              <a:rPr lang="zh-CN" altLang="en-US" sz="2400" b="1" dirty="0">
                <a:solidFill>
                  <a:schemeClr val="bg2"/>
                </a:solidFill>
              </a:rPr>
              <a:t>“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高等数学</a:t>
            </a:r>
            <a:r>
              <a:rPr lang="zh-CN" altLang="en-US" sz="2400" b="1" dirty="0">
                <a:solidFill>
                  <a:schemeClr val="bg2"/>
                </a:solidFill>
              </a:rPr>
              <a:t>”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的学生的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学号和姓名。</a:t>
            </a:r>
          </a:p>
        </p:txBody>
      </p:sp>
      <p:sp>
        <p:nvSpPr>
          <p:cNvPr id="970756" name="Text Box 4">
            <a:extLst>
              <a:ext uri="{FF2B5EF4-FFF2-40B4-BE49-F238E27FC236}">
                <a16:creationId xmlns:a16="http://schemas.microsoft.com/office/drawing/2014/main" id="{99650DFF-FE5A-FA4C-A288-C5272DD00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3309938"/>
            <a:ext cx="5400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- -</a:t>
            </a:r>
            <a:r>
              <a:rPr lang="zh-CN" altLang="en-US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首先在</a:t>
            </a:r>
            <a:r>
              <a:rPr lang="en-US" altLang="zh-CN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表中找出</a:t>
            </a:r>
            <a:r>
              <a:rPr lang="zh-CN" altLang="en-US" sz="2000" b="1" dirty="0">
                <a:solidFill>
                  <a:srgbClr val="660033"/>
                </a:solidFill>
              </a:rPr>
              <a:t>高等数学</a:t>
            </a:r>
            <a:r>
              <a:rPr lang="zh-CN" altLang="en-US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课程的课程号</a:t>
            </a:r>
          </a:p>
        </p:txBody>
      </p:sp>
      <p:sp>
        <p:nvSpPr>
          <p:cNvPr id="970757" name="Text Box 5">
            <a:extLst>
              <a:ext uri="{FF2B5EF4-FFF2-40B4-BE49-F238E27FC236}">
                <a16:creationId xmlns:a16="http://schemas.microsoft.com/office/drawing/2014/main" id="{E521F101-5B5E-3942-A145-B4132BD36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265363"/>
            <a:ext cx="5508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660033"/>
                </a:solidFill>
                <a:latin typeface="宋体" panose="02010600030101010101" pitchFamily="2" charset="-122"/>
              </a:rPr>
              <a:t>- -</a:t>
            </a:r>
            <a:r>
              <a:rPr lang="zh-CN" altLang="en-US" sz="2000" b="1">
                <a:solidFill>
                  <a:srgbClr val="660033"/>
                </a:solidFill>
                <a:latin typeface="宋体" panose="02010600030101010101" pitchFamily="2" charset="-122"/>
              </a:rPr>
              <a:t>然后在</a:t>
            </a:r>
            <a:r>
              <a:rPr lang="en-US" altLang="zh-CN" sz="2000" b="1">
                <a:solidFill>
                  <a:srgbClr val="660033"/>
                </a:solidFill>
                <a:latin typeface="宋体" panose="02010600030101010101" pitchFamily="2" charset="-122"/>
              </a:rPr>
              <a:t>SC</a:t>
            </a:r>
            <a:r>
              <a:rPr lang="zh-CN" altLang="en-US" sz="2000" b="1">
                <a:solidFill>
                  <a:srgbClr val="660033"/>
                </a:solidFill>
                <a:latin typeface="宋体" panose="02010600030101010101" pitchFamily="2" charset="-122"/>
              </a:rPr>
              <a:t>表中找出选了该课程的学生的学号</a:t>
            </a:r>
          </a:p>
        </p:txBody>
      </p:sp>
      <p:sp>
        <p:nvSpPr>
          <p:cNvPr id="970758" name="Text Box 6">
            <a:extLst>
              <a:ext uri="{FF2B5EF4-FFF2-40B4-BE49-F238E27FC236}">
                <a16:creationId xmlns:a16="http://schemas.microsoft.com/office/drawing/2014/main" id="{BB20CB01-A724-CF4E-B956-76A26A2D2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196975"/>
            <a:ext cx="56515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solidFill>
                  <a:srgbClr val="660033"/>
                </a:solidFill>
                <a:latin typeface="宋体" panose="02010600030101010101" pitchFamily="2" charset="-122"/>
              </a:rPr>
              <a:t>- -</a:t>
            </a:r>
            <a:r>
              <a:rPr lang="zh-CN" altLang="en-US" sz="2000" b="1">
                <a:solidFill>
                  <a:srgbClr val="660033"/>
                </a:solidFill>
                <a:latin typeface="宋体" panose="02010600030101010101" pitchFamily="2" charset="-122"/>
              </a:rPr>
              <a:t>最后在</a:t>
            </a:r>
            <a:r>
              <a:rPr lang="en-US" altLang="zh-CN" sz="2000" b="1">
                <a:solidFill>
                  <a:srgbClr val="660033"/>
                </a:solidFill>
                <a:latin typeface="宋体" panose="02010600030101010101" pitchFamily="2" charset="-122"/>
              </a:rPr>
              <a:t>S</a:t>
            </a:r>
            <a:r>
              <a:rPr lang="zh-CN" altLang="en-US" sz="2000" b="1">
                <a:solidFill>
                  <a:srgbClr val="660033"/>
                </a:solidFill>
                <a:latin typeface="宋体" panose="02010600030101010101" pitchFamily="2" charset="-122"/>
              </a:rPr>
              <a:t>表中找出这些学生的姓名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A5833EA7-64C4-63EE-C926-C9344937C5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341" y="4644923"/>
            <a:ext cx="2878956" cy="203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7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7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7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70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0754" grpId="0" animBg="1"/>
      <p:bldP spid="970756" grpId="0"/>
      <p:bldP spid="970757" grpId="0"/>
      <p:bldP spid="97075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2009" y="640311"/>
            <a:ext cx="8064499" cy="5760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660033"/>
                </a:solidFill>
              </a:rPr>
              <a:t>3-2</a:t>
            </a:r>
            <a:r>
              <a:rPr lang="zh-CN" altLang="en-US" sz="2400" b="1" dirty="0">
                <a:solidFill>
                  <a:srgbClr val="660033"/>
                </a:solidFill>
              </a:rPr>
              <a:t>、查询选修了课程名为“数据结构”的学生学号和姓名</a:t>
            </a:r>
          </a:p>
        </p:txBody>
      </p:sp>
      <p:sp>
        <p:nvSpPr>
          <p:cNvPr id="969733" name="Rectangle 5"/>
          <p:cNvSpPr>
            <a:spLocks noChangeArrowheads="1"/>
          </p:cNvSpPr>
          <p:nvPr/>
        </p:nvSpPr>
        <p:spPr bwMode="auto">
          <a:xfrm>
            <a:off x="539948" y="1504406"/>
            <a:ext cx="8064500" cy="42288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SNO, SNAME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WHERE SNO IN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(SELECT SNO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FROM  SC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WHERE  CNO IN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 (SELECT CNO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  FROM C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  WHERE CNAME=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zh-CN" altLang="en-US" sz="2400" b="1" dirty="0">
                <a:solidFill>
                  <a:schemeClr val="bg2"/>
                </a:solidFill>
              </a:rPr>
              <a:t>数据结构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B708713-F6F7-F90E-AC76-374764E1D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258" y="1576414"/>
            <a:ext cx="3916303" cy="22017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6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1" grpId="0" build="p"/>
      <p:bldP spid="969733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628800"/>
            <a:ext cx="8208912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Apple Symbols" panose="02000000000000000000" pitchFamily="2" charset="-79"/>
              <a:buChar char="⎼"/>
            </a:pP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</a:rPr>
              <a:t>使用范围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当能确切知道内层查询返回单值时，</a:t>
            </a:r>
            <a:endParaRPr lang="en-US" altLang="zh-CN" b="1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可用比较运算符（</a:t>
            </a:r>
            <a:r>
              <a:rPr lang="en-US" altLang="zh-CN" b="1" dirty="0">
                <a:solidFill>
                  <a:schemeClr val="bg2"/>
                </a:solidFill>
              </a:rPr>
              <a:t>&gt;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dirty="0">
                <a:solidFill>
                  <a:schemeClr val="bg2"/>
                </a:solidFill>
              </a:rPr>
              <a:t>&lt;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dirty="0">
                <a:solidFill>
                  <a:schemeClr val="bg2"/>
                </a:solidFill>
              </a:rPr>
              <a:t>=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dirty="0">
                <a:solidFill>
                  <a:schemeClr val="bg2"/>
                </a:solidFill>
              </a:rPr>
              <a:t>&gt;=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dirty="0">
                <a:solidFill>
                  <a:schemeClr val="bg2"/>
                </a:solidFill>
              </a:rPr>
              <a:t>&lt;=</a:t>
            </a:r>
            <a:r>
              <a:rPr lang="zh-CN" altLang="en-US" b="1" dirty="0">
                <a:solidFill>
                  <a:schemeClr val="bg2"/>
                </a:solidFill>
              </a:rPr>
              <a:t>，</a:t>
            </a:r>
            <a:r>
              <a:rPr lang="en-US" altLang="zh-CN" b="1" dirty="0">
                <a:solidFill>
                  <a:schemeClr val="bg2"/>
                </a:solidFill>
              </a:rPr>
              <a:t>!=</a:t>
            </a:r>
            <a:r>
              <a:rPr lang="zh-CN" altLang="en-US" b="1" dirty="0">
                <a:solidFill>
                  <a:schemeClr val="bg2"/>
                </a:solidFill>
              </a:rPr>
              <a:t>或</a:t>
            </a:r>
            <a:r>
              <a:rPr lang="en-US" altLang="zh-CN" b="1" dirty="0">
                <a:solidFill>
                  <a:schemeClr val="bg2"/>
                </a:solidFill>
              </a:rPr>
              <a:t>&lt; &gt;</a:t>
            </a:r>
            <a:r>
              <a:rPr lang="zh-CN" altLang="en-US" b="1" dirty="0">
                <a:solidFill>
                  <a:schemeClr val="bg2"/>
                </a:solidFill>
              </a:rPr>
              <a:t>）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与</a:t>
            </a:r>
            <a:r>
              <a:rPr lang="en-US" altLang="zh-CN" b="1" dirty="0">
                <a:solidFill>
                  <a:schemeClr val="bg2"/>
                </a:solidFill>
              </a:rPr>
              <a:t>ANY</a:t>
            </a:r>
            <a:r>
              <a:rPr lang="zh-CN" altLang="en-US" b="1" dirty="0">
                <a:solidFill>
                  <a:schemeClr val="bg2"/>
                </a:solidFill>
              </a:rPr>
              <a:t>或</a:t>
            </a:r>
            <a:r>
              <a:rPr lang="en-US" altLang="zh-CN" b="1" dirty="0">
                <a:solidFill>
                  <a:schemeClr val="bg2"/>
                </a:solidFill>
              </a:rPr>
              <a:t>ALL</a:t>
            </a:r>
            <a:r>
              <a:rPr lang="zh-CN" altLang="en-US" b="1" dirty="0">
                <a:solidFill>
                  <a:schemeClr val="bg2"/>
                </a:solidFill>
              </a:rPr>
              <a:t>谓词配合使用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350C159-EDE0-FA4B-B1B2-F6B2FC822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0200"/>
            <a:ext cx="8928100" cy="938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6700" indent="-266700" eaLnBrk="1" hangingPunct="1">
              <a:lnSpc>
                <a:spcPct val="150000"/>
              </a:lnSpc>
            </a:pPr>
            <a:r>
              <a:rPr lang="zh-CN" altLang="en-US" b="1" kern="0" dirty="0">
                <a:solidFill>
                  <a:srgbClr val="000066"/>
                </a:solidFill>
              </a:rPr>
              <a:t>带有比较运算符的子查询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7772400" cy="2303463"/>
          </a:xfrm>
        </p:spPr>
        <p:txBody>
          <a:bodyPr/>
          <a:lstStyle/>
          <a:p>
            <a:pPr eaLnBrk="1" hangingPunct="1">
              <a:lnSpc>
                <a:spcPct val="130000"/>
              </a:lnSpc>
              <a:spcBef>
                <a:spcPts val="0"/>
              </a:spcBef>
              <a:buFont typeface="Apple Symbols" panose="02000000000000000000" pitchFamily="2" charset="-79"/>
              <a:buChar char="⎼"/>
            </a:pPr>
            <a:r>
              <a:rPr lang="zh-CN" altLang="en-US" sz="2800" b="1" dirty="0">
                <a:solidFill>
                  <a:schemeClr val="bg2"/>
                </a:solidFill>
              </a:rPr>
              <a:t>谓词语义</a:t>
            </a:r>
          </a:p>
          <a:p>
            <a:pPr lvl="1" eaLnBrk="1" hangingPunct="1">
              <a:lnSpc>
                <a:spcPct val="130000"/>
              </a:lnSpc>
              <a:spcBef>
                <a:spcPts val="0"/>
              </a:spcBef>
              <a:buFont typeface="Apple Symbols" panose="02000000000000000000" pitchFamily="2" charset="-79"/>
              <a:buChar char="⎼"/>
            </a:pPr>
            <a:r>
              <a:rPr lang="en-US" altLang="zh-CN" b="1" dirty="0">
                <a:solidFill>
                  <a:schemeClr val="bg1"/>
                </a:solidFill>
              </a:rPr>
              <a:t>ANY</a:t>
            </a:r>
            <a:r>
              <a:rPr lang="zh-CN" altLang="en-US" b="1" dirty="0">
                <a:solidFill>
                  <a:schemeClr val="bg2"/>
                </a:solidFill>
              </a:rPr>
              <a:t>：任意一个值	</a:t>
            </a:r>
            <a:r>
              <a:rPr lang="en-US" altLang="zh-CN" b="1" dirty="0">
                <a:solidFill>
                  <a:schemeClr val="bg1"/>
                </a:solidFill>
              </a:rPr>
              <a:t>ALL</a:t>
            </a:r>
            <a:r>
              <a:rPr lang="zh-CN" altLang="en-US" b="1" dirty="0">
                <a:solidFill>
                  <a:schemeClr val="bg2"/>
                </a:solidFill>
              </a:rPr>
              <a:t>：所有值</a:t>
            </a:r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468313" y="2204864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Apple Symbols" panose="02000000000000000000" pitchFamily="2" charset="-79"/>
              <a:buChar char="⎼"/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需要配合使用比较运算符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endParaRPr lang="zh-CN" altLang="en-US" sz="24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19BEB5B-9702-624F-930C-C2AEE11CB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2658"/>
            <a:ext cx="8928100" cy="938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66700" indent="-266700" eaLnBrk="1" hangingPunct="1">
              <a:lnSpc>
                <a:spcPct val="150000"/>
              </a:lnSpc>
            </a:pPr>
            <a:r>
              <a:rPr lang="zh-CN" altLang="en-US" b="1" kern="0" dirty="0">
                <a:solidFill>
                  <a:srgbClr val="000066"/>
                </a:solidFill>
              </a:rPr>
              <a:t>带有</a:t>
            </a:r>
            <a:r>
              <a:rPr lang="en-US" altLang="zh-CN" b="1" kern="0" dirty="0">
                <a:solidFill>
                  <a:srgbClr val="000066"/>
                </a:solidFill>
              </a:rPr>
              <a:t>ANY</a:t>
            </a:r>
            <a:r>
              <a:rPr lang="zh-CN" altLang="en-US" b="1" kern="0" dirty="0">
                <a:solidFill>
                  <a:srgbClr val="000066"/>
                </a:solidFill>
              </a:rPr>
              <a:t>或</a:t>
            </a:r>
            <a:r>
              <a:rPr lang="en-US" altLang="zh-CN" b="1" kern="0" dirty="0">
                <a:solidFill>
                  <a:srgbClr val="000066"/>
                </a:solidFill>
              </a:rPr>
              <a:t>ALL</a:t>
            </a:r>
            <a:r>
              <a:rPr lang="zh-CN" altLang="en-US" b="1" kern="0" dirty="0">
                <a:solidFill>
                  <a:srgbClr val="000066"/>
                </a:solidFill>
              </a:rPr>
              <a:t>谓词的子查询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8E6F18-DE17-1A45-876B-75EB439D1FD7}"/>
              </a:ext>
            </a:extLst>
          </p:cNvPr>
          <p:cNvSpPr txBox="1"/>
          <p:nvPr/>
        </p:nvSpPr>
        <p:spPr>
          <a:xfrm>
            <a:off x="619224" y="2852936"/>
            <a:ext cx="82012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&gt; ANY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大于子查询结果中的某个值      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&gt; ALL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大于子查询结果中的所有值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&lt; ANY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小于子查询结果中的某个值   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&lt; ALL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小于子查询结果中的所有值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&gt;= ANY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大于等于子查询结果中的某个值   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&gt;= ALL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大于等于子查询结果中的所有值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&lt;= ANY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zh-CN" altLang="en-US" b="1" dirty="0">
                <a:solidFill>
                  <a:schemeClr val="bg2"/>
                </a:solidFill>
                <a:latin typeface="Times New Roman" pitchFamily="18" charset="0"/>
              </a:rPr>
              <a:t>         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小于等于子查询结果中的某个值   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&lt;= ALL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         小于等于子查询结果中的所有值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= ANY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          等于子查询结果中的某个值        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=ALL	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          等于子查询结果中的所有值（通常没有实际意义）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!=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（或</a:t>
            </a: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&lt;&gt;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）</a:t>
            </a: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ANY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     不等于子查询结果中的某个值</a:t>
            </a:r>
          </a:p>
          <a:p>
            <a:pPr marL="990600" lvl="1" indent="-53340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宋体" charset="-122"/>
              <a:buNone/>
            </a:pP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!=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（或</a:t>
            </a: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&lt;&gt;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）</a:t>
            </a:r>
            <a:r>
              <a:rPr lang="en-US" altLang="zh-CN" sz="1800" b="1" dirty="0">
                <a:solidFill>
                  <a:schemeClr val="bg2"/>
                </a:solidFill>
                <a:latin typeface="Times New Roman" pitchFamily="18" charset="0"/>
              </a:rPr>
              <a:t>ALL</a:t>
            </a:r>
            <a:r>
              <a:rPr lang="zh-CN" altLang="en-US" sz="1800" b="1" dirty="0">
                <a:solidFill>
                  <a:schemeClr val="bg2"/>
                </a:solidFill>
                <a:latin typeface="Times New Roman" pitchFamily="18" charset="0"/>
              </a:rPr>
              <a:t>       不等于子查询结果中的任何一个值</a:t>
            </a:r>
            <a:endParaRPr lang="zh-CN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647" y="260648"/>
            <a:ext cx="8136706" cy="115252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宋体" charset="-122"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例： </a:t>
            </a:r>
            <a:r>
              <a:rPr lang="zh-CN" altLang="en-US" sz="2400" b="1" dirty="0">
                <a:solidFill>
                  <a:srgbClr val="660033"/>
                </a:solidFill>
              </a:rPr>
              <a:t>查询其他系中比计算机系某一学生年龄小的学生姓名和年龄</a:t>
            </a:r>
          </a:p>
          <a:p>
            <a:pPr marL="609600" indent="-609600" eaLnBrk="1" hangingPunct="1">
              <a:lnSpc>
                <a:spcPct val="90000"/>
              </a:lnSpc>
              <a:buFont typeface="宋体" charset="-122"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    </a:t>
            </a:r>
            <a:endParaRPr lang="zh-CN" altLang="en-US" sz="2800" b="1" dirty="0">
              <a:solidFill>
                <a:schemeClr val="bg2"/>
              </a:solidFill>
            </a:endParaRPr>
          </a:p>
        </p:txBody>
      </p:sp>
      <p:sp>
        <p:nvSpPr>
          <p:cNvPr id="977925" name="Rectangle 5"/>
          <p:cNvSpPr>
            <a:spLocks noChangeArrowheads="1"/>
          </p:cNvSpPr>
          <p:nvPr/>
        </p:nvSpPr>
        <p:spPr bwMode="auto">
          <a:xfrm>
            <a:off x="43341" y="1295989"/>
            <a:ext cx="7343775" cy="27392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SNAME, AGE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WHERE AGE &lt; ANY (SELECT AGE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        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            WHERE SDEPT= </a:t>
            </a:r>
            <a:r>
              <a:rPr lang="en-US" altLang="zh-CN" sz="2000" b="1" dirty="0">
                <a:solidFill>
                  <a:schemeClr val="bg1"/>
                </a:solidFill>
              </a:rPr>
              <a:t>'</a:t>
            </a:r>
            <a:r>
              <a:rPr lang="en-US" altLang="zh-CN" sz="2000" b="1" dirty="0">
                <a:solidFill>
                  <a:schemeClr val="bg2"/>
                </a:solidFill>
              </a:rPr>
              <a:t>CS')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 </a:t>
            </a:r>
            <a:r>
              <a:rPr lang="en-US" altLang="zh-CN" sz="2000" b="1" dirty="0">
                <a:solidFill>
                  <a:schemeClr val="bg1"/>
                </a:solidFill>
              </a:rPr>
              <a:t>AND SDEPT &lt;&gt; 'CS'</a:t>
            </a:r>
            <a:r>
              <a:rPr lang="en-US" altLang="zh-CN" sz="2000" b="1" dirty="0">
                <a:solidFill>
                  <a:schemeClr val="bg2"/>
                </a:solidFill>
              </a:rPr>
              <a:t> ; 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/* </a:t>
            </a:r>
            <a:r>
              <a:rPr lang="zh-CN" altLang="en-US" sz="2000" b="1" dirty="0">
                <a:solidFill>
                  <a:schemeClr val="bg2"/>
                </a:solidFill>
              </a:rPr>
              <a:t>注意这是父查询块中的条件 *</a:t>
            </a:r>
            <a:r>
              <a:rPr lang="en-US" altLang="zh-CN" sz="2000" b="1" dirty="0">
                <a:solidFill>
                  <a:schemeClr val="bg2"/>
                </a:solidFill>
              </a:rPr>
              <a:t>/</a:t>
            </a:r>
          </a:p>
        </p:txBody>
      </p:sp>
      <p:sp>
        <p:nvSpPr>
          <p:cNvPr id="977926" name="Rectangle 6"/>
          <p:cNvSpPr>
            <a:spLocks noChangeArrowheads="1"/>
          </p:cNvSpPr>
          <p:nvPr/>
        </p:nvSpPr>
        <p:spPr bwMode="auto">
          <a:xfrm>
            <a:off x="43341" y="4227842"/>
            <a:ext cx="7343775" cy="1938992"/>
          </a:xfrm>
          <a:prstGeom prst="rect">
            <a:avLst/>
          </a:prstGeom>
          <a:solidFill>
            <a:srgbClr val="E8FADD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SNAME, AGE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WHERE SDEPT != </a:t>
            </a:r>
            <a:r>
              <a:rPr lang="en-US" altLang="zh-CN" sz="2000" b="1" dirty="0">
                <a:solidFill>
                  <a:schemeClr val="bg1"/>
                </a:solidFill>
              </a:rPr>
              <a:t>'CS'</a:t>
            </a:r>
            <a:r>
              <a:rPr lang="en-US" altLang="zh-CN" sz="2000" b="1" dirty="0">
                <a:solidFill>
                  <a:schemeClr val="bg2"/>
                </a:solidFill>
              </a:rPr>
              <a:t> AND AGE &lt;(SELECT MAX(AGE)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				</a:t>
            </a:r>
            <a:r>
              <a:rPr lang="zh-CN" altLang="en-US" sz="2000" b="1" dirty="0">
                <a:solidFill>
                  <a:schemeClr val="bg2"/>
                </a:solidFill>
              </a:rPr>
              <a:t>   </a:t>
            </a:r>
            <a:r>
              <a:rPr lang="en-US" altLang="zh-CN" sz="2000" b="1" dirty="0">
                <a:solidFill>
                  <a:schemeClr val="bg2"/>
                </a:solidFill>
              </a:rPr>
              <a:t>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			</a:t>
            </a:r>
            <a:r>
              <a:rPr lang="zh-CN" altLang="en-US" sz="2000" b="1" dirty="0">
                <a:solidFill>
                  <a:schemeClr val="bg2"/>
                </a:solidFill>
              </a:rPr>
              <a:t>          </a:t>
            </a:r>
            <a:r>
              <a:rPr lang="en-US" altLang="zh-CN" sz="2000" b="1" dirty="0">
                <a:solidFill>
                  <a:schemeClr val="bg2"/>
                </a:solidFill>
              </a:rPr>
              <a:t>WHERE SDEPT=</a:t>
            </a:r>
            <a:r>
              <a:rPr lang="en-US" altLang="zh-CN" sz="2000" b="1" dirty="0">
                <a:solidFill>
                  <a:schemeClr val="bg1"/>
                </a:solidFill>
              </a:rPr>
              <a:t> 'CS'</a:t>
            </a:r>
            <a:r>
              <a:rPr lang="en-US" altLang="zh-CN" sz="2000" b="1" dirty="0">
                <a:solidFill>
                  <a:schemeClr val="bg2"/>
                </a:solidFill>
              </a:rPr>
              <a:t>);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14CFBC8E-B36A-3DA4-51D3-AD2136245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086" y="1295989"/>
            <a:ext cx="3502854" cy="2739211"/>
          </a:xfrm>
          <a:prstGeom prst="rect">
            <a:avLst/>
          </a:prstGeom>
        </p:spPr>
      </p:pic>
      <p:pic>
        <p:nvPicPr>
          <p:cNvPr id="5" name="图片 4" descr="图片包含 图示&#10;&#10;描述已自动生成">
            <a:extLst>
              <a:ext uri="{FF2B5EF4-FFF2-40B4-BE49-F238E27FC236}">
                <a16:creationId xmlns:a16="http://schemas.microsoft.com/office/drawing/2014/main" id="{39CCC031-DFB0-2D58-C8A9-C77251FA2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699" y="4223860"/>
            <a:ext cx="2207901" cy="1918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7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7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7923" grpId="0" build="p"/>
      <p:bldP spid="977925" grpId="0" animBg="1"/>
      <p:bldP spid="97792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549275"/>
            <a:ext cx="7772400" cy="1960563"/>
          </a:xfrm>
        </p:spPr>
        <p:txBody>
          <a:bodyPr/>
          <a:lstStyle/>
          <a:p>
            <a:pPr marL="609600" indent="-609600" eaLnBrk="1" hangingPunct="1">
              <a:buFont typeface="宋体" charset="-122"/>
              <a:buChar char="●"/>
            </a:pPr>
            <a:r>
              <a:rPr lang="en-US" altLang="zh-CN" sz="2800" b="1" dirty="0">
                <a:solidFill>
                  <a:schemeClr val="bg2"/>
                </a:solidFill>
              </a:rPr>
              <a:t>ANY</a:t>
            </a:r>
            <a:r>
              <a:rPr lang="zh-CN" altLang="en-US" sz="2800" b="1" dirty="0">
                <a:solidFill>
                  <a:schemeClr val="bg2"/>
                </a:solidFill>
              </a:rPr>
              <a:t>和</a:t>
            </a:r>
            <a:r>
              <a:rPr lang="en-US" altLang="zh-CN" sz="2800" b="1" dirty="0">
                <a:solidFill>
                  <a:schemeClr val="bg2"/>
                </a:solidFill>
              </a:rPr>
              <a:t>ALL</a:t>
            </a:r>
            <a:r>
              <a:rPr lang="zh-CN" altLang="en-US" sz="2800" b="1" dirty="0">
                <a:solidFill>
                  <a:schemeClr val="bg2"/>
                </a:solidFill>
              </a:rPr>
              <a:t>谓词有时可以用集函数实现</a:t>
            </a:r>
          </a:p>
          <a:p>
            <a:pPr marL="990600" lvl="1" indent="-533400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chemeClr val="bg2"/>
                </a:solidFill>
              </a:rPr>
              <a:t>用集函数实现子查询通常比直接用</a:t>
            </a:r>
            <a:r>
              <a:rPr lang="en-US" altLang="zh-CN" sz="2400" b="1" dirty="0">
                <a:solidFill>
                  <a:schemeClr val="bg2"/>
                </a:solidFill>
              </a:rPr>
              <a:t>ANY</a:t>
            </a:r>
            <a:r>
              <a:rPr lang="zh-CN" altLang="en-US" sz="2400" b="1" dirty="0">
                <a:solidFill>
                  <a:schemeClr val="bg2"/>
                </a:solidFill>
              </a:rPr>
              <a:t>或</a:t>
            </a:r>
            <a:r>
              <a:rPr lang="en-US" altLang="zh-CN" sz="2400" b="1" dirty="0">
                <a:solidFill>
                  <a:schemeClr val="bg2"/>
                </a:solidFill>
              </a:rPr>
              <a:t>ALL</a:t>
            </a:r>
            <a:r>
              <a:rPr lang="zh-CN" altLang="en-US" sz="2400" b="1" dirty="0">
                <a:solidFill>
                  <a:schemeClr val="bg2"/>
                </a:solidFill>
              </a:rPr>
              <a:t>查询效率要高，因为前者通常能够减少比较次数</a:t>
            </a:r>
          </a:p>
          <a:p>
            <a:pPr marL="990600" lvl="1" indent="-533400" eaLnBrk="1" hangingPunct="1"/>
            <a:r>
              <a:rPr lang="en-US" altLang="zh-CN" sz="2400" b="1" dirty="0">
                <a:solidFill>
                  <a:schemeClr val="bg2"/>
                </a:solidFill>
              </a:rPr>
              <a:t>ANY</a:t>
            </a:r>
            <a:r>
              <a:rPr lang="zh-CN" altLang="en-US" sz="2400" b="1" dirty="0">
                <a:solidFill>
                  <a:schemeClr val="bg2"/>
                </a:solidFill>
              </a:rPr>
              <a:t>与</a:t>
            </a:r>
            <a:r>
              <a:rPr lang="en-US" altLang="zh-CN" sz="2400" b="1" dirty="0">
                <a:solidFill>
                  <a:schemeClr val="bg2"/>
                </a:solidFill>
              </a:rPr>
              <a:t>ALL</a:t>
            </a:r>
            <a:r>
              <a:rPr lang="zh-CN" altLang="en-US" sz="2400" b="1" dirty="0">
                <a:solidFill>
                  <a:schemeClr val="bg2"/>
                </a:solidFill>
              </a:rPr>
              <a:t>与集函数的对应关系</a:t>
            </a:r>
          </a:p>
        </p:txBody>
      </p:sp>
      <p:grpSp>
        <p:nvGrpSpPr>
          <p:cNvPr id="47107" name="Group 4"/>
          <p:cNvGrpSpPr>
            <a:grpSpLocks/>
          </p:cNvGrpSpPr>
          <p:nvPr/>
        </p:nvGrpSpPr>
        <p:grpSpPr bwMode="auto">
          <a:xfrm>
            <a:off x="611188" y="2781300"/>
            <a:ext cx="7924800" cy="2057400"/>
            <a:chOff x="-3" y="-3"/>
            <a:chExt cx="4065" cy="1302"/>
          </a:xfrm>
        </p:grpSpPr>
        <p:grpSp>
          <p:nvGrpSpPr>
            <p:cNvPr id="47108" name="Group 5"/>
            <p:cNvGrpSpPr>
              <a:grpSpLocks/>
            </p:cNvGrpSpPr>
            <p:nvPr/>
          </p:nvGrpSpPr>
          <p:grpSpPr bwMode="auto">
            <a:xfrm>
              <a:off x="0" y="0"/>
              <a:ext cx="4062" cy="1296"/>
              <a:chOff x="0" y="0"/>
              <a:chExt cx="4062" cy="1296"/>
            </a:xfrm>
          </p:grpSpPr>
          <p:grpSp>
            <p:nvGrpSpPr>
              <p:cNvPr id="47110" name="Group 6"/>
              <p:cNvGrpSpPr>
                <a:grpSpLocks/>
              </p:cNvGrpSpPr>
              <p:nvPr/>
            </p:nvGrpSpPr>
            <p:grpSpPr bwMode="auto">
              <a:xfrm>
                <a:off x="0" y="0"/>
                <a:ext cx="493" cy="432"/>
                <a:chOff x="0" y="0"/>
                <a:chExt cx="493" cy="432"/>
              </a:xfrm>
            </p:grpSpPr>
            <p:sp>
              <p:nvSpPr>
                <p:cNvPr id="47171" name="Rectangle 7"/>
                <p:cNvSpPr>
                  <a:spLocks noChangeArrowheads="1"/>
                </p:cNvSpPr>
                <p:nvPr/>
              </p:nvSpPr>
              <p:spPr bwMode="auto">
                <a:xfrm>
                  <a:off x="44" y="0"/>
                  <a:ext cx="406" cy="3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900">
                      <a:solidFill>
                        <a:schemeClr val="bg2"/>
                      </a:solidFill>
                      <a:latin typeface="Times New Roman" pitchFamily="18" charset="0"/>
                    </a:rPr>
                    <a:t> </a:t>
                  </a:r>
                </a:p>
                <a:p>
                  <a:pPr eaLnBrk="0" hangingPunct="0"/>
                  <a:endParaRPr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72" name="Rectangle 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493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1" name="Group 9"/>
              <p:cNvGrpSpPr>
                <a:grpSpLocks/>
              </p:cNvGrpSpPr>
              <p:nvPr/>
            </p:nvGrpSpPr>
            <p:grpSpPr bwMode="auto">
              <a:xfrm>
                <a:off x="493" y="0"/>
                <a:ext cx="396" cy="432"/>
                <a:chOff x="493" y="0"/>
                <a:chExt cx="396" cy="432"/>
              </a:xfrm>
            </p:grpSpPr>
            <p:sp>
              <p:nvSpPr>
                <p:cNvPr id="47169" name="Rectangle 10"/>
                <p:cNvSpPr>
                  <a:spLocks noChangeArrowheads="1"/>
                </p:cNvSpPr>
                <p:nvPr/>
              </p:nvSpPr>
              <p:spPr bwMode="auto">
                <a:xfrm>
                  <a:off x="536" y="0"/>
                  <a:ext cx="310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 =</a:t>
                  </a:r>
                  <a:endParaRPr lang="en-US" altLang="zh-CN" sz="24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70" name="Rectangle 11"/>
                <p:cNvSpPr>
                  <a:spLocks noChangeArrowheads="1"/>
                </p:cNvSpPr>
                <p:nvPr/>
              </p:nvSpPr>
              <p:spPr bwMode="auto">
                <a:xfrm>
                  <a:off x="493" y="0"/>
                  <a:ext cx="396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2" name="Group 12"/>
              <p:cNvGrpSpPr>
                <a:grpSpLocks/>
              </p:cNvGrpSpPr>
              <p:nvPr/>
            </p:nvGrpSpPr>
            <p:grpSpPr bwMode="auto">
              <a:xfrm>
                <a:off x="889" y="0"/>
                <a:ext cx="656" cy="432"/>
                <a:chOff x="889" y="0"/>
                <a:chExt cx="656" cy="432"/>
              </a:xfrm>
            </p:grpSpPr>
            <p:sp>
              <p:nvSpPr>
                <p:cNvPr id="47167" name="Rectangle 13"/>
                <p:cNvSpPr>
                  <a:spLocks noChangeArrowheads="1"/>
                </p:cNvSpPr>
                <p:nvPr/>
              </p:nvSpPr>
              <p:spPr bwMode="auto">
                <a:xfrm>
                  <a:off x="934" y="0"/>
                  <a:ext cx="568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&lt;&gt;</a:t>
                  </a:r>
                  <a:r>
                    <a:rPr lang="zh-CN" altLang="en-US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或</a:t>
                  </a:r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!=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68" name="Rectangle 14"/>
                <p:cNvSpPr>
                  <a:spLocks noChangeArrowheads="1"/>
                </p:cNvSpPr>
                <p:nvPr/>
              </p:nvSpPr>
              <p:spPr bwMode="auto">
                <a:xfrm>
                  <a:off x="889" y="0"/>
                  <a:ext cx="656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3" name="Group 15"/>
              <p:cNvGrpSpPr>
                <a:grpSpLocks/>
              </p:cNvGrpSpPr>
              <p:nvPr/>
            </p:nvGrpSpPr>
            <p:grpSpPr bwMode="auto">
              <a:xfrm>
                <a:off x="1545" y="0"/>
                <a:ext cx="617" cy="432"/>
                <a:chOff x="1545" y="0"/>
                <a:chExt cx="617" cy="432"/>
              </a:xfrm>
            </p:grpSpPr>
            <p:sp>
              <p:nvSpPr>
                <p:cNvPr id="47165" name="Rectangle 16"/>
                <p:cNvSpPr>
                  <a:spLocks noChangeArrowheads="1"/>
                </p:cNvSpPr>
                <p:nvPr/>
              </p:nvSpPr>
              <p:spPr bwMode="auto">
                <a:xfrm>
                  <a:off x="1588" y="0"/>
                  <a:ext cx="530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   &lt;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66" name="Rectangle 17"/>
                <p:cNvSpPr>
                  <a:spLocks noChangeArrowheads="1"/>
                </p:cNvSpPr>
                <p:nvPr/>
              </p:nvSpPr>
              <p:spPr bwMode="auto">
                <a:xfrm>
                  <a:off x="1545" y="0"/>
                  <a:ext cx="617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4" name="Group 18"/>
              <p:cNvGrpSpPr>
                <a:grpSpLocks/>
              </p:cNvGrpSpPr>
              <p:nvPr/>
            </p:nvGrpSpPr>
            <p:grpSpPr bwMode="auto">
              <a:xfrm>
                <a:off x="2162" y="0"/>
                <a:ext cx="655" cy="432"/>
                <a:chOff x="2162" y="0"/>
                <a:chExt cx="655" cy="432"/>
              </a:xfrm>
            </p:grpSpPr>
            <p:sp>
              <p:nvSpPr>
                <p:cNvPr id="47163" name="Rectangle 19"/>
                <p:cNvSpPr>
                  <a:spLocks noChangeArrowheads="1"/>
                </p:cNvSpPr>
                <p:nvPr/>
              </p:nvSpPr>
              <p:spPr bwMode="auto">
                <a:xfrm>
                  <a:off x="2205" y="0"/>
                  <a:ext cx="569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  &lt;=</a:t>
                  </a:r>
                  <a:endParaRPr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64" name="Rectangle 20"/>
                <p:cNvSpPr>
                  <a:spLocks noChangeArrowheads="1"/>
                </p:cNvSpPr>
                <p:nvPr/>
              </p:nvSpPr>
              <p:spPr bwMode="auto">
                <a:xfrm>
                  <a:off x="2162" y="0"/>
                  <a:ext cx="655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5" name="Group 21"/>
              <p:cNvGrpSpPr>
                <a:grpSpLocks/>
              </p:cNvGrpSpPr>
              <p:nvPr/>
            </p:nvGrpSpPr>
            <p:grpSpPr bwMode="auto">
              <a:xfrm>
                <a:off x="2817" y="0"/>
                <a:ext cx="587" cy="432"/>
                <a:chOff x="2817" y="0"/>
                <a:chExt cx="587" cy="432"/>
              </a:xfrm>
            </p:grpSpPr>
            <p:sp>
              <p:nvSpPr>
                <p:cNvPr id="47161" name="Rectangle 22"/>
                <p:cNvSpPr>
                  <a:spLocks noChangeArrowheads="1"/>
                </p:cNvSpPr>
                <p:nvPr/>
              </p:nvSpPr>
              <p:spPr bwMode="auto">
                <a:xfrm>
                  <a:off x="2860" y="0"/>
                  <a:ext cx="501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  &gt;</a:t>
                  </a:r>
                  <a:endParaRPr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62" name="Rectangle 23"/>
                <p:cNvSpPr>
                  <a:spLocks noChangeArrowheads="1"/>
                </p:cNvSpPr>
                <p:nvPr/>
              </p:nvSpPr>
              <p:spPr bwMode="auto">
                <a:xfrm>
                  <a:off x="2817" y="0"/>
                  <a:ext cx="587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6" name="Group 24"/>
              <p:cNvGrpSpPr>
                <a:grpSpLocks/>
              </p:cNvGrpSpPr>
              <p:nvPr/>
            </p:nvGrpSpPr>
            <p:grpSpPr bwMode="auto">
              <a:xfrm>
                <a:off x="3404" y="0"/>
                <a:ext cx="655" cy="432"/>
                <a:chOff x="3404" y="0"/>
                <a:chExt cx="655" cy="432"/>
              </a:xfrm>
            </p:grpSpPr>
            <p:sp>
              <p:nvSpPr>
                <p:cNvPr id="47159" name="Rectangle 25"/>
                <p:cNvSpPr>
                  <a:spLocks noChangeArrowheads="1"/>
                </p:cNvSpPr>
                <p:nvPr/>
              </p:nvSpPr>
              <p:spPr bwMode="auto">
                <a:xfrm>
                  <a:off x="3447" y="0"/>
                  <a:ext cx="568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tabLst>
                      <a:tab pos="266700" algn="r"/>
                      <a:tab pos="5292725" algn="r"/>
                    </a:tabLst>
                  </a:pPr>
                  <a:r>
                    <a:rPr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  &gt;=</a:t>
                  </a:r>
                  <a:endParaRPr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60" name="Rectangle 26"/>
                <p:cNvSpPr>
                  <a:spLocks noChangeArrowheads="1"/>
                </p:cNvSpPr>
                <p:nvPr/>
              </p:nvSpPr>
              <p:spPr bwMode="auto">
                <a:xfrm>
                  <a:off x="3404" y="0"/>
                  <a:ext cx="655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7" name="Group 27"/>
              <p:cNvGrpSpPr>
                <a:grpSpLocks/>
              </p:cNvGrpSpPr>
              <p:nvPr/>
            </p:nvGrpSpPr>
            <p:grpSpPr bwMode="auto">
              <a:xfrm>
                <a:off x="0" y="432"/>
                <a:ext cx="493" cy="432"/>
                <a:chOff x="0" y="432"/>
                <a:chExt cx="493" cy="432"/>
              </a:xfrm>
            </p:grpSpPr>
            <p:sp>
              <p:nvSpPr>
                <p:cNvPr id="47157" name="Rectangle 28"/>
                <p:cNvSpPr>
                  <a:spLocks noChangeArrowheads="1"/>
                </p:cNvSpPr>
                <p:nvPr/>
              </p:nvSpPr>
              <p:spPr bwMode="auto">
                <a:xfrm>
                  <a:off x="44" y="434"/>
                  <a:ext cx="406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ANY</a:t>
                  </a:r>
                  <a:endParaRPr lang="en-US" altLang="zh-CN" sz="20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58" name="Rectangle 29"/>
                <p:cNvSpPr>
                  <a:spLocks noChangeArrowheads="1"/>
                </p:cNvSpPr>
                <p:nvPr/>
              </p:nvSpPr>
              <p:spPr bwMode="auto">
                <a:xfrm>
                  <a:off x="0" y="432"/>
                  <a:ext cx="493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8" name="Group 30"/>
              <p:cNvGrpSpPr>
                <a:grpSpLocks/>
              </p:cNvGrpSpPr>
              <p:nvPr/>
            </p:nvGrpSpPr>
            <p:grpSpPr bwMode="auto">
              <a:xfrm>
                <a:off x="493" y="432"/>
                <a:ext cx="396" cy="432"/>
                <a:chOff x="493" y="432"/>
                <a:chExt cx="396" cy="432"/>
              </a:xfrm>
            </p:grpSpPr>
            <p:sp>
              <p:nvSpPr>
                <p:cNvPr id="47155" name="Rectangle 31"/>
                <p:cNvSpPr>
                  <a:spLocks noChangeArrowheads="1"/>
                </p:cNvSpPr>
                <p:nvPr/>
              </p:nvSpPr>
              <p:spPr bwMode="auto">
                <a:xfrm>
                  <a:off x="536" y="434"/>
                  <a:ext cx="310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1500" b="1">
                      <a:solidFill>
                        <a:schemeClr val="bg2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 IN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56" name="Rectangle 32"/>
                <p:cNvSpPr>
                  <a:spLocks noChangeArrowheads="1"/>
                </p:cNvSpPr>
                <p:nvPr/>
              </p:nvSpPr>
              <p:spPr bwMode="auto">
                <a:xfrm>
                  <a:off x="493" y="432"/>
                  <a:ext cx="396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19" name="Group 33"/>
              <p:cNvGrpSpPr>
                <a:grpSpLocks/>
              </p:cNvGrpSpPr>
              <p:nvPr/>
            </p:nvGrpSpPr>
            <p:grpSpPr bwMode="auto">
              <a:xfrm>
                <a:off x="889" y="432"/>
                <a:ext cx="656" cy="432"/>
                <a:chOff x="889" y="432"/>
                <a:chExt cx="656" cy="432"/>
              </a:xfrm>
            </p:grpSpPr>
            <p:sp>
              <p:nvSpPr>
                <p:cNvPr id="47153" name="Rectangle 34"/>
                <p:cNvSpPr>
                  <a:spLocks noChangeArrowheads="1"/>
                </p:cNvSpPr>
                <p:nvPr/>
              </p:nvSpPr>
              <p:spPr bwMode="auto">
                <a:xfrm>
                  <a:off x="934" y="434"/>
                  <a:ext cx="568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1500" b="1">
                      <a:solidFill>
                        <a:schemeClr val="bg2"/>
                      </a:solidFill>
                      <a:latin typeface="Times New Roman" pitchFamily="18" charset="0"/>
                    </a:rPr>
                    <a:t>    </a:t>
                  </a:r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--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54" name="Rectangle 35"/>
                <p:cNvSpPr>
                  <a:spLocks noChangeArrowheads="1"/>
                </p:cNvSpPr>
                <p:nvPr/>
              </p:nvSpPr>
              <p:spPr bwMode="auto">
                <a:xfrm>
                  <a:off x="889" y="432"/>
                  <a:ext cx="656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0" name="Group 36"/>
              <p:cNvGrpSpPr>
                <a:grpSpLocks/>
              </p:cNvGrpSpPr>
              <p:nvPr/>
            </p:nvGrpSpPr>
            <p:grpSpPr bwMode="auto">
              <a:xfrm>
                <a:off x="1545" y="432"/>
                <a:ext cx="617" cy="432"/>
                <a:chOff x="1545" y="432"/>
                <a:chExt cx="617" cy="432"/>
              </a:xfrm>
            </p:grpSpPr>
            <p:sp>
              <p:nvSpPr>
                <p:cNvPr id="47151" name="Rectangle 37"/>
                <p:cNvSpPr>
                  <a:spLocks noChangeArrowheads="1"/>
                </p:cNvSpPr>
                <p:nvPr/>
              </p:nvSpPr>
              <p:spPr bwMode="auto">
                <a:xfrm>
                  <a:off x="1588" y="434"/>
                  <a:ext cx="530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15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&lt;MAX</a:t>
                  </a:r>
                  <a:endParaRPr lang="en-US" altLang="zh-CN" sz="20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52" name="Rectangle 38"/>
                <p:cNvSpPr>
                  <a:spLocks noChangeArrowheads="1"/>
                </p:cNvSpPr>
                <p:nvPr/>
              </p:nvSpPr>
              <p:spPr bwMode="auto">
                <a:xfrm>
                  <a:off x="1545" y="432"/>
                  <a:ext cx="617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1" name="Group 39"/>
              <p:cNvGrpSpPr>
                <a:grpSpLocks/>
              </p:cNvGrpSpPr>
              <p:nvPr/>
            </p:nvGrpSpPr>
            <p:grpSpPr bwMode="auto">
              <a:xfrm>
                <a:off x="2162" y="432"/>
                <a:ext cx="655" cy="432"/>
                <a:chOff x="2162" y="432"/>
                <a:chExt cx="655" cy="432"/>
              </a:xfrm>
            </p:grpSpPr>
            <p:sp>
              <p:nvSpPr>
                <p:cNvPr id="47149" name="Rectangle 40"/>
                <p:cNvSpPr>
                  <a:spLocks noChangeArrowheads="1"/>
                </p:cNvSpPr>
                <p:nvPr/>
              </p:nvSpPr>
              <p:spPr bwMode="auto">
                <a:xfrm>
                  <a:off x="2205" y="434"/>
                  <a:ext cx="569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&lt;=MAX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50" name="Rectangle 41"/>
                <p:cNvSpPr>
                  <a:spLocks noChangeArrowheads="1"/>
                </p:cNvSpPr>
                <p:nvPr/>
              </p:nvSpPr>
              <p:spPr bwMode="auto">
                <a:xfrm>
                  <a:off x="2162" y="432"/>
                  <a:ext cx="655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2" name="Group 42"/>
              <p:cNvGrpSpPr>
                <a:grpSpLocks/>
              </p:cNvGrpSpPr>
              <p:nvPr/>
            </p:nvGrpSpPr>
            <p:grpSpPr bwMode="auto">
              <a:xfrm>
                <a:off x="2817" y="432"/>
                <a:ext cx="587" cy="432"/>
                <a:chOff x="2817" y="432"/>
                <a:chExt cx="587" cy="432"/>
              </a:xfrm>
            </p:grpSpPr>
            <p:sp>
              <p:nvSpPr>
                <p:cNvPr id="47147" name="Rectangle 43"/>
                <p:cNvSpPr>
                  <a:spLocks noChangeArrowheads="1"/>
                </p:cNvSpPr>
                <p:nvPr/>
              </p:nvSpPr>
              <p:spPr bwMode="auto">
                <a:xfrm>
                  <a:off x="2860" y="434"/>
                  <a:ext cx="501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&gt;MIN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48" name="Rectangle 44"/>
                <p:cNvSpPr>
                  <a:spLocks noChangeArrowheads="1"/>
                </p:cNvSpPr>
                <p:nvPr/>
              </p:nvSpPr>
              <p:spPr bwMode="auto">
                <a:xfrm>
                  <a:off x="2817" y="432"/>
                  <a:ext cx="587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3" name="Group 45"/>
              <p:cNvGrpSpPr>
                <a:grpSpLocks/>
              </p:cNvGrpSpPr>
              <p:nvPr/>
            </p:nvGrpSpPr>
            <p:grpSpPr bwMode="auto">
              <a:xfrm>
                <a:off x="3404" y="432"/>
                <a:ext cx="655" cy="432"/>
                <a:chOff x="3404" y="432"/>
                <a:chExt cx="655" cy="432"/>
              </a:xfrm>
            </p:grpSpPr>
            <p:sp>
              <p:nvSpPr>
                <p:cNvPr id="47145" name="Rectangle 46"/>
                <p:cNvSpPr>
                  <a:spLocks noChangeArrowheads="1"/>
                </p:cNvSpPr>
                <p:nvPr/>
              </p:nvSpPr>
              <p:spPr bwMode="auto">
                <a:xfrm>
                  <a:off x="3447" y="434"/>
                  <a:ext cx="568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&gt;= MIN</a:t>
                  </a:r>
                  <a:endParaRPr lang="en-US" altLang="zh-CN" sz="20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46" name="Rectangle 47"/>
                <p:cNvSpPr>
                  <a:spLocks noChangeArrowheads="1"/>
                </p:cNvSpPr>
                <p:nvPr/>
              </p:nvSpPr>
              <p:spPr bwMode="auto">
                <a:xfrm>
                  <a:off x="3404" y="432"/>
                  <a:ext cx="655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4" name="Group 48"/>
              <p:cNvGrpSpPr>
                <a:grpSpLocks/>
              </p:cNvGrpSpPr>
              <p:nvPr/>
            </p:nvGrpSpPr>
            <p:grpSpPr bwMode="auto">
              <a:xfrm>
                <a:off x="0" y="864"/>
                <a:ext cx="493" cy="432"/>
                <a:chOff x="0" y="864"/>
                <a:chExt cx="493" cy="432"/>
              </a:xfrm>
            </p:grpSpPr>
            <p:sp>
              <p:nvSpPr>
                <p:cNvPr id="47143" name="Rectangle 49"/>
                <p:cNvSpPr>
                  <a:spLocks noChangeArrowheads="1"/>
                </p:cNvSpPr>
                <p:nvPr/>
              </p:nvSpPr>
              <p:spPr bwMode="auto">
                <a:xfrm>
                  <a:off x="44" y="864"/>
                  <a:ext cx="406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ALL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44" name="Rectangle 50"/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493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5" name="Group 51"/>
              <p:cNvGrpSpPr>
                <a:grpSpLocks/>
              </p:cNvGrpSpPr>
              <p:nvPr/>
            </p:nvGrpSpPr>
            <p:grpSpPr bwMode="auto">
              <a:xfrm>
                <a:off x="493" y="864"/>
                <a:ext cx="396" cy="432"/>
                <a:chOff x="493" y="864"/>
                <a:chExt cx="396" cy="432"/>
              </a:xfrm>
            </p:grpSpPr>
            <p:sp>
              <p:nvSpPr>
                <p:cNvPr id="47141" name="Rectangle 52"/>
                <p:cNvSpPr>
                  <a:spLocks noChangeArrowheads="1"/>
                </p:cNvSpPr>
                <p:nvPr/>
              </p:nvSpPr>
              <p:spPr bwMode="auto">
                <a:xfrm>
                  <a:off x="536" y="864"/>
                  <a:ext cx="310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  --</a:t>
                  </a:r>
                  <a:endParaRPr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42" name="Rectangle 53"/>
                <p:cNvSpPr>
                  <a:spLocks noChangeArrowheads="1"/>
                </p:cNvSpPr>
                <p:nvPr/>
              </p:nvSpPr>
              <p:spPr bwMode="auto">
                <a:xfrm>
                  <a:off x="493" y="864"/>
                  <a:ext cx="396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6" name="Group 54"/>
              <p:cNvGrpSpPr>
                <a:grpSpLocks/>
              </p:cNvGrpSpPr>
              <p:nvPr/>
            </p:nvGrpSpPr>
            <p:grpSpPr bwMode="auto">
              <a:xfrm>
                <a:off x="889" y="864"/>
                <a:ext cx="700" cy="432"/>
                <a:chOff x="889" y="864"/>
                <a:chExt cx="700" cy="432"/>
              </a:xfrm>
            </p:grpSpPr>
            <p:sp>
              <p:nvSpPr>
                <p:cNvPr id="47139" name="Rectangle 55"/>
                <p:cNvSpPr>
                  <a:spLocks noChangeArrowheads="1"/>
                </p:cNvSpPr>
                <p:nvPr/>
              </p:nvSpPr>
              <p:spPr bwMode="auto">
                <a:xfrm>
                  <a:off x="934" y="864"/>
                  <a:ext cx="655" cy="2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NOT IN</a:t>
                  </a:r>
                  <a:endParaRPr lang="en-US" altLang="zh-CN" sz="20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40" name="Rectangle 56"/>
                <p:cNvSpPr>
                  <a:spLocks noChangeArrowheads="1"/>
                </p:cNvSpPr>
                <p:nvPr/>
              </p:nvSpPr>
              <p:spPr bwMode="auto">
                <a:xfrm>
                  <a:off x="889" y="864"/>
                  <a:ext cx="656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7" name="Group 57"/>
              <p:cNvGrpSpPr>
                <a:grpSpLocks/>
              </p:cNvGrpSpPr>
              <p:nvPr/>
            </p:nvGrpSpPr>
            <p:grpSpPr bwMode="auto">
              <a:xfrm>
                <a:off x="1545" y="864"/>
                <a:ext cx="617" cy="432"/>
                <a:chOff x="1545" y="864"/>
                <a:chExt cx="617" cy="432"/>
              </a:xfrm>
            </p:grpSpPr>
            <p:sp>
              <p:nvSpPr>
                <p:cNvPr id="47137" name="Rectangle 58"/>
                <p:cNvSpPr>
                  <a:spLocks noChangeArrowheads="1"/>
                </p:cNvSpPr>
                <p:nvPr/>
              </p:nvSpPr>
              <p:spPr bwMode="auto">
                <a:xfrm>
                  <a:off x="1588" y="864"/>
                  <a:ext cx="530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15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&lt;MIN</a:t>
                  </a:r>
                  <a:endParaRPr lang="en-US" altLang="zh-CN" sz="24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38" name="Rectangle 59"/>
                <p:cNvSpPr>
                  <a:spLocks noChangeArrowheads="1"/>
                </p:cNvSpPr>
                <p:nvPr/>
              </p:nvSpPr>
              <p:spPr bwMode="auto">
                <a:xfrm>
                  <a:off x="1545" y="864"/>
                  <a:ext cx="617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8" name="Group 60"/>
              <p:cNvGrpSpPr>
                <a:grpSpLocks/>
              </p:cNvGrpSpPr>
              <p:nvPr/>
            </p:nvGrpSpPr>
            <p:grpSpPr bwMode="auto">
              <a:xfrm>
                <a:off x="2162" y="864"/>
                <a:ext cx="655" cy="432"/>
                <a:chOff x="2162" y="864"/>
                <a:chExt cx="655" cy="432"/>
              </a:xfrm>
            </p:grpSpPr>
            <p:sp>
              <p:nvSpPr>
                <p:cNvPr id="47135" name="Rectangle 61"/>
                <p:cNvSpPr>
                  <a:spLocks noChangeArrowheads="1"/>
                </p:cNvSpPr>
                <p:nvPr/>
              </p:nvSpPr>
              <p:spPr bwMode="auto">
                <a:xfrm>
                  <a:off x="2205" y="864"/>
                  <a:ext cx="569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>
                      <a:solidFill>
                        <a:schemeClr val="bg2"/>
                      </a:solidFill>
                      <a:latin typeface="Times New Roman" pitchFamily="18" charset="0"/>
                    </a:rPr>
                    <a:t>&lt;= MIN</a:t>
                  </a:r>
                  <a:endParaRPr lang="en-US" altLang="zh-CN" sz="20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36" name="Rectangle 62"/>
                <p:cNvSpPr>
                  <a:spLocks noChangeArrowheads="1"/>
                </p:cNvSpPr>
                <p:nvPr/>
              </p:nvSpPr>
              <p:spPr bwMode="auto">
                <a:xfrm>
                  <a:off x="2162" y="864"/>
                  <a:ext cx="655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29" name="Group 63"/>
              <p:cNvGrpSpPr>
                <a:grpSpLocks/>
              </p:cNvGrpSpPr>
              <p:nvPr/>
            </p:nvGrpSpPr>
            <p:grpSpPr bwMode="auto">
              <a:xfrm>
                <a:off x="2817" y="864"/>
                <a:ext cx="587" cy="432"/>
                <a:chOff x="2817" y="864"/>
                <a:chExt cx="587" cy="432"/>
              </a:xfrm>
            </p:grpSpPr>
            <p:sp>
              <p:nvSpPr>
                <p:cNvPr id="47133" name="Rectangle 64"/>
                <p:cNvSpPr>
                  <a:spLocks noChangeArrowheads="1"/>
                </p:cNvSpPr>
                <p:nvPr/>
              </p:nvSpPr>
              <p:spPr bwMode="auto">
                <a:xfrm>
                  <a:off x="2860" y="864"/>
                  <a:ext cx="501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&gt;MAX</a:t>
                  </a:r>
                  <a:endParaRPr lang="en-US" altLang="zh-CN" sz="20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34" name="Rectangle 65"/>
                <p:cNvSpPr>
                  <a:spLocks noChangeArrowheads="1"/>
                </p:cNvSpPr>
                <p:nvPr/>
              </p:nvSpPr>
              <p:spPr bwMode="auto">
                <a:xfrm>
                  <a:off x="2817" y="864"/>
                  <a:ext cx="587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47130" name="Group 66"/>
              <p:cNvGrpSpPr>
                <a:grpSpLocks/>
              </p:cNvGrpSpPr>
              <p:nvPr/>
            </p:nvGrpSpPr>
            <p:grpSpPr bwMode="auto">
              <a:xfrm>
                <a:off x="3404" y="864"/>
                <a:ext cx="658" cy="432"/>
                <a:chOff x="3404" y="864"/>
                <a:chExt cx="658" cy="432"/>
              </a:xfrm>
            </p:grpSpPr>
            <p:sp>
              <p:nvSpPr>
                <p:cNvPr id="47131" name="Rectangle 67"/>
                <p:cNvSpPr>
                  <a:spLocks noChangeArrowheads="1"/>
                </p:cNvSpPr>
                <p:nvPr/>
              </p:nvSpPr>
              <p:spPr bwMode="auto">
                <a:xfrm>
                  <a:off x="3447" y="864"/>
                  <a:ext cx="615" cy="2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&gt;= MAX</a:t>
                  </a:r>
                  <a:endParaRPr lang="en-US" altLang="zh-CN" sz="2000" dirty="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7132" name="Rectangle 68"/>
                <p:cNvSpPr>
                  <a:spLocks noChangeArrowheads="1"/>
                </p:cNvSpPr>
                <p:nvPr/>
              </p:nvSpPr>
              <p:spPr bwMode="auto">
                <a:xfrm>
                  <a:off x="3404" y="864"/>
                  <a:ext cx="655" cy="432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just">
                    <a:lnSpc>
                      <a:spcPct val="80000"/>
                    </a:lnSpc>
                    <a:spcBef>
                      <a:spcPct val="50000"/>
                    </a:spcBef>
                  </a:pPr>
                  <a:endParaRPr lang="zh-CN" altLang="en-US"/>
                </a:p>
              </p:txBody>
            </p:sp>
          </p:grpSp>
        </p:grpSp>
        <p:sp>
          <p:nvSpPr>
            <p:cNvPr id="47109" name="Rectangle 69"/>
            <p:cNvSpPr>
              <a:spLocks noChangeArrowheads="1"/>
            </p:cNvSpPr>
            <p:nvPr/>
          </p:nvSpPr>
          <p:spPr bwMode="auto">
            <a:xfrm>
              <a:off x="-3" y="-3"/>
              <a:ext cx="4065" cy="1302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443" y="342523"/>
            <a:ext cx="8003232" cy="1366838"/>
          </a:xfrm>
        </p:spPr>
        <p:txBody>
          <a:bodyPr/>
          <a:lstStyle/>
          <a:p>
            <a:pPr marL="609600" indent="-609600" eaLnBrk="1" hangingPunct="1">
              <a:buFont typeface="宋体" charset="-122"/>
              <a:buNone/>
            </a:pPr>
            <a:r>
              <a:rPr lang="zh-CN" altLang="en-US" sz="2400" b="1" dirty="0">
                <a:solidFill>
                  <a:srgbClr val="660033"/>
                </a:solidFill>
              </a:rPr>
              <a:t>例：查询其他系中比数学系所有学生年龄都小的学生姓名及年龄</a:t>
            </a:r>
            <a:r>
              <a:rPr lang="zh-CN" altLang="en-US" b="1" dirty="0">
                <a:solidFill>
                  <a:srgbClr val="660033"/>
                </a:solidFill>
              </a:rPr>
              <a:t>。</a:t>
            </a:r>
          </a:p>
        </p:txBody>
      </p:sp>
      <p:sp>
        <p:nvSpPr>
          <p:cNvPr id="982020" name="Rectangle 4"/>
          <p:cNvSpPr>
            <a:spLocks noChangeArrowheads="1"/>
          </p:cNvSpPr>
          <p:nvPr/>
        </p:nvSpPr>
        <p:spPr bwMode="auto">
          <a:xfrm>
            <a:off x="4789269" y="1412776"/>
            <a:ext cx="4138831" cy="2369880"/>
          </a:xfrm>
          <a:prstGeom prst="rect">
            <a:avLst/>
          </a:prstGeom>
          <a:solidFill>
            <a:srgbClr val="E8FADD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bg2"/>
                </a:solidFill>
              </a:rPr>
              <a:t> </a:t>
            </a:r>
            <a:r>
              <a:rPr lang="zh-CN" altLang="en-US" sz="2000" b="1" dirty="0">
                <a:solidFill>
                  <a:schemeClr val="bg2"/>
                </a:solidFill>
              </a:rPr>
              <a:t>方法二：用集函数</a:t>
            </a:r>
          </a:p>
          <a:p>
            <a:r>
              <a:rPr lang="en-US" altLang="zh-CN" b="1" dirty="0">
                <a:solidFill>
                  <a:schemeClr val="bg2"/>
                </a:solidFill>
              </a:rPr>
              <a:t>SELECT SNAME, AGE</a:t>
            </a:r>
          </a:p>
          <a:p>
            <a:r>
              <a:rPr lang="en-US" altLang="zh-CN" sz="2000" b="1" dirty="0">
                <a:solidFill>
                  <a:schemeClr val="bg2"/>
                </a:solidFill>
              </a:rPr>
              <a:t>FROM</a:t>
            </a:r>
            <a:r>
              <a:rPr lang="en-US" altLang="zh-CN" b="1" dirty="0">
                <a:solidFill>
                  <a:schemeClr val="bg2"/>
                </a:solidFill>
              </a:rPr>
              <a:t> S</a:t>
            </a:r>
          </a:p>
          <a:p>
            <a:r>
              <a:rPr lang="en-US" altLang="zh-CN" b="1" dirty="0">
                <a:solidFill>
                  <a:schemeClr val="bg2"/>
                </a:solidFill>
              </a:rPr>
              <a:t>WHERE AGE &lt; </a:t>
            </a:r>
          </a:p>
          <a:p>
            <a:r>
              <a:rPr lang="en-US" altLang="zh-CN" b="1" dirty="0">
                <a:solidFill>
                  <a:schemeClr val="bg2"/>
                </a:solidFill>
              </a:rPr>
              <a:t>       (SELECT </a:t>
            </a:r>
            <a:r>
              <a:rPr lang="en-US" altLang="zh-CN" b="1" dirty="0">
                <a:solidFill>
                  <a:srgbClr val="FF0000"/>
                </a:solidFill>
              </a:rPr>
              <a:t>MIN(AGE)</a:t>
            </a:r>
          </a:p>
          <a:p>
            <a:r>
              <a:rPr lang="en-US" altLang="zh-CN" b="1" dirty="0">
                <a:solidFill>
                  <a:schemeClr val="bg2"/>
                </a:solidFill>
              </a:rPr>
              <a:t>	FROM S</a:t>
            </a:r>
          </a:p>
          <a:p>
            <a:r>
              <a:rPr lang="en-US" altLang="zh-CN" b="1" dirty="0">
                <a:solidFill>
                  <a:schemeClr val="bg2"/>
                </a:solidFill>
              </a:rPr>
              <a:t>	WHERE SDEPT=</a:t>
            </a:r>
            <a:r>
              <a:rPr lang="en-US" altLang="zh-CN" b="1" dirty="0">
                <a:solidFill>
                  <a:schemeClr val="bg1"/>
                </a:solidFill>
              </a:rPr>
              <a:t> 'MA'</a:t>
            </a:r>
            <a:r>
              <a:rPr lang="en-US" altLang="zh-CN" b="1" dirty="0">
                <a:solidFill>
                  <a:schemeClr val="bg2"/>
                </a:solidFill>
              </a:rPr>
              <a:t>)</a:t>
            </a:r>
          </a:p>
          <a:p>
            <a:r>
              <a:rPr lang="en-US" altLang="zh-CN" b="1" dirty="0">
                <a:solidFill>
                  <a:schemeClr val="bg2"/>
                </a:solidFill>
              </a:rPr>
              <a:t>        AND SDEPT &lt;&gt;</a:t>
            </a:r>
            <a:r>
              <a:rPr lang="en-US" altLang="zh-CN" b="1" dirty="0">
                <a:solidFill>
                  <a:schemeClr val="bg1"/>
                </a:solidFill>
              </a:rPr>
              <a:t> 'MA'</a:t>
            </a:r>
            <a:r>
              <a:rPr lang="en-US" altLang="zh-CN" b="1" dirty="0">
                <a:solidFill>
                  <a:schemeClr val="bg2"/>
                </a:solidFill>
              </a:rPr>
              <a:t>;</a:t>
            </a:r>
          </a:p>
        </p:txBody>
      </p:sp>
      <p:sp>
        <p:nvSpPr>
          <p:cNvPr id="982022" name="Rectangle 6"/>
          <p:cNvSpPr>
            <a:spLocks noChangeArrowheads="1"/>
          </p:cNvSpPr>
          <p:nvPr/>
        </p:nvSpPr>
        <p:spPr bwMode="auto">
          <a:xfrm>
            <a:off x="215900" y="1412776"/>
            <a:ext cx="4356100" cy="31393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 b="1" dirty="0">
                <a:solidFill>
                  <a:schemeClr val="bg2"/>
                </a:solidFill>
              </a:rPr>
              <a:t>方法一：用</a:t>
            </a:r>
            <a:r>
              <a:rPr lang="en-US" altLang="zh-CN" sz="2000" b="1" dirty="0">
                <a:solidFill>
                  <a:schemeClr val="bg2"/>
                </a:solidFill>
              </a:rPr>
              <a:t>ALL</a:t>
            </a:r>
            <a:r>
              <a:rPr lang="zh-CN" altLang="en-US" sz="2000" b="1" dirty="0">
                <a:solidFill>
                  <a:schemeClr val="bg2"/>
                </a:solidFill>
              </a:rPr>
              <a:t>谓词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SNAME, AGE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WHERE AGE &lt; ALL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(SELECT </a:t>
            </a:r>
            <a:r>
              <a:rPr lang="en-US" altLang="zh-CN" sz="2000" b="1" dirty="0">
                <a:solidFill>
                  <a:srgbClr val="FF0000"/>
                </a:solidFill>
              </a:rPr>
              <a:t>AGE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 WHERE SDEPT= </a:t>
            </a:r>
            <a:r>
              <a:rPr lang="en-US" altLang="zh-CN" sz="2000" b="1" dirty="0">
                <a:solidFill>
                  <a:schemeClr val="bg1"/>
                </a:solidFill>
              </a:rPr>
              <a:t>'MA'</a:t>
            </a:r>
            <a:r>
              <a:rPr lang="en-US" altLang="zh-CN" sz="2000" b="1" dirty="0">
                <a:solidFill>
                  <a:schemeClr val="bg2"/>
                </a:solidFill>
              </a:rPr>
              <a:t> )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       AND SDEPT &lt;&gt; </a:t>
            </a:r>
            <a:r>
              <a:rPr lang="en-US" altLang="zh-CN" sz="2000" b="1" dirty="0">
                <a:solidFill>
                  <a:schemeClr val="bg1"/>
                </a:solidFill>
              </a:rPr>
              <a:t>'MA'</a:t>
            </a:r>
            <a:r>
              <a:rPr lang="en-US" altLang="zh-CN" sz="2000" b="1" dirty="0">
                <a:solidFill>
                  <a:schemeClr val="bg2"/>
                </a:solidFill>
              </a:rPr>
              <a:t>;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17CD83F2-4563-A1BD-C15C-495B9799C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83" y="4649460"/>
            <a:ext cx="2628534" cy="2004814"/>
          </a:xfrm>
          <a:prstGeom prst="rect">
            <a:avLst/>
          </a:prstGeom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311C2281-50C6-575E-B9BE-33BB1AE71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824" y="4164454"/>
            <a:ext cx="2803851" cy="2489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8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8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2019" grpId="0" build="p"/>
      <p:bldP spid="982020" grpId="0" animBg="1"/>
      <p:bldP spid="98202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0"/>
            <a:ext cx="7772400" cy="1143000"/>
          </a:xfrm>
        </p:spPr>
        <p:txBody>
          <a:bodyPr/>
          <a:lstStyle/>
          <a:p>
            <a:pPr marL="342900" indent="-342900" algn="l" eaLnBrk="1" hangingPunct="1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宋体" charset="-122"/>
              <a:buChar char="●"/>
              <a:defRPr/>
            </a:pPr>
            <a:r>
              <a:rPr lang="zh-CN" altLang="en-US" sz="3200" b="1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带有</a:t>
            </a:r>
            <a:r>
              <a:rPr lang="en-US" altLang="zh-CN" sz="3200" b="1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EXISTS</a:t>
            </a:r>
            <a:r>
              <a:rPr lang="zh-CN" altLang="en-US" sz="3200" b="1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谓词的子查询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6596" y="1136609"/>
            <a:ext cx="8153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en-US" altLang="zh-CN" sz="2800" b="1" dirty="0">
                <a:solidFill>
                  <a:schemeClr val="bg2"/>
                </a:solidFill>
              </a:rPr>
              <a:t>EXISTS</a:t>
            </a:r>
            <a:r>
              <a:rPr lang="zh-CN" altLang="en-US" sz="2800" b="1" dirty="0">
                <a:solidFill>
                  <a:schemeClr val="bg2"/>
                </a:solidFill>
              </a:rPr>
              <a:t>谓词</a:t>
            </a:r>
            <a:endParaRPr lang="en-US" altLang="zh-CN" sz="2800" b="1" dirty="0">
              <a:solidFill>
                <a:schemeClr val="bg2"/>
              </a:solidFill>
            </a:endParaRP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en-US" altLang="zh-CN" sz="2800" b="1" dirty="0">
                <a:solidFill>
                  <a:schemeClr val="bg2"/>
                </a:solidFill>
              </a:rPr>
              <a:t>NOT EXISTS</a:t>
            </a:r>
            <a:r>
              <a:rPr lang="zh-CN" altLang="en-US" sz="2800" b="1" dirty="0">
                <a:solidFill>
                  <a:schemeClr val="bg2"/>
                </a:solidFill>
              </a:rPr>
              <a:t>谓词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800" b="1" dirty="0">
                <a:solidFill>
                  <a:schemeClr val="bg2"/>
                </a:solidFill>
              </a:rPr>
              <a:t>用</a:t>
            </a:r>
            <a:r>
              <a:rPr lang="en-US" altLang="zh-CN" sz="2800" b="1" dirty="0">
                <a:solidFill>
                  <a:schemeClr val="bg2"/>
                </a:solidFill>
              </a:rPr>
              <a:t>EXISTS/NOT EXISTS</a:t>
            </a:r>
            <a:r>
              <a:rPr lang="zh-CN" altLang="en-US" sz="2800" b="1" dirty="0">
                <a:solidFill>
                  <a:schemeClr val="bg2"/>
                </a:solidFill>
              </a:rPr>
              <a:t>实现全称量词</a:t>
            </a:r>
          </a:p>
          <a:p>
            <a:pPr eaLnBrk="1" hangingPunct="1">
              <a:lnSpc>
                <a:spcPct val="120000"/>
              </a:lnSpc>
              <a:buClr>
                <a:srgbClr val="FF0000"/>
              </a:buClr>
              <a:buFont typeface="Apple Symbols" panose="02000000000000000000" pitchFamily="2" charset="-79"/>
              <a:buChar char="⎼"/>
            </a:pPr>
            <a:r>
              <a:rPr lang="zh-CN" altLang="en-US" sz="2800" b="1" dirty="0">
                <a:solidFill>
                  <a:schemeClr val="bg2"/>
                </a:solidFill>
              </a:rPr>
              <a:t>用</a:t>
            </a:r>
            <a:r>
              <a:rPr lang="en-US" altLang="zh-CN" sz="2800" b="1" dirty="0">
                <a:solidFill>
                  <a:schemeClr val="bg2"/>
                </a:solidFill>
              </a:rPr>
              <a:t>EXISTS/NOT EXISTS</a:t>
            </a:r>
            <a:r>
              <a:rPr lang="zh-CN" altLang="en-US" sz="2800" b="1" dirty="0">
                <a:solidFill>
                  <a:schemeClr val="bg2"/>
                </a:solidFill>
              </a:rPr>
              <a:t>实现逻辑蕴函</a:t>
            </a:r>
            <a:endParaRPr lang="zh-CN" altLang="en-US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33B8DA-2FA9-FD45-A8EB-AC6A20631A14}"/>
              </a:ext>
            </a:extLst>
          </p:cNvPr>
          <p:cNvSpPr txBox="1"/>
          <p:nvPr/>
        </p:nvSpPr>
        <p:spPr>
          <a:xfrm>
            <a:off x="395288" y="1484784"/>
            <a:ext cx="7945512" cy="4146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带有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EXISTS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谓词的子查询不返回任何数据，只产生逻辑真值“</a:t>
            </a:r>
            <a:r>
              <a:rPr lang="en-US" altLang="zh-CN" sz="2800" b="1" dirty="0">
                <a:solidFill>
                  <a:schemeClr val="bg1"/>
                </a:solidFill>
                <a:latin typeface="宋体" charset="-122"/>
              </a:rPr>
              <a:t>true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或逻辑假值“</a:t>
            </a:r>
            <a:r>
              <a:rPr lang="en-US" altLang="zh-CN" sz="2800" b="1" dirty="0">
                <a:solidFill>
                  <a:schemeClr val="bg1"/>
                </a:solidFill>
                <a:latin typeface="宋体" charset="-122"/>
              </a:rPr>
              <a:t>false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。</a:t>
            </a:r>
          </a:p>
          <a:p>
            <a:pPr lvl="2" eaLnBrk="1" hangingPunct="1">
              <a:lnSpc>
                <a:spcPct val="150000"/>
              </a:lnSpc>
              <a:buSzPct val="50000"/>
              <a:buFont typeface="宋体" charset="-122"/>
              <a:buChar char="●"/>
            </a:pPr>
            <a:r>
              <a:rPr lang="zh-CN" altLang="en-US" sz="2000" b="1" dirty="0">
                <a:solidFill>
                  <a:schemeClr val="bg2"/>
                </a:solidFill>
                <a:latin typeface="宋体" charset="-122"/>
              </a:rPr>
              <a:t>若内层查询结果非空，则返回真值</a:t>
            </a:r>
          </a:p>
          <a:p>
            <a:pPr lvl="2" eaLnBrk="1" hangingPunct="1">
              <a:lnSpc>
                <a:spcPct val="150000"/>
              </a:lnSpc>
              <a:buSzPct val="50000"/>
              <a:buFont typeface="宋体" charset="-122"/>
              <a:buChar char="●"/>
            </a:pPr>
            <a:r>
              <a:rPr lang="zh-CN" altLang="en-US" sz="2000" b="1" dirty="0">
                <a:solidFill>
                  <a:schemeClr val="bg2"/>
                </a:solidFill>
                <a:latin typeface="宋体" charset="-122"/>
              </a:rPr>
              <a:t>若内层查询结果为空，则返回假值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由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EXISTS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引出的子查询，其目标列表达式通常都用</a:t>
            </a:r>
            <a:r>
              <a:rPr lang="zh-CN" altLang="en-US" sz="2800" b="1" dirty="0">
                <a:solidFill>
                  <a:schemeClr val="bg1"/>
                </a:solidFill>
                <a:latin typeface="宋体" charset="-122"/>
              </a:rPr>
              <a:t>*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 ，因为带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EXISTS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的子查询只返回真值或假值，给出列名无实际意义</a:t>
            </a:r>
            <a:endParaRPr lang="zh-CN" altLang="en-US" sz="3200" b="1" dirty="0">
              <a:solidFill>
                <a:schemeClr val="bg2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76069C-2AE8-6042-AD7C-C2862E661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76250"/>
            <a:ext cx="8305800" cy="720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40000"/>
              </a:lnSpc>
              <a:buFont typeface="宋体" charset="-122"/>
              <a:buChar char="●"/>
            </a:pPr>
            <a:r>
              <a:rPr lang="zh-CN" altLang="en-US" sz="2800" b="1" dirty="0">
                <a:solidFill>
                  <a:srgbClr val="660033"/>
                </a:solidFill>
                <a:latin typeface="宋体" charset="-122"/>
              </a:rPr>
              <a:t>用</a:t>
            </a:r>
            <a:r>
              <a:rPr lang="en-US" altLang="zh-CN" sz="2800" b="1" dirty="0">
                <a:solidFill>
                  <a:srgbClr val="660033"/>
                </a:solidFill>
                <a:latin typeface="宋体" charset="-122"/>
              </a:rPr>
              <a:t>EXISTS/NOT EXISTS</a:t>
            </a:r>
            <a:r>
              <a:rPr lang="zh-CN" altLang="en-US" sz="2800" b="1" dirty="0">
                <a:solidFill>
                  <a:srgbClr val="660033"/>
                </a:solidFill>
                <a:latin typeface="宋体" charset="-122"/>
              </a:rPr>
              <a:t>实现存在量词</a:t>
            </a:r>
            <a:r>
              <a:rPr lang="zh-CN" altLang="en-US" sz="2800" b="1" dirty="0">
                <a:solidFill>
                  <a:srgbClr val="660033"/>
                </a:solidFill>
                <a:latin typeface="宋体" charset="-122"/>
                <a:sym typeface="Symbol" pitchFamily="18" charset="2"/>
              </a:rPr>
              <a:t></a:t>
            </a:r>
            <a:endParaRPr lang="en-US" altLang="zh-CN" sz="2800" b="1" dirty="0">
              <a:solidFill>
                <a:srgbClr val="660033"/>
              </a:solidFill>
              <a:latin typeface="宋体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55CA5C-4B7D-CD4B-8BF1-4982F192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" t="20973" r="54062" b="13716"/>
          <a:stretch>
            <a:fillRect/>
          </a:stretch>
        </p:blipFill>
        <p:spPr bwMode="auto">
          <a:xfrm>
            <a:off x="323528" y="1628800"/>
            <a:ext cx="577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606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549275"/>
            <a:ext cx="7772400" cy="71913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宋体" charset="-122"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charset="-122"/>
              </a:rPr>
              <a:t>例</a:t>
            </a:r>
            <a:r>
              <a:rPr lang="en-US" altLang="zh-CN" sz="2400" b="1" dirty="0">
                <a:solidFill>
                  <a:srgbClr val="660033"/>
                </a:solidFill>
                <a:latin typeface="宋体" charset="-122"/>
              </a:rPr>
              <a:t>: </a:t>
            </a:r>
            <a:r>
              <a:rPr lang="zh-CN" altLang="en-US" sz="2400" b="1" dirty="0">
                <a:solidFill>
                  <a:srgbClr val="660033"/>
                </a:solidFill>
                <a:latin typeface="宋体" charset="-122"/>
              </a:rPr>
              <a:t>查询所有选修了</a:t>
            </a:r>
            <a:r>
              <a:rPr lang="en-US" altLang="zh-CN" sz="2400" b="1" dirty="0">
                <a:solidFill>
                  <a:srgbClr val="660033"/>
                </a:solidFill>
                <a:latin typeface="宋体" charset="-122"/>
              </a:rPr>
              <a:t>C1</a:t>
            </a:r>
            <a:r>
              <a:rPr lang="zh-CN" altLang="en-US" sz="2400" b="1" dirty="0">
                <a:solidFill>
                  <a:srgbClr val="660033"/>
                </a:solidFill>
                <a:latin typeface="宋体" charset="-122"/>
              </a:rPr>
              <a:t>号课程的学生姓名。</a:t>
            </a:r>
            <a:endParaRPr lang="zh-CN" altLang="en-US" sz="2400" b="1" dirty="0">
              <a:solidFill>
                <a:schemeClr val="bg2"/>
              </a:solidFill>
              <a:latin typeface="宋体" charset="-122"/>
            </a:endParaRPr>
          </a:p>
          <a:p>
            <a:pPr eaLnBrk="1" hangingPunct="1">
              <a:lnSpc>
                <a:spcPct val="80000"/>
              </a:lnSpc>
              <a:buFont typeface="宋体" charset="-122"/>
              <a:buNone/>
            </a:pPr>
            <a:endParaRPr lang="zh-CN" altLang="en-US" sz="2400" b="1" dirty="0">
              <a:solidFill>
                <a:schemeClr val="bg2"/>
              </a:solidFill>
              <a:latin typeface="宋体" charset="-122"/>
            </a:endParaRPr>
          </a:p>
        </p:txBody>
      </p:sp>
      <p:sp>
        <p:nvSpPr>
          <p:cNvPr id="985093" name="Rectangle 5"/>
          <p:cNvSpPr>
            <a:spLocks noChangeArrowheads="1"/>
          </p:cNvSpPr>
          <p:nvPr/>
        </p:nvSpPr>
        <p:spPr bwMode="auto">
          <a:xfrm>
            <a:off x="251520" y="1120676"/>
            <a:ext cx="8640959" cy="2788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SNAME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WHERE EXISTS (SELECT 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		  FROM SC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WHERE SNO=S.SNO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AND CNO= </a:t>
            </a:r>
            <a:r>
              <a:rPr lang="en-US" altLang="zh-CN" sz="2400" b="1" dirty="0">
                <a:solidFill>
                  <a:schemeClr val="bg1"/>
                </a:solidFill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C1</a:t>
            </a:r>
            <a:r>
              <a:rPr lang="en-US" altLang="zh-CN" sz="2400" b="1" dirty="0">
                <a:solidFill>
                  <a:schemeClr val="bg1"/>
                </a:solidFill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);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9395F0AB-9091-FD0A-A017-6E1B02281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158" y="3928258"/>
            <a:ext cx="5507024" cy="2739676"/>
          </a:xfrm>
          <a:prstGeom prst="rect">
            <a:avLst/>
          </a:prstGeom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B4670669-1A81-A542-936E-C5175B7CA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4" y="1052165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D6F5ABD7-D92A-6C4A-86AE-A6697A8D0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1833" y="2031753"/>
            <a:ext cx="3744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-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存在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A0CD2FB5-7677-C740-B40B-15F0962B2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912" y="2896743"/>
            <a:ext cx="45354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他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（即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找的这个学生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FA1856F8-D1B2-594A-9D1D-AECA60531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283" y="3466216"/>
            <a:ext cx="3744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选了</a:t>
            </a:r>
            <a:r>
              <a:rPr lang="zh-CN" altLang="en-US" sz="2400" b="1" dirty="0">
                <a:solidFill>
                  <a:schemeClr val="bg1"/>
                </a:solidFill>
              </a:rPr>
              <a:t>‘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C1</a:t>
            </a:r>
            <a:r>
              <a:rPr lang="en-US" altLang="zh-CN" sz="2400" b="1" dirty="0">
                <a:solidFill>
                  <a:schemeClr val="bg1"/>
                </a:solidFill>
              </a:rPr>
              <a:t>’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课程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5F86098-BA24-CE40-ACB9-A100145D3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31" y="4891181"/>
            <a:ext cx="3129202" cy="864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85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091" grpId="0" build="p"/>
      <p:bldP spid="985093" grpId="0" animBg="1"/>
      <p:bldP spid="5" grpId="0"/>
      <p:bldP spid="6" grpId="0"/>
      <p:bldP spid="7" grpId="0"/>
      <p:bldP spid="8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3497B65C-FC3B-FD4E-A9D2-79F693190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038"/>
            <a:ext cx="8424862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1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检索没有选修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C2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课程的学生的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姓名和年龄。</a:t>
            </a:r>
          </a:p>
        </p:txBody>
      </p:sp>
      <p:sp>
        <p:nvSpPr>
          <p:cNvPr id="971783" name="Rectangle 7">
            <a:extLst>
              <a:ext uri="{FF2B5EF4-FFF2-40B4-BE49-F238E27FC236}">
                <a16:creationId xmlns:a16="http://schemas.microsoft.com/office/drawing/2014/main" id="{F28757D0-200D-5A4D-B8D8-1A891E116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" y="980728"/>
            <a:ext cx="8353425" cy="2677656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SELECT </a:t>
            </a:r>
            <a:r>
              <a:rPr lang="en-US" altLang="zh-CN" sz="2400" b="1" dirty="0">
                <a:solidFill>
                  <a:schemeClr val="bg1"/>
                </a:solidFill>
              </a:rPr>
              <a:t>SNAME,AGE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FROM </a:t>
            </a:r>
            <a:r>
              <a:rPr lang="en-US" altLang="zh-CN" sz="2400" b="1" dirty="0">
                <a:solidFill>
                  <a:srgbClr val="660033"/>
                </a:solidFill>
              </a:rPr>
              <a:t>S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FROM SC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WHERE SC.SNO=</a:t>
            </a:r>
            <a:r>
              <a:rPr lang="en-US" altLang="zh-CN" sz="2400" b="1" dirty="0">
                <a:solidFill>
                  <a:srgbClr val="660033"/>
                </a:solidFill>
              </a:rPr>
              <a:t>S.SNO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AND SC.CNO=</a:t>
            </a:r>
            <a:r>
              <a:rPr lang="en-US" altLang="zh-CN" sz="2400" b="1" dirty="0">
                <a:solidFill>
                  <a:schemeClr val="bg1"/>
                </a:solidFill>
              </a:rPr>
              <a:t>'C2'</a:t>
            </a:r>
            <a:r>
              <a:rPr lang="en-US" altLang="zh-CN" sz="2400" b="1" dirty="0">
                <a:solidFill>
                  <a:schemeClr val="bg2"/>
                </a:solidFill>
              </a:rPr>
              <a:t>);</a:t>
            </a:r>
          </a:p>
        </p:txBody>
      </p:sp>
      <p:sp>
        <p:nvSpPr>
          <p:cNvPr id="971784" name="Text Box 8">
            <a:extLst>
              <a:ext uri="{FF2B5EF4-FFF2-40B4-BE49-F238E27FC236}">
                <a16:creationId xmlns:a16="http://schemas.microsoft.com/office/drawing/2014/main" id="{A6D75860-89B8-064E-B801-273BB74EE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4" y="1052165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971785" name="Text Box 9">
            <a:extLst>
              <a:ext uri="{FF2B5EF4-FFF2-40B4-BE49-F238E27FC236}">
                <a16:creationId xmlns:a16="http://schemas.microsoft.com/office/drawing/2014/main" id="{814D023D-E53C-6949-9E59-0BF56EFE6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812" y="2131665"/>
            <a:ext cx="3744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-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不存在</a:t>
            </a:r>
          </a:p>
        </p:txBody>
      </p:sp>
      <p:sp>
        <p:nvSpPr>
          <p:cNvPr id="971786" name="Text Box 10">
            <a:extLst>
              <a:ext uri="{FF2B5EF4-FFF2-40B4-BE49-F238E27FC236}">
                <a16:creationId xmlns:a16="http://schemas.microsoft.com/office/drawing/2014/main" id="{2B28D167-21AD-C547-A002-A70215856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4" y="2855565"/>
            <a:ext cx="45354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他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（即</a:t>
            </a: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找的这个学生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）</a:t>
            </a:r>
          </a:p>
        </p:txBody>
      </p:sp>
      <p:sp>
        <p:nvSpPr>
          <p:cNvPr id="971787" name="Text Box 11">
            <a:extLst>
              <a:ext uri="{FF2B5EF4-FFF2-40B4-BE49-F238E27FC236}">
                <a16:creationId xmlns:a16="http://schemas.microsoft.com/office/drawing/2014/main" id="{632EB2E7-4B13-E142-879F-E5CA484F4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912" y="3255615"/>
            <a:ext cx="3744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选了</a:t>
            </a:r>
            <a:r>
              <a:rPr lang="zh-CN" altLang="en-US" sz="2400" b="1">
                <a:solidFill>
                  <a:schemeClr val="bg1"/>
                </a:solidFill>
              </a:rPr>
              <a:t>‘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C2</a:t>
            </a:r>
            <a:r>
              <a:rPr lang="en-US" altLang="zh-CN" sz="2400" b="1">
                <a:solidFill>
                  <a:schemeClr val="bg1"/>
                </a:solidFill>
              </a:rPr>
              <a:t>’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课程 </a:t>
            </a:r>
          </a:p>
        </p:txBody>
      </p:sp>
      <p:pic>
        <p:nvPicPr>
          <p:cNvPr id="3" name="图片 2" descr="图示, 示意图&#10;&#10;描述已自动生成">
            <a:extLst>
              <a:ext uri="{FF2B5EF4-FFF2-40B4-BE49-F238E27FC236}">
                <a16:creationId xmlns:a16="http://schemas.microsoft.com/office/drawing/2014/main" id="{05F08990-78B2-CCB1-0DD1-31F6DDBC9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067" y="3862617"/>
            <a:ext cx="2220201" cy="294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7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7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7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7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83" grpId="0" animBg="1"/>
      <p:bldP spid="971784" grpId="0"/>
      <p:bldP spid="971785" grpId="0"/>
      <p:bldP spid="971786" grpId="0"/>
      <p:bldP spid="97178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549275"/>
            <a:ext cx="7772400" cy="576263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660033"/>
                </a:solidFill>
                <a:ea typeface="黑体" pitchFamily="49" charset="-122"/>
              </a:rPr>
              <a:t>例</a:t>
            </a:r>
            <a:r>
              <a:rPr lang="en-US" altLang="zh-CN" sz="2800" b="1" dirty="0">
                <a:solidFill>
                  <a:srgbClr val="660033"/>
                </a:solidFill>
              </a:rPr>
              <a:t>:</a:t>
            </a:r>
            <a:r>
              <a:rPr lang="zh-CN" altLang="en-US" sz="2800" b="1" dirty="0">
                <a:solidFill>
                  <a:srgbClr val="660033"/>
                </a:solidFill>
              </a:rPr>
              <a:t>查询没有选修</a:t>
            </a:r>
            <a:r>
              <a:rPr lang="en-US" altLang="zh-CN" sz="2800" b="1" dirty="0">
                <a:solidFill>
                  <a:srgbClr val="660033"/>
                </a:solidFill>
              </a:rPr>
              <a:t>C1</a:t>
            </a:r>
            <a:r>
              <a:rPr lang="zh-CN" altLang="en-US" sz="2800" b="1" dirty="0">
                <a:solidFill>
                  <a:srgbClr val="660033"/>
                </a:solidFill>
              </a:rPr>
              <a:t>号课程的学生姓名。</a:t>
            </a:r>
          </a:p>
        </p:txBody>
      </p:sp>
      <p:pic>
        <p:nvPicPr>
          <p:cNvPr id="3" name="图片 2" descr="图示, 文本&#10;&#10;描述已自动生成">
            <a:extLst>
              <a:ext uri="{FF2B5EF4-FFF2-40B4-BE49-F238E27FC236}">
                <a16:creationId xmlns:a16="http://schemas.microsoft.com/office/drawing/2014/main" id="{582FCB55-C697-BCA3-C0F3-D87A20394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11" y="3939569"/>
            <a:ext cx="3168352" cy="2918431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CD8A4211-97A3-5F46-8E40-3F6AAA45BF6B}"/>
              </a:ext>
            </a:extLst>
          </p:cNvPr>
          <p:cNvGrpSpPr/>
          <p:nvPr/>
        </p:nvGrpSpPr>
        <p:grpSpPr>
          <a:xfrm>
            <a:off x="251520" y="1052165"/>
            <a:ext cx="9171880" cy="2875716"/>
            <a:chOff x="251520" y="1052165"/>
            <a:chExt cx="9171880" cy="2875716"/>
          </a:xfrm>
        </p:grpSpPr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994D73D-274F-EE4D-ADCB-43EA56C78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1120676"/>
              <a:ext cx="8640959" cy="278845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SELECT SNAME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FROM S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WHERE EXISTS (SELECT 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*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   		  FROM SC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              WHERE SNO=S.SNO 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                 AND CNO= </a:t>
              </a:r>
              <a:r>
                <a:rPr lang="en-US" altLang="zh-CN" sz="2400" b="1" dirty="0">
                  <a:solidFill>
                    <a:schemeClr val="bg1"/>
                  </a:solidFill>
                </a:rPr>
                <a:t>'</a:t>
              </a:r>
              <a:r>
                <a:rPr lang="en-US" altLang="zh-CN" sz="2400" b="1" dirty="0">
                  <a:solidFill>
                    <a:schemeClr val="bg2"/>
                  </a:solidFill>
                </a:rPr>
                <a:t>C1</a:t>
              </a:r>
              <a:r>
                <a:rPr lang="en-US" altLang="zh-CN" sz="2400" b="1" dirty="0">
                  <a:solidFill>
                    <a:schemeClr val="bg1"/>
                  </a:solidFill>
                </a:rPr>
                <a:t>'</a:t>
              </a:r>
              <a:r>
                <a:rPr lang="en-US" altLang="zh-CN" sz="2400" b="1" dirty="0">
                  <a:solidFill>
                    <a:schemeClr val="bg2"/>
                  </a:solidFill>
                </a:rPr>
                <a:t>);</a:t>
              </a:r>
              <a:endParaRPr lang="zh-CN" altLang="en-US" sz="2400" b="1" dirty="0">
                <a:solidFill>
                  <a:schemeClr val="bg2"/>
                </a:solidFill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734F142C-2C8F-1340-B616-3786E50868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374" y="1052165"/>
              <a:ext cx="3744913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宋体" panose="02010600030101010101" pitchFamily="2" charset="-122"/>
                  <a:sym typeface="Symbol" pitchFamily="2" charset="2"/>
                </a:rPr>
                <a:t>- - - -</a:t>
              </a:r>
              <a:r>
                <a:rPr lang="zh-CN" altLang="en-US" sz="2400" b="1" dirty="0">
                  <a:solidFill>
                    <a:srgbClr val="660033"/>
                  </a:solidFill>
                  <a:latin typeface="宋体" panose="02010600030101010101" pitchFamily="2" charset="-122"/>
                </a:rPr>
                <a:t>找这样的学生</a:t>
              </a: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F77A9145-C56D-2D43-84FC-C0656C84B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1833" y="2031753"/>
              <a:ext cx="37449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itchFamily="2" charset="2"/>
                </a:rPr>
                <a:t>- - - - 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存在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0AD270BC-AE3C-0242-AC63-B6A8FFABB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912" y="2896743"/>
              <a:ext cx="45354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itchFamily="2" charset="2"/>
                </a:rPr>
                <a:t>- - - </a:t>
              </a:r>
              <a:r>
                <a:rPr lang="zh-CN" altLang="en-US" sz="2400" b="1" dirty="0">
                  <a:solidFill>
                    <a:schemeClr val="bg2"/>
                  </a:solidFill>
                  <a:latin typeface="宋体" panose="02010600030101010101" pitchFamily="2" charset="-122"/>
                </a:rPr>
                <a:t>他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（即</a:t>
              </a:r>
              <a:r>
                <a:rPr lang="zh-CN" altLang="en-US" sz="2400" b="1" dirty="0">
                  <a:solidFill>
                    <a:srgbClr val="660033"/>
                  </a:solidFill>
                  <a:latin typeface="宋体" panose="02010600030101010101" pitchFamily="2" charset="-122"/>
                </a:rPr>
                <a:t>找的这个学生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）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7D46976D-64AA-D94D-8FD9-C1665C131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283" y="3466216"/>
              <a:ext cx="37449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  <a:latin typeface="宋体" panose="02010600030101010101" pitchFamily="2" charset="-122"/>
                  <a:sym typeface="Symbol" pitchFamily="2" charset="2"/>
                </a:rPr>
                <a:t>- - - </a:t>
              </a:r>
              <a:r>
                <a:rPr lang="zh-CN" altLang="en-US" sz="2400" b="1" dirty="0">
                  <a:solidFill>
                    <a:schemeClr val="bg2"/>
                  </a:solidFill>
                  <a:latin typeface="宋体" panose="02010600030101010101" pitchFamily="2" charset="-122"/>
                  <a:sym typeface="Symbol" pitchFamily="2" charset="2"/>
                </a:rPr>
                <a:t>选了</a:t>
              </a:r>
              <a:r>
                <a:rPr lang="zh-CN" altLang="en-US" sz="2400" b="1" dirty="0">
                  <a:solidFill>
                    <a:schemeClr val="bg1"/>
                  </a:solidFill>
                </a:rPr>
                <a:t>‘</a:t>
              </a:r>
              <a:r>
                <a:rPr lang="en-US" altLang="zh-CN" sz="2400" b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C1</a:t>
              </a:r>
              <a:r>
                <a:rPr lang="en-US" altLang="zh-CN" sz="2400" b="1" dirty="0">
                  <a:solidFill>
                    <a:schemeClr val="bg1"/>
                  </a:solidFill>
                </a:rPr>
                <a:t>’</a:t>
              </a:r>
              <a:r>
                <a:rPr lang="zh-CN" altLang="en-US" sz="2400" b="1" dirty="0">
                  <a:solidFill>
                    <a:schemeClr val="bg2"/>
                  </a:solidFill>
                  <a:latin typeface="宋体" panose="02010600030101010101" pitchFamily="2" charset="-122"/>
                </a:rPr>
                <a:t>课程 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695EA26-B57F-B34A-8426-2503901DA3F3}"/>
              </a:ext>
            </a:extLst>
          </p:cNvPr>
          <p:cNvGrpSpPr/>
          <p:nvPr/>
        </p:nvGrpSpPr>
        <p:grpSpPr>
          <a:xfrm>
            <a:off x="301972" y="1101932"/>
            <a:ext cx="9171880" cy="2875716"/>
            <a:chOff x="251520" y="1052165"/>
            <a:chExt cx="9171880" cy="2875716"/>
          </a:xfrm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9C0A9B40-6410-4344-B5D7-EF966CF48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1120676"/>
              <a:ext cx="8640959" cy="278845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SELECT SNAME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FROM S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WHERE </a:t>
              </a:r>
              <a:r>
                <a:rPr lang="en-US" altLang="zh-CN" sz="2400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NOT</a:t>
              </a:r>
              <a:r>
                <a:rPr lang="zh-CN" altLang="en-US" sz="2400" b="1" dirty="0">
                  <a:solidFill>
                    <a:schemeClr val="bg2"/>
                  </a:solidFill>
                </a:rPr>
                <a:t> </a:t>
              </a:r>
              <a:r>
                <a:rPr lang="en-US" altLang="zh-CN" sz="2400" b="1" dirty="0">
                  <a:solidFill>
                    <a:schemeClr val="bg2"/>
                  </a:solidFill>
                </a:rPr>
                <a:t>EXISTS (SELECT </a:t>
              </a:r>
              <a:r>
                <a:rPr lang="en-US" altLang="zh-CN" sz="2400" b="1" dirty="0">
                  <a:solidFill>
                    <a:srgbClr val="FF0000"/>
                  </a:solidFill>
                </a:rPr>
                <a:t>*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   		  FROM SC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              WHERE SNO=S.SNO </a:t>
              </a:r>
            </a:p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</a:rPr>
                <a:t>                 AND CNO= </a:t>
              </a:r>
              <a:r>
                <a:rPr lang="en-US" altLang="zh-CN" sz="2400" b="1" dirty="0">
                  <a:solidFill>
                    <a:schemeClr val="bg1"/>
                  </a:solidFill>
                </a:rPr>
                <a:t>'</a:t>
              </a:r>
              <a:r>
                <a:rPr lang="en-US" altLang="zh-CN" sz="2400" b="1" dirty="0">
                  <a:solidFill>
                    <a:schemeClr val="bg2"/>
                  </a:solidFill>
                </a:rPr>
                <a:t>C1</a:t>
              </a:r>
              <a:r>
                <a:rPr lang="en-US" altLang="zh-CN" sz="2400" b="1" dirty="0">
                  <a:solidFill>
                    <a:schemeClr val="bg1"/>
                  </a:solidFill>
                </a:rPr>
                <a:t>'</a:t>
              </a:r>
              <a:r>
                <a:rPr lang="en-US" altLang="zh-CN" sz="2400" b="1" dirty="0">
                  <a:solidFill>
                    <a:schemeClr val="bg2"/>
                  </a:solidFill>
                </a:rPr>
                <a:t>);</a:t>
              </a:r>
              <a:endParaRPr lang="zh-CN" altLang="en-US" sz="2400" b="1" dirty="0">
                <a:solidFill>
                  <a:schemeClr val="bg2"/>
                </a:solidFill>
              </a:endParaRPr>
            </a:p>
          </p:txBody>
        </p:sp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41BA1F51-5563-3147-8394-C6E86CF44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374" y="1052165"/>
              <a:ext cx="3744913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660033"/>
                  </a:solidFill>
                  <a:latin typeface="宋体" panose="02010600030101010101" pitchFamily="2" charset="-122"/>
                  <a:sym typeface="Symbol" pitchFamily="2" charset="2"/>
                </a:rPr>
                <a:t>- - - -</a:t>
              </a:r>
              <a:r>
                <a:rPr lang="zh-CN" altLang="en-US" sz="2400" b="1" dirty="0">
                  <a:solidFill>
                    <a:srgbClr val="660033"/>
                  </a:solidFill>
                  <a:latin typeface="宋体" panose="02010600030101010101" pitchFamily="2" charset="-122"/>
                </a:rPr>
                <a:t>找这样的学生</a:t>
              </a: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E35C9D65-1758-6743-85FC-056432B1F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1833" y="2031753"/>
              <a:ext cx="37449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itchFamily="2" charset="2"/>
                </a:rPr>
                <a:t>- - - - </a:t>
              </a:r>
              <a:r>
                <a:rPr lang="zh-CN" altLang="en-US" sz="24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宋体" panose="02010600030101010101" pitchFamily="2" charset="-122"/>
                  <a:sym typeface="Symbol" pitchFamily="2" charset="2"/>
                </a:rPr>
                <a:t>不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存在</a:t>
              </a:r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3F3BF472-783E-DF44-8C4E-73B761FE6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7912" y="2896743"/>
              <a:ext cx="4535488" cy="384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rgbClr val="FF0000"/>
                  </a:solidFill>
                  <a:latin typeface="宋体" panose="02010600030101010101" pitchFamily="2" charset="-122"/>
                  <a:sym typeface="Symbol" pitchFamily="2" charset="2"/>
                </a:rPr>
                <a:t>- - - </a:t>
              </a:r>
              <a:r>
                <a:rPr lang="zh-CN" altLang="en-US" sz="2400" b="1" dirty="0">
                  <a:solidFill>
                    <a:schemeClr val="bg2"/>
                  </a:solidFill>
                  <a:latin typeface="宋体" panose="02010600030101010101" pitchFamily="2" charset="-122"/>
                </a:rPr>
                <a:t>他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（即</a:t>
              </a:r>
              <a:r>
                <a:rPr lang="zh-CN" altLang="en-US" sz="2400" b="1" dirty="0">
                  <a:solidFill>
                    <a:srgbClr val="660033"/>
                  </a:solidFill>
                  <a:latin typeface="宋体" panose="02010600030101010101" pitchFamily="2" charset="-122"/>
                </a:rPr>
                <a:t>找的这个学生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）</a:t>
              </a: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2FC17547-D986-D14A-820A-94503E199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283" y="3466216"/>
              <a:ext cx="374491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1" dirty="0">
                  <a:solidFill>
                    <a:schemeClr val="bg2"/>
                  </a:solidFill>
                  <a:latin typeface="宋体" panose="02010600030101010101" pitchFamily="2" charset="-122"/>
                  <a:sym typeface="Symbol" pitchFamily="2" charset="2"/>
                </a:rPr>
                <a:t>- - - </a:t>
              </a:r>
              <a:r>
                <a:rPr lang="zh-CN" altLang="en-US" sz="2400" b="1" dirty="0">
                  <a:solidFill>
                    <a:schemeClr val="bg2"/>
                  </a:solidFill>
                  <a:latin typeface="宋体" panose="02010600030101010101" pitchFamily="2" charset="-122"/>
                  <a:sym typeface="Symbol" pitchFamily="2" charset="2"/>
                </a:rPr>
                <a:t>选了</a:t>
              </a:r>
              <a:r>
                <a:rPr lang="zh-CN" altLang="en-US" sz="2400" b="1" dirty="0">
                  <a:solidFill>
                    <a:schemeClr val="bg1"/>
                  </a:solidFill>
                </a:rPr>
                <a:t>‘</a:t>
              </a:r>
              <a:r>
                <a:rPr lang="en-US" altLang="zh-CN" sz="2400" b="1" dirty="0">
                  <a:solidFill>
                    <a:schemeClr val="bg1"/>
                  </a:solidFill>
                  <a:latin typeface="宋体" panose="02010600030101010101" pitchFamily="2" charset="-122"/>
                </a:rPr>
                <a:t>C1</a:t>
              </a:r>
              <a:r>
                <a:rPr lang="en-US" altLang="zh-CN" sz="2400" b="1" dirty="0">
                  <a:solidFill>
                    <a:schemeClr val="bg1"/>
                  </a:solidFill>
                </a:rPr>
                <a:t>’</a:t>
              </a:r>
              <a:r>
                <a:rPr lang="zh-CN" altLang="en-US" sz="2400" b="1" dirty="0">
                  <a:solidFill>
                    <a:schemeClr val="bg2"/>
                  </a:solidFill>
                  <a:latin typeface="宋体" panose="02010600030101010101" pitchFamily="2" charset="-122"/>
                </a:rPr>
                <a:t>课程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40481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660033"/>
                </a:solidFill>
              </a:rPr>
              <a:t>例：和李名在同一个系的学生学号、姓名。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b="1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     </a:t>
            </a:r>
          </a:p>
        </p:txBody>
      </p:sp>
      <p:sp>
        <p:nvSpPr>
          <p:cNvPr id="989189" name="Rectangle 5"/>
          <p:cNvSpPr>
            <a:spLocks noChangeArrowheads="1"/>
          </p:cNvSpPr>
          <p:nvPr/>
        </p:nvSpPr>
        <p:spPr bwMode="auto">
          <a:xfrm>
            <a:off x="468312" y="1125538"/>
            <a:ext cx="8496175" cy="259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SELECT SNO, SNAME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FROM S </a:t>
            </a: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</a:rPr>
              <a:t>AS</a:t>
            </a:r>
            <a:r>
              <a:rPr lang="zh-CN" altLang="en-US" sz="2400" b="1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X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WHERE EXISTS (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    SELECT *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    FROM 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    WHERE SDEPT = X.SDEPT AND SNAME = '</a:t>
            </a:r>
            <a:r>
              <a:rPr lang="zh-CN" altLang="en-US" sz="2400" b="1" dirty="0">
                <a:solidFill>
                  <a:schemeClr val="bg2"/>
                </a:solidFill>
                <a:latin typeface="+mj-ea"/>
                <a:ea typeface="+mj-ea"/>
              </a:rPr>
              <a:t>李名</a:t>
            </a:r>
            <a:r>
              <a:rPr lang="en-US" altLang="zh-CN" sz="2400" b="1" dirty="0">
                <a:solidFill>
                  <a:schemeClr val="bg2"/>
                </a:solidFill>
                <a:latin typeface="+mj-ea"/>
                <a:ea typeface="+mj-ea"/>
              </a:rPr>
              <a:t>');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F5D9BF97-19BB-EC9F-6F47-FF29514A3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588" y="3894138"/>
            <a:ext cx="5181600" cy="2692400"/>
          </a:xfrm>
          <a:prstGeom prst="rect">
            <a:avLst/>
          </a:prstGeom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E0A8C7C9-1979-4E43-BE21-1F80A36CF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4" y="1052165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52BE89A5-5D7C-F74B-B7F9-CF9DE2FAC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9797" y="1935709"/>
            <a:ext cx="3744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-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存在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5E2D1880-92F9-1842-9118-B545B4084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8655" y="2761548"/>
            <a:ext cx="4535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他所在的系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430EB2DA-8448-754C-BCFE-236628CD1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2543" y="2777625"/>
            <a:ext cx="45354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有学生的名字是李名</a:t>
            </a:r>
            <a:endParaRPr lang="zh-CN" altLang="en-US" sz="2400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8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9189" grpId="0" animBg="1"/>
      <p:bldP spid="9" grpId="0"/>
      <p:bldP spid="10" grpId="0"/>
      <p:bldP spid="11" grpId="0"/>
      <p:bldP spid="1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476250"/>
            <a:ext cx="8305800" cy="4114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宋体" charset="-122"/>
              <a:buChar char="●"/>
            </a:pPr>
            <a:r>
              <a:rPr lang="zh-CN" altLang="en-US" sz="2800" b="1" kern="1200" dirty="0">
                <a:solidFill>
                  <a:srgbClr val="660033"/>
                </a:solidFill>
                <a:latin typeface="宋体" charset="-122"/>
              </a:rPr>
              <a:t>用</a:t>
            </a:r>
            <a:r>
              <a:rPr lang="en-US" altLang="zh-CN" sz="2800" b="1" kern="1200" dirty="0">
                <a:solidFill>
                  <a:srgbClr val="660033"/>
                </a:solidFill>
                <a:latin typeface="宋体" charset="-122"/>
              </a:rPr>
              <a:t>EXISTS/NOT EXISTS</a:t>
            </a:r>
            <a:r>
              <a:rPr lang="zh-CN" altLang="en-US" sz="2800" b="1" kern="1200" dirty="0">
                <a:solidFill>
                  <a:srgbClr val="660033"/>
                </a:solidFill>
                <a:latin typeface="宋体" charset="-122"/>
              </a:rPr>
              <a:t>实现全称量词</a:t>
            </a:r>
            <a:r>
              <a:rPr lang="en-US" altLang="zh-CN" sz="2800" b="1" kern="1200" dirty="0">
                <a:solidFill>
                  <a:srgbClr val="660033"/>
                </a:solidFill>
                <a:latin typeface="宋体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</a:rPr>
              <a:t>难点</a:t>
            </a:r>
            <a:r>
              <a:rPr lang="en-US" altLang="zh-CN" sz="2800" b="1" kern="1200" dirty="0">
                <a:solidFill>
                  <a:srgbClr val="660033"/>
                </a:solidFill>
                <a:latin typeface="宋体" charset="-122"/>
              </a:rPr>
              <a:t>)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SQL</a:t>
            </a:r>
            <a:r>
              <a:rPr lang="zh-CN" altLang="en-US" b="1" dirty="0">
                <a:solidFill>
                  <a:schemeClr val="bg2"/>
                </a:solidFill>
              </a:rPr>
              <a:t>语言中没有全称量词</a:t>
            </a:r>
            <a:r>
              <a:rPr lang="zh-CN" altLang="en-US" b="1" dirty="0">
                <a:solidFill>
                  <a:schemeClr val="bg2"/>
                </a:solidFill>
                <a:sym typeface="Symbol" pitchFamily="18" charset="2"/>
              </a:rPr>
              <a:t></a:t>
            </a:r>
            <a:r>
              <a:rPr lang="zh-CN" altLang="en-US" b="1" dirty="0">
                <a:solidFill>
                  <a:schemeClr val="bg2"/>
                </a:solidFill>
              </a:rPr>
              <a:t> （</a:t>
            </a:r>
            <a:r>
              <a:rPr lang="en-US" altLang="zh-CN" b="1" dirty="0">
                <a:solidFill>
                  <a:schemeClr val="bg2"/>
                </a:solidFill>
              </a:rPr>
              <a:t>For all</a:t>
            </a:r>
            <a:r>
              <a:rPr lang="zh-CN" altLang="en-US" b="1" dirty="0">
                <a:solidFill>
                  <a:schemeClr val="bg2"/>
                </a:solidFill>
              </a:rPr>
              <a:t>）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可以把带有全称量词的谓词转换为等价的带有存在量词的谓词：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bg2"/>
                </a:solidFill>
              </a:rPr>
              <a:t>                        </a:t>
            </a:r>
            <a:r>
              <a:rPr lang="en-US" altLang="zh-CN" b="1" dirty="0">
                <a:solidFill>
                  <a:schemeClr val="bg1"/>
                </a:solidFill>
              </a:rPr>
              <a:t>(</a:t>
            </a:r>
            <a:r>
              <a:rPr lang="en-US" altLang="zh-CN" b="1" dirty="0">
                <a:solidFill>
                  <a:schemeClr val="bg1"/>
                </a:solidFill>
                <a:sym typeface="Symbol" pitchFamily="18" charset="2"/>
              </a:rPr>
              <a:t></a:t>
            </a:r>
            <a:r>
              <a:rPr lang="en-US" altLang="zh-CN" b="1" dirty="0">
                <a:solidFill>
                  <a:schemeClr val="bg1"/>
                </a:solidFill>
              </a:rPr>
              <a:t>x)P ≡ </a:t>
            </a:r>
            <a:r>
              <a:rPr lang="en-US" altLang="zh-CN" b="1" dirty="0">
                <a:solidFill>
                  <a:schemeClr val="bg1"/>
                </a:solidFill>
                <a:sym typeface="Symbol" pitchFamily="18" charset="2"/>
              </a:rPr>
              <a:t></a:t>
            </a:r>
            <a:r>
              <a:rPr lang="en-US" altLang="zh-CN" b="1" dirty="0">
                <a:solidFill>
                  <a:schemeClr val="bg1"/>
                </a:solidFill>
              </a:rPr>
              <a:t> (</a:t>
            </a:r>
            <a:r>
              <a:rPr lang="en-US" altLang="zh-CN" b="1" dirty="0">
                <a:solidFill>
                  <a:schemeClr val="bg1"/>
                </a:solidFill>
                <a:sym typeface="Symbol" pitchFamily="18" charset="2"/>
              </a:rPr>
              <a:t></a:t>
            </a:r>
            <a:r>
              <a:rPr lang="en-US" altLang="zh-CN" b="1" dirty="0">
                <a:solidFill>
                  <a:schemeClr val="bg1"/>
                </a:solidFill>
              </a:rPr>
              <a:t> x(</a:t>
            </a:r>
            <a:r>
              <a:rPr lang="en-US" altLang="zh-CN" b="1" dirty="0">
                <a:solidFill>
                  <a:schemeClr val="bg1"/>
                </a:solidFill>
                <a:sym typeface="Symbol" pitchFamily="18" charset="2"/>
              </a:rPr>
              <a:t></a:t>
            </a:r>
            <a:r>
              <a:rPr lang="en-US" altLang="zh-CN" b="1" dirty="0">
                <a:solidFill>
                  <a:schemeClr val="bg1"/>
                </a:solidFill>
              </a:rPr>
              <a:t> P)) 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8" name="Rectangle 4">
            <a:extLst>
              <a:ext uri="{FF2B5EF4-FFF2-40B4-BE49-F238E27FC236}">
                <a16:creationId xmlns:a16="http://schemas.microsoft.com/office/drawing/2014/main" id="{FF3E181C-9939-084D-A53F-3C35EA00D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3" y="908050"/>
            <a:ext cx="8677275" cy="5600700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200000"/>
              </a:lnSpc>
            </a:pPr>
            <a:r>
              <a:rPr kumimoji="0" lang="zh-CN" altLang="en-US" sz="2400" b="1" dirty="0">
                <a:solidFill>
                  <a:schemeClr val="bg1"/>
                </a:solidFill>
              </a:rPr>
              <a:t>假设：</a:t>
            </a:r>
            <a:r>
              <a:rPr kumimoji="0" lang="en-US" altLang="zh-CN" sz="2400" b="1" dirty="0" err="1">
                <a:solidFill>
                  <a:schemeClr val="bg2"/>
                </a:solidFill>
              </a:rPr>
              <a:t>cno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:     </a:t>
            </a:r>
            <a:r>
              <a:rPr kumimoji="0" lang="zh-CN" altLang="en-US" sz="2400" b="1" dirty="0">
                <a:solidFill>
                  <a:schemeClr val="bg2"/>
                </a:solidFill>
              </a:rPr>
              <a:t>表示课程；</a:t>
            </a:r>
          </a:p>
          <a:p>
            <a:pPr>
              <a:lnSpc>
                <a:spcPct val="200000"/>
              </a:lnSpc>
            </a:pPr>
            <a:r>
              <a:rPr kumimoji="0" lang="zh-CN" altLang="en-US" sz="2400" b="1" dirty="0">
                <a:solidFill>
                  <a:schemeClr val="bg2"/>
                </a:solidFill>
              </a:rPr>
              <a:t>      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p(</a:t>
            </a:r>
            <a:r>
              <a:rPr kumimoji="0" lang="en-US" altLang="zh-CN" sz="2400" b="1" dirty="0" err="1">
                <a:solidFill>
                  <a:schemeClr val="bg2"/>
                </a:solidFill>
              </a:rPr>
              <a:t>cno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):  </a:t>
            </a:r>
            <a:r>
              <a:rPr kumimoji="0" lang="zh-CN" altLang="en-US" sz="2400" b="1" dirty="0">
                <a:solidFill>
                  <a:schemeClr val="bg2"/>
                </a:solidFill>
              </a:rPr>
              <a:t>表示“选修了课程</a:t>
            </a:r>
            <a:r>
              <a:rPr kumimoji="0" lang="en-US" altLang="zh-CN" sz="2400" b="1" dirty="0" err="1">
                <a:solidFill>
                  <a:schemeClr val="bg2"/>
                </a:solidFill>
              </a:rPr>
              <a:t>cno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”</a:t>
            </a:r>
            <a:r>
              <a:rPr kumimoji="0" lang="zh-CN" altLang="en-US" sz="2400" b="1" dirty="0">
                <a:solidFill>
                  <a:schemeClr val="bg2"/>
                </a:solidFill>
              </a:rPr>
              <a:t>；</a:t>
            </a:r>
          </a:p>
          <a:p>
            <a:pPr>
              <a:lnSpc>
                <a:spcPct val="200000"/>
              </a:lnSpc>
            </a:pPr>
            <a:r>
              <a:rPr kumimoji="0" lang="zh-CN" altLang="en-US" sz="2400" b="1" dirty="0">
                <a:solidFill>
                  <a:schemeClr val="bg2"/>
                </a:solidFill>
              </a:rPr>
              <a:t>     	</a:t>
            </a:r>
            <a:r>
              <a:rPr kumimoji="0" lang="zh-CN" altLang="en-US" sz="2400" b="1" dirty="0">
                <a:solidFill>
                  <a:schemeClr val="bg2"/>
                </a:solidFill>
                <a:sym typeface="Symbol" pitchFamily="2" charset="2"/>
              </a:rPr>
              <a:t>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p(</a:t>
            </a:r>
            <a:r>
              <a:rPr kumimoji="0" lang="en-US" altLang="zh-CN" sz="2400" b="1" dirty="0" err="1">
                <a:solidFill>
                  <a:schemeClr val="bg2"/>
                </a:solidFill>
              </a:rPr>
              <a:t>cno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): </a:t>
            </a:r>
            <a:r>
              <a:rPr kumimoji="0" lang="zh-CN" altLang="en-US" sz="2400" b="1" dirty="0">
                <a:solidFill>
                  <a:schemeClr val="bg2"/>
                </a:solidFill>
              </a:rPr>
              <a:t>表示“没有选修课程</a:t>
            </a:r>
            <a:r>
              <a:rPr kumimoji="0" lang="en-US" altLang="zh-CN" sz="2400" b="1" dirty="0" err="1">
                <a:solidFill>
                  <a:schemeClr val="bg2"/>
                </a:solidFill>
              </a:rPr>
              <a:t>cno</a:t>
            </a:r>
            <a:r>
              <a:rPr kumimoji="0" lang="en-US" altLang="zh-CN" sz="2400" b="1" dirty="0">
                <a:solidFill>
                  <a:schemeClr val="bg2"/>
                </a:solidFill>
              </a:rPr>
              <a:t>”</a:t>
            </a:r>
          </a:p>
          <a:p>
            <a:pPr>
              <a:lnSpc>
                <a:spcPct val="200000"/>
              </a:lnSpc>
            </a:pPr>
            <a:r>
              <a:rPr kumimoji="0" lang="zh-CN" altLang="en-US" sz="2400" b="1" dirty="0">
                <a:solidFill>
                  <a:schemeClr val="bg1"/>
                </a:solidFill>
              </a:rPr>
              <a:t>形式化表示：  </a:t>
            </a:r>
          </a:p>
          <a:p>
            <a:pPr>
              <a:lnSpc>
                <a:spcPct val="200000"/>
              </a:lnSpc>
            </a:pPr>
            <a:r>
              <a:rPr kumimoji="0" lang="zh-CN" altLang="en-US" sz="2400" b="1" dirty="0">
                <a:solidFill>
                  <a:schemeClr val="bg2"/>
                </a:solidFill>
              </a:rPr>
              <a:t>    </a:t>
            </a:r>
            <a:r>
              <a:rPr kumimoji="0" lang="en-US" altLang="zh-CN" sz="3200" b="1" dirty="0">
                <a:solidFill>
                  <a:schemeClr val="bg1"/>
                </a:solidFill>
              </a:rPr>
              <a:t>(</a:t>
            </a:r>
            <a:r>
              <a:rPr kumimoji="0" lang="en-US" altLang="zh-CN" sz="3200" b="1" dirty="0">
                <a:solidFill>
                  <a:schemeClr val="bg1"/>
                </a:solidFill>
                <a:sym typeface="Symbol" pitchFamily="2" charset="2"/>
              </a:rPr>
              <a:t></a:t>
            </a:r>
            <a:r>
              <a:rPr kumimoji="0" lang="en-US" altLang="zh-CN" sz="3200" b="1" dirty="0" err="1">
                <a:solidFill>
                  <a:schemeClr val="bg1"/>
                </a:solidFill>
              </a:rPr>
              <a:t>cno</a:t>
            </a:r>
            <a:r>
              <a:rPr kumimoji="0" lang="en-US" altLang="zh-CN" sz="3200" b="1" dirty="0">
                <a:solidFill>
                  <a:schemeClr val="bg1"/>
                </a:solidFill>
              </a:rPr>
              <a:t>)p(</a:t>
            </a:r>
            <a:r>
              <a:rPr kumimoji="0" lang="en-US" altLang="zh-CN" sz="3200" b="1" dirty="0" err="1">
                <a:solidFill>
                  <a:schemeClr val="bg1"/>
                </a:solidFill>
              </a:rPr>
              <a:t>cno</a:t>
            </a:r>
            <a:r>
              <a:rPr kumimoji="0" lang="en-US" altLang="zh-CN" sz="3200" b="1" dirty="0">
                <a:solidFill>
                  <a:schemeClr val="bg1"/>
                </a:solidFill>
              </a:rPr>
              <a:t>) </a:t>
            </a:r>
            <a:r>
              <a:rPr kumimoji="0" lang="en-US" altLang="zh-CN" sz="3200" b="1" dirty="0">
                <a:solidFill>
                  <a:schemeClr val="bg2"/>
                </a:solidFill>
              </a:rPr>
              <a:t>≡ </a:t>
            </a:r>
            <a:r>
              <a:rPr kumimoji="0" lang="en-US" altLang="zh-CN" sz="3200" b="1" dirty="0">
                <a:solidFill>
                  <a:srgbClr val="660033"/>
                </a:solidFill>
                <a:sym typeface="Symbol" pitchFamily="2" charset="2"/>
              </a:rPr>
              <a:t></a:t>
            </a:r>
            <a:r>
              <a:rPr kumimoji="0" lang="en-US" altLang="zh-CN" sz="3200" b="1" dirty="0">
                <a:solidFill>
                  <a:srgbClr val="660033"/>
                </a:solidFill>
              </a:rPr>
              <a:t>(</a:t>
            </a:r>
            <a:r>
              <a:rPr kumimoji="0" lang="en-US" altLang="zh-CN" sz="3200" b="1" dirty="0">
                <a:solidFill>
                  <a:srgbClr val="660033"/>
                </a:solidFill>
                <a:sym typeface="Symbol" pitchFamily="2" charset="2"/>
              </a:rPr>
              <a:t></a:t>
            </a:r>
            <a:r>
              <a:rPr kumimoji="0" lang="en-US" altLang="zh-CN" sz="3200" b="1" dirty="0" err="1">
                <a:solidFill>
                  <a:srgbClr val="660033"/>
                </a:solidFill>
              </a:rPr>
              <a:t>cno</a:t>
            </a:r>
            <a:r>
              <a:rPr kumimoji="0" lang="en-US" altLang="zh-CN" sz="3200" b="1" dirty="0">
                <a:solidFill>
                  <a:srgbClr val="660033"/>
                </a:solidFill>
              </a:rPr>
              <a:t>)(</a:t>
            </a:r>
            <a:r>
              <a:rPr kumimoji="0" lang="en-US" altLang="zh-CN" sz="3200" b="1" dirty="0">
                <a:solidFill>
                  <a:srgbClr val="660033"/>
                </a:solidFill>
                <a:sym typeface="Symbol" pitchFamily="2" charset="2"/>
              </a:rPr>
              <a:t></a:t>
            </a:r>
            <a:r>
              <a:rPr kumimoji="0" lang="en-US" altLang="zh-CN" sz="3200" b="1" dirty="0">
                <a:solidFill>
                  <a:srgbClr val="660033"/>
                </a:solidFill>
              </a:rPr>
              <a:t>p(</a:t>
            </a:r>
            <a:r>
              <a:rPr kumimoji="0" lang="en-US" altLang="zh-CN" sz="3200" b="1" dirty="0" err="1">
                <a:solidFill>
                  <a:srgbClr val="660033"/>
                </a:solidFill>
              </a:rPr>
              <a:t>cno</a:t>
            </a:r>
            <a:r>
              <a:rPr kumimoji="0" lang="en-US" altLang="zh-CN" sz="3200" b="1" dirty="0">
                <a:solidFill>
                  <a:srgbClr val="660033"/>
                </a:solidFill>
              </a:rPr>
              <a:t>))</a:t>
            </a:r>
          </a:p>
          <a:p>
            <a:pPr>
              <a:lnSpc>
                <a:spcPct val="200000"/>
              </a:lnSpc>
            </a:pPr>
            <a:r>
              <a:rPr kumimoji="0" lang="zh-CN" altLang="en-US" sz="2400" b="1" dirty="0">
                <a:solidFill>
                  <a:schemeClr val="bg1"/>
                </a:solidFill>
              </a:rPr>
              <a:t>变换后的语义：</a:t>
            </a:r>
          </a:p>
          <a:p>
            <a:pPr>
              <a:lnSpc>
                <a:spcPct val="200000"/>
              </a:lnSpc>
            </a:pPr>
            <a:r>
              <a:rPr kumimoji="0" lang="zh-CN" altLang="en-US" sz="2800" b="1" dirty="0">
                <a:solidFill>
                  <a:schemeClr val="bg1"/>
                </a:solidFill>
              </a:rPr>
              <a:t> </a:t>
            </a:r>
            <a:r>
              <a:rPr kumimoji="0" lang="zh-CN" altLang="en-US" sz="2800" b="1" dirty="0">
                <a:solidFill>
                  <a:schemeClr val="bg2"/>
                </a:solidFill>
              </a:rPr>
              <a:t> 找这样的学生</a:t>
            </a:r>
            <a:r>
              <a:rPr kumimoji="0" lang="en-US" altLang="zh-CN" sz="2800" b="1" dirty="0">
                <a:solidFill>
                  <a:schemeClr val="bg2"/>
                </a:solidFill>
              </a:rPr>
              <a:t>SNO</a:t>
            </a:r>
            <a:r>
              <a:rPr kumimoji="0" lang="zh-CN" altLang="en-US" sz="2800" b="1" dirty="0">
                <a:solidFill>
                  <a:schemeClr val="bg2"/>
                </a:solidFill>
              </a:rPr>
              <a:t>，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不</a:t>
            </a:r>
            <a:r>
              <a:rPr kumimoji="0"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存在一门课程，</a:t>
            </a:r>
            <a:r>
              <a:rPr kumimoji="0"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他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没</a:t>
            </a:r>
            <a:r>
              <a:rPr kumimoji="0"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有选修。</a:t>
            </a:r>
            <a:endParaRPr kumimoji="0"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43011" name="Rectangle 5">
            <a:extLst>
              <a:ext uri="{FF2B5EF4-FFF2-40B4-BE49-F238E27FC236}">
                <a16:creationId xmlns:a16="http://schemas.microsoft.com/office/drawing/2014/main" id="{2CC7AF1B-4533-6F4E-9CFE-876F6B7CE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0"/>
            <a:ext cx="83534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选修了全部课程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学生的姓名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- -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查询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变换依据：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3641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8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8948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02" name="Rectangle 2">
            <a:extLst>
              <a:ext uri="{FF2B5EF4-FFF2-40B4-BE49-F238E27FC236}">
                <a16:creationId xmlns:a16="http://schemas.microsoft.com/office/drawing/2014/main" id="{DAE4A5AA-0219-1D45-97F2-95BAD3BC7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" y="-247650"/>
            <a:ext cx="842486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endParaRPr lang="en-US" altLang="zh-CN" sz="24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检索选修了</a:t>
            </a:r>
            <a:r>
              <a:rPr lang="zh-CN" altLang="en-US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全部课程</a:t>
            </a:r>
            <a:r>
              <a:rPr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</a:t>
            </a: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学生的姓名</a:t>
            </a:r>
            <a:r>
              <a:rPr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--</a:t>
            </a:r>
            <a:r>
              <a:rPr kumimoji="0" lang="en-US" altLang="zh-CN" sz="2400" dirty="0">
                <a:solidFill>
                  <a:srgbClr val="FF0000"/>
                </a:solidFill>
              </a:rPr>
              <a:t> </a:t>
            </a:r>
            <a:r>
              <a:rPr kumimoji="0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变换为：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kumimoji="0"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找这样的学生</a:t>
            </a:r>
            <a:r>
              <a:rPr kumimoji="0" lang="en-US" altLang="zh-CN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SNO</a:t>
            </a:r>
            <a:r>
              <a:rPr kumimoji="0"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  <a:r>
              <a:rPr kumimoji="0" lang="zh-CN" altLang="en-US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不存在一门课程，</a:t>
            </a:r>
            <a:r>
              <a:rPr kumimoji="0" lang="zh-CN" altLang="en-US" sz="24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他</a:t>
            </a:r>
            <a:r>
              <a:rPr kumimoji="0" lang="zh-CN" altLang="en-US" sz="24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没有选修。</a:t>
            </a:r>
          </a:p>
        </p:txBody>
      </p:sp>
      <p:sp>
        <p:nvSpPr>
          <p:cNvPr id="972806" name="Rectangle 6">
            <a:extLst>
              <a:ext uri="{FF2B5EF4-FFF2-40B4-BE49-F238E27FC236}">
                <a16:creationId xmlns:a16="http://schemas.microsoft.com/office/drawing/2014/main" id="{C4EE8111-AE58-E245-B9D3-E583DA0AE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175" y="1270000"/>
            <a:ext cx="7812088" cy="5094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</a:rPr>
              <a:t>SNAME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FROM </a:t>
            </a:r>
            <a:r>
              <a:rPr lang="en-US" altLang="zh-CN" sz="2400" b="1" dirty="0">
                <a:solidFill>
                  <a:schemeClr val="bg1"/>
                </a:solidFill>
              </a:rPr>
              <a:t>S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FROM </a:t>
            </a:r>
            <a:r>
              <a:rPr lang="en-US" altLang="zh-CN" sz="2400" b="1" dirty="0">
                <a:solidFill>
                  <a:srgbClr val="660033"/>
                </a:solidFill>
              </a:rPr>
              <a:t>C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WHERE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 FROM </a:t>
            </a:r>
            <a:r>
              <a:rPr lang="en-US" altLang="zh-CN" sz="2400" b="1" dirty="0">
                <a:solidFill>
                  <a:srgbClr val="FF0000"/>
                </a:solidFill>
              </a:rPr>
              <a:t>SC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 WHERE SC.SNO=</a:t>
            </a:r>
            <a:r>
              <a:rPr lang="en-US" altLang="zh-CN" sz="2400" b="1" dirty="0">
                <a:solidFill>
                  <a:schemeClr val="bg1"/>
                </a:solidFill>
              </a:rPr>
              <a:t>S.SNO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   AND </a:t>
            </a:r>
            <a:r>
              <a:rPr lang="en-US" altLang="zh-CN" sz="2400" b="1" dirty="0">
                <a:solidFill>
                  <a:srgbClr val="FF0000"/>
                </a:solidFill>
              </a:rPr>
              <a:t>SC.CNO</a:t>
            </a:r>
            <a:r>
              <a:rPr lang="en-US" altLang="zh-CN" sz="2400" b="1" dirty="0">
                <a:solidFill>
                  <a:schemeClr val="bg2"/>
                </a:solidFill>
              </a:rPr>
              <a:t>=C</a:t>
            </a:r>
            <a:r>
              <a:rPr lang="en-US" altLang="zh-CN" sz="2400" b="1" dirty="0">
                <a:solidFill>
                  <a:srgbClr val="660033"/>
                </a:solidFill>
              </a:rPr>
              <a:t>.CNO</a:t>
            </a:r>
            <a:r>
              <a:rPr lang="en-US" altLang="zh-CN" sz="2400" b="1" dirty="0">
                <a:solidFill>
                  <a:schemeClr val="bg2"/>
                </a:solidFill>
              </a:rPr>
              <a:t>));</a:t>
            </a:r>
          </a:p>
        </p:txBody>
      </p:sp>
      <p:sp>
        <p:nvSpPr>
          <p:cNvPr id="972807" name="Text Box 7">
            <a:extLst>
              <a:ext uri="{FF2B5EF4-FFF2-40B4-BE49-F238E27FC236}">
                <a16:creationId xmlns:a16="http://schemas.microsoft.com/office/drawing/2014/main" id="{27821624-F028-9342-8244-CCBA013FB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1270000"/>
            <a:ext cx="3744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972808" name="Text Box 8">
            <a:extLst>
              <a:ext uri="{FF2B5EF4-FFF2-40B4-BE49-F238E27FC236}">
                <a16:creationId xmlns:a16="http://schemas.microsoft.com/office/drawing/2014/main" id="{87E9B0B3-CC2A-F141-8063-8928DB8F1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2349500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不存在一门</a:t>
            </a: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课程</a:t>
            </a:r>
          </a:p>
        </p:txBody>
      </p:sp>
      <p:sp>
        <p:nvSpPr>
          <p:cNvPr id="972811" name="Freeform 11">
            <a:extLst>
              <a:ext uri="{FF2B5EF4-FFF2-40B4-BE49-F238E27FC236}">
                <a16:creationId xmlns:a16="http://schemas.microsoft.com/office/drawing/2014/main" id="{6AA45E32-165E-6A40-AB93-504AED9B84D9}"/>
              </a:ext>
            </a:extLst>
          </p:cNvPr>
          <p:cNvSpPr>
            <a:spLocks/>
          </p:cNvSpPr>
          <p:nvPr/>
        </p:nvSpPr>
        <p:spPr bwMode="auto">
          <a:xfrm>
            <a:off x="4591050" y="4567238"/>
            <a:ext cx="2133600" cy="620712"/>
          </a:xfrm>
          <a:custGeom>
            <a:avLst/>
            <a:gdLst>
              <a:gd name="T0" fmla="*/ 0 w 1344"/>
              <a:gd name="T1" fmla="*/ 2147483646 h 391"/>
              <a:gd name="T2" fmla="*/ 2147483646 w 1344"/>
              <a:gd name="T3" fmla="*/ 2147483646 h 391"/>
              <a:gd name="T4" fmla="*/ 2147483646 w 1344"/>
              <a:gd name="T5" fmla="*/ 2147483646 h 391"/>
              <a:gd name="T6" fmla="*/ 2147483646 w 1344"/>
              <a:gd name="T7" fmla="*/ 2147483646 h 391"/>
              <a:gd name="T8" fmla="*/ 2147483646 w 1344"/>
              <a:gd name="T9" fmla="*/ 0 h 391"/>
              <a:gd name="T10" fmla="*/ 2147483646 w 1344"/>
              <a:gd name="T11" fmla="*/ 2147483646 h 391"/>
              <a:gd name="T12" fmla="*/ 2147483646 w 1344"/>
              <a:gd name="T13" fmla="*/ 2147483646 h 391"/>
              <a:gd name="T14" fmla="*/ 2147483646 w 1344"/>
              <a:gd name="T15" fmla="*/ 2147483646 h 391"/>
              <a:gd name="T16" fmla="*/ 2147483646 w 1344"/>
              <a:gd name="T17" fmla="*/ 2147483646 h 391"/>
              <a:gd name="T18" fmla="*/ 2147483646 w 1344"/>
              <a:gd name="T19" fmla="*/ 2147483646 h 391"/>
              <a:gd name="T20" fmla="*/ 2147483646 w 1344"/>
              <a:gd name="T21" fmla="*/ 2147483646 h 391"/>
              <a:gd name="T22" fmla="*/ 2147483646 w 1344"/>
              <a:gd name="T23" fmla="*/ 2147483646 h 391"/>
              <a:gd name="T24" fmla="*/ 2147483646 w 1344"/>
              <a:gd name="T25" fmla="*/ 2147483646 h 391"/>
              <a:gd name="T26" fmla="*/ 2147483646 w 1344"/>
              <a:gd name="T27" fmla="*/ 2147483646 h 391"/>
              <a:gd name="T28" fmla="*/ 0 w 1344"/>
              <a:gd name="T29" fmla="*/ 2147483646 h 39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344"/>
              <a:gd name="T46" fmla="*/ 0 h 391"/>
              <a:gd name="T47" fmla="*/ 1344 w 1344"/>
              <a:gd name="T48" fmla="*/ 391 h 39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344" h="391">
                <a:moveTo>
                  <a:pt x="0" y="184"/>
                </a:moveTo>
                <a:cubicBezTo>
                  <a:pt x="10" y="153"/>
                  <a:pt x="21" y="94"/>
                  <a:pt x="48" y="72"/>
                </a:cubicBezTo>
                <a:cubicBezTo>
                  <a:pt x="55" y="67"/>
                  <a:pt x="64" y="68"/>
                  <a:pt x="72" y="64"/>
                </a:cubicBezTo>
                <a:cubicBezTo>
                  <a:pt x="93" y="54"/>
                  <a:pt x="122" y="30"/>
                  <a:pt x="144" y="24"/>
                </a:cubicBezTo>
                <a:cubicBezTo>
                  <a:pt x="201" y="10"/>
                  <a:pt x="261" y="9"/>
                  <a:pt x="320" y="0"/>
                </a:cubicBezTo>
                <a:cubicBezTo>
                  <a:pt x="620" y="4"/>
                  <a:pt x="814" y="8"/>
                  <a:pt x="1080" y="32"/>
                </a:cubicBezTo>
                <a:cubicBezTo>
                  <a:pt x="1168" y="52"/>
                  <a:pt x="1260" y="62"/>
                  <a:pt x="1344" y="96"/>
                </a:cubicBezTo>
                <a:cubicBezTo>
                  <a:pt x="1338" y="115"/>
                  <a:pt x="1311" y="180"/>
                  <a:pt x="1296" y="192"/>
                </a:cubicBezTo>
                <a:cubicBezTo>
                  <a:pt x="1289" y="197"/>
                  <a:pt x="1280" y="197"/>
                  <a:pt x="1272" y="200"/>
                </a:cubicBezTo>
                <a:cubicBezTo>
                  <a:pt x="1269" y="208"/>
                  <a:pt x="1269" y="217"/>
                  <a:pt x="1264" y="224"/>
                </a:cubicBezTo>
                <a:cubicBezTo>
                  <a:pt x="1249" y="243"/>
                  <a:pt x="1235" y="238"/>
                  <a:pt x="1216" y="248"/>
                </a:cubicBezTo>
                <a:cubicBezTo>
                  <a:pt x="1173" y="270"/>
                  <a:pt x="1145" y="288"/>
                  <a:pt x="1096" y="296"/>
                </a:cubicBezTo>
                <a:cubicBezTo>
                  <a:pt x="755" y="293"/>
                  <a:pt x="389" y="391"/>
                  <a:pt x="72" y="264"/>
                </a:cubicBezTo>
                <a:cubicBezTo>
                  <a:pt x="62" y="233"/>
                  <a:pt x="56" y="219"/>
                  <a:pt x="24" y="208"/>
                </a:cubicBezTo>
                <a:cubicBezTo>
                  <a:pt x="15" y="161"/>
                  <a:pt x="26" y="158"/>
                  <a:pt x="0" y="184"/>
                </a:cubicBezTo>
                <a:close/>
              </a:path>
            </a:pathLst>
          </a:custGeom>
          <a:noFill/>
          <a:ln w="952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4043" name="AutoShape 13">
            <a:extLst>
              <a:ext uri="{FF2B5EF4-FFF2-40B4-BE49-F238E27FC236}">
                <a16:creationId xmlns:a16="http://schemas.microsoft.com/office/drawing/2014/main" id="{9F0DB2DA-A32E-594D-840A-650F08789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530" y="2725738"/>
            <a:ext cx="1873250" cy="792162"/>
          </a:xfrm>
          <a:prstGeom prst="cloudCallout">
            <a:avLst>
              <a:gd name="adj1" fmla="val -85699"/>
              <a:gd name="adj2" fmla="val 90481"/>
            </a:avLst>
          </a:prstGeom>
          <a:noFill/>
          <a:ln w="952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他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没有</a:t>
            </a:r>
          </a:p>
        </p:txBody>
      </p:sp>
      <p:sp>
        <p:nvSpPr>
          <p:cNvPr id="972814" name="Text Box 14">
            <a:extLst>
              <a:ext uri="{FF2B5EF4-FFF2-40B4-BE49-F238E27FC236}">
                <a16:creationId xmlns:a16="http://schemas.microsoft.com/office/drawing/2014/main" id="{0157E4F9-49A5-4544-9B58-1F3B91060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438" y="4518025"/>
            <a:ext cx="2052637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- 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选修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972816" name="Freeform 16">
            <a:extLst>
              <a:ext uri="{FF2B5EF4-FFF2-40B4-BE49-F238E27FC236}">
                <a16:creationId xmlns:a16="http://schemas.microsoft.com/office/drawing/2014/main" id="{E3F11E25-EEAC-8746-AD70-E721F6B0CA70}"/>
              </a:ext>
            </a:extLst>
          </p:cNvPr>
          <p:cNvSpPr>
            <a:spLocks/>
          </p:cNvSpPr>
          <p:nvPr/>
        </p:nvSpPr>
        <p:spPr bwMode="auto">
          <a:xfrm>
            <a:off x="4572000" y="4038600"/>
            <a:ext cx="2133600" cy="620713"/>
          </a:xfrm>
          <a:custGeom>
            <a:avLst/>
            <a:gdLst>
              <a:gd name="T0" fmla="*/ 0 w 1344"/>
              <a:gd name="T1" fmla="*/ 2147483646 h 391"/>
              <a:gd name="T2" fmla="*/ 2147483646 w 1344"/>
              <a:gd name="T3" fmla="*/ 2147483646 h 391"/>
              <a:gd name="T4" fmla="*/ 2147483646 w 1344"/>
              <a:gd name="T5" fmla="*/ 2147483646 h 391"/>
              <a:gd name="T6" fmla="*/ 2147483646 w 1344"/>
              <a:gd name="T7" fmla="*/ 2147483646 h 391"/>
              <a:gd name="T8" fmla="*/ 2147483646 w 1344"/>
              <a:gd name="T9" fmla="*/ 0 h 391"/>
              <a:gd name="T10" fmla="*/ 2147483646 w 1344"/>
              <a:gd name="T11" fmla="*/ 2147483646 h 391"/>
              <a:gd name="T12" fmla="*/ 2147483646 w 1344"/>
              <a:gd name="T13" fmla="*/ 2147483646 h 391"/>
              <a:gd name="T14" fmla="*/ 2147483646 w 1344"/>
              <a:gd name="T15" fmla="*/ 2147483646 h 391"/>
              <a:gd name="T16" fmla="*/ 2147483646 w 1344"/>
              <a:gd name="T17" fmla="*/ 2147483646 h 391"/>
              <a:gd name="T18" fmla="*/ 2147483646 w 1344"/>
              <a:gd name="T19" fmla="*/ 2147483646 h 391"/>
              <a:gd name="T20" fmla="*/ 2147483646 w 1344"/>
              <a:gd name="T21" fmla="*/ 2147483646 h 391"/>
              <a:gd name="T22" fmla="*/ 2147483646 w 1344"/>
              <a:gd name="T23" fmla="*/ 2147483646 h 391"/>
              <a:gd name="T24" fmla="*/ 2147483646 w 1344"/>
              <a:gd name="T25" fmla="*/ 2147483646 h 391"/>
              <a:gd name="T26" fmla="*/ 2147483646 w 1344"/>
              <a:gd name="T27" fmla="*/ 2147483646 h 391"/>
              <a:gd name="T28" fmla="*/ 0 w 1344"/>
              <a:gd name="T29" fmla="*/ 2147483646 h 391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344"/>
              <a:gd name="T46" fmla="*/ 0 h 391"/>
              <a:gd name="T47" fmla="*/ 1344 w 1344"/>
              <a:gd name="T48" fmla="*/ 391 h 391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344" h="391">
                <a:moveTo>
                  <a:pt x="0" y="184"/>
                </a:moveTo>
                <a:cubicBezTo>
                  <a:pt x="10" y="153"/>
                  <a:pt x="21" y="94"/>
                  <a:pt x="48" y="72"/>
                </a:cubicBezTo>
                <a:cubicBezTo>
                  <a:pt x="55" y="67"/>
                  <a:pt x="64" y="68"/>
                  <a:pt x="72" y="64"/>
                </a:cubicBezTo>
                <a:cubicBezTo>
                  <a:pt x="93" y="54"/>
                  <a:pt x="122" y="30"/>
                  <a:pt x="144" y="24"/>
                </a:cubicBezTo>
                <a:cubicBezTo>
                  <a:pt x="201" y="10"/>
                  <a:pt x="261" y="9"/>
                  <a:pt x="320" y="0"/>
                </a:cubicBezTo>
                <a:cubicBezTo>
                  <a:pt x="620" y="4"/>
                  <a:pt x="814" y="8"/>
                  <a:pt x="1080" y="32"/>
                </a:cubicBezTo>
                <a:cubicBezTo>
                  <a:pt x="1168" y="52"/>
                  <a:pt x="1260" y="62"/>
                  <a:pt x="1344" y="96"/>
                </a:cubicBezTo>
                <a:cubicBezTo>
                  <a:pt x="1338" y="115"/>
                  <a:pt x="1311" y="180"/>
                  <a:pt x="1296" y="192"/>
                </a:cubicBezTo>
                <a:cubicBezTo>
                  <a:pt x="1289" y="197"/>
                  <a:pt x="1280" y="197"/>
                  <a:pt x="1272" y="200"/>
                </a:cubicBezTo>
                <a:cubicBezTo>
                  <a:pt x="1269" y="208"/>
                  <a:pt x="1269" y="217"/>
                  <a:pt x="1264" y="224"/>
                </a:cubicBezTo>
                <a:cubicBezTo>
                  <a:pt x="1249" y="243"/>
                  <a:pt x="1235" y="238"/>
                  <a:pt x="1216" y="248"/>
                </a:cubicBezTo>
                <a:cubicBezTo>
                  <a:pt x="1173" y="270"/>
                  <a:pt x="1145" y="288"/>
                  <a:pt x="1096" y="296"/>
                </a:cubicBezTo>
                <a:cubicBezTo>
                  <a:pt x="755" y="293"/>
                  <a:pt x="389" y="391"/>
                  <a:pt x="72" y="264"/>
                </a:cubicBezTo>
                <a:cubicBezTo>
                  <a:pt x="62" y="233"/>
                  <a:pt x="56" y="219"/>
                  <a:pt x="24" y="208"/>
                </a:cubicBezTo>
                <a:cubicBezTo>
                  <a:pt x="15" y="161"/>
                  <a:pt x="26" y="158"/>
                  <a:pt x="0" y="184"/>
                </a:cubicBezTo>
                <a:close/>
              </a:path>
            </a:pathLst>
          </a:custGeom>
          <a:noFill/>
          <a:ln w="952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4C15ECCA-7680-60C6-22E4-A4DF486C8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63" y="4987781"/>
            <a:ext cx="3664827" cy="169382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8C993B7-8C35-FB48-BC0D-B31F14740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163" y="2485450"/>
            <a:ext cx="9144000" cy="234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94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72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7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72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72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72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06" grpId="0" animBg="1"/>
      <p:bldP spid="972807" grpId="0"/>
      <p:bldP spid="972808" grpId="0"/>
      <p:bldP spid="97281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1639" y="692696"/>
            <a:ext cx="8280722" cy="4114800"/>
          </a:xfrm>
        </p:spPr>
        <p:txBody>
          <a:bodyPr/>
          <a:lstStyle/>
          <a:p>
            <a:pPr eaLnBrk="1" hangingPunct="1"/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zh-CN" altLang="en-US" sz="2800" b="1" kern="1200" dirty="0">
                <a:solidFill>
                  <a:srgbClr val="660033"/>
                </a:solidFill>
                <a:latin typeface="宋体" charset="-122"/>
              </a:rPr>
              <a:t>用</a:t>
            </a:r>
            <a:r>
              <a:rPr lang="en-US" altLang="zh-CN" sz="2800" b="1" kern="1200" dirty="0">
                <a:solidFill>
                  <a:srgbClr val="660033"/>
                </a:solidFill>
                <a:latin typeface="宋体" charset="-122"/>
              </a:rPr>
              <a:t>EXISTS/NOT EXISTS</a:t>
            </a:r>
            <a:r>
              <a:rPr lang="zh-CN" altLang="en-US" sz="2800" b="1" kern="1200" dirty="0">
                <a:solidFill>
                  <a:srgbClr val="660033"/>
                </a:solidFill>
                <a:latin typeface="宋体" charset="-122"/>
              </a:rPr>
              <a:t>实现逻辑蕴函</a:t>
            </a:r>
            <a:r>
              <a:rPr lang="en-US" altLang="zh-CN" sz="2800" b="1" kern="1200" dirty="0">
                <a:solidFill>
                  <a:srgbClr val="660033"/>
                </a:solidFill>
                <a:latin typeface="宋体" charset="-122"/>
              </a:rPr>
              <a:t>(</a:t>
            </a:r>
            <a:r>
              <a:rPr lang="zh-CN" altLang="en-US" sz="2800" b="1" dirty="0">
                <a:solidFill>
                  <a:srgbClr val="C00000"/>
                </a:solidFill>
              </a:rPr>
              <a:t>难点</a:t>
            </a:r>
            <a:r>
              <a:rPr lang="en-US" altLang="zh-CN" sz="2800" b="1" kern="1200" dirty="0">
                <a:solidFill>
                  <a:srgbClr val="660033"/>
                </a:solidFill>
                <a:latin typeface="宋体" charset="-122"/>
              </a:rPr>
              <a:t>)</a:t>
            </a:r>
          </a:p>
          <a:p>
            <a:pPr lvl="1" eaLnBrk="1" hangingPunct="1">
              <a:lnSpc>
                <a:spcPct val="130000"/>
              </a:lnSpc>
            </a:pPr>
            <a:endParaRPr lang="en-US" altLang="zh-CN" b="1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bg2"/>
                </a:solidFill>
              </a:rPr>
              <a:t>SQL</a:t>
            </a:r>
            <a:r>
              <a:rPr lang="zh-CN" altLang="en-US" b="1" dirty="0">
                <a:solidFill>
                  <a:schemeClr val="bg2"/>
                </a:solidFill>
              </a:rPr>
              <a:t>语言中没有蕴函</a:t>
            </a:r>
            <a:r>
              <a:rPr lang="en-US" altLang="zh-CN" b="1" dirty="0">
                <a:solidFill>
                  <a:schemeClr val="bg2"/>
                </a:solidFill>
              </a:rPr>
              <a:t>(Implication)</a:t>
            </a:r>
            <a:r>
              <a:rPr lang="zh-CN" altLang="en-US" b="1" dirty="0">
                <a:solidFill>
                  <a:schemeClr val="bg2"/>
                </a:solidFill>
              </a:rPr>
              <a:t>逻辑运算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bg2"/>
                </a:solidFill>
              </a:rPr>
              <a:t>可以利用谓词演算将逻辑蕴函谓词等价转换为：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</a:rPr>
              <a:t>                   </a:t>
            </a:r>
            <a:endParaRPr lang="en-US" altLang="zh-CN" b="1" dirty="0">
              <a:solidFill>
                <a:schemeClr val="bg2"/>
              </a:solidFill>
            </a:endParaRP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</a:rPr>
              <a:t>                        </a:t>
            </a:r>
            <a:r>
              <a:rPr lang="en-US" altLang="zh-CN" b="1" dirty="0">
                <a:solidFill>
                  <a:schemeClr val="bg1"/>
                </a:solidFill>
              </a:rPr>
              <a:t>p </a:t>
            </a:r>
            <a:r>
              <a:rPr lang="en-US" altLang="zh-CN" b="1" dirty="0">
                <a:solidFill>
                  <a:schemeClr val="bg1"/>
                </a:solidFill>
                <a:sym typeface="Symbol" pitchFamily="18" charset="2"/>
              </a:rPr>
              <a:t></a:t>
            </a:r>
            <a:r>
              <a:rPr lang="en-US" altLang="zh-CN" b="1" dirty="0">
                <a:solidFill>
                  <a:schemeClr val="bg1"/>
                </a:solidFill>
              </a:rPr>
              <a:t> q ≡ </a:t>
            </a:r>
            <a:r>
              <a:rPr lang="en-US" altLang="zh-CN" b="1" dirty="0">
                <a:solidFill>
                  <a:schemeClr val="bg1"/>
                </a:solidFill>
                <a:sym typeface="Symbol" pitchFamily="18" charset="2"/>
              </a:rPr>
              <a:t></a:t>
            </a:r>
            <a:r>
              <a:rPr lang="en-US" altLang="zh-CN" b="1" dirty="0">
                <a:solidFill>
                  <a:schemeClr val="bg1"/>
                </a:solidFill>
              </a:rPr>
              <a:t> </a:t>
            </a:r>
            <a:r>
              <a:rPr lang="en-US" altLang="zh-CN" b="1" dirty="0" err="1">
                <a:solidFill>
                  <a:schemeClr val="bg1"/>
                </a:solidFill>
              </a:rPr>
              <a:t>p∨q</a:t>
            </a:r>
            <a:r>
              <a:rPr lang="en-US" altLang="zh-CN" b="1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7" name="Rectangle 3">
            <a:extLst>
              <a:ext uri="{FF2B5EF4-FFF2-40B4-BE49-F238E27FC236}">
                <a16:creationId xmlns:a16="http://schemas.microsoft.com/office/drawing/2014/main" id="{D25112AC-64BD-ED48-8793-50A7FAC92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-315913"/>
            <a:ext cx="8424863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检索至少选修了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学生</a:t>
            </a:r>
            <a:r>
              <a:rPr kumimoji="0"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S2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所选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修的全部课程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的学号。</a:t>
            </a:r>
          </a:p>
        </p:txBody>
      </p:sp>
      <p:sp>
        <p:nvSpPr>
          <p:cNvPr id="973830" name="Rectangle 6">
            <a:extLst>
              <a:ext uri="{FF2B5EF4-FFF2-40B4-BE49-F238E27FC236}">
                <a16:creationId xmlns:a16="http://schemas.microsoft.com/office/drawing/2014/main" id="{B690B614-4225-CC49-BD29-5A915213D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100" y="608013"/>
            <a:ext cx="8528050" cy="331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kumimoji="0" lang="zh-CN" altLang="en-US" sz="2400" b="1">
                <a:solidFill>
                  <a:schemeClr val="bg1"/>
                </a:solidFill>
              </a:rPr>
              <a:t>变换表达形式：</a:t>
            </a:r>
            <a:r>
              <a:rPr kumimoji="0" lang="zh-CN" altLang="en-US" sz="2400" b="1">
                <a:solidFill>
                  <a:schemeClr val="bg2"/>
                </a:solidFill>
              </a:rPr>
              <a:t>找这样的学生</a:t>
            </a:r>
            <a:r>
              <a:rPr kumimoji="0" lang="en-US" altLang="zh-CN" sz="2400" b="1">
                <a:solidFill>
                  <a:schemeClr val="bg2"/>
                </a:solidFill>
              </a:rPr>
              <a:t>SNO</a:t>
            </a:r>
            <a:r>
              <a:rPr kumimoji="0" lang="zh-CN" altLang="en-US" sz="2400" b="1">
                <a:solidFill>
                  <a:schemeClr val="bg2"/>
                </a:solidFill>
              </a:rPr>
              <a:t>，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对所有的课程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CNO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，</a:t>
            </a:r>
          </a:p>
          <a:p>
            <a:pPr>
              <a:lnSpc>
                <a:spcPct val="110000"/>
              </a:lnSpc>
            </a:pP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只要学生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S2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选修了，那么学生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SNO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也选修了这些课程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CNO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。</a:t>
            </a:r>
          </a:p>
          <a:p>
            <a:pPr>
              <a:lnSpc>
                <a:spcPct val="130000"/>
              </a:lnSpc>
            </a:pPr>
            <a:r>
              <a:rPr kumimoji="0" lang="zh-CN" altLang="en-US" sz="2400" b="1">
                <a:solidFill>
                  <a:schemeClr val="bg2"/>
                </a:solidFill>
              </a:rPr>
              <a:t>形式化表示：  </a:t>
            </a:r>
            <a:r>
              <a:rPr kumimoji="0" lang="en-US" altLang="zh-CN" sz="2800" b="1">
                <a:solidFill>
                  <a:srgbClr val="660033"/>
                </a:solidFill>
              </a:rPr>
              <a:t>(</a:t>
            </a:r>
            <a:r>
              <a:rPr kumimoji="0" lang="en-US" altLang="zh-CN" sz="2800" b="1">
                <a:solidFill>
                  <a:srgbClr val="660033"/>
                </a:solidFill>
                <a:sym typeface="Symbol" pitchFamily="2" charset="2"/>
              </a:rPr>
              <a:t></a:t>
            </a:r>
            <a:r>
              <a:rPr kumimoji="0" lang="en-US" altLang="zh-CN" sz="2800" b="1">
                <a:solidFill>
                  <a:srgbClr val="660033"/>
                </a:solidFill>
              </a:rPr>
              <a:t>cno) p(cno) </a:t>
            </a:r>
            <a:r>
              <a:rPr kumimoji="0" lang="en-US" altLang="zh-CN" sz="2800" b="1">
                <a:solidFill>
                  <a:srgbClr val="660033"/>
                </a:solidFill>
                <a:sym typeface="Symbol" pitchFamily="2" charset="2"/>
              </a:rPr>
              <a:t> </a:t>
            </a:r>
            <a:r>
              <a:rPr kumimoji="0" lang="en-US" altLang="zh-CN" sz="2800" b="1">
                <a:solidFill>
                  <a:srgbClr val="660033"/>
                </a:solidFill>
              </a:rPr>
              <a:t>q(cno)</a:t>
            </a:r>
          </a:p>
          <a:p>
            <a:pPr>
              <a:lnSpc>
                <a:spcPct val="130000"/>
              </a:lnSpc>
            </a:pPr>
            <a:r>
              <a:rPr kumimoji="0" lang="zh-CN" altLang="en-US" sz="2400" b="1">
                <a:solidFill>
                  <a:schemeClr val="bg2"/>
                </a:solidFill>
              </a:rPr>
              <a:t>其中：</a:t>
            </a:r>
            <a:r>
              <a:rPr kumimoji="0" lang="en-US" altLang="zh-CN" sz="2400" b="1">
                <a:solidFill>
                  <a:schemeClr val="bg2"/>
                </a:solidFill>
              </a:rPr>
              <a:t>cno:    </a:t>
            </a:r>
            <a:r>
              <a:rPr kumimoji="0" lang="zh-CN" altLang="en-US" sz="2400" b="1">
                <a:solidFill>
                  <a:schemeClr val="bg2"/>
                </a:solidFill>
              </a:rPr>
              <a:t>表示课程；</a:t>
            </a:r>
          </a:p>
          <a:p>
            <a:pPr>
              <a:lnSpc>
                <a:spcPct val="130000"/>
              </a:lnSpc>
            </a:pPr>
            <a:r>
              <a:rPr kumimoji="0" lang="zh-CN" altLang="en-US" sz="2400" b="1">
                <a:solidFill>
                  <a:schemeClr val="bg2"/>
                </a:solidFill>
              </a:rPr>
              <a:t>      </a:t>
            </a:r>
            <a:r>
              <a:rPr kumimoji="0" lang="en-US" altLang="zh-CN" sz="2400" b="1">
                <a:solidFill>
                  <a:schemeClr val="bg2"/>
                </a:solidFill>
              </a:rPr>
              <a:t>p(cno): </a:t>
            </a:r>
            <a:r>
              <a:rPr kumimoji="0" lang="zh-CN" altLang="en-US" sz="2400" b="1">
                <a:solidFill>
                  <a:schemeClr val="bg2"/>
                </a:solidFill>
              </a:rPr>
              <a:t>表示 “学生</a:t>
            </a:r>
            <a:r>
              <a:rPr kumimoji="0" lang="en-US" altLang="zh-CN" sz="2400" b="1">
                <a:solidFill>
                  <a:schemeClr val="bg2"/>
                </a:solidFill>
              </a:rPr>
              <a:t>S2</a:t>
            </a:r>
            <a:r>
              <a:rPr kumimoji="0" lang="zh-CN" altLang="en-US" sz="2400" b="1">
                <a:solidFill>
                  <a:schemeClr val="bg2"/>
                </a:solidFill>
              </a:rPr>
              <a:t>选修了课程</a:t>
            </a:r>
            <a:r>
              <a:rPr kumimoji="0" lang="en-US" altLang="zh-CN" sz="2400" b="1">
                <a:solidFill>
                  <a:schemeClr val="bg2"/>
                </a:solidFill>
              </a:rPr>
              <a:t>cno”</a:t>
            </a:r>
            <a:r>
              <a:rPr kumimoji="0" lang="zh-CN" altLang="en-US" sz="2400" b="1">
                <a:solidFill>
                  <a:schemeClr val="bg2"/>
                </a:solidFill>
              </a:rPr>
              <a:t>；</a:t>
            </a:r>
          </a:p>
          <a:p>
            <a:pPr>
              <a:lnSpc>
                <a:spcPct val="130000"/>
              </a:lnSpc>
            </a:pPr>
            <a:r>
              <a:rPr kumimoji="0" lang="zh-CN" altLang="en-US" sz="2400" b="1">
                <a:solidFill>
                  <a:schemeClr val="bg2"/>
                </a:solidFill>
              </a:rPr>
              <a:t>     	</a:t>
            </a:r>
            <a:r>
              <a:rPr kumimoji="0" lang="en-US" altLang="zh-CN" sz="2400" b="1">
                <a:solidFill>
                  <a:schemeClr val="bg2"/>
                </a:solidFill>
              </a:rPr>
              <a:t>q(cno): </a:t>
            </a:r>
            <a:r>
              <a:rPr kumimoji="0" lang="zh-CN" altLang="en-US" sz="2400" b="1">
                <a:solidFill>
                  <a:schemeClr val="bg2"/>
                </a:solidFill>
              </a:rPr>
              <a:t>表示 “学生</a:t>
            </a:r>
            <a:r>
              <a:rPr kumimoji="0" lang="en-US" altLang="zh-CN" sz="2400" b="1">
                <a:solidFill>
                  <a:schemeClr val="bg2"/>
                </a:solidFill>
              </a:rPr>
              <a:t>SNO</a:t>
            </a:r>
            <a:r>
              <a:rPr kumimoji="0" lang="zh-CN" altLang="en-US" sz="2400" b="1">
                <a:solidFill>
                  <a:schemeClr val="bg2"/>
                </a:solidFill>
              </a:rPr>
              <a:t>选修了课程</a:t>
            </a:r>
            <a:r>
              <a:rPr kumimoji="0" lang="en-US" altLang="zh-CN" sz="2400" b="1">
                <a:solidFill>
                  <a:schemeClr val="bg2"/>
                </a:solidFill>
              </a:rPr>
              <a:t>cno”</a:t>
            </a:r>
          </a:p>
          <a:p>
            <a:pPr>
              <a:lnSpc>
                <a:spcPct val="130000"/>
              </a:lnSpc>
            </a:pPr>
            <a:r>
              <a:rPr kumimoji="0" lang="en-US" altLang="zh-CN" sz="2400" b="1">
                <a:solidFill>
                  <a:schemeClr val="bg2"/>
                </a:solidFill>
              </a:rPr>
              <a:t>	</a:t>
            </a:r>
          </a:p>
        </p:txBody>
      </p:sp>
      <p:sp>
        <p:nvSpPr>
          <p:cNvPr id="973832" name="Rectangle 8">
            <a:extLst>
              <a:ext uri="{FF2B5EF4-FFF2-40B4-BE49-F238E27FC236}">
                <a16:creationId xmlns:a16="http://schemas.microsoft.com/office/drawing/2014/main" id="{58CBCA24-B5FA-824D-9382-64401D0B6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8" y="3643313"/>
            <a:ext cx="8462962" cy="301307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en-US" altLang="zh-CN" sz="2400" b="1">
                <a:solidFill>
                  <a:schemeClr val="bg2"/>
                </a:solidFill>
              </a:rPr>
              <a:t>               ≡</a:t>
            </a:r>
            <a:r>
              <a:rPr kumimoji="0" lang="en-US" altLang="zh-CN" sz="2400" b="1">
                <a:solidFill>
                  <a:schemeClr val="bg2"/>
                </a:solidFill>
                <a:sym typeface="Symbol" pitchFamily="2" charset="2"/>
              </a:rPr>
              <a:t></a:t>
            </a:r>
            <a:r>
              <a:rPr kumimoji="0" lang="en-US" altLang="zh-CN" sz="2400" b="1">
                <a:solidFill>
                  <a:schemeClr val="bg2"/>
                </a:solidFill>
              </a:rPr>
              <a:t>(</a:t>
            </a:r>
            <a:r>
              <a:rPr kumimoji="0" lang="en-US" altLang="zh-CN" sz="2400" b="1">
                <a:solidFill>
                  <a:schemeClr val="bg2"/>
                </a:solidFill>
                <a:sym typeface="Symbol" pitchFamily="2" charset="2"/>
              </a:rPr>
              <a:t></a:t>
            </a:r>
            <a:r>
              <a:rPr kumimoji="0" lang="en-US" altLang="zh-CN" sz="2400" b="1">
                <a:solidFill>
                  <a:schemeClr val="bg2"/>
                </a:solidFill>
              </a:rPr>
              <a:t>cno)(</a:t>
            </a:r>
            <a:r>
              <a:rPr kumimoji="0" lang="en-US" altLang="zh-CN" sz="2400" b="1">
                <a:solidFill>
                  <a:schemeClr val="bg2"/>
                </a:solidFill>
                <a:sym typeface="Symbol" pitchFamily="2" charset="2"/>
              </a:rPr>
              <a:t></a:t>
            </a:r>
            <a:r>
              <a:rPr kumimoji="0" lang="en-US" altLang="zh-CN" sz="2400" b="1">
                <a:solidFill>
                  <a:schemeClr val="bg2"/>
                </a:solidFill>
              </a:rPr>
              <a:t>(</a:t>
            </a:r>
            <a:r>
              <a:rPr kumimoji="0" lang="en-US" altLang="zh-CN" sz="2400" b="1">
                <a:solidFill>
                  <a:schemeClr val="bg1"/>
                </a:solidFill>
              </a:rPr>
              <a:t>p(cno) </a:t>
            </a:r>
            <a:r>
              <a:rPr kumimoji="0" lang="en-US" altLang="zh-CN" sz="2400" b="1">
                <a:solidFill>
                  <a:schemeClr val="bg1"/>
                </a:solidFill>
                <a:sym typeface="Symbol" pitchFamily="2" charset="2"/>
              </a:rPr>
              <a:t></a:t>
            </a:r>
            <a:r>
              <a:rPr kumimoji="0" lang="en-US" altLang="zh-CN" sz="2400" b="1">
                <a:solidFill>
                  <a:schemeClr val="bg1"/>
                </a:solidFill>
              </a:rPr>
              <a:t>q(cno</a:t>
            </a:r>
            <a:r>
              <a:rPr kumimoji="0" lang="en-US" altLang="zh-CN" sz="2400" b="1">
                <a:solidFill>
                  <a:schemeClr val="bg2"/>
                </a:solidFill>
              </a:rPr>
              <a:t>)))</a:t>
            </a:r>
          </a:p>
          <a:p>
            <a:pPr>
              <a:lnSpc>
                <a:spcPct val="120000"/>
              </a:lnSpc>
            </a:pPr>
            <a:r>
              <a:rPr kumimoji="0" lang="en-US" altLang="zh-CN" sz="2400" b="1">
                <a:solidFill>
                  <a:schemeClr val="bg2"/>
                </a:solidFill>
              </a:rPr>
              <a:t>               ≡ </a:t>
            </a:r>
            <a:r>
              <a:rPr kumimoji="0" lang="en-US" altLang="zh-CN" sz="2400" b="1">
                <a:solidFill>
                  <a:schemeClr val="bg2"/>
                </a:solidFill>
                <a:sym typeface="Symbol" pitchFamily="2" charset="2"/>
              </a:rPr>
              <a:t></a:t>
            </a:r>
            <a:r>
              <a:rPr kumimoji="0" lang="en-US" altLang="zh-CN" sz="2400" b="1">
                <a:solidFill>
                  <a:schemeClr val="bg2"/>
                </a:solidFill>
              </a:rPr>
              <a:t>(</a:t>
            </a:r>
            <a:r>
              <a:rPr kumimoji="0" lang="en-US" altLang="zh-CN" sz="2400" b="1">
                <a:solidFill>
                  <a:schemeClr val="bg2"/>
                </a:solidFill>
                <a:sym typeface="Symbol" pitchFamily="2" charset="2"/>
              </a:rPr>
              <a:t></a:t>
            </a:r>
            <a:r>
              <a:rPr kumimoji="0" lang="en-US" altLang="zh-CN" sz="2400" b="1">
                <a:solidFill>
                  <a:schemeClr val="bg2"/>
                </a:solidFill>
              </a:rPr>
              <a:t>cno)(</a:t>
            </a:r>
            <a:r>
              <a:rPr kumimoji="0" lang="en-US" altLang="zh-CN" sz="2400" b="1">
                <a:solidFill>
                  <a:schemeClr val="bg2"/>
                </a:solidFill>
                <a:sym typeface="Symbol" pitchFamily="2" charset="2"/>
              </a:rPr>
              <a:t></a:t>
            </a:r>
            <a:r>
              <a:rPr kumimoji="0" lang="en-US" altLang="zh-CN" sz="2400" b="1">
                <a:solidFill>
                  <a:schemeClr val="bg2"/>
                </a:solidFill>
              </a:rPr>
              <a:t>(</a:t>
            </a:r>
            <a:r>
              <a:rPr kumimoji="0" lang="en-US" altLang="zh-CN" sz="2400" b="1">
                <a:solidFill>
                  <a:schemeClr val="bg1"/>
                </a:solidFill>
                <a:sym typeface="Symbol" pitchFamily="2" charset="2"/>
              </a:rPr>
              <a:t></a:t>
            </a:r>
            <a:r>
              <a:rPr kumimoji="0" lang="en-US" altLang="zh-CN" sz="2400" b="1">
                <a:solidFill>
                  <a:schemeClr val="bg1"/>
                </a:solidFill>
              </a:rPr>
              <a:t> p(cno)∨q(cno)</a:t>
            </a:r>
            <a:r>
              <a:rPr kumimoji="0" lang="en-US" altLang="zh-CN" sz="2400" b="1">
                <a:solidFill>
                  <a:schemeClr val="bg2"/>
                </a:solidFill>
              </a:rPr>
              <a:t>))</a:t>
            </a:r>
          </a:p>
          <a:p>
            <a:pPr>
              <a:lnSpc>
                <a:spcPct val="120000"/>
              </a:lnSpc>
            </a:pPr>
            <a:r>
              <a:rPr kumimoji="0" lang="en-US" altLang="zh-CN" sz="2400" b="1">
                <a:solidFill>
                  <a:schemeClr val="bg2"/>
                </a:solidFill>
              </a:rPr>
              <a:t>               ≡ </a:t>
            </a:r>
            <a:r>
              <a:rPr kumimoji="0" lang="en-US" altLang="zh-CN" sz="2400" b="1">
                <a:solidFill>
                  <a:srgbClr val="660033"/>
                </a:solidFill>
                <a:sym typeface="Symbol" pitchFamily="2" charset="2"/>
              </a:rPr>
              <a:t></a:t>
            </a:r>
            <a:r>
              <a:rPr kumimoji="0" lang="en-US" altLang="zh-CN" sz="2400" b="1">
                <a:solidFill>
                  <a:srgbClr val="660033"/>
                </a:solidFill>
              </a:rPr>
              <a:t>(</a:t>
            </a:r>
            <a:r>
              <a:rPr kumimoji="0" lang="en-US" altLang="zh-CN" sz="2400" b="1">
                <a:solidFill>
                  <a:srgbClr val="660033"/>
                </a:solidFill>
                <a:sym typeface="Symbol" pitchFamily="2" charset="2"/>
              </a:rPr>
              <a:t></a:t>
            </a:r>
            <a:r>
              <a:rPr kumimoji="0" lang="en-US" altLang="zh-CN" sz="2400" b="1">
                <a:solidFill>
                  <a:srgbClr val="660033"/>
                </a:solidFill>
              </a:rPr>
              <a:t>cno)(p(cno)∧</a:t>
            </a:r>
            <a:r>
              <a:rPr kumimoji="0" lang="en-US" altLang="zh-CN" sz="2400" b="1">
                <a:solidFill>
                  <a:srgbClr val="660033"/>
                </a:solidFill>
                <a:sym typeface="Symbol" pitchFamily="2" charset="2"/>
              </a:rPr>
              <a:t> </a:t>
            </a:r>
            <a:r>
              <a:rPr kumimoji="0" lang="en-US" altLang="zh-CN" sz="2400" b="1">
                <a:solidFill>
                  <a:srgbClr val="660033"/>
                </a:solidFill>
              </a:rPr>
              <a:t>q(cno))</a:t>
            </a:r>
          </a:p>
          <a:p>
            <a:pPr>
              <a:lnSpc>
                <a:spcPct val="120000"/>
              </a:lnSpc>
            </a:pPr>
            <a:r>
              <a:rPr kumimoji="0" lang="zh-CN" altLang="en-US" sz="2400" b="1">
                <a:solidFill>
                  <a:schemeClr val="bg1"/>
                </a:solidFill>
              </a:rPr>
              <a:t>变换后的语义：</a:t>
            </a:r>
            <a:r>
              <a:rPr kumimoji="0" lang="zh-CN" altLang="en-US" sz="2400" b="1">
                <a:solidFill>
                  <a:schemeClr val="bg2"/>
                </a:solidFill>
              </a:rPr>
              <a:t>找这样的学生</a:t>
            </a:r>
            <a:r>
              <a:rPr kumimoji="0" lang="en-US" altLang="zh-CN" sz="2400" b="1">
                <a:solidFill>
                  <a:schemeClr val="bg2"/>
                </a:solidFill>
              </a:rPr>
              <a:t>SNO</a:t>
            </a:r>
            <a:r>
              <a:rPr kumimoji="0" lang="zh-CN" altLang="en-US" sz="2400" b="1">
                <a:solidFill>
                  <a:schemeClr val="bg2"/>
                </a:solidFill>
              </a:rPr>
              <a:t>，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不存在一门课程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cno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</a:p>
          <a:p>
            <a:pPr>
              <a:lnSpc>
                <a:spcPct val="120000"/>
              </a:lnSpc>
            </a:pP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学生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S2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选修了，而学生</a:t>
            </a:r>
            <a:r>
              <a:rPr kumimoji="0"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sno</a:t>
            </a:r>
            <a:r>
              <a:rPr kumimoji="0" lang="zh-CN" altLang="en-US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没选。</a:t>
            </a:r>
          </a:p>
        </p:txBody>
      </p:sp>
    </p:spTree>
    <p:extLst>
      <p:ext uri="{BB962C8B-B14F-4D97-AF65-F5344CB8AC3E}">
        <p14:creationId xmlns:p14="http://schemas.microsoft.com/office/powerpoint/2010/main" val="384163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3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73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/>
      <p:bldP spid="973830" grpId="0"/>
      <p:bldP spid="973832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>
            <a:extLst>
              <a:ext uri="{FF2B5EF4-FFF2-40B4-BE49-F238E27FC236}">
                <a16:creationId xmlns:a16="http://schemas.microsoft.com/office/drawing/2014/main" id="{997566FB-EE4E-4C41-9D2F-DF128A17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640762" cy="4524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</a:rPr>
              <a:t>DISTINCT SNO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FROM </a:t>
            </a:r>
            <a:r>
              <a:rPr lang="en-US" altLang="zh-CN" sz="2400" b="1" dirty="0">
                <a:solidFill>
                  <a:schemeClr val="bg1"/>
                </a:solidFill>
              </a:rPr>
              <a:t>SC X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FROM </a:t>
            </a:r>
            <a:r>
              <a:rPr lang="en-US" altLang="zh-CN" sz="2400" b="1" dirty="0">
                <a:solidFill>
                  <a:srgbClr val="660033"/>
                </a:solidFill>
              </a:rPr>
              <a:t>SC Y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WHERE </a:t>
            </a:r>
            <a:r>
              <a:rPr lang="en-US" altLang="zh-CN" sz="2400" b="1" dirty="0">
                <a:solidFill>
                  <a:srgbClr val="660033"/>
                </a:solidFill>
              </a:rPr>
              <a:t>Y.SNO='S2'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          AND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FROM </a:t>
            </a:r>
            <a:r>
              <a:rPr lang="en-US" altLang="zh-CN" sz="2400" b="1" dirty="0">
                <a:solidFill>
                  <a:srgbClr val="FF0000"/>
                </a:solidFill>
              </a:rPr>
              <a:t>SC Z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WHERE </a:t>
            </a:r>
            <a:r>
              <a:rPr lang="en-US" altLang="zh-CN" sz="2400" b="1" dirty="0">
                <a:solidFill>
                  <a:srgbClr val="FF0000"/>
                </a:solidFill>
              </a:rPr>
              <a:t>Z</a:t>
            </a:r>
            <a:r>
              <a:rPr lang="en-US" altLang="zh-CN" sz="2400" b="1" dirty="0">
                <a:solidFill>
                  <a:schemeClr val="bg1"/>
                </a:solidFill>
              </a:rPr>
              <a:t>.SNO=X.SNO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AND </a:t>
            </a:r>
            <a:r>
              <a:rPr lang="en-US" altLang="zh-CN" sz="2400" b="1" dirty="0">
                <a:solidFill>
                  <a:srgbClr val="FF0000"/>
                </a:solidFill>
              </a:rPr>
              <a:t>Z</a:t>
            </a:r>
            <a:r>
              <a:rPr lang="en-US" altLang="zh-CN" sz="2400" b="1" dirty="0">
                <a:solidFill>
                  <a:srgbClr val="660033"/>
                </a:solidFill>
              </a:rPr>
              <a:t>.</a:t>
            </a:r>
            <a:r>
              <a:rPr lang="en-US" altLang="zh-CN" sz="2400" b="1" dirty="0">
                <a:solidFill>
                  <a:srgbClr val="FF0000"/>
                </a:solidFill>
              </a:rPr>
              <a:t>CNO=Y.CNO</a:t>
            </a:r>
            <a:r>
              <a:rPr lang="en-US" altLang="zh-CN" sz="2400" b="1" dirty="0">
                <a:solidFill>
                  <a:schemeClr val="bg2"/>
                </a:solidFill>
              </a:rPr>
              <a:t>));</a:t>
            </a:r>
          </a:p>
          <a:p>
            <a:pPr>
              <a:defRPr/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7730A07-1BF4-F34F-98B8-F7BC27EA7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-242888"/>
            <a:ext cx="8424862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检索至少选修了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学生</a:t>
            </a:r>
            <a:r>
              <a:rPr kumimoji="0"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S2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所选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修的全部课程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的学号。</a:t>
            </a:r>
          </a:p>
        </p:txBody>
      </p:sp>
      <p:sp>
        <p:nvSpPr>
          <p:cNvPr id="980996" name="Text Box 4">
            <a:extLst>
              <a:ext uri="{FF2B5EF4-FFF2-40B4-BE49-F238E27FC236}">
                <a16:creationId xmlns:a16="http://schemas.microsoft.com/office/drawing/2014/main" id="{5B43642B-480B-6A41-BEC9-0855A9B0F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075" y="836613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980997" name="Text Box 5">
            <a:extLst>
              <a:ext uri="{FF2B5EF4-FFF2-40B4-BE49-F238E27FC236}">
                <a16:creationId xmlns:a16="http://schemas.microsoft.com/office/drawing/2014/main" id="{66110DF9-E527-7241-BA1F-AB2BB317F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075" y="1785938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</a:rPr>
              <a:t>不存在一门课程</a:t>
            </a:r>
          </a:p>
        </p:txBody>
      </p:sp>
      <p:sp>
        <p:nvSpPr>
          <p:cNvPr id="980998" name="Text Box 6">
            <a:extLst>
              <a:ext uri="{FF2B5EF4-FFF2-40B4-BE49-F238E27FC236}">
                <a16:creationId xmlns:a16="http://schemas.microsoft.com/office/drawing/2014/main" id="{83A15C6D-54EF-E549-8C39-B608F7EB8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2598738"/>
            <a:ext cx="3744912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学生</a:t>
            </a:r>
            <a:r>
              <a:rPr lang="en-US" altLang="zh-CN" sz="2400" b="1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S2</a:t>
            </a:r>
            <a:r>
              <a:rPr lang="zh-CN" altLang="en-US" sz="2400" b="1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选了    </a:t>
            </a:r>
            <a:endParaRPr lang="zh-CN" altLang="en-US" sz="2400" b="1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980999" name="AutoShape 7">
            <a:extLst>
              <a:ext uri="{FF2B5EF4-FFF2-40B4-BE49-F238E27FC236}">
                <a16:creationId xmlns:a16="http://schemas.microsoft.com/office/drawing/2014/main" id="{9AFE966F-1CF5-5448-96BA-76D5D8D97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2928938"/>
            <a:ext cx="2963862" cy="1057275"/>
          </a:xfrm>
          <a:prstGeom prst="cloudCallout">
            <a:avLst>
              <a:gd name="adj1" fmla="val -64597"/>
              <a:gd name="adj2" fmla="val 85769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而这个学生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没选</a:t>
            </a:r>
          </a:p>
        </p:txBody>
      </p:sp>
      <p:sp>
        <p:nvSpPr>
          <p:cNvPr id="981000" name="Freeform 8">
            <a:extLst>
              <a:ext uri="{FF2B5EF4-FFF2-40B4-BE49-F238E27FC236}">
                <a16:creationId xmlns:a16="http://schemas.microsoft.com/office/drawing/2014/main" id="{CA7CCC53-74C7-274D-BF8E-531B0D0E1D3B}"/>
              </a:ext>
            </a:extLst>
          </p:cNvPr>
          <p:cNvSpPr>
            <a:spLocks/>
          </p:cNvSpPr>
          <p:nvPr/>
        </p:nvSpPr>
        <p:spPr bwMode="auto">
          <a:xfrm>
            <a:off x="2614613" y="3068638"/>
            <a:ext cx="3541712" cy="1873250"/>
          </a:xfrm>
          <a:custGeom>
            <a:avLst/>
            <a:gdLst>
              <a:gd name="T0" fmla="*/ 0 w 2248"/>
              <a:gd name="T1" fmla="*/ 2147483646 h 1632"/>
              <a:gd name="T2" fmla="*/ 2147483646 w 2248"/>
              <a:gd name="T3" fmla="*/ 2147483646 h 1632"/>
              <a:gd name="T4" fmla="*/ 2147483646 w 2248"/>
              <a:gd name="T5" fmla="*/ 2147483646 h 1632"/>
              <a:gd name="T6" fmla="*/ 2147483646 w 2248"/>
              <a:gd name="T7" fmla="*/ 2147483646 h 1632"/>
              <a:gd name="T8" fmla="*/ 2147483646 w 2248"/>
              <a:gd name="T9" fmla="*/ 2147483646 h 1632"/>
              <a:gd name="T10" fmla="*/ 2147483646 w 2248"/>
              <a:gd name="T11" fmla="*/ 2147483646 h 1632"/>
              <a:gd name="T12" fmla="*/ 2147483646 w 2248"/>
              <a:gd name="T13" fmla="*/ 2147483646 h 1632"/>
              <a:gd name="T14" fmla="*/ 2147483646 w 2248"/>
              <a:gd name="T15" fmla="*/ 2147483646 h 1632"/>
              <a:gd name="T16" fmla="*/ 2147483646 w 2248"/>
              <a:gd name="T17" fmla="*/ 2147483646 h 1632"/>
              <a:gd name="T18" fmla="*/ 2147483646 w 2248"/>
              <a:gd name="T19" fmla="*/ 2147483646 h 1632"/>
              <a:gd name="T20" fmla="*/ 2147483646 w 2248"/>
              <a:gd name="T21" fmla="*/ 2147483646 h 1632"/>
              <a:gd name="T22" fmla="*/ 2147483646 w 2248"/>
              <a:gd name="T23" fmla="*/ 2147483646 h 1632"/>
              <a:gd name="T24" fmla="*/ 2147483646 w 2248"/>
              <a:gd name="T25" fmla="*/ 2147483646 h 1632"/>
              <a:gd name="T26" fmla="*/ 2147483646 w 2248"/>
              <a:gd name="T27" fmla="*/ 2147483646 h 1632"/>
              <a:gd name="T28" fmla="*/ 2147483646 w 2248"/>
              <a:gd name="T29" fmla="*/ 2147483646 h 1632"/>
              <a:gd name="T30" fmla="*/ 2147483646 w 2248"/>
              <a:gd name="T31" fmla="*/ 2147483646 h 1632"/>
              <a:gd name="T32" fmla="*/ 2147483646 w 2248"/>
              <a:gd name="T33" fmla="*/ 2147483646 h 1632"/>
              <a:gd name="T34" fmla="*/ 2147483646 w 2248"/>
              <a:gd name="T35" fmla="*/ 2147483646 h 1632"/>
              <a:gd name="T36" fmla="*/ 2147483646 w 2248"/>
              <a:gd name="T37" fmla="*/ 2147483646 h 1632"/>
              <a:gd name="T38" fmla="*/ 2147483646 w 2248"/>
              <a:gd name="T39" fmla="*/ 2147483646 h 1632"/>
              <a:gd name="T40" fmla="*/ 2147483646 w 2248"/>
              <a:gd name="T41" fmla="*/ 2147483646 h 1632"/>
              <a:gd name="T42" fmla="*/ 2147483646 w 2248"/>
              <a:gd name="T43" fmla="*/ 2147483646 h 1632"/>
              <a:gd name="T44" fmla="*/ 2147483646 w 2248"/>
              <a:gd name="T45" fmla="*/ 2147483646 h 1632"/>
              <a:gd name="T46" fmla="*/ 2147483646 w 2248"/>
              <a:gd name="T47" fmla="*/ 2147483646 h 1632"/>
              <a:gd name="T48" fmla="*/ 2147483646 w 2248"/>
              <a:gd name="T49" fmla="*/ 2147483646 h 1632"/>
              <a:gd name="T50" fmla="*/ 2147483646 w 2248"/>
              <a:gd name="T51" fmla="*/ 2147483646 h 1632"/>
              <a:gd name="T52" fmla="*/ 2147483646 w 2248"/>
              <a:gd name="T53" fmla="*/ 2147483646 h 1632"/>
              <a:gd name="T54" fmla="*/ 2147483646 w 2248"/>
              <a:gd name="T55" fmla="*/ 2147483646 h 1632"/>
              <a:gd name="T56" fmla="*/ 2147483646 w 2248"/>
              <a:gd name="T57" fmla="*/ 2147483646 h 1632"/>
              <a:gd name="T58" fmla="*/ 2147483646 w 2248"/>
              <a:gd name="T59" fmla="*/ 2147483646 h 1632"/>
              <a:gd name="T60" fmla="*/ 2147483646 w 2248"/>
              <a:gd name="T61" fmla="*/ 2147483646 h 1632"/>
              <a:gd name="T62" fmla="*/ 2147483646 w 2248"/>
              <a:gd name="T63" fmla="*/ 2147483646 h 1632"/>
              <a:gd name="T64" fmla="*/ 2147483646 w 2248"/>
              <a:gd name="T65" fmla="*/ 2147483646 h 1632"/>
              <a:gd name="T66" fmla="*/ 2147483646 w 2248"/>
              <a:gd name="T67" fmla="*/ 2147483646 h 1632"/>
              <a:gd name="T68" fmla="*/ 2147483646 w 2248"/>
              <a:gd name="T69" fmla="*/ 2147483646 h 1632"/>
              <a:gd name="T70" fmla="*/ 2147483646 w 2248"/>
              <a:gd name="T71" fmla="*/ 2147483646 h 1632"/>
              <a:gd name="T72" fmla="*/ 2147483646 w 2248"/>
              <a:gd name="T73" fmla="*/ 2147483646 h 1632"/>
              <a:gd name="T74" fmla="*/ 2147483646 w 2248"/>
              <a:gd name="T75" fmla="*/ 2147483646 h 1632"/>
              <a:gd name="T76" fmla="*/ 2147483646 w 2248"/>
              <a:gd name="T77" fmla="*/ 2147483646 h 1632"/>
              <a:gd name="T78" fmla="*/ 2147483646 w 2248"/>
              <a:gd name="T79" fmla="*/ 2147483646 h 1632"/>
              <a:gd name="T80" fmla="*/ 2147483646 w 2248"/>
              <a:gd name="T81" fmla="*/ 0 h 163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2248"/>
              <a:gd name="T124" fmla="*/ 0 h 1632"/>
              <a:gd name="T125" fmla="*/ 2248 w 2248"/>
              <a:gd name="T126" fmla="*/ 1632 h 1632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2248" h="1632">
                <a:moveTo>
                  <a:pt x="0" y="8"/>
                </a:moveTo>
                <a:cubicBezTo>
                  <a:pt x="144" y="29"/>
                  <a:pt x="239" y="30"/>
                  <a:pt x="392" y="24"/>
                </a:cubicBezTo>
                <a:cubicBezTo>
                  <a:pt x="528" y="27"/>
                  <a:pt x="664" y="25"/>
                  <a:pt x="800" y="32"/>
                </a:cubicBezTo>
                <a:cubicBezTo>
                  <a:pt x="885" y="36"/>
                  <a:pt x="969" y="72"/>
                  <a:pt x="1048" y="96"/>
                </a:cubicBezTo>
                <a:cubicBezTo>
                  <a:pt x="1129" y="120"/>
                  <a:pt x="1221" y="138"/>
                  <a:pt x="1304" y="152"/>
                </a:cubicBezTo>
                <a:cubicBezTo>
                  <a:pt x="1332" y="171"/>
                  <a:pt x="1352" y="176"/>
                  <a:pt x="1376" y="200"/>
                </a:cubicBezTo>
                <a:cubicBezTo>
                  <a:pt x="1393" y="251"/>
                  <a:pt x="1441" y="286"/>
                  <a:pt x="1480" y="320"/>
                </a:cubicBezTo>
                <a:cubicBezTo>
                  <a:pt x="1521" y="355"/>
                  <a:pt x="1547" y="402"/>
                  <a:pt x="1592" y="432"/>
                </a:cubicBezTo>
                <a:cubicBezTo>
                  <a:pt x="1595" y="440"/>
                  <a:pt x="1594" y="450"/>
                  <a:pt x="1600" y="456"/>
                </a:cubicBezTo>
                <a:cubicBezTo>
                  <a:pt x="1606" y="462"/>
                  <a:pt x="1617" y="459"/>
                  <a:pt x="1624" y="464"/>
                </a:cubicBezTo>
                <a:cubicBezTo>
                  <a:pt x="1641" y="476"/>
                  <a:pt x="1655" y="492"/>
                  <a:pt x="1672" y="504"/>
                </a:cubicBezTo>
                <a:cubicBezTo>
                  <a:pt x="1691" y="533"/>
                  <a:pt x="1708" y="533"/>
                  <a:pt x="1736" y="552"/>
                </a:cubicBezTo>
                <a:cubicBezTo>
                  <a:pt x="1739" y="560"/>
                  <a:pt x="1738" y="570"/>
                  <a:pt x="1744" y="576"/>
                </a:cubicBezTo>
                <a:cubicBezTo>
                  <a:pt x="1750" y="582"/>
                  <a:pt x="1805" y="604"/>
                  <a:pt x="1816" y="608"/>
                </a:cubicBezTo>
                <a:cubicBezTo>
                  <a:pt x="1835" y="636"/>
                  <a:pt x="1835" y="653"/>
                  <a:pt x="1864" y="672"/>
                </a:cubicBezTo>
                <a:cubicBezTo>
                  <a:pt x="1887" y="706"/>
                  <a:pt x="1900" y="745"/>
                  <a:pt x="1928" y="776"/>
                </a:cubicBezTo>
                <a:cubicBezTo>
                  <a:pt x="1943" y="793"/>
                  <a:pt x="1960" y="808"/>
                  <a:pt x="1976" y="824"/>
                </a:cubicBezTo>
                <a:cubicBezTo>
                  <a:pt x="1984" y="832"/>
                  <a:pt x="2000" y="848"/>
                  <a:pt x="2000" y="848"/>
                </a:cubicBezTo>
                <a:cubicBezTo>
                  <a:pt x="2011" y="882"/>
                  <a:pt x="2071" y="935"/>
                  <a:pt x="2096" y="960"/>
                </a:cubicBezTo>
                <a:cubicBezTo>
                  <a:pt x="2104" y="968"/>
                  <a:pt x="2120" y="984"/>
                  <a:pt x="2120" y="984"/>
                </a:cubicBezTo>
                <a:cubicBezTo>
                  <a:pt x="2126" y="1003"/>
                  <a:pt x="2138" y="1021"/>
                  <a:pt x="2144" y="1040"/>
                </a:cubicBezTo>
                <a:cubicBezTo>
                  <a:pt x="2148" y="1053"/>
                  <a:pt x="2146" y="1068"/>
                  <a:pt x="2152" y="1080"/>
                </a:cubicBezTo>
                <a:cubicBezTo>
                  <a:pt x="2157" y="1092"/>
                  <a:pt x="2170" y="1100"/>
                  <a:pt x="2176" y="1112"/>
                </a:cubicBezTo>
                <a:cubicBezTo>
                  <a:pt x="2183" y="1125"/>
                  <a:pt x="2187" y="1138"/>
                  <a:pt x="2192" y="1152"/>
                </a:cubicBezTo>
                <a:cubicBezTo>
                  <a:pt x="2210" y="1202"/>
                  <a:pt x="2217" y="1258"/>
                  <a:pt x="2240" y="1304"/>
                </a:cubicBezTo>
                <a:cubicBezTo>
                  <a:pt x="2243" y="1325"/>
                  <a:pt x="2248" y="1347"/>
                  <a:pt x="2248" y="1368"/>
                </a:cubicBezTo>
                <a:cubicBezTo>
                  <a:pt x="2248" y="1416"/>
                  <a:pt x="2244" y="1464"/>
                  <a:pt x="2240" y="1512"/>
                </a:cubicBezTo>
                <a:cubicBezTo>
                  <a:pt x="2233" y="1587"/>
                  <a:pt x="2144" y="1604"/>
                  <a:pt x="2088" y="1632"/>
                </a:cubicBezTo>
                <a:cubicBezTo>
                  <a:pt x="2011" y="1629"/>
                  <a:pt x="1933" y="1629"/>
                  <a:pt x="1856" y="1624"/>
                </a:cubicBezTo>
                <a:cubicBezTo>
                  <a:pt x="1700" y="1614"/>
                  <a:pt x="1773" y="1593"/>
                  <a:pt x="1704" y="1616"/>
                </a:cubicBezTo>
                <a:cubicBezTo>
                  <a:pt x="1384" y="1613"/>
                  <a:pt x="1064" y="1613"/>
                  <a:pt x="744" y="1608"/>
                </a:cubicBezTo>
                <a:cubicBezTo>
                  <a:pt x="572" y="1605"/>
                  <a:pt x="415" y="1523"/>
                  <a:pt x="248" y="1504"/>
                </a:cubicBezTo>
                <a:cubicBezTo>
                  <a:pt x="240" y="1499"/>
                  <a:pt x="233" y="1492"/>
                  <a:pt x="224" y="1488"/>
                </a:cubicBezTo>
                <a:cubicBezTo>
                  <a:pt x="216" y="1484"/>
                  <a:pt x="205" y="1487"/>
                  <a:pt x="200" y="1480"/>
                </a:cubicBezTo>
                <a:cubicBezTo>
                  <a:pt x="192" y="1469"/>
                  <a:pt x="197" y="1453"/>
                  <a:pt x="192" y="1440"/>
                </a:cubicBezTo>
                <a:cubicBezTo>
                  <a:pt x="189" y="1431"/>
                  <a:pt x="181" y="1424"/>
                  <a:pt x="176" y="1416"/>
                </a:cubicBezTo>
                <a:cubicBezTo>
                  <a:pt x="169" y="1370"/>
                  <a:pt x="154" y="1311"/>
                  <a:pt x="128" y="1272"/>
                </a:cubicBezTo>
                <a:cubicBezTo>
                  <a:pt x="117" y="1227"/>
                  <a:pt x="103" y="1191"/>
                  <a:pt x="96" y="1144"/>
                </a:cubicBezTo>
                <a:cubicBezTo>
                  <a:pt x="93" y="1076"/>
                  <a:pt x="118" y="633"/>
                  <a:pt x="32" y="504"/>
                </a:cubicBezTo>
                <a:cubicBezTo>
                  <a:pt x="27" y="331"/>
                  <a:pt x="17" y="250"/>
                  <a:pt x="32" y="96"/>
                </a:cubicBezTo>
                <a:cubicBezTo>
                  <a:pt x="36" y="55"/>
                  <a:pt x="88" y="18"/>
                  <a:pt x="88" y="0"/>
                </a:cubicBezTo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6CC05B60-E491-DF69-C00C-5657E7219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2" y="4174900"/>
            <a:ext cx="2355821" cy="244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50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8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8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8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8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8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4" grpId="0" animBg="1"/>
      <p:bldP spid="980996" grpId="0"/>
      <p:bldP spid="980997" grpId="0"/>
      <p:bldP spid="980998" grpId="0"/>
      <p:bldP spid="98099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4">
            <a:extLst>
              <a:ext uri="{FF2B5EF4-FFF2-40B4-BE49-F238E27FC236}">
                <a16:creationId xmlns:a16="http://schemas.microsoft.com/office/drawing/2014/main" id="{E87D2F53-3BBE-684F-9998-299499FF7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18" y="-100854"/>
            <a:ext cx="84248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检索至少选修了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学生</a:t>
            </a:r>
            <a:r>
              <a:rPr kumimoji="0"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S2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所选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修的全部课程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的学号。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如要在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结果集中不包含学生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S2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语句如下：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47113" name="Rectangle 13">
            <a:extLst>
              <a:ext uri="{FF2B5EF4-FFF2-40B4-BE49-F238E27FC236}">
                <a16:creationId xmlns:a16="http://schemas.microsoft.com/office/drawing/2014/main" id="{94625E2A-AE23-7546-B349-A871D7D65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1576162"/>
            <a:ext cx="5759450" cy="459786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SELECT DISTINCT SNO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bg2"/>
                </a:solidFill>
                <a:latin typeface="宋体" panose="02010600030101010101" pitchFamily="2" charset="-122"/>
              </a:rPr>
              <a:t>FROM</a:t>
            </a: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chemeClr val="bg1"/>
                </a:solidFill>
                <a:latin typeface="宋体" panose="02010600030101010101" pitchFamily="2" charset="-122"/>
              </a:rPr>
              <a:t>(SELECT * FROM SC WHERE SNO&lt;&gt;'S2')  X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WHERE NOT EXISTS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(SELECT *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FROM SC Y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 WHERE Y.SNO='S2'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   AND NOT EXISTS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       (SELECT *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        FROM SC Z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        WHERE Z.SNO=X.SNO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rgbClr val="660033"/>
                </a:solidFill>
                <a:latin typeface="宋体" panose="02010600030101010101" pitchFamily="2" charset="-122"/>
              </a:rPr>
              <a:t>                 AND Z.CNO=Y.CNO));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E320C279-FB1C-228A-E43C-632B1E4E6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623545"/>
            <a:ext cx="3072159" cy="265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22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>
            <a:extLst>
              <a:ext uri="{FF2B5EF4-FFF2-40B4-BE49-F238E27FC236}">
                <a16:creationId xmlns:a16="http://schemas.microsoft.com/office/drawing/2014/main" id="{997566FB-EE4E-4C41-9D2F-DF128A17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181" y="992917"/>
            <a:ext cx="8640762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</a:rPr>
              <a:t>DISTINCT </a:t>
            </a:r>
            <a:r>
              <a:rPr lang="en-US" altLang="zh-CN" sz="2400" b="1" dirty="0" err="1">
                <a:solidFill>
                  <a:schemeClr val="bg1"/>
                </a:solidFill>
              </a:rPr>
              <a:t>X.xh</a:t>
            </a:r>
            <a:r>
              <a:rPr lang="en-US" altLang="zh-CN" sz="2400" b="1" dirty="0">
                <a:solidFill>
                  <a:schemeClr val="bg1"/>
                </a:solidFill>
              </a:rPr>
              <a:t>, </a:t>
            </a:r>
            <a:r>
              <a:rPr lang="en-US" altLang="zh-CN" sz="2400" b="1" dirty="0" err="1">
                <a:solidFill>
                  <a:schemeClr val="bg1"/>
                </a:solidFill>
              </a:rPr>
              <a:t>X.kh</a:t>
            </a:r>
            <a:r>
              <a:rPr lang="en-US" altLang="zh-CN" sz="2400" b="1" dirty="0">
                <a:solidFill>
                  <a:schemeClr val="bg1"/>
                </a:solidFill>
              </a:rPr>
              <a:t>, </a:t>
            </a:r>
            <a:r>
              <a:rPr lang="en-US" altLang="zh-CN" sz="2400" b="1" dirty="0" err="1">
                <a:solidFill>
                  <a:schemeClr val="bg1"/>
                </a:solidFill>
              </a:rPr>
              <a:t>X.zpcj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FROM E</a:t>
            </a:r>
            <a:r>
              <a:rPr lang="en-US" altLang="zh-CN" sz="2400" b="1" dirty="0">
                <a:solidFill>
                  <a:schemeClr val="bg1"/>
                </a:solidFill>
              </a:rPr>
              <a:t> X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FROM </a:t>
            </a:r>
            <a:r>
              <a:rPr lang="en-US" altLang="zh-CN" sz="2400" b="1" dirty="0">
                <a:solidFill>
                  <a:srgbClr val="660033"/>
                </a:solidFill>
              </a:rPr>
              <a:t>O Y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WHERE </a:t>
            </a:r>
            <a:r>
              <a:rPr lang="en-US" altLang="zh-CN" sz="2400" b="1" dirty="0" err="1">
                <a:solidFill>
                  <a:srgbClr val="660033"/>
                </a:solidFill>
              </a:rPr>
              <a:t>Y.gh</a:t>
            </a:r>
            <a:r>
              <a:rPr lang="en-US" altLang="zh-CN" sz="2400" b="1" dirty="0">
                <a:solidFill>
                  <a:srgbClr val="660033"/>
                </a:solidFill>
              </a:rPr>
              <a:t>=‘0102'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          AND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FROM </a:t>
            </a:r>
            <a:r>
              <a:rPr lang="en-US" altLang="zh-CN" sz="2400" b="1" dirty="0">
                <a:solidFill>
                  <a:srgbClr val="FF0000"/>
                </a:solidFill>
              </a:rPr>
              <a:t>E Z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WHERE </a:t>
            </a:r>
            <a:r>
              <a:rPr lang="en-US" altLang="zh-CN" sz="2400" b="1" dirty="0" err="1">
                <a:solidFill>
                  <a:srgbClr val="FF0000"/>
                </a:solidFill>
              </a:rPr>
              <a:t>Z</a:t>
            </a:r>
            <a:r>
              <a:rPr lang="en-US" altLang="zh-CN" sz="2400" b="1" dirty="0" err="1">
                <a:solidFill>
                  <a:schemeClr val="bg1"/>
                </a:solidFill>
              </a:rPr>
              <a:t>.xh</a:t>
            </a:r>
            <a:r>
              <a:rPr lang="en-US" altLang="zh-CN" sz="2400" b="1" dirty="0">
                <a:solidFill>
                  <a:schemeClr val="bg1"/>
                </a:solidFill>
              </a:rPr>
              <a:t>=</a:t>
            </a:r>
            <a:r>
              <a:rPr lang="en-US" altLang="zh-CN" sz="2400" b="1" dirty="0" err="1">
                <a:solidFill>
                  <a:schemeClr val="bg1"/>
                </a:solidFill>
              </a:rPr>
              <a:t>X.xh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AND </a:t>
            </a:r>
            <a:r>
              <a:rPr lang="en-US" altLang="zh-CN" sz="2400" b="1" dirty="0" err="1">
                <a:solidFill>
                  <a:srgbClr val="FF0000"/>
                </a:solidFill>
              </a:rPr>
              <a:t>Z</a:t>
            </a:r>
            <a:r>
              <a:rPr lang="en-US" altLang="zh-CN" sz="2400" b="1" dirty="0" err="1">
                <a:solidFill>
                  <a:srgbClr val="660033"/>
                </a:solidFill>
              </a:rPr>
              <a:t>.</a:t>
            </a:r>
            <a:r>
              <a:rPr lang="en-US" altLang="zh-CN" sz="2400" b="1" dirty="0" err="1">
                <a:solidFill>
                  <a:srgbClr val="FF0000"/>
                </a:solidFill>
              </a:rPr>
              <a:t>kh</a:t>
            </a:r>
            <a:r>
              <a:rPr lang="en-US" altLang="zh-CN" sz="2400" b="1" dirty="0">
                <a:solidFill>
                  <a:srgbClr val="FF0000"/>
                </a:solidFill>
              </a:rPr>
              <a:t>=</a:t>
            </a:r>
            <a:r>
              <a:rPr lang="en-US" altLang="zh-CN" sz="2400" b="1" dirty="0" err="1">
                <a:solidFill>
                  <a:srgbClr val="FF0000"/>
                </a:solidFill>
              </a:rPr>
              <a:t>Y.kh</a:t>
            </a:r>
            <a:r>
              <a:rPr lang="en-US" altLang="zh-CN" sz="2400" b="1" dirty="0">
                <a:solidFill>
                  <a:schemeClr val="bg2"/>
                </a:solidFill>
              </a:rPr>
              <a:t>));</a:t>
            </a:r>
          </a:p>
          <a:p>
            <a:pPr>
              <a:defRPr/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7730A07-1BF4-F34F-98B8-F7BC27EA7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-242888"/>
            <a:ext cx="84248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检索至少选修了</a:t>
            </a:r>
            <a:r>
              <a:rPr lang="en-US" altLang="zh-CN" sz="2400" b="1" dirty="0">
                <a:solidFill>
                  <a:srgbClr val="660033"/>
                </a:solidFill>
              </a:rPr>
              <a:t>0102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老师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所开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的全部课程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的学生学号和课号及成绩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980996" name="Text Box 4">
            <a:extLst>
              <a:ext uri="{FF2B5EF4-FFF2-40B4-BE49-F238E27FC236}">
                <a16:creationId xmlns:a16="http://schemas.microsoft.com/office/drawing/2014/main" id="{5B43642B-480B-6A41-BEC9-0855A9B0F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1039263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980997" name="Text Box 5">
            <a:extLst>
              <a:ext uri="{FF2B5EF4-FFF2-40B4-BE49-F238E27FC236}">
                <a16:creationId xmlns:a16="http://schemas.microsoft.com/office/drawing/2014/main" id="{66110DF9-E527-7241-BA1F-AB2BB317F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075" y="1942242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不存在一门课程</a:t>
            </a:r>
          </a:p>
        </p:txBody>
      </p:sp>
      <p:sp>
        <p:nvSpPr>
          <p:cNvPr id="980998" name="Text Box 6">
            <a:extLst>
              <a:ext uri="{FF2B5EF4-FFF2-40B4-BE49-F238E27FC236}">
                <a16:creationId xmlns:a16="http://schemas.microsoft.com/office/drawing/2014/main" id="{83A15C6D-54EF-E549-8C39-B608F7EB8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2755042"/>
            <a:ext cx="4265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en-US" altLang="zh-CN" sz="2400" b="1" dirty="0">
                <a:solidFill>
                  <a:srgbClr val="660033"/>
                </a:solidFill>
              </a:rPr>
              <a:t>0102</a:t>
            </a:r>
            <a:r>
              <a:rPr lang="zh-CN" altLang="en-US" sz="2400" b="1" dirty="0">
                <a:solidFill>
                  <a:srgbClr val="660033"/>
                </a:solidFill>
              </a:rPr>
              <a:t>号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老师开了    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980999" name="AutoShape 7">
            <a:extLst>
              <a:ext uri="{FF2B5EF4-FFF2-40B4-BE49-F238E27FC236}">
                <a16:creationId xmlns:a16="http://schemas.microsoft.com/office/drawing/2014/main" id="{9AFE966F-1CF5-5448-96BA-76D5D8D97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3248109"/>
            <a:ext cx="2963862" cy="1057275"/>
          </a:xfrm>
          <a:prstGeom prst="cloudCallout">
            <a:avLst>
              <a:gd name="adj1" fmla="val -64597"/>
              <a:gd name="adj2" fmla="val 85769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而这个学生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没选</a:t>
            </a:r>
          </a:p>
        </p:txBody>
      </p:sp>
      <p:sp>
        <p:nvSpPr>
          <p:cNvPr id="981000" name="Freeform 8">
            <a:extLst>
              <a:ext uri="{FF2B5EF4-FFF2-40B4-BE49-F238E27FC236}">
                <a16:creationId xmlns:a16="http://schemas.microsoft.com/office/drawing/2014/main" id="{CA7CCC53-74C7-274D-BF8E-531B0D0E1D3B}"/>
              </a:ext>
            </a:extLst>
          </p:cNvPr>
          <p:cNvSpPr>
            <a:spLocks/>
          </p:cNvSpPr>
          <p:nvPr/>
        </p:nvSpPr>
        <p:spPr bwMode="auto">
          <a:xfrm>
            <a:off x="2614613" y="3224942"/>
            <a:ext cx="3541712" cy="1873250"/>
          </a:xfrm>
          <a:custGeom>
            <a:avLst/>
            <a:gdLst>
              <a:gd name="T0" fmla="*/ 0 w 2248"/>
              <a:gd name="T1" fmla="*/ 2147483646 h 1632"/>
              <a:gd name="T2" fmla="*/ 2147483646 w 2248"/>
              <a:gd name="T3" fmla="*/ 2147483646 h 1632"/>
              <a:gd name="T4" fmla="*/ 2147483646 w 2248"/>
              <a:gd name="T5" fmla="*/ 2147483646 h 1632"/>
              <a:gd name="T6" fmla="*/ 2147483646 w 2248"/>
              <a:gd name="T7" fmla="*/ 2147483646 h 1632"/>
              <a:gd name="T8" fmla="*/ 2147483646 w 2248"/>
              <a:gd name="T9" fmla="*/ 2147483646 h 1632"/>
              <a:gd name="T10" fmla="*/ 2147483646 w 2248"/>
              <a:gd name="T11" fmla="*/ 2147483646 h 1632"/>
              <a:gd name="T12" fmla="*/ 2147483646 w 2248"/>
              <a:gd name="T13" fmla="*/ 2147483646 h 1632"/>
              <a:gd name="T14" fmla="*/ 2147483646 w 2248"/>
              <a:gd name="T15" fmla="*/ 2147483646 h 1632"/>
              <a:gd name="T16" fmla="*/ 2147483646 w 2248"/>
              <a:gd name="T17" fmla="*/ 2147483646 h 1632"/>
              <a:gd name="T18" fmla="*/ 2147483646 w 2248"/>
              <a:gd name="T19" fmla="*/ 2147483646 h 1632"/>
              <a:gd name="T20" fmla="*/ 2147483646 w 2248"/>
              <a:gd name="T21" fmla="*/ 2147483646 h 1632"/>
              <a:gd name="T22" fmla="*/ 2147483646 w 2248"/>
              <a:gd name="T23" fmla="*/ 2147483646 h 1632"/>
              <a:gd name="T24" fmla="*/ 2147483646 w 2248"/>
              <a:gd name="T25" fmla="*/ 2147483646 h 1632"/>
              <a:gd name="T26" fmla="*/ 2147483646 w 2248"/>
              <a:gd name="T27" fmla="*/ 2147483646 h 1632"/>
              <a:gd name="T28" fmla="*/ 2147483646 w 2248"/>
              <a:gd name="T29" fmla="*/ 2147483646 h 1632"/>
              <a:gd name="T30" fmla="*/ 2147483646 w 2248"/>
              <a:gd name="T31" fmla="*/ 2147483646 h 1632"/>
              <a:gd name="T32" fmla="*/ 2147483646 w 2248"/>
              <a:gd name="T33" fmla="*/ 2147483646 h 1632"/>
              <a:gd name="T34" fmla="*/ 2147483646 w 2248"/>
              <a:gd name="T35" fmla="*/ 2147483646 h 1632"/>
              <a:gd name="T36" fmla="*/ 2147483646 w 2248"/>
              <a:gd name="T37" fmla="*/ 2147483646 h 1632"/>
              <a:gd name="T38" fmla="*/ 2147483646 w 2248"/>
              <a:gd name="T39" fmla="*/ 2147483646 h 1632"/>
              <a:gd name="T40" fmla="*/ 2147483646 w 2248"/>
              <a:gd name="T41" fmla="*/ 2147483646 h 1632"/>
              <a:gd name="T42" fmla="*/ 2147483646 w 2248"/>
              <a:gd name="T43" fmla="*/ 2147483646 h 1632"/>
              <a:gd name="T44" fmla="*/ 2147483646 w 2248"/>
              <a:gd name="T45" fmla="*/ 2147483646 h 1632"/>
              <a:gd name="T46" fmla="*/ 2147483646 w 2248"/>
              <a:gd name="T47" fmla="*/ 2147483646 h 1632"/>
              <a:gd name="T48" fmla="*/ 2147483646 w 2248"/>
              <a:gd name="T49" fmla="*/ 2147483646 h 1632"/>
              <a:gd name="T50" fmla="*/ 2147483646 w 2248"/>
              <a:gd name="T51" fmla="*/ 2147483646 h 1632"/>
              <a:gd name="T52" fmla="*/ 2147483646 w 2248"/>
              <a:gd name="T53" fmla="*/ 2147483646 h 1632"/>
              <a:gd name="T54" fmla="*/ 2147483646 w 2248"/>
              <a:gd name="T55" fmla="*/ 2147483646 h 1632"/>
              <a:gd name="T56" fmla="*/ 2147483646 w 2248"/>
              <a:gd name="T57" fmla="*/ 2147483646 h 1632"/>
              <a:gd name="T58" fmla="*/ 2147483646 w 2248"/>
              <a:gd name="T59" fmla="*/ 2147483646 h 1632"/>
              <a:gd name="T60" fmla="*/ 2147483646 w 2248"/>
              <a:gd name="T61" fmla="*/ 2147483646 h 1632"/>
              <a:gd name="T62" fmla="*/ 2147483646 w 2248"/>
              <a:gd name="T63" fmla="*/ 2147483646 h 1632"/>
              <a:gd name="T64" fmla="*/ 2147483646 w 2248"/>
              <a:gd name="T65" fmla="*/ 2147483646 h 1632"/>
              <a:gd name="T66" fmla="*/ 2147483646 w 2248"/>
              <a:gd name="T67" fmla="*/ 2147483646 h 1632"/>
              <a:gd name="T68" fmla="*/ 2147483646 w 2248"/>
              <a:gd name="T69" fmla="*/ 2147483646 h 1632"/>
              <a:gd name="T70" fmla="*/ 2147483646 w 2248"/>
              <a:gd name="T71" fmla="*/ 2147483646 h 1632"/>
              <a:gd name="T72" fmla="*/ 2147483646 w 2248"/>
              <a:gd name="T73" fmla="*/ 2147483646 h 1632"/>
              <a:gd name="T74" fmla="*/ 2147483646 w 2248"/>
              <a:gd name="T75" fmla="*/ 2147483646 h 1632"/>
              <a:gd name="T76" fmla="*/ 2147483646 w 2248"/>
              <a:gd name="T77" fmla="*/ 2147483646 h 1632"/>
              <a:gd name="T78" fmla="*/ 2147483646 w 2248"/>
              <a:gd name="T79" fmla="*/ 2147483646 h 1632"/>
              <a:gd name="T80" fmla="*/ 2147483646 w 2248"/>
              <a:gd name="T81" fmla="*/ 0 h 163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2248"/>
              <a:gd name="T124" fmla="*/ 0 h 1632"/>
              <a:gd name="T125" fmla="*/ 2248 w 2248"/>
              <a:gd name="T126" fmla="*/ 1632 h 1632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2248" h="1632">
                <a:moveTo>
                  <a:pt x="0" y="8"/>
                </a:moveTo>
                <a:cubicBezTo>
                  <a:pt x="144" y="29"/>
                  <a:pt x="239" y="30"/>
                  <a:pt x="392" y="24"/>
                </a:cubicBezTo>
                <a:cubicBezTo>
                  <a:pt x="528" y="27"/>
                  <a:pt x="664" y="25"/>
                  <a:pt x="800" y="32"/>
                </a:cubicBezTo>
                <a:cubicBezTo>
                  <a:pt x="885" y="36"/>
                  <a:pt x="969" y="72"/>
                  <a:pt x="1048" y="96"/>
                </a:cubicBezTo>
                <a:cubicBezTo>
                  <a:pt x="1129" y="120"/>
                  <a:pt x="1221" y="138"/>
                  <a:pt x="1304" y="152"/>
                </a:cubicBezTo>
                <a:cubicBezTo>
                  <a:pt x="1332" y="171"/>
                  <a:pt x="1352" y="176"/>
                  <a:pt x="1376" y="200"/>
                </a:cubicBezTo>
                <a:cubicBezTo>
                  <a:pt x="1393" y="251"/>
                  <a:pt x="1441" y="286"/>
                  <a:pt x="1480" y="320"/>
                </a:cubicBezTo>
                <a:cubicBezTo>
                  <a:pt x="1521" y="355"/>
                  <a:pt x="1547" y="402"/>
                  <a:pt x="1592" y="432"/>
                </a:cubicBezTo>
                <a:cubicBezTo>
                  <a:pt x="1595" y="440"/>
                  <a:pt x="1594" y="450"/>
                  <a:pt x="1600" y="456"/>
                </a:cubicBezTo>
                <a:cubicBezTo>
                  <a:pt x="1606" y="462"/>
                  <a:pt x="1617" y="459"/>
                  <a:pt x="1624" y="464"/>
                </a:cubicBezTo>
                <a:cubicBezTo>
                  <a:pt x="1641" y="476"/>
                  <a:pt x="1655" y="492"/>
                  <a:pt x="1672" y="504"/>
                </a:cubicBezTo>
                <a:cubicBezTo>
                  <a:pt x="1691" y="533"/>
                  <a:pt x="1708" y="533"/>
                  <a:pt x="1736" y="552"/>
                </a:cubicBezTo>
                <a:cubicBezTo>
                  <a:pt x="1739" y="560"/>
                  <a:pt x="1738" y="570"/>
                  <a:pt x="1744" y="576"/>
                </a:cubicBezTo>
                <a:cubicBezTo>
                  <a:pt x="1750" y="582"/>
                  <a:pt x="1805" y="604"/>
                  <a:pt x="1816" y="608"/>
                </a:cubicBezTo>
                <a:cubicBezTo>
                  <a:pt x="1835" y="636"/>
                  <a:pt x="1835" y="653"/>
                  <a:pt x="1864" y="672"/>
                </a:cubicBezTo>
                <a:cubicBezTo>
                  <a:pt x="1887" y="706"/>
                  <a:pt x="1900" y="745"/>
                  <a:pt x="1928" y="776"/>
                </a:cubicBezTo>
                <a:cubicBezTo>
                  <a:pt x="1943" y="793"/>
                  <a:pt x="1960" y="808"/>
                  <a:pt x="1976" y="824"/>
                </a:cubicBezTo>
                <a:cubicBezTo>
                  <a:pt x="1984" y="832"/>
                  <a:pt x="2000" y="848"/>
                  <a:pt x="2000" y="848"/>
                </a:cubicBezTo>
                <a:cubicBezTo>
                  <a:pt x="2011" y="882"/>
                  <a:pt x="2071" y="935"/>
                  <a:pt x="2096" y="960"/>
                </a:cubicBezTo>
                <a:cubicBezTo>
                  <a:pt x="2104" y="968"/>
                  <a:pt x="2120" y="984"/>
                  <a:pt x="2120" y="984"/>
                </a:cubicBezTo>
                <a:cubicBezTo>
                  <a:pt x="2126" y="1003"/>
                  <a:pt x="2138" y="1021"/>
                  <a:pt x="2144" y="1040"/>
                </a:cubicBezTo>
                <a:cubicBezTo>
                  <a:pt x="2148" y="1053"/>
                  <a:pt x="2146" y="1068"/>
                  <a:pt x="2152" y="1080"/>
                </a:cubicBezTo>
                <a:cubicBezTo>
                  <a:pt x="2157" y="1092"/>
                  <a:pt x="2170" y="1100"/>
                  <a:pt x="2176" y="1112"/>
                </a:cubicBezTo>
                <a:cubicBezTo>
                  <a:pt x="2183" y="1125"/>
                  <a:pt x="2187" y="1138"/>
                  <a:pt x="2192" y="1152"/>
                </a:cubicBezTo>
                <a:cubicBezTo>
                  <a:pt x="2210" y="1202"/>
                  <a:pt x="2217" y="1258"/>
                  <a:pt x="2240" y="1304"/>
                </a:cubicBezTo>
                <a:cubicBezTo>
                  <a:pt x="2243" y="1325"/>
                  <a:pt x="2248" y="1347"/>
                  <a:pt x="2248" y="1368"/>
                </a:cubicBezTo>
                <a:cubicBezTo>
                  <a:pt x="2248" y="1416"/>
                  <a:pt x="2244" y="1464"/>
                  <a:pt x="2240" y="1512"/>
                </a:cubicBezTo>
                <a:cubicBezTo>
                  <a:pt x="2233" y="1587"/>
                  <a:pt x="2144" y="1604"/>
                  <a:pt x="2088" y="1632"/>
                </a:cubicBezTo>
                <a:cubicBezTo>
                  <a:pt x="2011" y="1629"/>
                  <a:pt x="1933" y="1629"/>
                  <a:pt x="1856" y="1624"/>
                </a:cubicBezTo>
                <a:cubicBezTo>
                  <a:pt x="1700" y="1614"/>
                  <a:pt x="1773" y="1593"/>
                  <a:pt x="1704" y="1616"/>
                </a:cubicBezTo>
                <a:cubicBezTo>
                  <a:pt x="1384" y="1613"/>
                  <a:pt x="1064" y="1613"/>
                  <a:pt x="744" y="1608"/>
                </a:cubicBezTo>
                <a:cubicBezTo>
                  <a:pt x="572" y="1605"/>
                  <a:pt x="415" y="1523"/>
                  <a:pt x="248" y="1504"/>
                </a:cubicBezTo>
                <a:cubicBezTo>
                  <a:pt x="240" y="1499"/>
                  <a:pt x="233" y="1492"/>
                  <a:pt x="224" y="1488"/>
                </a:cubicBezTo>
                <a:cubicBezTo>
                  <a:pt x="216" y="1484"/>
                  <a:pt x="205" y="1487"/>
                  <a:pt x="200" y="1480"/>
                </a:cubicBezTo>
                <a:cubicBezTo>
                  <a:pt x="192" y="1469"/>
                  <a:pt x="197" y="1453"/>
                  <a:pt x="192" y="1440"/>
                </a:cubicBezTo>
                <a:cubicBezTo>
                  <a:pt x="189" y="1431"/>
                  <a:pt x="181" y="1424"/>
                  <a:pt x="176" y="1416"/>
                </a:cubicBezTo>
                <a:cubicBezTo>
                  <a:pt x="169" y="1370"/>
                  <a:pt x="154" y="1311"/>
                  <a:pt x="128" y="1272"/>
                </a:cubicBezTo>
                <a:cubicBezTo>
                  <a:pt x="117" y="1227"/>
                  <a:pt x="103" y="1191"/>
                  <a:pt x="96" y="1144"/>
                </a:cubicBezTo>
                <a:cubicBezTo>
                  <a:pt x="93" y="1076"/>
                  <a:pt x="118" y="633"/>
                  <a:pt x="32" y="504"/>
                </a:cubicBezTo>
                <a:cubicBezTo>
                  <a:pt x="27" y="331"/>
                  <a:pt x="17" y="250"/>
                  <a:pt x="32" y="96"/>
                </a:cubicBezTo>
                <a:cubicBezTo>
                  <a:pt x="36" y="55"/>
                  <a:pt x="88" y="18"/>
                  <a:pt x="88" y="0"/>
                </a:cubicBezTo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文本&#10;&#10;描述已自动生成">
            <a:extLst>
              <a:ext uri="{FF2B5EF4-FFF2-40B4-BE49-F238E27FC236}">
                <a16:creationId xmlns:a16="http://schemas.microsoft.com/office/drawing/2014/main" id="{5F2FF943-D8DC-2D42-A876-78A5A558A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73989"/>
            <a:ext cx="2463898" cy="20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7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8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8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8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6" grpId="0"/>
      <p:bldP spid="980997" grpId="0"/>
      <p:bldP spid="980998" grpId="0"/>
      <p:bldP spid="98099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994" name="Rectangle 2">
            <a:extLst>
              <a:ext uri="{FF2B5EF4-FFF2-40B4-BE49-F238E27FC236}">
                <a16:creationId xmlns:a16="http://schemas.microsoft.com/office/drawing/2014/main" id="{997566FB-EE4E-4C41-9D2F-DF128A17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181" y="980728"/>
            <a:ext cx="8640762" cy="48936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</a:rPr>
              <a:t>DISTINCT </a:t>
            </a:r>
            <a:r>
              <a:rPr lang="en-US" altLang="zh-CN" sz="2400" b="1" dirty="0" err="1">
                <a:solidFill>
                  <a:schemeClr val="bg1"/>
                </a:solidFill>
              </a:rPr>
              <a:t>X.xh</a:t>
            </a:r>
            <a:r>
              <a:rPr lang="en-US" altLang="zh-CN" sz="2400" b="1" dirty="0">
                <a:solidFill>
                  <a:schemeClr val="bg1"/>
                </a:solidFill>
              </a:rPr>
              <a:t>, </a:t>
            </a:r>
            <a:r>
              <a:rPr lang="en-US" altLang="zh-CN" sz="2400" b="1" dirty="0" err="1">
                <a:solidFill>
                  <a:schemeClr val="bg1"/>
                </a:solidFill>
              </a:rPr>
              <a:t>X.kh</a:t>
            </a:r>
            <a:r>
              <a:rPr lang="en-US" altLang="zh-CN" sz="2400" b="1" dirty="0">
                <a:solidFill>
                  <a:schemeClr val="bg1"/>
                </a:solidFill>
              </a:rPr>
              <a:t>, </a:t>
            </a:r>
            <a:r>
              <a:rPr lang="en-US" altLang="zh-CN" sz="2400" b="1" dirty="0" err="1">
                <a:solidFill>
                  <a:schemeClr val="bg1"/>
                </a:solidFill>
              </a:rPr>
              <a:t>X.zpcj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FROM E</a:t>
            </a:r>
            <a:r>
              <a:rPr lang="en-US" altLang="zh-CN" sz="2400" b="1" dirty="0">
                <a:solidFill>
                  <a:schemeClr val="bg1"/>
                </a:solidFill>
              </a:rPr>
              <a:t> X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 err="1">
                <a:solidFill>
                  <a:schemeClr val="bg1"/>
                </a:solidFill>
              </a:rPr>
              <a:t>X.gh</a:t>
            </a:r>
            <a:r>
              <a:rPr lang="en-US" altLang="zh-CN" sz="2400" b="1" dirty="0">
                <a:solidFill>
                  <a:srgbClr val="660033"/>
                </a:solidFill>
              </a:rPr>
              <a:t>=‘0102’</a:t>
            </a:r>
          </a:p>
          <a:p>
            <a:pPr>
              <a:defRPr/>
            </a:pP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  AND  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FROM </a:t>
            </a:r>
            <a:r>
              <a:rPr lang="en-US" altLang="zh-CN" sz="2400" b="1" dirty="0">
                <a:solidFill>
                  <a:srgbClr val="660033"/>
                </a:solidFill>
              </a:rPr>
              <a:t>O Y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WHERE </a:t>
            </a:r>
            <a:r>
              <a:rPr lang="en-US" altLang="zh-CN" sz="2400" b="1" dirty="0" err="1">
                <a:solidFill>
                  <a:srgbClr val="660033"/>
                </a:solidFill>
              </a:rPr>
              <a:t>Y.gh</a:t>
            </a:r>
            <a:r>
              <a:rPr lang="en-US" altLang="zh-CN" sz="2400" b="1" dirty="0">
                <a:solidFill>
                  <a:srgbClr val="660033"/>
                </a:solidFill>
              </a:rPr>
              <a:t>=‘0102'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          AND</a:t>
            </a:r>
            <a:r>
              <a:rPr lang="en-US" altLang="zh-CN" sz="2400" dirty="0"/>
              <a:t>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NOT EXISTS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(SELECT </a:t>
            </a:r>
            <a:r>
              <a:rPr lang="en-US" altLang="zh-CN" sz="2400" b="1" dirty="0">
                <a:solidFill>
                  <a:schemeClr val="bg1"/>
                </a:solidFill>
              </a:rPr>
              <a:t>*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FROM </a:t>
            </a:r>
            <a:r>
              <a:rPr lang="en-US" altLang="zh-CN" sz="2400" b="1" dirty="0">
                <a:solidFill>
                  <a:srgbClr val="FF0000"/>
                </a:solidFill>
              </a:rPr>
              <a:t>E Z</a:t>
            </a: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WHERE </a:t>
            </a:r>
            <a:r>
              <a:rPr lang="en-US" altLang="zh-CN" sz="2400" b="1" dirty="0" err="1">
                <a:solidFill>
                  <a:srgbClr val="FF0000"/>
                </a:solidFill>
              </a:rPr>
              <a:t>Z</a:t>
            </a:r>
            <a:r>
              <a:rPr lang="en-US" altLang="zh-CN" sz="2400" b="1" dirty="0" err="1">
                <a:solidFill>
                  <a:schemeClr val="bg1"/>
                </a:solidFill>
              </a:rPr>
              <a:t>.xh</a:t>
            </a:r>
            <a:r>
              <a:rPr lang="en-US" altLang="zh-CN" sz="2400" b="1" dirty="0">
                <a:solidFill>
                  <a:schemeClr val="bg1"/>
                </a:solidFill>
              </a:rPr>
              <a:t>=</a:t>
            </a:r>
            <a:r>
              <a:rPr lang="en-US" altLang="zh-CN" sz="2400" b="1" dirty="0" err="1">
                <a:solidFill>
                  <a:schemeClr val="bg1"/>
                </a:solidFill>
              </a:rPr>
              <a:t>X.xh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AND </a:t>
            </a:r>
            <a:r>
              <a:rPr lang="en-US" altLang="zh-CN" sz="2400" b="1" dirty="0" err="1">
                <a:solidFill>
                  <a:srgbClr val="FF0000"/>
                </a:solidFill>
              </a:rPr>
              <a:t>Z</a:t>
            </a:r>
            <a:r>
              <a:rPr lang="en-US" altLang="zh-CN" sz="2400" b="1" dirty="0" err="1">
                <a:solidFill>
                  <a:srgbClr val="660033"/>
                </a:solidFill>
              </a:rPr>
              <a:t>.</a:t>
            </a:r>
            <a:r>
              <a:rPr lang="en-US" altLang="zh-CN" sz="2400" b="1" dirty="0" err="1">
                <a:solidFill>
                  <a:srgbClr val="FF0000"/>
                </a:solidFill>
              </a:rPr>
              <a:t>kh</a:t>
            </a:r>
            <a:r>
              <a:rPr lang="en-US" altLang="zh-CN" sz="2400" b="1" dirty="0">
                <a:solidFill>
                  <a:srgbClr val="FF0000"/>
                </a:solidFill>
              </a:rPr>
              <a:t>=</a:t>
            </a:r>
            <a:r>
              <a:rPr lang="en-US" altLang="zh-CN" sz="2400" b="1" dirty="0" err="1">
                <a:solidFill>
                  <a:srgbClr val="FF0000"/>
                </a:solidFill>
              </a:rPr>
              <a:t>Y.kh</a:t>
            </a:r>
            <a:r>
              <a:rPr lang="en-US" altLang="zh-CN" sz="2400" b="1" dirty="0">
                <a:solidFill>
                  <a:schemeClr val="bg2"/>
                </a:solidFill>
              </a:rPr>
              <a:t>));</a:t>
            </a:r>
          </a:p>
          <a:p>
            <a:pPr>
              <a:defRPr/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7730A07-1BF4-F34F-98B8-F7BC27EA7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-242888"/>
            <a:ext cx="84248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例：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检索至少选修了</a:t>
            </a:r>
            <a:r>
              <a:rPr lang="en-US" altLang="zh-CN" sz="2400" b="1" dirty="0">
                <a:solidFill>
                  <a:srgbClr val="660033"/>
                </a:solidFill>
              </a:rPr>
              <a:t>0102</a:t>
            </a:r>
            <a:r>
              <a:rPr lang="zh-CN" altLang="en-US" sz="2400" b="1" dirty="0">
                <a:solidFill>
                  <a:srgbClr val="660033"/>
                </a:solidFill>
              </a:rPr>
              <a:t>号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老师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所开</a:t>
            </a:r>
            <a:r>
              <a:rPr kumimoji="0"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的全部课程</a:t>
            </a:r>
            <a:r>
              <a:rPr kumimoji="0"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的学生学号和课号及成绩（仅仅显示马老师的课号和成绩）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980996" name="Text Box 4">
            <a:extLst>
              <a:ext uri="{FF2B5EF4-FFF2-40B4-BE49-F238E27FC236}">
                <a16:creationId xmlns:a16="http://schemas.microsoft.com/office/drawing/2014/main" id="{5B43642B-480B-6A41-BEC9-0855A9B0F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1027074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找这样的学生</a:t>
            </a:r>
          </a:p>
        </p:txBody>
      </p:sp>
      <p:sp>
        <p:nvSpPr>
          <p:cNvPr id="980997" name="Text Box 5">
            <a:extLst>
              <a:ext uri="{FF2B5EF4-FFF2-40B4-BE49-F238E27FC236}">
                <a16:creationId xmlns:a16="http://schemas.microsoft.com/office/drawing/2014/main" id="{66110DF9-E527-7241-BA1F-AB2BB317F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694" y="2107234"/>
            <a:ext cx="3744913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-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不存在一门课程</a:t>
            </a:r>
          </a:p>
        </p:txBody>
      </p:sp>
      <p:sp>
        <p:nvSpPr>
          <p:cNvPr id="980998" name="Text Box 6">
            <a:extLst>
              <a:ext uri="{FF2B5EF4-FFF2-40B4-BE49-F238E27FC236}">
                <a16:creationId xmlns:a16="http://schemas.microsoft.com/office/drawing/2014/main" id="{83A15C6D-54EF-E549-8C39-B608F7EB8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8" y="2742853"/>
            <a:ext cx="4265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en-US" altLang="zh-CN" sz="2400" b="1" dirty="0">
                <a:solidFill>
                  <a:srgbClr val="660033"/>
                </a:solidFill>
              </a:rPr>
              <a:t>0102</a:t>
            </a:r>
            <a:r>
              <a:rPr lang="zh-CN" altLang="en-US" sz="2400" b="1" dirty="0">
                <a:solidFill>
                  <a:srgbClr val="660033"/>
                </a:solidFill>
              </a:rPr>
              <a:t>号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老师开了    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sp>
        <p:nvSpPr>
          <p:cNvPr id="980999" name="AutoShape 7">
            <a:extLst>
              <a:ext uri="{FF2B5EF4-FFF2-40B4-BE49-F238E27FC236}">
                <a16:creationId xmlns:a16="http://schemas.microsoft.com/office/drawing/2014/main" id="{9AFE966F-1CF5-5448-96BA-76D5D8D97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7888" y="3235920"/>
            <a:ext cx="2963862" cy="1057275"/>
          </a:xfrm>
          <a:prstGeom prst="cloudCallout">
            <a:avLst>
              <a:gd name="adj1" fmla="val -64597"/>
              <a:gd name="adj2" fmla="val 85769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而这个学生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没选</a:t>
            </a:r>
          </a:p>
        </p:txBody>
      </p:sp>
      <p:sp>
        <p:nvSpPr>
          <p:cNvPr id="981000" name="Freeform 8">
            <a:extLst>
              <a:ext uri="{FF2B5EF4-FFF2-40B4-BE49-F238E27FC236}">
                <a16:creationId xmlns:a16="http://schemas.microsoft.com/office/drawing/2014/main" id="{CA7CCC53-74C7-274D-BF8E-531B0D0E1D3B}"/>
              </a:ext>
            </a:extLst>
          </p:cNvPr>
          <p:cNvSpPr>
            <a:spLocks/>
          </p:cNvSpPr>
          <p:nvPr/>
        </p:nvSpPr>
        <p:spPr bwMode="auto">
          <a:xfrm>
            <a:off x="2614613" y="3212753"/>
            <a:ext cx="3541712" cy="1873250"/>
          </a:xfrm>
          <a:custGeom>
            <a:avLst/>
            <a:gdLst>
              <a:gd name="T0" fmla="*/ 0 w 2248"/>
              <a:gd name="T1" fmla="*/ 2147483646 h 1632"/>
              <a:gd name="T2" fmla="*/ 2147483646 w 2248"/>
              <a:gd name="T3" fmla="*/ 2147483646 h 1632"/>
              <a:gd name="T4" fmla="*/ 2147483646 w 2248"/>
              <a:gd name="T5" fmla="*/ 2147483646 h 1632"/>
              <a:gd name="T6" fmla="*/ 2147483646 w 2248"/>
              <a:gd name="T7" fmla="*/ 2147483646 h 1632"/>
              <a:gd name="T8" fmla="*/ 2147483646 w 2248"/>
              <a:gd name="T9" fmla="*/ 2147483646 h 1632"/>
              <a:gd name="T10" fmla="*/ 2147483646 w 2248"/>
              <a:gd name="T11" fmla="*/ 2147483646 h 1632"/>
              <a:gd name="T12" fmla="*/ 2147483646 w 2248"/>
              <a:gd name="T13" fmla="*/ 2147483646 h 1632"/>
              <a:gd name="T14" fmla="*/ 2147483646 w 2248"/>
              <a:gd name="T15" fmla="*/ 2147483646 h 1632"/>
              <a:gd name="T16" fmla="*/ 2147483646 w 2248"/>
              <a:gd name="T17" fmla="*/ 2147483646 h 1632"/>
              <a:gd name="T18" fmla="*/ 2147483646 w 2248"/>
              <a:gd name="T19" fmla="*/ 2147483646 h 1632"/>
              <a:gd name="T20" fmla="*/ 2147483646 w 2248"/>
              <a:gd name="T21" fmla="*/ 2147483646 h 1632"/>
              <a:gd name="T22" fmla="*/ 2147483646 w 2248"/>
              <a:gd name="T23" fmla="*/ 2147483646 h 1632"/>
              <a:gd name="T24" fmla="*/ 2147483646 w 2248"/>
              <a:gd name="T25" fmla="*/ 2147483646 h 1632"/>
              <a:gd name="T26" fmla="*/ 2147483646 w 2248"/>
              <a:gd name="T27" fmla="*/ 2147483646 h 1632"/>
              <a:gd name="T28" fmla="*/ 2147483646 w 2248"/>
              <a:gd name="T29" fmla="*/ 2147483646 h 1632"/>
              <a:gd name="T30" fmla="*/ 2147483646 w 2248"/>
              <a:gd name="T31" fmla="*/ 2147483646 h 1632"/>
              <a:gd name="T32" fmla="*/ 2147483646 w 2248"/>
              <a:gd name="T33" fmla="*/ 2147483646 h 1632"/>
              <a:gd name="T34" fmla="*/ 2147483646 w 2248"/>
              <a:gd name="T35" fmla="*/ 2147483646 h 1632"/>
              <a:gd name="T36" fmla="*/ 2147483646 w 2248"/>
              <a:gd name="T37" fmla="*/ 2147483646 h 1632"/>
              <a:gd name="T38" fmla="*/ 2147483646 w 2248"/>
              <a:gd name="T39" fmla="*/ 2147483646 h 1632"/>
              <a:gd name="T40" fmla="*/ 2147483646 w 2248"/>
              <a:gd name="T41" fmla="*/ 2147483646 h 1632"/>
              <a:gd name="T42" fmla="*/ 2147483646 w 2248"/>
              <a:gd name="T43" fmla="*/ 2147483646 h 1632"/>
              <a:gd name="T44" fmla="*/ 2147483646 w 2248"/>
              <a:gd name="T45" fmla="*/ 2147483646 h 1632"/>
              <a:gd name="T46" fmla="*/ 2147483646 w 2248"/>
              <a:gd name="T47" fmla="*/ 2147483646 h 1632"/>
              <a:gd name="T48" fmla="*/ 2147483646 w 2248"/>
              <a:gd name="T49" fmla="*/ 2147483646 h 1632"/>
              <a:gd name="T50" fmla="*/ 2147483646 w 2248"/>
              <a:gd name="T51" fmla="*/ 2147483646 h 1632"/>
              <a:gd name="T52" fmla="*/ 2147483646 w 2248"/>
              <a:gd name="T53" fmla="*/ 2147483646 h 1632"/>
              <a:gd name="T54" fmla="*/ 2147483646 w 2248"/>
              <a:gd name="T55" fmla="*/ 2147483646 h 1632"/>
              <a:gd name="T56" fmla="*/ 2147483646 w 2248"/>
              <a:gd name="T57" fmla="*/ 2147483646 h 1632"/>
              <a:gd name="T58" fmla="*/ 2147483646 w 2248"/>
              <a:gd name="T59" fmla="*/ 2147483646 h 1632"/>
              <a:gd name="T60" fmla="*/ 2147483646 w 2248"/>
              <a:gd name="T61" fmla="*/ 2147483646 h 1632"/>
              <a:gd name="T62" fmla="*/ 2147483646 w 2248"/>
              <a:gd name="T63" fmla="*/ 2147483646 h 1632"/>
              <a:gd name="T64" fmla="*/ 2147483646 w 2248"/>
              <a:gd name="T65" fmla="*/ 2147483646 h 1632"/>
              <a:gd name="T66" fmla="*/ 2147483646 w 2248"/>
              <a:gd name="T67" fmla="*/ 2147483646 h 1632"/>
              <a:gd name="T68" fmla="*/ 2147483646 w 2248"/>
              <a:gd name="T69" fmla="*/ 2147483646 h 1632"/>
              <a:gd name="T70" fmla="*/ 2147483646 w 2248"/>
              <a:gd name="T71" fmla="*/ 2147483646 h 1632"/>
              <a:gd name="T72" fmla="*/ 2147483646 w 2248"/>
              <a:gd name="T73" fmla="*/ 2147483646 h 1632"/>
              <a:gd name="T74" fmla="*/ 2147483646 w 2248"/>
              <a:gd name="T75" fmla="*/ 2147483646 h 1632"/>
              <a:gd name="T76" fmla="*/ 2147483646 w 2248"/>
              <a:gd name="T77" fmla="*/ 2147483646 h 1632"/>
              <a:gd name="T78" fmla="*/ 2147483646 w 2248"/>
              <a:gd name="T79" fmla="*/ 2147483646 h 1632"/>
              <a:gd name="T80" fmla="*/ 2147483646 w 2248"/>
              <a:gd name="T81" fmla="*/ 0 h 1632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2248"/>
              <a:gd name="T124" fmla="*/ 0 h 1632"/>
              <a:gd name="T125" fmla="*/ 2248 w 2248"/>
              <a:gd name="T126" fmla="*/ 1632 h 1632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2248" h="1632">
                <a:moveTo>
                  <a:pt x="0" y="8"/>
                </a:moveTo>
                <a:cubicBezTo>
                  <a:pt x="144" y="29"/>
                  <a:pt x="239" y="30"/>
                  <a:pt x="392" y="24"/>
                </a:cubicBezTo>
                <a:cubicBezTo>
                  <a:pt x="528" y="27"/>
                  <a:pt x="664" y="25"/>
                  <a:pt x="800" y="32"/>
                </a:cubicBezTo>
                <a:cubicBezTo>
                  <a:pt x="885" y="36"/>
                  <a:pt x="969" y="72"/>
                  <a:pt x="1048" y="96"/>
                </a:cubicBezTo>
                <a:cubicBezTo>
                  <a:pt x="1129" y="120"/>
                  <a:pt x="1221" y="138"/>
                  <a:pt x="1304" y="152"/>
                </a:cubicBezTo>
                <a:cubicBezTo>
                  <a:pt x="1332" y="171"/>
                  <a:pt x="1352" y="176"/>
                  <a:pt x="1376" y="200"/>
                </a:cubicBezTo>
                <a:cubicBezTo>
                  <a:pt x="1393" y="251"/>
                  <a:pt x="1441" y="286"/>
                  <a:pt x="1480" y="320"/>
                </a:cubicBezTo>
                <a:cubicBezTo>
                  <a:pt x="1521" y="355"/>
                  <a:pt x="1547" y="402"/>
                  <a:pt x="1592" y="432"/>
                </a:cubicBezTo>
                <a:cubicBezTo>
                  <a:pt x="1595" y="440"/>
                  <a:pt x="1594" y="450"/>
                  <a:pt x="1600" y="456"/>
                </a:cubicBezTo>
                <a:cubicBezTo>
                  <a:pt x="1606" y="462"/>
                  <a:pt x="1617" y="459"/>
                  <a:pt x="1624" y="464"/>
                </a:cubicBezTo>
                <a:cubicBezTo>
                  <a:pt x="1641" y="476"/>
                  <a:pt x="1655" y="492"/>
                  <a:pt x="1672" y="504"/>
                </a:cubicBezTo>
                <a:cubicBezTo>
                  <a:pt x="1691" y="533"/>
                  <a:pt x="1708" y="533"/>
                  <a:pt x="1736" y="552"/>
                </a:cubicBezTo>
                <a:cubicBezTo>
                  <a:pt x="1739" y="560"/>
                  <a:pt x="1738" y="570"/>
                  <a:pt x="1744" y="576"/>
                </a:cubicBezTo>
                <a:cubicBezTo>
                  <a:pt x="1750" y="582"/>
                  <a:pt x="1805" y="604"/>
                  <a:pt x="1816" y="608"/>
                </a:cubicBezTo>
                <a:cubicBezTo>
                  <a:pt x="1835" y="636"/>
                  <a:pt x="1835" y="653"/>
                  <a:pt x="1864" y="672"/>
                </a:cubicBezTo>
                <a:cubicBezTo>
                  <a:pt x="1887" y="706"/>
                  <a:pt x="1900" y="745"/>
                  <a:pt x="1928" y="776"/>
                </a:cubicBezTo>
                <a:cubicBezTo>
                  <a:pt x="1943" y="793"/>
                  <a:pt x="1960" y="808"/>
                  <a:pt x="1976" y="824"/>
                </a:cubicBezTo>
                <a:cubicBezTo>
                  <a:pt x="1984" y="832"/>
                  <a:pt x="2000" y="848"/>
                  <a:pt x="2000" y="848"/>
                </a:cubicBezTo>
                <a:cubicBezTo>
                  <a:pt x="2011" y="882"/>
                  <a:pt x="2071" y="935"/>
                  <a:pt x="2096" y="960"/>
                </a:cubicBezTo>
                <a:cubicBezTo>
                  <a:pt x="2104" y="968"/>
                  <a:pt x="2120" y="984"/>
                  <a:pt x="2120" y="984"/>
                </a:cubicBezTo>
                <a:cubicBezTo>
                  <a:pt x="2126" y="1003"/>
                  <a:pt x="2138" y="1021"/>
                  <a:pt x="2144" y="1040"/>
                </a:cubicBezTo>
                <a:cubicBezTo>
                  <a:pt x="2148" y="1053"/>
                  <a:pt x="2146" y="1068"/>
                  <a:pt x="2152" y="1080"/>
                </a:cubicBezTo>
                <a:cubicBezTo>
                  <a:pt x="2157" y="1092"/>
                  <a:pt x="2170" y="1100"/>
                  <a:pt x="2176" y="1112"/>
                </a:cubicBezTo>
                <a:cubicBezTo>
                  <a:pt x="2183" y="1125"/>
                  <a:pt x="2187" y="1138"/>
                  <a:pt x="2192" y="1152"/>
                </a:cubicBezTo>
                <a:cubicBezTo>
                  <a:pt x="2210" y="1202"/>
                  <a:pt x="2217" y="1258"/>
                  <a:pt x="2240" y="1304"/>
                </a:cubicBezTo>
                <a:cubicBezTo>
                  <a:pt x="2243" y="1325"/>
                  <a:pt x="2248" y="1347"/>
                  <a:pt x="2248" y="1368"/>
                </a:cubicBezTo>
                <a:cubicBezTo>
                  <a:pt x="2248" y="1416"/>
                  <a:pt x="2244" y="1464"/>
                  <a:pt x="2240" y="1512"/>
                </a:cubicBezTo>
                <a:cubicBezTo>
                  <a:pt x="2233" y="1587"/>
                  <a:pt x="2144" y="1604"/>
                  <a:pt x="2088" y="1632"/>
                </a:cubicBezTo>
                <a:cubicBezTo>
                  <a:pt x="2011" y="1629"/>
                  <a:pt x="1933" y="1629"/>
                  <a:pt x="1856" y="1624"/>
                </a:cubicBezTo>
                <a:cubicBezTo>
                  <a:pt x="1700" y="1614"/>
                  <a:pt x="1773" y="1593"/>
                  <a:pt x="1704" y="1616"/>
                </a:cubicBezTo>
                <a:cubicBezTo>
                  <a:pt x="1384" y="1613"/>
                  <a:pt x="1064" y="1613"/>
                  <a:pt x="744" y="1608"/>
                </a:cubicBezTo>
                <a:cubicBezTo>
                  <a:pt x="572" y="1605"/>
                  <a:pt x="415" y="1523"/>
                  <a:pt x="248" y="1504"/>
                </a:cubicBezTo>
                <a:cubicBezTo>
                  <a:pt x="240" y="1499"/>
                  <a:pt x="233" y="1492"/>
                  <a:pt x="224" y="1488"/>
                </a:cubicBezTo>
                <a:cubicBezTo>
                  <a:pt x="216" y="1484"/>
                  <a:pt x="205" y="1487"/>
                  <a:pt x="200" y="1480"/>
                </a:cubicBezTo>
                <a:cubicBezTo>
                  <a:pt x="192" y="1469"/>
                  <a:pt x="197" y="1453"/>
                  <a:pt x="192" y="1440"/>
                </a:cubicBezTo>
                <a:cubicBezTo>
                  <a:pt x="189" y="1431"/>
                  <a:pt x="181" y="1424"/>
                  <a:pt x="176" y="1416"/>
                </a:cubicBezTo>
                <a:cubicBezTo>
                  <a:pt x="169" y="1370"/>
                  <a:pt x="154" y="1311"/>
                  <a:pt x="128" y="1272"/>
                </a:cubicBezTo>
                <a:cubicBezTo>
                  <a:pt x="117" y="1227"/>
                  <a:pt x="103" y="1191"/>
                  <a:pt x="96" y="1144"/>
                </a:cubicBezTo>
                <a:cubicBezTo>
                  <a:pt x="93" y="1076"/>
                  <a:pt x="118" y="633"/>
                  <a:pt x="32" y="504"/>
                </a:cubicBezTo>
                <a:cubicBezTo>
                  <a:pt x="27" y="331"/>
                  <a:pt x="17" y="250"/>
                  <a:pt x="32" y="96"/>
                </a:cubicBezTo>
                <a:cubicBezTo>
                  <a:pt x="36" y="55"/>
                  <a:pt x="88" y="18"/>
                  <a:pt x="88" y="0"/>
                </a:cubicBezTo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39E2C3B7-7A5B-7043-B963-AC19EA093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694" y="1645569"/>
            <a:ext cx="42656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- - - </a:t>
            </a:r>
            <a:r>
              <a:rPr lang="en-US" altLang="zh-CN" sz="2400" b="1" dirty="0">
                <a:solidFill>
                  <a:srgbClr val="660033"/>
                </a:solidFill>
              </a:rPr>
              <a:t>0102</a:t>
            </a:r>
            <a:r>
              <a:rPr lang="zh-CN" altLang="en-US" sz="2400" b="1" dirty="0">
                <a:solidFill>
                  <a:srgbClr val="660033"/>
                </a:solidFill>
              </a:rPr>
              <a:t>号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  <a:sym typeface="Symbol" pitchFamily="2" charset="2"/>
              </a:rPr>
              <a:t>老师开的课    </a:t>
            </a:r>
            <a:endParaRPr lang="zh-CN" altLang="en-US" sz="2400" b="1" dirty="0">
              <a:solidFill>
                <a:srgbClr val="660033"/>
              </a:solidFill>
              <a:latin typeface="宋体" panose="02010600030101010101" pitchFamily="2" charset="-122"/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72488F26-902A-4347-8701-F3E8F881A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5" y="4739928"/>
            <a:ext cx="2695728" cy="211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6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0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80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80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8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8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0996" grpId="0"/>
      <p:bldP spid="980997" grpId="0"/>
      <p:bldP spid="980998" grpId="0"/>
      <p:bldP spid="980999" grpId="0" animBg="1"/>
      <p:bldP spid="1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223838" y="228600"/>
            <a:ext cx="8956675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3200" b="1">
                <a:solidFill>
                  <a:srgbClr val="000066"/>
                </a:solidFill>
              </a:rPr>
              <a:t>聚合函数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SQL </a:t>
            </a:r>
            <a:r>
              <a:rPr lang="zh-CN" altLang="en-US" sz="2400" b="1">
                <a:solidFill>
                  <a:schemeClr val="bg2"/>
                </a:solidFill>
              </a:rPr>
              <a:t>提供了下列聚合函数：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COUNT</a:t>
            </a:r>
            <a:r>
              <a:rPr lang="zh-CN" altLang="en-US" sz="2400" b="1">
                <a:solidFill>
                  <a:schemeClr val="bg2"/>
                </a:solidFill>
              </a:rPr>
              <a:t>（*）       计算元组的个数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COUNT</a:t>
            </a:r>
            <a:r>
              <a:rPr lang="zh-CN" altLang="en-US" sz="2400" b="1">
                <a:solidFill>
                  <a:schemeClr val="bg2"/>
                </a:solidFill>
              </a:rPr>
              <a:t>（列名）    对一列中的值计算个数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SUM</a:t>
            </a:r>
            <a:r>
              <a:rPr lang="zh-CN" altLang="en-US" sz="2400" b="1">
                <a:solidFill>
                  <a:schemeClr val="bg2"/>
                </a:solidFill>
              </a:rPr>
              <a:t>（列名）      求某一列值的总和（</a:t>
            </a:r>
            <a:r>
              <a:rPr lang="zh-CN" altLang="en-US" sz="2400" b="1">
                <a:solidFill>
                  <a:srgbClr val="660033"/>
                </a:solidFill>
              </a:rPr>
              <a:t>此列的值必须是数值</a:t>
            </a:r>
            <a:r>
              <a:rPr lang="zh-CN" altLang="en-US" sz="2400" b="1">
                <a:solidFill>
                  <a:schemeClr val="bg2"/>
                </a:solidFill>
              </a:rPr>
              <a:t>）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AVG</a:t>
            </a:r>
            <a:r>
              <a:rPr lang="zh-CN" altLang="en-US" sz="2400" b="1">
                <a:solidFill>
                  <a:schemeClr val="bg2"/>
                </a:solidFill>
              </a:rPr>
              <a:t>（列名）      求某一列值的平均值（</a:t>
            </a:r>
            <a:r>
              <a:rPr lang="zh-CN" altLang="en-US" sz="2400" b="1">
                <a:solidFill>
                  <a:srgbClr val="660033"/>
                </a:solidFill>
              </a:rPr>
              <a:t>此列的值必须是数值</a:t>
            </a:r>
            <a:r>
              <a:rPr lang="zh-CN" altLang="en-US" sz="2400" b="1">
                <a:solidFill>
                  <a:schemeClr val="bg2"/>
                </a:solidFill>
              </a:rPr>
              <a:t>）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MAX</a:t>
            </a:r>
            <a:r>
              <a:rPr lang="zh-CN" altLang="en-US" sz="2400" b="1">
                <a:solidFill>
                  <a:schemeClr val="bg2"/>
                </a:solidFill>
              </a:rPr>
              <a:t>（列名）      求某一列值的最大值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MIN</a:t>
            </a:r>
            <a:r>
              <a:rPr lang="zh-CN" altLang="en-US" sz="2400" b="1">
                <a:solidFill>
                  <a:schemeClr val="bg2"/>
                </a:solidFill>
              </a:rPr>
              <a:t>（列名）      求某一列值的最小值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DISTINCT</a:t>
            </a:r>
            <a:endParaRPr lang="en-US" altLang="zh-CN" sz="3200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1" y="228600"/>
            <a:ext cx="8820472" cy="2098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266700" algn="just">
              <a:lnSpc>
                <a:spcPct val="200000"/>
              </a:lnSpc>
            </a:pPr>
            <a:r>
              <a:rPr lang="en-US" altLang="zh-CN" sz="3200" b="1" dirty="0">
                <a:solidFill>
                  <a:srgbClr val="000066"/>
                </a:solidFill>
              </a:rPr>
              <a:t>SELECT</a:t>
            </a:r>
            <a:r>
              <a:rPr lang="zh-CN" altLang="en-US" sz="3200" b="1" dirty="0">
                <a:solidFill>
                  <a:srgbClr val="000066"/>
                </a:solidFill>
              </a:rPr>
              <a:t>语句的语义有三种情况（</a:t>
            </a:r>
            <a:r>
              <a:rPr lang="en-US" altLang="zh-CN" sz="3200" b="1" dirty="0">
                <a:solidFill>
                  <a:srgbClr val="000066"/>
                </a:solidFill>
              </a:rPr>
              <a:t>SQL</a:t>
            </a:r>
            <a:r>
              <a:rPr lang="zh-CN" altLang="en-US" sz="3200" b="1" dirty="0">
                <a:solidFill>
                  <a:srgbClr val="000066"/>
                </a:solidFill>
              </a:rPr>
              <a:t>标准）</a:t>
            </a:r>
            <a:r>
              <a:rPr lang="en-US" altLang="zh-CN" sz="3200" b="1" dirty="0">
                <a:solidFill>
                  <a:srgbClr val="000066"/>
                </a:solidFill>
              </a:rPr>
              <a:t>:</a:t>
            </a:r>
          </a:p>
          <a:p>
            <a:pPr indent="266700"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660033"/>
                </a:solidFill>
              </a:rPr>
              <a:t>第一种情况：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语句中未使用分组子句</a:t>
            </a:r>
            <a:r>
              <a:rPr lang="en-US" altLang="zh-CN" sz="2400" b="1" dirty="0">
                <a:solidFill>
                  <a:srgbClr val="000066"/>
                </a:solidFill>
              </a:rPr>
              <a:t>,</a:t>
            </a:r>
            <a:r>
              <a:rPr lang="zh-CN" altLang="en-US" sz="2400" b="1" dirty="0">
                <a:solidFill>
                  <a:srgbClr val="000066"/>
                </a:solidFill>
              </a:rPr>
              <a:t>也未使用聚合操作，那么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子句的语义是对查询的结果执行投影操作。</a:t>
            </a:r>
            <a:r>
              <a:rPr lang="zh-CN" altLang="en-US" sz="2400" b="1" dirty="0">
                <a:solidFill>
                  <a:schemeClr val="bg2"/>
                </a:solidFill>
              </a:rPr>
              <a:t>如：</a:t>
            </a:r>
          </a:p>
        </p:txBody>
      </p:sp>
      <p:pic>
        <p:nvPicPr>
          <p:cNvPr id="3" name="图片 2" descr="图片包含 文本&#10;&#10;描述已自动生成">
            <a:extLst>
              <a:ext uri="{FF2B5EF4-FFF2-40B4-BE49-F238E27FC236}">
                <a16:creationId xmlns:a16="http://schemas.microsoft.com/office/drawing/2014/main" id="{D5973A5E-A0E5-B445-463C-55083FDBD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2888940"/>
            <a:ext cx="2651732" cy="29676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1FF5A89-E5ED-A0EB-A678-403518A53139}"/>
              </a:ext>
            </a:extLst>
          </p:cNvPr>
          <p:cNvSpPr txBox="1"/>
          <p:nvPr/>
        </p:nvSpPr>
        <p:spPr>
          <a:xfrm>
            <a:off x="755576" y="3284984"/>
            <a:ext cx="4269624" cy="2175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266700" algn="just" eaLnBrk="0" hangingPunct="0">
              <a:lnSpc>
                <a:spcPct val="20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SELECT SNO,SNAME</a:t>
            </a:r>
          </a:p>
          <a:p>
            <a:pPr indent="266700" algn="just" eaLnBrk="0" hangingPunct="0">
              <a:lnSpc>
                <a:spcPct val="20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FROM S</a:t>
            </a:r>
          </a:p>
          <a:p>
            <a:pPr indent="266700" algn="just" eaLnBrk="0" hangingPunct="0">
              <a:lnSpc>
                <a:spcPct val="20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WHERE SEX='</a:t>
            </a:r>
            <a:r>
              <a:rPr lang="zh-CN" altLang="en-US" sz="2400" b="1" dirty="0">
                <a:solidFill>
                  <a:schemeClr val="bg2"/>
                </a:solidFill>
              </a:rPr>
              <a:t>男</a:t>
            </a:r>
            <a:r>
              <a:rPr lang="en-US" altLang="zh-CN" sz="2400" b="1" dirty="0">
                <a:solidFill>
                  <a:schemeClr val="bg2"/>
                </a:solidFill>
              </a:rPr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357598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467544" y="155415"/>
            <a:ext cx="8676456" cy="16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第二种情况：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语句中未使用分组子句，但在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子句中使用了聚合操作，此时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子句的语义是对查询结果执行聚合操作。</a:t>
            </a:r>
            <a:r>
              <a:rPr lang="zh-CN" altLang="en-US" sz="2400" b="1" dirty="0">
                <a:solidFill>
                  <a:schemeClr val="bg2"/>
                </a:solidFill>
              </a:rPr>
              <a:t>如：	</a:t>
            </a:r>
          </a:p>
        </p:txBody>
      </p:sp>
      <p:sp>
        <p:nvSpPr>
          <p:cNvPr id="679939" name="Rectangle 3"/>
          <p:cNvSpPr>
            <a:spLocks noChangeArrowheads="1"/>
          </p:cNvSpPr>
          <p:nvPr/>
        </p:nvSpPr>
        <p:spPr bwMode="auto">
          <a:xfrm>
            <a:off x="899753" y="2252390"/>
            <a:ext cx="7344494" cy="21755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COUNT(*) count_</a:t>
            </a:r>
            <a:r>
              <a:rPr lang="zh-CN" altLang="en-US" sz="2400" b="1" dirty="0">
                <a:solidFill>
                  <a:schemeClr val="bg2"/>
                </a:solidFill>
              </a:rPr>
              <a:t>男</a:t>
            </a:r>
            <a:r>
              <a:rPr lang="en-US" altLang="zh-CN" sz="2400" b="1" dirty="0">
                <a:solidFill>
                  <a:schemeClr val="bg2"/>
                </a:solidFill>
              </a:rPr>
              <a:t>,AVG(AGE) </a:t>
            </a:r>
            <a:r>
              <a:rPr lang="en-US" altLang="zh-CN" sz="2400" b="1" dirty="0" err="1">
                <a:solidFill>
                  <a:schemeClr val="bg2"/>
                </a:solidFill>
              </a:rPr>
              <a:t>avg_age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S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WHERE SEX='</a:t>
            </a:r>
            <a:r>
              <a:rPr lang="zh-CN" altLang="en-US" sz="2400" b="1" dirty="0">
                <a:solidFill>
                  <a:schemeClr val="bg2"/>
                </a:solidFill>
              </a:rPr>
              <a:t>男</a:t>
            </a:r>
            <a:r>
              <a:rPr lang="en-US" altLang="zh-CN" sz="2400" b="1" dirty="0">
                <a:solidFill>
                  <a:schemeClr val="bg2"/>
                </a:solidFill>
              </a:rPr>
              <a:t>';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2998AE-4F96-7ECC-8304-53BB981C3BFF}"/>
              </a:ext>
            </a:extLst>
          </p:cNvPr>
          <p:cNvSpPr txBox="1"/>
          <p:nvPr/>
        </p:nvSpPr>
        <p:spPr>
          <a:xfrm>
            <a:off x="899753" y="6387504"/>
            <a:ext cx="48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2"/>
                </a:solidFill>
              </a:rPr>
              <a:t>该语句是求男同学的人数和平均年龄。</a:t>
            </a:r>
            <a:endParaRPr lang="zh-CN" altLang="en-US" dirty="0"/>
          </a:p>
        </p:txBody>
      </p:sp>
      <p:pic>
        <p:nvPicPr>
          <p:cNvPr id="5" name="图片 4" descr="图片包含 文本&#10;&#10;描述已自动生成">
            <a:extLst>
              <a:ext uri="{FF2B5EF4-FFF2-40B4-BE49-F238E27FC236}">
                <a16:creationId xmlns:a16="http://schemas.microsoft.com/office/drawing/2014/main" id="{FF085509-2A49-76A9-6066-96B078940B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4525095"/>
            <a:ext cx="4648200" cy="176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4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39" grpId="0" animBg="1"/>
      <p:bldP spid="3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auto">
          <a:xfrm>
            <a:off x="449449" y="188640"/>
            <a:ext cx="8245102" cy="1667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第三种情况：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语句使用了分组子句和聚合操作，此时</a:t>
            </a:r>
            <a:r>
              <a:rPr lang="en-US" altLang="zh-CN" sz="2400" b="1" dirty="0">
                <a:solidFill>
                  <a:srgbClr val="000066"/>
                </a:solidFill>
              </a:rPr>
              <a:t>SELECT</a:t>
            </a:r>
            <a:r>
              <a:rPr lang="zh-CN" altLang="en-US" sz="2400" b="1" dirty="0">
                <a:solidFill>
                  <a:srgbClr val="000066"/>
                </a:solidFill>
              </a:rPr>
              <a:t>子句的语义是对查询结果的每一分组去做聚合操作。</a:t>
            </a:r>
            <a:r>
              <a:rPr lang="zh-CN" altLang="en-US" sz="2400" b="1" dirty="0">
                <a:solidFill>
                  <a:schemeClr val="bg2"/>
                </a:solidFill>
              </a:rPr>
              <a:t>如：</a:t>
            </a:r>
          </a:p>
        </p:txBody>
      </p:sp>
      <p:sp>
        <p:nvSpPr>
          <p:cNvPr id="680963" name="Rectangle 3"/>
          <p:cNvSpPr>
            <a:spLocks noChangeArrowheads="1"/>
          </p:cNvSpPr>
          <p:nvPr/>
        </p:nvSpPr>
        <p:spPr bwMode="auto">
          <a:xfrm>
            <a:off x="611560" y="2355240"/>
            <a:ext cx="4535165" cy="23612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SELECT </a:t>
            </a:r>
            <a:r>
              <a:rPr lang="en-US" altLang="zh-CN" sz="2800" b="1" dirty="0" err="1">
                <a:solidFill>
                  <a:schemeClr val="bg2"/>
                </a:solidFill>
              </a:rPr>
              <a:t>CNO,count</a:t>
            </a:r>
            <a:r>
              <a:rPr lang="en-US" altLang="zh-CN" sz="2800" b="1" dirty="0">
                <a:solidFill>
                  <a:schemeClr val="bg2"/>
                </a:solidFill>
              </a:rPr>
              <a:t>(*)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FROM SC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GROUP BY CNO;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437762" y="4752303"/>
            <a:ext cx="52339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该语句是求每门课的选课人数。</a:t>
            </a:r>
          </a:p>
        </p:txBody>
      </p:sp>
      <p:pic>
        <p:nvPicPr>
          <p:cNvPr id="4" name="图片 3" descr="图片包含 示意图&#10;&#10;描述已自动生成">
            <a:extLst>
              <a:ext uri="{FF2B5EF4-FFF2-40B4-BE49-F238E27FC236}">
                <a16:creationId xmlns:a16="http://schemas.microsoft.com/office/drawing/2014/main" id="{C6D9F8C6-D1D9-BEF3-8301-45D778863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355239"/>
            <a:ext cx="2868152" cy="236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0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63" grpId="0" animBg="1"/>
      <p:bldP spid="2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6" name="Rectangle 2"/>
          <p:cNvSpPr>
            <a:spLocks noChangeArrowheads="1"/>
          </p:cNvSpPr>
          <p:nvPr/>
        </p:nvSpPr>
        <p:spPr bwMode="auto">
          <a:xfrm>
            <a:off x="-107950" y="-26988"/>
            <a:ext cx="9432925" cy="6438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宋体" pitchFamily="2" charset="-122"/>
                <a:ea typeface="宋体" pitchFamily="2" charset="-122"/>
              </a:rPr>
              <a:t>注意：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 通常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SELECT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语句中使用了分组子句就会有聚合操作。   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     但执行聚合操作不一定要用分组子句。</a:t>
            </a:r>
          </a:p>
          <a:p>
            <a:pPr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如：求男同学的人数，此时聚合值只有一个，因此不必分组。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  <a:sym typeface="Symbol" pitchFamily="18" charset="2"/>
              </a:rPr>
              <a:t> 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但同一个聚合操作的值有多个时</a:t>
            </a:r>
            <a:r>
              <a:rPr lang="en-US" altLang="zh-CN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,</a:t>
            </a:r>
            <a:r>
              <a:rPr lang="zh-CN" altLang="en-US" sz="2800" b="1" dirty="0">
                <a:solidFill>
                  <a:srgbClr val="66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必须使用分组子句。</a:t>
            </a: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  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如：求每一年龄的学生人数。此时聚合值有多个，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     与年龄有关，因此必须分组。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  <a:defRPr/>
            </a:pPr>
            <a:endParaRPr lang="en-US" altLang="zh-CN" sz="2400" b="1" dirty="0">
              <a:solidFill>
                <a:schemeClr val="bg2"/>
              </a:solidFill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43643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C92A7-ADBB-78DF-71AF-E5184734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>
            <a:extLst>
              <a:ext uri="{FF2B5EF4-FFF2-40B4-BE49-F238E27FC236}">
                <a16:creationId xmlns:a16="http://schemas.microsoft.com/office/drawing/2014/main" id="{0BA837E0-2DC6-2E04-428B-060ECABE1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9275"/>
            <a:ext cx="8137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、查询学生总人数。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70A996-BA12-5A5C-0F92-C280B3ACE55B}"/>
              </a:ext>
            </a:extLst>
          </p:cNvPr>
          <p:cNvSpPr txBox="1"/>
          <p:nvPr/>
        </p:nvSpPr>
        <p:spPr>
          <a:xfrm>
            <a:off x="683568" y="935653"/>
            <a:ext cx="45931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COUNT(*) AS TotalStudents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S;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20B0264A-5A5E-D665-B74A-A6D057C35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8561" y="521011"/>
            <a:ext cx="2664296" cy="1107123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8A069E3-4A9F-6F1B-6EFF-DD8ECF06E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916832"/>
            <a:ext cx="84248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、查询选修了课程的学生人数。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DEF540-DD77-6DDD-F3D3-860FF980D2D7}"/>
              </a:ext>
            </a:extLst>
          </p:cNvPr>
          <p:cNvSpPr txBox="1"/>
          <p:nvPr/>
        </p:nvSpPr>
        <p:spPr>
          <a:xfrm>
            <a:off x="706978" y="2301007"/>
            <a:ext cx="3945211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COUNT(DISTINCT SNO) </a:t>
            </a:r>
            <a:endParaRPr lang="en-US" altLang="zh-CN" dirty="0">
              <a:solidFill>
                <a:schemeClr val="bg2"/>
              </a:solidFill>
            </a:endParaRPr>
          </a:p>
          <a:p>
            <a:r>
              <a:rPr lang="zh-CN" altLang="en-US" dirty="0">
                <a:solidFill>
                  <a:schemeClr val="bg2"/>
                </a:solidFill>
              </a:rPr>
              <a:t>AS StudentsWithCourses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SC;</a:t>
            </a:r>
          </a:p>
        </p:txBody>
      </p:sp>
      <p:pic>
        <p:nvPicPr>
          <p:cNvPr id="10" name="图片 9" descr="图示&#10;&#10;中度可信度描述已自动生成">
            <a:extLst>
              <a:ext uri="{FF2B5EF4-FFF2-40B4-BE49-F238E27FC236}">
                <a16:creationId xmlns:a16="http://schemas.microsoft.com/office/drawing/2014/main" id="{DF43C6A7-EB71-C54D-9C9B-C4A4762DC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2075393"/>
            <a:ext cx="4016648" cy="1146260"/>
          </a:xfrm>
          <a:prstGeom prst="rect">
            <a:avLst/>
          </a:prstGeom>
        </p:spPr>
      </p:pic>
      <p:pic>
        <p:nvPicPr>
          <p:cNvPr id="12" name="图片 11" descr="文本&#10;&#10;中度可信度描述已自动生成">
            <a:extLst>
              <a:ext uri="{FF2B5EF4-FFF2-40B4-BE49-F238E27FC236}">
                <a16:creationId xmlns:a16="http://schemas.microsoft.com/office/drawing/2014/main" id="{913B0CA8-4C40-7C92-B60A-E70786F3B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830" y="3483507"/>
            <a:ext cx="3254842" cy="127443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A0003FA-00FC-A256-D160-BB98315C7F71}"/>
              </a:ext>
            </a:extLst>
          </p:cNvPr>
          <p:cNvSpPr txBox="1"/>
          <p:nvPr/>
        </p:nvSpPr>
        <p:spPr>
          <a:xfrm>
            <a:off x="679213" y="3834608"/>
            <a:ext cx="4585446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AVG(GRADE) AS AverageGrade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WHERE CNO = 'C1' AND GRADE IS NOT NULL;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31CB6EB-A0B7-0C26-D862-A8D4BD81C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478" y="3372943"/>
            <a:ext cx="72723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</a:rPr>
              <a:t>、计算</a:t>
            </a:r>
            <a:r>
              <a:rPr lang="en-US" altLang="zh-CN" sz="2400" b="1" dirty="0">
                <a:solidFill>
                  <a:schemeClr val="bg2"/>
                </a:solidFill>
              </a:rPr>
              <a:t>C1</a:t>
            </a:r>
            <a:r>
              <a:rPr lang="zh-CN" altLang="en-US" sz="2400" b="1" dirty="0">
                <a:solidFill>
                  <a:schemeClr val="bg2"/>
                </a:solidFill>
              </a:rPr>
              <a:t>课程的学生平均成绩。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389C1A56-2729-5796-2DB5-A8E1497F4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956903"/>
            <a:ext cx="860425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</a:rPr>
              <a:t>、求各个课程号及相应的选课人数。</a:t>
            </a:r>
          </a:p>
        </p:txBody>
      </p:sp>
      <p:pic>
        <p:nvPicPr>
          <p:cNvPr id="18" name="图片 17" descr="文本&#10;&#10;中度可信度描述已自动生成">
            <a:extLst>
              <a:ext uri="{FF2B5EF4-FFF2-40B4-BE49-F238E27FC236}">
                <a16:creationId xmlns:a16="http://schemas.microsoft.com/office/drawing/2014/main" id="{731E7DFF-D956-BF59-8BA1-558B115F1E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976" y="5152885"/>
            <a:ext cx="2941881" cy="142449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F978ED6-7116-DB99-9CC3-605EDDA03DD6}"/>
              </a:ext>
            </a:extLst>
          </p:cNvPr>
          <p:cNvSpPr txBox="1"/>
          <p:nvPr/>
        </p:nvSpPr>
        <p:spPr>
          <a:xfrm>
            <a:off x="660323" y="5377318"/>
            <a:ext cx="4585446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CNO, COUNT(SNO) AS StudentsEnrolled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GROUP BY CNO;</a:t>
            </a:r>
          </a:p>
        </p:txBody>
      </p:sp>
    </p:spTree>
    <p:extLst>
      <p:ext uri="{BB962C8B-B14F-4D97-AF65-F5344CB8AC3E}">
        <p14:creationId xmlns:p14="http://schemas.microsoft.com/office/powerpoint/2010/main" val="326737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6" grpId="0"/>
      <p:bldP spid="3" grpId="0" animBg="1"/>
      <p:bldP spid="6" grpId="0"/>
      <p:bldP spid="8" grpId="0" animBg="1"/>
      <p:bldP spid="14" grpId="0" animBg="1"/>
      <p:bldP spid="15" grpId="0"/>
      <p:bldP spid="16" grpId="0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F1F8-3D30-13C0-19C4-5F5A41A8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430" name="Rectangle 6">
            <a:extLst>
              <a:ext uri="{FF2B5EF4-FFF2-40B4-BE49-F238E27FC236}">
                <a16:creationId xmlns:a16="http://schemas.microsoft.com/office/drawing/2014/main" id="{23238B2A-59E9-17AD-4A7F-95F5E1269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314325"/>
            <a:ext cx="83058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5</a:t>
            </a:r>
            <a:r>
              <a:rPr lang="zh-CN" altLang="en-US" sz="2400" b="1" dirty="0">
                <a:solidFill>
                  <a:schemeClr val="bg2"/>
                </a:solidFill>
              </a:rPr>
              <a:t>、求各个课程号及相应的课程成绩在</a:t>
            </a:r>
            <a:r>
              <a:rPr lang="en-US" altLang="zh-CN" sz="2400" b="1" dirty="0">
                <a:solidFill>
                  <a:schemeClr val="bg2"/>
                </a:solidFill>
              </a:rPr>
              <a:t>90</a:t>
            </a:r>
            <a:r>
              <a:rPr lang="zh-CN" altLang="en-US" sz="2400" b="1" dirty="0">
                <a:solidFill>
                  <a:schemeClr val="bg2"/>
                </a:solidFill>
              </a:rPr>
              <a:t>分以上的学生人数。</a:t>
            </a:r>
          </a:p>
        </p:txBody>
      </p:sp>
      <p:sp>
        <p:nvSpPr>
          <p:cNvPr id="999431" name="Rectangle 7">
            <a:extLst>
              <a:ext uri="{FF2B5EF4-FFF2-40B4-BE49-F238E27FC236}">
                <a16:creationId xmlns:a16="http://schemas.microsoft.com/office/drawing/2014/main" id="{F476A1FA-8FB6-5358-4A36-A3189D76D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311023"/>
            <a:ext cx="8675687" cy="3877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6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</a:t>
            </a:r>
            <a:r>
              <a:rPr lang="en-US" altLang="zh-CN" sz="2400" b="1" dirty="0">
                <a:solidFill>
                  <a:schemeClr val="bg2"/>
                </a:solidFill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</a:rPr>
              <a:t>门及以上课程的学生学号</a:t>
            </a:r>
            <a:endParaRPr lang="en-US" altLang="zh-CN" sz="2400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C2A371AB-38AF-FA91-E3B0-5F718CA92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099" y="4353625"/>
            <a:ext cx="8675687" cy="116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7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</a:t>
            </a:r>
            <a:r>
              <a:rPr lang="en-US" altLang="zh-CN" sz="2400" b="1" dirty="0">
                <a:solidFill>
                  <a:schemeClr val="bg2"/>
                </a:solidFill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</a:rPr>
              <a:t>门及以上课程的学生学号及选修门数，查询结果按门数降序排列，若门数相同，按学号升序排列</a:t>
            </a:r>
            <a:endParaRPr lang="en-US" altLang="zh-CN" sz="2400" dirty="0"/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7662B5-2EA1-CAB9-712A-69DDE005A2AE}"/>
              </a:ext>
            </a:extLst>
          </p:cNvPr>
          <p:cNvSpPr txBox="1"/>
          <p:nvPr/>
        </p:nvSpPr>
        <p:spPr>
          <a:xfrm>
            <a:off x="539552" y="869840"/>
            <a:ext cx="504056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CNO, COUNT(SNO) AS StudentsAbove90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WHERE GRADE &gt; 90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GROUP BY CNO;</a:t>
            </a:r>
          </a:p>
        </p:txBody>
      </p:sp>
      <p:pic>
        <p:nvPicPr>
          <p:cNvPr id="5" name="图片 4" descr="文本&#10;&#10;中度可信度描述已自动生成">
            <a:extLst>
              <a:ext uri="{FF2B5EF4-FFF2-40B4-BE49-F238E27FC236}">
                <a16:creationId xmlns:a16="http://schemas.microsoft.com/office/drawing/2014/main" id="{39F04CE1-AEDE-8910-5F63-80986EF42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8802" y="850418"/>
            <a:ext cx="3006098" cy="1219751"/>
          </a:xfrm>
          <a:prstGeom prst="rect">
            <a:avLst/>
          </a:prstGeom>
        </p:spPr>
      </p:pic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B63C65EC-40E1-4AA1-8EDB-DB57D0112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850" y="2650254"/>
            <a:ext cx="2574050" cy="150892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82CDB31-8C57-433F-156B-7406C8D7A91B}"/>
              </a:ext>
            </a:extLst>
          </p:cNvPr>
          <p:cNvSpPr txBox="1"/>
          <p:nvPr/>
        </p:nvSpPr>
        <p:spPr>
          <a:xfrm>
            <a:off x="539552" y="2833609"/>
            <a:ext cx="459217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SNO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GROUP BY SNO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HAVING COUNT(CNO) &gt;= 2;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942A14-E9DF-748A-54C1-573DEBBB217E}"/>
              </a:ext>
            </a:extLst>
          </p:cNvPr>
          <p:cNvSpPr txBox="1"/>
          <p:nvPr/>
        </p:nvSpPr>
        <p:spPr>
          <a:xfrm>
            <a:off x="539552" y="5066347"/>
            <a:ext cx="459217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SNO, COUNT(CNO) AS CourseCount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GROUP BY SNO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HAVING COUNT(CNO) &gt;= 2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ORDER BY CourseCount DESC, SNO ASC;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F56B0B8-3928-6650-E5B2-79F9185A2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449" y="5066347"/>
            <a:ext cx="3061451" cy="147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0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9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30" grpId="0"/>
      <p:bldP spid="999431" grpId="0"/>
      <p:bldP spid="11" grpId="0"/>
      <p:bldP spid="3" grpId="0" animBg="1"/>
      <p:bldP spid="12" grpId="0" animBg="1"/>
      <p:bldP spid="1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2428-AB64-D31E-5F4A-682B156B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432" name="Rectangle 8">
            <a:extLst>
              <a:ext uri="{FF2B5EF4-FFF2-40B4-BE49-F238E27FC236}">
                <a16:creationId xmlns:a16="http://schemas.microsoft.com/office/drawing/2014/main" id="{01C3181E-25FB-32C0-CF4E-6979BA7D7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" y="356868"/>
            <a:ext cx="8353425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8</a:t>
            </a:r>
            <a:r>
              <a:rPr lang="zh-CN" altLang="en-US" sz="2400" b="1" dirty="0">
                <a:solidFill>
                  <a:schemeClr val="bg2"/>
                </a:solidFill>
              </a:rPr>
              <a:t>、查询有</a:t>
            </a: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门以上课程在</a:t>
            </a:r>
            <a:r>
              <a:rPr lang="en-US" altLang="zh-CN" sz="2400" b="1" dirty="0">
                <a:solidFill>
                  <a:schemeClr val="bg2"/>
                </a:solidFill>
              </a:rPr>
              <a:t>60</a:t>
            </a:r>
            <a:r>
              <a:rPr lang="zh-CN" altLang="en-US" sz="2400" b="1" dirty="0">
                <a:solidFill>
                  <a:schemeClr val="bg2"/>
                </a:solidFill>
              </a:rPr>
              <a:t>分以上的学生的学号及</a:t>
            </a:r>
            <a:r>
              <a:rPr lang="en-US" altLang="zh-CN" sz="2400" b="1" dirty="0">
                <a:solidFill>
                  <a:schemeClr val="bg2"/>
                </a:solidFill>
              </a:rPr>
              <a:t>60</a:t>
            </a:r>
            <a:r>
              <a:rPr lang="zh-CN" altLang="en-US" sz="2400" b="1" dirty="0">
                <a:solidFill>
                  <a:schemeClr val="bg2"/>
                </a:solidFill>
              </a:rPr>
              <a:t>分以上的课程数。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657E19-70E2-47CD-CD95-E058D9CDC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" y="3038170"/>
            <a:ext cx="8353425" cy="38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9</a:t>
            </a:r>
            <a:r>
              <a:rPr lang="zh-CN" altLang="en-US" sz="2400" b="1" dirty="0">
                <a:solidFill>
                  <a:schemeClr val="bg2"/>
                </a:solidFill>
              </a:rPr>
              <a:t>、查询所有成绩在</a:t>
            </a:r>
            <a:r>
              <a:rPr lang="en-US" altLang="zh-CN" sz="2400" b="1" dirty="0">
                <a:solidFill>
                  <a:schemeClr val="bg2"/>
                </a:solidFill>
              </a:rPr>
              <a:t>80</a:t>
            </a:r>
            <a:r>
              <a:rPr lang="zh-CN" altLang="en-US" sz="2400" b="1" dirty="0">
                <a:solidFill>
                  <a:schemeClr val="bg2"/>
                </a:solidFill>
              </a:rPr>
              <a:t>分以上的学生学号。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AE1B835-2E67-0B38-78FF-DAC288987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14" y="4744959"/>
            <a:ext cx="8353425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10</a:t>
            </a:r>
            <a:r>
              <a:rPr lang="zh-CN" altLang="en-US" sz="2400" b="1" dirty="0">
                <a:solidFill>
                  <a:schemeClr val="bg2"/>
                </a:solidFill>
              </a:rPr>
              <a:t>、查询有成绩在</a:t>
            </a:r>
            <a:r>
              <a:rPr lang="en-US" altLang="zh-CN" sz="2400" b="1" dirty="0">
                <a:solidFill>
                  <a:schemeClr val="bg2"/>
                </a:solidFill>
              </a:rPr>
              <a:t>90</a:t>
            </a:r>
            <a:r>
              <a:rPr lang="zh-CN" altLang="en-US" sz="2400" b="1" dirty="0">
                <a:solidFill>
                  <a:schemeClr val="bg2"/>
                </a:solidFill>
              </a:rPr>
              <a:t>分以上的学生学号。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947B2D-EA92-2D13-0655-B4B072C6780C}"/>
              </a:ext>
            </a:extLst>
          </p:cNvPr>
          <p:cNvSpPr txBox="1"/>
          <p:nvPr/>
        </p:nvSpPr>
        <p:spPr>
          <a:xfrm>
            <a:off x="750876" y="1146018"/>
            <a:ext cx="4592170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SNO, COUNT(CNO) AS CoursesAbove</a:t>
            </a:r>
            <a:r>
              <a:rPr lang="en-US" altLang="zh-CN" dirty="0">
                <a:solidFill>
                  <a:schemeClr val="bg2"/>
                </a:solidFill>
              </a:rPr>
              <a:t>6</a:t>
            </a:r>
            <a:r>
              <a:rPr lang="zh-CN" altLang="en-US" dirty="0">
                <a:solidFill>
                  <a:schemeClr val="bg2"/>
                </a:solidFill>
              </a:rPr>
              <a:t>0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WHERE GRADE &gt; </a:t>
            </a:r>
            <a:r>
              <a:rPr lang="en-US" altLang="zh-CN" dirty="0">
                <a:solidFill>
                  <a:schemeClr val="bg2"/>
                </a:solidFill>
              </a:rPr>
              <a:t>6</a:t>
            </a:r>
            <a:r>
              <a:rPr lang="zh-CN" altLang="en-US" dirty="0">
                <a:solidFill>
                  <a:schemeClr val="bg2"/>
                </a:solidFill>
              </a:rPr>
              <a:t>0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GROUP BY SNO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HAVING COUNT(CNO) &gt; </a:t>
            </a:r>
            <a:r>
              <a:rPr lang="en-US" altLang="zh-CN" dirty="0">
                <a:solidFill>
                  <a:schemeClr val="bg2"/>
                </a:solidFill>
              </a:rPr>
              <a:t>1</a:t>
            </a:r>
            <a:r>
              <a:rPr lang="zh-CN" altLang="en-US" dirty="0">
                <a:solidFill>
                  <a:schemeClr val="bg2"/>
                </a:solidFill>
              </a:rPr>
              <a:t>;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71134F7A-B640-A1D2-241E-4F2357CD1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133887"/>
            <a:ext cx="3900055" cy="1729946"/>
          </a:xfrm>
          <a:prstGeom prst="rect">
            <a:avLst/>
          </a:prstGeom>
        </p:spPr>
      </p:pic>
      <p:pic>
        <p:nvPicPr>
          <p:cNvPr id="7" name="图片 6" descr="图片包含 图示&#10;&#10;描述已自动生成">
            <a:extLst>
              <a:ext uri="{FF2B5EF4-FFF2-40B4-BE49-F238E27FC236}">
                <a16:creationId xmlns:a16="http://schemas.microsoft.com/office/drawing/2014/main" id="{DA1DAE40-AE61-5B0A-7D69-3FB4D537C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137" y="3099126"/>
            <a:ext cx="1729934" cy="14755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636B326-E646-841C-1121-C0D7BC88F598}"/>
              </a:ext>
            </a:extLst>
          </p:cNvPr>
          <p:cNvSpPr txBox="1"/>
          <p:nvPr/>
        </p:nvSpPr>
        <p:spPr>
          <a:xfrm>
            <a:off x="750876" y="3606047"/>
            <a:ext cx="459217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DISTINCT SNO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WHERE GRADE &gt; 80;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7DF779B-634D-E357-CDA4-10B691F7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058" y="5095421"/>
            <a:ext cx="1835013" cy="117542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E4F1EBB-0B08-4DF4-0643-A577AD0796B4}"/>
              </a:ext>
            </a:extLst>
          </p:cNvPr>
          <p:cNvSpPr txBox="1"/>
          <p:nvPr/>
        </p:nvSpPr>
        <p:spPr>
          <a:xfrm>
            <a:off x="750876" y="5385990"/>
            <a:ext cx="459217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SELECT DISTINCT SNO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FROM SC</a:t>
            </a:r>
          </a:p>
          <a:p>
            <a:r>
              <a:rPr lang="zh-CN" altLang="en-US" dirty="0">
                <a:solidFill>
                  <a:schemeClr val="bg2"/>
                </a:solidFill>
              </a:rPr>
              <a:t>WHERE GRADE &gt; 90;</a:t>
            </a:r>
          </a:p>
        </p:txBody>
      </p:sp>
    </p:spTree>
    <p:extLst>
      <p:ext uri="{BB962C8B-B14F-4D97-AF65-F5344CB8AC3E}">
        <p14:creationId xmlns:p14="http://schemas.microsoft.com/office/powerpoint/2010/main" val="385920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9432" grpId="0"/>
      <p:bldP spid="9" grpId="0"/>
      <p:bldP spid="1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CFBCD0-3CE9-3C41-8E24-FA4877A0407F}"/>
              </a:ext>
            </a:extLst>
          </p:cNvPr>
          <p:cNvSpPr txBox="1"/>
          <p:nvPr/>
        </p:nvSpPr>
        <p:spPr>
          <a:xfrm>
            <a:off x="2863840" y="2420888"/>
            <a:ext cx="341632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solidFill>
                  <a:srgbClr val="0070C0"/>
                </a:solidFill>
              </a:rPr>
              <a:t>100</a:t>
            </a:r>
            <a:r>
              <a:rPr kumimoji="1" lang="zh-CN" altLang="en-US" sz="3600" dirty="0">
                <a:solidFill>
                  <a:srgbClr val="0070C0"/>
                </a:solidFill>
              </a:rPr>
              <a:t>道</a:t>
            </a:r>
            <a:r>
              <a:rPr kumimoji="1" lang="en-US" altLang="zh-CN" sz="3600" dirty="0">
                <a:solidFill>
                  <a:srgbClr val="0070C0"/>
                </a:solidFill>
              </a:rPr>
              <a:t>SQL</a:t>
            </a:r>
            <a:r>
              <a:rPr kumimoji="1" lang="zh-CN" altLang="en-US" sz="3600" dirty="0">
                <a:solidFill>
                  <a:srgbClr val="0070C0"/>
                </a:solidFill>
              </a:rPr>
              <a:t>面试题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高级查询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（</a:t>
            </a:r>
            <a:r>
              <a:rPr lang="en-US" altLang="zh-CN" sz="3600" dirty="0">
                <a:solidFill>
                  <a:srgbClr val="0070C0"/>
                </a:solidFill>
              </a:rPr>
              <a:t>39-63</a:t>
            </a:r>
            <a:r>
              <a:rPr lang="zh-CN" altLang="en-US" sz="3600" dirty="0">
                <a:solidFill>
                  <a:srgbClr val="0070C0"/>
                </a:solidFill>
              </a:rPr>
              <a:t>题）</a:t>
            </a:r>
            <a:endParaRPr kumimoji="1" lang="zh-CN" altLang="en-US" sz="3600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DD45D-439E-DC4A-93F7-3E7E4F67B71B}"/>
              </a:ext>
            </a:extLst>
          </p:cNvPr>
          <p:cNvSpPr txBox="1"/>
          <p:nvPr/>
        </p:nvSpPr>
        <p:spPr>
          <a:xfrm>
            <a:off x="832515" y="90872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3600" b="1" dirty="0">
                <a:solidFill>
                  <a:srgbClr val="002060"/>
                </a:solidFill>
              </a:rPr>
              <a:t>综合应用</a:t>
            </a:r>
          </a:p>
        </p:txBody>
      </p:sp>
    </p:spTree>
    <p:extLst>
      <p:ext uri="{BB962C8B-B14F-4D97-AF65-F5344CB8AC3E}">
        <p14:creationId xmlns:p14="http://schemas.microsoft.com/office/powerpoint/2010/main" val="172740777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主要内容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31988" y="1628775"/>
            <a:ext cx="5465762" cy="3470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4.1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概述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4.2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的数据定义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4.3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的数据查询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b="1" dirty="0">
                <a:solidFill>
                  <a:schemeClr val="bg1"/>
                </a:solidFill>
              </a:rPr>
              <a:t>4.4</a:t>
            </a:r>
            <a:r>
              <a:rPr lang="zh-CN" altLang="en-US" sz="2800" b="1" dirty="0">
                <a:solidFill>
                  <a:schemeClr val="bg1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r>
              <a:rPr lang="zh-CN" altLang="en-US" sz="2800" b="1" dirty="0">
                <a:solidFill>
                  <a:schemeClr val="bg1"/>
                </a:solidFill>
              </a:rPr>
              <a:t>的数据更新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4.5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 嵌入式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9628874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0" name="Rectangle 2"/>
          <p:cNvSpPr>
            <a:spLocks noChangeArrowheads="1"/>
          </p:cNvSpPr>
          <p:nvPr/>
        </p:nvSpPr>
        <p:spPr bwMode="auto">
          <a:xfrm>
            <a:off x="152400" y="-242888"/>
            <a:ext cx="8915400" cy="3203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          §4   SQL</a:t>
            </a:r>
            <a:r>
              <a:rPr lang="zh-CN" altLang="en-US" sz="32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的数据更新</a:t>
            </a:r>
            <a:r>
              <a:rPr lang="zh-CN" altLang="en-US" sz="3200" b="1" dirty="0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660033"/>
                </a:solidFill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en-US" altLang="zh-CN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800" b="1" dirty="0">
                <a:solidFill>
                  <a:srgbClr val="660033"/>
                </a:solidFill>
                <a:latin typeface="宋体" pitchFamily="2" charset="-122"/>
                <a:ea typeface="宋体" pitchFamily="2" charset="-122"/>
              </a:rPr>
              <a:t>的数据更新包括：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     数据插入、修改数据和数据删除等操作。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grpSp>
        <p:nvGrpSpPr>
          <p:cNvPr id="66563" name="Group 3"/>
          <p:cNvGrpSpPr>
            <a:grpSpLocks/>
          </p:cNvGrpSpPr>
          <p:nvPr/>
        </p:nvGrpSpPr>
        <p:grpSpPr bwMode="auto">
          <a:xfrm>
            <a:off x="34925" y="-26988"/>
            <a:ext cx="9144000" cy="1196976"/>
            <a:chOff x="0" y="288"/>
            <a:chExt cx="5760" cy="864"/>
          </a:xfrm>
        </p:grpSpPr>
        <p:sp>
          <p:nvSpPr>
            <p:cNvPr id="66565" name="Rectangle 4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6566" name="Rectangle 5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6567" name="Rectangle 6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6568" name="Rectangle 7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6569" name="Rectangle 8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66570" name="Rectangle 9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77898" name="Rectangle 10"/>
          <p:cNvSpPr>
            <a:spLocks noChangeArrowheads="1"/>
          </p:cNvSpPr>
          <p:nvPr/>
        </p:nvSpPr>
        <p:spPr bwMode="auto">
          <a:xfrm>
            <a:off x="468313" y="3429000"/>
            <a:ext cx="8928100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一、数据插入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</a:t>
            </a:r>
            <a:r>
              <a:rPr lang="en-US" altLang="zh-CN" sz="2800" b="1" dirty="0">
                <a:solidFill>
                  <a:srgbClr val="660033"/>
                </a:solidFill>
              </a:rPr>
              <a:t>1. </a:t>
            </a:r>
            <a:r>
              <a:rPr lang="zh-CN" altLang="en-US" sz="2800" b="1" dirty="0">
                <a:solidFill>
                  <a:srgbClr val="660033"/>
                </a:solidFill>
              </a:rPr>
              <a:t>插入单个元组：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        </a:t>
            </a:r>
            <a:r>
              <a:rPr lang="en-US" altLang="zh-CN" sz="2800" b="1" dirty="0">
                <a:solidFill>
                  <a:srgbClr val="000066"/>
                </a:solidFill>
              </a:rPr>
              <a:t>INSERT INTO</a:t>
            </a: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基本表名（列名表）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             </a:t>
            </a:r>
            <a:r>
              <a:rPr lang="en-US" altLang="zh-CN" sz="2800" b="1" dirty="0">
                <a:solidFill>
                  <a:srgbClr val="000066"/>
                </a:solidFill>
              </a:rPr>
              <a:t>VALUES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</a:rPr>
              <a:t>（元组值）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898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275373" y="1001736"/>
            <a:ext cx="5463108" cy="17004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INSERT INTO SC(SNO,CNO)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VALUES ( 'S4','C1');</a:t>
            </a:r>
          </a:p>
        </p:txBody>
      </p:sp>
      <p:sp>
        <p:nvSpPr>
          <p:cNvPr id="785411" name="Text Box 3"/>
          <p:cNvSpPr txBox="1">
            <a:spLocks noChangeArrowheads="1"/>
          </p:cNvSpPr>
          <p:nvPr/>
        </p:nvSpPr>
        <p:spPr bwMode="auto">
          <a:xfrm>
            <a:off x="306800" y="4349774"/>
            <a:ext cx="5463108" cy="13557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INSERT INTO SC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VALUES ( 'S2','C1', 90);</a:t>
            </a:r>
          </a:p>
        </p:txBody>
      </p:sp>
      <p:pic>
        <p:nvPicPr>
          <p:cNvPr id="3" name="图片 2" descr="一些文字和图案&#10;&#10;描述已自动生成">
            <a:extLst>
              <a:ext uri="{FF2B5EF4-FFF2-40B4-BE49-F238E27FC236}">
                <a16:creationId xmlns:a16="http://schemas.microsoft.com/office/drawing/2014/main" id="{A5AF35DE-A485-5D01-673B-B3D0026EA2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548680"/>
            <a:ext cx="2772244" cy="2759586"/>
          </a:xfrm>
          <a:prstGeom prst="rect">
            <a:avLst/>
          </a:prstGeom>
        </p:spPr>
      </p:pic>
      <p:pic>
        <p:nvPicPr>
          <p:cNvPr id="5" name="图片 4" descr="图片包含 文本&#10;&#10;描述已自动生成">
            <a:extLst>
              <a:ext uri="{FF2B5EF4-FFF2-40B4-BE49-F238E27FC236}">
                <a16:creationId xmlns:a16="http://schemas.microsoft.com/office/drawing/2014/main" id="{6FDB010E-EB95-F446-BA9A-A125FF41E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685" y="3702743"/>
            <a:ext cx="2779711" cy="277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 animBg="1"/>
      <p:bldP spid="78541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0" y="0"/>
            <a:ext cx="8915400" cy="1862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3200" b="1">
                <a:solidFill>
                  <a:srgbClr val="660033"/>
                </a:solidFill>
              </a:rPr>
              <a:t>   </a:t>
            </a:r>
            <a:r>
              <a:rPr lang="en-US" altLang="zh-CN" sz="2800" b="1">
                <a:solidFill>
                  <a:srgbClr val="660033"/>
                </a:solidFill>
              </a:rPr>
              <a:t>2. </a:t>
            </a:r>
            <a:r>
              <a:rPr lang="zh-CN" altLang="en-US" sz="2800" b="1">
                <a:solidFill>
                  <a:srgbClr val="660033"/>
                </a:solidFill>
              </a:rPr>
              <a:t>插入子查询的结果：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        </a:t>
            </a:r>
            <a:r>
              <a:rPr lang="en-US" altLang="zh-CN" sz="2800" b="1">
                <a:solidFill>
                  <a:srgbClr val="000066"/>
                </a:solidFill>
              </a:rPr>
              <a:t>INSERT  INTO</a:t>
            </a:r>
            <a:r>
              <a:rPr lang="en-US" altLang="zh-CN" sz="2800" b="1">
                <a:solidFill>
                  <a:schemeClr val="bg1"/>
                </a:solidFill>
              </a:rPr>
              <a:t>  </a:t>
            </a:r>
            <a:r>
              <a:rPr lang="zh-CN" altLang="en-US" sz="2800" b="1">
                <a:solidFill>
                  <a:schemeClr val="bg2"/>
                </a:solidFill>
              </a:rPr>
              <a:t>基本表名（列名表）</a:t>
            </a:r>
          </a:p>
          <a:p>
            <a:pPr algn="just"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             </a:t>
            </a:r>
            <a:r>
              <a:rPr lang="en-US" altLang="zh-CN" sz="2800" b="1">
                <a:solidFill>
                  <a:srgbClr val="000066"/>
                </a:solidFill>
              </a:rPr>
              <a:t>SELECT</a:t>
            </a:r>
            <a:r>
              <a:rPr lang="en-US" altLang="zh-CN" sz="2800" b="1">
                <a:solidFill>
                  <a:schemeClr val="bg2"/>
                </a:solidFill>
              </a:rPr>
              <a:t>  </a:t>
            </a:r>
            <a:r>
              <a:rPr lang="zh-CN" altLang="en-US" sz="2800" b="1">
                <a:solidFill>
                  <a:schemeClr val="bg2"/>
                </a:solidFill>
              </a:rPr>
              <a:t>查询语句；</a:t>
            </a:r>
            <a:endParaRPr lang="zh-CN" altLang="en-US" sz="32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83011" name="Rectangle 3"/>
          <p:cNvSpPr>
            <a:spLocks noChangeArrowheads="1"/>
          </p:cNvSpPr>
          <p:nvPr/>
        </p:nvSpPr>
        <p:spPr bwMode="auto">
          <a:xfrm>
            <a:off x="252066" y="1877349"/>
            <a:ext cx="5544616" cy="3785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CREATE TABLE S_AVG_GRADE 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(SNO CHAR(4),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AVGGRADE NUMERIC(7,2));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INSERT INTO S_AVG_GRADE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SELECT SNO,AVG(GRADE)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FROM SC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GROUP BY SNO;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C00F6D8A-7D89-B86D-1194-3DD8722AB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008" y="4437112"/>
            <a:ext cx="3528392" cy="2258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1" grpId="0" animBg="1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304800"/>
            <a:ext cx="8915400" cy="740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rgbClr val="000066"/>
                </a:solidFill>
              </a:rPr>
              <a:t> </a:t>
            </a:r>
            <a:r>
              <a:rPr lang="zh-CN" altLang="en-US" sz="3200" b="1">
                <a:solidFill>
                  <a:srgbClr val="000066"/>
                </a:solidFill>
              </a:rPr>
              <a:t>二、数据删除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chemeClr val="bg2"/>
                </a:solidFill>
              </a:rPr>
              <a:t> 删除关系中满足条件的元组语句的句法如下：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chemeClr val="bg2"/>
                </a:solidFill>
              </a:rPr>
              <a:t>    </a:t>
            </a:r>
            <a:r>
              <a:rPr lang="en-US" altLang="zh-CN" sz="3200" b="1">
                <a:solidFill>
                  <a:srgbClr val="660033"/>
                </a:solidFill>
              </a:rPr>
              <a:t>DELETE  FROM</a:t>
            </a:r>
            <a:r>
              <a:rPr lang="en-US" altLang="zh-CN" sz="3200" b="1">
                <a:solidFill>
                  <a:schemeClr val="bg2"/>
                </a:solidFill>
              </a:rPr>
              <a:t>  &lt;</a:t>
            </a:r>
            <a:r>
              <a:rPr lang="zh-CN" altLang="en-US" sz="3200" b="1">
                <a:solidFill>
                  <a:schemeClr val="bg2"/>
                </a:solidFill>
              </a:rPr>
              <a:t>表名</a:t>
            </a:r>
            <a:r>
              <a:rPr lang="en-US" altLang="zh-CN" sz="3200" b="1">
                <a:solidFill>
                  <a:schemeClr val="bg2"/>
                </a:solidFill>
              </a:rPr>
              <a:t>&gt;  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chemeClr val="bg2"/>
                </a:solidFill>
              </a:rPr>
              <a:t>   </a:t>
            </a:r>
            <a:r>
              <a:rPr lang="en-US" altLang="zh-CN" sz="3200" b="1">
                <a:solidFill>
                  <a:srgbClr val="660033"/>
                </a:solidFill>
              </a:rPr>
              <a:t> WHERE </a:t>
            </a:r>
            <a:r>
              <a:rPr lang="en-US" altLang="zh-CN" sz="3200" b="1">
                <a:solidFill>
                  <a:schemeClr val="bg2"/>
                </a:solidFill>
              </a:rPr>
              <a:t>  &lt;</a:t>
            </a:r>
            <a:r>
              <a:rPr lang="zh-CN" altLang="en-US" sz="3200" b="1">
                <a:solidFill>
                  <a:schemeClr val="bg2"/>
                </a:solidFill>
              </a:rPr>
              <a:t>条件表达式</a:t>
            </a:r>
            <a:r>
              <a:rPr lang="en-US" altLang="zh-CN" sz="3200" b="1">
                <a:solidFill>
                  <a:schemeClr val="bg2"/>
                </a:solidFill>
              </a:rPr>
              <a:t>&gt;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endParaRPr lang="en-US" altLang="zh-CN" sz="3200" b="1">
              <a:solidFill>
                <a:schemeClr val="bg2"/>
              </a:solidFill>
            </a:endParaRPr>
          </a:p>
          <a:p>
            <a:pPr algn="just">
              <a:spcBef>
                <a:spcPct val="50000"/>
              </a:spcBef>
            </a:pPr>
            <a:endParaRPr lang="en-US" altLang="zh-CN" sz="3200" b="1">
              <a:solidFill>
                <a:schemeClr val="bg2"/>
              </a:solidFill>
            </a:endParaRPr>
          </a:p>
          <a:p>
            <a:pPr algn="just">
              <a:spcBef>
                <a:spcPct val="50000"/>
              </a:spcBef>
            </a:pPr>
            <a:endParaRPr lang="en-US" altLang="zh-CN" sz="3200" b="1">
              <a:solidFill>
                <a:schemeClr val="bg2"/>
              </a:solidFill>
            </a:endParaRP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684213" y="6021388"/>
            <a:ext cx="23034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</a:rPr>
              <a:t>举例</a:t>
            </a:r>
            <a:r>
              <a:rPr lang="en-US" altLang="zh-CN" sz="2400" b="1">
                <a:solidFill>
                  <a:schemeClr val="bg2"/>
                </a:solidFill>
              </a:rPr>
              <a:t>: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404813"/>
            <a:ext cx="8893175" cy="935955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chemeClr val="bg2"/>
                </a:solidFill>
                <a:sym typeface="Symbol" pitchFamily="18" charset="2"/>
              </a:rPr>
              <a:t></a:t>
            </a:r>
            <a:r>
              <a:rPr lang="zh-CN" altLang="en-US" b="1" dirty="0">
                <a:solidFill>
                  <a:srgbClr val="000066"/>
                </a:solidFill>
              </a:rPr>
              <a:t>把课程名为”数据结构”的成绩从表</a:t>
            </a:r>
            <a:r>
              <a:rPr lang="en-US" altLang="zh-CN" b="1" dirty="0">
                <a:solidFill>
                  <a:srgbClr val="000066"/>
                </a:solidFill>
              </a:rPr>
              <a:t>SC</a:t>
            </a:r>
            <a:r>
              <a:rPr lang="zh-CN" altLang="en-US" b="1" dirty="0">
                <a:solidFill>
                  <a:srgbClr val="000066"/>
                </a:solidFill>
              </a:rPr>
              <a:t>中删除</a:t>
            </a:r>
            <a:r>
              <a:rPr lang="en-US" altLang="zh-CN" b="1" dirty="0">
                <a:solidFill>
                  <a:srgbClr val="000066"/>
                </a:solidFill>
              </a:rPr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7478F4-3AC8-E12B-182A-F32E3B05D080}"/>
              </a:ext>
            </a:extLst>
          </p:cNvPr>
          <p:cNvSpPr txBox="1"/>
          <p:nvPr/>
        </p:nvSpPr>
        <p:spPr>
          <a:xfrm>
            <a:off x="492298" y="1772815"/>
            <a:ext cx="5924790" cy="36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DELETE FROM SC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WHERE CNO IN (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    SELECT CNO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    FROM C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    WHERE CNAME = '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数据结构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');</a:t>
            </a:r>
          </a:p>
        </p:txBody>
      </p:sp>
      <p:pic>
        <p:nvPicPr>
          <p:cNvPr id="9" name="图片 8" descr="图片包含 图表&#10;&#10;描述已自动生成">
            <a:extLst>
              <a:ext uri="{FF2B5EF4-FFF2-40B4-BE49-F238E27FC236}">
                <a16:creationId xmlns:a16="http://schemas.microsoft.com/office/drawing/2014/main" id="{F6635184-17FF-E012-8589-2441ECD31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049" y="2987077"/>
            <a:ext cx="2235407" cy="2354312"/>
          </a:xfrm>
          <a:prstGeom prst="rect">
            <a:avLst/>
          </a:prstGeom>
        </p:spPr>
      </p:pic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17049293-E5A5-E051-4C97-955137C587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50"/>
          <a:stretch/>
        </p:blipFill>
        <p:spPr>
          <a:xfrm>
            <a:off x="5128890" y="1772815"/>
            <a:ext cx="3547566" cy="1181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549275"/>
            <a:ext cx="8915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rgbClr val="000066"/>
                </a:solidFill>
              </a:rPr>
              <a:t> </a:t>
            </a:r>
            <a:r>
              <a:rPr lang="zh-CN" altLang="en-US" sz="3200" b="1">
                <a:solidFill>
                  <a:srgbClr val="000066"/>
                </a:solidFill>
              </a:rPr>
              <a:t>三、数据修改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chemeClr val="bg2"/>
                </a:solidFill>
              </a:rPr>
              <a:t>    </a:t>
            </a:r>
            <a:r>
              <a:rPr lang="en-US" altLang="zh-CN" sz="3200" b="1">
                <a:solidFill>
                  <a:schemeClr val="bg2"/>
                </a:solidFill>
              </a:rPr>
              <a:t>UPDATE </a:t>
            </a:r>
            <a:r>
              <a:rPr lang="zh-CN" altLang="en-US" sz="3200" b="1">
                <a:solidFill>
                  <a:schemeClr val="bg2"/>
                </a:solidFill>
              </a:rPr>
              <a:t>基本表名 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chemeClr val="bg2"/>
                </a:solidFill>
              </a:rPr>
              <a:t>    </a:t>
            </a:r>
            <a:r>
              <a:rPr lang="en-US" altLang="zh-CN" sz="3200" b="1">
                <a:solidFill>
                  <a:schemeClr val="bg2"/>
                </a:solidFill>
              </a:rPr>
              <a:t>SET </a:t>
            </a:r>
            <a:r>
              <a:rPr lang="zh-CN" altLang="en-US" sz="3200" b="1">
                <a:solidFill>
                  <a:schemeClr val="bg2"/>
                </a:solidFill>
              </a:rPr>
              <a:t>列名</a:t>
            </a:r>
            <a:r>
              <a:rPr lang="en-US" altLang="zh-CN" sz="3200" b="1">
                <a:solidFill>
                  <a:schemeClr val="bg2"/>
                </a:solidFill>
              </a:rPr>
              <a:t>=</a:t>
            </a:r>
            <a:r>
              <a:rPr lang="zh-CN" altLang="en-US" sz="3200" b="1">
                <a:solidFill>
                  <a:schemeClr val="bg2"/>
                </a:solidFill>
              </a:rPr>
              <a:t>值表达式</a:t>
            </a:r>
            <a:r>
              <a:rPr lang="en-US" altLang="zh-CN" sz="3200" b="1">
                <a:solidFill>
                  <a:schemeClr val="bg2"/>
                </a:solidFill>
              </a:rPr>
              <a:t>[</a:t>
            </a:r>
            <a:r>
              <a:rPr lang="zh-CN" altLang="en-US" sz="3200" b="1">
                <a:solidFill>
                  <a:schemeClr val="bg2"/>
                </a:solidFill>
              </a:rPr>
              <a:t>，列名</a:t>
            </a:r>
            <a:r>
              <a:rPr lang="en-US" altLang="zh-CN" sz="3200" b="1">
                <a:solidFill>
                  <a:schemeClr val="bg2"/>
                </a:solidFill>
              </a:rPr>
              <a:t>=</a:t>
            </a:r>
            <a:r>
              <a:rPr lang="zh-CN" altLang="en-US" sz="3200" b="1">
                <a:solidFill>
                  <a:schemeClr val="bg2"/>
                </a:solidFill>
              </a:rPr>
              <a:t>值表达式</a:t>
            </a:r>
            <a:r>
              <a:rPr lang="en-US" altLang="zh-CN" sz="3200" b="1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en-US" altLang="zh-CN" sz="3200" b="1">
                <a:solidFill>
                  <a:schemeClr val="bg2"/>
                </a:solidFill>
              </a:rPr>
              <a:t>]</a:t>
            </a:r>
          </a:p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en-US" altLang="zh-CN" sz="3200" b="1">
                <a:solidFill>
                  <a:schemeClr val="bg2"/>
                </a:solidFill>
              </a:rPr>
              <a:t>    [WHERE </a:t>
            </a:r>
            <a:r>
              <a:rPr lang="zh-CN" altLang="en-US" sz="3200" b="1">
                <a:solidFill>
                  <a:schemeClr val="bg2"/>
                </a:solidFill>
              </a:rPr>
              <a:t>条件表达式</a:t>
            </a:r>
            <a:r>
              <a:rPr lang="en-US" altLang="zh-CN" sz="3200" b="1">
                <a:solidFill>
                  <a:schemeClr val="bg2"/>
                </a:solidFill>
              </a:rPr>
              <a:t>]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684213" y="6021388"/>
            <a:ext cx="23034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</a:rPr>
              <a:t>举例</a:t>
            </a:r>
            <a:r>
              <a:rPr lang="en-US" altLang="zh-CN" sz="2400" b="1">
                <a:solidFill>
                  <a:schemeClr val="bg2"/>
                </a:solidFill>
              </a:rPr>
              <a:t>: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260351"/>
            <a:ext cx="8893175" cy="1008410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sym typeface="Symbol" pitchFamily="18" charset="2"/>
              </a:rPr>
              <a:t></a:t>
            </a:r>
            <a:r>
              <a:rPr lang="zh-CN" altLang="en-US" b="1" dirty="0">
                <a:solidFill>
                  <a:srgbClr val="000066"/>
                </a:solidFill>
              </a:rPr>
              <a:t>把课程名为”高等数学”的成绩提高</a:t>
            </a:r>
            <a:r>
              <a:rPr lang="en-US" altLang="zh-CN" b="1" dirty="0">
                <a:solidFill>
                  <a:srgbClr val="000066"/>
                </a:solidFill>
              </a:rPr>
              <a:t>10%.</a:t>
            </a:r>
          </a:p>
          <a:p>
            <a:pPr algn="just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en-US" altLang="zh-CN" b="1" dirty="0">
              <a:solidFill>
                <a:schemeClr val="bg2"/>
              </a:solidFill>
              <a:latin typeface="宋体" charset="-122"/>
            </a:endParaRP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endParaRPr lang="en-US" altLang="zh-CN" b="1" dirty="0">
              <a:solidFill>
                <a:schemeClr val="bg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B7E83C-5333-9E35-9BC2-592C6CD662E7}"/>
              </a:ext>
            </a:extLst>
          </p:cNvPr>
          <p:cNvSpPr txBox="1"/>
          <p:nvPr/>
        </p:nvSpPr>
        <p:spPr>
          <a:xfrm>
            <a:off x="142875" y="1971869"/>
            <a:ext cx="6624736" cy="360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2"/>
            </a:solidFill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2"/>
                </a:solidFill>
                <a:latin typeface="宋体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UPDATE  SC 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  SET GRADE=1.1*GRADE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  WHERE CNO IN (SELECT CNO FROM C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                WHERE CNAME= '</a:t>
            </a:r>
            <a:r>
              <a:rPr lang="zh-CN" altLang="en-US" sz="2400" b="1" dirty="0">
                <a:solidFill>
                  <a:schemeClr val="bg2"/>
                </a:solidFill>
                <a:latin typeface="宋体" charset="-122"/>
              </a:rPr>
              <a:t>高等数学</a:t>
            </a:r>
            <a:r>
              <a:rPr lang="en-US" altLang="zh-CN" sz="2400" b="1" dirty="0">
                <a:solidFill>
                  <a:schemeClr val="bg2"/>
                </a:solidFill>
                <a:latin typeface="宋体" charset="-122"/>
              </a:rPr>
              <a:t>');</a:t>
            </a:r>
            <a:endParaRPr lang="en-US" altLang="zh-CN" sz="2000" b="1" dirty="0">
              <a:solidFill>
                <a:schemeClr val="bg2"/>
              </a:solidFill>
              <a:latin typeface="宋体" charset="-122"/>
            </a:endParaRP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5D813AB8-B700-C733-48F6-DA89BE35A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4728" y="1971870"/>
            <a:ext cx="4622800" cy="1231900"/>
          </a:xfrm>
          <a:prstGeom prst="rect">
            <a:avLst/>
          </a:prstGeom>
        </p:spPr>
      </p:pic>
      <p:pic>
        <p:nvPicPr>
          <p:cNvPr id="7" name="图片 6" descr="一些文字和图案&#10;&#10;描述已自动生成">
            <a:extLst>
              <a:ext uri="{FF2B5EF4-FFF2-40B4-BE49-F238E27FC236}">
                <a16:creationId xmlns:a16="http://schemas.microsoft.com/office/drawing/2014/main" id="{929E266D-7EBC-CF38-9F79-497BF1033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120" y="3203770"/>
            <a:ext cx="2240408" cy="23680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2875" y="260351"/>
            <a:ext cx="8893175" cy="1224434"/>
          </a:xfrm>
        </p:spPr>
        <p:txBody>
          <a:bodyPr/>
          <a:lstStyle/>
          <a:p>
            <a:pPr algn="just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sym typeface="Symbol" pitchFamily="18" charset="2"/>
              </a:rPr>
              <a:t></a:t>
            </a:r>
            <a:r>
              <a:rPr lang="zh-CN" altLang="en-US" b="1" dirty="0">
                <a:solidFill>
                  <a:srgbClr val="000066"/>
                </a:solidFill>
              </a:rPr>
              <a:t>把课程名为”计算机原理”的老师改为王波。</a:t>
            </a:r>
          </a:p>
        </p:txBody>
      </p:sp>
      <p:pic>
        <p:nvPicPr>
          <p:cNvPr id="3" name="图片 2" descr="电脑屏幕的照片上有文字&#10;&#10;中度可信度描述已自动生成">
            <a:extLst>
              <a:ext uri="{FF2B5EF4-FFF2-40B4-BE49-F238E27FC236}">
                <a16:creationId xmlns:a16="http://schemas.microsoft.com/office/drawing/2014/main" id="{8AF20A1E-7E64-0D14-5EA4-BDA492E79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00" y="3921679"/>
            <a:ext cx="4152367" cy="267597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018F1C7-8D77-709D-EDB4-A4BE9BE58300}"/>
              </a:ext>
            </a:extLst>
          </p:cNvPr>
          <p:cNvSpPr txBox="1"/>
          <p:nvPr/>
        </p:nvSpPr>
        <p:spPr>
          <a:xfrm>
            <a:off x="1553687" y="1295269"/>
            <a:ext cx="5748592" cy="25228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 eaLnBrk="1" hangingPunct="1">
              <a:lnSpc>
                <a:spcPct val="2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宋体" charset="-122"/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UPDATE  C 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  SET TNAME= '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王波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'</a:t>
            </a:r>
          </a:p>
          <a:p>
            <a:pPr eaLnBrk="1" hangingPunct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  WHERE CNAME= '</a:t>
            </a:r>
            <a:r>
              <a:rPr lang="zh-CN" altLang="en-US" sz="2800" b="1" dirty="0">
                <a:solidFill>
                  <a:schemeClr val="bg2"/>
                </a:solidFill>
                <a:latin typeface="宋体" charset="-122"/>
              </a:rPr>
              <a:t>计算机原理</a:t>
            </a:r>
            <a:r>
              <a:rPr lang="en-US" altLang="zh-CN" sz="2800" b="1" dirty="0">
                <a:solidFill>
                  <a:schemeClr val="bg2"/>
                </a:solidFill>
                <a:latin typeface="宋体" charset="-122"/>
              </a:rPr>
              <a:t>';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ChangeArrowheads="1"/>
          </p:cNvSpPr>
          <p:nvPr/>
        </p:nvSpPr>
        <p:spPr bwMode="auto">
          <a:xfrm>
            <a:off x="0" y="0"/>
            <a:ext cx="9144000" cy="88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20000"/>
              </a:lnSpc>
              <a:tabLst>
                <a:tab pos="5867400" algn="l"/>
              </a:tabLst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综合例题</a:t>
            </a:r>
            <a:endParaRPr lang="zh-CN" altLang="en-US" sz="2800" dirty="0">
              <a:solidFill>
                <a:schemeClr val="bg2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34925" y="-26988"/>
            <a:ext cx="9144000" cy="1196976"/>
            <a:chOff x="0" y="288"/>
            <a:chExt cx="5760" cy="864"/>
          </a:xfrm>
        </p:grpSpPr>
        <p:sp>
          <p:nvSpPr>
            <p:cNvPr id="74757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58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59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0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1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2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934845" y="923737"/>
            <a:ext cx="5274310" cy="369506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64250" y="4653136"/>
            <a:ext cx="8012205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查询</a:t>
            </a:r>
            <a:r>
              <a:rPr lang="en-US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2022</a:t>
            </a: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年用车超过</a:t>
            </a:r>
            <a:r>
              <a:rPr lang="en-US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次的部门号，部门名，用车次数，按用车次数降序，次数相同按部门名称升序排列。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查询订过所有车辆的部门号，部门名。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</a:pP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部门</a:t>
            </a:r>
            <a:r>
              <a:rPr lang="en-US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B01</a:t>
            </a: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订了</a:t>
            </a:r>
            <a:r>
              <a:rPr lang="en-US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2026</a:t>
            </a: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05</a:t>
            </a: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月</a:t>
            </a:r>
            <a:r>
              <a:rPr lang="en-US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01</a:t>
            </a:r>
            <a:r>
              <a:rPr lang="zh-CN" altLang="zh-CN" kern="1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日去迪士尼乐园的车，由于人员增加，现要将车辆改为车队座位数最多的车（假设所有车座位数都不同）。</a:t>
            </a:r>
            <a:endParaRPr lang="zh-CN" altLang="zh-CN" sz="1800" kern="100" dirty="0">
              <a:solidFill>
                <a:schemeClr val="bg2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93788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34925" y="-26988"/>
            <a:ext cx="9144000" cy="1196976"/>
            <a:chOff x="0" y="288"/>
            <a:chExt cx="5760" cy="864"/>
          </a:xfrm>
        </p:grpSpPr>
        <p:sp>
          <p:nvSpPr>
            <p:cNvPr id="74757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58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59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0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1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2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539552" y="4941168"/>
            <a:ext cx="801220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zh-CN" dirty="0">
                <a:solidFill>
                  <a:schemeClr val="bg2"/>
                </a:solidFill>
              </a:rPr>
              <a:t>查询</a:t>
            </a:r>
            <a:r>
              <a:rPr lang="en-US" altLang="zh-CN" dirty="0">
                <a:solidFill>
                  <a:schemeClr val="bg2"/>
                </a:solidFill>
              </a:rPr>
              <a:t>2020</a:t>
            </a:r>
            <a:r>
              <a:rPr lang="zh-CN" altLang="zh-CN" dirty="0">
                <a:solidFill>
                  <a:schemeClr val="bg2"/>
                </a:solidFill>
              </a:rPr>
              <a:t>年以来贺岁片的票房记录，显示影片编号，上映时间，导演和总票房，按上映年份由近到远排序。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zh-CN" dirty="0">
                <a:solidFill>
                  <a:schemeClr val="bg2"/>
                </a:solidFill>
              </a:rPr>
              <a:t>查询放映过所有贺岁片的影院名。</a:t>
            </a:r>
          </a:p>
          <a:p>
            <a:pPr lvl="0"/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zh-CN" dirty="0">
                <a:solidFill>
                  <a:schemeClr val="bg2"/>
                </a:solidFill>
              </a:rPr>
              <a:t>因“流浪地球</a:t>
            </a:r>
            <a:r>
              <a:rPr lang="en-US" altLang="zh-CN" dirty="0">
                <a:solidFill>
                  <a:schemeClr val="bg2"/>
                </a:solidFill>
              </a:rPr>
              <a:t>2</a:t>
            </a:r>
            <a:r>
              <a:rPr lang="zh-CN" altLang="zh-CN" dirty="0">
                <a:solidFill>
                  <a:schemeClr val="bg2"/>
                </a:solidFill>
              </a:rPr>
              <a:t>”在春节期间火爆，将</a:t>
            </a:r>
            <a:r>
              <a:rPr lang="en-US" altLang="zh-CN" dirty="0">
                <a:solidFill>
                  <a:schemeClr val="bg2"/>
                </a:solidFill>
              </a:rPr>
              <a:t>2023</a:t>
            </a:r>
            <a:r>
              <a:rPr lang="zh-CN" altLang="zh-CN" dirty="0">
                <a:solidFill>
                  <a:schemeClr val="bg2"/>
                </a:solidFill>
              </a:rPr>
              <a:t>年春节假期（大年初一到初六，大年初一是</a:t>
            </a:r>
            <a:r>
              <a:rPr lang="en-US" altLang="zh-CN" dirty="0">
                <a:solidFill>
                  <a:schemeClr val="bg2"/>
                </a:solidFill>
              </a:rPr>
              <a:t>1.22</a:t>
            </a:r>
            <a:r>
              <a:rPr lang="zh-CN" altLang="zh-CN" dirty="0">
                <a:solidFill>
                  <a:schemeClr val="bg2"/>
                </a:solidFill>
              </a:rPr>
              <a:t>）在上海的影院的票房按每场都满座填入。（即每场都按电影院座位数满场）</a:t>
            </a:r>
          </a:p>
        </p:txBody>
      </p:sp>
      <p:sp>
        <p:nvSpPr>
          <p:cNvPr id="3" name="矩形 2"/>
          <p:cNvSpPr/>
          <p:nvPr/>
        </p:nvSpPr>
        <p:spPr>
          <a:xfrm>
            <a:off x="477838" y="1214017"/>
            <a:ext cx="8558658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zh-CN" altLang="zh-CN" kern="1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今年春节档贺岁片火爆，现有用于电影票房统计的数据库。数据库中关系模式如下：</a:t>
            </a:r>
            <a:endParaRPr lang="en-US" altLang="zh-CN" kern="100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dirty="0">
                <a:solidFill>
                  <a:schemeClr val="bg2"/>
                </a:solidFill>
              </a:rPr>
              <a:t>说明</a:t>
            </a:r>
            <a:r>
              <a:rPr lang="zh-CN" altLang="en-US" dirty="0">
                <a:solidFill>
                  <a:schemeClr val="bg2"/>
                </a:solidFill>
              </a:rPr>
              <a:t>：</a:t>
            </a:r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zh-CN" dirty="0">
                <a:solidFill>
                  <a:schemeClr val="bg2"/>
                </a:solidFill>
              </a:rPr>
              <a:t>表</a:t>
            </a:r>
            <a:r>
              <a:rPr lang="en-US" altLang="zh-CN" dirty="0">
                <a:solidFill>
                  <a:schemeClr val="bg2"/>
                </a:solidFill>
              </a:rPr>
              <a:t>F</a:t>
            </a:r>
            <a:r>
              <a:rPr lang="zh-CN" altLang="zh-CN" dirty="0">
                <a:solidFill>
                  <a:schemeClr val="bg2"/>
                </a:solidFill>
              </a:rPr>
              <a:t>中</a:t>
            </a:r>
            <a:r>
              <a:rPr lang="en-US" altLang="zh-CN" dirty="0" err="1">
                <a:solidFill>
                  <a:schemeClr val="bg2"/>
                </a:solidFill>
              </a:rPr>
              <a:t>releasetime</a:t>
            </a:r>
            <a:r>
              <a:rPr lang="zh-CN" altLang="zh-CN" dirty="0">
                <a:solidFill>
                  <a:schemeClr val="bg2"/>
                </a:solidFill>
              </a:rPr>
              <a:t>是指电影上映年份。</a:t>
            </a:r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zh-CN" dirty="0">
                <a:solidFill>
                  <a:schemeClr val="bg2"/>
                </a:solidFill>
              </a:rPr>
              <a:t>表</a:t>
            </a:r>
            <a:r>
              <a:rPr lang="en-US" altLang="zh-CN" dirty="0">
                <a:solidFill>
                  <a:schemeClr val="bg2"/>
                </a:solidFill>
              </a:rPr>
              <a:t>S</a:t>
            </a:r>
            <a:r>
              <a:rPr lang="zh-CN" altLang="zh-CN" dirty="0">
                <a:solidFill>
                  <a:schemeClr val="bg2"/>
                </a:solidFill>
              </a:rPr>
              <a:t>中</a:t>
            </a:r>
            <a:r>
              <a:rPr lang="en-US" altLang="zh-CN" dirty="0" err="1">
                <a:solidFill>
                  <a:schemeClr val="bg2"/>
                </a:solidFill>
              </a:rPr>
              <a:t>sdate</a:t>
            </a:r>
            <a:r>
              <a:rPr lang="zh-CN" altLang="zh-CN" dirty="0">
                <a:solidFill>
                  <a:schemeClr val="bg2"/>
                </a:solidFill>
              </a:rPr>
              <a:t>是上映的具体日期。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endParaRPr lang="zh-CN" altLang="zh-CN" sz="1400" kern="100" dirty="0">
              <a:solidFill>
                <a:schemeClr val="bg2"/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2"/>
          <a:stretch>
            <a:fillRect/>
          </a:stretch>
        </p:blipFill>
        <p:spPr>
          <a:xfrm>
            <a:off x="611560" y="1835087"/>
            <a:ext cx="6768752" cy="1377889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611560" y="3194458"/>
            <a:ext cx="6768752" cy="1447365"/>
          </a:xfrm>
          <a:prstGeom prst="rect">
            <a:avLst/>
          </a:prstGeom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E9E011A2-5886-6349-B464-D85F196C3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8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20000"/>
              </a:lnSpc>
              <a:tabLst>
                <a:tab pos="5867400" algn="l"/>
              </a:tabLst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综合例题</a:t>
            </a:r>
            <a:endParaRPr lang="zh-CN" altLang="en-US" sz="2800" dirty="0">
              <a:solidFill>
                <a:schemeClr val="bg2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87468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ChangeArrowheads="1"/>
          </p:cNvSpPr>
          <p:nvPr/>
        </p:nvSpPr>
        <p:spPr bwMode="auto">
          <a:xfrm>
            <a:off x="0" y="0"/>
            <a:ext cx="914400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20000"/>
              </a:lnSpc>
              <a:tabLst>
                <a:tab pos="5867400" algn="l"/>
              </a:tabLst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 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     §5  </a:t>
            </a: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ea typeface="宋体" pitchFamily="2" charset="-122"/>
              </a:rPr>
              <a:t>视图操作</a:t>
            </a:r>
          </a:p>
          <a:p>
            <a:pPr algn="just">
              <a:lnSpc>
                <a:spcPct val="220000"/>
              </a:lnSpc>
              <a:tabLst>
                <a:tab pos="5867400" algn="l"/>
              </a:tabLst>
              <a:defRPr/>
            </a:pPr>
            <a:r>
              <a:rPr lang="zh-CN" altLang="en-US" sz="2800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在</a:t>
            </a:r>
            <a:r>
              <a:rPr lang="en-US" altLang="zh-CN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中，外模式一级数据结构的基本单位是视图（</a:t>
            </a:r>
            <a:r>
              <a:rPr lang="en-US" altLang="zh-CN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View</a:t>
            </a:r>
            <a:r>
              <a:rPr lang="zh-CN" altLang="en-US" sz="24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）。   </a:t>
            </a:r>
          </a:p>
          <a:p>
            <a:pPr algn="just">
              <a:lnSpc>
                <a:spcPct val="220000"/>
              </a:lnSpc>
              <a:tabLst>
                <a:tab pos="5867400" algn="l"/>
              </a:tabLst>
              <a:defRPr/>
            </a:pPr>
            <a:r>
              <a:rPr lang="zh-CN" altLang="en-US" sz="2800" b="1" dirty="0">
                <a:solidFill>
                  <a:schemeClr val="bg2"/>
                </a:solidFill>
                <a:latin typeface="宋体" pitchFamily="2" charset="-122"/>
                <a:ea typeface="宋体" pitchFamily="2" charset="-122"/>
              </a:rPr>
              <a:t> 视图是从若干基本表和（或）其他视图构造出来的表。</a:t>
            </a:r>
            <a:endParaRPr lang="zh-CN" altLang="en-US" sz="2800" dirty="0">
              <a:solidFill>
                <a:schemeClr val="bg2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87107" name="Rectangle 3"/>
          <p:cNvSpPr>
            <a:spLocks noChangeArrowheads="1"/>
          </p:cNvSpPr>
          <p:nvPr/>
        </p:nvSpPr>
        <p:spPr bwMode="auto">
          <a:xfrm>
            <a:off x="304800" y="3276600"/>
            <a:ext cx="883920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20000"/>
              </a:lnSpc>
            </a:pPr>
            <a:r>
              <a:rPr lang="zh-CN" altLang="en-US" sz="2800" b="1">
                <a:solidFill>
                  <a:srgbClr val="660033"/>
                </a:solidFill>
              </a:rPr>
              <a:t>在创建一个视图时，系统把视图的定义存放在数据字典中，而不存储视图对应的数据，在用户使用视图时才去求对应的数据。</a:t>
            </a:r>
            <a:r>
              <a:rPr lang="zh-CN" altLang="en-US" sz="2800" b="1">
                <a:solidFill>
                  <a:schemeClr val="bg2"/>
                </a:solidFill>
              </a:rPr>
              <a:t>     </a:t>
            </a:r>
            <a:r>
              <a:rPr lang="zh-CN" altLang="en-US" sz="2800" b="1">
                <a:solidFill>
                  <a:schemeClr val="bg1"/>
                </a:solidFill>
              </a:rPr>
              <a:t>视图被称为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</a:rPr>
              <a:t>“</a:t>
            </a:r>
            <a:r>
              <a:rPr lang="zh-CN" altLang="en-US" sz="2800" b="1">
                <a:solidFill>
                  <a:schemeClr val="bg1"/>
                </a:solidFill>
              </a:rPr>
              <a:t>虚表</a:t>
            </a:r>
            <a:r>
              <a:rPr lang="zh-CN" altLang="en-US" sz="2800" b="1">
                <a:solidFill>
                  <a:schemeClr val="bg1"/>
                </a:solidFill>
                <a:latin typeface="Times New Roman" pitchFamily="18" charset="0"/>
              </a:rPr>
              <a:t>”</a:t>
            </a:r>
            <a:r>
              <a:rPr lang="zh-CN" altLang="en-US" sz="2800" b="1">
                <a:solidFill>
                  <a:schemeClr val="bg1"/>
                </a:solidFill>
              </a:rPr>
              <a:t>。</a:t>
            </a:r>
          </a:p>
        </p:txBody>
      </p:sp>
      <p:grpSp>
        <p:nvGrpSpPr>
          <p:cNvPr id="74756" name="Group 4"/>
          <p:cNvGrpSpPr>
            <a:grpSpLocks/>
          </p:cNvGrpSpPr>
          <p:nvPr/>
        </p:nvGrpSpPr>
        <p:grpSpPr bwMode="auto">
          <a:xfrm>
            <a:off x="34925" y="-26988"/>
            <a:ext cx="9144000" cy="1196976"/>
            <a:chOff x="0" y="288"/>
            <a:chExt cx="5760" cy="864"/>
          </a:xfrm>
        </p:grpSpPr>
        <p:sp>
          <p:nvSpPr>
            <p:cNvPr id="74757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58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59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0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1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74762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E396B10D-1707-4948-A354-B4201B1BAB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" t="20973" r="54062" b="13716"/>
          <a:stretch/>
        </p:blipFill>
        <p:spPr>
          <a:xfrm>
            <a:off x="116319" y="1257771"/>
            <a:ext cx="577970" cy="5504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107" grpId="0" autoUpdateAnimBg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762000"/>
            <a:ext cx="9144000" cy="539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381000" algn="just">
              <a:lnSpc>
                <a:spcPct val="180000"/>
              </a:lnSpc>
              <a:spcBef>
                <a:spcPct val="50000"/>
              </a:spcBef>
            </a:pPr>
            <a:r>
              <a:rPr lang="zh-CN" altLang="en-US" sz="4000" b="1">
                <a:solidFill>
                  <a:srgbClr val="000066"/>
                </a:solidFill>
              </a:rPr>
              <a:t>一、</a:t>
            </a:r>
            <a:r>
              <a:rPr lang="zh-CN" altLang="en-US" sz="4000" b="1">
                <a:solidFill>
                  <a:srgbClr val="000066"/>
                </a:solidFill>
                <a:latin typeface="Times New Roman" pitchFamily="18" charset="0"/>
                <a:cs typeface="Times New Roman" pitchFamily="18" charset="0"/>
              </a:rPr>
              <a:t>   </a:t>
            </a:r>
            <a:r>
              <a:rPr lang="zh-CN" altLang="en-US" sz="4000" b="1">
                <a:solidFill>
                  <a:srgbClr val="000066"/>
                </a:solidFill>
              </a:rPr>
              <a:t>视图的创建</a:t>
            </a:r>
            <a:r>
              <a:rPr lang="zh-CN" altLang="en-US" sz="4000" b="1">
                <a:solidFill>
                  <a:srgbClr val="000066"/>
                </a:solidFill>
                <a:latin typeface="Times New Roman" pitchFamily="18" charset="0"/>
              </a:rPr>
              <a:t> </a:t>
            </a:r>
            <a:endParaRPr lang="zh-CN" altLang="en-US" sz="4000" b="1">
              <a:solidFill>
                <a:srgbClr val="000066"/>
              </a:solidFill>
            </a:endParaRPr>
          </a:p>
          <a:p>
            <a:pPr marL="190500" indent="381000" algn="just">
              <a:lnSpc>
                <a:spcPct val="180000"/>
              </a:lnSpc>
              <a:spcBef>
                <a:spcPct val="50000"/>
              </a:spcBef>
            </a:pPr>
            <a:r>
              <a:rPr lang="en-US" altLang="zh-CN" sz="4000" b="1">
                <a:solidFill>
                  <a:srgbClr val="660033"/>
                </a:solidFill>
              </a:rPr>
              <a:t>CREATE  VIEW</a:t>
            </a:r>
            <a:r>
              <a:rPr lang="en-US" altLang="zh-CN" sz="4000" b="1">
                <a:solidFill>
                  <a:schemeClr val="bg2"/>
                </a:solidFill>
              </a:rPr>
              <a:t>  &lt;</a:t>
            </a:r>
            <a:r>
              <a:rPr lang="zh-CN" altLang="en-US" sz="4000" b="1">
                <a:solidFill>
                  <a:schemeClr val="bg2"/>
                </a:solidFill>
              </a:rPr>
              <a:t>视图名</a:t>
            </a:r>
            <a:r>
              <a:rPr lang="en-US" altLang="zh-CN" sz="4000" b="1">
                <a:solidFill>
                  <a:schemeClr val="bg2"/>
                </a:solidFill>
              </a:rPr>
              <a:t>&gt;</a:t>
            </a:r>
            <a:r>
              <a:rPr lang="zh-CN" altLang="en-US" sz="4000" b="1">
                <a:solidFill>
                  <a:schemeClr val="bg2"/>
                </a:solidFill>
              </a:rPr>
              <a:t>（列名表）</a:t>
            </a:r>
          </a:p>
          <a:p>
            <a:pPr marL="190500" indent="381000" algn="just">
              <a:lnSpc>
                <a:spcPct val="180000"/>
              </a:lnSpc>
              <a:spcBef>
                <a:spcPct val="50000"/>
              </a:spcBef>
            </a:pPr>
            <a:r>
              <a:rPr lang="zh-CN" altLang="en-US" sz="4000" b="1">
                <a:solidFill>
                  <a:srgbClr val="660033"/>
                </a:solidFill>
              </a:rPr>
              <a:t>       </a:t>
            </a:r>
            <a:r>
              <a:rPr lang="en-US" altLang="zh-CN" sz="4000" b="1">
                <a:solidFill>
                  <a:srgbClr val="660033"/>
                </a:solidFill>
              </a:rPr>
              <a:t>AS</a:t>
            </a:r>
            <a:r>
              <a:rPr lang="en-US" altLang="zh-CN" sz="4000" b="1">
                <a:solidFill>
                  <a:schemeClr val="bg2"/>
                </a:solidFill>
              </a:rPr>
              <a:t>  &lt;SELECT  </a:t>
            </a:r>
            <a:r>
              <a:rPr lang="zh-CN" altLang="en-US" sz="4000" b="1">
                <a:solidFill>
                  <a:schemeClr val="bg2"/>
                </a:solidFill>
              </a:rPr>
              <a:t>查询语句</a:t>
            </a:r>
            <a:r>
              <a:rPr lang="en-US" altLang="zh-CN" sz="4000" b="1">
                <a:solidFill>
                  <a:schemeClr val="bg2"/>
                </a:solidFill>
              </a:rPr>
              <a:t>&gt;</a:t>
            </a:r>
          </a:p>
          <a:p>
            <a:pPr marL="190500" indent="381000" algn="just">
              <a:lnSpc>
                <a:spcPct val="180000"/>
              </a:lnSpc>
              <a:spcBef>
                <a:spcPct val="50000"/>
              </a:spcBef>
            </a:pPr>
            <a:endParaRPr lang="en-US" altLang="zh-CN" sz="4000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476672"/>
            <a:ext cx="9144000" cy="161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例：在教学数据库中基本表</a:t>
            </a:r>
            <a:r>
              <a:rPr lang="en-US" altLang="zh-CN" sz="2400" b="1" dirty="0">
                <a:solidFill>
                  <a:schemeClr val="bg2"/>
                </a:solidFill>
              </a:rPr>
              <a:t>SC</a:t>
            </a:r>
            <a:r>
              <a:rPr lang="zh-CN" altLang="en-US" sz="2400" b="1" dirty="0">
                <a:solidFill>
                  <a:schemeClr val="bg2"/>
                </a:solidFill>
              </a:rPr>
              <a:t>上，建立一个学生学习情况</a:t>
            </a:r>
            <a:r>
              <a:rPr lang="zh-CN" altLang="en-US" sz="2400" b="1" dirty="0">
                <a:solidFill>
                  <a:schemeClr val="bg2"/>
                </a:solidFill>
                <a:hlinkClick r:id="rId2" action="ppaction://hlinksldjump"/>
              </a:rPr>
              <a:t>视图</a:t>
            </a:r>
            <a:r>
              <a:rPr lang="zh-CN" altLang="en-US" sz="2400" b="1" dirty="0">
                <a:solidFill>
                  <a:schemeClr val="bg2"/>
                </a:solidFill>
              </a:rPr>
              <a:t>：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</a:t>
            </a:r>
            <a:endParaRPr lang="en-US" altLang="zh-CN" sz="3200" b="1" dirty="0">
              <a:solidFill>
                <a:schemeClr val="bg2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341A6F-E4C5-9137-CE8C-A592B64D6BD1}"/>
              </a:ext>
            </a:extLst>
          </p:cNvPr>
          <p:cNvSpPr txBox="1"/>
          <p:nvPr/>
        </p:nvSpPr>
        <p:spPr>
          <a:xfrm>
            <a:off x="1410680" y="1124744"/>
            <a:ext cx="6322640" cy="26747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CREATE VIEW S_GRADE(SNO,C_NUM,AVG_GRADE)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	AS (SELECT SNO,COUNT(CNO),AVG(GRADE)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	    FROM SC</a:t>
            </a:r>
          </a:p>
          <a:p>
            <a:pPr algn="just">
              <a:lnSpc>
                <a:spcPct val="18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	    GROUP BY SNO);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8966C603-61B8-E49D-2D18-DAED4F2D9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6060" y="4005064"/>
            <a:ext cx="3491880" cy="26702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558800"/>
            <a:ext cx="9144000" cy="568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304800" algn="just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rgbClr val="000066"/>
                </a:solidFill>
              </a:rPr>
              <a:t>二、 视图的撤消</a:t>
            </a:r>
          </a:p>
          <a:p>
            <a:pPr indent="304800"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 </a:t>
            </a:r>
            <a:endParaRPr lang="zh-CN" altLang="en-US" sz="2800" b="1" dirty="0">
              <a:solidFill>
                <a:schemeClr val="bg2"/>
              </a:solidFill>
            </a:endParaRPr>
          </a:p>
          <a:p>
            <a:pPr indent="304800"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      </a:t>
            </a:r>
            <a:r>
              <a:rPr lang="en-US" altLang="zh-CN" sz="3200" b="1" dirty="0">
                <a:solidFill>
                  <a:schemeClr val="bg2"/>
                </a:solidFill>
              </a:rPr>
              <a:t>DROP  VIEW  </a:t>
            </a:r>
            <a:r>
              <a:rPr lang="zh-CN" altLang="en-US" sz="3200" b="1" dirty="0">
                <a:solidFill>
                  <a:schemeClr val="bg2"/>
                </a:solidFill>
              </a:rPr>
              <a:t>视图名</a:t>
            </a:r>
          </a:p>
          <a:p>
            <a:pPr indent="304800" algn="just" eaLnBrk="0" hangingPunct="0">
              <a:lnSpc>
                <a:spcPct val="180000"/>
              </a:lnSpc>
              <a:tabLst>
                <a:tab pos="5067300" algn="l"/>
              </a:tabLst>
            </a:pPr>
            <a:endParaRPr lang="zh-CN" altLang="en-US" sz="3200" b="1" dirty="0">
              <a:solidFill>
                <a:schemeClr val="bg2"/>
              </a:solidFill>
            </a:endParaRPr>
          </a:p>
          <a:p>
            <a:pPr indent="304800"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例：撤消 </a:t>
            </a:r>
            <a:r>
              <a:rPr lang="en-US" altLang="zh-CN" sz="2800" b="1" dirty="0">
                <a:solidFill>
                  <a:schemeClr val="bg2"/>
                </a:solidFill>
              </a:rPr>
              <a:t>S_GRADE </a:t>
            </a:r>
            <a:r>
              <a:rPr lang="zh-CN" altLang="en-US" sz="2800" b="1" dirty="0">
                <a:solidFill>
                  <a:schemeClr val="bg2"/>
                </a:solidFill>
              </a:rPr>
              <a:t>视图，可用下列语句实现：</a:t>
            </a:r>
          </a:p>
          <a:p>
            <a:pPr indent="304800"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     </a:t>
            </a:r>
            <a:r>
              <a:rPr lang="en-US" altLang="zh-CN" sz="2800" b="1" dirty="0">
                <a:solidFill>
                  <a:schemeClr val="bg2"/>
                </a:solidFill>
              </a:rPr>
              <a:t>DROP  VIEW S_GRADE;</a:t>
            </a:r>
          </a:p>
          <a:p>
            <a:pPr indent="304800" eaLnBrk="0" hangingPunct="0">
              <a:lnSpc>
                <a:spcPct val="180000"/>
              </a:lnSpc>
              <a:tabLst>
                <a:tab pos="5067300" algn="l"/>
              </a:tabLst>
            </a:pPr>
            <a:endParaRPr lang="en-US" altLang="zh-CN" sz="2800" b="1" dirty="0">
              <a:solidFill>
                <a:schemeClr val="bg2"/>
              </a:solidFill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2AA1667F-1E38-D497-872F-851DFDB6A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740400"/>
            <a:ext cx="35941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ChangeArrowheads="1"/>
          </p:cNvSpPr>
          <p:nvPr/>
        </p:nvSpPr>
        <p:spPr bwMode="auto">
          <a:xfrm>
            <a:off x="0" y="0"/>
            <a:ext cx="9144000" cy="2285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80000"/>
              </a:lnSpc>
            </a:pPr>
            <a:r>
              <a:rPr lang="zh-CN" altLang="en-US" sz="2800" b="1" dirty="0">
                <a:solidFill>
                  <a:srgbClr val="000066"/>
                </a:solidFill>
              </a:rPr>
              <a:t>三、 视图的查询</a:t>
            </a:r>
          </a:p>
          <a:p>
            <a:pPr algn="just">
              <a:lnSpc>
                <a:spcPct val="180000"/>
              </a:lnSpc>
            </a:pPr>
            <a:r>
              <a:rPr lang="zh-CN" altLang="en-US" sz="2800" b="1" dirty="0">
                <a:solidFill>
                  <a:schemeClr val="bg2"/>
                </a:solidFill>
              </a:rPr>
              <a:t>   </a:t>
            </a:r>
            <a:r>
              <a:rPr lang="zh-CN" altLang="en-US" sz="2800" b="1" dirty="0">
                <a:solidFill>
                  <a:schemeClr val="bg1"/>
                </a:solidFill>
              </a:rPr>
              <a:t>系统在实现对视图的查询时，根据数据字典的定义将对视图的查询转换为对基本表的查询。 </a:t>
            </a:r>
          </a:p>
        </p:txBody>
      </p:sp>
      <p:sp>
        <p:nvSpPr>
          <p:cNvPr id="691203" name="Rectangle 3"/>
          <p:cNvSpPr>
            <a:spLocks noChangeArrowheads="1"/>
          </p:cNvSpPr>
          <p:nvPr/>
        </p:nvSpPr>
        <p:spPr bwMode="auto">
          <a:xfrm>
            <a:off x="36512" y="2481263"/>
            <a:ext cx="9144000" cy="19355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例：对学生学习情况视图执行如下操作：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① 	</a:t>
            </a:r>
            <a:r>
              <a:rPr lang="en-US" altLang="zh-CN" sz="2400" b="1" dirty="0">
                <a:solidFill>
                  <a:schemeClr val="bg2"/>
                </a:solidFill>
              </a:rPr>
              <a:t>SELECT * FROM S_GRADE;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</a:rPr>
              <a:t>相应的</a:t>
            </a:r>
            <a:r>
              <a:rPr lang="zh-CN" altLang="en-US" sz="2400" b="1" dirty="0">
                <a:solidFill>
                  <a:schemeClr val="bg2"/>
                </a:solidFill>
                <a:hlinkClick r:id="rId2" action="ppaction://hlinksldjump"/>
              </a:rPr>
              <a:t>查询</a:t>
            </a:r>
            <a:r>
              <a:rPr lang="zh-CN" altLang="en-US" sz="2400" b="1" dirty="0">
                <a:solidFill>
                  <a:schemeClr val="bg2"/>
                </a:solidFill>
              </a:rPr>
              <a:t>转换操作如下：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368694B-226B-051A-4674-6B1AD6341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393" y="4314026"/>
            <a:ext cx="2755900" cy="22352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2191B44-9C01-A510-1F15-45601C9055CB}"/>
              </a:ext>
            </a:extLst>
          </p:cNvPr>
          <p:cNvSpPr txBox="1"/>
          <p:nvPr/>
        </p:nvSpPr>
        <p:spPr>
          <a:xfrm>
            <a:off x="223333" y="4490008"/>
            <a:ext cx="6067060" cy="2059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SNO,COUNT(CNO) AS C_NUM,AVG(GRADE) AS AVG_GRADE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FROM SC</a:t>
            </a: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GROUP BY SNO;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6741DA-FB53-EF42-A98E-136AC7B7697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76" t="20973" r="54062" b="13716"/>
          <a:stretch/>
        </p:blipFill>
        <p:spPr>
          <a:xfrm>
            <a:off x="39891" y="980728"/>
            <a:ext cx="577970" cy="5504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ChangeArrowheads="1"/>
          </p:cNvSpPr>
          <p:nvPr/>
        </p:nvSpPr>
        <p:spPr bwMode="auto">
          <a:xfrm>
            <a:off x="0" y="76200"/>
            <a:ext cx="9144000" cy="330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②	SELECT SNO,C_NUM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	FROM S_GRADE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     </a:t>
            </a:r>
            <a:r>
              <a:rPr lang="en-US" altLang="zh-CN" sz="2800" b="1">
                <a:solidFill>
                  <a:srgbClr val="660033"/>
                </a:solidFill>
              </a:rPr>
              <a:t>WHERE AVG_GRADE&gt;80;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 </a:t>
            </a:r>
            <a:r>
              <a:rPr lang="zh-CN" altLang="en-US" sz="2800" b="1">
                <a:solidFill>
                  <a:schemeClr val="bg2"/>
                </a:solidFill>
              </a:rPr>
              <a:t>相应的</a:t>
            </a:r>
            <a:r>
              <a:rPr lang="zh-CN" altLang="en-US" sz="2800" b="1">
                <a:solidFill>
                  <a:schemeClr val="bg2"/>
                </a:solidFill>
                <a:hlinkClick r:id="rId2" action="ppaction://hlinksldjump"/>
              </a:rPr>
              <a:t>查询</a:t>
            </a:r>
            <a:r>
              <a:rPr lang="zh-CN" altLang="en-US" sz="2800" b="1">
                <a:solidFill>
                  <a:schemeClr val="bg2"/>
                </a:solidFill>
              </a:rPr>
              <a:t>转换操作如下：</a:t>
            </a:r>
          </a:p>
        </p:txBody>
      </p:sp>
      <p:sp>
        <p:nvSpPr>
          <p:cNvPr id="692227" name="Rectangle 3"/>
          <p:cNvSpPr>
            <a:spLocks noChangeArrowheads="1"/>
          </p:cNvSpPr>
          <p:nvPr/>
        </p:nvSpPr>
        <p:spPr bwMode="auto">
          <a:xfrm>
            <a:off x="457200" y="3429000"/>
            <a:ext cx="5554960" cy="2775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SNO,COUNT(CNO) AS C_NUM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FROM SC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GROUP BY SNO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cs typeface="Times New Roman" pitchFamily="18" charset="0"/>
              </a:rPr>
              <a:t>           </a:t>
            </a:r>
            <a:r>
              <a:rPr lang="en-US" altLang="zh-CN" sz="2400" b="1" dirty="0">
                <a:solidFill>
                  <a:srgbClr val="660033"/>
                </a:solidFill>
                <a:cs typeface="Times New Roman" pitchFamily="18" charset="0"/>
              </a:rPr>
              <a:t>HAVING AVG(GRADE)&gt; 80;</a:t>
            </a:r>
          </a:p>
        </p:txBody>
      </p:sp>
      <p:pic>
        <p:nvPicPr>
          <p:cNvPr id="5" name="图片 4" descr="文本&#10;&#10;中度可信度描述已自动生成">
            <a:extLst>
              <a:ext uri="{FF2B5EF4-FFF2-40B4-BE49-F238E27FC236}">
                <a16:creationId xmlns:a16="http://schemas.microsoft.com/office/drawing/2014/main" id="{DD736E6C-0D11-FF17-5D58-1C0696C6A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243" y="3861048"/>
            <a:ext cx="3196968" cy="19119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2227" grpId="1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152400" y="76200"/>
            <a:ext cx="9144000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③	SELECT SNO,AVG_GRADE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	FROM S_GRADE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       </a:t>
            </a:r>
            <a:r>
              <a:rPr lang="en-US" altLang="zh-CN" sz="2400" b="1">
                <a:solidFill>
                  <a:srgbClr val="660033"/>
                </a:solidFill>
              </a:rPr>
              <a:t>WHERE C_NUM</a:t>
            </a:r>
            <a:r>
              <a:rPr lang="en-US" altLang="zh-CN" sz="2400" b="1">
                <a:solidFill>
                  <a:schemeClr val="bg2"/>
                </a:solidFill>
              </a:rPr>
              <a:t> &gt;(SELECT C_NUM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                     FROM S_GRADE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  <a:cs typeface="Times New Roman" pitchFamily="18" charset="0"/>
              </a:rPr>
              <a:t>                     </a:t>
            </a:r>
            <a:r>
              <a:rPr lang="en-US" altLang="zh-CN" sz="2400" b="1">
                <a:solidFill>
                  <a:schemeClr val="bg1"/>
                </a:solidFill>
                <a:cs typeface="Times New Roman" pitchFamily="18" charset="0"/>
              </a:rPr>
              <a:t>WHERE S</a:t>
            </a:r>
            <a:r>
              <a:rPr lang="en-US" altLang="zh-CN" sz="2400" b="1">
                <a:solidFill>
                  <a:schemeClr val="bg1"/>
                </a:solidFill>
              </a:rPr>
              <a:t>NO</a:t>
            </a:r>
            <a:r>
              <a:rPr lang="en-US" altLang="zh-CN" sz="2400" b="1">
                <a:solidFill>
                  <a:schemeClr val="bg1"/>
                </a:solidFill>
                <a:cs typeface="Times New Roman" pitchFamily="18" charset="0"/>
              </a:rPr>
              <a:t>=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‘</a:t>
            </a:r>
            <a:r>
              <a:rPr lang="en-US" altLang="zh-CN" sz="2400" b="1">
                <a:solidFill>
                  <a:schemeClr val="bg1"/>
                </a:solidFill>
                <a:cs typeface="Times New Roman" pitchFamily="18" charset="0"/>
              </a:rPr>
              <a:t>S4</a:t>
            </a:r>
            <a:r>
              <a:rPr lang="en-US" altLang="zh-CN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zh-CN" sz="2400" b="1">
                <a:solidFill>
                  <a:schemeClr val="bg1"/>
                </a:solidFill>
                <a:cs typeface="Times New Roman" pitchFamily="18" charset="0"/>
              </a:rPr>
              <a:t>);</a:t>
            </a:r>
            <a:endParaRPr lang="en-US" altLang="zh-CN" sz="2400" b="1">
              <a:solidFill>
                <a:schemeClr val="bg1"/>
              </a:solidFill>
            </a:endParaRP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  </a:t>
            </a:r>
            <a:r>
              <a:rPr lang="zh-CN" altLang="en-US" sz="2400" b="1">
                <a:solidFill>
                  <a:schemeClr val="bg2"/>
                </a:solidFill>
              </a:rPr>
              <a:t>相应的查询转换操作如下： </a:t>
            </a:r>
          </a:p>
        </p:txBody>
      </p:sp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395536" y="3082272"/>
            <a:ext cx="5400600" cy="33855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SELECT SNO, AVG(GRADE) AS AVG_GRADE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FROM SC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GROUP BY SNO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HAVING COUNT(CNO) &gt; (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SELECT COUNT(CNO)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FROM SC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WHERE SNO = 'S4'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</a:rPr>
              <a:t>    GROUP BY SNO);</a:t>
            </a:r>
            <a:r>
              <a:rPr lang="en-US" altLang="zh-CN" sz="2000" b="1" dirty="0">
                <a:solidFill>
                  <a:schemeClr val="bg2"/>
                </a:solidFill>
                <a:cs typeface="Times New Roman" pitchFamily="18" charset="0"/>
              </a:rPr>
              <a:t>                           </a:t>
            </a:r>
            <a:endParaRPr lang="en-US" altLang="zh-CN" sz="2000" b="1" dirty="0">
              <a:solidFill>
                <a:schemeClr val="bg1"/>
              </a:solidFill>
              <a:cs typeface="Times New Roman" pitchFamily="18" charset="0"/>
            </a:endParaRP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28284012-E5AA-830B-6551-26E45637D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806643"/>
            <a:ext cx="4141172" cy="2369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3251" grpId="0" animBg="1" autoUpdateAnimBg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0" y="0"/>
            <a:ext cx="9251950" cy="253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66"/>
                </a:solidFill>
              </a:rPr>
              <a:t>  </a:t>
            </a:r>
            <a:r>
              <a:rPr lang="zh-CN" altLang="en-US" sz="2400" b="1">
                <a:solidFill>
                  <a:srgbClr val="000066"/>
                </a:solidFill>
              </a:rPr>
              <a:t>四、视图的更新操作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660033"/>
                </a:solidFill>
              </a:rPr>
              <a:t> 对于视图的更新操作</a:t>
            </a:r>
            <a:r>
              <a:rPr lang="en-US" altLang="zh-CN" sz="2400" b="1">
                <a:solidFill>
                  <a:srgbClr val="660033"/>
                </a:solidFill>
              </a:rPr>
              <a:t>(INSERT</a:t>
            </a:r>
            <a:r>
              <a:rPr lang="zh-CN" altLang="en-US" b="1">
                <a:solidFill>
                  <a:srgbClr val="660033"/>
                </a:solidFill>
              </a:rPr>
              <a:t>、</a:t>
            </a:r>
            <a:r>
              <a:rPr lang="en-US" altLang="zh-CN" sz="2400" b="1">
                <a:solidFill>
                  <a:srgbClr val="660033"/>
                </a:solidFill>
              </a:rPr>
              <a:t>DELETE</a:t>
            </a:r>
            <a:r>
              <a:rPr lang="zh-CN" altLang="en-US" sz="2400" b="1">
                <a:solidFill>
                  <a:srgbClr val="660033"/>
                </a:solidFill>
              </a:rPr>
              <a:t>、</a:t>
            </a:r>
            <a:r>
              <a:rPr lang="en-US" altLang="zh-CN" sz="2400" b="1">
                <a:solidFill>
                  <a:srgbClr val="660033"/>
                </a:solidFill>
              </a:rPr>
              <a:t>UPDATE)</a:t>
            </a:r>
            <a:r>
              <a:rPr lang="zh-CN" altLang="en-US" sz="2400" b="1">
                <a:solidFill>
                  <a:srgbClr val="660033"/>
                </a:solidFill>
              </a:rPr>
              <a:t>有以下三条规则：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</a:rPr>
              <a:t>  ① 如果一个视图是从多个基本表使用联接操作导出的，那么不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</a:rPr>
              <a:t>     允许对这个视图执行更新操作。</a:t>
            </a:r>
          </a:p>
        </p:txBody>
      </p:sp>
      <p:sp>
        <p:nvSpPr>
          <p:cNvPr id="694275" name="Rectangle 3"/>
          <p:cNvSpPr>
            <a:spLocks noChangeArrowheads="1"/>
          </p:cNvSpPr>
          <p:nvPr/>
        </p:nvSpPr>
        <p:spPr bwMode="auto">
          <a:xfrm>
            <a:off x="228600" y="2667000"/>
            <a:ext cx="8915400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000066"/>
                </a:solidFill>
              </a:rPr>
              <a:t>② </a:t>
            </a:r>
            <a:r>
              <a:rPr lang="zh-CN" altLang="en-US" sz="2400" b="1">
                <a:solidFill>
                  <a:srgbClr val="000066"/>
                </a:solidFill>
              </a:rPr>
              <a:t>如果在导出视图的过程中，使用了分组和聚合操作，也不允 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rgbClr val="000066"/>
                </a:solidFill>
              </a:rPr>
              <a:t>   许对这个视图执行更新操作。</a:t>
            </a:r>
          </a:p>
        </p:txBody>
      </p:sp>
      <p:sp>
        <p:nvSpPr>
          <p:cNvPr id="694276" name="Rectangle 4"/>
          <p:cNvSpPr>
            <a:spLocks noChangeArrowheads="1"/>
          </p:cNvSpPr>
          <p:nvPr/>
        </p:nvSpPr>
        <p:spPr bwMode="auto">
          <a:xfrm>
            <a:off x="228600" y="3962400"/>
            <a:ext cx="8915400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③ </a:t>
            </a:r>
            <a:r>
              <a:rPr lang="zh-CN" altLang="en-US" sz="2400" b="1" dirty="0">
                <a:solidFill>
                  <a:srgbClr val="000066"/>
                </a:solidFill>
              </a:rPr>
              <a:t>如果视图是从单个基本表使用选择、投影操作导出的，</a:t>
            </a:r>
            <a:r>
              <a:rPr lang="zh-CN" altLang="en-US" sz="2400" b="1" dirty="0">
                <a:solidFill>
                  <a:srgbClr val="660033"/>
                </a:solidFill>
              </a:rPr>
              <a:t>并且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   包含了基本表的主键或某个候选键，</a:t>
            </a:r>
            <a:r>
              <a:rPr lang="zh-CN" altLang="en-US" sz="2400" b="1" dirty="0">
                <a:solidFill>
                  <a:srgbClr val="000066"/>
                </a:solidFill>
              </a:rPr>
              <a:t>那么这样的视图称为</a:t>
            </a:r>
            <a:r>
              <a:rPr lang="zh-CN" altLang="en-US" sz="2400" b="1" dirty="0">
                <a:solidFill>
                  <a:srgbClr val="000066"/>
                </a:solidFill>
                <a:latin typeface="Times New Roman" pitchFamily="18" charset="0"/>
              </a:rPr>
              <a:t>“</a:t>
            </a:r>
            <a:r>
              <a:rPr lang="zh-CN" altLang="en-US" sz="2400" b="1" dirty="0">
                <a:solidFill>
                  <a:srgbClr val="000066"/>
                </a:solidFill>
              </a:rPr>
              <a:t>行列子集视图</a:t>
            </a:r>
            <a:r>
              <a:rPr lang="zh-CN" altLang="en-US" sz="2400" b="1" dirty="0">
                <a:solidFill>
                  <a:srgbClr val="000066"/>
                </a:solidFill>
                <a:latin typeface="Times New Roman" pitchFamily="18" charset="0"/>
              </a:rPr>
              <a:t>”</a:t>
            </a:r>
            <a:r>
              <a:rPr lang="zh-CN" altLang="en-US" sz="2400" b="1" dirty="0">
                <a:solidFill>
                  <a:srgbClr val="000066"/>
                </a:solidFill>
              </a:rPr>
              <a:t>，并且可以被执行更新操作。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在</a:t>
            </a:r>
            <a:r>
              <a:rPr lang="en-US" altLang="zh-CN" sz="2400" b="1" dirty="0">
                <a:solidFill>
                  <a:schemeClr val="bg2"/>
                </a:solidFill>
              </a:rPr>
              <a:t>SQL2</a:t>
            </a:r>
            <a:r>
              <a:rPr lang="zh-CN" altLang="en-US" sz="2400" b="1" dirty="0">
                <a:solidFill>
                  <a:schemeClr val="bg2"/>
                </a:solidFill>
              </a:rPr>
              <a:t>中</a:t>
            </a:r>
            <a:r>
              <a:rPr lang="en-US" altLang="zh-CN" sz="2400" b="1" dirty="0">
                <a:solidFill>
                  <a:schemeClr val="bg2"/>
                </a:solidFill>
              </a:rPr>
              <a:t>,</a:t>
            </a:r>
            <a:r>
              <a:rPr lang="zh-CN" altLang="en-US" sz="2400" b="1" dirty="0">
                <a:solidFill>
                  <a:schemeClr val="bg2"/>
                </a:solidFill>
              </a:rPr>
              <a:t>允许更新的视图在定义时</a:t>
            </a:r>
            <a:r>
              <a:rPr lang="en-US" altLang="zh-CN" sz="2400" b="1" dirty="0">
                <a:solidFill>
                  <a:schemeClr val="bg2"/>
                </a:solidFill>
              </a:rPr>
              <a:t>,</a:t>
            </a:r>
            <a:r>
              <a:rPr lang="zh-CN" altLang="en-US" sz="2400" b="1" dirty="0">
                <a:solidFill>
                  <a:schemeClr val="bg2"/>
                </a:solidFill>
              </a:rPr>
              <a:t>必须加上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en-US" altLang="zh-CN" sz="2400" b="1" dirty="0">
                <a:solidFill>
                  <a:srgbClr val="FF0000"/>
                </a:solidFill>
              </a:rPr>
              <a:t>WITH CHECK OPTION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400" b="1" dirty="0">
                <a:solidFill>
                  <a:schemeClr val="bg2"/>
                </a:solidFill>
              </a:rPr>
              <a:t>短语。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BA8B5D-E317-9747-9A86-3BC56F91E9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6" t="20973" r="54062" b="13716"/>
          <a:stretch/>
        </p:blipFill>
        <p:spPr>
          <a:xfrm>
            <a:off x="107504" y="39938"/>
            <a:ext cx="577970" cy="55043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7AC3E9D-3FC3-9B4D-8365-0DF587D66F73}"/>
              </a:ext>
            </a:extLst>
          </p:cNvPr>
          <p:cNvSpPr/>
          <p:nvPr/>
        </p:nvSpPr>
        <p:spPr bwMode="auto">
          <a:xfrm>
            <a:off x="107504" y="3890963"/>
            <a:ext cx="9036496" cy="1914301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5" grpId="0" autoUpdateAnimBg="0"/>
      <p:bldP spid="694276" grpId="0" autoUpdateAnimBg="0"/>
      <p:bldP spid="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0" y="160338"/>
            <a:ext cx="9144000" cy="238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000066"/>
                </a:solidFill>
              </a:rPr>
              <a:t>例：如果定义</a:t>
            </a:r>
            <a:r>
              <a:rPr lang="zh-CN" altLang="en-US" sz="2400" b="1" dirty="0">
                <a:solidFill>
                  <a:srgbClr val="000066"/>
                </a:solidFill>
                <a:latin typeface="Times New Roman" pitchFamily="18" charset="0"/>
              </a:rPr>
              <a:t>“</a:t>
            </a:r>
            <a:r>
              <a:rPr lang="zh-CN" altLang="en-US" sz="2400" b="1" dirty="0">
                <a:solidFill>
                  <a:srgbClr val="000066"/>
                </a:solidFill>
              </a:rPr>
              <a:t>计算机</a:t>
            </a:r>
            <a:r>
              <a:rPr lang="zh-CN" altLang="en-US" sz="2400" b="1" dirty="0">
                <a:solidFill>
                  <a:srgbClr val="000066"/>
                </a:solidFill>
                <a:latin typeface="Times New Roman" pitchFamily="18" charset="0"/>
              </a:rPr>
              <a:t>”学院</a:t>
            </a:r>
            <a:r>
              <a:rPr lang="zh-CN" altLang="en-US" sz="2400" b="1" dirty="0">
                <a:solidFill>
                  <a:srgbClr val="000066"/>
                </a:solidFill>
              </a:rPr>
              <a:t>学生视图：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</a:rPr>
              <a:t>CREATE VIEW STUDENT_COMPUTER(SNO,SNAME,SEX,AGE) 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AS SELECT SNO,SNAME,SEX,AGE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WHERE SDEPT=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'CS';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sp>
        <p:nvSpPr>
          <p:cNvPr id="695299" name="Rectangle 3"/>
          <p:cNvSpPr>
            <a:spLocks noChangeArrowheads="1"/>
          </p:cNvSpPr>
          <p:nvPr/>
        </p:nvSpPr>
        <p:spPr bwMode="auto">
          <a:xfrm>
            <a:off x="609600" y="3662363"/>
            <a:ext cx="6050632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000066"/>
                </a:solidFill>
              </a:rPr>
              <a:t>如执行插入操作：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 </a:t>
            </a:r>
            <a:r>
              <a:rPr lang="en-US" altLang="zh-CN" sz="2400" b="1" dirty="0">
                <a:solidFill>
                  <a:schemeClr val="bg2"/>
                </a:solidFill>
              </a:rPr>
              <a:t>INSERT INTO STUDENT_COMPUTER 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VALUES('S99', '</a:t>
            </a:r>
            <a:r>
              <a:rPr lang="zh-CN" altLang="en-US" sz="2400" b="1" dirty="0">
                <a:solidFill>
                  <a:schemeClr val="bg2"/>
                </a:solidFill>
              </a:rPr>
              <a:t>王敏</a:t>
            </a:r>
            <a:r>
              <a:rPr lang="en-US" altLang="zh-CN" sz="2400" b="1" dirty="0">
                <a:solidFill>
                  <a:schemeClr val="bg2"/>
                </a:solidFill>
              </a:rPr>
              <a:t>', '</a:t>
            </a:r>
            <a:r>
              <a:rPr lang="zh-CN" altLang="en-US" sz="2400" b="1" dirty="0">
                <a:solidFill>
                  <a:schemeClr val="bg2"/>
                </a:solidFill>
              </a:rPr>
              <a:t>男</a:t>
            </a:r>
            <a:r>
              <a:rPr lang="en-US" altLang="zh-CN" sz="2400" b="1" dirty="0">
                <a:solidFill>
                  <a:schemeClr val="bg2"/>
                </a:solidFill>
              </a:rPr>
              <a:t>', 22);</a:t>
            </a:r>
          </a:p>
        </p:txBody>
      </p:sp>
      <p:sp>
        <p:nvSpPr>
          <p:cNvPr id="695300" name="Rectangle 4"/>
          <p:cNvSpPr>
            <a:spLocks noChangeArrowheads="1"/>
          </p:cNvSpPr>
          <p:nvPr/>
        </p:nvSpPr>
        <p:spPr bwMode="auto">
          <a:xfrm>
            <a:off x="605550" y="5290245"/>
            <a:ext cx="7772400" cy="1552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系统自动会把它转换变成下列语句：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INSERT  INTO  S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cs typeface="Times New Roman" pitchFamily="18" charset="0"/>
              </a:rPr>
              <a:t> VALUES</a:t>
            </a:r>
            <a:r>
              <a:rPr lang="zh-CN" altLang="en-US" sz="2400" b="1" dirty="0">
                <a:solidFill>
                  <a:schemeClr val="bg2"/>
                </a:solidFill>
                <a:cs typeface="Times New Roman" pitchFamily="18" charset="0"/>
              </a:rPr>
              <a:t>（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S99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,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zh-CN" altLang="en-US" sz="2400" b="1" dirty="0">
                <a:solidFill>
                  <a:schemeClr val="bg2"/>
                </a:solidFill>
              </a:rPr>
              <a:t>王敏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,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zh-CN" altLang="en-US" sz="2400" b="1" dirty="0">
                <a:solidFill>
                  <a:schemeClr val="bg2"/>
                </a:solidFill>
              </a:rPr>
              <a:t>男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,22,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‘</a:t>
            </a:r>
            <a:r>
              <a:rPr lang="zh-CN" altLang="en-US" sz="2400" b="1" dirty="0">
                <a:solidFill>
                  <a:schemeClr val="bg2"/>
                </a:solidFill>
              </a:rPr>
              <a:t>计算机应用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en-US" sz="2400" b="1" dirty="0">
                <a:solidFill>
                  <a:schemeClr val="bg2"/>
                </a:solidFill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chemeClr val="bg2"/>
                </a:solidFill>
              </a:rPr>
              <a:t>）；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1520" y="2594614"/>
            <a:ext cx="856895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该视图是从单个关系仅使用了选择和投影导出的，而且包括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键</a:t>
            </a:r>
            <a:r>
              <a:rPr lang="en-US" altLang="zh-CN" sz="2400" b="1" dirty="0">
                <a:solidFill>
                  <a:srgbClr val="660033"/>
                </a:solidFill>
              </a:rPr>
              <a:t>SNO</a:t>
            </a:r>
            <a:r>
              <a:rPr lang="zh-CN" altLang="en-US" sz="2400" b="1" dirty="0">
                <a:solidFill>
                  <a:srgbClr val="660033"/>
                </a:solidFill>
              </a:rPr>
              <a:t>，因此是可以修改的。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333FAEA3-1435-DBE1-D1FB-1F8FA76EB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107170"/>
            <a:ext cx="2736304" cy="1538352"/>
          </a:xfrm>
          <a:prstGeom prst="rect">
            <a:avLst/>
          </a:prstGeom>
        </p:spPr>
      </p:pic>
      <p:pic>
        <p:nvPicPr>
          <p:cNvPr id="5" name="图片 4" descr="一些文字和图案&#10;&#10;描述已自动生成">
            <a:extLst>
              <a:ext uri="{FF2B5EF4-FFF2-40B4-BE49-F238E27FC236}">
                <a16:creationId xmlns:a16="http://schemas.microsoft.com/office/drawing/2014/main" id="{3FD37F9F-BD62-2349-96B5-6B9506C1A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951" y="3765357"/>
            <a:ext cx="2630050" cy="2483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9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5299" grpId="0" animBg="1" autoUpdateAnimBg="0"/>
      <p:bldP spid="695300" grpId="0" animBg="1" autoUpdateAnimBg="0"/>
      <p:bldP spid="6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-76200" y="206375"/>
            <a:ext cx="8915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rgbClr val="660033"/>
                </a:solidFill>
              </a:rPr>
              <a:t>  </a:t>
            </a:r>
            <a:r>
              <a:rPr lang="zh-CN" altLang="en-US" sz="2400" b="1" dirty="0">
                <a:solidFill>
                  <a:srgbClr val="660033"/>
                </a:solidFill>
              </a:rPr>
              <a:t>对于学生学习情况视图：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	</a:t>
            </a:r>
            <a:r>
              <a:rPr lang="en-US" altLang="zh-CN" sz="2400" b="1" dirty="0">
                <a:solidFill>
                  <a:schemeClr val="bg2"/>
                </a:solidFill>
              </a:rPr>
              <a:t>CREATE VIEW S_GRADE(SNO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C_NUM</a:t>
            </a:r>
            <a:r>
              <a:rPr lang="zh-CN" altLang="en-US" sz="2400" b="1" dirty="0">
                <a:solidFill>
                  <a:schemeClr val="bg2"/>
                </a:solidFill>
              </a:rPr>
              <a:t>，</a:t>
            </a:r>
            <a:r>
              <a:rPr lang="en-US" altLang="zh-CN" sz="2400" b="1" dirty="0">
                <a:solidFill>
                  <a:schemeClr val="bg2"/>
                </a:solidFill>
              </a:rPr>
              <a:t>AVG_GRADE)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		AS SELECT SNO</a:t>
            </a:r>
            <a:r>
              <a:rPr lang="zh-CN" altLang="en-US" sz="2400" b="1" dirty="0">
                <a:solidFill>
                  <a:srgbClr val="000066"/>
                </a:solidFill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</a:rPr>
              <a:t>COUNT(CNO)</a:t>
            </a:r>
            <a:r>
              <a:rPr lang="zh-CN" altLang="en-US" sz="2400" b="1" dirty="0">
                <a:solidFill>
                  <a:srgbClr val="000066"/>
                </a:solidFill>
              </a:rPr>
              <a:t>，</a:t>
            </a:r>
            <a:r>
              <a:rPr lang="en-US" altLang="zh-CN" sz="2400" b="1" dirty="0">
                <a:solidFill>
                  <a:srgbClr val="000066"/>
                </a:solidFill>
              </a:rPr>
              <a:t>AVG</a:t>
            </a:r>
            <a:r>
              <a:rPr lang="zh-CN" altLang="en-US" sz="2400" b="1" dirty="0">
                <a:solidFill>
                  <a:srgbClr val="000066"/>
                </a:solidFill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</a:rPr>
              <a:t>GRADE</a:t>
            </a:r>
            <a:r>
              <a:rPr lang="zh-CN" altLang="en-US" sz="2400" b="1" dirty="0">
                <a:solidFill>
                  <a:srgbClr val="000066"/>
                </a:solidFill>
              </a:rPr>
              <a:t>）</a:t>
            </a:r>
          </a:p>
          <a:p>
            <a:pPr algn="just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		   </a:t>
            </a:r>
            <a:r>
              <a:rPr lang="en-US" altLang="zh-CN" sz="2400" b="1" dirty="0">
                <a:solidFill>
                  <a:schemeClr val="bg2"/>
                </a:solidFill>
              </a:rPr>
              <a:t>FROM SC</a:t>
            </a: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	         </a:t>
            </a:r>
            <a:r>
              <a:rPr lang="en-US" altLang="zh-CN" sz="2400" b="1" dirty="0">
                <a:solidFill>
                  <a:srgbClr val="000066"/>
                </a:solidFill>
              </a:rPr>
              <a:t>GROUP BY</a:t>
            </a:r>
            <a:r>
              <a:rPr lang="en-US" altLang="zh-CN" sz="2400" b="1" dirty="0">
                <a:solidFill>
                  <a:schemeClr val="bg2"/>
                </a:solidFill>
              </a:rPr>
              <a:t> SNO;</a:t>
            </a:r>
          </a:p>
        </p:txBody>
      </p:sp>
      <p:sp>
        <p:nvSpPr>
          <p:cNvPr id="696323" name="Rectangle 3"/>
          <p:cNvSpPr>
            <a:spLocks noChangeArrowheads="1"/>
          </p:cNvSpPr>
          <p:nvPr/>
        </p:nvSpPr>
        <p:spPr bwMode="auto">
          <a:xfrm>
            <a:off x="304800" y="3200400"/>
            <a:ext cx="9144000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执行：</a:t>
            </a:r>
            <a:r>
              <a:rPr lang="en-US" altLang="zh-CN" sz="2400" b="1" dirty="0">
                <a:solidFill>
                  <a:schemeClr val="bg2"/>
                </a:solidFill>
              </a:rPr>
              <a:t>UPDATE S_GRADE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	  SET SNO='S3'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	  WHERE SNO='S4';</a:t>
            </a:r>
            <a:endParaRPr lang="zh-CN" altLang="en-US" sz="2400" b="1" dirty="0">
              <a:solidFill>
                <a:schemeClr val="bg2"/>
              </a:solidFill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</a:rPr>
              <a:t>不允许</a:t>
            </a:r>
            <a:r>
              <a:rPr lang="zh-CN" altLang="en-US" sz="2400" b="1" dirty="0">
                <a:solidFill>
                  <a:schemeClr val="bg1"/>
                </a:solidFill>
              </a:rPr>
              <a:t>。</a:t>
            </a:r>
            <a:r>
              <a:rPr lang="en-US" altLang="zh-CN" sz="2400" b="1" dirty="0">
                <a:solidFill>
                  <a:schemeClr val="bg2"/>
                </a:solidFill>
              </a:rPr>
              <a:t>C_NUM</a:t>
            </a:r>
            <a:r>
              <a:rPr lang="zh-CN" altLang="en-US" sz="2400" b="1" dirty="0">
                <a:solidFill>
                  <a:schemeClr val="bg2"/>
                </a:solidFill>
              </a:rPr>
              <a:t>是对</a:t>
            </a:r>
            <a:r>
              <a:rPr lang="en-US" altLang="zh-CN" sz="2400" b="1" dirty="0">
                <a:solidFill>
                  <a:schemeClr val="bg2"/>
                </a:solidFill>
              </a:rPr>
              <a:t>SC</a:t>
            </a:r>
            <a:r>
              <a:rPr lang="zh-CN" altLang="en-US" sz="2400" b="1" dirty="0">
                <a:solidFill>
                  <a:schemeClr val="bg2"/>
                </a:solidFill>
              </a:rPr>
              <a:t>中的学生选修门数进行统计，在未更改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SC</a:t>
            </a:r>
            <a:r>
              <a:rPr lang="zh-CN" altLang="en-US" sz="2400" b="1" dirty="0">
                <a:solidFill>
                  <a:schemeClr val="bg2"/>
                </a:solidFill>
              </a:rPr>
              <a:t>表时，要在视图</a:t>
            </a:r>
            <a:r>
              <a:rPr lang="en-US" altLang="zh-CN" sz="2400" b="1" dirty="0">
                <a:solidFill>
                  <a:schemeClr val="bg2"/>
                </a:solidFill>
              </a:rPr>
              <a:t>S_GRADE</a:t>
            </a:r>
            <a:r>
              <a:rPr lang="zh-CN" altLang="en-US" sz="2400" b="1" dirty="0">
                <a:solidFill>
                  <a:schemeClr val="bg2"/>
                </a:solidFill>
              </a:rPr>
              <a:t>中更改门数，是不可能的。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3" grpId="0" autoUpdateAnimBg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76200" y="534988"/>
            <a:ext cx="9144000" cy="223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执行： </a:t>
            </a:r>
            <a:r>
              <a:rPr lang="en-US" altLang="zh-CN" sz="2800" b="1">
                <a:solidFill>
                  <a:schemeClr val="bg2"/>
                </a:solidFill>
              </a:rPr>
              <a:t>DELETE FROM S_GRADE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  <a:cs typeface="Times New Roman" pitchFamily="18" charset="0"/>
              </a:rPr>
              <a:t>       WHERE C_NUM&gt;4</a:t>
            </a:r>
            <a:r>
              <a:rPr lang="zh-CN" altLang="en-US" sz="2800" b="1">
                <a:solidFill>
                  <a:schemeClr val="bg2"/>
                </a:solidFill>
                <a:cs typeface="Times New Roman" pitchFamily="18" charset="0"/>
              </a:rPr>
              <a:t>；</a:t>
            </a:r>
            <a:r>
              <a:rPr lang="zh-CN" altLang="en-US" sz="2800" b="1">
                <a:solidFill>
                  <a:schemeClr val="bg2"/>
                </a:solidFill>
              </a:rPr>
              <a:t> </a:t>
            </a:r>
          </a:p>
          <a:p>
            <a:pPr algn="just">
              <a:spcBef>
                <a:spcPct val="50000"/>
              </a:spcBef>
            </a:pPr>
            <a:endParaRPr lang="en-US" altLang="zh-CN" sz="2800" b="1">
              <a:solidFill>
                <a:schemeClr val="bg2"/>
              </a:solidFill>
            </a:endParaRPr>
          </a:p>
        </p:txBody>
      </p:sp>
      <p:sp>
        <p:nvSpPr>
          <p:cNvPr id="697347" name="Rectangle 3"/>
          <p:cNvSpPr>
            <a:spLocks noChangeArrowheads="1"/>
          </p:cNvSpPr>
          <p:nvPr/>
        </p:nvSpPr>
        <p:spPr bwMode="auto">
          <a:xfrm>
            <a:off x="144463" y="2708275"/>
            <a:ext cx="882015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20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</a:rPr>
              <a:t>也不允许的</a:t>
            </a:r>
            <a:r>
              <a:rPr lang="zh-CN" altLang="en-US" sz="2400" b="1" dirty="0">
                <a:solidFill>
                  <a:srgbClr val="000066"/>
                </a:solidFill>
              </a:rPr>
              <a:t>。</a:t>
            </a:r>
            <a:r>
              <a:rPr lang="zh-CN" altLang="en-US" sz="2400" b="1" dirty="0">
                <a:solidFill>
                  <a:schemeClr val="bg2"/>
                </a:solidFill>
              </a:rPr>
              <a:t>在视图</a:t>
            </a:r>
            <a:r>
              <a:rPr lang="en-US" altLang="zh-CN" sz="2400" b="1" dirty="0">
                <a:solidFill>
                  <a:schemeClr val="bg2"/>
                </a:solidFill>
              </a:rPr>
              <a:t>S_GRADE</a:t>
            </a:r>
            <a:r>
              <a:rPr lang="zh-CN" altLang="en-US" sz="2400" b="1" dirty="0">
                <a:solidFill>
                  <a:schemeClr val="bg2"/>
                </a:solidFill>
              </a:rPr>
              <a:t>中删除选修门数在</a:t>
            </a:r>
            <a:r>
              <a:rPr lang="en-US" altLang="zh-CN" sz="2400" b="1" dirty="0">
                <a:solidFill>
                  <a:schemeClr val="bg2"/>
                </a:solidFill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</a:rPr>
              <a:t>门以上的学生元组，势必造成</a:t>
            </a:r>
            <a:r>
              <a:rPr lang="en-US" altLang="zh-CN" sz="2400" b="1" dirty="0">
                <a:solidFill>
                  <a:schemeClr val="bg2"/>
                </a:solidFill>
              </a:rPr>
              <a:t>SC</a:t>
            </a:r>
            <a:r>
              <a:rPr lang="zh-CN" altLang="en-US" sz="2400" b="1" dirty="0">
                <a:solidFill>
                  <a:schemeClr val="bg2"/>
                </a:solidFill>
              </a:rPr>
              <a:t>中这些学生学习元组的删除，这不一定是用户的原意，因此使用分组和聚合操作的视图，不允许用户执行更新操作。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7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/>
          <p:cNvSpPr>
            <a:spLocks noChangeArrowheads="1"/>
          </p:cNvSpPr>
          <p:nvPr/>
        </p:nvSpPr>
        <p:spPr bwMode="auto">
          <a:xfrm>
            <a:off x="228600" y="152400"/>
            <a:ext cx="9144000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  <a:buFont typeface="Symbol" pitchFamily="18" charset="2"/>
              <a:buNone/>
              <a:defRPr/>
            </a:pPr>
            <a:r>
              <a:rPr lang="en-US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               </a:t>
            </a:r>
            <a:r>
              <a:rPr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宋体" pitchFamily="2" charset="-122"/>
              </a:rPr>
              <a:t>主要内容</a:t>
            </a:r>
          </a:p>
        </p:txBody>
      </p:sp>
      <p:grpSp>
        <p:nvGrpSpPr>
          <p:cNvPr id="12291" name="Group 4"/>
          <p:cNvGrpSpPr>
            <a:grpSpLocks/>
          </p:cNvGrpSpPr>
          <p:nvPr/>
        </p:nvGrpSpPr>
        <p:grpSpPr bwMode="auto">
          <a:xfrm>
            <a:off x="-76200" y="22225"/>
            <a:ext cx="9144000" cy="1196975"/>
            <a:chOff x="0" y="288"/>
            <a:chExt cx="5760" cy="864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4" name="Rectangle 6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6" name="Rectangle 8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7" name="Rectangle 9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12298" name="Rectangle 10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645123" name="Rectangle 3"/>
          <p:cNvSpPr>
            <a:spLocks noChangeArrowheads="1"/>
          </p:cNvSpPr>
          <p:nvPr/>
        </p:nvSpPr>
        <p:spPr bwMode="auto">
          <a:xfrm>
            <a:off x="1931988" y="1628775"/>
            <a:ext cx="5465762" cy="3470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4.1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概述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4.2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的数据定义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4.3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的数据查询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4.4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SQL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的数据更新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 eaLnBrk="0" hangingPunct="0">
              <a:lnSpc>
                <a:spcPct val="120000"/>
              </a:lnSpc>
              <a:spcBef>
                <a:spcPct val="50000"/>
              </a:spcBef>
              <a:buBlip>
                <a:blip r:embed="rId2"/>
              </a:buBlip>
            </a:pPr>
            <a:r>
              <a:rPr lang="en-US" altLang="zh-CN" sz="2800" b="1" dirty="0">
                <a:solidFill>
                  <a:schemeClr val="bg1"/>
                </a:solidFill>
              </a:rPr>
              <a:t>4.5</a:t>
            </a:r>
            <a:r>
              <a:rPr lang="zh-CN" altLang="en-US" sz="2800" b="1" dirty="0">
                <a:solidFill>
                  <a:schemeClr val="bg1"/>
                </a:solidFill>
              </a:rPr>
              <a:t> 嵌入式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232833484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81000" y="381000"/>
            <a:ext cx="8299858" cy="5208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  <a:sym typeface="Symbol" pitchFamily="18" charset="2"/>
              </a:rPr>
              <a:t>           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endParaRPr lang="en-US" altLang="zh-CN" sz="3600" b="1" dirty="0">
              <a:solidFill>
                <a:schemeClr val="bg2"/>
              </a:solidFill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</a:rPr>
              <a:t>  </a:t>
            </a:r>
            <a:r>
              <a:rPr lang="en-US" altLang="zh-CN" sz="3200" b="1" dirty="0">
                <a:solidFill>
                  <a:srgbClr val="000066"/>
                </a:solidFill>
              </a:rPr>
              <a:t>SQL</a:t>
            </a:r>
            <a:r>
              <a:rPr lang="zh-CN" altLang="en-US" sz="3200" b="1" dirty="0">
                <a:solidFill>
                  <a:srgbClr val="000066"/>
                </a:solidFill>
              </a:rPr>
              <a:t>语言有两种使用方式</a:t>
            </a:r>
          </a:p>
          <a:p>
            <a:pPr marL="457200" indent="-457200" algn="just" ea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chemeClr val="bg2"/>
                </a:solidFill>
              </a:rPr>
              <a:t>交互式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：在终端交互方式下使用</a:t>
            </a:r>
          </a:p>
          <a:p>
            <a:pPr marL="457200" indent="-457200" algn="just" eaLnBrk="0" hangingPunct="0">
              <a:lnSpc>
                <a:spcPct val="130000"/>
              </a:lnSpc>
              <a:spcBef>
                <a:spcPct val="50000"/>
              </a:spcBef>
              <a:buFont typeface="Wingdings" pitchFamily="2" charset="2"/>
              <a:buChar char="l"/>
            </a:pPr>
            <a:r>
              <a:rPr lang="zh-CN" altLang="en-US" sz="2800" b="1" dirty="0">
                <a:solidFill>
                  <a:schemeClr val="bg2"/>
                </a:solidFill>
              </a:rPr>
              <a:t>嵌入式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：是嵌入在高级语言的程序中使用，而这些高级语言可以是</a:t>
            </a:r>
            <a:r>
              <a:rPr lang="en-US" altLang="zh-CN" sz="2800" b="1" dirty="0">
                <a:solidFill>
                  <a:schemeClr val="bg2"/>
                </a:solidFill>
              </a:rPr>
              <a:t>C</a:t>
            </a:r>
            <a:r>
              <a:rPr lang="zh-CN" altLang="en-US" sz="2800" b="1" dirty="0">
                <a:solidFill>
                  <a:schemeClr val="bg2"/>
                </a:solidFill>
              </a:rPr>
              <a:t>、</a:t>
            </a:r>
            <a:r>
              <a:rPr lang="en-US" altLang="zh-CN" sz="2800" b="1" dirty="0">
                <a:solidFill>
                  <a:schemeClr val="bg2"/>
                </a:solidFill>
              </a:rPr>
              <a:t>JAVA</a:t>
            </a:r>
            <a:r>
              <a:rPr lang="zh-CN" altLang="en-US" sz="2800" b="1" dirty="0">
                <a:solidFill>
                  <a:schemeClr val="bg2"/>
                </a:solidFill>
              </a:rPr>
              <a:t>、</a:t>
            </a:r>
            <a:r>
              <a:rPr lang="en-US" altLang="zh-CN" sz="2800" b="1" dirty="0">
                <a:solidFill>
                  <a:schemeClr val="bg2"/>
                </a:solidFill>
              </a:rPr>
              <a:t>Python</a:t>
            </a:r>
            <a:r>
              <a:rPr lang="zh-CN" altLang="en-US" sz="2800" b="1" dirty="0">
                <a:solidFill>
                  <a:schemeClr val="bg2"/>
                </a:solidFill>
              </a:rPr>
              <a:t>等称为宿主语言。 </a:t>
            </a:r>
          </a:p>
        </p:txBody>
      </p:sp>
      <p:grpSp>
        <p:nvGrpSpPr>
          <p:cNvPr id="86019" name="Group 5"/>
          <p:cNvGrpSpPr>
            <a:grpSpLocks/>
          </p:cNvGrpSpPr>
          <p:nvPr/>
        </p:nvGrpSpPr>
        <p:grpSpPr bwMode="auto">
          <a:xfrm>
            <a:off x="250825" y="260350"/>
            <a:ext cx="8850313" cy="1196975"/>
            <a:chOff x="0" y="288"/>
            <a:chExt cx="5760" cy="864"/>
          </a:xfrm>
        </p:grpSpPr>
        <p:sp>
          <p:nvSpPr>
            <p:cNvPr id="86021" name="Rectangle 6"/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86022" name="Rectangle 7"/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86023" name="Rectangle 8"/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86024" name="Rectangle 9"/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86025" name="Rectangle 10"/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  <p:sp>
          <p:nvSpPr>
            <p:cNvPr id="86026" name="Rectangle 11"/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2400">
                <a:latin typeface="Tahoma" pitchFamily="34" charset="0"/>
              </a:endParaRPr>
            </a:p>
          </p:txBody>
        </p:sp>
      </p:grpSp>
      <p:sp>
        <p:nvSpPr>
          <p:cNvPr id="86020" name="Text Box 12"/>
          <p:cNvSpPr txBox="1">
            <a:spLocks noChangeArrowheads="1"/>
          </p:cNvSpPr>
          <p:nvPr/>
        </p:nvSpPr>
        <p:spPr bwMode="auto">
          <a:xfrm>
            <a:off x="1750219" y="257403"/>
            <a:ext cx="5041900" cy="133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1" hangingPunct="1">
              <a:lnSpc>
                <a:spcPct val="160000"/>
              </a:lnSpc>
            </a:pPr>
            <a:r>
              <a:rPr lang="en-US" altLang="zh-CN" sz="2800" b="1" dirty="0">
                <a:solidFill>
                  <a:srgbClr val="660033"/>
                </a:solidFill>
              </a:rPr>
              <a:t>§5  </a:t>
            </a:r>
            <a:r>
              <a:rPr lang="zh-CN" altLang="en-US" sz="2800" b="1" dirty="0">
                <a:solidFill>
                  <a:srgbClr val="660033"/>
                </a:solidFill>
              </a:rPr>
              <a:t>嵌入式</a:t>
            </a:r>
            <a:r>
              <a:rPr lang="en-US" altLang="zh-CN" sz="2800" b="1" dirty="0">
                <a:solidFill>
                  <a:srgbClr val="660033"/>
                </a:solidFill>
              </a:rPr>
              <a:t>SQL</a:t>
            </a:r>
            <a:endParaRPr lang="zh-CN" altLang="en-US" sz="2800" b="1" dirty="0">
              <a:solidFill>
                <a:srgbClr val="660033"/>
              </a:solidFill>
            </a:endParaRPr>
          </a:p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endParaRPr lang="en-US" altLang="zh-CN" sz="2800" b="1" dirty="0">
              <a:solidFill>
                <a:srgbClr val="660033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0" y="228600"/>
            <a:ext cx="903649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304800"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rgbClr val="660033"/>
                </a:solidFill>
              </a:rPr>
              <a:t>使用差别：</a:t>
            </a:r>
            <a:r>
              <a:rPr lang="en-US" altLang="zh-CN" sz="2800" b="1" dirty="0">
                <a:solidFill>
                  <a:srgbClr val="000066"/>
                </a:solidFill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</a:rPr>
              <a:t>是</a:t>
            </a:r>
            <a:r>
              <a:rPr lang="zh-CN" altLang="en-US" sz="2800" b="1" dirty="0">
                <a:solidFill>
                  <a:schemeClr val="bg2"/>
                </a:solidFill>
              </a:rPr>
              <a:t>基于关系数据模型的语言</a:t>
            </a:r>
            <a:r>
              <a:rPr lang="en-US" altLang="zh-CN" sz="2800" b="1" dirty="0">
                <a:solidFill>
                  <a:schemeClr val="bg2"/>
                </a:solidFill>
              </a:rPr>
              <a:t>;</a:t>
            </a:r>
          </a:p>
          <a:p>
            <a:pPr indent="304800" algn="just">
              <a:lnSpc>
                <a:spcPct val="20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</a:t>
            </a:r>
            <a:r>
              <a:rPr lang="zh-CN" altLang="en-US" sz="2800" b="1" dirty="0">
                <a:solidFill>
                  <a:srgbClr val="000066"/>
                </a:solidFill>
              </a:rPr>
              <a:t>高级语言是</a:t>
            </a:r>
            <a:r>
              <a:rPr lang="zh-CN" altLang="en-US" sz="2800" b="1" dirty="0">
                <a:solidFill>
                  <a:schemeClr val="bg2"/>
                </a:solidFill>
              </a:rPr>
              <a:t>基于基本数据类型（整型、字</a:t>
            </a: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符串型、记录、数组等）和对象的语言。    </a:t>
            </a:r>
          </a:p>
        </p:txBody>
      </p:sp>
      <p:sp>
        <p:nvSpPr>
          <p:cNvPr id="899075" name="Rectangle 3"/>
          <p:cNvSpPr>
            <a:spLocks noChangeArrowheads="1"/>
          </p:cNvSpPr>
          <p:nvPr/>
        </p:nvSpPr>
        <p:spPr bwMode="auto">
          <a:xfrm>
            <a:off x="228600" y="3100388"/>
            <a:ext cx="8807896" cy="33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譬如，</a:t>
            </a:r>
            <a:r>
              <a:rPr lang="en-US" altLang="zh-CN" sz="2800" b="1" dirty="0">
                <a:solidFill>
                  <a:srgbClr val="660033"/>
                </a:solidFill>
              </a:rPr>
              <a:t>SQL</a:t>
            </a:r>
            <a:r>
              <a:rPr lang="zh-CN" altLang="en-US" sz="2800" b="1" dirty="0">
                <a:solidFill>
                  <a:srgbClr val="660033"/>
                </a:solidFill>
              </a:rPr>
              <a:t>语句不能直接使用指针、数组等数据结构；</a:t>
            </a:r>
            <a:r>
              <a:rPr lang="zh-CN" altLang="en-US" sz="2800" b="1" dirty="0">
                <a:solidFill>
                  <a:schemeClr val="bg2"/>
                </a:solidFill>
              </a:rPr>
              <a:t>   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660033"/>
                </a:solidFill>
              </a:rPr>
              <a:t>      高级语言一般不能直接对关系进行操作。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 为了能在宿主语言的程序中嵌入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语句，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必须作某些规定。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075" grpId="0" autoUpdateAnimBg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611188" y="836613"/>
            <a:ext cx="8534400" cy="47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20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嵌入式</a:t>
            </a:r>
            <a:r>
              <a:rPr lang="en-US" altLang="zh-CN" sz="2800" b="1" dirty="0">
                <a:solidFill>
                  <a:srgbClr val="000066"/>
                </a:solidFill>
              </a:rPr>
              <a:t>SQL</a:t>
            </a:r>
            <a:r>
              <a:rPr lang="zh-CN" altLang="en-US" sz="2800" b="1" dirty="0">
                <a:solidFill>
                  <a:srgbClr val="000066"/>
                </a:solidFill>
              </a:rPr>
              <a:t>的实现，有两种处理方式：</a:t>
            </a:r>
          </a:p>
          <a:p>
            <a:pPr algn="just" eaLnBrk="0" hangingPunct="0">
              <a:lnSpc>
                <a:spcPct val="20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1</a:t>
            </a:r>
            <a:r>
              <a:rPr lang="zh-CN" altLang="en-US" sz="2800" b="1" dirty="0">
                <a:solidFill>
                  <a:schemeClr val="bg2"/>
                </a:solidFill>
              </a:rPr>
              <a:t>、扩充宿主语言的编译程序，使之能处理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语句；  </a:t>
            </a:r>
          </a:p>
          <a:p>
            <a:pPr algn="just" eaLnBrk="0" hangingPunct="0">
              <a:lnSpc>
                <a:spcPct val="20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2</a:t>
            </a:r>
            <a:r>
              <a:rPr lang="zh-CN" altLang="en-US" sz="2800" b="1" dirty="0">
                <a:solidFill>
                  <a:schemeClr val="bg2"/>
                </a:solidFill>
              </a:rPr>
              <a:t>、</a:t>
            </a:r>
            <a:r>
              <a:rPr lang="zh-CN" altLang="en-US" sz="2800" b="1" dirty="0">
                <a:solidFill>
                  <a:srgbClr val="FF0000"/>
                </a:solidFill>
              </a:rPr>
              <a:t>采用预处理方式</a:t>
            </a:r>
            <a:r>
              <a:rPr lang="zh-CN" altLang="en-US" sz="2800" b="1" dirty="0">
                <a:solidFill>
                  <a:schemeClr val="bg2"/>
                </a:solidFill>
              </a:rPr>
              <a:t>。</a:t>
            </a:r>
          </a:p>
          <a:p>
            <a:pPr algn="just" eaLnBrk="0" hangingPunct="0">
              <a:lnSpc>
                <a:spcPct val="20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目前多数系统采用后一种方式。</a:t>
            </a:r>
          </a:p>
          <a:p>
            <a:pPr algn="just" eaLnBrk="0" hangingPunct="0">
              <a:spcBef>
                <a:spcPct val="50000"/>
              </a:spcBef>
            </a:pP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ChangeArrowheads="1"/>
          </p:cNvSpPr>
          <p:nvPr/>
        </p:nvSpPr>
        <p:spPr bwMode="auto">
          <a:xfrm>
            <a:off x="0" y="0"/>
            <a:ext cx="9144000" cy="668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000066"/>
                </a:solidFill>
              </a:rPr>
              <a:t>   </a:t>
            </a:r>
            <a:r>
              <a:rPr lang="zh-CN" altLang="en-US" sz="3200" b="1" dirty="0">
                <a:solidFill>
                  <a:srgbClr val="000066"/>
                </a:solidFill>
              </a:rPr>
              <a:t>预处理方式是</a:t>
            </a:r>
            <a:r>
              <a:rPr lang="en-US" altLang="zh-CN" sz="3200" b="1" dirty="0">
                <a:solidFill>
                  <a:srgbClr val="000066"/>
                </a:solidFill>
              </a:rPr>
              <a:t>: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</a:t>
            </a:r>
            <a:r>
              <a:rPr lang="zh-CN" altLang="en-US" sz="3200" b="1" dirty="0">
                <a:solidFill>
                  <a:schemeClr val="bg2"/>
                </a:solidFill>
              </a:rPr>
              <a:t>先由预处理程序对源程序进行扫描，识别出</a:t>
            </a:r>
            <a:r>
              <a:rPr lang="en-US" altLang="zh-CN" sz="3200" b="1" dirty="0">
                <a:solidFill>
                  <a:schemeClr val="bg2"/>
                </a:solidFill>
              </a:rPr>
              <a:t>SQL</a:t>
            </a:r>
            <a:r>
              <a:rPr lang="zh-CN" altLang="en-US" sz="3200" b="1" dirty="0">
                <a:solidFill>
                  <a:schemeClr val="bg2"/>
                </a:solidFill>
              </a:rPr>
              <a:t>语句，并处理成宿主语言的</a:t>
            </a:r>
            <a:r>
              <a:rPr lang="zh-CN" altLang="en-US" sz="3200" b="1" dirty="0">
                <a:solidFill>
                  <a:srgbClr val="FF0000"/>
                </a:solidFill>
              </a:rPr>
              <a:t>函数调用</a:t>
            </a:r>
            <a:r>
              <a:rPr lang="zh-CN" altLang="en-US" sz="3200" b="1" dirty="0">
                <a:solidFill>
                  <a:schemeClr val="bg2"/>
                </a:solidFill>
              </a:rPr>
              <a:t>形式；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 然后再用宿主语言的编译程序把源程序</a:t>
            </a:r>
            <a:r>
              <a:rPr lang="zh-CN" altLang="en-US" sz="3200" b="1" dirty="0">
                <a:solidFill>
                  <a:srgbClr val="FF0000"/>
                </a:solidFill>
              </a:rPr>
              <a:t>编译</a:t>
            </a:r>
            <a:r>
              <a:rPr lang="zh-CN" altLang="en-US" sz="3200" b="1" dirty="0">
                <a:solidFill>
                  <a:schemeClr val="bg2"/>
                </a:solidFill>
              </a:rPr>
              <a:t>成目标程序。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 通常</a:t>
            </a:r>
            <a:r>
              <a:rPr lang="en-US" altLang="zh-CN" sz="3200" b="1" dirty="0">
                <a:solidFill>
                  <a:schemeClr val="bg2"/>
                </a:solidFill>
              </a:rPr>
              <a:t>DBMS</a:t>
            </a:r>
            <a:r>
              <a:rPr lang="zh-CN" altLang="en-US" sz="3200" b="1" dirty="0">
                <a:solidFill>
                  <a:schemeClr val="bg2"/>
                </a:solidFill>
              </a:rPr>
              <a:t>制造商提供一个</a:t>
            </a:r>
            <a:r>
              <a:rPr lang="en-US" altLang="zh-CN" sz="3200" b="1" dirty="0">
                <a:solidFill>
                  <a:schemeClr val="bg2"/>
                </a:solidFill>
              </a:rPr>
              <a:t>SQL</a:t>
            </a:r>
            <a:r>
              <a:rPr lang="zh-CN" altLang="en-US" sz="3200" b="1" dirty="0">
                <a:solidFill>
                  <a:schemeClr val="bg2"/>
                </a:solidFill>
              </a:rPr>
              <a:t>函数定义库，供编译时使用。源程序的预处理和编译的具体过程如下图所示：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14" name="Group 4"/>
          <p:cNvGrpSpPr>
            <a:grpSpLocks/>
          </p:cNvGrpSpPr>
          <p:nvPr/>
        </p:nvGrpSpPr>
        <p:grpSpPr bwMode="auto">
          <a:xfrm>
            <a:off x="1476375" y="476250"/>
            <a:ext cx="5791200" cy="6062663"/>
            <a:chOff x="480" y="69"/>
            <a:chExt cx="3648" cy="3819"/>
          </a:xfrm>
        </p:grpSpPr>
        <p:grpSp>
          <p:nvGrpSpPr>
            <p:cNvPr id="90115" name="Group 5"/>
            <p:cNvGrpSpPr>
              <a:grpSpLocks/>
            </p:cNvGrpSpPr>
            <p:nvPr/>
          </p:nvGrpSpPr>
          <p:grpSpPr bwMode="auto">
            <a:xfrm>
              <a:off x="480" y="69"/>
              <a:ext cx="3648" cy="3819"/>
              <a:chOff x="288" y="0"/>
              <a:chExt cx="3648" cy="3819"/>
            </a:xfrm>
          </p:grpSpPr>
          <p:sp>
            <p:nvSpPr>
              <p:cNvPr id="90117" name="Rectangle 6"/>
              <p:cNvSpPr>
                <a:spLocks noChangeArrowheads="1"/>
              </p:cNvSpPr>
              <p:nvPr/>
            </p:nvSpPr>
            <p:spPr bwMode="auto">
              <a:xfrm>
                <a:off x="1200" y="3312"/>
                <a:ext cx="1705" cy="5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0" hangingPunct="0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3600" b="1">
                    <a:solidFill>
                      <a:schemeClr val="bg2"/>
                    </a:solidFill>
                    <a:sym typeface="Symbol" pitchFamily="18" charset="2"/>
                  </a:rPr>
                  <a:t>目标程序</a:t>
                </a:r>
              </a:p>
            </p:txBody>
          </p:sp>
          <p:sp>
            <p:nvSpPr>
              <p:cNvPr id="90118" name="Rectangle 7"/>
              <p:cNvSpPr>
                <a:spLocks noChangeArrowheads="1"/>
              </p:cNvSpPr>
              <p:nvPr/>
            </p:nvSpPr>
            <p:spPr bwMode="auto">
              <a:xfrm>
                <a:off x="288" y="0"/>
                <a:ext cx="3411" cy="5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0" hangingPunct="0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zh-CN" altLang="en-US" sz="3600" b="1">
                    <a:solidFill>
                      <a:srgbClr val="660033"/>
                    </a:solidFill>
                  </a:rPr>
                  <a:t>宿主语言十嵌入式</a:t>
                </a:r>
                <a:r>
                  <a:rPr lang="en-US" altLang="zh-CN" sz="3600" b="1">
                    <a:solidFill>
                      <a:srgbClr val="660033"/>
                    </a:solidFill>
                  </a:rPr>
                  <a:t>SQL</a:t>
                </a:r>
                <a:r>
                  <a:rPr lang="en-US" altLang="zh-CN" sz="3600">
                    <a:solidFill>
                      <a:srgbClr val="660033"/>
                    </a:solidFill>
                    <a:sym typeface="Symbol" pitchFamily="18" charset="2"/>
                  </a:rPr>
                  <a:t>                                </a:t>
                </a:r>
                <a:r>
                  <a:rPr lang="en-US" altLang="zh-CN" sz="3600">
                    <a:solidFill>
                      <a:srgbClr val="660033"/>
                    </a:solidFill>
                  </a:rPr>
                  <a:t>    </a:t>
                </a:r>
              </a:p>
            </p:txBody>
          </p:sp>
          <p:sp>
            <p:nvSpPr>
              <p:cNvPr id="90119" name="Rectangle 8"/>
              <p:cNvSpPr>
                <a:spLocks noChangeArrowheads="1"/>
              </p:cNvSpPr>
              <p:nvPr/>
            </p:nvSpPr>
            <p:spPr bwMode="auto">
              <a:xfrm>
                <a:off x="1776" y="480"/>
                <a:ext cx="290" cy="4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 sz="3600">
                    <a:solidFill>
                      <a:schemeClr val="bg2"/>
                    </a:solidFill>
                    <a:sym typeface="Symbol" pitchFamily="18" charset="2"/>
                  </a:rPr>
                  <a:t></a:t>
                </a:r>
              </a:p>
            </p:txBody>
          </p:sp>
          <p:sp>
            <p:nvSpPr>
              <p:cNvPr id="90120" name="Text Box 9"/>
              <p:cNvSpPr txBox="1">
                <a:spLocks noChangeArrowheads="1"/>
              </p:cNvSpPr>
              <p:nvPr/>
            </p:nvSpPr>
            <p:spPr bwMode="auto">
              <a:xfrm>
                <a:off x="431" y="830"/>
                <a:ext cx="3410" cy="4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lang="en-US" altLang="zh-CN" sz="3600">
                    <a:solidFill>
                      <a:schemeClr val="bg2"/>
                    </a:solidFill>
                  </a:rPr>
                  <a:t> </a:t>
                </a:r>
                <a:r>
                  <a:rPr lang="zh-CN" altLang="en-US" sz="4000" b="1">
                    <a:solidFill>
                      <a:schemeClr val="bg2"/>
                    </a:solidFill>
                  </a:rPr>
                  <a:t>预 </a:t>
                </a:r>
                <a:r>
                  <a:rPr kumimoji="0" lang="zh-CN" altLang="en-US" sz="4000" b="1">
                    <a:solidFill>
                      <a:schemeClr val="bg2"/>
                    </a:solidFill>
                    <a:latin typeface="Times New Roman" pitchFamily="18" charset="0"/>
                  </a:rPr>
                  <a:t>处 理 程  序</a:t>
                </a:r>
              </a:p>
            </p:txBody>
          </p:sp>
          <p:sp>
            <p:nvSpPr>
              <p:cNvPr id="90121" name="Text Box 10"/>
              <p:cNvSpPr txBox="1">
                <a:spLocks noChangeArrowheads="1"/>
              </p:cNvSpPr>
              <p:nvPr/>
            </p:nvSpPr>
            <p:spPr bwMode="auto">
              <a:xfrm>
                <a:off x="525" y="2546"/>
                <a:ext cx="3411" cy="4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endParaRPr kumimoji="0" lang="zh-CN" altLang="zh-CN" sz="4000" b="1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90122" name="Rectangle 11"/>
              <p:cNvSpPr>
                <a:spLocks noChangeArrowheads="1"/>
              </p:cNvSpPr>
              <p:nvPr/>
            </p:nvSpPr>
            <p:spPr bwMode="auto">
              <a:xfrm>
                <a:off x="1824" y="1323"/>
                <a:ext cx="290" cy="4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 sz="3600">
                    <a:solidFill>
                      <a:schemeClr val="bg2"/>
                    </a:solidFill>
                    <a:sym typeface="Symbol" pitchFamily="18" charset="2"/>
                  </a:rPr>
                  <a:t></a:t>
                </a:r>
              </a:p>
            </p:txBody>
          </p:sp>
          <p:sp>
            <p:nvSpPr>
              <p:cNvPr id="90123" name="Rectangle 12"/>
              <p:cNvSpPr>
                <a:spLocks noChangeArrowheads="1"/>
              </p:cNvSpPr>
              <p:nvPr/>
            </p:nvSpPr>
            <p:spPr bwMode="auto">
              <a:xfrm>
                <a:off x="480" y="1555"/>
                <a:ext cx="2852" cy="5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>
                  <a:lnSpc>
                    <a:spcPct val="130000"/>
                  </a:lnSpc>
                  <a:spcBef>
                    <a:spcPct val="50000"/>
                  </a:spcBef>
                </a:pPr>
                <a:r>
                  <a:rPr lang="en-US" altLang="zh-CN" sz="3600">
                    <a:solidFill>
                      <a:schemeClr val="bg2"/>
                    </a:solidFill>
                    <a:sym typeface="Symbol" pitchFamily="18" charset="2"/>
                  </a:rPr>
                  <a:t> </a:t>
                </a:r>
                <a:r>
                  <a:rPr lang="zh-CN" altLang="en-US" sz="3600" b="1">
                    <a:solidFill>
                      <a:srgbClr val="660033"/>
                    </a:solidFill>
                    <a:sym typeface="Symbol" pitchFamily="18" charset="2"/>
                  </a:rPr>
                  <a:t>宿主语言十函数调用</a:t>
                </a:r>
              </a:p>
            </p:txBody>
          </p:sp>
          <p:sp>
            <p:nvSpPr>
              <p:cNvPr id="90124" name="Rectangle 13"/>
              <p:cNvSpPr>
                <a:spLocks noChangeArrowheads="1"/>
              </p:cNvSpPr>
              <p:nvPr/>
            </p:nvSpPr>
            <p:spPr bwMode="auto">
              <a:xfrm>
                <a:off x="1824" y="2092"/>
                <a:ext cx="288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 sz="3600">
                    <a:solidFill>
                      <a:schemeClr val="bg2"/>
                    </a:solidFill>
                    <a:sym typeface="Symbol" pitchFamily="18" charset="2"/>
                  </a:rPr>
                  <a:t></a:t>
                </a:r>
              </a:p>
            </p:txBody>
          </p:sp>
          <p:sp>
            <p:nvSpPr>
              <p:cNvPr id="90125" name="Rectangle 14"/>
              <p:cNvSpPr>
                <a:spLocks noChangeArrowheads="1"/>
              </p:cNvSpPr>
              <p:nvPr/>
            </p:nvSpPr>
            <p:spPr bwMode="auto">
              <a:xfrm>
                <a:off x="1872" y="3024"/>
                <a:ext cx="288" cy="40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altLang="zh-CN" sz="3600">
                    <a:solidFill>
                      <a:schemeClr val="bg2"/>
                    </a:solidFill>
                    <a:sym typeface="Symbol" pitchFamily="18" charset="2"/>
                  </a:rPr>
                  <a:t></a:t>
                </a:r>
              </a:p>
            </p:txBody>
          </p:sp>
        </p:grpSp>
        <p:sp>
          <p:nvSpPr>
            <p:cNvPr id="90116" name="Rectangle 15"/>
            <p:cNvSpPr>
              <a:spLocks noChangeArrowheads="1"/>
            </p:cNvSpPr>
            <p:nvPr/>
          </p:nvSpPr>
          <p:spPr bwMode="auto">
            <a:xfrm>
              <a:off x="996" y="2659"/>
              <a:ext cx="275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4000" b="1">
                  <a:solidFill>
                    <a:schemeClr val="bg2"/>
                  </a:solidFill>
                  <a:sym typeface="Symbol" pitchFamily="18" charset="2"/>
                </a:rPr>
                <a:t>宿主语言编译</a:t>
              </a:r>
              <a:r>
                <a:rPr kumimoji="0" lang="zh-CN" altLang="en-US" sz="4000" b="1">
                  <a:solidFill>
                    <a:schemeClr val="bg2"/>
                  </a:solidFill>
                  <a:latin typeface="Times New Roman" pitchFamily="18" charset="0"/>
                </a:rPr>
                <a:t>程 序</a:t>
              </a:r>
            </a:p>
          </p:txBody>
        </p: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0" y="404813"/>
            <a:ext cx="8893175" cy="284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3600" b="1" dirty="0">
                <a:solidFill>
                  <a:srgbClr val="000066"/>
                </a:solidFill>
              </a:rPr>
              <a:t>一、嵌入式</a:t>
            </a:r>
            <a:r>
              <a:rPr lang="en-US" altLang="zh-CN" sz="3600" b="1" dirty="0">
                <a:solidFill>
                  <a:srgbClr val="000066"/>
                </a:solidFill>
              </a:rPr>
              <a:t>SQL</a:t>
            </a:r>
            <a:r>
              <a:rPr lang="zh-CN" altLang="en-US" sz="3600" b="1" dirty="0">
                <a:solidFill>
                  <a:srgbClr val="000066"/>
                </a:solidFill>
              </a:rPr>
              <a:t>使用时必须</a:t>
            </a:r>
            <a:r>
              <a:rPr lang="zh-CN" altLang="en-US" sz="3600" b="1" dirty="0">
                <a:solidFill>
                  <a:srgbClr val="000066"/>
                </a:solidFill>
                <a:latin typeface="Times New Roman" pitchFamily="18" charset="0"/>
              </a:rPr>
              <a:t>解决的问题</a:t>
            </a:r>
          </a:p>
          <a:p>
            <a:pPr indent="266700" algn="just" eaLnBrk="0" hangingPunct="0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①为区分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语句与宿主语言语句，在所有的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语句前必须加上前缀标识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en-US" altLang="zh-CN" sz="2800" b="1" dirty="0">
                <a:solidFill>
                  <a:schemeClr val="bg2"/>
                </a:solidFill>
              </a:rPr>
              <a:t>EXEC  SQL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</a:rPr>
              <a:t>，并以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en-US" altLang="zh-CN" sz="2800" b="1" dirty="0">
                <a:solidFill>
                  <a:schemeClr val="bg2"/>
                </a:solidFill>
              </a:rPr>
              <a:t>END EXEC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</a:rPr>
              <a:t>作为语句结束标志。</a:t>
            </a:r>
          </a:p>
        </p:txBody>
      </p:sp>
      <p:sp>
        <p:nvSpPr>
          <p:cNvPr id="903171" name="Rectangle 3"/>
          <p:cNvSpPr>
            <a:spLocks noChangeArrowheads="1"/>
          </p:cNvSpPr>
          <p:nvPr/>
        </p:nvSpPr>
        <p:spPr bwMode="auto">
          <a:xfrm>
            <a:off x="179512" y="3501008"/>
            <a:ext cx="8839200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2"/>
                </a:solidFill>
              </a:rPr>
              <a:t>格式：  </a:t>
            </a:r>
            <a:r>
              <a:rPr lang="en-US" altLang="zh-CN" sz="3600" b="1" dirty="0">
                <a:solidFill>
                  <a:srgbClr val="000066"/>
                </a:solidFill>
              </a:rPr>
              <a:t>EXEC SQL</a:t>
            </a:r>
            <a:r>
              <a:rPr lang="en-US" altLang="zh-CN" sz="3600" b="1" dirty="0">
                <a:solidFill>
                  <a:schemeClr val="bg2"/>
                </a:solidFill>
              </a:rPr>
              <a:t> </a:t>
            </a:r>
            <a:r>
              <a:rPr lang="en-US" altLang="zh-CN" sz="3600" b="1" dirty="0">
                <a:solidFill>
                  <a:srgbClr val="660033"/>
                </a:solidFill>
              </a:rPr>
              <a:t>&lt;SQL</a:t>
            </a:r>
            <a:r>
              <a:rPr lang="zh-CN" altLang="en-US" sz="3600" b="1" dirty="0">
                <a:solidFill>
                  <a:srgbClr val="660033"/>
                </a:solidFill>
              </a:rPr>
              <a:t>语句</a:t>
            </a:r>
            <a:r>
              <a:rPr lang="en-US" altLang="zh-CN" sz="3600" b="1" dirty="0">
                <a:solidFill>
                  <a:srgbClr val="660033"/>
                </a:solidFill>
              </a:rPr>
              <a:t>&gt;</a:t>
            </a:r>
            <a:r>
              <a:rPr lang="en-US" altLang="zh-CN" sz="3600" b="1" dirty="0">
                <a:solidFill>
                  <a:schemeClr val="bg2"/>
                </a:solidFill>
              </a:rPr>
              <a:t> END</a:t>
            </a:r>
            <a:r>
              <a:rPr lang="zh-CN" altLang="en-US" sz="3600" b="1" dirty="0">
                <a:solidFill>
                  <a:schemeClr val="bg2"/>
                </a:solidFill>
              </a:rPr>
              <a:t>＿</a:t>
            </a:r>
            <a:r>
              <a:rPr lang="en-US" altLang="zh-CN" sz="3600" b="1" dirty="0">
                <a:solidFill>
                  <a:schemeClr val="bg2"/>
                </a:solidFill>
              </a:rPr>
              <a:t>EXEC</a:t>
            </a:r>
            <a:endParaRPr lang="en-US" altLang="zh-CN" sz="36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endParaRPr lang="en-US" altLang="zh-CN" sz="2400" dirty="0">
              <a:solidFill>
                <a:schemeClr val="bg2"/>
              </a:solidFill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bg2"/>
                </a:solidFill>
              </a:rPr>
              <a:t>结束标志在不同的宿主语言中是不同的，在</a:t>
            </a:r>
            <a:r>
              <a:rPr lang="en-US" altLang="zh-CN" sz="2400" dirty="0">
                <a:solidFill>
                  <a:schemeClr val="bg2"/>
                </a:solidFill>
              </a:rPr>
              <a:t>C</a:t>
            </a:r>
            <a:r>
              <a:rPr lang="zh-CN" altLang="en-US" sz="2400" dirty="0">
                <a:solidFill>
                  <a:schemeClr val="bg2"/>
                </a:solidFill>
              </a:rPr>
              <a:t>语言程序中规定结束标志不用</a:t>
            </a:r>
            <a:r>
              <a:rPr lang="en-US" altLang="zh-CN" sz="2400" dirty="0">
                <a:solidFill>
                  <a:schemeClr val="bg2"/>
                </a:solidFill>
              </a:rPr>
              <a:t>END_EXEC</a:t>
            </a:r>
            <a:r>
              <a:rPr lang="zh-CN" altLang="en-US" sz="2400" dirty="0">
                <a:solidFill>
                  <a:schemeClr val="bg2"/>
                </a:solidFill>
              </a:rPr>
              <a:t>，而使用分号</a:t>
            </a:r>
            <a:r>
              <a:rPr lang="zh-CN" altLang="en-US" sz="2400" dirty="0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zh-CN" altLang="en-US" sz="2400" dirty="0">
                <a:solidFill>
                  <a:schemeClr val="bg2"/>
                </a:solidFill>
              </a:rPr>
              <a:t> ；</a:t>
            </a:r>
            <a:r>
              <a:rPr lang="zh-CN" altLang="en-US" sz="2400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400" dirty="0">
                <a:solidFill>
                  <a:schemeClr val="bg2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0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build="p"/>
      <p:bldP spid="903171" grpId="0" autoUpdateAnimBg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0" y="-95250"/>
            <a:ext cx="9144000" cy="244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chemeClr val="bg2"/>
                </a:solidFill>
              </a:rPr>
              <a:t>② </a:t>
            </a:r>
            <a:r>
              <a:rPr lang="zh-CN" altLang="en-US" sz="2800" b="1">
                <a:solidFill>
                  <a:schemeClr val="bg2"/>
                </a:solidFill>
              </a:rPr>
              <a:t>数据库工作单元和主程序工作单元之间的通讯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    允许嵌入的</a:t>
            </a:r>
            <a:r>
              <a:rPr lang="en-US" altLang="zh-CN" sz="2800" b="1">
                <a:solidFill>
                  <a:schemeClr val="bg2"/>
                </a:solidFill>
              </a:rPr>
              <a:t>SQL</a:t>
            </a:r>
            <a:r>
              <a:rPr lang="zh-CN" altLang="en-US" sz="2800" b="1">
                <a:solidFill>
                  <a:schemeClr val="bg2"/>
                </a:solidFill>
              </a:rPr>
              <a:t>语句引用宿主语言的程序变量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 （称为共享变量）。</a:t>
            </a:r>
          </a:p>
        </p:txBody>
      </p:sp>
      <p:sp>
        <p:nvSpPr>
          <p:cNvPr id="904195" name="Rectangle 3"/>
          <p:cNvSpPr>
            <a:spLocks noChangeArrowheads="1"/>
          </p:cNvSpPr>
          <p:nvPr/>
        </p:nvSpPr>
        <p:spPr bwMode="auto">
          <a:xfrm>
            <a:off x="3491880" y="1616075"/>
            <a:ext cx="47244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</a:rPr>
              <a:t>并规定</a:t>
            </a:r>
            <a:r>
              <a:rPr lang="en-US" altLang="zh-CN" sz="2800" b="1" dirty="0">
                <a:solidFill>
                  <a:srgbClr val="000066"/>
                </a:solidFill>
              </a:rPr>
              <a:t>:</a:t>
            </a:r>
            <a:r>
              <a:rPr lang="en-US" altLang="zh-CN" sz="2400" b="1" dirty="0">
                <a:solidFill>
                  <a:srgbClr val="000066"/>
                </a:solidFill>
              </a:rPr>
              <a:t>  </a:t>
            </a:r>
          </a:p>
        </p:txBody>
      </p:sp>
      <p:sp>
        <p:nvSpPr>
          <p:cNvPr id="904196" name="Rectangle 4"/>
          <p:cNvSpPr>
            <a:spLocks noChangeArrowheads="1"/>
          </p:cNvSpPr>
          <p:nvPr/>
        </p:nvSpPr>
        <p:spPr bwMode="auto">
          <a:xfrm>
            <a:off x="76200" y="2420938"/>
            <a:ext cx="9144000" cy="423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sym typeface="Symbol" pitchFamily="18" charset="2"/>
              </a:rPr>
              <a:t>   </a:t>
            </a:r>
            <a:r>
              <a:rPr lang="zh-CN" altLang="en-US" sz="2400" b="1" dirty="0">
                <a:solidFill>
                  <a:srgbClr val="660033"/>
                </a:solidFill>
              </a:rPr>
              <a:t>在引用这些变量时必须在这些变量前加冒号</a:t>
            </a:r>
            <a:r>
              <a:rPr lang="zh-CN" altLang="en-US" sz="2400" b="1" dirty="0">
                <a:solidFill>
                  <a:srgbClr val="660033"/>
                </a:solidFill>
                <a:latin typeface="Times New Roman" pitchFamily="18" charset="0"/>
              </a:rPr>
              <a:t>“</a:t>
            </a:r>
            <a:r>
              <a:rPr lang="zh-CN" altLang="en-US" sz="2400" b="1" dirty="0">
                <a:solidFill>
                  <a:srgbClr val="660033"/>
                </a:solidFill>
              </a:rPr>
              <a:t> </a:t>
            </a:r>
            <a:r>
              <a:rPr lang="zh-CN" altLang="en-US" sz="2400" b="1" dirty="0">
                <a:solidFill>
                  <a:srgbClr val="660033"/>
                </a:solidFill>
                <a:highlight>
                  <a:srgbClr val="FFFF00"/>
                </a:highlight>
              </a:rPr>
              <a:t>：</a:t>
            </a:r>
            <a:r>
              <a:rPr lang="zh-CN" altLang="en-US" sz="2400" b="1" dirty="0">
                <a:solidFill>
                  <a:srgbClr val="660033"/>
                </a:solidFill>
                <a:latin typeface="Times New Roman" pitchFamily="18" charset="0"/>
              </a:rPr>
              <a:t>”</a:t>
            </a:r>
            <a:r>
              <a:rPr lang="zh-CN" altLang="en-US" sz="2400" b="1" dirty="0">
                <a:solidFill>
                  <a:srgbClr val="660033"/>
                </a:solidFill>
              </a:rPr>
              <a:t>作为前缀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660033"/>
                </a:solidFill>
              </a:rPr>
              <a:t>    标识，以示与数据库中变量有区别</a:t>
            </a:r>
            <a:r>
              <a:rPr lang="en-US" altLang="zh-CN" sz="2400" b="1" dirty="0">
                <a:solidFill>
                  <a:srgbClr val="660033"/>
                </a:solidFill>
              </a:rPr>
              <a:t>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sym typeface="Symbol" pitchFamily="18" charset="2"/>
              </a:rPr>
              <a:t>   </a:t>
            </a:r>
            <a:r>
              <a:rPr lang="zh-CN" altLang="en-US" sz="2400" b="1" dirty="0">
                <a:solidFill>
                  <a:schemeClr val="bg2"/>
                </a:solidFill>
              </a:rPr>
              <a:t>这些变量由宿主语言的程序定义</a:t>
            </a:r>
            <a:r>
              <a:rPr lang="en-US" altLang="zh-CN" sz="2400" b="1" dirty="0">
                <a:solidFill>
                  <a:schemeClr val="bg2"/>
                </a:solidFill>
              </a:rPr>
              <a:t>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sym typeface="Symbol" pitchFamily="18" charset="2"/>
              </a:rPr>
              <a:t> </a:t>
            </a:r>
            <a:r>
              <a:rPr lang="zh-CN" altLang="en-US" sz="2400" b="1" dirty="0">
                <a:solidFill>
                  <a:schemeClr val="bg2"/>
                </a:solidFill>
              </a:rPr>
              <a:t>由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的</a:t>
            </a:r>
            <a:r>
              <a:rPr lang="en-US" altLang="zh-CN" sz="2400" b="1" dirty="0">
                <a:solidFill>
                  <a:schemeClr val="bg2"/>
                </a:solidFill>
              </a:rPr>
              <a:t>BEGIN DECLARE SECTION </a:t>
            </a:r>
            <a:r>
              <a:rPr lang="zh-CN" altLang="en-US" sz="2400" b="1" dirty="0">
                <a:solidFill>
                  <a:schemeClr val="bg2"/>
                </a:solidFill>
              </a:rPr>
              <a:t>与</a:t>
            </a:r>
            <a:r>
              <a:rPr lang="en-US" altLang="zh-CN" sz="2400" b="1" dirty="0">
                <a:solidFill>
                  <a:schemeClr val="bg2"/>
                </a:solidFill>
              </a:rPr>
              <a:t>END DECLARE SECTION</a:t>
            </a:r>
            <a:r>
              <a:rPr lang="zh-CN" altLang="en-US" sz="2400" b="1" dirty="0">
                <a:solidFill>
                  <a:schemeClr val="bg2"/>
                </a:solidFill>
              </a:rPr>
              <a:t>语句之间说明。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r>
              <a:rPr lang="zh-CN" altLang="en-US" sz="2800" b="1" dirty="0">
                <a:solidFill>
                  <a:schemeClr val="hlink"/>
                </a:solidFill>
              </a:rPr>
              <a:t>而主语言不能引用数据库中的字段变量</a:t>
            </a:r>
            <a:r>
              <a:rPr lang="zh-CN" altLang="en-US" sz="2400" b="1" dirty="0">
                <a:solidFill>
                  <a:schemeClr val="hlink"/>
                </a:solidFill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5" grpId="0" autoUpdateAnimBg="0"/>
      <p:bldP spid="904196" grpId="0" autoUpdateAnimBg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-304800"/>
            <a:ext cx="9144000" cy="277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lnSpc>
                <a:spcPct val="200000"/>
              </a:lnSpc>
              <a:buFont typeface="Symbol" pitchFamily="18" charset="2"/>
              <a:buChar char="©"/>
              <a:tabLst>
                <a:tab pos="5067300" algn="l"/>
              </a:tabLst>
            </a:pPr>
            <a:r>
              <a:rPr lang="en-US" altLang="zh-CN" sz="3200" b="1">
                <a:solidFill>
                  <a:srgbClr val="000066"/>
                </a:solidFill>
              </a:rPr>
              <a:t>SQL2</a:t>
            </a:r>
            <a:r>
              <a:rPr lang="zh-CN" altLang="en-US" sz="3200" b="1">
                <a:solidFill>
                  <a:srgbClr val="000066"/>
                </a:solidFill>
              </a:rPr>
              <a:t>规定，</a:t>
            </a:r>
            <a:r>
              <a:rPr lang="en-US" altLang="zh-CN" sz="3200" b="1">
                <a:solidFill>
                  <a:srgbClr val="000066"/>
                </a:solidFill>
              </a:rPr>
              <a:t>SQLSTATE</a:t>
            </a:r>
            <a:r>
              <a:rPr lang="zh-CN" altLang="en-US" sz="3200" b="1">
                <a:solidFill>
                  <a:srgbClr val="000066"/>
                </a:solidFill>
              </a:rPr>
              <a:t>是一个特殊的共享变量，</a:t>
            </a:r>
            <a:r>
              <a:rPr lang="zh-CN" altLang="en-US" sz="3200" b="1">
                <a:solidFill>
                  <a:schemeClr val="bg2"/>
                </a:solidFill>
              </a:rPr>
              <a:t>  </a:t>
            </a:r>
          </a:p>
          <a:p>
            <a:pPr indent="266700" algn="just">
              <a:lnSpc>
                <a:spcPct val="200000"/>
              </a:lnSpc>
              <a:buFont typeface="Symbol" pitchFamily="18" charset="2"/>
              <a:buNone/>
              <a:tabLst>
                <a:tab pos="5067300" algn="l"/>
              </a:tabLst>
            </a:pPr>
            <a:r>
              <a:rPr lang="zh-CN" altLang="en-US" sz="2800" b="1">
                <a:solidFill>
                  <a:schemeClr val="bg2"/>
                </a:solidFill>
              </a:rPr>
              <a:t> 起着解释</a:t>
            </a:r>
            <a:r>
              <a:rPr lang="en-US" altLang="zh-CN" sz="2800" b="1">
                <a:solidFill>
                  <a:schemeClr val="bg2"/>
                </a:solidFill>
              </a:rPr>
              <a:t>SQL</a:t>
            </a:r>
            <a:r>
              <a:rPr lang="zh-CN" altLang="en-US" sz="2800" b="1">
                <a:solidFill>
                  <a:schemeClr val="bg2"/>
                </a:solidFill>
              </a:rPr>
              <a:t>语句执行状况的作用，是一个由</a:t>
            </a:r>
            <a:r>
              <a:rPr lang="en-US" altLang="zh-CN" sz="2800" b="1">
                <a:solidFill>
                  <a:schemeClr val="bg2"/>
                </a:solidFill>
              </a:rPr>
              <a:t>5</a:t>
            </a:r>
            <a:r>
              <a:rPr lang="zh-CN" altLang="en-US" sz="2800" b="1">
                <a:solidFill>
                  <a:schemeClr val="bg2"/>
                </a:solidFill>
              </a:rPr>
              <a:t>个字符组成的字符数组。</a:t>
            </a:r>
          </a:p>
        </p:txBody>
      </p:sp>
      <p:sp>
        <p:nvSpPr>
          <p:cNvPr id="905219" name="Rectangle 3"/>
          <p:cNvSpPr>
            <a:spLocks noChangeArrowheads="1"/>
          </p:cNvSpPr>
          <p:nvPr/>
        </p:nvSpPr>
        <p:spPr bwMode="auto">
          <a:xfrm>
            <a:off x="304800" y="2743200"/>
            <a:ext cx="9144000" cy="372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0066"/>
                </a:solidFill>
              </a:rPr>
              <a:t>SQLSTATE  = 0 :</a:t>
            </a:r>
            <a:r>
              <a:rPr lang="zh-CN" altLang="en-US" sz="2800" b="1">
                <a:solidFill>
                  <a:schemeClr val="bg2"/>
                </a:solidFill>
              </a:rPr>
              <a:t>表示</a:t>
            </a:r>
            <a:r>
              <a:rPr lang="en-US" altLang="zh-CN" sz="2800" b="1">
                <a:solidFill>
                  <a:schemeClr val="bg2"/>
                </a:solidFill>
              </a:rPr>
              <a:t>SQL</a:t>
            </a:r>
            <a:r>
              <a:rPr lang="zh-CN" altLang="en-US" sz="2800" b="1">
                <a:solidFill>
                  <a:schemeClr val="bg2"/>
                </a:solidFill>
              </a:rPr>
              <a:t>语句执行成功；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000066"/>
                </a:solidFill>
              </a:rPr>
              <a:t>SQLSTATE &lt;&gt; 0 :</a:t>
            </a:r>
            <a:r>
              <a:rPr lang="zh-CN" altLang="en-US" sz="2400" b="1">
                <a:solidFill>
                  <a:schemeClr val="bg2"/>
                </a:solidFill>
              </a:rPr>
              <a:t>表示执行</a:t>
            </a:r>
            <a:r>
              <a:rPr lang="en-US" altLang="zh-CN" sz="2400" b="1">
                <a:solidFill>
                  <a:schemeClr val="bg2"/>
                </a:solidFill>
              </a:rPr>
              <a:t>SQL</a:t>
            </a:r>
            <a:r>
              <a:rPr lang="zh-CN" altLang="en-US" sz="2400" b="1">
                <a:solidFill>
                  <a:schemeClr val="bg2"/>
                </a:solidFill>
              </a:rPr>
              <a:t>语句时发生的各种特殊情况。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譬如</a:t>
            </a:r>
            <a:r>
              <a:rPr lang="zh-CN" altLang="en-US" sz="2800" b="1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en-US" altLang="zh-CN" sz="2800" b="1">
                <a:solidFill>
                  <a:schemeClr val="bg2"/>
                </a:solidFill>
              </a:rPr>
              <a:t>02000</a:t>
            </a:r>
            <a:r>
              <a:rPr lang="en-US" altLang="zh-CN" sz="2800" b="1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b="1">
                <a:solidFill>
                  <a:schemeClr val="bg2"/>
                </a:solidFill>
              </a:rPr>
              <a:t>用来表示未找到元组。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在执行一个</a:t>
            </a:r>
            <a:r>
              <a:rPr lang="en-US" altLang="zh-CN" sz="2800" b="1">
                <a:solidFill>
                  <a:schemeClr val="bg2"/>
                </a:solidFill>
              </a:rPr>
              <a:t>SQL</a:t>
            </a:r>
            <a:r>
              <a:rPr lang="zh-CN" altLang="en-US" sz="2800" b="1">
                <a:solidFill>
                  <a:schemeClr val="bg2"/>
                </a:solidFill>
              </a:rPr>
              <a:t>语句后，程序可以根据</a:t>
            </a:r>
            <a:r>
              <a:rPr lang="en-US" altLang="zh-CN" sz="2800" b="1">
                <a:solidFill>
                  <a:schemeClr val="bg2"/>
                </a:solidFill>
              </a:rPr>
              <a:t>SQLSTATE</a:t>
            </a:r>
            <a:r>
              <a:rPr lang="zh-CN" altLang="en-US" sz="2800" b="1">
                <a:solidFill>
                  <a:schemeClr val="bg2"/>
                </a:solidFill>
              </a:rPr>
              <a:t>的值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bg2"/>
                </a:solidFill>
              </a:rPr>
              <a:t>转向不同的分支，以控制程序的流向。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219" grpId="0" autoUpdateAnimBg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34925" y="115888"/>
            <a:ext cx="9144000" cy="468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③ </a:t>
            </a:r>
            <a:r>
              <a:rPr lang="zh-CN" altLang="en-US" sz="3200" b="1" dirty="0">
                <a:solidFill>
                  <a:schemeClr val="bg2"/>
                </a:solidFill>
              </a:rPr>
              <a:t>引入游标机制：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    </a:t>
            </a:r>
            <a:r>
              <a:rPr lang="zh-CN" altLang="en-US" sz="2800" b="1" dirty="0">
                <a:solidFill>
                  <a:srgbClr val="C00000"/>
                </a:solidFill>
              </a:rPr>
              <a:t>将集合操作转换为单元组处理。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的执行是面向集合的，一条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语句原则上可以产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生或处理多条记录。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宿主语言是面向记录的，一组主变量一次只能存放</a:t>
            </a: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一条记录。</a:t>
            </a:r>
            <a:endParaRPr lang="zh-CN" altLang="en-US" sz="28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906243" name="Rectangle 3"/>
          <p:cNvSpPr>
            <a:spLocks noChangeArrowheads="1"/>
          </p:cNvSpPr>
          <p:nvPr/>
        </p:nvSpPr>
        <p:spPr bwMode="auto">
          <a:xfrm>
            <a:off x="755650" y="4724400"/>
            <a:ext cx="732631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rgbClr val="000066"/>
                </a:solidFill>
              </a:rPr>
              <a:t>为此引入游标来协调</a:t>
            </a:r>
            <a:r>
              <a:rPr lang="en-US" altLang="zh-CN" sz="3200" b="1">
                <a:solidFill>
                  <a:srgbClr val="000066"/>
                </a:solidFill>
              </a:rPr>
              <a:t>SQL</a:t>
            </a:r>
            <a:r>
              <a:rPr lang="zh-CN" altLang="en-US" sz="3200" b="1">
                <a:solidFill>
                  <a:srgbClr val="000066"/>
                </a:solidFill>
              </a:rPr>
              <a:t>语言与主语言的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>
                <a:solidFill>
                  <a:srgbClr val="000066"/>
                </a:solidFill>
              </a:rPr>
              <a:t>    不同数据处理方式。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D4E83C-E367-414A-9378-FD1E1606D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" t="20973" r="54062" b="13716"/>
          <a:stretch>
            <a:fillRect/>
          </a:stretch>
        </p:blipFill>
        <p:spPr bwMode="auto">
          <a:xfrm>
            <a:off x="179388" y="763588"/>
            <a:ext cx="577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6243" grpId="0" autoUpdateAnimBg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893E5DC-AFA7-CC4C-A88C-DD1533A89829}"/>
              </a:ext>
            </a:extLst>
          </p:cNvPr>
          <p:cNvSpPr txBox="1"/>
          <p:nvPr/>
        </p:nvSpPr>
        <p:spPr>
          <a:xfrm>
            <a:off x="359532" y="170400"/>
            <a:ext cx="8424936" cy="66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b="1" i="0" u="none" strike="noStrike" dirty="0">
                <a:solidFill>
                  <a:srgbClr val="24292E"/>
                </a:solidFill>
                <a:effectLst/>
                <a:latin typeface="-apple-system"/>
              </a:rPr>
              <a:t>游标的定义</a:t>
            </a:r>
          </a:p>
          <a:p>
            <a:pPr marL="342900" lvl="1" indent="-342900">
              <a:lnSpc>
                <a:spcPct val="150000"/>
              </a:lnSpc>
              <a:buFont typeface="Apple Symbols" panose="02000000000000000000" pitchFamily="2" charset="-79"/>
              <a:buChar char="⎼"/>
            </a:pPr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游标是一个数据库组件，它代表了数据库查询结果集中的单个行或位置。可以将其视为一个指针或光标，指向当前正在处理的数据行。</a:t>
            </a:r>
            <a:endParaRPr lang="en-US" altLang="zh-CN" sz="2000" dirty="0">
              <a:solidFill>
                <a:srgbClr val="24292E"/>
              </a:solidFill>
              <a:latin typeface="-apple-system"/>
            </a:endParaRPr>
          </a:p>
          <a:p>
            <a:pPr marL="342900" lvl="1" indent="-342900">
              <a:lnSpc>
                <a:spcPct val="150000"/>
              </a:lnSpc>
              <a:buFont typeface="Apple Symbols" panose="02000000000000000000" pitchFamily="2" charset="-79"/>
              <a:buChar char="⎼"/>
            </a:pPr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通过游标，用户可以对查询结果集进行逐行操作，包括检索、更新、删除或新增数据行。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l"/>
            </a:pPr>
            <a:r>
              <a:rPr lang="zh-CN" altLang="en-US" sz="2400" b="1" i="0" u="none" strike="noStrike" dirty="0">
                <a:solidFill>
                  <a:srgbClr val="24292E"/>
                </a:solidFill>
                <a:effectLst/>
                <a:latin typeface="-apple-system"/>
              </a:rPr>
              <a:t>游标的作用</a:t>
            </a:r>
            <a:endParaRPr lang="zh-CN" altLang="en-US" sz="2400" b="0" i="0" u="none" strike="noStrike" dirty="0">
              <a:solidFill>
                <a:srgbClr val="24292E"/>
              </a:solidFill>
              <a:effectLst/>
              <a:latin typeface="-apple-system"/>
            </a:endParaRPr>
          </a:p>
          <a:p>
            <a:pPr marL="342900" indent="-342900" algn="l">
              <a:lnSpc>
                <a:spcPct val="150000"/>
              </a:lnSpc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rgbClr val="24292E"/>
                </a:solidFill>
                <a:latin typeface="-apple-system"/>
              </a:rPr>
              <a:t>数据检索</a:t>
            </a:r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： 游标使得用户可以逐行地检索大量数据，而不是一次性加载到内存中，这有助于减少内存消耗，特别是在处理大型结果集时。</a:t>
            </a:r>
          </a:p>
          <a:p>
            <a:pPr marL="342900" indent="-342900" algn="l">
              <a:lnSpc>
                <a:spcPct val="150000"/>
              </a:lnSpc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rgbClr val="24292E"/>
                </a:solidFill>
                <a:latin typeface="-apple-system"/>
              </a:rPr>
              <a:t>数据修改</a:t>
            </a:r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： 游标可用于定位并修改特定行的数据，这对于需要部分更新的操作非常有用。</a:t>
            </a:r>
          </a:p>
          <a:p>
            <a:pPr marL="342900" indent="-342900" algn="l">
              <a:lnSpc>
                <a:spcPct val="150000"/>
              </a:lnSpc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rgbClr val="24292E"/>
                </a:solidFill>
                <a:latin typeface="-apple-system"/>
              </a:rPr>
              <a:t>数据交互</a:t>
            </a:r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： 在数据库应用程序中，游标提供了一种机制，允许用户在数据库和应用程序代码之间进行交互式数据处理。</a:t>
            </a:r>
          </a:p>
          <a:p>
            <a:pPr marL="342900" indent="-342900" algn="l">
              <a:lnSpc>
                <a:spcPct val="150000"/>
              </a:lnSpc>
              <a:buFont typeface="Apple Symbols" panose="02000000000000000000" pitchFamily="2" charset="-79"/>
              <a:buChar char="⎼"/>
            </a:pPr>
            <a:r>
              <a:rPr lang="zh-CN" altLang="en-US" sz="2000" b="1" dirty="0">
                <a:solidFill>
                  <a:srgbClr val="24292E"/>
                </a:solidFill>
                <a:latin typeface="-apple-system"/>
              </a:rPr>
              <a:t>灵活性和控制</a:t>
            </a:r>
            <a:r>
              <a:rPr lang="zh-CN" altLang="en-US" sz="2000" dirty="0">
                <a:solidFill>
                  <a:srgbClr val="24292E"/>
                </a:solidFill>
                <a:latin typeface="-apple-system"/>
              </a:rPr>
              <a:t>： 游标赋予了开发者对数据遍历顺序和处理方式的精确控制，增强了程序的灵活性。</a:t>
            </a:r>
          </a:p>
        </p:txBody>
      </p:sp>
    </p:spTree>
    <p:extLst>
      <p:ext uri="{BB962C8B-B14F-4D97-AF65-F5344CB8AC3E}">
        <p14:creationId xmlns:p14="http://schemas.microsoft.com/office/powerpoint/2010/main" val="208907171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0" y="61913"/>
            <a:ext cx="9144000" cy="2287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867400" algn="l"/>
              </a:tabLst>
            </a:pPr>
            <a:r>
              <a:rPr lang="zh-CN" altLang="en-US" sz="3200" b="1">
                <a:solidFill>
                  <a:srgbClr val="000066"/>
                </a:solidFill>
              </a:rPr>
              <a:t>二、与游标有关的语句：</a:t>
            </a:r>
            <a:endParaRPr lang="zh-CN" altLang="en-US" sz="3200" b="1">
              <a:solidFill>
                <a:srgbClr val="000066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tabLst>
                <a:tab pos="5867400" algn="l"/>
              </a:tabLst>
            </a:pPr>
            <a:r>
              <a:rPr lang="zh-CN" altLang="en-US" sz="3200" b="1">
                <a:solidFill>
                  <a:srgbClr val="660033"/>
                </a:solidFill>
              </a:rPr>
              <a:t> ① 定义游标语句（ </a:t>
            </a:r>
            <a:r>
              <a:rPr lang="en-US" altLang="zh-CN" sz="3200" b="1">
                <a:solidFill>
                  <a:srgbClr val="660033"/>
                </a:solidFill>
              </a:rPr>
              <a:t>DECLARE </a:t>
            </a:r>
            <a:r>
              <a:rPr lang="zh-CN" altLang="en-US" sz="3200" b="1">
                <a:solidFill>
                  <a:srgbClr val="660033"/>
                </a:solidFill>
              </a:rPr>
              <a:t>）</a:t>
            </a:r>
          </a:p>
          <a:p>
            <a:pPr algn="just" eaLnBrk="0" hangingPunct="0">
              <a:lnSpc>
                <a:spcPct val="150000"/>
              </a:lnSpc>
              <a:tabLst>
                <a:tab pos="5867400" algn="l"/>
              </a:tabLst>
            </a:pPr>
            <a:r>
              <a:rPr lang="zh-CN" altLang="en-US" sz="3200" b="1">
                <a:solidFill>
                  <a:schemeClr val="bg2"/>
                </a:solidFill>
              </a:rPr>
              <a:t>   游标是与某一查询结果相联系的符号名。  </a:t>
            </a:r>
          </a:p>
        </p:txBody>
      </p:sp>
      <p:sp>
        <p:nvSpPr>
          <p:cNvPr id="907267" name="Rectangle 3"/>
          <p:cNvSpPr>
            <a:spLocks noChangeArrowheads="1"/>
          </p:cNvSpPr>
          <p:nvPr/>
        </p:nvSpPr>
        <p:spPr bwMode="auto">
          <a:xfrm>
            <a:off x="-541338" y="2565400"/>
            <a:ext cx="10210801" cy="3280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  </a:t>
            </a:r>
            <a:r>
              <a:rPr lang="en-US" altLang="zh-CN" sz="3200" b="1" dirty="0">
                <a:solidFill>
                  <a:srgbClr val="000066"/>
                </a:solidFill>
              </a:rPr>
              <a:t>EXEC SQL </a:t>
            </a:r>
            <a:r>
              <a:rPr lang="en-US" altLang="zh-CN" sz="3200" b="1" dirty="0">
                <a:solidFill>
                  <a:srgbClr val="C00000"/>
                </a:solidFill>
              </a:rPr>
              <a:t>DECLARE</a:t>
            </a:r>
            <a:r>
              <a:rPr lang="en-US" altLang="zh-CN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rgbClr val="660033"/>
                </a:solidFill>
              </a:rPr>
              <a:t>&lt;</a:t>
            </a:r>
            <a:r>
              <a:rPr lang="zh-CN" altLang="en-US" sz="3200" b="1" dirty="0">
                <a:solidFill>
                  <a:srgbClr val="660033"/>
                </a:solidFill>
              </a:rPr>
              <a:t>游标名</a:t>
            </a:r>
            <a:r>
              <a:rPr lang="en-US" altLang="zh-CN" sz="3200" b="1" dirty="0">
                <a:solidFill>
                  <a:srgbClr val="660033"/>
                </a:solidFill>
              </a:rPr>
              <a:t>&gt;</a:t>
            </a:r>
            <a:r>
              <a:rPr lang="en-US" altLang="zh-CN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</a:rPr>
              <a:t>CURSOR FOR</a:t>
            </a:r>
            <a:endParaRPr lang="en-US" altLang="zh-CN" sz="3200" b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     </a:t>
            </a:r>
            <a:r>
              <a:rPr lang="en-US" altLang="zh-CN" sz="2800" b="1" dirty="0">
                <a:solidFill>
                  <a:srgbClr val="660033"/>
                </a:solidFill>
              </a:rPr>
              <a:t>&lt;SELECT</a:t>
            </a:r>
            <a:r>
              <a:rPr lang="zh-CN" altLang="en-US" sz="2800" b="1" dirty="0">
                <a:solidFill>
                  <a:srgbClr val="660033"/>
                </a:solidFill>
              </a:rPr>
              <a:t>语句</a:t>
            </a:r>
            <a:r>
              <a:rPr lang="en-US" altLang="zh-CN" sz="2800" b="1" dirty="0">
                <a:solidFill>
                  <a:srgbClr val="660033"/>
                </a:solidFill>
              </a:rPr>
              <a:t>&gt;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[FOR UPDATE [OF &lt;</a:t>
            </a:r>
            <a:r>
              <a:rPr lang="zh-CN" altLang="en-US" sz="2800" b="1" dirty="0">
                <a:solidFill>
                  <a:schemeClr val="bg2"/>
                </a:solidFill>
              </a:rPr>
              <a:t>字段名</a:t>
            </a:r>
            <a:r>
              <a:rPr lang="en-US" altLang="zh-CN" sz="2800" b="1" dirty="0">
                <a:solidFill>
                  <a:schemeClr val="bg2"/>
                </a:solidFill>
              </a:rPr>
              <a:t>1&gt; &lt;</a:t>
            </a:r>
            <a:r>
              <a:rPr lang="zh-CN" altLang="en-US" sz="2800" b="1" dirty="0">
                <a:solidFill>
                  <a:schemeClr val="bg2"/>
                </a:solidFill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</a:rPr>
              <a:t>字段名</a:t>
            </a:r>
            <a:r>
              <a:rPr lang="en-US" altLang="zh-CN" sz="2800" b="1" dirty="0">
                <a:solidFill>
                  <a:schemeClr val="bg2"/>
                </a:solidFill>
              </a:rPr>
              <a:t>n&gt;]]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  <a:endParaRPr lang="zh-CN" altLang="en-US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    </a:t>
            </a:r>
            <a:r>
              <a:rPr lang="zh-CN" altLang="en-US" sz="2400" dirty="0">
                <a:solidFill>
                  <a:schemeClr val="bg2"/>
                </a:solidFill>
              </a:rPr>
              <a:t>这是一个说明语句</a:t>
            </a:r>
            <a:r>
              <a:rPr lang="en-US" altLang="zh-CN" sz="2400" dirty="0">
                <a:solidFill>
                  <a:schemeClr val="bg2"/>
                </a:solidFill>
              </a:rPr>
              <a:t>,</a:t>
            </a:r>
            <a:r>
              <a:rPr lang="zh-CN" altLang="en-US" sz="2400" dirty="0">
                <a:solidFill>
                  <a:schemeClr val="bg2"/>
                </a:solidFill>
              </a:rPr>
              <a:t>定义中的</a:t>
            </a:r>
            <a:r>
              <a:rPr lang="en-US" altLang="zh-CN" sz="2400" dirty="0">
                <a:solidFill>
                  <a:schemeClr val="bg2"/>
                </a:solidFill>
              </a:rPr>
              <a:t>SELECT</a:t>
            </a:r>
            <a:r>
              <a:rPr lang="zh-CN" altLang="en-US" sz="2400" dirty="0">
                <a:solidFill>
                  <a:schemeClr val="bg2"/>
                </a:solidFill>
              </a:rPr>
              <a:t>语句并不立即执行。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67" grpId="0" autoUpdateAnimBg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228600" y="762000"/>
            <a:ext cx="9144000" cy="512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en-US" altLang="zh-CN" sz="3600" b="1" dirty="0">
                <a:solidFill>
                  <a:schemeClr val="bg1"/>
                </a:solidFill>
              </a:rPr>
              <a:t>EXEC SQL DECLARE</a:t>
            </a:r>
            <a:r>
              <a:rPr lang="en-US" altLang="zh-CN" sz="3600" b="1" dirty="0">
                <a:solidFill>
                  <a:schemeClr val="bg2"/>
                </a:solidFill>
              </a:rPr>
              <a:t> </a:t>
            </a:r>
            <a:r>
              <a:rPr lang="en-US" altLang="zh-CN" sz="3600" b="1" dirty="0" err="1">
                <a:solidFill>
                  <a:schemeClr val="bg2"/>
                </a:solidFill>
                <a:latin typeface="Times New Roman" pitchFamily="18" charset="0"/>
              </a:rPr>
              <a:t>scx</a:t>
            </a:r>
            <a:r>
              <a:rPr lang="en-US" altLang="zh-CN" sz="3600" b="1" dirty="0">
                <a:solidFill>
                  <a:schemeClr val="bg2"/>
                </a:solidFill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</a:rPr>
              <a:t>CURSOR FOR</a:t>
            </a:r>
            <a:endParaRPr lang="en-US" altLang="zh-CN" sz="36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3600" b="1" dirty="0">
                <a:solidFill>
                  <a:schemeClr val="bg2"/>
                </a:solidFill>
              </a:rPr>
              <a:t>  </a:t>
            </a:r>
            <a:r>
              <a:rPr lang="en-US" altLang="zh-CN" sz="3200" b="1" dirty="0">
                <a:solidFill>
                  <a:schemeClr val="bg2"/>
                </a:solidFill>
              </a:rPr>
              <a:t>SELECT SNO,CNO,GRADE 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FROM SC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WHERE SNO=</a:t>
            </a:r>
            <a:r>
              <a:rPr lang="zh-CN" altLang="en-US" sz="3200" b="1" dirty="0">
                <a:solidFill>
                  <a:schemeClr val="bg2"/>
                </a:solidFill>
              </a:rPr>
              <a:t>（</a:t>
            </a:r>
            <a:r>
              <a:rPr lang="en-US" altLang="zh-CN" sz="3200" b="1" dirty="0">
                <a:solidFill>
                  <a:schemeClr val="bg2"/>
                </a:solidFill>
              </a:rPr>
              <a:t>SELECT SNO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          FROM S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          WHERE SNAME=:</a:t>
            </a:r>
            <a:r>
              <a:rPr lang="en-US" altLang="zh-CN" sz="3200" b="1" dirty="0" err="1">
                <a:solidFill>
                  <a:schemeClr val="bg2"/>
                </a:solidFill>
              </a:rPr>
              <a:t>givensname</a:t>
            </a:r>
            <a:r>
              <a:rPr lang="en-US" altLang="zh-CN" sz="3200" b="1" dirty="0">
                <a:solidFill>
                  <a:schemeClr val="bg2"/>
                </a:solidFill>
              </a:rPr>
              <a:t>)</a:t>
            </a: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</a:t>
            </a:r>
            <a:r>
              <a:rPr lang="en-US" altLang="zh-CN" sz="3200" b="1" dirty="0">
                <a:solidFill>
                  <a:schemeClr val="bg1"/>
                </a:solidFill>
              </a:rPr>
              <a:t>FOR UPDATE  OF  GRADE</a:t>
            </a:r>
            <a:r>
              <a:rPr lang="en-US" altLang="zh-CN" sz="3200" b="1" dirty="0">
                <a:solidFill>
                  <a:schemeClr val="bg2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728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660033"/>
                </a:solidFill>
              </a:rPr>
              <a:t>  ② </a:t>
            </a:r>
            <a:r>
              <a:rPr lang="zh-CN" altLang="en-US" sz="3200" b="1" dirty="0">
                <a:solidFill>
                  <a:srgbClr val="660033"/>
                </a:solidFill>
              </a:rPr>
              <a:t>打开游标语句（</a:t>
            </a:r>
            <a:r>
              <a:rPr lang="en-US" altLang="zh-CN" sz="3200" b="1" dirty="0">
                <a:solidFill>
                  <a:srgbClr val="660033"/>
                </a:solidFill>
              </a:rPr>
              <a:t>OPEN</a:t>
            </a:r>
            <a:r>
              <a:rPr lang="zh-CN" altLang="en-US" sz="3200" b="1" dirty="0">
                <a:solidFill>
                  <a:srgbClr val="660033"/>
                </a:solidFill>
              </a:rPr>
              <a:t>）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打开游标语句使游标处于活动状态。与游标相应的查询语句被执行。游标指向查询结果的第一个记录之前。句法如下：</a:t>
            </a:r>
            <a:endParaRPr lang="zh-CN" altLang="en-US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0066"/>
                </a:solidFill>
              </a:rPr>
              <a:t>     </a:t>
            </a:r>
            <a:r>
              <a:rPr lang="en-US" altLang="zh-CN" sz="3600" b="1" dirty="0">
                <a:solidFill>
                  <a:srgbClr val="000066"/>
                </a:solidFill>
              </a:rPr>
              <a:t>EXEC SQL OPEN</a:t>
            </a:r>
            <a:r>
              <a:rPr lang="en-US" altLang="zh-CN" sz="3600" b="1" dirty="0">
                <a:solidFill>
                  <a:schemeClr val="bg2"/>
                </a:solidFill>
              </a:rPr>
              <a:t> &lt;</a:t>
            </a:r>
            <a:r>
              <a:rPr lang="zh-CN" altLang="en-US" sz="3600" b="1" dirty="0">
                <a:solidFill>
                  <a:schemeClr val="bg2"/>
                </a:solidFill>
              </a:rPr>
              <a:t>游标名</a:t>
            </a:r>
            <a:r>
              <a:rPr lang="en-US" altLang="zh-CN" sz="3600" b="1" dirty="0">
                <a:solidFill>
                  <a:schemeClr val="bg2"/>
                </a:solidFill>
              </a:rPr>
              <a:t>&gt; 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600" b="0" i="0" u="none" strike="noStrike" dirty="0">
                <a:solidFill>
                  <a:srgbClr val="A626A4"/>
                </a:solidFill>
                <a:effectLst/>
                <a:latin typeface="SFMono-Regular"/>
              </a:rPr>
              <a:t>           </a:t>
            </a:r>
            <a:r>
              <a:rPr lang="en-US" altLang="zh-CN" sz="3600" b="0" i="0" u="none" strike="noStrike" dirty="0">
                <a:solidFill>
                  <a:srgbClr val="A626A4"/>
                </a:solidFill>
                <a:effectLst/>
                <a:latin typeface="SFMono-Regular"/>
              </a:rPr>
              <a:t>OPEN</a:t>
            </a:r>
            <a:r>
              <a:rPr lang="en-US" altLang="zh-CN" sz="3600" b="0" i="0" u="none" strike="noStrike" dirty="0">
                <a:solidFill>
                  <a:srgbClr val="383A42"/>
                </a:solidFill>
                <a:effectLst/>
                <a:latin typeface="SFMono-Regular"/>
              </a:rPr>
              <a:t> </a:t>
            </a:r>
            <a:r>
              <a:rPr lang="en-US" altLang="zh-CN" sz="3600" b="0" i="0" u="none" strike="noStrike" dirty="0" err="1">
                <a:solidFill>
                  <a:srgbClr val="383A42"/>
                </a:solidFill>
                <a:effectLst/>
                <a:latin typeface="SFMono-Regular"/>
              </a:rPr>
              <a:t>cursor_name</a:t>
            </a:r>
            <a:r>
              <a:rPr lang="en-US" altLang="zh-CN" sz="3600" b="0" i="0" u="none" strike="noStrike" dirty="0">
                <a:solidFill>
                  <a:srgbClr val="383A42"/>
                </a:solidFill>
                <a:effectLst/>
                <a:latin typeface="SFMono-Regular"/>
              </a:rPr>
              <a:t>;</a:t>
            </a:r>
            <a:endParaRPr lang="en-US" altLang="zh-CN" sz="36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endParaRPr lang="en-US" altLang="zh-CN" sz="36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F5A15C-DC5C-F94E-BA97-F31C69682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" t="20973" r="54062" b="13716"/>
          <a:stretch>
            <a:fillRect/>
          </a:stretch>
        </p:blipFill>
        <p:spPr bwMode="auto">
          <a:xfrm>
            <a:off x="0" y="1124744"/>
            <a:ext cx="5778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0"/>
            <a:ext cx="9144000" cy="308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660033"/>
                </a:solidFill>
              </a:rPr>
              <a:t>   </a:t>
            </a:r>
            <a:r>
              <a:rPr lang="en-US" altLang="zh-CN" sz="2800" b="1" dirty="0">
                <a:solidFill>
                  <a:srgbClr val="660033"/>
                </a:solidFill>
              </a:rPr>
              <a:t>③ </a:t>
            </a:r>
            <a:r>
              <a:rPr lang="zh-CN" altLang="en-US" sz="2800" b="1" dirty="0">
                <a:solidFill>
                  <a:srgbClr val="660033"/>
                </a:solidFill>
              </a:rPr>
              <a:t>游标推进语句（</a:t>
            </a:r>
            <a:r>
              <a:rPr lang="en-US" altLang="zh-CN" sz="2800" b="1" dirty="0">
                <a:solidFill>
                  <a:srgbClr val="660033"/>
                </a:solidFill>
              </a:rPr>
              <a:t>FETCH</a:t>
            </a:r>
            <a:r>
              <a:rPr lang="zh-CN" altLang="en-US" sz="2800" b="1" dirty="0">
                <a:solidFill>
                  <a:srgbClr val="660033"/>
                </a:solidFill>
              </a:rPr>
              <a:t>），获取数据</a:t>
            </a:r>
          </a:p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此时游标推进一个记录，并把游标指向的记录（称为当前行）中的值取出，送到</a:t>
            </a:r>
            <a:r>
              <a:rPr lang="en-US" altLang="zh-CN" sz="2800" b="1" dirty="0">
                <a:solidFill>
                  <a:schemeClr val="bg2"/>
                </a:solidFill>
              </a:rPr>
              <a:t>INTO</a:t>
            </a:r>
            <a:r>
              <a:rPr lang="zh-CN" altLang="en-US" sz="2800" b="1" dirty="0">
                <a:solidFill>
                  <a:schemeClr val="bg2"/>
                </a:solidFill>
              </a:rPr>
              <a:t>子句后相应的主变量中。句法如下：       </a:t>
            </a:r>
            <a:endParaRPr lang="zh-CN" altLang="en-US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eaLnBrk="0" hangingPunct="0">
              <a:tabLst>
                <a:tab pos="5067300" algn="l"/>
              </a:tabLst>
            </a:pP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910339" name="Rectangle 3"/>
          <p:cNvSpPr>
            <a:spLocks noChangeArrowheads="1"/>
          </p:cNvSpPr>
          <p:nvPr/>
        </p:nvSpPr>
        <p:spPr bwMode="auto">
          <a:xfrm>
            <a:off x="0" y="2895600"/>
            <a:ext cx="896448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</a:t>
            </a:r>
            <a:r>
              <a:rPr lang="en-US" altLang="zh-CN" sz="2800" b="1" dirty="0">
                <a:solidFill>
                  <a:srgbClr val="000066"/>
                </a:solidFill>
              </a:rPr>
              <a:t>EXEC SQL FETCH FROM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rgbClr val="660033"/>
                </a:solidFill>
              </a:rPr>
              <a:t>&lt;</a:t>
            </a:r>
            <a:r>
              <a:rPr lang="zh-CN" altLang="en-US" sz="2800" b="1" dirty="0">
                <a:solidFill>
                  <a:srgbClr val="660033"/>
                </a:solidFill>
              </a:rPr>
              <a:t>游标名</a:t>
            </a:r>
            <a:r>
              <a:rPr lang="en-US" altLang="zh-CN" sz="2800" b="1" dirty="0">
                <a:solidFill>
                  <a:srgbClr val="660033"/>
                </a:solidFill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INTO </a:t>
            </a:r>
            <a:r>
              <a:rPr lang="en-US" altLang="zh-CN" sz="2800" b="1" dirty="0">
                <a:solidFill>
                  <a:srgbClr val="660033"/>
                </a:solidFill>
              </a:rPr>
              <a:t>&lt;</a:t>
            </a:r>
            <a:r>
              <a:rPr lang="zh-CN" altLang="en-US" sz="2800" b="1" dirty="0">
                <a:solidFill>
                  <a:srgbClr val="660033"/>
                </a:solidFill>
              </a:rPr>
              <a:t>变量表</a:t>
            </a:r>
            <a:r>
              <a:rPr lang="en-US" altLang="zh-CN" sz="2800" b="1" dirty="0">
                <a:solidFill>
                  <a:srgbClr val="660033"/>
                </a:solidFill>
              </a:rPr>
              <a:t>&gt;</a:t>
            </a:r>
            <a:r>
              <a:rPr lang="en-US" altLang="zh-CN" sz="2800" b="1" dirty="0">
                <a:solidFill>
                  <a:schemeClr val="bg2"/>
                </a:solidFill>
              </a:rPr>
              <a:t> ;</a:t>
            </a: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FETCH</a:t>
            </a:r>
            <a:r>
              <a:rPr lang="zh-CN" altLang="en-US" sz="2800" b="1" dirty="0">
                <a:solidFill>
                  <a:schemeClr val="bg2"/>
                </a:solidFill>
              </a:rPr>
              <a:t>语句常用于宿主语言程序的循环结构中。</a:t>
            </a:r>
            <a:endParaRPr lang="en-US" altLang="zh-CN" sz="2800" b="1" dirty="0">
              <a:solidFill>
                <a:schemeClr val="bg2"/>
              </a:solidFill>
            </a:endParaRP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在游标处于活动状态时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</a:rPr>
              <a:t>可以修改和删除游标指向的元组。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339" grpId="0" autoUpdateAnimBg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304800" y="685800"/>
            <a:ext cx="8839200" cy="514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660033"/>
                </a:solidFill>
                <a:cs typeface="Times New Roman" pitchFamily="18" charset="0"/>
              </a:rPr>
              <a:t>④</a:t>
            </a:r>
            <a:r>
              <a:rPr lang="en-US" altLang="zh-CN" sz="3200" b="1" dirty="0">
                <a:solidFill>
                  <a:srgbClr val="660033"/>
                </a:solidFill>
              </a:rPr>
              <a:t>  </a:t>
            </a:r>
            <a:r>
              <a:rPr lang="zh-CN" altLang="en-US" sz="3200" b="1" dirty="0">
                <a:solidFill>
                  <a:srgbClr val="660033"/>
                </a:solidFill>
              </a:rPr>
              <a:t>关闭游标语句（</a:t>
            </a:r>
            <a:r>
              <a:rPr lang="en-US" altLang="zh-CN" sz="3200" b="1" dirty="0">
                <a:solidFill>
                  <a:srgbClr val="660033"/>
                </a:solidFill>
              </a:rPr>
              <a:t>CLOSE</a:t>
            </a:r>
            <a:r>
              <a:rPr lang="zh-CN" altLang="en-US" sz="3200" b="1" dirty="0">
                <a:solidFill>
                  <a:srgbClr val="660033"/>
                </a:solidFill>
              </a:rPr>
              <a:t>）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关闭游标，使它不再和查询结果相联系。关闭了的游标，可以再次打开，与新的查询结果相联系。句法如下：</a:t>
            </a:r>
            <a:endParaRPr lang="zh-CN" altLang="en-US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0066"/>
                </a:solidFill>
              </a:rPr>
              <a:t>     </a:t>
            </a:r>
            <a:r>
              <a:rPr lang="en-US" altLang="zh-CN" sz="3200" b="1" dirty="0">
                <a:solidFill>
                  <a:srgbClr val="000066"/>
                </a:solidFill>
              </a:rPr>
              <a:t>EXEC SQL CLOSE</a:t>
            </a:r>
            <a:r>
              <a:rPr lang="en-US" altLang="zh-CN" sz="3200" b="1" dirty="0">
                <a:solidFill>
                  <a:schemeClr val="bg2"/>
                </a:solidFill>
              </a:rPr>
              <a:t> &lt;</a:t>
            </a:r>
            <a:r>
              <a:rPr lang="zh-CN" altLang="en-US" sz="3200" b="1" dirty="0">
                <a:solidFill>
                  <a:schemeClr val="bg2"/>
                </a:solidFill>
              </a:rPr>
              <a:t>游标名</a:t>
            </a:r>
            <a:r>
              <a:rPr lang="en-US" altLang="zh-CN" sz="3200" b="1" dirty="0">
                <a:solidFill>
                  <a:schemeClr val="bg2"/>
                </a:solidFill>
              </a:rPr>
              <a:t>&gt; 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0" i="0" u="none" strike="noStrike" dirty="0">
                <a:solidFill>
                  <a:srgbClr val="A626A4"/>
                </a:solidFill>
                <a:effectLst/>
                <a:latin typeface="SFMono-Regular"/>
              </a:rPr>
              <a:t>            </a:t>
            </a:r>
            <a:r>
              <a:rPr lang="en-US" altLang="zh-CN" sz="3200" b="0" i="0" u="none" strike="noStrike" dirty="0">
                <a:solidFill>
                  <a:srgbClr val="A626A4"/>
                </a:solidFill>
                <a:effectLst/>
                <a:latin typeface="SFMono-Regular"/>
              </a:rPr>
              <a:t>CLOSE</a:t>
            </a:r>
            <a:r>
              <a:rPr lang="en-US" altLang="zh-CN" sz="3200" b="0" i="0" u="none" strike="noStrike" dirty="0">
                <a:solidFill>
                  <a:srgbClr val="383A42"/>
                </a:solidFill>
                <a:effectLst/>
                <a:latin typeface="SFMono-Regular"/>
              </a:rPr>
              <a:t> </a:t>
            </a:r>
            <a:r>
              <a:rPr lang="en-US" altLang="zh-CN" sz="3200" b="0" i="0" u="none" strike="noStrike" dirty="0" err="1">
                <a:solidFill>
                  <a:srgbClr val="383A42"/>
                </a:solidFill>
                <a:effectLst/>
                <a:latin typeface="SFMono-Regular"/>
              </a:rPr>
              <a:t>cursor_name</a:t>
            </a:r>
            <a:r>
              <a:rPr lang="en-US" altLang="zh-CN" sz="3200" b="0" i="0" u="none" strike="noStrike" dirty="0">
                <a:solidFill>
                  <a:srgbClr val="383A42"/>
                </a:solidFill>
                <a:effectLst/>
                <a:latin typeface="SFMono-Regular"/>
              </a:rPr>
              <a:t>;</a:t>
            </a:r>
            <a:endParaRPr lang="en-US" altLang="zh-CN" sz="32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304800" y="685800"/>
            <a:ext cx="8839200" cy="5147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514350" indent="-514350" algn="just" eaLnBrk="0" hangingPunct="0">
              <a:lnSpc>
                <a:spcPct val="150000"/>
              </a:lnSpc>
              <a:spcBef>
                <a:spcPct val="50000"/>
              </a:spcBef>
              <a:buFont typeface="+mj-ea"/>
              <a:buAutoNum type="circleNumDbPlain" startAt="5"/>
            </a:pPr>
            <a:r>
              <a:rPr lang="zh-CN" altLang="en-US" sz="3200" b="1" dirty="0">
                <a:solidFill>
                  <a:srgbClr val="660033"/>
                </a:solidFill>
              </a:rPr>
              <a:t>释放游标语句（</a:t>
            </a:r>
            <a:r>
              <a:rPr lang="en-US" altLang="zh-CN" sz="3200" b="1" dirty="0">
                <a:solidFill>
                  <a:srgbClr val="660033"/>
                </a:solidFill>
              </a:rPr>
              <a:t>DEALLOCATE</a:t>
            </a:r>
            <a:r>
              <a:rPr lang="zh-CN" altLang="en-US" sz="3200" b="1" dirty="0">
                <a:solidFill>
                  <a:srgbClr val="660033"/>
                </a:solidFill>
              </a:rPr>
              <a:t>）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在某些数据库系统中，关闭游标后还需要释放游标声明，以便彻底清除与游标相关的所有资源。句法如下：</a:t>
            </a:r>
            <a:endParaRPr lang="zh-CN" altLang="en-US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0066"/>
                </a:solidFill>
              </a:rPr>
              <a:t>     </a:t>
            </a:r>
            <a:r>
              <a:rPr lang="en-US" altLang="zh-CN" sz="3200" b="1" dirty="0">
                <a:solidFill>
                  <a:srgbClr val="000066"/>
                </a:solidFill>
              </a:rPr>
              <a:t>EXEC SQL DEALLOCATE</a:t>
            </a:r>
            <a:r>
              <a:rPr lang="en-US" altLang="zh-CN" sz="3200" b="1" dirty="0">
                <a:solidFill>
                  <a:schemeClr val="bg2"/>
                </a:solidFill>
              </a:rPr>
              <a:t> &lt;</a:t>
            </a:r>
            <a:r>
              <a:rPr lang="zh-CN" altLang="en-US" sz="3200" b="1" dirty="0">
                <a:solidFill>
                  <a:schemeClr val="bg2"/>
                </a:solidFill>
              </a:rPr>
              <a:t>游标名</a:t>
            </a:r>
            <a:r>
              <a:rPr lang="en-US" altLang="zh-CN" sz="3200" b="1" dirty="0">
                <a:solidFill>
                  <a:schemeClr val="bg2"/>
                </a:solidFill>
              </a:rPr>
              <a:t>&gt; 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0" i="0" u="none" strike="noStrike" dirty="0">
                <a:solidFill>
                  <a:srgbClr val="A626A4"/>
                </a:solidFill>
                <a:effectLst/>
                <a:latin typeface="SFMono-Regular"/>
              </a:rPr>
              <a:t>            </a:t>
            </a:r>
            <a:r>
              <a:rPr lang="en-US" altLang="zh-CN" sz="3200" b="0" i="0" u="none" strike="noStrike" dirty="0">
                <a:solidFill>
                  <a:srgbClr val="A626A4"/>
                </a:solidFill>
                <a:effectLst/>
                <a:latin typeface="SFMono-Regular"/>
              </a:rPr>
              <a:t>DEALLOCATE</a:t>
            </a:r>
            <a:r>
              <a:rPr lang="en-US" altLang="zh-CN" sz="3200" b="0" i="0" u="none" strike="noStrike" dirty="0">
                <a:solidFill>
                  <a:srgbClr val="383A42"/>
                </a:solidFill>
                <a:effectLst/>
                <a:latin typeface="SFMono-Regular"/>
              </a:rPr>
              <a:t> </a:t>
            </a:r>
            <a:r>
              <a:rPr lang="en-US" altLang="zh-CN" sz="3200" b="0" i="0" u="none" strike="noStrike" dirty="0" err="1">
                <a:solidFill>
                  <a:srgbClr val="383A42"/>
                </a:solidFill>
                <a:effectLst/>
                <a:latin typeface="SFMono-Regular"/>
              </a:rPr>
              <a:t>cursor_name</a:t>
            </a:r>
            <a:r>
              <a:rPr lang="en-US" altLang="zh-CN" sz="3200" b="0" i="0" u="none" strike="noStrike" dirty="0">
                <a:solidFill>
                  <a:srgbClr val="383A42"/>
                </a:solidFill>
                <a:effectLst/>
                <a:latin typeface="SFMono-Regular"/>
              </a:rPr>
              <a:t>;</a:t>
            </a:r>
            <a:endParaRPr lang="en-US" altLang="zh-CN" sz="32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7794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CE8FF0-2188-E843-B067-3708AAB15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" y="0"/>
            <a:ext cx="9120063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A4E354A-2956-5F4B-B08E-934300A4804D}"/>
              </a:ext>
            </a:extLst>
          </p:cNvPr>
          <p:cNvSpPr/>
          <p:nvPr/>
        </p:nvSpPr>
        <p:spPr bwMode="auto">
          <a:xfrm>
            <a:off x="899592" y="2132856"/>
            <a:ext cx="7272808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3660AB-D477-EC4B-B02B-38D9A1B1AF89}"/>
              </a:ext>
            </a:extLst>
          </p:cNvPr>
          <p:cNvSpPr txBox="1"/>
          <p:nvPr/>
        </p:nvSpPr>
        <p:spPr>
          <a:xfrm>
            <a:off x="-1017639" y="1120877"/>
            <a:ext cx="18473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E4BBA8-E80E-C244-A8EC-F9595D197E87}"/>
              </a:ext>
            </a:extLst>
          </p:cNvPr>
          <p:cNvSpPr/>
          <p:nvPr/>
        </p:nvSpPr>
        <p:spPr bwMode="auto">
          <a:xfrm>
            <a:off x="935595" y="2852936"/>
            <a:ext cx="7272808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869C16-29E8-0C45-9149-0EC46CBB0126}"/>
              </a:ext>
            </a:extLst>
          </p:cNvPr>
          <p:cNvSpPr/>
          <p:nvPr/>
        </p:nvSpPr>
        <p:spPr bwMode="auto">
          <a:xfrm>
            <a:off x="963338" y="3645025"/>
            <a:ext cx="7272808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D265C9-C3F0-8645-B3BD-C0E2D9EBDB8B}"/>
              </a:ext>
            </a:extLst>
          </p:cNvPr>
          <p:cNvSpPr/>
          <p:nvPr/>
        </p:nvSpPr>
        <p:spPr bwMode="auto">
          <a:xfrm>
            <a:off x="991938" y="5652718"/>
            <a:ext cx="7272808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73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0" y="0"/>
            <a:ext cx="9144000" cy="2287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3200" b="1">
                <a:solidFill>
                  <a:srgbClr val="000066"/>
                </a:solidFill>
              </a:rPr>
              <a:t>三、嵌入式</a:t>
            </a:r>
            <a:r>
              <a:rPr lang="en-US" altLang="zh-CN" sz="3200" b="1">
                <a:solidFill>
                  <a:srgbClr val="000066"/>
                </a:solidFill>
              </a:rPr>
              <a:t>SQL</a:t>
            </a:r>
            <a:r>
              <a:rPr lang="zh-CN" altLang="en-US" sz="3200" b="1">
                <a:solidFill>
                  <a:srgbClr val="000066"/>
                </a:solidFill>
              </a:rPr>
              <a:t>的使用技术</a:t>
            </a:r>
          </a:p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3200" b="1">
                <a:solidFill>
                  <a:schemeClr val="bg2"/>
                </a:solidFill>
              </a:rPr>
              <a:t> ⑴ </a:t>
            </a:r>
            <a:r>
              <a:rPr lang="zh-CN" altLang="en-US" sz="3200" b="1">
                <a:solidFill>
                  <a:srgbClr val="660033"/>
                </a:solidFill>
              </a:rPr>
              <a:t>在嵌入式</a:t>
            </a:r>
            <a:r>
              <a:rPr lang="en-US" altLang="zh-CN" sz="3200" b="1">
                <a:solidFill>
                  <a:srgbClr val="660033"/>
                </a:solidFill>
              </a:rPr>
              <a:t>SQL</a:t>
            </a:r>
            <a:r>
              <a:rPr lang="zh-CN" altLang="en-US" sz="3200" b="1">
                <a:solidFill>
                  <a:srgbClr val="660033"/>
                </a:solidFill>
              </a:rPr>
              <a:t>中， </a:t>
            </a:r>
            <a:r>
              <a:rPr lang="en-US" altLang="zh-CN" sz="3200" b="1">
                <a:solidFill>
                  <a:srgbClr val="660033"/>
                </a:solidFill>
              </a:rPr>
              <a:t>SQL</a:t>
            </a:r>
            <a:r>
              <a:rPr lang="zh-CN" altLang="en-US" sz="3200" b="1">
                <a:solidFill>
                  <a:srgbClr val="660033"/>
                </a:solidFill>
              </a:rPr>
              <a:t>的数据定义</a:t>
            </a:r>
            <a:r>
              <a:rPr lang="en-US" altLang="zh-CN" sz="3200" b="1">
                <a:solidFill>
                  <a:srgbClr val="660033"/>
                </a:solidFill>
              </a:rPr>
              <a:t>DDL</a:t>
            </a:r>
            <a:r>
              <a:rPr lang="zh-CN" altLang="en-US" sz="3200" b="1">
                <a:solidFill>
                  <a:srgbClr val="660033"/>
                </a:solidFill>
              </a:rPr>
              <a:t>与控制语句</a:t>
            </a:r>
            <a:r>
              <a:rPr lang="en-US" altLang="zh-CN" sz="3200" b="1">
                <a:solidFill>
                  <a:srgbClr val="660033"/>
                </a:solidFill>
              </a:rPr>
              <a:t>DCL</a:t>
            </a:r>
            <a:r>
              <a:rPr lang="zh-CN" altLang="en-US" sz="3200" b="1">
                <a:solidFill>
                  <a:srgbClr val="660033"/>
                </a:solidFill>
              </a:rPr>
              <a:t>都不需要使用游标。</a:t>
            </a:r>
            <a:endParaRPr lang="zh-CN" altLang="en-US" sz="2800" b="1">
              <a:solidFill>
                <a:srgbClr val="660033"/>
              </a:solidFill>
            </a:endParaRPr>
          </a:p>
        </p:txBody>
      </p:sp>
      <p:sp>
        <p:nvSpPr>
          <p:cNvPr id="912387" name="Rectangle 3"/>
          <p:cNvSpPr>
            <a:spLocks noChangeArrowheads="1"/>
          </p:cNvSpPr>
          <p:nvPr/>
        </p:nvSpPr>
        <p:spPr bwMode="auto">
          <a:xfrm>
            <a:off x="179388" y="2708275"/>
            <a:ext cx="8820150" cy="3438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它们是嵌入式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中最简单的一类语句，不需要返回结果数据，也不需要使用主变量。</a:t>
            </a:r>
            <a:endParaRPr lang="en-US" altLang="zh-CN" sz="2800" b="1" dirty="0">
              <a:solidFill>
                <a:schemeClr val="bg2"/>
              </a:solidFill>
            </a:endParaRPr>
          </a:p>
          <a:p>
            <a:pPr algn="just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在主语言中嵌入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说明性语句（</a:t>
            </a:r>
            <a:r>
              <a:rPr lang="en-US" altLang="zh-CN" sz="2800" b="1" dirty="0">
                <a:solidFill>
                  <a:schemeClr val="bg2"/>
                </a:solidFill>
              </a:rPr>
              <a:t>DECLARE</a:t>
            </a:r>
            <a:r>
              <a:rPr lang="zh-CN" altLang="en-US" sz="2800" b="1" dirty="0">
                <a:solidFill>
                  <a:schemeClr val="bg2"/>
                </a:solidFill>
              </a:rPr>
              <a:t>）及控制语句（</a:t>
            </a:r>
            <a:r>
              <a:rPr lang="en-US" altLang="zh-CN" sz="2800" b="1" dirty="0">
                <a:solidFill>
                  <a:schemeClr val="bg2"/>
                </a:solidFill>
              </a:rPr>
              <a:t>GRANT</a:t>
            </a:r>
            <a:r>
              <a:rPr lang="zh-CN" altLang="en-US" sz="2800" b="1" dirty="0">
                <a:solidFill>
                  <a:schemeClr val="bg2"/>
                </a:solidFill>
              </a:rPr>
              <a:t>），只要给语句加上前缀</a:t>
            </a:r>
            <a:r>
              <a:rPr lang="en-US" altLang="zh-CN" sz="2800" b="1" dirty="0">
                <a:solidFill>
                  <a:schemeClr val="bg2"/>
                </a:solidFill>
              </a:rPr>
              <a:t>EXEC SQL</a:t>
            </a:r>
            <a:r>
              <a:rPr lang="zh-CN" altLang="en-US" sz="2800" b="1" dirty="0">
                <a:solidFill>
                  <a:schemeClr val="bg2"/>
                </a:solidFill>
              </a:rPr>
              <a:t>和语句结束符</a:t>
            </a:r>
            <a:r>
              <a:rPr lang="en-US" altLang="zh-CN" sz="2800" b="1" dirty="0">
                <a:solidFill>
                  <a:schemeClr val="bg2"/>
                </a:solidFill>
              </a:rPr>
              <a:t>END_EXEC</a:t>
            </a:r>
            <a:r>
              <a:rPr lang="zh-CN" altLang="en-US" sz="2800" b="1" dirty="0">
                <a:solidFill>
                  <a:schemeClr val="bg2"/>
                </a:solidFill>
              </a:rPr>
              <a:t>即可。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7" grpId="0" autoUpdateAnimBg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228600" y="228600"/>
            <a:ext cx="8610600" cy="599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660033"/>
                </a:solidFill>
              </a:rPr>
              <a:t>例：在</a:t>
            </a:r>
            <a:r>
              <a:rPr lang="en-US" altLang="zh-CN" sz="3200" b="1" dirty="0">
                <a:solidFill>
                  <a:srgbClr val="660033"/>
                </a:solidFill>
              </a:rPr>
              <a:t>C</a:t>
            </a:r>
            <a:r>
              <a:rPr lang="zh-CN" altLang="en-US" sz="3200" b="1" dirty="0">
                <a:solidFill>
                  <a:srgbClr val="660033"/>
                </a:solidFill>
              </a:rPr>
              <a:t>语言中说明共享变量：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C00000"/>
                </a:solidFill>
              </a:rPr>
              <a:t>EXEC SQL BEGIN DECLARE SECTION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int </a:t>
            </a:r>
            <a:r>
              <a:rPr lang="en-US" altLang="zh-CN" sz="3200" b="1" dirty="0" err="1">
                <a:solidFill>
                  <a:schemeClr val="bg2"/>
                </a:solidFill>
              </a:rPr>
              <a:t>grade,raise</a:t>
            </a:r>
            <a:r>
              <a:rPr lang="en-US" altLang="zh-CN" sz="3200" b="1" dirty="0">
                <a:solidFill>
                  <a:schemeClr val="bg2"/>
                </a:solidFill>
              </a:rPr>
              <a:t>;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char </a:t>
            </a:r>
            <a:r>
              <a:rPr lang="en-US" altLang="zh-CN" sz="3200" b="1" dirty="0" err="1">
                <a:solidFill>
                  <a:schemeClr val="bg2"/>
                </a:solidFill>
              </a:rPr>
              <a:t>givencno</a:t>
            </a:r>
            <a:r>
              <a:rPr lang="en-US" altLang="zh-CN" sz="3200" b="1" dirty="0">
                <a:solidFill>
                  <a:schemeClr val="bg2"/>
                </a:solidFill>
              </a:rPr>
              <a:t>[5],</a:t>
            </a:r>
            <a:r>
              <a:rPr lang="en-US" altLang="zh-CN" sz="3200" b="1" dirty="0" err="1">
                <a:solidFill>
                  <a:schemeClr val="bg2"/>
                </a:solidFill>
              </a:rPr>
              <a:t>cname</a:t>
            </a:r>
            <a:r>
              <a:rPr lang="en-US" altLang="zh-CN" sz="3200" b="1" dirty="0">
                <a:solidFill>
                  <a:schemeClr val="bg2"/>
                </a:solidFill>
              </a:rPr>
              <a:t>[13],</a:t>
            </a:r>
            <a:r>
              <a:rPr lang="en-US" altLang="zh-CN" sz="3200" b="1" dirty="0" err="1">
                <a:solidFill>
                  <a:schemeClr val="bg2"/>
                </a:solidFill>
              </a:rPr>
              <a:t>tname</a:t>
            </a:r>
            <a:r>
              <a:rPr lang="en-US" altLang="zh-CN" sz="3200" b="1" dirty="0">
                <a:solidFill>
                  <a:schemeClr val="bg2"/>
                </a:solidFill>
              </a:rPr>
              <a:t>[9]</a:t>
            </a:r>
            <a:r>
              <a:rPr lang="zh-CN" altLang="en-US" sz="32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</a:rPr>
              <a:t>char </a:t>
            </a:r>
            <a:r>
              <a:rPr lang="en-US" altLang="zh-CN" sz="3200" b="1" dirty="0" err="1">
                <a:solidFill>
                  <a:schemeClr val="bg2"/>
                </a:solidFill>
              </a:rPr>
              <a:t>givensno</a:t>
            </a:r>
            <a:r>
              <a:rPr lang="en-US" altLang="zh-CN" sz="3200" b="1" dirty="0">
                <a:solidFill>
                  <a:schemeClr val="bg2"/>
                </a:solidFill>
              </a:rPr>
              <a:t>[5],</a:t>
            </a:r>
            <a:r>
              <a:rPr lang="en-US" altLang="zh-CN" sz="3200" b="1" dirty="0" err="1">
                <a:solidFill>
                  <a:schemeClr val="bg2"/>
                </a:solidFill>
              </a:rPr>
              <a:t>sname</a:t>
            </a:r>
            <a:r>
              <a:rPr lang="en-US" altLang="zh-CN" sz="3200" b="1" dirty="0">
                <a:solidFill>
                  <a:schemeClr val="bg2"/>
                </a:solidFill>
              </a:rPr>
              <a:t>[9],</a:t>
            </a:r>
            <a:r>
              <a:rPr lang="en-US" altLang="zh-CN" sz="3200" b="1" dirty="0" err="1">
                <a:solidFill>
                  <a:schemeClr val="bg2"/>
                </a:solidFill>
              </a:rPr>
              <a:t>sdept</a:t>
            </a:r>
            <a:r>
              <a:rPr lang="en-US" altLang="zh-CN" sz="3200" b="1" dirty="0">
                <a:solidFill>
                  <a:schemeClr val="bg2"/>
                </a:solidFill>
              </a:rPr>
              <a:t>[11]</a:t>
            </a:r>
            <a:r>
              <a:rPr lang="zh-CN" altLang="en-US" sz="32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chemeClr val="bg2"/>
                </a:solidFill>
              </a:rPr>
              <a:t>char SQLSTATE[6];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rgbClr val="C00000"/>
                </a:solidFill>
              </a:rPr>
              <a:t>EXEC SQL END DECLARE SECTION;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auto">
          <a:xfrm>
            <a:off x="0" y="0"/>
            <a:ext cx="9144000" cy="3275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80000"/>
              </a:lnSpc>
            </a:pPr>
            <a:r>
              <a:rPr lang="en-US" altLang="zh-CN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rgbClr val="660033"/>
                </a:solidFill>
              </a:rPr>
              <a:t>⑵ </a:t>
            </a:r>
            <a:r>
              <a:rPr lang="zh-CN" altLang="en-US" sz="3200" b="1" dirty="0">
                <a:solidFill>
                  <a:srgbClr val="660033"/>
                </a:solidFill>
              </a:rPr>
              <a:t>不涉及游标的嵌入式</a:t>
            </a:r>
            <a:r>
              <a:rPr lang="en-US" altLang="zh-CN" sz="3200" b="1" dirty="0">
                <a:solidFill>
                  <a:srgbClr val="660033"/>
                </a:solidFill>
              </a:rPr>
              <a:t>SQL DML</a:t>
            </a:r>
            <a:r>
              <a:rPr lang="zh-CN" altLang="en-US" sz="3200" b="1" dirty="0">
                <a:solidFill>
                  <a:srgbClr val="660033"/>
                </a:solidFill>
              </a:rPr>
              <a:t>语句</a:t>
            </a:r>
            <a:endParaRPr lang="zh-CN" altLang="en-US" sz="3200" b="1" dirty="0">
              <a:solidFill>
                <a:srgbClr val="660033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80000"/>
              </a:lnSpc>
            </a:pPr>
            <a:r>
              <a:rPr lang="zh-CN" altLang="en-US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</a:rPr>
              <a:t>a.</a:t>
            </a:r>
            <a:r>
              <a:rPr lang="zh-CN" altLang="en-US" sz="2800" b="1" dirty="0">
                <a:solidFill>
                  <a:srgbClr val="000066"/>
                </a:solidFill>
              </a:rPr>
              <a:t>对于</a:t>
            </a:r>
            <a:r>
              <a:rPr lang="en-US" altLang="zh-CN" sz="2800" b="1" dirty="0">
                <a:solidFill>
                  <a:srgbClr val="000066"/>
                </a:solidFill>
              </a:rPr>
              <a:t>INSERT</a:t>
            </a:r>
            <a:r>
              <a:rPr lang="zh-CN" altLang="en-US" sz="2800" b="1" dirty="0">
                <a:solidFill>
                  <a:srgbClr val="000066"/>
                </a:solidFill>
              </a:rPr>
              <a:t>、</a:t>
            </a:r>
            <a:r>
              <a:rPr lang="en-US" altLang="zh-CN" sz="2800" b="1" dirty="0">
                <a:solidFill>
                  <a:srgbClr val="000066"/>
                </a:solidFill>
              </a:rPr>
              <a:t>DELETE</a:t>
            </a:r>
            <a:r>
              <a:rPr lang="zh-CN" altLang="en-US" sz="2800" b="1" dirty="0">
                <a:solidFill>
                  <a:srgbClr val="000066"/>
                </a:solidFill>
              </a:rPr>
              <a:t>和</a:t>
            </a:r>
            <a:r>
              <a:rPr lang="en-US" altLang="zh-CN" sz="2800" b="1" dirty="0">
                <a:solidFill>
                  <a:srgbClr val="000066"/>
                </a:solidFill>
              </a:rPr>
              <a:t>UPDATE</a:t>
            </a:r>
            <a:r>
              <a:rPr lang="zh-CN" altLang="en-US" sz="2800" b="1" dirty="0">
                <a:solidFill>
                  <a:srgbClr val="000066"/>
                </a:solidFill>
              </a:rPr>
              <a:t>语句， 只要加上前缀标识</a:t>
            </a:r>
            <a:r>
              <a:rPr lang="zh-CN" altLang="en-US" sz="2800" b="1" dirty="0">
                <a:solidFill>
                  <a:srgbClr val="000066"/>
                </a:solidFill>
                <a:latin typeface="Times New Roman" pitchFamily="18" charset="0"/>
              </a:rPr>
              <a:t>“</a:t>
            </a:r>
            <a:r>
              <a:rPr lang="en-US" altLang="zh-CN" sz="2800" b="1" dirty="0">
                <a:solidFill>
                  <a:srgbClr val="000066"/>
                </a:solidFill>
              </a:rPr>
              <a:t>EXEC SQL</a:t>
            </a:r>
            <a:r>
              <a:rPr lang="en-US" altLang="zh-CN" sz="2800" b="1" dirty="0">
                <a:solidFill>
                  <a:srgbClr val="000066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rgbClr val="000066"/>
                </a:solidFill>
              </a:rPr>
              <a:t>和结束标志，就能嵌入在宿主语言程序中使用。</a:t>
            </a:r>
            <a:r>
              <a:rPr lang="zh-CN" altLang="en-US" sz="2800" b="1" dirty="0">
                <a:solidFill>
                  <a:schemeClr val="bg2"/>
                </a:solidFill>
              </a:rPr>
              <a:t>例：     </a:t>
            </a:r>
          </a:p>
        </p:txBody>
      </p:sp>
      <p:sp>
        <p:nvSpPr>
          <p:cNvPr id="914435" name="Rectangle 3"/>
          <p:cNvSpPr>
            <a:spLocks noChangeArrowheads="1"/>
          </p:cNvSpPr>
          <p:nvPr/>
        </p:nvSpPr>
        <p:spPr bwMode="auto">
          <a:xfrm>
            <a:off x="0" y="3284538"/>
            <a:ext cx="9144000" cy="3300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① </a:t>
            </a:r>
            <a:r>
              <a:rPr lang="zh-CN" altLang="en-US" sz="2800" b="1" dirty="0">
                <a:solidFill>
                  <a:schemeClr val="bg1"/>
                </a:solidFill>
              </a:rPr>
              <a:t>在关系</a:t>
            </a:r>
            <a:r>
              <a:rPr lang="en-US" altLang="zh-CN" sz="2800" b="1" dirty="0">
                <a:solidFill>
                  <a:schemeClr val="bg1"/>
                </a:solidFill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</a:rPr>
              <a:t>中插入一门新的课程，各属性值已在相应的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共享变量中：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INSERT INTO C</a:t>
            </a:r>
            <a:r>
              <a:rPr lang="zh-CN" altLang="en-US" sz="2800" b="1" dirty="0">
                <a:solidFill>
                  <a:schemeClr val="bg2"/>
                </a:solidFill>
              </a:rPr>
              <a:t>（</a:t>
            </a:r>
            <a:r>
              <a:rPr lang="en-US" altLang="zh-CN" sz="2800" b="1" dirty="0">
                <a:solidFill>
                  <a:schemeClr val="bg2"/>
                </a:solidFill>
              </a:rPr>
              <a:t>CNO,CNAME,TNAME</a:t>
            </a:r>
            <a:r>
              <a:rPr lang="zh-CN" altLang="en-US" sz="2800" b="1" dirty="0">
                <a:solidFill>
                  <a:schemeClr val="bg2"/>
                </a:solidFill>
              </a:rPr>
              <a:t>）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         </a:t>
            </a:r>
            <a:r>
              <a:rPr lang="en-US" altLang="zh-CN" sz="2800" b="1" dirty="0">
                <a:solidFill>
                  <a:schemeClr val="bg2"/>
                </a:solidFill>
              </a:rPr>
              <a:t>VALUES(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r>
              <a:rPr lang="en-US" altLang="zh-CN" sz="2800" b="1" dirty="0" err="1">
                <a:solidFill>
                  <a:schemeClr val="bg2"/>
                </a:solidFill>
              </a:rPr>
              <a:t>givencno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r>
              <a:rPr lang="en-US" altLang="zh-CN" sz="2800" b="1" dirty="0" err="1">
                <a:solidFill>
                  <a:schemeClr val="bg2"/>
                </a:solidFill>
              </a:rPr>
              <a:t>cname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en-US" altLang="zh-CN" sz="2800" b="1" dirty="0">
                <a:solidFill>
                  <a:srgbClr val="FF0000"/>
                </a:solidFill>
              </a:rPr>
              <a:t>:</a:t>
            </a:r>
            <a:r>
              <a:rPr lang="en-US" altLang="zh-CN" sz="2800" b="1" dirty="0" err="1">
                <a:solidFill>
                  <a:schemeClr val="bg2"/>
                </a:solidFill>
              </a:rPr>
              <a:t>tname</a:t>
            </a:r>
            <a:r>
              <a:rPr lang="en-US" altLang="zh-CN" sz="2800" b="1" dirty="0">
                <a:solidFill>
                  <a:schemeClr val="bg2"/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4435" grpId="0" autoUpdateAnimBg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-120650" y="457200"/>
            <a:ext cx="93726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② </a:t>
            </a:r>
            <a:r>
              <a:rPr lang="zh-CN" altLang="en-US" sz="3200" b="1" dirty="0">
                <a:solidFill>
                  <a:schemeClr val="bg1"/>
                </a:solidFill>
              </a:rPr>
              <a:t>从关系</a:t>
            </a:r>
            <a:r>
              <a:rPr lang="en-US" altLang="zh-CN" sz="3200" b="1" dirty="0">
                <a:solidFill>
                  <a:schemeClr val="bg1"/>
                </a:solidFill>
              </a:rPr>
              <a:t>SC</a:t>
            </a:r>
            <a:r>
              <a:rPr lang="zh-CN" altLang="en-US" sz="3200" b="1" dirty="0">
                <a:solidFill>
                  <a:schemeClr val="bg1"/>
                </a:solidFill>
              </a:rPr>
              <a:t>中删除一个学生的所有选课，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</a:rPr>
              <a:t>    该学生的姓名由共享变量</a:t>
            </a:r>
            <a:r>
              <a:rPr lang="en-US" altLang="zh-CN" sz="3200" b="1" dirty="0" err="1">
                <a:solidFill>
                  <a:schemeClr val="bg1"/>
                </a:solidFill>
              </a:rPr>
              <a:t>sname</a:t>
            </a:r>
            <a:r>
              <a:rPr lang="zh-CN" altLang="en-US" sz="3200" b="1" dirty="0">
                <a:solidFill>
                  <a:schemeClr val="bg1"/>
                </a:solidFill>
              </a:rPr>
              <a:t>提供。</a:t>
            </a:r>
            <a:endParaRPr lang="zh-CN" altLang="en-US" sz="32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   </a:t>
            </a:r>
            <a:endParaRPr lang="en-US" altLang="zh-CN" sz="3200" b="1" dirty="0">
              <a:solidFill>
                <a:schemeClr val="bg2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9512" y="2348880"/>
            <a:ext cx="878497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C00000"/>
                </a:solidFill>
              </a:rPr>
              <a:t>EXEC SQL </a:t>
            </a:r>
            <a:r>
              <a:rPr lang="en-US" altLang="zh-CN" sz="3200" b="1" dirty="0">
                <a:solidFill>
                  <a:schemeClr val="bg2"/>
                </a:solidFill>
              </a:rPr>
              <a:t>DELETE FROM SC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WHERE SNO=(SELECT SNO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           FROM S</a:t>
            </a:r>
            <a:endParaRPr lang="en-US" altLang="zh-CN" sz="32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bg2"/>
                </a:solidFill>
              </a:rPr>
              <a:t>               WHERE SNAME=:</a:t>
            </a:r>
            <a:r>
              <a:rPr lang="en-US" altLang="zh-CN" sz="3200" b="1" dirty="0" err="1">
                <a:solidFill>
                  <a:schemeClr val="bg2"/>
                </a:solidFill>
              </a:rPr>
              <a:t>sname</a:t>
            </a:r>
            <a:r>
              <a:rPr lang="en-US" altLang="zh-CN" sz="3200" b="1" dirty="0">
                <a:solidFill>
                  <a:schemeClr val="bg2"/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ChangeArrowheads="1"/>
          </p:cNvSpPr>
          <p:nvPr/>
        </p:nvSpPr>
        <p:spPr bwMode="auto">
          <a:xfrm>
            <a:off x="0" y="260648"/>
            <a:ext cx="9144000" cy="2124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③ </a:t>
            </a:r>
            <a:r>
              <a:rPr lang="zh-CN" altLang="en-US" sz="2800" b="1" dirty="0">
                <a:solidFill>
                  <a:schemeClr val="bg1"/>
                </a:solidFill>
              </a:rPr>
              <a:t>把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</a:rPr>
              <a:t>“</a:t>
            </a:r>
            <a:r>
              <a:rPr lang="zh-CN" altLang="en-US" sz="2800" b="1" dirty="0">
                <a:solidFill>
                  <a:schemeClr val="bg1"/>
                </a:solidFill>
              </a:rPr>
              <a:t>数据库</a:t>
            </a:r>
            <a:r>
              <a:rPr lang="zh-CN" altLang="en-US" sz="2800" b="1" dirty="0">
                <a:solidFill>
                  <a:schemeClr val="bg1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chemeClr val="bg1"/>
                </a:solidFill>
              </a:rPr>
              <a:t>课程的全部成绩增加某个值（该值由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1"/>
                </a:solidFill>
              </a:rPr>
              <a:t>    共享变量</a:t>
            </a:r>
            <a:r>
              <a:rPr lang="en-US" altLang="zh-CN" sz="2800" b="1" dirty="0">
                <a:solidFill>
                  <a:schemeClr val="bg1"/>
                </a:solidFill>
              </a:rPr>
              <a:t>raise </a:t>
            </a:r>
            <a:r>
              <a:rPr lang="zh-CN" altLang="en-US" sz="2800" b="1" dirty="0">
                <a:solidFill>
                  <a:schemeClr val="bg1"/>
                </a:solidFill>
              </a:rPr>
              <a:t>提供）。</a:t>
            </a:r>
            <a:endParaRPr lang="zh-CN" altLang="en-US" sz="28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</a:t>
            </a:r>
            <a:endParaRPr lang="en-US" altLang="zh-CN" sz="2800" b="1" dirty="0">
              <a:solidFill>
                <a:schemeClr val="bg2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39552" y="1700808"/>
            <a:ext cx="8352928" cy="453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UPDATE SC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SET GRADE=GRADE </a:t>
            </a:r>
            <a:r>
              <a:rPr lang="en-US" altLang="zh-CN" sz="2800" b="1" dirty="0">
                <a:solidFill>
                  <a:srgbClr val="FF0000"/>
                </a:solidFill>
              </a:rPr>
              <a:t>+:raise</a:t>
            </a:r>
            <a:endParaRPr lang="en-US" altLang="zh-CN" sz="2800" b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WHERE CNO IN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  (SELECT CNO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    FROM C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    WHERE CNAME=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zh-CN" altLang="en-US" sz="2800" b="1" dirty="0">
                <a:solidFill>
                  <a:schemeClr val="bg2"/>
                </a:solidFill>
              </a:rPr>
              <a:t>数据库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800" b="1" dirty="0">
                <a:solidFill>
                  <a:schemeClr val="bg2"/>
                </a:solidFill>
              </a:rPr>
              <a:t>);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179512" y="254057"/>
            <a:ext cx="8712968" cy="5047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000066"/>
                </a:solidFill>
              </a:rPr>
              <a:t>b.</a:t>
            </a:r>
            <a:r>
              <a:rPr lang="zh-CN" altLang="en-US" sz="3200" b="1" dirty="0">
                <a:solidFill>
                  <a:srgbClr val="000066"/>
                </a:solidFill>
              </a:rPr>
              <a:t>对于</a:t>
            </a:r>
            <a:r>
              <a:rPr lang="en-US" altLang="zh-CN" sz="3200" b="1" dirty="0">
                <a:solidFill>
                  <a:srgbClr val="000066"/>
                </a:solidFill>
              </a:rPr>
              <a:t>SELECT</a:t>
            </a:r>
            <a:r>
              <a:rPr lang="zh-CN" altLang="en-US" sz="3200" b="1" dirty="0">
                <a:solidFill>
                  <a:srgbClr val="000066"/>
                </a:solidFill>
              </a:rPr>
              <a:t>语句，如果已知查询结果肯定是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</a:rPr>
              <a:t>单元组</a:t>
            </a:r>
            <a:r>
              <a:rPr lang="zh-CN" altLang="en-US" sz="3200" b="1" dirty="0">
                <a:solidFill>
                  <a:srgbClr val="000066"/>
                </a:solidFill>
              </a:rPr>
              <a:t>时，可直接嵌入在主程序中使用，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0066"/>
                </a:solidFill>
              </a:rPr>
              <a:t>  此时在</a:t>
            </a:r>
            <a:r>
              <a:rPr lang="en-US" altLang="zh-CN" sz="3200" b="1" dirty="0">
                <a:solidFill>
                  <a:srgbClr val="000066"/>
                </a:solidFill>
              </a:rPr>
              <a:t>SELECI</a:t>
            </a:r>
            <a:r>
              <a:rPr lang="zh-CN" altLang="en-US" sz="3200" b="1" dirty="0">
                <a:solidFill>
                  <a:srgbClr val="000066"/>
                </a:solidFill>
              </a:rPr>
              <a:t>语句中增加一个</a:t>
            </a:r>
            <a:r>
              <a:rPr lang="en-US" altLang="zh-CN" sz="3200" b="1" dirty="0">
                <a:solidFill>
                  <a:srgbClr val="000066"/>
                </a:solidFill>
              </a:rPr>
              <a:t>INTO</a:t>
            </a:r>
            <a:r>
              <a:rPr lang="zh-CN" altLang="en-US" sz="3200" b="1" dirty="0">
                <a:solidFill>
                  <a:srgbClr val="000066"/>
                </a:solidFill>
              </a:rPr>
              <a:t>子句，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0066"/>
                </a:solidFill>
              </a:rPr>
              <a:t>  指出找到的值应送到相应的共享变量中去。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39552" y="4459988"/>
            <a:ext cx="8064896" cy="241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2"/>
                </a:solidFill>
              </a:rPr>
              <a:t>例：</a:t>
            </a:r>
            <a:r>
              <a:rPr lang="zh-CN" altLang="en-US" sz="3200" b="1" dirty="0">
                <a:solidFill>
                  <a:schemeClr val="bg1"/>
                </a:solidFill>
              </a:rPr>
              <a:t>在关系</a:t>
            </a:r>
            <a:r>
              <a:rPr lang="en-US" altLang="zh-CN" sz="3200" b="1" dirty="0">
                <a:solidFill>
                  <a:schemeClr val="bg1"/>
                </a:solidFill>
              </a:rPr>
              <a:t>S</a:t>
            </a:r>
            <a:r>
              <a:rPr lang="zh-CN" altLang="en-US" sz="3200" b="1" dirty="0">
                <a:solidFill>
                  <a:schemeClr val="bg1"/>
                </a:solidFill>
              </a:rPr>
              <a:t>中根据共享变量</a:t>
            </a:r>
            <a:r>
              <a:rPr lang="en-US" altLang="zh-CN" sz="3200" b="1" dirty="0" err="1">
                <a:solidFill>
                  <a:schemeClr val="bg1"/>
                </a:solidFill>
              </a:rPr>
              <a:t>givensno</a:t>
            </a:r>
            <a:r>
              <a:rPr lang="zh-CN" altLang="en-US" sz="3200" b="1" dirty="0">
                <a:solidFill>
                  <a:schemeClr val="bg1"/>
                </a:solidFill>
              </a:rPr>
              <a:t>的值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</a:rPr>
              <a:t>    检索学生的姓名和所在系。</a:t>
            </a:r>
          </a:p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0" y="404664"/>
            <a:ext cx="9144000" cy="427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例：</a:t>
            </a:r>
            <a:r>
              <a:rPr lang="zh-CN" altLang="en-US" sz="2800" b="1" dirty="0">
                <a:solidFill>
                  <a:schemeClr val="bg1"/>
                </a:solidFill>
              </a:rPr>
              <a:t>在关系</a:t>
            </a:r>
            <a:r>
              <a:rPr lang="en-US" altLang="zh-CN" sz="2800" b="1" dirty="0">
                <a:solidFill>
                  <a:schemeClr val="bg1"/>
                </a:solidFill>
              </a:rPr>
              <a:t>S</a:t>
            </a:r>
            <a:r>
              <a:rPr lang="zh-CN" altLang="en-US" sz="2800" b="1" dirty="0">
                <a:solidFill>
                  <a:schemeClr val="bg1"/>
                </a:solidFill>
              </a:rPr>
              <a:t>中根据共享变量</a:t>
            </a:r>
            <a:r>
              <a:rPr lang="en-US" altLang="zh-CN" sz="2800" b="1" dirty="0" err="1">
                <a:solidFill>
                  <a:schemeClr val="bg1"/>
                </a:solidFill>
              </a:rPr>
              <a:t>givensno</a:t>
            </a:r>
            <a:r>
              <a:rPr lang="zh-CN" altLang="en-US" sz="2800" b="1" dirty="0">
                <a:solidFill>
                  <a:schemeClr val="bg1"/>
                </a:solidFill>
              </a:rPr>
              <a:t>的值检索</a:t>
            </a:r>
          </a:p>
          <a:p>
            <a:pPr indent="266700"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    该学生的姓名和所在系：</a:t>
            </a:r>
          </a:p>
          <a:p>
            <a:pPr indent="266700"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 </a:t>
            </a:r>
            <a:r>
              <a:rPr lang="en-US" altLang="zh-CN" sz="2800" b="1" dirty="0">
                <a:solidFill>
                  <a:schemeClr val="bg2"/>
                </a:solidFill>
              </a:rPr>
              <a:t>SELECT SNAME,SDEPT</a:t>
            </a:r>
          </a:p>
          <a:p>
            <a:pPr indent="266700" algn="just" eaLnBrk="0" hangingPunct="0">
              <a:lnSpc>
                <a:spcPct val="13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    INTO :</a:t>
            </a:r>
            <a:r>
              <a:rPr lang="en-US" altLang="zh-CN" sz="2800" b="1" dirty="0" err="1">
                <a:solidFill>
                  <a:schemeClr val="bg2"/>
                </a:solidFill>
              </a:rPr>
              <a:t>sname</a:t>
            </a:r>
            <a:r>
              <a:rPr lang="en-US" altLang="zh-CN" sz="2800" b="1" dirty="0">
                <a:solidFill>
                  <a:schemeClr val="bg2"/>
                </a:solidFill>
              </a:rPr>
              <a:t>,:</a:t>
            </a:r>
            <a:r>
              <a:rPr lang="en-US" altLang="zh-CN" sz="2800" b="1" dirty="0" err="1">
                <a:solidFill>
                  <a:schemeClr val="bg2"/>
                </a:solidFill>
              </a:rPr>
              <a:t>sdept</a:t>
            </a:r>
            <a:endParaRPr lang="en-US" altLang="zh-CN" sz="2800" b="1" dirty="0">
              <a:solidFill>
                <a:schemeClr val="bg2"/>
              </a:solidFill>
            </a:endParaRPr>
          </a:p>
          <a:p>
            <a:pPr indent="266700" algn="just" eaLnBrk="0" hangingPunct="0">
              <a:lnSpc>
                <a:spcPct val="13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    FROM S</a:t>
            </a:r>
          </a:p>
          <a:p>
            <a:pPr indent="266700" algn="just" eaLnBrk="0" hangingPunct="0">
              <a:lnSpc>
                <a:spcPct val="130000"/>
              </a:lnSpc>
              <a:spcBef>
                <a:spcPct val="50000"/>
              </a:spcBef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    WHERE SNO=:</a:t>
            </a:r>
            <a:r>
              <a:rPr lang="en-US" altLang="zh-CN" sz="2800" b="1" dirty="0" err="1">
                <a:solidFill>
                  <a:schemeClr val="bg2"/>
                </a:solidFill>
              </a:rPr>
              <a:t>givensno</a:t>
            </a:r>
            <a:r>
              <a:rPr lang="en-US" altLang="zh-CN" sz="2800" b="1" dirty="0">
                <a:solidFill>
                  <a:schemeClr val="bg2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ChangeArrowheads="1"/>
          </p:cNvSpPr>
          <p:nvPr/>
        </p:nvSpPr>
        <p:spPr bwMode="auto">
          <a:xfrm>
            <a:off x="0" y="-10674350"/>
            <a:ext cx="9144000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30000"/>
              </a:lnSpc>
              <a:spcBef>
                <a:spcPct val="50000"/>
              </a:spcBef>
            </a:pPr>
            <a:endParaRPr lang="zh-CN" altLang="zh-CN" sz="2400" b="1">
              <a:latin typeface="Times New Roman" pitchFamily="18" charset="0"/>
            </a:endParaRPr>
          </a:p>
        </p:txBody>
      </p:sp>
      <p:sp>
        <p:nvSpPr>
          <p:cNvPr id="107523" name="Rectangle 3"/>
          <p:cNvSpPr>
            <a:spLocks noChangeArrowheads="1"/>
          </p:cNvSpPr>
          <p:nvPr/>
        </p:nvSpPr>
        <p:spPr bwMode="auto">
          <a:xfrm>
            <a:off x="0" y="0"/>
            <a:ext cx="9144000" cy="411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80000"/>
              </a:lnSpc>
              <a:tabLst>
                <a:tab pos="5067300" algn="l"/>
              </a:tabLst>
            </a:pPr>
            <a:r>
              <a:rPr lang="en-US" altLang="zh-CN" sz="3200" b="1" dirty="0">
                <a:solidFill>
                  <a:schemeClr val="bg2"/>
                </a:solidFill>
              </a:rPr>
              <a:t> </a:t>
            </a:r>
            <a:r>
              <a:rPr lang="en-US" altLang="zh-CN" sz="3200" b="1" dirty="0">
                <a:solidFill>
                  <a:srgbClr val="660033"/>
                </a:solidFill>
              </a:rPr>
              <a:t>⑶ </a:t>
            </a:r>
            <a:r>
              <a:rPr lang="zh-CN" altLang="en-US" sz="3200" b="1" dirty="0">
                <a:solidFill>
                  <a:srgbClr val="660033"/>
                </a:solidFill>
              </a:rPr>
              <a:t>涉及游标的嵌入式</a:t>
            </a:r>
            <a:r>
              <a:rPr lang="en-US" altLang="zh-CN" sz="3200" b="1" dirty="0">
                <a:solidFill>
                  <a:srgbClr val="660033"/>
                </a:solidFill>
              </a:rPr>
              <a:t>SQL DML</a:t>
            </a:r>
            <a:r>
              <a:rPr lang="zh-CN" altLang="en-US" sz="3200" b="1" dirty="0">
                <a:solidFill>
                  <a:srgbClr val="660033"/>
                </a:solidFill>
              </a:rPr>
              <a:t>语句</a:t>
            </a:r>
            <a:endParaRPr lang="zh-CN" altLang="en-US" sz="3200" b="1" dirty="0">
              <a:solidFill>
                <a:srgbClr val="660033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3200" b="1" dirty="0">
                <a:solidFill>
                  <a:schemeClr val="bg2"/>
                </a:solidFill>
              </a:rPr>
              <a:t>  </a:t>
            </a:r>
            <a:r>
              <a:rPr lang="en-US" altLang="zh-CN" sz="3200" b="1" dirty="0">
                <a:solidFill>
                  <a:srgbClr val="000066"/>
                </a:solidFill>
              </a:rPr>
              <a:t>a</a:t>
            </a:r>
            <a:r>
              <a:rPr lang="zh-CN" altLang="en-US" sz="3200" b="1" dirty="0">
                <a:solidFill>
                  <a:srgbClr val="000066"/>
                </a:solidFill>
              </a:rPr>
              <a:t>、当</a:t>
            </a:r>
            <a:r>
              <a:rPr lang="en-US" altLang="zh-CN" sz="3200" b="1" dirty="0">
                <a:solidFill>
                  <a:srgbClr val="000066"/>
                </a:solidFill>
              </a:rPr>
              <a:t>SELECT</a:t>
            </a:r>
            <a:r>
              <a:rPr lang="zh-CN" altLang="en-US" sz="3200" b="1" dirty="0">
                <a:solidFill>
                  <a:srgbClr val="000066"/>
                </a:solidFill>
              </a:rPr>
              <a:t>语句查询结果是</a:t>
            </a:r>
            <a:r>
              <a:rPr lang="zh-CN" altLang="en-US" sz="3200" b="1" dirty="0">
                <a:solidFill>
                  <a:srgbClr val="FF0000"/>
                </a:solidFill>
              </a:rPr>
              <a:t>多个元组</a:t>
            </a:r>
            <a:r>
              <a:rPr lang="zh-CN" altLang="en-US" sz="3200" b="1" dirty="0">
                <a:solidFill>
                  <a:srgbClr val="000066"/>
                </a:solidFill>
              </a:rPr>
              <a:t>时，此时要用</a:t>
            </a:r>
            <a:r>
              <a:rPr lang="zh-CN" altLang="en-US" sz="3200" b="1" dirty="0">
                <a:solidFill>
                  <a:srgbClr val="FF0000"/>
                </a:solidFill>
              </a:rPr>
              <a:t>游标</a:t>
            </a:r>
            <a:r>
              <a:rPr lang="zh-CN" altLang="en-US" sz="3200" b="1" dirty="0">
                <a:solidFill>
                  <a:srgbClr val="000066"/>
                </a:solidFill>
              </a:rPr>
              <a:t>机制把多个元组一次一个地传送给宿主语言程序处理。</a:t>
            </a:r>
            <a:endParaRPr lang="zh-CN" altLang="en-US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eaLnBrk="0" hangingPunct="0">
              <a:lnSpc>
                <a:spcPct val="130000"/>
              </a:lnSpc>
              <a:tabLst>
                <a:tab pos="5067300" algn="l"/>
              </a:tabLst>
            </a:pPr>
            <a:endParaRPr lang="en-US" altLang="zh-CN" sz="24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3645024"/>
            <a:ext cx="9144000" cy="2751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3200" b="1" dirty="0">
                <a:solidFill>
                  <a:schemeClr val="bg2"/>
                </a:solidFill>
              </a:rPr>
              <a:t>例</a:t>
            </a:r>
            <a:r>
              <a:rPr lang="en-US" altLang="zh-CN" sz="3200" b="1" dirty="0">
                <a:solidFill>
                  <a:schemeClr val="bg2"/>
                </a:solidFill>
              </a:rPr>
              <a:t>: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在关系</a:t>
            </a: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SC</a:t>
            </a:r>
            <a:r>
              <a:rPr lang="zh-CN" altLang="en-US" sz="3200" b="1" dirty="0">
                <a:solidFill>
                  <a:schemeClr val="bg2"/>
                </a:solidFill>
              </a:rPr>
              <a:t>表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中检索某</a:t>
            </a:r>
            <a:r>
              <a:rPr lang="zh-CN" altLang="en-US" sz="3200" b="1" dirty="0">
                <a:solidFill>
                  <a:schemeClr val="bg2"/>
                </a:solidFill>
              </a:rPr>
              <a:t>学生</a:t>
            </a: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(</a:t>
            </a:r>
            <a:r>
              <a:rPr lang="zh-CN" altLang="en-US" sz="3200" b="1" dirty="0">
                <a:solidFill>
                  <a:schemeClr val="bg2"/>
                </a:solidFill>
              </a:rPr>
              <a:t>学生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名由共享变量</a:t>
            </a:r>
            <a:r>
              <a:rPr lang="en-US" altLang="zh-CN" sz="3200" b="1" dirty="0" err="1">
                <a:solidFill>
                  <a:schemeClr val="bg2"/>
                </a:solidFill>
                <a:cs typeface="Times New Roman" pitchFamily="18" charset="0"/>
              </a:rPr>
              <a:t>givensname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给出</a:t>
            </a: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)</a:t>
            </a:r>
            <a:r>
              <a:rPr lang="zh-CN" altLang="en-US" sz="3200" b="1" dirty="0">
                <a:solidFill>
                  <a:schemeClr val="bg2"/>
                </a:solidFill>
              </a:rPr>
              <a:t>选课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信息（</a:t>
            </a: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SNO,CNO,GRADE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）</a:t>
            </a: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,</a:t>
            </a:r>
          </a:p>
          <a:p>
            <a:pPr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  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该查询的</a:t>
            </a:r>
            <a:r>
              <a:rPr lang="en-US" altLang="zh-CN" sz="3200" b="1" dirty="0">
                <a:solidFill>
                  <a:schemeClr val="bg2"/>
                </a:solidFill>
                <a:cs typeface="Times New Roman" pitchFamily="18" charset="0"/>
              </a:rPr>
              <a:t>C</a:t>
            </a:r>
            <a:r>
              <a:rPr lang="zh-CN" altLang="en-US" sz="3200" b="1" dirty="0">
                <a:solidFill>
                  <a:schemeClr val="bg2"/>
                </a:solidFill>
                <a:cs typeface="Times New Roman" pitchFamily="18" charset="0"/>
              </a:rPr>
              <a:t>语言程序段：</a:t>
            </a:r>
            <a:endParaRPr lang="en-US" altLang="zh-CN" sz="2400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152400" y="227013"/>
            <a:ext cx="9144000" cy="764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BEGIN DECLARE SECTION;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en-US" altLang="zh-CN" sz="2800" b="1" dirty="0" err="1">
                <a:solidFill>
                  <a:schemeClr val="bg2"/>
                </a:solidFill>
              </a:rPr>
              <a:t>int</a:t>
            </a:r>
            <a:r>
              <a:rPr lang="en-US" altLang="zh-CN" sz="2800" b="1" dirty="0">
                <a:solidFill>
                  <a:schemeClr val="bg2"/>
                </a:solidFill>
              </a:rPr>
              <a:t> grade</a:t>
            </a:r>
            <a:r>
              <a:rPr lang="zh-CN" altLang="en-US" sz="2800" b="1" dirty="0">
                <a:solidFill>
                  <a:schemeClr val="bg2"/>
                </a:solidFill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</a:rPr>
              <a:t>rise;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char </a:t>
            </a:r>
            <a:r>
              <a:rPr lang="en-US" altLang="zh-CN" sz="2800" b="1" dirty="0" err="1">
                <a:solidFill>
                  <a:schemeClr val="bg2"/>
                </a:solidFill>
              </a:rPr>
              <a:t>sno</a:t>
            </a:r>
            <a:r>
              <a:rPr lang="en-US" altLang="zh-CN" sz="2800" b="1" dirty="0">
                <a:solidFill>
                  <a:schemeClr val="bg2"/>
                </a:solidFill>
              </a:rPr>
              <a:t>[5],</a:t>
            </a:r>
            <a:r>
              <a:rPr lang="en-US" altLang="zh-CN" sz="2800" b="1" dirty="0" err="1">
                <a:solidFill>
                  <a:schemeClr val="bg2"/>
                </a:solidFill>
              </a:rPr>
              <a:t>cno</a:t>
            </a:r>
            <a:r>
              <a:rPr lang="en-US" altLang="zh-CN" sz="2800" b="1" dirty="0">
                <a:solidFill>
                  <a:schemeClr val="bg2"/>
                </a:solidFill>
              </a:rPr>
              <a:t>[5], </a:t>
            </a:r>
            <a:r>
              <a:rPr lang="en-US" altLang="zh-CN" sz="2800" b="1" dirty="0" err="1">
                <a:solidFill>
                  <a:schemeClr val="bg2"/>
                </a:solidFill>
              </a:rPr>
              <a:t>givensname</a:t>
            </a:r>
            <a:r>
              <a:rPr lang="en-US" altLang="zh-CN" sz="2800" b="1" dirty="0">
                <a:solidFill>
                  <a:schemeClr val="bg2"/>
                </a:solidFill>
              </a:rPr>
              <a:t>[9]</a:t>
            </a:r>
            <a:r>
              <a:rPr lang="zh-CN" altLang="en-US" sz="2800" b="1" dirty="0">
                <a:solidFill>
                  <a:schemeClr val="bg2"/>
                </a:solidFill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</a:rPr>
              <a:t>SQLSTATE[6];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END DECLARE SECTION;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1"/>
                </a:solidFill>
              </a:rPr>
              <a:t>DECLARE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 err="1">
                <a:solidFill>
                  <a:schemeClr val="bg2"/>
                </a:solidFill>
              </a:rPr>
              <a:t>scx</a:t>
            </a:r>
            <a:r>
              <a:rPr lang="en-US" altLang="zh-CN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1"/>
                </a:solidFill>
              </a:rPr>
              <a:t>CURSOR FOR</a:t>
            </a:r>
            <a:endParaRPr lang="en-US" altLang="zh-CN" sz="28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SELECT SNO,CNO,GRADE 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FROM SC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WHERE SNO=</a:t>
            </a:r>
            <a:r>
              <a:rPr lang="zh-CN" altLang="en-US" sz="2800" b="1" dirty="0">
                <a:solidFill>
                  <a:schemeClr val="bg2"/>
                </a:solidFill>
              </a:rPr>
              <a:t>（</a:t>
            </a:r>
            <a:r>
              <a:rPr lang="en-US" altLang="zh-CN" sz="2800" b="1" dirty="0">
                <a:solidFill>
                  <a:schemeClr val="bg2"/>
                </a:solidFill>
              </a:rPr>
              <a:t>SELECT SNO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    FROM S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        WHERE SNAME=:</a:t>
            </a:r>
            <a:r>
              <a:rPr lang="en-US" altLang="zh-CN" sz="2800" b="1" dirty="0" err="1">
                <a:solidFill>
                  <a:schemeClr val="bg2"/>
                </a:solidFill>
              </a:rPr>
              <a:t>givensname</a:t>
            </a:r>
            <a:r>
              <a:rPr lang="en-US" altLang="zh-CN" sz="2800" b="1" dirty="0">
                <a:solidFill>
                  <a:schemeClr val="bg2"/>
                </a:solidFill>
              </a:rPr>
              <a:t>)</a:t>
            </a: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chemeClr val="bg1"/>
                </a:solidFill>
              </a:rPr>
              <a:t>FOR UPDATE  OF  GRADE</a:t>
            </a:r>
            <a:r>
              <a:rPr lang="zh-CN" altLang="en-US" sz="2800" b="1" dirty="0">
                <a:solidFill>
                  <a:schemeClr val="bg1"/>
                </a:solidFill>
              </a:rPr>
              <a:t>；</a:t>
            </a:r>
            <a:endParaRPr lang="zh-CN" altLang="en-US" sz="28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rgbClr val="660033"/>
                </a:solidFill>
              </a:rPr>
              <a:t>OPEN </a:t>
            </a:r>
            <a:r>
              <a:rPr lang="en-US" altLang="zh-CN" sz="2800" b="1" dirty="0" err="1">
                <a:solidFill>
                  <a:srgbClr val="660033"/>
                </a:solidFill>
              </a:rPr>
              <a:t>scx</a:t>
            </a:r>
            <a:r>
              <a:rPr lang="en-US" altLang="zh-CN" sz="2800" b="1" dirty="0">
                <a:solidFill>
                  <a:srgbClr val="660033"/>
                </a:solidFill>
              </a:rPr>
              <a:t>;</a:t>
            </a: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endParaRPr lang="en-US" altLang="zh-CN" sz="2800" b="1" dirty="0">
              <a:solidFill>
                <a:srgbClr val="660033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 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0" y="-171400"/>
            <a:ext cx="9144000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while(1)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{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1"/>
                </a:solidFill>
              </a:rPr>
              <a:t>FETCH</a:t>
            </a:r>
            <a:r>
              <a:rPr lang="en-US" altLang="zh-CN" sz="2800" b="1" dirty="0">
                <a:solidFill>
                  <a:schemeClr val="bg2"/>
                </a:solidFill>
              </a:rPr>
              <a:t> FROM </a:t>
            </a:r>
            <a:r>
              <a:rPr lang="en-US" altLang="zh-CN" sz="2800" b="1" dirty="0" err="1">
                <a:solidFill>
                  <a:schemeClr val="bg2"/>
                </a:solidFill>
              </a:rPr>
              <a:t>scx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  INTO :</a:t>
            </a:r>
            <a:r>
              <a:rPr lang="en-US" altLang="zh-CN" sz="2800" b="1" dirty="0" err="1">
                <a:solidFill>
                  <a:schemeClr val="bg2"/>
                </a:solidFill>
              </a:rPr>
              <a:t>sno</a:t>
            </a:r>
            <a:r>
              <a:rPr lang="en-US" altLang="zh-CN" sz="2800" b="1" dirty="0">
                <a:solidFill>
                  <a:schemeClr val="bg2"/>
                </a:solidFill>
              </a:rPr>
              <a:t>,:</a:t>
            </a:r>
            <a:r>
              <a:rPr lang="en-US" altLang="zh-CN" sz="2800" b="1" dirty="0" err="1">
                <a:solidFill>
                  <a:schemeClr val="bg2"/>
                </a:solidFill>
              </a:rPr>
              <a:t>cno</a:t>
            </a:r>
            <a:r>
              <a:rPr lang="en-US" altLang="zh-CN" sz="2800" b="1" dirty="0">
                <a:solidFill>
                  <a:schemeClr val="bg2"/>
                </a:solidFill>
              </a:rPr>
              <a:t>,:grade;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if (</a:t>
            </a:r>
            <a:r>
              <a:rPr lang="en-US" altLang="zh-CN" sz="2400" b="1" dirty="0">
                <a:solidFill>
                  <a:srgbClr val="660033"/>
                </a:solidFill>
              </a:rPr>
              <a:t>SQLCA.SQLSTATE = =‘02000</a:t>
            </a:r>
            <a:r>
              <a:rPr lang="en-US" altLang="zh-CN" sz="2400" b="1" dirty="0">
                <a:solidFill>
                  <a:srgbClr val="660033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rgbClr val="660033"/>
                </a:solidFill>
              </a:rPr>
              <a:t>)</a:t>
            </a:r>
            <a:r>
              <a:rPr lang="en-US" altLang="zh-CN" sz="2400" b="1" dirty="0">
                <a:solidFill>
                  <a:schemeClr val="bg2"/>
                </a:solidFill>
              </a:rPr>
              <a:t> /﹡</a:t>
            </a:r>
            <a:r>
              <a:rPr lang="zh-CN" altLang="en-US" sz="2400" b="1" dirty="0">
                <a:solidFill>
                  <a:schemeClr val="bg2"/>
                </a:solidFill>
              </a:rPr>
              <a:t>未找到数据，</a:t>
            </a:r>
            <a:endParaRPr lang="en-US" altLang="zh-CN" sz="2400" b="1" dirty="0">
              <a:solidFill>
                <a:schemeClr val="bg2"/>
              </a:solidFill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                        已取完查询结果中的所有元组</a:t>
            </a:r>
            <a:r>
              <a:rPr lang="en-US" altLang="zh-CN" sz="2400" b="1" dirty="0">
                <a:solidFill>
                  <a:schemeClr val="bg2"/>
                </a:solidFill>
              </a:rPr>
              <a:t>﹡/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break;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if (</a:t>
            </a:r>
            <a:r>
              <a:rPr lang="en-US" altLang="zh-CN" sz="2400" b="1" dirty="0">
                <a:solidFill>
                  <a:srgbClr val="660033"/>
                </a:solidFill>
              </a:rPr>
              <a:t>SQLCA.SQLSTATE != </a:t>
            </a:r>
            <a:r>
              <a:rPr lang="en-US" altLang="zh-CN" sz="2400" b="1" dirty="0">
                <a:solidFill>
                  <a:srgbClr val="660033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rgbClr val="660033"/>
                </a:solidFill>
              </a:rPr>
              <a:t>00000</a:t>
            </a:r>
            <a:r>
              <a:rPr lang="en-US" altLang="zh-CN" sz="2400" b="1" dirty="0">
                <a:solidFill>
                  <a:srgbClr val="660033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rgbClr val="000066"/>
                </a:solidFill>
              </a:rPr>
              <a:t>)  </a:t>
            </a:r>
            <a:r>
              <a:rPr lang="en-US" altLang="zh-CN" sz="2400" b="1" dirty="0">
                <a:solidFill>
                  <a:schemeClr val="bg2"/>
                </a:solidFill>
              </a:rPr>
              <a:t> /﹡</a:t>
            </a:r>
            <a:r>
              <a:rPr lang="zh-CN" altLang="en-US" sz="2400" b="1" dirty="0">
                <a:solidFill>
                  <a:schemeClr val="bg2"/>
                </a:solidFill>
              </a:rPr>
              <a:t>取数据出错</a:t>
            </a:r>
            <a:r>
              <a:rPr lang="en-US" altLang="zh-CN" sz="2400" b="1" dirty="0">
                <a:solidFill>
                  <a:schemeClr val="bg2"/>
                </a:solidFill>
              </a:rPr>
              <a:t>﹡/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  break;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 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…</a:t>
            </a:r>
            <a:r>
              <a:rPr lang="en-US" altLang="zh-CN" sz="2400" b="1" dirty="0">
                <a:solidFill>
                  <a:schemeClr val="bg2"/>
                </a:solidFill>
              </a:rPr>
              <a:t>                  /﹡</a:t>
            </a:r>
            <a:r>
              <a:rPr lang="zh-CN" altLang="en-US" sz="2400" b="1" dirty="0">
                <a:solidFill>
                  <a:schemeClr val="bg2"/>
                </a:solidFill>
              </a:rPr>
              <a:t>对游标所取的数据进行处理</a:t>
            </a:r>
            <a:r>
              <a:rPr lang="en-US" altLang="zh-CN" sz="2400" b="1" dirty="0">
                <a:solidFill>
                  <a:schemeClr val="bg2"/>
                </a:solidFill>
              </a:rPr>
              <a:t>﹡/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 err="1">
                <a:solidFill>
                  <a:schemeClr val="bg2"/>
                </a:solidFill>
              </a:rPr>
              <a:t>printf</a:t>
            </a:r>
            <a:r>
              <a:rPr lang="en-US" altLang="zh-CN" sz="2800" b="1" dirty="0">
                <a:solidFill>
                  <a:schemeClr val="bg2"/>
                </a:solidFill>
              </a:rPr>
              <a:t>(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en-US" altLang="zh-CN" sz="2800" b="1" dirty="0">
                <a:solidFill>
                  <a:schemeClr val="bg2"/>
                </a:solidFill>
              </a:rPr>
              <a:t>%s,%s,%d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en-US" altLang="zh-CN" sz="2800" b="1" dirty="0" err="1">
                <a:solidFill>
                  <a:schemeClr val="bg2"/>
                </a:solidFill>
              </a:rPr>
              <a:t>sno,cno,grade</a:t>
            </a:r>
            <a:r>
              <a:rPr lang="en-US" altLang="zh-CN" sz="2800" b="1" dirty="0">
                <a:solidFill>
                  <a:schemeClr val="bg2"/>
                </a:solidFill>
              </a:rPr>
              <a:t>);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}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indent="333375"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rgbClr val="C00000"/>
                </a:solidFill>
              </a:rPr>
              <a:t>EXEC SQL </a:t>
            </a:r>
            <a:r>
              <a:rPr lang="en-US" altLang="zh-CN" sz="2400" b="1" dirty="0">
                <a:solidFill>
                  <a:schemeClr val="bg1"/>
                </a:solidFill>
              </a:rPr>
              <a:t>CLOSE </a:t>
            </a:r>
            <a:r>
              <a:rPr lang="en-US" altLang="zh-CN" sz="2400" b="1" dirty="0" err="1">
                <a:solidFill>
                  <a:schemeClr val="bg1"/>
                </a:solidFill>
              </a:rPr>
              <a:t>scx</a:t>
            </a:r>
            <a:r>
              <a:rPr lang="en-US" altLang="zh-CN" sz="2400" b="1" dirty="0">
                <a:solidFill>
                  <a:schemeClr val="bg1"/>
                </a:solidFill>
              </a:rPr>
              <a:t>;</a:t>
            </a:r>
            <a:endParaRPr lang="en-US" altLang="zh-CN" sz="2400" b="1" dirty="0">
              <a:solidFill>
                <a:schemeClr val="bg1"/>
              </a:solidFill>
              <a:latin typeface="Times New Roman" pitchFamily="18" charset="0"/>
            </a:endParaRPr>
          </a:p>
          <a:p>
            <a:pPr indent="333375" eaLnBrk="0" hangingPunct="0">
              <a:tabLst>
                <a:tab pos="5067300" algn="l"/>
              </a:tabLst>
            </a:pPr>
            <a:endParaRPr lang="en-US" altLang="zh-CN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265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333375" algn="just">
              <a:lnSpc>
                <a:spcPct val="160000"/>
              </a:lnSpc>
              <a:tabLst>
                <a:tab pos="5067300" algn="l"/>
              </a:tabLst>
            </a:pPr>
            <a:r>
              <a:rPr lang="en-US" altLang="zh-CN" sz="3600" b="1" dirty="0">
                <a:solidFill>
                  <a:srgbClr val="003399"/>
                </a:solidFill>
              </a:rPr>
              <a:t>b.</a:t>
            </a:r>
            <a:r>
              <a:rPr lang="zh-CN" altLang="en-US" sz="3600" b="1" dirty="0">
                <a:solidFill>
                  <a:srgbClr val="003399"/>
                </a:solidFill>
              </a:rPr>
              <a:t>对游标指向的元组进行修改或删除操作</a:t>
            </a:r>
            <a:r>
              <a:rPr lang="zh-CN" altLang="en-US" sz="3600" b="1" dirty="0">
                <a:solidFill>
                  <a:srgbClr val="003399"/>
                </a:solidFill>
                <a:latin typeface="Times New Roman" pitchFamily="18" charset="0"/>
              </a:rPr>
              <a:t>       </a:t>
            </a:r>
          </a:p>
          <a:p>
            <a:pPr indent="333375" algn="just">
              <a:lnSpc>
                <a:spcPct val="160000"/>
              </a:lnSpc>
              <a:tabLst>
                <a:tab pos="5067300" algn="l"/>
              </a:tabLst>
            </a:pPr>
            <a:r>
              <a:rPr lang="zh-CN" altLang="en-US" sz="3600" b="1" dirty="0">
                <a:solidFill>
                  <a:srgbClr val="003399"/>
                </a:solidFill>
                <a:latin typeface="Times New Roman" pitchFamily="18" charset="0"/>
              </a:rPr>
              <a:t>    </a:t>
            </a:r>
            <a:r>
              <a:rPr lang="zh-CN" altLang="en-US" sz="3200" b="1" dirty="0">
                <a:solidFill>
                  <a:srgbClr val="003399"/>
                </a:solidFill>
              </a:rPr>
              <a:t>当游标处于活动状态时，可以修改或删除游</a:t>
            </a:r>
          </a:p>
          <a:p>
            <a:pPr indent="333375" algn="just">
              <a:lnSpc>
                <a:spcPct val="160000"/>
              </a:lnSpc>
              <a:tabLst>
                <a:tab pos="5067300" algn="l"/>
              </a:tabLst>
            </a:pPr>
            <a:r>
              <a:rPr lang="zh-CN" altLang="en-US" sz="3200" b="1" dirty="0">
                <a:solidFill>
                  <a:srgbClr val="003399"/>
                </a:solidFill>
              </a:rPr>
              <a:t>  标指向的元组。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79512" y="2204864"/>
            <a:ext cx="8928992" cy="42350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333375" algn="just" eaLnBrk="0" hangingPunct="0">
              <a:lnSpc>
                <a:spcPct val="130000"/>
              </a:lnSpc>
              <a:tabLst>
                <a:tab pos="5067300" algn="l"/>
              </a:tabLst>
            </a:pPr>
            <a:endParaRPr lang="zh-CN" altLang="en-US" sz="2400" b="1" dirty="0">
              <a:solidFill>
                <a:srgbClr val="003399"/>
              </a:solidFill>
            </a:endParaRPr>
          </a:p>
          <a:p>
            <a:pPr indent="333375" algn="just" eaLnBrk="0" hangingPunct="0">
              <a:lnSpc>
                <a:spcPct val="13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例：在上面的例子中，对找到的元组做如下处理：</a:t>
            </a:r>
          </a:p>
          <a:p>
            <a:pPr indent="333375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删除不及格的选课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</a:rPr>
              <a:t>将</a:t>
            </a:r>
            <a:r>
              <a:rPr lang="en-US" altLang="zh-CN" sz="2800" b="1" dirty="0">
                <a:solidFill>
                  <a:schemeClr val="bg2"/>
                </a:solidFill>
              </a:rPr>
              <a:t>60</a:t>
            </a:r>
            <a:r>
              <a:rPr lang="en-US" altLang="zh-CN" sz="2800" b="1" dirty="0">
                <a:solidFill>
                  <a:schemeClr val="bg2"/>
                </a:solidFill>
                <a:sym typeface="Symbol" pitchFamily="18" charset="2"/>
              </a:rPr>
              <a:t></a:t>
            </a:r>
            <a:r>
              <a:rPr lang="en-US" altLang="zh-CN" sz="2800" b="1" dirty="0">
                <a:solidFill>
                  <a:schemeClr val="bg2"/>
                </a:solidFill>
              </a:rPr>
              <a:t>69</a:t>
            </a:r>
            <a:r>
              <a:rPr lang="zh-CN" altLang="en-US" sz="2800" b="1" dirty="0">
                <a:solidFill>
                  <a:schemeClr val="bg2"/>
                </a:solidFill>
              </a:rPr>
              <a:t>分的成绩增加由共享变量</a:t>
            </a:r>
            <a:r>
              <a:rPr lang="en-US" altLang="zh-CN" sz="2800" b="1" dirty="0">
                <a:solidFill>
                  <a:schemeClr val="bg2"/>
                </a:solidFill>
              </a:rPr>
              <a:t>rise</a:t>
            </a:r>
            <a:r>
              <a:rPr lang="zh-CN" altLang="en-US" sz="2800" b="1" dirty="0">
                <a:solidFill>
                  <a:schemeClr val="bg2"/>
                </a:solidFill>
              </a:rPr>
              <a:t>提供的值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zh-CN" altLang="en-US" sz="2800" b="1" dirty="0">
                <a:solidFill>
                  <a:schemeClr val="bg2"/>
                </a:solidFill>
              </a:rPr>
              <a:t>再显示该学生的成绩信息</a:t>
            </a:r>
            <a:r>
              <a:rPr lang="en-US" altLang="zh-CN" sz="2800" b="1" dirty="0">
                <a:solidFill>
                  <a:schemeClr val="bg2"/>
                </a:solidFill>
              </a:rPr>
              <a:t>(SNO,CNO,GRADE).</a:t>
            </a:r>
          </a:p>
          <a:p>
            <a:pPr indent="333375" algn="just" eaLnBrk="0" hangingPunct="0">
              <a:lnSpc>
                <a:spcPct val="18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</a:t>
            </a:r>
            <a:r>
              <a:rPr lang="zh-CN" altLang="en-US" sz="2800" b="1" dirty="0">
                <a:solidFill>
                  <a:schemeClr val="bg2"/>
                </a:solidFill>
              </a:rPr>
              <a:t>在上例中的”</a:t>
            </a:r>
            <a:r>
              <a:rPr lang="en-US" altLang="zh-CN" sz="2800" b="1" dirty="0">
                <a:solidFill>
                  <a:schemeClr val="bg2"/>
                </a:solidFill>
              </a:rPr>
              <a:t>While(1){…}</a:t>
            </a:r>
            <a:r>
              <a:rPr lang="zh-CN" altLang="en-US" sz="2800" b="1" dirty="0">
                <a:solidFill>
                  <a:schemeClr val="bg2"/>
                </a:solidFill>
              </a:rPr>
              <a:t>语句改为如下形式：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0" y="209550"/>
            <a:ext cx="91440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while(1)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{ </a:t>
            </a:r>
            <a:r>
              <a:rPr lang="en-US" altLang="zh-CN" sz="2400" b="1" dirty="0">
                <a:solidFill>
                  <a:srgbClr val="C00000"/>
                </a:solidFill>
              </a:rPr>
              <a:t>EXEC SQL </a:t>
            </a:r>
            <a:r>
              <a:rPr lang="en-US" altLang="zh-CN" sz="2400" b="1" dirty="0">
                <a:solidFill>
                  <a:schemeClr val="bg2"/>
                </a:solidFill>
              </a:rPr>
              <a:t>FETCH FROM </a:t>
            </a:r>
            <a:r>
              <a:rPr lang="en-US" altLang="zh-CN" sz="2400" b="1" dirty="0" err="1">
                <a:solidFill>
                  <a:schemeClr val="bg2"/>
                </a:solidFill>
              </a:rPr>
              <a:t>scx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INTO  :</a:t>
            </a:r>
            <a:r>
              <a:rPr lang="en-US" altLang="zh-CN" sz="2400" b="1" dirty="0" err="1">
                <a:solidFill>
                  <a:schemeClr val="bg2"/>
                </a:solidFill>
              </a:rPr>
              <a:t>sno</a:t>
            </a:r>
            <a:r>
              <a:rPr lang="en-US" altLang="zh-CN" sz="2400" b="1" dirty="0">
                <a:solidFill>
                  <a:schemeClr val="bg2"/>
                </a:solidFill>
              </a:rPr>
              <a:t>,:</a:t>
            </a:r>
            <a:r>
              <a:rPr lang="en-US" altLang="zh-CN" sz="2400" b="1" dirty="0" err="1">
                <a:solidFill>
                  <a:schemeClr val="bg2"/>
                </a:solidFill>
              </a:rPr>
              <a:t>cno</a:t>
            </a:r>
            <a:r>
              <a:rPr lang="en-US" altLang="zh-CN" sz="2400" b="1" dirty="0">
                <a:solidFill>
                  <a:schemeClr val="bg2"/>
                </a:solidFill>
              </a:rPr>
              <a:t>,:grade;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if (SQLCA.SQLSTATE = ='02000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) </a:t>
            </a:r>
            <a:r>
              <a:rPr lang="en-US" altLang="zh-CN" b="1" dirty="0">
                <a:solidFill>
                  <a:schemeClr val="bg2"/>
                </a:solidFill>
              </a:rPr>
              <a:t>/﹡</a:t>
            </a:r>
            <a:r>
              <a:rPr lang="zh-CN" altLang="en-US" b="1" dirty="0">
                <a:solidFill>
                  <a:schemeClr val="bg2"/>
                </a:solidFill>
              </a:rPr>
              <a:t>已经取完查询结果中的所有元组</a:t>
            </a:r>
            <a:r>
              <a:rPr lang="en-US" altLang="zh-CN" b="1" dirty="0">
                <a:solidFill>
                  <a:schemeClr val="bg2"/>
                </a:solidFill>
              </a:rPr>
              <a:t>﹡/</a:t>
            </a:r>
            <a:endParaRPr lang="en-US" altLang="zh-CN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break;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if (SQLCA.SQLSTATE </a:t>
            </a:r>
            <a:r>
              <a:rPr lang="zh-CN" altLang="en-US" sz="2400" b="1" dirty="0">
                <a:solidFill>
                  <a:schemeClr val="bg2"/>
                </a:solidFill>
              </a:rPr>
              <a:t>！</a:t>
            </a:r>
            <a:r>
              <a:rPr lang="en-US" altLang="zh-CN" sz="2400" b="1" dirty="0">
                <a:solidFill>
                  <a:schemeClr val="bg2"/>
                </a:solidFill>
              </a:rPr>
              <a:t>=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00000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’</a:t>
            </a:r>
            <a:r>
              <a:rPr lang="en-US" altLang="zh-CN" sz="2400" b="1" dirty="0">
                <a:solidFill>
                  <a:schemeClr val="bg2"/>
                </a:solidFill>
              </a:rPr>
              <a:t>)   /﹡ </a:t>
            </a:r>
            <a:r>
              <a:rPr lang="zh-CN" altLang="en-US" sz="2400" b="1" dirty="0">
                <a:solidFill>
                  <a:schemeClr val="bg2"/>
                </a:solidFill>
              </a:rPr>
              <a:t>取数据出错</a:t>
            </a:r>
            <a:r>
              <a:rPr lang="en-US" altLang="zh-CN" sz="2400" b="1" dirty="0">
                <a:solidFill>
                  <a:schemeClr val="bg2"/>
                </a:solidFill>
              </a:rPr>
              <a:t>﹡/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break;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</a:t>
            </a:r>
            <a:r>
              <a:rPr lang="en-US" altLang="zh-CN" sz="2400" b="1" dirty="0">
                <a:solidFill>
                  <a:schemeClr val="bg2"/>
                </a:solidFill>
                <a:highlight>
                  <a:srgbClr val="FFFF00"/>
                </a:highlight>
              </a:rPr>
              <a:t>if (grade&lt;60)</a:t>
            </a:r>
            <a:endParaRPr lang="en-US" altLang="zh-CN" sz="24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highlight>
                  <a:srgbClr val="FFFF00"/>
                </a:highlight>
              </a:rPr>
              <a:t>          </a:t>
            </a:r>
            <a:r>
              <a:rPr lang="en-US" altLang="zh-CN" sz="2400" b="1" dirty="0">
                <a:solidFill>
                  <a:srgbClr val="C00000"/>
                </a:solidFill>
                <a:highlight>
                  <a:srgbClr val="FFFF00"/>
                </a:highlight>
              </a:rPr>
              <a:t>EXEC SQL </a:t>
            </a:r>
            <a:r>
              <a:rPr lang="en-US" altLang="zh-CN" sz="2400" b="1" dirty="0">
                <a:solidFill>
                  <a:schemeClr val="bg2"/>
                </a:solidFill>
                <a:highlight>
                  <a:srgbClr val="FFFF00"/>
                </a:highlight>
              </a:rPr>
              <a:t>DELETE FROM SC</a:t>
            </a:r>
            <a:endParaRPr lang="en-US" altLang="zh-CN" sz="24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  <a:highlight>
                  <a:srgbClr val="FFFF00"/>
                </a:highlight>
              </a:rPr>
              <a:t>                   WHERE CURRENT OF </a:t>
            </a:r>
            <a:r>
              <a:rPr lang="en-US" altLang="zh-CN" sz="2400" b="1" dirty="0" err="1">
                <a:solidFill>
                  <a:schemeClr val="bg2"/>
                </a:solidFill>
                <a:highlight>
                  <a:srgbClr val="FFFF00"/>
                </a:highlight>
              </a:rPr>
              <a:t>scx</a:t>
            </a:r>
            <a:r>
              <a:rPr lang="en-US" altLang="zh-CN" sz="2400" b="1" dirty="0">
                <a:solidFill>
                  <a:schemeClr val="bg2"/>
                </a:solidFill>
                <a:highlight>
                  <a:srgbClr val="FFFF00"/>
                </a:highlight>
              </a:rPr>
              <a:t>;</a:t>
            </a:r>
            <a:endParaRPr lang="en-US" altLang="zh-CN" sz="24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else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        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114300" y="228600"/>
            <a:ext cx="8915400" cy="7731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{if (grade&lt;70)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      </a:t>
            </a: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{</a:t>
            </a:r>
            <a:r>
              <a:rPr lang="en-US" altLang="zh-CN" sz="2800" b="1" dirty="0">
                <a:solidFill>
                  <a:srgbClr val="C00000"/>
                </a:solidFill>
                <a:highlight>
                  <a:srgbClr val="FFFF00"/>
                </a:highlight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UPDATE C</a:t>
            </a:r>
            <a:endParaRPr lang="en-US" altLang="zh-CN" sz="28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              SET GRADE=GRADE+:rise</a:t>
            </a:r>
            <a:endParaRPr lang="en-US" altLang="zh-CN" sz="28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              WHERE CURRENT OF </a:t>
            </a:r>
            <a:r>
              <a:rPr lang="en-US" altLang="zh-CN" sz="2800" b="1" dirty="0" err="1">
                <a:solidFill>
                  <a:schemeClr val="bg2"/>
                </a:solidFill>
                <a:highlight>
                  <a:srgbClr val="FFFF00"/>
                </a:highlight>
              </a:rPr>
              <a:t>scx</a:t>
            </a: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;</a:t>
            </a:r>
            <a:endParaRPr lang="en-US" altLang="zh-CN" sz="28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              grade=</a:t>
            </a:r>
            <a:r>
              <a:rPr lang="en-US" altLang="zh-CN" sz="2800" b="1" dirty="0" err="1">
                <a:solidFill>
                  <a:schemeClr val="bg2"/>
                </a:solidFill>
                <a:highlight>
                  <a:srgbClr val="FFFF00"/>
                </a:highlight>
              </a:rPr>
              <a:t>grade+rise</a:t>
            </a:r>
            <a:r>
              <a:rPr lang="en-US" altLang="zh-CN" sz="2800" b="1" dirty="0">
                <a:solidFill>
                  <a:schemeClr val="bg2"/>
                </a:solidFill>
                <a:highlight>
                  <a:srgbClr val="FFFF00"/>
                </a:highlight>
              </a:rPr>
              <a:t>;}</a:t>
            </a:r>
            <a:endParaRPr lang="en-US" altLang="zh-CN" sz="2800" b="1" dirty="0">
              <a:solidFill>
                <a:schemeClr val="bg2"/>
              </a:solidFill>
              <a:highlight>
                <a:srgbClr val="FFFF00"/>
              </a:highlight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     </a:t>
            </a:r>
            <a:r>
              <a:rPr lang="en-US" altLang="zh-CN" sz="2800" b="1" dirty="0" err="1">
                <a:solidFill>
                  <a:schemeClr val="bg2"/>
                </a:solidFill>
              </a:rPr>
              <a:t>printf</a:t>
            </a:r>
            <a:r>
              <a:rPr lang="en-US" altLang="zh-CN" sz="2800" b="1" dirty="0">
                <a:solidFill>
                  <a:schemeClr val="bg2"/>
                </a:solidFill>
              </a:rPr>
              <a:t>(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“</a:t>
            </a:r>
            <a:r>
              <a:rPr lang="en-US" altLang="zh-CN" sz="2800" b="1" dirty="0">
                <a:solidFill>
                  <a:schemeClr val="bg2"/>
                </a:solidFill>
              </a:rPr>
              <a:t>%s,%s,%d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en-US" altLang="zh-CN" sz="2800" b="1" dirty="0">
                <a:solidFill>
                  <a:schemeClr val="bg2"/>
                </a:solidFill>
              </a:rPr>
              <a:t>,</a:t>
            </a:r>
            <a:r>
              <a:rPr lang="en-US" altLang="zh-CN" sz="2800" b="1" dirty="0" err="1">
                <a:solidFill>
                  <a:schemeClr val="bg2"/>
                </a:solidFill>
              </a:rPr>
              <a:t>sno,cno,grade</a:t>
            </a:r>
            <a:r>
              <a:rPr lang="en-US" altLang="zh-CN" sz="2800" b="1" dirty="0">
                <a:solidFill>
                  <a:schemeClr val="bg2"/>
                </a:solidFill>
              </a:rPr>
              <a:t>);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   </a:t>
            </a:r>
            <a:r>
              <a:rPr lang="zh-CN" altLang="en-US" sz="2800" b="1" dirty="0">
                <a:solidFill>
                  <a:schemeClr val="bg2"/>
                </a:solidFill>
              </a:rPr>
              <a:t> </a:t>
            </a:r>
            <a:r>
              <a:rPr lang="en-US" altLang="zh-CN" sz="2800" b="1" dirty="0">
                <a:solidFill>
                  <a:schemeClr val="bg2"/>
                </a:solidFill>
              </a:rPr>
              <a:t>}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2"/>
                </a:solidFill>
              </a:rPr>
              <a:t>}</a:t>
            </a:r>
            <a:endParaRPr lang="en-US" altLang="zh-CN" sz="28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</a:t>
            </a: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algn="just" eaLnBrk="0" hangingPunct="0">
              <a:lnSpc>
                <a:spcPct val="80000"/>
              </a:lnSpc>
              <a:spcBef>
                <a:spcPct val="50000"/>
              </a:spcBef>
            </a:pPr>
            <a:endParaRPr lang="en-US" altLang="zh-CN" sz="2400" b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12643" name="Oval 3"/>
          <p:cNvSpPr>
            <a:spLocks noChangeArrowheads="1"/>
          </p:cNvSpPr>
          <p:nvPr/>
        </p:nvSpPr>
        <p:spPr bwMode="auto">
          <a:xfrm>
            <a:off x="7543800" y="5867400"/>
            <a:ext cx="1219200" cy="609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  <p:sp>
        <p:nvSpPr>
          <p:cNvPr id="112644" name="Oval 4"/>
          <p:cNvSpPr>
            <a:spLocks noChangeArrowheads="1"/>
          </p:cNvSpPr>
          <p:nvPr/>
        </p:nvSpPr>
        <p:spPr bwMode="auto">
          <a:xfrm>
            <a:off x="6248400" y="5715000"/>
            <a:ext cx="1447800" cy="533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  <p:sp>
        <p:nvSpPr>
          <p:cNvPr id="112645" name="Oval 5"/>
          <p:cNvSpPr>
            <a:spLocks noChangeArrowheads="1"/>
          </p:cNvSpPr>
          <p:nvPr/>
        </p:nvSpPr>
        <p:spPr bwMode="auto">
          <a:xfrm>
            <a:off x="6553200" y="5638800"/>
            <a:ext cx="15240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  <p:sp>
        <p:nvSpPr>
          <p:cNvPr id="112646" name="Oval 7"/>
          <p:cNvSpPr>
            <a:spLocks noChangeArrowheads="1"/>
          </p:cNvSpPr>
          <p:nvPr/>
        </p:nvSpPr>
        <p:spPr bwMode="auto">
          <a:xfrm>
            <a:off x="7010400" y="5715000"/>
            <a:ext cx="1905000" cy="914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657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四、动态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r>
              <a:rPr lang="zh-CN" altLang="en-US" sz="2800" b="1" dirty="0">
                <a:solidFill>
                  <a:schemeClr val="bg1"/>
                </a:solidFill>
              </a:rPr>
              <a:t>语句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在实际问题中，用户对数据库的操作有时在系统运行时才能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提出来，这时要用到嵌入式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的动态技术才能实现。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动态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技术主要有两个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语句：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1"/>
                </a:solidFill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</a:rPr>
              <a:t>1</a:t>
            </a:r>
            <a:r>
              <a:rPr lang="zh-CN" altLang="en-US" sz="2400" b="1" dirty="0">
                <a:solidFill>
                  <a:schemeClr val="bg1"/>
                </a:solidFill>
              </a:rPr>
              <a:t>、动态</a:t>
            </a:r>
            <a:r>
              <a:rPr lang="en-US" altLang="zh-CN" sz="2400" b="1" dirty="0">
                <a:solidFill>
                  <a:schemeClr val="bg1"/>
                </a:solidFill>
              </a:rPr>
              <a:t>SQL</a:t>
            </a:r>
            <a:r>
              <a:rPr lang="zh-CN" altLang="en-US" sz="2400" b="1" dirty="0">
                <a:solidFill>
                  <a:schemeClr val="bg1"/>
                </a:solidFill>
              </a:rPr>
              <a:t>预备语句：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EXEC SQL </a:t>
            </a:r>
            <a:r>
              <a:rPr lang="en-US" altLang="zh-CN" sz="2400" b="1" dirty="0">
                <a:solidFill>
                  <a:schemeClr val="bg2"/>
                </a:solidFill>
              </a:rPr>
              <a:t>PREPARE &lt;</a:t>
            </a:r>
            <a:r>
              <a:rPr lang="zh-CN" altLang="en-US" sz="2400" b="1" dirty="0">
                <a:solidFill>
                  <a:schemeClr val="bg2"/>
                </a:solidFill>
              </a:rPr>
              <a:t>动态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语句名</a:t>
            </a:r>
            <a:r>
              <a:rPr lang="en-US" altLang="zh-CN" sz="2400" b="1" dirty="0">
                <a:solidFill>
                  <a:schemeClr val="bg2"/>
                </a:solidFill>
              </a:rPr>
              <a:t>&gt; FROM &lt;</a:t>
            </a:r>
            <a:r>
              <a:rPr lang="zh-CN" altLang="en-US" sz="2400" b="1" dirty="0">
                <a:solidFill>
                  <a:schemeClr val="bg2"/>
                </a:solidFill>
              </a:rPr>
              <a:t>共享变量或字符串</a:t>
            </a:r>
            <a:r>
              <a:rPr lang="en-US" altLang="zh-CN" sz="2400" b="1" dirty="0">
                <a:solidFill>
                  <a:schemeClr val="bg2"/>
                </a:solidFill>
              </a:rPr>
              <a:t>&gt;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en-US" altLang="zh-CN" sz="2400" b="1" dirty="0">
                <a:solidFill>
                  <a:schemeClr val="bg2"/>
                </a:solidFill>
              </a:rPr>
              <a:t>   </a:t>
            </a:r>
            <a:r>
              <a:rPr lang="zh-CN" altLang="en-US" sz="2400" b="1" dirty="0">
                <a:solidFill>
                  <a:schemeClr val="bg2"/>
                </a:solidFill>
              </a:rPr>
              <a:t>共享变量或字符串的值应是一个完整的</a:t>
            </a:r>
            <a:r>
              <a:rPr lang="en-US" altLang="zh-CN" sz="2400" b="1" dirty="0">
                <a:solidFill>
                  <a:schemeClr val="bg2"/>
                </a:solidFill>
              </a:rPr>
              <a:t>SQL</a:t>
            </a:r>
            <a:r>
              <a:rPr lang="zh-CN" altLang="en-US" sz="2400" b="1" dirty="0">
                <a:solidFill>
                  <a:schemeClr val="bg2"/>
                </a:solidFill>
              </a:rPr>
              <a:t>语句。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该语句可在程序运行时与用户的输入组合起来。</a:t>
            </a:r>
          </a:p>
          <a:p>
            <a:pPr algn="just">
              <a:lnSpc>
                <a:spcPct val="200000"/>
              </a:lnSpc>
              <a:tabLst>
                <a:tab pos="5067300" algn="l"/>
              </a:tabLst>
            </a:pPr>
            <a:r>
              <a:rPr lang="zh-CN" altLang="en-US" sz="2400" b="1" dirty="0">
                <a:solidFill>
                  <a:schemeClr val="bg2"/>
                </a:solidFill>
              </a:rPr>
              <a:t>   此时，这个语句并不执行。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0" y="0"/>
            <a:ext cx="91440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</a:rPr>
              <a:t>  2</a:t>
            </a:r>
            <a:r>
              <a:rPr lang="zh-CN" altLang="en-US" sz="2800" b="1" dirty="0">
                <a:solidFill>
                  <a:schemeClr val="bg1"/>
                </a:solidFill>
              </a:rPr>
              <a:t>、动态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r>
              <a:rPr lang="zh-CN" altLang="en-US" sz="2800" b="1" dirty="0">
                <a:solidFill>
                  <a:schemeClr val="bg1"/>
                </a:solidFill>
              </a:rPr>
              <a:t>执行语句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EXECUTE &lt;</a:t>
            </a:r>
            <a:r>
              <a:rPr lang="zh-CN" altLang="en-US" sz="2800" b="1" dirty="0">
                <a:solidFill>
                  <a:schemeClr val="bg2"/>
                </a:solidFill>
              </a:rPr>
              <a:t>动态 </a:t>
            </a:r>
            <a:r>
              <a:rPr lang="en-US" altLang="zh-CN" sz="2800" b="1" dirty="0">
                <a:solidFill>
                  <a:schemeClr val="bg2"/>
                </a:solidFill>
              </a:rPr>
              <a:t>SQL </a:t>
            </a:r>
            <a:r>
              <a:rPr lang="zh-CN" altLang="en-US" sz="2800" b="1" dirty="0">
                <a:solidFill>
                  <a:schemeClr val="bg2"/>
                </a:solidFill>
              </a:rPr>
              <a:t>语句名</a:t>
            </a:r>
            <a:r>
              <a:rPr lang="en-US" altLang="zh-CN" sz="2800" b="1" dirty="0">
                <a:solidFill>
                  <a:schemeClr val="bg2"/>
                </a:solidFill>
              </a:rPr>
              <a:t>&gt;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chemeClr val="bg2"/>
                </a:solidFill>
              </a:rPr>
              <a:t>  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402" y="1412776"/>
            <a:ext cx="869507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bg2"/>
                </a:solidFill>
              </a:rPr>
              <a:t>动态</a:t>
            </a:r>
            <a:r>
              <a:rPr lang="en-US" altLang="zh-CN" sz="2400" dirty="0">
                <a:solidFill>
                  <a:schemeClr val="bg2"/>
                </a:solidFill>
              </a:rPr>
              <a:t>SQL</a:t>
            </a:r>
            <a:r>
              <a:rPr lang="zh-CN" altLang="en-US" sz="2400" dirty="0">
                <a:solidFill>
                  <a:schemeClr val="bg2"/>
                </a:solidFill>
              </a:rPr>
              <a:t>语句使用时，可以有两点改进：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bg2"/>
                </a:solidFill>
              </a:rPr>
              <a:t>⑴当预备语句中组合而成的</a:t>
            </a:r>
            <a:r>
              <a:rPr lang="en-US" altLang="zh-CN" sz="2400" dirty="0">
                <a:solidFill>
                  <a:schemeClr val="bg2"/>
                </a:solidFill>
              </a:rPr>
              <a:t>SQL</a:t>
            </a:r>
            <a:r>
              <a:rPr lang="zh-CN" altLang="en-US" sz="2400" dirty="0">
                <a:solidFill>
                  <a:schemeClr val="bg2"/>
                </a:solidFill>
              </a:rPr>
              <a:t>语句只需执行一次时，那么预备语句和执行语句可合并成一个语句：</a:t>
            </a:r>
          </a:p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EXECUTE IMMEDIATE &lt;</a:t>
            </a:r>
            <a:r>
              <a:rPr lang="zh-CN" altLang="en-US" sz="2800" b="1" dirty="0">
                <a:solidFill>
                  <a:schemeClr val="bg2"/>
                </a:solidFill>
              </a:rPr>
              <a:t>共享变量或字符串</a:t>
            </a:r>
            <a:r>
              <a:rPr lang="en-US" altLang="zh-CN" sz="2800" b="1" dirty="0">
                <a:solidFill>
                  <a:schemeClr val="bg2"/>
                </a:solidFill>
              </a:rPr>
              <a:t>&gt;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9234" y="4331458"/>
            <a:ext cx="8681238" cy="111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dirty="0">
                <a:solidFill>
                  <a:schemeClr val="bg2"/>
                </a:solidFill>
              </a:rPr>
              <a:t>⑵</a:t>
            </a:r>
            <a:r>
              <a:rPr lang="zh-CN" altLang="en-US" sz="2400" dirty="0">
                <a:solidFill>
                  <a:schemeClr val="bg2"/>
                </a:solidFill>
              </a:rPr>
              <a:t>当预备语句中组合而成的</a:t>
            </a:r>
            <a:r>
              <a:rPr lang="en-US" altLang="zh-CN" sz="2400" dirty="0">
                <a:solidFill>
                  <a:schemeClr val="bg2"/>
                </a:solidFill>
              </a:rPr>
              <a:t>SQL</a:t>
            </a:r>
            <a:r>
              <a:rPr lang="zh-CN" altLang="en-US" sz="2400" dirty="0">
                <a:solidFill>
                  <a:schemeClr val="bg2"/>
                </a:solidFill>
              </a:rPr>
              <a:t>语句的条件值尚缺时，可以在执行语句中用</a:t>
            </a:r>
            <a:r>
              <a:rPr lang="en-US" altLang="zh-CN" sz="2400" dirty="0">
                <a:solidFill>
                  <a:schemeClr val="bg2"/>
                </a:solidFill>
              </a:rPr>
              <a:t>USING</a:t>
            </a:r>
            <a:r>
              <a:rPr lang="zh-CN" altLang="en-US" sz="2400" dirty="0">
                <a:solidFill>
                  <a:schemeClr val="bg2"/>
                </a:solidFill>
              </a:rPr>
              <a:t>短语补上：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A7AFDD-698C-E148-97EB-30A689EF6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" y="5688454"/>
            <a:ext cx="9144001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EXECUTE &lt;</a:t>
            </a:r>
            <a:r>
              <a:rPr lang="zh-CN" altLang="en-US" sz="2800" b="1" dirty="0">
                <a:solidFill>
                  <a:schemeClr val="bg2"/>
                </a:solidFill>
              </a:rPr>
              <a:t>动态 </a:t>
            </a:r>
            <a:r>
              <a:rPr lang="en-US" altLang="zh-CN" sz="2800" b="1" dirty="0">
                <a:solidFill>
                  <a:schemeClr val="bg2"/>
                </a:solidFill>
              </a:rPr>
              <a:t>SQL</a:t>
            </a:r>
            <a:r>
              <a:rPr lang="zh-CN" altLang="en-US" sz="2800" b="1" dirty="0">
                <a:solidFill>
                  <a:schemeClr val="bg2"/>
                </a:solidFill>
              </a:rPr>
              <a:t>语句名</a:t>
            </a:r>
            <a:r>
              <a:rPr lang="en-US" altLang="zh-CN" sz="2800" b="1" dirty="0">
                <a:solidFill>
                  <a:schemeClr val="bg2"/>
                </a:solidFill>
              </a:rPr>
              <a:t>&gt; </a:t>
            </a:r>
            <a:r>
              <a:rPr lang="en-US" altLang="zh-CN" sz="2800" b="1" dirty="0">
                <a:solidFill>
                  <a:srgbClr val="FF0000"/>
                </a:solidFill>
              </a:rPr>
              <a:t>USING &lt;</a:t>
            </a:r>
            <a:r>
              <a:rPr lang="zh-CN" altLang="en-US" sz="2800" b="1" dirty="0">
                <a:solidFill>
                  <a:srgbClr val="FF0000"/>
                </a:solidFill>
              </a:rPr>
              <a:t>共享变量</a:t>
            </a:r>
            <a:r>
              <a:rPr lang="en-US" altLang="zh-CN" sz="2800" b="1" dirty="0">
                <a:solidFill>
                  <a:srgbClr val="FF0000"/>
                </a:solidFill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ChangeArrowheads="1"/>
          </p:cNvSpPr>
          <p:nvPr/>
        </p:nvSpPr>
        <p:spPr bwMode="auto">
          <a:xfrm>
            <a:off x="0" y="185738"/>
            <a:ext cx="914400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dirty="0">
                <a:solidFill>
                  <a:schemeClr val="bg2"/>
                </a:solidFill>
              </a:rPr>
              <a:t>例①</a:t>
            </a:r>
            <a:r>
              <a:rPr lang="en-US" altLang="zh-CN" sz="2800" dirty="0">
                <a:solidFill>
                  <a:schemeClr val="bg2"/>
                </a:solidFill>
              </a:rPr>
              <a:t>: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BEGIN DECLARE SECTION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</a:t>
            </a:r>
            <a:r>
              <a:rPr lang="en-US" altLang="zh-CN" sz="2800" b="1" dirty="0">
                <a:solidFill>
                  <a:schemeClr val="bg2"/>
                </a:solidFill>
              </a:rPr>
              <a:t>char  ﹡query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END DECLARE SECTION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</a:t>
            </a:r>
            <a:r>
              <a:rPr lang="en-US" altLang="zh-CN" sz="2800" b="1" dirty="0" err="1">
                <a:solidFill>
                  <a:schemeClr val="bg2"/>
                </a:solidFill>
              </a:rPr>
              <a:t>scanf</a:t>
            </a:r>
            <a:r>
              <a:rPr lang="en-US" altLang="zh-CN" sz="2800" b="1" dirty="0">
                <a:solidFill>
                  <a:schemeClr val="bg2"/>
                </a:solidFill>
              </a:rPr>
              <a:t>(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%</a:t>
            </a:r>
            <a:r>
              <a:rPr lang="en-US" altLang="zh-CN" sz="2800" b="1" dirty="0">
                <a:solidFill>
                  <a:schemeClr val="bg2"/>
                </a:solidFill>
              </a:rPr>
              <a:t>s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</a:rPr>
              <a:t>，</a:t>
            </a:r>
            <a:r>
              <a:rPr lang="en-US" altLang="zh-CN" sz="2800" b="1" dirty="0">
                <a:solidFill>
                  <a:schemeClr val="bg2"/>
                </a:solidFill>
              </a:rPr>
              <a:t>query)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  <a:r>
              <a:rPr lang="zh-CN" altLang="en-US" sz="2000" b="1" dirty="0">
                <a:solidFill>
                  <a:schemeClr val="bg2"/>
                </a:solidFill>
              </a:rPr>
              <a:t>／</a:t>
            </a:r>
            <a:r>
              <a:rPr lang="en-US" altLang="zh-CN" sz="2000" b="1" dirty="0">
                <a:solidFill>
                  <a:schemeClr val="bg2"/>
                </a:solidFill>
              </a:rPr>
              <a:t>﹡</a:t>
            </a:r>
            <a:r>
              <a:rPr lang="zh-CN" altLang="en-US" sz="2000" b="1" dirty="0">
                <a:solidFill>
                  <a:schemeClr val="bg2"/>
                </a:solidFill>
              </a:rPr>
              <a:t>从键盘输入一个 </a:t>
            </a:r>
            <a:r>
              <a:rPr lang="en-US" altLang="zh-CN" sz="2000" b="1" dirty="0">
                <a:solidFill>
                  <a:schemeClr val="bg2"/>
                </a:solidFill>
              </a:rPr>
              <a:t>SQL</a:t>
            </a:r>
            <a:r>
              <a:rPr lang="zh-CN" altLang="en-US" sz="2000" b="1" dirty="0">
                <a:solidFill>
                  <a:schemeClr val="bg2"/>
                </a:solidFill>
              </a:rPr>
              <a:t>语句</a:t>
            </a:r>
            <a:r>
              <a:rPr lang="en-US" altLang="zh-CN" sz="2000" b="1" dirty="0">
                <a:solidFill>
                  <a:schemeClr val="bg2"/>
                </a:solidFill>
              </a:rPr>
              <a:t>﹡</a:t>
            </a:r>
            <a:r>
              <a:rPr lang="zh-CN" altLang="en-US" sz="2000" b="1" dirty="0">
                <a:solidFill>
                  <a:schemeClr val="bg2"/>
                </a:solidFill>
              </a:rPr>
              <a:t>／ 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PREPARE  que  FROM : query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EXECUTE  que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endParaRPr lang="en-US" altLang="zh-CN" sz="2800" dirty="0">
              <a:solidFill>
                <a:schemeClr val="bg2"/>
              </a:solidFill>
            </a:endParaRP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dirty="0">
                <a:solidFill>
                  <a:schemeClr val="bg2"/>
                </a:solidFill>
              </a:rPr>
              <a:t>如果执行语句只做一次，程序段最后两个语句可合并成一个语句</a:t>
            </a:r>
          </a:p>
          <a:p>
            <a:pPr algn="just" eaLnBrk="0" hangingPunct="0">
              <a:lnSpc>
                <a:spcPct val="120000"/>
              </a:lnSpc>
              <a:tabLst>
                <a:tab pos="5067300" algn="l"/>
              </a:tabLst>
            </a:pPr>
            <a:r>
              <a:rPr lang="zh-CN" altLang="en-US" sz="2800" dirty="0">
                <a:solidFill>
                  <a:schemeClr val="bg2"/>
                </a:solidFill>
              </a:rPr>
              <a:t>     </a:t>
            </a:r>
            <a:r>
              <a:rPr lang="en-US" altLang="zh-CN" sz="2800" dirty="0">
                <a:solidFill>
                  <a:srgbClr val="C00000"/>
                </a:solidFill>
              </a:rPr>
              <a:t>EXEC SQL </a:t>
            </a:r>
            <a:r>
              <a:rPr lang="en-US" altLang="zh-CN" sz="2800" dirty="0">
                <a:solidFill>
                  <a:schemeClr val="bg2"/>
                </a:solidFill>
              </a:rPr>
              <a:t>EXECUTE IMMEDIATE </a:t>
            </a:r>
            <a:r>
              <a:rPr lang="zh-CN" altLang="en-US" sz="2800" dirty="0">
                <a:solidFill>
                  <a:schemeClr val="bg2"/>
                </a:solidFill>
              </a:rPr>
              <a:t>：</a:t>
            </a:r>
            <a:r>
              <a:rPr lang="en-US" altLang="zh-CN" sz="2800" dirty="0">
                <a:solidFill>
                  <a:schemeClr val="bg2"/>
                </a:solidFill>
              </a:rPr>
              <a:t>query</a:t>
            </a:r>
            <a:r>
              <a:rPr lang="zh-CN" altLang="en-US" sz="2800" dirty="0">
                <a:solidFill>
                  <a:schemeClr val="bg2"/>
                </a:solidFill>
              </a:rPr>
              <a:t>；</a:t>
            </a:r>
          </a:p>
          <a:p>
            <a:pPr eaLnBrk="0" hangingPunct="0">
              <a:tabLst>
                <a:tab pos="5067300" algn="l"/>
              </a:tabLst>
            </a:pPr>
            <a:endParaRPr lang="en-US" altLang="zh-CN" sz="28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FD1F5A-6482-D8DA-B7B0-C226F9958479}"/>
              </a:ext>
            </a:extLst>
          </p:cNvPr>
          <p:cNvSpPr/>
          <p:nvPr/>
        </p:nvSpPr>
        <p:spPr bwMode="auto">
          <a:xfrm>
            <a:off x="755576" y="2204864"/>
            <a:ext cx="7560840" cy="1224136"/>
          </a:xfrm>
          <a:prstGeom prst="rect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60C6F3E8-02E8-6B4C-7659-F0A25EA42548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 bwMode="auto">
          <a:xfrm flipH="1">
            <a:off x="4528324" y="3429000"/>
            <a:ext cx="7672" cy="1361759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5B0AE94-0E93-0CF2-DAED-548284964DFE}"/>
              </a:ext>
            </a:extLst>
          </p:cNvPr>
          <p:cNvSpPr/>
          <p:nvPr/>
        </p:nvSpPr>
        <p:spPr bwMode="auto">
          <a:xfrm>
            <a:off x="748324" y="4790759"/>
            <a:ext cx="7560000" cy="720000"/>
          </a:xfrm>
          <a:prstGeom prst="rect">
            <a:avLst/>
          </a:prstGeom>
          <a:noFill/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ChangeArrowheads="1"/>
          </p:cNvSpPr>
          <p:nvPr/>
        </p:nvSpPr>
        <p:spPr bwMode="auto">
          <a:xfrm>
            <a:off x="-228600" y="980728"/>
            <a:ext cx="9372600" cy="3968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304800" algn="just">
              <a:lnSpc>
                <a:spcPct val="130000"/>
              </a:lnSpc>
              <a:tabLst>
                <a:tab pos="5067300" algn="l"/>
              </a:tabLst>
            </a:pPr>
            <a:r>
              <a:rPr lang="en-US" altLang="zh-CN" sz="1200" dirty="0">
                <a:solidFill>
                  <a:schemeClr val="bg2"/>
                </a:solidFill>
              </a:rPr>
              <a:t> </a:t>
            </a:r>
            <a:r>
              <a:rPr lang="en-US" altLang="zh-CN" sz="2800" dirty="0">
                <a:solidFill>
                  <a:schemeClr val="bg2"/>
                </a:solidFill>
              </a:rPr>
              <a:t>②  </a:t>
            </a:r>
            <a:r>
              <a:rPr lang="en-US" altLang="zh-CN" sz="2800" b="1" dirty="0">
                <a:solidFill>
                  <a:schemeClr val="bg2"/>
                </a:solidFill>
              </a:rPr>
              <a:t>char ﹡query</a:t>
            </a:r>
            <a:r>
              <a:rPr lang="zh-CN" altLang="en-US" sz="2800" b="1" dirty="0">
                <a:solidFill>
                  <a:schemeClr val="bg2"/>
                </a:solidFill>
              </a:rPr>
              <a:t>＝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en-US" altLang="zh-CN" sz="2800" b="1" dirty="0">
                <a:solidFill>
                  <a:schemeClr val="bg2"/>
                </a:solidFill>
              </a:rPr>
              <a:t>UPDATE  SC</a:t>
            </a:r>
          </a:p>
          <a:p>
            <a:pPr indent="304800" algn="just" eaLnBrk="0" hangingPunct="0">
              <a:lnSpc>
                <a:spcPct val="13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            SET GRADE=GRADE﹡1</a:t>
            </a:r>
            <a:r>
              <a:rPr lang="zh-CN" altLang="en-US" sz="2800" b="1" dirty="0">
                <a:solidFill>
                  <a:schemeClr val="bg2"/>
                </a:solidFill>
              </a:rPr>
              <a:t>．</a:t>
            </a:r>
            <a:r>
              <a:rPr lang="en-US" altLang="zh-CN" sz="2800" b="1" dirty="0">
                <a:solidFill>
                  <a:schemeClr val="bg2"/>
                </a:solidFill>
              </a:rPr>
              <a:t>3</a:t>
            </a:r>
          </a:p>
          <a:p>
            <a:pPr indent="304800" algn="just" eaLnBrk="0" hangingPunct="0">
              <a:lnSpc>
                <a:spcPct val="130000"/>
              </a:lnSpc>
              <a:tabLst>
                <a:tab pos="5067300" algn="l"/>
              </a:tabLst>
            </a:pPr>
            <a:r>
              <a:rPr lang="en-US" altLang="zh-CN" sz="2800" b="1" dirty="0">
                <a:solidFill>
                  <a:schemeClr val="bg2"/>
                </a:solidFill>
              </a:rPr>
              <a:t>                        WHERE SNO</a:t>
            </a:r>
            <a:r>
              <a:rPr lang="zh-CN" altLang="en-US" sz="2800" b="1" dirty="0">
                <a:solidFill>
                  <a:schemeClr val="bg2"/>
                </a:solidFill>
              </a:rPr>
              <a:t>＝？</a:t>
            </a:r>
            <a:r>
              <a:rPr lang="zh-CN" altLang="en-US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indent="304800" algn="just" eaLnBrk="0" hangingPunct="0">
              <a:lnSpc>
                <a:spcPct val="13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</a:t>
            </a:r>
            <a:r>
              <a:rPr lang="en-US" altLang="zh-CN" sz="2800" b="1" dirty="0">
                <a:solidFill>
                  <a:schemeClr val="bg2"/>
                </a:solidFill>
              </a:rPr>
              <a:t>PREPARE  </a:t>
            </a:r>
            <a:r>
              <a:rPr lang="en-US" altLang="zh-CN" sz="2800" b="1" dirty="0" err="1">
                <a:solidFill>
                  <a:schemeClr val="bg2"/>
                </a:solidFill>
              </a:rPr>
              <a:t>dynprog</a:t>
            </a:r>
            <a:r>
              <a:rPr lang="en-US" altLang="zh-CN" sz="2800" b="1" dirty="0">
                <a:solidFill>
                  <a:schemeClr val="bg2"/>
                </a:solidFill>
              </a:rPr>
              <a:t>  FROM :query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indent="304800" algn="just" eaLnBrk="0" hangingPunct="0">
              <a:lnSpc>
                <a:spcPct val="13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chemeClr val="bg2"/>
                </a:solidFill>
              </a:rPr>
              <a:t>char </a:t>
            </a:r>
            <a:r>
              <a:rPr lang="en-US" altLang="zh-CN" sz="2800" b="1" dirty="0" err="1">
                <a:solidFill>
                  <a:schemeClr val="bg2"/>
                </a:solidFill>
              </a:rPr>
              <a:t>sno</a:t>
            </a:r>
            <a:r>
              <a:rPr lang="zh-CN" altLang="en-US" sz="2800" b="1" dirty="0">
                <a:solidFill>
                  <a:schemeClr val="bg2"/>
                </a:solidFill>
              </a:rPr>
              <a:t>［</a:t>
            </a:r>
            <a:r>
              <a:rPr lang="en-US" altLang="zh-CN" sz="2800" b="1" dirty="0">
                <a:solidFill>
                  <a:schemeClr val="bg2"/>
                </a:solidFill>
              </a:rPr>
              <a:t>5</a:t>
            </a:r>
            <a:r>
              <a:rPr lang="zh-CN" altLang="en-US" sz="2800" b="1" dirty="0">
                <a:solidFill>
                  <a:schemeClr val="bg2"/>
                </a:solidFill>
              </a:rPr>
              <a:t>］</a:t>
            </a:r>
            <a:r>
              <a:rPr lang="en-US" altLang="zh-CN" sz="2800" b="1" dirty="0">
                <a:solidFill>
                  <a:schemeClr val="bg2"/>
                </a:solidFill>
              </a:rPr>
              <a:t>=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en-US" altLang="zh-CN" sz="2800" b="1" dirty="0">
                <a:solidFill>
                  <a:schemeClr val="bg2"/>
                </a:solidFill>
              </a:rPr>
              <a:t>S2</a:t>
            </a:r>
            <a:r>
              <a:rPr lang="en-US" altLang="zh-CN" sz="2800" b="1" dirty="0">
                <a:solidFill>
                  <a:schemeClr val="bg2"/>
                </a:solidFill>
                <a:latin typeface="Times New Roman" pitchFamily="18" charset="0"/>
              </a:rPr>
              <a:t>”</a:t>
            </a:r>
            <a:r>
              <a:rPr lang="zh-CN" altLang="en-US" sz="2800" b="1" dirty="0">
                <a:solidFill>
                  <a:schemeClr val="bg2"/>
                </a:solidFill>
              </a:rPr>
              <a:t>；</a:t>
            </a:r>
          </a:p>
          <a:p>
            <a:pPr indent="304800" algn="just" eaLnBrk="0" hangingPunct="0">
              <a:lnSpc>
                <a:spcPct val="13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2"/>
                </a:solidFill>
              </a:rPr>
              <a:t>    </a:t>
            </a:r>
            <a:r>
              <a:rPr lang="en-US" altLang="zh-CN" sz="2800" b="1" dirty="0">
                <a:solidFill>
                  <a:srgbClr val="C00000"/>
                </a:solidFill>
              </a:rPr>
              <a:t>EXEC SQL  </a:t>
            </a:r>
            <a:r>
              <a:rPr lang="en-US" altLang="zh-CN" sz="2800" b="1" dirty="0">
                <a:solidFill>
                  <a:schemeClr val="bg2"/>
                </a:solidFill>
              </a:rPr>
              <a:t>EXECUTE </a:t>
            </a:r>
            <a:r>
              <a:rPr lang="en-US" altLang="zh-CN" sz="2800" b="1" dirty="0" err="1">
                <a:solidFill>
                  <a:schemeClr val="bg2"/>
                </a:solidFill>
              </a:rPr>
              <a:t>dynprog</a:t>
            </a:r>
            <a:r>
              <a:rPr lang="en-US" altLang="zh-CN" sz="2800" b="1" dirty="0">
                <a:solidFill>
                  <a:schemeClr val="bg2"/>
                </a:solidFill>
              </a:rPr>
              <a:t>  USING :</a:t>
            </a:r>
            <a:r>
              <a:rPr lang="en-US" altLang="zh-CN" sz="2800" b="1" dirty="0" err="1">
                <a:solidFill>
                  <a:schemeClr val="bg2"/>
                </a:solidFill>
              </a:rPr>
              <a:t>sno</a:t>
            </a:r>
            <a:r>
              <a:rPr lang="zh-CN" altLang="en-US" sz="2800" dirty="0">
                <a:solidFill>
                  <a:schemeClr val="bg2"/>
                </a:solidFill>
              </a:rPr>
              <a:t>；</a:t>
            </a:r>
          </a:p>
          <a:p>
            <a:pPr indent="304800" eaLnBrk="0" hangingPunct="0">
              <a:lnSpc>
                <a:spcPct val="160000"/>
              </a:lnSpc>
              <a:tabLst>
                <a:tab pos="5067300" algn="l"/>
              </a:tabLst>
            </a:pPr>
            <a:r>
              <a:rPr lang="zh-CN" altLang="en-US" sz="24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7F8110-AD49-2C47-A643-1EEE10C71E8A}"/>
              </a:ext>
            </a:extLst>
          </p:cNvPr>
          <p:cNvSpPr/>
          <p:nvPr/>
        </p:nvSpPr>
        <p:spPr bwMode="auto">
          <a:xfrm>
            <a:off x="783196" y="1084783"/>
            <a:ext cx="7884876" cy="151200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用户组合成一个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语句</a:t>
            </a:r>
            <a:endParaRPr lang="en-US" altLang="zh-CN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</a:rPr>
              <a:t>但是</a:t>
            </a:r>
            <a:r>
              <a:rPr kumimoji="1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</a:rPr>
              <a:t>SNO</a:t>
            </a: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宋体" pitchFamily="2" charset="-122"/>
                <a:ea typeface="宋体" pitchFamily="2" charset="-122"/>
              </a:rPr>
              <a:t>还不能确定，故用？表示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B1590D-8659-914C-8D11-9B92859E3F0F}"/>
              </a:ext>
            </a:extLst>
          </p:cNvPr>
          <p:cNvSpPr/>
          <p:nvPr/>
        </p:nvSpPr>
        <p:spPr bwMode="auto">
          <a:xfrm>
            <a:off x="783196" y="2680033"/>
            <a:ext cx="7884876" cy="67403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动态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预备语句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2CD4FB-7264-4F4A-8D48-BE84BD3CAF80}"/>
              </a:ext>
            </a:extLst>
          </p:cNvPr>
          <p:cNvSpPr/>
          <p:nvPr/>
        </p:nvSpPr>
        <p:spPr bwMode="auto">
          <a:xfrm>
            <a:off x="783196" y="3435148"/>
            <a:ext cx="7884876" cy="3139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取到了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SNO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166D32-3751-5F4E-9BF2-1621D4CE8B18}"/>
              </a:ext>
            </a:extLst>
          </p:cNvPr>
          <p:cNvSpPr/>
          <p:nvPr/>
        </p:nvSpPr>
        <p:spPr bwMode="auto">
          <a:xfrm>
            <a:off x="783196" y="3897980"/>
            <a:ext cx="7884876" cy="674031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marL="0" marR="0" indent="0" algn="r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动态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SQL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执行语句，“？”值到共享变量</a:t>
            </a:r>
            <a:r>
              <a:rPr lang="en-US" altLang="zh-CN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sno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中取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1600200" y="2667000"/>
            <a:ext cx="7315200" cy="677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4800" b="1">
                <a:solidFill>
                  <a:schemeClr val="bg2"/>
                </a:solidFill>
              </a:rPr>
              <a:t>  PB</a:t>
            </a:r>
            <a:r>
              <a:rPr lang="zh-CN" altLang="en-US" sz="4800" b="1">
                <a:solidFill>
                  <a:schemeClr val="bg2"/>
                </a:solidFill>
              </a:rPr>
              <a:t>中游标的使用方法</a:t>
            </a:r>
          </a:p>
        </p:txBody>
      </p:sp>
      <p:grpSp>
        <p:nvGrpSpPr>
          <p:cNvPr id="117763" name="Group 3"/>
          <p:cNvGrpSpPr>
            <a:grpSpLocks/>
          </p:cNvGrpSpPr>
          <p:nvPr/>
        </p:nvGrpSpPr>
        <p:grpSpPr bwMode="auto">
          <a:xfrm>
            <a:off x="152400" y="2514600"/>
            <a:ext cx="9144000" cy="1196975"/>
            <a:chOff x="0" y="0"/>
            <a:chExt cx="5760" cy="754"/>
          </a:xfrm>
        </p:grpSpPr>
        <p:sp>
          <p:nvSpPr>
            <p:cNvPr id="117764" name="Rectangle 4"/>
            <p:cNvSpPr>
              <a:spLocks noChangeArrowheads="1"/>
            </p:cNvSpPr>
            <p:nvPr/>
          </p:nvSpPr>
          <p:spPr bwMode="auto">
            <a:xfrm>
              <a:off x="0" y="2"/>
              <a:ext cx="5760" cy="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266700" algn="just">
                <a:lnSpc>
                  <a:spcPct val="160000"/>
                </a:lnSpc>
              </a:pPr>
              <a:r>
                <a:rPr lang="en-US" altLang="zh-CN" sz="3600" b="1">
                  <a:solidFill>
                    <a:schemeClr val="tx2"/>
                  </a:solidFill>
                </a:rPr>
                <a:t>      </a:t>
              </a:r>
              <a:endParaRPr lang="en-US" altLang="zh-CN" sz="2400">
                <a:latin typeface="Times New Roman" pitchFamily="18" charset="0"/>
              </a:endParaRPr>
            </a:p>
          </p:txBody>
        </p:sp>
        <p:grpSp>
          <p:nvGrpSpPr>
            <p:cNvPr id="117765" name="Group 5"/>
            <p:cNvGrpSpPr>
              <a:grpSpLocks/>
            </p:cNvGrpSpPr>
            <p:nvPr/>
          </p:nvGrpSpPr>
          <p:grpSpPr bwMode="auto">
            <a:xfrm>
              <a:off x="0" y="0"/>
              <a:ext cx="5575" cy="754"/>
              <a:chOff x="0" y="288"/>
              <a:chExt cx="5760" cy="864"/>
            </a:xfrm>
          </p:grpSpPr>
          <p:sp>
            <p:nvSpPr>
              <p:cNvPr id="117766" name="Rectangle 6"/>
              <p:cNvSpPr>
                <a:spLocks noChangeArrowheads="1"/>
              </p:cNvSpPr>
              <p:nvPr/>
            </p:nvSpPr>
            <p:spPr bwMode="ltGray">
              <a:xfrm>
                <a:off x="196" y="377"/>
                <a:ext cx="428" cy="389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7" name="Rectangle 7"/>
              <p:cNvSpPr>
                <a:spLocks noChangeArrowheads="1"/>
              </p:cNvSpPr>
              <p:nvPr/>
            </p:nvSpPr>
            <p:spPr bwMode="ltGray">
              <a:xfrm>
                <a:off x="279" y="723"/>
                <a:ext cx="285" cy="39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8" name="Rectangle 8"/>
              <p:cNvSpPr>
                <a:spLocks noChangeArrowheads="1"/>
              </p:cNvSpPr>
              <p:nvPr/>
            </p:nvSpPr>
            <p:spPr bwMode="ltGray">
              <a:xfrm>
                <a:off x="529" y="723"/>
                <a:ext cx="248" cy="390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9" name="Rectangle 9"/>
              <p:cNvSpPr>
                <a:spLocks noChangeArrowheads="1"/>
              </p:cNvSpPr>
              <p:nvPr/>
            </p:nvSpPr>
            <p:spPr bwMode="ltGray">
              <a:xfrm>
                <a:off x="0" y="576"/>
                <a:ext cx="432" cy="384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70" name="Rectangle 10"/>
              <p:cNvSpPr>
                <a:spLocks noChangeArrowheads="1"/>
              </p:cNvSpPr>
              <p:nvPr/>
            </p:nvSpPr>
            <p:spPr bwMode="gray">
              <a:xfrm>
                <a:off x="428" y="288"/>
                <a:ext cx="22" cy="86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71" name="Rectangle 11"/>
              <p:cNvSpPr>
                <a:spLocks noChangeArrowheads="1"/>
              </p:cNvSpPr>
              <p:nvPr/>
            </p:nvSpPr>
            <p:spPr bwMode="gray">
              <a:xfrm>
                <a:off x="213" y="937"/>
                <a:ext cx="5547" cy="2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86" name="Group 4"/>
          <p:cNvGrpSpPr>
            <a:grpSpLocks/>
          </p:cNvGrpSpPr>
          <p:nvPr/>
        </p:nvGrpSpPr>
        <p:grpSpPr bwMode="auto">
          <a:xfrm>
            <a:off x="0" y="0"/>
            <a:ext cx="9288463" cy="7632700"/>
            <a:chOff x="1997" y="1440"/>
            <a:chExt cx="8445" cy="6084"/>
          </a:xfrm>
        </p:grpSpPr>
        <p:pic>
          <p:nvPicPr>
            <p:cNvPr id="11878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7" y="1626"/>
              <a:ext cx="8445" cy="5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8790" name="Group 6"/>
            <p:cNvGrpSpPr>
              <a:grpSpLocks/>
            </p:cNvGrpSpPr>
            <p:nvPr/>
          </p:nvGrpSpPr>
          <p:grpSpPr bwMode="auto">
            <a:xfrm>
              <a:off x="4202" y="1440"/>
              <a:ext cx="5670" cy="6084"/>
              <a:chOff x="4202" y="1440"/>
              <a:chExt cx="5670" cy="6084"/>
            </a:xfrm>
          </p:grpSpPr>
          <p:sp>
            <p:nvSpPr>
              <p:cNvPr id="118791" name="Text Box 7"/>
              <p:cNvSpPr txBox="1">
                <a:spLocks noChangeArrowheads="1"/>
              </p:cNvSpPr>
              <p:nvPr/>
            </p:nvSpPr>
            <p:spPr bwMode="auto">
              <a:xfrm>
                <a:off x="4937" y="7140"/>
                <a:ext cx="3570" cy="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宋体" charset="-122"/>
                    <a:ea typeface="宋体" charset="-122"/>
                  </a:defRPr>
                </a:lvl9pPr>
              </a:lstStyle>
              <a:p>
                <a:pPr algn="just"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zh-CN" altLang="en-US" sz="1000"/>
                  <a:t>图</a:t>
                </a:r>
                <a:r>
                  <a:rPr lang="en-US" altLang="zh-CN" sz="1000"/>
                  <a:t>13.10    </a:t>
                </a:r>
                <a:r>
                  <a:rPr lang="zh-CN" altLang="en-US" sz="1000"/>
                  <a:t>成绩管理主窗口</a:t>
                </a:r>
                <a:endParaRPr lang="zh-CN" altLang="en-US"/>
              </a:p>
            </p:txBody>
          </p:sp>
          <p:sp>
            <p:nvSpPr>
              <p:cNvPr id="118792" name="AutoShape 8"/>
              <p:cNvSpPr>
                <a:spLocks noChangeArrowheads="1"/>
              </p:cNvSpPr>
              <p:nvPr/>
            </p:nvSpPr>
            <p:spPr bwMode="auto">
              <a:xfrm>
                <a:off x="9032" y="2844"/>
                <a:ext cx="840" cy="624"/>
              </a:xfrm>
              <a:prstGeom prst="wedgeRoundRectCallout">
                <a:avLst>
                  <a:gd name="adj1" fmla="val -191069"/>
                  <a:gd name="adj2" fmla="val 160255"/>
                  <a:gd name="adj3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>
                  <a:lnSpc>
                    <a:spcPct val="176000"/>
                  </a:lnSpc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dw_1</a:t>
                </a:r>
                <a:endParaRPr lang="en-US" altLang="zh-CN" sz="2400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118793" name="AutoShape 9"/>
              <p:cNvSpPr>
                <a:spLocks noChangeArrowheads="1"/>
              </p:cNvSpPr>
              <p:nvPr/>
            </p:nvSpPr>
            <p:spPr bwMode="auto">
              <a:xfrm>
                <a:off x="5672" y="1440"/>
                <a:ext cx="1545" cy="624"/>
              </a:xfrm>
              <a:prstGeom prst="wedgeRoundRectCallout">
                <a:avLst>
                  <a:gd name="adj1" fmla="val -122815"/>
                  <a:gd name="adj2" fmla="val 366347"/>
                  <a:gd name="adj3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>
                  <a:lnSpc>
                    <a:spcPct val="176000"/>
                  </a:lnSpc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000000"/>
                    </a:solidFill>
                    <a:latin typeface="Times New Roman" pitchFamily="18" charset="0"/>
                  </a:rPr>
                  <a:t>ddlb_cname</a:t>
                </a:r>
                <a:endParaRPr lang="en-US" altLang="zh-CN" sz="2000" b="1">
                  <a:latin typeface="Times New Roman" pitchFamily="18" charset="0"/>
                </a:endParaRPr>
              </a:p>
              <a:p>
                <a:pPr algn="just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2000" b="1">
                    <a:latin typeface="Times New Roman" pitchFamily="18" charset="0"/>
                  </a:rPr>
                  <a:t>dw_1</a:t>
                </a:r>
                <a:endParaRPr lang="en-US" altLang="zh-CN" sz="2000" b="1"/>
              </a:p>
            </p:txBody>
          </p:sp>
          <p:sp>
            <p:nvSpPr>
              <p:cNvPr id="118794" name="AutoShape 10"/>
              <p:cNvSpPr>
                <a:spLocks noChangeArrowheads="1"/>
              </p:cNvSpPr>
              <p:nvPr/>
            </p:nvSpPr>
            <p:spPr bwMode="auto">
              <a:xfrm>
                <a:off x="4202" y="1596"/>
                <a:ext cx="840" cy="468"/>
              </a:xfrm>
              <a:prstGeom prst="wedgeRoundRectCallout">
                <a:avLst>
                  <a:gd name="adj1" fmla="val -51787"/>
                  <a:gd name="adj2" fmla="val 160898"/>
                  <a:gd name="adj3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St_5</a:t>
                </a:r>
                <a:endParaRPr lang="en-US" altLang="zh-CN" sz="2400" b="1">
                  <a:solidFill>
                    <a:schemeClr val="bg2"/>
                  </a:solidFill>
                </a:endParaRPr>
              </a:p>
            </p:txBody>
          </p:sp>
          <p:sp>
            <p:nvSpPr>
              <p:cNvPr id="118795" name="AutoShape 11"/>
              <p:cNvSpPr>
                <a:spLocks noChangeArrowheads="1"/>
              </p:cNvSpPr>
              <p:nvPr/>
            </p:nvSpPr>
            <p:spPr bwMode="auto">
              <a:xfrm>
                <a:off x="8717" y="1596"/>
                <a:ext cx="840" cy="468"/>
              </a:xfrm>
              <a:prstGeom prst="wedgeRoundRectCallout">
                <a:avLst>
                  <a:gd name="adj1" fmla="val -51787"/>
                  <a:gd name="adj2" fmla="val 135255"/>
                  <a:gd name="adj3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just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St_6</a:t>
                </a:r>
                <a:endParaRPr lang="en-US" altLang="zh-CN" sz="2400" b="1">
                  <a:solidFill>
                    <a:schemeClr val="bg2"/>
                  </a:solidFill>
                </a:endParaRPr>
              </a:p>
            </p:txBody>
          </p:sp>
        </p:grpSp>
      </p:grpSp>
      <p:sp>
        <p:nvSpPr>
          <p:cNvPr id="940044" name="Freeform 12"/>
          <p:cNvSpPr>
            <a:spLocks/>
          </p:cNvSpPr>
          <p:nvPr/>
        </p:nvSpPr>
        <p:spPr bwMode="auto">
          <a:xfrm>
            <a:off x="-52388" y="2381250"/>
            <a:ext cx="3538538" cy="3810000"/>
          </a:xfrm>
          <a:custGeom>
            <a:avLst/>
            <a:gdLst>
              <a:gd name="T0" fmla="*/ 2147483647 w 2229"/>
              <a:gd name="T1" fmla="*/ 2147483647 h 2400"/>
              <a:gd name="T2" fmla="*/ 2147483647 w 2229"/>
              <a:gd name="T3" fmla="*/ 2147483647 h 2400"/>
              <a:gd name="T4" fmla="*/ 2147483647 w 2229"/>
              <a:gd name="T5" fmla="*/ 2147483647 h 2400"/>
              <a:gd name="T6" fmla="*/ 2147483647 w 2229"/>
              <a:gd name="T7" fmla="*/ 2147483647 h 2400"/>
              <a:gd name="T8" fmla="*/ 2147483647 w 2229"/>
              <a:gd name="T9" fmla="*/ 2147483647 h 2400"/>
              <a:gd name="T10" fmla="*/ 2147483647 w 2229"/>
              <a:gd name="T11" fmla="*/ 2147483647 h 2400"/>
              <a:gd name="T12" fmla="*/ 2147483647 w 2229"/>
              <a:gd name="T13" fmla="*/ 2147483647 h 2400"/>
              <a:gd name="T14" fmla="*/ 2147483647 w 2229"/>
              <a:gd name="T15" fmla="*/ 2147483647 h 2400"/>
              <a:gd name="T16" fmla="*/ 2147483647 w 2229"/>
              <a:gd name="T17" fmla="*/ 2147483647 h 2400"/>
              <a:gd name="T18" fmla="*/ 2147483647 w 2229"/>
              <a:gd name="T19" fmla="*/ 2147483647 h 2400"/>
              <a:gd name="T20" fmla="*/ 2147483647 w 2229"/>
              <a:gd name="T21" fmla="*/ 2147483647 h 2400"/>
              <a:gd name="T22" fmla="*/ 2147483647 w 2229"/>
              <a:gd name="T23" fmla="*/ 2147483647 h 2400"/>
              <a:gd name="T24" fmla="*/ 2147483647 w 2229"/>
              <a:gd name="T25" fmla="*/ 0 h 2400"/>
              <a:gd name="T26" fmla="*/ 2147483647 w 2229"/>
              <a:gd name="T27" fmla="*/ 2147483647 h 2400"/>
              <a:gd name="T28" fmla="*/ 2147483647 w 2229"/>
              <a:gd name="T29" fmla="*/ 2147483647 h 2400"/>
              <a:gd name="T30" fmla="*/ 2147483647 w 2229"/>
              <a:gd name="T31" fmla="*/ 2147483647 h 2400"/>
              <a:gd name="T32" fmla="*/ 2147483647 w 2229"/>
              <a:gd name="T33" fmla="*/ 2147483647 h 2400"/>
              <a:gd name="T34" fmla="*/ 2147483647 w 2229"/>
              <a:gd name="T35" fmla="*/ 2147483647 h 2400"/>
              <a:gd name="T36" fmla="*/ 2147483647 w 2229"/>
              <a:gd name="T37" fmla="*/ 2147483647 h 2400"/>
              <a:gd name="T38" fmla="*/ 2147483647 w 2229"/>
              <a:gd name="T39" fmla="*/ 2147483647 h 2400"/>
              <a:gd name="T40" fmla="*/ 2147483647 w 2229"/>
              <a:gd name="T41" fmla="*/ 2147483647 h 2400"/>
              <a:gd name="T42" fmla="*/ 2147483647 w 2229"/>
              <a:gd name="T43" fmla="*/ 2147483647 h 2400"/>
              <a:gd name="T44" fmla="*/ 2147483647 w 2229"/>
              <a:gd name="T45" fmla="*/ 2147483647 h 2400"/>
              <a:gd name="T46" fmla="*/ 2147483647 w 2229"/>
              <a:gd name="T47" fmla="*/ 2147483647 h 2400"/>
              <a:gd name="T48" fmla="*/ 2147483647 w 2229"/>
              <a:gd name="T49" fmla="*/ 2147483647 h 2400"/>
              <a:gd name="T50" fmla="*/ 2147483647 w 2229"/>
              <a:gd name="T51" fmla="*/ 2147483647 h 2400"/>
              <a:gd name="T52" fmla="*/ 2147483647 w 2229"/>
              <a:gd name="T53" fmla="*/ 2147483647 h 2400"/>
              <a:gd name="T54" fmla="*/ 2147483647 w 2229"/>
              <a:gd name="T55" fmla="*/ 2147483647 h 2400"/>
              <a:gd name="T56" fmla="*/ 2147483647 w 2229"/>
              <a:gd name="T57" fmla="*/ 2147483647 h 2400"/>
              <a:gd name="T58" fmla="*/ 2147483647 w 2229"/>
              <a:gd name="T59" fmla="*/ 2147483647 h 2400"/>
              <a:gd name="T60" fmla="*/ 2147483647 w 2229"/>
              <a:gd name="T61" fmla="*/ 2147483647 h 2400"/>
              <a:gd name="T62" fmla="*/ 2147483647 w 2229"/>
              <a:gd name="T63" fmla="*/ 2147483647 h 2400"/>
              <a:gd name="T64" fmla="*/ 2147483647 w 2229"/>
              <a:gd name="T65" fmla="*/ 2147483647 h 2400"/>
              <a:gd name="T66" fmla="*/ 2147483647 w 2229"/>
              <a:gd name="T67" fmla="*/ 2147483647 h 2400"/>
              <a:gd name="T68" fmla="*/ 2147483647 w 2229"/>
              <a:gd name="T69" fmla="*/ 2147483647 h 2400"/>
              <a:gd name="T70" fmla="*/ 2147483647 w 2229"/>
              <a:gd name="T71" fmla="*/ 2147483647 h 2400"/>
              <a:gd name="T72" fmla="*/ 2147483647 w 2229"/>
              <a:gd name="T73" fmla="*/ 2147483647 h 240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2229" h="2400">
                <a:moveTo>
                  <a:pt x="441" y="2244"/>
                </a:moveTo>
                <a:cubicBezTo>
                  <a:pt x="385" y="2235"/>
                  <a:pt x="329" y="2230"/>
                  <a:pt x="273" y="2220"/>
                </a:cubicBezTo>
                <a:cubicBezTo>
                  <a:pt x="233" y="2213"/>
                  <a:pt x="203" y="2185"/>
                  <a:pt x="165" y="2172"/>
                </a:cubicBezTo>
                <a:cubicBezTo>
                  <a:pt x="133" y="2124"/>
                  <a:pt x="75" y="2083"/>
                  <a:pt x="57" y="2028"/>
                </a:cubicBezTo>
                <a:cubicBezTo>
                  <a:pt x="49" y="2004"/>
                  <a:pt x="41" y="1980"/>
                  <a:pt x="33" y="1956"/>
                </a:cubicBezTo>
                <a:cubicBezTo>
                  <a:pt x="29" y="1944"/>
                  <a:pt x="21" y="1920"/>
                  <a:pt x="21" y="1920"/>
                </a:cubicBezTo>
                <a:cubicBezTo>
                  <a:pt x="5" y="1687"/>
                  <a:pt x="0" y="1701"/>
                  <a:pt x="21" y="1416"/>
                </a:cubicBezTo>
                <a:cubicBezTo>
                  <a:pt x="37" y="1202"/>
                  <a:pt x="95" y="996"/>
                  <a:pt x="153" y="792"/>
                </a:cubicBezTo>
                <a:cubicBezTo>
                  <a:pt x="177" y="709"/>
                  <a:pt x="154" y="773"/>
                  <a:pt x="177" y="660"/>
                </a:cubicBezTo>
                <a:cubicBezTo>
                  <a:pt x="186" y="617"/>
                  <a:pt x="196" y="621"/>
                  <a:pt x="213" y="576"/>
                </a:cubicBezTo>
                <a:cubicBezTo>
                  <a:pt x="230" y="532"/>
                  <a:pt x="243" y="488"/>
                  <a:pt x="261" y="444"/>
                </a:cubicBezTo>
                <a:cubicBezTo>
                  <a:pt x="317" y="304"/>
                  <a:pt x="355" y="194"/>
                  <a:pt x="465" y="84"/>
                </a:cubicBezTo>
                <a:cubicBezTo>
                  <a:pt x="537" y="12"/>
                  <a:pt x="727" y="6"/>
                  <a:pt x="813" y="0"/>
                </a:cubicBezTo>
                <a:cubicBezTo>
                  <a:pt x="1082" y="13"/>
                  <a:pt x="1371" y="22"/>
                  <a:pt x="1629" y="108"/>
                </a:cubicBezTo>
                <a:cubicBezTo>
                  <a:pt x="1674" y="123"/>
                  <a:pt x="1737" y="168"/>
                  <a:pt x="1773" y="192"/>
                </a:cubicBezTo>
                <a:cubicBezTo>
                  <a:pt x="1784" y="199"/>
                  <a:pt x="1798" y="198"/>
                  <a:pt x="1809" y="204"/>
                </a:cubicBezTo>
                <a:cubicBezTo>
                  <a:pt x="1859" y="232"/>
                  <a:pt x="1946" y="281"/>
                  <a:pt x="1989" y="324"/>
                </a:cubicBezTo>
                <a:cubicBezTo>
                  <a:pt x="2024" y="359"/>
                  <a:pt x="2044" y="393"/>
                  <a:pt x="2085" y="420"/>
                </a:cubicBezTo>
                <a:cubicBezTo>
                  <a:pt x="2115" y="464"/>
                  <a:pt x="2125" y="505"/>
                  <a:pt x="2145" y="552"/>
                </a:cubicBezTo>
                <a:cubicBezTo>
                  <a:pt x="2151" y="565"/>
                  <a:pt x="2163" y="575"/>
                  <a:pt x="2169" y="588"/>
                </a:cubicBezTo>
                <a:cubicBezTo>
                  <a:pt x="2211" y="683"/>
                  <a:pt x="2218" y="799"/>
                  <a:pt x="2229" y="900"/>
                </a:cubicBezTo>
                <a:cubicBezTo>
                  <a:pt x="2219" y="1009"/>
                  <a:pt x="2210" y="1118"/>
                  <a:pt x="2181" y="1224"/>
                </a:cubicBezTo>
                <a:cubicBezTo>
                  <a:pt x="2165" y="1284"/>
                  <a:pt x="2141" y="1344"/>
                  <a:pt x="2121" y="1404"/>
                </a:cubicBezTo>
                <a:cubicBezTo>
                  <a:pt x="2116" y="1418"/>
                  <a:pt x="2103" y="1427"/>
                  <a:pt x="2097" y="1440"/>
                </a:cubicBezTo>
                <a:cubicBezTo>
                  <a:pt x="2074" y="1491"/>
                  <a:pt x="2068" y="1545"/>
                  <a:pt x="2049" y="1596"/>
                </a:cubicBezTo>
                <a:cubicBezTo>
                  <a:pt x="2021" y="1672"/>
                  <a:pt x="1993" y="1743"/>
                  <a:pt x="1977" y="1824"/>
                </a:cubicBezTo>
                <a:cubicBezTo>
                  <a:pt x="1960" y="1911"/>
                  <a:pt x="1945" y="2004"/>
                  <a:pt x="1917" y="2088"/>
                </a:cubicBezTo>
                <a:cubicBezTo>
                  <a:pt x="1908" y="2115"/>
                  <a:pt x="1896" y="2173"/>
                  <a:pt x="1869" y="2196"/>
                </a:cubicBezTo>
                <a:cubicBezTo>
                  <a:pt x="1768" y="2284"/>
                  <a:pt x="1832" y="2220"/>
                  <a:pt x="1761" y="2256"/>
                </a:cubicBezTo>
                <a:cubicBezTo>
                  <a:pt x="1586" y="2344"/>
                  <a:pt x="1401" y="2362"/>
                  <a:pt x="1209" y="2400"/>
                </a:cubicBezTo>
                <a:cubicBezTo>
                  <a:pt x="1061" y="2392"/>
                  <a:pt x="1023" y="2399"/>
                  <a:pt x="909" y="2376"/>
                </a:cubicBezTo>
                <a:cubicBezTo>
                  <a:pt x="829" y="2360"/>
                  <a:pt x="759" y="2323"/>
                  <a:pt x="681" y="2304"/>
                </a:cubicBezTo>
                <a:cubicBezTo>
                  <a:pt x="626" y="2267"/>
                  <a:pt x="563" y="2253"/>
                  <a:pt x="501" y="2232"/>
                </a:cubicBezTo>
                <a:cubicBezTo>
                  <a:pt x="418" y="2204"/>
                  <a:pt x="511" y="2210"/>
                  <a:pt x="429" y="2196"/>
                </a:cubicBezTo>
                <a:cubicBezTo>
                  <a:pt x="393" y="2190"/>
                  <a:pt x="357" y="2188"/>
                  <a:pt x="321" y="2184"/>
                </a:cubicBezTo>
                <a:cubicBezTo>
                  <a:pt x="233" y="2199"/>
                  <a:pt x="273" y="2196"/>
                  <a:pt x="201" y="2196"/>
                </a:cubicBezTo>
                <a:lnTo>
                  <a:pt x="282" y="2202"/>
                </a:lnTo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40045" name="Text Box 13"/>
          <p:cNvSpPr txBox="1">
            <a:spLocks noChangeArrowheads="1"/>
          </p:cNvSpPr>
          <p:nvPr/>
        </p:nvSpPr>
        <p:spPr bwMode="auto">
          <a:xfrm>
            <a:off x="179388" y="6308725"/>
            <a:ext cx="33845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0066"/>
                </a:solidFill>
              </a:rPr>
              <a:t>教材</a:t>
            </a:r>
            <a:r>
              <a:rPr lang="en-US" altLang="zh-CN" sz="2400" b="1" dirty="0">
                <a:solidFill>
                  <a:srgbClr val="FF0066"/>
                </a:solidFill>
              </a:rPr>
              <a:t>:P.348 </a:t>
            </a:r>
            <a:r>
              <a:rPr lang="zh-CN" altLang="en-US" sz="2400" b="1" dirty="0">
                <a:solidFill>
                  <a:srgbClr val="FF0066"/>
                </a:solidFill>
              </a:rPr>
              <a:t>上机验证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0044" grpId="0" animBg="1"/>
      <p:bldP spid="940045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77825"/>
            <a:ext cx="8497888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811" name="Oval 5"/>
          <p:cNvSpPr>
            <a:spLocks noChangeArrowheads="1"/>
          </p:cNvSpPr>
          <p:nvPr/>
        </p:nvSpPr>
        <p:spPr bwMode="auto">
          <a:xfrm>
            <a:off x="107950" y="981075"/>
            <a:ext cx="3887788" cy="1152525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  <p:sp>
        <p:nvSpPr>
          <p:cNvPr id="119812" name="Oval 6"/>
          <p:cNvSpPr>
            <a:spLocks noChangeArrowheads="1"/>
          </p:cNvSpPr>
          <p:nvPr/>
        </p:nvSpPr>
        <p:spPr bwMode="auto">
          <a:xfrm>
            <a:off x="755650" y="4076700"/>
            <a:ext cx="3744913" cy="360363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  <p:sp>
        <p:nvSpPr>
          <p:cNvPr id="119813" name="Oval 7"/>
          <p:cNvSpPr>
            <a:spLocks noChangeArrowheads="1"/>
          </p:cNvSpPr>
          <p:nvPr/>
        </p:nvSpPr>
        <p:spPr bwMode="auto">
          <a:xfrm>
            <a:off x="323850" y="5516563"/>
            <a:ext cx="2447925" cy="360362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2150"/>
            <a:ext cx="10191750" cy="540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5" name="Oval 3"/>
          <p:cNvSpPr>
            <a:spLocks noChangeArrowheads="1"/>
          </p:cNvSpPr>
          <p:nvPr/>
        </p:nvSpPr>
        <p:spPr bwMode="auto">
          <a:xfrm>
            <a:off x="539750" y="2492375"/>
            <a:ext cx="5040313" cy="1296988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zh-CN" alt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1600200" y="2667000"/>
            <a:ext cx="73152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4800" b="1" dirty="0">
                <a:solidFill>
                  <a:schemeClr val="bg2"/>
                </a:solidFill>
              </a:rPr>
              <a:t>其他宿主语言的嵌入式</a:t>
            </a:r>
            <a:r>
              <a:rPr lang="en-US" altLang="zh-CN" sz="4800" b="1" dirty="0">
                <a:solidFill>
                  <a:schemeClr val="bg2"/>
                </a:solidFill>
              </a:rPr>
              <a:t>SQL</a:t>
            </a:r>
            <a:endParaRPr lang="zh-CN" altLang="en-US" sz="4800" b="1" dirty="0">
              <a:solidFill>
                <a:schemeClr val="bg2"/>
              </a:solidFill>
            </a:endParaRPr>
          </a:p>
        </p:txBody>
      </p:sp>
      <p:grpSp>
        <p:nvGrpSpPr>
          <p:cNvPr id="117763" name="Group 3"/>
          <p:cNvGrpSpPr>
            <a:grpSpLocks/>
          </p:cNvGrpSpPr>
          <p:nvPr/>
        </p:nvGrpSpPr>
        <p:grpSpPr bwMode="auto">
          <a:xfrm>
            <a:off x="152400" y="2514600"/>
            <a:ext cx="9144000" cy="1196975"/>
            <a:chOff x="0" y="0"/>
            <a:chExt cx="5760" cy="754"/>
          </a:xfrm>
        </p:grpSpPr>
        <p:sp>
          <p:nvSpPr>
            <p:cNvPr id="117764" name="Rectangle 4"/>
            <p:cNvSpPr>
              <a:spLocks noChangeArrowheads="1"/>
            </p:cNvSpPr>
            <p:nvPr/>
          </p:nvSpPr>
          <p:spPr bwMode="auto">
            <a:xfrm>
              <a:off x="0" y="2"/>
              <a:ext cx="5760" cy="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266700" algn="just">
                <a:lnSpc>
                  <a:spcPct val="160000"/>
                </a:lnSpc>
              </a:pPr>
              <a:r>
                <a:rPr lang="en-US" altLang="zh-CN" sz="3600" b="1">
                  <a:solidFill>
                    <a:schemeClr val="tx2"/>
                  </a:solidFill>
                </a:rPr>
                <a:t>      </a:t>
              </a:r>
              <a:endParaRPr lang="en-US" altLang="zh-CN" sz="2400">
                <a:latin typeface="Times New Roman" pitchFamily="18" charset="0"/>
              </a:endParaRPr>
            </a:p>
          </p:txBody>
        </p:sp>
        <p:grpSp>
          <p:nvGrpSpPr>
            <p:cNvPr id="117765" name="Group 5"/>
            <p:cNvGrpSpPr>
              <a:grpSpLocks/>
            </p:cNvGrpSpPr>
            <p:nvPr/>
          </p:nvGrpSpPr>
          <p:grpSpPr bwMode="auto">
            <a:xfrm>
              <a:off x="0" y="0"/>
              <a:ext cx="5575" cy="754"/>
              <a:chOff x="0" y="288"/>
              <a:chExt cx="5760" cy="864"/>
            </a:xfrm>
          </p:grpSpPr>
          <p:sp>
            <p:nvSpPr>
              <p:cNvPr id="117766" name="Rectangle 6"/>
              <p:cNvSpPr>
                <a:spLocks noChangeArrowheads="1"/>
              </p:cNvSpPr>
              <p:nvPr/>
            </p:nvSpPr>
            <p:spPr bwMode="ltGray">
              <a:xfrm>
                <a:off x="196" y="377"/>
                <a:ext cx="428" cy="389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7" name="Rectangle 7"/>
              <p:cNvSpPr>
                <a:spLocks noChangeArrowheads="1"/>
              </p:cNvSpPr>
              <p:nvPr/>
            </p:nvSpPr>
            <p:spPr bwMode="ltGray">
              <a:xfrm>
                <a:off x="279" y="723"/>
                <a:ext cx="285" cy="39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8" name="Rectangle 8"/>
              <p:cNvSpPr>
                <a:spLocks noChangeArrowheads="1"/>
              </p:cNvSpPr>
              <p:nvPr/>
            </p:nvSpPr>
            <p:spPr bwMode="ltGray">
              <a:xfrm>
                <a:off x="529" y="723"/>
                <a:ext cx="248" cy="390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9" name="Rectangle 9"/>
              <p:cNvSpPr>
                <a:spLocks noChangeArrowheads="1"/>
              </p:cNvSpPr>
              <p:nvPr/>
            </p:nvSpPr>
            <p:spPr bwMode="ltGray">
              <a:xfrm>
                <a:off x="0" y="576"/>
                <a:ext cx="432" cy="384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70" name="Rectangle 10"/>
              <p:cNvSpPr>
                <a:spLocks noChangeArrowheads="1"/>
              </p:cNvSpPr>
              <p:nvPr/>
            </p:nvSpPr>
            <p:spPr bwMode="gray">
              <a:xfrm>
                <a:off x="428" y="288"/>
                <a:ext cx="22" cy="86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71" name="Rectangle 11"/>
              <p:cNvSpPr>
                <a:spLocks noChangeArrowheads="1"/>
              </p:cNvSpPr>
              <p:nvPr/>
            </p:nvSpPr>
            <p:spPr bwMode="gray">
              <a:xfrm>
                <a:off x="213" y="937"/>
                <a:ext cx="5547" cy="2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524779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14">
            <a:extLst>
              <a:ext uri="{FF2B5EF4-FFF2-40B4-BE49-F238E27FC236}">
                <a16:creationId xmlns:a16="http://schemas.microsoft.com/office/drawing/2014/main" id="{033B44CA-0DD6-4157-819C-74BCD64EEC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3391" y="5973274"/>
            <a:ext cx="8652618" cy="728983"/>
          </a:xfrm>
          <a:prstGeom prst="roundRect">
            <a:avLst>
              <a:gd name="adj" fmla="val 10889"/>
            </a:avLst>
          </a:prstGeom>
          <a:gradFill rotWithShape="1">
            <a:gsLst>
              <a:gs pos="0">
                <a:srgbClr val="EEEEEE"/>
              </a:gs>
              <a:gs pos="100000">
                <a:srgbClr val="DDDDDD"/>
              </a:gs>
            </a:gsLst>
            <a:lin ang="2700000" scaled="1"/>
          </a:gradFill>
          <a:ln w="38100">
            <a:solidFill>
              <a:srgbClr val="FFFFFF"/>
            </a:solidFill>
            <a:round/>
            <a:headEnd/>
            <a:tailEnd/>
          </a:ln>
          <a:effectLst>
            <a:outerShdw dist="135003" dir="2928844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350">
              <a:solidFill>
                <a:srgbClr val="FFFFFF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005D8F-55AC-4AE5-937F-38D014F9C4B3}"/>
              </a:ext>
            </a:extLst>
          </p:cNvPr>
          <p:cNvSpPr/>
          <p:nvPr/>
        </p:nvSpPr>
        <p:spPr bwMode="auto">
          <a:xfrm>
            <a:off x="333068" y="707212"/>
            <a:ext cx="8622941" cy="13157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zh-CN" altLang="en-US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1136404" y="1336781"/>
            <a:ext cx="6858000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00025" algn="just" defTabSz="685800">
              <a:tabLst>
                <a:tab pos="3800475" algn="l"/>
              </a:tabLst>
            </a:pPr>
            <a:r>
              <a:rPr lang="en-US" altLang="zh-CN" sz="750">
                <a:solidFill>
                  <a:srgbClr val="FFFFFF"/>
                </a:solidFill>
              </a:rPr>
              <a:t> </a:t>
            </a:r>
            <a:endParaRPr lang="en-US" altLang="zh-CN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303391" y="46910"/>
            <a:ext cx="6858000" cy="55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defTabSz="685800">
              <a:lnSpc>
                <a:spcPct val="150000"/>
              </a:lnSpc>
              <a:tabLst>
                <a:tab pos="3800475" algn="l"/>
              </a:tabLst>
            </a:pPr>
            <a:r>
              <a:rPr lang="zh-CN" altLang="en-US" sz="2400" b="1" dirty="0">
                <a:solidFill>
                  <a:srgbClr val="0000FF"/>
                </a:solidFill>
              </a:rPr>
              <a:t>一、</a:t>
            </a:r>
            <a:r>
              <a:rPr lang="en-US" altLang="zh-CN" sz="2400" b="1" dirty="0">
                <a:solidFill>
                  <a:srgbClr val="0000FF"/>
                </a:solidFill>
              </a:rPr>
              <a:t>Java</a:t>
            </a:r>
            <a:r>
              <a:rPr lang="zh-CN" altLang="en-US" sz="2400" b="1" dirty="0">
                <a:solidFill>
                  <a:srgbClr val="0000FF"/>
                </a:solidFill>
              </a:rPr>
              <a:t>嵌入</a:t>
            </a:r>
            <a:r>
              <a:rPr lang="en-US" altLang="zh-CN" sz="2400" b="1" dirty="0">
                <a:solidFill>
                  <a:srgbClr val="0000FF"/>
                </a:solidFill>
              </a:rPr>
              <a:t>SQL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75418" y="687671"/>
            <a:ext cx="8295371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defTabSz="685800">
              <a:tabLst>
                <a:tab pos="3800475" algn="l"/>
              </a:tabLst>
            </a:pP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JDBC(Java Database Connectivity)</a:t>
            </a: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是基于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的标准接口，它提供了一组接口和类，可以让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Java</a:t>
            </a: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应用程序与各个数据库进行交互。</a:t>
            </a:r>
            <a:endParaRPr lang="en-US" altLang="zh-CN" sz="2000" dirty="0">
              <a:solidFill>
                <a:srgbClr val="000000"/>
              </a:solidFill>
              <a:latin typeface="Times New Roman"/>
              <a:ea typeface="微软雅黑" panose="020B0503020204020204" pitchFamily="34" charset="-122"/>
            </a:endParaRPr>
          </a:p>
          <a:p>
            <a:pPr algn="just" defTabSz="685800">
              <a:tabLst>
                <a:tab pos="3800475" algn="l"/>
              </a:tabLst>
            </a:pP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简单来说，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JDBC </a:t>
            </a: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是一个桥梁，使得 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Java </a:t>
            </a: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应用程序能够执行</a:t>
            </a:r>
            <a:r>
              <a:rPr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SQL</a:t>
            </a:r>
            <a:r>
              <a:rPr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语句，以查询、更新和管理数据库中的数据。</a:t>
            </a:r>
            <a:endParaRPr lang="en-US" altLang="zh-CN" sz="2000" dirty="0">
              <a:solidFill>
                <a:srgbClr val="000000"/>
              </a:solidFill>
              <a:latin typeface="Times New Roman"/>
              <a:ea typeface="微软雅黑" panose="020B0503020204020204" pitchFamily="34" charset="-122"/>
            </a:endParaRPr>
          </a:p>
          <a:p>
            <a:pPr algn="just" defTabSz="685800">
              <a:tabLst>
                <a:tab pos="3800475" algn="l"/>
              </a:tabLst>
            </a:pPr>
            <a:endParaRPr lang="zh-CN" altLang="en-US" sz="2000" dirty="0">
              <a:solidFill>
                <a:srgbClr val="000000"/>
              </a:solidFill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6073" y="2123490"/>
            <a:ext cx="3044473" cy="317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85800"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JDBC 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的工作原理</a:t>
            </a:r>
          </a:p>
          <a:p>
            <a:pPr marL="685800" lvl="1" indent="-342900" defTabSz="6858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加载数据库驱动程序；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建立数据库连接；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Statement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PreparedStatement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处理查询结果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关闭连接。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7DEBDA3-37C1-4FEB-A707-2570332FE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00" y="2668092"/>
            <a:ext cx="6013127" cy="187102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CE59608-8934-4914-8AA1-311D140D019B}"/>
              </a:ext>
            </a:extLst>
          </p:cNvPr>
          <p:cNvSpPr/>
          <p:nvPr/>
        </p:nvSpPr>
        <p:spPr>
          <a:xfrm>
            <a:off x="171833" y="5274108"/>
            <a:ext cx="57259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r>
              <a:rPr kumimoji="0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平台独立性；数据库无关性；简化数据库操作；支持事务管理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83DA5F-7204-409D-B1B5-E3B9F23EB95C}"/>
              </a:ext>
            </a:extLst>
          </p:cNvPr>
          <p:cNvSpPr/>
          <p:nvPr/>
        </p:nvSpPr>
        <p:spPr>
          <a:xfrm>
            <a:off x="484969" y="6026110"/>
            <a:ext cx="8355640" cy="72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JDBC</a:t>
            </a:r>
            <a:r>
              <a:rPr kumimoji="0"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kumimoji="0"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kumimoji="0"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与数据库交互的基础技术，提供了灵活的数据库操作能力，但由于其低层次的操作和较为繁琐的代码管理，适合需要精细控制和定制优化的场景。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08164458-3DE3-46B4-92AF-586037CDA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767" y="5285649"/>
            <a:ext cx="3242854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hangingPunct="0"/>
            <a:r>
              <a:rPr kumimoji="0"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r>
              <a:rPr kumimoji="0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代码繁琐</a:t>
            </a:r>
            <a:r>
              <a:rPr kumimoji="0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；安全</a:t>
            </a:r>
            <a:r>
              <a:rPr kumimoji="0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风险</a:t>
            </a:r>
            <a:r>
              <a:rPr kumimoji="0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kumimoji="0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资源管理复杂</a:t>
            </a:r>
          </a:p>
        </p:txBody>
      </p:sp>
    </p:spTree>
    <p:extLst>
      <p:ext uri="{BB962C8B-B14F-4D97-AF65-F5344CB8AC3E}">
        <p14:creationId xmlns:p14="http://schemas.microsoft.com/office/powerpoint/2010/main" val="2492795347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67312B90-39C2-484C-9113-4E4C7861B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990" y="1147186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 fontAlgn="base">
              <a:spcBef>
                <a:spcPct val="0"/>
              </a:spcBef>
              <a:spcAft>
                <a:spcPct val="0"/>
              </a:spcAft>
              <a:tabLst>
                <a:tab pos="5067300" algn="l"/>
              </a:tabLst>
            </a:pPr>
            <a:r>
              <a:rPr kumimoji="1" lang="en-US" altLang="zh-CN" sz="1000">
                <a:solidFill>
                  <a:srgbClr val="FFFFFF"/>
                </a:solidFill>
                <a:latin typeface="宋体" charset="-122"/>
                <a:ea typeface="宋体" charset="-122"/>
              </a:rPr>
              <a:t> </a:t>
            </a:r>
            <a:endParaRPr kumimoji="1" lang="en-US" altLang="zh-CN" sz="2400">
              <a:solidFill>
                <a:srgbClr val="FFFFFF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01556C2-102E-B74B-8199-C0411585F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65" y="39757"/>
            <a:ext cx="9144000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5067300" algn="l"/>
              </a:tabLst>
            </a:pPr>
            <a:r>
              <a:rPr kumimoji="1" lang="zh-CN" altLang="en-US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一、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Java</a:t>
            </a:r>
            <a:r>
              <a:rPr kumimoji="1" lang="zh-CN" altLang="en-US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嵌入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SQL</a:t>
            </a:r>
            <a:endParaRPr kumimoji="1" lang="zh-CN" altLang="en-US" sz="2800" b="1" dirty="0">
              <a:solidFill>
                <a:srgbClr val="0000FF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6BA43F-0ECA-9C4A-B9AD-6E74F3075C29}"/>
              </a:ext>
            </a:extLst>
          </p:cNvPr>
          <p:cNvSpPr/>
          <p:nvPr/>
        </p:nvSpPr>
        <p:spPr>
          <a:xfrm>
            <a:off x="503415" y="743076"/>
            <a:ext cx="3669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嵌入 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SQL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到 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Java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中的基本流程：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E9CE39-7613-E14A-A383-A51A266E8CB7}"/>
              </a:ext>
            </a:extLst>
          </p:cNvPr>
          <p:cNvSpPr/>
          <p:nvPr/>
        </p:nvSpPr>
        <p:spPr>
          <a:xfrm>
            <a:off x="543647" y="1155837"/>
            <a:ext cx="2077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加载数据库驱动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D2312A-35F5-AD43-BB40-3886FDE269F0}"/>
              </a:ext>
            </a:extLst>
          </p:cNvPr>
          <p:cNvSpPr/>
          <p:nvPr/>
        </p:nvSpPr>
        <p:spPr>
          <a:xfrm>
            <a:off x="553191" y="1905437"/>
            <a:ext cx="2077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建立数据库连接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C1993E-0303-A440-80EB-CEE9E5C83812}"/>
              </a:ext>
            </a:extLst>
          </p:cNvPr>
          <p:cNvSpPr/>
          <p:nvPr/>
        </p:nvSpPr>
        <p:spPr>
          <a:xfrm>
            <a:off x="503415" y="2869607"/>
            <a:ext cx="4410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创建 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Statement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或 </a:t>
            </a:r>
            <a:r>
              <a:rPr lang="en-US" altLang="zh-CN" dirty="0" err="1">
                <a:solidFill>
                  <a:schemeClr val="bg2"/>
                </a:solidFill>
                <a:ea typeface="微软雅黑" panose="020B0503020204020204" pitchFamily="34" charset="-122"/>
              </a:rPr>
              <a:t>PreparedStatement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对象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D37BBA-F1A8-9A44-92E8-CE0BC3B7344C}"/>
              </a:ext>
            </a:extLst>
          </p:cNvPr>
          <p:cNvSpPr/>
          <p:nvPr/>
        </p:nvSpPr>
        <p:spPr>
          <a:xfrm>
            <a:off x="553191" y="3543206"/>
            <a:ext cx="17235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4.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执行</a:t>
            </a:r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语句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B09345E-F667-E34F-A295-B9379258D28D}"/>
              </a:ext>
            </a:extLst>
          </p:cNvPr>
          <p:cNvSpPr/>
          <p:nvPr/>
        </p:nvSpPr>
        <p:spPr>
          <a:xfrm>
            <a:off x="562081" y="4787392"/>
            <a:ext cx="1760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5.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处理查询结果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D82DB3B-762E-AB4E-8AFF-32C96E56C315}"/>
              </a:ext>
            </a:extLst>
          </p:cNvPr>
          <p:cNvSpPr/>
          <p:nvPr/>
        </p:nvSpPr>
        <p:spPr>
          <a:xfrm>
            <a:off x="539145" y="5517497"/>
            <a:ext cx="13676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ea typeface="微软雅黑" panose="020B0503020204020204" pitchFamily="34" charset="-122"/>
              </a:rPr>
              <a:t>6. </a:t>
            </a:r>
            <a:r>
              <a:rPr lang="zh-CN" altLang="en-US" dirty="0">
                <a:solidFill>
                  <a:schemeClr val="bg2"/>
                </a:solidFill>
                <a:ea typeface="微软雅黑" panose="020B0503020204020204" pitchFamily="34" charset="-122"/>
              </a:rPr>
              <a:t>关闭连接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B73330-C7D2-C24C-8E0E-53B3AA74FC06}"/>
              </a:ext>
            </a:extLst>
          </p:cNvPr>
          <p:cNvSpPr/>
          <p:nvPr/>
        </p:nvSpPr>
        <p:spPr>
          <a:xfrm>
            <a:off x="626846" y="1555380"/>
            <a:ext cx="48974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solidFill>
                  <a:srgbClr val="DD4A68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DD4A68"/>
                </a:solidFill>
                <a:latin typeface="Consolas" panose="020B0609020204030204" pitchFamily="49" charset="0"/>
              </a:rPr>
              <a:t>forName</a:t>
            </a:r>
            <a:r>
              <a:rPr lang="en-US" altLang="zh-CN" sz="1600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669900"/>
                </a:solidFill>
                <a:latin typeface="Consolas" panose="020B0609020204030204" pitchFamily="49" charset="0"/>
              </a:rPr>
              <a:t>com.mysql.cj.jdbc.Driver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endParaRPr lang="zh-CN" altLang="en-US" sz="16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5456D17-EEDC-DA44-A2BC-9DA4BD057C8E}"/>
              </a:ext>
            </a:extLst>
          </p:cNvPr>
          <p:cNvSpPr/>
          <p:nvPr/>
        </p:nvSpPr>
        <p:spPr>
          <a:xfrm>
            <a:off x="503415" y="2251935"/>
            <a:ext cx="117633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DD4A68"/>
                </a:solidFill>
                <a:latin typeface="Consolas" panose="020B0609020204030204" pitchFamily="49" charset="0"/>
              </a:rPr>
              <a:t>Connection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conn </a:t>
            </a:r>
            <a:r>
              <a:rPr lang="en-US" altLang="zh-CN" sz="1600" dirty="0">
                <a:solidFill>
                  <a:srgbClr val="9A6E3A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 err="1">
                <a:solidFill>
                  <a:srgbClr val="DD4A68"/>
                </a:solidFill>
                <a:latin typeface="Consolas" panose="020B0609020204030204" pitchFamily="49" charset="0"/>
              </a:rPr>
              <a:t>DriverManager</a:t>
            </a:r>
            <a:r>
              <a:rPr lang="en-US" altLang="zh-C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dirty="0" err="1">
                <a:solidFill>
                  <a:srgbClr val="DD4A68"/>
                </a:solidFill>
                <a:latin typeface="Consolas" panose="020B0609020204030204" pitchFamily="49" charset="0"/>
              </a:rPr>
              <a:t>getConnection</a:t>
            </a:r>
            <a:endParaRPr lang="en-US" altLang="zh-CN" sz="1600" dirty="0">
              <a:solidFill>
                <a:srgbClr val="DD4A68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 err="1">
                <a:solidFill>
                  <a:srgbClr val="669900"/>
                </a:solidFill>
                <a:latin typeface="Consolas" panose="020B0609020204030204" pitchFamily="49" charset="0"/>
              </a:rPr>
              <a:t>jdbc:mysql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://localhost:3306/</a:t>
            </a:r>
            <a:r>
              <a:rPr lang="en-US" altLang="zh-CN" sz="1600" dirty="0" err="1">
                <a:solidFill>
                  <a:srgbClr val="669900"/>
                </a:solidFill>
                <a:latin typeface="Consolas" panose="020B0609020204030204" pitchFamily="49" charset="0"/>
              </a:rPr>
              <a:t>mysql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999999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“root"</a:t>
            </a:r>
            <a:r>
              <a:rPr lang="en-US" altLang="zh-CN" sz="1600" dirty="0">
                <a:solidFill>
                  <a:srgbClr val="999999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sz="1600" dirty="0">
                <a:solidFill>
                  <a:srgbClr val="669900"/>
                </a:solidFill>
                <a:latin typeface="Consolas" panose="020B0609020204030204" pitchFamily="49" charset="0"/>
              </a:rPr>
              <a:t>"password"</a:t>
            </a:r>
            <a:r>
              <a:rPr lang="en-US" altLang="zh-CN" sz="1600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endParaRPr lang="zh-CN" altLang="en-US" sz="1600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0681A1-7549-F145-8235-3EBC1A814DC1}"/>
              </a:ext>
            </a:extLst>
          </p:cNvPr>
          <p:cNvSpPr/>
          <p:nvPr/>
        </p:nvSpPr>
        <p:spPr>
          <a:xfrm>
            <a:off x="586614" y="3252721"/>
            <a:ext cx="5250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DD4A68"/>
                </a:solidFill>
                <a:latin typeface="Consolas" panose="020B0609020204030204" pitchFamily="49" charset="0"/>
              </a:rPr>
              <a:t>Statement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stmt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9A6E3A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conn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createStatement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1339136-BE25-2D4C-8BED-5F047D5416A1}"/>
              </a:ext>
            </a:extLst>
          </p:cNvPr>
          <p:cNvSpPr/>
          <p:nvPr/>
        </p:nvSpPr>
        <p:spPr>
          <a:xfrm>
            <a:off x="617956" y="388767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executeQuery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669900"/>
                </a:solidFill>
                <a:latin typeface="Consolas" panose="020B0609020204030204" pitchFamily="49" charset="0"/>
              </a:rPr>
              <a:t>sql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/>
            </a:b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executeUpdate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669900"/>
                </a:solidFill>
                <a:latin typeface="Consolas" panose="020B0609020204030204" pitchFamily="49" charset="0"/>
              </a:rPr>
              <a:t>sql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br>
              <a:rPr lang="en-US" altLang="zh-CN" dirty="0"/>
            </a:br>
            <a:r>
              <a:rPr lang="en-US" altLang="zh-CN" dirty="0">
                <a:solidFill>
                  <a:srgbClr val="DD4A68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21D065A-8972-5043-829F-B5FDC8615B02}"/>
              </a:ext>
            </a:extLst>
          </p:cNvPr>
          <p:cNvSpPr/>
          <p:nvPr/>
        </p:nvSpPr>
        <p:spPr>
          <a:xfrm>
            <a:off x="635389" y="5139989"/>
            <a:ext cx="5250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ResultSet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>
                <a:solidFill>
                  <a:srgbClr val="9A6E3A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stmt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executeQuery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669900"/>
                </a:solidFill>
                <a:latin typeface="Consolas" panose="020B0609020204030204" pitchFamily="49" charset="0"/>
              </a:rPr>
              <a:t>sql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);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BEF8EDD-B3C5-9545-9E8D-5BE015EB3950}"/>
              </a:ext>
            </a:extLst>
          </p:cNvPr>
          <p:cNvSpPr/>
          <p:nvPr/>
        </p:nvSpPr>
        <p:spPr>
          <a:xfrm>
            <a:off x="658242" y="583491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rs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close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stmt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close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conn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close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498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/>
      <p:bldP spid="30" grpId="0"/>
      <p:bldP spid="31" grpId="0"/>
      <p:bldP spid="32" grpId="0"/>
      <p:bldP spid="33" grpId="0"/>
      <p:bldP spid="34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4F26719-2E8D-43A0-B1F2-C772DEC3E564}"/>
              </a:ext>
            </a:extLst>
          </p:cNvPr>
          <p:cNvSpPr/>
          <p:nvPr/>
        </p:nvSpPr>
        <p:spPr bwMode="auto">
          <a:xfrm>
            <a:off x="4822720" y="5884286"/>
            <a:ext cx="3458065" cy="557593"/>
          </a:xfrm>
          <a:prstGeom prst="rect">
            <a:avLst/>
          </a:prstGeom>
          <a:noFill/>
          <a:ln w="38100" cap="flat" cmpd="sng" algn="ctr">
            <a:solidFill>
              <a:schemeClr val="tx1">
                <a:lumMod val="6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zh-CN" altLang="en-US" sz="135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FE0B8B-CBF2-4300-803D-8B890BEFBA91}"/>
              </a:ext>
            </a:extLst>
          </p:cNvPr>
          <p:cNvSpPr/>
          <p:nvPr/>
        </p:nvSpPr>
        <p:spPr bwMode="auto">
          <a:xfrm>
            <a:off x="388020" y="689190"/>
            <a:ext cx="8511569" cy="1315745"/>
          </a:xfrm>
          <a:prstGeom prst="rect">
            <a:avLst/>
          </a:prstGeom>
          <a:solidFill>
            <a:srgbClr val="E2EFFE"/>
          </a:solidFill>
          <a:ln>
            <a:solidFill>
              <a:schemeClr val="tx1">
                <a:lumMod val="65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en-US" altLang="zh-CN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  <a:p>
            <a:pPr algn="just" defTabSz="685800">
              <a:lnSpc>
                <a:spcPct val="80000"/>
              </a:lnSpc>
              <a:spcBef>
                <a:spcPct val="50000"/>
              </a:spcBef>
            </a:pPr>
            <a:endParaRPr lang="zh-CN" altLang="en-US" sz="1350" dirty="0">
              <a:solidFill>
                <a:srgbClr val="FFFFFF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1143000" y="1714501"/>
            <a:ext cx="6858000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00025" algn="just" defTabSz="685800">
              <a:tabLst>
                <a:tab pos="3800475" algn="l"/>
              </a:tabLst>
            </a:pPr>
            <a:r>
              <a:rPr lang="en-US" altLang="zh-CN" sz="750">
                <a:solidFill>
                  <a:srgbClr val="FFFFFF"/>
                </a:solidFill>
              </a:rPr>
              <a:t> </a:t>
            </a:r>
            <a:endParaRPr lang="en-US" altLang="zh-CN">
              <a:solidFill>
                <a:srgbClr val="FFFFFF"/>
              </a:solidFill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142240" y="9650"/>
            <a:ext cx="6858000" cy="55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defTabSz="685800">
              <a:lnSpc>
                <a:spcPct val="150000"/>
              </a:lnSpc>
              <a:tabLst>
                <a:tab pos="3800475" algn="l"/>
              </a:tabLst>
            </a:pPr>
            <a:r>
              <a:rPr lang="zh-CN" altLang="en-US" sz="2400" b="1" dirty="0">
                <a:solidFill>
                  <a:srgbClr val="0000FF"/>
                </a:solidFill>
              </a:rPr>
              <a:t>二、</a:t>
            </a:r>
            <a:r>
              <a:rPr lang="en-US" altLang="zh-CN" sz="2400" b="1" dirty="0">
                <a:solidFill>
                  <a:srgbClr val="0000FF"/>
                </a:solidFill>
              </a:rPr>
              <a:t>Python</a:t>
            </a:r>
            <a:r>
              <a:rPr lang="zh-CN" altLang="en-US" sz="2400" b="1" dirty="0">
                <a:solidFill>
                  <a:srgbClr val="0000FF"/>
                </a:solidFill>
              </a:rPr>
              <a:t>嵌入</a:t>
            </a:r>
            <a:r>
              <a:rPr lang="en-US" altLang="zh-CN" sz="2400" b="1" dirty="0">
                <a:solidFill>
                  <a:srgbClr val="0000FF"/>
                </a:solidFill>
              </a:rPr>
              <a:t>SQL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28FD2-AC3B-4019-BB7E-DB358B38A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211" y="2363213"/>
            <a:ext cx="5820378" cy="272395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E84E844-C006-42D2-942B-7C7E28B0BCB0}"/>
              </a:ext>
            </a:extLst>
          </p:cNvPr>
          <p:cNvSpPr/>
          <p:nvPr/>
        </p:nvSpPr>
        <p:spPr>
          <a:xfrm>
            <a:off x="555171" y="766338"/>
            <a:ext cx="8316686" cy="1211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在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Python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中，嵌入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SQL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的主要方式是通过数据库连接库与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SQL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数据库进行交互。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Python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与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SQL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的结合，使得我们能够直接在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Python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代码中执行</a:t>
            </a:r>
            <a:r>
              <a:rPr kumimoji="0" lang="en-US" altLang="zh-CN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SQL</a:t>
            </a:r>
            <a:r>
              <a:rPr kumimoji="0" lang="zh-CN" altLang="en-US" sz="2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查询、更新、插入和删除等操作。</a:t>
            </a:r>
          </a:p>
        </p:txBody>
      </p:sp>
      <p:pic>
        <p:nvPicPr>
          <p:cNvPr id="3078" name="Picture 6" descr="https://img1.baidu.com/it/u=1872384334,1752591489&amp;fm=253&amp;fmt=auto&amp;app=138&amp;f=PNG?w=500&amp;h=500">
            <a:extLst>
              <a:ext uri="{FF2B5EF4-FFF2-40B4-BE49-F238E27FC236}">
                <a16:creationId xmlns:a16="http://schemas.microsoft.com/office/drawing/2014/main" id="{A6B7A71F-2618-45C3-AA7A-E32C08CE0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985" y="5884286"/>
            <a:ext cx="630171" cy="63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4855698-4A8D-4340-A169-3BC438BF0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513" y="5869618"/>
            <a:ext cx="2807849" cy="63017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CF1E7A8-4997-4761-ACA3-0C8AEAF8599D}"/>
              </a:ext>
            </a:extLst>
          </p:cNvPr>
          <p:cNvSpPr/>
          <p:nvPr/>
        </p:nvSpPr>
        <p:spPr>
          <a:xfrm>
            <a:off x="124010" y="2118132"/>
            <a:ext cx="4572000" cy="29518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defTabSz="685800">
              <a:lnSpc>
                <a:spcPct val="150000"/>
              </a:lnSpc>
            </a:pP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的基本步骤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导入工具库；</a:t>
            </a:r>
          </a:p>
          <a:p>
            <a:pPr marL="685800" lvl="1" indent="-342900" defTabSz="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应用系统与数据库的连接；</a:t>
            </a:r>
          </a:p>
          <a:p>
            <a:pPr marL="685800" lvl="1" indent="-342900" defTabSz="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建立游标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对象；</a:t>
            </a:r>
            <a:endParaRPr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提交事务；</a:t>
            </a:r>
            <a:endParaRPr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1" indent="-342900" defTabSz="6858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关闭连接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2CEA6B-FEBF-4D31-9245-08314AB4042D}"/>
              </a:ext>
            </a:extLst>
          </p:cNvPr>
          <p:cNvSpPr/>
          <p:nvPr/>
        </p:nvSpPr>
        <p:spPr>
          <a:xfrm>
            <a:off x="192841" y="527480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hangingPunct="0"/>
            <a:r>
              <a:rPr lang="zh-CN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常用数据库连接库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C6E6C2-ED23-4072-AD5D-E150620D45EF}"/>
              </a:ext>
            </a:extLst>
          </p:cNvPr>
          <p:cNvSpPr/>
          <p:nvPr/>
        </p:nvSpPr>
        <p:spPr>
          <a:xfrm>
            <a:off x="4822720" y="5920379"/>
            <a:ext cx="1762021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2700" b="1" dirty="0">
                <a:solidFill>
                  <a:srgbClr val="000000"/>
                </a:solidFill>
                <a:latin typeface="Times New Roman"/>
                <a:ea typeface="宋体"/>
              </a:rPr>
              <a:t>PyMySQL</a:t>
            </a:r>
            <a:endParaRPr kumimoji="0" lang="zh-CN" altLang="en-US" sz="2700" b="1" dirty="0">
              <a:solidFill>
                <a:srgbClr val="FFFFFF"/>
              </a:solidFill>
              <a:latin typeface="Times New Roman"/>
              <a:ea typeface="宋体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514111-3C84-4645-B034-A9001F12D849}"/>
              </a:ext>
            </a:extLst>
          </p:cNvPr>
          <p:cNvSpPr/>
          <p:nvPr/>
        </p:nvSpPr>
        <p:spPr>
          <a:xfrm>
            <a:off x="6514608" y="5884286"/>
            <a:ext cx="15504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2700" b="1" dirty="0">
                <a:solidFill>
                  <a:srgbClr val="000000"/>
                </a:solidFill>
                <a:latin typeface="Times New Roman"/>
                <a:ea typeface="宋体"/>
              </a:rPr>
              <a:t>psycopg2</a:t>
            </a:r>
            <a:endParaRPr kumimoji="0" lang="zh-CN" altLang="en-US" sz="2700" b="1" dirty="0">
              <a:solidFill>
                <a:srgbClr val="FFFFFF"/>
              </a:solidFill>
              <a:latin typeface="Times New Roman"/>
              <a:ea typeface="宋体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FDB3F44-4932-4A31-BD56-B59D46F89ECD}"/>
              </a:ext>
            </a:extLst>
          </p:cNvPr>
          <p:cNvSpPr/>
          <p:nvPr/>
        </p:nvSpPr>
        <p:spPr>
          <a:xfrm>
            <a:off x="6030743" y="552600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hangingPunct="0"/>
            <a:r>
              <a:rPr kumimoji="0" lang="zh-CN" altLang="en-US" b="1" dirty="0">
                <a:solidFill>
                  <a:srgbClr val="FFFFFF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第三方库</a:t>
            </a:r>
            <a:endParaRPr kumimoji="0" lang="zh-CN" altLang="zh-CN" b="1" dirty="0">
              <a:solidFill>
                <a:srgbClr val="FFFFFF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204261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2">
            <a:extLst>
              <a:ext uri="{FF2B5EF4-FFF2-40B4-BE49-F238E27FC236}">
                <a16:creationId xmlns:a16="http://schemas.microsoft.com/office/drawing/2014/main" id="{84B93AFE-802A-554F-B252-AD97F6872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366" y="1055717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 fontAlgn="base">
              <a:spcBef>
                <a:spcPct val="0"/>
              </a:spcBef>
              <a:spcAft>
                <a:spcPct val="0"/>
              </a:spcAft>
              <a:tabLst>
                <a:tab pos="5067300" algn="l"/>
              </a:tabLst>
            </a:pPr>
            <a:r>
              <a:rPr kumimoji="1" lang="en-US" altLang="zh-CN" sz="1000">
                <a:solidFill>
                  <a:srgbClr val="FFFFFF"/>
                </a:solidFill>
                <a:latin typeface="宋体" charset="-122"/>
                <a:ea typeface="宋体" charset="-122"/>
              </a:rPr>
              <a:t> </a:t>
            </a:r>
            <a:endParaRPr kumimoji="1" lang="en-US" altLang="zh-CN" sz="2400">
              <a:solidFill>
                <a:srgbClr val="FFFFFF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3E170861-0233-574F-9AA4-136316103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8100"/>
            <a:ext cx="9144000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5067300" algn="l"/>
              </a:tabLst>
            </a:pPr>
            <a:r>
              <a:rPr kumimoji="1" lang="zh-CN" altLang="en-US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二、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Python</a:t>
            </a:r>
            <a:r>
              <a:rPr kumimoji="1" lang="zh-CN" altLang="en-US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嵌入</a:t>
            </a:r>
            <a:r>
              <a:rPr kumimoji="1" lang="en-US" altLang="zh-CN" sz="2800" b="1" dirty="0">
                <a:solidFill>
                  <a:srgbClr val="0000FF"/>
                </a:solidFill>
                <a:latin typeface="宋体" charset="-122"/>
                <a:ea typeface="宋体" charset="-122"/>
              </a:rPr>
              <a:t>SQL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charset="-122"/>
                <a:ea typeface="宋体" charset="-122"/>
              </a:rPr>
              <a:t>  </a:t>
            </a:r>
            <a:endParaRPr kumimoji="1" lang="zh-CN" altLang="en-US" sz="2400" dirty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F285BC-6719-664D-88B7-83F095F1ECD8}"/>
              </a:ext>
            </a:extLst>
          </p:cNvPr>
          <p:cNvSpPr/>
          <p:nvPr/>
        </p:nvSpPr>
        <p:spPr>
          <a:xfrm>
            <a:off x="215900" y="754000"/>
            <a:ext cx="2291012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导入工具库；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6A7E3C-A413-0C4A-9A42-D5E894CE54E5}"/>
              </a:ext>
            </a:extLst>
          </p:cNvPr>
          <p:cNvSpPr/>
          <p:nvPr/>
        </p:nvSpPr>
        <p:spPr>
          <a:xfrm>
            <a:off x="713200" y="1712698"/>
            <a:ext cx="3445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应用系统与数据库的连接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5896F-A6CC-AB42-AEE8-E91C820E775F}"/>
              </a:ext>
            </a:extLst>
          </p:cNvPr>
          <p:cNvSpPr/>
          <p:nvPr/>
        </p:nvSpPr>
        <p:spPr>
          <a:xfrm>
            <a:off x="295722" y="2925995"/>
            <a:ext cx="2521844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建立游标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对象；</a:t>
            </a:r>
            <a:endParaRPr kumimoji="1"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83B0B8-58DE-0D4F-AD26-7B756091C20D}"/>
              </a:ext>
            </a:extLst>
          </p:cNvPr>
          <p:cNvSpPr/>
          <p:nvPr/>
        </p:nvSpPr>
        <p:spPr>
          <a:xfrm>
            <a:off x="295722" y="3645016"/>
            <a:ext cx="2375971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kumimoji="1" lang="en-US" altLang="zh-CN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1"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5DECFC-3254-7143-A68F-A3AF4E627FD3}"/>
              </a:ext>
            </a:extLst>
          </p:cNvPr>
          <p:cNvSpPr/>
          <p:nvPr/>
        </p:nvSpPr>
        <p:spPr>
          <a:xfrm>
            <a:off x="331316" y="4511961"/>
            <a:ext cx="2060179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提交事务；</a:t>
            </a:r>
            <a:endParaRPr kumimoji="1" lang="zh-CN" altLang="zh-CN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3875EE-97FB-764A-A17A-B3F7AD495FBB}"/>
              </a:ext>
            </a:extLst>
          </p:cNvPr>
          <p:cNvSpPr/>
          <p:nvPr/>
        </p:nvSpPr>
        <p:spPr>
          <a:xfrm>
            <a:off x="331315" y="5343375"/>
            <a:ext cx="2060179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kumimoji="1"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关闭连接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521EDEA-0421-7940-B43B-3699778EF6D3}"/>
              </a:ext>
            </a:extLst>
          </p:cNvPr>
          <p:cNvSpPr/>
          <p:nvPr/>
        </p:nvSpPr>
        <p:spPr>
          <a:xfrm>
            <a:off x="917108" y="1232577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77AA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sqlite3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10E3DC-0AC7-8E40-9623-C7DC3C98B509}"/>
              </a:ext>
            </a:extLst>
          </p:cNvPr>
          <p:cNvSpPr/>
          <p:nvPr/>
        </p:nvSpPr>
        <p:spPr>
          <a:xfrm>
            <a:off x="943261" y="2044172"/>
            <a:ext cx="5540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connection </a:t>
            </a:r>
            <a:r>
              <a:rPr lang="en-US" altLang="zh-CN" dirty="0">
                <a:solidFill>
                  <a:srgbClr val="9A6E3A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sqlite3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>
                <a:solidFill>
                  <a:srgbClr val="DD4A68"/>
                </a:solidFill>
                <a:latin typeface="Consolas" panose="020B0609020204030204" pitchFamily="49" charset="0"/>
              </a:rPr>
              <a:t>connect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</a:t>
            </a:r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数据库名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db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)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7486E7B-87A5-774C-AA09-716580A122BF}"/>
              </a:ext>
            </a:extLst>
          </p:cNvPr>
          <p:cNvSpPr/>
          <p:nvPr/>
        </p:nvSpPr>
        <p:spPr>
          <a:xfrm>
            <a:off x="2874695" y="105005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708090"/>
                </a:solidFill>
                <a:latin typeface="Consolas" panose="020B0609020204030204" pitchFamily="49" charset="0"/>
              </a:rPr>
              <a:t>// import </a:t>
            </a:r>
            <a:r>
              <a:rPr lang="en-US" altLang="zh-CN" dirty="0" err="1">
                <a:solidFill>
                  <a:srgbClr val="708090"/>
                </a:solidFill>
                <a:latin typeface="Consolas" panose="020B0609020204030204" pitchFamily="49" charset="0"/>
              </a:rPr>
              <a:t>PyMySQL</a:t>
            </a:r>
            <a:br>
              <a:rPr lang="en-US" altLang="zh-CN" dirty="0"/>
            </a:br>
            <a:r>
              <a:rPr lang="en-US" altLang="zh-CN" dirty="0">
                <a:solidFill>
                  <a:srgbClr val="708090"/>
                </a:solidFill>
                <a:latin typeface="Consolas" panose="020B0609020204030204" pitchFamily="49" charset="0"/>
              </a:rPr>
              <a:t>// import psycopg2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9F2EE85-527C-9E43-9819-5EB406540DA3}"/>
              </a:ext>
            </a:extLst>
          </p:cNvPr>
          <p:cNvSpPr/>
          <p:nvPr/>
        </p:nvSpPr>
        <p:spPr>
          <a:xfrm>
            <a:off x="0" y="2449730"/>
            <a:ext cx="121013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708090"/>
                </a:solidFill>
                <a:latin typeface="Consolas" panose="020B0609020204030204" pitchFamily="49" charset="0"/>
              </a:rPr>
              <a:t>// connection = </a:t>
            </a:r>
            <a:r>
              <a:rPr lang="en-US" altLang="zh-CN" sz="1200" dirty="0" err="1">
                <a:solidFill>
                  <a:srgbClr val="708090"/>
                </a:solidFill>
                <a:latin typeface="Consolas" panose="020B0609020204030204" pitchFamily="49" charset="0"/>
              </a:rPr>
              <a:t>pymysql.connect</a:t>
            </a:r>
            <a:r>
              <a:rPr lang="en-US" altLang="zh-CN" sz="1200" dirty="0">
                <a:solidFill>
                  <a:srgbClr val="708090"/>
                </a:solidFill>
                <a:latin typeface="Consolas" panose="020B0609020204030204" pitchFamily="49" charset="0"/>
              </a:rPr>
              <a:t>(host='127.0.0.1’,port=3306,user='</a:t>
            </a:r>
            <a:r>
              <a:rPr lang="en-US" altLang="zh-CN" sz="1200" dirty="0" err="1">
                <a:solidFill>
                  <a:srgbClr val="708090"/>
                </a:solidFill>
                <a:latin typeface="Consolas" panose="020B0609020204030204" pitchFamily="49" charset="0"/>
              </a:rPr>
              <a:t>root',password</a:t>
            </a:r>
            <a:r>
              <a:rPr lang="en-US" altLang="zh-CN" sz="1200" dirty="0">
                <a:solidFill>
                  <a:srgbClr val="708090"/>
                </a:solidFill>
                <a:latin typeface="Consolas" panose="020B0609020204030204" pitchFamily="49" charset="0"/>
              </a:rPr>
              <a:t>='',charset='utf8')</a:t>
            </a:r>
            <a:endParaRPr lang="zh-CN" altLang="en-US" sz="1200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014E21-0558-2F42-A82B-70542C9BE56D}"/>
              </a:ext>
            </a:extLst>
          </p:cNvPr>
          <p:cNvSpPr/>
          <p:nvPr/>
        </p:nvSpPr>
        <p:spPr>
          <a:xfrm>
            <a:off x="963946" y="3333744"/>
            <a:ext cx="37305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cursor </a:t>
            </a:r>
            <a:r>
              <a:rPr lang="en-US" altLang="zh-CN" dirty="0">
                <a:solidFill>
                  <a:srgbClr val="9A6E3A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cursor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9634740-8C1F-9145-955D-F57280D6C51D}"/>
              </a:ext>
            </a:extLst>
          </p:cNvPr>
          <p:cNvSpPr/>
          <p:nvPr/>
        </p:nvSpPr>
        <p:spPr>
          <a:xfrm>
            <a:off x="-26153" y="2749261"/>
            <a:ext cx="1121804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708090"/>
                </a:solidFill>
                <a:latin typeface="Consolas" panose="020B0609020204030204" pitchFamily="49" charset="0"/>
              </a:rPr>
              <a:t>// connection = psycopg2.connect(database='',user='',password='',host='',port='')</a:t>
            </a:r>
            <a:endParaRPr lang="zh-CN" altLang="en-US" sz="1400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52BE35-F79A-DB46-AB46-4A3D8A14FF44}"/>
              </a:ext>
            </a:extLst>
          </p:cNvPr>
          <p:cNvSpPr/>
          <p:nvPr/>
        </p:nvSpPr>
        <p:spPr>
          <a:xfrm>
            <a:off x="963946" y="4114619"/>
            <a:ext cx="3305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"SQL</a:t>
            </a:r>
            <a:r>
              <a:rPr lang="zh-CN" altLang="en-US" dirty="0">
                <a:solidFill>
                  <a:srgbClr val="669900"/>
                </a:solidFill>
                <a:latin typeface="Consolas" panose="020B0609020204030204" pitchFamily="49" charset="0"/>
              </a:rPr>
              <a:t>语句</a:t>
            </a:r>
            <a:r>
              <a:rPr lang="en-US" altLang="zh-CN" dirty="0">
                <a:solidFill>
                  <a:srgbClr val="669900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)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36E2F3-74EA-1D45-AC2E-9A08B9C4B8C9}"/>
              </a:ext>
            </a:extLst>
          </p:cNvPr>
          <p:cNvSpPr/>
          <p:nvPr/>
        </p:nvSpPr>
        <p:spPr>
          <a:xfrm>
            <a:off x="1035546" y="4953554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commit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90C01A1-F1D3-3541-AFB2-7C166BAE21BD}"/>
              </a:ext>
            </a:extLst>
          </p:cNvPr>
          <p:cNvSpPr/>
          <p:nvPr/>
        </p:nvSpPr>
        <p:spPr>
          <a:xfrm>
            <a:off x="1035546" y="5851623"/>
            <a:ext cx="31228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close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</a:t>
            </a:r>
            <a:br>
              <a:rPr lang="en-US" altLang="zh-CN" dirty="0"/>
            </a:b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connection</a:t>
            </a:r>
            <a:r>
              <a:rPr lang="en-US" altLang="zh-CN" dirty="0" err="1">
                <a:solidFill>
                  <a:srgbClr val="999999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DD4A68"/>
                </a:solidFill>
                <a:latin typeface="Consolas" panose="020B0609020204030204" pitchFamily="49" charset="0"/>
              </a:rPr>
              <a:t>close</a:t>
            </a:r>
            <a:r>
              <a:rPr lang="en-US" altLang="zh-CN" dirty="0">
                <a:solidFill>
                  <a:srgbClr val="999999"/>
                </a:solidFill>
                <a:latin typeface="Consolas" panose="020B0609020204030204" pitchFamily="49" charset="0"/>
              </a:rPr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622471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ext Box 2"/>
          <p:cNvSpPr txBox="1">
            <a:spLocks noChangeArrowheads="1"/>
          </p:cNvSpPr>
          <p:nvPr/>
        </p:nvSpPr>
        <p:spPr bwMode="auto">
          <a:xfrm>
            <a:off x="1600200" y="2667000"/>
            <a:ext cx="7315200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4800" b="1" dirty="0">
                <a:solidFill>
                  <a:schemeClr val="bg2"/>
                </a:solidFill>
              </a:rPr>
              <a:t>ORM</a:t>
            </a:r>
            <a:endParaRPr lang="zh-CN" altLang="en-US" sz="4800" b="1" dirty="0">
              <a:solidFill>
                <a:schemeClr val="bg2"/>
              </a:solidFill>
            </a:endParaRPr>
          </a:p>
        </p:txBody>
      </p:sp>
      <p:grpSp>
        <p:nvGrpSpPr>
          <p:cNvPr id="117763" name="Group 3"/>
          <p:cNvGrpSpPr>
            <a:grpSpLocks/>
          </p:cNvGrpSpPr>
          <p:nvPr/>
        </p:nvGrpSpPr>
        <p:grpSpPr bwMode="auto">
          <a:xfrm>
            <a:off x="152400" y="2514600"/>
            <a:ext cx="9144000" cy="1196975"/>
            <a:chOff x="0" y="0"/>
            <a:chExt cx="5760" cy="754"/>
          </a:xfrm>
        </p:grpSpPr>
        <p:sp>
          <p:nvSpPr>
            <p:cNvPr id="117764" name="Rectangle 4"/>
            <p:cNvSpPr>
              <a:spLocks noChangeArrowheads="1"/>
            </p:cNvSpPr>
            <p:nvPr/>
          </p:nvSpPr>
          <p:spPr bwMode="auto">
            <a:xfrm>
              <a:off x="0" y="2"/>
              <a:ext cx="5760" cy="6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indent="266700" algn="just">
                <a:lnSpc>
                  <a:spcPct val="160000"/>
                </a:lnSpc>
              </a:pPr>
              <a:r>
                <a:rPr lang="en-US" altLang="zh-CN" sz="3600" b="1">
                  <a:solidFill>
                    <a:schemeClr val="tx2"/>
                  </a:solidFill>
                </a:rPr>
                <a:t>      </a:t>
              </a:r>
              <a:endParaRPr lang="en-US" altLang="zh-CN" sz="2400">
                <a:latin typeface="Times New Roman" pitchFamily="18" charset="0"/>
              </a:endParaRPr>
            </a:p>
          </p:txBody>
        </p:sp>
        <p:grpSp>
          <p:nvGrpSpPr>
            <p:cNvPr id="117765" name="Group 5"/>
            <p:cNvGrpSpPr>
              <a:grpSpLocks/>
            </p:cNvGrpSpPr>
            <p:nvPr/>
          </p:nvGrpSpPr>
          <p:grpSpPr bwMode="auto">
            <a:xfrm>
              <a:off x="0" y="0"/>
              <a:ext cx="5575" cy="754"/>
              <a:chOff x="0" y="288"/>
              <a:chExt cx="5760" cy="864"/>
            </a:xfrm>
          </p:grpSpPr>
          <p:sp>
            <p:nvSpPr>
              <p:cNvPr id="117766" name="Rectangle 6"/>
              <p:cNvSpPr>
                <a:spLocks noChangeArrowheads="1"/>
              </p:cNvSpPr>
              <p:nvPr/>
            </p:nvSpPr>
            <p:spPr bwMode="ltGray">
              <a:xfrm>
                <a:off x="196" y="377"/>
                <a:ext cx="428" cy="389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7" name="Rectangle 7"/>
              <p:cNvSpPr>
                <a:spLocks noChangeArrowheads="1"/>
              </p:cNvSpPr>
              <p:nvPr/>
            </p:nvSpPr>
            <p:spPr bwMode="ltGray">
              <a:xfrm>
                <a:off x="279" y="723"/>
                <a:ext cx="285" cy="39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8" name="Rectangle 8"/>
              <p:cNvSpPr>
                <a:spLocks noChangeArrowheads="1"/>
              </p:cNvSpPr>
              <p:nvPr/>
            </p:nvSpPr>
            <p:spPr bwMode="ltGray">
              <a:xfrm>
                <a:off x="529" y="723"/>
                <a:ext cx="248" cy="390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69" name="Rectangle 9"/>
              <p:cNvSpPr>
                <a:spLocks noChangeArrowheads="1"/>
              </p:cNvSpPr>
              <p:nvPr/>
            </p:nvSpPr>
            <p:spPr bwMode="ltGray">
              <a:xfrm>
                <a:off x="0" y="576"/>
                <a:ext cx="432" cy="384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70" name="Rectangle 10"/>
              <p:cNvSpPr>
                <a:spLocks noChangeArrowheads="1"/>
              </p:cNvSpPr>
              <p:nvPr/>
            </p:nvSpPr>
            <p:spPr bwMode="gray">
              <a:xfrm>
                <a:off x="428" y="288"/>
                <a:ext cx="22" cy="86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  <p:sp>
            <p:nvSpPr>
              <p:cNvPr id="117771" name="Rectangle 11"/>
              <p:cNvSpPr>
                <a:spLocks noChangeArrowheads="1"/>
              </p:cNvSpPr>
              <p:nvPr/>
            </p:nvSpPr>
            <p:spPr bwMode="gray">
              <a:xfrm>
                <a:off x="213" y="937"/>
                <a:ext cx="5547" cy="26"/>
              </a:xfrm>
              <a:prstGeom prst="rect">
                <a:avLst/>
              </a:pr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2400">
                  <a:latin typeface="Tahoma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626796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一、什么是</a:t>
            </a:r>
            <a:r>
              <a:rPr lang="en-US" altLang="zh-CN" sz="2800" b="1" dirty="0">
                <a:solidFill>
                  <a:schemeClr val="bg1"/>
                </a:solidFill>
              </a:rPr>
              <a:t>ORM</a:t>
            </a:r>
            <a:r>
              <a:rPr lang="zh-CN" altLang="en-US" sz="2800" b="1" dirty="0">
                <a:solidFill>
                  <a:schemeClr val="bg1"/>
                </a:solidFill>
              </a:rPr>
              <a:t>？</a:t>
            </a:r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75556" y="3212976"/>
            <a:ext cx="8100900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zh-CN" sz="2000" dirty="0">
                <a:solidFill>
                  <a:schemeClr val="bg2"/>
                </a:solidFill>
              </a:rPr>
              <a:t>使用面向对象编程时，数据很多时候都存储在对象里面，具体来说是存储在对象的各个属性（也称成员变量）中。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zh-CN" sz="2000" dirty="0">
                <a:solidFill>
                  <a:schemeClr val="bg2"/>
                </a:solidFill>
              </a:rPr>
              <a:t>如</a:t>
            </a:r>
            <a:r>
              <a:rPr lang="zh-CN" altLang="en-US" sz="2000" dirty="0">
                <a:solidFill>
                  <a:schemeClr val="bg2"/>
                </a:solidFill>
              </a:rPr>
              <a:t>：</a:t>
            </a:r>
            <a:r>
              <a:rPr lang="en-US" altLang="zh-CN" sz="2000" dirty="0">
                <a:solidFill>
                  <a:schemeClr val="bg2"/>
                </a:solidFill>
              </a:rPr>
              <a:t>User</a:t>
            </a:r>
            <a:r>
              <a:rPr lang="zh-CN" altLang="zh-CN" sz="2000" dirty="0">
                <a:solidFill>
                  <a:schemeClr val="bg2"/>
                </a:solidFill>
              </a:rPr>
              <a:t>类</a:t>
            </a:r>
            <a:r>
              <a:rPr lang="zh-CN" altLang="en-US" sz="2000" dirty="0">
                <a:solidFill>
                  <a:schemeClr val="bg2"/>
                </a:solidFill>
              </a:rPr>
              <a:t>，有属性：</a:t>
            </a:r>
            <a:r>
              <a:rPr lang="en-US" altLang="zh-CN" sz="2000" dirty="0">
                <a:solidFill>
                  <a:schemeClr val="bg2"/>
                </a:solidFill>
              </a:rPr>
              <a:t>id</a:t>
            </a:r>
            <a:r>
              <a:rPr lang="zh-CN" altLang="zh-CN" sz="2000" dirty="0">
                <a:solidFill>
                  <a:schemeClr val="bg2"/>
                </a:solidFill>
              </a:rPr>
              <a:t>、</a:t>
            </a:r>
            <a:r>
              <a:rPr lang="en-US" altLang="zh-CN" sz="2000" dirty="0">
                <a:solidFill>
                  <a:schemeClr val="bg2"/>
                </a:solidFill>
              </a:rPr>
              <a:t>username</a:t>
            </a:r>
            <a:r>
              <a:rPr lang="zh-CN" altLang="zh-CN" sz="2000" dirty="0">
                <a:solidFill>
                  <a:schemeClr val="bg2"/>
                </a:solidFill>
              </a:rPr>
              <a:t>、</a:t>
            </a:r>
            <a:r>
              <a:rPr lang="en-US" altLang="zh-CN" sz="2000" dirty="0">
                <a:solidFill>
                  <a:schemeClr val="bg2"/>
                </a:solidFill>
              </a:rPr>
              <a:t>password</a:t>
            </a:r>
            <a:r>
              <a:rPr lang="zh-CN" altLang="en-US" sz="2000" dirty="0">
                <a:solidFill>
                  <a:schemeClr val="bg2"/>
                </a:solidFill>
              </a:rPr>
              <a:t>等</a:t>
            </a:r>
            <a:r>
              <a:rPr lang="zh-CN" altLang="zh-CN" sz="2000" dirty="0">
                <a:solidFill>
                  <a:schemeClr val="bg2"/>
                </a:solidFill>
              </a:rPr>
              <a:t>。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zh-CN" sz="2000" dirty="0">
                <a:solidFill>
                  <a:schemeClr val="bg2"/>
                </a:solidFill>
              </a:rPr>
              <a:t>当我们需要把对象中的数据存储到数据库时，按照传统思路，就得手动编写</a:t>
            </a:r>
            <a:r>
              <a:rPr lang="en-US" altLang="zh-CN" sz="2000" dirty="0">
                <a:solidFill>
                  <a:schemeClr val="bg2"/>
                </a:solidFill>
              </a:rPr>
              <a:t> SQL </a:t>
            </a:r>
            <a:r>
              <a:rPr lang="zh-CN" altLang="zh-CN" sz="2000" dirty="0">
                <a:solidFill>
                  <a:schemeClr val="bg2"/>
                </a:solidFill>
              </a:rPr>
              <a:t>语句。</a:t>
            </a:r>
            <a:endParaRPr lang="en-US" altLang="zh-CN" sz="2800" dirty="0">
              <a:solidFill>
                <a:schemeClr val="bg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5556" y="1154136"/>
            <a:ext cx="7992888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zh-CN" sz="2000" dirty="0">
                <a:solidFill>
                  <a:schemeClr val="bg2"/>
                </a:solidFill>
              </a:rPr>
              <a:t>对象关系映射</a:t>
            </a:r>
            <a:r>
              <a:rPr lang="zh-CN" altLang="en-US" sz="2000" dirty="0">
                <a:solidFill>
                  <a:schemeClr val="bg2"/>
                </a:solidFill>
              </a:rPr>
              <a:t>（</a:t>
            </a:r>
            <a:r>
              <a:rPr lang="en-US" altLang="zh-CN" sz="2000" b="1" dirty="0">
                <a:solidFill>
                  <a:srgbClr val="C00000"/>
                </a:solidFill>
              </a:rPr>
              <a:t>Object-Relational-Mapping</a:t>
            </a:r>
            <a:r>
              <a:rPr lang="zh-CN" altLang="en-US" sz="2000" b="1" dirty="0">
                <a:solidFill>
                  <a:srgbClr val="C00000"/>
                </a:solidFill>
              </a:rPr>
              <a:t>）</a:t>
            </a:r>
            <a:r>
              <a:rPr lang="zh-CN" altLang="en-US" sz="2000" dirty="0">
                <a:solidFill>
                  <a:schemeClr val="bg2"/>
                </a:solidFill>
              </a:rPr>
              <a:t>。</a:t>
            </a:r>
            <a:r>
              <a:rPr lang="zh-CN" altLang="zh-CN" sz="2000" dirty="0">
                <a:solidFill>
                  <a:schemeClr val="bg2"/>
                </a:solidFill>
              </a:rPr>
              <a:t>作用是在关系数据库和对象之间作一个映射，这样在具体操作数据库时，不需要去和复杂的</a:t>
            </a:r>
            <a:r>
              <a:rPr lang="en-US" altLang="zh-CN" sz="2000" dirty="0">
                <a:solidFill>
                  <a:schemeClr val="bg2"/>
                </a:solidFill>
              </a:rPr>
              <a:t>SQL</a:t>
            </a:r>
            <a:r>
              <a:rPr lang="zh-CN" altLang="zh-CN" sz="2000" dirty="0">
                <a:solidFill>
                  <a:schemeClr val="bg2"/>
                </a:solidFill>
              </a:rPr>
              <a:t>语句打交道 ，只要像平时操作对象一样操作就可以。</a:t>
            </a:r>
            <a:endParaRPr lang="zh-CN" alt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50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</a:rPr>
              <a:t>ORM</a:t>
            </a:r>
            <a:r>
              <a:rPr lang="zh-CN" altLang="en-US" sz="2800" b="1" dirty="0">
                <a:solidFill>
                  <a:schemeClr val="bg1"/>
                </a:solidFill>
              </a:rPr>
              <a:t>技术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781283" y="908720"/>
            <a:ext cx="758143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zh-CN" sz="2000" dirty="0">
                <a:solidFill>
                  <a:schemeClr val="bg2"/>
                </a:solidFill>
              </a:rPr>
              <a:t>有了</a:t>
            </a:r>
            <a:r>
              <a:rPr lang="en-US" altLang="zh-CN" sz="2000" dirty="0">
                <a:solidFill>
                  <a:schemeClr val="bg2"/>
                </a:solidFill>
              </a:rPr>
              <a:t> ORM </a:t>
            </a:r>
            <a:r>
              <a:rPr lang="zh-CN" altLang="zh-CN" sz="2000" dirty="0">
                <a:solidFill>
                  <a:schemeClr val="bg2"/>
                </a:solidFill>
              </a:rPr>
              <a:t>技术，只要提前配置好对象和数据库之间的映射关系，</a:t>
            </a:r>
            <a:r>
              <a:rPr lang="en-US" altLang="zh-CN" sz="2000" dirty="0">
                <a:solidFill>
                  <a:schemeClr val="bg2"/>
                </a:solidFill>
              </a:rPr>
              <a:t>ORM </a:t>
            </a:r>
            <a:r>
              <a:rPr lang="zh-CN" altLang="zh-CN" sz="2000" dirty="0">
                <a:solidFill>
                  <a:schemeClr val="bg2"/>
                </a:solidFill>
              </a:rPr>
              <a:t>就可以自动生成</a:t>
            </a:r>
            <a:r>
              <a:rPr lang="en-US" altLang="zh-CN" sz="2000" dirty="0">
                <a:solidFill>
                  <a:schemeClr val="bg2"/>
                </a:solidFill>
              </a:rPr>
              <a:t> SQL </a:t>
            </a:r>
            <a:r>
              <a:rPr lang="zh-CN" altLang="zh-CN" sz="2000" dirty="0">
                <a:solidFill>
                  <a:schemeClr val="bg2"/>
                </a:solidFill>
              </a:rPr>
              <a:t>语句，并将对象中的数据自动存储到数据库中，整个过程不需要人工干预。</a:t>
            </a:r>
            <a:r>
              <a:rPr lang="en-US" altLang="zh-CN" sz="2000" dirty="0">
                <a:solidFill>
                  <a:schemeClr val="bg2"/>
                </a:solidFill>
              </a:rPr>
              <a:t>ORM </a:t>
            </a:r>
            <a:r>
              <a:rPr lang="zh-CN" altLang="zh-CN" sz="2000" dirty="0">
                <a:solidFill>
                  <a:schemeClr val="bg2"/>
                </a:solidFill>
              </a:rPr>
              <a:t>一般使用</a:t>
            </a:r>
            <a:r>
              <a:rPr lang="en-US" altLang="zh-CN" sz="2000" dirty="0">
                <a:solidFill>
                  <a:schemeClr val="bg2"/>
                </a:solidFill>
              </a:rPr>
              <a:t> XML </a:t>
            </a:r>
            <a:r>
              <a:rPr lang="zh-CN" altLang="zh-CN" sz="2000" dirty="0">
                <a:solidFill>
                  <a:schemeClr val="bg2"/>
                </a:solidFill>
              </a:rPr>
              <a:t>或者注解来配置对象和数据库之间的映射关系。通过对象的</a:t>
            </a:r>
            <a:r>
              <a:rPr lang="en-US" altLang="zh-CN" sz="2000" dirty="0">
                <a:solidFill>
                  <a:schemeClr val="bg2"/>
                </a:solidFill>
              </a:rPr>
              <a:t>get</a:t>
            </a:r>
            <a:r>
              <a:rPr lang="zh-CN" altLang="zh-CN" sz="2000" dirty="0">
                <a:solidFill>
                  <a:schemeClr val="bg2"/>
                </a:solidFill>
              </a:rPr>
              <a:t>，</a:t>
            </a:r>
            <a:r>
              <a:rPr lang="en-US" altLang="zh-CN" sz="2000" dirty="0">
                <a:solidFill>
                  <a:schemeClr val="bg2"/>
                </a:solidFill>
              </a:rPr>
              <a:t>set</a:t>
            </a:r>
            <a:r>
              <a:rPr lang="zh-CN" altLang="zh-CN" sz="2000" dirty="0">
                <a:solidFill>
                  <a:schemeClr val="bg2"/>
                </a:solidFill>
              </a:rPr>
              <a:t>，</a:t>
            </a:r>
            <a:r>
              <a:rPr lang="en-US" altLang="zh-CN" sz="2000" dirty="0">
                <a:solidFill>
                  <a:schemeClr val="bg2"/>
                </a:solidFill>
              </a:rPr>
              <a:t>add</a:t>
            </a:r>
            <a:r>
              <a:rPr lang="zh-CN" altLang="zh-CN" sz="2000" dirty="0">
                <a:solidFill>
                  <a:schemeClr val="bg2"/>
                </a:solidFill>
              </a:rPr>
              <a:t>，</a:t>
            </a:r>
            <a:r>
              <a:rPr lang="en-US" altLang="zh-CN" sz="2000" dirty="0">
                <a:solidFill>
                  <a:schemeClr val="bg2"/>
                </a:solidFill>
              </a:rPr>
              <a:t>save</a:t>
            </a:r>
            <a:r>
              <a:rPr lang="zh-CN" altLang="zh-CN" sz="2000" dirty="0">
                <a:solidFill>
                  <a:schemeClr val="bg2"/>
                </a:solidFill>
              </a:rPr>
              <a:t>等方法就可实现存取和增删改查。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75656" y="3429000"/>
            <a:ext cx="6624736" cy="309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三、</a:t>
            </a:r>
            <a:r>
              <a:rPr lang="en-US" altLang="zh-CN" sz="2800" b="1" dirty="0">
                <a:solidFill>
                  <a:schemeClr val="bg1"/>
                </a:solidFill>
              </a:rPr>
              <a:t>ORM</a:t>
            </a:r>
            <a:r>
              <a:rPr lang="zh-CN" altLang="en-US" sz="2800" b="1" dirty="0">
                <a:solidFill>
                  <a:schemeClr val="bg1"/>
                </a:solidFill>
              </a:rPr>
              <a:t>框架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568" y="1227768"/>
            <a:ext cx="75814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2"/>
                </a:solidFill>
              </a:rPr>
              <a:t>ORM </a:t>
            </a:r>
            <a:r>
              <a:rPr lang="zh-CN" altLang="zh-CN" sz="2000" dirty="0">
                <a:solidFill>
                  <a:schemeClr val="bg2"/>
                </a:solidFill>
              </a:rPr>
              <a:t>技术通常使用单独的框架，或者框架的某个模块来实现，下面列出了常用的</a:t>
            </a:r>
            <a:r>
              <a:rPr lang="en-US" altLang="zh-CN" sz="2000" dirty="0">
                <a:solidFill>
                  <a:schemeClr val="bg2"/>
                </a:solidFill>
              </a:rPr>
              <a:t>ORM</a:t>
            </a:r>
            <a:r>
              <a:rPr lang="zh-CN" altLang="zh-CN" sz="2000" dirty="0">
                <a:solidFill>
                  <a:schemeClr val="bg2"/>
                </a:solidFill>
              </a:rPr>
              <a:t>框架：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bg2"/>
                </a:solidFill>
              </a:rPr>
              <a:t>常用的</a:t>
            </a:r>
            <a:r>
              <a:rPr lang="en-US" altLang="zh-CN" sz="2000" dirty="0">
                <a:solidFill>
                  <a:schemeClr val="bg2"/>
                </a:solidFill>
              </a:rPr>
              <a:t> Java ORM</a:t>
            </a:r>
            <a:r>
              <a:rPr lang="zh-CN" altLang="zh-CN" sz="2000" dirty="0">
                <a:solidFill>
                  <a:schemeClr val="bg2"/>
                </a:solidFill>
              </a:rPr>
              <a:t>框架有</a:t>
            </a:r>
            <a:r>
              <a:rPr lang="en-US" altLang="zh-CN" sz="2000" dirty="0">
                <a:solidFill>
                  <a:schemeClr val="bg2"/>
                </a:solidFill>
              </a:rPr>
              <a:t>Hibernate</a:t>
            </a:r>
            <a:r>
              <a:rPr lang="zh-CN" altLang="en-US" sz="2000" dirty="0">
                <a:solidFill>
                  <a:schemeClr val="bg2"/>
                </a:solidFill>
              </a:rPr>
              <a:t>和</a:t>
            </a:r>
            <a:r>
              <a:rPr lang="en-US" altLang="zh-CN" sz="2000" dirty="0" err="1">
                <a:solidFill>
                  <a:schemeClr val="bg2"/>
                </a:solidFill>
              </a:rPr>
              <a:t>Mybatis</a:t>
            </a:r>
            <a:endParaRPr lang="zh-CN" altLang="zh-CN" sz="2000" dirty="0">
              <a:solidFill>
                <a:schemeClr val="bg2"/>
              </a:solidFill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bg2"/>
                </a:solidFill>
              </a:rPr>
              <a:t>常用的</a:t>
            </a:r>
            <a:r>
              <a:rPr lang="en-US" altLang="zh-CN" sz="2000" dirty="0">
                <a:solidFill>
                  <a:schemeClr val="bg2"/>
                </a:solidFill>
              </a:rPr>
              <a:t> Python ORM </a:t>
            </a:r>
            <a:r>
              <a:rPr lang="zh-CN" altLang="zh-CN" sz="2000" dirty="0">
                <a:solidFill>
                  <a:schemeClr val="bg2"/>
                </a:solidFill>
              </a:rPr>
              <a:t>实现有</a:t>
            </a:r>
            <a:r>
              <a:rPr lang="en-US" altLang="zh-CN" sz="2000" dirty="0" err="1">
                <a:solidFill>
                  <a:schemeClr val="bg2"/>
                </a:solidFill>
              </a:rPr>
              <a:t>SQLAlchemy</a:t>
            </a:r>
            <a:r>
              <a:rPr lang="en-US" altLang="zh-CN" sz="2000" dirty="0">
                <a:solidFill>
                  <a:schemeClr val="bg2"/>
                </a:solidFill>
              </a:rPr>
              <a:t> </a:t>
            </a:r>
            <a:r>
              <a:rPr lang="zh-CN" altLang="zh-CN" sz="2000" dirty="0">
                <a:solidFill>
                  <a:schemeClr val="bg2"/>
                </a:solidFill>
              </a:rPr>
              <a:t>框架、</a:t>
            </a:r>
            <a:r>
              <a:rPr lang="en-US" altLang="zh-CN" sz="2000" dirty="0">
                <a:solidFill>
                  <a:schemeClr val="bg2"/>
                </a:solidFill>
              </a:rPr>
              <a:t>Peewee </a:t>
            </a:r>
            <a:r>
              <a:rPr lang="zh-CN" altLang="zh-CN" sz="2000" dirty="0">
                <a:solidFill>
                  <a:schemeClr val="bg2"/>
                </a:solidFill>
              </a:rPr>
              <a:t>框架、</a:t>
            </a:r>
            <a:r>
              <a:rPr lang="en-US" altLang="zh-CN" sz="2000" dirty="0">
                <a:solidFill>
                  <a:schemeClr val="bg2"/>
                </a:solidFill>
              </a:rPr>
              <a:t>Django</a:t>
            </a:r>
            <a:r>
              <a:rPr lang="zh-CN" altLang="zh-CN" sz="2000" dirty="0">
                <a:solidFill>
                  <a:schemeClr val="bg2"/>
                </a:solidFill>
              </a:rPr>
              <a:t>框架的</a:t>
            </a:r>
            <a:r>
              <a:rPr lang="en-US" altLang="zh-CN" sz="2000" dirty="0">
                <a:solidFill>
                  <a:schemeClr val="bg2"/>
                </a:solidFill>
              </a:rPr>
              <a:t> ORM </a:t>
            </a:r>
            <a:r>
              <a:rPr lang="zh-CN" altLang="zh-CN" sz="2000" dirty="0">
                <a:solidFill>
                  <a:schemeClr val="bg2"/>
                </a:solidFill>
              </a:rPr>
              <a:t>模块等</a:t>
            </a:r>
          </a:p>
          <a:p>
            <a:pPr algn="just">
              <a:lnSpc>
                <a:spcPct val="150000"/>
              </a:lnSpc>
              <a:tabLst>
                <a:tab pos="5067300" algn="l"/>
              </a:tabLst>
            </a:pPr>
            <a:endParaRPr lang="zh-CN" altLang="zh-CN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49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90872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63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四、</a:t>
            </a:r>
            <a:r>
              <a:rPr lang="en-US" altLang="zh-CN" sz="2800" b="1" dirty="0">
                <a:solidFill>
                  <a:schemeClr val="bg1"/>
                </a:solidFill>
              </a:rPr>
              <a:t>ORM</a:t>
            </a:r>
            <a:r>
              <a:rPr lang="zh-CN" altLang="en-US" sz="2800" b="1" dirty="0">
                <a:solidFill>
                  <a:schemeClr val="bg1"/>
                </a:solidFill>
              </a:rPr>
              <a:t>优缺点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75556" y="2702084"/>
            <a:ext cx="7992888" cy="346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000" b="1" dirty="0">
                <a:solidFill>
                  <a:srgbClr val="C00000"/>
                </a:solidFill>
              </a:rPr>
              <a:t>缺点</a:t>
            </a:r>
            <a:r>
              <a:rPr lang="zh-CN" altLang="en-US" sz="2000" dirty="0">
                <a:solidFill>
                  <a:schemeClr val="bg2"/>
                </a:solidFill>
              </a:rPr>
              <a:t>：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2"/>
                </a:solidFill>
              </a:rPr>
              <a:t>ORM </a:t>
            </a:r>
            <a:r>
              <a:rPr lang="zh-CN" altLang="zh-CN" dirty="0">
                <a:solidFill>
                  <a:schemeClr val="bg2"/>
                </a:solidFill>
              </a:rPr>
              <a:t>增加了大家的学习成本，为了使用</a:t>
            </a:r>
            <a:r>
              <a:rPr lang="en-US" altLang="zh-CN" dirty="0">
                <a:solidFill>
                  <a:schemeClr val="bg2"/>
                </a:solidFill>
              </a:rPr>
              <a:t> ORM </a:t>
            </a:r>
            <a:r>
              <a:rPr lang="zh-CN" altLang="zh-CN" dirty="0">
                <a:solidFill>
                  <a:schemeClr val="bg2"/>
                </a:solidFill>
              </a:rPr>
              <a:t>技术，您至少需要掌握一种</a:t>
            </a:r>
            <a:r>
              <a:rPr lang="en-US" altLang="zh-CN" dirty="0">
                <a:solidFill>
                  <a:schemeClr val="bg2"/>
                </a:solidFill>
              </a:rPr>
              <a:t> ORM </a:t>
            </a:r>
            <a:r>
              <a:rPr lang="zh-CN" altLang="zh-CN" dirty="0">
                <a:solidFill>
                  <a:schemeClr val="bg2"/>
                </a:solidFill>
              </a:rPr>
              <a:t>框架。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2"/>
                </a:solidFill>
              </a:rPr>
              <a:t>自动</a:t>
            </a:r>
            <a:r>
              <a:rPr lang="zh-CN" altLang="zh-CN" dirty="0">
                <a:solidFill>
                  <a:schemeClr val="bg2"/>
                </a:solidFill>
              </a:rPr>
              <a:t>生成</a:t>
            </a:r>
            <a:r>
              <a:rPr lang="en-US" altLang="zh-CN" dirty="0">
                <a:solidFill>
                  <a:schemeClr val="bg2"/>
                </a:solidFill>
              </a:rPr>
              <a:t> SQL </a:t>
            </a:r>
            <a:r>
              <a:rPr lang="zh-CN" altLang="zh-CN" dirty="0">
                <a:solidFill>
                  <a:schemeClr val="bg2"/>
                </a:solidFill>
              </a:rPr>
              <a:t>语句会消耗计算资源，这势必会对程序性能造成一定的影响。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2"/>
                </a:solidFill>
              </a:rPr>
              <a:t>对于复杂的数据库操作，</a:t>
            </a:r>
            <a:r>
              <a:rPr lang="en-US" altLang="zh-CN" dirty="0">
                <a:solidFill>
                  <a:schemeClr val="bg2"/>
                </a:solidFill>
              </a:rPr>
              <a:t>ORM </a:t>
            </a:r>
            <a:r>
              <a:rPr lang="zh-CN" altLang="zh-CN" dirty="0">
                <a:solidFill>
                  <a:schemeClr val="bg2"/>
                </a:solidFill>
              </a:rPr>
              <a:t>通常难以处理，即使能处理，自动生成的</a:t>
            </a:r>
            <a:r>
              <a:rPr lang="en-US" altLang="zh-CN" dirty="0">
                <a:solidFill>
                  <a:schemeClr val="bg2"/>
                </a:solidFill>
              </a:rPr>
              <a:t> SQL </a:t>
            </a:r>
            <a:r>
              <a:rPr lang="zh-CN" altLang="zh-CN" dirty="0">
                <a:solidFill>
                  <a:schemeClr val="bg2"/>
                </a:solidFill>
              </a:rPr>
              <a:t>语句在性能方面也不如手写的原生</a:t>
            </a:r>
            <a:r>
              <a:rPr lang="en-US" altLang="zh-CN" dirty="0">
                <a:solidFill>
                  <a:schemeClr val="bg2"/>
                </a:solidFill>
              </a:rPr>
              <a:t> SQL</a:t>
            </a:r>
            <a:r>
              <a:rPr lang="zh-CN" altLang="zh-CN" dirty="0">
                <a:solidFill>
                  <a:schemeClr val="bg2"/>
                </a:solidFill>
              </a:rPr>
              <a:t>。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dirty="0">
                <a:solidFill>
                  <a:schemeClr val="bg2"/>
                </a:solidFill>
              </a:rPr>
              <a:t>生成</a:t>
            </a:r>
            <a:r>
              <a:rPr lang="en-US" altLang="zh-CN" dirty="0">
                <a:solidFill>
                  <a:schemeClr val="bg2"/>
                </a:solidFill>
              </a:rPr>
              <a:t> SQL </a:t>
            </a:r>
            <a:r>
              <a:rPr lang="zh-CN" altLang="zh-CN" dirty="0">
                <a:solidFill>
                  <a:schemeClr val="bg2"/>
                </a:solidFill>
              </a:rPr>
              <a:t>语句的过程是自动进行的，不能人工干预，这使得开发人员无法定制一些特殊的</a:t>
            </a:r>
            <a:r>
              <a:rPr lang="en-US" altLang="zh-CN" dirty="0">
                <a:solidFill>
                  <a:schemeClr val="bg2"/>
                </a:solidFill>
              </a:rPr>
              <a:t> SQL </a:t>
            </a:r>
            <a:r>
              <a:rPr lang="zh-CN" altLang="zh-CN" dirty="0">
                <a:solidFill>
                  <a:schemeClr val="bg2"/>
                </a:solidFill>
              </a:rPr>
              <a:t>语句。</a:t>
            </a:r>
          </a:p>
        </p:txBody>
      </p:sp>
      <p:sp>
        <p:nvSpPr>
          <p:cNvPr id="2" name="矩形 1"/>
          <p:cNvSpPr/>
          <p:nvPr/>
        </p:nvSpPr>
        <p:spPr>
          <a:xfrm>
            <a:off x="576288" y="908720"/>
            <a:ext cx="7992155" cy="1774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000" b="1" dirty="0">
                <a:solidFill>
                  <a:srgbClr val="C00000"/>
                </a:solidFill>
              </a:rPr>
              <a:t>优点</a:t>
            </a:r>
            <a:r>
              <a:rPr lang="zh-CN" altLang="en-US" sz="2000" dirty="0">
                <a:solidFill>
                  <a:schemeClr val="bg2"/>
                </a:solidFill>
              </a:rPr>
              <a:t>：</a:t>
            </a:r>
            <a:endParaRPr lang="en-US" altLang="zh-CN" sz="2000" dirty="0">
              <a:solidFill>
                <a:schemeClr val="bg2"/>
              </a:solidFill>
            </a:endParaRPr>
          </a:p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dirty="0">
                <a:solidFill>
                  <a:schemeClr val="bg2"/>
                </a:solidFill>
              </a:rPr>
              <a:t>ORM </a:t>
            </a:r>
            <a:r>
              <a:rPr lang="zh-CN" altLang="zh-CN" dirty="0">
                <a:solidFill>
                  <a:schemeClr val="bg2"/>
                </a:solidFill>
              </a:rPr>
              <a:t>是一种自动生成</a:t>
            </a:r>
            <a:r>
              <a:rPr lang="en-US" altLang="zh-CN" dirty="0">
                <a:solidFill>
                  <a:schemeClr val="bg2"/>
                </a:solidFill>
              </a:rPr>
              <a:t> SQL </a:t>
            </a:r>
            <a:r>
              <a:rPr lang="zh-CN" altLang="zh-CN" dirty="0">
                <a:solidFill>
                  <a:schemeClr val="bg2"/>
                </a:solidFill>
              </a:rPr>
              <a:t>语句的技术，它实现了对象和关系型数据库之间的数据交互，提高了开发效率。在实际开发中，常见的增删改查（</a:t>
            </a:r>
            <a:r>
              <a:rPr lang="en-US" altLang="zh-CN" dirty="0">
                <a:solidFill>
                  <a:schemeClr val="bg2"/>
                </a:solidFill>
              </a:rPr>
              <a:t>CRUD</a:t>
            </a:r>
            <a:r>
              <a:rPr lang="zh-CN" altLang="zh-CN" dirty="0">
                <a:solidFill>
                  <a:schemeClr val="bg2"/>
                </a:solidFill>
              </a:rPr>
              <a:t>）操作都可以交给</a:t>
            </a:r>
            <a:r>
              <a:rPr lang="en-US" altLang="zh-CN" dirty="0">
                <a:solidFill>
                  <a:schemeClr val="bg2"/>
                </a:solidFill>
              </a:rPr>
              <a:t> ORM</a:t>
            </a:r>
            <a:r>
              <a:rPr lang="zh-CN" altLang="zh-CN" dirty="0">
                <a:solidFill>
                  <a:schemeClr val="bg2"/>
                </a:solidFill>
              </a:rPr>
              <a:t>，避免了手写</a:t>
            </a:r>
            <a:r>
              <a:rPr lang="en-US" altLang="zh-CN" dirty="0">
                <a:solidFill>
                  <a:schemeClr val="bg2"/>
                </a:solidFill>
              </a:rPr>
              <a:t> SQL </a:t>
            </a:r>
            <a:r>
              <a:rPr lang="zh-CN" altLang="zh-CN" dirty="0">
                <a:solidFill>
                  <a:schemeClr val="bg2"/>
                </a:solidFill>
              </a:rPr>
              <a:t>语句的麻烦。</a:t>
            </a:r>
            <a:endParaRPr lang="zh-CN" alt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615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7CFBCD0-3CE9-3C41-8E24-FA4877A0407F}"/>
              </a:ext>
            </a:extLst>
          </p:cNvPr>
          <p:cNvSpPr txBox="1"/>
          <p:nvPr/>
        </p:nvSpPr>
        <p:spPr>
          <a:xfrm>
            <a:off x="2286759" y="1844824"/>
            <a:ext cx="457048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solidFill>
                  <a:srgbClr val="0070C0"/>
                </a:solidFill>
              </a:rPr>
              <a:t>100</a:t>
            </a:r>
            <a:r>
              <a:rPr kumimoji="1" lang="zh-CN" altLang="en-US" sz="3600" dirty="0">
                <a:solidFill>
                  <a:srgbClr val="0070C0"/>
                </a:solidFill>
              </a:rPr>
              <a:t>道</a:t>
            </a:r>
            <a:r>
              <a:rPr kumimoji="1" lang="en-US" altLang="zh-CN" sz="3600" dirty="0">
                <a:solidFill>
                  <a:srgbClr val="0070C0"/>
                </a:solidFill>
              </a:rPr>
              <a:t>SQL</a:t>
            </a:r>
            <a:r>
              <a:rPr kumimoji="1" lang="zh-CN" altLang="en-US" sz="3600" dirty="0">
                <a:solidFill>
                  <a:srgbClr val="0070C0"/>
                </a:solidFill>
              </a:rPr>
              <a:t>面试题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设计与开发</a:t>
            </a:r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（</a:t>
            </a:r>
            <a:r>
              <a:rPr lang="en-US" altLang="zh-CN" sz="3600" dirty="0">
                <a:solidFill>
                  <a:srgbClr val="0070C0"/>
                </a:solidFill>
              </a:rPr>
              <a:t>79-81</a:t>
            </a:r>
            <a:r>
              <a:rPr lang="zh-CN" altLang="en-US" sz="3600" dirty="0">
                <a:solidFill>
                  <a:srgbClr val="0070C0"/>
                </a:solidFill>
              </a:rPr>
              <a:t>，</a:t>
            </a:r>
            <a:r>
              <a:rPr lang="en-US" altLang="zh-CN" sz="3600" dirty="0">
                <a:solidFill>
                  <a:srgbClr val="0070C0"/>
                </a:solidFill>
              </a:rPr>
              <a:t>87-100</a:t>
            </a:r>
            <a:r>
              <a:rPr lang="zh-CN" altLang="en-US" sz="3600" dirty="0">
                <a:solidFill>
                  <a:srgbClr val="0070C0"/>
                </a:solidFill>
              </a:rPr>
              <a:t>题）</a:t>
            </a:r>
            <a:endParaRPr lang="en-US" altLang="zh-CN" sz="3600" dirty="0">
              <a:solidFill>
                <a:srgbClr val="0070C0"/>
              </a:solidFill>
            </a:endParaRPr>
          </a:p>
          <a:p>
            <a:pPr algn="ctr"/>
            <a:endParaRPr kumimoji="1" lang="en-US" altLang="zh-CN" sz="3600" dirty="0">
              <a:solidFill>
                <a:srgbClr val="0070C0"/>
              </a:solidFill>
            </a:endParaRPr>
          </a:p>
          <a:p>
            <a:pPr algn="ctr"/>
            <a:r>
              <a:rPr lang="zh-CN" altLang="en-US" sz="3600" dirty="0">
                <a:solidFill>
                  <a:srgbClr val="0070C0"/>
                </a:solidFill>
              </a:rPr>
              <a:t>以及补充资料中的题</a:t>
            </a:r>
            <a:endParaRPr kumimoji="1" lang="zh-CN" altLang="en-US" sz="3600" dirty="0">
              <a:solidFill>
                <a:srgbClr val="0070C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8DD45D-439E-DC4A-93F7-3E7E4F67B71B}"/>
              </a:ext>
            </a:extLst>
          </p:cNvPr>
          <p:cNvSpPr txBox="1"/>
          <p:nvPr/>
        </p:nvSpPr>
        <p:spPr>
          <a:xfrm>
            <a:off x="827584" y="980728"/>
            <a:ext cx="3198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b="1" dirty="0">
                <a:solidFill>
                  <a:srgbClr val="002060"/>
                </a:solidFill>
              </a:rPr>
              <a:t>SQL</a:t>
            </a:r>
            <a:r>
              <a:rPr kumimoji="1" lang="zh-CN" altLang="en-US" sz="3600" b="1" dirty="0">
                <a:solidFill>
                  <a:srgbClr val="002060"/>
                </a:solidFill>
              </a:rPr>
              <a:t>设计与开发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0AFB69-37DD-2C5F-BA5F-2E2EEA1120F3}"/>
              </a:ext>
            </a:extLst>
          </p:cNvPr>
          <p:cNvSpPr txBox="1"/>
          <p:nvPr/>
        </p:nvSpPr>
        <p:spPr>
          <a:xfrm>
            <a:off x="213843" y="5383875"/>
            <a:ext cx="8716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MySQL</a:t>
            </a:r>
            <a:r>
              <a:rPr lang="zh-CN" altLang="en-US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删除表数据、清空表命令</a:t>
            </a:r>
            <a:r>
              <a:rPr lang="en-US" altLang="zh-CN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(truncate</a:t>
            </a:r>
            <a:r>
              <a:rPr lang="zh-CN" altLang="en-US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，</a:t>
            </a:r>
            <a:r>
              <a:rPr lang="en-US" altLang="zh-CN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drop</a:t>
            </a:r>
            <a:r>
              <a:rPr lang="zh-CN" altLang="en-US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，</a:t>
            </a:r>
            <a:r>
              <a:rPr lang="en-US" altLang="zh-CN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delete</a:t>
            </a:r>
            <a:r>
              <a:rPr lang="zh-CN" altLang="en-US" sz="2400" b="1" dirty="0">
                <a:solidFill>
                  <a:srgbClr val="0070C0"/>
                </a:solidFill>
                <a:latin typeface="Pingfang SC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Pingfang SC"/>
              </a:rPr>
              <a:t>)</a:t>
            </a:r>
            <a:r>
              <a:rPr lang="zh-CN" altLang="en-US" sz="2400" b="1" dirty="0">
                <a:solidFill>
                  <a:srgbClr val="0070C0"/>
                </a:solidFill>
                <a:latin typeface="Pingfang SC"/>
              </a:rPr>
              <a:t>的区别</a:t>
            </a:r>
            <a:r>
              <a:rPr lang="en-US" altLang="zh-CN" sz="2400" b="1" i="0" u="none" strike="noStrike" dirty="0">
                <a:solidFill>
                  <a:srgbClr val="0070C0"/>
                </a:solidFill>
                <a:effectLst/>
                <a:latin typeface="Pingfang SC"/>
              </a:rPr>
              <a:t>?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847147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6D2575C3-F441-9B47-9653-6639796F6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66" y="1371600"/>
            <a:ext cx="7704658" cy="51308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精 读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 dirty="0"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教材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P.69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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P.100   P.250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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P.297  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         P.314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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P.355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上 机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1.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实验一 </a:t>
            </a:r>
            <a:r>
              <a:rPr lang="en-US" altLang="zh-CN" sz="2400" dirty="0">
                <a:solidFill>
                  <a:schemeClr val="bg2"/>
                </a:solidFill>
                <a:latin typeface="宋体" panose="02010600030101010101" pitchFamily="2" charset="-122"/>
              </a:rPr>
              <a:t>……………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…</a:t>
            </a:r>
            <a:r>
              <a:rPr lang="en-US" altLang="zh-CN" sz="2400" dirty="0">
                <a:solidFill>
                  <a:schemeClr val="bg2"/>
                </a:solidFill>
                <a:latin typeface="宋体" panose="02010600030101010101" pitchFamily="2" charset="-122"/>
              </a:rPr>
              <a:t>…………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P.298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    2.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实验二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………………………… P.300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    3.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实验三 </a:t>
            </a:r>
            <a:r>
              <a:rPr lang="zh-CN" altLang="en-US" sz="2000" b="1" dirty="0">
                <a:solidFill>
                  <a:srgbClr val="990033"/>
                </a:solidFill>
                <a:latin typeface="宋体" panose="02010600030101010101" pitchFamily="2" charset="-122"/>
              </a:rPr>
              <a:t>（可自选开发环境）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… …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P.364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       4. 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实验四 </a:t>
            </a:r>
            <a:r>
              <a:rPr lang="zh-CN" altLang="en-US" sz="2000" b="1" dirty="0">
                <a:solidFill>
                  <a:srgbClr val="990033"/>
                </a:solidFill>
                <a:latin typeface="宋体" panose="02010600030101010101" pitchFamily="2" charset="-122"/>
              </a:rPr>
              <a:t>（可模仿示例程序）</a:t>
            </a:r>
            <a:r>
              <a:rPr lang="en-US" altLang="zh-CN" sz="2400" dirty="0">
                <a:solidFill>
                  <a:schemeClr val="bg2"/>
                </a:solidFill>
                <a:latin typeface="宋体" panose="02010600030101010101" pitchFamily="2" charset="-122"/>
              </a:rPr>
              <a:t>…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…</a:t>
            </a:r>
            <a:r>
              <a:rPr lang="en-US" altLang="zh-CN" sz="2400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P.365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习 题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P.101   2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7 </a:t>
            </a:r>
            <a:r>
              <a:rPr lang="zh-CN" altLang="en-US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9</a:t>
            </a:r>
          </a:p>
        </p:txBody>
      </p:sp>
      <p:sp>
        <p:nvSpPr>
          <p:cNvPr id="98307" name="Text Box 10">
            <a:extLst>
              <a:ext uri="{FF2B5EF4-FFF2-40B4-BE49-F238E27FC236}">
                <a16:creationId xmlns:a16="http://schemas.microsoft.com/office/drawing/2014/main" id="{E3A16627-CE97-2C40-987E-1231C2FF4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125413"/>
            <a:ext cx="5184775" cy="7350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indent="6096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8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28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精读和上机、习题要求</a:t>
            </a:r>
          </a:p>
        </p:txBody>
      </p:sp>
      <p:grpSp>
        <p:nvGrpSpPr>
          <p:cNvPr id="126979" name="Group 11">
            <a:extLst>
              <a:ext uri="{FF2B5EF4-FFF2-40B4-BE49-F238E27FC236}">
                <a16:creationId xmlns:a16="http://schemas.microsoft.com/office/drawing/2014/main" id="{20843701-EC31-ED42-94F4-4AC6E87AEDC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382000" cy="1371600"/>
            <a:chOff x="0" y="288"/>
            <a:chExt cx="5760" cy="864"/>
          </a:xfrm>
        </p:grpSpPr>
        <p:sp>
          <p:nvSpPr>
            <p:cNvPr id="126980" name="Rectangle 12">
              <a:extLst>
                <a:ext uri="{FF2B5EF4-FFF2-40B4-BE49-F238E27FC236}">
                  <a16:creationId xmlns:a16="http://schemas.microsoft.com/office/drawing/2014/main" id="{EA700BAB-9433-C745-9855-149E058436A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96" y="377"/>
              <a:ext cx="428" cy="389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126981" name="Rectangle 13">
              <a:extLst>
                <a:ext uri="{FF2B5EF4-FFF2-40B4-BE49-F238E27FC236}">
                  <a16:creationId xmlns:a16="http://schemas.microsoft.com/office/drawing/2014/main" id="{957751D0-40AB-A74F-BD1D-991353AF021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79" y="723"/>
              <a:ext cx="285" cy="390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126982" name="Rectangle 14">
              <a:extLst>
                <a:ext uri="{FF2B5EF4-FFF2-40B4-BE49-F238E27FC236}">
                  <a16:creationId xmlns:a16="http://schemas.microsoft.com/office/drawing/2014/main" id="{65D8F453-DD91-B847-B038-CE125650FED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29" y="723"/>
              <a:ext cx="248" cy="39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126983" name="Rectangle 15">
              <a:extLst>
                <a:ext uri="{FF2B5EF4-FFF2-40B4-BE49-F238E27FC236}">
                  <a16:creationId xmlns:a16="http://schemas.microsoft.com/office/drawing/2014/main" id="{189111B8-35E8-E74E-B46C-AED1323E747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0" y="576"/>
              <a:ext cx="432" cy="384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126984" name="Rectangle 16">
              <a:extLst>
                <a:ext uri="{FF2B5EF4-FFF2-40B4-BE49-F238E27FC236}">
                  <a16:creationId xmlns:a16="http://schemas.microsoft.com/office/drawing/2014/main" id="{BA675608-9159-8548-A6BC-4B9E4BE31B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8" y="288"/>
              <a:ext cx="22" cy="86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ahoma" panose="020B0604030504040204" pitchFamily="34" charset="0"/>
              </a:endParaRPr>
            </a:p>
          </p:txBody>
        </p:sp>
        <p:sp>
          <p:nvSpPr>
            <p:cNvPr id="126985" name="Rectangle 17">
              <a:extLst>
                <a:ext uri="{FF2B5EF4-FFF2-40B4-BE49-F238E27FC236}">
                  <a16:creationId xmlns:a16="http://schemas.microsoft.com/office/drawing/2014/main" id="{9427A3CB-03E3-AF46-A901-4B54C6FAC9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13" y="937"/>
              <a:ext cx="5547" cy="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7" name="Rectangle 5"/>
          <p:cNvSpPr>
            <a:spLocks noChangeArrowheads="1"/>
          </p:cNvSpPr>
          <p:nvPr/>
        </p:nvSpPr>
        <p:spPr bwMode="auto">
          <a:xfrm>
            <a:off x="468313" y="333375"/>
            <a:ext cx="72723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、查询全体学生的姓名、学号、所在系。</a:t>
            </a:r>
          </a:p>
        </p:txBody>
      </p:sp>
      <p:sp>
        <p:nvSpPr>
          <p:cNvPr id="960518" name="Rectangle 6"/>
          <p:cNvSpPr>
            <a:spLocks noChangeArrowheads="1"/>
          </p:cNvSpPr>
          <p:nvPr/>
        </p:nvSpPr>
        <p:spPr bwMode="auto">
          <a:xfrm>
            <a:off x="468313" y="908050"/>
            <a:ext cx="72723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</a:rPr>
              <a:t>、查询全体学生的详细记录。</a:t>
            </a:r>
          </a:p>
        </p:txBody>
      </p:sp>
      <p:sp>
        <p:nvSpPr>
          <p:cNvPr id="960519" name="Rectangle 7"/>
          <p:cNvSpPr>
            <a:spLocks noChangeArrowheads="1"/>
          </p:cNvSpPr>
          <p:nvPr/>
        </p:nvSpPr>
        <p:spPr bwMode="auto">
          <a:xfrm>
            <a:off x="468313" y="1393825"/>
            <a:ext cx="52403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</a:rPr>
              <a:t>、查全体学生的姓名及其出生年份。</a:t>
            </a:r>
          </a:p>
        </p:txBody>
      </p:sp>
      <p:sp>
        <p:nvSpPr>
          <p:cNvPr id="960520" name="Rectangle 8"/>
          <p:cNvSpPr>
            <a:spLocks noChangeArrowheads="1"/>
          </p:cNvSpPr>
          <p:nvPr/>
        </p:nvSpPr>
        <p:spPr bwMode="auto">
          <a:xfrm>
            <a:off x="468313" y="1916113"/>
            <a:ext cx="82073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>
                <a:solidFill>
                  <a:schemeClr val="bg2"/>
                </a:solidFill>
              </a:rPr>
              <a:t>   别名的使用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en-US" altLang="zh-CN" sz="2400" b="1">
              <a:solidFill>
                <a:schemeClr val="bg2"/>
              </a:solidFill>
            </a:endParaRPr>
          </a:p>
        </p:txBody>
      </p:sp>
      <p:sp>
        <p:nvSpPr>
          <p:cNvPr id="960521" name="Rectangle 9"/>
          <p:cNvSpPr>
            <a:spLocks noChangeArrowheads="1"/>
          </p:cNvSpPr>
          <p:nvPr/>
        </p:nvSpPr>
        <p:spPr bwMode="auto">
          <a:xfrm>
            <a:off x="468313" y="2420938"/>
            <a:ext cx="46275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、查询选修了课程的学生学号。</a:t>
            </a:r>
          </a:p>
        </p:txBody>
      </p:sp>
      <p:sp>
        <p:nvSpPr>
          <p:cNvPr id="960522" name="Rectangle 10"/>
          <p:cNvSpPr>
            <a:spLocks noChangeArrowheads="1"/>
          </p:cNvSpPr>
          <p:nvPr/>
        </p:nvSpPr>
        <p:spPr bwMode="auto">
          <a:xfrm>
            <a:off x="468313" y="2997200"/>
            <a:ext cx="49339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5</a:t>
            </a:r>
            <a:r>
              <a:rPr lang="zh-CN" altLang="en-US" sz="2400" b="1" dirty="0">
                <a:solidFill>
                  <a:schemeClr val="bg2"/>
                </a:solidFill>
              </a:rPr>
              <a:t>、查询计算机系全体学生的名单。</a:t>
            </a:r>
          </a:p>
        </p:txBody>
      </p:sp>
      <p:sp>
        <p:nvSpPr>
          <p:cNvPr id="960523" name="Rectangle 11"/>
          <p:cNvSpPr>
            <a:spLocks noChangeArrowheads="1"/>
          </p:cNvSpPr>
          <p:nvPr/>
        </p:nvSpPr>
        <p:spPr bwMode="auto">
          <a:xfrm>
            <a:off x="468313" y="3644900"/>
            <a:ext cx="585311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6</a:t>
            </a:r>
            <a:r>
              <a:rPr lang="zh-CN" altLang="en-US" sz="2400" b="1" dirty="0">
                <a:solidFill>
                  <a:schemeClr val="bg2"/>
                </a:solidFill>
              </a:rPr>
              <a:t>、查询考试成绩有不及格的学生的学号。</a:t>
            </a:r>
          </a:p>
        </p:txBody>
      </p:sp>
      <p:sp>
        <p:nvSpPr>
          <p:cNvPr id="960524" name="Rectangle 12"/>
          <p:cNvSpPr>
            <a:spLocks noChangeArrowheads="1"/>
          </p:cNvSpPr>
          <p:nvPr/>
        </p:nvSpPr>
        <p:spPr bwMode="auto">
          <a:xfrm>
            <a:off x="469900" y="4292600"/>
            <a:ext cx="8855075" cy="86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7</a:t>
            </a:r>
            <a:r>
              <a:rPr lang="zh-CN" altLang="en-US" sz="2400" b="1" dirty="0">
                <a:solidFill>
                  <a:schemeClr val="bg2"/>
                </a:solidFill>
              </a:rPr>
              <a:t>、查询年龄在</a:t>
            </a:r>
            <a:r>
              <a:rPr lang="en-US" altLang="zh-CN" sz="2400" b="1" dirty="0">
                <a:solidFill>
                  <a:schemeClr val="bg2"/>
                </a:solidFill>
              </a:rPr>
              <a:t>20~23</a:t>
            </a:r>
            <a:r>
              <a:rPr lang="zh-CN" altLang="en-US" sz="2400" b="1" dirty="0">
                <a:solidFill>
                  <a:schemeClr val="bg2"/>
                </a:solidFill>
              </a:rPr>
              <a:t>岁（包括</a:t>
            </a:r>
            <a:r>
              <a:rPr lang="en-US" altLang="zh-CN" sz="2400" b="1" dirty="0">
                <a:solidFill>
                  <a:schemeClr val="bg2"/>
                </a:solidFill>
              </a:rPr>
              <a:t>20</a:t>
            </a:r>
            <a:r>
              <a:rPr lang="zh-CN" altLang="en-US" sz="2400" b="1" dirty="0">
                <a:solidFill>
                  <a:schemeClr val="bg2"/>
                </a:solidFill>
              </a:rPr>
              <a:t>岁和</a:t>
            </a:r>
            <a:r>
              <a:rPr lang="en-US" altLang="zh-CN" sz="2400" b="1" dirty="0">
                <a:solidFill>
                  <a:schemeClr val="bg2"/>
                </a:solidFill>
              </a:rPr>
              <a:t>23</a:t>
            </a:r>
            <a:r>
              <a:rPr lang="zh-CN" altLang="en-US" sz="2400" b="1" dirty="0">
                <a:solidFill>
                  <a:schemeClr val="bg2"/>
                </a:solidFill>
              </a:rPr>
              <a:t>岁）之间的学生的姓名、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系别和年龄。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95288" y="5272088"/>
            <a:ext cx="8137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8</a:t>
            </a:r>
            <a:r>
              <a:rPr lang="zh-CN" altLang="en-US" sz="2400" b="1">
                <a:solidFill>
                  <a:schemeClr val="bg2"/>
                </a:solidFill>
              </a:rPr>
              <a:t>、查询年龄不在</a:t>
            </a:r>
            <a:r>
              <a:rPr lang="en-US" altLang="zh-CN" sz="2400" b="1">
                <a:solidFill>
                  <a:schemeClr val="bg2"/>
                </a:solidFill>
              </a:rPr>
              <a:t>20~23</a:t>
            </a:r>
            <a:r>
              <a:rPr lang="zh-CN" altLang="en-US" sz="2400" b="1">
                <a:solidFill>
                  <a:schemeClr val="bg2"/>
                </a:solidFill>
              </a:rPr>
              <a:t>岁之间的学生姓名、系别和年龄</a:t>
            </a: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468313" y="5848350"/>
            <a:ext cx="8424862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9</a:t>
            </a:r>
            <a:r>
              <a:rPr lang="zh-CN" altLang="en-US" sz="2400" b="1" dirty="0">
                <a:solidFill>
                  <a:schemeClr val="bg2"/>
                </a:solidFill>
              </a:rPr>
              <a:t>、查询信息系（</a:t>
            </a:r>
            <a:r>
              <a:rPr lang="en-US" altLang="zh-CN" sz="2400" b="1" dirty="0">
                <a:solidFill>
                  <a:schemeClr val="bg2"/>
                </a:solidFill>
              </a:rPr>
              <a:t>IS</a:t>
            </a:r>
            <a:r>
              <a:rPr lang="zh-CN" altLang="en-US" sz="2400" b="1" dirty="0">
                <a:solidFill>
                  <a:schemeClr val="bg2"/>
                </a:solidFill>
              </a:rPr>
              <a:t>）、数学系（</a:t>
            </a:r>
            <a:r>
              <a:rPr lang="en-US" altLang="zh-CN" sz="2400" b="1" dirty="0">
                <a:solidFill>
                  <a:schemeClr val="bg2"/>
                </a:solidFill>
              </a:rPr>
              <a:t>MA</a:t>
            </a:r>
            <a:r>
              <a:rPr lang="zh-CN" altLang="en-US" sz="2400" b="1" dirty="0">
                <a:solidFill>
                  <a:schemeClr val="bg2"/>
                </a:solidFill>
              </a:rPr>
              <a:t>）和计算机科学系（</a:t>
            </a:r>
            <a:r>
              <a:rPr lang="en-US" altLang="zh-CN" sz="2400" b="1" dirty="0">
                <a:solidFill>
                  <a:schemeClr val="bg2"/>
                </a:solidFill>
              </a:rPr>
              <a:t>CS</a:t>
            </a:r>
            <a:r>
              <a:rPr lang="zh-CN" altLang="en-US" sz="2400" b="1" dirty="0">
                <a:solidFill>
                  <a:schemeClr val="bg2"/>
                </a:solidFill>
              </a:rPr>
              <a:t>）学生的姓名和性别。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D6578D3-5066-A54A-BBC2-F1951E77CC0B}"/>
              </a:ext>
            </a:extLst>
          </p:cNvPr>
          <p:cNvSpPr txBox="1"/>
          <p:nvPr/>
        </p:nvSpPr>
        <p:spPr>
          <a:xfrm>
            <a:off x="5220072" y="2081230"/>
            <a:ext cx="5693373" cy="1045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S</a:t>
            </a:r>
            <a:r>
              <a:rPr lang="zh-CN" altLang="en-US" sz="1800" b="1" dirty="0">
                <a:solidFill>
                  <a:srgbClr val="0000FF"/>
                </a:solidFill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</a:rPr>
              <a:t>SNO, SNAME, AGE, SEX, SDEPT</a:t>
            </a:r>
            <a:r>
              <a:rPr lang="zh-CN" altLang="en-US" sz="1800" b="1" dirty="0">
                <a:solidFill>
                  <a:srgbClr val="0000FF"/>
                </a:solidFill>
              </a:rPr>
              <a:t>）                                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1800" b="1" dirty="0">
                <a:solidFill>
                  <a:srgbClr val="0000FF"/>
                </a:solidFill>
              </a:rPr>
              <a:t>C</a:t>
            </a:r>
            <a:r>
              <a:rPr lang="zh-CN" altLang="en-US" sz="1800" b="1" dirty="0">
                <a:solidFill>
                  <a:srgbClr val="0000FF"/>
                </a:solidFill>
              </a:rPr>
              <a:t>（</a:t>
            </a:r>
            <a:r>
              <a:rPr lang="en-US" altLang="zh-CN" sz="1800" b="1" dirty="0">
                <a:solidFill>
                  <a:srgbClr val="0000FF"/>
                </a:solidFill>
              </a:rPr>
              <a:t>CNO, CNAME, CDEPT, TNAME</a:t>
            </a:r>
            <a:r>
              <a:rPr lang="zh-CN" altLang="en-US" sz="1800" b="1" dirty="0">
                <a:solidFill>
                  <a:srgbClr val="0000FF"/>
                </a:solidFill>
              </a:rPr>
              <a:t>）                      </a:t>
            </a:r>
            <a:r>
              <a:rPr lang="en-US" altLang="zh-CN" sz="1800" b="1" dirty="0">
                <a:solidFill>
                  <a:srgbClr val="0000FF"/>
                </a:solidFill>
              </a:rPr>
              <a:t>SC</a:t>
            </a:r>
            <a:r>
              <a:rPr lang="zh-CN" altLang="en-US" sz="1800" b="1" dirty="0">
                <a:solidFill>
                  <a:srgbClr val="0000FF"/>
                </a:solidFill>
              </a:rPr>
              <a:t>（</a:t>
            </a:r>
            <a:r>
              <a:rPr lang="en-US" altLang="zh-CN" sz="1800" b="1" u="sng" dirty="0">
                <a:solidFill>
                  <a:srgbClr val="0000FF"/>
                </a:solidFill>
              </a:rPr>
              <a:t>SNO</a:t>
            </a:r>
            <a:r>
              <a:rPr lang="en-US" altLang="zh-CN" sz="1800" b="1" dirty="0">
                <a:solidFill>
                  <a:srgbClr val="0000FF"/>
                </a:solidFill>
              </a:rPr>
              <a:t>, </a:t>
            </a:r>
            <a:r>
              <a:rPr lang="en-US" altLang="zh-CN" sz="1800" b="1" u="sng" dirty="0">
                <a:solidFill>
                  <a:srgbClr val="0000FF"/>
                </a:solidFill>
              </a:rPr>
              <a:t>CNO</a:t>
            </a:r>
            <a:r>
              <a:rPr lang="en-US" altLang="zh-CN" sz="1800" b="1" dirty="0">
                <a:solidFill>
                  <a:srgbClr val="0000FF"/>
                </a:solidFill>
              </a:rPr>
              <a:t>, GRADE</a:t>
            </a:r>
            <a:r>
              <a:rPr lang="zh-CN" altLang="en-US" sz="1800" b="1" dirty="0">
                <a:solidFill>
                  <a:srgbClr val="0000FF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212905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6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6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6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60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517" grpId="0"/>
      <p:bldP spid="960518" grpId="0"/>
      <p:bldP spid="960519" grpId="0"/>
      <p:bldP spid="960520" grpId="0"/>
      <p:bldP spid="960521" grpId="0"/>
      <p:bldP spid="960522" grpId="0"/>
      <p:bldP spid="960523" grpId="0"/>
      <p:bldP spid="960524" grpId="0"/>
      <p:bldP spid="11" grpId="0"/>
      <p:bldP spid="12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40" name="Rectangle 4"/>
          <p:cNvSpPr>
            <a:spLocks noChangeArrowheads="1"/>
          </p:cNvSpPr>
          <p:nvPr/>
        </p:nvSpPr>
        <p:spPr bwMode="auto">
          <a:xfrm>
            <a:off x="468313" y="404813"/>
            <a:ext cx="72723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10</a:t>
            </a:r>
            <a:r>
              <a:rPr lang="zh-CN" altLang="en-US" sz="2400" b="1" dirty="0">
                <a:solidFill>
                  <a:schemeClr val="bg2"/>
                </a:solidFill>
              </a:rPr>
              <a:t>、查询所有姓刘学生的姓名、学号和性别。</a:t>
            </a:r>
          </a:p>
        </p:txBody>
      </p:sp>
      <p:sp>
        <p:nvSpPr>
          <p:cNvPr id="961541" name="Rectangle 5"/>
          <p:cNvSpPr>
            <a:spLocks noChangeArrowheads="1"/>
          </p:cNvSpPr>
          <p:nvPr/>
        </p:nvSpPr>
        <p:spPr bwMode="auto">
          <a:xfrm>
            <a:off x="539750" y="933450"/>
            <a:ext cx="8604250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003399"/>
                </a:solidFill>
              </a:rPr>
              <a:t>通配符</a:t>
            </a:r>
          </a:p>
          <a:p>
            <a:pPr lvl="2"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3399"/>
                </a:solidFill>
              </a:rPr>
              <a:t>% (</a:t>
            </a:r>
            <a:r>
              <a:rPr lang="zh-CN" altLang="en-US" b="1">
                <a:solidFill>
                  <a:srgbClr val="003399"/>
                </a:solidFill>
              </a:rPr>
              <a:t>百分号</a:t>
            </a:r>
            <a:r>
              <a:rPr lang="en-US" altLang="zh-CN" b="1">
                <a:solidFill>
                  <a:srgbClr val="003399"/>
                </a:solidFill>
              </a:rPr>
              <a:t>)</a:t>
            </a:r>
            <a:r>
              <a:rPr lang="en-US" altLang="zh-CN" b="1">
                <a:solidFill>
                  <a:schemeClr val="bg2"/>
                </a:solidFill>
              </a:rPr>
              <a:t>  </a:t>
            </a:r>
            <a:r>
              <a:rPr lang="zh-CN" altLang="en-US" b="1">
                <a:solidFill>
                  <a:schemeClr val="bg2"/>
                </a:solidFill>
              </a:rPr>
              <a:t>代表任意长度（长度可以为</a:t>
            </a:r>
            <a:r>
              <a:rPr lang="en-US" altLang="zh-CN" b="1">
                <a:solidFill>
                  <a:schemeClr val="bg2"/>
                </a:solidFill>
              </a:rPr>
              <a:t>0</a:t>
            </a:r>
            <a:r>
              <a:rPr lang="zh-CN" altLang="en-US" b="1">
                <a:solidFill>
                  <a:schemeClr val="bg2"/>
                </a:solidFill>
              </a:rPr>
              <a:t>）的字符串。</a:t>
            </a:r>
          </a:p>
          <a:p>
            <a:pPr lvl="3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2"/>
                </a:solidFill>
              </a:rPr>
              <a:t>例：</a:t>
            </a:r>
            <a:r>
              <a:rPr lang="en-US" altLang="zh-CN" b="1">
                <a:solidFill>
                  <a:schemeClr val="bg2"/>
                </a:solidFill>
              </a:rPr>
              <a:t>a%b</a:t>
            </a:r>
            <a:r>
              <a:rPr lang="zh-CN" altLang="en-US" b="1">
                <a:solidFill>
                  <a:schemeClr val="bg2"/>
                </a:solidFill>
              </a:rPr>
              <a:t>表示以</a:t>
            </a:r>
            <a:r>
              <a:rPr lang="en-US" altLang="zh-CN" b="1">
                <a:solidFill>
                  <a:schemeClr val="bg2"/>
                </a:solidFill>
              </a:rPr>
              <a:t>a</a:t>
            </a:r>
            <a:r>
              <a:rPr lang="zh-CN" altLang="en-US" b="1">
                <a:solidFill>
                  <a:schemeClr val="bg2"/>
                </a:solidFill>
              </a:rPr>
              <a:t>开头，以</a:t>
            </a:r>
            <a:r>
              <a:rPr lang="en-US" altLang="zh-CN" b="1">
                <a:solidFill>
                  <a:schemeClr val="bg2"/>
                </a:solidFill>
              </a:rPr>
              <a:t>b</a:t>
            </a:r>
            <a:r>
              <a:rPr lang="zh-CN" altLang="en-US" b="1">
                <a:solidFill>
                  <a:schemeClr val="bg2"/>
                </a:solidFill>
              </a:rPr>
              <a:t>结尾的任意长度的字符串。如</a:t>
            </a:r>
            <a:r>
              <a:rPr lang="en-US" altLang="zh-CN" b="1">
                <a:solidFill>
                  <a:schemeClr val="bg2"/>
                </a:solidFill>
              </a:rPr>
              <a:t>acb</a:t>
            </a:r>
            <a:r>
              <a:rPr lang="zh-CN" altLang="en-US" b="1">
                <a:solidFill>
                  <a:schemeClr val="bg2"/>
                </a:solidFill>
              </a:rPr>
              <a:t>，</a:t>
            </a:r>
            <a:r>
              <a:rPr lang="en-US" altLang="zh-CN" b="1">
                <a:solidFill>
                  <a:schemeClr val="bg2"/>
                </a:solidFill>
              </a:rPr>
              <a:t>addgb</a:t>
            </a:r>
            <a:r>
              <a:rPr lang="zh-CN" altLang="en-US" b="1">
                <a:solidFill>
                  <a:schemeClr val="bg2"/>
                </a:solidFill>
              </a:rPr>
              <a:t>，</a:t>
            </a:r>
            <a:r>
              <a:rPr lang="en-US" altLang="zh-CN" b="1">
                <a:solidFill>
                  <a:schemeClr val="bg2"/>
                </a:solidFill>
              </a:rPr>
              <a:t>ab </a:t>
            </a:r>
            <a:r>
              <a:rPr lang="zh-CN" altLang="en-US" b="1">
                <a:solidFill>
                  <a:schemeClr val="bg2"/>
                </a:solidFill>
              </a:rPr>
              <a:t>等都满足该匹配串。</a:t>
            </a:r>
          </a:p>
          <a:p>
            <a:pPr lvl="2"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b="1">
                <a:solidFill>
                  <a:srgbClr val="003399"/>
                </a:solidFill>
              </a:rPr>
              <a:t>_ (</a:t>
            </a:r>
            <a:r>
              <a:rPr lang="zh-CN" altLang="en-US" b="1">
                <a:solidFill>
                  <a:srgbClr val="003399"/>
                </a:solidFill>
              </a:rPr>
              <a:t>下横线</a:t>
            </a:r>
            <a:r>
              <a:rPr lang="en-US" altLang="zh-CN" b="1">
                <a:solidFill>
                  <a:srgbClr val="003399"/>
                </a:solidFill>
              </a:rPr>
              <a:t>)</a:t>
            </a:r>
            <a:r>
              <a:rPr lang="en-US" altLang="zh-CN" b="1">
                <a:solidFill>
                  <a:schemeClr val="bg2"/>
                </a:solidFill>
              </a:rPr>
              <a:t>  </a:t>
            </a:r>
            <a:r>
              <a:rPr lang="zh-CN" altLang="en-US" b="1">
                <a:solidFill>
                  <a:schemeClr val="bg2"/>
                </a:solidFill>
              </a:rPr>
              <a:t>代表任意单个字符。</a:t>
            </a:r>
          </a:p>
          <a:p>
            <a:pPr lvl="3" algn="just">
              <a:lnSpc>
                <a:spcPct val="80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bg2"/>
                </a:solidFill>
              </a:rPr>
              <a:t>例：</a:t>
            </a:r>
            <a:r>
              <a:rPr lang="en-US" altLang="zh-CN" b="1">
                <a:solidFill>
                  <a:schemeClr val="bg2"/>
                </a:solidFill>
              </a:rPr>
              <a:t>a_b</a:t>
            </a:r>
            <a:r>
              <a:rPr lang="zh-CN" altLang="en-US" b="1">
                <a:solidFill>
                  <a:schemeClr val="bg2"/>
                </a:solidFill>
              </a:rPr>
              <a:t>表示以</a:t>
            </a:r>
            <a:r>
              <a:rPr lang="en-US" altLang="zh-CN" b="1">
                <a:solidFill>
                  <a:schemeClr val="bg2"/>
                </a:solidFill>
              </a:rPr>
              <a:t>a</a:t>
            </a:r>
            <a:r>
              <a:rPr lang="zh-CN" altLang="en-US" b="1">
                <a:solidFill>
                  <a:schemeClr val="bg2"/>
                </a:solidFill>
              </a:rPr>
              <a:t>开头，以</a:t>
            </a:r>
            <a:r>
              <a:rPr lang="en-US" altLang="zh-CN" b="1">
                <a:solidFill>
                  <a:schemeClr val="bg2"/>
                </a:solidFill>
              </a:rPr>
              <a:t>b</a:t>
            </a:r>
            <a:r>
              <a:rPr lang="zh-CN" altLang="en-US" b="1">
                <a:solidFill>
                  <a:schemeClr val="bg2"/>
                </a:solidFill>
              </a:rPr>
              <a:t>结尾的长度为</a:t>
            </a:r>
            <a:r>
              <a:rPr lang="en-US" altLang="zh-CN" b="1">
                <a:solidFill>
                  <a:schemeClr val="bg2"/>
                </a:solidFill>
              </a:rPr>
              <a:t>3</a:t>
            </a:r>
            <a:r>
              <a:rPr lang="zh-CN" altLang="en-US" b="1">
                <a:solidFill>
                  <a:schemeClr val="bg2"/>
                </a:solidFill>
              </a:rPr>
              <a:t>的任意字符串。如</a:t>
            </a:r>
            <a:r>
              <a:rPr lang="en-US" altLang="zh-CN" b="1">
                <a:solidFill>
                  <a:schemeClr val="bg2"/>
                </a:solidFill>
              </a:rPr>
              <a:t>acb</a:t>
            </a:r>
            <a:r>
              <a:rPr lang="zh-CN" altLang="en-US" b="1">
                <a:solidFill>
                  <a:schemeClr val="bg2"/>
                </a:solidFill>
              </a:rPr>
              <a:t>，</a:t>
            </a:r>
            <a:r>
              <a:rPr lang="en-US" altLang="zh-CN" b="1">
                <a:solidFill>
                  <a:schemeClr val="bg2"/>
                </a:solidFill>
              </a:rPr>
              <a:t>afb</a:t>
            </a:r>
            <a:r>
              <a:rPr lang="zh-CN" altLang="en-US" b="1">
                <a:solidFill>
                  <a:schemeClr val="bg2"/>
                </a:solidFill>
              </a:rPr>
              <a:t>等都满足该匹配串。</a:t>
            </a:r>
          </a:p>
        </p:txBody>
      </p:sp>
      <p:sp>
        <p:nvSpPr>
          <p:cNvPr id="961543" name="Rectangle 7"/>
          <p:cNvSpPr>
            <a:spLocks noChangeArrowheads="1"/>
          </p:cNvSpPr>
          <p:nvPr/>
        </p:nvSpPr>
        <p:spPr bwMode="auto">
          <a:xfrm>
            <a:off x="468313" y="3381375"/>
            <a:ext cx="69278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11</a:t>
            </a:r>
            <a:r>
              <a:rPr lang="zh-CN" altLang="en-US" sz="2400" b="1" dirty="0">
                <a:solidFill>
                  <a:schemeClr val="bg2"/>
                </a:solidFill>
              </a:rPr>
              <a:t>、查询姓</a:t>
            </a:r>
            <a:r>
              <a:rPr lang="en-US" altLang="zh-CN" sz="2400" b="1" dirty="0">
                <a:solidFill>
                  <a:schemeClr val="bg2"/>
                </a:solidFill>
              </a:rPr>
              <a:t>"</a:t>
            </a:r>
            <a:r>
              <a:rPr lang="zh-CN" altLang="en-US" sz="2400" b="1" dirty="0">
                <a:solidFill>
                  <a:schemeClr val="bg2"/>
                </a:solidFill>
              </a:rPr>
              <a:t>欧阳</a:t>
            </a:r>
            <a:r>
              <a:rPr lang="en-US" altLang="zh-CN" sz="2400" b="1" dirty="0">
                <a:solidFill>
                  <a:schemeClr val="bg2"/>
                </a:solidFill>
              </a:rPr>
              <a:t>"</a:t>
            </a:r>
            <a:r>
              <a:rPr lang="zh-CN" altLang="en-US" sz="2400" b="1" dirty="0">
                <a:solidFill>
                  <a:schemeClr val="bg2"/>
                </a:solidFill>
              </a:rPr>
              <a:t>且全名为三个汉字的学生的姓名</a:t>
            </a:r>
          </a:p>
        </p:txBody>
      </p:sp>
      <p:sp>
        <p:nvSpPr>
          <p:cNvPr id="961544" name="Rectangle 8"/>
          <p:cNvSpPr>
            <a:spLocks noChangeArrowheads="1"/>
          </p:cNvSpPr>
          <p:nvPr/>
        </p:nvSpPr>
        <p:spPr bwMode="auto">
          <a:xfrm>
            <a:off x="468313" y="3957638"/>
            <a:ext cx="8675687" cy="1163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12</a:t>
            </a:r>
            <a:r>
              <a:rPr lang="zh-CN" altLang="en-US" sz="2400" b="1" dirty="0">
                <a:solidFill>
                  <a:schemeClr val="bg2"/>
                </a:solidFill>
              </a:rPr>
              <a:t>、某些学生选修课程后没有参加考试，所以有选课记录，但没有考试成绩。查询缺少成绩的学生的学号和相应的课程号。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endParaRPr lang="en-US" altLang="zh-CN" sz="2400" b="1" dirty="0">
              <a:solidFill>
                <a:schemeClr val="bg2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95288" y="4840288"/>
            <a:ext cx="8137525" cy="684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13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</a:t>
            </a: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</a:rPr>
              <a:t>号课程的学生的学号及其成绩，查询结果按分数降序排列。</a:t>
            </a:r>
          </a:p>
        </p:txBody>
      </p:sp>
    </p:spTree>
    <p:extLst>
      <p:ext uri="{BB962C8B-B14F-4D97-AF65-F5344CB8AC3E}">
        <p14:creationId xmlns:p14="http://schemas.microsoft.com/office/powerpoint/2010/main" val="184671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1540" grpId="0"/>
      <p:bldP spid="961541" grpId="0"/>
      <p:bldP spid="961543" grpId="0"/>
      <p:bldP spid="961544" grpId="0"/>
      <p:bldP spid="8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21" name="Text Box 13"/>
          <p:cNvSpPr txBox="1">
            <a:spLocks noChangeArrowheads="1"/>
          </p:cNvSpPr>
          <p:nvPr/>
        </p:nvSpPr>
        <p:spPr bwMode="auto">
          <a:xfrm>
            <a:off x="539750" y="333375"/>
            <a:ext cx="8064500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rgbClr val="660033"/>
                </a:solidFill>
              </a:rPr>
              <a:t>2</a:t>
            </a:r>
            <a:r>
              <a:rPr lang="zh-CN" altLang="en-US" sz="2400" b="1">
                <a:solidFill>
                  <a:srgbClr val="660033"/>
                </a:solidFill>
              </a:rPr>
              <a:t>、检索选修了</a:t>
            </a:r>
            <a:r>
              <a:rPr lang="en-US" altLang="zh-CN" sz="2400" b="1">
                <a:solidFill>
                  <a:srgbClr val="660033"/>
                </a:solidFill>
              </a:rPr>
              <a:t>C1</a:t>
            </a:r>
            <a:r>
              <a:rPr lang="zh-CN" altLang="en-US" sz="2400" b="1">
                <a:solidFill>
                  <a:srgbClr val="660033"/>
                </a:solidFill>
              </a:rPr>
              <a:t>和</a:t>
            </a:r>
            <a:r>
              <a:rPr lang="en-US" altLang="zh-CN" sz="2400" b="1">
                <a:solidFill>
                  <a:srgbClr val="660033"/>
                </a:solidFill>
              </a:rPr>
              <a:t>C3</a:t>
            </a:r>
            <a:r>
              <a:rPr lang="zh-CN" altLang="en-US" sz="2400" b="1">
                <a:solidFill>
                  <a:srgbClr val="660033"/>
                </a:solidFill>
              </a:rPr>
              <a:t>的课程的学生的学号。</a:t>
            </a:r>
            <a:endParaRPr lang="en-US" altLang="zh-CN" sz="2400" b="1">
              <a:solidFill>
                <a:schemeClr val="bg2"/>
              </a:solidFill>
            </a:endParaRPr>
          </a:p>
        </p:txBody>
      </p:sp>
      <p:sp>
        <p:nvSpPr>
          <p:cNvPr id="964622" name="Freeform 14"/>
          <p:cNvSpPr>
            <a:spLocks/>
          </p:cNvSpPr>
          <p:nvPr/>
        </p:nvSpPr>
        <p:spPr bwMode="auto">
          <a:xfrm>
            <a:off x="1403350" y="1844675"/>
            <a:ext cx="4267200" cy="1606550"/>
          </a:xfrm>
          <a:custGeom>
            <a:avLst/>
            <a:gdLst>
              <a:gd name="T0" fmla="*/ 2147483647 w 2688"/>
              <a:gd name="T1" fmla="*/ 2147483647 h 1012"/>
              <a:gd name="T2" fmla="*/ 2147483647 w 2688"/>
              <a:gd name="T3" fmla="*/ 2147483647 h 1012"/>
              <a:gd name="T4" fmla="*/ 2147483647 w 2688"/>
              <a:gd name="T5" fmla="*/ 2147483647 h 1012"/>
              <a:gd name="T6" fmla="*/ 2147483647 w 2688"/>
              <a:gd name="T7" fmla="*/ 2147483647 h 1012"/>
              <a:gd name="T8" fmla="*/ 2147483647 w 2688"/>
              <a:gd name="T9" fmla="*/ 2147483647 h 1012"/>
              <a:gd name="T10" fmla="*/ 2147483647 w 2688"/>
              <a:gd name="T11" fmla="*/ 2147483647 h 1012"/>
              <a:gd name="T12" fmla="*/ 2147483647 w 2688"/>
              <a:gd name="T13" fmla="*/ 2147483647 h 1012"/>
              <a:gd name="T14" fmla="*/ 2147483647 w 2688"/>
              <a:gd name="T15" fmla="*/ 2147483647 h 1012"/>
              <a:gd name="T16" fmla="*/ 2147483647 w 2688"/>
              <a:gd name="T17" fmla="*/ 2147483647 h 1012"/>
              <a:gd name="T18" fmla="*/ 2147483647 w 2688"/>
              <a:gd name="T19" fmla="*/ 2147483647 h 1012"/>
              <a:gd name="T20" fmla="*/ 2147483647 w 2688"/>
              <a:gd name="T21" fmla="*/ 2147483647 h 1012"/>
              <a:gd name="T22" fmla="*/ 2147483647 w 2688"/>
              <a:gd name="T23" fmla="*/ 2147483647 h 1012"/>
              <a:gd name="T24" fmla="*/ 2147483647 w 2688"/>
              <a:gd name="T25" fmla="*/ 2147483647 h 1012"/>
              <a:gd name="T26" fmla="*/ 2147483647 w 2688"/>
              <a:gd name="T27" fmla="*/ 2147483647 h 1012"/>
              <a:gd name="T28" fmla="*/ 2147483647 w 2688"/>
              <a:gd name="T29" fmla="*/ 2147483647 h 1012"/>
              <a:gd name="T30" fmla="*/ 2147483647 w 2688"/>
              <a:gd name="T31" fmla="*/ 2147483647 h 1012"/>
              <a:gd name="T32" fmla="*/ 2147483647 w 2688"/>
              <a:gd name="T33" fmla="*/ 2147483647 h 1012"/>
              <a:gd name="T34" fmla="*/ 2147483647 w 2688"/>
              <a:gd name="T35" fmla="*/ 2147483647 h 1012"/>
              <a:gd name="T36" fmla="*/ 2147483647 w 2688"/>
              <a:gd name="T37" fmla="*/ 2147483647 h 1012"/>
              <a:gd name="T38" fmla="*/ 2147483647 w 2688"/>
              <a:gd name="T39" fmla="*/ 2147483647 h 1012"/>
              <a:gd name="T40" fmla="*/ 2147483647 w 2688"/>
              <a:gd name="T41" fmla="*/ 2147483647 h 1012"/>
              <a:gd name="T42" fmla="*/ 2147483647 w 2688"/>
              <a:gd name="T43" fmla="*/ 2147483647 h 1012"/>
              <a:gd name="T44" fmla="*/ 2147483647 w 2688"/>
              <a:gd name="T45" fmla="*/ 2147483647 h 1012"/>
              <a:gd name="T46" fmla="*/ 2147483647 w 2688"/>
              <a:gd name="T47" fmla="*/ 2147483647 h 1012"/>
              <a:gd name="T48" fmla="*/ 0 w 2688"/>
              <a:gd name="T49" fmla="*/ 2147483647 h 1012"/>
              <a:gd name="T50" fmla="*/ 2147483647 w 2688"/>
              <a:gd name="T51" fmla="*/ 2147483647 h 101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0" t="0" r="r" b="b"/>
            <a:pathLst>
              <a:path w="2688" h="1012">
                <a:moveTo>
                  <a:pt x="36" y="400"/>
                </a:moveTo>
                <a:cubicBezTo>
                  <a:pt x="3" y="300"/>
                  <a:pt x="66" y="193"/>
                  <a:pt x="120" y="112"/>
                </a:cubicBezTo>
                <a:cubicBezTo>
                  <a:pt x="136" y="88"/>
                  <a:pt x="168" y="80"/>
                  <a:pt x="192" y="64"/>
                </a:cubicBezTo>
                <a:cubicBezTo>
                  <a:pt x="213" y="50"/>
                  <a:pt x="264" y="40"/>
                  <a:pt x="264" y="40"/>
                </a:cubicBezTo>
                <a:cubicBezTo>
                  <a:pt x="594" y="48"/>
                  <a:pt x="876" y="64"/>
                  <a:pt x="1200" y="52"/>
                </a:cubicBezTo>
                <a:cubicBezTo>
                  <a:pt x="1406" y="0"/>
                  <a:pt x="1638" y="62"/>
                  <a:pt x="1848" y="88"/>
                </a:cubicBezTo>
                <a:cubicBezTo>
                  <a:pt x="1903" y="106"/>
                  <a:pt x="1960" y="107"/>
                  <a:pt x="2016" y="124"/>
                </a:cubicBezTo>
                <a:cubicBezTo>
                  <a:pt x="2083" y="144"/>
                  <a:pt x="2143" y="172"/>
                  <a:pt x="2208" y="196"/>
                </a:cubicBezTo>
                <a:cubicBezTo>
                  <a:pt x="2228" y="204"/>
                  <a:pt x="2249" y="210"/>
                  <a:pt x="2268" y="220"/>
                </a:cubicBezTo>
                <a:cubicBezTo>
                  <a:pt x="2281" y="226"/>
                  <a:pt x="2291" y="238"/>
                  <a:pt x="2304" y="244"/>
                </a:cubicBezTo>
                <a:cubicBezTo>
                  <a:pt x="2327" y="254"/>
                  <a:pt x="2352" y="260"/>
                  <a:pt x="2376" y="268"/>
                </a:cubicBezTo>
                <a:cubicBezTo>
                  <a:pt x="2388" y="272"/>
                  <a:pt x="2412" y="280"/>
                  <a:pt x="2412" y="280"/>
                </a:cubicBezTo>
                <a:cubicBezTo>
                  <a:pt x="2424" y="292"/>
                  <a:pt x="2435" y="306"/>
                  <a:pt x="2448" y="316"/>
                </a:cubicBezTo>
                <a:cubicBezTo>
                  <a:pt x="2471" y="334"/>
                  <a:pt x="2520" y="364"/>
                  <a:pt x="2520" y="364"/>
                </a:cubicBezTo>
                <a:cubicBezTo>
                  <a:pt x="2537" y="414"/>
                  <a:pt x="2560" y="431"/>
                  <a:pt x="2592" y="472"/>
                </a:cubicBezTo>
                <a:cubicBezTo>
                  <a:pt x="2631" y="522"/>
                  <a:pt x="2653" y="576"/>
                  <a:pt x="2688" y="628"/>
                </a:cubicBezTo>
                <a:cubicBezTo>
                  <a:pt x="2679" y="689"/>
                  <a:pt x="2676" y="790"/>
                  <a:pt x="2640" y="844"/>
                </a:cubicBezTo>
                <a:cubicBezTo>
                  <a:pt x="2528" y="1012"/>
                  <a:pt x="2303" y="999"/>
                  <a:pt x="2124" y="1012"/>
                </a:cubicBezTo>
                <a:cubicBezTo>
                  <a:pt x="1994" y="998"/>
                  <a:pt x="1858" y="955"/>
                  <a:pt x="1728" y="952"/>
                </a:cubicBezTo>
                <a:cubicBezTo>
                  <a:pt x="1544" y="948"/>
                  <a:pt x="1360" y="944"/>
                  <a:pt x="1176" y="940"/>
                </a:cubicBezTo>
                <a:cubicBezTo>
                  <a:pt x="900" y="919"/>
                  <a:pt x="624" y="913"/>
                  <a:pt x="348" y="892"/>
                </a:cubicBezTo>
                <a:cubicBezTo>
                  <a:pt x="250" y="872"/>
                  <a:pt x="178" y="839"/>
                  <a:pt x="96" y="784"/>
                </a:cubicBezTo>
                <a:cubicBezTo>
                  <a:pt x="80" y="760"/>
                  <a:pt x="64" y="736"/>
                  <a:pt x="48" y="712"/>
                </a:cubicBezTo>
                <a:cubicBezTo>
                  <a:pt x="40" y="700"/>
                  <a:pt x="24" y="676"/>
                  <a:pt x="24" y="676"/>
                </a:cubicBezTo>
                <a:cubicBezTo>
                  <a:pt x="18" y="640"/>
                  <a:pt x="0" y="605"/>
                  <a:pt x="0" y="568"/>
                </a:cubicBezTo>
                <a:cubicBezTo>
                  <a:pt x="0" y="469"/>
                  <a:pt x="36" y="379"/>
                  <a:pt x="36" y="280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4625" name="Text Box 17"/>
          <p:cNvSpPr txBox="1">
            <a:spLocks noChangeArrowheads="1"/>
          </p:cNvSpPr>
          <p:nvPr/>
        </p:nvSpPr>
        <p:spPr bwMode="auto">
          <a:xfrm>
            <a:off x="539750" y="4036026"/>
            <a:ext cx="8064500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660033"/>
                </a:solidFill>
              </a:rPr>
              <a:t>3</a:t>
            </a:r>
            <a:r>
              <a:rPr lang="zh-CN" altLang="en-US" sz="2400" b="1" dirty="0">
                <a:solidFill>
                  <a:srgbClr val="660033"/>
                </a:solidFill>
              </a:rPr>
              <a:t>、查询每一门课的间接先修课（即先修课的先修课）。</a:t>
            </a:r>
          </a:p>
        </p:txBody>
      </p:sp>
      <p:sp>
        <p:nvSpPr>
          <p:cNvPr id="964626" name="Rectangle 18"/>
          <p:cNvSpPr>
            <a:spLocks noChangeArrowheads="1"/>
          </p:cNvSpPr>
          <p:nvPr/>
        </p:nvSpPr>
        <p:spPr bwMode="auto">
          <a:xfrm>
            <a:off x="754856" y="4825335"/>
            <a:ext cx="7561263" cy="134806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>
            <a:spAutoFit/>
          </a:bodyPr>
          <a:lstStyle/>
          <a:p>
            <a:pPr lvl="1"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X.CNO, Y.CPNO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C AS X, C AS Y</a:t>
            </a:r>
          </a:p>
          <a:p>
            <a:pPr lvl="1"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WHERE X.CPNO = Y.CNO;</a:t>
            </a:r>
          </a:p>
        </p:txBody>
      </p:sp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503238" y="1069975"/>
            <a:ext cx="8064500" cy="286385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DISTINCT X.SNO 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FROM   </a:t>
            </a:r>
            <a:r>
              <a:rPr lang="en-US" altLang="zh-CN" sz="2400" b="1" dirty="0">
                <a:solidFill>
                  <a:schemeClr val="bg1"/>
                </a:solidFill>
              </a:rPr>
              <a:t>SC X INNER JOIN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</a:rPr>
              <a:t>         SC Y ON X.SNO = Y.SNO</a:t>
            </a: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WHERE (X.CNO =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 AND (Y.CNO =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C</a:t>
            </a: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);</a:t>
            </a:r>
          </a:p>
        </p:txBody>
      </p: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EFB1F10B-FDE4-4190-FB93-6B58989FF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207" y="1281402"/>
            <a:ext cx="3298338" cy="74478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946CAB-0C70-9000-AEF8-2BE3600CF9CC}"/>
              </a:ext>
            </a:extLst>
          </p:cNvPr>
          <p:cNvSpPr/>
          <p:nvPr/>
        </p:nvSpPr>
        <p:spPr bwMode="auto">
          <a:xfrm>
            <a:off x="6300192" y="5229200"/>
            <a:ext cx="2736304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latin typeface="宋体" pitchFamily="2" charset="-122"/>
                <a:ea typeface="宋体" pitchFamily="2" charset="-122"/>
              </a:rPr>
              <a:t>注意到，前面的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表及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表结构中，并没有</a:t>
            </a:r>
            <a:r>
              <a:rPr lang="en-US" altLang="zh-CN" dirty="0">
                <a:latin typeface="宋体" pitchFamily="2" charset="-122"/>
                <a:ea typeface="宋体" pitchFamily="2" charset="-122"/>
              </a:rPr>
              <a:t>CPNO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这个项目，并且考查知识点比较重复，是否可以删去此题？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673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64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6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4621" grpId="0"/>
      <p:bldP spid="964622" grpId="0" animBg="1"/>
      <p:bldP spid="964625" grpId="0"/>
      <p:bldP spid="964626" grpId="0" animBg="1"/>
      <p:bldP spid="6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586" name="Rectangle 2"/>
          <p:cNvSpPr>
            <a:spLocks noChangeArrowheads="1"/>
          </p:cNvSpPr>
          <p:nvPr/>
        </p:nvSpPr>
        <p:spPr bwMode="auto">
          <a:xfrm>
            <a:off x="395288" y="549275"/>
            <a:ext cx="81375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>
                <a:solidFill>
                  <a:schemeClr val="bg2"/>
                </a:solidFill>
              </a:rPr>
              <a:t>1</a:t>
            </a:r>
            <a:r>
              <a:rPr lang="zh-CN" altLang="en-US" sz="2400" b="1">
                <a:solidFill>
                  <a:schemeClr val="bg2"/>
                </a:solidFill>
              </a:rPr>
              <a:t>、查询学生总人数。</a:t>
            </a:r>
          </a:p>
        </p:txBody>
      </p:sp>
      <p:sp>
        <p:nvSpPr>
          <p:cNvPr id="963587" name="Rectangle 3"/>
          <p:cNvSpPr>
            <a:spLocks noChangeArrowheads="1"/>
          </p:cNvSpPr>
          <p:nvPr/>
        </p:nvSpPr>
        <p:spPr bwMode="auto">
          <a:xfrm>
            <a:off x="468313" y="1125538"/>
            <a:ext cx="8424862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2</a:t>
            </a:r>
            <a:r>
              <a:rPr lang="zh-CN" altLang="en-US" sz="2400" b="1" dirty="0">
                <a:solidFill>
                  <a:schemeClr val="bg2"/>
                </a:solidFill>
              </a:rPr>
              <a:t>、查询选修了课程的学生人数。</a:t>
            </a:r>
          </a:p>
        </p:txBody>
      </p:sp>
      <p:sp>
        <p:nvSpPr>
          <p:cNvPr id="963588" name="Rectangle 4"/>
          <p:cNvSpPr>
            <a:spLocks noChangeArrowheads="1"/>
          </p:cNvSpPr>
          <p:nvPr/>
        </p:nvSpPr>
        <p:spPr bwMode="auto">
          <a:xfrm>
            <a:off x="468313" y="1773238"/>
            <a:ext cx="7272337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3</a:t>
            </a:r>
            <a:r>
              <a:rPr lang="zh-CN" altLang="en-US" sz="2400" b="1" dirty="0">
                <a:solidFill>
                  <a:schemeClr val="bg2"/>
                </a:solidFill>
              </a:rPr>
              <a:t>、计算</a:t>
            </a:r>
            <a:r>
              <a:rPr lang="en-US" altLang="zh-CN" sz="2400" b="1" dirty="0">
                <a:solidFill>
                  <a:schemeClr val="bg2"/>
                </a:solidFill>
              </a:rPr>
              <a:t>1</a:t>
            </a:r>
            <a:r>
              <a:rPr lang="zh-CN" altLang="en-US" sz="2400" b="1" dirty="0">
                <a:solidFill>
                  <a:schemeClr val="bg2"/>
                </a:solidFill>
              </a:rPr>
              <a:t>号课程的学生平均成绩。</a:t>
            </a:r>
          </a:p>
        </p:txBody>
      </p:sp>
      <p:sp>
        <p:nvSpPr>
          <p:cNvPr id="963589" name="Rectangle 5"/>
          <p:cNvSpPr>
            <a:spLocks noChangeArrowheads="1"/>
          </p:cNvSpPr>
          <p:nvPr/>
        </p:nvSpPr>
        <p:spPr bwMode="auto">
          <a:xfrm>
            <a:off x="468313" y="2420938"/>
            <a:ext cx="8604250" cy="42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chemeClr val="bg2"/>
                </a:solidFill>
              </a:rPr>
              <a:t>4</a:t>
            </a:r>
            <a:r>
              <a:rPr lang="zh-CN" altLang="en-US" sz="2400" b="1" dirty="0">
                <a:solidFill>
                  <a:schemeClr val="bg2"/>
                </a:solidFill>
              </a:rPr>
              <a:t>、求各个课程号及相应的选课人数。</a:t>
            </a:r>
          </a:p>
        </p:txBody>
      </p:sp>
    </p:spTree>
    <p:extLst>
      <p:ext uri="{BB962C8B-B14F-4D97-AF65-F5344CB8AC3E}">
        <p14:creationId xmlns:p14="http://schemas.microsoft.com/office/powerpoint/2010/main" val="144676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6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6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3586" grpId="0"/>
      <p:bldP spid="963587" grpId="0"/>
      <p:bldP spid="963588" grpId="0"/>
      <p:bldP spid="963589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>
            <a:extLst>
              <a:ext uri="{FF2B5EF4-FFF2-40B4-BE49-F238E27FC236}">
                <a16:creationId xmlns:a16="http://schemas.microsoft.com/office/drawing/2014/main" id="{A552A317-6465-634E-93B7-7B31F2C08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5" y="-342900"/>
            <a:ext cx="8424863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>
              <a:solidFill>
                <a:schemeClr val="bg2"/>
              </a:solidFill>
              <a:latin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3. 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检索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选修课程号为</a:t>
            </a:r>
            <a:r>
              <a:rPr lang="en-US" altLang="zh-CN" sz="2400" b="1">
                <a:solidFill>
                  <a:schemeClr val="bg1"/>
                </a:solidFill>
                <a:latin typeface="宋体" panose="02010600030101010101" pitchFamily="2" charset="-122"/>
              </a:rPr>
              <a:t>C4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的学生的</a:t>
            </a:r>
            <a:r>
              <a:rPr lang="zh-CN" altLang="en-US" sz="2400" b="1">
                <a:solidFill>
                  <a:schemeClr val="bg1"/>
                </a:solidFill>
                <a:latin typeface="宋体" panose="02010600030101010101" pitchFamily="2" charset="-122"/>
              </a:rPr>
              <a:t>学号和姓名</a:t>
            </a:r>
            <a:r>
              <a:rPr lang="zh-CN" altLang="en-US" sz="2400" b="1">
                <a:solidFill>
                  <a:schemeClr val="bg2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969734" name="Rectangle 6">
            <a:extLst>
              <a:ext uri="{FF2B5EF4-FFF2-40B4-BE49-F238E27FC236}">
                <a16:creationId xmlns:a16="http://schemas.microsoft.com/office/drawing/2014/main" id="{B11F0D23-3D1F-374F-8A89-75560FC5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25" y="749300"/>
            <a:ext cx="4033838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第一种方法：连接查询</a:t>
            </a:r>
          </a:p>
          <a:p>
            <a:pPr eaLnBrk="1" hangingPunct="1">
              <a:spcBef>
                <a:spcPts val="1200"/>
              </a:spcBef>
              <a:buClrTx/>
              <a:buSzTx/>
              <a:buFontTx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SELECT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S.SNO,SNAME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FROM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S,SC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WHERE </a:t>
            </a: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S.SNO=SC.SNO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AND CNO=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C4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969736" name="Rectangle 8">
            <a:extLst>
              <a:ext uri="{FF2B5EF4-FFF2-40B4-BE49-F238E27FC236}">
                <a16:creationId xmlns:a16="http://schemas.microsoft.com/office/drawing/2014/main" id="{9E18AAF8-4138-F747-9EB8-280D696B4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8" y="3557588"/>
            <a:ext cx="4033837" cy="3200400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2"/>
            </a:solidFill>
            <a:prstDash val="dash"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660033"/>
                </a:solidFill>
              </a:rPr>
              <a:t>第二种方法：嵌套查询①</a:t>
            </a:r>
          </a:p>
          <a:p>
            <a:pPr>
              <a:spcBef>
                <a:spcPts val="1200"/>
              </a:spcBef>
            </a:pPr>
            <a:r>
              <a:rPr lang="zh-CN" altLang="en-US" sz="2400" b="1" dirty="0">
                <a:solidFill>
                  <a:schemeClr val="bg1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</a:rPr>
              <a:t>SELECT S.SNO,SNAME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FROM S</a:t>
            </a:r>
          </a:p>
          <a:p>
            <a:r>
              <a:rPr lang="en-US" altLang="zh-CN" sz="2400" b="1" dirty="0">
                <a:solidFill>
                  <a:srgbClr val="660033"/>
                </a:solidFill>
              </a:rPr>
              <a:t> WHERE</a:t>
            </a: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SNO </a:t>
            </a:r>
            <a:r>
              <a:rPr lang="en-US" altLang="zh-CN" sz="2400" b="1" dirty="0">
                <a:solidFill>
                  <a:schemeClr val="bg2"/>
                </a:solidFill>
              </a:rPr>
              <a:t>IN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</a:t>
            </a:r>
            <a:r>
              <a:rPr lang="en-US" altLang="zh-CN" sz="2400" b="1" dirty="0">
                <a:solidFill>
                  <a:schemeClr val="bg1"/>
                </a:solidFill>
              </a:rPr>
              <a:t>(SELECT SNO</a:t>
            </a:r>
          </a:p>
          <a:p>
            <a:r>
              <a:rPr lang="en-US" altLang="zh-CN" sz="2400" b="1" dirty="0">
                <a:solidFill>
                  <a:schemeClr val="bg1"/>
                </a:solidFill>
              </a:rPr>
              <a:t>   FROM SC</a:t>
            </a:r>
          </a:p>
          <a:p>
            <a:r>
              <a:rPr lang="en-US" altLang="zh-CN" sz="2400" b="1" dirty="0">
                <a:solidFill>
                  <a:schemeClr val="bg1"/>
                </a:solidFill>
              </a:rPr>
              <a:t>   WHERE CNO=</a:t>
            </a:r>
            <a:r>
              <a:rPr lang="en-US" altLang="zh-CN" sz="2400" b="1" dirty="0">
                <a:solidFill>
                  <a:schemeClr val="bg2"/>
                </a:solidFill>
                <a:sym typeface="Symbol" pitchFamily="2" charset="2"/>
              </a:rPr>
              <a:t> '</a:t>
            </a:r>
            <a:r>
              <a:rPr lang="en-US" altLang="zh-CN" sz="2400" b="1" dirty="0">
                <a:solidFill>
                  <a:schemeClr val="bg1"/>
                </a:solidFill>
                <a:sym typeface="Symbol" pitchFamily="2" charset="2"/>
              </a:rPr>
              <a:t>C4</a:t>
            </a:r>
            <a:r>
              <a:rPr lang="en-US" altLang="zh-CN" sz="2400" b="1" dirty="0">
                <a:solidFill>
                  <a:schemeClr val="bg2"/>
                </a:solidFill>
                <a:sym typeface="Symbol" pitchFamily="2" charset="2"/>
              </a:rPr>
              <a:t>')</a:t>
            </a:r>
            <a:r>
              <a:rPr lang="en-US" altLang="zh-CN" sz="2400" b="1" dirty="0">
                <a:solidFill>
                  <a:schemeClr val="bg1"/>
                </a:solidFill>
                <a:sym typeface="Symbol" pitchFamily="2" charset="2"/>
              </a:rPr>
              <a:t>;</a:t>
            </a:r>
          </a:p>
          <a:p>
            <a:endParaRPr lang="en-US" altLang="zh-CN" sz="2400" b="1" dirty="0">
              <a:solidFill>
                <a:schemeClr val="bg1"/>
              </a:solidFill>
              <a:sym typeface="Symbol" pitchFamily="2" charset="2"/>
            </a:endParaRPr>
          </a:p>
        </p:txBody>
      </p:sp>
      <p:sp>
        <p:nvSpPr>
          <p:cNvPr id="969737" name="Rectangle 9">
            <a:extLst>
              <a:ext uri="{FF2B5EF4-FFF2-40B4-BE49-F238E27FC236}">
                <a16:creationId xmlns:a16="http://schemas.microsoft.com/office/drawing/2014/main" id="{D6BDCD3B-CC88-5849-A818-CA3C02C9C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3550" y="3563938"/>
            <a:ext cx="4481513" cy="3138487"/>
          </a:xfrm>
          <a:prstGeom prst="rect">
            <a:avLst/>
          </a:prstGeom>
          <a:solidFill>
            <a:srgbClr val="F9EBD3"/>
          </a:solidFill>
          <a:ln w="28575">
            <a:solidFill>
              <a:schemeClr val="tx2"/>
            </a:solidFill>
            <a:prstDash val="dashDot"/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第二种方法：嵌套查询 ②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</a:rPr>
              <a:t>相关子查询</a:t>
            </a:r>
            <a:r>
              <a:rPr lang="en-US" altLang="zh-CN" sz="2000" b="1" dirty="0">
                <a:solidFill>
                  <a:srgbClr val="660033"/>
                </a:solidFill>
                <a:latin typeface="宋体" panose="02010600030101010101" pitchFamily="2" charset="-122"/>
              </a:rPr>
              <a:t>)</a:t>
            </a:r>
          </a:p>
          <a:p>
            <a:pPr eaLnBrk="1" hangingPunct="1">
              <a:spcBef>
                <a:spcPts val="120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SELECT S.SNO,SNAME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FROM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660033"/>
                </a:solidFill>
                <a:latin typeface="宋体" panose="02010600030101010101" pitchFamily="2" charset="-122"/>
              </a:rPr>
              <a:t> WHERE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'C4'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IN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(SELECT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CNO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FROM 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</a:rPr>
              <a:t>SC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   WHERE 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S.SNO=SC.SNO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b="1" dirty="0">
              <a:solidFill>
                <a:schemeClr val="bg2"/>
              </a:solidFill>
              <a:latin typeface="宋体" panose="02010600030101010101" pitchFamily="2" charset="-122"/>
            </a:endParaRPr>
          </a:p>
        </p:txBody>
      </p:sp>
      <p:sp>
        <p:nvSpPr>
          <p:cNvPr id="969738" name="Rectangle 10">
            <a:extLst>
              <a:ext uri="{FF2B5EF4-FFF2-40B4-BE49-F238E27FC236}">
                <a16:creationId xmlns:a16="http://schemas.microsoft.com/office/drawing/2014/main" id="{24ED9945-ABE3-9245-9F18-8CE71A359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54038"/>
            <a:ext cx="4500562" cy="2846387"/>
          </a:xfrm>
          <a:prstGeom prst="rect">
            <a:avLst/>
          </a:prstGeom>
          <a:solidFill>
            <a:srgbClr val="CCECFF"/>
          </a:solidFill>
          <a:ln w="9525">
            <a:solidFill>
              <a:srgbClr val="99FFCC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r>
              <a:rPr lang="zh-CN" altLang="en-US" sz="2000" b="1" dirty="0">
                <a:solidFill>
                  <a:srgbClr val="660033"/>
                </a:solidFill>
              </a:rPr>
              <a:t>第三种方法：使用存在量词的嵌套 </a:t>
            </a:r>
          </a:p>
          <a:p>
            <a:pPr>
              <a:spcBef>
                <a:spcPts val="18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S.SNO,SNAME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FROM </a:t>
            </a:r>
            <a:r>
              <a:rPr lang="en-US" altLang="zh-CN" sz="2400" b="1" dirty="0">
                <a:solidFill>
                  <a:schemeClr val="bg1"/>
                </a:solidFill>
              </a:rPr>
              <a:t>S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WHERE </a:t>
            </a:r>
            <a:r>
              <a: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EXISTS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(SELECT *  FROM </a:t>
            </a:r>
            <a:r>
              <a:rPr lang="en-US" altLang="zh-CN" sz="2400" b="1" dirty="0">
                <a:solidFill>
                  <a:schemeClr val="bg1"/>
                </a:solidFill>
              </a:rPr>
              <a:t>SC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WHERE </a:t>
            </a:r>
            <a:r>
              <a:rPr lang="en-US" altLang="zh-CN" sz="2400" b="1" dirty="0">
                <a:solidFill>
                  <a:srgbClr val="FF0000"/>
                </a:solidFill>
              </a:rPr>
              <a:t>S.SNO=SC.SNO</a:t>
            </a:r>
          </a:p>
          <a:p>
            <a:r>
              <a:rPr lang="en-US" altLang="zh-CN" sz="2400" b="1" dirty="0">
                <a:solidFill>
                  <a:schemeClr val="bg2"/>
                </a:solidFill>
              </a:rPr>
              <a:t>     AND SC.CNO= </a:t>
            </a:r>
            <a:r>
              <a:rPr lang="en-US" altLang="zh-CN" sz="2400" b="1" dirty="0">
                <a:solidFill>
                  <a:schemeClr val="bg2"/>
                </a:solidFill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1"/>
                </a:solidFill>
                <a:sym typeface="Symbol" pitchFamily="2" charset="2"/>
              </a:rPr>
              <a:t>C4</a:t>
            </a:r>
            <a:r>
              <a:rPr lang="en-US" altLang="zh-CN" sz="2400" b="1" dirty="0">
                <a:solidFill>
                  <a:schemeClr val="bg2"/>
                </a:solidFill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1"/>
                </a:solidFill>
                <a:sym typeface="Symbol" pitchFamily="2" charset="2"/>
              </a:rPr>
              <a:t>);</a:t>
            </a:r>
          </a:p>
        </p:txBody>
      </p:sp>
      <p:sp>
        <p:nvSpPr>
          <p:cNvPr id="38919" name="AutoShape 11">
            <a:extLst>
              <a:ext uri="{FF2B5EF4-FFF2-40B4-BE49-F238E27FC236}">
                <a16:creationId xmlns:a16="http://schemas.microsoft.com/office/drawing/2014/main" id="{B8AFD075-FA65-D942-8467-FB73FF155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076700"/>
            <a:ext cx="914400" cy="6096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宋体" panose="02010600030101010101" pitchFamily="2" charset="-122"/>
            </a:endParaRPr>
          </a:p>
        </p:txBody>
      </p:sp>
      <p:sp>
        <p:nvSpPr>
          <p:cNvPr id="969740" name="Text Box 12">
            <a:extLst>
              <a:ext uri="{FF2B5EF4-FFF2-40B4-BE49-F238E27FC236}">
                <a16:creationId xmlns:a16="http://schemas.microsoft.com/office/drawing/2014/main" id="{55F990CD-EBC7-664A-80A0-EE97F22A6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4130675"/>
            <a:ext cx="14398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</a:t>
            </a: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外层查询</a:t>
            </a:r>
          </a:p>
        </p:txBody>
      </p:sp>
      <p:sp>
        <p:nvSpPr>
          <p:cNvPr id="969741" name="Text Box 13">
            <a:extLst>
              <a:ext uri="{FF2B5EF4-FFF2-40B4-BE49-F238E27FC236}">
                <a16:creationId xmlns:a16="http://schemas.microsoft.com/office/drawing/2014/main" id="{9ECC1C03-775C-3148-B709-5EDD7F2BC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38" y="5192713"/>
            <a:ext cx="1439862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>
                <a:solidFill>
                  <a:srgbClr val="FF0000"/>
                </a:solidFill>
                <a:latin typeface="宋体" panose="02010600030101010101" pitchFamily="2" charset="-122"/>
                <a:sym typeface="Symbol" pitchFamily="2" charset="2"/>
              </a:rPr>
              <a:t>- </a:t>
            </a: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内层查询</a:t>
            </a:r>
            <a:r>
              <a:rPr lang="en-US" altLang="zh-CN" sz="1800" b="1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即</a:t>
            </a:r>
            <a:r>
              <a:rPr lang="en-US" altLang="zh-CN" sz="1800" b="1">
                <a:solidFill>
                  <a:srgbClr val="FF0000"/>
                </a:solidFill>
                <a:latin typeface="宋体" panose="02010600030101010101" pitchFamily="2" charset="-122"/>
              </a:rPr>
              <a:t>:</a:t>
            </a: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子查询</a:t>
            </a:r>
            <a:r>
              <a:rPr lang="en-US" altLang="zh-CN" sz="1800" b="1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38922" name="AutoShape 14">
            <a:extLst>
              <a:ext uri="{FF2B5EF4-FFF2-40B4-BE49-F238E27FC236}">
                <a16:creationId xmlns:a16="http://schemas.microsoft.com/office/drawing/2014/main" id="{71D279AC-12C7-9B49-86E2-F1EBE6B04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188" y="1052513"/>
            <a:ext cx="1547812" cy="609600"/>
          </a:xfrm>
          <a:prstGeom prst="wedgeRoundRectCallout">
            <a:avLst>
              <a:gd name="adj1" fmla="val -46306"/>
              <a:gd name="adj2" fmla="val 70051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969743" name="AutoShape 15">
            <a:extLst>
              <a:ext uri="{FF2B5EF4-FFF2-40B4-BE49-F238E27FC236}">
                <a16:creationId xmlns:a16="http://schemas.microsoft.com/office/drawing/2014/main" id="{45F2E925-F5A3-C64E-B508-77AD5ECB8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513" y="868363"/>
            <a:ext cx="1995487" cy="1189037"/>
          </a:xfrm>
          <a:prstGeom prst="cloudCallout">
            <a:avLst>
              <a:gd name="adj1" fmla="val -51111"/>
              <a:gd name="adj2" fmla="val 116954"/>
            </a:avLst>
          </a:prstGeom>
          <a:noFill/>
          <a:ln w="952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子查询依赖于外层查询</a:t>
            </a:r>
          </a:p>
        </p:txBody>
      </p:sp>
      <p:sp>
        <p:nvSpPr>
          <p:cNvPr id="969744" name="Freeform 16">
            <a:extLst>
              <a:ext uri="{FF2B5EF4-FFF2-40B4-BE49-F238E27FC236}">
                <a16:creationId xmlns:a16="http://schemas.microsoft.com/office/drawing/2014/main" id="{EF7042BD-019E-D144-A637-6A8AF03AF0D6}"/>
              </a:ext>
            </a:extLst>
          </p:cNvPr>
          <p:cNvSpPr>
            <a:spLocks/>
          </p:cNvSpPr>
          <p:nvPr/>
        </p:nvSpPr>
        <p:spPr bwMode="auto">
          <a:xfrm>
            <a:off x="5643563" y="2670175"/>
            <a:ext cx="2000250" cy="296863"/>
          </a:xfrm>
          <a:custGeom>
            <a:avLst/>
            <a:gdLst>
              <a:gd name="T0" fmla="*/ 2147483646 w 1260"/>
              <a:gd name="T1" fmla="*/ 2147483646 h 284"/>
              <a:gd name="T2" fmla="*/ 2147483646 w 1260"/>
              <a:gd name="T3" fmla="*/ 2147483646 h 284"/>
              <a:gd name="T4" fmla="*/ 2147483646 w 1260"/>
              <a:gd name="T5" fmla="*/ 2147483646 h 284"/>
              <a:gd name="T6" fmla="*/ 2147483646 w 1260"/>
              <a:gd name="T7" fmla="*/ 2147483646 h 284"/>
              <a:gd name="T8" fmla="*/ 2147483646 w 1260"/>
              <a:gd name="T9" fmla="*/ 2147483646 h 284"/>
              <a:gd name="T10" fmla="*/ 2147483646 w 1260"/>
              <a:gd name="T11" fmla="*/ 0 h 284"/>
              <a:gd name="T12" fmla="*/ 2147483646 w 1260"/>
              <a:gd name="T13" fmla="*/ 2147483646 h 284"/>
              <a:gd name="T14" fmla="*/ 2147483646 w 1260"/>
              <a:gd name="T15" fmla="*/ 2147483646 h 284"/>
              <a:gd name="T16" fmla="*/ 2147483646 w 1260"/>
              <a:gd name="T17" fmla="*/ 2147483646 h 284"/>
              <a:gd name="T18" fmla="*/ 2147483646 w 1260"/>
              <a:gd name="T19" fmla="*/ 2147483646 h 284"/>
              <a:gd name="T20" fmla="*/ 2147483646 w 1260"/>
              <a:gd name="T21" fmla="*/ 2147483646 h 284"/>
              <a:gd name="T22" fmla="*/ 2147483646 w 1260"/>
              <a:gd name="T23" fmla="*/ 2147483646 h 284"/>
              <a:gd name="T24" fmla="*/ 2147483646 w 1260"/>
              <a:gd name="T25" fmla="*/ 2147483646 h 284"/>
              <a:gd name="T26" fmla="*/ 2147483646 w 1260"/>
              <a:gd name="T27" fmla="*/ 2147483646 h 284"/>
              <a:gd name="T28" fmla="*/ 2147483646 w 1260"/>
              <a:gd name="T29" fmla="*/ 2147483646 h 284"/>
              <a:gd name="T30" fmla="*/ 2147483646 w 1260"/>
              <a:gd name="T31" fmla="*/ 2147483646 h 284"/>
              <a:gd name="T32" fmla="*/ 2147483646 w 1260"/>
              <a:gd name="T33" fmla="*/ 2147483646 h 284"/>
              <a:gd name="T34" fmla="*/ 2147483646 w 1260"/>
              <a:gd name="T35" fmla="*/ 2147483646 h 28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260"/>
              <a:gd name="T55" fmla="*/ 0 h 284"/>
              <a:gd name="T56" fmla="*/ 1260 w 1260"/>
              <a:gd name="T57" fmla="*/ 284 h 28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260" h="284">
                <a:moveTo>
                  <a:pt x="1172" y="240"/>
                </a:moveTo>
                <a:cubicBezTo>
                  <a:pt x="864" y="284"/>
                  <a:pt x="578" y="248"/>
                  <a:pt x="252" y="240"/>
                </a:cubicBezTo>
                <a:cubicBezTo>
                  <a:pt x="176" y="232"/>
                  <a:pt x="104" y="216"/>
                  <a:pt x="28" y="208"/>
                </a:cubicBezTo>
                <a:cubicBezTo>
                  <a:pt x="20" y="200"/>
                  <a:pt x="5" y="195"/>
                  <a:pt x="4" y="184"/>
                </a:cubicBezTo>
                <a:cubicBezTo>
                  <a:pt x="0" y="152"/>
                  <a:pt x="4" y="119"/>
                  <a:pt x="12" y="88"/>
                </a:cubicBezTo>
                <a:cubicBezTo>
                  <a:pt x="20" y="58"/>
                  <a:pt x="128" y="19"/>
                  <a:pt x="156" y="0"/>
                </a:cubicBezTo>
                <a:cubicBezTo>
                  <a:pt x="279" y="3"/>
                  <a:pt x="401" y="1"/>
                  <a:pt x="524" y="8"/>
                </a:cubicBezTo>
                <a:cubicBezTo>
                  <a:pt x="546" y="9"/>
                  <a:pt x="566" y="20"/>
                  <a:pt x="588" y="24"/>
                </a:cubicBezTo>
                <a:cubicBezTo>
                  <a:pt x="599" y="26"/>
                  <a:pt x="609" y="24"/>
                  <a:pt x="620" y="24"/>
                </a:cubicBezTo>
                <a:cubicBezTo>
                  <a:pt x="685" y="21"/>
                  <a:pt x="751" y="14"/>
                  <a:pt x="816" y="16"/>
                </a:cubicBezTo>
                <a:cubicBezTo>
                  <a:pt x="825" y="16"/>
                  <a:pt x="827" y="31"/>
                  <a:pt x="836" y="32"/>
                </a:cubicBezTo>
                <a:cubicBezTo>
                  <a:pt x="860" y="34"/>
                  <a:pt x="884" y="27"/>
                  <a:pt x="908" y="24"/>
                </a:cubicBezTo>
                <a:cubicBezTo>
                  <a:pt x="988" y="27"/>
                  <a:pt x="1068" y="24"/>
                  <a:pt x="1148" y="32"/>
                </a:cubicBezTo>
                <a:cubicBezTo>
                  <a:pt x="1173" y="35"/>
                  <a:pt x="1220" y="56"/>
                  <a:pt x="1220" y="56"/>
                </a:cubicBezTo>
                <a:cubicBezTo>
                  <a:pt x="1236" y="80"/>
                  <a:pt x="1244" y="104"/>
                  <a:pt x="1260" y="128"/>
                </a:cubicBezTo>
                <a:cubicBezTo>
                  <a:pt x="1256" y="150"/>
                  <a:pt x="1256" y="176"/>
                  <a:pt x="1236" y="192"/>
                </a:cubicBezTo>
                <a:cubicBezTo>
                  <a:pt x="1229" y="198"/>
                  <a:pt x="1167" y="220"/>
                  <a:pt x="1164" y="224"/>
                </a:cubicBezTo>
                <a:cubicBezTo>
                  <a:pt x="1161" y="229"/>
                  <a:pt x="1169" y="235"/>
                  <a:pt x="1172" y="240"/>
                </a:cubicBez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69745" name="AutoShape 17">
            <a:extLst>
              <a:ext uri="{FF2B5EF4-FFF2-40B4-BE49-F238E27FC236}">
                <a16:creationId xmlns:a16="http://schemas.microsoft.com/office/drawing/2014/main" id="{BEFA6B06-7A75-E643-B319-26068729E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538" y="4219575"/>
            <a:ext cx="2195512" cy="863600"/>
          </a:xfrm>
          <a:prstGeom prst="cloudCallout">
            <a:avLst>
              <a:gd name="adj1" fmla="val -33588"/>
              <a:gd name="adj2" fmla="val 171139"/>
            </a:avLst>
          </a:pr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子查询依赖于外层查询</a:t>
            </a:r>
          </a:p>
        </p:txBody>
      </p:sp>
      <p:sp>
        <p:nvSpPr>
          <p:cNvPr id="969746" name="Freeform 18">
            <a:extLst>
              <a:ext uri="{FF2B5EF4-FFF2-40B4-BE49-F238E27FC236}">
                <a16:creationId xmlns:a16="http://schemas.microsoft.com/office/drawing/2014/main" id="{653827C3-7828-844E-8733-04AD481D941D}"/>
              </a:ext>
            </a:extLst>
          </p:cNvPr>
          <p:cNvSpPr>
            <a:spLocks/>
          </p:cNvSpPr>
          <p:nvPr/>
        </p:nvSpPr>
        <p:spPr bwMode="auto">
          <a:xfrm>
            <a:off x="5641975" y="5853113"/>
            <a:ext cx="2397125" cy="450850"/>
          </a:xfrm>
          <a:custGeom>
            <a:avLst/>
            <a:gdLst>
              <a:gd name="T0" fmla="*/ 2147483646 w 1260"/>
              <a:gd name="T1" fmla="*/ 2147483646 h 284"/>
              <a:gd name="T2" fmla="*/ 2147483646 w 1260"/>
              <a:gd name="T3" fmla="*/ 2147483646 h 284"/>
              <a:gd name="T4" fmla="*/ 2147483646 w 1260"/>
              <a:gd name="T5" fmla="*/ 2147483646 h 284"/>
              <a:gd name="T6" fmla="*/ 2147483646 w 1260"/>
              <a:gd name="T7" fmla="*/ 2147483646 h 284"/>
              <a:gd name="T8" fmla="*/ 2147483646 w 1260"/>
              <a:gd name="T9" fmla="*/ 2147483646 h 284"/>
              <a:gd name="T10" fmla="*/ 2147483646 w 1260"/>
              <a:gd name="T11" fmla="*/ 0 h 284"/>
              <a:gd name="T12" fmla="*/ 2147483646 w 1260"/>
              <a:gd name="T13" fmla="*/ 2147483646 h 284"/>
              <a:gd name="T14" fmla="*/ 2147483646 w 1260"/>
              <a:gd name="T15" fmla="*/ 2147483646 h 284"/>
              <a:gd name="T16" fmla="*/ 2147483646 w 1260"/>
              <a:gd name="T17" fmla="*/ 2147483646 h 284"/>
              <a:gd name="T18" fmla="*/ 2147483646 w 1260"/>
              <a:gd name="T19" fmla="*/ 2147483646 h 284"/>
              <a:gd name="T20" fmla="*/ 2147483646 w 1260"/>
              <a:gd name="T21" fmla="*/ 2147483646 h 284"/>
              <a:gd name="T22" fmla="*/ 2147483646 w 1260"/>
              <a:gd name="T23" fmla="*/ 2147483646 h 284"/>
              <a:gd name="T24" fmla="*/ 2147483646 w 1260"/>
              <a:gd name="T25" fmla="*/ 2147483646 h 284"/>
              <a:gd name="T26" fmla="*/ 2147483646 w 1260"/>
              <a:gd name="T27" fmla="*/ 2147483646 h 284"/>
              <a:gd name="T28" fmla="*/ 2147483646 w 1260"/>
              <a:gd name="T29" fmla="*/ 2147483646 h 284"/>
              <a:gd name="T30" fmla="*/ 2147483646 w 1260"/>
              <a:gd name="T31" fmla="*/ 2147483646 h 284"/>
              <a:gd name="T32" fmla="*/ 2147483646 w 1260"/>
              <a:gd name="T33" fmla="*/ 2147483646 h 284"/>
              <a:gd name="T34" fmla="*/ 2147483646 w 1260"/>
              <a:gd name="T35" fmla="*/ 2147483646 h 28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260"/>
              <a:gd name="T55" fmla="*/ 0 h 284"/>
              <a:gd name="T56" fmla="*/ 1260 w 1260"/>
              <a:gd name="T57" fmla="*/ 284 h 284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260" h="284">
                <a:moveTo>
                  <a:pt x="1172" y="240"/>
                </a:moveTo>
                <a:cubicBezTo>
                  <a:pt x="864" y="284"/>
                  <a:pt x="578" y="248"/>
                  <a:pt x="252" y="240"/>
                </a:cubicBezTo>
                <a:cubicBezTo>
                  <a:pt x="176" y="232"/>
                  <a:pt x="104" y="216"/>
                  <a:pt x="28" y="208"/>
                </a:cubicBezTo>
                <a:cubicBezTo>
                  <a:pt x="20" y="200"/>
                  <a:pt x="5" y="195"/>
                  <a:pt x="4" y="184"/>
                </a:cubicBezTo>
                <a:cubicBezTo>
                  <a:pt x="0" y="152"/>
                  <a:pt x="4" y="119"/>
                  <a:pt x="12" y="88"/>
                </a:cubicBezTo>
                <a:cubicBezTo>
                  <a:pt x="20" y="58"/>
                  <a:pt x="128" y="19"/>
                  <a:pt x="156" y="0"/>
                </a:cubicBezTo>
                <a:cubicBezTo>
                  <a:pt x="279" y="3"/>
                  <a:pt x="401" y="1"/>
                  <a:pt x="524" y="8"/>
                </a:cubicBezTo>
                <a:cubicBezTo>
                  <a:pt x="546" y="9"/>
                  <a:pt x="566" y="20"/>
                  <a:pt x="588" y="24"/>
                </a:cubicBezTo>
                <a:cubicBezTo>
                  <a:pt x="599" y="26"/>
                  <a:pt x="609" y="24"/>
                  <a:pt x="620" y="24"/>
                </a:cubicBezTo>
                <a:cubicBezTo>
                  <a:pt x="685" y="21"/>
                  <a:pt x="751" y="14"/>
                  <a:pt x="816" y="16"/>
                </a:cubicBezTo>
                <a:cubicBezTo>
                  <a:pt x="825" y="16"/>
                  <a:pt x="827" y="31"/>
                  <a:pt x="836" y="32"/>
                </a:cubicBezTo>
                <a:cubicBezTo>
                  <a:pt x="860" y="34"/>
                  <a:pt x="884" y="27"/>
                  <a:pt x="908" y="24"/>
                </a:cubicBezTo>
                <a:cubicBezTo>
                  <a:pt x="988" y="27"/>
                  <a:pt x="1068" y="24"/>
                  <a:pt x="1148" y="32"/>
                </a:cubicBezTo>
                <a:cubicBezTo>
                  <a:pt x="1173" y="35"/>
                  <a:pt x="1220" y="56"/>
                  <a:pt x="1220" y="56"/>
                </a:cubicBezTo>
                <a:cubicBezTo>
                  <a:pt x="1236" y="80"/>
                  <a:pt x="1244" y="104"/>
                  <a:pt x="1260" y="128"/>
                </a:cubicBezTo>
                <a:cubicBezTo>
                  <a:pt x="1256" y="150"/>
                  <a:pt x="1256" y="176"/>
                  <a:pt x="1236" y="192"/>
                </a:cubicBezTo>
                <a:cubicBezTo>
                  <a:pt x="1229" y="198"/>
                  <a:pt x="1167" y="220"/>
                  <a:pt x="1164" y="224"/>
                </a:cubicBezTo>
                <a:cubicBezTo>
                  <a:pt x="1161" y="229"/>
                  <a:pt x="1169" y="235"/>
                  <a:pt x="1172" y="240"/>
                </a:cubicBezTo>
                <a:close/>
              </a:path>
            </a:pathLst>
          </a:custGeom>
          <a:noFill/>
          <a:ln w="28575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48B75B6E-5AB2-9353-9FD6-2D14C91BC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667" y="2797149"/>
            <a:ext cx="1644200" cy="78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28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6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6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69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6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69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6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6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6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96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4" grpId="0"/>
      <p:bldP spid="969736" grpId="0" animBg="1"/>
      <p:bldP spid="969737" grpId="0" animBg="1"/>
      <p:bldP spid="969738" grpId="0" animBg="1"/>
      <p:bldP spid="969740" grpId="0"/>
      <p:bldP spid="969741" grpId="0"/>
      <p:bldP spid="969743" grpId="0" animBg="1"/>
      <p:bldP spid="969745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32AF50-5C46-632C-EE7F-58BA335E176D}"/>
              </a:ext>
            </a:extLst>
          </p:cNvPr>
          <p:cNvSpPr txBox="1"/>
          <p:nvPr/>
        </p:nvSpPr>
        <p:spPr>
          <a:xfrm>
            <a:off x="577825" y="1271428"/>
            <a:ext cx="7988350" cy="5299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解题思路：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0000"/>
              <a:buFont typeface="宋体" charset="-122"/>
              <a:buChar char="●"/>
            </a:pP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用逻辑蕴函表达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：查询学号为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x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的学生，对所有的课程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，只要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S2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学生选修了课程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，则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x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也选修了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。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0000"/>
              <a:buFont typeface="宋体" charset="-122"/>
              <a:buChar char="●"/>
            </a:pP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形式化表示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：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</a:rPr>
              <a:t>	用</a:t>
            </a:r>
            <a:r>
              <a:rPr lang="en-US" altLang="zh-CN" sz="2400" b="1" dirty="0">
                <a:solidFill>
                  <a:schemeClr val="bg2"/>
                </a:solidFill>
              </a:rPr>
              <a:t>P</a:t>
            </a:r>
            <a:r>
              <a:rPr lang="zh-CN" altLang="en-US" sz="2400" b="1" dirty="0">
                <a:solidFill>
                  <a:schemeClr val="bg2"/>
                </a:solidFill>
              </a:rPr>
              <a:t>表示谓词 “学生</a:t>
            </a:r>
            <a:r>
              <a:rPr lang="en-US" altLang="zh-CN" sz="2400" b="1" dirty="0">
                <a:solidFill>
                  <a:schemeClr val="bg2"/>
                </a:solidFill>
              </a:rPr>
              <a:t>S2</a:t>
            </a:r>
            <a:r>
              <a:rPr lang="zh-CN" altLang="en-US" sz="2400" b="1" dirty="0">
                <a:solidFill>
                  <a:schemeClr val="bg2"/>
                </a:solidFill>
              </a:rPr>
              <a:t>选修了课程</a:t>
            </a:r>
            <a:r>
              <a:rPr lang="en-US" altLang="zh-CN" sz="2400" b="1" dirty="0">
                <a:solidFill>
                  <a:schemeClr val="bg2"/>
                </a:solidFill>
              </a:rPr>
              <a:t>y”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	</a:t>
            </a:r>
            <a:r>
              <a:rPr lang="zh-CN" altLang="en-US" sz="2400" b="1" dirty="0">
                <a:solidFill>
                  <a:schemeClr val="bg2"/>
                </a:solidFill>
              </a:rPr>
              <a:t>用</a:t>
            </a:r>
            <a:r>
              <a:rPr lang="en-US" altLang="zh-CN" sz="2400" b="1" dirty="0">
                <a:solidFill>
                  <a:schemeClr val="bg2"/>
                </a:solidFill>
              </a:rPr>
              <a:t>q</a:t>
            </a:r>
            <a:r>
              <a:rPr lang="zh-CN" altLang="en-US" sz="2400" b="1" dirty="0">
                <a:solidFill>
                  <a:schemeClr val="bg2"/>
                </a:solidFill>
              </a:rPr>
              <a:t>表示谓词 “学生</a:t>
            </a:r>
            <a:r>
              <a:rPr lang="en-US" altLang="zh-CN" sz="2400" b="1" dirty="0">
                <a:solidFill>
                  <a:schemeClr val="bg2"/>
                </a:solidFill>
              </a:rPr>
              <a:t>x</a:t>
            </a:r>
            <a:r>
              <a:rPr lang="zh-CN" altLang="en-US" sz="2400" b="1" dirty="0">
                <a:solidFill>
                  <a:schemeClr val="bg2"/>
                </a:solidFill>
              </a:rPr>
              <a:t>选修了课程</a:t>
            </a:r>
            <a:r>
              <a:rPr lang="en-US" altLang="zh-CN" sz="2400" b="1" dirty="0">
                <a:solidFill>
                  <a:schemeClr val="bg2"/>
                </a:solidFill>
              </a:rPr>
              <a:t>y”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	</a:t>
            </a:r>
            <a:r>
              <a:rPr lang="zh-CN" altLang="en-US" sz="2400" b="1" dirty="0">
                <a:solidFill>
                  <a:schemeClr val="bg2"/>
                </a:solidFill>
              </a:rPr>
              <a:t>则上述查询为</a:t>
            </a:r>
            <a:r>
              <a:rPr lang="en-US" altLang="zh-CN" sz="2400" b="1" dirty="0">
                <a:solidFill>
                  <a:schemeClr val="bg2"/>
                </a:solidFill>
              </a:rPr>
              <a:t>: (</a:t>
            </a:r>
            <a:r>
              <a:rPr lang="en-US" altLang="zh-CN" sz="2400" b="1" dirty="0">
                <a:solidFill>
                  <a:schemeClr val="bg2"/>
                </a:solidFill>
                <a:sym typeface="Symbol" pitchFamily="18" charset="2"/>
              </a:rPr>
              <a:t></a:t>
            </a:r>
            <a:r>
              <a:rPr lang="en-US" altLang="zh-CN" sz="2400" b="1" dirty="0">
                <a:solidFill>
                  <a:schemeClr val="bg2"/>
                </a:solidFill>
              </a:rPr>
              <a:t>y) p </a:t>
            </a:r>
            <a:r>
              <a:rPr lang="en-US" altLang="zh-CN" sz="2400" b="1" dirty="0">
                <a:solidFill>
                  <a:schemeClr val="bg2"/>
                </a:solidFill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chemeClr val="bg2"/>
                </a:solidFill>
              </a:rPr>
              <a:t> q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0000"/>
              <a:buFont typeface="宋体" charset="-122"/>
              <a:buChar char="●"/>
            </a:pP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等价变换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：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    	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y)p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q  ≡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(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 (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(p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q ))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            ≡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(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 (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(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p∨ q)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              ≡ 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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y(p∧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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q)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0000"/>
              <a:buFont typeface="宋体" charset="-122"/>
              <a:buChar char="●"/>
            </a:pPr>
            <a:r>
              <a:rPr lang="zh-CN" altLang="en-US" sz="2400" b="1" dirty="0">
                <a:solidFill>
                  <a:schemeClr val="bg1"/>
                </a:solidFill>
                <a:latin typeface="Times New Roman" pitchFamily="18" charset="0"/>
              </a:rPr>
              <a:t>变换后语义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：不存在这样的课程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，学生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S2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选修了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，而学生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x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没有选。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04445AF-41E2-F741-B92B-B9B22FF46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975C0B1-4604-C447-B9BC-D44D8477B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2" y="260350"/>
            <a:ext cx="8963994" cy="50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kern="0" dirty="0">
                <a:solidFill>
                  <a:srgbClr val="660033"/>
                </a:solidFill>
              </a:rPr>
              <a:t>例： 查询至少选修了学生</a:t>
            </a:r>
            <a:r>
              <a:rPr lang="en-US" altLang="zh-CN" sz="2800" b="1" kern="0" dirty="0">
                <a:solidFill>
                  <a:srgbClr val="660033"/>
                </a:solidFill>
              </a:rPr>
              <a:t>S2</a:t>
            </a:r>
            <a:r>
              <a:rPr lang="zh-CN" altLang="en-US" sz="2800" b="1" kern="0" dirty="0">
                <a:solidFill>
                  <a:srgbClr val="660033"/>
                </a:solidFill>
              </a:rPr>
              <a:t>选修的全部课程的学生号码。</a:t>
            </a:r>
          </a:p>
        </p:txBody>
      </p:sp>
    </p:spTree>
    <p:extLst>
      <p:ext uri="{BB962C8B-B14F-4D97-AF65-F5344CB8AC3E}">
        <p14:creationId xmlns:p14="http://schemas.microsoft.com/office/powerpoint/2010/main" val="67591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19934"/>
            <a:ext cx="4536504" cy="4751809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SELECT DISTINCT X.SNO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FROM SC X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WHERE NOT EXISTS (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SELECT *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FROM SC Y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WHERE Y.SNO = 'S2'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AND NOT EXISTS (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    SELECT *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    FROM SC Z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    WHERE Z.SNO = X.SNO</a:t>
            </a:r>
          </a:p>
          <a:p>
            <a:pPr algn="just" eaLnBrk="1" hangingPunct="1">
              <a:lnSpc>
                <a:spcPct val="90000"/>
              </a:lnSpc>
              <a:buSzPct val="50000"/>
              <a:buFont typeface="宋体" charset="-122"/>
              <a:buNone/>
            </a:pPr>
            <a:r>
              <a:rPr lang="en-US" altLang="zh-CN" sz="2400" b="1" dirty="0">
                <a:solidFill>
                  <a:schemeClr val="bg2"/>
                </a:solidFill>
                <a:latin typeface="+mn-ea"/>
              </a:rPr>
              <a:t>        AND Z.CNO = Y.CNO));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38BF07C-5D7D-3E48-5ECD-5748161B0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019819"/>
            <a:ext cx="3887938" cy="47519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7C2E86-AEB6-B143-81F8-27DCFE36AD74}"/>
              </a:ext>
            </a:extLst>
          </p:cNvPr>
          <p:cNvSpPr txBox="1"/>
          <p:nvPr/>
        </p:nvSpPr>
        <p:spPr>
          <a:xfrm>
            <a:off x="899592" y="6021288"/>
            <a:ext cx="7920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不存在这样的课程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，学生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S2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选修了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y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，而学生</a:t>
            </a:r>
            <a:r>
              <a:rPr lang="en-US" altLang="zh-CN" sz="2400" b="1" dirty="0">
                <a:solidFill>
                  <a:schemeClr val="bg2"/>
                </a:solidFill>
                <a:latin typeface="Times New Roman" pitchFamily="18" charset="0"/>
              </a:rPr>
              <a:t>x</a:t>
            </a:r>
            <a:r>
              <a:rPr lang="zh-CN" altLang="en-US" sz="2400" b="1" dirty="0">
                <a:solidFill>
                  <a:schemeClr val="bg2"/>
                </a:solidFill>
                <a:latin typeface="Times New Roman" pitchFamily="18" charset="0"/>
              </a:rPr>
              <a:t>没有选。</a:t>
            </a:r>
            <a:endParaRPr lang="zh-CN" altLang="en-US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30ACDB9-A103-7C42-A283-AA407F0C6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2" y="260350"/>
            <a:ext cx="8963994" cy="509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l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l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sz="2800" b="1" kern="0" dirty="0">
                <a:solidFill>
                  <a:srgbClr val="660033"/>
                </a:solidFill>
              </a:rPr>
              <a:t>例： 查询至少选修了学生</a:t>
            </a:r>
            <a:r>
              <a:rPr lang="en-US" altLang="zh-CN" sz="2800" b="1" kern="0" dirty="0">
                <a:solidFill>
                  <a:srgbClr val="660033"/>
                </a:solidFill>
              </a:rPr>
              <a:t>S2</a:t>
            </a:r>
            <a:r>
              <a:rPr lang="zh-CN" altLang="en-US" sz="2800" b="1" kern="0" dirty="0">
                <a:solidFill>
                  <a:srgbClr val="660033"/>
                </a:solidFill>
              </a:rPr>
              <a:t>选修的全部课程的学生号码。</a:t>
            </a:r>
          </a:p>
        </p:txBody>
      </p:sp>
    </p:spTree>
    <p:extLst>
      <p:ext uri="{BB962C8B-B14F-4D97-AF65-F5344CB8AC3E}">
        <p14:creationId xmlns:p14="http://schemas.microsoft.com/office/powerpoint/2010/main" val="384613641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404813"/>
            <a:ext cx="7772400" cy="1295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b="1">
                <a:solidFill>
                  <a:srgbClr val="660033"/>
                </a:solidFill>
                <a:latin typeface="宋体" charset="-122"/>
              </a:rPr>
              <a:t>例：查询选修了全部课程的学生姓名</a:t>
            </a:r>
            <a:r>
              <a:rPr lang="zh-CN" altLang="en-US" sz="2800" b="1">
                <a:solidFill>
                  <a:schemeClr val="bg2"/>
                </a:solidFill>
                <a:latin typeface="宋体" charset="-122"/>
              </a:rPr>
              <a:t>。</a:t>
            </a:r>
          </a:p>
        </p:txBody>
      </p:sp>
      <p:sp>
        <p:nvSpPr>
          <p:cNvPr id="994309" name="Rectangle 5"/>
          <p:cNvSpPr>
            <a:spLocks noChangeArrowheads="1"/>
          </p:cNvSpPr>
          <p:nvPr/>
        </p:nvSpPr>
        <p:spPr bwMode="auto">
          <a:xfrm>
            <a:off x="223912" y="1371600"/>
            <a:ext cx="4751759" cy="411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/>
          <a:lstStyle/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SELECT SNAME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FROM S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WHERE NOT EXISTS (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SELECT *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FROM C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WHERE NOT EXISTS (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    SELECT *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    FROM SC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    WHERE SC.SNO = S.SNO</a:t>
            </a:r>
          </a:p>
          <a:p>
            <a:pPr marL="342900" indent="-342900"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bg2"/>
                </a:solidFill>
              </a:rPr>
              <a:t>        AND SC.CNO = C.CNO));</a:t>
            </a:r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7594371D-91F3-6D95-8204-F2CE0AE7B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552" y="2240868"/>
            <a:ext cx="3937005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4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94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94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4307" grpId="0" build="p"/>
      <p:bldP spid="994309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476250"/>
            <a:ext cx="7772400" cy="7921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宋体" charset="-122"/>
              <a:buNone/>
            </a:pPr>
            <a:r>
              <a:rPr lang="zh-CN" altLang="en-US" sz="2400" b="1" dirty="0">
                <a:solidFill>
                  <a:srgbClr val="660033"/>
                </a:solidFill>
              </a:rPr>
              <a:t>查询与“李名”在同一个系学习的学生</a:t>
            </a:r>
            <a:r>
              <a:rPr lang="zh-CN" altLang="en-US" sz="2400" b="1" dirty="0">
                <a:solidFill>
                  <a:schemeClr val="bg2"/>
                </a:solidFill>
              </a:rPr>
              <a:t>。</a:t>
            </a:r>
            <a:endParaRPr lang="zh-CN" altLang="en-US" sz="2000" b="1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Font typeface="宋体" charset="-122"/>
              <a:buNone/>
            </a:pPr>
            <a:r>
              <a:rPr lang="zh-CN" altLang="en-US" sz="2000" b="1" dirty="0">
                <a:solidFill>
                  <a:schemeClr val="bg2"/>
                </a:solidFill>
              </a:rPr>
              <a:t>     </a:t>
            </a:r>
            <a:endParaRPr lang="zh-CN" altLang="en-US" sz="1600" b="1" dirty="0">
              <a:solidFill>
                <a:schemeClr val="bg2"/>
              </a:solidFill>
            </a:endParaRPr>
          </a:p>
        </p:txBody>
      </p:sp>
      <p:sp>
        <p:nvSpPr>
          <p:cNvPr id="973830" name="Rectangle 6"/>
          <p:cNvSpPr>
            <a:spLocks noChangeArrowheads="1"/>
          </p:cNvSpPr>
          <p:nvPr/>
        </p:nvSpPr>
        <p:spPr bwMode="auto">
          <a:xfrm>
            <a:off x="395536" y="5348287"/>
            <a:ext cx="508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just">
              <a:spcBef>
                <a:spcPct val="20000"/>
              </a:spcBef>
              <a:buClr>
                <a:schemeClr val="accent2"/>
              </a:buClr>
              <a:buSzPct val="80000"/>
              <a:buFont typeface="宋体" charset="-122"/>
              <a:buNone/>
            </a:pPr>
            <a:r>
              <a:rPr lang="zh-CN" altLang="en-US" sz="2400" b="1" dirty="0">
                <a:solidFill>
                  <a:srgbClr val="003399"/>
                </a:solidFill>
              </a:rPr>
              <a:t>注意：子查询一定要跟在比较符之后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D66DE6A-699F-9F37-A282-8209CD099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36" y="1485098"/>
            <a:ext cx="5185196" cy="2788456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SELECT SNO, SNAME, SDEPT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WHERE SDEPT IN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(SELECT SDEPT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FROM S</a:t>
            </a:r>
          </a:p>
          <a:p>
            <a:pPr algn="just">
              <a:lnSpc>
                <a:spcPct val="8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2"/>
                </a:solidFill>
              </a:rPr>
              <a:t>          WHERE SNAME</a:t>
            </a:r>
            <a:r>
              <a:rPr lang="zh-CN" altLang="en-US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</a:rPr>
              <a:t>=</a:t>
            </a:r>
            <a:r>
              <a:rPr lang="en-US" altLang="zh-CN" sz="2400" b="1" dirty="0">
                <a:solidFill>
                  <a:schemeClr val="bg2"/>
                </a:solidFill>
              </a:rPr>
              <a:t> 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zh-CN" altLang="en-US" sz="2400" b="1" dirty="0">
                <a:solidFill>
                  <a:schemeClr val="bg2"/>
                </a:solidFill>
                <a:sym typeface="Symbol" pitchFamily="2" charset="2"/>
              </a:rPr>
              <a:t>李名</a:t>
            </a:r>
            <a:r>
              <a:rPr lang="en-US" altLang="zh-CN" sz="2400" b="1" dirty="0">
                <a:solidFill>
                  <a:schemeClr val="bg2"/>
                </a:solidFill>
                <a:latin typeface="宋体" panose="02010600030101010101" pitchFamily="2" charset="-122"/>
                <a:sym typeface="Symbol" pitchFamily="2" charset="2"/>
              </a:rPr>
              <a:t>'</a:t>
            </a:r>
            <a:r>
              <a:rPr lang="en-US" altLang="zh-CN" sz="2400" b="1" dirty="0">
                <a:solidFill>
                  <a:schemeClr val="bg2"/>
                </a:solidFill>
              </a:rPr>
              <a:t>)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sym typeface="Symbol" pitchFamily="2" charset="2"/>
              </a:rPr>
              <a:t>;</a:t>
            </a:r>
            <a:endParaRPr lang="zh-CN" altLang="en-US" sz="2400" b="1" dirty="0">
              <a:solidFill>
                <a:schemeClr val="bg2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911C71-B6D5-C361-C8B4-26671EAE8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3432" y="1484784"/>
            <a:ext cx="3743064" cy="278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0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73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73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827" grpId="0" build="p"/>
      <p:bldP spid="973830" grpId="0"/>
      <p:bldP spid="2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一、</a:t>
            </a:r>
            <a:r>
              <a:rPr lang="en-US" altLang="zh-CN" sz="2800" b="1" dirty="0">
                <a:solidFill>
                  <a:schemeClr val="bg1"/>
                </a:solidFill>
              </a:rPr>
              <a:t>Java</a:t>
            </a:r>
            <a:r>
              <a:rPr lang="zh-CN" altLang="en-US" sz="2800" b="1" dirty="0">
                <a:solidFill>
                  <a:schemeClr val="bg1"/>
                </a:solidFill>
              </a:rPr>
              <a:t>嵌入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79213" y="980728"/>
            <a:ext cx="7992888" cy="1113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en-US" altLang="zh-CN" sz="2400" dirty="0">
                <a:solidFill>
                  <a:schemeClr val="bg2"/>
                </a:solidFill>
              </a:rPr>
              <a:t>JDBC </a:t>
            </a:r>
            <a:r>
              <a:rPr lang="zh-CN" altLang="en-US" sz="2400" dirty="0">
                <a:solidFill>
                  <a:schemeClr val="bg2"/>
                </a:solidFill>
              </a:rPr>
              <a:t>是基于 </a:t>
            </a:r>
            <a:r>
              <a:rPr lang="en-US" altLang="zh-CN" sz="2400" dirty="0">
                <a:solidFill>
                  <a:schemeClr val="bg2"/>
                </a:solidFill>
              </a:rPr>
              <a:t>Java </a:t>
            </a:r>
            <a:r>
              <a:rPr lang="zh-CN" altLang="en-US" sz="2400" dirty="0">
                <a:solidFill>
                  <a:schemeClr val="bg2"/>
                </a:solidFill>
              </a:rPr>
              <a:t>的标准接口，它提供了一组接口和类，可以让 </a:t>
            </a:r>
            <a:r>
              <a:rPr lang="en-US" altLang="zh-CN" sz="2400" dirty="0">
                <a:solidFill>
                  <a:schemeClr val="bg2"/>
                </a:solidFill>
              </a:rPr>
              <a:t>Java </a:t>
            </a:r>
            <a:r>
              <a:rPr lang="zh-CN" altLang="en-US" sz="2400" dirty="0">
                <a:solidFill>
                  <a:schemeClr val="bg2"/>
                </a:solidFill>
              </a:rPr>
              <a:t>应用程序与各个数据库进行交互。</a:t>
            </a:r>
            <a:endParaRPr lang="en-US" altLang="zh-CN" sz="24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99592" y="2564904"/>
            <a:ext cx="79928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2"/>
                </a:solidFill>
              </a:rPr>
              <a:t>JDBC </a:t>
            </a:r>
            <a:r>
              <a:rPr lang="zh-CN" altLang="en-US" sz="2400" dirty="0">
                <a:solidFill>
                  <a:schemeClr val="bg2"/>
                </a:solidFill>
              </a:rPr>
              <a:t>的工作原理：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bg2"/>
                </a:solidFill>
              </a:rPr>
              <a:t>加载数据库驱动程序；</a:t>
            </a:r>
            <a:endParaRPr lang="en-US" altLang="zh-CN" sz="2400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bg2"/>
                </a:solidFill>
              </a:rPr>
              <a:t>连接数据库；</a:t>
            </a:r>
            <a:endParaRPr lang="en-US" altLang="zh-CN" sz="2400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bg2"/>
                </a:solidFill>
              </a:rPr>
              <a:t>执行</a:t>
            </a:r>
            <a:r>
              <a:rPr lang="en-US" altLang="zh-CN" sz="2400" dirty="0">
                <a:solidFill>
                  <a:schemeClr val="bg2"/>
                </a:solidFill>
              </a:rPr>
              <a:t>SQL</a:t>
            </a:r>
            <a:r>
              <a:rPr lang="zh-CN" altLang="en-US" sz="2400" dirty="0">
                <a:solidFill>
                  <a:schemeClr val="bg2"/>
                </a:solidFill>
              </a:rPr>
              <a:t>语句；</a:t>
            </a:r>
            <a:endParaRPr lang="en-US" altLang="zh-CN" sz="2400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solidFill>
                  <a:schemeClr val="bg2"/>
                </a:solidFill>
              </a:rPr>
              <a:t>关闭连接。</a:t>
            </a:r>
          </a:p>
        </p:txBody>
      </p:sp>
    </p:spTree>
    <p:extLst>
      <p:ext uri="{BB962C8B-B14F-4D97-AF65-F5344CB8AC3E}">
        <p14:creationId xmlns:p14="http://schemas.microsoft.com/office/powerpoint/2010/main" val="55548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一、</a:t>
            </a:r>
            <a:r>
              <a:rPr lang="en-US" altLang="zh-CN" sz="2800" b="1" dirty="0">
                <a:solidFill>
                  <a:schemeClr val="bg1"/>
                </a:solidFill>
              </a:rPr>
              <a:t>Java</a:t>
            </a:r>
            <a:r>
              <a:rPr lang="zh-CN" altLang="en-US" sz="2800" b="1" dirty="0">
                <a:solidFill>
                  <a:schemeClr val="bg1"/>
                </a:solidFill>
              </a:rPr>
              <a:t>嵌入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5536" y="692696"/>
            <a:ext cx="8640960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import </a:t>
            </a:r>
            <a:r>
              <a:rPr lang="en-US" altLang="zh-CN" dirty="0" err="1">
                <a:solidFill>
                  <a:schemeClr val="bg2"/>
                </a:solidFill>
              </a:rPr>
              <a:t>java.sql.Connection</a:t>
            </a:r>
            <a:r>
              <a:rPr lang="en-US" altLang="zh-CN" dirty="0">
                <a:solidFill>
                  <a:schemeClr val="bg2"/>
                </a:solidFill>
              </a:rPr>
              <a:t>;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import </a:t>
            </a:r>
            <a:r>
              <a:rPr lang="en-US" altLang="zh-CN" dirty="0" err="1">
                <a:solidFill>
                  <a:schemeClr val="bg2"/>
                </a:solidFill>
              </a:rPr>
              <a:t>java.sql.DriverManager</a:t>
            </a:r>
            <a:r>
              <a:rPr lang="en-US" altLang="zh-CN" dirty="0">
                <a:solidFill>
                  <a:schemeClr val="bg2"/>
                </a:solidFill>
              </a:rPr>
              <a:t>;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 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try{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dirty="0" err="1">
                <a:solidFill>
                  <a:schemeClr val="bg2"/>
                </a:solidFill>
              </a:rPr>
              <a:t>Class.forName</a:t>
            </a:r>
            <a:r>
              <a:rPr lang="en-US" altLang="zh-CN" dirty="0">
                <a:solidFill>
                  <a:schemeClr val="bg2"/>
                </a:solidFill>
              </a:rPr>
              <a:t>(“</a:t>
            </a:r>
            <a:r>
              <a:rPr lang="en-US" altLang="zh-CN" dirty="0" err="1">
                <a:solidFill>
                  <a:schemeClr val="bg2"/>
                </a:solidFill>
              </a:rPr>
              <a:t>com.mysql.jdbc.Driver</a:t>
            </a:r>
            <a:r>
              <a:rPr lang="en-US" altLang="zh-CN" dirty="0">
                <a:solidFill>
                  <a:schemeClr val="bg2"/>
                </a:solidFill>
              </a:rPr>
              <a:t>”);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b="1" dirty="0">
                <a:solidFill>
                  <a:srgbClr val="C00000"/>
                </a:solidFill>
              </a:rPr>
              <a:t>Connection</a:t>
            </a:r>
            <a:r>
              <a:rPr lang="en-US" altLang="zh-CN" dirty="0">
                <a:solidFill>
                  <a:schemeClr val="bg2"/>
                </a:solidFill>
              </a:rPr>
              <a:t> conn=</a:t>
            </a:r>
            <a:r>
              <a:rPr lang="en-US" altLang="zh-CN" dirty="0" err="1">
                <a:solidFill>
                  <a:schemeClr val="bg2"/>
                </a:solidFill>
              </a:rPr>
              <a:t>DriverManager.getConnection</a:t>
            </a:r>
            <a:r>
              <a:rPr lang="en-US" altLang="zh-CN" dirty="0">
                <a:solidFill>
                  <a:schemeClr val="bg2"/>
                </a:solidFill>
              </a:rPr>
              <a:t>(“</a:t>
            </a:r>
            <a:r>
              <a:rPr lang="en-US" altLang="zh-CN" dirty="0" err="1">
                <a:solidFill>
                  <a:schemeClr val="bg2"/>
                </a:solidFill>
              </a:rPr>
              <a:t>jdvc.mysql</a:t>
            </a:r>
            <a:r>
              <a:rPr lang="en-US" altLang="zh-CN" dirty="0">
                <a:solidFill>
                  <a:schemeClr val="bg2"/>
                </a:solidFill>
              </a:rPr>
              <a:t>://localhost:3306/myslq3”,”root”,”password”);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}catch</a:t>
            </a:r>
            <a:r>
              <a:rPr lang="zh-CN" altLang="zh-CN" dirty="0">
                <a:solidFill>
                  <a:schemeClr val="bg2"/>
                </a:solidFill>
              </a:rPr>
              <a:t>（</a:t>
            </a:r>
            <a:r>
              <a:rPr lang="en-US" altLang="zh-CN" dirty="0" err="1">
                <a:solidFill>
                  <a:schemeClr val="bg2"/>
                </a:solidFill>
              </a:rPr>
              <a:t>ClassNotFoundException</a:t>
            </a:r>
            <a:r>
              <a:rPr lang="en-US" altLang="zh-CN" dirty="0">
                <a:solidFill>
                  <a:schemeClr val="bg2"/>
                </a:solidFill>
              </a:rPr>
              <a:t> e</a:t>
            </a:r>
            <a:r>
              <a:rPr lang="zh-CN" altLang="zh-CN" dirty="0">
                <a:solidFill>
                  <a:schemeClr val="bg2"/>
                </a:solidFill>
              </a:rPr>
              <a:t>）</a:t>
            </a:r>
            <a:r>
              <a:rPr lang="en-US" altLang="zh-CN" dirty="0">
                <a:solidFill>
                  <a:schemeClr val="bg2"/>
                </a:solidFill>
              </a:rPr>
              <a:t>{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  	</a:t>
            </a:r>
            <a:r>
              <a:rPr lang="en-US" altLang="zh-CN" dirty="0" err="1">
                <a:solidFill>
                  <a:schemeClr val="bg2"/>
                </a:solidFill>
              </a:rPr>
              <a:t>e.printStackTrace</a:t>
            </a:r>
            <a:r>
              <a:rPr lang="en-US" altLang="zh-CN" dirty="0">
                <a:solidFill>
                  <a:schemeClr val="bg2"/>
                </a:solidFill>
              </a:rPr>
              <a:t>();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	}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b="1" dirty="0">
                <a:solidFill>
                  <a:srgbClr val="C00000"/>
                </a:solidFill>
              </a:rPr>
              <a:t>Statement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dirty="0" err="1">
                <a:solidFill>
                  <a:schemeClr val="bg2"/>
                </a:solidFill>
              </a:rPr>
              <a:t>stmt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en-US" altLang="zh-CN" dirty="0" err="1">
                <a:solidFill>
                  <a:schemeClr val="bg2"/>
                </a:solidFill>
              </a:rPr>
              <a:t>conn.createStatement</a:t>
            </a:r>
            <a:r>
              <a:rPr lang="en-US" altLang="zh-CN" dirty="0">
                <a:solidFill>
                  <a:schemeClr val="bg2"/>
                </a:solidFill>
              </a:rPr>
              <a:t>();		</a:t>
            </a:r>
            <a:r>
              <a:rPr lang="en-US" altLang="zh-CN" dirty="0" err="1">
                <a:solidFill>
                  <a:schemeClr val="bg2"/>
                </a:solidFill>
              </a:rPr>
              <a:t>SQLException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 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Statement</a:t>
            </a:r>
            <a:r>
              <a:rPr lang="zh-CN" altLang="zh-CN" dirty="0">
                <a:solidFill>
                  <a:schemeClr val="bg2"/>
                </a:solidFill>
              </a:rPr>
              <a:t>接口提供三种执行</a:t>
            </a:r>
            <a:r>
              <a:rPr lang="en-US" altLang="zh-CN" dirty="0">
                <a:solidFill>
                  <a:schemeClr val="bg2"/>
                </a:solidFill>
              </a:rPr>
              <a:t>SQL</a:t>
            </a:r>
            <a:r>
              <a:rPr lang="zh-CN" altLang="zh-CN" dirty="0">
                <a:solidFill>
                  <a:schemeClr val="bg2"/>
                </a:solidFill>
              </a:rPr>
              <a:t>语句方法：</a:t>
            </a:r>
            <a:r>
              <a:rPr lang="en-US" altLang="zh-CN" dirty="0" err="1">
                <a:solidFill>
                  <a:schemeClr val="bg2"/>
                </a:solidFill>
              </a:rPr>
              <a:t>PreparedStatement,CallableStatement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 err="1">
                <a:solidFill>
                  <a:schemeClr val="bg2"/>
                </a:solidFill>
              </a:rPr>
              <a:t>executeQuery</a:t>
            </a:r>
            <a:r>
              <a:rPr lang="en-US" altLang="zh-CN" dirty="0">
                <a:solidFill>
                  <a:schemeClr val="bg2"/>
                </a:solidFill>
              </a:rPr>
              <a:t>(</a:t>
            </a:r>
            <a:r>
              <a:rPr lang="zh-CN" altLang="en-US" dirty="0">
                <a:solidFill>
                  <a:schemeClr val="bg2"/>
                </a:solidFill>
              </a:rPr>
              <a:t>“</a:t>
            </a:r>
            <a:r>
              <a:rPr lang="en-US" altLang="zh-CN" dirty="0" err="1">
                <a:solidFill>
                  <a:schemeClr val="bg2"/>
                </a:solidFill>
              </a:rPr>
              <a:t>sql</a:t>
            </a:r>
            <a:r>
              <a:rPr lang="zh-CN" altLang="en-US" dirty="0">
                <a:solidFill>
                  <a:schemeClr val="bg2"/>
                </a:solidFill>
              </a:rPr>
              <a:t>”</a:t>
            </a:r>
            <a:r>
              <a:rPr lang="en-US" altLang="zh-CN" dirty="0">
                <a:solidFill>
                  <a:schemeClr val="bg2"/>
                </a:solidFill>
              </a:rPr>
              <a:t>)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 err="1">
                <a:solidFill>
                  <a:schemeClr val="bg2"/>
                </a:solidFill>
              </a:rPr>
              <a:t>executeUpdate</a:t>
            </a:r>
            <a:r>
              <a:rPr lang="en-US" altLang="zh-CN" dirty="0">
                <a:solidFill>
                  <a:schemeClr val="bg2"/>
                </a:solidFill>
              </a:rPr>
              <a:t>(</a:t>
            </a:r>
            <a:r>
              <a:rPr lang="zh-CN" altLang="en-US" dirty="0">
                <a:solidFill>
                  <a:schemeClr val="bg2"/>
                </a:solidFill>
              </a:rPr>
              <a:t>“</a:t>
            </a:r>
            <a:r>
              <a:rPr lang="en-US" altLang="zh-CN" dirty="0" err="1">
                <a:solidFill>
                  <a:schemeClr val="bg2"/>
                </a:solidFill>
              </a:rPr>
              <a:t>sql</a:t>
            </a:r>
            <a:r>
              <a:rPr lang="zh-CN" altLang="en-US" dirty="0">
                <a:solidFill>
                  <a:schemeClr val="bg2"/>
                </a:solidFill>
              </a:rPr>
              <a:t>”</a:t>
            </a:r>
            <a:r>
              <a:rPr lang="en-US" altLang="zh-CN" dirty="0">
                <a:solidFill>
                  <a:schemeClr val="bg2"/>
                </a:solidFill>
              </a:rPr>
              <a:t>)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>
                <a:solidFill>
                  <a:schemeClr val="bg2"/>
                </a:solidFill>
              </a:rPr>
              <a:t>Execute()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b="1" dirty="0" err="1">
                <a:solidFill>
                  <a:srgbClr val="C00000"/>
                </a:solidFill>
              </a:rPr>
              <a:t>ResultSet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dirty="0" err="1">
                <a:solidFill>
                  <a:schemeClr val="bg2"/>
                </a:solidFill>
              </a:rPr>
              <a:t>rs</a:t>
            </a:r>
            <a:r>
              <a:rPr lang="en-US" altLang="zh-CN" dirty="0">
                <a:solidFill>
                  <a:schemeClr val="bg2"/>
                </a:solidFill>
              </a:rPr>
              <a:t>=</a:t>
            </a:r>
            <a:r>
              <a:rPr lang="en-US" altLang="zh-CN" dirty="0" err="1">
                <a:solidFill>
                  <a:schemeClr val="bg2"/>
                </a:solidFill>
              </a:rPr>
              <a:t>stmt.executeQuery</a:t>
            </a:r>
            <a:r>
              <a:rPr lang="en-US" altLang="zh-CN" dirty="0">
                <a:solidFill>
                  <a:schemeClr val="bg2"/>
                </a:solidFill>
              </a:rPr>
              <a:t>(</a:t>
            </a:r>
            <a:r>
              <a:rPr lang="zh-CN" altLang="en-US" dirty="0">
                <a:solidFill>
                  <a:schemeClr val="bg2"/>
                </a:solidFill>
              </a:rPr>
              <a:t>“</a:t>
            </a:r>
            <a:r>
              <a:rPr lang="en-US" altLang="zh-CN" dirty="0" err="1">
                <a:solidFill>
                  <a:schemeClr val="bg2"/>
                </a:solidFill>
              </a:rPr>
              <a:t>sql</a:t>
            </a:r>
            <a:r>
              <a:rPr lang="zh-CN" altLang="en-US" dirty="0">
                <a:solidFill>
                  <a:schemeClr val="bg2"/>
                </a:solidFill>
              </a:rPr>
              <a:t>”</a:t>
            </a:r>
            <a:r>
              <a:rPr lang="en-US" altLang="zh-CN" dirty="0">
                <a:solidFill>
                  <a:schemeClr val="bg2"/>
                </a:solidFill>
              </a:rPr>
              <a:t>)</a:t>
            </a:r>
            <a:r>
              <a:rPr lang="zh-CN" altLang="zh-CN" dirty="0">
                <a:solidFill>
                  <a:schemeClr val="bg2"/>
                </a:solidFill>
              </a:rPr>
              <a:t>；</a:t>
            </a:r>
          </a:p>
          <a:p>
            <a:r>
              <a:rPr lang="en-US" altLang="zh-CN" dirty="0">
                <a:solidFill>
                  <a:schemeClr val="bg2"/>
                </a:solidFill>
              </a:rPr>
              <a:t> 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 err="1">
                <a:solidFill>
                  <a:schemeClr val="bg2"/>
                </a:solidFill>
              </a:rPr>
              <a:t>rs.close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 err="1">
                <a:solidFill>
                  <a:schemeClr val="bg2"/>
                </a:solidFill>
              </a:rPr>
              <a:t>stmt.close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  <a:p>
            <a:r>
              <a:rPr lang="en-US" altLang="zh-CN" dirty="0" err="1">
                <a:solidFill>
                  <a:schemeClr val="bg2"/>
                </a:solidFill>
              </a:rPr>
              <a:t>conn.close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410925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</a:rPr>
              <a:t>嵌入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51112" y="1293777"/>
            <a:ext cx="79928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solidFill>
                  <a:schemeClr val="bg2"/>
                </a:solidFill>
              </a:rPr>
              <a:t>导入工具库；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solidFill>
                  <a:schemeClr val="bg2"/>
                </a:solidFill>
              </a:rPr>
              <a:t>建</a:t>
            </a:r>
            <a:r>
              <a:rPr lang="zh-CN" altLang="en-US" sz="2400" dirty="0">
                <a:solidFill>
                  <a:schemeClr val="bg2"/>
                </a:solidFill>
              </a:rPr>
              <a:t>立</a:t>
            </a:r>
            <a:r>
              <a:rPr lang="zh-CN" altLang="zh-CN" sz="2400" dirty="0">
                <a:solidFill>
                  <a:schemeClr val="bg2"/>
                </a:solidFill>
              </a:rPr>
              <a:t>应用系统与数据库的连接；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solidFill>
                  <a:schemeClr val="bg2"/>
                </a:solidFill>
              </a:rPr>
              <a:t>建立游标</a:t>
            </a:r>
            <a:r>
              <a:rPr lang="zh-CN" altLang="en-US" sz="2400" dirty="0">
                <a:solidFill>
                  <a:schemeClr val="bg2"/>
                </a:solidFill>
              </a:rPr>
              <a:t>；</a:t>
            </a:r>
            <a:endParaRPr lang="zh-CN" altLang="zh-CN" sz="2400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solidFill>
                  <a:schemeClr val="bg2"/>
                </a:solidFill>
              </a:rPr>
              <a:t>执行</a:t>
            </a:r>
            <a:r>
              <a:rPr lang="en-US" altLang="zh-CN" sz="2400" dirty="0" err="1">
                <a:solidFill>
                  <a:schemeClr val="bg2"/>
                </a:solidFill>
              </a:rPr>
              <a:t>sql</a:t>
            </a:r>
            <a:r>
              <a:rPr lang="zh-CN" altLang="zh-CN" sz="2400" dirty="0">
                <a:solidFill>
                  <a:schemeClr val="bg2"/>
                </a:solidFill>
              </a:rPr>
              <a:t>语句</a:t>
            </a:r>
            <a:r>
              <a:rPr lang="zh-CN" altLang="en-US" sz="2400" dirty="0">
                <a:solidFill>
                  <a:schemeClr val="bg2"/>
                </a:solidFill>
              </a:rPr>
              <a:t>；</a:t>
            </a:r>
            <a:endParaRPr lang="zh-CN" altLang="zh-CN" sz="2400" dirty="0">
              <a:solidFill>
                <a:schemeClr val="bg2"/>
              </a:solidFill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zh-CN" altLang="zh-CN" sz="2400" dirty="0">
                <a:solidFill>
                  <a:schemeClr val="bg2"/>
                </a:solidFill>
              </a:rPr>
              <a:t>关闭连接</a:t>
            </a:r>
            <a:r>
              <a:rPr lang="zh-CN" altLang="en-US" sz="2400" dirty="0">
                <a:solidFill>
                  <a:schemeClr val="bg2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04224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0" y="1143000"/>
            <a:ext cx="91440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indent="266700" algn="just">
              <a:tabLst>
                <a:tab pos="5067300" algn="l"/>
              </a:tabLst>
            </a:pPr>
            <a:r>
              <a:rPr lang="en-US" altLang="zh-CN" sz="1000"/>
              <a:t> </a:t>
            </a:r>
            <a:endParaRPr lang="en-US" altLang="zh-CN" sz="2400">
              <a:latin typeface="Times New Roman" pitchFamily="18" charset="0"/>
            </a:endParaRPr>
          </a:p>
        </p:txBody>
      </p:sp>
      <p:sp>
        <p:nvSpPr>
          <p:cNvPr id="113667" name="Rectangle 3"/>
          <p:cNvSpPr>
            <a:spLocks noChangeArrowheads="1"/>
          </p:cNvSpPr>
          <p:nvPr/>
        </p:nvSpPr>
        <p:spPr bwMode="auto">
          <a:xfrm>
            <a:off x="0" y="0"/>
            <a:ext cx="9144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tabLst>
                <a:tab pos="5067300" algn="l"/>
              </a:tabLst>
            </a:pPr>
            <a:r>
              <a:rPr lang="zh-CN" altLang="en-US" sz="2800" b="1" dirty="0">
                <a:solidFill>
                  <a:schemeClr val="bg1"/>
                </a:solidFill>
              </a:rPr>
              <a:t>二、</a:t>
            </a:r>
            <a:r>
              <a:rPr lang="en-US" altLang="zh-CN" sz="2800" b="1" dirty="0">
                <a:solidFill>
                  <a:schemeClr val="bg1"/>
                </a:solidFill>
              </a:rPr>
              <a:t>Python</a:t>
            </a:r>
            <a:r>
              <a:rPr lang="zh-CN" altLang="en-US" sz="2800" b="1" dirty="0">
                <a:solidFill>
                  <a:schemeClr val="bg1"/>
                </a:solidFill>
              </a:rPr>
              <a:t>嵌入</a:t>
            </a:r>
            <a:r>
              <a:rPr lang="en-US" altLang="zh-CN" sz="2800" b="1" dirty="0">
                <a:solidFill>
                  <a:schemeClr val="bg1"/>
                </a:solidFill>
              </a:rPr>
              <a:t>SQL</a:t>
            </a:r>
            <a:endParaRPr lang="zh-CN" altLang="en-US" sz="2800" b="1" dirty="0">
              <a:solidFill>
                <a:schemeClr val="bg1"/>
              </a:solidFill>
            </a:endParaRPr>
          </a:p>
          <a:p>
            <a:r>
              <a:rPr lang="zh-CN" altLang="en-US" sz="2400" b="1" dirty="0">
                <a:solidFill>
                  <a:schemeClr val="bg2"/>
                </a:solidFill>
              </a:rPr>
              <a:t>   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5536" y="692696"/>
            <a:ext cx="8748464" cy="6324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import </a:t>
            </a:r>
            <a:r>
              <a:rPr lang="en-US" altLang="zh-CN" dirty="0" err="1">
                <a:solidFill>
                  <a:schemeClr val="bg2"/>
                </a:solidFill>
              </a:rPr>
              <a:t>pymysql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conn=</a:t>
            </a:r>
            <a:r>
              <a:rPr lang="en-US" altLang="zh-CN" dirty="0" err="1">
                <a:solidFill>
                  <a:schemeClr val="bg2"/>
                </a:solidFill>
              </a:rPr>
              <a:t>pymysql.connect</a:t>
            </a:r>
            <a:r>
              <a:rPr lang="en-US" altLang="zh-CN" dirty="0">
                <a:solidFill>
                  <a:schemeClr val="bg2"/>
                </a:solidFill>
              </a:rPr>
              <a:t>(host=127.0.0.1’,port=3306,user=’</a:t>
            </a:r>
            <a:r>
              <a:rPr lang="en-US" altLang="zh-CN" dirty="0" err="1">
                <a:solidFill>
                  <a:schemeClr val="bg2"/>
                </a:solidFill>
              </a:rPr>
              <a:t>root’,password</a:t>
            </a:r>
            <a:r>
              <a:rPr lang="en-US" altLang="zh-CN" dirty="0">
                <a:solidFill>
                  <a:schemeClr val="bg2"/>
                </a:solidFill>
              </a:rPr>
              <a:t>=’’,charset=’utf8’)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cursor=</a:t>
            </a:r>
            <a:r>
              <a:rPr lang="en-US" altLang="zh-CN" dirty="0" err="1">
                <a:solidFill>
                  <a:schemeClr val="bg2"/>
                </a:solidFill>
              </a:rPr>
              <a:t>conn.cursor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/>
                </a:solidFill>
              </a:rPr>
              <a:t>cursor.execute</a:t>
            </a:r>
            <a:r>
              <a:rPr lang="en-US" altLang="zh-CN" dirty="0">
                <a:solidFill>
                  <a:schemeClr val="bg2"/>
                </a:solidFill>
              </a:rPr>
              <a:t>(“</a:t>
            </a:r>
            <a:r>
              <a:rPr lang="en-US" altLang="zh-CN" dirty="0" err="1">
                <a:solidFill>
                  <a:schemeClr val="bg2"/>
                </a:solidFill>
              </a:rPr>
              <a:t>sql</a:t>
            </a:r>
            <a:r>
              <a:rPr lang="zh-CN" altLang="zh-CN" dirty="0">
                <a:solidFill>
                  <a:schemeClr val="bg2"/>
                </a:solidFill>
              </a:rPr>
              <a:t>语句</a:t>
            </a:r>
            <a:r>
              <a:rPr lang="en-US" altLang="zh-CN" dirty="0">
                <a:solidFill>
                  <a:schemeClr val="bg2"/>
                </a:solidFill>
              </a:rPr>
              <a:t>”)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/>
                </a:solidFill>
              </a:rPr>
              <a:t>cursor.commit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result=</a:t>
            </a:r>
            <a:r>
              <a:rPr lang="en-US" altLang="zh-CN" dirty="0" err="1">
                <a:solidFill>
                  <a:schemeClr val="bg2"/>
                </a:solidFill>
              </a:rPr>
              <a:t>cursor.fetchall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print(result)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olidFill>
                  <a:schemeClr val="bg2"/>
                </a:solidFill>
              </a:rPr>
              <a:t>conn.close</a:t>
            </a:r>
            <a:r>
              <a:rPr lang="en-US" altLang="zh-CN" dirty="0">
                <a:solidFill>
                  <a:schemeClr val="bg2"/>
                </a:solidFill>
              </a:rPr>
              <a:t>()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 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import sqlite3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conn=sqlite3.connect(“</a:t>
            </a:r>
            <a:r>
              <a:rPr lang="zh-CN" altLang="zh-CN" dirty="0">
                <a:solidFill>
                  <a:schemeClr val="bg2"/>
                </a:solidFill>
              </a:rPr>
              <a:t>数据库名</a:t>
            </a:r>
            <a:r>
              <a:rPr lang="en-US" altLang="zh-CN" dirty="0">
                <a:solidFill>
                  <a:schemeClr val="bg2"/>
                </a:solidFill>
              </a:rPr>
              <a:t>”)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</a:rPr>
              <a:t>PostgreSQL</a:t>
            </a:r>
            <a:r>
              <a:rPr lang="zh-CN" altLang="zh-CN" b="1" dirty="0">
                <a:solidFill>
                  <a:srgbClr val="C00000"/>
                </a:solidFill>
              </a:rPr>
              <a:t>、</a:t>
            </a:r>
            <a:r>
              <a:rPr lang="en-US" altLang="zh-CN" b="1" dirty="0" err="1">
                <a:solidFill>
                  <a:srgbClr val="C00000"/>
                </a:solidFill>
              </a:rPr>
              <a:t>openGauss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endParaRPr lang="zh-CN" altLang="zh-CN" b="1" dirty="0">
              <a:solidFill>
                <a:srgbClr val="C0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import psycopg2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chemeClr val="bg2"/>
                </a:solidFill>
              </a:rPr>
              <a:t>conn=psycopg2.connect(database=’’,user=’’,password=’’,host=’’,port=’’)</a:t>
            </a:r>
            <a:endParaRPr lang="zh-CN" altLang="zh-CN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</a:pPr>
            <a:endParaRPr lang="zh-CN" altLang="zh-CN" dirty="0">
              <a:solidFill>
                <a:schemeClr val="bg2"/>
              </a:solidFill>
            </a:endParaRPr>
          </a:p>
          <a:p>
            <a:endParaRPr lang="zh-CN" altLang="zh-C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924309"/>
      </p:ext>
    </p:extLst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just" defTabSz="914400" rtl="0" eaLnBrk="1" fontAlgn="base" latinLnBrk="0" hangingPunct="1">
          <a:lnSpc>
            <a:spcPct val="8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299519</TotalTime>
  <Words>20286</Words>
  <Application>Microsoft Macintosh PowerPoint</Application>
  <PresentationFormat>全屏显示(4:3)</PresentationFormat>
  <Paragraphs>2530</Paragraphs>
  <Slides>184</Slides>
  <Notes>36</Notes>
  <HiddenSlides>13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184</vt:i4>
      </vt:variant>
    </vt:vector>
  </HeadingPairs>
  <TitlesOfParts>
    <vt:vector size="210" baseType="lpstr">
      <vt:lpstr>-apple-system</vt:lpstr>
      <vt:lpstr>等线</vt:lpstr>
      <vt:lpstr>黑体</vt:lpstr>
      <vt:lpstr>华文楷体</vt:lpstr>
      <vt:lpstr>楷体</vt:lpstr>
      <vt:lpstr>楷体_GB2312</vt:lpstr>
      <vt:lpstr>微软雅黑</vt:lpstr>
      <vt:lpstr>微软雅黑</vt:lpstr>
      <vt:lpstr>inherit</vt:lpstr>
      <vt:lpstr>Pingfang SC</vt:lpstr>
      <vt:lpstr>SFMono-Regular</vt:lpstr>
      <vt:lpstr>宋体</vt:lpstr>
      <vt:lpstr>Apple Symbols</vt:lpstr>
      <vt:lpstr>Arial</vt:lpstr>
      <vt:lpstr>Calibri</vt:lpstr>
      <vt:lpstr>Cambria Math</vt:lpstr>
      <vt:lpstr>Consolas</vt:lpstr>
      <vt:lpstr>Helvetica Neue</vt:lpstr>
      <vt:lpstr>Menlo</vt:lpstr>
      <vt:lpstr>Symbol</vt:lpstr>
      <vt:lpstr>Tahoma</vt:lpstr>
      <vt:lpstr>Times New Roman</vt:lpstr>
      <vt:lpstr>Wingdings</vt:lpstr>
      <vt:lpstr>Soaring</vt:lpstr>
      <vt:lpstr>1_Soaring</vt:lpstr>
      <vt:lpstr>2_Soaring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带有EXISTS谓词的子查询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Intel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DJQ</dc:creator>
  <cp:keywords/>
  <dc:description/>
  <cp:lastModifiedBy>Microsoft Office 用户</cp:lastModifiedBy>
  <cp:revision>1506</cp:revision>
  <cp:lastPrinted>2025-01-04T09:25:35Z</cp:lastPrinted>
  <dcterms:created xsi:type="dcterms:W3CDTF">2003-01-18T12:09:21Z</dcterms:created>
  <dcterms:modified xsi:type="dcterms:W3CDTF">2026-03-22T13:52:51Z</dcterms:modified>
  <cp:category/>
</cp:coreProperties>
</file>