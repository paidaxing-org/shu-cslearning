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9" r:id="rId1"/>
  </p:sldMasterIdLst>
  <p:notesMasterIdLst>
    <p:notesMasterId r:id="rId111"/>
  </p:notesMasterIdLst>
  <p:handoutMasterIdLst>
    <p:handoutMasterId r:id="rId112"/>
  </p:handoutMasterIdLst>
  <p:sldIdLst>
    <p:sldId id="392" r:id="rId2"/>
    <p:sldId id="390" r:id="rId3"/>
    <p:sldId id="335" r:id="rId4"/>
    <p:sldId id="414" r:id="rId5"/>
    <p:sldId id="336" r:id="rId6"/>
    <p:sldId id="416" r:id="rId7"/>
    <p:sldId id="417" r:id="rId8"/>
    <p:sldId id="420" r:id="rId9"/>
    <p:sldId id="418" r:id="rId10"/>
    <p:sldId id="389" r:id="rId11"/>
    <p:sldId id="337" r:id="rId12"/>
    <p:sldId id="421" r:id="rId13"/>
    <p:sldId id="448" r:id="rId14"/>
    <p:sldId id="449" r:id="rId15"/>
    <p:sldId id="338" r:id="rId16"/>
    <p:sldId id="422" r:id="rId17"/>
    <p:sldId id="339" r:id="rId18"/>
    <p:sldId id="454" r:id="rId19"/>
    <p:sldId id="391" r:id="rId20"/>
    <p:sldId id="423" r:id="rId21"/>
    <p:sldId id="340" r:id="rId22"/>
    <p:sldId id="424" r:id="rId23"/>
    <p:sldId id="341" r:id="rId24"/>
    <p:sldId id="426" r:id="rId25"/>
    <p:sldId id="342" r:id="rId26"/>
    <p:sldId id="427" r:id="rId27"/>
    <p:sldId id="343" r:id="rId28"/>
    <p:sldId id="428" r:id="rId29"/>
    <p:sldId id="344" r:id="rId30"/>
    <p:sldId id="429" r:id="rId31"/>
    <p:sldId id="345" r:id="rId32"/>
    <p:sldId id="430" r:id="rId33"/>
    <p:sldId id="431" r:id="rId34"/>
    <p:sldId id="346" r:id="rId35"/>
    <p:sldId id="432" r:id="rId36"/>
    <p:sldId id="450" r:id="rId37"/>
    <p:sldId id="347" r:id="rId38"/>
    <p:sldId id="348" r:id="rId39"/>
    <p:sldId id="433" r:id="rId40"/>
    <p:sldId id="434" r:id="rId41"/>
    <p:sldId id="435" r:id="rId42"/>
    <p:sldId id="436" r:id="rId43"/>
    <p:sldId id="437" r:id="rId44"/>
    <p:sldId id="438" r:id="rId45"/>
    <p:sldId id="439" r:id="rId46"/>
    <p:sldId id="393" r:id="rId47"/>
    <p:sldId id="404" r:id="rId48"/>
    <p:sldId id="394" r:id="rId49"/>
    <p:sldId id="440" r:id="rId50"/>
    <p:sldId id="442" r:id="rId51"/>
    <p:sldId id="349" r:id="rId52"/>
    <p:sldId id="354" r:id="rId53"/>
    <p:sldId id="411" r:id="rId54"/>
    <p:sldId id="351" r:id="rId55"/>
    <p:sldId id="352" r:id="rId56"/>
    <p:sldId id="412" r:id="rId57"/>
    <p:sldId id="355" r:id="rId58"/>
    <p:sldId id="447" r:id="rId59"/>
    <p:sldId id="357" r:id="rId60"/>
    <p:sldId id="455" r:id="rId61"/>
    <p:sldId id="358" r:id="rId62"/>
    <p:sldId id="356" r:id="rId63"/>
    <p:sldId id="359" r:id="rId64"/>
    <p:sldId id="443" r:id="rId65"/>
    <p:sldId id="410" r:id="rId66"/>
    <p:sldId id="444" r:id="rId67"/>
    <p:sldId id="445" r:id="rId68"/>
    <p:sldId id="406" r:id="rId69"/>
    <p:sldId id="360" r:id="rId70"/>
    <p:sldId id="361" r:id="rId71"/>
    <p:sldId id="446" r:id="rId72"/>
    <p:sldId id="382" r:id="rId73"/>
    <p:sldId id="413" r:id="rId74"/>
    <p:sldId id="362" r:id="rId75"/>
    <p:sldId id="363" r:id="rId76"/>
    <p:sldId id="452" r:id="rId77"/>
    <p:sldId id="453" r:id="rId78"/>
    <p:sldId id="365" r:id="rId79"/>
    <p:sldId id="366" r:id="rId80"/>
    <p:sldId id="367" r:id="rId81"/>
    <p:sldId id="457" r:id="rId82"/>
    <p:sldId id="458" r:id="rId83"/>
    <p:sldId id="460" r:id="rId84"/>
    <p:sldId id="459" r:id="rId85"/>
    <p:sldId id="384" r:id="rId86"/>
    <p:sldId id="369" r:id="rId87"/>
    <p:sldId id="370" r:id="rId88"/>
    <p:sldId id="371" r:id="rId89"/>
    <p:sldId id="372" r:id="rId90"/>
    <p:sldId id="373" r:id="rId91"/>
    <p:sldId id="374" r:id="rId92"/>
    <p:sldId id="375" r:id="rId93"/>
    <p:sldId id="461" r:id="rId94"/>
    <p:sldId id="462" r:id="rId95"/>
    <p:sldId id="467" r:id="rId96"/>
    <p:sldId id="463" r:id="rId97"/>
    <p:sldId id="464" r:id="rId98"/>
    <p:sldId id="465" r:id="rId99"/>
    <p:sldId id="466" r:id="rId100"/>
    <p:sldId id="376" r:id="rId101"/>
    <p:sldId id="377" r:id="rId102"/>
    <p:sldId id="386" r:id="rId103"/>
    <p:sldId id="383" r:id="rId104"/>
    <p:sldId id="380" r:id="rId105"/>
    <p:sldId id="381" r:id="rId106"/>
    <p:sldId id="468" r:id="rId107"/>
    <p:sldId id="407" r:id="rId108"/>
    <p:sldId id="470" r:id="rId109"/>
    <p:sldId id="469" r:id="rId110"/>
  </p:sldIdLst>
  <p:sldSz cx="9144000" cy="6858000" type="screen4x3"/>
  <p:notesSz cx="6888163" cy="9677400"/>
  <p:defaultTextStyle>
    <a:defPPr>
      <a:defRPr lang="zh-CN"/>
    </a:defPPr>
    <a:lvl1pPr algn="just" rtl="0" fontAlgn="base">
      <a:lnSpc>
        <a:spcPct val="80000"/>
      </a:lnSpc>
      <a:spcBef>
        <a:spcPct val="50000"/>
      </a:spcBef>
      <a:spcAft>
        <a:spcPct val="0"/>
      </a:spcAft>
      <a:defRPr kumimoji="1" kern="1200">
        <a:solidFill>
          <a:schemeClr val="tx1"/>
        </a:solidFill>
        <a:latin typeface="宋体" pitchFamily="2" charset="-122"/>
        <a:ea typeface="宋体" pitchFamily="2" charset="-122"/>
        <a:cs typeface="+mn-cs"/>
      </a:defRPr>
    </a:lvl1pPr>
    <a:lvl2pPr marL="457200" algn="just" rtl="0" fontAlgn="base">
      <a:lnSpc>
        <a:spcPct val="80000"/>
      </a:lnSpc>
      <a:spcBef>
        <a:spcPct val="50000"/>
      </a:spcBef>
      <a:spcAft>
        <a:spcPct val="0"/>
      </a:spcAft>
      <a:defRPr kumimoji="1" kern="1200">
        <a:solidFill>
          <a:schemeClr val="tx1"/>
        </a:solidFill>
        <a:latin typeface="宋体" pitchFamily="2" charset="-122"/>
        <a:ea typeface="宋体" pitchFamily="2" charset="-122"/>
        <a:cs typeface="+mn-cs"/>
      </a:defRPr>
    </a:lvl2pPr>
    <a:lvl3pPr marL="914400" algn="just" rtl="0" fontAlgn="base">
      <a:lnSpc>
        <a:spcPct val="80000"/>
      </a:lnSpc>
      <a:spcBef>
        <a:spcPct val="50000"/>
      </a:spcBef>
      <a:spcAft>
        <a:spcPct val="0"/>
      </a:spcAft>
      <a:defRPr kumimoji="1" kern="1200">
        <a:solidFill>
          <a:schemeClr val="tx1"/>
        </a:solidFill>
        <a:latin typeface="宋体" pitchFamily="2" charset="-122"/>
        <a:ea typeface="宋体" pitchFamily="2" charset="-122"/>
        <a:cs typeface="+mn-cs"/>
      </a:defRPr>
    </a:lvl3pPr>
    <a:lvl4pPr marL="1371600" algn="just" rtl="0" fontAlgn="base">
      <a:lnSpc>
        <a:spcPct val="80000"/>
      </a:lnSpc>
      <a:spcBef>
        <a:spcPct val="50000"/>
      </a:spcBef>
      <a:spcAft>
        <a:spcPct val="0"/>
      </a:spcAft>
      <a:defRPr kumimoji="1" kern="1200">
        <a:solidFill>
          <a:schemeClr val="tx1"/>
        </a:solidFill>
        <a:latin typeface="宋体" pitchFamily="2" charset="-122"/>
        <a:ea typeface="宋体" pitchFamily="2" charset="-122"/>
        <a:cs typeface="+mn-cs"/>
      </a:defRPr>
    </a:lvl4pPr>
    <a:lvl5pPr marL="1828800" algn="just" rtl="0" fontAlgn="base">
      <a:lnSpc>
        <a:spcPct val="80000"/>
      </a:lnSpc>
      <a:spcBef>
        <a:spcPct val="50000"/>
      </a:spcBef>
      <a:spcAft>
        <a:spcPct val="0"/>
      </a:spcAft>
      <a:defRPr kumimoji="1" kern="1200">
        <a:solidFill>
          <a:schemeClr val="tx1"/>
        </a:solidFill>
        <a:latin typeface="宋体" pitchFamily="2" charset="-122"/>
        <a:ea typeface="宋体" pitchFamily="2" charset="-122"/>
        <a:cs typeface="+mn-cs"/>
      </a:defRPr>
    </a:lvl5pPr>
    <a:lvl6pPr marL="2286000" algn="l" defTabSz="914400" rtl="0" eaLnBrk="1" latinLnBrk="0" hangingPunct="1">
      <a:defRPr kumimoji="1" kern="1200">
        <a:solidFill>
          <a:schemeClr val="tx1"/>
        </a:solidFill>
        <a:latin typeface="宋体" pitchFamily="2" charset="-122"/>
        <a:ea typeface="宋体" pitchFamily="2" charset="-122"/>
        <a:cs typeface="+mn-cs"/>
      </a:defRPr>
    </a:lvl6pPr>
    <a:lvl7pPr marL="2743200" algn="l" defTabSz="914400" rtl="0" eaLnBrk="1" latinLnBrk="0" hangingPunct="1">
      <a:defRPr kumimoji="1" kern="1200">
        <a:solidFill>
          <a:schemeClr val="tx1"/>
        </a:solidFill>
        <a:latin typeface="宋体" pitchFamily="2" charset="-122"/>
        <a:ea typeface="宋体" pitchFamily="2" charset="-122"/>
        <a:cs typeface="+mn-cs"/>
      </a:defRPr>
    </a:lvl7pPr>
    <a:lvl8pPr marL="3200400" algn="l" defTabSz="914400" rtl="0" eaLnBrk="1" latinLnBrk="0" hangingPunct="1">
      <a:defRPr kumimoji="1" kern="1200">
        <a:solidFill>
          <a:schemeClr val="tx1"/>
        </a:solidFill>
        <a:latin typeface="宋体" pitchFamily="2" charset="-122"/>
        <a:ea typeface="宋体" pitchFamily="2" charset="-122"/>
        <a:cs typeface="+mn-cs"/>
      </a:defRPr>
    </a:lvl8pPr>
    <a:lvl9pPr marL="3657600" algn="l" defTabSz="914400" rtl="0" eaLnBrk="1" latinLnBrk="0" hangingPunct="1">
      <a:defRPr kumimoji="1" kern="1200">
        <a:solidFill>
          <a:schemeClr val="tx1"/>
        </a:solidFill>
        <a:latin typeface="宋体" pitchFamily="2" charset="-122"/>
        <a:ea typeface="宋体" pitchFamily="2" charset="-122"/>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048">
          <p15:clr>
            <a:srgbClr val="A4A3A4"/>
          </p15:clr>
        </p15:guide>
        <p15:guide id="2" pos="217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FFFF00"/>
    <a:srgbClr val="FF40FF"/>
    <a:srgbClr val="FF0066"/>
    <a:srgbClr val="F9EBD3"/>
    <a:srgbClr val="DDDDDD"/>
    <a:srgbClr val="FFFFFF"/>
    <a:srgbClr val="E7E57F"/>
    <a:srgbClr val="660033"/>
    <a:srgbClr val="00999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中度样式 2 - 强调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5DA37D80-6434-44D0-A028-1B22A696006F}" styleName="浅色样式 3 - 强调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00A15C55-8517-42AA-B614-E9B94910E393}" styleName="中度样式 2 - 强调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中度样式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DF18680-E054-41AD-8BC1-D1AEF772440D}" styleName="中度样式 2 - 强调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0870" autoAdjust="0"/>
    <p:restoredTop sz="86596" autoAdjust="0"/>
  </p:normalViewPr>
  <p:slideViewPr>
    <p:cSldViewPr>
      <p:cViewPr>
        <p:scale>
          <a:sx n="97" d="100"/>
          <a:sy n="97" d="100"/>
        </p:scale>
        <p:origin x="384" y="14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varScale="1">
      <p:scale>
        <a:sx n="1" d="1"/>
        <a:sy n="1" d="1"/>
      </p:scale>
      <p:origin x="0" y="-5305"/>
    </p:cViewPr>
  </p:sorterViewPr>
  <p:notesViewPr>
    <p:cSldViewPr>
      <p:cViewPr varScale="1">
        <p:scale>
          <a:sx n="58" d="100"/>
          <a:sy n="58" d="100"/>
        </p:scale>
        <p:origin x="-1812" y="-72"/>
      </p:cViewPr>
      <p:guideLst>
        <p:guide orient="horz" pos="3048"/>
        <p:guide pos="217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handoutMaster" Target="handoutMasters/handoutMaster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66274" name="Rectangle 2"/>
          <p:cNvSpPr>
            <a:spLocks noGrp="1" noChangeArrowheads="1"/>
          </p:cNvSpPr>
          <p:nvPr>
            <p:ph type="hdr" sz="quarter"/>
          </p:nvPr>
        </p:nvSpPr>
        <p:spPr bwMode="auto">
          <a:xfrm>
            <a:off x="0" y="0"/>
            <a:ext cx="2984500"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59" tIns="47329" rIns="94659" bIns="47329" numCol="1" anchor="t" anchorCtr="0" compatLnSpc="1">
            <a:prstTxWarp prst="textNoShape">
              <a:avLst/>
            </a:prstTxWarp>
          </a:bodyPr>
          <a:lstStyle>
            <a:lvl1pPr algn="l" defTabSz="946150">
              <a:defRPr sz="1200"/>
            </a:lvl1pPr>
          </a:lstStyle>
          <a:p>
            <a:endParaRPr lang="en-US" altLang="zh-CN"/>
          </a:p>
        </p:txBody>
      </p:sp>
      <p:sp>
        <p:nvSpPr>
          <p:cNvPr id="566275" name="Rectangle 3"/>
          <p:cNvSpPr>
            <a:spLocks noGrp="1" noChangeArrowheads="1"/>
          </p:cNvSpPr>
          <p:nvPr>
            <p:ph type="dt" sz="quarter" idx="1"/>
          </p:nvPr>
        </p:nvSpPr>
        <p:spPr bwMode="auto">
          <a:xfrm>
            <a:off x="3903663" y="0"/>
            <a:ext cx="2984500"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59" tIns="47329" rIns="94659" bIns="47329" numCol="1" anchor="t" anchorCtr="0" compatLnSpc="1">
            <a:prstTxWarp prst="textNoShape">
              <a:avLst/>
            </a:prstTxWarp>
          </a:bodyPr>
          <a:lstStyle>
            <a:lvl1pPr algn="r" defTabSz="946150">
              <a:defRPr sz="1200"/>
            </a:lvl1pPr>
          </a:lstStyle>
          <a:p>
            <a:fld id="{70E74C4E-5584-425E-BA22-7304536DD17E}" type="datetime1">
              <a:rPr lang="zh-CN" altLang="en-US"/>
              <a:pPr/>
              <a:t>2026/4/23</a:t>
            </a:fld>
            <a:endParaRPr lang="en-US" altLang="zh-CN"/>
          </a:p>
        </p:txBody>
      </p:sp>
      <p:sp>
        <p:nvSpPr>
          <p:cNvPr id="566276" name="Rectangle 4"/>
          <p:cNvSpPr>
            <a:spLocks noGrp="1" noChangeArrowheads="1"/>
          </p:cNvSpPr>
          <p:nvPr>
            <p:ph type="ftr" sz="quarter" idx="2"/>
          </p:nvPr>
        </p:nvSpPr>
        <p:spPr bwMode="auto">
          <a:xfrm>
            <a:off x="0" y="9193213"/>
            <a:ext cx="2984500"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59" tIns="47329" rIns="94659" bIns="47329" numCol="1" anchor="b" anchorCtr="0" compatLnSpc="1">
            <a:prstTxWarp prst="textNoShape">
              <a:avLst/>
            </a:prstTxWarp>
          </a:bodyPr>
          <a:lstStyle>
            <a:lvl1pPr algn="l" defTabSz="946150">
              <a:defRPr sz="1200"/>
            </a:lvl1pPr>
          </a:lstStyle>
          <a:p>
            <a:endParaRPr lang="en-US" altLang="zh-CN"/>
          </a:p>
        </p:txBody>
      </p:sp>
      <p:sp>
        <p:nvSpPr>
          <p:cNvPr id="566277" name="Rectangle 5"/>
          <p:cNvSpPr>
            <a:spLocks noGrp="1" noChangeArrowheads="1"/>
          </p:cNvSpPr>
          <p:nvPr>
            <p:ph type="sldNum" sz="quarter" idx="3"/>
          </p:nvPr>
        </p:nvSpPr>
        <p:spPr bwMode="auto">
          <a:xfrm>
            <a:off x="3903663" y="9193213"/>
            <a:ext cx="2984500"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59" tIns="47329" rIns="94659" bIns="47329" numCol="1" anchor="b" anchorCtr="0" compatLnSpc="1">
            <a:prstTxWarp prst="textNoShape">
              <a:avLst/>
            </a:prstTxWarp>
          </a:bodyPr>
          <a:lstStyle>
            <a:lvl1pPr algn="r" defTabSz="946150">
              <a:defRPr sz="1200"/>
            </a:lvl1pPr>
          </a:lstStyle>
          <a:p>
            <a:fld id="{3305111B-FB56-4A91-98CF-5317F9697109}" type="slidenum">
              <a:rPr lang="en-US" altLang="zh-CN"/>
              <a:pPr/>
              <a:t>‹#›</a:t>
            </a:fld>
            <a:endParaRPr lang="en-US" altLang="zh-CN"/>
          </a:p>
        </p:txBody>
      </p:sp>
    </p:spTree>
    <p:extLst>
      <p:ext uri="{BB962C8B-B14F-4D97-AF65-F5344CB8AC3E}">
        <p14:creationId xmlns:p14="http://schemas.microsoft.com/office/powerpoint/2010/main" val="1478492367"/>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0418" name="Rectangle 2"/>
          <p:cNvSpPr>
            <a:spLocks noGrp="1" noChangeArrowheads="1"/>
          </p:cNvSpPr>
          <p:nvPr>
            <p:ph type="hdr" sz="quarter"/>
          </p:nvPr>
        </p:nvSpPr>
        <p:spPr bwMode="auto">
          <a:xfrm>
            <a:off x="0" y="0"/>
            <a:ext cx="2984500"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59" tIns="47329" rIns="94659" bIns="47329" numCol="1" anchor="t" anchorCtr="0" compatLnSpc="1">
            <a:prstTxWarp prst="textNoShape">
              <a:avLst/>
            </a:prstTxWarp>
          </a:bodyPr>
          <a:lstStyle>
            <a:lvl1pPr algn="l" defTabSz="946150">
              <a:lnSpc>
                <a:spcPct val="100000"/>
              </a:lnSpc>
              <a:spcBef>
                <a:spcPct val="0"/>
              </a:spcBef>
              <a:defRPr sz="1200">
                <a:latin typeface="Times New Roman" pitchFamily="18" charset="0"/>
              </a:defRPr>
            </a:lvl1pPr>
          </a:lstStyle>
          <a:p>
            <a:endParaRPr lang="en-US" altLang="zh-CN"/>
          </a:p>
        </p:txBody>
      </p:sp>
      <p:sp>
        <p:nvSpPr>
          <p:cNvPr id="60419" name="Rectangle 3"/>
          <p:cNvSpPr>
            <a:spLocks noGrp="1" noChangeArrowheads="1"/>
          </p:cNvSpPr>
          <p:nvPr>
            <p:ph type="dt" idx="1"/>
          </p:nvPr>
        </p:nvSpPr>
        <p:spPr bwMode="auto">
          <a:xfrm>
            <a:off x="3903663" y="0"/>
            <a:ext cx="2984500" cy="484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59" tIns="47329" rIns="94659" bIns="47329" numCol="1" anchor="t" anchorCtr="0" compatLnSpc="1">
            <a:prstTxWarp prst="textNoShape">
              <a:avLst/>
            </a:prstTxWarp>
          </a:bodyPr>
          <a:lstStyle>
            <a:lvl1pPr algn="r" defTabSz="946150">
              <a:lnSpc>
                <a:spcPct val="100000"/>
              </a:lnSpc>
              <a:spcBef>
                <a:spcPct val="0"/>
              </a:spcBef>
              <a:defRPr sz="1200">
                <a:latin typeface="Times New Roman" pitchFamily="18" charset="0"/>
              </a:defRPr>
            </a:lvl1pPr>
          </a:lstStyle>
          <a:p>
            <a:fld id="{1E815EE8-2D8E-436A-B242-E59213DC0691}" type="datetime1">
              <a:rPr lang="zh-CN" altLang="en-US"/>
              <a:pPr/>
              <a:t>2026/4/23</a:t>
            </a:fld>
            <a:endParaRPr lang="en-US" altLang="zh-CN"/>
          </a:p>
        </p:txBody>
      </p:sp>
      <p:sp>
        <p:nvSpPr>
          <p:cNvPr id="60420" name="Rectangle 4"/>
          <p:cNvSpPr>
            <a:spLocks noGrp="1" noRot="1" noChangeAspect="1" noChangeArrowheads="1" noTextEdit="1"/>
          </p:cNvSpPr>
          <p:nvPr>
            <p:ph type="sldImg" idx="2"/>
          </p:nvPr>
        </p:nvSpPr>
        <p:spPr bwMode="auto">
          <a:xfrm>
            <a:off x="1025525" y="725488"/>
            <a:ext cx="4838700" cy="3629025"/>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 uri="{53640926-AAD7-44D8-BBD7-CCE9431645EC}">
              <a14:shadowObscured xmlns:a14="http://schemas.microsoft.com/office/drawing/2010/main" val="1"/>
            </a:ext>
          </a:extLst>
        </p:spPr>
      </p:sp>
      <p:sp>
        <p:nvSpPr>
          <p:cNvPr id="60421" name="Rectangle 5"/>
          <p:cNvSpPr>
            <a:spLocks noGrp="1" noChangeArrowheads="1"/>
          </p:cNvSpPr>
          <p:nvPr>
            <p:ph type="body" sz="quarter" idx="3"/>
          </p:nvPr>
        </p:nvSpPr>
        <p:spPr bwMode="auto">
          <a:xfrm>
            <a:off x="919163" y="4597400"/>
            <a:ext cx="5049837" cy="43545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59" tIns="47329" rIns="94659" bIns="47329"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0422" name="Rectangle 6"/>
          <p:cNvSpPr>
            <a:spLocks noGrp="1" noChangeArrowheads="1"/>
          </p:cNvSpPr>
          <p:nvPr>
            <p:ph type="ftr" sz="quarter" idx="4"/>
          </p:nvPr>
        </p:nvSpPr>
        <p:spPr bwMode="auto">
          <a:xfrm>
            <a:off x="0" y="9193213"/>
            <a:ext cx="2984500"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59" tIns="47329" rIns="94659" bIns="47329" numCol="1" anchor="b" anchorCtr="0" compatLnSpc="1">
            <a:prstTxWarp prst="textNoShape">
              <a:avLst/>
            </a:prstTxWarp>
          </a:bodyPr>
          <a:lstStyle>
            <a:lvl1pPr algn="l" defTabSz="946150">
              <a:lnSpc>
                <a:spcPct val="100000"/>
              </a:lnSpc>
              <a:spcBef>
                <a:spcPct val="0"/>
              </a:spcBef>
              <a:defRPr sz="1200">
                <a:latin typeface="Times New Roman" pitchFamily="18" charset="0"/>
              </a:defRPr>
            </a:lvl1pPr>
          </a:lstStyle>
          <a:p>
            <a:endParaRPr lang="en-US" altLang="zh-CN"/>
          </a:p>
        </p:txBody>
      </p:sp>
      <p:sp>
        <p:nvSpPr>
          <p:cNvPr id="60423" name="Rectangle 7"/>
          <p:cNvSpPr>
            <a:spLocks noGrp="1" noChangeArrowheads="1"/>
          </p:cNvSpPr>
          <p:nvPr>
            <p:ph type="sldNum" sz="quarter" idx="5"/>
          </p:nvPr>
        </p:nvSpPr>
        <p:spPr bwMode="auto">
          <a:xfrm>
            <a:off x="3903663" y="9193213"/>
            <a:ext cx="2984500" cy="48418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4659" tIns="47329" rIns="94659" bIns="47329" numCol="1" anchor="b" anchorCtr="0" compatLnSpc="1">
            <a:prstTxWarp prst="textNoShape">
              <a:avLst/>
            </a:prstTxWarp>
          </a:bodyPr>
          <a:lstStyle>
            <a:lvl1pPr algn="r" defTabSz="946150">
              <a:lnSpc>
                <a:spcPct val="100000"/>
              </a:lnSpc>
              <a:spcBef>
                <a:spcPct val="0"/>
              </a:spcBef>
              <a:defRPr sz="1200">
                <a:latin typeface="Times New Roman" pitchFamily="18" charset="0"/>
              </a:defRPr>
            </a:lvl1pPr>
          </a:lstStyle>
          <a:p>
            <a:fld id="{3226A61A-A51F-4590-9E1E-5938672F8115}" type="slidenum">
              <a:rPr lang="en-US" altLang="zh-CN"/>
              <a:pPr/>
              <a:t>‹#›</a:t>
            </a:fld>
            <a:endParaRPr lang="en-US" altLang="zh-CN"/>
          </a:p>
        </p:txBody>
      </p:sp>
    </p:spTree>
    <p:extLst>
      <p:ext uri="{BB962C8B-B14F-4D97-AF65-F5344CB8AC3E}">
        <p14:creationId xmlns:p14="http://schemas.microsoft.com/office/powerpoint/2010/main" val="1804993929"/>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fontAlgn="base">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baidu.com/s?wd=%E6%95%B0%E6%8D%AE%E5%BA%93&amp;rsv_idx=2&amp;tn=baiduhome_pg&amp;usm=4&amp;ie=utf-8&amp;rsv_pq=91f23ffb006ea567&amp;oq=%E7%AC%9B%E5%8D%A1%E5%B0%94%E7%A7%AF&amp;rsv_t=63a4e46N3WkqzvR0CoNDdyAAklKqrOfMyJ9rVcTLxYcxHiQ6VPzGBc0B9Y1ZwoQmyvSJ&amp;sa=re_dqa_generate" TargetMode="External"/><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3" Type="http://schemas.openxmlformats.org/officeDocument/2006/relationships/hyperlink" Target="https://www.baidu.com/s?wd=%E6%95%B0%E6%8D%AE%E5%BA%93&amp;rsv_idx=2&amp;tn=baiduhome_pg&amp;usm=4&amp;ie=utf-8&amp;rsv_pq=91f23ffb006ea567&amp;oq=%E7%AC%9B%E5%8D%A1%E5%B0%94%E7%A7%AF&amp;rsv_t=63a4e46N3WkqzvR0CoNDdyAAklKqrOfMyJ9rVcTLxYcxHiQ6VPzGBc0B9Y1ZwoQmyvSJ&amp;sa=re_dqa_generate" TargetMode="External"/><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3" Type="http://schemas.openxmlformats.org/officeDocument/2006/relationships/hyperlink" Target="https://www.baidu.com/s?wd=%E6%95%B0%E6%8D%AE%E5%BA%93&amp;rsv_idx=2&amp;tn=baiduhome_pg&amp;usm=4&amp;ie=utf-8&amp;rsv_pq=91f23ffb006ea567&amp;oq=%E7%AC%9B%E5%8D%A1%E5%B0%94%E7%A7%AF&amp;rsv_t=63a4e46N3WkqzvR0CoNDdyAAklKqrOfMyJ9rVcTLxYcxHiQ6VPzGBc0B9Y1ZwoQmyvSJ&amp;sa=re_dqa_generate" TargetMode="External"/><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www.baidu.com/s?wd=%E6%95%B0%E6%8D%AE%E5%BA%93&amp;rsv_idx=2&amp;tn=baiduhome_pg&amp;usm=4&amp;ie=utf-8&amp;rsv_pq=91f23ffb006ea567&amp;oq=%E7%AC%9B%E5%8D%A1%E5%B0%94%E7%A7%AF&amp;rsv_t=63a4e46N3WkqzvR0CoNDdyAAklKqrOfMyJ9rVcTLxYcxHiQ6VPzGBc0B9Y1ZwoQmyvSJ&amp;sa=re_dqa_generate" TargetMode="External"/><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3" Type="http://schemas.openxmlformats.org/officeDocument/2006/relationships/hyperlink" Target="https://www.baidu.com/s?wd=%E6%95%B0%E6%8D%AE%E5%BA%93&amp;rsv_idx=2&amp;tn=baiduhome_pg&amp;usm=4&amp;ie=utf-8&amp;rsv_pq=91f23ffb006ea567&amp;oq=%E7%AC%9B%E5%8D%A1%E5%B0%94%E7%A7%AF&amp;rsv_t=63a4e46N3WkqzvR0CoNDdyAAklKqrOfMyJ9rVcTLxYcxHiQ6VPzGBc0B9Y1ZwoQmyvSJ&amp;sa=re_dqa_generate" TargetMode="External"/><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nSpc>
                <a:spcPct val="120000"/>
              </a:lnSpc>
            </a:pPr>
            <a:r>
              <a:rPr lang="zh-CN" altLang="en-US" sz="1200" b="1" dirty="0">
                <a:solidFill>
                  <a:schemeClr val="bg2"/>
                </a:solidFill>
              </a:rPr>
              <a:t>用</a:t>
            </a:r>
            <a:r>
              <a:rPr lang="zh-CN" altLang="en-US" sz="1200" b="1" dirty="0">
                <a:solidFill>
                  <a:srgbClr val="660033"/>
                </a:solidFill>
              </a:rPr>
              <a:t>二维表格</a:t>
            </a:r>
            <a:r>
              <a:rPr lang="zh-CN" altLang="en-US" sz="1200" b="1" dirty="0">
                <a:solidFill>
                  <a:schemeClr val="bg2"/>
                </a:solidFill>
              </a:rPr>
              <a:t>表示实体集；</a:t>
            </a:r>
          </a:p>
          <a:p>
            <a:pPr>
              <a:lnSpc>
                <a:spcPct val="120000"/>
              </a:lnSpc>
            </a:pPr>
            <a:r>
              <a:rPr lang="zh-CN" altLang="en-US" sz="1200" b="1" dirty="0">
                <a:solidFill>
                  <a:srgbClr val="660033"/>
                </a:solidFill>
              </a:rPr>
              <a:t>外键</a:t>
            </a:r>
            <a:r>
              <a:rPr lang="zh-CN" altLang="en-US" sz="1200" b="1" dirty="0">
                <a:solidFill>
                  <a:schemeClr val="bg2"/>
                </a:solidFill>
              </a:rPr>
              <a:t>表示实体间联系的模型称为关系模型； </a:t>
            </a:r>
          </a:p>
          <a:p>
            <a:pPr>
              <a:lnSpc>
                <a:spcPct val="120000"/>
              </a:lnSpc>
            </a:pPr>
            <a:r>
              <a:rPr lang="zh-CN" altLang="en-US" sz="1200" b="1" dirty="0">
                <a:solidFill>
                  <a:srgbClr val="660033"/>
                </a:solidFill>
              </a:rPr>
              <a:t>关系：</a:t>
            </a:r>
            <a:r>
              <a:rPr lang="zh-CN" altLang="en-US" sz="1200" b="1" dirty="0">
                <a:solidFill>
                  <a:schemeClr val="bg2"/>
                </a:solidFill>
              </a:rPr>
              <a:t>对应二维表格； </a:t>
            </a:r>
          </a:p>
          <a:p>
            <a:pPr>
              <a:lnSpc>
                <a:spcPct val="120000"/>
              </a:lnSpc>
            </a:pPr>
            <a:r>
              <a:rPr lang="zh-CN" altLang="en-US" sz="1200" b="1" dirty="0">
                <a:solidFill>
                  <a:srgbClr val="660033"/>
                </a:solidFill>
              </a:rPr>
              <a:t>元组：</a:t>
            </a:r>
            <a:r>
              <a:rPr lang="zh-CN" altLang="en-US" sz="1200" b="1" dirty="0">
                <a:solidFill>
                  <a:schemeClr val="bg2"/>
                </a:solidFill>
              </a:rPr>
              <a:t>表中的行；    </a:t>
            </a:r>
          </a:p>
          <a:p>
            <a:pPr>
              <a:lnSpc>
                <a:spcPct val="120000"/>
              </a:lnSpc>
            </a:pPr>
            <a:r>
              <a:rPr lang="zh-CN" altLang="en-US" sz="1200" b="1" dirty="0">
                <a:solidFill>
                  <a:srgbClr val="660033"/>
                </a:solidFill>
              </a:rPr>
              <a:t>属性：</a:t>
            </a:r>
            <a:r>
              <a:rPr lang="zh-CN" altLang="en-US" sz="1200" b="1" dirty="0">
                <a:solidFill>
                  <a:schemeClr val="bg2"/>
                </a:solidFill>
              </a:rPr>
              <a:t>表中的列；</a:t>
            </a:r>
          </a:p>
          <a:p>
            <a:pPr>
              <a:lnSpc>
                <a:spcPct val="120000"/>
              </a:lnSpc>
            </a:pPr>
            <a:r>
              <a:rPr lang="zh-CN" altLang="en-US" sz="1200" b="1" dirty="0">
                <a:solidFill>
                  <a:srgbClr val="660033"/>
                </a:solidFill>
              </a:rPr>
              <a:t>域：</a:t>
            </a:r>
            <a:r>
              <a:rPr lang="zh-CN" altLang="en-US" sz="1200" b="1" dirty="0">
                <a:solidFill>
                  <a:schemeClr val="bg2"/>
                </a:solidFill>
              </a:rPr>
              <a:t>属性的取值范围。</a:t>
            </a:r>
          </a:p>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3</a:t>
            </a:fld>
            <a:endParaRPr lang="en-US" altLang="zh-CN"/>
          </a:p>
        </p:txBody>
      </p:sp>
    </p:spTree>
    <p:extLst>
      <p:ext uri="{BB962C8B-B14F-4D97-AF65-F5344CB8AC3E}">
        <p14:creationId xmlns:p14="http://schemas.microsoft.com/office/powerpoint/2010/main" val="22670558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19F48AB-67BE-4F15-AB57-3E99E1F88797}" type="slidenum">
              <a:rPr lang="en-US" altLang="zh-CN"/>
              <a:pPr/>
              <a:t>4</a:t>
            </a:fld>
            <a:endParaRPr lang="en-US" altLang="zh-CN"/>
          </a:p>
        </p:txBody>
      </p:sp>
      <p:sp>
        <p:nvSpPr>
          <p:cNvPr id="676866" name="Rectangle 2"/>
          <p:cNvSpPr>
            <a:spLocks noGrp="1" noRot="1" noChangeAspect="1" noChangeArrowheads="1" noTextEdit="1"/>
          </p:cNvSpPr>
          <p:nvPr>
            <p:ph type="sldImg"/>
          </p:nvPr>
        </p:nvSpPr>
        <p:spPr>
          <a:ln/>
        </p:spPr>
      </p:sp>
      <p:sp>
        <p:nvSpPr>
          <p:cNvPr id="676867" name="Rectangle 3"/>
          <p:cNvSpPr>
            <a:spLocks noGrp="1" noChangeArrowheads="1"/>
          </p:cNvSpPr>
          <p:nvPr>
            <p:ph type="body" idx="1"/>
          </p:nvPr>
        </p:nvSpPr>
        <p:spPr/>
        <p:txBody>
          <a:bodyPr/>
          <a:lstStyle/>
          <a:p>
            <a:r>
              <a:rPr lang="zh-CN" altLang="en-US" b="0" i="0" u="none" strike="noStrike" dirty="0">
                <a:solidFill>
                  <a:srgbClr val="333333"/>
                </a:solidFill>
                <a:effectLst/>
                <a:latin typeface="-apple-system"/>
              </a:rPr>
              <a:t>在数学中，笛卡尔积是一个重要的概念，用于描述两个集合的所有可能有序对。</a:t>
            </a:r>
            <a:endParaRPr lang="en-US" altLang="zh-CN" b="0" i="0" u="none" strike="noStrike" dirty="0">
              <a:solidFill>
                <a:srgbClr val="333333"/>
              </a:solidFill>
              <a:effectLst/>
              <a:latin typeface="-apple-system"/>
            </a:endParaRPr>
          </a:p>
          <a:p>
            <a:r>
              <a:rPr lang="zh-CN" altLang="en-US" b="0" i="0" u="none" strike="noStrike" dirty="0">
                <a:solidFill>
                  <a:srgbClr val="333333"/>
                </a:solidFill>
                <a:effectLst/>
                <a:latin typeface="-apple-system"/>
              </a:rPr>
              <a:t>在‌</a:t>
            </a:r>
            <a:r>
              <a:rPr lang="zh-CN" altLang="en-US" b="0" i="0" u="none" strike="noStrike" dirty="0">
                <a:effectLst/>
                <a:latin typeface="-apple-system"/>
                <a:hlinkClick r:id="rId3"/>
              </a:rPr>
              <a:t>数据库</a:t>
            </a:r>
            <a:r>
              <a:rPr lang="zh-CN" altLang="en-US" b="0" i="0" u="none" strike="noStrike" dirty="0">
                <a:solidFill>
                  <a:srgbClr val="333333"/>
                </a:solidFill>
                <a:effectLst/>
                <a:latin typeface="-apple-system"/>
              </a:rPr>
              <a:t>中，笛卡尔积通常用于生成两个表的所有可能记录组合。</a:t>
            </a:r>
            <a:endParaRPr lang="zh-CN" altLang="zh-CN" dirty="0"/>
          </a:p>
        </p:txBody>
      </p:sp>
    </p:spTree>
    <p:extLst>
      <p:ext uri="{BB962C8B-B14F-4D97-AF65-F5344CB8AC3E}">
        <p14:creationId xmlns:p14="http://schemas.microsoft.com/office/powerpoint/2010/main" val="281040082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19F48AB-67BE-4F15-AB57-3E99E1F88797}" type="slidenum">
              <a:rPr lang="en-US" altLang="zh-CN"/>
              <a:pPr/>
              <a:t>5</a:t>
            </a:fld>
            <a:endParaRPr lang="en-US" altLang="zh-CN"/>
          </a:p>
        </p:txBody>
      </p:sp>
      <p:sp>
        <p:nvSpPr>
          <p:cNvPr id="676866" name="Rectangle 2"/>
          <p:cNvSpPr>
            <a:spLocks noGrp="1" noRot="1" noChangeAspect="1" noChangeArrowheads="1" noTextEdit="1"/>
          </p:cNvSpPr>
          <p:nvPr>
            <p:ph type="sldImg"/>
          </p:nvPr>
        </p:nvSpPr>
        <p:spPr>
          <a:ln/>
        </p:spPr>
      </p:sp>
      <p:sp>
        <p:nvSpPr>
          <p:cNvPr id="676867" name="Rectangle 3"/>
          <p:cNvSpPr>
            <a:spLocks noGrp="1" noChangeArrowheads="1"/>
          </p:cNvSpPr>
          <p:nvPr>
            <p:ph type="body" idx="1"/>
          </p:nvPr>
        </p:nvSpPr>
        <p:spPr/>
        <p:txBody>
          <a:bodyPr/>
          <a:lstStyle/>
          <a:p>
            <a:r>
              <a:rPr lang="zh-CN" altLang="en-US" b="0" i="0" u="none" strike="noStrike" dirty="0">
                <a:solidFill>
                  <a:srgbClr val="333333"/>
                </a:solidFill>
                <a:effectLst/>
                <a:latin typeface="-apple-system"/>
              </a:rPr>
              <a:t>在数学中，笛卡尔积是一个重要的概念，用于描述两个集合的所有可能有序对。</a:t>
            </a:r>
            <a:endParaRPr lang="en-US" altLang="zh-CN" b="0" i="0" u="none" strike="noStrike" dirty="0">
              <a:solidFill>
                <a:srgbClr val="333333"/>
              </a:solidFill>
              <a:effectLst/>
              <a:latin typeface="-apple-system"/>
            </a:endParaRPr>
          </a:p>
          <a:p>
            <a:r>
              <a:rPr lang="zh-CN" altLang="en-US" b="0" i="0" u="none" strike="noStrike" dirty="0">
                <a:solidFill>
                  <a:srgbClr val="333333"/>
                </a:solidFill>
                <a:effectLst/>
                <a:latin typeface="-apple-system"/>
              </a:rPr>
              <a:t>在‌</a:t>
            </a:r>
            <a:r>
              <a:rPr lang="zh-CN" altLang="en-US" b="0" i="0" u="none" strike="noStrike" dirty="0">
                <a:effectLst/>
                <a:latin typeface="-apple-system"/>
                <a:hlinkClick r:id="rId3"/>
              </a:rPr>
              <a:t>数据库</a:t>
            </a:r>
            <a:r>
              <a:rPr lang="zh-CN" altLang="en-US" b="0" i="0" u="none" strike="noStrike" dirty="0">
                <a:solidFill>
                  <a:srgbClr val="333333"/>
                </a:solidFill>
                <a:effectLst/>
                <a:latin typeface="-apple-system"/>
              </a:rPr>
              <a:t>中，笛卡尔积通常用于生成两个表的所有可能记录组合。</a:t>
            </a:r>
            <a:endParaRPr lang="zh-CN" altLang="zh-CN" dirty="0"/>
          </a:p>
        </p:txBody>
      </p:sp>
    </p:spTree>
    <p:extLst>
      <p:ext uri="{BB962C8B-B14F-4D97-AF65-F5344CB8AC3E}">
        <p14:creationId xmlns:p14="http://schemas.microsoft.com/office/powerpoint/2010/main" val="63547699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19F48AB-67BE-4F15-AB57-3E99E1F88797}" type="slidenum">
              <a:rPr lang="en-US" altLang="zh-CN"/>
              <a:pPr/>
              <a:t>6</a:t>
            </a:fld>
            <a:endParaRPr lang="en-US" altLang="zh-CN"/>
          </a:p>
        </p:txBody>
      </p:sp>
      <p:sp>
        <p:nvSpPr>
          <p:cNvPr id="676866" name="Rectangle 2"/>
          <p:cNvSpPr>
            <a:spLocks noGrp="1" noRot="1" noChangeAspect="1" noChangeArrowheads="1" noTextEdit="1"/>
          </p:cNvSpPr>
          <p:nvPr>
            <p:ph type="sldImg"/>
          </p:nvPr>
        </p:nvSpPr>
        <p:spPr>
          <a:ln/>
        </p:spPr>
      </p:sp>
      <p:sp>
        <p:nvSpPr>
          <p:cNvPr id="676867" name="Rectangle 3"/>
          <p:cNvSpPr>
            <a:spLocks noGrp="1" noChangeArrowheads="1"/>
          </p:cNvSpPr>
          <p:nvPr>
            <p:ph type="body" idx="1"/>
          </p:nvPr>
        </p:nvSpPr>
        <p:spPr/>
        <p:txBody>
          <a:bodyPr/>
          <a:lstStyle/>
          <a:p>
            <a:r>
              <a:rPr lang="zh-CN" altLang="en-US" b="0" i="0" u="none" strike="noStrike" dirty="0">
                <a:solidFill>
                  <a:srgbClr val="333333"/>
                </a:solidFill>
                <a:effectLst/>
                <a:latin typeface="-apple-system"/>
              </a:rPr>
              <a:t>在数学中，笛卡尔积是一个重要的概念，用于描述两个集合的所有可能有序对。</a:t>
            </a:r>
            <a:endParaRPr lang="en-US" altLang="zh-CN" b="0" i="0" u="none" strike="noStrike" dirty="0">
              <a:solidFill>
                <a:srgbClr val="333333"/>
              </a:solidFill>
              <a:effectLst/>
              <a:latin typeface="-apple-system"/>
            </a:endParaRPr>
          </a:p>
          <a:p>
            <a:r>
              <a:rPr lang="zh-CN" altLang="en-US" b="0" i="0" u="none" strike="noStrike" dirty="0">
                <a:solidFill>
                  <a:srgbClr val="333333"/>
                </a:solidFill>
                <a:effectLst/>
                <a:latin typeface="-apple-system"/>
              </a:rPr>
              <a:t>在‌</a:t>
            </a:r>
            <a:r>
              <a:rPr lang="zh-CN" altLang="en-US" b="0" i="0" u="none" strike="noStrike" dirty="0">
                <a:effectLst/>
                <a:latin typeface="-apple-system"/>
                <a:hlinkClick r:id="rId3"/>
              </a:rPr>
              <a:t>数据库</a:t>
            </a:r>
            <a:r>
              <a:rPr lang="zh-CN" altLang="en-US" b="0" i="0" u="none" strike="noStrike" dirty="0">
                <a:solidFill>
                  <a:srgbClr val="333333"/>
                </a:solidFill>
                <a:effectLst/>
                <a:latin typeface="-apple-system"/>
              </a:rPr>
              <a:t>中，笛卡尔积通常用于生成两个表的所有可能记录组合。</a:t>
            </a:r>
            <a:endParaRPr lang="zh-CN" altLang="zh-CN" dirty="0"/>
          </a:p>
        </p:txBody>
      </p:sp>
    </p:spTree>
    <p:extLst>
      <p:ext uri="{BB962C8B-B14F-4D97-AF65-F5344CB8AC3E}">
        <p14:creationId xmlns:p14="http://schemas.microsoft.com/office/powerpoint/2010/main" val="5161076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19F48AB-67BE-4F15-AB57-3E99E1F88797}" type="slidenum">
              <a:rPr lang="en-US" altLang="zh-CN"/>
              <a:pPr/>
              <a:t>7</a:t>
            </a:fld>
            <a:endParaRPr lang="en-US" altLang="zh-CN"/>
          </a:p>
        </p:txBody>
      </p:sp>
      <p:sp>
        <p:nvSpPr>
          <p:cNvPr id="676866" name="Rectangle 2"/>
          <p:cNvSpPr>
            <a:spLocks noGrp="1" noRot="1" noChangeAspect="1" noChangeArrowheads="1" noTextEdit="1"/>
          </p:cNvSpPr>
          <p:nvPr>
            <p:ph type="sldImg"/>
          </p:nvPr>
        </p:nvSpPr>
        <p:spPr>
          <a:ln/>
        </p:spPr>
      </p:sp>
      <p:sp>
        <p:nvSpPr>
          <p:cNvPr id="676867" name="Rectangle 3"/>
          <p:cNvSpPr>
            <a:spLocks noGrp="1" noChangeArrowheads="1"/>
          </p:cNvSpPr>
          <p:nvPr>
            <p:ph type="body" idx="1"/>
          </p:nvPr>
        </p:nvSpPr>
        <p:spPr/>
        <p:txBody>
          <a:bodyPr/>
          <a:lstStyle/>
          <a:p>
            <a:r>
              <a:rPr lang="zh-CN" altLang="en-US" b="0" i="0" u="none" strike="noStrike" dirty="0">
                <a:solidFill>
                  <a:srgbClr val="333333"/>
                </a:solidFill>
                <a:effectLst/>
                <a:latin typeface="-apple-system"/>
              </a:rPr>
              <a:t>在数学中，笛卡尔积是一个重要的概念，用于描述两个集合的所有可能有序对。</a:t>
            </a:r>
            <a:endParaRPr lang="en-US" altLang="zh-CN" b="0" i="0" u="none" strike="noStrike" dirty="0">
              <a:solidFill>
                <a:srgbClr val="333333"/>
              </a:solidFill>
              <a:effectLst/>
              <a:latin typeface="-apple-system"/>
            </a:endParaRPr>
          </a:p>
          <a:p>
            <a:r>
              <a:rPr lang="zh-CN" altLang="en-US" b="0" i="0" u="none" strike="noStrike" dirty="0">
                <a:solidFill>
                  <a:srgbClr val="333333"/>
                </a:solidFill>
                <a:effectLst/>
                <a:latin typeface="-apple-system"/>
              </a:rPr>
              <a:t>在‌</a:t>
            </a:r>
            <a:r>
              <a:rPr lang="zh-CN" altLang="en-US" b="0" i="0" u="none" strike="noStrike" dirty="0">
                <a:effectLst/>
                <a:latin typeface="-apple-system"/>
                <a:hlinkClick r:id="rId3"/>
              </a:rPr>
              <a:t>数据库</a:t>
            </a:r>
            <a:r>
              <a:rPr lang="zh-CN" altLang="en-US" b="0" i="0" u="none" strike="noStrike" dirty="0">
                <a:solidFill>
                  <a:srgbClr val="333333"/>
                </a:solidFill>
                <a:effectLst/>
                <a:latin typeface="-apple-system"/>
              </a:rPr>
              <a:t>中，笛卡尔积通常用于生成两个表的所有可能记录组合。</a:t>
            </a:r>
            <a:endParaRPr lang="en-US" altLang="zh-CN" b="0" i="0" u="none" strike="noStrike" dirty="0">
              <a:solidFill>
                <a:srgbClr val="333333"/>
              </a:solidFill>
              <a:effectLst/>
              <a:latin typeface="-apple-system"/>
            </a:endParaRPr>
          </a:p>
          <a:p>
            <a:endParaRPr lang="zh-CN" altLang="zh-CN" dirty="0"/>
          </a:p>
        </p:txBody>
      </p:sp>
    </p:spTree>
    <p:extLst>
      <p:ext uri="{BB962C8B-B14F-4D97-AF65-F5344CB8AC3E}">
        <p14:creationId xmlns:p14="http://schemas.microsoft.com/office/powerpoint/2010/main" val="11666614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219F48AB-67BE-4F15-AB57-3E99E1F88797}" type="slidenum">
              <a:rPr lang="en-US" altLang="zh-CN"/>
              <a:pPr/>
              <a:t>8</a:t>
            </a:fld>
            <a:endParaRPr lang="en-US" altLang="zh-CN"/>
          </a:p>
        </p:txBody>
      </p:sp>
      <p:sp>
        <p:nvSpPr>
          <p:cNvPr id="676866" name="Rectangle 2"/>
          <p:cNvSpPr>
            <a:spLocks noGrp="1" noRot="1" noChangeAspect="1" noChangeArrowheads="1" noTextEdit="1"/>
          </p:cNvSpPr>
          <p:nvPr>
            <p:ph type="sldImg"/>
          </p:nvPr>
        </p:nvSpPr>
        <p:spPr>
          <a:ln/>
        </p:spPr>
      </p:sp>
      <p:sp>
        <p:nvSpPr>
          <p:cNvPr id="676867" name="Rectangle 3"/>
          <p:cNvSpPr>
            <a:spLocks noGrp="1" noChangeArrowheads="1"/>
          </p:cNvSpPr>
          <p:nvPr>
            <p:ph type="body" idx="1"/>
          </p:nvPr>
        </p:nvSpPr>
        <p:spPr/>
        <p:txBody>
          <a:bodyPr/>
          <a:lstStyle/>
          <a:p>
            <a:r>
              <a:rPr lang="zh-CN" altLang="en-US" b="0" i="0" u="none" strike="noStrike" dirty="0">
                <a:solidFill>
                  <a:srgbClr val="333333"/>
                </a:solidFill>
                <a:effectLst/>
                <a:latin typeface="-apple-system"/>
              </a:rPr>
              <a:t>在数学中，笛卡尔积是一个重要的概念，用于描述两个集合的所有可能有序对。</a:t>
            </a:r>
            <a:endParaRPr lang="en-US" altLang="zh-CN" b="0" i="0" u="none" strike="noStrike" dirty="0">
              <a:solidFill>
                <a:srgbClr val="333333"/>
              </a:solidFill>
              <a:effectLst/>
              <a:latin typeface="-apple-system"/>
            </a:endParaRPr>
          </a:p>
          <a:p>
            <a:r>
              <a:rPr lang="zh-CN" altLang="en-US" b="0" i="0" u="none" strike="noStrike" dirty="0">
                <a:solidFill>
                  <a:srgbClr val="333333"/>
                </a:solidFill>
                <a:effectLst/>
                <a:latin typeface="-apple-system"/>
              </a:rPr>
              <a:t>在‌</a:t>
            </a:r>
            <a:r>
              <a:rPr lang="zh-CN" altLang="en-US" b="0" i="0" u="none" strike="noStrike" dirty="0">
                <a:effectLst/>
                <a:latin typeface="-apple-system"/>
                <a:hlinkClick r:id="rId3"/>
              </a:rPr>
              <a:t>数据库</a:t>
            </a:r>
            <a:r>
              <a:rPr lang="zh-CN" altLang="en-US" b="0" i="0" u="none" strike="noStrike" dirty="0">
                <a:solidFill>
                  <a:srgbClr val="333333"/>
                </a:solidFill>
                <a:effectLst/>
                <a:latin typeface="-apple-system"/>
              </a:rPr>
              <a:t>中，笛卡尔积通常用于生成两个表的所有可能记录组合。</a:t>
            </a:r>
            <a:endParaRPr lang="en-US" altLang="zh-CN" b="0" i="0" u="none" strike="noStrike" dirty="0">
              <a:solidFill>
                <a:srgbClr val="333333"/>
              </a:solidFill>
              <a:effectLst/>
              <a:latin typeface="-apple-system"/>
            </a:endParaRPr>
          </a:p>
          <a:p>
            <a:endParaRPr lang="zh-CN" altLang="zh-CN" dirty="0"/>
          </a:p>
        </p:txBody>
      </p:sp>
    </p:spTree>
    <p:extLst>
      <p:ext uri="{BB962C8B-B14F-4D97-AF65-F5344CB8AC3E}">
        <p14:creationId xmlns:p14="http://schemas.microsoft.com/office/powerpoint/2010/main" val="82266933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9</a:t>
            </a:fld>
            <a:endParaRPr lang="en-US" altLang="zh-CN"/>
          </a:p>
        </p:txBody>
      </p:sp>
    </p:spTree>
    <p:extLst>
      <p:ext uri="{BB962C8B-B14F-4D97-AF65-F5344CB8AC3E}">
        <p14:creationId xmlns:p14="http://schemas.microsoft.com/office/powerpoint/2010/main" val="3396849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3.2 </a:t>
            </a:r>
            <a:r>
              <a:rPr kumimoji="1" lang="zh-CN" altLang="en-US" dirty="0"/>
              <a:t>为什么关系中的元组没有先后顺序？ 答：由于关系定义为元组的集合，而集合中的元素是没有顺序的，因此关系中的元组也就没有先后的顺序（对用户而言）。这样既能减少逻辑排序，又便于在关系数据库中引进集合论的理论。</a:t>
            </a:r>
            <a:endParaRPr kumimoji="1" lang="en-US" altLang="zh-CN" dirty="0"/>
          </a:p>
          <a:p>
            <a:endParaRPr kumimoji="1" lang="en-US" altLang="zh-CN" dirty="0"/>
          </a:p>
          <a:p>
            <a:r>
              <a:rPr kumimoji="1" lang="en-US" altLang="zh-CN" dirty="0"/>
              <a:t>3.3 </a:t>
            </a:r>
            <a:r>
              <a:rPr kumimoji="1" lang="zh-CN" altLang="en-US" dirty="0"/>
              <a:t>为什么关系中不允许有重复元组？</a:t>
            </a:r>
          </a:p>
          <a:p>
            <a:r>
              <a:rPr kumimoji="1" lang="zh-CN" altLang="en-US" dirty="0"/>
              <a:t>答：每个关系模式都有一个主键，在关系中主键值是不允许重复的。如果关系中有重复元组，那么 其主键值肯定相等，起不了惟一标识作用，因此关系中不允许有重复元组。</a:t>
            </a:r>
            <a:endParaRPr kumimoji="1" lang="en-US" altLang="zh-CN" dirty="0"/>
          </a:p>
          <a:p>
            <a:endParaRPr kumimoji="1" lang="en-US" altLang="zh-CN" dirty="0"/>
          </a:p>
          <a:p>
            <a:r>
              <a:rPr kumimoji="1" lang="en-US" altLang="zh-CN" dirty="0"/>
              <a:t>3.4 </a:t>
            </a:r>
            <a:r>
              <a:rPr kumimoji="1" lang="zh-CN" altLang="en-US" dirty="0"/>
              <a:t>关系与普通表格、文件有什么区别？</a:t>
            </a:r>
          </a:p>
          <a:p>
            <a:r>
              <a:rPr kumimoji="1" lang="zh-CN" altLang="en-US" dirty="0"/>
              <a:t>答：关系与表格、文件相比，有下列 </a:t>
            </a:r>
            <a:r>
              <a:rPr kumimoji="1" lang="en-US" altLang="zh-CN" dirty="0"/>
              <a:t>4 </a:t>
            </a:r>
            <a:r>
              <a:rPr kumimoji="1" lang="zh-CN" altLang="en-US" dirty="0"/>
              <a:t>个不同点： 属性值不可分解、没有重复的元组、没有行序、使用时有列序。</a:t>
            </a:r>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10</a:t>
            </a:fld>
            <a:endParaRPr lang="en-US" altLang="zh-CN"/>
          </a:p>
        </p:txBody>
      </p:sp>
    </p:spTree>
    <p:extLst>
      <p:ext uri="{BB962C8B-B14F-4D97-AF65-F5344CB8AC3E}">
        <p14:creationId xmlns:p14="http://schemas.microsoft.com/office/powerpoint/2010/main" val="229794745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7"/>
          <p:cNvSpPr>
            <a:spLocks noGrp="1" noChangeArrowheads="1"/>
          </p:cNvSpPr>
          <p:nvPr>
            <p:ph type="sldNum" sz="quarter" idx="5"/>
          </p:nvPr>
        </p:nvSpPr>
        <p:spPr>
          <a:ln/>
        </p:spPr>
        <p:txBody>
          <a:bodyPr/>
          <a:lstStyle/>
          <a:p>
            <a:fld id="{8ACCC4CB-F2BA-404B-B574-5A4A75868CDA}" type="slidenum">
              <a:rPr lang="en-US" altLang="zh-CN"/>
              <a:pPr/>
              <a:t>17</a:t>
            </a:fld>
            <a:endParaRPr lang="en-US" altLang="zh-CN"/>
          </a:p>
        </p:txBody>
      </p:sp>
      <p:sp>
        <p:nvSpPr>
          <p:cNvPr id="670722" name="Rectangle 2"/>
          <p:cNvSpPr>
            <a:spLocks noGrp="1" noRot="1" noChangeAspect="1" noChangeArrowheads="1" noTextEdit="1"/>
          </p:cNvSpPr>
          <p:nvPr>
            <p:ph type="sldImg"/>
          </p:nvPr>
        </p:nvSpPr>
        <p:spPr>
          <a:ln/>
        </p:spPr>
      </p:sp>
      <p:sp>
        <p:nvSpPr>
          <p:cNvPr id="670723" name="Rectangle 3"/>
          <p:cNvSpPr>
            <a:spLocks noGrp="1" noChangeArrowheads="1"/>
          </p:cNvSpPr>
          <p:nvPr>
            <p:ph type="body" idx="1"/>
          </p:nvPr>
        </p:nvSpPr>
        <p:spPr/>
        <p:txBody>
          <a:bodyPr/>
          <a:lstStyle/>
          <a:p>
            <a:endParaRPr lang="zh-CN" altLang="zh-C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3.5 </a:t>
            </a:r>
            <a:r>
              <a:rPr kumimoji="1" lang="zh-CN" altLang="en-US" dirty="0"/>
              <a:t>笛卡儿积、等值联结、自然联结三者有什么区别？</a:t>
            </a:r>
          </a:p>
          <a:p>
            <a:endParaRPr kumimoji="1" lang="zh-CN" altLang="en-US" dirty="0"/>
          </a:p>
          <a:p>
            <a:r>
              <a:rPr kumimoji="1" lang="zh-CN" altLang="en-US" dirty="0"/>
              <a:t>答：笛卡儿积是关系代数中的一个基本操作，而等值联结和自然联结是关系代数中的组合操作。等 值联结是在笛卡儿积的基础上选择满足两个关系中给定属性值相等的元组的集合。自然联接是在两 个关系的相同属性组上的等值连接。并且自然联接要在结果中把重复的属性去掉</a:t>
            </a:r>
            <a:r>
              <a:rPr kumimoji="1" lang="en-US" altLang="zh-CN" dirty="0"/>
              <a:t>,</a:t>
            </a:r>
            <a:r>
              <a:rPr kumimoji="1" lang="zh-CN" altLang="en-US" dirty="0"/>
              <a:t>而等值连接则不 必。</a:t>
            </a:r>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18</a:t>
            </a:fld>
            <a:endParaRPr lang="en-US" altLang="zh-CN"/>
          </a:p>
        </p:txBody>
      </p:sp>
    </p:spTree>
    <p:extLst>
      <p:ext uri="{BB962C8B-B14F-4D97-AF65-F5344CB8AC3E}">
        <p14:creationId xmlns:p14="http://schemas.microsoft.com/office/powerpoint/2010/main" val="12194202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相同的属性组</a:t>
            </a:r>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34</a:t>
            </a:fld>
            <a:endParaRPr lang="en-US" altLang="zh-CN"/>
          </a:p>
        </p:txBody>
      </p:sp>
    </p:spTree>
    <p:extLst>
      <p:ext uri="{BB962C8B-B14F-4D97-AF65-F5344CB8AC3E}">
        <p14:creationId xmlns:p14="http://schemas.microsoft.com/office/powerpoint/2010/main" val="239944639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3.5 </a:t>
            </a:r>
            <a:r>
              <a:rPr kumimoji="1" lang="zh-CN" altLang="en-US" dirty="0"/>
              <a:t>笛卡儿积、等值联结、自然联结三者有什么区别？</a:t>
            </a:r>
          </a:p>
          <a:p>
            <a:endParaRPr kumimoji="1" lang="zh-CN" altLang="en-US" dirty="0"/>
          </a:p>
          <a:p>
            <a:r>
              <a:rPr kumimoji="1" lang="zh-CN" altLang="en-US" dirty="0"/>
              <a:t>答：笛卡儿积是关系代数中的一个基本操作，而等值联结和自然联结是关系代数中的组合操作。等值联结是在笛卡儿积的基础上选择满足两个关系中给定属性值相等的元组的集合。自然联接是在两 个关系的相同属性组上的等值连接。并且自然联接要在结果中把重复的属性去掉</a:t>
            </a:r>
            <a:r>
              <a:rPr kumimoji="1" lang="en-US" altLang="zh-CN" dirty="0"/>
              <a:t>,</a:t>
            </a:r>
            <a:r>
              <a:rPr kumimoji="1" lang="zh-CN" altLang="en-US" dirty="0"/>
              <a:t>而等值连接则不 必。</a:t>
            </a:r>
            <a:endParaRPr kumimoji="1" lang="en-US" altLang="zh-CN" dirty="0"/>
          </a:p>
          <a:p>
            <a:endParaRPr kumimoji="1" lang="en-US" altLang="zh-CN" dirty="0"/>
          </a:p>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zh-CN" sz="1200" kern="1200" dirty="0">
                <a:solidFill>
                  <a:schemeClr val="tx1"/>
                </a:solidFill>
                <a:effectLst/>
                <a:latin typeface="Times New Roman" pitchFamily="18" charset="0"/>
                <a:ea typeface="宋体" pitchFamily="2" charset="-122"/>
                <a:cs typeface="+mn-cs"/>
              </a:rPr>
              <a:t>若在等值连接中把目标列中重复的属性列去掉则为自然连接。 </a:t>
            </a:r>
            <a:r>
              <a:rPr kumimoji="1" lang="en-US" altLang="zh-CN" sz="1200" kern="1200" dirty="0">
                <a:solidFill>
                  <a:schemeClr val="tx1"/>
                </a:solidFill>
                <a:effectLst/>
                <a:latin typeface="Times New Roman" pitchFamily="18" charset="0"/>
                <a:ea typeface="宋体" pitchFamily="2" charset="-122"/>
                <a:cs typeface="+mn-cs"/>
              </a:rPr>
              <a:t>F</a:t>
            </a:r>
            <a:endParaRPr kumimoji="1" lang="zh-CN" altLang="zh-CN" sz="1200" kern="1200" dirty="0">
              <a:solidFill>
                <a:schemeClr val="tx1"/>
              </a:solidFill>
              <a:effectLst/>
              <a:latin typeface="Times New Roman" pitchFamily="18" charset="0"/>
              <a:ea typeface="宋体" pitchFamily="2" charset="-122"/>
              <a:cs typeface="+mn-cs"/>
            </a:endParaRPr>
          </a:p>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36</a:t>
            </a:fld>
            <a:endParaRPr lang="en-US" altLang="zh-CN"/>
          </a:p>
        </p:txBody>
      </p:sp>
    </p:spTree>
    <p:extLst>
      <p:ext uri="{BB962C8B-B14F-4D97-AF65-F5344CB8AC3E}">
        <p14:creationId xmlns:p14="http://schemas.microsoft.com/office/powerpoint/2010/main" val="9934213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50-59</a:t>
            </a:r>
            <a:r>
              <a:rPr kumimoji="1" lang="zh-CN" altLang="en-US" dirty="0"/>
              <a:t>页</a:t>
            </a:r>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37</a:t>
            </a:fld>
            <a:endParaRPr lang="en-US" altLang="zh-CN"/>
          </a:p>
        </p:txBody>
      </p:sp>
    </p:spTree>
    <p:extLst>
      <p:ext uri="{BB962C8B-B14F-4D97-AF65-F5344CB8AC3E}">
        <p14:creationId xmlns:p14="http://schemas.microsoft.com/office/powerpoint/2010/main" val="338615432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u="sng" dirty="0">
                <a:solidFill>
                  <a:schemeClr val="bg2"/>
                </a:solidFill>
              </a:rPr>
              <a:t>JNO</a:t>
            </a:r>
            <a:r>
              <a:rPr lang="en-US" altLang="zh-CN" sz="1200" b="1" dirty="0">
                <a:solidFill>
                  <a:schemeClr val="bg2"/>
                </a:solidFill>
              </a:rPr>
              <a:t>,JNAME,JCITY,BALANCE</a:t>
            </a:r>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48</a:t>
            </a:fld>
            <a:endParaRPr lang="en-US" altLang="zh-CN"/>
          </a:p>
        </p:txBody>
      </p:sp>
    </p:spTree>
    <p:extLst>
      <p:ext uri="{BB962C8B-B14F-4D97-AF65-F5344CB8AC3E}">
        <p14:creationId xmlns:p14="http://schemas.microsoft.com/office/powerpoint/2010/main" val="40614748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lnSpc>
                <a:spcPct val="150000"/>
              </a:lnSpc>
              <a:spcBef>
                <a:spcPts val="600"/>
              </a:spcBef>
            </a:pPr>
            <a:r>
              <a:rPr lang="en-US" altLang="zh-CN" sz="1200" b="1" dirty="0">
                <a:solidFill>
                  <a:srgbClr val="660033"/>
                </a:solidFill>
              </a:rPr>
              <a:t>{</a:t>
            </a:r>
            <a:r>
              <a:rPr lang="en-US" altLang="zh-CN" sz="1200" b="1" dirty="0">
                <a:solidFill>
                  <a:srgbClr val="FF0000"/>
                </a:solidFill>
              </a:rPr>
              <a:t>t</a:t>
            </a:r>
            <a:r>
              <a:rPr lang="en-US" altLang="zh-CN" sz="1200" b="1" dirty="0">
                <a:solidFill>
                  <a:srgbClr val="660033"/>
                </a:solidFill>
              </a:rPr>
              <a:t>|(</a:t>
            </a:r>
            <a:r>
              <a:rPr lang="en-US" altLang="zh-CN" sz="1200" b="1" dirty="0">
                <a:solidFill>
                  <a:srgbClr val="660033"/>
                </a:solidFill>
                <a:sym typeface="Symbol" pitchFamily="18" charset="2"/>
              </a:rPr>
              <a:t></a:t>
            </a:r>
            <a:r>
              <a:rPr lang="en-US" altLang="zh-CN" sz="1200" b="1" dirty="0">
                <a:solidFill>
                  <a:srgbClr val="660033"/>
                </a:solidFill>
              </a:rPr>
              <a:t>u)(SPJ(u)</a:t>
            </a:r>
            <a:r>
              <a:rPr lang="en-US" altLang="zh-CN" sz="1200" b="1" dirty="0">
                <a:solidFill>
                  <a:srgbClr val="660033"/>
                </a:solidFill>
                <a:sym typeface="Symbol" pitchFamily="18" charset="2"/>
              </a:rPr>
              <a:t>∧(</a:t>
            </a:r>
            <a:r>
              <a:rPr lang="en-US" altLang="zh-CN" sz="1200" b="1" dirty="0">
                <a:solidFill>
                  <a:srgbClr val="660033"/>
                </a:solidFill>
              </a:rPr>
              <a:t>v)(SPJ(v)</a:t>
            </a:r>
            <a:r>
              <a:rPr lang="en-US" altLang="zh-CN" sz="1200" b="1" dirty="0">
                <a:solidFill>
                  <a:srgbClr val="660033"/>
                </a:solidFill>
                <a:sym typeface="Symbol" pitchFamily="18" charset="2"/>
              </a:rPr>
              <a:t>∧(</a:t>
            </a:r>
            <a:r>
              <a:rPr lang="en-US" altLang="zh-CN" sz="1200" b="1" dirty="0">
                <a:solidFill>
                  <a:srgbClr val="660033"/>
                </a:solidFill>
                <a:highlight>
                  <a:srgbClr val="00FFFF"/>
                </a:highlight>
                <a:sym typeface="Symbol" pitchFamily="18" charset="2"/>
              </a:rPr>
              <a:t>v[1]</a:t>
            </a:r>
            <a:r>
              <a:rPr lang="en-US" altLang="zh-CN" sz="1200" b="1" dirty="0">
                <a:solidFill>
                  <a:srgbClr val="660033"/>
                </a:solidFill>
                <a:sym typeface="Symbol" pitchFamily="18" charset="2"/>
              </a:rPr>
              <a:t>=</a:t>
            </a:r>
            <a:r>
              <a:rPr lang="en-US" altLang="zh-CN" sz="1200" b="1" dirty="0">
                <a:solidFill>
                  <a:srgbClr val="660033"/>
                </a:solidFill>
                <a:latin typeface="Times New Roman"/>
                <a:sym typeface="Symbol" pitchFamily="18" charset="2"/>
              </a:rPr>
              <a:t>‘</a:t>
            </a:r>
            <a:r>
              <a:rPr lang="en-US" altLang="zh-CN" sz="1200" b="1" dirty="0">
                <a:solidFill>
                  <a:srgbClr val="660033"/>
                </a:solidFill>
                <a:sym typeface="Symbol" pitchFamily="18" charset="2"/>
              </a:rPr>
              <a:t>S1</a:t>
            </a:r>
            <a:r>
              <a:rPr lang="en-US" altLang="zh-CN" sz="1200" b="1" dirty="0">
                <a:solidFill>
                  <a:srgbClr val="660033"/>
                </a:solidFill>
                <a:latin typeface="Times New Roman"/>
                <a:sym typeface="Symbol" pitchFamily="18" charset="2"/>
              </a:rPr>
              <a:t>’</a:t>
            </a:r>
            <a:r>
              <a:rPr lang="en-US" altLang="zh-CN" sz="1200" b="1" dirty="0">
                <a:solidFill>
                  <a:srgbClr val="660033"/>
                </a:solidFill>
                <a:sym typeface="Symbol" pitchFamily="18" charset="2"/>
              </a:rPr>
              <a:t></a:t>
            </a:r>
            <a:r>
              <a:rPr lang="en-US" altLang="zh-CN" sz="1200" b="1" dirty="0">
                <a:solidFill>
                  <a:srgbClr val="660033"/>
                </a:solidFill>
              </a:rPr>
              <a:t>(</a:t>
            </a:r>
            <a:r>
              <a:rPr lang="en-US" altLang="zh-CN" sz="1200" b="1" dirty="0">
                <a:solidFill>
                  <a:srgbClr val="660033"/>
                </a:solidFill>
                <a:sym typeface="Symbol" pitchFamily="18" charset="2"/>
              </a:rPr>
              <a:t></a:t>
            </a:r>
            <a:r>
              <a:rPr lang="en-US" altLang="zh-CN" sz="1200" b="1" dirty="0">
                <a:solidFill>
                  <a:srgbClr val="660033"/>
                </a:solidFill>
              </a:rPr>
              <a:t>w)(SPJ(w)</a:t>
            </a:r>
          </a:p>
          <a:p>
            <a:pPr algn="l">
              <a:lnSpc>
                <a:spcPct val="150000"/>
              </a:lnSpc>
              <a:spcBef>
                <a:spcPts val="600"/>
              </a:spcBef>
            </a:pPr>
            <a:r>
              <a:rPr lang="en-US" altLang="zh-CN" sz="1200" b="1" dirty="0">
                <a:solidFill>
                  <a:srgbClr val="660033"/>
                </a:solidFill>
              </a:rPr>
              <a:t>     </a:t>
            </a:r>
            <a:r>
              <a:rPr lang="en-US" altLang="zh-CN" sz="1200" b="1" dirty="0">
                <a:solidFill>
                  <a:srgbClr val="660033"/>
                </a:solidFill>
                <a:sym typeface="Symbol" pitchFamily="18" charset="2"/>
              </a:rPr>
              <a:t>∧</a:t>
            </a:r>
            <a:r>
              <a:rPr lang="en-US" altLang="zh-CN" sz="1200" b="1" dirty="0">
                <a:solidFill>
                  <a:srgbClr val="660033"/>
                </a:solidFill>
                <a:highlight>
                  <a:srgbClr val="00FFFF"/>
                </a:highlight>
                <a:sym typeface="Symbol" pitchFamily="18" charset="2"/>
              </a:rPr>
              <a:t>w[3]</a:t>
            </a:r>
            <a:r>
              <a:rPr lang="en-US" altLang="zh-CN" sz="1200" b="1" dirty="0">
                <a:solidFill>
                  <a:srgbClr val="660033"/>
                </a:solidFill>
                <a:sym typeface="Symbol" pitchFamily="18" charset="2"/>
              </a:rPr>
              <a:t>=</a:t>
            </a:r>
            <a:r>
              <a:rPr lang="en-US" altLang="zh-CN" sz="1200" b="1" dirty="0">
                <a:solidFill>
                  <a:srgbClr val="660033"/>
                </a:solidFill>
                <a:highlight>
                  <a:srgbClr val="00FFFF"/>
                </a:highlight>
                <a:sym typeface="Symbol" pitchFamily="18" charset="2"/>
              </a:rPr>
              <a:t>u[3]</a:t>
            </a:r>
            <a:r>
              <a:rPr lang="en-US" altLang="zh-CN" sz="1200" b="1" dirty="0">
                <a:solidFill>
                  <a:srgbClr val="660033"/>
                </a:solidFill>
                <a:sym typeface="Symbol" pitchFamily="18" charset="2"/>
              </a:rPr>
              <a:t>∧</a:t>
            </a:r>
            <a:r>
              <a:rPr lang="en-US" altLang="zh-CN" sz="1200" b="1" dirty="0">
                <a:solidFill>
                  <a:srgbClr val="660033"/>
                </a:solidFill>
                <a:highlight>
                  <a:srgbClr val="00FFFF"/>
                </a:highlight>
                <a:sym typeface="Symbol" pitchFamily="18" charset="2"/>
              </a:rPr>
              <a:t>w[2]</a:t>
            </a:r>
            <a:r>
              <a:rPr lang="en-US" altLang="zh-CN" sz="1200" b="1" dirty="0">
                <a:solidFill>
                  <a:srgbClr val="660033"/>
                </a:solidFill>
                <a:sym typeface="Symbol" pitchFamily="18" charset="2"/>
              </a:rPr>
              <a:t>=</a:t>
            </a:r>
            <a:r>
              <a:rPr lang="en-US" altLang="zh-CN" sz="1200" b="1" dirty="0">
                <a:solidFill>
                  <a:srgbClr val="660033"/>
                </a:solidFill>
                <a:highlight>
                  <a:srgbClr val="00FFFF"/>
                </a:highlight>
                <a:sym typeface="Symbol" pitchFamily="18" charset="2"/>
              </a:rPr>
              <a:t>v[2]</a:t>
            </a:r>
            <a:r>
              <a:rPr lang="en-US" altLang="zh-CN" sz="1200" b="1" dirty="0">
                <a:solidFill>
                  <a:srgbClr val="660033"/>
                </a:solidFill>
                <a:sym typeface="Symbol" pitchFamily="18" charset="2"/>
              </a:rPr>
              <a:t>)))∧</a:t>
            </a:r>
            <a:r>
              <a:rPr lang="en-US" altLang="zh-CN" sz="1200" b="1" dirty="0">
                <a:solidFill>
                  <a:srgbClr val="FF0000"/>
                </a:solidFill>
                <a:sym typeface="Symbol" pitchFamily="18" charset="2"/>
              </a:rPr>
              <a:t>t</a:t>
            </a:r>
            <a:r>
              <a:rPr lang="en-US" altLang="zh-CN" sz="1200" b="1" dirty="0">
                <a:solidFill>
                  <a:srgbClr val="660033"/>
                </a:solidFill>
                <a:sym typeface="Symbol" pitchFamily="18" charset="2"/>
              </a:rPr>
              <a:t>[l]=u[3])}  </a:t>
            </a:r>
          </a:p>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50</a:t>
            </a:fld>
            <a:endParaRPr lang="en-US" altLang="zh-CN"/>
          </a:p>
        </p:txBody>
      </p:sp>
    </p:spTree>
    <p:extLst>
      <p:ext uri="{BB962C8B-B14F-4D97-AF65-F5344CB8AC3E}">
        <p14:creationId xmlns:p14="http://schemas.microsoft.com/office/powerpoint/2010/main" val="208155121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投影：重排序</a:t>
            </a:r>
            <a:r>
              <a:rPr kumimoji="1" lang="zh-CN" altLang="en-US"/>
              <a:t>，删</a:t>
            </a:r>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56</a:t>
            </a:fld>
            <a:endParaRPr lang="en-US" altLang="zh-CN"/>
          </a:p>
        </p:txBody>
      </p:sp>
    </p:spTree>
    <p:extLst>
      <p:ext uri="{BB962C8B-B14F-4D97-AF65-F5344CB8AC3E}">
        <p14:creationId xmlns:p14="http://schemas.microsoft.com/office/powerpoint/2010/main" val="29207660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57</a:t>
            </a:fld>
            <a:endParaRPr lang="en-US" altLang="zh-CN"/>
          </a:p>
        </p:txBody>
      </p:sp>
    </p:spTree>
    <p:extLst>
      <p:ext uri="{BB962C8B-B14F-4D97-AF65-F5344CB8AC3E}">
        <p14:creationId xmlns:p14="http://schemas.microsoft.com/office/powerpoint/2010/main" val="737034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1</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Α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α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读音：阿尔法。</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2</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Β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β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读音：贝塔。</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3</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Γ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γ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读音：伽马。</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4</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Δ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δ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读音：德尔塔。</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5</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Ε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ε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读音：伊普西龙。</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6</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Ζ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ζ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读音：截塔。</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7</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Η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η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读音：艾塔。</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8</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Θ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θ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读音：西塔。</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9</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Ι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ι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读音：约塔。</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10</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Κ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κ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读音：卡帕。</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11</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 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λ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读音：兰布达。</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12</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Μ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μ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读音：缪。</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13</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Ν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ν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读音：纽。</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14</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Ξ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ξ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读音：克西。</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15</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Ο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ο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读音：奥密克戎。</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16</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 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π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读音：派。</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17</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Ρ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ρ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读音：肉。</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18</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 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σ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读音：西格马。</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19</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Τ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τ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读音：套。</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20</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Υ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υ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读音：宇普西龙。</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21</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Φ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φ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读音：佛爱。</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22</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Χ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χ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读音：西。</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23</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Ψ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ψ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读音：普西。</a:t>
            </a:r>
          </a:p>
          <a:p>
            <a:pPr algn="l"/>
            <a:r>
              <a:rPr lang="en-US" altLang="zh-CN" b="0" i="0" u="none" strike="noStrike" dirty="0">
                <a:solidFill>
                  <a:srgbClr val="000000"/>
                </a:solidFill>
                <a:effectLst/>
                <a:latin typeface="微软雅黑" panose="020B0503020204020204" pitchFamily="34" charset="-122"/>
                <a:ea typeface="微软雅黑" panose="020B0503020204020204" pitchFamily="34" charset="-122"/>
              </a:rPr>
              <a:t>24</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、大写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Ω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小写</a:t>
            </a:r>
            <a:r>
              <a:rPr lang="el-GR" altLang="zh-CN" b="0" i="0" u="none" strike="noStrike" dirty="0">
                <a:solidFill>
                  <a:srgbClr val="000000"/>
                </a:solidFill>
                <a:effectLst/>
                <a:latin typeface="微软雅黑" panose="020B0503020204020204" pitchFamily="34" charset="-122"/>
                <a:ea typeface="微软雅黑" panose="020B0503020204020204" pitchFamily="34" charset="-122"/>
              </a:rPr>
              <a:t>ω </a:t>
            </a:r>
            <a:r>
              <a:rPr lang="zh-CN" altLang="en-US" b="0" i="0" u="none" strike="noStrike" dirty="0">
                <a:solidFill>
                  <a:srgbClr val="000000"/>
                </a:solidFill>
                <a:effectLst/>
                <a:latin typeface="微软雅黑" panose="020B0503020204020204" pitchFamily="34" charset="-122"/>
                <a:ea typeface="微软雅黑" panose="020B0503020204020204" pitchFamily="34" charset="-122"/>
              </a:rPr>
              <a:t>读音：欧米伽。</a:t>
            </a:r>
          </a:p>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58</a:t>
            </a:fld>
            <a:endParaRPr lang="en-US" altLang="zh-CN"/>
          </a:p>
        </p:txBody>
      </p:sp>
    </p:spTree>
    <p:extLst>
      <p:ext uri="{BB962C8B-B14F-4D97-AF65-F5344CB8AC3E}">
        <p14:creationId xmlns:p14="http://schemas.microsoft.com/office/powerpoint/2010/main" val="428025821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Times New Roman" pitchFamily="18" charset="0"/>
                <a:ea typeface="宋体" pitchFamily="2" charset="-122"/>
                <a:cs typeface="+mn-cs"/>
              </a:rPr>
              <a:t>量词运算的优先次序高于算数比较符</a:t>
            </a:r>
            <a:r>
              <a:rPr lang="zh-CN" altLang="zh-CN" dirty="0">
                <a:effectLst/>
              </a:rPr>
              <a:t> </a:t>
            </a:r>
            <a:r>
              <a:rPr lang="en-US" altLang="zh-CN" dirty="0">
                <a:effectLst/>
              </a:rPr>
              <a:t>(F)</a:t>
            </a:r>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61</a:t>
            </a:fld>
            <a:endParaRPr lang="en-US" altLang="zh-CN"/>
          </a:p>
        </p:txBody>
      </p:sp>
    </p:spTree>
    <p:extLst>
      <p:ext uri="{BB962C8B-B14F-4D97-AF65-F5344CB8AC3E}">
        <p14:creationId xmlns:p14="http://schemas.microsoft.com/office/powerpoint/2010/main" val="105503513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u:456;v123</a:t>
            </a:r>
          </a:p>
          <a:p>
            <a:r>
              <a:rPr kumimoji="1" lang="en-US" altLang="zh-CN" dirty="0"/>
              <a:t>u:789;v123,346,569</a:t>
            </a:r>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64</a:t>
            </a:fld>
            <a:endParaRPr lang="en-US" altLang="zh-CN"/>
          </a:p>
        </p:txBody>
      </p:sp>
    </p:spTree>
    <p:extLst>
      <p:ext uri="{BB962C8B-B14F-4D97-AF65-F5344CB8AC3E}">
        <p14:creationId xmlns:p14="http://schemas.microsoft.com/office/powerpoint/2010/main" val="317790588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dirty="0">
                <a:solidFill>
                  <a:schemeClr val="bg2"/>
                </a:solidFill>
              </a:rPr>
              <a:t>S(</a:t>
            </a:r>
            <a:r>
              <a:rPr lang="en-US" altLang="zh-CN" sz="1200" b="1" u="sng" dirty="0">
                <a:solidFill>
                  <a:schemeClr val="bg2"/>
                </a:solidFill>
              </a:rPr>
              <a:t>SNO</a:t>
            </a:r>
            <a:r>
              <a:rPr lang="en-US" altLang="zh-CN" sz="1200" b="1" dirty="0">
                <a:solidFill>
                  <a:schemeClr val="bg2"/>
                </a:solidFill>
              </a:rPr>
              <a:t>,SNAME,SADDR) </a:t>
            </a:r>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66</a:t>
            </a:fld>
            <a:endParaRPr lang="en-US" altLang="zh-CN"/>
          </a:p>
        </p:txBody>
      </p:sp>
    </p:spTree>
    <p:extLst>
      <p:ext uri="{BB962C8B-B14F-4D97-AF65-F5344CB8AC3E}">
        <p14:creationId xmlns:p14="http://schemas.microsoft.com/office/powerpoint/2010/main" val="278671049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en-US" altLang="zh-CN" sz="1200" b="1" u="sng" dirty="0">
                <a:solidFill>
                  <a:schemeClr val="bg2"/>
                </a:solidFill>
              </a:rPr>
              <a:t>PNO,</a:t>
            </a:r>
            <a:r>
              <a:rPr lang="en-US" altLang="zh-CN" sz="1200" b="1" dirty="0">
                <a:solidFill>
                  <a:schemeClr val="bg2"/>
                </a:solidFill>
              </a:rPr>
              <a:t>PNAME,COLOR,WEIGHT</a:t>
            </a:r>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67</a:t>
            </a:fld>
            <a:endParaRPr lang="en-US" altLang="zh-CN"/>
          </a:p>
        </p:txBody>
      </p:sp>
    </p:spTree>
    <p:extLst>
      <p:ext uri="{BB962C8B-B14F-4D97-AF65-F5344CB8AC3E}">
        <p14:creationId xmlns:p14="http://schemas.microsoft.com/office/powerpoint/2010/main" val="213817232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u:456;v123</a:t>
            </a:r>
          </a:p>
          <a:p>
            <a:r>
              <a:rPr kumimoji="1" lang="en-US" altLang="zh-CN" dirty="0"/>
              <a:t>u:789;v123,346,569</a:t>
            </a:r>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71</a:t>
            </a:fld>
            <a:endParaRPr lang="en-US" altLang="zh-CN"/>
          </a:p>
        </p:txBody>
      </p:sp>
    </p:spTree>
    <p:extLst>
      <p:ext uri="{BB962C8B-B14F-4D97-AF65-F5344CB8AC3E}">
        <p14:creationId xmlns:p14="http://schemas.microsoft.com/office/powerpoint/2010/main" val="89168132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zh-CN" sz="1200" kern="1200" dirty="0">
                <a:solidFill>
                  <a:schemeClr val="tx1"/>
                </a:solidFill>
                <a:effectLst/>
                <a:latin typeface="Times New Roman" pitchFamily="18" charset="0"/>
                <a:ea typeface="宋体" pitchFamily="2" charset="-122"/>
                <a:cs typeface="+mn-cs"/>
              </a:rPr>
              <a:t>所有的元组关系演算表达式和域关系演算表达式都可以被转换为关系代数表达式。</a:t>
            </a:r>
            <a:r>
              <a:rPr lang="zh-CN" altLang="zh-CN" dirty="0">
                <a:effectLst/>
              </a:rPr>
              <a:t> </a:t>
            </a:r>
            <a:r>
              <a:rPr lang="en-US" altLang="zh-CN" dirty="0">
                <a:effectLst/>
              </a:rPr>
              <a:t>F</a:t>
            </a:r>
          </a:p>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75</a:t>
            </a:fld>
            <a:endParaRPr lang="en-US" altLang="zh-CN"/>
          </a:p>
        </p:txBody>
      </p:sp>
    </p:spTree>
    <p:extLst>
      <p:ext uri="{BB962C8B-B14F-4D97-AF65-F5344CB8AC3E}">
        <p14:creationId xmlns:p14="http://schemas.microsoft.com/office/powerpoint/2010/main" val="2284454345"/>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3.5 </a:t>
            </a:r>
            <a:r>
              <a:rPr kumimoji="1" lang="zh-CN" altLang="en-US" dirty="0"/>
              <a:t>笛卡儿积、等值联结、自然联结三者有什么区别？</a:t>
            </a:r>
          </a:p>
          <a:p>
            <a:endParaRPr kumimoji="1" lang="zh-CN" altLang="en-US" dirty="0"/>
          </a:p>
          <a:p>
            <a:r>
              <a:rPr kumimoji="1" lang="zh-CN" altLang="en-US" dirty="0"/>
              <a:t>答：笛卡儿积是关系代数中的一个基本操作，而等值联结和自然联结是关系代数中的组合操作。等 值联结是在笛卡儿积的基础上选择满足两个关系中给定属性值相等的元组的集合。自然联接是在两 个关系的相同属性组上的等值连接。并且自然联接要在结果中把重复的属性去掉</a:t>
            </a:r>
            <a:r>
              <a:rPr kumimoji="1" lang="en-US" altLang="zh-CN" dirty="0"/>
              <a:t>,</a:t>
            </a:r>
            <a:r>
              <a:rPr kumimoji="1" lang="zh-CN" altLang="en-US" dirty="0"/>
              <a:t>而等值连接则不 必。</a:t>
            </a:r>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76</a:t>
            </a:fld>
            <a:endParaRPr lang="en-US" altLang="zh-CN"/>
          </a:p>
        </p:txBody>
      </p:sp>
    </p:spTree>
    <p:extLst>
      <p:ext uri="{BB962C8B-B14F-4D97-AF65-F5344CB8AC3E}">
        <p14:creationId xmlns:p14="http://schemas.microsoft.com/office/powerpoint/2010/main" val="368566443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3.5 </a:t>
            </a:r>
            <a:r>
              <a:rPr kumimoji="1" lang="zh-CN" altLang="en-US" dirty="0"/>
              <a:t>笛卡儿积、等值联结、自然联结三者有什么区别？</a:t>
            </a:r>
          </a:p>
          <a:p>
            <a:endParaRPr kumimoji="1" lang="zh-CN" altLang="en-US" dirty="0"/>
          </a:p>
          <a:p>
            <a:r>
              <a:rPr kumimoji="1" lang="zh-CN" altLang="en-US" dirty="0"/>
              <a:t>答：笛卡儿积是关系代数中的一个基本操作，而等值联结和自然联结是关系代数中的组合操作。等 值联结是在笛卡儿积的基础上选择满足两个关系中给定属性值相等的元组的集合。自然联接是在两 个关系的相同属性组上的等值连接。并且自然联接要在结果中把重复的属性去掉</a:t>
            </a:r>
            <a:r>
              <a:rPr kumimoji="1" lang="en-US" altLang="zh-CN" dirty="0"/>
              <a:t>,</a:t>
            </a:r>
            <a:r>
              <a:rPr kumimoji="1" lang="zh-CN" altLang="en-US" dirty="0"/>
              <a:t>而等值连接则不 必。</a:t>
            </a:r>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77</a:t>
            </a:fld>
            <a:endParaRPr lang="en-US" altLang="zh-CN"/>
          </a:p>
        </p:txBody>
      </p:sp>
    </p:spTree>
    <p:extLst>
      <p:ext uri="{BB962C8B-B14F-4D97-AF65-F5344CB8AC3E}">
        <p14:creationId xmlns:p14="http://schemas.microsoft.com/office/powerpoint/2010/main" val="1354821105"/>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3.16 </a:t>
            </a:r>
            <a:r>
              <a:rPr kumimoji="1" lang="zh-CN" altLang="en-US" dirty="0"/>
              <a:t>为什么要对关系代数表达式进行优化？有哪三条启发式规则？对优化起什么作用？ 答：关系代数表达式由关系代数操作组合而成。操作中，以笛卡尔积和联接操作最费时，并 生成大量的中间结果。如果直接按表达式书写的顺序执行，必将花费很多时间，并生成大量 的中间结果，效率较低。在执行前，由 </a:t>
            </a:r>
            <a:r>
              <a:rPr kumimoji="1" lang="en-US" altLang="zh-CN" dirty="0"/>
              <a:t>DBMS </a:t>
            </a:r>
            <a:r>
              <a:rPr kumimoji="1" lang="zh-CN" altLang="en-US" dirty="0"/>
              <a:t>的查询子系统先对关系代数表达式进行优化， 尽可能先执行选择和投影操作，以便减少中间结果，并节省时间。</a:t>
            </a:r>
          </a:p>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78</a:t>
            </a:fld>
            <a:endParaRPr lang="en-US" altLang="zh-CN"/>
          </a:p>
        </p:txBody>
      </p:sp>
    </p:spTree>
    <p:extLst>
      <p:ext uri="{BB962C8B-B14F-4D97-AF65-F5344CB8AC3E}">
        <p14:creationId xmlns:p14="http://schemas.microsoft.com/office/powerpoint/2010/main" val="10376430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优化工作是由 </a:t>
            </a:r>
            <a:r>
              <a:rPr kumimoji="1" lang="en-US" altLang="zh-CN" dirty="0"/>
              <a:t>DBMS </a:t>
            </a:r>
            <a:r>
              <a:rPr kumimoji="1" lang="zh-CN" altLang="en-US" dirty="0"/>
              <a:t>做的，用户书写时不必关心优化一事，仍以简练的形式书写。 三条启发式规则是：尽可能早执行选择操作；尽可能早执行投影操作；把笛卡尔积与附近的 一连串选择和投影合并起来做。</a:t>
            </a:r>
          </a:p>
          <a:p>
            <a:endParaRPr kumimoji="1" lang="zh-CN" altLang="en-US" dirty="0"/>
          </a:p>
          <a:p>
            <a:r>
              <a:rPr kumimoji="1" lang="zh-CN" altLang="en-US" dirty="0"/>
              <a:t>使用这三条规则，可以使计算时尽可能减少中间关系的数据量。</a:t>
            </a:r>
          </a:p>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90</a:t>
            </a:fld>
            <a:endParaRPr lang="en-US" altLang="zh-CN"/>
          </a:p>
        </p:txBody>
      </p:sp>
    </p:spTree>
    <p:extLst>
      <p:ext uri="{BB962C8B-B14F-4D97-AF65-F5344CB8AC3E}">
        <p14:creationId xmlns:p14="http://schemas.microsoft.com/office/powerpoint/2010/main" val="132346562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1" lang="zh-CN" altLang="zh-CN" sz="1200" kern="1200" dirty="0">
                <a:solidFill>
                  <a:schemeClr val="tx1"/>
                </a:solidFill>
                <a:effectLst/>
                <a:latin typeface="Times New Roman" pitchFamily="18" charset="0"/>
                <a:ea typeface="宋体" pitchFamily="2" charset="-122"/>
                <a:cs typeface="+mn-cs"/>
              </a:rPr>
              <a:t>优化树的分组个数和其所具有的笛卡尔积个数一致。</a:t>
            </a:r>
            <a:r>
              <a:rPr kumimoji="1" lang="en-US" altLang="zh-CN" sz="1200" kern="1200" dirty="0">
                <a:solidFill>
                  <a:schemeClr val="tx1"/>
                </a:solidFill>
                <a:effectLst/>
                <a:latin typeface="Times New Roman" pitchFamily="18" charset="0"/>
                <a:ea typeface="宋体" pitchFamily="2" charset="-122"/>
                <a:cs typeface="+mn-cs"/>
              </a:rPr>
              <a:t>F</a:t>
            </a:r>
            <a:endParaRPr kumimoji="1" lang="zh-CN" altLang="zh-CN" sz="1200" kern="1200" dirty="0">
              <a:solidFill>
                <a:schemeClr val="tx1"/>
              </a:solidFill>
              <a:effectLst/>
              <a:latin typeface="Times New Roman" pitchFamily="18" charset="0"/>
              <a:ea typeface="宋体" pitchFamily="2" charset="-122"/>
              <a:cs typeface="+mn-cs"/>
            </a:endParaRPr>
          </a:p>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92</a:t>
            </a:fld>
            <a:endParaRPr lang="en-US" altLang="zh-CN"/>
          </a:p>
        </p:txBody>
      </p:sp>
    </p:spTree>
    <p:extLst>
      <p:ext uri="{BB962C8B-B14F-4D97-AF65-F5344CB8AC3E}">
        <p14:creationId xmlns:p14="http://schemas.microsoft.com/office/powerpoint/2010/main" val="214151933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AA881E-9F45-11CF-60C6-1B37DF183C7C}"/>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D8CAF191-CC5E-2021-CFE7-530A7BE19732}"/>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127EE7D5-A023-6863-1DDC-6812FE758AD6}"/>
              </a:ext>
            </a:extLst>
          </p:cNvPr>
          <p:cNvSpPr>
            <a:spLocks noGrp="1"/>
          </p:cNvSpPr>
          <p:nvPr>
            <p:ph type="body" idx="1"/>
          </p:nvPr>
        </p:nvSpPr>
        <p:spPr/>
        <p:txBody>
          <a:bodyPr/>
          <a:lstStyle/>
          <a:p>
            <a:r>
              <a:rPr kumimoji="1" lang="en-US" altLang="zh-CN" dirty="0"/>
              <a:t>1. </a:t>
            </a:r>
            <a:r>
              <a:rPr kumimoji="1" lang="zh-CN" altLang="en-US" dirty="0"/>
              <a:t>写出该查询的关系代数表达式；</a:t>
            </a:r>
          </a:p>
          <a:p>
            <a:endParaRPr kumimoji="1" lang="zh-CN" altLang="en-US" dirty="0"/>
          </a:p>
          <a:p>
            <a:r>
              <a:rPr kumimoji="1" lang="en-US" altLang="zh-CN" dirty="0"/>
              <a:t>2. </a:t>
            </a:r>
            <a:r>
              <a:rPr kumimoji="1" lang="zh-CN" altLang="en-US" dirty="0"/>
              <a:t>画出该查询初始的关系代数表达式的语法树；</a:t>
            </a:r>
          </a:p>
          <a:p>
            <a:endParaRPr kumimoji="1" lang="zh-CN" altLang="en-US" dirty="0"/>
          </a:p>
          <a:p>
            <a:r>
              <a:rPr kumimoji="1" lang="en-US" altLang="zh-CN" dirty="0"/>
              <a:t>3. </a:t>
            </a:r>
            <a:r>
              <a:rPr kumimoji="1" lang="zh-CN" altLang="en-US" dirty="0"/>
              <a:t>使用查询优化算法，对语法树进行关系代数表达式的查询优化，并画出优化后的语法树。</a:t>
            </a:r>
          </a:p>
        </p:txBody>
      </p:sp>
      <p:sp>
        <p:nvSpPr>
          <p:cNvPr id="4" name="灯片编号占位符 3">
            <a:extLst>
              <a:ext uri="{FF2B5EF4-FFF2-40B4-BE49-F238E27FC236}">
                <a16:creationId xmlns:a16="http://schemas.microsoft.com/office/drawing/2014/main" id="{07E7533C-7519-A137-98E7-23808ECAD01C}"/>
              </a:ext>
            </a:extLst>
          </p:cNvPr>
          <p:cNvSpPr>
            <a:spLocks noGrp="1"/>
          </p:cNvSpPr>
          <p:nvPr>
            <p:ph type="sldNum" sz="quarter" idx="5"/>
          </p:nvPr>
        </p:nvSpPr>
        <p:spPr/>
        <p:txBody>
          <a:bodyPr/>
          <a:lstStyle/>
          <a:p>
            <a:fld id="{3226A61A-A51F-4590-9E1E-5938672F8115}" type="slidenum">
              <a:rPr lang="en-US" altLang="zh-CN" smtClean="0"/>
              <a:pPr/>
              <a:t>93</a:t>
            </a:fld>
            <a:endParaRPr lang="en-US" altLang="zh-CN"/>
          </a:p>
        </p:txBody>
      </p:sp>
    </p:spTree>
    <p:extLst>
      <p:ext uri="{BB962C8B-B14F-4D97-AF65-F5344CB8AC3E}">
        <p14:creationId xmlns:p14="http://schemas.microsoft.com/office/powerpoint/2010/main" val="349624243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94</a:t>
            </a:fld>
            <a:endParaRPr lang="en-US" altLang="zh-CN"/>
          </a:p>
        </p:txBody>
      </p:sp>
    </p:spTree>
    <p:extLst>
      <p:ext uri="{BB962C8B-B14F-4D97-AF65-F5344CB8AC3E}">
        <p14:creationId xmlns:p14="http://schemas.microsoft.com/office/powerpoint/2010/main" val="1447304773"/>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base" latinLnBrk="0" hangingPunct="1">
              <a:lnSpc>
                <a:spcPct val="100000"/>
              </a:lnSpc>
              <a:spcBef>
                <a:spcPct val="30000"/>
              </a:spcBef>
              <a:spcAft>
                <a:spcPct val="0"/>
              </a:spcAft>
              <a:buClrTx/>
              <a:buSzTx/>
              <a:buFontTx/>
              <a:buNone/>
              <a:tabLst/>
              <a:defRPr/>
            </a:pPr>
            <a:r>
              <a:rPr kumimoji="0" lang="zh-CN" altLang="en-US" sz="1200" b="1" dirty="0">
                <a:solidFill>
                  <a:schemeClr val="bg2"/>
                </a:solidFill>
              </a:rPr>
              <a:t>其中，内层选择仅涉及关系</a:t>
            </a:r>
            <a:r>
              <a:rPr kumimoji="0" lang="en-US" altLang="zh-CN" sz="1200" b="1" dirty="0">
                <a:solidFill>
                  <a:schemeClr val="bg2"/>
                </a:solidFill>
              </a:rPr>
              <a:t>SPJ</a:t>
            </a:r>
            <a:r>
              <a:rPr kumimoji="0" lang="zh-CN" altLang="en-US" sz="1200" b="1" dirty="0">
                <a:solidFill>
                  <a:schemeClr val="bg2"/>
                </a:solidFill>
              </a:rPr>
              <a:t>，外层选择只涉及关系</a:t>
            </a:r>
            <a:r>
              <a:rPr kumimoji="0" lang="en-US" altLang="zh-CN" sz="1200" b="1" dirty="0">
                <a:solidFill>
                  <a:schemeClr val="bg2"/>
                </a:solidFill>
              </a:rPr>
              <a:t>P</a:t>
            </a:r>
            <a:r>
              <a:rPr kumimoji="0" lang="zh-CN" altLang="en-US" sz="1200" b="1" dirty="0">
                <a:solidFill>
                  <a:schemeClr val="bg2"/>
                </a:solidFill>
              </a:rPr>
              <a:t>，所以上式可变换为：</a:t>
            </a:r>
            <a:endParaRPr kumimoji="0" lang="en-US" altLang="zh-CN" sz="1200" b="1" dirty="0">
              <a:solidFill>
                <a:schemeClr val="bg2"/>
              </a:solidFill>
            </a:endParaRPr>
          </a:p>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95</a:t>
            </a:fld>
            <a:endParaRPr lang="en-US" altLang="zh-CN"/>
          </a:p>
        </p:txBody>
      </p:sp>
    </p:spTree>
    <p:extLst>
      <p:ext uri="{BB962C8B-B14F-4D97-AF65-F5344CB8AC3E}">
        <p14:creationId xmlns:p14="http://schemas.microsoft.com/office/powerpoint/2010/main" val="148467297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96</a:t>
            </a:fld>
            <a:endParaRPr lang="en-US" altLang="zh-CN"/>
          </a:p>
        </p:txBody>
      </p:sp>
    </p:spTree>
    <p:extLst>
      <p:ext uri="{BB962C8B-B14F-4D97-AF65-F5344CB8AC3E}">
        <p14:creationId xmlns:p14="http://schemas.microsoft.com/office/powerpoint/2010/main" val="2341601335"/>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en-US" altLang="zh-CN" dirty="0"/>
              <a:t>1. </a:t>
            </a:r>
            <a:r>
              <a:rPr kumimoji="1" lang="zh-CN" altLang="en-US" dirty="0"/>
              <a:t>写出该查询的关系代数表达式；</a:t>
            </a:r>
          </a:p>
          <a:p>
            <a:endParaRPr kumimoji="1" lang="zh-CN" altLang="en-US" dirty="0"/>
          </a:p>
          <a:p>
            <a:r>
              <a:rPr kumimoji="1" lang="en-US" altLang="zh-CN" dirty="0"/>
              <a:t>2. </a:t>
            </a:r>
            <a:r>
              <a:rPr kumimoji="1" lang="zh-CN" altLang="en-US" dirty="0"/>
              <a:t>画出该查询初始的关系代数表达式的语法树；</a:t>
            </a:r>
          </a:p>
          <a:p>
            <a:endParaRPr kumimoji="1" lang="zh-CN" altLang="en-US" dirty="0"/>
          </a:p>
          <a:p>
            <a:r>
              <a:rPr kumimoji="1" lang="en-US" altLang="zh-CN" dirty="0"/>
              <a:t>3. </a:t>
            </a:r>
            <a:r>
              <a:rPr kumimoji="1" lang="zh-CN" altLang="en-US" dirty="0"/>
              <a:t>使用查询优化算法，对语法树进行关系代数表达式的查询优化，并画出优化后的语法树。</a:t>
            </a:r>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100</a:t>
            </a:fld>
            <a:endParaRPr lang="en-US" altLang="zh-CN"/>
          </a:p>
        </p:txBody>
      </p:sp>
    </p:spTree>
    <p:extLst>
      <p:ext uri="{BB962C8B-B14F-4D97-AF65-F5344CB8AC3E}">
        <p14:creationId xmlns:p14="http://schemas.microsoft.com/office/powerpoint/2010/main" val="206033378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第一个指针</a:t>
            </a:r>
            <a:r>
              <a:rPr kumimoji="1" lang="en-US" altLang="zh-CN" dirty="0"/>
              <a:t>u</a:t>
            </a:r>
            <a:r>
              <a:rPr kumimoji="1" lang="zh-CN" altLang="en-US" dirty="0"/>
              <a:t>锚定工程号</a:t>
            </a:r>
            <a:endParaRPr kumimoji="1" lang="en-US" altLang="zh-CN" dirty="0"/>
          </a:p>
          <a:p>
            <a:r>
              <a:rPr kumimoji="1" lang="zh-CN" altLang="en-US" dirty="0"/>
              <a:t>第二个指针</a:t>
            </a:r>
            <a:r>
              <a:rPr kumimoji="1" lang="en-US" altLang="zh-CN" dirty="0"/>
              <a:t>v</a:t>
            </a:r>
            <a:r>
              <a:rPr kumimoji="1" lang="zh-CN" altLang="en-US" dirty="0"/>
              <a:t>锚定</a:t>
            </a:r>
            <a:r>
              <a:rPr kumimoji="1" lang="en-US" altLang="zh-CN" dirty="0"/>
              <a:t>s1</a:t>
            </a:r>
            <a:r>
              <a:rPr kumimoji="1" lang="zh-CN" altLang="en-US" dirty="0"/>
              <a:t>供应商</a:t>
            </a:r>
            <a:endParaRPr kumimoji="1" lang="en-US" altLang="zh-CN" dirty="0"/>
          </a:p>
          <a:p>
            <a:r>
              <a:rPr kumimoji="1" lang="zh-CN" altLang="en-US" dirty="0"/>
              <a:t>第三个指针</a:t>
            </a:r>
            <a:r>
              <a:rPr kumimoji="1" lang="en-US" altLang="zh-CN" dirty="0"/>
              <a:t>w</a:t>
            </a:r>
            <a:r>
              <a:rPr kumimoji="1" lang="zh-CN" altLang="en-US" dirty="0"/>
              <a:t>锚定使用了</a:t>
            </a:r>
            <a:r>
              <a:rPr kumimoji="1" lang="en-US" altLang="zh-CN" dirty="0"/>
              <a:t>s1</a:t>
            </a:r>
            <a:r>
              <a:rPr kumimoji="1" lang="zh-CN" altLang="en-US" dirty="0"/>
              <a:t>提供的零件号</a:t>
            </a:r>
            <a:endParaRPr kumimoji="1" lang="en-US" altLang="zh-CN" dirty="0"/>
          </a:p>
          <a:p>
            <a:endParaRPr kumimoji="1" lang="en-US" altLang="zh-CN" dirty="0"/>
          </a:p>
          <a:p>
            <a:r>
              <a:rPr kumimoji="1" lang="en-US" altLang="zh-CN" dirty="0"/>
              <a:t>78</a:t>
            </a:r>
          </a:p>
          <a:p>
            <a:endParaRPr kumimoji="1" lang="en-US" altLang="zh-CN" dirty="0"/>
          </a:p>
          <a:p>
            <a:endParaRPr kumimoji="1" lang="zh-CN" altLang="en-US" dirty="0"/>
          </a:p>
        </p:txBody>
      </p:sp>
      <p:sp>
        <p:nvSpPr>
          <p:cNvPr id="4" name="灯片编号占位符 3"/>
          <p:cNvSpPr>
            <a:spLocks noGrp="1"/>
          </p:cNvSpPr>
          <p:nvPr>
            <p:ph type="sldNum" sz="quarter" idx="5"/>
          </p:nvPr>
        </p:nvSpPr>
        <p:spPr/>
        <p:txBody>
          <a:bodyPr/>
          <a:lstStyle/>
          <a:p>
            <a:fld id="{3226A61A-A51F-4590-9E1E-5938672F8115}" type="slidenum">
              <a:rPr lang="en-US" altLang="zh-CN" smtClean="0"/>
              <a:pPr/>
              <a:t>108</a:t>
            </a:fld>
            <a:endParaRPr lang="en-US" altLang="zh-CN"/>
          </a:p>
        </p:txBody>
      </p:sp>
    </p:spTree>
    <p:extLst>
      <p:ext uri="{BB962C8B-B14F-4D97-AF65-F5344CB8AC3E}">
        <p14:creationId xmlns:p14="http://schemas.microsoft.com/office/powerpoint/2010/main" val="40742785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日期占位符 3"/>
          <p:cNvSpPr>
            <a:spLocks noGrp="1"/>
          </p:cNvSpPr>
          <p:nvPr>
            <p:ph type="dt" sz="half" idx="10"/>
          </p:nvPr>
        </p:nvSpPr>
        <p:spPr/>
        <p:txBody>
          <a:bodyPr/>
          <a:lstStyle>
            <a:lvl1pPr>
              <a:defRPr/>
            </a:lvl1pPr>
          </a:lstStyle>
          <a:p>
            <a:fld id="{941E06F1-E6A2-42C9-8ACE-CCA2B39FC2FC}" type="datetime11">
              <a:rPr lang="zh-CN" altLang="en-US"/>
              <a:pPr/>
              <a:t>11:59:26</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1157032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4D513496-FC66-4570-9B89-C2EB01C75D54}" type="datetime11">
              <a:rPr lang="zh-CN" altLang="en-US"/>
              <a:pPr/>
              <a:t>11:30:42</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41045175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日期占位符 3"/>
          <p:cNvSpPr>
            <a:spLocks noGrp="1"/>
          </p:cNvSpPr>
          <p:nvPr>
            <p:ph type="dt" sz="half" idx="10"/>
          </p:nvPr>
        </p:nvSpPr>
        <p:spPr/>
        <p:txBody>
          <a:bodyPr/>
          <a:lstStyle>
            <a:lvl1pPr>
              <a:defRPr/>
            </a:lvl1pPr>
          </a:lstStyle>
          <a:p>
            <a:fld id="{9E156E6A-6A4B-43D4-BF78-183EEA202F66}" type="datetime11">
              <a:rPr lang="zh-CN" altLang="en-US"/>
              <a:pPr/>
              <a:t>11:59:26</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257991021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日期占位符 4"/>
          <p:cNvSpPr>
            <a:spLocks noGrp="1"/>
          </p:cNvSpPr>
          <p:nvPr>
            <p:ph type="dt" sz="half" idx="10"/>
          </p:nvPr>
        </p:nvSpPr>
        <p:spPr/>
        <p:txBody>
          <a:bodyPr/>
          <a:lstStyle>
            <a:lvl1pPr>
              <a:defRPr/>
            </a:lvl1pPr>
          </a:lstStyle>
          <a:p>
            <a:fld id="{C985B260-BFBC-437A-A232-D864FA984DE7}" type="datetime11">
              <a:rPr lang="zh-CN" altLang="en-US"/>
              <a:pPr/>
              <a:t>11:59:26</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17577998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日期占位符 6"/>
          <p:cNvSpPr>
            <a:spLocks noGrp="1"/>
          </p:cNvSpPr>
          <p:nvPr>
            <p:ph type="dt" sz="half" idx="10"/>
          </p:nvPr>
        </p:nvSpPr>
        <p:spPr/>
        <p:txBody>
          <a:bodyPr/>
          <a:lstStyle>
            <a:lvl1pPr>
              <a:defRPr/>
            </a:lvl1pPr>
          </a:lstStyle>
          <a:p>
            <a:fld id="{FB281A3F-05E9-4361-9A34-24A2AB1B16C4}" type="datetime11">
              <a:rPr lang="zh-CN" altLang="en-US"/>
              <a:pPr/>
              <a:t>11:59:26</a:t>
            </a:fld>
            <a:endParaRPr lang="en-US" altLang="zh-CN"/>
          </a:p>
        </p:txBody>
      </p:sp>
      <p:sp>
        <p:nvSpPr>
          <p:cNvPr id="8" name="页脚占位符 7"/>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29876621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日期占位符 2"/>
          <p:cNvSpPr>
            <a:spLocks noGrp="1"/>
          </p:cNvSpPr>
          <p:nvPr>
            <p:ph type="dt" sz="half" idx="10"/>
          </p:nvPr>
        </p:nvSpPr>
        <p:spPr/>
        <p:txBody>
          <a:bodyPr/>
          <a:lstStyle>
            <a:lvl1pPr>
              <a:defRPr/>
            </a:lvl1pPr>
          </a:lstStyle>
          <a:p>
            <a:fld id="{8A9FAF48-CD5B-4370-BE60-FD9BC37451EC}" type="datetime11">
              <a:rPr lang="zh-CN" altLang="en-US"/>
              <a:pPr/>
              <a:t>11:59:26</a:t>
            </a:fld>
            <a:endParaRPr lang="en-US" altLang="zh-CN"/>
          </a:p>
        </p:txBody>
      </p:sp>
      <p:sp>
        <p:nvSpPr>
          <p:cNvPr id="4" name="页脚占位符 3"/>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13279163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lvl1pPr>
              <a:defRPr/>
            </a:lvl1pPr>
          </a:lstStyle>
          <a:p>
            <a:fld id="{9BE00C2E-DA45-41CF-9A3C-F3287EF6E3B5}" type="datetime11">
              <a:rPr lang="zh-CN" altLang="en-US"/>
              <a:pPr/>
              <a:t>11:30:42</a:t>
            </a:fld>
            <a:endParaRPr lang="en-US" altLang="zh-CN"/>
          </a:p>
        </p:txBody>
      </p:sp>
      <p:sp>
        <p:nvSpPr>
          <p:cNvPr id="3" name="页脚占位符 2"/>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188667296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0DD037AB-D4A7-4D6D-A3DF-2B3459BEB239}" type="datetime11">
              <a:rPr lang="zh-CN" altLang="en-US"/>
              <a:pPr/>
              <a:t>11:59:26</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12504372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日期占位符 4"/>
          <p:cNvSpPr>
            <a:spLocks noGrp="1"/>
          </p:cNvSpPr>
          <p:nvPr>
            <p:ph type="dt" sz="half" idx="10"/>
          </p:nvPr>
        </p:nvSpPr>
        <p:spPr/>
        <p:txBody>
          <a:bodyPr/>
          <a:lstStyle>
            <a:lvl1pPr>
              <a:defRPr/>
            </a:lvl1pPr>
          </a:lstStyle>
          <a:p>
            <a:fld id="{1EDFD687-0F82-4A95-8FA9-006770DE6E21}" type="datetime11">
              <a:rPr lang="zh-CN" altLang="en-US"/>
              <a:pPr/>
              <a:t>11:59:26</a:t>
            </a:fld>
            <a:endParaRPr lang="en-US" altLang="zh-CN"/>
          </a:p>
        </p:txBody>
      </p:sp>
      <p:sp>
        <p:nvSpPr>
          <p:cNvPr id="6" name="页脚占位符 5"/>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382759040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10B56494-D15B-4F33-95CA-6D1B9745BC1E}" type="datetime11">
              <a:rPr lang="zh-CN" altLang="en-US"/>
              <a:pPr/>
              <a:t>11:59:26</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14792487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日期占位符 3"/>
          <p:cNvSpPr>
            <a:spLocks noGrp="1"/>
          </p:cNvSpPr>
          <p:nvPr>
            <p:ph type="dt" sz="half" idx="10"/>
          </p:nvPr>
        </p:nvSpPr>
        <p:spPr/>
        <p:txBody>
          <a:bodyPr/>
          <a:lstStyle>
            <a:lvl1pPr>
              <a:defRPr/>
            </a:lvl1pPr>
          </a:lstStyle>
          <a:p>
            <a:fld id="{3360A91E-6308-4CD3-858C-C0B282847BDA}" type="datetime11">
              <a:rPr lang="zh-CN" altLang="en-US"/>
              <a:pPr/>
              <a:t>11:59:26</a:t>
            </a:fld>
            <a:endParaRPr lang="en-US" altLang="zh-CN"/>
          </a:p>
        </p:txBody>
      </p:sp>
      <p:sp>
        <p:nvSpPr>
          <p:cNvPr id="5" name="页脚占位符 4"/>
          <p:cNvSpPr>
            <a:spLocks noGrp="1"/>
          </p:cNvSpPr>
          <p:nvPr>
            <p:ph type="ftr" sz="quarter" idx="11"/>
          </p:nvPr>
        </p:nvSpPr>
        <p:spPr/>
        <p:txBody>
          <a:bodyPr/>
          <a:lstStyle>
            <a:lvl1pPr>
              <a:defRPr/>
            </a:lvl1pPr>
          </a:lstStyle>
          <a:p>
            <a:endParaRPr lang="en-US" altLang="zh-CN"/>
          </a:p>
        </p:txBody>
      </p:sp>
    </p:spTree>
    <p:extLst>
      <p:ext uri="{BB962C8B-B14F-4D97-AF65-F5344CB8AC3E}">
        <p14:creationId xmlns:p14="http://schemas.microsoft.com/office/powerpoint/2010/main" val="17360613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3493" name="Rectangle 1029"/>
          <p:cNvSpPr>
            <a:spLocks noGrp="1" noChangeArrowheads="1"/>
          </p:cNvSpPr>
          <p:nvPr>
            <p:ph type="title"/>
          </p:nvPr>
        </p:nvSpPr>
        <p:spPr bwMode="auto">
          <a:xfrm>
            <a:off x="685800" y="609600"/>
            <a:ext cx="77724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p>
            <a:pPr lvl="0"/>
            <a:r>
              <a:rPr lang="zh-CN" altLang="en-US"/>
              <a:t>单击此处编辑母版标题样式</a:t>
            </a:r>
          </a:p>
        </p:txBody>
      </p:sp>
      <p:sp>
        <p:nvSpPr>
          <p:cNvPr id="63494" name="Rectangle 1030"/>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l">
              <a:lnSpc>
                <a:spcPct val="100000"/>
              </a:lnSpc>
              <a:spcBef>
                <a:spcPct val="0"/>
              </a:spcBef>
              <a:defRPr kumimoji="0" sz="1400">
                <a:latin typeface="+mn-lt"/>
              </a:defRPr>
            </a:lvl1pPr>
          </a:lstStyle>
          <a:p>
            <a:fld id="{112AFF53-1B3D-4FBD-9491-5FA06D629B44}" type="datetime11">
              <a:rPr lang="zh-CN" altLang="en-US"/>
              <a:pPr/>
              <a:t>11:30:42</a:t>
            </a:fld>
            <a:endParaRPr lang="en-US" altLang="zh-CN"/>
          </a:p>
        </p:txBody>
      </p:sp>
      <p:sp>
        <p:nvSpPr>
          <p:cNvPr id="63495" name="Rectangle 1031"/>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2075" tIns="46038" rIns="92075" bIns="46038" numCol="1" anchor="ctr" anchorCtr="0" compatLnSpc="1">
            <a:prstTxWarp prst="textNoShape">
              <a:avLst/>
            </a:prstTxWarp>
          </a:bodyPr>
          <a:lstStyle>
            <a:lvl1pPr algn="ctr">
              <a:lnSpc>
                <a:spcPct val="100000"/>
              </a:lnSpc>
              <a:spcBef>
                <a:spcPct val="0"/>
              </a:spcBef>
              <a:defRPr kumimoji="0" sz="1400">
                <a:latin typeface="+mn-lt"/>
              </a:defRPr>
            </a:lvl1pPr>
          </a:lstStyle>
          <a:p>
            <a:endParaRPr lang="en-US" altLang="zh-CN"/>
          </a:p>
        </p:txBody>
      </p:sp>
      <p:sp>
        <p:nvSpPr>
          <p:cNvPr id="63497" name="Rectangle 1033"/>
          <p:cNvSpPr>
            <a:spLocks noGrp="1" noChangeArrowheads="1"/>
          </p:cNvSpPr>
          <p:nvPr>
            <p:ph type="body" idx="1"/>
          </p:nvPr>
        </p:nvSpPr>
        <p:spPr bwMode="auto">
          <a:xfrm>
            <a:off x="685800" y="1981200"/>
            <a:ext cx="7772400" cy="4114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cSld>
  <p:clrMap bg1="dk2" tx1="lt1" bg2="dk1"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Lst>
  <p:txStyles>
    <p:titleStyle>
      <a:lvl1pPr algn="ctr" rtl="0" fontAlgn="base">
        <a:spcBef>
          <a:spcPct val="0"/>
        </a:spcBef>
        <a:spcAft>
          <a:spcPct val="0"/>
        </a:spcAft>
        <a:defRPr kumimoji="1" sz="4400">
          <a:solidFill>
            <a:schemeClr val="tx2"/>
          </a:solidFill>
          <a:effectLst>
            <a:outerShdw blurRad="38100" dist="38100" dir="2700000" algn="tl">
              <a:srgbClr val="C0C0C0"/>
            </a:outerShdw>
          </a:effectLst>
          <a:latin typeface="+mj-lt"/>
          <a:ea typeface="+mj-ea"/>
          <a:cs typeface="+mj-cs"/>
        </a:defRPr>
      </a:lvl1pPr>
      <a:lvl2pPr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2pPr>
      <a:lvl3pPr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3pPr>
      <a:lvl4pPr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4pPr>
      <a:lvl5pPr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5pPr>
      <a:lvl6pPr marL="457200"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6pPr>
      <a:lvl7pPr marL="914400"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7pPr>
      <a:lvl8pPr marL="1371600"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8pPr>
      <a:lvl9pPr marL="1828800" algn="ctr" rtl="0" fontAlgn="base">
        <a:spcBef>
          <a:spcPct val="0"/>
        </a:spcBef>
        <a:spcAft>
          <a:spcPct val="0"/>
        </a:spcAft>
        <a:defRPr kumimoji="1" sz="4400">
          <a:solidFill>
            <a:schemeClr val="tx2"/>
          </a:solidFill>
          <a:effectLst>
            <a:outerShdw blurRad="38100" dist="38100" dir="2700000" algn="tl">
              <a:srgbClr val="C0C0C0"/>
            </a:outerShdw>
          </a:effectLst>
          <a:latin typeface="Arial" charset="0"/>
          <a:ea typeface="宋体" pitchFamily="2" charset="-122"/>
        </a:defRPr>
      </a:lvl9pPr>
    </p:titleStyle>
    <p:bodyStyle>
      <a:lvl1pPr marL="342900" indent="-342900" algn="l" rtl="0" fontAlgn="base">
        <a:spcBef>
          <a:spcPct val="20000"/>
        </a:spcBef>
        <a:spcAft>
          <a:spcPct val="0"/>
        </a:spcAft>
        <a:buClr>
          <a:schemeClr val="accent2"/>
        </a:buClr>
        <a:buSzPct val="80000"/>
        <a:buFont typeface="Wingdings" pitchFamily="2" charset="2"/>
        <a:buChar char="l"/>
        <a:defRPr kumimoji="1" sz="3200">
          <a:solidFill>
            <a:schemeClr val="tx1"/>
          </a:solidFill>
          <a:latin typeface="+mn-lt"/>
          <a:ea typeface="+mn-ea"/>
          <a:cs typeface="+mn-cs"/>
        </a:defRPr>
      </a:lvl1pPr>
      <a:lvl2pPr marL="742950" indent="-285750" algn="l" rtl="0" fontAlgn="base">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fontAlgn="base">
        <a:spcBef>
          <a:spcPct val="20000"/>
        </a:spcBef>
        <a:spcAft>
          <a:spcPct val="0"/>
        </a:spcAft>
        <a:buClr>
          <a:schemeClr val="accent1"/>
        </a:buClr>
        <a:buSzPct val="60000"/>
        <a:buFont typeface="Wingdings" pitchFamily="2" charset="2"/>
        <a:buChar char="l"/>
        <a:defRPr kumimoji="1" sz="2400">
          <a:solidFill>
            <a:schemeClr val="tx1"/>
          </a:solidFill>
          <a:latin typeface="+mn-lt"/>
          <a:ea typeface="+mn-ea"/>
        </a:defRPr>
      </a:lvl3pPr>
      <a:lvl4pPr marL="1600200" indent="-228600" algn="l" rtl="0" fontAlgn="base">
        <a:spcBef>
          <a:spcPct val="20000"/>
        </a:spcBef>
        <a:spcAft>
          <a:spcPct val="0"/>
        </a:spcAft>
        <a:buClr>
          <a:schemeClr val="tx1"/>
        </a:buClr>
        <a:buChar char="–"/>
        <a:defRPr kumimoji="1" sz="2000">
          <a:solidFill>
            <a:schemeClr val="tx1"/>
          </a:solidFill>
          <a:latin typeface="+mn-lt"/>
          <a:ea typeface="+mn-ea"/>
        </a:defRPr>
      </a:lvl4pPr>
      <a:lvl5pPr marL="2057400" indent="-228600" algn="l" rtl="0" fontAlgn="base">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5.xml"/><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 Target="slide17.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1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70.png"/><Relationship Id="rId7" Type="http://schemas.openxmlformats.org/officeDocument/2006/relationships/image" Target="../media/image11.png"/><Relationship Id="rId2"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10.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slideLayout" Target="../slideLayouts/slideLayout7.xml"/><Relationship Id="rId5" Type="http://schemas.microsoft.com/office/2007/relationships/hdphoto" Target="../media/hdphoto2.wdp"/><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2.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3" Type="http://schemas.microsoft.com/office/2007/relationships/hdphoto" Target="../media/hdphoto2.wdp"/><Relationship Id="rId7" Type="http://schemas.microsoft.com/office/2007/relationships/hdphoto" Target="../media/hdphoto4.wdp"/><Relationship Id="rId2" Type="http://schemas.openxmlformats.org/officeDocument/2006/relationships/image" Target="../media/image11.png"/><Relationship Id="rId1" Type="http://schemas.openxmlformats.org/officeDocument/2006/relationships/slideLayout" Target="../slideLayouts/slideLayout7.xml"/><Relationship Id="rId6" Type="http://schemas.microsoft.com/office/2007/relationships/hdphoto" Target="../media/hdphoto1.wdp"/><Relationship Id="rId5" Type="http://schemas.microsoft.com/office/2007/relationships/hdphoto" Target="../media/hdphoto3.wdp"/><Relationship Id="rId4" Type="http://schemas.openxmlformats.org/officeDocument/2006/relationships/image" Target="../media/image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2.emf"/><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2" Type="http://schemas.openxmlformats.org/officeDocument/2006/relationships/image" Target="../media/image13.emf"/><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slide" Target="slide34.xml"/><Relationship Id="rId2" Type="http://schemas.openxmlformats.org/officeDocument/2006/relationships/slide" Target="slide47.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slide" Target="slide52.xml"/><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3.xml"/><Relationship Id="rId1" Type="http://schemas.openxmlformats.org/officeDocument/2006/relationships/slideLayout" Target="../slideLayouts/slideLayout7.xml"/><Relationship Id="rId5" Type="http://schemas.openxmlformats.org/officeDocument/2006/relationships/image" Target="../media/image25.png"/><Relationship Id="rId4" Type="http://schemas.openxmlformats.org/officeDocument/2006/relationships/image" Target="../media/image24.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7.xml"/><Relationship Id="rId1" Type="http://schemas.openxmlformats.org/officeDocument/2006/relationships/slideLayout" Target="../slideLayouts/slideLayout7.xml"/><Relationship Id="rId4" Type="http://schemas.openxmlformats.org/officeDocument/2006/relationships/image" Target="../media/image1.jpeg"/></Relationships>
</file>

<file path=ppt/slides/_rels/slide79.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slide" Target="slide85.xml"/><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slide" Target="slide92.xml"/><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3019" name="Rectangle 11"/>
          <p:cNvSpPr>
            <a:spLocks noChangeArrowheads="1"/>
          </p:cNvSpPr>
          <p:nvPr/>
        </p:nvSpPr>
        <p:spPr bwMode="auto">
          <a:xfrm>
            <a:off x="1403350" y="2349500"/>
            <a:ext cx="6121400" cy="1189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eaLnBrk="0" hangingPunct="0">
              <a:lnSpc>
                <a:spcPct val="180000"/>
              </a:lnSpc>
              <a:spcBef>
                <a:spcPct val="0"/>
              </a:spcBef>
            </a:pPr>
            <a:r>
              <a:rPr lang="en-US" altLang="zh-CN" sz="4000" b="1">
                <a:solidFill>
                  <a:srgbClr val="660033"/>
                </a:solidFill>
              </a:rPr>
              <a:t>  </a:t>
            </a:r>
            <a:r>
              <a:rPr lang="zh-CN" altLang="en-US" sz="4000" b="1">
                <a:solidFill>
                  <a:srgbClr val="660033"/>
                </a:solidFill>
              </a:rPr>
              <a:t>第三章 关系运算</a:t>
            </a:r>
          </a:p>
        </p:txBody>
      </p:sp>
      <p:grpSp>
        <p:nvGrpSpPr>
          <p:cNvPr id="683020" name="Group 12"/>
          <p:cNvGrpSpPr>
            <a:grpSpLocks/>
          </p:cNvGrpSpPr>
          <p:nvPr/>
        </p:nvGrpSpPr>
        <p:grpSpPr bwMode="auto">
          <a:xfrm>
            <a:off x="395288" y="404813"/>
            <a:ext cx="8382000" cy="1371600"/>
            <a:chOff x="0" y="288"/>
            <a:chExt cx="5760" cy="864"/>
          </a:xfrm>
        </p:grpSpPr>
        <p:sp>
          <p:nvSpPr>
            <p:cNvPr id="683021" name="Rectangle 13"/>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2" name="Rectangle 14"/>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3" name="Rectangle 15"/>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4" name="Rectangle 16"/>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5" name="Rectangle 17"/>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83026" name="Rectangle 18"/>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grpSp>
      <p:sp>
        <p:nvSpPr>
          <p:cNvPr id="683027" name="Rectangle 19"/>
          <p:cNvSpPr>
            <a:spLocks noChangeArrowheads="1"/>
          </p:cNvSpPr>
          <p:nvPr/>
        </p:nvSpPr>
        <p:spPr bwMode="auto">
          <a:xfrm>
            <a:off x="1331913" y="4292600"/>
            <a:ext cx="6400800" cy="2286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2075" tIns="46038" rIns="92075" bIns="46038" anchor="ctr"/>
          <a:lstStyle/>
          <a:p>
            <a:pPr marL="342900" indent="-342900" algn="ctr">
              <a:lnSpc>
                <a:spcPct val="100000"/>
              </a:lnSpc>
              <a:spcBef>
                <a:spcPct val="20000"/>
              </a:spcBef>
              <a:buClr>
                <a:schemeClr val="accent2"/>
              </a:buClr>
              <a:buSzPct val="80000"/>
              <a:buFont typeface="Wingdings" pitchFamily="2" charset="2"/>
              <a:buNone/>
            </a:pPr>
            <a:r>
              <a:rPr lang="zh-CN" altLang="en-US" sz="2800" b="1">
                <a:solidFill>
                  <a:schemeClr val="bg2"/>
                </a:solidFill>
              </a:rPr>
              <a:t>清华大学出版社</a:t>
            </a:r>
          </a:p>
          <a:p>
            <a:pPr marL="342900" indent="-342900" algn="ctr">
              <a:lnSpc>
                <a:spcPct val="100000"/>
              </a:lnSpc>
              <a:spcBef>
                <a:spcPct val="20000"/>
              </a:spcBef>
              <a:buClr>
                <a:schemeClr val="accent2"/>
              </a:buClr>
              <a:buSzPct val="80000"/>
              <a:buFont typeface="Wingdings" pitchFamily="2" charset="2"/>
              <a:buNone/>
            </a:pPr>
            <a:endParaRPr lang="zh-CN" altLang="en-US" sz="2800" b="1">
              <a:solidFill>
                <a:schemeClr val="bg2"/>
              </a:solidFill>
            </a:endParaRPr>
          </a:p>
          <a:p>
            <a:pPr marL="342900" indent="-342900" algn="ctr">
              <a:lnSpc>
                <a:spcPct val="100000"/>
              </a:lnSpc>
              <a:spcBef>
                <a:spcPct val="20000"/>
              </a:spcBef>
              <a:buClr>
                <a:schemeClr val="accent2"/>
              </a:buClr>
              <a:buSzPct val="80000"/>
              <a:buFont typeface="Wingdings" pitchFamily="2" charset="2"/>
              <a:buNone/>
            </a:pPr>
            <a:fld id="{3D7E11C2-7AF0-4142-AFB0-0E2926EC2F1D}" type="datetime2">
              <a:rPr lang="zh-CN" altLang="en-US" sz="2800" b="1">
                <a:solidFill>
                  <a:schemeClr val="bg2"/>
                </a:solidFill>
              </a:rPr>
              <a:pPr marL="342900" indent="-342900" algn="ctr">
                <a:lnSpc>
                  <a:spcPct val="100000"/>
                </a:lnSpc>
                <a:spcBef>
                  <a:spcPct val="20000"/>
                </a:spcBef>
                <a:buClr>
                  <a:schemeClr val="accent2"/>
                </a:buClr>
                <a:buSzPct val="80000"/>
                <a:buFont typeface="Wingdings" pitchFamily="2" charset="2"/>
                <a:buNone/>
              </a:pPr>
              <a:t>2026年4月23日 Thursday</a:t>
            </a:fld>
            <a:endParaRPr lang="zh-CN" altLang="en-US" sz="2800" b="1">
              <a:solidFill>
                <a:schemeClr val="bg2"/>
              </a:solidFill>
            </a:endParaRPr>
          </a:p>
        </p:txBody>
      </p:sp>
      <p:sp>
        <p:nvSpPr>
          <p:cNvPr id="683028" name="Rectangle 20"/>
          <p:cNvSpPr>
            <a:spLocks noChangeArrowheads="1"/>
          </p:cNvSpPr>
          <p:nvPr/>
        </p:nvSpPr>
        <p:spPr bwMode="auto">
          <a:xfrm>
            <a:off x="2411413" y="620713"/>
            <a:ext cx="5400675" cy="7016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609600">
              <a:lnSpc>
                <a:spcPct val="100000"/>
              </a:lnSpc>
              <a:spcBef>
                <a:spcPct val="0"/>
              </a:spcBef>
            </a:pPr>
            <a:r>
              <a:rPr lang="zh-CN" altLang="en-US" sz="4000" b="1">
                <a:solidFill>
                  <a:srgbClr val="000099"/>
                </a:solidFill>
                <a:effectLst>
                  <a:outerShdw blurRad="38100" dist="38100" dir="2700000" algn="tl">
                    <a:srgbClr val="C0C0C0"/>
                  </a:outerShdw>
                </a:effectLst>
              </a:rPr>
              <a:t>数据库原理（</a:t>
            </a:r>
            <a:r>
              <a:rPr lang="en-US" altLang="zh-CN" sz="4000" b="1">
                <a:solidFill>
                  <a:srgbClr val="000099"/>
                </a:solidFill>
                <a:effectLst>
                  <a:outerShdw blurRad="38100" dist="38100" dir="2700000" algn="tl">
                    <a:srgbClr val="C0C0C0"/>
                  </a:outerShdw>
                </a:effectLst>
              </a:rPr>
              <a:t>1</a:t>
            </a:r>
            <a:r>
              <a:rPr lang="zh-CN" altLang="en-US" sz="4000" b="1">
                <a:solidFill>
                  <a:srgbClr val="000099"/>
                </a:solidFill>
                <a:effectLst>
                  <a:outerShdw blurRad="38100" dist="38100" dir="2700000" algn="tl">
                    <a:srgbClr val="C0C0C0"/>
                  </a:outerShdw>
                </a:effectLst>
              </a:rPr>
              <a:t>）</a:t>
            </a:r>
            <a:endParaRPr lang="zh-CN" altLang="en-US" sz="4000" b="1" i="1">
              <a:solidFill>
                <a:schemeClr val="bg2"/>
              </a:solidFill>
              <a:effectLst>
                <a:outerShdw blurRad="38100" dist="38100" dir="2700000" algn="tl">
                  <a:srgbClr val="C0C0C0"/>
                </a:outerShdw>
              </a:effectLst>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3794" name="Rectangle 2"/>
          <p:cNvSpPr>
            <a:spLocks noChangeArrowheads="1"/>
          </p:cNvSpPr>
          <p:nvPr/>
        </p:nvSpPr>
        <p:spPr bwMode="auto">
          <a:xfrm>
            <a:off x="228600" y="-122238"/>
            <a:ext cx="9144000" cy="51355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476250" indent="-190500" algn="ctr">
              <a:lnSpc>
                <a:spcPct val="180000"/>
              </a:lnSpc>
              <a:spcBef>
                <a:spcPct val="0"/>
              </a:spcBef>
            </a:pPr>
            <a:r>
              <a:rPr lang="zh-CN" altLang="en-US" sz="3600" b="1">
                <a:solidFill>
                  <a:schemeClr val="bg2"/>
                </a:solidFill>
                <a:effectLst>
                  <a:outerShdw blurRad="38100" dist="38100" dir="2700000" algn="tl">
                    <a:srgbClr val="C0C0C0"/>
                  </a:outerShdw>
                </a:effectLst>
              </a:rPr>
              <a:t>第三章 关系运算</a:t>
            </a:r>
          </a:p>
          <a:p>
            <a:pPr marL="476250" indent="-190500" algn="l">
              <a:lnSpc>
                <a:spcPct val="180000"/>
              </a:lnSpc>
              <a:spcBef>
                <a:spcPct val="0"/>
              </a:spcBef>
            </a:pPr>
            <a:r>
              <a:rPr lang="zh-CN" altLang="en-US" sz="2800" b="1">
                <a:solidFill>
                  <a:schemeClr val="bg2"/>
                </a:solidFill>
              </a:rPr>
              <a:t>教学内容：</a:t>
            </a:r>
            <a:endParaRPr lang="zh-CN" altLang="en-US" sz="2800" b="1">
              <a:solidFill>
                <a:srgbClr val="000099"/>
              </a:solidFill>
            </a:endParaRPr>
          </a:p>
          <a:p>
            <a:pPr marL="476250" indent="-190500" algn="l">
              <a:lnSpc>
                <a:spcPct val="180000"/>
              </a:lnSpc>
              <a:spcBef>
                <a:spcPct val="0"/>
              </a:spcBef>
              <a:buFont typeface="Symbol" pitchFamily="18" charset="2"/>
              <a:buChar char="·"/>
            </a:pPr>
            <a:r>
              <a:rPr lang="zh-CN" altLang="en-US" sz="2400" b="1">
                <a:solidFill>
                  <a:srgbClr val="000099"/>
                </a:solidFill>
                <a:latin typeface="Times New Roman" pitchFamily="18" charset="0"/>
              </a:rPr>
              <a:t>基本概念：</a:t>
            </a:r>
          </a:p>
          <a:p>
            <a:pPr marL="476250" indent="-190500" algn="l">
              <a:lnSpc>
                <a:spcPct val="180000"/>
              </a:lnSpc>
              <a:spcBef>
                <a:spcPct val="0"/>
              </a:spcBef>
              <a:buFont typeface="Symbol" pitchFamily="18" charset="2"/>
              <a:buNone/>
            </a:pPr>
            <a:endParaRPr lang="zh-CN" altLang="en-US" sz="2400" b="1">
              <a:solidFill>
                <a:srgbClr val="000099"/>
              </a:solidFill>
              <a:latin typeface="Times New Roman" pitchFamily="18" charset="0"/>
              <a:sym typeface="Symbol" pitchFamily="18" charset="2"/>
            </a:endParaRPr>
          </a:p>
          <a:p>
            <a:pPr marL="476250" indent="-190500" algn="l">
              <a:lnSpc>
                <a:spcPct val="180000"/>
              </a:lnSpc>
              <a:spcBef>
                <a:spcPct val="0"/>
              </a:spcBef>
              <a:buFont typeface="Symbol" pitchFamily="18" charset="2"/>
              <a:buNone/>
            </a:pPr>
            <a:r>
              <a:rPr lang="zh-CN" altLang="en-US" sz="2400" b="1">
                <a:solidFill>
                  <a:srgbClr val="000099"/>
                </a:solidFill>
                <a:latin typeface="Times New Roman" pitchFamily="18" charset="0"/>
                <a:sym typeface="Symbol" pitchFamily="18" charset="2"/>
              </a:rPr>
              <a:t> </a:t>
            </a:r>
            <a:r>
              <a:rPr lang="zh-CN" altLang="en-US" sz="2400" b="1">
                <a:solidFill>
                  <a:srgbClr val="000099"/>
                </a:solidFill>
                <a:latin typeface="Times New Roman" pitchFamily="18" charset="0"/>
              </a:rPr>
              <a:t>关系代数：</a:t>
            </a:r>
            <a:endParaRPr lang="zh-CN" altLang="en-US" sz="2400" b="1">
              <a:solidFill>
                <a:srgbClr val="000099"/>
              </a:solidFill>
            </a:endParaRPr>
          </a:p>
          <a:p>
            <a:pPr marL="476250" indent="-190500" eaLnBrk="0" hangingPunct="0">
              <a:lnSpc>
                <a:spcPct val="180000"/>
              </a:lnSpc>
              <a:spcBef>
                <a:spcPct val="0"/>
              </a:spcBef>
            </a:pPr>
            <a:r>
              <a:rPr lang="zh-CN" altLang="en-US" sz="2400" b="1">
                <a:solidFill>
                  <a:srgbClr val="000099"/>
                </a:solidFill>
                <a:latin typeface="Times New Roman" pitchFamily="18" charset="0"/>
                <a:sym typeface="Symbol" pitchFamily="18" charset="2"/>
              </a:rPr>
              <a:t> </a:t>
            </a:r>
            <a:r>
              <a:rPr lang="zh-CN" altLang="en-US" sz="2400" b="1">
                <a:solidFill>
                  <a:srgbClr val="000099"/>
                </a:solidFill>
                <a:latin typeface="Times New Roman" pitchFamily="18" charset="0"/>
              </a:rPr>
              <a:t>关系演算：</a:t>
            </a:r>
            <a:endParaRPr lang="zh-CN" altLang="en-US" sz="2400" b="1">
              <a:solidFill>
                <a:srgbClr val="000099"/>
              </a:solidFill>
            </a:endParaRPr>
          </a:p>
          <a:p>
            <a:pPr marL="476250" indent="-190500" eaLnBrk="0" hangingPunct="0">
              <a:lnSpc>
                <a:spcPct val="180000"/>
              </a:lnSpc>
              <a:spcBef>
                <a:spcPct val="0"/>
              </a:spcBef>
              <a:buFont typeface="Symbol" pitchFamily="18" charset="2"/>
              <a:buChar char="·"/>
            </a:pPr>
            <a:r>
              <a:rPr lang="zh-CN" altLang="en-US" sz="2400" b="1">
                <a:solidFill>
                  <a:srgbClr val="000099"/>
                </a:solidFill>
                <a:latin typeface="Times New Roman" pitchFamily="18" charset="0"/>
              </a:rPr>
              <a:t>查询优化：</a:t>
            </a:r>
            <a:endParaRPr lang="zh-CN" altLang="en-US" sz="2800" b="1">
              <a:solidFill>
                <a:srgbClr val="000099"/>
              </a:solidFill>
            </a:endParaRPr>
          </a:p>
        </p:txBody>
      </p:sp>
      <p:sp>
        <p:nvSpPr>
          <p:cNvPr id="673795" name="Rectangle 3"/>
          <p:cNvSpPr>
            <a:spLocks noGrp="1" noChangeArrowheads="1"/>
          </p:cNvSpPr>
          <p:nvPr>
            <p:ph type="title" idx="4294967295"/>
          </p:nvPr>
        </p:nvSpPr>
        <p:spPr/>
        <p:txBody>
          <a:bodyPr/>
          <a:lstStyle/>
          <a:p>
            <a:r>
              <a:rPr lang="en-US" altLang="zh-CN"/>
              <a:t>             </a:t>
            </a:r>
          </a:p>
        </p:txBody>
      </p:sp>
      <p:grpSp>
        <p:nvGrpSpPr>
          <p:cNvPr id="673796" name="Group 4"/>
          <p:cNvGrpSpPr>
            <a:grpSpLocks/>
          </p:cNvGrpSpPr>
          <p:nvPr/>
        </p:nvGrpSpPr>
        <p:grpSpPr bwMode="auto">
          <a:xfrm>
            <a:off x="0" y="0"/>
            <a:ext cx="8382000" cy="1196975"/>
            <a:chOff x="0" y="288"/>
            <a:chExt cx="5760" cy="864"/>
          </a:xfrm>
        </p:grpSpPr>
        <p:sp>
          <p:nvSpPr>
            <p:cNvPr id="673797" name="Rectangle 5"/>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73798" name="Rectangle 6"/>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73799" name="Rectangle 7"/>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73800" name="Rectangle 8"/>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73801" name="Rectangle 9"/>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73802" name="Rectangle 10"/>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grpSp>
      <p:sp>
        <p:nvSpPr>
          <p:cNvPr id="673803" name="Rectangle 11"/>
          <p:cNvSpPr>
            <a:spLocks noChangeArrowheads="1"/>
          </p:cNvSpPr>
          <p:nvPr/>
        </p:nvSpPr>
        <p:spPr bwMode="auto">
          <a:xfrm>
            <a:off x="2339975" y="1628775"/>
            <a:ext cx="6191250" cy="13630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60000"/>
              </a:lnSpc>
            </a:pPr>
            <a:r>
              <a:rPr lang="zh-CN" altLang="en-US" sz="2400" b="1" dirty="0">
                <a:solidFill>
                  <a:schemeClr val="bg2"/>
                </a:solidFill>
              </a:rPr>
              <a:t>关系模型、关键码、关系的定义和性质、</a:t>
            </a:r>
          </a:p>
          <a:p>
            <a:pPr>
              <a:lnSpc>
                <a:spcPct val="160000"/>
              </a:lnSpc>
            </a:pPr>
            <a:r>
              <a:rPr lang="zh-CN" altLang="en-US" sz="2400" b="1" dirty="0">
                <a:solidFill>
                  <a:schemeClr val="bg2"/>
                </a:solidFill>
              </a:rPr>
              <a:t>三类完整性规则。</a:t>
            </a:r>
            <a:r>
              <a:rPr lang="en-US" altLang="zh-CN" sz="2400" b="1" dirty="0">
                <a:solidFill>
                  <a:schemeClr val="bg2"/>
                </a:solidFill>
              </a:rPr>
              <a:t> </a:t>
            </a:r>
          </a:p>
        </p:txBody>
      </p:sp>
      <p:grpSp>
        <p:nvGrpSpPr>
          <p:cNvPr id="673808" name="Group 16"/>
          <p:cNvGrpSpPr>
            <a:grpSpLocks/>
          </p:cNvGrpSpPr>
          <p:nvPr/>
        </p:nvGrpSpPr>
        <p:grpSpPr bwMode="auto">
          <a:xfrm>
            <a:off x="684213" y="2894013"/>
            <a:ext cx="8545512" cy="2917825"/>
            <a:chOff x="431" y="1823"/>
            <a:chExt cx="5383" cy="1838"/>
          </a:xfrm>
        </p:grpSpPr>
        <p:sp>
          <p:nvSpPr>
            <p:cNvPr id="673804" name="Rectangle 12"/>
            <p:cNvSpPr>
              <a:spLocks noChangeArrowheads="1"/>
            </p:cNvSpPr>
            <p:nvPr/>
          </p:nvSpPr>
          <p:spPr bwMode="auto">
            <a:xfrm>
              <a:off x="1474" y="1823"/>
              <a:ext cx="2996" cy="5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nSpc>
                  <a:spcPct val="200000"/>
                </a:lnSpc>
                <a:spcBef>
                  <a:spcPct val="0"/>
                </a:spcBef>
              </a:pPr>
              <a:r>
                <a:rPr lang="zh-CN" altLang="en-US" sz="2400" b="1">
                  <a:solidFill>
                    <a:srgbClr val="660033"/>
                  </a:solidFill>
                </a:rPr>
                <a:t>基本操作、组合操作、扩充操作。</a:t>
              </a:r>
            </a:p>
          </p:txBody>
        </p:sp>
        <p:sp>
          <p:nvSpPr>
            <p:cNvPr id="673805" name="Rectangle 13"/>
            <p:cNvSpPr>
              <a:spLocks noChangeArrowheads="1"/>
            </p:cNvSpPr>
            <p:nvPr/>
          </p:nvSpPr>
          <p:spPr bwMode="auto">
            <a:xfrm>
              <a:off x="1474" y="2232"/>
              <a:ext cx="4340" cy="5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lnSpc>
                  <a:spcPct val="200000"/>
                </a:lnSpc>
                <a:spcBef>
                  <a:spcPct val="0"/>
                </a:spcBef>
              </a:pPr>
              <a:r>
                <a:rPr lang="zh-CN" altLang="en-US" sz="2400" b="1" dirty="0">
                  <a:solidFill>
                    <a:schemeClr val="bg2"/>
                  </a:solidFill>
                </a:rPr>
                <a:t>元组演算、域演算、关系演算的安全性和等价性。</a:t>
              </a:r>
            </a:p>
          </p:txBody>
        </p:sp>
        <p:sp>
          <p:nvSpPr>
            <p:cNvPr id="673806" name="Rectangle 14"/>
            <p:cNvSpPr>
              <a:spLocks noChangeArrowheads="1"/>
            </p:cNvSpPr>
            <p:nvPr/>
          </p:nvSpPr>
          <p:spPr bwMode="auto">
            <a:xfrm>
              <a:off x="1474" y="2916"/>
              <a:ext cx="3956" cy="24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400" b="1">
                  <a:solidFill>
                    <a:srgbClr val="660033"/>
                  </a:solidFill>
                </a:rPr>
                <a:t>关系代数表达式的等价转换规则、优化算法。</a:t>
              </a:r>
            </a:p>
          </p:txBody>
        </p:sp>
        <p:sp>
          <p:nvSpPr>
            <p:cNvPr id="673807" name="Rectangle 15"/>
            <p:cNvSpPr>
              <a:spLocks noChangeArrowheads="1"/>
            </p:cNvSpPr>
            <p:nvPr/>
          </p:nvSpPr>
          <p:spPr bwMode="auto">
            <a:xfrm>
              <a:off x="431" y="3158"/>
              <a:ext cx="5035" cy="5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200000"/>
                </a:lnSpc>
                <a:spcBef>
                  <a:spcPct val="0"/>
                </a:spcBef>
              </a:pPr>
              <a:r>
                <a:rPr lang="zh-CN" altLang="en-US" sz="2800" b="1" dirty="0">
                  <a:solidFill>
                    <a:schemeClr val="bg2"/>
                  </a:solidFill>
                </a:rPr>
                <a:t>教学重点：关系代数运算</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73803"/>
                                        </p:tgtEl>
                                        <p:attrNameLst>
                                          <p:attrName>style.visibility</p:attrName>
                                        </p:attrNameLst>
                                      </p:cBhvr>
                                      <p:to>
                                        <p:strVal val="visible"/>
                                      </p:to>
                                    </p:set>
                                    <p:animEffect transition="in" filter="blinds(horizontal)">
                                      <p:cBhvr>
                                        <p:cTn id="7" dur="500"/>
                                        <p:tgtEl>
                                          <p:spTgt spid="67380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73808"/>
                                        </p:tgtEl>
                                        <p:attrNameLst>
                                          <p:attrName>style.visibility</p:attrName>
                                        </p:attrNameLst>
                                      </p:cBhvr>
                                      <p:to>
                                        <p:strVal val="visible"/>
                                      </p:to>
                                    </p:set>
                                    <p:animEffect transition="in" filter="blinds(horizontal)">
                                      <p:cBhvr>
                                        <p:cTn id="12" dur="500"/>
                                        <p:tgtEl>
                                          <p:spTgt spid="673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380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表格 4">
            <a:extLst>
              <a:ext uri="{FF2B5EF4-FFF2-40B4-BE49-F238E27FC236}">
                <a16:creationId xmlns:a16="http://schemas.microsoft.com/office/drawing/2014/main" id="{EED98DD5-DA9A-6545-A766-AF2BD1FA07C2}"/>
              </a:ext>
            </a:extLst>
          </p:cNvPr>
          <p:cNvGraphicFramePr>
            <a:graphicFrameLocks noGrp="1"/>
          </p:cNvGraphicFramePr>
          <p:nvPr>
            <p:extLst>
              <p:ext uri="{D42A27DB-BD31-4B8C-83A1-F6EECF244321}">
                <p14:modId xmlns:p14="http://schemas.microsoft.com/office/powerpoint/2010/main" val="2544872803"/>
              </p:ext>
            </p:extLst>
          </p:nvPr>
        </p:nvGraphicFramePr>
        <p:xfrm>
          <a:off x="395536" y="2504217"/>
          <a:ext cx="7248353" cy="2225040"/>
        </p:xfrm>
        <a:graphic>
          <a:graphicData uri="http://schemas.openxmlformats.org/drawingml/2006/table">
            <a:tbl>
              <a:tblPr firstRow="1" bandRow="1">
                <a:tableStyleId>{21E4AEA4-8DFA-4A89-87EB-49C32662AFE0}</a:tableStyleId>
              </a:tblPr>
              <a:tblGrid>
                <a:gridCol w="1368152">
                  <a:extLst>
                    <a:ext uri="{9D8B030D-6E8A-4147-A177-3AD203B41FA5}">
                      <a16:colId xmlns:a16="http://schemas.microsoft.com/office/drawing/2014/main" val="836150226"/>
                    </a:ext>
                  </a:extLst>
                </a:gridCol>
                <a:gridCol w="936104">
                  <a:extLst>
                    <a:ext uri="{9D8B030D-6E8A-4147-A177-3AD203B41FA5}">
                      <a16:colId xmlns:a16="http://schemas.microsoft.com/office/drawing/2014/main" val="348762623"/>
                    </a:ext>
                  </a:extLst>
                </a:gridCol>
                <a:gridCol w="1080120">
                  <a:extLst>
                    <a:ext uri="{9D8B030D-6E8A-4147-A177-3AD203B41FA5}">
                      <a16:colId xmlns:a16="http://schemas.microsoft.com/office/drawing/2014/main" val="485607095"/>
                    </a:ext>
                  </a:extLst>
                </a:gridCol>
                <a:gridCol w="792088">
                  <a:extLst>
                    <a:ext uri="{9D8B030D-6E8A-4147-A177-3AD203B41FA5}">
                      <a16:colId xmlns:a16="http://schemas.microsoft.com/office/drawing/2014/main" val="2832269886"/>
                    </a:ext>
                  </a:extLst>
                </a:gridCol>
                <a:gridCol w="832791">
                  <a:extLst>
                    <a:ext uri="{9D8B030D-6E8A-4147-A177-3AD203B41FA5}">
                      <a16:colId xmlns:a16="http://schemas.microsoft.com/office/drawing/2014/main" val="2210278073"/>
                    </a:ext>
                  </a:extLst>
                </a:gridCol>
                <a:gridCol w="2239098">
                  <a:extLst>
                    <a:ext uri="{9D8B030D-6E8A-4147-A177-3AD203B41FA5}">
                      <a16:colId xmlns:a16="http://schemas.microsoft.com/office/drawing/2014/main" val="3343172956"/>
                    </a:ext>
                  </a:extLst>
                </a:gridCol>
              </a:tblGrid>
              <a:tr h="370840">
                <a:tc>
                  <a:txBody>
                    <a:bodyPr/>
                    <a:lstStyle/>
                    <a:p>
                      <a:pPr algn="ctr"/>
                      <a:r>
                        <a:rPr lang="zh-CN" altLang="en-US" dirty="0"/>
                        <a:t>职工编号</a:t>
                      </a:r>
                    </a:p>
                  </a:txBody>
                  <a:tcPr/>
                </a:tc>
                <a:tc>
                  <a:txBody>
                    <a:bodyPr/>
                    <a:lstStyle/>
                    <a:p>
                      <a:pPr algn="ctr"/>
                      <a:r>
                        <a:rPr lang="zh-CN" altLang="en-US" dirty="0"/>
                        <a:t>姓名</a:t>
                      </a:r>
                    </a:p>
                  </a:txBody>
                  <a:tcPr/>
                </a:tc>
                <a:tc>
                  <a:txBody>
                    <a:bodyPr/>
                    <a:lstStyle/>
                    <a:p>
                      <a:pPr algn="ctr"/>
                      <a:r>
                        <a:rPr lang="zh-CN" altLang="en-US" dirty="0"/>
                        <a:t>部门</a:t>
                      </a:r>
                    </a:p>
                  </a:txBody>
                  <a:tcPr/>
                </a:tc>
                <a:tc>
                  <a:txBody>
                    <a:bodyPr/>
                    <a:lstStyle/>
                    <a:p>
                      <a:pPr algn="ctr"/>
                      <a:r>
                        <a:rPr lang="zh-CN" altLang="en-US" dirty="0"/>
                        <a:t>性别</a:t>
                      </a:r>
                    </a:p>
                  </a:txBody>
                  <a:tcPr/>
                </a:tc>
                <a:tc>
                  <a:txBody>
                    <a:bodyPr/>
                    <a:lstStyle/>
                    <a:p>
                      <a:pPr algn="ctr"/>
                      <a:r>
                        <a:rPr lang="zh-CN" altLang="en-US" dirty="0"/>
                        <a:t>年龄</a:t>
                      </a:r>
                    </a:p>
                  </a:txBody>
                  <a:tcPr/>
                </a:tc>
                <a:tc>
                  <a:txBody>
                    <a:bodyPr/>
                    <a:lstStyle/>
                    <a:p>
                      <a:pPr algn="ctr"/>
                      <a:r>
                        <a:rPr lang="zh-CN" altLang="en-US" dirty="0"/>
                        <a:t>身份证号码</a:t>
                      </a:r>
                    </a:p>
                  </a:txBody>
                  <a:tcPr/>
                </a:tc>
                <a:extLst>
                  <a:ext uri="{0D108BD9-81ED-4DB2-BD59-A6C34878D82A}">
                    <a16:rowId xmlns:a16="http://schemas.microsoft.com/office/drawing/2014/main" val="2498035954"/>
                  </a:ext>
                </a:extLst>
              </a:tr>
              <a:tr h="370840">
                <a:tc>
                  <a:txBody>
                    <a:bodyPr/>
                    <a:lstStyle/>
                    <a:p>
                      <a:pPr algn="ctr"/>
                      <a:r>
                        <a:rPr lang="en-US" altLang="zh-CN" dirty="0"/>
                        <a:t>2113</a:t>
                      </a:r>
                      <a:endParaRPr lang="zh-CN" altLang="en-US" dirty="0"/>
                    </a:p>
                  </a:txBody>
                  <a:tcPr/>
                </a:tc>
                <a:tc>
                  <a:txBody>
                    <a:bodyPr/>
                    <a:lstStyle/>
                    <a:p>
                      <a:pPr algn="ctr"/>
                      <a:r>
                        <a:rPr lang="zh-CN" altLang="en-US" dirty="0"/>
                        <a:t>程晓清</a:t>
                      </a:r>
                    </a:p>
                  </a:txBody>
                  <a:tcPr/>
                </a:tc>
                <a:tc>
                  <a:txBody>
                    <a:bodyPr/>
                    <a:lstStyle/>
                    <a:p>
                      <a:pPr algn="ctr"/>
                      <a:r>
                        <a:rPr lang="zh-CN" altLang="en-US" dirty="0"/>
                        <a:t>销售部</a:t>
                      </a:r>
                    </a:p>
                  </a:txBody>
                  <a:tcPr/>
                </a:tc>
                <a:tc>
                  <a:txBody>
                    <a:bodyPr/>
                    <a:lstStyle/>
                    <a:p>
                      <a:pPr algn="ctr"/>
                      <a:r>
                        <a:rPr lang="zh-CN" altLang="en-US" dirty="0"/>
                        <a:t>男</a:t>
                      </a:r>
                    </a:p>
                  </a:txBody>
                  <a:tcPr/>
                </a:tc>
                <a:tc>
                  <a:txBody>
                    <a:bodyPr/>
                    <a:lstStyle/>
                    <a:p>
                      <a:pPr algn="ctr"/>
                      <a:r>
                        <a:rPr lang="en-US" altLang="zh-CN" dirty="0"/>
                        <a:t>30</a:t>
                      </a:r>
                    </a:p>
                  </a:txBody>
                  <a:tcPr/>
                </a:tc>
                <a:tc>
                  <a:txBody>
                    <a:bodyPr/>
                    <a:lstStyle/>
                    <a:p>
                      <a:pPr algn="ctr"/>
                      <a:r>
                        <a:rPr lang="en-US" altLang="zh-CN" dirty="0"/>
                        <a:t>310110</a:t>
                      </a:r>
                      <a:r>
                        <a:rPr lang="zh-CN" altLang="en-US" dirty="0"/>
                        <a:t>****</a:t>
                      </a:r>
                      <a:r>
                        <a:rPr lang="en-US" altLang="zh-CN" dirty="0"/>
                        <a:t>03062405</a:t>
                      </a:r>
                      <a:endParaRPr lang="zh-CN" altLang="en-US" dirty="0"/>
                    </a:p>
                  </a:txBody>
                  <a:tcPr/>
                </a:tc>
                <a:extLst>
                  <a:ext uri="{0D108BD9-81ED-4DB2-BD59-A6C34878D82A}">
                    <a16:rowId xmlns:a16="http://schemas.microsoft.com/office/drawing/2014/main" val="225238229"/>
                  </a:ext>
                </a:extLst>
              </a:tr>
              <a:tr h="370840">
                <a:tc>
                  <a:txBody>
                    <a:bodyPr/>
                    <a:lstStyle/>
                    <a:p>
                      <a:pPr algn="ctr"/>
                      <a:r>
                        <a:rPr lang="en-US" altLang="zh-CN" dirty="0"/>
                        <a:t>2116</a:t>
                      </a:r>
                      <a:endParaRPr lang="zh-CN" altLang="en-US" dirty="0"/>
                    </a:p>
                  </a:txBody>
                  <a:tcPr/>
                </a:tc>
                <a:tc>
                  <a:txBody>
                    <a:bodyPr/>
                    <a:lstStyle/>
                    <a:p>
                      <a:pPr algn="ctr"/>
                      <a:r>
                        <a:rPr lang="zh-CN" altLang="en-US" dirty="0"/>
                        <a:t>刘红英</a:t>
                      </a:r>
                    </a:p>
                  </a:txBody>
                  <a:tcPr/>
                </a:tc>
                <a:tc>
                  <a:txBody>
                    <a:bodyPr/>
                    <a:lstStyle/>
                    <a:p>
                      <a:pPr algn="ctr"/>
                      <a:r>
                        <a:rPr lang="zh-CN" altLang="en-US" dirty="0"/>
                        <a:t>财务部</a:t>
                      </a:r>
                    </a:p>
                  </a:txBody>
                  <a:tcPr/>
                </a:tc>
                <a:tc>
                  <a:txBody>
                    <a:bodyPr/>
                    <a:lstStyle/>
                    <a:p>
                      <a:pPr algn="ctr"/>
                      <a:r>
                        <a:rPr lang="zh-CN" altLang="en-US" dirty="0"/>
                        <a:t>女</a:t>
                      </a:r>
                    </a:p>
                  </a:txBody>
                  <a:tcPr/>
                </a:tc>
                <a:tc>
                  <a:txBody>
                    <a:bodyPr/>
                    <a:lstStyle/>
                    <a:p>
                      <a:pPr algn="ctr"/>
                      <a:r>
                        <a:rPr lang="en-US" altLang="zh-CN" dirty="0"/>
                        <a:t>30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05062506</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4023512960"/>
                  </a:ext>
                </a:extLst>
              </a:tr>
              <a:tr h="370840">
                <a:tc>
                  <a:txBody>
                    <a:bodyPr/>
                    <a:lstStyle/>
                    <a:p>
                      <a:pPr algn="ctr"/>
                      <a:r>
                        <a:rPr lang="en-US" altLang="zh-CN" dirty="0"/>
                        <a:t>2136</a:t>
                      </a:r>
                      <a:endParaRPr lang="zh-CN" altLang="en-US" dirty="0"/>
                    </a:p>
                  </a:txBody>
                  <a:tcPr/>
                </a:tc>
                <a:tc>
                  <a:txBody>
                    <a:bodyPr/>
                    <a:lstStyle/>
                    <a:p>
                      <a:pPr algn="ctr"/>
                      <a:r>
                        <a:rPr lang="zh-CN" altLang="en-US" dirty="0"/>
                        <a:t>李小刚</a:t>
                      </a:r>
                    </a:p>
                  </a:txBody>
                  <a:tcPr/>
                </a:tc>
                <a:tc>
                  <a:txBody>
                    <a:bodyPr/>
                    <a:lstStyle/>
                    <a:p>
                      <a:pPr algn="ctr"/>
                      <a:r>
                        <a:rPr lang="zh-CN" altLang="en-US" dirty="0"/>
                        <a:t>管理部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男</a:t>
                      </a:r>
                    </a:p>
                  </a:txBody>
                  <a:tcPr/>
                </a:tc>
                <a:tc>
                  <a:txBody>
                    <a:bodyPr/>
                    <a:lstStyle/>
                    <a:p>
                      <a:pPr algn="ctr"/>
                      <a:r>
                        <a:rPr lang="en-US" altLang="zh-CN" dirty="0"/>
                        <a:t>28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06092507</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242727207"/>
                  </a:ext>
                </a:extLst>
              </a:tr>
              <a:tr h="370840">
                <a:tc>
                  <a:txBody>
                    <a:bodyPr/>
                    <a:lstStyle/>
                    <a:p>
                      <a:pPr algn="ctr"/>
                      <a:r>
                        <a:rPr lang="en-US" altLang="zh-CN" dirty="0"/>
                        <a:t>2138</a:t>
                      </a:r>
                      <a:endParaRPr lang="zh-CN" altLang="en-US" dirty="0"/>
                    </a:p>
                  </a:txBody>
                  <a:tcPr/>
                </a:tc>
                <a:tc>
                  <a:txBody>
                    <a:bodyPr/>
                    <a:lstStyle/>
                    <a:p>
                      <a:pPr algn="ctr"/>
                      <a:r>
                        <a:rPr lang="zh-CN" altLang="en-US" dirty="0"/>
                        <a:t>蒋明</a:t>
                      </a:r>
                    </a:p>
                  </a:txBody>
                  <a:tcPr/>
                </a:tc>
                <a:tc>
                  <a:txBody>
                    <a:bodyPr/>
                    <a:lstStyle/>
                    <a:p>
                      <a:pPr algn="ctr"/>
                      <a:r>
                        <a:rPr lang="zh-CN" altLang="en-US" dirty="0"/>
                        <a:t>采购部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男</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algn="ctr"/>
                      <a:r>
                        <a:rPr lang="en-US" altLang="zh-CN" dirty="0"/>
                        <a:t>41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08082405</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4071535767"/>
                  </a:ext>
                </a:extLst>
              </a:tr>
              <a:tr h="370840">
                <a:tc>
                  <a:txBody>
                    <a:bodyPr/>
                    <a:lstStyle/>
                    <a:p>
                      <a:pPr algn="ctr"/>
                      <a:r>
                        <a:rPr lang="en-US" altLang="zh-CN" dirty="0"/>
                        <a:t>2141</a:t>
                      </a:r>
                      <a:endParaRPr lang="zh-CN" altLang="en-US" dirty="0"/>
                    </a:p>
                  </a:txBody>
                  <a:tcPr/>
                </a:tc>
                <a:tc>
                  <a:txBody>
                    <a:bodyPr/>
                    <a:lstStyle/>
                    <a:p>
                      <a:pPr algn="ctr"/>
                      <a:r>
                        <a:rPr lang="zh-CN" altLang="en-US" dirty="0"/>
                        <a:t>王国洋</a:t>
                      </a:r>
                    </a:p>
                  </a:txBody>
                  <a:tcPr/>
                </a:tc>
                <a:tc>
                  <a:txBody>
                    <a:bodyPr/>
                    <a:lstStyle/>
                    <a:p>
                      <a:pPr algn="ctr"/>
                      <a:r>
                        <a:rPr lang="zh-CN" altLang="en-US" dirty="0"/>
                        <a:t>销售部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algn="ctr"/>
                      <a:r>
                        <a:rPr lang="en-US" altLang="zh-CN" dirty="0"/>
                        <a:t>39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09022407</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53225929"/>
                  </a:ext>
                </a:extLst>
              </a:tr>
            </a:tbl>
          </a:graphicData>
        </a:graphic>
      </p:graphicFrame>
      <p:sp>
        <p:nvSpPr>
          <p:cNvPr id="594947" name="Rectangle 3"/>
          <p:cNvSpPr>
            <a:spLocks noChangeArrowheads="1"/>
          </p:cNvSpPr>
          <p:nvPr/>
        </p:nvSpPr>
        <p:spPr bwMode="auto">
          <a:xfrm>
            <a:off x="84138" y="-76200"/>
            <a:ext cx="9601200" cy="168020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eaLnBrk="0" hangingPunct="0">
              <a:lnSpc>
                <a:spcPct val="200000"/>
              </a:lnSpc>
              <a:spcBef>
                <a:spcPct val="0"/>
              </a:spcBef>
            </a:pPr>
            <a:r>
              <a:rPr lang="en-US" altLang="zh-CN" sz="2800" b="1" dirty="0">
                <a:solidFill>
                  <a:schemeClr val="bg2"/>
                </a:solidFill>
                <a:latin typeface="Times New Roman" pitchFamily="18" charset="0"/>
              </a:rPr>
              <a:t>                     §3.1   </a:t>
            </a:r>
            <a:r>
              <a:rPr lang="zh-CN" altLang="en-US" sz="2800" b="1" dirty="0">
                <a:solidFill>
                  <a:schemeClr val="bg2"/>
                </a:solidFill>
              </a:rPr>
              <a:t>关系数据模型</a:t>
            </a:r>
            <a:r>
              <a:rPr lang="zh-CN" altLang="en-US" sz="2800" b="1" dirty="0">
                <a:solidFill>
                  <a:schemeClr val="bg2"/>
                </a:solidFill>
                <a:latin typeface="Times New Roman" pitchFamily="18" charset="0"/>
              </a:rPr>
              <a:t>的基本概念</a:t>
            </a:r>
          </a:p>
          <a:p>
            <a:pPr eaLnBrk="0" hangingPunct="0">
              <a:lnSpc>
                <a:spcPct val="200000"/>
              </a:lnSpc>
              <a:spcBef>
                <a:spcPct val="0"/>
              </a:spcBef>
            </a:pPr>
            <a:r>
              <a:rPr lang="zh-CN" altLang="en-US" sz="2800" b="1" dirty="0">
                <a:solidFill>
                  <a:srgbClr val="000099"/>
                </a:solidFill>
                <a:latin typeface="Times New Roman" pitchFamily="18" charset="0"/>
              </a:rPr>
              <a:t>         一、基本术语</a:t>
            </a:r>
            <a:r>
              <a:rPr lang="zh-CN" altLang="en-US" sz="2400" b="1" dirty="0">
                <a:solidFill>
                  <a:srgbClr val="000099"/>
                </a:solidFill>
                <a:latin typeface="Times New Roman" pitchFamily="18" charset="0"/>
              </a:rPr>
              <a:t>   </a:t>
            </a:r>
          </a:p>
        </p:txBody>
      </p:sp>
      <p:grpSp>
        <p:nvGrpSpPr>
          <p:cNvPr id="594948" name="Group 4"/>
          <p:cNvGrpSpPr>
            <a:grpSpLocks/>
          </p:cNvGrpSpPr>
          <p:nvPr/>
        </p:nvGrpSpPr>
        <p:grpSpPr bwMode="auto">
          <a:xfrm>
            <a:off x="152400" y="152400"/>
            <a:ext cx="8991600" cy="973138"/>
            <a:chOff x="0" y="288"/>
            <a:chExt cx="5760" cy="864"/>
          </a:xfrm>
        </p:grpSpPr>
        <p:sp>
          <p:nvSpPr>
            <p:cNvPr id="594949" name="Rectangle 5"/>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594950" name="Rectangle 6"/>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594951" name="Rectangle 7"/>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594952" name="Rectangle 8"/>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594953" name="Rectangle 9"/>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594954" name="Rectangle 10"/>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grpSp>
      <p:sp>
        <p:nvSpPr>
          <p:cNvPr id="4" name="文本框 3">
            <a:extLst>
              <a:ext uri="{FF2B5EF4-FFF2-40B4-BE49-F238E27FC236}">
                <a16:creationId xmlns:a16="http://schemas.microsoft.com/office/drawing/2014/main" id="{806856CD-DC49-474D-872C-FF4D109DCB82}"/>
              </a:ext>
            </a:extLst>
          </p:cNvPr>
          <p:cNvSpPr txBox="1"/>
          <p:nvPr/>
        </p:nvSpPr>
        <p:spPr>
          <a:xfrm>
            <a:off x="611240" y="2163629"/>
            <a:ext cx="7127272" cy="738664"/>
          </a:xfrm>
          <a:prstGeom prst="rect">
            <a:avLst/>
          </a:prstGeom>
          <a:noFill/>
        </p:spPr>
        <p:txBody>
          <a:bodyPr wrap="none" rtlCol="0">
            <a:spAutoFit/>
          </a:bodyPr>
          <a:lstStyle/>
          <a:p>
            <a:r>
              <a:rPr kumimoji="1" lang="zh-CN" altLang="en-US" sz="2000" b="1" dirty="0">
                <a:solidFill>
                  <a:schemeClr val="bg2"/>
                </a:solidFill>
              </a:rPr>
              <a:t>职工表（实体集）：</a:t>
            </a:r>
            <a:r>
              <a:rPr kumimoji="1" lang="zh-CN" altLang="en-US" sz="2000" dirty="0">
                <a:solidFill>
                  <a:schemeClr val="bg2"/>
                </a:solidFill>
              </a:rPr>
              <a:t>由行和列交叉组成的二维表格，也即</a:t>
            </a:r>
            <a:r>
              <a:rPr kumimoji="1" lang="zh-CN" altLang="en-US" sz="2000" b="1" dirty="0">
                <a:solidFill>
                  <a:schemeClr val="bg2"/>
                </a:solidFill>
              </a:rPr>
              <a:t>关系</a:t>
            </a:r>
          </a:p>
          <a:p>
            <a:endParaRPr kumimoji="1" lang="zh-CN" altLang="en-US" sz="2000" b="1" dirty="0">
              <a:solidFill>
                <a:schemeClr val="bg2"/>
              </a:solidFill>
            </a:endParaRPr>
          </a:p>
        </p:txBody>
      </p:sp>
      <p:sp>
        <p:nvSpPr>
          <p:cNvPr id="7" name="矩形 6">
            <a:extLst>
              <a:ext uri="{FF2B5EF4-FFF2-40B4-BE49-F238E27FC236}">
                <a16:creationId xmlns:a16="http://schemas.microsoft.com/office/drawing/2014/main" id="{A208F436-5020-CC4A-9A51-F2368E13933A}"/>
              </a:ext>
            </a:extLst>
          </p:cNvPr>
          <p:cNvSpPr/>
          <p:nvPr/>
        </p:nvSpPr>
        <p:spPr bwMode="auto">
          <a:xfrm>
            <a:off x="388301" y="2845860"/>
            <a:ext cx="7253818" cy="377235"/>
          </a:xfrm>
          <a:prstGeom prst="rect">
            <a:avLst/>
          </a:prstGeom>
          <a:noFill/>
          <a:ln w="19050" cap="flat" cmpd="sng" algn="ctr">
            <a:solidFill>
              <a:srgbClr val="FF0000"/>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8" name="线形标注 1 7">
            <a:extLst>
              <a:ext uri="{FF2B5EF4-FFF2-40B4-BE49-F238E27FC236}">
                <a16:creationId xmlns:a16="http://schemas.microsoft.com/office/drawing/2014/main" id="{0ED99C50-1435-5E48-BCFE-798E8B338987}"/>
              </a:ext>
            </a:extLst>
          </p:cNvPr>
          <p:cNvSpPr/>
          <p:nvPr/>
        </p:nvSpPr>
        <p:spPr bwMode="auto">
          <a:xfrm>
            <a:off x="7836674" y="2683605"/>
            <a:ext cx="1008112" cy="1569660"/>
          </a:xfrm>
          <a:prstGeom prst="borderCallout1">
            <a:avLst>
              <a:gd name="adj1" fmla="val 49332"/>
              <a:gd name="adj2" fmla="val -2385"/>
              <a:gd name="adj3" fmla="val 31160"/>
              <a:gd name="adj4" fmla="val -16807"/>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r>
              <a:rPr kumimoji="1" lang="zh-CN" altLang="en-US" sz="2000" b="0" i="0" u="none" strike="noStrike" cap="none" normalizeH="0" baseline="0" dirty="0">
                <a:ln>
                  <a:noFill/>
                </a:ln>
                <a:solidFill>
                  <a:schemeClr val="bg2"/>
                </a:solidFill>
                <a:effectLst/>
                <a:latin typeface="宋体" pitchFamily="2" charset="-122"/>
                <a:ea typeface="宋体" pitchFamily="2" charset="-122"/>
              </a:rPr>
              <a:t>元</a:t>
            </a:r>
            <a:r>
              <a:rPr lang="zh-CN" altLang="en-US" sz="2000" dirty="0">
                <a:solidFill>
                  <a:schemeClr val="bg2"/>
                </a:solidFill>
              </a:rPr>
              <a:t>组即记录：</a:t>
            </a:r>
            <a:r>
              <a:rPr kumimoji="1" lang="zh-CN" altLang="en-US" sz="2000" b="0" i="0" u="none" strike="noStrike" cap="none" normalizeH="0" baseline="0" dirty="0">
                <a:ln>
                  <a:noFill/>
                </a:ln>
                <a:solidFill>
                  <a:schemeClr val="bg2"/>
                </a:solidFill>
                <a:effectLst/>
                <a:latin typeface="宋体" pitchFamily="2" charset="-122"/>
                <a:ea typeface="宋体" pitchFamily="2" charset="-122"/>
              </a:rPr>
              <a:t>表示实体集中的一个实体</a:t>
            </a:r>
          </a:p>
        </p:txBody>
      </p:sp>
      <p:sp>
        <p:nvSpPr>
          <p:cNvPr id="18" name="线形标注 1 17">
            <a:extLst>
              <a:ext uri="{FF2B5EF4-FFF2-40B4-BE49-F238E27FC236}">
                <a16:creationId xmlns:a16="http://schemas.microsoft.com/office/drawing/2014/main" id="{AA1128E1-D3ED-B64C-B370-8188B4CAD709}"/>
              </a:ext>
            </a:extLst>
          </p:cNvPr>
          <p:cNvSpPr/>
          <p:nvPr/>
        </p:nvSpPr>
        <p:spPr bwMode="auto">
          <a:xfrm>
            <a:off x="2627784" y="5534598"/>
            <a:ext cx="1098617" cy="830997"/>
          </a:xfrm>
          <a:prstGeom prst="borderCallout1">
            <a:avLst>
              <a:gd name="adj1" fmla="val -3014"/>
              <a:gd name="adj2" fmla="val 55186"/>
              <a:gd name="adj3" fmla="val -91734"/>
              <a:gd name="adj4" fmla="val 54503"/>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algn="ctr"/>
            <a:r>
              <a:rPr lang="zh-CN" altLang="en-US" sz="2000" dirty="0">
                <a:solidFill>
                  <a:schemeClr val="bg2"/>
                </a:solidFill>
              </a:rPr>
              <a:t>属性，字段或数据项</a:t>
            </a:r>
            <a:endParaRPr kumimoji="1" lang="zh-CN" altLang="en-US" sz="2000" b="0" i="0" u="none" strike="noStrike" cap="none" normalizeH="0" baseline="0" dirty="0">
              <a:ln>
                <a:noFill/>
              </a:ln>
              <a:solidFill>
                <a:schemeClr val="bg2"/>
              </a:solidFill>
              <a:effectLst/>
              <a:latin typeface="宋体" pitchFamily="2" charset="-122"/>
              <a:ea typeface="宋体" pitchFamily="2" charset="-122"/>
            </a:endParaRPr>
          </a:p>
        </p:txBody>
      </p:sp>
      <p:sp>
        <p:nvSpPr>
          <p:cNvPr id="19" name="矩形 18">
            <a:extLst>
              <a:ext uri="{FF2B5EF4-FFF2-40B4-BE49-F238E27FC236}">
                <a16:creationId xmlns:a16="http://schemas.microsoft.com/office/drawing/2014/main" id="{022EFEE4-3071-3441-8926-5C418493073D}"/>
              </a:ext>
            </a:extLst>
          </p:cNvPr>
          <p:cNvSpPr/>
          <p:nvPr/>
        </p:nvSpPr>
        <p:spPr bwMode="auto">
          <a:xfrm>
            <a:off x="2721359" y="2485360"/>
            <a:ext cx="1098617" cy="2299091"/>
          </a:xfrm>
          <a:prstGeom prst="rect">
            <a:avLst/>
          </a:prstGeom>
          <a:noFill/>
          <a:ln w="19050" cap="flat" cmpd="sng" algn="ctr">
            <a:solidFill>
              <a:srgbClr val="00B050"/>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en-US" altLang="zh-CN" sz="2000" b="0" i="0" u="none" strike="noStrike" cap="none" normalizeH="0" baseline="0" dirty="0">
              <a:ln>
                <a:noFill/>
              </a:ln>
              <a:solidFill>
                <a:schemeClr val="tx1"/>
              </a:solidFill>
              <a:effectLst/>
              <a:latin typeface="宋体" pitchFamily="2" charset="-122"/>
              <a:ea typeface="宋体" pitchFamily="2" charset="-122"/>
            </a:endParaRPr>
          </a:p>
          <a:p>
            <a:pPr marL="0" marR="0" indent="0" algn="just" defTabSz="914400" rtl="0" eaLnBrk="1" fontAlgn="base" latinLnBrk="0" hangingPunct="1">
              <a:lnSpc>
                <a:spcPct val="80000"/>
              </a:lnSpc>
              <a:spcBef>
                <a:spcPct val="50000"/>
              </a:spcBef>
              <a:spcAft>
                <a:spcPct val="0"/>
              </a:spcAft>
              <a:buClrTx/>
              <a:buSzTx/>
              <a:buFontTx/>
              <a:buNone/>
              <a:tabLst/>
            </a:pPr>
            <a:endParaRPr lang="en-US" altLang="zh-CN" sz="2000" dirty="0"/>
          </a:p>
          <a:p>
            <a:pPr marL="0" marR="0" indent="0" algn="just" defTabSz="914400" rtl="0" eaLnBrk="1" fontAlgn="base" latinLnBrk="0" hangingPunct="1">
              <a:lnSpc>
                <a:spcPct val="80000"/>
              </a:lnSpc>
              <a:spcBef>
                <a:spcPct val="50000"/>
              </a:spcBef>
              <a:spcAft>
                <a:spcPct val="0"/>
              </a:spcAft>
              <a:buClrTx/>
              <a:buSzTx/>
              <a:buFontTx/>
              <a:buNone/>
              <a:tabLst/>
            </a:pPr>
            <a:endParaRPr kumimoji="1" lang="en-US" altLang="zh-CN" sz="2000" b="0" i="0" u="none" strike="noStrike" cap="none" normalizeH="0" baseline="0" dirty="0">
              <a:ln>
                <a:noFill/>
              </a:ln>
              <a:solidFill>
                <a:schemeClr val="tx1"/>
              </a:solidFill>
              <a:effectLst/>
              <a:latin typeface="宋体" pitchFamily="2" charset="-122"/>
              <a:ea typeface="宋体" pitchFamily="2" charset="-122"/>
            </a:endParaRPr>
          </a:p>
          <a:p>
            <a:pPr marL="0" marR="0" indent="0" algn="just" defTabSz="914400" rtl="0" eaLnBrk="1" fontAlgn="base" latinLnBrk="0" hangingPunct="1">
              <a:lnSpc>
                <a:spcPct val="80000"/>
              </a:lnSpc>
              <a:spcBef>
                <a:spcPct val="50000"/>
              </a:spcBef>
              <a:spcAft>
                <a:spcPct val="0"/>
              </a:spcAft>
              <a:buClrTx/>
              <a:buSzTx/>
              <a:buFontTx/>
              <a:buNone/>
              <a:tabLst/>
            </a:pPr>
            <a:endParaRPr lang="en-US" altLang="zh-CN" sz="2000" dirty="0"/>
          </a:p>
          <a:p>
            <a:pPr marL="0" marR="0" indent="0" algn="just" defTabSz="914400" rtl="0" eaLnBrk="1" fontAlgn="base" latinLnBrk="0" hangingPunct="1">
              <a:lnSpc>
                <a:spcPct val="80000"/>
              </a:lnSpc>
              <a:spcBef>
                <a:spcPct val="50000"/>
              </a:spcBef>
              <a:spcAft>
                <a:spcPct val="0"/>
              </a:spcAft>
              <a:buClrTx/>
              <a:buSzTx/>
              <a:buFontTx/>
              <a:buNone/>
              <a:tabLst/>
            </a:pPr>
            <a:endParaRPr kumimoji="1" lang="en-US" altLang="zh-CN" sz="2000" b="0" i="0" u="none" strike="noStrike" cap="none" normalizeH="0" baseline="0" dirty="0">
              <a:ln>
                <a:noFill/>
              </a:ln>
              <a:solidFill>
                <a:schemeClr val="tx1"/>
              </a:solidFill>
              <a:effectLst/>
              <a:latin typeface="宋体" pitchFamily="2" charset="-122"/>
              <a:ea typeface="宋体" pitchFamily="2" charset="-122"/>
            </a:endParaRPr>
          </a:p>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dirty="0">
              <a:ln>
                <a:noFill/>
              </a:ln>
              <a:solidFill>
                <a:schemeClr val="tx1"/>
              </a:solidFill>
              <a:effectLst/>
              <a:latin typeface="宋体" pitchFamily="2" charset="-122"/>
              <a:ea typeface="宋体" pitchFamily="2" charset="-122"/>
            </a:endParaRPr>
          </a:p>
        </p:txBody>
      </p:sp>
      <p:sp>
        <p:nvSpPr>
          <p:cNvPr id="21" name="线形标注 1 20">
            <a:extLst>
              <a:ext uri="{FF2B5EF4-FFF2-40B4-BE49-F238E27FC236}">
                <a16:creationId xmlns:a16="http://schemas.microsoft.com/office/drawing/2014/main" id="{738423D3-8669-E54B-A04D-35B07191D310}"/>
              </a:ext>
            </a:extLst>
          </p:cNvPr>
          <p:cNvSpPr/>
          <p:nvPr/>
        </p:nvSpPr>
        <p:spPr bwMode="auto">
          <a:xfrm>
            <a:off x="357431" y="5042156"/>
            <a:ext cx="1350794" cy="1323439"/>
          </a:xfrm>
          <a:prstGeom prst="borderCallout1">
            <a:avLst>
              <a:gd name="adj1" fmla="val -3014"/>
              <a:gd name="adj2" fmla="val 55186"/>
              <a:gd name="adj3" fmla="val -19090"/>
              <a:gd name="adj4" fmla="val 54503"/>
            </a:avLst>
          </a:prstGeom>
          <a:noFill/>
          <a:ln w="19050" cap="flat" cmpd="sng" algn="ctr">
            <a:solidFill>
              <a:srgbClr val="FFFF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chemeClr val="bg2"/>
                </a:solidFill>
                <a:effectLst/>
                <a:latin typeface="宋体" pitchFamily="2" charset="-122"/>
                <a:ea typeface="宋体" pitchFamily="2" charset="-122"/>
              </a:rPr>
              <a:t>主键：能唯一标识表中不同行的属性</a:t>
            </a:r>
            <a:r>
              <a:rPr lang="zh-CN" altLang="en-US" sz="2000" dirty="0">
                <a:solidFill>
                  <a:schemeClr val="bg2"/>
                </a:solidFill>
              </a:rPr>
              <a:t>或</a:t>
            </a:r>
            <a:r>
              <a:rPr kumimoji="1" lang="zh-CN" altLang="en-US" sz="2000" b="0" i="0" u="none" strike="noStrike" cap="none" normalizeH="0" baseline="0" dirty="0">
                <a:ln>
                  <a:noFill/>
                </a:ln>
                <a:solidFill>
                  <a:schemeClr val="bg2"/>
                </a:solidFill>
                <a:effectLst/>
                <a:latin typeface="宋体" pitchFamily="2" charset="-122"/>
                <a:ea typeface="宋体" pitchFamily="2" charset="-122"/>
              </a:rPr>
              <a:t>属性组</a:t>
            </a:r>
          </a:p>
        </p:txBody>
      </p:sp>
      <p:sp>
        <p:nvSpPr>
          <p:cNvPr id="22" name="矩形 21">
            <a:extLst>
              <a:ext uri="{FF2B5EF4-FFF2-40B4-BE49-F238E27FC236}">
                <a16:creationId xmlns:a16="http://schemas.microsoft.com/office/drawing/2014/main" id="{0C2337C3-E719-1D4B-B196-EBEBECC874FF}"/>
              </a:ext>
            </a:extLst>
          </p:cNvPr>
          <p:cNvSpPr/>
          <p:nvPr/>
        </p:nvSpPr>
        <p:spPr bwMode="auto">
          <a:xfrm>
            <a:off x="331865" y="2468161"/>
            <a:ext cx="1401926" cy="2249847"/>
          </a:xfrm>
          <a:prstGeom prst="rect">
            <a:avLst/>
          </a:prstGeom>
          <a:noFill/>
          <a:ln w="19050" cap="flat" cmpd="sng" algn="ctr">
            <a:solidFill>
              <a:srgbClr val="FFFF00"/>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en-US" altLang="zh-CN" sz="1600" b="0" i="0" u="none" strike="noStrike" cap="none" normalizeH="0" baseline="0" dirty="0">
              <a:ln>
                <a:noFill/>
              </a:ln>
              <a:solidFill>
                <a:schemeClr val="tx1"/>
              </a:solidFill>
              <a:effectLst/>
              <a:latin typeface="宋体" pitchFamily="2" charset="-122"/>
              <a:ea typeface="宋体" pitchFamily="2" charset="-122"/>
            </a:endParaRPr>
          </a:p>
          <a:p>
            <a:pPr marL="0" marR="0" indent="0" algn="just" defTabSz="914400" rtl="0" eaLnBrk="1" fontAlgn="base" latinLnBrk="0" hangingPunct="1">
              <a:lnSpc>
                <a:spcPct val="80000"/>
              </a:lnSpc>
              <a:spcBef>
                <a:spcPct val="50000"/>
              </a:spcBef>
              <a:spcAft>
                <a:spcPct val="0"/>
              </a:spcAft>
              <a:buClrTx/>
              <a:buSzTx/>
              <a:buFontTx/>
              <a:buNone/>
              <a:tabLst/>
            </a:pPr>
            <a:endParaRPr lang="en-US" altLang="zh-CN" sz="1600" dirty="0"/>
          </a:p>
          <a:p>
            <a:pPr marL="0" marR="0" indent="0" algn="just" defTabSz="914400" rtl="0" eaLnBrk="1" fontAlgn="base" latinLnBrk="0" hangingPunct="1">
              <a:lnSpc>
                <a:spcPct val="80000"/>
              </a:lnSpc>
              <a:spcBef>
                <a:spcPct val="50000"/>
              </a:spcBef>
              <a:spcAft>
                <a:spcPct val="0"/>
              </a:spcAft>
              <a:buClrTx/>
              <a:buSzTx/>
              <a:buFontTx/>
              <a:buNone/>
              <a:tabLst/>
            </a:pPr>
            <a:endParaRPr kumimoji="1" lang="en-US" altLang="zh-CN" sz="1600" b="0" i="0" u="none" strike="noStrike" cap="none" normalizeH="0" baseline="0" dirty="0">
              <a:ln>
                <a:noFill/>
              </a:ln>
              <a:solidFill>
                <a:schemeClr val="tx1"/>
              </a:solidFill>
              <a:effectLst/>
              <a:latin typeface="宋体" pitchFamily="2" charset="-122"/>
              <a:ea typeface="宋体" pitchFamily="2" charset="-122"/>
            </a:endParaRPr>
          </a:p>
          <a:p>
            <a:pPr marL="0" marR="0" indent="0" algn="just" defTabSz="914400" rtl="0" eaLnBrk="1" fontAlgn="base" latinLnBrk="0" hangingPunct="1">
              <a:lnSpc>
                <a:spcPct val="80000"/>
              </a:lnSpc>
              <a:spcBef>
                <a:spcPct val="50000"/>
              </a:spcBef>
              <a:spcAft>
                <a:spcPct val="0"/>
              </a:spcAft>
              <a:buClrTx/>
              <a:buSzTx/>
              <a:buFontTx/>
              <a:buNone/>
              <a:tabLst/>
            </a:pPr>
            <a:endParaRPr lang="en-US" altLang="zh-CN" sz="1600" dirty="0"/>
          </a:p>
          <a:p>
            <a:pPr marL="0" marR="0" indent="0" algn="just" defTabSz="914400" rtl="0" eaLnBrk="1" fontAlgn="base" latinLnBrk="0" hangingPunct="1">
              <a:lnSpc>
                <a:spcPct val="80000"/>
              </a:lnSpc>
              <a:spcBef>
                <a:spcPct val="50000"/>
              </a:spcBef>
              <a:spcAft>
                <a:spcPct val="0"/>
              </a:spcAft>
              <a:buClrTx/>
              <a:buSzTx/>
              <a:buFontTx/>
              <a:buNone/>
              <a:tabLst/>
            </a:pPr>
            <a:endParaRPr kumimoji="1" lang="en-US" altLang="zh-CN" sz="1600" b="0" i="0" u="none" strike="noStrike" cap="none" normalizeH="0" baseline="0" dirty="0">
              <a:ln>
                <a:noFill/>
              </a:ln>
              <a:solidFill>
                <a:schemeClr val="tx1"/>
              </a:solidFill>
              <a:effectLst/>
              <a:latin typeface="宋体" pitchFamily="2" charset="-122"/>
              <a:ea typeface="宋体" pitchFamily="2" charset="-122"/>
            </a:endParaRPr>
          </a:p>
          <a:p>
            <a:pPr marL="0" marR="0" indent="0" algn="just" defTabSz="914400" rtl="0" eaLnBrk="1" fontAlgn="base" latinLnBrk="0" hangingPunct="1">
              <a:lnSpc>
                <a:spcPct val="80000"/>
              </a:lnSpc>
              <a:spcBef>
                <a:spcPct val="50000"/>
              </a:spcBef>
              <a:spcAft>
                <a:spcPct val="0"/>
              </a:spcAft>
              <a:buClrTx/>
              <a:buSzTx/>
              <a:buFontTx/>
              <a:buNone/>
              <a:tabLst/>
            </a:pPr>
            <a:endParaRPr lang="en-US" altLang="zh-CN" sz="1600" dirty="0"/>
          </a:p>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600" b="0" i="0" u="none" strike="noStrike" cap="none" normalizeH="0" baseline="0" dirty="0">
              <a:ln>
                <a:noFill/>
              </a:ln>
              <a:solidFill>
                <a:schemeClr val="tx1"/>
              </a:solidFill>
              <a:effectLst/>
              <a:latin typeface="宋体" pitchFamily="2" charset="-122"/>
              <a:ea typeface="宋体" pitchFamily="2" charset="-122"/>
            </a:endParaRPr>
          </a:p>
        </p:txBody>
      </p:sp>
      <p:sp>
        <p:nvSpPr>
          <p:cNvPr id="24" name="线形标注 1 23">
            <a:extLst>
              <a:ext uri="{FF2B5EF4-FFF2-40B4-BE49-F238E27FC236}">
                <a16:creationId xmlns:a16="http://schemas.microsoft.com/office/drawing/2014/main" id="{0C8AD0E6-5FA4-6944-98EC-69EB1A616ECE}"/>
              </a:ext>
            </a:extLst>
          </p:cNvPr>
          <p:cNvSpPr/>
          <p:nvPr/>
        </p:nvSpPr>
        <p:spPr bwMode="auto">
          <a:xfrm>
            <a:off x="237875" y="1665416"/>
            <a:ext cx="8685636" cy="338554"/>
          </a:xfrm>
          <a:prstGeom prst="borderCallout1">
            <a:avLst>
              <a:gd name="adj1" fmla="val 103350"/>
              <a:gd name="adj2" fmla="val 29076"/>
              <a:gd name="adj3" fmla="val 162346"/>
              <a:gd name="adj4" fmla="val 27708"/>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r>
              <a:rPr lang="zh-CN" altLang="en-US" sz="2000" b="1" u="sng" dirty="0">
                <a:solidFill>
                  <a:srgbClr val="FF0000"/>
                </a:solidFill>
              </a:rPr>
              <a:t>关系模型</a:t>
            </a:r>
            <a:r>
              <a:rPr lang="zh-CN" altLang="en-US" sz="2000" dirty="0">
                <a:solidFill>
                  <a:schemeClr val="bg2"/>
                </a:solidFill>
              </a:rPr>
              <a:t>：用二维表格表示实体集，外键和主键表示实体间联系的数据模型。</a:t>
            </a:r>
            <a:endParaRPr kumimoji="1" lang="zh-CN" altLang="en-US" sz="2000" b="0" i="0" u="none" strike="noStrike" cap="none" normalizeH="0" baseline="0" dirty="0">
              <a:ln>
                <a:noFill/>
              </a:ln>
              <a:solidFill>
                <a:schemeClr val="bg2"/>
              </a:solidFill>
              <a:effectLst/>
              <a:latin typeface="宋体" pitchFamily="2" charset="-122"/>
              <a:ea typeface="宋体" pitchFamily="2" charset="-122"/>
            </a:endParaRPr>
          </a:p>
        </p:txBody>
      </p:sp>
      <p:pic>
        <p:nvPicPr>
          <p:cNvPr id="20" name="图片 19">
            <a:extLst>
              <a:ext uri="{FF2B5EF4-FFF2-40B4-BE49-F238E27FC236}">
                <a16:creationId xmlns:a16="http://schemas.microsoft.com/office/drawing/2014/main" id="{26E11CC7-E0BD-424B-A452-AFC35C4FF35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99309" y="1031367"/>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2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1"/>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8" grpId="0" animBg="1"/>
      <p:bldP spid="19" grpId="0" animBg="1"/>
      <p:bldP spid="21" grpId="0" animBg="1"/>
      <p:bldP spid="22" grpId="0" animBg="1"/>
      <p:bldP spid="24"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表格 4">
            <a:extLst>
              <a:ext uri="{FF2B5EF4-FFF2-40B4-BE49-F238E27FC236}">
                <a16:creationId xmlns:a16="http://schemas.microsoft.com/office/drawing/2014/main" id="{B673E919-40CB-0B47-B5B0-9478F14E4EE1}"/>
              </a:ext>
            </a:extLst>
          </p:cNvPr>
          <p:cNvGraphicFramePr>
            <a:graphicFrameLocks noGrp="1"/>
          </p:cNvGraphicFramePr>
          <p:nvPr>
            <p:extLst>
              <p:ext uri="{D42A27DB-BD31-4B8C-83A1-F6EECF244321}">
                <p14:modId xmlns:p14="http://schemas.microsoft.com/office/powerpoint/2010/main" val="964233909"/>
              </p:ext>
            </p:extLst>
          </p:nvPr>
        </p:nvGraphicFramePr>
        <p:xfrm>
          <a:off x="688631" y="2020355"/>
          <a:ext cx="7248353" cy="2225040"/>
        </p:xfrm>
        <a:graphic>
          <a:graphicData uri="http://schemas.openxmlformats.org/drawingml/2006/table">
            <a:tbl>
              <a:tblPr firstRow="1" bandRow="1">
                <a:tableStyleId>{21E4AEA4-8DFA-4A89-87EB-49C32662AFE0}</a:tableStyleId>
              </a:tblPr>
              <a:tblGrid>
                <a:gridCol w="1368152">
                  <a:extLst>
                    <a:ext uri="{9D8B030D-6E8A-4147-A177-3AD203B41FA5}">
                      <a16:colId xmlns:a16="http://schemas.microsoft.com/office/drawing/2014/main" val="836150226"/>
                    </a:ext>
                  </a:extLst>
                </a:gridCol>
                <a:gridCol w="936104">
                  <a:extLst>
                    <a:ext uri="{9D8B030D-6E8A-4147-A177-3AD203B41FA5}">
                      <a16:colId xmlns:a16="http://schemas.microsoft.com/office/drawing/2014/main" val="348762623"/>
                    </a:ext>
                  </a:extLst>
                </a:gridCol>
                <a:gridCol w="1080120">
                  <a:extLst>
                    <a:ext uri="{9D8B030D-6E8A-4147-A177-3AD203B41FA5}">
                      <a16:colId xmlns:a16="http://schemas.microsoft.com/office/drawing/2014/main" val="485607095"/>
                    </a:ext>
                  </a:extLst>
                </a:gridCol>
                <a:gridCol w="792088">
                  <a:extLst>
                    <a:ext uri="{9D8B030D-6E8A-4147-A177-3AD203B41FA5}">
                      <a16:colId xmlns:a16="http://schemas.microsoft.com/office/drawing/2014/main" val="2832269886"/>
                    </a:ext>
                  </a:extLst>
                </a:gridCol>
                <a:gridCol w="832791">
                  <a:extLst>
                    <a:ext uri="{9D8B030D-6E8A-4147-A177-3AD203B41FA5}">
                      <a16:colId xmlns:a16="http://schemas.microsoft.com/office/drawing/2014/main" val="2210278073"/>
                    </a:ext>
                  </a:extLst>
                </a:gridCol>
                <a:gridCol w="2239098">
                  <a:extLst>
                    <a:ext uri="{9D8B030D-6E8A-4147-A177-3AD203B41FA5}">
                      <a16:colId xmlns:a16="http://schemas.microsoft.com/office/drawing/2014/main" val="3343172956"/>
                    </a:ext>
                  </a:extLst>
                </a:gridCol>
              </a:tblGrid>
              <a:tr h="370840">
                <a:tc>
                  <a:txBody>
                    <a:bodyPr/>
                    <a:lstStyle/>
                    <a:p>
                      <a:pPr algn="ctr"/>
                      <a:r>
                        <a:rPr lang="zh-CN" altLang="en-US" dirty="0"/>
                        <a:t>职工编号</a:t>
                      </a:r>
                    </a:p>
                  </a:txBody>
                  <a:tcPr/>
                </a:tc>
                <a:tc>
                  <a:txBody>
                    <a:bodyPr/>
                    <a:lstStyle/>
                    <a:p>
                      <a:pPr algn="ctr"/>
                      <a:r>
                        <a:rPr lang="zh-CN" altLang="en-US" dirty="0"/>
                        <a:t>姓名</a:t>
                      </a:r>
                    </a:p>
                  </a:txBody>
                  <a:tcPr/>
                </a:tc>
                <a:tc>
                  <a:txBody>
                    <a:bodyPr/>
                    <a:lstStyle/>
                    <a:p>
                      <a:pPr algn="ctr"/>
                      <a:r>
                        <a:rPr lang="zh-CN" altLang="en-US" dirty="0"/>
                        <a:t>部门</a:t>
                      </a:r>
                    </a:p>
                  </a:txBody>
                  <a:tcPr/>
                </a:tc>
                <a:tc>
                  <a:txBody>
                    <a:bodyPr/>
                    <a:lstStyle/>
                    <a:p>
                      <a:pPr algn="ctr"/>
                      <a:r>
                        <a:rPr lang="zh-CN" altLang="en-US" dirty="0"/>
                        <a:t>性别</a:t>
                      </a:r>
                    </a:p>
                  </a:txBody>
                  <a:tcPr/>
                </a:tc>
                <a:tc>
                  <a:txBody>
                    <a:bodyPr/>
                    <a:lstStyle/>
                    <a:p>
                      <a:pPr algn="ctr"/>
                      <a:r>
                        <a:rPr lang="zh-CN" altLang="en-US" dirty="0"/>
                        <a:t>年龄</a:t>
                      </a:r>
                    </a:p>
                  </a:txBody>
                  <a:tcPr/>
                </a:tc>
                <a:tc>
                  <a:txBody>
                    <a:bodyPr/>
                    <a:lstStyle/>
                    <a:p>
                      <a:pPr algn="ctr"/>
                      <a:r>
                        <a:rPr lang="zh-CN" altLang="en-US" dirty="0"/>
                        <a:t>身份证号码</a:t>
                      </a:r>
                    </a:p>
                  </a:txBody>
                  <a:tcPr/>
                </a:tc>
                <a:extLst>
                  <a:ext uri="{0D108BD9-81ED-4DB2-BD59-A6C34878D82A}">
                    <a16:rowId xmlns:a16="http://schemas.microsoft.com/office/drawing/2014/main" val="2498035954"/>
                  </a:ext>
                </a:extLst>
              </a:tr>
              <a:tr h="370840">
                <a:tc>
                  <a:txBody>
                    <a:bodyPr/>
                    <a:lstStyle/>
                    <a:p>
                      <a:pPr algn="ctr"/>
                      <a:r>
                        <a:rPr lang="en-US" altLang="zh-CN" dirty="0"/>
                        <a:t>2113</a:t>
                      </a:r>
                      <a:endParaRPr lang="zh-CN" altLang="en-US" dirty="0"/>
                    </a:p>
                  </a:txBody>
                  <a:tcPr/>
                </a:tc>
                <a:tc>
                  <a:txBody>
                    <a:bodyPr/>
                    <a:lstStyle/>
                    <a:p>
                      <a:pPr algn="ctr"/>
                      <a:r>
                        <a:rPr lang="zh-CN" altLang="en-US" dirty="0"/>
                        <a:t>程晓清</a:t>
                      </a:r>
                    </a:p>
                  </a:txBody>
                  <a:tcPr/>
                </a:tc>
                <a:tc>
                  <a:txBody>
                    <a:bodyPr/>
                    <a:lstStyle/>
                    <a:p>
                      <a:pPr algn="ctr"/>
                      <a:r>
                        <a:rPr lang="zh-CN" altLang="en-US" dirty="0"/>
                        <a:t>销售部</a:t>
                      </a:r>
                    </a:p>
                  </a:txBody>
                  <a:tcPr/>
                </a:tc>
                <a:tc>
                  <a:txBody>
                    <a:bodyPr/>
                    <a:lstStyle/>
                    <a:p>
                      <a:pPr algn="ctr"/>
                      <a:r>
                        <a:rPr lang="zh-CN" altLang="en-US" dirty="0"/>
                        <a:t>男</a:t>
                      </a:r>
                    </a:p>
                  </a:txBody>
                  <a:tcPr/>
                </a:tc>
                <a:tc>
                  <a:txBody>
                    <a:bodyPr/>
                    <a:lstStyle/>
                    <a:p>
                      <a:pPr algn="ctr"/>
                      <a:r>
                        <a:rPr lang="en-US" altLang="zh-CN" dirty="0"/>
                        <a:t>30</a:t>
                      </a:r>
                    </a:p>
                  </a:txBody>
                  <a:tcPr/>
                </a:tc>
                <a:tc>
                  <a:txBody>
                    <a:bodyPr/>
                    <a:lstStyle/>
                    <a:p>
                      <a:pPr algn="ctr"/>
                      <a:r>
                        <a:rPr lang="en-US" altLang="zh-CN" dirty="0"/>
                        <a:t>310110</a:t>
                      </a:r>
                      <a:r>
                        <a:rPr lang="zh-CN" altLang="en-US" dirty="0"/>
                        <a:t>****</a:t>
                      </a:r>
                      <a:r>
                        <a:rPr lang="en-US" altLang="zh-CN" dirty="0"/>
                        <a:t>03062405</a:t>
                      </a:r>
                      <a:endParaRPr lang="zh-CN" altLang="en-US" dirty="0"/>
                    </a:p>
                  </a:txBody>
                  <a:tcPr/>
                </a:tc>
                <a:extLst>
                  <a:ext uri="{0D108BD9-81ED-4DB2-BD59-A6C34878D82A}">
                    <a16:rowId xmlns:a16="http://schemas.microsoft.com/office/drawing/2014/main" val="225238229"/>
                  </a:ext>
                </a:extLst>
              </a:tr>
              <a:tr h="370840">
                <a:tc>
                  <a:txBody>
                    <a:bodyPr/>
                    <a:lstStyle/>
                    <a:p>
                      <a:pPr algn="ctr"/>
                      <a:r>
                        <a:rPr lang="en-US" altLang="zh-CN" dirty="0"/>
                        <a:t>2116</a:t>
                      </a:r>
                      <a:endParaRPr lang="zh-CN" altLang="en-US" dirty="0"/>
                    </a:p>
                  </a:txBody>
                  <a:tcPr/>
                </a:tc>
                <a:tc>
                  <a:txBody>
                    <a:bodyPr/>
                    <a:lstStyle/>
                    <a:p>
                      <a:pPr algn="ctr"/>
                      <a:r>
                        <a:rPr lang="zh-CN" altLang="en-US" dirty="0"/>
                        <a:t>刘红英</a:t>
                      </a:r>
                    </a:p>
                  </a:txBody>
                  <a:tcPr/>
                </a:tc>
                <a:tc>
                  <a:txBody>
                    <a:bodyPr/>
                    <a:lstStyle/>
                    <a:p>
                      <a:pPr algn="ctr"/>
                      <a:r>
                        <a:rPr lang="zh-CN" altLang="en-US" dirty="0"/>
                        <a:t>财务部</a:t>
                      </a:r>
                    </a:p>
                  </a:txBody>
                  <a:tcPr/>
                </a:tc>
                <a:tc>
                  <a:txBody>
                    <a:bodyPr/>
                    <a:lstStyle/>
                    <a:p>
                      <a:pPr algn="ctr"/>
                      <a:r>
                        <a:rPr lang="zh-CN" altLang="en-US" dirty="0"/>
                        <a:t>女</a:t>
                      </a:r>
                    </a:p>
                  </a:txBody>
                  <a:tcPr/>
                </a:tc>
                <a:tc>
                  <a:txBody>
                    <a:bodyPr/>
                    <a:lstStyle/>
                    <a:p>
                      <a:pPr algn="ctr"/>
                      <a:r>
                        <a:rPr lang="en-US" altLang="zh-CN" dirty="0"/>
                        <a:t>30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05062506</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4023512960"/>
                  </a:ext>
                </a:extLst>
              </a:tr>
              <a:tr h="370840">
                <a:tc>
                  <a:txBody>
                    <a:bodyPr/>
                    <a:lstStyle/>
                    <a:p>
                      <a:pPr algn="ctr"/>
                      <a:r>
                        <a:rPr lang="en-US" altLang="zh-CN" dirty="0"/>
                        <a:t>2136</a:t>
                      </a:r>
                      <a:endParaRPr lang="zh-CN" altLang="en-US" dirty="0"/>
                    </a:p>
                  </a:txBody>
                  <a:tcPr/>
                </a:tc>
                <a:tc>
                  <a:txBody>
                    <a:bodyPr/>
                    <a:lstStyle/>
                    <a:p>
                      <a:pPr algn="ctr"/>
                      <a:r>
                        <a:rPr lang="zh-CN" altLang="en-US" dirty="0"/>
                        <a:t>李小刚</a:t>
                      </a:r>
                    </a:p>
                  </a:txBody>
                  <a:tcPr/>
                </a:tc>
                <a:tc>
                  <a:txBody>
                    <a:bodyPr/>
                    <a:lstStyle/>
                    <a:p>
                      <a:pPr algn="ctr"/>
                      <a:r>
                        <a:rPr lang="zh-CN" altLang="en-US" dirty="0"/>
                        <a:t>管理部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男</a:t>
                      </a:r>
                    </a:p>
                  </a:txBody>
                  <a:tcPr/>
                </a:tc>
                <a:tc>
                  <a:txBody>
                    <a:bodyPr/>
                    <a:lstStyle/>
                    <a:p>
                      <a:pPr algn="ctr"/>
                      <a:r>
                        <a:rPr lang="en-US" altLang="zh-CN" dirty="0"/>
                        <a:t>28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06092507</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242727207"/>
                  </a:ext>
                </a:extLst>
              </a:tr>
              <a:tr h="370840">
                <a:tc>
                  <a:txBody>
                    <a:bodyPr/>
                    <a:lstStyle/>
                    <a:p>
                      <a:pPr algn="ctr"/>
                      <a:r>
                        <a:rPr lang="en-US" altLang="zh-CN" dirty="0"/>
                        <a:t>2138</a:t>
                      </a:r>
                      <a:endParaRPr lang="zh-CN" altLang="en-US" dirty="0"/>
                    </a:p>
                  </a:txBody>
                  <a:tcPr/>
                </a:tc>
                <a:tc>
                  <a:txBody>
                    <a:bodyPr/>
                    <a:lstStyle/>
                    <a:p>
                      <a:pPr algn="ctr"/>
                      <a:r>
                        <a:rPr lang="zh-CN" altLang="en-US" dirty="0"/>
                        <a:t>蒋明</a:t>
                      </a:r>
                    </a:p>
                  </a:txBody>
                  <a:tcPr/>
                </a:tc>
                <a:tc>
                  <a:txBody>
                    <a:bodyPr/>
                    <a:lstStyle/>
                    <a:p>
                      <a:pPr algn="ctr"/>
                      <a:r>
                        <a:rPr lang="zh-CN" altLang="en-US" dirty="0"/>
                        <a:t>采购部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男</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algn="ctr"/>
                      <a:r>
                        <a:rPr lang="en-US" altLang="zh-CN" dirty="0"/>
                        <a:t>41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08082405</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4071535767"/>
                  </a:ext>
                </a:extLst>
              </a:tr>
              <a:tr h="370840">
                <a:tc>
                  <a:txBody>
                    <a:bodyPr/>
                    <a:lstStyle/>
                    <a:p>
                      <a:pPr algn="ctr"/>
                      <a:r>
                        <a:rPr lang="en-US" altLang="zh-CN" dirty="0"/>
                        <a:t>2141</a:t>
                      </a:r>
                      <a:endParaRPr lang="zh-CN" altLang="en-US" dirty="0"/>
                    </a:p>
                  </a:txBody>
                  <a:tcPr/>
                </a:tc>
                <a:tc>
                  <a:txBody>
                    <a:bodyPr/>
                    <a:lstStyle/>
                    <a:p>
                      <a:pPr algn="ctr"/>
                      <a:r>
                        <a:rPr lang="zh-CN" altLang="en-US" dirty="0"/>
                        <a:t>王国洋</a:t>
                      </a:r>
                    </a:p>
                  </a:txBody>
                  <a:tcPr/>
                </a:tc>
                <a:tc>
                  <a:txBody>
                    <a:bodyPr/>
                    <a:lstStyle/>
                    <a:p>
                      <a:pPr algn="ctr"/>
                      <a:r>
                        <a:rPr lang="zh-CN" altLang="en-US" dirty="0"/>
                        <a:t>销售部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algn="ctr"/>
                      <a:r>
                        <a:rPr lang="en-US" altLang="zh-CN" dirty="0"/>
                        <a:t>39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09022407</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53225929"/>
                  </a:ext>
                </a:extLst>
              </a:tr>
            </a:tbl>
          </a:graphicData>
        </a:graphic>
      </p:graphicFrame>
      <p:sp>
        <p:nvSpPr>
          <p:cNvPr id="595970" name="Rectangle 2"/>
          <p:cNvSpPr>
            <a:spLocks noChangeArrowheads="1"/>
          </p:cNvSpPr>
          <p:nvPr/>
        </p:nvSpPr>
        <p:spPr bwMode="auto">
          <a:xfrm>
            <a:off x="53975" y="0"/>
            <a:ext cx="9036050" cy="21294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400" b="1" dirty="0">
                <a:solidFill>
                  <a:srgbClr val="000099"/>
                </a:solidFill>
                <a:latin typeface="Times New Roman" pitchFamily="18" charset="0"/>
              </a:rPr>
              <a:t>   </a:t>
            </a:r>
            <a:r>
              <a:rPr lang="zh-CN" altLang="en-US" sz="2800" b="1" dirty="0">
                <a:solidFill>
                  <a:srgbClr val="000099"/>
                </a:solidFill>
                <a:latin typeface="Times New Roman" pitchFamily="18" charset="0"/>
              </a:rPr>
              <a:t>二、数学定义</a:t>
            </a:r>
          </a:p>
          <a:p>
            <a:pPr algn="l" eaLnBrk="0" hangingPunct="0">
              <a:lnSpc>
                <a:spcPct val="150000"/>
              </a:lnSpc>
            </a:pPr>
            <a:r>
              <a:rPr lang="zh-CN" altLang="en-US" sz="2400" b="1" dirty="0">
                <a:solidFill>
                  <a:schemeClr val="bg2"/>
                </a:solidFill>
              </a:rPr>
              <a:t> </a:t>
            </a:r>
            <a:r>
              <a:rPr lang="zh-CN" altLang="en-US" sz="2400" b="1" dirty="0">
                <a:solidFill>
                  <a:srgbClr val="660033"/>
                </a:solidFill>
              </a:rPr>
              <a:t>定义</a:t>
            </a:r>
            <a:r>
              <a:rPr lang="en-US" altLang="zh-CN" sz="2400" b="1" dirty="0">
                <a:solidFill>
                  <a:srgbClr val="660033"/>
                </a:solidFill>
              </a:rPr>
              <a:t>3.1</a:t>
            </a:r>
            <a:r>
              <a:rPr lang="zh-CN" altLang="en-US" sz="2400" b="1" dirty="0">
                <a:solidFill>
                  <a:srgbClr val="660033"/>
                </a:solidFill>
              </a:rPr>
              <a:t>：</a:t>
            </a:r>
            <a:r>
              <a:rPr lang="zh-CN" altLang="en-US" sz="2400" b="1" dirty="0">
                <a:solidFill>
                  <a:schemeClr val="bg2"/>
                </a:solidFill>
              </a:rPr>
              <a:t> 域（</a:t>
            </a:r>
            <a:r>
              <a:rPr lang="en-US" altLang="zh-CN" sz="2400" b="1" dirty="0">
                <a:solidFill>
                  <a:schemeClr val="bg2"/>
                </a:solidFill>
              </a:rPr>
              <a:t>Domain</a:t>
            </a:r>
            <a:r>
              <a:rPr lang="zh-CN" altLang="en-US" sz="2400" b="1" dirty="0">
                <a:solidFill>
                  <a:schemeClr val="bg2"/>
                </a:solidFill>
              </a:rPr>
              <a:t>）是值的集合。即域是属性的取值范围。</a:t>
            </a:r>
            <a:endParaRPr lang="zh-CN" altLang="en-US" sz="2400" b="1" dirty="0">
              <a:solidFill>
                <a:schemeClr val="bg2"/>
              </a:solidFill>
              <a:latin typeface="Times New Roman" pitchFamily="18" charset="0"/>
            </a:endParaRPr>
          </a:p>
          <a:p>
            <a:pPr algn="l" eaLnBrk="0" hangingPunct="0">
              <a:lnSpc>
                <a:spcPct val="150000"/>
              </a:lnSpc>
            </a:pPr>
            <a:r>
              <a:rPr lang="zh-CN" altLang="en-US" sz="2400" b="1" dirty="0">
                <a:solidFill>
                  <a:schemeClr val="bg2"/>
                </a:solidFill>
              </a:rPr>
              <a:t> </a:t>
            </a:r>
            <a:endParaRPr lang="zh-CN" altLang="en-US" sz="2400" b="1" dirty="0">
              <a:solidFill>
                <a:srgbClr val="000099"/>
              </a:solidFill>
            </a:endParaRPr>
          </a:p>
        </p:txBody>
      </p:sp>
      <p:sp>
        <p:nvSpPr>
          <p:cNvPr id="6" name="文本框 5">
            <a:extLst>
              <a:ext uri="{FF2B5EF4-FFF2-40B4-BE49-F238E27FC236}">
                <a16:creationId xmlns:a16="http://schemas.microsoft.com/office/drawing/2014/main" id="{12761FC4-BFDA-3845-9C90-B2A319182E94}"/>
              </a:ext>
            </a:extLst>
          </p:cNvPr>
          <p:cNvSpPr txBox="1"/>
          <p:nvPr/>
        </p:nvSpPr>
        <p:spPr>
          <a:xfrm>
            <a:off x="3329401" y="1643693"/>
            <a:ext cx="2249334" cy="1138773"/>
          </a:xfrm>
          <a:prstGeom prst="rect">
            <a:avLst/>
          </a:prstGeom>
          <a:noFill/>
        </p:spPr>
        <p:txBody>
          <a:bodyPr wrap="none" rtlCol="0">
            <a:spAutoFit/>
          </a:bodyPr>
          <a:lstStyle/>
          <a:p>
            <a:r>
              <a:rPr kumimoji="1" lang="zh-CN" altLang="en-US" sz="2000" b="1" dirty="0">
                <a:solidFill>
                  <a:schemeClr val="bg2"/>
                </a:solidFill>
              </a:rPr>
              <a:t>职工表（实体集）</a:t>
            </a:r>
          </a:p>
          <a:p>
            <a:endParaRPr kumimoji="1" lang="en-US" altLang="zh-CN" sz="2000" b="1" dirty="0">
              <a:solidFill>
                <a:schemeClr val="bg2"/>
              </a:solidFill>
            </a:endParaRPr>
          </a:p>
          <a:p>
            <a:endParaRPr kumimoji="1" lang="zh-CN" altLang="en-US" sz="2000" b="1" dirty="0">
              <a:solidFill>
                <a:schemeClr val="bg2"/>
              </a:solidFill>
            </a:endParaRPr>
          </a:p>
        </p:txBody>
      </p:sp>
      <p:sp>
        <p:nvSpPr>
          <p:cNvPr id="9" name="线形标注 1 8">
            <a:extLst>
              <a:ext uri="{FF2B5EF4-FFF2-40B4-BE49-F238E27FC236}">
                <a16:creationId xmlns:a16="http://schemas.microsoft.com/office/drawing/2014/main" id="{9690DC09-AF33-3D4F-885F-D591CACB12E4}"/>
              </a:ext>
            </a:extLst>
          </p:cNvPr>
          <p:cNvSpPr/>
          <p:nvPr/>
        </p:nvSpPr>
        <p:spPr bwMode="auto">
          <a:xfrm>
            <a:off x="2774107" y="4747317"/>
            <a:ext cx="1251824" cy="338554"/>
          </a:xfrm>
          <a:prstGeom prst="borderCallout1">
            <a:avLst>
              <a:gd name="adj1" fmla="val -3014"/>
              <a:gd name="adj2" fmla="val 55186"/>
              <a:gd name="adj3" fmla="val -91734"/>
              <a:gd name="adj4" fmla="val 54503"/>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chemeClr val="bg2"/>
                </a:solidFill>
                <a:effectLst/>
                <a:latin typeface="宋体" pitchFamily="2" charset="-122"/>
                <a:ea typeface="宋体" pitchFamily="2" charset="-122"/>
              </a:rPr>
              <a:t>属性</a:t>
            </a:r>
          </a:p>
        </p:txBody>
      </p:sp>
      <p:sp>
        <p:nvSpPr>
          <p:cNvPr id="10" name="矩形 9">
            <a:extLst>
              <a:ext uri="{FF2B5EF4-FFF2-40B4-BE49-F238E27FC236}">
                <a16:creationId xmlns:a16="http://schemas.microsoft.com/office/drawing/2014/main" id="{18F4303F-C635-AB4A-987E-C27F7B1FFC4E}"/>
              </a:ext>
            </a:extLst>
          </p:cNvPr>
          <p:cNvSpPr/>
          <p:nvPr/>
        </p:nvSpPr>
        <p:spPr bwMode="auto">
          <a:xfrm>
            <a:off x="2927314" y="1958863"/>
            <a:ext cx="1098617" cy="2474524"/>
          </a:xfrm>
          <a:prstGeom prst="rect">
            <a:avLst/>
          </a:prstGeom>
          <a:noFill/>
          <a:ln w="19050" cap="flat" cmpd="sng" algn="ctr">
            <a:solidFill>
              <a:srgbClr val="00B050"/>
            </a:solidFill>
            <a:prstDash val="dash"/>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en-US" altLang="zh-CN" b="0" i="0" u="none" strike="noStrike" cap="none" normalizeH="0" baseline="0" dirty="0">
              <a:ln>
                <a:noFill/>
              </a:ln>
              <a:solidFill>
                <a:schemeClr val="tx1"/>
              </a:solidFill>
              <a:effectLst/>
            </a:endParaRPr>
          </a:p>
          <a:p>
            <a:pPr marL="0" marR="0" indent="0" algn="just" defTabSz="914400" rtl="0" eaLnBrk="1" fontAlgn="base" latinLnBrk="0" hangingPunct="1">
              <a:lnSpc>
                <a:spcPct val="80000"/>
              </a:lnSpc>
              <a:spcBef>
                <a:spcPct val="50000"/>
              </a:spcBef>
              <a:spcAft>
                <a:spcPct val="0"/>
              </a:spcAft>
              <a:buClrTx/>
              <a:buSzTx/>
              <a:buFontTx/>
              <a:buNone/>
              <a:tabLst/>
            </a:pPr>
            <a:endParaRPr kumimoji="1" lang="en-US" altLang="zh-CN" b="0" i="0" u="none" strike="noStrike" cap="none" normalizeH="0" baseline="0" dirty="0">
              <a:ln>
                <a:noFill/>
              </a:ln>
              <a:solidFill>
                <a:schemeClr val="tx1"/>
              </a:solidFill>
              <a:effectLst/>
            </a:endParaRPr>
          </a:p>
          <a:p>
            <a:pPr marL="0" marR="0" indent="0" algn="just" defTabSz="914400" rtl="0" eaLnBrk="1" fontAlgn="base" latinLnBrk="0" hangingPunct="1">
              <a:lnSpc>
                <a:spcPct val="80000"/>
              </a:lnSpc>
              <a:spcBef>
                <a:spcPct val="50000"/>
              </a:spcBef>
              <a:spcAft>
                <a:spcPct val="0"/>
              </a:spcAft>
              <a:buClrTx/>
              <a:buSzTx/>
              <a:buFontTx/>
              <a:buNone/>
              <a:tabLst/>
            </a:pPr>
            <a:endParaRPr kumimoji="1" lang="en-US" altLang="zh-CN" b="0" i="0" u="none" strike="noStrike" cap="none" normalizeH="0" baseline="0" dirty="0">
              <a:ln>
                <a:noFill/>
              </a:ln>
              <a:solidFill>
                <a:schemeClr val="tx1"/>
              </a:solidFill>
              <a:effectLst/>
            </a:endParaRPr>
          </a:p>
          <a:p>
            <a:pPr marL="0" marR="0" indent="0" algn="just" defTabSz="914400" rtl="0" eaLnBrk="1" fontAlgn="base" latinLnBrk="0" hangingPunct="1">
              <a:lnSpc>
                <a:spcPct val="80000"/>
              </a:lnSpc>
              <a:spcBef>
                <a:spcPct val="50000"/>
              </a:spcBef>
              <a:spcAft>
                <a:spcPct val="0"/>
              </a:spcAft>
              <a:buClrTx/>
              <a:buSzTx/>
              <a:buFontTx/>
              <a:buNone/>
              <a:tabLst/>
            </a:pPr>
            <a:endParaRPr lang="en-US" altLang="zh-CN" dirty="0"/>
          </a:p>
          <a:p>
            <a:pPr marL="0" marR="0" indent="0" algn="just" defTabSz="914400" rtl="0" eaLnBrk="1" fontAlgn="base" latinLnBrk="0" hangingPunct="1">
              <a:lnSpc>
                <a:spcPct val="80000"/>
              </a:lnSpc>
              <a:spcBef>
                <a:spcPct val="50000"/>
              </a:spcBef>
              <a:spcAft>
                <a:spcPct val="0"/>
              </a:spcAft>
              <a:buClrTx/>
              <a:buSzTx/>
              <a:buFontTx/>
              <a:buNone/>
              <a:tabLst/>
            </a:pPr>
            <a:endParaRPr kumimoji="1" lang="en-US" altLang="zh-CN" b="0" i="0" u="none" strike="noStrike" cap="none" normalizeH="0" baseline="0" dirty="0">
              <a:ln>
                <a:noFill/>
              </a:ln>
              <a:solidFill>
                <a:schemeClr val="tx1"/>
              </a:solidFill>
              <a:effectLst/>
            </a:endParaRPr>
          </a:p>
          <a:p>
            <a:pPr marL="0" marR="0" indent="0" algn="just" defTabSz="914400" rtl="0" eaLnBrk="1" fontAlgn="base" latinLnBrk="0" hangingPunct="1">
              <a:lnSpc>
                <a:spcPct val="80000"/>
              </a:lnSpc>
              <a:spcBef>
                <a:spcPct val="50000"/>
              </a:spcBef>
              <a:spcAft>
                <a:spcPct val="0"/>
              </a:spcAft>
              <a:buClrTx/>
              <a:buSzTx/>
              <a:buFontTx/>
              <a:buNone/>
              <a:tabLst/>
            </a:pPr>
            <a:endParaRPr lang="en-US" altLang="zh-CN" dirty="0"/>
          </a:p>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b="0" i="0" u="none" strike="noStrike" cap="none" normalizeH="0" baseline="0" dirty="0">
              <a:ln>
                <a:noFill/>
              </a:ln>
              <a:solidFill>
                <a:schemeClr val="tx1"/>
              </a:solidFill>
              <a:effectLst/>
            </a:endParaRPr>
          </a:p>
        </p:txBody>
      </p:sp>
      <p:sp>
        <p:nvSpPr>
          <p:cNvPr id="11" name="线形标注 1 10">
            <a:extLst>
              <a:ext uri="{FF2B5EF4-FFF2-40B4-BE49-F238E27FC236}">
                <a16:creationId xmlns:a16="http://schemas.microsoft.com/office/drawing/2014/main" id="{9ED53211-0E20-B448-AD1E-7E9C5327DD17}"/>
              </a:ext>
            </a:extLst>
          </p:cNvPr>
          <p:cNvSpPr/>
          <p:nvPr/>
        </p:nvSpPr>
        <p:spPr bwMode="auto">
          <a:xfrm>
            <a:off x="2774107" y="5396443"/>
            <a:ext cx="1251824" cy="984885"/>
          </a:xfrm>
          <a:prstGeom prst="borderCallout1">
            <a:avLst>
              <a:gd name="adj1" fmla="val 1414"/>
              <a:gd name="adj2" fmla="val 55186"/>
              <a:gd name="adj3" fmla="val -31896"/>
              <a:gd name="adj4" fmla="val 54503"/>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rgbClr val="FF0000"/>
                </a:solidFill>
                <a:effectLst/>
                <a:latin typeface="宋体" pitchFamily="2" charset="-122"/>
                <a:ea typeface="宋体" pitchFamily="2" charset="-122"/>
              </a:rPr>
              <a:t>域</a:t>
            </a:r>
            <a:r>
              <a:rPr kumimoji="1" lang="en-US" altLang="zh-CN" sz="2000" b="1" i="1" u="none" strike="noStrike" cap="none" normalizeH="0" baseline="0" dirty="0">
                <a:ln>
                  <a:noFill/>
                </a:ln>
                <a:solidFill>
                  <a:srgbClr val="FF0000"/>
                </a:solidFill>
                <a:effectLst/>
                <a:latin typeface="宋体" pitchFamily="2" charset="-122"/>
                <a:ea typeface="宋体" pitchFamily="2" charset="-122"/>
              </a:rPr>
              <a:t>D</a:t>
            </a:r>
            <a:r>
              <a:rPr kumimoji="1" lang="en-US" altLang="zh-CN" sz="2000" b="1" i="0" u="none" strike="noStrike" cap="none" normalizeH="0" baseline="-25000" dirty="0">
                <a:ln>
                  <a:noFill/>
                </a:ln>
                <a:solidFill>
                  <a:srgbClr val="FF0000"/>
                </a:solidFill>
                <a:effectLst/>
                <a:latin typeface="宋体" pitchFamily="2" charset="-122"/>
                <a:ea typeface="宋体" pitchFamily="2" charset="-122"/>
              </a:rPr>
              <a:t>i</a:t>
            </a:r>
            <a:r>
              <a:rPr kumimoji="1" lang="zh-CN" altLang="en-US" sz="2000" b="0" i="0" u="none" strike="noStrike" cap="none" normalizeH="0" baseline="0" dirty="0">
                <a:ln>
                  <a:noFill/>
                </a:ln>
                <a:solidFill>
                  <a:schemeClr val="bg2"/>
                </a:solidFill>
                <a:effectLst/>
                <a:latin typeface="宋体" pitchFamily="2" charset="-122"/>
                <a:ea typeface="宋体" pitchFamily="2" charset="-122"/>
              </a:rPr>
              <a:t>：</a:t>
            </a:r>
            <a:endParaRPr kumimoji="1" lang="en-US" altLang="zh-CN" sz="2000" b="0" i="0" u="none" strike="noStrike" cap="none" normalizeH="0" baseline="0" dirty="0">
              <a:ln>
                <a:noFill/>
              </a:ln>
              <a:solidFill>
                <a:schemeClr val="bg2"/>
              </a:solidFill>
              <a:effectLst/>
              <a:latin typeface="宋体" pitchFamily="2" charset="-122"/>
              <a:ea typeface="宋体" pitchFamily="2" charset="-122"/>
            </a:endParaRPr>
          </a:p>
          <a:p>
            <a:pPr marL="0" marR="0" indent="0" algn="ctr"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chemeClr val="bg2"/>
                </a:solidFill>
                <a:effectLst/>
                <a:latin typeface="宋体" pitchFamily="2" charset="-122"/>
                <a:ea typeface="宋体" pitchFamily="2" charset="-122"/>
              </a:rPr>
              <a:t>属性的取值范围</a:t>
            </a:r>
          </a:p>
        </p:txBody>
      </p:sp>
      <p:sp>
        <p:nvSpPr>
          <p:cNvPr id="2" name="文本框 1">
            <a:extLst>
              <a:ext uri="{FF2B5EF4-FFF2-40B4-BE49-F238E27FC236}">
                <a16:creationId xmlns:a16="http://schemas.microsoft.com/office/drawing/2014/main" id="{C301A1D7-DB0F-F645-A476-A46707FFFCB1}"/>
              </a:ext>
            </a:extLst>
          </p:cNvPr>
          <p:cNvSpPr txBox="1"/>
          <p:nvPr/>
        </p:nvSpPr>
        <p:spPr>
          <a:xfrm>
            <a:off x="4283968" y="4308492"/>
            <a:ext cx="1980029" cy="338554"/>
          </a:xfrm>
          <a:prstGeom prst="rect">
            <a:avLst/>
          </a:prstGeom>
          <a:noFill/>
        </p:spPr>
        <p:txBody>
          <a:bodyPr wrap="none" rtlCol="0">
            <a:spAutoFit/>
          </a:bodyPr>
          <a:lstStyle/>
          <a:p>
            <a:r>
              <a:rPr kumimoji="1" lang="zh-CN" altLang="en-US" sz="2000" b="1" dirty="0">
                <a:solidFill>
                  <a:srgbClr val="FF0000"/>
                </a:solidFill>
              </a:rPr>
              <a:t>？</a:t>
            </a:r>
            <a:r>
              <a:rPr kumimoji="1" lang="zh-CN" altLang="en-US" sz="2000" dirty="0">
                <a:solidFill>
                  <a:schemeClr val="bg2"/>
                </a:solidFill>
              </a:rPr>
              <a:t>职工性别的域</a:t>
            </a:r>
          </a:p>
        </p:txBody>
      </p:sp>
      <p:sp>
        <p:nvSpPr>
          <p:cNvPr id="15" name="文本框 14">
            <a:extLst>
              <a:ext uri="{FF2B5EF4-FFF2-40B4-BE49-F238E27FC236}">
                <a16:creationId xmlns:a16="http://schemas.microsoft.com/office/drawing/2014/main" id="{FB973AF1-90D1-4D4B-B76B-F76FFB52177A}"/>
              </a:ext>
            </a:extLst>
          </p:cNvPr>
          <p:cNvSpPr txBox="1"/>
          <p:nvPr/>
        </p:nvSpPr>
        <p:spPr>
          <a:xfrm>
            <a:off x="4283968" y="4724832"/>
            <a:ext cx="3264035" cy="338554"/>
          </a:xfrm>
          <a:prstGeom prst="rect">
            <a:avLst/>
          </a:prstGeom>
          <a:noFill/>
        </p:spPr>
        <p:txBody>
          <a:bodyPr wrap="none" rtlCol="0">
            <a:spAutoFit/>
          </a:bodyPr>
          <a:lstStyle/>
          <a:p>
            <a:r>
              <a:rPr kumimoji="1" lang="zh-CN" altLang="en-US" sz="2000" b="1" dirty="0">
                <a:solidFill>
                  <a:srgbClr val="FF0000"/>
                </a:solidFill>
              </a:rPr>
              <a:t>！</a:t>
            </a:r>
            <a:r>
              <a:rPr kumimoji="1" lang="zh-CN" altLang="en-US" sz="2000" dirty="0">
                <a:solidFill>
                  <a:schemeClr val="bg2"/>
                </a:solidFill>
              </a:rPr>
              <a:t>职工性别的域是</a:t>
            </a:r>
            <a:r>
              <a:rPr kumimoji="1" lang="en-US" altLang="zh-CN" sz="2000" dirty="0">
                <a:solidFill>
                  <a:schemeClr val="bg2"/>
                </a:solidFill>
              </a:rPr>
              <a:t>{</a:t>
            </a:r>
            <a:r>
              <a:rPr kumimoji="1" lang="zh-CN" altLang="en-US" sz="2000" dirty="0">
                <a:solidFill>
                  <a:schemeClr val="bg2"/>
                </a:solidFill>
              </a:rPr>
              <a:t>男，女</a:t>
            </a:r>
            <a:r>
              <a:rPr kumimoji="1" lang="en-US" altLang="zh-CN" sz="2000" dirty="0">
                <a:solidFill>
                  <a:schemeClr val="bg2"/>
                </a:solidFill>
              </a:rPr>
              <a:t>}</a:t>
            </a:r>
            <a:endParaRPr kumimoji="1" lang="zh-CN" altLang="en-US" sz="2000" dirty="0">
              <a:solidFill>
                <a:schemeClr val="bg2"/>
              </a:solidFill>
            </a:endParaRPr>
          </a:p>
        </p:txBody>
      </p:sp>
      <p:sp>
        <p:nvSpPr>
          <p:cNvPr id="16" name="文本框 15">
            <a:extLst>
              <a:ext uri="{FF2B5EF4-FFF2-40B4-BE49-F238E27FC236}">
                <a16:creationId xmlns:a16="http://schemas.microsoft.com/office/drawing/2014/main" id="{4400C205-0C94-E249-AB8D-56177567D4AE}"/>
              </a:ext>
            </a:extLst>
          </p:cNvPr>
          <p:cNvSpPr txBox="1"/>
          <p:nvPr/>
        </p:nvSpPr>
        <p:spPr>
          <a:xfrm>
            <a:off x="4283968" y="5113243"/>
            <a:ext cx="3135795" cy="338554"/>
          </a:xfrm>
          <a:prstGeom prst="rect">
            <a:avLst/>
          </a:prstGeom>
          <a:noFill/>
        </p:spPr>
        <p:txBody>
          <a:bodyPr wrap="none" rtlCol="0">
            <a:spAutoFit/>
          </a:bodyPr>
          <a:lstStyle/>
          <a:p>
            <a:r>
              <a:rPr kumimoji="1" lang="zh-CN" altLang="en-US" sz="2000" b="1" dirty="0">
                <a:solidFill>
                  <a:srgbClr val="FF0000"/>
                </a:solidFill>
              </a:rPr>
              <a:t>！</a:t>
            </a:r>
            <a:r>
              <a:rPr kumimoji="1" lang="zh-CN" altLang="en-US" sz="2000" dirty="0">
                <a:solidFill>
                  <a:schemeClr val="bg2"/>
                </a:solidFill>
              </a:rPr>
              <a:t>职工年龄的域是</a:t>
            </a:r>
            <a:r>
              <a:rPr lang="en-US" altLang="zh-CN" sz="2000" dirty="0">
                <a:solidFill>
                  <a:schemeClr val="bg2"/>
                </a:solidFill>
              </a:rPr>
              <a:t>[0,100]</a:t>
            </a:r>
            <a:endParaRPr kumimoji="1" lang="zh-CN" altLang="en-US" sz="2000" dirty="0">
              <a:solidFill>
                <a:schemeClr val="bg2"/>
              </a:solidFill>
            </a:endParaRPr>
          </a:p>
        </p:txBody>
      </p:sp>
      <p:sp>
        <p:nvSpPr>
          <p:cNvPr id="17" name="文本框 16">
            <a:extLst>
              <a:ext uri="{FF2B5EF4-FFF2-40B4-BE49-F238E27FC236}">
                <a16:creationId xmlns:a16="http://schemas.microsoft.com/office/drawing/2014/main" id="{60C73650-CB99-8748-98DD-7D92580C7061}"/>
              </a:ext>
            </a:extLst>
          </p:cNvPr>
          <p:cNvSpPr txBox="1"/>
          <p:nvPr/>
        </p:nvSpPr>
        <p:spPr>
          <a:xfrm>
            <a:off x="4312808" y="5492269"/>
            <a:ext cx="4288353" cy="738664"/>
          </a:xfrm>
          <a:prstGeom prst="rect">
            <a:avLst/>
          </a:prstGeom>
          <a:noFill/>
        </p:spPr>
        <p:txBody>
          <a:bodyPr wrap="none" rtlCol="0">
            <a:spAutoFit/>
          </a:bodyPr>
          <a:lstStyle/>
          <a:p>
            <a:r>
              <a:rPr kumimoji="1" lang="zh-CN" altLang="en-US" sz="2000" b="1" dirty="0">
                <a:solidFill>
                  <a:srgbClr val="FF0000"/>
                </a:solidFill>
              </a:rPr>
              <a:t>！</a:t>
            </a:r>
            <a:r>
              <a:rPr kumimoji="1" lang="zh-CN" altLang="en-US" sz="2000" dirty="0">
                <a:solidFill>
                  <a:schemeClr val="bg2"/>
                </a:solidFill>
              </a:rPr>
              <a:t>职工</a:t>
            </a:r>
            <a:r>
              <a:rPr lang="zh-CN" altLang="en-US" sz="2000" dirty="0">
                <a:solidFill>
                  <a:schemeClr val="bg2"/>
                </a:solidFill>
              </a:rPr>
              <a:t>部门</a:t>
            </a:r>
            <a:r>
              <a:rPr kumimoji="1" lang="zh-CN" altLang="en-US" sz="2000" dirty="0">
                <a:solidFill>
                  <a:schemeClr val="bg2"/>
                </a:solidFill>
              </a:rPr>
              <a:t>的域是</a:t>
            </a:r>
            <a:endParaRPr kumimoji="1" lang="en-US" altLang="zh-CN" sz="2000" dirty="0">
              <a:solidFill>
                <a:schemeClr val="bg2"/>
              </a:solidFill>
            </a:endParaRPr>
          </a:p>
          <a:p>
            <a:r>
              <a:rPr kumimoji="1" lang="en-US" altLang="zh-CN" sz="2000" dirty="0">
                <a:solidFill>
                  <a:schemeClr val="bg2"/>
                </a:solidFill>
              </a:rPr>
              <a:t>{</a:t>
            </a:r>
            <a:r>
              <a:rPr kumimoji="1" lang="zh-CN" altLang="en-US" sz="2000" dirty="0">
                <a:solidFill>
                  <a:schemeClr val="bg2"/>
                </a:solidFill>
              </a:rPr>
              <a:t>销售部，财务部，管理部，采购部</a:t>
            </a:r>
            <a:r>
              <a:rPr kumimoji="1" lang="en-US" altLang="zh-CN" sz="2000" dirty="0">
                <a:solidFill>
                  <a:schemeClr val="bg2"/>
                </a:solidFill>
              </a:rPr>
              <a:t>}</a:t>
            </a:r>
            <a:endParaRPr kumimoji="1" lang="zh-CN" altLang="en-US" sz="2000" dirty="0">
              <a:solidFill>
                <a:schemeClr val="bg2"/>
              </a:solidFill>
            </a:endParaRPr>
          </a:p>
        </p:txBody>
      </p:sp>
      <p:sp>
        <p:nvSpPr>
          <p:cNvPr id="13" name="线形标注 1 12">
            <a:extLst>
              <a:ext uri="{FF2B5EF4-FFF2-40B4-BE49-F238E27FC236}">
                <a16:creationId xmlns:a16="http://schemas.microsoft.com/office/drawing/2014/main" id="{C299FE8C-9169-104C-B8C8-9DF5F2B71D0A}"/>
              </a:ext>
            </a:extLst>
          </p:cNvPr>
          <p:cNvSpPr/>
          <p:nvPr/>
        </p:nvSpPr>
        <p:spPr bwMode="auto">
          <a:xfrm>
            <a:off x="1466200" y="5428862"/>
            <a:ext cx="1049870" cy="830997"/>
          </a:xfrm>
          <a:prstGeom prst="borderCallout1">
            <a:avLst>
              <a:gd name="adj1" fmla="val 1414"/>
              <a:gd name="adj2" fmla="val 55186"/>
              <a:gd name="adj3" fmla="val -41899"/>
              <a:gd name="adj4" fmla="val 195218"/>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chemeClr val="bg2"/>
                </a:solidFill>
                <a:effectLst/>
                <a:latin typeface="宋体" pitchFamily="2" charset="-122"/>
                <a:ea typeface="宋体" pitchFamily="2" charset="-122"/>
              </a:rPr>
              <a:t>元数：属性的个数</a:t>
            </a:r>
          </a:p>
        </p:txBody>
      </p:sp>
    </p:spTree>
    <p:extLst>
      <p:ext uri="{BB962C8B-B14F-4D97-AF65-F5344CB8AC3E}">
        <p14:creationId xmlns:p14="http://schemas.microsoft.com/office/powerpoint/2010/main" val="123245843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5"/>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1" nodeType="clickEffect">
                                  <p:stCondLst>
                                    <p:cond delay="0"/>
                                  </p:stCondLst>
                                  <p:childTnLst>
                                    <p:set>
                                      <p:cBhvr>
                                        <p:cTn id="36"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2" grpId="0"/>
      <p:bldP spid="15" grpId="0"/>
      <p:bldP spid="16" grpId="0"/>
      <p:bldP spid="17" grpId="0"/>
      <p:bldP spid="17" grpId="1"/>
      <p:bldP spid="13"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ChangeArrowheads="1"/>
          </p:cNvSpPr>
          <p:nvPr/>
        </p:nvSpPr>
        <p:spPr bwMode="auto">
          <a:xfrm>
            <a:off x="0" y="0"/>
            <a:ext cx="9036050" cy="43454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400" b="1" dirty="0">
                <a:solidFill>
                  <a:srgbClr val="000099"/>
                </a:solidFill>
                <a:latin typeface="Times New Roman" pitchFamily="18" charset="0"/>
              </a:rPr>
              <a:t>   </a:t>
            </a:r>
            <a:r>
              <a:rPr lang="zh-CN" altLang="en-US" sz="2800" b="1" dirty="0">
                <a:solidFill>
                  <a:srgbClr val="000099"/>
                </a:solidFill>
                <a:latin typeface="Times New Roman" pitchFamily="18" charset="0"/>
              </a:rPr>
              <a:t>二、数学定义</a:t>
            </a:r>
          </a:p>
          <a:p>
            <a:pPr algn="l" eaLnBrk="0" hangingPunct="0">
              <a:lnSpc>
                <a:spcPct val="150000"/>
              </a:lnSpc>
            </a:pPr>
            <a:r>
              <a:rPr lang="zh-CN" altLang="en-US" sz="2400" b="1" dirty="0">
                <a:solidFill>
                  <a:srgbClr val="660033"/>
                </a:solidFill>
              </a:rPr>
              <a:t>定义</a:t>
            </a:r>
            <a:r>
              <a:rPr lang="en-US" altLang="zh-CN" sz="2400" b="1" dirty="0">
                <a:solidFill>
                  <a:srgbClr val="660033"/>
                </a:solidFill>
              </a:rPr>
              <a:t>3.2</a:t>
            </a:r>
            <a:r>
              <a:rPr lang="zh-CN" altLang="en-US" sz="2400" b="1" dirty="0">
                <a:solidFill>
                  <a:srgbClr val="660033"/>
                </a:solidFill>
              </a:rPr>
              <a:t>： </a:t>
            </a:r>
            <a:r>
              <a:rPr lang="zh-CN" altLang="en-US" sz="2400" b="1" dirty="0">
                <a:solidFill>
                  <a:schemeClr val="bg2"/>
                </a:solidFill>
                <a:latin typeface="Times New Roman" pitchFamily="18" charset="0"/>
              </a:rPr>
              <a:t>关系的定义</a:t>
            </a:r>
          </a:p>
          <a:p>
            <a:pPr algn="l" eaLnBrk="0" hangingPunct="0">
              <a:lnSpc>
                <a:spcPct val="150000"/>
              </a:lnSpc>
            </a:pPr>
            <a:r>
              <a:rPr lang="zh-CN" altLang="en-US" sz="2400" b="1" dirty="0">
                <a:solidFill>
                  <a:schemeClr val="bg2"/>
                </a:solidFill>
                <a:latin typeface="Times New Roman" pitchFamily="18" charset="0"/>
              </a:rPr>
              <a:t> </a:t>
            </a:r>
            <a:r>
              <a:rPr lang="zh-CN" altLang="en-US" sz="2400" b="1" dirty="0">
                <a:solidFill>
                  <a:srgbClr val="000099"/>
                </a:solidFill>
              </a:rPr>
              <a:t>①</a:t>
            </a:r>
            <a:r>
              <a:rPr lang="zh-CN" altLang="en-US" sz="2400" b="1" dirty="0">
                <a:solidFill>
                  <a:srgbClr val="000099"/>
                </a:solidFill>
                <a:latin typeface="Times New Roman" pitchFamily="18" charset="0"/>
              </a:rPr>
              <a:t>用集合论的观点定义关系：</a:t>
            </a:r>
          </a:p>
          <a:p>
            <a:pPr algn="l" eaLnBrk="0" hangingPunct="0">
              <a:lnSpc>
                <a:spcPct val="150000"/>
              </a:lnSpc>
            </a:pPr>
            <a:endParaRPr lang="zh-CN" altLang="en-US" sz="2400" b="1" dirty="0">
              <a:solidFill>
                <a:srgbClr val="000099"/>
              </a:solidFill>
              <a:latin typeface="Times New Roman" pitchFamily="18" charset="0"/>
            </a:endParaRPr>
          </a:p>
          <a:p>
            <a:pPr algn="l" eaLnBrk="0" hangingPunct="0">
              <a:lnSpc>
                <a:spcPct val="150000"/>
              </a:lnSpc>
            </a:pPr>
            <a:endParaRPr lang="zh-CN" altLang="en-US" sz="2400" b="1" dirty="0">
              <a:solidFill>
                <a:schemeClr val="bg1"/>
              </a:solidFill>
              <a:latin typeface="Times New Roman" pitchFamily="18" charset="0"/>
            </a:endParaRPr>
          </a:p>
          <a:p>
            <a:pPr algn="l" eaLnBrk="0" hangingPunct="0">
              <a:lnSpc>
                <a:spcPct val="150000"/>
              </a:lnSpc>
            </a:pPr>
            <a:r>
              <a:rPr lang="zh-CN" altLang="en-US" sz="2400" b="1" dirty="0">
                <a:solidFill>
                  <a:srgbClr val="000099"/>
                </a:solidFill>
                <a:cs typeface="Times New Roman" pitchFamily="18" charset="0"/>
              </a:rPr>
              <a:t>②</a:t>
            </a:r>
            <a:r>
              <a:rPr lang="zh-CN" altLang="en-US" sz="2400" b="1" dirty="0">
                <a:solidFill>
                  <a:srgbClr val="000099"/>
                </a:solidFill>
              </a:rPr>
              <a:t>用值域的观点定义关系：</a:t>
            </a:r>
          </a:p>
        </p:txBody>
      </p:sp>
      <p:pic>
        <p:nvPicPr>
          <p:cNvPr id="3" name="图片 2">
            <a:extLst>
              <a:ext uri="{FF2B5EF4-FFF2-40B4-BE49-F238E27FC236}">
                <a16:creationId xmlns:a16="http://schemas.microsoft.com/office/drawing/2014/main" id="{BFDC7E0D-A11F-804B-9FA9-1A8A70C7245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2483768" y="188640"/>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1957118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ChangeArrowheads="1"/>
          </p:cNvSpPr>
          <p:nvPr/>
        </p:nvSpPr>
        <p:spPr bwMode="auto">
          <a:xfrm>
            <a:off x="0" y="0"/>
            <a:ext cx="9036050" cy="36269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400" b="1" dirty="0">
                <a:solidFill>
                  <a:srgbClr val="000099"/>
                </a:solidFill>
                <a:latin typeface="Times New Roman" pitchFamily="18" charset="0"/>
              </a:rPr>
              <a:t>   </a:t>
            </a:r>
            <a:r>
              <a:rPr lang="zh-CN" altLang="en-US" sz="2800" b="1" dirty="0">
                <a:solidFill>
                  <a:srgbClr val="000099"/>
                </a:solidFill>
                <a:latin typeface="Times New Roman" pitchFamily="18" charset="0"/>
              </a:rPr>
              <a:t>二、数学定义</a:t>
            </a:r>
          </a:p>
          <a:p>
            <a:pPr algn="l" eaLnBrk="0" hangingPunct="0">
              <a:lnSpc>
                <a:spcPct val="150000"/>
              </a:lnSpc>
            </a:pPr>
            <a:r>
              <a:rPr lang="zh-CN" altLang="en-US" sz="2400" b="1" dirty="0">
                <a:solidFill>
                  <a:srgbClr val="660033"/>
                </a:solidFill>
              </a:rPr>
              <a:t>定义</a:t>
            </a:r>
            <a:r>
              <a:rPr lang="en-US" altLang="zh-CN" sz="2400" b="1" dirty="0">
                <a:solidFill>
                  <a:srgbClr val="660033"/>
                </a:solidFill>
              </a:rPr>
              <a:t>3.2</a:t>
            </a:r>
            <a:r>
              <a:rPr lang="zh-CN" altLang="en-US" sz="2400" b="1" dirty="0">
                <a:solidFill>
                  <a:srgbClr val="660033"/>
                </a:solidFill>
              </a:rPr>
              <a:t>： </a:t>
            </a:r>
            <a:r>
              <a:rPr lang="zh-CN" altLang="en-US" sz="2400" b="1" dirty="0">
                <a:solidFill>
                  <a:schemeClr val="bg2"/>
                </a:solidFill>
                <a:latin typeface="Times New Roman" pitchFamily="18" charset="0"/>
              </a:rPr>
              <a:t>关系的定义</a:t>
            </a:r>
          </a:p>
          <a:p>
            <a:pPr algn="l" eaLnBrk="0" hangingPunct="0">
              <a:lnSpc>
                <a:spcPct val="150000"/>
              </a:lnSpc>
            </a:pPr>
            <a:r>
              <a:rPr lang="zh-CN" altLang="en-US" sz="2400" b="1" dirty="0">
                <a:solidFill>
                  <a:schemeClr val="bg2"/>
                </a:solidFill>
                <a:latin typeface="Times New Roman" pitchFamily="18" charset="0"/>
              </a:rPr>
              <a:t> </a:t>
            </a:r>
            <a:r>
              <a:rPr lang="zh-CN" altLang="en-US" sz="2400" b="1" dirty="0">
                <a:solidFill>
                  <a:srgbClr val="000099"/>
                </a:solidFill>
              </a:rPr>
              <a:t>①</a:t>
            </a:r>
            <a:r>
              <a:rPr lang="zh-CN" altLang="en-US" sz="2400" b="1" dirty="0">
                <a:solidFill>
                  <a:srgbClr val="000099"/>
                </a:solidFill>
                <a:latin typeface="Times New Roman" pitchFamily="18" charset="0"/>
              </a:rPr>
              <a:t>用集合论的观点定义关系：</a:t>
            </a:r>
          </a:p>
          <a:p>
            <a:pPr algn="l" eaLnBrk="0" hangingPunct="0">
              <a:lnSpc>
                <a:spcPct val="150000"/>
              </a:lnSpc>
            </a:pPr>
            <a:endParaRPr lang="zh-CN" altLang="en-US" sz="2400" b="1" dirty="0">
              <a:solidFill>
                <a:srgbClr val="000099"/>
              </a:solidFill>
              <a:latin typeface="Times New Roman" pitchFamily="18" charset="0"/>
            </a:endParaRPr>
          </a:p>
          <a:p>
            <a:pPr algn="l" eaLnBrk="0" hangingPunct="0">
              <a:lnSpc>
                <a:spcPct val="150000"/>
              </a:lnSpc>
            </a:pPr>
            <a:endParaRPr lang="zh-CN" altLang="en-US" sz="2400" b="1" dirty="0">
              <a:solidFill>
                <a:schemeClr val="bg1"/>
              </a:solidFill>
              <a:latin typeface="Times New Roman" pitchFamily="18" charset="0"/>
            </a:endParaRPr>
          </a:p>
        </p:txBody>
      </p:sp>
      <p:sp>
        <p:nvSpPr>
          <p:cNvPr id="595971" name="Rectangle 3"/>
          <p:cNvSpPr>
            <a:spLocks noChangeArrowheads="1"/>
          </p:cNvSpPr>
          <p:nvPr/>
        </p:nvSpPr>
        <p:spPr bwMode="auto">
          <a:xfrm>
            <a:off x="755650" y="1352549"/>
            <a:ext cx="8388350" cy="2193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lnSpc>
                <a:spcPct val="200000"/>
              </a:lnSpc>
            </a:pPr>
            <a:r>
              <a:rPr lang="en-US" altLang="zh-CN" sz="2400" b="1" dirty="0">
                <a:solidFill>
                  <a:srgbClr val="000099"/>
                </a:solidFill>
              </a:rPr>
              <a:t>                     </a:t>
            </a:r>
            <a:r>
              <a:rPr lang="zh-CN" altLang="en-US" sz="2400" b="1" dirty="0">
                <a:solidFill>
                  <a:srgbClr val="660033"/>
                </a:solidFill>
              </a:rPr>
              <a:t>关系是一个元数为</a:t>
            </a:r>
            <a:r>
              <a:rPr lang="en-US" altLang="zh-CN" sz="2400" b="1" dirty="0">
                <a:solidFill>
                  <a:srgbClr val="660033"/>
                </a:solidFill>
              </a:rPr>
              <a:t>K</a:t>
            </a:r>
            <a:r>
              <a:rPr lang="zh-CN" altLang="en-US" sz="2400" b="1" dirty="0">
                <a:solidFill>
                  <a:srgbClr val="660033"/>
                </a:solidFill>
              </a:rPr>
              <a:t>的元组的集合。</a:t>
            </a:r>
            <a:r>
              <a:rPr lang="zh-CN" altLang="en-US" sz="2000" b="1" dirty="0">
                <a:solidFill>
                  <a:schemeClr val="bg2"/>
                </a:solidFill>
              </a:rPr>
              <a:t>即这个关系中有若干个元组，每个元组有</a:t>
            </a:r>
            <a:r>
              <a:rPr lang="en-US" altLang="zh-CN" sz="2000" b="1" dirty="0">
                <a:solidFill>
                  <a:schemeClr val="bg2"/>
                </a:solidFill>
              </a:rPr>
              <a:t>K</a:t>
            </a:r>
            <a:r>
              <a:rPr lang="zh-CN" altLang="en-US" sz="2000" b="1" dirty="0">
                <a:solidFill>
                  <a:schemeClr val="bg2"/>
                </a:solidFill>
              </a:rPr>
              <a:t>个属性值。 把关系看成一个</a:t>
            </a:r>
          </a:p>
          <a:p>
            <a:pPr algn="l">
              <a:lnSpc>
                <a:spcPct val="200000"/>
              </a:lnSpc>
            </a:pPr>
            <a:r>
              <a:rPr lang="zh-CN" altLang="en-US" sz="2000" b="1" dirty="0">
                <a:solidFill>
                  <a:schemeClr val="bg2"/>
                </a:solidFill>
              </a:rPr>
              <a:t>集合，集合中的元素是元组。</a:t>
            </a:r>
          </a:p>
        </p:txBody>
      </p:sp>
      <p:sp>
        <p:nvSpPr>
          <p:cNvPr id="4" name="文本框 3">
            <a:extLst>
              <a:ext uri="{FF2B5EF4-FFF2-40B4-BE49-F238E27FC236}">
                <a16:creationId xmlns:a16="http://schemas.microsoft.com/office/drawing/2014/main" id="{C57DBA6B-1629-4346-A8FF-08C7832DBAA4}"/>
              </a:ext>
            </a:extLst>
          </p:cNvPr>
          <p:cNvSpPr txBox="1"/>
          <p:nvPr/>
        </p:nvSpPr>
        <p:spPr>
          <a:xfrm>
            <a:off x="1023561" y="3626956"/>
            <a:ext cx="7127272" cy="738664"/>
          </a:xfrm>
          <a:prstGeom prst="rect">
            <a:avLst/>
          </a:prstGeom>
          <a:noFill/>
        </p:spPr>
        <p:txBody>
          <a:bodyPr wrap="none" rtlCol="0">
            <a:spAutoFit/>
          </a:bodyPr>
          <a:lstStyle/>
          <a:p>
            <a:r>
              <a:rPr kumimoji="1" lang="zh-CN" altLang="en-US" sz="2000" b="1" dirty="0">
                <a:solidFill>
                  <a:schemeClr val="bg2"/>
                </a:solidFill>
              </a:rPr>
              <a:t>职工表（实体集）：</a:t>
            </a:r>
            <a:r>
              <a:rPr kumimoji="1" lang="zh-CN" altLang="en-US" sz="2000" dirty="0">
                <a:solidFill>
                  <a:schemeClr val="bg2"/>
                </a:solidFill>
              </a:rPr>
              <a:t>由行和列交叉组成的二维表格，也即</a:t>
            </a:r>
            <a:r>
              <a:rPr kumimoji="1" lang="zh-CN" altLang="en-US" sz="2000" b="1" dirty="0">
                <a:solidFill>
                  <a:schemeClr val="bg2"/>
                </a:solidFill>
              </a:rPr>
              <a:t>关系</a:t>
            </a:r>
          </a:p>
          <a:p>
            <a:endParaRPr kumimoji="1" lang="zh-CN" altLang="en-US" sz="2000" b="1" dirty="0">
              <a:solidFill>
                <a:schemeClr val="bg2"/>
              </a:solidFill>
            </a:endParaRPr>
          </a:p>
        </p:txBody>
      </p:sp>
      <p:sp>
        <p:nvSpPr>
          <p:cNvPr id="2" name="文本框 1">
            <a:extLst>
              <a:ext uri="{FF2B5EF4-FFF2-40B4-BE49-F238E27FC236}">
                <a16:creationId xmlns:a16="http://schemas.microsoft.com/office/drawing/2014/main" id="{91A82A61-129A-D74F-8DCD-940F258E8607}"/>
              </a:ext>
            </a:extLst>
          </p:cNvPr>
          <p:cNvSpPr txBox="1"/>
          <p:nvPr/>
        </p:nvSpPr>
        <p:spPr>
          <a:xfrm>
            <a:off x="3563888" y="4027066"/>
            <a:ext cx="2910899" cy="338554"/>
          </a:xfrm>
          <a:prstGeom prst="rect">
            <a:avLst/>
          </a:prstGeom>
          <a:noFill/>
        </p:spPr>
        <p:txBody>
          <a:bodyPr wrap="square" rtlCol="0">
            <a:spAutoFit/>
          </a:bodyPr>
          <a:lstStyle/>
          <a:p>
            <a:r>
              <a:rPr lang="zh-CN" altLang="en-US" sz="2000" b="1" dirty="0">
                <a:solidFill>
                  <a:schemeClr val="bg2"/>
                </a:solidFill>
              </a:rPr>
              <a:t>每个元组有</a:t>
            </a:r>
            <a:r>
              <a:rPr lang="en-US" altLang="zh-CN" sz="2000" b="1" dirty="0">
                <a:solidFill>
                  <a:schemeClr val="bg1"/>
                </a:solidFill>
              </a:rPr>
              <a:t>6</a:t>
            </a:r>
            <a:r>
              <a:rPr lang="zh-CN" altLang="en-US" sz="2000" b="1" dirty="0">
                <a:solidFill>
                  <a:schemeClr val="bg2"/>
                </a:solidFill>
              </a:rPr>
              <a:t>个属性值</a:t>
            </a:r>
            <a:endParaRPr kumimoji="1" lang="zh-CN" altLang="en-US" sz="2000" b="1" dirty="0">
              <a:solidFill>
                <a:schemeClr val="bg2"/>
              </a:solidFill>
            </a:endParaRPr>
          </a:p>
        </p:txBody>
      </p:sp>
      <p:sp>
        <p:nvSpPr>
          <p:cNvPr id="3" name="左大括号 2">
            <a:extLst>
              <a:ext uri="{FF2B5EF4-FFF2-40B4-BE49-F238E27FC236}">
                <a16:creationId xmlns:a16="http://schemas.microsoft.com/office/drawing/2014/main" id="{4ABD3AC3-C34E-EF42-A678-F52CD1C6BA39}"/>
              </a:ext>
            </a:extLst>
          </p:cNvPr>
          <p:cNvSpPr/>
          <p:nvPr/>
        </p:nvSpPr>
        <p:spPr bwMode="auto">
          <a:xfrm>
            <a:off x="629476" y="4979504"/>
            <a:ext cx="126174" cy="1761864"/>
          </a:xfrm>
          <a:prstGeom prst="leftBrac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12" name="文本框 11">
            <a:extLst>
              <a:ext uri="{FF2B5EF4-FFF2-40B4-BE49-F238E27FC236}">
                <a16:creationId xmlns:a16="http://schemas.microsoft.com/office/drawing/2014/main" id="{8E30C194-4628-9A42-AA2E-D5B261C74ED3}"/>
              </a:ext>
            </a:extLst>
          </p:cNvPr>
          <p:cNvSpPr txBox="1"/>
          <p:nvPr/>
        </p:nvSpPr>
        <p:spPr>
          <a:xfrm>
            <a:off x="55999" y="5286246"/>
            <a:ext cx="643239" cy="830997"/>
          </a:xfrm>
          <a:prstGeom prst="rect">
            <a:avLst/>
          </a:prstGeom>
          <a:noFill/>
        </p:spPr>
        <p:txBody>
          <a:bodyPr wrap="square" rtlCol="0">
            <a:spAutoFit/>
          </a:bodyPr>
          <a:lstStyle/>
          <a:p>
            <a:pPr algn="ctr"/>
            <a:r>
              <a:rPr kumimoji="1" lang="en-US" altLang="zh-CN" sz="2000" b="1" dirty="0">
                <a:solidFill>
                  <a:schemeClr val="bg1"/>
                </a:solidFill>
              </a:rPr>
              <a:t>5</a:t>
            </a:r>
            <a:r>
              <a:rPr kumimoji="1" lang="zh-CN" altLang="en-US" sz="2000" b="1" dirty="0">
                <a:solidFill>
                  <a:schemeClr val="bg2"/>
                </a:solidFill>
              </a:rPr>
              <a:t>个元组</a:t>
            </a:r>
          </a:p>
        </p:txBody>
      </p:sp>
      <p:sp>
        <p:nvSpPr>
          <p:cNvPr id="13" name="左大括号 12">
            <a:extLst>
              <a:ext uri="{FF2B5EF4-FFF2-40B4-BE49-F238E27FC236}">
                <a16:creationId xmlns:a16="http://schemas.microsoft.com/office/drawing/2014/main" id="{E61B3B9E-0E8F-E24C-AD73-357A3B783772}"/>
              </a:ext>
            </a:extLst>
          </p:cNvPr>
          <p:cNvSpPr/>
          <p:nvPr/>
        </p:nvSpPr>
        <p:spPr bwMode="auto">
          <a:xfrm rot="5400000">
            <a:off x="4708648" y="531493"/>
            <a:ext cx="248675" cy="7866789"/>
          </a:xfrm>
          <a:prstGeom prst="leftBrac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graphicFrame>
        <p:nvGraphicFramePr>
          <p:cNvPr id="16" name="表格 4">
            <a:extLst>
              <a:ext uri="{FF2B5EF4-FFF2-40B4-BE49-F238E27FC236}">
                <a16:creationId xmlns:a16="http://schemas.microsoft.com/office/drawing/2014/main" id="{A3B70913-AA2B-8444-86B7-A3B89BB61B39}"/>
              </a:ext>
            </a:extLst>
          </p:cNvPr>
          <p:cNvGraphicFramePr>
            <a:graphicFrameLocks noGrp="1"/>
          </p:cNvGraphicFramePr>
          <p:nvPr>
            <p:extLst>
              <p:ext uri="{D42A27DB-BD31-4B8C-83A1-F6EECF244321}">
                <p14:modId xmlns:p14="http://schemas.microsoft.com/office/powerpoint/2010/main" val="2100450942"/>
              </p:ext>
            </p:extLst>
          </p:nvPr>
        </p:nvGraphicFramePr>
        <p:xfrm>
          <a:off x="860697" y="4589225"/>
          <a:ext cx="7905684" cy="2225040"/>
        </p:xfrm>
        <a:graphic>
          <a:graphicData uri="http://schemas.openxmlformats.org/drawingml/2006/table">
            <a:tbl>
              <a:tblPr firstRow="1" bandRow="1">
                <a:tableStyleId>{21E4AEA4-8DFA-4A89-87EB-49C32662AFE0}</a:tableStyleId>
              </a:tblPr>
              <a:tblGrid>
                <a:gridCol w="1136932">
                  <a:extLst>
                    <a:ext uri="{9D8B030D-6E8A-4147-A177-3AD203B41FA5}">
                      <a16:colId xmlns:a16="http://schemas.microsoft.com/office/drawing/2014/main" val="836150226"/>
                    </a:ext>
                  </a:extLst>
                </a:gridCol>
                <a:gridCol w="886850">
                  <a:extLst>
                    <a:ext uri="{9D8B030D-6E8A-4147-A177-3AD203B41FA5}">
                      <a16:colId xmlns:a16="http://schemas.microsoft.com/office/drawing/2014/main" val="348762623"/>
                    </a:ext>
                  </a:extLst>
                </a:gridCol>
                <a:gridCol w="1214268">
                  <a:extLst>
                    <a:ext uri="{9D8B030D-6E8A-4147-A177-3AD203B41FA5}">
                      <a16:colId xmlns:a16="http://schemas.microsoft.com/office/drawing/2014/main" val="485607095"/>
                    </a:ext>
                  </a:extLst>
                </a:gridCol>
                <a:gridCol w="1214268">
                  <a:extLst>
                    <a:ext uri="{9D8B030D-6E8A-4147-A177-3AD203B41FA5}">
                      <a16:colId xmlns:a16="http://schemas.microsoft.com/office/drawing/2014/main" val="2832269886"/>
                    </a:ext>
                  </a:extLst>
                </a:gridCol>
                <a:gridCol w="1214268">
                  <a:extLst>
                    <a:ext uri="{9D8B030D-6E8A-4147-A177-3AD203B41FA5}">
                      <a16:colId xmlns:a16="http://schemas.microsoft.com/office/drawing/2014/main" val="2210278073"/>
                    </a:ext>
                  </a:extLst>
                </a:gridCol>
                <a:gridCol w="2239098">
                  <a:extLst>
                    <a:ext uri="{9D8B030D-6E8A-4147-A177-3AD203B41FA5}">
                      <a16:colId xmlns:a16="http://schemas.microsoft.com/office/drawing/2014/main" val="3343172956"/>
                    </a:ext>
                  </a:extLst>
                </a:gridCol>
              </a:tblGrid>
              <a:tr h="370840">
                <a:tc>
                  <a:txBody>
                    <a:bodyPr/>
                    <a:lstStyle/>
                    <a:p>
                      <a:pPr algn="ctr"/>
                      <a:r>
                        <a:rPr lang="zh-CN" altLang="en-US" dirty="0"/>
                        <a:t>职工编号</a:t>
                      </a:r>
                    </a:p>
                  </a:txBody>
                  <a:tcPr/>
                </a:tc>
                <a:tc>
                  <a:txBody>
                    <a:bodyPr/>
                    <a:lstStyle/>
                    <a:p>
                      <a:pPr algn="ctr"/>
                      <a:r>
                        <a:rPr lang="zh-CN" altLang="en-US" dirty="0"/>
                        <a:t>姓名</a:t>
                      </a:r>
                    </a:p>
                  </a:txBody>
                  <a:tcPr/>
                </a:tc>
                <a:tc>
                  <a:txBody>
                    <a:bodyPr/>
                    <a:lstStyle/>
                    <a:p>
                      <a:pPr algn="ctr"/>
                      <a:r>
                        <a:rPr lang="zh-CN" altLang="en-US" dirty="0"/>
                        <a:t>部门</a:t>
                      </a:r>
                    </a:p>
                  </a:txBody>
                  <a:tcPr/>
                </a:tc>
                <a:tc>
                  <a:txBody>
                    <a:bodyPr/>
                    <a:lstStyle/>
                    <a:p>
                      <a:pPr algn="ctr"/>
                      <a:r>
                        <a:rPr lang="zh-CN" altLang="en-US" dirty="0"/>
                        <a:t>性别</a:t>
                      </a:r>
                    </a:p>
                  </a:txBody>
                  <a:tcPr/>
                </a:tc>
                <a:tc>
                  <a:txBody>
                    <a:bodyPr/>
                    <a:lstStyle/>
                    <a:p>
                      <a:pPr algn="ctr"/>
                      <a:r>
                        <a:rPr lang="zh-CN" altLang="en-US" dirty="0"/>
                        <a:t>年龄</a:t>
                      </a:r>
                    </a:p>
                  </a:txBody>
                  <a:tcPr/>
                </a:tc>
                <a:tc>
                  <a:txBody>
                    <a:bodyPr/>
                    <a:lstStyle/>
                    <a:p>
                      <a:pPr algn="ctr"/>
                      <a:r>
                        <a:rPr lang="zh-CN" altLang="en-US" dirty="0"/>
                        <a:t>身份证号码</a:t>
                      </a:r>
                    </a:p>
                  </a:txBody>
                  <a:tcPr/>
                </a:tc>
                <a:extLst>
                  <a:ext uri="{0D108BD9-81ED-4DB2-BD59-A6C34878D82A}">
                    <a16:rowId xmlns:a16="http://schemas.microsoft.com/office/drawing/2014/main" val="2498035954"/>
                  </a:ext>
                </a:extLst>
              </a:tr>
              <a:tr h="370840">
                <a:tc>
                  <a:txBody>
                    <a:bodyPr/>
                    <a:lstStyle/>
                    <a:p>
                      <a:pPr algn="ctr"/>
                      <a:r>
                        <a:rPr lang="en-US" altLang="zh-CN" dirty="0"/>
                        <a:t>2113</a:t>
                      </a:r>
                      <a:endParaRPr lang="zh-CN" altLang="en-US" dirty="0"/>
                    </a:p>
                  </a:txBody>
                  <a:tcPr/>
                </a:tc>
                <a:tc>
                  <a:txBody>
                    <a:bodyPr/>
                    <a:lstStyle/>
                    <a:p>
                      <a:pPr algn="ctr"/>
                      <a:r>
                        <a:rPr lang="zh-CN" altLang="en-US" dirty="0"/>
                        <a:t>程晓清</a:t>
                      </a:r>
                    </a:p>
                  </a:txBody>
                  <a:tcPr/>
                </a:tc>
                <a:tc>
                  <a:txBody>
                    <a:bodyPr/>
                    <a:lstStyle/>
                    <a:p>
                      <a:pPr algn="ctr"/>
                      <a:r>
                        <a:rPr lang="zh-CN" altLang="en-US" dirty="0"/>
                        <a:t>销售部</a:t>
                      </a:r>
                    </a:p>
                  </a:txBody>
                  <a:tcPr/>
                </a:tc>
                <a:tc>
                  <a:txBody>
                    <a:bodyPr/>
                    <a:lstStyle/>
                    <a:p>
                      <a:pPr algn="ctr"/>
                      <a:r>
                        <a:rPr lang="zh-CN" altLang="en-US" dirty="0"/>
                        <a:t>男</a:t>
                      </a:r>
                    </a:p>
                  </a:txBody>
                  <a:tcPr/>
                </a:tc>
                <a:tc>
                  <a:txBody>
                    <a:bodyPr/>
                    <a:lstStyle/>
                    <a:p>
                      <a:pPr algn="ctr"/>
                      <a:r>
                        <a:rPr lang="en-US" altLang="zh-CN" dirty="0"/>
                        <a:t>30</a:t>
                      </a:r>
                    </a:p>
                  </a:txBody>
                  <a:tcPr/>
                </a:tc>
                <a:tc>
                  <a:txBody>
                    <a:bodyPr/>
                    <a:lstStyle/>
                    <a:p>
                      <a:pPr algn="ctr"/>
                      <a:r>
                        <a:rPr lang="en-US" altLang="zh-CN" dirty="0"/>
                        <a:t>310110</a:t>
                      </a:r>
                      <a:r>
                        <a:rPr lang="zh-CN" altLang="en-US" dirty="0"/>
                        <a:t>****</a:t>
                      </a:r>
                      <a:r>
                        <a:rPr lang="en-US" altLang="zh-CN" dirty="0"/>
                        <a:t>03062405</a:t>
                      </a:r>
                      <a:endParaRPr lang="zh-CN" altLang="en-US" dirty="0"/>
                    </a:p>
                  </a:txBody>
                  <a:tcPr/>
                </a:tc>
                <a:extLst>
                  <a:ext uri="{0D108BD9-81ED-4DB2-BD59-A6C34878D82A}">
                    <a16:rowId xmlns:a16="http://schemas.microsoft.com/office/drawing/2014/main" val="225238229"/>
                  </a:ext>
                </a:extLst>
              </a:tr>
              <a:tr h="370840">
                <a:tc>
                  <a:txBody>
                    <a:bodyPr/>
                    <a:lstStyle/>
                    <a:p>
                      <a:pPr algn="ctr"/>
                      <a:r>
                        <a:rPr lang="en-US" altLang="zh-CN" dirty="0"/>
                        <a:t>2116</a:t>
                      </a:r>
                      <a:endParaRPr lang="zh-CN" altLang="en-US" dirty="0"/>
                    </a:p>
                  </a:txBody>
                  <a:tcPr/>
                </a:tc>
                <a:tc>
                  <a:txBody>
                    <a:bodyPr/>
                    <a:lstStyle/>
                    <a:p>
                      <a:pPr algn="ctr"/>
                      <a:r>
                        <a:rPr lang="zh-CN" altLang="en-US" dirty="0"/>
                        <a:t>刘红英</a:t>
                      </a:r>
                    </a:p>
                  </a:txBody>
                  <a:tcPr/>
                </a:tc>
                <a:tc>
                  <a:txBody>
                    <a:bodyPr/>
                    <a:lstStyle/>
                    <a:p>
                      <a:pPr algn="ctr"/>
                      <a:r>
                        <a:rPr lang="zh-CN" altLang="en-US" dirty="0"/>
                        <a:t>财务部</a:t>
                      </a:r>
                    </a:p>
                  </a:txBody>
                  <a:tcPr/>
                </a:tc>
                <a:tc>
                  <a:txBody>
                    <a:bodyPr/>
                    <a:lstStyle/>
                    <a:p>
                      <a:pPr algn="ctr"/>
                      <a:r>
                        <a:rPr lang="zh-CN" altLang="en-US" dirty="0"/>
                        <a:t>女</a:t>
                      </a:r>
                    </a:p>
                  </a:txBody>
                  <a:tcPr/>
                </a:tc>
                <a:tc>
                  <a:txBody>
                    <a:bodyPr/>
                    <a:lstStyle/>
                    <a:p>
                      <a:pPr algn="ctr"/>
                      <a:r>
                        <a:rPr lang="en-US" altLang="zh-CN" dirty="0"/>
                        <a:t>30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05062506</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4023512960"/>
                  </a:ext>
                </a:extLst>
              </a:tr>
              <a:tr h="370840">
                <a:tc>
                  <a:txBody>
                    <a:bodyPr/>
                    <a:lstStyle/>
                    <a:p>
                      <a:pPr algn="ctr"/>
                      <a:r>
                        <a:rPr lang="en-US" altLang="zh-CN" dirty="0"/>
                        <a:t>2136</a:t>
                      </a:r>
                      <a:endParaRPr lang="zh-CN" altLang="en-US" dirty="0"/>
                    </a:p>
                  </a:txBody>
                  <a:tcPr/>
                </a:tc>
                <a:tc>
                  <a:txBody>
                    <a:bodyPr/>
                    <a:lstStyle/>
                    <a:p>
                      <a:pPr algn="ctr"/>
                      <a:r>
                        <a:rPr lang="zh-CN" altLang="en-US" dirty="0"/>
                        <a:t>李小刚</a:t>
                      </a:r>
                    </a:p>
                  </a:txBody>
                  <a:tcPr/>
                </a:tc>
                <a:tc>
                  <a:txBody>
                    <a:bodyPr/>
                    <a:lstStyle/>
                    <a:p>
                      <a:pPr algn="ctr"/>
                      <a:r>
                        <a:rPr lang="zh-CN" altLang="en-US" dirty="0"/>
                        <a:t>管理部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男</a:t>
                      </a:r>
                    </a:p>
                  </a:txBody>
                  <a:tcPr/>
                </a:tc>
                <a:tc>
                  <a:txBody>
                    <a:bodyPr/>
                    <a:lstStyle/>
                    <a:p>
                      <a:pPr algn="ctr"/>
                      <a:r>
                        <a:rPr lang="en-US" altLang="zh-CN" dirty="0"/>
                        <a:t>28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06092507</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242727207"/>
                  </a:ext>
                </a:extLst>
              </a:tr>
              <a:tr h="370840">
                <a:tc>
                  <a:txBody>
                    <a:bodyPr/>
                    <a:lstStyle/>
                    <a:p>
                      <a:pPr algn="ctr"/>
                      <a:r>
                        <a:rPr lang="en-US" altLang="zh-CN" dirty="0"/>
                        <a:t>2138</a:t>
                      </a:r>
                      <a:endParaRPr lang="zh-CN" altLang="en-US" dirty="0"/>
                    </a:p>
                  </a:txBody>
                  <a:tcPr/>
                </a:tc>
                <a:tc>
                  <a:txBody>
                    <a:bodyPr/>
                    <a:lstStyle/>
                    <a:p>
                      <a:pPr algn="ctr"/>
                      <a:r>
                        <a:rPr lang="zh-CN" altLang="en-US" dirty="0"/>
                        <a:t>蒋明</a:t>
                      </a:r>
                    </a:p>
                  </a:txBody>
                  <a:tcPr/>
                </a:tc>
                <a:tc>
                  <a:txBody>
                    <a:bodyPr/>
                    <a:lstStyle/>
                    <a:p>
                      <a:pPr algn="ctr"/>
                      <a:r>
                        <a:rPr lang="zh-CN" altLang="en-US" dirty="0"/>
                        <a:t>采购部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男</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algn="ctr"/>
                      <a:r>
                        <a:rPr lang="en-US" altLang="zh-CN" dirty="0"/>
                        <a:t>41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08082405</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4071535767"/>
                  </a:ext>
                </a:extLst>
              </a:tr>
              <a:tr h="370840">
                <a:tc>
                  <a:txBody>
                    <a:bodyPr/>
                    <a:lstStyle/>
                    <a:p>
                      <a:pPr algn="ctr"/>
                      <a:r>
                        <a:rPr lang="en-US" altLang="zh-CN" dirty="0"/>
                        <a:t>2141</a:t>
                      </a:r>
                      <a:endParaRPr lang="zh-CN" altLang="en-US" dirty="0"/>
                    </a:p>
                  </a:txBody>
                  <a:tcPr/>
                </a:tc>
                <a:tc>
                  <a:txBody>
                    <a:bodyPr/>
                    <a:lstStyle/>
                    <a:p>
                      <a:pPr algn="ctr"/>
                      <a:r>
                        <a:rPr lang="zh-CN" altLang="en-US" dirty="0"/>
                        <a:t>王国洋</a:t>
                      </a:r>
                    </a:p>
                  </a:txBody>
                  <a:tcPr/>
                </a:tc>
                <a:tc>
                  <a:txBody>
                    <a:bodyPr/>
                    <a:lstStyle/>
                    <a:p>
                      <a:pPr algn="ctr"/>
                      <a:r>
                        <a:rPr lang="zh-CN" altLang="en-US" dirty="0"/>
                        <a:t>销售部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algn="ctr"/>
                      <a:r>
                        <a:rPr lang="en-US" altLang="zh-CN" dirty="0"/>
                        <a:t>39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09022407</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53225929"/>
                  </a:ext>
                </a:extLst>
              </a:tr>
            </a:tbl>
          </a:graphicData>
        </a:graphic>
      </p:graphicFrame>
    </p:spTree>
    <p:extLst>
      <p:ext uri="{BB962C8B-B14F-4D97-AF65-F5344CB8AC3E}">
        <p14:creationId xmlns:p14="http://schemas.microsoft.com/office/powerpoint/2010/main" val="179956797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5971"/>
                                        </p:tgtEl>
                                        <p:attrNameLst>
                                          <p:attrName>style.visibility</p:attrName>
                                        </p:attrNameLst>
                                      </p:cBhvr>
                                      <p:to>
                                        <p:strVal val="visible"/>
                                      </p:to>
                                    </p:set>
                                    <p:animEffect transition="in" filter="blinds(horizontal)">
                                      <p:cBhvr>
                                        <p:cTn id="7" dur="500"/>
                                        <p:tgtEl>
                                          <p:spTgt spid="595971"/>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par>
                                <p:cTn id="16" presetID="1" presetClass="entr" presetSubtype="0" fill="hold" grpId="0" nodeType="withEffect">
                                  <p:stCondLst>
                                    <p:cond delay="0"/>
                                  </p:stCondLst>
                                  <p:childTnLst>
                                    <p:set>
                                      <p:cBhvr>
                                        <p:cTn id="17" dur="1" fill="hold">
                                          <p:stCondLst>
                                            <p:cond delay="0"/>
                                          </p:stCondLst>
                                        </p:cTn>
                                        <p:tgtEl>
                                          <p:spTgt spid="3"/>
                                        </p:tgtEl>
                                        <p:attrNameLst>
                                          <p:attrName>style.visibility</p:attrName>
                                        </p:attrNameLst>
                                      </p:cBhvr>
                                      <p:to>
                                        <p:strVal val="visible"/>
                                      </p:to>
                                    </p:se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1" grpId="0"/>
      <p:bldP spid="4" grpId="0"/>
      <p:bldP spid="2" grpId="0"/>
      <p:bldP spid="3" grpId="0" animBg="1"/>
      <p:bldP spid="12" grpId="0"/>
      <p:bldP spid="13"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ChangeArrowheads="1"/>
          </p:cNvSpPr>
          <p:nvPr/>
        </p:nvSpPr>
        <p:spPr bwMode="auto">
          <a:xfrm>
            <a:off x="0" y="0"/>
            <a:ext cx="9036050" cy="183704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400" b="1" dirty="0">
                <a:solidFill>
                  <a:srgbClr val="000099"/>
                </a:solidFill>
                <a:latin typeface="Times New Roman" pitchFamily="18" charset="0"/>
              </a:rPr>
              <a:t>   </a:t>
            </a:r>
            <a:r>
              <a:rPr lang="zh-CN" altLang="en-US" sz="2800" b="1" dirty="0">
                <a:solidFill>
                  <a:srgbClr val="000099"/>
                </a:solidFill>
                <a:latin typeface="Times New Roman" pitchFamily="18" charset="0"/>
              </a:rPr>
              <a:t>二、数学定义</a:t>
            </a:r>
          </a:p>
          <a:p>
            <a:pPr algn="l" eaLnBrk="0" hangingPunct="0">
              <a:lnSpc>
                <a:spcPct val="150000"/>
              </a:lnSpc>
              <a:spcBef>
                <a:spcPts val="300"/>
              </a:spcBef>
            </a:pPr>
            <a:r>
              <a:rPr lang="zh-CN" altLang="en-US" sz="2400" b="1" dirty="0">
                <a:solidFill>
                  <a:srgbClr val="660033"/>
                </a:solidFill>
              </a:rPr>
              <a:t>定义</a:t>
            </a:r>
            <a:r>
              <a:rPr lang="en-US" altLang="zh-CN" sz="2400" b="1" dirty="0">
                <a:solidFill>
                  <a:srgbClr val="660033"/>
                </a:solidFill>
              </a:rPr>
              <a:t>3.2</a:t>
            </a:r>
            <a:r>
              <a:rPr lang="zh-CN" altLang="en-US" sz="2400" b="1" dirty="0">
                <a:solidFill>
                  <a:srgbClr val="660033"/>
                </a:solidFill>
              </a:rPr>
              <a:t>： </a:t>
            </a:r>
            <a:r>
              <a:rPr lang="zh-CN" altLang="en-US" sz="2400" b="1" dirty="0">
                <a:solidFill>
                  <a:schemeClr val="bg2"/>
                </a:solidFill>
                <a:latin typeface="Times New Roman" pitchFamily="18" charset="0"/>
              </a:rPr>
              <a:t>关系的定义</a:t>
            </a:r>
            <a:endParaRPr lang="zh-CN" altLang="en-US" sz="2400" b="1" dirty="0">
              <a:solidFill>
                <a:schemeClr val="bg1"/>
              </a:solidFill>
              <a:latin typeface="Times New Roman" pitchFamily="18" charset="0"/>
            </a:endParaRPr>
          </a:p>
          <a:p>
            <a:pPr algn="l" eaLnBrk="0" hangingPunct="0">
              <a:lnSpc>
                <a:spcPct val="150000"/>
              </a:lnSpc>
              <a:spcBef>
                <a:spcPts val="300"/>
              </a:spcBef>
            </a:pPr>
            <a:r>
              <a:rPr lang="zh-CN" altLang="en-US" sz="2400" b="1" dirty="0">
                <a:solidFill>
                  <a:srgbClr val="000099"/>
                </a:solidFill>
                <a:cs typeface="Times New Roman" pitchFamily="18" charset="0"/>
              </a:rPr>
              <a:t>②</a:t>
            </a:r>
            <a:r>
              <a:rPr lang="zh-CN" altLang="en-US" sz="2400" b="1" dirty="0">
                <a:solidFill>
                  <a:srgbClr val="000099"/>
                </a:solidFill>
              </a:rPr>
              <a:t>用值域的观点定义关系：</a:t>
            </a:r>
          </a:p>
        </p:txBody>
      </p:sp>
      <p:sp>
        <p:nvSpPr>
          <p:cNvPr id="595972" name="Rectangle 4"/>
          <p:cNvSpPr>
            <a:spLocks noChangeArrowheads="1"/>
          </p:cNvSpPr>
          <p:nvPr/>
        </p:nvSpPr>
        <p:spPr bwMode="auto">
          <a:xfrm>
            <a:off x="3670300" y="1126213"/>
            <a:ext cx="5365750"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lnSpc>
                <a:spcPct val="180000"/>
              </a:lnSpc>
            </a:pPr>
            <a:r>
              <a:rPr lang="zh-CN" altLang="en-US" sz="2400" b="1" dirty="0">
                <a:solidFill>
                  <a:srgbClr val="660033"/>
                </a:solidFill>
              </a:rPr>
              <a:t>关系是属性值域笛卡儿积的一个子集。</a:t>
            </a:r>
          </a:p>
        </p:txBody>
      </p:sp>
      <p:pic>
        <p:nvPicPr>
          <p:cNvPr id="3" name="图片 2" descr="文本, 信件&#10;&#10;描述已自动生成">
            <a:extLst>
              <a:ext uri="{FF2B5EF4-FFF2-40B4-BE49-F238E27FC236}">
                <a16:creationId xmlns:a16="http://schemas.microsoft.com/office/drawing/2014/main" id="{8F2654FF-386A-C841-B934-B354874B7ABB}"/>
              </a:ext>
            </a:extLst>
          </p:cNvPr>
          <p:cNvPicPr>
            <a:picLocks noChangeAspect="1"/>
          </p:cNvPicPr>
          <p:nvPr/>
        </p:nvPicPr>
        <p:blipFill rotWithShape="1">
          <a:blip r:embed="rId3">
            <a:biLevel thresh="75000"/>
            <a:extLst>
              <a:ext uri="{28A0092B-C50C-407E-A947-70E740481C1C}">
                <a14:useLocalDpi xmlns:a14="http://schemas.microsoft.com/office/drawing/2010/main" val="0"/>
              </a:ext>
            </a:extLst>
          </a:blip>
          <a:srcRect l="14458" t="15750" r="29638" b="69804"/>
          <a:stretch/>
        </p:blipFill>
        <p:spPr>
          <a:xfrm>
            <a:off x="71561" y="1913985"/>
            <a:ext cx="8964489" cy="1737395"/>
          </a:xfrm>
          <a:prstGeom prst="rect">
            <a:avLst/>
          </a:prstGeom>
        </p:spPr>
      </p:pic>
      <p:sp>
        <p:nvSpPr>
          <p:cNvPr id="8" name="线形标注 1 7">
            <a:extLst>
              <a:ext uri="{FF2B5EF4-FFF2-40B4-BE49-F238E27FC236}">
                <a16:creationId xmlns:a16="http://schemas.microsoft.com/office/drawing/2014/main" id="{959DA7AB-AF69-044E-B4A7-5CEEFAB6BE83}"/>
              </a:ext>
            </a:extLst>
          </p:cNvPr>
          <p:cNvSpPr/>
          <p:nvPr/>
        </p:nvSpPr>
        <p:spPr bwMode="auto">
          <a:xfrm>
            <a:off x="333517" y="3962397"/>
            <a:ext cx="1251824" cy="338554"/>
          </a:xfrm>
          <a:prstGeom prst="borderCallout1">
            <a:avLst>
              <a:gd name="adj1" fmla="val 106293"/>
              <a:gd name="adj2" fmla="val 47070"/>
              <a:gd name="adj3" fmla="val 115966"/>
              <a:gd name="adj4" fmla="val 50445"/>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rgbClr val="FF0000"/>
                </a:solidFill>
                <a:effectLst/>
                <a:latin typeface="宋体" pitchFamily="2" charset="-122"/>
                <a:ea typeface="宋体" pitchFamily="2" charset="-122"/>
              </a:rPr>
              <a:t>域</a:t>
            </a:r>
            <a:r>
              <a:rPr kumimoji="1" lang="en-US" altLang="zh-CN" sz="2000" b="1" u="none" strike="noStrike" cap="none" normalizeH="0" baseline="0" dirty="0">
                <a:ln>
                  <a:noFill/>
                </a:ln>
                <a:solidFill>
                  <a:srgbClr val="FF0000"/>
                </a:solidFill>
                <a:effectLst/>
                <a:latin typeface="宋体" pitchFamily="2" charset="-122"/>
                <a:ea typeface="宋体" pitchFamily="2" charset="-122"/>
              </a:rPr>
              <a:t>D</a:t>
            </a:r>
            <a:r>
              <a:rPr lang="en-US" altLang="zh-CN" sz="2000" b="1" baseline="-25000" dirty="0">
                <a:solidFill>
                  <a:srgbClr val="FF0000"/>
                </a:solidFill>
              </a:rPr>
              <a:t>1</a:t>
            </a:r>
            <a:r>
              <a:rPr kumimoji="1" lang="en-US" altLang="zh-CN" sz="2000" b="0" i="0" u="none" strike="noStrike" cap="none" normalizeH="0" baseline="0" dirty="0">
                <a:ln>
                  <a:noFill/>
                </a:ln>
                <a:solidFill>
                  <a:schemeClr val="bg2"/>
                </a:solidFill>
                <a:effectLst/>
                <a:latin typeface="宋体" pitchFamily="2" charset="-122"/>
                <a:ea typeface="宋体" pitchFamily="2" charset="-122"/>
              </a:rPr>
              <a:t>,m</a:t>
            </a:r>
            <a:r>
              <a:rPr kumimoji="1" lang="en-US" altLang="zh-CN" sz="2000" b="0" i="0" u="none" strike="noStrike" cap="none" normalizeH="0" baseline="-25000" dirty="0">
                <a:ln>
                  <a:noFill/>
                </a:ln>
                <a:solidFill>
                  <a:schemeClr val="bg2"/>
                </a:solidFill>
                <a:effectLst/>
                <a:latin typeface="宋体" pitchFamily="2" charset="-122"/>
                <a:ea typeface="宋体" pitchFamily="2" charset="-122"/>
              </a:rPr>
              <a:t>1</a:t>
            </a:r>
            <a:r>
              <a:rPr kumimoji="1" lang="en-US" altLang="zh-CN" sz="2000" b="0" i="0" u="none" strike="noStrike" cap="none" normalizeH="0" dirty="0">
                <a:ln>
                  <a:noFill/>
                </a:ln>
                <a:solidFill>
                  <a:schemeClr val="bg2"/>
                </a:solidFill>
                <a:effectLst/>
                <a:latin typeface="宋体" pitchFamily="2" charset="-122"/>
                <a:ea typeface="宋体" pitchFamily="2" charset="-122"/>
              </a:rPr>
              <a:t>=5</a:t>
            </a:r>
          </a:p>
        </p:txBody>
      </p:sp>
      <p:sp>
        <p:nvSpPr>
          <p:cNvPr id="9" name="线形标注 1 8">
            <a:extLst>
              <a:ext uri="{FF2B5EF4-FFF2-40B4-BE49-F238E27FC236}">
                <a16:creationId xmlns:a16="http://schemas.microsoft.com/office/drawing/2014/main" id="{7C2AD34F-84F1-A748-BCB2-BCE50A5AC243}"/>
              </a:ext>
            </a:extLst>
          </p:cNvPr>
          <p:cNvSpPr/>
          <p:nvPr/>
        </p:nvSpPr>
        <p:spPr bwMode="auto">
          <a:xfrm>
            <a:off x="1701669" y="3991599"/>
            <a:ext cx="1251824" cy="338554"/>
          </a:xfrm>
          <a:prstGeom prst="borderCallout1">
            <a:avLst>
              <a:gd name="adj1" fmla="val 106293"/>
              <a:gd name="adj2" fmla="val 47070"/>
              <a:gd name="adj3" fmla="val 115966"/>
              <a:gd name="adj4" fmla="val 50445"/>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rgbClr val="FF0000"/>
                </a:solidFill>
                <a:effectLst/>
                <a:latin typeface="宋体" pitchFamily="2" charset="-122"/>
                <a:ea typeface="宋体" pitchFamily="2" charset="-122"/>
              </a:rPr>
              <a:t>域</a:t>
            </a:r>
            <a:r>
              <a:rPr kumimoji="1" lang="en-US" altLang="zh-CN" sz="2000" b="1" u="none" strike="noStrike" cap="none" normalizeH="0" baseline="0" dirty="0">
                <a:ln>
                  <a:noFill/>
                </a:ln>
                <a:solidFill>
                  <a:srgbClr val="FF0000"/>
                </a:solidFill>
                <a:effectLst/>
              </a:rPr>
              <a:t>D</a:t>
            </a:r>
            <a:r>
              <a:rPr lang="en-US" altLang="zh-CN" sz="2000" b="1" baseline="-25000" dirty="0">
                <a:solidFill>
                  <a:srgbClr val="FF0000"/>
                </a:solidFill>
              </a:rPr>
              <a:t>2</a:t>
            </a:r>
            <a:r>
              <a:rPr kumimoji="1" lang="en-US" altLang="zh-CN" sz="2000" b="0" i="0" u="none" strike="noStrike" cap="none" normalizeH="0" baseline="0" dirty="0">
                <a:ln>
                  <a:noFill/>
                </a:ln>
                <a:solidFill>
                  <a:schemeClr val="bg2"/>
                </a:solidFill>
                <a:effectLst/>
                <a:latin typeface="宋体" pitchFamily="2" charset="-122"/>
                <a:ea typeface="宋体" pitchFamily="2" charset="-122"/>
              </a:rPr>
              <a:t>,m</a:t>
            </a:r>
            <a:r>
              <a:rPr lang="en-US" altLang="zh-CN" sz="2000" baseline="-25000" dirty="0">
                <a:solidFill>
                  <a:schemeClr val="bg2"/>
                </a:solidFill>
              </a:rPr>
              <a:t>2</a:t>
            </a:r>
            <a:r>
              <a:rPr kumimoji="1" lang="en-US" altLang="zh-CN" sz="2000" b="0" i="0" u="none" strike="noStrike" cap="none" normalizeH="0" dirty="0">
                <a:ln>
                  <a:noFill/>
                </a:ln>
                <a:solidFill>
                  <a:schemeClr val="bg2"/>
                </a:solidFill>
                <a:effectLst/>
                <a:latin typeface="宋体" pitchFamily="2" charset="-122"/>
                <a:ea typeface="宋体" pitchFamily="2" charset="-122"/>
              </a:rPr>
              <a:t>=5</a:t>
            </a:r>
          </a:p>
        </p:txBody>
      </p:sp>
      <p:sp>
        <p:nvSpPr>
          <p:cNvPr id="10" name="线形标注 1 9">
            <a:extLst>
              <a:ext uri="{FF2B5EF4-FFF2-40B4-BE49-F238E27FC236}">
                <a16:creationId xmlns:a16="http://schemas.microsoft.com/office/drawing/2014/main" id="{C58E3AE9-F9B9-1346-87FA-073C1D078AE1}"/>
              </a:ext>
            </a:extLst>
          </p:cNvPr>
          <p:cNvSpPr/>
          <p:nvPr/>
        </p:nvSpPr>
        <p:spPr bwMode="auto">
          <a:xfrm>
            <a:off x="3069821" y="3991599"/>
            <a:ext cx="1251824" cy="338554"/>
          </a:xfrm>
          <a:prstGeom prst="borderCallout1">
            <a:avLst>
              <a:gd name="adj1" fmla="val 106293"/>
              <a:gd name="adj2" fmla="val 47070"/>
              <a:gd name="adj3" fmla="val 115966"/>
              <a:gd name="adj4" fmla="val 50445"/>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rgbClr val="FF0000"/>
                </a:solidFill>
                <a:effectLst/>
                <a:latin typeface="宋体" pitchFamily="2" charset="-122"/>
                <a:ea typeface="宋体" pitchFamily="2" charset="-122"/>
              </a:rPr>
              <a:t>域</a:t>
            </a:r>
            <a:r>
              <a:rPr kumimoji="1" lang="en-US" altLang="zh-CN" sz="2000" b="1" u="none" strike="noStrike" cap="none" normalizeH="0" baseline="0" dirty="0">
                <a:ln>
                  <a:noFill/>
                </a:ln>
                <a:solidFill>
                  <a:srgbClr val="FF0000"/>
                </a:solidFill>
                <a:effectLst/>
                <a:latin typeface="宋体" pitchFamily="2" charset="-122"/>
                <a:ea typeface="宋体" pitchFamily="2" charset="-122"/>
              </a:rPr>
              <a:t>D</a:t>
            </a:r>
            <a:r>
              <a:rPr lang="en-US" altLang="zh-CN" sz="2000" b="1" baseline="-25000" dirty="0">
                <a:solidFill>
                  <a:srgbClr val="FF0000"/>
                </a:solidFill>
              </a:rPr>
              <a:t>3</a:t>
            </a:r>
            <a:r>
              <a:rPr kumimoji="1" lang="en-US" altLang="zh-CN" sz="2000" b="0" i="0" u="none" strike="noStrike" cap="none" normalizeH="0" baseline="0" dirty="0">
                <a:ln>
                  <a:noFill/>
                </a:ln>
                <a:solidFill>
                  <a:schemeClr val="bg2"/>
                </a:solidFill>
                <a:effectLst/>
                <a:latin typeface="宋体" pitchFamily="2" charset="-122"/>
                <a:ea typeface="宋体" pitchFamily="2" charset="-122"/>
              </a:rPr>
              <a:t>,m</a:t>
            </a:r>
            <a:r>
              <a:rPr lang="en-US" altLang="zh-CN" sz="2000" baseline="-25000" dirty="0">
                <a:solidFill>
                  <a:schemeClr val="bg2"/>
                </a:solidFill>
              </a:rPr>
              <a:t>3</a:t>
            </a:r>
            <a:r>
              <a:rPr kumimoji="1" lang="en-US" altLang="zh-CN" sz="2000" b="0" i="0" u="none" strike="noStrike" cap="none" normalizeH="0" dirty="0">
                <a:ln>
                  <a:noFill/>
                </a:ln>
                <a:solidFill>
                  <a:schemeClr val="bg2"/>
                </a:solidFill>
                <a:effectLst/>
                <a:latin typeface="宋体" pitchFamily="2" charset="-122"/>
                <a:ea typeface="宋体" pitchFamily="2" charset="-122"/>
              </a:rPr>
              <a:t>=4</a:t>
            </a:r>
          </a:p>
        </p:txBody>
      </p:sp>
      <p:sp>
        <p:nvSpPr>
          <p:cNvPr id="11" name="线形标注 1 10">
            <a:extLst>
              <a:ext uri="{FF2B5EF4-FFF2-40B4-BE49-F238E27FC236}">
                <a16:creationId xmlns:a16="http://schemas.microsoft.com/office/drawing/2014/main" id="{68414F76-0D4F-324F-90C8-5638FD2C1009}"/>
              </a:ext>
            </a:extLst>
          </p:cNvPr>
          <p:cNvSpPr/>
          <p:nvPr/>
        </p:nvSpPr>
        <p:spPr bwMode="auto">
          <a:xfrm>
            <a:off x="4437973" y="3991599"/>
            <a:ext cx="1251824" cy="338554"/>
          </a:xfrm>
          <a:prstGeom prst="borderCallout1">
            <a:avLst>
              <a:gd name="adj1" fmla="val 106293"/>
              <a:gd name="adj2" fmla="val 47070"/>
              <a:gd name="adj3" fmla="val 115966"/>
              <a:gd name="adj4" fmla="val 50445"/>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rgbClr val="FF0000"/>
                </a:solidFill>
                <a:effectLst/>
                <a:latin typeface="宋体" pitchFamily="2" charset="-122"/>
                <a:ea typeface="宋体" pitchFamily="2" charset="-122"/>
              </a:rPr>
              <a:t>域</a:t>
            </a:r>
            <a:r>
              <a:rPr kumimoji="1" lang="en-US" altLang="zh-CN" sz="2000" b="1" u="none" strike="noStrike" cap="none" normalizeH="0" baseline="0" dirty="0">
                <a:ln>
                  <a:noFill/>
                </a:ln>
                <a:solidFill>
                  <a:srgbClr val="FF0000"/>
                </a:solidFill>
                <a:effectLst/>
                <a:latin typeface="宋体" pitchFamily="2" charset="-122"/>
                <a:ea typeface="宋体" pitchFamily="2" charset="-122"/>
              </a:rPr>
              <a:t>D</a:t>
            </a:r>
            <a:r>
              <a:rPr lang="en-US" altLang="zh-CN" sz="2000" b="1" baseline="-25000" dirty="0">
                <a:solidFill>
                  <a:srgbClr val="FF0000"/>
                </a:solidFill>
              </a:rPr>
              <a:t>4</a:t>
            </a:r>
            <a:r>
              <a:rPr kumimoji="1" lang="en-US" altLang="zh-CN" sz="2000" b="0" i="0" u="none" strike="noStrike" cap="none" normalizeH="0" baseline="0" dirty="0">
                <a:ln>
                  <a:noFill/>
                </a:ln>
                <a:solidFill>
                  <a:schemeClr val="bg2"/>
                </a:solidFill>
                <a:effectLst/>
                <a:latin typeface="宋体" pitchFamily="2" charset="-122"/>
                <a:ea typeface="宋体" pitchFamily="2" charset="-122"/>
              </a:rPr>
              <a:t>,m</a:t>
            </a:r>
            <a:r>
              <a:rPr lang="en-US" altLang="zh-CN" sz="2000" baseline="-25000" dirty="0">
                <a:solidFill>
                  <a:schemeClr val="bg2"/>
                </a:solidFill>
              </a:rPr>
              <a:t>4</a:t>
            </a:r>
            <a:r>
              <a:rPr kumimoji="1" lang="en-US" altLang="zh-CN" sz="2000" b="0" i="0" u="none" strike="noStrike" cap="none" normalizeH="0" dirty="0">
                <a:ln>
                  <a:noFill/>
                </a:ln>
                <a:solidFill>
                  <a:schemeClr val="bg2"/>
                </a:solidFill>
                <a:effectLst/>
                <a:latin typeface="宋体" pitchFamily="2" charset="-122"/>
                <a:ea typeface="宋体" pitchFamily="2" charset="-122"/>
              </a:rPr>
              <a:t>=2</a:t>
            </a:r>
          </a:p>
        </p:txBody>
      </p:sp>
      <p:sp>
        <p:nvSpPr>
          <p:cNvPr id="12" name="线形标注 1 11">
            <a:extLst>
              <a:ext uri="{FF2B5EF4-FFF2-40B4-BE49-F238E27FC236}">
                <a16:creationId xmlns:a16="http://schemas.microsoft.com/office/drawing/2014/main" id="{970A005F-5D67-704A-9991-0B8D3A30BF93}"/>
              </a:ext>
            </a:extLst>
          </p:cNvPr>
          <p:cNvSpPr/>
          <p:nvPr/>
        </p:nvSpPr>
        <p:spPr bwMode="auto">
          <a:xfrm>
            <a:off x="5806125" y="4007653"/>
            <a:ext cx="1251824" cy="338554"/>
          </a:xfrm>
          <a:prstGeom prst="borderCallout1">
            <a:avLst>
              <a:gd name="adj1" fmla="val 106293"/>
              <a:gd name="adj2" fmla="val 47070"/>
              <a:gd name="adj3" fmla="val 115966"/>
              <a:gd name="adj4" fmla="val 50445"/>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rgbClr val="FF0000"/>
                </a:solidFill>
                <a:effectLst/>
                <a:latin typeface="宋体" pitchFamily="2" charset="-122"/>
                <a:ea typeface="宋体" pitchFamily="2" charset="-122"/>
              </a:rPr>
              <a:t>域</a:t>
            </a:r>
            <a:r>
              <a:rPr kumimoji="1" lang="en-US" altLang="zh-CN" sz="2000" b="1" u="none" strike="noStrike" cap="none" normalizeH="0" baseline="0" dirty="0">
                <a:ln>
                  <a:noFill/>
                </a:ln>
                <a:solidFill>
                  <a:srgbClr val="FF0000"/>
                </a:solidFill>
                <a:effectLst/>
                <a:latin typeface="宋体" pitchFamily="2" charset="-122"/>
                <a:ea typeface="宋体" pitchFamily="2" charset="-122"/>
              </a:rPr>
              <a:t>D</a:t>
            </a:r>
            <a:r>
              <a:rPr lang="en-US" altLang="zh-CN" sz="2000" b="1" baseline="-25000" dirty="0">
                <a:solidFill>
                  <a:srgbClr val="FF0000"/>
                </a:solidFill>
              </a:rPr>
              <a:t>5</a:t>
            </a:r>
            <a:r>
              <a:rPr kumimoji="1" lang="en-US" altLang="zh-CN" sz="2000" b="0" i="0" u="none" strike="noStrike" cap="none" normalizeH="0" baseline="0" dirty="0">
                <a:ln>
                  <a:noFill/>
                </a:ln>
                <a:solidFill>
                  <a:schemeClr val="bg2"/>
                </a:solidFill>
                <a:effectLst/>
                <a:latin typeface="宋体" pitchFamily="2" charset="-122"/>
                <a:ea typeface="宋体" pitchFamily="2" charset="-122"/>
              </a:rPr>
              <a:t>,m</a:t>
            </a:r>
            <a:r>
              <a:rPr lang="en-US" altLang="zh-CN" sz="2000" baseline="-25000" dirty="0">
                <a:solidFill>
                  <a:schemeClr val="bg2"/>
                </a:solidFill>
              </a:rPr>
              <a:t>5</a:t>
            </a:r>
            <a:r>
              <a:rPr kumimoji="1" lang="en-US" altLang="zh-CN" sz="2000" b="0" i="0" u="none" strike="noStrike" cap="none" normalizeH="0" dirty="0">
                <a:ln>
                  <a:noFill/>
                </a:ln>
                <a:solidFill>
                  <a:schemeClr val="bg2"/>
                </a:solidFill>
                <a:effectLst/>
                <a:latin typeface="宋体" pitchFamily="2" charset="-122"/>
                <a:ea typeface="宋体" pitchFamily="2" charset="-122"/>
              </a:rPr>
              <a:t>=5</a:t>
            </a:r>
          </a:p>
        </p:txBody>
      </p:sp>
      <p:sp>
        <p:nvSpPr>
          <p:cNvPr id="13" name="线形标注 1 12">
            <a:extLst>
              <a:ext uri="{FF2B5EF4-FFF2-40B4-BE49-F238E27FC236}">
                <a16:creationId xmlns:a16="http://schemas.microsoft.com/office/drawing/2014/main" id="{7D12DCA5-CA1E-5044-A23A-27D7DB8DB98C}"/>
              </a:ext>
            </a:extLst>
          </p:cNvPr>
          <p:cNvSpPr/>
          <p:nvPr/>
        </p:nvSpPr>
        <p:spPr bwMode="auto">
          <a:xfrm>
            <a:off x="7317245" y="3991599"/>
            <a:ext cx="1251824" cy="338554"/>
          </a:xfrm>
          <a:prstGeom prst="borderCallout1">
            <a:avLst>
              <a:gd name="adj1" fmla="val 106293"/>
              <a:gd name="adj2" fmla="val 47070"/>
              <a:gd name="adj3" fmla="val 115966"/>
              <a:gd name="adj4" fmla="val 50445"/>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rgbClr val="FF0000"/>
                </a:solidFill>
                <a:effectLst/>
                <a:latin typeface="宋体" pitchFamily="2" charset="-122"/>
                <a:ea typeface="宋体" pitchFamily="2" charset="-122"/>
              </a:rPr>
              <a:t>域</a:t>
            </a:r>
            <a:r>
              <a:rPr kumimoji="1" lang="en-US" altLang="zh-CN" sz="2000" b="1" u="none" strike="noStrike" cap="none" normalizeH="0" baseline="0" dirty="0">
                <a:ln>
                  <a:noFill/>
                </a:ln>
                <a:solidFill>
                  <a:srgbClr val="FF0000"/>
                </a:solidFill>
                <a:effectLst/>
                <a:latin typeface="宋体" pitchFamily="2" charset="-122"/>
                <a:ea typeface="宋体" pitchFamily="2" charset="-122"/>
              </a:rPr>
              <a:t>D</a:t>
            </a:r>
            <a:r>
              <a:rPr lang="en-US" altLang="zh-CN" sz="2000" b="1" baseline="-25000" dirty="0">
                <a:solidFill>
                  <a:srgbClr val="FF0000"/>
                </a:solidFill>
              </a:rPr>
              <a:t>6</a:t>
            </a:r>
            <a:r>
              <a:rPr kumimoji="1" lang="en-US" altLang="zh-CN" sz="2000" b="0" i="0" u="none" strike="noStrike" cap="none" normalizeH="0" baseline="0" dirty="0">
                <a:ln>
                  <a:noFill/>
                </a:ln>
                <a:solidFill>
                  <a:schemeClr val="bg2"/>
                </a:solidFill>
                <a:effectLst/>
                <a:latin typeface="宋体" pitchFamily="2" charset="-122"/>
                <a:ea typeface="宋体" pitchFamily="2" charset="-122"/>
              </a:rPr>
              <a:t>,m</a:t>
            </a:r>
            <a:r>
              <a:rPr lang="en-US" altLang="zh-CN" sz="2000" baseline="-25000" dirty="0">
                <a:solidFill>
                  <a:schemeClr val="bg2"/>
                </a:solidFill>
              </a:rPr>
              <a:t>6</a:t>
            </a:r>
            <a:r>
              <a:rPr kumimoji="1" lang="en-US" altLang="zh-CN" sz="2000" b="0" i="0" u="none" strike="noStrike" cap="none" normalizeH="0" dirty="0">
                <a:ln>
                  <a:noFill/>
                </a:ln>
                <a:solidFill>
                  <a:schemeClr val="bg2"/>
                </a:solidFill>
                <a:effectLst/>
                <a:latin typeface="宋体" pitchFamily="2" charset="-122"/>
                <a:ea typeface="宋体" pitchFamily="2" charset="-122"/>
              </a:rPr>
              <a:t>=5</a:t>
            </a:r>
          </a:p>
        </p:txBody>
      </p:sp>
      <p:graphicFrame>
        <p:nvGraphicFramePr>
          <p:cNvPr id="15" name="表格 4">
            <a:extLst>
              <a:ext uri="{FF2B5EF4-FFF2-40B4-BE49-F238E27FC236}">
                <a16:creationId xmlns:a16="http://schemas.microsoft.com/office/drawing/2014/main" id="{3522CACA-8599-E444-AE22-1E1DA1BC81D2}"/>
              </a:ext>
            </a:extLst>
          </p:cNvPr>
          <p:cNvGraphicFramePr>
            <a:graphicFrameLocks noGrp="1"/>
          </p:cNvGraphicFramePr>
          <p:nvPr>
            <p:extLst>
              <p:ext uri="{D42A27DB-BD31-4B8C-83A1-F6EECF244321}">
                <p14:modId xmlns:p14="http://schemas.microsoft.com/office/powerpoint/2010/main" val="47561490"/>
              </p:ext>
            </p:extLst>
          </p:nvPr>
        </p:nvGraphicFramePr>
        <p:xfrm>
          <a:off x="619158" y="4444320"/>
          <a:ext cx="7905684" cy="2225040"/>
        </p:xfrm>
        <a:graphic>
          <a:graphicData uri="http://schemas.openxmlformats.org/drawingml/2006/table">
            <a:tbl>
              <a:tblPr firstRow="1" bandRow="1">
                <a:tableStyleId>{21E4AEA4-8DFA-4A89-87EB-49C32662AFE0}</a:tableStyleId>
              </a:tblPr>
              <a:tblGrid>
                <a:gridCol w="1136932">
                  <a:extLst>
                    <a:ext uri="{9D8B030D-6E8A-4147-A177-3AD203B41FA5}">
                      <a16:colId xmlns:a16="http://schemas.microsoft.com/office/drawing/2014/main" val="836150226"/>
                    </a:ext>
                  </a:extLst>
                </a:gridCol>
                <a:gridCol w="886850">
                  <a:extLst>
                    <a:ext uri="{9D8B030D-6E8A-4147-A177-3AD203B41FA5}">
                      <a16:colId xmlns:a16="http://schemas.microsoft.com/office/drawing/2014/main" val="348762623"/>
                    </a:ext>
                  </a:extLst>
                </a:gridCol>
                <a:gridCol w="1214268">
                  <a:extLst>
                    <a:ext uri="{9D8B030D-6E8A-4147-A177-3AD203B41FA5}">
                      <a16:colId xmlns:a16="http://schemas.microsoft.com/office/drawing/2014/main" val="485607095"/>
                    </a:ext>
                  </a:extLst>
                </a:gridCol>
                <a:gridCol w="1214268">
                  <a:extLst>
                    <a:ext uri="{9D8B030D-6E8A-4147-A177-3AD203B41FA5}">
                      <a16:colId xmlns:a16="http://schemas.microsoft.com/office/drawing/2014/main" val="2832269886"/>
                    </a:ext>
                  </a:extLst>
                </a:gridCol>
                <a:gridCol w="1214268">
                  <a:extLst>
                    <a:ext uri="{9D8B030D-6E8A-4147-A177-3AD203B41FA5}">
                      <a16:colId xmlns:a16="http://schemas.microsoft.com/office/drawing/2014/main" val="2210278073"/>
                    </a:ext>
                  </a:extLst>
                </a:gridCol>
                <a:gridCol w="2239098">
                  <a:extLst>
                    <a:ext uri="{9D8B030D-6E8A-4147-A177-3AD203B41FA5}">
                      <a16:colId xmlns:a16="http://schemas.microsoft.com/office/drawing/2014/main" val="3343172956"/>
                    </a:ext>
                  </a:extLst>
                </a:gridCol>
              </a:tblGrid>
              <a:tr h="370840">
                <a:tc>
                  <a:txBody>
                    <a:bodyPr/>
                    <a:lstStyle/>
                    <a:p>
                      <a:pPr algn="ctr"/>
                      <a:r>
                        <a:rPr lang="zh-CN" altLang="en-US" dirty="0"/>
                        <a:t>职工编号</a:t>
                      </a:r>
                    </a:p>
                  </a:txBody>
                  <a:tcPr/>
                </a:tc>
                <a:tc>
                  <a:txBody>
                    <a:bodyPr/>
                    <a:lstStyle/>
                    <a:p>
                      <a:pPr algn="ctr"/>
                      <a:r>
                        <a:rPr lang="zh-CN" altLang="en-US" dirty="0"/>
                        <a:t>姓名</a:t>
                      </a:r>
                    </a:p>
                  </a:txBody>
                  <a:tcPr/>
                </a:tc>
                <a:tc>
                  <a:txBody>
                    <a:bodyPr/>
                    <a:lstStyle/>
                    <a:p>
                      <a:pPr algn="ctr"/>
                      <a:r>
                        <a:rPr lang="zh-CN" altLang="en-US" dirty="0"/>
                        <a:t>部门</a:t>
                      </a:r>
                    </a:p>
                  </a:txBody>
                  <a:tcPr/>
                </a:tc>
                <a:tc>
                  <a:txBody>
                    <a:bodyPr/>
                    <a:lstStyle/>
                    <a:p>
                      <a:pPr algn="ctr"/>
                      <a:r>
                        <a:rPr lang="zh-CN" altLang="en-US" dirty="0"/>
                        <a:t>性别</a:t>
                      </a:r>
                    </a:p>
                  </a:txBody>
                  <a:tcPr/>
                </a:tc>
                <a:tc>
                  <a:txBody>
                    <a:bodyPr/>
                    <a:lstStyle/>
                    <a:p>
                      <a:pPr algn="ctr"/>
                      <a:r>
                        <a:rPr lang="zh-CN" altLang="en-US" dirty="0"/>
                        <a:t>年龄</a:t>
                      </a:r>
                    </a:p>
                  </a:txBody>
                  <a:tcPr/>
                </a:tc>
                <a:tc>
                  <a:txBody>
                    <a:bodyPr/>
                    <a:lstStyle/>
                    <a:p>
                      <a:pPr algn="ctr"/>
                      <a:r>
                        <a:rPr lang="zh-CN" altLang="en-US" dirty="0"/>
                        <a:t>身份证号码</a:t>
                      </a:r>
                    </a:p>
                  </a:txBody>
                  <a:tcPr/>
                </a:tc>
                <a:extLst>
                  <a:ext uri="{0D108BD9-81ED-4DB2-BD59-A6C34878D82A}">
                    <a16:rowId xmlns:a16="http://schemas.microsoft.com/office/drawing/2014/main" val="2498035954"/>
                  </a:ext>
                </a:extLst>
              </a:tr>
              <a:tr h="370840">
                <a:tc>
                  <a:txBody>
                    <a:bodyPr/>
                    <a:lstStyle/>
                    <a:p>
                      <a:pPr algn="ctr"/>
                      <a:r>
                        <a:rPr lang="en-US" altLang="zh-CN" dirty="0"/>
                        <a:t>2113</a:t>
                      </a:r>
                      <a:endParaRPr lang="zh-CN" altLang="en-US" dirty="0"/>
                    </a:p>
                  </a:txBody>
                  <a:tcPr/>
                </a:tc>
                <a:tc>
                  <a:txBody>
                    <a:bodyPr/>
                    <a:lstStyle/>
                    <a:p>
                      <a:pPr algn="ctr"/>
                      <a:r>
                        <a:rPr lang="zh-CN" altLang="en-US" dirty="0"/>
                        <a:t>程晓清</a:t>
                      </a:r>
                    </a:p>
                  </a:txBody>
                  <a:tcPr/>
                </a:tc>
                <a:tc>
                  <a:txBody>
                    <a:bodyPr/>
                    <a:lstStyle/>
                    <a:p>
                      <a:pPr algn="ctr"/>
                      <a:r>
                        <a:rPr lang="zh-CN" altLang="en-US" dirty="0"/>
                        <a:t>销售部</a:t>
                      </a:r>
                    </a:p>
                  </a:txBody>
                  <a:tcPr/>
                </a:tc>
                <a:tc>
                  <a:txBody>
                    <a:bodyPr/>
                    <a:lstStyle/>
                    <a:p>
                      <a:pPr algn="ctr"/>
                      <a:r>
                        <a:rPr lang="zh-CN" altLang="en-US" dirty="0"/>
                        <a:t>男</a:t>
                      </a:r>
                    </a:p>
                  </a:txBody>
                  <a:tcPr/>
                </a:tc>
                <a:tc>
                  <a:txBody>
                    <a:bodyPr/>
                    <a:lstStyle/>
                    <a:p>
                      <a:pPr algn="ctr"/>
                      <a:r>
                        <a:rPr lang="en-US" altLang="zh-CN" dirty="0"/>
                        <a:t>30</a:t>
                      </a:r>
                    </a:p>
                  </a:txBody>
                  <a:tcPr/>
                </a:tc>
                <a:tc>
                  <a:txBody>
                    <a:bodyPr/>
                    <a:lstStyle/>
                    <a:p>
                      <a:pPr algn="ctr"/>
                      <a:r>
                        <a:rPr lang="en-US" altLang="zh-CN" dirty="0"/>
                        <a:t>310110</a:t>
                      </a:r>
                      <a:r>
                        <a:rPr lang="zh-CN" altLang="en-US" dirty="0"/>
                        <a:t>****</a:t>
                      </a:r>
                      <a:r>
                        <a:rPr lang="en-US" altLang="zh-CN" dirty="0"/>
                        <a:t>03062405</a:t>
                      </a:r>
                      <a:endParaRPr lang="zh-CN" altLang="en-US" dirty="0"/>
                    </a:p>
                  </a:txBody>
                  <a:tcPr/>
                </a:tc>
                <a:extLst>
                  <a:ext uri="{0D108BD9-81ED-4DB2-BD59-A6C34878D82A}">
                    <a16:rowId xmlns:a16="http://schemas.microsoft.com/office/drawing/2014/main" val="225238229"/>
                  </a:ext>
                </a:extLst>
              </a:tr>
              <a:tr h="370840">
                <a:tc>
                  <a:txBody>
                    <a:bodyPr/>
                    <a:lstStyle/>
                    <a:p>
                      <a:pPr algn="ctr"/>
                      <a:r>
                        <a:rPr lang="en-US" altLang="zh-CN" dirty="0"/>
                        <a:t>2116</a:t>
                      </a:r>
                      <a:endParaRPr lang="zh-CN" altLang="en-US" dirty="0"/>
                    </a:p>
                  </a:txBody>
                  <a:tcPr/>
                </a:tc>
                <a:tc>
                  <a:txBody>
                    <a:bodyPr/>
                    <a:lstStyle/>
                    <a:p>
                      <a:pPr algn="ctr"/>
                      <a:r>
                        <a:rPr lang="zh-CN" altLang="en-US" dirty="0"/>
                        <a:t>刘红英</a:t>
                      </a:r>
                    </a:p>
                  </a:txBody>
                  <a:tcPr/>
                </a:tc>
                <a:tc>
                  <a:txBody>
                    <a:bodyPr/>
                    <a:lstStyle/>
                    <a:p>
                      <a:pPr algn="ctr"/>
                      <a:r>
                        <a:rPr lang="zh-CN" altLang="en-US" dirty="0"/>
                        <a:t>财务部</a:t>
                      </a:r>
                    </a:p>
                  </a:txBody>
                  <a:tcPr/>
                </a:tc>
                <a:tc>
                  <a:txBody>
                    <a:bodyPr/>
                    <a:lstStyle/>
                    <a:p>
                      <a:pPr algn="ctr"/>
                      <a:r>
                        <a:rPr lang="zh-CN" altLang="en-US" dirty="0"/>
                        <a:t>女</a:t>
                      </a:r>
                    </a:p>
                  </a:txBody>
                  <a:tcPr/>
                </a:tc>
                <a:tc>
                  <a:txBody>
                    <a:bodyPr/>
                    <a:lstStyle/>
                    <a:p>
                      <a:pPr algn="ctr"/>
                      <a:r>
                        <a:rPr lang="en-US" altLang="zh-CN" dirty="0"/>
                        <a:t>30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05062506</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4023512960"/>
                  </a:ext>
                </a:extLst>
              </a:tr>
              <a:tr h="370840">
                <a:tc>
                  <a:txBody>
                    <a:bodyPr/>
                    <a:lstStyle/>
                    <a:p>
                      <a:pPr algn="ctr"/>
                      <a:r>
                        <a:rPr lang="en-US" altLang="zh-CN" dirty="0"/>
                        <a:t>2136</a:t>
                      </a:r>
                      <a:endParaRPr lang="zh-CN" altLang="en-US" dirty="0"/>
                    </a:p>
                  </a:txBody>
                  <a:tcPr/>
                </a:tc>
                <a:tc>
                  <a:txBody>
                    <a:bodyPr/>
                    <a:lstStyle/>
                    <a:p>
                      <a:pPr algn="ctr"/>
                      <a:r>
                        <a:rPr lang="zh-CN" altLang="en-US" dirty="0"/>
                        <a:t>李小刚</a:t>
                      </a:r>
                    </a:p>
                  </a:txBody>
                  <a:tcPr/>
                </a:tc>
                <a:tc>
                  <a:txBody>
                    <a:bodyPr/>
                    <a:lstStyle/>
                    <a:p>
                      <a:pPr algn="ctr"/>
                      <a:r>
                        <a:rPr lang="zh-CN" altLang="en-US" dirty="0"/>
                        <a:t>管理部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男</a:t>
                      </a:r>
                    </a:p>
                  </a:txBody>
                  <a:tcPr/>
                </a:tc>
                <a:tc>
                  <a:txBody>
                    <a:bodyPr/>
                    <a:lstStyle/>
                    <a:p>
                      <a:pPr algn="ctr"/>
                      <a:r>
                        <a:rPr lang="en-US" altLang="zh-CN" dirty="0"/>
                        <a:t>28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06092507</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242727207"/>
                  </a:ext>
                </a:extLst>
              </a:tr>
              <a:tr h="370840">
                <a:tc>
                  <a:txBody>
                    <a:bodyPr/>
                    <a:lstStyle/>
                    <a:p>
                      <a:pPr algn="ctr"/>
                      <a:r>
                        <a:rPr lang="en-US" altLang="zh-CN" dirty="0"/>
                        <a:t>2138</a:t>
                      </a:r>
                      <a:endParaRPr lang="zh-CN" altLang="en-US" dirty="0"/>
                    </a:p>
                  </a:txBody>
                  <a:tcPr/>
                </a:tc>
                <a:tc>
                  <a:txBody>
                    <a:bodyPr/>
                    <a:lstStyle/>
                    <a:p>
                      <a:pPr algn="ctr"/>
                      <a:r>
                        <a:rPr lang="zh-CN" altLang="en-US" dirty="0"/>
                        <a:t>蒋明</a:t>
                      </a:r>
                    </a:p>
                  </a:txBody>
                  <a:tcPr/>
                </a:tc>
                <a:tc>
                  <a:txBody>
                    <a:bodyPr/>
                    <a:lstStyle/>
                    <a:p>
                      <a:pPr algn="ctr"/>
                      <a:r>
                        <a:rPr lang="zh-CN" altLang="en-US" dirty="0"/>
                        <a:t>采购部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男</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algn="ctr"/>
                      <a:r>
                        <a:rPr lang="en-US" altLang="zh-CN" dirty="0"/>
                        <a:t>41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08082405</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4071535767"/>
                  </a:ext>
                </a:extLst>
              </a:tr>
              <a:tr h="370840">
                <a:tc>
                  <a:txBody>
                    <a:bodyPr/>
                    <a:lstStyle/>
                    <a:p>
                      <a:pPr algn="ctr"/>
                      <a:r>
                        <a:rPr lang="en-US" altLang="zh-CN" dirty="0"/>
                        <a:t>2141</a:t>
                      </a:r>
                      <a:endParaRPr lang="zh-CN" altLang="en-US" dirty="0"/>
                    </a:p>
                  </a:txBody>
                  <a:tcPr/>
                </a:tc>
                <a:tc>
                  <a:txBody>
                    <a:bodyPr/>
                    <a:lstStyle/>
                    <a:p>
                      <a:pPr algn="ctr"/>
                      <a:r>
                        <a:rPr lang="zh-CN" altLang="en-US" dirty="0"/>
                        <a:t>王国洋</a:t>
                      </a:r>
                    </a:p>
                  </a:txBody>
                  <a:tcPr/>
                </a:tc>
                <a:tc>
                  <a:txBody>
                    <a:bodyPr/>
                    <a:lstStyle/>
                    <a:p>
                      <a:pPr algn="ctr"/>
                      <a:r>
                        <a:rPr lang="zh-CN" altLang="en-US" dirty="0"/>
                        <a:t>销售部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algn="ctr"/>
                      <a:r>
                        <a:rPr lang="en-US" altLang="zh-CN" dirty="0"/>
                        <a:t>39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09022407</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53225929"/>
                  </a:ext>
                </a:extLst>
              </a:tr>
            </a:tbl>
          </a:graphicData>
        </a:graphic>
      </p:graphicFrame>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49D71BF5-6008-3344-A2DC-DBD2620FE679}"/>
                  </a:ext>
                </a:extLst>
              </p:cNvPr>
              <p:cNvSpPr txBox="1"/>
              <p:nvPr/>
            </p:nvSpPr>
            <p:spPr>
              <a:xfrm>
                <a:off x="3872920" y="3316159"/>
                <a:ext cx="674479" cy="536685"/>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hr m:val="∏"/>
                          <m:ctrlPr>
                            <a:rPr kumimoji="1" lang="zh-CN" altLang="en-US" sz="1600" i="1" smtClean="0">
                              <a:solidFill>
                                <a:schemeClr val="bg1"/>
                              </a:solidFill>
                              <a:latin typeface="Cambria Math" panose="02040503050406030204" pitchFamily="18" charset="0"/>
                            </a:rPr>
                          </m:ctrlPr>
                        </m:naryPr>
                        <m:sub>
                          <m:r>
                            <m:rPr>
                              <m:sty m:val="p"/>
                              <m:brk m:alnAt="23"/>
                            </m:rPr>
                            <a:rPr lang="en-US" altLang="zh-CN" sz="1600" i="1">
                              <a:solidFill>
                                <a:schemeClr val="bg1"/>
                              </a:solidFill>
                              <a:latin typeface="Cambria Math" panose="02040503050406030204" pitchFamily="18" charset="0"/>
                            </a:rPr>
                            <m:t>i</m:t>
                          </m:r>
                          <m:r>
                            <a:rPr lang="en-US" altLang="zh-CN" sz="1600" b="0" i="1" smtClean="0">
                              <a:solidFill>
                                <a:schemeClr val="bg1"/>
                              </a:solidFill>
                              <a:latin typeface="Cambria Math" panose="02040503050406030204" pitchFamily="18" charset="0"/>
                            </a:rPr>
                            <m:t>=1</m:t>
                          </m:r>
                        </m:sub>
                        <m:sup>
                          <m:r>
                            <m:rPr>
                              <m:sty m:val="p"/>
                            </m:rPr>
                            <a:rPr lang="en-US" altLang="zh-CN" sz="1600" i="1">
                              <a:solidFill>
                                <a:schemeClr val="bg1"/>
                              </a:solidFill>
                              <a:latin typeface="Cambria Math" panose="02040503050406030204" pitchFamily="18" charset="0"/>
                            </a:rPr>
                            <m:t>n</m:t>
                          </m:r>
                        </m:sup>
                        <m:e>
                          <m:sSub>
                            <m:sSubPr>
                              <m:ctrlPr>
                                <a:rPr kumimoji="1" lang="en-US" altLang="zh-CN" sz="1600" i="1" smtClean="0">
                                  <a:solidFill>
                                    <a:schemeClr val="bg1"/>
                                  </a:solidFill>
                                  <a:latin typeface="Cambria Math" panose="02040503050406030204" pitchFamily="18" charset="0"/>
                                </a:rPr>
                              </m:ctrlPr>
                            </m:sSubPr>
                            <m:e>
                              <m:r>
                                <m:rPr>
                                  <m:sty m:val="p"/>
                                </m:rPr>
                                <a:rPr lang="en-US" altLang="zh-CN" sz="1600" i="1">
                                  <a:solidFill>
                                    <a:schemeClr val="bg1"/>
                                  </a:solidFill>
                                  <a:latin typeface="Cambria Math" panose="02040503050406030204" pitchFamily="18" charset="0"/>
                                </a:rPr>
                                <m:t>m</m:t>
                              </m:r>
                            </m:e>
                            <m:sub>
                              <m:r>
                                <m:rPr>
                                  <m:sty m:val="p"/>
                                </m:rPr>
                                <a:rPr lang="en-US" altLang="zh-CN" sz="1600" i="1">
                                  <a:solidFill>
                                    <a:schemeClr val="bg1"/>
                                  </a:solidFill>
                                  <a:latin typeface="Cambria Math" panose="02040503050406030204" pitchFamily="18" charset="0"/>
                                </a:rPr>
                                <m:t>i</m:t>
                              </m:r>
                            </m:sub>
                          </m:sSub>
                        </m:e>
                      </m:nary>
                    </m:oMath>
                  </m:oMathPara>
                </a14:m>
                <a:endParaRPr kumimoji="1" lang="zh-CN" altLang="en-US" sz="1600" dirty="0">
                  <a:solidFill>
                    <a:schemeClr val="bg1"/>
                  </a:solidFill>
                </a:endParaRPr>
              </a:p>
            </p:txBody>
          </p:sp>
        </mc:Choice>
        <mc:Fallback xmlns="">
          <p:sp>
            <p:nvSpPr>
              <p:cNvPr id="5" name="文本框 4">
                <a:extLst>
                  <a:ext uri="{FF2B5EF4-FFF2-40B4-BE49-F238E27FC236}">
                    <a16:creationId xmlns:a16="http://schemas.microsoft.com/office/drawing/2014/main" id="{49D71BF5-6008-3344-A2DC-DBD2620FE679}"/>
                  </a:ext>
                </a:extLst>
              </p:cNvPr>
              <p:cNvSpPr txBox="1">
                <a:spLocks noRot="1" noChangeAspect="1" noMove="1" noResize="1" noEditPoints="1" noAdjustHandles="1" noChangeArrowheads="1" noChangeShapeType="1" noTextEdit="1"/>
              </p:cNvSpPr>
              <p:nvPr/>
            </p:nvSpPr>
            <p:spPr>
              <a:xfrm>
                <a:off x="3872920" y="3316159"/>
                <a:ext cx="674479" cy="536685"/>
              </a:xfrm>
              <a:prstGeom prst="rect">
                <a:avLst/>
              </a:prstGeom>
              <a:blipFill>
                <a:blip r:embed="rId4"/>
                <a:stretch>
                  <a:fillRect l="-105455" t="-172093" r="-23636" b="-237209"/>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7048319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5972"/>
                                        </p:tgtEl>
                                        <p:attrNameLst>
                                          <p:attrName>style.visibility</p:attrName>
                                        </p:attrNameLst>
                                      </p:cBhvr>
                                      <p:to>
                                        <p:strVal val="visible"/>
                                      </p:to>
                                    </p:set>
                                    <p:animEffect transition="in" filter="blinds(horizontal)">
                                      <p:cBhvr>
                                        <p:cTn id="7" dur="500"/>
                                        <p:tgtEl>
                                          <p:spTgt spid="595972"/>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5"/>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grpId="0" nodeType="click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9"/>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grpId="0" nodeType="clickEffect">
                                  <p:stCondLst>
                                    <p:cond delay="0"/>
                                  </p:stCondLst>
                                  <p:childTnLst>
                                    <p:set>
                                      <p:cBhvr>
                                        <p:cTn id="27" dur="1" fill="hold">
                                          <p:stCondLst>
                                            <p:cond delay="0"/>
                                          </p:stCondLst>
                                        </p:cTn>
                                        <p:tgtEl>
                                          <p:spTgt spid="10"/>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childTnLst>
                                </p:cTn>
                              </p:par>
                            </p:childTnLst>
                          </p:cTn>
                        </p:par>
                      </p:childTnLst>
                    </p:cTn>
                  </p:par>
                  <p:par>
                    <p:cTn id="32" fill="hold">
                      <p:stCondLst>
                        <p:cond delay="indefinite"/>
                      </p:stCondLst>
                      <p:childTnLst>
                        <p:par>
                          <p:cTn id="33" fill="hold">
                            <p:stCondLst>
                              <p:cond delay="0"/>
                            </p:stCondLst>
                            <p:childTnLst>
                              <p:par>
                                <p:cTn id="34" presetID="1" presetClass="entr" presetSubtype="0" fill="hold" grpId="0" nodeType="clickEffect">
                                  <p:stCondLst>
                                    <p:cond delay="0"/>
                                  </p:stCondLst>
                                  <p:childTnLst>
                                    <p:set>
                                      <p:cBhvr>
                                        <p:cTn id="35" dur="1" fill="hold">
                                          <p:stCondLst>
                                            <p:cond delay="0"/>
                                          </p:stCondLst>
                                        </p:cTn>
                                        <p:tgtEl>
                                          <p:spTgt spid="12"/>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 presetClass="entr" presetSubtype="0" fill="hold" grpId="0" nodeType="clickEffect">
                                  <p:stCondLst>
                                    <p:cond delay="0"/>
                                  </p:stCondLst>
                                  <p:childTnLst>
                                    <p:set>
                                      <p:cBhvr>
                                        <p:cTn id="39"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5972" grpId="0"/>
      <p:bldP spid="8" grpId="0" animBg="1"/>
      <p:bldP spid="9" grpId="0" animBg="1"/>
      <p:bldP spid="10" grpId="0" animBg="1"/>
      <p:bldP spid="11" grpId="0" animBg="1"/>
      <p:bldP spid="12" grpId="0" animBg="1"/>
      <p:bldP spid="13" grpId="0" animBg="1"/>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5970" name="Rectangle 2"/>
          <p:cNvSpPr>
            <a:spLocks noChangeArrowheads="1"/>
          </p:cNvSpPr>
          <p:nvPr/>
        </p:nvSpPr>
        <p:spPr bwMode="auto">
          <a:xfrm>
            <a:off x="0" y="0"/>
            <a:ext cx="9036050" cy="212942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400" b="1" dirty="0">
                <a:solidFill>
                  <a:srgbClr val="000099"/>
                </a:solidFill>
                <a:latin typeface="Times New Roman" pitchFamily="18" charset="0"/>
              </a:rPr>
              <a:t>   </a:t>
            </a:r>
            <a:r>
              <a:rPr lang="zh-CN" altLang="en-US" sz="2800" b="1" dirty="0">
                <a:solidFill>
                  <a:srgbClr val="000099"/>
                </a:solidFill>
                <a:latin typeface="Times New Roman" pitchFamily="18" charset="0"/>
              </a:rPr>
              <a:t>二、数学定义</a:t>
            </a:r>
          </a:p>
          <a:p>
            <a:pPr algn="l" eaLnBrk="0" hangingPunct="0">
              <a:lnSpc>
                <a:spcPct val="150000"/>
              </a:lnSpc>
            </a:pPr>
            <a:r>
              <a:rPr lang="zh-CN" altLang="en-US" sz="2400" b="1" dirty="0">
                <a:solidFill>
                  <a:srgbClr val="660033"/>
                </a:solidFill>
              </a:rPr>
              <a:t>定义</a:t>
            </a:r>
            <a:r>
              <a:rPr lang="en-US" altLang="zh-CN" sz="2400" b="1" dirty="0">
                <a:solidFill>
                  <a:srgbClr val="660033"/>
                </a:solidFill>
              </a:rPr>
              <a:t>3.2</a:t>
            </a:r>
            <a:r>
              <a:rPr lang="zh-CN" altLang="en-US" sz="2400" b="1" dirty="0">
                <a:solidFill>
                  <a:srgbClr val="660033"/>
                </a:solidFill>
              </a:rPr>
              <a:t>： </a:t>
            </a:r>
            <a:r>
              <a:rPr lang="zh-CN" altLang="en-US" sz="2400" b="1" dirty="0">
                <a:solidFill>
                  <a:schemeClr val="bg2"/>
                </a:solidFill>
                <a:latin typeface="Times New Roman" pitchFamily="18" charset="0"/>
              </a:rPr>
              <a:t>关系的定义</a:t>
            </a:r>
            <a:endParaRPr lang="zh-CN" altLang="en-US" sz="2400" b="1" dirty="0">
              <a:solidFill>
                <a:schemeClr val="bg1"/>
              </a:solidFill>
              <a:latin typeface="Times New Roman" pitchFamily="18" charset="0"/>
            </a:endParaRPr>
          </a:p>
          <a:p>
            <a:pPr algn="l" eaLnBrk="0" hangingPunct="0">
              <a:lnSpc>
                <a:spcPct val="150000"/>
              </a:lnSpc>
            </a:pPr>
            <a:r>
              <a:rPr lang="zh-CN" altLang="en-US" sz="2400" b="1" dirty="0">
                <a:solidFill>
                  <a:srgbClr val="000099"/>
                </a:solidFill>
                <a:cs typeface="Times New Roman" pitchFamily="18" charset="0"/>
              </a:rPr>
              <a:t>②</a:t>
            </a:r>
            <a:r>
              <a:rPr lang="zh-CN" altLang="en-US" sz="2400" b="1" dirty="0">
                <a:solidFill>
                  <a:srgbClr val="000099"/>
                </a:solidFill>
              </a:rPr>
              <a:t>用值域的观点定义关系：</a:t>
            </a:r>
          </a:p>
        </p:txBody>
      </p:sp>
      <p:sp>
        <p:nvSpPr>
          <p:cNvPr id="595972" name="Rectangle 4"/>
          <p:cNvSpPr>
            <a:spLocks noChangeArrowheads="1"/>
          </p:cNvSpPr>
          <p:nvPr/>
        </p:nvSpPr>
        <p:spPr bwMode="auto">
          <a:xfrm>
            <a:off x="3670300" y="1484784"/>
            <a:ext cx="5365750" cy="74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eaLnBrk="0" hangingPunct="0">
              <a:lnSpc>
                <a:spcPct val="180000"/>
              </a:lnSpc>
            </a:pPr>
            <a:r>
              <a:rPr lang="zh-CN" altLang="en-US" sz="2400" b="1" dirty="0">
                <a:solidFill>
                  <a:srgbClr val="660033"/>
                </a:solidFill>
              </a:rPr>
              <a:t>关系是属性值域笛卡儿积的一个子集。</a:t>
            </a:r>
          </a:p>
        </p:txBody>
      </p:sp>
      <p:pic>
        <p:nvPicPr>
          <p:cNvPr id="3" name="图片 2" descr="文本, 信件&#10;&#10;描述已自动生成">
            <a:extLst>
              <a:ext uri="{FF2B5EF4-FFF2-40B4-BE49-F238E27FC236}">
                <a16:creationId xmlns:a16="http://schemas.microsoft.com/office/drawing/2014/main" id="{8F2654FF-386A-C841-B934-B354874B7ABB}"/>
              </a:ext>
            </a:extLst>
          </p:cNvPr>
          <p:cNvPicPr>
            <a:picLocks noChangeAspect="1"/>
          </p:cNvPicPr>
          <p:nvPr/>
        </p:nvPicPr>
        <p:blipFill rotWithShape="1">
          <a:blip r:embed="rId3">
            <a:biLevel thresh="75000"/>
            <a:extLst>
              <a:ext uri="{28A0092B-C50C-407E-A947-70E740481C1C}">
                <a14:useLocalDpi xmlns:a14="http://schemas.microsoft.com/office/drawing/2010/main" val="0"/>
              </a:ext>
            </a:extLst>
          </a:blip>
          <a:srcRect l="14458" t="15750" r="29638" b="65266"/>
          <a:stretch/>
        </p:blipFill>
        <p:spPr>
          <a:xfrm>
            <a:off x="71561" y="2171985"/>
            <a:ext cx="8964489" cy="2283234"/>
          </a:xfrm>
          <a:prstGeom prst="rect">
            <a:avLst/>
          </a:prstGeom>
        </p:spPr>
      </p:pic>
      <p:sp>
        <p:nvSpPr>
          <p:cNvPr id="14" name="文本框 13">
            <a:extLst>
              <a:ext uri="{FF2B5EF4-FFF2-40B4-BE49-F238E27FC236}">
                <a16:creationId xmlns:a16="http://schemas.microsoft.com/office/drawing/2014/main" id="{FC9B518B-A069-6A44-B955-BC04D04B2AC9}"/>
              </a:ext>
            </a:extLst>
          </p:cNvPr>
          <p:cNvSpPr txBox="1"/>
          <p:nvPr/>
        </p:nvSpPr>
        <p:spPr>
          <a:xfrm>
            <a:off x="430902" y="4645996"/>
            <a:ext cx="3240360" cy="338554"/>
          </a:xfrm>
          <a:prstGeom prst="rect">
            <a:avLst/>
          </a:prstGeom>
          <a:noFill/>
        </p:spPr>
        <p:txBody>
          <a:bodyPr wrap="square" rtlCol="0">
            <a:spAutoFit/>
          </a:bodyPr>
          <a:lstStyle/>
          <a:p>
            <a:r>
              <a:rPr kumimoji="1" lang="en-US" altLang="zh-CN" sz="2000" dirty="0">
                <a:solidFill>
                  <a:schemeClr val="bg2"/>
                </a:solidFill>
              </a:rPr>
              <a:t>D</a:t>
            </a:r>
            <a:r>
              <a:rPr kumimoji="1" lang="en-US" altLang="zh-CN" sz="2000" baseline="-25000" dirty="0">
                <a:solidFill>
                  <a:schemeClr val="bg2"/>
                </a:solidFill>
              </a:rPr>
              <a:t>1</a:t>
            </a:r>
            <a:r>
              <a:rPr kumimoji="1" lang="en-US" altLang="zh-CN" sz="2000" dirty="0">
                <a:solidFill>
                  <a:schemeClr val="bg2"/>
                </a:solidFill>
              </a:rPr>
              <a:t>={</a:t>
            </a:r>
            <a:r>
              <a:rPr kumimoji="1" lang="zh-CN" altLang="en-US" sz="2000" dirty="0">
                <a:solidFill>
                  <a:schemeClr val="bg2"/>
                </a:solidFill>
              </a:rPr>
              <a:t>沈俊，郑宇，刘悦</a:t>
            </a:r>
            <a:r>
              <a:rPr kumimoji="1" lang="en-US" altLang="zh-CN" sz="2000" dirty="0">
                <a:solidFill>
                  <a:schemeClr val="bg2"/>
                </a:solidFill>
              </a:rPr>
              <a:t>}</a:t>
            </a:r>
            <a:endParaRPr kumimoji="1" lang="zh-CN" altLang="en-US" sz="2000" dirty="0">
              <a:solidFill>
                <a:schemeClr val="bg2"/>
              </a:solidFill>
            </a:endParaRPr>
          </a:p>
        </p:txBody>
      </p:sp>
      <p:sp>
        <p:nvSpPr>
          <p:cNvPr id="15" name="文本框 14">
            <a:extLst>
              <a:ext uri="{FF2B5EF4-FFF2-40B4-BE49-F238E27FC236}">
                <a16:creationId xmlns:a16="http://schemas.microsoft.com/office/drawing/2014/main" id="{3FD9A26F-53C9-6A4A-A247-799A695EB9C5}"/>
              </a:ext>
            </a:extLst>
          </p:cNvPr>
          <p:cNvSpPr txBox="1"/>
          <p:nvPr/>
        </p:nvSpPr>
        <p:spPr>
          <a:xfrm>
            <a:off x="3331994" y="4623917"/>
            <a:ext cx="5467932" cy="338554"/>
          </a:xfrm>
          <a:prstGeom prst="rect">
            <a:avLst/>
          </a:prstGeom>
          <a:noFill/>
        </p:spPr>
        <p:txBody>
          <a:bodyPr wrap="square" rtlCol="0">
            <a:spAutoFit/>
          </a:bodyPr>
          <a:lstStyle/>
          <a:p>
            <a:r>
              <a:rPr kumimoji="1" lang="en-US" altLang="zh-CN" sz="2000" dirty="0">
                <a:solidFill>
                  <a:schemeClr val="bg2"/>
                </a:solidFill>
              </a:rPr>
              <a:t>D</a:t>
            </a:r>
            <a:r>
              <a:rPr kumimoji="1" lang="en-US" altLang="zh-CN" sz="2000" baseline="-25000" dirty="0">
                <a:solidFill>
                  <a:schemeClr val="bg2"/>
                </a:solidFill>
              </a:rPr>
              <a:t>2</a:t>
            </a:r>
            <a:r>
              <a:rPr kumimoji="1" lang="en-US" altLang="zh-CN" sz="2000" dirty="0">
                <a:solidFill>
                  <a:schemeClr val="bg2"/>
                </a:solidFill>
              </a:rPr>
              <a:t>={</a:t>
            </a:r>
            <a:r>
              <a:rPr kumimoji="1" lang="zh-CN" altLang="en-US" sz="2000" dirty="0">
                <a:solidFill>
                  <a:schemeClr val="bg2"/>
                </a:solidFill>
              </a:rPr>
              <a:t>数据结构，数据库，软件工程，编译原理</a:t>
            </a:r>
            <a:r>
              <a:rPr kumimoji="1" lang="en-US" altLang="zh-CN" sz="2000" dirty="0">
                <a:solidFill>
                  <a:schemeClr val="bg2"/>
                </a:solidFill>
              </a:rPr>
              <a:t>}</a:t>
            </a:r>
            <a:endParaRPr kumimoji="1" lang="zh-CN" altLang="en-US" sz="2000" dirty="0">
              <a:solidFill>
                <a:schemeClr val="bg2"/>
              </a:solidFill>
            </a:endParaRPr>
          </a:p>
        </p:txBody>
      </p:sp>
      <p:sp>
        <p:nvSpPr>
          <p:cNvPr id="16" name="文本框 15">
            <a:extLst>
              <a:ext uri="{FF2B5EF4-FFF2-40B4-BE49-F238E27FC236}">
                <a16:creationId xmlns:a16="http://schemas.microsoft.com/office/drawing/2014/main" id="{F63470C2-05EA-BC4F-8B0B-DDE690151AEF}"/>
              </a:ext>
            </a:extLst>
          </p:cNvPr>
          <p:cNvSpPr txBox="1"/>
          <p:nvPr/>
        </p:nvSpPr>
        <p:spPr>
          <a:xfrm>
            <a:off x="-53685" y="5301027"/>
            <a:ext cx="9325098" cy="738664"/>
          </a:xfrm>
          <a:prstGeom prst="rect">
            <a:avLst/>
          </a:prstGeom>
          <a:noFill/>
        </p:spPr>
        <p:txBody>
          <a:bodyPr wrap="square" rtlCol="0">
            <a:spAutoFit/>
          </a:bodyPr>
          <a:lstStyle/>
          <a:p>
            <a:r>
              <a:rPr lang="zh-CN" altLang="en-US" sz="2000" dirty="0">
                <a:solidFill>
                  <a:schemeClr val="bg2"/>
                </a:solidFill>
              </a:rPr>
              <a:t> </a:t>
            </a:r>
            <a:r>
              <a:rPr lang="en-US" altLang="zh-CN" sz="2000" dirty="0">
                <a:solidFill>
                  <a:schemeClr val="bg2"/>
                </a:solidFill>
              </a:rPr>
              <a:t>D</a:t>
            </a:r>
            <a:r>
              <a:rPr lang="en-US" altLang="zh-CN" sz="2000" baseline="-25000" dirty="0">
                <a:solidFill>
                  <a:schemeClr val="bg2"/>
                </a:solidFill>
              </a:rPr>
              <a:t>1 </a:t>
            </a:r>
            <a:r>
              <a:rPr lang="zh-CN" altLang="en-US" sz="2000" dirty="0">
                <a:solidFill>
                  <a:schemeClr val="bg2"/>
                </a:solidFill>
              </a:rPr>
              <a:t>和</a:t>
            </a:r>
            <a:r>
              <a:rPr lang="zh-CN" altLang="en-US" sz="2000" baseline="-25000" dirty="0">
                <a:solidFill>
                  <a:schemeClr val="bg2"/>
                </a:solidFill>
              </a:rPr>
              <a:t> </a:t>
            </a:r>
            <a:r>
              <a:rPr lang="en-US" altLang="zh-CN" sz="2000" dirty="0">
                <a:solidFill>
                  <a:schemeClr val="bg2"/>
                </a:solidFill>
              </a:rPr>
              <a:t>D</a:t>
            </a:r>
            <a:r>
              <a:rPr lang="en-US" altLang="zh-CN" sz="2000" baseline="-25000" dirty="0">
                <a:solidFill>
                  <a:schemeClr val="bg2"/>
                </a:solidFill>
              </a:rPr>
              <a:t>2 </a:t>
            </a:r>
            <a:r>
              <a:rPr lang="zh-CN" altLang="en-US" sz="2000" dirty="0">
                <a:solidFill>
                  <a:schemeClr val="bg2"/>
                </a:solidFill>
              </a:rPr>
              <a:t>的笛卡尔积为：</a:t>
            </a:r>
            <a:r>
              <a:rPr lang="en-US" altLang="zh-CN" sz="2000" dirty="0">
                <a:solidFill>
                  <a:schemeClr val="bg2"/>
                </a:solidFill>
              </a:rPr>
              <a:t> D</a:t>
            </a:r>
            <a:r>
              <a:rPr lang="en-US" altLang="zh-CN" sz="2000" baseline="-25000" dirty="0">
                <a:solidFill>
                  <a:schemeClr val="bg2"/>
                </a:solidFill>
              </a:rPr>
              <a:t>1 </a:t>
            </a:r>
            <a:r>
              <a:rPr lang="zh-CN" altLang="en-US" sz="2000" dirty="0">
                <a:solidFill>
                  <a:schemeClr val="bg2"/>
                </a:solidFill>
              </a:rPr>
              <a:t>✕</a:t>
            </a:r>
            <a:r>
              <a:rPr lang="zh-CN" altLang="en-US" sz="2000" baseline="-25000" dirty="0">
                <a:solidFill>
                  <a:schemeClr val="bg2"/>
                </a:solidFill>
              </a:rPr>
              <a:t> </a:t>
            </a:r>
            <a:r>
              <a:rPr lang="en-US" altLang="zh-CN" sz="2000" dirty="0">
                <a:solidFill>
                  <a:schemeClr val="bg2"/>
                </a:solidFill>
              </a:rPr>
              <a:t>D</a:t>
            </a:r>
            <a:r>
              <a:rPr lang="en-US" altLang="zh-CN" sz="2000" baseline="-25000" dirty="0">
                <a:solidFill>
                  <a:schemeClr val="bg2"/>
                </a:solidFill>
              </a:rPr>
              <a:t>2</a:t>
            </a:r>
            <a:r>
              <a:rPr lang="en-US" altLang="zh-CN" sz="2000" dirty="0">
                <a:solidFill>
                  <a:schemeClr val="bg2"/>
                </a:solidFill>
              </a:rPr>
              <a:t>=</a:t>
            </a:r>
          </a:p>
          <a:p>
            <a:r>
              <a:rPr kumimoji="1" lang="zh-CN" altLang="en-US" sz="2000" dirty="0">
                <a:solidFill>
                  <a:schemeClr val="bg2"/>
                </a:solidFill>
              </a:rPr>
              <a:t>     </a:t>
            </a:r>
            <a:r>
              <a:rPr kumimoji="1" lang="en-US" altLang="zh-CN" sz="2000" dirty="0">
                <a:solidFill>
                  <a:schemeClr val="bg2"/>
                </a:solidFill>
              </a:rPr>
              <a:t>{</a:t>
            </a:r>
            <a:r>
              <a:rPr lang="en-US" altLang="zh-CN" sz="2000" dirty="0">
                <a:solidFill>
                  <a:schemeClr val="bg2"/>
                </a:solidFill>
              </a:rPr>
              <a:t>(</a:t>
            </a:r>
            <a:r>
              <a:rPr kumimoji="1" lang="zh-CN" altLang="en-US" sz="2000" dirty="0">
                <a:solidFill>
                  <a:schemeClr val="bg2"/>
                </a:solidFill>
              </a:rPr>
              <a:t>沈俊</a:t>
            </a:r>
            <a:r>
              <a:rPr kumimoji="1" lang="en-US" altLang="zh-CN" sz="2000" dirty="0">
                <a:solidFill>
                  <a:schemeClr val="bg2"/>
                </a:solidFill>
              </a:rPr>
              <a:t>,</a:t>
            </a:r>
            <a:r>
              <a:rPr kumimoji="1" lang="zh-CN" altLang="en-US" sz="2000" dirty="0">
                <a:solidFill>
                  <a:schemeClr val="bg2"/>
                </a:solidFill>
              </a:rPr>
              <a:t>数据结构</a:t>
            </a:r>
            <a:r>
              <a:rPr kumimoji="1" lang="en-US" altLang="zh-CN" sz="2000" dirty="0">
                <a:solidFill>
                  <a:schemeClr val="bg2"/>
                </a:solidFill>
              </a:rPr>
              <a:t>),(</a:t>
            </a:r>
            <a:r>
              <a:rPr lang="zh-CN" altLang="en-US" sz="2000" dirty="0">
                <a:solidFill>
                  <a:schemeClr val="bg2"/>
                </a:solidFill>
              </a:rPr>
              <a:t>沈俊</a:t>
            </a:r>
            <a:r>
              <a:rPr lang="en-US" altLang="zh-CN" sz="2000" dirty="0">
                <a:solidFill>
                  <a:schemeClr val="bg2"/>
                </a:solidFill>
              </a:rPr>
              <a:t>,</a:t>
            </a:r>
            <a:r>
              <a:rPr kumimoji="1" lang="zh-CN" altLang="en-US" sz="2000" dirty="0">
                <a:solidFill>
                  <a:schemeClr val="bg2"/>
                </a:solidFill>
              </a:rPr>
              <a:t>数据库</a:t>
            </a:r>
            <a:r>
              <a:rPr kumimoji="1" lang="en-US" altLang="zh-CN" sz="2000" dirty="0">
                <a:solidFill>
                  <a:schemeClr val="bg2"/>
                </a:solidFill>
              </a:rPr>
              <a:t>),</a:t>
            </a:r>
            <a:r>
              <a:rPr lang="en-US" altLang="zh-CN" sz="2000" dirty="0">
                <a:solidFill>
                  <a:schemeClr val="bg2"/>
                </a:solidFill>
              </a:rPr>
              <a:t>(</a:t>
            </a:r>
            <a:r>
              <a:rPr lang="zh-CN" altLang="en-US" sz="2000" dirty="0">
                <a:solidFill>
                  <a:schemeClr val="bg2"/>
                </a:solidFill>
              </a:rPr>
              <a:t>沈俊</a:t>
            </a:r>
            <a:r>
              <a:rPr lang="en-US" altLang="zh-CN" sz="2000" dirty="0">
                <a:solidFill>
                  <a:schemeClr val="bg2"/>
                </a:solidFill>
              </a:rPr>
              <a:t>,</a:t>
            </a:r>
            <a:r>
              <a:rPr kumimoji="1" lang="zh-CN" altLang="en-US" sz="2000" dirty="0">
                <a:solidFill>
                  <a:schemeClr val="bg2"/>
                </a:solidFill>
              </a:rPr>
              <a:t>软件工程</a:t>
            </a:r>
            <a:r>
              <a:rPr lang="en-US" altLang="zh-CN" sz="2000" dirty="0">
                <a:solidFill>
                  <a:schemeClr val="bg2"/>
                </a:solidFill>
              </a:rPr>
              <a:t>),</a:t>
            </a:r>
            <a:r>
              <a:rPr lang="zh-CN" altLang="en-US" sz="2000" dirty="0">
                <a:solidFill>
                  <a:schemeClr val="bg2"/>
                </a:solidFill>
              </a:rPr>
              <a:t> </a:t>
            </a:r>
            <a:r>
              <a:rPr lang="en-US" altLang="zh-CN" sz="2000" dirty="0">
                <a:solidFill>
                  <a:schemeClr val="bg2"/>
                </a:solidFill>
              </a:rPr>
              <a:t>(</a:t>
            </a:r>
            <a:r>
              <a:rPr lang="zh-CN" altLang="en-US" sz="2000" dirty="0">
                <a:solidFill>
                  <a:schemeClr val="bg2"/>
                </a:solidFill>
              </a:rPr>
              <a:t>沈俊</a:t>
            </a:r>
            <a:r>
              <a:rPr lang="en-US" altLang="zh-CN" sz="2000" dirty="0">
                <a:solidFill>
                  <a:schemeClr val="bg2"/>
                </a:solidFill>
              </a:rPr>
              <a:t>,</a:t>
            </a:r>
            <a:r>
              <a:rPr kumimoji="1" lang="zh-CN" altLang="en-US" sz="2000" dirty="0">
                <a:solidFill>
                  <a:schemeClr val="bg2"/>
                </a:solidFill>
              </a:rPr>
              <a:t>编译原理</a:t>
            </a:r>
            <a:r>
              <a:rPr kumimoji="1" lang="en-US" altLang="zh-CN" sz="2000" dirty="0">
                <a:solidFill>
                  <a:schemeClr val="bg2"/>
                </a:solidFill>
              </a:rPr>
              <a:t>)</a:t>
            </a:r>
            <a:r>
              <a:rPr kumimoji="1" lang="zh-CN" altLang="en-US" sz="2000" dirty="0">
                <a:solidFill>
                  <a:schemeClr val="bg2"/>
                </a:solidFill>
              </a:rPr>
              <a:t>，</a:t>
            </a:r>
          </a:p>
        </p:txBody>
      </p:sp>
      <p:sp>
        <p:nvSpPr>
          <p:cNvPr id="32" name="文本框 31">
            <a:extLst>
              <a:ext uri="{FF2B5EF4-FFF2-40B4-BE49-F238E27FC236}">
                <a16:creationId xmlns:a16="http://schemas.microsoft.com/office/drawing/2014/main" id="{2B871F4A-DE27-2946-A276-3EFF0AA1BA15}"/>
              </a:ext>
            </a:extLst>
          </p:cNvPr>
          <p:cNvSpPr txBox="1"/>
          <p:nvPr/>
        </p:nvSpPr>
        <p:spPr>
          <a:xfrm>
            <a:off x="-1136732" y="6056793"/>
            <a:ext cx="9936658" cy="338554"/>
          </a:xfrm>
          <a:prstGeom prst="rect">
            <a:avLst/>
          </a:prstGeom>
          <a:noFill/>
        </p:spPr>
        <p:txBody>
          <a:bodyPr wrap="square" rtlCol="0">
            <a:spAutoFit/>
          </a:bodyPr>
          <a:lstStyle/>
          <a:p>
            <a:r>
              <a:rPr lang="zh-CN" altLang="en-US" sz="2000" dirty="0">
                <a:solidFill>
                  <a:schemeClr val="bg2"/>
                </a:solidFill>
              </a:rPr>
              <a:t>              </a:t>
            </a:r>
            <a:r>
              <a:rPr lang="en-US" altLang="zh-CN" sz="2000" dirty="0">
                <a:solidFill>
                  <a:schemeClr val="bg2"/>
                </a:solidFill>
              </a:rPr>
              <a:t>(</a:t>
            </a:r>
            <a:r>
              <a:rPr lang="zh-CN" altLang="en-US" sz="2000" dirty="0">
                <a:solidFill>
                  <a:schemeClr val="bg2"/>
                </a:solidFill>
              </a:rPr>
              <a:t>郑宇</a:t>
            </a:r>
            <a:r>
              <a:rPr kumimoji="1" lang="en-US" altLang="zh-CN" sz="2000" dirty="0">
                <a:solidFill>
                  <a:schemeClr val="bg2"/>
                </a:solidFill>
              </a:rPr>
              <a:t>,</a:t>
            </a:r>
            <a:r>
              <a:rPr kumimoji="1" lang="zh-CN" altLang="en-US" sz="2000" dirty="0">
                <a:solidFill>
                  <a:schemeClr val="bg2"/>
                </a:solidFill>
              </a:rPr>
              <a:t>数据结构</a:t>
            </a:r>
            <a:r>
              <a:rPr kumimoji="1" lang="en-US" altLang="zh-CN" sz="2000" dirty="0">
                <a:solidFill>
                  <a:schemeClr val="bg2"/>
                </a:solidFill>
              </a:rPr>
              <a:t>),(</a:t>
            </a:r>
            <a:r>
              <a:rPr lang="zh-CN" altLang="en-US" sz="2000" dirty="0">
                <a:solidFill>
                  <a:schemeClr val="bg2"/>
                </a:solidFill>
              </a:rPr>
              <a:t>郑宇</a:t>
            </a:r>
            <a:r>
              <a:rPr lang="en-US" altLang="zh-CN" sz="2000" dirty="0">
                <a:solidFill>
                  <a:schemeClr val="bg2"/>
                </a:solidFill>
              </a:rPr>
              <a:t>,</a:t>
            </a:r>
            <a:r>
              <a:rPr kumimoji="1" lang="zh-CN" altLang="en-US" sz="2000" dirty="0">
                <a:solidFill>
                  <a:schemeClr val="bg2"/>
                </a:solidFill>
              </a:rPr>
              <a:t>数据库</a:t>
            </a:r>
            <a:r>
              <a:rPr kumimoji="1" lang="en-US" altLang="zh-CN" sz="2000" dirty="0">
                <a:solidFill>
                  <a:schemeClr val="bg2"/>
                </a:solidFill>
              </a:rPr>
              <a:t>),</a:t>
            </a:r>
            <a:r>
              <a:rPr lang="en-US" altLang="zh-CN" sz="2000" dirty="0">
                <a:solidFill>
                  <a:schemeClr val="bg2"/>
                </a:solidFill>
              </a:rPr>
              <a:t>(</a:t>
            </a:r>
            <a:r>
              <a:rPr lang="zh-CN" altLang="en-US" sz="2000" dirty="0">
                <a:solidFill>
                  <a:schemeClr val="bg2"/>
                </a:solidFill>
              </a:rPr>
              <a:t>郑宇</a:t>
            </a:r>
            <a:r>
              <a:rPr lang="en-US" altLang="zh-CN" sz="2000" dirty="0">
                <a:solidFill>
                  <a:schemeClr val="bg2"/>
                </a:solidFill>
              </a:rPr>
              <a:t>,</a:t>
            </a:r>
            <a:r>
              <a:rPr kumimoji="1" lang="zh-CN" altLang="en-US" sz="2000" dirty="0">
                <a:solidFill>
                  <a:schemeClr val="bg2"/>
                </a:solidFill>
              </a:rPr>
              <a:t>软件工程</a:t>
            </a:r>
            <a:r>
              <a:rPr lang="en-US" altLang="zh-CN" sz="2000" dirty="0">
                <a:solidFill>
                  <a:schemeClr val="bg2"/>
                </a:solidFill>
              </a:rPr>
              <a:t>),</a:t>
            </a:r>
            <a:r>
              <a:rPr lang="zh-CN" altLang="en-US" sz="2000" dirty="0">
                <a:solidFill>
                  <a:schemeClr val="bg2"/>
                </a:solidFill>
              </a:rPr>
              <a:t> </a:t>
            </a:r>
            <a:r>
              <a:rPr lang="en-US" altLang="zh-CN" sz="2000" dirty="0">
                <a:solidFill>
                  <a:schemeClr val="bg2"/>
                </a:solidFill>
              </a:rPr>
              <a:t>(</a:t>
            </a:r>
            <a:r>
              <a:rPr lang="zh-CN" altLang="en-US" sz="2000" dirty="0">
                <a:solidFill>
                  <a:schemeClr val="bg2"/>
                </a:solidFill>
              </a:rPr>
              <a:t>郑宇</a:t>
            </a:r>
            <a:r>
              <a:rPr lang="en-US" altLang="zh-CN" sz="2000" dirty="0">
                <a:solidFill>
                  <a:schemeClr val="bg2"/>
                </a:solidFill>
              </a:rPr>
              <a:t>,</a:t>
            </a:r>
            <a:r>
              <a:rPr kumimoji="1" lang="zh-CN" altLang="en-US" sz="2000" dirty="0">
                <a:solidFill>
                  <a:schemeClr val="bg2"/>
                </a:solidFill>
              </a:rPr>
              <a:t>编译原理</a:t>
            </a:r>
            <a:r>
              <a:rPr kumimoji="1" lang="en-US" altLang="zh-CN" sz="2000" dirty="0">
                <a:solidFill>
                  <a:schemeClr val="bg2"/>
                </a:solidFill>
              </a:rPr>
              <a:t>)</a:t>
            </a:r>
            <a:r>
              <a:rPr kumimoji="1" lang="zh-CN" altLang="en-US" sz="2000" dirty="0">
                <a:solidFill>
                  <a:schemeClr val="bg2"/>
                </a:solidFill>
              </a:rPr>
              <a:t>，</a:t>
            </a:r>
          </a:p>
        </p:txBody>
      </p:sp>
      <p:sp>
        <p:nvSpPr>
          <p:cNvPr id="33" name="文本框 32">
            <a:extLst>
              <a:ext uri="{FF2B5EF4-FFF2-40B4-BE49-F238E27FC236}">
                <a16:creationId xmlns:a16="http://schemas.microsoft.com/office/drawing/2014/main" id="{5A1992C9-EB9E-2444-A6C7-957AAC25E01A}"/>
              </a:ext>
            </a:extLst>
          </p:cNvPr>
          <p:cNvSpPr txBox="1"/>
          <p:nvPr/>
        </p:nvSpPr>
        <p:spPr>
          <a:xfrm>
            <a:off x="-155285" y="6429552"/>
            <a:ext cx="9325098" cy="338554"/>
          </a:xfrm>
          <a:prstGeom prst="rect">
            <a:avLst/>
          </a:prstGeom>
          <a:noFill/>
        </p:spPr>
        <p:txBody>
          <a:bodyPr wrap="square" rtlCol="0">
            <a:spAutoFit/>
          </a:bodyPr>
          <a:lstStyle/>
          <a:p>
            <a:r>
              <a:rPr lang="zh-CN" altLang="en-US" sz="2000" dirty="0">
                <a:solidFill>
                  <a:schemeClr val="bg2"/>
                </a:solidFill>
              </a:rPr>
              <a:t>       </a:t>
            </a:r>
            <a:r>
              <a:rPr lang="en-US" altLang="zh-CN" sz="2000" dirty="0">
                <a:solidFill>
                  <a:schemeClr val="bg2"/>
                </a:solidFill>
              </a:rPr>
              <a:t>(</a:t>
            </a:r>
            <a:r>
              <a:rPr lang="zh-CN" altLang="en-US" sz="2000" dirty="0">
                <a:solidFill>
                  <a:schemeClr val="bg2"/>
                </a:solidFill>
              </a:rPr>
              <a:t>刘悦</a:t>
            </a:r>
            <a:r>
              <a:rPr kumimoji="1" lang="en-US" altLang="zh-CN" sz="2000" dirty="0">
                <a:solidFill>
                  <a:schemeClr val="bg2"/>
                </a:solidFill>
              </a:rPr>
              <a:t>,</a:t>
            </a:r>
            <a:r>
              <a:rPr kumimoji="1" lang="zh-CN" altLang="en-US" sz="2000" dirty="0">
                <a:solidFill>
                  <a:schemeClr val="bg2"/>
                </a:solidFill>
              </a:rPr>
              <a:t>数据结构</a:t>
            </a:r>
            <a:r>
              <a:rPr kumimoji="1" lang="en-US" altLang="zh-CN" sz="2000" dirty="0">
                <a:solidFill>
                  <a:schemeClr val="bg2"/>
                </a:solidFill>
              </a:rPr>
              <a:t>),(</a:t>
            </a:r>
            <a:r>
              <a:rPr lang="zh-CN" altLang="en-US" sz="2000" dirty="0">
                <a:solidFill>
                  <a:schemeClr val="bg2"/>
                </a:solidFill>
              </a:rPr>
              <a:t>刘悦</a:t>
            </a:r>
            <a:r>
              <a:rPr lang="en-US" altLang="zh-CN" sz="2000" dirty="0">
                <a:solidFill>
                  <a:schemeClr val="bg2"/>
                </a:solidFill>
              </a:rPr>
              <a:t>,</a:t>
            </a:r>
            <a:r>
              <a:rPr kumimoji="1" lang="zh-CN" altLang="en-US" sz="2000" dirty="0">
                <a:solidFill>
                  <a:schemeClr val="bg2"/>
                </a:solidFill>
              </a:rPr>
              <a:t>数据库</a:t>
            </a:r>
            <a:r>
              <a:rPr kumimoji="1" lang="en-US" altLang="zh-CN" sz="2000" dirty="0">
                <a:solidFill>
                  <a:schemeClr val="bg2"/>
                </a:solidFill>
              </a:rPr>
              <a:t>),</a:t>
            </a:r>
            <a:r>
              <a:rPr lang="en-US" altLang="zh-CN" sz="2000" dirty="0">
                <a:solidFill>
                  <a:schemeClr val="bg2"/>
                </a:solidFill>
              </a:rPr>
              <a:t>(</a:t>
            </a:r>
            <a:r>
              <a:rPr lang="zh-CN" altLang="en-US" sz="2000" dirty="0">
                <a:solidFill>
                  <a:schemeClr val="bg2"/>
                </a:solidFill>
              </a:rPr>
              <a:t>刘悦</a:t>
            </a:r>
            <a:r>
              <a:rPr lang="en-US" altLang="zh-CN" sz="2000" dirty="0">
                <a:solidFill>
                  <a:schemeClr val="bg2"/>
                </a:solidFill>
              </a:rPr>
              <a:t>,</a:t>
            </a:r>
            <a:r>
              <a:rPr kumimoji="1" lang="zh-CN" altLang="en-US" sz="2000" dirty="0">
                <a:solidFill>
                  <a:schemeClr val="bg2"/>
                </a:solidFill>
              </a:rPr>
              <a:t>软件工程</a:t>
            </a:r>
            <a:r>
              <a:rPr lang="en-US" altLang="zh-CN" sz="2000" dirty="0">
                <a:solidFill>
                  <a:schemeClr val="bg2"/>
                </a:solidFill>
              </a:rPr>
              <a:t>),</a:t>
            </a:r>
            <a:r>
              <a:rPr lang="zh-CN" altLang="en-US" sz="2000" dirty="0">
                <a:solidFill>
                  <a:schemeClr val="bg2"/>
                </a:solidFill>
              </a:rPr>
              <a:t> </a:t>
            </a:r>
            <a:r>
              <a:rPr lang="en-US" altLang="zh-CN" sz="2000" dirty="0">
                <a:solidFill>
                  <a:schemeClr val="bg2"/>
                </a:solidFill>
              </a:rPr>
              <a:t>(</a:t>
            </a:r>
            <a:r>
              <a:rPr lang="zh-CN" altLang="en-US" sz="2000" dirty="0">
                <a:solidFill>
                  <a:schemeClr val="bg2"/>
                </a:solidFill>
              </a:rPr>
              <a:t>刘悦</a:t>
            </a:r>
            <a:r>
              <a:rPr lang="en-US" altLang="zh-CN" sz="2000" dirty="0">
                <a:solidFill>
                  <a:schemeClr val="bg2"/>
                </a:solidFill>
              </a:rPr>
              <a:t>,</a:t>
            </a:r>
            <a:r>
              <a:rPr kumimoji="1" lang="zh-CN" altLang="en-US" sz="2000" dirty="0">
                <a:solidFill>
                  <a:schemeClr val="bg2"/>
                </a:solidFill>
              </a:rPr>
              <a:t>编译原理</a:t>
            </a:r>
            <a:r>
              <a:rPr kumimoji="1" lang="en-US" altLang="zh-CN" sz="2000" dirty="0">
                <a:solidFill>
                  <a:schemeClr val="bg2"/>
                </a:solidFill>
              </a:rPr>
              <a:t>)}</a:t>
            </a:r>
            <a:endParaRPr kumimoji="1" lang="zh-CN" altLang="en-US" sz="2000" dirty="0">
              <a:solidFill>
                <a:schemeClr val="bg2"/>
              </a:solidFill>
            </a:endParaRPr>
          </a:p>
        </p:txBody>
      </p:sp>
      <p:sp>
        <p:nvSpPr>
          <p:cNvPr id="34" name="文本框 33">
            <a:extLst>
              <a:ext uri="{FF2B5EF4-FFF2-40B4-BE49-F238E27FC236}">
                <a16:creationId xmlns:a16="http://schemas.microsoft.com/office/drawing/2014/main" id="{BFC2DE47-3358-BA47-B9AB-00F4A4A350BF}"/>
              </a:ext>
            </a:extLst>
          </p:cNvPr>
          <p:cNvSpPr txBox="1"/>
          <p:nvPr/>
        </p:nvSpPr>
        <p:spPr>
          <a:xfrm>
            <a:off x="-1260648" y="5513393"/>
            <a:ext cx="5469466" cy="313932"/>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kumimoji="1" lang="en-US" altLang="zh-CN" sz="1800" b="0" i="0" u="none" strike="noStrike" cap="none" normalizeH="0" baseline="-25000" dirty="0">
                <a:ln>
                  <a:noFill/>
                </a:ln>
                <a:solidFill>
                  <a:srgbClr val="FF0000"/>
                </a:solidFill>
                <a:effectLst/>
                <a:latin typeface="宋体" pitchFamily="2" charset="-122"/>
                <a:ea typeface="宋体" pitchFamily="2" charset="-122"/>
              </a:rPr>
              <a:t>1</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35" name="文本框 34">
            <a:extLst>
              <a:ext uri="{FF2B5EF4-FFF2-40B4-BE49-F238E27FC236}">
                <a16:creationId xmlns:a16="http://schemas.microsoft.com/office/drawing/2014/main" id="{4B8CC97B-5D2F-4C4F-BBCE-C43B83F72C6E}"/>
              </a:ext>
            </a:extLst>
          </p:cNvPr>
          <p:cNvSpPr txBox="1"/>
          <p:nvPr/>
        </p:nvSpPr>
        <p:spPr>
          <a:xfrm>
            <a:off x="-1335851" y="5889752"/>
            <a:ext cx="5469466" cy="313932"/>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kumimoji="1" lang="en-US" altLang="zh-CN" sz="1800" b="0" i="0" u="none" strike="noStrike" cap="none" normalizeH="0" baseline="-25000" dirty="0">
                <a:ln>
                  <a:noFill/>
                </a:ln>
                <a:solidFill>
                  <a:srgbClr val="FF0000"/>
                </a:solidFill>
                <a:effectLst/>
                <a:latin typeface="宋体" pitchFamily="2" charset="-122"/>
                <a:ea typeface="宋体" pitchFamily="2" charset="-122"/>
              </a:rPr>
              <a:t>5</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36" name="文本框 35">
            <a:extLst>
              <a:ext uri="{FF2B5EF4-FFF2-40B4-BE49-F238E27FC236}">
                <a16:creationId xmlns:a16="http://schemas.microsoft.com/office/drawing/2014/main" id="{4187B390-AD83-C449-B2A7-0A8D5C6C3F7F}"/>
              </a:ext>
            </a:extLst>
          </p:cNvPr>
          <p:cNvSpPr txBox="1"/>
          <p:nvPr/>
        </p:nvSpPr>
        <p:spPr>
          <a:xfrm>
            <a:off x="2562878" y="5496028"/>
            <a:ext cx="5469466" cy="313932"/>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kumimoji="1" lang="en-US" altLang="zh-CN" sz="1800" b="0" i="0" u="none" strike="noStrike" cap="none" normalizeH="0" baseline="-25000" dirty="0">
                <a:ln>
                  <a:noFill/>
                </a:ln>
                <a:solidFill>
                  <a:srgbClr val="FF0000"/>
                </a:solidFill>
                <a:effectLst/>
                <a:latin typeface="宋体" pitchFamily="2" charset="-122"/>
                <a:ea typeface="宋体" pitchFamily="2" charset="-122"/>
              </a:rPr>
              <a:t>3</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37" name="文本框 36">
            <a:extLst>
              <a:ext uri="{FF2B5EF4-FFF2-40B4-BE49-F238E27FC236}">
                <a16:creationId xmlns:a16="http://schemas.microsoft.com/office/drawing/2014/main" id="{517274F1-7005-F44B-8FDD-E36C05D86210}"/>
              </a:ext>
            </a:extLst>
          </p:cNvPr>
          <p:cNvSpPr txBox="1"/>
          <p:nvPr/>
        </p:nvSpPr>
        <p:spPr>
          <a:xfrm>
            <a:off x="4748113" y="5488175"/>
            <a:ext cx="5469466" cy="313932"/>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kumimoji="1" lang="en-US" altLang="zh-CN" sz="1800" b="0" i="0" u="none" strike="noStrike" cap="none" normalizeH="0" baseline="-25000" dirty="0">
                <a:ln>
                  <a:noFill/>
                </a:ln>
                <a:solidFill>
                  <a:srgbClr val="FF0000"/>
                </a:solidFill>
                <a:effectLst/>
                <a:latin typeface="宋体" pitchFamily="2" charset="-122"/>
                <a:ea typeface="宋体" pitchFamily="2" charset="-122"/>
              </a:rPr>
              <a:t>4</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38" name="文本框 37">
            <a:extLst>
              <a:ext uri="{FF2B5EF4-FFF2-40B4-BE49-F238E27FC236}">
                <a16:creationId xmlns:a16="http://schemas.microsoft.com/office/drawing/2014/main" id="{1AEFA503-91D3-C247-9AC5-886F5468CF4B}"/>
              </a:ext>
            </a:extLst>
          </p:cNvPr>
          <p:cNvSpPr txBox="1"/>
          <p:nvPr/>
        </p:nvSpPr>
        <p:spPr>
          <a:xfrm>
            <a:off x="752294" y="5889752"/>
            <a:ext cx="5469466" cy="313932"/>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lang="en-US" altLang="zh-CN" baseline="-25000" dirty="0">
                <a:solidFill>
                  <a:srgbClr val="FF0000"/>
                </a:solidFill>
              </a:rPr>
              <a:t>6</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39" name="文本框 38">
            <a:extLst>
              <a:ext uri="{FF2B5EF4-FFF2-40B4-BE49-F238E27FC236}">
                <a16:creationId xmlns:a16="http://schemas.microsoft.com/office/drawing/2014/main" id="{32ED5AB8-50EC-5345-B332-E02F0A783BA4}"/>
              </a:ext>
            </a:extLst>
          </p:cNvPr>
          <p:cNvSpPr txBox="1"/>
          <p:nvPr/>
        </p:nvSpPr>
        <p:spPr>
          <a:xfrm>
            <a:off x="2851448" y="5837089"/>
            <a:ext cx="5469466" cy="313932"/>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lang="en-US" altLang="zh-CN" baseline="-25000" dirty="0">
                <a:solidFill>
                  <a:srgbClr val="FF0000"/>
                </a:solidFill>
              </a:rPr>
              <a:t>7</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40" name="文本框 39">
            <a:extLst>
              <a:ext uri="{FF2B5EF4-FFF2-40B4-BE49-F238E27FC236}">
                <a16:creationId xmlns:a16="http://schemas.microsoft.com/office/drawing/2014/main" id="{1BBCE880-7781-4346-801C-C8D2EDDEFF39}"/>
              </a:ext>
            </a:extLst>
          </p:cNvPr>
          <p:cNvSpPr txBox="1"/>
          <p:nvPr/>
        </p:nvSpPr>
        <p:spPr>
          <a:xfrm>
            <a:off x="6810682" y="5894223"/>
            <a:ext cx="1300104" cy="313932"/>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lang="en-US" altLang="zh-CN" baseline="-25000" dirty="0">
                <a:solidFill>
                  <a:srgbClr val="FF0000"/>
                </a:solidFill>
              </a:rPr>
              <a:t>8</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41" name="文本框 40">
            <a:extLst>
              <a:ext uri="{FF2B5EF4-FFF2-40B4-BE49-F238E27FC236}">
                <a16:creationId xmlns:a16="http://schemas.microsoft.com/office/drawing/2014/main" id="{8CE78AF8-C4EF-8248-8391-926924C19052}"/>
              </a:ext>
            </a:extLst>
          </p:cNvPr>
          <p:cNvSpPr txBox="1"/>
          <p:nvPr/>
        </p:nvSpPr>
        <p:spPr>
          <a:xfrm>
            <a:off x="1580290" y="5496028"/>
            <a:ext cx="3717321" cy="313932"/>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lang="en-US" altLang="zh-CN" baseline="-25000" dirty="0">
                <a:solidFill>
                  <a:srgbClr val="FF0000"/>
                </a:solidFill>
              </a:rPr>
              <a:t>2</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42" name="文本框 41">
            <a:extLst>
              <a:ext uri="{FF2B5EF4-FFF2-40B4-BE49-F238E27FC236}">
                <a16:creationId xmlns:a16="http://schemas.microsoft.com/office/drawing/2014/main" id="{61994EE6-7EC3-2442-8BAA-282D34AB7F29}"/>
              </a:ext>
            </a:extLst>
          </p:cNvPr>
          <p:cNvSpPr txBox="1"/>
          <p:nvPr/>
        </p:nvSpPr>
        <p:spPr>
          <a:xfrm>
            <a:off x="824033" y="6233546"/>
            <a:ext cx="1300104" cy="313932"/>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kumimoji="1" lang="en-US" altLang="zh-CN" sz="1800" b="0" i="0" u="none" strike="noStrike" cap="none" normalizeH="0" baseline="-25000" dirty="0">
                <a:ln>
                  <a:noFill/>
                </a:ln>
                <a:solidFill>
                  <a:srgbClr val="FF0000"/>
                </a:solidFill>
                <a:effectLst/>
                <a:latin typeface="宋体" pitchFamily="2" charset="-122"/>
                <a:ea typeface="宋体" pitchFamily="2" charset="-122"/>
              </a:rPr>
              <a:t>9</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43" name="文本框 42">
            <a:extLst>
              <a:ext uri="{FF2B5EF4-FFF2-40B4-BE49-F238E27FC236}">
                <a16:creationId xmlns:a16="http://schemas.microsoft.com/office/drawing/2014/main" id="{8506025E-026F-614E-94C1-4F945A500786}"/>
              </a:ext>
            </a:extLst>
          </p:cNvPr>
          <p:cNvSpPr txBox="1"/>
          <p:nvPr/>
        </p:nvSpPr>
        <p:spPr>
          <a:xfrm>
            <a:off x="2862599" y="6266111"/>
            <a:ext cx="1300104" cy="313932"/>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kumimoji="1" lang="en-US" altLang="zh-CN" sz="1800" b="0" i="0" u="none" strike="noStrike" cap="none" normalizeH="0" baseline="-25000" dirty="0">
                <a:ln>
                  <a:noFill/>
                </a:ln>
                <a:solidFill>
                  <a:srgbClr val="FF0000"/>
                </a:solidFill>
                <a:effectLst/>
                <a:latin typeface="宋体" pitchFamily="2" charset="-122"/>
                <a:ea typeface="宋体" pitchFamily="2" charset="-122"/>
              </a:rPr>
              <a:t>10</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44" name="文本框 43">
            <a:extLst>
              <a:ext uri="{FF2B5EF4-FFF2-40B4-BE49-F238E27FC236}">
                <a16:creationId xmlns:a16="http://schemas.microsoft.com/office/drawing/2014/main" id="{E3D01222-8CD6-A24F-8AD4-FB7DD07077D4}"/>
              </a:ext>
            </a:extLst>
          </p:cNvPr>
          <p:cNvSpPr txBox="1"/>
          <p:nvPr/>
        </p:nvSpPr>
        <p:spPr>
          <a:xfrm>
            <a:off x="4647559" y="6233124"/>
            <a:ext cx="1300104" cy="313932"/>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kumimoji="1" lang="en-US" altLang="zh-CN" sz="1800" b="0" i="0" u="none" strike="noStrike" cap="none" normalizeH="0" baseline="-25000" dirty="0">
                <a:ln>
                  <a:noFill/>
                </a:ln>
                <a:solidFill>
                  <a:srgbClr val="FF0000"/>
                </a:solidFill>
                <a:effectLst/>
                <a:latin typeface="宋体" pitchFamily="2" charset="-122"/>
                <a:ea typeface="宋体" pitchFamily="2" charset="-122"/>
              </a:rPr>
              <a:t>1</a:t>
            </a:r>
            <a:r>
              <a:rPr lang="en-US" altLang="zh-CN" baseline="-25000" dirty="0">
                <a:solidFill>
                  <a:srgbClr val="FF0000"/>
                </a:solidFill>
              </a:rPr>
              <a:t>1</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45" name="文本框 44">
            <a:extLst>
              <a:ext uri="{FF2B5EF4-FFF2-40B4-BE49-F238E27FC236}">
                <a16:creationId xmlns:a16="http://schemas.microsoft.com/office/drawing/2014/main" id="{F71DCF80-EA3F-B04E-88B6-B26A580509D0}"/>
              </a:ext>
            </a:extLst>
          </p:cNvPr>
          <p:cNvSpPr txBox="1"/>
          <p:nvPr/>
        </p:nvSpPr>
        <p:spPr>
          <a:xfrm>
            <a:off x="6810682" y="6233124"/>
            <a:ext cx="1300104" cy="313932"/>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lang="en-US" altLang="zh-CN" baseline="-25000" dirty="0">
                <a:solidFill>
                  <a:srgbClr val="FF0000"/>
                </a:solidFill>
              </a:rPr>
              <a:t>12</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Tree>
    <p:extLst>
      <p:ext uri="{BB962C8B-B14F-4D97-AF65-F5344CB8AC3E}">
        <p14:creationId xmlns:p14="http://schemas.microsoft.com/office/powerpoint/2010/main" val="18263591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3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3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1" nodeType="click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grpId="1" nodeType="withEffect">
                                  <p:stCondLst>
                                    <p:cond delay="0"/>
                                  </p:stCondLst>
                                  <p:childTnLst>
                                    <p:set>
                                      <p:cBhvr>
                                        <p:cTn id="26" dur="1" fill="hold">
                                          <p:stCondLst>
                                            <p:cond delay="0"/>
                                          </p:stCondLst>
                                        </p:cTn>
                                        <p:tgtEl>
                                          <p:spTgt spid="3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4"/>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7"/>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8"/>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9"/>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4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41"/>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42"/>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4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44"/>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4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5" grpId="0"/>
      <p:bldP spid="16" grpId="0"/>
      <p:bldP spid="32" grpId="0"/>
      <p:bldP spid="32" grpId="1"/>
      <p:bldP spid="33" grpId="0"/>
      <p:bldP spid="33" grpId="1"/>
      <p:bldP spid="34" grpId="0"/>
      <p:bldP spid="35" grpId="0"/>
      <p:bldP spid="36" grpId="0"/>
      <p:bldP spid="37" grpId="0"/>
      <p:bldP spid="38" grpId="0"/>
      <p:bldP spid="39" grpId="0"/>
      <p:bldP spid="40" grpId="0"/>
      <p:bldP spid="41" grpId="0"/>
      <p:bldP spid="42" grpId="0"/>
      <p:bldP spid="43" grpId="0"/>
      <p:bldP spid="44" grpId="0"/>
      <p:bldP spid="45"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a:extLst>
              <a:ext uri="{FF2B5EF4-FFF2-40B4-BE49-F238E27FC236}">
                <a16:creationId xmlns:a16="http://schemas.microsoft.com/office/drawing/2014/main" id="{C65AFA6C-E607-AA41-BF84-1995EB49FCBC}"/>
              </a:ext>
            </a:extLst>
          </p:cNvPr>
          <p:cNvGrpSpPr/>
          <p:nvPr/>
        </p:nvGrpSpPr>
        <p:grpSpPr>
          <a:xfrm>
            <a:off x="0" y="404664"/>
            <a:ext cx="9432602" cy="2470283"/>
            <a:chOff x="107950" y="692696"/>
            <a:chExt cx="9036050" cy="2016224"/>
          </a:xfrm>
        </p:grpSpPr>
        <p:pic>
          <p:nvPicPr>
            <p:cNvPr id="2" name="图片 1" descr="文本, 信件&#10;&#10;描述已自动生成">
              <a:extLst>
                <a:ext uri="{FF2B5EF4-FFF2-40B4-BE49-F238E27FC236}">
                  <a16:creationId xmlns:a16="http://schemas.microsoft.com/office/drawing/2014/main" id="{C70ABEEA-D08B-DB49-9E95-704F6FA31383}"/>
                </a:ext>
              </a:extLst>
            </p:cNvPr>
            <p:cNvPicPr>
              <a:picLocks noChangeAspect="1"/>
            </p:cNvPicPr>
            <p:nvPr/>
          </p:nvPicPr>
          <p:blipFill rotWithShape="1">
            <a:blip r:embed="rId3">
              <a:biLevel thresh="75000"/>
              <a:extLst>
                <a:ext uri="{28A0092B-C50C-407E-A947-70E740481C1C}">
                  <a14:useLocalDpi xmlns:a14="http://schemas.microsoft.com/office/drawing/2010/main" val="0"/>
                </a:ext>
              </a:extLst>
            </a:blip>
            <a:srcRect l="12662" t="55310" r="26267" b="34406"/>
            <a:stretch/>
          </p:blipFill>
          <p:spPr>
            <a:xfrm rot="120000">
              <a:off x="150652" y="980929"/>
              <a:ext cx="8753285" cy="1105663"/>
            </a:xfrm>
            <a:prstGeom prst="rect">
              <a:avLst/>
            </a:prstGeom>
          </p:spPr>
        </p:pic>
        <p:sp>
          <p:nvSpPr>
            <p:cNvPr id="4" name="矩形 3">
              <a:extLst>
                <a:ext uri="{FF2B5EF4-FFF2-40B4-BE49-F238E27FC236}">
                  <a16:creationId xmlns:a16="http://schemas.microsoft.com/office/drawing/2014/main" id="{DE62F62A-CA14-544C-9EE3-D844F30D43E7}"/>
                </a:ext>
              </a:extLst>
            </p:cNvPr>
            <p:cNvSpPr/>
            <p:nvPr/>
          </p:nvSpPr>
          <p:spPr bwMode="auto">
            <a:xfrm>
              <a:off x="107950" y="692696"/>
              <a:ext cx="1439714" cy="288032"/>
            </a:xfrm>
            <a:prstGeom prst="rect">
              <a:avLst/>
            </a:prstGeom>
            <a:solidFill>
              <a:schemeClr val="tx1"/>
            </a:solidFill>
            <a:ln>
              <a:noFill/>
            </a:ln>
            <a:effec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5" name="矩形 4">
              <a:extLst>
                <a:ext uri="{FF2B5EF4-FFF2-40B4-BE49-F238E27FC236}">
                  <a16:creationId xmlns:a16="http://schemas.microsoft.com/office/drawing/2014/main" id="{8FFB3D08-3E4D-5E43-B547-E50672F19EAD}"/>
                </a:ext>
              </a:extLst>
            </p:cNvPr>
            <p:cNvSpPr/>
            <p:nvPr/>
          </p:nvSpPr>
          <p:spPr bwMode="auto">
            <a:xfrm>
              <a:off x="7956376" y="1618854"/>
              <a:ext cx="1187624" cy="297977"/>
            </a:xfrm>
            <a:prstGeom prst="rect">
              <a:avLst/>
            </a:prstGeom>
            <a:solidFill>
              <a:schemeClr val="tx1"/>
            </a:solidFill>
            <a:ln>
              <a:noFill/>
            </a:ln>
            <a:effec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6" name="矩形 5">
              <a:extLst>
                <a:ext uri="{FF2B5EF4-FFF2-40B4-BE49-F238E27FC236}">
                  <a16:creationId xmlns:a16="http://schemas.microsoft.com/office/drawing/2014/main" id="{CCC4252A-CBF7-8947-90DB-7E1276CCBEA3}"/>
                </a:ext>
              </a:extLst>
            </p:cNvPr>
            <p:cNvSpPr/>
            <p:nvPr/>
          </p:nvSpPr>
          <p:spPr bwMode="auto">
            <a:xfrm>
              <a:off x="2987823" y="2036235"/>
              <a:ext cx="5932741" cy="672685"/>
            </a:xfrm>
            <a:prstGeom prst="rect">
              <a:avLst/>
            </a:prstGeom>
            <a:solidFill>
              <a:schemeClr val="tx1"/>
            </a:solidFill>
            <a:ln>
              <a:noFill/>
            </a:ln>
            <a:effec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grpSp>
      <p:sp>
        <p:nvSpPr>
          <p:cNvPr id="3" name="Rectangle 2">
            <a:extLst>
              <a:ext uri="{FF2B5EF4-FFF2-40B4-BE49-F238E27FC236}">
                <a16:creationId xmlns:a16="http://schemas.microsoft.com/office/drawing/2014/main" id="{D76E9DC7-EBB6-B748-8029-694EE777A336}"/>
              </a:ext>
            </a:extLst>
          </p:cNvPr>
          <p:cNvSpPr>
            <a:spLocks noChangeArrowheads="1"/>
          </p:cNvSpPr>
          <p:nvPr/>
        </p:nvSpPr>
        <p:spPr bwMode="auto">
          <a:xfrm>
            <a:off x="0" y="0"/>
            <a:ext cx="9036050" cy="13907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400" b="1" dirty="0">
                <a:solidFill>
                  <a:srgbClr val="000099"/>
                </a:solidFill>
                <a:latin typeface="Times New Roman" pitchFamily="18" charset="0"/>
              </a:rPr>
              <a:t>   </a:t>
            </a:r>
            <a:r>
              <a:rPr lang="zh-CN" altLang="en-US" sz="2800" b="1" dirty="0">
                <a:solidFill>
                  <a:srgbClr val="000099"/>
                </a:solidFill>
                <a:latin typeface="Times New Roman" pitchFamily="18" charset="0"/>
              </a:rPr>
              <a:t>二、数学定义</a:t>
            </a:r>
          </a:p>
          <a:p>
            <a:pPr algn="l" eaLnBrk="0" hangingPunct="0">
              <a:lnSpc>
                <a:spcPct val="150000"/>
              </a:lnSpc>
            </a:pPr>
            <a:endParaRPr lang="zh-CN" altLang="en-US" sz="2400" b="1" dirty="0">
              <a:solidFill>
                <a:srgbClr val="000099"/>
              </a:solidFill>
            </a:endParaRPr>
          </a:p>
        </p:txBody>
      </p:sp>
      <p:sp>
        <p:nvSpPr>
          <p:cNvPr id="13" name="文本框 12">
            <a:extLst>
              <a:ext uri="{FF2B5EF4-FFF2-40B4-BE49-F238E27FC236}">
                <a16:creationId xmlns:a16="http://schemas.microsoft.com/office/drawing/2014/main" id="{76AB9FA4-CA4A-4546-A8BA-A8ABD3DB98C9}"/>
              </a:ext>
            </a:extLst>
          </p:cNvPr>
          <p:cNvSpPr txBox="1"/>
          <p:nvPr/>
        </p:nvSpPr>
        <p:spPr>
          <a:xfrm>
            <a:off x="701373" y="2310827"/>
            <a:ext cx="7263527" cy="1241365"/>
          </a:xfrm>
          <a:prstGeom prst="rect">
            <a:avLst/>
          </a:prstGeom>
          <a:noFill/>
        </p:spPr>
        <p:txBody>
          <a:bodyPr wrap="none" rtlCol="0">
            <a:spAutoFit/>
          </a:bodyPr>
          <a:lstStyle/>
          <a:p>
            <a:r>
              <a:rPr kumimoji="1" lang="zh-CN" altLang="en-US" sz="2400" dirty="0">
                <a:solidFill>
                  <a:schemeClr val="bg2"/>
                </a:solidFill>
              </a:rPr>
              <a:t>教师任教课程的关系是教师和课程的笛卡尔积的子集</a:t>
            </a:r>
            <a:endParaRPr kumimoji="1" lang="en-US" altLang="zh-CN" sz="2400" dirty="0">
              <a:solidFill>
                <a:schemeClr val="bg2"/>
              </a:solidFill>
            </a:endParaRPr>
          </a:p>
          <a:p>
            <a:pPr algn="ctr"/>
            <a:r>
              <a:rPr kumimoji="1" lang="en-US" altLang="zh-CN" sz="3600" b="1" baseline="-25000" dirty="0">
                <a:solidFill>
                  <a:schemeClr val="bg2"/>
                </a:solidFill>
              </a:rPr>
              <a:t>TC</a:t>
            </a:r>
            <a:r>
              <a:rPr lang="zh-CN" altLang="en-US" sz="3600" b="1" baseline="-25000" dirty="0">
                <a:solidFill>
                  <a:schemeClr val="bg2"/>
                </a:solidFill>
              </a:rPr>
              <a:t>（教师，课程）</a:t>
            </a:r>
            <a:endParaRPr lang="en-US" altLang="zh-CN" sz="3600" b="1" baseline="-25000" dirty="0">
              <a:solidFill>
                <a:schemeClr val="bg2"/>
              </a:solidFill>
            </a:endParaRPr>
          </a:p>
          <a:p>
            <a:pPr algn="ctr"/>
            <a:endParaRPr kumimoji="1" lang="zh-CN" altLang="en-US" sz="2800" b="1" baseline="-25000" dirty="0">
              <a:solidFill>
                <a:schemeClr val="bg2"/>
              </a:solidFill>
            </a:endParaRPr>
          </a:p>
        </p:txBody>
      </p:sp>
      <p:sp>
        <p:nvSpPr>
          <p:cNvPr id="15" name="文本框 14">
            <a:extLst>
              <a:ext uri="{FF2B5EF4-FFF2-40B4-BE49-F238E27FC236}">
                <a16:creationId xmlns:a16="http://schemas.microsoft.com/office/drawing/2014/main" id="{8F7FC7FC-51A4-6342-AEFF-9D725D673690}"/>
              </a:ext>
            </a:extLst>
          </p:cNvPr>
          <p:cNvSpPr txBox="1"/>
          <p:nvPr/>
        </p:nvSpPr>
        <p:spPr>
          <a:xfrm>
            <a:off x="624724" y="3804746"/>
            <a:ext cx="7416824" cy="781752"/>
          </a:xfrm>
          <a:prstGeom prst="rect">
            <a:avLst/>
          </a:prstGeom>
          <a:noFill/>
        </p:spPr>
        <p:txBody>
          <a:bodyPr wrap="square">
            <a:spAutoFit/>
          </a:bodyPr>
          <a:lstStyle/>
          <a:p>
            <a:pPr algn="ctr"/>
            <a:r>
              <a:rPr kumimoji="1" lang="en-US" altLang="zh-CN" sz="3200" b="1" baseline="-25000" dirty="0">
                <a:solidFill>
                  <a:schemeClr val="bg2"/>
                </a:solidFill>
              </a:rPr>
              <a:t>TC={(</a:t>
            </a:r>
            <a:r>
              <a:rPr kumimoji="1" lang="zh-CN" altLang="en-US" sz="3200" b="1" baseline="-25000" dirty="0">
                <a:solidFill>
                  <a:schemeClr val="bg2"/>
                </a:solidFill>
              </a:rPr>
              <a:t>沈俊</a:t>
            </a:r>
            <a:r>
              <a:rPr kumimoji="1" lang="en-US" altLang="zh-CN" sz="3200" b="1" baseline="-25000" dirty="0">
                <a:solidFill>
                  <a:schemeClr val="bg2"/>
                </a:solidFill>
              </a:rPr>
              <a:t>,</a:t>
            </a:r>
            <a:r>
              <a:rPr kumimoji="1" lang="zh-CN" altLang="en-US" sz="3200" b="1" baseline="-25000" dirty="0">
                <a:solidFill>
                  <a:schemeClr val="bg2"/>
                </a:solidFill>
              </a:rPr>
              <a:t>数据结构</a:t>
            </a:r>
            <a:r>
              <a:rPr kumimoji="1" lang="en-US" altLang="zh-CN" sz="3200" b="1" baseline="-25000" dirty="0">
                <a:solidFill>
                  <a:schemeClr val="bg2"/>
                </a:solidFill>
              </a:rPr>
              <a:t>),</a:t>
            </a:r>
            <a:r>
              <a:rPr lang="en-US" altLang="zh-CN" sz="3200" b="1" baseline="-25000" dirty="0">
                <a:solidFill>
                  <a:schemeClr val="bg2"/>
                </a:solidFill>
              </a:rPr>
              <a:t>(</a:t>
            </a:r>
            <a:r>
              <a:rPr lang="zh-CN" altLang="en-US" sz="3200" b="1" baseline="-25000" dirty="0">
                <a:solidFill>
                  <a:schemeClr val="bg2"/>
                </a:solidFill>
              </a:rPr>
              <a:t>郑宇</a:t>
            </a:r>
            <a:r>
              <a:rPr lang="en-US" altLang="zh-CN" sz="3200" b="1" baseline="-25000" dirty="0">
                <a:solidFill>
                  <a:schemeClr val="bg2"/>
                </a:solidFill>
              </a:rPr>
              <a:t>,</a:t>
            </a:r>
            <a:r>
              <a:rPr lang="zh-CN" altLang="en-US" sz="3200" b="1" baseline="-25000" dirty="0">
                <a:solidFill>
                  <a:schemeClr val="bg2"/>
                </a:solidFill>
              </a:rPr>
              <a:t>数据结构</a:t>
            </a:r>
            <a:r>
              <a:rPr lang="en-US" altLang="zh-CN" sz="3200" b="1" baseline="-25000" dirty="0">
                <a:solidFill>
                  <a:schemeClr val="bg2"/>
                </a:solidFill>
              </a:rPr>
              <a:t>),(</a:t>
            </a:r>
            <a:r>
              <a:rPr lang="zh-CN" altLang="en-US" sz="3200" b="1" baseline="-25000" dirty="0">
                <a:solidFill>
                  <a:schemeClr val="bg2"/>
                </a:solidFill>
              </a:rPr>
              <a:t>郑宇</a:t>
            </a:r>
            <a:r>
              <a:rPr lang="en-US" altLang="zh-CN" sz="3200" b="1" baseline="-25000" dirty="0">
                <a:solidFill>
                  <a:schemeClr val="bg2"/>
                </a:solidFill>
              </a:rPr>
              <a:t>,</a:t>
            </a:r>
            <a:r>
              <a:rPr lang="zh-CN" altLang="en-US" sz="3200" b="1" baseline="-25000" dirty="0">
                <a:solidFill>
                  <a:schemeClr val="bg2"/>
                </a:solidFill>
              </a:rPr>
              <a:t>数据库</a:t>
            </a:r>
            <a:r>
              <a:rPr lang="en-US" altLang="zh-CN" sz="3200" b="1" baseline="-25000" dirty="0">
                <a:solidFill>
                  <a:schemeClr val="bg2"/>
                </a:solidFill>
              </a:rPr>
              <a:t>),</a:t>
            </a:r>
          </a:p>
          <a:p>
            <a:pPr algn="l"/>
            <a:r>
              <a:rPr lang="en-US" altLang="zh-CN" sz="3200" b="1" baseline="-25000" dirty="0">
                <a:solidFill>
                  <a:schemeClr val="bg2"/>
                </a:solidFill>
              </a:rPr>
              <a:t>     (</a:t>
            </a:r>
            <a:r>
              <a:rPr lang="zh-CN" altLang="en-US" sz="3200" b="1" baseline="-25000" dirty="0">
                <a:solidFill>
                  <a:schemeClr val="bg2"/>
                </a:solidFill>
              </a:rPr>
              <a:t>刘悦</a:t>
            </a:r>
            <a:r>
              <a:rPr lang="en-US" altLang="zh-CN" sz="3200" b="1" baseline="-25000" dirty="0">
                <a:solidFill>
                  <a:schemeClr val="bg2"/>
                </a:solidFill>
              </a:rPr>
              <a:t>,</a:t>
            </a:r>
            <a:r>
              <a:rPr lang="zh-CN" altLang="en-US" sz="3200" b="1" baseline="-25000" dirty="0">
                <a:solidFill>
                  <a:schemeClr val="bg2"/>
                </a:solidFill>
              </a:rPr>
              <a:t>数据库</a:t>
            </a:r>
            <a:r>
              <a:rPr lang="en-US" altLang="zh-CN" sz="3200" b="1" baseline="-25000" dirty="0">
                <a:solidFill>
                  <a:schemeClr val="bg2"/>
                </a:solidFill>
              </a:rPr>
              <a:t>),(</a:t>
            </a:r>
            <a:r>
              <a:rPr lang="zh-CN" altLang="en-US" sz="3200" b="1" baseline="-25000" dirty="0">
                <a:solidFill>
                  <a:schemeClr val="bg2"/>
                </a:solidFill>
              </a:rPr>
              <a:t>刘悦</a:t>
            </a:r>
            <a:r>
              <a:rPr lang="en-US" altLang="zh-CN" sz="3200" b="1" baseline="-25000" dirty="0">
                <a:solidFill>
                  <a:schemeClr val="bg2"/>
                </a:solidFill>
              </a:rPr>
              <a:t>,</a:t>
            </a:r>
            <a:r>
              <a:rPr lang="zh-CN" altLang="en-US" sz="3200" b="1" baseline="-25000" dirty="0">
                <a:solidFill>
                  <a:schemeClr val="bg2"/>
                </a:solidFill>
              </a:rPr>
              <a:t>软件工程</a:t>
            </a:r>
            <a:r>
              <a:rPr lang="en-US" altLang="zh-CN" sz="3200" b="1" baseline="-25000" dirty="0">
                <a:solidFill>
                  <a:schemeClr val="bg2"/>
                </a:solidFill>
              </a:rPr>
              <a:t>)}</a:t>
            </a:r>
          </a:p>
        </p:txBody>
      </p:sp>
      <p:sp>
        <p:nvSpPr>
          <p:cNvPr id="16" name="线形标注 2 15">
            <a:extLst>
              <a:ext uri="{FF2B5EF4-FFF2-40B4-BE49-F238E27FC236}">
                <a16:creationId xmlns:a16="http://schemas.microsoft.com/office/drawing/2014/main" id="{07823D32-9FD2-0E48-B1FA-B502150FA5C3}"/>
              </a:ext>
            </a:extLst>
          </p:cNvPr>
          <p:cNvSpPr/>
          <p:nvPr/>
        </p:nvSpPr>
        <p:spPr bwMode="auto">
          <a:xfrm>
            <a:off x="2420322" y="3391373"/>
            <a:ext cx="576064" cy="313932"/>
          </a:xfrm>
          <a:prstGeom prst="borderCallout2">
            <a:avLst>
              <a:gd name="adj1" fmla="val 18750"/>
              <a:gd name="adj2" fmla="val -8333"/>
              <a:gd name="adj3" fmla="val 18750"/>
              <a:gd name="adj4" fmla="val -16667"/>
              <a:gd name="adj5" fmla="val 199663"/>
              <a:gd name="adj6" fmla="val -34909"/>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kumimoji="1" lang="en-US" altLang="zh-CN" sz="1800" b="0" i="0" u="none" strike="noStrike" cap="none" normalizeH="0" baseline="-25000" dirty="0">
                <a:ln>
                  <a:noFill/>
                </a:ln>
                <a:solidFill>
                  <a:srgbClr val="FF0000"/>
                </a:solidFill>
                <a:effectLst/>
                <a:latin typeface="宋体" pitchFamily="2" charset="-122"/>
                <a:ea typeface="宋体" pitchFamily="2" charset="-122"/>
              </a:rPr>
              <a:t>1</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18" name="线形标注 2 17">
            <a:extLst>
              <a:ext uri="{FF2B5EF4-FFF2-40B4-BE49-F238E27FC236}">
                <a16:creationId xmlns:a16="http://schemas.microsoft.com/office/drawing/2014/main" id="{4DCDC720-52E5-3E48-A0F3-C824E439D513}"/>
              </a:ext>
            </a:extLst>
          </p:cNvPr>
          <p:cNvSpPr/>
          <p:nvPr/>
        </p:nvSpPr>
        <p:spPr bwMode="auto">
          <a:xfrm>
            <a:off x="4613290" y="3395226"/>
            <a:ext cx="576064" cy="313932"/>
          </a:xfrm>
          <a:prstGeom prst="borderCallout2">
            <a:avLst>
              <a:gd name="adj1" fmla="val 18750"/>
              <a:gd name="adj2" fmla="val -8333"/>
              <a:gd name="adj3" fmla="val 18750"/>
              <a:gd name="adj4" fmla="val -16667"/>
              <a:gd name="adj5" fmla="val 199663"/>
              <a:gd name="adj6" fmla="val -34909"/>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lang="en-US" altLang="zh-CN" baseline="-25000" dirty="0">
                <a:solidFill>
                  <a:srgbClr val="FF0000"/>
                </a:solidFill>
              </a:rPr>
              <a:t>5</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19" name="线形标注 2 18">
            <a:extLst>
              <a:ext uri="{FF2B5EF4-FFF2-40B4-BE49-F238E27FC236}">
                <a16:creationId xmlns:a16="http://schemas.microsoft.com/office/drawing/2014/main" id="{8855D681-D90A-6944-B0F8-5F495D8BE87C}"/>
              </a:ext>
            </a:extLst>
          </p:cNvPr>
          <p:cNvSpPr/>
          <p:nvPr/>
        </p:nvSpPr>
        <p:spPr bwMode="auto">
          <a:xfrm>
            <a:off x="6670804" y="3316743"/>
            <a:ext cx="576064" cy="313932"/>
          </a:xfrm>
          <a:prstGeom prst="borderCallout2">
            <a:avLst>
              <a:gd name="adj1" fmla="val 18750"/>
              <a:gd name="adj2" fmla="val -8333"/>
              <a:gd name="adj3" fmla="val 18750"/>
              <a:gd name="adj4" fmla="val -16667"/>
              <a:gd name="adj5" fmla="val 199663"/>
              <a:gd name="adj6" fmla="val -34909"/>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lang="en-US" altLang="zh-CN" baseline="-25000" dirty="0">
                <a:solidFill>
                  <a:srgbClr val="FF0000"/>
                </a:solidFill>
              </a:rPr>
              <a:t>6</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20" name="线形标注 2 19">
            <a:extLst>
              <a:ext uri="{FF2B5EF4-FFF2-40B4-BE49-F238E27FC236}">
                <a16:creationId xmlns:a16="http://schemas.microsoft.com/office/drawing/2014/main" id="{796B3971-4F3C-8144-9AFE-FD44C5418DDC}"/>
              </a:ext>
            </a:extLst>
          </p:cNvPr>
          <p:cNvSpPr/>
          <p:nvPr/>
        </p:nvSpPr>
        <p:spPr bwMode="auto">
          <a:xfrm>
            <a:off x="2123728" y="5059230"/>
            <a:ext cx="576064" cy="313932"/>
          </a:xfrm>
          <a:prstGeom prst="borderCallout2">
            <a:avLst>
              <a:gd name="adj1" fmla="val 18750"/>
              <a:gd name="adj2" fmla="val -8333"/>
              <a:gd name="adj3" fmla="val 18750"/>
              <a:gd name="adj4" fmla="val -16667"/>
              <a:gd name="adj5" fmla="val -156338"/>
              <a:gd name="adj6" fmla="val 12123"/>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kumimoji="1" lang="en-US" altLang="zh-CN" sz="1800" b="0" i="0" u="none" strike="noStrike" cap="none" normalizeH="0" baseline="-25000" dirty="0">
                <a:ln>
                  <a:noFill/>
                </a:ln>
                <a:solidFill>
                  <a:srgbClr val="FF0000"/>
                </a:solidFill>
                <a:effectLst/>
                <a:latin typeface="宋体" pitchFamily="2" charset="-122"/>
                <a:ea typeface="宋体" pitchFamily="2" charset="-122"/>
              </a:rPr>
              <a:t>10</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
        <p:nvSpPr>
          <p:cNvPr id="21" name="线形标注 2 20">
            <a:extLst>
              <a:ext uri="{FF2B5EF4-FFF2-40B4-BE49-F238E27FC236}">
                <a16:creationId xmlns:a16="http://schemas.microsoft.com/office/drawing/2014/main" id="{50028991-8292-8A43-BD36-0C4337F33EBB}"/>
              </a:ext>
            </a:extLst>
          </p:cNvPr>
          <p:cNvSpPr/>
          <p:nvPr/>
        </p:nvSpPr>
        <p:spPr bwMode="auto">
          <a:xfrm>
            <a:off x="3995936" y="5120031"/>
            <a:ext cx="576064" cy="313932"/>
          </a:xfrm>
          <a:prstGeom prst="borderCallout2">
            <a:avLst>
              <a:gd name="adj1" fmla="val 18750"/>
              <a:gd name="adj2" fmla="val -8333"/>
              <a:gd name="adj3" fmla="val 18750"/>
              <a:gd name="adj4" fmla="val -16667"/>
              <a:gd name="adj5" fmla="val -156338"/>
              <a:gd name="adj6" fmla="val 12123"/>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en-US" altLang="zh-CN" sz="1800" b="0" i="0" u="none" strike="noStrike" cap="none" normalizeH="0" baseline="0" dirty="0">
                <a:ln>
                  <a:noFill/>
                </a:ln>
                <a:solidFill>
                  <a:srgbClr val="FF0000"/>
                </a:solidFill>
                <a:effectLst/>
                <a:latin typeface="宋体" pitchFamily="2" charset="-122"/>
                <a:ea typeface="宋体" pitchFamily="2" charset="-122"/>
              </a:rPr>
              <a:t>d</a:t>
            </a:r>
            <a:r>
              <a:rPr kumimoji="1" lang="en-US" altLang="zh-CN" sz="1800" b="0" i="0" u="none" strike="noStrike" cap="none" normalizeH="0" baseline="-25000" dirty="0">
                <a:ln>
                  <a:noFill/>
                </a:ln>
                <a:solidFill>
                  <a:srgbClr val="FF0000"/>
                </a:solidFill>
                <a:effectLst/>
                <a:latin typeface="宋体" pitchFamily="2" charset="-122"/>
                <a:ea typeface="宋体" pitchFamily="2" charset="-122"/>
              </a:rPr>
              <a:t>11</a:t>
            </a:r>
            <a:endParaRPr kumimoji="1" lang="zh-CN" altLang="en-US" sz="1800" b="0" i="0" u="none" strike="noStrike" cap="none" normalizeH="0" baseline="-25000" dirty="0">
              <a:ln>
                <a:noFill/>
              </a:ln>
              <a:solidFill>
                <a:srgbClr val="FF0000"/>
              </a:solidFill>
              <a:effectLst/>
              <a:latin typeface="宋体" pitchFamily="2" charset="-122"/>
              <a:ea typeface="宋体" pitchFamily="2" charset="-122"/>
            </a:endParaRPr>
          </a:p>
        </p:txBody>
      </p:sp>
    </p:spTree>
    <p:extLst>
      <p:ext uri="{BB962C8B-B14F-4D97-AF65-F5344CB8AC3E}">
        <p14:creationId xmlns:p14="http://schemas.microsoft.com/office/powerpoint/2010/main" val="4976754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5" grpId="0"/>
      <p:bldP spid="16" grpId="0" animBg="1"/>
      <p:bldP spid="18" grpId="0" animBg="1"/>
      <p:bldP spid="19" grpId="0" animBg="1"/>
      <p:bldP spid="20" grpId="0" animBg="1"/>
      <p:bldP spid="21"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9698" name="Rectangle 2"/>
          <p:cNvSpPr>
            <a:spLocks noChangeArrowheads="1"/>
          </p:cNvSpPr>
          <p:nvPr/>
        </p:nvSpPr>
        <p:spPr bwMode="auto">
          <a:xfrm>
            <a:off x="395536" y="404664"/>
            <a:ext cx="9448800" cy="46631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200000"/>
              </a:lnSpc>
              <a:spcBef>
                <a:spcPts val="1000"/>
              </a:spcBef>
            </a:pPr>
            <a:r>
              <a:rPr lang="en-US" altLang="zh-CN" sz="2800" b="1" dirty="0">
                <a:solidFill>
                  <a:srgbClr val="000099"/>
                </a:solidFill>
                <a:latin typeface="Times New Roman" pitchFamily="18" charset="0"/>
              </a:rPr>
              <a:t>    </a:t>
            </a:r>
            <a:r>
              <a:rPr lang="zh-CN" altLang="en-US" sz="2800" b="1" dirty="0">
                <a:solidFill>
                  <a:srgbClr val="000099"/>
                </a:solidFill>
                <a:latin typeface="Times New Roman" pitchFamily="18" charset="0"/>
              </a:rPr>
              <a:t>三、关系的性质</a:t>
            </a:r>
            <a:endParaRPr lang="zh-CN" altLang="en-US" sz="2800" b="1" dirty="0">
              <a:solidFill>
                <a:srgbClr val="000099"/>
              </a:solidFill>
            </a:endParaRPr>
          </a:p>
          <a:p>
            <a:pPr eaLnBrk="0" hangingPunct="0">
              <a:lnSpc>
                <a:spcPct val="200000"/>
              </a:lnSpc>
              <a:spcBef>
                <a:spcPts val="0"/>
              </a:spcBef>
            </a:pPr>
            <a:r>
              <a:rPr lang="zh-CN" altLang="en-US" sz="2400" b="1" dirty="0">
                <a:solidFill>
                  <a:schemeClr val="bg2"/>
                </a:solidFill>
                <a:latin typeface="Times New Roman" pitchFamily="18" charset="0"/>
              </a:rPr>
              <a:t>    </a:t>
            </a:r>
            <a:r>
              <a:rPr lang="en-US" altLang="zh-CN" sz="2400" b="1" dirty="0">
                <a:solidFill>
                  <a:schemeClr val="bg2"/>
                </a:solidFill>
                <a:latin typeface="Times New Roman" pitchFamily="18" charset="0"/>
              </a:rPr>
              <a:t>1</a:t>
            </a:r>
            <a:r>
              <a:rPr lang="zh-CN" altLang="en-US" sz="2400" b="1" dirty="0">
                <a:solidFill>
                  <a:schemeClr val="bg2"/>
                </a:solidFill>
                <a:latin typeface="Times New Roman" pitchFamily="18" charset="0"/>
              </a:rPr>
              <a:t>、列具有相同的性质，不同的列可有相同的域，</a:t>
            </a:r>
          </a:p>
          <a:p>
            <a:pPr eaLnBrk="0" hangingPunct="0">
              <a:lnSpc>
                <a:spcPct val="200000"/>
              </a:lnSpc>
              <a:spcBef>
                <a:spcPts val="0"/>
              </a:spcBef>
            </a:pPr>
            <a:r>
              <a:rPr lang="zh-CN" altLang="en-US" sz="2400" b="1" dirty="0">
                <a:solidFill>
                  <a:schemeClr val="bg2"/>
                </a:solidFill>
                <a:latin typeface="Times New Roman" pitchFamily="18" charset="0"/>
              </a:rPr>
              <a:t>    </a:t>
            </a:r>
            <a:r>
              <a:rPr lang="en-US" altLang="zh-CN" sz="2400" b="1" dirty="0">
                <a:solidFill>
                  <a:schemeClr val="bg2"/>
                </a:solidFill>
                <a:latin typeface="Times New Roman" pitchFamily="18" charset="0"/>
              </a:rPr>
              <a:t>2</a:t>
            </a:r>
            <a:r>
              <a:rPr lang="zh-CN" altLang="en-US" sz="2400" b="1" dirty="0">
                <a:solidFill>
                  <a:schemeClr val="bg2"/>
                </a:solidFill>
                <a:latin typeface="Times New Roman" pitchFamily="18" charset="0"/>
              </a:rPr>
              <a:t>、任意两个元组不能相同，元组的次序可交换；</a:t>
            </a:r>
          </a:p>
          <a:p>
            <a:pPr eaLnBrk="0" hangingPunct="0">
              <a:lnSpc>
                <a:spcPct val="200000"/>
              </a:lnSpc>
              <a:spcBef>
                <a:spcPts val="0"/>
              </a:spcBef>
            </a:pPr>
            <a:r>
              <a:rPr lang="zh-CN" altLang="en-US" sz="2400" b="1" dirty="0">
                <a:solidFill>
                  <a:schemeClr val="bg2"/>
                </a:solidFill>
                <a:latin typeface="Times New Roman" pitchFamily="18" charset="0"/>
              </a:rPr>
              <a:t>    </a:t>
            </a:r>
            <a:r>
              <a:rPr lang="en-US" altLang="zh-CN" sz="2400" b="1" dirty="0">
                <a:solidFill>
                  <a:schemeClr val="bg2"/>
                </a:solidFill>
                <a:latin typeface="Times New Roman" pitchFamily="18" charset="0"/>
              </a:rPr>
              <a:t>3</a:t>
            </a:r>
            <a:r>
              <a:rPr lang="zh-CN" altLang="en-US" sz="2400" b="1" dirty="0">
                <a:solidFill>
                  <a:schemeClr val="bg2"/>
                </a:solidFill>
                <a:latin typeface="Times New Roman" pitchFamily="18" charset="0"/>
              </a:rPr>
              <a:t>、每个属性值</a:t>
            </a:r>
            <a:r>
              <a:rPr lang="en-US" altLang="zh-CN" sz="2400" b="1" dirty="0">
                <a:solidFill>
                  <a:schemeClr val="bg2"/>
                </a:solidFill>
                <a:latin typeface="Times New Roman" pitchFamily="18" charset="0"/>
              </a:rPr>
              <a:t>(</a:t>
            </a:r>
            <a:r>
              <a:rPr lang="zh-CN" altLang="en-US" sz="2400" b="1" dirty="0">
                <a:solidFill>
                  <a:schemeClr val="bg2"/>
                </a:solidFill>
                <a:latin typeface="Times New Roman" pitchFamily="18" charset="0"/>
              </a:rPr>
              <a:t>分量</a:t>
            </a:r>
            <a:r>
              <a:rPr lang="en-US" altLang="zh-CN" sz="2400" b="1" dirty="0">
                <a:solidFill>
                  <a:schemeClr val="bg2"/>
                </a:solidFill>
                <a:latin typeface="Times New Roman" pitchFamily="18" charset="0"/>
              </a:rPr>
              <a:t>)</a:t>
            </a:r>
            <a:r>
              <a:rPr lang="zh-CN" altLang="en-US" sz="2400" b="1" dirty="0">
                <a:solidFill>
                  <a:schemeClr val="bg2"/>
                </a:solidFill>
                <a:latin typeface="Times New Roman" pitchFamily="18" charset="0"/>
              </a:rPr>
              <a:t>都是不可分的数据项 </a:t>
            </a:r>
            <a:r>
              <a:rPr lang="en-US" altLang="zh-CN" sz="2400" b="1" dirty="0">
                <a:solidFill>
                  <a:schemeClr val="bg2"/>
                </a:solidFill>
                <a:latin typeface="Times New Roman" pitchFamily="18" charset="0"/>
              </a:rPr>
              <a:t>(</a:t>
            </a:r>
            <a:r>
              <a:rPr lang="zh-CN" altLang="en-US" sz="2400" b="1" dirty="0">
                <a:solidFill>
                  <a:schemeClr val="bg2"/>
                </a:solidFill>
                <a:latin typeface="Times New Roman" pitchFamily="18" charset="0"/>
              </a:rPr>
              <a:t>即属性</a:t>
            </a:r>
          </a:p>
          <a:p>
            <a:pPr eaLnBrk="0" hangingPunct="0">
              <a:lnSpc>
                <a:spcPct val="200000"/>
              </a:lnSpc>
              <a:spcBef>
                <a:spcPts val="0"/>
              </a:spcBef>
            </a:pPr>
            <a:r>
              <a:rPr lang="zh-CN" altLang="en-US" sz="2400" b="1" dirty="0">
                <a:solidFill>
                  <a:schemeClr val="bg2"/>
                </a:solidFill>
                <a:latin typeface="Times New Roman" pitchFamily="18" charset="0"/>
              </a:rPr>
              <a:t>         值为最小单位</a:t>
            </a:r>
            <a:r>
              <a:rPr lang="en-US" altLang="zh-CN" sz="2400" b="1" dirty="0">
                <a:solidFill>
                  <a:schemeClr val="bg2"/>
                </a:solidFill>
                <a:latin typeface="Times New Roman" pitchFamily="18" charset="0"/>
              </a:rPr>
              <a:t>). </a:t>
            </a:r>
          </a:p>
          <a:p>
            <a:pPr eaLnBrk="0" hangingPunct="0">
              <a:lnSpc>
                <a:spcPct val="200000"/>
              </a:lnSpc>
              <a:spcBef>
                <a:spcPts val="1000"/>
              </a:spcBef>
            </a:pPr>
            <a:r>
              <a:rPr lang="en-US" altLang="zh-CN" sz="2400" b="1" dirty="0">
                <a:solidFill>
                  <a:schemeClr val="bg2"/>
                </a:solidFill>
                <a:latin typeface="Times New Roman" pitchFamily="18" charset="0"/>
              </a:rPr>
              <a:t>     </a:t>
            </a:r>
          </a:p>
        </p:txBody>
      </p:sp>
      <p:graphicFrame>
        <p:nvGraphicFramePr>
          <p:cNvPr id="4" name="表格 4">
            <a:extLst>
              <a:ext uri="{FF2B5EF4-FFF2-40B4-BE49-F238E27FC236}">
                <a16:creationId xmlns:a16="http://schemas.microsoft.com/office/drawing/2014/main" id="{AC1469A3-E3DF-0642-8B05-64811177AB63}"/>
              </a:ext>
            </a:extLst>
          </p:cNvPr>
          <p:cNvGraphicFramePr>
            <a:graphicFrameLocks noGrp="1"/>
          </p:cNvGraphicFramePr>
          <p:nvPr>
            <p:extLst>
              <p:ext uri="{D42A27DB-BD31-4B8C-83A1-F6EECF244321}">
                <p14:modId xmlns:p14="http://schemas.microsoft.com/office/powerpoint/2010/main" val="2427190096"/>
              </p:ext>
            </p:extLst>
          </p:nvPr>
        </p:nvGraphicFramePr>
        <p:xfrm>
          <a:off x="619158" y="4228296"/>
          <a:ext cx="7905684" cy="2225040"/>
        </p:xfrm>
        <a:graphic>
          <a:graphicData uri="http://schemas.openxmlformats.org/drawingml/2006/table">
            <a:tbl>
              <a:tblPr firstRow="1" bandRow="1">
                <a:tableStyleId>{21E4AEA4-8DFA-4A89-87EB-49C32662AFE0}</a:tableStyleId>
              </a:tblPr>
              <a:tblGrid>
                <a:gridCol w="1136932">
                  <a:extLst>
                    <a:ext uri="{9D8B030D-6E8A-4147-A177-3AD203B41FA5}">
                      <a16:colId xmlns:a16="http://schemas.microsoft.com/office/drawing/2014/main" val="836150226"/>
                    </a:ext>
                  </a:extLst>
                </a:gridCol>
                <a:gridCol w="886850">
                  <a:extLst>
                    <a:ext uri="{9D8B030D-6E8A-4147-A177-3AD203B41FA5}">
                      <a16:colId xmlns:a16="http://schemas.microsoft.com/office/drawing/2014/main" val="348762623"/>
                    </a:ext>
                  </a:extLst>
                </a:gridCol>
                <a:gridCol w="1214268">
                  <a:extLst>
                    <a:ext uri="{9D8B030D-6E8A-4147-A177-3AD203B41FA5}">
                      <a16:colId xmlns:a16="http://schemas.microsoft.com/office/drawing/2014/main" val="485607095"/>
                    </a:ext>
                  </a:extLst>
                </a:gridCol>
                <a:gridCol w="1214268">
                  <a:extLst>
                    <a:ext uri="{9D8B030D-6E8A-4147-A177-3AD203B41FA5}">
                      <a16:colId xmlns:a16="http://schemas.microsoft.com/office/drawing/2014/main" val="2832269886"/>
                    </a:ext>
                  </a:extLst>
                </a:gridCol>
                <a:gridCol w="1214268">
                  <a:extLst>
                    <a:ext uri="{9D8B030D-6E8A-4147-A177-3AD203B41FA5}">
                      <a16:colId xmlns:a16="http://schemas.microsoft.com/office/drawing/2014/main" val="2210278073"/>
                    </a:ext>
                  </a:extLst>
                </a:gridCol>
                <a:gridCol w="2239098">
                  <a:extLst>
                    <a:ext uri="{9D8B030D-6E8A-4147-A177-3AD203B41FA5}">
                      <a16:colId xmlns:a16="http://schemas.microsoft.com/office/drawing/2014/main" val="3343172956"/>
                    </a:ext>
                  </a:extLst>
                </a:gridCol>
              </a:tblGrid>
              <a:tr h="370840">
                <a:tc>
                  <a:txBody>
                    <a:bodyPr/>
                    <a:lstStyle/>
                    <a:p>
                      <a:pPr algn="ctr"/>
                      <a:r>
                        <a:rPr lang="zh-CN" altLang="en-US" dirty="0"/>
                        <a:t>职工编号</a:t>
                      </a:r>
                    </a:p>
                  </a:txBody>
                  <a:tcPr/>
                </a:tc>
                <a:tc>
                  <a:txBody>
                    <a:bodyPr/>
                    <a:lstStyle/>
                    <a:p>
                      <a:pPr algn="ctr"/>
                      <a:r>
                        <a:rPr lang="zh-CN" altLang="en-US" dirty="0"/>
                        <a:t>姓名</a:t>
                      </a:r>
                    </a:p>
                  </a:txBody>
                  <a:tcPr/>
                </a:tc>
                <a:tc>
                  <a:txBody>
                    <a:bodyPr/>
                    <a:lstStyle/>
                    <a:p>
                      <a:pPr algn="ctr"/>
                      <a:r>
                        <a:rPr lang="zh-CN" altLang="en-US" dirty="0"/>
                        <a:t>部门</a:t>
                      </a:r>
                    </a:p>
                  </a:txBody>
                  <a:tcPr/>
                </a:tc>
                <a:tc>
                  <a:txBody>
                    <a:bodyPr/>
                    <a:lstStyle/>
                    <a:p>
                      <a:pPr algn="ctr"/>
                      <a:r>
                        <a:rPr lang="zh-CN" altLang="en-US" dirty="0"/>
                        <a:t>性别</a:t>
                      </a:r>
                    </a:p>
                  </a:txBody>
                  <a:tcPr/>
                </a:tc>
                <a:tc>
                  <a:txBody>
                    <a:bodyPr/>
                    <a:lstStyle/>
                    <a:p>
                      <a:pPr algn="ctr"/>
                      <a:r>
                        <a:rPr lang="zh-CN" altLang="en-US" dirty="0"/>
                        <a:t>年龄</a:t>
                      </a:r>
                    </a:p>
                  </a:txBody>
                  <a:tcPr/>
                </a:tc>
                <a:tc>
                  <a:txBody>
                    <a:bodyPr/>
                    <a:lstStyle/>
                    <a:p>
                      <a:pPr algn="ctr"/>
                      <a:r>
                        <a:rPr lang="zh-CN" altLang="en-US" dirty="0"/>
                        <a:t>身份证号码</a:t>
                      </a:r>
                    </a:p>
                  </a:txBody>
                  <a:tcPr/>
                </a:tc>
                <a:extLst>
                  <a:ext uri="{0D108BD9-81ED-4DB2-BD59-A6C34878D82A}">
                    <a16:rowId xmlns:a16="http://schemas.microsoft.com/office/drawing/2014/main" val="2498035954"/>
                  </a:ext>
                </a:extLst>
              </a:tr>
              <a:tr h="370840">
                <a:tc>
                  <a:txBody>
                    <a:bodyPr/>
                    <a:lstStyle/>
                    <a:p>
                      <a:pPr algn="ctr"/>
                      <a:r>
                        <a:rPr lang="en-US" altLang="zh-CN" dirty="0"/>
                        <a:t>2113</a:t>
                      </a:r>
                      <a:endParaRPr lang="zh-CN" altLang="en-US" dirty="0"/>
                    </a:p>
                  </a:txBody>
                  <a:tcPr/>
                </a:tc>
                <a:tc>
                  <a:txBody>
                    <a:bodyPr/>
                    <a:lstStyle/>
                    <a:p>
                      <a:pPr algn="ctr"/>
                      <a:r>
                        <a:rPr lang="zh-CN" altLang="en-US" dirty="0"/>
                        <a:t>程晓清</a:t>
                      </a:r>
                    </a:p>
                  </a:txBody>
                  <a:tcPr/>
                </a:tc>
                <a:tc>
                  <a:txBody>
                    <a:bodyPr/>
                    <a:lstStyle/>
                    <a:p>
                      <a:pPr algn="ctr"/>
                      <a:r>
                        <a:rPr lang="zh-CN" altLang="en-US" dirty="0"/>
                        <a:t>销售部</a:t>
                      </a:r>
                    </a:p>
                  </a:txBody>
                  <a:tcPr/>
                </a:tc>
                <a:tc>
                  <a:txBody>
                    <a:bodyPr/>
                    <a:lstStyle/>
                    <a:p>
                      <a:pPr algn="ctr"/>
                      <a:r>
                        <a:rPr lang="zh-CN" altLang="en-US" dirty="0"/>
                        <a:t>男</a:t>
                      </a:r>
                    </a:p>
                  </a:txBody>
                  <a:tcPr/>
                </a:tc>
                <a:tc>
                  <a:txBody>
                    <a:bodyPr/>
                    <a:lstStyle/>
                    <a:p>
                      <a:pPr algn="ctr"/>
                      <a:r>
                        <a:rPr lang="en-US" altLang="zh-CN" dirty="0"/>
                        <a:t>30</a:t>
                      </a:r>
                    </a:p>
                  </a:txBody>
                  <a:tcPr/>
                </a:tc>
                <a:tc>
                  <a:txBody>
                    <a:bodyPr/>
                    <a:lstStyle/>
                    <a:p>
                      <a:pPr algn="ctr"/>
                      <a:r>
                        <a:rPr lang="en-US" altLang="zh-CN" dirty="0"/>
                        <a:t>310110</a:t>
                      </a:r>
                      <a:r>
                        <a:rPr lang="zh-CN" altLang="en-US" dirty="0"/>
                        <a:t>****</a:t>
                      </a:r>
                      <a:r>
                        <a:rPr lang="en-US" altLang="zh-CN" dirty="0"/>
                        <a:t>03062405</a:t>
                      </a:r>
                      <a:endParaRPr lang="zh-CN" altLang="en-US" dirty="0"/>
                    </a:p>
                  </a:txBody>
                  <a:tcPr/>
                </a:tc>
                <a:extLst>
                  <a:ext uri="{0D108BD9-81ED-4DB2-BD59-A6C34878D82A}">
                    <a16:rowId xmlns:a16="http://schemas.microsoft.com/office/drawing/2014/main" val="225238229"/>
                  </a:ext>
                </a:extLst>
              </a:tr>
              <a:tr h="370840">
                <a:tc>
                  <a:txBody>
                    <a:bodyPr/>
                    <a:lstStyle/>
                    <a:p>
                      <a:pPr algn="ctr"/>
                      <a:r>
                        <a:rPr lang="en-US" altLang="zh-CN" dirty="0"/>
                        <a:t>2116</a:t>
                      </a:r>
                      <a:endParaRPr lang="zh-CN" altLang="en-US" dirty="0"/>
                    </a:p>
                  </a:txBody>
                  <a:tcPr/>
                </a:tc>
                <a:tc>
                  <a:txBody>
                    <a:bodyPr/>
                    <a:lstStyle/>
                    <a:p>
                      <a:pPr algn="ctr"/>
                      <a:r>
                        <a:rPr lang="zh-CN" altLang="en-US" dirty="0"/>
                        <a:t>刘红英</a:t>
                      </a:r>
                    </a:p>
                  </a:txBody>
                  <a:tcPr/>
                </a:tc>
                <a:tc>
                  <a:txBody>
                    <a:bodyPr/>
                    <a:lstStyle/>
                    <a:p>
                      <a:pPr algn="ctr"/>
                      <a:r>
                        <a:rPr lang="zh-CN" altLang="en-US" dirty="0"/>
                        <a:t>财务部</a:t>
                      </a:r>
                    </a:p>
                  </a:txBody>
                  <a:tcPr/>
                </a:tc>
                <a:tc>
                  <a:txBody>
                    <a:bodyPr/>
                    <a:lstStyle/>
                    <a:p>
                      <a:pPr algn="ctr"/>
                      <a:r>
                        <a:rPr lang="zh-CN" altLang="en-US" dirty="0"/>
                        <a:t>女</a:t>
                      </a:r>
                    </a:p>
                  </a:txBody>
                  <a:tcPr/>
                </a:tc>
                <a:tc>
                  <a:txBody>
                    <a:bodyPr/>
                    <a:lstStyle/>
                    <a:p>
                      <a:pPr algn="ctr"/>
                      <a:r>
                        <a:rPr lang="en-US" altLang="zh-CN" dirty="0"/>
                        <a:t>30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05062506</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4023512960"/>
                  </a:ext>
                </a:extLst>
              </a:tr>
              <a:tr h="370840">
                <a:tc>
                  <a:txBody>
                    <a:bodyPr/>
                    <a:lstStyle/>
                    <a:p>
                      <a:pPr algn="ctr"/>
                      <a:r>
                        <a:rPr lang="en-US" altLang="zh-CN" dirty="0"/>
                        <a:t>2136</a:t>
                      </a:r>
                      <a:endParaRPr lang="zh-CN" altLang="en-US" dirty="0"/>
                    </a:p>
                  </a:txBody>
                  <a:tcPr/>
                </a:tc>
                <a:tc>
                  <a:txBody>
                    <a:bodyPr/>
                    <a:lstStyle/>
                    <a:p>
                      <a:pPr algn="ctr"/>
                      <a:r>
                        <a:rPr lang="zh-CN" altLang="en-US" dirty="0"/>
                        <a:t>李小刚</a:t>
                      </a:r>
                    </a:p>
                  </a:txBody>
                  <a:tcPr/>
                </a:tc>
                <a:tc>
                  <a:txBody>
                    <a:bodyPr/>
                    <a:lstStyle/>
                    <a:p>
                      <a:pPr algn="ctr"/>
                      <a:r>
                        <a:rPr lang="zh-CN" altLang="en-US" dirty="0"/>
                        <a:t>管理部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男</a:t>
                      </a:r>
                    </a:p>
                  </a:txBody>
                  <a:tcPr/>
                </a:tc>
                <a:tc>
                  <a:txBody>
                    <a:bodyPr/>
                    <a:lstStyle/>
                    <a:p>
                      <a:pPr algn="ctr"/>
                      <a:r>
                        <a:rPr lang="en-US" altLang="zh-CN" dirty="0"/>
                        <a:t>28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06092507</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242727207"/>
                  </a:ext>
                </a:extLst>
              </a:tr>
              <a:tr h="370840">
                <a:tc>
                  <a:txBody>
                    <a:bodyPr/>
                    <a:lstStyle/>
                    <a:p>
                      <a:pPr algn="ctr"/>
                      <a:r>
                        <a:rPr lang="en-US" altLang="zh-CN" dirty="0"/>
                        <a:t>2138</a:t>
                      </a:r>
                      <a:endParaRPr lang="zh-CN" altLang="en-US" dirty="0"/>
                    </a:p>
                  </a:txBody>
                  <a:tcPr/>
                </a:tc>
                <a:tc>
                  <a:txBody>
                    <a:bodyPr/>
                    <a:lstStyle/>
                    <a:p>
                      <a:pPr algn="ctr"/>
                      <a:r>
                        <a:rPr lang="zh-CN" altLang="en-US" dirty="0"/>
                        <a:t>蒋明</a:t>
                      </a:r>
                    </a:p>
                  </a:txBody>
                  <a:tcPr/>
                </a:tc>
                <a:tc>
                  <a:txBody>
                    <a:bodyPr/>
                    <a:lstStyle/>
                    <a:p>
                      <a:pPr algn="ctr"/>
                      <a:r>
                        <a:rPr lang="zh-CN" altLang="en-US" dirty="0"/>
                        <a:t>采购部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男</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algn="ctr"/>
                      <a:r>
                        <a:rPr lang="en-US" altLang="zh-CN" dirty="0"/>
                        <a:t>41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08082405</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4071535767"/>
                  </a:ext>
                </a:extLst>
              </a:tr>
              <a:tr h="370840">
                <a:tc>
                  <a:txBody>
                    <a:bodyPr/>
                    <a:lstStyle/>
                    <a:p>
                      <a:pPr algn="ctr"/>
                      <a:r>
                        <a:rPr lang="en-US" altLang="zh-CN" dirty="0"/>
                        <a:t>2141</a:t>
                      </a:r>
                      <a:endParaRPr lang="zh-CN" altLang="en-US" dirty="0"/>
                    </a:p>
                  </a:txBody>
                  <a:tcPr/>
                </a:tc>
                <a:tc>
                  <a:txBody>
                    <a:bodyPr/>
                    <a:lstStyle/>
                    <a:p>
                      <a:pPr algn="ctr"/>
                      <a:r>
                        <a:rPr lang="zh-CN" altLang="en-US" dirty="0"/>
                        <a:t>王国洋</a:t>
                      </a:r>
                    </a:p>
                  </a:txBody>
                  <a:tcPr/>
                </a:tc>
                <a:tc>
                  <a:txBody>
                    <a:bodyPr/>
                    <a:lstStyle/>
                    <a:p>
                      <a:pPr algn="ctr"/>
                      <a:r>
                        <a:rPr lang="zh-CN" altLang="en-US" dirty="0"/>
                        <a:t>销售部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algn="ctr"/>
                      <a:r>
                        <a:rPr lang="en-US" altLang="zh-CN" dirty="0"/>
                        <a:t>39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09022407</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53225929"/>
                  </a:ext>
                </a:extLst>
              </a:tr>
            </a:tbl>
          </a:graphicData>
        </a:graphic>
      </p:graphicFrame>
      <p:pic>
        <p:nvPicPr>
          <p:cNvPr id="5" name="图片 4">
            <a:extLst>
              <a:ext uri="{FF2B5EF4-FFF2-40B4-BE49-F238E27FC236}">
                <a16:creationId xmlns:a16="http://schemas.microsoft.com/office/drawing/2014/main" id="{980E34D3-ACB0-D84C-8452-54BB55D83C14}"/>
              </a:ext>
            </a:extLst>
          </p:cNvPr>
          <p:cNvPicPr>
            <a:picLocks noChangeAspect="1"/>
          </p:cNvPicPr>
          <p:nvPr/>
        </p:nvPicPr>
        <p:blipFill rotWithShape="1">
          <a:blip r:embed="rId3"/>
          <a:srcRect l="21377" t="9709" r="20826" b="8302"/>
          <a:stretch/>
        </p:blipFill>
        <p:spPr>
          <a:xfrm>
            <a:off x="7712710" y="1561388"/>
            <a:ext cx="812132" cy="1535138"/>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0" name="表格 4">
            <a:extLst>
              <a:ext uri="{FF2B5EF4-FFF2-40B4-BE49-F238E27FC236}">
                <a16:creationId xmlns:a16="http://schemas.microsoft.com/office/drawing/2014/main" id="{DB81D5EB-5FFA-1C4A-8D42-C0E036A06536}"/>
              </a:ext>
            </a:extLst>
          </p:cNvPr>
          <p:cNvGraphicFramePr>
            <a:graphicFrameLocks noGrp="1"/>
          </p:cNvGraphicFramePr>
          <p:nvPr>
            <p:extLst>
              <p:ext uri="{D42A27DB-BD31-4B8C-83A1-F6EECF244321}">
                <p14:modId xmlns:p14="http://schemas.microsoft.com/office/powerpoint/2010/main" val="640469571"/>
              </p:ext>
            </p:extLst>
          </p:nvPr>
        </p:nvGraphicFramePr>
        <p:xfrm>
          <a:off x="619158" y="4551115"/>
          <a:ext cx="7905684" cy="2225040"/>
        </p:xfrm>
        <a:graphic>
          <a:graphicData uri="http://schemas.openxmlformats.org/drawingml/2006/table">
            <a:tbl>
              <a:tblPr firstRow="1" bandRow="1">
                <a:tableStyleId>{21E4AEA4-8DFA-4A89-87EB-49C32662AFE0}</a:tableStyleId>
              </a:tblPr>
              <a:tblGrid>
                <a:gridCol w="1136932">
                  <a:extLst>
                    <a:ext uri="{9D8B030D-6E8A-4147-A177-3AD203B41FA5}">
                      <a16:colId xmlns:a16="http://schemas.microsoft.com/office/drawing/2014/main" val="836150226"/>
                    </a:ext>
                  </a:extLst>
                </a:gridCol>
                <a:gridCol w="886850">
                  <a:extLst>
                    <a:ext uri="{9D8B030D-6E8A-4147-A177-3AD203B41FA5}">
                      <a16:colId xmlns:a16="http://schemas.microsoft.com/office/drawing/2014/main" val="348762623"/>
                    </a:ext>
                  </a:extLst>
                </a:gridCol>
                <a:gridCol w="1214268">
                  <a:extLst>
                    <a:ext uri="{9D8B030D-6E8A-4147-A177-3AD203B41FA5}">
                      <a16:colId xmlns:a16="http://schemas.microsoft.com/office/drawing/2014/main" val="485607095"/>
                    </a:ext>
                  </a:extLst>
                </a:gridCol>
                <a:gridCol w="1214268">
                  <a:extLst>
                    <a:ext uri="{9D8B030D-6E8A-4147-A177-3AD203B41FA5}">
                      <a16:colId xmlns:a16="http://schemas.microsoft.com/office/drawing/2014/main" val="2832269886"/>
                    </a:ext>
                  </a:extLst>
                </a:gridCol>
                <a:gridCol w="1214268">
                  <a:extLst>
                    <a:ext uri="{9D8B030D-6E8A-4147-A177-3AD203B41FA5}">
                      <a16:colId xmlns:a16="http://schemas.microsoft.com/office/drawing/2014/main" val="2210278073"/>
                    </a:ext>
                  </a:extLst>
                </a:gridCol>
                <a:gridCol w="2239098">
                  <a:extLst>
                    <a:ext uri="{9D8B030D-6E8A-4147-A177-3AD203B41FA5}">
                      <a16:colId xmlns:a16="http://schemas.microsoft.com/office/drawing/2014/main" val="3343172956"/>
                    </a:ext>
                  </a:extLst>
                </a:gridCol>
              </a:tblGrid>
              <a:tr h="370840">
                <a:tc>
                  <a:txBody>
                    <a:bodyPr/>
                    <a:lstStyle/>
                    <a:p>
                      <a:pPr algn="ctr"/>
                      <a:r>
                        <a:rPr lang="zh-CN" altLang="en-US" dirty="0"/>
                        <a:t>职工编号</a:t>
                      </a:r>
                    </a:p>
                  </a:txBody>
                  <a:tcPr/>
                </a:tc>
                <a:tc>
                  <a:txBody>
                    <a:bodyPr/>
                    <a:lstStyle/>
                    <a:p>
                      <a:pPr algn="ctr"/>
                      <a:r>
                        <a:rPr lang="zh-CN" altLang="en-US" dirty="0"/>
                        <a:t>姓名</a:t>
                      </a:r>
                    </a:p>
                  </a:txBody>
                  <a:tcPr/>
                </a:tc>
                <a:tc>
                  <a:txBody>
                    <a:bodyPr/>
                    <a:lstStyle/>
                    <a:p>
                      <a:pPr algn="ctr"/>
                      <a:r>
                        <a:rPr lang="zh-CN" altLang="en-US" dirty="0"/>
                        <a:t>部门</a:t>
                      </a:r>
                    </a:p>
                  </a:txBody>
                  <a:tcPr/>
                </a:tc>
                <a:tc>
                  <a:txBody>
                    <a:bodyPr/>
                    <a:lstStyle/>
                    <a:p>
                      <a:pPr algn="ctr"/>
                      <a:r>
                        <a:rPr lang="zh-CN" altLang="en-US" dirty="0"/>
                        <a:t>性别</a:t>
                      </a:r>
                    </a:p>
                  </a:txBody>
                  <a:tcPr/>
                </a:tc>
                <a:tc>
                  <a:txBody>
                    <a:bodyPr/>
                    <a:lstStyle/>
                    <a:p>
                      <a:pPr algn="ctr"/>
                      <a:r>
                        <a:rPr lang="zh-CN" altLang="en-US" dirty="0"/>
                        <a:t>年龄</a:t>
                      </a:r>
                    </a:p>
                  </a:txBody>
                  <a:tcPr/>
                </a:tc>
                <a:tc>
                  <a:txBody>
                    <a:bodyPr/>
                    <a:lstStyle/>
                    <a:p>
                      <a:pPr algn="ctr"/>
                      <a:r>
                        <a:rPr lang="zh-CN" altLang="en-US" dirty="0"/>
                        <a:t>身份证号码</a:t>
                      </a:r>
                    </a:p>
                  </a:txBody>
                  <a:tcPr/>
                </a:tc>
                <a:extLst>
                  <a:ext uri="{0D108BD9-81ED-4DB2-BD59-A6C34878D82A}">
                    <a16:rowId xmlns:a16="http://schemas.microsoft.com/office/drawing/2014/main" val="2498035954"/>
                  </a:ext>
                </a:extLst>
              </a:tr>
              <a:tr h="370840">
                <a:tc>
                  <a:txBody>
                    <a:bodyPr/>
                    <a:lstStyle/>
                    <a:p>
                      <a:pPr algn="ctr"/>
                      <a:r>
                        <a:rPr lang="en-US" altLang="zh-CN" dirty="0"/>
                        <a:t>2113</a:t>
                      </a:r>
                      <a:endParaRPr lang="zh-CN" altLang="en-US" dirty="0"/>
                    </a:p>
                  </a:txBody>
                  <a:tcPr/>
                </a:tc>
                <a:tc>
                  <a:txBody>
                    <a:bodyPr/>
                    <a:lstStyle/>
                    <a:p>
                      <a:pPr algn="ctr"/>
                      <a:r>
                        <a:rPr lang="zh-CN" altLang="en-US" dirty="0"/>
                        <a:t>程晓清</a:t>
                      </a:r>
                    </a:p>
                  </a:txBody>
                  <a:tcPr/>
                </a:tc>
                <a:tc>
                  <a:txBody>
                    <a:bodyPr/>
                    <a:lstStyle/>
                    <a:p>
                      <a:pPr algn="ctr"/>
                      <a:r>
                        <a:rPr lang="zh-CN" altLang="en-US" dirty="0"/>
                        <a:t>销售部</a:t>
                      </a:r>
                    </a:p>
                  </a:txBody>
                  <a:tcPr/>
                </a:tc>
                <a:tc>
                  <a:txBody>
                    <a:bodyPr/>
                    <a:lstStyle/>
                    <a:p>
                      <a:pPr algn="ctr"/>
                      <a:r>
                        <a:rPr lang="zh-CN" altLang="en-US" dirty="0"/>
                        <a:t>男</a:t>
                      </a:r>
                    </a:p>
                  </a:txBody>
                  <a:tcPr/>
                </a:tc>
                <a:tc>
                  <a:txBody>
                    <a:bodyPr/>
                    <a:lstStyle/>
                    <a:p>
                      <a:pPr algn="ctr"/>
                      <a:r>
                        <a:rPr lang="en-US" altLang="zh-CN" dirty="0"/>
                        <a:t>30</a:t>
                      </a:r>
                    </a:p>
                  </a:txBody>
                  <a:tcPr/>
                </a:tc>
                <a:tc>
                  <a:txBody>
                    <a:bodyPr/>
                    <a:lstStyle/>
                    <a:p>
                      <a:pPr algn="ctr"/>
                      <a:r>
                        <a:rPr lang="en-US" altLang="zh-CN" dirty="0"/>
                        <a:t>310110</a:t>
                      </a:r>
                      <a:r>
                        <a:rPr lang="zh-CN" altLang="en-US" dirty="0"/>
                        <a:t>****</a:t>
                      </a:r>
                      <a:r>
                        <a:rPr lang="en-US" altLang="zh-CN" dirty="0"/>
                        <a:t>03062405</a:t>
                      </a:r>
                      <a:endParaRPr lang="zh-CN" altLang="en-US" dirty="0"/>
                    </a:p>
                  </a:txBody>
                  <a:tcPr/>
                </a:tc>
                <a:extLst>
                  <a:ext uri="{0D108BD9-81ED-4DB2-BD59-A6C34878D82A}">
                    <a16:rowId xmlns:a16="http://schemas.microsoft.com/office/drawing/2014/main" val="225238229"/>
                  </a:ext>
                </a:extLst>
              </a:tr>
              <a:tr h="370840">
                <a:tc>
                  <a:txBody>
                    <a:bodyPr/>
                    <a:lstStyle/>
                    <a:p>
                      <a:pPr algn="ctr"/>
                      <a:r>
                        <a:rPr lang="en-US" altLang="zh-CN" dirty="0"/>
                        <a:t>2116</a:t>
                      </a:r>
                      <a:endParaRPr lang="zh-CN" altLang="en-US" dirty="0"/>
                    </a:p>
                  </a:txBody>
                  <a:tcPr/>
                </a:tc>
                <a:tc>
                  <a:txBody>
                    <a:bodyPr/>
                    <a:lstStyle/>
                    <a:p>
                      <a:pPr algn="ctr"/>
                      <a:r>
                        <a:rPr lang="zh-CN" altLang="en-US" dirty="0"/>
                        <a:t>刘红英</a:t>
                      </a:r>
                    </a:p>
                  </a:txBody>
                  <a:tcPr/>
                </a:tc>
                <a:tc>
                  <a:txBody>
                    <a:bodyPr/>
                    <a:lstStyle/>
                    <a:p>
                      <a:pPr algn="ctr"/>
                      <a:r>
                        <a:rPr lang="zh-CN" altLang="en-US" dirty="0"/>
                        <a:t>财务部</a:t>
                      </a:r>
                    </a:p>
                  </a:txBody>
                  <a:tcPr/>
                </a:tc>
                <a:tc>
                  <a:txBody>
                    <a:bodyPr/>
                    <a:lstStyle/>
                    <a:p>
                      <a:pPr algn="ctr"/>
                      <a:r>
                        <a:rPr lang="zh-CN" altLang="en-US" dirty="0"/>
                        <a:t>女</a:t>
                      </a:r>
                    </a:p>
                  </a:txBody>
                  <a:tcPr/>
                </a:tc>
                <a:tc>
                  <a:txBody>
                    <a:bodyPr/>
                    <a:lstStyle/>
                    <a:p>
                      <a:pPr algn="ctr"/>
                      <a:r>
                        <a:rPr lang="en-US" altLang="zh-CN" dirty="0"/>
                        <a:t>30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05062506</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4023512960"/>
                  </a:ext>
                </a:extLst>
              </a:tr>
              <a:tr h="370840">
                <a:tc>
                  <a:txBody>
                    <a:bodyPr/>
                    <a:lstStyle/>
                    <a:p>
                      <a:pPr algn="ctr"/>
                      <a:r>
                        <a:rPr lang="en-US" altLang="zh-CN" dirty="0"/>
                        <a:t>2136</a:t>
                      </a:r>
                      <a:endParaRPr lang="zh-CN" altLang="en-US" dirty="0"/>
                    </a:p>
                  </a:txBody>
                  <a:tcPr/>
                </a:tc>
                <a:tc>
                  <a:txBody>
                    <a:bodyPr/>
                    <a:lstStyle/>
                    <a:p>
                      <a:pPr algn="ctr"/>
                      <a:r>
                        <a:rPr lang="zh-CN" altLang="en-US" dirty="0"/>
                        <a:t>李小刚</a:t>
                      </a:r>
                    </a:p>
                  </a:txBody>
                  <a:tcPr/>
                </a:tc>
                <a:tc>
                  <a:txBody>
                    <a:bodyPr/>
                    <a:lstStyle/>
                    <a:p>
                      <a:pPr algn="ctr"/>
                      <a:r>
                        <a:rPr lang="zh-CN" altLang="en-US" dirty="0"/>
                        <a:t>管理部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男</a:t>
                      </a:r>
                    </a:p>
                  </a:txBody>
                  <a:tcPr/>
                </a:tc>
                <a:tc>
                  <a:txBody>
                    <a:bodyPr/>
                    <a:lstStyle/>
                    <a:p>
                      <a:pPr algn="ctr"/>
                      <a:r>
                        <a:rPr lang="en-US" altLang="zh-CN" dirty="0"/>
                        <a:t>28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06092507</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242727207"/>
                  </a:ext>
                </a:extLst>
              </a:tr>
              <a:tr h="370840">
                <a:tc>
                  <a:txBody>
                    <a:bodyPr/>
                    <a:lstStyle/>
                    <a:p>
                      <a:pPr algn="ctr"/>
                      <a:r>
                        <a:rPr lang="en-US" altLang="zh-CN" dirty="0"/>
                        <a:t>2138</a:t>
                      </a:r>
                      <a:endParaRPr lang="zh-CN" altLang="en-US" dirty="0"/>
                    </a:p>
                  </a:txBody>
                  <a:tcPr/>
                </a:tc>
                <a:tc>
                  <a:txBody>
                    <a:bodyPr/>
                    <a:lstStyle/>
                    <a:p>
                      <a:pPr algn="ctr"/>
                      <a:r>
                        <a:rPr lang="zh-CN" altLang="en-US" dirty="0"/>
                        <a:t>蒋明</a:t>
                      </a:r>
                    </a:p>
                  </a:txBody>
                  <a:tcPr/>
                </a:tc>
                <a:tc>
                  <a:txBody>
                    <a:bodyPr/>
                    <a:lstStyle/>
                    <a:p>
                      <a:pPr algn="ctr"/>
                      <a:r>
                        <a:rPr lang="zh-CN" altLang="en-US" dirty="0"/>
                        <a:t>采购部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男</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algn="ctr"/>
                      <a:r>
                        <a:rPr lang="en-US" altLang="zh-CN" dirty="0"/>
                        <a:t>41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08082405</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4071535767"/>
                  </a:ext>
                </a:extLst>
              </a:tr>
              <a:tr h="370840">
                <a:tc>
                  <a:txBody>
                    <a:bodyPr/>
                    <a:lstStyle/>
                    <a:p>
                      <a:pPr algn="ctr"/>
                      <a:r>
                        <a:rPr lang="en-US" altLang="zh-CN" dirty="0"/>
                        <a:t>2141</a:t>
                      </a:r>
                      <a:endParaRPr lang="zh-CN" altLang="en-US" dirty="0"/>
                    </a:p>
                  </a:txBody>
                  <a:tcPr/>
                </a:tc>
                <a:tc>
                  <a:txBody>
                    <a:bodyPr/>
                    <a:lstStyle/>
                    <a:p>
                      <a:pPr algn="ctr"/>
                      <a:r>
                        <a:rPr lang="zh-CN" altLang="en-US" dirty="0"/>
                        <a:t>王国洋</a:t>
                      </a:r>
                    </a:p>
                  </a:txBody>
                  <a:tcPr/>
                </a:tc>
                <a:tc>
                  <a:txBody>
                    <a:bodyPr/>
                    <a:lstStyle/>
                    <a:p>
                      <a:pPr algn="ctr"/>
                      <a:r>
                        <a:rPr lang="zh-CN" altLang="en-US" dirty="0"/>
                        <a:t>销售部</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algn="ctr"/>
                      <a:r>
                        <a:rPr lang="en-US" altLang="zh-CN" dirty="0"/>
                        <a:t>39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310110</a:t>
                      </a: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a:t>
                      </a: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09022407</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53225929"/>
                  </a:ext>
                </a:extLst>
              </a:tr>
            </a:tbl>
          </a:graphicData>
        </a:graphic>
      </p:graphicFrame>
      <p:sp>
        <p:nvSpPr>
          <p:cNvPr id="596994" name="Rectangle 2"/>
          <p:cNvSpPr>
            <a:spLocks noChangeArrowheads="1"/>
          </p:cNvSpPr>
          <p:nvPr/>
        </p:nvSpPr>
        <p:spPr bwMode="auto">
          <a:xfrm>
            <a:off x="0" y="0"/>
            <a:ext cx="9448800" cy="52888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250000"/>
              </a:lnSpc>
            </a:pPr>
            <a:r>
              <a:rPr lang="en-US" altLang="zh-CN" sz="2800" b="1" dirty="0">
                <a:solidFill>
                  <a:srgbClr val="000099"/>
                </a:solidFill>
                <a:latin typeface="Times New Roman" pitchFamily="18" charset="0"/>
              </a:rPr>
              <a:t>  </a:t>
            </a:r>
            <a:r>
              <a:rPr lang="zh-CN" altLang="en-US" sz="2800" b="1" dirty="0">
                <a:solidFill>
                  <a:srgbClr val="000099"/>
                </a:solidFill>
                <a:latin typeface="Times New Roman" pitchFamily="18" charset="0"/>
              </a:rPr>
              <a:t>四、关键码</a:t>
            </a:r>
          </a:p>
          <a:p>
            <a:pPr eaLnBrk="0" hangingPunct="0">
              <a:lnSpc>
                <a:spcPct val="250000"/>
              </a:lnSpc>
              <a:spcBef>
                <a:spcPct val="0"/>
              </a:spcBef>
            </a:pPr>
            <a:r>
              <a:rPr lang="zh-CN" altLang="en-US" sz="2800" b="1" dirty="0">
                <a:solidFill>
                  <a:srgbClr val="660033"/>
                </a:solidFill>
                <a:latin typeface="Times New Roman" pitchFamily="18" charset="0"/>
              </a:rPr>
              <a:t>  超    键：</a:t>
            </a:r>
            <a:endParaRPr lang="en-US" altLang="zh-CN" sz="2800" b="1" dirty="0">
              <a:solidFill>
                <a:srgbClr val="660033"/>
              </a:solidFill>
              <a:latin typeface="Times New Roman" pitchFamily="18" charset="0"/>
            </a:endParaRPr>
          </a:p>
          <a:p>
            <a:pPr eaLnBrk="0" hangingPunct="0">
              <a:lnSpc>
                <a:spcPct val="250000"/>
              </a:lnSpc>
              <a:spcBef>
                <a:spcPct val="0"/>
              </a:spcBef>
            </a:pPr>
            <a:r>
              <a:rPr lang="zh-CN" altLang="en-US" sz="2800" b="1" dirty="0">
                <a:solidFill>
                  <a:srgbClr val="660033"/>
                </a:solidFill>
                <a:latin typeface="Times New Roman" pitchFamily="18" charset="0"/>
              </a:rPr>
              <a:t>  候选键：</a:t>
            </a:r>
          </a:p>
          <a:p>
            <a:pPr eaLnBrk="0" hangingPunct="0">
              <a:lnSpc>
                <a:spcPct val="250000"/>
              </a:lnSpc>
              <a:spcBef>
                <a:spcPct val="0"/>
              </a:spcBef>
            </a:pPr>
            <a:r>
              <a:rPr lang="zh-CN" altLang="en-US" sz="2800" b="1" dirty="0">
                <a:solidFill>
                  <a:srgbClr val="660033"/>
                </a:solidFill>
                <a:latin typeface="Times New Roman" pitchFamily="18" charset="0"/>
              </a:rPr>
              <a:t>  主键：</a:t>
            </a:r>
          </a:p>
          <a:p>
            <a:pPr eaLnBrk="0" hangingPunct="0">
              <a:lnSpc>
                <a:spcPct val="250000"/>
              </a:lnSpc>
              <a:spcBef>
                <a:spcPct val="0"/>
              </a:spcBef>
            </a:pPr>
            <a:r>
              <a:rPr lang="zh-CN" altLang="en-US" sz="2800" b="1" dirty="0">
                <a:solidFill>
                  <a:srgbClr val="660033"/>
                </a:solidFill>
              </a:rPr>
              <a:t> </a:t>
            </a:r>
            <a:endParaRPr lang="zh-CN" altLang="en-US" sz="2800" b="1" dirty="0">
              <a:solidFill>
                <a:srgbClr val="660033"/>
              </a:solidFill>
              <a:latin typeface="Times New Roman" pitchFamily="18" charset="0"/>
            </a:endParaRPr>
          </a:p>
        </p:txBody>
      </p:sp>
      <p:sp>
        <p:nvSpPr>
          <p:cNvPr id="596995" name="Rectangle 3"/>
          <p:cNvSpPr>
            <a:spLocks noChangeArrowheads="1"/>
          </p:cNvSpPr>
          <p:nvPr/>
        </p:nvSpPr>
        <p:spPr bwMode="auto">
          <a:xfrm>
            <a:off x="1643063" y="1676400"/>
            <a:ext cx="753745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400" b="1" dirty="0">
                <a:solidFill>
                  <a:schemeClr val="bg2"/>
                </a:solidFill>
              </a:rPr>
              <a:t>能唯一标识元组的属性组合（可能存在多余的属性）。</a:t>
            </a:r>
          </a:p>
        </p:txBody>
      </p:sp>
      <p:sp>
        <p:nvSpPr>
          <p:cNvPr id="596996" name="Rectangle 4"/>
          <p:cNvSpPr>
            <a:spLocks noChangeArrowheads="1"/>
          </p:cNvSpPr>
          <p:nvPr/>
        </p:nvSpPr>
        <p:spPr bwMode="auto">
          <a:xfrm>
            <a:off x="1763713" y="2390775"/>
            <a:ext cx="7308850"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200000"/>
              </a:lnSpc>
              <a:spcBef>
                <a:spcPct val="0"/>
              </a:spcBef>
            </a:pPr>
            <a:r>
              <a:rPr lang="zh-CN" altLang="en-US" sz="2400" b="1">
                <a:solidFill>
                  <a:schemeClr val="bg2"/>
                </a:solidFill>
              </a:rPr>
              <a:t>能唯一标识元组的最小属性组合。</a:t>
            </a:r>
          </a:p>
        </p:txBody>
      </p:sp>
      <p:sp>
        <p:nvSpPr>
          <p:cNvPr id="596997" name="Rectangle 5"/>
          <p:cNvSpPr>
            <a:spLocks noChangeArrowheads="1"/>
          </p:cNvSpPr>
          <p:nvPr/>
        </p:nvSpPr>
        <p:spPr bwMode="auto">
          <a:xfrm>
            <a:off x="1115616" y="3736975"/>
            <a:ext cx="826135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400" b="1" dirty="0">
                <a:solidFill>
                  <a:schemeClr val="bg2"/>
                </a:solidFill>
              </a:rPr>
              <a:t>若一个关系中有多个候选键</a:t>
            </a:r>
            <a:r>
              <a:rPr lang="en-US" altLang="zh-CN" sz="2400" b="1" dirty="0">
                <a:solidFill>
                  <a:schemeClr val="bg2"/>
                </a:solidFill>
              </a:rPr>
              <a:t>,</a:t>
            </a:r>
            <a:r>
              <a:rPr lang="zh-CN" altLang="en-US" sz="2400" b="1" dirty="0">
                <a:solidFill>
                  <a:schemeClr val="bg2"/>
                </a:solidFill>
              </a:rPr>
              <a:t>则选其中的一个为关系的主键。</a:t>
            </a:r>
          </a:p>
        </p:txBody>
      </p:sp>
      <p:grpSp>
        <p:nvGrpSpPr>
          <p:cNvPr id="10" name="组合 9">
            <a:extLst>
              <a:ext uri="{FF2B5EF4-FFF2-40B4-BE49-F238E27FC236}">
                <a16:creationId xmlns:a16="http://schemas.microsoft.com/office/drawing/2014/main" id="{7775D709-8E96-964E-8507-DA41895E93C5}"/>
              </a:ext>
            </a:extLst>
          </p:cNvPr>
          <p:cNvGrpSpPr/>
          <p:nvPr/>
        </p:nvGrpSpPr>
        <p:grpSpPr>
          <a:xfrm>
            <a:off x="670661" y="3068960"/>
            <a:ext cx="1093052" cy="1912120"/>
            <a:chOff x="670661" y="3068960"/>
            <a:chExt cx="1093052" cy="1912120"/>
          </a:xfrm>
        </p:grpSpPr>
        <p:cxnSp>
          <p:nvCxnSpPr>
            <p:cNvPr id="3" name="直线箭头连接符 2">
              <a:extLst>
                <a:ext uri="{FF2B5EF4-FFF2-40B4-BE49-F238E27FC236}">
                  <a16:creationId xmlns:a16="http://schemas.microsoft.com/office/drawing/2014/main" id="{D32E694D-0C96-4647-91AF-910089003F4D}"/>
                </a:ext>
              </a:extLst>
            </p:cNvPr>
            <p:cNvCxnSpPr/>
            <p:nvPr/>
          </p:nvCxnSpPr>
          <p:spPr bwMode="auto">
            <a:xfrm flipH="1">
              <a:off x="1187449" y="3068960"/>
              <a:ext cx="1" cy="1482155"/>
            </a:xfrm>
            <a:prstGeom prst="straightConnector1">
              <a:avLst/>
            </a:prstGeom>
            <a:noFill/>
            <a:ln w="19050" cap="flat" cmpd="sng" algn="ctr">
              <a:solidFill>
                <a:srgbClr val="FF006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9" name="椭圆 8">
              <a:extLst>
                <a:ext uri="{FF2B5EF4-FFF2-40B4-BE49-F238E27FC236}">
                  <a16:creationId xmlns:a16="http://schemas.microsoft.com/office/drawing/2014/main" id="{B28CCC6C-9923-4C4A-B734-4DAF31B61E68}"/>
                </a:ext>
              </a:extLst>
            </p:cNvPr>
            <p:cNvSpPr/>
            <p:nvPr/>
          </p:nvSpPr>
          <p:spPr bwMode="auto">
            <a:xfrm>
              <a:off x="670661" y="4551146"/>
              <a:ext cx="1093052" cy="429934"/>
            </a:xfrm>
            <a:prstGeom prst="ellipse">
              <a:avLst/>
            </a:prstGeom>
            <a:noFill/>
            <a:ln w="15875">
              <a:solidFill>
                <a:srgbClr val="FF0066"/>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grpSp>
      <p:grpSp>
        <p:nvGrpSpPr>
          <p:cNvPr id="13" name="组合 12">
            <a:extLst>
              <a:ext uri="{FF2B5EF4-FFF2-40B4-BE49-F238E27FC236}">
                <a16:creationId xmlns:a16="http://schemas.microsoft.com/office/drawing/2014/main" id="{5888442E-3CE0-3D47-8270-72D352C6DFD3}"/>
              </a:ext>
            </a:extLst>
          </p:cNvPr>
          <p:cNvGrpSpPr/>
          <p:nvPr/>
        </p:nvGrpSpPr>
        <p:grpSpPr>
          <a:xfrm>
            <a:off x="1187449" y="3068960"/>
            <a:ext cx="7015032" cy="1852611"/>
            <a:chOff x="1187449" y="3068960"/>
            <a:chExt cx="7015032" cy="1852611"/>
          </a:xfrm>
        </p:grpSpPr>
        <p:cxnSp>
          <p:nvCxnSpPr>
            <p:cNvPr id="12" name="直线箭头连接符 11">
              <a:extLst>
                <a:ext uri="{FF2B5EF4-FFF2-40B4-BE49-F238E27FC236}">
                  <a16:creationId xmlns:a16="http://schemas.microsoft.com/office/drawing/2014/main" id="{C84E7A59-044B-9849-A161-CF8DC424DA8A}"/>
                </a:ext>
              </a:extLst>
            </p:cNvPr>
            <p:cNvCxnSpPr/>
            <p:nvPr/>
          </p:nvCxnSpPr>
          <p:spPr bwMode="auto">
            <a:xfrm>
              <a:off x="1187449" y="3068960"/>
              <a:ext cx="6071574" cy="1422677"/>
            </a:xfrm>
            <a:prstGeom prst="straightConnector1">
              <a:avLst/>
            </a:prstGeom>
            <a:noFill/>
            <a:ln w="19050" cap="flat" cmpd="sng" algn="ctr">
              <a:solidFill>
                <a:srgbClr val="FF006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8" name="椭圆 17">
              <a:extLst>
                <a:ext uri="{FF2B5EF4-FFF2-40B4-BE49-F238E27FC236}">
                  <a16:creationId xmlns:a16="http://schemas.microsoft.com/office/drawing/2014/main" id="{3C0DDA0E-D1EF-8240-A246-1467D68F3BB5}"/>
                </a:ext>
              </a:extLst>
            </p:cNvPr>
            <p:cNvSpPr/>
            <p:nvPr/>
          </p:nvSpPr>
          <p:spPr bwMode="auto">
            <a:xfrm>
              <a:off x="6682761" y="4491637"/>
              <a:ext cx="1519720" cy="429934"/>
            </a:xfrm>
            <a:prstGeom prst="ellipse">
              <a:avLst/>
            </a:prstGeom>
            <a:noFill/>
            <a:ln w="15875">
              <a:solidFill>
                <a:srgbClr val="FF0066"/>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grpSp>
      <p:pic>
        <p:nvPicPr>
          <p:cNvPr id="14" name="图片 13">
            <a:extLst>
              <a:ext uri="{FF2B5EF4-FFF2-40B4-BE49-F238E27FC236}">
                <a16:creationId xmlns:a16="http://schemas.microsoft.com/office/drawing/2014/main" id="{2796BA45-80E9-9F45-B2BE-2EA57B5D849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76" t="20973" r="54062" b="13716"/>
          <a:stretch>
            <a:fillRect/>
          </a:stretch>
        </p:blipFill>
        <p:spPr bwMode="auto">
          <a:xfrm>
            <a:off x="113435" y="476672"/>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6995"/>
                                        </p:tgtEl>
                                        <p:attrNameLst>
                                          <p:attrName>style.visibility</p:attrName>
                                        </p:attrNameLst>
                                      </p:cBhvr>
                                      <p:to>
                                        <p:strVal val="visible"/>
                                      </p:to>
                                    </p:set>
                                    <p:animEffect transition="in" filter="blinds(horizontal)">
                                      <p:cBhvr>
                                        <p:cTn id="7" dur="500"/>
                                        <p:tgtEl>
                                          <p:spTgt spid="59699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596996">
                                            <p:txEl>
                                              <p:pRg st="0" end="0"/>
                                            </p:txEl>
                                          </p:spTgt>
                                        </p:tgtEl>
                                        <p:attrNameLst>
                                          <p:attrName>style.visibility</p:attrName>
                                        </p:attrNameLst>
                                      </p:cBhvr>
                                      <p:to>
                                        <p:strVal val="visible"/>
                                      </p:to>
                                    </p:set>
                                    <p:animEffect transition="in" filter="blinds(horizontal)">
                                      <p:cBhvr>
                                        <p:cTn id="12" dur="500"/>
                                        <p:tgtEl>
                                          <p:spTgt spid="596996">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596997"/>
                                        </p:tgtEl>
                                        <p:attrNameLst>
                                          <p:attrName>style.visibility</p:attrName>
                                        </p:attrNameLst>
                                      </p:cBhvr>
                                      <p:to>
                                        <p:strVal val="visible"/>
                                      </p:to>
                                    </p:set>
                                    <p:animEffect transition="in" filter="blinds(horizontal)">
                                      <p:cBhvr>
                                        <p:cTn id="25" dur="500"/>
                                        <p:tgtEl>
                                          <p:spTgt spid="596997"/>
                                        </p:tgtEl>
                                      </p:cBhvr>
                                    </p:animEffec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995" grpId="0"/>
      <p:bldP spid="59699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6994" name="Rectangle 2"/>
          <p:cNvSpPr>
            <a:spLocks noChangeArrowheads="1"/>
          </p:cNvSpPr>
          <p:nvPr/>
        </p:nvSpPr>
        <p:spPr bwMode="auto">
          <a:xfrm>
            <a:off x="0" y="0"/>
            <a:ext cx="9448800" cy="205723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250000"/>
              </a:lnSpc>
            </a:pPr>
            <a:r>
              <a:rPr lang="en-US" altLang="zh-CN" sz="2800" b="1" dirty="0">
                <a:solidFill>
                  <a:srgbClr val="000099"/>
                </a:solidFill>
                <a:latin typeface="Times New Roman" pitchFamily="18" charset="0"/>
              </a:rPr>
              <a:t>  </a:t>
            </a:r>
            <a:r>
              <a:rPr lang="zh-CN" altLang="en-US" sz="2800" b="1" dirty="0">
                <a:solidFill>
                  <a:srgbClr val="000099"/>
                </a:solidFill>
                <a:latin typeface="Times New Roman" pitchFamily="18" charset="0"/>
              </a:rPr>
              <a:t>四、关键码</a:t>
            </a:r>
          </a:p>
          <a:p>
            <a:pPr eaLnBrk="0" hangingPunct="0">
              <a:lnSpc>
                <a:spcPct val="250000"/>
              </a:lnSpc>
              <a:spcBef>
                <a:spcPct val="0"/>
              </a:spcBef>
            </a:pPr>
            <a:r>
              <a:rPr lang="zh-CN" altLang="en-US" sz="2800" b="1" dirty="0">
                <a:solidFill>
                  <a:srgbClr val="660033"/>
                </a:solidFill>
              </a:rPr>
              <a:t>外键：</a:t>
            </a:r>
            <a:endParaRPr lang="zh-CN" altLang="en-US" sz="2800" b="1" dirty="0">
              <a:solidFill>
                <a:srgbClr val="660033"/>
              </a:solidFill>
              <a:latin typeface="Times New Roman" pitchFamily="18" charset="0"/>
            </a:endParaRPr>
          </a:p>
        </p:txBody>
      </p:sp>
      <p:sp>
        <p:nvSpPr>
          <p:cNvPr id="596999" name="Rectangle 7"/>
          <p:cNvSpPr>
            <a:spLocks noChangeArrowheads="1"/>
          </p:cNvSpPr>
          <p:nvPr/>
        </p:nvSpPr>
        <p:spPr bwMode="auto">
          <a:xfrm>
            <a:off x="1258888" y="1529958"/>
            <a:ext cx="7885112" cy="1771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pPr>
            <a:r>
              <a:rPr lang="zh-CN" altLang="en-US" sz="2400" b="1" dirty="0">
                <a:solidFill>
                  <a:schemeClr val="bg2"/>
                </a:solidFill>
              </a:rPr>
              <a:t>若一个关系</a:t>
            </a:r>
            <a:r>
              <a:rPr lang="en-US" altLang="zh-CN" sz="2400" b="1" dirty="0">
                <a:solidFill>
                  <a:schemeClr val="bg2"/>
                </a:solidFill>
              </a:rPr>
              <a:t>R</a:t>
            </a:r>
            <a:r>
              <a:rPr lang="zh-CN" altLang="en-US" sz="2400" b="1" dirty="0">
                <a:solidFill>
                  <a:schemeClr val="bg2"/>
                </a:solidFill>
              </a:rPr>
              <a:t>中包含有另一个关系</a:t>
            </a:r>
            <a:r>
              <a:rPr lang="en-US" altLang="zh-CN" sz="2400" b="1" dirty="0">
                <a:solidFill>
                  <a:schemeClr val="bg2"/>
                </a:solidFill>
              </a:rPr>
              <a:t>S</a:t>
            </a:r>
            <a:r>
              <a:rPr lang="zh-CN" altLang="en-US" sz="2400" b="1" dirty="0">
                <a:solidFill>
                  <a:schemeClr val="bg2"/>
                </a:solidFill>
              </a:rPr>
              <a:t>的主键所对应的属性</a:t>
            </a:r>
          </a:p>
          <a:p>
            <a:pPr>
              <a:lnSpc>
                <a:spcPct val="120000"/>
              </a:lnSpc>
            </a:pPr>
            <a:r>
              <a:rPr lang="zh-CN" altLang="en-US" sz="2400" b="1" dirty="0">
                <a:solidFill>
                  <a:schemeClr val="bg2"/>
                </a:solidFill>
              </a:rPr>
              <a:t>组</a:t>
            </a:r>
            <a:r>
              <a:rPr lang="en-US" altLang="zh-CN" sz="2400" b="1" dirty="0">
                <a:solidFill>
                  <a:schemeClr val="bg2"/>
                </a:solidFill>
              </a:rPr>
              <a:t>F</a:t>
            </a:r>
            <a:r>
              <a:rPr lang="zh-CN" altLang="en-US" sz="2400" b="1" dirty="0">
                <a:solidFill>
                  <a:schemeClr val="bg2"/>
                </a:solidFill>
              </a:rPr>
              <a:t>， 则称</a:t>
            </a:r>
            <a:r>
              <a:rPr lang="en-US" altLang="zh-CN" sz="2400" b="1" dirty="0">
                <a:solidFill>
                  <a:schemeClr val="bg2"/>
                </a:solidFill>
              </a:rPr>
              <a:t>F</a:t>
            </a:r>
            <a:r>
              <a:rPr lang="zh-CN" altLang="en-US" sz="2400" b="1" dirty="0">
                <a:solidFill>
                  <a:schemeClr val="bg2"/>
                </a:solidFill>
              </a:rPr>
              <a:t>为</a:t>
            </a:r>
            <a:r>
              <a:rPr lang="en-US" altLang="zh-CN" sz="2400" b="1" dirty="0">
                <a:solidFill>
                  <a:schemeClr val="bg2"/>
                </a:solidFill>
              </a:rPr>
              <a:t>R</a:t>
            </a:r>
            <a:r>
              <a:rPr lang="zh-CN" altLang="en-US" sz="2400" b="1" dirty="0">
                <a:solidFill>
                  <a:schemeClr val="bg2"/>
                </a:solidFill>
              </a:rPr>
              <a:t>的外键。称关系</a:t>
            </a:r>
            <a:r>
              <a:rPr lang="en-US" altLang="zh-CN" sz="2400" b="1" dirty="0">
                <a:solidFill>
                  <a:schemeClr val="bg2"/>
                </a:solidFill>
              </a:rPr>
              <a:t>S</a:t>
            </a:r>
            <a:r>
              <a:rPr lang="zh-CN" altLang="en-US" sz="2400" b="1" dirty="0">
                <a:solidFill>
                  <a:schemeClr val="bg2"/>
                </a:solidFill>
              </a:rPr>
              <a:t>为参照关系，</a:t>
            </a:r>
            <a:r>
              <a:rPr lang="en-US" altLang="zh-CN" sz="2400" b="1" dirty="0">
                <a:solidFill>
                  <a:schemeClr val="bg2"/>
                </a:solidFill>
              </a:rPr>
              <a:t>R</a:t>
            </a:r>
            <a:r>
              <a:rPr lang="zh-CN" altLang="en-US" sz="2400" b="1" dirty="0">
                <a:solidFill>
                  <a:schemeClr val="bg2"/>
                </a:solidFill>
              </a:rPr>
              <a:t>为依赖</a:t>
            </a:r>
          </a:p>
          <a:p>
            <a:pPr>
              <a:lnSpc>
                <a:spcPct val="120000"/>
              </a:lnSpc>
            </a:pPr>
            <a:r>
              <a:rPr lang="zh-CN" altLang="en-US" sz="2400" b="1" dirty="0">
                <a:solidFill>
                  <a:schemeClr val="bg2"/>
                </a:solidFill>
              </a:rPr>
              <a:t>关系。</a:t>
            </a:r>
          </a:p>
        </p:txBody>
      </p:sp>
      <p:sp>
        <p:nvSpPr>
          <p:cNvPr id="8" name="文本框 7">
            <a:extLst>
              <a:ext uri="{FF2B5EF4-FFF2-40B4-BE49-F238E27FC236}">
                <a16:creationId xmlns:a16="http://schemas.microsoft.com/office/drawing/2014/main" id="{854C1688-17A2-B143-B614-24386060C5D3}"/>
              </a:ext>
            </a:extLst>
          </p:cNvPr>
          <p:cNvSpPr txBox="1"/>
          <p:nvPr/>
        </p:nvSpPr>
        <p:spPr>
          <a:xfrm>
            <a:off x="369888" y="3478690"/>
            <a:ext cx="8352928" cy="1208536"/>
          </a:xfrm>
          <a:prstGeom prst="rect">
            <a:avLst/>
          </a:prstGeom>
          <a:noFill/>
        </p:spPr>
        <p:txBody>
          <a:bodyPr wrap="square">
            <a:spAutoFit/>
          </a:bodyPr>
          <a:lstStyle/>
          <a:p>
            <a:pPr algn="l"/>
            <a:r>
              <a:rPr lang="zh-CN" altLang="en-US" sz="3200" b="1" baseline="-25000" dirty="0">
                <a:solidFill>
                  <a:schemeClr val="bg2"/>
                </a:solidFill>
              </a:rPr>
              <a:t>职工关系</a:t>
            </a:r>
            <a:r>
              <a:rPr lang="en-US" altLang="zh-CN" sz="3200" b="1" baseline="-25000" dirty="0">
                <a:solidFill>
                  <a:schemeClr val="bg2"/>
                </a:solidFill>
              </a:rPr>
              <a:t>R</a:t>
            </a:r>
            <a:r>
              <a:rPr lang="zh-CN" altLang="en-US" sz="3200" b="1" baseline="-25000" dirty="0">
                <a:solidFill>
                  <a:schemeClr val="bg2"/>
                </a:solidFill>
              </a:rPr>
              <a:t>：职工</a:t>
            </a:r>
            <a:r>
              <a:rPr kumimoji="1" lang="en-US" altLang="zh-CN" sz="3200" b="1" baseline="-25000" dirty="0">
                <a:solidFill>
                  <a:schemeClr val="bg2"/>
                </a:solidFill>
              </a:rPr>
              <a:t>=(</a:t>
            </a:r>
            <a:r>
              <a:rPr kumimoji="1" lang="zh-CN" altLang="en-US" sz="3200" b="1" u="sng" baseline="-25000" dirty="0">
                <a:solidFill>
                  <a:schemeClr val="bg2"/>
                </a:solidFill>
              </a:rPr>
              <a:t>职工编号</a:t>
            </a:r>
            <a:r>
              <a:rPr kumimoji="1" lang="en-US" altLang="zh-CN" sz="3200" b="1" baseline="-25000" dirty="0">
                <a:solidFill>
                  <a:schemeClr val="bg2"/>
                </a:solidFill>
              </a:rPr>
              <a:t>,</a:t>
            </a:r>
            <a:r>
              <a:rPr kumimoji="1" lang="zh-CN" altLang="en-US" sz="3200" b="1" baseline="-25000" dirty="0">
                <a:solidFill>
                  <a:schemeClr val="bg2"/>
                </a:solidFill>
              </a:rPr>
              <a:t>姓名</a:t>
            </a:r>
            <a:r>
              <a:rPr kumimoji="1" lang="en-US" altLang="zh-CN" sz="3200" b="1" baseline="-25000" dirty="0">
                <a:solidFill>
                  <a:schemeClr val="bg2"/>
                </a:solidFill>
              </a:rPr>
              <a:t>,</a:t>
            </a:r>
            <a:r>
              <a:rPr lang="zh-CN" altLang="en-US" sz="3200" b="1" u="wavy" baseline="-25000" dirty="0">
                <a:solidFill>
                  <a:schemeClr val="bg2"/>
                </a:solidFill>
              </a:rPr>
              <a:t>部门编号</a:t>
            </a:r>
            <a:r>
              <a:rPr lang="en-US" altLang="zh-CN" sz="3200" b="1" baseline="-25000" dirty="0">
                <a:solidFill>
                  <a:schemeClr val="bg2"/>
                </a:solidFill>
              </a:rPr>
              <a:t>,</a:t>
            </a:r>
            <a:r>
              <a:rPr lang="zh-CN" altLang="en-US" sz="3200" b="1" baseline="-25000" dirty="0">
                <a:solidFill>
                  <a:schemeClr val="bg2"/>
                </a:solidFill>
              </a:rPr>
              <a:t>性别</a:t>
            </a:r>
            <a:r>
              <a:rPr lang="en-US" altLang="zh-CN" sz="3200" b="1" baseline="-25000" dirty="0">
                <a:solidFill>
                  <a:schemeClr val="bg2"/>
                </a:solidFill>
              </a:rPr>
              <a:t>,</a:t>
            </a:r>
            <a:r>
              <a:rPr lang="zh-CN" altLang="en-US" sz="3200" b="1" baseline="-25000" dirty="0">
                <a:solidFill>
                  <a:schemeClr val="bg2"/>
                </a:solidFill>
              </a:rPr>
              <a:t>年龄</a:t>
            </a:r>
            <a:r>
              <a:rPr lang="en-US" altLang="zh-CN" sz="3200" b="1" baseline="-25000" dirty="0">
                <a:solidFill>
                  <a:schemeClr val="bg2"/>
                </a:solidFill>
              </a:rPr>
              <a:t>,</a:t>
            </a:r>
            <a:r>
              <a:rPr lang="zh-CN" altLang="en-US" sz="3200" b="1" baseline="-25000" dirty="0">
                <a:solidFill>
                  <a:schemeClr val="bg2"/>
                </a:solidFill>
              </a:rPr>
              <a:t>身份证号码</a:t>
            </a:r>
            <a:r>
              <a:rPr lang="en-US" altLang="zh-CN" sz="3200" b="1" baseline="-25000" dirty="0">
                <a:solidFill>
                  <a:schemeClr val="bg2"/>
                </a:solidFill>
              </a:rPr>
              <a:t>)</a:t>
            </a:r>
          </a:p>
          <a:p>
            <a:pPr algn="l"/>
            <a:endParaRPr lang="en-US" altLang="zh-CN" sz="3200" b="1" baseline="-25000" dirty="0">
              <a:solidFill>
                <a:schemeClr val="bg2"/>
              </a:solidFill>
            </a:endParaRPr>
          </a:p>
          <a:p>
            <a:pPr algn="l"/>
            <a:r>
              <a:rPr lang="zh-CN" altLang="en-US" sz="3200" b="1" baseline="-25000" dirty="0">
                <a:solidFill>
                  <a:schemeClr val="bg2"/>
                </a:solidFill>
              </a:rPr>
              <a:t>部门关系</a:t>
            </a:r>
            <a:r>
              <a:rPr lang="en-US" altLang="zh-CN" sz="3200" b="1" baseline="-25000" dirty="0">
                <a:solidFill>
                  <a:schemeClr val="bg2"/>
                </a:solidFill>
              </a:rPr>
              <a:t>S</a:t>
            </a:r>
            <a:r>
              <a:rPr lang="zh-CN" altLang="en-US" sz="3200" b="1" baseline="-25000" dirty="0">
                <a:solidFill>
                  <a:schemeClr val="bg2"/>
                </a:solidFill>
              </a:rPr>
              <a:t>：部门</a:t>
            </a:r>
            <a:r>
              <a:rPr lang="en-US" altLang="zh-CN" sz="3200" b="1" baseline="-25000" dirty="0">
                <a:solidFill>
                  <a:schemeClr val="bg2"/>
                </a:solidFill>
              </a:rPr>
              <a:t>=(</a:t>
            </a:r>
            <a:r>
              <a:rPr lang="zh-CN" altLang="en-US" sz="3200" b="1" u="sng" baseline="-25000" dirty="0">
                <a:solidFill>
                  <a:schemeClr val="bg2"/>
                </a:solidFill>
              </a:rPr>
              <a:t>部门编号</a:t>
            </a:r>
            <a:r>
              <a:rPr lang="en-US" altLang="zh-CN" sz="3200" b="1" baseline="-25000" dirty="0">
                <a:solidFill>
                  <a:schemeClr val="bg2"/>
                </a:solidFill>
              </a:rPr>
              <a:t>,</a:t>
            </a:r>
            <a:r>
              <a:rPr lang="zh-CN" altLang="en-US" sz="3200" b="1" baseline="-25000" dirty="0">
                <a:solidFill>
                  <a:schemeClr val="bg2"/>
                </a:solidFill>
              </a:rPr>
              <a:t>部门名称</a:t>
            </a:r>
            <a:r>
              <a:rPr lang="en-US" altLang="zh-CN" sz="3200" b="1" baseline="-25000" dirty="0">
                <a:solidFill>
                  <a:schemeClr val="bg2"/>
                </a:solidFill>
              </a:rPr>
              <a:t>,</a:t>
            </a:r>
            <a:r>
              <a:rPr lang="zh-CN" altLang="en-US" sz="3200" b="1" baseline="-25000" dirty="0">
                <a:solidFill>
                  <a:schemeClr val="bg2"/>
                </a:solidFill>
              </a:rPr>
              <a:t>部门经理</a:t>
            </a:r>
            <a:r>
              <a:rPr lang="en-US" altLang="zh-CN" sz="3200" b="1" baseline="-25000" dirty="0">
                <a:solidFill>
                  <a:schemeClr val="bg2"/>
                </a:solidFill>
              </a:rPr>
              <a:t>)</a:t>
            </a:r>
          </a:p>
        </p:txBody>
      </p:sp>
      <p:grpSp>
        <p:nvGrpSpPr>
          <p:cNvPr id="13" name="组合 12">
            <a:extLst>
              <a:ext uri="{FF2B5EF4-FFF2-40B4-BE49-F238E27FC236}">
                <a16:creationId xmlns:a16="http://schemas.microsoft.com/office/drawing/2014/main" id="{75D29566-0F8D-A94B-903D-8FC1BBE06DE5}"/>
              </a:ext>
            </a:extLst>
          </p:cNvPr>
          <p:cNvGrpSpPr/>
          <p:nvPr/>
        </p:nvGrpSpPr>
        <p:grpSpPr>
          <a:xfrm>
            <a:off x="3373512" y="3478690"/>
            <a:ext cx="2422624" cy="954518"/>
            <a:chOff x="2123728" y="3482594"/>
            <a:chExt cx="2422624" cy="954518"/>
          </a:xfrm>
        </p:grpSpPr>
        <p:cxnSp>
          <p:nvCxnSpPr>
            <p:cNvPr id="10" name="直线箭头连接符 9">
              <a:extLst>
                <a:ext uri="{FF2B5EF4-FFF2-40B4-BE49-F238E27FC236}">
                  <a16:creationId xmlns:a16="http://schemas.microsoft.com/office/drawing/2014/main" id="{644F0015-CCB2-7243-BC3E-F2DAFD74396D}"/>
                </a:ext>
              </a:extLst>
            </p:cNvPr>
            <p:cNvCxnSpPr>
              <a:cxnSpLocks/>
            </p:cNvCxnSpPr>
            <p:nvPr/>
          </p:nvCxnSpPr>
          <p:spPr bwMode="auto">
            <a:xfrm flipV="1">
              <a:off x="2123728" y="3933056"/>
              <a:ext cx="1728192" cy="504056"/>
            </a:xfrm>
            <a:prstGeom prst="straightConnector1">
              <a:avLst/>
            </a:prstGeom>
            <a:noFill/>
            <a:ln w="19050" cap="flat" cmpd="sng" algn="ctr">
              <a:solidFill>
                <a:srgbClr val="FF0066"/>
              </a:solidFill>
              <a:prstDash val="solid"/>
              <a:round/>
              <a:headEnd type="none" w="med" len="med"/>
              <a:tailEnd type="triangl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1" name="椭圆 10">
              <a:extLst>
                <a:ext uri="{FF2B5EF4-FFF2-40B4-BE49-F238E27FC236}">
                  <a16:creationId xmlns:a16="http://schemas.microsoft.com/office/drawing/2014/main" id="{E80CEF74-B44A-EE46-AE6C-87587BB7F54D}"/>
                </a:ext>
              </a:extLst>
            </p:cNvPr>
            <p:cNvSpPr/>
            <p:nvPr/>
          </p:nvSpPr>
          <p:spPr bwMode="auto">
            <a:xfrm>
              <a:off x="3347864" y="3482594"/>
              <a:ext cx="1198488" cy="429934"/>
            </a:xfrm>
            <a:prstGeom prst="ellipse">
              <a:avLst/>
            </a:prstGeom>
            <a:noFill/>
            <a:ln w="15875">
              <a:solidFill>
                <a:srgbClr val="FF0066"/>
              </a:solidFill>
            </a:ln>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12" name="文本框 11">
              <a:extLst>
                <a:ext uri="{FF2B5EF4-FFF2-40B4-BE49-F238E27FC236}">
                  <a16:creationId xmlns:a16="http://schemas.microsoft.com/office/drawing/2014/main" id="{E20D6BE6-3D53-3C4E-92FF-5F55B3DF80C0}"/>
                </a:ext>
              </a:extLst>
            </p:cNvPr>
            <p:cNvSpPr txBox="1"/>
            <p:nvPr/>
          </p:nvSpPr>
          <p:spPr>
            <a:xfrm>
              <a:off x="3528754" y="4060489"/>
              <a:ext cx="646331" cy="313932"/>
            </a:xfrm>
            <a:prstGeom prst="rect">
              <a:avLst/>
            </a:prstGeom>
            <a:noFill/>
          </p:spPr>
          <p:txBody>
            <a:bodyPr wrap="none" rtlCol="0">
              <a:spAutoFit/>
            </a:bodyPr>
            <a:lstStyle/>
            <a:p>
              <a:r>
                <a:rPr kumimoji="1" lang="zh-CN" altLang="en-US" dirty="0">
                  <a:solidFill>
                    <a:schemeClr val="bg2"/>
                  </a:solidFill>
                </a:rPr>
                <a:t>外键</a:t>
              </a:r>
            </a:p>
          </p:txBody>
        </p:sp>
      </p:grpSp>
      <p:pic>
        <p:nvPicPr>
          <p:cNvPr id="19" name="图片 18">
            <a:extLst>
              <a:ext uri="{FF2B5EF4-FFF2-40B4-BE49-F238E27FC236}">
                <a16:creationId xmlns:a16="http://schemas.microsoft.com/office/drawing/2014/main" id="{9FF084AE-FBDF-2B48-870D-FDAD495C6F9B}"/>
              </a:ext>
            </a:extLst>
          </p:cNvPr>
          <p:cNvPicPr>
            <a:picLocks noChangeAspect="1"/>
          </p:cNvPicPr>
          <p:nvPr/>
        </p:nvPicPr>
        <p:blipFill>
          <a:blip r:embed="rId2"/>
          <a:stretch>
            <a:fillRect/>
          </a:stretch>
        </p:blipFill>
        <p:spPr>
          <a:xfrm>
            <a:off x="1637990" y="4955912"/>
            <a:ext cx="5814330" cy="1718292"/>
          </a:xfrm>
          <a:prstGeom prst="rect">
            <a:avLst/>
          </a:prstGeom>
        </p:spPr>
      </p:pic>
    </p:spTree>
    <p:extLst>
      <p:ext uri="{BB962C8B-B14F-4D97-AF65-F5344CB8AC3E}">
        <p14:creationId xmlns:p14="http://schemas.microsoft.com/office/powerpoint/2010/main" val="222599111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6999"/>
                                        </p:tgtEl>
                                        <p:attrNameLst>
                                          <p:attrName>style.visibility</p:attrName>
                                        </p:attrNameLst>
                                      </p:cBhvr>
                                      <p:to>
                                        <p:strVal val="visible"/>
                                      </p:to>
                                    </p:set>
                                    <p:animEffect transition="in" filter="blinds(horizontal)">
                                      <p:cBhvr>
                                        <p:cTn id="7" dur="500"/>
                                        <p:tgtEl>
                                          <p:spTgt spid="596999"/>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6999" grpId="0"/>
      <p:bldP spid="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图片 6" descr="图片包含 文本&#10;&#10;描述已自动生成">
            <a:extLst>
              <a:ext uri="{FF2B5EF4-FFF2-40B4-BE49-F238E27FC236}">
                <a16:creationId xmlns:a16="http://schemas.microsoft.com/office/drawing/2014/main" id="{089B8C63-431A-5A48-B8D8-213D5DE59597}"/>
              </a:ext>
            </a:extLst>
          </p:cNvPr>
          <p:cNvPicPr>
            <a:picLocks noChangeAspect="1"/>
          </p:cNvPicPr>
          <p:nvPr/>
        </p:nvPicPr>
        <p:blipFill rotWithShape="1">
          <a:blip r:embed="rId2">
            <a:biLevel thresh="50000"/>
            <a:extLst>
              <a:ext uri="{28A0092B-C50C-407E-A947-70E740481C1C}">
                <a14:useLocalDpi xmlns:a14="http://schemas.microsoft.com/office/drawing/2010/main" val="0"/>
              </a:ext>
            </a:extLst>
          </a:blip>
          <a:srcRect l="18054" t="43353" r="58512" b="18900"/>
          <a:stretch/>
        </p:blipFill>
        <p:spPr>
          <a:xfrm rot="5400000">
            <a:off x="637559" y="2457411"/>
            <a:ext cx="3814840" cy="4608512"/>
          </a:xfrm>
          <a:prstGeom prst="rect">
            <a:avLst/>
          </a:prstGeom>
        </p:spPr>
      </p:pic>
      <p:sp>
        <p:nvSpPr>
          <p:cNvPr id="2" name="Rectangle 2">
            <a:extLst>
              <a:ext uri="{FF2B5EF4-FFF2-40B4-BE49-F238E27FC236}">
                <a16:creationId xmlns:a16="http://schemas.microsoft.com/office/drawing/2014/main" id="{58031EC4-7FD3-974F-9AAA-A0AF6A13FEE9}"/>
              </a:ext>
            </a:extLst>
          </p:cNvPr>
          <p:cNvSpPr>
            <a:spLocks noChangeArrowheads="1"/>
          </p:cNvSpPr>
          <p:nvPr/>
        </p:nvSpPr>
        <p:spPr bwMode="auto">
          <a:xfrm>
            <a:off x="0" y="188913"/>
            <a:ext cx="9144000" cy="10259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200000"/>
              </a:lnSpc>
            </a:pPr>
            <a:r>
              <a:rPr lang="en-US" altLang="zh-CN" sz="3600" b="1" dirty="0">
                <a:solidFill>
                  <a:srgbClr val="000099"/>
                </a:solidFill>
              </a:rPr>
              <a:t>  </a:t>
            </a:r>
            <a:r>
              <a:rPr lang="zh-CN" altLang="en-US" sz="3600" b="1" dirty="0">
                <a:solidFill>
                  <a:srgbClr val="000099"/>
                </a:solidFill>
              </a:rPr>
              <a:t>五、</a:t>
            </a:r>
            <a:r>
              <a:rPr lang="zh-CN" altLang="en-US" sz="3600" b="1" dirty="0">
                <a:solidFill>
                  <a:srgbClr val="000099"/>
                </a:solidFill>
                <a:latin typeface="Times New Roman" pitchFamily="18" charset="0"/>
              </a:rPr>
              <a:t>关系模式、关系子模式和存储模式</a:t>
            </a:r>
            <a:endParaRPr lang="zh-CN" altLang="en-US" sz="3600" b="1" dirty="0">
              <a:solidFill>
                <a:srgbClr val="000099"/>
              </a:solidFill>
            </a:endParaRPr>
          </a:p>
        </p:txBody>
      </p:sp>
      <p:sp>
        <p:nvSpPr>
          <p:cNvPr id="4" name="文本框 3">
            <a:extLst>
              <a:ext uri="{FF2B5EF4-FFF2-40B4-BE49-F238E27FC236}">
                <a16:creationId xmlns:a16="http://schemas.microsoft.com/office/drawing/2014/main" id="{A12D1DF4-8B6F-9F40-BD3F-892AA7D359B2}"/>
              </a:ext>
            </a:extLst>
          </p:cNvPr>
          <p:cNvSpPr txBox="1"/>
          <p:nvPr/>
        </p:nvSpPr>
        <p:spPr>
          <a:xfrm>
            <a:off x="251520" y="1412776"/>
            <a:ext cx="8640960" cy="1113766"/>
          </a:xfrm>
          <a:prstGeom prst="rect">
            <a:avLst/>
          </a:prstGeom>
          <a:noFill/>
        </p:spPr>
        <p:txBody>
          <a:bodyPr wrap="square">
            <a:spAutoFit/>
          </a:bodyPr>
          <a:lstStyle/>
          <a:p>
            <a:pPr>
              <a:lnSpc>
                <a:spcPct val="150000"/>
              </a:lnSpc>
              <a:spcBef>
                <a:spcPts val="0"/>
              </a:spcBef>
            </a:pPr>
            <a:r>
              <a:rPr lang="zh-CN" altLang="en-US" sz="2400" b="1" dirty="0">
                <a:solidFill>
                  <a:srgbClr val="FF0000"/>
                </a:solidFill>
              </a:rPr>
              <a:t>关系模式</a:t>
            </a:r>
            <a:r>
              <a:rPr lang="zh-CN" altLang="en-US" sz="2400" dirty="0">
                <a:solidFill>
                  <a:schemeClr val="bg2"/>
                </a:solidFill>
              </a:rPr>
              <a:t>：是对关系的描述，包括模式名、诸属性名、值域名和模式的主键。 </a:t>
            </a:r>
            <a:endParaRPr lang="en-US" altLang="zh-CN" sz="2400" dirty="0">
              <a:solidFill>
                <a:schemeClr val="bg2"/>
              </a:solidFill>
            </a:endParaRPr>
          </a:p>
        </p:txBody>
      </p:sp>
      <p:sp>
        <p:nvSpPr>
          <p:cNvPr id="8" name="文本框 7">
            <a:extLst>
              <a:ext uri="{FF2B5EF4-FFF2-40B4-BE49-F238E27FC236}">
                <a16:creationId xmlns:a16="http://schemas.microsoft.com/office/drawing/2014/main" id="{5C3872D5-0D71-A942-B038-18CA5747CDF9}"/>
              </a:ext>
            </a:extLst>
          </p:cNvPr>
          <p:cNvSpPr txBox="1"/>
          <p:nvPr/>
        </p:nvSpPr>
        <p:spPr>
          <a:xfrm>
            <a:off x="1619672" y="2530584"/>
            <a:ext cx="1731564" cy="387798"/>
          </a:xfrm>
          <a:prstGeom prst="rect">
            <a:avLst/>
          </a:prstGeom>
          <a:noFill/>
        </p:spPr>
        <p:txBody>
          <a:bodyPr wrap="none" rtlCol="0">
            <a:spAutoFit/>
          </a:bodyPr>
          <a:lstStyle/>
          <a:p>
            <a:r>
              <a:rPr kumimoji="1" lang="zh-CN" altLang="en-US" sz="2400" b="1" dirty="0">
                <a:solidFill>
                  <a:schemeClr val="bg1"/>
                </a:solidFill>
              </a:rPr>
              <a:t>实体联系图</a:t>
            </a:r>
          </a:p>
        </p:txBody>
      </p:sp>
      <p:sp>
        <p:nvSpPr>
          <p:cNvPr id="9" name="文本框 8">
            <a:extLst>
              <a:ext uri="{FF2B5EF4-FFF2-40B4-BE49-F238E27FC236}">
                <a16:creationId xmlns:a16="http://schemas.microsoft.com/office/drawing/2014/main" id="{2D428DAB-11C9-3D4C-8F15-661C100F52B9}"/>
              </a:ext>
            </a:extLst>
          </p:cNvPr>
          <p:cNvSpPr txBox="1"/>
          <p:nvPr/>
        </p:nvSpPr>
        <p:spPr>
          <a:xfrm>
            <a:off x="5654761" y="2557237"/>
            <a:ext cx="2040943" cy="387798"/>
          </a:xfrm>
          <a:prstGeom prst="rect">
            <a:avLst/>
          </a:prstGeom>
          <a:noFill/>
        </p:spPr>
        <p:txBody>
          <a:bodyPr wrap="none" rtlCol="0">
            <a:spAutoFit/>
          </a:bodyPr>
          <a:lstStyle/>
          <a:p>
            <a:r>
              <a:rPr kumimoji="1" lang="zh-CN" altLang="en-US" sz="2400" b="1" dirty="0">
                <a:solidFill>
                  <a:schemeClr val="bg1"/>
                </a:solidFill>
              </a:rPr>
              <a:t>三个关系模式</a:t>
            </a:r>
          </a:p>
        </p:txBody>
      </p:sp>
      <p:sp>
        <p:nvSpPr>
          <p:cNvPr id="10" name="文本框 9">
            <a:extLst>
              <a:ext uri="{FF2B5EF4-FFF2-40B4-BE49-F238E27FC236}">
                <a16:creationId xmlns:a16="http://schemas.microsoft.com/office/drawing/2014/main" id="{07F01C7D-1A2D-4F41-B6A1-78A132DA804E}"/>
              </a:ext>
            </a:extLst>
          </p:cNvPr>
          <p:cNvSpPr txBox="1"/>
          <p:nvPr/>
        </p:nvSpPr>
        <p:spPr>
          <a:xfrm>
            <a:off x="4675838" y="3238935"/>
            <a:ext cx="4227439" cy="867930"/>
          </a:xfrm>
          <a:prstGeom prst="rect">
            <a:avLst/>
          </a:prstGeom>
          <a:noFill/>
        </p:spPr>
        <p:txBody>
          <a:bodyPr wrap="none" rtlCol="0">
            <a:spAutoFit/>
          </a:bodyPr>
          <a:lstStyle/>
          <a:p>
            <a:r>
              <a:rPr kumimoji="1" lang="zh-CN" altLang="en-US" sz="2400" b="1" dirty="0">
                <a:solidFill>
                  <a:schemeClr val="bg2"/>
                </a:solidFill>
              </a:rPr>
              <a:t>学生关系模式：</a:t>
            </a:r>
            <a:endParaRPr kumimoji="1" lang="en-US" altLang="zh-CN" sz="2400" b="1" dirty="0">
              <a:solidFill>
                <a:schemeClr val="bg2"/>
              </a:solidFill>
            </a:endParaRPr>
          </a:p>
          <a:p>
            <a:r>
              <a:rPr lang="en-US" altLang="zh-CN" sz="2400" b="1" dirty="0">
                <a:solidFill>
                  <a:schemeClr val="bg2"/>
                </a:solidFill>
              </a:rPr>
              <a:t>S=(SNO,SNAME,AGE,SEX,SEPT)</a:t>
            </a:r>
            <a:endParaRPr kumimoji="1" lang="zh-CN" altLang="en-US" sz="2400" b="1" dirty="0">
              <a:solidFill>
                <a:schemeClr val="bg2"/>
              </a:solidFill>
            </a:endParaRPr>
          </a:p>
        </p:txBody>
      </p:sp>
      <p:sp>
        <p:nvSpPr>
          <p:cNvPr id="11" name="文本框 10">
            <a:extLst>
              <a:ext uri="{FF2B5EF4-FFF2-40B4-BE49-F238E27FC236}">
                <a16:creationId xmlns:a16="http://schemas.microsoft.com/office/drawing/2014/main" id="{0482A016-96A5-DB40-9561-196A9CC2B908}"/>
              </a:ext>
            </a:extLst>
          </p:cNvPr>
          <p:cNvSpPr txBox="1"/>
          <p:nvPr/>
        </p:nvSpPr>
        <p:spPr>
          <a:xfrm>
            <a:off x="4675838" y="4327701"/>
            <a:ext cx="2983509" cy="867930"/>
          </a:xfrm>
          <a:prstGeom prst="rect">
            <a:avLst/>
          </a:prstGeom>
          <a:noFill/>
        </p:spPr>
        <p:txBody>
          <a:bodyPr wrap="none" rtlCol="0">
            <a:spAutoFit/>
          </a:bodyPr>
          <a:lstStyle/>
          <a:p>
            <a:r>
              <a:rPr lang="zh-CN" altLang="en-US" sz="2400" b="1" dirty="0">
                <a:solidFill>
                  <a:schemeClr val="bg2"/>
                </a:solidFill>
              </a:rPr>
              <a:t>学习</a:t>
            </a:r>
            <a:r>
              <a:rPr kumimoji="1" lang="zh-CN" altLang="en-US" sz="2400" b="1" dirty="0">
                <a:solidFill>
                  <a:schemeClr val="bg2"/>
                </a:solidFill>
              </a:rPr>
              <a:t>关系模式：</a:t>
            </a:r>
            <a:endParaRPr kumimoji="1" lang="en-US" altLang="zh-CN" sz="2400" b="1" dirty="0">
              <a:solidFill>
                <a:schemeClr val="bg2"/>
              </a:solidFill>
            </a:endParaRPr>
          </a:p>
          <a:p>
            <a:r>
              <a:rPr lang="en-US" altLang="zh-CN" sz="2400" b="1" dirty="0">
                <a:solidFill>
                  <a:schemeClr val="bg2"/>
                </a:solidFill>
              </a:rPr>
              <a:t>SC=(SNO,CNO,GRADE)</a:t>
            </a:r>
            <a:endParaRPr kumimoji="1" lang="zh-CN" altLang="en-US" sz="2400" b="1" dirty="0">
              <a:solidFill>
                <a:schemeClr val="bg2"/>
              </a:solidFill>
            </a:endParaRPr>
          </a:p>
        </p:txBody>
      </p:sp>
      <p:sp>
        <p:nvSpPr>
          <p:cNvPr id="12" name="文本框 11">
            <a:extLst>
              <a:ext uri="{FF2B5EF4-FFF2-40B4-BE49-F238E27FC236}">
                <a16:creationId xmlns:a16="http://schemas.microsoft.com/office/drawing/2014/main" id="{B32FD61E-FE23-6D43-86B3-DF26DC2CDE1F}"/>
              </a:ext>
            </a:extLst>
          </p:cNvPr>
          <p:cNvSpPr txBox="1"/>
          <p:nvPr/>
        </p:nvSpPr>
        <p:spPr>
          <a:xfrm>
            <a:off x="4687067" y="5457218"/>
            <a:ext cx="4227439" cy="867930"/>
          </a:xfrm>
          <a:prstGeom prst="rect">
            <a:avLst/>
          </a:prstGeom>
          <a:noFill/>
        </p:spPr>
        <p:txBody>
          <a:bodyPr wrap="none" rtlCol="0">
            <a:spAutoFit/>
          </a:bodyPr>
          <a:lstStyle/>
          <a:p>
            <a:r>
              <a:rPr kumimoji="1" lang="zh-CN" altLang="en-US" sz="2400" b="1" dirty="0">
                <a:solidFill>
                  <a:schemeClr val="bg2"/>
                </a:solidFill>
              </a:rPr>
              <a:t>课程关系模式：</a:t>
            </a:r>
            <a:endParaRPr kumimoji="1" lang="en-US" altLang="zh-CN" sz="2400" b="1" dirty="0">
              <a:solidFill>
                <a:schemeClr val="bg2"/>
              </a:solidFill>
            </a:endParaRPr>
          </a:p>
          <a:p>
            <a:r>
              <a:rPr lang="en-US" altLang="zh-CN" sz="2400" b="1" dirty="0">
                <a:solidFill>
                  <a:schemeClr val="bg2"/>
                </a:solidFill>
              </a:rPr>
              <a:t>C=(CNO,CNAME,CDEPT,TNAME)</a:t>
            </a:r>
            <a:endParaRPr kumimoji="1" lang="zh-CN" altLang="en-US" sz="2400" b="1" dirty="0">
              <a:solidFill>
                <a:schemeClr val="bg2"/>
              </a:solidFill>
            </a:endParaRPr>
          </a:p>
        </p:txBody>
      </p:sp>
    </p:spTree>
    <p:extLst>
      <p:ext uri="{BB962C8B-B14F-4D97-AF65-F5344CB8AC3E}">
        <p14:creationId xmlns:p14="http://schemas.microsoft.com/office/powerpoint/2010/main" val="29132105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2">
            <a:extLst>
              <a:ext uri="{FF2B5EF4-FFF2-40B4-BE49-F238E27FC236}">
                <a16:creationId xmlns:a16="http://schemas.microsoft.com/office/drawing/2014/main" id="{58031EC4-7FD3-974F-9AAA-A0AF6A13FEE9}"/>
              </a:ext>
            </a:extLst>
          </p:cNvPr>
          <p:cNvSpPr>
            <a:spLocks noChangeArrowheads="1"/>
          </p:cNvSpPr>
          <p:nvPr/>
        </p:nvSpPr>
        <p:spPr bwMode="auto">
          <a:xfrm>
            <a:off x="0" y="188913"/>
            <a:ext cx="9144000" cy="10012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200000"/>
              </a:lnSpc>
            </a:pPr>
            <a:r>
              <a:rPr lang="en-US" altLang="zh-CN" sz="3600" b="1" dirty="0">
                <a:solidFill>
                  <a:srgbClr val="000099"/>
                </a:solidFill>
              </a:rPr>
              <a:t>  </a:t>
            </a:r>
            <a:r>
              <a:rPr lang="zh-CN" altLang="en-US" sz="3600" b="1" dirty="0">
                <a:solidFill>
                  <a:srgbClr val="000099"/>
                </a:solidFill>
              </a:rPr>
              <a:t>五、</a:t>
            </a:r>
            <a:r>
              <a:rPr lang="zh-CN" altLang="en-US" sz="3600" b="1" dirty="0">
                <a:solidFill>
                  <a:srgbClr val="000099"/>
                </a:solidFill>
                <a:latin typeface="Times New Roman" pitchFamily="18" charset="0"/>
              </a:rPr>
              <a:t>关系模式、关系子模式和存储模式</a:t>
            </a:r>
            <a:endParaRPr lang="zh-CN" altLang="en-US" sz="3600" b="1" dirty="0">
              <a:solidFill>
                <a:srgbClr val="000099"/>
              </a:solidFill>
            </a:endParaRPr>
          </a:p>
        </p:txBody>
      </p:sp>
      <p:sp>
        <p:nvSpPr>
          <p:cNvPr id="4" name="文本框 3">
            <a:extLst>
              <a:ext uri="{FF2B5EF4-FFF2-40B4-BE49-F238E27FC236}">
                <a16:creationId xmlns:a16="http://schemas.microsoft.com/office/drawing/2014/main" id="{A12D1DF4-8B6F-9F40-BD3F-892AA7D359B2}"/>
              </a:ext>
            </a:extLst>
          </p:cNvPr>
          <p:cNvSpPr txBox="1"/>
          <p:nvPr/>
        </p:nvSpPr>
        <p:spPr>
          <a:xfrm>
            <a:off x="251520" y="1412776"/>
            <a:ext cx="8640960" cy="338554"/>
          </a:xfrm>
          <a:prstGeom prst="rect">
            <a:avLst/>
          </a:prstGeom>
          <a:noFill/>
        </p:spPr>
        <p:txBody>
          <a:bodyPr wrap="square">
            <a:spAutoFit/>
          </a:bodyPr>
          <a:lstStyle/>
          <a:p>
            <a:r>
              <a:rPr lang="zh-CN" altLang="en-US" sz="2000" b="1" dirty="0">
                <a:solidFill>
                  <a:srgbClr val="FF0000"/>
                </a:solidFill>
              </a:rPr>
              <a:t>关系实例</a:t>
            </a:r>
            <a:r>
              <a:rPr lang="zh-CN" altLang="en-US" sz="2000" dirty="0">
                <a:solidFill>
                  <a:schemeClr val="bg2"/>
                </a:solidFill>
              </a:rPr>
              <a:t>：关系模式具体的值，称为关系实例。</a:t>
            </a:r>
          </a:p>
        </p:txBody>
      </p:sp>
      <p:graphicFrame>
        <p:nvGraphicFramePr>
          <p:cNvPr id="9" name="表格 2">
            <a:extLst>
              <a:ext uri="{FF2B5EF4-FFF2-40B4-BE49-F238E27FC236}">
                <a16:creationId xmlns:a16="http://schemas.microsoft.com/office/drawing/2014/main" id="{94F4AF6B-0318-1F4C-BE26-76FE049DBA40}"/>
              </a:ext>
            </a:extLst>
          </p:cNvPr>
          <p:cNvGraphicFramePr>
            <a:graphicFrameLocks noGrp="1"/>
          </p:cNvGraphicFramePr>
          <p:nvPr>
            <p:extLst>
              <p:ext uri="{D42A27DB-BD31-4B8C-83A1-F6EECF244321}">
                <p14:modId xmlns:p14="http://schemas.microsoft.com/office/powerpoint/2010/main" val="2725191060"/>
              </p:ext>
            </p:extLst>
          </p:nvPr>
        </p:nvGraphicFramePr>
        <p:xfrm>
          <a:off x="495830" y="2171509"/>
          <a:ext cx="4796250" cy="222504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1226704">
                  <a:extLst>
                    <a:ext uri="{9D8B030D-6E8A-4147-A177-3AD203B41FA5}">
                      <a16:colId xmlns:a16="http://schemas.microsoft.com/office/drawing/2014/main" val="3954880262"/>
                    </a:ext>
                  </a:extLst>
                </a:gridCol>
                <a:gridCol w="959250">
                  <a:extLst>
                    <a:ext uri="{9D8B030D-6E8A-4147-A177-3AD203B41FA5}">
                      <a16:colId xmlns:a16="http://schemas.microsoft.com/office/drawing/2014/main" val="41684705"/>
                    </a:ext>
                  </a:extLst>
                </a:gridCol>
                <a:gridCol w="959250">
                  <a:extLst>
                    <a:ext uri="{9D8B030D-6E8A-4147-A177-3AD203B41FA5}">
                      <a16:colId xmlns:a16="http://schemas.microsoft.com/office/drawing/2014/main" val="2861137485"/>
                    </a:ext>
                  </a:extLst>
                </a:gridCol>
                <a:gridCol w="959250">
                  <a:extLst>
                    <a:ext uri="{9D8B030D-6E8A-4147-A177-3AD203B41FA5}">
                      <a16:colId xmlns:a16="http://schemas.microsoft.com/office/drawing/2014/main" val="119331567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tc>
                  <a:txBody>
                    <a:bodyPr/>
                    <a:lstStyle/>
                    <a:p>
                      <a:pPr algn="ctr"/>
                      <a:r>
                        <a:rPr lang="en-US" altLang="zh-CN" dirty="0"/>
                        <a:t>AGE</a:t>
                      </a:r>
                      <a:endParaRPr lang="zh-CN" altLang="en-US" dirty="0"/>
                    </a:p>
                  </a:txBody>
                  <a:tcPr/>
                </a:tc>
                <a:tc>
                  <a:txBody>
                    <a:bodyPr/>
                    <a:lstStyle/>
                    <a:p>
                      <a:pPr algn="ctr"/>
                      <a:r>
                        <a:rPr lang="en-US" altLang="zh-CN" dirty="0"/>
                        <a:t>SEX</a:t>
                      </a:r>
                      <a:endParaRPr lang="zh-CN" altLang="en-US" dirty="0"/>
                    </a:p>
                  </a:txBody>
                  <a:tcPr/>
                </a:tc>
                <a:tc>
                  <a:txBody>
                    <a:bodyPr/>
                    <a:lstStyle/>
                    <a:p>
                      <a:pPr algn="ctr"/>
                      <a:r>
                        <a:rPr lang="en-US" altLang="zh-CN" dirty="0"/>
                        <a:t>SDEPT</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S3</a:t>
                      </a:r>
                      <a:endParaRPr lang="zh-CN" altLang="en-US" dirty="0"/>
                    </a:p>
                  </a:txBody>
                  <a:tcPr/>
                </a:tc>
                <a:tc>
                  <a:txBody>
                    <a:bodyPr/>
                    <a:lstStyle/>
                    <a:p>
                      <a:pPr algn="ctr"/>
                      <a:r>
                        <a:rPr lang="zh-CN" altLang="en-US" dirty="0"/>
                        <a:t>刘莎莎</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3770924754"/>
                  </a:ext>
                </a:extLst>
              </a:tr>
              <a:tr h="370840">
                <a:tc>
                  <a:txBody>
                    <a:bodyPr/>
                    <a:lstStyle/>
                    <a:p>
                      <a:pPr algn="ctr"/>
                      <a:r>
                        <a:rPr lang="en-US" altLang="zh-CN" dirty="0"/>
                        <a:t>S6</a:t>
                      </a:r>
                      <a:endParaRPr lang="zh-CN" altLang="en-US" dirty="0"/>
                    </a:p>
                  </a:txBody>
                  <a:tcPr/>
                </a:tc>
                <a:tc>
                  <a:txBody>
                    <a:bodyPr/>
                    <a:lstStyle/>
                    <a:p>
                      <a:pPr algn="ctr"/>
                      <a:r>
                        <a:rPr lang="zh-CN" altLang="en-US" dirty="0"/>
                        <a:t>陈爱国</a:t>
                      </a:r>
                    </a:p>
                  </a:txBody>
                  <a:tcPr/>
                </a:tc>
                <a:tc>
                  <a:txBody>
                    <a:bodyPr/>
                    <a:lstStyle/>
                    <a:p>
                      <a:pPr algn="ctr"/>
                      <a:r>
                        <a:rPr lang="en-US" altLang="zh-CN" dirty="0"/>
                        <a:t>19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extLst>
                  <a:ext uri="{0D108BD9-81ED-4DB2-BD59-A6C34878D82A}">
                    <a16:rowId xmlns:a16="http://schemas.microsoft.com/office/drawing/2014/main" val="12364095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S9</a:t>
                      </a:r>
                      <a:endParaRPr lang="zh-CN" altLang="en-US" dirty="0"/>
                    </a:p>
                  </a:txBody>
                  <a:tcPr/>
                </a:tc>
                <a:tc>
                  <a:txBody>
                    <a:bodyPr/>
                    <a:lstStyle/>
                    <a:p>
                      <a:pPr algn="ctr"/>
                      <a:r>
                        <a:rPr lang="zh-CN" altLang="en-US" dirty="0"/>
                        <a:t>王莉</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女</a:t>
                      </a:r>
                    </a:p>
                  </a:txBody>
                  <a:tcPr/>
                </a:tc>
                <a:tc>
                  <a:txBody>
                    <a:bodyPr/>
                    <a:lstStyle/>
                    <a:p>
                      <a:pPr algn="ctr"/>
                      <a:r>
                        <a:rPr lang="zh-CN" altLang="en-US" dirty="0"/>
                        <a:t>计算机</a:t>
                      </a:r>
                    </a:p>
                  </a:txBody>
                  <a:tcPr/>
                </a:tc>
                <a:extLst>
                  <a:ext uri="{0D108BD9-81ED-4DB2-BD59-A6C34878D82A}">
                    <a16:rowId xmlns:a16="http://schemas.microsoft.com/office/drawing/2014/main" val="1909949203"/>
                  </a:ext>
                </a:extLst>
              </a:tr>
            </a:tbl>
          </a:graphicData>
        </a:graphic>
      </p:graphicFrame>
      <p:sp>
        <p:nvSpPr>
          <p:cNvPr id="10" name="文本框 9">
            <a:extLst>
              <a:ext uri="{FF2B5EF4-FFF2-40B4-BE49-F238E27FC236}">
                <a16:creationId xmlns:a16="http://schemas.microsoft.com/office/drawing/2014/main" id="{D7CC617A-C47D-1D4F-BA8B-3E52230974C2}"/>
              </a:ext>
            </a:extLst>
          </p:cNvPr>
          <p:cNvSpPr txBox="1"/>
          <p:nvPr/>
        </p:nvSpPr>
        <p:spPr>
          <a:xfrm>
            <a:off x="2220533" y="1832955"/>
            <a:ext cx="1346844" cy="338554"/>
          </a:xfrm>
          <a:prstGeom prst="rect">
            <a:avLst/>
          </a:prstGeom>
          <a:noFill/>
        </p:spPr>
        <p:txBody>
          <a:bodyPr wrap="none" rtlCol="0">
            <a:spAutoFit/>
          </a:bodyPr>
          <a:lstStyle/>
          <a:p>
            <a:r>
              <a:rPr kumimoji="1" lang="zh-CN" altLang="en-US" sz="2000" b="1" u="sng" dirty="0">
                <a:solidFill>
                  <a:schemeClr val="bg1"/>
                </a:solidFill>
              </a:rPr>
              <a:t>学生关系</a:t>
            </a:r>
            <a:r>
              <a:rPr kumimoji="1" lang="en-US" altLang="zh-CN" sz="2000" b="1" u="sng" dirty="0">
                <a:solidFill>
                  <a:schemeClr val="bg1"/>
                </a:solidFill>
              </a:rPr>
              <a:t>S</a:t>
            </a:r>
            <a:endParaRPr kumimoji="1" lang="zh-CN" altLang="en-US" sz="2000" b="1" u="sng" dirty="0">
              <a:solidFill>
                <a:schemeClr val="bg1"/>
              </a:solidFill>
            </a:endParaRPr>
          </a:p>
        </p:txBody>
      </p:sp>
      <p:graphicFrame>
        <p:nvGraphicFramePr>
          <p:cNvPr id="11" name="表格 2">
            <a:extLst>
              <a:ext uri="{FF2B5EF4-FFF2-40B4-BE49-F238E27FC236}">
                <a16:creationId xmlns:a16="http://schemas.microsoft.com/office/drawing/2014/main" id="{D678F638-7EA8-8D41-8A33-91314072DF27}"/>
              </a:ext>
            </a:extLst>
          </p:cNvPr>
          <p:cNvGraphicFramePr>
            <a:graphicFrameLocks noGrp="1"/>
          </p:cNvGraphicFramePr>
          <p:nvPr>
            <p:extLst>
              <p:ext uri="{D42A27DB-BD31-4B8C-83A1-F6EECF244321}">
                <p14:modId xmlns:p14="http://schemas.microsoft.com/office/powerpoint/2010/main" val="513524015"/>
              </p:ext>
            </p:extLst>
          </p:nvPr>
        </p:nvGraphicFramePr>
        <p:xfrm>
          <a:off x="942618" y="4779040"/>
          <a:ext cx="3873692" cy="2062480"/>
        </p:xfrm>
        <a:graphic>
          <a:graphicData uri="http://schemas.openxmlformats.org/drawingml/2006/table">
            <a:tbl>
              <a:tblPr firstRow="1" bandRow="1">
                <a:tableStyleId>{21E4AEA4-8DFA-4A89-87EB-49C32662AFE0}</a:tableStyleId>
              </a:tblPr>
              <a:tblGrid>
                <a:gridCol w="705340">
                  <a:extLst>
                    <a:ext uri="{9D8B030D-6E8A-4147-A177-3AD203B41FA5}">
                      <a16:colId xmlns:a16="http://schemas.microsoft.com/office/drawing/2014/main" val="3250390251"/>
                    </a:ext>
                  </a:extLst>
                </a:gridCol>
                <a:gridCol w="1080120">
                  <a:extLst>
                    <a:ext uri="{9D8B030D-6E8A-4147-A177-3AD203B41FA5}">
                      <a16:colId xmlns:a16="http://schemas.microsoft.com/office/drawing/2014/main" val="3954880262"/>
                    </a:ext>
                  </a:extLst>
                </a:gridCol>
                <a:gridCol w="1008112">
                  <a:extLst>
                    <a:ext uri="{9D8B030D-6E8A-4147-A177-3AD203B41FA5}">
                      <a16:colId xmlns:a16="http://schemas.microsoft.com/office/drawing/2014/main" val="41684705"/>
                    </a:ext>
                  </a:extLst>
                </a:gridCol>
                <a:gridCol w="1080120">
                  <a:extLst>
                    <a:ext uri="{9D8B030D-6E8A-4147-A177-3AD203B41FA5}">
                      <a16:colId xmlns:a16="http://schemas.microsoft.com/office/drawing/2014/main" val="2861137485"/>
                    </a:ext>
                  </a:extLst>
                </a:gridCol>
              </a:tblGrid>
              <a:tr h="370840">
                <a:tc>
                  <a:txBody>
                    <a:bodyPr/>
                    <a:lstStyle/>
                    <a:p>
                      <a:pPr algn="ctr"/>
                      <a:r>
                        <a:rPr lang="en-US" altLang="zh-CN" dirty="0"/>
                        <a:t>CNO</a:t>
                      </a:r>
                      <a:endParaRPr lang="zh-CN" altLang="en-US" dirty="0"/>
                    </a:p>
                  </a:txBody>
                  <a:tcPr/>
                </a:tc>
                <a:tc>
                  <a:txBody>
                    <a:bodyPr/>
                    <a:lstStyle/>
                    <a:p>
                      <a:pPr algn="ctr"/>
                      <a:r>
                        <a:rPr lang="en-US" altLang="zh-CN" dirty="0"/>
                        <a:t>CNAME</a:t>
                      </a:r>
                      <a:endParaRPr lang="zh-CN" altLang="en-US" dirty="0"/>
                    </a:p>
                  </a:txBody>
                  <a:tcPr/>
                </a:tc>
                <a:tc>
                  <a:txBody>
                    <a:bodyPr/>
                    <a:lstStyle/>
                    <a:p>
                      <a:pPr algn="ctr"/>
                      <a:r>
                        <a:rPr lang="en-US" altLang="zh-CN" dirty="0"/>
                        <a:t>CDEPT</a:t>
                      </a:r>
                      <a:endParaRPr lang="zh-CN" altLang="en-US" dirty="0"/>
                    </a:p>
                  </a:txBody>
                  <a:tcPr/>
                </a:tc>
                <a:tc>
                  <a:txBody>
                    <a:bodyPr/>
                    <a:lstStyle/>
                    <a:p>
                      <a:pPr algn="ctr"/>
                      <a:r>
                        <a:rPr lang="en-US" altLang="zh-CN" dirty="0"/>
                        <a:t>TNAME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C2</a:t>
                      </a:r>
                      <a:endParaRPr lang="zh-CN" altLang="en-US" dirty="0"/>
                    </a:p>
                  </a:txBody>
                  <a:tcPr/>
                </a:tc>
                <a:tc>
                  <a:txBody>
                    <a:bodyPr/>
                    <a:lstStyle/>
                    <a:p>
                      <a:pPr algn="ctr"/>
                      <a:r>
                        <a:rPr lang="zh-CN" altLang="en-US" sz="1600" dirty="0"/>
                        <a:t>离散数学</a:t>
                      </a:r>
                    </a:p>
                  </a:txBody>
                  <a:tcPr/>
                </a:tc>
                <a:tc>
                  <a:txBody>
                    <a:bodyPr/>
                    <a:lstStyle/>
                    <a:p>
                      <a:pPr algn="ctr"/>
                      <a:r>
                        <a:rPr lang="zh-CN" altLang="en-US" dirty="0"/>
                        <a:t>计算机</a:t>
                      </a:r>
                    </a:p>
                  </a:txBody>
                  <a:tcPr/>
                </a:tc>
                <a:tc>
                  <a:txBody>
                    <a:bodyPr/>
                    <a:lstStyle/>
                    <a:p>
                      <a:pPr algn="ctr"/>
                      <a:r>
                        <a:rPr lang="zh-CN" altLang="en-US" dirty="0"/>
                        <a:t>汪宏伟</a:t>
                      </a:r>
                    </a:p>
                  </a:txBody>
                  <a:tcPr/>
                </a:tc>
                <a:extLst>
                  <a:ext uri="{0D108BD9-81ED-4DB2-BD59-A6C34878D82A}">
                    <a16:rowId xmlns:a16="http://schemas.microsoft.com/office/drawing/2014/main" val="3713937122"/>
                  </a:ext>
                </a:extLst>
              </a:tr>
              <a:tr h="370840">
                <a:tc>
                  <a:txBody>
                    <a:bodyPr/>
                    <a:lstStyle/>
                    <a:p>
                      <a:pPr algn="ctr"/>
                      <a:r>
                        <a:rPr lang="en-US" altLang="zh-CN" dirty="0"/>
                        <a:t>C3</a:t>
                      </a:r>
                      <a:endParaRPr lang="zh-CN" altLang="en-US" dirty="0"/>
                    </a:p>
                  </a:txBody>
                  <a:tcPr/>
                </a:tc>
                <a:tc>
                  <a:txBody>
                    <a:bodyPr/>
                    <a:lstStyle/>
                    <a:p>
                      <a:pPr algn="ctr"/>
                      <a:r>
                        <a:rPr lang="zh-CN" altLang="en-US" sz="1600" dirty="0"/>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钱红</a:t>
                      </a:r>
                    </a:p>
                  </a:txBody>
                  <a:tcPr/>
                </a:tc>
                <a:extLst>
                  <a:ext uri="{0D108BD9-81ED-4DB2-BD59-A6C34878D82A}">
                    <a16:rowId xmlns:a16="http://schemas.microsoft.com/office/drawing/2014/main" val="841821175"/>
                  </a:ext>
                </a:extLst>
              </a:tr>
              <a:tr h="370840">
                <a:tc>
                  <a:txBody>
                    <a:bodyPr/>
                    <a:lstStyle/>
                    <a:p>
                      <a:pPr algn="ctr"/>
                      <a:r>
                        <a:rPr lang="en-US" altLang="zh-CN" dirty="0"/>
                        <a:t>C4</a:t>
                      </a:r>
                      <a:endParaRPr lang="zh-CN" altLang="en-US" dirty="0"/>
                    </a:p>
                  </a:txBody>
                  <a:tcPr/>
                </a:tc>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马良</a:t>
                      </a:r>
                    </a:p>
                  </a:txBody>
                  <a:tcPr/>
                </a:tc>
                <a:extLst>
                  <a:ext uri="{0D108BD9-81ED-4DB2-BD59-A6C34878D82A}">
                    <a16:rowId xmlns:a16="http://schemas.microsoft.com/office/drawing/2014/main" val="1150971900"/>
                  </a:ext>
                </a:extLst>
              </a:tr>
              <a:tr h="370840">
                <a:tc>
                  <a:txBody>
                    <a:bodyPr/>
                    <a:lstStyle/>
                    <a:p>
                      <a:pPr algn="ctr"/>
                      <a:r>
                        <a:rPr lang="en-US" altLang="zh-CN" dirty="0"/>
                        <a:t>C1</a:t>
                      </a:r>
                      <a:endParaRPr lang="zh-CN" altLang="en-US" dirty="0"/>
                    </a:p>
                  </a:txBody>
                  <a:tcPr/>
                </a:tc>
                <a:tc>
                  <a:txBody>
                    <a:bodyPr/>
                    <a:lstStyle/>
                    <a:p>
                      <a:pPr algn="ctr"/>
                      <a:r>
                        <a:rPr lang="zh-CN" altLang="en-US" sz="1600" dirty="0"/>
                        <a:t>计算机</a:t>
                      </a:r>
                      <a:endParaRPr lang="en-US" altLang="zh-CN" sz="1600" dirty="0"/>
                    </a:p>
                    <a:p>
                      <a:pPr algn="ctr"/>
                      <a:r>
                        <a:rPr lang="zh-CN" altLang="en-US" sz="1600" dirty="0"/>
                        <a:t>原理</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李兵</a:t>
                      </a:r>
                    </a:p>
                  </a:txBody>
                  <a:tcPr/>
                </a:tc>
                <a:extLst>
                  <a:ext uri="{0D108BD9-81ED-4DB2-BD59-A6C34878D82A}">
                    <a16:rowId xmlns:a16="http://schemas.microsoft.com/office/drawing/2014/main" val="3770924754"/>
                  </a:ext>
                </a:extLst>
              </a:tr>
            </a:tbl>
          </a:graphicData>
        </a:graphic>
      </p:graphicFrame>
      <p:sp>
        <p:nvSpPr>
          <p:cNvPr id="12" name="文本框 11">
            <a:extLst>
              <a:ext uri="{FF2B5EF4-FFF2-40B4-BE49-F238E27FC236}">
                <a16:creationId xmlns:a16="http://schemas.microsoft.com/office/drawing/2014/main" id="{B427C57F-58EA-B343-A362-464139F16EFF}"/>
              </a:ext>
            </a:extLst>
          </p:cNvPr>
          <p:cNvSpPr txBox="1"/>
          <p:nvPr/>
        </p:nvSpPr>
        <p:spPr>
          <a:xfrm>
            <a:off x="2206042" y="4397337"/>
            <a:ext cx="1346844" cy="338554"/>
          </a:xfrm>
          <a:prstGeom prst="rect">
            <a:avLst/>
          </a:prstGeom>
          <a:noFill/>
        </p:spPr>
        <p:txBody>
          <a:bodyPr wrap="none" rtlCol="0">
            <a:spAutoFit/>
          </a:bodyPr>
          <a:lstStyle/>
          <a:p>
            <a:r>
              <a:rPr lang="zh-CN" altLang="en-US" sz="2000" b="1" u="sng" dirty="0">
                <a:solidFill>
                  <a:schemeClr val="bg1"/>
                </a:solidFill>
              </a:rPr>
              <a:t>课程</a:t>
            </a:r>
            <a:r>
              <a:rPr kumimoji="1" lang="zh-CN" altLang="en-US" sz="2000" b="1" u="sng" dirty="0">
                <a:solidFill>
                  <a:schemeClr val="bg1"/>
                </a:solidFill>
              </a:rPr>
              <a:t>关系</a:t>
            </a:r>
            <a:r>
              <a:rPr kumimoji="1" lang="en-US" altLang="zh-CN" sz="2000" b="1" u="sng" dirty="0">
                <a:solidFill>
                  <a:schemeClr val="bg1"/>
                </a:solidFill>
              </a:rPr>
              <a:t>C</a:t>
            </a:r>
            <a:endParaRPr kumimoji="1" lang="zh-CN" altLang="en-US" sz="2000" b="1" u="sng" dirty="0">
              <a:solidFill>
                <a:schemeClr val="bg1"/>
              </a:solidFill>
            </a:endParaRPr>
          </a:p>
        </p:txBody>
      </p:sp>
      <p:graphicFrame>
        <p:nvGraphicFramePr>
          <p:cNvPr id="13" name="表格 2">
            <a:extLst>
              <a:ext uri="{FF2B5EF4-FFF2-40B4-BE49-F238E27FC236}">
                <a16:creationId xmlns:a16="http://schemas.microsoft.com/office/drawing/2014/main" id="{B4CAFCB6-16C9-1942-980C-36D864A818AD}"/>
              </a:ext>
            </a:extLst>
          </p:cNvPr>
          <p:cNvGraphicFramePr>
            <a:graphicFrameLocks noGrp="1"/>
          </p:cNvGraphicFramePr>
          <p:nvPr>
            <p:extLst>
              <p:ext uri="{D42A27DB-BD31-4B8C-83A1-F6EECF244321}">
                <p14:modId xmlns:p14="http://schemas.microsoft.com/office/powerpoint/2010/main" val="2828003623"/>
              </p:ext>
            </p:extLst>
          </p:nvPr>
        </p:nvGraphicFramePr>
        <p:xfrm>
          <a:off x="5713929" y="3195618"/>
          <a:ext cx="2456443" cy="259588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748364">
                  <a:extLst>
                    <a:ext uri="{9D8B030D-6E8A-4147-A177-3AD203B41FA5}">
                      <a16:colId xmlns:a16="http://schemas.microsoft.com/office/drawing/2014/main" val="3954880262"/>
                    </a:ext>
                  </a:extLst>
                </a:gridCol>
                <a:gridCol w="1016283">
                  <a:extLst>
                    <a:ext uri="{9D8B030D-6E8A-4147-A177-3AD203B41FA5}">
                      <a16:colId xmlns:a16="http://schemas.microsoft.com/office/drawing/2014/main" val="4168470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CNO</a:t>
                      </a:r>
                      <a:endParaRPr lang="zh-CN" altLang="en-US" dirty="0"/>
                    </a:p>
                  </a:txBody>
                  <a:tcPr/>
                </a:tc>
                <a:tc>
                  <a:txBody>
                    <a:bodyPr/>
                    <a:lstStyle/>
                    <a:p>
                      <a:pPr algn="ctr"/>
                      <a:r>
                        <a:rPr lang="en-US" altLang="zh-CN" dirty="0"/>
                        <a:t>GRADE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extLst>
                  <a:ext uri="{0D108BD9-81ED-4DB2-BD59-A6C34878D82A}">
                    <a16:rowId xmlns:a16="http://schemas.microsoft.com/office/drawing/2014/main" val="3713937122"/>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8418211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79</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S1</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76</a:t>
                      </a:r>
                      <a:endParaRPr lang="zh-CN" altLang="en-US" dirty="0"/>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extLst>
                  <a:ext uri="{0D108BD9-81ED-4DB2-BD59-A6C34878D82A}">
                    <a16:rowId xmlns:a16="http://schemas.microsoft.com/office/drawing/2014/main" val="2604247982"/>
                  </a:ext>
                </a:extLst>
              </a:tr>
              <a:tr h="370840">
                <a:tc>
                  <a:txBody>
                    <a:bodyPr/>
                    <a:lstStyle/>
                    <a:p>
                      <a:pPr algn="ctr"/>
                      <a:r>
                        <a:rPr lang="en-US" altLang="zh-CN" dirty="0"/>
                        <a:t>S6</a:t>
                      </a:r>
                      <a:endParaRPr lang="zh-CN" altLang="en-US" dirty="0"/>
                    </a:p>
                  </a:txBody>
                  <a:tcPr/>
                </a:tc>
                <a:tc>
                  <a:txBody>
                    <a:bodyPr/>
                    <a:lstStyle/>
                    <a:p>
                      <a:pPr algn="ctr"/>
                      <a:r>
                        <a:rPr lang="en-US" altLang="zh-CN" dirty="0"/>
                        <a:t>C1</a:t>
                      </a:r>
                      <a:endParaRPr lang="zh-CN" altLang="en-US" dirty="0"/>
                    </a:p>
                  </a:txBody>
                  <a:tcPr/>
                </a:tc>
                <a:tc>
                  <a:txBody>
                    <a:bodyPr/>
                    <a:lstStyle/>
                    <a:p>
                      <a:pPr algn="ctr"/>
                      <a:r>
                        <a:rPr lang="en-US" altLang="zh-CN" dirty="0"/>
                        <a:t>78</a:t>
                      </a:r>
                      <a:endParaRPr lang="zh-CN" altLang="en-US" dirty="0"/>
                    </a:p>
                  </a:txBody>
                  <a:tcPr/>
                </a:tc>
                <a:extLst>
                  <a:ext uri="{0D108BD9-81ED-4DB2-BD59-A6C34878D82A}">
                    <a16:rowId xmlns:a16="http://schemas.microsoft.com/office/drawing/2014/main" val="1236409575"/>
                  </a:ext>
                </a:extLst>
              </a:tr>
            </a:tbl>
          </a:graphicData>
        </a:graphic>
      </p:graphicFrame>
      <p:sp>
        <p:nvSpPr>
          <p:cNvPr id="14" name="文本框 13">
            <a:extLst>
              <a:ext uri="{FF2B5EF4-FFF2-40B4-BE49-F238E27FC236}">
                <a16:creationId xmlns:a16="http://schemas.microsoft.com/office/drawing/2014/main" id="{F37889B6-06E0-334B-85BA-96157E44D7A3}"/>
              </a:ext>
            </a:extLst>
          </p:cNvPr>
          <p:cNvSpPr txBox="1"/>
          <p:nvPr/>
        </p:nvSpPr>
        <p:spPr>
          <a:xfrm>
            <a:off x="6155385" y="2857064"/>
            <a:ext cx="1476686" cy="338554"/>
          </a:xfrm>
          <a:prstGeom prst="rect">
            <a:avLst/>
          </a:prstGeom>
          <a:noFill/>
        </p:spPr>
        <p:txBody>
          <a:bodyPr wrap="none" rtlCol="0">
            <a:spAutoFit/>
          </a:bodyPr>
          <a:lstStyle/>
          <a:p>
            <a:r>
              <a:rPr kumimoji="1" lang="zh-CN" altLang="en-US" sz="2000" b="1" u="sng" dirty="0">
                <a:solidFill>
                  <a:schemeClr val="bg1"/>
                </a:solidFill>
              </a:rPr>
              <a:t>学习关系</a:t>
            </a:r>
            <a:r>
              <a:rPr kumimoji="1" lang="en-US" altLang="zh-CN" sz="2000" b="1" u="sng" dirty="0">
                <a:solidFill>
                  <a:schemeClr val="bg1"/>
                </a:solidFill>
              </a:rPr>
              <a:t>SC</a:t>
            </a:r>
            <a:endParaRPr kumimoji="1" lang="zh-CN" altLang="en-US" sz="2000" b="1" u="sng" dirty="0">
              <a:solidFill>
                <a:schemeClr val="bg1"/>
              </a:solidFill>
            </a:endParaRPr>
          </a:p>
        </p:txBody>
      </p:sp>
    </p:spTree>
    <p:extLst>
      <p:ext uri="{BB962C8B-B14F-4D97-AF65-F5344CB8AC3E}">
        <p14:creationId xmlns:p14="http://schemas.microsoft.com/office/powerpoint/2010/main" val="310273507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8018" name="Rectangle 2"/>
          <p:cNvSpPr>
            <a:spLocks noChangeArrowheads="1"/>
          </p:cNvSpPr>
          <p:nvPr/>
        </p:nvSpPr>
        <p:spPr bwMode="auto">
          <a:xfrm>
            <a:off x="0" y="188913"/>
            <a:ext cx="9144000" cy="72723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200000"/>
              </a:lnSpc>
            </a:pPr>
            <a:r>
              <a:rPr lang="en-US" altLang="zh-CN" sz="3600" b="1" dirty="0">
                <a:solidFill>
                  <a:srgbClr val="000099"/>
                </a:solidFill>
              </a:rPr>
              <a:t>  </a:t>
            </a:r>
            <a:r>
              <a:rPr lang="zh-CN" altLang="en-US" sz="3600" b="1" dirty="0">
                <a:solidFill>
                  <a:srgbClr val="000099"/>
                </a:solidFill>
              </a:rPr>
              <a:t>六、</a:t>
            </a:r>
            <a:r>
              <a:rPr lang="zh-CN" altLang="en-US" sz="3600" b="1" dirty="0">
                <a:solidFill>
                  <a:srgbClr val="000099"/>
                </a:solidFill>
                <a:latin typeface="Times New Roman" pitchFamily="18" charset="0"/>
              </a:rPr>
              <a:t>关系模型的三类完整性规则</a:t>
            </a:r>
            <a:endParaRPr lang="zh-CN" altLang="en-US" sz="3600" b="1" dirty="0">
              <a:solidFill>
                <a:srgbClr val="000099"/>
              </a:solidFill>
            </a:endParaRPr>
          </a:p>
          <a:p>
            <a:pPr eaLnBrk="0" hangingPunct="0">
              <a:lnSpc>
                <a:spcPct val="200000"/>
              </a:lnSpc>
            </a:pPr>
            <a:r>
              <a:rPr lang="zh-CN" altLang="en-US" sz="2400" b="1" dirty="0">
                <a:solidFill>
                  <a:srgbClr val="660033"/>
                </a:solidFill>
                <a:latin typeface="Times New Roman" pitchFamily="18" charset="0"/>
              </a:rPr>
              <a:t>     实体完整性规则：</a:t>
            </a:r>
          </a:p>
          <a:p>
            <a:pPr eaLnBrk="0" hangingPunct="0">
              <a:lnSpc>
                <a:spcPct val="200000"/>
              </a:lnSpc>
            </a:pPr>
            <a:r>
              <a:rPr lang="zh-CN" altLang="en-US" sz="2400" b="1" dirty="0">
                <a:solidFill>
                  <a:srgbClr val="660033"/>
                </a:solidFill>
                <a:latin typeface="Times New Roman" pitchFamily="18" charset="0"/>
              </a:rPr>
              <a:t>     参照完整性规则：</a:t>
            </a:r>
          </a:p>
          <a:p>
            <a:pPr eaLnBrk="0" hangingPunct="0">
              <a:lnSpc>
                <a:spcPct val="200000"/>
              </a:lnSpc>
            </a:pPr>
            <a:endParaRPr lang="zh-CN" altLang="en-US" sz="2400" b="1" dirty="0">
              <a:solidFill>
                <a:srgbClr val="660033"/>
              </a:solidFill>
            </a:endParaRPr>
          </a:p>
          <a:p>
            <a:pPr eaLnBrk="0" hangingPunct="0">
              <a:lnSpc>
                <a:spcPct val="200000"/>
              </a:lnSpc>
            </a:pPr>
            <a:r>
              <a:rPr lang="zh-CN" altLang="en-US" sz="2400" b="1" dirty="0">
                <a:solidFill>
                  <a:srgbClr val="660033"/>
                </a:solidFill>
                <a:latin typeface="Times New Roman" pitchFamily="18" charset="0"/>
              </a:rPr>
              <a:t>      用户定义的完整性规则：</a:t>
            </a:r>
            <a:endParaRPr lang="zh-CN" altLang="en-US" sz="2400" b="1" dirty="0">
              <a:solidFill>
                <a:srgbClr val="660033"/>
              </a:solidFill>
            </a:endParaRPr>
          </a:p>
          <a:p>
            <a:pPr eaLnBrk="0" hangingPunct="0">
              <a:lnSpc>
                <a:spcPct val="160000"/>
              </a:lnSpc>
            </a:pPr>
            <a:r>
              <a:rPr lang="zh-CN" altLang="en-US" sz="2800" b="1" dirty="0">
                <a:solidFill>
                  <a:srgbClr val="660033"/>
                </a:solidFill>
                <a:latin typeface="Times New Roman" pitchFamily="18" charset="0"/>
              </a:rPr>
              <a:t> </a:t>
            </a:r>
            <a:endParaRPr lang="zh-CN" altLang="en-US" sz="2400" b="1" dirty="0">
              <a:solidFill>
                <a:srgbClr val="660033"/>
              </a:solidFill>
            </a:endParaRPr>
          </a:p>
          <a:p>
            <a:pPr eaLnBrk="0" hangingPunct="0">
              <a:lnSpc>
                <a:spcPct val="160000"/>
              </a:lnSpc>
            </a:pPr>
            <a:endParaRPr lang="zh-CN" altLang="en-US" sz="2400" b="1" dirty="0">
              <a:solidFill>
                <a:srgbClr val="660033"/>
              </a:solidFill>
            </a:endParaRPr>
          </a:p>
          <a:p>
            <a:pPr eaLnBrk="0" hangingPunct="0">
              <a:lnSpc>
                <a:spcPct val="160000"/>
              </a:lnSpc>
            </a:pPr>
            <a:endParaRPr lang="en-US" altLang="zh-CN" sz="2400" b="1" dirty="0">
              <a:solidFill>
                <a:srgbClr val="660033"/>
              </a:solidFill>
            </a:endParaRPr>
          </a:p>
        </p:txBody>
      </p:sp>
      <p:sp>
        <p:nvSpPr>
          <p:cNvPr id="598019" name="Rectangle 3">
            <a:hlinkClick r:id="" action="ppaction://hlinkshowjump?jump=nextslide"/>
          </p:cNvPr>
          <p:cNvSpPr>
            <a:spLocks noChangeArrowheads="1"/>
          </p:cNvSpPr>
          <p:nvPr/>
        </p:nvSpPr>
        <p:spPr bwMode="auto">
          <a:xfrm>
            <a:off x="2339975" y="2349500"/>
            <a:ext cx="7345363" cy="17351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pPr>
            <a:r>
              <a:rPr lang="en-US" altLang="zh-CN" sz="2400" b="1" dirty="0">
                <a:solidFill>
                  <a:schemeClr val="bg2"/>
                </a:solidFill>
              </a:rPr>
              <a:t>    </a:t>
            </a:r>
            <a:r>
              <a:rPr lang="zh-CN" altLang="en-US" sz="2400" b="1" dirty="0">
                <a:solidFill>
                  <a:schemeClr val="bg2"/>
                </a:solidFill>
              </a:rPr>
              <a:t>关系中元组的外键值只允许有两种可能值：</a:t>
            </a:r>
          </a:p>
          <a:p>
            <a:pPr>
              <a:lnSpc>
                <a:spcPct val="200000"/>
              </a:lnSpc>
            </a:pPr>
            <a:r>
              <a:rPr lang="zh-CN" altLang="en-US" sz="2400" b="1" dirty="0">
                <a:solidFill>
                  <a:schemeClr val="bg2"/>
                </a:solidFill>
              </a:rPr>
              <a:t>空值、或与相应的参照关系中的某个主键值相同。</a:t>
            </a:r>
          </a:p>
        </p:txBody>
      </p:sp>
      <p:sp>
        <p:nvSpPr>
          <p:cNvPr id="598020" name="Rectangle 4">
            <a:hlinkClick r:id="rId2" action="ppaction://hlinksldjump"/>
          </p:cNvPr>
          <p:cNvSpPr>
            <a:spLocks noChangeArrowheads="1"/>
          </p:cNvSpPr>
          <p:nvPr/>
        </p:nvSpPr>
        <p:spPr bwMode="auto">
          <a:xfrm>
            <a:off x="1763713" y="4214813"/>
            <a:ext cx="7380287" cy="1735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pPr>
            <a:r>
              <a:rPr lang="en-US" altLang="zh-CN" sz="2400" b="1" dirty="0">
                <a:solidFill>
                  <a:schemeClr val="bg2"/>
                </a:solidFill>
              </a:rPr>
              <a:t>              </a:t>
            </a:r>
            <a:r>
              <a:rPr lang="zh-CN" altLang="en-US" sz="2400" b="1" dirty="0">
                <a:solidFill>
                  <a:schemeClr val="bg2"/>
                </a:solidFill>
              </a:rPr>
              <a:t>由应用环境决定，反映某一具体应用</a:t>
            </a:r>
          </a:p>
          <a:p>
            <a:pPr>
              <a:lnSpc>
                <a:spcPct val="200000"/>
              </a:lnSpc>
            </a:pPr>
            <a:r>
              <a:rPr lang="zh-CN" altLang="en-US" sz="2400" b="1" dirty="0">
                <a:solidFill>
                  <a:schemeClr val="bg2"/>
                </a:solidFill>
              </a:rPr>
              <a:t>    涉及的数据必须满足的约束条件。</a:t>
            </a:r>
          </a:p>
        </p:txBody>
      </p:sp>
      <p:sp>
        <p:nvSpPr>
          <p:cNvPr id="598021" name="Rectangle 5"/>
          <p:cNvSpPr>
            <a:spLocks noChangeArrowheads="1"/>
          </p:cNvSpPr>
          <p:nvPr/>
        </p:nvSpPr>
        <p:spPr bwMode="auto">
          <a:xfrm>
            <a:off x="2989263" y="1773238"/>
            <a:ext cx="575945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400" b="1">
                <a:solidFill>
                  <a:schemeClr val="bg2"/>
                </a:solidFill>
              </a:rPr>
              <a:t>关系中元组的主键值不能为空。</a:t>
            </a:r>
          </a:p>
        </p:txBody>
      </p:sp>
      <p:pic>
        <p:nvPicPr>
          <p:cNvPr id="6" name="图片 5">
            <a:extLst>
              <a:ext uri="{FF2B5EF4-FFF2-40B4-BE49-F238E27FC236}">
                <a16:creationId xmlns:a16="http://schemas.microsoft.com/office/drawing/2014/main" id="{39DC7446-A273-FE41-9318-E41B5F93167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467544" y="548680"/>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8021"/>
                                        </p:tgtEl>
                                        <p:attrNameLst>
                                          <p:attrName>style.visibility</p:attrName>
                                        </p:attrNameLst>
                                      </p:cBhvr>
                                      <p:to>
                                        <p:strVal val="visible"/>
                                      </p:to>
                                    </p:set>
                                    <p:animEffect transition="in" filter="blinds(horizontal)">
                                      <p:cBhvr>
                                        <p:cTn id="7" dur="500"/>
                                        <p:tgtEl>
                                          <p:spTgt spid="5980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98019"/>
                                        </p:tgtEl>
                                        <p:attrNameLst>
                                          <p:attrName>style.visibility</p:attrName>
                                        </p:attrNameLst>
                                      </p:cBhvr>
                                      <p:to>
                                        <p:strVal val="visible"/>
                                      </p:to>
                                    </p:set>
                                    <p:animEffect transition="in" filter="blinds(horizontal)">
                                      <p:cBhvr>
                                        <p:cTn id="12" dur="500"/>
                                        <p:tgtEl>
                                          <p:spTgt spid="5980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98020"/>
                                        </p:tgtEl>
                                        <p:attrNameLst>
                                          <p:attrName>style.visibility</p:attrName>
                                        </p:attrNameLst>
                                      </p:cBhvr>
                                      <p:to>
                                        <p:strVal val="visible"/>
                                      </p:to>
                                    </p:set>
                                    <p:animEffect transition="in" filter="blinds(horizontal)">
                                      <p:cBhvr>
                                        <p:cTn id="17" dur="500"/>
                                        <p:tgtEl>
                                          <p:spTgt spid="598020"/>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8019" grpId="0"/>
      <p:bldP spid="598020" grpId="0"/>
      <p:bldP spid="598021"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标注 4">
            <a:extLst>
              <a:ext uri="{FF2B5EF4-FFF2-40B4-BE49-F238E27FC236}">
                <a16:creationId xmlns:a16="http://schemas.microsoft.com/office/drawing/2014/main" id="{0ECCDA6D-7CBD-464B-8A54-EABB215B7390}"/>
              </a:ext>
            </a:extLst>
          </p:cNvPr>
          <p:cNvSpPr/>
          <p:nvPr/>
        </p:nvSpPr>
        <p:spPr bwMode="auto">
          <a:xfrm>
            <a:off x="7247332" y="4199274"/>
            <a:ext cx="1547663" cy="338554"/>
          </a:xfrm>
          <a:prstGeom prst="wedgeRectCallout">
            <a:avLst>
              <a:gd name="adj1" fmla="val -78454"/>
              <a:gd name="adj2" fmla="val 195706"/>
            </a:avLst>
          </a:prstGeom>
          <a:noFill/>
          <a:ln w="3810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r>
              <a:rPr lang="zh-CN" altLang="en-US" sz="2000" dirty="0">
                <a:solidFill>
                  <a:schemeClr val="bg2"/>
                </a:solidFill>
              </a:rPr>
              <a:t>允许为空值</a:t>
            </a:r>
            <a:endParaRPr kumimoji="1" lang="zh-CN" altLang="en-US" sz="2000" b="0" i="0" u="none" strike="noStrike" cap="none" normalizeH="0" baseline="0" dirty="0">
              <a:ln>
                <a:noFill/>
              </a:ln>
              <a:solidFill>
                <a:schemeClr val="bg2"/>
              </a:solidFill>
              <a:effectLst/>
              <a:latin typeface="宋体" pitchFamily="2" charset="-122"/>
              <a:ea typeface="宋体" pitchFamily="2" charset="-122"/>
            </a:endParaRPr>
          </a:p>
        </p:txBody>
      </p:sp>
      <p:sp>
        <p:nvSpPr>
          <p:cNvPr id="6" name="矩形标注 5">
            <a:extLst>
              <a:ext uri="{FF2B5EF4-FFF2-40B4-BE49-F238E27FC236}">
                <a16:creationId xmlns:a16="http://schemas.microsoft.com/office/drawing/2014/main" id="{88976F31-EBE9-E945-8786-020D5698F2B4}"/>
              </a:ext>
            </a:extLst>
          </p:cNvPr>
          <p:cNvSpPr/>
          <p:nvPr/>
        </p:nvSpPr>
        <p:spPr bwMode="auto">
          <a:xfrm>
            <a:off x="7247331" y="4941168"/>
            <a:ext cx="1547664" cy="830997"/>
          </a:xfrm>
          <a:prstGeom prst="wedgeRectCallout">
            <a:avLst>
              <a:gd name="adj1" fmla="val -74954"/>
              <a:gd name="adj2" fmla="val 22061"/>
            </a:avLst>
          </a:prstGeom>
          <a:noFill/>
          <a:ln w="3810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r>
              <a:rPr lang="zh-CN" altLang="en-US" sz="2000" dirty="0">
                <a:solidFill>
                  <a:schemeClr val="bg2"/>
                </a:solidFill>
              </a:rPr>
              <a:t>这是一个错误值（</a:t>
            </a:r>
            <a:r>
              <a:rPr lang="en-US" altLang="zh-CN" sz="2000" dirty="0">
                <a:solidFill>
                  <a:schemeClr val="bg2"/>
                </a:solidFill>
              </a:rPr>
              <a:t>318</a:t>
            </a:r>
            <a:r>
              <a:rPr lang="zh-CN" altLang="en-US" sz="2000" dirty="0">
                <a:solidFill>
                  <a:schemeClr val="bg2"/>
                </a:solidFill>
              </a:rPr>
              <a:t>不存在）</a:t>
            </a:r>
            <a:endParaRPr kumimoji="1" lang="zh-CN" altLang="en-US" sz="2000" b="0" i="0" u="none" strike="noStrike" cap="none" normalizeH="0" baseline="0" dirty="0">
              <a:ln>
                <a:noFill/>
              </a:ln>
              <a:solidFill>
                <a:schemeClr val="bg2"/>
              </a:solidFill>
              <a:effectLst/>
              <a:latin typeface="宋体" pitchFamily="2" charset="-122"/>
              <a:ea typeface="宋体" pitchFamily="2" charset="-122"/>
            </a:endParaRPr>
          </a:p>
        </p:txBody>
      </p:sp>
      <p:graphicFrame>
        <p:nvGraphicFramePr>
          <p:cNvPr id="2" name="表格 6">
            <a:extLst>
              <a:ext uri="{FF2B5EF4-FFF2-40B4-BE49-F238E27FC236}">
                <a16:creationId xmlns:a16="http://schemas.microsoft.com/office/drawing/2014/main" id="{77B35944-B0FA-0F48-8C92-85C4C08BB467}"/>
              </a:ext>
            </a:extLst>
          </p:cNvPr>
          <p:cNvGraphicFramePr>
            <a:graphicFrameLocks noGrp="1"/>
          </p:cNvGraphicFramePr>
          <p:nvPr>
            <p:extLst>
              <p:ext uri="{D42A27DB-BD31-4B8C-83A1-F6EECF244321}">
                <p14:modId xmlns:p14="http://schemas.microsoft.com/office/powerpoint/2010/main" val="2748476973"/>
              </p:ext>
            </p:extLst>
          </p:nvPr>
        </p:nvGraphicFramePr>
        <p:xfrm>
          <a:off x="755576" y="1625745"/>
          <a:ext cx="6096000" cy="1483360"/>
        </p:xfrm>
        <a:graphic>
          <a:graphicData uri="http://schemas.openxmlformats.org/drawingml/2006/table">
            <a:tbl>
              <a:tblPr firstRow="1" bandRow="1">
                <a:tableStyleId>{21E4AEA4-8DFA-4A89-87EB-49C32662AFE0}</a:tableStyleId>
              </a:tblPr>
              <a:tblGrid>
                <a:gridCol w="1524000">
                  <a:extLst>
                    <a:ext uri="{9D8B030D-6E8A-4147-A177-3AD203B41FA5}">
                      <a16:colId xmlns:a16="http://schemas.microsoft.com/office/drawing/2014/main" val="3199801050"/>
                    </a:ext>
                  </a:extLst>
                </a:gridCol>
                <a:gridCol w="1524000">
                  <a:extLst>
                    <a:ext uri="{9D8B030D-6E8A-4147-A177-3AD203B41FA5}">
                      <a16:colId xmlns:a16="http://schemas.microsoft.com/office/drawing/2014/main" val="518470155"/>
                    </a:ext>
                  </a:extLst>
                </a:gridCol>
                <a:gridCol w="1524000">
                  <a:extLst>
                    <a:ext uri="{9D8B030D-6E8A-4147-A177-3AD203B41FA5}">
                      <a16:colId xmlns:a16="http://schemas.microsoft.com/office/drawing/2014/main" val="2857428384"/>
                    </a:ext>
                  </a:extLst>
                </a:gridCol>
                <a:gridCol w="1524000">
                  <a:extLst>
                    <a:ext uri="{9D8B030D-6E8A-4147-A177-3AD203B41FA5}">
                      <a16:colId xmlns:a16="http://schemas.microsoft.com/office/drawing/2014/main" val="3235754576"/>
                    </a:ext>
                  </a:extLst>
                </a:gridCol>
              </a:tblGrid>
              <a:tr h="370840">
                <a:tc>
                  <a:txBody>
                    <a:bodyPr/>
                    <a:lstStyle/>
                    <a:p>
                      <a:pPr algn="ctr"/>
                      <a:r>
                        <a:rPr lang="zh-CN" altLang="en-US" dirty="0"/>
                        <a:t>导师编号</a:t>
                      </a:r>
                    </a:p>
                  </a:txBody>
                  <a:tcPr/>
                </a:tc>
                <a:tc>
                  <a:txBody>
                    <a:bodyPr/>
                    <a:lstStyle/>
                    <a:p>
                      <a:pPr algn="ctr"/>
                      <a:r>
                        <a:rPr lang="zh-CN" altLang="en-US" dirty="0"/>
                        <a:t>姓名</a:t>
                      </a:r>
                    </a:p>
                  </a:txBody>
                  <a:tcPr/>
                </a:tc>
                <a:tc>
                  <a:txBody>
                    <a:bodyPr/>
                    <a:lstStyle/>
                    <a:p>
                      <a:pPr algn="ctr"/>
                      <a:r>
                        <a:rPr lang="zh-CN" altLang="en-US" dirty="0"/>
                        <a:t>性别</a:t>
                      </a:r>
                    </a:p>
                  </a:txBody>
                  <a:tcPr/>
                </a:tc>
                <a:tc>
                  <a:txBody>
                    <a:bodyPr/>
                    <a:lstStyle/>
                    <a:p>
                      <a:pPr algn="ctr"/>
                      <a:r>
                        <a:rPr lang="zh-CN" altLang="en-US" dirty="0"/>
                        <a:t>职称</a:t>
                      </a:r>
                    </a:p>
                  </a:txBody>
                  <a:tcPr/>
                </a:tc>
                <a:extLst>
                  <a:ext uri="{0D108BD9-81ED-4DB2-BD59-A6C34878D82A}">
                    <a16:rowId xmlns:a16="http://schemas.microsoft.com/office/drawing/2014/main" val="3382739846"/>
                  </a:ext>
                </a:extLst>
              </a:tr>
              <a:tr h="370840">
                <a:tc>
                  <a:txBody>
                    <a:bodyPr/>
                    <a:lstStyle/>
                    <a:p>
                      <a:pPr algn="ctr"/>
                      <a:r>
                        <a:rPr lang="en-US" altLang="zh-CN" dirty="0"/>
                        <a:t>301</a:t>
                      </a:r>
                      <a:endParaRPr lang="zh-CN" altLang="en-US" dirty="0"/>
                    </a:p>
                  </a:txBody>
                  <a:tcPr/>
                </a:tc>
                <a:tc>
                  <a:txBody>
                    <a:bodyPr/>
                    <a:lstStyle/>
                    <a:p>
                      <a:pPr algn="ctr"/>
                      <a:r>
                        <a:rPr lang="zh-CN" altLang="en-US" dirty="0"/>
                        <a:t>程星</a:t>
                      </a:r>
                    </a:p>
                  </a:txBody>
                  <a:tcPr/>
                </a:tc>
                <a:tc>
                  <a:txBody>
                    <a:bodyPr/>
                    <a:lstStyle/>
                    <a:p>
                      <a:pPr algn="ctr"/>
                      <a:r>
                        <a:rPr lang="zh-CN" altLang="en-US" dirty="0"/>
                        <a:t>女</a:t>
                      </a:r>
                    </a:p>
                  </a:txBody>
                  <a:tcPr/>
                </a:tc>
                <a:tc>
                  <a:txBody>
                    <a:bodyPr/>
                    <a:lstStyle/>
                    <a:p>
                      <a:pPr algn="ctr"/>
                      <a:r>
                        <a:rPr lang="zh-CN" altLang="en-US" dirty="0"/>
                        <a:t>教授</a:t>
                      </a:r>
                    </a:p>
                  </a:txBody>
                  <a:tcPr/>
                </a:tc>
                <a:extLst>
                  <a:ext uri="{0D108BD9-81ED-4DB2-BD59-A6C34878D82A}">
                    <a16:rowId xmlns:a16="http://schemas.microsoft.com/office/drawing/2014/main" val="2974177408"/>
                  </a:ext>
                </a:extLst>
              </a:tr>
              <a:tr h="370840">
                <a:tc>
                  <a:txBody>
                    <a:bodyPr/>
                    <a:lstStyle/>
                    <a:p>
                      <a:pPr algn="ctr"/>
                      <a:r>
                        <a:rPr lang="en-US" altLang="zh-CN" dirty="0"/>
                        <a:t>308</a:t>
                      </a:r>
                      <a:endParaRPr lang="zh-CN" altLang="en-US" dirty="0"/>
                    </a:p>
                  </a:txBody>
                  <a:tcPr/>
                </a:tc>
                <a:tc>
                  <a:txBody>
                    <a:bodyPr/>
                    <a:lstStyle/>
                    <a:p>
                      <a:pPr algn="ctr"/>
                      <a:r>
                        <a:rPr lang="zh-CN" altLang="en-US" dirty="0"/>
                        <a:t>刘成柄</a:t>
                      </a:r>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副教授</a:t>
                      </a:r>
                    </a:p>
                  </a:txBody>
                  <a:tcPr/>
                </a:tc>
                <a:extLst>
                  <a:ext uri="{0D108BD9-81ED-4DB2-BD59-A6C34878D82A}">
                    <a16:rowId xmlns:a16="http://schemas.microsoft.com/office/drawing/2014/main" val="2144830579"/>
                  </a:ext>
                </a:extLst>
              </a:tr>
              <a:tr h="370840">
                <a:tc>
                  <a:txBody>
                    <a:bodyPr/>
                    <a:lstStyle/>
                    <a:p>
                      <a:pPr algn="ctr"/>
                      <a:r>
                        <a:rPr lang="en-US" altLang="zh-CN" dirty="0"/>
                        <a:t>316</a:t>
                      </a:r>
                      <a:endParaRPr lang="zh-CN" altLang="en-US" dirty="0"/>
                    </a:p>
                  </a:txBody>
                  <a:tcPr/>
                </a:tc>
                <a:tc>
                  <a:txBody>
                    <a:bodyPr/>
                    <a:lstStyle/>
                    <a:p>
                      <a:pPr algn="ctr"/>
                      <a:r>
                        <a:rPr lang="zh-CN" altLang="en-US" dirty="0"/>
                        <a:t>李慈宏</a:t>
                      </a:r>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副教授</a:t>
                      </a:r>
                    </a:p>
                  </a:txBody>
                  <a:tcPr/>
                </a:tc>
                <a:extLst>
                  <a:ext uri="{0D108BD9-81ED-4DB2-BD59-A6C34878D82A}">
                    <a16:rowId xmlns:a16="http://schemas.microsoft.com/office/drawing/2014/main" val="3671998120"/>
                  </a:ext>
                </a:extLst>
              </a:tr>
            </a:tbl>
          </a:graphicData>
        </a:graphic>
      </p:graphicFrame>
      <p:graphicFrame>
        <p:nvGraphicFramePr>
          <p:cNvPr id="7" name="表格 6">
            <a:extLst>
              <a:ext uri="{FF2B5EF4-FFF2-40B4-BE49-F238E27FC236}">
                <a16:creationId xmlns:a16="http://schemas.microsoft.com/office/drawing/2014/main" id="{88CC2DBA-F832-7948-8077-632E3E43C7CF}"/>
              </a:ext>
            </a:extLst>
          </p:cNvPr>
          <p:cNvGraphicFramePr>
            <a:graphicFrameLocks noGrp="1"/>
          </p:cNvGraphicFramePr>
          <p:nvPr>
            <p:extLst>
              <p:ext uri="{D42A27DB-BD31-4B8C-83A1-F6EECF244321}">
                <p14:modId xmlns:p14="http://schemas.microsoft.com/office/powerpoint/2010/main" val="3670951056"/>
              </p:ext>
            </p:extLst>
          </p:nvPr>
        </p:nvGraphicFramePr>
        <p:xfrm>
          <a:off x="755576" y="3781793"/>
          <a:ext cx="6096000" cy="1854200"/>
        </p:xfrm>
        <a:graphic>
          <a:graphicData uri="http://schemas.openxmlformats.org/drawingml/2006/table">
            <a:tbl>
              <a:tblPr firstRow="1" bandRow="1">
                <a:tableStyleId>{21E4AEA4-8DFA-4A89-87EB-49C32662AFE0}</a:tableStyleId>
              </a:tblPr>
              <a:tblGrid>
                <a:gridCol w="1219200">
                  <a:extLst>
                    <a:ext uri="{9D8B030D-6E8A-4147-A177-3AD203B41FA5}">
                      <a16:colId xmlns:a16="http://schemas.microsoft.com/office/drawing/2014/main" val="3199801050"/>
                    </a:ext>
                  </a:extLst>
                </a:gridCol>
                <a:gridCol w="1219200">
                  <a:extLst>
                    <a:ext uri="{9D8B030D-6E8A-4147-A177-3AD203B41FA5}">
                      <a16:colId xmlns:a16="http://schemas.microsoft.com/office/drawing/2014/main" val="518470155"/>
                    </a:ext>
                  </a:extLst>
                </a:gridCol>
                <a:gridCol w="1219200">
                  <a:extLst>
                    <a:ext uri="{9D8B030D-6E8A-4147-A177-3AD203B41FA5}">
                      <a16:colId xmlns:a16="http://schemas.microsoft.com/office/drawing/2014/main" val="2857428384"/>
                    </a:ext>
                  </a:extLst>
                </a:gridCol>
                <a:gridCol w="1219200">
                  <a:extLst>
                    <a:ext uri="{9D8B030D-6E8A-4147-A177-3AD203B41FA5}">
                      <a16:colId xmlns:a16="http://schemas.microsoft.com/office/drawing/2014/main" val="1284511062"/>
                    </a:ext>
                  </a:extLst>
                </a:gridCol>
                <a:gridCol w="1219200">
                  <a:extLst>
                    <a:ext uri="{9D8B030D-6E8A-4147-A177-3AD203B41FA5}">
                      <a16:colId xmlns:a16="http://schemas.microsoft.com/office/drawing/2014/main" val="3235754576"/>
                    </a:ext>
                  </a:extLst>
                </a:gridCol>
              </a:tblGrid>
              <a:tr h="370840">
                <a:tc>
                  <a:txBody>
                    <a:bodyPr/>
                    <a:lstStyle/>
                    <a:p>
                      <a:pPr algn="ctr"/>
                      <a:r>
                        <a:rPr lang="zh-CN" altLang="en-US" dirty="0"/>
                        <a:t>学号</a:t>
                      </a:r>
                    </a:p>
                  </a:txBody>
                  <a:tcPr/>
                </a:tc>
                <a:tc>
                  <a:txBody>
                    <a:bodyPr/>
                    <a:lstStyle/>
                    <a:p>
                      <a:pPr algn="ctr"/>
                      <a:r>
                        <a:rPr lang="zh-CN" altLang="en-US" dirty="0"/>
                        <a:t>姓名</a:t>
                      </a:r>
                    </a:p>
                  </a:txBody>
                  <a:tcPr/>
                </a:tc>
                <a:tc>
                  <a:txBody>
                    <a:bodyPr/>
                    <a:lstStyle/>
                    <a:p>
                      <a:pPr algn="ctr"/>
                      <a:r>
                        <a:rPr lang="zh-CN" altLang="en-US" dirty="0"/>
                        <a:t>性别</a:t>
                      </a:r>
                    </a:p>
                  </a:txBody>
                  <a:tcPr/>
                </a:tc>
                <a:tc>
                  <a:txBody>
                    <a:bodyPr/>
                    <a:lstStyle/>
                    <a:p>
                      <a:pPr algn="ctr"/>
                      <a:r>
                        <a:rPr lang="zh-CN" altLang="en-US" dirty="0"/>
                        <a:t>专业</a:t>
                      </a:r>
                    </a:p>
                  </a:txBody>
                  <a:tcPr/>
                </a:tc>
                <a:tc>
                  <a:txBody>
                    <a:bodyPr/>
                    <a:lstStyle/>
                    <a:p>
                      <a:pPr algn="ctr"/>
                      <a:r>
                        <a:rPr lang="zh-CN" altLang="en-US" dirty="0"/>
                        <a:t>导师编号</a:t>
                      </a:r>
                    </a:p>
                  </a:txBody>
                  <a:tcPr/>
                </a:tc>
                <a:extLst>
                  <a:ext uri="{0D108BD9-81ED-4DB2-BD59-A6C34878D82A}">
                    <a16:rowId xmlns:a16="http://schemas.microsoft.com/office/drawing/2014/main" val="3382739846"/>
                  </a:ext>
                </a:extLst>
              </a:tr>
              <a:tr h="370840">
                <a:tc>
                  <a:txBody>
                    <a:bodyPr/>
                    <a:lstStyle/>
                    <a:p>
                      <a:pPr algn="ctr"/>
                      <a:r>
                        <a:rPr lang="en-US" altLang="zh-CN" dirty="0"/>
                        <a:t>S104</a:t>
                      </a:r>
                      <a:endParaRPr lang="zh-CN" altLang="en-US" dirty="0"/>
                    </a:p>
                  </a:txBody>
                  <a:tcPr/>
                </a:tc>
                <a:tc>
                  <a:txBody>
                    <a:bodyPr/>
                    <a:lstStyle/>
                    <a:p>
                      <a:pPr algn="ctr"/>
                      <a:r>
                        <a:rPr lang="zh-CN" altLang="en-US" dirty="0"/>
                        <a:t>王大伟</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计算机</a:t>
                      </a:r>
                    </a:p>
                  </a:txBody>
                  <a:tcPr/>
                </a:tc>
                <a:tc>
                  <a:txBody>
                    <a:bodyPr/>
                    <a:lstStyle/>
                    <a:p>
                      <a:pPr algn="ctr"/>
                      <a:r>
                        <a:rPr lang="en-US" altLang="zh-CN" dirty="0"/>
                        <a:t>308</a:t>
                      </a:r>
                      <a:endParaRPr lang="zh-CN" altLang="en-US" dirty="0"/>
                    </a:p>
                  </a:txBody>
                  <a:tcPr/>
                </a:tc>
                <a:extLst>
                  <a:ext uri="{0D108BD9-81ED-4DB2-BD59-A6C34878D82A}">
                    <a16:rowId xmlns:a16="http://schemas.microsoft.com/office/drawing/2014/main" val="2974177408"/>
                  </a:ext>
                </a:extLst>
              </a:tr>
              <a:tr h="370840">
                <a:tc>
                  <a:txBody>
                    <a:bodyPr/>
                    <a:lstStyle/>
                    <a:p>
                      <a:pPr algn="ctr"/>
                      <a:r>
                        <a:rPr lang="en-US" altLang="zh-CN" dirty="0"/>
                        <a:t>S106</a:t>
                      </a:r>
                      <a:endParaRPr lang="zh-CN" altLang="en-US" dirty="0"/>
                    </a:p>
                  </a:txBody>
                  <a:tcPr/>
                </a:tc>
                <a:tc>
                  <a:txBody>
                    <a:bodyPr/>
                    <a:lstStyle/>
                    <a:p>
                      <a:pPr algn="ctr"/>
                      <a:r>
                        <a:rPr lang="zh-CN" altLang="en-US" dirty="0"/>
                        <a:t>刘红英</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通信</a:t>
                      </a:r>
                    </a:p>
                  </a:txBody>
                  <a:tcPr/>
                </a:tc>
                <a:tc>
                  <a:txBody>
                    <a:bodyPr/>
                    <a:lstStyle/>
                    <a:p>
                      <a:pPr algn="ctr"/>
                      <a:r>
                        <a:rPr lang="en-US" altLang="zh-CN" dirty="0"/>
                        <a:t>316</a:t>
                      </a:r>
                      <a:endParaRPr lang="zh-CN" altLang="en-US" dirty="0"/>
                    </a:p>
                  </a:txBody>
                  <a:tcPr/>
                </a:tc>
                <a:extLst>
                  <a:ext uri="{0D108BD9-81ED-4DB2-BD59-A6C34878D82A}">
                    <a16:rowId xmlns:a16="http://schemas.microsoft.com/office/drawing/2014/main" val="2144830579"/>
                  </a:ext>
                </a:extLst>
              </a:tr>
              <a:tr h="370840">
                <a:tc>
                  <a:txBody>
                    <a:bodyPr/>
                    <a:lstStyle/>
                    <a:p>
                      <a:pPr algn="ctr"/>
                      <a:r>
                        <a:rPr lang="en-US" altLang="zh-CN" dirty="0"/>
                        <a:t>S107</a:t>
                      </a:r>
                      <a:endParaRPr lang="zh-CN" altLang="en-US" dirty="0"/>
                    </a:p>
                  </a:txBody>
                  <a:tcPr/>
                </a:tc>
                <a:tc>
                  <a:txBody>
                    <a:bodyPr/>
                    <a:lstStyle/>
                    <a:p>
                      <a:pPr algn="ctr"/>
                      <a:r>
                        <a:rPr lang="zh-CN" altLang="en-US" dirty="0"/>
                        <a:t>韩伟海</a:t>
                      </a:r>
                    </a:p>
                  </a:txBody>
                  <a:tcPr/>
                </a:tc>
                <a:tc>
                  <a:txBody>
                    <a:bodyPr/>
                    <a:lstStyle/>
                    <a:p>
                      <a:pPr algn="ctr"/>
                      <a:r>
                        <a:rPr lang="zh-CN" altLang="en-US" dirty="0"/>
                        <a:t>男</a:t>
                      </a:r>
                    </a:p>
                  </a:txBody>
                  <a:tcPr/>
                </a:tc>
                <a:tc>
                  <a:txBody>
                    <a:bodyPr/>
                    <a:lstStyle/>
                    <a:p>
                      <a:pPr algn="ctr"/>
                      <a:r>
                        <a:rPr lang="zh-CN" altLang="en-US" dirty="0"/>
                        <a:t>自动化</a:t>
                      </a:r>
                    </a:p>
                  </a:txBody>
                  <a:tcPr/>
                </a:tc>
                <a:tc>
                  <a:txBody>
                    <a:bodyPr/>
                    <a:lstStyle/>
                    <a:p>
                      <a:pPr algn="ctr"/>
                      <a:endParaRPr lang="zh-CN" altLang="en-US" dirty="0"/>
                    </a:p>
                  </a:txBody>
                  <a:tcPr/>
                </a:tc>
                <a:extLst>
                  <a:ext uri="{0D108BD9-81ED-4DB2-BD59-A6C34878D82A}">
                    <a16:rowId xmlns:a16="http://schemas.microsoft.com/office/drawing/2014/main" val="367199812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S110</a:t>
                      </a:r>
                      <a:endParaRPr lang="zh-CN" altLang="en-US" dirty="0"/>
                    </a:p>
                  </a:txBody>
                  <a:tcPr/>
                </a:tc>
                <a:tc>
                  <a:txBody>
                    <a:bodyPr/>
                    <a:lstStyle/>
                    <a:p>
                      <a:pPr algn="ctr"/>
                      <a:r>
                        <a:rPr lang="zh-CN" altLang="en-US" dirty="0"/>
                        <a:t>李胜利</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318</a:t>
                      </a:r>
                      <a:endParaRPr lang="zh-CN" altLang="en-US" dirty="0"/>
                    </a:p>
                  </a:txBody>
                  <a:tcPr/>
                </a:tc>
                <a:extLst>
                  <a:ext uri="{0D108BD9-81ED-4DB2-BD59-A6C34878D82A}">
                    <a16:rowId xmlns:a16="http://schemas.microsoft.com/office/drawing/2014/main" val="3551426710"/>
                  </a:ext>
                </a:extLst>
              </a:tr>
            </a:tbl>
          </a:graphicData>
        </a:graphic>
      </p:graphicFrame>
      <p:sp>
        <p:nvSpPr>
          <p:cNvPr id="4" name="矩形标注 3">
            <a:extLst>
              <a:ext uri="{FF2B5EF4-FFF2-40B4-BE49-F238E27FC236}">
                <a16:creationId xmlns:a16="http://schemas.microsoft.com/office/drawing/2014/main" id="{EE339E84-4E49-EC4A-83DF-395E0692B989}"/>
              </a:ext>
            </a:extLst>
          </p:cNvPr>
          <p:cNvSpPr/>
          <p:nvPr/>
        </p:nvSpPr>
        <p:spPr bwMode="auto">
          <a:xfrm>
            <a:off x="1547664" y="732435"/>
            <a:ext cx="2376264" cy="584775"/>
          </a:xfrm>
          <a:prstGeom prst="wedgeRectCallout">
            <a:avLst>
              <a:gd name="adj1" fmla="val -32059"/>
              <a:gd name="adj2" fmla="val 93873"/>
            </a:avLst>
          </a:prstGeom>
          <a:noFill/>
          <a:ln w="3810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chemeClr val="bg2"/>
                </a:solidFill>
                <a:effectLst/>
                <a:latin typeface="宋体" pitchFamily="2" charset="-122"/>
                <a:ea typeface="宋体" pitchFamily="2" charset="-122"/>
              </a:rPr>
              <a:t>导师编号不允许是重复值或者空值</a:t>
            </a:r>
          </a:p>
        </p:txBody>
      </p:sp>
      <p:cxnSp>
        <p:nvCxnSpPr>
          <p:cNvPr id="18" name="直线连接符 17">
            <a:extLst>
              <a:ext uri="{FF2B5EF4-FFF2-40B4-BE49-F238E27FC236}">
                <a16:creationId xmlns:a16="http://schemas.microsoft.com/office/drawing/2014/main" id="{D00BBD63-DDCF-F348-8FC4-9548369DCED5}"/>
              </a:ext>
            </a:extLst>
          </p:cNvPr>
          <p:cNvCxnSpPr/>
          <p:nvPr/>
        </p:nvCxnSpPr>
        <p:spPr bwMode="auto">
          <a:xfrm>
            <a:off x="1475656" y="3109105"/>
            <a:ext cx="0" cy="319895"/>
          </a:xfrm>
          <a:prstGeom prst="line">
            <a:avLst/>
          </a:prstGeom>
          <a:ln w="19050"/>
        </p:spPr>
        <p:style>
          <a:lnRef idx="1">
            <a:schemeClr val="accent2"/>
          </a:lnRef>
          <a:fillRef idx="0">
            <a:schemeClr val="accent2"/>
          </a:fillRef>
          <a:effectRef idx="0">
            <a:schemeClr val="accent2"/>
          </a:effectRef>
          <a:fontRef idx="minor">
            <a:schemeClr val="tx1"/>
          </a:fontRef>
        </p:style>
      </p:cxnSp>
      <p:cxnSp>
        <p:nvCxnSpPr>
          <p:cNvPr id="20" name="肘形连接符 19">
            <a:extLst>
              <a:ext uri="{FF2B5EF4-FFF2-40B4-BE49-F238E27FC236}">
                <a16:creationId xmlns:a16="http://schemas.microsoft.com/office/drawing/2014/main" id="{45C0C60C-C39B-7442-91C3-77F9C095A507}"/>
              </a:ext>
            </a:extLst>
          </p:cNvPr>
          <p:cNvCxnSpPr/>
          <p:nvPr/>
        </p:nvCxnSpPr>
        <p:spPr bwMode="auto">
          <a:xfrm>
            <a:off x="1475656" y="3429000"/>
            <a:ext cx="4896544" cy="352793"/>
          </a:xfrm>
          <a:prstGeom prst="bentConnector3">
            <a:avLst>
              <a:gd name="adj1" fmla="val 100173"/>
            </a:avLst>
          </a:prstGeom>
          <a:ln w="19050">
            <a:tailEnd type="triangle"/>
          </a:ln>
        </p:spPr>
        <p:style>
          <a:lnRef idx="1">
            <a:schemeClr val="accent2"/>
          </a:lnRef>
          <a:fillRef idx="0">
            <a:schemeClr val="accent2"/>
          </a:fillRef>
          <a:effectRef idx="0">
            <a:schemeClr val="accent2"/>
          </a:effectRef>
          <a:fontRef idx="minor">
            <a:schemeClr val="tx1"/>
          </a:fontRef>
        </p:style>
      </p:cxnSp>
      <p:sp>
        <p:nvSpPr>
          <p:cNvPr id="23" name="文本框 22">
            <a:extLst>
              <a:ext uri="{FF2B5EF4-FFF2-40B4-BE49-F238E27FC236}">
                <a16:creationId xmlns:a16="http://schemas.microsoft.com/office/drawing/2014/main" id="{CF70200A-092F-EF41-BD38-982264FD51B0}"/>
              </a:ext>
            </a:extLst>
          </p:cNvPr>
          <p:cNvSpPr txBox="1"/>
          <p:nvPr/>
        </p:nvSpPr>
        <p:spPr>
          <a:xfrm>
            <a:off x="755576" y="1249345"/>
            <a:ext cx="4572000" cy="313932"/>
          </a:xfrm>
          <a:prstGeom prst="rect">
            <a:avLst/>
          </a:prstGeom>
          <a:noFill/>
        </p:spPr>
        <p:txBody>
          <a:bodyPr wrap="square">
            <a:spAutoFit/>
          </a:bodyPr>
          <a:lstStyle/>
          <a:p>
            <a:r>
              <a:rPr kumimoji="0" lang="zh-CN" altLang="en-US" sz="1800" b="1" i="0" u="none" strike="noStrike" kern="1200" cap="none" spc="0" normalizeH="0" baseline="0" noProof="0" dirty="0">
                <a:ln>
                  <a:noFill/>
                </a:ln>
                <a:solidFill>
                  <a:schemeClr val="bg2"/>
                </a:solidFill>
                <a:effectLst/>
                <a:uLnTx/>
                <a:uFillTx/>
                <a:latin typeface="Times New Roman"/>
                <a:ea typeface="宋体"/>
                <a:cs typeface="+mn-cs"/>
              </a:rPr>
              <a:t>导师</a:t>
            </a:r>
            <a:endParaRPr lang="zh-CN" altLang="en-US" dirty="0">
              <a:solidFill>
                <a:schemeClr val="bg2"/>
              </a:solidFill>
            </a:endParaRPr>
          </a:p>
        </p:txBody>
      </p:sp>
      <p:sp>
        <p:nvSpPr>
          <p:cNvPr id="24" name="文本框 23">
            <a:extLst>
              <a:ext uri="{FF2B5EF4-FFF2-40B4-BE49-F238E27FC236}">
                <a16:creationId xmlns:a16="http://schemas.microsoft.com/office/drawing/2014/main" id="{226DE535-CC1E-E74F-AAA8-7E1E4A5AC037}"/>
              </a:ext>
            </a:extLst>
          </p:cNvPr>
          <p:cNvSpPr txBox="1"/>
          <p:nvPr/>
        </p:nvSpPr>
        <p:spPr>
          <a:xfrm>
            <a:off x="799039" y="3442132"/>
            <a:ext cx="4572000" cy="313932"/>
          </a:xfrm>
          <a:prstGeom prst="rect">
            <a:avLst/>
          </a:prstGeom>
          <a:noFill/>
        </p:spPr>
        <p:txBody>
          <a:bodyPr wrap="square">
            <a:spAutoFit/>
          </a:bodyPr>
          <a:lstStyle/>
          <a:p>
            <a:r>
              <a:rPr kumimoji="0" lang="zh-CN" altLang="en-US" sz="1800" b="1" i="0" u="none" strike="noStrike" kern="1200" cap="none" spc="0" normalizeH="0" baseline="0" noProof="0" dirty="0">
                <a:ln>
                  <a:noFill/>
                </a:ln>
                <a:solidFill>
                  <a:schemeClr val="bg2"/>
                </a:solidFill>
                <a:effectLst/>
                <a:uLnTx/>
                <a:uFillTx/>
                <a:latin typeface="Times New Roman"/>
                <a:ea typeface="宋体"/>
                <a:cs typeface="+mn-cs"/>
              </a:rPr>
              <a:t>研究生</a:t>
            </a:r>
            <a:endParaRPr lang="zh-CN" altLang="en-US" dirty="0">
              <a:solidFill>
                <a:schemeClr val="bg2"/>
              </a:solidFill>
            </a:endParaRPr>
          </a:p>
        </p:txBody>
      </p:sp>
    </p:spTree>
    <p:extLst>
      <p:ext uri="{BB962C8B-B14F-4D97-AF65-F5344CB8AC3E}">
        <p14:creationId xmlns:p14="http://schemas.microsoft.com/office/powerpoint/2010/main" val="42393774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4"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9042" name="Rectangle 2"/>
          <p:cNvSpPr>
            <a:spLocks noChangeArrowheads="1"/>
          </p:cNvSpPr>
          <p:nvPr/>
        </p:nvSpPr>
        <p:spPr bwMode="auto">
          <a:xfrm>
            <a:off x="0" y="0"/>
            <a:ext cx="9144000" cy="26828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40000"/>
              </a:lnSpc>
            </a:pPr>
            <a:r>
              <a:rPr lang="en-US" altLang="zh-CN" sz="3200" b="1" dirty="0">
                <a:solidFill>
                  <a:schemeClr val="bg2"/>
                </a:solidFill>
                <a:effectLst>
                  <a:outerShdw blurRad="38100" dist="38100" dir="2700000" algn="tl">
                    <a:srgbClr val="C0C0C0"/>
                  </a:outerShdw>
                </a:effectLst>
                <a:latin typeface="Times New Roman" pitchFamily="18" charset="0"/>
              </a:rPr>
              <a:t>                        §3.2   </a:t>
            </a:r>
            <a:r>
              <a:rPr lang="zh-CN" altLang="en-US" sz="3200" b="1" dirty="0">
                <a:solidFill>
                  <a:schemeClr val="bg2"/>
                </a:solidFill>
                <a:effectLst>
                  <a:outerShdw blurRad="38100" dist="38100" dir="2700000" algn="tl">
                    <a:srgbClr val="C0C0C0"/>
                  </a:outerShdw>
                </a:effectLst>
              </a:rPr>
              <a:t>关系代数</a:t>
            </a:r>
            <a:endParaRPr lang="zh-CN" altLang="en-US" sz="3200" b="1" dirty="0">
              <a:solidFill>
                <a:schemeClr val="bg2"/>
              </a:solidFill>
              <a:effectLst>
                <a:outerShdw blurRad="38100" dist="38100" dir="2700000" algn="tl">
                  <a:srgbClr val="C0C0C0"/>
                </a:outerShdw>
              </a:effectLst>
              <a:latin typeface="Times New Roman" pitchFamily="18" charset="0"/>
            </a:endParaRPr>
          </a:p>
          <a:p>
            <a:pPr eaLnBrk="0" hangingPunct="0">
              <a:lnSpc>
                <a:spcPct val="140000"/>
              </a:lnSpc>
            </a:pPr>
            <a:r>
              <a:rPr lang="zh-CN" altLang="en-US" sz="2800" b="1" dirty="0">
                <a:solidFill>
                  <a:srgbClr val="000099"/>
                </a:solidFill>
                <a:latin typeface="Times New Roman" pitchFamily="18" charset="0"/>
              </a:rPr>
              <a:t>    一、</a:t>
            </a:r>
            <a:r>
              <a:rPr lang="zh-CN" altLang="en-US" sz="2800" b="1" dirty="0">
                <a:solidFill>
                  <a:srgbClr val="000099"/>
                </a:solidFill>
              </a:rPr>
              <a:t>关系数据语言</a:t>
            </a:r>
          </a:p>
          <a:p>
            <a:pPr eaLnBrk="0" hangingPunct="0">
              <a:lnSpc>
                <a:spcPct val="100000"/>
              </a:lnSpc>
            </a:pPr>
            <a:r>
              <a:rPr lang="zh-CN" altLang="en-US" sz="2400" b="1" dirty="0">
                <a:solidFill>
                  <a:schemeClr val="bg2"/>
                </a:solidFill>
                <a:latin typeface="Times New Roman" pitchFamily="18" charset="0"/>
              </a:rPr>
              <a:t>        关系数据库语言由查询语句（描述用户的检索操作）和更新</a:t>
            </a:r>
          </a:p>
          <a:p>
            <a:pPr eaLnBrk="0" hangingPunct="0">
              <a:lnSpc>
                <a:spcPct val="100000"/>
              </a:lnSpc>
            </a:pPr>
            <a:r>
              <a:rPr lang="zh-CN" altLang="en-US" sz="2400" b="1" dirty="0">
                <a:solidFill>
                  <a:schemeClr val="bg2"/>
                </a:solidFill>
                <a:latin typeface="Times New Roman" pitchFamily="18" charset="0"/>
              </a:rPr>
              <a:t>   语句（描述用户的插入、修改和删除等操作）两大类组成。</a:t>
            </a:r>
          </a:p>
        </p:txBody>
      </p:sp>
      <p:grpSp>
        <p:nvGrpSpPr>
          <p:cNvPr id="599044" name="Group 4"/>
          <p:cNvGrpSpPr>
            <a:grpSpLocks/>
          </p:cNvGrpSpPr>
          <p:nvPr/>
        </p:nvGrpSpPr>
        <p:grpSpPr bwMode="auto">
          <a:xfrm>
            <a:off x="152400" y="44450"/>
            <a:ext cx="8991600" cy="973138"/>
            <a:chOff x="0" y="288"/>
            <a:chExt cx="5760" cy="864"/>
          </a:xfrm>
        </p:grpSpPr>
        <p:sp>
          <p:nvSpPr>
            <p:cNvPr id="599045" name="Rectangle 5"/>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599046" name="Rectangle 6"/>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599047" name="Rectangle 7"/>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599048" name="Rectangle 8"/>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599049" name="Rectangle 9"/>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599050" name="Rectangle 10"/>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grpSp>
      <p:sp>
        <p:nvSpPr>
          <p:cNvPr id="599053" name="Rectangle 13"/>
          <p:cNvSpPr>
            <a:spLocks noChangeArrowheads="1"/>
          </p:cNvSpPr>
          <p:nvPr/>
        </p:nvSpPr>
        <p:spPr bwMode="auto">
          <a:xfrm>
            <a:off x="-107950" y="2708275"/>
            <a:ext cx="9144000" cy="4254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pPr>
            <a:r>
              <a:rPr lang="en-US" altLang="zh-CN" sz="2400" b="1" dirty="0">
                <a:solidFill>
                  <a:schemeClr val="bg2"/>
                </a:solidFill>
              </a:rPr>
              <a:t>    </a:t>
            </a:r>
            <a:r>
              <a:rPr lang="zh-CN" altLang="en-US" sz="2400" b="1" dirty="0">
                <a:solidFill>
                  <a:schemeClr val="bg2"/>
                </a:solidFill>
              </a:rPr>
              <a:t>关系查询语言分为：</a:t>
            </a:r>
          </a:p>
          <a:p>
            <a:pPr>
              <a:lnSpc>
                <a:spcPct val="120000"/>
              </a:lnSpc>
            </a:pPr>
            <a:r>
              <a:rPr lang="zh-CN" altLang="en-US" sz="2400" b="1" dirty="0">
                <a:solidFill>
                  <a:schemeClr val="folHlink"/>
                </a:solidFill>
              </a:rPr>
              <a:t>        </a:t>
            </a:r>
            <a:r>
              <a:rPr lang="zh-CN" altLang="en-US" sz="2400" b="1" dirty="0">
                <a:solidFill>
                  <a:srgbClr val="660033"/>
                </a:solidFill>
              </a:rPr>
              <a:t>关系代数语言：</a:t>
            </a:r>
          </a:p>
          <a:p>
            <a:pPr>
              <a:lnSpc>
                <a:spcPct val="120000"/>
              </a:lnSpc>
            </a:pPr>
            <a:r>
              <a:rPr lang="zh-CN" altLang="en-US" sz="2400" b="1" dirty="0">
                <a:solidFill>
                  <a:srgbClr val="660033"/>
                </a:solidFill>
              </a:rPr>
              <a:t>        关系演算语言：</a:t>
            </a:r>
          </a:p>
          <a:p>
            <a:pPr>
              <a:lnSpc>
                <a:spcPct val="120000"/>
              </a:lnSpc>
            </a:pPr>
            <a:endParaRPr lang="zh-CN" altLang="en-US" sz="2400" b="1" dirty="0">
              <a:solidFill>
                <a:srgbClr val="660033"/>
              </a:solidFill>
            </a:endParaRPr>
          </a:p>
          <a:p>
            <a:pPr>
              <a:lnSpc>
                <a:spcPct val="120000"/>
              </a:lnSpc>
            </a:pPr>
            <a:r>
              <a:rPr lang="zh-CN" altLang="en-US" sz="2400" b="1" dirty="0">
                <a:solidFill>
                  <a:srgbClr val="660033"/>
                </a:solidFill>
              </a:rPr>
              <a:t>         </a:t>
            </a:r>
          </a:p>
          <a:p>
            <a:pPr>
              <a:lnSpc>
                <a:spcPct val="120000"/>
              </a:lnSpc>
            </a:pPr>
            <a:r>
              <a:rPr lang="zh-CN" altLang="en-US" sz="2400" b="1" dirty="0">
                <a:solidFill>
                  <a:srgbClr val="660033"/>
                </a:solidFill>
              </a:rPr>
              <a:t>        基于关系代数和关系演算语言双重特点的语言：</a:t>
            </a:r>
          </a:p>
          <a:p>
            <a:pPr>
              <a:lnSpc>
                <a:spcPct val="120000"/>
              </a:lnSpc>
            </a:pPr>
            <a:endParaRPr lang="en-US" altLang="zh-CN" sz="2400" b="1" dirty="0"/>
          </a:p>
        </p:txBody>
      </p:sp>
      <p:sp>
        <p:nvSpPr>
          <p:cNvPr id="599055" name="Rectangle 15"/>
          <p:cNvSpPr>
            <a:spLocks noChangeArrowheads="1"/>
          </p:cNvSpPr>
          <p:nvPr/>
        </p:nvSpPr>
        <p:spPr bwMode="auto">
          <a:xfrm>
            <a:off x="3348038" y="3476625"/>
            <a:ext cx="4824412"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400" b="1" dirty="0">
                <a:solidFill>
                  <a:schemeClr val="bg2"/>
                </a:solidFill>
              </a:rPr>
              <a:t>以</a:t>
            </a:r>
            <a:r>
              <a:rPr lang="zh-CN" altLang="en-US" sz="2400" b="1" dirty="0">
                <a:solidFill>
                  <a:schemeClr val="bg1"/>
                </a:solidFill>
              </a:rPr>
              <a:t>集合</a:t>
            </a:r>
            <a:r>
              <a:rPr lang="zh-CN" altLang="en-US" sz="2400" b="1" dirty="0">
                <a:solidFill>
                  <a:schemeClr val="bg2"/>
                </a:solidFill>
              </a:rPr>
              <a:t>操作为基础；</a:t>
            </a:r>
          </a:p>
        </p:txBody>
      </p:sp>
      <p:grpSp>
        <p:nvGrpSpPr>
          <p:cNvPr id="701442" name="Group 2"/>
          <p:cNvGrpSpPr>
            <a:grpSpLocks/>
          </p:cNvGrpSpPr>
          <p:nvPr/>
        </p:nvGrpSpPr>
        <p:grpSpPr bwMode="auto">
          <a:xfrm>
            <a:off x="3168650" y="4076702"/>
            <a:ext cx="6516688" cy="1347788"/>
            <a:chOff x="884" y="3203"/>
            <a:chExt cx="4105" cy="849"/>
          </a:xfrm>
        </p:grpSpPr>
        <p:sp>
          <p:nvSpPr>
            <p:cNvPr id="599043" name="AutoShape 3"/>
            <p:cNvSpPr>
              <a:spLocks/>
            </p:cNvSpPr>
            <p:nvPr/>
          </p:nvSpPr>
          <p:spPr bwMode="auto">
            <a:xfrm>
              <a:off x="2562" y="3294"/>
              <a:ext cx="181" cy="740"/>
            </a:xfrm>
            <a:prstGeom prst="leftBrace">
              <a:avLst>
                <a:gd name="adj1" fmla="val 34070"/>
                <a:gd name="adj2" fmla="val 50000"/>
              </a:avLst>
            </a:prstGeom>
            <a:noFill/>
            <a:ln w="38100">
              <a:solidFill>
                <a:schemeClr val="bg2"/>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599056" name="Rectangle 16"/>
            <p:cNvSpPr>
              <a:spLocks noChangeArrowheads="1"/>
            </p:cNvSpPr>
            <p:nvPr/>
          </p:nvSpPr>
          <p:spPr bwMode="auto">
            <a:xfrm>
              <a:off x="884" y="3203"/>
              <a:ext cx="4105" cy="84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400" b="1" dirty="0">
                  <a:solidFill>
                    <a:schemeClr val="bg2"/>
                  </a:solidFill>
                </a:rPr>
                <a:t>以</a:t>
              </a:r>
              <a:r>
                <a:rPr lang="zh-CN" altLang="en-US" sz="2400" b="1" dirty="0">
                  <a:solidFill>
                    <a:schemeClr val="bg1"/>
                  </a:solidFill>
                </a:rPr>
                <a:t>谓词演算</a:t>
              </a:r>
              <a:r>
                <a:rPr lang="zh-CN" altLang="en-US" sz="2400" b="1" dirty="0">
                  <a:solidFill>
                    <a:schemeClr val="bg2"/>
                  </a:solidFill>
                </a:rPr>
                <a:t>为基础；  元组关系演算语言  </a:t>
              </a:r>
            </a:p>
            <a:p>
              <a:r>
                <a:rPr lang="zh-CN" altLang="en-US" sz="2400" b="1" dirty="0">
                  <a:solidFill>
                    <a:schemeClr val="bg2"/>
                  </a:solidFill>
                </a:rPr>
                <a:t>                                                                                          </a:t>
              </a:r>
            </a:p>
            <a:p>
              <a:r>
                <a:rPr lang="zh-CN" altLang="en-US" sz="2400" b="1" dirty="0">
                  <a:solidFill>
                    <a:schemeClr val="bg2"/>
                  </a:solidFill>
                </a:rPr>
                <a:t>                    域关系演算语言</a:t>
              </a:r>
            </a:p>
          </p:txBody>
        </p:sp>
      </p:grpSp>
      <p:sp>
        <p:nvSpPr>
          <p:cNvPr id="599058" name="Rectangle 18"/>
          <p:cNvSpPr>
            <a:spLocks noChangeArrowheads="1"/>
          </p:cNvSpPr>
          <p:nvPr/>
        </p:nvSpPr>
        <p:spPr bwMode="auto">
          <a:xfrm>
            <a:off x="7740650" y="5949950"/>
            <a:ext cx="935038"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sz="2400" b="1">
                <a:solidFill>
                  <a:schemeClr val="bg2"/>
                </a:solidFill>
              </a:rPr>
              <a:t>SQL</a:t>
            </a:r>
          </a:p>
        </p:txBody>
      </p:sp>
      <p:pic>
        <p:nvPicPr>
          <p:cNvPr id="16" name="图片 15">
            <a:extLst>
              <a:ext uri="{FF2B5EF4-FFF2-40B4-BE49-F238E27FC236}">
                <a16:creationId xmlns:a16="http://schemas.microsoft.com/office/drawing/2014/main" id="{827A4FA5-7E9A-BB4E-AE94-D1FB2EA4B04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299006" y="3347318"/>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599053"/>
                                        </p:tgtEl>
                                        <p:attrNameLst>
                                          <p:attrName>style.visibility</p:attrName>
                                        </p:attrNameLst>
                                      </p:cBhvr>
                                      <p:to>
                                        <p:strVal val="visible"/>
                                      </p:to>
                                    </p:set>
                                    <p:animEffect transition="in" filter="blinds(horizontal)">
                                      <p:cBhvr>
                                        <p:cTn id="7" dur="500"/>
                                        <p:tgtEl>
                                          <p:spTgt spid="59905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599055"/>
                                        </p:tgtEl>
                                        <p:attrNameLst>
                                          <p:attrName>style.visibility</p:attrName>
                                        </p:attrNameLst>
                                      </p:cBhvr>
                                      <p:to>
                                        <p:strVal val="visible"/>
                                      </p:to>
                                    </p:set>
                                    <p:animEffect transition="in" filter="blinds(horizontal)">
                                      <p:cBhvr>
                                        <p:cTn id="12" dur="500"/>
                                        <p:tgtEl>
                                          <p:spTgt spid="59905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701442"/>
                                        </p:tgtEl>
                                        <p:attrNameLst>
                                          <p:attrName>style.visibility</p:attrName>
                                        </p:attrNameLst>
                                      </p:cBhvr>
                                      <p:to>
                                        <p:strVal val="visible"/>
                                      </p:to>
                                    </p:set>
                                    <p:animEffect transition="in" filter="blinds(horizontal)">
                                      <p:cBhvr>
                                        <p:cTn id="17" dur="500"/>
                                        <p:tgtEl>
                                          <p:spTgt spid="70144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599058"/>
                                        </p:tgtEl>
                                        <p:attrNameLst>
                                          <p:attrName>style.visibility</p:attrName>
                                        </p:attrNameLst>
                                      </p:cBhvr>
                                      <p:to>
                                        <p:strVal val="visible"/>
                                      </p:to>
                                    </p:set>
                                    <p:animEffect transition="in" filter="blinds(horizontal)">
                                      <p:cBhvr>
                                        <p:cTn id="22" dur="500"/>
                                        <p:tgtEl>
                                          <p:spTgt spid="599058"/>
                                        </p:tgtEl>
                                      </p:cBhvr>
                                    </p:animEffec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9053" grpId="0"/>
      <p:bldP spid="599055" grpId="0"/>
      <p:bldP spid="599058"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3176C3B-3FED-C445-ADEC-B1E243501E8E}"/>
              </a:ext>
            </a:extLst>
          </p:cNvPr>
          <p:cNvSpPr txBox="1"/>
          <p:nvPr/>
        </p:nvSpPr>
        <p:spPr>
          <a:xfrm>
            <a:off x="269776" y="836712"/>
            <a:ext cx="8604448" cy="437043"/>
          </a:xfrm>
          <a:prstGeom prst="rect">
            <a:avLst/>
          </a:prstGeom>
          <a:noFill/>
        </p:spPr>
        <p:txBody>
          <a:bodyPr wrap="square">
            <a:spAutoFit/>
          </a:bodyPr>
          <a:lstStyle/>
          <a:p>
            <a:r>
              <a:rPr lang="zh-CN" altLang="en-US" sz="2800" b="1" dirty="0">
                <a:solidFill>
                  <a:schemeClr val="bg2"/>
                </a:solidFill>
              </a:rPr>
              <a:t>关系查询语言是过程性语言</a:t>
            </a:r>
            <a:r>
              <a:rPr kumimoji="1" lang="zh-CN" altLang="en-US" sz="2800" dirty="0">
                <a:solidFill>
                  <a:schemeClr val="bg2"/>
                </a:solidFill>
              </a:rPr>
              <a:t>？还是非</a:t>
            </a:r>
            <a:r>
              <a:rPr lang="zh-CN" altLang="en-US" sz="2800" b="1" dirty="0">
                <a:solidFill>
                  <a:schemeClr val="bg2"/>
                </a:solidFill>
              </a:rPr>
              <a:t>过程性语言？</a:t>
            </a:r>
            <a:endParaRPr kumimoji="1" lang="zh-CN" altLang="en-US" sz="2800" dirty="0">
              <a:solidFill>
                <a:schemeClr val="bg2"/>
              </a:solidFill>
            </a:endParaRPr>
          </a:p>
        </p:txBody>
      </p:sp>
      <p:sp>
        <p:nvSpPr>
          <p:cNvPr id="5" name="文本框 4">
            <a:extLst>
              <a:ext uri="{FF2B5EF4-FFF2-40B4-BE49-F238E27FC236}">
                <a16:creationId xmlns:a16="http://schemas.microsoft.com/office/drawing/2014/main" id="{8323F5F0-A24D-EF4D-AA6F-7217746CAA04}"/>
              </a:ext>
            </a:extLst>
          </p:cNvPr>
          <p:cNvSpPr txBox="1"/>
          <p:nvPr/>
        </p:nvSpPr>
        <p:spPr>
          <a:xfrm>
            <a:off x="619158" y="1700808"/>
            <a:ext cx="6977178" cy="2482411"/>
          </a:xfrm>
          <a:prstGeom prst="rect">
            <a:avLst/>
          </a:prstGeom>
          <a:noFill/>
        </p:spPr>
        <p:txBody>
          <a:bodyPr wrap="square">
            <a:spAutoFit/>
          </a:bodyPr>
          <a:lstStyle/>
          <a:p>
            <a:pPr>
              <a:lnSpc>
                <a:spcPct val="150000"/>
              </a:lnSpc>
            </a:pPr>
            <a:r>
              <a:rPr kumimoji="1" lang="zh-CN" altLang="en-US" sz="2000" b="1" dirty="0">
                <a:solidFill>
                  <a:schemeClr val="bg2"/>
                </a:solidFill>
              </a:rPr>
              <a:t>过程性语言</a:t>
            </a:r>
            <a:r>
              <a:rPr kumimoji="1" lang="zh-CN" altLang="en-US" sz="2000" dirty="0">
                <a:solidFill>
                  <a:schemeClr val="bg2"/>
                </a:solidFill>
              </a:rPr>
              <a:t>：编程时必须给出获得结果的操作步骤，即指出“干什么”及“怎么干”的语言。 </a:t>
            </a:r>
            <a:endParaRPr kumimoji="1" lang="en-US" altLang="zh-CN" sz="2000" dirty="0">
              <a:solidFill>
                <a:schemeClr val="bg2"/>
              </a:solidFill>
            </a:endParaRPr>
          </a:p>
          <a:p>
            <a:pPr>
              <a:lnSpc>
                <a:spcPct val="150000"/>
              </a:lnSpc>
            </a:pPr>
            <a:r>
              <a:rPr kumimoji="1" lang="zh-CN" altLang="en-US" sz="2000" b="1" dirty="0">
                <a:solidFill>
                  <a:schemeClr val="bg2"/>
                </a:solidFill>
              </a:rPr>
              <a:t>非过程性语言</a:t>
            </a:r>
            <a:r>
              <a:rPr kumimoji="1" lang="zh-CN" altLang="en-US" sz="2000" dirty="0">
                <a:solidFill>
                  <a:schemeClr val="bg2"/>
                </a:solidFill>
              </a:rPr>
              <a:t>：编程时，只需指出需要什么信息，不必给出具体的操作步骤，即只要指出“干什么”，</a:t>
            </a:r>
            <a:r>
              <a:rPr kumimoji="1" lang="zh-CN" altLang="en-US" sz="2000" dirty="0">
                <a:solidFill>
                  <a:schemeClr val="bg1"/>
                </a:solidFill>
              </a:rPr>
              <a:t>不必指出“怎么干”</a:t>
            </a:r>
            <a:r>
              <a:rPr kumimoji="1" lang="zh-CN" altLang="en-US" sz="2000" dirty="0">
                <a:solidFill>
                  <a:schemeClr val="bg2"/>
                </a:solidFill>
              </a:rPr>
              <a:t>的语言。</a:t>
            </a:r>
            <a:endParaRPr lang="zh-CN" altLang="en-US" sz="2000" dirty="0">
              <a:solidFill>
                <a:schemeClr val="bg2"/>
              </a:solidFill>
            </a:endParaRPr>
          </a:p>
        </p:txBody>
      </p:sp>
      <p:pic>
        <p:nvPicPr>
          <p:cNvPr id="6" name="图片 5">
            <a:extLst>
              <a:ext uri="{FF2B5EF4-FFF2-40B4-BE49-F238E27FC236}">
                <a16:creationId xmlns:a16="http://schemas.microsoft.com/office/drawing/2014/main" id="{71C30141-41A4-3E4C-B3C3-EA605C3C3299}"/>
              </a:ext>
            </a:extLst>
          </p:cNvPr>
          <p:cNvPicPr>
            <a:picLocks noChangeAspect="1"/>
          </p:cNvPicPr>
          <p:nvPr/>
        </p:nvPicPr>
        <p:blipFill rotWithShape="1">
          <a:blip r:embed="rId3"/>
          <a:srcRect l="21377" t="9709" r="20826" b="8302"/>
          <a:stretch/>
        </p:blipFill>
        <p:spPr>
          <a:xfrm>
            <a:off x="7712710" y="1561388"/>
            <a:ext cx="812132" cy="1535138"/>
          </a:xfrm>
          <a:prstGeom prst="rect">
            <a:avLst/>
          </a:prstGeom>
        </p:spPr>
      </p:pic>
      <p:sp>
        <p:nvSpPr>
          <p:cNvPr id="7" name="文本框 6">
            <a:extLst>
              <a:ext uri="{FF2B5EF4-FFF2-40B4-BE49-F238E27FC236}">
                <a16:creationId xmlns:a16="http://schemas.microsoft.com/office/drawing/2014/main" id="{BF551636-0522-D842-AC62-0389712F3ED2}"/>
              </a:ext>
            </a:extLst>
          </p:cNvPr>
          <p:cNvSpPr txBox="1"/>
          <p:nvPr/>
        </p:nvSpPr>
        <p:spPr>
          <a:xfrm>
            <a:off x="1938121" y="4601997"/>
            <a:ext cx="5774589" cy="540725"/>
          </a:xfrm>
          <a:prstGeom prst="rect">
            <a:avLst/>
          </a:prstGeom>
          <a:noFill/>
        </p:spPr>
        <p:txBody>
          <a:bodyPr wrap="square">
            <a:spAutoFit/>
          </a:bodyPr>
          <a:lstStyle/>
          <a:p>
            <a:pPr>
              <a:lnSpc>
                <a:spcPct val="120000"/>
              </a:lnSpc>
            </a:pPr>
            <a:r>
              <a:rPr lang="zh-CN" altLang="en-US" sz="2800" b="1" dirty="0">
                <a:solidFill>
                  <a:srgbClr val="660033"/>
                </a:solidFill>
              </a:rPr>
              <a:t>关系查询语言是非过程性语言</a:t>
            </a:r>
          </a:p>
        </p:txBody>
      </p:sp>
      <p:sp>
        <p:nvSpPr>
          <p:cNvPr id="8" name="文本框 7">
            <a:extLst>
              <a:ext uri="{FF2B5EF4-FFF2-40B4-BE49-F238E27FC236}">
                <a16:creationId xmlns:a16="http://schemas.microsoft.com/office/drawing/2014/main" id="{84B9B965-1E57-2247-90AF-DCE00BB66715}"/>
              </a:ext>
            </a:extLst>
          </p:cNvPr>
          <p:cNvSpPr txBox="1"/>
          <p:nvPr/>
        </p:nvSpPr>
        <p:spPr>
          <a:xfrm>
            <a:off x="269776" y="5469692"/>
            <a:ext cx="8604448" cy="935834"/>
          </a:xfrm>
          <a:prstGeom prst="rect">
            <a:avLst/>
          </a:prstGeom>
          <a:noFill/>
        </p:spPr>
        <p:txBody>
          <a:bodyPr wrap="square">
            <a:spAutoFit/>
          </a:bodyPr>
          <a:lstStyle/>
          <a:p>
            <a:pPr>
              <a:lnSpc>
                <a:spcPct val="120000"/>
              </a:lnSpc>
            </a:pPr>
            <a:r>
              <a:rPr lang="zh-CN" altLang="en-US" sz="2000" b="1" dirty="0">
                <a:solidFill>
                  <a:srgbClr val="660033"/>
                </a:solidFill>
              </a:rPr>
              <a:t>关系代数语言的非过程性较弱，在查询表达式中必须指出操作的先后顺序；</a:t>
            </a:r>
            <a:endParaRPr lang="en-US" altLang="zh-CN" sz="2000" b="1" dirty="0">
              <a:solidFill>
                <a:srgbClr val="660033"/>
              </a:solidFill>
            </a:endParaRPr>
          </a:p>
          <a:p>
            <a:pPr>
              <a:lnSpc>
                <a:spcPct val="120000"/>
              </a:lnSpc>
            </a:pPr>
            <a:r>
              <a:rPr lang="zh-CN" altLang="en-US" sz="2000" b="1" dirty="0">
                <a:solidFill>
                  <a:srgbClr val="660033"/>
                </a:solidFill>
              </a:rPr>
              <a:t>关系演算语言的非过程性较强，操作顺序仅限于量词的顺序。</a:t>
            </a:r>
          </a:p>
        </p:txBody>
      </p:sp>
      <p:pic>
        <p:nvPicPr>
          <p:cNvPr id="9" name="图片 8">
            <a:extLst>
              <a:ext uri="{FF2B5EF4-FFF2-40B4-BE49-F238E27FC236}">
                <a16:creationId xmlns:a16="http://schemas.microsoft.com/office/drawing/2014/main" id="{396759D1-F296-BA41-99D4-5A84B86A48B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76" t="20973" r="54062" b="13716"/>
          <a:stretch>
            <a:fillRect/>
          </a:stretch>
        </p:blipFill>
        <p:spPr bwMode="auto">
          <a:xfrm>
            <a:off x="213859" y="1367716"/>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1993181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4819" name="Rectangle 3"/>
          <p:cNvSpPr>
            <a:spLocks noChangeArrowheads="1"/>
          </p:cNvSpPr>
          <p:nvPr/>
        </p:nvSpPr>
        <p:spPr bwMode="auto">
          <a:xfrm>
            <a:off x="144463" y="260350"/>
            <a:ext cx="8748712" cy="64722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457200" indent="-457200" eaLnBrk="0" hangingPunct="0">
              <a:lnSpc>
                <a:spcPct val="160000"/>
              </a:lnSpc>
            </a:pPr>
            <a:r>
              <a:rPr lang="zh-CN" altLang="en-US" sz="2800" b="1" dirty="0">
                <a:solidFill>
                  <a:schemeClr val="bg2"/>
                </a:solidFill>
                <a:latin typeface="Times New Roman" pitchFamily="18" charset="0"/>
              </a:rPr>
              <a:t>二、关系代数的</a:t>
            </a:r>
            <a:r>
              <a:rPr lang="en-US" altLang="zh-CN" sz="2800" b="1" dirty="0">
                <a:solidFill>
                  <a:schemeClr val="bg2"/>
                </a:solidFill>
                <a:latin typeface="Times New Roman" pitchFamily="18" charset="0"/>
              </a:rPr>
              <a:t>5</a:t>
            </a:r>
            <a:r>
              <a:rPr lang="zh-CN" altLang="en-US" sz="2800" b="1" dirty="0">
                <a:solidFill>
                  <a:schemeClr val="bg2"/>
                </a:solidFill>
                <a:latin typeface="Times New Roman" pitchFamily="18" charset="0"/>
              </a:rPr>
              <a:t>个基本运算</a:t>
            </a:r>
          </a:p>
          <a:p>
            <a:pPr marL="457200" indent="-457200" eaLnBrk="0" hangingPunct="0">
              <a:lnSpc>
                <a:spcPct val="160000"/>
              </a:lnSpc>
              <a:buFontTx/>
              <a:buAutoNum type="arabicPeriod"/>
            </a:pPr>
            <a:r>
              <a:rPr lang="zh-CN" altLang="en-US" sz="2400" b="1" dirty="0">
                <a:solidFill>
                  <a:srgbClr val="660033"/>
                </a:solidFill>
              </a:rPr>
              <a:t>并</a:t>
            </a:r>
            <a:r>
              <a:rPr lang="zh-CN" altLang="en-US" sz="2400" b="1" dirty="0">
                <a:solidFill>
                  <a:schemeClr val="bg2"/>
                </a:solidFill>
              </a:rPr>
              <a:t>（</a:t>
            </a:r>
            <a:r>
              <a:rPr lang="en-US" altLang="zh-CN" sz="2400" b="1" dirty="0">
                <a:solidFill>
                  <a:schemeClr val="bg2"/>
                </a:solidFill>
              </a:rPr>
              <a:t>union</a:t>
            </a:r>
            <a:r>
              <a:rPr lang="zh-CN" altLang="en-US" sz="2400" b="1" dirty="0">
                <a:solidFill>
                  <a:schemeClr val="bg2"/>
                </a:solidFill>
              </a:rPr>
              <a:t>）：</a:t>
            </a:r>
            <a:r>
              <a:rPr lang="zh-CN" altLang="en-US" sz="2400" b="1" dirty="0">
                <a:solidFill>
                  <a:schemeClr val="bg1"/>
                </a:solidFill>
              </a:rPr>
              <a:t>设关系</a:t>
            </a:r>
            <a:r>
              <a:rPr lang="en-US" altLang="zh-CN" sz="2400" b="1" dirty="0">
                <a:solidFill>
                  <a:schemeClr val="bg1"/>
                </a:solidFill>
              </a:rPr>
              <a:t>R</a:t>
            </a:r>
            <a:r>
              <a:rPr lang="zh-CN" altLang="en-US" sz="2400" b="1" dirty="0">
                <a:solidFill>
                  <a:schemeClr val="bg1"/>
                </a:solidFill>
              </a:rPr>
              <a:t>和关系</a:t>
            </a:r>
            <a:r>
              <a:rPr lang="en-US" altLang="zh-CN" sz="2400" b="1" dirty="0">
                <a:solidFill>
                  <a:schemeClr val="bg1"/>
                </a:solidFill>
              </a:rPr>
              <a:t>S</a:t>
            </a:r>
            <a:r>
              <a:rPr lang="zh-CN" altLang="en-US" sz="2400" b="1" u="sng" dirty="0">
                <a:solidFill>
                  <a:schemeClr val="bg1"/>
                </a:solidFill>
              </a:rPr>
              <a:t>具有相同</a:t>
            </a:r>
            <a:r>
              <a:rPr lang="zh-CN" altLang="en-US" sz="2400" b="1" dirty="0">
                <a:solidFill>
                  <a:schemeClr val="bg1"/>
                </a:solidFill>
              </a:rPr>
              <a:t>的元数，且相应的</a:t>
            </a:r>
          </a:p>
          <a:p>
            <a:pPr marL="457200" indent="-457200" eaLnBrk="0" hangingPunct="0">
              <a:lnSpc>
                <a:spcPct val="160000"/>
              </a:lnSpc>
            </a:pPr>
            <a:r>
              <a:rPr lang="zh-CN" altLang="en-US" sz="2400" b="1" dirty="0">
                <a:solidFill>
                  <a:schemeClr val="bg1"/>
                </a:solidFill>
              </a:rPr>
              <a:t>                属性列</a:t>
            </a:r>
            <a:r>
              <a:rPr lang="zh-CN" altLang="en-US" sz="2400" b="1" u="sng" dirty="0">
                <a:solidFill>
                  <a:schemeClr val="bg1"/>
                </a:solidFill>
              </a:rPr>
              <a:t>具有相同</a:t>
            </a:r>
            <a:r>
              <a:rPr lang="zh-CN" altLang="en-US" sz="2400" b="1" dirty="0">
                <a:solidFill>
                  <a:schemeClr val="bg1"/>
                </a:solidFill>
              </a:rPr>
              <a:t>的特征：</a:t>
            </a:r>
            <a:endParaRPr lang="zh-CN" altLang="en-US" sz="2400" b="1" dirty="0">
              <a:solidFill>
                <a:schemeClr val="bg1"/>
              </a:solidFill>
              <a:latin typeface="Times New Roman" pitchFamily="18" charset="0"/>
            </a:endParaRPr>
          </a:p>
          <a:p>
            <a:pPr marL="457200" indent="-457200" eaLnBrk="0" hangingPunct="0">
              <a:lnSpc>
                <a:spcPct val="160000"/>
              </a:lnSpc>
            </a:pPr>
            <a:r>
              <a:rPr lang="zh-CN" altLang="en-US" sz="4000" b="1" dirty="0">
                <a:solidFill>
                  <a:schemeClr val="bg2"/>
                </a:solidFill>
              </a:rPr>
              <a:t>     </a:t>
            </a:r>
            <a:r>
              <a:rPr lang="en-US" altLang="zh-CN" sz="4000" b="1" dirty="0">
                <a:solidFill>
                  <a:srgbClr val="660033"/>
                </a:solidFill>
              </a:rPr>
              <a:t>R∪S≡{</a:t>
            </a:r>
            <a:r>
              <a:rPr lang="en-US" altLang="zh-CN" sz="4000" b="1" dirty="0" err="1">
                <a:solidFill>
                  <a:srgbClr val="660033"/>
                </a:solidFill>
              </a:rPr>
              <a:t>t︱t∈R∨t∈S</a:t>
            </a:r>
            <a:r>
              <a:rPr lang="en-US" altLang="zh-CN" sz="4000" b="1" dirty="0">
                <a:solidFill>
                  <a:srgbClr val="660033"/>
                </a:solidFill>
              </a:rPr>
              <a:t>}</a:t>
            </a:r>
          </a:p>
          <a:p>
            <a:pPr marL="457200" indent="-457200" eaLnBrk="0" hangingPunct="0">
              <a:lnSpc>
                <a:spcPct val="160000"/>
              </a:lnSpc>
            </a:pPr>
            <a:r>
              <a:rPr lang="en-US" altLang="zh-CN" sz="2400" b="1" dirty="0">
                <a:solidFill>
                  <a:schemeClr val="bg2"/>
                </a:solidFill>
              </a:rPr>
              <a:t>       </a:t>
            </a:r>
            <a:r>
              <a:rPr lang="zh-CN" altLang="en-US" sz="2400" b="1" dirty="0">
                <a:solidFill>
                  <a:schemeClr val="bg2"/>
                </a:solidFill>
              </a:rPr>
              <a:t>其中：</a:t>
            </a:r>
            <a:r>
              <a:rPr lang="en-US" altLang="zh-CN" sz="2400" b="1" dirty="0">
                <a:solidFill>
                  <a:schemeClr val="bg2"/>
                </a:solidFill>
              </a:rPr>
              <a:t>t</a:t>
            </a:r>
            <a:r>
              <a:rPr lang="zh-CN" altLang="en-US" sz="2400" b="1" dirty="0">
                <a:solidFill>
                  <a:schemeClr val="bg2"/>
                </a:solidFill>
              </a:rPr>
              <a:t>是元组变量，</a:t>
            </a:r>
            <a:r>
              <a:rPr lang="en-US" altLang="zh-CN" sz="2400" b="1" dirty="0">
                <a:solidFill>
                  <a:schemeClr val="bg2"/>
                </a:solidFill>
              </a:rPr>
              <a:t>R</a:t>
            </a:r>
            <a:r>
              <a:rPr lang="zh-CN" altLang="en-US" sz="2400" b="1" dirty="0">
                <a:solidFill>
                  <a:schemeClr val="bg2"/>
                </a:solidFill>
              </a:rPr>
              <a:t>和</a:t>
            </a:r>
            <a:r>
              <a:rPr lang="en-US" altLang="zh-CN" sz="2400" b="1" dirty="0">
                <a:solidFill>
                  <a:schemeClr val="bg2"/>
                </a:solidFill>
              </a:rPr>
              <a:t>S</a:t>
            </a:r>
            <a:r>
              <a:rPr lang="zh-CN" altLang="en-US" sz="2400" b="1" dirty="0">
                <a:solidFill>
                  <a:schemeClr val="bg2"/>
                </a:solidFill>
              </a:rPr>
              <a:t>的元数相同。</a:t>
            </a:r>
            <a:endParaRPr lang="zh-CN" altLang="en-US" sz="2400" b="1" dirty="0">
              <a:solidFill>
                <a:schemeClr val="bg2"/>
              </a:solidFill>
              <a:latin typeface="Times New Roman" pitchFamily="18" charset="0"/>
            </a:endParaRPr>
          </a:p>
          <a:p>
            <a:pPr marL="457200" indent="-457200" eaLnBrk="0" hangingPunct="0">
              <a:lnSpc>
                <a:spcPct val="160000"/>
              </a:lnSpc>
            </a:pPr>
            <a:r>
              <a:rPr lang="zh-CN" altLang="en-US" sz="2400" b="1" dirty="0">
                <a:solidFill>
                  <a:schemeClr val="bg2"/>
                </a:solidFill>
              </a:rPr>
              <a:t>       并运算要求两个关系属性的性质必须一致且并运算的结果要消除重复的元组。</a:t>
            </a:r>
          </a:p>
          <a:p>
            <a:pPr marL="457200" indent="-457200" eaLnBrk="0" hangingPunct="0">
              <a:lnSpc>
                <a:spcPct val="160000"/>
              </a:lnSpc>
            </a:pPr>
            <a:endParaRPr lang="en-US" altLang="zh-CN" sz="2400" b="1" dirty="0">
              <a:solidFill>
                <a:schemeClr val="bg2"/>
              </a:solidFill>
            </a:endParaRPr>
          </a:p>
        </p:txBody>
      </p:sp>
      <p:pic>
        <p:nvPicPr>
          <p:cNvPr id="3" name="图片 2">
            <a:extLst>
              <a:ext uri="{FF2B5EF4-FFF2-40B4-BE49-F238E27FC236}">
                <a16:creationId xmlns:a16="http://schemas.microsoft.com/office/drawing/2014/main" id="{9D6E2B17-C3A2-4746-A9A9-15E391AAD9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76" t="20973" r="54062" b="13716"/>
          <a:stretch>
            <a:fillRect/>
          </a:stretch>
        </p:blipFill>
        <p:spPr bwMode="auto">
          <a:xfrm>
            <a:off x="169120" y="404664"/>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A19714A8-2F55-B049-8B70-41D644043058}"/>
              </a:ext>
            </a:extLst>
          </p:cNvPr>
          <p:cNvGraphicFramePr>
            <a:graphicFrameLocks noGrp="1"/>
          </p:cNvGraphicFramePr>
          <p:nvPr>
            <p:extLst>
              <p:ext uri="{D42A27DB-BD31-4B8C-83A1-F6EECF244321}">
                <p14:modId xmlns:p14="http://schemas.microsoft.com/office/powerpoint/2010/main" val="4156780568"/>
              </p:ext>
            </p:extLst>
          </p:nvPr>
        </p:nvGraphicFramePr>
        <p:xfrm>
          <a:off x="371871" y="908720"/>
          <a:ext cx="3768081" cy="1483360"/>
        </p:xfrm>
        <a:graphic>
          <a:graphicData uri="http://schemas.openxmlformats.org/drawingml/2006/table">
            <a:tbl>
              <a:tblPr firstRow="1" bandRow="1">
                <a:tableStyleId>{21E4AEA4-8DFA-4A89-87EB-49C32662AFE0}</a:tableStyleId>
              </a:tblPr>
              <a:tblGrid>
                <a:gridCol w="1256027">
                  <a:extLst>
                    <a:ext uri="{9D8B030D-6E8A-4147-A177-3AD203B41FA5}">
                      <a16:colId xmlns:a16="http://schemas.microsoft.com/office/drawing/2014/main" val="3250390251"/>
                    </a:ext>
                  </a:extLst>
                </a:gridCol>
                <a:gridCol w="1256027">
                  <a:extLst>
                    <a:ext uri="{9D8B030D-6E8A-4147-A177-3AD203B41FA5}">
                      <a16:colId xmlns:a16="http://schemas.microsoft.com/office/drawing/2014/main" val="3954880262"/>
                    </a:ext>
                  </a:extLst>
                </a:gridCol>
                <a:gridCol w="1256027">
                  <a:extLst>
                    <a:ext uri="{9D8B030D-6E8A-4147-A177-3AD203B41FA5}">
                      <a16:colId xmlns:a16="http://schemas.microsoft.com/office/drawing/2014/main" val="1941725330"/>
                    </a:ext>
                  </a:extLst>
                </a:gridCol>
              </a:tblGrid>
              <a:tr h="370840">
                <a:tc>
                  <a:txBody>
                    <a:bodyPr/>
                    <a:lstStyle/>
                    <a:p>
                      <a:pPr algn="ctr"/>
                      <a:r>
                        <a:rPr lang="zh-CN" altLang="en-US" dirty="0"/>
                        <a:t>商品编号</a:t>
                      </a:r>
                    </a:p>
                  </a:txBody>
                  <a:tcPr/>
                </a:tc>
                <a:tc>
                  <a:txBody>
                    <a:bodyPr/>
                    <a:lstStyle/>
                    <a:p>
                      <a:pPr algn="ctr"/>
                      <a:r>
                        <a:rPr lang="zh-CN" altLang="en-US" dirty="0"/>
                        <a:t>品名</a:t>
                      </a:r>
                    </a:p>
                  </a:txBody>
                  <a:tcPr/>
                </a:tc>
                <a:tc>
                  <a:txBody>
                    <a:bodyPr/>
                    <a:lstStyle/>
                    <a:p>
                      <a:pPr algn="ctr"/>
                      <a:r>
                        <a:rPr lang="zh-CN" altLang="en-US" dirty="0"/>
                        <a:t>数量</a:t>
                      </a:r>
                    </a:p>
                  </a:txBody>
                  <a:tcPr/>
                </a:tc>
                <a:extLst>
                  <a:ext uri="{0D108BD9-81ED-4DB2-BD59-A6C34878D82A}">
                    <a16:rowId xmlns:a16="http://schemas.microsoft.com/office/drawing/2014/main" val="3145990871"/>
                  </a:ext>
                </a:extLst>
              </a:tr>
              <a:tr h="370840">
                <a:tc>
                  <a:txBody>
                    <a:bodyPr/>
                    <a:lstStyle/>
                    <a:p>
                      <a:pPr algn="ctr"/>
                      <a:r>
                        <a:rPr lang="en-US" altLang="zh-CN" dirty="0"/>
                        <a:t>2008230</a:t>
                      </a:r>
                      <a:endParaRPr lang="zh-CN" altLang="en-US" dirty="0"/>
                    </a:p>
                  </a:txBody>
                  <a:tcPr/>
                </a:tc>
                <a:tc>
                  <a:txBody>
                    <a:bodyPr/>
                    <a:lstStyle/>
                    <a:p>
                      <a:pPr algn="ctr"/>
                      <a:r>
                        <a:rPr lang="zh-CN" altLang="en-US" dirty="0"/>
                        <a:t>冰箱</a:t>
                      </a:r>
                    </a:p>
                  </a:txBody>
                  <a:tcPr/>
                </a:tc>
                <a:tc>
                  <a:txBody>
                    <a:bodyPr/>
                    <a:lstStyle/>
                    <a:p>
                      <a:pPr algn="ctr"/>
                      <a:r>
                        <a:rPr lang="en-US" altLang="zh-CN" dirty="0"/>
                        <a:t>19</a:t>
                      </a:r>
                      <a:endParaRPr lang="zh-CN" altLang="en-US" dirty="0"/>
                    </a:p>
                  </a:txBody>
                  <a:tcPr/>
                </a:tc>
                <a:extLst>
                  <a:ext uri="{0D108BD9-81ED-4DB2-BD59-A6C34878D82A}">
                    <a16:rowId xmlns:a16="http://schemas.microsoft.com/office/drawing/2014/main" val="37139371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2008234</a:t>
                      </a:r>
                      <a:endParaRPr lang="zh-CN" altLang="en-US" dirty="0"/>
                    </a:p>
                  </a:txBody>
                  <a:tcPr/>
                </a:tc>
                <a:tc>
                  <a:txBody>
                    <a:bodyPr/>
                    <a:lstStyle/>
                    <a:p>
                      <a:pPr algn="ctr"/>
                      <a:r>
                        <a:rPr lang="zh-CN" altLang="en-US" dirty="0"/>
                        <a:t>彩电</a:t>
                      </a:r>
                    </a:p>
                  </a:txBody>
                  <a:tcPr/>
                </a:tc>
                <a:tc>
                  <a:txBody>
                    <a:bodyPr/>
                    <a:lstStyle/>
                    <a:p>
                      <a:pPr algn="ctr"/>
                      <a:r>
                        <a:rPr lang="en-US" altLang="zh-CN" dirty="0"/>
                        <a:t>50</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2007156</a:t>
                      </a:r>
                      <a:endParaRPr lang="zh-CN" altLang="en-US" dirty="0"/>
                    </a:p>
                  </a:txBody>
                  <a:tcPr/>
                </a:tc>
                <a:tc>
                  <a:txBody>
                    <a:bodyPr/>
                    <a:lstStyle/>
                    <a:p>
                      <a:pPr algn="ctr"/>
                      <a:r>
                        <a:rPr lang="zh-CN" altLang="en-US" dirty="0"/>
                        <a:t>空调</a:t>
                      </a:r>
                    </a:p>
                  </a:txBody>
                  <a:tcPr/>
                </a:tc>
                <a:tc>
                  <a:txBody>
                    <a:bodyPr/>
                    <a:lstStyle/>
                    <a:p>
                      <a:pPr algn="ctr"/>
                      <a:r>
                        <a:rPr lang="en-US" altLang="zh-CN" dirty="0"/>
                        <a:t>20</a:t>
                      </a:r>
                      <a:endParaRPr lang="zh-CN" altLang="en-US" dirty="0"/>
                    </a:p>
                  </a:txBody>
                  <a:tcPr/>
                </a:tc>
                <a:extLst>
                  <a:ext uri="{0D108BD9-81ED-4DB2-BD59-A6C34878D82A}">
                    <a16:rowId xmlns:a16="http://schemas.microsoft.com/office/drawing/2014/main" val="3770924754"/>
                  </a:ext>
                </a:extLst>
              </a:tr>
            </a:tbl>
          </a:graphicData>
        </a:graphic>
      </p:graphicFrame>
      <p:graphicFrame>
        <p:nvGraphicFramePr>
          <p:cNvPr id="3" name="表格 2">
            <a:extLst>
              <a:ext uri="{FF2B5EF4-FFF2-40B4-BE49-F238E27FC236}">
                <a16:creationId xmlns:a16="http://schemas.microsoft.com/office/drawing/2014/main" id="{A1C126F9-17CD-AA45-B7BF-94E1947E9BCD}"/>
              </a:ext>
            </a:extLst>
          </p:cNvPr>
          <p:cNvGraphicFramePr>
            <a:graphicFrameLocks noGrp="1"/>
          </p:cNvGraphicFramePr>
          <p:nvPr>
            <p:extLst>
              <p:ext uri="{D42A27DB-BD31-4B8C-83A1-F6EECF244321}">
                <p14:modId xmlns:p14="http://schemas.microsoft.com/office/powerpoint/2010/main" val="3019544060"/>
              </p:ext>
            </p:extLst>
          </p:nvPr>
        </p:nvGraphicFramePr>
        <p:xfrm>
          <a:off x="4788024" y="908720"/>
          <a:ext cx="3768081" cy="1112520"/>
        </p:xfrm>
        <a:graphic>
          <a:graphicData uri="http://schemas.openxmlformats.org/drawingml/2006/table">
            <a:tbl>
              <a:tblPr firstRow="1" bandRow="1">
                <a:tableStyleId>{5C22544A-7EE6-4342-B048-85BDC9FD1C3A}</a:tableStyleId>
              </a:tblPr>
              <a:tblGrid>
                <a:gridCol w="1256027">
                  <a:extLst>
                    <a:ext uri="{9D8B030D-6E8A-4147-A177-3AD203B41FA5}">
                      <a16:colId xmlns:a16="http://schemas.microsoft.com/office/drawing/2014/main" val="3250390251"/>
                    </a:ext>
                  </a:extLst>
                </a:gridCol>
                <a:gridCol w="1256027">
                  <a:extLst>
                    <a:ext uri="{9D8B030D-6E8A-4147-A177-3AD203B41FA5}">
                      <a16:colId xmlns:a16="http://schemas.microsoft.com/office/drawing/2014/main" val="3954880262"/>
                    </a:ext>
                  </a:extLst>
                </a:gridCol>
                <a:gridCol w="1256027">
                  <a:extLst>
                    <a:ext uri="{9D8B030D-6E8A-4147-A177-3AD203B41FA5}">
                      <a16:colId xmlns:a16="http://schemas.microsoft.com/office/drawing/2014/main" val="1941725330"/>
                    </a:ext>
                  </a:extLst>
                </a:gridCol>
              </a:tblGrid>
              <a:tr h="370840">
                <a:tc>
                  <a:txBody>
                    <a:bodyPr/>
                    <a:lstStyle/>
                    <a:p>
                      <a:pPr algn="ctr"/>
                      <a:r>
                        <a:rPr lang="zh-CN" altLang="en-US" dirty="0">
                          <a:solidFill>
                            <a:schemeClr val="bg2"/>
                          </a:solidFill>
                        </a:rPr>
                        <a:t>商品编号</a:t>
                      </a:r>
                    </a:p>
                  </a:txBody>
                  <a:tcPr/>
                </a:tc>
                <a:tc>
                  <a:txBody>
                    <a:bodyPr/>
                    <a:lstStyle/>
                    <a:p>
                      <a:pPr algn="ctr"/>
                      <a:r>
                        <a:rPr lang="zh-CN" altLang="en-US" dirty="0">
                          <a:solidFill>
                            <a:schemeClr val="bg2"/>
                          </a:solidFill>
                        </a:rPr>
                        <a:t>品名</a:t>
                      </a:r>
                    </a:p>
                  </a:txBody>
                  <a:tcPr/>
                </a:tc>
                <a:tc>
                  <a:txBody>
                    <a:bodyPr/>
                    <a:lstStyle/>
                    <a:p>
                      <a:pPr algn="ctr"/>
                      <a:r>
                        <a:rPr lang="zh-CN" altLang="en-US" dirty="0">
                          <a:solidFill>
                            <a:schemeClr val="bg2"/>
                          </a:solidFill>
                        </a:rPr>
                        <a:t>数量</a:t>
                      </a:r>
                    </a:p>
                  </a:txBody>
                  <a:tcPr/>
                </a:tc>
                <a:extLst>
                  <a:ext uri="{0D108BD9-81ED-4DB2-BD59-A6C34878D82A}">
                    <a16:rowId xmlns:a16="http://schemas.microsoft.com/office/drawing/2014/main" val="314599087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2008124</a:t>
                      </a:r>
                      <a:endParaRPr lang="zh-CN" altLang="en-US" dirty="0"/>
                    </a:p>
                  </a:txBody>
                  <a:tcPr/>
                </a:tc>
                <a:tc>
                  <a:txBody>
                    <a:bodyPr/>
                    <a:lstStyle/>
                    <a:p>
                      <a:pPr algn="ctr"/>
                      <a:r>
                        <a:rPr lang="zh-CN" altLang="en-US" dirty="0">
                          <a:solidFill>
                            <a:schemeClr val="bg2"/>
                          </a:solidFill>
                        </a:rPr>
                        <a:t>电熨斗</a:t>
                      </a:r>
                    </a:p>
                  </a:txBody>
                  <a:tcPr/>
                </a:tc>
                <a:tc>
                  <a:txBody>
                    <a:bodyPr/>
                    <a:lstStyle/>
                    <a:p>
                      <a:pPr algn="ctr"/>
                      <a:r>
                        <a:rPr lang="en-US" altLang="zh-CN" dirty="0">
                          <a:solidFill>
                            <a:schemeClr val="bg2"/>
                          </a:solidFill>
                        </a:rPr>
                        <a:t>30</a:t>
                      </a:r>
                      <a:endParaRPr lang="zh-CN" altLang="en-US" dirty="0">
                        <a:solidFill>
                          <a:schemeClr val="bg2"/>
                        </a:solidFill>
                      </a:endParaRPr>
                    </a:p>
                  </a:txBody>
                  <a:tcPr/>
                </a:tc>
                <a:extLst>
                  <a:ext uri="{0D108BD9-81ED-4DB2-BD59-A6C34878D82A}">
                    <a16:rowId xmlns:a16="http://schemas.microsoft.com/office/drawing/2014/main" val="37139371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2008310</a:t>
                      </a:r>
                      <a:endParaRPr lang="zh-CN" altLang="en-US" dirty="0"/>
                    </a:p>
                  </a:txBody>
                  <a:tcPr/>
                </a:tc>
                <a:tc>
                  <a:txBody>
                    <a:bodyPr/>
                    <a:lstStyle/>
                    <a:p>
                      <a:pPr algn="ctr"/>
                      <a:r>
                        <a:rPr lang="zh-CN" altLang="en-US" dirty="0">
                          <a:solidFill>
                            <a:schemeClr val="bg2"/>
                          </a:solidFill>
                        </a:rPr>
                        <a:t>微波炉</a:t>
                      </a:r>
                    </a:p>
                  </a:txBody>
                  <a:tcPr/>
                </a:tc>
                <a:tc>
                  <a:txBody>
                    <a:bodyPr/>
                    <a:lstStyle/>
                    <a:p>
                      <a:pPr algn="ctr"/>
                      <a:r>
                        <a:rPr lang="en-US" altLang="zh-CN" dirty="0">
                          <a:solidFill>
                            <a:schemeClr val="bg2"/>
                          </a:solidFill>
                        </a:rPr>
                        <a:t>18</a:t>
                      </a:r>
                      <a:endParaRPr lang="zh-CN" altLang="en-US" dirty="0">
                        <a:solidFill>
                          <a:schemeClr val="bg2"/>
                        </a:solidFill>
                      </a:endParaRPr>
                    </a:p>
                  </a:txBody>
                  <a:tcPr/>
                </a:tc>
                <a:extLst>
                  <a:ext uri="{0D108BD9-81ED-4DB2-BD59-A6C34878D82A}">
                    <a16:rowId xmlns:a16="http://schemas.microsoft.com/office/drawing/2014/main" val="1150971900"/>
                  </a:ext>
                </a:extLst>
              </a:tr>
            </a:tbl>
          </a:graphicData>
        </a:graphic>
      </p:graphicFrame>
      <p:sp>
        <p:nvSpPr>
          <p:cNvPr id="4" name="文本框 3">
            <a:extLst>
              <a:ext uri="{FF2B5EF4-FFF2-40B4-BE49-F238E27FC236}">
                <a16:creationId xmlns:a16="http://schemas.microsoft.com/office/drawing/2014/main" id="{B7C12AA3-A507-6B40-B678-D9F964379FAE}"/>
              </a:ext>
            </a:extLst>
          </p:cNvPr>
          <p:cNvSpPr txBox="1"/>
          <p:nvPr/>
        </p:nvSpPr>
        <p:spPr>
          <a:xfrm>
            <a:off x="1615595" y="476672"/>
            <a:ext cx="1210588" cy="338554"/>
          </a:xfrm>
          <a:prstGeom prst="rect">
            <a:avLst/>
          </a:prstGeom>
          <a:noFill/>
        </p:spPr>
        <p:txBody>
          <a:bodyPr wrap="none" rtlCol="0">
            <a:spAutoFit/>
          </a:bodyPr>
          <a:lstStyle/>
          <a:p>
            <a:r>
              <a:rPr kumimoji="1" lang="zh-CN" altLang="en-US" sz="2000" b="1" u="sng" dirty="0">
                <a:solidFill>
                  <a:schemeClr val="bg1"/>
                </a:solidFill>
              </a:rPr>
              <a:t>库存关系</a:t>
            </a:r>
          </a:p>
        </p:txBody>
      </p:sp>
      <p:sp>
        <p:nvSpPr>
          <p:cNvPr id="5" name="文本框 4">
            <a:extLst>
              <a:ext uri="{FF2B5EF4-FFF2-40B4-BE49-F238E27FC236}">
                <a16:creationId xmlns:a16="http://schemas.microsoft.com/office/drawing/2014/main" id="{95532645-B0B1-A141-86CD-9AD38FAE04CB}"/>
              </a:ext>
            </a:extLst>
          </p:cNvPr>
          <p:cNvSpPr txBox="1"/>
          <p:nvPr/>
        </p:nvSpPr>
        <p:spPr>
          <a:xfrm>
            <a:off x="5936946" y="476672"/>
            <a:ext cx="1217000" cy="338554"/>
          </a:xfrm>
          <a:prstGeom prst="rect">
            <a:avLst/>
          </a:prstGeom>
          <a:noFill/>
        </p:spPr>
        <p:txBody>
          <a:bodyPr wrap="none" rtlCol="0">
            <a:spAutoFit/>
          </a:bodyPr>
          <a:lstStyle/>
          <a:p>
            <a:r>
              <a:rPr kumimoji="1" lang="zh-CN" altLang="en-US" sz="2000" b="1" u="sng" dirty="0">
                <a:solidFill>
                  <a:schemeClr val="bg1"/>
                </a:solidFill>
              </a:rPr>
              <a:t>进货关系</a:t>
            </a:r>
          </a:p>
        </p:txBody>
      </p:sp>
      <p:cxnSp>
        <p:nvCxnSpPr>
          <p:cNvPr id="7" name="直线箭头连接符 6">
            <a:extLst>
              <a:ext uri="{FF2B5EF4-FFF2-40B4-BE49-F238E27FC236}">
                <a16:creationId xmlns:a16="http://schemas.microsoft.com/office/drawing/2014/main" id="{951122E5-ABAC-1748-B27B-FEC2C696BA70}"/>
              </a:ext>
            </a:extLst>
          </p:cNvPr>
          <p:cNvCxnSpPr/>
          <p:nvPr/>
        </p:nvCxnSpPr>
        <p:spPr bwMode="auto">
          <a:xfrm>
            <a:off x="2255911" y="2636912"/>
            <a:ext cx="2316089" cy="1152128"/>
          </a:xfrm>
          <a:prstGeom prst="straightConnector1">
            <a:avLst/>
          </a:prstGeom>
          <a:noFill/>
          <a:ln w="38100" cap="flat" cmpd="sng" algn="ctr">
            <a:solidFill>
              <a:srgbClr val="FF0066"/>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 name="直线箭头连接符 7">
            <a:extLst>
              <a:ext uri="{FF2B5EF4-FFF2-40B4-BE49-F238E27FC236}">
                <a16:creationId xmlns:a16="http://schemas.microsoft.com/office/drawing/2014/main" id="{246E047C-1365-0641-9E21-C1F50E1DF83C}"/>
              </a:ext>
            </a:extLst>
          </p:cNvPr>
          <p:cNvCxnSpPr/>
          <p:nvPr/>
        </p:nvCxnSpPr>
        <p:spPr bwMode="auto">
          <a:xfrm flipH="1">
            <a:off x="4734199" y="2636912"/>
            <a:ext cx="2405494" cy="1152128"/>
          </a:xfrm>
          <a:prstGeom prst="straightConnector1">
            <a:avLst/>
          </a:prstGeom>
          <a:noFill/>
          <a:ln w="38100" cap="flat" cmpd="sng" algn="ctr">
            <a:solidFill>
              <a:srgbClr val="FF0066"/>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aphicFrame>
        <p:nvGraphicFramePr>
          <p:cNvPr id="15" name="表格 2">
            <a:extLst>
              <a:ext uri="{FF2B5EF4-FFF2-40B4-BE49-F238E27FC236}">
                <a16:creationId xmlns:a16="http://schemas.microsoft.com/office/drawing/2014/main" id="{B2DD893F-645D-8B49-AC56-198145666554}"/>
              </a:ext>
            </a:extLst>
          </p:cNvPr>
          <p:cNvGraphicFramePr>
            <a:graphicFrameLocks noGrp="1"/>
          </p:cNvGraphicFramePr>
          <p:nvPr>
            <p:extLst>
              <p:ext uri="{D42A27DB-BD31-4B8C-83A1-F6EECF244321}">
                <p14:modId xmlns:p14="http://schemas.microsoft.com/office/powerpoint/2010/main" val="3055691193"/>
              </p:ext>
            </p:extLst>
          </p:nvPr>
        </p:nvGraphicFramePr>
        <p:xfrm>
          <a:off x="2687959" y="4024255"/>
          <a:ext cx="3768081" cy="1483360"/>
        </p:xfrm>
        <a:graphic>
          <a:graphicData uri="http://schemas.openxmlformats.org/drawingml/2006/table">
            <a:tbl>
              <a:tblPr firstRow="1" bandRow="1">
                <a:tableStyleId>{21E4AEA4-8DFA-4A89-87EB-49C32662AFE0}</a:tableStyleId>
              </a:tblPr>
              <a:tblGrid>
                <a:gridCol w="1256027">
                  <a:extLst>
                    <a:ext uri="{9D8B030D-6E8A-4147-A177-3AD203B41FA5}">
                      <a16:colId xmlns:a16="http://schemas.microsoft.com/office/drawing/2014/main" val="3250390251"/>
                    </a:ext>
                  </a:extLst>
                </a:gridCol>
                <a:gridCol w="1256027">
                  <a:extLst>
                    <a:ext uri="{9D8B030D-6E8A-4147-A177-3AD203B41FA5}">
                      <a16:colId xmlns:a16="http://schemas.microsoft.com/office/drawing/2014/main" val="3954880262"/>
                    </a:ext>
                  </a:extLst>
                </a:gridCol>
                <a:gridCol w="1256027">
                  <a:extLst>
                    <a:ext uri="{9D8B030D-6E8A-4147-A177-3AD203B41FA5}">
                      <a16:colId xmlns:a16="http://schemas.microsoft.com/office/drawing/2014/main" val="1941725330"/>
                    </a:ext>
                  </a:extLst>
                </a:gridCol>
              </a:tblGrid>
              <a:tr h="370840">
                <a:tc>
                  <a:txBody>
                    <a:bodyPr/>
                    <a:lstStyle/>
                    <a:p>
                      <a:pPr algn="ctr"/>
                      <a:r>
                        <a:rPr lang="zh-CN" altLang="en-US" dirty="0"/>
                        <a:t>商品编号</a:t>
                      </a:r>
                    </a:p>
                  </a:txBody>
                  <a:tcPr/>
                </a:tc>
                <a:tc>
                  <a:txBody>
                    <a:bodyPr/>
                    <a:lstStyle/>
                    <a:p>
                      <a:pPr algn="ctr"/>
                      <a:r>
                        <a:rPr lang="zh-CN" altLang="en-US" dirty="0"/>
                        <a:t>品名</a:t>
                      </a:r>
                    </a:p>
                  </a:txBody>
                  <a:tcPr/>
                </a:tc>
                <a:tc>
                  <a:txBody>
                    <a:bodyPr/>
                    <a:lstStyle/>
                    <a:p>
                      <a:pPr algn="ctr"/>
                      <a:r>
                        <a:rPr lang="zh-CN" altLang="en-US" dirty="0"/>
                        <a:t>数量</a:t>
                      </a:r>
                    </a:p>
                  </a:txBody>
                  <a:tcPr/>
                </a:tc>
                <a:extLst>
                  <a:ext uri="{0D108BD9-81ED-4DB2-BD59-A6C34878D82A}">
                    <a16:rowId xmlns:a16="http://schemas.microsoft.com/office/drawing/2014/main" val="3145990871"/>
                  </a:ext>
                </a:extLst>
              </a:tr>
              <a:tr h="370840">
                <a:tc>
                  <a:txBody>
                    <a:bodyPr/>
                    <a:lstStyle/>
                    <a:p>
                      <a:pPr algn="ctr"/>
                      <a:r>
                        <a:rPr lang="en-US" altLang="zh-CN" dirty="0"/>
                        <a:t>2008230</a:t>
                      </a:r>
                      <a:endParaRPr lang="zh-CN" altLang="en-US" dirty="0"/>
                    </a:p>
                  </a:txBody>
                  <a:tcPr/>
                </a:tc>
                <a:tc>
                  <a:txBody>
                    <a:bodyPr/>
                    <a:lstStyle/>
                    <a:p>
                      <a:pPr algn="ctr"/>
                      <a:r>
                        <a:rPr lang="zh-CN" altLang="en-US" dirty="0"/>
                        <a:t>冰箱</a:t>
                      </a:r>
                    </a:p>
                  </a:txBody>
                  <a:tcPr/>
                </a:tc>
                <a:tc>
                  <a:txBody>
                    <a:bodyPr/>
                    <a:lstStyle/>
                    <a:p>
                      <a:pPr algn="ctr"/>
                      <a:r>
                        <a:rPr lang="en-US" altLang="zh-CN" dirty="0"/>
                        <a:t>19</a:t>
                      </a:r>
                      <a:endParaRPr lang="zh-CN" altLang="en-US" dirty="0"/>
                    </a:p>
                  </a:txBody>
                  <a:tcPr/>
                </a:tc>
                <a:extLst>
                  <a:ext uri="{0D108BD9-81ED-4DB2-BD59-A6C34878D82A}">
                    <a16:rowId xmlns:a16="http://schemas.microsoft.com/office/drawing/2014/main" val="37139371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2008234</a:t>
                      </a:r>
                      <a:endParaRPr lang="zh-CN" altLang="en-US" dirty="0"/>
                    </a:p>
                  </a:txBody>
                  <a:tcPr/>
                </a:tc>
                <a:tc>
                  <a:txBody>
                    <a:bodyPr/>
                    <a:lstStyle/>
                    <a:p>
                      <a:pPr algn="ctr"/>
                      <a:r>
                        <a:rPr lang="zh-CN" altLang="en-US" dirty="0"/>
                        <a:t>彩电</a:t>
                      </a:r>
                    </a:p>
                  </a:txBody>
                  <a:tcPr/>
                </a:tc>
                <a:tc>
                  <a:txBody>
                    <a:bodyPr/>
                    <a:lstStyle/>
                    <a:p>
                      <a:pPr algn="ctr"/>
                      <a:r>
                        <a:rPr lang="en-US" altLang="zh-CN" dirty="0"/>
                        <a:t>50</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2007156</a:t>
                      </a:r>
                      <a:endParaRPr lang="zh-CN" altLang="en-US" dirty="0"/>
                    </a:p>
                  </a:txBody>
                  <a:tcPr/>
                </a:tc>
                <a:tc>
                  <a:txBody>
                    <a:bodyPr/>
                    <a:lstStyle/>
                    <a:p>
                      <a:pPr algn="ctr"/>
                      <a:r>
                        <a:rPr lang="zh-CN" altLang="en-US" dirty="0"/>
                        <a:t>空调</a:t>
                      </a:r>
                    </a:p>
                  </a:txBody>
                  <a:tcPr/>
                </a:tc>
                <a:tc>
                  <a:txBody>
                    <a:bodyPr/>
                    <a:lstStyle/>
                    <a:p>
                      <a:pPr algn="ctr"/>
                      <a:r>
                        <a:rPr lang="en-US" altLang="zh-CN" dirty="0"/>
                        <a:t>20</a:t>
                      </a:r>
                      <a:endParaRPr lang="zh-CN" altLang="en-US" dirty="0"/>
                    </a:p>
                  </a:txBody>
                  <a:tcPr/>
                </a:tc>
                <a:extLst>
                  <a:ext uri="{0D108BD9-81ED-4DB2-BD59-A6C34878D82A}">
                    <a16:rowId xmlns:a16="http://schemas.microsoft.com/office/drawing/2014/main" val="3770924754"/>
                  </a:ext>
                </a:extLst>
              </a:tr>
            </a:tbl>
          </a:graphicData>
        </a:graphic>
      </p:graphicFrame>
      <p:graphicFrame>
        <p:nvGraphicFramePr>
          <p:cNvPr id="16" name="表格 15">
            <a:extLst>
              <a:ext uri="{FF2B5EF4-FFF2-40B4-BE49-F238E27FC236}">
                <a16:creationId xmlns:a16="http://schemas.microsoft.com/office/drawing/2014/main" id="{FDB42E3A-F208-3A42-9C99-EEBD6FC73EBE}"/>
              </a:ext>
            </a:extLst>
          </p:cNvPr>
          <p:cNvGraphicFramePr>
            <a:graphicFrameLocks noGrp="1"/>
          </p:cNvGraphicFramePr>
          <p:nvPr>
            <p:extLst>
              <p:ext uri="{D42A27DB-BD31-4B8C-83A1-F6EECF244321}">
                <p14:modId xmlns:p14="http://schemas.microsoft.com/office/powerpoint/2010/main" val="1719373360"/>
              </p:ext>
            </p:extLst>
          </p:nvPr>
        </p:nvGraphicFramePr>
        <p:xfrm>
          <a:off x="2687958" y="5517232"/>
          <a:ext cx="3768081" cy="741680"/>
        </p:xfrm>
        <a:graphic>
          <a:graphicData uri="http://schemas.openxmlformats.org/drawingml/2006/table">
            <a:tbl>
              <a:tblPr firstRow="1" bandRow="1">
                <a:tableStyleId>{5C22544A-7EE6-4342-B048-85BDC9FD1C3A}</a:tableStyleId>
              </a:tblPr>
              <a:tblGrid>
                <a:gridCol w="1256027">
                  <a:extLst>
                    <a:ext uri="{9D8B030D-6E8A-4147-A177-3AD203B41FA5}">
                      <a16:colId xmlns:a16="http://schemas.microsoft.com/office/drawing/2014/main" val="238850958"/>
                    </a:ext>
                  </a:extLst>
                </a:gridCol>
                <a:gridCol w="1256027">
                  <a:extLst>
                    <a:ext uri="{9D8B030D-6E8A-4147-A177-3AD203B41FA5}">
                      <a16:colId xmlns:a16="http://schemas.microsoft.com/office/drawing/2014/main" val="3916747374"/>
                    </a:ext>
                  </a:extLst>
                </a:gridCol>
                <a:gridCol w="1256027">
                  <a:extLst>
                    <a:ext uri="{9D8B030D-6E8A-4147-A177-3AD203B41FA5}">
                      <a16:colId xmlns:a16="http://schemas.microsoft.com/office/drawing/2014/main" val="3865205869"/>
                    </a:ext>
                  </a:extLst>
                </a:gridCol>
              </a:tblGrid>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0" dirty="0"/>
                        <a:t>2008124</a:t>
                      </a:r>
                      <a:endParaRPr lang="zh-CN" altLang="en-US" b="0" dirty="0"/>
                    </a:p>
                  </a:txBody>
                  <a:tcPr/>
                </a:tc>
                <a:tc>
                  <a:txBody>
                    <a:bodyPr/>
                    <a:lstStyle/>
                    <a:p>
                      <a:pPr algn="ctr"/>
                      <a:r>
                        <a:rPr lang="zh-CN" altLang="en-US" b="0" dirty="0">
                          <a:solidFill>
                            <a:schemeClr val="bg2"/>
                          </a:solidFill>
                        </a:rPr>
                        <a:t>电熨斗</a:t>
                      </a:r>
                    </a:p>
                  </a:txBody>
                  <a:tcPr/>
                </a:tc>
                <a:tc>
                  <a:txBody>
                    <a:bodyPr/>
                    <a:lstStyle/>
                    <a:p>
                      <a:pPr algn="ctr"/>
                      <a:r>
                        <a:rPr lang="en-US" altLang="zh-CN" b="0" dirty="0">
                          <a:solidFill>
                            <a:schemeClr val="bg2"/>
                          </a:solidFill>
                        </a:rPr>
                        <a:t>30</a:t>
                      </a:r>
                      <a:endParaRPr lang="zh-CN" altLang="en-US" b="0" dirty="0">
                        <a:solidFill>
                          <a:schemeClr val="bg2"/>
                        </a:solidFill>
                      </a:endParaRPr>
                    </a:p>
                  </a:txBody>
                  <a:tcPr/>
                </a:tc>
                <a:extLst>
                  <a:ext uri="{0D108BD9-81ED-4DB2-BD59-A6C34878D82A}">
                    <a16:rowId xmlns:a16="http://schemas.microsoft.com/office/drawing/2014/main" val="337423476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b="0" dirty="0"/>
                        <a:t>2008310</a:t>
                      </a:r>
                      <a:endParaRPr lang="zh-CN" altLang="en-US" b="0" dirty="0"/>
                    </a:p>
                  </a:txBody>
                  <a:tcPr/>
                </a:tc>
                <a:tc>
                  <a:txBody>
                    <a:bodyPr/>
                    <a:lstStyle/>
                    <a:p>
                      <a:pPr algn="ctr"/>
                      <a:r>
                        <a:rPr lang="zh-CN" altLang="en-US" b="0" dirty="0">
                          <a:solidFill>
                            <a:schemeClr val="bg2"/>
                          </a:solidFill>
                        </a:rPr>
                        <a:t>微波炉</a:t>
                      </a:r>
                    </a:p>
                  </a:txBody>
                  <a:tcPr/>
                </a:tc>
                <a:tc>
                  <a:txBody>
                    <a:bodyPr/>
                    <a:lstStyle/>
                    <a:p>
                      <a:pPr algn="ctr"/>
                      <a:r>
                        <a:rPr lang="en-US" altLang="zh-CN" b="0" dirty="0">
                          <a:solidFill>
                            <a:schemeClr val="bg2"/>
                          </a:solidFill>
                        </a:rPr>
                        <a:t>18</a:t>
                      </a:r>
                      <a:endParaRPr lang="zh-CN" altLang="en-US" b="0" dirty="0">
                        <a:solidFill>
                          <a:schemeClr val="bg2"/>
                        </a:solidFill>
                      </a:endParaRPr>
                    </a:p>
                  </a:txBody>
                  <a:tcPr/>
                </a:tc>
                <a:extLst>
                  <a:ext uri="{0D108BD9-81ED-4DB2-BD59-A6C34878D82A}">
                    <a16:rowId xmlns:a16="http://schemas.microsoft.com/office/drawing/2014/main" val="2083375008"/>
                  </a:ext>
                </a:extLst>
              </a:tr>
            </a:tbl>
          </a:graphicData>
        </a:graphic>
      </p:graphicFrame>
      <p:sp>
        <p:nvSpPr>
          <p:cNvPr id="17" name="文本框 16">
            <a:extLst>
              <a:ext uri="{FF2B5EF4-FFF2-40B4-BE49-F238E27FC236}">
                <a16:creationId xmlns:a16="http://schemas.microsoft.com/office/drawing/2014/main" id="{C9E3257B-42CB-414E-9DBC-14AB88DDEA54}"/>
              </a:ext>
            </a:extLst>
          </p:cNvPr>
          <p:cNvSpPr txBox="1"/>
          <p:nvPr/>
        </p:nvSpPr>
        <p:spPr>
          <a:xfrm>
            <a:off x="3983686" y="3212976"/>
            <a:ext cx="1338828" cy="313932"/>
          </a:xfrm>
          <a:prstGeom prst="rect">
            <a:avLst/>
          </a:prstGeom>
          <a:noFill/>
        </p:spPr>
        <p:txBody>
          <a:bodyPr wrap="none" rtlCol="0">
            <a:spAutoFit/>
          </a:bodyPr>
          <a:lstStyle/>
          <a:p>
            <a:r>
              <a:rPr kumimoji="1" lang="zh-CN" altLang="en-US" dirty="0">
                <a:solidFill>
                  <a:srgbClr val="FF0000"/>
                </a:solidFill>
              </a:rPr>
              <a:t>并运算结果</a:t>
            </a:r>
          </a:p>
        </p:txBody>
      </p:sp>
    </p:spTree>
    <p:extLst>
      <p:ext uri="{BB962C8B-B14F-4D97-AF65-F5344CB8AC3E}">
        <p14:creationId xmlns:p14="http://schemas.microsoft.com/office/powerpoint/2010/main" val="33721211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7"/>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0069" name="Rectangle 5"/>
          <p:cNvSpPr>
            <a:spLocks noChangeArrowheads="1"/>
          </p:cNvSpPr>
          <p:nvPr/>
        </p:nvSpPr>
        <p:spPr bwMode="auto">
          <a:xfrm>
            <a:off x="179388" y="549275"/>
            <a:ext cx="8893175" cy="4451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pPr>
            <a:r>
              <a:rPr lang="en-US" altLang="zh-CN" sz="2800" b="1" dirty="0">
                <a:solidFill>
                  <a:srgbClr val="660033"/>
                </a:solidFill>
              </a:rPr>
              <a:t>  2. </a:t>
            </a:r>
            <a:r>
              <a:rPr lang="zh-CN" altLang="en-US" sz="2800" b="1" dirty="0">
                <a:solidFill>
                  <a:srgbClr val="660033"/>
                </a:solidFill>
              </a:rPr>
              <a:t>差</a:t>
            </a:r>
            <a:r>
              <a:rPr lang="en-US" altLang="zh-CN" sz="2800" b="1" dirty="0">
                <a:solidFill>
                  <a:srgbClr val="660033"/>
                </a:solidFill>
              </a:rPr>
              <a:t>(difference)</a:t>
            </a:r>
            <a:r>
              <a:rPr lang="zh-CN" altLang="en-US" sz="2800" b="1" dirty="0">
                <a:solidFill>
                  <a:srgbClr val="660033"/>
                </a:solidFill>
              </a:rPr>
              <a:t>：</a:t>
            </a:r>
            <a:r>
              <a:rPr lang="zh-CN" altLang="en-US" sz="2400" b="1" dirty="0">
                <a:solidFill>
                  <a:schemeClr val="bg1"/>
                </a:solidFill>
              </a:rPr>
              <a:t>设关系</a:t>
            </a:r>
            <a:r>
              <a:rPr lang="en-US" altLang="zh-CN" sz="2400" b="1" dirty="0">
                <a:solidFill>
                  <a:schemeClr val="bg1"/>
                </a:solidFill>
              </a:rPr>
              <a:t>R</a:t>
            </a:r>
            <a:r>
              <a:rPr lang="zh-CN" altLang="en-US" sz="2400" b="1" dirty="0">
                <a:solidFill>
                  <a:schemeClr val="bg1"/>
                </a:solidFill>
              </a:rPr>
              <a:t>和关系</a:t>
            </a:r>
            <a:r>
              <a:rPr lang="en-US" altLang="zh-CN" sz="2400" b="1" dirty="0">
                <a:solidFill>
                  <a:schemeClr val="bg1"/>
                </a:solidFill>
              </a:rPr>
              <a:t>S</a:t>
            </a:r>
            <a:r>
              <a:rPr lang="zh-CN" altLang="en-US" sz="2400" b="1" u="sng" dirty="0">
                <a:solidFill>
                  <a:schemeClr val="bg1"/>
                </a:solidFill>
              </a:rPr>
              <a:t>具有相同</a:t>
            </a:r>
            <a:r>
              <a:rPr lang="zh-CN" altLang="en-US" sz="2400" b="1" dirty="0">
                <a:solidFill>
                  <a:schemeClr val="bg1"/>
                </a:solidFill>
              </a:rPr>
              <a:t>的元数，</a:t>
            </a:r>
          </a:p>
          <a:p>
            <a:pPr>
              <a:lnSpc>
                <a:spcPct val="200000"/>
              </a:lnSpc>
            </a:pPr>
            <a:r>
              <a:rPr lang="zh-CN" altLang="en-US" sz="2400" b="1" dirty="0">
                <a:solidFill>
                  <a:schemeClr val="bg1"/>
                </a:solidFill>
              </a:rPr>
              <a:t>                        且相应的属性列</a:t>
            </a:r>
            <a:r>
              <a:rPr lang="zh-CN" altLang="en-US" sz="2400" b="1" u="sng" dirty="0">
                <a:solidFill>
                  <a:schemeClr val="bg1"/>
                </a:solidFill>
              </a:rPr>
              <a:t>具有相同</a:t>
            </a:r>
            <a:r>
              <a:rPr lang="zh-CN" altLang="en-US" sz="2400" b="1" dirty="0">
                <a:solidFill>
                  <a:schemeClr val="bg1"/>
                </a:solidFill>
              </a:rPr>
              <a:t>的特征：</a:t>
            </a:r>
          </a:p>
          <a:p>
            <a:pPr eaLnBrk="0" hangingPunct="0">
              <a:lnSpc>
                <a:spcPct val="200000"/>
              </a:lnSpc>
            </a:pPr>
            <a:r>
              <a:rPr lang="zh-CN" altLang="en-US" sz="2800" b="1" dirty="0">
                <a:solidFill>
                  <a:schemeClr val="bg2"/>
                </a:solidFill>
              </a:rPr>
              <a:t>          </a:t>
            </a:r>
            <a:r>
              <a:rPr lang="en-US" altLang="zh-CN" sz="4000" b="1" dirty="0">
                <a:solidFill>
                  <a:srgbClr val="660033"/>
                </a:solidFill>
              </a:rPr>
              <a:t>R―S≡{</a:t>
            </a:r>
            <a:r>
              <a:rPr lang="en-US" altLang="zh-CN" sz="4000" b="1" dirty="0" err="1">
                <a:solidFill>
                  <a:srgbClr val="660033"/>
                </a:solidFill>
              </a:rPr>
              <a:t>t︱t∈R∧t</a:t>
            </a:r>
            <a:r>
              <a:rPr lang="en-US" altLang="zh-CN" sz="4000" b="1" dirty="0" err="1">
                <a:solidFill>
                  <a:srgbClr val="660033"/>
                </a:solidFill>
                <a:sym typeface="Symbol" pitchFamily="18" charset="2"/>
              </a:rPr>
              <a:t></a:t>
            </a:r>
            <a:r>
              <a:rPr lang="en-US" altLang="zh-CN" sz="4000" b="1" dirty="0" err="1">
                <a:solidFill>
                  <a:srgbClr val="660033"/>
                </a:solidFill>
              </a:rPr>
              <a:t>S</a:t>
            </a:r>
            <a:r>
              <a:rPr lang="en-US" altLang="zh-CN" sz="4000" b="1" dirty="0">
                <a:solidFill>
                  <a:srgbClr val="660033"/>
                </a:solidFill>
              </a:rPr>
              <a:t>}</a:t>
            </a:r>
          </a:p>
          <a:p>
            <a:pPr eaLnBrk="0" hangingPunct="0">
              <a:lnSpc>
                <a:spcPct val="200000"/>
              </a:lnSpc>
            </a:pPr>
            <a:r>
              <a:rPr lang="en-US" altLang="zh-CN" sz="2800" b="1" dirty="0">
                <a:solidFill>
                  <a:schemeClr val="bg2"/>
                </a:solidFill>
              </a:rPr>
              <a:t>    </a:t>
            </a:r>
            <a:r>
              <a:rPr lang="zh-CN" altLang="en-US" sz="2800" b="1" dirty="0">
                <a:solidFill>
                  <a:schemeClr val="bg2"/>
                </a:solidFill>
              </a:rPr>
              <a:t>其中：</a:t>
            </a:r>
            <a:r>
              <a:rPr lang="en-US" altLang="zh-CN" sz="2800" b="1" dirty="0">
                <a:solidFill>
                  <a:schemeClr val="bg2"/>
                </a:solidFill>
              </a:rPr>
              <a:t>t</a:t>
            </a:r>
            <a:r>
              <a:rPr lang="zh-CN" altLang="en-US" sz="2800" b="1" dirty="0">
                <a:solidFill>
                  <a:schemeClr val="bg2"/>
                </a:solidFill>
              </a:rPr>
              <a:t>是元组变量，</a:t>
            </a:r>
            <a:r>
              <a:rPr lang="en-US" altLang="zh-CN" sz="2800" b="1" dirty="0">
                <a:solidFill>
                  <a:schemeClr val="bg2"/>
                </a:solidFill>
              </a:rPr>
              <a:t>R</a:t>
            </a:r>
            <a:r>
              <a:rPr lang="zh-CN" altLang="en-US" sz="2800" b="1" dirty="0">
                <a:solidFill>
                  <a:schemeClr val="bg2"/>
                </a:solidFill>
              </a:rPr>
              <a:t>和</a:t>
            </a:r>
            <a:r>
              <a:rPr lang="en-US" altLang="zh-CN" sz="2800" b="1" dirty="0">
                <a:solidFill>
                  <a:schemeClr val="bg2"/>
                </a:solidFill>
              </a:rPr>
              <a:t>S</a:t>
            </a:r>
            <a:r>
              <a:rPr lang="zh-CN" altLang="en-US" sz="2800" b="1" dirty="0">
                <a:solidFill>
                  <a:schemeClr val="bg2"/>
                </a:solidFill>
              </a:rPr>
              <a:t>的元数相同。</a:t>
            </a:r>
          </a:p>
        </p:txBody>
      </p:sp>
      <p:sp>
        <p:nvSpPr>
          <p:cNvPr id="600070" name="Text Box 6"/>
          <p:cNvSpPr txBox="1">
            <a:spLocks noChangeArrowheads="1"/>
          </p:cNvSpPr>
          <p:nvPr/>
        </p:nvSpPr>
        <p:spPr bwMode="auto">
          <a:xfrm>
            <a:off x="755650" y="6021388"/>
            <a:ext cx="2303463" cy="311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zh-CN"/>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A19714A8-2F55-B049-8B70-41D644043058}"/>
              </a:ext>
            </a:extLst>
          </p:cNvPr>
          <p:cNvGraphicFramePr>
            <a:graphicFrameLocks noGrp="1"/>
          </p:cNvGraphicFramePr>
          <p:nvPr>
            <p:extLst>
              <p:ext uri="{D42A27DB-BD31-4B8C-83A1-F6EECF244321}">
                <p14:modId xmlns:p14="http://schemas.microsoft.com/office/powerpoint/2010/main" val="4083613048"/>
              </p:ext>
            </p:extLst>
          </p:nvPr>
        </p:nvGraphicFramePr>
        <p:xfrm>
          <a:off x="1043609" y="1575777"/>
          <a:ext cx="2181836" cy="2225040"/>
        </p:xfrm>
        <a:graphic>
          <a:graphicData uri="http://schemas.openxmlformats.org/drawingml/2006/table">
            <a:tbl>
              <a:tblPr firstRow="1" bandRow="1">
                <a:tableStyleId>{21E4AEA4-8DFA-4A89-87EB-49C32662AFE0}</a:tableStyleId>
              </a:tblPr>
              <a:tblGrid>
                <a:gridCol w="2181836">
                  <a:extLst>
                    <a:ext uri="{9D8B030D-6E8A-4147-A177-3AD203B41FA5}">
                      <a16:colId xmlns:a16="http://schemas.microsoft.com/office/drawing/2014/main" val="3250390251"/>
                    </a:ext>
                  </a:extLst>
                </a:gridCol>
              </a:tblGrid>
              <a:tr h="370840">
                <a:tc>
                  <a:txBody>
                    <a:bodyPr/>
                    <a:lstStyle/>
                    <a:p>
                      <a:pPr algn="ctr"/>
                      <a:r>
                        <a:rPr lang="zh-CN" altLang="en-US" dirty="0"/>
                        <a:t>考生号</a:t>
                      </a:r>
                    </a:p>
                  </a:txBody>
                  <a:tcPr/>
                </a:tc>
                <a:extLst>
                  <a:ext uri="{0D108BD9-81ED-4DB2-BD59-A6C34878D82A}">
                    <a16:rowId xmlns:a16="http://schemas.microsoft.com/office/drawing/2014/main" val="3145990871"/>
                  </a:ext>
                </a:extLst>
              </a:tr>
              <a:tr h="370840">
                <a:tc>
                  <a:txBody>
                    <a:bodyPr/>
                    <a:lstStyle/>
                    <a:p>
                      <a:pPr algn="ctr"/>
                      <a:r>
                        <a:rPr lang="en-US" altLang="zh-CN" dirty="0"/>
                        <a:t>20013211</a:t>
                      </a:r>
                      <a:endParaRPr lang="zh-CN" altLang="en-US" dirty="0"/>
                    </a:p>
                  </a:txBody>
                  <a:tcPr/>
                </a:tc>
                <a:extLst>
                  <a:ext uri="{0D108BD9-81ED-4DB2-BD59-A6C34878D82A}">
                    <a16:rowId xmlns:a16="http://schemas.microsoft.com/office/drawing/2014/main" val="37139371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20011231</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20017156</a:t>
                      </a:r>
                      <a:endParaRPr lang="zh-CN" altLang="en-US" dirty="0"/>
                    </a:p>
                  </a:txBody>
                  <a:tcPr/>
                </a:tc>
                <a:extLst>
                  <a:ext uri="{0D108BD9-81ED-4DB2-BD59-A6C34878D82A}">
                    <a16:rowId xmlns:a16="http://schemas.microsoft.com/office/drawing/2014/main" val="37709247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20018124</a:t>
                      </a:r>
                      <a:endParaRPr lang="zh-CN" altLang="en-US" dirty="0"/>
                    </a:p>
                  </a:txBody>
                  <a:tcPr/>
                </a:tc>
                <a:extLst>
                  <a:ext uri="{0D108BD9-81ED-4DB2-BD59-A6C34878D82A}">
                    <a16:rowId xmlns:a16="http://schemas.microsoft.com/office/drawing/2014/main" val="390020035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20013610</a:t>
                      </a:r>
                      <a:endParaRPr lang="zh-CN" altLang="en-US" dirty="0"/>
                    </a:p>
                  </a:txBody>
                  <a:tcPr/>
                </a:tc>
                <a:extLst>
                  <a:ext uri="{0D108BD9-81ED-4DB2-BD59-A6C34878D82A}">
                    <a16:rowId xmlns:a16="http://schemas.microsoft.com/office/drawing/2014/main" val="3954369429"/>
                  </a:ext>
                </a:extLst>
              </a:tr>
            </a:tbl>
          </a:graphicData>
        </a:graphic>
      </p:graphicFrame>
      <p:graphicFrame>
        <p:nvGraphicFramePr>
          <p:cNvPr id="3" name="表格 2">
            <a:extLst>
              <a:ext uri="{FF2B5EF4-FFF2-40B4-BE49-F238E27FC236}">
                <a16:creationId xmlns:a16="http://schemas.microsoft.com/office/drawing/2014/main" id="{A1C126F9-17CD-AA45-B7BF-94E1947E9BCD}"/>
              </a:ext>
            </a:extLst>
          </p:cNvPr>
          <p:cNvGraphicFramePr>
            <a:graphicFrameLocks noGrp="1"/>
          </p:cNvGraphicFramePr>
          <p:nvPr>
            <p:extLst>
              <p:ext uri="{D42A27DB-BD31-4B8C-83A1-F6EECF244321}">
                <p14:modId xmlns:p14="http://schemas.microsoft.com/office/powerpoint/2010/main" val="1738546122"/>
              </p:ext>
            </p:extLst>
          </p:nvPr>
        </p:nvGraphicFramePr>
        <p:xfrm>
          <a:off x="5508104" y="1575777"/>
          <a:ext cx="2365922" cy="1483360"/>
        </p:xfrm>
        <a:graphic>
          <a:graphicData uri="http://schemas.openxmlformats.org/drawingml/2006/table">
            <a:tbl>
              <a:tblPr firstRow="1" bandRow="1">
                <a:tableStyleId>{5C22544A-7EE6-4342-B048-85BDC9FD1C3A}</a:tableStyleId>
              </a:tblPr>
              <a:tblGrid>
                <a:gridCol w="2365922">
                  <a:extLst>
                    <a:ext uri="{9D8B030D-6E8A-4147-A177-3AD203B41FA5}">
                      <a16:colId xmlns:a16="http://schemas.microsoft.com/office/drawing/2014/main" val="3250390251"/>
                    </a:ext>
                  </a:extLst>
                </a:gridCol>
              </a:tblGrid>
              <a:tr h="370840">
                <a:tc>
                  <a:txBody>
                    <a:bodyPr/>
                    <a:lstStyle/>
                    <a:p>
                      <a:pPr algn="ctr"/>
                      <a:r>
                        <a:rPr lang="zh-CN" altLang="en-US" dirty="0"/>
                        <a:t>考生号</a:t>
                      </a:r>
                    </a:p>
                  </a:txBody>
                  <a:tcPr/>
                </a:tc>
                <a:extLst>
                  <a:ext uri="{0D108BD9-81ED-4DB2-BD59-A6C34878D82A}">
                    <a16:rowId xmlns:a16="http://schemas.microsoft.com/office/drawing/2014/main" val="3145990871"/>
                  </a:ext>
                </a:extLst>
              </a:tr>
              <a:tr h="370840">
                <a:tc>
                  <a:txBody>
                    <a:bodyPr/>
                    <a:lstStyle/>
                    <a:p>
                      <a:pPr algn="ctr"/>
                      <a:r>
                        <a:rPr lang="en-US" altLang="zh-CN" dirty="0"/>
                        <a:t>20013211</a:t>
                      </a:r>
                      <a:endParaRPr lang="zh-CN" altLang="en-US" dirty="0"/>
                    </a:p>
                  </a:txBody>
                  <a:tcPr/>
                </a:tc>
                <a:extLst>
                  <a:ext uri="{0D108BD9-81ED-4DB2-BD59-A6C34878D82A}">
                    <a16:rowId xmlns:a16="http://schemas.microsoft.com/office/drawing/2014/main" val="37139371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20017156</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20013610</a:t>
                      </a:r>
                      <a:endParaRPr lang="zh-CN" altLang="en-US" dirty="0"/>
                    </a:p>
                  </a:txBody>
                  <a:tcPr/>
                </a:tc>
                <a:extLst>
                  <a:ext uri="{0D108BD9-81ED-4DB2-BD59-A6C34878D82A}">
                    <a16:rowId xmlns:a16="http://schemas.microsoft.com/office/drawing/2014/main" val="365642143"/>
                  </a:ext>
                </a:extLst>
              </a:tr>
            </a:tbl>
          </a:graphicData>
        </a:graphic>
      </p:graphicFrame>
      <p:sp>
        <p:nvSpPr>
          <p:cNvPr id="4" name="文本框 3">
            <a:extLst>
              <a:ext uri="{FF2B5EF4-FFF2-40B4-BE49-F238E27FC236}">
                <a16:creationId xmlns:a16="http://schemas.microsoft.com/office/drawing/2014/main" id="{B7C12AA3-A507-6B40-B678-D9F964379FAE}"/>
              </a:ext>
            </a:extLst>
          </p:cNvPr>
          <p:cNvSpPr txBox="1"/>
          <p:nvPr/>
        </p:nvSpPr>
        <p:spPr>
          <a:xfrm>
            <a:off x="1354308" y="1147570"/>
            <a:ext cx="1733167" cy="338554"/>
          </a:xfrm>
          <a:prstGeom prst="rect">
            <a:avLst/>
          </a:prstGeom>
          <a:noFill/>
        </p:spPr>
        <p:txBody>
          <a:bodyPr wrap="none" rtlCol="0">
            <a:spAutoFit/>
          </a:bodyPr>
          <a:lstStyle/>
          <a:p>
            <a:r>
              <a:rPr kumimoji="1" lang="zh-CN" altLang="en-US" sz="2000" b="1" u="sng" dirty="0">
                <a:solidFill>
                  <a:schemeClr val="bg1"/>
                </a:solidFill>
              </a:rPr>
              <a:t>成绩合格考生</a:t>
            </a:r>
          </a:p>
        </p:txBody>
      </p:sp>
      <p:sp>
        <p:nvSpPr>
          <p:cNvPr id="5" name="文本框 4">
            <a:extLst>
              <a:ext uri="{FF2B5EF4-FFF2-40B4-BE49-F238E27FC236}">
                <a16:creationId xmlns:a16="http://schemas.microsoft.com/office/drawing/2014/main" id="{95532645-B0B1-A141-86CD-9AD38FAE04CB}"/>
              </a:ext>
            </a:extLst>
          </p:cNvPr>
          <p:cNvSpPr txBox="1"/>
          <p:nvPr/>
        </p:nvSpPr>
        <p:spPr>
          <a:xfrm>
            <a:off x="5749101" y="1147570"/>
            <a:ext cx="1991251" cy="338554"/>
          </a:xfrm>
          <a:prstGeom prst="rect">
            <a:avLst/>
          </a:prstGeom>
          <a:noFill/>
        </p:spPr>
        <p:txBody>
          <a:bodyPr wrap="none" rtlCol="0">
            <a:spAutoFit/>
          </a:bodyPr>
          <a:lstStyle/>
          <a:p>
            <a:r>
              <a:rPr kumimoji="1" lang="zh-CN" altLang="en-US" sz="2000" b="1" u="sng" dirty="0">
                <a:solidFill>
                  <a:schemeClr val="bg1"/>
                </a:solidFill>
              </a:rPr>
              <a:t>身体不合格考生</a:t>
            </a:r>
          </a:p>
        </p:txBody>
      </p:sp>
      <p:cxnSp>
        <p:nvCxnSpPr>
          <p:cNvPr id="7" name="直线箭头连接符 6">
            <a:extLst>
              <a:ext uri="{FF2B5EF4-FFF2-40B4-BE49-F238E27FC236}">
                <a16:creationId xmlns:a16="http://schemas.microsoft.com/office/drawing/2014/main" id="{951122E5-ABAC-1748-B27B-FEC2C696BA70}"/>
              </a:ext>
            </a:extLst>
          </p:cNvPr>
          <p:cNvCxnSpPr>
            <a:cxnSpLocks/>
            <a:stCxn id="2" idx="2"/>
          </p:cNvCxnSpPr>
          <p:nvPr/>
        </p:nvCxnSpPr>
        <p:spPr bwMode="auto">
          <a:xfrm>
            <a:off x="2134527" y="3800817"/>
            <a:ext cx="2437473" cy="659121"/>
          </a:xfrm>
          <a:prstGeom prst="straightConnector1">
            <a:avLst/>
          </a:prstGeom>
          <a:noFill/>
          <a:ln w="38100" cap="flat" cmpd="sng" algn="ctr">
            <a:solidFill>
              <a:srgbClr val="FF0066"/>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8" name="直线箭头连接符 7">
            <a:extLst>
              <a:ext uri="{FF2B5EF4-FFF2-40B4-BE49-F238E27FC236}">
                <a16:creationId xmlns:a16="http://schemas.microsoft.com/office/drawing/2014/main" id="{246E047C-1365-0641-9E21-C1F50E1DF83C}"/>
              </a:ext>
            </a:extLst>
          </p:cNvPr>
          <p:cNvCxnSpPr/>
          <p:nvPr/>
        </p:nvCxnSpPr>
        <p:spPr bwMode="auto">
          <a:xfrm flipH="1">
            <a:off x="4734199" y="3864070"/>
            <a:ext cx="2419747" cy="595868"/>
          </a:xfrm>
          <a:prstGeom prst="straightConnector1">
            <a:avLst/>
          </a:prstGeom>
          <a:noFill/>
          <a:ln w="38100" cap="flat" cmpd="sng" algn="ctr">
            <a:solidFill>
              <a:srgbClr val="FF0066"/>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17" name="文本框 16">
            <a:extLst>
              <a:ext uri="{FF2B5EF4-FFF2-40B4-BE49-F238E27FC236}">
                <a16:creationId xmlns:a16="http://schemas.microsoft.com/office/drawing/2014/main" id="{C9E3257B-42CB-414E-9DBC-14AB88DDEA54}"/>
              </a:ext>
            </a:extLst>
          </p:cNvPr>
          <p:cNvSpPr txBox="1"/>
          <p:nvPr/>
        </p:nvSpPr>
        <p:spPr>
          <a:xfrm>
            <a:off x="3983686" y="3883874"/>
            <a:ext cx="1338828" cy="313932"/>
          </a:xfrm>
          <a:prstGeom prst="rect">
            <a:avLst/>
          </a:prstGeom>
          <a:noFill/>
        </p:spPr>
        <p:txBody>
          <a:bodyPr wrap="none" rtlCol="0">
            <a:spAutoFit/>
          </a:bodyPr>
          <a:lstStyle/>
          <a:p>
            <a:r>
              <a:rPr lang="zh-CN" altLang="en-US" dirty="0">
                <a:solidFill>
                  <a:srgbClr val="FF0000"/>
                </a:solidFill>
              </a:rPr>
              <a:t>差</a:t>
            </a:r>
            <a:r>
              <a:rPr kumimoji="1" lang="zh-CN" altLang="en-US" dirty="0">
                <a:solidFill>
                  <a:srgbClr val="FF0000"/>
                </a:solidFill>
              </a:rPr>
              <a:t>运算结果</a:t>
            </a:r>
          </a:p>
        </p:txBody>
      </p:sp>
      <p:graphicFrame>
        <p:nvGraphicFramePr>
          <p:cNvPr id="20" name="表格 2">
            <a:extLst>
              <a:ext uri="{FF2B5EF4-FFF2-40B4-BE49-F238E27FC236}">
                <a16:creationId xmlns:a16="http://schemas.microsoft.com/office/drawing/2014/main" id="{BC0DCC39-6830-504D-A0F5-9D4623E8EF52}"/>
              </a:ext>
            </a:extLst>
          </p:cNvPr>
          <p:cNvGraphicFramePr>
            <a:graphicFrameLocks noGrp="1"/>
          </p:cNvGraphicFramePr>
          <p:nvPr>
            <p:extLst>
              <p:ext uri="{D42A27DB-BD31-4B8C-83A1-F6EECF244321}">
                <p14:modId xmlns:p14="http://schemas.microsoft.com/office/powerpoint/2010/main" val="3084545963"/>
              </p:ext>
            </p:extLst>
          </p:nvPr>
        </p:nvGraphicFramePr>
        <p:xfrm>
          <a:off x="3525527" y="4620736"/>
          <a:ext cx="2181836" cy="1112520"/>
        </p:xfrm>
        <a:graphic>
          <a:graphicData uri="http://schemas.openxmlformats.org/drawingml/2006/table">
            <a:tbl>
              <a:tblPr firstRow="1" bandRow="1">
                <a:tableStyleId>{21E4AEA4-8DFA-4A89-87EB-49C32662AFE0}</a:tableStyleId>
              </a:tblPr>
              <a:tblGrid>
                <a:gridCol w="2181836">
                  <a:extLst>
                    <a:ext uri="{9D8B030D-6E8A-4147-A177-3AD203B41FA5}">
                      <a16:colId xmlns:a16="http://schemas.microsoft.com/office/drawing/2014/main" val="3250390251"/>
                    </a:ext>
                  </a:extLst>
                </a:gridCol>
              </a:tblGrid>
              <a:tr h="370840">
                <a:tc>
                  <a:txBody>
                    <a:bodyPr/>
                    <a:lstStyle/>
                    <a:p>
                      <a:pPr algn="ctr"/>
                      <a:r>
                        <a:rPr lang="zh-CN" altLang="en-US" dirty="0"/>
                        <a:t>考生号</a:t>
                      </a:r>
                    </a:p>
                  </a:txBody>
                  <a:tcPr/>
                </a:tc>
                <a:extLst>
                  <a:ext uri="{0D108BD9-81ED-4DB2-BD59-A6C34878D82A}">
                    <a16:rowId xmlns:a16="http://schemas.microsoft.com/office/drawing/2014/main" val="314599087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20011231</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20018124</a:t>
                      </a:r>
                      <a:endParaRPr lang="zh-CN" altLang="en-US" dirty="0"/>
                    </a:p>
                  </a:txBody>
                  <a:tcPr/>
                </a:tc>
                <a:extLst>
                  <a:ext uri="{0D108BD9-81ED-4DB2-BD59-A6C34878D82A}">
                    <a16:rowId xmlns:a16="http://schemas.microsoft.com/office/drawing/2014/main" val="3900200351"/>
                  </a:ext>
                </a:extLst>
              </a:tr>
            </a:tbl>
          </a:graphicData>
        </a:graphic>
      </p:graphicFrame>
      <p:pic>
        <p:nvPicPr>
          <p:cNvPr id="13" name="图片 12">
            <a:extLst>
              <a:ext uri="{FF2B5EF4-FFF2-40B4-BE49-F238E27FC236}">
                <a16:creationId xmlns:a16="http://schemas.microsoft.com/office/drawing/2014/main" id="{2EB1A523-50BE-BE4D-9556-88F61F3C0C6B}"/>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3131046" y="1870244"/>
            <a:ext cx="504851" cy="504851"/>
          </a:xfrm>
          <a:prstGeom prst="rect">
            <a:avLst/>
          </a:prstGeom>
        </p:spPr>
      </p:pic>
      <p:pic>
        <p:nvPicPr>
          <p:cNvPr id="14" name="图片 13">
            <a:extLst>
              <a:ext uri="{FF2B5EF4-FFF2-40B4-BE49-F238E27FC236}">
                <a16:creationId xmlns:a16="http://schemas.microsoft.com/office/drawing/2014/main" id="{FD972C83-05B1-1A4E-8984-B93026C68A4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3141446" y="2583104"/>
            <a:ext cx="504851" cy="504851"/>
          </a:xfrm>
          <a:prstGeom prst="rect">
            <a:avLst/>
          </a:prstGeom>
        </p:spPr>
      </p:pic>
      <p:pic>
        <p:nvPicPr>
          <p:cNvPr id="15" name="图片 14">
            <a:extLst>
              <a:ext uri="{FF2B5EF4-FFF2-40B4-BE49-F238E27FC236}">
                <a16:creationId xmlns:a16="http://schemas.microsoft.com/office/drawing/2014/main" id="{6B3AA279-30EA-7449-B955-56739059BEE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3141446" y="3382958"/>
            <a:ext cx="504851" cy="504851"/>
          </a:xfrm>
          <a:prstGeom prst="rect">
            <a:avLst/>
          </a:prstGeom>
        </p:spPr>
      </p:pic>
    </p:spTree>
    <p:extLst>
      <p:ext uri="{BB962C8B-B14F-4D97-AF65-F5344CB8AC3E}">
        <p14:creationId xmlns:p14="http://schemas.microsoft.com/office/powerpoint/2010/main" val="42278099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1090" name="Rectangle 2"/>
          <p:cNvSpPr>
            <a:spLocks noChangeArrowheads="1"/>
          </p:cNvSpPr>
          <p:nvPr/>
        </p:nvSpPr>
        <p:spPr bwMode="auto">
          <a:xfrm>
            <a:off x="144463" y="304800"/>
            <a:ext cx="8964612" cy="5554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60000"/>
              </a:lnSpc>
            </a:pPr>
            <a:r>
              <a:rPr lang="en-US" altLang="zh-CN" sz="2400" b="1" dirty="0">
                <a:solidFill>
                  <a:srgbClr val="660033"/>
                </a:solidFill>
              </a:rPr>
              <a:t>3. </a:t>
            </a:r>
            <a:r>
              <a:rPr lang="zh-CN" altLang="en-US" sz="2400" b="1" dirty="0">
                <a:solidFill>
                  <a:srgbClr val="660033"/>
                </a:solidFill>
              </a:rPr>
              <a:t>笛卡儿积（</a:t>
            </a:r>
            <a:r>
              <a:rPr lang="en-US" altLang="zh-CN" sz="2400" b="1" dirty="0">
                <a:solidFill>
                  <a:srgbClr val="660033"/>
                </a:solidFill>
              </a:rPr>
              <a:t>cartesian product</a:t>
            </a:r>
            <a:r>
              <a:rPr lang="zh-CN" altLang="en-US" sz="2400" b="1" dirty="0">
                <a:solidFill>
                  <a:srgbClr val="660033"/>
                </a:solidFill>
              </a:rPr>
              <a:t>）</a:t>
            </a:r>
          </a:p>
          <a:p>
            <a:pPr eaLnBrk="0" hangingPunct="0">
              <a:lnSpc>
                <a:spcPct val="160000"/>
              </a:lnSpc>
            </a:pPr>
            <a:r>
              <a:rPr lang="zh-CN" altLang="en-US" sz="2400" b="1" dirty="0">
                <a:solidFill>
                  <a:schemeClr val="bg2"/>
                </a:solidFill>
              </a:rPr>
              <a:t>    </a:t>
            </a:r>
            <a:r>
              <a:rPr lang="zh-CN" altLang="en-US" sz="2400" b="1" dirty="0">
                <a:solidFill>
                  <a:schemeClr val="bg1"/>
                </a:solidFill>
              </a:rPr>
              <a:t>设关系</a:t>
            </a:r>
            <a:r>
              <a:rPr lang="en-US" altLang="zh-CN" sz="2400" b="1" dirty="0">
                <a:solidFill>
                  <a:schemeClr val="bg1"/>
                </a:solidFill>
              </a:rPr>
              <a:t>R</a:t>
            </a:r>
            <a:r>
              <a:rPr lang="zh-CN" altLang="en-US" sz="2400" b="1" dirty="0">
                <a:solidFill>
                  <a:schemeClr val="bg1"/>
                </a:solidFill>
              </a:rPr>
              <a:t>和关系</a:t>
            </a:r>
            <a:r>
              <a:rPr lang="en-US" altLang="zh-CN" sz="2400" b="1" dirty="0">
                <a:solidFill>
                  <a:schemeClr val="bg1"/>
                </a:solidFill>
              </a:rPr>
              <a:t>S</a:t>
            </a:r>
            <a:r>
              <a:rPr lang="zh-CN" altLang="en-US" sz="2400" b="1" dirty="0">
                <a:solidFill>
                  <a:schemeClr val="bg1"/>
                </a:solidFill>
              </a:rPr>
              <a:t>的元数分别为</a:t>
            </a:r>
            <a:r>
              <a:rPr lang="en-US" altLang="zh-CN" sz="2400" b="1" dirty="0">
                <a:solidFill>
                  <a:schemeClr val="bg1"/>
                </a:solidFill>
              </a:rPr>
              <a:t>r</a:t>
            </a:r>
            <a:r>
              <a:rPr lang="zh-CN" altLang="en-US" sz="2400" b="1" dirty="0">
                <a:solidFill>
                  <a:schemeClr val="bg1"/>
                </a:solidFill>
              </a:rPr>
              <a:t>和</a:t>
            </a:r>
            <a:r>
              <a:rPr lang="en-US" altLang="zh-CN" sz="2400" b="1" dirty="0">
                <a:solidFill>
                  <a:schemeClr val="bg1"/>
                </a:solidFill>
              </a:rPr>
              <a:t>s</a:t>
            </a:r>
            <a:r>
              <a:rPr lang="zh-CN" altLang="en-US" sz="2400" b="1" dirty="0">
                <a:solidFill>
                  <a:schemeClr val="bg1"/>
                </a:solidFill>
              </a:rPr>
              <a:t>。定义</a:t>
            </a:r>
            <a:r>
              <a:rPr lang="en-US" altLang="zh-CN" sz="2400" b="1" dirty="0">
                <a:solidFill>
                  <a:schemeClr val="bg1"/>
                </a:solidFill>
              </a:rPr>
              <a:t>R</a:t>
            </a:r>
            <a:r>
              <a:rPr lang="zh-CN" altLang="en-US" sz="2400" b="1" dirty="0">
                <a:solidFill>
                  <a:schemeClr val="bg1"/>
                </a:solidFill>
              </a:rPr>
              <a:t>和</a:t>
            </a:r>
            <a:r>
              <a:rPr lang="en-US" altLang="zh-CN" sz="2400" b="1" dirty="0">
                <a:solidFill>
                  <a:schemeClr val="bg1"/>
                </a:solidFill>
              </a:rPr>
              <a:t>S</a:t>
            </a:r>
            <a:r>
              <a:rPr lang="zh-CN" altLang="en-US" sz="2400" b="1" dirty="0">
                <a:solidFill>
                  <a:schemeClr val="bg1"/>
                </a:solidFill>
              </a:rPr>
              <a:t>的笛卡儿积</a:t>
            </a:r>
            <a:r>
              <a:rPr lang="en-US" altLang="zh-CN" sz="2400" b="1" dirty="0">
                <a:solidFill>
                  <a:schemeClr val="bg1"/>
                </a:solidFill>
              </a:rPr>
              <a:t>R×S</a:t>
            </a:r>
            <a:r>
              <a:rPr lang="zh-CN" altLang="en-US" sz="2400" b="1" dirty="0">
                <a:solidFill>
                  <a:schemeClr val="bg1"/>
                </a:solidFill>
              </a:rPr>
              <a:t>是一个（</a:t>
            </a:r>
            <a:r>
              <a:rPr lang="en-US" altLang="zh-CN" sz="2400" b="1" dirty="0" err="1">
                <a:solidFill>
                  <a:schemeClr val="bg1"/>
                </a:solidFill>
              </a:rPr>
              <a:t>r+s</a:t>
            </a:r>
            <a:r>
              <a:rPr lang="zh-CN" altLang="en-US" sz="2400" b="1" dirty="0">
                <a:solidFill>
                  <a:schemeClr val="bg1"/>
                </a:solidFill>
              </a:rPr>
              <a:t>）元的元组集合，每个元组的前</a:t>
            </a:r>
            <a:r>
              <a:rPr lang="en-US" altLang="zh-CN" sz="2400" b="1" dirty="0">
                <a:solidFill>
                  <a:schemeClr val="bg1"/>
                </a:solidFill>
              </a:rPr>
              <a:t>r</a:t>
            </a:r>
            <a:r>
              <a:rPr lang="zh-CN" altLang="en-US" sz="2400" b="1" dirty="0">
                <a:solidFill>
                  <a:schemeClr val="bg1"/>
                </a:solidFill>
              </a:rPr>
              <a:t>个分量（属性值）来自</a:t>
            </a:r>
            <a:r>
              <a:rPr lang="en-US" altLang="zh-CN" sz="2400" b="1" dirty="0">
                <a:solidFill>
                  <a:schemeClr val="bg1"/>
                </a:solidFill>
              </a:rPr>
              <a:t>R</a:t>
            </a:r>
            <a:r>
              <a:rPr lang="zh-CN" altLang="en-US" sz="2400" b="1" dirty="0">
                <a:solidFill>
                  <a:schemeClr val="bg1"/>
                </a:solidFill>
              </a:rPr>
              <a:t>的一个元组，后</a:t>
            </a:r>
            <a:r>
              <a:rPr lang="en-US" altLang="zh-CN" sz="2400" b="1" dirty="0">
                <a:solidFill>
                  <a:schemeClr val="bg1"/>
                </a:solidFill>
              </a:rPr>
              <a:t>s</a:t>
            </a:r>
            <a:r>
              <a:rPr lang="zh-CN" altLang="en-US" sz="2400" b="1" dirty="0">
                <a:solidFill>
                  <a:schemeClr val="bg1"/>
                </a:solidFill>
              </a:rPr>
              <a:t>个分量是</a:t>
            </a:r>
            <a:r>
              <a:rPr lang="en-US" altLang="zh-CN" sz="2400" b="1" dirty="0">
                <a:solidFill>
                  <a:schemeClr val="bg1"/>
                </a:solidFill>
              </a:rPr>
              <a:t>S</a:t>
            </a:r>
            <a:r>
              <a:rPr lang="zh-CN" altLang="en-US" sz="2400" b="1" dirty="0">
                <a:solidFill>
                  <a:schemeClr val="bg1"/>
                </a:solidFill>
              </a:rPr>
              <a:t>的一个元组，记为</a:t>
            </a:r>
            <a:r>
              <a:rPr lang="en-US" altLang="zh-CN" sz="2400" b="1" dirty="0">
                <a:solidFill>
                  <a:schemeClr val="bg1"/>
                </a:solidFill>
              </a:rPr>
              <a:t>R×S</a:t>
            </a:r>
            <a:r>
              <a:rPr lang="zh-CN" altLang="en-US" sz="2400" b="1" dirty="0">
                <a:solidFill>
                  <a:schemeClr val="bg1"/>
                </a:solidFill>
              </a:rPr>
              <a:t>。</a:t>
            </a:r>
          </a:p>
          <a:p>
            <a:pPr eaLnBrk="0" hangingPunct="0">
              <a:lnSpc>
                <a:spcPct val="160000"/>
              </a:lnSpc>
            </a:pPr>
            <a:r>
              <a:rPr lang="zh-CN" altLang="en-US" sz="2400" b="1" dirty="0">
                <a:solidFill>
                  <a:schemeClr val="bg2"/>
                </a:solidFill>
              </a:rPr>
              <a:t> 形式定义如下：               </a:t>
            </a:r>
          </a:p>
          <a:p>
            <a:pPr eaLnBrk="0" hangingPunct="0">
              <a:lnSpc>
                <a:spcPct val="160000"/>
              </a:lnSpc>
            </a:pPr>
            <a:r>
              <a:rPr lang="zh-CN" altLang="en-US" sz="3600" b="1" dirty="0">
                <a:solidFill>
                  <a:srgbClr val="660033"/>
                </a:solidFill>
              </a:rPr>
              <a:t> </a:t>
            </a:r>
            <a:r>
              <a:rPr lang="en-US" altLang="zh-CN" sz="4000" b="1" dirty="0">
                <a:solidFill>
                  <a:srgbClr val="660033"/>
                </a:solidFill>
              </a:rPr>
              <a:t>R×S≡{</a:t>
            </a:r>
            <a:r>
              <a:rPr lang="en-US" altLang="zh-CN" sz="4000" b="1" dirty="0" err="1">
                <a:solidFill>
                  <a:srgbClr val="660033"/>
                </a:solidFill>
              </a:rPr>
              <a:t>t︱t</a:t>
            </a:r>
            <a:r>
              <a:rPr lang="en-US" altLang="zh-CN" sz="4000" b="1" dirty="0">
                <a:solidFill>
                  <a:srgbClr val="660033"/>
                </a:solidFill>
              </a:rPr>
              <a:t>=&lt;</a:t>
            </a:r>
            <a:r>
              <a:rPr lang="en-US" altLang="zh-CN" sz="4000" b="1" dirty="0" err="1">
                <a:solidFill>
                  <a:srgbClr val="660033"/>
                </a:solidFill>
              </a:rPr>
              <a:t>t</a:t>
            </a:r>
            <a:r>
              <a:rPr lang="en-US" altLang="zh-CN" sz="4000" b="1" baseline="30000" dirty="0" err="1">
                <a:solidFill>
                  <a:srgbClr val="660033"/>
                </a:solidFill>
              </a:rPr>
              <a:t>r</a:t>
            </a:r>
            <a:r>
              <a:rPr lang="en-US" altLang="zh-CN" sz="4000" b="1" dirty="0" err="1">
                <a:solidFill>
                  <a:srgbClr val="660033"/>
                </a:solidFill>
              </a:rPr>
              <a:t>,t</a:t>
            </a:r>
            <a:r>
              <a:rPr lang="en-US" altLang="zh-CN" sz="4000" b="1" baseline="30000" dirty="0" err="1">
                <a:solidFill>
                  <a:srgbClr val="660033"/>
                </a:solidFill>
              </a:rPr>
              <a:t>s</a:t>
            </a:r>
            <a:r>
              <a:rPr lang="en-US" altLang="zh-CN" sz="4000" b="1" dirty="0">
                <a:solidFill>
                  <a:srgbClr val="660033"/>
                </a:solidFill>
              </a:rPr>
              <a:t>&gt;∧</a:t>
            </a:r>
            <a:r>
              <a:rPr lang="en-US" altLang="zh-CN" sz="4000" b="1" dirty="0" err="1">
                <a:solidFill>
                  <a:srgbClr val="660033"/>
                </a:solidFill>
              </a:rPr>
              <a:t>t</a:t>
            </a:r>
            <a:r>
              <a:rPr lang="en-US" altLang="zh-CN" sz="4000" b="1" baseline="30000" dirty="0" err="1">
                <a:solidFill>
                  <a:srgbClr val="660033"/>
                </a:solidFill>
              </a:rPr>
              <a:t>r</a:t>
            </a:r>
            <a:r>
              <a:rPr lang="en-US" altLang="zh-CN" sz="4000" b="1" dirty="0" err="1">
                <a:solidFill>
                  <a:srgbClr val="660033"/>
                </a:solidFill>
              </a:rPr>
              <a:t>∈R∧t</a:t>
            </a:r>
            <a:r>
              <a:rPr lang="en-US" altLang="zh-CN" sz="4000" b="1" baseline="30000" dirty="0" err="1">
                <a:solidFill>
                  <a:srgbClr val="660033"/>
                </a:solidFill>
              </a:rPr>
              <a:t>s</a:t>
            </a:r>
            <a:r>
              <a:rPr lang="en-US" altLang="zh-CN" sz="4000" b="1" dirty="0" err="1">
                <a:solidFill>
                  <a:srgbClr val="660033"/>
                </a:solidFill>
              </a:rPr>
              <a:t>∈S</a:t>
            </a:r>
            <a:r>
              <a:rPr lang="en-US" altLang="zh-CN" sz="4000" b="1" dirty="0">
                <a:solidFill>
                  <a:srgbClr val="660033"/>
                </a:solidFill>
              </a:rPr>
              <a:t>}</a:t>
            </a:r>
          </a:p>
          <a:p>
            <a:pPr eaLnBrk="0" hangingPunct="0">
              <a:lnSpc>
                <a:spcPct val="160000"/>
              </a:lnSpc>
            </a:pPr>
            <a:r>
              <a:rPr lang="en-US" altLang="zh-CN" sz="2800" b="1" dirty="0">
                <a:solidFill>
                  <a:schemeClr val="bg2"/>
                </a:solidFill>
                <a:cs typeface="Times New Roman" pitchFamily="18" charset="0"/>
              </a:rPr>
              <a:t> </a:t>
            </a:r>
            <a:r>
              <a:rPr lang="zh-CN" altLang="en-US" sz="2800" b="1" dirty="0">
                <a:solidFill>
                  <a:schemeClr val="bg2"/>
                </a:solidFill>
                <a:cs typeface="Times New Roman" pitchFamily="18" charset="0"/>
              </a:rPr>
              <a:t>若</a:t>
            </a:r>
            <a:r>
              <a:rPr lang="en-US" altLang="zh-CN" sz="2800" b="1" dirty="0">
                <a:solidFill>
                  <a:schemeClr val="bg2"/>
                </a:solidFill>
                <a:cs typeface="Times New Roman" pitchFamily="18" charset="0"/>
              </a:rPr>
              <a:t>R</a:t>
            </a:r>
            <a:r>
              <a:rPr lang="zh-CN" altLang="en-US" sz="2800" b="1" dirty="0">
                <a:solidFill>
                  <a:schemeClr val="bg2"/>
                </a:solidFill>
                <a:cs typeface="Times New Roman" pitchFamily="18" charset="0"/>
              </a:rPr>
              <a:t>有</a:t>
            </a:r>
            <a:r>
              <a:rPr lang="en-US" altLang="zh-CN" sz="2800" b="1" dirty="0">
                <a:solidFill>
                  <a:schemeClr val="bg2"/>
                </a:solidFill>
                <a:cs typeface="Times New Roman" pitchFamily="18" charset="0"/>
              </a:rPr>
              <a:t>n</a:t>
            </a:r>
            <a:r>
              <a:rPr lang="zh-CN" altLang="en-US" sz="2800" b="1" dirty="0">
                <a:solidFill>
                  <a:schemeClr val="bg2"/>
                </a:solidFill>
                <a:cs typeface="Times New Roman" pitchFamily="18" charset="0"/>
              </a:rPr>
              <a:t>个元组，</a:t>
            </a:r>
            <a:r>
              <a:rPr lang="en-US" altLang="zh-CN" sz="2800" b="1" dirty="0">
                <a:solidFill>
                  <a:schemeClr val="bg2"/>
                </a:solidFill>
                <a:cs typeface="Times New Roman" pitchFamily="18" charset="0"/>
              </a:rPr>
              <a:t>S</a:t>
            </a:r>
            <a:r>
              <a:rPr lang="zh-CN" altLang="en-US" sz="2800" b="1" dirty="0">
                <a:solidFill>
                  <a:schemeClr val="bg2"/>
                </a:solidFill>
                <a:cs typeface="Times New Roman" pitchFamily="18" charset="0"/>
              </a:rPr>
              <a:t>有</a:t>
            </a:r>
            <a:r>
              <a:rPr lang="en-US" altLang="zh-CN" sz="2800" b="1" dirty="0">
                <a:solidFill>
                  <a:schemeClr val="bg2"/>
                </a:solidFill>
                <a:cs typeface="Times New Roman" pitchFamily="18" charset="0"/>
              </a:rPr>
              <a:t>m</a:t>
            </a:r>
            <a:r>
              <a:rPr lang="zh-CN" altLang="en-US" sz="2800" b="1" dirty="0">
                <a:solidFill>
                  <a:schemeClr val="bg2"/>
                </a:solidFill>
                <a:cs typeface="Times New Roman" pitchFamily="18" charset="0"/>
              </a:rPr>
              <a:t>个元组，则</a:t>
            </a:r>
            <a:r>
              <a:rPr lang="en-US" altLang="zh-CN" sz="2800" b="1" dirty="0">
                <a:solidFill>
                  <a:schemeClr val="bg2"/>
                </a:solidFill>
                <a:cs typeface="Times New Roman" pitchFamily="18" charset="0"/>
              </a:rPr>
              <a:t>R×S</a:t>
            </a:r>
            <a:r>
              <a:rPr lang="zh-CN" altLang="en-US" sz="2800" b="1" dirty="0">
                <a:solidFill>
                  <a:schemeClr val="bg2"/>
                </a:solidFill>
                <a:cs typeface="Times New Roman" pitchFamily="18" charset="0"/>
              </a:rPr>
              <a:t>有</a:t>
            </a:r>
            <a:r>
              <a:rPr lang="en-US" altLang="zh-CN" sz="2800" b="1" dirty="0" err="1">
                <a:solidFill>
                  <a:schemeClr val="bg2"/>
                </a:solidFill>
                <a:cs typeface="Times New Roman" pitchFamily="18" charset="0"/>
              </a:rPr>
              <a:t>n×m</a:t>
            </a:r>
            <a:r>
              <a:rPr lang="zh-CN" altLang="en-US" sz="2800" b="1" dirty="0">
                <a:solidFill>
                  <a:schemeClr val="bg2"/>
                </a:solidFill>
                <a:cs typeface="Times New Roman" pitchFamily="18" charset="0"/>
              </a:rPr>
              <a:t>个元组。</a:t>
            </a:r>
            <a:endParaRPr lang="zh-CN" altLang="en-US" sz="2800" b="1" dirty="0">
              <a:solidFill>
                <a:schemeClr val="bg2"/>
              </a:solidFill>
            </a:endParaRPr>
          </a:p>
        </p:txBody>
      </p:sp>
      <p:sp>
        <p:nvSpPr>
          <p:cNvPr id="601091" name="Rectangle 3"/>
          <p:cNvSpPr>
            <a:spLocks noGrp="1" noChangeArrowheads="1"/>
          </p:cNvSpPr>
          <p:nvPr>
            <p:ph type="title" idx="4294967295"/>
          </p:nvPr>
        </p:nvSpPr>
        <p:spPr/>
        <p:txBody>
          <a:bodyPr/>
          <a:lstStyle/>
          <a:p>
            <a:r>
              <a:rPr lang="en-US" altLang="zh-CN"/>
              <a:t>         </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A19714A8-2F55-B049-8B70-41D644043058}"/>
              </a:ext>
            </a:extLst>
          </p:cNvPr>
          <p:cNvGraphicFramePr>
            <a:graphicFrameLocks noGrp="1"/>
          </p:cNvGraphicFramePr>
          <p:nvPr>
            <p:extLst>
              <p:ext uri="{D42A27DB-BD31-4B8C-83A1-F6EECF244321}">
                <p14:modId xmlns:p14="http://schemas.microsoft.com/office/powerpoint/2010/main" val="264668840"/>
              </p:ext>
            </p:extLst>
          </p:nvPr>
        </p:nvGraphicFramePr>
        <p:xfrm>
          <a:off x="999884" y="706884"/>
          <a:ext cx="2512054" cy="1483360"/>
        </p:xfrm>
        <a:graphic>
          <a:graphicData uri="http://schemas.openxmlformats.org/drawingml/2006/table">
            <a:tbl>
              <a:tblPr firstRow="1" bandRow="1">
                <a:tableStyleId>{21E4AEA4-8DFA-4A89-87EB-49C32662AFE0}</a:tableStyleId>
              </a:tblPr>
              <a:tblGrid>
                <a:gridCol w="1256027">
                  <a:extLst>
                    <a:ext uri="{9D8B030D-6E8A-4147-A177-3AD203B41FA5}">
                      <a16:colId xmlns:a16="http://schemas.microsoft.com/office/drawing/2014/main" val="3250390251"/>
                    </a:ext>
                  </a:extLst>
                </a:gridCol>
                <a:gridCol w="1256027">
                  <a:extLst>
                    <a:ext uri="{9D8B030D-6E8A-4147-A177-3AD203B41FA5}">
                      <a16:colId xmlns:a16="http://schemas.microsoft.com/office/drawing/2014/main" val="3954880262"/>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extLst>
                  <a:ext uri="{0D108BD9-81ED-4DB2-BD59-A6C34878D82A}">
                    <a16:rowId xmlns:a16="http://schemas.microsoft.com/office/drawing/2014/main" val="37139371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S3</a:t>
                      </a:r>
                      <a:endParaRPr lang="zh-CN" altLang="en-US" dirty="0"/>
                    </a:p>
                  </a:txBody>
                  <a:tcPr/>
                </a:tc>
                <a:tc>
                  <a:txBody>
                    <a:bodyPr/>
                    <a:lstStyle/>
                    <a:p>
                      <a:pPr algn="ctr"/>
                      <a:r>
                        <a:rPr lang="zh-CN" altLang="en-US" dirty="0"/>
                        <a:t>刘莎莎</a:t>
                      </a:r>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p>
                  </a:txBody>
                  <a:tcPr/>
                </a:tc>
                <a:extLst>
                  <a:ext uri="{0D108BD9-81ED-4DB2-BD59-A6C34878D82A}">
                    <a16:rowId xmlns:a16="http://schemas.microsoft.com/office/drawing/2014/main" val="3770924754"/>
                  </a:ext>
                </a:extLst>
              </a:tr>
            </a:tbl>
          </a:graphicData>
        </a:graphic>
      </p:graphicFrame>
      <p:graphicFrame>
        <p:nvGraphicFramePr>
          <p:cNvPr id="3" name="表格 2">
            <a:extLst>
              <a:ext uri="{FF2B5EF4-FFF2-40B4-BE49-F238E27FC236}">
                <a16:creationId xmlns:a16="http://schemas.microsoft.com/office/drawing/2014/main" id="{A1C126F9-17CD-AA45-B7BF-94E1947E9BCD}"/>
              </a:ext>
            </a:extLst>
          </p:cNvPr>
          <p:cNvGraphicFramePr>
            <a:graphicFrameLocks noGrp="1"/>
          </p:cNvGraphicFramePr>
          <p:nvPr>
            <p:extLst>
              <p:ext uri="{D42A27DB-BD31-4B8C-83A1-F6EECF244321}">
                <p14:modId xmlns:p14="http://schemas.microsoft.com/office/powerpoint/2010/main" val="2581626203"/>
              </p:ext>
            </p:extLst>
          </p:nvPr>
        </p:nvGraphicFramePr>
        <p:xfrm>
          <a:off x="4806003" y="721504"/>
          <a:ext cx="3326941" cy="1483360"/>
        </p:xfrm>
        <a:graphic>
          <a:graphicData uri="http://schemas.openxmlformats.org/drawingml/2006/table">
            <a:tbl>
              <a:tblPr firstRow="1" bandRow="1">
                <a:tableStyleId>{5C22544A-7EE6-4342-B048-85BDC9FD1C3A}</a:tableStyleId>
              </a:tblPr>
              <a:tblGrid>
                <a:gridCol w="806661">
                  <a:extLst>
                    <a:ext uri="{9D8B030D-6E8A-4147-A177-3AD203B41FA5}">
                      <a16:colId xmlns:a16="http://schemas.microsoft.com/office/drawing/2014/main" val="3250390251"/>
                    </a:ext>
                  </a:extLst>
                </a:gridCol>
                <a:gridCol w="144016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1941725330"/>
                    </a:ext>
                  </a:extLst>
                </a:gridCol>
              </a:tblGrid>
              <a:tr h="370840">
                <a:tc>
                  <a:txBody>
                    <a:bodyPr/>
                    <a:lstStyle/>
                    <a:p>
                      <a:pPr algn="ctr"/>
                      <a:r>
                        <a:rPr lang="en-US" altLang="zh-CN" dirty="0">
                          <a:solidFill>
                            <a:schemeClr val="bg2"/>
                          </a:solidFill>
                        </a:rPr>
                        <a:t>CNO</a:t>
                      </a:r>
                      <a:endParaRPr lang="zh-CN" altLang="en-US" dirty="0">
                        <a:solidFill>
                          <a:schemeClr val="bg2"/>
                        </a:solidFill>
                      </a:endParaRPr>
                    </a:p>
                  </a:txBody>
                  <a:tcPr/>
                </a:tc>
                <a:tc>
                  <a:txBody>
                    <a:bodyPr/>
                    <a:lstStyle/>
                    <a:p>
                      <a:pPr algn="ctr"/>
                      <a:r>
                        <a:rPr lang="en-US" altLang="zh-CN" dirty="0">
                          <a:solidFill>
                            <a:schemeClr val="bg2"/>
                          </a:solidFill>
                        </a:rPr>
                        <a:t>CNAME</a:t>
                      </a:r>
                      <a:endParaRPr lang="zh-CN" altLang="en-US" dirty="0">
                        <a:solidFill>
                          <a:schemeClr val="bg2"/>
                        </a:solidFill>
                      </a:endParaRPr>
                    </a:p>
                  </a:txBody>
                  <a:tcPr/>
                </a:tc>
                <a:tc>
                  <a:txBody>
                    <a:bodyPr/>
                    <a:lstStyle/>
                    <a:p>
                      <a:pPr algn="ctr"/>
                      <a:r>
                        <a:rPr lang="en-US" altLang="zh-CN" dirty="0">
                          <a:solidFill>
                            <a:schemeClr val="bg2"/>
                          </a:solidFill>
                        </a:rPr>
                        <a:t>CREDIT</a:t>
                      </a:r>
                      <a:endParaRPr lang="zh-CN" altLang="en-US" dirty="0">
                        <a:solidFill>
                          <a:schemeClr val="bg2"/>
                        </a:solidFill>
                      </a:endParaRPr>
                    </a:p>
                  </a:txBody>
                  <a:tcPr/>
                </a:tc>
                <a:extLst>
                  <a:ext uri="{0D108BD9-81ED-4DB2-BD59-A6C34878D82A}">
                    <a16:rowId xmlns:a16="http://schemas.microsoft.com/office/drawing/2014/main" val="314599087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C4</a:t>
                      </a:r>
                      <a:endParaRPr lang="zh-CN" altLang="en-US" dirty="0"/>
                    </a:p>
                  </a:txBody>
                  <a:tcPr/>
                </a:tc>
                <a:tc>
                  <a:txBody>
                    <a:bodyPr/>
                    <a:lstStyle/>
                    <a:p>
                      <a:pPr algn="ctr"/>
                      <a:r>
                        <a:rPr lang="zh-CN" altLang="en-US" dirty="0">
                          <a:solidFill>
                            <a:schemeClr val="bg2"/>
                          </a:solidFill>
                        </a:rPr>
                        <a:t>数据结构</a:t>
                      </a:r>
                    </a:p>
                  </a:txBody>
                  <a:tcPr/>
                </a:tc>
                <a:tc>
                  <a:txBody>
                    <a:bodyPr/>
                    <a:lstStyle/>
                    <a:p>
                      <a:pPr algn="ctr"/>
                      <a:r>
                        <a:rPr lang="en-US" altLang="zh-CN" dirty="0">
                          <a:solidFill>
                            <a:schemeClr val="bg2"/>
                          </a:solidFill>
                        </a:rPr>
                        <a:t>6</a:t>
                      </a:r>
                      <a:endParaRPr lang="zh-CN" altLang="en-US" dirty="0">
                        <a:solidFill>
                          <a:schemeClr val="bg2"/>
                        </a:solidFill>
                      </a:endParaRPr>
                    </a:p>
                  </a:txBody>
                  <a:tcPr/>
                </a:tc>
                <a:extLst>
                  <a:ext uri="{0D108BD9-81ED-4DB2-BD59-A6C34878D82A}">
                    <a16:rowId xmlns:a16="http://schemas.microsoft.com/office/drawing/2014/main" val="37139371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C1</a:t>
                      </a:r>
                    </a:p>
                  </a:txBody>
                  <a:tcPr/>
                </a:tc>
                <a:tc>
                  <a:txBody>
                    <a:bodyPr/>
                    <a:lstStyle/>
                    <a:p>
                      <a:pPr algn="ctr"/>
                      <a:r>
                        <a:rPr lang="zh-CN" altLang="en-US" dirty="0">
                          <a:solidFill>
                            <a:schemeClr val="bg2"/>
                          </a:solidFill>
                        </a:rPr>
                        <a:t>计算机原理</a:t>
                      </a:r>
                    </a:p>
                  </a:txBody>
                  <a:tcPr/>
                </a:tc>
                <a:tc>
                  <a:txBody>
                    <a:bodyPr/>
                    <a:lstStyle/>
                    <a:p>
                      <a:pPr algn="ctr"/>
                      <a:r>
                        <a:rPr lang="en-US" altLang="zh-CN" dirty="0">
                          <a:solidFill>
                            <a:schemeClr val="bg2"/>
                          </a:solidFill>
                        </a:rPr>
                        <a:t>6</a:t>
                      </a:r>
                      <a:endParaRPr lang="zh-CN" altLang="en-US" dirty="0">
                        <a:solidFill>
                          <a:schemeClr val="bg2"/>
                        </a:solidFill>
                      </a:endParaRPr>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C3</a:t>
                      </a:r>
                    </a:p>
                  </a:txBody>
                  <a:tcPr/>
                </a:tc>
                <a:tc>
                  <a:txBody>
                    <a:bodyPr/>
                    <a:lstStyle/>
                    <a:p>
                      <a:pPr algn="ctr"/>
                      <a:r>
                        <a:rPr lang="zh-CN" altLang="en-US" dirty="0">
                          <a:solidFill>
                            <a:schemeClr val="bg2"/>
                          </a:solidFill>
                        </a:rPr>
                        <a:t>高等数学</a:t>
                      </a:r>
                    </a:p>
                  </a:txBody>
                  <a:tcPr/>
                </a:tc>
                <a:tc>
                  <a:txBody>
                    <a:bodyPr/>
                    <a:lstStyle/>
                    <a:p>
                      <a:pPr algn="ctr"/>
                      <a:r>
                        <a:rPr lang="en-US" altLang="zh-CN" dirty="0">
                          <a:solidFill>
                            <a:schemeClr val="bg2"/>
                          </a:solidFill>
                        </a:rPr>
                        <a:t>8</a:t>
                      </a:r>
                      <a:endParaRPr lang="zh-CN" altLang="en-US" dirty="0">
                        <a:solidFill>
                          <a:schemeClr val="bg2"/>
                        </a:solidFill>
                      </a:endParaRPr>
                    </a:p>
                  </a:txBody>
                  <a:tcPr/>
                </a:tc>
                <a:extLst>
                  <a:ext uri="{0D108BD9-81ED-4DB2-BD59-A6C34878D82A}">
                    <a16:rowId xmlns:a16="http://schemas.microsoft.com/office/drawing/2014/main" val="2727176330"/>
                  </a:ext>
                </a:extLst>
              </a:tr>
            </a:tbl>
          </a:graphicData>
        </a:graphic>
      </p:graphicFrame>
      <p:sp>
        <p:nvSpPr>
          <p:cNvPr id="4" name="文本框 3">
            <a:extLst>
              <a:ext uri="{FF2B5EF4-FFF2-40B4-BE49-F238E27FC236}">
                <a16:creationId xmlns:a16="http://schemas.microsoft.com/office/drawing/2014/main" id="{B7C12AA3-A507-6B40-B678-D9F964379FAE}"/>
              </a:ext>
            </a:extLst>
          </p:cNvPr>
          <p:cNvSpPr txBox="1"/>
          <p:nvPr/>
        </p:nvSpPr>
        <p:spPr>
          <a:xfrm>
            <a:off x="1612391" y="253646"/>
            <a:ext cx="1217000" cy="338554"/>
          </a:xfrm>
          <a:prstGeom prst="rect">
            <a:avLst/>
          </a:prstGeom>
          <a:noFill/>
        </p:spPr>
        <p:txBody>
          <a:bodyPr wrap="none" rtlCol="0">
            <a:spAutoFit/>
          </a:bodyPr>
          <a:lstStyle/>
          <a:p>
            <a:r>
              <a:rPr kumimoji="1" lang="zh-CN" altLang="en-US" sz="2000" b="1" u="sng" dirty="0">
                <a:solidFill>
                  <a:schemeClr val="bg1"/>
                </a:solidFill>
              </a:rPr>
              <a:t>学生关系</a:t>
            </a:r>
          </a:p>
        </p:txBody>
      </p:sp>
      <p:sp>
        <p:nvSpPr>
          <p:cNvPr id="5" name="文本框 4">
            <a:extLst>
              <a:ext uri="{FF2B5EF4-FFF2-40B4-BE49-F238E27FC236}">
                <a16:creationId xmlns:a16="http://schemas.microsoft.com/office/drawing/2014/main" id="{95532645-B0B1-A141-86CD-9AD38FAE04CB}"/>
              </a:ext>
            </a:extLst>
          </p:cNvPr>
          <p:cNvSpPr txBox="1"/>
          <p:nvPr/>
        </p:nvSpPr>
        <p:spPr>
          <a:xfrm>
            <a:off x="6216217" y="342037"/>
            <a:ext cx="1217000" cy="338554"/>
          </a:xfrm>
          <a:prstGeom prst="rect">
            <a:avLst/>
          </a:prstGeom>
          <a:noFill/>
        </p:spPr>
        <p:txBody>
          <a:bodyPr wrap="none" rtlCol="0">
            <a:spAutoFit/>
          </a:bodyPr>
          <a:lstStyle/>
          <a:p>
            <a:r>
              <a:rPr kumimoji="1" lang="zh-CN" altLang="en-US" sz="2000" b="1" u="sng" dirty="0">
                <a:solidFill>
                  <a:schemeClr val="bg1"/>
                </a:solidFill>
              </a:rPr>
              <a:t>课程关系</a:t>
            </a:r>
          </a:p>
        </p:txBody>
      </p:sp>
      <p:graphicFrame>
        <p:nvGraphicFramePr>
          <p:cNvPr id="11" name="表格 10">
            <a:extLst>
              <a:ext uri="{FF2B5EF4-FFF2-40B4-BE49-F238E27FC236}">
                <a16:creationId xmlns:a16="http://schemas.microsoft.com/office/drawing/2014/main" id="{28FDED5C-2603-3143-B4DB-ED7C6D407CD4}"/>
              </a:ext>
            </a:extLst>
          </p:cNvPr>
          <p:cNvGraphicFramePr>
            <a:graphicFrameLocks noGrp="1"/>
          </p:cNvGraphicFramePr>
          <p:nvPr>
            <p:extLst>
              <p:ext uri="{D42A27DB-BD31-4B8C-83A1-F6EECF244321}">
                <p14:modId xmlns:p14="http://schemas.microsoft.com/office/powerpoint/2010/main" val="1424397763"/>
              </p:ext>
            </p:extLst>
          </p:nvPr>
        </p:nvGraphicFramePr>
        <p:xfrm>
          <a:off x="3851920" y="2946751"/>
          <a:ext cx="3326941" cy="3708400"/>
        </p:xfrm>
        <a:graphic>
          <a:graphicData uri="http://schemas.openxmlformats.org/drawingml/2006/table">
            <a:tbl>
              <a:tblPr firstRow="1" bandRow="1">
                <a:tableStyleId>{5C22544A-7EE6-4342-B048-85BDC9FD1C3A}</a:tableStyleId>
              </a:tblPr>
              <a:tblGrid>
                <a:gridCol w="806661">
                  <a:extLst>
                    <a:ext uri="{9D8B030D-6E8A-4147-A177-3AD203B41FA5}">
                      <a16:colId xmlns:a16="http://schemas.microsoft.com/office/drawing/2014/main" val="3250390251"/>
                    </a:ext>
                  </a:extLst>
                </a:gridCol>
                <a:gridCol w="144016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1941725330"/>
                    </a:ext>
                  </a:extLst>
                </a:gridCol>
              </a:tblGrid>
              <a:tr h="370840">
                <a:tc>
                  <a:txBody>
                    <a:bodyPr/>
                    <a:lstStyle/>
                    <a:p>
                      <a:pPr algn="ctr"/>
                      <a:r>
                        <a:rPr lang="en-US" altLang="zh-CN" dirty="0">
                          <a:solidFill>
                            <a:schemeClr val="bg2"/>
                          </a:solidFill>
                        </a:rPr>
                        <a:t>CNO</a:t>
                      </a:r>
                      <a:endParaRPr lang="zh-CN" altLang="en-US" dirty="0">
                        <a:solidFill>
                          <a:schemeClr val="bg2"/>
                        </a:solidFill>
                      </a:endParaRPr>
                    </a:p>
                  </a:txBody>
                  <a:tcPr/>
                </a:tc>
                <a:tc>
                  <a:txBody>
                    <a:bodyPr/>
                    <a:lstStyle/>
                    <a:p>
                      <a:pPr algn="ctr"/>
                      <a:r>
                        <a:rPr lang="en-US" altLang="zh-CN" dirty="0">
                          <a:solidFill>
                            <a:schemeClr val="bg2"/>
                          </a:solidFill>
                        </a:rPr>
                        <a:t>CNAME</a:t>
                      </a:r>
                      <a:endParaRPr lang="zh-CN" altLang="en-US" dirty="0">
                        <a:solidFill>
                          <a:schemeClr val="bg2"/>
                        </a:solidFill>
                      </a:endParaRPr>
                    </a:p>
                  </a:txBody>
                  <a:tcPr/>
                </a:tc>
                <a:tc>
                  <a:txBody>
                    <a:bodyPr/>
                    <a:lstStyle/>
                    <a:p>
                      <a:pPr algn="ctr"/>
                      <a:r>
                        <a:rPr lang="en-US" altLang="zh-CN" dirty="0">
                          <a:solidFill>
                            <a:schemeClr val="bg2"/>
                          </a:solidFill>
                        </a:rPr>
                        <a:t>CREDIT</a:t>
                      </a:r>
                      <a:endParaRPr lang="zh-CN" altLang="en-US" dirty="0">
                        <a:solidFill>
                          <a:schemeClr val="bg2"/>
                        </a:solidFill>
                      </a:endParaRPr>
                    </a:p>
                  </a:txBody>
                  <a:tcPr/>
                </a:tc>
                <a:extLst>
                  <a:ext uri="{0D108BD9-81ED-4DB2-BD59-A6C34878D82A}">
                    <a16:rowId xmlns:a16="http://schemas.microsoft.com/office/drawing/2014/main" val="314599087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C4</a:t>
                      </a:r>
                      <a:endParaRPr lang="zh-CN" altLang="en-US" dirty="0"/>
                    </a:p>
                  </a:txBody>
                  <a:tcPr/>
                </a:tc>
                <a:tc>
                  <a:txBody>
                    <a:bodyPr/>
                    <a:lstStyle/>
                    <a:p>
                      <a:pPr algn="ctr"/>
                      <a:r>
                        <a:rPr lang="zh-CN" altLang="en-US" dirty="0">
                          <a:solidFill>
                            <a:schemeClr val="bg2"/>
                          </a:solidFill>
                        </a:rPr>
                        <a:t>数据结构</a:t>
                      </a:r>
                    </a:p>
                  </a:txBody>
                  <a:tcPr/>
                </a:tc>
                <a:tc>
                  <a:txBody>
                    <a:bodyPr/>
                    <a:lstStyle/>
                    <a:p>
                      <a:pPr algn="ctr"/>
                      <a:r>
                        <a:rPr lang="en-US" altLang="zh-CN" dirty="0">
                          <a:solidFill>
                            <a:schemeClr val="bg2"/>
                          </a:solidFill>
                        </a:rPr>
                        <a:t>6</a:t>
                      </a:r>
                      <a:endParaRPr lang="zh-CN" altLang="en-US" dirty="0">
                        <a:solidFill>
                          <a:schemeClr val="bg2"/>
                        </a:solidFill>
                      </a:endParaRPr>
                    </a:p>
                  </a:txBody>
                  <a:tcPr/>
                </a:tc>
                <a:extLst>
                  <a:ext uri="{0D108BD9-81ED-4DB2-BD59-A6C34878D82A}">
                    <a16:rowId xmlns:a16="http://schemas.microsoft.com/office/drawing/2014/main" val="37139371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C1</a:t>
                      </a:r>
                    </a:p>
                  </a:txBody>
                  <a:tcPr/>
                </a:tc>
                <a:tc>
                  <a:txBody>
                    <a:bodyPr/>
                    <a:lstStyle/>
                    <a:p>
                      <a:pPr algn="ctr"/>
                      <a:r>
                        <a:rPr lang="zh-CN" altLang="en-US" dirty="0">
                          <a:solidFill>
                            <a:schemeClr val="bg2"/>
                          </a:solidFill>
                        </a:rPr>
                        <a:t>计算机原理</a:t>
                      </a:r>
                    </a:p>
                  </a:txBody>
                  <a:tcPr/>
                </a:tc>
                <a:tc>
                  <a:txBody>
                    <a:bodyPr/>
                    <a:lstStyle/>
                    <a:p>
                      <a:pPr algn="ctr"/>
                      <a:r>
                        <a:rPr lang="en-US" altLang="zh-CN" dirty="0">
                          <a:solidFill>
                            <a:schemeClr val="bg2"/>
                          </a:solidFill>
                        </a:rPr>
                        <a:t>6</a:t>
                      </a:r>
                      <a:endParaRPr lang="zh-CN" altLang="en-US" dirty="0">
                        <a:solidFill>
                          <a:schemeClr val="bg2"/>
                        </a:solidFill>
                      </a:endParaRPr>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C3</a:t>
                      </a:r>
                    </a:p>
                  </a:txBody>
                  <a:tcPr/>
                </a:tc>
                <a:tc>
                  <a:txBody>
                    <a:bodyPr/>
                    <a:lstStyle/>
                    <a:p>
                      <a:pPr algn="ctr"/>
                      <a:r>
                        <a:rPr lang="zh-CN" altLang="en-US" dirty="0">
                          <a:solidFill>
                            <a:schemeClr val="bg2"/>
                          </a:solidFill>
                        </a:rPr>
                        <a:t>高等数学</a:t>
                      </a:r>
                    </a:p>
                  </a:txBody>
                  <a:tcPr/>
                </a:tc>
                <a:tc>
                  <a:txBody>
                    <a:bodyPr/>
                    <a:lstStyle/>
                    <a:p>
                      <a:pPr algn="ctr"/>
                      <a:r>
                        <a:rPr lang="en-US" altLang="zh-CN" dirty="0">
                          <a:solidFill>
                            <a:schemeClr val="bg2"/>
                          </a:solidFill>
                        </a:rPr>
                        <a:t>8</a:t>
                      </a:r>
                      <a:endParaRPr lang="zh-CN" altLang="en-US" dirty="0">
                        <a:solidFill>
                          <a:schemeClr val="bg2"/>
                        </a:solidFill>
                      </a:endParaRPr>
                    </a:p>
                  </a:txBody>
                  <a:tcPr/>
                </a:tc>
                <a:extLst>
                  <a:ext uri="{0D108BD9-81ED-4DB2-BD59-A6C34878D82A}">
                    <a16:rowId xmlns:a16="http://schemas.microsoft.com/office/drawing/2014/main" val="272717633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C4</a:t>
                      </a:r>
                      <a:endParaRPr lang="zh-CN" altLang="en-US" dirty="0"/>
                    </a:p>
                  </a:txBody>
                  <a:tcPr/>
                </a:tc>
                <a:tc>
                  <a:txBody>
                    <a:bodyPr/>
                    <a:lstStyle/>
                    <a:p>
                      <a:pPr algn="ctr"/>
                      <a:r>
                        <a:rPr lang="zh-CN" altLang="en-US" dirty="0">
                          <a:solidFill>
                            <a:schemeClr val="bg2"/>
                          </a:solidFill>
                        </a:rPr>
                        <a:t>数据结构</a:t>
                      </a:r>
                    </a:p>
                  </a:txBody>
                  <a:tcPr/>
                </a:tc>
                <a:tc>
                  <a:txBody>
                    <a:bodyPr/>
                    <a:lstStyle/>
                    <a:p>
                      <a:pPr algn="ctr"/>
                      <a:r>
                        <a:rPr lang="en-US" altLang="zh-CN" dirty="0">
                          <a:solidFill>
                            <a:schemeClr val="bg2"/>
                          </a:solidFill>
                        </a:rPr>
                        <a:t>6</a:t>
                      </a:r>
                      <a:endParaRPr lang="zh-CN" altLang="en-US" dirty="0">
                        <a:solidFill>
                          <a:schemeClr val="bg2"/>
                        </a:solidFill>
                      </a:endParaRPr>
                    </a:p>
                  </a:txBody>
                  <a:tcPr/>
                </a:tc>
                <a:extLst>
                  <a:ext uri="{0D108BD9-81ED-4DB2-BD59-A6C34878D82A}">
                    <a16:rowId xmlns:a16="http://schemas.microsoft.com/office/drawing/2014/main" val="155209867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C1</a:t>
                      </a:r>
                    </a:p>
                  </a:txBody>
                  <a:tcPr/>
                </a:tc>
                <a:tc>
                  <a:txBody>
                    <a:bodyPr/>
                    <a:lstStyle/>
                    <a:p>
                      <a:pPr algn="ctr"/>
                      <a:r>
                        <a:rPr lang="zh-CN" altLang="en-US" dirty="0">
                          <a:solidFill>
                            <a:schemeClr val="bg2"/>
                          </a:solidFill>
                        </a:rPr>
                        <a:t>计算机原理</a:t>
                      </a:r>
                    </a:p>
                  </a:txBody>
                  <a:tcPr/>
                </a:tc>
                <a:tc>
                  <a:txBody>
                    <a:bodyPr/>
                    <a:lstStyle/>
                    <a:p>
                      <a:pPr algn="ctr"/>
                      <a:r>
                        <a:rPr lang="en-US" altLang="zh-CN" dirty="0">
                          <a:solidFill>
                            <a:schemeClr val="bg2"/>
                          </a:solidFill>
                        </a:rPr>
                        <a:t>6</a:t>
                      </a:r>
                      <a:endParaRPr lang="zh-CN" altLang="en-US" dirty="0">
                        <a:solidFill>
                          <a:schemeClr val="bg2"/>
                        </a:solidFill>
                      </a:endParaRPr>
                    </a:p>
                  </a:txBody>
                  <a:tcPr/>
                </a:tc>
                <a:extLst>
                  <a:ext uri="{0D108BD9-81ED-4DB2-BD59-A6C34878D82A}">
                    <a16:rowId xmlns:a16="http://schemas.microsoft.com/office/drawing/2014/main" val="1823029149"/>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C3</a:t>
                      </a:r>
                    </a:p>
                  </a:txBody>
                  <a:tcPr/>
                </a:tc>
                <a:tc>
                  <a:txBody>
                    <a:bodyPr/>
                    <a:lstStyle/>
                    <a:p>
                      <a:pPr algn="ctr"/>
                      <a:r>
                        <a:rPr lang="zh-CN" altLang="en-US" dirty="0">
                          <a:solidFill>
                            <a:schemeClr val="bg2"/>
                          </a:solidFill>
                        </a:rPr>
                        <a:t>高等数学</a:t>
                      </a:r>
                    </a:p>
                  </a:txBody>
                  <a:tcPr/>
                </a:tc>
                <a:tc>
                  <a:txBody>
                    <a:bodyPr/>
                    <a:lstStyle/>
                    <a:p>
                      <a:pPr algn="ctr"/>
                      <a:r>
                        <a:rPr lang="en-US" altLang="zh-CN" dirty="0">
                          <a:solidFill>
                            <a:schemeClr val="bg2"/>
                          </a:solidFill>
                        </a:rPr>
                        <a:t>8</a:t>
                      </a:r>
                      <a:endParaRPr lang="zh-CN" altLang="en-US" dirty="0">
                        <a:solidFill>
                          <a:schemeClr val="bg2"/>
                        </a:solidFill>
                      </a:endParaRPr>
                    </a:p>
                  </a:txBody>
                  <a:tcPr/>
                </a:tc>
                <a:extLst>
                  <a:ext uri="{0D108BD9-81ED-4DB2-BD59-A6C34878D82A}">
                    <a16:rowId xmlns:a16="http://schemas.microsoft.com/office/drawing/2014/main" val="15951232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C4</a:t>
                      </a:r>
                      <a:endParaRPr lang="zh-CN" altLang="en-US" dirty="0"/>
                    </a:p>
                  </a:txBody>
                  <a:tcPr/>
                </a:tc>
                <a:tc>
                  <a:txBody>
                    <a:bodyPr/>
                    <a:lstStyle/>
                    <a:p>
                      <a:pPr algn="ctr"/>
                      <a:r>
                        <a:rPr lang="zh-CN" altLang="en-US" dirty="0">
                          <a:solidFill>
                            <a:schemeClr val="bg2"/>
                          </a:solidFill>
                        </a:rPr>
                        <a:t>数据结构</a:t>
                      </a:r>
                    </a:p>
                  </a:txBody>
                  <a:tcPr/>
                </a:tc>
                <a:tc>
                  <a:txBody>
                    <a:bodyPr/>
                    <a:lstStyle/>
                    <a:p>
                      <a:pPr algn="ctr"/>
                      <a:r>
                        <a:rPr lang="en-US" altLang="zh-CN" dirty="0">
                          <a:solidFill>
                            <a:schemeClr val="bg2"/>
                          </a:solidFill>
                        </a:rPr>
                        <a:t>6</a:t>
                      </a:r>
                      <a:endParaRPr lang="zh-CN" altLang="en-US" dirty="0">
                        <a:solidFill>
                          <a:schemeClr val="bg2"/>
                        </a:solidFill>
                      </a:endParaRPr>
                    </a:p>
                  </a:txBody>
                  <a:tcPr/>
                </a:tc>
                <a:extLst>
                  <a:ext uri="{0D108BD9-81ED-4DB2-BD59-A6C34878D82A}">
                    <a16:rowId xmlns:a16="http://schemas.microsoft.com/office/drawing/2014/main" val="43559908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C1</a:t>
                      </a:r>
                    </a:p>
                  </a:txBody>
                  <a:tcPr/>
                </a:tc>
                <a:tc>
                  <a:txBody>
                    <a:bodyPr/>
                    <a:lstStyle/>
                    <a:p>
                      <a:pPr algn="ctr"/>
                      <a:r>
                        <a:rPr lang="zh-CN" altLang="en-US" dirty="0">
                          <a:solidFill>
                            <a:schemeClr val="bg2"/>
                          </a:solidFill>
                        </a:rPr>
                        <a:t>计算机原理</a:t>
                      </a:r>
                    </a:p>
                  </a:txBody>
                  <a:tcPr/>
                </a:tc>
                <a:tc>
                  <a:txBody>
                    <a:bodyPr/>
                    <a:lstStyle/>
                    <a:p>
                      <a:pPr algn="ctr"/>
                      <a:r>
                        <a:rPr lang="en-US" altLang="zh-CN" dirty="0">
                          <a:solidFill>
                            <a:schemeClr val="bg2"/>
                          </a:solidFill>
                        </a:rPr>
                        <a:t>6</a:t>
                      </a:r>
                      <a:endParaRPr lang="zh-CN" altLang="en-US" dirty="0">
                        <a:solidFill>
                          <a:schemeClr val="bg2"/>
                        </a:solidFill>
                      </a:endParaRPr>
                    </a:p>
                  </a:txBody>
                  <a:tcPr/>
                </a:tc>
                <a:extLst>
                  <a:ext uri="{0D108BD9-81ED-4DB2-BD59-A6C34878D82A}">
                    <a16:rowId xmlns:a16="http://schemas.microsoft.com/office/drawing/2014/main" val="129343994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C3</a:t>
                      </a:r>
                    </a:p>
                  </a:txBody>
                  <a:tcPr/>
                </a:tc>
                <a:tc>
                  <a:txBody>
                    <a:bodyPr/>
                    <a:lstStyle/>
                    <a:p>
                      <a:pPr algn="ctr"/>
                      <a:r>
                        <a:rPr lang="zh-CN" altLang="en-US" dirty="0">
                          <a:solidFill>
                            <a:schemeClr val="bg2"/>
                          </a:solidFill>
                        </a:rPr>
                        <a:t>高等数学</a:t>
                      </a:r>
                    </a:p>
                  </a:txBody>
                  <a:tcPr/>
                </a:tc>
                <a:tc>
                  <a:txBody>
                    <a:bodyPr/>
                    <a:lstStyle/>
                    <a:p>
                      <a:pPr algn="ctr"/>
                      <a:r>
                        <a:rPr lang="en-US" altLang="zh-CN" dirty="0">
                          <a:solidFill>
                            <a:schemeClr val="bg2"/>
                          </a:solidFill>
                        </a:rPr>
                        <a:t>8</a:t>
                      </a:r>
                      <a:endParaRPr lang="zh-CN" altLang="en-US" dirty="0">
                        <a:solidFill>
                          <a:schemeClr val="bg2"/>
                        </a:solidFill>
                      </a:endParaRPr>
                    </a:p>
                  </a:txBody>
                  <a:tcPr/>
                </a:tc>
                <a:extLst>
                  <a:ext uri="{0D108BD9-81ED-4DB2-BD59-A6C34878D82A}">
                    <a16:rowId xmlns:a16="http://schemas.microsoft.com/office/drawing/2014/main" val="1736176920"/>
                  </a:ext>
                </a:extLst>
              </a:tr>
            </a:tbl>
          </a:graphicData>
        </a:graphic>
      </p:graphicFrame>
      <p:graphicFrame>
        <p:nvGraphicFramePr>
          <p:cNvPr id="13" name="表格 2">
            <a:extLst>
              <a:ext uri="{FF2B5EF4-FFF2-40B4-BE49-F238E27FC236}">
                <a16:creationId xmlns:a16="http://schemas.microsoft.com/office/drawing/2014/main" id="{F950AA6A-44D0-854E-A2C2-EF4175AF5EC8}"/>
              </a:ext>
            </a:extLst>
          </p:cNvPr>
          <p:cNvGraphicFramePr>
            <a:graphicFrameLocks noGrp="1"/>
          </p:cNvGraphicFramePr>
          <p:nvPr>
            <p:extLst>
              <p:ext uri="{D42A27DB-BD31-4B8C-83A1-F6EECF244321}">
                <p14:modId xmlns:p14="http://schemas.microsoft.com/office/powerpoint/2010/main" val="3154220376"/>
              </p:ext>
            </p:extLst>
          </p:nvPr>
        </p:nvGraphicFramePr>
        <p:xfrm>
          <a:off x="1373005" y="2946751"/>
          <a:ext cx="2512054" cy="3708400"/>
        </p:xfrm>
        <a:graphic>
          <a:graphicData uri="http://schemas.openxmlformats.org/drawingml/2006/table">
            <a:tbl>
              <a:tblPr firstRow="1" bandRow="1">
                <a:tableStyleId>{21E4AEA4-8DFA-4A89-87EB-49C32662AFE0}</a:tableStyleId>
              </a:tblPr>
              <a:tblGrid>
                <a:gridCol w="1256027">
                  <a:extLst>
                    <a:ext uri="{9D8B030D-6E8A-4147-A177-3AD203B41FA5}">
                      <a16:colId xmlns:a16="http://schemas.microsoft.com/office/drawing/2014/main" val="3250390251"/>
                    </a:ext>
                  </a:extLst>
                </a:gridCol>
                <a:gridCol w="1256027">
                  <a:extLst>
                    <a:ext uri="{9D8B030D-6E8A-4147-A177-3AD203B41FA5}">
                      <a16:colId xmlns:a16="http://schemas.microsoft.com/office/drawing/2014/main" val="3954880262"/>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extLst>
                  <a:ext uri="{0D108BD9-81ED-4DB2-BD59-A6C34878D82A}">
                    <a16:rowId xmlns:a16="http://schemas.microsoft.com/office/drawing/2014/main" val="3713937122"/>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extLst>
                  <a:ext uri="{0D108BD9-81ED-4DB2-BD59-A6C34878D82A}">
                    <a16:rowId xmlns:a16="http://schemas.microsoft.com/office/drawing/2014/main" val="3722481310"/>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extLst>
                  <a:ext uri="{0D108BD9-81ED-4DB2-BD59-A6C34878D82A}">
                    <a16:rowId xmlns:a16="http://schemas.microsoft.com/office/drawing/2014/main" val="24342950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S3</a:t>
                      </a:r>
                      <a:endParaRPr lang="zh-CN" altLang="en-US" dirty="0"/>
                    </a:p>
                  </a:txBody>
                  <a:tcPr/>
                </a:tc>
                <a:tc>
                  <a:txBody>
                    <a:bodyPr/>
                    <a:lstStyle/>
                    <a:p>
                      <a:pPr algn="ctr"/>
                      <a:r>
                        <a:rPr lang="zh-CN" altLang="en-US" dirty="0"/>
                        <a:t>刘莎莎</a:t>
                      </a:r>
                    </a:p>
                  </a:txBody>
                  <a:tcPr/>
                </a:tc>
                <a:extLst>
                  <a:ext uri="{0D108BD9-81ED-4DB2-BD59-A6C34878D82A}">
                    <a16:rowId xmlns:a16="http://schemas.microsoft.com/office/drawing/2014/main" val="262523454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S3</a:t>
                      </a:r>
                      <a:endParaRPr lang="zh-CN" altLang="en-US" dirty="0"/>
                    </a:p>
                  </a:txBody>
                  <a:tcPr/>
                </a:tc>
                <a:tc>
                  <a:txBody>
                    <a:bodyPr/>
                    <a:lstStyle/>
                    <a:p>
                      <a:pPr algn="ctr"/>
                      <a:r>
                        <a:rPr lang="zh-CN" altLang="en-US" dirty="0"/>
                        <a:t>刘莎莎</a:t>
                      </a:r>
                    </a:p>
                  </a:txBody>
                  <a:tcPr/>
                </a:tc>
                <a:extLst>
                  <a:ext uri="{0D108BD9-81ED-4DB2-BD59-A6C34878D82A}">
                    <a16:rowId xmlns:a16="http://schemas.microsoft.com/office/drawing/2014/main" val="3815972923"/>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S3</a:t>
                      </a:r>
                      <a:endParaRPr lang="zh-CN" altLang="en-US" dirty="0"/>
                    </a:p>
                  </a:txBody>
                  <a:tcPr/>
                </a:tc>
                <a:tc>
                  <a:txBody>
                    <a:bodyPr/>
                    <a:lstStyle/>
                    <a:p>
                      <a:pPr algn="ctr"/>
                      <a:r>
                        <a:rPr lang="zh-CN" altLang="en-US" dirty="0"/>
                        <a:t>刘莎莎</a:t>
                      </a:r>
                    </a:p>
                  </a:txBody>
                  <a:tcPr/>
                </a:tc>
                <a:extLst>
                  <a:ext uri="{0D108BD9-81ED-4DB2-BD59-A6C34878D82A}">
                    <a16:rowId xmlns:a16="http://schemas.microsoft.com/office/drawing/2014/main" val="184490228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endParaRPr lang="en-US" altLang="zh-CN" dirty="0"/>
                    </a:p>
                  </a:txBody>
                  <a:tcPr/>
                </a:tc>
                <a:extLst>
                  <a:ext uri="{0D108BD9-81ED-4DB2-BD59-A6C34878D82A}">
                    <a16:rowId xmlns:a16="http://schemas.microsoft.com/office/drawing/2014/main" val="25004548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endParaRPr lang="en-US" altLang="zh-CN" dirty="0"/>
                    </a:p>
                  </a:txBody>
                  <a:tcPr/>
                </a:tc>
                <a:extLst>
                  <a:ext uri="{0D108BD9-81ED-4DB2-BD59-A6C34878D82A}">
                    <a16:rowId xmlns:a16="http://schemas.microsoft.com/office/drawing/2014/main" val="19172322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p>
                  </a:txBody>
                  <a:tcPr/>
                </a:tc>
                <a:extLst>
                  <a:ext uri="{0D108BD9-81ED-4DB2-BD59-A6C34878D82A}">
                    <a16:rowId xmlns:a16="http://schemas.microsoft.com/office/drawing/2014/main" val="4164112292"/>
                  </a:ext>
                </a:extLst>
              </a:tr>
            </a:tbl>
          </a:graphicData>
        </a:graphic>
      </p:graphicFrame>
      <p:cxnSp>
        <p:nvCxnSpPr>
          <p:cNvPr id="9" name="直线连接符 8">
            <a:extLst>
              <a:ext uri="{FF2B5EF4-FFF2-40B4-BE49-F238E27FC236}">
                <a16:creationId xmlns:a16="http://schemas.microsoft.com/office/drawing/2014/main" id="{4169355C-01AF-C54A-8CE1-6BE5E93DCDB5}"/>
              </a:ext>
            </a:extLst>
          </p:cNvPr>
          <p:cNvCxnSpPr/>
          <p:nvPr/>
        </p:nvCxnSpPr>
        <p:spPr bwMode="auto">
          <a:xfrm>
            <a:off x="3511938" y="1261758"/>
            <a:ext cx="1294065" cy="0"/>
          </a:xfrm>
          <a:prstGeom prst="line">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8" name="直线连接符 17">
            <a:extLst>
              <a:ext uri="{FF2B5EF4-FFF2-40B4-BE49-F238E27FC236}">
                <a16:creationId xmlns:a16="http://schemas.microsoft.com/office/drawing/2014/main" id="{F9013015-C404-B141-96BA-68EF1F8366B3}"/>
              </a:ext>
            </a:extLst>
          </p:cNvPr>
          <p:cNvCxnSpPr/>
          <p:nvPr/>
        </p:nvCxnSpPr>
        <p:spPr bwMode="auto">
          <a:xfrm>
            <a:off x="3511938" y="1261758"/>
            <a:ext cx="1294065" cy="388043"/>
          </a:xfrm>
          <a:prstGeom prst="line">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 name="直线连接符 18">
            <a:extLst>
              <a:ext uri="{FF2B5EF4-FFF2-40B4-BE49-F238E27FC236}">
                <a16:creationId xmlns:a16="http://schemas.microsoft.com/office/drawing/2014/main" id="{563C7D20-D7EC-7B40-B250-394626746F50}"/>
              </a:ext>
            </a:extLst>
          </p:cNvPr>
          <p:cNvCxnSpPr/>
          <p:nvPr/>
        </p:nvCxnSpPr>
        <p:spPr bwMode="auto">
          <a:xfrm>
            <a:off x="3511938" y="1261758"/>
            <a:ext cx="1294065" cy="848805"/>
          </a:xfrm>
          <a:prstGeom prst="line">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25" name="矩形 24">
            <a:extLst>
              <a:ext uri="{FF2B5EF4-FFF2-40B4-BE49-F238E27FC236}">
                <a16:creationId xmlns:a16="http://schemas.microsoft.com/office/drawing/2014/main" id="{562C885D-4B2A-EC41-AB33-732A04998717}"/>
              </a:ext>
            </a:extLst>
          </p:cNvPr>
          <p:cNvSpPr/>
          <p:nvPr/>
        </p:nvSpPr>
        <p:spPr bwMode="auto">
          <a:xfrm>
            <a:off x="1373005" y="3284984"/>
            <a:ext cx="5805856" cy="1080000"/>
          </a:xfrm>
          <a:prstGeom prst="rect">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cxnSp>
        <p:nvCxnSpPr>
          <p:cNvPr id="26" name="直线连接符 25">
            <a:extLst>
              <a:ext uri="{FF2B5EF4-FFF2-40B4-BE49-F238E27FC236}">
                <a16:creationId xmlns:a16="http://schemas.microsoft.com/office/drawing/2014/main" id="{220C38E7-D5D7-4347-BD06-F1F6404F624C}"/>
              </a:ext>
            </a:extLst>
          </p:cNvPr>
          <p:cNvCxnSpPr/>
          <p:nvPr/>
        </p:nvCxnSpPr>
        <p:spPr bwMode="auto">
          <a:xfrm flipV="1">
            <a:off x="3511938" y="1272549"/>
            <a:ext cx="1294065" cy="358465"/>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7" name="直线连接符 26">
            <a:extLst>
              <a:ext uri="{FF2B5EF4-FFF2-40B4-BE49-F238E27FC236}">
                <a16:creationId xmlns:a16="http://schemas.microsoft.com/office/drawing/2014/main" id="{8B3F7969-A7A1-DF4F-A021-9EED2B079D05}"/>
              </a:ext>
            </a:extLst>
          </p:cNvPr>
          <p:cNvCxnSpPr/>
          <p:nvPr/>
        </p:nvCxnSpPr>
        <p:spPr bwMode="auto">
          <a:xfrm>
            <a:off x="3511938" y="1631014"/>
            <a:ext cx="1294065" cy="17366"/>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8" name="直线连接符 27">
            <a:extLst>
              <a:ext uri="{FF2B5EF4-FFF2-40B4-BE49-F238E27FC236}">
                <a16:creationId xmlns:a16="http://schemas.microsoft.com/office/drawing/2014/main" id="{57EFA448-54BB-1643-8A06-0FBBA0F6A3EA}"/>
              </a:ext>
            </a:extLst>
          </p:cNvPr>
          <p:cNvCxnSpPr/>
          <p:nvPr/>
        </p:nvCxnSpPr>
        <p:spPr bwMode="auto">
          <a:xfrm>
            <a:off x="3511938" y="1631014"/>
            <a:ext cx="1294065" cy="479549"/>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38" name="矩形 37">
            <a:extLst>
              <a:ext uri="{FF2B5EF4-FFF2-40B4-BE49-F238E27FC236}">
                <a16:creationId xmlns:a16="http://schemas.microsoft.com/office/drawing/2014/main" id="{FCF27F96-3148-984D-8D84-43D8537713A9}"/>
              </a:ext>
            </a:extLst>
          </p:cNvPr>
          <p:cNvSpPr/>
          <p:nvPr/>
        </p:nvSpPr>
        <p:spPr bwMode="auto">
          <a:xfrm>
            <a:off x="1373005" y="4395176"/>
            <a:ext cx="5805856" cy="1080000"/>
          </a:xfrm>
          <a:prstGeom prst="rect">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cxnSp>
        <p:nvCxnSpPr>
          <p:cNvPr id="39" name="直线连接符 38">
            <a:extLst>
              <a:ext uri="{FF2B5EF4-FFF2-40B4-BE49-F238E27FC236}">
                <a16:creationId xmlns:a16="http://schemas.microsoft.com/office/drawing/2014/main" id="{BBF0C864-8825-8D46-BB87-7BAB84007E01}"/>
              </a:ext>
            </a:extLst>
          </p:cNvPr>
          <p:cNvCxnSpPr/>
          <p:nvPr/>
        </p:nvCxnSpPr>
        <p:spPr bwMode="auto">
          <a:xfrm flipV="1">
            <a:off x="3512976" y="1291951"/>
            <a:ext cx="1293027" cy="697503"/>
          </a:xfrm>
          <a:prstGeom prst="line">
            <a:avLst/>
          </a:prstGeom>
          <a:noFill/>
          <a:ln w="19050" cap="flat" cmpd="sng" algn="ctr">
            <a:solidFill>
              <a:srgbClr val="FFFF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0" name="直线连接符 39">
            <a:extLst>
              <a:ext uri="{FF2B5EF4-FFF2-40B4-BE49-F238E27FC236}">
                <a16:creationId xmlns:a16="http://schemas.microsoft.com/office/drawing/2014/main" id="{12EF41AF-C495-0B45-AB70-14C74B811A21}"/>
              </a:ext>
            </a:extLst>
          </p:cNvPr>
          <p:cNvCxnSpPr/>
          <p:nvPr/>
        </p:nvCxnSpPr>
        <p:spPr bwMode="auto">
          <a:xfrm flipV="1">
            <a:off x="3512976" y="1679993"/>
            <a:ext cx="1293027" cy="309461"/>
          </a:xfrm>
          <a:prstGeom prst="line">
            <a:avLst/>
          </a:prstGeom>
          <a:noFill/>
          <a:ln w="19050" cap="flat" cmpd="sng" algn="ctr">
            <a:solidFill>
              <a:srgbClr val="FFFF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1" name="直线连接符 40">
            <a:extLst>
              <a:ext uri="{FF2B5EF4-FFF2-40B4-BE49-F238E27FC236}">
                <a16:creationId xmlns:a16="http://schemas.microsoft.com/office/drawing/2014/main" id="{E791746C-F338-284A-8B10-453046C176B1}"/>
              </a:ext>
            </a:extLst>
          </p:cNvPr>
          <p:cNvCxnSpPr/>
          <p:nvPr/>
        </p:nvCxnSpPr>
        <p:spPr bwMode="auto">
          <a:xfrm>
            <a:off x="3512976" y="1989454"/>
            <a:ext cx="1293027" cy="130649"/>
          </a:xfrm>
          <a:prstGeom prst="line">
            <a:avLst/>
          </a:prstGeom>
          <a:noFill/>
          <a:ln w="19050" cap="flat" cmpd="sng" algn="ctr">
            <a:solidFill>
              <a:srgbClr val="FFFF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1" name="矩形 50">
            <a:extLst>
              <a:ext uri="{FF2B5EF4-FFF2-40B4-BE49-F238E27FC236}">
                <a16:creationId xmlns:a16="http://schemas.microsoft.com/office/drawing/2014/main" id="{DE65241D-2042-CA49-AE5E-84AE6DF416DF}"/>
              </a:ext>
            </a:extLst>
          </p:cNvPr>
          <p:cNvSpPr/>
          <p:nvPr/>
        </p:nvSpPr>
        <p:spPr bwMode="auto">
          <a:xfrm>
            <a:off x="1358432" y="5517232"/>
            <a:ext cx="5805856" cy="1080000"/>
          </a:xfrm>
          <a:prstGeom prst="rect">
            <a:avLst/>
          </a:prstGeom>
          <a:noFill/>
          <a:ln w="19050" cap="flat" cmpd="sng" algn="ctr">
            <a:solidFill>
              <a:srgbClr val="FFFF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cxnSp>
        <p:nvCxnSpPr>
          <p:cNvPr id="53" name="直线箭头连接符 52">
            <a:extLst>
              <a:ext uri="{FF2B5EF4-FFF2-40B4-BE49-F238E27FC236}">
                <a16:creationId xmlns:a16="http://schemas.microsoft.com/office/drawing/2014/main" id="{E1D4C84F-FA7E-544E-938B-CD125209C487}"/>
              </a:ext>
            </a:extLst>
          </p:cNvPr>
          <p:cNvCxnSpPr>
            <a:cxnSpLocks/>
          </p:cNvCxnSpPr>
          <p:nvPr/>
        </p:nvCxnSpPr>
        <p:spPr bwMode="auto">
          <a:xfrm>
            <a:off x="1822518" y="2249902"/>
            <a:ext cx="2437473" cy="659121"/>
          </a:xfrm>
          <a:prstGeom prst="straightConnector1">
            <a:avLst/>
          </a:prstGeom>
          <a:noFill/>
          <a:ln w="38100" cap="flat" cmpd="sng" algn="ctr">
            <a:solidFill>
              <a:srgbClr val="FF0066"/>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54" name="直线箭头连接符 53">
            <a:extLst>
              <a:ext uri="{FF2B5EF4-FFF2-40B4-BE49-F238E27FC236}">
                <a16:creationId xmlns:a16="http://schemas.microsoft.com/office/drawing/2014/main" id="{286BB4A9-698E-6344-BDD2-477308066343}"/>
              </a:ext>
            </a:extLst>
          </p:cNvPr>
          <p:cNvCxnSpPr/>
          <p:nvPr/>
        </p:nvCxnSpPr>
        <p:spPr bwMode="auto">
          <a:xfrm flipH="1">
            <a:off x="4422190" y="2313155"/>
            <a:ext cx="2419747" cy="595868"/>
          </a:xfrm>
          <a:prstGeom prst="straightConnector1">
            <a:avLst/>
          </a:prstGeom>
          <a:noFill/>
          <a:ln w="38100" cap="flat" cmpd="sng" algn="ctr">
            <a:solidFill>
              <a:srgbClr val="FF0066"/>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55" name="文本框 54">
            <a:extLst>
              <a:ext uri="{FF2B5EF4-FFF2-40B4-BE49-F238E27FC236}">
                <a16:creationId xmlns:a16="http://schemas.microsoft.com/office/drawing/2014/main" id="{E6634C61-E1B2-AE47-9B19-900C902ADF6A}"/>
              </a:ext>
            </a:extLst>
          </p:cNvPr>
          <p:cNvSpPr txBox="1"/>
          <p:nvPr/>
        </p:nvSpPr>
        <p:spPr>
          <a:xfrm>
            <a:off x="3325429" y="2332959"/>
            <a:ext cx="2031325" cy="313932"/>
          </a:xfrm>
          <a:prstGeom prst="rect">
            <a:avLst/>
          </a:prstGeom>
          <a:noFill/>
        </p:spPr>
        <p:txBody>
          <a:bodyPr wrap="none" rtlCol="0">
            <a:spAutoFit/>
          </a:bodyPr>
          <a:lstStyle/>
          <a:p>
            <a:r>
              <a:rPr lang="zh-CN" altLang="en-US" dirty="0">
                <a:solidFill>
                  <a:srgbClr val="FF0000"/>
                </a:solidFill>
              </a:rPr>
              <a:t>笛卡尔积</a:t>
            </a:r>
            <a:r>
              <a:rPr kumimoji="1" lang="zh-CN" altLang="en-US" dirty="0">
                <a:solidFill>
                  <a:srgbClr val="FF0000"/>
                </a:solidFill>
              </a:rPr>
              <a:t>运算结果</a:t>
            </a:r>
          </a:p>
        </p:txBody>
      </p:sp>
    </p:spTree>
    <p:extLst>
      <p:ext uri="{BB962C8B-B14F-4D97-AF65-F5344CB8AC3E}">
        <p14:creationId xmlns:p14="http://schemas.microsoft.com/office/powerpoint/2010/main" val="475008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7"/>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8"/>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4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5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 grpId="0" animBg="1"/>
      <p:bldP spid="38" grpId="0" animBg="1"/>
      <p:bldP spid="51"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2114" name="Rectangle 2"/>
          <p:cNvSpPr>
            <a:spLocks noChangeArrowheads="1"/>
          </p:cNvSpPr>
          <p:nvPr/>
        </p:nvSpPr>
        <p:spPr bwMode="auto">
          <a:xfrm>
            <a:off x="0" y="44450"/>
            <a:ext cx="9144000" cy="2568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60000"/>
              </a:lnSpc>
            </a:pPr>
            <a:r>
              <a:rPr lang="en-US" altLang="zh-CN" sz="2400" b="1" dirty="0">
                <a:solidFill>
                  <a:srgbClr val="660033"/>
                </a:solidFill>
              </a:rPr>
              <a:t>  </a:t>
            </a:r>
            <a:r>
              <a:rPr lang="en-US" altLang="zh-CN" sz="2800" b="1" dirty="0">
                <a:solidFill>
                  <a:srgbClr val="660033"/>
                </a:solidFill>
              </a:rPr>
              <a:t>4. </a:t>
            </a:r>
            <a:r>
              <a:rPr lang="zh-CN" altLang="en-US" sz="2800" b="1" dirty="0">
                <a:solidFill>
                  <a:srgbClr val="660033"/>
                </a:solidFill>
              </a:rPr>
              <a:t>投影（</a:t>
            </a:r>
            <a:r>
              <a:rPr lang="en-US" altLang="zh-CN" sz="2800" b="1" dirty="0">
                <a:solidFill>
                  <a:srgbClr val="660033"/>
                </a:solidFill>
              </a:rPr>
              <a:t>projection</a:t>
            </a:r>
            <a:r>
              <a:rPr lang="zh-CN" altLang="en-US" sz="2800" b="1" dirty="0">
                <a:solidFill>
                  <a:srgbClr val="660033"/>
                </a:solidFill>
              </a:rPr>
              <a:t>）：</a:t>
            </a:r>
          </a:p>
          <a:p>
            <a:pPr eaLnBrk="0" hangingPunct="0">
              <a:lnSpc>
                <a:spcPct val="160000"/>
              </a:lnSpc>
            </a:pPr>
            <a:r>
              <a:rPr lang="zh-CN" altLang="en-US" sz="2800" b="1" dirty="0">
                <a:solidFill>
                  <a:schemeClr val="bg2"/>
                </a:solidFill>
              </a:rPr>
              <a:t>        </a:t>
            </a:r>
            <a:r>
              <a:rPr lang="zh-CN" altLang="en-US" sz="2800" b="1" dirty="0">
                <a:solidFill>
                  <a:schemeClr val="bg1"/>
                </a:solidFill>
              </a:rPr>
              <a:t>对一个关系进行垂直分割</a:t>
            </a:r>
            <a:r>
              <a:rPr lang="en-US" altLang="zh-CN" sz="2800" b="1" dirty="0">
                <a:solidFill>
                  <a:schemeClr val="bg1"/>
                </a:solidFill>
              </a:rPr>
              <a:t>,</a:t>
            </a:r>
            <a:r>
              <a:rPr lang="zh-CN" altLang="en-US" sz="2800" b="1" dirty="0">
                <a:solidFill>
                  <a:schemeClr val="bg1"/>
                </a:solidFill>
              </a:rPr>
              <a:t>消去某些列，</a:t>
            </a:r>
          </a:p>
          <a:p>
            <a:pPr eaLnBrk="0" hangingPunct="0">
              <a:lnSpc>
                <a:spcPct val="160000"/>
              </a:lnSpc>
            </a:pPr>
            <a:r>
              <a:rPr lang="zh-CN" altLang="en-US" sz="2800" b="1" dirty="0">
                <a:solidFill>
                  <a:schemeClr val="bg1"/>
                </a:solidFill>
              </a:rPr>
              <a:t>    并</a:t>
            </a:r>
            <a:r>
              <a:rPr lang="zh-CN" altLang="en-US" sz="2800" b="1" dirty="0">
                <a:solidFill>
                  <a:srgbClr val="FF0000"/>
                </a:solidFill>
              </a:rPr>
              <a:t>重</a:t>
            </a:r>
            <a:r>
              <a:rPr lang="zh-CN" altLang="en-US" sz="2800" b="1" dirty="0">
                <a:solidFill>
                  <a:schemeClr val="bg1"/>
                </a:solidFill>
              </a:rPr>
              <a:t>新安</a:t>
            </a:r>
            <a:r>
              <a:rPr lang="zh-CN" altLang="en-US" sz="2800" b="1" dirty="0">
                <a:solidFill>
                  <a:srgbClr val="FF0000"/>
                </a:solidFill>
              </a:rPr>
              <a:t>排</a:t>
            </a:r>
            <a:r>
              <a:rPr lang="zh-CN" altLang="en-US" sz="2800" b="1" dirty="0">
                <a:solidFill>
                  <a:schemeClr val="bg1"/>
                </a:solidFill>
              </a:rPr>
              <a:t>列的顺</a:t>
            </a:r>
            <a:r>
              <a:rPr lang="zh-CN" altLang="en-US" sz="2800" b="1" dirty="0">
                <a:solidFill>
                  <a:srgbClr val="FF0000"/>
                </a:solidFill>
              </a:rPr>
              <a:t>序</a:t>
            </a:r>
            <a:r>
              <a:rPr lang="en-US" altLang="zh-CN" sz="2800" b="1" dirty="0">
                <a:solidFill>
                  <a:schemeClr val="bg1"/>
                </a:solidFill>
              </a:rPr>
              <a:t>,</a:t>
            </a:r>
            <a:r>
              <a:rPr lang="zh-CN" altLang="en-US" sz="2800" b="1" dirty="0">
                <a:solidFill>
                  <a:schemeClr val="bg1"/>
                </a:solidFill>
              </a:rPr>
              <a:t>再</a:t>
            </a:r>
            <a:r>
              <a:rPr lang="zh-CN" altLang="en-US" sz="2800" b="1" dirty="0">
                <a:solidFill>
                  <a:srgbClr val="FF0000"/>
                </a:solidFill>
              </a:rPr>
              <a:t>删</a:t>
            </a:r>
            <a:r>
              <a:rPr lang="zh-CN" altLang="en-US" sz="2800" b="1" dirty="0">
                <a:solidFill>
                  <a:schemeClr val="bg1"/>
                </a:solidFill>
              </a:rPr>
              <a:t>去</a:t>
            </a:r>
            <a:r>
              <a:rPr lang="zh-CN" altLang="en-US" sz="2800" b="1" dirty="0">
                <a:solidFill>
                  <a:srgbClr val="FF0000"/>
                </a:solidFill>
              </a:rPr>
              <a:t>重</a:t>
            </a:r>
            <a:r>
              <a:rPr lang="zh-CN" altLang="en-US" sz="2800" b="1" dirty="0">
                <a:solidFill>
                  <a:schemeClr val="bg1"/>
                </a:solidFill>
              </a:rPr>
              <a:t>复元组。</a:t>
            </a:r>
          </a:p>
        </p:txBody>
      </p:sp>
      <p:sp>
        <p:nvSpPr>
          <p:cNvPr id="602115" name="Rectangle 3"/>
          <p:cNvSpPr>
            <a:spLocks noChangeArrowheads="1"/>
          </p:cNvSpPr>
          <p:nvPr/>
        </p:nvSpPr>
        <p:spPr bwMode="auto">
          <a:xfrm>
            <a:off x="0" y="4868863"/>
            <a:ext cx="9180513" cy="9461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pPr>
            <a:r>
              <a:rPr lang="en-US" altLang="zh-CN" sz="2800" b="1" dirty="0">
                <a:solidFill>
                  <a:srgbClr val="660033"/>
                </a:solidFill>
              </a:rPr>
              <a:t>π</a:t>
            </a:r>
            <a:r>
              <a:rPr lang="en-US" altLang="zh-CN" sz="2800" b="1" baseline="-25000" dirty="0">
                <a:solidFill>
                  <a:srgbClr val="660033"/>
                </a:solidFill>
              </a:rPr>
              <a:t>i1,…,</a:t>
            </a:r>
            <a:r>
              <a:rPr lang="en-US" altLang="zh-CN" sz="2800" b="1" baseline="-25000" dirty="0" err="1">
                <a:solidFill>
                  <a:srgbClr val="660033"/>
                </a:solidFill>
              </a:rPr>
              <a:t>im</a:t>
            </a:r>
            <a:r>
              <a:rPr lang="en-US" altLang="zh-CN" sz="2800" b="1" dirty="0">
                <a:solidFill>
                  <a:srgbClr val="660033"/>
                </a:solidFill>
              </a:rPr>
              <a:t>(R)≡{</a:t>
            </a:r>
            <a:r>
              <a:rPr lang="en-US" altLang="zh-CN" sz="2800" b="1" dirty="0" err="1">
                <a:solidFill>
                  <a:srgbClr val="660033"/>
                </a:solidFill>
              </a:rPr>
              <a:t>t|t</a:t>
            </a:r>
            <a:r>
              <a:rPr lang="en-US" altLang="zh-CN" sz="2800" b="1" dirty="0">
                <a:solidFill>
                  <a:srgbClr val="660033"/>
                </a:solidFill>
              </a:rPr>
              <a:t>=&lt;t</a:t>
            </a:r>
            <a:r>
              <a:rPr lang="en-US" altLang="zh-CN" sz="2800" b="1" baseline="-25000" dirty="0">
                <a:solidFill>
                  <a:srgbClr val="660033"/>
                </a:solidFill>
              </a:rPr>
              <a:t>i1</a:t>
            </a:r>
            <a:r>
              <a:rPr lang="en-US" altLang="zh-CN" sz="2800" b="1" dirty="0">
                <a:solidFill>
                  <a:srgbClr val="660033"/>
                </a:solidFill>
              </a:rPr>
              <a:t>,</a:t>
            </a:r>
            <a:r>
              <a:rPr lang="en-US" altLang="zh-CN" sz="2800" b="1" dirty="0">
                <a:solidFill>
                  <a:srgbClr val="660033"/>
                </a:solidFill>
                <a:latin typeface="Times New Roman"/>
              </a:rPr>
              <a:t>…</a:t>
            </a:r>
            <a:r>
              <a:rPr lang="en-US" altLang="zh-CN" sz="2800" b="1" dirty="0">
                <a:solidFill>
                  <a:srgbClr val="660033"/>
                </a:solidFill>
              </a:rPr>
              <a:t>,</a:t>
            </a:r>
            <a:r>
              <a:rPr lang="en-US" altLang="zh-CN" sz="2800" b="1" dirty="0" err="1">
                <a:solidFill>
                  <a:srgbClr val="660033"/>
                </a:solidFill>
              </a:rPr>
              <a:t>t</a:t>
            </a:r>
            <a:r>
              <a:rPr lang="en-US" altLang="zh-CN" sz="2800" b="1" baseline="-25000" dirty="0" err="1">
                <a:solidFill>
                  <a:srgbClr val="660033"/>
                </a:solidFill>
              </a:rPr>
              <a:t>im</a:t>
            </a:r>
            <a:r>
              <a:rPr lang="en-US" altLang="zh-CN" sz="2800" b="1" dirty="0">
                <a:solidFill>
                  <a:srgbClr val="660033"/>
                </a:solidFill>
              </a:rPr>
              <a:t> &gt;∧&lt;t</a:t>
            </a:r>
            <a:r>
              <a:rPr lang="en-US" altLang="zh-CN" sz="2800" b="1" baseline="-25000" dirty="0">
                <a:solidFill>
                  <a:srgbClr val="660033"/>
                </a:solidFill>
              </a:rPr>
              <a:t>1</a:t>
            </a:r>
            <a:r>
              <a:rPr lang="en-US" altLang="zh-CN" sz="2800" b="1" dirty="0">
                <a:solidFill>
                  <a:srgbClr val="660033"/>
                </a:solidFill>
              </a:rPr>
              <a:t>,</a:t>
            </a:r>
            <a:r>
              <a:rPr lang="en-US" altLang="zh-CN" sz="2800" b="1" dirty="0">
                <a:solidFill>
                  <a:srgbClr val="660033"/>
                </a:solidFill>
                <a:latin typeface="Times New Roman"/>
              </a:rPr>
              <a:t>…</a:t>
            </a:r>
            <a:r>
              <a:rPr lang="en-US" altLang="zh-CN" sz="2800" b="1" dirty="0">
                <a:solidFill>
                  <a:srgbClr val="660033"/>
                </a:solidFill>
              </a:rPr>
              <a:t>,t</a:t>
            </a:r>
            <a:r>
              <a:rPr lang="en-US" altLang="zh-CN" sz="2800" b="1" baseline="-25000" dirty="0">
                <a:solidFill>
                  <a:srgbClr val="660033"/>
                </a:solidFill>
              </a:rPr>
              <a:t>m</a:t>
            </a:r>
            <a:r>
              <a:rPr lang="en-US" altLang="zh-CN" sz="2800" b="1" dirty="0">
                <a:solidFill>
                  <a:srgbClr val="660033"/>
                </a:solidFill>
              </a:rPr>
              <a:t>&gt;∈R</a:t>
            </a:r>
            <a:r>
              <a:rPr lang="en-US" altLang="zh-CN" sz="2400" b="1" dirty="0">
                <a:solidFill>
                  <a:srgbClr val="660033"/>
                </a:solidFill>
                <a:sym typeface="Symbol" pitchFamily="18" charset="2"/>
              </a:rPr>
              <a:t>,1mk</a:t>
            </a:r>
            <a:r>
              <a:rPr lang="en-US" altLang="zh-CN" sz="2400" b="1" dirty="0">
                <a:solidFill>
                  <a:srgbClr val="660033"/>
                </a:solidFill>
              </a:rPr>
              <a:t>}</a:t>
            </a:r>
          </a:p>
        </p:txBody>
      </p:sp>
      <p:sp>
        <p:nvSpPr>
          <p:cNvPr id="602116" name="Rectangle 4"/>
          <p:cNvSpPr>
            <a:spLocks noChangeArrowheads="1"/>
          </p:cNvSpPr>
          <p:nvPr/>
        </p:nvSpPr>
        <p:spPr bwMode="auto">
          <a:xfrm>
            <a:off x="250825" y="2636838"/>
            <a:ext cx="8713788" cy="22828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pPr>
            <a:r>
              <a:rPr lang="zh-CN" altLang="en-US" sz="2400" b="1" dirty="0">
                <a:solidFill>
                  <a:schemeClr val="bg2"/>
                </a:solidFill>
              </a:rPr>
              <a:t>设关系</a:t>
            </a:r>
            <a:r>
              <a:rPr lang="en-US" altLang="zh-CN" sz="2400" b="1" dirty="0">
                <a:solidFill>
                  <a:schemeClr val="bg2"/>
                </a:solidFill>
              </a:rPr>
              <a:t>R</a:t>
            </a:r>
            <a:r>
              <a:rPr lang="zh-CN" altLang="en-US" sz="2400" b="1" dirty="0">
                <a:solidFill>
                  <a:schemeClr val="bg2"/>
                </a:solidFill>
              </a:rPr>
              <a:t>是</a:t>
            </a:r>
            <a:r>
              <a:rPr lang="en-US" altLang="zh-CN" sz="2400" b="1" dirty="0">
                <a:solidFill>
                  <a:schemeClr val="bg2"/>
                </a:solidFill>
              </a:rPr>
              <a:t>k</a:t>
            </a:r>
            <a:r>
              <a:rPr lang="zh-CN" altLang="en-US" sz="2400" b="1" dirty="0">
                <a:solidFill>
                  <a:schemeClr val="bg2"/>
                </a:solidFill>
              </a:rPr>
              <a:t>元关系，</a:t>
            </a:r>
            <a:r>
              <a:rPr lang="en-US" altLang="zh-CN" sz="2400" b="1" dirty="0">
                <a:solidFill>
                  <a:schemeClr val="bg2"/>
                </a:solidFill>
              </a:rPr>
              <a:t>R</a:t>
            </a:r>
            <a:r>
              <a:rPr lang="zh-CN" altLang="en-US" sz="2400" b="1" dirty="0">
                <a:solidFill>
                  <a:schemeClr val="bg2"/>
                </a:solidFill>
              </a:rPr>
              <a:t>在其分量</a:t>
            </a:r>
            <a:r>
              <a:rPr lang="en-US" altLang="zh-CN" sz="2400" b="1" dirty="0">
                <a:solidFill>
                  <a:schemeClr val="bg2"/>
                </a:solidFill>
              </a:rPr>
              <a:t>A</a:t>
            </a:r>
            <a:r>
              <a:rPr lang="en-US" altLang="zh-CN" sz="2400" b="1" baseline="-25000" dirty="0">
                <a:solidFill>
                  <a:schemeClr val="bg2"/>
                </a:solidFill>
              </a:rPr>
              <a:t>i1</a:t>
            </a:r>
            <a:r>
              <a:rPr lang="en-US" altLang="zh-CN" sz="2400" b="1" dirty="0">
                <a:solidFill>
                  <a:schemeClr val="bg2"/>
                </a:solidFill>
              </a:rPr>
              <a:t>,</a:t>
            </a:r>
            <a:r>
              <a:rPr lang="en-US" altLang="zh-CN" sz="2400" b="1" dirty="0">
                <a:solidFill>
                  <a:schemeClr val="bg2"/>
                </a:solidFill>
                <a:latin typeface="Times New Roman"/>
              </a:rPr>
              <a:t>…</a:t>
            </a:r>
            <a:r>
              <a:rPr lang="en-US" altLang="zh-CN" sz="2400" b="1" dirty="0">
                <a:solidFill>
                  <a:schemeClr val="bg2"/>
                </a:solidFill>
              </a:rPr>
              <a:t>,A</a:t>
            </a:r>
            <a:r>
              <a:rPr lang="en-US" altLang="zh-CN" sz="2400" b="1" baseline="-25000" dirty="0">
                <a:solidFill>
                  <a:schemeClr val="bg2"/>
                </a:solidFill>
              </a:rPr>
              <a:t>im</a:t>
            </a:r>
            <a:r>
              <a:rPr lang="en-US" altLang="zh-CN" sz="2400" b="1" dirty="0">
                <a:solidFill>
                  <a:schemeClr val="bg2"/>
                </a:solidFill>
              </a:rPr>
              <a:t>(</a:t>
            </a:r>
            <a:r>
              <a:rPr lang="en-US" altLang="zh-CN" sz="2400" b="1" dirty="0" err="1">
                <a:solidFill>
                  <a:schemeClr val="bg2"/>
                </a:solidFill>
              </a:rPr>
              <a:t>m≤k</a:t>
            </a:r>
            <a:r>
              <a:rPr lang="en-US" altLang="zh-CN" sz="2400" b="1" dirty="0">
                <a:solidFill>
                  <a:schemeClr val="bg2"/>
                </a:solidFill>
              </a:rPr>
              <a:t>,</a:t>
            </a:r>
            <a:r>
              <a:rPr lang="en-US" altLang="zh-CN" sz="2400" b="1" dirty="0">
                <a:solidFill>
                  <a:schemeClr val="bg2"/>
                </a:solidFill>
                <a:latin typeface="Times New Roman"/>
              </a:rPr>
              <a:t>…</a:t>
            </a:r>
            <a:r>
              <a:rPr lang="en-US" altLang="zh-CN" sz="2400" b="1" dirty="0">
                <a:solidFill>
                  <a:schemeClr val="bg2"/>
                </a:solidFill>
              </a:rPr>
              <a:t>,i1,</a:t>
            </a:r>
            <a:r>
              <a:rPr lang="en-US" altLang="zh-CN" sz="2400" b="1" dirty="0">
                <a:solidFill>
                  <a:schemeClr val="bg2"/>
                </a:solidFill>
                <a:latin typeface="Times New Roman"/>
              </a:rPr>
              <a:t>…</a:t>
            </a:r>
            <a:r>
              <a:rPr lang="en-US" altLang="zh-CN" sz="2400" b="1" dirty="0">
                <a:solidFill>
                  <a:schemeClr val="bg2"/>
                </a:solidFill>
              </a:rPr>
              <a:t>,</a:t>
            </a:r>
            <a:r>
              <a:rPr lang="en-US" altLang="zh-CN" sz="2400" b="1" dirty="0" err="1">
                <a:solidFill>
                  <a:schemeClr val="bg2"/>
                </a:solidFill>
              </a:rPr>
              <a:t>im</a:t>
            </a:r>
            <a:r>
              <a:rPr lang="zh-CN" altLang="en-US" sz="2400" b="1" dirty="0">
                <a:solidFill>
                  <a:schemeClr val="bg2"/>
                </a:solidFill>
              </a:rPr>
              <a:t>为</a:t>
            </a:r>
            <a:r>
              <a:rPr lang="en-US" altLang="zh-CN" sz="2400" b="1" dirty="0">
                <a:solidFill>
                  <a:schemeClr val="bg2"/>
                </a:solidFill>
              </a:rPr>
              <a:t>1</a:t>
            </a:r>
            <a:r>
              <a:rPr lang="zh-CN" altLang="en-US" sz="2400" b="1" dirty="0">
                <a:solidFill>
                  <a:schemeClr val="bg2"/>
                </a:solidFill>
              </a:rPr>
              <a:t>到</a:t>
            </a:r>
            <a:r>
              <a:rPr lang="en-US" altLang="zh-CN" sz="2400" b="1" dirty="0">
                <a:solidFill>
                  <a:schemeClr val="bg2"/>
                </a:solidFill>
              </a:rPr>
              <a:t>k</a:t>
            </a:r>
            <a:r>
              <a:rPr lang="zh-CN" altLang="en-US" sz="2400" b="1" dirty="0">
                <a:solidFill>
                  <a:schemeClr val="bg2"/>
                </a:solidFill>
              </a:rPr>
              <a:t>之间的整数</a:t>
            </a:r>
            <a:r>
              <a:rPr lang="en-US" altLang="zh-CN" sz="2400" b="1" dirty="0">
                <a:solidFill>
                  <a:schemeClr val="bg2"/>
                </a:solidFill>
              </a:rPr>
              <a:t>)</a:t>
            </a:r>
            <a:r>
              <a:rPr lang="zh-CN" altLang="en-US" sz="2400" b="1" dirty="0">
                <a:solidFill>
                  <a:schemeClr val="bg2"/>
                </a:solidFill>
              </a:rPr>
              <a:t>上的投影用</a:t>
            </a:r>
            <a:r>
              <a:rPr lang="en-US" altLang="zh-CN" sz="2400" b="1" dirty="0">
                <a:solidFill>
                  <a:schemeClr val="bg2"/>
                </a:solidFill>
              </a:rPr>
              <a:t>π</a:t>
            </a:r>
            <a:r>
              <a:rPr lang="en-US" altLang="zh-CN" sz="2400" b="1" baseline="-25000" dirty="0">
                <a:solidFill>
                  <a:schemeClr val="bg2"/>
                </a:solidFill>
              </a:rPr>
              <a:t>i1</a:t>
            </a:r>
            <a:r>
              <a:rPr lang="en-US" altLang="zh-CN" sz="2400" b="1" dirty="0">
                <a:solidFill>
                  <a:schemeClr val="bg2"/>
                </a:solidFill>
              </a:rPr>
              <a:t>,</a:t>
            </a:r>
            <a:r>
              <a:rPr lang="en-US" altLang="zh-CN" sz="2400" b="1" dirty="0">
                <a:solidFill>
                  <a:schemeClr val="bg2"/>
                </a:solidFill>
                <a:latin typeface="Times New Roman"/>
              </a:rPr>
              <a:t>…</a:t>
            </a:r>
            <a:r>
              <a:rPr lang="en-US" altLang="zh-CN" sz="2400" b="1" dirty="0">
                <a:solidFill>
                  <a:schemeClr val="bg2"/>
                </a:solidFill>
              </a:rPr>
              <a:t>,</a:t>
            </a:r>
            <a:r>
              <a:rPr lang="en-US" altLang="zh-CN" sz="2400" b="1" baseline="-25000" dirty="0" err="1">
                <a:solidFill>
                  <a:schemeClr val="bg2"/>
                </a:solidFill>
              </a:rPr>
              <a:t>im</a:t>
            </a:r>
            <a:r>
              <a:rPr lang="zh-CN" altLang="en-US" sz="2400" b="1" dirty="0">
                <a:solidFill>
                  <a:schemeClr val="bg2"/>
                </a:solidFill>
              </a:rPr>
              <a:t>（</a:t>
            </a:r>
            <a:r>
              <a:rPr lang="en-US" altLang="zh-CN" sz="2400" b="1" dirty="0">
                <a:solidFill>
                  <a:schemeClr val="bg2"/>
                </a:solidFill>
              </a:rPr>
              <a:t>R</a:t>
            </a:r>
            <a:r>
              <a:rPr lang="zh-CN" altLang="en-US" sz="2400" b="1" dirty="0">
                <a:solidFill>
                  <a:schemeClr val="bg2"/>
                </a:solidFill>
              </a:rPr>
              <a:t>）表示，它是从</a:t>
            </a:r>
            <a:r>
              <a:rPr lang="en-US" altLang="zh-CN" sz="2400" b="1" dirty="0">
                <a:solidFill>
                  <a:schemeClr val="bg2"/>
                </a:solidFill>
              </a:rPr>
              <a:t>R</a:t>
            </a:r>
            <a:r>
              <a:rPr lang="zh-CN" altLang="en-US" sz="2400" b="1" dirty="0">
                <a:solidFill>
                  <a:schemeClr val="bg2"/>
                </a:solidFill>
              </a:rPr>
              <a:t>中选择若干属性列组成的一个</a:t>
            </a:r>
            <a:r>
              <a:rPr lang="en-US" altLang="zh-CN" sz="2400" b="1" dirty="0">
                <a:solidFill>
                  <a:schemeClr val="bg2"/>
                </a:solidFill>
              </a:rPr>
              <a:t>m</a:t>
            </a:r>
            <a:r>
              <a:rPr lang="zh-CN" altLang="en-US" sz="2400" b="1" dirty="0">
                <a:solidFill>
                  <a:schemeClr val="bg2"/>
                </a:solidFill>
              </a:rPr>
              <a:t>元元组的集合，形式定义如下：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02116"/>
                                        </p:tgtEl>
                                        <p:attrNameLst>
                                          <p:attrName>style.visibility</p:attrName>
                                        </p:attrNameLst>
                                      </p:cBhvr>
                                      <p:to>
                                        <p:strVal val="visible"/>
                                      </p:to>
                                    </p:set>
                                    <p:animEffect transition="in" filter="blinds(horizontal)">
                                      <p:cBhvr>
                                        <p:cTn id="7" dur="500"/>
                                        <p:tgtEl>
                                          <p:spTgt spid="6021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02115"/>
                                        </p:tgtEl>
                                        <p:attrNameLst>
                                          <p:attrName>style.visibility</p:attrName>
                                        </p:attrNameLst>
                                      </p:cBhvr>
                                      <p:to>
                                        <p:strVal val="visible"/>
                                      </p:to>
                                    </p:set>
                                    <p:animEffect transition="in" filter="blinds(horizontal)">
                                      <p:cBhvr>
                                        <p:cTn id="12" dur="500"/>
                                        <p:tgtEl>
                                          <p:spTgt spid="6021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02115" grpId="0"/>
      <p:bldP spid="602116"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表格 4">
            <a:extLst>
              <a:ext uri="{FF2B5EF4-FFF2-40B4-BE49-F238E27FC236}">
                <a16:creationId xmlns:a16="http://schemas.microsoft.com/office/drawing/2014/main" id="{06BC1231-D4BF-8142-8F94-9D720108A894}"/>
              </a:ext>
            </a:extLst>
          </p:cNvPr>
          <p:cNvGraphicFramePr>
            <a:graphicFrameLocks noGrp="1"/>
          </p:cNvGraphicFramePr>
          <p:nvPr>
            <p:extLst>
              <p:ext uri="{D42A27DB-BD31-4B8C-83A1-F6EECF244321}">
                <p14:modId xmlns:p14="http://schemas.microsoft.com/office/powerpoint/2010/main" val="3552486279"/>
              </p:ext>
            </p:extLst>
          </p:nvPr>
        </p:nvGraphicFramePr>
        <p:xfrm>
          <a:off x="4055903" y="1063924"/>
          <a:ext cx="3456384" cy="2225040"/>
        </p:xfrm>
        <a:graphic>
          <a:graphicData uri="http://schemas.openxmlformats.org/drawingml/2006/table">
            <a:tbl>
              <a:tblPr firstRow="1" bandRow="1">
                <a:tableStyleId>{21E4AEA4-8DFA-4A89-87EB-49C32662AFE0}</a:tableStyleId>
              </a:tblPr>
              <a:tblGrid>
                <a:gridCol w="1152128">
                  <a:extLst>
                    <a:ext uri="{9D8B030D-6E8A-4147-A177-3AD203B41FA5}">
                      <a16:colId xmlns:a16="http://schemas.microsoft.com/office/drawing/2014/main" val="836150226"/>
                    </a:ext>
                  </a:extLst>
                </a:gridCol>
                <a:gridCol w="1008112">
                  <a:extLst>
                    <a:ext uri="{9D8B030D-6E8A-4147-A177-3AD203B41FA5}">
                      <a16:colId xmlns:a16="http://schemas.microsoft.com/office/drawing/2014/main" val="348762623"/>
                    </a:ext>
                  </a:extLst>
                </a:gridCol>
                <a:gridCol w="1296144">
                  <a:extLst>
                    <a:ext uri="{9D8B030D-6E8A-4147-A177-3AD203B41FA5}">
                      <a16:colId xmlns:a16="http://schemas.microsoft.com/office/drawing/2014/main" val="485607095"/>
                    </a:ext>
                  </a:extLst>
                </a:gridCol>
              </a:tblGrid>
              <a:tr h="370840">
                <a:tc>
                  <a:txBody>
                    <a:bodyPr/>
                    <a:lstStyle/>
                    <a:p>
                      <a:pPr algn="ctr"/>
                      <a:r>
                        <a:rPr lang="zh-CN" altLang="en-US" dirty="0"/>
                        <a:t>职工编号</a:t>
                      </a:r>
                    </a:p>
                  </a:txBody>
                  <a:tcPr/>
                </a:tc>
                <a:tc>
                  <a:txBody>
                    <a:bodyPr/>
                    <a:lstStyle/>
                    <a:p>
                      <a:pPr algn="ctr"/>
                      <a:r>
                        <a:rPr lang="zh-CN" altLang="en-US" dirty="0"/>
                        <a:t>姓名</a:t>
                      </a:r>
                    </a:p>
                  </a:txBody>
                  <a:tcPr/>
                </a:tc>
                <a:tc>
                  <a:txBody>
                    <a:bodyPr/>
                    <a:lstStyle/>
                    <a:p>
                      <a:pPr algn="ctr"/>
                      <a:r>
                        <a:rPr lang="zh-CN" altLang="en-US" dirty="0"/>
                        <a:t>部门</a:t>
                      </a:r>
                    </a:p>
                  </a:txBody>
                  <a:tcPr/>
                </a:tc>
                <a:extLst>
                  <a:ext uri="{0D108BD9-81ED-4DB2-BD59-A6C34878D82A}">
                    <a16:rowId xmlns:a16="http://schemas.microsoft.com/office/drawing/2014/main" val="2498035954"/>
                  </a:ext>
                </a:extLst>
              </a:tr>
              <a:tr h="370840">
                <a:tc>
                  <a:txBody>
                    <a:bodyPr/>
                    <a:lstStyle/>
                    <a:p>
                      <a:pPr algn="ctr"/>
                      <a:r>
                        <a:rPr lang="en-US" altLang="zh-CN" dirty="0"/>
                        <a:t>2113</a:t>
                      </a:r>
                      <a:endParaRPr lang="zh-CN" altLang="en-US" dirty="0"/>
                    </a:p>
                  </a:txBody>
                  <a:tcPr/>
                </a:tc>
                <a:tc>
                  <a:txBody>
                    <a:bodyPr/>
                    <a:lstStyle/>
                    <a:p>
                      <a:pPr algn="ctr"/>
                      <a:r>
                        <a:rPr lang="zh-CN" altLang="en-US" dirty="0"/>
                        <a:t>程晓清</a:t>
                      </a:r>
                    </a:p>
                  </a:txBody>
                  <a:tcPr/>
                </a:tc>
                <a:tc>
                  <a:txBody>
                    <a:bodyPr/>
                    <a:lstStyle/>
                    <a:p>
                      <a:pPr algn="ctr"/>
                      <a:r>
                        <a:rPr lang="zh-CN" altLang="en-US" dirty="0"/>
                        <a:t>销售部</a:t>
                      </a:r>
                    </a:p>
                  </a:txBody>
                  <a:tcPr/>
                </a:tc>
                <a:extLst>
                  <a:ext uri="{0D108BD9-81ED-4DB2-BD59-A6C34878D82A}">
                    <a16:rowId xmlns:a16="http://schemas.microsoft.com/office/drawing/2014/main" val="225238229"/>
                  </a:ext>
                </a:extLst>
              </a:tr>
              <a:tr h="370840">
                <a:tc>
                  <a:txBody>
                    <a:bodyPr/>
                    <a:lstStyle/>
                    <a:p>
                      <a:pPr algn="ctr"/>
                      <a:r>
                        <a:rPr lang="en-US" altLang="zh-CN" dirty="0"/>
                        <a:t>2116</a:t>
                      </a:r>
                      <a:endParaRPr lang="zh-CN" altLang="en-US" dirty="0"/>
                    </a:p>
                  </a:txBody>
                  <a:tcPr/>
                </a:tc>
                <a:tc>
                  <a:txBody>
                    <a:bodyPr/>
                    <a:lstStyle/>
                    <a:p>
                      <a:pPr algn="ctr"/>
                      <a:r>
                        <a:rPr lang="zh-CN" altLang="en-US" dirty="0"/>
                        <a:t>刘红英</a:t>
                      </a:r>
                    </a:p>
                  </a:txBody>
                  <a:tcPr/>
                </a:tc>
                <a:tc>
                  <a:txBody>
                    <a:bodyPr/>
                    <a:lstStyle/>
                    <a:p>
                      <a:pPr algn="ctr"/>
                      <a:r>
                        <a:rPr lang="zh-CN" altLang="en-US" dirty="0"/>
                        <a:t>财务部</a:t>
                      </a:r>
                    </a:p>
                  </a:txBody>
                  <a:tcPr/>
                </a:tc>
                <a:extLst>
                  <a:ext uri="{0D108BD9-81ED-4DB2-BD59-A6C34878D82A}">
                    <a16:rowId xmlns:a16="http://schemas.microsoft.com/office/drawing/2014/main" val="4023512960"/>
                  </a:ext>
                </a:extLst>
              </a:tr>
              <a:tr h="370840">
                <a:tc>
                  <a:txBody>
                    <a:bodyPr/>
                    <a:lstStyle/>
                    <a:p>
                      <a:pPr algn="ctr"/>
                      <a:r>
                        <a:rPr lang="en-US" altLang="zh-CN" dirty="0"/>
                        <a:t>2136</a:t>
                      </a:r>
                      <a:endParaRPr lang="zh-CN" altLang="en-US" dirty="0"/>
                    </a:p>
                  </a:txBody>
                  <a:tcPr/>
                </a:tc>
                <a:tc>
                  <a:txBody>
                    <a:bodyPr/>
                    <a:lstStyle/>
                    <a:p>
                      <a:pPr algn="ctr"/>
                      <a:r>
                        <a:rPr lang="zh-CN" altLang="en-US" dirty="0"/>
                        <a:t>李小刚</a:t>
                      </a:r>
                    </a:p>
                  </a:txBody>
                  <a:tcPr/>
                </a:tc>
                <a:tc>
                  <a:txBody>
                    <a:bodyPr/>
                    <a:lstStyle/>
                    <a:p>
                      <a:pPr algn="ctr"/>
                      <a:r>
                        <a:rPr lang="zh-CN" altLang="en-US" dirty="0"/>
                        <a:t>管理部</a:t>
                      </a:r>
                    </a:p>
                  </a:txBody>
                  <a:tcPr/>
                </a:tc>
                <a:extLst>
                  <a:ext uri="{0D108BD9-81ED-4DB2-BD59-A6C34878D82A}">
                    <a16:rowId xmlns:a16="http://schemas.microsoft.com/office/drawing/2014/main" val="3242727207"/>
                  </a:ext>
                </a:extLst>
              </a:tr>
              <a:tr h="370840">
                <a:tc>
                  <a:txBody>
                    <a:bodyPr/>
                    <a:lstStyle/>
                    <a:p>
                      <a:pPr algn="ctr"/>
                      <a:r>
                        <a:rPr lang="en-US" altLang="zh-CN" dirty="0"/>
                        <a:t>2138</a:t>
                      </a:r>
                      <a:endParaRPr lang="zh-CN" altLang="en-US" dirty="0"/>
                    </a:p>
                  </a:txBody>
                  <a:tcPr/>
                </a:tc>
                <a:tc>
                  <a:txBody>
                    <a:bodyPr/>
                    <a:lstStyle/>
                    <a:p>
                      <a:pPr algn="ctr"/>
                      <a:r>
                        <a:rPr lang="zh-CN" altLang="en-US" dirty="0"/>
                        <a:t>蒋明</a:t>
                      </a:r>
                    </a:p>
                  </a:txBody>
                  <a:tcPr/>
                </a:tc>
                <a:tc>
                  <a:txBody>
                    <a:bodyPr/>
                    <a:lstStyle/>
                    <a:p>
                      <a:pPr algn="ctr"/>
                      <a:r>
                        <a:rPr lang="zh-CN" altLang="en-US" dirty="0"/>
                        <a:t>采购部</a:t>
                      </a:r>
                    </a:p>
                  </a:txBody>
                  <a:tcPr/>
                </a:tc>
                <a:extLst>
                  <a:ext uri="{0D108BD9-81ED-4DB2-BD59-A6C34878D82A}">
                    <a16:rowId xmlns:a16="http://schemas.microsoft.com/office/drawing/2014/main" val="4071535767"/>
                  </a:ext>
                </a:extLst>
              </a:tr>
              <a:tr h="370840">
                <a:tc>
                  <a:txBody>
                    <a:bodyPr/>
                    <a:lstStyle/>
                    <a:p>
                      <a:pPr algn="ctr"/>
                      <a:r>
                        <a:rPr lang="en-US" altLang="zh-CN" dirty="0"/>
                        <a:t>2141</a:t>
                      </a:r>
                      <a:endParaRPr lang="zh-CN" altLang="en-US" dirty="0"/>
                    </a:p>
                  </a:txBody>
                  <a:tcPr/>
                </a:tc>
                <a:tc>
                  <a:txBody>
                    <a:bodyPr/>
                    <a:lstStyle/>
                    <a:p>
                      <a:pPr algn="ctr"/>
                      <a:r>
                        <a:rPr lang="zh-CN" altLang="en-US" dirty="0"/>
                        <a:t>王国洋</a:t>
                      </a:r>
                    </a:p>
                  </a:txBody>
                  <a:tcPr/>
                </a:tc>
                <a:tc>
                  <a:txBody>
                    <a:bodyPr/>
                    <a:lstStyle/>
                    <a:p>
                      <a:pPr algn="ctr"/>
                      <a:r>
                        <a:rPr lang="zh-CN" altLang="en-US" dirty="0"/>
                        <a:t>销售部</a:t>
                      </a:r>
                    </a:p>
                  </a:txBody>
                  <a:tcPr/>
                </a:tc>
                <a:extLst>
                  <a:ext uri="{0D108BD9-81ED-4DB2-BD59-A6C34878D82A}">
                    <a16:rowId xmlns:a16="http://schemas.microsoft.com/office/drawing/2014/main" val="353225929"/>
                  </a:ext>
                </a:extLst>
              </a:tr>
            </a:tbl>
          </a:graphicData>
        </a:graphic>
      </p:graphicFrame>
      <p:sp>
        <p:nvSpPr>
          <p:cNvPr id="6" name="Rectangle 2">
            <a:extLst>
              <a:ext uri="{FF2B5EF4-FFF2-40B4-BE49-F238E27FC236}">
                <a16:creationId xmlns:a16="http://schemas.microsoft.com/office/drawing/2014/main" id="{D7C30662-66DA-3D4A-B554-4D571E9FFD80}"/>
              </a:ext>
            </a:extLst>
          </p:cNvPr>
          <p:cNvSpPr>
            <a:spLocks noChangeArrowheads="1"/>
          </p:cNvSpPr>
          <p:nvPr/>
        </p:nvSpPr>
        <p:spPr bwMode="auto">
          <a:xfrm>
            <a:off x="0" y="332656"/>
            <a:ext cx="9144000" cy="9848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40000"/>
              </a:lnSpc>
            </a:pPr>
            <a:r>
              <a:rPr lang="zh-CN" altLang="en-US" sz="2000" b="1" dirty="0">
                <a:solidFill>
                  <a:srgbClr val="000099"/>
                </a:solidFill>
                <a:latin typeface="Times New Roman" pitchFamily="18" charset="0"/>
              </a:rPr>
              <a:t>（</a:t>
            </a:r>
            <a:r>
              <a:rPr lang="en-US" altLang="zh-CN" sz="2000" b="1" dirty="0">
                <a:solidFill>
                  <a:srgbClr val="000099"/>
                </a:solidFill>
                <a:latin typeface="Times New Roman" pitchFamily="18" charset="0"/>
              </a:rPr>
              <a:t>1</a:t>
            </a:r>
            <a:r>
              <a:rPr lang="zh-CN" altLang="en-US" sz="2000" b="1" dirty="0">
                <a:solidFill>
                  <a:srgbClr val="000099"/>
                </a:solidFill>
                <a:latin typeface="Times New Roman" pitchFamily="18" charset="0"/>
              </a:rPr>
              <a:t>）</a:t>
            </a:r>
            <a:r>
              <a:rPr lang="zh-CN" altLang="en-US" sz="2000" b="1" dirty="0">
                <a:solidFill>
                  <a:srgbClr val="000099"/>
                </a:solidFill>
              </a:rPr>
              <a:t>列出所有职工的职工编号、姓名和部门，关系代数表示为：</a:t>
            </a:r>
          </a:p>
          <a:p>
            <a:pPr eaLnBrk="0" hangingPunct="0">
              <a:lnSpc>
                <a:spcPct val="100000"/>
              </a:lnSpc>
            </a:pPr>
            <a:r>
              <a:rPr lang="zh-CN" altLang="en-US" sz="2000" b="1" dirty="0">
                <a:solidFill>
                  <a:schemeClr val="bg2"/>
                </a:solidFill>
                <a:latin typeface="Times New Roman" pitchFamily="18" charset="0"/>
              </a:rPr>
              <a:t>        </a:t>
            </a:r>
          </a:p>
        </p:txBody>
      </p:sp>
      <p:sp>
        <p:nvSpPr>
          <p:cNvPr id="7" name="Rectangle 2">
            <a:extLst>
              <a:ext uri="{FF2B5EF4-FFF2-40B4-BE49-F238E27FC236}">
                <a16:creationId xmlns:a16="http://schemas.microsoft.com/office/drawing/2014/main" id="{861A08F6-8DE3-2745-890C-59BB888770BA}"/>
              </a:ext>
            </a:extLst>
          </p:cNvPr>
          <p:cNvSpPr>
            <a:spLocks noChangeArrowheads="1"/>
          </p:cNvSpPr>
          <p:nvPr/>
        </p:nvSpPr>
        <p:spPr bwMode="auto">
          <a:xfrm>
            <a:off x="152400" y="3812267"/>
            <a:ext cx="9144000" cy="98488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40000"/>
              </a:lnSpc>
            </a:pPr>
            <a:r>
              <a:rPr lang="zh-CN" altLang="en-US" sz="2000" b="1" dirty="0">
                <a:solidFill>
                  <a:srgbClr val="000099"/>
                </a:solidFill>
                <a:latin typeface="Times New Roman" pitchFamily="18" charset="0"/>
              </a:rPr>
              <a:t>（</a:t>
            </a:r>
            <a:r>
              <a:rPr lang="en-US" altLang="zh-CN" sz="2000" b="1" dirty="0">
                <a:solidFill>
                  <a:srgbClr val="000099"/>
                </a:solidFill>
                <a:latin typeface="Times New Roman" pitchFamily="18" charset="0"/>
              </a:rPr>
              <a:t>2</a:t>
            </a:r>
            <a:r>
              <a:rPr lang="zh-CN" altLang="en-US" sz="2000" b="1" dirty="0">
                <a:solidFill>
                  <a:srgbClr val="000099"/>
                </a:solidFill>
                <a:latin typeface="Times New Roman" pitchFamily="18" charset="0"/>
              </a:rPr>
              <a:t>）</a:t>
            </a:r>
            <a:r>
              <a:rPr lang="zh-CN" altLang="en-US" sz="2000" b="1" dirty="0">
                <a:solidFill>
                  <a:srgbClr val="000099"/>
                </a:solidFill>
              </a:rPr>
              <a:t>列出职工表中的所有部门，关系代数表示为：</a:t>
            </a:r>
          </a:p>
          <a:p>
            <a:pPr eaLnBrk="0" hangingPunct="0">
              <a:lnSpc>
                <a:spcPct val="100000"/>
              </a:lnSpc>
            </a:pPr>
            <a:r>
              <a:rPr lang="zh-CN" altLang="en-US" sz="2000" b="1" dirty="0">
                <a:solidFill>
                  <a:schemeClr val="bg2"/>
                </a:solidFill>
                <a:latin typeface="Times New Roman" pitchFamily="18" charset="0"/>
              </a:rPr>
              <a:t>        </a:t>
            </a:r>
          </a:p>
        </p:txBody>
      </p:sp>
      <p:graphicFrame>
        <p:nvGraphicFramePr>
          <p:cNvPr id="8" name="表格 7">
            <a:extLst>
              <a:ext uri="{FF2B5EF4-FFF2-40B4-BE49-F238E27FC236}">
                <a16:creationId xmlns:a16="http://schemas.microsoft.com/office/drawing/2014/main" id="{24083F77-36D5-F84F-BF48-4FC8CD778417}"/>
              </a:ext>
            </a:extLst>
          </p:cNvPr>
          <p:cNvGraphicFramePr>
            <a:graphicFrameLocks noGrp="1"/>
          </p:cNvGraphicFramePr>
          <p:nvPr>
            <p:extLst>
              <p:ext uri="{D42A27DB-BD31-4B8C-83A1-F6EECF244321}">
                <p14:modId xmlns:p14="http://schemas.microsoft.com/office/powerpoint/2010/main" val="3226116062"/>
              </p:ext>
            </p:extLst>
          </p:nvPr>
        </p:nvGraphicFramePr>
        <p:xfrm>
          <a:off x="3923928" y="4461939"/>
          <a:ext cx="1296144" cy="2225040"/>
        </p:xfrm>
        <a:graphic>
          <a:graphicData uri="http://schemas.openxmlformats.org/drawingml/2006/table">
            <a:tbl>
              <a:tblPr firstRow="1" bandRow="1">
                <a:tableStyleId>{21E4AEA4-8DFA-4A89-87EB-49C32662AFE0}</a:tableStyleId>
              </a:tblPr>
              <a:tblGrid>
                <a:gridCol w="1296144">
                  <a:extLst>
                    <a:ext uri="{9D8B030D-6E8A-4147-A177-3AD203B41FA5}">
                      <a16:colId xmlns:a16="http://schemas.microsoft.com/office/drawing/2014/main" val="197820529"/>
                    </a:ext>
                  </a:extLst>
                </a:gridCol>
              </a:tblGrid>
              <a:tr h="370840">
                <a:tc>
                  <a:txBody>
                    <a:bodyPr/>
                    <a:lstStyle/>
                    <a:p>
                      <a:pPr algn="ctr"/>
                      <a:r>
                        <a:rPr lang="zh-CN" altLang="en-US" dirty="0"/>
                        <a:t>部门</a:t>
                      </a:r>
                    </a:p>
                  </a:txBody>
                  <a:tcPr/>
                </a:tc>
                <a:extLst>
                  <a:ext uri="{0D108BD9-81ED-4DB2-BD59-A6C34878D82A}">
                    <a16:rowId xmlns:a16="http://schemas.microsoft.com/office/drawing/2014/main" val="667969501"/>
                  </a:ext>
                </a:extLst>
              </a:tr>
              <a:tr h="370840">
                <a:tc>
                  <a:txBody>
                    <a:bodyPr/>
                    <a:lstStyle/>
                    <a:p>
                      <a:pPr algn="ctr"/>
                      <a:r>
                        <a:rPr lang="zh-CN" altLang="en-US" dirty="0"/>
                        <a:t>销售部</a:t>
                      </a:r>
                    </a:p>
                  </a:txBody>
                  <a:tcPr/>
                </a:tc>
                <a:extLst>
                  <a:ext uri="{0D108BD9-81ED-4DB2-BD59-A6C34878D82A}">
                    <a16:rowId xmlns:a16="http://schemas.microsoft.com/office/drawing/2014/main" val="595610529"/>
                  </a:ext>
                </a:extLst>
              </a:tr>
              <a:tr h="370840">
                <a:tc>
                  <a:txBody>
                    <a:bodyPr/>
                    <a:lstStyle/>
                    <a:p>
                      <a:pPr algn="ctr"/>
                      <a:r>
                        <a:rPr lang="zh-CN" altLang="en-US" dirty="0"/>
                        <a:t>财务部</a:t>
                      </a:r>
                    </a:p>
                  </a:txBody>
                  <a:tcPr/>
                </a:tc>
                <a:extLst>
                  <a:ext uri="{0D108BD9-81ED-4DB2-BD59-A6C34878D82A}">
                    <a16:rowId xmlns:a16="http://schemas.microsoft.com/office/drawing/2014/main" val="3400872202"/>
                  </a:ext>
                </a:extLst>
              </a:tr>
              <a:tr h="370840">
                <a:tc>
                  <a:txBody>
                    <a:bodyPr/>
                    <a:lstStyle/>
                    <a:p>
                      <a:pPr algn="ctr"/>
                      <a:r>
                        <a:rPr lang="zh-CN" altLang="en-US" dirty="0"/>
                        <a:t>管理部</a:t>
                      </a:r>
                    </a:p>
                  </a:txBody>
                  <a:tcPr/>
                </a:tc>
                <a:extLst>
                  <a:ext uri="{0D108BD9-81ED-4DB2-BD59-A6C34878D82A}">
                    <a16:rowId xmlns:a16="http://schemas.microsoft.com/office/drawing/2014/main" val="682197785"/>
                  </a:ext>
                </a:extLst>
              </a:tr>
              <a:tr h="370840">
                <a:tc>
                  <a:txBody>
                    <a:bodyPr/>
                    <a:lstStyle/>
                    <a:p>
                      <a:pPr algn="ctr"/>
                      <a:r>
                        <a:rPr lang="zh-CN" altLang="en-US" dirty="0"/>
                        <a:t>采购部</a:t>
                      </a:r>
                    </a:p>
                  </a:txBody>
                  <a:tcPr/>
                </a:tc>
                <a:extLst>
                  <a:ext uri="{0D108BD9-81ED-4DB2-BD59-A6C34878D82A}">
                    <a16:rowId xmlns:a16="http://schemas.microsoft.com/office/drawing/2014/main" val="1758350712"/>
                  </a:ext>
                </a:extLst>
              </a:tr>
              <a:tr h="370840">
                <a:tc>
                  <a:txBody>
                    <a:bodyPr/>
                    <a:lstStyle/>
                    <a:p>
                      <a:pPr algn="ctr"/>
                      <a:r>
                        <a:rPr lang="zh-CN" altLang="en-US" dirty="0"/>
                        <a:t>销售部</a:t>
                      </a:r>
                    </a:p>
                  </a:txBody>
                  <a:tcPr/>
                </a:tc>
                <a:extLst>
                  <a:ext uri="{0D108BD9-81ED-4DB2-BD59-A6C34878D82A}">
                    <a16:rowId xmlns:a16="http://schemas.microsoft.com/office/drawing/2014/main" val="3233787182"/>
                  </a:ext>
                </a:extLst>
              </a:tr>
            </a:tbl>
          </a:graphicData>
        </a:graphic>
      </p:graphicFrame>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C04B55E3-29DA-BA48-9D41-16C450BB1BB3}"/>
                  </a:ext>
                </a:extLst>
              </p:cNvPr>
              <p:cNvSpPr txBox="1"/>
              <p:nvPr/>
            </p:nvSpPr>
            <p:spPr>
              <a:xfrm>
                <a:off x="1340681" y="2971800"/>
                <a:ext cx="1962076" cy="2215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a:fld id="{825F15A7-03F4-43D7-82C5-3E23DA2F108C}" type="mathplaceholder">
                        <a:rPr kumimoji="1" lang="zh-CN" altLang="en-US" i="1" smtClean="0">
                          <a:latin typeface="Cambria Math" panose="02040503050406030204" pitchFamily="18" charset="0"/>
                        </a:rPr>
                        <a:t>在此处键入公式。</a:t>
                      </a:fld>
                    </m:oMath>
                  </m:oMathPara>
                </a14:m>
                <a:endParaRPr kumimoji="1" lang="zh-CN" altLang="en-US" dirty="0"/>
              </a:p>
            </p:txBody>
          </p:sp>
        </mc:Choice>
        <mc:Fallback xmlns="">
          <p:sp>
            <p:nvSpPr>
              <p:cNvPr id="9" name="文本框 8">
                <a:extLst>
                  <a:ext uri="{FF2B5EF4-FFF2-40B4-BE49-F238E27FC236}">
                    <a16:creationId xmlns:a16="http://schemas.microsoft.com/office/drawing/2014/main" id="{C04B55E3-29DA-BA48-9D41-16C450BB1BB3}"/>
                  </a:ext>
                </a:extLst>
              </p:cNvPr>
              <p:cNvSpPr txBox="1">
                <a:spLocks noRot="1" noChangeAspect="1" noMove="1" noResize="1" noEditPoints="1" noAdjustHandles="1" noChangeArrowheads="1" noChangeShapeType="1" noTextEdit="1"/>
              </p:cNvSpPr>
              <p:nvPr/>
            </p:nvSpPr>
            <p:spPr>
              <a:xfrm>
                <a:off x="1340681" y="2971800"/>
                <a:ext cx="1962076" cy="221599"/>
              </a:xfrm>
              <a:prstGeom prst="rect">
                <a:avLst/>
              </a:prstGeom>
              <a:blipFill>
                <a:blip r:embed="rId2"/>
                <a:stretch>
                  <a:fillRect l="-1923" t="-38889"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DD02681A-BFDA-3046-AA58-1716FD7A6F0C}"/>
                  </a:ext>
                </a:extLst>
              </p:cNvPr>
              <p:cNvSpPr txBox="1"/>
              <p:nvPr/>
            </p:nvSpPr>
            <p:spPr>
              <a:xfrm>
                <a:off x="1397831" y="2971800"/>
                <a:ext cx="1962076" cy="2215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a:fld id="{825F15A7-03F4-43D7-82C5-3E23DA2F108C}" type="mathplaceholder">
                        <a:rPr kumimoji="1" lang="zh-CN" altLang="en-US" i="1" smtClean="0">
                          <a:latin typeface="Cambria Math" panose="02040503050406030204" pitchFamily="18" charset="0"/>
                        </a:rPr>
                        <a:t>在此处键入公式。</a:t>
                      </a:fld>
                    </m:oMath>
                  </m:oMathPara>
                </a14:m>
                <a:endParaRPr kumimoji="1" lang="zh-CN" altLang="en-US" dirty="0"/>
              </a:p>
            </p:txBody>
          </p:sp>
        </mc:Choice>
        <mc:Fallback xmlns="">
          <p:sp>
            <p:nvSpPr>
              <p:cNvPr id="10" name="文本框 9">
                <a:extLst>
                  <a:ext uri="{FF2B5EF4-FFF2-40B4-BE49-F238E27FC236}">
                    <a16:creationId xmlns:a16="http://schemas.microsoft.com/office/drawing/2014/main" id="{DD02681A-BFDA-3046-AA58-1716FD7A6F0C}"/>
                  </a:ext>
                </a:extLst>
              </p:cNvPr>
              <p:cNvSpPr txBox="1">
                <a:spLocks noRot="1" noChangeAspect="1" noMove="1" noResize="1" noEditPoints="1" noAdjustHandles="1" noChangeArrowheads="1" noChangeShapeType="1" noTextEdit="1"/>
              </p:cNvSpPr>
              <p:nvPr/>
            </p:nvSpPr>
            <p:spPr>
              <a:xfrm>
                <a:off x="1397831" y="2971800"/>
                <a:ext cx="1962076" cy="221599"/>
              </a:xfrm>
              <a:prstGeom prst="rect">
                <a:avLst/>
              </a:prstGeom>
              <a:blipFill>
                <a:blip r:embed="rId3"/>
                <a:stretch>
                  <a:fillRect l="-1923" t="-38889" b="-33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80CB7C24-84D7-794E-97CA-3FCF801F1CFE}"/>
                  </a:ext>
                </a:extLst>
              </p:cNvPr>
              <p:cNvSpPr txBox="1"/>
              <p:nvPr/>
            </p:nvSpPr>
            <p:spPr>
              <a:xfrm>
                <a:off x="6284155" y="3464719"/>
                <a:ext cx="1962076" cy="22159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a:fld id="{825F15A7-03F4-43D7-82C5-3E23DA2F108C}" type="mathplaceholder">
                        <a:rPr kumimoji="1" lang="zh-CN" altLang="en-US" i="1" smtClean="0">
                          <a:latin typeface="Cambria Math" panose="02040503050406030204" pitchFamily="18" charset="0"/>
                        </a:rPr>
                        <a:t>在此处键入公式。</a:t>
                      </a:fld>
                    </m:oMath>
                  </m:oMathPara>
                </a14:m>
                <a:endParaRPr kumimoji="1" lang="zh-CN" altLang="en-US" dirty="0"/>
              </a:p>
            </p:txBody>
          </p:sp>
        </mc:Choice>
        <mc:Fallback xmlns="">
          <p:sp>
            <p:nvSpPr>
              <p:cNvPr id="12" name="文本框 11">
                <a:extLst>
                  <a:ext uri="{FF2B5EF4-FFF2-40B4-BE49-F238E27FC236}">
                    <a16:creationId xmlns:a16="http://schemas.microsoft.com/office/drawing/2014/main" id="{80CB7C24-84D7-794E-97CA-3FCF801F1CFE}"/>
                  </a:ext>
                </a:extLst>
              </p:cNvPr>
              <p:cNvSpPr txBox="1">
                <a:spLocks noRot="1" noChangeAspect="1" noMove="1" noResize="1" noEditPoints="1" noAdjustHandles="1" noChangeArrowheads="1" noChangeShapeType="1" noTextEdit="1"/>
              </p:cNvSpPr>
              <p:nvPr/>
            </p:nvSpPr>
            <p:spPr>
              <a:xfrm>
                <a:off x="6284155" y="3464719"/>
                <a:ext cx="1962076" cy="221599"/>
              </a:xfrm>
              <a:prstGeom prst="rect">
                <a:avLst/>
              </a:prstGeom>
              <a:blipFill>
                <a:blip r:embed="rId4"/>
                <a:stretch>
                  <a:fillRect l="-1923" t="-31579" b="-31579"/>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D2F4FF9-124A-D44D-9BA2-673B4F1E8B9D}"/>
                  </a:ext>
                </a:extLst>
              </p:cNvPr>
              <p:cNvSpPr txBox="1"/>
              <p:nvPr/>
            </p:nvSpPr>
            <p:spPr>
              <a:xfrm>
                <a:off x="343396" y="1995283"/>
                <a:ext cx="3580532" cy="30796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000" i="1" smtClean="0">
                              <a:solidFill>
                                <a:schemeClr val="bg1"/>
                              </a:solidFill>
                              <a:latin typeface="Cambria Math" panose="02040503050406030204" pitchFamily="18" charset="0"/>
                            </a:rPr>
                          </m:ctrlPr>
                        </m:sSubPr>
                        <m:e>
                          <m:r>
                            <a:rPr kumimoji="1" lang="en-US" altLang="zh-CN" sz="2000" i="1" smtClean="0">
                              <a:solidFill>
                                <a:schemeClr val="bg1"/>
                              </a:solidFill>
                              <a:latin typeface="Cambria Math" panose="02040503050406030204" pitchFamily="18" charset="0"/>
                              <a:ea typeface="Cambria Math" panose="02040503050406030204" pitchFamily="18" charset="0"/>
                            </a:rPr>
                            <m:t>𝜋</m:t>
                          </m:r>
                        </m:e>
                        <m:sub>
                          <m:r>
                            <a:rPr lang="zh-CN" altLang="en-US" sz="2000" i="1">
                              <a:solidFill>
                                <a:schemeClr val="bg1"/>
                              </a:solidFill>
                              <a:latin typeface="Cambria Math" panose="02040503050406030204" pitchFamily="18" charset="0"/>
                            </a:rPr>
                            <m:t>职工编号，姓名，部门</m:t>
                          </m:r>
                        </m:sub>
                      </m:sSub>
                      <m:r>
                        <a:rPr kumimoji="1" lang="en-US" altLang="zh-CN" sz="2000" b="0" i="1" smtClean="0">
                          <a:solidFill>
                            <a:schemeClr val="bg1"/>
                          </a:solidFill>
                          <a:latin typeface="Cambria Math" panose="02040503050406030204" pitchFamily="18" charset="0"/>
                        </a:rPr>
                        <m:t>(</m:t>
                      </m:r>
                      <m:r>
                        <a:rPr lang="zh-CN" altLang="en-US" sz="2000" i="1">
                          <a:solidFill>
                            <a:schemeClr val="bg1"/>
                          </a:solidFill>
                          <a:latin typeface="Cambria Math" panose="02040503050406030204" pitchFamily="18" charset="0"/>
                        </a:rPr>
                        <m:t>职工</m:t>
                      </m:r>
                      <m:r>
                        <a:rPr lang="en-US" altLang="zh-CN" sz="2000" b="0" i="1" smtClean="0">
                          <a:solidFill>
                            <a:schemeClr val="bg1"/>
                          </a:solidFill>
                          <a:latin typeface="Cambria Math" panose="02040503050406030204" pitchFamily="18" charset="0"/>
                        </a:rPr>
                        <m:t>)</m:t>
                      </m:r>
                    </m:oMath>
                  </m:oMathPara>
                </a14:m>
                <a:endParaRPr kumimoji="1" lang="zh-CN" altLang="en-US" sz="2000" dirty="0">
                  <a:solidFill>
                    <a:schemeClr val="bg1"/>
                  </a:solidFill>
                </a:endParaRPr>
              </a:p>
            </p:txBody>
          </p:sp>
        </mc:Choice>
        <mc:Fallback xmlns="">
          <p:sp>
            <p:nvSpPr>
              <p:cNvPr id="15" name="文本框 14">
                <a:extLst>
                  <a:ext uri="{FF2B5EF4-FFF2-40B4-BE49-F238E27FC236}">
                    <a16:creationId xmlns:a16="http://schemas.microsoft.com/office/drawing/2014/main" id="{BD2F4FF9-124A-D44D-9BA2-673B4F1E8B9D}"/>
                  </a:ext>
                </a:extLst>
              </p:cNvPr>
              <p:cNvSpPr txBox="1">
                <a:spLocks noRot="1" noChangeAspect="1" noMove="1" noResize="1" noEditPoints="1" noAdjustHandles="1" noChangeArrowheads="1" noChangeShapeType="1" noTextEdit="1"/>
              </p:cNvSpPr>
              <p:nvPr/>
            </p:nvSpPr>
            <p:spPr>
              <a:xfrm>
                <a:off x="343396" y="1995283"/>
                <a:ext cx="3580532" cy="307969"/>
              </a:xfrm>
              <a:prstGeom prst="rect">
                <a:avLst/>
              </a:prstGeom>
              <a:blipFill>
                <a:blip r:embed="rId5"/>
                <a:stretch>
                  <a:fillRect t="-19231" r="-704" b="-4230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348A5A5B-3ED0-E248-949F-09549A642D0F}"/>
                  </a:ext>
                </a:extLst>
              </p:cNvPr>
              <p:cNvSpPr txBox="1"/>
              <p:nvPr/>
            </p:nvSpPr>
            <p:spPr>
              <a:xfrm>
                <a:off x="1557375" y="5091801"/>
                <a:ext cx="1528687" cy="305596"/>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kumimoji="1" lang="en-US" altLang="zh-CN" sz="2000" i="1" smtClean="0">
                              <a:solidFill>
                                <a:schemeClr val="bg1"/>
                              </a:solidFill>
                              <a:latin typeface="Cambria Math" panose="02040503050406030204" pitchFamily="18" charset="0"/>
                            </a:rPr>
                          </m:ctrlPr>
                        </m:sSubPr>
                        <m:e>
                          <m:r>
                            <a:rPr kumimoji="1" lang="en-US" altLang="zh-CN" sz="2000" i="1" smtClean="0">
                              <a:solidFill>
                                <a:schemeClr val="bg1"/>
                              </a:solidFill>
                              <a:latin typeface="Cambria Math" panose="02040503050406030204" pitchFamily="18" charset="0"/>
                              <a:ea typeface="Cambria Math" panose="02040503050406030204" pitchFamily="18" charset="0"/>
                            </a:rPr>
                            <m:t>𝜋</m:t>
                          </m:r>
                        </m:e>
                        <m:sub>
                          <m:r>
                            <a:rPr lang="zh-CN" altLang="en-US" sz="2000" i="1">
                              <a:solidFill>
                                <a:schemeClr val="bg1"/>
                              </a:solidFill>
                              <a:latin typeface="Cambria Math" panose="02040503050406030204" pitchFamily="18" charset="0"/>
                            </a:rPr>
                            <m:t>部门</m:t>
                          </m:r>
                        </m:sub>
                      </m:sSub>
                      <m:r>
                        <a:rPr kumimoji="1" lang="en-US" altLang="zh-CN" sz="2000" b="0" i="1" smtClean="0">
                          <a:solidFill>
                            <a:schemeClr val="bg1"/>
                          </a:solidFill>
                          <a:latin typeface="Cambria Math" panose="02040503050406030204" pitchFamily="18" charset="0"/>
                        </a:rPr>
                        <m:t>(</m:t>
                      </m:r>
                      <m:r>
                        <a:rPr lang="zh-CN" altLang="en-US" sz="2000" i="1">
                          <a:solidFill>
                            <a:schemeClr val="bg1"/>
                          </a:solidFill>
                          <a:latin typeface="Cambria Math" panose="02040503050406030204" pitchFamily="18" charset="0"/>
                        </a:rPr>
                        <m:t>职工</m:t>
                      </m:r>
                      <m:r>
                        <a:rPr lang="en-US" altLang="zh-CN" sz="2000" b="0" i="1" smtClean="0">
                          <a:solidFill>
                            <a:schemeClr val="bg1"/>
                          </a:solidFill>
                          <a:latin typeface="Cambria Math" panose="02040503050406030204" pitchFamily="18" charset="0"/>
                        </a:rPr>
                        <m:t>)</m:t>
                      </m:r>
                    </m:oMath>
                  </m:oMathPara>
                </a14:m>
                <a:endParaRPr kumimoji="1" lang="zh-CN" altLang="en-US" sz="2000" dirty="0">
                  <a:solidFill>
                    <a:schemeClr val="bg1"/>
                  </a:solidFill>
                </a:endParaRPr>
              </a:p>
            </p:txBody>
          </p:sp>
        </mc:Choice>
        <mc:Fallback xmlns="">
          <p:sp>
            <p:nvSpPr>
              <p:cNvPr id="16" name="文本框 15">
                <a:extLst>
                  <a:ext uri="{FF2B5EF4-FFF2-40B4-BE49-F238E27FC236}">
                    <a16:creationId xmlns:a16="http://schemas.microsoft.com/office/drawing/2014/main" id="{348A5A5B-3ED0-E248-949F-09549A642D0F}"/>
                  </a:ext>
                </a:extLst>
              </p:cNvPr>
              <p:cNvSpPr txBox="1">
                <a:spLocks noRot="1" noChangeAspect="1" noMove="1" noResize="1" noEditPoints="1" noAdjustHandles="1" noChangeArrowheads="1" noChangeShapeType="1" noTextEdit="1"/>
              </p:cNvSpPr>
              <p:nvPr/>
            </p:nvSpPr>
            <p:spPr>
              <a:xfrm>
                <a:off x="1557375" y="5091801"/>
                <a:ext cx="1528687" cy="305596"/>
              </a:xfrm>
              <a:prstGeom prst="rect">
                <a:avLst/>
              </a:prstGeom>
              <a:blipFill>
                <a:blip r:embed="rId6"/>
                <a:stretch>
                  <a:fillRect t="-20000" r="-3306" b="-44000"/>
                </a:stretch>
              </a:blipFill>
            </p:spPr>
            <p:txBody>
              <a:bodyPr/>
              <a:lstStyle/>
              <a:p>
                <a:r>
                  <a:rPr lang="zh-CN" altLang="en-US">
                    <a:noFill/>
                  </a:rPr>
                  <a:t> </a:t>
                </a:r>
              </a:p>
            </p:txBody>
          </p:sp>
        </mc:Fallback>
      </mc:AlternateContent>
      <p:pic>
        <p:nvPicPr>
          <p:cNvPr id="19" name="图片 18">
            <a:extLst>
              <a:ext uri="{FF2B5EF4-FFF2-40B4-BE49-F238E27FC236}">
                <a16:creationId xmlns:a16="http://schemas.microsoft.com/office/drawing/2014/main" id="{E0632EF3-7505-3145-9049-B5C2EC0DB67B}"/>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imgEffect>
                  </a14:imgLayer>
                </a14:imgProps>
              </a:ext>
            </a:extLst>
          </a:blip>
          <a:stretch>
            <a:fillRect/>
          </a:stretch>
        </p:blipFill>
        <p:spPr>
          <a:xfrm>
            <a:off x="4268981" y="6251963"/>
            <a:ext cx="606037" cy="606037"/>
          </a:xfrm>
          <a:prstGeom prst="rect">
            <a:avLst/>
          </a:prstGeom>
        </p:spPr>
      </p:pic>
      <p:graphicFrame>
        <p:nvGraphicFramePr>
          <p:cNvPr id="20" name="表格 19">
            <a:extLst>
              <a:ext uri="{FF2B5EF4-FFF2-40B4-BE49-F238E27FC236}">
                <a16:creationId xmlns:a16="http://schemas.microsoft.com/office/drawing/2014/main" id="{5E83F463-EC63-0B45-AD7D-C0D79D5F3D7E}"/>
              </a:ext>
            </a:extLst>
          </p:cNvPr>
          <p:cNvGraphicFramePr>
            <a:graphicFrameLocks noGrp="1"/>
          </p:cNvGraphicFramePr>
          <p:nvPr>
            <p:extLst>
              <p:ext uri="{D42A27DB-BD31-4B8C-83A1-F6EECF244321}">
                <p14:modId xmlns:p14="http://schemas.microsoft.com/office/powerpoint/2010/main" val="661920990"/>
              </p:ext>
            </p:extLst>
          </p:nvPr>
        </p:nvGraphicFramePr>
        <p:xfrm>
          <a:off x="5784095" y="4461939"/>
          <a:ext cx="1296144" cy="1854200"/>
        </p:xfrm>
        <a:graphic>
          <a:graphicData uri="http://schemas.openxmlformats.org/drawingml/2006/table">
            <a:tbl>
              <a:tblPr firstRow="1" bandRow="1">
                <a:tableStyleId>{21E4AEA4-8DFA-4A89-87EB-49C32662AFE0}</a:tableStyleId>
              </a:tblPr>
              <a:tblGrid>
                <a:gridCol w="1296144">
                  <a:extLst>
                    <a:ext uri="{9D8B030D-6E8A-4147-A177-3AD203B41FA5}">
                      <a16:colId xmlns:a16="http://schemas.microsoft.com/office/drawing/2014/main" val="197820529"/>
                    </a:ext>
                  </a:extLst>
                </a:gridCol>
              </a:tblGrid>
              <a:tr h="370840">
                <a:tc>
                  <a:txBody>
                    <a:bodyPr/>
                    <a:lstStyle/>
                    <a:p>
                      <a:pPr algn="ctr"/>
                      <a:r>
                        <a:rPr lang="zh-CN" altLang="en-US" dirty="0"/>
                        <a:t>部门</a:t>
                      </a:r>
                    </a:p>
                  </a:txBody>
                  <a:tcPr/>
                </a:tc>
                <a:extLst>
                  <a:ext uri="{0D108BD9-81ED-4DB2-BD59-A6C34878D82A}">
                    <a16:rowId xmlns:a16="http://schemas.microsoft.com/office/drawing/2014/main" val="667969501"/>
                  </a:ext>
                </a:extLst>
              </a:tr>
              <a:tr h="370840">
                <a:tc>
                  <a:txBody>
                    <a:bodyPr/>
                    <a:lstStyle/>
                    <a:p>
                      <a:pPr algn="ctr"/>
                      <a:r>
                        <a:rPr lang="zh-CN" altLang="en-US" dirty="0"/>
                        <a:t>销售部</a:t>
                      </a:r>
                    </a:p>
                  </a:txBody>
                  <a:tcPr/>
                </a:tc>
                <a:extLst>
                  <a:ext uri="{0D108BD9-81ED-4DB2-BD59-A6C34878D82A}">
                    <a16:rowId xmlns:a16="http://schemas.microsoft.com/office/drawing/2014/main" val="595610529"/>
                  </a:ext>
                </a:extLst>
              </a:tr>
              <a:tr h="370840">
                <a:tc>
                  <a:txBody>
                    <a:bodyPr/>
                    <a:lstStyle/>
                    <a:p>
                      <a:pPr algn="ctr"/>
                      <a:r>
                        <a:rPr lang="zh-CN" altLang="en-US" dirty="0"/>
                        <a:t>财务部</a:t>
                      </a:r>
                    </a:p>
                  </a:txBody>
                  <a:tcPr/>
                </a:tc>
                <a:extLst>
                  <a:ext uri="{0D108BD9-81ED-4DB2-BD59-A6C34878D82A}">
                    <a16:rowId xmlns:a16="http://schemas.microsoft.com/office/drawing/2014/main" val="3400872202"/>
                  </a:ext>
                </a:extLst>
              </a:tr>
              <a:tr h="370840">
                <a:tc>
                  <a:txBody>
                    <a:bodyPr/>
                    <a:lstStyle/>
                    <a:p>
                      <a:pPr algn="ctr"/>
                      <a:r>
                        <a:rPr lang="zh-CN" altLang="en-US" dirty="0"/>
                        <a:t>管理部</a:t>
                      </a:r>
                    </a:p>
                  </a:txBody>
                  <a:tcPr/>
                </a:tc>
                <a:extLst>
                  <a:ext uri="{0D108BD9-81ED-4DB2-BD59-A6C34878D82A}">
                    <a16:rowId xmlns:a16="http://schemas.microsoft.com/office/drawing/2014/main" val="682197785"/>
                  </a:ext>
                </a:extLst>
              </a:tr>
              <a:tr h="370840">
                <a:tc>
                  <a:txBody>
                    <a:bodyPr/>
                    <a:lstStyle/>
                    <a:p>
                      <a:pPr algn="ctr"/>
                      <a:r>
                        <a:rPr lang="zh-CN" altLang="en-US" dirty="0"/>
                        <a:t>采购部</a:t>
                      </a:r>
                    </a:p>
                  </a:txBody>
                  <a:tcPr/>
                </a:tc>
                <a:extLst>
                  <a:ext uri="{0D108BD9-81ED-4DB2-BD59-A6C34878D82A}">
                    <a16:rowId xmlns:a16="http://schemas.microsoft.com/office/drawing/2014/main" val="1758350712"/>
                  </a:ext>
                </a:extLst>
              </a:tr>
            </a:tbl>
          </a:graphicData>
        </a:graphic>
      </p:graphicFrame>
    </p:spTree>
    <p:extLst>
      <p:ext uri="{BB962C8B-B14F-4D97-AF65-F5344CB8AC3E}">
        <p14:creationId xmlns:p14="http://schemas.microsoft.com/office/powerpoint/2010/main" val="19247132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3138" name="Rectangle 2"/>
          <p:cNvSpPr>
            <a:spLocks noChangeArrowheads="1"/>
          </p:cNvSpPr>
          <p:nvPr/>
        </p:nvSpPr>
        <p:spPr bwMode="auto">
          <a:xfrm>
            <a:off x="0" y="115888"/>
            <a:ext cx="9601200" cy="1160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00000"/>
              </a:lnSpc>
            </a:pPr>
            <a:r>
              <a:rPr lang="en-US" altLang="zh-CN" sz="2800" b="1">
                <a:solidFill>
                  <a:srgbClr val="660033"/>
                </a:solidFill>
              </a:rPr>
              <a:t>  5. </a:t>
            </a:r>
            <a:r>
              <a:rPr lang="zh-CN" altLang="en-US" sz="2800" b="1">
                <a:solidFill>
                  <a:srgbClr val="660033"/>
                </a:solidFill>
              </a:rPr>
              <a:t>选择</a:t>
            </a:r>
            <a:r>
              <a:rPr lang="en-US" altLang="zh-CN" sz="2800" b="1">
                <a:solidFill>
                  <a:srgbClr val="660033"/>
                </a:solidFill>
              </a:rPr>
              <a:t>(selection) </a:t>
            </a:r>
          </a:p>
          <a:p>
            <a:pPr eaLnBrk="0" hangingPunct="0">
              <a:lnSpc>
                <a:spcPct val="100000"/>
              </a:lnSpc>
            </a:pPr>
            <a:r>
              <a:rPr lang="en-US" altLang="zh-CN" sz="2400" b="1">
                <a:solidFill>
                  <a:schemeClr val="bg2"/>
                </a:solidFill>
              </a:rPr>
              <a:t>  </a:t>
            </a:r>
            <a:r>
              <a:rPr lang="zh-CN" altLang="en-US" sz="2800" b="1">
                <a:solidFill>
                  <a:schemeClr val="bg1"/>
                </a:solidFill>
              </a:rPr>
              <a:t>根据某些条件对关系做水平分割</a:t>
            </a:r>
            <a:r>
              <a:rPr lang="en-US" altLang="zh-CN" sz="2800" b="1">
                <a:solidFill>
                  <a:schemeClr val="bg1"/>
                </a:solidFill>
              </a:rPr>
              <a:t>,</a:t>
            </a:r>
            <a:r>
              <a:rPr lang="zh-CN" altLang="en-US" sz="2800" b="1">
                <a:solidFill>
                  <a:schemeClr val="bg1"/>
                </a:solidFill>
              </a:rPr>
              <a:t>选择符合条件的元组。</a:t>
            </a:r>
            <a:endParaRPr lang="zh-CN" altLang="en-US" sz="3200" b="1">
              <a:solidFill>
                <a:schemeClr val="bg1"/>
              </a:solidFill>
            </a:endParaRPr>
          </a:p>
        </p:txBody>
      </p:sp>
      <p:grpSp>
        <p:nvGrpSpPr>
          <p:cNvPr id="604165" name="Group 1029"/>
          <p:cNvGrpSpPr>
            <a:grpSpLocks/>
          </p:cNvGrpSpPr>
          <p:nvPr/>
        </p:nvGrpSpPr>
        <p:grpSpPr bwMode="auto">
          <a:xfrm>
            <a:off x="0" y="1412875"/>
            <a:ext cx="9180513" cy="3260725"/>
            <a:chOff x="0" y="890"/>
            <a:chExt cx="5783" cy="2054"/>
          </a:xfrm>
        </p:grpSpPr>
        <p:sp>
          <p:nvSpPr>
            <p:cNvPr id="603139" name="Rectangle 3"/>
            <p:cNvSpPr>
              <a:spLocks noChangeArrowheads="1"/>
            </p:cNvSpPr>
            <p:nvPr/>
          </p:nvSpPr>
          <p:spPr bwMode="auto">
            <a:xfrm>
              <a:off x="0" y="890"/>
              <a:ext cx="5760" cy="40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2400" b="1">
                  <a:solidFill>
                    <a:srgbClr val="000099"/>
                  </a:solidFill>
                </a:rPr>
                <a:t>   </a:t>
              </a:r>
              <a:r>
                <a:rPr lang="zh-CN" altLang="en-US" sz="2400" b="1">
                  <a:solidFill>
                    <a:srgbClr val="000099"/>
                  </a:solidFill>
                </a:rPr>
                <a:t>条件用命题公式</a:t>
              </a:r>
              <a:r>
                <a:rPr lang="en-US" altLang="zh-CN" sz="2400" b="1">
                  <a:solidFill>
                    <a:srgbClr val="000099"/>
                  </a:solidFill>
                </a:rPr>
                <a:t>F</a:t>
              </a:r>
              <a:r>
                <a:rPr lang="zh-CN" altLang="en-US" sz="2400" b="1">
                  <a:solidFill>
                    <a:schemeClr val="bg2"/>
                  </a:solidFill>
                </a:rPr>
                <a:t>（即计算在括号中的条件表达式）</a:t>
              </a:r>
              <a:r>
                <a:rPr lang="zh-CN" altLang="en-US" sz="2400" b="1">
                  <a:solidFill>
                    <a:srgbClr val="000099"/>
                  </a:solidFill>
                </a:rPr>
                <a:t>表示</a:t>
              </a:r>
              <a:r>
                <a:rPr lang="en-US" altLang="zh-CN" sz="2400" b="1">
                  <a:solidFill>
                    <a:schemeClr val="bg2"/>
                  </a:solidFill>
                </a:rPr>
                <a:t>.</a:t>
              </a:r>
            </a:p>
          </p:txBody>
        </p:sp>
        <p:sp>
          <p:nvSpPr>
            <p:cNvPr id="603140" name="Rectangle 4"/>
            <p:cNvSpPr>
              <a:spLocks noChangeArrowheads="1"/>
            </p:cNvSpPr>
            <p:nvPr/>
          </p:nvSpPr>
          <p:spPr bwMode="auto">
            <a:xfrm>
              <a:off x="181" y="1253"/>
              <a:ext cx="5602" cy="16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40000"/>
                </a:lnSpc>
              </a:pPr>
              <a:r>
                <a:rPr lang="en-US" altLang="zh-CN" sz="2400" b="1">
                  <a:solidFill>
                    <a:schemeClr val="bg1"/>
                  </a:solidFill>
                </a:rPr>
                <a:t> </a:t>
              </a:r>
              <a:r>
                <a:rPr lang="en-US" altLang="zh-CN" sz="2400" b="1">
                  <a:solidFill>
                    <a:srgbClr val="000099"/>
                  </a:solidFill>
                </a:rPr>
                <a:t>F</a:t>
              </a:r>
              <a:r>
                <a:rPr lang="zh-CN" altLang="en-US" sz="2400" b="1">
                  <a:solidFill>
                    <a:srgbClr val="000099"/>
                  </a:solidFill>
                </a:rPr>
                <a:t>中的运算对象</a:t>
              </a:r>
              <a:r>
                <a:rPr lang="en-US" altLang="zh-CN" sz="2400" b="1">
                  <a:solidFill>
                    <a:srgbClr val="000099"/>
                  </a:solidFill>
                </a:rPr>
                <a:t>:</a:t>
              </a:r>
              <a:r>
                <a:rPr lang="en-US" altLang="zh-CN" sz="2400" b="1">
                  <a:solidFill>
                    <a:schemeClr val="bg2"/>
                  </a:solidFill>
                </a:rPr>
                <a:t>  </a:t>
              </a:r>
              <a:r>
                <a:rPr lang="zh-CN" altLang="en-US" sz="2400" b="1">
                  <a:solidFill>
                    <a:schemeClr val="bg2"/>
                  </a:solidFill>
                </a:rPr>
                <a:t>常量</a:t>
              </a:r>
              <a:r>
                <a:rPr lang="en-US" altLang="zh-CN" sz="2400" b="1">
                  <a:solidFill>
                    <a:schemeClr val="bg2"/>
                  </a:solidFill>
                </a:rPr>
                <a:t>(</a:t>
              </a:r>
              <a:r>
                <a:rPr lang="zh-CN" altLang="en-US" sz="2400" b="1">
                  <a:solidFill>
                    <a:schemeClr val="bg2"/>
                  </a:solidFill>
                </a:rPr>
                <a:t>用引号括起来）</a:t>
              </a:r>
              <a:r>
                <a:rPr lang="en-US" altLang="zh-CN" sz="2400" b="1">
                  <a:solidFill>
                    <a:schemeClr val="bg2"/>
                  </a:solidFill>
                </a:rPr>
                <a:t>,</a:t>
              </a:r>
            </a:p>
            <a:p>
              <a:pPr>
                <a:lnSpc>
                  <a:spcPct val="140000"/>
                </a:lnSpc>
              </a:pPr>
              <a:r>
                <a:rPr lang="en-US" altLang="zh-CN" sz="2400" b="1">
                  <a:solidFill>
                    <a:schemeClr val="bg2"/>
                  </a:solidFill>
                </a:rPr>
                <a:t>                 </a:t>
              </a:r>
              <a:r>
                <a:rPr lang="zh-CN" altLang="en-US" sz="2400" b="1">
                  <a:solidFill>
                    <a:schemeClr val="bg2"/>
                  </a:solidFill>
                </a:rPr>
                <a:t>元组分量（属性名或列的序号），</a:t>
              </a:r>
            </a:p>
            <a:p>
              <a:pPr>
                <a:lnSpc>
                  <a:spcPct val="140000"/>
                </a:lnSpc>
              </a:pPr>
              <a:r>
                <a:rPr lang="zh-CN" altLang="en-US" sz="2400" b="1">
                  <a:solidFill>
                    <a:schemeClr val="bg2"/>
                  </a:solidFill>
                </a:rPr>
                <a:t>                 算术比较运算符</a:t>
              </a:r>
              <a:r>
                <a:rPr lang="en-US" altLang="zh-CN" sz="2400" b="1">
                  <a:solidFill>
                    <a:schemeClr val="bg2"/>
                  </a:solidFill>
                </a:rPr>
                <a:t>:</a:t>
              </a:r>
              <a:r>
                <a:rPr lang="zh-CN" altLang="en-US" sz="2400" b="1">
                  <a:solidFill>
                    <a:schemeClr val="bg2"/>
                  </a:solidFill>
                </a:rPr>
                <a:t>＜，≤，＞，≥，＝，≠</a:t>
              </a:r>
              <a:r>
                <a:rPr lang="en-US" altLang="zh-CN" sz="2400" b="1">
                  <a:solidFill>
                    <a:schemeClr val="bg2"/>
                  </a:solidFill>
                </a:rPr>
                <a:t>,</a:t>
              </a:r>
            </a:p>
            <a:p>
              <a:pPr>
                <a:lnSpc>
                  <a:spcPct val="140000"/>
                </a:lnSpc>
              </a:pPr>
              <a:r>
                <a:rPr lang="en-US" altLang="zh-CN" sz="2400" b="1">
                  <a:solidFill>
                    <a:schemeClr val="bg2"/>
                  </a:solidFill>
                </a:rPr>
                <a:t>                 </a:t>
              </a:r>
              <a:r>
                <a:rPr lang="zh-CN" altLang="en-US" sz="2400" b="1">
                  <a:solidFill>
                    <a:schemeClr val="bg2"/>
                  </a:solidFill>
                </a:rPr>
                <a:t>逻辑运算符</a:t>
              </a:r>
              <a:r>
                <a:rPr lang="en-US" altLang="zh-CN" sz="2400" b="1">
                  <a:solidFill>
                    <a:schemeClr val="bg2"/>
                  </a:solidFill>
                </a:rPr>
                <a:t>: ∧</a:t>
              </a:r>
              <a:r>
                <a:rPr lang="zh-CN" altLang="en-US" sz="2400" b="1">
                  <a:solidFill>
                    <a:schemeClr val="bg2"/>
                  </a:solidFill>
                </a:rPr>
                <a:t>，∨，┐。</a:t>
              </a:r>
            </a:p>
          </p:txBody>
        </p:sp>
      </p:grpSp>
      <p:sp>
        <p:nvSpPr>
          <p:cNvPr id="603141" name="Rectangle 5"/>
          <p:cNvSpPr>
            <a:spLocks noChangeArrowheads="1"/>
          </p:cNvSpPr>
          <p:nvPr/>
        </p:nvSpPr>
        <p:spPr bwMode="auto">
          <a:xfrm>
            <a:off x="468313" y="4702175"/>
            <a:ext cx="9144000" cy="1358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pPr>
            <a:r>
              <a:rPr lang="zh-CN" altLang="en-US" sz="2400" b="1" dirty="0">
                <a:solidFill>
                  <a:schemeClr val="bg2"/>
                </a:solidFill>
              </a:rPr>
              <a:t>关系</a:t>
            </a:r>
            <a:r>
              <a:rPr lang="en-US" altLang="zh-CN" sz="2400" b="1" dirty="0">
                <a:solidFill>
                  <a:schemeClr val="bg2"/>
                </a:solidFill>
              </a:rPr>
              <a:t>R</a:t>
            </a:r>
            <a:r>
              <a:rPr lang="zh-CN" altLang="en-US" sz="2400" b="1" dirty="0">
                <a:solidFill>
                  <a:schemeClr val="bg2"/>
                </a:solidFill>
              </a:rPr>
              <a:t>关于公式</a:t>
            </a:r>
            <a:r>
              <a:rPr lang="en-US" altLang="zh-CN" sz="2400" b="1" dirty="0">
                <a:solidFill>
                  <a:schemeClr val="bg2"/>
                </a:solidFill>
              </a:rPr>
              <a:t>F</a:t>
            </a:r>
            <a:r>
              <a:rPr lang="zh-CN" altLang="en-US" sz="2400" b="1" dirty="0">
                <a:solidFill>
                  <a:schemeClr val="bg2"/>
                </a:solidFill>
              </a:rPr>
              <a:t>的选择操作用</a:t>
            </a:r>
            <a:r>
              <a:rPr lang="en-US" altLang="zh-CN" sz="2400" b="1" dirty="0" err="1">
                <a:solidFill>
                  <a:schemeClr val="bg2"/>
                </a:solidFill>
              </a:rPr>
              <a:t>σ</a:t>
            </a:r>
            <a:r>
              <a:rPr lang="en-US" altLang="zh-CN" sz="2400" b="1" baseline="-25000" dirty="0" err="1">
                <a:solidFill>
                  <a:schemeClr val="bg2"/>
                </a:solidFill>
              </a:rPr>
              <a:t>F</a:t>
            </a:r>
            <a:r>
              <a:rPr lang="zh-CN" altLang="en-US" sz="2400" b="1" dirty="0">
                <a:solidFill>
                  <a:schemeClr val="bg2"/>
                </a:solidFill>
              </a:rPr>
              <a:t>（</a:t>
            </a:r>
            <a:r>
              <a:rPr lang="en-US" altLang="zh-CN" sz="2400" b="1" dirty="0">
                <a:solidFill>
                  <a:schemeClr val="bg2"/>
                </a:solidFill>
              </a:rPr>
              <a:t>R</a:t>
            </a:r>
            <a:r>
              <a:rPr lang="zh-CN" altLang="en-US" sz="2400" b="1" dirty="0">
                <a:solidFill>
                  <a:schemeClr val="bg2"/>
                </a:solidFill>
              </a:rPr>
              <a:t>）表示，形式定义如下：</a:t>
            </a:r>
          </a:p>
          <a:p>
            <a:pPr>
              <a:lnSpc>
                <a:spcPct val="120000"/>
              </a:lnSpc>
            </a:pPr>
            <a:r>
              <a:rPr lang="zh-CN" altLang="en-US" sz="3200" b="1" dirty="0">
                <a:solidFill>
                  <a:srgbClr val="660033"/>
                </a:solidFill>
              </a:rPr>
              <a:t>        </a:t>
            </a:r>
            <a:r>
              <a:rPr lang="en-US" altLang="zh-CN" sz="3200" b="1" dirty="0" err="1">
                <a:solidFill>
                  <a:srgbClr val="660033"/>
                </a:solidFill>
              </a:rPr>
              <a:t>σ</a:t>
            </a:r>
            <a:r>
              <a:rPr lang="en-US" altLang="zh-CN" sz="3200" b="1" baseline="-25000" dirty="0" err="1">
                <a:solidFill>
                  <a:srgbClr val="660033"/>
                </a:solidFill>
              </a:rPr>
              <a:t>F</a:t>
            </a:r>
            <a:r>
              <a:rPr lang="en-US" altLang="zh-CN" sz="3200" b="1" dirty="0">
                <a:solidFill>
                  <a:srgbClr val="660033"/>
                </a:solidFill>
              </a:rPr>
              <a:t>(R)={</a:t>
            </a:r>
            <a:r>
              <a:rPr lang="en-US" altLang="zh-CN" sz="3200" b="1" dirty="0" err="1">
                <a:solidFill>
                  <a:srgbClr val="660033"/>
                </a:solidFill>
              </a:rPr>
              <a:t>t|t∈R∧F</a:t>
            </a:r>
            <a:r>
              <a:rPr lang="en-US" altLang="zh-CN" sz="3200" b="1" dirty="0">
                <a:solidFill>
                  <a:srgbClr val="660033"/>
                </a:solidFill>
              </a:rPr>
              <a:t>(t)=</a:t>
            </a:r>
            <a:r>
              <a:rPr lang="en-US" altLang="zh-CN" sz="3200" b="1" dirty="0">
                <a:solidFill>
                  <a:srgbClr val="660033"/>
                </a:solidFill>
                <a:latin typeface="Times New Roman"/>
              </a:rPr>
              <a:t>‘</a:t>
            </a:r>
            <a:r>
              <a:rPr lang="en-US" altLang="zh-CN" sz="3200" b="1" dirty="0">
                <a:solidFill>
                  <a:srgbClr val="660033"/>
                </a:solidFill>
              </a:rPr>
              <a:t>T</a:t>
            </a:r>
            <a:r>
              <a:rPr lang="en-US" altLang="zh-CN" sz="3200" b="1" dirty="0">
                <a:solidFill>
                  <a:srgbClr val="660033"/>
                </a:solidFill>
                <a:latin typeface="Times New Roman"/>
              </a:rPr>
              <a:t>’</a:t>
            </a:r>
            <a:r>
              <a:rPr lang="en-US" altLang="zh-CN" sz="3200" b="1" dirty="0">
                <a:solidFill>
                  <a:srgbClr val="660033"/>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04165"/>
                                        </p:tgtEl>
                                        <p:attrNameLst>
                                          <p:attrName>style.visibility</p:attrName>
                                        </p:attrNameLst>
                                      </p:cBhvr>
                                      <p:to>
                                        <p:strVal val="visible"/>
                                      </p:to>
                                    </p:set>
                                    <p:animEffect transition="in" filter="blinds(horizontal)">
                                      <p:cBhvr>
                                        <p:cTn id="7" dur="500"/>
                                        <p:tgtEl>
                                          <p:spTgt spid="6041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2">
            <a:extLst>
              <a:ext uri="{FF2B5EF4-FFF2-40B4-BE49-F238E27FC236}">
                <a16:creationId xmlns:a16="http://schemas.microsoft.com/office/drawing/2014/main" id="{707C66C1-3073-0447-A37C-E717050A0E47}"/>
              </a:ext>
            </a:extLst>
          </p:cNvPr>
          <p:cNvSpPr>
            <a:spLocks noChangeArrowheads="1"/>
          </p:cNvSpPr>
          <p:nvPr/>
        </p:nvSpPr>
        <p:spPr bwMode="auto">
          <a:xfrm>
            <a:off x="107504" y="4656465"/>
            <a:ext cx="9144000" cy="21544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40000"/>
              </a:lnSpc>
            </a:pPr>
            <a:r>
              <a:rPr lang="zh-CN" altLang="en-US" sz="2000" b="1" dirty="0">
                <a:solidFill>
                  <a:srgbClr val="000099"/>
                </a:solidFill>
                <a:latin typeface="Times New Roman" pitchFamily="18" charset="0"/>
              </a:rPr>
              <a:t>（</a:t>
            </a:r>
            <a:r>
              <a:rPr lang="en-US" altLang="zh-CN" sz="2000" b="1" dirty="0">
                <a:solidFill>
                  <a:srgbClr val="000099"/>
                </a:solidFill>
                <a:latin typeface="Times New Roman" pitchFamily="18" charset="0"/>
              </a:rPr>
              <a:t>1</a:t>
            </a:r>
            <a:r>
              <a:rPr lang="zh-CN" altLang="en-US" sz="2000" b="1" dirty="0">
                <a:solidFill>
                  <a:srgbClr val="000099"/>
                </a:solidFill>
                <a:latin typeface="Times New Roman" pitchFamily="18" charset="0"/>
              </a:rPr>
              <a:t>）</a:t>
            </a:r>
            <a:r>
              <a:rPr lang="zh-CN" altLang="en-US" sz="2000" b="1" dirty="0">
                <a:solidFill>
                  <a:srgbClr val="000099"/>
                </a:solidFill>
              </a:rPr>
              <a:t>列出所有女生的基本情况。</a:t>
            </a:r>
            <a:endParaRPr lang="en-US" altLang="zh-CN" sz="2000" b="1" dirty="0">
              <a:solidFill>
                <a:srgbClr val="000099"/>
              </a:solidFill>
            </a:endParaRPr>
          </a:p>
          <a:p>
            <a:pPr eaLnBrk="0" hangingPunct="0">
              <a:lnSpc>
                <a:spcPct val="140000"/>
              </a:lnSpc>
            </a:pPr>
            <a:r>
              <a:rPr lang="zh-CN" altLang="en-US" sz="2000" b="1" dirty="0">
                <a:solidFill>
                  <a:srgbClr val="000099"/>
                </a:solidFill>
              </a:rPr>
              <a:t>选择的条件是：</a:t>
            </a:r>
            <a:r>
              <a:rPr lang="en-US" altLang="zh-CN" sz="2000" b="1" dirty="0">
                <a:solidFill>
                  <a:srgbClr val="000099"/>
                </a:solidFill>
              </a:rPr>
              <a:t>SEX=‘</a:t>
            </a:r>
            <a:r>
              <a:rPr lang="zh-CN" altLang="en-US" sz="2000" b="1" dirty="0">
                <a:solidFill>
                  <a:srgbClr val="000099"/>
                </a:solidFill>
              </a:rPr>
              <a:t>女</a:t>
            </a:r>
            <a:r>
              <a:rPr lang="en-US" altLang="zh-CN" sz="2000" b="1" dirty="0">
                <a:solidFill>
                  <a:srgbClr val="000099"/>
                </a:solidFill>
              </a:rPr>
              <a:t>’</a:t>
            </a:r>
          </a:p>
          <a:p>
            <a:pPr eaLnBrk="0" hangingPunct="0">
              <a:lnSpc>
                <a:spcPct val="140000"/>
              </a:lnSpc>
            </a:pPr>
            <a:r>
              <a:rPr lang="zh-CN" altLang="en-US" sz="2000" b="1" dirty="0">
                <a:solidFill>
                  <a:srgbClr val="000099"/>
                </a:solidFill>
              </a:rPr>
              <a:t>用关系代数表示为：</a:t>
            </a:r>
            <a:r>
              <a:rPr lang="en-US" altLang="zh-CN" sz="2000" b="1" dirty="0">
                <a:solidFill>
                  <a:srgbClr val="660033"/>
                </a:solidFill>
              </a:rPr>
              <a:t> </a:t>
            </a:r>
            <a:r>
              <a:rPr lang="en-US" altLang="zh-CN" sz="2000" b="1" dirty="0" err="1">
                <a:solidFill>
                  <a:srgbClr val="660033"/>
                </a:solidFill>
              </a:rPr>
              <a:t>σ</a:t>
            </a:r>
            <a:r>
              <a:rPr lang="en-US" altLang="zh-CN" sz="2000" b="1" baseline="-25000" dirty="0" err="1">
                <a:solidFill>
                  <a:srgbClr val="660033"/>
                </a:solidFill>
              </a:rPr>
              <a:t>SEX</a:t>
            </a:r>
            <a:r>
              <a:rPr lang="en-US" altLang="zh-CN" sz="2000" b="1" baseline="-25000" dirty="0">
                <a:solidFill>
                  <a:srgbClr val="660033"/>
                </a:solidFill>
              </a:rPr>
              <a:t>=</a:t>
            </a:r>
            <a:r>
              <a:rPr lang="zh-CN" altLang="en-US" sz="2000" b="1" baseline="-25000" dirty="0">
                <a:solidFill>
                  <a:srgbClr val="660033"/>
                </a:solidFill>
              </a:rPr>
              <a:t>‘女’</a:t>
            </a:r>
            <a:r>
              <a:rPr lang="en-US" altLang="zh-CN" sz="2000" b="1" dirty="0">
                <a:solidFill>
                  <a:srgbClr val="660033"/>
                </a:solidFill>
              </a:rPr>
              <a:t>(S)</a:t>
            </a:r>
            <a:r>
              <a:rPr lang="zh-CN" altLang="en-US" sz="2000" b="1" dirty="0">
                <a:solidFill>
                  <a:srgbClr val="660033"/>
                </a:solidFill>
              </a:rPr>
              <a:t> </a:t>
            </a:r>
            <a:r>
              <a:rPr lang="zh-CN" altLang="en-US" sz="2000" b="1" dirty="0">
                <a:solidFill>
                  <a:srgbClr val="000099"/>
                </a:solidFill>
              </a:rPr>
              <a:t>或 </a:t>
            </a:r>
            <a:r>
              <a:rPr lang="en-US" altLang="zh-CN" sz="2000" b="1" dirty="0">
                <a:solidFill>
                  <a:srgbClr val="660033"/>
                </a:solidFill>
              </a:rPr>
              <a:t>σ</a:t>
            </a:r>
            <a:r>
              <a:rPr lang="en-US" altLang="zh-CN" sz="2000" b="1" baseline="-25000" dirty="0">
                <a:solidFill>
                  <a:srgbClr val="660033"/>
                </a:solidFill>
              </a:rPr>
              <a:t>4=</a:t>
            </a:r>
            <a:r>
              <a:rPr lang="zh-CN" altLang="en-US" sz="2000" b="1" baseline="-25000" dirty="0">
                <a:solidFill>
                  <a:srgbClr val="660033"/>
                </a:solidFill>
              </a:rPr>
              <a:t>‘女’</a:t>
            </a:r>
            <a:r>
              <a:rPr lang="en-US" altLang="zh-CN" sz="2000" b="1" dirty="0">
                <a:solidFill>
                  <a:srgbClr val="660033"/>
                </a:solidFill>
              </a:rPr>
              <a:t>(S)</a:t>
            </a:r>
            <a:endParaRPr lang="zh-CN" altLang="en-US" sz="2000" b="1" dirty="0">
              <a:solidFill>
                <a:srgbClr val="000099"/>
              </a:solidFill>
            </a:endParaRPr>
          </a:p>
          <a:p>
            <a:pPr eaLnBrk="0" hangingPunct="0">
              <a:lnSpc>
                <a:spcPct val="100000"/>
              </a:lnSpc>
            </a:pPr>
            <a:r>
              <a:rPr lang="zh-CN" altLang="en-US" sz="2000" b="1" dirty="0">
                <a:solidFill>
                  <a:schemeClr val="bg2"/>
                </a:solidFill>
                <a:latin typeface="Times New Roman" pitchFamily="18" charset="0"/>
              </a:rPr>
              <a:t>        </a:t>
            </a:r>
          </a:p>
        </p:txBody>
      </p:sp>
      <p:graphicFrame>
        <p:nvGraphicFramePr>
          <p:cNvPr id="5" name="表格 2">
            <a:extLst>
              <a:ext uri="{FF2B5EF4-FFF2-40B4-BE49-F238E27FC236}">
                <a16:creationId xmlns:a16="http://schemas.microsoft.com/office/drawing/2014/main" id="{072FD92B-378F-FA49-A68E-4C4B042D6949}"/>
              </a:ext>
            </a:extLst>
          </p:cNvPr>
          <p:cNvGraphicFramePr>
            <a:graphicFrameLocks noGrp="1"/>
          </p:cNvGraphicFramePr>
          <p:nvPr>
            <p:extLst>
              <p:ext uri="{D42A27DB-BD31-4B8C-83A1-F6EECF244321}">
                <p14:modId xmlns:p14="http://schemas.microsoft.com/office/powerpoint/2010/main" val="1195222205"/>
              </p:ext>
            </p:extLst>
          </p:nvPr>
        </p:nvGraphicFramePr>
        <p:xfrm>
          <a:off x="2173875" y="349989"/>
          <a:ext cx="4796250" cy="370840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1226704">
                  <a:extLst>
                    <a:ext uri="{9D8B030D-6E8A-4147-A177-3AD203B41FA5}">
                      <a16:colId xmlns:a16="http://schemas.microsoft.com/office/drawing/2014/main" val="3954880262"/>
                    </a:ext>
                  </a:extLst>
                </a:gridCol>
                <a:gridCol w="959250">
                  <a:extLst>
                    <a:ext uri="{9D8B030D-6E8A-4147-A177-3AD203B41FA5}">
                      <a16:colId xmlns:a16="http://schemas.microsoft.com/office/drawing/2014/main" val="41684705"/>
                    </a:ext>
                  </a:extLst>
                </a:gridCol>
                <a:gridCol w="959250">
                  <a:extLst>
                    <a:ext uri="{9D8B030D-6E8A-4147-A177-3AD203B41FA5}">
                      <a16:colId xmlns:a16="http://schemas.microsoft.com/office/drawing/2014/main" val="2861137485"/>
                    </a:ext>
                  </a:extLst>
                </a:gridCol>
                <a:gridCol w="959250">
                  <a:extLst>
                    <a:ext uri="{9D8B030D-6E8A-4147-A177-3AD203B41FA5}">
                      <a16:colId xmlns:a16="http://schemas.microsoft.com/office/drawing/2014/main" val="119331567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tc>
                  <a:txBody>
                    <a:bodyPr/>
                    <a:lstStyle/>
                    <a:p>
                      <a:pPr algn="ctr"/>
                      <a:r>
                        <a:rPr lang="en-US" altLang="zh-CN" dirty="0"/>
                        <a:t>AGE</a:t>
                      </a:r>
                      <a:endParaRPr lang="zh-CN" altLang="en-US" dirty="0"/>
                    </a:p>
                  </a:txBody>
                  <a:tcPr/>
                </a:tc>
                <a:tc>
                  <a:txBody>
                    <a:bodyPr/>
                    <a:lstStyle/>
                    <a:p>
                      <a:pPr algn="ctr"/>
                      <a:r>
                        <a:rPr lang="en-US" altLang="zh-CN" dirty="0"/>
                        <a:t>SEX</a:t>
                      </a:r>
                      <a:endParaRPr lang="zh-CN" altLang="en-US" dirty="0"/>
                    </a:p>
                  </a:txBody>
                  <a:tcPr/>
                </a:tc>
                <a:tc>
                  <a:txBody>
                    <a:bodyPr/>
                    <a:lstStyle/>
                    <a:p>
                      <a:pPr algn="ctr"/>
                      <a:r>
                        <a:rPr lang="en-US" altLang="zh-CN" dirty="0"/>
                        <a:t>SDEPT</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370840">
                <a:tc>
                  <a:txBody>
                    <a:bodyPr/>
                    <a:lstStyle/>
                    <a:p>
                      <a:pPr algn="ctr"/>
                      <a:r>
                        <a:rPr lang="en-US" altLang="zh-CN" dirty="0"/>
                        <a:t>S2</a:t>
                      </a:r>
                      <a:endParaRPr lang="zh-CN" altLang="en-US" dirty="0"/>
                    </a:p>
                  </a:txBody>
                  <a:tcPr/>
                </a:tc>
                <a:tc>
                  <a:txBody>
                    <a:bodyPr/>
                    <a:lstStyle/>
                    <a:p>
                      <a:pPr algn="ctr"/>
                      <a:r>
                        <a:rPr lang="zh-CN" altLang="en-US" dirty="0"/>
                        <a:t>张飞</a:t>
                      </a:r>
                    </a:p>
                  </a:txBody>
                  <a:tcPr/>
                </a:tc>
                <a:tc>
                  <a:txBody>
                    <a:bodyPr/>
                    <a:lstStyle/>
                    <a:p>
                      <a:pPr algn="ctr"/>
                      <a:r>
                        <a:rPr lang="en-US" altLang="zh-CN" dirty="0"/>
                        <a:t>20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男</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8418211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S3</a:t>
                      </a:r>
                      <a:endParaRPr lang="zh-CN" altLang="en-US" dirty="0"/>
                    </a:p>
                  </a:txBody>
                  <a:tcPr/>
                </a:tc>
                <a:tc>
                  <a:txBody>
                    <a:bodyPr/>
                    <a:lstStyle/>
                    <a:p>
                      <a:pPr algn="ctr"/>
                      <a:r>
                        <a:rPr lang="zh-CN" altLang="en-US" dirty="0"/>
                        <a:t>刘莎莎</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zh-CN" altLang="en-US" dirty="0"/>
                        <a:t>李小刚</a:t>
                      </a:r>
                    </a:p>
                  </a:txBody>
                  <a:tcPr/>
                </a:tc>
                <a:tc>
                  <a:txBody>
                    <a:bodyPr/>
                    <a:lstStyle/>
                    <a:p>
                      <a:pPr algn="ctr"/>
                      <a:r>
                        <a:rPr lang="en-US" altLang="zh-CN" dirty="0"/>
                        <a:t>21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男</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2604247982"/>
                  </a:ext>
                </a:extLst>
              </a:tr>
              <a:tr h="370840">
                <a:tc>
                  <a:txBody>
                    <a:bodyPr/>
                    <a:lstStyle/>
                    <a:p>
                      <a:pPr algn="ctr"/>
                      <a:r>
                        <a:rPr lang="en-US" altLang="zh-CN" dirty="0"/>
                        <a:t>S6</a:t>
                      </a:r>
                      <a:endParaRPr lang="zh-CN" altLang="en-US" dirty="0"/>
                    </a:p>
                  </a:txBody>
                  <a:tcPr/>
                </a:tc>
                <a:tc>
                  <a:txBody>
                    <a:bodyPr/>
                    <a:lstStyle/>
                    <a:p>
                      <a:pPr algn="ctr"/>
                      <a:r>
                        <a:rPr lang="zh-CN" altLang="en-US" dirty="0"/>
                        <a:t>陈爱国</a:t>
                      </a:r>
                    </a:p>
                  </a:txBody>
                  <a:tcPr/>
                </a:tc>
                <a:tc>
                  <a:txBody>
                    <a:bodyPr/>
                    <a:lstStyle/>
                    <a:p>
                      <a:pPr algn="ctr"/>
                      <a:r>
                        <a:rPr lang="en-US" altLang="zh-CN" dirty="0"/>
                        <a:t>19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extLst>
                  <a:ext uri="{0D108BD9-81ED-4DB2-BD59-A6C34878D82A}">
                    <a16:rowId xmlns:a16="http://schemas.microsoft.com/office/drawing/2014/main" val="12364095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S7</a:t>
                      </a:r>
                      <a:endParaRPr lang="zh-CN" altLang="en-US" dirty="0"/>
                    </a:p>
                  </a:txBody>
                  <a:tcPr/>
                </a:tc>
                <a:tc>
                  <a:txBody>
                    <a:bodyPr/>
                    <a:lstStyle/>
                    <a:p>
                      <a:pPr algn="ctr"/>
                      <a:r>
                        <a:rPr lang="zh-CN" altLang="en-US" dirty="0"/>
                        <a:t>柳庆国</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22310997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S8</a:t>
                      </a:r>
                      <a:endParaRPr lang="zh-CN" altLang="en-US" dirty="0"/>
                    </a:p>
                  </a:txBody>
                  <a:tcPr/>
                </a:tc>
                <a:tc>
                  <a:txBody>
                    <a:bodyPr/>
                    <a:lstStyle/>
                    <a:p>
                      <a:pPr algn="ctr"/>
                      <a:r>
                        <a:rPr lang="zh-CN" altLang="en-US" dirty="0"/>
                        <a:t>姜名</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extLst>
                  <a:ext uri="{0D108BD9-81ED-4DB2-BD59-A6C34878D82A}">
                    <a16:rowId xmlns:a16="http://schemas.microsoft.com/office/drawing/2014/main" val="11242298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S9</a:t>
                      </a:r>
                      <a:endParaRPr lang="zh-CN" altLang="en-US" dirty="0"/>
                    </a:p>
                  </a:txBody>
                  <a:tcPr/>
                </a:tc>
                <a:tc>
                  <a:txBody>
                    <a:bodyPr/>
                    <a:lstStyle/>
                    <a:p>
                      <a:pPr algn="ctr"/>
                      <a:r>
                        <a:rPr lang="zh-CN" altLang="en-US" dirty="0"/>
                        <a:t>王莉</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女</a:t>
                      </a:r>
                    </a:p>
                  </a:txBody>
                  <a:tcPr/>
                </a:tc>
                <a:tc>
                  <a:txBody>
                    <a:bodyPr/>
                    <a:lstStyle/>
                    <a:p>
                      <a:pPr algn="ctr"/>
                      <a:r>
                        <a:rPr lang="zh-CN" altLang="en-US" dirty="0"/>
                        <a:t>计算机</a:t>
                      </a:r>
                    </a:p>
                  </a:txBody>
                  <a:tcPr/>
                </a:tc>
                <a:extLst>
                  <a:ext uri="{0D108BD9-81ED-4DB2-BD59-A6C34878D82A}">
                    <a16:rowId xmlns:a16="http://schemas.microsoft.com/office/drawing/2014/main" val="1909949203"/>
                  </a:ext>
                </a:extLst>
              </a:tr>
            </a:tbl>
          </a:graphicData>
        </a:graphic>
      </p:graphicFrame>
      <p:sp>
        <p:nvSpPr>
          <p:cNvPr id="6" name="文本框 5">
            <a:extLst>
              <a:ext uri="{FF2B5EF4-FFF2-40B4-BE49-F238E27FC236}">
                <a16:creationId xmlns:a16="http://schemas.microsoft.com/office/drawing/2014/main" id="{CA857ED7-12F6-E147-B501-66687781BAAD}"/>
              </a:ext>
            </a:extLst>
          </p:cNvPr>
          <p:cNvSpPr txBox="1"/>
          <p:nvPr/>
        </p:nvSpPr>
        <p:spPr>
          <a:xfrm>
            <a:off x="3963500" y="11435"/>
            <a:ext cx="1217000" cy="338554"/>
          </a:xfrm>
          <a:prstGeom prst="rect">
            <a:avLst/>
          </a:prstGeom>
          <a:noFill/>
        </p:spPr>
        <p:txBody>
          <a:bodyPr wrap="none" rtlCol="0">
            <a:spAutoFit/>
          </a:bodyPr>
          <a:lstStyle/>
          <a:p>
            <a:r>
              <a:rPr kumimoji="1" lang="zh-CN" altLang="en-US" sz="2000" b="1" u="sng" dirty="0">
                <a:solidFill>
                  <a:schemeClr val="bg1"/>
                </a:solidFill>
              </a:rPr>
              <a:t>学生关系</a:t>
            </a:r>
          </a:p>
        </p:txBody>
      </p:sp>
      <p:sp>
        <p:nvSpPr>
          <p:cNvPr id="9" name="右箭头 8">
            <a:extLst>
              <a:ext uri="{FF2B5EF4-FFF2-40B4-BE49-F238E27FC236}">
                <a16:creationId xmlns:a16="http://schemas.microsoft.com/office/drawing/2014/main" id="{4324E6C7-0557-1F4B-8BF1-9510749D36D4}"/>
              </a:ext>
            </a:extLst>
          </p:cNvPr>
          <p:cNvSpPr/>
          <p:nvPr/>
        </p:nvSpPr>
        <p:spPr bwMode="auto">
          <a:xfrm rot="1401804">
            <a:off x="6189672" y="4176705"/>
            <a:ext cx="576064" cy="288032"/>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graphicFrame>
        <p:nvGraphicFramePr>
          <p:cNvPr id="10" name="表格 2">
            <a:extLst>
              <a:ext uri="{FF2B5EF4-FFF2-40B4-BE49-F238E27FC236}">
                <a16:creationId xmlns:a16="http://schemas.microsoft.com/office/drawing/2014/main" id="{9B7922CD-63F3-874B-8A2F-C04B4AF3D527}"/>
              </a:ext>
            </a:extLst>
          </p:cNvPr>
          <p:cNvGraphicFramePr>
            <a:graphicFrameLocks noGrp="1"/>
          </p:cNvGraphicFramePr>
          <p:nvPr>
            <p:extLst>
              <p:ext uri="{D42A27DB-BD31-4B8C-83A1-F6EECF244321}">
                <p14:modId xmlns:p14="http://schemas.microsoft.com/office/powerpoint/2010/main" val="356123247"/>
              </p:ext>
            </p:extLst>
          </p:nvPr>
        </p:nvGraphicFramePr>
        <p:xfrm>
          <a:off x="4211960" y="4583054"/>
          <a:ext cx="4697031" cy="1112520"/>
        </p:xfrm>
        <a:graphic>
          <a:graphicData uri="http://schemas.openxmlformats.org/drawingml/2006/table">
            <a:tbl>
              <a:tblPr firstRow="1" bandRow="1">
                <a:tableStyleId>{21E4AEA4-8DFA-4A89-87EB-49C32662AFE0}</a:tableStyleId>
              </a:tblPr>
              <a:tblGrid>
                <a:gridCol w="677485">
                  <a:extLst>
                    <a:ext uri="{9D8B030D-6E8A-4147-A177-3AD203B41FA5}">
                      <a16:colId xmlns:a16="http://schemas.microsoft.com/office/drawing/2014/main" val="3250390251"/>
                    </a:ext>
                  </a:extLst>
                </a:gridCol>
                <a:gridCol w="1201328">
                  <a:extLst>
                    <a:ext uri="{9D8B030D-6E8A-4147-A177-3AD203B41FA5}">
                      <a16:colId xmlns:a16="http://schemas.microsoft.com/office/drawing/2014/main" val="3954880262"/>
                    </a:ext>
                  </a:extLst>
                </a:gridCol>
                <a:gridCol w="939406">
                  <a:extLst>
                    <a:ext uri="{9D8B030D-6E8A-4147-A177-3AD203B41FA5}">
                      <a16:colId xmlns:a16="http://schemas.microsoft.com/office/drawing/2014/main" val="41684705"/>
                    </a:ext>
                  </a:extLst>
                </a:gridCol>
                <a:gridCol w="939406">
                  <a:extLst>
                    <a:ext uri="{9D8B030D-6E8A-4147-A177-3AD203B41FA5}">
                      <a16:colId xmlns:a16="http://schemas.microsoft.com/office/drawing/2014/main" val="2861137485"/>
                    </a:ext>
                  </a:extLst>
                </a:gridCol>
                <a:gridCol w="939406">
                  <a:extLst>
                    <a:ext uri="{9D8B030D-6E8A-4147-A177-3AD203B41FA5}">
                      <a16:colId xmlns:a16="http://schemas.microsoft.com/office/drawing/2014/main" val="119331567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tc>
                  <a:txBody>
                    <a:bodyPr/>
                    <a:lstStyle/>
                    <a:p>
                      <a:pPr algn="ctr"/>
                      <a:r>
                        <a:rPr lang="en-US" altLang="zh-CN" dirty="0"/>
                        <a:t>AGE</a:t>
                      </a:r>
                      <a:endParaRPr lang="zh-CN" altLang="en-US" dirty="0"/>
                    </a:p>
                  </a:txBody>
                  <a:tcPr/>
                </a:tc>
                <a:tc>
                  <a:txBody>
                    <a:bodyPr/>
                    <a:lstStyle/>
                    <a:p>
                      <a:pPr algn="ctr"/>
                      <a:r>
                        <a:rPr lang="en-US" altLang="zh-CN" dirty="0"/>
                        <a:t>SEX</a:t>
                      </a:r>
                      <a:endParaRPr lang="zh-CN" altLang="en-US" dirty="0"/>
                    </a:p>
                  </a:txBody>
                  <a:tcPr/>
                </a:tc>
                <a:tc>
                  <a:txBody>
                    <a:bodyPr/>
                    <a:lstStyle/>
                    <a:p>
                      <a:pPr algn="ctr"/>
                      <a:r>
                        <a:rPr lang="en-US" altLang="zh-CN" dirty="0"/>
                        <a:t>SDEPT</a:t>
                      </a:r>
                      <a:endParaRPr lang="zh-CN" altLang="en-US" dirty="0"/>
                    </a:p>
                  </a:txBody>
                  <a:tcPr/>
                </a:tc>
                <a:extLst>
                  <a:ext uri="{0D108BD9-81ED-4DB2-BD59-A6C34878D82A}">
                    <a16:rowId xmlns:a16="http://schemas.microsoft.com/office/drawing/2014/main" val="314599087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S3</a:t>
                      </a:r>
                      <a:endParaRPr lang="zh-CN" altLang="en-US" dirty="0"/>
                    </a:p>
                  </a:txBody>
                  <a:tcPr/>
                </a:tc>
                <a:tc>
                  <a:txBody>
                    <a:bodyPr/>
                    <a:lstStyle/>
                    <a:p>
                      <a:pPr algn="ctr"/>
                      <a:r>
                        <a:rPr lang="zh-CN" altLang="en-US" dirty="0"/>
                        <a:t>刘莎莎</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S9</a:t>
                      </a:r>
                      <a:endParaRPr lang="zh-CN" altLang="en-US" dirty="0"/>
                    </a:p>
                  </a:txBody>
                  <a:tcPr/>
                </a:tc>
                <a:tc>
                  <a:txBody>
                    <a:bodyPr/>
                    <a:lstStyle/>
                    <a:p>
                      <a:pPr algn="ctr"/>
                      <a:r>
                        <a:rPr lang="zh-CN" altLang="en-US" dirty="0"/>
                        <a:t>王莉</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女</a:t>
                      </a:r>
                    </a:p>
                  </a:txBody>
                  <a:tcPr/>
                </a:tc>
                <a:tc>
                  <a:txBody>
                    <a:bodyPr/>
                    <a:lstStyle/>
                    <a:p>
                      <a:pPr algn="ctr"/>
                      <a:r>
                        <a:rPr lang="zh-CN" altLang="en-US" dirty="0"/>
                        <a:t>计算机</a:t>
                      </a:r>
                    </a:p>
                  </a:txBody>
                  <a:tcPr/>
                </a:tc>
                <a:extLst>
                  <a:ext uri="{0D108BD9-81ED-4DB2-BD59-A6C34878D82A}">
                    <a16:rowId xmlns:a16="http://schemas.microsoft.com/office/drawing/2014/main" val="1909949203"/>
                  </a:ext>
                </a:extLst>
              </a:tr>
            </a:tbl>
          </a:graphicData>
        </a:graphic>
      </p:graphicFrame>
      <p:sp>
        <p:nvSpPr>
          <p:cNvPr id="11" name="文本框 10">
            <a:extLst>
              <a:ext uri="{FF2B5EF4-FFF2-40B4-BE49-F238E27FC236}">
                <a16:creationId xmlns:a16="http://schemas.microsoft.com/office/drawing/2014/main" id="{6109FBD8-D128-1B47-ADBB-EAB013075BB9}"/>
              </a:ext>
            </a:extLst>
          </p:cNvPr>
          <p:cNvSpPr txBox="1"/>
          <p:nvPr/>
        </p:nvSpPr>
        <p:spPr>
          <a:xfrm>
            <a:off x="6799231" y="4161717"/>
            <a:ext cx="1685077" cy="313932"/>
          </a:xfrm>
          <a:prstGeom prst="rect">
            <a:avLst/>
          </a:prstGeom>
          <a:noFill/>
        </p:spPr>
        <p:txBody>
          <a:bodyPr wrap="none" rtlCol="0">
            <a:spAutoFit/>
          </a:bodyPr>
          <a:lstStyle/>
          <a:p>
            <a:r>
              <a:rPr kumimoji="1" lang="en-US" altLang="zh-CN" dirty="0">
                <a:solidFill>
                  <a:srgbClr val="FF0000"/>
                </a:solidFill>
              </a:rPr>
              <a:t> </a:t>
            </a:r>
            <a:r>
              <a:rPr lang="zh-CN" altLang="en-US" dirty="0">
                <a:solidFill>
                  <a:srgbClr val="FF0000"/>
                </a:solidFill>
              </a:rPr>
              <a:t>选择</a:t>
            </a:r>
            <a:r>
              <a:rPr kumimoji="1" lang="zh-CN" altLang="en-US" dirty="0">
                <a:solidFill>
                  <a:srgbClr val="FF0000"/>
                </a:solidFill>
              </a:rPr>
              <a:t>运算结果</a:t>
            </a:r>
          </a:p>
        </p:txBody>
      </p:sp>
    </p:spTree>
    <p:extLst>
      <p:ext uri="{BB962C8B-B14F-4D97-AF65-F5344CB8AC3E}">
        <p14:creationId xmlns:p14="http://schemas.microsoft.com/office/powerpoint/2010/main" val="3050295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9" grpId="0" animBg="1"/>
      <p:bldP spid="11"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62" name="Rectangle 2"/>
          <p:cNvSpPr>
            <a:spLocks noChangeArrowheads="1"/>
          </p:cNvSpPr>
          <p:nvPr/>
        </p:nvSpPr>
        <p:spPr bwMode="auto">
          <a:xfrm>
            <a:off x="232916" y="0"/>
            <a:ext cx="8892480" cy="46316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latinLnBrk="1">
              <a:lnSpc>
                <a:spcPct val="120000"/>
              </a:lnSpc>
            </a:pPr>
            <a:r>
              <a:rPr lang="en-US" altLang="zh-CN" sz="2400" b="1" dirty="0">
                <a:solidFill>
                  <a:srgbClr val="000099"/>
                </a:solidFill>
              </a:rPr>
              <a:t>  </a:t>
            </a:r>
            <a:r>
              <a:rPr lang="zh-CN" altLang="en-US" sz="2400" b="1" dirty="0">
                <a:solidFill>
                  <a:srgbClr val="000099"/>
                </a:solidFill>
              </a:rPr>
              <a:t>三、关系代数的组合操作</a:t>
            </a:r>
          </a:p>
          <a:p>
            <a:pPr latinLnBrk="1">
              <a:lnSpc>
                <a:spcPct val="120000"/>
              </a:lnSpc>
            </a:pPr>
            <a:r>
              <a:rPr lang="zh-CN" altLang="en-US" sz="2400" b="1" dirty="0">
                <a:solidFill>
                  <a:srgbClr val="660033"/>
                </a:solidFill>
              </a:rPr>
              <a:t>  </a:t>
            </a:r>
            <a:r>
              <a:rPr lang="en-US" altLang="zh-CN" sz="2400" b="1" dirty="0">
                <a:solidFill>
                  <a:srgbClr val="660033"/>
                </a:solidFill>
              </a:rPr>
              <a:t>1</a:t>
            </a:r>
            <a:r>
              <a:rPr lang="zh-CN" altLang="en-US" sz="2400" b="1" dirty="0">
                <a:solidFill>
                  <a:srgbClr val="660033"/>
                </a:solidFill>
              </a:rPr>
              <a:t>、交（</a:t>
            </a:r>
            <a:r>
              <a:rPr lang="en-US" altLang="zh-CN" sz="2400" b="1" dirty="0">
                <a:solidFill>
                  <a:srgbClr val="660033"/>
                </a:solidFill>
              </a:rPr>
              <a:t>intersection</a:t>
            </a:r>
            <a:r>
              <a:rPr lang="zh-CN" altLang="en-US" sz="2400" b="1" dirty="0">
                <a:solidFill>
                  <a:srgbClr val="660033"/>
                </a:solidFill>
              </a:rPr>
              <a:t>）</a:t>
            </a:r>
          </a:p>
          <a:p>
            <a:pPr latinLnBrk="1">
              <a:lnSpc>
                <a:spcPct val="120000"/>
              </a:lnSpc>
            </a:pPr>
            <a:r>
              <a:rPr lang="zh-CN" altLang="en-US" sz="2400" b="1" dirty="0">
                <a:solidFill>
                  <a:schemeClr val="bg2"/>
                </a:solidFill>
              </a:rPr>
              <a:t>   设关系</a:t>
            </a:r>
            <a:r>
              <a:rPr lang="en-US" altLang="zh-CN" sz="2400" b="1" dirty="0">
                <a:solidFill>
                  <a:schemeClr val="bg2"/>
                </a:solidFill>
              </a:rPr>
              <a:t>R</a:t>
            </a:r>
            <a:r>
              <a:rPr lang="zh-CN" altLang="en-US" sz="2400" b="1" dirty="0">
                <a:solidFill>
                  <a:schemeClr val="bg2"/>
                </a:solidFill>
              </a:rPr>
              <a:t>和关系</a:t>
            </a:r>
            <a:r>
              <a:rPr lang="en-US" altLang="zh-CN" sz="2400" b="1" dirty="0">
                <a:solidFill>
                  <a:schemeClr val="bg2"/>
                </a:solidFill>
              </a:rPr>
              <a:t>S</a:t>
            </a:r>
            <a:r>
              <a:rPr lang="zh-CN" altLang="en-US" sz="2400" b="1" dirty="0">
                <a:solidFill>
                  <a:schemeClr val="bg2"/>
                </a:solidFill>
              </a:rPr>
              <a:t>具有相同的元数</a:t>
            </a:r>
            <a:r>
              <a:rPr lang="en-US" altLang="zh-CN" sz="2400" b="1" dirty="0">
                <a:solidFill>
                  <a:schemeClr val="bg2"/>
                </a:solidFill>
              </a:rPr>
              <a:t>n</a:t>
            </a:r>
            <a:r>
              <a:rPr lang="zh-CN" altLang="en-US" sz="2400" b="1" dirty="0">
                <a:solidFill>
                  <a:schemeClr val="bg2"/>
                </a:solidFill>
              </a:rPr>
              <a:t>（即两个关系都有</a:t>
            </a:r>
            <a:r>
              <a:rPr lang="en-US" altLang="zh-CN" sz="2400" b="1" dirty="0">
                <a:solidFill>
                  <a:schemeClr val="bg2"/>
                </a:solidFill>
              </a:rPr>
              <a:t>n</a:t>
            </a:r>
            <a:r>
              <a:rPr lang="zh-CN" altLang="en-US" sz="2400" b="1" dirty="0">
                <a:solidFill>
                  <a:schemeClr val="bg2"/>
                </a:solidFill>
              </a:rPr>
              <a:t>个属性），而且</a:t>
            </a:r>
            <a:r>
              <a:rPr lang="zh-CN" altLang="en-US" sz="2400" b="1" u="sng" dirty="0">
                <a:solidFill>
                  <a:schemeClr val="bg2"/>
                </a:solidFill>
              </a:rPr>
              <a:t>相应的属性取自</a:t>
            </a:r>
            <a:r>
              <a:rPr lang="zh-CN" altLang="en-US" sz="2400" b="1" dirty="0">
                <a:solidFill>
                  <a:schemeClr val="bg2"/>
                </a:solidFill>
              </a:rPr>
              <a:t>同一个域。关系</a:t>
            </a:r>
            <a:r>
              <a:rPr lang="en-US" altLang="zh-CN" sz="2400" b="1" dirty="0">
                <a:solidFill>
                  <a:schemeClr val="bg2"/>
                </a:solidFill>
              </a:rPr>
              <a:t>R</a:t>
            </a:r>
            <a:r>
              <a:rPr lang="zh-CN" altLang="en-US" sz="2400" b="1" dirty="0">
                <a:solidFill>
                  <a:schemeClr val="bg2"/>
                </a:solidFill>
              </a:rPr>
              <a:t>和</a:t>
            </a:r>
            <a:r>
              <a:rPr lang="en-US" altLang="zh-CN" sz="2400" b="1" dirty="0">
                <a:solidFill>
                  <a:schemeClr val="bg2"/>
                </a:solidFill>
              </a:rPr>
              <a:t>S</a:t>
            </a:r>
            <a:r>
              <a:rPr lang="zh-CN" altLang="en-US" sz="2400" b="1" dirty="0">
                <a:solidFill>
                  <a:schemeClr val="bg2"/>
                </a:solidFill>
              </a:rPr>
              <a:t>的交记为</a:t>
            </a:r>
            <a:r>
              <a:rPr lang="en-US" altLang="zh-CN" sz="2400" b="1" dirty="0">
                <a:solidFill>
                  <a:schemeClr val="bg2"/>
                </a:solidFill>
              </a:rPr>
              <a:t>R∩S</a:t>
            </a:r>
            <a:r>
              <a:rPr lang="zh-CN" altLang="en-US" sz="2400" b="1" dirty="0">
                <a:solidFill>
                  <a:schemeClr val="bg2"/>
                </a:solidFill>
              </a:rPr>
              <a:t>，结果仍为</a:t>
            </a:r>
            <a:r>
              <a:rPr lang="en-US" altLang="zh-CN" sz="2400" b="1" dirty="0">
                <a:solidFill>
                  <a:schemeClr val="bg2"/>
                </a:solidFill>
              </a:rPr>
              <a:t>n</a:t>
            </a:r>
            <a:r>
              <a:rPr lang="zh-CN" altLang="en-US" sz="2400" b="1" dirty="0">
                <a:solidFill>
                  <a:schemeClr val="bg2"/>
                </a:solidFill>
              </a:rPr>
              <a:t>元的关系。由既属于</a:t>
            </a:r>
            <a:r>
              <a:rPr lang="en-US" altLang="zh-CN" sz="2400" b="1" dirty="0">
                <a:solidFill>
                  <a:schemeClr val="bg2"/>
                </a:solidFill>
              </a:rPr>
              <a:t>R</a:t>
            </a:r>
            <a:r>
              <a:rPr lang="zh-CN" altLang="en-US" sz="2400" b="1" dirty="0">
                <a:solidFill>
                  <a:schemeClr val="bg2"/>
                </a:solidFill>
              </a:rPr>
              <a:t>又属于</a:t>
            </a:r>
            <a:r>
              <a:rPr lang="en-US" altLang="zh-CN" sz="2400" b="1" dirty="0">
                <a:solidFill>
                  <a:schemeClr val="bg2"/>
                </a:solidFill>
              </a:rPr>
              <a:t>S</a:t>
            </a:r>
            <a:r>
              <a:rPr lang="zh-CN" altLang="en-US" sz="2400" b="1" dirty="0">
                <a:solidFill>
                  <a:schemeClr val="bg2"/>
                </a:solidFill>
              </a:rPr>
              <a:t>的元组组成。形式定义如下：               </a:t>
            </a:r>
          </a:p>
          <a:p>
            <a:pPr latinLnBrk="1">
              <a:lnSpc>
                <a:spcPct val="120000"/>
              </a:lnSpc>
            </a:pPr>
            <a:r>
              <a:rPr lang="zh-CN" altLang="en-US" sz="3200" b="1" dirty="0">
                <a:solidFill>
                  <a:schemeClr val="bg2"/>
                </a:solidFill>
              </a:rPr>
              <a:t>         </a:t>
            </a:r>
            <a:r>
              <a:rPr lang="en-US" altLang="zh-CN" sz="3600" b="1" dirty="0">
                <a:solidFill>
                  <a:srgbClr val="660033"/>
                </a:solidFill>
              </a:rPr>
              <a:t>R∩S≡{</a:t>
            </a:r>
            <a:r>
              <a:rPr lang="en-US" altLang="zh-CN" sz="3600" b="1" dirty="0" err="1">
                <a:solidFill>
                  <a:srgbClr val="660033"/>
                </a:solidFill>
              </a:rPr>
              <a:t>t︱t∈R∧t∈S</a:t>
            </a:r>
            <a:r>
              <a:rPr lang="en-US" altLang="zh-CN" sz="3600" b="1" dirty="0">
                <a:solidFill>
                  <a:srgbClr val="660033"/>
                </a:solidFill>
              </a:rPr>
              <a:t>}</a:t>
            </a:r>
          </a:p>
          <a:p>
            <a:pPr latinLnBrk="1">
              <a:lnSpc>
                <a:spcPct val="120000"/>
              </a:lnSpc>
            </a:pPr>
            <a:r>
              <a:rPr lang="en-US" altLang="zh-CN" sz="2400" b="1" dirty="0">
                <a:solidFill>
                  <a:schemeClr val="bg2"/>
                </a:solidFill>
              </a:rPr>
              <a:t>     t</a:t>
            </a:r>
            <a:r>
              <a:rPr lang="zh-CN" altLang="en-US" sz="2400" b="1" dirty="0">
                <a:solidFill>
                  <a:schemeClr val="bg2"/>
                </a:solidFill>
              </a:rPr>
              <a:t>是元组变量，</a:t>
            </a:r>
            <a:r>
              <a:rPr lang="en-US" altLang="zh-CN" sz="2400" b="1" dirty="0">
                <a:solidFill>
                  <a:schemeClr val="bg2"/>
                </a:solidFill>
              </a:rPr>
              <a:t>R</a:t>
            </a:r>
            <a:r>
              <a:rPr lang="zh-CN" altLang="en-US" sz="2400" b="1" dirty="0">
                <a:solidFill>
                  <a:schemeClr val="bg2"/>
                </a:solidFill>
              </a:rPr>
              <a:t>和</a:t>
            </a:r>
            <a:r>
              <a:rPr lang="en-US" altLang="zh-CN" sz="2400" b="1" dirty="0">
                <a:solidFill>
                  <a:schemeClr val="bg2"/>
                </a:solidFill>
              </a:rPr>
              <a:t>S</a:t>
            </a:r>
            <a:r>
              <a:rPr lang="zh-CN" altLang="en-US" sz="2400" b="1" dirty="0">
                <a:solidFill>
                  <a:schemeClr val="bg2"/>
                </a:solidFill>
              </a:rPr>
              <a:t>的元数相同。</a:t>
            </a:r>
            <a:endParaRPr lang="zh-CN" altLang="en-US" sz="2400" b="1" dirty="0">
              <a:solidFill>
                <a:srgbClr val="660033"/>
              </a:solidFill>
            </a:endParaRPr>
          </a:p>
        </p:txBody>
      </p:sp>
      <p:sp>
        <p:nvSpPr>
          <p:cNvPr id="605199" name="Rectangle 15"/>
          <p:cNvSpPr>
            <a:spLocks noChangeArrowheads="1"/>
          </p:cNvSpPr>
          <p:nvPr/>
        </p:nvSpPr>
        <p:spPr bwMode="auto">
          <a:xfrm>
            <a:off x="611187" y="4869160"/>
            <a:ext cx="8135937" cy="110799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zh-CN" altLang="en-US" sz="2400" b="1" dirty="0">
                <a:solidFill>
                  <a:srgbClr val="000099"/>
                </a:solidFill>
              </a:rPr>
              <a:t>关系的交可以由关系的差来表示，即：</a:t>
            </a:r>
          </a:p>
          <a:p>
            <a:r>
              <a:rPr lang="zh-CN" altLang="en-US" sz="3600" b="1" dirty="0">
                <a:solidFill>
                  <a:srgbClr val="660033"/>
                </a:solidFill>
              </a:rPr>
              <a:t>          </a:t>
            </a:r>
            <a:r>
              <a:rPr lang="en-US" altLang="zh-CN" sz="3600" b="1" dirty="0">
                <a:solidFill>
                  <a:srgbClr val="660033"/>
                </a:solidFill>
              </a:rPr>
              <a:t>R∩S≡R -</a:t>
            </a:r>
            <a:r>
              <a:rPr lang="zh-CN" altLang="en-US" sz="3600" b="1" dirty="0">
                <a:solidFill>
                  <a:srgbClr val="660033"/>
                </a:solidFill>
              </a:rPr>
              <a:t>（</a:t>
            </a:r>
            <a:r>
              <a:rPr lang="en-US" altLang="zh-CN" sz="3600" b="1" dirty="0">
                <a:solidFill>
                  <a:srgbClr val="660033"/>
                </a:solidFill>
              </a:rPr>
              <a:t>R-S</a:t>
            </a:r>
            <a:r>
              <a:rPr lang="zh-CN" altLang="en-US" sz="3600" b="1" dirty="0">
                <a:solidFill>
                  <a:srgbClr val="660033"/>
                </a:solidFill>
              </a:rPr>
              <a:t>）</a:t>
            </a: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a:extLst>
              <a:ext uri="{FF2B5EF4-FFF2-40B4-BE49-F238E27FC236}">
                <a16:creationId xmlns:a16="http://schemas.microsoft.com/office/drawing/2014/main" id="{72F66B6C-18D9-F347-B9A4-32FB21DB2C9D}"/>
              </a:ext>
            </a:extLst>
          </p:cNvPr>
          <p:cNvGraphicFramePr>
            <a:graphicFrameLocks noGrp="1"/>
          </p:cNvGraphicFramePr>
          <p:nvPr>
            <p:extLst>
              <p:ext uri="{D42A27DB-BD31-4B8C-83A1-F6EECF244321}">
                <p14:modId xmlns:p14="http://schemas.microsoft.com/office/powerpoint/2010/main" val="3608212089"/>
              </p:ext>
            </p:extLst>
          </p:nvPr>
        </p:nvGraphicFramePr>
        <p:xfrm>
          <a:off x="1403648" y="1085136"/>
          <a:ext cx="1918500" cy="222504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1226704">
                  <a:extLst>
                    <a:ext uri="{9D8B030D-6E8A-4147-A177-3AD203B41FA5}">
                      <a16:colId xmlns:a16="http://schemas.microsoft.com/office/drawing/2014/main" val="3954880262"/>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extLst>
                  <a:ext uri="{0D108BD9-81ED-4DB2-BD59-A6C34878D82A}">
                    <a16:rowId xmlns:a16="http://schemas.microsoft.com/office/drawing/2014/main" val="314599087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S3</a:t>
                      </a:r>
                      <a:endParaRPr lang="zh-CN" altLang="en-US" dirty="0"/>
                    </a:p>
                  </a:txBody>
                  <a:tcPr/>
                </a:tc>
                <a:tc>
                  <a:txBody>
                    <a:bodyPr/>
                    <a:lstStyle/>
                    <a:p>
                      <a:pPr algn="ctr"/>
                      <a:r>
                        <a:rPr lang="zh-CN" altLang="en-US" dirty="0"/>
                        <a:t>刘莎莎</a:t>
                      </a:r>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zh-CN" altLang="en-US" dirty="0"/>
                        <a:t>李小刚</a:t>
                      </a:r>
                    </a:p>
                  </a:txBody>
                  <a:tcPr/>
                </a:tc>
                <a:extLst>
                  <a:ext uri="{0D108BD9-81ED-4DB2-BD59-A6C34878D82A}">
                    <a16:rowId xmlns:a16="http://schemas.microsoft.com/office/drawing/2014/main" val="260424798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S8</a:t>
                      </a:r>
                      <a:endParaRPr lang="zh-CN" altLang="en-US" dirty="0"/>
                    </a:p>
                  </a:txBody>
                  <a:tcPr/>
                </a:tc>
                <a:tc>
                  <a:txBody>
                    <a:bodyPr/>
                    <a:lstStyle/>
                    <a:p>
                      <a:pPr algn="ctr"/>
                      <a:r>
                        <a:rPr lang="zh-CN" altLang="en-US" dirty="0"/>
                        <a:t>姜名</a:t>
                      </a:r>
                    </a:p>
                  </a:txBody>
                  <a:tcPr/>
                </a:tc>
                <a:extLst>
                  <a:ext uri="{0D108BD9-81ED-4DB2-BD59-A6C34878D82A}">
                    <a16:rowId xmlns:a16="http://schemas.microsoft.com/office/drawing/2014/main" val="11242298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S9</a:t>
                      </a:r>
                      <a:endParaRPr lang="zh-CN" altLang="en-US" dirty="0"/>
                    </a:p>
                  </a:txBody>
                  <a:tcPr/>
                </a:tc>
                <a:tc>
                  <a:txBody>
                    <a:bodyPr/>
                    <a:lstStyle/>
                    <a:p>
                      <a:pPr algn="ctr"/>
                      <a:r>
                        <a:rPr lang="zh-CN" altLang="en-US" dirty="0"/>
                        <a:t>王莉</a:t>
                      </a:r>
                    </a:p>
                  </a:txBody>
                  <a:tcPr/>
                </a:tc>
                <a:extLst>
                  <a:ext uri="{0D108BD9-81ED-4DB2-BD59-A6C34878D82A}">
                    <a16:rowId xmlns:a16="http://schemas.microsoft.com/office/drawing/2014/main" val="1909949203"/>
                  </a:ext>
                </a:extLst>
              </a:tr>
            </a:tbl>
          </a:graphicData>
        </a:graphic>
      </p:graphicFrame>
      <p:sp>
        <p:nvSpPr>
          <p:cNvPr id="4" name="文本框 3">
            <a:extLst>
              <a:ext uri="{FF2B5EF4-FFF2-40B4-BE49-F238E27FC236}">
                <a16:creationId xmlns:a16="http://schemas.microsoft.com/office/drawing/2014/main" id="{8F1B6735-634D-304E-9BF2-1B4AC1783B9E}"/>
              </a:ext>
            </a:extLst>
          </p:cNvPr>
          <p:cNvSpPr txBox="1"/>
          <p:nvPr/>
        </p:nvSpPr>
        <p:spPr>
          <a:xfrm>
            <a:off x="1457535" y="715804"/>
            <a:ext cx="1994457" cy="738664"/>
          </a:xfrm>
          <a:prstGeom prst="rect">
            <a:avLst/>
          </a:prstGeom>
          <a:noFill/>
        </p:spPr>
        <p:txBody>
          <a:bodyPr wrap="none" rtlCol="0">
            <a:spAutoFit/>
          </a:bodyPr>
          <a:lstStyle/>
          <a:p>
            <a:r>
              <a:rPr kumimoji="1" lang="zh-CN" altLang="en-US" sz="2000" b="1" u="sng" dirty="0">
                <a:solidFill>
                  <a:schemeClr val="bg1"/>
                </a:solidFill>
              </a:rPr>
              <a:t>优秀学生关系</a:t>
            </a:r>
            <a:r>
              <a:rPr kumimoji="1" lang="en-US" altLang="zh-CN" sz="2000" b="1" u="sng" dirty="0">
                <a:solidFill>
                  <a:schemeClr val="bg1"/>
                </a:solidFill>
              </a:rPr>
              <a:t>S1</a:t>
            </a:r>
          </a:p>
          <a:p>
            <a:endParaRPr kumimoji="1" lang="zh-CN" altLang="en-US" sz="2000" b="1" u="sng" dirty="0">
              <a:solidFill>
                <a:schemeClr val="bg1"/>
              </a:solidFill>
            </a:endParaRPr>
          </a:p>
        </p:txBody>
      </p:sp>
      <p:graphicFrame>
        <p:nvGraphicFramePr>
          <p:cNvPr id="5" name="表格 4">
            <a:extLst>
              <a:ext uri="{FF2B5EF4-FFF2-40B4-BE49-F238E27FC236}">
                <a16:creationId xmlns:a16="http://schemas.microsoft.com/office/drawing/2014/main" id="{02CA2F01-E599-8D40-95DA-32D09974E372}"/>
              </a:ext>
            </a:extLst>
          </p:cNvPr>
          <p:cNvGraphicFramePr>
            <a:graphicFrameLocks noGrp="1"/>
          </p:cNvGraphicFramePr>
          <p:nvPr>
            <p:extLst>
              <p:ext uri="{D42A27DB-BD31-4B8C-83A1-F6EECF244321}">
                <p14:modId xmlns:p14="http://schemas.microsoft.com/office/powerpoint/2010/main" val="931703734"/>
              </p:ext>
            </p:extLst>
          </p:nvPr>
        </p:nvGraphicFramePr>
        <p:xfrm>
          <a:off x="1403648" y="4048840"/>
          <a:ext cx="1918500" cy="185420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1226704">
                  <a:extLst>
                    <a:ext uri="{9D8B030D-6E8A-4147-A177-3AD203B41FA5}">
                      <a16:colId xmlns:a16="http://schemas.microsoft.com/office/drawing/2014/main" val="3954880262"/>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zh-CN" altLang="en-US" dirty="0"/>
                        <a:t>李小刚</a:t>
                      </a:r>
                    </a:p>
                  </a:txBody>
                  <a:tcPr/>
                </a:tc>
                <a:extLst>
                  <a:ext uri="{0D108BD9-81ED-4DB2-BD59-A6C34878D82A}">
                    <a16:rowId xmlns:a16="http://schemas.microsoft.com/office/drawing/2014/main" val="260424798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S7</a:t>
                      </a:r>
                      <a:endParaRPr lang="zh-CN" altLang="en-US" dirty="0"/>
                    </a:p>
                  </a:txBody>
                  <a:tcPr/>
                </a:tc>
                <a:tc>
                  <a:txBody>
                    <a:bodyPr/>
                    <a:lstStyle/>
                    <a:p>
                      <a:pPr algn="ctr"/>
                      <a:r>
                        <a:rPr lang="zh-CN" altLang="en-US" dirty="0"/>
                        <a:t>柳庆国</a:t>
                      </a:r>
                    </a:p>
                  </a:txBody>
                  <a:tcPr/>
                </a:tc>
                <a:extLst>
                  <a:ext uri="{0D108BD9-81ED-4DB2-BD59-A6C34878D82A}">
                    <a16:rowId xmlns:a16="http://schemas.microsoft.com/office/drawing/2014/main" val="112422980"/>
                  </a:ext>
                </a:extLst>
              </a:tr>
            </a:tbl>
          </a:graphicData>
        </a:graphic>
      </p:graphicFrame>
      <p:sp>
        <p:nvSpPr>
          <p:cNvPr id="6" name="文本框 5">
            <a:extLst>
              <a:ext uri="{FF2B5EF4-FFF2-40B4-BE49-F238E27FC236}">
                <a16:creationId xmlns:a16="http://schemas.microsoft.com/office/drawing/2014/main" id="{14C4716F-E4E7-204F-A1D5-CB16DC1BF585}"/>
              </a:ext>
            </a:extLst>
          </p:cNvPr>
          <p:cNvSpPr txBox="1"/>
          <p:nvPr/>
        </p:nvSpPr>
        <p:spPr>
          <a:xfrm>
            <a:off x="1200254" y="3679508"/>
            <a:ext cx="2509020" cy="738664"/>
          </a:xfrm>
          <a:prstGeom prst="rect">
            <a:avLst/>
          </a:prstGeom>
          <a:noFill/>
        </p:spPr>
        <p:txBody>
          <a:bodyPr wrap="none" rtlCol="0">
            <a:spAutoFit/>
          </a:bodyPr>
          <a:lstStyle/>
          <a:p>
            <a:r>
              <a:rPr kumimoji="1" lang="zh-CN" altLang="en-US" sz="2000" b="1" u="sng" dirty="0">
                <a:solidFill>
                  <a:schemeClr val="bg1"/>
                </a:solidFill>
              </a:rPr>
              <a:t>优秀学生干部关系</a:t>
            </a:r>
            <a:r>
              <a:rPr kumimoji="1" lang="en-US" altLang="zh-CN" sz="2000" b="1" u="sng" dirty="0">
                <a:solidFill>
                  <a:schemeClr val="bg1"/>
                </a:solidFill>
              </a:rPr>
              <a:t>S2</a:t>
            </a:r>
          </a:p>
          <a:p>
            <a:endParaRPr kumimoji="1" lang="zh-CN" altLang="en-US" sz="2000" b="1" u="sng" dirty="0">
              <a:solidFill>
                <a:schemeClr val="bg1"/>
              </a:solidFill>
            </a:endParaRPr>
          </a:p>
        </p:txBody>
      </p:sp>
      <p:sp>
        <p:nvSpPr>
          <p:cNvPr id="7" name="矩形 6">
            <a:extLst>
              <a:ext uri="{FF2B5EF4-FFF2-40B4-BE49-F238E27FC236}">
                <a16:creationId xmlns:a16="http://schemas.microsoft.com/office/drawing/2014/main" id="{DFD8F240-97B3-9A45-BF30-DEFA0EE31F76}"/>
              </a:ext>
            </a:extLst>
          </p:cNvPr>
          <p:cNvSpPr/>
          <p:nvPr/>
        </p:nvSpPr>
        <p:spPr bwMode="auto">
          <a:xfrm>
            <a:off x="1428800" y="1823800"/>
            <a:ext cx="1893348" cy="370840"/>
          </a:xfrm>
          <a:prstGeom prst="rect">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8" name="矩形 7">
            <a:extLst>
              <a:ext uri="{FF2B5EF4-FFF2-40B4-BE49-F238E27FC236}">
                <a16:creationId xmlns:a16="http://schemas.microsoft.com/office/drawing/2014/main" id="{7F21EA46-1AAB-AB47-B2DD-8745BDE6C4FC}"/>
              </a:ext>
            </a:extLst>
          </p:cNvPr>
          <p:cNvSpPr/>
          <p:nvPr/>
        </p:nvSpPr>
        <p:spPr bwMode="auto">
          <a:xfrm>
            <a:off x="1428800" y="2230176"/>
            <a:ext cx="1893348" cy="333796"/>
          </a:xfrm>
          <a:prstGeom prst="rect">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9" name="矩形 8">
            <a:extLst>
              <a:ext uri="{FF2B5EF4-FFF2-40B4-BE49-F238E27FC236}">
                <a16:creationId xmlns:a16="http://schemas.microsoft.com/office/drawing/2014/main" id="{6851B6C1-CC41-2B41-A51B-48CCC5026215}"/>
              </a:ext>
            </a:extLst>
          </p:cNvPr>
          <p:cNvSpPr/>
          <p:nvPr/>
        </p:nvSpPr>
        <p:spPr bwMode="auto">
          <a:xfrm>
            <a:off x="1403648" y="4756312"/>
            <a:ext cx="1893348" cy="370840"/>
          </a:xfrm>
          <a:prstGeom prst="rect">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10" name="矩形 9">
            <a:extLst>
              <a:ext uri="{FF2B5EF4-FFF2-40B4-BE49-F238E27FC236}">
                <a16:creationId xmlns:a16="http://schemas.microsoft.com/office/drawing/2014/main" id="{C03E0D1E-1770-A84B-9E2E-8F437752BD12}"/>
              </a:ext>
            </a:extLst>
          </p:cNvPr>
          <p:cNvSpPr/>
          <p:nvPr/>
        </p:nvSpPr>
        <p:spPr bwMode="auto">
          <a:xfrm>
            <a:off x="1393404" y="5166861"/>
            <a:ext cx="1893348" cy="333796"/>
          </a:xfrm>
          <a:prstGeom prst="rect">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cxnSp>
        <p:nvCxnSpPr>
          <p:cNvPr id="11" name="直线连接符 10">
            <a:extLst>
              <a:ext uri="{FF2B5EF4-FFF2-40B4-BE49-F238E27FC236}">
                <a16:creationId xmlns:a16="http://schemas.microsoft.com/office/drawing/2014/main" id="{C8878DAE-3BE5-A048-A20B-51EC68F88750}"/>
              </a:ext>
            </a:extLst>
          </p:cNvPr>
          <p:cNvCxnSpPr>
            <a:endCxn id="16" idx="1"/>
          </p:cNvCxnSpPr>
          <p:nvPr/>
        </p:nvCxnSpPr>
        <p:spPr bwMode="auto">
          <a:xfrm>
            <a:off x="3322148" y="2042241"/>
            <a:ext cx="2401980" cy="1222939"/>
          </a:xfrm>
          <a:prstGeom prst="line">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2" name="直线连接符 11">
            <a:extLst>
              <a:ext uri="{FF2B5EF4-FFF2-40B4-BE49-F238E27FC236}">
                <a16:creationId xmlns:a16="http://schemas.microsoft.com/office/drawing/2014/main" id="{A674EB5B-E7B4-2F4F-B170-A73951919F24}"/>
              </a:ext>
            </a:extLst>
          </p:cNvPr>
          <p:cNvCxnSpPr>
            <a:endCxn id="16" idx="1"/>
          </p:cNvCxnSpPr>
          <p:nvPr/>
        </p:nvCxnSpPr>
        <p:spPr bwMode="auto">
          <a:xfrm flipV="1">
            <a:off x="3322147" y="3265180"/>
            <a:ext cx="2401981" cy="1737727"/>
          </a:xfrm>
          <a:prstGeom prst="line">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3" name="直线连接符 12">
            <a:extLst>
              <a:ext uri="{FF2B5EF4-FFF2-40B4-BE49-F238E27FC236}">
                <a16:creationId xmlns:a16="http://schemas.microsoft.com/office/drawing/2014/main" id="{FE3E5509-0343-0348-9BA6-624BD28A3494}"/>
              </a:ext>
            </a:extLst>
          </p:cNvPr>
          <p:cNvCxnSpPr>
            <a:endCxn id="20" idx="1"/>
          </p:cNvCxnSpPr>
          <p:nvPr/>
        </p:nvCxnSpPr>
        <p:spPr bwMode="auto">
          <a:xfrm>
            <a:off x="3322098" y="2469145"/>
            <a:ext cx="2402030" cy="1185397"/>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aphicFrame>
        <p:nvGraphicFramePr>
          <p:cNvPr id="16" name="表格 15">
            <a:extLst>
              <a:ext uri="{FF2B5EF4-FFF2-40B4-BE49-F238E27FC236}">
                <a16:creationId xmlns:a16="http://schemas.microsoft.com/office/drawing/2014/main" id="{13F52359-6B4C-F048-8F02-61FBF78FD1FE}"/>
              </a:ext>
            </a:extLst>
          </p:cNvPr>
          <p:cNvGraphicFramePr>
            <a:graphicFrameLocks noGrp="1"/>
          </p:cNvGraphicFramePr>
          <p:nvPr>
            <p:extLst>
              <p:ext uri="{D42A27DB-BD31-4B8C-83A1-F6EECF244321}">
                <p14:modId xmlns:p14="http://schemas.microsoft.com/office/powerpoint/2010/main" val="3281822633"/>
              </p:ext>
            </p:extLst>
          </p:nvPr>
        </p:nvGraphicFramePr>
        <p:xfrm>
          <a:off x="5724128" y="2708920"/>
          <a:ext cx="1918500" cy="111252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1226704">
                  <a:extLst>
                    <a:ext uri="{9D8B030D-6E8A-4147-A177-3AD203B41FA5}">
                      <a16:colId xmlns:a16="http://schemas.microsoft.com/office/drawing/2014/main" val="3954880262"/>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extLst>
                  <a:ext uri="{0D108BD9-81ED-4DB2-BD59-A6C34878D82A}">
                    <a16:rowId xmlns:a16="http://schemas.microsoft.com/office/drawing/2014/main" val="314599087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zh-CN" altLang="en-US" dirty="0"/>
                        <a:t>李小刚</a:t>
                      </a:r>
                    </a:p>
                  </a:txBody>
                  <a:tcPr/>
                </a:tc>
                <a:extLst>
                  <a:ext uri="{0D108BD9-81ED-4DB2-BD59-A6C34878D82A}">
                    <a16:rowId xmlns:a16="http://schemas.microsoft.com/office/drawing/2014/main" val="2604247982"/>
                  </a:ext>
                </a:extLst>
              </a:tr>
            </a:tbl>
          </a:graphicData>
        </a:graphic>
      </p:graphicFrame>
      <p:sp>
        <p:nvSpPr>
          <p:cNvPr id="19" name="矩形 18">
            <a:extLst>
              <a:ext uri="{FF2B5EF4-FFF2-40B4-BE49-F238E27FC236}">
                <a16:creationId xmlns:a16="http://schemas.microsoft.com/office/drawing/2014/main" id="{AB55EF8E-4B71-DD43-90E2-49EFED11F8BD}"/>
              </a:ext>
            </a:extLst>
          </p:cNvPr>
          <p:cNvSpPr/>
          <p:nvPr/>
        </p:nvSpPr>
        <p:spPr bwMode="auto">
          <a:xfrm>
            <a:off x="5724178" y="3079760"/>
            <a:ext cx="1893348" cy="370840"/>
          </a:xfrm>
          <a:prstGeom prst="rect">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20" name="矩形 19">
            <a:extLst>
              <a:ext uri="{FF2B5EF4-FFF2-40B4-BE49-F238E27FC236}">
                <a16:creationId xmlns:a16="http://schemas.microsoft.com/office/drawing/2014/main" id="{BEEE3D7B-69B7-744B-BA2D-3A20130B873A}"/>
              </a:ext>
            </a:extLst>
          </p:cNvPr>
          <p:cNvSpPr/>
          <p:nvPr/>
        </p:nvSpPr>
        <p:spPr bwMode="auto">
          <a:xfrm>
            <a:off x="5724128" y="3487644"/>
            <a:ext cx="1893348" cy="333796"/>
          </a:xfrm>
          <a:prstGeom prst="rect">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cxnSp>
        <p:nvCxnSpPr>
          <p:cNvPr id="22" name="直线连接符 21">
            <a:extLst>
              <a:ext uri="{FF2B5EF4-FFF2-40B4-BE49-F238E27FC236}">
                <a16:creationId xmlns:a16="http://schemas.microsoft.com/office/drawing/2014/main" id="{06505E52-8E89-594C-822F-3103722D017C}"/>
              </a:ext>
            </a:extLst>
          </p:cNvPr>
          <p:cNvCxnSpPr>
            <a:endCxn id="20" idx="1"/>
          </p:cNvCxnSpPr>
          <p:nvPr/>
        </p:nvCxnSpPr>
        <p:spPr bwMode="auto">
          <a:xfrm flipV="1">
            <a:off x="3296946" y="3654542"/>
            <a:ext cx="2427182" cy="1679217"/>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mc:AlternateContent xmlns:mc="http://schemas.openxmlformats.org/markup-compatibility/2006" xmlns:a14="http://schemas.microsoft.com/office/drawing/2010/main">
        <mc:Choice Requires="a14">
          <p:sp>
            <p:nvSpPr>
              <p:cNvPr id="25" name="文本框 24">
                <a:extLst>
                  <a:ext uri="{FF2B5EF4-FFF2-40B4-BE49-F238E27FC236}">
                    <a16:creationId xmlns:a16="http://schemas.microsoft.com/office/drawing/2014/main" id="{08B8DBC2-F6E6-9B4E-9609-FAC13BB8C30C}"/>
                  </a:ext>
                </a:extLst>
              </p:cNvPr>
              <p:cNvSpPr txBox="1"/>
              <p:nvPr/>
            </p:nvSpPr>
            <p:spPr>
              <a:xfrm>
                <a:off x="5809959" y="2314829"/>
                <a:ext cx="1782860" cy="738664"/>
              </a:xfrm>
              <a:prstGeom prst="rect">
                <a:avLst/>
              </a:prstGeom>
              <a:noFill/>
            </p:spPr>
            <p:txBody>
              <a:bodyPr wrap="none" rtlCol="0">
                <a:spAutoFit/>
              </a:bodyPr>
              <a:lstStyle/>
              <a:p>
                <a:r>
                  <a:rPr kumimoji="1" lang="zh-CN" altLang="en-US" sz="2000" b="1" u="sng" dirty="0">
                    <a:solidFill>
                      <a:schemeClr val="bg1"/>
                    </a:solidFill>
                  </a:rPr>
                  <a:t>新关系</a:t>
                </a:r>
                <a:r>
                  <a:rPr kumimoji="1" lang="en-US" altLang="zh-CN" sz="2000" b="1" u="sng" dirty="0">
                    <a:solidFill>
                      <a:schemeClr val="bg1"/>
                    </a:solidFill>
                  </a:rPr>
                  <a:t>S1</a:t>
                </a:r>
                <a14:m>
                  <m:oMath xmlns:m="http://schemas.openxmlformats.org/officeDocument/2006/math">
                    <m:r>
                      <a:rPr kumimoji="1" lang="en-US" altLang="zh-CN" sz="2000" b="1" i="1" u="sng" smtClean="0">
                        <a:solidFill>
                          <a:schemeClr val="bg1"/>
                        </a:solidFill>
                        <a:latin typeface="Cambria Math" panose="02040503050406030204" pitchFamily="18" charset="0"/>
                        <a:ea typeface="Cambria Math" panose="02040503050406030204" pitchFamily="18" charset="0"/>
                      </a:rPr>
                      <m:t>∩</m:t>
                    </m:r>
                  </m:oMath>
                </a14:m>
                <a:r>
                  <a:rPr kumimoji="1" lang="en-US" altLang="zh-CN" sz="2000" b="1" u="sng" dirty="0">
                    <a:solidFill>
                      <a:schemeClr val="bg1"/>
                    </a:solidFill>
                  </a:rPr>
                  <a:t> S2</a:t>
                </a:r>
              </a:p>
              <a:p>
                <a:endParaRPr kumimoji="1" lang="zh-CN" altLang="en-US" sz="2000" b="1" u="sng" dirty="0">
                  <a:solidFill>
                    <a:schemeClr val="bg1"/>
                  </a:solidFill>
                </a:endParaRPr>
              </a:p>
            </p:txBody>
          </p:sp>
        </mc:Choice>
        <mc:Fallback xmlns="">
          <p:sp>
            <p:nvSpPr>
              <p:cNvPr id="25" name="文本框 24">
                <a:extLst>
                  <a:ext uri="{FF2B5EF4-FFF2-40B4-BE49-F238E27FC236}">
                    <a16:creationId xmlns:a16="http://schemas.microsoft.com/office/drawing/2014/main" id="{08B8DBC2-F6E6-9B4E-9609-FAC13BB8C30C}"/>
                  </a:ext>
                </a:extLst>
              </p:cNvPr>
              <p:cNvSpPr txBox="1">
                <a:spLocks noRot="1" noChangeAspect="1" noMove="1" noResize="1" noEditPoints="1" noAdjustHandles="1" noChangeArrowheads="1" noChangeShapeType="1" noTextEdit="1"/>
              </p:cNvSpPr>
              <p:nvPr/>
            </p:nvSpPr>
            <p:spPr>
              <a:xfrm>
                <a:off x="5809959" y="2314829"/>
                <a:ext cx="1782860" cy="738664"/>
              </a:xfrm>
              <a:prstGeom prst="rect">
                <a:avLst/>
              </a:prstGeom>
              <a:blipFill>
                <a:blip r:embed="rId2"/>
                <a:stretch>
                  <a:fillRect l="-3521" t="-15254" r="-211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2752515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22"/>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9" grpId="0" animBg="1"/>
      <p:bldP spid="2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5186" name="Rectangle 2"/>
          <p:cNvSpPr>
            <a:spLocks noChangeArrowheads="1"/>
          </p:cNvSpPr>
          <p:nvPr/>
        </p:nvSpPr>
        <p:spPr bwMode="auto">
          <a:xfrm>
            <a:off x="0" y="0"/>
            <a:ext cx="9144000" cy="44227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40000"/>
              </a:lnSpc>
            </a:pPr>
            <a:r>
              <a:rPr lang="en-US" altLang="zh-CN" sz="2400" b="1" dirty="0">
                <a:solidFill>
                  <a:srgbClr val="660033"/>
                </a:solidFill>
              </a:rPr>
              <a:t>  2</a:t>
            </a:r>
            <a:r>
              <a:rPr lang="zh-CN" altLang="en-US" sz="2400" b="1" dirty="0">
                <a:solidFill>
                  <a:srgbClr val="660033"/>
                </a:solidFill>
              </a:rPr>
              <a:t>、 联</a:t>
            </a:r>
            <a:r>
              <a:rPr lang="en-US" altLang="zh-CN" sz="2400" b="1" dirty="0">
                <a:solidFill>
                  <a:srgbClr val="660033"/>
                </a:solidFill>
              </a:rPr>
              <a:t>(</a:t>
            </a:r>
            <a:r>
              <a:rPr lang="zh-CN" altLang="en-US" sz="2400" b="1" dirty="0">
                <a:solidFill>
                  <a:srgbClr val="660033"/>
                </a:solidFill>
              </a:rPr>
              <a:t>连</a:t>
            </a:r>
            <a:r>
              <a:rPr lang="en-US" altLang="zh-CN" sz="2400" b="1" dirty="0">
                <a:solidFill>
                  <a:srgbClr val="660033"/>
                </a:solidFill>
              </a:rPr>
              <a:t>)</a:t>
            </a:r>
            <a:r>
              <a:rPr lang="zh-CN" altLang="en-US" sz="2400" b="1" dirty="0">
                <a:solidFill>
                  <a:srgbClr val="660033"/>
                </a:solidFill>
              </a:rPr>
              <a:t>接</a:t>
            </a:r>
            <a:r>
              <a:rPr lang="en-US" altLang="zh-CN" sz="2400" b="1" dirty="0">
                <a:solidFill>
                  <a:srgbClr val="660033"/>
                </a:solidFill>
              </a:rPr>
              <a:t>(join)</a:t>
            </a:r>
          </a:p>
          <a:p>
            <a:pPr eaLnBrk="0" hangingPunct="0">
              <a:lnSpc>
                <a:spcPct val="140000"/>
              </a:lnSpc>
            </a:pPr>
            <a:r>
              <a:rPr lang="en-US" altLang="zh-CN" sz="2400" b="1" dirty="0">
                <a:solidFill>
                  <a:schemeClr val="bg2"/>
                </a:solidFill>
              </a:rPr>
              <a:t>      </a:t>
            </a:r>
            <a:r>
              <a:rPr lang="zh-CN" altLang="en-US" sz="2400" b="1" dirty="0">
                <a:solidFill>
                  <a:schemeClr val="bg1"/>
                </a:solidFill>
              </a:rPr>
              <a:t>联接操作是笛卡儿积、选择和投影操作的组合。</a:t>
            </a:r>
          </a:p>
          <a:p>
            <a:pPr eaLnBrk="0" hangingPunct="0">
              <a:lnSpc>
                <a:spcPct val="140000"/>
              </a:lnSpc>
            </a:pPr>
            <a:r>
              <a:rPr lang="zh-CN" altLang="en-US" sz="2400" b="1" dirty="0">
                <a:solidFill>
                  <a:schemeClr val="bg2"/>
                </a:solidFill>
              </a:rPr>
              <a:t>   联接分成</a:t>
            </a:r>
            <a:r>
              <a:rPr lang="en-US" altLang="zh-CN" sz="2400" b="1" dirty="0" err="1">
                <a:solidFill>
                  <a:schemeClr val="bg2"/>
                </a:solidFill>
              </a:rPr>
              <a:t>θ</a:t>
            </a:r>
            <a:r>
              <a:rPr lang="zh-CN" altLang="en-US" sz="2400" b="1" dirty="0">
                <a:solidFill>
                  <a:schemeClr val="bg2"/>
                </a:solidFill>
              </a:rPr>
              <a:t>联接和</a:t>
            </a:r>
            <a:r>
              <a:rPr lang="en-US" altLang="zh-CN" sz="2400" b="1" dirty="0">
                <a:solidFill>
                  <a:schemeClr val="bg2"/>
                </a:solidFill>
              </a:rPr>
              <a:t>F</a:t>
            </a:r>
            <a:r>
              <a:rPr lang="zh-CN" altLang="en-US" sz="2400" b="1" dirty="0">
                <a:solidFill>
                  <a:schemeClr val="bg2"/>
                </a:solidFill>
              </a:rPr>
              <a:t>联接两种。</a:t>
            </a:r>
          </a:p>
          <a:p>
            <a:pPr eaLnBrk="0" hangingPunct="0">
              <a:lnSpc>
                <a:spcPct val="140000"/>
              </a:lnSpc>
            </a:pPr>
            <a:r>
              <a:rPr lang="zh-CN" altLang="en-US" sz="2400" dirty="0"/>
              <a:t> </a:t>
            </a:r>
            <a:r>
              <a:rPr lang="zh-CN" altLang="en-US" sz="2400" b="1" dirty="0">
                <a:solidFill>
                  <a:srgbClr val="000099"/>
                </a:solidFill>
              </a:rPr>
              <a:t>① </a:t>
            </a:r>
            <a:r>
              <a:rPr lang="en-US" altLang="zh-CN" sz="2400" b="1" dirty="0" err="1">
                <a:solidFill>
                  <a:srgbClr val="000099"/>
                </a:solidFill>
              </a:rPr>
              <a:t>θ</a:t>
            </a:r>
            <a:r>
              <a:rPr lang="zh-CN" altLang="en-US" sz="2400" b="1" dirty="0">
                <a:solidFill>
                  <a:srgbClr val="000099"/>
                </a:solidFill>
              </a:rPr>
              <a:t>联接：</a:t>
            </a:r>
            <a:r>
              <a:rPr lang="zh-CN" altLang="en-US" dirty="0"/>
              <a:t> </a:t>
            </a:r>
          </a:p>
          <a:p>
            <a:pPr eaLnBrk="0" hangingPunct="0">
              <a:lnSpc>
                <a:spcPct val="140000"/>
              </a:lnSpc>
            </a:pPr>
            <a:endParaRPr lang="zh-CN" altLang="en-US" dirty="0"/>
          </a:p>
          <a:p>
            <a:pPr eaLnBrk="0" hangingPunct="0">
              <a:lnSpc>
                <a:spcPct val="140000"/>
              </a:lnSpc>
            </a:pPr>
            <a:endParaRPr lang="zh-CN" altLang="en-US" dirty="0"/>
          </a:p>
          <a:p>
            <a:pPr eaLnBrk="0" hangingPunct="0">
              <a:lnSpc>
                <a:spcPct val="140000"/>
              </a:lnSpc>
            </a:pPr>
            <a:r>
              <a:rPr lang="zh-CN" altLang="en-US" sz="2400" b="1" dirty="0">
                <a:solidFill>
                  <a:srgbClr val="000099"/>
                </a:solidFill>
              </a:rPr>
              <a:t> ② </a:t>
            </a:r>
            <a:r>
              <a:rPr lang="en-US" altLang="zh-CN" sz="2400" b="1" dirty="0">
                <a:solidFill>
                  <a:srgbClr val="000099"/>
                </a:solidFill>
              </a:rPr>
              <a:t>F </a:t>
            </a:r>
            <a:r>
              <a:rPr lang="zh-CN" altLang="en-US" sz="2400" b="1" dirty="0">
                <a:solidFill>
                  <a:srgbClr val="000099"/>
                </a:solidFill>
              </a:rPr>
              <a:t>联接：</a:t>
            </a:r>
          </a:p>
        </p:txBody>
      </p:sp>
      <p:grpSp>
        <p:nvGrpSpPr>
          <p:cNvPr id="606222" name="Group 14"/>
          <p:cNvGrpSpPr>
            <a:grpSpLocks/>
          </p:cNvGrpSpPr>
          <p:nvPr/>
        </p:nvGrpSpPr>
        <p:grpSpPr bwMode="auto">
          <a:xfrm>
            <a:off x="179388" y="1916113"/>
            <a:ext cx="9144000" cy="2320925"/>
            <a:chOff x="567" y="1570"/>
            <a:chExt cx="5760" cy="1462"/>
          </a:xfrm>
        </p:grpSpPr>
        <p:sp>
          <p:nvSpPr>
            <p:cNvPr id="605189" name="Text Box 5"/>
            <p:cNvSpPr txBox="1">
              <a:spLocks noChangeArrowheads="1"/>
            </p:cNvSpPr>
            <p:nvPr/>
          </p:nvSpPr>
          <p:spPr bwMode="auto">
            <a:xfrm>
              <a:off x="1992" y="1770"/>
              <a:ext cx="480" cy="48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sz="3600" b="1">
                  <a:solidFill>
                    <a:schemeClr val="bg2"/>
                  </a:solidFill>
                  <a:latin typeface="Times New Roman" pitchFamily="18" charset="0"/>
                </a:rPr>
                <a:t> ⋈  </a:t>
              </a:r>
              <a:r>
                <a:rPr lang="en-US" altLang="zh-CN" sz="2800" b="1" baseline="-30000">
                  <a:solidFill>
                    <a:schemeClr val="bg2"/>
                  </a:solidFill>
                </a:rPr>
                <a:t> </a:t>
              </a:r>
              <a:r>
                <a:rPr lang="en-US" altLang="zh-CN" sz="2800" b="1" baseline="15000">
                  <a:solidFill>
                    <a:schemeClr val="bg2"/>
                  </a:solidFill>
                </a:rPr>
                <a:t>iθj</a:t>
              </a:r>
            </a:p>
          </p:txBody>
        </p:sp>
        <p:sp>
          <p:nvSpPr>
            <p:cNvPr id="605193" name="Rectangle 9"/>
            <p:cNvSpPr>
              <a:spLocks noChangeArrowheads="1"/>
            </p:cNvSpPr>
            <p:nvPr/>
          </p:nvSpPr>
          <p:spPr bwMode="auto">
            <a:xfrm>
              <a:off x="567" y="1570"/>
              <a:ext cx="5760" cy="14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2400" b="1" dirty="0">
                  <a:solidFill>
                    <a:srgbClr val="660033"/>
                  </a:solidFill>
                </a:rPr>
                <a:t>             R     S ≡</a:t>
              </a:r>
              <a:r>
                <a:rPr lang="en-US" altLang="zh-CN" sz="3200" b="1" dirty="0" err="1">
                  <a:solidFill>
                    <a:srgbClr val="660033"/>
                  </a:solidFill>
                </a:rPr>
                <a:t>σ</a:t>
              </a:r>
              <a:r>
                <a:rPr lang="en-US" altLang="zh-CN" sz="3200" b="1" baseline="-25000" dirty="0" err="1">
                  <a:solidFill>
                    <a:srgbClr val="660033"/>
                  </a:solidFill>
                </a:rPr>
                <a:t>iθ</a:t>
              </a:r>
              <a:r>
                <a:rPr lang="en-US" altLang="zh-CN" sz="3200" b="1" baseline="-25000" dirty="0">
                  <a:solidFill>
                    <a:srgbClr val="660033"/>
                  </a:solidFill>
                </a:rPr>
                <a:t>(</a:t>
              </a:r>
              <a:r>
                <a:rPr lang="en-US" altLang="zh-CN" sz="3200" b="1" baseline="-25000" dirty="0" err="1">
                  <a:solidFill>
                    <a:srgbClr val="660033"/>
                  </a:solidFill>
                </a:rPr>
                <a:t>r+j</a:t>
              </a:r>
              <a:r>
                <a:rPr lang="en-US" altLang="zh-CN" sz="3200" b="1" baseline="-25000" dirty="0">
                  <a:solidFill>
                    <a:srgbClr val="660033"/>
                  </a:solidFill>
                </a:rPr>
                <a:t>)</a:t>
              </a:r>
              <a:r>
                <a:rPr lang="en-US" altLang="zh-CN" sz="3200" b="1" dirty="0">
                  <a:solidFill>
                    <a:srgbClr val="660033"/>
                  </a:solidFill>
                </a:rPr>
                <a:t>(R×S)</a:t>
              </a:r>
            </a:p>
            <a:p>
              <a:pPr>
                <a:lnSpc>
                  <a:spcPct val="160000"/>
                </a:lnSpc>
              </a:pPr>
              <a:r>
                <a:rPr lang="en-US" altLang="zh-CN" sz="2400" b="1" dirty="0">
                  <a:solidFill>
                    <a:schemeClr val="bg2"/>
                  </a:solidFill>
                </a:rPr>
                <a:t>     </a:t>
              </a:r>
              <a:r>
                <a:rPr lang="zh-CN" altLang="en-US" sz="2400" b="1" dirty="0">
                  <a:solidFill>
                    <a:schemeClr val="bg2"/>
                  </a:solidFill>
                </a:rPr>
                <a:t>如果</a:t>
              </a:r>
              <a:r>
                <a:rPr lang="en-US" altLang="zh-CN" sz="2400" b="1" dirty="0" err="1">
                  <a:solidFill>
                    <a:schemeClr val="bg2"/>
                  </a:solidFill>
                </a:rPr>
                <a:t>θ</a:t>
              </a:r>
              <a:r>
                <a:rPr lang="zh-CN" altLang="en-US" sz="2400" b="1" dirty="0">
                  <a:solidFill>
                    <a:schemeClr val="bg2"/>
                  </a:solidFill>
                </a:rPr>
                <a:t>为等号</a:t>
              </a:r>
              <a:r>
                <a:rPr lang="zh-CN" altLang="en-US" sz="2400" b="1" dirty="0">
                  <a:solidFill>
                    <a:schemeClr val="bg2"/>
                  </a:solidFill>
                  <a:latin typeface="Times New Roman"/>
                </a:rPr>
                <a:t>“</a:t>
              </a:r>
              <a:r>
                <a:rPr lang="en-US" altLang="zh-CN" sz="2400" b="1" dirty="0">
                  <a:solidFill>
                    <a:schemeClr val="bg2"/>
                  </a:solidFill>
                </a:rPr>
                <a:t>=</a:t>
              </a:r>
              <a:r>
                <a:rPr lang="en-US" altLang="zh-CN" sz="2400" b="1" dirty="0">
                  <a:solidFill>
                    <a:schemeClr val="bg2"/>
                  </a:solidFill>
                  <a:latin typeface="Times New Roman"/>
                </a:rPr>
                <a:t>”</a:t>
              </a:r>
              <a:r>
                <a:rPr lang="zh-CN" altLang="en-US" sz="2400" b="1" dirty="0">
                  <a:solidFill>
                    <a:schemeClr val="bg2"/>
                  </a:solidFill>
                </a:rPr>
                <a:t>，那么这个联结操作称为等值连接。 </a:t>
              </a:r>
            </a:p>
            <a:p>
              <a:pPr>
                <a:lnSpc>
                  <a:spcPct val="150000"/>
                </a:lnSpc>
              </a:pPr>
              <a:r>
                <a:rPr lang="zh-CN" altLang="en-US" sz="2400" b="1" dirty="0">
                  <a:solidFill>
                    <a:schemeClr val="bg2"/>
                  </a:solidFill>
                </a:rPr>
                <a:t>  </a:t>
              </a:r>
            </a:p>
          </p:txBody>
        </p:sp>
      </p:grpSp>
      <p:grpSp>
        <p:nvGrpSpPr>
          <p:cNvPr id="606224" name="Group 16"/>
          <p:cNvGrpSpPr>
            <a:grpSpLocks/>
          </p:cNvGrpSpPr>
          <p:nvPr/>
        </p:nvGrpSpPr>
        <p:grpSpPr bwMode="auto">
          <a:xfrm>
            <a:off x="971550" y="3808413"/>
            <a:ext cx="7777163" cy="2500312"/>
            <a:chOff x="612" y="2399"/>
            <a:chExt cx="4899" cy="1575"/>
          </a:xfrm>
        </p:grpSpPr>
        <p:sp>
          <p:nvSpPr>
            <p:cNvPr id="605191" name="Text Box 7"/>
            <p:cNvSpPr txBox="1">
              <a:spLocks noChangeArrowheads="1"/>
            </p:cNvSpPr>
            <p:nvPr/>
          </p:nvSpPr>
          <p:spPr bwMode="auto">
            <a:xfrm>
              <a:off x="3197" y="2612"/>
              <a:ext cx="363" cy="72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190500" indent="-19050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a:lnSpc>
                  <a:spcPct val="10000"/>
                </a:lnSpc>
                <a:spcBef>
                  <a:spcPct val="50000"/>
                </a:spcBef>
              </a:pPr>
              <a:endParaRPr lang="en-US" altLang="zh-CN" sz="3600" b="1">
                <a:solidFill>
                  <a:schemeClr val="bg2"/>
                </a:solidFill>
              </a:endParaRPr>
            </a:p>
            <a:p>
              <a:pPr algn="just">
                <a:lnSpc>
                  <a:spcPct val="10000"/>
                </a:lnSpc>
                <a:spcBef>
                  <a:spcPct val="50000"/>
                </a:spcBef>
              </a:pPr>
              <a:endParaRPr lang="en-US" altLang="zh-CN" sz="3600" b="1">
                <a:solidFill>
                  <a:schemeClr val="bg2"/>
                </a:solidFill>
              </a:endParaRPr>
            </a:p>
            <a:p>
              <a:pPr algn="just">
                <a:lnSpc>
                  <a:spcPct val="10000"/>
                </a:lnSpc>
                <a:spcBef>
                  <a:spcPct val="50000"/>
                </a:spcBef>
              </a:pPr>
              <a:r>
                <a:rPr lang="en-US" altLang="zh-CN" sz="3600" b="1">
                  <a:solidFill>
                    <a:schemeClr val="bg2"/>
                  </a:solidFill>
                </a:rPr>
                <a:t>⋈</a:t>
              </a:r>
            </a:p>
            <a:p>
              <a:pPr algn="just">
                <a:lnSpc>
                  <a:spcPct val="10000"/>
                </a:lnSpc>
                <a:spcBef>
                  <a:spcPct val="50000"/>
                </a:spcBef>
              </a:pPr>
              <a:r>
                <a:rPr lang="en-US" altLang="zh-CN" b="1" baseline="15000">
                  <a:solidFill>
                    <a:schemeClr val="bg2"/>
                  </a:solidFill>
                  <a:latin typeface="宋体" pitchFamily="2" charset="-122"/>
                </a:rPr>
                <a:t> </a:t>
              </a:r>
              <a:r>
                <a:rPr lang="en-US" altLang="zh-CN" sz="2000" b="1" baseline="15000">
                  <a:solidFill>
                    <a:schemeClr val="bg2"/>
                  </a:solidFill>
                  <a:latin typeface="宋体" pitchFamily="2" charset="-122"/>
                </a:rPr>
                <a:t>F</a:t>
              </a:r>
              <a:r>
                <a:rPr lang="en-US" altLang="zh-CN" sz="2800" baseline="15000">
                  <a:solidFill>
                    <a:schemeClr val="bg2"/>
                  </a:solidFill>
                  <a:latin typeface="宋体" pitchFamily="2" charset="-122"/>
                </a:rPr>
                <a:t> </a:t>
              </a:r>
            </a:p>
            <a:p>
              <a:pPr algn="just">
                <a:lnSpc>
                  <a:spcPct val="10000"/>
                </a:lnSpc>
                <a:spcBef>
                  <a:spcPct val="50000"/>
                </a:spcBef>
              </a:pPr>
              <a:endParaRPr lang="en-US" altLang="zh-CN" sz="2800" baseline="15000">
                <a:solidFill>
                  <a:schemeClr val="bg2"/>
                </a:solidFill>
                <a:latin typeface="宋体" pitchFamily="2" charset="-122"/>
              </a:endParaRPr>
            </a:p>
          </p:txBody>
        </p:sp>
        <p:sp>
          <p:nvSpPr>
            <p:cNvPr id="605194" name="Rectangle 10"/>
            <p:cNvSpPr>
              <a:spLocks noChangeArrowheads="1"/>
            </p:cNvSpPr>
            <p:nvPr/>
          </p:nvSpPr>
          <p:spPr bwMode="auto">
            <a:xfrm>
              <a:off x="612" y="2399"/>
              <a:ext cx="4899" cy="15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2400" b="1" dirty="0">
                  <a:solidFill>
                    <a:schemeClr val="bg2"/>
                  </a:solidFill>
                </a:rPr>
                <a:t>      F</a:t>
              </a:r>
              <a:r>
                <a:rPr lang="zh-CN" altLang="en-US" sz="2400" b="1" dirty="0">
                  <a:solidFill>
                    <a:schemeClr val="bg2"/>
                  </a:solidFill>
                </a:rPr>
                <a:t>联接是从关系</a:t>
              </a:r>
              <a:r>
                <a:rPr lang="en-US" altLang="zh-CN" sz="2400" b="1" dirty="0">
                  <a:solidFill>
                    <a:schemeClr val="bg2"/>
                  </a:solidFill>
                </a:rPr>
                <a:t>R</a:t>
              </a:r>
              <a:r>
                <a:rPr lang="zh-CN" altLang="en-US" sz="2400" b="1" dirty="0">
                  <a:solidFill>
                    <a:schemeClr val="bg2"/>
                  </a:solidFill>
                </a:rPr>
                <a:t>和</a:t>
              </a:r>
              <a:r>
                <a:rPr lang="en-US" altLang="zh-CN" sz="2400" b="1" dirty="0">
                  <a:solidFill>
                    <a:schemeClr val="bg2"/>
                  </a:solidFill>
                </a:rPr>
                <a:t>S</a:t>
              </a:r>
              <a:r>
                <a:rPr lang="zh-CN" altLang="en-US" sz="2400" b="1" dirty="0">
                  <a:solidFill>
                    <a:schemeClr val="bg2"/>
                  </a:solidFill>
                </a:rPr>
                <a:t>的笛卡儿积中选取属性间满足某一公式</a:t>
              </a:r>
              <a:r>
                <a:rPr lang="en-US" altLang="zh-CN" sz="2400" b="1" dirty="0">
                  <a:solidFill>
                    <a:schemeClr val="bg2"/>
                  </a:solidFill>
                </a:rPr>
                <a:t>F</a:t>
              </a:r>
              <a:r>
                <a:rPr lang="zh-CN" altLang="en-US" sz="2400" b="1" dirty="0">
                  <a:solidFill>
                    <a:schemeClr val="bg2"/>
                  </a:solidFill>
                </a:rPr>
                <a:t>的元组</a:t>
              </a:r>
              <a:r>
                <a:rPr lang="en-US" altLang="zh-CN" sz="2400" b="1" dirty="0">
                  <a:solidFill>
                    <a:schemeClr val="bg2"/>
                  </a:solidFill>
                </a:rPr>
                <a:t>,</a:t>
              </a:r>
              <a:r>
                <a:rPr lang="zh-CN" altLang="en-US" sz="2400" b="1" dirty="0">
                  <a:solidFill>
                    <a:schemeClr val="bg2"/>
                  </a:solidFill>
                </a:rPr>
                <a:t>记为</a:t>
              </a:r>
              <a:r>
                <a:rPr lang="en-US" altLang="zh-CN" sz="2400" b="1" dirty="0">
                  <a:solidFill>
                    <a:schemeClr val="bg2"/>
                  </a:solidFill>
                </a:rPr>
                <a:t>:   </a:t>
              </a:r>
              <a:r>
                <a:rPr lang="en-US" altLang="zh-CN" sz="2800" b="1" dirty="0">
                  <a:solidFill>
                    <a:srgbClr val="660033"/>
                  </a:solidFill>
                </a:rPr>
                <a:t>R    S</a:t>
              </a:r>
              <a:r>
                <a:rPr lang="en-US" altLang="zh-CN" sz="2800" b="1" dirty="0">
                  <a:solidFill>
                    <a:schemeClr val="bg2"/>
                  </a:solidFill>
                </a:rPr>
                <a:t> </a:t>
              </a:r>
            </a:p>
            <a:p>
              <a:pPr>
                <a:lnSpc>
                  <a:spcPct val="150000"/>
                </a:lnSpc>
              </a:pPr>
              <a:r>
                <a:rPr lang="zh-CN" altLang="en-US" sz="2000" b="1" dirty="0">
                  <a:solidFill>
                    <a:schemeClr val="bg2"/>
                  </a:solidFill>
                </a:rPr>
                <a:t>这里</a:t>
              </a:r>
              <a:r>
                <a:rPr lang="en-US" altLang="zh-CN" sz="2000" b="1" dirty="0">
                  <a:solidFill>
                    <a:schemeClr val="bg2"/>
                  </a:solidFill>
                </a:rPr>
                <a:t>F</a:t>
              </a:r>
              <a:r>
                <a:rPr lang="zh-CN" altLang="en-US" sz="2000" b="1" dirty="0">
                  <a:solidFill>
                    <a:schemeClr val="bg2"/>
                  </a:solidFill>
                </a:rPr>
                <a:t>是形为</a:t>
              </a:r>
              <a:r>
                <a:rPr lang="en-US" altLang="zh-CN" sz="2000" b="1" dirty="0">
                  <a:solidFill>
                    <a:schemeClr val="bg2"/>
                  </a:solidFill>
                </a:rPr>
                <a:t>F1∧F2∧</a:t>
              </a:r>
              <a:r>
                <a:rPr lang="en-US" altLang="zh-CN" sz="2000" b="1" dirty="0">
                  <a:solidFill>
                    <a:schemeClr val="bg2"/>
                  </a:solidFill>
                  <a:latin typeface="Times New Roman"/>
                </a:rPr>
                <a:t>…</a:t>
              </a:r>
              <a:r>
                <a:rPr lang="en-US" altLang="zh-CN" sz="2000" b="1" dirty="0">
                  <a:solidFill>
                    <a:schemeClr val="bg2"/>
                  </a:solidFill>
                </a:rPr>
                <a:t>∧</a:t>
              </a:r>
              <a:r>
                <a:rPr lang="en-US" altLang="zh-CN" sz="2000" b="1" dirty="0" err="1">
                  <a:solidFill>
                    <a:schemeClr val="bg2"/>
                  </a:solidFill>
                </a:rPr>
                <a:t>Fn</a:t>
              </a:r>
              <a:r>
                <a:rPr lang="zh-CN" altLang="en-US" sz="2000" b="1" dirty="0">
                  <a:solidFill>
                    <a:schemeClr val="bg2"/>
                  </a:solidFill>
                </a:rPr>
                <a:t>公式，每个</a:t>
              </a:r>
              <a:r>
                <a:rPr lang="en-US" altLang="zh-CN" sz="2000" b="1" dirty="0">
                  <a:solidFill>
                    <a:schemeClr val="bg2"/>
                  </a:solidFill>
                </a:rPr>
                <a:t>Fi</a:t>
              </a:r>
              <a:r>
                <a:rPr lang="zh-CN" altLang="en-US" sz="2000" b="1" dirty="0">
                  <a:solidFill>
                    <a:schemeClr val="bg2"/>
                  </a:solidFill>
                </a:rPr>
                <a:t>是形为</a:t>
              </a:r>
              <a:r>
                <a:rPr lang="en-US" altLang="zh-CN" sz="2000" b="1" dirty="0" err="1">
                  <a:solidFill>
                    <a:schemeClr val="bg2"/>
                  </a:solidFill>
                </a:rPr>
                <a:t>iθj</a:t>
              </a:r>
              <a:r>
                <a:rPr lang="zh-CN" altLang="en-US" sz="2000" b="1" dirty="0">
                  <a:solidFill>
                    <a:schemeClr val="bg2"/>
                  </a:solidFill>
                </a:rPr>
                <a:t>的式子。</a:t>
              </a:r>
            </a:p>
            <a:p>
              <a:pPr>
                <a:lnSpc>
                  <a:spcPct val="150000"/>
                </a:lnSpc>
              </a:pPr>
              <a:r>
                <a:rPr lang="zh-CN" altLang="en-US" sz="2000" b="1" dirty="0">
                  <a:solidFill>
                    <a:schemeClr val="bg2"/>
                  </a:solidFill>
                </a:rPr>
                <a:t>而</a:t>
              </a:r>
              <a:r>
                <a:rPr lang="en-US" altLang="zh-CN" sz="2000" b="1" dirty="0" err="1">
                  <a:solidFill>
                    <a:schemeClr val="bg2"/>
                  </a:solidFill>
                </a:rPr>
                <a:t>i</a:t>
              </a:r>
              <a:r>
                <a:rPr lang="zh-CN" altLang="en-US" sz="2000" b="1" dirty="0">
                  <a:solidFill>
                    <a:schemeClr val="bg2"/>
                  </a:solidFill>
                </a:rPr>
                <a:t>和</a:t>
              </a:r>
              <a:r>
                <a:rPr lang="en-US" altLang="zh-CN" sz="2000" b="1" dirty="0">
                  <a:solidFill>
                    <a:schemeClr val="bg2"/>
                  </a:solidFill>
                </a:rPr>
                <a:t>j</a:t>
              </a:r>
              <a:r>
                <a:rPr lang="zh-CN" altLang="en-US" sz="2000" b="1" dirty="0">
                  <a:solidFill>
                    <a:schemeClr val="bg2"/>
                  </a:solidFill>
                </a:rPr>
                <a:t>分别为关系</a:t>
              </a:r>
              <a:r>
                <a:rPr lang="en-US" altLang="zh-CN" sz="2000" b="1" dirty="0">
                  <a:solidFill>
                    <a:schemeClr val="bg2"/>
                  </a:solidFill>
                </a:rPr>
                <a:t>R</a:t>
              </a:r>
              <a:r>
                <a:rPr lang="zh-CN" altLang="en-US" sz="2000" b="1" dirty="0">
                  <a:solidFill>
                    <a:schemeClr val="bg2"/>
                  </a:solidFill>
                </a:rPr>
                <a:t>和</a:t>
              </a:r>
              <a:r>
                <a:rPr lang="en-US" altLang="zh-CN" sz="2000" b="1" dirty="0">
                  <a:solidFill>
                    <a:schemeClr val="bg2"/>
                  </a:solidFill>
                </a:rPr>
                <a:t>S</a:t>
              </a:r>
              <a:r>
                <a:rPr lang="zh-CN" altLang="en-US" sz="2000" b="1" dirty="0">
                  <a:solidFill>
                    <a:schemeClr val="bg2"/>
                  </a:solidFill>
                </a:rPr>
                <a:t>的第</a:t>
              </a:r>
              <a:r>
                <a:rPr lang="en-US" altLang="zh-CN" sz="2000" b="1" dirty="0" err="1">
                  <a:solidFill>
                    <a:schemeClr val="bg2"/>
                  </a:solidFill>
                </a:rPr>
                <a:t>i</a:t>
              </a:r>
              <a:r>
                <a:rPr lang="zh-CN" altLang="en-US" sz="2000" b="1" dirty="0">
                  <a:solidFill>
                    <a:schemeClr val="bg2"/>
                  </a:solidFill>
                </a:rPr>
                <a:t>个分量和第</a:t>
              </a:r>
              <a:r>
                <a:rPr lang="en-US" altLang="zh-CN" sz="2000" b="1" dirty="0">
                  <a:solidFill>
                    <a:schemeClr val="bg2"/>
                  </a:solidFill>
                </a:rPr>
                <a:t>j</a:t>
              </a:r>
              <a:r>
                <a:rPr lang="zh-CN" altLang="en-US" sz="2000" b="1" dirty="0">
                  <a:solidFill>
                    <a:schemeClr val="bg2"/>
                  </a:solidFill>
                </a:rPr>
                <a:t>个分量的序号。</a:t>
              </a:r>
            </a:p>
          </p:txBody>
        </p:sp>
      </p:grpSp>
      <p:pic>
        <p:nvPicPr>
          <p:cNvPr id="9" name="图片 8">
            <a:extLst>
              <a:ext uri="{FF2B5EF4-FFF2-40B4-BE49-F238E27FC236}">
                <a16:creationId xmlns:a16="http://schemas.microsoft.com/office/drawing/2014/main" id="{4D56172B-33A5-FF48-B90C-D20D194EE09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76" t="20973" r="54062" b="13716"/>
          <a:stretch>
            <a:fillRect/>
          </a:stretch>
        </p:blipFill>
        <p:spPr bwMode="auto">
          <a:xfrm>
            <a:off x="179388" y="763588"/>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06222"/>
                                        </p:tgtEl>
                                        <p:attrNameLst>
                                          <p:attrName>style.visibility</p:attrName>
                                        </p:attrNameLst>
                                      </p:cBhvr>
                                      <p:to>
                                        <p:strVal val="visible"/>
                                      </p:to>
                                    </p:set>
                                    <p:animEffect transition="in" filter="blinds(horizontal)">
                                      <p:cBhvr>
                                        <p:cTn id="7" dur="500"/>
                                        <p:tgtEl>
                                          <p:spTgt spid="6062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606224"/>
                                        </p:tgtEl>
                                        <p:attrNameLst>
                                          <p:attrName>style.visibility</p:attrName>
                                        </p:attrNameLst>
                                      </p:cBhvr>
                                      <p:to>
                                        <p:strVal val="visible"/>
                                      </p:to>
                                    </p:set>
                                    <p:animEffect transition="in" filter="blinds(horizontal)">
                                      <p:cBhvr>
                                        <p:cTn id="12" dur="500"/>
                                        <p:tgtEl>
                                          <p:spTgt spid="60622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F5743B01-4A65-B142-8800-33B3E8F70DBF}"/>
              </a:ext>
            </a:extLst>
          </p:cNvPr>
          <p:cNvGraphicFramePr>
            <a:graphicFrameLocks noGrp="1"/>
          </p:cNvGraphicFramePr>
          <p:nvPr>
            <p:extLst>
              <p:ext uri="{D42A27DB-BD31-4B8C-83A1-F6EECF244321}">
                <p14:modId xmlns:p14="http://schemas.microsoft.com/office/powerpoint/2010/main" val="3569885398"/>
              </p:ext>
            </p:extLst>
          </p:nvPr>
        </p:nvGraphicFramePr>
        <p:xfrm>
          <a:off x="107504" y="620688"/>
          <a:ext cx="2456443" cy="259588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748364">
                  <a:extLst>
                    <a:ext uri="{9D8B030D-6E8A-4147-A177-3AD203B41FA5}">
                      <a16:colId xmlns:a16="http://schemas.microsoft.com/office/drawing/2014/main" val="3954880262"/>
                    </a:ext>
                  </a:extLst>
                </a:gridCol>
                <a:gridCol w="1016283">
                  <a:extLst>
                    <a:ext uri="{9D8B030D-6E8A-4147-A177-3AD203B41FA5}">
                      <a16:colId xmlns:a16="http://schemas.microsoft.com/office/drawing/2014/main" val="4168470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CNO</a:t>
                      </a:r>
                      <a:endParaRPr lang="zh-CN" altLang="en-US" dirty="0"/>
                    </a:p>
                  </a:txBody>
                  <a:tcPr/>
                </a:tc>
                <a:tc>
                  <a:txBody>
                    <a:bodyPr/>
                    <a:lstStyle/>
                    <a:p>
                      <a:pPr algn="ctr"/>
                      <a:r>
                        <a:rPr lang="en-US" altLang="zh-CN" dirty="0"/>
                        <a:t>GRADE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extLst>
                  <a:ext uri="{0D108BD9-81ED-4DB2-BD59-A6C34878D82A}">
                    <a16:rowId xmlns:a16="http://schemas.microsoft.com/office/drawing/2014/main" val="3713937122"/>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8418211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79</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S1</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76</a:t>
                      </a:r>
                      <a:endParaRPr lang="zh-CN" altLang="en-US" dirty="0"/>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extLst>
                  <a:ext uri="{0D108BD9-81ED-4DB2-BD59-A6C34878D82A}">
                    <a16:rowId xmlns:a16="http://schemas.microsoft.com/office/drawing/2014/main" val="2604247982"/>
                  </a:ext>
                </a:extLst>
              </a:tr>
              <a:tr h="370840">
                <a:tc>
                  <a:txBody>
                    <a:bodyPr/>
                    <a:lstStyle/>
                    <a:p>
                      <a:pPr algn="ctr"/>
                      <a:r>
                        <a:rPr lang="en-US" altLang="zh-CN" dirty="0"/>
                        <a:t>S6</a:t>
                      </a:r>
                      <a:endParaRPr lang="zh-CN" altLang="en-US" dirty="0"/>
                    </a:p>
                  </a:txBody>
                  <a:tcPr/>
                </a:tc>
                <a:tc>
                  <a:txBody>
                    <a:bodyPr/>
                    <a:lstStyle/>
                    <a:p>
                      <a:pPr algn="ctr"/>
                      <a:r>
                        <a:rPr lang="en-US" altLang="zh-CN" dirty="0"/>
                        <a:t>C1</a:t>
                      </a:r>
                      <a:endParaRPr lang="zh-CN" altLang="en-US" dirty="0"/>
                    </a:p>
                  </a:txBody>
                  <a:tcPr/>
                </a:tc>
                <a:tc>
                  <a:txBody>
                    <a:bodyPr/>
                    <a:lstStyle/>
                    <a:p>
                      <a:pPr algn="ctr"/>
                      <a:r>
                        <a:rPr lang="en-US" altLang="zh-CN" dirty="0"/>
                        <a:t>78</a:t>
                      </a:r>
                      <a:endParaRPr lang="zh-CN" altLang="en-US" dirty="0"/>
                    </a:p>
                  </a:txBody>
                  <a:tcPr/>
                </a:tc>
                <a:extLst>
                  <a:ext uri="{0D108BD9-81ED-4DB2-BD59-A6C34878D82A}">
                    <a16:rowId xmlns:a16="http://schemas.microsoft.com/office/drawing/2014/main" val="1236409575"/>
                  </a:ext>
                </a:extLst>
              </a:tr>
            </a:tbl>
          </a:graphicData>
        </a:graphic>
      </p:graphicFrame>
      <p:sp>
        <p:nvSpPr>
          <p:cNvPr id="3" name="文本框 2">
            <a:extLst>
              <a:ext uri="{FF2B5EF4-FFF2-40B4-BE49-F238E27FC236}">
                <a16:creationId xmlns:a16="http://schemas.microsoft.com/office/drawing/2014/main" id="{2BABAC5C-6203-424B-989C-9631353624DB}"/>
              </a:ext>
            </a:extLst>
          </p:cNvPr>
          <p:cNvSpPr txBox="1"/>
          <p:nvPr/>
        </p:nvSpPr>
        <p:spPr>
          <a:xfrm>
            <a:off x="855465" y="256889"/>
            <a:ext cx="960519"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u="sng" dirty="0">
                <a:solidFill>
                  <a:schemeClr val="bg1"/>
                </a:solidFill>
              </a:rPr>
              <a:t>SC</a:t>
            </a:r>
            <a:endParaRPr kumimoji="1" lang="zh-CN" altLang="en-US" sz="2000" b="1" u="sng" dirty="0">
              <a:solidFill>
                <a:schemeClr val="bg1"/>
              </a:solidFill>
            </a:endParaRPr>
          </a:p>
        </p:txBody>
      </p:sp>
      <p:graphicFrame>
        <p:nvGraphicFramePr>
          <p:cNvPr id="4" name="表格 2">
            <a:extLst>
              <a:ext uri="{FF2B5EF4-FFF2-40B4-BE49-F238E27FC236}">
                <a16:creationId xmlns:a16="http://schemas.microsoft.com/office/drawing/2014/main" id="{018E77BE-3269-F44D-AE9F-7DAA51EC0332}"/>
              </a:ext>
            </a:extLst>
          </p:cNvPr>
          <p:cNvGraphicFramePr>
            <a:graphicFrameLocks noGrp="1"/>
          </p:cNvGraphicFramePr>
          <p:nvPr>
            <p:extLst>
              <p:ext uri="{D42A27DB-BD31-4B8C-83A1-F6EECF244321}">
                <p14:modId xmlns:p14="http://schemas.microsoft.com/office/powerpoint/2010/main" val="2715307502"/>
              </p:ext>
            </p:extLst>
          </p:nvPr>
        </p:nvGraphicFramePr>
        <p:xfrm>
          <a:off x="2661782" y="620688"/>
          <a:ext cx="3873692" cy="2062480"/>
        </p:xfrm>
        <a:graphic>
          <a:graphicData uri="http://schemas.openxmlformats.org/drawingml/2006/table">
            <a:tbl>
              <a:tblPr firstRow="1" bandRow="1">
                <a:tableStyleId>{21E4AEA4-8DFA-4A89-87EB-49C32662AFE0}</a:tableStyleId>
              </a:tblPr>
              <a:tblGrid>
                <a:gridCol w="705340">
                  <a:extLst>
                    <a:ext uri="{9D8B030D-6E8A-4147-A177-3AD203B41FA5}">
                      <a16:colId xmlns:a16="http://schemas.microsoft.com/office/drawing/2014/main" val="3250390251"/>
                    </a:ext>
                  </a:extLst>
                </a:gridCol>
                <a:gridCol w="1080120">
                  <a:extLst>
                    <a:ext uri="{9D8B030D-6E8A-4147-A177-3AD203B41FA5}">
                      <a16:colId xmlns:a16="http://schemas.microsoft.com/office/drawing/2014/main" val="3954880262"/>
                    </a:ext>
                  </a:extLst>
                </a:gridCol>
                <a:gridCol w="1008112">
                  <a:extLst>
                    <a:ext uri="{9D8B030D-6E8A-4147-A177-3AD203B41FA5}">
                      <a16:colId xmlns:a16="http://schemas.microsoft.com/office/drawing/2014/main" val="41684705"/>
                    </a:ext>
                  </a:extLst>
                </a:gridCol>
                <a:gridCol w="1080120">
                  <a:extLst>
                    <a:ext uri="{9D8B030D-6E8A-4147-A177-3AD203B41FA5}">
                      <a16:colId xmlns:a16="http://schemas.microsoft.com/office/drawing/2014/main" val="2861137485"/>
                    </a:ext>
                  </a:extLst>
                </a:gridCol>
              </a:tblGrid>
              <a:tr h="370840">
                <a:tc>
                  <a:txBody>
                    <a:bodyPr/>
                    <a:lstStyle/>
                    <a:p>
                      <a:pPr algn="ctr"/>
                      <a:r>
                        <a:rPr lang="en-US" altLang="zh-CN" dirty="0"/>
                        <a:t>CNO</a:t>
                      </a:r>
                      <a:endParaRPr lang="zh-CN" altLang="en-US" dirty="0"/>
                    </a:p>
                  </a:txBody>
                  <a:tcPr/>
                </a:tc>
                <a:tc>
                  <a:txBody>
                    <a:bodyPr/>
                    <a:lstStyle/>
                    <a:p>
                      <a:pPr algn="ctr"/>
                      <a:r>
                        <a:rPr lang="en-US" altLang="zh-CN" dirty="0"/>
                        <a:t>CNAME</a:t>
                      </a:r>
                      <a:endParaRPr lang="zh-CN" altLang="en-US" dirty="0"/>
                    </a:p>
                  </a:txBody>
                  <a:tcPr/>
                </a:tc>
                <a:tc>
                  <a:txBody>
                    <a:bodyPr/>
                    <a:lstStyle/>
                    <a:p>
                      <a:pPr algn="ctr"/>
                      <a:r>
                        <a:rPr lang="en-US" altLang="zh-CN" dirty="0"/>
                        <a:t>CDEPT</a:t>
                      </a:r>
                      <a:endParaRPr lang="zh-CN" altLang="en-US" dirty="0"/>
                    </a:p>
                  </a:txBody>
                  <a:tcPr/>
                </a:tc>
                <a:tc>
                  <a:txBody>
                    <a:bodyPr/>
                    <a:lstStyle/>
                    <a:p>
                      <a:pPr algn="ctr"/>
                      <a:r>
                        <a:rPr lang="en-US" altLang="zh-CN" dirty="0"/>
                        <a:t>TNAME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C2</a:t>
                      </a:r>
                      <a:endParaRPr lang="zh-CN" altLang="en-US" dirty="0"/>
                    </a:p>
                  </a:txBody>
                  <a:tcPr/>
                </a:tc>
                <a:tc>
                  <a:txBody>
                    <a:bodyPr/>
                    <a:lstStyle/>
                    <a:p>
                      <a:pPr algn="ctr"/>
                      <a:r>
                        <a:rPr lang="zh-CN" altLang="en-US" sz="1600" dirty="0"/>
                        <a:t>离散数学</a:t>
                      </a:r>
                    </a:p>
                  </a:txBody>
                  <a:tcPr/>
                </a:tc>
                <a:tc>
                  <a:txBody>
                    <a:bodyPr/>
                    <a:lstStyle/>
                    <a:p>
                      <a:pPr algn="ctr"/>
                      <a:r>
                        <a:rPr lang="zh-CN" altLang="en-US" dirty="0"/>
                        <a:t>计算机</a:t>
                      </a:r>
                    </a:p>
                  </a:txBody>
                  <a:tcPr/>
                </a:tc>
                <a:tc>
                  <a:txBody>
                    <a:bodyPr/>
                    <a:lstStyle/>
                    <a:p>
                      <a:pPr algn="ctr"/>
                      <a:r>
                        <a:rPr lang="zh-CN" altLang="en-US" dirty="0"/>
                        <a:t>汪宏伟</a:t>
                      </a:r>
                    </a:p>
                  </a:txBody>
                  <a:tcPr/>
                </a:tc>
                <a:extLst>
                  <a:ext uri="{0D108BD9-81ED-4DB2-BD59-A6C34878D82A}">
                    <a16:rowId xmlns:a16="http://schemas.microsoft.com/office/drawing/2014/main" val="3713937122"/>
                  </a:ext>
                </a:extLst>
              </a:tr>
              <a:tr h="370840">
                <a:tc>
                  <a:txBody>
                    <a:bodyPr/>
                    <a:lstStyle/>
                    <a:p>
                      <a:pPr algn="ctr"/>
                      <a:r>
                        <a:rPr lang="en-US" altLang="zh-CN" dirty="0"/>
                        <a:t>C3</a:t>
                      </a:r>
                      <a:endParaRPr lang="zh-CN" altLang="en-US" dirty="0"/>
                    </a:p>
                  </a:txBody>
                  <a:tcPr/>
                </a:tc>
                <a:tc>
                  <a:txBody>
                    <a:bodyPr/>
                    <a:lstStyle/>
                    <a:p>
                      <a:pPr algn="ctr"/>
                      <a:r>
                        <a:rPr lang="zh-CN" altLang="en-US" sz="1600" dirty="0"/>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钱红</a:t>
                      </a:r>
                    </a:p>
                  </a:txBody>
                  <a:tcPr/>
                </a:tc>
                <a:extLst>
                  <a:ext uri="{0D108BD9-81ED-4DB2-BD59-A6C34878D82A}">
                    <a16:rowId xmlns:a16="http://schemas.microsoft.com/office/drawing/2014/main" val="841821175"/>
                  </a:ext>
                </a:extLst>
              </a:tr>
              <a:tr h="370840">
                <a:tc>
                  <a:txBody>
                    <a:bodyPr/>
                    <a:lstStyle/>
                    <a:p>
                      <a:pPr algn="ctr"/>
                      <a:r>
                        <a:rPr lang="en-US" altLang="zh-CN" dirty="0"/>
                        <a:t>C4</a:t>
                      </a:r>
                      <a:endParaRPr lang="zh-CN" altLang="en-US" dirty="0"/>
                    </a:p>
                  </a:txBody>
                  <a:tcPr/>
                </a:tc>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马良</a:t>
                      </a:r>
                    </a:p>
                  </a:txBody>
                  <a:tcPr/>
                </a:tc>
                <a:extLst>
                  <a:ext uri="{0D108BD9-81ED-4DB2-BD59-A6C34878D82A}">
                    <a16:rowId xmlns:a16="http://schemas.microsoft.com/office/drawing/2014/main" val="1150971900"/>
                  </a:ext>
                </a:extLst>
              </a:tr>
              <a:tr h="370840">
                <a:tc>
                  <a:txBody>
                    <a:bodyPr/>
                    <a:lstStyle/>
                    <a:p>
                      <a:pPr algn="ctr"/>
                      <a:r>
                        <a:rPr lang="en-US" altLang="zh-CN" dirty="0"/>
                        <a:t>C1</a:t>
                      </a:r>
                      <a:endParaRPr lang="zh-CN" altLang="en-US" dirty="0"/>
                    </a:p>
                  </a:txBody>
                  <a:tcPr/>
                </a:tc>
                <a:tc>
                  <a:txBody>
                    <a:bodyPr/>
                    <a:lstStyle/>
                    <a:p>
                      <a:pPr algn="ctr"/>
                      <a:r>
                        <a:rPr lang="zh-CN" altLang="en-US" sz="1600" dirty="0"/>
                        <a:t>计算机</a:t>
                      </a:r>
                      <a:endParaRPr lang="en-US" altLang="zh-CN" sz="1600" dirty="0"/>
                    </a:p>
                    <a:p>
                      <a:pPr algn="ctr"/>
                      <a:r>
                        <a:rPr lang="zh-CN" altLang="en-US" sz="1600" dirty="0"/>
                        <a:t>原理</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李兵</a:t>
                      </a:r>
                    </a:p>
                  </a:txBody>
                  <a:tcPr/>
                </a:tc>
                <a:extLst>
                  <a:ext uri="{0D108BD9-81ED-4DB2-BD59-A6C34878D82A}">
                    <a16:rowId xmlns:a16="http://schemas.microsoft.com/office/drawing/2014/main" val="3770924754"/>
                  </a:ext>
                </a:extLst>
              </a:tr>
            </a:tbl>
          </a:graphicData>
        </a:graphic>
      </p:graphicFrame>
      <p:sp>
        <p:nvSpPr>
          <p:cNvPr id="5" name="文本框 4">
            <a:extLst>
              <a:ext uri="{FF2B5EF4-FFF2-40B4-BE49-F238E27FC236}">
                <a16:creationId xmlns:a16="http://schemas.microsoft.com/office/drawing/2014/main" id="{BD99673E-F489-8448-A889-7810485CB276}"/>
              </a:ext>
            </a:extLst>
          </p:cNvPr>
          <p:cNvSpPr txBox="1"/>
          <p:nvPr/>
        </p:nvSpPr>
        <p:spPr>
          <a:xfrm>
            <a:off x="4183289" y="238985"/>
            <a:ext cx="830677"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u="sng" dirty="0">
                <a:solidFill>
                  <a:schemeClr val="bg1"/>
                </a:solidFill>
              </a:rPr>
              <a:t>C</a:t>
            </a:r>
            <a:endParaRPr kumimoji="1" lang="zh-CN" altLang="en-US" sz="2000" b="1" u="sng" dirty="0">
              <a:solidFill>
                <a:schemeClr val="bg1"/>
              </a:solidFill>
            </a:endParaRPr>
          </a:p>
        </p:txBody>
      </p:sp>
      <p:graphicFrame>
        <p:nvGraphicFramePr>
          <p:cNvPr id="6" name="表格 2">
            <a:extLst>
              <a:ext uri="{FF2B5EF4-FFF2-40B4-BE49-F238E27FC236}">
                <a16:creationId xmlns:a16="http://schemas.microsoft.com/office/drawing/2014/main" id="{C207FA53-0162-3540-B90F-82CBEDB1E47E}"/>
              </a:ext>
            </a:extLst>
          </p:cNvPr>
          <p:cNvGraphicFramePr>
            <a:graphicFrameLocks noGrp="1"/>
          </p:cNvGraphicFramePr>
          <p:nvPr>
            <p:extLst>
              <p:ext uri="{D42A27DB-BD31-4B8C-83A1-F6EECF244321}">
                <p14:modId xmlns:p14="http://schemas.microsoft.com/office/powerpoint/2010/main" val="1720597713"/>
              </p:ext>
            </p:extLst>
          </p:nvPr>
        </p:nvGraphicFramePr>
        <p:xfrm>
          <a:off x="6633309" y="620688"/>
          <a:ext cx="2384435" cy="1097280"/>
        </p:xfrm>
        <a:graphic>
          <a:graphicData uri="http://schemas.openxmlformats.org/drawingml/2006/table">
            <a:tbl>
              <a:tblPr firstRow="1" bandRow="1">
                <a:tableStyleId>{21E4AEA4-8DFA-4A89-87EB-49C32662AFE0}</a:tableStyleId>
              </a:tblPr>
              <a:tblGrid>
                <a:gridCol w="764763">
                  <a:extLst>
                    <a:ext uri="{9D8B030D-6E8A-4147-A177-3AD203B41FA5}">
                      <a16:colId xmlns:a16="http://schemas.microsoft.com/office/drawing/2014/main" val="3250390251"/>
                    </a:ext>
                  </a:extLst>
                </a:gridCol>
                <a:gridCol w="524121">
                  <a:extLst>
                    <a:ext uri="{9D8B030D-6E8A-4147-A177-3AD203B41FA5}">
                      <a16:colId xmlns:a16="http://schemas.microsoft.com/office/drawing/2014/main" val="3954880262"/>
                    </a:ext>
                  </a:extLst>
                </a:gridCol>
                <a:gridCol w="1095551">
                  <a:extLst>
                    <a:ext uri="{9D8B030D-6E8A-4147-A177-3AD203B41FA5}">
                      <a16:colId xmlns:a16="http://schemas.microsoft.com/office/drawing/2014/main" val="41684705"/>
                    </a:ext>
                  </a:extLst>
                </a:gridCol>
              </a:tblGrid>
              <a:tr h="362775">
                <a:tc>
                  <a:txBody>
                    <a:bodyPr/>
                    <a:lstStyle/>
                    <a:p>
                      <a:pPr algn="ctr"/>
                      <a:r>
                        <a:rPr lang="en-US" altLang="zh-CN" dirty="0"/>
                        <a:t>CNO</a:t>
                      </a:r>
                      <a:endParaRPr lang="zh-CN" altLang="en-US" dirty="0"/>
                    </a:p>
                  </a:txBody>
                  <a:tcPr/>
                </a:tc>
                <a:tc>
                  <a:txBody>
                    <a:bodyPr/>
                    <a:lstStyle/>
                    <a:p>
                      <a:pPr algn="ctr"/>
                      <a:r>
                        <a:rPr lang="en-US" altLang="zh-CN" dirty="0"/>
                        <a:t>G</a:t>
                      </a:r>
                      <a:endParaRPr lang="zh-CN" altLang="en-US" dirty="0"/>
                    </a:p>
                  </a:txBody>
                  <a:tcPr/>
                </a:tc>
                <a:tc>
                  <a:txBody>
                    <a:bodyPr/>
                    <a:lstStyle/>
                    <a:p>
                      <a:pPr algn="ctr"/>
                      <a:r>
                        <a:rPr lang="en-US" altLang="zh-CN" dirty="0"/>
                        <a:t>LEVEL</a:t>
                      </a:r>
                      <a:endParaRPr lang="zh-CN" altLang="en-US" dirty="0"/>
                    </a:p>
                  </a:txBody>
                  <a:tcPr/>
                </a:tc>
                <a:extLst>
                  <a:ext uri="{0D108BD9-81ED-4DB2-BD59-A6C34878D82A}">
                    <a16:rowId xmlns:a16="http://schemas.microsoft.com/office/drawing/2014/main" val="3145990871"/>
                  </a:ext>
                </a:extLst>
              </a:tr>
              <a:tr h="362775">
                <a:tc>
                  <a:txBody>
                    <a:bodyPr/>
                    <a:lstStyle/>
                    <a:p>
                      <a:pPr algn="ctr"/>
                      <a:r>
                        <a:rPr lang="en-US" altLang="zh-CN" dirty="0"/>
                        <a:t>C2</a:t>
                      </a:r>
                      <a:endParaRPr lang="zh-CN" altLang="en-US" dirty="0"/>
                    </a:p>
                  </a:txBody>
                  <a:tcPr/>
                </a:tc>
                <a:tc>
                  <a:txBody>
                    <a:bodyPr/>
                    <a:lstStyle/>
                    <a:p>
                      <a:pPr algn="ctr"/>
                      <a:r>
                        <a:rPr lang="en-US" altLang="zh-CN" dirty="0"/>
                        <a:t>85</a:t>
                      </a:r>
                      <a:endParaRPr lang="zh-CN" altLang="en-US" dirty="0"/>
                    </a:p>
                  </a:txBody>
                  <a:tcPr/>
                </a:tc>
                <a:tc>
                  <a:txBody>
                    <a:bodyPr/>
                    <a:lstStyle/>
                    <a:p>
                      <a:pPr algn="ctr"/>
                      <a:r>
                        <a:rPr lang="en-US" altLang="zh-CN" dirty="0"/>
                        <a:t>A</a:t>
                      </a:r>
                      <a:endParaRPr lang="zh-CN" altLang="en-US" dirty="0"/>
                    </a:p>
                  </a:txBody>
                  <a:tcPr/>
                </a:tc>
                <a:extLst>
                  <a:ext uri="{0D108BD9-81ED-4DB2-BD59-A6C34878D82A}">
                    <a16:rowId xmlns:a16="http://schemas.microsoft.com/office/drawing/2014/main" val="3713937122"/>
                  </a:ext>
                </a:extLst>
              </a:tr>
              <a:tr h="362775">
                <a:tc>
                  <a:txBody>
                    <a:bodyPr/>
                    <a:lstStyle/>
                    <a:p>
                      <a:pPr algn="ctr"/>
                      <a:r>
                        <a:rPr lang="en-US" altLang="zh-CN" dirty="0"/>
                        <a:t>C3</a:t>
                      </a:r>
                      <a:endParaRPr lang="zh-CN" altLang="en-US" dirty="0"/>
                    </a:p>
                  </a:txBody>
                  <a:tcPr/>
                </a:tc>
                <a:tc>
                  <a:txBody>
                    <a:bodyPr/>
                    <a:lstStyle/>
                    <a:p>
                      <a:pPr algn="ctr"/>
                      <a:r>
                        <a:rPr lang="en-US" altLang="zh-CN" dirty="0"/>
                        <a:t>85</a:t>
                      </a:r>
                      <a:endParaRPr lang="zh-CN" altLang="en-US" dirty="0"/>
                    </a:p>
                  </a:txBody>
                  <a:tcPr/>
                </a:tc>
                <a:tc>
                  <a:txBody>
                    <a:bodyPr/>
                    <a:lstStyle/>
                    <a:p>
                      <a:pPr algn="ctr"/>
                      <a:r>
                        <a:rPr lang="en-US" altLang="zh-CN" dirty="0"/>
                        <a:t>A</a:t>
                      </a:r>
                      <a:endParaRPr lang="zh-CN" altLang="en-US" dirty="0"/>
                    </a:p>
                  </a:txBody>
                  <a:tcPr/>
                </a:tc>
                <a:extLst>
                  <a:ext uri="{0D108BD9-81ED-4DB2-BD59-A6C34878D82A}">
                    <a16:rowId xmlns:a16="http://schemas.microsoft.com/office/drawing/2014/main" val="841821175"/>
                  </a:ext>
                </a:extLst>
              </a:tr>
            </a:tbl>
          </a:graphicData>
        </a:graphic>
      </p:graphicFrame>
      <p:sp>
        <p:nvSpPr>
          <p:cNvPr id="7" name="文本框 6">
            <a:extLst>
              <a:ext uri="{FF2B5EF4-FFF2-40B4-BE49-F238E27FC236}">
                <a16:creationId xmlns:a16="http://schemas.microsoft.com/office/drawing/2014/main" id="{73605C1A-7A88-E64E-8B75-269EF97CCF30}"/>
              </a:ext>
            </a:extLst>
          </p:cNvPr>
          <p:cNvSpPr txBox="1"/>
          <p:nvPr/>
        </p:nvSpPr>
        <p:spPr>
          <a:xfrm>
            <a:off x="7345266" y="256889"/>
            <a:ext cx="960519"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u="sng" dirty="0">
                <a:solidFill>
                  <a:schemeClr val="bg1"/>
                </a:solidFill>
              </a:rPr>
              <a:t>CL</a:t>
            </a:r>
            <a:endParaRPr kumimoji="1" lang="zh-CN" altLang="en-US" sz="2000" b="1" u="sng" dirty="0">
              <a:solidFill>
                <a:schemeClr val="bg1"/>
              </a:solidFill>
            </a:endParaRPr>
          </a:p>
        </p:txBody>
      </p:sp>
      <p:graphicFrame>
        <p:nvGraphicFramePr>
          <p:cNvPr id="9" name="表格 9">
            <a:extLst>
              <a:ext uri="{FF2B5EF4-FFF2-40B4-BE49-F238E27FC236}">
                <a16:creationId xmlns:a16="http://schemas.microsoft.com/office/drawing/2014/main" id="{A4B019E2-1DC3-9247-BD6D-2504E03F886C}"/>
              </a:ext>
            </a:extLst>
          </p:cNvPr>
          <p:cNvGraphicFramePr>
            <a:graphicFrameLocks noGrp="1"/>
          </p:cNvGraphicFramePr>
          <p:nvPr>
            <p:extLst>
              <p:ext uri="{D42A27DB-BD31-4B8C-83A1-F6EECF244321}">
                <p14:modId xmlns:p14="http://schemas.microsoft.com/office/powerpoint/2010/main" val="3107451386"/>
              </p:ext>
            </p:extLst>
          </p:nvPr>
        </p:nvGraphicFramePr>
        <p:xfrm>
          <a:off x="107505" y="3857456"/>
          <a:ext cx="8910239" cy="2595880"/>
        </p:xfrm>
        <a:graphic>
          <a:graphicData uri="http://schemas.openxmlformats.org/drawingml/2006/table">
            <a:tbl>
              <a:tblPr firstRow="1" bandRow="1">
                <a:tableStyleId>{00A15C55-8517-42AA-B614-E9B94910E393}</a:tableStyleId>
              </a:tblPr>
              <a:tblGrid>
                <a:gridCol w="710217">
                  <a:extLst>
                    <a:ext uri="{9D8B030D-6E8A-4147-A177-3AD203B41FA5}">
                      <a16:colId xmlns:a16="http://schemas.microsoft.com/office/drawing/2014/main" val="3504568931"/>
                    </a:ext>
                  </a:extLst>
                </a:gridCol>
                <a:gridCol w="1226172">
                  <a:extLst>
                    <a:ext uri="{9D8B030D-6E8A-4147-A177-3AD203B41FA5}">
                      <a16:colId xmlns:a16="http://schemas.microsoft.com/office/drawing/2014/main" val="1693514392"/>
                    </a:ext>
                  </a:extLst>
                </a:gridCol>
                <a:gridCol w="1149536">
                  <a:extLst>
                    <a:ext uri="{9D8B030D-6E8A-4147-A177-3AD203B41FA5}">
                      <a16:colId xmlns:a16="http://schemas.microsoft.com/office/drawing/2014/main" val="1891917875"/>
                    </a:ext>
                  </a:extLst>
                </a:gridCol>
                <a:gridCol w="1149536">
                  <a:extLst>
                    <a:ext uri="{9D8B030D-6E8A-4147-A177-3AD203B41FA5}">
                      <a16:colId xmlns:a16="http://schemas.microsoft.com/office/drawing/2014/main" val="3796494571"/>
                    </a:ext>
                  </a:extLst>
                </a:gridCol>
                <a:gridCol w="2128996">
                  <a:extLst>
                    <a:ext uri="{9D8B030D-6E8A-4147-A177-3AD203B41FA5}">
                      <a16:colId xmlns:a16="http://schemas.microsoft.com/office/drawing/2014/main" val="3151041907"/>
                    </a:ext>
                  </a:extLst>
                </a:gridCol>
                <a:gridCol w="1272891">
                  <a:extLst>
                    <a:ext uri="{9D8B030D-6E8A-4147-A177-3AD203B41FA5}">
                      <a16:colId xmlns:a16="http://schemas.microsoft.com/office/drawing/2014/main" val="2016092597"/>
                    </a:ext>
                  </a:extLst>
                </a:gridCol>
                <a:gridCol w="1272891">
                  <a:extLst>
                    <a:ext uri="{9D8B030D-6E8A-4147-A177-3AD203B41FA5}">
                      <a16:colId xmlns:a16="http://schemas.microsoft.com/office/drawing/2014/main" val="3530415023"/>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SC.CNO</a:t>
                      </a:r>
                      <a:endParaRPr lang="zh-CN" altLang="en-US" dirty="0"/>
                    </a:p>
                  </a:txBody>
                  <a:tcPr/>
                </a:tc>
                <a:tc>
                  <a:txBody>
                    <a:bodyPr/>
                    <a:lstStyle/>
                    <a:p>
                      <a:pPr algn="ctr"/>
                      <a:r>
                        <a:rPr lang="en-US" altLang="zh-CN" dirty="0"/>
                        <a:t>GRADE</a:t>
                      </a:r>
                      <a:endParaRPr lang="zh-CN" altLang="en-US" dirty="0"/>
                    </a:p>
                  </a:txBody>
                  <a:tcPr/>
                </a:tc>
                <a:tc>
                  <a:txBody>
                    <a:bodyPr/>
                    <a:lstStyle/>
                    <a:p>
                      <a:pPr algn="ctr"/>
                      <a:r>
                        <a:rPr lang="en-US" altLang="zh-CN" dirty="0"/>
                        <a:t>C.CNO</a:t>
                      </a:r>
                      <a:endParaRPr lang="zh-CN" altLang="en-US" dirty="0"/>
                    </a:p>
                  </a:txBody>
                  <a:tcPr/>
                </a:tc>
                <a:tc>
                  <a:txBody>
                    <a:bodyPr/>
                    <a:lstStyle/>
                    <a:p>
                      <a:pPr algn="ctr"/>
                      <a:r>
                        <a:rPr lang="en-US" altLang="zh-CN" dirty="0"/>
                        <a:t>CNAME</a:t>
                      </a:r>
                      <a:endParaRPr lang="zh-CN" altLang="en-US" dirty="0"/>
                    </a:p>
                  </a:txBody>
                  <a:tcPr/>
                </a:tc>
                <a:tc>
                  <a:txBody>
                    <a:bodyPr/>
                    <a:lstStyle/>
                    <a:p>
                      <a:pPr algn="ctr"/>
                      <a:r>
                        <a:rPr lang="en-US" altLang="zh-CN" dirty="0"/>
                        <a:t>CDEPT</a:t>
                      </a:r>
                      <a:endParaRPr lang="zh-CN" altLang="en-US" dirty="0"/>
                    </a:p>
                  </a:txBody>
                  <a:tcPr/>
                </a:tc>
                <a:tc>
                  <a:txBody>
                    <a:bodyPr/>
                    <a:lstStyle/>
                    <a:p>
                      <a:pPr algn="ctr"/>
                      <a:r>
                        <a:rPr lang="en-US" altLang="zh-CN" dirty="0"/>
                        <a:t>TNAME</a:t>
                      </a:r>
                      <a:endParaRPr lang="zh-CN" altLang="en-US" dirty="0"/>
                    </a:p>
                  </a:txBody>
                  <a:tcPr/>
                </a:tc>
                <a:extLst>
                  <a:ext uri="{0D108BD9-81ED-4DB2-BD59-A6C34878D82A}">
                    <a16:rowId xmlns:a16="http://schemas.microsoft.com/office/drawing/2014/main" val="1154568065"/>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tc>
                  <a:txBody>
                    <a:bodyPr/>
                    <a:lstStyle/>
                    <a:p>
                      <a:pPr algn="ctr"/>
                      <a:r>
                        <a:rPr lang="en-US" altLang="zh-CN" dirty="0"/>
                        <a:t>C3</a:t>
                      </a:r>
                      <a:endParaRPr lang="zh-CN" altLang="en-US" dirty="0"/>
                    </a:p>
                  </a:txBody>
                  <a:tcPr/>
                </a:tc>
                <a:tc>
                  <a:txBody>
                    <a:bodyPr/>
                    <a:lstStyle/>
                    <a:p>
                      <a:pPr algn="ctr"/>
                      <a:r>
                        <a:rPr lang="zh-CN" altLang="en-US" sz="1800" dirty="0"/>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钱红</a:t>
                      </a:r>
                    </a:p>
                  </a:txBody>
                  <a:tcPr/>
                </a:tc>
                <a:extLst>
                  <a:ext uri="{0D108BD9-81ED-4DB2-BD59-A6C34878D82A}">
                    <a16:rowId xmlns:a16="http://schemas.microsoft.com/office/drawing/2014/main" val="2881124937"/>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tc>
                  <a:txBody>
                    <a:bodyPr/>
                    <a:lstStyle/>
                    <a:p>
                      <a:pPr algn="ctr"/>
                      <a:r>
                        <a:rPr lang="en-US" altLang="zh-CN" dirty="0"/>
                        <a:t>C2</a:t>
                      </a:r>
                      <a:endParaRPr lang="zh-CN" altLang="en-US" dirty="0"/>
                    </a:p>
                  </a:txBody>
                  <a:tcPr/>
                </a:tc>
                <a:tc>
                  <a:txBody>
                    <a:bodyPr/>
                    <a:lstStyle/>
                    <a:p>
                      <a:pPr algn="ctr"/>
                      <a:r>
                        <a:rPr lang="zh-CN" altLang="en-US" sz="18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汪宏伟</a:t>
                      </a:r>
                    </a:p>
                  </a:txBody>
                  <a:tcPr/>
                </a:tc>
                <a:extLst>
                  <a:ext uri="{0D108BD9-81ED-4DB2-BD59-A6C34878D82A}">
                    <a16:rowId xmlns:a16="http://schemas.microsoft.com/office/drawing/2014/main" val="319937969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79</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高等数学</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通信</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钱红</a:t>
                      </a:r>
                    </a:p>
                  </a:txBody>
                  <a:tcPr/>
                </a:tc>
                <a:extLst>
                  <a:ext uri="{0D108BD9-81ED-4DB2-BD59-A6C34878D82A}">
                    <a16:rowId xmlns:a16="http://schemas.microsoft.com/office/drawing/2014/main" val="250943969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S1</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76</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钱红</a:t>
                      </a:r>
                    </a:p>
                  </a:txBody>
                  <a:tcPr/>
                </a:tc>
                <a:extLst>
                  <a:ext uri="{0D108BD9-81ED-4DB2-BD59-A6C34878D82A}">
                    <a16:rowId xmlns:a16="http://schemas.microsoft.com/office/drawing/2014/main" val="3374615984"/>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tc>
                  <a:txBody>
                    <a:bodyPr/>
                    <a:lstStyle/>
                    <a:p>
                      <a:pPr algn="ctr"/>
                      <a:r>
                        <a:rPr lang="en-US" altLang="zh-CN" dirty="0"/>
                        <a:t>C2</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汪宏伟</a:t>
                      </a:r>
                    </a:p>
                  </a:txBody>
                  <a:tcPr/>
                </a:tc>
                <a:extLst>
                  <a:ext uri="{0D108BD9-81ED-4DB2-BD59-A6C34878D82A}">
                    <a16:rowId xmlns:a16="http://schemas.microsoft.com/office/drawing/2014/main" val="2409998960"/>
                  </a:ext>
                </a:extLst>
              </a:tr>
              <a:tr h="370840">
                <a:tc>
                  <a:txBody>
                    <a:bodyPr/>
                    <a:lstStyle/>
                    <a:p>
                      <a:pPr algn="ctr"/>
                      <a:r>
                        <a:rPr lang="en-US" altLang="zh-CN" dirty="0"/>
                        <a:t>S6</a:t>
                      </a:r>
                      <a:endParaRPr lang="zh-CN" altLang="en-US" dirty="0"/>
                    </a:p>
                  </a:txBody>
                  <a:tcPr/>
                </a:tc>
                <a:tc>
                  <a:txBody>
                    <a:bodyPr/>
                    <a:lstStyle/>
                    <a:p>
                      <a:pPr algn="ctr"/>
                      <a:r>
                        <a:rPr lang="en-US" altLang="zh-CN" dirty="0"/>
                        <a:t>C1</a:t>
                      </a:r>
                      <a:endParaRPr lang="zh-CN" altLang="en-US" dirty="0"/>
                    </a:p>
                  </a:txBody>
                  <a:tcPr/>
                </a:tc>
                <a:tc>
                  <a:txBody>
                    <a:bodyPr/>
                    <a:lstStyle/>
                    <a:p>
                      <a:pPr algn="ctr"/>
                      <a:r>
                        <a:rPr lang="en-US" altLang="zh-CN" dirty="0"/>
                        <a:t>78</a:t>
                      </a:r>
                      <a:endParaRPr lang="zh-CN" altLang="en-US" dirty="0"/>
                    </a:p>
                  </a:txBody>
                  <a:tcPr/>
                </a:tc>
                <a:tc>
                  <a:txBody>
                    <a:bodyPr/>
                    <a:lstStyle/>
                    <a:p>
                      <a:pPr algn="ctr"/>
                      <a:r>
                        <a:rPr lang="en-US" altLang="zh-CN" dirty="0"/>
                        <a:t>C1</a:t>
                      </a:r>
                      <a:endParaRPr lang="zh-CN" altLang="en-US" dirty="0"/>
                    </a:p>
                  </a:txBody>
                  <a:tcPr/>
                </a:tc>
                <a:tc>
                  <a:txBody>
                    <a:bodyPr/>
                    <a:lstStyle/>
                    <a:p>
                      <a:pPr algn="ctr"/>
                      <a:r>
                        <a:rPr lang="zh-CN" altLang="en-US" sz="1800" dirty="0"/>
                        <a:t>计算机原理</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李兵</a:t>
                      </a:r>
                    </a:p>
                  </a:txBody>
                  <a:tcPr/>
                </a:tc>
                <a:extLst>
                  <a:ext uri="{0D108BD9-81ED-4DB2-BD59-A6C34878D82A}">
                    <a16:rowId xmlns:a16="http://schemas.microsoft.com/office/drawing/2014/main" val="2748274722"/>
                  </a:ext>
                </a:extLst>
              </a:tr>
            </a:tbl>
          </a:graphicData>
        </a:graphic>
      </p:graphicFrame>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1CEF58B-F47A-5445-AD2C-36EE556DECE5}"/>
                  </a:ext>
                </a:extLst>
              </p:cNvPr>
              <p:cNvSpPr txBox="1"/>
              <p:nvPr/>
            </p:nvSpPr>
            <p:spPr>
              <a:xfrm>
                <a:off x="2941507" y="3299673"/>
                <a:ext cx="2782621" cy="379719"/>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a:rPr lang="zh-CN" altLang="en-US" sz="2000" i="1" smtClean="0">
                          <a:solidFill>
                            <a:schemeClr val="bg1"/>
                          </a:solidFill>
                          <a:latin typeface="Cambria Math" panose="02040503050406030204" pitchFamily="18" charset="0"/>
                        </a:rPr>
                        <m:t>等值</m:t>
                      </m:r>
                      <m:r>
                        <a:rPr lang="zh-CN" altLang="en-US" sz="2000" i="1">
                          <a:solidFill>
                            <a:schemeClr val="bg1"/>
                          </a:solidFill>
                          <a:latin typeface="Cambria Math" panose="02040503050406030204" pitchFamily="18" charset="0"/>
                        </a:rPr>
                        <m:t>联接</m:t>
                      </m:r>
                      <m:r>
                        <a:rPr lang="zh-CN" altLang="en-US" sz="2000" b="0" i="1" smtClean="0">
                          <a:solidFill>
                            <a:schemeClr val="bg1"/>
                          </a:solidFill>
                          <a:latin typeface="Cambria Math" panose="02040503050406030204" pitchFamily="18" charset="0"/>
                        </a:rPr>
                        <m:t>：</m:t>
                      </m:r>
                      <m:r>
                        <a:rPr lang="zh-CN" altLang="en-US" sz="2000" b="0" i="1" smtClean="0">
                          <a:solidFill>
                            <a:schemeClr val="bg1"/>
                          </a:solidFill>
                          <a:latin typeface="Cambria Math" panose="02040503050406030204" pitchFamily="18" charset="0"/>
                        </a:rPr>
                        <m:t>    </m:t>
                      </m:r>
                      <m:r>
                        <m:rPr>
                          <m:sty m:val="p"/>
                        </m:rPr>
                        <a:rPr lang="en-US" altLang="zh-CN" sz="2000" i="1" smtClean="0">
                          <a:solidFill>
                            <a:schemeClr val="bg1"/>
                          </a:solidFill>
                          <a:latin typeface="Cambria Math" panose="02040503050406030204" pitchFamily="18" charset="0"/>
                        </a:rPr>
                        <m:t>SC</m:t>
                      </m:r>
                      <m:r>
                        <a:rPr lang="zh-CN" altLang="en-US" sz="2000" b="0" i="1" smtClean="0">
                          <a:solidFill>
                            <a:schemeClr val="bg1"/>
                          </a:solidFill>
                          <a:latin typeface="Cambria Math" panose="02040503050406030204" pitchFamily="18" charset="0"/>
                        </a:rPr>
                        <m:t> </m:t>
                      </m:r>
                      <m:m>
                        <m:mPr>
                          <m:mcs>
                            <m:mc>
                              <m:mcPr>
                                <m:count m:val="1"/>
                                <m:mcJc m:val="center"/>
                              </m:mcPr>
                            </m:mc>
                          </m:mcs>
                          <m:ctrlPr>
                            <a:rPr kumimoji="1" lang="en-US" altLang="zh-CN" sz="2000" i="1" smtClean="0">
                              <a:solidFill>
                                <a:schemeClr val="bg1"/>
                              </a:solidFill>
                              <a:latin typeface="Cambria Math" panose="02040503050406030204" pitchFamily="18" charset="0"/>
                            </a:rPr>
                          </m:ctrlPr>
                        </m:mPr>
                        <m:mr>
                          <m:e>
                            <m:r>
                              <a:rPr lang="en-US" altLang="zh-CN" sz="2000" b="1" i="1">
                                <a:solidFill>
                                  <a:schemeClr val="bg1"/>
                                </a:solidFill>
                                <a:latin typeface="Cambria Math" panose="02040503050406030204" pitchFamily="18" charset="0"/>
                                <a:ea typeface="Cambria Math" panose="02040503050406030204" pitchFamily="18" charset="0"/>
                              </a:rPr>
                              <m:t>⋈</m:t>
                            </m:r>
                          </m:e>
                        </m:mr>
                        <m:mr>
                          <m:e>
                            <m:r>
                              <a:rPr kumimoji="1" lang="en-US" altLang="zh-CN" sz="2000" b="0" i="1" smtClean="0">
                                <a:solidFill>
                                  <a:schemeClr val="bg1"/>
                                </a:solidFill>
                                <a:latin typeface="Cambria Math" panose="02040503050406030204" pitchFamily="18" charset="0"/>
                              </a:rPr>
                              <m:t>2=1</m:t>
                            </m:r>
                          </m:e>
                        </m:mr>
                      </m:m>
                      <m:r>
                        <a:rPr kumimoji="1" lang="zh-CN" altLang="en-US" sz="2000" b="0" i="1" smtClean="0">
                          <a:solidFill>
                            <a:schemeClr val="bg1"/>
                          </a:solidFill>
                          <a:latin typeface="Cambria Math" panose="02040503050406030204" pitchFamily="18" charset="0"/>
                        </a:rPr>
                        <m:t> </m:t>
                      </m:r>
                      <m:r>
                        <m:rPr>
                          <m:sty m:val="p"/>
                        </m:rPr>
                        <a:rPr lang="en-US" altLang="zh-CN" sz="2000" i="1">
                          <a:solidFill>
                            <a:schemeClr val="bg1"/>
                          </a:solidFill>
                          <a:latin typeface="Cambria Math" panose="02040503050406030204" pitchFamily="18" charset="0"/>
                        </a:rPr>
                        <m:t>C</m:t>
                      </m:r>
                    </m:oMath>
                  </m:oMathPara>
                </a14:m>
                <a:endParaRPr kumimoji="1" lang="zh-CN" altLang="en-US" sz="2000" dirty="0">
                  <a:solidFill>
                    <a:schemeClr val="bg1"/>
                  </a:solidFill>
                </a:endParaRPr>
              </a:p>
            </p:txBody>
          </p:sp>
        </mc:Choice>
        <mc:Fallback xmlns="">
          <p:sp>
            <p:nvSpPr>
              <p:cNvPr id="15" name="文本框 14">
                <a:extLst>
                  <a:ext uri="{FF2B5EF4-FFF2-40B4-BE49-F238E27FC236}">
                    <a16:creationId xmlns:a16="http://schemas.microsoft.com/office/drawing/2014/main" id="{B1CEF58B-F47A-5445-AD2C-36EE556DECE5}"/>
                  </a:ext>
                </a:extLst>
              </p:cNvPr>
              <p:cNvSpPr txBox="1">
                <a:spLocks noRot="1" noChangeAspect="1" noMove="1" noResize="1" noEditPoints="1" noAdjustHandles="1" noChangeArrowheads="1" noChangeShapeType="1" noTextEdit="1"/>
              </p:cNvSpPr>
              <p:nvPr/>
            </p:nvSpPr>
            <p:spPr>
              <a:xfrm>
                <a:off x="2941507" y="3299673"/>
                <a:ext cx="2782621" cy="379719"/>
              </a:xfrm>
              <a:prstGeom prst="rect">
                <a:avLst/>
              </a:prstGeom>
              <a:blipFill>
                <a:blip r:embed="rId2"/>
                <a:stretch>
                  <a:fillRect l="-1364" t="-19355" r="-455" b="-29032"/>
                </a:stretch>
              </a:blipFill>
            </p:spPr>
            <p:txBody>
              <a:bodyPr/>
              <a:lstStyle/>
              <a:p>
                <a:r>
                  <a:rPr lang="zh-CN" altLang="en-US">
                    <a:noFill/>
                  </a:rPr>
                  <a:t> </a:t>
                </a:r>
              </a:p>
            </p:txBody>
          </p:sp>
        </mc:Fallback>
      </mc:AlternateContent>
      <p:sp>
        <p:nvSpPr>
          <p:cNvPr id="16" name="右箭头 15">
            <a:extLst>
              <a:ext uri="{FF2B5EF4-FFF2-40B4-BE49-F238E27FC236}">
                <a16:creationId xmlns:a16="http://schemas.microsoft.com/office/drawing/2014/main" id="{104B446D-284A-D647-A54E-64E5526B0A55}"/>
              </a:ext>
            </a:extLst>
          </p:cNvPr>
          <p:cNvSpPr/>
          <p:nvPr/>
        </p:nvSpPr>
        <p:spPr bwMode="auto">
          <a:xfrm rot="5400000">
            <a:off x="4044784" y="3296620"/>
            <a:ext cx="576064" cy="288032"/>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Tree>
    <p:extLst>
      <p:ext uri="{BB962C8B-B14F-4D97-AF65-F5344CB8AC3E}">
        <p14:creationId xmlns:p14="http://schemas.microsoft.com/office/powerpoint/2010/main" val="13870958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F5743B01-4A65-B142-8800-33B3E8F70DBF}"/>
              </a:ext>
            </a:extLst>
          </p:cNvPr>
          <p:cNvGraphicFramePr>
            <a:graphicFrameLocks noGrp="1"/>
          </p:cNvGraphicFramePr>
          <p:nvPr>
            <p:extLst>
              <p:ext uri="{D42A27DB-BD31-4B8C-83A1-F6EECF244321}">
                <p14:modId xmlns:p14="http://schemas.microsoft.com/office/powerpoint/2010/main" val="4037639425"/>
              </p:ext>
            </p:extLst>
          </p:nvPr>
        </p:nvGraphicFramePr>
        <p:xfrm>
          <a:off x="107504" y="1100707"/>
          <a:ext cx="2456443" cy="259588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748364">
                  <a:extLst>
                    <a:ext uri="{9D8B030D-6E8A-4147-A177-3AD203B41FA5}">
                      <a16:colId xmlns:a16="http://schemas.microsoft.com/office/drawing/2014/main" val="3954880262"/>
                    </a:ext>
                  </a:extLst>
                </a:gridCol>
                <a:gridCol w="1016283">
                  <a:extLst>
                    <a:ext uri="{9D8B030D-6E8A-4147-A177-3AD203B41FA5}">
                      <a16:colId xmlns:a16="http://schemas.microsoft.com/office/drawing/2014/main" val="4168470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CNO</a:t>
                      </a:r>
                      <a:endParaRPr lang="zh-CN" altLang="en-US" dirty="0"/>
                    </a:p>
                  </a:txBody>
                  <a:tcPr/>
                </a:tc>
                <a:tc>
                  <a:txBody>
                    <a:bodyPr/>
                    <a:lstStyle/>
                    <a:p>
                      <a:pPr algn="ctr"/>
                      <a:r>
                        <a:rPr lang="en-US" altLang="zh-CN" dirty="0"/>
                        <a:t>GRADE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extLst>
                  <a:ext uri="{0D108BD9-81ED-4DB2-BD59-A6C34878D82A}">
                    <a16:rowId xmlns:a16="http://schemas.microsoft.com/office/drawing/2014/main" val="3713937122"/>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8418211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79</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S1</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76</a:t>
                      </a:r>
                      <a:endParaRPr lang="zh-CN" altLang="en-US" dirty="0"/>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extLst>
                  <a:ext uri="{0D108BD9-81ED-4DB2-BD59-A6C34878D82A}">
                    <a16:rowId xmlns:a16="http://schemas.microsoft.com/office/drawing/2014/main" val="2604247982"/>
                  </a:ext>
                </a:extLst>
              </a:tr>
              <a:tr h="370840">
                <a:tc>
                  <a:txBody>
                    <a:bodyPr/>
                    <a:lstStyle/>
                    <a:p>
                      <a:pPr algn="ctr"/>
                      <a:r>
                        <a:rPr lang="en-US" altLang="zh-CN" dirty="0"/>
                        <a:t>S6</a:t>
                      </a:r>
                      <a:endParaRPr lang="zh-CN" altLang="en-US" dirty="0"/>
                    </a:p>
                  </a:txBody>
                  <a:tcPr/>
                </a:tc>
                <a:tc>
                  <a:txBody>
                    <a:bodyPr/>
                    <a:lstStyle/>
                    <a:p>
                      <a:pPr algn="ctr"/>
                      <a:r>
                        <a:rPr lang="en-US" altLang="zh-CN" dirty="0"/>
                        <a:t>C1</a:t>
                      </a:r>
                      <a:endParaRPr lang="zh-CN" altLang="en-US" dirty="0"/>
                    </a:p>
                  </a:txBody>
                  <a:tcPr/>
                </a:tc>
                <a:tc>
                  <a:txBody>
                    <a:bodyPr/>
                    <a:lstStyle/>
                    <a:p>
                      <a:pPr algn="ctr"/>
                      <a:r>
                        <a:rPr lang="en-US" altLang="zh-CN" dirty="0"/>
                        <a:t>78</a:t>
                      </a:r>
                      <a:endParaRPr lang="zh-CN" altLang="en-US" dirty="0"/>
                    </a:p>
                  </a:txBody>
                  <a:tcPr/>
                </a:tc>
                <a:extLst>
                  <a:ext uri="{0D108BD9-81ED-4DB2-BD59-A6C34878D82A}">
                    <a16:rowId xmlns:a16="http://schemas.microsoft.com/office/drawing/2014/main" val="1236409575"/>
                  </a:ext>
                </a:extLst>
              </a:tr>
            </a:tbl>
          </a:graphicData>
        </a:graphic>
      </p:graphicFrame>
      <p:sp>
        <p:nvSpPr>
          <p:cNvPr id="3" name="文本框 2">
            <a:extLst>
              <a:ext uri="{FF2B5EF4-FFF2-40B4-BE49-F238E27FC236}">
                <a16:creationId xmlns:a16="http://schemas.microsoft.com/office/drawing/2014/main" id="{2BABAC5C-6203-424B-989C-9631353624DB}"/>
              </a:ext>
            </a:extLst>
          </p:cNvPr>
          <p:cNvSpPr txBox="1"/>
          <p:nvPr/>
        </p:nvSpPr>
        <p:spPr>
          <a:xfrm>
            <a:off x="855465" y="736908"/>
            <a:ext cx="960519"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u="sng" dirty="0">
                <a:solidFill>
                  <a:schemeClr val="bg1"/>
                </a:solidFill>
              </a:rPr>
              <a:t>SC</a:t>
            </a:r>
            <a:endParaRPr kumimoji="1" lang="zh-CN" altLang="en-US" sz="2000" b="1" u="sng" dirty="0">
              <a:solidFill>
                <a:schemeClr val="bg1"/>
              </a:solidFill>
            </a:endParaRPr>
          </a:p>
        </p:txBody>
      </p:sp>
      <p:graphicFrame>
        <p:nvGraphicFramePr>
          <p:cNvPr id="4" name="表格 2">
            <a:extLst>
              <a:ext uri="{FF2B5EF4-FFF2-40B4-BE49-F238E27FC236}">
                <a16:creationId xmlns:a16="http://schemas.microsoft.com/office/drawing/2014/main" id="{018E77BE-3269-F44D-AE9F-7DAA51EC0332}"/>
              </a:ext>
            </a:extLst>
          </p:cNvPr>
          <p:cNvGraphicFramePr>
            <a:graphicFrameLocks noGrp="1"/>
          </p:cNvGraphicFramePr>
          <p:nvPr>
            <p:extLst>
              <p:ext uri="{D42A27DB-BD31-4B8C-83A1-F6EECF244321}">
                <p14:modId xmlns:p14="http://schemas.microsoft.com/office/powerpoint/2010/main" val="2736229801"/>
              </p:ext>
            </p:extLst>
          </p:nvPr>
        </p:nvGraphicFramePr>
        <p:xfrm>
          <a:off x="2661782" y="1100707"/>
          <a:ext cx="3873692" cy="2062480"/>
        </p:xfrm>
        <a:graphic>
          <a:graphicData uri="http://schemas.openxmlformats.org/drawingml/2006/table">
            <a:tbl>
              <a:tblPr firstRow="1" bandRow="1">
                <a:tableStyleId>{21E4AEA4-8DFA-4A89-87EB-49C32662AFE0}</a:tableStyleId>
              </a:tblPr>
              <a:tblGrid>
                <a:gridCol w="705340">
                  <a:extLst>
                    <a:ext uri="{9D8B030D-6E8A-4147-A177-3AD203B41FA5}">
                      <a16:colId xmlns:a16="http://schemas.microsoft.com/office/drawing/2014/main" val="3250390251"/>
                    </a:ext>
                  </a:extLst>
                </a:gridCol>
                <a:gridCol w="1080120">
                  <a:extLst>
                    <a:ext uri="{9D8B030D-6E8A-4147-A177-3AD203B41FA5}">
                      <a16:colId xmlns:a16="http://schemas.microsoft.com/office/drawing/2014/main" val="3954880262"/>
                    </a:ext>
                  </a:extLst>
                </a:gridCol>
                <a:gridCol w="1008112">
                  <a:extLst>
                    <a:ext uri="{9D8B030D-6E8A-4147-A177-3AD203B41FA5}">
                      <a16:colId xmlns:a16="http://schemas.microsoft.com/office/drawing/2014/main" val="41684705"/>
                    </a:ext>
                  </a:extLst>
                </a:gridCol>
                <a:gridCol w="1080120">
                  <a:extLst>
                    <a:ext uri="{9D8B030D-6E8A-4147-A177-3AD203B41FA5}">
                      <a16:colId xmlns:a16="http://schemas.microsoft.com/office/drawing/2014/main" val="2861137485"/>
                    </a:ext>
                  </a:extLst>
                </a:gridCol>
              </a:tblGrid>
              <a:tr h="370840">
                <a:tc>
                  <a:txBody>
                    <a:bodyPr/>
                    <a:lstStyle/>
                    <a:p>
                      <a:pPr algn="ctr"/>
                      <a:r>
                        <a:rPr lang="en-US" altLang="zh-CN" dirty="0"/>
                        <a:t>CNO</a:t>
                      </a:r>
                      <a:endParaRPr lang="zh-CN" altLang="en-US" dirty="0"/>
                    </a:p>
                  </a:txBody>
                  <a:tcPr/>
                </a:tc>
                <a:tc>
                  <a:txBody>
                    <a:bodyPr/>
                    <a:lstStyle/>
                    <a:p>
                      <a:pPr algn="ctr"/>
                      <a:r>
                        <a:rPr lang="en-US" altLang="zh-CN" dirty="0"/>
                        <a:t>CNAME</a:t>
                      </a:r>
                      <a:endParaRPr lang="zh-CN" altLang="en-US" dirty="0"/>
                    </a:p>
                  </a:txBody>
                  <a:tcPr/>
                </a:tc>
                <a:tc>
                  <a:txBody>
                    <a:bodyPr/>
                    <a:lstStyle/>
                    <a:p>
                      <a:pPr algn="ctr"/>
                      <a:r>
                        <a:rPr lang="en-US" altLang="zh-CN" dirty="0"/>
                        <a:t>CDEPT</a:t>
                      </a:r>
                      <a:endParaRPr lang="zh-CN" altLang="en-US" dirty="0"/>
                    </a:p>
                  </a:txBody>
                  <a:tcPr/>
                </a:tc>
                <a:tc>
                  <a:txBody>
                    <a:bodyPr/>
                    <a:lstStyle/>
                    <a:p>
                      <a:pPr algn="ctr"/>
                      <a:r>
                        <a:rPr lang="en-US" altLang="zh-CN" dirty="0"/>
                        <a:t>TNAME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C2</a:t>
                      </a:r>
                      <a:endParaRPr lang="zh-CN" altLang="en-US" dirty="0"/>
                    </a:p>
                  </a:txBody>
                  <a:tcPr/>
                </a:tc>
                <a:tc>
                  <a:txBody>
                    <a:bodyPr/>
                    <a:lstStyle/>
                    <a:p>
                      <a:pPr algn="ctr"/>
                      <a:r>
                        <a:rPr lang="zh-CN" altLang="en-US" sz="1600" dirty="0"/>
                        <a:t>离散数学</a:t>
                      </a:r>
                    </a:p>
                  </a:txBody>
                  <a:tcPr/>
                </a:tc>
                <a:tc>
                  <a:txBody>
                    <a:bodyPr/>
                    <a:lstStyle/>
                    <a:p>
                      <a:pPr algn="ctr"/>
                      <a:r>
                        <a:rPr lang="zh-CN" altLang="en-US" dirty="0"/>
                        <a:t>计算机</a:t>
                      </a:r>
                    </a:p>
                  </a:txBody>
                  <a:tcPr/>
                </a:tc>
                <a:tc>
                  <a:txBody>
                    <a:bodyPr/>
                    <a:lstStyle/>
                    <a:p>
                      <a:pPr algn="ctr"/>
                      <a:r>
                        <a:rPr lang="zh-CN" altLang="en-US" dirty="0"/>
                        <a:t>汪宏伟</a:t>
                      </a:r>
                    </a:p>
                  </a:txBody>
                  <a:tcPr/>
                </a:tc>
                <a:extLst>
                  <a:ext uri="{0D108BD9-81ED-4DB2-BD59-A6C34878D82A}">
                    <a16:rowId xmlns:a16="http://schemas.microsoft.com/office/drawing/2014/main" val="3713937122"/>
                  </a:ext>
                </a:extLst>
              </a:tr>
              <a:tr h="370840">
                <a:tc>
                  <a:txBody>
                    <a:bodyPr/>
                    <a:lstStyle/>
                    <a:p>
                      <a:pPr algn="ctr"/>
                      <a:r>
                        <a:rPr lang="en-US" altLang="zh-CN" dirty="0"/>
                        <a:t>C3</a:t>
                      </a:r>
                      <a:endParaRPr lang="zh-CN" altLang="en-US" dirty="0"/>
                    </a:p>
                  </a:txBody>
                  <a:tcPr/>
                </a:tc>
                <a:tc>
                  <a:txBody>
                    <a:bodyPr/>
                    <a:lstStyle/>
                    <a:p>
                      <a:pPr algn="ctr"/>
                      <a:r>
                        <a:rPr lang="zh-CN" altLang="en-US" sz="1600" dirty="0"/>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钱红</a:t>
                      </a:r>
                    </a:p>
                  </a:txBody>
                  <a:tcPr/>
                </a:tc>
                <a:extLst>
                  <a:ext uri="{0D108BD9-81ED-4DB2-BD59-A6C34878D82A}">
                    <a16:rowId xmlns:a16="http://schemas.microsoft.com/office/drawing/2014/main" val="841821175"/>
                  </a:ext>
                </a:extLst>
              </a:tr>
              <a:tr h="370840">
                <a:tc>
                  <a:txBody>
                    <a:bodyPr/>
                    <a:lstStyle/>
                    <a:p>
                      <a:pPr algn="ctr"/>
                      <a:r>
                        <a:rPr lang="en-US" altLang="zh-CN" dirty="0"/>
                        <a:t>C4</a:t>
                      </a:r>
                      <a:endParaRPr lang="zh-CN" altLang="en-US" dirty="0"/>
                    </a:p>
                  </a:txBody>
                  <a:tcPr/>
                </a:tc>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马良</a:t>
                      </a:r>
                    </a:p>
                  </a:txBody>
                  <a:tcPr/>
                </a:tc>
                <a:extLst>
                  <a:ext uri="{0D108BD9-81ED-4DB2-BD59-A6C34878D82A}">
                    <a16:rowId xmlns:a16="http://schemas.microsoft.com/office/drawing/2014/main" val="1150971900"/>
                  </a:ext>
                </a:extLst>
              </a:tr>
              <a:tr h="370840">
                <a:tc>
                  <a:txBody>
                    <a:bodyPr/>
                    <a:lstStyle/>
                    <a:p>
                      <a:pPr algn="ctr"/>
                      <a:r>
                        <a:rPr lang="en-US" altLang="zh-CN" dirty="0"/>
                        <a:t>C1</a:t>
                      </a:r>
                      <a:endParaRPr lang="zh-CN" altLang="en-US" dirty="0"/>
                    </a:p>
                  </a:txBody>
                  <a:tcPr/>
                </a:tc>
                <a:tc>
                  <a:txBody>
                    <a:bodyPr/>
                    <a:lstStyle/>
                    <a:p>
                      <a:pPr algn="ctr"/>
                      <a:r>
                        <a:rPr lang="zh-CN" altLang="en-US" sz="1600" dirty="0"/>
                        <a:t>计算机</a:t>
                      </a:r>
                      <a:endParaRPr lang="en-US" altLang="zh-CN" sz="1600" dirty="0"/>
                    </a:p>
                    <a:p>
                      <a:pPr algn="ctr"/>
                      <a:r>
                        <a:rPr lang="zh-CN" altLang="en-US" sz="1600" dirty="0"/>
                        <a:t>原理</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李兵</a:t>
                      </a:r>
                    </a:p>
                  </a:txBody>
                  <a:tcPr/>
                </a:tc>
                <a:extLst>
                  <a:ext uri="{0D108BD9-81ED-4DB2-BD59-A6C34878D82A}">
                    <a16:rowId xmlns:a16="http://schemas.microsoft.com/office/drawing/2014/main" val="3770924754"/>
                  </a:ext>
                </a:extLst>
              </a:tr>
            </a:tbl>
          </a:graphicData>
        </a:graphic>
      </p:graphicFrame>
      <p:sp>
        <p:nvSpPr>
          <p:cNvPr id="5" name="文本框 4">
            <a:extLst>
              <a:ext uri="{FF2B5EF4-FFF2-40B4-BE49-F238E27FC236}">
                <a16:creationId xmlns:a16="http://schemas.microsoft.com/office/drawing/2014/main" id="{BD99673E-F489-8448-A889-7810485CB276}"/>
              </a:ext>
            </a:extLst>
          </p:cNvPr>
          <p:cNvSpPr txBox="1"/>
          <p:nvPr/>
        </p:nvSpPr>
        <p:spPr>
          <a:xfrm>
            <a:off x="4183289" y="719004"/>
            <a:ext cx="830677"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u="sng" dirty="0">
                <a:solidFill>
                  <a:schemeClr val="bg1"/>
                </a:solidFill>
              </a:rPr>
              <a:t>C</a:t>
            </a:r>
            <a:endParaRPr kumimoji="1" lang="zh-CN" altLang="en-US" sz="2000" b="1" u="sng" dirty="0">
              <a:solidFill>
                <a:schemeClr val="bg1"/>
              </a:solidFill>
            </a:endParaRPr>
          </a:p>
        </p:txBody>
      </p:sp>
      <p:graphicFrame>
        <p:nvGraphicFramePr>
          <p:cNvPr id="6" name="表格 2">
            <a:extLst>
              <a:ext uri="{FF2B5EF4-FFF2-40B4-BE49-F238E27FC236}">
                <a16:creationId xmlns:a16="http://schemas.microsoft.com/office/drawing/2014/main" id="{C207FA53-0162-3540-B90F-82CBEDB1E47E}"/>
              </a:ext>
            </a:extLst>
          </p:cNvPr>
          <p:cNvGraphicFramePr>
            <a:graphicFrameLocks noGrp="1"/>
          </p:cNvGraphicFramePr>
          <p:nvPr>
            <p:extLst>
              <p:ext uri="{D42A27DB-BD31-4B8C-83A1-F6EECF244321}">
                <p14:modId xmlns:p14="http://schemas.microsoft.com/office/powerpoint/2010/main" val="4019715298"/>
              </p:ext>
            </p:extLst>
          </p:nvPr>
        </p:nvGraphicFramePr>
        <p:xfrm>
          <a:off x="6633309" y="1100707"/>
          <a:ext cx="2384435" cy="1097280"/>
        </p:xfrm>
        <a:graphic>
          <a:graphicData uri="http://schemas.openxmlformats.org/drawingml/2006/table">
            <a:tbl>
              <a:tblPr firstRow="1" bandRow="1">
                <a:tableStyleId>{21E4AEA4-8DFA-4A89-87EB-49C32662AFE0}</a:tableStyleId>
              </a:tblPr>
              <a:tblGrid>
                <a:gridCol w="764763">
                  <a:extLst>
                    <a:ext uri="{9D8B030D-6E8A-4147-A177-3AD203B41FA5}">
                      <a16:colId xmlns:a16="http://schemas.microsoft.com/office/drawing/2014/main" val="3250390251"/>
                    </a:ext>
                  </a:extLst>
                </a:gridCol>
                <a:gridCol w="524121">
                  <a:extLst>
                    <a:ext uri="{9D8B030D-6E8A-4147-A177-3AD203B41FA5}">
                      <a16:colId xmlns:a16="http://schemas.microsoft.com/office/drawing/2014/main" val="3954880262"/>
                    </a:ext>
                  </a:extLst>
                </a:gridCol>
                <a:gridCol w="1095551">
                  <a:extLst>
                    <a:ext uri="{9D8B030D-6E8A-4147-A177-3AD203B41FA5}">
                      <a16:colId xmlns:a16="http://schemas.microsoft.com/office/drawing/2014/main" val="41684705"/>
                    </a:ext>
                  </a:extLst>
                </a:gridCol>
              </a:tblGrid>
              <a:tr h="362775">
                <a:tc>
                  <a:txBody>
                    <a:bodyPr/>
                    <a:lstStyle/>
                    <a:p>
                      <a:pPr algn="ctr"/>
                      <a:r>
                        <a:rPr lang="en-US" altLang="zh-CN" dirty="0"/>
                        <a:t>CNO</a:t>
                      </a:r>
                      <a:endParaRPr lang="zh-CN" altLang="en-US" dirty="0"/>
                    </a:p>
                  </a:txBody>
                  <a:tcPr/>
                </a:tc>
                <a:tc>
                  <a:txBody>
                    <a:bodyPr/>
                    <a:lstStyle/>
                    <a:p>
                      <a:pPr algn="ctr"/>
                      <a:r>
                        <a:rPr lang="en-US" altLang="zh-CN" dirty="0"/>
                        <a:t>G</a:t>
                      </a:r>
                      <a:endParaRPr lang="zh-CN" altLang="en-US" dirty="0"/>
                    </a:p>
                  </a:txBody>
                  <a:tcPr/>
                </a:tc>
                <a:tc>
                  <a:txBody>
                    <a:bodyPr/>
                    <a:lstStyle/>
                    <a:p>
                      <a:pPr algn="ctr"/>
                      <a:r>
                        <a:rPr lang="en-US" altLang="zh-CN" dirty="0"/>
                        <a:t>LEVEL</a:t>
                      </a:r>
                      <a:endParaRPr lang="zh-CN" altLang="en-US" dirty="0"/>
                    </a:p>
                  </a:txBody>
                  <a:tcPr/>
                </a:tc>
                <a:extLst>
                  <a:ext uri="{0D108BD9-81ED-4DB2-BD59-A6C34878D82A}">
                    <a16:rowId xmlns:a16="http://schemas.microsoft.com/office/drawing/2014/main" val="3145990871"/>
                  </a:ext>
                </a:extLst>
              </a:tr>
              <a:tr h="362775">
                <a:tc>
                  <a:txBody>
                    <a:bodyPr/>
                    <a:lstStyle/>
                    <a:p>
                      <a:pPr algn="ctr"/>
                      <a:r>
                        <a:rPr lang="en-US" altLang="zh-CN" dirty="0"/>
                        <a:t>C2</a:t>
                      </a:r>
                      <a:endParaRPr lang="zh-CN" altLang="en-US" dirty="0"/>
                    </a:p>
                  </a:txBody>
                  <a:tcPr/>
                </a:tc>
                <a:tc>
                  <a:txBody>
                    <a:bodyPr/>
                    <a:lstStyle/>
                    <a:p>
                      <a:pPr algn="ctr"/>
                      <a:r>
                        <a:rPr lang="en-US" altLang="zh-CN" dirty="0"/>
                        <a:t>85</a:t>
                      </a:r>
                      <a:endParaRPr lang="zh-CN" altLang="en-US" dirty="0"/>
                    </a:p>
                  </a:txBody>
                  <a:tcPr/>
                </a:tc>
                <a:tc>
                  <a:txBody>
                    <a:bodyPr/>
                    <a:lstStyle/>
                    <a:p>
                      <a:pPr algn="ctr"/>
                      <a:r>
                        <a:rPr lang="en-US" altLang="zh-CN" dirty="0"/>
                        <a:t>A</a:t>
                      </a:r>
                      <a:endParaRPr lang="zh-CN" altLang="en-US" dirty="0"/>
                    </a:p>
                  </a:txBody>
                  <a:tcPr/>
                </a:tc>
                <a:extLst>
                  <a:ext uri="{0D108BD9-81ED-4DB2-BD59-A6C34878D82A}">
                    <a16:rowId xmlns:a16="http://schemas.microsoft.com/office/drawing/2014/main" val="3713937122"/>
                  </a:ext>
                </a:extLst>
              </a:tr>
              <a:tr h="362775">
                <a:tc>
                  <a:txBody>
                    <a:bodyPr/>
                    <a:lstStyle/>
                    <a:p>
                      <a:pPr algn="ctr"/>
                      <a:r>
                        <a:rPr lang="en-US" altLang="zh-CN" dirty="0"/>
                        <a:t>C3</a:t>
                      </a:r>
                      <a:endParaRPr lang="zh-CN" altLang="en-US" dirty="0"/>
                    </a:p>
                  </a:txBody>
                  <a:tcPr/>
                </a:tc>
                <a:tc>
                  <a:txBody>
                    <a:bodyPr/>
                    <a:lstStyle/>
                    <a:p>
                      <a:pPr algn="ctr"/>
                      <a:r>
                        <a:rPr lang="en-US" altLang="zh-CN" dirty="0"/>
                        <a:t>85</a:t>
                      </a:r>
                      <a:endParaRPr lang="zh-CN" altLang="en-US" dirty="0"/>
                    </a:p>
                  </a:txBody>
                  <a:tcPr/>
                </a:tc>
                <a:tc>
                  <a:txBody>
                    <a:bodyPr/>
                    <a:lstStyle/>
                    <a:p>
                      <a:pPr algn="ctr"/>
                      <a:r>
                        <a:rPr lang="en-US" altLang="zh-CN" dirty="0"/>
                        <a:t>A</a:t>
                      </a:r>
                      <a:endParaRPr lang="zh-CN" altLang="en-US" dirty="0"/>
                    </a:p>
                  </a:txBody>
                  <a:tcPr/>
                </a:tc>
                <a:extLst>
                  <a:ext uri="{0D108BD9-81ED-4DB2-BD59-A6C34878D82A}">
                    <a16:rowId xmlns:a16="http://schemas.microsoft.com/office/drawing/2014/main" val="841821175"/>
                  </a:ext>
                </a:extLst>
              </a:tr>
            </a:tbl>
          </a:graphicData>
        </a:graphic>
      </p:graphicFrame>
      <p:sp>
        <p:nvSpPr>
          <p:cNvPr id="7" name="文本框 6">
            <a:extLst>
              <a:ext uri="{FF2B5EF4-FFF2-40B4-BE49-F238E27FC236}">
                <a16:creationId xmlns:a16="http://schemas.microsoft.com/office/drawing/2014/main" id="{73605C1A-7A88-E64E-8B75-269EF97CCF30}"/>
              </a:ext>
            </a:extLst>
          </p:cNvPr>
          <p:cNvSpPr txBox="1"/>
          <p:nvPr/>
        </p:nvSpPr>
        <p:spPr>
          <a:xfrm>
            <a:off x="7345266" y="736908"/>
            <a:ext cx="960519"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u="sng" dirty="0">
                <a:solidFill>
                  <a:schemeClr val="bg1"/>
                </a:solidFill>
              </a:rPr>
              <a:t>CL</a:t>
            </a:r>
            <a:endParaRPr kumimoji="1" lang="zh-CN" altLang="en-US" sz="2000" b="1" u="sng" dirty="0">
              <a:solidFill>
                <a:schemeClr val="bg1"/>
              </a:solidFill>
            </a:endParaRPr>
          </a:p>
        </p:txBody>
      </p:sp>
      <p:graphicFrame>
        <p:nvGraphicFramePr>
          <p:cNvPr id="9" name="表格 9">
            <a:extLst>
              <a:ext uri="{FF2B5EF4-FFF2-40B4-BE49-F238E27FC236}">
                <a16:creationId xmlns:a16="http://schemas.microsoft.com/office/drawing/2014/main" id="{A4B019E2-1DC3-9247-BD6D-2504E03F886C}"/>
              </a:ext>
            </a:extLst>
          </p:cNvPr>
          <p:cNvGraphicFramePr>
            <a:graphicFrameLocks noGrp="1"/>
          </p:cNvGraphicFramePr>
          <p:nvPr>
            <p:extLst>
              <p:ext uri="{D42A27DB-BD31-4B8C-83A1-F6EECF244321}">
                <p14:modId xmlns:p14="http://schemas.microsoft.com/office/powerpoint/2010/main" val="2798795047"/>
              </p:ext>
            </p:extLst>
          </p:nvPr>
        </p:nvGraphicFramePr>
        <p:xfrm>
          <a:off x="753326" y="4393912"/>
          <a:ext cx="7637348" cy="1483360"/>
        </p:xfrm>
        <a:graphic>
          <a:graphicData uri="http://schemas.openxmlformats.org/drawingml/2006/table">
            <a:tbl>
              <a:tblPr firstRow="1" bandRow="1">
                <a:tableStyleId>{00A15C55-8517-42AA-B614-E9B94910E393}</a:tableStyleId>
              </a:tblPr>
              <a:tblGrid>
                <a:gridCol w="710217">
                  <a:extLst>
                    <a:ext uri="{9D8B030D-6E8A-4147-A177-3AD203B41FA5}">
                      <a16:colId xmlns:a16="http://schemas.microsoft.com/office/drawing/2014/main" val="3504568931"/>
                    </a:ext>
                  </a:extLst>
                </a:gridCol>
                <a:gridCol w="1226172">
                  <a:extLst>
                    <a:ext uri="{9D8B030D-6E8A-4147-A177-3AD203B41FA5}">
                      <a16:colId xmlns:a16="http://schemas.microsoft.com/office/drawing/2014/main" val="1693514392"/>
                    </a:ext>
                  </a:extLst>
                </a:gridCol>
                <a:gridCol w="1149536">
                  <a:extLst>
                    <a:ext uri="{9D8B030D-6E8A-4147-A177-3AD203B41FA5}">
                      <a16:colId xmlns:a16="http://schemas.microsoft.com/office/drawing/2014/main" val="1891917875"/>
                    </a:ext>
                  </a:extLst>
                </a:gridCol>
                <a:gridCol w="1149536">
                  <a:extLst>
                    <a:ext uri="{9D8B030D-6E8A-4147-A177-3AD203B41FA5}">
                      <a16:colId xmlns:a16="http://schemas.microsoft.com/office/drawing/2014/main" val="3796494571"/>
                    </a:ext>
                  </a:extLst>
                </a:gridCol>
                <a:gridCol w="2128996">
                  <a:extLst>
                    <a:ext uri="{9D8B030D-6E8A-4147-A177-3AD203B41FA5}">
                      <a16:colId xmlns:a16="http://schemas.microsoft.com/office/drawing/2014/main" val="3151041907"/>
                    </a:ext>
                  </a:extLst>
                </a:gridCol>
                <a:gridCol w="1272891">
                  <a:extLst>
                    <a:ext uri="{9D8B030D-6E8A-4147-A177-3AD203B41FA5}">
                      <a16:colId xmlns:a16="http://schemas.microsoft.com/office/drawing/2014/main" val="2016092597"/>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SC.CNO</a:t>
                      </a:r>
                      <a:endParaRPr lang="zh-CN" altLang="en-US" dirty="0"/>
                    </a:p>
                  </a:txBody>
                  <a:tcPr/>
                </a:tc>
                <a:tc>
                  <a:txBody>
                    <a:bodyPr/>
                    <a:lstStyle/>
                    <a:p>
                      <a:pPr algn="ctr"/>
                      <a:r>
                        <a:rPr lang="en-US" altLang="zh-CN" dirty="0"/>
                        <a:t>GRADE</a:t>
                      </a:r>
                      <a:endParaRPr lang="zh-CN" altLang="en-US" dirty="0"/>
                    </a:p>
                  </a:txBody>
                  <a:tcPr/>
                </a:tc>
                <a:tc>
                  <a:txBody>
                    <a:bodyPr/>
                    <a:lstStyle/>
                    <a:p>
                      <a:pPr algn="ctr"/>
                      <a:r>
                        <a:rPr lang="en-US" altLang="zh-CN" dirty="0"/>
                        <a:t>CL.CNO</a:t>
                      </a:r>
                      <a:endParaRPr lang="zh-CN" altLang="en-US" dirty="0"/>
                    </a:p>
                  </a:txBody>
                  <a:tcPr/>
                </a:tc>
                <a:tc>
                  <a:txBody>
                    <a:bodyPr/>
                    <a:lstStyle/>
                    <a:p>
                      <a:pPr algn="ctr"/>
                      <a:r>
                        <a:rPr lang="en-US" altLang="zh-CN" dirty="0"/>
                        <a:t>G</a:t>
                      </a:r>
                      <a:endParaRPr lang="zh-CN" altLang="en-US" dirty="0"/>
                    </a:p>
                  </a:txBody>
                  <a:tcPr/>
                </a:tc>
                <a:tc>
                  <a:txBody>
                    <a:bodyPr/>
                    <a:lstStyle/>
                    <a:p>
                      <a:pPr algn="ctr"/>
                      <a:r>
                        <a:rPr lang="en-US" altLang="zh-CN" dirty="0"/>
                        <a:t>LEVEL</a:t>
                      </a:r>
                      <a:endParaRPr lang="zh-CN" altLang="en-US" dirty="0"/>
                    </a:p>
                  </a:txBody>
                  <a:tcPr/>
                </a:tc>
                <a:extLst>
                  <a:ext uri="{0D108BD9-81ED-4DB2-BD59-A6C34878D82A}">
                    <a16:rowId xmlns:a16="http://schemas.microsoft.com/office/drawing/2014/main" val="1154568065"/>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tc>
                  <a:txBody>
                    <a:bodyPr/>
                    <a:lstStyle/>
                    <a:p>
                      <a:pPr algn="ctr"/>
                      <a:r>
                        <a:rPr lang="en-US" altLang="zh-CN" dirty="0"/>
                        <a:t>C3</a:t>
                      </a:r>
                      <a:endParaRPr lang="zh-CN" altLang="en-US" dirty="0"/>
                    </a:p>
                  </a:txBody>
                  <a:tcPr/>
                </a:tc>
                <a:tc>
                  <a:txBody>
                    <a:bodyPr/>
                    <a:lstStyle/>
                    <a:p>
                      <a:pPr algn="ctr"/>
                      <a:r>
                        <a:rPr lang="zh-CN" altLang="en-US" sz="1800" dirty="0"/>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2881124937"/>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tc>
                  <a:txBody>
                    <a:bodyPr/>
                    <a:lstStyle/>
                    <a:p>
                      <a:pPr algn="ctr"/>
                      <a:r>
                        <a:rPr lang="en-US" altLang="zh-CN" dirty="0"/>
                        <a:t>C2</a:t>
                      </a:r>
                      <a:endParaRPr lang="zh-CN" altLang="en-US" dirty="0"/>
                    </a:p>
                  </a:txBody>
                  <a:tcPr/>
                </a:tc>
                <a:tc>
                  <a:txBody>
                    <a:bodyPr/>
                    <a:lstStyle/>
                    <a:p>
                      <a:pPr algn="ctr"/>
                      <a:r>
                        <a:rPr lang="zh-CN" altLang="en-US" sz="18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计算机</a:t>
                      </a:r>
                    </a:p>
                  </a:txBody>
                  <a:tcPr/>
                </a:tc>
                <a:extLst>
                  <a:ext uri="{0D108BD9-81ED-4DB2-BD59-A6C34878D82A}">
                    <a16:rowId xmlns:a16="http://schemas.microsoft.com/office/drawing/2014/main" val="3199379691"/>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tc>
                  <a:txBody>
                    <a:bodyPr/>
                    <a:lstStyle/>
                    <a:p>
                      <a:pPr algn="ctr"/>
                      <a:r>
                        <a:rPr lang="en-US" altLang="zh-CN" dirty="0"/>
                        <a:t>C2</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计算机</a:t>
                      </a:r>
                    </a:p>
                  </a:txBody>
                  <a:tcPr/>
                </a:tc>
                <a:extLst>
                  <a:ext uri="{0D108BD9-81ED-4DB2-BD59-A6C34878D82A}">
                    <a16:rowId xmlns:a16="http://schemas.microsoft.com/office/drawing/2014/main" val="2409998960"/>
                  </a:ext>
                </a:extLst>
              </a:tr>
            </a:tbl>
          </a:graphicData>
        </a:graphic>
      </p:graphicFrame>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1CEF58B-F47A-5445-AD2C-36EE556DECE5}"/>
                  </a:ext>
                </a:extLst>
              </p:cNvPr>
              <p:cNvSpPr txBox="1"/>
              <p:nvPr/>
            </p:nvSpPr>
            <p:spPr>
              <a:xfrm>
                <a:off x="4098772" y="3738320"/>
                <a:ext cx="2291909" cy="389274"/>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i="1" smtClean="0">
                          <a:solidFill>
                            <a:schemeClr val="bg1"/>
                          </a:solidFill>
                          <a:latin typeface="Cambria Math" panose="02040503050406030204" pitchFamily="18" charset="0"/>
                        </a:rPr>
                        <m:t>SC</m:t>
                      </m:r>
                      <m:r>
                        <a:rPr lang="zh-CN" altLang="en-US" sz="2000" b="0" i="1" smtClean="0">
                          <a:solidFill>
                            <a:schemeClr val="bg1"/>
                          </a:solidFill>
                          <a:latin typeface="Cambria Math" panose="02040503050406030204" pitchFamily="18" charset="0"/>
                        </a:rPr>
                        <m:t> </m:t>
                      </m:r>
                      <m:m>
                        <m:mPr>
                          <m:mcs>
                            <m:mc>
                              <m:mcPr>
                                <m:count m:val="1"/>
                                <m:mcJc m:val="center"/>
                              </m:mcPr>
                            </m:mc>
                          </m:mcs>
                          <m:ctrlPr>
                            <a:rPr kumimoji="1" lang="en-US" altLang="zh-CN" sz="2000" i="1" smtClean="0">
                              <a:solidFill>
                                <a:schemeClr val="bg1"/>
                              </a:solidFill>
                              <a:latin typeface="Cambria Math" panose="02040503050406030204" pitchFamily="18" charset="0"/>
                            </a:rPr>
                          </m:ctrlPr>
                        </m:mPr>
                        <m:mr>
                          <m:e>
                            <m:r>
                              <a:rPr lang="en-US" altLang="zh-CN" sz="2000" b="1" i="1">
                                <a:solidFill>
                                  <a:schemeClr val="bg1"/>
                                </a:solidFill>
                                <a:latin typeface="Cambria Math" panose="02040503050406030204" pitchFamily="18" charset="0"/>
                                <a:ea typeface="Cambria Math" panose="02040503050406030204" pitchFamily="18" charset="0"/>
                              </a:rPr>
                              <m:t>⋈</m:t>
                            </m:r>
                          </m:e>
                        </m:mr>
                        <m:mr>
                          <m:e>
                            <m:r>
                              <a:rPr kumimoji="1" lang="en-US" altLang="zh-CN" sz="2000" b="0" i="1" smtClean="0">
                                <a:solidFill>
                                  <a:schemeClr val="bg1"/>
                                </a:solidFill>
                                <a:latin typeface="Cambria Math" panose="02040503050406030204" pitchFamily="18" charset="0"/>
                              </a:rPr>
                              <m:t>2=1</m:t>
                            </m:r>
                            <m:r>
                              <m:rPr>
                                <m:nor/>
                              </m:rPr>
                              <a:rPr lang="en-US" altLang="zh-CN" sz="2000" b="1" dirty="0">
                                <a:solidFill>
                                  <a:schemeClr val="bg2"/>
                                </a:solidFill>
                              </a:rPr>
                              <m:t>∧</m:t>
                            </m:r>
                            <m:r>
                              <a:rPr kumimoji="1" lang="en-US" altLang="zh-CN" sz="2000" b="0" i="1" smtClean="0">
                                <a:solidFill>
                                  <a:schemeClr val="bg1"/>
                                </a:solidFill>
                                <a:latin typeface="Cambria Math" panose="02040503050406030204" pitchFamily="18" charset="0"/>
                              </a:rPr>
                              <m:t>3</m:t>
                            </m:r>
                            <m:r>
                              <a:rPr kumimoji="1" lang="en-US" altLang="zh-CN" sz="2000" b="0" i="1" smtClean="0">
                                <a:solidFill>
                                  <a:schemeClr val="bg1"/>
                                </a:solidFill>
                                <a:latin typeface="Cambria Math" panose="02040503050406030204" pitchFamily="18" charset="0"/>
                                <a:ea typeface="Cambria Math" panose="02040503050406030204" pitchFamily="18" charset="0"/>
                              </a:rPr>
                              <m:t>&gt;2</m:t>
                            </m:r>
                          </m:e>
                        </m:mr>
                      </m:m>
                      <m:r>
                        <a:rPr kumimoji="1" lang="zh-CN" altLang="en-US" sz="2000" b="0" i="1" smtClean="0">
                          <a:solidFill>
                            <a:schemeClr val="bg1"/>
                          </a:solidFill>
                          <a:latin typeface="Cambria Math" panose="02040503050406030204" pitchFamily="18" charset="0"/>
                        </a:rPr>
                        <m:t> </m:t>
                      </m:r>
                      <m:r>
                        <m:rPr>
                          <m:sty m:val="p"/>
                        </m:rPr>
                        <a:rPr lang="en-US" altLang="zh-CN" sz="2000" i="1">
                          <a:solidFill>
                            <a:schemeClr val="bg1"/>
                          </a:solidFill>
                          <a:latin typeface="Cambria Math" panose="02040503050406030204" pitchFamily="18" charset="0"/>
                        </a:rPr>
                        <m:t>C</m:t>
                      </m:r>
                      <m:r>
                        <m:rPr>
                          <m:sty m:val="p"/>
                        </m:rPr>
                        <a:rPr lang="en-US" altLang="zh-CN" sz="2000" i="1" smtClean="0">
                          <a:solidFill>
                            <a:schemeClr val="bg1"/>
                          </a:solidFill>
                          <a:latin typeface="Cambria Math" panose="02040503050406030204" pitchFamily="18" charset="0"/>
                        </a:rPr>
                        <m:t>L</m:t>
                      </m:r>
                    </m:oMath>
                  </m:oMathPara>
                </a14:m>
                <a:endParaRPr kumimoji="1" lang="zh-CN" altLang="en-US" sz="2000" dirty="0">
                  <a:solidFill>
                    <a:schemeClr val="bg1"/>
                  </a:solidFill>
                </a:endParaRPr>
              </a:p>
            </p:txBody>
          </p:sp>
        </mc:Choice>
        <mc:Fallback xmlns="">
          <p:sp>
            <p:nvSpPr>
              <p:cNvPr id="15" name="文本框 14">
                <a:extLst>
                  <a:ext uri="{FF2B5EF4-FFF2-40B4-BE49-F238E27FC236}">
                    <a16:creationId xmlns:a16="http://schemas.microsoft.com/office/drawing/2014/main" id="{B1CEF58B-F47A-5445-AD2C-36EE556DECE5}"/>
                  </a:ext>
                </a:extLst>
              </p:cNvPr>
              <p:cNvSpPr txBox="1">
                <a:spLocks noRot="1" noChangeAspect="1" noMove="1" noResize="1" noEditPoints="1" noAdjustHandles="1" noChangeArrowheads="1" noChangeShapeType="1" noTextEdit="1"/>
              </p:cNvSpPr>
              <p:nvPr/>
            </p:nvSpPr>
            <p:spPr>
              <a:xfrm>
                <a:off x="4098772" y="3738320"/>
                <a:ext cx="2291909" cy="389274"/>
              </a:xfrm>
              <a:prstGeom prst="rect">
                <a:avLst/>
              </a:prstGeom>
              <a:blipFill>
                <a:blip r:embed="rId2"/>
                <a:stretch>
                  <a:fillRect l="-549" t="-19355" r="-549" b="-35484"/>
                </a:stretch>
              </a:blipFill>
            </p:spPr>
            <p:txBody>
              <a:bodyPr/>
              <a:lstStyle/>
              <a:p>
                <a:r>
                  <a:rPr lang="zh-CN" altLang="en-US">
                    <a:noFill/>
                  </a:rPr>
                  <a:t> </a:t>
                </a:r>
              </a:p>
            </p:txBody>
          </p:sp>
        </mc:Fallback>
      </mc:AlternateContent>
      <p:sp>
        <p:nvSpPr>
          <p:cNvPr id="16" name="右箭头 15">
            <a:extLst>
              <a:ext uri="{FF2B5EF4-FFF2-40B4-BE49-F238E27FC236}">
                <a16:creationId xmlns:a16="http://schemas.microsoft.com/office/drawing/2014/main" id="{104B446D-284A-D647-A54E-64E5526B0A55}"/>
              </a:ext>
            </a:extLst>
          </p:cNvPr>
          <p:cNvSpPr/>
          <p:nvPr/>
        </p:nvSpPr>
        <p:spPr bwMode="auto">
          <a:xfrm rot="5400000">
            <a:off x="3467226" y="3776639"/>
            <a:ext cx="576064" cy="288032"/>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8" name="文本框 7">
            <a:extLst>
              <a:ext uri="{FF2B5EF4-FFF2-40B4-BE49-F238E27FC236}">
                <a16:creationId xmlns:a16="http://schemas.microsoft.com/office/drawing/2014/main" id="{C15C3E0C-DDDA-BD41-A3E2-42B8B5FF486F}"/>
              </a:ext>
            </a:extLst>
          </p:cNvPr>
          <p:cNvSpPr txBox="1"/>
          <p:nvPr/>
        </p:nvSpPr>
        <p:spPr>
          <a:xfrm>
            <a:off x="2577809" y="3789040"/>
            <a:ext cx="1082348" cy="338554"/>
          </a:xfrm>
          <a:prstGeom prst="rect">
            <a:avLst/>
          </a:prstGeom>
          <a:noFill/>
        </p:spPr>
        <p:txBody>
          <a:bodyPr wrap="none" rtlCol="0">
            <a:spAutoFit/>
          </a:bodyPr>
          <a:lstStyle/>
          <a:p>
            <a:r>
              <a:rPr kumimoji="1" lang="en-US" altLang="zh-CN" sz="2000" dirty="0">
                <a:solidFill>
                  <a:schemeClr val="bg1"/>
                </a:solidFill>
              </a:rPr>
              <a:t>F</a:t>
            </a:r>
            <a:r>
              <a:rPr kumimoji="1" lang="zh-CN" altLang="en-US" sz="2000" dirty="0">
                <a:solidFill>
                  <a:schemeClr val="bg1"/>
                </a:solidFill>
              </a:rPr>
              <a:t>联接：</a:t>
            </a:r>
          </a:p>
        </p:txBody>
      </p:sp>
    </p:spTree>
    <p:extLst>
      <p:ext uri="{BB962C8B-B14F-4D97-AF65-F5344CB8AC3E}">
        <p14:creationId xmlns:p14="http://schemas.microsoft.com/office/powerpoint/2010/main" val="3308754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P spid="16" grpId="0" animBg="1"/>
      <p:bldP spid="8"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6210" name="Rectangle 2"/>
          <p:cNvSpPr>
            <a:spLocks noChangeArrowheads="1"/>
          </p:cNvSpPr>
          <p:nvPr/>
        </p:nvSpPr>
        <p:spPr bwMode="auto">
          <a:xfrm>
            <a:off x="0" y="620713"/>
            <a:ext cx="9144000" cy="419454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200000"/>
              </a:lnSpc>
            </a:pPr>
            <a:r>
              <a:rPr lang="en-US" altLang="zh-CN" sz="2400" b="1" dirty="0">
                <a:solidFill>
                  <a:schemeClr val="bg2"/>
                </a:solidFill>
              </a:rPr>
              <a:t>  </a:t>
            </a:r>
            <a:r>
              <a:rPr lang="en-US" altLang="zh-CN" sz="2800" b="1" dirty="0">
                <a:solidFill>
                  <a:srgbClr val="660033"/>
                </a:solidFill>
              </a:rPr>
              <a:t>3</a:t>
            </a:r>
            <a:r>
              <a:rPr lang="zh-CN" altLang="en-US" sz="2800" b="1" dirty="0">
                <a:solidFill>
                  <a:srgbClr val="660033"/>
                </a:solidFill>
              </a:rPr>
              <a:t>、自然联接</a:t>
            </a:r>
            <a:r>
              <a:rPr lang="en-US" altLang="zh-CN" sz="2800" b="1" dirty="0">
                <a:solidFill>
                  <a:srgbClr val="660033"/>
                </a:solidFill>
              </a:rPr>
              <a:t>(natural join)---</a:t>
            </a:r>
            <a:r>
              <a:rPr lang="zh-CN" altLang="en-US" sz="2800" b="1" dirty="0">
                <a:solidFill>
                  <a:schemeClr val="bg2"/>
                </a:solidFill>
              </a:rPr>
              <a:t>特殊的等值连接</a:t>
            </a:r>
          </a:p>
          <a:p>
            <a:pPr eaLnBrk="0" hangingPunct="0">
              <a:lnSpc>
                <a:spcPct val="200000"/>
              </a:lnSpc>
            </a:pPr>
            <a:r>
              <a:rPr lang="zh-CN" altLang="en-US" sz="2800" b="1" dirty="0">
                <a:solidFill>
                  <a:schemeClr val="bg2"/>
                </a:solidFill>
              </a:rPr>
              <a:t>     </a:t>
            </a:r>
            <a:r>
              <a:rPr lang="zh-CN" altLang="en-US" sz="2800" b="1" dirty="0">
                <a:solidFill>
                  <a:schemeClr val="bg1"/>
                </a:solidFill>
              </a:rPr>
              <a:t>将关系</a:t>
            </a:r>
            <a:r>
              <a:rPr lang="en-US" altLang="zh-CN" sz="2800" b="1" dirty="0">
                <a:solidFill>
                  <a:schemeClr val="bg1"/>
                </a:solidFill>
              </a:rPr>
              <a:t>R</a:t>
            </a:r>
            <a:r>
              <a:rPr lang="zh-CN" altLang="en-US" sz="2800" b="1" dirty="0">
                <a:solidFill>
                  <a:schemeClr val="bg1"/>
                </a:solidFill>
              </a:rPr>
              <a:t>和</a:t>
            </a:r>
            <a:r>
              <a:rPr lang="en-US" altLang="zh-CN" sz="2800" b="1" dirty="0">
                <a:solidFill>
                  <a:schemeClr val="bg1"/>
                </a:solidFill>
              </a:rPr>
              <a:t>S</a:t>
            </a:r>
            <a:r>
              <a:rPr lang="zh-CN" altLang="en-US" sz="2800" b="1" dirty="0">
                <a:solidFill>
                  <a:schemeClr val="bg1"/>
                </a:solidFill>
              </a:rPr>
              <a:t>中</a:t>
            </a:r>
            <a:r>
              <a:rPr lang="zh-CN" altLang="en-US" sz="2800" b="1" u="sng" dirty="0">
                <a:solidFill>
                  <a:schemeClr val="bg1"/>
                </a:solidFill>
              </a:rPr>
              <a:t>公共属性组</a:t>
            </a:r>
            <a:r>
              <a:rPr lang="zh-CN" altLang="en-US" sz="2800" b="1" dirty="0">
                <a:solidFill>
                  <a:schemeClr val="bg1"/>
                </a:solidFill>
              </a:rPr>
              <a:t>满足对应分量</a:t>
            </a:r>
            <a:r>
              <a:rPr lang="zh-CN" altLang="en-US" sz="2800" b="1" u="sng" dirty="0">
                <a:solidFill>
                  <a:schemeClr val="bg1"/>
                </a:solidFill>
              </a:rPr>
              <a:t>相同的元组</a:t>
            </a:r>
          </a:p>
          <a:p>
            <a:pPr eaLnBrk="0" hangingPunct="0">
              <a:lnSpc>
                <a:spcPct val="200000"/>
              </a:lnSpc>
            </a:pPr>
            <a:r>
              <a:rPr lang="zh-CN" altLang="en-US" sz="2800" b="1" dirty="0">
                <a:solidFill>
                  <a:schemeClr val="bg1"/>
                </a:solidFill>
              </a:rPr>
              <a:t> 联接起来，并且要在结果中将重复的属性去掉。</a:t>
            </a:r>
          </a:p>
          <a:p>
            <a:pPr algn="l" eaLnBrk="0" hangingPunct="0">
              <a:lnSpc>
                <a:spcPct val="200000"/>
              </a:lnSpc>
            </a:pPr>
            <a:r>
              <a:rPr lang="zh-CN" altLang="en-US" sz="2800" b="1" dirty="0">
                <a:solidFill>
                  <a:schemeClr val="bg2"/>
                </a:solidFill>
              </a:rPr>
              <a:t> </a:t>
            </a:r>
            <a:r>
              <a:rPr lang="en-US" altLang="zh-CN" sz="3200" b="1" dirty="0">
                <a:solidFill>
                  <a:srgbClr val="660033"/>
                </a:solidFill>
              </a:rPr>
              <a:t>R</a:t>
            </a:r>
            <a:r>
              <a:rPr lang="en-US" altLang="zh-CN" sz="3200" b="1" baseline="-30000" dirty="0">
                <a:solidFill>
                  <a:srgbClr val="660033"/>
                </a:solidFill>
              </a:rPr>
              <a:t> </a:t>
            </a:r>
            <a:r>
              <a:rPr lang="en-US" altLang="zh-CN" sz="3200" b="1" dirty="0">
                <a:solidFill>
                  <a:srgbClr val="660033"/>
                </a:solidFill>
                <a:latin typeface="Times New Roman" pitchFamily="18" charset="0"/>
              </a:rPr>
              <a:t>⋈</a:t>
            </a:r>
            <a:r>
              <a:rPr lang="en-US" altLang="zh-CN" sz="3200" b="1" baseline="-30000" dirty="0">
                <a:solidFill>
                  <a:srgbClr val="660033"/>
                </a:solidFill>
              </a:rPr>
              <a:t> </a:t>
            </a:r>
            <a:r>
              <a:rPr lang="en-US" altLang="zh-CN" sz="3200" b="1" dirty="0">
                <a:solidFill>
                  <a:srgbClr val="660033"/>
                </a:solidFill>
              </a:rPr>
              <a:t>S≡</a:t>
            </a:r>
            <a:r>
              <a:rPr lang="en-US" altLang="zh-CN" sz="3200" b="1" dirty="0">
                <a:solidFill>
                  <a:schemeClr val="bg1"/>
                </a:solidFill>
              </a:rPr>
              <a:t>π</a:t>
            </a:r>
            <a:r>
              <a:rPr lang="en-US" altLang="zh-CN" sz="3200" b="1" baseline="-25000" dirty="0">
                <a:solidFill>
                  <a:srgbClr val="660033"/>
                </a:solidFill>
              </a:rPr>
              <a:t>i1,...</a:t>
            </a:r>
            <a:r>
              <a:rPr lang="en-US" altLang="zh-CN" sz="3200" b="1" baseline="-25000" dirty="0" err="1">
                <a:solidFill>
                  <a:srgbClr val="660033"/>
                </a:solidFill>
              </a:rPr>
              <a:t>im</a:t>
            </a:r>
            <a:r>
              <a:rPr lang="en-US" altLang="zh-CN" sz="3200" b="1" dirty="0">
                <a:solidFill>
                  <a:srgbClr val="660033"/>
                </a:solidFill>
              </a:rPr>
              <a:t>(</a:t>
            </a:r>
            <a:r>
              <a:rPr lang="en-US" altLang="zh-CN" sz="3200" b="1" dirty="0">
                <a:solidFill>
                  <a:schemeClr val="bg1"/>
                </a:solidFill>
              </a:rPr>
              <a:t>σ</a:t>
            </a:r>
            <a:r>
              <a:rPr lang="en-US" altLang="zh-CN" sz="3200" b="1" baseline="-25000" dirty="0">
                <a:solidFill>
                  <a:srgbClr val="660033"/>
                </a:solidFill>
              </a:rPr>
              <a:t>R.A1=S.A1∧... ∧R.AK=S.AK</a:t>
            </a:r>
            <a:r>
              <a:rPr lang="en-US" altLang="zh-CN" sz="3200" b="1" dirty="0">
                <a:solidFill>
                  <a:srgbClr val="660033"/>
                </a:solidFill>
              </a:rPr>
              <a:t>(R</a:t>
            </a:r>
            <a:r>
              <a:rPr lang="en-US" altLang="zh-CN" sz="3200" b="1" dirty="0">
                <a:solidFill>
                  <a:schemeClr val="bg1"/>
                </a:solidFill>
              </a:rPr>
              <a:t>×</a:t>
            </a:r>
            <a:r>
              <a:rPr lang="en-US" altLang="zh-CN" sz="3200" b="1" dirty="0">
                <a:solidFill>
                  <a:srgbClr val="660033"/>
                </a:solidFill>
              </a:rPr>
              <a:t>S))</a:t>
            </a:r>
            <a:endParaRPr lang="en-US" altLang="zh-CN" sz="2400" b="1" dirty="0">
              <a:solidFill>
                <a:schemeClr val="bg2"/>
              </a:solidFill>
            </a:endParaRPr>
          </a:p>
        </p:txBody>
      </p:sp>
      <p:sp>
        <p:nvSpPr>
          <p:cNvPr id="606214" name="Rectangle 6"/>
          <p:cNvSpPr>
            <a:spLocks noGrp="1" noChangeArrowheads="1"/>
          </p:cNvSpPr>
          <p:nvPr>
            <p:ph type="title" idx="4294967295"/>
          </p:nvPr>
        </p:nvSpPr>
        <p:spPr/>
        <p:txBody>
          <a:bodyPr/>
          <a:lstStyle/>
          <a:p>
            <a:r>
              <a:rPr lang="en-US" altLang="zh-CN"/>
              <a:t>          </a:t>
            </a:r>
          </a:p>
        </p:txBody>
      </p:sp>
      <p:pic>
        <p:nvPicPr>
          <p:cNvPr id="4" name="图片 3">
            <a:extLst>
              <a:ext uri="{FF2B5EF4-FFF2-40B4-BE49-F238E27FC236}">
                <a16:creationId xmlns:a16="http://schemas.microsoft.com/office/drawing/2014/main" id="{19331DD6-88A1-2D45-B70C-58F9C77AB5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251520" y="1988840"/>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F5743B01-4A65-B142-8800-33B3E8F70DBF}"/>
              </a:ext>
            </a:extLst>
          </p:cNvPr>
          <p:cNvGraphicFramePr>
            <a:graphicFrameLocks noGrp="1"/>
          </p:cNvGraphicFramePr>
          <p:nvPr>
            <p:extLst>
              <p:ext uri="{D42A27DB-BD31-4B8C-83A1-F6EECF244321}">
                <p14:modId xmlns:p14="http://schemas.microsoft.com/office/powerpoint/2010/main" val="3684913556"/>
              </p:ext>
            </p:extLst>
          </p:nvPr>
        </p:nvGraphicFramePr>
        <p:xfrm>
          <a:off x="107504" y="746821"/>
          <a:ext cx="2456443" cy="259588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748364">
                  <a:extLst>
                    <a:ext uri="{9D8B030D-6E8A-4147-A177-3AD203B41FA5}">
                      <a16:colId xmlns:a16="http://schemas.microsoft.com/office/drawing/2014/main" val="3954880262"/>
                    </a:ext>
                  </a:extLst>
                </a:gridCol>
                <a:gridCol w="1016283">
                  <a:extLst>
                    <a:ext uri="{9D8B030D-6E8A-4147-A177-3AD203B41FA5}">
                      <a16:colId xmlns:a16="http://schemas.microsoft.com/office/drawing/2014/main" val="4168470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CNO</a:t>
                      </a:r>
                      <a:endParaRPr lang="zh-CN" altLang="en-US" dirty="0"/>
                    </a:p>
                  </a:txBody>
                  <a:tcPr/>
                </a:tc>
                <a:tc>
                  <a:txBody>
                    <a:bodyPr/>
                    <a:lstStyle/>
                    <a:p>
                      <a:pPr algn="ctr"/>
                      <a:r>
                        <a:rPr lang="en-US" altLang="zh-CN" dirty="0"/>
                        <a:t>GRADE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extLst>
                  <a:ext uri="{0D108BD9-81ED-4DB2-BD59-A6C34878D82A}">
                    <a16:rowId xmlns:a16="http://schemas.microsoft.com/office/drawing/2014/main" val="3713937122"/>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8418211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79</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S1</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76</a:t>
                      </a:r>
                      <a:endParaRPr lang="zh-CN" altLang="en-US" dirty="0"/>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extLst>
                  <a:ext uri="{0D108BD9-81ED-4DB2-BD59-A6C34878D82A}">
                    <a16:rowId xmlns:a16="http://schemas.microsoft.com/office/drawing/2014/main" val="2604247982"/>
                  </a:ext>
                </a:extLst>
              </a:tr>
              <a:tr h="370840">
                <a:tc>
                  <a:txBody>
                    <a:bodyPr/>
                    <a:lstStyle/>
                    <a:p>
                      <a:pPr algn="ctr"/>
                      <a:r>
                        <a:rPr lang="en-US" altLang="zh-CN" dirty="0"/>
                        <a:t>S6</a:t>
                      </a:r>
                      <a:endParaRPr lang="zh-CN" altLang="en-US" dirty="0"/>
                    </a:p>
                  </a:txBody>
                  <a:tcPr/>
                </a:tc>
                <a:tc>
                  <a:txBody>
                    <a:bodyPr/>
                    <a:lstStyle/>
                    <a:p>
                      <a:pPr algn="ctr"/>
                      <a:r>
                        <a:rPr lang="en-US" altLang="zh-CN" dirty="0"/>
                        <a:t>C1</a:t>
                      </a:r>
                      <a:endParaRPr lang="zh-CN" altLang="en-US" dirty="0"/>
                    </a:p>
                  </a:txBody>
                  <a:tcPr/>
                </a:tc>
                <a:tc>
                  <a:txBody>
                    <a:bodyPr/>
                    <a:lstStyle/>
                    <a:p>
                      <a:pPr algn="ctr"/>
                      <a:r>
                        <a:rPr lang="en-US" altLang="zh-CN" dirty="0"/>
                        <a:t>78</a:t>
                      </a:r>
                      <a:endParaRPr lang="zh-CN" altLang="en-US" dirty="0"/>
                    </a:p>
                  </a:txBody>
                  <a:tcPr/>
                </a:tc>
                <a:extLst>
                  <a:ext uri="{0D108BD9-81ED-4DB2-BD59-A6C34878D82A}">
                    <a16:rowId xmlns:a16="http://schemas.microsoft.com/office/drawing/2014/main" val="1236409575"/>
                  </a:ext>
                </a:extLst>
              </a:tr>
            </a:tbl>
          </a:graphicData>
        </a:graphic>
      </p:graphicFrame>
      <p:sp>
        <p:nvSpPr>
          <p:cNvPr id="3" name="文本框 2">
            <a:extLst>
              <a:ext uri="{FF2B5EF4-FFF2-40B4-BE49-F238E27FC236}">
                <a16:creationId xmlns:a16="http://schemas.microsoft.com/office/drawing/2014/main" id="{2BABAC5C-6203-424B-989C-9631353624DB}"/>
              </a:ext>
            </a:extLst>
          </p:cNvPr>
          <p:cNvSpPr txBox="1"/>
          <p:nvPr/>
        </p:nvSpPr>
        <p:spPr>
          <a:xfrm>
            <a:off x="855465" y="383022"/>
            <a:ext cx="960519"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u="sng" dirty="0">
                <a:solidFill>
                  <a:schemeClr val="bg1"/>
                </a:solidFill>
              </a:rPr>
              <a:t>SC</a:t>
            </a:r>
            <a:endParaRPr kumimoji="1" lang="zh-CN" altLang="en-US" sz="2000" b="1" u="sng" dirty="0">
              <a:solidFill>
                <a:schemeClr val="bg1"/>
              </a:solidFill>
            </a:endParaRPr>
          </a:p>
        </p:txBody>
      </p:sp>
      <p:graphicFrame>
        <p:nvGraphicFramePr>
          <p:cNvPr id="4" name="表格 2">
            <a:extLst>
              <a:ext uri="{FF2B5EF4-FFF2-40B4-BE49-F238E27FC236}">
                <a16:creationId xmlns:a16="http://schemas.microsoft.com/office/drawing/2014/main" id="{018E77BE-3269-F44D-AE9F-7DAA51EC0332}"/>
              </a:ext>
            </a:extLst>
          </p:cNvPr>
          <p:cNvGraphicFramePr>
            <a:graphicFrameLocks noGrp="1"/>
          </p:cNvGraphicFramePr>
          <p:nvPr>
            <p:extLst>
              <p:ext uri="{D42A27DB-BD31-4B8C-83A1-F6EECF244321}">
                <p14:modId xmlns:p14="http://schemas.microsoft.com/office/powerpoint/2010/main" val="677933533"/>
              </p:ext>
            </p:extLst>
          </p:nvPr>
        </p:nvGraphicFramePr>
        <p:xfrm>
          <a:off x="2661782" y="746821"/>
          <a:ext cx="5728892" cy="1854200"/>
        </p:xfrm>
        <a:graphic>
          <a:graphicData uri="http://schemas.openxmlformats.org/drawingml/2006/table">
            <a:tbl>
              <a:tblPr firstRow="1" bandRow="1">
                <a:tableStyleId>{21E4AEA4-8DFA-4A89-87EB-49C32662AFE0}</a:tableStyleId>
              </a:tblPr>
              <a:tblGrid>
                <a:gridCol w="1043144">
                  <a:extLst>
                    <a:ext uri="{9D8B030D-6E8A-4147-A177-3AD203B41FA5}">
                      <a16:colId xmlns:a16="http://schemas.microsoft.com/office/drawing/2014/main" val="3250390251"/>
                    </a:ext>
                  </a:extLst>
                </a:gridCol>
                <a:gridCol w="1597414">
                  <a:extLst>
                    <a:ext uri="{9D8B030D-6E8A-4147-A177-3AD203B41FA5}">
                      <a16:colId xmlns:a16="http://schemas.microsoft.com/office/drawing/2014/main" val="3954880262"/>
                    </a:ext>
                  </a:extLst>
                </a:gridCol>
                <a:gridCol w="1490920">
                  <a:extLst>
                    <a:ext uri="{9D8B030D-6E8A-4147-A177-3AD203B41FA5}">
                      <a16:colId xmlns:a16="http://schemas.microsoft.com/office/drawing/2014/main" val="41684705"/>
                    </a:ext>
                  </a:extLst>
                </a:gridCol>
                <a:gridCol w="1597414">
                  <a:extLst>
                    <a:ext uri="{9D8B030D-6E8A-4147-A177-3AD203B41FA5}">
                      <a16:colId xmlns:a16="http://schemas.microsoft.com/office/drawing/2014/main" val="2861137485"/>
                    </a:ext>
                  </a:extLst>
                </a:gridCol>
              </a:tblGrid>
              <a:tr h="370840">
                <a:tc>
                  <a:txBody>
                    <a:bodyPr/>
                    <a:lstStyle/>
                    <a:p>
                      <a:pPr algn="ctr"/>
                      <a:r>
                        <a:rPr lang="en-US" altLang="zh-CN" dirty="0"/>
                        <a:t>CNO</a:t>
                      </a:r>
                      <a:endParaRPr lang="zh-CN" altLang="en-US" dirty="0"/>
                    </a:p>
                  </a:txBody>
                  <a:tcPr/>
                </a:tc>
                <a:tc>
                  <a:txBody>
                    <a:bodyPr/>
                    <a:lstStyle/>
                    <a:p>
                      <a:pPr algn="ctr"/>
                      <a:r>
                        <a:rPr lang="en-US" altLang="zh-CN" dirty="0"/>
                        <a:t>CNAME</a:t>
                      </a:r>
                      <a:endParaRPr lang="zh-CN" altLang="en-US" dirty="0"/>
                    </a:p>
                  </a:txBody>
                  <a:tcPr/>
                </a:tc>
                <a:tc>
                  <a:txBody>
                    <a:bodyPr/>
                    <a:lstStyle/>
                    <a:p>
                      <a:pPr algn="ctr"/>
                      <a:r>
                        <a:rPr lang="en-US" altLang="zh-CN" dirty="0"/>
                        <a:t>CDEPT</a:t>
                      </a:r>
                      <a:endParaRPr lang="zh-CN" altLang="en-US" dirty="0"/>
                    </a:p>
                  </a:txBody>
                  <a:tcPr/>
                </a:tc>
                <a:tc>
                  <a:txBody>
                    <a:bodyPr/>
                    <a:lstStyle/>
                    <a:p>
                      <a:pPr algn="ctr"/>
                      <a:r>
                        <a:rPr lang="en-US" altLang="zh-CN" dirty="0"/>
                        <a:t>TNAME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C2</a:t>
                      </a:r>
                      <a:endParaRPr lang="zh-CN" altLang="en-US" dirty="0"/>
                    </a:p>
                  </a:txBody>
                  <a:tcPr/>
                </a:tc>
                <a:tc>
                  <a:txBody>
                    <a:bodyPr/>
                    <a:lstStyle/>
                    <a:p>
                      <a:pPr algn="ctr"/>
                      <a:r>
                        <a:rPr kumimoji="0" lang="zh-CN" altLang="en-US" sz="1800" b="0" i="0" u="none" strike="noStrike" kern="1200" cap="none" spc="0" normalizeH="0" baseline="0" dirty="0">
                          <a:ln>
                            <a:noFill/>
                          </a:ln>
                          <a:solidFill>
                            <a:srgbClr val="000000"/>
                          </a:solidFill>
                          <a:effectLst/>
                          <a:uLnTx/>
                          <a:uFillTx/>
                          <a:latin typeface="Times New Roman"/>
                          <a:ea typeface="宋体"/>
                          <a:cs typeface="+mn-cs"/>
                        </a:rPr>
                        <a:t>离散数学</a:t>
                      </a:r>
                    </a:p>
                  </a:txBody>
                  <a:tcPr/>
                </a:tc>
                <a:tc>
                  <a:txBody>
                    <a:bodyPr/>
                    <a:lstStyle/>
                    <a:p>
                      <a:pPr algn="ctr"/>
                      <a:r>
                        <a:rPr lang="zh-CN" altLang="en-US" dirty="0"/>
                        <a:t>计算机</a:t>
                      </a:r>
                    </a:p>
                  </a:txBody>
                  <a:tcPr/>
                </a:tc>
                <a:tc>
                  <a:txBody>
                    <a:bodyPr/>
                    <a:lstStyle/>
                    <a:p>
                      <a:pPr algn="ctr"/>
                      <a:r>
                        <a:rPr lang="zh-CN" altLang="en-US" dirty="0"/>
                        <a:t>汪宏伟</a:t>
                      </a:r>
                    </a:p>
                  </a:txBody>
                  <a:tcPr/>
                </a:tc>
                <a:extLst>
                  <a:ext uri="{0D108BD9-81ED-4DB2-BD59-A6C34878D82A}">
                    <a16:rowId xmlns:a16="http://schemas.microsoft.com/office/drawing/2014/main" val="3713937122"/>
                  </a:ext>
                </a:extLst>
              </a:tr>
              <a:tr h="370840">
                <a:tc>
                  <a:txBody>
                    <a:bodyPr/>
                    <a:lstStyle/>
                    <a:p>
                      <a:pPr algn="ctr"/>
                      <a:r>
                        <a:rPr lang="en-US" altLang="zh-CN" dirty="0"/>
                        <a:t>C3</a:t>
                      </a:r>
                      <a:endParaRPr lang="zh-CN" altLang="en-US" dirty="0"/>
                    </a:p>
                  </a:txBody>
                  <a:tcPr/>
                </a:tc>
                <a:tc>
                  <a:txBody>
                    <a:bodyPr/>
                    <a:lstStyle/>
                    <a:p>
                      <a:pPr algn="ctr"/>
                      <a:r>
                        <a:rPr kumimoji="0" lang="zh-CN" altLang="en-US" sz="1800" b="0" i="0" u="none" strike="noStrike" kern="1200" cap="none" spc="0" normalizeH="0" baseline="0" dirty="0">
                          <a:ln>
                            <a:noFill/>
                          </a:ln>
                          <a:solidFill>
                            <a:srgbClr val="000000"/>
                          </a:solidFill>
                          <a:effectLst/>
                          <a:uLnTx/>
                          <a:uFillTx/>
                          <a:latin typeface="Times New Roman"/>
                          <a:ea typeface="宋体"/>
                          <a:cs typeface="+mn-cs"/>
                        </a:rPr>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钱红</a:t>
                      </a:r>
                    </a:p>
                  </a:txBody>
                  <a:tcPr/>
                </a:tc>
                <a:extLst>
                  <a:ext uri="{0D108BD9-81ED-4DB2-BD59-A6C34878D82A}">
                    <a16:rowId xmlns:a16="http://schemas.microsoft.com/office/drawing/2014/main" val="841821175"/>
                  </a:ext>
                </a:extLst>
              </a:tr>
              <a:tr h="370840">
                <a:tc>
                  <a:txBody>
                    <a:bodyPr/>
                    <a:lstStyle/>
                    <a:p>
                      <a:pPr algn="ctr"/>
                      <a:r>
                        <a:rPr lang="en-US" altLang="zh-CN" dirty="0"/>
                        <a:t>C4</a:t>
                      </a:r>
                      <a:endParaRPr lang="zh-CN" altLang="en-US" dirty="0"/>
                    </a:p>
                  </a:txBody>
                  <a:tcPr/>
                </a:tc>
                <a:tc>
                  <a:txBody>
                    <a:bodyPr/>
                    <a:lstStyle/>
                    <a:p>
                      <a:pPr algn="ctr"/>
                      <a:r>
                        <a:rPr kumimoji="0" lang="zh-CN" altLang="en-US" sz="1800" b="0" i="0" u="none" strike="noStrike" kern="1200" cap="none" spc="0" normalizeH="0" baseline="0" dirty="0">
                          <a:ln>
                            <a:noFill/>
                          </a:ln>
                          <a:solidFill>
                            <a:srgbClr val="000000"/>
                          </a:solidFill>
                          <a:effectLst/>
                          <a:uLnTx/>
                          <a:uFillTx/>
                          <a:latin typeface="Times New Roman"/>
                          <a:ea typeface="宋体"/>
                          <a:cs typeface="+mn-cs"/>
                        </a:rPr>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马良</a:t>
                      </a:r>
                    </a:p>
                  </a:txBody>
                  <a:tcPr/>
                </a:tc>
                <a:extLst>
                  <a:ext uri="{0D108BD9-81ED-4DB2-BD59-A6C34878D82A}">
                    <a16:rowId xmlns:a16="http://schemas.microsoft.com/office/drawing/2014/main" val="1150971900"/>
                  </a:ext>
                </a:extLst>
              </a:tr>
              <a:tr h="370840">
                <a:tc>
                  <a:txBody>
                    <a:bodyPr/>
                    <a:lstStyle/>
                    <a:p>
                      <a:pPr algn="ctr"/>
                      <a:r>
                        <a:rPr lang="en-US" altLang="zh-CN" dirty="0"/>
                        <a:t>C1</a:t>
                      </a:r>
                      <a:endParaRPr lang="zh-CN" altLang="en-US" dirty="0"/>
                    </a:p>
                  </a:txBody>
                  <a:tcPr/>
                </a:tc>
                <a:tc>
                  <a:txBody>
                    <a:bodyPr/>
                    <a:lstStyle/>
                    <a:p>
                      <a:pPr algn="ctr"/>
                      <a:r>
                        <a:rPr kumimoji="0" lang="zh-CN" altLang="en-US" sz="1800" b="0" i="0" u="none" strike="noStrike" kern="1200" cap="none" spc="0" normalizeH="0" baseline="0" dirty="0">
                          <a:ln>
                            <a:noFill/>
                          </a:ln>
                          <a:solidFill>
                            <a:srgbClr val="000000"/>
                          </a:solidFill>
                          <a:effectLst/>
                          <a:uLnTx/>
                          <a:uFillTx/>
                          <a:latin typeface="Times New Roman"/>
                          <a:ea typeface="宋体"/>
                          <a:cs typeface="+mn-cs"/>
                        </a:rPr>
                        <a:t>计算机原理</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李兵</a:t>
                      </a:r>
                    </a:p>
                  </a:txBody>
                  <a:tcPr/>
                </a:tc>
                <a:extLst>
                  <a:ext uri="{0D108BD9-81ED-4DB2-BD59-A6C34878D82A}">
                    <a16:rowId xmlns:a16="http://schemas.microsoft.com/office/drawing/2014/main" val="3770924754"/>
                  </a:ext>
                </a:extLst>
              </a:tr>
            </a:tbl>
          </a:graphicData>
        </a:graphic>
      </p:graphicFrame>
      <p:sp>
        <p:nvSpPr>
          <p:cNvPr id="5" name="文本框 4">
            <a:extLst>
              <a:ext uri="{FF2B5EF4-FFF2-40B4-BE49-F238E27FC236}">
                <a16:creationId xmlns:a16="http://schemas.microsoft.com/office/drawing/2014/main" id="{BD99673E-F489-8448-A889-7810485CB276}"/>
              </a:ext>
            </a:extLst>
          </p:cNvPr>
          <p:cNvSpPr txBox="1"/>
          <p:nvPr/>
        </p:nvSpPr>
        <p:spPr>
          <a:xfrm>
            <a:off x="5174647" y="383022"/>
            <a:ext cx="830677"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u="sng" dirty="0">
                <a:solidFill>
                  <a:schemeClr val="bg1"/>
                </a:solidFill>
              </a:rPr>
              <a:t>C</a:t>
            </a:r>
            <a:endParaRPr kumimoji="1" lang="zh-CN" altLang="en-US" sz="2000" b="1" u="sng" dirty="0">
              <a:solidFill>
                <a:schemeClr val="bg1"/>
              </a:solidFill>
            </a:endParaRPr>
          </a:p>
        </p:txBody>
      </p:sp>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B1CEF58B-F47A-5445-AD2C-36EE556DECE5}"/>
                  </a:ext>
                </a:extLst>
              </p:cNvPr>
              <p:cNvSpPr txBox="1"/>
              <p:nvPr/>
            </p:nvSpPr>
            <p:spPr>
              <a:xfrm>
                <a:off x="1839931" y="3391267"/>
                <a:ext cx="821733" cy="246221"/>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m:rPr>
                          <m:sty m:val="p"/>
                        </m:rPr>
                        <a:rPr lang="en-US" altLang="zh-CN" sz="2000" i="1" smtClean="0">
                          <a:solidFill>
                            <a:schemeClr val="bg1"/>
                          </a:solidFill>
                          <a:latin typeface="Cambria Math" panose="02040503050406030204" pitchFamily="18" charset="0"/>
                        </a:rPr>
                        <m:t>SC</m:t>
                      </m:r>
                      <m:r>
                        <a:rPr lang="en-US" altLang="zh-CN" sz="2000" b="1" i="1">
                          <a:solidFill>
                            <a:schemeClr val="bg1"/>
                          </a:solidFill>
                          <a:latin typeface="Cambria Math" panose="02040503050406030204" pitchFamily="18" charset="0"/>
                          <a:ea typeface="Cambria Math" panose="02040503050406030204" pitchFamily="18" charset="0"/>
                        </a:rPr>
                        <m:t>⋈</m:t>
                      </m:r>
                      <m:r>
                        <m:rPr>
                          <m:sty m:val="p"/>
                        </m:rPr>
                        <a:rPr lang="en-US" altLang="zh-CN" sz="2000" i="1">
                          <a:solidFill>
                            <a:schemeClr val="bg1"/>
                          </a:solidFill>
                          <a:latin typeface="Cambria Math" panose="02040503050406030204" pitchFamily="18" charset="0"/>
                        </a:rPr>
                        <m:t>C</m:t>
                      </m:r>
                    </m:oMath>
                  </m:oMathPara>
                </a14:m>
                <a:endParaRPr kumimoji="1" lang="zh-CN" altLang="en-US" sz="2800" dirty="0">
                  <a:solidFill>
                    <a:schemeClr val="bg1"/>
                  </a:solidFill>
                </a:endParaRPr>
              </a:p>
            </p:txBody>
          </p:sp>
        </mc:Choice>
        <mc:Fallback xmlns="">
          <p:sp>
            <p:nvSpPr>
              <p:cNvPr id="15" name="文本框 14">
                <a:extLst>
                  <a:ext uri="{FF2B5EF4-FFF2-40B4-BE49-F238E27FC236}">
                    <a16:creationId xmlns:a16="http://schemas.microsoft.com/office/drawing/2014/main" id="{B1CEF58B-F47A-5445-AD2C-36EE556DECE5}"/>
                  </a:ext>
                </a:extLst>
              </p:cNvPr>
              <p:cNvSpPr txBox="1">
                <a:spLocks noRot="1" noChangeAspect="1" noMove="1" noResize="1" noEditPoints="1" noAdjustHandles="1" noChangeArrowheads="1" noChangeShapeType="1" noTextEdit="1"/>
              </p:cNvSpPr>
              <p:nvPr/>
            </p:nvSpPr>
            <p:spPr>
              <a:xfrm>
                <a:off x="1839931" y="3391267"/>
                <a:ext cx="821733" cy="246221"/>
              </a:xfrm>
              <a:prstGeom prst="rect">
                <a:avLst/>
              </a:prstGeom>
              <a:blipFill>
                <a:blip r:embed="rId2"/>
                <a:stretch>
                  <a:fillRect l="-6061" t="-4762" r="-7576" b="-9524"/>
                </a:stretch>
              </a:blipFill>
            </p:spPr>
            <p:txBody>
              <a:bodyPr/>
              <a:lstStyle/>
              <a:p>
                <a:r>
                  <a:rPr lang="zh-CN" altLang="en-US">
                    <a:noFill/>
                  </a:rPr>
                  <a:t> </a:t>
                </a:r>
              </a:p>
            </p:txBody>
          </p:sp>
        </mc:Fallback>
      </mc:AlternateContent>
      <p:sp>
        <p:nvSpPr>
          <p:cNvPr id="16" name="右箭头 15">
            <a:extLst>
              <a:ext uri="{FF2B5EF4-FFF2-40B4-BE49-F238E27FC236}">
                <a16:creationId xmlns:a16="http://schemas.microsoft.com/office/drawing/2014/main" id="{104B446D-284A-D647-A54E-64E5526B0A55}"/>
              </a:ext>
            </a:extLst>
          </p:cNvPr>
          <p:cNvSpPr/>
          <p:nvPr/>
        </p:nvSpPr>
        <p:spPr bwMode="auto">
          <a:xfrm rot="5400000">
            <a:off x="1455968" y="3450660"/>
            <a:ext cx="431999" cy="288032"/>
          </a:xfrm>
          <a:prstGeom prst="rightArrow">
            <a:avLst/>
          </a:prstGeom>
          <a:solidFill>
            <a:srgbClr val="FF0000"/>
          </a:solidFill>
          <a:ln w="9525" cap="flat" cmpd="sng" algn="ctr">
            <a:solidFill>
              <a:schemeClr val="tx1"/>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dirty="0">
              <a:ln>
                <a:noFill/>
              </a:ln>
              <a:solidFill>
                <a:schemeClr val="tx1"/>
              </a:solidFill>
              <a:effectLst/>
              <a:latin typeface="宋体" pitchFamily="2" charset="-122"/>
              <a:ea typeface="宋体" pitchFamily="2" charset="-122"/>
            </a:endParaRPr>
          </a:p>
        </p:txBody>
      </p:sp>
      <p:graphicFrame>
        <p:nvGraphicFramePr>
          <p:cNvPr id="11" name="表格 9">
            <a:extLst>
              <a:ext uri="{FF2B5EF4-FFF2-40B4-BE49-F238E27FC236}">
                <a16:creationId xmlns:a16="http://schemas.microsoft.com/office/drawing/2014/main" id="{3D29FABC-588D-7243-8EBA-1FF6E36F4A23}"/>
              </a:ext>
            </a:extLst>
          </p:cNvPr>
          <p:cNvGraphicFramePr>
            <a:graphicFrameLocks noGrp="1"/>
          </p:cNvGraphicFramePr>
          <p:nvPr>
            <p:extLst>
              <p:ext uri="{D42A27DB-BD31-4B8C-83A1-F6EECF244321}">
                <p14:modId xmlns:p14="http://schemas.microsoft.com/office/powerpoint/2010/main" val="3805579414"/>
              </p:ext>
            </p:extLst>
          </p:nvPr>
        </p:nvGraphicFramePr>
        <p:xfrm>
          <a:off x="107504" y="3857456"/>
          <a:ext cx="8910239" cy="2595880"/>
        </p:xfrm>
        <a:graphic>
          <a:graphicData uri="http://schemas.openxmlformats.org/drawingml/2006/table">
            <a:tbl>
              <a:tblPr firstRow="1" bandRow="1">
                <a:tableStyleId>{00A15C55-8517-42AA-B614-E9B94910E393}</a:tableStyleId>
              </a:tblPr>
              <a:tblGrid>
                <a:gridCol w="710217">
                  <a:extLst>
                    <a:ext uri="{9D8B030D-6E8A-4147-A177-3AD203B41FA5}">
                      <a16:colId xmlns:a16="http://schemas.microsoft.com/office/drawing/2014/main" val="3504568931"/>
                    </a:ext>
                  </a:extLst>
                </a:gridCol>
                <a:gridCol w="1226172">
                  <a:extLst>
                    <a:ext uri="{9D8B030D-6E8A-4147-A177-3AD203B41FA5}">
                      <a16:colId xmlns:a16="http://schemas.microsoft.com/office/drawing/2014/main" val="1693514392"/>
                    </a:ext>
                  </a:extLst>
                </a:gridCol>
                <a:gridCol w="1149536">
                  <a:extLst>
                    <a:ext uri="{9D8B030D-6E8A-4147-A177-3AD203B41FA5}">
                      <a16:colId xmlns:a16="http://schemas.microsoft.com/office/drawing/2014/main" val="1891917875"/>
                    </a:ext>
                  </a:extLst>
                </a:gridCol>
                <a:gridCol w="1149536">
                  <a:extLst>
                    <a:ext uri="{9D8B030D-6E8A-4147-A177-3AD203B41FA5}">
                      <a16:colId xmlns:a16="http://schemas.microsoft.com/office/drawing/2014/main" val="3796494571"/>
                    </a:ext>
                  </a:extLst>
                </a:gridCol>
                <a:gridCol w="2128996">
                  <a:extLst>
                    <a:ext uri="{9D8B030D-6E8A-4147-A177-3AD203B41FA5}">
                      <a16:colId xmlns:a16="http://schemas.microsoft.com/office/drawing/2014/main" val="3151041907"/>
                    </a:ext>
                  </a:extLst>
                </a:gridCol>
                <a:gridCol w="1272891">
                  <a:extLst>
                    <a:ext uri="{9D8B030D-6E8A-4147-A177-3AD203B41FA5}">
                      <a16:colId xmlns:a16="http://schemas.microsoft.com/office/drawing/2014/main" val="2016092597"/>
                    </a:ext>
                  </a:extLst>
                </a:gridCol>
                <a:gridCol w="1272891">
                  <a:extLst>
                    <a:ext uri="{9D8B030D-6E8A-4147-A177-3AD203B41FA5}">
                      <a16:colId xmlns:a16="http://schemas.microsoft.com/office/drawing/2014/main" val="3530415023"/>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SC.CNO</a:t>
                      </a:r>
                      <a:endParaRPr lang="zh-CN" altLang="en-US" dirty="0"/>
                    </a:p>
                  </a:txBody>
                  <a:tcPr/>
                </a:tc>
                <a:tc>
                  <a:txBody>
                    <a:bodyPr/>
                    <a:lstStyle/>
                    <a:p>
                      <a:pPr algn="ctr"/>
                      <a:r>
                        <a:rPr lang="en-US" altLang="zh-CN" dirty="0"/>
                        <a:t>GRADE</a:t>
                      </a:r>
                      <a:endParaRPr lang="zh-CN" altLang="en-US" dirty="0"/>
                    </a:p>
                  </a:txBody>
                  <a:tcPr/>
                </a:tc>
                <a:tc>
                  <a:txBody>
                    <a:bodyPr/>
                    <a:lstStyle/>
                    <a:p>
                      <a:pPr algn="ctr"/>
                      <a:r>
                        <a:rPr lang="en-US" altLang="zh-CN" dirty="0"/>
                        <a:t>C.CNO</a:t>
                      </a:r>
                      <a:endParaRPr lang="zh-CN" altLang="en-US" dirty="0"/>
                    </a:p>
                  </a:txBody>
                  <a:tcPr/>
                </a:tc>
                <a:tc>
                  <a:txBody>
                    <a:bodyPr/>
                    <a:lstStyle/>
                    <a:p>
                      <a:pPr algn="ctr"/>
                      <a:r>
                        <a:rPr lang="en-US" altLang="zh-CN" dirty="0"/>
                        <a:t>CNAME</a:t>
                      </a:r>
                      <a:endParaRPr lang="zh-CN" altLang="en-US" dirty="0"/>
                    </a:p>
                  </a:txBody>
                  <a:tcPr/>
                </a:tc>
                <a:tc>
                  <a:txBody>
                    <a:bodyPr/>
                    <a:lstStyle/>
                    <a:p>
                      <a:pPr algn="ctr"/>
                      <a:r>
                        <a:rPr lang="en-US" altLang="zh-CN" dirty="0"/>
                        <a:t>CDEPT</a:t>
                      </a:r>
                      <a:endParaRPr lang="zh-CN" altLang="en-US" dirty="0"/>
                    </a:p>
                  </a:txBody>
                  <a:tcPr/>
                </a:tc>
                <a:tc>
                  <a:txBody>
                    <a:bodyPr/>
                    <a:lstStyle/>
                    <a:p>
                      <a:pPr algn="ctr"/>
                      <a:r>
                        <a:rPr lang="en-US" altLang="zh-CN" dirty="0"/>
                        <a:t>TNAME</a:t>
                      </a:r>
                      <a:endParaRPr lang="zh-CN" altLang="en-US" dirty="0"/>
                    </a:p>
                  </a:txBody>
                  <a:tcPr/>
                </a:tc>
                <a:extLst>
                  <a:ext uri="{0D108BD9-81ED-4DB2-BD59-A6C34878D82A}">
                    <a16:rowId xmlns:a16="http://schemas.microsoft.com/office/drawing/2014/main" val="1154568065"/>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tc>
                  <a:txBody>
                    <a:bodyPr/>
                    <a:lstStyle/>
                    <a:p>
                      <a:pPr algn="ctr"/>
                      <a:r>
                        <a:rPr lang="en-US" altLang="zh-CN" dirty="0"/>
                        <a:t>C3</a:t>
                      </a:r>
                      <a:endParaRPr lang="zh-CN" altLang="en-US" dirty="0"/>
                    </a:p>
                  </a:txBody>
                  <a:tcPr/>
                </a:tc>
                <a:tc>
                  <a:txBody>
                    <a:bodyPr/>
                    <a:lstStyle/>
                    <a:p>
                      <a:pPr algn="ctr"/>
                      <a:r>
                        <a:rPr lang="zh-CN" altLang="en-US" sz="1800" dirty="0"/>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钱红</a:t>
                      </a:r>
                    </a:p>
                  </a:txBody>
                  <a:tcPr/>
                </a:tc>
                <a:extLst>
                  <a:ext uri="{0D108BD9-81ED-4DB2-BD59-A6C34878D82A}">
                    <a16:rowId xmlns:a16="http://schemas.microsoft.com/office/drawing/2014/main" val="2881124937"/>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tc>
                  <a:txBody>
                    <a:bodyPr/>
                    <a:lstStyle/>
                    <a:p>
                      <a:pPr algn="ctr"/>
                      <a:r>
                        <a:rPr lang="en-US" altLang="zh-CN" dirty="0"/>
                        <a:t>C2</a:t>
                      </a:r>
                      <a:endParaRPr lang="zh-CN" altLang="en-US" dirty="0"/>
                    </a:p>
                  </a:txBody>
                  <a:tcPr/>
                </a:tc>
                <a:tc>
                  <a:txBody>
                    <a:bodyPr/>
                    <a:lstStyle/>
                    <a:p>
                      <a:pPr algn="ctr"/>
                      <a:r>
                        <a:rPr lang="zh-CN" altLang="en-US" sz="18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汪宏伟</a:t>
                      </a:r>
                    </a:p>
                  </a:txBody>
                  <a:tcPr/>
                </a:tc>
                <a:extLst>
                  <a:ext uri="{0D108BD9-81ED-4DB2-BD59-A6C34878D82A}">
                    <a16:rowId xmlns:a16="http://schemas.microsoft.com/office/drawing/2014/main" val="3199379691"/>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79</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高等数学</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通信</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钱红</a:t>
                      </a:r>
                    </a:p>
                  </a:txBody>
                  <a:tcPr/>
                </a:tc>
                <a:extLst>
                  <a:ext uri="{0D108BD9-81ED-4DB2-BD59-A6C34878D82A}">
                    <a16:rowId xmlns:a16="http://schemas.microsoft.com/office/drawing/2014/main" val="2509439697"/>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S1</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76</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钱红</a:t>
                      </a:r>
                    </a:p>
                  </a:txBody>
                  <a:tcPr/>
                </a:tc>
                <a:extLst>
                  <a:ext uri="{0D108BD9-81ED-4DB2-BD59-A6C34878D82A}">
                    <a16:rowId xmlns:a16="http://schemas.microsoft.com/office/drawing/2014/main" val="3374615984"/>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tc>
                  <a:txBody>
                    <a:bodyPr/>
                    <a:lstStyle/>
                    <a:p>
                      <a:pPr algn="ctr"/>
                      <a:r>
                        <a:rPr lang="en-US" altLang="zh-CN" dirty="0"/>
                        <a:t>C2</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汪宏伟</a:t>
                      </a:r>
                    </a:p>
                  </a:txBody>
                  <a:tcPr/>
                </a:tc>
                <a:extLst>
                  <a:ext uri="{0D108BD9-81ED-4DB2-BD59-A6C34878D82A}">
                    <a16:rowId xmlns:a16="http://schemas.microsoft.com/office/drawing/2014/main" val="2409998960"/>
                  </a:ext>
                </a:extLst>
              </a:tr>
              <a:tr h="370840">
                <a:tc>
                  <a:txBody>
                    <a:bodyPr/>
                    <a:lstStyle/>
                    <a:p>
                      <a:pPr algn="ctr"/>
                      <a:r>
                        <a:rPr lang="en-US" altLang="zh-CN" dirty="0"/>
                        <a:t>S6</a:t>
                      </a:r>
                      <a:endParaRPr lang="zh-CN" altLang="en-US" dirty="0"/>
                    </a:p>
                  </a:txBody>
                  <a:tcPr/>
                </a:tc>
                <a:tc>
                  <a:txBody>
                    <a:bodyPr/>
                    <a:lstStyle/>
                    <a:p>
                      <a:pPr algn="ctr"/>
                      <a:r>
                        <a:rPr lang="en-US" altLang="zh-CN" dirty="0"/>
                        <a:t>C1</a:t>
                      </a:r>
                      <a:endParaRPr lang="zh-CN" altLang="en-US" dirty="0"/>
                    </a:p>
                  </a:txBody>
                  <a:tcPr/>
                </a:tc>
                <a:tc>
                  <a:txBody>
                    <a:bodyPr/>
                    <a:lstStyle/>
                    <a:p>
                      <a:pPr algn="ctr"/>
                      <a:r>
                        <a:rPr lang="en-US" altLang="zh-CN" dirty="0"/>
                        <a:t>78</a:t>
                      </a:r>
                      <a:endParaRPr lang="zh-CN" altLang="en-US" dirty="0"/>
                    </a:p>
                  </a:txBody>
                  <a:tcPr/>
                </a:tc>
                <a:tc>
                  <a:txBody>
                    <a:bodyPr/>
                    <a:lstStyle/>
                    <a:p>
                      <a:pPr algn="ctr"/>
                      <a:r>
                        <a:rPr lang="en-US" altLang="zh-CN" dirty="0"/>
                        <a:t>C1</a:t>
                      </a:r>
                      <a:endParaRPr lang="zh-CN" altLang="en-US" dirty="0"/>
                    </a:p>
                  </a:txBody>
                  <a:tcPr/>
                </a:tc>
                <a:tc>
                  <a:txBody>
                    <a:bodyPr/>
                    <a:lstStyle/>
                    <a:p>
                      <a:pPr algn="ctr"/>
                      <a:r>
                        <a:rPr lang="zh-CN" altLang="en-US" sz="1800" dirty="0"/>
                        <a:t>计算机原理</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李兵</a:t>
                      </a:r>
                    </a:p>
                  </a:txBody>
                  <a:tcPr/>
                </a:tc>
                <a:extLst>
                  <a:ext uri="{0D108BD9-81ED-4DB2-BD59-A6C34878D82A}">
                    <a16:rowId xmlns:a16="http://schemas.microsoft.com/office/drawing/2014/main" val="2748274722"/>
                  </a:ext>
                </a:extLst>
              </a:tr>
            </a:tbl>
          </a:graphicData>
        </a:graphic>
      </p:graphicFrame>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D0EF5547-53B8-784D-9316-41ED9EC2C106}"/>
                  </a:ext>
                </a:extLst>
              </p:cNvPr>
              <p:cNvSpPr txBox="1"/>
              <p:nvPr/>
            </p:nvSpPr>
            <p:spPr>
              <a:xfrm>
                <a:off x="2686426" y="3380983"/>
                <a:ext cx="6331285" cy="239104"/>
              </a:xfrm>
              <a:prstGeom prst="rect">
                <a:avLst/>
              </a:prstGeom>
              <a:noFill/>
            </p:spPr>
            <p:txBody>
              <a:bodyPr wrap="none" lIns="0" tIns="0" rIns="0" bIns="0" rtlCol="0">
                <a:spAutoFit/>
              </a:bodyPr>
              <a:lstStyle/>
              <a:p>
                <a:r>
                  <a:rPr kumimoji="1" lang="zh-CN" altLang="en-US" i="0" dirty="0">
                    <a:solidFill>
                      <a:srgbClr val="FF0000"/>
                    </a:solidFill>
                    <a:latin typeface="+mj-lt"/>
                  </a:rPr>
                  <a:t>≡</a:t>
                </a:r>
                <a14:m>
                  <m:oMath xmlns:m="http://schemas.openxmlformats.org/officeDocument/2006/math">
                    <m:sSub>
                      <m:sSubPr>
                        <m:ctrlPr>
                          <a:rPr kumimoji="1" lang="en-US" altLang="zh-CN" i="1" smtClean="0">
                            <a:solidFill>
                              <a:srgbClr val="FF0000"/>
                            </a:solidFill>
                            <a:latin typeface="Cambria Math" panose="02040503050406030204" pitchFamily="18" charset="0"/>
                          </a:rPr>
                        </m:ctrlPr>
                      </m:sSubPr>
                      <m:e>
                        <m:r>
                          <a:rPr kumimoji="1" lang="en-US" altLang="zh-CN" i="1" smtClean="0">
                            <a:solidFill>
                              <a:srgbClr val="FF0000"/>
                            </a:solidFill>
                            <a:latin typeface="Cambria Math" panose="02040503050406030204" pitchFamily="18" charset="0"/>
                            <a:ea typeface="Cambria Math" panose="02040503050406030204" pitchFamily="18" charset="0"/>
                          </a:rPr>
                          <m:t>𝜋</m:t>
                        </m:r>
                      </m:e>
                      <m:sub>
                        <m:r>
                          <m:rPr>
                            <m:sty m:val="p"/>
                          </m:rPr>
                          <a:rPr lang="en-US" altLang="zh-CN" i="1">
                            <a:solidFill>
                              <a:srgbClr val="FF0000"/>
                            </a:solidFill>
                            <a:latin typeface="Cambria Math" panose="02040503050406030204" pitchFamily="18" charset="0"/>
                          </a:rPr>
                          <m:t>SNO</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𝑆𝐶</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𝐶𝑁𝑂</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𝐺𝑅𝐴𝐷𝐸</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𝐶𝑁𝐴𝑀𝑊</m:t>
                        </m:r>
                        <m:r>
                          <a:rPr lang="en-US" altLang="zh-CN" b="0" i="1" smtClean="0">
                            <a:solidFill>
                              <a:srgbClr val="FF0000"/>
                            </a:solidFill>
                            <a:latin typeface="Cambria Math" panose="02040503050406030204" pitchFamily="18" charset="0"/>
                          </a:rPr>
                          <m:t>,  </m:t>
                        </m:r>
                        <m:r>
                          <a:rPr lang="en-US" altLang="zh-CN" b="0" i="1" smtClean="0">
                            <a:solidFill>
                              <a:srgbClr val="FF0000"/>
                            </a:solidFill>
                            <a:latin typeface="Cambria Math" panose="02040503050406030204" pitchFamily="18" charset="0"/>
                          </a:rPr>
                          <m:t>𝐶𝐷𝐸𝑃𝑇</m:t>
                        </m:r>
                        <m:r>
                          <a:rPr lang="en-US" altLang="zh-CN" b="0" i="1" smtClean="0">
                            <a:solidFill>
                              <a:srgbClr val="FF0000"/>
                            </a:solidFill>
                            <a:latin typeface="Cambria Math" panose="02040503050406030204" pitchFamily="18" charset="0"/>
                          </a:rPr>
                          <m:t>,</m:t>
                        </m:r>
                        <m:r>
                          <a:rPr lang="en-US" altLang="zh-CN" b="0" i="1" smtClean="0">
                            <a:solidFill>
                              <a:srgbClr val="FF0000"/>
                            </a:solidFill>
                            <a:latin typeface="Cambria Math" panose="02040503050406030204" pitchFamily="18" charset="0"/>
                          </a:rPr>
                          <m:t>𝑇𝑁𝐴𝑀𝐸</m:t>
                        </m:r>
                      </m:sub>
                    </m:sSub>
                    <m:r>
                      <a:rPr kumimoji="1" lang="en-US" altLang="zh-CN" b="0" i="1" smtClean="0">
                        <a:solidFill>
                          <a:srgbClr val="FF0000"/>
                        </a:solidFill>
                        <a:latin typeface="Cambria Math" panose="02040503050406030204" pitchFamily="18" charset="0"/>
                      </a:rPr>
                      <m:t>(</m:t>
                    </m:r>
                    <m:sSub>
                      <m:sSubPr>
                        <m:ctrlPr>
                          <a:rPr kumimoji="1" lang="en-US" altLang="zh-CN" b="0" i="1" smtClean="0">
                            <a:solidFill>
                              <a:srgbClr val="FF0000"/>
                            </a:solidFill>
                            <a:latin typeface="Cambria Math" panose="02040503050406030204" pitchFamily="18" charset="0"/>
                          </a:rPr>
                        </m:ctrlPr>
                      </m:sSubPr>
                      <m:e>
                        <m:r>
                          <a:rPr kumimoji="1" lang="en-US" altLang="zh-CN" b="0" i="1" smtClean="0">
                            <a:solidFill>
                              <a:srgbClr val="FF0000"/>
                            </a:solidFill>
                            <a:latin typeface="Cambria Math" panose="02040503050406030204" pitchFamily="18" charset="0"/>
                            <a:ea typeface="Cambria Math" panose="02040503050406030204" pitchFamily="18" charset="0"/>
                          </a:rPr>
                          <m:t>𝜎</m:t>
                        </m:r>
                      </m:e>
                      <m:sub>
                        <m:r>
                          <a:rPr kumimoji="1" lang="en-US" altLang="zh-CN" b="0" i="1" smtClean="0">
                            <a:solidFill>
                              <a:srgbClr val="FF0000"/>
                            </a:solidFill>
                            <a:latin typeface="Cambria Math" panose="02040503050406030204" pitchFamily="18" charset="0"/>
                          </a:rPr>
                          <m:t>𝑆𝐶</m:t>
                        </m:r>
                        <m:r>
                          <a:rPr kumimoji="1" lang="en-US" altLang="zh-CN" b="0" i="1" smtClean="0">
                            <a:solidFill>
                              <a:srgbClr val="FF0000"/>
                            </a:solidFill>
                            <a:latin typeface="Cambria Math" panose="02040503050406030204" pitchFamily="18" charset="0"/>
                          </a:rPr>
                          <m:t>.</m:t>
                        </m:r>
                        <m:r>
                          <a:rPr kumimoji="1" lang="en-US" altLang="zh-CN" b="0" i="1" smtClean="0">
                            <a:solidFill>
                              <a:srgbClr val="FF0000"/>
                            </a:solidFill>
                            <a:latin typeface="Cambria Math" panose="02040503050406030204" pitchFamily="18" charset="0"/>
                          </a:rPr>
                          <m:t>𝐶𝑁𝑜</m:t>
                        </m:r>
                        <m:r>
                          <a:rPr kumimoji="1" lang="en-US" altLang="zh-CN" b="0" i="1" smtClean="0">
                            <a:solidFill>
                              <a:srgbClr val="FF0000"/>
                            </a:solidFill>
                            <a:latin typeface="Cambria Math" panose="02040503050406030204" pitchFamily="18" charset="0"/>
                          </a:rPr>
                          <m:t>=</m:t>
                        </m:r>
                        <m:r>
                          <a:rPr kumimoji="1" lang="en-US" altLang="zh-CN" b="0" i="1" smtClean="0">
                            <a:solidFill>
                              <a:srgbClr val="FF0000"/>
                            </a:solidFill>
                            <a:latin typeface="Cambria Math" panose="02040503050406030204" pitchFamily="18" charset="0"/>
                          </a:rPr>
                          <m:t>𝑐</m:t>
                        </m:r>
                        <m:r>
                          <a:rPr kumimoji="1" lang="en-US" altLang="zh-CN" b="0" i="1" smtClean="0">
                            <a:solidFill>
                              <a:srgbClr val="FF0000"/>
                            </a:solidFill>
                            <a:latin typeface="Cambria Math" panose="02040503050406030204" pitchFamily="18" charset="0"/>
                          </a:rPr>
                          <m:t>.</m:t>
                        </m:r>
                        <m:r>
                          <a:rPr kumimoji="1" lang="en-US" altLang="zh-CN" b="0" i="1" smtClean="0">
                            <a:solidFill>
                              <a:srgbClr val="FF0000"/>
                            </a:solidFill>
                            <a:latin typeface="Cambria Math" panose="02040503050406030204" pitchFamily="18" charset="0"/>
                          </a:rPr>
                          <m:t>𝐶𝑁𝑂</m:t>
                        </m:r>
                      </m:sub>
                    </m:sSub>
                    <m:r>
                      <a:rPr kumimoji="1" lang="en-US" altLang="zh-CN" b="0" i="1" smtClean="0">
                        <a:solidFill>
                          <a:srgbClr val="FF0000"/>
                        </a:solidFill>
                        <a:latin typeface="Cambria Math" panose="02040503050406030204" pitchFamily="18" charset="0"/>
                      </a:rPr>
                      <m:t>(</m:t>
                    </m:r>
                    <m:r>
                      <a:rPr kumimoji="1" lang="en-US" altLang="zh-CN" b="0" i="1" smtClean="0">
                        <a:solidFill>
                          <a:srgbClr val="FF0000"/>
                        </a:solidFill>
                        <a:latin typeface="Cambria Math" panose="02040503050406030204" pitchFamily="18" charset="0"/>
                      </a:rPr>
                      <m:t>𝑆𝐶</m:t>
                    </m:r>
                    <m:r>
                      <a:rPr kumimoji="1" lang="en-US" altLang="zh-CN" b="0" i="1" smtClean="0">
                        <a:solidFill>
                          <a:srgbClr val="FF0000"/>
                        </a:solidFill>
                        <a:latin typeface="Cambria Math" panose="02040503050406030204" pitchFamily="18" charset="0"/>
                        <a:ea typeface="Cambria Math" panose="02040503050406030204" pitchFamily="18" charset="0"/>
                      </a:rPr>
                      <m:t>×</m:t>
                    </m:r>
                    <m:r>
                      <a:rPr kumimoji="1" lang="en-US" altLang="zh-CN" b="0" i="1" smtClean="0">
                        <a:solidFill>
                          <a:srgbClr val="FF0000"/>
                        </a:solidFill>
                        <a:latin typeface="Cambria Math" panose="02040503050406030204" pitchFamily="18" charset="0"/>
                        <a:ea typeface="Cambria Math" panose="02040503050406030204" pitchFamily="18" charset="0"/>
                      </a:rPr>
                      <m:t>𝐶</m:t>
                    </m:r>
                    <m:r>
                      <a:rPr kumimoji="1" lang="en-US" altLang="zh-CN" b="0" i="1" smtClean="0">
                        <a:solidFill>
                          <a:srgbClr val="FF0000"/>
                        </a:solidFill>
                        <a:latin typeface="Cambria Math" panose="02040503050406030204" pitchFamily="18" charset="0"/>
                      </a:rPr>
                      <m:t>))</m:t>
                    </m:r>
                  </m:oMath>
                </a14:m>
                <a:r>
                  <a:rPr kumimoji="1" lang="zh-CN" altLang="en-US" dirty="0">
                    <a:solidFill>
                      <a:srgbClr val="FF0000"/>
                    </a:solidFill>
                  </a:rPr>
                  <a:t> </a:t>
                </a:r>
              </a:p>
            </p:txBody>
          </p:sp>
        </mc:Choice>
        <mc:Fallback xmlns="">
          <p:sp>
            <p:nvSpPr>
              <p:cNvPr id="8" name="文本框 7">
                <a:extLst>
                  <a:ext uri="{FF2B5EF4-FFF2-40B4-BE49-F238E27FC236}">
                    <a16:creationId xmlns:a16="http://schemas.microsoft.com/office/drawing/2014/main" id="{D0EF5547-53B8-784D-9316-41ED9EC2C106}"/>
                  </a:ext>
                </a:extLst>
              </p:cNvPr>
              <p:cNvSpPr txBox="1">
                <a:spLocks noRot="1" noChangeAspect="1" noMove="1" noResize="1" noEditPoints="1" noAdjustHandles="1" noChangeArrowheads="1" noChangeShapeType="1" noTextEdit="1"/>
              </p:cNvSpPr>
              <p:nvPr/>
            </p:nvSpPr>
            <p:spPr>
              <a:xfrm>
                <a:off x="2686426" y="3380983"/>
                <a:ext cx="6331285" cy="239104"/>
              </a:xfrm>
              <a:prstGeom prst="rect">
                <a:avLst/>
              </a:prstGeom>
              <a:blipFill>
                <a:blip r:embed="rId3"/>
                <a:stretch>
                  <a:fillRect l="-2204" t="-50000" b="-50000"/>
                </a:stretch>
              </a:blipFill>
            </p:spPr>
            <p:txBody>
              <a:bodyPr/>
              <a:lstStyle/>
              <a:p>
                <a:r>
                  <a:rPr lang="zh-CN" altLang="en-US">
                    <a:noFill/>
                  </a:rPr>
                  <a:t> </a:t>
                </a:r>
              </a:p>
            </p:txBody>
          </p:sp>
        </mc:Fallback>
      </mc:AlternateContent>
      <p:cxnSp>
        <p:nvCxnSpPr>
          <p:cNvPr id="14" name="直线连接符 13">
            <a:extLst>
              <a:ext uri="{FF2B5EF4-FFF2-40B4-BE49-F238E27FC236}">
                <a16:creationId xmlns:a16="http://schemas.microsoft.com/office/drawing/2014/main" id="{C1EBBACE-9687-104D-9711-CE56FD25A3C1}"/>
              </a:ext>
            </a:extLst>
          </p:cNvPr>
          <p:cNvCxnSpPr/>
          <p:nvPr/>
        </p:nvCxnSpPr>
        <p:spPr bwMode="auto">
          <a:xfrm>
            <a:off x="1320910" y="1291484"/>
            <a:ext cx="1751738" cy="382437"/>
          </a:xfrm>
          <a:prstGeom prst="line">
            <a:avLst/>
          </a:prstGeom>
          <a:noFill/>
          <a:ln w="19050" cap="flat" cmpd="sng" algn="ctr">
            <a:solidFill>
              <a:srgbClr val="FF0066"/>
            </a:solidFill>
            <a:prstDash val="solid"/>
            <a:round/>
            <a:headEnd type="diamond" w="med" len="med"/>
            <a:tailEnd type="diamond"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7" name="直线连接符 16">
            <a:extLst>
              <a:ext uri="{FF2B5EF4-FFF2-40B4-BE49-F238E27FC236}">
                <a16:creationId xmlns:a16="http://schemas.microsoft.com/office/drawing/2014/main" id="{3EE1A32B-966B-E04C-82E5-D2B6BA72A3EA}"/>
              </a:ext>
            </a:extLst>
          </p:cNvPr>
          <p:cNvCxnSpPr/>
          <p:nvPr/>
        </p:nvCxnSpPr>
        <p:spPr bwMode="auto">
          <a:xfrm flipV="1">
            <a:off x="1335724" y="1313173"/>
            <a:ext cx="1736924" cy="377263"/>
          </a:xfrm>
          <a:prstGeom prst="line">
            <a:avLst/>
          </a:prstGeom>
          <a:noFill/>
          <a:ln w="19050" cap="flat" cmpd="sng" algn="ctr">
            <a:solidFill>
              <a:srgbClr val="FF0066"/>
            </a:solidFill>
            <a:prstDash val="solid"/>
            <a:round/>
            <a:headEnd type="diamond" w="med" len="med"/>
            <a:tailEnd type="diamond"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19" name="直线连接符 18">
            <a:extLst>
              <a:ext uri="{FF2B5EF4-FFF2-40B4-BE49-F238E27FC236}">
                <a16:creationId xmlns:a16="http://schemas.microsoft.com/office/drawing/2014/main" id="{2D050EB7-2617-BB48-A191-18574A8BC4DE}"/>
              </a:ext>
            </a:extLst>
          </p:cNvPr>
          <p:cNvCxnSpPr/>
          <p:nvPr/>
        </p:nvCxnSpPr>
        <p:spPr bwMode="auto">
          <a:xfrm flipV="1">
            <a:off x="1331640" y="1677430"/>
            <a:ext cx="1736924" cy="377263"/>
          </a:xfrm>
          <a:prstGeom prst="line">
            <a:avLst/>
          </a:prstGeom>
          <a:noFill/>
          <a:ln w="19050" cap="flat" cmpd="sng" algn="ctr">
            <a:solidFill>
              <a:srgbClr val="FF0066"/>
            </a:solidFill>
            <a:prstDash val="solid"/>
            <a:round/>
            <a:headEnd type="diamond" w="med" len="med"/>
            <a:tailEnd type="diamond"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0" name="直线连接符 19">
            <a:extLst>
              <a:ext uri="{FF2B5EF4-FFF2-40B4-BE49-F238E27FC236}">
                <a16:creationId xmlns:a16="http://schemas.microsoft.com/office/drawing/2014/main" id="{1030F149-EED2-F646-8DB9-E0A5F0ED5686}"/>
              </a:ext>
            </a:extLst>
          </p:cNvPr>
          <p:cNvCxnSpPr/>
          <p:nvPr/>
        </p:nvCxnSpPr>
        <p:spPr bwMode="auto">
          <a:xfrm flipV="1">
            <a:off x="1342370" y="1693992"/>
            <a:ext cx="1736924" cy="723594"/>
          </a:xfrm>
          <a:prstGeom prst="line">
            <a:avLst/>
          </a:prstGeom>
          <a:noFill/>
          <a:ln w="19050" cap="flat" cmpd="sng" algn="ctr">
            <a:solidFill>
              <a:srgbClr val="FF0066"/>
            </a:solidFill>
            <a:prstDash val="solid"/>
            <a:round/>
            <a:headEnd type="diamond" w="med" len="med"/>
            <a:tailEnd type="diamond"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2" name="直线连接符 21">
            <a:extLst>
              <a:ext uri="{FF2B5EF4-FFF2-40B4-BE49-F238E27FC236}">
                <a16:creationId xmlns:a16="http://schemas.microsoft.com/office/drawing/2014/main" id="{4CA3FBF6-1128-7140-89CE-89B6291BFAB4}"/>
              </a:ext>
            </a:extLst>
          </p:cNvPr>
          <p:cNvCxnSpPr/>
          <p:nvPr/>
        </p:nvCxnSpPr>
        <p:spPr bwMode="auto">
          <a:xfrm flipV="1">
            <a:off x="1335724" y="1314537"/>
            <a:ext cx="1754300" cy="1476870"/>
          </a:xfrm>
          <a:prstGeom prst="line">
            <a:avLst/>
          </a:prstGeom>
          <a:noFill/>
          <a:ln w="19050" cap="flat" cmpd="sng" algn="ctr">
            <a:solidFill>
              <a:srgbClr val="FF0066"/>
            </a:solidFill>
            <a:prstDash val="solid"/>
            <a:round/>
            <a:headEnd type="diamond" w="med" len="med"/>
            <a:tailEnd type="diamond"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4" name="直线连接符 23">
            <a:extLst>
              <a:ext uri="{FF2B5EF4-FFF2-40B4-BE49-F238E27FC236}">
                <a16:creationId xmlns:a16="http://schemas.microsoft.com/office/drawing/2014/main" id="{3D93BF76-5FCC-1E43-A4FD-6BD3301E60E3}"/>
              </a:ext>
            </a:extLst>
          </p:cNvPr>
          <p:cNvCxnSpPr/>
          <p:nvPr/>
        </p:nvCxnSpPr>
        <p:spPr bwMode="auto">
          <a:xfrm flipV="1">
            <a:off x="1308529" y="2434148"/>
            <a:ext cx="1760035" cy="711536"/>
          </a:xfrm>
          <a:prstGeom prst="line">
            <a:avLst/>
          </a:prstGeom>
          <a:noFill/>
          <a:ln w="19050" cap="flat" cmpd="sng" algn="ctr">
            <a:solidFill>
              <a:srgbClr val="FF0066"/>
            </a:solidFill>
            <a:prstDash val="solid"/>
            <a:round/>
            <a:headEnd type="diamond" w="med" len="med"/>
            <a:tailEnd type="diamond"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7" name="直线连接符 26">
            <a:extLst>
              <a:ext uri="{FF2B5EF4-FFF2-40B4-BE49-F238E27FC236}">
                <a16:creationId xmlns:a16="http://schemas.microsoft.com/office/drawing/2014/main" id="{CB1C72D6-76EF-AD43-A4DA-1D539E6FE8EA}"/>
              </a:ext>
            </a:extLst>
          </p:cNvPr>
          <p:cNvCxnSpPr/>
          <p:nvPr/>
        </p:nvCxnSpPr>
        <p:spPr bwMode="auto">
          <a:xfrm>
            <a:off x="107504" y="4581128"/>
            <a:ext cx="8910239" cy="0"/>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29" name="直线连接符 28">
            <a:extLst>
              <a:ext uri="{FF2B5EF4-FFF2-40B4-BE49-F238E27FC236}">
                <a16:creationId xmlns:a16="http://schemas.microsoft.com/office/drawing/2014/main" id="{D48C404A-BE57-FB4D-8D10-F9000CEDCED6}"/>
              </a:ext>
            </a:extLst>
          </p:cNvPr>
          <p:cNvCxnSpPr/>
          <p:nvPr/>
        </p:nvCxnSpPr>
        <p:spPr bwMode="auto">
          <a:xfrm>
            <a:off x="116880" y="5013176"/>
            <a:ext cx="8910239" cy="0"/>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0" name="直线连接符 29">
            <a:extLst>
              <a:ext uri="{FF2B5EF4-FFF2-40B4-BE49-F238E27FC236}">
                <a16:creationId xmlns:a16="http://schemas.microsoft.com/office/drawing/2014/main" id="{18789F47-7FE0-BE42-9589-7E7C1BA28DFA}"/>
              </a:ext>
            </a:extLst>
          </p:cNvPr>
          <p:cNvCxnSpPr/>
          <p:nvPr/>
        </p:nvCxnSpPr>
        <p:spPr bwMode="auto">
          <a:xfrm>
            <a:off x="107503" y="5373216"/>
            <a:ext cx="8910239" cy="0"/>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1" name="直线连接符 30">
            <a:extLst>
              <a:ext uri="{FF2B5EF4-FFF2-40B4-BE49-F238E27FC236}">
                <a16:creationId xmlns:a16="http://schemas.microsoft.com/office/drawing/2014/main" id="{F7CB6365-AE60-A24F-BFA5-5B30F3A3FE57}"/>
              </a:ext>
            </a:extLst>
          </p:cNvPr>
          <p:cNvCxnSpPr/>
          <p:nvPr/>
        </p:nvCxnSpPr>
        <p:spPr bwMode="auto">
          <a:xfrm>
            <a:off x="116880" y="5733256"/>
            <a:ext cx="8910239" cy="0"/>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3" name="直线连接符 32">
            <a:extLst>
              <a:ext uri="{FF2B5EF4-FFF2-40B4-BE49-F238E27FC236}">
                <a16:creationId xmlns:a16="http://schemas.microsoft.com/office/drawing/2014/main" id="{4C6BDD83-1440-8643-8FF8-BB6FD04086B3}"/>
              </a:ext>
            </a:extLst>
          </p:cNvPr>
          <p:cNvCxnSpPr/>
          <p:nvPr/>
        </p:nvCxnSpPr>
        <p:spPr bwMode="auto">
          <a:xfrm>
            <a:off x="116880" y="6093296"/>
            <a:ext cx="8910239" cy="0"/>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4" name="直线连接符 33">
            <a:extLst>
              <a:ext uri="{FF2B5EF4-FFF2-40B4-BE49-F238E27FC236}">
                <a16:creationId xmlns:a16="http://schemas.microsoft.com/office/drawing/2014/main" id="{6A10F0A7-3D27-E042-ABC0-585463CFE9F5}"/>
              </a:ext>
            </a:extLst>
          </p:cNvPr>
          <p:cNvCxnSpPr/>
          <p:nvPr/>
        </p:nvCxnSpPr>
        <p:spPr bwMode="auto">
          <a:xfrm>
            <a:off x="116880" y="6453336"/>
            <a:ext cx="8910239" cy="0"/>
          </a:xfrm>
          <a:prstGeom prst="line">
            <a:avLst/>
          </a:prstGeom>
          <a:noFill/>
          <a:ln w="1905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pic>
        <p:nvPicPr>
          <p:cNvPr id="13" name="图片 12">
            <a:extLst>
              <a:ext uri="{FF2B5EF4-FFF2-40B4-BE49-F238E27FC236}">
                <a16:creationId xmlns:a16="http://schemas.microsoft.com/office/drawing/2014/main" id="{28B584CD-D086-4D47-82CB-D565ADFDD665}"/>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3419872" y="4876522"/>
            <a:ext cx="606037" cy="606037"/>
          </a:xfrm>
          <a:prstGeom prst="rect">
            <a:avLst/>
          </a:prstGeom>
        </p:spPr>
      </p:pic>
    </p:spTree>
    <p:extLst>
      <p:ext uri="{BB962C8B-B14F-4D97-AF65-F5344CB8AC3E}">
        <p14:creationId xmlns:p14="http://schemas.microsoft.com/office/powerpoint/2010/main" val="27429443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7"/>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7"/>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2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9"/>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0"/>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0"/>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1"/>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22"/>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3"/>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34"/>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3176C3B-3FED-C445-ADEC-B1E243501E8E}"/>
              </a:ext>
            </a:extLst>
          </p:cNvPr>
          <p:cNvSpPr txBox="1"/>
          <p:nvPr/>
        </p:nvSpPr>
        <p:spPr>
          <a:xfrm>
            <a:off x="269776" y="836712"/>
            <a:ext cx="8604448" cy="437043"/>
          </a:xfrm>
          <a:prstGeom prst="rect">
            <a:avLst/>
          </a:prstGeom>
          <a:noFill/>
        </p:spPr>
        <p:txBody>
          <a:bodyPr wrap="square">
            <a:spAutoFit/>
          </a:bodyPr>
          <a:lstStyle/>
          <a:p>
            <a:r>
              <a:rPr kumimoji="1" lang="zh-CN" altLang="en-US" sz="2800" dirty="0">
                <a:solidFill>
                  <a:schemeClr val="bg2"/>
                </a:solidFill>
              </a:rPr>
              <a:t>笛卡儿积、等值联结、自然联结三者有什么区别？</a:t>
            </a:r>
          </a:p>
        </p:txBody>
      </p:sp>
      <p:sp>
        <p:nvSpPr>
          <p:cNvPr id="5" name="文本框 4">
            <a:extLst>
              <a:ext uri="{FF2B5EF4-FFF2-40B4-BE49-F238E27FC236}">
                <a16:creationId xmlns:a16="http://schemas.microsoft.com/office/drawing/2014/main" id="{8323F5F0-A24D-EF4D-AA6F-7217746CAA04}"/>
              </a:ext>
            </a:extLst>
          </p:cNvPr>
          <p:cNvSpPr txBox="1"/>
          <p:nvPr/>
        </p:nvSpPr>
        <p:spPr>
          <a:xfrm>
            <a:off x="619158" y="1700808"/>
            <a:ext cx="6977178" cy="3097964"/>
          </a:xfrm>
          <a:prstGeom prst="rect">
            <a:avLst/>
          </a:prstGeom>
          <a:noFill/>
        </p:spPr>
        <p:txBody>
          <a:bodyPr wrap="square">
            <a:spAutoFit/>
          </a:bodyPr>
          <a:lstStyle/>
          <a:p>
            <a:pPr>
              <a:lnSpc>
                <a:spcPct val="150000"/>
              </a:lnSpc>
            </a:pPr>
            <a:r>
              <a:rPr kumimoji="1" lang="zh-CN" altLang="en-US" sz="2000" dirty="0">
                <a:solidFill>
                  <a:schemeClr val="bg2"/>
                </a:solidFill>
              </a:rPr>
              <a:t>笛卡儿积是关系代数中的一个基本操作，而等值联结和自然联结是关系代数中的组合操作。</a:t>
            </a:r>
            <a:endParaRPr kumimoji="1" lang="en-US" altLang="zh-CN" sz="2000" dirty="0">
              <a:solidFill>
                <a:schemeClr val="bg2"/>
              </a:solidFill>
            </a:endParaRPr>
          </a:p>
          <a:p>
            <a:pPr>
              <a:lnSpc>
                <a:spcPct val="150000"/>
              </a:lnSpc>
            </a:pPr>
            <a:r>
              <a:rPr kumimoji="1" lang="zh-CN" altLang="en-US" sz="2000" dirty="0">
                <a:solidFill>
                  <a:schemeClr val="bg2"/>
                </a:solidFill>
              </a:rPr>
              <a:t>等值联结是在笛卡儿积的基础上选择满足两个关系中</a:t>
            </a:r>
            <a:r>
              <a:rPr kumimoji="1" lang="zh-CN" altLang="en-US" sz="2000" dirty="0">
                <a:solidFill>
                  <a:schemeClr val="bg1"/>
                </a:solidFill>
              </a:rPr>
              <a:t>给定属性值相等</a:t>
            </a:r>
            <a:r>
              <a:rPr kumimoji="1" lang="zh-CN" altLang="en-US" sz="2000" dirty="0">
                <a:solidFill>
                  <a:schemeClr val="bg2"/>
                </a:solidFill>
              </a:rPr>
              <a:t>的元组的集合。</a:t>
            </a:r>
            <a:endParaRPr kumimoji="1" lang="en-US" altLang="zh-CN" sz="2000" dirty="0">
              <a:solidFill>
                <a:schemeClr val="bg2"/>
              </a:solidFill>
            </a:endParaRPr>
          </a:p>
          <a:p>
            <a:pPr>
              <a:lnSpc>
                <a:spcPct val="150000"/>
              </a:lnSpc>
            </a:pPr>
            <a:r>
              <a:rPr kumimoji="1" lang="zh-CN" altLang="en-US" sz="2000" dirty="0">
                <a:solidFill>
                  <a:schemeClr val="bg2"/>
                </a:solidFill>
              </a:rPr>
              <a:t>自然联接是在两个关系的</a:t>
            </a:r>
            <a:r>
              <a:rPr kumimoji="1" lang="zh-CN" altLang="en-US" sz="2000" dirty="0">
                <a:solidFill>
                  <a:schemeClr val="bg1"/>
                </a:solidFill>
              </a:rPr>
              <a:t>相同属性组</a:t>
            </a:r>
            <a:r>
              <a:rPr kumimoji="1" lang="zh-CN" altLang="en-US" sz="2000" dirty="0">
                <a:solidFill>
                  <a:schemeClr val="bg2"/>
                </a:solidFill>
              </a:rPr>
              <a:t>上的等值连接。并且自然联接要在结果中</a:t>
            </a:r>
            <a:r>
              <a:rPr kumimoji="1" lang="zh-CN" altLang="en-US" sz="2000" dirty="0">
                <a:solidFill>
                  <a:srgbClr val="FF0000"/>
                </a:solidFill>
              </a:rPr>
              <a:t>把重复的属性去掉</a:t>
            </a:r>
            <a:r>
              <a:rPr kumimoji="1" lang="en-US" altLang="zh-CN" sz="2000" dirty="0">
                <a:solidFill>
                  <a:schemeClr val="bg2"/>
                </a:solidFill>
              </a:rPr>
              <a:t>,</a:t>
            </a:r>
            <a:r>
              <a:rPr kumimoji="1" lang="zh-CN" altLang="en-US" sz="2000" dirty="0">
                <a:solidFill>
                  <a:schemeClr val="bg2"/>
                </a:solidFill>
              </a:rPr>
              <a:t>而等值连接则不必。</a:t>
            </a:r>
            <a:endParaRPr lang="zh-CN" altLang="en-US" sz="2000" dirty="0">
              <a:solidFill>
                <a:schemeClr val="bg2"/>
              </a:solidFill>
            </a:endParaRPr>
          </a:p>
        </p:txBody>
      </p:sp>
      <p:pic>
        <p:nvPicPr>
          <p:cNvPr id="6" name="图片 5">
            <a:extLst>
              <a:ext uri="{FF2B5EF4-FFF2-40B4-BE49-F238E27FC236}">
                <a16:creationId xmlns:a16="http://schemas.microsoft.com/office/drawing/2014/main" id="{71C30141-41A4-3E4C-B3C3-EA605C3C3299}"/>
              </a:ext>
            </a:extLst>
          </p:cNvPr>
          <p:cNvPicPr>
            <a:picLocks noChangeAspect="1"/>
          </p:cNvPicPr>
          <p:nvPr/>
        </p:nvPicPr>
        <p:blipFill rotWithShape="1">
          <a:blip r:embed="rId3"/>
          <a:srcRect l="21377" t="9709" r="20826" b="8302"/>
          <a:stretch/>
        </p:blipFill>
        <p:spPr>
          <a:xfrm>
            <a:off x="7712710" y="1561388"/>
            <a:ext cx="812132" cy="1535138"/>
          </a:xfrm>
          <a:prstGeom prst="rect">
            <a:avLst/>
          </a:prstGeom>
        </p:spPr>
      </p:pic>
      <p:pic>
        <p:nvPicPr>
          <p:cNvPr id="7" name="图片 6">
            <a:extLst>
              <a:ext uri="{FF2B5EF4-FFF2-40B4-BE49-F238E27FC236}">
                <a16:creationId xmlns:a16="http://schemas.microsoft.com/office/drawing/2014/main" id="{C376D338-9A10-1B4E-A834-D6526724A36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76" t="20973" r="54062" b="13716"/>
          <a:stretch>
            <a:fillRect/>
          </a:stretch>
        </p:blipFill>
        <p:spPr bwMode="auto">
          <a:xfrm>
            <a:off x="41308" y="287437"/>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5208645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7234" name="Rectangle 2"/>
          <p:cNvSpPr>
            <a:spLocks noChangeArrowheads="1"/>
          </p:cNvSpPr>
          <p:nvPr/>
        </p:nvSpPr>
        <p:spPr bwMode="auto">
          <a:xfrm>
            <a:off x="250825" y="476250"/>
            <a:ext cx="9144000" cy="5102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3200" b="1">
                <a:solidFill>
                  <a:srgbClr val="660033"/>
                </a:solidFill>
              </a:rPr>
              <a:t> 4</a:t>
            </a:r>
            <a:r>
              <a:rPr lang="zh-CN" altLang="en-US" sz="3200" b="1">
                <a:solidFill>
                  <a:srgbClr val="660033"/>
                </a:solidFill>
              </a:rPr>
              <a:t>、 除</a:t>
            </a:r>
            <a:r>
              <a:rPr lang="en-US" altLang="zh-CN" sz="3200" b="1">
                <a:solidFill>
                  <a:srgbClr val="660033"/>
                </a:solidFill>
              </a:rPr>
              <a:t>(division)</a:t>
            </a:r>
          </a:p>
          <a:p>
            <a:pPr eaLnBrk="0" hangingPunct="0">
              <a:lnSpc>
                <a:spcPct val="150000"/>
              </a:lnSpc>
            </a:pPr>
            <a:r>
              <a:rPr lang="en-US" altLang="zh-CN" sz="2400" b="1">
                <a:solidFill>
                  <a:schemeClr val="bg2"/>
                </a:solidFill>
              </a:rPr>
              <a:t>  </a:t>
            </a:r>
            <a:r>
              <a:rPr lang="zh-CN" altLang="en-US" sz="2800" b="1">
                <a:solidFill>
                  <a:schemeClr val="bg2"/>
                </a:solidFill>
              </a:rPr>
              <a:t>设关系</a:t>
            </a:r>
            <a:r>
              <a:rPr lang="en-US" altLang="zh-CN" sz="2800" b="1">
                <a:solidFill>
                  <a:schemeClr val="bg2"/>
                </a:solidFill>
              </a:rPr>
              <a:t>R</a:t>
            </a:r>
            <a:r>
              <a:rPr lang="zh-CN" altLang="en-US" sz="2800" b="1">
                <a:solidFill>
                  <a:schemeClr val="bg2"/>
                </a:solidFill>
              </a:rPr>
              <a:t>和</a:t>
            </a:r>
            <a:r>
              <a:rPr lang="en-US" altLang="zh-CN" sz="2800" b="1">
                <a:solidFill>
                  <a:schemeClr val="bg2"/>
                </a:solidFill>
              </a:rPr>
              <a:t>S</a:t>
            </a:r>
            <a:r>
              <a:rPr lang="zh-CN" altLang="en-US" sz="2800" b="1">
                <a:solidFill>
                  <a:schemeClr val="bg2"/>
                </a:solidFill>
              </a:rPr>
              <a:t>的元数分别为</a:t>
            </a:r>
            <a:r>
              <a:rPr lang="en-US" altLang="zh-CN" sz="2800" b="1">
                <a:solidFill>
                  <a:schemeClr val="bg2"/>
                </a:solidFill>
              </a:rPr>
              <a:t>:r</a:t>
            </a:r>
            <a:r>
              <a:rPr lang="zh-CN" altLang="en-US" sz="2800" b="1">
                <a:solidFill>
                  <a:schemeClr val="bg2"/>
                </a:solidFill>
              </a:rPr>
              <a:t>、</a:t>
            </a:r>
            <a:r>
              <a:rPr lang="en-US" altLang="zh-CN" sz="2800" b="1">
                <a:solidFill>
                  <a:schemeClr val="bg2"/>
                </a:solidFill>
              </a:rPr>
              <a:t>s</a:t>
            </a:r>
            <a:r>
              <a:rPr lang="zh-CN" altLang="en-US" sz="2800" b="1">
                <a:solidFill>
                  <a:schemeClr val="bg2"/>
                </a:solidFill>
              </a:rPr>
              <a:t>（</a:t>
            </a:r>
            <a:r>
              <a:rPr lang="en-US" altLang="zh-CN" sz="2800" b="1">
                <a:solidFill>
                  <a:schemeClr val="bg2"/>
                </a:solidFill>
              </a:rPr>
              <a:t>r&gt;s&gt;0</a:t>
            </a:r>
            <a:r>
              <a:rPr lang="zh-CN" altLang="en-US" sz="2800" b="1">
                <a:solidFill>
                  <a:schemeClr val="bg2"/>
                </a:solidFill>
              </a:rPr>
              <a:t>），</a:t>
            </a:r>
          </a:p>
          <a:p>
            <a:pPr eaLnBrk="0" hangingPunct="0">
              <a:lnSpc>
                <a:spcPct val="150000"/>
              </a:lnSpc>
            </a:pPr>
            <a:r>
              <a:rPr lang="zh-CN" altLang="en-US" sz="2800" b="1">
                <a:solidFill>
                  <a:schemeClr val="bg2"/>
                </a:solidFill>
              </a:rPr>
              <a:t>  </a:t>
            </a:r>
            <a:r>
              <a:rPr lang="en-US" altLang="zh-CN" sz="2800" b="1">
                <a:solidFill>
                  <a:srgbClr val="660033"/>
                </a:solidFill>
              </a:rPr>
              <a:t>R÷S:</a:t>
            </a:r>
            <a:r>
              <a:rPr lang="en-US" altLang="zh-CN" sz="2800" b="1">
                <a:solidFill>
                  <a:schemeClr val="bg2"/>
                </a:solidFill>
              </a:rPr>
              <a:t>  </a:t>
            </a:r>
            <a:r>
              <a:rPr lang="zh-CN" altLang="en-US" sz="2800" b="1">
                <a:solidFill>
                  <a:schemeClr val="bg2"/>
                </a:solidFill>
              </a:rPr>
              <a:t>是一个（</a:t>
            </a:r>
            <a:r>
              <a:rPr lang="en-US" altLang="zh-CN" sz="2800" b="1">
                <a:solidFill>
                  <a:schemeClr val="bg2"/>
                </a:solidFill>
              </a:rPr>
              <a:t>r-s</a:t>
            </a:r>
            <a:r>
              <a:rPr lang="zh-CN" altLang="en-US" sz="2800" b="1">
                <a:solidFill>
                  <a:schemeClr val="bg2"/>
                </a:solidFill>
              </a:rPr>
              <a:t>）元的元组的集合，</a:t>
            </a:r>
          </a:p>
          <a:p>
            <a:pPr eaLnBrk="0" hangingPunct="0">
              <a:lnSpc>
                <a:spcPct val="150000"/>
              </a:lnSpc>
            </a:pPr>
            <a:r>
              <a:rPr lang="zh-CN" altLang="en-US" sz="2800" b="1">
                <a:solidFill>
                  <a:schemeClr val="bg2"/>
                </a:solidFill>
              </a:rPr>
              <a:t>         是满足下列条件的最大关系：</a:t>
            </a:r>
          </a:p>
          <a:p>
            <a:pPr eaLnBrk="0" hangingPunct="0">
              <a:lnSpc>
                <a:spcPct val="150000"/>
              </a:lnSpc>
            </a:pPr>
            <a:r>
              <a:rPr lang="zh-CN" altLang="en-US" sz="2800" b="1">
                <a:solidFill>
                  <a:schemeClr val="bg2"/>
                </a:solidFill>
              </a:rPr>
              <a:t>            其中每个元组</a:t>
            </a:r>
            <a:r>
              <a:rPr lang="en-US" altLang="zh-CN" sz="2800" b="1">
                <a:solidFill>
                  <a:schemeClr val="bg2"/>
                </a:solidFill>
              </a:rPr>
              <a:t>t</a:t>
            </a:r>
            <a:r>
              <a:rPr lang="zh-CN" altLang="en-US" sz="2800" b="1">
                <a:solidFill>
                  <a:schemeClr val="bg2"/>
                </a:solidFill>
              </a:rPr>
              <a:t>与</a:t>
            </a:r>
            <a:r>
              <a:rPr lang="en-US" altLang="zh-CN" sz="2800" b="1">
                <a:solidFill>
                  <a:schemeClr val="bg2"/>
                </a:solidFill>
              </a:rPr>
              <a:t>S</a:t>
            </a:r>
            <a:r>
              <a:rPr lang="zh-CN" altLang="en-US" sz="2800" b="1">
                <a:solidFill>
                  <a:schemeClr val="bg2"/>
                </a:solidFill>
              </a:rPr>
              <a:t>中每个元组</a:t>
            </a:r>
            <a:r>
              <a:rPr lang="en-US" altLang="zh-CN" sz="2800" b="1">
                <a:solidFill>
                  <a:schemeClr val="bg2"/>
                </a:solidFill>
              </a:rPr>
              <a:t>u</a:t>
            </a:r>
            <a:r>
              <a:rPr lang="zh-CN" altLang="en-US" sz="2800" b="1">
                <a:solidFill>
                  <a:schemeClr val="bg2"/>
                </a:solidFill>
              </a:rPr>
              <a:t>组成的</a:t>
            </a:r>
          </a:p>
          <a:p>
            <a:pPr eaLnBrk="0" hangingPunct="0">
              <a:lnSpc>
                <a:spcPct val="150000"/>
              </a:lnSpc>
            </a:pPr>
            <a:r>
              <a:rPr lang="zh-CN" altLang="en-US" sz="2800" b="1">
                <a:solidFill>
                  <a:schemeClr val="bg2"/>
                </a:solidFill>
              </a:rPr>
              <a:t>         新元组</a:t>
            </a:r>
            <a:r>
              <a:rPr lang="en-US" altLang="zh-CN" sz="2800" b="1">
                <a:solidFill>
                  <a:schemeClr val="bg2"/>
                </a:solidFill>
              </a:rPr>
              <a:t>&lt;t,u&gt;</a:t>
            </a:r>
            <a:r>
              <a:rPr lang="zh-CN" altLang="en-US" sz="2800" b="1">
                <a:solidFill>
                  <a:schemeClr val="bg2"/>
                </a:solidFill>
              </a:rPr>
              <a:t>必在关系</a:t>
            </a:r>
            <a:r>
              <a:rPr lang="en-US" altLang="zh-CN" sz="2800" b="1">
                <a:solidFill>
                  <a:schemeClr val="bg2"/>
                </a:solidFill>
              </a:rPr>
              <a:t>R</a:t>
            </a:r>
            <a:r>
              <a:rPr lang="zh-CN" altLang="en-US" sz="2800" b="1">
                <a:solidFill>
                  <a:schemeClr val="bg2"/>
                </a:solidFill>
              </a:rPr>
              <a:t>中。</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ChangeArrowheads="1"/>
          </p:cNvSpPr>
          <p:nvPr/>
        </p:nvSpPr>
        <p:spPr bwMode="auto">
          <a:xfrm>
            <a:off x="0" y="333375"/>
            <a:ext cx="9144000" cy="56769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800" b="1" dirty="0">
                <a:solidFill>
                  <a:srgbClr val="660033"/>
                </a:solidFill>
                <a:cs typeface="Times New Roman" pitchFamily="18" charset="0"/>
              </a:rPr>
              <a:t>  </a:t>
            </a:r>
            <a:r>
              <a:rPr lang="en-US" altLang="zh-CN" sz="3600" b="1" dirty="0">
                <a:solidFill>
                  <a:srgbClr val="660033"/>
                </a:solidFill>
                <a:cs typeface="Times New Roman" pitchFamily="18" charset="0"/>
              </a:rPr>
              <a:t>R÷S</a:t>
            </a:r>
            <a:r>
              <a:rPr lang="zh-CN" altLang="en-US" sz="3600" b="1" dirty="0">
                <a:solidFill>
                  <a:srgbClr val="660033"/>
                </a:solidFill>
                <a:cs typeface="Times New Roman" pitchFamily="18" charset="0"/>
              </a:rPr>
              <a:t>的具体计算过程如下：</a:t>
            </a:r>
            <a:r>
              <a:rPr lang="zh-CN" altLang="en-US" sz="3600" b="1" dirty="0">
                <a:solidFill>
                  <a:schemeClr val="bg2"/>
                </a:solidFill>
              </a:rPr>
              <a:t> </a:t>
            </a:r>
          </a:p>
          <a:p>
            <a:pPr eaLnBrk="0" hangingPunct="0">
              <a:lnSpc>
                <a:spcPct val="150000"/>
              </a:lnSpc>
            </a:pPr>
            <a:r>
              <a:rPr lang="zh-CN" altLang="en-US" sz="2800" dirty="0">
                <a:solidFill>
                  <a:schemeClr val="bg2"/>
                </a:solidFill>
              </a:rPr>
              <a:t>  </a:t>
            </a:r>
            <a:r>
              <a:rPr lang="zh-CN" altLang="en-US" sz="3200" b="1" dirty="0">
                <a:solidFill>
                  <a:schemeClr val="bg2"/>
                </a:solidFill>
              </a:rPr>
              <a:t>① </a:t>
            </a:r>
            <a:r>
              <a:rPr lang="en-US" altLang="zh-CN" sz="3200" b="1" dirty="0">
                <a:solidFill>
                  <a:schemeClr val="bg2"/>
                </a:solidFill>
              </a:rPr>
              <a:t>T = π</a:t>
            </a:r>
            <a:r>
              <a:rPr lang="en-US" altLang="zh-CN" sz="4000" baseline="-25000" dirty="0">
                <a:solidFill>
                  <a:schemeClr val="bg2"/>
                </a:solidFill>
                <a:latin typeface="Times New Roman" pitchFamily="18" charset="0"/>
              </a:rPr>
              <a:t>1</a:t>
            </a:r>
            <a:r>
              <a:rPr lang="zh-CN" altLang="en-US" sz="4000" baseline="-25000" dirty="0">
                <a:solidFill>
                  <a:schemeClr val="bg2"/>
                </a:solidFill>
                <a:latin typeface="Times New Roman" pitchFamily="18" charset="0"/>
              </a:rPr>
              <a:t>，</a:t>
            </a:r>
            <a:r>
              <a:rPr lang="en-US" altLang="zh-CN" sz="4000" baseline="-25000" dirty="0">
                <a:solidFill>
                  <a:schemeClr val="bg2"/>
                </a:solidFill>
                <a:latin typeface="Times New Roman" pitchFamily="18" charset="0"/>
              </a:rPr>
              <a:t>2</a:t>
            </a:r>
            <a:r>
              <a:rPr lang="zh-CN" altLang="en-US" sz="4000" baseline="-25000" dirty="0">
                <a:solidFill>
                  <a:schemeClr val="bg2"/>
                </a:solidFill>
                <a:latin typeface="Times New Roman" pitchFamily="18" charset="0"/>
              </a:rPr>
              <a:t>，</a:t>
            </a:r>
            <a:r>
              <a:rPr lang="en-US" altLang="zh-CN" sz="4000" baseline="-25000" dirty="0">
                <a:solidFill>
                  <a:schemeClr val="bg2"/>
                </a:solidFill>
                <a:latin typeface="Times New Roman" pitchFamily="18" charset="0"/>
              </a:rPr>
              <a:t>…</a:t>
            </a:r>
            <a:r>
              <a:rPr lang="zh-CN" altLang="en-US" sz="4000" baseline="-25000" dirty="0">
                <a:solidFill>
                  <a:schemeClr val="bg2"/>
                </a:solidFill>
                <a:latin typeface="Times New Roman" pitchFamily="18" charset="0"/>
              </a:rPr>
              <a:t>，</a:t>
            </a:r>
            <a:r>
              <a:rPr lang="en-US" altLang="zh-CN" sz="4000" baseline="-25000" dirty="0">
                <a:solidFill>
                  <a:schemeClr val="bg2"/>
                </a:solidFill>
                <a:latin typeface="Times New Roman" pitchFamily="18" charset="0"/>
              </a:rPr>
              <a:t>r-s</a:t>
            </a:r>
            <a:r>
              <a:rPr lang="zh-CN" altLang="en-US" sz="3200" b="1" dirty="0">
                <a:solidFill>
                  <a:schemeClr val="bg2"/>
                </a:solidFill>
              </a:rPr>
              <a:t>（</a:t>
            </a:r>
            <a:r>
              <a:rPr lang="en-US" altLang="zh-CN" sz="3200" b="1" dirty="0">
                <a:solidFill>
                  <a:schemeClr val="bg2"/>
                </a:solidFill>
              </a:rPr>
              <a:t>R</a:t>
            </a:r>
            <a:r>
              <a:rPr lang="zh-CN" altLang="en-US" sz="3200" b="1" dirty="0">
                <a:solidFill>
                  <a:schemeClr val="bg2"/>
                </a:solidFill>
              </a:rPr>
              <a:t>）</a:t>
            </a:r>
          </a:p>
          <a:p>
            <a:pPr eaLnBrk="0" hangingPunct="0">
              <a:lnSpc>
                <a:spcPct val="150000"/>
              </a:lnSpc>
            </a:pPr>
            <a:r>
              <a:rPr lang="zh-CN" altLang="en-US" sz="3200" b="1" dirty="0">
                <a:solidFill>
                  <a:schemeClr val="bg2"/>
                </a:solidFill>
              </a:rPr>
              <a:t>  ② </a:t>
            </a:r>
            <a:r>
              <a:rPr lang="en-US" altLang="zh-CN" sz="3200" b="1" dirty="0">
                <a:solidFill>
                  <a:schemeClr val="bg2"/>
                </a:solidFill>
              </a:rPr>
              <a:t>W = (T×S)-R</a:t>
            </a:r>
          </a:p>
          <a:p>
            <a:pPr eaLnBrk="0" hangingPunct="0">
              <a:lnSpc>
                <a:spcPct val="150000"/>
              </a:lnSpc>
            </a:pPr>
            <a:r>
              <a:rPr lang="en-US" altLang="zh-CN" sz="3200" b="1" dirty="0">
                <a:solidFill>
                  <a:schemeClr val="bg2"/>
                </a:solidFill>
              </a:rPr>
              <a:t>  ③ V = π</a:t>
            </a:r>
            <a:r>
              <a:rPr lang="en-US" altLang="zh-CN" sz="4000" baseline="-25000" dirty="0">
                <a:solidFill>
                  <a:schemeClr val="bg2"/>
                </a:solidFill>
                <a:latin typeface="Times New Roman" pitchFamily="18" charset="0"/>
              </a:rPr>
              <a:t>1</a:t>
            </a:r>
            <a:r>
              <a:rPr lang="zh-CN" altLang="en-US" sz="4000" baseline="-25000" dirty="0">
                <a:solidFill>
                  <a:schemeClr val="bg2"/>
                </a:solidFill>
                <a:latin typeface="Times New Roman" pitchFamily="18" charset="0"/>
              </a:rPr>
              <a:t>，</a:t>
            </a:r>
            <a:r>
              <a:rPr lang="en-US" altLang="zh-CN" sz="4000" baseline="-25000" dirty="0">
                <a:solidFill>
                  <a:schemeClr val="bg2"/>
                </a:solidFill>
                <a:latin typeface="Times New Roman" pitchFamily="18" charset="0"/>
              </a:rPr>
              <a:t>2</a:t>
            </a:r>
            <a:r>
              <a:rPr lang="zh-CN" altLang="en-US" sz="4000" baseline="-25000" dirty="0">
                <a:solidFill>
                  <a:schemeClr val="bg2"/>
                </a:solidFill>
                <a:latin typeface="Times New Roman" pitchFamily="18" charset="0"/>
              </a:rPr>
              <a:t>，</a:t>
            </a:r>
            <a:r>
              <a:rPr lang="en-US" altLang="zh-CN" sz="4000" baseline="-25000" dirty="0">
                <a:solidFill>
                  <a:schemeClr val="bg2"/>
                </a:solidFill>
                <a:latin typeface="Times New Roman" pitchFamily="18" charset="0"/>
              </a:rPr>
              <a:t>…</a:t>
            </a:r>
            <a:r>
              <a:rPr lang="zh-CN" altLang="en-US" sz="4000" baseline="-25000" dirty="0">
                <a:solidFill>
                  <a:schemeClr val="bg2"/>
                </a:solidFill>
                <a:latin typeface="Times New Roman" pitchFamily="18" charset="0"/>
              </a:rPr>
              <a:t>，</a:t>
            </a:r>
            <a:r>
              <a:rPr lang="en-US" altLang="zh-CN" sz="4000" baseline="-25000" dirty="0">
                <a:solidFill>
                  <a:schemeClr val="bg2"/>
                </a:solidFill>
                <a:latin typeface="Times New Roman" pitchFamily="18" charset="0"/>
              </a:rPr>
              <a:t>r-s</a:t>
            </a:r>
            <a:r>
              <a:rPr lang="zh-CN" altLang="en-US" sz="3200" b="1" dirty="0">
                <a:solidFill>
                  <a:schemeClr val="bg2"/>
                </a:solidFill>
              </a:rPr>
              <a:t>（</a:t>
            </a:r>
            <a:r>
              <a:rPr lang="en-US" altLang="zh-CN" sz="3200" b="1" dirty="0">
                <a:solidFill>
                  <a:schemeClr val="bg2"/>
                </a:solidFill>
              </a:rPr>
              <a:t>W</a:t>
            </a:r>
            <a:r>
              <a:rPr lang="zh-CN" altLang="en-US" sz="3200" b="1" dirty="0">
                <a:solidFill>
                  <a:schemeClr val="bg2"/>
                </a:solidFill>
              </a:rPr>
              <a:t>）</a:t>
            </a:r>
          </a:p>
          <a:p>
            <a:pPr eaLnBrk="0" hangingPunct="0">
              <a:lnSpc>
                <a:spcPct val="150000"/>
              </a:lnSpc>
            </a:pPr>
            <a:r>
              <a:rPr lang="zh-CN" altLang="en-US" sz="3200" b="1" dirty="0">
                <a:solidFill>
                  <a:schemeClr val="bg2"/>
                </a:solidFill>
              </a:rPr>
              <a:t>  ④ </a:t>
            </a:r>
            <a:r>
              <a:rPr lang="en-US" altLang="zh-CN" sz="3200" b="1" dirty="0">
                <a:solidFill>
                  <a:schemeClr val="bg2"/>
                </a:solidFill>
              </a:rPr>
              <a:t>R÷S = T </a:t>
            </a:r>
            <a:r>
              <a:rPr lang="en-US" altLang="zh-CN" sz="3200" b="1" dirty="0">
                <a:solidFill>
                  <a:schemeClr val="bg2"/>
                </a:solidFill>
                <a:latin typeface="Times New Roman"/>
              </a:rPr>
              <a:t>–</a:t>
            </a:r>
            <a:r>
              <a:rPr lang="en-US" altLang="zh-CN" sz="3200" b="1" dirty="0">
                <a:solidFill>
                  <a:schemeClr val="bg2"/>
                </a:solidFill>
              </a:rPr>
              <a:t> V</a:t>
            </a:r>
          </a:p>
          <a:p>
            <a:pPr eaLnBrk="0" hangingPunct="0">
              <a:lnSpc>
                <a:spcPct val="150000"/>
              </a:lnSpc>
            </a:pPr>
            <a:r>
              <a:rPr lang="en-US" altLang="zh-CN" sz="2800" b="1" dirty="0">
                <a:solidFill>
                  <a:schemeClr val="bg2"/>
                </a:solidFill>
              </a:rPr>
              <a:t>   R÷S≡π</a:t>
            </a:r>
            <a:r>
              <a:rPr lang="en-US" altLang="zh-CN" sz="3200" b="1" baseline="-25000" dirty="0">
                <a:solidFill>
                  <a:schemeClr val="bg2"/>
                </a:solidFill>
                <a:latin typeface="Times New Roman" pitchFamily="18" charset="0"/>
              </a:rPr>
              <a:t>1,2,…,r-s</a:t>
            </a:r>
            <a:r>
              <a:rPr lang="en-US" altLang="zh-CN" sz="2800" b="1" dirty="0">
                <a:solidFill>
                  <a:schemeClr val="bg2"/>
                </a:solidFill>
              </a:rPr>
              <a:t>(R)-π</a:t>
            </a:r>
            <a:r>
              <a:rPr lang="en-US" altLang="zh-CN" sz="3200" b="1" baseline="-25000" dirty="0">
                <a:solidFill>
                  <a:schemeClr val="bg2"/>
                </a:solidFill>
                <a:latin typeface="Times New Roman" pitchFamily="18" charset="0"/>
              </a:rPr>
              <a:t>1,2,…,r-s</a:t>
            </a:r>
            <a:r>
              <a:rPr lang="en-US" altLang="zh-CN" sz="2800" b="1" dirty="0">
                <a:solidFill>
                  <a:schemeClr val="bg2"/>
                </a:solidFill>
              </a:rPr>
              <a:t>((π</a:t>
            </a:r>
            <a:r>
              <a:rPr lang="en-US" altLang="zh-CN" sz="3200" b="1" baseline="-25000" dirty="0">
                <a:solidFill>
                  <a:schemeClr val="bg2"/>
                </a:solidFill>
                <a:latin typeface="Times New Roman" pitchFamily="18" charset="0"/>
              </a:rPr>
              <a:t>1,2,…,r-s</a:t>
            </a:r>
            <a:r>
              <a:rPr lang="en-US" altLang="zh-CN" sz="2800" b="1" dirty="0">
                <a:solidFill>
                  <a:schemeClr val="bg2"/>
                </a:solidFill>
              </a:rPr>
              <a:t>(R)×S)-R)</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FDBE2588-2221-884E-87E2-2A6F51543A7D}"/>
              </a:ext>
            </a:extLst>
          </p:cNvPr>
          <p:cNvGraphicFramePr>
            <a:graphicFrameLocks noGrp="1"/>
          </p:cNvGraphicFramePr>
          <p:nvPr>
            <p:extLst>
              <p:ext uri="{D42A27DB-BD31-4B8C-83A1-F6EECF244321}">
                <p14:modId xmlns:p14="http://schemas.microsoft.com/office/powerpoint/2010/main" val="2051110467"/>
              </p:ext>
            </p:extLst>
          </p:nvPr>
        </p:nvGraphicFramePr>
        <p:xfrm>
          <a:off x="1619672" y="711972"/>
          <a:ext cx="5904656" cy="365760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2861137485"/>
                    </a:ext>
                  </a:extLst>
                </a:gridCol>
                <a:gridCol w="1296144">
                  <a:extLst>
                    <a:ext uri="{9D8B030D-6E8A-4147-A177-3AD203B41FA5}">
                      <a16:colId xmlns:a16="http://schemas.microsoft.com/office/drawing/2014/main" val="2251833560"/>
                    </a:ext>
                  </a:extLst>
                </a:gridCol>
                <a:gridCol w="1329715">
                  <a:extLst>
                    <a:ext uri="{9D8B030D-6E8A-4147-A177-3AD203B41FA5}">
                      <a16:colId xmlns:a16="http://schemas.microsoft.com/office/drawing/2014/main" val="2647707742"/>
                    </a:ext>
                  </a:extLst>
                </a:gridCol>
                <a:gridCol w="1118557">
                  <a:extLst>
                    <a:ext uri="{9D8B030D-6E8A-4147-A177-3AD203B41FA5}">
                      <a16:colId xmlns:a16="http://schemas.microsoft.com/office/drawing/2014/main" val="210979802"/>
                    </a:ext>
                  </a:extLst>
                </a:gridCol>
              </a:tblGrid>
              <a:tr h="295233">
                <a:tc>
                  <a:txBody>
                    <a:bodyPr/>
                    <a:lstStyle/>
                    <a:p>
                      <a:pPr algn="ctr"/>
                      <a:r>
                        <a:rPr lang="en-US" altLang="zh-CN" sz="1800" dirty="0"/>
                        <a:t>SNAME</a:t>
                      </a:r>
                      <a:endParaRPr lang="zh-CN" altLang="en-US" sz="1800" dirty="0"/>
                    </a:p>
                  </a:txBody>
                  <a:tcPr/>
                </a:tc>
                <a:tc>
                  <a:txBody>
                    <a:bodyPr/>
                    <a:lstStyle/>
                    <a:p>
                      <a:pPr algn="ctr"/>
                      <a:r>
                        <a:rPr lang="en-US" altLang="zh-CN" sz="1800" dirty="0"/>
                        <a:t>SEX</a:t>
                      </a:r>
                      <a:endParaRPr lang="zh-CN" altLang="en-US" sz="1800" dirty="0"/>
                    </a:p>
                  </a:txBody>
                  <a:tcPr/>
                </a:tc>
                <a:tc>
                  <a:txBody>
                    <a:bodyPr/>
                    <a:lstStyle/>
                    <a:p>
                      <a:pPr algn="ctr"/>
                      <a:r>
                        <a:rPr lang="en-US" altLang="zh-CN" sz="1800" dirty="0"/>
                        <a:t>CNAME</a:t>
                      </a:r>
                      <a:endParaRPr lang="zh-CN" altLang="en-US" sz="1800" dirty="0"/>
                    </a:p>
                  </a:txBody>
                  <a:tcPr/>
                </a:tc>
                <a:tc>
                  <a:txBody>
                    <a:bodyPr/>
                    <a:lstStyle/>
                    <a:p>
                      <a:pPr algn="ctr"/>
                      <a:r>
                        <a:rPr lang="en-US" altLang="zh-CN" sz="1800" dirty="0"/>
                        <a:t>CDEPT</a:t>
                      </a:r>
                      <a:endParaRPr lang="zh-CN" altLang="en-US" sz="1800" dirty="0"/>
                    </a:p>
                  </a:txBody>
                  <a:tcPr/>
                </a:tc>
                <a:tc>
                  <a:txBody>
                    <a:bodyPr/>
                    <a:lstStyle/>
                    <a:p>
                      <a:pPr algn="ctr"/>
                      <a:r>
                        <a:rPr lang="en-US" altLang="zh-CN" sz="1800" dirty="0"/>
                        <a:t>GRADE</a:t>
                      </a:r>
                      <a:endParaRPr lang="zh-CN" altLang="en-US" sz="1800" dirty="0"/>
                    </a:p>
                  </a:txBody>
                  <a:tcPr/>
                </a:tc>
                <a:extLst>
                  <a:ext uri="{0D108BD9-81ED-4DB2-BD59-A6C34878D82A}">
                    <a16:rowId xmlns:a16="http://schemas.microsoft.com/office/drawing/2014/main" val="3145990871"/>
                  </a:ext>
                </a:extLst>
              </a:tr>
              <a:tr h="295233">
                <a:tc>
                  <a:txBody>
                    <a:bodyPr/>
                    <a:lstStyle/>
                    <a:p>
                      <a:pPr algn="ctr"/>
                      <a:r>
                        <a:rPr lang="zh-CN" altLang="en-US" sz="1800" dirty="0"/>
                        <a:t>李志鸣</a:t>
                      </a: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优</a:t>
                      </a:r>
                    </a:p>
                  </a:txBody>
                  <a:tcPr/>
                </a:tc>
                <a:extLst>
                  <a:ext uri="{0D108BD9-81ED-4DB2-BD59-A6C34878D82A}">
                    <a16:rowId xmlns:a16="http://schemas.microsoft.com/office/drawing/2014/main" val="3713937122"/>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离散数学</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良</a:t>
                      </a:r>
                    </a:p>
                  </a:txBody>
                  <a:tcPr/>
                </a:tc>
                <a:extLst>
                  <a:ext uri="{0D108BD9-81ED-4DB2-BD59-A6C34878D82A}">
                    <a16:rowId xmlns:a16="http://schemas.microsoft.com/office/drawing/2014/main" val="841821175"/>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优</a:t>
                      </a:r>
                    </a:p>
                  </a:txBody>
                  <a:tcPr/>
                </a:tc>
                <a:extLst>
                  <a:ext uri="{0D108BD9-81ED-4DB2-BD59-A6C34878D82A}">
                    <a16:rowId xmlns:a16="http://schemas.microsoft.com/office/drawing/2014/main" val="1150971900"/>
                  </a:ext>
                </a:extLst>
              </a:tr>
              <a:tr h="295233">
                <a:tc>
                  <a:txBody>
                    <a:bodyPr/>
                    <a:lstStyle/>
                    <a:p>
                      <a:pPr algn="ctr"/>
                      <a:r>
                        <a:rPr lang="zh-CN" altLang="en-US" sz="1800" dirty="0"/>
                        <a:t>王文晴</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优</a:t>
                      </a:r>
                    </a:p>
                  </a:txBody>
                  <a:tcPr/>
                </a:tc>
                <a:extLst>
                  <a:ext uri="{0D108BD9-81ED-4DB2-BD59-A6C34878D82A}">
                    <a16:rowId xmlns:a16="http://schemas.microsoft.com/office/drawing/2014/main" val="3770924754"/>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良</a:t>
                      </a:r>
                    </a:p>
                  </a:txBody>
                  <a:tcPr/>
                </a:tc>
                <a:extLst>
                  <a:ext uri="{0D108BD9-81ED-4DB2-BD59-A6C34878D82A}">
                    <a16:rowId xmlns:a16="http://schemas.microsoft.com/office/drawing/2014/main" val="2604247982"/>
                  </a:ext>
                </a:extLst>
              </a:tr>
              <a:tr h="295233">
                <a:tc>
                  <a:txBody>
                    <a:bodyPr/>
                    <a:lstStyle/>
                    <a:p>
                      <a:pPr algn="ctr"/>
                      <a:r>
                        <a:rPr lang="zh-CN" altLang="en-US" sz="1800" dirty="0"/>
                        <a:t>王文晴</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优</a:t>
                      </a:r>
                    </a:p>
                  </a:txBody>
                  <a:tcPr/>
                </a:tc>
                <a:extLst>
                  <a:ext uri="{0D108BD9-81ED-4DB2-BD59-A6C34878D82A}">
                    <a16:rowId xmlns:a16="http://schemas.microsoft.com/office/drawing/2014/main" val="1236409575"/>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数据结构</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2231099752"/>
                  </a:ext>
                </a:extLst>
              </a:tr>
              <a:tr h="2952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李志鸣</a:t>
                      </a: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优</a:t>
                      </a:r>
                    </a:p>
                  </a:txBody>
                  <a:tcPr/>
                </a:tc>
                <a:extLst>
                  <a:ext uri="{0D108BD9-81ED-4DB2-BD59-A6C34878D82A}">
                    <a16:rowId xmlns:a16="http://schemas.microsoft.com/office/drawing/2014/main" val="112422980"/>
                  </a:ext>
                </a:extLst>
              </a:tr>
              <a:tr h="2952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李志鸣</a:t>
                      </a: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良</a:t>
                      </a:r>
                    </a:p>
                  </a:txBody>
                  <a:tcPr/>
                </a:tc>
                <a:extLst>
                  <a:ext uri="{0D108BD9-81ED-4DB2-BD59-A6C34878D82A}">
                    <a16:rowId xmlns:a16="http://schemas.microsoft.com/office/drawing/2014/main" val="1909949203"/>
                  </a:ext>
                </a:extLst>
              </a:tr>
            </a:tbl>
          </a:graphicData>
        </a:graphic>
      </p:graphicFrame>
      <p:sp>
        <p:nvSpPr>
          <p:cNvPr id="3" name="文本框 2">
            <a:extLst>
              <a:ext uri="{FF2B5EF4-FFF2-40B4-BE49-F238E27FC236}">
                <a16:creationId xmlns:a16="http://schemas.microsoft.com/office/drawing/2014/main" id="{F9E78573-9990-7343-BC7B-58DADB195B38}"/>
              </a:ext>
            </a:extLst>
          </p:cNvPr>
          <p:cNvSpPr txBox="1"/>
          <p:nvPr/>
        </p:nvSpPr>
        <p:spPr>
          <a:xfrm>
            <a:off x="3258656" y="343397"/>
            <a:ext cx="2382383" cy="338554"/>
          </a:xfrm>
          <a:prstGeom prst="rect">
            <a:avLst/>
          </a:prstGeom>
          <a:noFill/>
        </p:spPr>
        <p:txBody>
          <a:bodyPr wrap="none" rtlCol="0">
            <a:spAutoFit/>
          </a:bodyPr>
          <a:lstStyle/>
          <a:p>
            <a:r>
              <a:rPr kumimoji="1" lang="en-US" altLang="zh-CN" sz="2000" b="1" dirty="0">
                <a:solidFill>
                  <a:srgbClr val="FF0000"/>
                </a:solidFill>
              </a:rPr>
              <a:t>R: </a:t>
            </a:r>
            <a:r>
              <a:rPr kumimoji="1" lang="zh-CN" altLang="en-US" sz="2000" b="1" u="sng" dirty="0">
                <a:solidFill>
                  <a:schemeClr val="bg1"/>
                </a:solidFill>
              </a:rPr>
              <a:t>学</a:t>
            </a:r>
            <a:r>
              <a:rPr lang="zh-CN" altLang="en-US" sz="2000" b="1" u="sng" dirty="0">
                <a:solidFill>
                  <a:schemeClr val="bg1"/>
                </a:solidFill>
              </a:rPr>
              <a:t>生学习</a:t>
            </a:r>
            <a:r>
              <a:rPr kumimoji="1" lang="zh-CN" altLang="en-US" sz="2000" b="1" u="sng" dirty="0">
                <a:solidFill>
                  <a:schemeClr val="bg1"/>
                </a:solidFill>
              </a:rPr>
              <a:t>关系</a:t>
            </a:r>
            <a:r>
              <a:rPr kumimoji="1" lang="en-US" altLang="zh-CN" sz="2000" b="1" u="sng" dirty="0">
                <a:solidFill>
                  <a:schemeClr val="bg1"/>
                </a:solidFill>
              </a:rPr>
              <a:t>SC</a:t>
            </a:r>
            <a:endParaRPr kumimoji="1" lang="zh-CN" altLang="en-US" sz="2000" b="1" u="sng" dirty="0">
              <a:solidFill>
                <a:schemeClr val="bg1"/>
              </a:solidFill>
            </a:endParaRPr>
          </a:p>
        </p:txBody>
      </p:sp>
      <p:graphicFrame>
        <p:nvGraphicFramePr>
          <p:cNvPr id="4" name="表格 2">
            <a:extLst>
              <a:ext uri="{FF2B5EF4-FFF2-40B4-BE49-F238E27FC236}">
                <a16:creationId xmlns:a16="http://schemas.microsoft.com/office/drawing/2014/main" id="{CA772517-9B30-3E49-8633-05FE79483785}"/>
              </a:ext>
            </a:extLst>
          </p:cNvPr>
          <p:cNvGraphicFramePr>
            <a:graphicFrameLocks noGrp="1"/>
          </p:cNvGraphicFramePr>
          <p:nvPr>
            <p:extLst>
              <p:ext uri="{D42A27DB-BD31-4B8C-83A1-F6EECF244321}">
                <p14:modId xmlns:p14="http://schemas.microsoft.com/office/powerpoint/2010/main" val="816929054"/>
              </p:ext>
            </p:extLst>
          </p:nvPr>
        </p:nvGraphicFramePr>
        <p:xfrm>
          <a:off x="1663739" y="5124792"/>
          <a:ext cx="2232248" cy="111252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954880262"/>
                    </a:ext>
                  </a:extLst>
                </a:gridCol>
                <a:gridCol w="1152128">
                  <a:extLst>
                    <a:ext uri="{9D8B030D-6E8A-4147-A177-3AD203B41FA5}">
                      <a16:colId xmlns:a16="http://schemas.microsoft.com/office/drawing/2014/main" val="41684705"/>
                    </a:ext>
                  </a:extLst>
                </a:gridCol>
              </a:tblGrid>
              <a:tr h="370840">
                <a:tc>
                  <a:txBody>
                    <a:bodyPr/>
                    <a:lstStyle/>
                    <a:p>
                      <a:pPr algn="ctr"/>
                      <a:r>
                        <a:rPr lang="en-US" altLang="zh-CN" dirty="0"/>
                        <a:t>CNAME</a:t>
                      </a:r>
                      <a:endParaRPr lang="zh-CN" altLang="en-US" dirty="0"/>
                    </a:p>
                  </a:txBody>
                  <a:tcPr/>
                </a:tc>
                <a:tc>
                  <a:txBody>
                    <a:bodyPr/>
                    <a:lstStyle/>
                    <a:p>
                      <a:pPr algn="ctr"/>
                      <a:r>
                        <a:rPr lang="en-US" altLang="zh-CN" sz="1800" dirty="0"/>
                        <a:t>GRADE</a:t>
                      </a:r>
                      <a:endParaRPr lang="zh-CN" altLang="en-US" sz="1800" dirty="0"/>
                    </a:p>
                  </a:txBody>
                  <a:tcPr/>
                </a:tc>
                <a:extLst>
                  <a:ext uri="{0D108BD9-81ED-4DB2-BD59-A6C34878D82A}">
                    <a16:rowId xmlns:a16="http://schemas.microsoft.com/office/drawing/2014/main" val="3145990871"/>
                  </a:ext>
                </a:extLst>
              </a:tr>
              <a:tr h="370840">
                <a:tc>
                  <a:txBody>
                    <a:bodyPr/>
                    <a:lstStyle/>
                    <a:p>
                      <a:pPr algn="ctr"/>
                      <a:r>
                        <a:rPr lang="zh-CN" altLang="en-US" sz="16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优</a:t>
                      </a:r>
                    </a:p>
                  </a:txBody>
                  <a:tcPr/>
                </a:tc>
                <a:extLst>
                  <a:ext uri="{0D108BD9-81ED-4DB2-BD59-A6C34878D82A}">
                    <a16:rowId xmlns:a16="http://schemas.microsoft.com/office/drawing/2014/main" val="3713937122"/>
                  </a:ext>
                </a:extLst>
              </a:tr>
              <a:tr h="370840">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优</a:t>
                      </a:r>
                    </a:p>
                  </a:txBody>
                  <a:tcPr/>
                </a:tc>
                <a:extLst>
                  <a:ext uri="{0D108BD9-81ED-4DB2-BD59-A6C34878D82A}">
                    <a16:rowId xmlns:a16="http://schemas.microsoft.com/office/drawing/2014/main" val="1150971900"/>
                  </a:ext>
                </a:extLst>
              </a:tr>
            </a:tbl>
          </a:graphicData>
        </a:graphic>
      </p:graphicFrame>
      <p:sp>
        <p:nvSpPr>
          <p:cNvPr id="5" name="文本框 4">
            <a:extLst>
              <a:ext uri="{FF2B5EF4-FFF2-40B4-BE49-F238E27FC236}">
                <a16:creationId xmlns:a16="http://schemas.microsoft.com/office/drawing/2014/main" id="{56DE3CB0-78F2-384F-B5C3-477E93752D54}"/>
              </a:ext>
            </a:extLst>
          </p:cNvPr>
          <p:cNvSpPr txBox="1"/>
          <p:nvPr/>
        </p:nvSpPr>
        <p:spPr>
          <a:xfrm>
            <a:off x="1610671" y="4776330"/>
            <a:ext cx="2768707" cy="338554"/>
          </a:xfrm>
          <a:prstGeom prst="rect">
            <a:avLst/>
          </a:prstGeom>
          <a:noFill/>
        </p:spPr>
        <p:txBody>
          <a:bodyPr wrap="none" rtlCol="0">
            <a:spAutoFit/>
          </a:bodyPr>
          <a:lstStyle/>
          <a:p>
            <a:r>
              <a:rPr lang="en-US" altLang="zh-CN" sz="2000" b="1" dirty="0">
                <a:solidFill>
                  <a:srgbClr val="FF0000"/>
                </a:solidFill>
              </a:rPr>
              <a:t>S</a:t>
            </a:r>
            <a:r>
              <a:rPr kumimoji="1" lang="en-US" altLang="zh-CN" sz="2000" b="1" dirty="0">
                <a:solidFill>
                  <a:srgbClr val="FF0000"/>
                </a:solidFill>
              </a:rPr>
              <a:t>:</a:t>
            </a:r>
            <a:r>
              <a:rPr kumimoji="1" lang="zh-CN" altLang="en-US" sz="2000" b="1" u="sng" dirty="0">
                <a:solidFill>
                  <a:schemeClr val="bg1"/>
                </a:solidFill>
              </a:rPr>
              <a:t>课程成绩条件关系</a:t>
            </a:r>
            <a:r>
              <a:rPr kumimoji="1" lang="en-US" altLang="zh-CN" sz="2000" b="1" u="sng" dirty="0">
                <a:solidFill>
                  <a:schemeClr val="bg1"/>
                </a:solidFill>
              </a:rPr>
              <a:t>CG</a:t>
            </a:r>
            <a:endParaRPr kumimoji="1" lang="zh-CN" altLang="en-US" sz="2000" b="1" u="sng" dirty="0">
              <a:solidFill>
                <a:schemeClr val="bg1"/>
              </a:solidFill>
            </a:endParaRPr>
          </a:p>
        </p:txBody>
      </p:sp>
      <p:graphicFrame>
        <p:nvGraphicFramePr>
          <p:cNvPr id="7" name="表格 6">
            <a:extLst>
              <a:ext uri="{FF2B5EF4-FFF2-40B4-BE49-F238E27FC236}">
                <a16:creationId xmlns:a16="http://schemas.microsoft.com/office/drawing/2014/main" id="{CC5523FD-B72B-8048-8017-DC2C84B8D425}"/>
              </a:ext>
            </a:extLst>
          </p:cNvPr>
          <p:cNvGraphicFramePr>
            <a:graphicFrameLocks noGrp="1"/>
          </p:cNvGraphicFramePr>
          <p:nvPr>
            <p:extLst>
              <p:ext uri="{D42A27DB-BD31-4B8C-83A1-F6EECF244321}">
                <p14:modId xmlns:p14="http://schemas.microsoft.com/office/powerpoint/2010/main" val="1509012532"/>
              </p:ext>
            </p:extLst>
          </p:nvPr>
        </p:nvGraphicFramePr>
        <p:xfrm>
          <a:off x="4034373" y="5114884"/>
          <a:ext cx="3489955" cy="109728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487116684"/>
                    </a:ext>
                  </a:extLst>
                </a:gridCol>
                <a:gridCol w="1080120">
                  <a:extLst>
                    <a:ext uri="{9D8B030D-6E8A-4147-A177-3AD203B41FA5}">
                      <a16:colId xmlns:a16="http://schemas.microsoft.com/office/drawing/2014/main" val="4196607081"/>
                    </a:ext>
                  </a:extLst>
                </a:gridCol>
                <a:gridCol w="1329715">
                  <a:extLst>
                    <a:ext uri="{9D8B030D-6E8A-4147-A177-3AD203B41FA5}">
                      <a16:colId xmlns:a16="http://schemas.microsoft.com/office/drawing/2014/main" val="3936008460"/>
                    </a:ext>
                  </a:extLst>
                </a:gridCol>
              </a:tblGrid>
              <a:tr h="295233">
                <a:tc>
                  <a:txBody>
                    <a:bodyPr/>
                    <a:lstStyle/>
                    <a:p>
                      <a:pPr algn="ctr"/>
                      <a:r>
                        <a:rPr lang="en-US" altLang="zh-CN" sz="1800" dirty="0"/>
                        <a:t>SNAME</a:t>
                      </a:r>
                      <a:endParaRPr lang="zh-CN" altLang="en-US" sz="1800" dirty="0"/>
                    </a:p>
                  </a:txBody>
                  <a:tcPr/>
                </a:tc>
                <a:tc>
                  <a:txBody>
                    <a:bodyPr/>
                    <a:lstStyle/>
                    <a:p>
                      <a:pPr algn="ctr"/>
                      <a:r>
                        <a:rPr lang="en-US" altLang="zh-CN" sz="1800" dirty="0"/>
                        <a:t>SEX</a:t>
                      </a:r>
                      <a:endParaRPr lang="zh-CN" altLang="en-US" sz="1800" dirty="0"/>
                    </a:p>
                  </a:txBody>
                  <a:tcPr/>
                </a:tc>
                <a:tc>
                  <a:txBody>
                    <a:bodyPr/>
                    <a:lstStyle/>
                    <a:p>
                      <a:pPr algn="ctr"/>
                      <a:r>
                        <a:rPr lang="en-US" altLang="zh-CN" sz="1800" dirty="0"/>
                        <a:t>CDEPT</a:t>
                      </a:r>
                      <a:endParaRPr lang="zh-CN" altLang="en-US" sz="1800" dirty="0"/>
                    </a:p>
                  </a:txBody>
                  <a:tcPr/>
                </a:tc>
                <a:extLst>
                  <a:ext uri="{0D108BD9-81ED-4DB2-BD59-A6C34878D82A}">
                    <a16:rowId xmlns:a16="http://schemas.microsoft.com/office/drawing/2014/main" val="974439686"/>
                  </a:ext>
                </a:extLst>
              </a:tr>
              <a:tr h="295233">
                <a:tc>
                  <a:txBody>
                    <a:bodyPr/>
                    <a:lstStyle/>
                    <a:p>
                      <a:pPr algn="ctr"/>
                      <a:r>
                        <a:rPr lang="zh-CN" altLang="en-US" sz="1800" dirty="0"/>
                        <a:t>李志鸣</a:t>
                      </a: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2712008495"/>
                  </a:ext>
                </a:extLst>
              </a:tr>
              <a:tr h="295233">
                <a:tc>
                  <a:txBody>
                    <a:bodyPr/>
                    <a:lstStyle/>
                    <a:p>
                      <a:pPr algn="ctr"/>
                      <a:r>
                        <a:rPr lang="zh-CN" altLang="en-US" sz="1800" dirty="0"/>
                        <a:t>王文晴</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1736885724"/>
                  </a:ext>
                </a:extLst>
              </a:tr>
            </a:tbl>
          </a:graphicData>
        </a:graphic>
      </p:graphicFrame>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7782B3C6-D9B7-CF41-8EDA-48324594A398}"/>
                  </a:ext>
                </a:extLst>
              </p:cNvPr>
              <p:cNvSpPr txBox="1"/>
              <p:nvPr/>
            </p:nvSpPr>
            <p:spPr>
              <a:xfrm>
                <a:off x="5421738" y="4776330"/>
                <a:ext cx="993477" cy="338554"/>
              </a:xfrm>
              <a:prstGeom prst="rect">
                <a:avLst/>
              </a:prstGeom>
              <a:noFill/>
            </p:spPr>
            <p:txBody>
              <a:bodyPr wrap="none" rtlCol="0">
                <a:spAutoFit/>
              </a:bodyPr>
              <a:lstStyle/>
              <a:p>
                <a:r>
                  <a:rPr kumimoji="1" lang="en-US" altLang="zh-CN" sz="2000" b="1" u="sng" dirty="0">
                    <a:solidFill>
                      <a:schemeClr val="bg1"/>
                    </a:solidFill>
                  </a:rPr>
                  <a:t>SC</a:t>
                </a:r>
                <a14:m>
                  <m:oMath xmlns:m="http://schemas.openxmlformats.org/officeDocument/2006/math">
                    <m:r>
                      <a:rPr kumimoji="1" lang="en-US" altLang="zh-CN" sz="2000" b="1" i="1" u="sng" smtClean="0">
                        <a:solidFill>
                          <a:schemeClr val="bg1"/>
                        </a:solidFill>
                        <a:latin typeface="Cambria Math" panose="02040503050406030204" pitchFamily="18" charset="0"/>
                        <a:ea typeface="Cambria Math" panose="02040503050406030204" pitchFamily="18" charset="0"/>
                      </a:rPr>
                      <m:t>÷</m:t>
                    </m:r>
                    <m:r>
                      <m:rPr>
                        <m:sty m:val="p"/>
                      </m:rPr>
                      <a:rPr lang="en-US" altLang="zh-CN" sz="2000" b="1" i="1" u="sng">
                        <a:solidFill>
                          <a:schemeClr val="bg1"/>
                        </a:solidFill>
                        <a:latin typeface="Cambria Math" panose="02040503050406030204" pitchFamily="18" charset="0"/>
                        <a:ea typeface="Cambria Math" panose="02040503050406030204" pitchFamily="18" charset="0"/>
                      </a:rPr>
                      <m:t>CG</m:t>
                    </m:r>
                  </m:oMath>
                </a14:m>
                <a:endParaRPr kumimoji="1" lang="zh-CN" altLang="en-US" sz="2000" b="1" u="sng" dirty="0">
                  <a:solidFill>
                    <a:schemeClr val="bg1"/>
                  </a:solidFill>
                </a:endParaRPr>
              </a:p>
            </p:txBody>
          </p:sp>
        </mc:Choice>
        <mc:Fallback xmlns="">
          <p:sp>
            <p:nvSpPr>
              <p:cNvPr id="8" name="文本框 7">
                <a:extLst>
                  <a:ext uri="{FF2B5EF4-FFF2-40B4-BE49-F238E27FC236}">
                    <a16:creationId xmlns:a16="http://schemas.microsoft.com/office/drawing/2014/main" id="{7782B3C6-D9B7-CF41-8EDA-48324594A398}"/>
                  </a:ext>
                </a:extLst>
              </p:cNvPr>
              <p:cNvSpPr txBox="1">
                <a:spLocks noRot="1" noChangeAspect="1" noMove="1" noResize="1" noEditPoints="1" noAdjustHandles="1" noChangeArrowheads="1" noChangeShapeType="1" noTextEdit="1"/>
              </p:cNvSpPr>
              <p:nvPr/>
            </p:nvSpPr>
            <p:spPr>
              <a:xfrm>
                <a:off x="5421738" y="4776330"/>
                <a:ext cx="993477" cy="338554"/>
              </a:xfrm>
              <a:prstGeom prst="rect">
                <a:avLst/>
              </a:prstGeom>
              <a:blipFill>
                <a:blip r:embed="rId2"/>
                <a:stretch>
                  <a:fillRect l="-6329" t="-33333" b="-2592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19442501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ChangeArrowheads="1"/>
          </p:cNvSpPr>
          <p:nvPr/>
        </p:nvSpPr>
        <p:spPr bwMode="auto">
          <a:xfrm>
            <a:off x="0" y="333375"/>
            <a:ext cx="9144000" cy="277768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800" b="1" dirty="0">
                <a:solidFill>
                  <a:srgbClr val="660033"/>
                </a:solidFill>
                <a:cs typeface="Times New Roman" pitchFamily="18" charset="0"/>
              </a:rPr>
              <a:t>  </a:t>
            </a:r>
            <a:r>
              <a:rPr lang="en-US" altLang="zh-CN" sz="3600" b="1" dirty="0">
                <a:solidFill>
                  <a:srgbClr val="660033"/>
                </a:solidFill>
                <a:cs typeface="Times New Roman" pitchFamily="18" charset="0"/>
              </a:rPr>
              <a:t>R÷S</a:t>
            </a:r>
            <a:r>
              <a:rPr lang="zh-CN" altLang="en-US" sz="3600" b="1" dirty="0">
                <a:solidFill>
                  <a:srgbClr val="660033"/>
                </a:solidFill>
                <a:cs typeface="Times New Roman" pitchFamily="18" charset="0"/>
              </a:rPr>
              <a:t>的具体计算过程如下：</a:t>
            </a:r>
            <a:r>
              <a:rPr lang="zh-CN" altLang="en-US" sz="3600" b="1" dirty="0">
                <a:solidFill>
                  <a:schemeClr val="bg2"/>
                </a:solidFill>
              </a:rPr>
              <a:t> </a:t>
            </a:r>
          </a:p>
          <a:p>
            <a:pPr eaLnBrk="0" hangingPunct="0">
              <a:lnSpc>
                <a:spcPct val="150000"/>
              </a:lnSpc>
            </a:pPr>
            <a:r>
              <a:rPr lang="zh-CN" altLang="en-US" sz="2800" dirty="0">
                <a:solidFill>
                  <a:schemeClr val="bg2"/>
                </a:solidFill>
              </a:rPr>
              <a:t>  </a:t>
            </a:r>
            <a:r>
              <a:rPr lang="zh-CN" altLang="en-US" sz="3200" b="1" dirty="0">
                <a:solidFill>
                  <a:schemeClr val="bg2"/>
                </a:solidFill>
              </a:rPr>
              <a:t>① </a:t>
            </a:r>
            <a:r>
              <a:rPr lang="en-US" altLang="zh-CN" sz="3200" b="1" dirty="0">
                <a:solidFill>
                  <a:schemeClr val="bg2"/>
                </a:solidFill>
              </a:rPr>
              <a:t>T = π</a:t>
            </a:r>
            <a:r>
              <a:rPr lang="en-US" altLang="zh-CN" sz="4000" baseline="-25000" dirty="0">
                <a:solidFill>
                  <a:schemeClr val="bg2"/>
                </a:solidFill>
                <a:latin typeface="Times New Roman" pitchFamily="18" charset="0"/>
              </a:rPr>
              <a:t>1</a:t>
            </a:r>
            <a:r>
              <a:rPr lang="zh-CN" altLang="en-US" sz="4000" baseline="-25000" dirty="0">
                <a:solidFill>
                  <a:schemeClr val="bg2"/>
                </a:solidFill>
                <a:latin typeface="Times New Roman" pitchFamily="18" charset="0"/>
              </a:rPr>
              <a:t>，</a:t>
            </a:r>
            <a:r>
              <a:rPr lang="en-US" altLang="zh-CN" sz="4000" baseline="-25000" dirty="0">
                <a:solidFill>
                  <a:schemeClr val="bg2"/>
                </a:solidFill>
                <a:latin typeface="Times New Roman" pitchFamily="18" charset="0"/>
              </a:rPr>
              <a:t>2</a:t>
            </a:r>
            <a:r>
              <a:rPr lang="zh-CN" altLang="en-US" sz="4000" baseline="-25000" dirty="0">
                <a:solidFill>
                  <a:schemeClr val="bg2"/>
                </a:solidFill>
                <a:latin typeface="Times New Roman" pitchFamily="18" charset="0"/>
              </a:rPr>
              <a:t>，</a:t>
            </a:r>
            <a:r>
              <a:rPr lang="en-US" altLang="zh-CN" sz="4000" baseline="-25000" dirty="0">
                <a:solidFill>
                  <a:schemeClr val="bg2"/>
                </a:solidFill>
                <a:latin typeface="Times New Roman" pitchFamily="18" charset="0"/>
              </a:rPr>
              <a:t>…</a:t>
            </a:r>
            <a:r>
              <a:rPr lang="zh-CN" altLang="en-US" sz="4000" baseline="-25000" dirty="0">
                <a:solidFill>
                  <a:schemeClr val="bg2"/>
                </a:solidFill>
                <a:latin typeface="Times New Roman" pitchFamily="18" charset="0"/>
              </a:rPr>
              <a:t>，</a:t>
            </a:r>
            <a:r>
              <a:rPr lang="en-US" altLang="zh-CN" sz="4000" baseline="-25000" dirty="0">
                <a:solidFill>
                  <a:schemeClr val="bg2"/>
                </a:solidFill>
                <a:latin typeface="Times New Roman" pitchFamily="18" charset="0"/>
              </a:rPr>
              <a:t>r-s</a:t>
            </a:r>
            <a:r>
              <a:rPr lang="zh-CN" altLang="en-US" sz="3200" b="1" dirty="0">
                <a:solidFill>
                  <a:schemeClr val="bg2"/>
                </a:solidFill>
              </a:rPr>
              <a:t>（</a:t>
            </a:r>
            <a:r>
              <a:rPr lang="en-US" altLang="zh-CN" sz="3200" b="1" dirty="0">
                <a:solidFill>
                  <a:schemeClr val="bg2"/>
                </a:solidFill>
              </a:rPr>
              <a:t>R</a:t>
            </a:r>
            <a:r>
              <a:rPr lang="zh-CN" altLang="en-US" sz="3200" b="1" dirty="0">
                <a:solidFill>
                  <a:schemeClr val="bg2"/>
                </a:solidFill>
              </a:rPr>
              <a:t>）</a:t>
            </a:r>
          </a:p>
          <a:p>
            <a:pPr eaLnBrk="0" hangingPunct="0">
              <a:lnSpc>
                <a:spcPct val="150000"/>
              </a:lnSpc>
            </a:pPr>
            <a:r>
              <a:rPr lang="zh-CN" altLang="en-US" sz="3200" b="1" dirty="0">
                <a:solidFill>
                  <a:schemeClr val="bg2"/>
                </a:solidFill>
              </a:rPr>
              <a:t>  </a:t>
            </a:r>
            <a:endParaRPr lang="en-US" altLang="zh-CN" sz="2800" b="1" dirty="0">
              <a:solidFill>
                <a:schemeClr val="bg2"/>
              </a:solidFill>
            </a:endParaRPr>
          </a:p>
        </p:txBody>
      </p:sp>
      <p:graphicFrame>
        <p:nvGraphicFramePr>
          <p:cNvPr id="3" name="表格 2">
            <a:extLst>
              <a:ext uri="{FF2B5EF4-FFF2-40B4-BE49-F238E27FC236}">
                <a16:creationId xmlns:a16="http://schemas.microsoft.com/office/drawing/2014/main" id="{17EBA68C-5600-5C4F-BEBA-65F74931D815}"/>
              </a:ext>
            </a:extLst>
          </p:cNvPr>
          <p:cNvGraphicFramePr>
            <a:graphicFrameLocks noGrp="1"/>
          </p:cNvGraphicFramePr>
          <p:nvPr>
            <p:extLst>
              <p:ext uri="{D42A27DB-BD31-4B8C-83A1-F6EECF244321}">
                <p14:modId xmlns:p14="http://schemas.microsoft.com/office/powerpoint/2010/main" val="3992983405"/>
              </p:ext>
            </p:extLst>
          </p:nvPr>
        </p:nvGraphicFramePr>
        <p:xfrm>
          <a:off x="1475656" y="2867025"/>
          <a:ext cx="5904656" cy="365760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2861137485"/>
                    </a:ext>
                  </a:extLst>
                </a:gridCol>
                <a:gridCol w="1296144">
                  <a:extLst>
                    <a:ext uri="{9D8B030D-6E8A-4147-A177-3AD203B41FA5}">
                      <a16:colId xmlns:a16="http://schemas.microsoft.com/office/drawing/2014/main" val="2251833560"/>
                    </a:ext>
                  </a:extLst>
                </a:gridCol>
                <a:gridCol w="1329715">
                  <a:extLst>
                    <a:ext uri="{9D8B030D-6E8A-4147-A177-3AD203B41FA5}">
                      <a16:colId xmlns:a16="http://schemas.microsoft.com/office/drawing/2014/main" val="2647707742"/>
                    </a:ext>
                  </a:extLst>
                </a:gridCol>
                <a:gridCol w="1118557">
                  <a:extLst>
                    <a:ext uri="{9D8B030D-6E8A-4147-A177-3AD203B41FA5}">
                      <a16:colId xmlns:a16="http://schemas.microsoft.com/office/drawing/2014/main" val="210979802"/>
                    </a:ext>
                  </a:extLst>
                </a:gridCol>
              </a:tblGrid>
              <a:tr h="295233">
                <a:tc>
                  <a:txBody>
                    <a:bodyPr/>
                    <a:lstStyle/>
                    <a:p>
                      <a:pPr algn="ctr"/>
                      <a:r>
                        <a:rPr lang="en-US" altLang="zh-CN" sz="1800" dirty="0"/>
                        <a:t>SNAME</a:t>
                      </a:r>
                      <a:endParaRPr lang="zh-CN" altLang="en-US" sz="1800" dirty="0"/>
                    </a:p>
                  </a:txBody>
                  <a:tcPr/>
                </a:tc>
                <a:tc>
                  <a:txBody>
                    <a:bodyPr/>
                    <a:lstStyle/>
                    <a:p>
                      <a:pPr algn="ctr"/>
                      <a:r>
                        <a:rPr lang="en-US" altLang="zh-CN" sz="1800" dirty="0"/>
                        <a:t>SEX</a:t>
                      </a:r>
                      <a:endParaRPr lang="zh-CN" altLang="en-US" sz="1800" dirty="0"/>
                    </a:p>
                  </a:txBody>
                  <a:tcPr/>
                </a:tc>
                <a:tc>
                  <a:txBody>
                    <a:bodyPr/>
                    <a:lstStyle/>
                    <a:p>
                      <a:pPr algn="ctr"/>
                      <a:r>
                        <a:rPr lang="en-US" altLang="zh-CN" sz="1800" dirty="0"/>
                        <a:t>CNAME</a:t>
                      </a:r>
                      <a:endParaRPr lang="zh-CN" altLang="en-US" sz="1800" dirty="0"/>
                    </a:p>
                  </a:txBody>
                  <a:tcPr/>
                </a:tc>
                <a:tc>
                  <a:txBody>
                    <a:bodyPr/>
                    <a:lstStyle/>
                    <a:p>
                      <a:pPr algn="ctr"/>
                      <a:r>
                        <a:rPr lang="en-US" altLang="zh-CN" sz="1800" dirty="0"/>
                        <a:t>CDEPT</a:t>
                      </a:r>
                      <a:endParaRPr lang="zh-CN" altLang="en-US" sz="1800" dirty="0"/>
                    </a:p>
                  </a:txBody>
                  <a:tcPr/>
                </a:tc>
                <a:tc>
                  <a:txBody>
                    <a:bodyPr/>
                    <a:lstStyle/>
                    <a:p>
                      <a:pPr algn="ctr"/>
                      <a:r>
                        <a:rPr lang="en-US" altLang="zh-CN" sz="1800" dirty="0"/>
                        <a:t>GRADE</a:t>
                      </a:r>
                      <a:endParaRPr lang="zh-CN" altLang="en-US" sz="1800" dirty="0"/>
                    </a:p>
                  </a:txBody>
                  <a:tcPr/>
                </a:tc>
                <a:extLst>
                  <a:ext uri="{0D108BD9-81ED-4DB2-BD59-A6C34878D82A}">
                    <a16:rowId xmlns:a16="http://schemas.microsoft.com/office/drawing/2014/main" val="3145990871"/>
                  </a:ext>
                </a:extLst>
              </a:tr>
              <a:tr h="295233">
                <a:tc>
                  <a:txBody>
                    <a:bodyPr/>
                    <a:lstStyle/>
                    <a:p>
                      <a:pPr algn="ctr"/>
                      <a:r>
                        <a:rPr lang="zh-CN" altLang="en-US" sz="1800" dirty="0"/>
                        <a:t>李志鸣</a:t>
                      </a: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优</a:t>
                      </a:r>
                    </a:p>
                  </a:txBody>
                  <a:tcPr/>
                </a:tc>
                <a:extLst>
                  <a:ext uri="{0D108BD9-81ED-4DB2-BD59-A6C34878D82A}">
                    <a16:rowId xmlns:a16="http://schemas.microsoft.com/office/drawing/2014/main" val="3713937122"/>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良</a:t>
                      </a:r>
                    </a:p>
                  </a:txBody>
                  <a:tcPr/>
                </a:tc>
                <a:extLst>
                  <a:ext uri="{0D108BD9-81ED-4DB2-BD59-A6C34878D82A}">
                    <a16:rowId xmlns:a16="http://schemas.microsoft.com/office/drawing/2014/main" val="841821175"/>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优</a:t>
                      </a:r>
                    </a:p>
                  </a:txBody>
                  <a:tcPr/>
                </a:tc>
                <a:extLst>
                  <a:ext uri="{0D108BD9-81ED-4DB2-BD59-A6C34878D82A}">
                    <a16:rowId xmlns:a16="http://schemas.microsoft.com/office/drawing/2014/main" val="1150971900"/>
                  </a:ext>
                </a:extLst>
              </a:tr>
              <a:tr h="295233">
                <a:tc>
                  <a:txBody>
                    <a:bodyPr/>
                    <a:lstStyle/>
                    <a:p>
                      <a:pPr algn="ctr"/>
                      <a:r>
                        <a:rPr lang="zh-CN" altLang="en-US" sz="1800" dirty="0"/>
                        <a:t>王文晴</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优</a:t>
                      </a:r>
                    </a:p>
                  </a:txBody>
                  <a:tcPr/>
                </a:tc>
                <a:extLst>
                  <a:ext uri="{0D108BD9-81ED-4DB2-BD59-A6C34878D82A}">
                    <a16:rowId xmlns:a16="http://schemas.microsoft.com/office/drawing/2014/main" val="3770924754"/>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良</a:t>
                      </a:r>
                    </a:p>
                  </a:txBody>
                  <a:tcPr/>
                </a:tc>
                <a:extLst>
                  <a:ext uri="{0D108BD9-81ED-4DB2-BD59-A6C34878D82A}">
                    <a16:rowId xmlns:a16="http://schemas.microsoft.com/office/drawing/2014/main" val="2604247982"/>
                  </a:ext>
                </a:extLst>
              </a:tr>
              <a:tr h="295233">
                <a:tc>
                  <a:txBody>
                    <a:bodyPr/>
                    <a:lstStyle/>
                    <a:p>
                      <a:pPr algn="ctr"/>
                      <a:r>
                        <a:rPr lang="zh-CN" altLang="en-US" sz="1800" dirty="0"/>
                        <a:t>王文晴</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1236409575"/>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2231099752"/>
                  </a:ext>
                </a:extLst>
              </a:tr>
              <a:tr h="2952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李志鸣</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优</a:t>
                      </a:r>
                    </a:p>
                  </a:txBody>
                  <a:tcPr/>
                </a:tc>
                <a:extLst>
                  <a:ext uri="{0D108BD9-81ED-4DB2-BD59-A6C34878D82A}">
                    <a16:rowId xmlns:a16="http://schemas.microsoft.com/office/drawing/2014/main" val="112422980"/>
                  </a:ext>
                </a:extLst>
              </a:tr>
              <a:tr h="29523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李志鸣</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sz="1800" dirty="0"/>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高等数学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良</a:t>
                      </a:r>
                    </a:p>
                  </a:txBody>
                  <a:tcPr/>
                </a:tc>
                <a:extLst>
                  <a:ext uri="{0D108BD9-81ED-4DB2-BD59-A6C34878D82A}">
                    <a16:rowId xmlns:a16="http://schemas.microsoft.com/office/drawing/2014/main" val="1909949203"/>
                  </a:ext>
                </a:extLst>
              </a:tr>
            </a:tbl>
          </a:graphicData>
        </a:graphic>
      </p:graphicFrame>
      <p:sp>
        <p:nvSpPr>
          <p:cNvPr id="4" name="文本框 3">
            <a:extLst>
              <a:ext uri="{FF2B5EF4-FFF2-40B4-BE49-F238E27FC236}">
                <a16:creationId xmlns:a16="http://schemas.microsoft.com/office/drawing/2014/main" id="{A01977B2-E0EA-9547-9520-ED3B77894239}"/>
              </a:ext>
            </a:extLst>
          </p:cNvPr>
          <p:cNvSpPr txBox="1"/>
          <p:nvPr/>
        </p:nvSpPr>
        <p:spPr>
          <a:xfrm>
            <a:off x="3114640" y="2498450"/>
            <a:ext cx="2382383" cy="338554"/>
          </a:xfrm>
          <a:prstGeom prst="rect">
            <a:avLst/>
          </a:prstGeom>
          <a:noFill/>
        </p:spPr>
        <p:txBody>
          <a:bodyPr wrap="none" rtlCol="0">
            <a:spAutoFit/>
          </a:bodyPr>
          <a:lstStyle/>
          <a:p>
            <a:r>
              <a:rPr kumimoji="1" lang="en-US" altLang="zh-CN" sz="2000" b="1" dirty="0">
                <a:solidFill>
                  <a:srgbClr val="FF0000"/>
                </a:solidFill>
              </a:rPr>
              <a:t>R: </a:t>
            </a:r>
            <a:r>
              <a:rPr kumimoji="1" lang="zh-CN" altLang="en-US" sz="2000" b="1" u="sng" dirty="0">
                <a:solidFill>
                  <a:schemeClr val="bg1"/>
                </a:solidFill>
              </a:rPr>
              <a:t>学</a:t>
            </a:r>
            <a:r>
              <a:rPr lang="zh-CN" altLang="en-US" sz="2000" b="1" u="sng" dirty="0">
                <a:solidFill>
                  <a:schemeClr val="bg1"/>
                </a:solidFill>
              </a:rPr>
              <a:t>生学习</a:t>
            </a:r>
            <a:r>
              <a:rPr kumimoji="1" lang="zh-CN" altLang="en-US" sz="2000" b="1" u="sng" dirty="0">
                <a:solidFill>
                  <a:schemeClr val="bg1"/>
                </a:solidFill>
              </a:rPr>
              <a:t>关系</a:t>
            </a:r>
            <a:r>
              <a:rPr kumimoji="1" lang="en-US" altLang="zh-CN" sz="2000" b="1" u="sng" dirty="0">
                <a:solidFill>
                  <a:schemeClr val="bg1"/>
                </a:solidFill>
              </a:rPr>
              <a:t>SC</a:t>
            </a:r>
            <a:endParaRPr kumimoji="1" lang="zh-CN" altLang="en-US" sz="2000" b="1" u="sng" dirty="0">
              <a:solidFill>
                <a:schemeClr val="bg1"/>
              </a:solidFill>
            </a:endParaRPr>
          </a:p>
        </p:txBody>
      </p:sp>
      <p:pic>
        <p:nvPicPr>
          <p:cNvPr id="5" name="图片 4">
            <a:extLst>
              <a:ext uri="{FF2B5EF4-FFF2-40B4-BE49-F238E27FC236}">
                <a16:creationId xmlns:a16="http://schemas.microsoft.com/office/drawing/2014/main" id="{B4665FC4-3571-1A43-B347-825CC1BBA942}"/>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3965963" y="4514823"/>
            <a:ext cx="606037" cy="606037"/>
          </a:xfrm>
          <a:prstGeom prst="rect">
            <a:avLst/>
          </a:prstGeom>
        </p:spPr>
      </p:pic>
      <p:pic>
        <p:nvPicPr>
          <p:cNvPr id="6" name="图片 5">
            <a:extLst>
              <a:ext uri="{FF2B5EF4-FFF2-40B4-BE49-F238E27FC236}">
                <a16:creationId xmlns:a16="http://schemas.microsoft.com/office/drawing/2014/main" id="{61C25D04-5E0D-7E4B-99E2-8AB0E0447BCC}"/>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6456270" y="4455864"/>
            <a:ext cx="606037" cy="606037"/>
          </a:xfrm>
          <a:prstGeom prst="rect">
            <a:avLst/>
          </a:prstGeom>
        </p:spPr>
      </p:pic>
      <p:pic>
        <p:nvPicPr>
          <p:cNvPr id="2" name="图片 1">
            <a:extLst>
              <a:ext uri="{FF2B5EF4-FFF2-40B4-BE49-F238E27FC236}">
                <a16:creationId xmlns:a16="http://schemas.microsoft.com/office/drawing/2014/main" id="{35260292-7BED-0744-9DBA-C640E1DB327E}"/>
              </a:ext>
            </a:extLst>
          </p:cNvPr>
          <p:cNvPicPr>
            <a:picLocks noChangeAspect="1"/>
          </p:cNvPicPr>
          <p:nvPr/>
        </p:nvPicPr>
        <p:blipFill>
          <a:blip r:embed="rId4">
            <a:extLst>
              <a:ext uri="{BEBA8EAE-BF5A-486C-A8C5-ECC9F3942E4B}">
                <a14:imgProps xmlns:a14="http://schemas.microsoft.com/office/drawing/2010/main">
                  <a14:imgLayer r:embed="rId5">
                    <a14:imgEffect>
                      <a14:backgroundRemoval t="10000" b="90000" l="10000" r="90000"/>
                    </a14:imgEffect>
                  </a14:imgLayer>
                </a14:imgProps>
              </a:ext>
            </a:extLst>
          </a:blip>
          <a:stretch>
            <a:fillRect/>
          </a:stretch>
        </p:blipFill>
        <p:spPr>
          <a:xfrm>
            <a:off x="1660860" y="5641734"/>
            <a:ext cx="681484" cy="681484"/>
          </a:xfrm>
          <a:prstGeom prst="rect">
            <a:avLst/>
          </a:prstGeom>
        </p:spPr>
      </p:pic>
      <p:pic>
        <p:nvPicPr>
          <p:cNvPr id="10" name="图片 9">
            <a:extLst>
              <a:ext uri="{FF2B5EF4-FFF2-40B4-BE49-F238E27FC236}">
                <a16:creationId xmlns:a16="http://schemas.microsoft.com/office/drawing/2014/main" id="{3DFBAFBD-54E8-8444-8CF3-46A9DAD18E0B}"/>
              </a:ext>
            </a:extLst>
          </p:cNvPr>
          <p:cNvPicPr>
            <a:picLocks noChangeAspect="1"/>
          </p:cNvPicPr>
          <p:nvPr/>
        </p:nvPicPr>
        <p:blipFill>
          <a:blip r:embed="rId4">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1660860" y="5985450"/>
            <a:ext cx="681484" cy="681484"/>
          </a:xfrm>
          <a:prstGeom prst="rect">
            <a:avLst/>
          </a:prstGeom>
        </p:spPr>
      </p:pic>
      <p:pic>
        <p:nvPicPr>
          <p:cNvPr id="11" name="图片 10">
            <a:extLst>
              <a:ext uri="{FF2B5EF4-FFF2-40B4-BE49-F238E27FC236}">
                <a16:creationId xmlns:a16="http://schemas.microsoft.com/office/drawing/2014/main" id="{89308ED4-7434-914B-A95F-1A86A68F3DDB}"/>
              </a:ext>
            </a:extLst>
          </p:cNvPr>
          <p:cNvPicPr>
            <a:picLocks noChangeAspect="1"/>
          </p:cNvPicPr>
          <p:nvPr/>
        </p:nvPicPr>
        <p:blipFill>
          <a:blip r:embed="rId4">
            <a:extLst>
              <a:ext uri="{BEBA8EAE-BF5A-486C-A8C5-ECC9F3942E4B}">
                <a14:imgProps xmlns:a14="http://schemas.microsoft.com/office/drawing/2010/main">
                  <a14:imgLayer r:embed="rId6">
                    <a14:imgEffect>
                      <a14:backgroundRemoval t="10000" b="90000" l="10000" r="90000"/>
                    </a14:imgEffect>
                  </a14:imgLayer>
                </a14:imgProps>
              </a:ext>
            </a:extLst>
          </a:blip>
          <a:stretch>
            <a:fillRect/>
          </a:stretch>
        </p:blipFill>
        <p:spPr>
          <a:xfrm>
            <a:off x="1690310" y="4514823"/>
            <a:ext cx="681484" cy="681484"/>
          </a:xfrm>
          <a:prstGeom prst="rect">
            <a:avLst/>
          </a:prstGeom>
        </p:spPr>
      </p:pic>
      <p:pic>
        <p:nvPicPr>
          <p:cNvPr id="12" name="图片 11">
            <a:extLst>
              <a:ext uri="{FF2B5EF4-FFF2-40B4-BE49-F238E27FC236}">
                <a16:creationId xmlns:a16="http://schemas.microsoft.com/office/drawing/2014/main" id="{8464F22B-FFCA-C44B-84FE-BD81996C840E}"/>
              </a:ext>
            </a:extLst>
          </p:cNvPr>
          <p:cNvPicPr>
            <a:picLocks noChangeAspect="1"/>
          </p:cNvPicPr>
          <p:nvPr/>
        </p:nvPicPr>
        <p:blipFill>
          <a:blip r:embed="rId4">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1690310" y="4909394"/>
            <a:ext cx="681484" cy="681484"/>
          </a:xfrm>
          <a:prstGeom prst="rect">
            <a:avLst/>
          </a:prstGeom>
        </p:spPr>
      </p:pic>
      <p:pic>
        <p:nvPicPr>
          <p:cNvPr id="13" name="图片 12">
            <a:extLst>
              <a:ext uri="{FF2B5EF4-FFF2-40B4-BE49-F238E27FC236}">
                <a16:creationId xmlns:a16="http://schemas.microsoft.com/office/drawing/2014/main" id="{F392DBE2-5E9F-ED4A-A7E0-7C6401D4E85A}"/>
              </a:ext>
            </a:extLst>
          </p:cNvPr>
          <p:cNvPicPr>
            <a:picLocks noChangeAspect="1"/>
          </p:cNvPicPr>
          <p:nvPr/>
        </p:nvPicPr>
        <p:blipFill>
          <a:blip r:embed="rId4">
            <a:extLst>
              <a:ext uri="{BEBA8EAE-BF5A-486C-A8C5-ECC9F3942E4B}">
                <a14:imgProps xmlns:a14="http://schemas.microsoft.com/office/drawing/2010/main">
                  <a14:imgLayer r:embed="rId7">
                    <a14:imgEffect>
                      <a14:backgroundRemoval t="10000" b="90000" l="10000" r="90000"/>
                    </a14:imgEffect>
                  </a14:imgLayer>
                </a14:imgProps>
              </a:ext>
            </a:extLst>
          </a:blip>
          <a:stretch>
            <a:fillRect/>
          </a:stretch>
        </p:blipFill>
        <p:spPr>
          <a:xfrm>
            <a:off x="1719760" y="5288956"/>
            <a:ext cx="681484" cy="681484"/>
          </a:xfrm>
          <a:prstGeom prst="rect">
            <a:avLst/>
          </a:prstGeom>
        </p:spPr>
      </p:pic>
    </p:spTree>
    <p:extLst>
      <p:ext uri="{BB962C8B-B14F-4D97-AF65-F5344CB8AC3E}">
        <p14:creationId xmlns:p14="http://schemas.microsoft.com/office/powerpoint/2010/main" val="32982515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ChangeArrowheads="1"/>
          </p:cNvSpPr>
          <p:nvPr/>
        </p:nvSpPr>
        <p:spPr bwMode="auto">
          <a:xfrm>
            <a:off x="-66227" y="0"/>
            <a:ext cx="9144000" cy="425501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800" b="1" dirty="0">
                <a:solidFill>
                  <a:srgbClr val="660033"/>
                </a:solidFill>
                <a:cs typeface="Times New Roman" pitchFamily="18" charset="0"/>
              </a:rPr>
              <a:t>  </a:t>
            </a:r>
            <a:r>
              <a:rPr lang="en-US" altLang="zh-CN" sz="3600" b="1" dirty="0">
                <a:solidFill>
                  <a:srgbClr val="660033"/>
                </a:solidFill>
                <a:cs typeface="Times New Roman" pitchFamily="18" charset="0"/>
              </a:rPr>
              <a:t>R÷S</a:t>
            </a:r>
            <a:r>
              <a:rPr lang="zh-CN" altLang="en-US" sz="3600" b="1" dirty="0">
                <a:solidFill>
                  <a:srgbClr val="660033"/>
                </a:solidFill>
                <a:cs typeface="Times New Roman" pitchFamily="18" charset="0"/>
              </a:rPr>
              <a:t>的具体计算过程如下：</a:t>
            </a:r>
            <a:r>
              <a:rPr lang="zh-CN" altLang="en-US" sz="3600" b="1" dirty="0">
                <a:solidFill>
                  <a:schemeClr val="bg2"/>
                </a:solidFill>
              </a:rPr>
              <a:t> </a:t>
            </a:r>
          </a:p>
          <a:p>
            <a:pPr eaLnBrk="0" hangingPunct="0">
              <a:lnSpc>
                <a:spcPct val="150000"/>
              </a:lnSpc>
              <a:spcBef>
                <a:spcPts val="0"/>
              </a:spcBef>
            </a:pPr>
            <a:r>
              <a:rPr lang="zh-CN" altLang="en-US" sz="2800" dirty="0">
                <a:solidFill>
                  <a:schemeClr val="bg2"/>
                </a:solidFill>
              </a:rPr>
              <a:t>  </a:t>
            </a:r>
            <a:r>
              <a:rPr lang="zh-CN" altLang="en-US" sz="3200" b="1" dirty="0">
                <a:solidFill>
                  <a:schemeClr val="tx1">
                    <a:lumMod val="50000"/>
                  </a:schemeClr>
                </a:solidFill>
              </a:rPr>
              <a:t>① </a:t>
            </a:r>
            <a:r>
              <a:rPr lang="en-US" altLang="zh-CN" sz="3200" b="1" dirty="0">
                <a:solidFill>
                  <a:schemeClr val="tx1">
                    <a:lumMod val="50000"/>
                  </a:schemeClr>
                </a:solidFill>
              </a:rPr>
              <a:t>T = π</a:t>
            </a:r>
            <a:r>
              <a:rPr lang="en-US" altLang="zh-CN" sz="4000" baseline="-25000" dirty="0">
                <a:solidFill>
                  <a:schemeClr val="tx1">
                    <a:lumMod val="50000"/>
                  </a:schemeClr>
                </a:solidFill>
                <a:latin typeface="Times New Roman" pitchFamily="18" charset="0"/>
              </a:rPr>
              <a:t>1</a:t>
            </a:r>
            <a:r>
              <a:rPr lang="zh-CN" altLang="en-US" sz="4000" baseline="-25000" dirty="0">
                <a:solidFill>
                  <a:schemeClr val="tx1">
                    <a:lumMod val="50000"/>
                  </a:schemeClr>
                </a:solidFill>
                <a:latin typeface="Times New Roman" pitchFamily="18" charset="0"/>
              </a:rPr>
              <a:t>，</a:t>
            </a:r>
            <a:r>
              <a:rPr lang="en-US" altLang="zh-CN" sz="4000" baseline="-25000" dirty="0">
                <a:solidFill>
                  <a:schemeClr val="tx1">
                    <a:lumMod val="50000"/>
                  </a:schemeClr>
                </a:solidFill>
                <a:latin typeface="Times New Roman" pitchFamily="18" charset="0"/>
              </a:rPr>
              <a:t>2</a:t>
            </a:r>
            <a:r>
              <a:rPr lang="zh-CN" altLang="en-US" sz="4000" baseline="-25000" dirty="0">
                <a:solidFill>
                  <a:schemeClr val="tx1">
                    <a:lumMod val="50000"/>
                  </a:schemeClr>
                </a:solidFill>
                <a:latin typeface="Times New Roman" pitchFamily="18" charset="0"/>
              </a:rPr>
              <a:t>，</a:t>
            </a:r>
            <a:r>
              <a:rPr lang="en-US" altLang="zh-CN" sz="4000" baseline="-25000" dirty="0">
                <a:solidFill>
                  <a:schemeClr val="tx1">
                    <a:lumMod val="50000"/>
                  </a:schemeClr>
                </a:solidFill>
                <a:latin typeface="Times New Roman" pitchFamily="18" charset="0"/>
              </a:rPr>
              <a:t>…</a:t>
            </a:r>
            <a:r>
              <a:rPr lang="zh-CN" altLang="en-US" sz="4000" baseline="-25000" dirty="0">
                <a:solidFill>
                  <a:schemeClr val="tx1">
                    <a:lumMod val="50000"/>
                  </a:schemeClr>
                </a:solidFill>
                <a:latin typeface="Times New Roman" pitchFamily="18" charset="0"/>
              </a:rPr>
              <a:t>，</a:t>
            </a:r>
            <a:r>
              <a:rPr lang="en-US" altLang="zh-CN" sz="4000" baseline="-25000" dirty="0">
                <a:solidFill>
                  <a:schemeClr val="tx1">
                    <a:lumMod val="50000"/>
                  </a:schemeClr>
                </a:solidFill>
                <a:latin typeface="Times New Roman" pitchFamily="18" charset="0"/>
              </a:rPr>
              <a:t>r-s</a:t>
            </a:r>
            <a:r>
              <a:rPr lang="zh-CN" altLang="en-US" sz="3200" b="1" dirty="0">
                <a:solidFill>
                  <a:schemeClr val="tx1">
                    <a:lumMod val="50000"/>
                  </a:schemeClr>
                </a:solidFill>
              </a:rPr>
              <a:t>（</a:t>
            </a:r>
            <a:r>
              <a:rPr lang="en-US" altLang="zh-CN" sz="3200" b="1" dirty="0">
                <a:solidFill>
                  <a:schemeClr val="tx1">
                    <a:lumMod val="50000"/>
                  </a:schemeClr>
                </a:solidFill>
              </a:rPr>
              <a:t>R</a:t>
            </a:r>
            <a:r>
              <a:rPr lang="zh-CN" altLang="en-US" sz="3200" b="1" dirty="0">
                <a:solidFill>
                  <a:schemeClr val="tx1">
                    <a:lumMod val="50000"/>
                  </a:schemeClr>
                </a:solidFill>
              </a:rPr>
              <a:t>）</a:t>
            </a:r>
            <a:endParaRPr lang="en-US" altLang="zh-CN" sz="3200" b="1" dirty="0">
              <a:solidFill>
                <a:schemeClr val="tx1">
                  <a:lumMod val="50000"/>
                </a:schemeClr>
              </a:solidFill>
            </a:endParaRPr>
          </a:p>
          <a:p>
            <a:pPr eaLnBrk="0" hangingPunct="0">
              <a:lnSpc>
                <a:spcPct val="150000"/>
              </a:lnSpc>
              <a:spcBef>
                <a:spcPts val="0"/>
              </a:spcBef>
            </a:pPr>
            <a:r>
              <a:rPr lang="en-US" altLang="zh-CN" sz="3200" b="1" dirty="0">
                <a:solidFill>
                  <a:schemeClr val="bg2"/>
                </a:solidFill>
              </a:rPr>
              <a:t>  </a:t>
            </a:r>
            <a:r>
              <a:rPr lang="zh-CN" altLang="en-US" sz="3200" b="1" dirty="0">
                <a:solidFill>
                  <a:schemeClr val="bg2"/>
                </a:solidFill>
              </a:rPr>
              <a:t>② </a:t>
            </a:r>
            <a:r>
              <a:rPr lang="en-US" altLang="zh-CN" sz="3200" b="1" dirty="0">
                <a:solidFill>
                  <a:schemeClr val="bg2"/>
                </a:solidFill>
              </a:rPr>
              <a:t>W = (T×S)</a:t>
            </a:r>
            <a:r>
              <a:rPr lang="en-US" altLang="zh-CN" sz="3200" b="1" dirty="0">
                <a:solidFill>
                  <a:schemeClr val="tx1">
                    <a:lumMod val="50000"/>
                  </a:schemeClr>
                </a:solidFill>
              </a:rPr>
              <a:t>-R</a:t>
            </a:r>
          </a:p>
          <a:p>
            <a:pPr eaLnBrk="0" hangingPunct="0">
              <a:lnSpc>
                <a:spcPct val="150000"/>
              </a:lnSpc>
            </a:pPr>
            <a:endParaRPr lang="zh-CN" altLang="en-US" sz="3200" b="1" dirty="0">
              <a:solidFill>
                <a:schemeClr val="bg2"/>
              </a:solidFill>
            </a:endParaRPr>
          </a:p>
          <a:p>
            <a:pPr eaLnBrk="0" hangingPunct="0">
              <a:lnSpc>
                <a:spcPct val="150000"/>
              </a:lnSpc>
            </a:pPr>
            <a:r>
              <a:rPr lang="zh-CN" altLang="en-US" sz="3200" b="1" dirty="0">
                <a:solidFill>
                  <a:schemeClr val="bg2"/>
                </a:solidFill>
              </a:rPr>
              <a:t>  </a:t>
            </a:r>
            <a:endParaRPr lang="en-US" altLang="zh-CN" sz="2800" b="1" dirty="0">
              <a:solidFill>
                <a:schemeClr val="bg2"/>
              </a:solidFill>
            </a:endParaRPr>
          </a:p>
        </p:txBody>
      </p:sp>
      <p:graphicFrame>
        <p:nvGraphicFramePr>
          <p:cNvPr id="3" name="表格 2">
            <a:extLst>
              <a:ext uri="{FF2B5EF4-FFF2-40B4-BE49-F238E27FC236}">
                <a16:creationId xmlns:a16="http://schemas.microsoft.com/office/drawing/2014/main" id="{17EBA68C-5600-5C4F-BEBA-65F74931D815}"/>
              </a:ext>
            </a:extLst>
          </p:cNvPr>
          <p:cNvGraphicFramePr>
            <a:graphicFrameLocks noGrp="1"/>
          </p:cNvGraphicFramePr>
          <p:nvPr>
            <p:extLst>
              <p:ext uri="{D42A27DB-BD31-4B8C-83A1-F6EECF244321}">
                <p14:modId xmlns:p14="http://schemas.microsoft.com/office/powerpoint/2010/main" val="2313433792"/>
              </p:ext>
            </p:extLst>
          </p:nvPr>
        </p:nvGraphicFramePr>
        <p:xfrm>
          <a:off x="5357216" y="774189"/>
          <a:ext cx="3489955" cy="182880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2861137485"/>
                    </a:ext>
                  </a:extLst>
                </a:gridCol>
                <a:gridCol w="1329715">
                  <a:extLst>
                    <a:ext uri="{9D8B030D-6E8A-4147-A177-3AD203B41FA5}">
                      <a16:colId xmlns:a16="http://schemas.microsoft.com/office/drawing/2014/main" val="2647707742"/>
                    </a:ext>
                  </a:extLst>
                </a:gridCol>
              </a:tblGrid>
              <a:tr h="295233">
                <a:tc>
                  <a:txBody>
                    <a:bodyPr/>
                    <a:lstStyle/>
                    <a:p>
                      <a:pPr algn="ctr"/>
                      <a:r>
                        <a:rPr lang="en-US" altLang="zh-CN" sz="1800" dirty="0"/>
                        <a:t>SNAME</a:t>
                      </a:r>
                      <a:endParaRPr lang="zh-CN" altLang="en-US" sz="1800" dirty="0"/>
                    </a:p>
                  </a:txBody>
                  <a:tcPr/>
                </a:tc>
                <a:tc>
                  <a:txBody>
                    <a:bodyPr/>
                    <a:lstStyle/>
                    <a:p>
                      <a:pPr algn="ctr"/>
                      <a:r>
                        <a:rPr lang="en-US" altLang="zh-CN" sz="1800" dirty="0"/>
                        <a:t>SEX</a:t>
                      </a:r>
                      <a:endParaRPr lang="zh-CN" altLang="en-US" sz="1800" dirty="0"/>
                    </a:p>
                  </a:txBody>
                  <a:tcPr/>
                </a:tc>
                <a:tc>
                  <a:txBody>
                    <a:bodyPr/>
                    <a:lstStyle/>
                    <a:p>
                      <a:pPr algn="ctr"/>
                      <a:r>
                        <a:rPr lang="en-US" altLang="zh-CN" sz="1800" dirty="0"/>
                        <a:t>CDEPT</a:t>
                      </a:r>
                      <a:endParaRPr lang="zh-CN" altLang="en-US" sz="1800" dirty="0"/>
                    </a:p>
                  </a:txBody>
                  <a:tcPr/>
                </a:tc>
                <a:extLst>
                  <a:ext uri="{0D108BD9-81ED-4DB2-BD59-A6C34878D82A}">
                    <a16:rowId xmlns:a16="http://schemas.microsoft.com/office/drawing/2014/main" val="3145990871"/>
                  </a:ext>
                </a:extLst>
              </a:tr>
              <a:tr h="295233">
                <a:tc>
                  <a:txBody>
                    <a:bodyPr/>
                    <a:lstStyle/>
                    <a:p>
                      <a:pPr algn="ctr"/>
                      <a:r>
                        <a:rPr lang="zh-CN" altLang="en-US" sz="1800" dirty="0"/>
                        <a:t>李志鸣</a:t>
                      </a: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p>
                  </a:txBody>
                  <a:tcPr/>
                </a:tc>
                <a:extLst>
                  <a:ext uri="{0D108BD9-81ED-4DB2-BD59-A6C34878D82A}">
                    <a16:rowId xmlns:a16="http://schemas.microsoft.com/office/drawing/2014/main" val="841821175"/>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r h="295233">
                <a:tc>
                  <a:txBody>
                    <a:bodyPr/>
                    <a:lstStyle/>
                    <a:p>
                      <a:pPr algn="ctr"/>
                      <a:r>
                        <a:rPr lang="zh-CN" altLang="en-US" sz="1800" dirty="0"/>
                        <a:t>王文晴</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770924754"/>
                  </a:ext>
                </a:extLst>
              </a:tr>
            </a:tbl>
          </a:graphicData>
        </a:graphic>
      </p:graphicFrame>
      <p:graphicFrame>
        <p:nvGraphicFramePr>
          <p:cNvPr id="7" name="表格 2">
            <a:extLst>
              <a:ext uri="{FF2B5EF4-FFF2-40B4-BE49-F238E27FC236}">
                <a16:creationId xmlns:a16="http://schemas.microsoft.com/office/drawing/2014/main" id="{955BA0AD-AF05-8543-8DEB-F3C31699F754}"/>
              </a:ext>
            </a:extLst>
          </p:cNvPr>
          <p:cNvGraphicFramePr>
            <a:graphicFrameLocks noGrp="1"/>
          </p:cNvGraphicFramePr>
          <p:nvPr>
            <p:extLst>
              <p:ext uri="{D42A27DB-BD31-4B8C-83A1-F6EECF244321}">
                <p14:modId xmlns:p14="http://schemas.microsoft.com/office/powerpoint/2010/main" val="1008669421"/>
              </p:ext>
            </p:extLst>
          </p:nvPr>
        </p:nvGraphicFramePr>
        <p:xfrm>
          <a:off x="6614923" y="3263378"/>
          <a:ext cx="2232248" cy="1112520"/>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3954880262"/>
                    </a:ext>
                  </a:extLst>
                </a:gridCol>
                <a:gridCol w="1152128">
                  <a:extLst>
                    <a:ext uri="{9D8B030D-6E8A-4147-A177-3AD203B41FA5}">
                      <a16:colId xmlns:a16="http://schemas.microsoft.com/office/drawing/2014/main" val="41684705"/>
                    </a:ext>
                  </a:extLst>
                </a:gridCol>
              </a:tblGrid>
              <a:tr h="370840">
                <a:tc>
                  <a:txBody>
                    <a:bodyPr/>
                    <a:lstStyle/>
                    <a:p>
                      <a:pPr algn="ctr"/>
                      <a:r>
                        <a:rPr lang="en-US" altLang="zh-CN" dirty="0"/>
                        <a:t>CNAME</a:t>
                      </a:r>
                      <a:endParaRPr lang="zh-CN" altLang="en-US" dirty="0"/>
                    </a:p>
                  </a:txBody>
                  <a:tcPr/>
                </a:tc>
                <a:tc>
                  <a:txBody>
                    <a:bodyPr/>
                    <a:lstStyle/>
                    <a:p>
                      <a:pPr algn="ctr"/>
                      <a:r>
                        <a:rPr lang="en-US" altLang="zh-CN" sz="1800" dirty="0"/>
                        <a:t>GRADE</a:t>
                      </a:r>
                      <a:endParaRPr lang="zh-CN" altLang="en-US" sz="1800" dirty="0"/>
                    </a:p>
                  </a:txBody>
                  <a:tcPr/>
                </a:tc>
                <a:extLst>
                  <a:ext uri="{0D108BD9-81ED-4DB2-BD59-A6C34878D82A}">
                    <a16:rowId xmlns:a16="http://schemas.microsoft.com/office/drawing/2014/main" val="3145990871"/>
                  </a:ext>
                </a:extLst>
              </a:tr>
              <a:tr h="370840">
                <a:tc>
                  <a:txBody>
                    <a:bodyPr/>
                    <a:lstStyle/>
                    <a:p>
                      <a:pPr algn="ctr"/>
                      <a:r>
                        <a:rPr lang="zh-CN" altLang="en-US" sz="16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3713937122"/>
                  </a:ext>
                </a:extLst>
              </a:tr>
              <a:tr h="370840">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1150971900"/>
                  </a:ext>
                </a:extLst>
              </a:tr>
            </a:tbl>
          </a:graphicData>
        </a:graphic>
      </p:graphicFrame>
      <p:sp>
        <p:nvSpPr>
          <p:cNvPr id="8" name="文本框 7">
            <a:extLst>
              <a:ext uri="{FF2B5EF4-FFF2-40B4-BE49-F238E27FC236}">
                <a16:creationId xmlns:a16="http://schemas.microsoft.com/office/drawing/2014/main" id="{2783FE54-B4AE-B94B-A109-C1E735B28934}"/>
              </a:ext>
            </a:extLst>
          </p:cNvPr>
          <p:cNvSpPr txBox="1"/>
          <p:nvPr/>
        </p:nvSpPr>
        <p:spPr>
          <a:xfrm>
            <a:off x="6169999" y="2723876"/>
            <a:ext cx="2768707" cy="338554"/>
          </a:xfrm>
          <a:prstGeom prst="rect">
            <a:avLst/>
          </a:prstGeom>
          <a:noFill/>
        </p:spPr>
        <p:txBody>
          <a:bodyPr wrap="none" rtlCol="0">
            <a:spAutoFit/>
          </a:bodyPr>
          <a:lstStyle/>
          <a:p>
            <a:r>
              <a:rPr lang="en-US" altLang="zh-CN" sz="2000" b="1" dirty="0">
                <a:solidFill>
                  <a:srgbClr val="FF0000"/>
                </a:solidFill>
              </a:rPr>
              <a:t>S</a:t>
            </a:r>
            <a:r>
              <a:rPr kumimoji="1" lang="en-US" altLang="zh-CN" sz="2000" b="1" dirty="0">
                <a:solidFill>
                  <a:srgbClr val="FF0000"/>
                </a:solidFill>
              </a:rPr>
              <a:t>:</a:t>
            </a:r>
            <a:r>
              <a:rPr kumimoji="1" lang="zh-CN" altLang="en-US" sz="2000" b="1" u="sng" dirty="0">
                <a:solidFill>
                  <a:schemeClr val="bg1"/>
                </a:solidFill>
              </a:rPr>
              <a:t>课程成绩条件关系</a:t>
            </a:r>
            <a:r>
              <a:rPr kumimoji="1" lang="en-US" altLang="zh-CN" sz="2000" b="1" u="sng" dirty="0">
                <a:solidFill>
                  <a:schemeClr val="bg1"/>
                </a:solidFill>
              </a:rPr>
              <a:t>CG</a:t>
            </a:r>
            <a:endParaRPr kumimoji="1" lang="zh-CN" altLang="en-US" sz="2000" b="1" u="sng" dirty="0">
              <a:solidFill>
                <a:schemeClr val="bg1"/>
              </a:solidFill>
            </a:endParaRPr>
          </a:p>
        </p:txBody>
      </p:sp>
      <p:sp>
        <p:nvSpPr>
          <p:cNvPr id="9" name="文本框 8">
            <a:extLst>
              <a:ext uri="{FF2B5EF4-FFF2-40B4-BE49-F238E27FC236}">
                <a16:creationId xmlns:a16="http://schemas.microsoft.com/office/drawing/2014/main" id="{86649D74-9DF4-1349-96B7-ADAE11DC8857}"/>
              </a:ext>
            </a:extLst>
          </p:cNvPr>
          <p:cNvSpPr txBox="1"/>
          <p:nvPr/>
        </p:nvSpPr>
        <p:spPr>
          <a:xfrm>
            <a:off x="6857439" y="435635"/>
            <a:ext cx="314510" cy="338554"/>
          </a:xfrm>
          <a:prstGeom prst="rect">
            <a:avLst/>
          </a:prstGeom>
          <a:noFill/>
        </p:spPr>
        <p:txBody>
          <a:bodyPr wrap="none" rtlCol="0">
            <a:spAutoFit/>
          </a:bodyPr>
          <a:lstStyle/>
          <a:p>
            <a:r>
              <a:rPr lang="en-US" altLang="zh-CN" sz="2000" b="1" dirty="0">
                <a:solidFill>
                  <a:srgbClr val="FF0000"/>
                </a:solidFill>
              </a:rPr>
              <a:t>T</a:t>
            </a:r>
            <a:endParaRPr kumimoji="1" lang="zh-CN" altLang="en-US" sz="2000" b="1" u="sng" dirty="0">
              <a:solidFill>
                <a:schemeClr val="bg1"/>
              </a:solidFill>
            </a:endParaRPr>
          </a:p>
        </p:txBody>
      </p:sp>
      <p:graphicFrame>
        <p:nvGraphicFramePr>
          <p:cNvPr id="10" name="表格 9">
            <a:extLst>
              <a:ext uri="{FF2B5EF4-FFF2-40B4-BE49-F238E27FC236}">
                <a16:creationId xmlns:a16="http://schemas.microsoft.com/office/drawing/2014/main" id="{2A84A62B-9185-084C-9604-A0F2C7A17365}"/>
              </a:ext>
            </a:extLst>
          </p:cNvPr>
          <p:cNvGraphicFramePr>
            <a:graphicFrameLocks noGrp="1"/>
          </p:cNvGraphicFramePr>
          <p:nvPr>
            <p:extLst>
              <p:ext uri="{D42A27DB-BD31-4B8C-83A1-F6EECF244321}">
                <p14:modId xmlns:p14="http://schemas.microsoft.com/office/powerpoint/2010/main" val="770549013"/>
              </p:ext>
            </p:extLst>
          </p:nvPr>
        </p:nvGraphicFramePr>
        <p:xfrm>
          <a:off x="294797" y="3089361"/>
          <a:ext cx="3489955" cy="329184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2861137485"/>
                    </a:ext>
                  </a:extLst>
                </a:gridCol>
                <a:gridCol w="1329715">
                  <a:extLst>
                    <a:ext uri="{9D8B030D-6E8A-4147-A177-3AD203B41FA5}">
                      <a16:colId xmlns:a16="http://schemas.microsoft.com/office/drawing/2014/main" val="2647707742"/>
                    </a:ext>
                  </a:extLst>
                </a:gridCol>
              </a:tblGrid>
              <a:tr h="295233">
                <a:tc>
                  <a:txBody>
                    <a:bodyPr/>
                    <a:lstStyle/>
                    <a:p>
                      <a:pPr algn="ctr"/>
                      <a:r>
                        <a:rPr lang="en-US" altLang="zh-CN" sz="1800" dirty="0"/>
                        <a:t>SNAME</a:t>
                      </a:r>
                      <a:endParaRPr lang="zh-CN" altLang="en-US" sz="1800" dirty="0"/>
                    </a:p>
                  </a:txBody>
                  <a:tcPr/>
                </a:tc>
                <a:tc>
                  <a:txBody>
                    <a:bodyPr/>
                    <a:lstStyle/>
                    <a:p>
                      <a:pPr algn="ctr"/>
                      <a:r>
                        <a:rPr lang="en-US" altLang="zh-CN" sz="1800" dirty="0"/>
                        <a:t>SEX</a:t>
                      </a:r>
                      <a:endParaRPr lang="zh-CN" altLang="en-US" sz="1800" dirty="0"/>
                    </a:p>
                  </a:txBody>
                  <a:tcPr/>
                </a:tc>
                <a:tc>
                  <a:txBody>
                    <a:bodyPr/>
                    <a:lstStyle/>
                    <a:p>
                      <a:pPr algn="ctr"/>
                      <a:r>
                        <a:rPr lang="en-US" altLang="zh-CN" sz="1800" dirty="0"/>
                        <a:t>CDEPT</a:t>
                      </a:r>
                      <a:endParaRPr lang="zh-CN" altLang="en-US" sz="1800" dirty="0"/>
                    </a:p>
                  </a:txBody>
                  <a:tcPr/>
                </a:tc>
                <a:extLst>
                  <a:ext uri="{0D108BD9-81ED-4DB2-BD59-A6C34878D82A}">
                    <a16:rowId xmlns:a16="http://schemas.microsoft.com/office/drawing/2014/main" val="3145990871"/>
                  </a:ext>
                </a:extLst>
              </a:tr>
              <a:tr h="295233">
                <a:tc>
                  <a:txBody>
                    <a:bodyPr/>
                    <a:lstStyle/>
                    <a:p>
                      <a:pPr algn="ctr"/>
                      <a:r>
                        <a:rPr lang="zh-CN" altLang="en-US" sz="1800" dirty="0"/>
                        <a:t>李志鸣</a:t>
                      </a: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295233">
                <a:tc>
                  <a:txBody>
                    <a:bodyPr/>
                    <a:lstStyle/>
                    <a:p>
                      <a:pPr algn="ctr"/>
                      <a:r>
                        <a:rPr lang="zh-CN" altLang="en-US" sz="1800" dirty="0"/>
                        <a:t>李志鸣</a:t>
                      </a: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520946086"/>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p>
                  </a:txBody>
                  <a:tcPr/>
                </a:tc>
                <a:extLst>
                  <a:ext uri="{0D108BD9-81ED-4DB2-BD59-A6C34878D82A}">
                    <a16:rowId xmlns:a16="http://schemas.microsoft.com/office/drawing/2014/main" val="841821175"/>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p>
                  </a:txBody>
                  <a:tcPr/>
                </a:tc>
                <a:extLst>
                  <a:ext uri="{0D108BD9-81ED-4DB2-BD59-A6C34878D82A}">
                    <a16:rowId xmlns:a16="http://schemas.microsoft.com/office/drawing/2014/main" val="4106283618"/>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3217878356"/>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r h="295233">
                <a:tc>
                  <a:txBody>
                    <a:bodyPr/>
                    <a:lstStyle/>
                    <a:p>
                      <a:pPr algn="ctr"/>
                      <a:r>
                        <a:rPr lang="zh-CN" altLang="en-US" sz="1800" dirty="0"/>
                        <a:t>王文晴</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1857989396"/>
                  </a:ext>
                </a:extLst>
              </a:tr>
              <a:tr h="295233">
                <a:tc>
                  <a:txBody>
                    <a:bodyPr/>
                    <a:lstStyle/>
                    <a:p>
                      <a:pPr algn="ctr"/>
                      <a:r>
                        <a:rPr lang="zh-CN" altLang="en-US" sz="1800" dirty="0"/>
                        <a:t>王文晴</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770924754"/>
                  </a:ext>
                </a:extLst>
              </a:tr>
            </a:tbl>
          </a:graphicData>
        </a:graphic>
      </p:graphicFrame>
      <p:graphicFrame>
        <p:nvGraphicFramePr>
          <p:cNvPr id="2" name="表格 1">
            <a:extLst>
              <a:ext uri="{FF2B5EF4-FFF2-40B4-BE49-F238E27FC236}">
                <a16:creationId xmlns:a16="http://schemas.microsoft.com/office/drawing/2014/main" id="{D8339989-F1C2-4E43-8C0E-BC71AFD69BC4}"/>
              </a:ext>
            </a:extLst>
          </p:cNvPr>
          <p:cNvGraphicFramePr>
            <a:graphicFrameLocks noGrp="1"/>
          </p:cNvGraphicFramePr>
          <p:nvPr>
            <p:extLst>
              <p:ext uri="{D42A27DB-BD31-4B8C-83A1-F6EECF244321}">
                <p14:modId xmlns:p14="http://schemas.microsoft.com/office/powerpoint/2010/main" val="2030922995"/>
              </p:ext>
            </p:extLst>
          </p:nvPr>
        </p:nvGraphicFramePr>
        <p:xfrm>
          <a:off x="3784752" y="3087052"/>
          <a:ext cx="2232248" cy="3337560"/>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2832340358"/>
                    </a:ext>
                  </a:extLst>
                </a:gridCol>
                <a:gridCol w="1152128">
                  <a:extLst>
                    <a:ext uri="{9D8B030D-6E8A-4147-A177-3AD203B41FA5}">
                      <a16:colId xmlns:a16="http://schemas.microsoft.com/office/drawing/2014/main" val="220544226"/>
                    </a:ext>
                  </a:extLst>
                </a:gridCol>
              </a:tblGrid>
              <a:tr h="370840">
                <a:tc>
                  <a:txBody>
                    <a:bodyPr/>
                    <a:lstStyle/>
                    <a:p>
                      <a:pPr algn="ctr"/>
                      <a:r>
                        <a:rPr lang="en-US" altLang="zh-CN" dirty="0"/>
                        <a:t>CNAME</a:t>
                      </a:r>
                      <a:endParaRPr lang="zh-CN" altLang="en-US" dirty="0"/>
                    </a:p>
                  </a:txBody>
                  <a:tcPr/>
                </a:tc>
                <a:tc>
                  <a:txBody>
                    <a:bodyPr/>
                    <a:lstStyle/>
                    <a:p>
                      <a:pPr algn="ctr"/>
                      <a:r>
                        <a:rPr lang="en-US" altLang="zh-CN" sz="1800" dirty="0"/>
                        <a:t>GRADE</a:t>
                      </a:r>
                      <a:endParaRPr lang="zh-CN" altLang="en-US" sz="1800" dirty="0"/>
                    </a:p>
                  </a:txBody>
                  <a:tcPr/>
                </a:tc>
                <a:extLst>
                  <a:ext uri="{0D108BD9-81ED-4DB2-BD59-A6C34878D82A}">
                    <a16:rowId xmlns:a16="http://schemas.microsoft.com/office/drawing/2014/main" val="4180026851"/>
                  </a:ext>
                </a:extLst>
              </a:tr>
              <a:tr h="370840">
                <a:tc>
                  <a:txBody>
                    <a:bodyPr/>
                    <a:lstStyle/>
                    <a:p>
                      <a:pPr algn="ctr"/>
                      <a:r>
                        <a:rPr lang="zh-CN" altLang="en-US" sz="16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1625395569"/>
                  </a:ext>
                </a:extLst>
              </a:tr>
              <a:tr h="370840">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1717891407"/>
                  </a:ext>
                </a:extLst>
              </a:tr>
              <a:tr h="370840">
                <a:tc>
                  <a:txBody>
                    <a:bodyPr/>
                    <a:lstStyle/>
                    <a:p>
                      <a:pPr algn="ctr"/>
                      <a:r>
                        <a:rPr lang="zh-CN" altLang="en-US" sz="16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2628472914"/>
                  </a:ext>
                </a:extLst>
              </a:tr>
              <a:tr h="370840">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663634897"/>
                  </a:ext>
                </a:extLst>
              </a:tr>
              <a:tr h="370840">
                <a:tc>
                  <a:txBody>
                    <a:bodyPr/>
                    <a:lstStyle/>
                    <a:p>
                      <a:pPr algn="ctr"/>
                      <a:r>
                        <a:rPr lang="zh-CN" altLang="en-US" sz="16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1457787174"/>
                  </a:ext>
                </a:extLst>
              </a:tr>
              <a:tr h="370840">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765853726"/>
                  </a:ext>
                </a:extLst>
              </a:tr>
              <a:tr h="370840">
                <a:tc>
                  <a:txBody>
                    <a:bodyPr/>
                    <a:lstStyle/>
                    <a:p>
                      <a:pPr algn="ctr"/>
                      <a:r>
                        <a:rPr lang="zh-CN" altLang="en-US" sz="16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3924729197"/>
                  </a:ext>
                </a:extLst>
              </a:tr>
              <a:tr h="370840">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701183356"/>
                  </a:ext>
                </a:extLst>
              </a:tr>
            </a:tbl>
          </a:graphicData>
        </a:graphic>
      </p:graphicFrame>
      <p:sp>
        <p:nvSpPr>
          <p:cNvPr id="13" name="文本框 12">
            <a:extLst>
              <a:ext uri="{FF2B5EF4-FFF2-40B4-BE49-F238E27FC236}">
                <a16:creationId xmlns:a16="http://schemas.microsoft.com/office/drawing/2014/main" id="{44E9A5FA-54D5-4244-9E64-0B435BC467E3}"/>
              </a:ext>
            </a:extLst>
          </p:cNvPr>
          <p:cNvSpPr txBox="1"/>
          <p:nvPr/>
        </p:nvSpPr>
        <p:spPr>
          <a:xfrm>
            <a:off x="2406836" y="2736187"/>
            <a:ext cx="4607858" cy="338554"/>
          </a:xfrm>
          <a:prstGeom prst="rect">
            <a:avLst/>
          </a:prstGeom>
          <a:noFill/>
        </p:spPr>
        <p:txBody>
          <a:bodyPr wrap="square">
            <a:spAutoFit/>
          </a:bodyPr>
          <a:lstStyle/>
          <a:p>
            <a:r>
              <a:rPr lang="en-US" altLang="zh-CN" sz="2000" b="1" dirty="0">
                <a:solidFill>
                  <a:srgbClr val="FF0000"/>
                </a:solidFill>
              </a:rPr>
              <a:t>T×S</a:t>
            </a:r>
            <a:endParaRPr lang="zh-CN" altLang="en-US" sz="2000" dirty="0">
              <a:solidFill>
                <a:srgbClr val="FF0000"/>
              </a:solidFill>
            </a:endParaRPr>
          </a:p>
        </p:txBody>
      </p:sp>
    </p:spTree>
    <p:extLst>
      <p:ext uri="{BB962C8B-B14F-4D97-AF65-F5344CB8AC3E}">
        <p14:creationId xmlns:p14="http://schemas.microsoft.com/office/powerpoint/2010/main" val="172131042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a:extLst>
              <a:ext uri="{FF2B5EF4-FFF2-40B4-BE49-F238E27FC236}">
                <a16:creationId xmlns:a16="http://schemas.microsoft.com/office/drawing/2014/main" id="{F1C7A6F2-AFC1-7D4D-A349-C12D4106A4C3}"/>
              </a:ext>
            </a:extLst>
          </p:cNvPr>
          <p:cNvGraphicFramePr>
            <a:graphicFrameLocks noGrp="1"/>
          </p:cNvGraphicFramePr>
          <p:nvPr>
            <p:extLst>
              <p:ext uri="{D42A27DB-BD31-4B8C-83A1-F6EECF244321}">
                <p14:modId xmlns:p14="http://schemas.microsoft.com/office/powerpoint/2010/main" val="2713538644"/>
              </p:ext>
            </p:extLst>
          </p:nvPr>
        </p:nvGraphicFramePr>
        <p:xfrm>
          <a:off x="1660499" y="3451206"/>
          <a:ext cx="3489955" cy="329184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2861137485"/>
                    </a:ext>
                  </a:extLst>
                </a:gridCol>
                <a:gridCol w="1329715">
                  <a:extLst>
                    <a:ext uri="{9D8B030D-6E8A-4147-A177-3AD203B41FA5}">
                      <a16:colId xmlns:a16="http://schemas.microsoft.com/office/drawing/2014/main" val="2647707742"/>
                    </a:ext>
                  </a:extLst>
                </a:gridCol>
              </a:tblGrid>
              <a:tr h="295233">
                <a:tc>
                  <a:txBody>
                    <a:bodyPr/>
                    <a:lstStyle/>
                    <a:p>
                      <a:pPr algn="ctr"/>
                      <a:r>
                        <a:rPr lang="en-US" altLang="zh-CN" sz="1800" dirty="0"/>
                        <a:t>SNAME</a:t>
                      </a:r>
                      <a:endParaRPr lang="zh-CN" altLang="en-US" sz="1800" dirty="0"/>
                    </a:p>
                  </a:txBody>
                  <a:tcPr/>
                </a:tc>
                <a:tc>
                  <a:txBody>
                    <a:bodyPr/>
                    <a:lstStyle/>
                    <a:p>
                      <a:pPr algn="ctr"/>
                      <a:r>
                        <a:rPr lang="en-US" altLang="zh-CN" sz="1800" dirty="0"/>
                        <a:t>SEX</a:t>
                      </a:r>
                      <a:endParaRPr lang="zh-CN" altLang="en-US" sz="1800" dirty="0"/>
                    </a:p>
                  </a:txBody>
                  <a:tcPr/>
                </a:tc>
                <a:tc>
                  <a:txBody>
                    <a:bodyPr/>
                    <a:lstStyle/>
                    <a:p>
                      <a:pPr algn="ctr"/>
                      <a:r>
                        <a:rPr lang="en-US" altLang="zh-CN" sz="1800" dirty="0"/>
                        <a:t>CDEPT</a:t>
                      </a:r>
                      <a:endParaRPr lang="zh-CN" altLang="en-US" sz="1800" dirty="0"/>
                    </a:p>
                  </a:txBody>
                  <a:tcPr/>
                </a:tc>
                <a:extLst>
                  <a:ext uri="{0D108BD9-81ED-4DB2-BD59-A6C34878D82A}">
                    <a16:rowId xmlns:a16="http://schemas.microsoft.com/office/drawing/2014/main" val="3145990871"/>
                  </a:ext>
                </a:extLst>
              </a:tr>
              <a:tr h="295233">
                <a:tc>
                  <a:txBody>
                    <a:bodyPr/>
                    <a:lstStyle/>
                    <a:p>
                      <a:pPr algn="ctr"/>
                      <a:r>
                        <a:rPr lang="zh-CN" altLang="en-US" sz="1800" dirty="0"/>
                        <a:t>李志鸣</a:t>
                      </a: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295233">
                <a:tc>
                  <a:txBody>
                    <a:bodyPr/>
                    <a:lstStyle/>
                    <a:p>
                      <a:pPr algn="ctr"/>
                      <a:r>
                        <a:rPr lang="zh-CN" altLang="en-US" sz="1800" dirty="0"/>
                        <a:t>李志鸣</a:t>
                      </a: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520946086"/>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女</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p>
                  </a:txBody>
                  <a:tcPr/>
                </a:tc>
                <a:extLst>
                  <a:ext uri="{0D108BD9-81ED-4DB2-BD59-A6C34878D82A}">
                    <a16:rowId xmlns:a16="http://schemas.microsoft.com/office/drawing/2014/main" val="841821175"/>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p>
                  </a:txBody>
                  <a:tcPr/>
                </a:tc>
                <a:extLst>
                  <a:ext uri="{0D108BD9-81ED-4DB2-BD59-A6C34878D82A}">
                    <a16:rowId xmlns:a16="http://schemas.microsoft.com/office/drawing/2014/main" val="4106283618"/>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3217878356"/>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r h="295233">
                <a:tc>
                  <a:txBody>
                    <a:bodyPr/>
                    <a:lstStyle/>
                    <a:p>
                      <a:pPr algn="ctr"/>
                      <a:r>
                        <a:rPr lang="zh-CN" altLang="en-US" sz="1800" dirty="0"/>
                        <a:t>王文晴</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女</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1857989396"/>
                  </a:ext>
                </a:extLst>
              </a:tr>
              <a:tr h="295233">
                <a:tc>
                  <a:txBody>
                    <a:bodyPr/>
                    <a:lstStyle/>
                    <a:p>
                      <a:pPr algn="ctr"/>
                      <a:r>
                        <a:rPr lang="zh-CN" altLang="en-US" sz="1800" dirty="0"/>
                        <a:t>王文晴</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770924754"/>
                  </a:ext>
                </a:extLst>
              </a:tr>
            </a:tbl>
          </a:graphicData>
        </a:graphic>
      </p:graphicFrame>
      <p:graphicFrame>
        <p:nvGraphicFramePr>
          <p:cNvPr id="10" name="表格 9">
            <a:extLst>
              <a:ext uri="{FF2B5EF4-FFF2-40B4-BE49-F238E27FC236}">
                <a16:creationId xmlns:a16="http://schemas.microsoft.com/office/drawing/2014/main" id="{98EBCADD-0A31-3242-A833-5BB8DB371F17}"/>
              </a:ext>
            </a:extLst>
          </p:cNvPr>
          <p:cNvGraphicFramePr>
            <a:graphicFrameLocks noGrp="1"/>
          </p:cNvGraphicFramePr>
          <p:nvPr>
            <p:extLst>
              <p:ext uri="{D42A27DB-BD31-4B8C-83A1-F6EECF244321}">
                <p14:modId xmlns:p14="http://schemas.microsoft.com/office/powerpoint/2010/main" val="1781065899"/>
              </p:ext>
            </p:extLst>
          </p:nvPr>
        </p:nvGraphicFramePr>
        <p:xfrm>
          <a:off x="5150016" y="3460791"/>
          <a:ext cx="2232248" cy="3291840"/>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2832340358"/>
                    </a:ext>
                  </a:extLst>
                </a:gridCol>
                <a:gridCol w="1152128">
                  <a:extLst>
                    <a:ext uri="{9D8B030D-6E8A-4147-A177-3AD203B41FA5}">
                      <a16:colId xmlns:a16="http://schemas.microsoft.com/office/drawing/2014/main" val="220544226"/>
                    </a:ext>
                  </a:extLst>
                </a:gridCol>
              </a:tblGrid>
              <a:tr h="364010">
                <a:tc>
                  <a:txBody>
                    <a:bodyPr/>
                    <a:lstStyle/>
                    <a:p>
                      <a:pPr algn="ctr"/>
                      <a:r>
                        <a:rPr lang="en-US" altLang="zh-CN" dirty="0"/>
                        <a:t>CNAME</a:t>
                      </a:r>
                      <a:endParaRPr lang="zh-CN" altLang="en-US" dirty="0"/>
                    </a:p>
                  </a:txBody>
                  <a:tcPr/>
                </a:tc>
                <a:tc>
                  <a:txBody>
                    <a:bodyPr/>
                    <a:lstStyle/>
                    <a:p>
                      <a:pPr algn="ctr"/>
                      <a:r>
                        <a:rPr lang="en-US" altLang="zh-CN" sz="1800" dirty="0"/>
                        <a:t>GRADE</a:t>
                      </a:r>
                      <a:endParaRPr lang="zh-CN" altLang="en-US" sz="1800" dirty="0"/>
                    </a:p>
                  </a:txBody>
                  <a:tcPr/>
                </a:tc>
                <a:extLst>
                  <a:ext uri="{0D108BD9-81ED-4DB2-BD59-A6C34878D82A}">
                    <a16:rowId xmlns:a16="http://schemas.microsoft.com/office/drawing/2014/main" val="4180026851"/>
                  </a:ext>
                </a:extLst>
              </a:tr>
              <a:tr h="364010">
                <a:tc>
                  <a:txBody>
                    <a:bodyPr/>
                    <a:lstStyle/>
                    <a:p>
                      <a:pPr algn="ctr"/>
                      <a:r>
                        <a:rPr lang="zh-CN" altLang="en-US" sz="16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1625395569"/>
                  </a:ext>
                </a:extLst>
              </a:tr>
              <a:tr h="364010">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1717891407"/>
                  </a:ext>
                </a:extLst>
              </a:tr>
              <a:tr h="364010">
                <a:tc>
                  <a:txBody>
                    <a:bodyPr/>
                    <a:lstStyle/>
                    <a:p>
                      <a:pPr algn="ctr"/>
                      <a:r>
                        <a:rPr lang="zh-CN" altLang="en-US" sz="16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2628472914"/>
                  </a:ext>
                </a:extLst>
              </a:tr>
              <a:tr h="364010">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663634897"/>
                  </a:ext>
                </a:extLst>
              </a:tr>
              <a:tr h="364010">
                <a:tc>
                  <a:txBody>
                    <a:bodyPr/>
                    <a:lstStyle/>
                    <a:p>
                      <a:pPr algn="ctr"/>
                      <a:r>
                        <a:rPr lang="zh-CN" altLang="en-US" sz="16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1457787174"/>
                  </a:ext>
                </a:extLst>
              </a:tr>
              <a:tr h="364010">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765853726"/>
                  </a:ext>
                </a:extLst>
              </a:tr>
              <a:tr h="364010">
                <a:tc>
                  <a:txBody>
                    <a:bodyPr/>
                    <a:lstStyle/>
                    <a:p>
                      <a:pPr algn="ctr"/>
                      <a:r>
                        <a:rPr lang="zh-CN" altLang="en-US" sz="16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3924729197"/>
                  </a:ext>
                </a:extLst>
              </a:tr>
              <a:tr h="364010">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701183356"/>
                  </a:ext>
                </a:extLst>
              </a:tr>
            </a:tbl>
          </a:graphicData>
        </a:graphic>
      </p:graphicFrame>
      <p:sp>
        <p:nvSpPr>
          <p:cNvPr id="11" name="文本框 10">
            <a:extLst>
              <a:ext uri="{FF2B5EF4-FFF2-40B4-BE49-F238E27FC236}">
                <a16:creationId xmlns:a16="http://schemas.microsoft.com/office/drawing/2014/main" id="{470D9CBC-9D8A-0B4B-82C8-D394050540CE}"/>
              </a:ext>
            </a:extLst>
          </p:cNvPr>
          <p:cNvSpPr txBox="1"/>
          <p:nvPr/>
        </p:nvSpPr>
        <p:spPr>
          <a:xfrm>
            <a:off x="3995609" y="3147196"/>
            <a:ext cx="4607858" cy="338554"/>
          </a:xfrm>
          <a:prstGeom prst="rect">
            <a:avLst/>
          </a:prstGeom>
          <a:noFill/>
        </p:spPr>
        <p:txBody>
          <a:bodyPr wrap="square">
            <a:spAutoFit/>
          </a:bodyPr>
          <a:lstStyle/>
          <a:p>
            <a:r>
              <a:rPr lang="en-US" altLang="zh-CN" sz="2000" b="1" dirty="0">
                <a:solidFill>
                  <a:srgbClr val="FF0000"/>
                </a:solidFill>
              </a:rPr>
              <a:t>T×S</a:t>
            </a:r>
            <a:endParaRPr lang="zh-CN" altLang="en-US" sz="2000" dirty="0">
              <a:solidFill>
                <a:srgbClr val="FF0000"/>
              </a:solidFill>
            </a:endParaRPr>
          </a:p>
        </p:txBody>
      </p:sp>
      <p:sp>
        <p:nvSpPr>
          <p:cNvPr id="12" name="矩形 11">
            <a:extLst>
              <a:ext uri="{FF2B5EF4-FFF2-40B4-BE49-F238E27FC236}">
                <a16:creationId xmlns:a16="http://schemas.microsoft.com/office/drawing/2014/main" id="{71CD8FCE-F7DD-814F-A863-2089846F9543}"/>
              </a:ext>
            </a:extLst>
          </p:cNvPr>
          <p:cNvSpPr/>
          <p:nvPr/>
        </p:nvSpPr>
        <p:spPr bwMode="auto">
          <a:xfrm>
            <a:off x="1691680" y="4525761"/>
            <a:ext cx="5699370" cy="338554"/>
          </a:xfrm>
          <a:prstGeom prst="rect">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pic>
        <p:nvPicPr>
          <p:cNvPr id="19" name="图片 18">
            <a:extLst>
              <a:ext uri="{FF2B5EF4-FFF2-40B4-BE49-F238E27FC236}">
                <a16:creationId xmlns:a16="http://schemas.microsoft.com/office/drawing/2014/main" id="{24EA9258-8F80-4947-94E7-F402D90662AB}"/>
              </a:ext>
            </a:extLst>
          </p:cNvPr>
          <p:cNvPicPr>
            <a:picLocks noChangeAspect="1"/>
          </p:cNvPicPr>
          <p:nvPr/>
        </p:nvPicPr>
        <p:blipFill>
          <a:blip r:embed="rId2"/>
          <a:stretch>
            <a:fillRect/>
          </a:stretch>
        </p:blipFill>
        <p:spPr>
          <a:xfrm>
            <a:off x="4850368" y="382529"/>
            <a:ext cx="4227405" cy="2998928"/>
          </a:xfrm>
          <a:prstGeom prst="rect">
            <a:avLst/>
          </a:prstGeom>
        </p:spPr>
      </p:pic>
      <p:sp>
        <p:nvSpPr>
          <p:cNvPr id="20" name="矩形 19">
            <a:extLst>
              <a:ext uri="{FF2B5EF4-FFF2-40B4-BE49-F238E27FC236}">
                <a16:creationId xmlns:a16="http://schemas.microsoft.com/office/drawing/2014/main" id="{0332C8D8-C87E-9941-A066-6D63B61C8ADD}"/>
              </a:ext>
            </a:extLst>
          </p:cNvPr>
          <p:cNvSpPr/>
          <p:nvPr/>
        </p:nvSpPr>
        <p:spPr bwMode="auto">
          <a:xfrm>
            <a:off x="1691680" y="5647057"/>
            <a:ext cx="5699370" cy="338554"/>
          </a:xfrm>
          <a:prstGeom prst="rect">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24" name="Rectangle 2">
            <a:extLst>
              <a:ext uri="{FF2B5EF4-FFF2-40B4-BE49-F238E27FC236}">
                <a16:creationId xmlns:a16="http://schemas.microsoft.com/office/drawing/2014/main" id="{FDAB458B-D7DB-5247-993C-120D927CF5D1}"/>
              </a:ext>
            </a:extLst>
          </p:cNvPr>
          <p:cNvSpPr>
            <a:spLocks noChangeArrowheads="1"/>
          </p:cNvSpPr>
          <p:nvPr/>
        </p:nvSpPr>
        <p:spPr bwMode="auto">
          <a:xfrm>
            <a:off x="-66227" y="0"/>
            <a:ext cx="9144000" cy="39780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800" b="1" dirty="0">
                <a:solidFill>
                  <a:srgbClr val="660033"/>
                </a:solidFill>
                <a:cs typeface="Times New Roman" pitchFamily="18" charset="0"/>
              </a:rPr>
              <a:t>  </a:t>
            </a:r>
            <a:r>
              <a:rPr lang="en-US" altLang="zh-CN" sz="3200" b="1" dirty="0">
                <a:solidFill>
                  <a:srgbClr val="660033"/>
                </a:solidFill>
                <a:cs typeface="Times New Roman" pitchFamily="18" charset="0"/>
              </a:rPr>
              <a:t>R÷S</a:t>
            </a:r>
            <a:r>
              <a:rPr lang="zh-CN" altLang="en-US" sz="3200" b="1" dirty="0">
                <a:solidFill>
                  <a:srgbClr val="660033"/>
                </a:solidFill>
                <a:cs typeface="Times New Roman" pitchFamily="18" charset="0"/>
              </a:rPr>
              <a:t>的具体计算过程如下：</a:t>
            </a:r>
            <a:r>
              <a:rPr lang="zh-CN" altLang="en-US" sz="3200" b="1" dirty="0">
                <a:solidFill>
                  <a:schemeClr val="bg2"/>
                </a:solidFill>
              </a:rPr>
              <a:t> </a:t>
            </a:r>
          </a:p>
          <a:p>
            <a:pPr eaLnBrk="0" hangingPunct="0">
              <a:lnSpc>
                <a:spcPct val="150000"/>
              </a:lnSpc>
              <a:spcBef>
                <a:spcPts val="0"/>
              </a:spcBef>
            </a:pPr>
            <a:r>
              <a:rPr lang="zh-CN" altLang="en-US" sz="2400" dirty="0">
                <a:solidFill>
                  <a:schemeClr val="bg2"/>
                </a:solidFill>
              </a:rPr>
              <a:t>  </a:t>
            </a:r>
            <a:r>
              <a:rPr lang="zh-CN" altLang="en-US" sz="2800" b="1" dirty="0">
                <a:solidFill>
                  <a:schemeClr val="tx1">
                    <a:lumMod val="50000"/>
                  </a:schemeClr>
                </a:solidFill>
              </a:rPr>
              <a:t>① </a:t>
            </a:r>
            <a:r>
              <a:rPr lang="en-US" altLang="zh-CN" sz="2800" b="1" dirty="0">
                <a:solidFill>
                  <a:schemeClr val="tx1">
                    <a:lumMod val="50000"/>
                  </a:schemeClr>
                </a:solidFill>
              </a:rPr>
              <a:t>T = π</a:t>
            </a:r>
            <a:r>
              <a:rPr lang="en-US" altLang="zh-CN" sz="3600" baseline="-25000" dirty="0">
                <a:solidFill>
                  <a:schemeClr val="tx1">
                    <a:lumMod val="50000"/>
                  </a:schemeClr>
                </a:solidFill>
                <a:latin typeface="Times New Roman" pitchFamily="18" charset="0"/>
              </a:rPr>
              <a:t>1</a:t>
            </a:r>
            <a:r>
              <a:rPr lang="zh-CN" altLang="en-US" sz="3600" baseline="-25000" dirty="0">
                <a:solidFill>
                  <a:schemeClr val="tx1">
                    <a:lumMod val="50000"/>
                  </a:schemeClr>
                </a:solidFill>
                <a:latin typeface="Times New Roman" pitchFamily="18" charset="0"/>
              </a:rPr>
              <a:t>，</a:t>
            </a:r>
            <a:r>
              <a:rPr lang="en-US" altLang="zh-CN" sz="3600" baseline="-25000" dirty="0">
                <a:solidFill>
                  <a:schemeClr val="tx1">
                    <a:lumMod val="50000"/>
                  </a:schemeClr>
                </a:solidFill>
                <a:latin typeface="Times New Roman" pitchFamily="18" charset="0"/>
              </a:rPr>
              <a:t>2</a:t>
            </a:r>
            <a:r>
              <a:rPr lang="zh-CN" altLang="en-US" sz="3600" baseline="-25000" dirty="0">
                <a:solidFill>
                  <a:schemeClr val="tx1">
                    <a:lumMod val="50000"/>
                  </a:schemeClr>
                </a:solidFill>
                <a:latin typeface="Times New Roman" pitchFamily="18" charset="0"/>
              </a:rPr>
              <a:t>，</a:t>
            </a:r>
            <a:r>
              <a:rPr lang="en-US" altLang="zh-CN" sz="3600" baseline="-25000" dirty="0">
                <a:solidFill>
                  <a:schemeClr val="tx1">
                    <a:lumMod val="50000"/>
                  </a:schemeClr>
                </a:solidFill>
                <a:latin typeface="Times New Roman" pitchFamily="18" charset="0"/>
              </a:rPr>
              <a:t>…</a:t>
            </a:r>
            <a:r>
              <a:rPr lang="zh-CN" altLang="en-US" sz="3600" baseline="-25000" dirty="0">
                <a:solidFill>
                  <a:schemeClr val="tx1">
                    <a:lumMod val="50000"/>
                  </a:schemeClr>
                </a:solidFill>
                <a:latin typeface="Times New Roman" pitchFamily="18" charset="0"/>
              </a:rPr>
              <a:t>，</a:t>
            </a:r>
            <a:r>
              <a:rPr lang="en-US" altLang="zh-CN" sz="3600" baseline="-25000" dirty="0">
                <a:solidFill>
                  <a:schemeClr val="tx1">
                    <a:lumMod val="50000"/>
                  </a:schemeClr>
                </a:solidFill>
                <a:latin typeface="Times New Roman" pitchFamily="18" charset="0"/>
              </a:rPr>
              <a:t>r-s</a:t>
            </a:r>
            <a:r>
              <a:rPr lang="zh-CN" altLang="en-US" sz="2800" b="1" dirty="0">
                <a:solidFill>
                  <a:schemeClr val="tx1">
                    <a:lumMod val="50000"/>
                  </a:schemeClr>
                </a:solidFill>
              </a:rPr>
              <a:t>（</a:t>
            </a:r>
            <a:r>
              <a:rPr lang="en-US" altLang="zh-CN" sz="2800" b="1" dirty="0">
                <a:solidFill>
                  <a:schemeClr val="tx1">
                    <a:lumMod val="50000"/>
                  </a:schemeClr>
                </a:solidFill>
              </a:rPr>
              <a:t>R</a:t>
            </a:r>
            <a:r>
              <a:rPr lang="zh-CN" altLang="en-US" sz="2800" b="1" dirty="0">
                <a:solidFill>
                  <a:schemeClr val="tx1">
                    <a:lumMod val="50000"/>
                  </a:schemeClr>
                </a:solidFill>
              </a:rPr>
              <a:t>）</a:t>
            </a:r>
            <a:endParaRPr lang="en-US" altLang="zh-CN" sz="2800" b="1" dirty="0">
              <a:solidFill>
                <a:schemeClr val="tx1">
                  <a:lumMod val="50000"/>
                </a:schemeClr>
              </a:solidFill>
            </a:endParaRPr>
          </a:p>
          <a:p>
            <a:pPr eaLnBrk="0" hangingPunct="0">
              <a:lnSpc>
                <a:spcPct val="150000"/>
              </a:lnSpc>
              <a:spcBef>
                <a:spcPts val="0"/>
              </a:spcBef>
            </a:pPr>
            <a:r>
              <a:rPr lang="en-US" altLang="zh-CN" sz="2800" b="1" dirty="0">
                <a:solidFill>
                  <a:schemeClr val="bg2"/>
                </a:solidFill>
              </a:rPr>
              <a:t>  </a:t>
            </a:r>
            <a:r>
              <a:rPr lang="zh-CN" altLang="en-US" sz="2800" b="1" dirty="0">
                <a:solidFill>
                  <a:schemeClr val="tx1">
                    <a:lumMod val="50000"/>
                  </a:schemeClr>
                </a:solidFill>
              </a:rPr>
              <a:t>② </a:t>
            </a:r>
            <a:r>
              <a:rPr lang="en-US" altLang="zh-CN" sz="2800" b="1" dirty="0">
                <a:solidFill>
                  <a:schemeClr val="tx1">
                    <a:lumMod val="50000"/>
                  </a:schemeClr>
                </a:solidFill>
              </a:rPr>
              <a:t>W = (T×S)</a:t>
            </a:r>
            <a:r>
              <a:rPr lang="en-US" altLang="zh-CN" sz="2800" b="1" dirty="0">
                <a:solidFill>
                  <a:schemeClr val="bg2"/>
                </a:solidFill>
              </a:rPr>
              <a:t>-R</a:t>
            </a:r>
          </a:p>
          <a:p>
            <a:pPr eaLnBrk="0" hangingPunct="0">
              <a:lnSpc>
                <a:spcPct val="150000"/>
              </a:lnSpc>
            </a:pPr>
            <a:endParaRPr lang="zh-CN" altLang="en-US" sz="3200" b="1" dirty="0">
              <a:solidFill>
                <a:schemeClr val="bg2"/>
              </a:solidFill>
            </a:endParaRPr>
          </a:p>
          <a:p>
            <a:pPr eaLnBrk="0" hangingPunct="0">
              <a:lnSpc>
                <a:spcPct val="150000"/>
              </a:lnSpc>
            </a:pPr>
            <a:r>
              <a:rPr lang="zh-CN" altLang="en-US" sz="3200" b="1" dirty="0">
                <a:solidFill>
                  <a:schemeClr val="bg2"/>
                </a:solidFill>
              </a:rPr>
              <a:t>  </a:t>
            </a:r>
            <a:endParaRPr lang="en-US" altLang="zh-CN" sz="2800" b="1" dirty="0">
              <a:solidFill>
                <a:schemeClr val="bg2"/>
              </a:solidFill>
            </a:endParaRPr>
          </a:p>
        </p:txBody>
      </p:sp>
    </p:spTree>
    <p:extLst>
      <p:ext uri="{BB962C8B-B14F-4D97-AF65-F5344CB8AC3E}">
        <p14:creationId xmlns:p14="http://schemas.microsoft.com/office/powerpoint/2010/main" val="1917359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20"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9" name="表格 8">
            <a:extLst>
              <a:ext uri="{FF2B5EF4-FFF2-40B4-BE49-F238E27FC236}">
                <a16:creationId xmlns:a16="http://schemas.microsoft.com/office/drawing/2014/main" id="{F1C7A6F2-AFC1-7D4D-A349-C12D4106A4C3}"/>
              </a:ext>
            </a:extLst>
          </p:cNvPr>
          <p:cNvGraphicFramePr>
            <a:graphicFrameLocks noGrp="1"/>
          </p:cNvGraphicFramePr>
          <p:nvPr>
            <p:extLst>
              <p:ext uri="{D42A27DB-BD31-4B8C-83A1-F6EECF244321}">
                <p14:modId xmlns:p14="http://schemas.microsoft.com/office/powerpoint/2010/main" val="2275993332"/>
              </p:ext>
            </p:extLst>
          </p:nvPr>
        </p:nvGraphicFramePr>
        <p:xfrm>
          <a:off x="1724618" y="5367094"/>
          <a:ext cx="3489955" cy="109728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2861137485"/>
                    </a:ext>
                  </a:extLst>
                </a:gridCol>
                <a:gridCol w="1329715">
                  <a:extLst>
                    <a:ext uri="{9D8B030D-6E8A-4147-A177-3AD203B41FA5}">
                      <a16:colId xmlns:a16="http://schemas.microsoft.com/office/drawing/2014/main" val="2647707742"/>
                    </a:ext>
                  </a:extLst>
                </a:gridCol>
              </a:tblGrid>
              <a:tr h="295233">
                <a:tc>
                  <a:txBody>
                    <a:bodyPr/>
                    <a:lstStyle/>
                    <a:p>
                      <a:pPr algn="ctr"/>
                      <a:r>
                        <a:rPr lang="en-US" altLang="zh-CN" sz="1800" dirty="0"/>
                        <a:t>SNAME</a:t>
                      </a:r>
                      <a:endParaRPr lang="zh-CN" altLang="en-US" sz="1800" dirty="0"/>
                    </a:p>
                  </a:txBody>
                  <a:tcPr/>
                </a:tc>
                <a:tc>
                  <a:txBody>
                    <a:bodyPr/>
                    <a:lstStyle/>
                    <a:p>
                      <a:pPr algn="ctr"/>
                      <a:r>
                        <a:rPr lang="en-US" altLang="zh-CN" sz="1800" dirty="0"/>
                        <a:t>SEX</a:t>
                      </a:r>
                      <a:endParaRPr lang="zh-CN" altLang="en-US" sz="1800" dirty="0"/>
                    </a:p>
                  </a:txBody>
                  <a:tcPr/>
                </a:tc>
                <a:tc>
                  <a:txBody>
                    <a:bodyPr/>
                    <a:lstStyle/>
                    <a:p>
                      <a:pPr algn="ctr"/>
                      <a:r>
                        <a:rPr lang="en-US" altLang="zh-CN" sz="1800" dirty="0"/>
                        <a:t>CDEPT</a:t>
                      </a:r>
                      <a:endParaRPr lang="zh-CN" altLang="en-US" sz="1800" dirty="0"/>
                    </a:p>
                  </a:txBody>
                  <a:tcPr/>
                </a:tc>
                <a:extLst>
                  <a:ext uri="{0D108BD9-81ED-4DB2-BD59-A6C34878D82A}">
                    <a16:rowId xmlns:a16="http://schemas.microsoft.com/office/drawing/2014/main" val="3145990871"/>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女</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p>
                  </a:txBody>
                  <a:tcPr/>
                </a:tc>
                <a:extLst>
                  <a:ext uri="{0D108BD9-81ED-4DB2-BD59-A6C34878D82A}">
                    <a16:rowId xmlns:a16="http://schemas.microsoft.com/office/drawing/2014/main" val="841821175"/>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bl>
          </a:graphicData>
        </a:graphic>
      </p:graphicFrame>
      <p:graphicFrame>
        <p:nvGraphicFramePr>
          <p:cNvPr id="10" name="表格 9">
            <a:extLst>
              <a:ext uri="{FF2B5EF4-FFF2-40B4-BE49-F238E27FC236}">
                <a16:creationId xmlns:a16="http://schemas.microsoft.com/office/drawing/2014/main" id="{98EBCADD-0A31-3242-A833-5BB8DB371F17}"/>
              </a:ext>
            </a:extLst>
          </p:cNvPr>
          <p:cNvGraphicFramePr>
            <a:graphicFrameLocks noGrp="1"/>
          </p:cNvGraphicFramePr>
          <p:nvPr>
            <p:extLst>
              <p:ext uri="{D42A27DB-BD31-4B8C-83A1-F6EECF244321}">
                <p14:modId xmlns:p14="http://schemas.microsoft.com/office/powerpoint/2010/main" val="442116665"/>
              </p:ext>
            </p:extLst>
          </p:nvPr>
        </p:nvGraphicFramePr>
        <p:xfrm>
          <a:off x="5187134" y="5359474"/>
          <a:ext cx="2232248" cy="1112520"/>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2832340358"/>
                    </a:ext>
                  </a:extLst>
                </a:gridCol>
                <a:gridCol w="1152128">
                  <a:extLst>
                    <a:ext uri="{9D8B030D-6E8A-4147-A177-3AD203B41FA5}">
                      <a16:colId xmlns:a16="http://schemas.microsoft.com/office/drawing/2014/main" val="220544226"/>
                    </a:ext>
                  </a:extLst>
                </a:gridCol>
              </a:tblGrid>
              <a:tr h="370840">
                <a:tc>
                  <a:txBody>
                    <a:bodyPr/>
                    <a:lstStyle/>
                    <a:p>
                      <a:pPr algn="ctr"/>
                      <a:r>
                        <a:rPr lang="en-US" altLang="zh-CN" dirty="0"/>
                        <a:t>CNAME</a:t>
                      </a:r>
                      <a:endParaRPr lang="zh-CN" altLang="en-US" dirty="0"/>
                    </a:p>
                  </a:txBody>
                  <a:tcPr/>
                </a:tc>
                <a:tc>
                  <a:txBody>
                    <a:bodyPr/>
                    <a:lstStyle/>
                    <a:p>
                      <a:pPr algn="ctr"/>
                      <a:r>
                        <a:rPr lang="en-US" altLang="zh-CN" sz="1800" dirty="0"/>
                        <a:t>GRADE</a:t>
                      </a:r>
                      <a:endParaRPr lang="zh-CN" altLang="en-US" sz="1800" dirty="0"/>
                    </a:p>
                  </a:txBody>
                  <a:tcPr/>
                </a:tc>
                <a:extLst>
                  <a:ext uri="{0D108BD9-81ED-4DB2-BD59-A6C34878D82A}">
                    <a16:rowId xmlns:a16="http://schemas.microsoft.com/office/drawing/2014/main" val="4180026851"/>
                  </a:ext>
                </a:extLst>
              </a:tr>
              <a:tr h="370840">
                <a:tc>
                  <a:txBody>
                    <a:bodyPr/>
                    <a:lstStyle/>
                    <a:p>
                      <a:pPr algn="ctr"/>
                      <a:r>
                        <a:rPr lang="zh-CN" altLang="en-US" sz="16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2628472914"/>
                  </a:ext>
                </a:extLst>
              </a:tr>
              <a:tr h="370840">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765853726"/>
                  </a:ext>
                </a:extLst>
              </a:tr>
            </a:tbl>
          </a:graphicData>
        </a:graphic>
      </p:graphicFrame>
      <p:sp>
        <p:nvSpPr>
          <p:cNvPr id="11" name="文本框 10">
            <a:extLst>
              <a:ext uri="{FF2B5EF4-FFF2-40B4-BE49-F238E27FC236}">
                <a16:creationId xmlns:a16="http://schemas.microsoft.com/office/drawing/2014/main" id="{470D9CBC-9D8A-0B4B-82C8-D394050540CE}"/>
              </a:ext>
            </a:extLst>
          </p:cNvPr>
          <p:cNvSpPr txBox="1"/>
          <p:nvPr/>
        </p:nvSpPr>
        <p:spPr>
          <a:xfrm>
            <a:off x="3707904" y="5028540"/>
            <a:ext cx="4607858" cy="338554"/>
          </a:xfrm>
          <a:prstGeom prst="rect">
            <a:avLst/>
          </a:prstGeom>
          <a:noFill/>
        </p:spPr>
        <p:txBody>
          <a:bodyPr wrap="square">
            <a:spAutoFit/>
          </a:bodyPr>
          <a:lstStyle/>
          <a:p>
            <a:r>
              <a:rPr lang="en-US" altLang="zh-CN" sz="2000" b="1" dirty="0">
                <a:solidFill>
                  <a:srgbClr val="FF0000"/>
                </a:solidFill>
              </a:rPr>
              <a:t>W</a:t>
            </a:r>
            <a:r>
              <a:rPr lang="zh-CN" altLang="en-US" sz="2000" b="1" dirty="0">
                <a:solidFill>
                  <a:srgbClr val="FF0000"/>
                </a:solidFill>
              </a:rPr>
              <a:t>：</a:t>
            </a:r>
            <a:r>
              <a:rPr lang="en-US" altLang="zh-CN" sz="2000" b="1" dirty="0">
                <a:solidFill>
                  <a:srgbClr val="FF0000"/>
                </a:solidFill>
              </a:rPr>
              <a:t>T×S-R</a:t>
            </a:r>
            <a:endParaRPr lang="zh-CN" altLang="en-US" sz="2000" dirty="0">
              <a:solidFill>
                <a:srgbClr val="FF0000"/>
              </a:solidFill>
            </a:endParaRPr>
          </a:p>
        </p:txBody>
      </p:sp>
      <p:pic>
        <p:nvPicPr>
          <p:cNvPr id="19" name="图片 18">
            <a:extLst>
              <a:ext uri="{FF2B5EF4-FFF2-40B4-BE49-F238E27FC236}">
                <a16:creationId xmlns:a16="http://schemas.microsoft.com/office/drawing/2014/main" id="{24EA9258-8F80-4947-94E7-F402D90662AB}"/>
              </a:ext>
            </a:extLst>
          </p:cNvPr>
          <p:cNvPicPr>
            <a:picLocks noChangeAspect="1"/>
          </p:cNvPicPr>
          <p:nvPr/>
        </p:nvPicPr>
        <p:blipFill>
          <a:blip r:embed="rId2"/>
          <a:stretch>
            <a:fillRect/>
          </a:stretch>
        </p:blipFill>
        <p:spPr>
          <a:xfrm>
            <a:off x="1724618" y="908720"/>
            <a:ext cx="5694763" cy="4039875"/>
          </a:xfrm>
          <a:prstGeom prst="rect">
            <a:avLst/>
          </a:prstGeom>
        </p:spPr>
      </p:pic>
      <p:sp>
        <p:nvSpPr>
          <p:cNvPr id="13" name="Rectangle 2">
            <a:extLst>
              <a:ext uri="{FF2B5EF4-FFF2-40B4-BE49-F238E27FC236}">
                <a16:creationId xmlns:a16="http://schemas.microsoft.com/office/drawing/2014/main" id="{1821864F-FEFD-DD49-9695-6BA662C8B10B}"/>
              </a:ext>
            </a:extLst>
          </p:cNvPr>
          <p:cNvSpPr>
            <a:spLocks noChangeArrowheads="1"/>
          </p:cNvSpPr>
          <p:nvPr/>
        </p:nvSpPr>
        <p:spPr bwMode="auto">
          <a:xfrm>
            <a:off x="0" y="0"/>
            <a:ext cx="9144000" cy="259301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zh-CN" altLang="en-US" sz="2800" b="1" dirty="0">
                <a:solidFill>
                  <a:schemeClr val="tx1">
                    <a:lumMod val="50000"/>
                  </a:schemeClr>
                </a:solidFill>
              </a:rPr>
              <a:t>② </a:t>
            </a:r>
            <a:r>
              <a:rPr lang="en-US" altLang="zh-CN" sz="2800" b="1" dirty="0">
                <a:solidFill>
                  <a:schemeClr val="tx1">
                    <a:lumMod val="50000"/>
                  </a:schemeClr>
                </a:solidFill>
              </a:rPr>
              <a:t>W = (T×S)</a:t>
            </a:r>
            <a:r>
              <a:rPr lang="en-US" altLang="zh-CN" sz="2800" b="1" dirty="0">
                <a:solidFill>
                  <a:schemeClr val="bg2"/>
                </a:solidFill>
              </a:rPr>
              <a:t>-R</a:t>
            </a:r>
          </a:p>
          <a:p>
            <a:pPr eaLnBrk="0" hangingPunct="0">
              <a:lnSpc>
                <a:spcPct val="150000"/>
              </a:lnSpc>
            </a:pPr>
            <a:endParaRPr lang="zh-CN" altLang="en-US" sz="3200" b="1" dirty="0">
              <a:solidFill>
                <a:schemeClr val="bg2"/>
              </a:solidFill>
            </a:endParaRPr>
          </a:p>
          <a:p>
            <a:pPr eaLnBrk="0" hangingPunct="0">
              <a:lnSpc>
                <a:spcPct val="150000"/>
              </a:lnSpc>
            </a:pPr>
            <a:r>
              <a:rPr lang="zh-CN" altLang="en-US" sz="3200" b="1" dirty="0">
                <a:solidFill>
                  <a:schemeClr val="bg2"/>
                </a:solidFill>
              </a:rPr>
              <a:t>  </a:t>
            </a:r>
            <a:endParaRPr lang="en-US" altLang="zh-CN" sz="2800" b="1" dirty="0">
              <a:solidFill>
                <a:schemeClr val="bg2"/>
              </a:solidFill>
            </a:endParaRPr>
          </a:p>
        </p:txBody>
      </p:sp>
    </p:spTree>
    <p:extLst>
      <p:ext uri="{BB962C8B-B14F-4D97-AF65-F5344CB8AC3E}">
        <p14:creationId xmlns:p14="http://schemas.microsoft.com/office/powerpoint/2010/main" val="154919172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ChangeArrowheads="1"/>
          </p:cNvSpPr>
          <p:nvPr/>
        </p:nvSpPr>
        <p:spPr bwMode="auto">
          <a:xfrm>
            <a:off x="0" y="333375"/>
            <a:ext cx="9144000" cy="276998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800" b="1" dirty="0">
                <a:solidFill>
                  <a:srgbClr val="660033"/>
                </a:solidFill>
                <a:cs typeface="Times New Roman" pitchFamily="18" charset="0"/>
              </a:rPr>
              <a:t>  </a:t>
            </a:r>
            <a:r>
              <a:rPr lang="en-US" altLang="zh-CN" sz="3600" b="1" dirty="0">
                <a:solidFill>
                  <a:srgbClr val="660033"/>
                </a:solidFill>
                <a:cs typeface="Times New Roman" pitchFamily="18" charset="0"/>
              </a:rPr>
              <a:t>R÷S</a:t>
            </a:r>
            <a:r>
              <a:rPr lang="zh-CN" altLang="en-US" sz="3600" b="1" dirty="0">
                <a:solidFill>
                  <a:srgbClr val="660033"/>
                </a:solidFill>
                <a:cs typeface="Times New Roman" pitchFamily="18" charset="0"/>
              </a:rPr>
              <a:t>的具体计算过程如下：</a:t>
            </a:r>
            <a:r>
              <a:rPr lang="zh-CN" altLang="en-US" sz="3600" b="1" dirty="0">
                <a:solidFill>
                  <a:schemeClr val="bg2"/>
                </a:solidFill>
              </a:rPr>
              <a:t> </a:t>
            </a:r>
          </a:p>
          <a:p>
            <a:pPr eaLnBrk="0" hangingPunct="0">
              <a:lnSpc>
                <a:spcPct val="100000"/>
              </a:lnSpc>
              <a:spcBef>
                <a:spcPts val="0"/>
              </a:spcBef>
            </a:pPr>
            <a:r>
              <a:rPr lang="zh-CN" altLang="en-US" sz="2800" dirty="0">
                <a:solidFill>
                  <a:schemeClr val="bg2"/>
                </a:solidFill>
              </a:rPr>
              <a:t>  </a:t>
            </a:r>
            <a:r>
              <a:rPr lang="zh-CN" altLang="en-US" sz="2800" b="1" dirty="0">
                <a:solidFill>
                  <a:schemeClr val="tx1">
                    <a:lumMod val="50000"/>
                  </a:schemeClr>
                </a:solidFill>
              </a:rPr>
              <a:t>① </a:t>
            </a:r>
            <a:r>
              <a:rPr lang="en-US" altLang="zh-CN" sz="2800" b="1" dirty="0">
                <a:solidFill>
                  <a:schemeClr val="tx1">
                    <a:lumMod val="50000"/>
                  </a:schemeClr>
                </a:solidFill>
              </a:rPr>
              <a:t>T = π</a:t>
            </a:r>
            <a:r>
              <a:rPr lang="en-US" altLang="zh-CN" sz="3600" baseline="-25000" dirty="0">
                <a:solidFill>
                  <a:schemeClr val="tx1">
                    <a:lumMod val="50000"/>
                  </a:schemeClr>
                </a:solidFill>
                <a:latin typeface="Times New Roman" pitchFamily="18" charset="0"/>
              </a:rPr>
              <a:t>1</a:t>
            </a:r>
            <a:r>
              <a:rPr lang="zh-CN" altLang="en-US" sz="3600" baseline="-25000" dirty="0">
                <a:solidFill>
                  <a:schemeClr val="tx1">
                    <a:lumMod val="50000"/>
                  </a:schemeClr>
                </a:solidFill>
                <a:latin typeface="Times New Roman" pitchFamily="18" charset="0"/>
              </a:rPr>
              <a:t>，</a:t>
            </a:r>
            <a:r>
              <a:rPr lang="en-US" altLang="zh-CN" sz="3600" baseline="-25000" dirty="0">
                <a:solidFill>
                  <a:schemeClr val="tx1">
                    <a:lumMod val="50000"/>
                  </a:schemeClr>
                </a:solidFill>
                <a:latin typeface="Times New Roman" pitchFamily="18" charset="0"/>
              </a:rPr>
              <a:t>2</a:t>
            </a:r>
            <a:r>
              <a:rPr lang="zh-CN" altLang="en-US" sz="3600" baseline="-25000" dirty="0">
                <a:solidFill>
                  <a:schemeClr val="tx1">
                    <a:lumMod val="50000"/>
                  </a:schemeClr>
                </a:solidFill>
                <a:latin typeface="Times New Roman" pitchFamily="18" charset="0"/>
              </a:rPr>
              <a:t>，</a:t>
            </a:r>
            <a:r>
              <a:rPr lang="en-US" altLang="zh-CN" sz="3600" baseline="-25000" dirty="0">
                <a:solidFill>
                  <a:schemeClr val="tx1">
                    <a:lumMod val="50000"/>
                  </a:schemeClr>
                </a:solidFill>
                <a:latin typeface="Times New Roman" pitchFamily="18" charset="0"/>
              </a:rPr>
              <a:t>…</a:t>
            </a:r>
            <a:r>
              <a:rPr lang="zh-CN" altLang="en-US" sz="3600" baseline="-25000" dirty="0">
                <a:solidFill>
                  <a:schemeClr val="tx1">
                    <a:lumMod val="50000"/>
                  </a:schemeClr>
                </a:solidFill>
                <a:latin typeface="Times New Roman" pitchFamily="18" charset="0"/>
              </a:rPr>
              <a:t>，</a:t>
            </a:r>
            <a:r>
              <a:rPr lang="en-US" altLang="zh-CN" sz="3600" baseline="-25000" dirty="0">
                <a:solidFill>
                  <a:schemeClr val="tx1">
                    <a:lumMod val="50000"/>
                  </a:schemeClr>
                </a:solidFill>
                <a:latin typeface="Times New Roman" pitchFamily="18" charset="0"/>
              </a:rPr>
              <a:t>r-s</a:t>
            </a:r>
            <a:r>
              <a:rPr lang="zh-CN" altLang="en-US" sz="2800" b="1" dirty="0">
                <a:solidFill>
                  <a:schemeClr val="tx1">
                    <a:lumMod val="50000"/>
                  </a:schemeClr>
                </a:solidFill>
              </a:rPr>
              <a:t>（</a:t>
            </a:r>
            <a:r>
              <a:rPr lang="en-US" altLang="zh-CN" sz="2800" b="1" dirty="0">
                <a:solidFill>
                  <a:schemeClr val="tx1">
                    <a:lumMod val="50000"/>
                  </a:schemeClr>
                </a:solidFill>
              </a:rPr>
              <a:t>R</a:t>
            </a:r>
            <a:r>
              <a:rPr lang="zh-CN" altLang="en-US" sz="2800" b="1" dirty="0">
                <a:solidFill>
                  <a:schemeClr val="tx1">
                    <a:lumMod val="50000"/>
                  </a:schemeClr>
                </a:solidFill>
              </a:rPr>
              <a:t>）</a:t>
            </a:r>
          </a:p>
          <a:p>
            <a:pPr eaLnBrk="0" hangingPunct="0">
              <a:lnSpc>
                <a:spcPct val="100000"/>
              </a:lnSpc>
              <a:spcBef>
                <a:spcPts val="0"/>
              </a:spcBef>
            </a:pPr>
            <a:r>
              <a:rPr lang="zh-CN" altLang="en-US" sz="2800" b="1" dirty="0">
                <a:solidFill>
                  <a:schemeClr val="tx1">
                    <a:lumMod val="50000"/>
                  </a:schemeClr>
                </a:solidFill>
              </a:rPr>
              <a:t>  ② </a:t>
            </a:r>
            <a:r>
              <a:rPr lang="en-US" altLang="zh-CN" sz="2800" b="1" dirty="0">
                <a:solidFill>
                  <a:schemeClr val="tx1">
                    <a:lumMod val="50000"/>
                  </a:schemeClr>
                </a:solidFill>
              </a:rPr>
              <a:t>W = (T×S)-R</a:t>
            </a:r>
          </a:p>
          <a:p>
            <a:pPr eaLnBrk="0" hangingPunct="0">
              <a:lnSpc>
                <a:spcPct val="100000"/>
              </a:lnSpc>
              <a:spcBef>
                <a:spcPts val="0"/>
              </a:spcBef>
            </a:pPr>
            <a:r>
              <a:rPr lang="en-US" altLang="zh-CN" sz="3200" b="1" dirty="0">
                <a:solidFill>
                  <a:schemeClr val="bg2"/>
                </a:solidFill>
              </a:rPr>
              <a:t>  </a:t>
            </a:r>
            <a:r>
              <a:rPr lang="en-US" altLang="zh-CN" sz="2800" b="1" dirty="0">
                <a:solidFill>
                  <a:schemeClr val="bg2"/>
                </a:solidFill>
              </a:rPr>
              <a:t>③ V = π</a:t>
            </a:r>
            <a:r>
              <a:rPr lang="en-US" altLang="zh-CN" sz="2800" b="1" baseline="-25000" dirty="0">
                <a:solidFill>
                  <a:schemeClr val="bg2"/>
                </a:solidFill>
              </a:rPr>
              <a:t>1</a:t>
            </a:r>
            <a:r>
              <a:rPr lang="zh-CN" altLang="en-US" sz="2800" b="1" baseline="-25000" dirty="0">
                <a:solidFill>
                  <a:schemeClr val="bg2"/>
                </a:solidFill>
              </a:rPr>
              <a:t>，</a:t>
            </a:r>
            <a:r>
              <a:rPr lang="en-US" altLang="zh-CN" sz="2800" b="1" baseline="-25000" dirty="0">
                <a:solidFill>
                  <a:schemeClr val="bg2"/>
                </a:solidFill>
              </a:rPr>
              <a:t>2</a:t>
            </a:r>
            <a:r>
              <a:rPr lang="zh-CN" altLang="en-US" sz="2800" b="1" baseline="-25000" dirty="0">
                <a:solidFill>
                  <a:schemeClr val="bg2"/>
                </a:solidFill>
              </a:rPr>
              <a:t>，</a:t>
            </a:r>
            <a:r>
              <a:rPr lang="en-US" altLang="zh-CN" sz="2800" b="1" baseline="-25000" dirty="0">
                <a:solidFill>
                  <a:schemeClr val="bg2"/>
                </a:solidFill>
              </a:rPr>
              <a:t>…</a:t>
            </a:r>
            <a:r>
              <a:rPr lang="zh-CN" altLang="en-US" sz="2800" b="1" baseline="-25000" dirty="0">
                <a:solidFill>
                  <a:schemeClr val="bg2"/>
                </a:solidFill>
              </a:rPr>
              <a:t>，</a:t>
            </a:r>
            <a:r>
              <a:rPr lang="en-US" altLang="zh-CN" sz="2800" b="1" baseline="-25000" dirty="0">
                <a:solidFill>
                  <a:schemeClr val="bg2"/>
                </a:solidFill>
              </a:rPr>
              <a:t>r-s</a:t>
            </a:r>
            <a:r>
              <a:rPr lang="zh-CN" altLang="en-US" sz="2800" b="1" dirty="0">
                <a:solidFill>
                  <a:schemeClr val="bg2"/>
                </a:solidFill>
              </a:rPr>
              <a:t>（</a:t>
            </a:r>
            <a:r>
              <a:rPr lang="en-US" altLang="zh-CN" sz="2800" b="1" dirty="0">
                <a:solidFill>
                  <a:schemeClr val="bg2"/>
                </a:solidFill>
              </a:rPr>
              <a:t>W</a:t>
            </a:r>
            <a:r>
              <a:rPr lang="zh-CN" altLang="en-US" sz="2800" b="1" dirty="0">
                <a:solidFill>
                  <a:schemeClr val="bg2"/>
                </a:solidFill>
              </a:rPr>
              <a:t>）</a:t>
            </a:r>
          </a:p>
          <a:p>
            <a:pPr eaLnBrk="0" hangingPunct="0">
              <a:lnSpc>
                <a:spcPct val="100000"/>
              </a:lnSpc>
              <a:spcBef>
                <a:spcPts val="0"/>
              </a:spcBef>
            </a:pPr>
            <a:r>
              <a:rPr lang="zh-CN" altLang="en-US" sz="2800" b="1" dirty="0">
                <a:solidFill>
                  <a:schemeClr val="bg2"/>
                </a:solidFill>
              </a:rPr>
              <a:t> </a:t>
            </a:r>
            <a:endParaRPr lang="en-US" altLang="zh-CN" sz="2800" b="1" dirty="0">
              <a:solidFill>
                <a:schemeClr val="bg2"/>
              </a:solidFill>
            </a:endParaRPr>
          </a:p>
        </p:txBody>
      </p:sp>
      <p:graphicFrame>
        <p:nvGraphicFramePr>
          <p:cNvPr id="3" name="表格 2">
            <a:extLst>
              <a:ext uri="{FF2B5EF4-FFF2-40B4-BE49-F238E27FC236}">
                <a16:creationId xmlns:a16="http://schemas.microsoft.com/office/drawing/2014/main" id="{5934432B-320B-8546-9E20-A51A07856B89}"/>
              </a:ext>
            </a:extLst>
          </p:cNvPr>
          <p:cNvGraphicFramePr>
            <a:graphicFrameLocks noGrp="1"/>
          </p:cNvGraphicFramePr>
          <p:nvPr>
            <p:extLst>
              <p:ext uri="{D42A27DB-BD31-4B8C-83A1-F6EECF244321}">
                <p14:modId xmlns:p14="http://schemas.microsoft.com/office/powerpoint/2010/main" val="1148524941"/>
              </p:ext>
            </p:extLst>
          </p:nvPr>
        </p:nvGraphicFramePr>
        <p:xfrm>
          <a:off x="1364578" y="3103364"/>
          <a:ext cx="3489955" cy="109728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2861137485"/>
                    </a:ext>
                  </a:extLst>
                </a:gridCol>
                <a:gridCol w="1329715">
                  <a:extLst>
                    <a:ext uri="{9D8B030D-6E8A-4147-A177-3AD203B41FA5}">
                      <a16:colId xmlns:a16="http://schemas.microsoft.com/office/drawing/2014/main" val="2647707742"/>
                    </a:ext>
                  </a:extLst>
                </a:gridCol>
              </a:tblGrid>
              <a:tr h="295233">
                <a:tc>
                  <a:txBody>
                    <a:bodyPr/>
                    <a:lstStyle/>
                    <a:p>
                      <a:pPr algn="ctr"/>
                      <a:r>
                        <a:rPr lang="en-US" altLang="zh-CN" sz="1800" dirty="0"/>
                        <a:t>SNAME</a:t>
                      </a:r>
                      <a:endParaRPr lang="zh-CN" altLang="en-US" sz="1800" dirty="0"/>
                    </a:p>
                  </a:txBody>
                  <a:tcPr/>
                </a:tc>
                <a:tc>
                  <a:txBody>
                    <a:bodyPr/>
                    <a:lstStyle/>
                    <a:p>
                      <a:pPr algn="ctr"/>
                      <a:r>
                        <a:rPr lang="en-US" altLang="zh-CN" sz="1800" dirty="0"/>
                        <a:t>SEX</a:t>
                      </a:r>
                      <a:endParaRPr lang="zh-CN" altLang="en-US" sz="1800" dirty="0"/>
                    </a:p>
                  </a:txBody>
                  <a:tcPr/>
                </a:tc>
                <a:tc>
                  <a:txBody>
                    <a:bodyPr/>
                    <a:lstStyle/>
                    <a:p>
                      <a:pPr algn="ctr"/>
                      <a:r>
                        <a:rPr lang="en-US" altLang="zh-CN" sz="1800" dirty="0"/>
                        <a:t>CDEPT</a:t>
                      </a:r>
                      <a:endParaRPr lang="zh-CN" altLang="en-US" sz="1800" dirty="0"/>
                    </a:p>
                  </a:txBody>
                  <a:tcPr/>
                </a:tc>
                <a:extLst>
                  <a:ext uri="{0D108BD9-81ED-4DB2-BD59-A6C34878D82A}">
                    <a16:rowId xmlns:a16="http://schemas.microsoft.com/office/drawing/2014/main" val="3145990871"/>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女</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p>
                  </a:txBody>
                  <a:tcPr/>
                </a:tc>
                <a:extLst>
                  <a:ext uri="{0D108BD9-81ED-4DB2-BD59-A6C34878D82A}">
                    <a16:rowId xmlns:a16="http://schemas.microsoft.com/office/drawing/2014/main" val="841821175"/>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bl>
          </a:graphicData>
        </a:graphic>
      </p:graphicFrame>
      <p:graphicFrame>
        <p:nvGraphicFramePr>
          <p:cNvPr id="4" name="表格 3">
            <a:extLst>
              <a:ext uri="{FF2B5EF4-FFF2-40B4-BE49-F238E27FC236}">
                <a16:creationId xmlns:a16="http://schemas.microsoft.com/office/drawing/2014/main" id="{73063138-AB05-9F43-8FF5-096C61907016}"/>
              </a:ext>
            </a:extLst>
          </p:cNvPr>
          <p:cNvGraphicFramePr>
            <a:graphicFrameLocks noGrp="1"/>
          </p:cNvGraphicFramePr>
          <p:nvPr>
            <p:extLst>
              <p:ext uri="{D42A27DB-BD31-4B8C-83A1-F6EECF244321}">
                <p14:modId xmlns:p14="http://schemas.microsoft.com/office/powerpoint/2010/main" val="1146804799"/>
              </p:ext>
            </p:extLst>
          </p:nvPr>
        </p:nvGraphicFramePr>
        <p:xfrm>
          <a:off x="4827094" y="3095744"/>
          <a:ext cx="2232248" cy="1112520"/>
        </p:xfrm>
        <a:graphic>
          <a:graphicData uri="http://schemas.openxmlformats.org/drawingml/2006/table">
            <a:tbl>
              <a:tblPr firstRow="1" bandRow="1">
                <a:tableStyleId>{5C22544A-7EE6-4342-B048-85BDC9FD1C3A}</a:tableStyleId>
              </a:tblPr>
              <a:tblGrid>
                <a:gridCol w="1080120">
                  <a:extLst>
                    <a:ext uri="{9D8B030D-6E8A-4147-A177-3AD203B41FA5}">
                      <a16:colId xmlns:a16="http://schemas.microsoft.com/office/drawing/2014/main" val="2832340358"/>
                    </a:ext>
                  </a:extLst>
                </a:gridCol>
                <a:gridCol w="1152128">
                  <a:extLst>
                    <a:ext uri="{9D8B030D-6E8A-4147-A177-3AD203B41FA5}">
                      <a16:colId xmlns:a16="http://schemas.microsoft.com/office/drawing/2014/main" val="220544226"/>
                    </a:ext>
                  </a:extLst>
                </a:gridCol>
              </a:tblGrid>
              <a:tr h="370840">
                <a:tc>
                  <a:txBody>
                    <a:bodyPr/>
                    <a:lstStyle/>
                    <a:p>
                      <a:pPr algn="ctr"/>
                      <a:r>
                        <a:rPr lang="en-US" altLang="zh-CN" dirty="0"/>
                        <a:t>CNAME</a:t>
                      </a:r>
                      <a:endParaRPr lang="zh-CN" altLang="en-US" dirty="0"/>
                    </a:p>
                  </a:txBody>
                  <a:tcPr/>
                </a:tc>
                <a:tc>
                  <a:txBody>
                    <a:bodyPr/>
                    <a:lstStyle/>
                    <a:p>
                      <a:pPr algn="ctr"/>
                      <a:r>
                        <a:rPr lang="en-US" altLang="zh-CN" sz="1800" dirty="0"/>
                        <a:t>GRADE</a:t>
                      </a:r>
                      <a:endParaRPr lang="zh-CN" altLang="en-US" sz="1800" dirty="0"/>
                    </a:p>
                  </a:txBody>
                  <a:tcPr/>
                </a:tc>
                <a:extLst>
                  <a:ext uri="{0D108BD9-81ED-4DB2-BD59-A6C34878D82A}">
                    <a16:rowId xmlns:a16="http://schemas.microsoft.com/office/drawing/2014/main" val="4180026851"/>
                  </a:ext>
                </a:extLst>
              </a:tr>
              <a:tr h="370840">
                <a:tc>
                  <a:txBody>
                    <a:bodyPr/>
                    <a:lstStyle/>
                    <a:p>
                      <a:pPr algn="ctr"/>
                      <a:r>
                        <a:rPr lang="zh-CN" altLang="en-US" sz="1600" dirty="0"/>
                        <a:t>离散数学</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mn-lt"/>
                        <a:ea typeface="+mn-ea"/>
                        <a:cs typeface="+mn-cs"/>
                      </a:endParaRPr>
                    </a:p>
                  </a:txBody>
                  <a:tcPr/>
                </a:tc>
                <a:extLst>
                  <a:ext uri="{0D108BD9-81ED-4DB2-BD59-A6C34878D82A}">
                    <a16:rowId xmlns:a16="http://schemas.microsoft.com/office/drawing/2014/main" val="2628472914"/>
                  </a:ext>
                </a:extLst>
              </a:tr>
              <a:tr h="370840">
                <a:tc>
                  <a:txBody>
                    <a:bodyPr/>
                    <a:lstStyle/>
                    <a:p>
                      <a:pPr algn="ctr"/>
                      <a:r>
                        <a:rPr lang="zh-CN" altLang="en-US" sz="1600" dirty="0"/>
                        <a:t>数据结构</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u="none" strike="noStrike" kern="1200" cap="none" spc="0" normalizeH="0" baseline="0" noProof="0" dirty="0">
                          <a:ln>
                            <a:noFill/>
                          </a:ln>
                          <a:solidFill>
                            <a:srgbClr val="000000"/>
                          </a:solidFill>
                          <a:effectLst/>
                          <a:uLnTx/>
                          <a:uFillTx/>
                        </a:rPr>
                        <a:t>优</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765853726"/>
                  </a:ext>
                </a:extLst>
              </a:tr>
            </a:tbl>
          </a:graphicData>
        </a:graphic>
      </p:graphicFrame>
      <p:sp>
        <p:nvSpPr>
          <p:cNvPr id="5" name="文本框 4">
            <a:extLst>
              <a:ext uri="{FF2B5EF4-FFF2-40B4-BE49-F238E27FC236}">
                <a16:creationId xmlns:a16="http://schemas.microsoft.com/office/drawing/2014/main" id="{4860AFBF-B8E2-4240-AC7C-6F59560701EC}"/>
              </a:ext>
            </a:extLst>
          </p:cNvPr>
          <p:cNvSpPr txBox="1"/>
          <p:nvPr/>
        </p:nvSpPr>
        <p:spPr>
          <a:xfrm>
            <a:off x="3347864" y="2764810"/>
            <a:ext cx="4607858" cy="338554"/>
          </a:xfrm>
          <a:prstGeom prst="rect">
            <a:avLst/>
          </a:prstGeom>
          <a:noFill/>
        </p:spPr>
        <p:txBody>
          <a:bodyPr wrap="square">
            <a:spAutoFit/>
          </a:bodyPr>
          <a:lstStyle/>
          <a:p>
            <a:r>
              <a:rPr lang="en-US" altLang="zh-CN" sz="2000" b="1" dirty="0">
                <a:solidFill>
                  <a:srgbClr val="FF0000"/>
                </a:solidFill>
              </a:rPr>
              <a:t>W</a:t>
            </a:r>
            <a:r>
              <a:rPr lang="zh-CN" altLang="en-US" sz="2000" b="1" dirty="0">
                <a:solidFill>
                  <a:srgbClr val="FF0000"/>
                </a:solidFill>
              </a:rPr>
              <a:t>：</a:t>
            </a:r>
            <a:r>
              <a:rPr lang="en-US" altLang="zh-CN" sz="2000" b="1" dirty="0">
                <a:solidFill>
                  <a:srgbClr val="FF0000"/>
                </a:solidFill>
              </a:rPr>
              <a:t>T×S-R</a:t>
            </a:r>
            <a:endParaRPr lang="zh-CN" altLang="en-US" sz="2000" dirty="0">
              <a:solidFill>
                <a:srgbClr val="FF0000"/>
              </a:solidFill>
            </a:endParaRPr>
          </a:p>
        </p:txBody>
      </p:sp>
      <p:pic>
        <p:nvPicPr>
          <p:cNvPr id="6" name="图片 5">
            <a:extLst>
              <a:ext uri="{FF2B5EF4-FFF2-40B4-BE49-F238E27FC236}">
                <a16:creationId xmlns:a16="http://schemas.microsoft.com/office/drawing/2014/main" id="{71D4D16E-A723-614C-A42F-628633F5F5B7}"/>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5045756" y="3348985"/>
            <a:ext cx="606037" cy="606037"/>
          </a:xfrm>
          <a:prstGeom prst="rect">
            <a:avLst/>
          </a:prstGeom>
        </p:spPr>
      </p:pic>
      <p:pic>
        <p:nvPicPr>
          <p:cNvPr id="7" name="图片 6">
            <a:extLst>
              <a:ext uri="{FF2B5EF4-FFF2-40B4-BE49-F238E27FC236}">
                <a16:creationId xmlns:a16="http://schemas.microsoft.com/office/drawing/2014/main" id="{3F7D2119-EFF6-4740-A43E-BB340ABD7F00}"/>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6219111" y="3422231"/>
            <a:ext cx="606037" cy="606037"/>
          </a:xfrm>
          <a:prstGeom prst="rect">
            <a:avLst/>
          </a:prstGeom>
        </p:spPr>
      </p:pic>
      <p:graphicFrame>
        <p:nvGraphicFramePr>
          <p:cNvPr id="8" name="表格 7">
            <a:extLst>
              <a:ext uri="{FF2B5EF4-FFF2-40B4-BE49-F238E27FC236}">
                <a16:creationId xmlns:a16="http://schemas.microsoft.com/office/drawing/2014/main" id="{E94E7377-FFB8-9B4C-BA70-DB71F1E96DEA}"/>
              </a:ext>
            </a:extLst>
          </p:cNvPr>
          <p:cNvGraphicFramePr>
            <a:graphicFrameLocks noGrp="1"/>
          </p:cNvGraphicFramePr>
          <p:nvPr>
            <p:extLst>
              <p:ext uri="{D42A27DB-BD31-4B8C-83A1-F6EECF244321}">
                <p14:modId xmlns:p14="http://schemas.microsoft.com/office/powerpoint/2010/main" val="1865685132"/>
              </p:ext>
            </p:extLst>
          </p:nvPr>
        </p:nvGraphicFramePr>
        <p:xfrm>
          <a:off x="2588714" y="5135706"/>
          <a:ext cx="3489955" cy="109728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2861137485"/>
                    </a:ext>
                  </a:extLst>
                </a:gridCol>
                <a:gridCol w="1329715">
                  <a:extLst>
                    <a:ext uri="{9D8B030D-6E8A-4147-A177-3AD203B41FA5}">
                      <a16:colId xmlns:a16="http://schemas.microsoft.com/office/drawing/2014/main" val="2647707742"/>
                    </a:ext>
                  </a:extLst>
                </a:gridCol>
              </a:tblGrid>
              <a:tr h="295233">
                <a:tc>
                  <a:txBody>
                    <a:bodyPr/>
                    <a:lstStyle/>
                    <a:p>
                      <a:pPr algn="ctr"/>
                      <a:r>
                        <a:rPr lang="en-US" altLang="zh-CN" sz="1800" dirty="0"/>
                        <a:t>SNAME</a:t>
                      </a:r>
                      <a:endParaRPr lang="zh-CN" altLang="en-US" sz="1800" dirty="0"/>
                    </a:p>
                  </a:txBody>
                  <a:tcPr/>
                </a:tc>
                <a:tc>
                  <a:txBody>
                    <a:bodyPr/>
                    <a:lstStyle/>
                    <a:p>
                      <a:pPr algn="ctr"/>
                      <a:r>
                        <a:rPr lang="en-US" altLang="zh-CN" sz="1800" dirty="0"/>
                        <a:t>SEX</a:t>
                      </a:r>
                      <a:endParaRPr lang="zh-CN" altLang="en-US" sz="1800" dirty="0"/>
                    </a:p>
                  </a:txBody>
                  <a:tcPr/>
                </a:tc>
                <a:tc>
                  <a:txBody>
                    <a:bodyPr/>
                    <a:lstStyle/>
                    <a:p>
                      <a:pPr algn="ctr"/>
                      <a:r>
                        <a:rPr lang="en-US" altLang="zh-CN" sz="1800" dirty="0"/>
                        <a:t>CDEPT</a:t>
                      </a:r>
                      <a:endParaRPr lang="zh-CN" altLang="en-US" sz="1800" dirty="0"/>
                    </a:p>
                  </a:txBody>
                  <a:tcPr/>
                </a:tc>
                <a:extLst>
                  <a:ext uri="{0D108BD9-81ED-4DB2-BD59-A6C34878D82A}">
                    <a16:rowId xmlns:a16="http://schemas.microsoft.com/office/drawing/2014/main" val="3145990871"/>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女</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p>
                  </a:txBody>
                  <a:tcPr/>
                </a:tc>
                <a:extLst>
                  <a:ext uri="{0D108BD9-81ED-4DB2-BD59-A6C34878D82A}">
                    <a16:rowId xmlns:a16="http://schemas.microsoft.com/office/drawing/2014/main" val="841821175"/>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bl>
          </a:graphicData>
        </a:graphic>
      </p:graphicFrame>
      <p:sp>
        <p:nvSpPr>
          <p:cNvPr id="9" name="文本框 8">
            <a:extLst>
              <a:ext uri="{FF2B5EF4-FFF2-40B4-BE49-F238E27FC236}">
                <a16:creationId xmlns:a16="http://schemas.microsoft.com/office/drawing/2014/main" id="{254C05DB-8A71-D346-9749-128B58A42639}"/>
              </a:ext>
            </a:extLst>
          </p:cNvPr>
          <p:cNvSpPr txBox="1"/>
          <p:nvPr/>
        </p:nvSpPr>
        <p:spPr>
          <a:xfrm>
            <a:off x="3995936" y="4797152"/>
            <a:ext cx="4607858" cy="338554"/>
          </a:xfrm>
          <a:prstGeom prst="rect">
            <a:avLst/>
          </a:prstGeom>
          <a:noFill/>
        </p:spPr>
        <p:txBody>
          <a:bodyPr wrap="square">
            <a:spAutoFit/>
          </a:bodyPr>
          <a:lstStyle/>
          <a:p>
            <a:r>
              <a:rPr lang="en-US" altLang="zh-CN" sz="2000" b="1" dirty="0">
                <a:solidFill>
                  <a:srgbClr val="FF0000"/>
                </a:solidFill>
              </a:rPr>
              <a:t>V</a:t>
            </a:r>
            <a:endParaRPr lang="zh-CN" altLang="en-US" sz="2000" dirty="0">
              <a:solidFill>
                <a:srgbClr val="FF0000"/>
              </a:solidFill>
            </a:endParaRPr>
          </a:p>
        </p:txBody>
      </p:sp>
    </p:spTree>
    <p:extLst>
      <p:ext uri="{BB962C8B-B14F-4D97-AF65-F5344CB8AC3E}">
        <p14:creationId xmlns:p14="http://schemas.microsoft.com/office/powerpoint/2010/main" val="42236886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8258" name="Rectangle 2"/>
          <p:cNvSpPr>
            <a:spLocks noChangeArrowheads="1"/>
          </p:cNvSpPr>
          <p:nvPr/>
        </p:nvSpPr>
        <p:spPr bwMode="auto">
          <a:xfrm>
            <a:off x="0" y="118585"/>
            <a:ext cx="9144000" cy="3077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800" b="1" dirty="0">
                <a:solidFill>
                  <a:srgbClr val="660033"/>
                </a:solidFill>
                <a:cs typeface="Times New Roman" pitchFamily="18" charset="0"/>
              </a:rPr>
              <a:t>  </a:t>
            </a:r>
            <a:r>
              <a:rPr lang="en-US" altLang="zh-CN" sz="3600" b="1" dirty="0">
                <a:solidFill>
                  <a:srgbClr val="660033"/>
                </a:solidFill>
                <a:cs typeface="Times New Roman" pitchFamily="18" charset="0"/>
              </a:rPr>
              <a:t>R÷S</a:t>
            </a:r>
            <a:r>
              <a:rPr lang="zh-CN" altLang="en-US" sz="3600" b="1" dirty="0">
                <a:solidFill>
                  <a:srgbClr val="660033"/>
                </a:solidFill>
                <a:cs typeface="Times New Roman" pitchFamily="18" charset="0"/>
              </a:rPr>
              <a:t>的具体计算过程如下：</a:t>
            </a:r>
            <a:r>
              <a:rPr lang="zh-CN" altLang="en-US" sz="3600" b="1" dirty="0">
                <a:solidFill>
                  <a:schemeClr val="bg2"/>
                </a:solidFill>
              </a:rPr>
              <a:t> </a:t>
            </a:r>
          </a:p>
          <a:p>
            <a:pPr eaLnBrk="0" hangingPunct="0">
              <a:lnSpc>
                <a:spcPct val="100000"/>
              </a:lnSpc>
              <a:spcBef>
                <a:spcPts val="0"/>
              </a:spcBef>
            </a:pPr>
            <a:r>
              <a:rPr lang="zh-CN" altLang="en-US" sz="2800" dirty="0">
                <a:solidFill>
                  <a:schemeClr val="bg2"/>
                </a:solidFill>
              </a:rPr>
              <a:t>  </a:t>
            </a:r>
            <a:r>
              <a:rPr lang="zh-CN" altLang="en-US" sz="2400" b="1" dirty="0">
                <a:solidFill>
                  <a:schemeClr val="tx1">
                    <a:lumMod val="50000"/>
                  </a:schemeClr>
                </a:solidFill>
              </a:rPr>
              <a:t>① </a:t>
            </a:r>
            <a:r>
              <a:rPr lang="en-US" altLang="zh-CN" sz="2400" b="1" dirty="0">
                <a:solidFill>
                  <a:schemeClr val="tx1">
                    <a:lumMod val="50000"/>
                  </a:schemeClr>
                </a:solidFill>
              </a:rPr>
              <a:t>T = π</a:t>
            </a:r>
            <a:r>
              <a:rPr lang="en-US" altLang="zh-CN" sz="3200" baseline="-25000" dirty="0">
                <a:solidFill>
                  <a:schemeClr val="tx1">
                    <a:lumMod val="50000"/>
                  </a:schemeClr>
                </a:solidFill>
                <a:latin typeface="Times New Roman" pitchFamily="18" charset="0"/>
              </a:rPr>
              <a:t>1</a:t>
            </a:r>
            <a:r>
              <a:rPr lang="zh-CN" altLang="en-US" sz="3200" baseline="-25000" dirty="0">
                <a:solidFill>
                  <a:schemeClr val="tx1">
                    <a:lumMod val="50000"/>
                  </a:schemeClr>
                </a:solidFill>
                <a:latin typeface="Times New Roman" pitchFamily="18" charset="0"/>
              </a:rPr>
              <a:t>，</a:t>
            </a:r>
            <a:r>
              <a:rPr lang="en-US" altLang="zh-CN" sz="3200" baseline="-25000" dirty="0">
                <a:solidFill>
                  <a:schemeClr val="tx1">
                    <a:lumMod val="50000"/>
                  </a:schemeClr>
                </a:solidFill>
                <a:latin typeface="Times New Roman" pitchFamily="18" charset="0"/>
              </a:rPr>
              <a:t>2</a:t>
            </a:r>
            <a:r>
              <a:rPr lang="zh-CN" altLang="en-US" sz="3200" baseline="-25000" dirty="0">
                <a:solidFill>
                  <a:schemeClr val="tx1">
                    <a:lumMod val="50000"/>
                  </a:schemeClr>
                </a:solidFill>
                <a:latin typeface="Times New Roman" pitchFamily="18" charset="0"/>
              </a:rPr>
              <a:t>，</a:t>
            </a:r>
            <a:r>
              <a:rPr lang="en-US" altLang="zh-CN" sz="3200" baseline="-25000" dirty="0">
                <a:solidFill>
                  <a:schemeClr val="tx1">
                    <a:lumMod val="50000"/>
                  </a:schemeClr>
                </a:solidFill>
                <a:latin typeface="Times New Roman" pitchFamily="18" charset="0"/>
              </a:rPr>
              <a:t>…</a:t>
            </a:r>
            <a:r>
              <a:rPr lang="zh-CN" altLang="en-US" sz="3200" baseline="-25000" dirty="0">
                <a:solidFill>
                  <a:schemeClr val="tx1">
                    <a:lumMod val="50000"/>
                  </a:schemeClr>
                </a:solidFill>
                <a:latin typeface="Times New Roman" pitchFamily="18" charset="0"/>
              </a:rPr>
              <a:t>，</a:t>
            </a:r>
            <a:r>
              <a:rPr lang="en-US" altLang="zh-CN" sz="3200" baseline="-25000" dirty="0">
                <a:solidFill>
                  <a:schemeClr val="tx1">
                    <a:lumMod val="50000"/>
                  </a:schemeClr>
                </a:solidFill>
                <a:latin typeface="Times New Roman" pitchFamily="18" charset="0"/>
              </a:rPr>
              <a:t>r-s</a:t>
            </a:r>
            <a:r>
              <a:rPr lang="zh-CN" altLang="en-US" sz="2400" b="1" dirty="0">
                <a:solidFill>
                  <a:schemeClr val="tx1">
                    <a:lumMod val="50000"/>
                  </a:schemeClr>
                </a:solidFill>
              </a:rPr>
              <a:t>（</a:t>
            </a:r>
            <a:r>
              <a:rPr lang="en-US" altLang="zh-CN" sz="2400" b="1" dirty="0">
                <a:solidFill>
                  <a:schemeClr val="tx1">
                    <a:lumMod val="50000"/>
                  </a:schemeClr>
                </a:solidFill>
              </a:rPr>
              <a:t>R</a:t>
            </a:r>
            <a:r>
              <a:rPr lang="zh-CN" altLang="en-US" sz="2400" b="1" dirty="0">
                <a:solidFill>
                  <a:schemeClr val="tx1">
                    <a:lumMod val="50000"/>
                  </a:schemeClr>
                </a:solidFill>
              </a:rPr>
              <a:t>）</a:t>
            </a:r>
          </a:p>
          <a:p>
            <a:pPr eaLnBrk="0" hangingPunct="0">
              <a:lnSpc>
                <a:spcPct val="100000"/>
              </a:lnSpc>
              <a:spcBef>
                <a:spcPts val="0"/>
              </a:spcBef>
            </a:pPr>
            <a:r>
              <a:rPr lang="zh-CN" altLang="en-US" sz="2400" b="1" dirty="0">
                <a:solidFill>
                  <a:schemeClr val="tx1">
                    <a:lumMod val="50000"/>
                  </a:schemeClr>
                </a:solidFill>
              </a:rPr>
              <a:t>  ② </a:t>
            </a:r>
            <a:r>
              <a:rPr lang="en-US" altLang="zh-CN" sz="2400" b="1" dirty="0">
                <a:solidFill>
                  <a:schemeClr val="tx1">
                    <a:lumMod val="50000"/>
                  </a:schemeClr>
                </a:solidFill>
              </a:rPr>
              <a:t>W = (T×S)-R</a:t>
            </a:r>
          </a:p>
          <a:p>
            <a:pPr eaLnBrk="0" hangingPunct="0">
              <a:lnSpc>
                <a:spcPct val="100000"/>
              </a:lnSpc>
              <a:spcBef>
                <a:spcPts val="0"/>
              </a:spcBef>
            </a:pPr>
            <a:r>
              <a:rPr lang="en-US" altLang="zh-CN" sz="2400" b="1" dirty="0">
                <a:solidFill>
                  <a:schemeClr val="tx1">
                    <a:lumMod val="50000"/>
                  </a:schemeClr>
                </a:solidFill>
              </a:rPr>
              <a:t>  ③ V = π</a:t>
            </a:r>
            <a:r>
              <a:rPr lang="en-US" altLang="zh-CN" sz="3200" baseline="-25000" dirty="0">
                <a:solidFill>
                  <a:schemeClr val="tx1">
                    <a:lumMod val="50000"/>
                  </a:schemeClr>
                </a:solidFill>
                <a:latin typeface="Times New Roman" pitchFamily="18" charset="0"/>
              </a:rPr>
              <a:t>1</a:t>
            </a:r>
            <a:r>
              <a:rPr lang="zh-CN" altLang="en-US" sz="3200" baseline="-25000" dirty="0">
                <a:solidFill>
                  <a:schemeClr val="tx1">
                    <a:lumMod val="50000"/>
                  </a:schemeClr>
                </a:solidFill>
                <a:latin typeface="Times New Roman" pitchFamily="18" charset="0"/>
              </a:rPr>
              <a:t>，</a:t>
            </a:r>
            <a:r>
              <a:rPr lang="en-US" altLang="zh-CN" sz="3200" baseline="-25000" dirty="0">
                <a:solidFill>
                  <a:schemeClr val="tx1">
                    <a:lumMod val="50000"/>
                  </a:schemeClr>
                </a:solidFill>
                <a:latin typeface="Times New Roman" pitchFamily="18" charset="0"/>
              </a:rPr>
              <a:t>2</a:t>
            </a:r>
            <a:r>
              <a:rPr lang="zh-CN" altLang="en-US" sz="3200" baseline="-25000" dirty="0">
                <a:solidFill>
                  <a:schemeClr val="tx1">
                    <a:lumMod val="50000"/>
                  </a:schemeClr>
                </a:solidFill>
                <a:latin typeface="Times New Roman" pitchFamily="18" charset="0"/>
              </a:rPr>
              <a:t>，</a:t>
            </a:r>
            <a:r>
              <a:rPr lang="en-US" altLang="zh-CN" sz="3200" baseline="-25000" dirty="0">
                <a:solidFill>
                  <a:schemeClr val="tx1">
                    <a:lumMod val="50000"/>
                  </a:schemeClr>
                </a:solidFill>
                <a:latin typeface="Times New Roman" pitchFamily="18" charset="0"/>
              </a:rPr>
              <a:t>…</a:t>
            </a:r>
            <a:r>
              <a:rPr lang="zh-CN" altLang="en-US" sz="3200" baseline="-25000" dirty="0">
                <a:solidFill>
                  <a:schemeClr val="tx1">
                    <a:lumMod val="50000"/>
                  </a:schemeClr>
                </a:solidFill>
                <a:latin typeface="Times New Roman" pitchFamily="18" charset="0"/>
              </a:rPr>
              <a:t>，</a:t>
            </a:r>
            <a:r>
              <a:rPr lang="en-US" altLang="zh-CN" sz="3200" baseline="-25000" dirty="0">
                <a:solidFill>
                  <a:schemeClr val="tx1">
                    <a:lumMod val="50000"/>
                  </a:schemeClr>
                </a:solidFill>
                <a:latin typeface="Times New Roman" pitchFamily="18" charset="0"/>
              </a:rPr>
              <a:t>r-s</a:t>
            </a:r>
            <a:r>
              <a:rPr lang="zh-CN" altLang="en-US" sz="2400" b="1" dirty="0">
                <a:solidFill>
                  <a:schemeClr val="tx1">
                    <a:lumMod val="50000"/>
                  </a:schemeClr>
                </a:solidFill>
              </a:rPr>
              <a:t>（</a:t>
            </a:r>
            <a:r>
              <a:rPr lang="en-US" altLang="zh-CN" sz="2400" b="1" dirty="0">
                <a:solidFill>
                  <a:schemeClr val="tx1">
                    <a:lumMod val="50000"/>
                  </a:schemeClr>
                </a:solidFill>
              </a:rPr>
              <a:t>W</a:t>
            </a:r>
            <a:r>
              <a:rPr lang="zh-CN" altLang="en-US" sz="2400" b="1" dirty="0">
                <a:solidFill>
                  <a:schemeClr val="tx1">
                    <a:lumMod val="50000"/>
                  </a:schemeClr>
                </a:solidFill>
              </a:rPr>
              <a:t>）</a:t>
            </a:r>
            <a:endParaRPr lang="zh-CN" altLang="en-US" sz="3200" b="1" dirty="0">
              <a:solidFill>
                <a:schemeClr val="tx1">
                  <a:lumMod val="50000"/>
                </a:schemeClr>
              </a:solidFill>
            </a:endParaRPr>
          </a:p>
          <a:p>
            <a:pPr eaLnBrk="0" hangingPunct="0">
              <a:lnSpc>
                <a:spcPct val="100000"/>
              </a:lnSpc>
              <a:spcBef>
                <a:spcPts val="0"/>
              </a:spcBef>
            </a:pPr>
            <a:r>
              <a:rPr lang="zh-CN" altLang="en-US" sz="3200" b="1" dirty="0">
                <a:solidFill>
                  <a:schemeClr val="bg2"/>
                </a:solidFill>
              </a:rPr>
              <a:t>  </a:t>
            </a:r>
            <a:r>
              <a:rPr lang="zh-CN" altLang="en-US" sz="2800" b="1" dirty="0">
                <a:solidFill>
                  <a:schemeClr val="bg2"/>
                </a:solidFill>
              </a:rPr>
              <a:t>④ </a:t>
            </a:r>
            <a:r>
              <a:rPr lang="en-US" altLang="zh-CN" sz="2800" b="1" dirty="0">
                <a:solidFill>
                  <a:schemeClr val="bg2"/>
                </a:solidFill>
              </a:rPr>
              <a:t>R÷S = T </a:t>
            </a:r>
            <a:r>
              <a:rPr lang="en-US" altLang="zh-CN" sz="2800" b="1" dirty="0">
                <a:solidFill>
                  <a:schemeClr val="bg2"/>
                </a:solidFill>
                <a:latin typeface="Times New Roman"/>
              </a:rPr>
              <a:t>–</a:t>
            </a:r>
            <a:r>
              <a:rPr lang="en-US" altLang="zh-CN" sz="2800" b="1" dirty="0">
                <a:solidFill>
                  <a:schemeClr val="bg2"/>
                </a:solidFill>
              </a:rPr>
              <a:t> V</a:t>
            </a:r>
          </a:p>
          <a:p>
            <a:pPr eaLnBrk="0" hangingPunct="0">
              <a:lnSpc>
                <a:spcPct val="100000"/>
              </a:lnSpc>
              <a:spcBef>
                <a:spcPts val="0"/>
              </a:spcBef>
            </a:pPr>
            <a:r>
              <a:rPr lang="en-US" altLang="zh-CN" sz="2400" b="1" dirty="0">
                <a:solidFill>
                  <a:schemeClr val="bg2"/>
                </a:solidFill>
              </a:rPr>
              <a:t>   </a:t>
            </a:r>
            <a:r>
              <a:rPr lang="en-US" altLang="zh-CN" sz="2800" b="1" dirty="0">
                <a:solidFill>
                  <a:schemeClr val="bg1"/>
                </a:solidFill>
              </a:rPr>
              <a:t>R÷S≡π</a:t>
            </a:r>
            <a:r>
              <a:rPr lang="en-US" altLang="zh-CN" sz="3200" b="1" baseline="-25000" dirty="0">
                <a:solidFill>
                  <a:schemeClr val="bg1"/>
                </a:solidFill>
                <a:latin typeface="Times New Roman" pitchFamily="18" charset="0"/>
              </a:rPr>
              <a:t>1,2,…,r-s</a:t>
            </a:r>
            <a:r>
              <a:rPr lang="en-US" altLang="zh-CN" sz="2800" b="1" dirty="0">
                <a:solidFill>
                  <a:schemeClr val="bg1"/>
                </a:solidFill>
              </a:rPr>
              <a:t>(R)-π</a:t>
            </a:r>
            <a:r>
              <a:rPr lang="en-US" altLang="zh-CN" sz="3200" b="1" baseline="-25000" dirty="0">
                <a:solidFill>
                  <a:schemeClr val="bg1"/>
                </a:solidFill>
                <a:latin typeface="Times New Roman" pitchFamily="18" charset="0"/>
              </a:rPr>
              <a:t>1,2,…,r-s</a:t>
            </a:r>
            <a:r>
              <a:rPr lang="en-US" altLang="zh-CN" sz="2800" b="1" dirty="0">
                <a:solidFill>
                  <a:schemeClr val="bg1"/>
                </a:solidFill>
              </a:rPr>
              <a:t>((π</a:t>
            </a:r>
            <a:r>
              <a:rPr lang="en-US" altLang="zh-CN" sz="3200" b="1" baseline="-25000" dirty="0">
                <a:solidFill>
                  <a:schemeClr val="bg1"/>
                </a:solidFill>
                <a:latin typeface="Times New Roman" pitchFamily="18" charset="0"/>
              </a:rPr>
              <a:t>1,2,…,r-s</a:t>
            </a:r>
            <a:r>
              <a:rPr lang="en-US" altLang="zh-CN" sz="2800" b="1" dirty="0">
                <a:solidFill>
                  <a:schemeClr val="bg1"/>
                </a:solidFill>
              </a:rPr>
              <a:t>(R)×S)-R)</a:t>
            </a:r>
            <a:endParaRPr lang="en-US" altLang="zh-CN" sz="2400" b="1" dirty="0">
              <a:solidFill>
                <a:schemeClr val="bg1"/>
              </a:solidFill>
            </a:endParaRPr>
          </a:p>
        </p:txBody>
      </p:sp>
      <p:graphicFrame>
        <p:nvGraphicFramePr>
          <p:cNvPr id="3" name="表格 2">
            <a:extLst>
              <a:ext uri="{FF2B5EF4-FFF2-40B4-BE49-F238E27FC236}">
                <a16:creationId xmlns:a16="http://schemas.microsoft.com/office/drawing/2014/main" id="{051A742E-D3BB-D644-A516-44451A6587EE}"/>
              </a:ext>
            </a:extLst>
          </p:cNvPr>
          <p:cNvGraphicFramePr>
            <a:graphicFrameLocks noGrp="1"/>
          </p:cNvGraphicFramePr>
          <p:nvPr>
            <p:extLst>
              <p:ext uri="{D42A27DB-BD31-4B8C-83A1-F6EECF244321}">
                <p14:modId xmlns:p14="http://schemas.microsoft.com/office/powerpoint/2010/main" val="3373031124"/>
              </p:ext>
            </p:extLst>
          </p:nvPr>
        </p:nvGraphicFramePr>
        <p:xfrm>
          <a:off x="4457981" y="3691757"/>
          <a:ext cx="3489955" cy="109728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2861137485"/>
                    </a:ext>
                  </a:extLst>
                </a:gridCol>
                <a:gridCol w="1329715">
                  <a:extLst>
                    <a:ext uri="{9D8B030D-6E8A-4147-A177-3AD203B41FA5}">
                      <a16:colId xmlns:a16="http://schemas.microsoft.com/office/drawing/2014/main" val="2647707742"/>
                    </a:ext>
                  </a:extLst>
                </a:gridCol>
              </a:tblGrid>
              <a:tr h="295233">
                <a:tc>
                  <a:txBody>
                    <a:bodyPr/>
                    <a:lstStyle/>
                    <a:p>
                      <a:pPr algn="ctr"/>
                      <a:r>
                        <a:rPr lang="en-US" altLang="zh-CN" sz="1800" dirty="0"/>
                        <a:t>SNAME</a:t>
                      </a:r>
                      <a:endParaRPr lang="zh-CN" altLang="en-US" sz="1800" dirty="0"/>
                    </a:p>
                  </a:txBody>
                  <a:tcPr/>
                </a:tc>
                <a:tc>
                  <a:txBody>
                    <a:bodyPr/>
                    <a:lstStyle/>
                    <a:p>
                      <a:pPr algn="ctr"/>
                      <a:r>
                        <a:rPr lang="en-US" altLang="zh-CN" sz="1800" dirty="0"/>
                        <a:t>SEX</a:t>
                      </a:r>
                      <a:endParaRPr lang="zh-CN" altLang="en-US" sz="1800" dirty="0"/>
                    </a:p>
                  </a:txBody>
                  <a:tcPr/>
                </a:tc>
                <a:tc>
                  <a:txBody>
                    <a:bodyPr/>
                    <a:lstStyle/>
                    <a:p>
                      <a:pPr algn="ctr"/>
                      <a:r>
                        <a:rPr lang="en-US" altLang="zh-CN" sz="1800" dirty="0"/>
                        <a:t>CDEPT</a:t>
                      </a:r>
                      <a:endParaRPr lang="zh-CN" altLang="en-US" sz="1800" dirty="0"/>
                    </a:p>
                  </a:txBody>
                  <a:tcPr/>
                </a:tc>
                <a:extLst>
                  <a:ext uri="{0D108BD9-81ED-4DB2-BD59-A6C34878D82A}">
                    <a16:rowId xmlns:a16="http://schemas.microsoft.com/office/drawing/2014/main" val="3145990871"/>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女</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p>
                  </a:txBody>
                  <a:tcPr/>
                </a:tc>
                <a:extLst>
                  <a:ext uri="{0D108BD9-81ED-4DB2-BD59-A6C34878D82A}">
                    <a16:rowId xmlns:a16="http://schemas.microsoft.com/office/drawing/2014/main" val="841821175"/>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bl>
          </a:graphicData>
        </a:graphic>
      </p:graphicFrame>
      <p:sp>
        <p:nvSpPr>
          <p:cNvPr id="4" name="文本框 3">
            <a:extLst>
              <a:ext uri="{FF2B5EF4-FFF2-40B4-BE49-F238E27FC236}">
                <a16:creationId xmlns:a16="http://schemas.microsoft.com/office/drawing/2014/main" id="{7C1F0215-28F8-2C43-968E-F0A54E649732}"/>
              </a:ext>
            </a:extLst>
          </p:cNvPr>
          <p:cNvSpPr txBox="1"/>
          <p:nvPr/>
        </p:nvSpPr>
        <p:spPr>
          <a:xfrm>
            <a:off x="5868144" y="3384652"/>
            <a:ext cx="4607858" cy="338554"/>
          </a:xfrm>
          <a:prstGeom prst="rect">
            <a:avLst/>
          </a:prstGeom>
          <a:noFill/>
        </p:spPr>
        <p:txBody>
          <a:bodyPr wrap="square">
            <a:spAutoFit/>
          </a:bodyPr>
          <a:lstStyle/>
          <a:p>
            <a:r>
              <a:rPr lang="en-US" altLang="zh-CN" sz="2000" b="1" dirty="0">
                <a:solidFill>
                  <a:srgbClr val="FF0000"/>
                </a:solidFill>
              </a:rPr>
              <a:t>V</a:t>
            </a:r>
            <a:endParaRPr lang="zh-CN" altLang="en-US" sz="2000" dirty="0">
              <a:solidFill>
                <a:srgbClr val="FF0000"/>
              </a:solidFill>
            </a:endParaRPr>
          </a:p>
        </p:txBody>
      </p:sp>
      <p:graphicFrame>
        <p:nvGraphicFramePr>
          <p:cNvPr id="5" name="表格 4">
            <a:extLst>
              <a:ext uri="{FF2B5EF4-FFF2-40B4-BE49-F238E27FC236}">
                <a16:creationId xmlns:a16="http://schemas.microsoft.com/office/drawing/2014/main" id="{174814E1-E387-F74C-B960-71B2FA4A51D7}"/>
              </a:ext>
            </a:extLst>
          </p:cNvPr>
          <p:cNvGraphicFramePr>
            <a:graphicFrameLocks noGrp="1"/>
          </p:cNvGraphicFramePr>
          <p:nvPr>
            <p:extLst>
              <p:ext uri="{D42A27DB-BD31-4B8C-83A1-F6EECF244321}">
                <p14:modId xmlns:p14="http://schemas.microsoft.com/office/powerpoint/2010/main" val="1431485114"/>
              </p:ext>
            </p:extLst>
          </p:nvPr>
        </p:nvGraphicFramePr>
        <p:xfrm>
          <a:off x="743889" y="3691757"/>
          <a:ext cx="3489955" cy="182880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2861137485"/>
                    </a:ext>
                  </a:extLst>
                </a:gridCol>
                <a:gridCol w="1329715">
                  <a:extLst>
                    <a:ext uri="{9D8B030D-6E8A-4147-A177-3AD203B41FA5}">
                      <a16:colId xmlns:a16="http://schemas.microsoft.com/office/drawing/2014/main" val="2647707742"/>
                    </a:ext>
                  </a:extLst>
                </a:gridCol>
              </a:tblGrid>
              <a:tr h="295233">
                <a:tc>
                  <a:txBody>
                    <a:bodyPr/>
                    <a:lstStyle/>
                    <a:p>
                      <a:pPr algn="ctr"/>
                      <a:r>
                        <a:rPr lang="en-US" altLang="zh-CN" sz="1800" dirty="0"/>
                        <a:t>SNAME</a:t>
                      </a:r>
                      <a:endParaRPr lang="zh-CN" altLang="en-US" sz="1800" dirty="0"/>
                    </a:p>
                  </a:txBody>
                  <a:tcPr/>
                </a:tc>
                <a:tc>
                  <a:txBody>
                    <a:bodyPr/>
                    <a:lstStyle/>
                    <a:p>
                      <a:pPr algn="ctr"/>
                      <a:r>
                        <a:rPr lang="en-US" altLang="zh-CN" sz="1800" dirty="0"/>
                        <a:t>SEX</a:t>
                      </a:r>
                      <a:endParaRPr lang="zh-CN" altLang="en-US" sz="1800" dirty="0"/>
                    </a:p>
                  </a:txBody>
                  <a:tcPr/>
                </a:tc>
                <a:tc>
                  <a:txBody>
                    <a:bodyPr/>
                    <a:lstStyle/>
                    <a:p>
                      <a:pPr algn="ctr"/>
                      <a:r>
                        <a:rPr lang="en-US" altLang="zh-CN" sz="1800" dirty="0"/>
                        <a:t>CDEPT</a:t>
                      </a:r>
                      <a:endParaRPr lang="zh-CN" altLang="en-US" sz="1800" dirty="0"/>
                    </a:p>
                  </a:txBody>
                  <a:tcPr/>
                </a:tc>
                <a:extLst>
                  <a:ext uri="{0D108BD9-81ED-4DB2-BD59-A6C34878D82A}">
                    <a16:rowId xmlns:a16="http://schemas.microsoft.com/office/drawing/2014/main" val="3145990871"/>
                  </a:ext>
                </a:extLst>
              </a:tr>
              <a:tr h="295233">
                <a:tc>
                  <a:txBody>
                    <a:bodyPr/>
                    <a:lstStyle/>
                    <a:p>
                      <a:pPr algn="ctr"/>
                      <a:r>
                        <a:rPr lang="zh-CN" altLang="en-US" sz="1800" dirty="0"/>
                        <a:t>李志鸣</a:t>
                      </a: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295233">
                <a:tc>
                  <a:txBody>
                    <a:bodyPr/>
                    <a:lstStyle/>
                    <a:p>
                      <a:pPr algn="ctr"/>
                      <a:r>
                        <a:rPr lang="zh-CN" altLang="en-US" sz="1800" dirty="0"/>
                        <a:t>刘月莹</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p>
                  </a:txBody>
                  <a:tcPr/>
                </a:tc>
                <a:extLst>
                  <a:ext uri="{0D108BD9-81ED-4DB2-BD59-A6C34878D82A}">
                    <a16:rowId xmlns:a16="http://schemas.microsoft.com/office/drawing/2014/main" val="841821175"/>
                  </a:ext>
                </a:extLst>
              </a:tr>
              <a:tr h="295233">
                <a:tc>
                  <a:txBody>
                    <a:bodyPr/>
                    <a:lstStyle/>
                    <a:p>
                      <a:pPr algn="ctr"/>
                      <a:r>
                        <a:rPr lang="zh-CN" altLang="en-US" sz="1800" dirty="0"/>
                        <a:t>吴康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r h="295233">
                <a:tc>
                  <a:txBody>
                    <a:bodyPr/>
                    <a:lstStyle/>
                    <a:p>
                      <a:pPr algn="ctr"/>
                      <a:r>
                        <a:rPr lang="zh-CN" altLang="en-US" sz="1800" dirty="0"/>
                        <a:t>王文晴</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770924754"/>
                  </a:ext>
                </a:extLst>
              </a:tr>
            </a:tbl>
          </a:graphicData>
        </a:graphic>
      </p:graphicFrame>
      <p:sp>
        <p:nvSpPr>
          <p:cNvPr id="6" name="文本框 5">
            <a:extLst>
              <a:ext uri="{FF2B5EF4-FFF2-40B4-BE49-F238E27FC236}">
                <a16:creationId xmlns:a16="http://schemas.microsoft.com/office/drawing/2014/main" id="{771CCC9B-2A46-9B46-9311-8E35C633AE3E}"/>
              </a:ext>
            </a:extLst>
          </p:cNvPr>
          <p:cNvSpPr txBox="1"/>
          <p:nvPr/>
        </p:nvSpPr>
        <p:spPr>
          <a:xfrm>
            <a:off x="2244112" y="3353203"/>
            <a:ext cx="314510" cy="338554"/>
          </a:xfrm>
          <a:prstGeom prst="rect">
            <a:avLst/>
          </a:prstGeom>
          <a:noFill/>
        </p:spPr>
        <p:txBody>
          <a:bodyPr wrap="none" rtlCol="0">
            <a:spAutoFit/>
          </a:bodyPr>
          <a:lstStyle/>
          <a:p>
            <a:r>
              <a:rPr lang="en-US" altLang="zh-CN" sz="2000" b="1" dirty="0">
                <a:solidFill>
                  <a:srgbClr val="FF0000"/>
                </a:solidFill>
              </a:rPr>
              <a:t>T</a:t>
            </a:r>
            <a:endParaRPr kumimoji="1" lang="zh-CN" altLang="en-US" sz="2000" b="1" u="sng" dirty="0">
              <a:solidFill>
                <a:schemeClr val="bg1"/>
              </a:solidFill>
            </a:endParaRPr>
          </a:p>
        </p:txBody>
      </p:sp>
      <p:sp>
        <p:nvSpPr>
          <p:cNvPr id="7" name="矩形 6">
            <a:extLst>
              <a:ext uri="{FF2B5EF4-FFF2-40B4-BE49-F238E27FC236}">
                <a16:creationId xmlns:a16="http://schemas.microsoft.com/office/drawing/2014/main" id="{AC8E1D57-DA92-9B44-BC6D-BB9E192FE248}"/>
              </a:ext>
            </a:extLst>
          </p:cNvPr>
          <p:cNvSpPr/>
          <p:nvPr/>
        </p:nvSpPr>
        <p:spPr bwMode="auto">
          <a:xfrm>
            <a:off x="743889" y="4071120"/>
            <a:ext cx="3489955" cy="338554"/>
          </a:xfrm>
          <a:prstGeom prst="rect">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8" name="矩形 7">
            <a:extLst>
              <a:ext uri="{FF2B5EF4-FFF2-40B4-BE49-F238E27FC236}">
                <a16:creationId xmlns:a16="http://schemas.microsoft.com/office/drawing/2014/main" id="{8906D2F9-2198-1F48-A0B5-B13BD3D7DF0A}"/>
              </a:ext>
            </a:extLst>
          </p:cNvPr>
          <p:cNvSpPr/>
          <p:nvPr/>
        </p:nvSpPr>
        <p:spPr bwMode="auto">
          <a:xfrm>
            <a:off x="743889" y="5182003"/>
            <a:ext cx="3489955" cy="338554"/>
          </a:xfrm>
          <a:prstGeom prst="rect">
            <a:avLst/>
          </a:prstGeom>
          <a:noFill/>
          <a:ln w="19050" cap="flat" cmpd="sng" algn="ctr">
            <a:solidFill>
              <a:srgbClr val="FF0066"/>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graphicFrame>
        <p:nvGraphicFramePr>
          <p:cNvPr id="9" name="表格 8">
            <a:extLst>
              <a:ext uri="{FF2B5EF4-FFF2-40B4-BE49-F238E27FC236}">
                <a16:creationId xmlns:a16="http://schemas.microsoft.com/office/drawing/2014/main" id="{1B29979D-DAEB-CA44-89D1-41459CBB723A}"/>
              </a:ext>
            </a:extLst>
          </p:cNvPr>
          <p:cNvGraphicFramePr>
            <a:graphicFrameLocks noGrp="1"/>
          </p:cNvGraphicFramePr>
          <p:nvPr>
            <p:extLst>
              <p:ext uri="{D42A27DB-BD31-4B8C-83A1-F6EECF244321}">
                <p14:modId xmlns:p14="http://schemas.microsoft.com/office/powerpoint/2010/main" val="2282997469"/>
              </p:ext>
            </p:extLst>
          </p:nvPr>
        </p:nvGraphicFramePr>
        <p:xfrm>
          <a:off x="4457981" y="5182003"/>
          <a:ext cx="3489955" cy="1097280"/>
        </p:xfrm>
        <a:graphic>
          <a:graphicData uri="http://schemas.openxmlformats.org/drawingml/2006/table">
            <a:tbl>
              <a:tblPr firstRow="1" bandRow="1">
                <a:tableStyleId>{21E4AEA4-8DFA-4A89-87EB-49C32662AFE0}</a:tableStyleId>
              </a:tblPr>
              <a:tblGrid>
                <a:gridCol w="1080120">
                  <a:extLst>
                    <a:ext uri="{9D8B030D-6E8A-4147-A177-3AD203B41FA5}">
                      <a16:colId xmlns:a16="http://schemas.microsoft.com/office/drawing/2014/main" val="3954880262"/>
                    </a:ext>
                  </a:extLst>
                </a:gridCol>
                <a:gridCol w="1080120">
                  <a:extLst>
                    <a:ext uri="{9D8B030D-6E8A-4147-A177-3AD203B41FA5}">
                      <a16:colId xmlns:a16="http://schemas.microsoft.com/office/drawing/2014/main" val="2861137485"/>
                    </a:ext>
                  </a:extLst>
                </a:gridCol>
                <a:gridCol w="1329715">
                  <a:extLst>
                    <a:ext uri="{9D8B030D-6E8A-4147-A177-3AD203B41FA5}">
                      <a16:colId xmlns:a16="http://schemas.microsoft.com/office/drawing/2014/main" val="2647707742"/>
                    </a:ext>
                  </a:extLst>
                </a:gridCol>
              </a:tblGrid>
              <a:tr h="295233">
                <a:tc>
                  <a:txBody>
                    <a:bodyPr/>
                    <a:lstStyle/>
                    <a:p>
                      <a:pPr algn="ctr"/>
                      <a:r>
                        <a:rPr lang="en-US" altLang="zh-CN" sz="1800" dirty="0"/>
                        <a:t>SNAME</a:t>
                      </a:r>
                      <a:endParaRPr lang="zh-CN" altLang="en-US" sz="1800" dirty="0"/>
                    </a:p>
                  </a:txBody>
                  <a:tcPr/>
                </a:tc>
                <a:tc>
                  <a:txBody>
                    <a:bodyPr/>
                    <a:lstStyle/>
                    <a:p>
                      <a:pPr algn="ctr"/>
                      <a:r>
                        <a:rPr lang="en-US" altLang="zh-CN" sz="1800" dirty="0"/>
                        <a:t>SEX</a:t>
                      </a:r>
                      <a:endParaRPr lang="zh-CN" altLang="en-US" sz="1800" dirty="0"/>
                    </a:p>
                  </a:txBody>
                  <a:tcPr/>
                </a:tc>
                <a:tc>
                  <a:txBody>
                    <a:bodyPr/>
                    <a:lstStyle/>
                    <a:p>
                      <a:pPr algn="ctr"/>
                      <a:r>
                        <a:rPr lang="en-US" altLang="zh-CN" sz="1800" dirty="0"/>
                        <a:t>CDEPT</a:t>
                      </a:r>
                      <a:endParaRPr lang="zh-CN" altLang="en-US" sz="1800" dirty="0"/>
                    </a:p>
                  </a:txBody>
                  <a:tcPr/>
                </a:tc>
                <a:extLst>
                  <a:ext uri="{0D108BD9-81ED-4DB2-BD59-A6C34878D82A}">
                    <a16:rowId xmlns:a16="http://schemas.microsoft.com/office/drawing/2014/main" val="3145990871"/>
                  </a:ext>
                </a:extLst>
              </a:tr>
              <a:tr h="295233">
                <a:tc>
                  <a:txBody>
                    <a:bodyPr/>
                    <a:lstStyle/>
                    <a:p>
                      <a:pPr algn="ctr"/>
                      <a:r>
                        <a:rPr lang="zh-CN" altLang="en-US" sz="1800" dirty="0"/>
                        <a:t>李志鸣</a:t>
                      </a:r>
                    </a:p>
                  </a:txBody>
                  <a:tcPr/>
                </a:tc>
                <a:tc>
                  <a:txBody>
                    <a:bodyPr/>
                    <a:lstStyle/>
                    <a:p>
                      <a:pPr algn="ctr"/>
                      <a:r>
                        <a:rPr lang="zh-CN" altLang="en-US" sz="1800"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295233">
                <a:tc>
                  <a:txBody>
                    <a:bodyPr/>
                    <a:lstStyle/>
                    <a:p>
                      <a:pPr algn="ctr"/>
                      <a:r>
                        <a:rPr lang="zh-CN" altLang="en-US" sz="1800" dirty="0"/>
                        <a:t>王文晴</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3770924754"/>
                  </a:ext>
                </a:extLst>
              </a:tr>
            </a:tbl>
          </a:graphicData>
        </a:graphic>
      </p:graphicFrame>
      <p:sp>
        <p:nvSpPr>
          <p:cNvPr id="10" name="文本框 9">
            <a:extLst>
              <a:ext uri="{FF2B5EF4-FFF2-40B4-BE49-F238E27FC236}">
                <a16:creationId xmlns:a16="http://schemas.microsoft.com/office/drawing/2014/main" id="{25114F7E-B31D-BB46-9EC2-2797ABF1CAB0}"/>
              </a:ext>
            </a:extLst>
          </p:cNvPr>
          <p:cNvSpPr txBox="1"/>
          <p:nvPr/>
        </p:nvSpPr>
        <p:spPr>
          <a:xfrm>
            <a:off x="5139205" y="4843449"/>
            <a:ext cx="2127505" cy="338554"/>
          </a:xfrm>
          <a:prstGeom prst="rect">
            <a:avLst/>
          </a:prstGeom>
          <a:noFill/>
        </p:spPr>
        <p:txBody>
          <a:bodyPr wrap="none" rtlCol="0">
            <a:spAutoFit/>
          </a:bodyPr>
          <a:lstStyle/>
          <a:p>
            <a:r>
              <a:rPr lang="en-US" altLang="zh-CN" sz="2000" b="1" dirty="0">
                <a:solidFill>
                  <a:srgbClr val="FF0000"/>
                </a:solidFill>
              </a:rPr>
              <a:t>T-V——</a:t>
            </a:r>
            <a:r>
              <a:rPr lang="en-US" altLang="zh-CN" sz="2000" b="1" dirty="0">
                <a:solidFill>
                  <a:schemeClr val="bg1"/>
                </a:solidFill>
              </a:rPr>
              <a:t>SC ÷</a:t>
            </a:r>
            <a:r>
              <a:rPr lang="zh-CN" altLang="en-US" sz="2000" b="1" dirty="0">
                <a:solidFill>
                  <a:schemeClr val="bg1"/>
                </a:solidFill>
              </a:rPr>
              <a:t> </a:t>
            </a:r>
            <a:r>
              <a:rPr lang="en-US" altLang="zh-CN" sz="2000" b="1" dirty="0">
                <a:solidFill>
                  <a:schemeClr val="bg1"/>
                </a:solidFill>
              </a:rPr>
              <a:t>CG</a:t>
            </a:r>
            <a:endParaRPr kumimoji="1" lang="zh-CN" altLang="en-US" sz="2000" b="1" u="sng" dirty="0">
              <a:solidFill>
                <a:schemeClr val="bg1"/>
              </a:solidFill>
            </a:endParaRPr>
          </a:p>
        </p:txBody>
      </p:sp>
    </p:spTree>
    <p:extLst>
      <p:ext uri="{BB962C8B-B14F-4D97-AF65-F5344CB8AC3E}">
        <p14:creationId xmlns:p14="http://schemas.microsoft.com/office/powerpoint/2010/main" val="237808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5060" name="Rectangle 4"/>
          <p:cNvSpPr>
            <a:spLocks noChangeArrowheads="1"/>
          </p:cNvSpPr>
          <p:nvPr/>
        </p:nvSpPr>
        <p:spPr bwMode="auto">
          <a:xfrm>
            <a:off x="0" y="620688"/>
            <a:ext cx="8893175" cy="3560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indent="400050" algn="l">
              <a:lnSpc>
                <a:spcPct val="150000"/>
              </a:lnSpc>
              <a:tabLst>
                <a:tab pos="5067300" algn="l"/>
              </a:tabLst>
            </a:pPr>
            <a:r>
              <a:rPr lang="en-US" altLang="zh-CN" sz="2400" b="1" dirty="0">
                <a:solidFill>
                  <a:schemeClr val="bg2"/>
                </a:solidFill>
              </a:rPr>
              <a:t> </a:t>
            </a:r>
            <a:r>
              <a:rPr lang="zh-CN" altLang="en-US" sz="2400" b="1" dirty="0">
                <a:solidFill>
                  <a:schemeClr val="bg2"/>
                </a:solidFill>
              </a:rPr>
              <a:t>工程项目零件供应数据库</a:t>
            </a:r>
            <a:r>
              <a:rPr lang="en-US" altLang="zh-CN" sz="2400" b="1" dirty="0">
                <a:solidFill>
                  <a:schemeClr val="bg2"/>
                </a:solidFill>
              </a:rPr>
              <a:t>PROJECTY</a:t>
            </a:r>
            <a:r>
              <a:rPr lang="zh-CN" altLang="en-US" sz="2400" b="1" dirty="0">
                <a:solidFill>
                  <a:schemeClr val="bg2"/>
                </a:solidFill>
              </a:rPr>
              <a:t>有四个关系模式有四个：</a:t>
            </a:r>
          </a:p>
          <a:p>
            <a:pPr indent="400050" algn="l">
              <a:lnSpc>
                <a:spcPct val="150000"/>
              </a:lnSpc>
              <a:tabLst>
                <a:tab pos="5067300" algn="l"/>
              </a:tabLst>
            </a:pPr>
            <a:r>
              <a:rPr lang="zh-CN" altLang="en-US" sz="2400" b="1" dirty="0">
                <a:solidFill>
                  <a:schemeClr val="bg2"/>
                </a:solidFill>
              </a:rPr>
              <a:t>   </a:t>
            </a:r>
            <a:r>
              <a:rPr lang="zh-CN" altLang="en-US" sz="2400" b="1" dirty="0">
                <a:solidFill>
                  <a:srgbClr val="660033"/>
                </a:solidFill>
              </a:rPr>
              <a:t>供应商关系：</a:t>
            </a:r>
            <a:r>
              <a:rPr lang="zh-CN" altLang="en-US" sz="2400" b="1" dirty="0">
                <a:solidFill>
                  <a:schemeClr val="bg2"/>
                </a:solidFill>
              </a:rPr>
              <a:t>  </a:t>
            </a:r>
            <a:r>
              <a:rPr lang="en-US" altLang="zh-CN" sz="2400" b="1" dirty="0">
                <a:solidFill>
                  <a:schemeClr val="bg2"/>
                </a:solidFill>
              </a:rPr>
              <a:t>S(</a:t>
            </a:r>
            <a:r>
              <a:rPr lang="en-US" altLang="zh-CN" sz="2400" b="1" u="sng" dirty="0">
                <a:solidFill>
                  <a:schemeClr val="bg2"/>
                </a:solidFill>
              </a:rPr>
              <a:t>SNO</a:t>
            </a:r>
            <a:r>
              <a:rPr lang="en-US" altLang="zh-CN" sz="2400" b="1" dirty="0">
                <a:solidFill>
                  <a:schemeClr val="bg2"/>
                </a:solidFill>
              </a:rPr>
              <a:t>,SNAME,SADDR) </a:t>
            </a:r>
          </a:p>
          <a:p>
            <a:pPr indent="400050" algn="l">
              <a:lnSpc>
                <a:spcPct val="150000"/>
              </a:lnSpc>
              <a:tabLst>
                <a:tab pos="5067300" algn="l"/>
              </a:tabLst>
            </a:pPr>
            <a:r>
              <a:rPr lang="en-US" altLang="zh-CN" sz="2400" b="1" dirty="0">
                <a:solidFill>
                  <a:srgbClr val="660033"/>
                </a:solidFill>
              </a:rPr>
              <a:t>   </a:t>
            </a:r>
            <a:r>
              <a:rPr lang="zh-CN" altLang="en-US" sz="2400" b="1" dirty="0">
                <a:solidFill>
                  <a:srgbClr val="660033"/>
                </a:solidFill>
              </a:rPr>
              <a:t>零件关系：</a:t>
            </a:r>
            <a:r>
              <a:rPr lang="zh-CN" altLang="en-US" sz="2400" b="1" dirty="0">
                <a:solidFill>
                  <a:schemeClr val="bg2"/>
                </a:solidFill>
              </a:rPr>
              <a:t>    </a:t>
            </a:r>
            <a:r>
              <a:rPr lang="en-US" altLang="zh-CN" sz="2400" b="1" dirty="0">
                <a:solidFill>
                  <a:schemeClr val="bg2"/>
                </a:solidFill>
              </a:rPr>
              <a:t>P(</a:t>
            </a:r>
            <a:r>
              <a:rPr lang="en-US" altLang="zh-CN" sz="2400" b="1" u="sng" dirty="0">
                <a:solidFill>
                  <a:schemeClr val="bg2"/>
                </a:solidFill>
              </a:rPr>
              <a:t>PNO,</a:t>
            </a:r>
            <a:r>
              <a:rPr lang="en-US" altLang="zh-CN" sz="2400" b="1" dirty="0">
                <a:solidFill>
                  <a:schemeClr val="bg2"/>
                </a:solidFill>
              </a:rPr>
              <a:t>PNAME,COLOR,WEIGHT)</a:t>
            </a:r>
          </a:p>
          <a:p>
            <a:pPr indent="400050" algn="l">
              <a:lnSpc>
                <a:spcPct val="150000"/>
              </a:lnSpc>
              <a:tabLst>
                <a:tab pos="5067300" algn="l"/>
              </a:tabLst>
            </a:pPr>
            <a:r>
              <a:rPr lang="en-US" altLang="zh-CN" sz="2400" b="1" dirty="0">
                <a:solidFill>
                  <a:srgbClr val="660033"/>
                </a:solidFill>
              </a:rPr>
              <a:t>   </a:t>
            </a:r>
            <a:r>
              <a:rPr lang="zh-CN" altLang="en-US" sz="2400" b="1" dirty="0">
                <a:solidFill>
                  <a:srgbClr val="660033"/>
                </a:solidFill>
              </a:rPr>
              <a:t>工程项目关系：</a:t>
            </a:r>
            <a:r>
              <a:rPr lang="en-US" altLang="zh-CN" sz="2400" b="1" dirty="0">
                <a:solidFill>
                  <a:schemeClr val="bg2"/>
                </a:solidFill>
              </a:rPr>
              <a:t>J(</a:t>
            </a:r>
            <a:r>
              <a:rPr lang="en-US" altLang="zh-CN" sz="2400" b="1" u="sng" dirty="0">
                <a:solidFill>
                  <a:schemeClr val="bg2"/>
                </a:solidFill>
              </a:rPr>
              <a:t>JNO</a:t>
            </a:r>
            <a:r>
              <a:rPr lang="en-US" altLang="zh-CN" sz="2400" b="1" dirty="0">
                <a:solidFill>
                  <a:schemeClr val="bg2"/>
                </a:solidFill>
              </a:rPr>
              <a:t>,JNAME,JCITY,BALANCE)</a:t>
            </a:r>
          </a:p>
          <a:p>
            <a:pPr indent="400050" algn="l">
              <a:lnSpc>
                <a:spcPct val="150000"/>
              </a:lnSpc>
              <a:tabLst>
                <a:tab pos="5067300" algn="l"/>
              </a:tabLst>
            </a:pPr>
            <a:r>
              <a:rPr lang="en-US" altLang="zh-CN" sz="2400" b="1" dirty="0">
                <a:solidFill>
                  <a:srgbClr val="660033"/>
                </a:solidFill>
              </a:rPr>
              <a:t>   </a:t>
            </a:r>
            <a:r>
              <a:rPr lang="zh-CN" altLang="en-US" sz="2400" b="1" dirty="0">
                <a:solidFill>
                  <a:srgbClr val="660033"/>
                </a:solidFill>
              </a:rPr>
              <a:t>供应情况关系：</a:t>
            </a:r>
            <a:r>
              <a:rPr lang="en-US" altLang="zh-CN" sz="2400" b="1" dirty="0">
                <a:solidFill>
                  <a:schemeClr val="bg2"/>
                </a:solidFill>
              </a:rPr>
              <a:t>SPJ(</a:t>
            </a:r>
            <a:r>
              <a:rPr lang="en-US" altLang="zh-CN" sz="2400" b="1" u="sng" dirty="0">
                <a:solidFill>
                  <a:schemeClr val="bg2"/>
                </a:solidFill>
              </a:rPr>
              <a:t>SNO,PNO,JNO</a:t>
            </a:r>
            <a:r>
              <a:rPr lang="en-US" altLang="zh-CN" sz="2400" b="1" dirty="0">
                <a:solidFill>
                  <a:schemeClr val="bg2"/>
                </a:solidFill>
              </a:rPr>
              <a:t>,PRICE,QTY)</a:t>
            </a:r>
          </a:p>
        </p:txBody>
      </p:sp>
      <p:sp>
        <p:nvSpPr>
          <p:cNvPr id="685062" name="Rectangle 6"/>
          <p:cNvSpPr>
            <a:spLocks noChangeArrowheads="1"/>
          </p:cNvSpPr>
          <p:nvPr/>
        </p:nvSpPr>
        <p:spPr bwMode="auto">
          <a:xfrm>
            <a:off x="424335" y="5591151"/>
            <a:ext cx="4176712" cy="7334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2800" b="1" dirty="0">
                <a:solidFill>
                  <a:srgbClr val="660033"/>
                </a:solidFill>
              </a:rPr>
              <a:t>π</a:t>
            </a:r>
            <a:r>
              <a:rPr lang="en-US" altLang="zh-CN" sz="2800" b="1" baseline="-25000" dirty="0">
                <a:solidFill>
                  <a:srgbClr val="660033"/>
                </a:solidFill>
              </a:rPr>
              <a:t>SN0,PN0</a:t>
            </a:r>
            <a:r>
              <a:rPr lang="en-US" altLang="zh-CN" sz="2800" b="1" dirty="0">
                <a:solidFill>
                  <a:srgbClr val="660033"/>
                </a:solidFill>
              </a:rPr>
              <a:t>(</a:t>
            </a:r>
            <a:r>
              <a:rPr lang="en-US" altLang="zh-CN" sz="2800" b="1" dirty="0" err="1">
                <a:solidFill>
                  <a:srgbClr val="660033"/>
                </a:solidFill>
              </a:rPr>
              <a:t>σ</a:t>
            </a:r>
            <a:r>
              <a:rPr lang="en-US" altLang="zh-CN" sz="2800" b="1" baseline="-25000" dirty="0" err="1">
                <a:solidFill>
                  <a:srgbClr val="660033"/>
                </a:solidFill>
              </a:rPr>
              <a:t>JNO</a:t>
            </a:r>
            <a:r>
              <a:rPr lang="en-US" altLang="zh-CN" sz="2800" b="1" baseline="-25000" dirty="0">
                <a:solidFill>
                  <a:srgbClr val="660033"/>
                </a:solidFill>
              </a:rPr>
              <a:t>=</a:t>
            </a:r>
            <a:r>
              <a:rPr lang="en-US" altLang="zh-CN" b="1" baseline="-25000" dirty="0">
                <a:solidFill>
                  <a:schemeClr val="bg1"/>
                </a:solidFill>
              </a:rPr>
              <a:t>‘</a:t>
            </a:r>
            <a:r>
              <a:rPr lang="en-US" altLang="zh-CN" sz="2800" b="1" baseline="-25000" dirty="0">
                <a:solidFill>
                  <a:srgbClr val="660033"/>
                </a:solidFill>
              </a:rPr>
              <a:t>J1</a:t>
            </a:r>
            <a:r>
              <a:rPr lang="en-US" altLang="zh-CN" b="1" baseline="-25000" dirty="0">
                <a:solidFill>
                  <a:schemeClr val="bg1"/>
                </a:solidFill>
              </a:rPr>
              <a:t>’</a:t>
            </a:r>
            <a:r>
              <a:rPr lang="en-US" altLang="zh-CN" dirty="0"/>
              <a:t> </a:t>
            </a:r>
            <a:r>
              <a:rPr lang="en-US" altLang="zh-CN" sz="2800" b="1" dirty="0">
                <a:solidFill>
                  <a:srgbClr val="660033"/>
                </a:solidFill>
              </a:rPr>
              <a:t>(SPJ))</a:t>
            </a:r>
          </a:p>
        </p:txBody>
      </p:sp>
      <p:sp>
        <p:nvSpPr>
          <p:cNvPr id="685064" name="Rectangle 8"/>
          <p:cNvSpPr>
            <a:spLocks noChangeArrowheads="1"/>
          </p:cNvSpPr>
          <p:nvPr/>
        </p:nvSpPr>
        <p:spPr bwMode="auto">
          <a:xfrm>
            <a:off x="4672485" y="5807051"/>
            <a:ext cx="4427537" cy="5191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00000"/>
              </a:lnSpc>
              <a:spcBef>
                <a:spcPct val="0"/>
              </a:spcBef>
            </a:pPr>
            <a:r>
              <a:rPr lang="zh-CN" altLang="en-US" sz="2800" b="1">
                <a:solidFill>
                  <a:schemeClr val="bg1"/>
                </a:solidFill>
              </a:rPr>
              <a:t>或</a:t>
            </a:r>
            <a:r>
              <a:rPr lang="en-US" altLang="zh-CN" sz="2800" b="1">
                <a:solidFill>
                  <a:schemeClr val="bg1"/>
                </a:solidFill>
              </a:rPr>
              <a:t>:π</a:t>
            </a:r>
            <a:r>
              <a:rPr lang="en-US" altLang="zh-CN" sz="2800" b="1" baseline="-25000">
                <a:solidFill>
                  <a:schemeClr val="bg1"/>
                </a:solidFill>
              </a:rPr>
              <a:t>l,2</a:t>
            </a:r>
            <a:r>
              <a:rPr lang="en-US" altLang="zh-CN" sz="2800" b="1">
                <a:solidFill>
                  <a:schemeClr val="bg1"/>
                </a:solidFill>
              </a:rPr>
              <a:t>(σ</a:t>
            </a:r>
            <a:r>
              <a:rPr lang="en-US" altLang="zh-CN" sz="2800" b="1" baseline="-25000">
                <a:solidFill>
                  <a:schemeClr val="bg1"/>
                </a:solidFill>
              </a:rPr>
              <a:t>3='J1’</a:t>
            </a:r>
            <a:r>
              <a:rPr lang="en-US" altLang="zh-CN" sz="2800" b="1">
                <a:solidFill>
                  <a:schemeClr val="bg1"/>
                </a:solidFill>
              </a:rPr>
              <a:t>(SPJ))</a:t>
            </a:r>
          </a:p>
        </p:txBody>
      </p:sp>
      <p:sp>
        <p:nvSpPr>
          <p:cNvPr id="685065" name="Text Box 9"/>
          <p:cNvSpPr txBox="1">
            <a:spLocks noChangeArrowheads="1"/>
          </p:cNvSpPr>
          <p:nvPr/>
        </p:nvSpPr>
        <p:spPr bwMode="auto">
          <a:xfrm>
            <a:off x="395288" y="4437038"/>
            <a:ext cx="8748712" cy="13700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zh-CN" altLang="en-US" sz="2400" b="1">
                <a:solidFill>
                  <a:schemeClr val="bg2"/>
                </a:solidFill>
              </a:rPr>
              <a:t>试用关系代数表达式表示每个查询语句。</a:t>
            </a:r>
          </a:p>
          <a:p>
            <a:pPr>
              <a:lnSpc>
                <a:spcPct val="150000"/>
              </a:lnSpc>
            </a:pPr>
            <a:r>
              <a:rPr lang="zh-CN" altLang="en-US" sz="2400" b="1">
                <a:solidFill>
                  <a:schemeClr val="bg2"/>
                </a:solidFill>
                <a:sym typeface="Symbol" pitchFamily="18" charset="2"/>
              </a:rPr>
              <a:t></a:t>
            </a:r>
            <a:r>
              <a:rPr lang="en-US" altLang="zh-CN" sz="2400" b="1">
                <a:solidFill>
                  <a:schemeClr val="bg2"/>
                </a:solidFill>
                <a:sym typeface="Symbol" pitchFamily="18" charset="2"/>
              </a:rPr>
              <a:t>. </a:t>
            </a:r>
            <a:r>
              <a:rPr lang="zh-CN" altLang="en-US" sz="2400" b="1">
                <a:solidFill>
                  <a:schemeClr val="bg2"/>
                </a:solidFill>
              </a:rPr>
              <a:t>检索供应零件给工程</a:t>
            </a:r>
            <a:r>
              <a:rPr lang="en-US" altLang="zh-CN" sz="2400" b="1">
                <a:solidFill>
                  <a:schemeClr val="bg2"/>
                </a:solidFill>
              </a:rPr>
              <a:t>J1</a:t>
            </a:r>
            <a:r>
              <a:rPr lang="zh-CN" altLang="en-US" sz="2400" b="1">
                <a:solidFill>
                  <a:schemeClr val="bg2"/>
                </a:solidFill>
              </a:rPr>
              <a:t>的供应商编号</a:t>
            </a:r>
            <a:r>
              <a:rPr lang="en-US" altLang="zh-CN" sz="2400" b="1">
                <a:solidFill>
                  <a:schemeClr val="bg2"/>
                </a:solidFill>
              </a:rPr>
              <a:t>SNO</a:t>
            </a:r>
            <a:r>
              <a:rPr lang="zh-CN" altLang="en-US" sz="2400" b="1">
                <a:solidFill>
                  <a:schemeClr val="bg2"/>
                </a:solidFill>
              </a:rPr>
              <a:t>与零件编号</a:t>
            </a:r>
            <a:r>
              <a:rPr lang="en-US" altLang="zh-CN" sz="2400" b="1">
                <a:solidFill>
                  <a:schemeClr val="bg2"/>
                </a:solidFill>
              </a:rPr>
              <a:t>PNO</a:t>
            </a:r>
            <a:r>
              <a:rPr lang="zh-CN" altLang="en-US" sz="2400" b="1">
                <a:solidFill>
                  <a:schemeClr val="bg2"/>
                </a:solidFill>
              </a:rPr>
              <a:t>。</a:t>
            </a:r>
            <a:endParaRPr lang="zh-CN" altLang="en-US" sz="2400"/>
          </a:p>
        </p:txBody>
      </p:sp>
      <p:sp>
        <p:nvSpPr>
          <p:cNvPr id="6" name="Rectangle 3">
            <a:extLst>
              <a:ext uri="{FF2B5EF4-FFF2-40B4-BE49-F238E27FC236}">
                <a16:creationId xmlns:a16="http://schemas.microsoft.com/office/drawing/2014/main" id="{66498F1C-2D94-1145-8A5F-BEA98A3D968C}"/>
              </a:ext>
            </a:extLst>
          </p:cNvPr>
          <p:cNvSpPr txBox="1">
            <a:spLocks noChangeArrowheads="1"/>
          </p:cNvSpPr>
          <p:nvPr/>
        </p:nvSpPr>
        <p:spPr bwMode="auto">
          <a:xfrm>
            <a:off x="107504" y="-30981"/>
            <a:ext cx="7772400" cy="130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accent2"/>
              </a:buClr>
              <a:buSzPct val="80000"/>
              <a:buFont typeface="Wingdings" pitchFamily="2" charset="2"/>
              <a:buChar char="l"/>
              <a:defRPr kumimoji="1" sz="3200">
                <a:solidFill>
                  <a:schemeClr val="tx1"/>
                </a:solidFill>
                <a:latin typeface="+mn-lt"/>
                <a:ea typeface="+mn-ea"/>
                <a:cs typeface="+mn-cs"/>
              </a:defRPr>
            </a:lvl1pPr>
            <a:lvl2pPr marL="742950" indent="-285750" algn="l" rtl="0" fontAlgn="base">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fontAlgn="base">
              <a:spcBef>
                <a:spcPct val="20000"/>
              </a:spcBef>
              <a:spcAft>
                <a:spcPct val="0"/>
              </a:spcAft>
              <a:buClr>
                <a:schemeClr val="accent1"/>
              </a:buClr>
              <a:buSzPct val="60000"/>
              <a:buFont typeface="Wingdings" pitchFamily="2" charset="2"/>
              <a:buChar char="l"/>
              <a:defRPr kumimoji="1" sz="2400">
                <a:solidFill>
                  <a:schemeClr val="tx1"/>
                </a:solidFill>
                <a:latin typeface="+mn-lt"/>
                <a:ea typeface="+mn-ea"/>
              </a:defRPr>
            </a:lvl3pPr>
            <a:lvl4pPr marL="1600200" indent="-228600" algn="l" rtl="0" fontAlgn="base">
              <a:spcBef>
                <a:spcPct val="20000"/>
              </a:spcBef>
              <a:spcAft>
                <a:spcPct val="0"/>
              </a:spcAft>
              <a:buClr>
                <a:schemeClr val="tx1"/>
              </a:buClr>
              <a:buChar char="–"/>
              <a:defRPr kumimoji="1" sz="2000">
                <a:solidFill>
                  <a:schemeClr val="tx1"/>
                </a:solidFill>
                <a:latin typeface="+mn-lt"/>
                <a:ea typeface="+mn-ea"/>
              </a:defRPr>
            </a:lvl4pPr>
            <a:lvl5pPr marL="2057400" indent="-228600" algn="l" rtl="0" fontAlgn="base">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a:lstStyle>
          <a:p>
            <a:pPr algn="just" eaLnBrk="0" hangingPunct="0">
              <a:lnSpc>
                <a:spcPct val="150000"/>
              </a:lnSpc>
              <a:spcBef>
                <a:spcPct val="50000"/>
              </a:spcBef>
              <a:buClrTx/>
              <a:buSzTx/>
              <a:buFontTx/>
              <a:buNone/>
            </a:pPr>
            <a:r>
              <a:rPr lang="zh-CN" altLang="en-US" b="1" kern="0" dirty="0">
                <a:solidFill>
                  <a:srgbClr val="000099"/>
                </a:solidFill>
              </a:rPr>
              <a:t>四、关系代数表达式及其应用实例</a:t>
            </a:r>
            <a:r>
              <a:rPr lang="zh-CN" altLang="en-US" b="1" kern="0" dirty="0">
                <a:solidFill>
                  <a:schemeClr val="bg2"/>
                </a:solidFill>
              </a:rPr>
              <a:t> </a:t>
            </a:r>
          </a:p>
          <a:p>
            <a:pPr>
              <a:lnSpc>
                <a:spcPct val="100000"/>
              </a:lnSpc>
              <a:buFont typeface="Wingdings" pitchFamily="2" charset="2"/>
              <a:buNone/>
            </a:pPr>
            <a:endParaRPr lang="en-US" altLang="zh-CN" kern="0" dirty="0"/>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85065"/>
                                        </p:tgtEl>
                                        <p:attrNameLst>
                                          <p:attrName>style.visibility</p:attrName>
                                        </p:attrNameLst>
                                      </p:cBhvr>
                                      <p:to>
                                        <p:strVal val="visible"/>
                                      </p:to>
                                    </p:set>
                                    <p:animEffect transition="in" filter="blinds(horizontal)">
                                      <p:cBhvr>
                                        <p:cTn id="7" dur="500"/>
                                        <p:tgtEl>
                                          <p:spTgt spid="68506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85062"/>
                                        </p:tgtEl>
                                        <p:attrNameLst>
                                          <p:attrName>style.visibility</p:attrName>
                                        </p:attrNameLst>
                                      </p:cBhvr>
                                      <p:to>
                                        <p:strVal val="visible"/>
                                      </p:to>
                                    </p:set>
                                    <p:animEffect transition="in" filter="blinds(horizontal)">
                                      <p:cBhvr>
                                        <p:cTn id="12" dur="500"/>
                                        <p:tgtEl>
                                          <p:spTgt spid="68506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85064"/>
                                        </p:tgtEl>
                                        <p:attrNameLst>
                                          <p:attrName>style.visibility</p:attrName>
                                        </p:attrNameLst>
                                      </p:cBhvr>
                                      <p:to>
                                        <p:strVal val="visible"/>
                                      </p:to>
                                    </p:set>
                                    <p:animEffect transition="in" filter="blinds(horizontal)">
                                      <p:cBhvr>
                                        <p:cTn id="17" dur="500"/>
                                        <p:tgtEl>
                                          <p:spTgt spid="6850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5062" grpId="0"/>
      <p:bldP spid="685064" grpId="0"/>
      <p:bldP spid="685065"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5539" name="Rectangle 3"/>
          <p:cNvSpPr>
            <a:spLocks noChangeArrowheads="1"/>
          </p:cNvSpPr>
          <p:nvPr/>
        </p:nvSpPr>
        <p:spPr bwMode="auto">
          <a:xfrm>
            <a:off x="755650" y="765175"/>
            <a:ext cx="7200900"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3200" b="1">
                <a:solidFill>
                  <a:srgbClr val="660033"/>
                </a:solidFill>
              </a:rPr>
              <a:t>π</a:t>
            </a:r>
            <a:r>
              <a:rPr lang="en-US" altLang="zh-CN" sz="3200" b="1" baseline="-25000">
                <a:solidFill>
                  <a:srgbClr val="660033"/>
                </a:solidFill>
              </a:rPr>
              <a:t>SNO</a:t>
            </a:r>
            <a:r>
              <a:rPr lang="zh-CN" altLang="en-US" sz="3200" b="1">
                <a:solidFill>
                  <a:srgbClr val="660033"/>
                </a:solidFill>
              </a:rPr>
              <a:t>（</a:t>
            </a:r>
            <a:r>
              <a:rPr lang="en-US" altLang="zh-CN" sz="3200" b="1">
                <a:solidFill>
                  <a:srgbClr val="660033"/>
                </a:solidFill>
              </a:rPr>
              <a:t>σ</a:t>
            </a:r>
            <a:r>
              <a:rPr lang="en-US" altLang="zh-CN" sz="3200" b="1" baseline="-25000">
                <a:solidFill>
                  <a:srgbClr val="660033"/>
                </a:solidFill>
              </a:rPr>
              <a:t>JNO =‘J1’∧ PNO=‘P1’</a:t>
            </a:r>
            <a:r>
              <a:rPr lang="zh-CN" altLang="en-US" sz="3200" b="1">
                <a:solidFill>
                  <a:srgbClr val="660033"/>
                </a:solidFill>
              </a:rPr>
              <a:t>（</a:t>
            </a:r>
            <a:r>
              <a:rPr lang="en-US" altLang="zh-CN" sz="3200" b="1">
                <a:solidFill>
                  <a:srgbClr val="660033"/>
                </a:solidFill>
              </a:rPr>
              <a:t>SPJ</a:t>
            </a:r>
            <a:r>
              <a:rPr lang="zh-CN" altLang="en-US" sz="3200" b="1">
                <a:solidFill>
                  <a:srgbClr val="660033"/>
                </a:solidFill>
              </a:rPr>
              <a:t>））</a:t>
            </a:r>
          </a:p>
        </p:txBody>
      </p:sp>
      <p:sp>
        <p:nvSpPr>
          <p:cNvPr id="705540" name="Rectangle 4"/>
          <p:cNvSpPr>
            <a:spLocks noChangeArrowheads="1"/>
          </p:cNvSpPr>
          <p:nvPr/>
        </p:nvSpPr>
        <p:spPr bwMode="auto">
          <a:xfrm>
            <a:off x="107950" y="1700213"/>
            <a:ext cx="8208963"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60000"/>
              </a:lnSpc>
            </a:pPr>
            <a:r>
              <a:rPr lang="en-US" altLang="zh-CN" sz="2400" b="1">
                <a:solidFill>
                  <a:schemeClr val="bg2"/>
                </a:solidFill>
              </a:rPr>
              <a:t>3.</a:t>
            </a:r>
            <a:r>
              <a:rPr lang="zh-CN" altLang="en-US" sz="2400" b="1">
                <a:solidFill>
                  <a:schemeClr val="bg2"/>
                </a:solidFill>
              </a:rPr>
              <a:t>检索使用了编号为</a:t>
            </a:r>
            <a:r>
              <a:rPr lang="en-US" altLang="zh-CN" sz="2400" b="1">
                <a:solidFill>
                  <a:schemeClr val="bg2"/>
                </a:solidFill>
              </a:rPr>
              <a:t>P3</a:t>
            </a:r>
            <a:r>
              <a:rPr lang="zh-CN" altLang="en-US" sz="2400" b="1">
                <a:solidFill>
                  <a:schemeClr val="bg2"/>
                </a:solidFill>
              </a:rPr>
              <a:t>零件的工程编号和名称。</a:t>
            </a:r>
          </a:p>
        </p:txBody>
      </p:sp>
      <p:sp>
        <p:nvSpPr>
          <p:cNvPr id="705541" name="Text Box 5"/>
          <p:cNvSpPr txBox="1">
            <a:spLocks noChangeArrowheads="1"/>
          </p:cNvSpPr>
          <p:nvPr/>
        </p:nvSpPr>
        <p:spPr bwMode="auto">
          <a:xfrm>
            <a:off x="180975" y="404813"/>
            <a:ext cx="914400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sz="2400" b="1">
                <a:solidFill>
                  <a:schemeClr val="bg2"/>
                </a:solidFill>
              </a:rPr>
              <a:t>2.</a:t>
            </a:r>
            <a:r>
              <a:rPr lang="zh-CN" altLang="en-US" sz="2400" b="1">
                <a:solidFill>
                  <a:schemeClr val="bg2"/>
                </a:solidFill>
              </a:rPr>
              <a:t>检索供应零件给工程</a:t>
            </a:r>
            <a:r>
              <a:rPr lang="en-US" altLang="zh-CN" sz="2400" b="1">
                <a:solidFill>
                  <a:schemeClr val="bg2"/>
                </a:solidFill>
              </a:rPr>
              <a:t>J1</a:t>
            </a:r>
            <a:r>
              <a:rPr lang="zh-CN" altLang="en-US" sz="2400" b="1">
                <a:solidFill>
                  <a:schemeClr val="bg2"/>
                </a:solidFill>
              </a:rPr>
              <a:t>，且零件编号为</a:t>
            </a:r>
            <a:r>
              <a:rPr lang="en-US" altLang="zh-CN" sz="2400" b="1">
                <a:solidFill>
                  <a:schemeClr val="bg2"/>
                </a:solidFill>
              </a:rPr>
              <a:t>P1</a:t>
            </a:r>
            <a:r>
              <a:rPr lang="zh-CN" altLang="en-US" sz="2400" b="1">
                <a:solidFill>
                  <a:schemeClr val="bg2"/>
                </a:solidFill>
              </a:rPr>
              <a:t>的供应商编号</a:t>
            </a:r>
            <a:r>
              <a:rPr lang="en-US" altLang="zh-CN" sz="2400" b="1">
                <a:solidFill>
                  <a:schemeClr val="bg2"/>
                </a:solidFill>
              </a:rPr>
              <a:t>SNO</a:t>
            </a:r>
            <a:r>
              <a:rPr lang="zh-CN" altLang="en-US" sz="2400" b="1">
                <a:solidFill>
                  <a:schemeClr val="bg2"/>
                </a:solidFill>
              </a:rPr>
              <a:t>。</a:t>
            </a:r>
          </a:p>
        </p:txBody>
      </p:sp>
      <p:sp>
        <p:nvSpPr>
          <p:cNvPr id="705542" name="Rectangle 6"/>
          <p:cNvSpPr>
            <a:spLocks noChangeArrowheads="1"/>
          </p:cNvSpPr>
          <p:nvPr/>
        </p:nvSpPr>
        <p:spPr bwMode="auto">
          <a:xfrm>
            <a:off x="149225" y="3429000"/>
            <a:ext cx="9175750"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nSpc>
                <a:spcPct val="160000"/>
              </a:lnSpc>
            </a:pPr>
            <a:r>
              <a:rPr lang="en-US" altLang="zh-CN" sz="2400" b="1">
                <a:solidFill>
                  <a:schemeClr val="bg2"/>
                </a:solidFill>
              </a:rPr>
              <a:t>4.</a:t>
            </a:r>
            <a:r>
              <a:rPr lang="zh-CN" altLang="en-US" sz="2400" b="1">
                <a:solidFill>
                  <a:schemeClr val="bg2"/>
                </a:solidFill>
              </a:rPr>
              <a:t>检索供应零件给工程</a:t>
            </a:r>
            <a:r>
              <a:rPr lang="en-US" altLang="zh-CN" sz="2400" b="1">
                <a:solidFill>
                  <a:schemeClr val="bg2"/>
                </a:solidFill>
              </a:rPr>
              <a:t>J1,</a:t>
            </a:r>
            <a:r>
              <a:rPr lang="zh-CN" altLang="en-US" sz="2400" b="1">
                <a:solidFill>
                  <a:schemeClr val="bg2"/>
                </a:solidFill>
              </a:rPr>
              <a:t>且零件颜色为红色的供应商名称和地址。</a:t>
            </a:r>
          </a:p>
        </p:txBody>
      </p:sp>
      <p:sp>
        <p:nvSpPr>
          <p:cNvPr id="705543" name="Rectangle 7"/>
          <p:cNvSpPr>
            <a:spLocks noChangeArrowheads="1"/>
          </p:cNvSpPr>
          <p:nvPr/>
        </p:nvSpPr>
        <p:spPr bwMode="auto">
          <a:xfrm>
            <a:off x="241300" y="5013325"/>
            <a:ext cx="7499350"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nSpc>
                <a:spcPct val="160000"/>
              </a:lnSpc>
            </a:pPr>
            <a:r>
              <a:rPr lang="en-US" altLang="zh-CN" sz="2400" b="1">
                <a:solidFill>
                  <a:schemeClr val="bg2"/>
                </a:solidFill>
              </a:rPr>
              <a:t>5. </a:t>
            </a:r>
            <a:r>
              <a:rPr lang="zh-CN" altLang="en-US" sz="2400" b="1">
                <a:solidFill>
                  <a:schemeClr val="bg2"/>
                </a:solidFill>
              </a:rPr>
              <a:t>检索使用了零件编号为</a:t>
            </a:r>
            <a:r>
              <a:rPr lang="en-US" altLang="zh-CN" sz="2400" b="1">
                <a:solidFill>
                  <a:schemeClr val="bg1"/>
                </a:solidFill>
              </a:rPr>
              <a:t>P3</a:t>
            </a:r>
            <a:r>
              <a:rPr lang="zh-CN" altLang="en-US" sz="2400" b="1">
                <a:solidFill>
                  <a:schemeClr val="bg1"/>
                </a:solidFill>
              </a:rPr>
              <a:t>或</a:t>
            </a:r>
            <a:r>
              <a:rPr lang="en-US" altLang="zh-CN" sz="2400" b="1">
                <a:solidFill>
                  <a:schemeClr val="bg1"/>
                </a:solidFill>
              </a:rPr>
              <a:t>P5</a:t>
            </a:r>
            <a:r>
              <a:rPr lang="zh-CN" altLang="en-US" sz="2400" b="1">
                <a:solidFill>
                  <a:schemeClr val="bg2"/>
                </a:solidFill>
              </a:rPr>
              <a:t>零件的工程编号</a:t>
            </a:r>
            <a:r>
              <a:rPr lang="en-US" altLang="zh-CN" sz="2400" b="1">
                <a:solidFill>
                  <a:schemeClr val="bg2"/>
                </a:solidFill>
              </a:rPr>
              <a:t>JNO</a:t>
            </a:r>
            <a:r>
              <a:rPr lang="zh-CN" altLang="en-US" sz="2400" b="1">
                <a:solidFill>
                  <a:schemeClr val="bg2"/>
                </a:solidFill>
              </a:rPr>
              <a:t>。</a:t>
            </a:r>
          </a:p>
        </p:txBody>
      </p:sp>
      <p:sp>
        <p:nvSpPr>
          <p:cNvPr id="705544" name="Rectangle 8"/>
          <p:cNvSpPr>
            <a:spLocks noChangeArrowheads="1"/>
          </p:cNvSpPr>
          <p:nvPr/>
        </p:nvSpPr>
        <p:spPr bwMode="auto">
          <a:xfrm>
            <a:off x="755650" y="2781300"/>
            <a:ext cx="8388350"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sz="3200" b="1">
                <a:solidFill>
                  <a:srgbClr val="660033"/>
                </a:solidFill>
              </a:rPr>
              <a:t>π</a:t>
            </a:r>
            <a:r>
              <a:rPr lang="en-US" altLang="zh-CN" sz="3200" b="1" baseline="-15000">
                <a:solidFill>
                  <a:srgbClr val="660033"/>
                </a:solidFill>
              </a:rPr>
              <a:t>JNO,JNAME</a:t>
            </a:r>
            <a:r>
              <a:rPr lang="zh-CN" altLang="en-US" sz="3200" b="1">
                <a:solidFill>
                  <a:srgbClr val="660033"/>
                </a:solidFill>
              </a:rPr>
              <a:t>（</a:t>
            </a:r>
            <a:r>
              <a:rPr lang="en-US" altLang="zh-CN" sz="3200" b="1">
                <a:solidFill>
                  <a:srgbClr val="660033"/>
                </a:solidFill>
              </a:rPr>
              <a:t>σ</a:t>
            </a:r>
            <a:r>
              <a:rPr lang="en-US" altLang="zh-CN" sz="3200" b="1" baseline="-25000">
                <a:solidFill>
                  <a:srgbClr val="660033"/>
                </a:solidFill>
              </a:rPr>
              <a:t>PNO =‘ P3’</a:t>
            </a:r>
            <a:r>
              <a:rPr lang="zh-CN" altLang="en-US" sz="3200" b="1">
                <a:solidFill>
                  <a:srgbClr val="660033"/>
                </a:solidFill>
              </a:rPr>
              <a:t>（</a:t>
            </a:r>
            <a:r>
              <a:rPr lang="en-US" altLang="zh-CN" sz="3200" b="1">
                <a:solidFill>
                  <a:srgbClr val="660033"/>
                </a:solidFill>
              </a:rPr>
              <a:t>J⋈SPJ))</a:t>
            </a:r>
          </a:p>
        </p:txBody>
      </p:sp>
      <p:sp>
        <p:nvSpPr>
          <p:cNvPr id="705545" name="Rectangle 9"/>
          <p:cNvSpPr>
            <a:spLocks noChangeArrowheads="1"/>
          </p:cNvSpPr>
          <p:nvPr/>
        </p:nvSpPr>
        <p:spPr bwMode="auto">
          <a:xfrm>
            <a:off x="576263" y="4076700"/>
            <a:ext cx="8748712"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3200" b="1" dirty="0">
                <a:solidFill>
                  <a:srgbClr val="660033"/>
                </a:solidFill>
              </a:rPr>
              <a:t>π</a:t>
            </a:r>
            <a:r>
              <a:rPr lang="en-US" altLang="zh-CN" sz="3200" b="1" baseline="-25000" dirty="0">
                <a:solidFill>
                  <a:srgbClr val="660033"/>
                </a:solidFill>
              </a:rPr>
              <a:t>SNAME,SADDR</a:t>
            </a:r>
            <a:r>
              <a:rPr lang="en-US" altLang="zh-CN" sz="3200" b="1" dirty="0">
                <a:solidFill>
                  <a:srgbClr val="660033"/>
                </a:solidFill>
              </a:rPr>
              <a:t>(</a:t>
            </a:r>
            <a:r>
              <a:rPr lang="en-US" altLang="zh-CN" sz="3200" b="1" dirty="0" err="1">
                <a:solidFill>
                  <a:srgbClr val="660033"/>
                </a:solidFill>
              </a:rPr>
              <a:t>σ</a:t>
            </a:r>
            <a:r>
              <a:rPr lang="en-US" altLang="zh-CN" sz="3200" b="1" baseline="-25000" dirty="0" err="1">
                <a:solidFill>
                  <a:srgbClr val="660033"/>
                </a:solidFill>
              </a:rPr>
              <a:t>JNO</a:t>
            </a:r>
            <a:r>
              <a:rPr lang="en-US" altLang="zh-CN" sz="3200" b="1" baseline="-25000" dirty="0">
                <a:solidFill>
                  <a:srgbClr val="660033"/>
                </a:solidFill>
              </a:rPr>
              <a:t>=‘J1'∧ COLOR=‘</a:t>
            </a:r>
            <a:r>
              <a:rPr lang="zh-CN" altLang="en-US" sz="3200" b="1" baseline="-25000" dirty="0">
                <a:solidFill>
                  <a:srgbClr val="660033"/>
                </a:solidFill>
              </a:rPr>
              <a:t>红色’</a:t>
            </a:r>
            <a:r>
              <a:rPr lang="en-US" altLang="zh-CN" sz="3200" b="1" dirty="0">
                <a:solidFill>
                  <a:srgbClr val="660033"/>
                </a:solidFill>
              </a:rPr>
              <a:t>(S⋈SPJ⋈P))</a:t>
            </a:r>
          </a:p>
        </p:txBody>
      </p:sp>
      <p:sp>
        <p:nvSpPr>
          <p:cNvPr id="705546" name="Rectangle 10"/>
          <p:cNvSpPr>
            <a:spLocks noChangeArrowheads="1"/>
          </p:cNvSpPr>
          <p:nvPr/>
        </p:nvSpPr>
        <p:spPr bwMode="auto">
          <a:xfrm>
            <a:off x="1042988" y="5734050"/>
            <a:ext cx="6840537" cy="8239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3200" b="1">
                <a:solidFill>
                  <a:srgbClr val="660033"/>
                </a:solidFill>
              </a:rPr>
              <a:t>π</a:t>
            </a:r>
            <a:r>
              <a:rPr lang="en-US" altLang="zh-CN" sz="3200" b="1" baseline="-25000">
                <a:solidFill>
                  <a:srgbClr val="660033"/>
                </a:solidFill>
              </a:rPr>
              <a:t>JNO</a:t>
            </a:r>
            <a:r>
              <a:rPr lang="zh-CN" altLang="en-US" sz="3200" b="1">
                <a:solidFill>
                  <a:srgbClr val="660033"/>
                </a:solidFill>
              </a:rPr>
              <a:t>（</a:t>
            </a:r>
            <a:r>
              <a:rPr lang="en-US" altLang="zh-CN" sz="3200" b="1">
                <a:solidFill>
                  <a:srgbClr val="660033"/>
                </a:solidFill>
              </a:rPr>
              <a:t>σ</a:t>
            </a:r>
            <a:r>
              <a:rPr lang="en-US" altLang="zh-CN" sz="3200" b="1" baseline="-25000">
                <a:solidFill>
                  <a:srgbClr val="660033"/>
                </a:solidFill>
              </a:rPr>
              <a:t>PNO =‘P3'∨PNO=‘P5’</a:t>
            </a:r>
            <a:r>
              <a:rPr lang="en-US" altLang="zh-CN" sz="3200" b="1">
                <a:solidFill>
                  <a:srgbClr val="660033"/>
                </a:solidFill>
              </a:rPr>
              <a:t>(</a:t>
            </a:r>
            <a:r>
              <a:rPr lang="en-US" altLang="zh-CN" sz="3200" b="1">
                <a:solidFill>
                  <a:schemeClr val="bg1"/>
                </a:solidFill>
              </a:rPr>
              <a:t>SPJ</a:t>
            </a:r>
            <a:r>
              <a:rPr lang="en-US" altLang="zh-CN" sz="3200" b="1">
                <a:solidFill>
                  <a:srgbClr val="660033"/>
                </a:solidFill>
              </a:rPr>
              <a:t>))</a:t>
            </a:r>
          </a:p>
        </p:txBody>
      </p:sp>
      <p:sp>
        <p:nvSpPr>
          <p:cNvPr id="705548" name="Freeform 12"/>
          <p:cNvSpPr>
            <a:spLocks/>
          </p:cNvSpPr>
          <p:nvPr/>
        </p:nvSpPr>
        <p:spPr bwMode="auto">
          <a:xfrm>
            <a:off x="3832225" y="5076825"/>
            <a:ext cx="1103313" cy="742950"/>
          </a:xfrm>
          <a:custGeom>
            <a:avLst/>
            <a:gdLst>
              <a:gd name="T0" fmla="*/ 64 w 695"/>
              <a:gd name="T1" fmla="*/ 404 h 468"/>
              <a:gd name="T2" fmla="*/ 18 w 695"/>
              <a:gd name="T3" fmla="*/ 368 h 468"/>
              <a:gd name="T4" fmla="*/ 0 w 695"/>
              <a:gd name="T5" fmla="*/ 313 h 468"/>
              <a:gd name="T6" fmla="*/ 36 w 695"/>
              <a:gd name="T7" fmla="*/ 130 h 468"/>
              <a:gd name="T8" fmla="*/ 100 w 695"/>
              <a:gd name="T9" fmla="*/ 75 h 468"/>
              <a:gd name="T10" fmla="*/ 448 w 695"/>
              <a:gd name="T11" fmla="*/ 11 h 468"/>
              <a:gd name="T12" fmla="*/ 594 w 695"/>
              <a:gd name="T13" fmla="*/ 39 h 468"/>
              <a:gd name="T14" fmla="*/ 667 w 695"/>
              <a:gd name="T15" fmla="*/ 139 h 468"/>
              <a:gd name="T16" fmla="*/ 695 w 695"/>
              <a:gd name="T17" fmla="*/ 231 h 468"/>
              <a:gd name="T18" fmla="*/ 594 w 695"/>
              <a:gd name="T19" fmla="*/ 450 h 468"/>
              <a:gd name="T20" fmla="*/ 512 w 695"/>
              <a:gd name="T21" fmla="*/ 468 h 468"/>
              <a:gd name="T22" fmla="*/ 274 w 695"/>
              <a:gd name="T23" fmla="*/ 441 h 468"/>
              <a:gd name="T24" fmla="*/ 119 w 695"/>
              <a:gd name="T25" fmla="*/ 404 h 468"/>
              <a:gd name="T26" fmla="*/ 64 w 695"/>
              <a:gd name="T27" fmla="*/ 404 h 4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95" h="468">
                <a:moveTo>
                  <a:pt x="64" y="404"/>
                </a:moveTo>
                <a:cubicBezTo>
                  <a:pt x="50" y="391"/>
                  <a:pt x="28" y="385"/>
                  <a:pt x="18" y="368"/>
                </a:cubicBezTo>
                <a:cubicBezTo>
                  <a:pt x="8" y="352"/>
                  <a:pt x="0" y="313"/>
                  <a:pt x="0" y="313"/>
                </a:cubicBezTo>
                <a:cubicBezTo>
                  <a:pt x="10" y="250"/>
                  <a:pt x="16" y="191"/>
                  <a:pt x="36" y="130"/>
                </a:cubicBezTo>
                <a:cubicBezTo>
                  <a:pt x="42" y="110"/>
                  <a:pt x="85" y="86"/>
                  <a:pt x="100" y="75"/>
                </a:cubicBezTo>
                <a:cubicBezTo>
                  <a:pt x="196" y="0"/>
                  <a:pt x="335" y="16"/>
                  <a:pt x="448" y="11"/>
                </a:cubicBezTo>
                <a:cubicBezTo>
                  <a:pt x="511" y="17"/>
                  <a:pt x="541" y="19"/>
                  <a:pt x="594" y="39"/>
                </a:cubicBezTo>
                <a:cubicBezTo>
                  <a:pt x="650" y="94"/>
                  <a:pt x="629" y="82"/>
                  <a:pt x="667" y="139"/>
                </a:cubicBezTo>
                <a:cubicBezTo>
                  <a:pt x="689" y="206"/>
                  <a:pt x="680" y="175"/>
                  <a:pt x="695" y="231"/>
                </a:cubicBezTo>
                <a:cubicBezTo>
                  <a:pt x="684" y="309"/>
                  <a:pt x="674" y="410"/>
                  <a:pt x="594" y="450"/>
                </a:cubicBezTo>
                <a:cubicBezTo>
                  <a:pt x="571" y="461"/>
                  <a:pt x="533" y="465"/>
                  <a:pt x="512" y="468"/>
                </a:cubicBezTo>
                <a:cubicBezTo>
                  <a:pt x="431" y="462"/>
                  <a:pt x="354" y="452"/>
                  <a:pt x="274" y="441"/>
                </a:cubicBezTo>
                <a:cubicBezTo>
                  <a:pt x="223" y="424"/>
                  <a:pt x="172" y="417"/>
                  <a:pt x="119" y="404"/>
                </a:cubicBezTo>
                <a:cubicBezTo>
                  <a:pt x="75" y="393"/>
                  <a:pt x="93" y="389"/>
                  <a:pt x="64" y="404"/>
                </a:cubicBezTo>
                <a:close/>
              </a:path>
            </a:pathLst>
          </a:custGeom>
          <a:noFill/>
          <a:ln w="28575" cap="flat" cmpd="sng">
            <a:solidFill>
              <a:schemeClr val="hlink"/>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705549" name="Freeform 13"/>
          <p:cNvSpPr>
            <a:spLocks/>
          </p:cNvSpPr>
          <p:nvPr/>
        </p:nvSpPr>
        <p:spPr bwMode="auto">
          <a:xfrm>
            <a:off x="2714625" y="6154738"/>
            <a:ext cx="3017838" cy="579437"/>
          </a:xfrm>
          <a:custGeom>
            <a:avLst/>
            <a:gdLst>
              <a:gd name="T0" fmla="*/ 27 w 1901"/>
              <a:gd name="T1" fmla="*/ 301 h 365"/>
              <a:gd name="T2" fmla="*/ 0 w 1901"/>
              <a:gd name="T3" fmla="*/ 164 h 365"/>
              <a:gd name="T4" fmla="*/ 201 w 1901"/>
              <a:gd name="T5" fmla="*/ 27 h 365"/>
              <a:gd name="T6" fmla="*/ 375 w 1901"/>
              <a:gd name="T7" fmla="*/ 9 h 365"/>
              <a:gd name="T8" fmla="*/ 1362 w 1901"/>
              <a:gd name="T9" fmla="*/ 0 h 365"/>
              <a:gd name="T10" fmla="*/ 1719 w 1901"/>
              <a:gd name="T11" fmla="*/ 36 h 365"/>
              <a:gd name="T12" fmla="*/ 1819 w 1901"/>
              <a:gd name="T13" fmla="*/ 54 h 365"/>
              <a:gd name="T14" fmla="*/ 1874 w 1901"/>
              <a:gd name="T15" fmla="*/ 73 h 365"/>
              <a:gd name="T16" fmla="*/ 1901 w 1901"/>
              <a:gd name="T17" fmla="*/ 82 h 365"/>
              <a:gd name="T18" fmla="*/ 1874 w 1901"/>
              <a:gd name="T19" fmla="*/ 228 h 365"/>
              <a:gd name="T20" fmla="*/ 1545 w 1901"/>
              <a:gd name="T21" fmla="*/ 365 h 365"/>
              <a:gd name="T22" fmla="*/ 109 w 1901"/>
              <a:gd name="T23" fmla="*/ 320 h 365"/>
              <a:gd name="T24" fmla="*/ 27 w 1901"/>
              <a:gd name="T25" fmla="*/ 301 h 3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01" h="365">
                <a:moveTo>
                  <a:pt x="27" y="301"/>
                </a:moveTo>
                <a:cubicBezTo>
                  <a:pt x="0" y="220"/>
                  <a:pt x="11" y="265"/>
                  <a:pt x="0" y="164"/>
                </a:cubicBezTo>
                <a:cubicBezTo>
                  <a:pt x="23" y="72"/>
                  <a:pt x="112" y="38"/>
                  <a:pt x="201" y="27"/>
                </a:cubicBezTo>
                <a:cubicBezTo>
                  <a:pt x="259" y="20"/>
                  <a:pt x="375" y="9"/>
                  <a:pt x="375" y="9"/>
                </a:cubicBezTo>
                <a:cubicBezTo>
                  <a:pt x="722" y="13"/>
                  <a:pt x="1028" y="30"/>
                  <a:pt x="1362" y="0"/>
                </a:cubicBezTo>
                <a:cubicBezTo>
                  <a:pt x="1482" y="7"/>
                  <a:pt x="1599" y="22"/>
                  <a:pt x="1719" y="36"/>
                </a:cubicBezTo>
                <a:cubicBezTo>
                  <a:pt x="1729" y="37"/>
                  <a:pt x="1806" y="50"/>
                  <a:pt x="1819" y="54"/>
                </a:cubicBezTo>
                <a:cubicBezTo>
                  <a:pt x="1838" y="59"/>
                  <a:pt x="1856" y="67"/>
                  <a:pt x="1874" y="73"/>
                </a:cubicBezTo>
                <a:cubicBezTo>
                  <a:pt x="1883" y="76"/>
                  <a:pt x="1901" y="82"/>
                  <a:pt x="1901" y="82"/>
                </a:cubicBezTo>
                <a:cubicBezTo>
                  <a:pt x="1892" y="129"/>
                  <a:pt x="1895" y="185"/>
                  <a:pt x="1874" y="228"/>
                </a:cubicBezTo>
                <a:cubicBezTo>
                  <a:pt x="1812" y="355"/>
                  <a:pt x="1668" y="353"/>
                  <a:pt x="1545" y="365"/>
                </a:cubicBezTo>
                <a:cubicBezTo>
                  <a:pt x="1063" y="359"/>
                  <a:pt x="588" y="354"/>
                  <a:pt x="109" y="320"/>
                </a:cubicBezTo>
                <a:cubicBezTo>
                  <a:pt x="82" y="314"/>
                  <a:pt x="27" y="301"/>
                  <a:pt x="27" y="301"/>
                </a:cubicBezTo>
                <a:close/>
              </a:path>
            </a:pathLst>
          </a:custGeom>
          <a:noFill/>
          <a:ln w="28575" cap="flat" cmpd="sng">
            <a:solidFill>
              <a:schemeClr val="hlink"/>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5539"/>
                                        </p:tgtEl>
                                        <p:attrNameLst>
                                          <p:attrName>style.visibility</p:attrName>
                                        </p:attrNameLst>
                                      </p:cBhvr>
                                      <p:to>
                                        <p:strVal val="visible"/>
                                      </p:to>
                                    </p:set>
                                    <p:animEffect transition="in" filter="blinds(horizontal)">
                                      <p:cBhvr>
                                        <p:cTn id="7" dur="500"/>
                                        <p:tgtEl>
                                          <p:spTgt spid="70553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5540"/>
                                        </p:tgtEl>
                                        <p:attrNameLst>
                                          <p:attrName>style.visibility</p:attrName>
                                        </p:attrNameLst>
                                      </p:cBhvr>
                                      <p:to>
                                        <p:strVal val="visible"/>
                                      </p:to>
                                    </p:set>
                                    <p:animEffect transition="in" filter="blinds(horizontal)">
                                      <p:cBhvr>
                                        <p:cTn id="12" dur="500"/>
                                        <p:tgtEl>
                                          <p:spTgt spid="70554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5544"/>
                                        </p:tgtEl>
                                        <p:attrNameLst>
                                          <p:attrName>style.visibility</p:attrName>
                                        </p:attrNameLst>
                                      </p:cBhvr>
                                      <p:to>
                                        <p:strVal val="visible"/>
                                      </p:to>
                                    </p:set>
                                    <p:animEffect transition="in" filter="blinds(horizontal)">
                                      <p:cBhvr>
                                        <p:cTn id="17" dur="500"/>
                                        <p:tgtEl>
                                          <p:spTgt spid="70554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05542"/>
                                        </p:tgtEl>
                                        <p:attrNameLst>
                                          <p:attrName>style.visibility</p:attrName>
                                        </p:attrNameLst>
                                      </p:cBhvr>
                                      <p:to>
                                        <p:strVal val="visible"/>
                                      </p:to>
                                    </p:set>
                                    <p:animEffect transition="in" filter="blinds(horizontal)">
                                      <p:cBhvr>
                                        <p:cTn id="22" dur="500"/>
                                        <p:tgtEl>
                                          <p:spTgt spid="7055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05545"/>
                                        </p:tgtEl>
                                        <p:attrNameLst>
                                          <p:attrName>style.visibility</p:attrName>
                                        </p:attrNameLst>
                                      </p:cBhvr>
                                      <p:to>
                                        <p:strVal val="visible"/>
                                      </p:to>
                                    </p:set>
                                    <p:animEffect transition="in" filter="blinds(horizontal)">
                                      <p:cBhvr>
                                        <p:cTn id="27" dur="500"/>
                                        <p:tgtEl>
                                          <p:spTgt spid="70554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05543"/>
                                        </p:tgtEl>
                                        <p:attrNameLst>
                                          <p:attrName>style.visibility</p:attrName>
                                        </p:attrNameLst>
                                      </p:cBhvr>
                                      <p:to>
                                        <p:strVal val="visible"/>
                                      </p:to>
                                    </p:set>
                                    <p:animEffect transition="in" filter="blinds(horizontal)">
                                      <p:cBhvr>
                                        <p:cTn id="32" dur="500"/>
                                        <p:tgtEl>
                                          <p:spTgt spid="70554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05548"/>
                                        </p:tgtEl>
                                        <p:attrNameLst>
                                          <p:attrName>style.visibility</p:attrName>
                                        </p:attrNameLst>
                                      </p:cBhvr>
                                      <p:to>
                                        <p:strVal val="visible"/>
                                      </p:to>
                                    </p:set>
                                    <p:animEffect transition="in" filter="blinds(horizontal)">
                                      <p:cBhvr>
                                        <p:cTn id="37" dur="500"/>
                                        <p:tgtEl>
                                          <p:spTgt spid="70554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05546"/>
                                        </p:tgtEl>
                                        <p:attrNameLst>
                                          <p:attrName>style.visibility</p:attrName>
                                        </p:attrNameLst>
                                      </p:cBhvr>
                                      <p:to>
                                        <p:strVal val="visible"/>
                                      </p:to>
                                    </p:set>
                                    <p:animEffect transition="in" filter="blinds(horizontal)">
                                      <p:cBhvr>
                                        <p:cTn id="42" dur="500"/>
                                        <p:tgtEl>
                                          <p:spTgt spid="70554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705549"/>
                                        </p:tgtEl>
                                        <p:attrNameLst>
                                          <p:attrName>style.visibility</p:attrName>
                                        </p:attrNameLst>
                                      </p:cBhvr>
                                      <p:to>
                                        <p:strVal val="visible"/>
                                      </p:to>
                                    </p:set>
                                    <p:animEffect transition="in" filter="blinds(horizontal)">
                                      <p:cBhvr>
                                        <p:cTn id="47" dur="500"/>
                                        <p:tgtEl>
                                          <p:spTgt spid="70554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5539" grpId="0"/>
      <p:bldP spid="705540" grpId="0"/>
      <p:bldP spid="705542" grpId="0"/>
      <p:bldP spid="705543" grpId="0"/>
      <p:bldP spid="705544" grpId="0"/>
      <p:bldP spid="705545" grpId="0"/>
      <p:bldP spid="705546" grpId="0"/>
      <p:bldP spid="705548" grpId="0" animBg="1"/>
      <p:bldP spid="705549" grpId="0" animBg="1"/>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4275" name="Rectangle 3"/>
          <p:cNvSpPr>
            <a:spLocks noChangeArrowheads="1"/>
          </p:cNvSpPr>
          <p:nvPr/>
        </p:nvSpPr>
        <p:spPr bwMode="auto">
          <a:xfrm>
            <a:off x="250825" y="872516"/>
            <a:ext cx="769937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lnSpc>
                <a:spcPct val="100000"/>
              </a:lnSpc>
              <a:spcBef>
                <a:spcPct val="0"/>
              </a:spcBef>
            </a:pPr>
            <a:r>
              <a:rPr lang="en-US" altLang="zh-CN" sz="2400" b="1">
                <a:solidFill>
                  <a:schemeClr val="bg2"/>
                </a:solidFill>
              </a:rPr>
              <a:t>6.</a:t>
            </a:r>
            <a:r>
              <a:rPr lang="zh-CN" altLang="en-US" sz="2400" b="1">
                <a:solidFill>
                  <a:schemeClr val="bg2"/>
                </a:solidFill>
              </a:rPr>
              <a:t>检索至少使用了编号为</a:t>
            </a:r>
            <a:r>
              <a:rPr lang="en-US" altLang="zh-CN" sz="2400" b="1">
                <a:solidFill>
                  <a:schemeClr val="bg1"/>
                </a:solidFill>
              </a:rPr>
              <a:t>P3</a:t>
            </a:r>
            <a:r>
              <a:rPr lang="zh-CN" altLang="en-US" sz="2400" b="1">
                <a:solidFill>
                  <a:schemeClr val="bg1"/>
                </a:solidFill>
              </a:rPr>
              <a:t>和</a:t>
            </a:r>
            <a:r>
              <a:rPr lang="en-US" altLang="zh-CN" sz="2400" b="1">
                <a:solidFill>
                  <a:schemeClr val="bg1"/>
                </a:solidFill>
              </a:rPr>
              <a:t>P5</a:t>
            </a:r>
            <a:r>
              <a:rPr lang="en-US" altLang="zh-CN" sz="2400" b="1">
                <a:solidFill>
                  <a:schemeClr val="bg2"/>
                </a:solidFill>
              </a:rPr>
              <a:t> </a:t>
            </a:r>
            <a:r>
              <a:rPr lang="zh-CN" altLang="en-US" sz="2400" b="1">
                <a:solidFill>
                  <a:schemeClr val="bg2"/>
                </a:solidFill>
              </a:rPr>
              <a:t>零件的工程编号</a:t>
            </a:r>
            <a:r>
              <a:rPr lang="en-US" altLang="zh-CN" sz="2400" b="1">
                <a:solidFill>
                  <a:schemeClr val="bg2"/>
                </a:solidFill>
              </a:rPr>
              <a:t>JNO</a:t>
            </a:r>
            <a:r>
              <a:rPr lang="zh-CN" altLang="en-US" sz="2400" b="1">
                <a:solidFill>
                  <a:schemeClr val="bg2"/>
                </a:solidFill>
              </a:rPr>
              <a:t>。 </a:t>
            </a:r>
          </a:p>
        </p:txBody>
      </p:sp>
      <p:sp>
        <p:nvSpPr>
          <p:cNvPr id="694276" name="Rectangle 4"/>
          <p:cNvSpPr>
            <a:spLocks noChangeArrowheads="1"/>
          </p:cNvSpPr>
          <p:nvPr/>
        </p:nvSpPr>
        <p:spPr bwMode="auto">
          <a:xfrm>
            <a:off x="755650" y="1375754"/>
            <a:ext cx="70294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00000"/>
              </a:lnSpc>
              <a:spcBef>
                <a:spcPct val="0"/>
              </a:spcBef>
            </a:pPr>
            <a:r>
              <a:rPr lang="en-US" altLang="zh-CN" sz="3200" b="1">
                <a:solidFill>
                  <a:srgbClr val="660033"/>
                </a:solidFill>
              </a:rPr>
              <a:t>π</a:t>
            </a:r>
            <a:r>
              <a:rPr lang="en-US" altLang="zh-CN" sz="3200" b="1" baseline="-25000">
                <a:solidFill>
                  <a:srgbClr val="660033"/>
                </a:solidFill>
              </a:rPr>
              <a:t>3</a:t>
            </a:r>
            <a:r>
              <a:rPr lang="zh-CN" altLang="en-US" sz="3200" b="1">
                <a:solidFill>
                  <a:srgbClr val="660033"/>
                </a:solidFill>
              </a:rPr>
              <a:t>（</a:t>
            </a:r>
            <a:r>
              <a:rPr lang="en-US" altLang="zh-CN" sz="3200" b="1">
                <a:solidFill>
                  <a:srgbClr val="660033"/>
                </a:solidFill>
              </a:rPr>
              <a:t>σ</a:t>
            </a:r>
            <a:r>
              <a:rPr lang="en-US" altLang="zh-CN" sz="3200" b="1" baseline="-25000">
                <a:solidFill>
                  <a:srgbClr val="660033"/>
                </a:solidFill>
              </a:rPr>
              <a:t>3=8∧2=‘P3'∧7=‘P5'</a:t>
            </a:r>
            <a:r>
              <a:rPr lang="en-US" altLang="zh-CN"/>
              <a:t> </a:t>
            </a:r>
            <a:r>
              <a:rPr lang="en-US" altLang="zh-CN" sz="3200" b="1">
                <a:solidFill>
                  <a:srgbClr val="660033"/>
                </a:solidFill>
              </a:rPr>
              <a:t>(</a:t>
            </a:r>
            <a:r>
              <a:rPr lang="en-US" altLang="zh-CN" sz="3200" b="1">
                <a:solidFill>
                  <a:schemeClr val="bg1"/>
                </a:solidFill>
              </a:rPr>
              <a:t>SPJ×SPJ</a:t>
            </a:r>
            <a:r>
              <a:rPr lang="en-US" altLang="zh-CN" sz="3200" b="1">
                <a:solidFill>
                  <a:srgbClr val="660033"/>
                </a:solidFill>
              </a:rPr>
              <a:t>))</a:t>
            </a:r>
          </a:p>
        </p:txBody>
      </p:sp>
      <p:sp>
        <p:nvSpPr>
          <p:cNvPr id="694277" name="Rectangle 5"/>
          <p:cNvSpPr>
            <a:spLocks noChangeArrowheads="1"/>
          </p:cNvSpPr>
          <p:nvPr/>
        </p:nvSpPr>
        <p:spPr bwMode="auto">
          <a:xfrm>
            <a:off x="-532607" y="3917811"/>
            <a:ext cx="9266238"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indent="800100" algn="ctr">
              <a:tabLst>
                <a:tab pos="5067300" algn="l"/>
              </a:tabLst>
            </a:pPr>
            <a:r>
              <a:rPr lang="en-US" altLang="zh-CN" sz="2400" b="1" dirty="0">
                <a:solidFill>
                  <a:schemeClr val="bg2"/>
                </a:solidFill>
              </a:rPr>
              <a:t>7.</a:t>
            </a:r>
            <a:r>
              <a:rPr lang="zh-CN" altLang="en-US" sz="2400" b="1" dirty="0">
                <a:solidFill>
                  <a:schemeClr val="bg2"/>
                </a:solidFill>
              </a:rPr>
              <a:t>检索不使用编号为</a:t>
            </a:r>
            <a:r>
              <a:rPr lang="en-US" altLang="zh-CN" sz="2400" b="1" dirty="0">
                <a:solidFill>
                  <a:schemeClr val="bg2"/>
                </a:solidFill>
              </a:rPr>
              <a:t>P3</a:t>
            </a:r>
            <a:r>
              <a:rPr lang="zh-CN" altLang="en-US" sz="2400" b="1" dirty="0">
                <a:solidFill>
                  <a:schemeClr val="bg2"/>
                </a:solidFill>
              </a:rPr>
              <a:t>零件的工程编号</a:t>
            </a:r>
            <a:r>
              <a:rPr lang="en-US" altLang="zh-CN" sz="2400" b="1" dirty="0">
                <a:solidFill>
                  <a:schemeClr val="bg2"/>
                </a:solidFill>
              </a:rPr>
              <a:t>JNO</a:t>
            </a:r>
            <a:r>
              <a:rPr lang="zh-CN" altLang="en-US" sz="2400" b="1" dirty="0">
                <a:solidFill>
                  <a:schemeClr val="bg2"/>
                </a:solidFill>
              </a:rPr>
              <a:t>和工程名称</a:t>
            </a:r>
            <a:r>
              <a:rPr lang="en-US" altLang="zh-CN" sz="2400" b="1" dirty="0">
                <a:solidFill>
                  <a:schemeClr val="bg2"/>
                </a:solidFill>
              </a:rPr>
              <a:t>JNAME</a:t>
            </a:r>
            <a:r>
              <a:rPr lang="zh-CN" altLang="en-US" sz="2400" b="1" dirty="0">
                <a:solidFill>
                  <a:schemeClr val="bg2"/>
                </a:solidFill>
              </a:rPr>
              <a:t>。</a:t>
            </a:r>
          </a:p>
        </p:txBody>
      </p:sp>
      <p:sp>
        <p:nvSpPr>
          <p:cNvPr id="694278" name="Rectangle 6"/>
          <p:cNvSpPr>
            <a:spLocks noChangeArrowheads="1"/>
          </p:cNvSpPr>
          <p:nvPr/>
        </p:nvSpPr>
        <p:spPr bwMode="auto">
          <a:xfrm>
            <a:off x="250825" y="4502329"/>
            <a:ext cx="8675688"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sz="3200" b="1" dirty="0">
                <a:solidFill>
                  <a:srgbClr val="660033"/>
                </a:solidFill>
              </a:rPr>
              <a:t>π</a:t>
            </a:r>
            <a:r>
              <a:rPr lang="en-US" altLang="zh-CN" sz="3200" b="1" baseline="-25000" dirty="0">
                <a:solidFill>
                  <a:srgbClr val="660033"/>
                </a:solidFill>
              </a:rPr>
              <a:t>JNO,JNAME</a:t>
            </a:r>
            <a:r>
              <a:rPr lang="en-US" altLang="zh-CN" sz="3200" b="1" dirty="0">
                <a:solidFill>
                  <a:srgbClr val="660033"/>
                </a:solidFill>
              </a:rPr>
              <a:t>(J)―π</a:t>
            </a:r>
            <a:r>
              <a:rPr lang="en-US" altLang="zh-CN" sz="3200" b="1" baseline="-25000" dirty="0">
                <a:solidFill>
                  <a:srgbClr val="660033"/>
                </a:solidFill>
              </a:rPr>
              <a:t>JNO,JNAME</a:t>
            </a:r>
            <a:r>
              <a:rPr lang="en-US" altLang="zh-CN" sz="3200" b="1" dirty="0">
                <a:solidFill>
                  <a:srgbClr val="660033"/>
                </a:solidFill>
              </a:rPr>
              <a:t>(</a:t>
            </a:r>
            <a:r>
              <a:rPr lang="en-US" altLang="zh-CN" sz="3200" b="1" dirty="0" err="1">
                <a:solidFill>
                  <a:srgbClr val="660033"/>
                </a:solidFill>
              </a:rPr>
              <a:t>σ</a:t>
            </a:r>
            <a:r>
              <a:rPr lang="en-US" altLang="zh-CN" sz="3200" b="1" baseline="-25000" dirty="0" err="1">
                <a:solidFill>
                  <a:srgbClr val="660033"/>
                </a:solidFill>
              </a:rPr>
              <a:t>PNO</a:t>
            </a:r>
            <a:r>
              <a:rPr lang="en-US" altLang="zh-CN" sz="3200" b="1" baseline="-25000" dirty="0">
                <a:solidFill>
                  <a:srgbClr val="660033"/>
                </a:solidFill>
              </a:rPr>
              <a:t>=</a:t>
            </a:r>
            <a:r>
              <a:rPr lang="en-US" altLang="zh-CN" b="1" baseline="-25000" dirty="0">
                <a:solidFill>
                  <a:srgbClr val="660033"/>
                </a:solidFill>
              </a:rPr>
              <a:t>‘</a:t>
            </a:r>
            <a:r>
              <a:rPr lang="en-US" altLang="zh-CN" sz="3200" b="1" baseline="-25000" dirty="0">
                <a:solidFill>
                  <a:srgbClr val="660033"/>
                </a:solidFill>
              </a:rPr>
              <a:t>P3’</a:t>
            </a:r>
            <a:r>
              <a:rPr lang="en-US" altLang="zh-CN" sz="3200" b="1" dirty="0">
                <a:solidFill>
                  <a:srgbClr val="660033"/>
                </a:solidFill>
              </a:rPr>
              <a:t>(SPJ⋈J))</a:t>
            </a:r>
          </a:p>
        </p:txBody>
      </p:sp>
      <p:sp>
        <p:nvSpPr>
          <p:cNvPr id="694283" name="Freeform 11"/>
          <p:cNvSpPr>
            <a:spLocks/>
          </p:cNvSpPr>
          <p:nvPr/>
        </p:nvSpPr>
        <p:spPr bwMode="auto">
          <a:xfrm>
            <a:off x="3603625" y="655029"/>
            <a:ext cx="1206500" cy="798512"/>
          </a:xfrm>
          <a:custGeom>
            <a:avLst/>
            <a:gdLst>
              <a:gd name="T0" fmla="*/ 43 w 760"/>
              <a:gd name="T1" fmla="*/ 92 h 503"/>
              <a:gd name="T2" fmla="*/ 299 w 760"/>
              <a:gd name="T3" fmla="*/ 0 h 503"/>
              <a:gd name="T4" fmla="*/ 729 w 760"/>
              <a:gd name="T5" fmla="*/ 201 h 503"/>
              <a:gd name="T6" fmla="*/ 747 w 760"/>
              <a:gd name="T7" fmla="*/ 256 h 503"/>
              <a:gd name="T8" fmla="*/ 738 w 760"/>
              <a:gd name="T9" fmla="*/ 384 h 503"/>
              <a:gd name="T10" fmla="*/ 674 w 760"/>
              <a:gd name="T11" fmla="*/ 448 h 503"/>
              <a:gd name="T12" fmla="*/ 409 w 760"/>
              <a:gd name="T13" fmla="*/ 503 h 503"/>
              <a:gd name="T14" fmla="*/ 61 w 760"/>
              <a:gd name="T15" fmla="*/ 448 h 503"/>
              <a:gd name="T16" fmla="*/ 43 w 760"/>
              <a:gd name="T17" fmla="*/ 293 h 503"/>
              <a:gd name="T18" fmla="*/ 43 w 760"/>
              <a:gd name="T19" fmla="*/ 92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60" h="503">
                <a:moveTo>
                  <a:pt x="43" y="92"/>
                </a:moveTo>
                <a:cubicBezTo>
                  <a:pt x="97" y="35"/>
                  <a:pt x="222" y="11"/>
                  <a:pt x="299" y="0"/>
                </a:cubicBezTo>
                <a:cubicBezTo>
                  <a:pt x="452" y="19"/>
                  <a:pt x="638" y="64"/>
                  <a:pt x="729" y="201"/>
                </a:cubicBezTo>
                <a:cubicBezTo>
                  <a:pt x="735" y="219"/>
                  <a:pt x="741" y="238"/>
                  <a:pt x="747" y="256"/>
                </a:cubicBezTo>
                <a:cubicBezTo>
                  <a:pt x="760" y="297"/>
                  <a:pt x="743" y="342"/>
                  <a:pt x="738" y="384"/>
                </a:cubicBezTo>
                <a:cubicBezTo>
                  <a:pt x="733" y="426"/>
                  <a:pt x="713" y="422"/>
                  <a:pt x="674" y="448"/>
                </a:cubicBezTo>
                <a:cubicBezTo>
                  <a:pt x="603" y="495"/>
                  <a:pt x="491" y="495"/>
                  <a:pt x="409" y="503"/>
                </a:cubicBezTo>
                <a:cubicBezTo>
                  <a:pt x="281" y="496"/>
                  <a:pt x="180" y="486"/>
                  <a:pt x="61" y="448"/>
                </a:cubicBezTo>
                <a:cubicBezTo>
                  <a:pt x="0" y="407"/>
                  <a:pt x="27" y="357"/>
                  <a:pt x="43" y="293"/>
                </a:cubicBezTo>
                <a:cubicBezTo>
                  <a:pt x="50" y="226"/>
                  <a:pt x="74" y="154"/>
                  <a:pt x="43" y="92"/>
                </a:cubicBezTo>
                <a:close/>
              </a:path>
            </a:pathLst>
          </a:custGeom>
          <a:noFill/>
          <a:ln w="28575" cap="flat" cmpd="sng">
            <a:solidFill>
              <a:schemeClr val="hlink"/>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694284" name="Freeform 12"/>
          <p:cNvSpPr>
            <a:spLocks/>
          </p:cNvSpPr>
          <p:nvPr/>
        </p:nvSpPr>
        <p:spPr bwMode="auto">
          <a:xfrm>
            <a:off x="2060575" y="1628166"/>
            <a:ext cx="654050" cy="412750"/>
          </a:xfrm>
          <a:custGeom>
            <a:avLst/>
            <a:gdLst>
              <a:gd name="T0" fmla="*/ 211 w 412"/>
              <a:gd name="T1" fmla="*/ 237 h 260"/>
              <a:gd name="T2" fmla="*/ 0 w 412"/>
              <a:gd name="T3" fmla="*/ 210 h 260"/>
              <a:gd name="T4" fmla="*/ 46 w 412"/>
              <a:gd name="T5" fmla="*/ 73 h 260"/>
              <a:gd name="T6" fmla="*/ 73 w 412"/>
              <a:gd name="T7" fmla="*/ 55 h 260"/>
              <a:gd name="T8" fmla="*/ 119 w 412"/>
              <a:gd name="T9" fmla="*/ 18 h 260"/>
              <a:gd name="T10" fmla="*/ 174 w 412"/>
              <a:gd name="T11" fmla="*/ 0 h 260"/>
              <a:gd name="T12" fmla="*/ 238 w 412"/>
              <a:gd name="T13" fmla="*/ 9 h 260"/>
              <a:gd name="T14" fmla="*/ 293 w 412"/>
              <a:gd name="T15" fmla="*/ 27 h 260"/>
              <a:gd name="T16" fmla="*/ 412 w 412"/>
              <a:gd name="T17" fmla="*/ 137 h 260"/>
              <a:gd name="T18" fmla="*/ 128 w 412"/>
              <a:gd name="T19" fmla="*/ 256 h 2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2" h="260">
                <a:moveTo>
                  <a:pt x="211" y="237"/>
                </a:moveTo>
                <a:cubicBezTo>
                  <a:pt x="132" y="258"/>
                  <a:pt x="72" y="233"/>
                  <a:pt x="0" y="210"/>
                </a:cubicBezTo>
                <a:cubicBezTo>
                  <a:pt x="16" y="164"/>
                  <a:pt x="31" y="119"/>
                  <a:pt x="46" y="73"/>
                </a:cubicBezTo>
                <a:cubicBezTo>
                  <a:pt x="49" y="63"/>
                  <a:pt x="65" y="62"/>
                  <a:pt x="73" y="55"/>
                </a:cubicBezTo>
                <a:cubicBezTo>
                  <a:pt x="96" y="36"/>
                  <a:pt x="89" y="31"/>
                  <a:pt x="119" y="18"/>
                </a:cubicBezTo>
                <a:cubicBezTo>
                  <a:pt x="137" y="10"/>
                  <a:pt x="174" y="0"/>
                  <a:pt x="174" y="0"/>
                </a:cubicBezTo>
                <a:cubicBezTo>
                  <a:pt x="195" y="3"/>
                  <a:pt x="217" y="4"/>
                  <a:pt x="238" y="9"/>
                </a:cubicBezTo>
                <a:cubicBezTo>
                  <a:pt x="257" y="13"/>
                  <a:pt x="293" y="27"/>
                  <a:pt x="293" y="27"/>
                </a:cubicBezTo>
                <a:cubicBezTo>
                  <a:pt x="338" y="57"/>
                  <a:pt x="381" y="92"/>
                  <a:pt x="412" y="137"/>
                </a:cubicBezTo>
                <a:cubicBezTo>
                  <a:pt x="371" y="260"/>
                  <a:pt x="236" y="256"/>
                  <a:pt x="128" y="256"/>
                </a:cubicBezTo>
              </a:path>
            </a:pathLst>
          </a:custGeom>
          <a:noFill/>
          <a:ln w="9525" cap="flat" cmpd="sng">
            <a:solidFill>
              <a:schemeClr val="bg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694287" name="Freeform 15"/>
          <p:cNvSpPr>
            <a:spLocks/>
          </p:cNvSpPr>
          <p:nvPr/>
        </p:nvSpPr>
        <p:spPr bwMode="auto">
          <a:xfrm>
            <a:off x="2843213" y="1671029"/>
            <a:ext cx="2251075" cy="420687"/>
          </a:xfrm>
          <a:custGeom>
            <a:avLst/>
            <a:gdLst>
              <a:gd name="T0" fmla="*/ 28 w 1418"/>
              <a:gd name="T1" fmla="*/ 247 h 265"/>
              <a:gd name="T2" fmla="*/ 19 w 1418"/>
              <a:gd name="T3" fmla="*/ 55 h 265"/>
              <a:gd name="T4" fmla="*/ 92 w 1418"/>
              <a:gd name="T5" fmla="*/ 18 h 265"/>
              <a:gd name="T6" fmla="*/ 696 w 1418"/>
              <a:gd name="T7" fmla="*/ 9 h 265"/>
              <a:gd name="T8" fmla="*/ 1208 w 1418"/>
              <a:gd name="T9" fmla="*/ 0 h 265"/>
              <a:gd name="T10" fmla="*/ 1391 w 1418"/>
              <a:gd name="T11" fmla="*/ 55 h 265"/>
              <a:gd name="T12" fmla="*/ 1418 w 1418"/>
              <a:gd name="T13" fmla="*/ 110 h 265"/>
              <a:gd name="T14" fmla="*/ 1226 w 1418"/>
              <a:gd name="T15" fmla="*/ 265 h 265"/>
              <a:gd name="T16" fmla="*/ 422 w 1418"/>
              <a:gd name="T17" fmla="*/ 256 h 265"/>
              <a:gd name="T18" fmla="*/ 28 w 1418"/>
              <a:gd name="T19" fmla="*/ 247 h 2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18" h="265">
                <a:moveTo>
                  <a:pt x="28" y="247"/>
                </a:moveTo>
                <a:cubicBezTo>
                  <a:pt x="19" y="176"/>
                  <a:pt x="0" y="128"/>
                  <a:pt x="19" y="55"/>
                </a:cubicBezTo>
                <a:cubicBezTo>
                  <a:pt x="24" y="37"/>
                  <a:pt x="77" y="18"/>
                  <a:pt x="92" y="18"/>
                </a:cubicBezTo>
                <a:cubicBezTo>
                  <a:pt x="293" y="12"/>
                  <a:pt x="495" y="12"/>
                  <a:pt x="696" y="9"/>
                </a:cubicBezTo>
                <a:cubicBezTo>
                  <a:pt x="867" y="6"/>
                  <a:pt x="1037" y="3"/>
                  <a:pt x="1208" y="0"/>
                </a:cubicBezTo>
                <a:cubicBezTo>
                  <a:pt x="1342" y="11"/>
                  <a:pt x="1306" y="0"/>
                  <a:pt x="1391" y="55"/>
                </a:cubicBezTo>
                <a:cubicBezTo>
                  <a:pt x="1401" y="70"/>
                  <a:pt x="1418" y="90"/>
                  <a:pt x="1418" y="110"/>
                </a:cubicBezTo>
                <a:cubicBezTo>
                  <a:pt x="1418" y="215"/>
                  <a:pt x="1308" y="245"/>
                  <a:pt x="1226" y="265"/>
                </a:cubicBezTo>
                <a:cubicBezTo>
                  <a:pt x="948" y="258"/>
                  <a:pt x="699" y="249"/>
                  <a:pt x="422" y="256"/>
                </a:cubicBezTo>
                <a:cubicBezTo>
                  <a:pt x="291" y="253"/>
                  <a:pt x="159" y="247"/>
                  <a:pt x="28" y="247"/>
                </a:cubicBezTo>
                <a:close/>
              </a:path>
            </a:pathLst>
          </a:custGeom>
          <a:noFill/>
          <a:ln w="9525" cap="flat" cmpd="sng">
            <a:solidFill>
              <a:schemeClr val="bg1"/>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694288" name="Freeform 16"/>
          <p:cNvSpPr>
            <a:spLocks/>
          </p:cNvSpPr>
          <p:nvPr/>
        </p:nvSpPr>
        <p:spPr bwMode="auto">
          <a:xfrm>
            <a:off x="5284788" y="1351941"/>
            <a:ext cx="1762125" cy="617538"/>
          </a:xfrm>
          <a:custGeom>
            <a:avLst/>
            <a:gdLst>
              <a:gd name="T0" fmla="*/ 575 w 1110"/>
              <a:gd name="T1" fmla="*/ 375 h 389"/>
              <a:gd name="T2" fmla="*/ 72 w 1110"/>
              <a:gd name="T3" fmla="*/ 338 h 389"/>
              <a:gd name="T4" fmla="*/ 26 w 1110"/>
              <a:gd name="T5" fmla="*/ 265 h 389"/>
              <a:gd name="T6" fmla="*/ 8 w 1110"/>
              <a:gd name="T7" fmla="*/ 210 h 389"/>
              <a:gd name="T8" fmla="*/ 17 w 1110"/>
              <a:gd name="T9" fmla="*/ 137 h 389"/>
              <a:gd name="T10" fmla="*/ 310 w 1110"/>
              <a:gd name="T11" fmla="*/ 9 h 389"/>
              <a:gd name="T12" fmla="*/ 465 w 1110"/>
              <a:gd name="T13" fmla="*/ 0 h 389"/>
              <a:gd name="T14" fmla="*/ 858 w 1110"/>
              <a:gd name="T15" fmla="*/ 27 h 389"/>
              <a:gd name="T16" fmla="*/ 1005 w 1110"/>
              <a:gd name="T17" fmla="*/ 82 h 389"/>
              <a:gd name="T18" fmla="*/ 1050 w 1110"/>
              <a:gd name="T19" fmla="*/ 128 h 389"/>
              <a:gd name="T20" fmla="*/ 1069 w 1110"/>
              <a:gd name="T21" fmla="*/ 146 h 389"/>
              <a:gd name="T22" fmla="*/ 1096 w 1110"/>
              <a:gd name="T23" fmla="*/ 201 h 389"/>
              <a:gd name="T24" fmla="*/ 858 w 1110"/>
              <a:gd name="T25" fmla="*/ 384 h 389"/>
              <a:gd name="T26" fmla="*/ 575 w 1110"/>
              <a:gd name="T27" fmla="*/ 375 h 3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110" h="389">
                <a:moveTo>
                  <a:pt x="575" y="375"/>
                </a:moveTo>
                <a:cubicBezTo>
                  <a:pt x="421" y="371"/>
                  <a:pt x="230" y="389"/>
                  <a:pt x="72" y="338"/>
                </a:cubicBezTo>
                <a:cubicBezTo>
                  <a:pt x="54" y="311"/>
                  <a:pt x="49" y="287"/>
                  <a:pt x="26" y="265"/>
                </a:cubicBezTo>
                <a:cubicBezTo>
                  <a:pt x="20" y="247"/>
                  <a:pt x="14" y="228"/>
                  <a:pt x="8" y="210"/>
                </a:cubicBezTo>
                <a:cubicBezTo>
                  <a:pt x="0" y="187"/>
                  <a:pt x="13" y="161"/>
                  <a:pt x="17" y="137"/>
                </a:cubicBezTo>
                <a:cubicBezTo>
                  <a:pt x="35" y="38"/>
                  <a:pt x="233" y="14"/>
                  <a:pt x="310" y="9"/>
                </a:cubicBezTo>
                <a:cubicBezTo>
                  <a:pt x="362" y="5"/>
                  <a:pt x="413" y="3"/>
                  <a:pt x="465" y="0"/>
                </a:cubicBezTo>
                <a:cubicBezTo>
                  <a:pt x="601" y="5"/>
                  <a:pt x="725" y="11"/>
                  <a:pt x="858" y="27"/>
                </a:cubicBezTo>
                <a:cubicBezTo>
                  <a:pt x="905" y="40"/>
                  <a:pt x="967" y="48"/>
                  <a:pt x="1005" y="82"/>
                </a:cubicBezTo>
                <a:cubicBezTo>
                  <a:pt x="1021" y="96"/>
                  <a:pt x="1035" y="113"/>
                  <a:pt x="1050" y="128"/>
                </a:cubicBezTo>
                <a:cubicBezTo>
                  <a:pt x="1056" y="134"/>
                  <a:pt x="1069" y="146"/>
                  <a:pt x="1069" y="146"/>
                </a:cubicBezTo>
                <a:cubicBezTo>
                  <a:pt x="1075" y="165"/>
                  <a:pt x="1094" y="181"/>
                  <a:pt x="1096" y="201"/>
                </a:cubicBezTo>
                <a:cubicBezTo>
                  <a:pt x="1110" y="353"/>
                  <a:pt x="968" y="366"/>
                  <a:pt x="858" y="384"/>
                </a:cubicBezTo>
                <a:cubicBezTo>
                  <a:pt x="593" y="375"/>
                  <a:pt x="687" y="375"/>
                  <a:pt x="575" y="375"/>
                </a:cubicBezTo>
                <a:close/>
              </a:path>
            </a:pathLst>
          </a:custGeom>
          <a:noFill/>
          <a:ln w="9525" cap="flat" cmpd="sng">
            <a:solidFill>
              <a:schemeClr val="tx2"/>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aphicFrame>
        <p:nvGraphicFramePr>
          <p:cNvPr id="3" name="表格 3">
            <a:extLst>
              <a:ext uri="{FF2B5EF4-FFF2-40B4-BE49-F238E27FC236}">
                <a16:creationId xmlns:a16="http://schemas.microsoft.com/office/drawing/2014/main" id="{7AE28ED2-47DB-2445-9F43-3BB2683BFE21}"/>
              </a:ext>
            </a:extLst>
          </p:cNvPr>
          <p:cNvGraphicFramePr>
            <a:graphicFrameLocks noGrp="1"/>
          </p:cNvGraphicFramePr>
          <p:nvPr>
            <p:extLst>
              <p:ext uri="{D42A27DB-BD31-4B8C-83A1-F6EECF244321}">
                <p14:modId xmlns:p14="http://schemas.microsoft.com/office/powerpoint/2010/main" val="2819955362"/>
              </p:ext>
            </p:extLst>
          </p:nvPr>
        </p:nvGraphicFramePr>
        <p:xfrm>
          <a:off x="193298" y="2357842"/>
          <a:ext cx="8840781" cy="741680"/>
        </p:xfrm>
        <a:graphic>
          <a:graphicData uri="http://schemas.openxmlformats.org/drawingml/2006/table">
            <a:tbl>
              <a:tblPr firstRow="1" bandRow="1">
                <a:tableStyleId>{5C22544A-7EE6-4342-B048-85BDC9FD1C3A}</a:tableStyleId>
              </a:tblPr>
              <a:tblGrid>
                <a:gridCol w="683568">
                  <a:extLst>
                    <a:ext uri="{9D8B030D-6E8A-4147-A177-3AD203B41FA5}">
                      <a16:colId xmlns:a16="http://schemas.microsoft.com/office/drawing/2014/main" val="2512462284"/>
                    </a:ext>
                  </a:extLst>
                </a:gridCol>
                <a:gridCol w="720080">
                  <a:extLst>
                    <a:ext uri="{9D8B030D-6E8A-4147-A177-3AD203B41FA5}">
                      <a16:colId xmlns:a16="http://schemas.microsoft.com/office/drawing/2014/main" val="1272611051"/>
                    </a:ext>
                  </a:extLst>
                </a:gridCol>
                <a:gridCol w="717850">
                  <a:extLst>
                    <a:ext uri="{9D8B030D-6E8A-4147-A177-3AD203B41FA5}">
                      <a16:colId xmlns:a16="http://schemas.microsoft.com/office/drawing/2014/main" val="1921172806"/>
                    </a:ext>
                  </a:extLst>
                </a:gridCol>
                <a:gridCol w="839910">
                  <a:extLst>
                    <a:ext uri="{9D8B030D-6E8A-4147-A177-3AD203B41FA5}">
                      <a16:colId xmlns:a16="http://schemas.microsoft.com/office/drawing/2014/main" val="799877525"/>
                    </a:ext>
                  </a:extLst>
                </a:gridCol>
                <a:gridCol w="1059017">
                  <a:extLst>
                    <a:ext uri="{9D8B030D-6E8A-4147-A177-3AD203B41FA5}">
                      <a16:colId xmlns:a16="http://schemas.microsoft.com/office/drawing/2014/main" val="936183447"/>
                    </a:ext>
                  </a:extLst>
                </a:gridCol>
                <a:gridCol w="723054">
                  <a:extLst>
                    <a:ext uri="{9D8B030D-6E8A-4147-A177-3AD203B41FA5}">
                      <a16:colId xmlns:a16="http://schemas.microsoft.com/office/drawing/2014/main" val="1757244627"/>
                    </a:ext>
                  </a:extLst>
                </a:gridCol>
                <a:gridCol w="737662">
                  <a:extLst>
                    <a:ext uri="{9D8B030D-6E8A-4147-A177-3AD203B41FA5}">
                      <a16:colId xmlns:a16="http://schemas.microsoft.com/office/drawing/2014/main" val="3152180614"/>
                    </a:ext>
                  </a:extLst>
                </a:gridCol>
                <a:gridCol w="839910">
                  <a:extLst>
                    <a:ext uri="{9D8B030D-6E8A-4147-A177-3AD203B41FA5}">
                      <a16:colId xmlns:a16="http://schemas.microsoft.com/office/drawing/2014/main" val="2487654462"/>
                    </a:ext>
                  </a:extLst>
                </a:gridCol>
                <a:gridCol w="839910">
                  <a:extLst>
                    <a:ext uri="{9D8B030D-6E8A-4147-A177-3AD203B41FA5}">
                      <a16:colId xmlns:a16="http://schemas.microsoft.com/office/drawing/2014/main" val="462313814"/>
                    </a:ext>
                  </a:extLst>
                </a:gridCol>
                <a:gridCol w="939431">
                  <a:extLst>
                    <a:ext uri="{9D8B030D-6E8A-4147-A177-3AD203B41FA5}">
                      <a16:colId xmlns:a16="http://schemas.microsoft.com/office/drawing/2014/main" val="1756135551"/>
                    </a:ext>
                  </a:extLst>
                </a:gridCol>
                <a:gridCol w="740389">
                  <a:extLst>
                    <a:ext uri="{9D8B030D-6E8A-4147-A177-3AD203B41FA5}">
                      <a16:colId xmlns:a16="http://schemas.microsoft.com/office/drawing/2014/main" val="332626903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tc>
                  <a:txBody>
                    <a:bodyPr/>
                    <a:lstStyle/>
                    <a:p>
                      <a:pPr algn="ctr"/>
                      <a:r>
                        <a:rPr lang="en-US" altLang="zh-CN" dirty="0"/>
                        <a:t>10</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latin typeface="+mn-lt"/>
                          <a:ea typeface="+mn-ea"/>
                          <a:cs typeface="+mn-cs"/>
                        </a:rPr>
                        <a:t>SPJ(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SNO,</a:t>
                      </a:r>
                      <a:endParaRPr lang="zh-CN" altLang="en-US" dirty="0"/>
                    </a:p>
                  </a:txBody>
                  <a:tcPr/>
                </a:tc>
                <a:tc>
                  <a:txBody>
                    <a:bodyPr/>
                    <a:lstStyle/>
                    <a:p>
                      <a:pPr algn="ctr"/>
                      <a:r>
                        <a:rPr lang="en-US" altLang="zh-CN" sz="1800" b="1" u="sng" dirty="0">
                          <a:solidFill>
                            <a:schemeClr val="bg2"/>
                          </a:solidFill>
                        </a:rPr>
                        <a:t>PNO,</a:t>
                      </a:r>
                      <a:endParaRPr lang="zh-CN" altLang="en-US" dirty="0"/>
                    </a:p>
                  </a:txBody>
                  <a:tcPr/>
                </a:tc>
                <a:tc>
                  <a:txBody>
                    <a:bodyPr/>
                    <a:lstStyle/>
                    <a:p>
                      <a:pPr algn="ctr"/>
                      <a:r>
                        <a:rPr lang="en-US" altLang="zh-CN" sz="1800" b="1" u="sng" dirty="0">
                          <a:solidFill>
                            <a:schemeClr val="bg2"/>
                          </a:solidFill>
                          <a:highlight>
                            <a:srgbClr val="FFFF00"/>
                          </a:highlight>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PRICE,</a:t>
                      </a:r>
                      <a:endParaRPr lang="zh-CN" altLang="en-US" dirty="0"/>
                    </a:p>
                  </a:txBody>
                  <a:tcPr/>
                </a:tc>
                <a:tc>
                  <a:txBody>
                    <a:bodyPr/>
                    <a:lstStyle/>
                    <a:p>
                      <a:pPr algn="ctr"/>
                      <a:r>
                        <a:rPr lang="en-US" altLang="zh-CN" sz="1800" b="1" dirty="0">
                          <a:solidFill>
                            <a:schemeClr val="bg2"/>
                          </a:solidFill>
                        </a:rPr>
                        <a:t>QTY</a:t>
                      </a:r>
                      <a:r>
                        <a:rPr lang="zh-CN" altLang="en-US" sz="1800" b="1" dirty="0">
                          <a:solidFill>
                            <a:schemeClr val="bg2"/>
                          </a:solidFill>
                        </a:rPr>
                        <a:t>，</a:t>
                      </a:r>
                      <a:endParaRPr lang="zh-CN" altLang="en-US" dirty="0"/>
                    </a:p>
                  </a:txBody>
                  <a:tcPr/>
                </a:tc>
                <a:tc>
                  <a:txBody>
                    <a:bodyPr/>
                    <a:lstStyle/>
                    <a:p>
                      <a:pPr algn="ctr"/>
                      <a:r>
                        <a:rPr lang="en-US" altLang="zh-CN" sz="1800" b="1" u="sng" dirty="0">
                          <a:solidFill>
                            <a:schemeClr val="bg2"/>
                          </a:solidFill>
                        </a:rPr>
                        <a:t>SNO,</a:t>
                      </a:r>
                      <a:endParaRPr lang="zh-CN" altLang="en-US" dirty="0"/>
                    </a:p>
                  </a:txBody>
                  <a:tcPr/>
                </a:tc>
                <a:tc>
                  <a:txBody>
                    <a:bodyPr/>
                    <a:lstStyle/>
                    <a:p>
                      <a:pPr algn="ctr"/>
                      <a:r>
                        <a:rPr lang="en-US" altLang="zh-CN" sz="1800" b="1" u="sng" dirty="0">
                          <a:solidFill>
                            <a:schemeClr val="bg2"/>
                          </a:solidFill>
                        </a:rPr>
                        <a:t>PNO,</a:t>
                      </a:r>
                      <a:endParaRPr lang="zh-CN" altLang="en-US" dirty="0"/>
                    </a:p>
                  </a:txBody>
                  <a:tcPr/>
                </a:tc>
                <a:tc>
                  <a:txBody>
                    <a:bodyPr/>
                    <a:lstStyle/>
                    <a:p>
                      <a:pPr algn="ctr"/>
                      <a:r>
                        <a:rPr lang="en-US" altLang="zh-CN" sz="1800" b="1" u="sng" dirty="0">
                          <a:solidFill>
                            <a:schemeClr val="bg2"/>
                          </a:solidFill>
                          <a:highlight>
                            <a:srgbClr val="FFFF00"/>
                          </a:highlight>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PRICE,</a:t>
                      </a:r>
                      <a:endParaRPr lang="zh-CN" altLang="en-US" dirty="0"/>
                    </a:p>
                  </a:txBody>
                  <a:tcPr/>
                </a:tc>
                <a:tc>
                  <a:txBody>
                    <a:bodyPr/>
                    <a:lstStyle/>
                    <a:p>
                      <a:pPr algn="ctr"/>
                      <a:r>
                        <a:rPr lang="en-US" altLang="zh-CN" sz="1800" b="1" dirty="0">
                          <a:solidFill>
                            <a:schemeClr val="bg2"/>
                          </a:solidFill>
                        </a:rPr>
                        <a:t>QTY)</a:t>
                      </a:r>
                      <a:endParaRPr lang="zh-CN" altLang="en-US" dirty="0"/>
                    </a:p>
                  </a:txBody>
                  <a:tcPr/>
                </a:tc>
                <a:extLst>
                  <a:ext uri="{0D108BD9-81ED-4DB2-BD59-A6C34878D82A}">
                    <a16:rowId xmlns:a16="http://schemas.microsoft.com/office/drawing/2014/main" val="553996634"/>
                  </a:ext>
                </a:extLst>
              </a:tr>
            </a:tbl>
          </a:graphicData>
        </a:graphic>
      </p:graphicFrame>
      <p:graphicFrame>
        <p:nvGraphicFramePr>
          <p:cNvPr id="17" name="表格 3">
            <a:extLst>
              <a:ext uri="{FF2B5EF4-FFF2-40B4-BE49-F238E27FC236}">
                <a16:creationId xmlns:a16="http://schemas.microsoft.com/office/drawing/2014/main" id="{37EED943-DAC8-774F-A071-4AE24052DB1E}"/>
              </a:ext>
            </a:extLst>
          </p:cNvPr>
          <p:cNvGraphicFramePr>
            <a:graphicFrameLocks noGrp="1"/>
          </p:cNvGraphicFramePr>
          <p:nvPr>
            <p:extLst>
              <p:ext uri="{D42A27DB-BD31-4B8C-83A1-F6EECF244321}">
                <p14:modId xmlns:p14="http://schemas.microsoft.com/office/powerpoint/2010/main" val="3376474396"/>
              </p:ext>
            </p:extLst>
          </p:nvPr>
        </p:nvGraphicFramePr>
        <p:xfrm>
          <a:off x="250825" y="5207600"/>
          <a:ext cx="8725728" cy="741680"/>
        </p:xfrm>
        <a:graphic>
          <a:graphicData uri="http://schemas.openxmlformats.org/drawingml/2006/table">
            <a:tbl>
              <a:tblPr firstRow="1" bandRow="1">
                <a:tableStyleId>{5C22544A-7EE6-4342-B048-85BDC9FD1C3A}</a:tableStyleId>
              </a:tblPr>
              <a:tblGrid>
                <a:gridCol w="683568">
                  <a:extLst>
                    <a:ext uri="{9D8B030D-6E8A-4147-A177-3AD203B41FA5}">
                      <a16:colId xmlns:a16="http://schemas.microsoft.com/office/drawing/2014/main" val="2512462284"/>
                    </a:ext>
                  </a:extLst>
                </a:gridCol>
                <a:gridCol w="720080">
                  <a:extLst>
                    <a:ext uri="{9D8B030D-6E8A-4147-A177-3AD203B41FA5}">
                      <a16:colId xmlns:a16="http://schemas.microsoft.com/office/drawing/2014/main" val="1272611051"/>
                    </a:ext>
                  </a:extLst>
                </a:gridCol>
                <a:gridCol w="717850">
                  <a:extLst>
                    <a:ext uri="{9D8B030D-6E8A-4147-A177-3AD203B41FA5}">
                      <a16:colId xmlns:a16="http://schemas.microsoft.com/office/drawing/2014/main" val="1921172806"/>
                    </a:ext>
                  </a:extLst>
                </a:gridCol>
                <a:gridCol w="839910">
                  <a:extLst>
                    <a:ext uri="{9D8B030D-6E8A-4147-A177-3AD203B41FA5}">
                      <a16:colId xmlns:a16="http://schemas.microsoft.com/office/drawing/2014/main" val="799877525"/>
                    </a:ext>
                  </a:extLst>
                </a:gridCol>
                <a:gridCol w="1059017">
                  <a:extLst>
                    <a:ext uri="{9D8B030D-6E8A-4147-A177-3AD203B41FA5}">
                      <a16:colId xmlns:a16="http://schemas.microsoft.com/office/drawing/2014/main" val="936183447"/>
                    </a:ext>
                  </a:extLst>
                </a:gridCol>
                <a:gridCol w="723054">
                  <a:extLst>
                    <a:ext uri="{9D8B030D-6E8A-4147-A177-3AD203B41FA5}">
                      <a16:colId xmlns:a16="http://schemas.microsoft.com/office/drawing/2014/main" val="1757244627"/>
                    </a:ext>
                  </a:extLst>
                </a:gridCol>
                <a:gridCol w="737662">
                  <a:extLst>
                    <a:ext uri="{9D8B030D-6E8A-4147-A177-3AD203B41FA5}">
                      <a16:colId xmlns:a16="http://schemas.microsoft.com/office/drawing/2014/main" val="3152180614"/>
                    </a:ext>
                  </a:extLst>
                </a:gridCol>
                <a:gridCol w="998116">
                  <a:extLst>
                    <a:ext uri="{9D8B030D-6E8A-4147-A177-3AD203B41FA5}">
                      <a16:colId xmlns:a16="http://schemas.microsoft.com/office/drawing/2014/main" val="2487654462"/>
                    </a:ext>
                  </a:extLst>
                </a:gridCol>
                <a:gridCol w="864096">
                  <a:extLst>
                    <a:ext uri="{9D8B030D-6E8A-4147-A177-3AD203B41FA5}">
                      <a16:colId xmlns:a16="http://schemas.microsoft.com/office/drawing/2014/main" val="462313814"/>
                    </a:ext>
                  </a:extLst>
                </a:gridCol>
                <a:gridCol w="1382375">
                  <a:extLst>
                    <a:ext uri="{9D8B030D-6E8A-4147-A177-3AD203B41FA5}">
                      <a16:colId xmlns:a16="http://schemas.microsoft.com/office/drawing/2014/main" val="332626903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10</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latin typeface="+mn-lt"/>
                          <a:ea typeface="+mn-ea"/>
                          <a:cs typeface="+mn-cs"/>
                        </a:rPr>
                        <a:t>SPJ(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SNO,</a:t>
                      </a:r>
                      <a:endParaRPr lang="zh-CN" altLang="en-US" dirty="0"/>
                    </a:p>
                  </a:txBody>
                  <a:tcPr/>
                </a:tc>
                <a:tc>
                  <a:txBody>
                    <a:bodyPr/>
                    <a:lstStyle/>
                    <a:p>
                      <a:pPr algn="ctr"/>
                      <a:r>
                        <a:rPr lang="en-US" altLang="zh-CN" sz="1800" b="1" u="sng" dirty="0">
                          <a:solidFill>
                            <a:schemeClr val="bg2"/>
                          </a:solidFill>
                        </a:rPr>
                        <a:t>PNO,</a:t>
                      </a:r>
                      <a:endParaRPr lang="zh-CN" altLang="en-US" dirty="0"/>
                    </a:p>
                  </a:txBody>
                  <a:tcPr/>
                </a:tc>
                <a:tc>
                  <a:txBody>
                    <a:bodyPr/>
                    <a:lstStyle/>
                    <a:p>
                      <a:pPr algn="ctr"/>
                      <a:r>
                        <a:rPr lang="en-US" altLang="zh-CN" sz="1800" b="1" u="sng" dirty="0">
                          <a:solidFill>
                            <a:schemeClr val="bg2"/>
                          </a:solidFill>
                          <a:highlight>
                            <a:srgbClr val="FFFF00"/>
                          </a:highlight>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PRICE,</a:t>
                      </a:r>
                      <a:endParaRPr lang="zh-CN" altLang="en-US" dirty="0"/>
                    </a:p>
                  </a:txBody>
                  <a:tcPr/>
                </a:tc>
                <a:tc>
                  <a:txBody>
                    <a:bodyPr/>
                    <a:lstStyle/>
                    <a:p>
                      <a:pPr algn="ctr"/>
                      <a:r>
                        <a:rPr lang="en-US" altLang="zh-CN" sz="1800" b="1" dirty="0">
                          <a:solidFill>
                            <a:schemeClr val="bg2"/>
                          </a:solidFill>
                        </a:rPr>
                        <a:t>QTY</a:t>
                      </a:r>
                      <a:r>
                        <a:rPr lang="zh-CN" altLang="en-US" sz="1800" b="1" dirty="0">
                          <a:solidFill>
                            <a:schemeClr val="bg2"/>
                          </a:solidFill>
                        </a:rPr>
                        <a:t>，</a:t>
                      </a:r>
                      <a:endParaRPr lang="zh-CN" altLang="en-US" dirty="0"/>
                    </a:p>
                  </a:txBody>
                  <a:tcPr/>
                </a:tc>
                <a:tc>
                  <a:txBody>
                    <a:bodyPr/>
                    <a:lstStyle/>
                    <a:p>
                      <a:pPr algn="ctr"/>
                      <a:r>
                        <a:rPr lang="en-US" altLang="zh-CN" sz="1800" b="1" u="sng" dirty="0">
                          <a:solidFill>
                            <a:schemeClr val="bg2"/>
                          </a:solidFill>
                          <a:highlight>
                            <a:srgbClr val="FFFF00"/>
                          </a:highlight>
                        </a:rPr>
                        <a:t>JNO</a:t>
                      </a:r>
                      <a:r>
                        <a:rPr lang="en-US" altLang="zh-CN" sz="1800" b="1" dirty="0">
                          <a:solidFill>
                            <a:schemeClr val="bg2"/>
                          </a:solidFill>
                          <a:highlight>
                            <a:srgbClr val="FFFF00"/>
                          </a:highlight>
                        </a:rPr>
                        <a:t>,</a:t>
                      </a:r>
                      <a:endParaRPr lang="zh-CN" altLang="en-US" dirty="0">
                        <a:highlight>
                          <a:srgbClr val="FFFF00"/>
                        </a:highlight>
                      </a:endParaRPr>
                    </a:p>
                  </a:txBody>
                  <a:tcPr/>
                </a:tc>
                <a:tc>
                  <a:txBody>
                    <a:bodyPr/>
                    <a:lstStyle/>
                    <a:p>
                      <a:pPr algn="ctr"/>
                      <a:r>
                        <a:rPr lang="en-US" altLang="zh-CN" sz="1800" b="1" dirty="0">
                          <a:solidFill>
                            <a:schemeClr val="bg2"/>
                          </a:solidFill>
                        </a:rPr>
                        <a:t>JNAME,</a:t>
                      </a:r>
                      <a:endParaRPr lang="zh-CN" altLang="en-US" dirty="0"/>
                    </a:p>
                  </a:txBody>
                  <a:tcPr/>
                </a:tc>
                <a:tc>
                  <a:txBody>
                    <a:bodyPr/>
                    <a:lstStyle/>
                    <a:p>
                      <a:pPr algn="ctr"/>
                      <a:r>
                        <a:rPr lang="en-US" altLang="zh-CN" sz="1800" b="1" dirty="0">
                          <a:solidFill>
                            <a:schemeClr val="bg2"/>
                          </a:solidFill>
                        </a:rPr>
                        <a:t>JCITY,</a:t>
                      </a:r>
                      <a:endParaRPr lang="zh-CN" altLang="en-US" dirty="0"/>
                    </a:p>
                  </a:txBody>
                  <a:tcPr/>
                </a:tc>
                <a:tc>
                  <a:txBody>
                    <a:bodyPr/>
                    <a:lstStyle/>
                    <a:p>
                      <a:pPr algn="ctr"/>
                      <a:r>
                        <a:rPr lang="en-US" altLang="zh-CN" sz="1800" b="1" dirty="0">
                          <a:solidFill>
                            <a:schemeClr val="bg2"/>
                          </a:solidFill>
                        </a:rPr>
                        <a:t>BALANCE)</a:t>
                      </a:r>
                      <a:endParaRPr lang="zh-CN" altLang="en-US" dirty="0"/>
                    </a:p>
                  </a:txBody>
                  <a:tcPr/>
                </a:tc>
                <a:extLst>
                  <a:ext uri="{0D108BD9-81ED-4DB2-BD59-A6C34878D82A}">
                    <a16:rowId xmlns:a16="http://schemas.microsoft.com/office/drawing/2014/main" val="55399663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4283"/>
                                        </p:tgtEl>
                                        <p:attrNameLst>
                                          <p:attrName>style.visibility</p:attrName>
                                        </p:attrNameLst>
                                      </p:cBhvr>
                                      <p:to>
                                        <p:strVal val="visible"/>
                                      </p:to>
                                    </p:set>
                                    <p:animEffect transition="in" filter="blinds(horizontal)">
                                      <p:cBhvr>
                                        <p:cTn id="7" dur="500"/>
                                        <p:tgtEl>
                                          <p:spTgt spid="6942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94276"/>
                                        </p:tgtEl>
                                        <p:attrNameLst>
                                          <p:attrName>style.visibility</p:attrName>
                                        </p:attrNameLst>
                                      </p:cBhvr>
                                      <p:to>
                                        <p:strVal val="visible"/>
                                      </p:to>
                                    </p:set>
                                    <p:animEffect transition="in" filter="blinds(horizontal)">
                                      <p:cBhvr>
                                        <p:cTn id="12" dur="500"/>
                                        <p:tgtEl>
                                          <p:spTgt spid="69427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94288"/>
                                        </p:tgtEl>
                                        <p:attrNameLst>
                                          <p:attrName>style.visibility</p:attrName>
                                        </p:attrNameLst>
                                      </p:cBhvr>
                                      <p:to>
                                        <p:strVal val="visible"/>
                                      </p:to>
                                    </p:set>
                                    <p:animEffect transition="in" filter="blinds(horizontal)">
                                      <p:cBhvr>
                                        <p:cTn id="17" dur="500"/>
                                        <p:tgtEl>
                                          <p:spTgt spid="694288"/>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 presetClass="entr" presetSubtype="0"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3" presetClass="entr" presetSubtype="10" fill="hold" grpId="0" nodeType="clickEffect">
                                  <p:stCondLst>
                                    <p:cond delay="0"/>
                                  </p:stCondLst>
                                  <p:childTnLst>
                                    <p:set>
                                      <p:cBhvr>
                                        <p:cTn id="25" dur="1" fill="hold">
                                          <p:stCondLst>
                                            <p:cond delay="0"/>
                                          </p:stCondLst>
                                        </p:cTn>
                                        <p:tgtEl>
                                          <p:spTgt spid="694284"/>
                                        </p:tgtEl>
                                        <p:attrNameLst>
                                          <p:attrName>style.visibility</p:attrName>
                                        </p:attrNameLst>
                                      </p:cBhvr>
                                      <p:to>
                                        <p:strVal val="visible"/>
                                      </p:to>
                                    </p:set>
                                    <p:animEffect transition="in" filter="blinds(horizontal)">
                                      <p:cBhvr>
                                        <p:cTn id="26" dur="500"/>
                                        <p:tgtEl>
                                          <p:spTgt spid="694284"/>
                                        </p:tgtEl>
                                      </p:cBhvr>
                                    </p:animEffect>
                                  </p:childTnLst>
                                </p:cTn>
                              </p:par>
                            </p:childTnLst>
                          </p:cTn>
                        </p:par>
                      </p:childTnLst>
                    </p:cTn>
                  </p:par>
                  <p:par>
                    <p:cTn id="27" fill="hold">
                      <p:stCondLst>
                        <p:cond delay="indefinite"/>
                      </p:stCondLst>
                      <p:childTnLst>
                        <p:par>
                          <p:cTn id="28" fill="hold">
                            <p:stCondLst>
                              <p:cond delay="0"/>
                            </p:stCondLst>
                            <p:childTnLst>
                              <p:par>
                                <p:cTn id="29" presetID="3" presetClass="entr" presetSubtype="10" fill="hold" grpId="0" nodeType="clickEffect">
                                  <p:stCondLst>
                                    <p:cond delay="0"/>
                                  </p:stCondLst>
                                  <p:childTnLst>
                                    <p:set>
                                      <p:cBhvr>
                                        <p:cTn id="30" dur="1" fill="hold">
                                          <p:stCondLst>
                                            <p:cond delay="0"/>
                                          </p:stCondLst>
                                        </p:cTn>
                                        <p:tgtEl>
                                          <p:spTgt spid="694287"/>
                                        </p:tgtEl>
                                        <p:attrNameLst>
                                          <p:attrName>style.visibility</p:attrName>
                                        </p:attrNameLst>
                                      </p:cBhvr>
                                      <p:to>
                                        <p:strVal val="visible"/>
                                      </p:to>
                                    </p:set>
                                    <p:animEffect transition="in" filter="blinds(horizontal)">
                                      <p:cBhvr>
                                        <p:cTn id="31" dur="500"/>
                                        <p:tgtEl>
                                          <p:spTgt spid="694287"/>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grpId="0" nodeType="clickEffect">
                                  <p:stCondLst>
                                    <p:cond delay="0"/>
                                  </p:stCondLst>
                                  <p:childTnLst>
                                    <p:set>
                                      <p:cBhvr>
                                        <p:cTn id="35" dur="1" fill="hold">
                                          <p:stCondLst>
                                            <p:cond delay="0"/>
                                          </p:stCondLst>
                                        </p:cTn>
                                        <p:tgtEl>
                                          <p:spTgt spid="694278"/>
                                        </p:tgtEl>
                                        <p:attrNameLst>
                                          <p:attrName>style.visibility</p:attrName>
                                        </p:attrNameLst>
                                      </p:cBhvr>
                                      <p:to>
                                        <p:strVal val="visible"/>
                                      </p:to>
                                    </p:set>
                                    <p:animEffect transition="in" filter="blinds(horizontal)">
                                      <p:cBhvr>
                                        <p:cTn id="36" dur="500"/>
                                        <p:tgtEl>
                                          <p:spTgt spid="694278"/>
                                        </p:tgtEl>
                                      </p:cBhvr>
                                    </p:animEffec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1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4276" grpId="0"/>
      <p:bldP spid="694278" grpId="0"/>
      <p:bldP spid="694283" grpId="0" animBg="1"/>
      <p:bldP spid="694284" grpId="0" animBg="1"/>
      <p:bldP spid="694287" grpId="0" animBg="1"/>
      <p:bldP spid="694288" grpId="0" animBg="1"/>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7">
            <a:extLst>
              <a:ext uri="{FF2B5EF4-FFF2-40B4-BE49-F238E27FC236}">
                <a16:creationId xmlns:a16="http://schemas.microsoft.com/office/drawing/2014/main" id="{0D78F073-988C-5440-88B6-B349448C3B4C}"/>
              </a:ext>
            </a:extLst>
          </p:cNvPr>
          <p:cNvSpPr>
            <a:spLocks noChangeArrowheads="1"/>
          </p:cNvSpPr>
          <p:nvPr/>
        </p:nvSpPr>
        <p:spPr bwMode="auto">
          <a:xfrm>
            <a:off x="107504" y="348595"/>
            <a:ext cx="7993063"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00000"/>
              </a:lnSpc>
              <a:spcBef>
                <a:spcPct val="0"/>
              </a:spcBef>
            </a:pPr>
            <a:r>
              <a:rPr lang="en-US" altLang="zh-CN" sz="2400" b="1" dirty="0">
                <a:solidFill>
                  <a:schemeClr val="bg2"/>
                </a:solidFill>
              </a:rPr>
              <a:t>8. </a:t>
            </a:r>
            <a:r>
              <a:rPr lang="zh-CN" altLang="en-US" sz="2400" b="1" dirty="0">
                <a:solidFill>
                  <a:schemeClr val="bg2"/>
                </a:solidFill>
              </a:rPr>
              <a:t>检索使用了全部零件的工程名称</a:t>
            </a:r>
            <a:r>
              <a:rPr lang="en-US" altLang="zh-CN" sz="2400" b="1" dirty="0">
                <a:solidFill>
                  <a:schemeClr val="bg2"/>
                </a:solidFill>
              </a:rPr>
              <a:t>JNAME:</a:t>
            </a:r>
            <a:endParaRPr lang="zh-CN" altLang="en-US" sz="2400" b="1" dirty="0">
              <a:solidFill>
                <a:schemeClr val="bg2"/>
              </a:solidFill>
            </a:endParaRPr>
          </a:p>
        </p:txBody>
      </p:sp>
      <p:sp>
        <p:nvSpPr>
          <p:cNvPr id="5" name="Rectangle 8">
            <a:extLst>
              <a:ext uri="{FF2B5EF4-FFF2-40B4-BE49-F238E27FC236}">
                <a16:creationId xmlns:a16="http://schemas.microsoft.com/office/drawing/2014/main" id="{FF9CF242-0DDE-984D-A009-58AB8BA8BC0E}"/>
              </a:ext>
            </a:extLst>
          </p:cNvPr>
          <p:cNvSpPr>
            <a:spLocks noChangeArrowheads="1"/>
          </p:cNvSpPr>
          <p:nvPr/>
        </p:nvSpPr>
        <p:spPr bwMode="auto">
          <a:xfrm>
            <a:off x="1700683" y="631275"/>
            <a:ext cx="8893175" cy="579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00000"/>
              </a:lnSpc>
              <a:spcBef>
                <a:spcPct val="0"/>
              </a:spcBef>
            </a:pPr>
            <a:r>
              <a:rPr lang="en-US" altLang="zh-CN" sz="3200" b="1" dirty="0">
                <a:solidFill>
                  <a:srgbClr val="660033"/>
                </a:solidFill>
              </a:rPr>
              <a:t> </a:t>
            </a:r>
            <a:r>
              <a:rPr lang="en-US" altLang="zh-CN" sz="2400" b="1" dirty="0">
                <a:solidFill>
                  <a:srgbClr val="660033"/>
                </a:solidFill>
              </a:rPr>
              <a:t>π</a:t>
            </a:r>
            <a:r>
              <a:rPr lang="en-US" altLang="zh-CN" sz="2400" b="1" baseline="-25000" dirty="0">
                <a:solidFill>
                  <a:srgbClr val="660033"/>
                </a:solidFill>
              </a:rPr>
              <a:t>JNAME</a:t>
            </a:r>
            <a:r>
              <a:rPr lang="en-US" altLang="zh-CN" sz="2400" b="1" dirty="0">
                <a:solidFill>
                  <a:srgbClr val="660033"/>
                </a:solidFill>
              </a:rPr>
              <a:t>(J⋈(π</a:t>
            </a:r>
            <a:r>
              <a:rPr lang="en-US" altLang="zh-CN" sz="2400" b="1" baseline="-25000" dirty="0">
                <a:solidFill>
                  <a:srgbClr val="660033"/>
                </a:solidFill>
              </a:rPr>
              <a:t>JNO,PNO</a:t>
            </a:r>
            <a:r>
              <a:rPr lang="en-US" altLang="zh-CN" sz="2400" b="1" dirty="0">
                <a:solidFill>
                  <a:srgbClr val="660033"/>
                </a:solidFill>
              </a:rPr>
              <a:t>(SPJ)÷π</a:t>
            </a:r>
            <a:r>
              <a:rPr lang="en-US" altLang="zh-CN" sz="2400" b="1" baseline="-25000" dirty="0">
                <a:solidFill>
                  <a:srgbClr val="660033"/>
                </a:solidFill>
              </a:rPr>
              <a:t>PNO</a:t>
            </a:r>
            <a:r>
              <a:rPr lang="en-US" altLang="zh-CN" sz="2400" b="1" dirty="0">
                <a:solidFill>
                  <a:srgbClr val="660033"/>
                </a:solidFill>
              </a:rPr>
              <a:t>(P)) </a:t>
            </a:r>
            <a:endParaRPr lang="en-US" altLang="zh-CN" sz="3200" b="1" dirty="0">
              <a:solidFill>
                <a:srgbClr val="660033"/>
              </a:solidFill>
            </a:endParaRPr>
          </a:p>
        </p:txBody>
      </p:sp>
      <p:sp>
        <p:nvSpPr>
          <p:cNvPr id="7" name="文本框 6">
            <a:extLst>
              <a:ext uri="{FF2B5EF4-FFF2-40B4-BE49-F238E27FC236}">
                <a16:creationId xmlns:a16="http://schemas.microsoft.com/office/drawing/2014/main" id="{2B6CDBB3-7286-B146-B1E0-FD7FB9423C6D}"/>
              </a:ext>
            </a:extLst>
          </p:cNvPr>
          <p:cNvSpPr txBox="1"/>
          <p:nvPr/>
        </p:nvSpPr>
        <p:spPr>
          <a:xfrm>
            <a:off x="611560" y="1268760"/>
            <a:ext cx="4743450" cy="338554"/>
          </a:xfrm>
          <a:prstGeom prst="rect">
            <a:avLst/>
          </a:prstGeom>
          <a:noFill/>
        </p:spPr>
        <p:txBody>
          <a:bodyPr wrap="square">
            <a:spAutoFit/>
          </a:bodyPr>
          <a:lstStyle/>
          <a:p>
            <a:pPr marL="342900" indent="-342900">
              <a:buFont typeface="+mj-ea"/>
              <a:buAutoNum type="circleNumDbPlain"/>
            </a:pPr>
            <a:r>
              <a:rPr lang="zh-CN" altLang="en-US" sz="2000" b="1" dirty="0">
                <a:solidFill>
                  <a:schemeClr val="bg2"/>
                </a:solidFill>
              </a:rPr>
              <a:t>工程使用零件情况</a:t>
            </a:r>
            <a:r>
              <a:rPr lang="en-US" altLang="zh-CN" sz="2000" b="1" dirty="0">
                <a:solidFill>
                  <a:srgbClr val="660033"/>
                </a:solidFill>
              </a:rPr>
              <a:t>π</a:t>
            </a:r>
            <a:r>
              <a:rPr lang="en-US" altLang="zh-CN" sz="2000" b="1" baseline="-25000" dirty="0">
                <a:solidFill>
                  <a:srgbClr val="660033"/>
                </a:solidFill>
              </a:rPr>
              <a:t>JNO,PNO</a:t>
            </a:r>
            <a:r>
              <a:rPr lang="en-US" altLang="zh-CN" sz="2000" b="1" dirty="0">
                <a:solidFill>
                  <a:srgbClr val="660033"/>
                </a:solidFill>
              </a:rPr>
              <a:t>(SPJ)</a:t>
            </a:r>
            <a:endParaRPr lang="zh-CN" altLang="en-US" sz="2000" dirty="0"/>
          </a:p>
        </p:txBody>
      </p:sp>
      <p:graphicFrame>
        <p:nvGraphicFramePr>
          <p:cNvPr id="8" name="表格 7">
            <a:extLst>
              <a:ext uri="{FF2B5EF4-FFF2-40B4-BE49-F238E27FC236}">
                <a16:creationId xmlns:a16="http://schemas.microsoft.com/office/drawing/2014/main" id="{1FF16B52-E3AF-184E-AE17-DD191479C670}"/>
              </a:ext>
            </a:extLst>
          </p:cNvPr>
          <p:cNvGraphicFramePr>
            <a:graphicFrameLocks noGrp="1"/>
          </p:cNvGraphicFramePr>
          <p:nvPr>
            <p:extLst>
              <p:ext uri="{D42A27DB-BD31-4B8C-83A1-F6EECF244321}">
                <p14:modId xmlns:p14="http://schemas.microsoft.com/office/powerpoint/2010/main" val="3087417106"/>
              </p:ext>
            </p:extLst>
          </p:nvPr>
        </p:nvGraphicFramePr>
        <p:xfrm>
          <a:off x="624990" y="1679208"/>
          <a:ext cx="4743479" cy="741680"/>
        </p:xfrm>
        <a:graphic>
          <a:graphicData uri="http://schemas.openxmlformats.org/drawingml/2006/table">
            <a:tbl>
              <a:tblPr firstRow="1" bandRow="1">
                <a:tableStyleId>{5C22544A-7EE6-4342-B048-85BDC9FD1C3A}</a:tableStyleId>
              </a:tblPr>
              <a:tblGrid>
                <a:gridCol w="683568">
                  <a:extLst>
                    <a:ext uri="{9D8B030D-6E8A-4147-A177-3AD203B41FA5}">
                      <a16:colId xmlns:a16="http://schemas.microsoft.com/office/drawing/2014/main" val="3624112539"/>
                    </a:ext>
                  </a:extLst>
                </a:gridCol>
                <a:gridCol w="720080">
                  <a:extLst>
                    <a:ext uri="{9D8B030D-6E8A-4147-A177-3AD203B41FA5}">
                      <a16:colId xmlns:a16="http://schemas.microsoft.com/office/drawing/2014/main" val="851219932"/>
                    </a:ext>
                  </a:extLst>
                </a:gridCol>
                <a:gridCol w="717850">
                  <a:extLst>
                    <a:ext uri="{9D8B030D-6E8A-4147-A177-3AD203B41FA5}">
                      <a16:colId xmlns:a16="http://schemas.microsoft.com/office/drawing/2014/main" val="1016015763"/>
                    </a:ext>
                  </a:extLst>
                </a:gridCol>
                <a:gridCol w="839910">
                  <a:extLst>
                    <a:ext uri="{9D8B030D-6E8A-4147-A177-3AD203B41FA5}">
                      <a16:colId xmlns:a16="http://schemas.microsoft.com/office/drawing/2014/main" val="2649775867"/>
                    </a:ext>
                  </a:extLst>
                </a:gridCol>
                <a:gridCol w="1059017">
                  <a:extLst>
                    <a:ext uri="{9D8B030D-6E8A-4147-A177-3AD203B41FA5}">
                      <a16:colId xmlns:a16="http://schemas.microsoft.com/office/drawing/2014/main" val="3781189654"/>
                    </a:ext>
                  </a:extLst>
                </a:gridCol>
                <a:gridCol w="723054">
                  <a:extLst>
                    <a:ext uri="{9D8B030D-6E8A-4147-A177-3AD203B41FA5}">
                      <a16:colId xmlns:a16="http://schemas.microsoft.com/office/drawing/2014/main" val="241062383"/>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a:t>4</a:t>
                      </a:r>
                      <a:endParaRPr lang="zh-CN" altLang="en-US" dirty="0"/>
                    </a:p>
                  </a:txBody>
                  <a:tcPr/>
                </a:tc>
                <a:tc>
                  <a:txBody>
                    <a:bodyPr/>
                    <a:lstStyle/>
                    <a:p>
                      <a:pPr algn="ctr"/>
                      <a:r>
                        <a:rPr lang="en-US" altLang="zh-CN" dirty="0"/>
                        <a:t>5</a:t>
                      </a:r>
                      <a:endParaRPr lang="zh-CN" altLang="en-US" dirty="0"/>
                    </a:p>
                  </a:txBody>
                  <a:tcPr/>
                </a:tc>
                <a:extLst>
                  <a:ext uri="{0D108BD9-81ED-4DB2-BD59-A6C34878D82A}">
                    <a16:rowId xmlns:a16="http://schemas.microsoft.com/office/drawing/2014/main" val="1274320833"/>
                  </a:ext>
                </a:extLst>
              </a:tr>
              <a:tr h="370840">
                <a:tc>
                  <a:txBody>
                    <a:bodyPr/>
                    <a:lstStyle/>
                    <a:p>
                      <a:pPr algn="ctr"/>
                      <a:r>
                        <a:rPr lang="en-US" altLang="zh-CN" sz="1800" b="1" u="none" kern="1200" dirty="0">
                          <a:solidFill>
                            <a:schemeClr val="bg2"/>
                          </a:solidFill>
                          <a:latin typeface="+mn-lt"/>
                          <a:ea typeface="+mn-ea"/>
                          <a:cs typeface="+mn-cs"/>
                        </a:rPr>
                        <a:t>SPJ(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SNO,</a:t>
                      </a:r>
                      <a:endParaRPr lang="zh-CN" altLang="en-US" dirty="0"/>
                    </a:p>
                  </a:txBody>
                  <a:tcPr/>
                </a:tc>
                <a:tc>
                  <a:txBody>
                    <a:bodyPr/>
                    <a:lstStyle/>
                    <a:p>
                      <a:pPr algn="ctr"/>
                      <a:r>
                        <a:rPr lang="en-US" altLang="zh-CN" sz="1800" b="1" u="sng" dirty="0">
                          <a:solidFill>
                            <a:schemeClr val="bg2"/>
                          </a:solidFill>
                        </a:rPr>
                        <a:t>PNO,</a:t>
                      </a:r>
                      <a:endParaRPr lang="zh-CN" altLang="en-US" dirty="0"/>
                    </a:p>
                  </a:txBody>
                  <a:tcPr/>
                </a:tc>
                <a:tc>
                  <a:txBody>
                    <a:bodyPr/>
                    <a:lstStyle/>
                    <a:p>
                      <a:pPr algn="ctr"/>
                      <a:r>
                        <a:rPr lang="en-US" altLang="zh-CN" sz="1800" b="1" u="sng" dirty="0">
                          <a:solidFill>
                            <a:schemeClr val="bg2"/>
                          </a:solidFill>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PRICE,</a:t>
                      </a:r>
                      <a:endParaRPr lang="zh-CN" altLang="en-US" dirty="0"/>
                    </a:p>
                  </a:txBody>
                  <a:tcPr/>
                </a:tc>
                <a:tc>
                  <a:txBody>
                    <a:bodyPr/>
                    <a:lstStyle/>
                    <a:p>
                      <a:pPr algn="ctr"/>
                      <a:r>
                        <a:rPr lang="en-US" altLang="zh-CN" sz="1800" b="1" dirty="0">
                          <a:solidFill>
                            <a:schemeClr val="bg2"/>
                          </a:solidFill>
                        </a:rPr>
                        <a:t>QTY)</a:t>
                      </a:r>
                      <a:endParaRPr lang="zh-CN" altLang="en-US" dirty="0"/>
                    </a:p>
                  </a:txBody>
                  <a:tcPr/>
                </a:tc>
                <a:extLst>
                  <a:ext uri="{0D108BD9-81ED-4DB2-BD59-A6C34878D82A}">
                    <a16:rowId xmlns:a16="http://schemas.microsoft.com/office/drawing/2014/main" val="822562478"/>
                  </a:ext>
                </a:extLst>
              </a:tr>
            </a:tbl>
          </a:graphicData>
        </a:graphic>
      </p:graphicFrame>
      <p:graphicFrame>
        <p:nvGraphicFramePr>
          <p:cNvPr id="9" name="表格 8">
            <a:extLst>
              <a:ext uri="{FF2B5EF4-FFF2-40B4-BE49-F238E27FC236}">
                <a16:creationId xmlns:a16="http://schemas.microsoft.com/office/drawing/2014/main" id="{89A12FCE-F646-FA44-9412-A81186F584FD}"/>
              </a:ext>
            </a:extLst>
          </p:cNvPr>
          <p:cNvGraphicFramePr>
            <a:graphicFrameLocks noGrp="1"/>
          </p:cNvGraphicFramePr>
          <p:nvPr>
            <p:extLst>
              <p:ext uri="{D42A27DB-BD31-4B8C-83A1-F6EECF244321}">
                <p14:modId xmlns:p14="http://schemas.microsoft.com/office/powerpoint/2010/main" val="2405061546"/>
              </p:ext>
            </p:extLst>
          </p:nvPr>
        </p:nvGraphicFramePr>
        <p:xfrm>
          <a:off x="6147271" y="1679208"/>
          <a:ext cx="2241328" cy="741680"/>
        </p:xfrm>
        <a:graphic>
          <a:graphicData uri="http://schemas.openxmlformats.org/drawingml/2006/table">
            <a:tbl>
              <a:tblPr firstRow="1" bandRow="1">
                <a:tableStyleId>{5C22544A-7EE6-4342-B048-85BDC9FD1C3A}</a:tableStyleId>
              </a:tblPr>
              <a:tblGrid>
                <a:gridCol w="683568">
                  <a:extLst>
                    <a:ext uri="{9D8B030D-6E8A-4147-A177-3AD203B41FA5}">
                      <a16:colId xmlns:a16="http://schemas.microsoft.com/office/drawing/2014/main" val="3624112539"/>
                    </a:ext>
                  </a:extLst>
                </a:gridCol>
                <a:gridCol w="717850">
                  <a:extLst>
                    <a:ext uri="{9D8B030D-6E8A-4147-A177-3AD203B41FA5}">
                      <a16:colId xmlns:a16="http://schemas.microsoft.com/office/drawing/2014/main" val="1016015763"/>
                    </a:ext>
                  </a:extLst>
                </a:gridCol>
                <a:gridCol w="839910">
                  <a:extLst>
                    <a:ext uri="{9D8B030D-6E8A-4147-A177-3AD203B41FA5}">
                      <a16:colId xmlns:a16="http://schemas.microsoft.com/office/drawing/2014/main" val="264977586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extLst>
                  <a:ext uri="{0D108BD9-81ED-4DB2-BD59-A6C34878D82A}">
                    <a16:rowId xmlns:a16="http://schemas.microsoft.com/office/drawing/2014/main" val="1274320833"/>
                  </a:ext>
                </a:extLst>
              </a:tr>
              <a:tr h="370840">
                <a:tc>
                  <a:txBody>
                    <a:bodyPr/>
                    <a:lstStyle/>
                    <a:p>
                      <a:pPr algn="ctr"/>
                      <a:r>
                        <a:rPr lang="en-US" altLang="zh-CN" sz="1800" b="1" u="none" kern="1200" dirty="0">
                          <a:solidFill>
                            <a:schemeClr val="bg2"/>
                          </a:solidFill>
                          <a:latin typeface="+mn-lt"/>
                          <a:ea typeface="+mn-ea"/>
                          <a:cs typeface="+mn-cs"/>
                        </a:rPr>
                        <a:t>SPJ(</a:t>
                      </a:r>
                      <a:endParaRPr lang="zh-CN" altLang="en-US" sz="1800" b="1" u="none" kern="1200" dirty="0">
                        <a:solidFill>
                          <a:schemeClr val="bg2"/>
                        </a:solidFill>
                        <a:latin typeface="+mn-lt"/>
                        <a:ea typeface="+mn-ea"/>
                        <a:cs typeface="+mn-cs"/>
                      </a:endParaRPr>
                    </a:p>
                  </a:txBody>
                  <a:tcPr/>
                </a:tc>
                <a:tc>
                  <a:txBody>
                    <a:bodyPr/>
                    <a:lstStyle/>
                    <a:p>
                      <a:pPr algn="just"/>
                      <a:r>
                        <a:rPr lang="en-US" altLang="zh-CN" sz="1800" b="1" u="sng" dirty="0">
                          <a:solidFill>
                            <a:schemeClr val="bg2"/>
                          </a:solidFill>
                        </a:rPr>
                        <a:t>JNO,</a:t>
                      </a:r>
                      <a:endParaRPr lang="zh-CN" altLang="en-US" dirty="0"/>
                    </a:p>
                  </a:txBody>
                  <a:tcPr/>
                </a:tc>
                <a:tc>
                  <a:txBody>
                    <a:bodyPr/>
                    <a:lstStyle/>
                    <a:p>
                      <a:pPr algn="ctr"/>
                      <a:r>
                        <a:rPr lang="en-US" altLang="zh-CN" sz="1800" b="1" u="sng" dirty="0">
                          <a:solidFill>
                            <a:schemeClr val="bg2"/>
                          </a:solidFill>
                        </a:rPr>
                        <a:t>PNO)</a:t>
                      </a:r>
                      <a:endParaRPr lang="zh-CN" altLang="en-US" dirty="0"/>
                    </a:p>
                  </a:txBody>
                  <a:tcPr/>
                </a:tc>
                <a:extLst>
                  <a:ext uri="{0D108BD9-81ED-4DB2-BD59-A6C34878D82A}">
                    <a16:rowId xmlns:a16="http://schemas.microsoft.com/office/drawing/2014/main" val="822562478"/>
                  </a:ext>
                </a:extLst>
              </a:tr>
            </a:tbl>
          </a:graphicData>
        </a:graphic>
      </p:graphicFrame>
      <p:sp>
        <p:nvSpPr>
          <p:cNvPr id="11" name="右箭头 10">
            <a:extLst>
              <a:ext uri="{FF2B5EF4-FFF2-40B4-BE49-F238E27FC236}">
                <a16:creationId xmlns:a16="http://schemas.microsoft.com/office/drawing/2014/main" id="{1874A978-6506-6747-8294-99F98A04096F}"/>
              </a:ext>
            </a:extLst>
          </p:cNvPr>
          <p:cNvSpPr/>
          <p:nvPr/>
        </p:nvSpPr>
        <p:spPr bwMode="auto">
          <a:xfrm>
            <a:off x="5368469" y="1952884"/>
            <a:ext cx="778802" cy="288032"/>
          </a:xfrm>
          <a:prstGeom prst="rightArrow">
            <a:avLst/>
          </a:prstGeom>
          <a:solidFill>
            <a:schemeClr val="accent5">
              <a:lumMod val="25000"/>
            </a:schemeClr>
          </a:solidFill>
          <a:ln>
            <a:noFill/>
          </a:ln>
          <a:effec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12" name="文本框 11">
            <a:extLst>
              <a:ext uri="{FF2B5EF4-FFF2-40B4-BE49-F238E27FC236}">
                <a16:creationId xmlns:a16="http://schemas.microsoft.com/office/drawing/2014/main" id="{F466E545-C03D-9F41-B2DD-C0377FAAC688}"/>
              </a:ext>
            </a:extLst>
          </p:cNvPr>
          <p:cNvSpPr txBox="1"/>
          <p:nvPr/>
        </p:nvSpPr>
        <p:spPr>
          <a:xfrm>
            <a:off x="611560" y="2492782"/>
            <a:ext cx="4743450" cy="338554"/>
          </a:xfrm>
          <a:prstGeom prst="rect">
            <a:avLst/>
          </a:prstGeom>
          <a:noFill/>
        </p:spPr>
        <p:txBody>
          <a:bodyPr wrap="square">
            <a:spAutoFit/>
          </a:bodyPr>
          <a:lstStyle/>
          <a:p>
            <a:pPr marL="457200" indent="-457200">
              <a:buFont typeface="+mj-ea"/>
              <a:buAutoNum type="circleNumDbPlain" startAt="2"/>
            </a:pPr>
            <a:r>
              <a:rPr lang="zh-CN" altLang="en-US" sz="2000" b="1" dirty="0">
                <a:solidFill>
                  <a:schemeClr val="bg2"/>
                </a:solidFill>
              </a:rPr>
              <a:t>全部零件</a:t>
            </a:r>
            <a:r>
              <a:rPr lang="en-US" altLang="zh-CN" sz="2000" b="1" dirty="0">
                <a:solidFill>
                  <a:srgbClr val="660033"/>
                </a:solidFill>
              </a:rPr>
              <a:t>π</a:t>
            </a:r>
            <a:r>
              <a:rPr lang="en-US" altLang="zh-CN" sz="2000" b="1" baseline="-25000" dirty="0">
                <a:solidFill>
                  <a:srgbClr val="660033"/>
                </a:solidFill>
              </a:rPr>
              <a:t>PNO</a:t>
            </a:r>
            <a:r>
              <a:rPr lang="en-US" altLang="zh-CN" sz="2000" b="1" dirty="0">
                <a:solidFill>
                  <a:srgbClr val="660033"/>
                </a:solidFill>
              </a:rPr>
              <a:t>(P)</a:t>
            </a:r>
            <a:endParaRPr lang="zh-CN" altLang="en-US" sz="2000" dirty="0"/>
          </a:p>
        </p:txBody>
      </p:sp>
      <p:graphicFrame>
        <p:nvGraphicFramePr>
          <p:cNvPr id="13" name="表格 12">
            <a:extLst>
              <a:ext uri="{FF2B5EF4-FFF2-40B4-BE49-F238E27FC236}">
                <a16:creationId xmlns:a16="http://schemas.microsoft.com/office/drawing/2014/main" id="{7263D37E-7155-274B-ABFC-1F8606F9A529}"/>
              </a:ext>
            </a:extLst>
          </p:cNvPr>
          <p:cNvGraphicFramePr>
            <a:graphicFrameLocks noGrp="1"/>
          </p:cNvGraphicFramePr>
          <p:nvPr>
            <p:extLst>
              <p:ext uri="{D42A27DB-BD31-4B8C-83A1-F6EECF244321}">
                <p14:modId xmlns:p14="http://schemas.microsoft.com/office/powerpoint/2010/main" val="4199641557"/>
              </p:ext>
            </p:extLst>
          </p:nvPr>
        </p:nvGraphicFramePr>
        <p:xfrm>
          <a:off x="852094" y="2950072"/>
          <a:ext cx="5027129" cy="741680"/>
        </p:xfrm>
        <a:graphic>
          <a:graphicData uri="http://schemas.openxmlformats.org/drawingml/2006/table">
            <a:tbl>
              <a:tblPr firstRow="1" bandRow="1">
                <a:tableStyleId>{5C22544A-7EE6-4342-B048-85BDC9FD1C3A}</a:tableStyleId>
              </a:tblPr>
              <a:tblGrid>
                <a:gridCol w="562634">
                  <a:extLst>
                    <a:ext uri="{9D8B030D-6E8A-4147-A177-3AD203B41FA5}">
                      <a16:colId xmlns:a16="http://schemas.microsoft.com/office/drawing/2014/main" val="191168834"/>
                    </a:ext>
                  </a:extLst>
                </a:gridCol>
                <a:gridCol w="792088">
                  <a:extLst>
                    <a:ext uri="{9D8B030D-6E8A-4147-A177-3AD203B41FA5}">
                      <a16:colId xmlns:a16="http://schemas.microsoft.com/office/drawing/2014/main" val="133873813"/>
                    </a:ext>
                  </a:extLst>
                </a:gridCol>
                <a:gridCol w="1297994">
                  <a:extLst>
                    <a:ext uri="{9D8B030D-6E8A-4147-A177-3AD203B41FA5}">
                      <a16:colId xmlns:a16="http://schemas.microsoft.com/office/drawing/2014/main" val="3120347940"/>
                    </a:ext>
                  </a:extLst>
                </a:gridCol>
                <a:gridCol w="1050221">
                  <a:extLst>
                    <a:ext uri="{9D8B030D-6E8A-4147-A177-3AD203B41FA5}">
                      <a16:colId xmlns:a16="http://schemas.microsoft.com/office/drawing/2014/main" val="1898571164"/>
                    </a:ext>
                  </a:extLst>
                </a:gridCol>
                <a:gridCol w="1324192">
                  <a:extLst>
                    <a:ext uri="{9D8B030D-6E8A-4147-A177-3AD203B41FA5}">
                      <a16:colId xmlns:a16="http://schemas.microsoft.com/office/drawing/2014/main" val="4135588725"/>
                    </a:ext>
                  </a:extLst>
                </a:gridCol>
              </a:tblGrid>
              <a:tr h="370840">
                <a:tc>
                  <a:txBody>
                    <a:bodyPr/>
                    <a:lstStyle/>
                    <a:p>
                      <a:pPr algn="ctr"/>
                      <a:endParaRPr lang="zh-CN" altLang="en-US" u="none" dirty="0"/>
                    </a:p>
                  </a:txBody>
                  <a:tcPr/>
                </a:tc>
                <a:tc>
                  <a:txBody>
                    <a:bodyPr/>
                    <a:lstStyle/>
                    <a:p>
                      <a:pPr algn="ctr"/>
                      <a:r>
                        <a:rPr lang="en-US" altLang="zh-CN" u="none" dirty="0"/>
                        <a:t>1</a:t>
                      </a:r>
                      <a:endParaRPr lang="zh-CN" altLang="en-US" u="none" dirty="0"/>
                    </a:p>
                  </a:txBody>
                  <a:tcPr/>
                </a:tc>
                <a:tc>
                  <a:txBody>
                    <a:bodyPr/>
                    <a:lstStyle/>
                    <a:p>
                      <a:pPr algn="ctr"/>
                      <a:r>
                        <a:rPr lang="en-US" altLang="zh-CN" u="none" dirty="0"/>
                        <a:t>2</a:t>
                      </a:r>
                      <a:endParaRPr lang="zh-CN" altLang="en-US" u="none" dirty="0"/>
                    </a:p>
                  </a:txBody>
                  <a:tcPr/>
                </a:tc>
                <a:tc>
                  <a:txBody>
                    <a:bodyPr/>
                    <a:lstStyle/>
                    <a:p>
                      <a:pPr algn="ctr"/>
                      <a:r>
                        <a:rPr lang="en-US" altLang="zh-CN" u="none" dirty="0"/>
                        <a:t>3</a:t>
                      </a:r>
                      <a:endParaRPr lang="zh-CN" altLang="en-US" u="none" dirty="0"/>
                    </a:p>
                  </a:txBody>
                  <a:tcPr/>
                </a:tc>
                <a:tc>
                  <a:txBody>
                    <a:bodyPr/>
                    <a:lstStyle/>
                    <a:p>
                      <a:pPr algn="ctr"/>
                      <a:r>
                        <a:rPr lang="en-US" altLang="zh-CN" u="none"/>
                        <a:t>4</a:t>
                      </a:r>
                      <a:endParaRPr lang="zh-CN" altLang="en-US" u="none" dirty="0"/>
                    </a:p>
                  </a:txBody>
                  <a:tcPr/>
                </a:tc>
                <a:extLst>
                  <a:ext uri="{0D108BD9-81ED-4DB2-BD59-A6C34878D82A}">
                    <a16:rowId xmlns:a16="http://schemas.microsoft.com/office/drawing/2014/main" val="546130200"/>
                  </a:ext>
                </a:extLst>
              </a:tr>
              <a:tr h="370840">
                <a:tc>
                  <a:txBody>
                    <a:bodyPr/>
                    <a:lstStyle/>
                    <a:p>
                      <a:pPr algn="ctr"/>
                      <a:r>
                        <a:rPr lang="en-US" altLang="zh-CN" sz="1800" b="1" u="none" kern="1200" dirty="0">
                          <a:solidFill>
                            <a:schemeClr val="bg2"/>
                          </a:solidFill>
                          <a:latin typeface="+mn-lt"/>
                          <a:ea typeface="+mn-ea"/>
                          <a:cs typeface="+mn-cs"/>
                        </a:rPr>
                        <a:t>P(</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PNO</a:t>
                      </a:r>
                      <a:r>
                        <a:rPr lang="en-US" altLang="zh-CN" sz="1800" b="1" u="none" dirty="0">
                          <a:solidFill>
                            <a:schemeClr val="bg2"/>
                          </a:solidFill>
                        </a:rPr>
                        <a:t>,</a:t>
                      </a:r>
                      <a:endParaRPr lang="zh-CN" altLang="en-US" u="none" dirty="0"/>
                    </a:p>
                  </a:txBody>
                  <a:tcPr/>
                </a:tc>
                <a:tc>
                  <a:txBody>
                    <a:bodyPr/>
                    <a:lstStyle/>
                    <a:p>
                      <a:pPr algn="ctr"/>
                      <a:r>
                        <a:rPr lang="en-US" altLang="zh-CN" sz="1800" b="1" u="none" dirty="0">
                          <a:solidFill>
                            <a:schemeClr val="bg2"/>
                          </a:solidFill>
                        </a:rPr>
                        <a:t>PNAME,</a:t>
                      </a:r>
                      <a:endParaRPr lang="zh-CN" altLang="en-US" u="none" dirty="0"/>
                    </a:p>
                  </a:txBody>
                  <a:tcPr/>
                </a:tc>
                <a:tc>
                  <a:txBody>
                    <a:bodyPr/>
                    <a:lstStyle/>
                    <a:p>
                      <a:pPr algn="ctr"/>
                      <a:r>
                        <a:rPr lang="en-US" altLang="zh-CN" sz="1800" b="1" u="none" dirty="0">
                          <a:solidFill>
                            <a:schemeClr val="bg2"/>
                          </a:solidFill>
                        </a:rPr>
                        <a:t>COLOR</a:t>
                      </a:r>
                      <a:endParaRPr lang="zh-CN" altLang="en-US" u="none" dirty="0"/>
                    </a:p>
                  </a:txBody>
                  <a:tcPr/>
                </a:tc>
                <a:tc>
                  <a:txBody>
                    <a:bodyPr/>
                    <a:lstStyle/>
                    <a:p>
                      <a:pPr algn="ctr"/>
                      <a:r>
                        <a:rPr lang="en-US" altLang="zh-CN" sz="1800" b="1" u="none" dirty="0">
                          <a:solidFill>
                            <a:schemeClr val="bg2"/>
                          </a:solidFill>
                        </a:rPr>
                        <a:t>WEIGHT)</a:t>
                      </a:r>
                      <a:endParaRPr lang="zh-CN" altLang="en-US" u="none" dirty="0"/>
                    </a:p>
                  </a:txBody>
                  <a:tcPr/>
                </a:tc>
                <a:extLst>
                  <a:ext uri="{0D108BD9-81ED-4DB2-BD59-A6C34878D82A}">
                    <a16:rowId xmlns:a16="http://schemas.microsoft.com/office/drawing/2014/main" val="1246312448"/>
                  </a:ext>
                </a:extLst>
              </a:tr>
            </a:tbl>
          </a:graphicData>
        </a:graphic>
      </p:graphicFrame>
      <p:sp>
        <p:nvSpPr>
          <p:cNvPr id="15" name="右箭头 14">
            <a:extLst>
              <a:ext uri="{FF2B5EF4-FFF2-40B4-BE49-F238E27FC236}">
                <a16:creationId xmlns:a16="http://schemas.microsoft.com/office/drawing/2014/main" id="{FF8850EE-E3E3-C941-BE92-9D8102A928DE}"/>
              </a:ext>
            </a:extLst>
          </p:cNvPr>
          <p:cNvSpPr/>
          <p:nvPr/>
        </p:nvSpPr>
        <p:spPr bwMode="auto">
          <a:xfrm>
            <a:off x="5984974" y="3171663"/>
            <a:ext cx="778802" cy="288032"/>
          </a:xfrm>
          <a:prstGeom prst="rightArrow">
            <a:avLst/>
          </a:prstGeom>
          <a:solidFill>
            <a:schemeClr val="accent5">
              <a:lumMod val="25000"/>
            </a:schemeClr>
          </a:solidFill>
          <a:ln>
            <a:noFill/>
          </a:ln>
          <a:effec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graphicFrame>
        <p:nvGraphicFramePr>
          <p:cNvPr id="16" name="表格 15">
            <a:extLst>
              <a:ext uri="{FF2B5EF4-FFF2-40B4-BE49-F238E27FC236}">
                <a16:creationId xmlns:a16="http://schemas.microsoft.com/office/drawing/2014/main" id="{15465332-CE7C-5D47-9E98-2FEF2A10136A}"/>
              </a:ext>
            </a:extLst>
          </p:cNvPr>
          <p:cNvGraphicFramePr>
            <a:graphicFrameLocks noGrp="1"/>
          </p:cNvGraphicFramePr>
          <p:nvPr>
            <p:extLst>
              <p:ext uri="{D42A27DB-BD31-4B8C-83A1-F6EECF244321}">
                <p14:modId xmlns:p14="http://schemas.microsoft.com/office/powerpoint/2010/main" val="3139523930"/>
              </p:ext>
            </p:extLst>
          </p:nvPr>
        </p:nvGraphicFramePr>
        <p:xfrm>
          <a:off x="6817678" y="2928232"/>
          <a:ext cx="1354722" cy="741680"/>
        </p:xfrm>
        <a:graphic>
          <a:graphicData uri="http://schemas.openxmlformats.org/drawingml/2006/table">
            <a:tbl>
              <a:tblPr firstRow="1" bandRow="1">
                <a:tableStyleId>{5C22544A-7EE6-4342-B048-85BDC9FD1C3A}</a:tableStyleId>
              </a:tblPr>
              <a:tblGrid>
                <a:gridCol w="562634">
                  <a:extLst>
                    <a:ext uri="{9D8B030D-6E8A-4147-A177-3AD203B41FA5}">
                      <a16:colId xmlns:a16="http://schemas.microsoft.com/office/drawing/2014/main" val="3047731339"/>
                    </a:ext>
                  </a:extLst>
                </a:gridCol>
                <a:gridCol w="792088">
                  <a:extLst>
                    <a:ext uri="{9D8B030D-6E8A-4147-A177-3AD203B41FA5}">
                      <a16:colId xmlns:a16="http://schemas.microsoft.com/office/drawing/2014/main" val="142692855"/>
                    </a:ext>
                  </a:extLst>
                </a:gridCol>
              </a:tblGrid>
              <a:tr h="370840">
                <a:tc>
                  <a:txBody>
                    <a:bodyPr/>
                    <a:lstStyle/>
                    <a:p>
                      <a:pPr algn="ctr"/>
                      <a:endParaRPr lang="zh-CN" altLang="en-US" u="none" dirty="0"/>
                    </a:p>
                  </a:txBody>
                  <a:tcPr/>
                </a:tc>
                <a:tc>
                  <a:txBody>
                    <a:bodyPr/>
                    <a:lstStyle/>
                    <a:p>
                      <a:pPr algn="ctr"/>
                      <a:r>
                        <a:rPr lang="en-US" altLang="zh-CN" u="none" dirty="0"/>
                        <a:t>1</a:t>
                      </a:r>
                      <a:endParaRPr lang="zh-CN" altLang="en-US" u="none" dirty="0"/>
                    </a:p>
                  </a:txBody>
                  <a:tcPr/>
                </a:tc>
                <a:extLst>
                  <a:ext uri="{0D108BD9-81ED-4DB2-BD59-A6C34878D82A}">
                    <a16:rowId xmlns:a16="http://schemas.microsoft.com/office/drawing/2014/main" val="1212909207"/>
                  </a:ext>
                </a:extLst>
              </a:tr>
              <a:tr h="370840">
                <a:tc>
                  <a:txBody>
                    <a:bodyPr/>
                    <a:lstStyle/>
                    <a:p>
                      <a:pPr algn="ctr"/>
                      <a:r>
                        <a:rPr lang="en-US" altLang="zh-CN" sz="1800" b="1" u="none" kern="1200" dirty="0">
                          <a:solidFill>
                            <a:schemeClr val="bg2"/>
                          </a:solidFill>
                          <a:latin typeface="+mn-lt"/>
                          <a:ea typeface="+mn-ea"/>
                          <a:cs typeface="+mn-cs"/>
                        </a:rPr>
                        <a:t>P(</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PNO</a:t>
                      </a:r>
                      <a:r>
                        <a:rPr lang="en-US" altLang="zh-CN" sz="1800" b="1" u="none" dirty="0">
                          <a:solidFill>
                            <a:schemeClr val="bg2"/>
                          </a:solidFill>
                        </a:rPr>
                        <a:t>)</a:t>
                      </a:r>
                      <a:endParaRPr lang="zh-CN" altLang="en-US" u="none" dirty="0"/>
                    </a:p>
                  </a:txBody>
                  <a:tcPr/>
                </a:tc>
                <a:extLst>
                  <a:ext uri="{0D108BD9-81ED-4DB2-BD59-A6C34878D82A}">
                    <a16:rowId xmlns:a16="http://schemas.microsoft.com/office/drawing/2014/main" val="1621842288"/>
                  </a:ext>
                </a:extLst>
              </a:tr>
            </a:tbl>
          </a:graphicData>
        </a:graphic>
      </p:graphicFrame>
      <p:sp>
        <p:nvSpPr>
          <p:cNvPr id="17" name="文本框 16">
            <a:extLst>
              <a:ext uri="{FF2B5EF4-FFF2-40B4-BE49-F238E27FC236}">
                <a16:creationId xmlns:a16="http://schemas.microsoft.com/office/drawing/2014/main" id="{40E9F594-72AE-0145-96A4-87FE2039DE79}"/>
              </a:ext>
            </a:extLst>
          </p:cNvPr>
          <p:cNvSpPr txBox="1"/>
          <p:nvPr/>
        </p:nvSpPr>
        <p:spPr>
          <a:xfrm>
            <a:off x="611671" y="3878421"/>
            <a:ext cx="9361040" cy="738664"/>
          </a:xfrm>
          <a:prstGeom prst="rect">
            <a:avLst/>
          </a:prstGeom>
          <a:noFill/>
        </p:spPr>
        <p:txBody>
          <a:bodyPr wrap="square">
            <a:spAutoFit/>
          </a:bodyPr>
          <a:lstStyle/>
          <a:p>
            <a:pPr marL="457200" indent="-457200">
              <a:buFont typeface="+mj-ea"/>
              <a:buAutoNum type="circleNumDbPlain" startAt="3"/>
            </a:pPr>
            <a:r>
              <a:rPr lang="zh-CN" altLang="en-US" sz="2000" b="1" dirty="0">
                <a:solidFill>
                  <a:schemeClr val="bg2"/>
                </a:solidFill>
              </a:rPr>
              <a:t>使用了全部零件的工程编号可用除法操作表示，操作结果是</a:t>
            </a:r>
            <a:endParaRPr lang="en-US" altLang="zh-CN" sz="2000" b="1" dirty="0">
              <a:solidFill>
                <a:schemeClr val="bg2"/>
              </a:solidFill>
            </a:endParaRPr>
          </a:p>
          <a:p>
            <a:r>
              <a:rPr lang="zh-CN" altLang="en-US" sz="2000" b="1" dirty="0">
                <a:solidFill>
                  <a:schemeClr val="bg2"/>
                </a:solidFill>
              </a:rPr>
              <a:t>    工程编号</a:t>
            </a:r>
            <a:r>
              <a:rPr lang="en-US" altLang="zh-CN" sz="2000" b="1" dirty="0">
                <a:solidFill>
                  <a:schemeClr val="bg2"/>
                </a:solidFill>
              </a:rPr>
              <a:t>JNO</a:t>
            </a:r>
            <a:r>
              <a:rPr lang="zh-CN" altLang="en-US" sz="2000" b="1" dirty="0">
                <a:solidFill>
                  <a:schemeClr val="bg2"/>
                </a:solidFill>
              </a:rPr>
              <a:t>集  </a:t>
            </a:r>
            <a:r>
              <a:rPr lang="en-US" altLang="zh-CN" sz="2000" b="1" dirty="0">
                <a:solidFill>
                  <a:srgbClr val="660033"/>
                </a:solidFill>
              </a:rPr>
              <a:t>π</a:t>
            </a:r>
            <a:r>
              <a:rPr lang="en-US" altLang="zh-CN" sz="2000" b="1" baseline="-25000" dirty="0">
                <a:solidFill>
                  <a:srgbClr val="660033"/>
                </a:solidFill>
              </a:rPr>
              <a:t>JNO,PNO</a:t>
            </a:r>
            <a:r>
              <a:rPr lang="en-US" altLang="zh-CN" sz="2000" b="1" dirty="0">
                <a:solidFill>
                  <a:srgbClr val="660033"/>
                </a:solidFill>
              </a:rPr>
              <a:t>(SPJ)÷π</a:t>
            </a:r>
            <a:r>
              <a:rPr lang="en-US" altLang="zh-CN" sz="2000" b="1" baseline="-25000" dirty="0">
                <a:solidFill>
                  <a:srgbClr val="660033"/>
                </a:solidFill>
              </a:rPr>
              <a:t>PNO</a:t>
            </a:r>
            <a:r>
              <a:rPr lang="en-US" altLang="zh-CN" sz="2000" b="1" dirty="0">
                <a:solidFill>
                  <a:srgbClr val="660033"/>
                </a:solidFill>
              </a:rPr>
              <a:t>(P)</a:t>
            </a:r>
            <a:endParaRPr lang="zh-CN" altLang="en-US" sz="2000" dirty="0"/>
          </a:p>
        </p:txBody>
      </p:sp>
      <p:sp>
        <p:nvSpPr>
          <p:cNvPr id="18" name="文本框 17">
            <a:extLst>
              <a:ext uri="{FF2B5EF4-FFF2-40B4-BE49-F238E27FC236}">
                <a16:creationId xmlns:a16="http://schemas.microsoft.com/office/drawing/2014/main" id="{A29EA1A8-4CDC-C545-A246-4B00FDDCEA90}"/>
              </a:ext>
            </a:extLst>
          </p:cNvPr>
          <p:cNvSpPr txBox="1"/>
          <p:nvPr/>
        </p:nvSpPr>
        <p:spPr>
          <a:xfrm>
            <a:off x="611560" y="5114113"/>
            <a:ext cx="9361040" cy="738664"/>
          </a:xfrm>
          <a:prstGeom prst="rect">
            <a:avLst/>
          </a:prstGeom>
          <a:noFill/>
        </p:spPr>
        <p:txBody>
          <a:bodyPr wrap="square">
            <a:spAutoFit/>
          </a:bodyPr>
          <a:lstStyle/>
          <a:p>
            <a:pPr marL="457200" indent="-457200">
              <a:buFont typeface="+mj-ea"/>
              <a:buAutoNum type="circleNumDbPlain" startAt="4"/>
            </a:pPr>
            <a:r>
              <a:rPr lang="zh-CN" altLang="en-US" sz="2000" b="1" dirty="0">
                <a:solidFill>
                  <a:schemeClr val="bg2"/>
                </a:solidFill>
              </a:rPr>
              <a:t>根据</a:t>
            </a:r>
            <a:r>
              <a:rPr lang="en-US" altLang="zh-CN" sz="2000" b="1" dirty="0">
                <a:solidFill>
                  <a:schemeClr val="bg2"/>
                </a:solidFill>
              </a:rPr>
              <a:t>JNO</a:t>
            </a:r>
            <a:r>
              <a:rPr lang="zh-CN" altLang="en-US" sz="2000" b="1" dirty="0">
                <a:solidFill>
                  <a:schemeClr val="bg2"/>
                </a:solidFill>
              </a:rPr>
              <a:t>检索工程名称</a:t>
            </a:r>
            <a:r>
              <a:rPr lang="en-US" altLang="zh-CN" sz="2000" b="1" dirty="0">
                <a:solidFill>
                  <a:schemeClr val="bg2"/>
                </a:solidFill>
              </a:rPr>
              <a:t>JNAME</a:t>
            </a:r>
            <a:r>
              <a:rPr lang="zh-CN" altLang="en-US" sz="2000" b="1" dirty="0">
                <a:solidFill>
                  <a:schemeClr val="bg2"/>
                </a:solidFill>
              </a:rPr>
              <a:t>，可以用自然连接和投影操作</a:t>
            </a:r>
            <a:endParaRPr lang="en-US" altLang="zh-CN" sz="2000" b="1" dirty="0">
              <a:solidFill>
                <a:schemeClr val="bg2"/>
              </a:solidFill>
            </a:endParaRPr>
          </a:p>
          <a:p>
            <a:r>
              <a:rPr lang="zh-CN" altLang="en-US" sz="2000" b="1" dirty="0">
                <a:solidFill>
                  <a:schemeClr val="bg2"/>
                </a:solidFill>
              </a:rPr>
              <a:t>    组合而成集 </a:t>
            </a:r>
            <a:r>
              <a:rPr lang="en-US" altLang="zh-CN" sz="2000" b="1" dirty="0">
                <a:solidFill>
                  <a:srgbClr val="660033"/>
                </a:solidFill>
              </a:rPr>
              <a:t>π</a:t>
            </a:r>
            <a:r>
              <a:rPr lang="en-US" altLang="zh-CN" sz="2000" b="1" baseline="-25000" dirty="0">
                <a:solidFill>
                  <a:srgbClr val="660033"/>
                </a:solidFill>
              </a:rPr>
              <a:t>JNAME</a:t>
            </a:r>
            <a:r>
              <a:rPr lang="en-US" altLang="zh-CN" sz="2000" b="1" dirty="0">
                <a:solidFill>
                  <a:srgbClr val="660033"/>
                </a:solidFill>
              </a:rPr>
              <a:t>(J⋈(π</a:t>
            </a:r>
            <a:r>
              <a:rPr lang="en-US" altLang="zh-CN" sz="2000" b="1" baseline="-25000" dirty="0">
                <a:solidFill>
                  <a:srgbClr val="660033"/>
                </a:solidFill>
              </a:rPr>
              <a:t>JNO,PNO</a:t>
            </a:r>
            <a:r>
              <a:rPr lang="en-US" altLang="zh-CN" sz="2000" b="1" dirty="0">
                <a:solidFill>
                  <a:srgbClr val="660033"/>
                </a:solidFill>
              </a:rPr>
              <a:t>(SPJ)÷π</a:t>
            </a:r>
            <a:r>
              <a:rPr lang="en-US" altLang="zh-CN" sz="2000" b="1" baseline="-25000" dirty="0">
                <a:solidFill>
                  <a:srgbClr val="660033"/>
                </a:solidFill>
              </a:rPr>
              <a:t>PNO</a:t>
            </a:r>
            <a:r>
              <a:rPr lang="en-US" altLang="zh-CN" sz="2000" b="1" dirty="0">
                <a:solidFill>
                  <a:srgbClr val="660033"/>
                </a:solidFill>
              </a:rPr>
              <a:t>(P)) </a:t>
            </a:r>
            <a:endParaRPr lang="zh-CN" altLang="en-US" sz="2000" dirty="0"/>
          </a:p>
        </p:txBody>
      </p:sp>
      <p:graphicFrame>
        <p:nvGraphicFramePr>
          <p:cNvPr id="19" name="表格 18">
            <a:extLst>
              <a:ext uri="{FF2B5EF4-FFF2-40B4-BE49-F238E27FC236}">
                <a16:creationId xmlns:a16="http://schemas.microsoft.com/office/drawing/2014/main" id="{CB47BB39-A8E9-6F4D-A54F-8515BC52F9D9}"/>
              </a:ext>
            </a:extLst>
          </p:cNvPr>
          <p:cNvGraphicFramePr>
            <a:graphicFrameLocks noGrp="1"/>
          </p:cNvGraphicFramePr>
          <p:nvPr>
            <p:extLst>
              <p:ext uri="{D42A27DB-BD31-4B8C-83A1-F6EECF244321}">
                <p14:modId xmlns:p14="http://schemas.microsoft.com/office/powerpoint/2010/main" val="1267720668"/>
              </p:ext>
            </p:extLst>
          </p:nvPr>
        </p:nvGraphicFramePr>
        <p:xfrm>
          <a:off x="5984974" y="4272387"/>
          <a:ext cx="1354722" cy="741680"/>
        </p:xfrm>
        <a:graphic>
          <a:graphicData uri="http://schemas.openxmlformats.org/drawingml/2006/table">
            <a:tbl>
              <a:tblPr firstRow="1" bandRow="1">
                <a:tableStyleId>{5C22544A-7EE6-4342-B048-85BDC9FD1C3A}</a:tableStyleId>
              </a:tblPr>
              <a:tblGrid>
                <a:gridCol w="562634">
                  <a:extLst>
                    <a:ext uri="{9D8B030D-6E8A-4147-A177-3AD203B41FA5}">
                      <a16:colId xmlns:a16="http://schemas.microsoft.com/office/drawing/2014/main" val="3047731339"/>
                    </a:ext>
                  </a:extLst>
                </a:gridCol>
                <a:gridCol w="792088">
                  <a:extLst>
                    <a:ext uri="{9D8B030D-6E8A-4147-A177-3AD203B41FA5}">
                      <a16:colId xmlns:a16="http://schemas.microsoft.com/office/drawing/2014/main" val="142692855"/>
                    </a:ext>
                  </a:extLst>
                </a:gridCol>
              </a:tblGrid>
              <a:tr h="370840">
                <a:tc>
                  <a:txBody>
                    <a:bodyPr/>
                    <a:lstStyle/>
                    <a:p>
                      <a:pPr algn="ctr"/>
                      <a:endParaRPr lang="zh-CN" altLang="en-US" u="none" dirty="0"/>
                    </a:p>
                  </a:txBody>
                  <a:tcPr/>
                </a:tc>
                <a:tc>
                  <a:txBody>
                    <a:bodyPr/>
                    <a:lstStyle/>
                    <a:p>
                      <a:pPr algn="ctr"/>
                      <a:r>
                        <a:rPr lang="en-US" altLang="zh-CN" u="none" dirty="0"/>
                        <a:t>1</a:t>
                      </a:r>
                      <a:endParaRPr lang="zh-CN" altLang="en-US" u="none" dirty="0"/>
                    </a:p>
                  </a:txBody>
                  <a:tcPr/>
                </a:tc>
                <a:extLst>
                  <a:ext uri="{0D108BD9-81ED-4DB2-BD59-A6C34878D82A}">
                    <a16:rowId xmlns:a16="http://schemas.microsoft.com/office/drawing/2014/main" val="1212909207"/>
                  </a:ext>
                </a:extLst>
              </a:tr>
              <a:tr h="370840">
                <a:tc>
                  <a:txBody>
                    <a:bodyPr/>
                    <a:lstStyle/>
                    <a:p>
                      <a:pPr algn="ctr"/>
                      <a:r>
                        <a:rPr lang="en-US" altLang="zh-CN" sz="1800" b="1" u="none" kern="1200" dirty="0">
                          <a:solidFill>
                            <a:schemeClr val="bg2"/>
                          </a:solidFill>
                          <a:latin typeface="+mn-lt"/>
                          <a:ea typeface="+mn-ea"/>
                          <a:cs typeface="+mn-cs"/>
                        </a:rPr>
                        <a:t>(</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JNO</a:t>
                      </a:r>
                      <a:r>
                        <a:rPr lang="en-US" altLang="zh-CN" sz="1800" b="1" u="none" dirty="0">
                          <a:solidFill>
                            <a:schemeClr val="bg2"/>
                          </a:solidFill>
                        </a:rPr>
                        <a:t>)</a:t>
                      </a:r>
                      <a:endParaRPr lang="zh-CN" altLang="en-US" u="none" dirty="0"/>
                    </a:p>
                  </a:txBody>
                  <a:tcPr/>
                </a:tc>
                <a:extLst>
                  <a:ext uri="{0D108BD9-81ED-4DB2-BD59-A6C34878D82A}">
                    <a16:rowId xmlns:a16="http://schemas.microsoft.com/office/drawing/2014/main" val="1621842288"/>
                  </a:ext>
                </a:extLst>
              </a:tr>
            </a:tbl>
          </a:graphicData>
        </a:graphic>
      </p:graphicFrame>
      <p:graphicFrame>
        <p:nvGraphicFramePr>
          <p:cNvPr id="20" name="表格 3">
            <a:extLst>
              <a:ext uri="{FF2B5EF4-FFF2-40B4-BE49-F238E27FC236}">
                <a16:creationId xmlns:a16="http://schemas.microsoft.com/office/drawing/2014/main" id="{2396D22F-C49A-6F40-9EE3-0D978F81E423}"/>
              </a:ext>
            </a:extLst>
          </p:cNvPr>
          <p:cNvGraphicFramePr>
            <a:graphicFrameLocks noGrp="1"/>
          </p:cNvGraphicFramePr>
          <p:nvPr>
            <p:extLst>
              <p:ext uri="{D42A27DB-BD31-4B8C-83A1-F6EECF244321}">
                <p14:modId xmlns:p14="http://schemas.microsoft.com/office/powerpoint/2010/main" val="1968126872"/>
              </p:ext>
            </p:extLst>
          </p:nvPr>
        </p:nvGraphicFramePr>
        <p:xfrm>
          <a:off x="1431781" y="5931737"/>
          <a:ext cx="4665817" cy="741680"/>
        </p:xfrm>
        <a:graphic>
          <a:graphicData uri="http://schemas.openxmlformats.org/drawingml/2006/table">
            <a:tbl>
              <a:tblPr firstRow="1" bandRow="1">
                <a:tableStyleId>{21E4AEA4-8DFA-4A89-87EB-49C32662AFE0}</a:tableStyleId>
              </a:tblPr>
              <a:tblGrid>
                <a:gridCol w="683568">
                  <a:extLst>
                    <a:ext uri="{9D8B030D-6E8A-4147-A177-3AD203B41FA5}">
                      <a16:colId xmlns:a16="http://schemas.microsoft.com/office/drawing/2014/main" val="2512462284"/>
                    </a:ext>
                  </a:extLst>
                </a:gridCol>
                <a:gridCol w="737662">
                  <a:extLst>
                    <a:ext uri="{9D8B030D-6E8A-4147-A177-3AD203B41FA5}">
                      <a16:colId xmlns:a16="http://schemas.microsoft.com/office/drawing/2014/main" val="3152180614"/>
                    </a:ext>
                  </a:extLst>
                </a:gridCol>
                <a:gridCol w="998116">
                  <a:extLst>
                    <a:ext uri="{9D8B030D-6E8A-4147-A177-3AD203B41FA5}">
                      <a16:colId xmlns:a16="http://schemas.microsoft.com/office/drawing/2014/main" val="2487654462"/>
                    </a:ext>
                  </a:extLst>
                </a:gridCol>
                <a:gridCol w="864096">
                  <a:extLst>
                    <a:ext uri="{9D8B030D-6E8A-4147-A177-3AD203B41FA5}">
                      <a16:colId xmlns:a16="http://schemas.microsoft.com/office/drawing/2014/main" val="462313814"/>
                    </a:ext>
                  </a:extLst>
                </a:gridCol>
                <a:gridCol w="1382375">
                  <a:extLst>
                    <a:ext uri="{9D8B030D-6E8A-4147-A177-3AD203B41FA5}">
                      <a16:colId xmlns:a16="http://schemas.microsoft.com/office/drawing/2014/main" val="332626903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rPr>
                        <a:t>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highlight>
                            <a:srgbClr val="FFFF00"/>
                          </a:highlight>
                        </a:rPr>
                        <a:t>JNAME,</a:t>
                      </a:r>
                      <a:endParaRPr lang="zh-CN" altLang="en-US" dirty="0">
                        <a:highlight>
                          <a:srgbClr val="FFFF00"/>
                        </a:highlight>
                      </a:endParaRPr>
                    </a:p>
                  </a:txBody>
                  <a:tcPr/>
                </a:tc>
                <a:tc>
                  <a:txBody>
                    <a:bodyPr/>
                    <a:lstStyle/>
                    <a:p>
                      <a:pPr algn="ctr"/>
                      <a:r>
                        <a:rPr lang="en-US" altLang="zh-CN" sz="1800" b="1" dirty="0">
                          <a:solidFill>
                            <a:schemeClr val="bg2"/>
                          </a:solidFill>
                        </a:rPr>
                        <a:t>JCITY,</a:t>
                      </a:r>
                      <a:endParaRPr lang="zh-CN" altLang="en-US" dirty="0"/>
                    </a:p>
                  </a:txBody>
                  <a:tcPr/>
                </a:tc>
                <a:tc>
                  <a:txBody>
                    <a:bodyPr/>
                    <a:lstStyle/>
                    <a:p>
                      <a:pPr algn="ctr"/>
                      <a:r>
                        <a:rPr lang="en-US" altLang="zh-CN" sz="1800" b="1" dirty="0">
                          <a:solidFill>
                            <a:schemeClr val="bg2"/>
                          </a:solidFill>
                        </a:rPr>
                        <a:t>BALANCE)</a:t>
                      </a:r>
                      <a:endParaRPr lang="zh-CN" altLang="en-US" dirty="0"/>
                    </a:p>
                  </a:txBody>
                  <a:tcPr/>
                </a:tc>
                <a:extLst>
                  <a:ext uri="{0D108BD9-81ED-4DB2-BD59-A6C34878D82A}">
                    <a16:rowId xmlns:a16="http://schemas.microsoft.com/office/drawing/2014/main" val="553996634"/>
                  </a:ext>
                </a:extLst>
              </a:tr>
            </a:tbl>
          </a:graphicData>
        </a:graphic>
      </p:graphicFrame>
      <p:graphicFrame>
        <p:nvGraphicFramePr>
          <p:cNvPr id="21" name="表格 20">
            <a:extLst>
              <a:ext uri="{FF2B5EF4-FFF2-40B4-BE49-F238E27FC236}">
                <a16:creationId xmlns:a16="http://schemas.microsoft.com/office/drawing/2014/main" id="{87123B76-CB31-824D-A302-43165F82FD8F}"/>
              </a:ext>
            </a:extLst>
          </p:cNvPr>
          <p:cNvGraphicFramePr>
            <a:graphicFrameLocks noGrp="1"/>
          </p:cNvGraphicFramePr>
          <p:nvPr>
            <p:extLst>
              <p:ext uri="{D42A27DB-BD31-4B8C-83A1-F6EECF244321}">
                <p14:modId xmlns:p14="http://schemas.microsoft.com/office/powerpoint/2010/main" val="3155762613"/>
              </p:ext>
            </p:extLst>
          </p:nvPr>
        </p:nvGraphicFramePr>
        <p:xfrm>
          <a:off x="6097598" y="5952824"/>
          <a:ext cx="1354722" cy="741680"/>
        </p:xfrm>
        <a:graphic>
          <a:graphicData uri="http://schemas.openxmlformats.org/drawingml/2006/table">
            <a:tbl>
              <a:tblPr firstRow="1" bandRow="1">
                <a:tableStyleId>{5C22544A-7EE6-4342-B048-85BDC9FD1C3A}</a:tableStyleId>
              </a:tblPr>
              <a:tblGrid>
                <a:gridCol w="562634">
                  <a:extLst>
                    <a:ext uri="{9D8B030D-6E8A-4147-A177-3AD203B41FA5}">
                      <a16:colId xmlns:a16="http://schemas.microsoft.com/office/drawing/2014/main" val="3047731339"/>
                    </a:ext>
                  </a:extLst>
                </a:gridCol>
                <a:gridCol w="792088">
                  <a:extLst>
                    <a:ext uri="{9D8B030D-6E8A-4147-A177-3AD203B41FA5}">
                      <a16:colId xmlns:a16="http://schemas.microsoft.com/office/drawing/2014/main" val="142692855"/>
                    </a:ext>
                  </a:extLst>
                </a:gridCol>
              </a:tblGrid>
              <a:tr h="370840">
                <a:tc>
                  <a:txBody>
                    <a:bodyPr/>
                    <a:lstStyle/>
                    <a:p>
                      <a:pPr algn="ctr"/>
                      <a:endParaRPr lang="zh-CN" altLang="en-US" u="none" dirty="0"/>
                    </a:p>
                  </a:txBody>
                  <a:tcPr/>
                </a:tc>
                <a:tc>
                  <a:txBody>
                    <a:bodyPr/>
                    <a:lstStyle/>
                    <a:p>
                      <a:pPr algn="ctr"/>
                      <a:r>
                        <a:rPr lang="en-US" altLang="zh-CN" u="none" dirty="0"/>
                        <a:t>1</a:t>
                      </a:r>
                      <a:endParaRPr lang="zh-CN" altLang="en-US" u="none" dirty="0"/>
                    </a:p>
                  </a:txBody>
                  <a:tcPr/>
                </a:tc>
                <a:extLst>
                  <a:ext uri="{0D108BD9-81ED-4DB2-BD59-A6C34878D82A}">
                    <a16:rowId xmlns:a16="http://schemas.microsoft.com/office/drawing/2014/main" val="1212909207"/>
                  </a:ext>
                </a:extLst>
              </a:tr>
              <a:tr h="370840">
                <a:tc>
                  <a:txBody>
                    <a:bodyPr/>
                    <a:lstStyle/>
                    <a:p>
                      <a:pPr algn="ctr"/>
                      <a:r>
                        <a:rPr lang="en-US" altLang="zh-CN" sz="1800" b="1" u="none" kern="1200" dirty="0">
                          <a:solidFill>
                            <a:schemeClr val="bg2"/>
                          </a:solidFill>
                          <a:latin typeface="+mn-lt"/>
                          <a:ea typeface="+mn-ea"/>
                          <a:cs typeface="+mn-cs"/>
                        </a:rPr>
                        <a:t>(</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JNO</a:t>
                      </a:r>
                      <a:r>
                        <a:rPr lang="en-US" altLang="zh-CN" sz="1800" b="1" u="none" dirty="0">
                          <a:solidFill>
                            <a:schemeClr val="bg2"/>
                          </a:solidFill>
                        </a:rPr>
                        <a:t>)</a:t>
                      </a:r>
                      <a:endParaRPr lang="zh-CN" altLang="en-US" u="none" dirty="0"/>
                    </a:p>
                  </a:txBody>
                  <a:tcPr/>
                </a:tc>
                <a:extLst>
                  <a:ext uri="{0D108BD9-81ED-4DB2-BD59-A6C34878D82A}">
                    <a16:rowId xmlns:a16="http://schemas.microsoft.com/office/drawing/2014/main" val="1621842288"/>
                  </a:ext>
                </a:extLst>
              </a:tr>
            </a:tbl>
          </a:graphicData>
        </a:graphic>
      </p:graphicFrame>
    </p:spTree>
    <p:extLst>
      <p:ext uri="{BB962C8B-B14F-4D97-AF65-F5344CB8AC3E}">
        <p14:creationId xmlns:p14="http://schemas.microsoft.com/office/powerpoint/2010/main" val="118595405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9"/>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grpId="0" nodeType="click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20"/>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1" grpId="0" animBg="1"/>
      <p:bldP spid="12" grpId="0"/>
      <p:bldP spid="15" grpId="0" animBg="1"/>
      <p:bldP spid="17" grpId="0"/>
      <p:bldP spid="18"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Rectangle 9">
            <a:extLst>
              <a:ext uri="{FF2B5EF4-FFF2-40B4-BE49-F238E27FC236}">
                <a16:creationId xmlns:a16="http://schemas.microsoft.com/office/drawing/2014/main" id="{C12F40AD-7262-8542-BE85-306D57065A54}"/>
              </a:ext>
            </a:extLst>
          </p:cNvPr>
          <p:cNvSpPr>
            <a:spLocks noChangeArrowheads="1"/>
          </p:cNvSpPr>
          <p:nvPr/>
        </p:nvSpPr>
        <p:spPr bwMode="auto">
          <a:xfrm>
            <a:off x="212924" y="64102"/>
            <a:ext cx="9144000" cy="91986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20000"/>
              </a:lnSpc>
              <a:spcBef>
                <a:spcPct val="0"/>
              </a:spcBef>
            </a:pPr>
            <a:r>
              <a:rPr lang="en-US" altLang="zh-CN" sz="2400" b="1" dirty="0">
                <a:solidFill>
                  <a:schemeClr val="bg2"/>
                </a:solidFill>
              </a:rPr>
              <a:t>9.</a:t>
            </a:r>
            <a:r>
              <a:rPr lang="zh-CN" altLang="en-US" sz="2400" b="1" dirty="0">
                <a:solidFill>
                  <a:schemeClr val="bg2"/>
                </a:solidFill>
              </a:rPr>
              <a:t>检索</a:t>
            </a:r>
            <a:r>
              <a:rPr lang="zh-CN" altLang="en-US" sz="2400" b="1" dirty="0">
                <a:solidFill>
                  <a:srgbClr val="00B050"/>
                </a:solidFill>
              </a:rPr>
              <a:t>使用零件包含</a:t>
            </a:r>
            <a:r>
              <a:rPr lang="zh-CN" altLang="en-US" sz="2400" b="1" dirty="0">
                <a:solidFill>
                  <a:srgbClr val="FF0000"/>
                </a:solidFill>
              </a:rPr>
              <a:t>编号为</a:t>
            </a:r>
            <a:r>
              <a:rPr lang="en-US" altLang="zh-CN" sz="2400" b="1" dirty="0">
                <a:solidFill>
                  <a:srgbClr val="FF0000"/>
                </a:solidFill>
              </a:rPr>
              <a:t>S1</a:t>
            </a:r>
            <a:r>
              <a:rPr lang="zh-CN" altLang="en-US" sz="2400" b="1" dirty="0">
                <a:solidFill>
                  <a:srgbClr val="FF0000"/>
                </a:solidFill>
              </a:rPr>
              <a:t>的供应商所供应的全部零件</a:t>
            </a:r>
            <a:r>
              <a:rPr lang="zh-CN" altLang="en-US" sz="2400" b="1" dirty="0">
                <a:solidFill>
                  <a:srgbClr val="00B050"/>
                </a:solidFill>
              </a:rPr>
              <a:t>的工程</a:t>
            </a:r>
          </a:p>
          <a:p>
            <a:pPr algn="l">
              <a:lnSpc>
                <a:spcPct val="120000"/>
              </a:lnSpc>
              <a:spcBef>
                <a:spcPct val="0"/>
              </a:spcBef>
            </a:pPr>
            <a:r>
              <a:rPr lang="zh-CN" altLang="en-US" sz="2400" b="1" dirty="0">
                <a:solidFill>
                  <a:schemeClr val="bg2"/>
                </a:solidFill>
              </a:rPr>
              <a:t>  编号</a:t>
            </a:r>
            <a:r>
              <a:rPr lang="en-US" altLang="zh-CN" sz="2400" b="1" dirty="0">
                <a:solidFill>
                  <a:schemeClr val="bg2"/>
                </a:solidFill>
              </a:rPr>
              <a:t>JNO</a:t>
            </a:r>
            <a:r>
              <a:rPr lang="zh-CN" altLang="en-US" sz="2400" b="1" dirty="0">
                <a:solidFill>
                  <a:schemeClr val="bg2"/>
                </a:solidFill>
              </a:rPr>
              <a:t>。 </a:t>
            </a:r>
          </a:p>
        </p:txBody>
      </p:sp>
      <p:sp>
        <p:nvSpPr>
          <p:cNvPr id="23" name="Rectangle 10">
            <a:extLst>
              <a:ext uri="{FF2B5EF4-FFF2-40B4-BE49-F238E27FC236}">
                <a16:creationId xmlns:a16="http://schemas.microsoft.com/office/drawing/2014/main" id="{4ED291C0-BEC5-0E43-A81D-1F6B07C45A73}"/>
              </a:ext>
            </a:extLst>
          </p:cNvPr>
          <p:cNvSpPr>
            <a:spLocks noChangeArrowheads="1"/>
          </p:cNvSpPr>
          <p:nvPr/>
        </p:nvSpPr>
        <p:spPr bwMode="auto">
          <a:xfrm>
            <a:off x="323528" y="836116"/>
            <a:ext cx="9267826"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00000"/>
              </a:lnSpc>
              <a:spcBef>
                <a:spcPct val="0"/>
              </a:spcBef>
            </a:pPr>
            <a:r>
              <a:rPr lang="en-US" altLang="zh-CN" sz="2800" b="1" dirty="0">
                <a:solidFill>
                  <a:srgbClr val="660033"/>
                </a:solidFill>
              </a:rPr>
              <a:t> π</a:t>
            </a:r>
            <a:r>
              <a:rPr lang="en-US" altLang="zh-CN" sz="2800" b="1" baseline="-25000" dirty="0">
                <a:solidFill>
                  <a:srgbClr val="660033"/>
                </a:solidFill>
              </a:rPr>
              <a:t>JNO,PNO</a:t>
            </a:r>
            <a:r>
              <a:rPr lang="en-US" altLang="zh-CN" sz="2800" b="1" dirty="0">
                <a:solidFill>
                  <a:srgbClr val="660033"/>
                </a:solidFill>
              </a:rPr>
              <a:t>(</a:t>
            </a:r>
            <a:r>
              <a:rPr lang="en-US" altLang="zh-CN" sz="2800" b="1" dirty="0" err="1">
                <a:solidFill>
                  <a:srgbClr val="660033"/>
                </a:solidFill>
              </a:rPr>
              <a:t>σ</a:t>
            </a:r>
            <a:r>
              <a:rPr lang="en-US" altLang="zh-CN" sz="2800" b="1" baseline="-25000" dirty="0" err="1">
                <a:solidFill>
                  <a:srgbClr val="660033"/>
                </a:solidFill>
              </a:rPr>
              <a:t>SNO</a:t>
            </a:r>
            <a:r>
              <a:rPr lang="en-US" altLang="zh-CN" sz="2800" b="1" baseline="-25000" dirty="0">
                <a:solidFill>
                  <a:srgbClr val="660033"/>
                </a:solidFill>
              </a:rPr>
              <a:t>=‘S1’</a:t>
            </a:r>
            <a:r>
              <a:rPr lang="en-US" altLang="zh-CN" sz="2800" b="1" dirty="0">
                <a:solidFill>
                  <a:srgbClr val="660033"/>
                </a:solidFill>
              </a:rPr>
              <a:t>(SPJ))÷π</a:t>
            </a:r>
            <a:r>
              <a:rPr lang="en-US" altLang="zh-CN" sz="2800" b="1" baseline="-25000" dirty="0">
                <a:solidFill>
                  <a:srgbClr val="660033"/>
                </a:solidFill>
              </a:rPr>
              <a:t>PNO</a:t>
            </a:r>
            <a:r>
              <a:rPr lang="en-US" altLang="zh-CN" sz="2800" b="1" dirty="0">
                <a:solidFill>
                  <a:srgbClr val="660033"/>
                </a:solidFill>
              </a:rPr>
              <a:t>(</a:t>
            </a:r>
            <a:r>
              <a:rPr lang="en-US" altLang="zh-CN" sz="2800" b="1" dirty="0" err="1">
                <a:solidFill>
                  <a:srgbClr val="660033"/>
                </a:solidFill>
              </a:rPr>
              <a:t>σ</a:t>
            </a:r>
            <a:r>
              <a:rPr lang="en-US" altLang="zh-CN" sz="2800" b="1" baseline="-25000" dirty="0" err="1">
                <a:solidFill>
                  <a:srgbClr val="660033"/>
                </a:solidFill>
              </a:rPr>
              <a:t>SNO</a:t>
            </a:r>
            <a:r>
              <a:rPr lang="en-US" altLang="zh-CN" sz="2800" b="1" baseline="-25000" dirty="0">
                <a:solidFill>
                  <a:srgbClr val="660033"/>
                </a:solidFill>
              </a:rPr>
              <a:t>=‘S1’</a:t>
            </a:r>
            <a:r>
              <a:rPr lang="en-US" altLang="zh-CN" sz="2800" b="1" dirty="0">
                <a:solidFill>
                  <a:srgbClr val="660033"/>
                </a:solidFill>
              </a:rPr>
              <a:t>(SPJ))</a:t>
            </a:r>
          </a:p>
        </p:txBody>
      </p:sp>
      <p:graphicFrame>
        <p:nvGraphicFramePr>
          <p:cNvPr id="26" name="表格 3">
            <a:extLst>
              <a:ext uri="{FF2B5EF4-FFF2-40B4-BE49-F238E27FC236}">
                <a16:creationId xmlns:a16="http://schemas.microsoft.com/office/drawing/2014/main" id="{00EDF0A8-CF95-6D41-A7E1-B7CAC8D21F49}"/>
              </a:ext>
            </a:extLst>
          </p:cNvPr>
          <p:cNvGraphicFramePr>
            <a:graphicFrameLocks noGrp="1"/>
          </p:cNvGraphicFramePr>
          <p:nvPr>
            <p:extLst>
              <p:ext uri="{D42A27DB-BD31-4B8C-83A1-F6EECF244321}">
                <p14:modId xmlns:p14="http://schemas.microsoft.com/office/powerpoint/2010/main" val="3783940091"/>
              </p:ext>
            </p:extLst>
          </p:nvPr>
        </p:nvGraphicFramePr>
        <p:xfrm>
          <a:off x="2191593" y="5783664"/>
          <a:ext cx="4760814" cy="741680"/>
        </p:xfrm>
        <a:graphic>
          <a:graphicData uri="http://schemas.openxmlformats.org/drawingml/2006/table">
            <a:tbl>
              <a:tblPr firstRow="1" bandRow="1">
                <a:tableStyleId>{21E4AEA4-8DFA-4A89-87EB-49C32662AFE0}</a:tableStyleId>
              </a:tblPr>
              <a:tblGrid>
                <a:gridCol w="683568">
                  <a:extLst>
                    <a:ext uri="{9D8B030D-6E8A-4147-A177-3AD203B41FA5}">
                      <a16:colId xmlns:a16="http://schemas.microsoft.com/office/drawing/2014/main" val="2512462284"/>
                    </a:ext>
                  </a:extLst>
                </a:gridCol>
                <a:gridCol w="720080">
                  <a:extLst>
                    <a:ext uri="{9D8B030D-6E8A-4147-A177-3AD203B41FA5}">
                      <a16:colId xmlns:a16="http://schemas.microsoft.com/office/drawing/2014/main" val="1272611051"/>
                    </a:ext>
                  </a:extLst>
                </a:gridCol>
                <a:gridCol w="717850">
                  <a:extLst>
                    <a:ext uri="{9D8B030D-6E8A-4147-A177-3AD203B41FA5}">
                      <a16:colId xmlns:a16="http://schemas.microsoft.com/office/drawing/2014/main" val="1921172806"/>
                    </a:ext>
                  </a:extLst>
                </a:gridCol>
                <a:gridCol w="839910">
                  <a:extLst>
                    <a:ext uri="{9D8B030D-6E8A-4147-A177-3AD203B41FA5}">
                      <a16:colId xmlns:a16="http://schemas.microsoft.com/office/drawing/2014/main" val="799877525"/>
                    </a:ext>
                  </a:extLst>
                </a:gridCol>
                <a:gridCol w="1059017">
                  <a:extLst>
                    <a:ext uri="{9D8B030D-6E8A-4147-A177-3AD203B41FA5}">
                      <a16:colId xmlns:a16="http://schemas.microsoft.com/office/drawing/2014/main" val="936183447"/>
                    </a:ext>
                  </a:extLst>
                </a:gridCol>
                <a:gridCol w="740389">
                  <a:extLst>
                    <a:ext uri="{9D8B030D-6E8A-4147-A177-3AD203B41FA5}">
                      <a16:colId xmlns:a16="http://schemas.microsoft.com/office/drawing/2014/main" val="332626903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a:t>4</a:t>
                      </a:r>
                      <a:endParaRPr lang="zh-CN" altLang="en-US" dirty="0"/>
                    </a:p>
                  </a:txBody>
                  <a:tcPr/>
                </a:tc>
                <a:tc>
                  <a:txBody>
                    <a:bodyPr/>
                    <a:lstStyle/>
                    <a:p>
                      <a:pPr algn="ctr"/>
                      <a:r>
                        <a:rPr lang="en-US" altLang="zh-CN" dirty="0"/>
                        <a:t>5</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rPr>
                        <a:t>SPJ(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SNO,</a:t>
                      </a:r>
                      <a:endParaRPr lang="zh-CN" altLang="en-US" dirty="0"/>
                    </a:p>
                  </a:txBody>
                  <a:tcPr/>
                </a:tc>
                <a:tc>
                  <a:txBody>
                    <a:bodyPr/>
                    <a:lstStyle/>
                    <a:p>
                      <a:pPr algn="ctr"/>
                      <a:r>
                        <a:rPr lang="en-US" altLang="zh-CN" sz="1800" b="1" u="sng" dirty="0">
                          <a:solidFill>
                            <a:schemeClr val="bg2"/>
                          </a:solidFill>
                        </a:rPr>
                        <a:t>PNO,</a:t>
                      </a:r>
                      <a:endParaRPr lang="zh-CN" altLang="en-US" dirty="0"/>
                    </a:p>
                  </a:txBody>
                  <a:tcPr/>
                </a:tc>
                <a:tc>
                  <a:txBody>
                    <a:bodyPr/>
                    <a:lstStyle/>
                    <a:p>
                      <a:pPr algn="ctr"/>
                      <a:r>
                        <a:rPr lang="en-US" altLang="zh-CN" sz="1800" b="1" u="sng" dirty="0">
                          <a:solidFill>
                            <a:schemeClr val="bg2"/>
                          </a:solidFill>
                          <a:highlight>
                            <a:srgbClr val="FFFF00"/>
                          </a:highlight>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PRICE,</a:t>
                      </a:r>
                      <a:endParaRPr lang="zh-CN" altLang="en-US" dirty="0"/>
                    </a:p>
                  </a:txBody>
                  <a:tcPr/>
                </a:tc>
                <a:tc>
                  <a:txBody>
                    <a:bodyPr/>
                    <a:lstStyle/>
                    <a:p>
                      <a:pPr algn="ctr"/>
                      <a:r>
                        <a:rPr lang="en-US" altLang="zh-CN" sz="1800" b="1" dirty="0">
                          <a:solidFill>
                            <a:schemeClr val="bg2"/>
                          </a:solidFill>
                        </a:rPr>
                        <a:t>QTY)</a:t>
                      </a:r>
                      <a:endParaRPr lang="zh-CN" altLang="en-US" dirty="0"/>
                    </a:p>
                  </a:txBody>
                  <a:tcPr/>
                </a:tc>
                <a:extLst>
                  <a:ext uri="{0D108BD9-81ED-4DB2-BD59-A6C34878D82A}">
                    <a16:rowId xmlns:a16="http://schemas.microsoft.com/office/drawing/2014/main" val="553996634"/>
                  </a:ext>
                </a:extLst>
              </a:tr>
            </a:tbl>
          </a:graphicData>
        </a:graphic>
      </p:graphicFrame>
      <p:graphicFrame>
        <p:nvGraphicFramePr>
          <p:cNvPr id="27" name="表格 3">
            <a:extLst>
              <a:ext uri="{FF2B5EF4-FFF2-40B4-BE49-F238E27FC236}">
                <a16:creationId xmlns:a16="http://schemas.microsoft.com/office/drawing/2014/main" id="{B98E4DB3-7B34-0747-A2C6-F01F75CCB5FF}"/>
              </a:ext>
            </a:extLst>
          </p:cNvPr>
          <p:cNvGraphicFramePr>
            <a:graphicFrameLocks noGrp="1"/>
          </p:cNvGraphicFramePr>
          <p:nvPr>
            <p:extLst>
              <p:ext uri="{D42A27DB-BD31-4B8C-83A1-F6EECF244321}">
                <p14:modId xmlns:p14="http://schemas.microsoft.com/office/powerpoint/2010/main" val="3274503017"/>
              </p:ext>
            </p:extLst>
          </p:nvPr>
        </p:nvGraphicFramePr>
        <p:xfrm>
          <a:off x="1130844" y="4249142"/>
          <a:ext cx="2121498" cy="741680"/>
        </p:xfrm>
        <a:graphic>
          <a:graphicData uri="http://schemas.openxmlformats.org/drawingml/2006/table">
            <a:tbl>
              <a:tblPr firstRow="1" bandRow="1">
                <a:tableStyleId>{21E4AEA4-8DFA-4A89-87EB-49C32662AFE0}</a:tableStyleId>
              </a:tblPr>
              <a:tblGrid>
                <a:gridCol w="683568">
                  <a:extLst>
                    <a:ext uri="{9D8B030D-6E8A-4147-A177-3AD203B41FA5}">
                      <a16:colId xmlns:a16="http://schemas.microsoft.com/office/drawing/2014/main" val="2512462284"/>
                    </a:ext>
                  </a:extLst>
                </a:gridCol>
                <a:gridCol w="720080">
                  <a:extLst>
                    <a:ext uri="{9D8B030D-6E8A-4147-A177-3AD203B41FA5}">
                      <a16:colId xmlns:a16="http://schemas.microsoft.com/office/drawing/2014/main" val="1272611051"/>
                    </a:ext>
                  </a:extLst>
                </a:gridCol>
                <a:gridCol w="717850">
                  <a:extLst>
                    <a:ext uri="{9D8B030D-6E8A-4147-A177-3AD203B41FA5}">
                      <a16:colId xmlns:a16="http://schemas.microsoft.com/office/drawing/2014/main" val="1921172806"/>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rPr>
                        <a:t>(</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JNO,</a:t>
                      </a:r>
                      <a:endParaRPr lang="zh-CN" altLang="en-US" dirty="0"/>
                    </a:p>
                  </a:txBody>
                  <a:tcPr/>
                </a:tc>
                <a:tc>
                  <a:txBody>
                    <a:bodyPr/>
                    <a:lstStyle/>
                    <a:p>
                      <a:pPr algn="ctr"/>
                      <a:r>
                        <a:rPr lang="en-US" altLang="zh-CN" sz="1800" b="1" u="sng" dirty="0">
                          <a:solidFill>
                            <a:schemeClr val="bg2"/>
                          </a:solidFill>
                        </a:rPr>
                        <a:t>PNO</a:t>
                      </a:r>
                      <a:r>
                        <a:rPr lang="zh-CN" altLang="en-US" sz="1800" b="1" u="sng" dirty="0">
                          <a:solidFill>
                            <a:schemeClr val="bg2"/>
                          </a:solidFill>
                        </a:rPr>
                        <a:t>）</a:t>
                      </a:r>
                      <a:endParaRPr lang="zh-CN" altLang="en-US" dirty="0"/>
                    </a:p>
                  </a:txBody>
                  <a:tcPr/>
                </a:tc>
                <a:extLst>
                  <a:ext uri="{0D108BD9-81ED-4DB2-BD59-A6C34878D82A}">
                    <a16:rowId xmlns:a16="http://schemas.microsoft.com/office/drawing/2014/main" val="553996634"/>
                  </a:ext>
                </a:extLst>
              </a:tr>
            </a:tbl>
          </a:graphicData>
        </a:graphic>
      </p:graphicFrame>
      <p:graphicFrame>
        <p:nvGraphicFramePr>
          <p:cNvPr id="28" name="表格 3">
            <a:extLst>
              <a:ext uri="{FF2B5EF4-FFF2-40B4-BE49-F238E27FC236}">
                <a16:creationId xmlns:a16="http://schemas.microsoft.com/office/drawing/2014/main" id="{4421B96C-2919-C04E-A712-32A0A321CA4E}"/>
              </a:ext>
            </a:extLst>
          </p:cNvPr>
          <p:cNvGraphicFramePr>
            <a:graphicFrameLocks noGrp="1"/>
          </p:cNvGraphicFramePr>
          <p:nvPr>
            <p:extLst>
              <p:ext uri="{D42A27DB-BD31-4B8C-83A1-F6EECF244321}">
                <p14:modId xmlns:p14="http://schemas.microsoft.com/office/powerpoint/2010/main" val="60988249"/>
              </p:ext>
            </p:extLst>
          </p:nvPr>
        </p:nvGraphicFramePr>
        <p:xfrm>
          <a:off x="5978671" y="4249142"/>
          <a:ext cx="1401418" cy="741680"/>
        </p:xfrm>
        <a:graphic>
          <a:graphicData uri="http://schemas.openxmlformats.org/drawingml/2006/table">
            <a:tbl>
              <a:tblPr firstRow="1" bandRow="1">
                <a:tableStyleId>{21E4AEA4-8DFA-4A89-87EB-49C32662AFE0}</a:tableStyleId>
              </a:tblPr>
              <a:tblGrid>
                <a:gridCol w="683568">
                  <a:extLst>
                    <a:ext uri="{9D8B030D-6E8A-4147-A177-3AD203B41FA5}">
                      <a16:colId xmlns:a16="http://schemas.microsoft.com/office/drawing/2014/main" val="2512462284"/>
                    </a:ext>
                  </a:extLst>
                </a:gridCol>
                <a:gridCol w="717850">
                  <a:extLst>
                    <a:ext uri="{9D8B030D-6E8A-4147-A177-3AD203B41FA5}">
                      <a16:colId xmlns:a16="http://schemas.microsoft.com/office/drawing/2014/main" val="1921172806"/>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rPr>
                        <a:t>(</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PNO</a:t>
                      </a:r>
                      <a:r>
                        <a:rPr lang="zh-CN" altLang="en-US" sz="1800" b="1" u="sng" dirty="0">
                          <a:solidFill>
                            <a:schemeClr val="bg2"/>
                          </a:solidFill>
                        </a:rPr>
                        <a:t>）</a:t>
                      </a:r>
                      <a:endParaRPr lang="zh-CN" altLang="en-US" dirty="0"/>
                    </a:p>
                  </a:txBody>
                  <a:tcPr/>
                </a:tc>
                <a:extLst>
                  <a:ext uri="{0D108BD9-81ED-4DB2-BD59-A6C34878D82A}">
                    <a16:rowId xmlns:a16="http://schemas.microsoft.com/office/drawing/2014/main" val="553996634"/>
                  </a:ext>
                </a:extLst>
              </a:tr>
            </a:tbl>
          </a:graphicData>
        </a:graphic>
      </p:graphicFrame>
      <p:cxnSp>
        <p:nvCxnSpPr>
          <p:cNvPr id="29" name="直线箭头连接符 28">
            <a:extLst>
              <a:ext uri="{FF2B5EF4-FFF2-40B4-BE49-F238E27FC236}">
                <a16:creationId xmlns:a16="http://schemas.microsoft.com/office/drawing/2014/main" id="{5A21F70A-B6C3-604B-9115-0B9AB9FEAFB8}"/>
              </a:ext>
            </a:extLst>
          </p:cNvPr>
          <p:cNvCxnSpPr/>
          <p:nvPr/>
        </p:nvCxnSpPr>
        <p:spPr bwMode="auto">
          <a:xfrm flipH="1" flipV="1">
            <a:off x="2555776" y="4989351"/>
            <a:ext cx="2229148" cy="79431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0" name="直线箭头连接符 29">
            <a:extLst>
              <a:ext uri="{FF2B5EF4-FFF2-40B4-BE49-F238E27FC236}">
                <a16:creationId xmlns:a16="http://schemas.microsoft.com/office/drawing/2014/main" id="{98EDB568-8840-C347-9B24-B3808B964542}"/>
              </a:ext>
            </a:extLst>
          </p:cNvPr>
          <p:cNvCxnSpPr/>
          <p:nvPr/>
        </p:nvCxnSpPr>
        <p:spPr bwMode="auto">
          <a:xfrm flipV="1">
            <a:off x="4784924" y="4989351"/>
            <a:ext cx="1894456" cy="79431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nvGrpSpPr>
          <p:cNvPr id="39" name="组合 38">
            <a:extLst>
              <a:ext uri="{FF2B5EF4-FFF2-40B4-BE49-F238E27FC236}">
                <a16:creationId xmlns:a16="http://schemas.microsoft.com/office/drawing/2014/main" id="{E647C7E0-2D4F-9540-A500-EE01A8959730}"/>
              </a:ext>
            </a:extLst>
          </p:cNvPr>
          <p:cNvGrpSpPr/>
          <p:nvPr/>
        </p:nvGrpSpPr>
        <p:grpSpPr>
          <a:xfrm>
            <a:off x="467544" y="1446770"/>
            <a:ext cx="3960440" cy="2634819"/>
            <a:chOff x="467544" y="1446770"/>
            <a:chExt cx="3960440" cy="2634819"/>
          </a:xfrm>
        </p:grpSpPr>
        <p:sp>
          <p:nvSpPr>
            <p:cNvPr id="7" name="文本框 6">
              <a:extLst>
                <a:ext uri="{FF2B5EF4-FFF2-40B4-BE49-F238E27FC236}">
                  <a16:creationId xmlns:a16="http://schemas.microsoft.com/office/drawing/2014/main" id="{2B6CDBB3-7286-B146-B1E0-FD7FB9423C6D}"/>
                </a:ext>
              </a:extLst>
            </p:cNvPr>
            <p:cNvSpPr txBox="1"/>
            <p:nvPr/>
          </p:nvSpPr>
          <p:spPr>
            <a:xfrm>
              <a:off x="467544" y="3398325"/>
              <a:ext cx="3672408" cy="683264"/>
            </a:xfrm>
            <a:prstGeom prst="rect">
              <a:avLst/>
            </a:prstGeom>
            <a:noFill/>
            <a:ln w="38100">
              <a:solidFill>
                <a:srgbClr val="FF0000"/>
              </a:solidFill>
            </a:ln>
          </p:spPr>
          <p:txBody>
            <a:bodyPr wrap="square">
              <a:spAutoFit/>
            </a:bodyPr>
            <a:lstStyle/>
            <a:p>
              <a:pPr marL="342900" indent="-342900">
                <a:buFont typeface="+mj-ea"/>
                <a:buAutoNum type="circleNumDbPlain"/>
              </a:pPr>
              <a:r>
                <a:rPr lang="zh-CN" altLang="en-US" sz="2400" b="1" dirty="0">
                  <a:solidFill>
                    <a:schemeClr val="bg2"/>
                  </a:solidFill>
                </a:rPr>
                <a:t>工程使用</a:t>
              </a:r>
              <a:r>
                <a:rPr lang="en-US" altLang="zh-CN" sz="2400" b="1" dirty="0">
                  <a:solidFill>
                    <a:schemeClr val="bg2"/>
                  </a:solidFill>
                </a:rPr>
                <a:t>S1</a:t>
              </a:r>
              <a:r>
                <a:rPr lang="zh-CN" altLang="en-US" sz="2400" b="1" dirty="0">
                  <a:solidFill>
                    <a:schemeClr val="bg2"/>
                  </a:solidFill>
                </a:rPr>
                <a:t>供应商所提供的零件情况</a:t>
              </a:r>
              <a:endParaRPr lang="zh-CN" altLang="en-US" sz="2400" dirty="0"/>
            </a:p>
          </p:txBody>
        </p:sp>
        <p:cxnSp>
          <p:nvCxnSpPr>
            <p:cNvPr id="3" name="直线箭头连接符 2">
              <a:extLst>
                <a:ext uri="{FF2B5EF4-FFF2-40B4-BE49-F238E27FC236}">
                  <a16:creationId xmlns:a16="http://schemas.microsoft.com/office/drawing/2014/main" id="{88DC69F8-B3C1-DB40-8690-9F70CE0D1A70}"/>
                </a:ext>
              </a:extLst>
            </p:cNvPr>
            <p:cNvCxnSpPr/>
            <p:nvPr/>
          </p:nvCxnSpPr>
          <p:spPr bwMode="auto">
            <a:xfrm flipV="1">
              <a:off x="2411760" y="1446770"/>
              <a:ext cx="0" cy="1951555"/>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36" name="直线连接符 35">
              <a:extLst>
                <a:ext uri="{FF2B5EF4-FFF2-40B4-BE49-F238E27FC236}">
                  <a16:creationId xmlns:a16="http://schemas.microsoft.com/office/drawing/2014/main" id="{39CFF1D2-29B0-FC46-AD9F-16BF794957C0}"/>
                </a:ext>
              </a:extLst>
            </p:cNvPr>
            <p:cNvCxnSpPr/>
            <p:nvPr/>
          </p:nvCxnSpPr>
          <p:spPr bwMode="auto">
            <a:xfrm>
              <a:off x="683568" y="1446770"/>
              <a:ext cx="3744416" cy="0"/>
            </a:xfrm>
            <a:prstGeom prst="line">
              <a:avLst/>
            </a:prstGeom>
            <a:noFill/>
            <a:ln w="381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42" name="组合 41">
            <a:extLst>
              <a:ext uri="{FF2B5EF4-FFF2-40B4-BE49-F238E27FC236}">
                <a16:creationId xmlns:a16="http://schemas.microsoft.com/office/drawing/2014/main" id="{CB40B553-95E4-E547-BABD-D267A0839FE1}"/>
              </a:ext>
            </a:extLst>
          </p:cNvPr>
          <p:cNvGrpSpPr/>
          <p:nvPr/>
        </p:nvGrpSpPr>
        <p:grpSpPr>
          <a:xfrm>
            <a:off x="4788024" y="1429630"/>
            <a:ext cx="3672408" cy="2681167"/>
            <a:chOff x="4788024" y="1429630"/>
            <a:chExt cx="3672408" cy="2681167"/>
          </a:xfrm>
        </p:grpSpPr>
        <p:sp>
          <p:nvSpPr>
            <p:cNvPr id="24" name="文本框 23">
              <a:extLst>
                <a:ext uri="{FF2B5EF4-FFF2-40B4-BE49-F238E27FC236}">
                  <a16:creationId xmlns:a16="http://schemas.microsoft.com/office/drawing/2014/main" id="{D50F617B-2DA7-AE4D-9964-DEE9BD43E7A4}"/>
                </a:ext>
              </a:extLst>
            </p:cNvPr>
            <p:cNvSpPr txBox="1"/>
            <p:nvPr/>
          </p:nvSpPr>
          <p:spPr>
            <a:xfrm>
              <a:off x="4788024" y="3427533"/>
              <a:ext cx="3672408" cy="683264"/>
            </a:xfrm>
            <a:prstGeom prst="rect">
              <a:avLst/>
            </a:prstGeom>
            <a:noFill/>
            <a:ln w="38100">
              <a:solidFill>
                <a:srgbClr val="FF0000"/>
              </a:solidFill>
            </a:ln>
          </p:spPr>
          <p:txBody>
            <a:bodyPr wrap="square">
              <a:spAutoFit/>
            </a:bodyPr>
            <a:lstStyle/>
            <a:p>
              <a:pPr marL="457200" indent="-457200">
                <a:buFont typeface="+mj-ea"/>
                <a:buAutoNum type="circleNumDbPlain" startAt="2"/>
              </a:pPr>
              <a:r>
                <a:rPr lang="zh-CN" altLang="en-US" sz="2400" b="1" dirty="0">
                  <a:solidFill>
                    <a:schemeClr val="bg2"/>
                  </a:solidFill>
                </a:rPr>
                <a:t>编号为</a:t>
              </a:r>
              <a:r>
                <a:rPr lang="en-US" altLang="zh-CN" sz="2400" b="1" dirty="0">
                  <a:solidFill>
                    <a:schemeClr val="bg2"/>
                  </a:solidFill>
                </a:rPr>
                <a:t>S1</a:t>
              </a:r>
              <a:r>
                <a:rPr lang="zh-CN" altLang="en-US" sz="2400" b="1" dirty="0">
                  <a:solidFill>
                    <a:schemeClr val="bg2"/>
                  </a:solidFill>
                </a:rPr>
                <a:t>的供应商所供应的全部零件情况</a:t>
              </a:r>
              <a:endParaRPr lang="zh-CN" altLang="en-US" sz="2400" dirty="0"/>
            </a:p>
          </p:txBody>
        </p:sp>
        <p:cxnSp>
          <p:nvCxnSpPr>
            <p:cNvPr id="25" name="直线箭头连接符 24">
              <a:extLst>
                <a:ext uri="{FF2B5EF4-FFF2-40B4-BE49-F238E27FC236}">
                  <a16:creationId xmlns:a16="http://schemas.microsoft.com/office/drawing/2014/main" id="{53562360-0141-764E-B6E0-A9854B211971}"/>
                </a:ext>
              </a:extLst>
            </p:cNvPr>
            <p:cNvCxnSpPr/>
            <p:nvPr/>
          </p:nvCxnSpPr>
          <p:spPr bwMode="auto">
            <a:xfrm flipV="1">
              <a:off x="6679380" y="1429630"/>
              <a:ext cx="0" cy="1997903"/>
            </a:xfrm>
            <a:prstGeom prst="straightConnector1">
              <a:avLst/>
            </a:prstGeom>
            <a:noFill/>
            <a:ln w="28575" cap="flat" cmpd="sng" algn="ctr">
              <a:solidFill>
                <a:srgbClr val="FF0000"/>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40" name="直线连接符 39">
              <a:extLst>
                <a:ext uri="{FF2B5EF4-FFF2-40B4-BE49-F238E27FC236}">
                  <a16:creationId xmlns:a16="http://schemas.microsoft.com/office/drawing/2014/main" id="{BFA56E10-264A-5F49-B9FD-C6226F2F30CA}"/>
                </a:ext>
              </a:extLst>
            </p:cNvPr>
            <p:cNvCxnSpPr/>
            <p:nvPr/>
          </p:nvCxnSpPr>
          <p:spPr bwMode="auto">
            <a:xfrm flipV="1">
              <a:off x="5061272" y="1429630"/>
              <a:ext cx="3236217" cy="13257"/>
            </a:xfrm>
            <a:prstGeom prst="line">
              <a:avLst/>
            </a:prstGeom>
            <a:noFill/>
            <a:ln w="381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49" name="组合 48">
            <a:extLst>
              <a:ext uri="{FF2B5EF4-FFF2-40B4-BE49-F238E27FC236}">
                <a16:creationId xmlns:a16="http://schemas.microsoft.com/office/drawing/2014/main" id="{08807E57-4303-7C4B-BE57-367E811ED12D}"/>
              </a:ext>
            </a:extLst>
          </p:cNvPr>
          <p:cNvGrpSpPr/>
          <p:nvPr/>
        </p:nvGrpSpPr>
        <p:grpSpPr>
          <a:xfrm>
            <a:off x="2735796" y="1440389"/>
            <a:ext cx="3672408" cy="1733439"/>
            <a:chOff x="2735796" y="1440389"/>
            <a:chExt cx="3672408" cy="1733439"/>
          </a:xfrm>
        </p:grpSpPr>
        <p:sp>
          <p:nvSpPr>
            <p:cNvPr id="31" name="文本框 30">
              <a:extLst>
                <a:ext uri="{FF2B5EF4-FFF2-40B4-BE49-F238E27FC236}">
                  <a16:creationId xmlns:a16="http://schemas.microsoft.com/office/drawing/2014/main" id="{517C6A6E-4785-464B-B419-B8EA7C992FFD}"/>
                </a:ext>
              </a:extLst>
            </p:cNvPr>
            <p:cNvSpPr txBox="1"/>
            <p:nvPr/>
          </p:nvSpPr>
          <p:spPr>
            <a:xfrm>
              <a:off x="2735796" y="2195099"/>
              <a:ext cx="3672408" cy="978729"/>
            </a:xfrm>
            <a:prstGeom prst="rect">
              <a:avLst/>
            </a:prstGeom>
            <a:noFill/>
            <a:ln w="38100">
              <a:solidFill>
                <a:srgbClr val="00B050"/>
              </a:solidFill>
            </a:ln>
          </p:spPr>
          <p:txBody>
            <a:bodyPr wrap="square">
              <a:spAutoFit/>
            </a:bodyPr>
            <a:lstStyle/>
            <a:p>
              <a:pPr marL="457200" indent="-457200">
                <a:buFont typeface="+mj-ea"/>
                <a:buAutoNum type="circleNumDbPlain" startAt="3"/>
              </a:pPr>
              <a:r>
                <a:rPr lang="zh-CN" altLang="en-US" sz="2400" b="1" dirty="0">
                  <a:solidFill>
                    <a:schemeClr val="bg2"/>
                  </a:solidFill>
                </a:rPr>
                <a:t>使用零件包含编号为</a:t>
              </a:r>
              <a:r>
                <a:rPr lang="en-US" altLang="zh-CN" sz="2400" b="1" dirty="0">
                  <a:solidFill>
                    <a:schemeClr val="bg2"/>
                  </a:solidFill>
                </a:rPr>
                <a:t>S1</a:t>
              </a:r>
              <a:r>
                <a:rPr lang="zh-CN" altLang="en-US" sz="2400" b="1" dirty="0">
                  <a:solidFill>
                    <a:schemeClr val="bg2"/>
                  </a:solidFill>
                </a:rPr>
                <a:t>的供应商所供应的全部零件的工程编号</a:t>
              </a:r>
              <a:endParaRPr lang="zh-CN" altLang="en-US" sz="2400" dirty="0"/>
            </a:p>
          </p:txBody>
        </p:sp>
        <p:cxnSp>
          <p:nvCxnSpPr>
            <p:cNvPr id="32" name="直线箭头连接符 31">
              <a:extLst>
                <a:ext uri="{FF2B5EF4-FFF2-40B4-BE49-F238E27FC236}">
                  <a16:creationId xmlns:a16="http://schemas.microsoft.com/office/drawing/2014/main" id="{04861D56-AC1F-AC49-94F5-588EE3E6C607}"/>
                </a:ext>
              </a:extLst>
            </p:cNvPr>
            <p:cNvCxnSpPr/>
            <p:nvPr/>
          </p:nvCxnSpPr>
          <p:spPr bwMode="auto">
            <a:xfrm flipV="1">
              <a:off x="4776341" y="1760918"/>
              <a:ext cx="8583" cy="434181"/>
            </a:xfrm>
            <a:prstGeom prst="straightConnector1">
              <a:avLst/>
            </a:prstGeom>
            <a:noFill/>
            <a:ln w="28575" cap="flat" cmpd="sng" algn="ctr">
              <a:solidFill>
                <a:srgbClr val="00B050"/>
              </a:solidFill>
              <a:prstDash val="solid"/>
              <a:round/>
              <a:headEnd type="none" w="med" len="med"/>
              <a:tailEnd type="arrow"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sp>
          <p:nvSpPr>
            <p:cNvPr id="44" name="右大括号 43">
              <a:extLst>
                <a:ext uri="{FF2B5EF4-FFF2-40B4-BE49-F238E27FC236}">
                  <a16:creationId xmlns:a16="http://schemas.microsoft.com/office/drawing/2014/main" id="{5897B54A-0DB5-4249-9F03-2402DDCF0C4B}"/>
                </a:ext>
              </a:extLst>
            </p:cNvPr>
            <p:cNvSpPr/>
            <p:nvPr/>
          </p:nvSpPr>
          <p:spPr bwMode="auto">
            <a:xfrm rot="5400000">
              <a:off x="4477691" y="884633"/>
              <a:ext cx="558943" cy="1670455"/>
            </a:xfrm>
            <a:prstGeom prst="rightBrace">
              <a:avLst>
                <a:gd name="adj1" fmla="val 0"/>
                <a:gd name="adj2" fmla="val 48810"/>
              </a:avLst>
            </a:prstGeom>
            <a:noFill/>
            <a:ln w="38100" cap="flat" cmpd="sng" algn="ctr">
              <a:solidFill>
                <a:srgbClr val="00B05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grpSp>
    </p:spTree>
    <p:extLst>
      <p:ext uri="{BB962C8B-B14F-4D97-AF65-F5344CB8AC3E}">
        <p14:creationId xmlns:p14="http://schemas.microsoft.com/office/powerpoint/2010/main" val="3968052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blinds(horizontal)">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39"/>
                                        </p:tgtEl>
                                        <p:attrNameLst>
                                          <p:attrName>style.visibility</p:attrName>
                                        </p:attrNameLst>
                                      </p:cBhvr>
                                      <p:to>
                                        <p:strVal val="visible"/>
                                      </p:to>
                                    </p:se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nodeType="clickEffect">
                                  <p:stCondLst>
                                    <p:cond delay="0"/>
                                  </p:stCondLst>
                                  <p:childTnLst>
                                    <p:set>
                                      <p:cBhvr>
                                        <p:cTn id="15" dur="1" fill="hold">
                                          <p:stCondLst>
                                            <p:cond delay="0"/>
                                          </p:stCondLst>
                                        </p:cTn>
                                        <p:tgtEl>
                                          <p:spTgt spid="26"/>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1" presetClass="entr" presetSubtype="0" fill="hold" nodeType="click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nodeType="clickEffect">
                                  <p:stCondLst>
                                    <p:cond delay="0"/>
                                  </p:stCondLst>
                                  <p:childTnLst>
                                    <p:set>
                                      <p:cBhvr>
                                        <p:cTn id="23" dur="1" fill="hold">
                                          <p:stCondLst>
                                            <p:cond delay="0"/>
                                          </p:stCondLst>
                                        </p:cTn>
                                        <p:tgtEl>
                                          <p:spTgt spid="27"/>
                                        </p:tgtEl>
                                        <p:attrNameLst>
                                          <p:attrName>style.visibility</p:attrName>
                                        </p:attrNameLst>
                                      </p:cBhvr>
                                      <p:to>
                                        <p:strVal val="visible"/>
                                      </p:to>
                                    </p:set>
                                  </p:childTnLst>
                                </p:cTn>
                              </p:par>
                            </p:childTnLst>
                          </p:cTn>
                        </p:par>
                      </p:childTnLst>
                    </p:cTn>
                  </p:par>
                  <p:par>
                    <p:cTn id="24" fill="hold">
                      <p:stCondLst>
                        <p:cond delay="indefinite"/>
                      </p:stCondLst>
                      <p:childTnLst>
                        <p:par>
                          <p:cTn id="25" fill="hold">
                            <p:stCondLst>
                              <p:cond delay="0"/>
                            </p:stCondLst>
                            <p:childTnLst>
                              <p:par>
                                <p:cTn id="26" presetID="1" presetClass="entr" presetSubtype="0" fill="hold" nodeType="clickEffect">
                                  <p:stCondLst>
                                    <p:cond delay="0"/>
                                  </p:stCondLst>
                                  <p:childTnLst>
                                    <p:set>
                                      <p:cBhvr>
                                        <p:cTn id="27" dur="1" fill="hold">
                                          <p:stCondLst>
                                            <p:cond delay="0"/>
                                          </p:stCondLst>
                                        </p:cTn>
                                        <p:tgtEl>
                                          <p:spTgt spid="42"/>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nodeType="clickEffect">
                                  <p:stCondLst>
                                    <p:cond delay="0"/>
                                  </p:stCondLst>
                                  <p:childTnLst>
                                    <p:set>
                                      <p:cBhvr>
                                        <p:cTn id="31" dur="1" fill="hold">
                                          <p:stCondLst>
                                            <p:cond delay="0"/>
                                          </p:stCondLst>
                                        </p:cTn>
                                        <p:tgtEl>
                                          <p:spTgt spid="30"/>
                                        </p:tgtEl>
                                        <p:attrNameLst>
                                          <p:attrName>style.visibility</p:attrName>
                                        </p:attrNameLst>
                                      </p:cBhvr>
                                      <p:to>
                                        <p:strVal val="visible"/>
                                      </p:to>
                                    </p:set>
                                  </p:childTnLst>
                                </p:cTn>
                              </p:par>
                              <p:par>
                                <p:cTn id="32" presetID="1" presetClass="entr" presetSubtype="0" fill="hold" nodeType="withEffect">
                                  <p:stCondLst>
                                    <p:cond delay="0"/>
                                  </p:stCondLst>
                                  <p:childTnLst>
                                    <p:set>
                                      <p:cBhvr>
                                        <p:cTn id="33" dur="1" fill="hold">
                                          <p:stCondLst>
                                            <p:cond delay="0"/>
                                          </p:stCondLst>
                                        </p:cTn>
                                        <p:tgtEl>
                                          <p:spTgt spid="28"/>
                                        </p:tgtEl>
                                        <p:attrNameLst>
                                          <p:attrName>style.visibility</p:attrName>
                                        </p:attrNameLst>
                                      </p:cBhvr>
                                      <p:to>
                                        <p:strVal val="visible"/>
                                      </p:to>
                                    </p:set>
                                  </p:childTnLst>
                                </p:cTn>
                              </p:par>
                            </p:childTnLst>
                          </p:cTn>
                        </p:par>
                      </p:childTnLst>
                    </p:cTn>
                  </p:par>
                  <p:par>
                    <p:cTn id="34" fill="hold">
                      <p:stCondLst>
                        <p:cond delay="indefinite"/>
                      </p:stCondLst>
                      <p:childTnLst>
                        <p:par>
                          <p:cTn id="35" fill="hold">
                            <p:stCondLst>
                              <p:cond delay="0"/>
                            </p:stCondLst>
                            <p:childTnLst>
                              <p:par>
                                <p:cTn id="36" presetID="1" presetClass="entr" presetSubtype="0" fill="hold" nodeType="clickEffect">
                                  <p:stCondLst>
                                    <p:cond delay="0"/>
                                  </p:stCondLst>
                                  <p:childTnLst>
                                    <p:set>
                                      <p:cBhvr>
                                        <p:cTn id="37" dur="1" fill="hold">
                                          <p:stCondLst>
                                            <p:cond delay="0"/>
                                          </p:stCondLst>
                                        </p:cTn>
                                        <p:tgtEl>
                                          <p:spTgt spid="4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09300" name="Group 20"/>
          <p:cNvGrpSpPr>
            <a:grpSpLocks/>
          </p:cNvGrpSpPr>
          <p:nvPr/>
        </p:nvGrpSpPr>
        <p:grpSpPr bwMode="auto">
          <a:xfrm>
            <a:off x="76200" y="336550"/>
            <a:ext cx="9144000" cy="6592888"/>
            <a:chOff x="114" y="212"/>
            <a:chExt cx="5760" cy="4153"/>
          </a:xfrm>
        </p:grpSpPr>
        <p:sp>
          <p:nvSpPr>
            <p:cNvPr id="609282" name="Rectangle 2"/>
            <p:cNvSpPr>
              <a:spLocks noChangeArrowheads="1"/>
            </p:cNvSpPr>
            <p:nvPr/>
          </p:nvSpPr>
          <p:spPr bwMode="auto">
            <a:xfrm>
              <a:off x="114" y="212"/>
              <a:ext cx="5760" cy="415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476250" eaLnBrk="0" hangingPunct="0">
                <a:lnSpc>
                  <a:spcPct val="150000"/>
                </a:lnSpc>
              </a:pPr>
              <a:r>
                <a:rPr lang="zh-CN" altLang="en-US" sz="3200" b="1" kern="0" dirty="0">
                  <a:solidFill>
                    <a:srgbClr val="000099"/>
                  </a:solidFill>
                  <a:latin typeface="+mn-lt"/>
                  <a:ea typeface="+mn-ea"/>
                </a:rPr>
                <a:t>五、扩充的关系代数操作 </a:t>
              </a:r>
            </a:p>
            <a:p>
              <a:pPr indent="476250" eaLnBrk="0" hangingPunct="0">
                <a:lnSpc>
                  <a:spcPct val="150000"/>
                </a:lnSpc>
              </a:pPr>
              <a:r>
                <a:rPr lang="en-US" altLang="zh-CN" sz="2800" b="1" dirty="0">
                  <a:solidFill>
                    <a:schemeClr val="bg2"/>
                  </a:solidFill>
                  <a:cs typeface="Courier New" pitchFamily="49" charset="0"/>
                </a:rPr>
                <a:t>1.</a:t>
              </a:r>
              <a:r>
                <a:rPr lang="zh-CN" altLang="en-US" sz="2800" b="1" dirty="0">
                  <a:solidFill>
                    <a:schemeClr val="bg2"/>
                  </a:solidFill>
                  <a:cs typeface="Courier New" pitchFamily="49" charset="0"/>
                  <a:hlinkClick r:id="rId2" action="ppaction://hlinksldjump"/>
                </a:rPr>
                <a:t>外联接</a:t>
              </a:r>
              <a:r>
                <a:rPr lang="zh-CN" altLang="en-US" sz="2800" b="1" dirty="0">
                  <a:solidFill>
                    <a:schemeClr val="bg2"/>
                  </a:solidFill>
                  <a:cs typeface="Courier New" pitchFamily="49" charset="0"/>
                </a:rPr>
                <a:t>（</a:t>
              </a:r>
              <a:r>
                <a:rPr lang="en-US" altLang="zh-CN" sz="2800" b="1" dirty="0">
                  <a:solidFill>
                    <a:schemeClr val="bg2"/>
                  </a:solidFill>
                  <a:cs typeface="Courier New" pitchFamily="49" charset="0"/>
                </a:rPr>
                <a:t>outer join</a:t>
              </a:r>
              <a:r>
                <a:rPr lang="zh-CN" altLang="en-US" sz="2800" b="1" dirty="0">
                  <a:solidFill>
                    <a:schemeClr val="bg2"/>
                  </a:solidFill>
                  <a:cs typeface="Courier New" pitchFamily="49" charset="0"/>
                </a:rPr>
                <a:t>）</a:t>
              </a:r>
            </a:p>
            <a:p>
              <a:pPr indent="476250" eaLnBrk="0" hangingPunct="0">
                <a:lnSpc>
                  <a:spcPct val="150000"/>
                </a:lnSpc>
              </a:pPr>
              <a:r>
                <a:rPr lang="zh-CN" altLang="en-US" sz="2800" b="1" dirty="0">
                  <a:solidFill>
                    <a:schemeClr val="bg2"/>
                  </a:solidFill>
                </a:rPr>
                <a:t>  </a:t>
              </a:r>
              <a:r>
                <a:rPr lang="en-US" altLang="zh-CN" sz="2800" b="1" dirty="0">
                  <a:solidFill>
                    <a:schemeClr val="bg2"/>
                  </a:solidFill>
                </a:rPr>
                <a:t>R</a:t>
              </a:r>
              <a:r>
                <a:rPr lang="en-US" altLang="zh-CN" sz="2800" b="1" baseline="-30000" dirty="0">
                  <a:solidFill>
                    <a:schemeClr val="bg2"/>
                  </a:solidFill>
                </a:rPr>
                <a:t> </a:t>
              </a:r>
              <a:r>
                <a:rPr lang="en-US" altLang="zh-CN" sz="3600" b="1" dirty="0">
                  <a:solidFill>
                    <a:schemeClr val="bg2"/>
                  </a:solidFill>
                  <a:latin typeface="Times New Roman" pitchFamily="18" charset="0"/>
                </a:rPr>
                <a:t>⋈</a:t>
              </a:r>
              <a:r>
                <a:rPr lang="en-US" altLang="zh-CN" sz="2800" b="1" baseline="-30000" dirty="0">
                  <a:solidFill>
                    <a:schemeClr val="bg2"/>
                  </a:solidFill>
                </a:rPr>
                <a:t> </a:t>
              </a:r>
              <a:r>
                <a:rPr lang="en-US" altLang="zh-CN" sz="2800" b="1" dirty="0">
                  <a:solidFill>
                    <a:schemeClr val="bg2"/>
                  </a:solidFill>
                </a:rPr>
                <a:t>S≡π</a:t>
              </a:r>
              <a:r>
                <a:rPr lang="en-US" altLang="zh-CN" sz="2800" b="1" baseline="-25000" dirty="0">
                  <a:solidFill>
                    <a:schemeClr val="bg2"/>
                  </a:solidFill>
                </a:rPr>
                <a:t>i1,...</a:t>
              </a:r>
              <a:r>
                <a:rPr lang="en-US" altLang="zh-CN" sz="2800" b="1" baseline="-25000" dirty="0" err="1">
                  <a:solidFill>
                    <a:schemeClr val="bg2"/>
                  </a:solidFill>
                </a:rPr>
                <a:t>im</a:t>
              </a:r>
              <a:r>
                <a:rPr lang="en-US" altLang="zh-CN" sz="2800" b="1" dirty="0">
                  <a:solidFill>
                    <a:schemeClr val="bg2"/>
                  </a:solidFill>
                </a:rPr>
                <a:t>(σ</a:t>
              </a:r>
              <a:r>
                <a:rPr lang="en-US" altLang="zh-CN" sz="2800" b="1" baseline="-25000" dirty="0">
                  <a:solidFill>
                    <a:schemeClr val="bg2"/>
                  </a:solidFill>
                </a:rPr>
                <a:t>R.A1=S.A1∧... ∧R.AK=S.AK</a:t>
              </a:r>
              <a:r>
                <a:rPr lang="en-US" altLang="zh-CN" sz="2800" b="1" dirty="0">
                  <a:solidFill>
                    <a:schemeClr val="bg2"/>
                  </a:solidFill>
                </a:rPr>
                <a:t>(R×S))</a:t>
              </a:r>
            </a:p>
            <a:p>
              <a:pPr indent="476250" eaLnBrk="0" hangingPunct="0">
                <a:lnSpc>
                  <a:spcPct val="200000"/>
                </a:lnSpc>
              </a:pPr>
              <a:r>
                <a:rPr lang="zh-CN" altLang="en-US" sz="2400" b="1" dirty="0">
                  <a:solidFill>
                    <a:schemeClr val="bg2"/>
                  </a:solidFill>
                </a:rPr>
                <a:t>在</a:t>
              </a:r>
              <a:r>
                <a:rPr lang="en-US" altLang="zh-CN" sz="2400" b="1" dirty="0">
                  <a:solidFill>
                    <a:schemeClr val="bg2"/>
                  </a:solidFill>
                </a:rPr>
                <a:t>R</a:t>
              </a:r>
              <a:r>
                <a:rPr lang="zh-CN" altLang="en-US" sz="2400" b="1" dirty="0">
                  <a:solidFill>
                    <a:schemeClr val="bg2"/>
                  </a:solidFill>
                </a:rPr>
                <a:t>和</a:t>
              </a:r>
              <a:r>
                <a:rPr lang="en-US" altLang="zh-CN" sz="2400" b="1" dirty="0">
                  <a:solidFill>
                    <a:schemeClr val="bg2"/>
                  </a:solidFill>
                </a:rPr>
                <a:t>S</a:t>
              </a:r>
              <a:r>
                <a:rPr lang="zh-CN" altLang="en-US" sz="2400" b="1" dirty="0">
                  <a:solidFill>
                    <a:schemeClr val="bg2"/>
                  </a:solidFill>
                </a:rPr>
                <a:t>做</a:t>
              </a:r>
              <a:r>
                <a:rPr lang="zh-CN" altLang="en-US" sz="2400" b="1" dirty="0">
                  <a:solidFill>
                    <a:schemeClr val="bg2"/>
                  </a:solidFill>
                  <a:hlinkClick r:id="rId3" action="ppaction://hlinksldjump"/>
                </a:rPr>
                <a:t>自然联接</a:t>
              </a:r>
              <a:r>
                <a:rPr lang="zh-CN" altLang="en-US" sz="2400" b="1" dirty="0">
                  <a:solidFill>
                    <a:schemeClr val="bg2"/>
                  </a:solidFill>
                </a:rPr>
                <a:t>时，把原该舍弃的元组也保留在新关系中，同时在这些元组</a:t>
              </a:r>
              <a:r>
                <a:rPr lang="zh-CN" altLang="en-US" sz="2400" b="1" u="sng" dirty="0">
                  <a:solidFill>
                    <a:schemeClr val="bg2"/>
                  </a:solidFill>
                </a:rPr>
                <a:t>新增加的属性上</a:t>
              </a:r>
              <a:r>
                <a:rPr lang="zh-CN" altLang="en-US" sz="2400" b="1" dirty="0">
                  <a:solidFill>
                    <a:schemeClr val="bg2"/>
                  </a:solidFill>
                </a:rPr>
                <a:t>填上空值（</a:t>
              </a:r>
              <a:r>
                <a:rPr lang="en-US" altLang="zh-CN" sz="2400" b="1" dirty="0">
                  <a:solidFill>
                    <a:schemeClr val="bg2"/>
                  </a:solidFill>
                </a:rPr>
                <a:t>null</a:t>
              </a:r>
              <a:r>
                <a:rPr lang="zh-CN" altLang="en-US" sz="2400" b="1" dirty="0">
                  <a:solidFill>
                    <a:schemeClr val="bg2"/>
                  </a:solidFill>
                </a:rPr>
                <a:t>），这种操作称为</a:t>
              </a:r>
              <a:r>
                <a:rPr lang="zh-CN" altLang="en-US" sz="2400" b="1" dirty="0">
                  <a:solidFill>
                    <a:schemeClr val="bg2"/>
                  </a:solidFill>
                  <a:latin typeface="Times New Roman"/>
                </a:rPr>
                <a:t>“</a:t>
              </a:r>
              <a:r>
                <a:rPr lang="zh-CN" altLang="en-US" sz="2400" b="1" dirty="0">
                  <a:solidFill>
                    <a:schemeClr val="bg2"/>
                  </a:solidFill>
                </a:rPr>
                <a:t>外联接</a:t>
              </a:r>
              <a:r>
                <a:rPr lang="zh-CN" altLang="en-US" sz="2400" b="1" dirty="0">
                  <a:solidFill>
                    <a:schemeClr val="bg2"/>
                  </a:solidFill>
                  <a:latin typeface="Times New Roman"/>
                </a:rPr>
                <a:t>”</a:t>
              </a:r>
              <a:r>
                <a:rPr lang="zh-CN" altLang="en-US" sz="2400" b="1" dirty="0">
                  <a:solidFill>
                    <a:schemeClr val="bg2"/>
                  </a:solidFill>
                </a:rPr>
                <a:t>操作，用符号</a:t>
              </a:r>
              <a:r>
                <a:rPr lang="en-US" altLang="zh-CN" sz="2400" b="1" dirty="0">
                  <a:solidFill>
                    <a:schemeClr val="bg2"/>
                  </a:solidFill>
                  <a:cs typeface="Times New Roman" pitchFamily="18" charset="0"/>
                </a:rPr>
                <a:t>R      S</a:t>
              </a:r>
              <a:r>
                <a:rPr lang="zh-CN" altLang="en-US" sz="2400" b="1" dirty="0">
                  <a:solidFill>
                    <a:schemeClr val="bg2"/>
                  </a:solidFill>
                  <a:cs typeface="Times New Roman" pitchFamily="18" charset="0"/>
                </a:rPr>
                <a:t>表示。</a:t>
              </a:r>
              <a:endParaRPr lang="zh-CN" altLang="en-US" sz="2800" b="1" dirty="0">
                <a:solidFill>
                  <a:schemeClr val="bg2"/>
                </a:solidFill>
              </a:endParaRPr>
            </a:p>
            <a:p>
              <a:pPr indent="476250" eaLnBrk="0" hangingPunct="0">
                <a:lnSpc>
                  <a:spcPct val="150000"/>
                </a:lnSpc>
              </a:pPr>
              <a:endParaRPr lang="zh-CN" altLang="en-US" sz="2400" b="1" dirty="0">
                <a:solidFill>
                  <a:schemeClr val="bg2"/>
                </a:solidFill>
                <a:cs typeface="Courier New" pitchFamily="49" charset="0"/>
              </a:endParaRPr>
            </a:p>
            <a:p>
              <a:pPr indent="476250" eaLnBrk="0" hangingPunct="0">
                <a:lnSpc>
                  <a:spcPct val="150000"/>
                </a:lnSpc>
              </a:pPr>
              <a:endParaRPr lang="en-US" altLang="zh-CN" sz="2400" b="1" dirty="0">
                <a:solidFill>
                  <a:schemeClr val="bg2"/>
                </a:solidFill>
              </a:endParaRPr>
            </a:p>
          </p:txBody>
        </p:sp>
        <p:grpSp>
          <p:nvGrpSpPr>
            <p:cNvPr id="609283" name="Group 3"/>
            <p:cNvGrpSpPr>
              <a:grpSpLocks/>
            </p:cNvGrpSpPr>
            <p:nvPr/>
          </p:nvGrpSpPr>
          <p:grpSpPr bwMode="auto">
            <a:xfrm>
              <a:off x="2210" y="3151"/>
              <a:ext cx="398" cy="122"/>
              <a:chOff x="6405" y="8304"/>
              <a:chExt cx="472" cy="164"/>
            </a:xfrm>
          </p:grpSpPr>
          <p:sp>
            <p:nvSpPr>
              <p:cNvPr id="609284" name="AutoShape 4"/>
              <p:cNvSpPr>
                <a:spLocks noChangeArrowheads="1"/>
              </p:cNvSpPr>
              <p:nvPr/>
            </p:nvSpPr>
            <p:spPr bwMode="auto">
              <a:xfrm rot="16200000">
                <a:off x="6694" y="8285"/>
                <a:ext cx="156" cy="210"/>
              </a:xfrm>
              <a:prstGeom prst="flowChartCollate">
                <a:avLst/>
              </a:prstGeom>
              <a:solidFill>
                <a:srgbClr val="FFFFFF"/>
              </a:solidFill>
              <a:ln w="9525">
                <a:solidFill>
                  <a:schemeClr val="tx1"/>
                </a:solidFill>
                <a:miter lim="800000"/>
                <a:headEnd/>
                <a:tailEnd/>
              </a:ln>
            </p:spPr>
            <p:txBody>
              <a:bodyPr/>
              <a:lstStyle/>
              <a:p>
                <a:endParaRPr lang="zh-CN" altLang="en-US"/>
              </a:p>
            </p:txBody>
          </p:sp>
          <p:sp>
            <p:nvSpPr>
              <p:cNvPr id="609285" name="Line 5"/>
              <p:cNvSpPr>
                <a:spLocks noChangeShapeType="1"/>
              </p:cNvSpPr>
              <p:nvPr/>
            </p:nvSpPr>
            <p:spPr bwMode="auto">
              <a:xfrm>
                <a:off x="6720" y="8304"/>
                <a:ext cx="1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9286" name="Line 6"/>
              <p:cNvSpPr>
                <a:spLocks noChangeShapeType="1"/>
              </p:cNvSpPr>
              <p:nvPr/>
            </p:nvSpPr>
            <p:spPr bwMode="auto">
              <a:xfrm>
                <a:off x="6720" y="8460"/>
                <a:ext cx="1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9287" name="Line 7"/>
              <p:cNvSpPr>
                <a:spLocks noChangeShapeType="1"/>
              </p:cNvSpPr>
              <p:nvPr/>
            </p:nvSpPr>
            <p:spPr bwMode="auto">
              <a:xfrm flipH="1">
                <a:off x="6405" y="8304"/>
                <a:ext cx="1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9288" name="Line 8"/>
              <p:cNvSpPr>
                <a:spLocks noChangeShapeType="1"/>
              </p:cNvSpPr>
              <p:nvPr/>
            </p:nvSpPr>
            <p:spPr bwMode="auto">
              <a:xfrm flipH="1">
                <a:off x="6405" y="8460"/>
                <a:ext cx="1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09290" name="Group 10"/>
            <p:cNvGrpSpPr>
              <a:grpSpLocks/>
            </p:cNvGrpSpPr>
            <p:nvPr/>
          </p:nvGrpSpPr>
          <p:grpSpPr bwMode="auto">
            <a:xfrm>
              <a:off x="2958" y="939"/>
              <a:ext cx="354" cy="117"/>
              <a:chOff x="6405" y="8304"/>
              <a:chExt cx="420" cy="156"/>
            </a:xfrm>
          </p:grpSpPr>
          <p:sp>
            <p:nvSpPr>
              <p:cNvPr id="609291" name="AutoShape 11"/>
              <p:cNvSpPr>
                <a:spLocks noChangeArrowheads="1"/>
              </p:cNvSpPr>
              <p:nvPr/>
            </p:nvSpPr>
            <p:spPr bwMode="auto">
              <a:xfrm rot="-5400000">
                <a:off x="6537" y="8277"/>
                <a:ext cx="156" cy="210"/>
              </a:xfrm>
              <a:prstGeom prst="flowChartCollate">
                <a:avLst/>
              </a:prstGeom>
              <a:solidFill>
                <a:srgbClr val="FFFFFF"/>
              </a:solidFill>
              <a:ln w="9525">
                <a:solidFill>
                  <a:schemeClr val="tx1"/>
                </a:solidFill>
                <a:miter lim="800000"/>
                <a:headEnd/>
                <a:tailEnd/>
              </a:ln>
            </p:spPr>
            <p:txBody>
              <a:bodyPr/>
              <a:lstStyle/>
              <a:p>
                <a:endParaRPr lang="zh-CN" altLang="en-US"/>
              </a:p>
            </p:txBody>
          </p:sp>
          <p:sp>
            <p:nvSpPr>
              <p:cNvPr id="609292" name="Line 12"/>
              <p:cNvSpPr>
                <a:spLocks noChangeShapeType="1"/>
              </p:cNvSpPr>
              <p:nvPr/>
            </p:nvSpPr>
            <p:spPr bwMode="auto">
              <a:xfrm>
                <a:off x="6720" y="8304"/>
                <a:ext cx="1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9293" name="Line 13"/>
              <p:cNvSpPr>
                <a:spLocks noChangeShapeType="1"/>
              </p:cNvSpPr>
              <p:nvPr/>
            </p:nvSpPr>
            <p:spPr bwMode="auto">
              <a:xfrm>
                <a:off x="6720" y="8460"/>
                <a:ext cx="1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9294" name="Line 14"/>
              <p:cNvSpPr>
                <a:spLocks noChangeShapeType="1"/>
              </p:cNvSpPr>
              <p:nvPr/>
            </p:nvSpPr>
            <p:spPr bwMode="auto">
              <a:xfrm flipH="1">
                <a:off x="6405" y="8304"/>
                <a:ext cx="1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9295" name="Line 15"/>
              <p:cNvSpPr>
                <a:spLocks noChangeShapeType="1"/>
              </p:cNvSpPr>
              <p:nvPr/>
            </p:nvSpPr>
            <p:spPr bwMode="auto">
              <a:xfrm flipH="1">
                <a:off x="6405" y="8460"/>
                <a:ext cx="105" cy="0"/>
              </a:xfrm>
              <a:prstGeom prst="line">
                <a:avLst/>
              </a:prstGeom>
              <a:noFill/>
              <a:ln w="9525">
                <a:solidFill>
                  <a:schemeClr val="tx1"/>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609298" name="Rectangle 18"/>
          <p:cNvSpPr>
            <a:spLocks noGrp="1" noChangeArrowheads="1"/>
          </p:cNvSpPr>
          <p:nvPr>
            <p:ph type="title" idx="4294967295"/>
          </p:nvPr>
        </p:nvSpPr>
        <p:spPr/>
        <p:txBody>
          <a:bodyPr/>
          <a:lstStyle/>
          <a:p>
            <a:r>
              <a:rPr lang="en-US" altLang="zh-CN"/>
              <a:t>        </a:t>
            </a:r>
          </a:p>
        </p:txBody>
      </p:sp>
      <p:grpSp>
        <p:nvGrpSpPr>
          <p:cNvPr id="609302" name="Group 22"/>
          <p:cNvGrpSpPr>
            <a:grpSpLocks/>
          </p:cNvGrpSpPr>
          <p:nvPr/>
        </p:nvGrpSpPr>
        <p:grpSpPr bwMode="auto">
          <a:xfrm>
            <a:off x="4698615" y="1583532"/>
            <a:ext cx="701675" cy="282575"/>
            <a:chOff x="6405" y="8304"/>
            <a:chExt cx="420" cy="156"/>
          </a:xfrm>
        </p:grpSpPr>
        <p:sp>
          <p:nvSpPr>
            <p:cNvPr id="609303" name="AutoShape 23"/>
            <p:cNvSpPr>
              <a:spLocks noChangeArrowheads="1"/>
            </p:cNvSpPr>
            <p:nvPr/>
          </p:nvSpPr>
          <p:spPr bwMode="auto">
            <a:xfrm rot="-5400000">
              <a:off x="6537" y="8277"/>
              <a:ext cx="156" cy="210"/>
            </a:xfrm>
            <a:prstGeom prst="flowChartCollate">
              <a:avLst/>
            </a:prstGeom>
            <a:solidFill>
              <a:srgbClr val="FFFFFF"/>
            </a:solidFill>
            <a:ln w="28575">
              <a:solidFill>
                <a:schemeClr val="hlink"/>
              </a:solidFill>
              <a:miter lim="800000"/>
              <a:headEnd/>
              <a:tailEnd/>
            </a:ln>
          </p:spPr>
          <p:txBody>
            <a:bodyPr/>
            <a:lstStyle/>
            <a:p>
              <a:endParaRPr lang="zh-CN" altLang="en-US"/>
            </a:p>
          </p:txBody>
        </p:sp>
        <p:sp>
          <p:nvSpPr>
            <p:cNvPr id="609304" name="Line 24"/>
            <p:cNvSpPr>
              <a:spLocks noChangeShapeType="1"/>
            </p:cNvSpPr>
            <p:nvPr/>
          </p:nvSpPr>
          <p:spPr bwMode="auto">
            <a:xfrm>
              <a:off x="6720" y="8304"/>
              <a:ext cx="105"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9305" name="Line 25"/>
            <p:cNvSpPr>
              <a:spLocks noChangeShapeType="1"/>
            </p:cNvSpPr>
            <p:nvPr/>
          </p:nvSpPr>
          <p:spPr bwMode="auto">
            <a:xfrm>
              <a:off x="6720" y="8460"/>
              <a:ext cx="105"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9306" name="Line 26"/>
            <p:cNvSpPr>
              <a:spLocks noChangeShapeType="1"/>
            </p:cNvSpPr>
            <p:nvPr/>
          </p:nvSpPr>
          <p:spPr bwMode="auto">
            <a:xfrm flipH="1">
              <a:off x="6405" y="8304"/>
              <a:ext cx="105"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9307" name="Line 27"/>
            <p:cNvSpPr>
              <a:spLocks noChangeShapeType="1"/>
            </p:cNvSpPr>
            <p:nvPr/>
          </p:nvSpPr>
          <p:spPr bwMode="auto">
            <a:xfrm flipH="1">
              <a:off x="6405" y="8460"/>
              <a:ext cx="105"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09308" name="Group 28"/>
          <p:cNvGrpSpPr>
            <a:grpSpLocks/>
          </p:cNvGrpSpPr>
          <p:nvPr/>
        </p:nvGrpSpPr>
        <p:grpSpPr bwMode="auto">
          <a:xfrm>
            <a:off x="3754316" y="4992767"/>
            <a:ext cx="701675" cy="282575"/>
            <a:chOff x="6405" y="8304"/>
            <a:chExt cx="420" cy="156"/>
          </a:xfrm>
        </p:grpSpPr>
        <p:sp>
          <p:nvSpPr>
            <p:cNvPr id="609309" name="AutoShape 29"/>
            <p:cNvSpPr>
              <a:spLocks noChangeArrowheads="1"/>
            </p:cNvSpPr>
            <p:nvPr/>
          </p:nvSpPr>
          <p:spPr bwMode="auto">
            <a:xfrm rot="-5400000">
              <a:off x="6537" y="8277"/>
              <a:ext cx="156" cy="210"/>
            </a:xfrm>
            <a:prstGeom prst="flowChartCollate">
              <a:avLst/>
            </a:prstGeom>
            <a:solidFill>
              <a:srgbClr val="FFFFFF"/>
            </a:solidFill>
            <a:ln w="28575">
              <a:solidFill>
                <a:schemeClr val="hlink"/>
              </a:solidFill>
              <a:miter lim="800000"/>
              <a:headEnd/>
              <a:tailEnd/>
            </a:ln>
          </p:spPr>
          <p:txBody>
            <a:bodyPr/>
            <a:lstStyle/>
            <a:p>
              <a:endParaRPr lang="zh-CN" altLang="en-US"/>
            </a:p>
          </p:txBody>
        </p:sp>
        <p:sp>
          <p:nvSpPr>
            <p:cNvPr id="609310" name="Line 30"/>
            <p:cNvSpPr>
              <a:spLocks noChangeShapeType="1"/>
            </p:cNvSpPr>
            <p:nvPr/>
          </p:nvSpPr>
          <p:spPr bwMode="auto">
            <a:xfrm>
              <a:off x="6720" y="8304"/>
              <a:ext cx="105"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9311" name="Line 31"/>
            <p:cNvSpPr>
              <a:spLocks noChangeShapeType="1"/>
            </p:cNvSpPr>
            <p:nvPr/>
          </p:nvSpPr>
          <p:spPr bwMode="auto">
            <a:xfrm>
              <a:off x="6720" y="8460"/>
              <a:ext cx="105"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9312" name="Line 32"/>
            <p:cNvSpPr>
              <a:spLocks noChangeShapeType="1"/>
            </p:cNvSpPr>
            <p:nvPr/>
          </p:nvSpPr>
          <p:spPr bwMode="auto">
            <a:xfrm flipH="1">
              <a:off x="6405" y="8304"/>
              <a:ext cx="105"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09313" name="Line 33"/>
            <p:cNvSpPr>
              <a:spLocks noChangeShapeType="1"/>
            </p:cNvSpPr>
            <p:nvPr/>
          </p:nvSpPr>
          <p:spPr bwMode="auto">
            <a:xfrm flipH="1">
              <a:off x="6405" y="8460"/>
              <a:ext cx="105" cy="0"/>
            </a:xfrm>
            <a:prstGeom prst="line">
              <a:avLst/>
            </a:prstGeom>
            <a:noFill/>
            <a:ln w="28575">
              <a:solidFill>
                <a:schemeClr val="hlink"/>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02" name="Rectangle 1026"/>
          <p:cNvSpPr>
            <a:spLocks noChangeArrowheads="1"/>
          </p:cNvSpPr>
          <p:nvPr/>
        </p:nvSpPr>
        <p:spPr bwMode="auto">
          <a:xfrm>
            <a:off x="250825" y="302244"/>
            <a:ext cx="9372600" cy="30829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200000"/>
              </a:lnSpc>
            </a:pPr>
            <a:r>
              <a:rPr lang="en-US" altLang="zh-CN" sz="2800" b="1">
                <a:solidFill>
                  <a:schemeClr val="bg2"/>
                </a:solidFill>
                <a:cs typeface="Times New Roman" pitchFamily="18" charset="0"/>
              </a:rPr>
              <a:t>i</a:t>
            </a:r>
            <a:r>
              <a:rPr lang="zh-CN" altLang="en-US" sz="2800" b="1">
                <a:solidFill>
                  <a:schemeClr val="bg2"/>
                </a:solidFill>
                <a:cs typeface="Times New Roman" pitchFamily="18" charset="0"/>
              </a:rPr>
              <a:t>、如果</a:t>
            </a:r>
            <a:r>
              <a:rPr lang="en-US" altLang="zh-CN" sz="2800" b="1">
                <a:solidFill>
                  <a:schemeClr val="bg2"/>
                </a:solidFill>
                <a:cs typeface="Times New Roman" pitchFamily="18" charset="0"/>
              </a:rPr>
              <a:t>R</a:t>
            </a:r>
            <a:r>
              <a:rPr lang="zh-CN" altLang="en-US" sz="2800" b="1">
                <a:solidFill>
                  <a:schemeClr val="bg2"/>
                </a:solidFill>
                <a:cs typeface="Times New Roman" pitchFamily="18" charset="0"/>
              </a:rPr>
              <a:t>和</a:t>
            </a:r>
            <a:r>
              <a:rPr lang="en-US" altLang="zh-CN" sz="2800" b="1">
                <a:solidFill>
                  <a:schemeClr val="bg2"/>
                </a:solidFill>
                <a:cs typeface="Times New Roman" pitchFamily="18" charset="0"/>
              </a:rPr>
              <a:t>S</a:t>
            </a:r>
            <a:r>
              <a:rPr lang="zh-CN" altLang="en-US" sz="2800" b="1">
                <a:solidFill>
                  <a:schemeClr val="bg2"/>
                </a:solidFill>
                <a:cs typeface="Times New Roman" pitchFamily="18" charset="0"/>
              </a:rPr>
              <a:t>做自然联接时，把</a:t>
            </a:r>
            <a:r>
              <a:rPr lang="en-US" altLang="zh-CN" sz="2800" b="1">
                <a:solidFill>
                  <a:schemeClr val="bg2"/>
                </a:solidFill>
                <a:cs typeface="Times New Roman" pitchFamily="18" charset="0"/>
              </a:rPr>
              <a:t>R</a:t>
            </a:r>
            <a:r>
              <a:rPr lang="zh-CN" altLang="en-US" sz="2800" b="1">
                <a:solidFill>
                  <a:schemeClr val="bg2"/>
                </a:solidFill>
                <a:cs typeface="Times New Roman" pitchFamily="18" charset="0"/>
              </a:rPr>
              <a:t>中原该舍弃的元组放   </a:t>
            </a:r>
          </a:p>
          <a:p>
            <a:pPr eaLnBrk="0" hangingPunct="0">
              <a:lnSpc>
                <a:spcPct val="200000"/>
              </a:lnSpc>
            </a:pPr>
            <a:r>
              <a:rPr lang="zh-CN" altLang="en-US" sz="2800" b="1">
                <a:solidFill>
                  <a:schemeClr val="bg2"/>
                </a:solidFill>
                <a:cs typeface="Times New Roman" pitchFamily="18" charset="0"/>
              </a:rPr>
              <a:t>   到新关系中，那么这种操作称为</a:t>
            </a:r>
            <a:r>
              <a:rPr lang="zh-CN" altLang="en-US" sz="2800" b="1">
                <a:solidFill>
                  <a:schemeClr val="bg2"/>
                </a:solidFill>
                <a:latin typeface="Times New Roman"/>
                <a:cs typeface="Times New Roman" pitchFamily="18" charset="0"/>
              </a:rPr>
              <a:t>“</a:t>
            </a:r>
            <a:r>
              <a:rPr lang="zh-CN" altLang="en-US" sz="2800" b="1">
                <a:solidFill>
                  <a:srgbClr val="000099"/>
                </a:solidFill>
                <a:cs typeface="Times New Roman" pitchFamily="18" charset="0"/>
              </a:rPr>
              <a:t>左外联接</a:t>
            </a:r>
            <a:r>
              <a:rPr lang="zh-CN" altLang="en-US" sz="2800" b="1">
                <a:solidFill>
                  <a:schemeClr val="bg2"/>
                </a:solidFill>
                <a:latin typeface="Times New Roman"/>
                <a:cs typeface="Times New Roman" pitchFamily="18" charset="0"/>
              </a:rPr>
              <a:t>”</a:t>
            </a:r>
            <a:r>
              <a:rPr lang="zh-CN" altLang="en-US" sz="2800" b="1">
                <a:solidFill>
                  <a:schemeClr val="bg2"/>
                </a:solidFill>
                <a:cs typeface="Times New Roman" pitchFamily="18" charset="0"/>
              </a:rPr>
              <a:t>操作，</a:t>
            </a:r>
          </a:p>
          <a:p>
            <a:pPr eaLnBrk="0" hangingPunct="0">
              <a:lnSpc>
                <a:spcPct val="200000"/>
              </a:lnSpc>
            </a:pPr>
            <a:r>
              <a:rPr lang="zh-CN" altLang="en-US" sz="2800" b="1">
                <a:solidFill>
                  <a:schemeClr val="bg2"/>
                </a:solidFill>
                <a:cs typeface="Times New Roman" pitchFamily="18" charset="0"/>
              </a:rPr>
              <a:t>   用符号</a:t>
            </a:r>
            <a:r>
              <a:rPr lang="en-US" altLang="zh-CN" sz="2800" b="1">
                <a:solidFill>
                  <a:schemeClr val="bg2"/>
                </a:solidFill>
                <a:cs typeface="Times New Roman" pitchFamily="18" charset="0"/>
              </a:rPr>
              <a:t>:  R     S</a:t>
            </a:r>
            <a:r>
              <a:rPr lang="zh-CN" altLang="en-US" sz="2800" b="1">
                <a:solidFill>
                  <a:schemeClr val="bg2"/>
                </a:solidFill>
                <a:cs typeface="Times New Roman" pitchFamily="18" charset="0"/>
              </a:rPr>
              <a:t>表示。</a:t>
            </a:r>
            <a:r>
              <a:rPr lang="zh-CN" altLang="en-US" sz="2800" b="1">
                <a:solidFill>
                  <a:schemeClr val="bg2"/>
                </a:solidFill>
              </a:rPr>
              <a:t> </a:t>
            </a:r>
          </a:p>
        </p:txBody>
      </p:sp>
      <p:grpSp>
        <p:nvGrpSpPr>
          <p:cNvPr id="614403" name="Group 1027"/>
          <p:cNvGrpSpPr>
            <a:grpSpLocks/>
          </p:cNvGrpSpPr>
          <p:nvPr/>
        </p:nvGrpSpPr>
        <p:grpSpPr bwMode="auto">
          <a:xfrm>
            <a:off x="2890838" y="2808857"/>
            <a:ext cx="457200" cy="280987"/>
            <a:chOff x="4620" y="5652"/>
            <a:chExt cx="315" cy="156"/>
          </a:xfrm>
        </p:grpSpPr>
        <p:sp>
          <p:nvSpPr>
            <p:cNvPr id="614404" name="AutoShape 1028"/>
            <p:cNvSpPr>
              <a:spLocks noChangeArrowheads="1"/>
            </p:cNvSpPr>
            <p:nvPr/>
          </p:nvSpPr>
          <p:spPr bwMode="auto">
            <a:xfrm rot="-5400000">
              <a:off x="4752" y="5625"/>
              <a:ext cx="156" cy="210"/>
            </a:xfrm>
            <a:prstGeom prst="flowChartCollate">
              <a:avLst/>
            </a:prstGeom>
            <a:solidFill>
              <a:srgbClr val="FFFFFF"/>
            </a:solidFill>
            <a:ln w="28575">
              <a:solidFill>
                <a:srgbClr val="000099"/>
              </a:solidFill>
              <a:miter lim="800000"/>
              <a:headEnd/>
              <a:tailEnd/>
            </a:ln>
          </p:spPr>
          <p:txBody>
            <a:bodyPr/>
            <a:lstStyle/>
            <a:p>
              <a:endParaRPr lang="zh-CN" altLang="en-US"/>
            </a:p>
          </p:txBody>
        </p:sp>
        <p:sp>
          <p:nvSpPr>
            <p:cNvPr id="614405" name="Line 1029"/>
            <p:cNvSpPr>
              <a:spLocks noChangeShapeType="1"/>
            </p:cNvSpPr>
            <p:nvPr/>
          </p:nvSpPr>
          <p:spPr bwMode="auto">
            <a:xfrm flipH="1">
              <a:off x="4620" y="5652"/>
              <a:ext cx="105" cy="0"/>
            </a:xfrm>
            <a:prstGeom prst="line">
              <a:avLst/>
            </a:prstGeom>
            <a:noFill/>
            <a:ln w="2857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406" name="Line 1030"/>
            <p:cNvSpPr>
              <a:spLocks noChangeShapeType="1"/>
            </p:cNvSpPr>
            <p:nvPr/>
          </p:nvSpPr>
          <p:spPr bwMode="auto">
            <a:xfrm flipH="1">
              <a:off x="4620" y="5808"/>
              <a:ext cx="105" cy="0"/>
            </a:xfrm>
            <a:prstGeom prst="line">
              <a:avLst/>
            </a:prstGeom>
            <a:noFill/>
            <a:ln w="2857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nvGrpSpPr>
          <p:cNvPr id="614407" name="Group 1031"/>
          <p:cNvGrpSpPr>
            <a:grpSpLocks/>
          </p:cNvGrpSpPr>
          <p:nvPr/>
        </p:nvGrpSpPr>
        <p:grpSpPr bwMode="auto">
          <a:xfrm>
            <a:off x="3779912" y="5833193"/>
            <a:ext cx="447675" cy="236538"/>
            <a:chOff x="4935" y="6432"/>
            <a:chExt cx="315" cy="156"/>
          </a:xfrm>
        </p:grpSpPr>
        <p:sp>
          <p:nvSpPr>
            <p:cNvPr id="614408" name="AutoShape 1032"/>
            <p:cNvSpPr>
              <a:spLocks noChangeArrowheads="1"/>
            </p:cNvSpPr>
            <p:nvPr/>
          </p:nvSpPr>
          <p:spPr bwMode="auto">
            <a:xfrm rot="-5400000">
              <a:off x="4962" y="6405"/>
              <a:ext cx="156" cy="210"/>
            </a:xfrm>
            <a:prstGeom prst="flowChartCollate">
              <a:avLst/>
            </a:prstGeom>
            <a:solidFill>
              <a:srgbClr val="FFFFFF"/>
            </a:solidFill>
            <a:ln w="28575">
              <a:solidFill>
                <a:srgbClr val="000099"/>
              </a:solidFill>
              <a:miter lim="800000"/>
              <a:headEnd/>
              <a:tailEnd/>
            </a:ln>
          </p:spPr>
          <p:txBody>
            <a:bodyPr/>
            <a:lstStyle/>
            <a:p>
              <a:endParaRPr lang="zh-CN" altLang="en-US"/>
            </a:p>
          </p:txBody>
        </p:sp>
        <p:sp>
          <p:nvSpPr>
            <p:cNvPr id="614409" name="Line 1033"/>
            <p:cNvSpPr>
              <a:spLocks noChangeShapeType="1"/>
            </p:cNvSpPr>
            <p:nvPr/>
          </p:nvSpPr>
          <p:spPr bwMode="auto">
            <a:xfrm>
              <a:off x="5145" y="6432"/>
              <a:ext cx="105" cy="0"/>
            </a:xfrm>
            <a:prstGeom prst="line">
              <a:avLst/>
            </a:prstGeom>
            <a:noFill/>
            <a:ln w="2857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14410" name="Line 1034"/>
            <p:cNvSpPr>
              <a:spLocks noChangeShapeType="1"/>
            </p:cNvSpPr>
            <p:nvPr/>
          </p:nvSpPr>
          <p:spPr bwMode="auto">
            <a:xfrm>
              <a:off x="5145" y="6588"/>
              <a:ext cx="105" cy="0"/>
            </a:xfrm>
            <a:prstGeom prst="line">
              <a:avLst/>
            </a:prstGeom>
            <a:noFill/>
            <a:ln w="28575">
              <a:solidFill>
                <a:srgbClr val="000099"/>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sp>
        <p:nvSpPr>
          <p:cNvPr id="614412" name="Rectangle 1036"/>
          <p:cNvSpPr>
            <a:spLocks noChangeArrowheads="1"/>
          </p:cNvSpPr>
          <p:nvPr/>
        </p:nvSpPr>
        <p:spPr bwMode="auto">
          <a:xfrm>
            <a:off x="250825" y="3283618"/>
            <a:ext cx="9144000" cy="295369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pPr>
            <a:r>
              <a:rPr lang="en-US" altLang="zh-CN" sz="2800" b="1" dirty="0">
                <a:solidFill>
                  <a:schemeClr val="bg2"/>
                </a:solidFill>
              </a:rPr>
              <a:t>ii</a:t>
            </a:r>
            <a:r>
              <a:rPr lang="zh-CN" altLang="en-US" sz="2800" b="1" dirty="0">
                <a:solidFill>
                  <a:schemeClr val="bg2"/>
                </a:solidFill>
              </a:rPr>
              <a:t>、如果</a:t>
            </a:r>
            <a:r>
              <a:rPr lang="en-US" altLang="zh-CN" sz="2800" b="1" dirty="0">
                <a:solidFill>
                  <a:schemeClr val="bg2"/>
                </a:solidFill>
              </a:rPr>
              <a:t>R</a:t>
            </a:r>
            <a:r>
              <a:rPr lang="zh-CN" altLang="en-US" sz="2800" b="1" dirty="0">
                <a:solidFill>
                  <a:schemeClr val="bg2"/>
                </a:solidFill>
              </a:rPr>
              <a:t>和</a:t>
            </a:r>
            <a:r>
              <a:rPr lang="en-US" altLang="zh-CN" sz="2800" b="1" dirty="0">
                <a:solidFill>
                  <a:schemeClr val="bg2"/>
                </a:solidFill>
              </a:rPr>
              <a:t>S</a:t>
            </a:r>
            <a:r>
              <a:rPr lang="zh-CN" altLang="en-US" sz="2800" b="1" dirty="0">
                <a:solidFill>
                  <a:schemeClr val="bg2"/>
                </a:solidFill>
              </a:rPr>
              <a:t>做自然联接时，把</a:t>
            </a:r>
            <a:r>
              <a:rPr lang="en-US" altLang="zh-CN" sz="2800" b="1" dirty="0">
                <a:solidFill>
                  <a:schemeClr val="bg2"/>
                </a:solidFill>
              </a:rPr>
              <a:t>S</a:t>
            </a:r>
            <a:r>
              <a:rPr lang="zh-CN" altLang="en-US" sz="2800" b="1" dirty="0">
                <a:solidFill>
                  <a:schemeClr val="bg2"/>
                </a:solidFill>
              </a:rPr>
              <a:t>中原该舍弃的元组</a:t>
            </a:r>
          </a:p>
          <a:p>
            <a:pPr>
              <a:lnSpc>
                <a:spcPct val="200000"/>
              </a:lnSpc>
            </a:pPr>
            <a:r>
              <a:rPr lang="zh-CN" altLang="en-US" sz="2800" b="1" dirty="0">
                <a:solidFill>
                  <a:schemeClr val="bg2"/>
                </a:solidFill>
              </a:rPr>
              <a:t>   放到新关系中，那么这种操作称为</a:t>
            </a:r>
            <a:r>
              <a:rPr lang="zh-CN" altLang="en-US" sz="2800" b="1" dirty="0">
                <a:solidFill>
                  <a:schemeClr val="bg2"/>
                </a:solidFill>
                <a:latin typeface="Times New Roman"/>
              </a:rPr>
              <a:t>“</a:t>
            </a:r>
            <a:r>
              <a:rPr lang="zh-CN" altLang="en-US" sz="2800" b="1" dirty="0">
                <a:solidFill>
                  <a:srgbClr val="000099"/>
                </a:solidFill>
              </a:rPr>
              <a:t>右外联接</a:t>
            </a:r>
            <a:r>
              <a:rPr lang="zh-CN" altLang="en-US" sz="2800" b="1" dirty="0">
                <a:solidFill>
                  <a:schemeClr val="bg2"/>
                </a:solidFill>
                <a:latin typeface="Times New Roman"/>
              </a:rPr>
              <a:t>”</a:t>
            </a:r>
            <a:endParaRPr lang="en-US" altLang="zh-CN" sz="2800" b="1" dirty="0">
              <a:solidFill>
                <a:schemeClr val="bg2"/>
              </a:solidFill>
              <a:latin typeface="Times New Roman"/>
            </a:endParaRPr>
          </a:p>
          <a:p>
            <a:pPr>
              <a:lnSpc>
                <a:spcPct val="200000"/>
              </a:lnSpc>
            </a:pPr>
            <a:r>
              <a:rPr lang="zh-CN" altLang="en-US" sz="2800" b="1" dirty="0">
                <a:solidFill>
                  <a:schemeClr val="bg2"/>
                </a:solidFill>
              </a:rPr>
              <a:t>   操作，用符号</a:t>
            </a:r>
            <a:r>
              <a:rPr lang="en-US" altLang="zh-CN" sz="2800" b="1" dirty="0">
                <a:solidFill>
                  <a:schemeClr val="bg2"/>
                </a:solidFill>
              </a:rPr>
              <a:t>: R     S</a:t>
            </a:r>
            <a:r>
              <a:rPr lang="zh-CN" altLang="en-US" sz="2800" b="1" dirty="0">
                <a:solidFill>
                  <a:schemeClr val="bg2"/>
                </a:solidFill>
              </a:rPr>
              <a:t>表示。 </a:t>
            </a:r>
          </a:p>
        </p:txBody>
      </p:sp>
      <p:pic>
        <p:nvPicPr>
          <p:cNvPr id="2" name="图片 1">
            <a:extLst>
              <a:ext uri="{FF2B5EF4-FFF2-40B4-BE49-F238E27FC236}">
                <a16:creationId xmlns:a16="http://schemas.microsoft.com/office/drawing/2014/main" id="{BECE3AB3-5FAF-1171-07E1-7B3DC45F6D4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76" t="20973" r="54062" b="13716"/>
          <a:stretch>
            <a:fillRect/>
          </a:stretch>
        </p:blipFill>
        <p:spPr bwMode="auto">
          <a:xfrm>
            <a:off x="250825" y="156837"/>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17827" name="Group 3"/>
          <p:cNvGrpSpPr>
            <a:grpSpLocks/>
          </p:cNvGrpSpPr>
          <p:nvPr/>
        </p:nvGrpSpPr>
        <p:grpSpPr bwMode="auto">
          <a:xfrm>
            <a:off x="228600" y="304800"/>
            <a:ext cx="1828800" cy="2547938"/>
            <a:chOff x="-3" y="-3"/>
            <a:chExt cx="895" cy="1542"/>
          </a:xfrm>
        </p:grpSpPr>
        <p:grpSp>
          <p:nvGrpSpPr>
            <p:cNvPr id="717828" name="Group 4"/>
            <p:cNvGrpSpPr>
              <a:grpSpLocks/>
            </p:cNvGrpSpPr>
            <p:nvPr/>
          </p:nvGrpSpPr>
          <p:grpSpPr bwMode="auto">
            <a:xfrm>
              <a:off x="0" y="0"/>
              <a:ext cx="889" cy="1536"/>
              <a:chOff x="0" y="0"/>
              <a:chExt cx="889" cy="1536"/>
            </a:xfrm>
          </p:grpSpPr>
          <p:grpSp>
            <p:nvGrpSpPr>
              <p:cNvPr id="717829" name="Group 5"/>
              <p:cNvGrpSpPr>
                <a:grpSpLocks/>
              </p:cNvGrpSpPr>
              <p:nvPr/>
            </p:nvGrpSpPr>
            <p:grpSpPr bwMode="auto">
              <a:xfrm>
                <a:off x="0" y="0"/>
                <a:ext cx="297" cy="384"/>
                <a:chOff x="0" y="0"/>
                <a:chExt cx="297" cy="384"/>
              </a:xfrm>
            </p:grpSpPr>
            <p:sp>
              <p:nvSpPr>
                <p:cNvPr id="717830" name="Rectangle 6"/>
                <p:cNvSpPr>
                  <a:spLocks noChangeArrowheads="1"/>
                </p:cNvSpPr>
                <p:nvPr/>
              </p:nvSpPr>
              <p:spPr bwMode="auto">
                <a:xfrm>
                  <a:off x="43" y="0"/>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rgbClr val="009999"/>
                    </a:solidFill>
                    <a:latin typeface="Times New Roman" pitchFamily="18" charset="0"/>
                  </a:endParaRPr>
                </a:p>
              </p:txBody>
            </p:sp>
            <p:sp>
              <p:nvSpPr>
                <p:cNvPr id="717831" name="Rectangle 7"/>
                <p:cNvSpPr>
                  <a:spLocks noChangeArrowheads="1"/>
                </p:cNvSpPr>
                <p:nvPr/>
              </p:nvSpPr>
              <p:spPr bwMode="auto">
                <a:xfrm>
                  <a:off x="0" y="0"/>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32" name="Group 8"/>
              <p:cNvGrpSpPr>
                <a:grpSpLocks/>
              </p:cNvGrpSpPr>
              <p:nvPr/>
            </p:nvGrpSpPr>
            <p:grpSpPr bwMode="auto">
              <a:xfrm>
                <a:off x="297" y="0"/>
                <a:ext cx="296" cy="384"/>
                <a:chOff x="297" y="0"/>
                <a:chExt cx="296" cy="384"/>
              </a:xfrm>
            </p:grpSpPr>
            <p:sp>
              <p:nvSpPr>
                <p:cNvPr id="717833" name="Rectangle 9"/>
                <p:cNvSpPr>
                  <a:spLocks noChangeArrowheads="1"/>
                </p:cNvSpPr>
                <p:nvPr/>
              </p:nvSpPr>
              <p:spPr bwMode="auto">
                <a:xfrm>
                  <a:off x="340" y="0"/>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1"/>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34" name="Rectangle 10"/>
                <p:cNvSpPr>
                  <a:spLocks noChangeArrowheads="1"/>
                </p:cNvSpPr>
                <p:nvPr/>
              </p:nvSpPr>
              <p:spPr bwMode="auto">
                <a:xfrm>
                  <a:off x="297" y="0"/>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35" name="Group 11"/>
              <p:cNvGrpSpPr>
                <a:grpSpLocks/>
              </p:cNvGrpSpPr>
              <p:nvPr/>
            </p:nvGrpSpPr>
            <p:grpSpPr bwMode="auto">
              <a:xfrm>
                <a:off x="593" y="0"/>
                <a:ext cx="296" cy="384"/>
                <a:chOff x="593" y="0"/>
                <a:chExt cx="296" cy="384"/>
              </a:xfrm>
            </p:grpSpPr>
            <p:sp>
              <p:nvSpPr>
                <p:cNvPr id="717836" name="Rectangle 12"/>
                <p:cNvSpPr>
                  <a:spLocks noChangeArrowheads="1"/>
                </p:cNvSpPr>
                <p:nvPr/>
              </p:nvSpPr>
              <p:spPr bwMode="auto">
                <a:xfrm>
                  <a:off x="636" y="0"/>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1"/>
                      </a:solidFill>
                    </a:rPr>
                    <a:t>C</a:t>
                  </a:r>
                </a:p>
                <a:p>
                  <a:pPr algn="ctr" eaLnBrk="0" hangingPunct="0">
                    <a:lnSpc>
                      <a:spcPct val="100000"/>
                    </a:lnSpc>
                    <a:spcBef>
                      <a:spcPct val="0"/>
                    </a:spcBef>
                  </a:pPr>
                  <a:endParaRPr lang="en-US" altLang="zh-CN" sz="3200" b="1">
                    <a:solidFill>
                      <a:schemeClr val="bg1"/>
                    </a:solidFill>
                    <a:latin typeface="Times New Roman" pitchFamily="18" charset="0"/>
                  </a:endParaRPr>
                </a:p>
              </p:txBody>
            </p:sp>
            <p:sp>
              <p:nvSpPr>
                <p:cNvPr id="717837" name="Rectangle 13"/>
                <p:cNvSpPr>
                  <a:spLocks noChangeArrowheads="1"/>
                </p:cNvSpPr>
                <p:nvPr/>
              </p:nvSpPr>
              <p:spPr bwMode="auto">
                <a:xfrm>
                  <a:off x="593" y="0"/>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38" name="Group 14"/>
              <p:cNvGrpSpPr>
                <a:grpSpLocks/>
              </p:cNvGrpSpPr>
              <p:nvPr/>
            </p:nvGrpSpPr>
            <p:grpSpPr bwMode="auto">
              <a:xfrm>
                <a:off x="0" y="384"/>
                <a:ext cx="297" cy="384"/>
                <a:chOff x="0" y="384"/>
                <a:chExt cx="297" cy="384"/>
              </a:xfrm>
            </p:grpSpPr>
            <p:sp>
              <p:nvSpPr>
                <p:cNvPr id="717839" name="Rectangle 15"/>
                <p:cNvSpPr>
                  <a:spLocks noChangeArrowheads="1"/>
                </p:cNvSpPr>
                <p:nvPr/>
              </p:nvSpPr>
              <p:spPr bwMode="auto">
                <a:xfrm>
                  <a:off x="43" y="384"/>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40" name="Rectangle 16"/>
                <p:cNvSpPr>
                  <a:spLocks noChangeArrowheads="1"/>
                </p:cNvSpPr>
                <p:nvPr/>
              </p:nvSpPr>
              <p:spPr bwMode="auto">
                <a:xfrm>
                  <a:off x="0" y="384"/>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41" name="Group 17"/>
              <p:cNvGrpSpPr>
                <a:grpSpLocks/>
              </p:cNvGrpSpPr>
              <p:nvPr/>
            </p:nvGrpSpPr>
            <p:grpSpPr bwMode="auto">
              <a:xfrm>
                <a:off x="297" y="384"/>
                <a:ext cx="296" cy="384"/>
                <a:chOff x="297" y="384"/>
                <a:chExt cx="296" cy="384"/>
              </a:xfrm>
            </p:grpSpPr>
            <p:sp>
              <p:nvSpPr>
                <p:cNvPr id="717842" name="Rectangle 18"/>
                <p:cNvSpPr>
                  <a:spLocks noChangeArrowheads="1"/>
                </p:cNvSpPr>
                <p:nvPr/>
              </p:nvSpPr>
              <p:spPr bwMode="auto">
                <a:xfrm>
                  <a:off x="340" y="384"/>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43" name="Rectangle 19"/>
                <p:cNvSpPr>
                  <a:spLocks noChangeArrowheads="1"/>
                </p:cNvSpPr>
                <p:nvPr/>
              </p:nvSpPr>
              <p:spPr bwMode="auto">
                <a:xfrm>
                  <a:off x="297" y="384"/>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44" name="Group 20"/>
              <p:cNvGrpSpPr>
                <a:grpSpLocks/>
              </p:cNvGrpSpPr>
              <p:nvPr/>
            </p:nvGrpSpPr>
            <p:grpSpPr bwMode="auto">
              <a:xfrm>
                <a:off x="593" y="384"/>
                <a:ext cx="296" cy="384"/>
                <a:chOff x="593" y="384"/>
                <a:chExt cx="296" cy="384"/>
              </a:xfrm>
            </p:grpSpPr>
            <p:sp>
              <p:nvSpPr>
                <p:cNvPr id="717845" name="Rectangle 21"/>
                <p:cNvSpPr>
                  <a:spLocks noChangeArrowheads="1"/>
                </p:cNvSpPr>
                <p:nvPr/>
              </p:nvSpPr>
              <p:spPr bwMode="auto">
                <a:xfrm>
                  <a:off x="636" y="384"/>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46" name="Rectangle 22"/>
                <p:cNvSpPr>
                  <a:spLocks noChangeArrowheads="1"/>
                </p:cNvSpPr>
                <p:nvPr/>
              </p:nvSpPr>
              <p:spPr bwMode="auto">
                <a:xfrm>
                  <a:off x="593" y="384"/>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47" name="Group 23"/>
              <p:cNvGrpSpPr>
                <a:grpSpLocks/>
              </p:cNvGrpSpPr>
              <p:nvPr/>
            </p:nvGrpSpPr>
            <p:grpSpPr bwMode="auto">
              <a:xfrm>
                <a:off x="0" y="768"/>
                <a:ext cx="297" cy="384"/>
                <a:chOff x="0" y="768"/>
                <a:chExt cx="297" cy="384"/>
              </a:xfrm>
            </p:grpSpPr>
            <p:sp>
              <p:nvSpPr>
                <p:cNvPr id="717848" name="Rectangle 24"/>
                <p:cNvSpPr>
                  <a:spLocks noChangeArrowheads="1"/>
                </p:cNvSpPr>
                <p:nvPr/>
              </p:nvSpPr>
              <p:spPr bwMode="auto">
                <a:xfrm>
                  <a:off x="43" y="768"/>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49" name="Rectangle 25"/>
                <p:cNvSpPr>
                  <a:spLocks noChangeArrowheads="1"/>
                </p:cNvSpPr>
                <p:nvPr/>
              </p:nvSpPr>
              <p:spPr bwMode="auto">
                <a:xfrm>
                  <a:off x="0" y="768"/>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50" name="Group 26"/>
              <p:cNvGrpSpPr>
                <a:grpSpLocks/>
              </p:cNvGrpSpPr>
              <p:nvPr/>
            </p:nvGrpSpPr>
            <p:grpSpPr bwMode="auto">
              <a:xfrm>
                <a:off x="297" y="768"/>
                <a:ext cx="296" cy="384"/>
                <a:chOff x="297" y="768"/>
                <a:chExt cx="296" cy="384"/>
              </a:xfrm>
            </p:grpSpPr>
            <p:sp>
              <p:nvSpPr>
                <p:cNvPr id="717851" name="Rectangle 27"/>
                <p:cNvSpPr>
                  <a:spLocks noChangeArrowheads="1"/>
                </p:cNvSpPr>
                <p:nvPr/>
              </p:nvSpPr>
              <p:spPr bwMode="auto">
                <a:xfrm>
                  <a:off x="340" y="768"/>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52" name="Rectangle 28"/>
                <p:cNvSpPr>
                  <a:spLocks noChangeArrowheads="1"/>
                </p:cNvSpPr>
                <p:nvPr/>
              </p:nvSpPr>
              <p:spPr bwMode="auto">
                <a:xfrm>
                  <a:off x="297" y="768"/>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53" name="Group 29"/>
              <p:cNvGrpSpPr>
                <a:grpSpLocks/>
              </p:cNvGrpSpPr>
              <p:nvPr/>
            </p:nvGrpSpPr>
            <p:grpSpPr bwMode="auto">
              <a:xfrm>
                <a:off x="593" y="768"/>
                <a:ext cx="296" cy="384"/>
                <a:chOff x="593" y="768"/>
                <a:chExt cx="296" cy="384"/>
              </a:xfrm>
            </p:grpSpPr>
            <p:sp>
              <p:nvSpPr>
                <p:cNvPr id="717854" name="Rectangle 30"/>
                <p:cNvSpPr>
                  <a:spLocks noChangeArrowheads="1"/>
                </p:cNvSpPr>
                <p:nvPr/>
              </p:nvSpPr>
              <p:spPr bwMode="auto">
                <a:xfrm>
                  <a:off x="636" y="768"/>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f</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55" name="Rectangle 31"/>
                <p:cNvSpPr>
                  <a:spLocks noChangeArrowheads="1"/>
                </p:cNvSpPr>
                <p:nvPr/>
              </p:nvSpPr>
              <p:spPr bwMode="auto">
                <a:xfrm>
                  <a:off x="593" y="768"/>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56" name="Group 32"/>
              <p:cNvGrpSpPr>
                <a:grpSpLocks/>
              </p:cNvGrpSpPr>
              <p:nvPr/>
            </p:nvGrpSpPr>
            <p:grpSpPr bwMode="auto">
              <a:xfrm>
                <a:off x="0" y="1152"/>
                <a:ext cx="297" cy="384"/>
                <a:chOff x="0" y="1152"/>
                <a:chExt cx="297" cy="384"/>
              </a:xfrm>
            </p:grpSpPr>
            <p:sp>
              <p:nvSpPr>
                <p:cNvPr id="717857" name="Rectangle 33"/>
                <p:cNvSpPr>
                  <a:spLocks noChangeArrowheads="1"/>
                </p:cNvSpPr>
                <p:nvPr/>
              </p:nvSpPr>
              <p:spPr bwMode="auto">
                <a:xfrm>
                  <a:off x="43" y="1152"/>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58" name="Rectangle 34"/>
                <p:cNvSpPr>
                  <a:spLocks noChangeArrowheads="1"/>
                </p:cNvSpPr>
                <p:nvPr/>
              </p:nvSpPr>
              <p:spPr bwMode="auto">
                <a:xfrm>
                  <a:off x="0" y="1152"/>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59" name="Group 35"/>
              <p:cNvGrpSpPr>
                <a:grpSpLocks/>
              </p:cNvGrpSpPr>
              <p:nvPr/>
            </p:nvGrpSpPr>
            <p:grpSpPr bwMode="auto">
              <a:xfrm>
                <a:off x="297" y="1152"/>
                <a:ext cx="296" cy="384"/>
                <a:chOff x="297" y="1152"/>
                <a:chExt cx="296" cy="384"/>
              </a:xfrm>
            </p:grpSpPr>
            <p:sp>
              <p:nvSpPr>
                <p:cNvPr id="717860" name="Rectangle 36"/>
                <p:cNvSpPr>
                  <a:spLocks noChangeArrowheads="1"/>
                </p:cNvSpPr>
                <p:nvPr/>
              </p:nvSpPr>
              <p:spPr bwMode="auto">
                <a:xfrm>
                  <a:off x="340" y="115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61" name="Rectangle 37"/>
                <p:cNvSpPr>
                  <a:spLocks noChangeArrowheads="1"/>
                </p:cNvSpPr>
                <p:nvPr/>
              </p:nvSpPr>
              <p:spPr bwMode="auto">
                <a:xfrm>
                  <a:off x="297" y="115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62" name="Group 38"/>
              <p:cNvGrpSpPr>
                <a:grpSpLocks/>
              </p:cNvGrpSpPr>
              <p:nvPr/>
            </p:nvGrpSpPr>
            <p:grpSpPr bwMode="auto">
              <a:xfrm>
                <a:off x="593" y="1152"/>
                <a:ext cx="296" cy="384"/>
                <a:chOff x="593" y="1152"/>
                <a:chExt cx="296" cy="384"/>
              </a:xfrm>
            </p:grpSpPr>
            <p:sp>
              <p:nvSpPr>
                <p:cNvPr id="717863" name="Rectangle 39"/>
                <p:cNvSpPr>
                  <a:spLocks noChangeArrowheads="1"/>
                </p:cNvSpPr>
                <p:nvPr/>
              </p:nvSpPr>
              <p:spPr bwMode="auto">
                <a:xfrm>
                  <a:off x="636" y="115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64" name="Rectangle 40"/>
                <p:cNvSpPr>
                  <a:spLocks noChangeArrowheads="1"/>
                </p:cNvSpPr>
                <p:nvPr/>
              </p:nvSpPr>
              <p:spPr bwMode="auto">
                <a:xfrm>
                  <a:off x="593" y="115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717865" name="Rectangle 41"/>
            <p:cNvSpPr>
              <a:spLocks noChangeArrowheads="1"/>
            </p:cNvSpPr>
            <p:nvPr/>
          </p:nvSpPr>
          <p:spPr bwMode="auto">
            <a:xfrm>
              <a:off x="-3" y="-3"/>
              <a:ext cx="895" cy="1542"/>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717866" name="Text Box 42"/>
          <p:cNvSpPr txBox="1">
            <a:spLocks noChangeArrowheads="1"/>
          </p:cNvSpPr>
          <p:nvPr/>
        </p:nvSpPr>
        <p:spPr bwMode="auto">
          <a:xfrm>
            <a:off x="304800" y="1628775"/>
            <a:ext cx="1676400" cy="492125"/>
          </a:xfrm>
          <a:prstGeom prst="rect">
            <a:avLst/>
          </a:prstGeom>
          <a:noFill/>
          <a:ln w="9525">
            <a:solidFill>
              <a:srgbClr val="009999"/>
            </a:solidFill>
            <a:miter lim="800000"/>
            <a:headEnd/>
            <a:tailEnd/>
          </a:ln>
          <a:effectLst/>
          <a:extLst>
            <a:ext uri="{909E8E84-426E-40DD-AFC4-6F175D3DCCD1}">
              <a14:hiddenFill xmlns:a14="http://schemas.microsoft.com/office/drawing/2010/main">
                <a:solidFill>
                  <a:srgbClr val="009999"/>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zh-CN" sz="3200" b="1">
              <a:solidFill>
                <a:schemeClr val="bg2"/>
              </a:solidFill>
            </a:endParaRPr>
          </a:p>
        </p:txBody>
      </p:sp>
      <p:grpSp>
        <p:nvGrpSpPr>
          <p:cNvPr id="717869" name="Group 45"/>
          <p:cNvGrpSpPr>
            <a:grpSpLocks/>
          </p:cNvGrpSpPr>
          <p:nvPr/>
        </p:nvGrpSpPr>
        <p:grpSpPr bwMode="auto">
          <a:xfrm>
            <a:off x="2318704" y="304800"/>
            <a:ext cx="1739900" cy="2759075"/>
            <a:chOff x="0" y="1539"/>
            <a:chExt cx="889" cy="1920"/>
          </a:xfrm>
        </p:grpSpPr>
        <p:grpSp>
          <p:nvGrpSpPr>
            <p:cNvPr id="717870" name="Group 46"/>
            <p:cNvGrpSpPr>
              <a:grpSpLocks/>
            </p:cNvGrpSpPr>
            <p:nvPr/>
          </p:nvGrpSpPr>
          <p:grpSpPr bwMode="auto">
            <a:xfrm>
              <a:off x="0" y="1539"/>
              <a:ext cx="297" cy="384"/>
              <a:chOff x="0" y="1539"/>
              <a:chExt cx="297" cy="384"/>
            </a:xfrm>
          </p:grpSpPr>
          <p:sp>
            <p:nvSpPr>
              <p:cNvPr id="717871" name="Rectangle 47"/>
              <p:cNvSpPr>
                <a:spLocks noChangeArrowheads="1"/>
              </p:cNvSpPr>
              <p:nvPr/>
            </p:nvSpPr>
            <p:spPr bwMode="auto">
              <a:xfrm>
                <a:off x="43" y="1539"/>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1"/>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72" name="Rectangle 48"/>
              <p:cNvSpPr>
                <a:spLocks noChangeArrowheads="1"/>
              </p:cNvSpPr>
              <p:nvPr/>
            </p:nvSpPr>
            <p:spPr bwMode="auto">
              <a:xfrm>
                <a:off x="0" y="1539"/>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73" name="Group 49"/>
            <p:cNvGrpSpPr>
              <a:grpSpLocks/>
            </p:cNvGrpSpPr>
            <p:nvPr/>
          </p:nvGrpSpPr>
          <p:grpSpPr bwMode="auto">
            <a:xfrm>
              <a:off x="297" y="1539"/>
              <a:ext cx="296" cy="384"/>
              <a:chOff x="297" y="1539"/>
              <a:chExt cx="296" cy="384"/>
            </a:xfrm>
          </p:grpSpPr>
          <p:sp>
            <p:nvSpPr>
              <p:cNvPr id="717874" name="Rectangle 50"/>
              <p:cNvSpPr>
                <a:spLocks noChangeArrowheads="1"/>
              </p:cNvSpPr>
              <p:nvPr/>
            </p:nvSpPr>
            <p:spPr bwMode="auto">
              <a:xfrm>
                <a:off x="340" y="1539"/>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1"/>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75" name="Rectangle 51"/>
              <p:cNvSpPr>
                <a:spLocks noChangeArrowheads="1"/>
              </p:cNvSpPr>
              <p:nvPr/>
            </p:nvSpPr>
            <p:spPr bwMode="auto">
              <a:xfrm>
                <a:off x="297" y="1539"/>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76" name="Group 52"/>
            <p:cNvGrpSpPr>
              <a:grpSpLocks/>
            </p:cNvGrpSpPr>
            <p:nvPr/>
          </p:nvGrpSpPr>
          <p:grpSpPr bwMode="auto">
            <a:xfrm>
              <a:off x="593" y="1539"/>
              <a:ext cx="296" cy="384"/>
              <a:chOff x="593" y="1539"/>
              <a:chExt cx="296" cy="384"/>
            </a:xfrm>
          </p:grpSpPr>
          <p:sp>
            <p:nvSpPr>
              <p:cNvPr id="717877" name="Rectangle 53"/>
              <p:cNvSpPr>
                <a:spLocks noChangeArrowheads="1"/>
              </p:cNvSpPr>
              <p:nvPr/>
            </p:nvSpPr>
            <p:spPr bwMode="auto">
              <a:xfrm>
                <a:off x="636" y="1539"/>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78" name="Rectangle 54"/>
              <p:cNvSpPr>
                <a:spLocks noChangeArrowheads="1"/>
              </p:cNvSpPr>
              <p:nvPr/>
            </p:nvSpPr>
            <p:spPr bwMode="auto">
              <a:xfrm>
                <a:off x="593" y="1539"/>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79" name="Group 55"/>
            <p:cNvGrpSpPr>
              <a:grpSpLocks/>
            </p:cNvGrpSpPr>
            <p:nvPr/>
          </p:nvGrpSpPr>
          <p:grpSpPr bwMode="auto">
            <a:xfrm>
              <a:off x="0" y="1923"/>
              <a:ext cx="297" cy="384"/>
              <a:chOff x="0" y="1923"/>
              <a:chExt cx="297" cy="384"/>
            </a:xfrm>
          </p:grpSpPr>
          <p:sp>
            <p:nvSpPr>
              <p:cNvPr id="717880" name="Rectangle 56"/>
              <p:cNvSpPr>
                <a:spLocks noChangeArrowheads="1"/>
              </p:cNvSpPr>
              <p:nvPr/>
            </p:nvSpPr>
            <p:spPr bwMode="auto">
              <a:xfrm>
                <a:off x="43" y="1923"/>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81" name="Rectangle 57"/>
              <p:cNvSpPr>
                <a:spLocks noChangeArrowheads="1"/>
              </p:cNvSpPr>
              <p:nvPr/>
            </p:nvSpPr>
            <p:spPr bwMode="auto">
              <a:xfrm>
                <a:off x="0" y="1923"/>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82" name="Group 58"/>
            <p:cNvGrpSpPr>
              <a:grpSpLocks/>
            </p:cNvGrpSpPr>
            <p:nvPr/>
          </p:nvGrpSpPr>
          <p:grpSpPr bwMode="auto">
            <a:xfrm>
              <a:off x="297" y="1923"/>
              <a:ext cx="296" cy="384"/>
              <a:chOff x="297" y="1923"/>
              <a:chExt cx="296" cy="384"/>
            </a:xfrm>
          </p:grpSpPr>
          <p:sp>
            <p:nvSpPr>
              <p:cNvPr id="717883" name="Rectangle 59"/>
              <p:cNvSpPr>
                <a:spLocks noChangeArrowheads="1"/>
              </p:cNvSpPr>
              <p:nvPr/>
            </p:nvSpPr>
            <p:spPr bwMode="auto">
              <a:xfrm>
                <a:off x="340" y="1923"/>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84" name="Rectangle 60"/>
              <p:cNvSpPr>
                <a:spLocks noChangeArrowheads="1"/>
              </p:cNvSpPr>
              <p:nvPr/>
            </p:nvSpPr>
            <p:spPr bwMode="auto">
              <a:xfrm>
                <a:off x="297" y="1923"/>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85" name="Group 61"/>
            <p:cNvGrpSpPr>
              <a:grpSpLocks/>
            </p:cNvGrpSpPr>
            <p:nvPr/>
          </p:nvGrpSpPr>
          <p:grpSpPr bwMode="auto">
            <a:xfrm>
              <a:off x="593" y="1923"/>
              <a:ext cx="296" cy="384"/>
              <a:chOff x="593" y="1923"/>
              <a:chExt cx="296" cy="384"/>
            </a:xfrm>
          </p:grpSpPr>
          <p:sp>
            <p:nvSpPr>
              <p:cNvPr id="717886" name="Rectangle 62"/>
              <p:cNvSpPr>
                <a:spLocks noChangeArrowheads="1"/>
              </p:cNvSpPr>
              <p:nvPr/>
            </p:nvSpPr>
            <p:spPr bwMode="auto">
              <a:xfrm>
                <a:off x="636" y="1923"/>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87" name="Rectangle 63"/>
              <p:cNvSpPr>
                <a:spLocks noChangeArrowheads="1"/>
              </p:cNvSpPr>
              <p:nvPr/>
            </p:nvSpPr>
            <p:spPr bwMode="auto">
              <a:xfrm>
                <a:off x="593" y="1923"/>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88" name="Group 64"/>
            <p:cNvGrpSpPr>
              <a:grpSpLocks/>
            </p:cNvGrpSpPr>
            <p:nvPr/>
          </p:nvGrpSpPr>
          <p:grpSpPr bwMode="auto">
            <a:xfrm>
              <a:off x="0" y="2307"/>
              <a:ext cx="297" cy="384"/>
              <a:chOff x="0" y="2307"/>
              <a:chExt cx="297" cy="384"/>
            </a:xfrm>
          </p:grpSpPr>
          <p:sp>
            <p:nvSpPr>
              <p:cNvPr id="717889" name="Rectangle 65"/>
              <p:cNvSpPr>
                <a:spLocks noChangeArrowheads="1"/>
              </p:cNvSpPr>
              <p:nvPr/>
            </p:nvSpPr>
            <p:spPr bwMode="auto">
              <a:xfrm>
                <a:off x="43" y="2307"/>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90" name="Rectangle 66"/>
              <p:cNvSpPr>
                <a:spLocks noChangeArrowheads="1"/>
              </p:cNvSpPr>
              <p:nvPr/>
            </p:nvSpPr>
            <p:spPr bwMode="auto">
              <a:xfrm>
                <a:off x="0" y="2307"/>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91" name="Group 67"/>
            <p:cNvGrpSpPr>
              <a:grpSpLocks/>
            </p:cNvGrpSpPr>
            <p:nvPr/>
          </p:nvGrpSpPr>
          <p:grpSpPr bwMode="auto">
            <a:xfrm>
              <a:off x="297" y="2307"/>
              <a:ext cx="296" cy="384"/>
              <a:chOff x="297" y="2307"/>
              <a:chExt cx="296" cy="384"/>
            </a:xfrm>
          </p:grpSpPr>
          <p:sp>
            <p:nvSpPr>
              <p:cNvPr id="717892" name="Rectangle 68"/>
              <p:cNvSpPr>
                <a:spLocks noChangeArrowheads="1"/>
              </p:cNvSpPr>
              <p:nvPr/>
            </p:nvSpPr>
            <p:spPr bwMode="auto">
              <a:xfrm>
                <a:off x="340" y="2307"/>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93" name="Rectangle 69"/>
              <p:cNvSpPr>
                <a:spLocks noChangeArrowheads="1"/>
              </p:cNvSpPr>
              <p:nvPr/>
            </p:nvSpPr>
            <p:spPr bwMode="auto">
              <a:xfrm>
                <a:off x="297" y="2307"/>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94" name="Group 70"/>
            <p:cNvGrpSpPr>
              <a:grpSpLocks/>
            </p:cNvGrpSpPr>
            <p:nvPr/>
          </p:nvGrpSpPr>
          <p:grpSpPr bwMode="auto">
            <a:xfrm>
              <a:off x="593" y="2307"/>
              <a:ext cx="296" cy="384"/>
              <a:chOff x="593" y="2307"/>
              <a:chExt cx="296" cy="384"/>
            </a:xfrm>
          </p:grpSpPr>
          <p:sp>
            <p:nvSpPr>
              <p:cNvPr id="717895" name="Rectangle 71"/>
              <p:cNvSpPr>
                <a:spLocks noChangeArrowheads="1"/>
              </p:cNvSpPr>
              <p:nvPr/>
            </p:nvSpPr>
            <p:spPr bwMode="auto">
              <a:xfrm>
                <a:off x="636" y="2307"/>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e</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96" name="Rectangle 72"/>
              <p:cNvSpPr>
                <a:spLocks noChangeArrowheads="1"/>
              </p:cNvSpPr>
              <p:nvPr/>
            </p:nvSpPr>
            <p:spPr bwMode="auto">
              <a:xfrm>
                <a:off x="593" y="2307"/>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897" name="Group 73"/>
            <p:cNvGrpSpPr>
              <a:grpSpLocks/>
            </p:cNvGrpSpPr>
            <p:nvPr/>
          </p:nvGrpSpPr>
          <p:grpSpPr bwMode="auto">
            <a:xfrm>
              <a:off x="0" y="2691"/>
              <a:ext cx="297" cy="384"/>
              <a:chOff x="0" y="2691"/>
              <a:chExt cx="297" cy="384"/>
            </a:xfrm>
          </p:grpSpPr>
          <p:sp>
            <p:nvSpPr>
              <p:cNvPr id="717898" name="Rectangle 74"/>
              <p:cNvSpPr>
                <a:spLocks noChangeArrowheads="1"/>
              </p:cNvSpPr>
              <p:nvPr/>
            </p:nvSpPr>
            <p:spPr bwMode="auto">
              <a:xfrm>
                <a:off x="43" y="2691"/>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899" name="Rectangle 75"/>
              <p:cNvSpPr>
                <a:spLocks noChangeArrowheads="1"/>
              </p:cNvSpPr>
              <p:nvPr/>
            </p:nvSpPr>
            <p:spPr bwMode="auto">
              <a:xfrm>
                <a:off x="0" y="2691"/>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00" name="Group 76"/>
            <p:cNvGrpSpPr>
              <a:grpSpLocks/>
            </p:cNvGrpSpPr>
            <p:nvPr/>
          </p:nvGrpSpPr>
          <p:grpSpPr bwMode="auto">
            <a:xfrm>
              <a:off x="297" y="2691"/>
              <a:ext cx="296" cy="384"/>
              <a:chOff x="297" y="2691"/>
              <a:chExt cx="296" cy="384"/>
            </a:xfrm>
          </p:grpSpPr>
          <p:sp>
            <p:nvSpPr>
              <p:cNvPr id="717901" name="Rectangle 77"/>
              <p:cNvSpPr>
                <a:spLocks noChangeArrowheads="1"/>
              </p:cNvSpPr>
              <p:nvPr/>
            </p:nvSpPr>
            <p:spPr bwMode="auto">
              <a:xfrm>
                <a:off x="340" y="2691"/>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02" name="Rectangle 78"/>
              <p:cNvSpPr>
                <a:spLocks noChangeArrowheads="1"/>
              </p:cNvSpPr>
              <p:nvPr/>
            </p:nvSpPr>
            <p:spPr bwMode="auto">
              <a:xfrm>
                <a:off x="297" y="2691"/>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03" name="Group 79"/>
            <p:cNvGrpSpPr>
              <a:grpSpLocks/>
            </p:cNvGrpSpPr>
            <p:nvPr/>
          </p:nvGrpSpPr>
          <p:grpSpPr bwMode="auto">
            <a:xfrm>
              <a:off x="593" y="2691"/>
              <a:ext cx="296" cy="384"/>
              <a:chOff x="593" y="2691"/>
              <a:chExt cx="296" cy="384"/>
            </a:xfrm>
          </p:grpSpPr>
          <p:sp>
            <p:nvSpPr>
              <p:cNvPr id="717904" name="Rectangle 80"/>
              <p:cNvSpPr>
                <a:spLocks noChangeArrowheads="1"/>
              </p:cNvSpPr>
              <p:nvPr/>
            </p:nvSpPr>
            <p:spPr bwMode="auto">
              <a:xfrm>
                <a:off x="636" y="2691"/>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05" name="Rectangle 81"/>
              <p:cNvSpPr>
                <a:spLocks noChangeArrowheads="1"/>
              </p:cNvSpPr>
              <p:nvPr/>
            </p:nvSpPr>
            <p:spPr bwMode="auto">
              <a:xfrm>
                <a:off x="593" y="2691"/>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06" name="Group 82"/>
            <p:cNvGrpSpPr>
              <a:grpSpLocks/>
            </p:cNvGrpSpPr>
            <p:nvPr/>
          </p:nvGrpSpPr>
          <p:grpSpPr bwMode="auto">
            <a:xfrm>
              <a:off x="0" y="3075"/>
              <a:ext cx="297" cy="384"/>
              <a:chOff x="0" y="3075"/>
              <a:chExt cx="297" cy="384"/>
            </a:xfrm>
          </p:grpSpPr>
          <p:sp>
            <p:nvSpPr>
              <p:cNvPr id="717907" name="Rectangle 83"/>
              <p:cNvSpPr>
                <a:spLocks noChangeArrowheads="1"/>
              </p:cNvSpPr>
              <p:nvPr/>
            </p:nvSpPr>
            <p:spPr bwMode="auto">
              <a:xfrm>
                <a:off x="43" y="3075"/>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e</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08" name="Rectangle 84"/>
              <p:cNvSpPr>
                <a:spLocks noChangeArrowheads="1"/>
              </p:cNvSpPr>
              <p:nvPr/>
            </p:nvSpPr>
            <p:spPr bwMode="auto">
              <a:xfrm>
                <a:off x="0" y="3075"/>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09" name="Group 85"/>
            <p:cNvGrpSpPr>
              <a:grpSpLocks/>
            </p:cNvGrpSpPr>
            <p:nvPr/>
          </p:nvGrpSpPr>
          <p:grpSpPr bwMode="auto">
            <a:xfrm>
              <a:off x="297" y="3075"/>
              <a:ext cx="296" cy="384"/>
              <a:chOff x="297" y="3075"/>
              <a:chExt cx="296" cy="384"/>
            </a:xfrm>
          </p:grpSpPr>
          <p:sp>
            <p:nvSpPr>
              <p:cNvPr id="717910" name="Rectangle 86"/>
              <p:cNvSpPr>
                <a:spLocks noChangeArrowheads="1"/>
              </p:cNvSpPr>
              <p:nvPr/>
            </p:nvSpPr>
            <p:spPr bwMode="auto">
              <a:xfrm>
                <a:off x="340" y="3075"/>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f</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11" name="Rectangle 87"/>
              <p:cNvSpPr>
                <a:spLocks noChangeArrowheads="1"/>
              </p:cNvSpPr>
              <p:nvPr/>
            </p:nvSpPr>
            <p:spPr bwMode="auto">
              <a:xfrm>
                <a:off x="297" y="3075"/>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12" name="Group 88"/>
            <p:cNvGrpSpPr>
              <a:grpSpLocks/>
            </p:cNvGrpSpPr>
            <p:nvPr/>
          </p:nvGrpSpPr>
          <p:grpSpPr bwMode="auto">
            <a:xfrm>
              <a:off x="593" y="3075"/>
              <a:ext cx="296" cy="384"/>
              <a:chOff x="593" y="3075"/>
              <a:chExt cx="296" cy="384"/>
            </a:xfrm>
          </p:grpSpPr>
          <p:sp>
            <p:nvSpPr>
              <p:cNvPr id="717913" name="Rectangle 89"/>
              <p:cNvSpPr>
                <a:spLocks noChangeArrowheads="1"/>
              </p:cNvSpPr>
              <p:nvPr/>
            </p:nvSpPr>
            <p:spPr bwMode="auto">
              <a:xfrm>
                <a:off x="636" y="3075"/>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g</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14" name="Rectangle 90"/>
              <p:cNvSpPr>
                <a:spLocks noChangeArrowheads="1"/>
              </p:cNvSpPr>
              <p:nvPr/>
            </p:nvSpPr>
            <p:spPr bwMode="auto">
              <a:xfrm>
                <a:off x="593" y="3075"/>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717915" name="Rectangle 91"/>
          <p:cNvSpPr>
            <a:spLocks noChangeArrowheads="1"/>
          </p:cNvSpPr>
          <p:nvPr/>
        </p:nvSpPr>
        <p:spPr bwMode="auto">
          <a:xfrm>
            <a:off x="2312354" y="2676525"/>
            <a:ext cx="1752600" cy="320675"/>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zh-CN">
              <a:solidFill>
                <a:srgbClr val="660033"/>
              </a:solidFill>
            </a:endParaRPr>
          </a:p>
        </p:txBody>
      </p:sp>
      <p:sp>
        <p:nvSpPr>
          <p:cNvPr id="717993" name="Rectangle 169"/>
          <p:cNvSpPr>
            <a:spLocks noChangeArrowheads="1"/>
          </p:cNvSpPr>
          <p:nvPr/>
        </p:nvSpPr>
        <p:spPr bwMode="auto">
          <a:xfrm>
            <a:off x="4356100" y="715963"/>
            <a:ext cx="4787900" cy="1465262"/>
          </a:xfrm>
          <a:prstGeom prst="rect">
            <a:avLst/>
          </a:prstGeom>
          <a:noFill/>
          <a:ln w="38100">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
        <p:nvSpPr>
          <p:cNvPr id="717994" name="Rectangle 170"/>
          <p:cNvSpPr>
            <a:spLocks noChangeArrowheads="1"/>
          </p:cNvSpPr>
          <p:nvPr/>
        </p:nvSpPr>
        <p:spPr bwMode="auto">
          <a:xfrm>
            <a:off x="4441825" y="2262188"/>
            <a:ext cx="3248025" cy="406400"/>
          </a:xfrm>
          <a:prstGeom prst="rect">
            <a:avLst/>
          </a:prstGeom>
          <a:noFill/>
          <a:ln w="9525">
            <a:solidFill>
              <a:srgbClr val="009999"/>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nvGrpSpPr>
          <p:cNvPr id="718154" name="Group 330"/>
          <p:cNvGrpSpPr>
            <a:grpSpLocks/>
          </p:cNvGrpSpPr>
          <p:nvPr/>
        </p:nvGrpSpPr>
        <p:grpSpPr bwMode="auto">
          <a:xfrm>
            <a:off x="4356100" y="228600"/>
            <a:ext cx="4787900" cy="3416300"/>
            <a:chOff x="2744" y="144"/>
            <a:chExt cx="3016" cy="2152"/>
          </a:xfrm>
        </p:grpSpPr>
        <p:grpSp>
          <p:nvGrpSpPr>
            <p:cNvPr id="717918" name="Group 94"/>
            <p:cNvGrpSpPr>
              <a:grpSpLocks/>
            </p:cNvGrpSpPr>
            <p:nvPr/>
          </p:nvGrpSpPr>
          <p:grpSpPr bwMode="auto">
            <a:xfrm>
              <a:off x="2744" y="144"/>
              <a:ext cx="3016" cy="1947"/>
              <a:chOff x="-3" y="-3"/>
              <a:chExt cx="1317" cy="2406"/>
            </a:xfrm>
          </p:grpSpPr>
          <p:grpSp>
            <p:nvGrpSpPr>
              <p:cNvPr id="717919" name="Group 95"/>
              <p:cNvGrpSpPr>
                <a:grpSpLocks/>
              </p:cNvGrpSpPr>
              <p:nvPr/>
            </p:nvGrpSpPr>
            <p:grpSpPr bwMode="auto">
              <a:xfrm>
                <a:off x="0" y="0"/>
                <a:ext cx="1311" cy="2400"/>
                <a:chOff x="0" y="0"/>
                <a:chExt cx="1311" cy="2400"/>
              </a:xfrm>
            </p:grpSpPr>
            <p:grpSp>
              <p:nvGrpSpPr>
                <p:cNvPr id="717920" name="Group 96"/>
                <p:cNvGrpSpPr>
                  <a:grpSpLocks/>
                </p:cNvGrpSpPr>
                <p:nvPr/>
              </p:nvGrpSpPr>
              <p:grpSpPr bwMode="auto">
                <a:xfrm>
                  <a:off x="0" y="0"/>
                  <a:ext cx="339" cy="384"/>
                  <a:chOff x="0" y="0"/>
                  <a:chExt cx="339" cy="384"/>
                </a:xfrm>
              </p:grpSpPr>
              <p:sp>
                <p:nvSpPr>
                  <p:cNvPr id="717921" name="Rectangle 97"/>
                  <p:cNvSpPr>
                    <a:spLocks noChangeArrowheads="1"/>
                  </p:cNvSpPr>
                  <p:nvPr/>
                </p:nvSpPr>
                <p:spPr bwMode="auto">
                  <a:xfrm>
                    <a:off x="43" y="0"/>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22" name="Rectangle 98"/>
                  <p:cNvSpPr>
                    <a:spLocks noChangeArrowheads="1"/>
                  </p:cNvSpPr>
                  <p:nvPr/>
                </p:nvSpPr>
                <p:spPr bwMode="auto">
                  <a:xfrm>
                    <a:off x="0" y="0"/>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23" name="Group 99"/>
                <p:cNvGrpSpPr>
                  <a:grpSpLocks/>
                </p:cNvGrpSpPr>
                <p:nvPr/>
              </p:nvGrpSpPr>
              <p:grpSpPr bwMode="auto">
                <a:xfrm>
                  <a:off x="339" y="0"/>
                  <a:ext cx="296" cy="384"/>
                  <a:chOff x="339" y="0"/>
                  <a:chExt cx="296" cy="384"/>
                </a:xfrm>
              </p:grpSpPr>
              <p:sp>
                <p:nvSpPr>
                  <p:cNvPr id="717924" name="Rectangle 100"/>
                  <p:cNvSpPr>
                    <a:spLocks noChangeArrowheads="1"/>
                  </p:cNvSpPr>
                  <p:nvPr/>
                </p:nvSpPr>
                <p:spPr bwMode="auto">
                  <a:xfrm>
                    <a:off x="382" y="0"/>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1"/>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25" name="Rectangle 101"/>
                  <p:cNvSpPr>
                    <a:spLocks noChangeArrowheads="1"/>
                  </p:cNvSpPr>
                  <p:nvPr/>
                </p:nvSpPr>
                <p:spPr bwMode="auto">
                  <a:xfrm>
                    <a:off x="339" y="0"/>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26" name="Group 102"/>
                <p:cNvGrpSpPr>
                  <a:grpSpLocks/>
                </p:cNvGrpSpPr>
                <p:nvPr/>
              </p:nvGrpSpPr>
              <p:grpSpPr bwMode="auto">
                <a:xfrm>
                  <a:off x="635" y="0"/>
                  <a:ext cx="296" cy="384"/>
                  <a:chOff x="635" y="0"/>
                  <a:chExt cx="296" cy="384"/>
                </a:xfrm>
              </p:grpSpPr>
              <p:sp>
                <p:nvSpPr>
                  <p:cNvPr id="717927" name="Rectangle 103"/>
                  <p:cNvSpPr>
                    <a:spLocks noChangeArrowheads="1"/>
                  </p:cNvSpPr>
                  <p:nvPr/>
                </p:nvSpPr>
                <p:spPr bwMode="auto">
                  <a:xfrm>
                    <a:off x="678" y="0"/>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1"/>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28" name="Rectangle 104"/>
                  <p:cNvSpPr>
                    <a:spLocks noChangeArrowheads="1"/>
                  </p:cNvSpPr>
                  <p:nvPr/>
                </p:nvSpPr>
                <p:spPr bwMode="auto">
                  <a:xfrm>
                    <a:off x="635" y="0"/>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29" name="Group 105"/>
                <p:cNvGrpSpPr>
                  <a:grpSpLocks/>
                </p:cNvGrpSpPr>
                <p:nvPr/>
              </p:nvGrpSpPr>
              <p:grpSpPr bwMode="auto">
                <a:xfrm>
                  <a:off x="931" y="0"/>
                  <a:ext cx="380" cy="384"/>
                  <a:chOff x="931" y="0"/>
                  <a:chExt cx="380" cy="384"/>
                </a:xfrm>
              </p:grpSpPr>
              <p:sp>
                <p:nvSpPr>
                  <p:cNvPr id="717930" name="Rectangle 106"/>
                  <p:cNvSpPr>
                    <a:spLocks noChangeArrowheads="1"/>
                  </p:cNvSpPr>
                  <p:nvPr/>
                </p:nvSpPr>
                <p:spPr bwMode="auto">
                  <a:xfrm>
                    <a:off x="974" y="0"/>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31" name="Rectangle 107"/>
                  <p:cNvSpPr>
                    <a:spLocks noChangeArrowheads="1"/>
                  </p:cNvSpPr>
                  <p:nvPr/>
                </p:nvSpPr>
                <p:spPr bwMode="auto">
                  <a:xfrm>
                    <a:off x="931" y="0"/>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32" name="Group 108"/>
                <p:cNvGrpSpPr>
                  <a:grpSpLocks/>
                </p:cNvGrpSpPr>
                <p:nvPr/>
              </p:nvGrpSpPr>
              <p:grpSpPr bwMode="auto">
                <a:xfrm>
                  <a:off x="0" y="384"/>
                  <a:ext cx="339" cy="384"/>
                  <a:chOff x="0" y="384"/>
                  <a:chExt cx="339" cy="384"/>
                </a:xfrm>
              </p:grpSpPr>
              <p:sp>
                <p:nvSpPr>
                  <p:cNvPr id="717933" name="Rectangle 109"/>
                  <p:cNvSpPr>
                    <a:spLocks noChangeArrowheads="1"/>
                  </p:cNvSpPr>
                  <p:nvPr/>
                </p:nvSpPr>
                <p:spPr bwMode="auto">
                  <a:xfrm>
                    <a:off x="43" y="384"/>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34" name="Rectangle 110"/>
                  <p:cNvSpPr>
                    <a:spLocks noChangeArrowheads="1"/>
                  </p:cNvSpPr>
                  <p:nvPr/>
                </p:nvSpPr>
                <p:spPr bwMode="auto">
                  <a:xfrm>
                    <a:off x="0" y="384"/>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35" name="Group 111"/>
                <p:cNvGrpSpPr>
                  <a:grpSpLocks/>
                </p:cNvGrpSpPr>
                <p:nvPr/>
              </p:nvGrpSpPr>
              <p:grpSpPr bwMode="auto">
                <a:xfrm>
                  <a:off x="339" y="384"/>
                  <a:ext cx="296" cy="384"/>
                  <a:chOff x="339" y="384"/>
                  <a:chExt cx="296" cy="384"/>
                </a:xfrm>
              </p:grpSpPr>
              <p:sp>
                <p:nvSpPr>
                  <p:cNvPr id="717936" name="Rectangle 112"/>
                  <p:cNvSpPr>
                    <a:spLocks noChangeArrowheads="1"/>
                  </p:cNvSpPr>
                  <p:nvPr/>
                </p:nvSpPr>
                <p:spPr bwMode="auto">
                  <a:xfrm>
                    <a:off x="382" y="384"/>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37" name="Rectangle 113"/>
                  <p:cNvSpPr>
                    <a:spLocks noChangeArrowheads="1"/>
                  </p:cNvSpPr>
                  <p:nvPr/>
                </p:nvSpPr>
                <p:spPr bwMode="auto">
                  <a:xfrm>
                    <a:off x="339" y="384"/>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38" name="Group 114"/>
                <p:cNvGrpSpPr>
                  <a:grpSpLocks/>
                </p:cNvGrpSpPr>
                <p:nvPr/>
              </p:nvGrpSpPr>
              <p:grpSpPr bwMode="auto">
                <a:xfrm>
                  <a:off x="635" y="384"/>
                  <a:ext cx="296" cy="384"/>
                  <a:chOff x="635" y="384"/>
                  <a:chExt cx="296" cy="384"/>
                </a:xfrm>
              </p:grpSpPr>
              <p:sp>
                <p:nvSpPr>
                  <p:cNvPr id="717939" name="Rectangle 115"/>
                  <p:cNvSpPr>
                    <a:spLocks noChangeArrowheads="1"/>
                  </p:cNvSpPr>
                  <p:nvPr/>
                </p:nvSpPr>
                <p:spPr bwMode="auto">
                  <a:xfrm>
                    <a:off x="678" y="384"/>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40" name="Rectangle 116"/>
                  <p:cNvSpPr>
                    <a:spLocks noChangeArrowheads="1"/>
                  </p:cNvSpPr>
                  <p:nvPr/>
                </p:nvSpPr>
                <p:spPr bwMode="auto">
                  <a:xfrm>
                    <a:off x="635" y="384"/>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41" name="Group 117"/>
                <p:cNvGrpSpPr>
                  <a:grpSpLocks/>
                </p:cNvGrpSpPr>
                <p:nvPr/>
              </p:nvGrpSpPr>
              <p:grpSpPr bwMode="auto">
                <a:xfrm>
                  <a:off x="931" y="384"/>
                  <a:ext cx="380" cy="384"/>
                  <a:chOff x="931" y="384"/>
                  <a:chExt cx="380" cy="384"/>
                </a:xfrm>
              </p:grpSpPr>
              <p:sp>
                <p:nvSpPr>
                  <p:cNvPr id="717942" name="Rectangle 118"/>
                  <p:cNvSpPr>
                    <a:spLocks noChangeArrowheads="1"/>
                  </p:cNvSpPr>
                  <p:nvPr/>
                </p:nvSpPr>
                <p:spPr bwMode="auto">
                  <a:xfrm>
                    <a:off x="974" y="384"/>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43" name="Rectangle 119"/>
                  <p:cNvSpPr>
                    <a:spLocks noChangeArrowheads="1"/>
                  </p:cNvSpPr>
                  <p:nvPr/>
                </p:nvSpPr>
                <p:spPr bwMode="auto">
                  <a:xfrm>
                    <a:off x="931" y="384"/>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44" name="Group 120"/>
                <p:cNvGrpSpPr>
                  <a:grpSpLocks/>
                </p:cNvGrpSpPr>
                <p:nvPr/>
              </p:nvGrpSpPr>
              <p:grpSpPr bwMode="auto">
                <a:xfrm>
                  <a:off x="0" y="768"/>
                  <a:ext cx="339" cy="384"/>
                  <a:chOff x="0" y="768"/>
                  <a:chExt cx="339" cy="384"/>
                </a:xfrm>
              </p:grpSpPr>
              <p:sp>
                <p:nvSpPr>
                  <p:cNvPr id="717945" name="Rectangle 121"/>
                  <p:cNvSpPr>
                    <a:spLocks noChangeArrowheads="1"/>
                  </p:cNvSpPr>
                  <p:nvPr/>
                </p:nvSpPr>
                <p:spPr bwMode="auto">
                  <a:xfrm>
                    <a:off x="43" y="768"/>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46" name="Rectangle 122"/>
                  <p:cNvSpPr>
                    <a:spLocks noChangeArrowheads="1"/>
                  </p:cNvSpPr>
                  <p:nvPr/>
                </p:nvSpPr>
                <p:spPr bwMode="auto">
                  <a:xfrm>
                    <a:off x="0" y="768"/>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47" name="Group 123"/>
                <p:cNvGrpSpPr>
                  <a:grpSpLocks/>
                </p:cNvGrpSpPr>
                <p:nvPr/>
              </p:nvGrpSpPr>
              <p:grpSpPr bwMode="auto">
                <a:xfrm>
                  <a:off x="339" y="768"/>
                  <a:ext cx="296" cy="384"/>
                  <a:chOff x="339" y="768"/>
                  <a:chExt cx="296" cy="384"/>
                </a:xfrm>
              </p:grpSpPr>
              <p:sp>
                <p:nvSpPr>
                  <p:cNvPr id="717948" name="Rectangle 124"/>
                  <p:cNvSpPr>
                    <a:spLocks noChangeArrowheads="1"/>
                  </p:cNvSpPr>
                  <p:nvPr/>
                </p:nvSpPr>
                <p:spPr bwMode="auto">
                  <a:xfrm>
                    <a:off x="382" y="768"/>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49" name="Rectangle 125"/>
                  <p:cNvSpPr>
                    <a:spLocks noChangeArrowheads="1"/>
                  </p:cNvSpPr>
                  <p:nvPr/>
                </p:nvSpPr>
                <p:spPr bwMode="auto">
                  <a:xfrm>
                    <a:off x="339" y="768"/>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50" name="Group 126"/>
                <p:cNvGrpSpPr>
                  <a:grpSpLocks/>
                </p:cNvGrpSpPr>
                <p:nvPr/>
              </p:nvGrpSpPr>
              <p:grpSpPr bwMode="auto">
                <a:xfrm>
                  <a:off x="635" y="768"/>
                  <a:ext cx="296" cy="384"/>
                  <a:chOff x="635" y="768"/>
                  <a:chExt cx="296" cy="384"/>
                </a:xfrm>
              </p:grpSpPr>
              <p:sp>
                <p:nvSpPr>
                  <p:cNvPr id="717951" name="Rectangle 127"/>
                  <p:cNvSpPr>
                    <a:spLocks noChangeArrowheads="1"/>
                  </p:cNvSpPr>
                  <p:nvPr/>
                </p:nvSpPr>
                <p:spPr bwMode="auto">
                  <a:xfrm>
                    <a:off x="678" y="768"/>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52" name="Rectangle 128"/>
                  <p:cNvSpPr>
                    <a:spLocks noChangeArrowheads="1"/>
                  </p:cNvSpPr>
                  <p:nvPr/>
                </p:nvSpPr>
                <p:spPr bwMode="auto">
                  <a:xfrm>
                    <a:off x="635" y="768"/>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53" name="Group 129"/>
                <p:cNvGrpSpPr>
                  <a:grpSpLocks/>
                </p:cNvGrpSpPr>
                <p:nvPr/>
              </p:nvGrpSpPr>
              <p:grpSpPr bwMode="auto">
                <a:xfrm>
                  <a:off x="931" y="768"/>
                  <a:ext cx="380" cy="384"/>
                  <a:chOff x="931" y="768"/>
                  <a:chExt cx="380" cy="384"/>
                </a:xfrm>
              </p:grpSpPr>
              <p:sp>
                <p:nvSpPr>
                  <p:cNvPr id="717954" name="Rectangle 130"/>
                  <p:cNvSpPr>
                    <a:spLocks noChangeArrowheads="1"/>
                  </p:cNvSpPr>
                  <p:nvPr/>
                </p:nvSpPr>
                <p:spPr bwMode="auto">
                  <a:xfrm>
                    <a:off x="974" y="768"/>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e</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55" name="Rectangle 131"/>
                  <p:cNvSpPr>
                    <a:spLocks noChangeArrowheads="1"/>
                  </p:cNvSpPr>
                  <p:nvPr/>
                </p:nvSpPr>
                <p:spPr bwMode="auto">
                  <a:xfrm>
                    <a:off x="931" y="768"/>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56" name="Group 132"/>
                <p:cNvGrpSpPr>
                  <a:grpSpLocks/>
                </p:cNvGrpSpPr>
                <p:nvPr/>
              </p:nvGrpSpPr>
              <p:grpSpPr bwMode="auto">
                <a:xfrm>
                  <a:off x="0" y="1152"/>
                  <a:ext cx="339" cy="384"/>
                  <a:chOff x="0" y="1152"/>
                  <a:chExt cx="339" cy="384"/>
                </a:xfrm>
              </p:grpSpPr>
              <p:sp>
                <p:nvSpPr>
                  <p:cNvPr id="717957" name="Rectangle 133"/>
                  <p:cNvSpPr>
                    <a:spLocks noChangeArrowheads="1"/>
                  </p:cNvSpPr>
                  <p:nvPr/>
                </p:nvSpPr>
                <p:spPr bwMode="auto">
                  <a:xfrm>
                    <a:off x="43" y="1152"/>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58" name="Rectangle 134"/>
                  <p:cNvSpPr>
                    <a:spLocks noChangeArrowheads="1"/>
                  </p:cNvSpPr>
                  <p:nvPr/>
                </p:nvSpPr>
                <p:spPr bwMode="auto">
                  <a:xfrm>
                    <a:off x="0" y="1152"/>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59" name="Group 135"/>
                <p:cNvGrpSpPr>
                  <a:grpSpLocks/>
                </p:cNvGrpSpPr>
                <p:nvPr/>
              </p:nvGrpSpPr>
              <p:grpSpPr bwMode="auto">
                <a:xfrm>
                  <a:off x="339" y="1152"/>
                  <a:ext cx="296" cy="384"/>
                  <a:chOff x="339" y="1152"/>
                  <a:chExt cx="296" cy="384"/>
                </a:xfrm>
              </p:grpSpPr>
              <p:sp>
                <p:nvSpPr>
                  <p:cNvPr id="717960" name="Rectangle 136"/>
                  <p:cNvSpPr>
                    <a:spLocks noChangeArrowheads="1"/>
                  </p:cNvSpPr>
                  <p:nvPr/>
                </p:nvSpPr>
                <p:spPr bwMode="auto">
                  <a:xfrm>
                    <a:off x="382" y="115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61" name="Rectangle 137"/>
                  <p:cNvSpPr>
                    <a:spLocks noChangeArrowheads="1"/>
                  </p:cNvSpPr>
                  <p:nvPr/>
                </p:nvSpPr>
                <p:spPr bwMode="auto">
                  <a:xfrm>
                    <a:off x="339" y="115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62" name="Group 138"/>
                <p:cNvGrpSpPr>
                  <a:grpSpLocks/>
                </p:cNvGrpSpPr>
                <p:nvPr/>
              </p:nvGrpSpPr>
              <p:grpSpPr bwMode="auto">
                <a:xfrm>
                  <a:off x="635" y="1152"/>
                  <a:ext cx="296" cy="384"/>
                  <a:chOff x="635" y="1152"/>
                  <a:chExt cx="296" cy="384"/>
                </a:xfrm>
              </p:grpSpPr>
              <p:sp>
                <p:nvSpPr>
                  <p:cNvPr id="717963" name="Rectangle 139"/>
                  <p:cNvSpPr>
                    <a:spLocks noChangeArrowheads="1"/>
                  </p:cNvSpPr>
                  <p:nvPr/>
                </p:nvSpPr>
                <p:spPr bwMode="auto">
                  <a:xfrm>
                    <a:off x="678" y="115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64" name="Rectangle 140"/>
                  <p:cNvSpPr>
                    <a:spLocks noChangeArrowheads="1"/>
                  </p:cNvSpPr>
                  <p:nvPr/>
                </p:nvSpPr>
                <p:spPr bwMode="auto">
                  <a:xfrm>
                    <a:off x="635" y="115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65" name="Group 141"/>
                <p:cNvGrpSpPr>
                  <a:grpSpLocks/>
                </p:cNvGrpSpPr>
                <p:nvPr/>
              </p:nvGrpSpPr>
              <p:grpSpPr bwMode="auto">
                <a:xfrm>
                  <a:off x="931" y="1152"/>
                  <a:ext cx="380" cy="384"/>
                  <a:chOff x="931" y="1152"/>
                  <a:chExt cx="380" cy="384"/>
                </a:xfrm>
              </p:grpSpPr>
              <p:sp>
                <p:nvSpPr>
                  <p:cNvPr id="717966" name="Rectangle 142"/>
                  <p:cNvSpPr>
                    <a:spLocks noChangeArrowheads="1"/>
                  </p:cNvSpPr>
                  <p:nvPr/>
                </p:nvSpPr>
                <p:spPr bwMode="auto">
                  <a:xfrm>
                    <a:off x="974" y="1152"/>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67" name="Rectangle 143"/>
                  <p:cNvSpPr>
                    <a:spLocks noChangeArrowheads="1"/>
                  </p:cNvSpPr>
                  <p:nvPr/>
                </p:nvSpPr>
                <p:spPr bwMode="auto">
                  <a:xfrm>
                    <a:off x="931" y="1152"/>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68" name="Group 144"/>
                <p:cNvGrpSpPr>
                  <a:grpSpLocks/>
                </p:cNvGrpSpPr>
                <p:nvPr/>
              </p:nvGrpSpPr>
              <p:grpSpPr bwMode="auto">
                <a:xfrm>
                  <a:off x="0" y="1536"/>
                  <a:ext cx="339" cy="384"/>
                  <a:chOff x="0" y="1536"/>
                  <a:chExt cx="339" cy="384"/>
                </a:xfrm>
              </p:grpSpPr>
              <p:sp>
                <p:nvSpPr>
                  <p:cNvPr id="717969" name="Rectangle 145"/>
                  <p:cNvSpPr>
                    <a:spLocks noChangeArrowheads="1"/>
                  </p:cNvSpPr>
                  <p:nvPr/>
                </p:nvSpPr>
                <p:spPr bwMode="auto">
                  <a:xfrm>
                    <a:off x="43" y="1536"/>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70" name="Rectangle 146"/>
                  <p:cNvSpPr>
                    <a:spLocks noChangeArrowheads="1"/>
                  </p:cNvSpPr>
                  <p:nvPr/>
                </p:nvSpPr>
                <p:spPr bwMode="auto">
                  <a:xfrm>
                    <a:off x="0" y="1536"/>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71" name="Group 147"/>
                <p:cNvGrpSpPr>
                  <a:grpSpLocks/>
                </p:cNvGrpSpPr>
                <p:nvPr/>
              </p:nvGrpSpPr>
              <p:grpSpPr bwMode="auto">
                <a:xfrm>
                  <a:off x="339" y="1536"/>
                  <a:ext cx="296" cy="384"/>
                  <a:chOff x="339" y="1536"/>
                  <a:chExt cx="296" cy="384"/>
                </a:xfrm>
              </p:grpSpPr>
              <p:sp>
                <p:nvSpPr>
                  <p:cNvPr id="717972" name="Rectangle 148"/>
                  <p:cNvSpPr>
                    <a:spLocks noChangeArrowheads="1"/>
                  </p:cNvSpPr>
                  <p:nvPr/>
                </p:nvSpPr>
                <p:spPr bwMode="auto">
                  <a:xfrm>
                    <a:off x="382" y="1536"/>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73" name="Rectangle 149"/>
                  <p:cNvSpPr>
                    <a:spLocks noChangeArrowheads="1"/>
                  </p:cNvSpPr>
                  <p:nvPr/>
                </p:nvSpPr>
                <p:spPr bwMode="auto">
                  <a:xfrm>
                    <a:off x="339" y="1536"/>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74" name="Group 150"/>
                <p:cNvGrpSpPr>
                  <a:grpSpLocks/>
                </p:cNvGrpSpPr>
                <p:nvPr/>
              </p:nvGrpSpPr>
              <p:grpSpPr bwMode="auto">
                <a:xfrm>
                  <a:off x="635" y="1536"/>
                  <a:ext cx="296" cy="384"/>
                  <a:chOff x="635" y="1536"/>
                  <a:chExt cx="296" cy="384"/>
                </a:xfrm>
              </p:grpSpPr>
              <p:sp>
                <p:nvSpPr>
                  <p:cNvPr id="717975" name="Rectangle 151"/>
                  <p:cNvSpPr>
                    <a:spLocks noChangeArrowheads="1"/>
                  </p:cNvSpPr>
                  <p:nvPr/>
                </p:nvSpPr>
                <p:spPr bwMode="auto">
                  <a:xfrm>
                    <a:off x="678" y="1536"/>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f</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76" name="Rectangle 152"/>
                  <p:cNvSpPr>
                    <a:spLocks noChangeArrowheads="1"/>
                  </p:cNvSpPr>
                  <p:nvPr/>
                </p:nvSpPr>
                <p:spPr bwMode="auto">
                  <a:xfrm>
                    <a:off x="635" y="1536"/>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77" name="Group 153"/>
                <p:cNvGrpSpPr>
                  <a:grpSpLocks/>
                </p:cNvGrpSpPr>
                <p:nvPr/>
              </p:nvGrpSpPr>
              <p:grpSpPr bwMode="auto">
                <a:xfrm>
                  <a:off x="931" y="1536"/>
                  <a:ext cx="380" cy="384"/>
                  <a:chOff x="931" y="1536"/>
                  <a:chExt cx="380" cy="384"/>
                </a:xfrm>
              </p:grpSpPr>
              <p:sp>
                <p:nvSpPr>
                  <p:cNvPr id="717978" name="Rectangle 154"/>
                  <p:cNvSpPr>
                    <a:spLocks noChangeArrowheads="1"/>
                  </p:cNvSpPr>
                  <p:nvPr/>
                </p:nvSpPr>
                <p:spPr bwMode="auto">
                  <a:xfrm>
                    <a:off x="974" y="1536"/>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null</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79" name="Rectangle 155"/>
                  <p:cNvSpPr>
                    <a:spLocks noChangeArrowheads="1"/>
                  </p:cNvSpPr>
                  <p:nvPr/>
                </p:nvSpPr>
                <p:spPr bwMode="auto">
                  <a:xfrm>
                    <a:off x="931" y="1536"/>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80" name="Group 156"/>
                <p:cNvGrpSpPr>
                  <a:grpSpLocks/>
                </p:cNvGrpSpPr>
                <p:nvPr/>
              </p:nvGrpSpPr>
              <p:grpSpPr bwMode="auto">
                <a:xfrm>
                  <a:off x="0" y="1920"/>
                  <a:ext cx="339" cy="480"/>
                  <a:chOff x="0" y="1920"/>
                  <a:chExt cx="339" cy="480"/>
                </a:xfrm>
              </p:grpSpPr>
              <p:sp>
                <p:nvSpPr>
                  <p:cNvPr id="717981" name="Rectangle 157"/>
                  <p:cNvSpPr>
                    <a:spLocks noChangeArrowheads="1"/>
                  </p:cNvSpPr>
                  <p:nvPr/>
                </p:nvSpPr>
                <p:spPr bwMode="auto">
                  <a:xfrm>
                    <a:off x="43" y="1920"/>
                    <a:ext cx="25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2800" b="1">
                        <a:solidFill>
                          <a:schemeClr val="bg2"/>
                        </a:solidFill>
                      </a:rPr>
                      <a:t>null</a:t>
                    </a:r>
                  </a:p>
                  <a:p>
                    <a:pPr algn="ctr" eaLnBrk="0" hangingPunct="0">
                      <a:lnSpc>
                        <a:spcPct val="100000"/>
                      </a:lnSpc>
                      <a:spcBef>
                        <a:spcPct val="0"/>
                      </a:spcBef>
                    </a:pPr>
                    <a:endParaRPr lang="en-US" altLang="zh-CN" sz="2800" b="1">
                      <a:solidFill>
                        <a:schemeClr val="bg2"/>
                      </a:solidFill>
                      <a:latin typeface="Times New Roman" pitchFamily="18" charset="0"/>
                    </a:endParaRPr>
                  </a:p>
                </p:txBody>
              </p:sp>
              <p:sp>
                <p:nvSpPr>
                  <p:cNvPr id="717982" name="Rectangle 158"/>
                  <p:cNvSpPr>
                    <a:spLocks noChangeArrowheads="1"/>
                  </p:cNvSpPr>
                  <p:nvPr/>
                </p:nvSpPr>
                <p:spPr bwMode="auto">
                  <a:xfrm>
                    <a:off x="0" y="1920"/>
                    <a:ext cx="33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83" name="Group 159"/>
                <p:cNvGrpSpPr>
                  <a:grpSpLocks/>
                </p:cNvGrpSpPr>
                <p:nvPr/>
              </p:nvGrpSpPr>
              <p:grpSpPr bwMode="auto">
                <a:xfrm>
                  <a:off x="339" y="1920"/>
                  <a:ext cx="296" cy="480"/>
                  <a:chOff x="339" y="1920"/>
                  <a:chExt cx="296" cy="480"/>
                </a:xfrm>
              </p:grpSpPr>
              <p:sp>
                <p:nvSpPr>
                  <p:cNvPr id="717984" name="Rectangle 160"/>
                  <p:cNvSpPr>
                    <a:spLocks noChangeArrowheads="1"/>
                  </p:cNvSpPr>
                  <p:nvPr/>
                </p:nvSpPr>
                <p:spPr bwMode="auto">
                  <a:xfrm>
                    <a:off x="382" y="1920"/>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e</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85" name="Rectangle 161"/>
                  <p:cNvSpPr>
                    <a:spLocks noChangeArrowheads="1"/>
                  </p:cNvSpPr>
                  <p:nvPr/>
                </p:nvSpPr>
                <p:spPr bwMode="auto">
                  <a:xfrm>
                    <a:off x="339" y="1920"/>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86" name="Group 162"/>
                <p:cNvGrpSpPr>
                  <a:grpSpLocks/>
                </p:cNvGrpSpPr>
                <p:nvPr/>
              </p:nvGrpSpPr>
              <p:grpSpPr bwMode="auto">
                <a:xfrm>
                  <a:off x="635" y="1920"/>
                  <a:ext cx="296" cy="480"/>
                  <a:chOff x="635" y="1920"/>
                  <a:chExt cx="296" cy="480"/>
                </a:xfrm>
              </p:grpSpPr>
              <p:sp>
                <p:nvSpPr>
                  <p:cNvPr id="717987" name="Rectangle 163"/>
                  <p:cNvSpPr>
                    <a:spLocks noChangeArrowheads="1"/>
                  </p:cNvSpPr>
                  <p:nvPr/>
                </p:nvSpPr>
                <p:spPr bwMode="auto">
                  <a:xfrm>
                    <a:off x="678" y="1920"/>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f</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88" name="Rectangle 164"/>
                  <p:cNvSpPr>
                    <a:spLocks noChangeArrowheads="1"/>
                  </p:cNvSpPr>
                  <p:nvPr/>
                </p:nvSpPr>
                <p:spPr bwMode="auto">
                  <a:xfrm>
                    <a:off x="635" y="1920"/>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7989" name="Group 165"/>
                <p:cNvGrpSpPr>
                  <a:grpSpLocks/>
                </p:cNvGrpSpPr>
                <p:nvPr/>
              </p:nvGrpSpPr>
              <p:grpSpPr bwMode="auto">
                <a:xfrm>
                  <a:off x="931" y="1920"/>
                  <a:ext cx="380" cy="480"/>
                  <a:chOff x="931" y="1920"/>
                  <a:chExt cx="380" cy="480"/>
                </a:xfrm>
              </p:grpSpPr>
              <p:sp>
                <p:nvSpPr>
                  <p:cNvPr id="717990" name="Rectangle 166"/>
                  <p:cNvSpPr>
                    <a:spLocks noChangeArrowheads="1"/>
                  </p:cNvSpPr>
                  <p:nvPr/>
                </p:nvSpPr>
                <p:spPr bwMode="auto">
                  <a:xfrm>
                    <a:off x="974" y="1920"/>
                    <a:ext cx="29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g</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7991" name="Rectangle 167"/>
                  <p:cNvSpPr>
                    <a:spLocks noChangeArrowheads="1"/>
                  </p:cNvSpPr>
                  <p:nvPr/>
                </p:nvSpPr>
                <p:spPr bwMode="auto">
                  <a:xfrm>
                    <a:off x="931" y="1920"/>
                    <a:ext cx="38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717992" name="Rectangle 168"/>
              <p:cNvSpPr>
                <a:spLocks noChangeArrowheads="1"/>
              </p:cNvSpPr>
              <p:nvPr/>
            </p:nvSpPr>
            <p:spPr bwMode="auto">
              <a:xfrm>
                <a:off x="-3" y="-3"/>
                <a:ext cx="1317" cy="2406"/>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717995" name="Text Box 171"/>
            <p:cNvSpPr txBox="1">
              <a:spLocks noChangeArrowheads="1"/>
            </p:cNvSpPr>
            <p:nvPr/>
          </p:nvSpPr>
          <p:spPr bwMode="auto">
            <a:xfrm>
              <a:off x="3660" y="1784"/>
              <a:ext cx="1992" cy="310"/>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zh-CN" sz="3200" b="1">
                <a:solidFill>
                  <a:schemeClr val="bg2"/>
                </a:solidFill>
              </a:endParaRPr>
            </a:p>
          </p:txBody>
        </p:sp>
        <p:grpSp>
          <p:nvGrpSpPr>
            <p:cNvPr id="717996" name="Group 172"/>
            <p:cNvGrpSpPr>
              <a:grpSpLocks/>
            </p:cNvGrpSpPr>
            <p:nvPr/>
          </p:nvGrpSpPr>
          <p:grpSpPr bwMode="auto">
            <a:xfrm>
              <a:off x="3821" y="2142"/>
              <a:ext cx="485" cy="154"/>
              <a:chOff x="6405" y="8304"/>
              <a:chExt cx="420" cy="156"/>
            </a:xfrm>
          </p:grpSpPr>
          <p:sp>
            <p:nvSpPr>
              <p:cNvPr id="717997" name="AutoShape 173"/>
              <p:cNvSpPr>
                <a:spLocks noChangeArrowheads="1"/>
              </p:cNvSpPr>
              <p:nvPr/>
            </p:nvSpPr>
            <p:spPr bwMode="auto">
              <a:xfrm rot="-5400000">
                <a:off x="6537" y="8277"/>
                <a:ext cx="156" cy="210"/>
              </a:xfrm>
              <a:prstGeom prst="flowChartCollate">
                <a:avLst/>
              </a:prstGeom>
              <a:solidFill>
                <a:srgbClr val="FFFFFF"/>
              </a:solidFill>
              <a:ln w="19050">
                <a:solidFill>
                  <a:schemeClr val="bg2"/>
                </a:solidFill>
                <a:miter lim="800000"/>
                <a:headEnd/>
                <a:tailEnd/>
              </a:ln>
            </p:spPr>
            <p:txBody>
              <a:bodyPr/>
              <a:lstStyle/>
              <a:p>
                <a:endParaRPr lang="zh-CN" altLang="en-US"/>
              </a:p>
            </p:txBody>
          </p:sp>
          <p:sp>
            <p:nvSpPr>
              <p:cNvPr id="717998" name="Line 174"/>
              <p:cNvSpPr>
                <a:spLocks noChangeShapeType="1"/>
              </p:cNvSpPr>
              <p:nvPr/>
            </p:nvSpPr>
            <p:spPr bwMode="auto">
              <a:xfrm>
                <a:off x="6720" y="8304"/>
                <a:ext cx="10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7999" name="Line 175"/>
              <p:cNvSpPr>
                <a:spLocks noChangeShapeType="1"/>
              </p:cNvSpPr>
              <p:nvPr/>
            </p:nvSpPr>
            <p:spPr bwMode="auto">
              <a:xfrm>
                <a:off x="6720" y="8460"/>
                <a:ext cx="10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8000" name="Line 176"/>
              <p:cNvSpPr>
                <a:spLocks noChangeShapeType="1"/>
              </p:cNvSpPr>
              <p:nvPr/>
            </p:nvSpPr>
            <p:spPr bwMode="auto">
              <a:xfrm flipH="1">
                <a:off x="6405" y="8304"/>
                <a:ext cx="10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8001" name="Line 177"/>
              <p:cNvSpPr>
                <a:spLocks noChangeShapeType="1"/>
              </p:cNvSpPr>
              <p:nvPr/>
            </p:nvSpPr>
            <p:spPr bwMode="auto">
              <a:xfrm flipH="1">
                <a:off x="6405" y="8460"/>
                <a:ext cx="105" cy="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718002" name="Rectangle 178"/>
          <p:cNvSpPr>
            <a:spLocks noChangeArrowheads="1"/>
          </p:cNvSpPr>
          <p:nvPr/>
        </p:nvSpPr>
        <p:spPr bwMode="auto">
          <a:xfrm>
            <a:off x="609600" y="2895600"/>
            <a:ext cx="947738"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400" b="1">
                <a:solidFill>
                  <a:srgbClr val="660033"/>
                </a:solidFill>
              </a:rPr>
              <a:t>关系</a:t>
            </a:r>
            <a:r>
              <a:rPr lang="en-US" altLang="zh-CN" sz="2400" b="1">
                <a:solidFill>
                  <a:srgbClr val="660033"/>
                </a:solidFill>
              </a:rPr>
              <a:t>R</a:t>
            </a:r>
          </a:p>
        </p:txBody>
      </p:sp>
      <p:sp>
        <p:nvSpPr>
          <p:cNvPr id="718003" name="Rectangle 179"/>
          <p:cNvSpPr>
            <a:spLocks noChangeArrowheads="1"/>
          </p:cNvSpPr>
          <p:nvPr/>
        </p:nvSpPr>
        <p:spPr bwMode="auto">
          <a:xfrm>
            <a:off x="2791779" y="3084513"/>
            <a:ext cx="947738"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400" b="1">
                <a:solidFill>
                  <a:srgbClr val="660033"/>
                </a:solidFill>
              </a:rPr>
              <a:t>关系</a:t>
            </a:r>
            <a:r>
              <a:rPr lang="en-US" altLang="zh-CN" sz="2400" b="1">
                <a:solidFill>
                  <a:srgbClr val="660033"/>
                </a:solidFill>
              </a:rPr>
              <a:t>S</a:t>
            </a:r>
          </a:p>
        </p:txBody>
      </p:sp>
      <p:grpSp>
        <p:nvGrpSpPr>
          <p:cNvPr id="718147" name="Group 323"/>
          <p:cNvGrpSpPr>
            <a:grpSpLocks/>
          </p:cNvGrpSpPr>
          <p:nvPr/>
        </p:nvGrpSpPr>
        <p:grpSpPr bwMode="auto">
          <a:xfrm>
            <a:off x="0" y="3716338"/>
            <a:ext cx="4248150" cy="2994025"/>
            <a:chOff x="0" y="2341"/>
            <a:chExt cx="2676" cy="1886"/>
          </a:xfrm>
        </p:grpSpPr>
        <p:grpSp>
          <p:nvGrpSpPr>
            <p:cNvPr id="718145" name="Group 321"/>
            <p:cNvGrpSpPr>
              <a:grpSpLocks/>
            </p:cNvGrpSpPr>
            <p:nvPr/>
          </p:nvGrpSpPr>
          <p:grpSpPr bwMode="auto">
            <a:xfrm>
              <a:off x="0" y="2341"/>
              <a:ext cx="2676" cy="1886"/>
              <a:chOff x="0" y="2341"/>
              <a:chExt cx="2676" cy="1886"/>
            </a:xfrm>
          </p:grpSpPr>
          <p:grpSp>
            <p:nvGrpSpPr>
              <p:cNvPr id="718005" name="Group 181"/>
              <p:cNvGrpSpPr>
                <a:grpSpLocks/>
              </p:cNvGrpSpPr>
              <p:nvPr/>
            </p:nvGrpSpPr>
            <p:grpSpPr bwMode="auto">
              <a:xfrm>
                <a:off x="0" y="2341"/>
                <a:ext cx="2676" cy="1680"/>
                <a:chOff x="-3" y="2400"/>
                <a:chExt cx="1233" cy="2022"/>
              </a:xfrm>
            </p:grpSpPr>
            <p:grpSp>
              <p:nvGrpSpPr>
                <p:cNvPr id="718006" name="Group 182"/>
                <p:cNvGrpSpPr>
                  <a:grpSpLocks/>
                </p:cNvGrpSpPr>
                <p:nvPr/>
              </p:nvGrpSpPr>
              <p:grpSpPr bwMode="auto">
                <a:xfrm>
                  <a:off x="0" y="2403"/>
                  <a:ext cx="1227" cy="2016"/>
                  <a:chOff x="0" y="2403"/>
                  <a:chExt cx="1227" cy="2016"/>
                </a:xfrm>
              </p:grpSpPr>
              <p:grpSp>
                <p:nvGrpSpPr>
                  <p:cNvPr id="718007" name="Group 183"/>
                  <p:cNvGrpSpPr>
                    <a:grpSpLocks/>
                  </p:cNvGrpSpPr>
                  <p:nvPr/>
                </p:nvGrpSpPr>
                <p:grpSpPr bwMode="auto">
                  <a:xfrm>
                    <a:off x="0" y="2403"/>
                    <a:ext cx="297" cy="384"/>
                    <a:chOff x="0" y="2403"/>
                    <a:chExt cx="297" cy="384"/>
                  </a:xfrm>
                </p:grpSpPr>
                <p:sp>
                  <p:nvSpPr>
                    <p:cNvPr id="718008" name="Rectangle 184"/>
                    <p:cNvSpPr>
                      <a:spLocks noChangeArrowheads="1"/>
                    </p:cNvSpPr>
                    <p:nvPr/>
                  </p:nvSpPr>
                  <p:spPr bwMode="auto">
                    <a:xfrm>
                      <a:off x="43" y="2403"/>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09" name="Rectangle 185"/>
                    <p:cNvSpPr>
                      <a:spLocks noChangeArrowheads="1"/>
                    </p:cNvSpPr>
                    <p:nvPr/>
                  </p:nvSpPr>
                  <p:spPr bwMode="auto">
                    <a:xfrm>
                      <a:off x="0" y="2403"/>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10" name="Group 186"/>
                  <p:cNvGrpSpPr>
                    <a:grpSpLocks/>
                  </p:cNvGrpSpPr>
                  <p:nvPr/>
                </p:nvGrpSpPr>
                <p:grpSpPr bwMode="auto">
                  <a:xfrm>
                    <a:off x="297" y="2403"/>
                    <a:ext cx="296" cy="384"/>
                    <a:chOff x="297" y="2403"/>
                    <a:chExt cx="296" cy="384"/>
                  </a:xfrm>
                </p:grpSpPr>
                <p:sp>
                  <p:nvSpPr>
                    <p:cNvPr id="718011" name="Rectangle 187"/>
                    <p:cNvSpPr>
                      <a:spLocks noChangeArrowheads="1"/>
                    </p:cNvSpPr>
                    <p:nvPr/>
                  </p:nvSpPr>
                  <p:spPr bwMode="auto">
                    <a:xfrm>
                      <a:off x="340" y="2403"/>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1"/>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12" name="Rectangle 188"/>
                    <p:cNvSpPr>
                      <a:spLocks noChangeArrowheads="1"/>
                    </p:cNvSpPr>
                    <p:nvPr/>
                  </p:nvSpPr>
                  <p:spPr bwMode="auto">
                    <a:xfrm>
                      <a:off x="297" y="2403"/>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13" name="Group 189"/>
                  <p:cNvGrpSpPr>
                    <a:grpSpLocks/>
                  </p:cNvGrpSpPr>
                  <p:nvPr/>
                </p:nvGrpSpPr>
                <p:grpSpPr bwMode="auto">
                  <a:xfrm>
                    <a:off x="593" y="2403"/>
                    <a:ext cx="296" cy="384"/>
                    <a:chOff x="593" y="2403"/>
                    <a:chExt cx="296" cy="384"/>
                  </a:xfrm>
                </p:grpSpPr>
                <p:sp>
                  <p:nvSpPr>
                    <p:cNvPr id="718014" name="Rectangle 190"/>
                    <p:cNvSpPr>
                      <a:spLocks noChangeArrowheads="1"/>
                    </p:cNvSpPr>
                    <p:nvPr/>
                  </p:nvSpPr>
                  <p:spPr bwMode="auto">
                    <a:xfrm>
                      <a:off x="636" y="2403"/>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1"/>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15" name="Rectangle 191"/>
                    <p:cNvSpPr>
                      <a:spLocks noChangeArrowheads="1"/>
                    </p:cNvSpPr>
                    <p:nvPr/>
                  </p:nvSpPr>
                  <p:spPr bwMode="auto">
                    <a:xfrm>
                      <a:off x="593" y="2403"/>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16" name="Group 192"/>
                  <p:cNvGrpSpPr>
                    <a:grpSpLocks/>
                  </p:cNvGrpSpPr>
                  <p:nvPr/>
                </p:nvGrpSpPr>
                <p:grpSpPr bwMode="auto">
                  <a:xfrm>
                    <a:off x="889" y="2403"/>
                    <a:ext cx="338" cy="384"/>
                    <a:chOff x="889" y="2403"/>
                    <a:chExt cx="338" cy="384"/>
                  </a:xfrm>
                </p:grpSpPr>
                <p:sp>
                  <p:nvSpPr>
                    <p:cNvPr id="718017" name="Rectangle 193"/>
                    <p:cNvSpPr>
                      <a:spLocks noChangeArrowheads="1"/>
                    </p:cNvSpPr>
                    <p:nvPr/>
                  </p:nvSpPr>
                  <p:spPr bwMode="auto">
                    <a:xfrm>
                      <a:off x="932" y="2403"/>
                      <a:ext cx="25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18" name="Rectangle 194"/>
                    <p:cNvSpPr>
                      <a:spLocks noChangeArrowheads="1"/>
                    </p:cNvSpPr>
                    <p:nvPr/>
                  </p:nvSpPr>
                  <p:spPr bwMode="auto">
                    <a:xfrm>
                      <a:off x="889" y="2403"/>
                      <a:ext cx="3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19" name="Group 195"/>
                  <p:cNvGrpSpPr>
                    <a:grpSpLocks/>
                  </p:cNvGrpSpPr>
                  <p:nvPr/>
                </p:nvGrpSpPr>
                <p:grpSpPr bwMode="auto">
                  <a:xfrm>
                    <a:off x="0" y="2787"/>
                    <a:ext cx="297" cy="384"/>
                    <a:chOff x="0" y="2787"/>
                    <a:chExt cx="297" cy="384"/>
                  </a:xfrm>
                </p:grpSpPr>
                <p:sp>
                  <p:nvSpPr>
                    <p:cNvPr id="718020" name="Rectangle 196"/>
                    <p:cNvSpPr>
                      <a:spLocks noChangeArrowheads="1"/>
                    </p:cNvSpPr>
                    <p:nvPr/>
                  </p:nvSpPr>
                  <p:spPr bwMode="auto">
                    <a:xfrm>
                      <a:off x="43" y="2787"/>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21" name="Rectangle 197"/>
                    <p:cNvSpPr>
                      <a:spLocks noChangeArrowheads="1"/>
                    </p:cNvSpPr>
                    <p:nvPr/>
                  </p:nvSpPr>
                  <p:spPr bwMode="auto">
                    <a:xfrm>
                      <a:off x="0" y="2787"/>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22" name="Group 198"/>
                  <p:cNvGrpSpPr>
                    <a:grpSpLocks/>
                  </p:cNvGrpSpPr>
                  <p:nvPr/>
                </p:nvGrpSpPr>
                <p:grpSpPr bwMode="auto">
                  <a:xfrm>
                    <a:off x="297" y="2787"/>
                    <a:ext cx="296" cy="384"/>
                    <a:chOff x="297" y="2787"/>
                    <a:chExt cx="296" cy="384"/>
                  </a:xfrm>
                </p:grpSpPr>
                <p:sp>
                  <p:nvSpPr>
                    <p:cNvPr id="718023" name="Rectangle 199"/>
                    <p:cNvSpPr>
                      <a:spLocks noChangeArrowheads="1"/>
                    </p:cNvSpPr>
                    <p:nvPr/>
                  </p:nvSpPr>
                  <p:spPr bwMode="auto">
                    <a:xfrm>
                      <a:off x="340" y="2787"/>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24" name="Rectangle 200"/>
                    <p:cNvSpPr>
                      <a:spLocks noChangeArrowheads="1"/>
                    </p:cNvSpPr>
                    <p:nvPr/>
                  </p:nvSpPr>
                  <p:spPr bwMode="auto">
                    <a:xfrm>
                      <a:off x="297" y="2787"/>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25" name="Group 201"/>
                  <p:cNvGrpSpPr>
                    <a:grpSpLocks/>
                  </p:cNvGrpSpPr>
                  <p:nvPr/>
                </p:nvGrpSpPr>
                <p:grpSpPr bwMode="auto">
                  <a:xfrm>
                    <a:off x="593" y="2787"/>
                    <a:ext cx="296" cy="384"/>
                    <a:chOff x="593" y="2787"/>
                    <a:chExt cx="296" cy="384"/>
                  </a:xfrm>
                </p:grpSpPr>
                <p:sp>
                  <p:nvSpPr>
                    <p:cNvPr id="718026" name="Rectangle 202"/>
                    <p:cNvSpPr>
                      <a:spLocks noChangeArrowheads="1"/>
                    </p:cNvSpPr>
                    <p:nvPr/>
                  </p:nvSpPr>
                  <p:spPr bwMode="auto">
                    <a:xfrm>
                      <a:off x="636" y="2787"/>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27" name="Rectangle 203"/>
                    <p:cNvSpPr>
                      <a:spLocks noChangeArrowheads="1"/>
                    </p:cNvSpPr>
                    <p:nvPr/>
                  </p:nvSpPr>
                  <p:spPr bwMode="auto">
                    <a:xfrm>
                      <a:off x="593" y="2787"/>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28" name="Group 204"/>
                  <p:cNvGrpSpPr>
                    <a:grpSpLocks/>
                  </p:cNvGrpSpPr>
                  <p:nvPr/>
                </p:nvGrpSpPr>
                <p:grpSpPr bwMode="auto">
                  <a:xfrm>
                    <a:off x="889" y="2787"/>
                    <a:ext cx="338" cy="384"/>
                    <a:chOff x="889" y="2787"/>
                    <a:chExt cx="338" cy="384"/>
                  </a:xfrm>
                </p:grpSpPr>
                <p:sp>
                  <p:nvSpPr>
                    <p:cNvPr id="718029" name="Rectangle 205"/>
                    <p:cNvSpPr>
                      <a:spLocks noChangeArrowheads="1"/>
                    </p:cNvSpPr>
                    <p:nvPr/>
                  </p:nvSpPr>
                  <p:spPr bwMode="auto">
                    <a:xfrm>
                      <a:off x="932" y="2787"/>
                      <a:ext cx="25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30" name="Rectangle 206"/>
                    <p:cNvSpPr>
                      <a:spLocks noChangeArrowheads="1"/>
                    </p:cNvSpPr>
                    <p:nvPr/>
                  </p:nvSpPr>
                  <p:spPr bwMode="auto">
                    <a:xfrm>
                      <a:off x="889" y="2787"/>
                      <a:ext cx="3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31" name="Group 207"/>
                  <p:cNvGrpSpPr>
                    <a:grpSpLocks/>
                  </p:cNvGrpSpPr>
                  <p:nvPr/>
                </p:nvGrpSpPr>
                <p:grpSpPr bwMode="auto">
                  <a:xfrm>
                    <a:off x="0" y="3171"/>
                    <a:ext cx="297" cy="384"/>
                    <a:chOff x="0" y="3171"/>
                    <a:chExt cx="297" cy="384"/>
                  </a:xfrm>
                </p:grpSpPr>
                <p:sp>
                  <p:nvSpPr>
                    <p:cNvPr id="718032" name="Rectangle 208"/>
                    <p:cNvSpPr>
                      <a:spLocks noChangeArrowheads="1"/>
                    </p:cNvSpPr>
                    <p:nvPr/>
                  </p:nvSpPr>
                  <p:spPr bwMode="auto">
                    <a:xfrm>
                      <a:off x="43" y="3171"/>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33" name="Rectangle 209"/>
                    <p:cNvSpPr>
                      <a:spLocks noChangeArrowheads="1"/>
                    </p:cNvSpPr>
                    <p:nvPr/>
                  </p:nvSpPr>
                  <p:spPr bwMode="auto">
                    <a:xfrm>
                      <a:off x="0" y="3171"/>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34" name="Group 210"/>
                  <p:cNvGrpSpPr>
                    <a:grpSpLocks/>
                  </p:cNvGrpSpPr>
                  <p:nvPr/>
                </p:nvGrpSpPr>
                <p:grpSpPr bwMode="auto">
                  <a:xfrm>
                    <a:off x="297" y="3171"/>
                    <a:ext cx="296" cy="384"/>
                    <a:chOff x="297" y="3171"/>
                    <a:chExt cx="296" cy="384"/>
                  </a:xfrm>
                </p:grpSpPr>
                <p:sp>
                  <p:nvSpPr>
                    <p:cNvPr id="718035" name="Rectangle 211"/>
                    <p:cNvSpPr>
                      <a:spLocks noChangeArrowheads="1"/>
                    </p:cNvSpPr>
                    <p:nvPr/>
                  </p:nvSpPr>
                  <p:spPr bwMode="auto">
                    <a:xfrm>
                      <a:off x="340" y="3171"/>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36" name="Rectangle 212"/>
                    <p:cNvSpPr>
                      <a:spLocks noChangeArrowheads="1"/>
                    </p:cNvSpPr>
                    <p:nvPr/>
                  </p:nvSpPr>
                  <p:spPr bwMode="auto">
                    <a:xfrm>
                      <a:off x="297" y="3171"/>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37" name="Group 213"/>
                  <p:cNvGrpSpPr>
                    <a:grpSpLocks/>
                  </p:cNvGrpSpPr>
                  <p:nvPr/>
                </p:nvGrpSpPr>
                <p:grpSpPr bwMode="auto">
                  <a:xfrm>
                    <a:off x="593" y="3171"/>
                    <a:ext cx="296" cy="384"/>
                    <a:chOff x="593" y="3171"/>
                    <a:chExt cx="296" cy="384"/>
                  </a:xfrm>
                </p:grpSpPr>
                <p:sp>
                  <p:nvSpPr>
                    <p:cNvPr id="718038" name="Rectangle 214"/>
                    <p:cNvSpPr>
                      <a:spLocks noChangeArrowheads="1"/>
                    </p:cNvSpPr>
                    <p:nvPr/>
                  </p:nvSpPr>
                  <p:spPr bwMode="auto">
                    <a:xfrm>
                      <a:off x="636" y="3171"/>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39" name="Rectangle 215"/>
                    <p:cNvSpPr>
                      <a:spLocks noChangeArrowheads="1"/>
                    </p:cNvSpPr>
                    <p:nvPr/>
                  </p:nvSpPr>
                  <p:spPr bwMode="auto">
                    <a:xfrm>
                      <a:off x="593" y="3171"/>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40" name="Group 216"/>
                  <p:cNvGrpSpPr>
                    <a:grpSpLocks/>
                  </p:cNvGrpSpPr>
                  <p:nvPr/>
                </p:nvGrpSpPr>
                <p:grpSpPr bwMode="auto">
                  <a:xfrm>
                    <a:off x="889" y="3171"/>
                    <a:ext cx="338" cy="384"/>
                    <a:chOff x="889" y="3171"/>
                    <a:chExt cx="338" cy="384"/>
                  </a:xfrm>
                </p:grpSpPr>
                <p:sp>
                  <p:nvSpPr>
                    <p:cNvPr id="718041" name="Rectangle 217"/>
                    <p:cNvSpPr>
                      <a:spLocks noChangeArrowheads="1"/>
                    </p:cNvSpPr>
                    <p:nvPr/>
                  </p:nvSpPr>
                  <p:spPr bwMode="auto">
                    <a:xfrm>
                      <a:off x="932" y="3171"/>
                      <a:ext cx="25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e</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42" name="Rectangle 218"/>
                    <p:cNvSpPr>
                      <a:spLocks noChangeArrowheads="1"/>
                    </p:cNvSpPr>
                    <p:nvPr/>
                  </p:nvSpPr>
                  <p:spPr bwMode="auto">
                    <a:xfrm>
                      <a:off x="889" y="3171"/>
                      <a:ext cx="3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43" name="Group 219"/>
                  <p:cNvGrpSpPr>
                    <a:grpSpLocks/>
                  </p:cNvGrpSpPr>
                  <p:nvPr/>
                </p:nvGrpSpPr>
                <p:grpSpPr bwMode="auto">
                  <a:xfrm>
                    <a:off x="0" y="3555"/>
                    <a:ext cx="297" cy="384"/>
                    <a:chOff x="0" y="3555"/>
                    <a:chExt cx="297" cy="384"/>
                  </a:xfrm>
                </p:grpSpPr>
                <p:sp>
                  <p:nvSpPr>
                    <p:cNvPr id="718044" name="Rectangle 220"/>
                    <p:cNvSpPr>
                      <a:spLocks noChangeArrowheads="1"/>
                    </p:cNvSpPr>
                    <p:nvPr/>
                  </p:nvSpPr>
                  <p:spPr bwMode="auto">
                    <a:xfrm>
                      <a:off x="43" y="3555"/>
                      <a:ext cx="211"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45" name="Rectangle 221"/>
                    <p:cNvSpPr>
                      <a:spLocks noChangeArrowheads="1"/>
                    </p:cNvSpPr>
                    <p:nvPr/>
                  </p:nvSpPr>
                  <p:spPr bwMode="auto">
                    <a:xfrm>
                      <a:off x="0" y="3555"/>
                      <a:ext cx="297"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46" name="Group 222"/>
                  <p:cNvGrpSpPr>
                    <a:grpSpLocks/>
                  </p:cNvGrpSpPr>
                  <p:nvPr/>
                </p:nvGrpSpPr>
                <p:grpSpPr bwMode="auto">
                  <a:xfrm>
                    <a:off x="297" y="3555"/>
                    <a:ext cx="296" cy="384"/>
                    <a:chOff x="297" y="3555"/>
                    <a:chExt cx="296" cy="384"/>
                  </a:xfrm>
                </p:grpSpPr>
                <p:sp>
                  <p:nvSpPr>
                    <p:cNvPr id="718047" name="Rectangle 223"/>
                    <p:cNvSpPr>
                      <a:spLocks noChangeArrowheads="1"/>
                    </p:cNvSpPr>
                    <p:nvPr/>
                  </p:nvSpPr>
                  <p:spPr bwMode="auto">
                    <a:xfrm>
                      <a:off x="340" y="3555"/>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48" name="Rectangle 224"/>
                    <p:cNvSpPr>
                      <a:spLocks noChangeArrowheads="1"/>
                    </p:cNvSpPr>
                    <p:nvPr/>
                  </p:nvSpPr>
                  <p:spPr bwMode="auto">
                    <a:xfrm>
                      <a:off x="297" y="3555"/>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49" name="Group 225"/>
                  <p:cNvGrpSpPr>
                    <a:grpSpLocks/>
                  </p:cNvGrpSpPr>
                  <p:nvPr/>
                </p:nvGrpSpPr>
                <p:grpSpPr bwMode="auto">
                  <a:xfrm>
                    <a:off x="593" y="3555"/>
                    <a:ext cx="296" cy="384"/>
                    <a:chOff x="593" y="3555"/>
                    <a:chExt cx="296" cy="384"/>
                  </a:xfrm>
                </p:grpSpPr>
                <p:sp>
                  <p:nvSpPr>
                    <p:cNvPr id="718050" name="Rectangle 226"/>
                    <p:cNvSpPr>
                      <a:spLocks noChangeArrowheads="1"/>
                    </p:cNvSpPr>
                    <p:nvPr/>
                  </p:nvSpPr>
                  <p:spPr bwMode="auto">
                    <a:xfrm>
                      <a:off x="636" y="3555"/>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51" name="Rectangle 227"/>
                    <p:cNvSpPr>
                      <a:spLocks noChangeArrowheads="1"/>
                    </p:cNvSpPr>
                    <p:nvPr/>
                  </p:nvSpPr>
                  <p:spPr bwMode="auto">
                    <a:xfrm>
                      <a:off x="593" y="3555"/>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52" name="Group 228"/>
                  <p:cNvGrpSpPr>
                    <a:grpSpLocks/>
                  </p:cNvGrpSpPr>
                  <p:nvPr/>
                </p:nvGrpSpPr>
                <p:grpSpPr bwMode="auto">
                  <a:xfrm>
                    <a:off x="889" y="3555"/>
                    <a:ext cx="338" cy="384"/>
                    <a:chOff x="889" y="3555"/>
                    <a:chExt cx="338" cy="384"/>
                  </a:xfrm>
                </p:grpSpPr>
                <p:sp>
                  <p:nvSpPr>
                    <p:cNvPr id="718053" name="Rectangle 229"/>
                    <p:cNvSpPr>
                      <a:spLocks noChangeArrowheads="1"/>
                    </p:cNvSpPr>
                    <p:nvPr/>
                  </p:nvSpPr>
                  <p:spPr bwMode="auto">
                    <a:xfrm>
                      <a:off x="932" y="3555"/>
                      <a:ext cx="252"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54" name="Rectangle 230"/>
                    <p:cNvSpPr>
                      <a:spLocks noChangeArrowheads="1"/>
                    </p:cNvSpPr>
                    <p:nvPr/>
                  </p:nvSpPr>
                  <p:spPr bwMode="auto">
                    <a:xfrm>
                      <a:off x="889" y="3555"/>
                      <a:ext cx="338"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55" name="Group 231"/>
                  <p:cNvGrpSpPr>
                    <a:grpSpLocks/>
                  </p:cNvGrpSpPr>
                  <p:nvPr/>
                </p:nvGrpSpPr>
                <p:grpSpPr bwMode="auto">
                  <a:xfrm>
                    <a:off x="0" y="3939"/>
                    <a:ext cx="297" cy="480"/>
                    <a:chOff x="0" y="3939"/>
                    <a:chExt cx="297" cy="480"/>
                  </a:xfrm>
                </p:grpSpPr>
                <p:sp>
                  <p:nvSpPr>
                    <p:cNvPr id="718056" name="Rectangle 232"/>
                    <p:cNvSpPr>
                      <a:spLocks noChangeArrowheads="1"/>
                    </p:cNvSpPr>
                    <p:nvPr/>
                  </p:nvSpPr>
                  <p:spPr bwMode="auto">
                    <a:xfrm>
                      <a:off x="43" y="3939"/>
                      <a:ext cx="211"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57" name="Rectangle 233"/>
                    <p:cNvSpPr>
                      <a:spLocks noChangeArrowheads="1"/>
                    </p:cNvSpPr>
                    <p:nvPr/>
                  </p:nvSpPr>
                  <p:spPr bwMode="auto">
                    <a:xfrm>
                      <a:off x="0" y="3939"/>
                      <a:ext cx="297"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58" name="Group 234"/>
                  <p:cNvGrpSpPr>
                    <a:grpSpLocks/>
                  </p:cNvGrpSpPr>
                  <p:nvPr/>
                </p:nvGrpSpPr>
                <p:grpSpPr bwMode="auto">
                  <a:xfrm>
                    <a:off x="297" y="3939"/>
                    <a:ext cx="296" cy="480"/>
                    <a:chOff x="297" y="3939"/>
                    <a:chExt cx="296" cy="480"/>
                  </a:xfrm>
                </p:grpSpPr>
                <p:sp>
                  <p:nvSpPr>
                    <p:cNvPr id="718059" name="Rectangle 235"/>
                    <p:cNvSpPr>
                      <a:spLocks noChangeArrowheads="1"/>
                    </p:cNvSpPr>
                    <p:nvPr/>
                  </p:nvSpPr>
                  <p:spPr bwMode="auto">
                    <a:xfrm>
                      <a:off x="340" y="3939"/>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60" name="Rectangle 236"/>
                    <p:cNvSpPr>
                      <a:spLocks noChangeArrowheads="1"/>
                    </p:cNvSpPr>
                    <p:nvPr/>
                  </p:nvSpPr>
                  <p:spPr bwMode="auto">
                    <a:xfrm>
                      <a:off x="297" y="3939"/>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61" name="Group 237"/>
                  <p:cNvGrpSpPr>
                    <a:grpSpLocks/>
                  </p:cNvGrpSpPr>
                  <p:nvPr/>
                </p:nvGrpSpPr>
                <p:grpSpPr bwMode="auto">
                  <a:xfrm>
                    <a:off x="593" y="3939"/>
                    <a:ext cx="296" cy="480"/>
                    <a:chOff x="593" y="3939"/>
                    <a:chExt cx="296" cy="480"/>
                  </a:xfrm>
                </p:grpSpPr>
                <p:sp>
                  <p:nvSpPr>
                    <p:cNvPr id="718062" name="Rectangle 238"/>
                    <p:cNvSpPr>
                      <a:spLocks noChangeArrowheads="1"/>
                    </p:cNvSpPr>
                    <p:nvPr/>
                  </p:nvSpPr>
                  <p:spPr bwMode="auto">
                    <a:xfrm>
                      <a:off x="636" y="3939"/>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f</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63" name="Rectangle 239"/>
                    <p:cNvSpPr>
                      <a:spLocks noChangeArrowheads="1"/>
                    </p:cNvSpPr>
                    <p:nvPr/>
                  </p:nvSpPr>
                  <p:spPr bwMode="auto">
                    <a:xfrm>
                      <a:off x="593" y="3939"/>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64" name="Group 240"/>
                  <p:cNvGrpSpPr>
                    <a:grpSpLocks/>
                  </p:cNvGrpSpPr>
                  <p:nvPr/>
                </p:nvGrpSpPr>
                <p:grpSpPr bwMode="auto">
                  <a:xfrm>
                    <a:off x="889" y="3939"/>
                    <a:ext cx="338" cy="480"/>
                    <a:chOff x="889" y="3939"/>
                    <a:chExt cx="338" cy="480"/>
                  </a:xfrm>
                </p:grpSpPr>
                <p:sp>
                  <p:nvSpPr>
                    <p:cNvPr id="718065" name="Rectangle 241"/>
                    <p:cNvSpPr>
                      <a:spLocks noChangeArrowheads="1"/>
                    </p:cNvSpPr>
                    <p:nvPr/>
                  </p:nvSpPr>
                  <p:spPr bwMode="auto">
                    <a:xfrm>
                      <a:off x="932" y="3939"/>
                      <a:ext cx="252"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2400" b="1">
                          <a:solidFill>
                            <a:schemeClr val="bg2"/>
                          </a:solidFill>
                        </a:rPr>
                        <a:t>null</a:t>
                      </a:r>
                    </a:p>
                    <a:p>
                      <a:pPr algn="ctr" eaLnBrk="0" hangingPunct="0">
                        <a:lnSpc>
                          <a:spcPct val="100000"/>
                        </a:lnSpc>
                        <a:spcBef>
                          <a:spcPct val="0"/>
                        </a:spcBef>
                      </a:pPr>
                      <a:endParaRPr lang="en-US" altLang="zh-CN" sz="2400" b="1">
                        <a:solidFill>
                          <a:schemeClr val="bg2"/>
                        </a:solidFill>
                        <a:latin typeface="Times New Roman" pitchFamily="18" charset="0"/>
                      </a:endParaRPr>
                    </a:p>
                  </p:txBody>
                </p:sp>
                <p:sp>
                  <p:nvSpPr>
                    <p:cNvPr id="718066" name="Rectangle 242"/>
                    <p:cNvSpPr>
                      <a:spLocks noChangeArrowheads="1"/>
                    </p:cNvSpPr>
                    <p:nvPr/>
                  </p:nvSpPr>
                  <p:spPr bwMode="auto">
                    <a:xfrm>
                      <a:off x="889" y="3939"/>
                      <a:ext cx="338"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718067" name="Rectangle 243"/>
                <p:cNvSpPr>
                  <a:spLocks noChangeArrowheads="1"/>
                </p:cNvSpPr>
                <p:nvPr/>
              </p:nvSpPr>
              <p:spPr bwMode="auto">
                <a:xfrm>
                  <a:off x="-3" y="2400"/>
                  <a:ext cx="1233" cy="2022"/>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68" name="Group 244"/>
              <p:cNvGrpSpPr>
                <a:grpSpLocks/>
              </p:cNvGrpSpPr>
              <p:nvPr/>
            </p:nvGrpSpPr>
            <p:grpSpPr bwMode="auto">
              <a:xfrm>
                <a:off x="1183" y="4110"/>
                <a:ext cx="291" cy="117"/>
                <a:chOff x="4620" y="5652"/>
                <a:chExt cx="315" cy="156"/>
              </a:xfrm>
            </p:grpSpPr>
            <p:sp>
              <p:nvSpPr>
                <p:cNvPr id="718069" name="AutoShape 245"/>
                <p:cNvSpPr>
                  <a:spLocks noChangeArrowheads="1"/>
                </p:cNvSpPr>
                <p:nvPr/>
              </p:nvSpPr>
              <p:spPr bwMode="auto">
                <a:xfrm rot="-5400000">
                  <a:off x="4752" y="5625"/>
                  <a:ext cx="156" cy="210"/>
                </a:xfrm>
                <a:prstGeom prst="flowChartCollate">
                  <a:avLst/>
                </a:prstGeom>
                <a:solidFill>
                  <a:srgbClr val="FFFFFF"/>
                </a:solidFill>
                <a:ln w="28575">
                  <a:solidFill>
                    <a:schemeClr val="bg2"/>
                  </a:solidFill>
                  <a:miter lim="800000"/>
                  <a:headEnd/>
                  <a:tailEnd/>
                </a:ln>
              </p:spPr>
              <p:txBody>
                <a:bodyPr vert="eaVert"/>
                <a:lstStyle/>
                <a:p>
                  <a:endParaRPr lang="zh-CN" altLang="zh-CN">
                    <a:solidFill>
                      <a:schemeClr val="bg2"/>
                    </a:solidFill>
                  </a:endParaRPr>
                </a:p>
              </p:txBody>
            </p:sp>
            <p:sp>
              <p:nvSpPr>
                <p:cNvPr id="718070" name="Line 246"/>
                <p:cNvSpPr>
                  <a:spLocks noChangeShapeType="1"/>
                </p:cNvSpPr>
                <p:nvPr/>
              </p:nvSpPr>
              <p:spPr bwMode="auto">
                <a:xfrm flipH="1">
                  <a:off x="4620" y="5652"/>
                  <a:ext cx="105"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8071" name="Line 247"/>
                <p:cNvSpPr>
                  <a:spLocks noChangeShapeType="1"/>
                </p:cNvSpPr>
                <p:nvPr/>
              </p:nvSpPr>
              <p:spPr bwMode="auto">
                <a:xfrm flipH="1">
                  <a:off x="4620" y="5808"/>
                  <a:ext cx="105"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718072" name="Rectangle 248"/>
            <p:cNvSpPr>
              <a:spLocks noChangeArrowheads="1"/>
            </p:cNvSpPr>
            <p:nvPr/>
          </p:nvSpPr>
          <p:spPr bwMode="auto">
            <a:xfrm>
              <a:off x="0" y="3702"/>
              <a:ext cx="1862" cy="288"/>
            </a:xfrm>
            <a:prstGeom prst="rect">
              <a:avLst/>
            </a:prstGeom>
            <a:noFill/>
            <a:ln w="9525">
              <a:solidFill>
                <a:srgbClr val="009999"/>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718146" name="Group 322"/>
          <p:cNvGrpSpPr>
            <a:grpSpLocks/>
          </p:cNvGrpSpPr>
          <p:nvPr/>
        </p:nvGrpSpPr>
        <p:grpSpPr bwMode="auto">
          <a:xfrm>
            <a:off x="4433888" y="3716338"/>
            <a:ext cx="4710112" cy="3028950"/>
            <a:chOff x="2793" y="2341"/>
            <a:chExt cx="2967" cy="1908"/>
          </a:xfrm>
        </p:grpSpPr>
        <p:grpSp>
          <p:nvGrpSpPr>
            <p:cNvPr id="718144" name="Group 320"/>
            <p:cNvGrpSpPr>
              <a:grpSpLocks/>
            </p:cNvGrpSpPr>
            <p:nvPr/>
          </p:nvGrpSpPr>
          <p:grpSpPr bwMode="auto">
            <a:xfrm>
              <a:off x="2793" y="2341"/>
              <a:ext cx="2967" cy="1908"/>
              <a:chOff x="2793" y="2341"/>
              <a:chExt cx="2967" cy="1908"/>
            </a:xfrm>
          </p:grpSpPr>
          <p:grpSp>
            <p:nvGrpSpPr>
              <p:cNvPr id="718074" name="Group 250"/>
              <p:cNvGrpSpPr>
                <a:grpSpLocks/>
              </p:cNvGrpSpPr>
              <p:nvPr/>
            </p:nvGrpSpPr>
            <p:grpSpPr bwMode="auto">
              <a:xfrm>
                <a:off x="2793" y="2341"/>
                <a:ext cx="2967" cy="1680"/>
                <a:chOff x="-3" y="4419"/>
                <a:chExt cx="1317" cy="2022"/>
              </a:xfrm>
            </p:grpSpPr>
            <p:grpSp>
              <p:nvGrpSpPr>
                <p:cNvPr id="718075" name="Group 251"/>
                <p:cNvGrpSpPr>
                  <a:grpSpLocks/>
                </p:cNvGrpSpPr>
                <p:nvPr/>
              </p:nvGrpSpPr>
              <p:grpSpPr bwMode="auto">
                <a:xfrm>
                  <a:off x="0" y="4422"/>
                  <a:ext cx="1311" cy="2016"/>
                  <a:chOff x="0" y="4422"/>
                  <a:chExt cx="1311" cy="2016"/>
                </a:xfrm>
              </p:grpSpPr>
              <p:grpSp>
                <p:nvGrpSpPr>
                  <p:cNvPr id="718076" name="Group 252"/>
                  <p:cNvGrpSpPr>
                    <a:grpSpLocks/>
                  </p:cNvGrpSpPr>
                  <p:nvPr/>
                </p:nvGrpSpPr>
                <p:grpSpPr bwMode="auto">
                  <a:xfrm>
                    <a:off x="0" y="4422"/>
                    <a:ext cx="339" cy="384"/>
                    <a:chOff x="0" y="4422"/>
                    <a:chExt cx="339" cy="384"/>
                  </a:xfrm>
                </p:grpSpPr>
                <p:sp>
                  <p:nvSpPr>
                    <p:cNvPr id="718077" name="Rectangle 253"/>
                    <p:cNvSpPr>
                      <a:spLocks noChangeArrowheads="1"/>
                    </p:cNvSpPr>
                    <p:nvPr/>
                  </p:nvSpPr>
                  <p:spPr bwMode="auto">
                    <a:xfrm>
                      <a:off x="43" y="4422"/>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78" name="Rectangle 254"/>
                    <p:cNvSpPr>
                      <a:spLocks noChangeArrowheads="1"/>
                    </p:cNvSpPr>
                    <p:nvPr/>
                  </p:nvSpPr>
                  <p:spPr bwMode="auto">
                    <a:xfrm>
                      <a:off x="0" y="4422"/>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79" name="Group 255"/>
                  <p:cNvGrpSpPr>
                    <a:grpSpLocks/>
                  </p:cNvGrpSpPr>
                  <p:nvPr/>
                </p:nvGrpSpPr>
                <p:grpSpPr bwMode="auto">
                  <a:xfrm>
                    <a:off x="339" y="4422"/>
                    <a:ext cx="296" cy="384"/>
                    <a:chOff x="339" y="4422"/>
                    <a:chExt cx="296" cy="384"/>
                  </a:xfrm>
                </p:grpSpPr>
                <p:sp>
                  <p:nvSpPr>
                    <p:cNvPr id="718080" name="Rectangle 256"/>
                    <p:cNvSpPr>
                      <a:spLocks noChangeArrowheads="1"/>
                    </p:cNvSpPr>
                    <p:nvPr/>
                  </p:nvSpPr>
                  <p:spPr bwMode="auto">
                    <a:xfrm>
                      <a:off x="382" y="442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1"/>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81" name="Rectangle 257"/>
                    <p:cNvSpPr>
                      <a:spLocks noChangeArrowheads="1"/>
                    </p:cNvSpPr>
                    <p:nvPr/>
                  </p:nvSpPr>
                  <p:spPr bwMode="auto">
                    <a:xfrm>
                      <a:off x="339" y="442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82" name="Group 258"/>
                  <p:cNvGrpSpPr>
                    <a:grpSpLocks/>
                  </p:cNvGrpSpPr>
                  <p:nvPr/>
                </p:nvGrpSpPr>
                <p:grpSpPr bwMode="auto">
                  <a:xfrm>
                    <a:off x="635" y="4422"/>
                    <a:ext cx="296" cy="384"/>
                    <a:chOff x="635" y="4422"/>
                    <a:chExt cx="296" cy="384"/>
                  </a:xfrm>
                </p:grpSpPr>
                <p:sp>
                  <p:nvSpPr>
                    <p:cNvPr id="718083" name="Rectangle 259"/>
                    <p:cNvSpPr>
                      <a:spLocks noChangeArrowheads="1"/>
                    </p:cNvSpPr>
                    <p:nvPr/>
                  </p:nvSpPr>
                  <p:spPr bwMode="auto">
                    <a:xfrm>
                      <a:off x="678" y="442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1"/>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84" name="Rectangle 260"/>
                    <p:cNvSpPr>
                      <a:spLocks noChangeArrowheads="1"/>
                    </p:cNvSpPr>
                    <p:nvPr/>
                  </p:nvSpPr>
                  <p:spPr bwMode="auto">
                    <a:xfrm>
                      <a:off x="635" y="442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85" name="Group 261"/>
                  <p:cNvGrpSpPr>
                    <a:grpSpLocks/>
                  </p:cNvGrpSpPr>
                  <p:nvPr/>
                </p:nvGrpSpPr>
                <p:grpSpPr bwMode="auto">
                  <a:xfrm>
                    <a:off x="931" y="4422"/>
                    <a:ext cx="380" cy="384"/>
                    <a:chOff x="931" y="4422"/>
                    <a:chExt cx="380" cy="384"/>
                  </a:xfrm>
                </p:grpSpPr>
                <p:sp>
                  <p:nvSpPr>
                    <p:cNvPr id="718086" name="Rectangle 262"/>
                    <p:cNvSpPr>
                      <a:spLocks noChangeArrowheads="1"/>
                    </p:cNvSpPr>
                    <p:nvPr/>
                  </p:nvSpPr>
                  <p:spPr bwMode="auto">
                    <a:xfrm>
                      <a:off x="974" y="4422"/>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87" name="Rectangle 263"/>
                    <p:cNvSpPr>
                      <a:spLocks noChangeArrowheads="1"/>
                    </p:cNvSpPr>
                    <p:nvPr/>
                  </p:nvSpPr>
                  <p:spPr bwMode="auto">
                    <a:xfrm>
                      <a:off x="931" y="4422"/>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88" name="Group 264"/>
                  <p:cNvGrpSpPr>
                    <a:grpSpLocks/>
                  </p:cNvGrpSpPr>
                  <p:nvPr/>
                </p:nvGrpSpPr>
                <p:grpSpPr bwMode="auto">
                  <a:xfrm>
                    <a:off x="0" y="4806"/>
                    <a:ext cx="339" cy="384"/>
                    <a:chOff x="0" y="4806"/>
                    <a:chExt cx="339" cy="384"/>
                  </a:xfrm>
                </p:grpSpPr>
                <p:sp>
                  <p:nvSpPr>
                    <p:cNvPr id="718089" name="Rectangle 265"/>
                    <p:cNvSpPr>
                      <a:spLocks noChangeArrowheads="1"/>
                    </p:cNvSpPr>
                    <p:nvPr/>
                  </p:nvSpPr>
                  <p:spPr bwMode="auto">
                    <a:xfrm>
                      <a:off x="43" y="4806"/>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90" name="Rectangle 266"/>
                    <p:cNvSpPr>
                      <a:spLocks noChangeArrowheads="1"/>
                    </p:cNvSpPr>
                    <p:nvPr/>
                  </p:nvSpPr>
                  <p:spPr bwMode="auto">
                    <a:xfrm>
                      <a:off x="0" y="4806"/>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91" name="Group 267"/>
                  <p:cNvGrpSpPr>
                    <a:grpSpLocks/>
                  </p:cNvGrpSpPr>
                  <p:nvPr/>
                </p:nvGrpSpPr>
                <p:grpSpPr bwMode="auto">
                  <a:xfrm>
                    <a:off x="339" y="4806"/>
                    <a:ext cx="296" cy="384"/>
                    <a:chOff x="339" y="4806"/>
                    <a:chExt cx="296" cy="384"/>
                  </a:xfrm>
                </p:grpSpPr>
                <p:sp>
                  <p:nvSpPr>
                    <p:cNvPr id="718092" name="Rectangle 268"/>
                    <p:cNvSpPr>
                      <a:spLocks noChangeArrowheads="1"/>
                    </p:cNvSpPr>
                    <p:nvPr/>
                  </p:nvSpPr>
                  <p:spPr bwMode="auto">
                    <a:xfrm>
                      <a:off x="382" y="4806"/>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93" name="Rectangle 269"/>
                    <p:cNvSpPr>
                      <a:spLocks noChangeArrowheads="1"/>
                    </p:cNvSpPr>
                    <p:nvPr/>
                  </p:nvSpPr>
                  <p:spPr bwMode="auto">
                    <a:xfrm>
                      <a:off x="339" y="4806"/>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94" name="Group 270"/>
                  <p:cNvGrpSpPr>
                    <a:grpSpLocks/>
                  </p:cNvGrpSpPr>
                  <p:nvPr/>
                </p:nvGrpSpPr>
                <p:grpSpPr bwMode="auto">
                  <a:xfrm>
                    <a:off x="635" y="4806"/>
                    <a:ext cx="296" cy="384"/>
                    <a:chOff x="635" y="4806"/>
                    <a:chExt cx="296" cy="384"/>
                  </a:xfrm>
                </p:grpSpPr>
                <p:sp>
                  <p:nvSpPr>
                    <p:cNvPr id="718095" name="Rectangle 271"/>
                    <p:cNvSpPr>
                      <a:spLocks noChangeArrowheads="1"/>
                    </p:cNvSpPr>
                    <p:nvPr/>
                  </p:nvSpPr>
                  <p:spPr bwMode="auto">
                    <a:xfrm>
                      <a:off x="678" y="4806"/>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96" name="Rectangle 272"/>
                    <p:cNvSpPr>
                      <a:spLocks noChangeArrowheads="1"/>
                    </p:cNvSpPr>
                    <p:nvPr/>
                  </p:nvSpPr>
                  <p:spPr bwMode="auto">
                    <a:xfrm>
                      <a:off x="635" y="4806"/>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097" name="Group 273"/>
                  <p:cNvGrpSpPr>
                    <a:grpSpLocks/>
                  </p:cNvGrpSpPr>
                  <p:nvPr/>
                </p:nvGrpSpPr>
                <p:grpSpPr bwMode="auto">
                  <a:xfrm>
                    <a:off x="931" y="4806"/>
                    <a:ext cx="380" cy="384"/>
                    <a:chOff x="931" y="4806"/>
                    <a:chExt cx="380" cy="384"/>
                  </a:xfrm>
                </p:grpSpPr>
                <p:sp>
                  <p:nvSpPr>
                    <p:cNvPr id="718098" name="Rectangle 274"/>
                    <p:cNvSpPr>
                      <a:spLocks noChangeArrowheads="1"/>
                    </p:cNvSpPr>
                    <p:nvPr/>
                  </p:nvSpPr>
                  <p:spPr bwMode="auto">
                    <a:xfrm>
                      <a:off x="974" y="4806"/>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099" name="Rectangle 275"/>
                    <p:cNvSpPr>
                      <a:spLocks noChangeArrowheads="1"/>
                    </p:cNvSpPr>
                    <p:nvPr/>
                  </p:nvSpPr>
                  <p:spPr bwMode="auto">
                    <a:xfrm>
                      <a:off x="931" y="4806"/>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00" name="Group 276"/>
                  <p:cNvGrpSpPr>
                    <a:grpSpLocks/>
                  </p:cNvGrpSpPr>
                  <p:nvPr/>
                </p:nvGrpSpPr>
                <p:grpSpPr bwMode="auto">
                  <a:xfrm>
                    <a:off x="0" y="5190"/>
                    <a:ext cx="339" cy="384"/>
                    <a:chOff x="0" y="5190"/>
                    <a:chExt cx="339" cy="384"/>
                  </a:xfrm>
                </p:grpSpPr>
                <p:sp>
                  <p:nvSpPr>
                    <p:cNvPr id="718101" name="Rectangle 277"/>
                    <p:cNvSpPr>
                      <a:spLocks noChangeArrowheads="1"/>
                    </p:cNvSpPr>
                    <p:nvPr/>
                  </p:nvSpPr>
                  <p:spPr bwMode="auto">
                    <a:xfrm>
                      <a:off x="43" y="5190"/>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102" name="Rectangle 278"/>
                    <p:cNvSpPr>
                      <a:spLocks noChangeArrowheads="1"/>
                    </p:cNvSpPr>
                    <p:nvPr/>
                  </p:nvSpPr>
                  <p:spPr bwMode="auto">
                    <a:xfrm>
                      <a:off x="0" y="5190"/>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03" name="Group 279"/>
                  <p:cNvGrpSpPr>
                    <a:grpSpLocks/>
                  </p:cNvGrpSpPr>
                  <p:nvPr/>
                </p:nvGrpSpPr>
                <p:grpSpPr bwMode="auto">
                  <a:xfrm>
                    <a:off x="339" y="5190"/>
                    <a:ext cx="296" cy="384"/>
                    <a:chOff x="339" y="5190"/>
                    <a:chExt cx="296" cy="384"/>
                  </a:xfrm>
                </p:grpSpPr>
                <p:sp>
                  <p:nvSpPr>
                    <p:cNvPr id="718104" name="Rectangle 280"/>
                    <p:cNvSpPr>
                      <a:spLocks noChangeArrowheads="1"/>
                    </p:cNvSpPr>
                    <p:nvPr/>
                  </p:nvSpPr>
                  <p:spPr bwMode="auto">
                    <a:xfrm>
                      <a:off x="382" y="5190"/>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105" name="Rectangle 281"/>
                    <p:cNvSpPr>
                      <a:spLocks noChangeArrowheads="1"/>
                    </p:cNvSpPr>
                    <p:nvPr/>
                  </p:nvSpPr>
                  <p:spPr bwMode="auto">
                    <a:xfrm>
                      <a:off x="339" y="5190"/>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06" name="Group 282"/>
                  <p:cNvGrpSpPr>
                    <a:grpSpLocks/>
                  </p:cNvGrpSpPr>
                  <p:nvPr/>
                </p:nvGrpSpPr>
                <p:grpSpPr bwMode="auto">
                  <a:xfrm>
                    <a:off x="635" y="5190"/>
                    <a:ext cx="296" cy="384"/>
                    <a:chOff x="635" y="5190"/>
                    <a:chExt cx="296" cy="384"/>
                  </a:xfrm>
                </p:grpSpPr>
                <p:sp>
                  <p:nvSpPr>
                    <p:cNvPr id="718107" name="Rectangle 283"/>
                    <p:cNvSpPr>
                      <a:spLocks noChangeArrowheads="1"/>
                    </p:cNvSpPr>
                    <p:nvPr/>
                  </p:nvSpPr>
                  <p:spPr bwMode="auto">
                    <a:xfrm>
                      <a:off x="678" y="5190"/>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108" name="Rectangle 284"/>
                    <p:cNvSpPr>
                      <a:spLocks noChangeArrowheads="1"/>
                    </p:cNvSpPr>
                    <p:nvPr/>
                  </p:nvSpPr>
                  <p:spPr bwMode="auto">
                    <a:xfrm>
                      <a:off x="635" y="5190"/>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09" name="Group 285"/>
                  <p:cNvGrpSpPr>
                    <a:grpSpLocks/>
                  </p:cNvGrpSpPr>
                  <p:nvPr/>
                </p:nvGrpSpPr>
                <p:grpSpPr bwMode="auto">
                  <a:xfrm>
                    <a:off x="931" y="5190"/>
                    <a:ext cx="380" cy="384"/>
                    <a:chOff x="931" y="5190"/>
                    <a:chExt cx="380" cy="384"/>
                  </a:xfrm>
                </p:grpSpPr>
                <p:sp>
                  <p:nvSpPr>
                    <p:cNvPr id="718110" name="Rectangle 286"/>
                    <p:cNvSpPr>
                      <a:spLocks noChangeArrowheads="1"/>
                    </p:cNvSpPr>
                    <p:nvPr/>
                  </p:nvSpPr>
                  <p:spPr bwMode="auto">
                    <a:xfrm>
                      <a:off x="974" y="5190"/>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e</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111" name="Rectangle 287"/>
                    <p:cNvSpPr>
                      <a:spLocks noChangeArrowheads="1"/>
                    </p:cNvSpPr>
                    <p:nvPr/>
                  </p:nvSpPr>
                  <p:spPr bwMode="auto">
                    <a:xfrm>
                      <a:off x="931" y="5190"/>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12" name="Group 288"/>
                  <p:cNvGrpSpPr>
                    <a:grpSpLocks/>
                  </p:cNvGrpSpPr>
                  <p:nvPr/>
                </p:nvGrpSpPr>
                <p:grpSpPr bwMode="auto">
                  <a:xfrm>
                    <a:off x="0" y="5574"/>
                    <a:ext cx="339" cy="384"/>
                    <a:chOff x="0" y="5574"/>
                    <a:chExt cx="339" cy="384"/>
                  </a:xfrm>
                </p:grpSpPr>
                <p:sp>
                  <p:nvSpPr>
                    <p:cNvPr id="718113" name="Rectangle 289"/>
                    <p:cNvSpPr>
                      <a:spLocks noChangeArrowheads="1"/>
                    </p:cNvSpPr>
                    <p:nvPr/>
                  </p:nvSpPr>
                  <p:spPr bwMode="auto">
                    <a:xfrm>
                      <a:off x="43" y="5574"/>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114" name="Rectangle 290"/>
                    <p:cNvSpPr>
                      <a:spLocks noChangeArrowheads="1"/>
                    </p:cNvSpPr>
                    <p:nvPr/>
                  </p:nvSpPr>
                  <p:spPr bwMode="auto">
                    <a:xfrm>
                      <a:off x="0" y="5574"/>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15" name="Group 291"/>
                  <p:cNvGrpSpPr>
                    <a:grpSpLocks/>
                  </p:cNvGrpSpPr>
                  <p:nvPr/>
                </p:nvGrpSpPr>
                <p:grpSpPr bwMode="auto">
                  <a:xfrm>
                    <a:off x="339" y="5574"/>
                    <a:ext cx="296" cy="384"/>
                    <a:chOff x="339" y="5574"/>
                    <a:chExt cx="296" cy="384"/>
                  </a:xfrm>
                </p:grpSpPr>
                <p:sp>
                  <p:nvSpPr>
                    <p:cNvPr id="718116" name="Rectangle 292"/>
                    <p:cNvSpPr>
                      <a:spLocks noChangeArrowheads="1"/>
                    </p:cNvSpPr>
                    <p:nvPr/>
                  </p:nvSpPr>
                  <p:spPr bwMode="auto">
                    <a:xfrm>
                      <a:off x="382" y="5574"/>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117" name="Rectangle 293"/>
                    <p:cNvSpPr>
                      <a:spLocks noChangeArrowheads="1"/>
                    </p:cNvSpPr>
                    <p:nvPr/>
                  </p:nvSpPr>
                  <p:spPr bwMode="auto">
                    <a:xfrm>
                      <a:off x="339" y="5574"/>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18" name="Group 294"/>
                  <p:cNvGrpSpPr>
                    <a:grpSpLocks/>
                  </p:cNvGrpSpPr>
                  <p:nvPr/>
                </p:nvGrpSpPr>
                <p:grpSpPr bwMode="auto">
                  <a:xfrm>
                    <a:off x="635" y="5574"/>
                    <a:ext cx="296" cy="384"/>
                    <a:chOff x="635" y="5574"/>
                    <a:chExt cx="296" cy="384"/>
                  </a:xfrm>
                </p:grpSpPr>
                <p:sp>
                  <p:nvSpPr>
                    <p:cNvPr id="718119" name="Rectangle 295"/>
                    <p:cNvSpPr>
                      <a:spLocks noChangeArrowheads="1"/>
                    </p:cNvSpPr>
                    <p:nvPr/>
                  </p:nvSpPr>
                  <p:spPr bwMode="auto">
                    <a:xfrm>
                      <a:off x="678" y="5574"/>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120" name="Rectangle 296"/>
                    <p:cNvSpPr>
                      <a:spLocks noChangeArrowheads="1"/>
                    </p:cNvSpPr>
                    <p:nvPr/>
                  </p:nvSpPr>
                  <p:spPr bwMode="auto">
                    <a:xfrm>
                      <a:off x="635" y="5574"/>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21" name="Group 297"/>
                  <p:cNvGrpSpPr>
                    <a:grpSpLocks/>
                  </p:cNvGrpSpPr>
                  <p:nvPr/>
                </p:nvGrpSpPr>
                <p:grpSpPr bwMode="auto">
                  <a:xfrm>
                    <a:off x="931" y="5574"/>
                    <a:ext cx="380" cy="384"/>
                    <a:chOff x="931" y="5574"/>
                    <a:chExt cx="380" cy="384"/>
                  </a:xfrm>
                </p:grpSpPr>
                <p:sp>
                  <p:nvSpPr>
                    <p:cNvPr id="718122" name="Rectangle 298"/>
                    <p:cNvSpPr>
                      <a:spLocks noChangeArrowheads="1"/>
                    </p:cNvSpPr>
                    <p:nvPr/>
                  </p:nvSpPr>
                  <p:spPr bwMode="auto">
                    <a:xfrm>
                      <a:off x="974" y="5574"/>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123" name="Rectangle 299"/>
                    <p:cNvSpPr>
                      <a:spLocks noChangeArrowheads="1"/>
                    </p:cNvSpPr>
                    <p:nvPr/>
                  </p:nvSpPr>
                  <p:spPr bwMode="auto">
                    <a:xfrm>
                      <a:off x="931" y="5574"/>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24" name="Group 300"/>
                  <p:cNvGrpSpPr>
                    <a:grpSpLocks/>
                  </p:cNvGrpSpPr>
                  <p:nvPr/>
                </p:nvGrpSpPr>
                <p:grpSpPr bwMode="auto">
                  <a:xfrm>
                    <a:off x="0" y="5958"/>
                    <a:ext cx="339" cy="480"/>
                    <a:chOff x="0" y="5958"/>
                    <a:chExt cx="339" cy="480"/>
                  </a:xfrm>
                </p:grpSpPr>
                <p:sp>
                  <p:nvSpPr>
                    <p:cNvPr id="718125" name="Rectangle 301"/>
                    <p:cNvSpPr>
                      <a:spLocks noChangeArrowheads="1"/>
                    </p:cNvSpPr>
                    <p:nvPr/>
                  </p:nvSpPr>
                  <p:spPr bwMode="auto">
                    <a:xfrm>
                      <a:off x="43" y="5958"/>
                      <a:ext cx="25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2400" b="1">
                          <a:solidFill>
                            <a:schemeClr val="bg2"/>
                          </a:solidFill>
                        </a:rPr>
                        <a:t>null</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126" name="Rectangle 302"/>
                    <p:cNvSpPr>
                      <a:spLocks noChangeArrowheads="1"/>
                    </p:cNvSpPr>
                    <p:nvPr/>
                  </p:nvSpPr>
                  <p:spPr bwMode="auto">
                    <a:xfrm>
                      <a:off x="0" y="5958"/>
                      <a:ext cx="33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27" name="Group 303"/>
                  <p:cNvGrpSpPr>
                    <a:grpSpLocks/>
                  </p:cNvGrpSpPr>
                  <p:nvPr/>
                </p:nvGrpSpPr>
                <p:grpSpPr bwMode="auto">
                  <a:xfrm>
                    <a:off x="339" y="5958"/>
                    <a:ext cx="296" cy="480"/>
                    <a:chOff x="339" y="5958"/>
                    <a:chExt cx="296" cy="480"/>
                  </a:xfrm>
                </p:grpSpPr>
                <p:sp>
                  <p:nvSpPr>
                    <p:cNvPr id="718128" name="Rectangle 304"/>
                    <p:cNvSpPr>
                      <a:spLocks noChangeArrowheads="1"/>
                    </p:cNvSpPr>
                    <p:nvPr/>
                  </p:nvSpPr>
                  <p:spPr bwMode="auto">
                    <a:xfrm>
                      <a:off x="382" y="5958"/>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e</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129" name="Rectangle 305"/>
                    <p:cNvSpPr>
                      <a:spLocks noChangeArrowheads="1"/>
                    </p:cNvSpPr>
                    <p:nvPr/>
                  </p:nvSpPr>
                  <p:spPr bwMode="auto">
                    <a:xfrm>
                      <a:off x="339" y="5958"/>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30" name="Group 306"/>
                  <p:cNvGrpSpPr>
                    <a:grpSpLocks/>
                  </p:cNvGrpSpPr>
                  <p:nvPr/>
                </p:nvGrpSpPr>
                <p:grpSpPr bwMode="auto">
                  <a:xfrm>
                    <a:off x="635" y="5958"/>
                    <a:ext cx="296" cy="480"/>
                    <a:chOff x="635" y="5958"/>
                    <a:chExt cx="296" cy="480"/>
                  </a:xfrm>
                </p:grpSpPr>
                <p:sp>
                  <p:nvSpPr>
                    <p:cNvPr id="718131" name="Rectangle 307"/>
                    <p:cNvSpPr>
                      <a:spLocks noChangeArrowheads="1"/>
                    </p:cNvSpPr>
                    <p:nvPr/>
                  </p:nvSpPr>
                  <p:spPr bwMode="auto">
                    <a:xfrm>
                      <a:off x="678" y="5958"/>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f</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132" name="Rectangle 308"/>
                    <p:cNvSpPr>
                      <a:spLocks noChangeArrowheads="1"/>
                    </p:cNvSpPr>
                    <p:nvPr/>
                  </p:nvSpPr>
                  <p:spPr bwMode="auto">
                    <a:xfrm>
                      <a:off x="635" y="5958"/>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33" name="Group 309"/>
                  <p:cNvGrpSpPr>
                    <a:grpSpLocks/>
                  </p:cNvGrpSpPr>
                  <p:nvPr/>
                </p:nvGrpSpPr>
                <p:grpSpPr bwMode="auto">
                  <a:xfrm>
                    <a:off x="931" y="5958"/>
                    <a:ext cx="380" cy="480"/>
                    <a:chOff x="931" y="5958"/>
                    <a:chExt cx="380" cy="480"/>
                  </a:xfrm>
                </p:grpSpPr>
                <p:sp>
                  <p:nvSpPr>
                    <p:cNvPr id="718134" name="Rectangle 310"/>
                    <p:cNvSpPr>
                      <a:spLocks noChangeArrowheads="1"/>
                    </p:cNvSpPr>
                    <p:nvPr/>
                  </p:nvSpPr>
                  <p:spPr bwMode="auto">
                    <a:xfrm>
                      <a:off x="974" y="5958"/>
                      <a:ext cx="29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g</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718135" name="Rectangle 311"/>
                    <p:cNvSpPr>
                      <a:spLocks noChangeArrowheads="1"/>
                    </p:cNvSpPr>
                    <p:nvPr/>
                  </p:nvSpPr>
                  <p:spPr bwMode="auto">
                    <a:xfrm>
                      <a:off x="931" y="5958"/>
                      <a:ext cx="38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718136" name="Rectangle 312"/>
                <p:cNvSpPr>
                  <a:spLocks noChangeArrowheads="1"/>
                </p:cNvSpPr>
                <p:nvPr/>
              </p:nvSpPr>
              <p:spPr bwMode="auto">
                <a:xfrm>
                  <a:off x="-3" y="4419"/>
                  <a:ext cx="1317" cy="2022"/>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137" name="Group 313"/>
              <p:cNvGrpSpPr>
                <a:grpSpLocks/>
              </p:cNvGrpSpPr>
              <p:nvPr/>
            </p:nvGrpSpPr>
            <p:grpSpPr bwMode="auto">
              <a:xfrm>
                <a:off x="3867" y="4110"/>
                <a:ext cx="283" cy="139"/>
                <a:chOff x="4935" y="6432"/>
                <a:chExt cx="315" cy="156"/>
              </a:xfrm>
            </p:grpSpPr>
            <p:sp>
              <p:nvSpPr>
                <p:cNvPr id="718138" name="AutoShape 314"/>
                <p:cNvSpPr>
                  <a:spLocks noChangeArrowheads="1"/>
                </p:cNvSpPr>
                <p:nvPr/>
              </p:nvSpPr>
              <p:spPr bwMode="auto">
                <a:xfrm rot="-5400000">
                  <a:off x="4962" y="6405"/>
                  <a:ext cx="156" cy="210"/>
                </a:xfrm>
                <a:prstGeom prst="flowChartCollate">
                  <a:avLst/>
                </a:prstGeom>
                <a:solidFill>
                  <a:srgbClr val="FFFFFF"/>
                </a:solidFill>
                <a:ln w="28575">
                  <a:solidFill>
                    <a:schemeClr val="bg2"/>
                  </a:solidFill>
                  <a:miter lim="800000"/>
                  <a:headEnd/>
                  <a:tailEnd/>
                </a:ln>
              </p:spPr>
              <p:txBody>
                <a:bodyPr/>
                <a:lstStyle/>
                <a:p>
                  <a:endParaRPr lang="zh-CN" altLang="en-US"/>
                </a:p>
              </p:txBody>
            </p:sp>
            <p:sp>
              <p:nvSpPr>
                <p:cNvPr id="718139" name="Line 315"/>
                <p:cNvSpPr>
                  <a:spLocks noChangeShapeType="1"/>
                </p:cNvSpPr>
                <p:nvPr/>
              </p:nvSpPr>
              <p:spPr bwMode="auto">
                <a:xfrm>
                  <a:off x="5145" y="6432"/>
                  <a:ext cx="105"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718140" name="Line 316"/>
                <p:cNvSpPr>
                  <a:spLocks noChangeShapeType="1"/>
                </p:cNvSpPr>
                <p:nvPr/>
              </p:nvSpPr>
              <p:spPr bwMode="auto">
                <a:xfrm>
                  <a:off x="5145" y="6588"/>
                  <a:ext cx="105" cy="0"/>
                </a:xfrm>
                <a:prstGeom prst="line">
                  <a:avLst/>
                </a:prstGeom>
                <a:noFill/>
                <a:ln w="2857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grpSp>
        </p:grpSp>
        <p:sp>
          <p:nvSpPr>
            <p:cNvPr id="718141" name="Rectangle 317"/>
            <p:cNvSpPr>
              <a:spLocks noChangeArrowheads="1"/>
            </p:cNvSpPr>
            <p:nvPr/>
          </p:nvSpPr>
          <p:spPr bwMode="auto">
            <a:xfrm>
              <a:off x="3665" y="3702"/>
              <a:ext cx="1920" cy="28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sp>
        <p:nvSpPr>
          <p:cNvPr id="718142" name="AutoShape 318">
            <a:hlinkClick r:id="rId2" action="ppaction://hlinksldjump"/>
          </p:cNvPr>
          <p:cNvSpPr>
            <a:spLocks noChangeArrowheads="1"/>
          </p:cNvSpPr>
          <p:nvPr/>
        </p:nvSpPr>
        <p:spPr bwMode="auto">
          <a:xfrm flipV="1">
            <a:off x="8747125" y="6354763"/>
            <a:ext cx="396875" cy="503237"/>
          </a:xfrm>
          <a:prstGeom prst="curvedLeftArrow">
            <a:avLst>
              <a:gd name="adj1" fmla="val 25360"/>
              <a:gd name="adj2" fmla="val 50720"/>
              <a:gd name="adj3" fmla="val 33333"/>
            </a:avLst>
          </a:prstGeom>
          <a:solidFill>
            <a:schemeClr val="bg1"/>
          </a:solidFill>
          <a:ln>
            <a:noFill/>
          </a:ln>
          <a:effectLst/>
          <a:extLst>
            <a:ext uri="{91240B29-F687-4F45-9708-019B960494DF}">
              <a14:hiddenLine xmlns:a14="http://schemas.microsoft.com/office/drawing/2010/main" w="9525">
                <a:solidFill>
                  <a:srgbClr val="009999"/>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718147"/>
                                        </p:tgtEl>
                                        <p:attrNameLst>
                                          <p:attrName>style.visibility</p:attrName>
                                        </p:attrNameLst>
                                      </p:cBhvr>
                                      <p:to>
                                        <p:strVal val="visible"/>
                                      </p:to>
                                    </p:set>
                                    <p:animEffect transition="in" filter="blinds(horizontal)">
                                      <p:cBhvr>
                                        <p:cTn id="7" dur="500"/>
                                        <p:tgtEl>
                                          <p:spTgt spid="71814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18146"/>
                                        </p:tgtEl>
                                        <p:attrNameLst>
                                          <p:attrName>style.visibility</p:attrName>
                                        </p:attrNameLst>
                                      </p:cBhvr>
                                      <p:to>
                                        <p:strVal val="visible"/>
                                      </p:to>
                                    </p:set>
                                    <p:animEffect transition="in" filter="blinds(horizontal)">
                                      <p:cBhvr>
                                        <p:cTn id="12" dur="500"/>
                                        <p:tgtEl>
                                          <p:spTgt spid="71814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1330" name="Rectangle 2"/>
          <p:cNvSpPr>
            <a:spLocks noChangeArrowheads="1"/>
          </p:cNvSpPr>
          <p:nvPr/>
        </p:nvSpPr>
        <p:spPr bwMode="auto">
          <a:xfrm>
            <a:off x="142875" y="106363"/>
            <a:ext cx="8893175" cy="20272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20000"/>
              </a:lnSpc>
            </a:pPr>
            <a:r>
              <a:rPr lang="en-US" altLang="zh-CN" sz="2400" b="1">
                <a:solidFill>
                  <a:schemeClr val="bg1"/>
                </a:solidFill>
              </a:rPr>
              <a:t>  2. </a:t>
            </a:r>
            <a:r>
              <a:rPr lang="zh-CN" altLang="en-US" sz="2400" b="1">
                <a:solidFill>
                  <a:schemeClr val="bg1"/>
                </a:solidFill>
              </a:rPr>
              <a:t>外部并（</a:t>
            </a:r>
            <a:r>
              <a:rPr lang="en-US" altLang="zh-CN" sz="2400" b="1">
                <a:solidFill>
                  <a:schemeClr val="bg1"/>
                </a:solidFill>
              </a:rPr>
              <a:t>outer  union</a:t>
            </a:r>
            <a:r>
              <a:rPr lang="zh-CN" altLang="en-US" sz="2400" b="1">
                <a:solidFill>
                  <a:schemeClr val="bg1"/>
                </a:solidFill>
              </a:rPr>
              <a:t>）</a:t>
            </a:r>
          </a:p>
          <a:p>
            <a:pPr eaLnBrk="0" hangingPunct="0">
              <a:lnSpc>
                <a:spcPct val="120000"/>
              </a:lnSpc>
            </a:pPr>
            <a:r>
              <a:rPr lang="zh-CN" altLang="en-US" sz="2400" b="1">
                <a:solidFill>
                  <a:schemeClr val="bg2"/>
                </a:solidFill>
              </a:rPr>
              <a:t>   </a:t>
            </a:r>
            <a:r>
              <a:rPr lang="zh-CN" altLang="en-US" sz="2400" b="1">
                <a:solidFill>
                  <a:srgbClr val="660033"/>
                </a:solidFill>
              </a:rPr>
              <a:t>如果</a:t>
            </a:r>
            <a:r>
              <a:rPr lang="en-US" altLang="zh-CN" sz="2400" b="1">
                <a:solidFill>
                  <a:srgbClr val="660033"/>
                </a:solidFill>
              </a:rPr>
              <a:t>R</a:t>
            </a:r>
            <a:r>
              <a:rPr lang="zh-CN" altLang="en-US" sz="2400" b="1">
                <a:solidFill>
                  <a:srgbClr val="660033"/>
                </a:solidFill>
              </a:rPr>
              <a:t>和</a:t>
            </a:r>
            <a:r>
              <a:rPr lang="en-US" altLang="zh-CN" sz="2400" b="1">
                <a:solidFill>
                  <a:srgbClr val="660033"/>
                </a:solidFill>
              </a:rPr>
              <a:t>S</a:t>
            </a:r>
            <a:r>
              <a:rPr lang="zh-CN" altLang="en-US" sz="2400" b="1">
                <a:solidFill>
                  <a:srgbClr val="660033"/>
                </a:solidFill>
              </a:rPr>
              <a:t>的关系模式不同，</a:t>
            </a:r>
            <a:r>
              <a:rPr lang="zh-CN" altLang="en-US" sz="2400" b="1">
                <a:solidFill>
                  <a:srgbClr val="000099"/>
                </a:solidFill>
              </a:rPr>
              <a:t>构成的新关系属性有</a:t>
            </a:r>
            <a:r>
              <a:rPr lang="en-US" altLang="zh-CN" sz="2400" b="1">
                <a:solidFill>
                  <a:srgbClr val="000099"/>
                </a:solidFill>
              </a:rPr>
              <a:t>R</a:t>
            </a:r>
            <a:r>
              <a:rPr lang="zh-CN" altLang="en-US" sz="2400" b="1">
                <a:solidFill>
                  <a:srgbClr val="000099"/>
                </a:solidFill>
              </a:rPr>
              <a:t>和</a:t>
            </a:r>
            <a:r>
              <a:rPr lang="en-US" altLang="zh-CN" sz="2400" b="1">
                <a:solidFill>
                  <a:srgbClr val="000099"/>
                </a:solidFill>
              </a:rPr>
              <a:t>S</a:t>
            </a:r>
            <a:r>
              <a:rPr lang="zh-CN" altLang="en-US" sz="2400" b="1">
                <a:solidFill>
                  <a:srgbClr val="000099"/>
                </a:solidFill>
              </a:rPr>
              <a:t>的所有属性组成（公共属性只取一次），</a:t>
            </a:r>
            <a:r>
              <a:rPr lang="zh-CN" altLang="en-US" sz="2400" b="1">
                <a:solidFill>
                  <a:srgbClr val="660033"/>
                </a:solidFill>
              </a:rPr>
              <a:t>新关系的元组由属于</a:t>
            </a:r>
            <a:r>
              <a:rPr lang="en-US" altLang="zh-CN" sz="2400" b="1">
                <a:solidFill>
                  <a:srgbClr val="660033"/>
                </a:solidFill>
              </a:rPr>
              <a:t>R</a:t>
            </a:r>
            <a:r>
              <a:rPr lang="zh-CN" altLang="en-US" sz="2400" b="1">
                <a:solidFill>
                  <a:srgbClr val="660033"/>
                </a:solidFill>
              </a:rPr>
              <a:t>或属于</a:t>
            </a:r>
            <a:r>
              <a:rPr lang="en-US" altLang="zh-CN" sz="2400" b="1">
                <a:solidFill>
                  <a:srgbClr val="660033"/>
                </a:solidFill>
              </a:rPr>
              <a:t>S</a:t>
            </a:r>
            <a:r>
              <a:rPr lang="zh-CN" altLang="en-US" sz="2400" b="1">
                <a:solidFill>
                  <a:srgbClr val="660033"/>
                </a:solidFill>
              </a:rPr>
              <a:t>的元组构成，同时元组在新增加的属性上填上空值</a:t>
            </a:r>
            <a:r>
              <a:rPr lang="en-US" altLang="zh-CN" sz="2400" b="1">
                <a:solidFill>
                  <a:srgbClr val="660033"/>
                </a:solidFill>
              </a:rPr>
              <a:t>(null)</a:t>
            </a:r>
            <a:r>
              <a:rPr lang="zh-CN" altLang="en-US" sz="2400" b="1">
                <a:solidFill>
                  <a:srgbClr val="660033"/>
                </a:solidFill>
              </a:rPr>
              <a:t>。</a:t>
            </a:r>
          </a:p>
        </p:txBody>
      </p:sp>
      <p:sp>
        <p:nvSpPr>
          <p:cNvPr id="611431" name="Rectangle 103"/>
          <p:cNvSpPr>
            <a:spLocks noChangeArrowheads="1"/>
          </p:cNvSpPr>
          <p:nvPr/>
        </p:nvSpPr>
        <p:spPr bwMode="auto">
          <a:xfrm>
            <a:off x="2286000" y="4572000"/>
            <a:ext cx="3733800" cy="190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nvGrpSpPr>
          <p:cNvPr id="611433" name="Group 105"/>
          <p:cNvGrpSpPr>
            <a:grpSpLocks/>
          </p:cNvGrpSpPr>
          <p:nvPr/>
        </p:nvGrpSpPr>
        <p:grpSpPr bwMode="auto">
          <a:xfrm>
            <a:off x="539750" y="2276475"/>
            <a:ext cx="8210550" cy="4114800"/>
            <a:chOff x="384" y="1728"/>
            <a:chExt cx="3744" cy="2400"/>
          </a:xfrm>
        </p:grpSpPr>
        <p:grpSp>
          <p:nvGrpSpPr>
            <p:cNvPr id="611429" name="Group 101"/>
            <p:cNvGrpSpPr>
              <a:grpSpLocks/>
            </p:cNvGrpSpPr>
            <p:nvPr/>
          </p:nvGrpSpPr>
          <p:grpSpPr bwMode="auto">
            <a:xfrm>
              <a:off x="384" y="1728"/>
              <a:ext cx="3744" cy="2400"/>
              <a:chOff x="-3" y="-3"/>
              <a:chExt cx="1317" cy="3462"/>
            </a:xfrm>
          </p:grpSpPr>
          <p:grpSp>
            <p:nvGrpSpPr>
              <p:cNvPr id="611427" name="Group 99"/>
              <p:cNvGrpSpPr>
                <a:grpSpLocks/>
              </p:cNvGrpSpPr>
              <p:nvPr/>
            </p:nvGrpSpPr>
            <p:grpSpPr bwMode="auto">
              <a:xfrm>
                <a:off x="0" y="0"/>
                <a:ext cx="1311" cy="3456"/>
                <a:chOff x="0" y="0"/>
                <a:chExt cx="1311" cy="3456"/>
              </a:xfrm>
            </p:grpSpPr>
            <p:grpSp>
              <p:nvGrpSpPr>
                <p:cNvPr id="611364" name="Group 36"/>
                <p:cNvGrpSpPr>
                  <a:grpSpLocks/>
                </p:cNvGrpSpPr>
                <p:nvPr/>
              </p:nvGrpSpPr>
              <p:grpSpPr bwMode="auto">
                <a:xfrm>
                  <a:off x="0" y="0"/>
                  <a:ext cx="339" cy="384"/>
                  <a:chOff x="0" y="0"/>
                  <a:chExt cx="339" cy="384"/>
                </a:xfrm>
              </p:grpSpPr>
              <p:sp>
                <p:nvSpPr>
                  <p:cNvPr id="611331" name="Rectangle 3"/>
                  <p:cNvSpPr>
                    <a:spLocks noChangeArrowheads="1"/>
                  </p:cNvSpPr>
                  <p:nvPr/>
                </p:nvSpPr>
                <p:spPr bwMode="auto">
                  <a:xfrm>
                    <a:off x="43" y="0"/>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363" name="Rectangle 35"/>
                  <p:cNvSpPr>
                    <a:spLocks noChangeArrowheads="1"/>
                  </p:cNvSpPr>
                  <p:nvPr/>
                </p:nvSpPr>
                <p:spPr bwMode="auto">
                  <a:xfrm>
                    <a:off x="0" y="0"/>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66" name="Group 38"/>
                <p:cNvGrpSpPr>
                  <a:grpSpLocks/>
                </p:cNvGrpSpPr>
                <p:nvPr/>
              </p:nvGrpSpPr>
              <p:grpSpPr bwMode="auto">
                <a:xfrm>
                  <a:off x="339" y="0"/>
                  <a:ext cx="296" cy="384"/>
                  <a:chOff x="339" y="0"/>
                  <a:chExt cx="296" cy="384"/>
                </a:xfrm>
              </p:grpSpPr>
              <p:sp>
                <p:nvSpPr>
                  <p:cNvPr id="611332" name="Rectangle 4"/>
                  <p:cNvSpPr>
                    <a:spLocks noChangeArrowheads="1"/>
                  </p:cNvSpPr>
                  <p:nvPr/>
                </p:nvSpPr>
                <p:spPr bwMode="auto">
                  <a:xfrm>
                    <a:off x="382" y="0"/>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365" name="Rectangle 37"/>
                  <p:cNvSpPr>
                    <a:spLocks noChangeArrowheads="1"/>
                  </p:cNvSpPr>
                  <p:nvPr/>
                </p:nvSpPr>
                <p:spPr bwMode="auto">
                  <a:xfrm>
                    <a:off x="339" y="0"/>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68" name="Group 40"/>
                <p:cNvGrpSpPr>
                  <a:grpSpLocks/>
                </p:cNvGrpSpPr>
                <p:nvPr/>
              </p:nvGrpSpPr>
              <p:grpSpPr bwMode="auto">
                <a:xfrm>
                  <a:off x="635" y="0"/>
                  <a:ext cx="296" cy="384"/>
                  <a:chOff x="635" y="0"/>
                  <a:chExt cx="296" cy="384"/>
                </a:xfrm>
              </p:grpSpPr>
              <p:sp>
                <p:nvSpPr>
                  <p:cNvPr id="611333" name="Rectangle 5"/>
                  <p:cNvSpPr>
                    <a:spLocks noChangeArrowheads="1"/>
                  </p:cNvSpPr>
                  <p:nvPr/>
                </p:nvSpPr>
                <p:spPr bwMode="auto">
                  <a:xfrm>
                    <a:off x="678" y="0"/>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367" name="Rectangle 39"/>
                  <p:cNvSpPr>
                    <a:spLocks noChangeArrowheads="1"/>
                  </p:cNvSpPr>
                  <p:nvPr/>
                </p:nvSpPr>
                <p:spPr bwMode="auto">
                  <a:xfrm>
                    <a:off x="635" y="0"/>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70" name="Group 42"/>
                <p:cNvGrpSpPr>
                  <a:grpSpLocks/>
                </p:cNvGrpSpPr>
                <p:nvPr/>
              </p:nvGrpSpPr>
              <p:grpSpPr bwMode="auto">
                <a:xfrm>
                  <a:off x="931" y="0"/>
                  <a:ext cx="380" cy="384"/>
                  <a:chOff x="931" y="0"/>
                  <a:chExt cx="380" cy="384"/>
                </a:xfrm>
              </p:grpSpPr>
              <p:sp>
                <p:nvSpPr>
                  <p:cNvPr id="611334" name="Rectangle 6"/>
                  <p:cNvSpPr>
                    <a:spLocks noChangeArrowheads="1"/>
                  </p:cNvSpPr>
                  <p:nvPr/>
                </p:nvSpPr>
                <p:spPr bwMode="auto">
                  <a:xfrm>
                    <a:off x="974" y="0"/>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369" name="Rectangle 41"/>
                  <p:cNvSpPr>
                    <a:spLocks noChangeArrowheads="1"/>
                  </p:cNvSpPr>
                  <p:nvPr/>
                </p:nvSpPr>
                <p:spPr bwMode="auto">
                  <a:xfrm>
                    <a:off x="931" y="0"/>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72" name="Group 44"/>
                <p:cNvGrpSpPr>
                  <a:grpSpLocks/>
                </p:cNvGrpSpPr>
                <p:nvPr/>
              </p:nvGrpSpPr>
              <p:grpSpPr bwMode="auto">
                <a:xfrm>
                  <a:off x="0" y="384"/>
                  <a:ext cx="339" cy="384"/>
                  <a:chOff x="0" y="384"/>
                  <a:chExt cx="339" cy="384"/>
                </a:xfrm>
              </p:grpSpPr>
              <p:sp>
                <p:nvSpPr>
                  <p:cNvPr id="611335" name="Rectangle 7"/>
                  <p:cNvSpPr>
                    <a:spLocks noChangeArrowheads="1"/>
                  </p:cNvSpPr>
                  <p:nvPr/>
                </p:nvSpPr>
                <p:spPr bwMode="auto">
                  <a:xfrm>
                    <a:off x="43" y="384"/>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rgbClr val="000099"/>
                        </a:solidFill>
                      </a:rPr>
                      <a:t>a</a:t>
                    </a:r>
                  </a:p>
                  <a:p>
                    <a:pPr algn="ctr" eaLnBrk="0" hangingPunct="0">
                      <a:lnSpc>
                        <a:spcPct val="100000"/>
                      </a:lnSpc>
                      <a:spcBef>
                        <a:spcPct val="0"/>
                      </a:spcBef>
                    </a:pPr>
                    <a:endParaRPr lang="en-US" altLang="zh-CN" sz="3200" b="1">
                      <a:solidFill>
                        <a:srgbClr val="000099"/>
                      </a:solidFill>
                      <a:latin typeface="Times New Roman" pitchFamily="18" charset="0"/>
                    </a:endParaRPr>
                  </a:p>
                </p:txBody>
              </p:sp>
              <p:sp>
                <p:nvSpPr>
                  <p:cNvPr id="611371" name="Rectangle 43"/>
                  <p:cNvSpPr>
                    <a:spLocks noChangeArrowheads="1"/>
                  </p:cNvSpPr>
                  <p:nvPr/>
                </p:nvSpPr>
                <p:spPr bwMode="auto">
                  <a:xfrm>
                    <a:off x="0" y="384"/>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74" name="Group 46"/>
                <p:cNvGrpSpPr>
                  <a:grpSpLocks/>
                </p:cNvGrpSpPr>
                <p:nvPr/>
              </p:nvGrpSpPr>
              <p:grpSpPr bwMode="auto">
                <a:xfrm>
                  <a:off x="339" y="384"/>
                  <a:ext cx="296" cy="384"/>
                  <a:chOff x="339" y="384"/>
                  <a:chExt cx="296" cy="384"/>
                </a:xfrm>
              </p:grpSpPr>
              <p:sp>
                <p:nvSpPr>
                  <p:cNvPr id="611336" name="Rectangle 8"/>
                  <p:cNvSpPr>
                    <a:spLocks noChangeArrowheads="1"/>
                  </p:cNvSpPr>
                  <p:nvPr/>
                </p:nvSpPr>
                <p:spPr bwMode="auto">
                  <a:xfrm>
                    <a:off x="382" y="384"/>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rgbClr val="000099"/>
                        </a:solidFill>
                      </a:rPr>
                      <a:t>b</a:t>
                    </a:r>
                  </a:p>
                  <a:p>
                    <a:pPr algn="ctr" eaLnBrk="0" hangingPunct="0">
                      <a:lnSpc>
                        <a:spcPct val="100000"/>
                      </a:lnSpc>
                      <a:spcBef>
                        <a:spcPct val="0"/>
                      </a:spcBef>
                    </a:pPr>
                    <a:endParaRPr lang="en-US" altLang="zh-CN" sz="3200" b="1">
                      <a:solidFill>
                        <a:srgbClr val="000099"/>
                      </a:solidFill>
                      <a:latin typeface="Times New Roman" pitchFamily="18" charset="0"/>
                    </a:endParaRPr>
                  </a:p>
                </p:txBody>
              </p:sp>
              <p:sp>
                <p:nvSpPr>
                  <p:cNvPr id="611373" name="Rectangle 45"/>
                  <p:cNvSpPr>
                    <a:spLocks noChangeArrowheads="1"/>
                  </p:cNvSpPr>
                  <p:nvPr/>
                </p:nvSpPr>
                <p:spPr bwMode="auto">
                  <a:xfrm>
                    <a:off x="339" y="384"/>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76" name="Group 48"/>
                <p:cNvGrpSpPr>
                  <a:grpSpLocks/>
                </p:cNvGrpSpPr>
                <p:nvPr/>
              </p:nvGrpSpPr>
              <p:grpSpPr bwMode="auto">
                <a:xfrm>
                  <a:off x="635" y="384"/>
                  <a:ext cx="296" cy="384"/>
                  <a:chOff x="635" y="384"/>
                  <a:chExt cx="296" cy="384"/>
                </a:xfrm>
              </p:grpSpPr>
              <p:sp>
                <p:nvSpPr>
                  <p:cNvPr id="611337" name="Rectangle 9"/>
                  <p:cNvSpPr>
                    <a:spLocks noChangeArrowheads="1"/>
                  </p:cNvSpPr>
                  <p:nvPr/>
                </p:nvSpPr>
                <p:spPr bwMode="auto">
                  <a:xfrm>
                    <a:off x="678" y="384"/>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rgbClr val="000099"/>
                        </a:solidFill>
                      </a:rPr>
                      <a:t>c</a:t>
                    </a:r>
                  </a:p>
                  <a:p>
                    <a:pPr algn="ctr" eaLnBrk="0" hangingPunct="0">
                      <a:lnSpc>
                        <a:spcPct val="100000"/>
                      </a:lnSpc>
                      <a:spcBef>
                        <a:spcPct val="0"/>
                      </a:spcBef>
                    </a:pPr>
                    <a:endParaRPr lang="en-US" altLang="zh-CN" sz="3200" b="1">
                      <a:solidFill>
                        <a:srgbClr val="000099"/>
                      </a:solidFill>
                      <a:latin typeface="Times New Roman" pitchFamily="18" charset="0"/>
                    </a:endParaRPr>
                  </a:p>
                </p:txBody>
              </p:sp>
              <p:sp>
                <p:nvSpPr>
                  <p:cNvPr id="611375" name="Rectangle 47"/>
                  <p:cNvSpPr>
                    <a:spLocks noChangeArrowheads="1"/>
                  </p:cNvSpPr>
                  <p:nvPr/>
                </p:nvSpPr>
                <p:spPr bwMode="auto">
                  <a:xfrm>
                    <a:off x="635" y="384"/>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78" name="Group 50"/>
                <p:cNvGrpSpPr>
                  <a:grpSpLocks/>
                </p:cNvGrpSpPr>
                <p:nvPr/>
              </p:nvGrpSpPr>
              <p:grpSpPr bwMode="auto">
                <a:xfrm>
                  <a:off x="931" y="384"/>
                  <a:ext cx="380" cy="384"/>
                  <a:chOff x="931" y="384"/>
                  <a:chExt cx="380" cy="384"/>
                </a:xfrm>
              </p:grpSpPr>
              <p:sp>
                <p:nvSpPr>
                  <p:cNvPr id="611338" name="Rectangle 10"/>
                  <p:cNvSpPr>
                    <a:spLocks noChangeArrowheads="1"/>
                  </p:cNvSpPr>
                  <p:nvPr/>
                </p:nvSpPr>
                <p:spPr bwMode="auto">
                  <a:xfrm>
                    <a:off x="974" y="384"/>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null</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377" name="Rectangle 49"/>
                  <p:cNvSpPr>
                    <a:spLocks noChangeArrowheads="1"/>
                  </p:cNvSpPr>
                  <p:nvPr/>
                </p:nvSpPr>
                <p:spPr bwMode="auto">
                  <a:xfrm>
                    <a:off x="931" y="384"/>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80" name="Group 52"/>
                <p:cNvGrpSpPr>
                  <a:grpSpLocks/>
                </p:cNvGrpSpPr>
                <p:nvPr/>
              </p:nvGrpSpPr>
              <p:grpSpPr bwMode="auto">
                <a:xfrm>
                  <a:off x="0" y="768"/>
                  <a:ext cx="339" cy="384"/>
                  <a:chOff x="0" y="768"/>
                  <a:chExt cx="339" cy="384"/>
                </a:xfrm>
              </p:grpSpPr>
              <p:sp>
                <p:nvSpPr>
                  <p:cNvPr id="611339" name="Rectangle 11"/>
                  <p:cNvSpPr>
                    <a:spLocks noChangeArrowheads="1"/>
                  </p:cNvSpPr>
                  <p:nvPr/>
                </p:nvSpPr>
                <p:spPr bwMode="auto">
                  <a:xfrm>
                    <a:off x="43" y="768"/>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rgbClr val="000099"/>
                        </a:solidFill>
                      </a:rPr>
                      <a:t>b</a:t>
                    </a:r>
                  </a:p>
                  <a:p>
                    <a:pPr algn="ctr" eaLnBrk="0" hangingPunct="0">
                      <a:lnSpc>
                        <a:spcPct val="100000"/>
                      </a:lnSpc>
                      <a:spcBef>
                        <a:spcPct val="0"/>
                      </a:spcBef>
                    </a:pPr>
                    <a:endParaRPr lang="en-US" altLang="zh-CN" sz="3200" b="1">
                      <a:solidFill>
                        <a:srgbClr val="000099"/>
                      </a:solidFill>
                      <a:latin typeface="Times New Roman" pitchFamily="18" charset="0"/>
                    </a:endParaRPr>
                  </a:p>
                </p:txBody>
              </p:sp>
              <p:sp>
                <p:nvSpPr>
                  <p:cNvPr id="611379" name="Rectangle 51"/>
                  <p:cNvSpPr>
                    <a:spLocks noChangeArrowheads="1"/>
                  </p:cNvSpPr>
                  <p:nvPr/>
                </p:nvSpPr>
                <p:spPr bwMode="auto">
                  <a:xfrm>
                    <a:off x="0" y="768"/>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82" name="Group 54"/>
                <p:cNvGrpSpPr>
                  <a:grpSpLocks/>
                </p:cNvGrpSpPr>
                <p:nvPr/>
              </p:nvGrpSpPr>
              <p:grpSpPr bwMode="auto">
                <a:xfrm>
                  <a:off x="339" y="768"/>
                  <a:ext cx="296" cy="384"/>
                  <a:chOff x="339" y="768"/>
                  <a:chExt cx="296" cy="384"/>
                </a:xfrm>
              </p:grpSpPr>
              <p:sp>
                <p:nvSpPr>
                  <p:cNvPr id="611340" name="Rectangle 12"/>
                  <p:cNvSpPr>
                    <a:spLocks noChangeArrowheads="1"/>
                  </p:cNvSpPr>
                  <p:nvPr/>
                </p:nvSpPr>
                <p:spPr bwMode="auto">
                  <a:xfrm>
                    <a:off x="382" y="768"/>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rgbClr val="000099"/>
                        </a:solidFill>
                      </a:rPr>
                      <a:t>b</a:t>
                    </a:r>
                  </a:p>
                  <a:p>
                    <a:pPr algn="ctr" eaLnBrk="0" hangingPunct="0">
                      <a:lnSpc>
                        <a:spcPct val="100000"/>
                      </a:lnSpc>
                      <a:spcBef>
                        <a:spcPct val="0"/>
                      </a:spcBef>
                    </a:pPr>
                    <a:endParaRPr lang="en-US" altLang="zh-CN" sz="3200" b="1">
                      <a:solidFill>
                        <a:srgbClr val="000099"/>
                      </a:solidFill>
                      <a:latin typeface="Times New Roman" pitchFamily="18" charset="0"/>
                    </a:endParaRPr>
                  </a:p>
                </p:txBody>
              </p:sp>
              <p:sp>
                <p:nvSpPr>
                  <p:cNvPr id="611381" name="Rectangle 53"/>
                  <p:cNvSpPr>
                    <a:spLocks noChangeArrowheads="1"/>
                  </p:cNvSpPr>
                  <p:nvPr/>
                </p:nvSpPr>
                <p:spPr bwMode="auto">
                  <a:xfrm>
                    <a:off x="339" y="768"/>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84" name="Group 56"/>
                <p:cNvGrpSpPr>
                  <a:grpSpLocks/>
                </p:cNvGrpSpPr>
                <p:nvPr/>
              </p:nvGrpSpPr>
              <p:grpSpPr bwMode="auto">
                <a:xfrm>
                  <a:off x="635" y="768"/>
                  <a:ext cx="296" cy="384"/>
                  <a:chOff x="635" y="768"/>
                  <a:chExt cx="296" cy="384"/>
                </a:xfrm>
              </p:grpSpPr>
              <p:sp>
                <p:nvSpPr>
                  <p:cNvPr id="611341" name="Rectangle 13"/>
                  <p:cNvSpPr>
                    <a:spLocks noChangeArrowheads="1"/>
                  </p:cNvSpPr>
                  <p:nvPr/>
                </p:nvSpPr>
                <p:spPr bwMode="auto">
                  <a:xfrm>
                    <a:off x="678" y="768"/>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f</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383" name="Rectangle 55"/>
                  <p:cNvSpPr>
                    <a:spLocks noChangeArrowheads="1"/>
                  </p:cNvSpPr>
                  <p:nvPr/>
                </p:nvSpPr>
                <p:spPr bwMode="auto">
                  <a:xfrm>
                    <a:off x="635" y="768"/>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86" name="Group 58"/>
                <p:cNvGrpSpPr>
                  <a:grpSpLocks/>
                </p:cNvGrpSpPr>
                <p:nvPr/>
              </p:nvGrpSpPr>
              <p:grpSpPr bwMode="auto">
                <a:xfrm>
                  <a:off x="931" y="768"/>
                  <a:ext cx="380" cy="384"/>
                  <a:chOff x="931" y="768"/>
                  <a:chExt cx="380" cy="384"/>
                </a:xfrm>
              </p:grpSpPr>
              <p:sp>
                <p:nvSpPr>
                  <p:cNvPr id="611342" name="Rectangle 14"/>
                  <p:cNvSpPr>
                    <a:spLocks noChangeArrowheads="1"/>
                  </p:cNvSpPr>
                  <p:nvPr/>
                </p:nvSpPr>
                <p:spPr bwMode="auto">
                  <a:xfrm>
                    <a:off x="974" y="768"/>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null</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385" name="Rectangle 57"/>
                  <p:cNvSpPr>
                    <a:spLocks noChangeArrowheads="1"/>
                  </p:cNvSpPr>
                  <p:nvPr/>
                </p:nvSpPr>
                <p:spPr bwMode="auto">
                  <a:xfrm>
                    <a:off x="931" y="768"/>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88" name="Group 60"/>
                <p:cNvGrpSpPr>
                  <a:grpSpLocks/>
                </p:cNvGrpSpPr>
                <p:nvPr/>
              </p:nvGrpSpPr>
              <p:grpSpPr bwMode="auto">
                <a:xfrm>
                  <a:off x="0" y="1152"/>
                  <a:ext cx="339" cy="384"/>
                  <a:chOff x="0" y="1152"/>
                  <a:chExt cx="339" cy="384"/>
                </a:xfrm>
              </p:grpSpPr>
              <p:sp>
                <p:nvSpPr>
                  <p:cNvPr id="611343" name="Rectangle 15"/>
                  <p:cNvSpPr>
                    <a:spLocks noChangeArrowheads="1"/>
                  </p:cNvSpPr>
                  <p:nvPr/>
                </p:nvSpPr>
                <p:spPr bwMode="auto">
                  <a:xfrm>
                    <a:off x="43" y="1152"/>
                    <a:ext cx="253"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rgbClr val="000099"/>
                        </a:solidFill>
                      </a:rPr>
                      <a:t>c</a:t>
                    </a:r>
                  </a:p>
                  <a:p>
                    <a:pPr algn="ctr" eaLnBrk="0" hangingPunct="0">
                      <a:lnSpc>
                        <a:spcPct val="100000"/>
                      </a:lnSpc>
                      <a:spcBef>
                        <a:spcPct val="0"/>
                      </a:spcBef>
                    </a:pPr>
                    <a:endParaRPr lang="en-US" altLang="zh-CN" sz="3200" b="1">
                      <a:solidFill>
                        <a:srgbClr val="000099"/>
                      </a:solidFill>
                      <a:latin typeface="Times New Roman" pitchFamily="18" charset="0"/>
                    </a:endParaRPr>
                  </a:p>
                </p:txBody>
              </p:sp>
              <p:sp>
                <p:nvSpPr>
                  <p:cNvPr id="611387" name="Rectangle 59"/>
                  <p:cNvSpPr>
                    <a:spLocks noChangeArrowheads="1"/>
                  </p:cNvSpPr>
                  <p:nvPr/>
                </p:nvSpPr>
                <p:spPr bwMode="auto">
                  <a:xfrm>
                    <a:off x="0" y="1152"/>
                    <a:ext cx="339"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90" name="Group 62"/>
                <p:cNvGrpSpPr>
                  <a:grpSpLocks/>
                </p:cNvGrpSpPr>
                <p:nvPr/>
              </p:nvGrpSpPr>
              <p:grpSpPr bwMode="auto">
                <a:xfrm>
                  <a:off x="339" y="1152"/>
                  <a:ext cx="296" cy="384"/>
                  <a:chOff x="339" y="1152"/>
                  <a:chExt cx="296" cy="384"/>
                </a:xfrm>
              </p:grpSpPr>
              <p:sp>
                <p:nvSpPr>
                  <p:cNvPr id="611344" name="Rectangle 16"/>
                  <p:cNvSpPr>
                    <a:spLocks noChangeArrowheads="1"/>
                  </p:cNvSpPr>
                  <p:nvPr/>
                </p:nvSpPr>
                <p:spPr bwMode="auto">
                  <a:xfrm>
                    <a:off x="382" y="115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rgbClr val="000099"/>
                        </a:solidFill>
                      </a:rPr>
                      <a:t>a</a:t>
                    </a:r>
                  </a:p>
                  <a:p>
                    <a:pPr algn="ctr" eaLnBrk="0" hangingPunct="0">
                      <a:lnSpc>
                        <a:spcPct val="100000"/>
                      </a:lnSpc>
                      <a:spcBef>
                        <a:spcPct val="0"/>
                      </a:spcBef>
                    </a:pPr>
                    <a:endParaRPr lang="en-US" altLang="zh-CN" sz="3200" b="1">
                      <a:solidFill>
                        <a:srgbClr val="000099"/>
                      </a:solidFill>
                      <a:latin typeface="Times New Roman" pitchFamily="18" charset="0"/>
                    </a:endParaRPr>
                  </a:p>
                </p:txBody>
              </p:sp>
              <p:sp>
                <p:nvSpPr>
                  <p:cNvPr id="611389" name="Rectangle 61"/>
                  <p:cNvSpPr>
                    <a:spLocks noChangeArrowheads="1"/>
                  </p:cNvSpPr>
                  <p:nvPr/>
                </p:nvSpPr>
                <p:spPr bwMode="auto">
                  <a:xfrm>
                    <a:off x="339" y="115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92" name="Group 64"/>
                <p:cNvGrpSpPr>
                  <a:grpSpLocks/>
                </p:cNvGrpSpPr>
                <p:nvPr/>
              </p:nvGrpSpPr>
              <p:grpSpPr bwMode="auto">
                <a:xfrm>
                  <a:off x="635" y="1152"/>
                  <a:ext cx="296" cy="384"/>
                  <a:chOff x="635" y="1152"/>
                  <a:chExt cx="296" cy="384"/>
                </a:xfrm>
              </p:grpSpPr>
              <p:sp>
                <p:nvSpPr>
                  <p:cNvPr id="611345" name="Rectangle 17"/>
                  <p:cNvSpPr>
                    <a:spLocks noChangeArrowheads="1"/>
                  </p:cNvSpPr>
                  <p:nvPr/>
                </p:nvSpPr>
                <p:spPr bwMode="auto">
                  <a:xfrm>
                    <a:off x="678" y="115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rgbClr val="000099"/>
                        </a:solidFill>
                      </a:rPr>
                      <a:t>d</a:t>
                    </a:r>
                  </a:p>
                  <a:p>
                    <a:pPr algn="ctr" eaLnBrk="0" hangingPunct="0">
                      <a:lnSpc>
                        <a:spcPct val="100000"/>
                      </a:lnSpc>
                      <a:spcBef>
                        <a:spcPct val="0"/>
                      </a:spcBef>
                    </a:pPr>
                    <a:endParaRPr lang="en-US" altLang="zh-CN" sz="3200" b="1">
                      <a:solidFill>
                        <a:srgbClr val="000099"/>
                      </a:solidFill>
                      <a:latin typeface="Times New Roman" pitchFamily="18" charset="0"/>
                    </a:endParaRPr>
                  </a:p>
                </p:txBody>
              </p:sp>
              <p:sp>
                <p:nvSpPr>
                  <p:cNvPr id="611391" name="Rectangle 63"/>
                  <p:cNvSpPr>
                    <a:spLocks noChangeArrowheads="1"/>
                  </p:cNvSpPr>
                  <p:nvPr/>
                </p:nvSpPr>
                <p:spPr bwMode="auto">
                  <a:xfrm>
                    <a:off x="635" y="115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94" name="Group 66"/>
                <p:cNvGrpSpPr>
                  <a:grpSpLocks/>
                </p:cNvGrpSpPr>
                <p:nvPr/>
              </p:nvGrpSpPr>
              <p:grpSpPr bwMode="auto">
                <a:xfrm>
                  <a:off x="931" y="1152"/>
                  <a:ext cx="380" cy="384"/>
                  <a:chOff x="931" y="1152"/>
                  <a:chExt cx="380" cy="384"/>
                </a:xfrm>
              </p:grpSpPr>
              <p:sp>
                <p:nvSpPr>
                  <p:cNvPr id="611346" name="Rectangle 18"/>
                  <p:cNvSpPr>
                    <a:spLocks noChangeArrowheads="1"/>
                  </p:cNvSpPr>
                  <p:nvPr/>
                </p:nvSpPr>
                <p:spPr bwMode="auto">
                  <a:xfrm>
                    <a:off x="974" y="1152"/>
                    <a:ext cx="294"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null</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393" name="Rectangle 65"/>
                  <p:cNvSpPr>
                    <a:spLocks noChangeArrowheads="1"/>
                  </p:cNvSpPr>
                  <p:nvPr/>
                </p:nvSpPr>
                <p:spPr bwMode="auto">
                  <a:xfrm>
                    <a:off x="931" y="1152"/>
                    <a:ext cx="380"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96" name="Group 68"/>
                <p:cNvGrpSpPr>
                  <a:grpSpLocks/>
                </p:cNvGrpSpPr>
                <p:nvPr/>
              </p:nvGrpSpPr>
              <p:grpSpPr bwMode="auto">
                <a:xfrm>
                  <a:off x="0" y="1536"/>
                  <a:ext cx="339" cy="480"/>
                  <a:chOff x="0" y="1536"/>
                  <a:chExt cx="339" cy="480"/>
                </a:xfrm>
              </p:grpSpPr>
              <p:sp>
                <p:nvSpPr>
                  <p:cNvPr id="611347" name="Rectangle 19"/>
                  <p:cNvSpPr>
                    <a:spLocks noChangeArrowheads="1"/>
                  </p:cNvSpPr>
                  <p:nvPr/>
                </p:nvSpPr>
                <p:spPr bwMode="auto">
                  <a:xfrm>
                    <a:off x="43" y="1536"/>
                    <a:ext cx="25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null</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395" name="Rectangle 67"/>
                  <p:cNvSpPr>
                    <a:spLocks noChangeArrowheads="1"/>
                  </p:cNvSpPr>
                  <p:nvPr/>
                </p:nvSpPr>
                <p:spPr bwMode="auto">
                  <a:xfrm>
                    <a:off x="0" y="1536"/>
                    <a:ext cx="33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398" name="Group 70"/>
                <p:cNvGrpSpPr>
                  <a:grpSpLocks/>
                </p:cNvGrpSpPr>
                <p:nvPr/>
              </p:nvGrpSpPr>
              <p:grpSpPr bwMode="auto">
                <a:xfrm>
                  <a:off x="339" y="1536"/>
                  <a:ext cx="296" cy="480"/>
                  <a:chOff x="339" y="1536"/>
                  <a:chExt cx="296" cy="480"/>
                </a:xfrm>
              </p:grpSpPr>
              <p:sp>
                <p:nvSpPr>
                  <p:cNvPr id="611348" name="Rectangle 20"/>
                  <p:cNvSpPr>
                    <a:spLocks noChangeArrowheads="1"/>
                  </p:cNvSpPr>
                  <p:nvPr/>
                </p:nvSpPr>
                <p:spPr bwMode="auto">
                  <a:xfrm>
                    <a:off x="382" y="1536"/>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397" name="Rectangle 69"/>
                  <p:cNvSpPr>
                    <a:spLocks noChangeArrowheads="1"/>
                  </p:cNvSpPr>
                  <p:nvPr/>
                </p:nvSpPr>
                <p:spPr bwMode="auto">
                  <a:xfrm>
                    <a:off x="339" y="1536"/>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00" name="Group 72"/>
                <p:cNvGrpSpPr>
                  <a:grpSpLocks/>
                </p:cNvGrpSpPr>
                <p:nvPr/>
              </p:nvGrpSpPr>
              <p:grpSpPr bwMode="auto">
                <a:xfrm>
                  <a:off x="635" y="1536"/>
                  <a:ext cx="296" cy="480"/>
                  <a:chOff x="635" y="1536"/>
                  <a:chExt cx="296" cy="480"/>
                </a:xfrm>
              </p:grpSpPr>
              <p:sp>
                <p:nvSpPr>
                  <p:cNvPr id="611349" name="Rectangle 21"/>
                  <p:cNvSpPr>
                    <a:spLocks noChangeArrowheads="1"/>
                  </p:cNvSpPr>
                  <p:nvPr/>
                </p:nvSpPr>
                <p:spPr bwMode="auto">
                  <a:xfrm>
                    <a:off x="678" y="1536"/>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399" name="Rectangle 71"/>
                  <p:cNvSpPr>
                    <a:spLocks noChangeArrowheads="1"/>
                  </p:cNvSpPr>
                  <p:nvPr/>
                </p:nvSpPr>
                <p:spPr bwMode="auto">
                  <a:xfrm>
                    <a:off x="635" y="1536"/>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02" name="Group 74"/>
                <p:cNvGrpSpPr>
                  <a:grpSpLocks/>
                </p:cNvGrpSpPr>
                <p:nvPr/>
              </p:nvGrpSpPr>
              <p:grpSpPr bwMode="auto">
                <a:xfrm>
                  <a:off x="931" y="1536"/>
                  <a:ext cx="380" cy="480"/>
                  <a:chOff x="931" y="1536"/>
                  <a:chExt cx="380" cy="480"/>
                </a:xfrm>
              </p:grpSpPr>
              <p:sp>
                <p:nvSpPr>
                  <p:cNvPr id="611350" name="Rectangle 22"/>
                  <p:cNvSpPr>
                    <a:spLocks noChangeArrowheads="1"/>
                  </p:cNvSpPr>
                  <p:nvPr/>
                </p:nvSpPr>
                <p:spPr bwMode="auto">
                  <a:xfrm>
                    <a:off x="974" y="1536"/>
                    <a:ext cx="29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01" name="Rectangle 73"/>
                  <p:cNvSpPr>
                    <a:spLocks noChangeArrowheads="1"/>
                  </p:cNvSpPr>
                  <p:nvPr/>
                </p:nvSpPr>
                <p:spPr bwMode="auto">
                  <a:xfrm>
                    <a:off x="931" y="1536"/>
                    <a:ext cx="38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04" name="Group 76"/>
                <p:cNvGrpSpPr>
                  <a:grpSpLocks/>
                </p:cNvGrpSpPr>
                <p:nvPr/>
              </p:nvGrpSpPr>
              <p:grpSpPr bwMode="auto">
                <a:xfrm>
                  <a:off x="0" y="2016"/>
                  <a:ext cx="339" cy="480"/>
                  <a:chOff x="0" y="2016"/>
                  <a:chExt cx="339" cy="480"/>
                </a:xfrm>
              </p:grpSpPr>
              <p:sp>
                <p:nvSpPr>
                  <p:cNvPr id="611351" name="Rectangle 23"/>
                  <p:cNvSpPr>
                    <a:spLocks noChangeArrowheads="1"/>
                  </p:cNvSpPr>
                  <p:nvPr/>
                </p:nvSpPr>
                <p:spPr bwMode="auto">
                  <a:xfrm>
                    <a:off x="43" y="2016"/>
                    <a:ext cx="25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null</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03" name="Rectangle 75"/>
                  <p:cNvSpPr>
                    <a:spLocks noChangeArrowheads="1"/>
                  </p:cNvSpPr>
                  <p:nvPr/>
                </p:nvSpPr>
                <p:spPr bwMode="auto">
                  <a:xfrm>
                    <a:off x="0" y="2016"/>
                    <a:ext cx="33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06" name="Group 78"/>
                <p:cNvGrpSpPr>
                  <a:grpSpLocks/>
                </p:cNvGrpSpPr>
                <p:nvPr/>
              </p:nvGrpSpPr>
              <p:grpSpPr bwMode="auto">
                <a:xfrm>
                  <a:off x="339" y="2016"/>
                  <a:ext cx="296" cy="480"/>
                  <a:chOff x="339" y="2016"/>
                  <a:chExt cx="296" cy="480"/>
                </a:xfrm>
              </p:grpSpPr>
              <p:sp>
                <p:nvSpPr>
                  <p:cNvPr id="611352" name="Rectangle 24"/>
                  <p:cNvSpPr>
                    <a:spLocks noChangeArrowheads="1"/>
                  </p:cNvSpPr>
                  <p:nvPr/>
                </p:nvSpPr>
                <p:spPr bwMode="auto">
                  <a:xfrm>
                    <a:off x="382" y="2016"/>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05" name="Rectangle 77"/>
                  <p:cNvSpPr>
                    <a:spLocks noChangeArrowheads="1"/>
                  </p:cNvSpPr>
                  <p:nvPr/>
                </p:nvSpPr>
                <p:spPr bwMode="auto">
                  <a:xfrm>
                    <a:off x="339" y="2016"/>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08" name="Group 80"/>
                <p:cNvGrpSpPr>
                  <a:grpSpLocks/>
                </p:cNvGrpSpPr>
                <p:nvPr/>
              </p:nvGrpSpPr>
              <p:grpSpPr bwMode="auto">
                <a:xfrm>
                  <a:off x="635" y="2016"/>
                  <a:ext cx="296" cy="480"/>
                  <a:chOff x="635" y="2016"/>
                  <a:chExt cx="296" cy="480"/>
                </a:xfrm>
              </p:grpSpPr>
              <p:sp>
                <p:nvSpPr>
                  <p:cNvPr id="611353" name="Rectangle 25"/>
                  <p:cNvSpPr>
                    <a:spLocks noChangeArrowheads="1"/>
                  </p:cNvSpPr>
                  <p:nvPr/>
                </p:nvSpPr>
                <p:spPr bwMode="auto">
                  <a:xfrm>
                    <a:off x="678" y="2016"/>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c</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07" name="Rectangle 79"/>
                  <p:cNvSpPr>
                    <a:spLocks noChangeArrowheads="1"/>
                  </p:cNvSpPr>
                  <p:nvPr/>
                </p:nvSpPr>
                <p:spPr bwMode="auto">
                  <a:xfrm>
                    <a:off x="635" y="2016"/>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10" name="Group 82"/>
                <p:cNvGrpSpPr>
                  <a:grpSpLocks/>
                </p:cNvGrpSpPr>
                <p:nvPr/>
              </p:nvGrpSpPr>
              <p:grpSpPr bwMode="auto">
                <a:xfrm>
                  <a:off x="931" y="2016"/>
                  <a:ext cx="380" cy="480"/>
                  <a:chOff x="931" y="2016"/>
                  <a:chExt cx="380" cy="480"/>
                </a:xfrm>
              </p:grpSpPr>
              <p:sp>
                <p:nvSpPr>
                  <p:cNvPr id="611354" name="Rectangle 26"/>
                  <p:cNvSpPr>
                    <a:spLocks noChangeArrowheads="1"/>
                  </p:cNvSpPr>
                  <p:nvPr/>
                </p:nvSpPr>
                <p:spPr bwMode="auto">
                  <a:xfrm>
                    <a:off x="974" y="2016"/>
                    <a:ext cx="29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e</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09" name="Rectangle 81"/>
                  <p:cNvSpPr>
                    <a:spLocks noChangeArrowheads="1"/>
                  </p:cNvSpPr>
                  <p:nvPr/>
                </p:nvSpPr>
                <p:spPr bwMode="auto">
                  <a:xfrm>
                    <a:off x="931" y="2016"/>
                    <a:ext cx="38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12" name="Group 84"/>
                <p:cNvGrpSpPr>
                  <a:grpSpLocks/>
                </p:cNvGrpSpPr>
                <p:nvPr/>
              </p:nvGrpSpPr>
              <p:grpSpPr bwMode="auto">
                <a:xfrm>
                  <a:off x="0" y="2496"/>
                  <a:ext cx="339" cy="480"/>
                  <a:chOff x="0" y="2496"/>
                  <a:chExt cx="339" cy="480"/>
                </a:xfrm>
              </p:grpSpPr>
              <p:sp>
                <p:nvSpPr>
                  <p:cNvPr id="611355" name="Rectangle 27"/>
                  <p:cNvSpPr>
                    <a:spLocks noChangeArrowheads="1"/>
                  </p:cNvSpPr>
                  <p:nvPr/>
                </p:nvSpPr>
                <p:spPr bwMode="auto">
                  <a:xfrm>
                    <a:off x="43" y="2496"/>
                    <a:ext cx="25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null</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11" name="Rectangle 83"/>
                  <p:cNvSpPr>
                    <a:spLocks noChangeArrowheads="1"/>
                  </p:cNvSpPr>
                  <p:nvPr/>
                </p:nvSpPr>
                <p:spPr bwMode="auto">
                  <a:xfrm>
                    <a:off x="0" y="2496"/>
                    <a:ext cx="33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14" name="Group 86"/>
                <p:cNvGrpSpPr>
                  <a:grpSpLocks/>
                </p:cNvGrpSpPr>
                <p:nvPr/>
              </p:nvGrpSpPr>
              <p:grpSpPr bwMode="auto">
                <a:xfrm>
                  <a:off x="339" y="2496"/>
                  <a:ext cx="296" cy="480"/>
                  <a:chOff x="339" y="2496"/>
                  <a:chExt cx="296" cy="480"/>
                </a:xfrm>
              </p:grpSpPr>
              <p:sp>
                <p:nvSpPr>
                  <p:cNvPr id="611356" name="Rectangle 28"/>
                  <p:cNvSpPr>
                    <a:spLocks noChangeArrowheads="1"/>
                  </p:cNvSpPr>
                  <p:nvPr/>
                </p:nvSpPr>
                <p:spPr bwMode="auto">
                  <a:xfrm>
                    <a:off x="382" y="2496"/>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a</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13" name="Rectangle 85"/>
                  <p:cNvSpPr>
                    <a:spLocks noChangeArrowheads="1"/>
                  </p:cNvSpPr>
                  <p:nvPr/>
                </p:nvSpPr>
                <p:spPr bwMode="auto">
                  <a:xfrm>
                    <a:off x="339" y="2496"/>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16" name="Group 88"/>
                <p:cNvGrpSpPr>
                  <a:grpSpLocks/>
                </p:cNvGrpSpPr>
                <p:nvPr/>
              </p:nvGrpSpPr>
              <p:grpSpPr bwMode="auto">
                <a:xfrm>
                  <a:off x="635" y="2496"/>
                  <a:ext cx="296" cy="480"/>
                  <a:chOff x="635" y="2496"/>
                  <a:chExt cx="296" cy="480"/>
                </a:xfrm>
              </p:grpSpPr>
              <p:sp>
                <p:nvSpPr>
                  <p:cNvPr id="611357" name="Rectangle 29"/>
                  <p:cNvSpPr>
                    <a:spLocks noChangeArrowheads="1"/>
                  </p:cNvSpPr>
                  <p:nvPr/>
                </p:nvSpPr>
                <p:spPr bwMode="auto">
                  <a:xfrm>
                    <a:off x="678" y="2496"/>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d</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15" name="Rectangle 87"/>
                  <p:cNvSpPr>
                    <a:spLocks noChangeArrowheads="1"/>
                  </p:cNvSpPr>
                  <p:nvPr/>
                </p:nvSpPr>
                <p:spPr bwMode="auto">
                  <a:xfrm>
                    <a:off x="635" y="2496"/>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18" name="Group 90"/>
                <p:cNvGrpSpPr>
                  <a:grpSpLocks/>
                </p:cNvGrpSpPr>
                <p:nvPr/>
              </p:nvGrpSpPr>
              <p:grpSpPr bwMode="auto">
                <a:xfrm>
                  <a:off x="931" y="2496"/>
                  <a:ext cx="380" cy="480"/>
                  <a:chOff x="931" y="2496"/>
                  <a:chExt cx="380" cy="480"/>
                </a:xfrm>
              </p:grpSpPr>
              <p:sp>
                <p:nvSpPr>
                  <p:cNvPr id="611358" name="Rectangle 30"/>
                  <p:cNvSpPr>
                    <a:spLocks noChangeArrowheads="1"/>
                  </p:cNvSpPr>
                  <p:nvPr/>
                </p:nvSpPr>
                <p:spPr bwMode="auto">
                  <a:xfrm>
                    <a:off x="974" y="2496"/>
                    <a:ext cx="29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b</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17" name="Rectangle 89"/>
                  <p:cNvSpPr>
                    <a:spLocks noChangeArrowheads="1"/>
                  </p:cNvSpPr>
                  <p:nvPr/>
                </p:nvSpPr>
                <p:spPr bwMode="auto">
                  <a:xfrm>
                    <a:off x="931" y="2496"/>
                    <a:ext cx="38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20" name="Group 92"/>
                <p:cNvGrpSpPr>
                  <a:grpSpLocks/>
                </p:cNvGrpSpPr>
                <p:nvPr/>
              </p:nvGrpSpPr>
              <p:grpSpPr bwMode="auto">
                <a:xfrm>
                  <a:off x="0" y="2976"/>
                  <a:ext cx="339" cy="480"/>
                  <a:chOff x="0" y="2976"/>
                  <a:chExt cx="339" cy="480"/>
                </a:xfrm>
              </p:grpSpPr>
              <p:sp>
                <p:nvSpPr>
                  <p:cNvPr id="611359" name="Rectangle 31"/>
                  <p:cNvSpPr>
                    <a:spLocks noChangeArrowheads="1"/>
                  </p:cNvSpPr>
                  <p:nvPr/>
                </p:nvSpPr>
                <p:spPr bwMode="auto">
                  <a:xfrm>
                    <a:off x="43" y="2976"/>
                    <a:ext cx="253"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null</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19" name="Rectangle 91"/>
                  <p:cNvSpPr>
                    <a:spLocks noChangeArrowheads="1"/>
                  </p:cNvSpPr>
                  <p:nvPr/>
                </p:nvSpPr>
                <p:spPr bwMode="auto">
                  <a:xfrm>
                    <a:off x="0" y="2976"/>
                    <a:ext cx="339"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22" name="Group 94"/>
                <p:cNvGrpSpPr>
                  <a:grpSpLocks/>
                </p:cNvGrpSpPr>
                <p:nvPr/>
              </p:nvGrpSpPr>
              <p:grpSpPr bwMode="auto">
                <a:xfrm>
                  <a:off x="339" y="2976"/>
                  <a:ext cx="296" cy="480"/>
                  <a:chOff x="339" y="2976"/>
                  <a:chExt cx="296" cy="480"/>
                </a:xfrm>
              </p:grpSpPr>
              <p:sp>
                <p:nvSpPr>
                  <p:cNvPr id="611360" name="Rectangle 32"/>
                  <p:cNvSpPr>
                    <a:spLocks noChangeArrowheads="1"/>
                  </p:cNvSpPr>
                  <p:nvPr/>
                </p:nvSpPr>
                <p:spPr bwMode="auto">
                  <a:xfrm>
                    <a:off x="382" y="2976"/>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e</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21" name="Rectangle 93"/>
                  <p:cNvSpPr>
                    <a:spLocks noChangeArrowheads="1"/>
                  </p:cNvSpPr>
                  <p:nvPr/>
                </p:nvSpPr>
                <p:spPr bwMode="auto">
                  <a:xfrm>
                    <a:off x="339" y="2976"/>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24" name="Group 96"/>
                <p:cNvGrpSpPr>
                  <a:grpSpLocks/>
                </p:cNvGrpSpPr>
                <p:nvPr/>
              </p:nvGrpSpPr>
              <p:grpSpPr bwMode="auto">
                <a:xfrm>
                  <a:off x="635" y="2976"/>
                  <a:ext cx="296" cy="480"/>
                  <a:chOff x="635" y="2976"/>
                  <a:chExt cx="296" cy="480"/>
                </a:xfrm>
              </p:grpSpPr>
              <p:sp>
                <p:nvSpPr>
                  <p:cNvPr id="611361" name="Rectangle 33"/>
                  <p:cNvSpPr>
                    <a:spLocks noChangeArrowheads="1"/>
                  </p:cNvSpPr>
                  <p:nvPr/>
                </p:nvSpPr>
                <p:spPr bwMode="auto">
                  <a:xfrm>
                    <a:off x="678" y="2976"/>
                    <a:ext cx="210"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f</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23" name="Rectangle 95"/>
                  <p:cNvSpPr>
                    <a:spLocks noChangeArrowheads="1"/>
                  </p:cNvSpPr>
                  <p:nvPr/>
                </p:nvSpPr>
                <p:spPr bwMode="auto">
                  <a:xfrm>
                    <a:off x="635" y="2976"/>
                    <a:ext cx="296"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611426" name="Group 98"/>
                <p:cNvGrpSpPr>
                  <a:grpSpLocks/>
                </p:cNvGrpSpPr>
                <p:nvPr/>
              </p:nvGrpSpPr>
              <p:grpSpPr bwMode="auto">
                <a:xfrm>
                  <a:off x="931" y="2976"/>
                  <a:ext cx="380" cy="480"/>
                  <a:chOff x="931" y="2976"/>
                  <a:chExt cx="380" cy="480"/>
                </a:xfrm>
              </p:grpSpPr>
              <p:sp>
                <p:nvSpPr>
                  <p:cNvPr id="611362" name="Rectangle 34"/>
                  <p:cNvSpPr>
                    <a:spLocks noChangeArrowheads="1"/>
                  </p:cNvSpPr>
                  <p:nvPr/>
                </p:nvSpPr>
                <p:spPr bwMode="auto">
                  <a:xfrm>
                    <a:off x="974" y="2976"/>
                    <a:ext cx="294" cy="48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200" b="1">
                        <a:solidFill>
                          <a:schemeClr val="bg2"/>
                        </a:solidFill>
                      </a:rPr>
                      <a:t>g</a:t>
                    </a:r>
                  </a:p>
                  <a:p>
                    <a:pPr algn="ctr" eaLnBrk="0" hangingPunct="0">
                      <a:lnSpc>
                        <a:spcPct val="100000"/>
                      </a:lnSpc>
                      <a:spcBef>
                        <a:spcPct val="0"/>
                      </a:spcBef>
                    </a:pPr>
                    <a:endParaRPr lang="en-US" altLang="zh-CN" sz="3200" b="1">
                      <a:solidFill>
                        <a:schemeClr val="bg2"/>
                      </a:solidFill>
                      <a:latin typeface="Times New Roman" pitchFamily="18" charset="0"/>
                    </a:endParaRPr>
                  </a:p>
                </p:txBody>
              </p:sp>
              <p:sp>
                <p:nvSpPr>
                  <p:cNvPr id="611425" name="Rectangle 97"/>
                  <p:cNvSpPr>
                    <a:spLocks noChangeArrowheads="1"/>
                  </p:cNvSpPr>
                  <p:nvPr/>
                </p:nvSpPr>
                <p:spPr bwMode="auto">
                  <a:xfrm>
                    <a:off x="931" y="2976"/>
                    <a:ext cx="380" cy="480"/>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611428" name="Rectangle 100"/>
              <p:cNvSpPr>
                <a:spLocks noChangeArrowheads="1"/>
              </p:cNvSpPr>
              <p:nvPr/>
            </p:nvSpPr>
            <p:spPr bwMode="auto">
              <a:xfrm>
                <a:off x="-3" y="-3"/>
                <a:ext cx="1317" cy="3462"/>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611430" name="Rectangle 102"/>
            <p:cNvSpPr>
              <a:spLocks noChangeArrowheads="1"/>
            </p:cNvSpPr>
            <p:nvPr/>
          </p:nvSpPr>
          <p:spPr bwMode="auto">
            <a:xfrm>
              <a:off x="384" y="1968"/>
              <a:ext cx="2640" cy="816"/>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11432" name="Rectangle 104"/>
            <p:cNvSpPr>
              <a:spLocks noChangeArrowheads="1"/>
            </p:cNvSpPr>
            <p:nvPr/>
          </p:nvSpPr>
          <p:spPr bwMode="auto">
            <a:xfrm>
              <a:off x="1584" y="2832"/>
              <a:ext cx="2400" cy="1248"/>
            </a:xfrm>
            <a:prstGeom prst="rect">
              <a:avLst/>
            </a:prstGeom>
            <a:noFill/>
            <a:ln w="9525">
              <a:solidFill>
                <a:srgbClr val="660033"/>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2354" name="Rectangle 2"/>
          <p:cNvSpPr>
            <a:spLocks noChangeArrowheads="1"/>
          </p:cNvSpPr>
          <p:nvPr/>
        </p:nvSpPr>
        <p:spPr bwMode="auto">
          <a:xfrm>
            <a:off x="0" y="179388"/>
            <a:ext cx="9144000" cy="52133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200000"/>
              </a:lnSpc>
            </a:pPr>
            <a:r>
              <a:rPr lang="en-US" altLang="zh-CN" sz="2800" b="1" dirty="0">
                <a:solidFill>
                  <a:schemeClr val="bg1"/>
                </a:solidFill>
              </a:rPr>
              <a:t>   3. </a:t>
            </a:r>
            <a:r>
              <a:rPr lang="zh-CN" altLang="en-US" sz="2800" b="1" dirty="0">
                <a:solidFill>
                  <a:schemeClr val="bg1"/>
                </a:solidFill>
              </a:rPr>
              <a:t>半联接（</a:t>
            </a:r>
            <a:r>
              <a:rPr lang="en-US" altLang="zh-CN" sz="2800" b="1" dirty="0" err="1">
                <a:solidFill>
                  <a:schemeClr val="bg1"/>
                </a:solidFill>
              </a:rPr>
              <a:t>semijoin</a:t>
            </a:r>
            <a:r>
              <a:rPr lang="zh-CN" altLang="en-US" sz="2800" b="1" dirty="0">
                <a:solidFill>
                  <a:schemeClr val="bg1"/>
                </a:solidFill>
              </a:rPr>
              <a:t>）</a:t>
            </a:r>
          </a:p>
          <a:p>
            <a:pPr eaLnBrk="0" hangingPunct="0">
              <a:lnSpc>
                <a:spcPct val="200000"/>
              </a:lnSpc>
            </a:pPr>
            <a:r>
              <a:rPr lang="zh-CN" altLang="en-US" sz="2800" b="1" dirty="0">
                <a:solidFill>
                  <a:schemeClr val="bg2"/>
                </a:solidFill>
                <a:latin typeface="Times New Roman" pitchFamily="18" charset="0"/>
              </a:rPr>
              <a:t>        关系</a:t>
            </a:r>
            <a:r>
              <a:rPr lang="en-US" altLang="zh-CN" sz="2800" b="1" dirty="0">
                <a:solidFill>
                  <a:schemeClr val="bg2"/>
                </a:solidFill>
              </a:rPr>
              <a:t>R</a:t>
            </a:r>
            <a:r>
              <a:rPr lang="zh-CN" altLang="en-US" sz="2800" b="1" dirty="0">
                <a:solidFill>
                  <a:schemeClr val="bg2"/>
                </a:solidFill>
                <a:latin typeface="Times New Roman" pitchFamily="18" charset="0"/>
              </a:rPr>
              <a:t>和</a:t>
            </a:r>
            <a:r>
              <a:rPr lang="en-US" altLang="zh-CN" sz="2800" b="1" dirty="0">
                <a:solidFill>
                  <a:schemeClr val="bg2"/>
                </a:solidFill>
              </a:rPr>
              <a:t>S</a:t>
            </a:r>
            <a:r>
              <a:rPr lang="zh-CN" altLang="en-US" sz="2800" b="1" dirty="0">
                <a:solidFill>
                  <a:schemeClr val="bg2"/>
                </a:solidFill>
                <a:latin typeface="Times New Roman" pitchFamily="18" charset="0"/>
              </a:rPr>
              <a:t>的半联接操作记为</a:t>
            </a:r>
            <a:r>
              <a:rPr lang="en-US" altLang="zh-CN" sz="2800" b="1" dirty="0">
                <a:solidFill>
                  <a:schemeClr val="bg2"/>
                </a:solidFill>
              </a:rPr>
              <a:t>R </a:t>
            </a:r>
            <a:r>
              <a:rPr lang="en-US" altLang="zh-CN" sz="3600" b="1" dirty="0">
                <a:solidFill>
                  <a:schemeClr val="bg2"/>
                </a:solidFill>
                <a:latin typeface="Times New Roman" pitchFamily="18" charset="0"/>
              </a:rPr>
              <a:t>⋉</a:t>
            </a:r>
            <a:r>
              <a:rPr lang="en-US" altLang="zh-CN" sz="2800" b="1" dirty="0">
                <a:solidFill>
                  <a:schemeClr val="bg2"/>
                </a:solidFill>
              </a:rPr>
              <a:t> S</a:t>
            </a:r>
            <a:r>
              <a:rPr lang="en-US" altLang="zh-CN" sz="2800" b="1" dirty="0">
                <a:solidFill>
                  <a:schemeClr val="bg2"/>
                </a:solidFill>
                <a:latin typeface="Times New Roman" pitchFamily="18" charset="0"/>
              </a:rPr>
              <a:t>:</a:t>
            </a:r>
          </a:p>
          <a:p>
            <a:pPr eaLnBrk="0" hangingPunct="0">
              <a:lnSpc>
                <a:spcPct val="200000"/>
              </a:lnSpc>
            </a:pPr>
            <a:r>
              <a:rPr lang="en-US" altLang="zh-CN" sz="2800" b="1" dirty="0">
                <a:solidFill>
                  <a:schemeClr val="bg2"/>
                </a:solidFill>
                <a:latin typeface="Times New Roman" pitchFamily="18" charset="0"/>
              </a:rPr>
              <a:t>         </a:t>
            </a:r>
            <a:r>
              <a:rPr lang="en-US" altLang="zh-CN" sz="3200" b="1" dirty="0">
                <a:solidFill>
                  <a:srgbClr val="660033"/>
                </a:solidFill>
              </a:rPr>
              <a:t>R</a:t>
            </a:r>
            <a:r>
              <a:rPr lang="zh-CN" altLang="en-US" sz="3200" b="1" dirty="0">
                <a:solidFill>
                  <a:srgbClr val="660033"/>
                </a:solidFill>
                <a:latin typeface="Times New Roman" pitchFamily="18" charset="0"/>
              </a:rPr>
              <a:t>和</a:t>
            </a:r>
            <a:r>
              <a:rPr lang="en-US" altLang="zh-CN" sz="3200" b="1" dirty="0">
                <a:solidFill>
                  <a:srgbClr val="660033"/>
                </a:solidFill>
              </a:rPr>
              <a:t>S</a:t>
            </a:r>
            <a:r>
              <a:rPr lang="zh-CN" altLang="en-US" sz="3200" b="1" dirty="0">
                <a:solidFill>
                  <a:srgbClr val="660033"/>
                </a:solidFill>
                <a:latin typeface="Times New Roman" pitchFamily="18" charset="0"/>
              </a:rPr>
              <a:t>的自然联接在关系</a:t>
            </a:r>
            <a:r>
              <a:rPr lang="en-US" altLang="zh-CN" sz="3200" b="1" dirty="0">
                <a:solidFill>
                  <a:srgbClr val="660033"/>
                </a:solidFill>
              </a:rPr>
              <a:t>R</a:t>
            </a:r>
            <a:r>
              <a:rPr lang="zh-CN" altLang="en-US" sz="3200" b="1" dirty="0">
                <a:solidFill>
                  <a:srgbClr val="660033"/>
                </a:solidFill>
                <a:latin typeface="Times New Roman" pitchFamily="18" charset="0"/>
              </a:rPr>
              <a:t>的属性集上的投影</a:t>
            </a:r>
          </a:p>
          <a:p>
            <a:pPr eaLnBrk="0" hangingPunct="0">
              <a:lnSpc>
                <a:spcPct val="200000"/>
              </a:lnSpc>
            </a:pPr>
            <a:r>
              <a:rPr lang="zh-CN" altLang="en-US" sz="2800" b="1" dirty="0">
                <a:solidFill>
                  <a:schemeClr val="bg2"/>
                </a:solidFill>
                <a:latin typeface="Times New Roman" pitchFamily="18" charset="0"/>
              </a:rPr>
              <a:t>       即：     </a:t>
            </a:r>
            <a:r>
              <a:rPr lang="en-US" altLang="zh-CN" sz="4000" b="1" dirty="0">
                <a:solidFill>
                  <a:schemeClr val="bg2"/>
                </a:solidFill>
              </a:rPr>
              <a:t>R </a:t>
            </a:r>
            <a:r>
              <a:rPr lang="en-US" altLang="zh-CN" sz="4400" b="1" dirty="0">
                <a:solidFill>
                  <a:schemeClr val="bg2"/>
                </a:solidFill>
                <a:latin typeface="Times New Roman" pitchFamily="18" charset="0"/>
              </a:rPr>
              <a:t>⋉</a:t>
            </a:r>
            <a:r>
              <a:rPr lang="en-US" altLang="zh-CN" sz="4000" b="1" dirty="0">
                <a:solidFill>
                  <a:schemeClr val="bg2"/>
                </a:solidFill>
              </a:rPr>
              <a:t> S </a:t>
            </a:r>
            <a:r>
              <a:rPr lang="en-US" altLang="zh-CN" sz="4000" b="1" dirty="0">
                <a:solidFill>
                  <a:schemeClr val="bg2"/>
                </a:solidFill>
                <a:latin typeface="Times New Roman" pitchFamily="18" charset="0"/>
              </a:rPr>
              <a:t>≡</a:t>
            </a:r>
            <a:r>
              <a:rPr lang="en-US" altLang="zh-CN" sz="4000" b="1" dirty="0">
                <a:solidFill>
                  <a:schemeClr val="bg2"/>
                </a:solidFill>
              </a:rPr>
              <a:t> π</a:t>
            </a:r>
            <a:r>
              <a:rPr lang="en-US" altLang="zh-CN" sz="4000" b="1" baseline="-25000" dirty="0">
                <a:solidFill>
                  <a:schemeClr val="bg2"/>
                </a:solidFill>
              </a:rPr>
              <a:t>R</a:t>
            </a:r>
            <a:r>
              <a:rPr lang="zh-CN" altLang="en-US" sz="4000" b="1" dirty="0">
                <a:solidFill>
                  <a:schemeClr val="bg2"/>
                </a:solidFill>
              </a:rPr>
              <a:t>（</a:t>
            </a:r>
            <a:r>
              <a:rPr lang="en-US" altLang="zh-CN" sz="4000" b="1" dirty="0">
                <a:solidFill>
                  <a:schemeClr val="bg2"/>
                </a:solidFill>
              </a:rPr>
              <a:t>R </a:t>
            </a:r>
            <a:r>
              <a:rPr lang="en-US" altLang="zh-CN" sz="4400" b="1" dirty="0">
                <a:solidFill>
                  <a:schemeClr val="bg2"/>
                </a:solidFill>
                <a:latin typeface="Times New Roman" pitchFamily="18" charset="0"/>
              </a:rPr>
              <a:t>⋈</a:t>
            </a:r>
            <a:r>
              <a:rPr lang="en-US" altLang="zh-CN" sz="4000" b="1" dirty="0">
                <a:solidFill>
                  <a:schemeClr val="bg2"/>
                </a:solidFill>
              </a:rPr>
              <a:t> S</a:t>
            </a:r>
            <a:r>
              <a:rPr lang="zh-CN" altLang="en-US" sz="4000" b="1" dirty="0">
                <a:solidFill>
                  <a:schemeClr val="bg2"/>
                </a:solidFill>
              </a:rPr>
              <a:t>）</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8850" name="Rectangle 2"/>
          <p:cNvSpPr>
            <a:spLocks noChangeArrowheads="1"/>
          </p:cNvSpPr>
          <p:nvPr/>
        </p:nvSpPr>
        <p:spPr bwMode="auto">
          <a:xfrm>
            <a:off x="0" y="3124200"/>
            <a:ext cx="9144000" cy="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718851" name="Rectangle 3"/>
          <p:cNvSpPr>
            <a:spLocks noChangeArrowheads="1"/>
          </p:cNvSpPr>
          <p:nvPr/>
        </p:nvSpPr>
        <p:spPr bwMode="auto">
          <a:xfrm>
            <a:off x="250825" y="4716463"/>
            <a:ext cx="1201738"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3200" b="1">
                <a:solidFill>
                  <a:srgbClr val="660033"/>
                </a:solidFill>
              </a:rPr>
              <a:t>关系</a:t>
            </a:r>
            <a:r>
              <a:rPr lang="en-US" altLang="zh-CN" sz="3200" b="1">
                <a:solidFill>
                  <a:srgbClr val="660033"/>
                </a:solidFill>
              </a:rPr>
              <a:t>R</a:t>
            </a:r>
          </a:p>
        </p:txBody>
      </p:sp>
      <p:sp>
        <p:nvSpPr>
          <p:cNvPr id="718852" name="Rectangle 4"/>
          <p:cNvSpPr>
            <a:spLocks noChangeArrowheads="1"/>
          </p:cNvSpPr>
          <p:nvPr/>
        </p:nvSpPr>
        <p:spPr bwMode="auto">
          <a:xfrm>
            <a:off x="1979613" y="4076700"/>
            <a:ext cx="1201737" cy="482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3200" b="1">
                <a:solidFill>
                  <a:srgbClr val="660033"/>
                </a:solidFill>
              </a:rPr>
              <a:t>关系</a:t>
            </a:r>
            <a:r>
              <a:rPr lang="en-US" altLang="zh-CN" sz="3200" b="1">
                <a:solidFill>
                  <a:srgbClr val="660033"/>
                </a:solidFill>
              </a:rPr>
              <a:t>S</a:t>
            </a:r>
          </a:p>
        </p:txBody>
      </p:sp>
      <p:sp>
        <p:nvSpPr>
          <p:cNvPr id="718853" name="Rectangle 5"/>
          <p:cNvSpPr>
            <a:spLocks noChangeArrowheads="1"/>
          </p:cNvSpPr>
          <p:nvPr/>
        </p:nvSpPr>
        <p:spPr bwMode="auto">
          <a:xfrm>
            <a:off x="3886200" y="5519738"/>
            <a:ext cx="12509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3200" b="1">
                <a:solidFill>
                  <a:schemeClr val="bg2"/>
                </a:solidFill>
              </a:rPr>
              <a:t>R </a:t>
            </a:r>
            <a:r>
              <a:rPr lang="en-US" altLang="zh-CN" sz="4000" b="1">
                <a:solidFill>
                  <a:schemeClr val="bg2"/>
                </a:solidFill>
                <a:latin typeface="Times New Roman" pitchFamily="18" charset="0"/>
              </a:rPr>
              <a:t>⋈</a:t>
            </a:r>
            <a:r>
              <a:rPr lang="en-US" altLang="zh-CN" sz="3200" b="1">
                <a:solidFill>
                  <a:schemeClr val="bg2"/>
                </a:solidFill>
              </a:rPr>
              <a:t> S</a:t>
            </a:r>
          </a:p>
        </p:txBody>
      </p:sp>
      <p:sp>
        <p:nvSpPr>
          <p:cNvPr id="718854" name="Rectangle 6"/>
          <p:cNvSpPr>
            <a:spLocks noChangeArrowheads="1"/>
          </p:cNvSpPr>
          <p:nvPr/>
        </p:nvSpPr>
        <p:spPr bwMode="auto">
          <a:xfrm>
            <a:off x="5867400" y="4151313"/>
            <a:ext cx="12509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3200" b="1">
                <a:solidFill>
                  <a:schemeClr val="bg1"/>
                </a:solidFill>
              </a:rPr>
              <a:t>R</a:t>
            </a:r>
            <a:r>
              <a:rPr lang="en-US" altLang="zh-CN" sz="3200" b="1">
                <a:solidFill>
                  <a:schemeClr val="bg2"/>
                </a:solidFill>
              </a:rPr>
              <a:t> </a:t>
            </a:r>
            <a:r>
              <a:rPr lang="en-US" altLang="zh-CN" sz="4000" b="1">
                <a:solidFill>
                  <a:schemeClr val="bg2"/>
                </a:solidFill>
                <a:latin typeface="Times New Roman" pitchFamily="18" charset="0"/>
              </a:rPr>
              <a:t>⋉</a:t>
            </a:r>
            <a:r>
              <a:rPr lang="en-US" altLang="zh-CN" sz="3200" b="1">
                <a:solidFill>
                  <a:schemeClr val="bg2"/>
                </a:solidFill>
              </a:rPr>
              <a:t> S</a:t>
            </a:r>
          </a:p>
        </p:txBody>
      </p:sp>
      <p:sp>
        <p:nvSpPr>
          <p:cNvPr id="718855" name="Rectangle 7"/>
          <p:cNvSpPr>
            <a:spLocks noChangeArrowheads="1"/>
          </p:cNvSpPr>
          <p:nvPr/>
        </p:nvSpPr>
        <p:spPr bwMode="auto">
          <a:xfrm>
            <a:off x="7620000" y="4151313"/>
            <a:ext cx="1250950" cy="5794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3200" b="1">
                <a:solidFill>
                  <a:schemeClr val="bg1"/>
                </a:solidFill>
              </a:rPr>
              <a:t>S</a:t>
            </a:r>
            <a:r>
              <a:rPr lang="en-US" altLang="zh-CN" sz="3200" b="1">
                <a:solidFill>
                  <a:schemeClr val="bg2"/>
                </a:solidFill>
              </a:rPr>
              <a:t> </a:t>
            </a:r>
            <a:r>
              <a:rPr lang="en-US" altLang="zh-CN" sz="4000" b="1">
                <a:solidFill>
                  <a:schemeClr val="bg2"/>
                </a:solidFill>
                <a:latin typeface="Times New Roman" pitchFamily="18" charset="0"/>
              </a:rPr>
              <a:t>⋉</a:t>
            </a:r>
            <a:r>
              <a:rPr lang="en-US" altLang="zh-CN" sz="3200" b="1">
                <a:solidFill>
                  <a:schemeClr val="bg2"/>
                </a:solidFill>
              </a:rPr>
              <a:t> R</a:t>
            </a:r>
          </a:p>
        </p:txBody>
      </p:sp>
      <p:grpSp>
        <p:nvGrpSpPr>
          <p:cNvPr id="718856" name="Group 8"/>
          <p:cNvGrpSpPr>
            <a:grpSpLocks/>
          </p:cNvGrpSpPr>
          <p:nvPr/>
        </p:nvGrpSpPr>
        <p:grpSpPr bwMode="auto">
          <a:xfrm>
            <a:off x="117475" y="404813"/>
            <a:ext cx="8991600" cy="4924425"/>
            <a:chOff x="96" y="384"/>
            <a:chExt cx="5664" cy="2928"/>
          </a:xfrm>
        </p:grpSpPr>
        <p:grpSp>
          <p:nvGrpSpPr>
            <p:cNvPr id="718857" name="Group 9"/>
            <p:cNvGrpSpPr>
              <a:grpSpLocks/>
            </p:cNvGrpSpPr>
            <p:nvPr/>
          </p:nvGrpSpPr>
          <p:grpSpPr bwMode="auto">
            <a:xfrm>
              <a:off x="2173" y="384"/>
              <a:ext cx="1260" cy="2928"/>
              <a:chOff x="-3" y="3459"/>
              <a:chExt cx="1107" cy="2310"/>
            </a:xfrm>
          </p:grpSpPr>
          <p:grpSp>
            <p:nvGrpSpPr>
              <p:cNvPr id="718858" name="Group 10"/>
              <p:cNvGrpSpPr>
                <a:grpSpLocks/>
              </p:cNvGrpSpPr>
              <p:nvPr/>
            </p:nvGrpSpPr>
            <p:grpSpPr bwMode="auto">
              <a:xfrm>
                <a:off x="0" y="3462"/>
                <a:ext cx="1101" cy="2304"/>
                <a:chOff x="0" y="3462"/>
                <a:chExt cx="1101" cy="2304"/>
              </a:xfrm>
            </p:grpSpPr>
            <p:grpSp>
              <p:nvGrpSpPr>
                <p:cNvPr id="718859" name="Group 11"/>
                <p:cNvGrpSpPr>
                  <a:grpSpLocks/>
                </p:cNvGrpSpPr>
                <p:nvPr/>
              </p:nvGrpSpPr>
              <p:grpSpPr bwMode="auto">
                <a:xfrm>
                  <a:off x="0" y="3462"/>
                  <a:ext cx="254" cy="384"/>
                  <a:chOff x="0" y="3462"/>
                  <a:chExt cx="254" cy="384"/>
                </a:xfrm>
              </p:grpSpPr>
              <p:sp>
                <p:nvSpPr>
                  <p:cNvPr id="718860" name="Rectangle 12"/>
                  <p:cNvSpPr>
                    <a:spLocks noChangeArrowheads="1"/>
                  </p:cNvSpPr>
                  <p:nvPr/>
                </p:nvSpPr>
                <p:spPr bwMode="auto">
                  <a:xfrm>
                    <a:off x="43" y="3462"/>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A</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861" name="Rectangle 13"/>
                  <p:cNvSpPr>
                    <a:spLocks noChangeArrowheads="1"/>
                  </p:cNvSpPr>
                  <p:nvPr/>
                </p:nvSpPr>
                <p:spPr bwMode="auto">
                  <a:xfrm>
                    <a:off x="0" y="3462"/>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62" name="Group 14"/>
                <p:cNvGrpSpPr>
                  <a:grpSpLocks/>
                </p:cNvGrpSpPr>
                <p:nvPr/>
              </p:nvGrpSpPr>
              <p:grpSpPr bwMode="auto">
                <a:xfrm>
                  <a:off x="254" y="3462"/>
                  <a:ext cx="296" cy="384"/>
                  <a:chOff x="254" y="3462"/>
                  <a:chExt cx="296" cy="384"/>
                </a:xfrm>
              </p:grpSpPr>
              <p:sp>
                <p:nvSpPr>
                  <p:cNvPr id="718863" name="Rectangle 15"/>
                  <p:cNvSpPr>
                    <a:spLocks noChangeArrowheads="1"/>
                  </p:cNvSpPr>
                  <p:nvPr/>
                </p:nvSpPr>
                <p:spPr bwMode="auto">
                  <a:xfrm>
                    <a:off x="297" y="346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1"/>
                        </a:solidFill>
                      </a:rPr>
                      <a:t>B</a:t>
                    </a:r>
                  </a:p>
                  <a:p>
                    <a:pPr algn="ctr" eaLnBrk="0" hangingPunct="0">
                      <a:lnSpc>
                        <a:spcPct val="100000"/>
                      </a:lnSpc>
                      <a:spcBef>
                        <a:spcPct val="0"/>
                      </a:spcBef>
                    </a:pPr>
                    <a:endParaRPr lang="en-US" altLang="zh-CN" sz="3600" b="1">
                      <a:solidFill>
                        <a:schemeClr val="bg1"/>
                      </a:solidFill>
                      <a:latin typeface="Times New Roman" pitchFamily="18" charset="0"/>
                    </a:endParaRPr>
                  </a:p>
                </p:txBody>
              </p:sp>
              <p:sp>
                <p:nvSpPr>
                  <p:cNvPr id="718864" name="Rectangle 16"/>
                  <p:cNvSpPr>
                    <a:spLocks noChangeArrowheads="1"/>
                  </p:cNvSpPr>
                  <p:nvPr/>
                </p:nvSpPr>
                <p:spPr bwMode="auto">
                  <a:xfrm>
                    <a:off x="254" y="346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65" name="Group 17"/>
                <p:cNvGrpSpPr>
                  <a:grpSpLocks/>
                </p:cNvGrpSpPr>
                <p:nvPr/>
              </p:nvGrpSpPr>
              <p:grpSpPr bwMode="auto">
                <a:xfrm>
                  <a:off x="550" y="3462"/>
                  <a:ext cx="296" cy="384"/>
                  <a:chOff x="550" y="3462"/>
                  <a:chExt cx="296" cy="384"/>
                </a:xfrm>
              </p:grpSpPr>
              <p:sp>
                <p:nvSpPr>
                  <p:cNvPr id="718866" name="Rectangle 18"/>
                  <p:cNvSpPr>
                    <a:spLocks noChangeArrowheads="1"/>
                  </p:cNvSpPr>
                  <p:nvPr/>
                </p:nvSpPr>
                <p:spPr bwMode="auto">
                  <a:xfrm>
                    <a:off x="593" y="346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1"/>
                        </a:solidFill>
                      </a:rPr>
                      <a:t>C</a:t>
                    </a:r>
                  </a:p>
                  <a:p>
                    <a:pPr algn="ctr" eaLnBrk="0" hangingPunct="0">
                      <a:lnSpc>
                        <a:spcPct val="100000"/>
                      </a:lnSpc>
                      <a:spcBef>
                        <a:spcPct val="0"/>
                      </a:spcBef>
                    </a:pPr>
                    <a:endParaRPr lang="en-US" altLang="zh-CN" sz="3600" b="1">
                      <a:solidFill>
                        <a:schemeClr val="bg1"/>
                      </a:solidFill>
                      <a:latin typeface="Times New Roman" pitchFamily="18" charset="0"/>
                    </a:endParaRPr>
                  </a:p>
                </p:txBody>
              </p:sp>
              <p:sp>
                <p:nvSpPr>
                  <p:cNvPr id="718867" name="Rectangle 19"/>
                  <p:cNvSpPr>
                    <a:spLocks noChangeArrowheads="1"/>
                  </p:cNvSpPr>
                  <p:nvPr/>
                </p:nvSpPr>
                <p:spPr bwMode="auto">
                  <a:xfrm>
                    <a:off x="550" y="346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68" name="Group 20"/>
                <p:cNvGrpSpPr>
                  <a:grpSpLocks/>
                </p:cNvGrpSpPr>
                <p:nvPr/>
              </p:nvGrpSpPr>
              <p:grpSpPr bwMode="auto">
                <a:xfrm>
                  <a:off x="846" y="3462"/>
                  <a:ext cx="255" cy="384"/>
                  <a:chOff x="846" y="3462"/>
                  <a:chExt cx="255" cy="384"/>
                </a:xfrm>
              </p:grpSpPr>
              <p:sp>
                <p:nvSpPr>
                  <p:cNvPr id="718869" name="Rectangle 21"/>
                  <p:cNvSpPr>
                    <a:spLocks noChangeArrowheads="1"/>
                  </p:cNvSpPr>
                  <p:nvPr/>
                </p:nvSpPr>
                <p:spPr bwMode="auto">
                  <a:xfrm>
                    <a:off x="889" y="3462"/>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870" name="Rectangle 22"/>
                  <p:cNvSpPr>
                    <a:spLocks noChangeArrowheads="1"/>
                  </p:cNvSpPr>
                  <p:nvPr/>
                </p:nvSpPr>
                <p:spPr bwMode="auto">
                  <a:xfrm>
                    <a:off x="846" y="3462"/>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71" name="Group 23"/>
                <p:cNvGrpSpPr>
                  <a:grpSpLocks/>
                </p:cNvGrpSpPr>
                <p:nvPr/>
              </p:nvGrpSpPr>
              <p:grpSpPr bwMode="auto">
                <a:xfrm>
                  <a:off x="0" y="3846"/>
                  <a:ext cx="254" cy="384"/>
                  <a:chOff x="0" y="3846"/>
                  <a:chExt cx="254" cy="384"/>
                </a:xfrm>
              </p:grpSpPr>
              <p:sp>
                <p:nvSpPr>
                  <p:cNvPr id="718872" name="Rectangle 24"/>
                  <p:cNvSpPr>
                    <a:spLocks noChangeArrowheads="1"/>
                  </p:cNvSpPr>
                  <p:nvPr/>
                </p:nvSpPr>
                <p:spPr bwMode="auto">
                  <a:xfrm>
                    <a:off x="43" y="3846"/>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a</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873" name="Rectangle 25"/>
                  <p:cNvSpPr>
                    <a:spLocks noChangeArrowheads="1"/>
                  </p:cNvSpPr>
                  <p:nvPr/>
                </p:nvSpPr>
                <p:spPr bwMode="auto">
                  <a:xfrm>
                    <a:off x="0" y="3846"/>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74" name="Group 26"/>
                <p:cNvGrpSpPr>
                  <a:grpSpLocks/>
                </p:cNvGrpSpPr>
                <p:nvPr/>
              </p:nvGrpSpPr>
              <p:grpSpPr bwMode="auto">
                <a:xfrm>
                  <a:off x="254" y="3846"/>
                  <a:ext cx="296" cy="384"/>
                  <a:chOff x="254" y="3846"/>
                  <a:chExt cx="296" cy="384"/>
                </a:xfrm>
              </p:grpSpPr>
              <p:sp>
                <p:nvSpPr>
                  <p:cNvPr id="718875" name="Rectangle 27"/>
                  <p:cNvSpPr>
                    <a:spLocks noChangeArrowheads="1"/>
                  </p:cNvSpPr>
                  <p:nvPr/>
                </p:nvSpPr>
                <p:spPr bwMode="auto">
                  <a:xfrm>
                    <a:off x="297" y="3846"/>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876" name="Rectangle 28"/>
                  <p:cNvSpPr>
                    <a:spLocks noChangeArrowheads="1"/>
                  </p:cNvSpPr>
                  <p:nvPr/>
                </p:nvSpPr>
                <p:spPr bwMode="auto">
                  <a:xfrm>
                    <a:off x="254" y="3846"/>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77" name="Group 29"/>
                <p:cNvGrpSpPr>
                  <a:grpSpLocks/>
                </p:cNvGrpSpPr>
                <p:nvPr/>
              </p:nvGrpSpPr>
              <p:grpSpPr bwMode="auto">
                <a:xfrm>
                  <a:off x="550" y="3846"/>
                  <a:ext cx="296" cy="384"/>
                  <a:chOff x="550" y="3846"/>
                  <a:chExt cx="296" cy="384"/>
                </a:xfrm>
              </p:grpSpPr>
              <p:sp>
                <p:nvSpPr>
                  <p:cNvPr id="718878" name="Rectangle 30"/>
                  <p:cNvSpPr>
                    <a:spLocks noChangeArrowheads="1"/>
                  </p:cNvSpPr>
                  <p:nvPr/>
                </p:nvSpPr>
                <p:spPr bwMode="auto">
                  <a:xfrm>
                    <a:off x="593" y="3846"/>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879" name="Rectangle 31"/>
                  <p:cNvSpPr>
                    <a:spLocks noChangeArrowheads="1"/>
                  </p:cNvSpPr>
                  <p:nvPr/>
                </p:nvSpPr>
                <p:spPr bwMode="auto">
                  <a:xfrm>
                    <a:off x="550" y="3846"/>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80" name="Group 32"/>
                <p:cNvGrpSpPr>
                  <a:grpSpLocks/>
                </p:cNvGrpSpPr>
                <p:nvPr/>
              </p:nvGrpSpPr>
              <p:grpSpPr bwMode="auto">
                <a:xfrm>
                  <a:off x="846" y="3846"/>
                  <a:ext cx="255" cy="384"/>
                  <a:chOff x="846" y="3846"/>
                  <a:chExt cx="255" cy="384"/>
                </a:xfrm>
              </p:grpSpPr>
              <p:sp>
                <p:nvSpPr>
                  <p:cNvPr id="718881" name="Rectangle 33"/>
                  <p:cNvSpPr>
                    <a:spLocks noChangeArrowheads="1"/>
                  </p:cNvSpPr>
                  <p:nvPr/>
                </p:nvSpPr>
                <p:spPr bwMode="auto">
                  <a:xfrm>
                    <a:off x="889" y="3846"/>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882" name="Rectangle 34"/>
                  <p:cNvSpPr>
                    <a:spLocks noChangeArrowheads="1"/>
                  </p:cNvSpPr>
                  <p:nvPr/>
                </p:nvSpPr>
                <p:spPr bwMode="auto">
                  <a:xfrm>
                    <a:off x="846" y="3846"/>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83" name="Group 35"/>
                <p:cNvGrpSpPr>
                  <a:grpSpLocks/>
                </p:cNvGrpSpPr>
                <p:nvPr/>
              </p:nvGrpSpPr>
              <p:grpSpPr bwMode="auto">
                <a:xfrm>
                  <a:off x="0" y="4230"/>
                  <a:ext cx="254" cy="384"/>
                  <a:chOff x="0" y="4230"/>
                  <a:chExt cx="254" cy="384"/>
                </a:xfrm>
              </p:grpSpPr>
              <p:sp>
                <p:nvSpPr>
                  <p:cNvPr id="718884" name="Rectangle 36"/>
                  <p:cNvSpPr>
                    <a:spLocks noChangeArrowheads="1"/>
                  </p:cNvSpPr>
                  <p:nvPr/>
                </p:nvSpPr>
                <p:spPr bwMode="auto">
                  <a:xfrm>
                    <a:off x="43" y="4230"/>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a</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885" name="Rectangle 37"/>
                  <p:cNvSpPr>
                    <a:spLocks noChangeArrowheads="1"/>
                  </p:cNvSpPr>
                  <p:nvPr/>
                </p:nvSpPr>
                <p:spPr bwMode="auto">
                  <a:xfrm>
                    <a:off x="0" y="4230"/>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86" name="Group 38"/>
                <p:cNvGrpSpPr>
                  <a:grpSpLocks/>
                </p:cNvGrpSpPr>
                <p:nvPr/>
              </p:nvGrpSpPr>
              <p:grpSpPr bwMode="auto">
                <a:xfrm>
                  <a:off x="254" y="4230"/>
                  <a:ext cx="296" cy="384"/>
                  <a:chOff x="254" y="4230"/>
                  <a:chExt cx="296" cy="384"/>
                </a:xfrm>
              </p:grpSpPr>
              <p:sp>
                <p:nvSpPr>
                  <p:cNvPr id="718887" name="Rectangle 39"/>
                  <p:cNvSpPr>
                    <a:spLocks noChangeArrowheads="1"/>
                  </p:cNvSpPr>
                  <p:nvPr/>
                </p:nvSpPr>
                <p:spPr bwMode="auto">
                  <a:xfrm>
                    <a:off x="297" y="4230"/>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888" name="Rectangle 40"/>
                  <p:cNvSpPr>
                    <a:spLocks noChangeArrowheads="1"/>
                  </p:cNvSpPr>
                  <p:nvPr/>
                </p:nvSpPr>
                <p:spPr bwMode="auto">
                  <a:xfrm>
                    <a:off x="254" y="4230"/>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89" name="Group 41"/>
                <p:cNvGrpSpPr>
                  <a:grpSpLocks/>
                </p:cNvGrpSpPr>
                <p:nvPr/>
              </p:nvGrpSpPr>
              <p:grpSpPr bwMode="auto">
                <a:xfrm>
                  <a:off x="550" y="4230"/>
                  <a:ext cx="296" cy="384"/>
                  <a:chOff x="550" y="4230"/>
                  <a:chExt cx="296" cy="384"/>
                </a:xfrm>
              </p:grpSpPr>
              <p:sp>
                <p:nvSpPr>
                  <p:cNvPr id="718890" name="Rectangle 42"/>
                  <p:cNvSpPr>
                    <a:spLocks noChangeArrowheads="1"/>
                  </p:cNvSpPr>
                  <p:nvPr/>
                </p:nvSpPr>
                <p:spPr bwMode="auto">
                  <a:xfrm>
                    <a:off x="593" y="4230"/>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891" name="Rectangle 43"/>
                  <p:cNvSpPr>
                    <a:spLocks noChangeArrowheads="1"/>
                  </p:cNvSpPr>
                  <p:nvPr/>
                </p:nvSpPr>
                <p:spPr bwMode="auto">
                  <a:xfrm>
                    <a:off x="550" y="4230"/>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92" name="Group 44"/>
                <p:cNvGrpSpPr>
                  <a:grpSpLocks/>
                </p:cNvGrpSpPr>
                <p:nvPr/>
              </p:nvGrpSpPr>
              <p:grpSpPr bwMode="auto">
                <a:xfrm>
                  <a:off x="846" y="4230"/>
                  <a:ext cx="255" cy="384"/>
                  <a:chOff x="846" y="4230"/>
                  <a:chExt cx="255" cy="384"/>
                </a:xfrm>
              </p:grpSpPr>
              <p:sp>
                <p:nvSpPr>
                  <p:cNvPr id="718893" name="Rectangle 45"/>
                  <p:cNvSpPr>
                    <a:spLocks noChangeArrowheads="1"/>
                  </p:cNvSpPr>
                  <p:nvPr/>
                </p:nvSpPr>
                <p:spPr bwMode="auto">
                  <a:xfrm>
                    <a:off x="889" y="4230"/>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e</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894" name="Rectangle 46"/>
                  <p:cNvSpPr>
                    <a:spLocks noChangeArrowheads="1"/>
                  </p:cNvSpPr>
                  <p:nvPr/>
                </p:nvSpPr>
                <p:spPr bwMode="auto">
                  <a:xfrm>
                    <a:off x="846" y="4230"/>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95" name="Group 47"/>
                <p:cNvGrpSpPr>
                  <a:grpSpLocks/>
                </p:cNvGrpSpPr>
                <p:nvPr/>
              </p:nvGrpSpPr>
              <p:grpSpPr bwMode="auto">
                <a:xfrm>
                  <a:off x="0" y="4614"/>
                  <a:ext cx="254" cy="384"/>
                  <a:chOff x="0" y="4614"/>
                  <a:chExt cx="254" cy="384"/>
                </a:xfrm>
              </p:grpSpPr>
              <p:sp>
                <p:nvSpPr>
                  <p:cNvPr id="718896" name="Rectangle 48"/>
                  <p:cNvSpPr>
                    <a:spLocks noChangeArrowheads="1"/>
                  </p:cNvSpPr>
                  <p:nvPr/>
                </p:nvSpPr>
                <p:spPr bwMode="auto">
                  <a:xfrm>
                    <a:off x="43" y="4614"/>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897" name="Rectangle 49"/>
                  <p:cNvSpPr>
                    <a:spLocks noChangeArrowheads="1"/>
                  </p:cNvSpPr>
                  <p:nvPr/>
                </p:nvSpPr>
                <p:spPr bwMode="auto">
                  <a:xfrm>
                    <a:off x="0" y="4614"/>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898" name="Group 50"/>
                <p:cNvGrpSpPr>
                  <a:grpSpLocks/>
                </p:cNvGrpSpPr>
                <p:nvPr/>
              </p:nvGrpSpPr>
              <p:grpSpPr bwMode="auto">
                <a:xfrm>
                  <a:off x="254" y="4614"/>
                  <a:ext cx="296" cy="384"/>
                  <a:chOff x="254" y="4614"/>
                  <a:chExt cx="296" cy="384"/>
                </a:xfrm>
              </p:grpSpPr>
              <p:sp>
                <p:nvSpPr>
                  <p:cNvPr id="718899" name="Rectangle 51"/>
                  <p:cNvSpPr>
                    <a:spLocks noChangeArrowheads="1"/>
                  </p:cNvSpPr>
                  <p:nvPr/>
                </p:nvSpPr>
                <p:spPr bwMode="auto">
                  <a:xfrm>
                    <a:off x="297" y="4614"/>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00" name="Rectangle 52"/>
                  <p:cNvSpPr>
                    <a:spLocks noChangeArrowheads="1"/>
                  </p:cNvSpPr>
                  <p:nvPr/>
                </p:nvSpPr>
                <p:spPr bwMode="auto">
                  <a:xfrm>
                    <a:off x="254" y="4614"/>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01" name="Group 53"/>
                <p:cNvGrpSpPr>
                  <a:grpSpLocks/>
                </p:cNvGrpSpPr>
                <p:nvPr/>
              </p:nvGrpSpPr>
              <p:grpSpPr bwMode="auto">
                <a:xfrm>
                  <a:off x="550" y="4614"/>
                  <a:ext cx="296" cy="384"/>
                  <a:chOff x="550" y="4614"/>
                  <a:chExt cx="296" cy="384"/>
                </a:xfrm>
              </p:grpSpPr>
              <p:sp>
                <p:nvSpPr>
                  <p:cNvPr id="718902" name="Rectangle 54"/>
                  <p:cNvSpPr>
                    <a:spLocks noChangeArrowheads="1"/>
                  </p:cNvSpPr>
                  <p:nvPr/>
                </p:nvSpPr>
                <p:spPr bwMode="auto">
                  <a:xfrm>
                    <a:off x="593" y="4614"/>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03" name="Rectangle 55"/>
                  <p:cNvSpPr>
                    <a:spLocks noChangeArrowheads="1"/>
                  </p:cNvSpPr>
                  <p:nvPr/>
                </p:nvSpPr>
                <p:spPr bwMode="auto">
                  <a:xfrm>
                    <a:off x="550" y="4614"/>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04" name="Group 56"/>
                <p:cNvGrpSpPr>
                  <a:grpSpLocks/>
                </p:cNvGrpSpPr>
                <p:nvPr/>
              </p:nvGrpSpPr>
              <p:grpSpPr bwMode="auto">
                <a:xfrm>
                  <a:off x="846" y="4614"/>
                  <a:ext cx="255" cy="384"/>
                  <a:chOff x="846" y="4614"/>
                  <a:chExt cx="255" cy="384"/>
                </a:xfrm>
              </p:grpSpPr>
              <p:sp>
                <p:nvSpPr>
                  <p:cNvPr id="718905" name="Rectangle 57"/>
                  <p:cNvSpPr>
                    <a:spLocks noChangeArrowheads="1"/>
                  </p:cNvSpPr>
                  <p:nvPr/>
                </p:nvSpPr>
                <p:spPr bwMode="auto">
                  <a:xfrm>
                    <a:off x="889" y="4614"/>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06" name="Rectangle 58"/>
                  <p:cNvSpPr>
                    <a:spLocks noChangeArrowheads="1"/>
                  </p:cNvSpPr>
                  <p:nvPr/>
                </p:nvSpPr>
                <p:spPr bwMode="auto">
                  <a:xfrm>
                    <a:off x="846" y="4614"/>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07" name="Group 59"/>
                <p:cNvGrpSpPr>
                  <a:grpSpLocks/>
                </p:cNvGrpSpPr>
                <p:nvPr/>
              </p:nvGrpSpPr>
              <p:grpSpPr bwMode="auto">
                <a:xfrm>
                  <a:off x="0" y="4998"/>
                  <a:ext cx="254" cy="384"/>
                  <a:chOff x="0" y="4998"/>
                  <a:chExt cx="254" cy="384"/>
                </a:xfrm>
              </p:grpSpPr>
              <p:sp>
                <p:nvSpPr>
                  <p:cNvPr id="718908" name="Rectangle 60"/>
                  <p:cNvSpPr>
                    <a:spLocks noChangeArrowheads="1"/>
                  </p:cNvSpPr>
                  <p:nvPr/>
                </p:nvSpPr>
                <p:spPr bwMode="auto">
                  <a:xfrm>
                    <a:off x="43" y="4998"/>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09" name="Rectangle 61"/>
                  <p:cNvSpPr>
                    <a:spLocks noChangeArrowheads="1"/>
                  </p:cNvSpPr>
                  <p:nvPr/>
                </p:nvSpPr>
                <p:spPr bwMode="auto">
                  <a:xfrm>
                    <a:off x="0" y="4998"/>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10" name="Group 62"/>
                <p:cNvGrpSpPr>
                  <a:grpSpLocks/>
                </p:cNvGrpSpPr>
                <p:nvPr/>
              </p:nvGrpSpPr>
              <p:grpSpPr bwMode="auto">
                <a:xfrm>
                  <a:off x="254" y="4998"/>
                  <a:ext cx="296" cy="384"/>
                  <a:chOff x="254" y="4998"/>
                  <a:chExt cx="296" cy="384"/>
                </a:xfrm>
              </p:grpSpPr>
              <p:sp>
                <p:nvSpPr>
                  <p:cNvPr id="718911" name="Rectangle 63"/>
                  <p:cNvSpPr>
                    <a:spLocks noChangeArrowheads="1"/>
                  </p:cNvSpPr>
                  <p:nvPr/>
                </p:nvSpPr>
                <p:spPr bwMode="auto">
                  <a:xfrm>
                    <a:off x="297" y="4998"/>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12" name="Rectangle 64"/>
                  <p:cNvSpPr>
                    <a:spLocks noChangeArrowheads="1"/>
                  </p:cNvSpPr>
                  <p:nvPr/>
                </p:nvSpPr>
                <p:spPr bwMode="auto">
                  <a:xfrm>
                    <a:off x="254" y="4998"/>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13" name="Group 65"/>
                <p:cNvGrpSpPr>
                  <a:grpSpLocks/>
                </p:cNvGrpSpPr>
                <p:nvPr/>
              </p:nvGrpSpPr>
              <p:grpSpPr bwMode="auto">
                <a:xfrm>
                  <a:off x="550" y="4998"/>
                  <a:ext cx="296" cy="384"/>
                  <a:chOff x="550" y="4998"/>
                  <a:chExt cx="296" cy="384"/>
                </a:xfrm>
              </p:grpSpPr>
              <p:sp>
                <p:nvSpPr>
                  <p:cNvPr id="718914" name="Rectangle 66"/>
                  <p:cNvSpPr>
                    <a:spLocks noChangeArrowheads="1"/>
                  </p:cNvSpPr>
                  <p:nvPr/>
                </p:nvSpPr>
                <p:spPr bwMode="auto">
                  <a:xfrm>
                    <a:off x="593" y="4998"/>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15" name="Rectangle 67"/>
                  <p:cNvSpPr>
                    <a:spLocks noChangeArrowheads="1"/>
                  </p:cNvSpPr>
                  <p:nvPr/>
                </p:nvSpPr>
                <p:spPr bwMode="auto">
                  <a:xfrm>
                    <a:off x="550" y="4998"/>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16" name="Group 68"/>
                <p:cNvGrpSpPr>
                  <a:grpSpLocks/>
                </p:cNvGrpSpPr>
                <p:nvPr/>
              </p:nvGrpSpPr>
              <p:grpSpPr bwMode="auto">
                <a:xfrm>
                  <a:off x="846" y="4998"/>
                  <a:ext cx="255" cy="384"/>
                  <a:chOff x="846" y="4998"/>
                  <a:chExt cx="255" cy="384"/>
                </a:xfrm>
              </p:grpSpPr>
              <p:sp>
                <p:nvSpPr>
                  <p:cNvPr id="718917" name="Rectangle 69"/>
                  <p:cNvSpPr>
                    <a:spLocks noChangeArrowheads="1"/>
                  </p:cNvSpPr>
                  <p:nvPr/>
                </p:nvSpPr>
                <p:spPr bwMode="auto">
                  <a:xfrm>
                    <a:off x="889" y="4998"/>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e</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18" name="Rectangle 70"/>
                  <p:cNvSpPr>
                    <a:spLocks noChangeArrowheads="1"/>
                  </p:cNvSpPr>
                  <p:nvPr/>
                </p:nvSpPr>
                <p:spPr bwMode="auto">
                  <a:xfrm>
                    <a:off x="846" y="4998"/>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19" name="Group 71"/>
                <p:cNvGrpSpPr>
                  <a:grpSpLocks/>
                </p:cNvGrpSpPr>
                <p:nvPr/>
              </p:nvGrpSpPr>
              <p:grpSpPr bwMode="auto">
                <a:xfrm>
                  <a:off x="0" y="5382"/>
                  <a:ext cx="254" cy="384"/>
                  <a:chOff x="0" y="5382"/>
                  <a:chExt cx="254" cy="384"/>
                </a:xfrm>
              </p:grpSpPr>
              <p:sp>
                <p:nvSpPr>
                  <p:cNvPr id="718920" name="Rectangle 72"/>
                  <p:cNvSpPr>
                    <a:spLocks noChangeArrowheads="1"/>
                  </p:cNvSpPr>
                  <p:nvPr/>
                </p:nvSpPr>
                <p:spPr bwMode="auto">
                  <a:xfrm>
                    <a:off x="43" y="5382"/>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21" name="Rectangle 73"/>
                  <p:cNvSpPr>
                    <a:spLocks noChangeArrowheads="1"/>
                  </p:cNvSpPr>
                  <p:nvPr/>
                </p:nvSpPr>
                <p:spPr bwMode="auto">
                  <a:xfrm>
                    <a:off x="0" y="5382"/>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22" name="Group 74"/>
                <p:cNvGrpSpPr>
                  <a:grpSpLocks/>
                </p:cNvGrpSpPr>
                <p:nvPr/>
              </p:nvGrpSpPr>
              <p:grpSpPr bwMode="auto">
                <a:xfrm>
                  <a:off x="254" y="5382"/>
                  <a:ext cx="296" cy="384"/>
                  <a:chOff x="254" y="5382"/>
                  <a:chExt cx="296" cy="384"/>
                </a:xfrm>
              </p:grpSpPr>
              <p:sp>
                <p:nvSpPr>
                  <p:cNvPr id="718923" name="Rectangle 75"/>
                  <p:cNvSpPr>
                    <a:spLocks noChangeArrowheads="1"/>
                  </p:cNvSpPr>
                  <p:nvPr/>
                </p:nvSpPr>
                <p:spPr bwMode="auto">
                  <a:xfrm>
                    <a:off x="297" y="538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a</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24" name="Rectangle 76"/>
                  <p:cNvSpPr>
                    <a:spLocks noChangeArrowheads="1"/>
                  </p:cNvSpPr>
                  <p:nvPr/>
                </p:nvSpPr>
                <p:spPr bwMode="auto">
                  <a:xfrm>
                    <a:off x="254" y="538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25" name="Group 77"/>
                <p:cNvGrpSpPr>
                  <a:grpSpLocks/>
                </p:cNvGrpSpPr>
                <p:nvPr/>
              </p:nvGrpSpPr>
              <p:grpSpPr bwMode="auto">
                <a:xfrm>
                  <a:off x="550" y="5382"/>
                  <a:ext cx="296" cy="384"/>
                  <a:chOff x="550" y="5382"/>
                  <a:chExt cx="296" cy="384"/>
                </a:xfrm>
              </p:grpSpPr>
              <p:sp>
                <p:nvSpPr>
                  <p:cNvPr id="718926" name="Rectangle 78"/>
                  <p:cNvSpPr>
                    <a:spLocks noChangeArrowheads="1"/>
                  </p:cNvSpPr>
                  <p:nvPr/>
                </p:nvSpPr>
                <p:spPr bwMode="auto">
                  <a:xfrm>
                    <a:off x="593" y="538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27" name="Rectangle 79"/>
                  <p:cNvSpPr>
                    <a:spLocks noChangeArrowheads="1"/>
                  </p:cNvSpPr>
                  <p:nvPr/>
                </p:nvSpPr>
                <p:spPr bwMode="auto">
                  <a:xfrm>
                    <a:off x="550" y="538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28" name="Group 80"/>
                <p:cNvGrpSpPr>
                  <a:grpSpLocks/>
                </p:cNvGrpSpPr>
                <p:nvPr/>
              </p:nvGrpSpPr>
              <p:grpSpPr bwMode="auto">
                <a:xfrm>
                  <a:off x="846" y="5382"/>
                  <a:ext cx="255" cy="384"/>
                  <a:chOff x="846" y="5382"/>
                  <a:chExt cx="255" cy="384"/>
                </a:xfrm>
              </p:grpSpPr>
              <p:sp>
                <p:nvSpPr>
                  <p:cNvPr id="718929" name="Rectangle 81"/>
                  <p:cNvSpPr>
                    <a:spLocks noChangeArrowheads="1"/>
                  </p:cNvSpPr>
                  <p:nvPr/>
                </p:nvSpPr>
                <p:spPr bwMode="auto">
                  <a:xfrm>
                    <a:off x="889" y="5382"/>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30" name="Rectangle 82"/>
                  <p:cNvSpPr>
                    <a:spLocks noChangeArrowheads="1"/>
                  </p:cNvSpPr>
                  <p:nvPr/>
                </p:nvSpPr>
                <p:spPr bwMode="auto">
                  <a:xfrm>
                    <a:off x="846" y="5382"/>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718931" name="Rectangle 83"/>
              <p:cNvSpPr>
                <a:spLocks noChangeArrowheads="1"/>
              </p:cNvSpPr>
              <p:nvPr/>
            </p:nvSpPr>
            <p:spPr bwMode="auto">
              <a:xfrm>
                <a:off x="-3" y="3459"/>
                <a:ext cx="1107" cy="2310"/>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32" name="Group 84"/>
            <p:cNvGrpSpPr>
              <a:grpSpLocks/>
            </p:cNvGrpSpPr>
            <p:nvPr/>
          </p:nvGrpSpPr>
          <p:grpSpPr bwMode="auto">
            <a:xfrm>
              <a:off x="3600" y="384"/>
              <a:ext cx="971" cy="1968"/>
              <a:chOff x="3600" y="384"/>
              <a:chExt cx="971" cy="1968"/>
            </a:xfrm>
          </p:grpSpPr>
          <p:grpSp>
            <p:nvGrpSpPr>
              <p:cNvPr id="718933" name="Group 85"/>
              <p:cNvGrpSpPr>
                <a:grpSpLocks/>
              </p:cNvGrpSpPr>
              <p:nvPr/>
            </p:nvGrpSpPr>
            <p:grpSpPr bwMode="auto">
              <a:xfrm>
                <a:off x="3600" y="384"/>
                <a:ext cx="971" cy="1955"/>
                <a:chOff x="-3" y="5766"/>
                <a:chExt cx="853" cy="1542"/>
              </a:xfrm>
            </p:grpSpPr>
            <p:grpSp>
              <p:nvGrpSpPr>
                <p:cNvPr id="718934" name="Group 86"/>
                <p:cNvGrpSpPr>
                  <a:grpSpLocks/>
                </p:cNvGrpSpPr>
                <p:nvPr/>
              </p:nvGrpSpPr>
              <p:grpSpPr bwMode="auto">
                <a:xfrm>
                  <a:off x="0" y="5769"/>
                  <a:ext cx="847" cy="1536"/>
                  <a:chOff x="0" y="5769"/>
                  <a:chExt cx="847" cy="1536"/>
                </a:xfrm>
              </p:grpSpPr>
              <p:grpSp>
                <p:nvGrpSpPr>
                  <p:cNvPr id="718935" name="Group 87"/>
                  <p:cNvGrpSpPr>
                    <a:grpSpLocks/>
                  </p:cNvGrpSpPr>
                  <p:nvPr/>
                </p:nvGrpSpPr>
                <p:grpSpPr bwMode="auto">
                  <a:xfrm>
                    <a:off x="0" y="5769"/>
                    <a:ext cx="255" cy="384"/>
                    <a:chOff x="0" y="5769"/>
                    <a:chExt cx="255" cy="384"/>
                  </a:xfrm>
                </p:grpSpPr>
                <p:sp>
                  <p:nvSpPr>
                    <p:cNvPr id="718936" name="Rectangle 88"/>
                    <p:cNvSpPr>
                      <a:spLocks noChangeArrowheads="1"/>
                    </p:cNvSpPr>
                    <p:nvPr/>
                  </p:nvSpPr>
                  <p:spPr bwMode="auto">
                    <a:xfrm>
                      <a:off x="43" y="5769"/>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A</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37" name="Rectangle 89"/>
                    <p:cNvSpPr>
                      <a:spLocks noChangeArrowheads="1"/>
                    </p:cNvSpPr>
                    <p:nvPr/>
                  </p:nvSpPr>
                  <p:spPr bwMode="auto">
                    <a:xfrm>
                      <a:off x="0" y="5769"/>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38" name="Group 90"/>
                  <p:cNvGrpSpPr>
                    <a:grpSpLocks/>
                  </p:cNvGrpSpPr>
                  <p:nvPr/>
                </p:nvGrpSpPr>
                <p:grpSpPr bwMode="auto">
                  <a:xfrm>
                    <a:off x="255" y="5769"/>
                    <a:ext cx="296" cy="384"/>
                    <a:chOff x="255" y="5769"/>
                    <a:chExt cx="296" cy="384"/>
                  </a:xfrm>
                </p:grpSpPr>
                <p:sp>
                  <p:nvSpPr>
                    <p:cNvPr id="718939" name="Rectangle 91"/>
                    <p:cNvSpPr>
                      <a:spLocks noChangeArrowheads="1"/>
                    </p:cNvSpPr>
                    <p:nvPr/>
                  </p:nvSpPr>
                  <p:spPr bwMode="auto">
                    <a:xfrm>
                      <a:off x="298" y="5769"/>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1"/>
                          </a:solidFill>
                        </a:rPr>
                        <a:t>B</a:t>
                      </a:r>
                    </a:p>
                    <a:p>
                      <a:pPr algn="ctr" eaLnBrk="0" hangingPunct="0">
                        <a:lnSpc>
                          <a:spcPct val="100000"/>
                        </a:lnSpc>
                        <a:spcBef>
                          <a:spcPct val="0"/>
                        </a:spcBef>
                      </a:pPr>
                      <a:endParaRPr lang="en-US" altLang="zh-CN" sz="3600" b="1">
                        <a:solidFill>
                          <a:schemeClr val="bg1"/>
                        </a:solidFill>
                        <a:latin typeface="Times New Roman" pitchFamily="18" charset="0"/>
                      </a:endParaRPr>
                    </a:p>
                  </p:txBody>
                </p:sp>
                <p:sp>
                  <p:nvSpPr>
                    <p:cNvPr id="718940" name="Rectangle 92"/>
                    <p:cNvSpPr>
                      <a:spLocks noChangeArrowheads="1"/>
                    </p:cNvSpPr>
                    <p:nvPr/>
                  </p:nvSpPr>
                  <p:spPr bwMode="auto">
                    <a:xfrm>
                      <a:off x="255" y="5769"/>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41" name="Group 93"/>
                  <p:cNvGrpSpPr>
                    <a:grpSpLocks/>
                  </p:cNvGrpSpPr>
                  <p:nvPr/>
                </p:nvGrpSpPr>
                <p:grpSpPr bwMode="auto">
                  <a:xfrm>
                    <a:off x="551" y="5769"/>
                    <a:ext cx="296" cy="384"/>
                    <a:chOff x="551" y="5769"/>
                    <a:chExt cx="296" cy="384"/>
                  </a:xfrm>
                </p:grpSpPr>
                <p:sp>
                  <p:nvSpPr>
                    <p:cNvPr id="718942" name="Rectangle 94"/>
                    <p:cNvSpPr>
                      <a:spLocks noChangeArrowheads="1"/>
                    </p:cNvSpPr>
                    <p:nvPr/>
                  </p:nvSpPr>
                  <p:spPr bwMode="auto">
                    <a:xfrm>
                      <a:off x="594" y="5769"/>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1"/>
                          </a:solidFill>
                        </a:rPr>
                        <a:t>C</a:t>
                      </a:r>
                    </a:p>
                    <a:p>
                      <a:pPr algn="ctr" eaLnBrk="0" hangingPunct="0">
                        <a:lnSpc>
                          <a:spcPct val="100000"/>
                        </a:lnSpc>
                        <a:spcBef>
                          <a:spcPct val="0"/>
                        </a:spcBef>
                      </a:pPr>
                      <a:endParaRPr lang="en-US" altLang="zh-CN" sz="3600" b="1">
                        <a:solidFill>
                          <a:schemeClr val="bg1"/>
                        </a:solidFill>
                        <a:latin typeface="Times New Roman" pitchFamily="18" charset="0"/>
                      </a:endParaRPr>
                    </a:p>
                  </p:txBody>
                </p:sp>
                <p:sp>
                  <p:nvSpPr>
                    <p:cNvPr id="718943" name="Rectangle 95"/>
                    <p:cNvSpPr>
                      <a:spLocks noChangeArrowheads="1"/>
                    </p:cNvSpPr>
                    <p:nvPr/>
                  </p:nvSpPr>
                  <p:spPr bwMode="auto">
                    <a:xfrm>
                      <a:off x="551" y="5769"/>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44" name="Group 96"/>
                  <p:cNvGrpSpPr>
                    <a:grpSpLocks/>
                  </p:cNvGrpSpPr>
                  <p:nvPr/>
                </p:nvGrpSpPr>
                <p:grpSpPr bwMode="auto">
                  <a:xfrm>
                    <a:off x="0" y="6153"/>
                    <a:ext cx="255" cy="384"/>
                    <a:chOff x="0" y="6153"/>
                    <a:chExt cx="255" cy="384"/>
                  </a:xfrm>
                </p:grpSpPr>
                <p:sp>
                  <p:nvSpPr>
                    <p:cNvPr id="718945" name="Rectangle 97"/>
                    <p:cNvSpPr>
                      <a:spLocks noChangeArrowheads="1"/>
                    </p:cNvSpPr>
                    <p:nvPr/>
                  </p:nvSpPr>
                  <p:spPr bwMode="auto">
                    <a:xfrm>
                      <a:off x="43" y="6153"/>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a</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46" name="Rectangle 98"/>
                    <p:cNvSpPr>
                      <a:spLocks noChangeArrowheads="1"/>
                    </p:cNvSpPr>
                    <p:nvPr/>
                  </p:nvSpPr>
                  <p:spPr bwMode="auto">
                    <a:xfrm>
                      <a:off x="0" y="6153"/>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47" name="Group 99"/>
                  <p:cNvGrpSpPr>
                    <a:grpSpLocks/>
                  </p:cNvGrpSpPr>
                  <p:nvPr/>
                </p:nvGrpSpPr>
                <p:grpSpPr bwMode="auto">
                  <a:xfrm>
                    <a:off x="255" y="6153"/>
                    <a:ext cx="296" cy="384"/>
                    <a:chOff x="255" y="6153"/>
                    <a:chExt cx="296" cy="384"/>
                  </a:xfrm>
                </p:grpSpPr>
                <p:sp>
                  <p:nvSpPr>
                    <p:cNvPr id="718948" name="Rectangle 100"/>
                    <p:cNvSpPr>
                      <a:spLocks noChangeArrowheads="1"/>
                    </p:cNvSpPr>
                    <p:nvPr/>
                  </p:nvSpPr>
                  <p:spPr bwMode="auto">
                    <a:xfrm>
                      <a:off x="298" y="6153"/>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49" name="Rectangle 101"/>
                    <p:cNvSpPr>
                      <a:spLocks noChangeArrowheads="1"/>
                    </p:cNvSpPr>
                    <p:nvPr/>
                  </p:nvSpPr>
                  <p:spPr bwMode="auto">
                    <a:xfrm>
                      <a:off x="255" y="6153"/>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50" name="Group 102"/>
                  <p:cNvGrpSpPr>
                    <a:grpSpLocks/>
                  </p:cNvGrpSpPr>
                  <p:nvPr/>
                </p:nvGrpSpPr>
                <p:grpSpPr bwMode="auto">
                  <a:xfrm>
                    <a:off x="551" y="6153"/>
                    <a:ext cx="296" cy="384"/>
                    <a:chOff x="551" y="6153"/>
                    <a:chExt cx="296" cy="384"/>
                  </a:xfrm>
                </p:grpSpPr>
                <p:sp>
                  <p:nvSpPr>
                    <p:cNvPr id="718951" name="Rectangle 103"/>
                    <p:cNvSpPr>
                      <a:spLocks noChangeArrowheads="1"/>
                    </p:cNvSpPr>
                    <p:nvPr/>
                  </p:nvSpPr>
                  <p:spPr bwMode="auto">
                    <a:xfrm>
                      <a:off x="594" y="6153"/>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52" name="Rectangle 104"/>
                    <p:cNvSpPr>
                      <a:spLocks noChangeArrowheads="1"/>
                    </p:cNvSpPr>
                    <p:nvPr/>
                  </p:nvSpPr>
                  <p:spPr bwMode="auto">
                    <a:xfrm>
                      <a:off x="551" y="6153"/>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53" name="Group 105"/>
                  <p:cNvGrpSpPr>
                    <a:grpSpLocks/>
                  </p:cNvGrpSpPr>
                  <p:nvPr/>
                </p:nvGrpSpPr>
                <p:grpSpPr bwMode="auto">
                  <a:xfrm>
                    <a:off x="0" y="6537"/>
                    <a:ext cx="255" cy="384"/>
                    <a:chOff x="0" y="6537"/>
                    <a:chExt cx="255" cy="384"/>
                  </a:xfrm>
                </p:grpSpPr>
                <p:sp>
                  <p:nvSpPr>
                    <p:cNvPr id="718954" name="Rectangle 106"/>
                    <p:cNvSpPr>
                      <a:spLocks noChangeArrowheads="1"/>
                    </p:cNvSpPr>
                    <p:nvPr/>
                  </p:nvSpPr>
                  <p:spPr bwMode="auto">
                    <a:xfrm>
                      <a:off x="43" y="6537"/>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55" name="Rectangle 107"/>
                    <p:cNvSpPr>
                      <a:spLocks noChangeArrowheads="1"/>
                    </p:cNvSpPr>
                    <p:nvPr/>
                  </p:nvSpPr>
                  <p:spPr bwMode="auto">
                    <a:xfrm>
                      <a:off x="0" y="6537"/>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56" name="Group 108"/>
                  <p:cNvGrpSpPr>
                    <a:grpSpLocks/>
                  </p:cNvGrpSpPr>
                  <p:nvPr/>
                </p:nvGrpSpPr>
                <p:grpSpPr bwMode="auto">
                  <a:xfrm>
                    <a:off x="255" y="6537"/>
                    <a:ext cx="296" cy="384"/>
                    <a:chOff x="255" y="6537"/>
                    <a:chExt cx="296" cy="384"/>
                  </a:xfrm>
                </p:grpSpPr>
                <p:sp>
                  <p:nvSpPr>
                    <p:cNvPr id="718957" name="Rectangle 109"/>
                    <p:cNvSpPr>
                      <a:spLocks noChangeArrowheads="1"/>
                    </p:cNvSpPr>
                    <p:nvPr/>
                  </p:nvSpPr>
                  <p:spPr bwMode="auto">
                    <a:xfrm>
                      <a:off x="298" y="6537"/>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58" name="Rectangle 110"/>
                    <p:cNvSpPr>
                      <a:spLocks noChangeArrowheads="1"/>
                    </p:cNvSpPr>
                    <p:nvPr/>
                  </p:nvSpPr>
                  <p:spPr bwMode="auto">
                    <a:xfrm>
                      <a:off x="255" y="6537"/>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59" name="Group 111"/>
                  <p:cNvGrpSpPr>
                    <a:grpSpLocks/>
                  </p:cNvGrpSpPr>
                  <p:nvPr/>
                </p:nvGrpSpPr>
                <p:grpSpPr bwMode="auto">
                  <a:xfrm>
                    <a:off x="551" y="6537"/>
                    <a:ext cx="296" cy="384"/>
                    <a:chOff x="551" y="6537"/>
                    <a:chExt cx="296" cy="384"/>
                  </a:xfrm>
                </p:grpSpPr>
                <p:sp>
                  <p:nvSpPr>
                    <p:cNvPr id="718960" name="Rectangle 112"/>
                    <p:cNvSpPr>
                      <a:spLocks noChangeArrowheads="1"/>
                    </p:cNvSpPr>
                    <p:nvPr/>
                  </p:nvSpPr>
                  <p:spPr bwMode="auto">
                    <a:xfrm>
                      <a:off x="594" y="6537"/>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61" name="Rectangle 113"/>
                    <p:cNvSpPr>
                      <a:spLocks noChangeArrowheads="1"/>
                    </p:cNvSpPr>
                    <p:nvPr/>
                  </p:nvSpPr>
                  <p:spPr bwMode="auto">
                    <a:xfrm>
                      <a:off x="551" y="6537"/>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62" name="Group 114"/>
                  <p:cNvGrpSpPr>
                    <a:grpSpLocks/>
                  </p:cNvGrpSpPr>
                  <p:nvPr/>
                </p:nvGrpSpPr>
                <p:grpSpPr bwMode="auto">
                  <a:xfrm>
                    <a:off x="0" y="6921"/>
                    <a:ext cx="255" cy="384"/>
                    <a:chOff x="0" y="6921"/>
                    <a:chExt cx="255" cy="384"/>
                  </a:xfrm>
                </p:grpSpPr>
                <p:sp>
                  <p:nvSpPr>
                    <p:cNvPr id="718963" name="Rectangle 115"/>
                    <p:cNvSpPr>
                      <a:spLocks noChangeArrowheads="1"/>
                    </p:cNvSpPr>
                    <p:nvPr/>
                  </p:nvSpPr>
                  <p:spPr bwMode="auto">
                    <a:xfrm>
                      <a:off x="43" y="6921"/>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64" name="Rectangle 116"/>
                    <p:cNvSpPr>
                      <a:spLocks noChangeArrowheads="1"/>
                    </p:cNvSpPr>
                    <p:nvPr/>
                  </p:nvSpPr>
                  <p:spPr bwMode="auto">
                    <a:xfrm>
                      <a:off x="0" y="6921"/>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65" name="Group 117"/>
                  <p:cNvGrpSpPr>
                    <a:grpSpLocks/>
                  </p:cNvGrpSpPr>
                  <p:nvPr/>
                </p:nvGrpSpPr>
                <p:grpSpPr bwMode="auto">
                  <a:xfrm>
                    <a:off x="255" y="6921"/>
                    <a:ext cx="296" cy="384"/>
                    <a:chOff x="255" y="6921"/>
                    <a:chExt cx="296" cy="384"/>
                  </a:xfrm>
                </p:grpSpPr>
                <p:sp>
                  <p:nvSpPr>
                    <p:cNvPr id="718966" name="Rectangle 118"/>
                    <p:cNvSpPr>
                      <a:spLocks noChangeArrowheads="1"/>
                    </p:cNvSpPr>
                    <p:nvPr/>
                  </p:nvSpPr>
                  <p:spPr bwMode="auto">
                    <a:xfrm>
                      <a:off x="298" y="6921"/>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a</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67" name="Rectangle 119"/>
                    <p:cNvSpPr>
                      <a:spLocks noChangeArrowheads="1"/>
                    </p:cNvSpPr>
                    <p:nvPr/>
                  </p:nvSpPr>
                  <p:spPr bwMode="auto">
                    <a:xfrm>
                      <a:off x="255" y="6921"/>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68" name="Group 120"/>
                  <p:cNvGrpSpPr>
                    <a:grpSpLocks/>
                  </p:cNvGrpSpPr>
                  <p:nvPr/>
                </p:nvGrpSpPr>
                <p:grpSpPr bwMode="auto">
                  <a:xfrm>
                    <a:off x="551" y="6921"/>
                    <a:ext cx="296" cy="384"/>
                    <a:chOff x="551" y="6921"/>
                    <a:chExt cx="296" cy="384"/>
                  </a:xfrm>
                </p:grpSpPr>
                <p:sp>
                  <p:nvSpPr>
                    <p:cNvPr id="718969" name="Rectangle 121"/>
                    <p:cNvSpPr>
                      <a:spLocks noChangeArrowheads="1"/>
                    </p:cNvSpPr>
                    <p:nvPr/>
                  </p:nvSpPr>
                  <p:spPr bwMode="auto">
                    <a:xfrm>
                      <a:off x="594" y="6921"/>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70" name="Rectangle 122"/>
                    <p:cNvSpPr>
                      <a:spLocks noChangeArrowheads="1"/>
                    </p:cNvSpPr>
                    <p:nvPr/>
                  </p:nvSpPr>
                  <p:spPr bwMode="auto">
                    <a:xfrm>
                      <a:off x="551" y="6921"/>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718971" name="Rectangle 123"/>
                <p:cNvSpPr>
                  <a:spLocks noChangeArrowheads="1"/>
                </p:cNvSpPr>
                <p:nvPr/>
              </p:nvSpPr>
              <p:spPr bwMode="auto">
                <a:xfrm>
                  <a:off x="-3" y="5766"/>
                  <a:ext cx="853" cy="1542"/>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718972" name="Rectangle 124"/>
              <p:cNvSpPr>
                <a:spLocks noChangeArrowheads="1"/>
              </p:cNvSpPr>
              <p:nvPr/>
            </p:nvSpPr>
            <p:spPr bwMode="auto">
              <a:xfrm>
                <a:off x="3600" y="384"/>
                <a:ext cx="960" cy="196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718973" name="Group 125"/>
            <p:cNvGrpSpPr>
              <a:grpSpLocks/>
            </p:cNvGrpSpPr>
            <p:nvPr/>
          </p:nvGrpSpPr>
          <p:grpSpPr bwMode="auto">
            <a:xfrm>
              <a:off x="4741" y="384"/>
              <a:ext cx="1019" cy="1968"/>
              <a:chOff x="4741" y="384"/>
              <a:chExt cx="1019" cy="1968"/>
            </a:xfrm>
          </p:grpSpPr>
          <p:grpSp>
            <p:nvGrpSpPr>
              <p:cNvPr id="718974" name="Group 126"/>
              <p:cNvGrpSpPr>
                <a:grpSpLocks/>
              </p:cNvGrpSpPr>
              <p:nvPr/>
            </p:nvGrpSpPr>
            <p:grpSpPr bwMode="auto">
              <a:xfrm>
                <a:off x="4741" y="384"/>
                <a:ext cx="971" cy="1955"/>
                <a:chOff x="-3" y="7305"/>
                <a:chExt cx="853" cy="1542"/>
              </a:xfrm>
            </p:grpSpPr>
            <p:grpSp>
              <p:nvGrpSpPr>
                <p:cNvPr id="718975" name="Group 127"/>
                <p:cNvGrpSpPr>
                  <a:grpSpLocks/>
                </p:cNvGrpSpPr>
                <p:nvPr/>
              </p:nvGrpSpPr>
              <p:grpSpPr bwMode="auto">
                <a:xfrm>
                  <a:off x="0" y="7308"/>
                  <a:ext cx="847" cy="1536"/>
                  <a:chOff x="0" y="7308"/>
                  <a:chExt cx="847" cy="1536"/>
                </a:xfrm>
              </p:grpSpPr>
              <p:grpSp>
                <p:nvGrpSpPr>
                  <p:cNvPr id="718976" name="Group 128"/>
                  <p:cNvGrpSpPr>
                    <a:grpSpLocks/>
                  </p:cNvGrpSpPr>
                  <p:nvPr/>
                </p:nvGrpSpPr>
                <p:grpSpPr bwMode="auto">
                  <a:xfrm>
                    <a:off x="0" y="7308"/>
                    <a:ext cx="255" cy="384"/>
                    <a:chOff x="0" y="7308"/>
                    <a:chExt cx="255" cy="384"/>
                  </a:xfrm>
                </p:grpSpPr>
                <p:sp>
                  <p:nvSpPr>
                    <p:cNvPr id="718977" name="Rectangle 129"/>
                    <p:cNvSpPr>
                      <a:spLocks noChangeArrowheads="1"/>
                    </p:cNvSpPr>
                    <p:nvPr/>
                  </p:nvSpPr>
                  <p:spPr bwMode="auto">
                    <a:xfrm>
                      <a:off x="43" y="7308"/>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1"/>
                          </a:solidFill>
                        </a:rPr>
                        <a:t>B</a:t>
                      </a:r>
                    </a:p>
                    <a:p>
                      <a:pPr algn="ctr" eaLnBrk="0" hangingPunct="0">
                        <a:lnSpc>
                          <a:spcPct val="100000"/>
                        </a:lnSpc>
                        <a:spcBef>
                          <a:spcPct val="0"/>
                        </a:spcBef>
                      </a:pPr>
                      <a:endParaRPr lang="en-US" altLang="zh-CN" sz="3600" b="1">
                        <a:solidFill>
                          <a:schemeClr val="bg1"/>
                        </a:solidFill>
                        <a:latin typeface="Times New Roman" pitchFamily="18" charset="0"/>
                      </a:endParaRPr>
                    </a:p>
                  </p:txBody>
                </p:sp>
                <p:sp>
                  <p:nvSpPr>
                    <p:cNvPr id="718978" name="Rectangle 130"/>
                    <p:cNvSpPr>
                      <a:spLocks noChangeArrowheads="1"/>
                    </p:cNvSpPr>
                    <p:nvPr/>
                  </p:nvSpPr>
                  <p:spPr bwMode="auto">
                    <a:xfrm>
                      <a:off x="0" y="7308"/>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79" name="Group 131"/>
                  <p:cNvGrpSpPr>
                    <a:grpSpLocks/>
                  </p:cNvGrpSpPr>
                  <p:nvPr/>
                </p:nvGrpSpPr>
                <p:grpSpPr bwMode="auto">
                  <a:xfrm>
                    <a:off x="255" y="7308"/>
                    <a:ext cx="296" cy="384"/>
                    <a:chOff x="255" y="7308"/>
                    <a:chExt cx="296" cy="384"/>
                  </a:xfrm>
                </p:grpSpPr>
                <p:sp>
                  <p:nvSpPr>
                    <p:cNvPr id="718980" name="Rectangle 132"/>
                    <p:cNvSpPr>
                      <a:spLocks noChangeArrowheads="1"/>
                    </p:cNvSpPr>
                    <p:nvPr/>
                  </p:nvSpPr>
                  <p:spPr bwMode="auto">
                    <a:xfrm>
                      <a:off x="298" y="7308"/>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1"/>
                          </a:solidFill>
                        </a:rPr>
                        <a:t>C</a:t>
                      </a:r>
                    </a:p>
                    <a:p>
                      <a:pPr algn="ctr" eaLnBrk="0" hangingPunct="0">
                        <a:lnSpc>
                          <a:spcPct val="100000"/>
                        </a:lnSpc>
                        <a:spcBef>
                          <a:spcPct val="0"/>
                        </a:spcBef>
                      </a:pPr>
                      <a:endParaRPr lang="en-US" altLang="zh-CN" sz="3600" b="1">
                        <a:solidFill>
                          <a:schemeClr val="bg1"/>
                        </a:solidFill>
                        <a:latin typeface="Times New Roman" pitchFamily="18" charset="0"/>
                      </a:endParaRPr>
                    </a:p>
                  </p:txBody>
                </p:sp>
                <p:sp>
                  <p:nvSpPr>
                    <p:cNvPr id="718981" name="Rectangle 133"/>
                    <p:cNvSpPr>
                      <a:spLocks noChangeArrowheads="1"/>
                    </p:cNvSpPr>
                    <p:nvPr/>
                  </p:nvSpPr>
                  <p:spPr bwMode="auto">
                    <a:xfrm>
                      <a:off x="255" y="7308"/>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82" name="Group 134"/>
                  <p:cNvGrpSpPr>
                    <a:grpSpLocks/>
                  </p:cNvGrpSpPr>
                  <p:nvPr/>
                </p:nvGrpSpPr>
                <p:grpSpPr bwMode="auto">
                  <a:xfrm>
                    <a:off x="551" y="7308"/>
                    <a:ext cx="296" cy="384"/>
                    <a:chOff x="551" y="7308"/>
                    <a:chExt cx="296" cy="384"/>
                  </a:xfrm>
                </p:grpSpPr>
                <p:sp>
                  <p:nvSpPr>
                    <p:cNvPr id="718983" name="Rectangle 135"/>
                    <p:cNvSpPr>
                      <a:spLocks noChangeArrowheads="1"/>
                    </p:cNvSpPr>
                    <p:nvPr/>
                  </p:nvSpPr>
                  <p:spPr bwMode="auto">
                    <a:xfrm>
                      <a:off x="594" y="7308"/>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84" name="Rectangle 136"/>
                    <p:cNvSpPr>
                      <a:spLocks noChangeArrowheads="1"/>
                    </p:cNvSpPr>
                    <p:nvPr/>
                  </p:nvSpPr>
                  <p:spPr bwMode="auto">
                    <a:xfrm>
                      <a:off x="551" y="7308"/>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85" name="Group 137"/>
                  <p:cNvGrpSpPr>
                    <a:grpSpLocks/>
                  </p:cNvGrpSpPr>
                  <p:nvPr/>
                </p:nvGrpSpPr>
                <p:grpSpPr bwMode="auto">
                  <a:xfrm>
                    <a:off x="0" y="7692"/>
                    <a:ext cx="255" cy="384"/>
                    <a:chOff x="0" y="7692"/>
                    <a:chExt cx="255" cy="384"/>
                  </a:xfrm>
                </p:grpSpPr>
                <p:sp>
                  <p:nvSpPr>
                    <p:cNvPr id="718986" name="Rectangle 138"/>
                    <p:cNvSpPr>
                      <a:spLocks noChangeArrowheads="1"/>
                    </p:cNvSpPr>
                    <p:nvPr/>
                  </p:nvSpPr>
                  <p:spPr bwMode="auto">
                    <a:xfrm>
                      <a:off x="43" y="7692"/>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87" name="Rectangle 139"/>
                    <p:cNvSpPr>
                      <a:spLocks noChangeArrowheads="1"/>
                    </p:cNvSpPr>
                    <p:nvPr/>
                  </p:nvSpPr>
                  <p:spPr bwMode="auto">
                    <a:xfrm>
                      <a:off x="0" y="7692"/>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88" name="Group 140"/>
                  <p:cNvGrpSpPr>
                    <a:grpSpLocks/>
                  </p:cNvGrpSpPr>
                  <p:nvPr/>
                </p:nvGrpSpPr>
                <p:grpSpPr bwMode="auto">
                  <a:xfrm>
                    <a:off x="255" y="7692"/>
                    <a:ext cx="296" cy="384"/>
                    <a:chOff x="255" y="7692"/>
                    <a:chExt cx="296" cy="384"/>
                  </a:xfrm>
                </p:grpSpPr>
                <p:sp>
                  <p:nvSpPr>
                    <p:cNvPr id="718989" name="Rectangle 141"/>
                    <p:cNvSpPr>
                      <a:spLocks noChangeArrowheads="1"/>
                    </p:cNvSpPr>
                    <p:nvPr/>
                  </p:nvSpPr>
                  <p:spPr bwMode="auto">
                    <a:xfrm>
                      <a:off x="298" y="769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90" name="Rectangle 142"/>
                    <p:cNvSpPr>
                      <a:spLocks noChangeArrowheads="1"/>
                    </p:cNvSpPr>
                    <p:nvPr/>
                  </p:nvSpPr>
                  <p:spPr bwMode="auto">
                    <a:xfrm>
                      <a:off x="255" y="769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91" name="Group 143"/>
                  <p:cNvGrpSpPr>
                    <a:grpSpLocks/>
                  </p:cNvGrpSpPr>
                  <p:nvPr/>
                </p:nvGrpSpPr>
                <p:grpSpPr bwMode="auto">
                  <a:xfrm>
                    <a:off x="551" y="7692"/>
                    <a:ext cx="296" cy="384"/>
                    <a:chOff x="551" y="7692"/>
                    <a:chExt cx="296" cy="384"/>
                  </a:xfrm>
                </p:grpSpPr>
                <p:sp>
                  <p:nvSpPr>
                    <p:cNvPr id="718992" name="Rectangle 144"/>
                    <p:cNvSpPr>
                      <a:spLocks noChangeArrowheads="1"/>
                    </p:cNvSpPr>
                    <p:nvPr/>
                  </p:nvSpPr>
                  <p:spPr bwMode="auto">
                    <a:xfrm>
                      <a:off x="594" y="7692"/>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93" name="Rectangle 145"/>
                    <p:cNvSpPr>
                      <a:spLocks noChangeArrowheads="1"/>
                    </p:cNvSpPr>
                    <p:nvPr/>
                  </p:nvSpPr>
                  <p:spPr bwMode="auto">
                    <a:xfrm>
                      <a:off x="551" y="7692"/>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94" name="Group 146"/>
                  <p:cNvGrpSpPr>
                    <a:grpSpLocks/>
                  </p:cNvGrpSpPr>
                  <p:nvPr/>
                </p:nvGrpSpPr>
                <p:grpSpPr bwMode="auto">
                  <a:xfrm>
                    <a:off x="0" y="8076"/>
                    <a:ext cx="255" cy="384"/>
                    <a:chOff x="0" y="8076"/>
                    <a:chExt cx="255" cy="384"/>
                  </a:xfrm>
                </p:grpSpPr>
                <p:sp>
                  <p:nvSpPr>
                    <p:cNvPr id="718995" name="Rectangle 147"/>
                    <p:cNvSpPr>
                      <a:spLocks noChangeArrowheads="1"/>
                    </p:cNvSpPr>
                    <p:nvPr/>
                  </p:nvSpPr>
                  <p:spPr bwMode="auto">
                    <a:xfrm>
                      <a:off x="43" y="8076"/>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96" name="Rectangle 148"/>
                    <p:cNvSpPr>
                      <a:spLocks noChangeArrowheads="1"/>
                    </p:cNvSpPr>
                    <p:nvPr/>
                  </p:nvSpPr>
                  <p:spPr bwMode="auto">
                    <a:xfrm>
                      <a:off x="0" y="8076"/>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8997" name="Group 149"/>
                  <p:cNvGrpSpPr>
                    <a:grpSpLocks/>
                  </p:cNvGrpSpPr>
                  <p:nvPr/>
                </p:nvGrpSpPr>
                <p:grpSpPr bwMode="auto">
                  <a:xfrm>
                    <a:off x="255" y="8076"/>
                    <a:ext cx="296" cy="384"/>
                    <a:chOff x="255" y="8076"/>
                    <a:chExt cx="296" cy="384"/>
                  </a:xfrm>
                </p:grpSpPr>
                <p:sp>
                  <p:nvSpPr>
                    <p:cNvPr id="718998" name="Rectangle 150"/>
                    <p:cNvSpPr>
                      <a:spLocks noChangeArrowheads="1"/>
                    </p:cNvSpPr>
                    <p:nvPr/>
                  </p:nvSpPr>
                  <p:spPr bwMode="auto">
                    <a:xfrm>
                      <a:off x="298" y="8076"/>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8999" name="Rectangle 151"/>
                    <p:cNvSpPr>
                      <a:spLocks noChangeArrowheads="1"/>
                    </p:cNvSpPr>
                    <p:nvPr/>
                  </p:nvSpPr>
                  <p:spPr bwMode="auto">
                    <a:xfrm>
                      <a:off x="255" y="8076"/>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00" name="Group 152"/>
                  <p:cNvGrpSpPr>
                    <a:grpSpLocks/>
                  </p:cNvGrpSpPr>
                  <p:nvPr/>
                </p:nvGrpSpPr>
                <p:grpSpPr bwMode="auto">
                  <a:xfrm>
                    <a:off x="551" y="8076"/>
                    <a:ext cx="296" cy="384"/>
                    <a:chOff x="551" y="8076"/>
                    <a:chExt cx="296" cy="384"/>
                  </a:xfrm>
                </p:grpSpPr>
                <p:sp>
                  <p:nvSpPr>
                    <p:cNvPr id="719001" name="Rectangle 153"/>
                    <p:cNvSpPr>
                      <a:spLocks noChangeArrowheads="1"/>
                    </p:cNvSpPr>
                    <p:nvPr/>
                  </p:nvSpPr>
                  <p:spPr bwMode="auto">
                    <a:xfrm>
                      <a:off x="594" y="8076"/>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e</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02" name="Rectangle 154"/>
                    <p:cNvSpPr>
                      <a:spLocks noChangeArrowheads="1"/>
                    </p:cNvSpPr>
                    <p:nvPr/>
                  </p:nvSpPr>
                  <p:spPr bwMode="auto">
                    <a:xfrm>
                      <a:off x="551" y="8076"/>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03" name="Group 155"/>
                  <p:cNvGrpSpPr>
                    <a:grpSpLocks/>
                  </p:cNvGrpSpPr>
                  <p:nvPr/>
                </p:nvGrpSpPr>
                <p:grpSpPr bwMode="auto">
                  <a:xfrm>
                    <a:off x="0" y="8460"/>
                    <a:ext cx="255" cy="384"/>
                    <a:chOff x="0" y="8460"/>
                    <a:chExt cx="255" cy="384"/>
                  </a:xfrm>
                </p:grpSpPr>
                <p:sp>
                  <p:nvSpPr>
                    <p:cNvPr id="719004" name="Rectangle 156"/>
                    <p:cNvSpPr>
                      <a:spLocks noChangeArrowheads="1"/>
                    </p:cNvSpPr>
                    <p:nvPr/>
                  </p:nvSpPr>
                  <p:spPr bwMode="auto">
                    <a:xfrm>
                      <a:off x="43" y="8460"/>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a</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05" name="Rectangle 157"/>
                    <p:cNvSpPr>
                      <a:spLocks noChangeArrowheads="1"/>
                    </p:cNvSpPr>
                    <p:nvPr/>
                  </p:nvSpPr>
                  <p:spPr bwMode="auto">
                    <a:xfrm>
                      <a:off x="0" y="8460"/>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06" name="Group 158"/>
                  <p:cNvGrpSpPr>
                    <a:grpSpLocks/>
                  </p:cNvGrpSpPr>
                  <p:nvPr/>
                </p:nvGrpSpPr>
                <p:grpSpPr bwMode="auto">
                  <a:xfrm>
                    <a:off x="255" y="8460"/>
                    <a:ext cx="296" cy="384"/>
                    <a:chOff x="255" y="8460"/>
                    <a:chExt cx="296" cy="384"/>
                  </a:xfrm>
                </p:grpSpPr>
                <p:sp>
                  <p:nvSpPr>
                    <p:cNvPr id="719007" name="Rectangle 159"/>
                    <p:cNvSpPr>
                      <a:spLocks noChangeArrowheads="1"/>
                    </p:cNvSpPr>
                    <p:nvPr/>
                  </p:nvSpPr>
                  <p:spPr bwMode="auto">
                    <a:xfrm>
                      <a:off x="298" y="8460"/>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08" name="Rectangle 160"/>
                    <p:cNvSpPr>
                      <a:spLocks noChangeArrowheads="1"/>
                    </p:cNvSpPr>
                    <p:nvPr/>
                  </p:nvSpPr>
                  <p:spPr bwMode="auto">
                    <a:xfrm>
                      <a:off x="255" y="8460"/>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09" name="Group 161"/>
                  <p:cNvGrpSpPr>
                    <a:grpSpLocks/>
                  </p:cNvGrpSpPr>
                  <p:nvPr/>
                </p:nvGrpSpPr>
                <p:grpSpPr bwMode="auto">
                  <a:xfrm>
                    <a:off x="551" y="8460"/>
                    <a:ext cx="296" cy="384"/>
                    <a:chOff x="551" y="8460"/>
                    <a:chExt cx="296" cy="384"/>
                  </a:xfrm>
                </p:grpSpPr>
                <p:sp>
                  <p:nvSpPr>
                    <p:cNvPr id="719010" name="Rectangle 162"/>
                    <p:cNvSpPr>
                      <a:spLocks noChangeArrowheads="1"/>
                    </p:cNvSpPr>
                    <p:nvPr/>
                  </p:nvSpPr>
                  <p:spPr bwMode="auto">
                    <a:xfrm>
                      <a:off x="594" y="8460"/>
                      <a:ext cx="210"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11" name="Rectangle 163"/>
                    <p:cNvSpPr>
                      <a:spLocks noChangeArrowheads="1"/>
                    </p:cNvSpPr>
                    <p:nvPr/>
                  </p:nvSpPr>
                  <p:spPr bwMode="auto">
                    <a:xfrm>
                      <a:off x="551" y="8460"/>
                      <a:ext cx="296"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719012" name="Rectangle 164"/>
                <p:cNvSpPr>
                  <a:spLocks noChangeArrowheads="1"/>
                </p:cNvSpPr>
                <p:nvPr/>
              </p:nvSpPr>
              <p:spPr bwMode="auto">
                <a:xfrm>
                  <a:off x="-3" y="7305"/>
                  <a:ext cx="853" cy="1542"/>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719013" name="Rectangle 165"/>
              <p:cNvSpPr>
                <a:spLocks noChangeArrowheads="1"/>
              </p:cNvSpPr>
              <p:nvPr/>
            </p:nvSpPr>
            <p:spPr bwMode="auto">
              <a:xfrm>
                <a:off x="4752" y="384"/>
                <a:ext cx="1008" cy="1968"/>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endParaRPr lang="zh-CN" altLang="en-US"/>
              </a:p>
            </p:txBody>
          </p:sp>
        </p:grpSp>
        <p:grpSp>
          <p:nvGrpSpPr>
            <p:cNvPr id="719014" name="Group 166"/>
            <p:cNvGrpSpPr>
              <a:grpSpLocks/>
            </p:cNvGrpSpPr>
            <p:nvPr/>
          </p:nvGrpSpPr>
          <p:grpSpPr bwMode="auto">
            <a:xfrm>
              <a:off x="1134" y="384"/>
              <a:ext cx="882" cy="1968"/>
              <a:chOff x="1134" y="384"/>
              <a:chExt cx="882" cy="1968"/>
            </a:xfrm>
          </p:grpSpPr>
          <p:grpSp>
            <p:nvGrpSpPr>
              <p:cNvPr id="719015" name="Group 167"/>
              <p:cNvGrpSpPr>
                <a:grpSpLocks/>
              </p:cNvGrpSpPr>
              <p:nvPr/>
            </p:nvGrpSpPr>
            <p:grpSpPr bwMode="auto">
              <a:xfrm>
                <a:off x="1134" y="384"/>
                <a:ext cx="876" cy="1955"/>
                <a:chOff x="-3" y="1920"/>
                <a:chExt cx="769" cy="1542"/>
              </a:xfrm>
            </p:grpSpPr>
            <p:grpSp>
              <p:nvGrpSpPr>
                <p:cNvPr id="719016" name="Group 168"/>
                <p:cNvGrpSpPr>
                  <a:grpSpLocks/>
                </p:cNvGrpSpPr>
                <p:nvPr/>
              </p:nvGrpSpPr>
              <p:grpSpPr bwMode="auto">
                <a:xfrm>
                  <a:off x="0" y="1923"/>
                  <a:ext cx="763" cy="1536"/>
                  <a:chOff x="0" y="1923"/>
                  <a:chExt cx="763" cy="1536"/>
                </a:xfrm>
              </p:grpSpPr>
              <p:grpSp>
                <p:nvGrpSpPr>
                  <p:cNvPr id="719017" name="Group 169"/>
                  <p:cNvGrpSpPr>
                    <a:grpSpLocks/>
                  </p:cNvGrpSpPr>
                  <p:nvPr/>
                </p:nvGrpSpPr>
                <p:grpSpPr bwMode="auto">
                  <a:xfrm>
                    <a:off x="0" y="1923"/>
                    <a:ext cx="255" cy="384"/>
                    <a:chOff x="0" y="1923"/>
                    <a:chExt cx="255" cy="384"/>
                  </a:xfrm>
                </p:grpSpPr>
                <p:sp>
                  <p:nvSpPr>
                    <p:cNvPr id="719018" name="Rectangle 170"/>
                    <p:cNvSpPr>
                      <a:spLocks noChangeArrowheads="1"/>
                    </p:cNvSpPr>
                    <p:nvPr/>
                  </p:nvSpPr>
                  <p:spPr bwMode="auto">
                    <a:xfrm>
                      <a:off x="43" y="1923"/>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1"/>
                          </a:solidFill>
                        </a:rPr>
                        <a:t>B</a:t>
                      </a:r>
                    </a:p>
                    <a:p>
                      <a:pPr algn="ctr" eaLnBrk="0" hangingPunct="0">
                        <a:lnSpc>
                          <a:spcPct val="100000"/>
                        </a:lnSpc>
                        <a:spcBef>
                          <a:spcPct val="0"/>
                        </a:spcBef>
                      </a:pPr>
                      <a:endParaRPr lang="en-US" altLang="zh-CN" sz="3600" b="1">
                        <a:solidFill>
                          <a:schemeClr val="bg1"/>
                        </a:solidFill>
                        <a:latin typeface="Times New Roman" pitchFamily="18" charset="0"/>
                      </a:endParaRPr>
                    </a:p>
                  </p:txBody>
                </p:sp>
                <p:sp>
                  <p:nvSpPr>
                    <p:cNvPr id="719019" name="Rectangle 171"/>
                    <p:cNvSpPr>
                      <a:spLocks noChangeArrowheads="1"/>
                    </p:cNvSpPr>
                    <p:nvPr/>
                  </p:nvSpPr>
                  <p:spPr bwMode="auto">
                    <a:xfrm>
                      <a:off x="0" y="1923"/>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20" name="Group 172"/>
                  <p:cNvGrpSpPr>
                    <a:grpSpLocks/>
                  </p:cNvGrpSpPr>
                  <p:nvPr/>
                </p:nvGrpSpPr>
                <p:grpSpPr bwMode="auto">
                  <a:xfrm>
                    <a:off x="255" y="1923"/>
                    <a:ext cx="254" cy="384"/>
                    <a:chOff x="255" y="1923"/>
                    <a:chExt cx="254" cy="384"/>
                  </a:xfrm>
                </p:grpSpPr>
                <p:sp>
                  <p:nvSpPr>
                    <p:cNvPr id="719021" name="Rectangle 173"/>
                    <p:cNvSpPr>
                      <a:spLocks noChangeArrowheads="1"/>
                    </p:cNvSpPr>
                    <p:nvPr/>
                  </p:nvSpPr>
                  <p:spPr bwMode="auto">
                    <a:xfrm>
                      <a:off x="298" y="1923"/>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1"/>
                          </a:solidFill>
                        </a:rPr>
                        <a:t>C</a:t>
                      </a:r>
                    </a:p>
                    <a:p>
                      <a:pPr algn="ctr" eaLnBrk="0" hangingPunct="0">
                        <a:lnSpc>
                          <a:spcPct val="100000"/>
                        </a:lnSpc>
                        <a:spcBef>
                          <a:spcPct val="0"/>
                        </a:spcBef>
                      </a:pPr>
                      <a:endParaRPr lang="en-US" altLang="zh-CN" sz="3600" b="1">
                        <a:solidFill>
                          <a:schemeClr val="bg1"/>
                        </a:solidFill>
                        <a:latin typeface="Times New Roman" pitchFamily="18" charset="0"/>
                      </a:endParaRPr>
                    </a:p>
                  </p:txBody>
                </p:sp>
                <p:sp>
                  <p:nvSpPr>
                    <p:cNvPr id="719022" name="Rectangle 174"/>
                    <p:cNvSpPr>
                      <a:spLocks noChangeArrowheads="1"/>
                    </p:cNvSpPr>
                    <p:nvPr/>
                  </p:nvSpPr>
                  <p:spPr bwMode="auto">
                    <a:xfrm>
                      <a:off x="255" y="1923"/>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23" name="Group 175"/>
                  <p:cNvGrpSpPr>
                    <a:grpSpLocks/>
                  </p:cNvGrpSpPr>
                  <p:nvPr/>
                </p:nvGrpSpPr>
                <p:grpSpPr bwMode="auto">
                  <a:xfrm>
                    <a:off x="509" y="1923"/>
                    <a:ext cx="254" cy="384"/>
                    <a:chOff x="509" y="1923"/>
                    <a:chExt cx="254" cy="384"/>
                  </a:xfrm>
                </p:grpSpPr>
                <p:sp>
                  <p:nvSpPr>
                    <p:cNvPr id="719024" name="Rectangle 176"/>
                    <p:cNvSpPr>
                      <a:spLocks noChangeArrowheads="1"/>
                    </p:cNvSpPr>
                    <p:nvPr/>
                  </p:nvSpPr>
                  <p:spPr bwMode="auto">
                    <a:xfrm>
                      <a:off x="552" y="1923"/>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25" name="Rectangle 177"/>
                    <p:cNvSpPr>
                      <a:spLocks noChangeArrowheads="1"/>
                    </p:cNvSpPr>
                    <p:nvPr/>
                  </p:nvSpPr>
                  <p:spPr bwMode="auto">
                    <a:xfrm>
                      <a:off x="509" y="1923"/>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26" name="Group 178"/>
                  <p:cNvGrpSpPr>
                    <a:grpSpLocks/>
                  </p:cNvGrpSpPr>
                  <p:nvPr/>
                </p:nvGrpSpPr>
                <p:grpSpPr bwMode="auto">
                  <a:xfrm>
                    <a:off x="0" y="2307"/>
                    <a:ext cx="255" cy="384"/>
                    <a:chOff x="0" y="2307"/>
                    <a:chExt cx="255" cy="384"/>
                  </a:xfrm>
                </p:grpSpPr>
                <p:sp>
                  <p:nvSpPr>
                    <p:cNvPr id="719027" name="Rectangle 179"/>
                    <p:cNvSpPr>
                      <a:spLocks noChangeArrowheads="1"/>
                    </p:cNvSpPr>
                    <p:nvPr/>
                  </p:nvSpPr>
                  <p:spPr bwMode="auto">
                    <a:xfrm>
                      <a:off x="43" y="2307"/>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28" name="Rectangle 180"/>
                    <p:cNvSpPr>
                      <a:spLocks noChangeArrowheads="1"/>
                    </p:cNvSpPr>
                    <p:nvPr/>
                  </p:nvSpPr>
                  <p:spPr bwMode="auto">
                    <a:xfrm>
                      <a:off x="0" y="2307"/>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29" name="Group 181"/>
                  <p:cNvGrpSpPr>
                    <a:grpSpLocks/>
                  </p:cNvGrpSpPr>
                  <p:nvPr/>
                </p:nvGrpSpPr>
                <p:grpSpPr bwMode="auto">
                  <a:xfrm>
                    <a:off x="255" y="2307"/>
                    <a:ext cx="254" cy="384"/>
                    <a:chOff x="255" y="2307"/>
                    <a:chExt cx="254" cy="384"/>
                  </a:xfrm>
                </p:grpSpPr>
                <p:sp>
                  <p:nvSpPr>
                    <p:cNvPr id="719030" name="Rectangle 182"/>
                    <p:cNvSpPr>
                      <a:spLocks noChangeArrowheads="1"/>
                    </p:cNvSpPr>
                    <p:nvPr/>
                  </p:nvSpPr>
                  <p:spPr bwMode="auto">
                    <a:xfrm>
                      <a:off x="298" y="2307"/>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31" name="Rectangle 183"/>
                    <p:cNvSpPr>
                      <a:spLocks noChangeArrowheads="1"/>
                    </p:cNvSpPr>
                    <p:nvPr/>
                  </p:nvSpPr>
                  <p:spPr bwMode="auto">
                    <a:xfrm>
                      <a:off x="255" y="2307"/>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32" name="Group 184"/>
                  <p:cNvGrpSpPr>
                    <a:grpSpLocks/>
                  </p:cNvGrpSpPr>
                  <p:nvPr/>
                </p:nvGrpSpPr>
                <p:grpSpPr bwMode="auto">
                  <a:xfrm>
                    <a:off x="509" y="2307"/>
                    <a:ext cx="254" cy="384"/>
                    <a:chOff x="509" y="2307"/>
                    <a:chExt cx="254" cy="384"/>
                  </a:xfrm>
                </p:grpSpPr>
                <p:sp>
                  <p:nvSpPr>
                    <p:cNvPr id="719033" name="Rectangle 185"/>
                    <p:cNvSpPr>
                      <a:spLocks noChangeArrowheads="1"/>
                    </p:cNvSpPr>
                    <p:nvPr/>
                  </p:nvSpPr>
                  <p:spPr bwMode="auto">
                    <a:xfrm>
                      <a:off x="552" y="2307"/>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34" name="Rectangle 186"/>
                    <p:cNvSpPr>
                      <a:spLocks noChangeArrowheads="1"/>
                    </p:cNvSpPr>
                    <p:nvPr/>
                  </p:nvSpPr>
                  <p:spPr bwMode="auto">
                    <a:xfrm>
                      <a:off x="509" y="2307"/>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35" name="Group 187"/>
                  <p:cNvGrpSpPr>
                    <a:grpSpLocks/>
                  </p:cNvGrpSpPr>
                  <p:nvPr/>
                </p:nvGrpSpPr>
                <p:grpSpPr bwMode="auto">
                  <a:xfrm>
                    <a:off x="0" y="2691"/>
                    <a:ext cx="255" cy="384"/>
                    <a:chOff x="0" y="2691"/>
                    <a:chExt cx="255" cy="384"/>
                  </a:xfrm>
                </p:grpSpPr>
                <p:sp>
                  <p:nvSpPr>
                    <p:cNvPr id="719036" name="Rectangle 188"/>
                    <p:cNvSpPr>
                      <a:spLocks noChangeArrowheads="1"/>
                    </p:cNvSpPr>
                    <p:nvPr/>
                  </p:nvSpPr>
                  <p:spPr bwMode="auto">
                    <a:xfrm>
                      <a:off x="43" y="2691"/>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37" name="Rectangle 189"/>
                    <p:cNvSpPr>
                      <a:spLocks noChangeArrowheads="1"/>
                    </p:cNvSpPr>
                    <p:nvPr/>
                  </p:nvSpPr>
                  <p:spPr bwMode="auto">
                    <a:xfrm>
                      <a:off x="0" y="2691"/>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38" name="Group 190"/>
                  <p:cNvGrpSpPr>
                    <a:grpSpLocks/>
                  </p:cNvGrpSpPr>
                  <p:nvPr/>
                </p:nvGrpSpPr>
                <p:grpSpPr bwMode="auto">
                  <a:xfrm>
                    <a:off x="255" y="2691"/>
                    <a:ext cx="254" cy="384"/>
                    <a:chOff x="255" y="2691"/>
                    <a:chExt cx="254" cy="384"/>
                  </a:xfrm>
                </p:grpSpPr>
                <p:sp>
                  <p:nvSpPr>
                    <p:cNvPr id="719039" name="Rectangle 191"/>
                    <p:cNvSpPr>
                      <a:spLocks noChangeArrowheads="1"/>
                    </p:cNvSpPr>
                    <p:nvPr/>
                  </p:nvSpPr>
                  <p:spPr bwMode="auto">
                    <a:xfrm>
                      <a:off x="298" y="2691"/>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40" name="Rectangle 192"/>
                    <p:cNvSpPr>
                      <a:spLocks noChangeArrowheads="1"/>
                    </p:cNvSpPr>
                    <p:nvPr/>
                  </p:nvSpPr>
                  <p:spPr bwMode="auto">
                    <a:xfrm>
                      <a:off x="255" y="2691"/>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41" name="Group 193"/>
                  <p:cNvGrpSpPr>
                    <a:grpSpLocks/>
                  </p:cNvGrpSpPr>
                  <p:nvPr/>
                </p:nvGrpSpPr>
                <p:grpSpPr bwMode="auto">
                  <a:xfrm>
                    <a:off x="509" y="2691"/>
                    <a:ext cx="254" cy="384"/>
                    <a:chOff x="509" y="2691"/>
                    <a:chExt cx="254" cy="384"/>
                  </a:xfrm>
                </p:grpSpPr>
                <p:sp>
                  <p:nvSpPr>
                    <p:cNvPr id="719042" name="Rectangle 194"/>
                    <p:cNvSpPr>
                      <a:spLocks noChangeArrowheads="1"/>
                    </p:cNvSpPr>
                    <p:nvPr/>
                  </p:nvSpPr>
                  <p:spPr bwMode="auto">
                    <a:xfrm>
                      <a:off x="552" y="2691"/>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e</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43" name="Rectangle 195"/>
                    <p:cNvSpPr>
                      <a:spLocks noChangeArrowheads="1"/>
                    </p:cNvSpPr>
                    <p:nvPr/>
                  </p:nvSpPr>
                  <p:spPr bwMode="auto">
                    <a:xfrm>
                      <a:off x="509" y="2691"/>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44" name="Group 196"/>
                  <p:cNvGrpSpPr>
                    <a:grpSpLocks/>
                  </p:cNvGrpSpPr>
                  <p:nvPr/>
                </p:nvGrpSpPr>
                <p:grpSpPr bwMode="auto">
                  <a:xfrm>
                    <a:off x="0" y="3075"/>
                    <a:ext cx="255" cy="384"/>
                    <a:chOff x="0" y="3075"/>
                    <a:chExt cx="255" cy="384"/>
                  </a:xfrm>
                </p:grpSpPr>
                <p:sp>
                  <p:nvSpPr>
                    <p:cNvPr id="719045" name="Rectangle 197"/>
                    <p:cNvSpPr>
                      <a:spLocks noChangeArrowheads="1"/>
                    </p:cNvSpPr>
                    <p:nvPr/>
                  </p:nvSpPr>
                  <p:spPr bwMode="auto">
                    <a:xfrm>
                      <a:off x="43" y="3075"/>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a</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46" name="Rectangle 198"/>
                    <p:cNvSpPr>
                      <a:spLocks noChangeArrowheads="1"/>
                    </p:cNvSpPr>
                    <p:nvPr/>
                  </p:nvSpPr>
                  <p:spPr bwMode="auto">
                    <a:xfrm>
                      <a:off x="0" y="3075"/>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47" name="Group 199"/>
                  <p:cNvGrpSpPr>
                    <a:grpSpLocks/>
                  </p:cNvGrpSpPr>
                  <p:nvPr/>
                </p:nvGrpSpPr>
                <p:grpSpPr bwMode="auto">
                  <a:xfrm>
                    <a:off x="255" y="3075"/>
                    <a:ext cx="254" cy="384"/>
                    <a:chOff x="255" y="3075"/>
                    <a:chExt cx="254" cy="384"/>
                  </a:xfrm>
                </p:grpSpPr>
                <p:sp>
                  <p:nvSpPr>
                    <p:cNvPr id="719048" name="Rectangle 200"/>
                    <p:cNvSpPr>
                      <a:spLocks noChangeArrowheads="1"/>
                    </p:cNvSpPr>
                    <p:nvPr/>
                  </p:nvSpPr>
                  <p:spPr bwMode="auto">
                    <a:xfrm>
                      <a:off x="298" y="3075"/>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49" name="Rectangle 201"/>
                    <p:cNvSpPr>
                      <a:spLocks noChangeArrowheads="1"/>
                    </p:cNvSpPr>
                    <p:nvPr/>
                  </p:nvSpPr>
                  <p:spPr bwMode="auto">
                    <a:xfrm>
                      <a:off x="255" y="3075"/>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50" name="Group 202"/>
                  <p:cNvGrpSpPr>
                    <a:grpSpLocks/>
                  </p:cNvGrpSpPr>
                  <p:nvPr/>
                </p:nvGrpSpPr>
                <p:grpSpPr bwMode="auto">
                  <a:xfrm>
                    <a:off x="509" y="3075"/>
                    <a:ext cx="254" cy="384"/>
                    <a:chOff x="509" y="3075"/>
                    <a:chExt cx="254" cy="384"/>
                  </a:xfrm>
                </p:grpSpPr>
                <p:sp>
                  <p:nvSpPr>
                    <p:cNvPr id="719051" name="Rectangle 203"/>
                    <p:cNvSpPr>
                      <a:spLocks noChangeArrowheads="1"/>
                    </p:cNvSpPr>
                    <p:nvPr/>
                  </p:nvSpPr>
                  <p:spPr bwMode="auto">
                    <a:xfrm>
                      <a:off x="552" y="3075"/>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52" name="Rectangle 204"/>
                    <p:cNvSpPr>
                      <a:spLocks noChangeArrowheads="1"/>
                    </p:cNvSpPr>
                    <p:nvPr/>
                  </p:nvSpPr>
                  <p:spPr bwMode="auto">
                    <a:xfrm>
                      <a:off x="509" y="3075"/>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719053" name="Rectangle 205"/>
                <p:cNvSpPr>
                  <a:spLocks noChangeArrowheads="1"/>
                </p:cNvSpPr>
                <p:nvPr/>
              </p:nvSpPr>
              <p:spPr bwMode="auto">
                <a:xfrm>
                  <a:off x="-3" y="1920"/>
                  <a:ext cx="769" cy="1542"/>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719054" name="Rectangle 206"/>
              <p:cNvSpPr>
                <a:spLocks noChangeArrowheads="1"/>
              </p:cNvSpPr>
              <p:nvPr/>
            </p:nvSpPr>
            <p:spPr bwMode="auto">
              <a:xfrm>
                <a:off x="1152" y="384"/>
                <a:ext cx="864" cy="1968"/>
              </a:xfrm>
              <a:prstGeom prst="rect">
                <a:avLst/>
              </a:prstGeom>
              <a:noFill/>
              <a:ln w="9525">
                <a:solidFill>
                  <a:schemeClr val="tx2"/>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nvGrpSpPr>
            <p:cNvPr id="719055" name="Group 207"/>
            <p:cNvGrpSpPr>
              <a:grpSpLocks/>
            </p:cNvGrpSpPr>
            <p:nvPr/>
          </p:nvGrpSpPr>
          <p:grpSpPr bwMode="auto">
            <a:xfrm>
              <a:off x="96" y="384"/>
              <a:ext cx="912" cy="2448"/>
              <a:chOff x="96" y="384"/>
              <a:chExt cx="912" cy="2448"/>
            </a:xfrm>
          </p:grpSpPr>
          <p:grpSp>
            <p:nvGrpSpPr>
              <p:cNvPr id="719056" name="Group 208"/>
              <p:cNvGrpSpPr>
                <a:grpSpLocks/>
              </p:cNvGrpSpPr>
              <p:nvPr/>
            </p:nvGrpSpPr>
            <p:grpSpPr bwMode="auto">
              <a:xfrm>
                <a:off x="96" y="384"/>
                <a:ext cx="875" cy="2441"/>
                <a:chOff x="-3" y="-3"/>
                <a:chExt cx="769" cy="1926"/>
              </a:xfrm>
            </p:grpSpPr>
            <p:grpSp>
              <p:nvGrpSpPr>
                <p:cNvPr id="719057" name="Group 209"/>
                <p:cNvGrpSpPr>
                  <a:grpSpLocks/>
                </p:cNvGrpSpPr>
                <p:nvPr/>
              </p:nvGrpSpPr>
              <p:grpSpPr bwMode="auto">
                <a:xfrm>
                  <a:off x="0" y="0"/>
                  <a:ext cx="763" cy="1920"/>
                  <a:chOff x="0" y="0"/>
                  <a:chExt cx="763" cy="1920"/>
                </a:xfrm>
              </p:grpSpPr>
              <p:grpSp>
                <p:nvGrpSpPr>
                  <p:cNvPr id="719058" name="Group 210"/>
                  <p:cNvGrpSpPr>
                    <a:grpSpLocks/>
                  </p:cNvGrpSpPr>
                  <p:nvPr/>
                </p:nvGrpSpPr>
                <p:grpSpPr bwMode="auto">
                  <a:xfrm>
                    <a:off x="0" y="0"/>
                    <a:ext cx="255" cy="384"/>
                    <a:chOff x="0" y="0"/>
                    <a:chExt cx="255" cy="384"/>
                  </a:xfrm>
                </p:grpSpPr>
                <p:sp>
                  <p:nvSpPr>
                    <p:cNvPr id="719059" name="Rectangle 211"/>
                    <p:cNvSpPr>
                      <a:spLocks noChangeArrowheads="1"/>
                    </p:cNvSpPr>
                    <p:nvPr/>
                  </p:nvSpPr>
                  <p:spPr bwMode="auto">
                    <a:xfrm>
                      <a:off x="43" y="0"/>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A</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60" name="Rectangle 212"/>
                    <p:cNvSpPr>
                      <a:spLocks noChangeArrowheads="1"/>
                    </p:cNvSpPr>
                    <p:nvPr/>
                  </p:nvSpPr>
                  <p:spPr bwMode="auto">
                    <a:xfrm>
                      <a:off x="0" y="0"/>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61" name="Group 213"/>
                  <p:cNvGrpSpPr>
                    <a:grpSpLocks/>
                  </p:cNvGrpSpPr>
                  <p:nvPr/>
                </p:nvGrpSpPr>
                <p:grpSpPr bwMode="auto">
                  <a:xfrm>
                    <a:off x="255" y="0"/>
                    <a:ext cx="254" cy="384"/>
                    <a:chOff x="255" y="0"/>
                    <a:chExt cx="254" cy="384"/>
                  </a:xfrm>
                </p:grpSpPr>
                <p:sp>
                  <p:nvSpPr>
                    <p:cNvPr id="719062" name="Rectangle 214"/>
                    <p:cNvSpPr>
                      <a:spLocks noChangeArrowheads="1"/>
                    </p:cNvSpPr>
                    <p:nvPr/>
                  </p:nvSpPr>
                  <p:spPr bwMode="auto">
                    <a:xfrm>
                      <a:off x="298" y="0"/>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1"/>
                          </a:solidFill>
                        </a:rPr>
                        <a:t>B</a:t>
                      </a:r>
                    </a:p>
                    <a:p>
                      <a:pPr algn="ctr" eaLnBrk="0" hangingPunct="0">
                        <a:lnSpc>
                          <a:spcPct val="100000"/>
                        </a:lnSpc>
                        <a:spcBef>
                          <a:spcPct val="0"/>
                        </a:spcBef>
                      </a:pPr>
                      <a:endParaRPr lang="en-US" altLang="zh-CN" sz="3600" b="1">
                        <a:solidFill>
                          <a:schemeClr val="bg1"/>
                        </a:solidFill>
                        <a:latin typeface="Times New Roman" pitchFamily="18" charset="0"/>
                      </a:endParaRPr>
                    </a:p>
                  </p:txBody>
                </p:sp>
                <p:sp>
                  <p:nvSpPr>
                    <p:cNvPr id="719063" name="Rectangle 215"/>
                    <p:cNvSpPr>
                      <a:spLocks noChangeArrowheads="1"/>
                    </p:cNvSpPr>
                    <p:nvPr/>
                  </p:nvSpPr>
                  <p:spPr bwMode="auto">
                    <a:xfrm>
                      <a:off x="255" y="0"/>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64" name="Group 216"/>
                  <p:cNvGrpSpPr>
                    <a:grpSpLocks/>
                  </p:cNvGrpSpPr>
                  <p:nvPr/>
                </p:nvGrpSpPr>
                <p:grpSpPr bwMode="auto">
                  <a:xfrm>
                    <a:off x="509" y="0"/>
                    <a:ext cx="254" cy="384"/>
                    <a:chOff x="509" y="0"/>
                    <a:chExt cx="254" cy="384"/>
                  </a:xfrm>
                </p:grpSpPr>
                <p:sp>
                  <p:nvSpPr>
                    <p:cNvPr id="719065" name="Rectangle 217"/>
                    <p:cNvSpPr>
                      <a:spLocks noChangeArrowheads="1"/>
                    </p:cNvSpPr>
                    <p:nvPr/>
                  </p:nvSpPr>
                  <p:spPr bwMode="auto">
                    <a:xfrm>
                      <a:off x="552" y="0"/>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1"/>
                          </a:solidFill>
                        </a:rPr>
                        <a:t>C</a:t>
                      </a:r>
                    </a:p>
                    <a:p>
                      <a:pPr algn="ctr" eaLnBrk="0" hangingPunct="0">
                        <a:lnSpc>
                          <a:spcPct val="100000"/>
                        </a:lnSpc>
                        <a:spcBef>
                          <a:spcPct val="0"/>
                        </a:spcBef>
                      </a:pPr>
                      <a:endParaRPr lang="en-US" altLang="zh-CN" sz="3600" b="1">
                        <a:solidFill>
                          <a:schemeClr val="bg1"/>
                        </a:solidFill>
                        <a:latin typeface="Times New Roman" pitchFamily="18" charset="0"/>
                      </a:endParaRPr>
                    </a:p>
                  </p:txBody>
                </p:sp>
                <p:sp>
                  <p:nvSpPr>
                    <p:cNvPr id="719066" name="Rectangle 218"/>
                    <p:cNvSpPr>
                      <a:spLocks noChangeArrowheads="1"/>
                    </p:cNvSpPr>
                    <p:nvPr/>
                  </p:nvSpPr>
                  <p:spPr bwMode="auto">
                    <a:xfrm>
                      <a:off x="509" y="0"/>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67" name="Group 219"/>
                  <p:cNvGrpSpPr>
                    <a:grpSpLocks/>
                  </p:cNvGrpSpPr>
                  <p:nvPr/>
                </p:nvGrpSpPr>
                <p:grpSpPr bwMode="auto">
                  <a:xfrm>
                    <a:off x="0" y="384"/>
                    <a:ext cx="255" cy="384"/>
                    <a:chOff x="0" y="384"/>
                    <a:chExt cx="255" cy="384"/>
                  </a:xfrm>
                </p:grpSpPr>
                <p:sp>
                  <p:nvSpPr>
                    <p:cNvPr id="719068" name="Rectangle 220"/>
                    <p:cNvSpPr>
                      <a:spLocks noChangeArrowheads="1"/>
                    </p:cNvSpPr>
                    <p:nvPr/>
                  </p:nvSpPr>
                  <p:spPr bwMode="auto">
                    <a:xfrm>
                      <a:off x="43" y="384"/>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a</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69" name="Rectangle 221"/>
                    <p:cNvSpPr>
                      <a:spLocks noChangeArrowheads="1"/>
                    </p:cNvSpPr>
                    <p:nvPr/>
                  </p:nvSpPr>
                  <p:spPr bwMode="auto">
                    <a:xfrm>
                      <a:off x="0" y="384"/>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70" name="Group 222"/>
                  <p:cNvGrpSpPr>
                    <a:grpSpLocks/>
                  </p:cNvGrpSpPr>
                  <p:nvPr/>
                </p:nvGrpSpPr>
                <p:grpSpPr bwMode="auto">
                  <a:xfrm>
                    <a:off x="255" y="384"/>
                    <a:ext cx="254" cy="384"/>
                    <a:chOff x="255" y="384"/>
                    <a:chExt cx="254" cy="384"/>
                  </a:xfrm>
                </p:grpSpPr>
                <p:sp>
                  <p:nvSpPr>
                    <p:cNvPr id="719071" name="Rectangle 223"/>
                    <p:cNvSpPr>
                      <a:spLocks noChangeArrowheads="1"/>
                    </p:cNvSpPr>
                    <p:nvPr/>
                  </p:nvSpPr>
                  <p:spPr bwMode="auto">
                    <a:xfrm>
                      <a:off x="298" y="384"/>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72" name="Rectangle 224"/>
                    <p:cNvSpPr>
                      <a:spLocks noChangeArrowheads="1"/>
                    </p:cNvSpPr>
                    <p:nvPr/>
                  </p:nvSpPr>
                  <p:spPr bwMode="auto">
                    <a:xfrm>
                      <a:off x="255" y="384"/>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73" name="Group 225"/>
                  <p:cNvGrpSpPr>
                    <a:grpSpLocks/>
                  </p:cNvGrpSpPr>
                  <p:nvPr/>
                </p:nvGrpSpPr>
                <p:grpSpPr bwMode="auto">
                  <a:xfrm>
                    <a:off x="509" y="384"/>
                    <a:ext cx="254" cy="384"/>
                    <a:chOff x="509" y="384"/>
                    <a:chExt cx="254" cy="384"/>
                  </a:xfrm>
                </p:grpSpPr>
                <p:sp>
                  <p:nvSpPr>
                    <p:cNvPr id="719074" name="Rectangle 226"/>
                    <p:cNvSpPr>
                      <a:spLocks noChangeArrowheads="1"/>
                    </p:cNvSpPr>
                    <p:nvPr/>
                  </p:nvSpPr>
                  <p:spPr bwMode="auto">
                    <a:xfrm>
                      <a:off x="552" y="384"/>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75" name="Rectangle 227"/>
                    <p:cNvSpPr>
                      <a:spLocks noChangeArrowheads="1"/>
                    </p:cNvSpPr>
                    <p:nvPr/>
                  </p:nvSpPr>
                  <p:spPr bwMode="auto">
                    <a:xfrm>
                      <a:off x="509" y="384"/>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76" name="Group 228"/>
                  <p:cNvGrpSpPr>
                    <a:grpSpLocks/>
                  </p:cNvGrpSpPr>
                  <p:nvPr/>
                </p:nvGrpSpPr>
                <p:grpSpPr bwMode="auto">
                  <a:xfrm>
                    <a:off x="0" y="768"/>
                    <a:ext cx="255" cy="384"/>
                    <a:chOff x="0" y="768"/>
                    <a:chExt cx="255" cy="384"/>
                  </a:xfrm>
                </p:grpSpPr>
                <p:sp>
                  <p:nvSpPr>
                    <p:cNvPr id="719077" name="Rectangle 229"/>
                    <p:cNvSpPr>
                      <a:spLocks noChangeArrowheads="1"/>
                    </p:cNvSpPr>
                    <p:nvPr/>
                  </p:nvSpPr>
                  <p:spPr bwMode="auto">
                    <a:xfrm>
                      <a:off x="43" y="768"/>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78" name="Rectangle 230"/>
                    <p:cNvSpPr>
                      <a:spLocks noChangeArrowheads="1"/>
                    </p:cNvSpPr>
                    <p:nvPr/>
                  </p:nvSpPr>
                  <p:spPr bwMode="auto">
                    <a:xfrm>
                      <a:off x="0" y="768"/>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79" name="Group 231"/>
                  <p:cNvGrpSpPr>
                    <a:grpSpLocks/>
                  </p:cNvGrpSpPr>
                  <p:nvPr/>
                </p:nvGrpSpPr>
                <p:grpSpPr bwMode="auto">
                  <a:xfrm>
                    <a:off x="255" y="768"/>
                    <a:ext cx="254" cy="384"/>
                    <a:chOff x="255" y="768"/>
                    <a:chExt cx="254" cy="384"/>
                  </a:xfrm>
                </p:grpSpPr>
                <p:sp>
                  <p:nvSpPr>
                    <p:cNvPr id="719080" name="Rectangle 232"/>
                    <p:cNvSpPr>
                      <a:spLocks noChangeArrowheads="1"/>
                    </p:cNvSpPr>
                    <p:nvPr/>
                  </p:nvSpPr>
                  <p:spPr bwMode="auto">
                    <a:xfrm>
                      <a:off x="298" y="768"/>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81" name="Rectangle 233"/>
                    <p:cNvSpPr>
                      <a:spLocks noChangeArrowheads="1"/>
                    </p:cNvSpPr>
                    <p:nvPr/>
                  </p:nvSpPr>
                  <p:spPr bwMode="auto">
                    <a:xfrm>
                      <a:off x="255" y="768"/>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82" name="Group 234"/>
                  <p:cNvGrpSpPr>
                    <a:grpSpLocks/>
                  </p:cNvGrpSpPr>
                  <p:nvPr/>
                </p:nvGrpSpPr>
                <p:grpSpPr bwMode="auto">
                  <a:xfrm>
                    <a:off x="509" y="768"/>
                    <a:ext cx="254" cy="384"/>
                    <a:chOff x="509" y="768"/>
                    <a:chExt cx="254" cy="384"/>
                  </a:xfrm>
                </p:grpSpPr>
                <p:sp>
                  <p:nvSpPr>
                    <p:cNvPr id="719083" name="Rectangle 235"/>
                    <p:cNvSpPr>
                      <a:spLocks noChangeArrowheads="1"/>
                    </p:cNvSpPr>
                    <p:nvPr/>
                  </p:nvSpPr>
                  <p:spPr bwMode="auto">
                    <a:xfrm>
                      <a:off x="552" y="768"/>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84" name="Rectangle 236"/>
                    <p:cNvSpPr>
                      <a:spLocks noChangeArrowheads="1"/>
                    </p:cNvSpPr>
                    <p:nvPr/>
                  </p:nvSpPr>
                  <p:spPr bwMode="auto">
                    <a:xfrm>
                      <a:off x="509" y="768"/>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85" name="Group 237"/>
                  <p:cNvGrpSpPr>
                    <a:grpSpLocks/>
                  </p:cNvGrpSpPr>
                  <p:nvPr/>
                </p:nvGrpSpPr>
                <p:grpSpPr bwMode="auto">
                  <a:xfrm>
                    <a:off x="0" y="1152"/>
                    <a:ext cx="255" cy="384"/>
                    <a:chOff x="0" y="1152"/>
                    <a:chExt cx="255" cy="384"/>
                  </a:xfrm>
                </p:grpSpPr>
                <p:sp>
                  <p:nvSpPr>
                    <p:cNvPr id="719086" name="Rectangle 238"/>
                    <p:cNvSpPr>
                      <a:spLocks noChangeArrowheads="1"/>
                    </p:cNvSpPr>
                    <p:nvPr/>
                  </p:nvSpPr>
                  <p:spPr bwMode="auto">
                    <a:xfrm>
                      <a:off x="43" y="1152"/>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87" name="Rectangle 239"/>
                    <p:cNvSpPr>
                      <a:spLocks noChangeArrowheads="1"/>
                    </p:cNvSpPr>
                    <p:nvPr/>
                  </p:nvSpPr>
                  <p:spPr bwMode="auto">
                    <a:xfrm>
                      <a:off x="0" y="1152"/>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88" name="Group 240"/>
                  <p:cNvGrpSpPr>
                    <a:grpSpLocks/>
                  </p:cNvGrpSpPr>
                  <p:nvPr/>
                </p:nvGrpSpPr>
                <p:grpSpPr bwMode="auto">
                  <a:xfrm>
                    <a:off x="255" y="1152"/>
                    <a:ext cx="254" cy="384"/>
                    <a:chOff x="255" y="1152"/>
                    <a:chExt cx="254" cy="384"/>
                  </a:xfrm>
                </p:grpSpPr>
                <p:sp>
                  <p:nvSpPr>
                    <p:cNvPr id="719089" name="Rectangle 241"/>
                    <p:cNvSpPr>
                      <a:spLocks noChangeArrowheads="1"/>
                    </p:cNvSpPr>
                    <p:nvPr/>
                  </p:nvSpPr>
                  <p:spPr bwMode="auto">
                    <a:xfrm>
                      <a:off x="298" y="1152"/>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b</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90" name="Rectangle 242"/>
                    <p:cNvSpPr>
                      <a:spLocks noChangeArrowheads="1"/>
                    </p:cNvSpPr>
                    <p:nvPr/>
                  </p:nvSpPr>
                  <p:spPr bwMode="auto">
                    <a:xfrm>
                      <a:off x="255" y="1152"/>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91" name="Group 243"/>
                  <p:cNvGrpSpPr>
                    <a:grpSpLocks/>
                  </p:cNvGrpSpPr>
                  <p:nvPr/>
                </p:nvGrpSpPr>
                <p:grpSpPr bwMode="auto">
                  <a:xfrm>
                    <a:off x="509" y="1152"/>
                    <a:ext cx="254" cy="384"/>
                    <a:chOff x="509" y="1152"/>
                    <a:chExt cx="254" cy="384"/>
                  </a:xfrm>
                </p:grpSpPr>
                <p:sp>
                  <p:nvSpPr>
                    <p:cNvPr id="719092" name="Rectangle 244"/>
                    <p:cNvSpPr>
                      <a:spLocks noChangeArrowheads="1"/>
                    </p:cNvSpPr>
                    <p:nvPr/>
                  </p:nvSpPr>
                  <p:spPr bwMode="auto">
                    <a:xfrm>
                      <a:off x="552" y="1152"/>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f</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93" name="Rectangle 245"/>
                    <p:cNvSpPr>
                      <a:spLocks noChangeArrowheads="1"/>
                    </p:cNvSpPr>
                    <p:nvPr/>
                  </p:nvSpPr>
                  <p:spPr bwMode="auto">
                    <a:xfrm>
                      <a:off x="509" y="1152"/>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94" name="Group 246"/>
                  <p:cNvGrpSpPr>
                    <a:grpSpLocks/>
                  </p:cNvGrpSpPr>
                  <p:nvPr/>
                </p:nvGrpSpPr>
                <p:grpSpPr bwMode="auto">
                  <a:xfrm>
                    <a:off x="0" y="1536"/>
                    <a:ext cx="255" cy="384"/>
                    <a:chOff x="0" y="1536"/>
                    <a:chExt cx="255" cy="384"/>
                  </a:xfrm>
                </p:grpSpPr>
                <p:sp>
                  <p:nvSpPr>
                    <p:cNvPr id="719095" name="Rectangle 247"/>
                    <p:cNvSpPr>
                      <a:spLocks noChangeArrowheads="1"/>
                    </p:cNvSpPr>
                    <p:nvPr/>
                  </p:nvSpPr>
                  <p:spPr bwMode="auto">
                    <a:xfrm>
                      <a:off x="43" y="1536"/>
                      <a:ext cx="169"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c</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96" name="Rectangle 248"/>
                    <p:cNvSpPr>
                      <a:spLocks noChangeArrowheads="1"/>
                    </p:cNvSpPr>
                    <p:nvPr/>
                  </p:nvSpPr>
                  <p:spPr bwMode="auto">
                    <a:xfrm>
                      <a:off x="0" y="1536"/>
                      <a:ext cx="255"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097" name="Group 249"/>
                  <p:cNvGrpSpPr>
                    <a:grpSpLocks/>
                  </p:cNvGrpSpPr>
                  <p:nvPr/>
                </p:nvGrpSpPr>
                <p:grpSpPr bwMode="auto">
                  <a:xfrm>
                    <a:off x="255" y="1536"/>
                    <a:ext cx="254" cy="384"/>
                    <a:chOff x="255" y="1536"/>
                    <a:chExt cx="254" cy="384"/>
                  </a:xfrm>
                </p:grpSpPr>
                <p:sp>
                  <p:nvSpPr>
                    <p:cNvPr id="719098" name="Rectangle 250"/>
                    <p:cNvSpPr>
                      <a:spLocks noChangeArrowheads="1"/>
                    </p:cNvSpPr>
                    <p:nvPr/>
                  </p:nvSpPr>
                  <p:spPr bwMode="auto">
                    <a:xfrm>
                      <a:off x="298" y="1536"/>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a</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099" name="Rectangle 251"/>
                    <p:cNvSpPr>
                      <a:spLocks noChangeArrowheads="1"/>
                    </p:cNvSpPr>
                    <p:nvPr/>
                  </p:nvSpPr>
                  <p:spPr bwMode="auto">
                    <a:xfrm>
                      <a:off x="255" y="1536"/>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nvGrpSpPr>
                  <p:cNvPr id="719100" name="Group 252"/>
                  <p:cNvGrpSpPr>
                    <a:grpSpLocks/>
                  </p:cNvGrpSpPr>
                  <p:nvPr/>
                </p:nvGrpSpPr>
                <p:grpSpPr bwMode="auto">
                  <a:xfrm>
                    <a:off x="509" y="1536"/>
                    <a:ext cx="254" cy="384"/>
                    <a:chOff x="509" y="1536"/>
                    <a:chExt cx="254" cy="384"/>
                  </a:xfrm>
                </p:grpSpPr>
                <p:sp>
                  <p:nvSpPr>
                    <p:cNvPr id="719101" name="Rectangle 253"/>
                    <p:cNvSpPr>
                      <a:spLocks noChangeArrowheads="1"/>
                    </p:cNvSpPr>
                    <p:nvPr/>
                  </p:nvSpPr>
                  <p:spPr bwMode="auto">
                    <a:xfrm>
                      <a:off x="552" y="1536"/>
                      <a:ext cx="168" cy="38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ctr">
                        <a:lnSpc>
                          <a:spcPct val="100000"/>
                        </a:lnSpc>
                        <a:spcBef>
                          <a:spcPct val="0"/>
                        </a:spcBef>
                      </a:pPr>
                      <a:r>
                        <a:rPr lang="en-US" altLang="zh-CN" sz="3600" b="1">
                          <a:solidFill>
                            <a:schemeClr val="bg2"/>
                          </a:solidFill>
                        </a:rPr>
                        <a:t>d</a:t>
                      </a:r>
                    </a:p>
                    <a:p>
                      <a:pPr algn="ctr" eaLnBrk="0" hangingPunct="0">
                        <a:lnSpc>
                          <a:spcPct val="100000"/>
                        </a:lnSpc>
                        <a:spcBef>
                          <a:spcPct val="0"/>
                        </a:spcBef>
                      </a:pPr>
                      <a:endParaRPr lang="en-US" altLang="zh-CN" sz="3600" b="1">
                        <a:solidFill>
                          <a:schemeClr val="bg2"/>
                        </a:solidFill>
                        <a:latin typeface="Times New Roman" pitchFamily="18" charset="0"/>
                      </a:endParaRPr>
                    </a:p>
                  </p:txBody>
                </p:sp>
                <p:sp>
                  <p:nvSpPr>
                    <p:cNvPr id="719102" name="Rectangle 254"/>
                    <p:cNvSpPr>
                      <a:spLocks noChangeArrowheads="1"/>
                    </p:cNvSpPr>
                    <p:nvPr/>
                  </p:nvSpPr>
                  <p:spPr bwMode="auto">
                    <a:xfrm>
                      <a:off x="509" y="1536"/>
                      <a:ext cx="254" cy="384"/>
                    </a:xfrm>
                    <a:prstGeom prst="rect">
                      <a:avLst/>
                    </a:prstGeom>
                    <a:noFill/>
                    <a:ln w="7">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grpSp>
            <p:sp>
              <p:nvSpPr>
                <p:cNvPr id="719103" name="Rectangle 255"/>
                <p:cNvSpPr>
                  <a:spLocks noChangeArrowheads="1"/>
                </p:cNvSpPr>
                <p:nvPr/>
              </p:nvSpPr>
              <p:spPr bwMode="auto">
                <a:xfrm>
                  <a:off x="-3" y="-3"/>
                  <a:ext cx="769" cy="1926"/>
                </a:xfrm>
                <a:prstGeom prst="rect">
                  <a:avLst/>
                </a:prstGeom>
                <a:noFill/>
                <a:ln w="9525">
                  <a:solidFill>
                    <a:srgbClr val="A0A0A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grpSp>
          <p:sp>
            <p:nvSpPr>
              <p:cNvPr id="719104" name="Rectangle 256"/>
              <p:cNvSpPr>
                <a:spLocks noChangeArrowheads="1"/>
              </p:cNvSpPr>
              <p:nvPr/>
            </p:nvSpPr>
            <p:spPr bwMode="auto">
              <a:xfrm>
                <a:off x="96" y="384"/>
                <a:ext cx="912" cy="244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grpSp>
      </p:gr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6" name="Rectangle 2"/>
          <p:cNvSpPr>
            <a:spLocks noChangeArrowheads="1"/>
          </p:cNvSpPr>
          <p:nvPr/>
        </p:nvSpPr>
        <p:spPr bwMode="auto">
          <a:xfrm>
            <a:off x="0" y="107950"/>
            <a:ext cx="9144000" cy="35496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40000"/>
              </a:lnSpc>
            </a:pPr>
            <a:r>
              <a:rPr lang="en-US" altLang="zh-CN" sz="3200" b="1" dirty="0">
                <a:solidFill>
                  <a:schemeClr val="bg2"/>
                </a:solidFill>
                <a:effectLst>
                  <a:outerShdw blurRad="38100" dist="38100" dir="2700000" algn="tl">
                    <a:srgbClr val="C0C0C0"/>
                  </a:outerShdw>
                </a:effectLst>
                <a:latin typeface="Times New Roman" pitchFamily="18" charset="0"/>
              </a:rPr>
              <a:t>                   §3.3   </a:t>
            </a:r>
            <a:r>
              <a:rPr lang="zh-CN" altLang="en-US" sz="3200" b="1" dirty="0">
                <a:solidFill>
                  <a:schemeClr val="bg2"/>
                </a:solidFill>
                <a:effectLst>
                  <a:outerShdw blurRad="38100" dist="38100" dir="2700000" algn="tl">
                    <a:srgbClr val="C0C0C0"/>
                  </a:outerShdw>
                </a:effectLst>
              </a:rPr>
              <a:t>关系演算</a:t>
            </a:r>
            <a:r>
              <a:rPr lang="zh-CN" altLang="en-US" sz="3200" b="1" dirty="0">
                <a:solidFill>
                  <a:schemeClr val="bg2"/>
                </a:solidFill>
                <a:effectLst>
                  <a:outerShdw blurRad="38100" dist="38100" dir="2700000" algn="tl">
                    <a:srgbClr val="C0C0C0"/>
                  </a:outerShdw>
                </a:effectLst>
                <a:latin typeface="Times New Roman" pitchFamily="18" charset="0"/>
              </a:rPr>
              <a:t> </a:t>
            </a:r>
          </a:p>
          <a:p>
            <a:pPr eaLnBrk="0" hangingPunct="0">
              <a:lnSpc>
                <a:spcPct val="140000"/>
              </a:lnSpc>
            </a:pPr>
            <a:r>
              <a:rPr lang="zh-CN" altLang="en-US" sz="2400" b="1" dirty="0">
                <a:solidFill>
                  <a:schemeClr val="bg2"/>
                </a:solidFill>
              </a:rPr>
              <a:t>  </a:t>
            </a:r>
            <a:r>
              <a:rPr lang="zh-CN" altLang="en-US" sz="2400" b="1" dirty="0">
                <a:solidFill>
                  <a:srgbClr val="000099"/>
                </a:solidFill>
              </a:rPr>
              <a:t>以数理逻辑中的谓词演算为基础，用公式表示关系演算的条件。</a:t>
            </a:r>
          </a:p>
          <a:p>
            <a:pPr eaLnBrk="0" hangingPunct="0">
              <a:lnSpc>
                <a:spcPct val="140000"/>
              </a:lnSpc>
            </a:pPr>
            <a:r>
              <a:rPr lang="zh-CN" altLang="en-US" sz="2400" b="1" dirty="0">
                <a:solidFill>
                  <a:srgbClr val="660033"/>
                </a:solidFill>
              </a:rPr>
              <a:t>  关系演算按所用到的变量不同可分为：</a:t>
            </a:r>
          </a:p>
          <a:p>
            <a:pPr eaLnBrk="0" hangingPunct="0">
              <a:lnSpc>
                <a:spcPct val="140000"/>
              </a:lnSpc>
            </a:pPr>
            <a:r>
              <a:rPr lang="zh-CN" altLang="en-US" sz="2400" b="1" dirty="0">
                <a:solidFill>
                  <a:schemeClr val="bg2"/>
                </a:solidFill>
              </a:rPr>
              <a:t>          元组关系演算－－－以元组为变量；</a:t>
            </a:r>
          </a:p>
          <a:p>
            <a:pPr eaLnBrk="0" hangingPunct="0">
              <a:lnSpc>
                <a:spcPct val="140000"/>
              </a:lnSpc>
            </a:pPr>
            <a:r>
              <a:rPr lang="zh-CN" altLang="en-US" sz="2400" b="1" dirty="0">
                <a:solidFill>
                  <a:schemeClr val="bg2"/>
                </a:solidFill>
              </a:rPr>
              <a:t>          域关系演算  －－－以域为变量。    </a:t>
            </a:r>
          </a:p>
        </p:txBody>
      </p:sp>
      <p:sp>
        <p:nvSpPr>
          <p:cNvPr id="615427" name="Rectangle 3"/>
          <p:cNvSpPr>
            <a:spLocks noGrp="1" noChangeArrowheads="1"/>
          </p:cNvSpPr>
          <p:nvPr>
            <p:ph type="title" idx="4294967295"/>
          </p:nvPr>
        </p:nvSpPr>
        <p:spPr/>
        <p:txBody>
          <a:bodyPr/>
          <a:lstStyle/>
          <a:p>
            <a:r>
              <a:rPr lang="en-US" altLang="zh-CN" dirty="0"/>
              <a:t>                                                                                                                                                                                                                                                                                                                                                                                                                                                                                                                                                                                                                                                                                                 </a:t>
            </a:r>
          </a:p>
        </p:txBody>
      </p:sp>
      <p:grpSp>
        <p:nvGrpSpPr>
          <p:cNvPr id="615428" name="Group 4"/>
          <p:cNvGrpSpPr>
            <a:grpSpLocks/>
          </p:cNvGrpSpPr>
          <p:nvPr/>
        </p:nvGrpSpPr>
        <p:grpSpPr bwMode="auto">
          <a:xfrm>
            <a:off x="152400" y="0"/>
            <a:ext cx="8991600" cy="973138"/>
            <a:chOff x="0" y="288"/>
            <a:chExt cx="5760" cy="864"/>
          </a:xfrm>
        </p:grpSpPr>
        <p:sp>
          <p:nvSpPr>
            <p:cNvPr id="615429" name="Rectangle 5"/>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15430" name="Rectangle 6"/>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15431" name="Rectangle 7"/>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15432" name="Rectangle 8"/>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15433" name="Rectangle 9"/>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15434" name="Rectangle 10"/>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grpSp>
      <p:pic>
        <p:nvPicPr>
          <p:cNvPr id="11" name="图片 10">
            <a:extLst>
              <a:ext uri="{FF2B5EF4-FFF2-40B4-BE49-F238E27FC236}">
                <a16:creationId xmlns:a16="http://schemas.microsoft.com/office/drawing/2014/main" id="{1326D36C-F8B8-5D46-AC43-A0EA6D6F864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463349" y="2445670"/>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5427" name="Rectangle 3"/>
          <p:cNvSpPr>
            <a:spLocks noGrp="1" noChangeArrowheads="1"/>
          </p:cNvSpPr>
          <p:nvPr>
            <p:ph type="title" idx="4294967295"/>
          </p:nvPr>
        </p:nvSpPr>
        <p:spPr/>
        <p:txBody>
          <a:bodyPr/>
          <a:lstStyle/>
          <a:p>
            <a:r>
              <a:rPr lang="en-US" altLang="zh-CN"/>
              <a:t>                                                                                                                                                                                                                                                                                                                                                                                                                                                                                                                                                                                                                                                                                                 </a:t>
            </a:r>
          </a:p>
        </p:txBody>
      </p:sp>
      <p:sp>
        <p:nvSpPr>
          <p:cNvPr id="615435" name="Rectangle 11"/>
          <p:cNvSpPr>
            <a:spLocks noChangeArrowheads="1"/>
          </p:cNvSpPr>
          <p:nvPr/>
        </p:nvSpPr>
        <p:spPr bwMode="auto">
          <a:xfrm>
            <a:off x="0" y="874455"/>
            <a:ext cx="9013291" cy="255454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00000"/>
              </a:lnSpc>
            </a:pPr>
            <a:r>
              <a:rPr lang="en-US" altLang="zh-CN" sz="2800" b="1" dirty="0">
                <a:solidFill>
                  <a:srgbClr val="000099"/>
                </a:solidFill>
              </a:rPr>
              <a:t>  </a:t>
            </a:r>
            <a:r>
              <a:rPr lang="zh-CN" altLang="en-US" sz="2800" b="1" dirty="0">
                <a:solidFill>
                  <a:srgbClr val="000099"/>
                </a:solidFill>
              </a:rPr>
              <a:t>一、元组关系演算</a:t>
            </a:r>
          </a:p>
          <a:p>
            <a:pPr>
              <a:lnSpc>
                <a:spcPct val="100000"/>
              </a:lnSpc>
            </a:pPr>
            <a:r>
              <a:rPr lang="zh-CN" altLang="en-US" sz="2800" b="1" dirty="0">
                <a:solidFill>
                  <a:schemeClr val="bg2"/>
                </a:solidFill>
              </a:rPr>
              <a:t>         形式：       </a:t>
            </a:r>
            <a:r>
              <a:rPr lang="en-US" altLang="zh-CN" sz="3200" b="1" dirty="0">
                <a:solidFill>
                  <a:srgbClr val="660033"/>
                </a:solidFill>
              </a:rPr>
              <a:t>{</a:t>
            </a:r>
            <a:r>
              <a:rPr lang="en-US" altLang="zh-CN" sz="3200" b="1" dirty="0" err="1">
                <a:solidFill>
                  <a:srgbClr val="660033"/>
                </a:solidFill>
              </a:rPr>
              <a:t>t∣</a:t>
            </a:r>
            <a:r>
              <a:rPr lang="en-US" altLang="zh-CN" sz="3200" b="1" dirty="0" err="1">
                <a:solidFill>
                  <a:srgbClr val="660033"/>
                </a:solidFill>
                <a:sym typeface="Symbol" pitchFamily="18" charset="2"/>
              </a:rPr>
              <a:t>P</a:t>
            </a:r>
            <a:r>
              <a:rPr lang="en-US" altLang="zh-CN" sz="3200" b="1" dirty="0">
                <a:solidFill>
                  <a:srgbClr val="660033"/>
                </a:solidFill>
              </a:rPr>
              <a:t>(t)}</a:t>
            </a:r>
            <a:r>
              <a:rPr lang="en-US" altLang="zh-CN" sz="2800" b="1" dirty="0">
                <a:solidFill>
                  <a:schemeClr val="bg2"/>
                </a:solidFill>
              </a:rPr>
              <a:t>   </a:t>
            </a:r>
          </a:p>
          <a:p>
            <a:pPr>
              <a:lnSpc>
                <a:spcPct val="100000"/>
              </a:lnSpc>
            </a:pPr>
            <a:r>
              <a:rPr lang="en-US" altLang="zh-CN" sz="2800" b="1" dirty="0">
                <a:solidFill>
                  <a:schemeClr val="bg2"/>
                </a:solidFill>
              </a:rPr>
              <a:t>   </a:t>
            </a:r>
            <a:r>
              <a:rPr lang="zh-CN" altLang="en-US" sz="2800" b="1" dirty="0">
                <a:solidFill>
                  <a:schemeClr val="bg2"/>
                </a:solidFill>
              </a:rPr>
              <a:t>其中 </a:t>
            </a:r>
            <a:r>
              <a:rPr lang="en-US" altLang="zh-CN" sz="2800" b="1" dirty="0">
                <a:solidFill>
                  <a:schemeClr val="bg2"/>
                </a:solidFill>
              </a:rPr>
              <a:t>t</a:t>
            </a:r>
            <a:r>
              <a:rPr lang="zh-CN" altLang="en-US" sz="2800" b="1" dirty="0">
                <a:solidFill>
                  <a:schemeClr val="bg2"/>
                </a:solidFill>
              </a:rPr>
              <a:t>：元组变量，表示一个定长的元组；</a:t>
            </a:r>
          </a:p>
          <a:p>
            <a:pPr>
              <a:lnSpc>
                <a:spcPct val="100000"/>
              </a:lnSpc>
            </a:pPr>
            <a:r>
              <a:rPr lang="zh-CN" altLang="en-US" sz="2800" b="1" dirty="0">
                <a:solidFill>
                  <a:schemeClr val="bg2"/>
                </a:solidFill>
              </a:rPr>
              <a:t>  </a:t>
            </a:r>
            <a:r>
              <a:rPr lang="en-US" altLang="zh-CN" sz="2800" b="1" dirty="0">
                <a:solidFill>
                  <a:schemeClr val="bg2"/>
                </a:solidFill>
                <a:sym typeface="Symbol" pitchFamily="18" charset="2"/>
              </a:rPr>
              <a:t>P</a:t>
            </a:r>
            <a:r>
              <a:rPr lang="zh-CN" altLang="en-US" sz="2800" b="1" dirty="0">
                <a:solidFill>
                  <a:schemeClr val="bg2"/>
                </a:solidFill>
                <a:sym typeface="Symbol" pitchFamily="18" charset="2"/>
              </a:rPr>
              <a:t>：</a:t>
            </a:r>
            <a:r>
              <a:rPr lang="zh-CN" altLang="en-US" sz="2800" b="1" dirty="0">
                <a:solidFill>
                  <a:schemeClr val="bg2"/>
                </a:solidFill>
              </a:rPr>
              <a:t>公式，公式由</a:t>
            </a:r>
            <a:r>
              <a:rPr lang="zh-CN" altLang="en-US" sz="2800" b="1" dirty="0">
                <a:solidFill>
                  <a:srgbClr val="FF0000"/>
                </a:solidFill>
              </a:rPr>
              <a:t>原子公式（</a:t>
            </a:r>
            <a:r>
              <a:rPr lang="zh-CN" altLang="en-US" sz="2800" b="1" dirty="0">
                <a:solidFill>
                  <a:schemeClr val="bg2"/>
                </a:solidFill>
              </a:rPr>
              <a:t>通过</a:t>
            </a:r>
            <a:r>
              <a:rPr lang="zh-CN" altLang="en-US" sz="2800" b="1" dirty="0">
                <a:solidFill>
                  <a:srgbClr val="FF0000"/>
                </a:solidFill>
              </a:rPr>
              <a:t>运算符）</a:t>
            </a:r>
            <a:r>
              <a:rPr lang="zh-CN" altLang="en-US" sz="2800" b="1" dirty="0">
                <a:solidFill>
                  <a:schemeClr val="bg2"/>
                </a:solidFill>
              </a:rPr>
              <a:t>组合而成。</a:t>
            </a:r>
          </a:p>
        </p:txBody>
      </p:sp>
    </p:spTree>
    <p:extLst>
      <p:ext uri="{BB962C8B-B14F-4D97-AF65-F5344CB8AC3E}">
        <p14:creationId xmlns:p14="http://schemas.microsoft.com/office/powerpoint/2010/main" val="242935070"/>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5435"/>
                                        </p:tgtEl>
                                        <p:attrNameLst>
                                          <p:attrName>style.visibility</p:attrName>
                                        </p:attrNameLst>
                                      </p:cBhvr>
                                      <p:to>
                                        <p:strVal val="visible"/>
                                      </p:to>
                                    </p:set>
                                    <p:animEffect transition="in" filter="blinds(horizontal)">
                                      <p:cBhvr>
                                        <p:cTn id="7" dur="500"/>
                                        <p:tgtEl>
                                          <p:spTgt spid="615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5435"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4" name="Rectangle 2"/>
          <p:cNvSpPr>
            <a:spLocks noChangeArrowheads="1"/>
          </p:cNvSpPr>
          <p:nvPr/>
        </p:nvSpPr>
        <p:spPr bwMode="auto">
          <a:xfrm>
            <a:off x="34925" y="333375"/>
            <a:ext cx="9144000" cy="646907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50000"/>
              </a:lnSpc>
            </a:pPr>
            <a:r>
              <a:rPr lang="en-US" altLang="zh-CN" sz="2400" b="1" dirty="0">
                <a:solidFill>
                  <a:srgbClr val="000099"/>
                </a:solidFill>
              </a:rPr>
              <a:t>  1. </a:t>
            </a:r>
            <a:r>
              <a:rPr lang="zh-CN" altLang="en-US" sz="2400" b="1" dirty="0">
                <a:solidFill>
                  <a:srgbClr val="000099"/>
                </a:solidFill>
              </a:rPr>
              <a:t>原子公式</a:t>
            </a:r>
            <a:r>
              <a:rPr lang="en-US" altLang="zh-CN" sz="2400" b="1" dirty="0">
                <a:solidFill>
                  <a:srgbClr val="000099"/>
                </a:solidFill>
              </a:rPr>
              <a:t>(Atoms)</a:t>
            </a:r>
            <a:r>
              <a:rPr lang="zh-CN" altLang="en-US" sz="2400" b="1" dirty="0">
                <a:solidFill>
                  <a:srgbClr val="000099"/>
                </a:solidFill>
              </a:rPr>
              <a:t>有下列三种形式：</a:t>
            </a:r>
          </a:p>
          <a:p>
            <a:pPr eaLnBrk="0" hangingPunct="0">
              <a:lnSpc>
                <a:spcPct val="150000"/>
              </a:lnSpc>
            </a:pPr>
            <a:r>
              <a:rPr lang="zh-CN" altLang="en-US" sz="2400" b="1" dirty="0">
                <a:solidFill>
                  <a:schemeClr val="bg2"/>
                </a:solidFill>
              </a:rPr>
              <a:t>     ① </a:t>
            </a:r>
            <a:r>
              <a:rPr lang="en-US" altLang="zh-CN" sz="2400" b="1" dirty="0">
                <a:solidFill>
                  <a:srgbClr val="660033"/>
                </a:solidFill>
              </a:rPr>
              <a:t>R</a:t>
            </a:r>
            <a:r>
              <a:rPr lang="zh-CN" altLang="en-US" sz="2400" b="1" dirty="0">
                <a:solidFill>
                  <a:srgbClr val="660033"/>
                </a:solidFill>
              </a:rPr>
              <a:t>（</a:t>
            </a:r>
            <a:r>
              <a:rPr lang="en-US" altLang="zh-CN" sz="2400" b="1" dirty="0">
                <a:solidFill>
                  <a:srgbClr val="660033"/>
                </a:solidFill>
              </a:rPr>
              <a:t>t</a:t>
            </a:r>
            <a:r>
              <a:rPr lang="zh-CN" altLang="en-US" sz="2400" b="1" dirty="0">
                <a:solidFill>
                  <a:srgbClr val="660033"/>
                </a:solidFill>
              </a:rPr>
              <a:t>）：</a:t>
            </a:r>
            <a:r>
              <a:rPr lang="zh-CN" altLang="en-US" sz="2400" b="1" dirty="0">
                <a:solidFill>
                  <a:schemeClr val="bg2"/>
                </a:solidFill>
              </a:rPr>
              <a:t>    </a:t>
            </a:r>
            <a:r>
              <a:rPr lang="en-US" altLang="zh-CN" sz="2400" b="1" dirty="0">
                <a:solidFill>
                  <a:schemeClr val="bg2"/>
                </a:solidFill>
              </a:rPr>
              <a:t>R </a:t>
            </a:r>
            <a:r>
              <a:rPr lang="zh-CN" altLang="en-US" sz="2400" b="1" dirty="0">
                <a:solidFill>
                  <a:schemeClr val="bg2"/>
                </a:solidFill>
              </a:rPr>
              <a:t>是关系名，</a:t>
            </a:r>
            <a:r>
              <a:rPr lang="en-US" altLang="zh-CN" sz="2400" b="1" dirty="0">
                <a:solidFill>
                  <a:schemeClr val="bg2"/>
                </a:solidFill>
              </a:rPr>
              <a:t>s </a:t>
            </a:r>
            <a:r>
              <a:rPr lang="zh-CN" altLang="en-US" sz="2400" b="1" dirty="0">
                <a:solidFill>
                  <a:schemeClr val="bg2"/>
                </a:solidFill>
              </a:rPr>
              <a:t>是元组变量。</a:t>
            </a:r>
            <a:endParaRPr lang="en-US" altLang="zh-CN" sz="2400" b="1" dirty="0">
              <a:solidFill>
                <a:schemeClr val="bg2"/>
              </a:solidFill>
            </a:endParaRPr>
          </a:p>
          <a:p>
            <a:pPr eaLnBrk="0" hangingPunct="0">
              <a:lnSpc>
                <a:spcPct val="150000"/>
              </a:lnSpc>
            </a:pPr>
            <a:r>
              <a:rPr lang="en-US" altLang="zh-CN" sz="2400" b="1" dirty="0">
                <a:solidFill>
                  <a:schemeClr val="bg2"/>
                </a:solidFill>
              </a:rPr>
              <a:t>        s</a:t>
            </a:r>
            <a:r>
              <a:rPr lang="zh-CN" altLang="en-US" sz="2400" b="1" dirty="0">
                <a:solidFill>
                  <a:schemeClr val="bg2"/>
                </a:solidFill>
              </a:rPr>
              <a:t>是关系</a:t>
            </a:r>
            <a:r>
              <a:rPr lang="en-US" altLang="zh-CN" sz="2400" b="1" dirty="0">
                <a:solidFill>
                  <a:schemeClr val="bg2"/>
                </a:solidFill>
              </a:rPr>
              <a:t>R</a:t>
            </a:r>
            <a:r>
              <a:rPr lang="zh-CN" altLang="en-US" sz="2400" b="1" dirty="0">
                <a:solidFill>
                  <a:schemeClr val="bg2"/>
                </a:solidFill>
              </a:rPr>
              <a:t>的一个元组，</a:t>
            </a:r>
            <a:r>
              <a:rPr lang="en-US" altLang="zh-CN" sz="2400" b="1" dirty="0">
                <a:solidFill>
                  <a:schemeClr val="bg2"/>
                </a:solidFill>
              </a:rPr>
              <a:t>R={</a:t>
            </a:r>
            <a:r>
              <a:rPr lang="en-US" altLang="zh-CN" sz="2400" b="1" dirty="0" err="1">
                <a:solidFill>
                  <a:schemeClr val="bg2"/>
                </a:solidFill>
              </a:rPr>
              <a:t>s|R</a:t>
            </a:r>
            <a:r>
              <a:rPr lang="en-US" altLang="zh-CN" sz="2400" b="1" dirty="0">
                <a:solidFill>
                  <a:schemeClr val="bg2"/>
                </a:solidFill>
              </a:rPr>
              <a:t>(s)}</a:t>
            </a:r>
            <a:endParaRPr lang="zh-CN" altLang="en-US" sz="2400" b="1" dirty="0">
              <a:solidFill>
                <a:schemeClr val="bg2"/>
              </a:solidFill>
            </a:endParaRPr>
          </a:p>
          <a:p>
            <a:pPr eaLnBrk="0" hangingPunct="0">
              <a:lnSpc>
                <a:spcPct val="150000"/>
              </a:lnSpc>
            </a:pPr>
            <a:r>
              <a:rPr lang="zh-CN" altLang="en-US" sz="2400" b="1" dirty="0">
                <a:solidFill>
                  <a:schemeClr val="bg2"/>
                </a:solidFill>
              </a:rPr>
              <a:t>     ② </a:t>
            </a:r>
            <a:r>
              <a:rPr lang="en-US" altLang="zh-CN" sz="2400" b="1" dirty="0">
                <a:solidFill>
                  <a:srgbClr val="660033"/>
                </a:solidFill>
              </a:rPr>
              <a:t>s[</a:t>
            </a:r>
            <a:r>
              <a:rPr lang="en-US" altLang="zh-CN" sz="2400" b="1" dirty="0" err="1">
                <a:solidFill>
                  <a:srgbClr val="660033"/>
                </a:solidFill>
              </a:rPr>
              <a:t>i</a:t>
            </a:r>
            <a:r>
              <a:rPr lang="en-US" altLang="zh-CN" sz="2400" b="1" dirty="0">
                <a:solidFill>
                  <a:srgbClr val="660033"/>
                </a:solidFill>
              </a:rPr>
              <a:t>]</a:t>
            </a:r>
            <a:r>
              <a:rPr lang="en-US" altLang="zh-CN" sz="2400" b="1" dirty="0" err="1">
                <a:solidFill>
                  <a:srgbClr val="660033"/>
                </a:solidFill>
              </a:rPr>
              <a:t>θu</a:t>
            </a:r>
            <a:r>
              <a:rPr lang="en-US" altLang="zh-CN" sz="2400" b="1" dirty="0">
                <a:solidFill>
                  <a:srgbClr val="660033"/>
                </a:solidFill>
              </a:rPr>
              <a:t>[j]:</a:t>
            </a:r>
            <a:r>
              <a:rPr lang="en-US" altLang="zh-CN" sz="2400" b="1" dirty="0">
                <a:solidFill>
                  <a:schemeClr val="bg2"/>
                </a:solidFill>
              </a:rPr>
              <a:t> s </a:t>
            </a:r>
            <a:r>
              <a:rPr lang="zh-CN" altLang="en-US" sz="2400" b="1" dirty="0">
                <a:solidFill>
                  <a:schemeClr val="bg2"/>
                </a:solidFill>
              </a:rPr>
              <a:t>和 </a:t>
            </a:r>
            <a:r>
              <a:rPr lang="en-US" altLang="zh-CN" sz="2400" b="1" dirty="0">
                <a:solidFill>
                  <a:schemeClr val="bg2"/>
                </a:solidFill>
              </a:rPr>
              <a:t>u</a:t>
            </a:r>
            <a:r>
              <a:rPr lang="zh-CN" altLang="en-US" sz="2400" b="1" dirty="0">
                <a:solidFill>
                  <a:schemeClr val="bg2"/>
                </a:solidFill>
              </a:rPr>
              <a:t>是元组变量，</a:t>
            </a:r>
            <a:r>
              <a:rPr lang="en-US" altLang="zh-CN" sz="2400" b="1" dirty="0" err="1">
                <a:solidFill>
                  <a:schemeClr val="bg2"/>
                </a:solidFill>
              </a:rPr>
              <a:t>θ</a:t>
            </a:r>
            <a:r>
              <a:rPr lang="zh-CN" altLang="en-US" sz="2400" b="1" dirty="0">
                <a:solidFill>
                  <a:schemeClr val="bg2"/>
                </a:solidFill>
              </a:rPr>
              <a:t>是算术比较运算符。</a:t>
            </a:r>
            <a:endParaRPr lang="en-US" altLang="zh-CN" sz="2400" b="1" dirty="0">
              <a:solidFill>
                <a:schemeClr val="bg2"/>
              </a:solidFill>
            </a:endParaRPr>
          </a:p>
          <a:p>
            <a:pPr eaLnBrk="0" hangingPunct="0">
              <a:lnSpc>
                <a:spcPct val="150000"/>
              </a:lnSpc>
            </a:pPr>
            <a:r>
              <a:rPr lang="en-US" altLang="zh-CN" sz="2400" b="1" dirty="0">
                <a:solidFill>
                  <a:schemeClr val="bg2"/>
                </a:solidFill>
              </a:rPr>
              <a:t>        </a:t>
            </a:r>
            <a:r>
              <a:rPr lang="zh-CN" altLang="en-US" sz="2400" b="1" dirty="0">
                <a:solidFill>
                  <a:schemeClr val="bg2"/>
                </a:solidFill>
              </a:rPr>
              <a:t>元组</a:t>
            </a:r>
            <a:r>
              <a:rPr lang="en-US" altLang="zh-CN" sz="2400" b="1" dirty="0">
                <a:solidFill>
                  <a:schemeClr val="bg2"/>
                </a:solidFill>
              </a:rPr>
              <a:t>s</a:t>
            </a:r>
            <a:r>
              <a:rPr lang="zh-CN" altLang="en-US" sz="2400" b="1" dirty="0">
                <a:solidFill>
                  <a:schemeClr val="bg2"/>
                </a:solidFill>
              </a:rPr>
              <a:t>的分量</a:t>
            </a:r>
            <a:r>
              <a:rPr lang="en-US" altLang="zh-CN" sz="2400" b="1" dirty="0" err="1">
                <a:solidFill>
                  <a:schemeClr val="bg2"/>
                </a:solidFill>
              </a:rPr>
              <a:t>i</a:t>
            </a:r>
            <a:r>
              <a:rPr lang="zh-CN" altLang="en-US" sz="2400" b="1" dirty="0">
                <a:solidFill>
                  <a:schemeClr val="bg2"/>
                </a:solidFill>
              </a:rPr>
              <a:t>与元组</a:t>
            </a:r>
            <a:r>
              <a:rPr lang="en-US" altLang="zh-CN" sz="2400" b="1" dirty="0">
                <a:solidFill>
                  <a:schemeClr val="bg2"/>
                </a:solidFill>
              </a:rPr>
              <a:t>u</a:t>
            </a:r>
            <a:r>
              <a:rPr lang="zh-CN" altLang="en-US" sz="2400" b="1" dirty="0">
                <a:solidFill>
                  <a:schemeClr val="bg2"/>
                </a:solidFill>
              </a:rPr>
              <a:t>的分量</a:t>
            </a:r>
            <a:r>
              <a:rPr lang="en-US" altLang="zh-CN" sz="2400" b="1" dirty="0">
                <a:solidFill>
                  <a:schemeClr val="bg2"/>
                </a:solidFill>
              </a:rPr>
              <a:t>j</a:t>
            </a:r>
            <a:r>
              <a:rPr lang="zh-CN" altLang="en-US" sz="2400" b="1" dirty="0">
                <a:solidFill>
                  <a:schemeClr val="bg2"/>
                </a:solidFill>
              </a:rPr>
              <a:t>满足比较关系</a:t>
            </a:r>
            <a:r>
              <a:rPr lang="en-US" altLang="zh-CN" sz="2400" b="1" dirty="0" err="1">
                <a:solidFill>
                  <a:srgbClr val="660033"/>
                </a:solidFill>
              </a:rPr>
              <a:t>θ</a:t>
            </a:r>
            <a:endParaRPr lang="en-US" altLang="zh-CN" sz="2400" b="1" dirty="0">
              <a:solidFill>
                <a:srgbClr val="660033"/>
              </a:solidFill>
            </a:endParaRPr>
          </a:p>
          <a:p>
            <a:pPr eaLnBrk="0" hangingPunct="0">
              <a:lnSpc>
                <a:spcPct val="150000"/>
              </a:lnSpc>
            </a:pPr>
            <a:r>
              <a:rPr lang="zh-CN" altLang="en-US" sz="2400" b="1" dirty="0">
                <a:solidFill>
                  <a:srgbClr val="660033"/>
                </a:solidFill>
              </a:rPr>
              <a:t>     </a:t>
            </a:r>
            <a:r>
              <a:rPr lang="zh-CN" altLang="en-US" sz="2000" b="1" dirty="0">
                <a:solidFill>
                  <a:schemeClr val="bg2"/>
                </a:solidFill>
              </a:rPr>
              <a:t>例如：</a:t>
            </a:r>
            <a:r>
              <a:rPr lang="en-US" altLang="zh-CN" sz="2000" b="1" dirty="0">
                <a:solidFill>
                  <a:schemeClr val="bg2"/>
                </a:solidFill>
              </a:rPr>
              <a:t>s[2]&gt;u[1]</a:t>
            </a:r>
            <a:r>
              <a:rPr lang="zh-CN" altLang="en-US" sz="2000" b="1" dirty="0">
                <a:solidFill>
                  <a:schemeClr val="bg2"/>
                </a:solidFill>
              </a:rPr>
              <a:t>表示元组</a:t>
            </a:r>
            <a:r>
              <a:rPr lang="en-US" altLang="zh-CN" sz="2000" b="1" dirty="0">
                <a:solidFill>
                  <a:schemeClr val="bg2"/>
                </a:solidFill>
              </a:rPr>
              <a:t>s</a:t>
            </a:r>
            <a:r>
              <a:rPr lang="zh-CN" altLang="en-US" sz="2000" b="1" dirty="0">
                <a:solidFill>
                  <a:schemeClr val="bg2"/>
                </a:solidFill>
              </a:rPr>
              <a:t>的第二个分量必须大于元组</a:t>
            </a:r>
            <a:r>
              <a:rPr lang="en-US" altLang="zh-CN" sz="2000" b="1" dirty="0">
                <a:solidFill>
                  <a:schemeClr val="bg2"/>
                </a:solidFill>
              </a:rPr>
              <a:t>u</a:t>
            </a:r>
            <a:r>
              <a:rPr lang="zh-CN" altLang="en-US" sz="2000" b="1" dirty="0">
                <a:solidFill>
                  <a:schemeClr val="bg2"/>
                </a:solidFill>
              </a:rPr>
              <a:t>的第一个分量。</a:t>
            </a:r>
          </a:p>
          <a:p>
            <a:pPr eaLnBrk="0" hangingPunct="0">
              <a:lnSpc>
                <a:spcPct val="150000"/>
              </a:lnSpc>
            </a:pPr>
            <a:r>
              <a:rPr lang="zh-CN" altLang="en-US" sz="2400" b="1" dirty="0">
                <a:solidFill>
                  <a:schemeClr val="bg2"/>
                </a:solidFill>
              </a:rPr>
              <a:t>     ③ </a:t>
            </a:r>
            <a:r>
              <a:rPr lang="en-US" altLang="zh-CN" sz="2400" b="1" dirty="0">
                <a:solidFill>
                  <a:srgbClr val="660033"/>
                </a:solidFill>
              </a:rPr>
              <a:t>s[</a:t>
            </a:r>
            <a:r>
              <a:rPr lang="en-US" altLang="zh-CN" sz="2400" b="1" dirty="0" err="1">
                <a:solidFill>
                  <a:srgbClr val="660033"/>
                </a:solidFill>
              </a:rPr>
              <a:t>i</a:t>
            </a:r>
            <a:r>
              <a:rPr lang="en-US" altLang="zh-CN" sz="2400" b="1" dirty="0">
                <a:solidFill>
                  <a:srgbClr val="660033"/>
                </a:solidFill>
              </a:rPr>
              <a:t>]</a:t>
            </a:r>
            <a:r>
              <a:rPr lang="en-US" altLang="zh-CN" sz="2400" b="1" dirty="0" err="1">
                <a:solidFill>
                  <a:srgbClr val="660033"/>
                </a:solidFill>
              </a:rPr>
              <a:t>θC</a:t>
            </a:r>
            <a:r>
              <a:rPr lang="en-US" altLang="zh-CN" sz="2400" b="1" dirty="0">
                <a:solidFill>
                  <a:srgbClr val="660033"/>
                </a:solidFill>
              </a:rPr>
              <a:t> </a:t>
            </a:r>
            <a:r>
              <a:rPr lang="zh-CN" altLang="en-US" sz="2400" b="1" dirty="0">
                <a:solidFill>
                  <a:srgbClr val="660033"/>
                </a:solidFill>
              </a:rPr>
              <a:t>或 </a:t>
            </a:r>
            <a:r>
              <a:rPr lang="en-US" altLang="zh-CN" sz="2400" b="1" dirty="0" err="1">
                <a:solidFill>
                  <a:srgbClr val="660033"/>
                </a:solidFill>
              </a:rPr>
              <a:t>Cθu</a:t>
            </a:r>
            <a:r>
              <a:rPr lang="en-US" altLang="zh-CN" sz="2400" b="1" dirty="0">
                <a:solidFill>
                  <a:srgbClr val="660033"/>
                </a:solidFill>
              </a:rPr>
              <a:t>[</a:t>
            </a:r>
            <a:r>
              <a:rPr lang="en-US" altLang="zh-CN" sz="2400" b="1" dirty="0" err="1">
                <a:solidFill>
                  <a:srgbClr val="660033"/>
                </a:solidFill>
              </a:rPr>
              <a:t>i</a:t>
            </a:r>
            <a:r>
              <a:rPr lang="en-US" altLang="zh-CN" sz="2400" b="1" dirty="0">
                <a:solidFill>
                  <a:srgbClr val="660033"/>
                </a:solidFill>
              </a:rPr>
              <a:t>]</a:t>
            </a:r>
            <a:r>
              <a:rPr lang="zh-CN" altLang="en-US" sz="2400" b="1" dirty="0">
                <a:solidFill>
                  <a:srgbClr val="660033"/>
                </a:solidFill>
              </a:rPr>
              <a:t>：</a:t>
            </a:r>
            <a:r>
              <a:rPr lang="zh-CN" altLang="en-US" sz="2400" b="1" dirty="0">
                <a:solidFill>
                  <a:schemeClr val="bg2"/>
                </a:solidFill>
              </a:rPr>
              <a:t> </a:t>
            </a:r>
            <a:r>
              <a:rPr lang="en-US" altLang="zh-CN" sz="2400" b="1" dirty="0">
                <a:solidFill>
                  <a:schemeClr val="bg2"/>
                </a:solidFill>
              </a:rPr>
              <a:t>s </a:t>
            </a:r>
            <a:r>
              <a:rPr lang="zh-CN" altLang="en-US" sz="2400" b="1" dirty="0">
                <a:solidFill>
                  <a:schemeClr val="bg2"/>
                </a:solidFill>
              </a:rPr>
              <a:t>和 </a:t>
            </a:r>
            <a:r>
              <a:rPr lang="en-US" altLang="zh-CN" sz="2400" b="1" dirty="0">
                <a:solidFill>
                  <a:schemeClr val="bg2"/>
                </a:solidFill>
              </a:rPr>
              <a:t>u </a:t>
            </a:r>
            <a:r>
              <a:rPr lang="zh-CN" altLang="en-US" sz="2400" b="1" dirty="0">
                <a:solidFill>
                  <a:schemeClr val="bg2"/>
                </a:solidFill>
              </a:rPr>
              <a:t>是元组变量，</a:t>
            </a:r>
            <a:r>
              <a:rPr lang="en-US" altLang="zh-CN" sz="2400" b="1" dirty="0">
                <a:solidFill>
                  <a:schemeClr val="bg2"/>
                </a:solidFill>
              </a:rPr>
              <a:t>c </a:t>
            </a:r>
            <a:r>
              <a:rPr lang="zh-CN" altLang="en-US" sz="2400" b="1" dirty="0">
                <a:solidFill>
                  <a:schemeClr val="bg2"/>
                </a:solidFill>
              </a:rPr>
              <a:t>是常量。</a:t>
            </a:r>
            <a:endParaRPr lang="en-US" altLang="zh-CN" sz="2400" b="1" dirty="0">
              <a:solidFill>
                <a:schemeClr val="bg2"/>
              </a:solidFill>
            </a:endParaRPr>
          </a:p>
          <a:p>
            <a:pPr eaLnBrk="0" hangingPunct="0">
              <a:lnSpc>
                <a:spcPct val="150000"/>
              </a:lnSpc>
            </a:pPr>
            <a:r>
              <a:rPr lang="en-US" altLang="zh-CN" sz="2400" b="1" dirty="0">
                <a:solidFill>
                  <a:schemeClr val="bg2"/>
                </a:solidFill>
                <a:cs typeface="Times New Roman" pitchFamily="18" charset="0"/>
              </a:rPr>
              <a:t>   </a:t>
            </a:r>
            <a:r>
              <a:rPr lang="zh-CN" altLang="en-US" sz="2400" b="1" dirty="0">
                <a:solidFill>
                  <a:schemeClr val="bg2"/>
                </a:solidFill>
                <a:cs typeface="Times New Roman" pitchFamily="18" charset="0"/>
              </a:rPr>
              <a:t>元组</a:t>
            </a:r>
            <a:r>
              <a:rPr lang="en-US" altLang="zh-CN" sz="2400" b="1" dirty="0">
                <a:solidFill>
                  <a:schemeClr val="bg2"/>
                </a:solidFill>
                <a:cs typeface="Times New Roman" pitchFamily="18" charset="0"/>
              </a:rPr>
              <a:t>s(</a:t>
            </a:r>
            <a:r>
              <a:rPr lang="zh-CN" altLang="en-US" sz="2400" b="1" dirty="0">
                <a:solidFill>
                  <a:schemeClr val="bg2"/>
                </a:solidFill>
                <a:cs typeface="Times New Roman" pitchFamily="18" charset="0"/>
              </a:rPr>
              <a:t>或</a:t>
            </a:r>
            <a:r>
              <a:rPr lang="en-US" altLang="zh-CN" sz="2400" b="1" dirty="0">
                <a:solidFill>
                  <a:schemeClr val="bg2"/>
                </a:solidFill>
                <a:cs typeface="Times New Roman" pitchFamily="18" charset="0"/>
              </a:rPr>
              <a:t>u)</a:t>
            </a:r>
            <a:r>
              <a:rPr lang="zh-CN" altLang="en-US" sz="2400" b="1" dirty="0">
                <a:solidFill>
                  <a:schemeClr val="bg2"/>
                </a:solidFill>
                <a:cs typeface="Times New Roman" pitchFamily="18" charset="0"/>
              </a:rPr>
              <a:t>的第</a:t>
            </a:r>
            <a:r>
              <a:rPr lang="en-US" altLang="zh-CN" sz="2400" b="1" dirty="0" err="1">
                <a:solidFill>
                  <a:schemeClr val="bg2"/>
                </a:solidFill>
                <a:cs typeface="Times New Roman" pitchFamily="18" charset="0"/>
              </a:rPr>
              <a:t>i</a:t>
            </a:r>
            <a:r>
              <a:rPr lang="zh-CN" altLang="en-US" sz="2400" b="1" dirty="0">
                <a:solidFill>
                  <a:schemeClr val="bg2"/>
                </a:solidFill>
                <a:cs typeface="Times New Roman" pitchFamily="18" charset="0"/>
              </a:rPr>
              <a:t>个分量</a:t>
            </a:r>
            <a:r>
              <a:rPr lang="en-US" altLang="zh-CN" sz="2400" b="1" dirty="0">
                <a:solidFill>
                  <a:schemeClr val="bg2"/>
                </a:solidFill>
                <a:cs typeface="Times New Roman" pitchFamily="18" charset="0"/>
              </a:rPr>
              <a:t>(</a:t>
            </a:r>
            <a:r>
              <a:rPr lang="zh-CN" altLang="en-US" sz="2400" b="1" dirty="0">
                <a:solidFill>
                  <a:schemeClr val="bg2"/>
                </a:solidFill>
                <a:cs typeface="Times New Roman" pitchFamily="18" charset="0"/>
              </a:rPr>
              <a:t>或第</a:t>
            </a:r>
            <a:r>
              <a:rPr lang="en-US" altLang="zh-CN" sz="2400" b="1" dirty="0">
                <a:solidFill>
                  <a:schemeClr val="bg2"/>
                </a:solidFill>
                <a:cs typeface="Times New Roman" pitchFamily="18" charset="0"/>
              </a:rPr>
              <a:t>j</a:t>
            </a:r>
            <a:r>
              <a:rPr lang="zh-CN" altLang="en-US" sz="2400" b="1" dirty="0">
                <a:solidFill>
                  <a:schemeClr val="bg2"/>
                </a:solidFill>
                <a:cs typeface="Times New Roman" pitchFamily="18" charset="0"/>
              </a:rPr>
              <a:t>个分量</a:t>
            </a:r>
            <a:r>
              <a:rPr lang="en-US" altLang="zh-CN" sz="2400" b="1" dirty="0">
                <a:solidFill>
                  <a:schemeClr val="bg2"/>
                </a:solidFill>
                <a:cs typeface="Times New Roman" pitchFamily="18" charset="0"/>
              </a:rPr>
              <a:t>)</a:t>
            </a:r>
            <a:r>
              <a:rPr lang="zh-CN" altLang="en-US" sz="2400" b="1" dirty="0">
                <a:solidFill>
                  <a:schemeClr val="bg2"/>
                </a:solidFill>
                <a:cs typeface="Times New Roman" pitchFamily="18" charset="0"/>
              </a:rPr>
              <a:t>与常量</a:t>
            </a:r>
            <a:r>
              <a:rPr lang="en-US" altLang="zh-CN" sz="2400" b="1" dirty="0">
                <a:solidFill>
                  <a:schemeClr val="bg2"/>
                </a:solidFill>
                <a:cs typeface="Times New Roman" pitchFamily="18" charset="0"/>
              </a:rPr>
              <a:t>c</a:t>
            </a:r>
            <a:r>
              <a:rPr lang="zh-CN" altLang="en-US" sz="2400" b="1" dirty="0">
                <a:solidFill>
                  <a:schemeClr val="bg2"/>
                </a:solidFill>
                <a:cs typeface="Times New Roman" pitchFamily="18" charset="0"/>
              </a:rPr>
              <a:t>满足比较关系</a:t>
            </a:r>
            <a:r>
              <a:rPr lang="en-US" altLang="zh-CN" sz="2400" b="1" dirty="0" err="1">
                <a:solidFill>
                  <a:srgbClr val="660033"/>
                </a:solidFill>
              </a:rPr>
              <a:t>θ</a:t>
            </a:r>
            <a:endParaRPr lang="en-US" altLang="zh-CN" sz="2400" b="1" dirty="0">
              <a:solidFill>
                <a:srgbClr val="660033"/>
              </a:solidFill>
            </a:endParaRPr>
          </a:p>
          <a:p>
            <a:pPr algn="ctr" eaLnBrk="0" hangingPunct="0">
              <a:lnSpc>
                <a:spcPct val="150000"/>
              </a:lnSpc>
            </a:pPr>
            <a:r>
              <a:rPr lang="zh-CN" altLang="en-US" sz="2000" b="1" dirty="0">
                <a:solidFill>
                  <a:schemeClr val="bg2"/>
                </a:solidFill>
                <a:cs typeface="Times New Roman" pitchFamily="18" charset="0"/>
              </a:rPr>
              <a:t>例如：</a:t>
            </a:r>
            <a:r>
              <a:rPr lang="en-US" altLang="zh-CN" sz="2000" b="1" dirty="0">
                <a:solidFill>
                  <a:schemeClr val="bg2"/>
                </a:solidFill>
                <a:cs typeface="Times New Roman" pitchFamily="18" charset="0"/>
              </a:rPr>
              <a:t>s[3]=‘5’</a:t>
            </a:r>
            <a:r>
              <a:rPr lang="zh-CN" altLang="en-US" sz="2000" b="1" dirty="0">
                <a:solidFill>
                  <a:schemeClr val="bg2"/>
                </a:solidFill>
                <a:cs typeface="Times New Roman" pitchFamily="18" charset="0"/>
              </a:rPr>
              <a:t>表示元组</a:t>
            </a:r>
            <a:r>
              <a:rPr lang="en-US" altLang="zh-CN" sz="2000" b="1" dirty="0">
                <a:solidFill>
                  <a:schemeClr val="bg2"/>
                </a:solidFill>
                <a:cs typeface="Times New Roman" pitchFamily="18" charset="0"/>
              </a:rPr>
              <a:t>s</a:t>
            </a:r>
            <a:r>
              <a:rPr lang="zh-CN" altLang="en-US" sz="2000" b="1" dirty="0">
                <a:solidFill>
                  <a:schemeClr val="bg2"/>
                </a:solidFill>
                <a:cs typeface="Times New Roman" pitchFamily="18" charset="0"/>
              </a:rPr>
              <a:t>的第三个分量值为</a:t>
            </a:r>
            <a:r>
              <a:rPr lang="en-US" altLang="zh-CN" sz="2000" b="1" dirty="0">
                <a:solidFill>
                  <a:schemeClr val="bg2"/>
                </a:solidFill>
                <a:cs typeface="Times New Roman" pitchFamily="18" charset="0"/>
              </a:rPr>
              <a:t>5</a:t>
            </a:r>
            <a:r>
              <a:rPr lang="zh-CN" altLang="en-US" sz="2000" b="1" dirty="0">
                <a:solidFill>
                  <a:schemeClr val="bg2"/>
                </a:solidFill>
                <a:cs typeface="Times New Roman" pitchFamily="18" charset="0"/>
              </a:rPr>
              <a:t>。 </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7475" name="Rectangle 3"/>
          <p:cNvSpPr>
            <a:spLocks noChangeArrowheads="1"/>
          </p:cNvSpPr>
          <p:nvPr/>
        </p:nvSpPr>
        <p:spPr bwMode="auto">
          <a:xfrm>
            <a:off x="403128" y="764704"/>
            <a:ext cx="7913288" cy="28638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120000"/>
              </a:lnSpc>
            </a:pPr>
            <a:r>
              <a:rPr lang="en-US" altLang="zh-CN" sz="2400" b="1" dirty="0">
                <a:solidFill>
                  <a:srgbClr val="000099"/>
                </a:solidFill>
              </a:rPr>
              <a:t> 2.</a:t>
            </a:r>
            <a:r>
              <a:rPr lang="zh-CN" altLang="en-US" sz="2400" b="1" dirty="0">
                <a:solidFill>
                  <a:srgbClr val="000099"/>
                </a:solidFill>
              </a:rPr>
              <a:t>约束变量和自由变量</a:t>
            </a:r>
          </a:p>
          <a:p>
            <a:pPr>
              <a:lnSpc>
                <a:spcPct val="120000"/>
              </a:lnSpc>
            </a:pPr>
            <a:r>
              <a:rPr lang="zh-CN" altLang="en-US" sz="2400" b="1" dirty="0">
                <a:solidFill>
                  <a:schemeClr val="bg2"/>
                </a:solidFill>
              </a:rPr>
              <a:t>    在一个公式（</a:t>
            </a:r>
            <a:r>
              <a:rPr lang="en-US" altLang="zh-CN" sz="2400" b="1" dirty="0">
                <a:solidFill>
                  <a:schemeClr val="bg2"/>
                </a:solidFill>
              </a:rPr>
              <a:t>Formulas</a:t>
            </a:r>
            <a:r>
              <a:rPr lang="zh-CN" altLang="en-US" sz="2400" b="1" dirty="0">
                <a:solidFill>
                  <a:schemeClr val="bg2"/>
                </a:solidFill>
              </a:rPr>
              <a:t>）中，如果一个元组变量的前面</a:t>
            </a:r>
            <a:r>
              <a:rPr lang="zh-CN" altLang="en-US" sz="2400" b="1" dirty="0">
                <a:solidFill>
                  <a:srgbClr val="660033"/>
                </a:solidFill>
              </a:rPr>
              <a:t>没有存在量词</a:t>
            </a:r>
            <a:r>
              <a:rPr lang="zh-CN" altLang="en-US" sz="2800" b="1" dirty="0">
                <a:solidFill>
                  <a:schemeClr val="bg1"/>
                </a:solidFill>
              </a:rPr>
              <a:t>ョ</a:t>
            </a:r>
            <a:r>
              <a:rPr lang="zh-CN" altLang="en-US" sz="2400" b="1" dirty="0">
                <a:solidFill>
                  <a:srgbClr val="660033"/>
                </a:solidFill>
              </a:rPr>
              <a:t>或全称量词</a:t>
            </a:r>
            <a:r>
              <a:rPr lang="zh-CN" altLang="en-US" sz="2400" b="1" dirty="0">
                <a:solidFill>
                  <a:schemeClr val="bg1"/>
                </a:solidFill>
                <a:sym typeface="Symbol" pitchFamily="18" charset="2"/>
              </a:rPr>
              <a:t></a:t>
            </a:r>
            <a:r>
              <a:rPr lang="zh-CN" altLang="en-US" sz="2400" b="1" dirty="0">
                <a:solidFill>
                  <a:srgbClr val="660033"/>
                </a:solidFill>
                <a:sym typeface="Symbol" pitchFamily="18" charset="2"/>
              </a:rPr>
              <a:t>的</a:t>
            </a:r>
            <a:r>
              <a:rPr lang="zh-CN" altLang="en-US" sz="2400" b="1" dirty="0">
                <a:solidFill>
                  <a:srgbClr val="660033"/>
                </a:solidFill>
              </a:rPr>
              <a:t>符号</a:t>
            </a:r>
            <a:r>
              <a:rPr lang="zh-CN" altLang="en-US" sz="2400" b="1" dirty="0">
                <a:solidFill>
                  <a:schemeClr val="bg2"/>
                </a:solidFill>
              </a:rPr>
              <a:t>定义，称之为</a:t>
            </a:r>
            <a:r>
              <a:rPr lang="zh-CN" altLang="en-US" sz="2400" b="1" dirty="0">
                <a:solidFill>
                  <a:srgbClr val="660033"/>
                </a:solidFill>
              </a:rPr>
              <a:t>自由元组变量</a:t>
            </a:r>
            <a:r>
              <a:rPr lang="zh-CN" altLang="en-US" sz="2400" b="1" dirty="0">
                <a:solidFill>
                  <a:schemeClr val="bg2"/>
                </a:solidFill>
              </a:rPr>
              <a:t>，否则称为约束元组变量。</a:t>
            </a:r>
          </a:p>
          <a:p>
            <a:pPr>
              <a:lnSpc>
                <a:spcPct val="150000"/>
              </a:lnSpc>
            </a:pPr>
            <a:r>
              <a:rPr lang="zh-CN" altLang="en-US" sz="2400" dirty="0">
                <a:solidFill>
                  <a:schemeClr val="bg2"/>
                </a:solidFill>
              </a:rPr>
              <a:t> </a:t>
            </a:r>
          </a:p>
        </p:txBody>
      </p:sp>
    </p:spTree>
    <p:extLst>
      <p:ext uri="{BB962C8B-B14F-4D97-AF65-F5344CB8AC3E}">
        <p14:creationId xmlns:p14="http://schemas.microsoft.com/office/powerpoint/2010/main" val="16033124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17475"/>
                                        </p:tgtEl>
                                        <p:attrNameLst>
                                          <p:attrName>style.visibility</p:attrName>
                                        </p:attrNameLst>
                                      </p:cBhvr>
                                      <p:to>
                                        <p:strVal val="visible"/>
                                      </p:to>
                                    </p:set>
                                    <p:animEffect transition="in" filter="blinds(horizontal)">
                                      <p:cBhvr>
                                        <p:cTn id="7" dur="500"/>
                                        <p:tgtEl>
                                          <p:spTgt spid="6174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7475" grpId="0"/>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18501" name="Group 1029"/>
          <p:cNvGrpSpPr>
            <a:grpSpLocks/>
          </p:cNvGrpSpPr>
          <p:nvPr/>
        </p:nvGrpSpPr>
        <p:grpSpPr bwMode="auto">
          <a:xfrm>
            <a:off x="228600" y="333375"/>
            <a:ext cx="8915400" cy="5386388"/>
            <a:chOff x="144" y="423"/>
            <a:chExt cx="5616" cy="3393"/>
          </a:xfrm>
        </p:grpSpPr>
        <p:sp>
          <p:nvSpPr>
            <p:cNvPr id="618498" name="Rectangle 1026"/>
            <p:cNvSpPr>
              <a:spLocks noChangeArrowheads="1"/>
            </p:cNvSpPr>
            <p:nvPr/>
          </p:nvSpPr>
          <p:spPr bwMode="auto">
            <a:xfrm>
              <a:off x="144" y="423"/>
              <a:ext cx="5616" cy="339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pPr>
              <a:r>
                <a:rPr lang="en-US" altLang="zh-CN" sz="2400" b="1">
                  <a:solidFill>
                    <a:srgbClr val="000099"/>
                  </a:solidFill>
                  <a:cs typeface="Times New Roman" pitchFamily="18" charset="0"/>
                </a:rPr>
                <a:t>  3</a:t>
              </a:r>
              <a:r>
                <a:rPr lang="en-US" altLang="zh-CN" sz="2400" b="1">
                  <a:solidFill>
                    <a:srgbClr val="000099"/>
                  </a:solidFill>
                </a:rPr>
                <a:t>. </a:t>
              </a:r>
              <a:r>
                <a:rPr lang="zh-CN" altLang="en-US" sz="2400" b="1">
                  <a:solidFill>
                    <a:srgbClr val="000099"/>
                  </a:solidFill>
                </a:rPr>
                <a:t>运算符及优先次序为：</a:t>
              </a:r>
            </a:p>
            <a:p>
              <a:pPr>
                <a:lnSpc>
                  <a:spcPct val="200000"/>
                </a:lnSpc>
              </a:pPr>
              <a:r>
                <a:rPr lang="zh-CN" altLang="en-US" sz="2400" b="1">
                  <a:solidFill>
                    <a:schemeClr val="bg2"/>
                  </a:solidFill>
                </a:rPr>
                <a:t>      </a:t>
              </a:r>
              <a:r>
                <a:rPr lang="en-US" altLang="zh-CN" sz="2400" b="1">
                  <a:solidFill>
                    <a:schemeClr val="bg2"/>
                  </a:solidFill>
                </a:rPr>
                <a:t>i.</a:t>
              </a:r>
              <a:r>
                <a:rPr lang="zh-CN" altLang="en-US" sz="2400" b="1">
                  <a:solidFill>
                    <a:schemeClr val="bg2"/>
                  </a:solidFill>
                </a:rPr>
                <a:t>括号中运算符优先级最高</a:t>
              </a:r>
            </a:p>
            <a:p>
              <a:pPr>
                <a:lnSpc>
                  <a:spcPct val="200000"/>
                </a:lnSpc>
              </a:pPr>
              <a:r>
                <a:rPr lang="zh-CN" altLang="en-US" sz="2400" b="1">
                  <a:solidFill>
                    <a:schemeClr val="bg2"/>
                  </a:solidFill>
                </a:rPr>
                <a:t>      </a:t>
              </a:r>
              <a:r>
                <a:rPr lang="en-US" altLang="zh-CN" sz="2400" b="1">
                  <a:solidFill>
                    <a:schemeClr val="bg2"/>
                  </a:solidFill>
                </a:rPr>
                <a:t>ii.</a:t>
              </a:r>
              <a:r>
                <a:rPr lang="zh-CN" altLang="en-US" sz="2400" b="1">
                  <a:solidFill>
                    <a:schemeClr val="bg2"/>
                  </a:solidFill>
                </a:rPr>
                <a:t>算术比较运算符最高；</a:t>
              </a:r>
            </a:p>
            <a:p>
              <a:pPr>
                <a:lnSpc>
                  <a:spcPct val="200000"/>
                </a:lnSpc>
              </a:pPr>
              <a:r>
                <a:rPr lang="zh-CN" altLang="en-US" sz="2400" b="1">
                  <a:solidFill>
                    <a:schemeClr val="bg2"/>
                  </a:solidFill>
                </a:rPr>
                <a:t>      </a:t>
              </a:r>
              <a:r>
                <a:rPr lang="en-US" altLang="zh-CN" sz="2400" b="1">
                  <a:solidFill>
                    <a:schemeClr val="bg2"/>
                  </a:solidFill>
                </a:rPr>
                <a:t>iii.</a:t>
              </a:r>
              <a:r>
                <a:rPr lang="zh-CN" altLang="en-US" sz="2400" b="1">
                  <a:solidFill>
                    <a:schemeClr val="bg2"/>
                  </a:solidFill>
                </a:rPr>
                <a:t>量词 ：存在量词ョ</a:t>
              </a:r>
            </a:p>
            <a:p>
              <a:pPr>
                <a:lnSpc>
                  <a:spcPct val="200000"/>
                </a:lnSpc>
              </a:pPr>
              <a:r>
                <a:rPr lang="zh-CN" altLang="en-US" sz="2400" b="1">
                  <a:solidFill>
                    <a:schemeClr val="bg2"/>
                  </a:solidFill>
                </a:rPr>
                <a:t>                 全称量词</a:t>
              </a:r>
              <a:r>
                <a:rPr lang="zh-CN" altLang="en-US" sz="2400" b="1">
                  <a:solidFill>
                    <a:schemeClr val="bg2"/>
                  </a:solidFill>
                  <a:sym typeface="Symbol" pitchFamily="18" charset="2"/>
                </a:rPr>
                <a:t></a:t>
              </a:r>
            </a:p>
            <a:p>
              <a:pPr>
                <a:lnSpc>
                  <a:spcPct val="200000"/>
                </a:lnSpc>
              </a:pPr>
              <a:r>
                <a:rPr lang="zh-CN" altLang="en-US" sz="2400" b="1">
                  <a:solidFill>
                    <a:schemeClr val="bg2"/>
                  </a:solidFill>
                </a:rPr>
                <a:t>       </a:t>
              </a:r>
              <a:r>
                <a:rPr lang="en-US" altLang="zh-CN" sz="2400" b="1">
                  <a:solidFill>
                    <a:schemeClr val="bg2"/>
                  </a:solidFill>
                </a:rPr>
                <a:t>iv.</a:t>
              </a:r>
              <a:r>
                <a:rPr lang="zh-CN" altLang="en-US" sz="2400" b="1">
                  <a:solidFill>
                    <a:schemeClr val="bg2"/>
                  </a:solidFill>
                </a:rPr>
                <a:t>逻辑运算符：</a:t>
              </a:r>
              <a:r>
                <a:rPr lang="zh-CN" altLang="en-US" sz="2400" b="1">
                  <a:solidFill>
                    <a:schemeClr val="bg2"/>
                  </a:solidFill>
                  <a:sym typeface="Symbol" pitchFamily="18" charset="2"/>
                </a:rPr>
                <a:t> 、</a:t>
              </a:r>
              <a:r>
                <a:rPr lang="zh-CN" altLang="en-US" sz="2400" b="1">
                  <a:solidFill>
                    <a:schemeClr val="bg2"/>
                  </a:solidFill>
                </a:rPr>
                <a:t>∧、∨</a:t>
              </a:r>
            </a:p>
          </p:txBody>
        </p:sp>
        <p:sp>
          <p:nvSpPr>
            <p:cNvPr id="618499" name="Line 1027"/>
            <p:cNvSpPr>
              <a:spLocks noChangeShapeType="1"/>
            </p:cNvSpPr>
            <p:nvPr/>
          </p:nvSpPr>
          <p:spPr bwMode="auto">
            <a:xfrm>
              <a:off x="4080" y="1152"/>
              <a:ext cx="0" cy="1488"/>
            </a:xfrm>
            <a:prstGeom prst="line">
              <a:avLst/>
            </a:prstGeom>
            <a:noFill/>
            <a:ln w="28575">
              <a:solidFill>
                <a:schemeClr val="bg2"/>
              </a:solidFill>
              <a:round/>
              <a:headEnd/>
              <a:tailEnd type="arrow" w="med" len="me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618500" name="Rectangle 1028"/>
            <p:cNvSpPr>
              <a:spLocks noChangeArrowheads="1"/>
            </p:cNvSpPr>
            <p:nvPr/>
          </p:nvSpPr>
          <p:spPr bwMode="auto">
            <a:xfrm>
              <a:off x="4224" y="960"/>
              <a:ext cx="1076" cy="42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nSpc>
                  <a:spcPct val="160000"/>
                </a:lnSpc>
              </a:pPr>
              <a:r>
                <a:rPr lang="zh-CN" altLang="en-US" sz="2400"/>
                <a:t>优先级最高</a:t>
              </a:r>
            </a:p>
          </p:txBody>
        </p:sp>
      </p:grpSp>
      <p:pic>
        <p:nvPicPr>
          <p:cNvPr id="6" name="图片 5">
            <a:extLst>
              <a:ext uri="{FF2B5EF4-FFF2-40B4-BE49-F238E27FC236}">
                <a16:creationId xmlns:a16="http://schemas.microsoft.com/office/drawing/2014/main" id="{0B23B208-06B6-4C49-B459-40CC3D6D2E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261416" y="476672"/>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6450" name="Rectangle 2"/>
          <p:cNvSpPr>
            <a:spLocks noChangeArrowheads="1"/>
          </p:cNvSpPr>
          <p:nvPr/>
        </p:nvSpPr>
        <p:spPr bwMode="auto">
          <a:xfrm>
            <a:off x="0" y="0"/>
            <a:ext cx="9144000"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60000"/>
              </a:lnSpc>
            </a:pPr>
            <a:endParaRPr lang="zh-CN" altLang="zh-CN" sz="2400">
              <a:cs typeface="Times New Roman" pitchFamily="18" charset="0"/>
            </a:endParaRPr>
          </a:p>
        </p:txBody>
      </p:sp>
      <p:sp>
        <p:nvSpPr>
          <p:cNvPr id="616451" name="Rectangle 3"/>
          <p:cNvSpPr>
            <a:spLocks noChangeArrowheads="1"/>
          </p:cNvSpPr>
          <p:nvPr/>
        </p:nvSpPr>
        <p:spPr bwMode="auto">
          <a:xfrm>
            <a:off x="-107950" y="115888"/>
            <a:ext cx="9448800" cy="22463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10000"/>
              </a:lnSpc>
            </a:pPr>
            <a:r>
              <a:rPr lang="en-US" altLang="zh-CN" sz="2400" b="1">
                <a:solidFill>
                  <a:srgbClr val="000099"/>
                </a:solidFill>
              </a:rPr>
              <a:t> 4. </a:t>
            </a:r>
            <a:r>
              <a:rPr lang="zh-CN" altLang="en-US" sz="2400" b="1">
                <a:solidFill>
                  <a:srgbClr val="000099"/>
                </a:solidFill>
              </a:rPr>
              <a:t>公式中变量的递归定义如下：</a:t>
            </a:r>
          </a:p>
          <a:p>
            <a:pPr>
              <a:lnSpc>
                <a:spcPct val="110000"/>
              </a:lnSpc>
            </a:pPr>
            <a:r>
              <a:rPr lang="zh-CN" altLang="en-US" sz="2400" b="1">
                <a:solidFill>
                  <a:schemeClr val="bg2"/>
                </a:solidFill>
              </a:rPr>
              <a:t> ①每个原子公式是一个公式。其中的元组变量是自由变量</a:t>
            </a:r>
            <a:r>
              <a:rPr lang="en-US" altLang="zh-CN" sz="2400" b="1">
                <a:solidFill>
                  <a:schemeClr val="bg2"/>
                </a:solidFill>
              </a:rPr>
              <a:t>;</a:t>
            </a:r>
          </a:p>
          <a:p>
            <a:pPr>
              <a:lnSpc>
                <a:spcPct val="110000"/>
              </a:lnSpc>
            </a:pPr>
            <a:r>
              <a:rPr lang="en-US" altLang="zh-CN" sz="2400" b="1">
                <a:solidFill>
                  <a:schemeClr val="bg2"/>
                </a:solidFill>
                <a:cs typeface="Times New Roman" pitchFamily="18" charset="0"/>
              </a:rPr>
              <a:t> </a:t>
            </a:r>
            <a:r>
              <a:rPr lang="en-US" altLang="zh-CN" sz="2400" b="1">
                <a:solidFill>
                  <a:srgbClr val="660033"/>
                </a:solidFill>
                <a:cs typeface="Times New Roman" pitchFamily="18" charset="0"/>
              </a:rPr>
              <a:t>②</a:t>
            </a:r>
            <a:r>
              <a:rPr lang="zh-CN" altLang="en-US" sz="2400" b="1">
                <a:solidFill>
                  <a:srgbClr val="660033"/>
                </a:solidFill>
                <a:cs typeface="Times New Roman" pitchFamily="18" charset="0"/>
              </a:rPr>
              <a:t>如果</a:t>
            </a:r>
            <a:r>
              <a:rPr lang="zh-CN" altLang="en-US" sz="2400" b="1">
                <a:solidFill>
                  <a:srgbClr val="660033"/>
                </a:solidFill>
                <a:sym typeface="Symbol" pitchFamily="18" charset="2"/>
              </a:rPr>
              <a:t></a:t>
            </a:r>
            <a:r>
              <a:rPr lang="en-US" altLang="zh-CN" sz="2400" b="1">
                <a:solidFill>
                  <a:srgbClr val="660033"/>
                </a:solidFill>
                <a:cs typeface="Times New Roman" pitchFamily="18" charset="0"/>
              </a:rPr>
              <a:t>1</a:t>
            </a:r>
            <a:r>
              <a:rPr lang="zh-CN" altLang="en-US" sz="2400" b="1">
                <a:solidFill>
                  <a:srgbClr val="660033"/>
                </a:solidFill>
                <a:cs typeface="Times New Roman" pitchFamily="18" charset="0"/>
              </a:rPr>
              <a:t>和</a:t>
            </a:r>
            <a:r>
              <a:rPr lang="zh-CN" altLang="en-US" sz="2400" b="1">
                <a:solidFill>
                  <a:srgbClr val="660033"/>
                </a:solidFill>
                <a:sym typeface="Symbol" pitchFamily="18" charset="2"/>
              </a:rPr>
              <a:t></a:t>
            </a:r>
            <a:r>
              <a:rPr lang="en-US" altLang="zh-CN" sz="2400" b="1">
                <a:solidFill>
                  <a:srgbClr val="660033"/>
                </a:solidFill>
                <a:cs typeface="Times New Roman" pitchFamily="18" charset="0"/>
              </a:rPr>
              <a:t>2</a:t>
            </a:r>
            <a:r>
              <a:rPr lang="zh-CN" altLang="en-US" sz="2400" b="1">
                <a:solidFill>
                  <a:srgbClr val="660033"/>
                </a:solidFill>
                <a:cs typeface="Times New Roman" pitchFamily="18" charset="0"/>
              </a:rPr>
              <a:t>是元组关系演算公式，则</a:t>
            </a:r>
            <a:r>
              <a:rPr lang="en-US" altLang="zh-CN" sz="2400" b="1">
                <a:solidFill>
                  <a:srgbClr val="660033"/>
                </a:solidFill>
                <a:cs typeface="Times New Roman" pitchFamily="18" charset="0"/>
              </a:rPr>
              <a:t>:</a:t>
            </a:r>
          </a:p>
          <a:p>
            <a:pPr>
              <a:lnSpc>
                <a:spcPct val="110000"/>
              </a:lnSpc>
            </a:pPr>
            <a:r>
              <a:rPr lang="en-US" altLang="zh-CN" sz="2400" b="1">
                <a:solidFill>
                  <a:srgbClr val="660033"/>
                </a:solidFill>
                <a:cs typeface="Times New Roman" pitchFamily="18" charset="0"/>
              </a:rPr>
              <a:t>     </a:t>
            </a:r>
            <a:r>
              <a:rPr lang="en-US" altLang="zh-CN" sz="2400" b="1">
                <a:solidFill>
                  <a:srgbClr val="660033"/>
                </a:solidFill>
                <a:sym typeface="Symbol" pitchFamily="18" charset="2"/>
              </a:rPr>
              <a:t></a:t>
            </a:r>
            <a:r>
              <a:rPr lang="en-US" altLang="zh-CN" sz="2400" b="1">
                <a:solidFill>
                  <a:srgbClr val="660033"/>
                </a:solidFill>
                <a:cs typeface="Times New Roman" pitchFamily="18" charset="0"/>
              </a:rPr>
              <a:t>1∧</a:t>
            </a:r>
            <a:r>
              <a:rPr lang="en-US" altLang="zh-CN" sz="2400" b="1">
                <a:solidFill>
                  <a:srgbClr val="660033"/>
                </a:solidFill>
                <a:sym typeface="Symbol" pitchFamily="18" charset="2"/>
              </a:rPr>
              <a:t></a:t>
            </a:r>
            <a:r>
              <a:rPr lang="en-US" altLang="zh-CN" sz="2400" b="1">
                <a:solidFill>
                  <a:srgbClr val="660033"/>
                </a:solidFill>
                <a:cs typeface="Times New Roman" pitchFamily="18" charset="0"/>
              </a:rPr>
              <a:t>2,</a:t>
            </a:r>
            <a:r>
              <a:rPr lang="en-US" altLang="zh-CN" sz="2400" b="1">
                <a:solidFill>
                  <a:srgbClr val="660033"/>
                </a:solidFill>
                <a:sym typeface="Symbol" pitchFamily="18" charset="2"/>
              </a:rPr>
              <a:t></a:t>
            </a:r>
            <a:r>
              <a:rPr lang="en-US" altLang="zh-CN" sz="2400" b="1">
                <a:solidFill>
                  <a:srgbClr val="660033"/>
                </a:solidFill>
                <a:cs typeface="Times New Roman" pitchFamily="18" charset="0"/>
              </a:rPr>
              <a:t>1∨</a:t>
            </a:r>
            <a:r>
              <a:rPr lang="en-US" altLang="zh-CN" sz="2400" b="1">
                <a:solidFill>
                  <a:srgbClr val="660033"/>
                </a:solidFill>
                <a:sym typeface="Symbol" pitchFamily="18" charset="2"/>
              </a:rPr>
              <a:t></a:t>
            </a:r>
            <a:r>
              <a:rPr lang="en-US" altLang="zh-CN" sz="2400" b="1">
                <a:solidFill>
                  <a:srgbClr val="660033"/>
                </a:solidFill>
                <a:cs typeface="Times New Roman" pitchFamily="18" charset="0"/>
              </a:rPr>
              <a:t>2,┓</a:t>
            </a:r>
            <a:r>
              <a:rPr lang="en-US" altLang="zh-CN" sz="2400" b="1">
                <a:solidFill>
                  <a:srgbClr val="660033"/>
                </a:solidFill>
                <a:sym typeface="Symbol" pitchFamily="18" charset="2"/>
              </a:rPr>
              <a:t></a:t>
            </a:r>
            <a:r>
              <a:rPr lang="en-US" altLang="zh-CN" sz="2400" b="1">
                <a:solidFill>
                  <a:srgbClr val="660033"/>
                </a:solidFill>
                <a:cs typeface="Times New Roman" pitchFamily="18" charset="0"/>
              </a:rPr>
              <a:t>1</a:t>
            </a:r>
            <a:r>
              <a:rPr lang="zh-CN" altLang="en-US" sz="2400" b="1">
                <a:solidFill>
                  <a:srgbClr val="660033"/>
                </a:solidFill>
                <a:cs typeface="Times New Roman" pitchFamily="18" charset="0"/>
              </a:rPr>
              <a:t>也是元组关系演算公式</a:t>
            </a:r>
            <a:r>
              <a:rPr lang="en-US" altLang="zh-CN" sz="2400" b="1">
                <a:solidFill>
                  <a:srgbClr val="660033"/>
                </a:solidFill>
                <a:cs typeface="Times New Roman" pitchFamily="18" charset="0"/>
              </a:rPr>
              <a:t>; </a:t>
            </a:r>
            <a:endParaRPr lang="en-US" altLang="zh-CN" sz="2400" b="1">
              <a:solidFill>
                <a:srgbClr val="660033"/>
              </a:solidFill>
            </a:endParaRPr>
          </a:p>
        </p:txBody>
      </p:sp>
      <p:sp>
        <p:nvSpPr>
          <p:cNvPr id="697346" name="Rectangle 2"/>
          <p:cNvSpPr>
            <a:spLocks noChangeArrowheads="1"/>
          </p:cNvSpPr>
          <p:nvPr/>
        </p:nvSpPr>
        <p:spPr bwMode="auto">
          <a:xfrm>
            <a:off x="107950" y="2420938"/>
            <a:ext cx="8964613" cy="38893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40000"/>
              </a:lnSpc>
            </a:pPr>
            <a:r>
              <a:rPr lang="en-US" altLang="zh-CN" sz="2400" b="1" dirty="0">
                <a:solidFill>
                  <a:schemeClr val="bg2"/>
                </a:solidFill>
              </a:rPr>
              <a:t>③</a:t>
            </a:r>
            <a:r>
              <a:rPr lang="zh-CN" altLang="en-US" sz="2400" b="1" dirty="0">
                <a:solidFill>
                  <a:schemeClr val="bg2"/>
                </a:solidFill>
              </a:rPr>
              <a:t>若</a:t>
            </a:r>
            <a:r>
              <a:rPr lang="zh-CN" altLang="en-US" sz="2400" b="1" dirty="0">
                <a:solidFill>
                  <a:schemeClr val="bg2"/>
                </a:solidFill>
                <a:sym typeface="Symbol" pitchFamily="18" charset="2"/>
              </a:rPr>
              <a:t></a:t>
            </a:r>
            <a:r>
              <a:rPr lang="zh-CN" altLang="en-US" sz="2400" b="1" dirty="0">
                <a:solidFill>
                  <a:schemeClr val="bg2"/>
                </a:solidFill>
              </a:rPr>
              <a:t>是元组关系演算公式，则</a:t>
            </a:r>
            <a:r>
              <a:rPr lang="en-US" altLang="zh-CN" sz="2400" b="1" dirty="0">
                <a:solidFill>
                  <a:schemeClr val="bg2"/>
                </a:solidFill>
              </a:rPr>
              <a:t>(</a:t>
            </a:r>
            <a:r>
              <a:rPr lang="en-US" altLang="zh-CN" sz="2400" b="1" dirty="0">
                <a:solidFill>
                  <a:schemeClr val="bg2"/>
                </a:solidFill>
                <a:sym typeface="Symbol" pitchFamily="18" charset="2"/>
              </a:rPr>
              <a:t></a:t>
            </a:r>
            <a:r>
              <a:rPr lang="en-US" altLang="zh-CN" sz="2400" b="1" dirty="0">
                <a:solidFill>
                  <a:schemeClr val="bg2"/>
                </a:solidFill>
              </a:rPr>
              <a:t>t)(</a:t>
            </a:r>
            <a:r>
              <a:rPr lang="en-US" altLang="zh-CN" sz="2400" b="1" dirty="0">
                <a:solidFill>
                  <a:schemeClr val="bg2"/>
                </a:solidFill>
                <a:sym typeface="Symbol" pitchFamily="18" charset="2"/>
              </a:rPr>
              <a:t></a:t>
            </a:r>
            <a:r>
              <a:rPr lang="en-US" altLang="zh-CN" sz="2400" b="1" dirty="0">
                <a:solidFill>
                  <a:schemeClr val="bg2"/>
                </a:solidFill>
              </a:rPr>
              <a:t>)</a:t>
            </a:r>
            <a:r>
              <a:rPr lang="zh-CN" altLang="en-US" sz="2400" b="1" dirty="0">
                <a:solidFill>
                  <a:schemeClr val="bg2"/>
                </a:solidFill>
              </a:rPr>
              <a:t>也是元组关系演算公式</a:t>
            </a:r>
            <a:r>
              <a:rPr lang="en-US" altLang="zh-CN" sz="2400" b="1" dirty="0">
                <a:solidFill>
                  <a:schemeClr val="bg2"/>
                </a:solidFill>
              </a:rPr>
              <a:t>;      </a:t>
            </a:r>
            <a:r>
              <a:rPr lang="en-US" altLang="zh-CN" sz="2400" b="1" dirty="0">
                <a:solidFill>
                  <a:srgbClr val="660033"/>
                </a:solidFill>
              </a:rPr>
              <a:t> ④</a:t>
            </a:r>
            <a:r>
              <a:rPr lang="zh-CN" altLang="en-US" sz="2400" b="1" dirty="0">
                <a:solidFill>
                  <a:srgbClr val="660033"/>
                </a:solidFill>
              </a:rPr>
              <a:t>若</a:t>
            </a:r>
            <a:r>
              <a:rPr lang="zh-CN" altLang="en-US" sz="2400" b="1" dirty="0">
                <a:solidFill>
                  <a:srgbClr val="660033"/>
                </a:solidFill>
                <a:sym typeface="Symbol" pitchFamily="18" charset="2"/>
              </a:rPr>
              <a:t></a:t>
            </a:r>
            <a:r>
              <a:rPr lang="zh-CN" altLang="en-US" sz="2400" b="1" dirty="0">
                <a:solidFill>
                  <a:srgbClr val="660033"/>
                </a:solidFill>
              </a:rPr>
              <a:t>是元组关系演算公式，则</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t)(</a:t>
            </a:r>
            <a:r>
              <a:rPr lang="en-US" altLang="zh-CN" sz="2400" b="1" dirty="0">
                <a:solidFill>
                  <a:srgbClr val="660033"/>
                </a:solidFill>
                <a:sym typeface="Symbol" pitchFamily="18" charset="2"/>
              </a:rPr>
              <a:t></a:t>
            </a:r>
            <a:r>
              <a:rPr lang="en-US" altLang="zh-CN" sz="2400" b="1" dirty="0">
                <a:solidFill>
                  <a:srgbClr val="660033"/>
                </a:solidFill>
              </a:rPr>
              <a:t>)</a:t>
            </a:r>
            <a:r>
              <a:rPr lang="zh-CN" altLang="en-US" sz="2400" b="1" dirty="0">
                <a:solidFill>
                  <a:srgbClr val="660033"/>
                </a:solidFill>
              </a:rPr>
              <a:t>也是元组关系演算公式</a:t>
            </a:r>
            <a:r>
              <a:rPr lang="en-US" altLang="zh-CN" sz="2400" b="1" dirty="0">
                <a:solidFill>
                  <a:srgbClr val="660033"/>
                </a:solidFill>
              </a:rPr>
              <a:t>;</a:t>
            </a:r>
          </a:p>
          <a:p>
            <a:pPr>
              <a:lnSpc>
                <a:spcPct val="140000"/>
              </a:lnSpc>
            </a:pPr>
            <a:r>
              <a:rPr lang="en-US" altLang="zh-CN" sz="2400" b="1" dirty="0">
                <a:solidFill>
                  <a:schemeClr val="bg2"/>
                </a:solidFill>
              </a:rPr>
              <a:t>⑤</a:t>
            </a:r>
            <a:r>
              <a:rPr lang="zh-CN" altLang="en-US" sz="2400" b="1" dirty="0">
                <a:solidFill>
                  <a:schemeClr val="bg2"/>
                </a:solidFill>
              </a:rPr>
              <a:t>在元组演算公式中，各种运算符的优先次序为：</a:t>
            </a:r>
          </a:p>
          <a:p>
            <a:pPr>
              <a:lnSpc>
                <a:spcPct val="140000"/>
              </a:lnSpc>
            </a:pPr>
            <a:r>
              <a:rPr lang="zh-CN" altLang="en-US" sz="2400" b="1" dirty="0">
                <a:solidFill>
                  <a:schemeClr val="bg2"/>
                </a:solidFill>
              </a:rPr>
              <a:t>        </a:t>
            </a:r>
            <a:r>
              <a:rPr lang="zh-CN" altLang="en-US" sz="2400" b="1" dirty="0">
                <a:solidFill>
                  <a:schemeClr val="bg2"/>
                </a:solidFill>
                <a:highlight>
                  <a:srgbClr val="FFFF00"/>
                </a:highlight>
              </a:rPr>
              <a:t>括号</a:t>
            </a:r>
            <a:r>
              <a:rPr lang="en-US" altLang="zh-CN" sz="2400" b="1" dirty="0">
                <a:solidFill>
                  <a:schemeClr val="bg2"/>
                </a:solidFill>
                <a:highlight>
                  <a:srgbClr val="FFFF00"/>
                </a:highlight>
              </a:rPr>
              <a:t>,</a:t>
            </a:r>
            <a:r>
              <a:rPr lang="zh-CN" altLang="en-US" sz="2400" b="1" dirty="0">
                <a:solidFill>
                  <a:schemeClr val="bg2"/>
                </a:solidFill>
                <a:highlight>
                  <a:srgbClr val="FFFF00"/>
                </a:highlight>
              </a:rPr>
              <a:t>算术比较运算符</a:t>
            </a:r>
            <a:r>
              <a:rPr lang="en-US" altLang="zh-CN" sz="2400" b="1" dirty="0">
                <a:solidFill>
                  <a:schemeClr val="bg2"/>
                </a:solidFill>
                <a:highlight>
                  <a:srgbClr val="FFFF00"/>
                </a:highlight>
              </a:rPr>
              <a:t>,</a:t>
            </a:r>
            <a:r>
              <a:rPr lang="zh-CN" altLang="en-US" sz="2400" b="1" dirty="0">
                <a:solidFill>
                  <a:schemeClr val="bg2"/>
                </a:solidFill>
                <a:highlight>
                  <a:srgbClr val="FFFF00"/>
                </a:highlight>
              </a:rPr>
              <a:t>ョ</a:t>
            </a:r>
            <a:r>
              <a:rPr lang="en-US" altLang="zh-CN" sz="2400" b="1" dirty="0">
                <a:solidFill>
                  <a:schemeClr val="bg2"/>
                </a:solidFill>
                <a:highlight>
                  <a:srgbClr val="FFFF00"/>
                </a:highlight>
              </a:rPr>
              <a:t>, </a:t>
            </a:r>
            <a:r>
              <a:rPr lang="en-US" altLang="zh-CN" sz="2400" b="1" dirty="0">
                <a:solidFill>
                  <a:schemeClr val="bg2"/>
                </a:solidFill>
                <a:highlight>
                  <a:srgbClr val="FFFF00"/>
                </a:highlight>
                <a:sym typeface="Symbol" pitchFamily="18" charset="2"/>
              </a:rPr>
              <a:t>, </a:t>
            </a:r>
            <a:r>
              <a:rPr lang="zh-CN" altLang="en-US" sz="2400" b="1" dirty="0">
                <a:solidFill>
                  <a:schemeClr val="bg2"/>
                </a:solidFill>
                <a:highlight>
                  <a:srgbClr val="FFFF00"/>
                </a:highlight>
                <a:sym typeface="Symbol" pitchFamily="18" charset="2"/>
              </a:rPr>
              <a:t>、</a:t>
            </a:r>
            <a:r>
              <a:rPr lang="zh-CN" altLang="en-US" sz="2400" b="1" dirty="0">
                <a:solidFill>
                  <a:schemeClr val="bg2"/>
                </a:solidFill>
                <a:highlight>
                  <a:srgbClr val="FFFF00"/>
                </a:highlight>
              </a:rPr>
              <a:t>∧、∨</a:t>
            </a:r>
          </a:p>
          <a:p>
            <a:pPr>
              <a:lnSpc>
                <a:spcPct val="140000"/>
              </a:lnSpc>
            </a:pPr>
            <a:r>
              <a:rPr lang="zh-CN" altLang="en-US" sz="2400" b="1" dirty="0">
                <a:solidFill>
                  <a:srgbClr val="660033"/>
                </a:solidFill>
              </a:rPr>
              <a:t>⑥有限次地使用上述五条规则得到的公式是元组关系演算公式，</a:t>
            </a:r>
          </a:p>
          <a:p>
            <a:pPr>
              <a:lnSpc>
                <a:spcPct val="140000"/>
              </a:lnSpc>
            </a:pPr>
            <a:r>
              <a:rPr lang="zh-CN" altLang="en-US" sz="2400" b="1" dirty="0">
                <a:solidFill>
                  <a:srgbClr val="660033"/>
                </a:solidFill>
              </a:rPr>
              <a:t>     其他公式不是元组关系演算公式。</a:t>
            </a:r>
          </a:p>
        </p:txBody>
      </p:sp>
      <p:pic>
        <p:nvPicPr>
          <p:cNvPr id="2" name="图片 1">
            <a:extLst>
              <a:ext uri="{FF2B5EF4-FFF2-40B4-BE49-F238E27FC236}">
                <a16:creationId xmlns:a16="http://schemas.microsoft.com/office/drawing/2014/main" id="{6D785FD6-5805-475E-BC30-6D471F3F6F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76" t="20973" r="54062" b="13716"/>
          <a:stretch>
            <a:fillRect/>
          </a:stretch>
        </p:blipFill>
        <p:spPr bwMode="auto">
          <a:xfrm>
            <a:off x="683568" y="4365625"/>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97346"/>
                                        </p:tgtEl>
                                        <p:attrNameLst>
                                          <p:attrName>style.visibility</p:attrName>
                                        </p:attrNameLst>
                                      </p:cBhvr>
                                      <p:to>
                                        <p:strVal val="visible"/>
                                      </p:to>
                                    </p:set>
                                    <p:animEffect transition="in" filter="blinds(horizontal)">
                                      <p:cBhvr>
                                        <p:cTn id="7" dur="500"/>
                                        <p:tgtEl>
                                          <p:spTgt spid="697346"/>
                                        </p:tgtEl>
                                      </p:cBhvr>
                                    </p:animEffect>
                                  </p:childTnLst>
                                </p:cTn>
                              </p:par>
                            </p:childTnLst>
                          </p:cTn>
                        </p:par>
                      </p:childTnLst>
                    </p:cTn>
                  </p:par>
                  <p:par>
                    <p:cTn id="8" fill="hold">
                      <p:stCondLst>
                        <p:cond delay="indefinite"/>
                      </p:stCondLst>
                      <p:childTnLst>
                        <p:par>
                          <p:cTn id="9" fill="hold">
                            <p:stCondLst>
                              <p:cond delay="0"/>
                            </p:stCondLst>
                            <p:childTnLst>
                              <p:par>
                                <p:cTn id="10" presetID="1" presetClass="entr" presetSubtype="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97346" grpId="0"/>
    </p:bld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9522" name="Rectangle 2"/>
          <p:cNvSpPr>
            <a:spLocks noChangeArrowheads="1"/>
          </p:cNvSpPr>
          <p:nvPr/>
        </p:nvSpPr>
        <p:spPr bwMode="auto">
          <a:xfrm>
            <a:off x="358775" y="333375"/>
            <a:ext cx="9109075" cy="57515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2400" b="1" dirty="0">
                <a:solidFill>
                  <a:srgbClr val="000099"/>
                </a:solidFill>
              </a:rPr>
              <a:t>5. </a:t>
            </a:r>
            <a:r>
              <a:rPr lang="zh-CN" altLang="en-US" sz="2400" b="1" dirty="0">
                <a:solidFill>
                  <a:srgbClr val="000099"/>
                </a:solidFill>
                <a:cs typeface="Times New Roman" pitchFamily="18" charset="0"/>
              </a:rPr>
              <a:t>用元组关系演算表达式表示关系运算</a:t>
            </a:r>
          </a:p>
          <a:p>
            <a:pPr>
              <a:lnSpc>
                <a:spcPct val="150000"/>
              </a:lnSpc>
            </a:pPr>
            <a:r>
              <a:rPr lang="zh-CN" altLang="en-US" sz="2400" b="1" dirty="0">
                <a:solidFill>
                  <a:srgbClr val="660033"/>
                </a:solidFill>
              </a:rPr>
              <a:t>并</a:t>
            </a:r>
            <a:r>
              <a:rPr lang="en-US" altLang="zh-CN" sz="2400" b="1" dirty="0">
                <a:solidFill>
                  <a:srgbClr val="660033"/>
                </a:solidFill>
              </a:rPr>
              <a:t>:  R∪S</a:t>
            </a:r>
            <a:r>
              <a:rPr lang="en-US" altLang="zh-CN" sz="2400" b="1" dirty="0">
                <a:solidFill>
                  <a:schemeClr val="bg2"/>
                </a:solidFill>
              </a:rPr>
              <a:t>        {</a:t>
            </a:r>
            <a:r>
              <a:rPr lang="en-US" altLang="zh-CN" sz="2400" b="1" dirty="0" err="1">
                <a:solidFill>
                  <a:schemeClr val="bg2"/>
                </a:solidFill>
              </a:rPr>
              <a:t>t|R</a:t>
            </a:r>
            <a:r>
              <a:rPr lang="zh-CN" altLang="en-US" sz="2400" b="1" dirty="0">
                <a:solidFill>
                  <a:schemeClr val="bg2"/>
                </a:solidFill>
              </a:rPr>
              <a:t>（</a:t>
            </a:r>
            <a:r>
              <a:rPr lang="en-US" altLang="zh-CN" sz="2400" b="1" dirty="0">
                <a:solidFill>
                  <a:schemeClr val="bg2"/>
                </a:solidFill>
              </a:rPr>
              <a:t>t</a:t>
            </a:r>
            <a:r>
              <a:rPr lang="zh-CN" altLang="en-US" sz="2400" b="1" dirty="0">
                <a:solidFill>
                  <a:schemeClr val="bg2"/>
                </a:solidFill>
              </a:rPr>
              <a:t>）∨</a:t>
            </a:r>
            <a:r>
              <a:rPr lang="en-US" altLang="zh-CN" sz="2400" b="1" dirty="0">
                <a:solidFill>
                  <a:schemeClr val="bg2"/>
                </a:solidFill>
              </a:rPr>
              <a:t>S(t)} </a:t>
            </a:r>
          </a:p>
          <a:p>
            <a:pPr>
              <a:lnSpc>
                <a:spcPct val="150000"/>
              </a:lnSpc>
            </a:pPr>
            <a:r>
              <a:rPr lang="zh-CN" altLang="en-US" sz="2400" b="1" dirty="0">
                <a:solidFill>
                  <a:srgbClr val="660033"/>
                </a:solidFill>
              </a:rPr>
              <a:t>差</a:t>
            </a:r>
            <a:r>
              <a:rPr lang="en-US" altLang="zh-CN" sz="2400" b="1" dirty="0">
                <a:solidFill>
                  <a:srgbClr val="660033"/>
                </a:solidFill>
              </a:rPr>
              <a:t>:  R-S</a:t>
            </a:r>
            <a:r>
              <a:rPr lang="en-US" altLang="zh-CN" sz="2400" b="1" dirty="0">
                <a:solidFill>
                  <a:schemeClr val="bg2"/>
                </a:solidFill>
              </a:rPr>
              <a:t>         {</a:t>
            </a:r>
            <a:r>
              <a:rPr lang="en-US" altLang="zh-CN" sz="2400" b="1" dirty="0" err="1">
                <a:solidFill>
                  <a:schemeClr val="bg2"/>
                </a:solidFill>
              </a:rPr>
              <a:t>t|R</a:t>
            </a:r>
            <a:r>
              <a:rPr lang="zh-CN" altLang="en-US" sz="2400" b="1" dirty="0">
                <a:solidFill>
                  <a:schemeClr val="bg2"/>
                </a:solidFill>
              </a:rPr>
              <a:t>（</a:t>
            </a:r>
            <a:r>
              <a:rPr lang="en-US" altLang="zh-CN" sz="2400" b="1" dirty="0">
                <a:solidFill>
                  <a:schemeClr val="bg2"/>
                </a:solidFill>
              </a:rPr>
              <a:t>t</a:t>
            </a:r>
            <a:r>
              <a:rPr lang="zh-CN" altLang="en-US" sz="2400" b="1" dirty="0">
                <a:solidFill>
                  <a:schemeClr val="bg2"/>
                </a:solidFill>
              </a:rPr>
              <a:t>）∧</a:t>
            </a:r>
            <a:r>
              <a:rPr lang="zh-CN" altLang="en-US" sz="2400" b="1" dirty="0">
                <a:solidFill>
                  <a:schemeClr val="bg2"/>
                </a:solidFill>
                <a:sym typeface="Symbol" pitchFamily="18" charset="2"/>
              </a:rPr>
              <a:t></a:t>
            </a:r>
            <a:r>
              <a:rPr lang="en-US" altLang="zh-CN" sz="2400" b="1" dirty="0">
                <a:solidFill>
                  <a:schemeClr val="bg2"/>
                </a:solidFill>
              </a:rPr>
              <a:t>S(t)}  </a:t>
            </a:r>
          </a:p>
          <a:p>
            <a:pPr algn="l">
              <a:lnSpc>
                <a:spcPct val="150000"/>
              </a:lnSpc>
            </a:pPr>
            <a:r>
              <a:rPr lang="zh-CN" altLang="en-US" sz="2400" b="1" dirty="0">
                <a:solidFill>
                  <a:srgbClr val="660033"/>
                </a:solidFill>
              </a:rPr>
              <a:t>笛卡儿积</a:t>
            </a:r>
            <a:r>
              <a:rPr lang="en-US" altLang="zh-CN" sz="2400" b="1" dirty="0">
                <a:solidFill>
                  <a:srgbClr val="660033"/>
                </a:solidFill>
              </a:rPr>
              <a:t>:R×S</a:t>
            </a:r>
            <a:r>
              <a:rPr lang="en-US" altLang="zh-CN" sz="2400" b="1" dirty="0">
                <a:solidFill>
                  <a:schemeClr val="bg2"/>
                </a:solidFill>
              </a:rPr>
              <a:t>    </a:t>
            </a:r>
            <a:r>
              <a:rPr lang="en-US" altLang="zh-CN" sz="2000" b="1" dirty="0">
                <a:solidFill>
                  <a:schemeClr val="bg2"/>
                </a:solidFill>
              </a:rPr>
              <a:t>{t|(</a:t>
            </a:r>
            <a:r>
              <a:rPr lang="en-US" altLang="zh-CN" sz="2000" b="1" dirty="0">
                <a:solidFill>
                  <a:schemeClr val="bg2"/>
                </a:solidFill>
                <a:sym typeface="Symbol" pitchFamily="18" charset="2"/>
              </a:rPr>
              <a:t></a:t>
            </a:r>
            <a:r>
              <a:rPr lang="en-US" altLang="zh-CN" sz="2000" b="1" dirty="0">
                <a:solidFill>
                  <a:schemeClr val="bg2"/>
                </a:solidFill>
              </a:rPr>
              <a:t>u)(</a:t>
            </a:r>
            <a:r>
              <a:rPr lang="en-US" altLang="zh-CN" sz="2000" b="1" dirty="0">
                <a:solidFill>
                  <a:schemeClr val="bg2"/>
                </a:solidFill>
                <a:sym typeface="Symbol" pitchFamily="18" charset="2"/>
              </a:rPr>
              <a:t></a:t>
            </a:r>
            <a:r>
              <a:rPr lang="en-US" altLang="zh-CN" sz="2000" b="1" dirty="0">
                <a:solidFill>
                  <a:schemeClr val="bg2"/>
                </a:solidFill>
              </a:rPr>
              <a:t>v)(R(u)∧S(v)∧t[1]=u[1]∧</a:t>
            </a:r>
            <a:r>
              <a:rPr lang="en-US" altLang="zh-CN" sz="2000" b="1" dirty="0">
                <a:solidFill>
                  <a:schemeClr val="bg2"/>
                </a:solidFill>
                <a:latin typeface="Times New Roman"/>
              </a:rPr>
              <a:t>…</a:t>
            </a:r>
            <a:r>
              <a:rPr lang="en-US" altLang="zh-CN" sz="2000" b="1" dirty="0">
                <a:solidFill>
                  <a:schemeClr val="bg2"/>
                </a:solidFill>
              </a:rPr>
              <a:t>∧ </a:t>
            </a:r>
          </a:p>
          <a:p>
            <a:pPr algn="l">
              <a:lnSpc>
                <a:spcPct val="150000"/>
              </a:lnSpc>
            </a:pPr>
            <a:r>
              <a:rPr lang="en-US" altLang="zh-CN" sz="2000" b="1" dirty="0">
                <a:solidFill>
                  <a:schemeClr val="bg2"/>
                </a:solidFill>
              </a:rPr>
              <a:t>                      t[r]=u[r]∧t[r+1]=v[1] ∧ </a:t>
            </a:r>
            <a:r>
              <a:rPr lang="en-US" altLang="zh-CN" sz="2000" b="1" dirty="0">
                <a:solidFill>
                  <a:schemeClr val="bg2"/>
                </a:solidFill>
                <a:latin typeface="Times New Roman"/>
              </a:rPr>
              <a:t>…</a:t>
            </a:r>
            <a:r>
              <a:rPr lang="en-US" altLang="zh-CN" sz="2000" b="1" dirty="0">
                <a:solidFill>
                  <a:schemeClr val="bg2"/>
                </a:solidFill>
              </a:rPr>
              <a:t>∧t[</a:t>
            </a:r>
            <a:r>
              <a:rPr lang="en-US" altLang="zh-CN" sz="2000" b="1" dirty="0" err="1">
                <a:solidFill>
                  <a:schemeClr val="bg2"/>
                </a:solidFill>
              </a:rPr>
              <a:t>r+s</a:t>
            </a:r>
            <a:r>
              <a:rPr lang="en-US" altLang="zh-CN" sz="2000" b="1" dirty="0">
                <a:solidFill>
                  <a:schemeClr val="bg2"/>
                </a:solidFill>
              </a:rPr>
              <a:t>]=v[s])}</a:t>
            </a:r>
            <a:r>
              <a:rPr lang="en-US" altLang="zh-CN" sz="2400" b="1" dirty="0">
                <a:solidFill>
                  <a:schemeClr val="bg2"/>
                </a:solidFill>
              </a:rPr>
              <a:t> </a:t>
            </a:r>
          </a:p>
          <a:p>
            <a:pPr algn="l">
              <a:lnSpc>
                <a:spcPct val="150000"/>
              </a:lnSpc>
            </a:pPr>
            <a:r>
              <a:rPr lang="zh-CN" altLang="en-US" sz="2400" b="1" dirty="0">
                <a:solidFill>
                  <a:srgbClr val="660033"/>
                </a:solidFill>
              </a:rPr>
              <a:t>投影</a:t>
            </a:r>
            <a:r>
              <a:rPr lang="en-US" altLang="zh-CN" sz="2400" b="1" dirty="0">
                <a:solidFill>
                  <a:srgbClr val="660033"/>
                </a:solidFill>
              </a:rPr>
              <a:t>:π</a:t>
            </a:r>
            <a:r>
              <a:rPr lang="en-US" altLang="zh-CN" sz="2400" b="1" baseline="-25000" dirty="0">
                <a:solidFill>
                  <a:srgbClr val="660033"/>
                </a:solidFill>
              </a:rPr>
              <a:t>i1,i2,</a:t>
            </a:r>
            <a:r>
              <a:rPr lang="en-US" altLang="zh-CN" sz="2400" b="1" baseline="-25000" dirty="0">
                <a:solidFill>
                  <a:srgbClr val="660033"/>
                </a:solidFill>
                <a:latin typeface="Times New Roman"/>
              </a:rPr>
              <a:t>…</a:t>
            </a:r>
            <a:r>
              <a:rPr lang="en-US" altLang="zh-CN" sz="2400" b="1" baseline="-25000" dirty="0" err="1">
                <a:solidFill>
                  <a:srgbClr val="660033"/>
                </a:solidFill>
              </a:rPr>
              <a:t>ik</a:t>
            </a:r>
            <a:r>
              <a:rPr lang="en-US" altLang="zh-CN" sz="2400" b="1" dirty="0">
                <a:solidFill>
                  <a:srgbClr val="660033"/>
                </a:solidFill>
              </a:rPr>
              <a:t> (R)</a:t>
            </a:r>
            <a:r>
              <a:rPr lang="en-US" altLang="zh-CN" sz="2400" b="1" dirty="0">
                <a:solidFill>
                  <a:schemeClr val="bg2"/>
                </a:solidFill>
              </a:rPr>
              <a:t> </a:t>
            </a:r>
            <a:r>
              <a:rPr lang="en-US" altLang="zh-CN" sz="2000" b="1" dirty="0">
                <a:solidFill>
                  <a:schemeClr val="bg2"/>
                </a:solidFill>
              </a:rPr>
              <a:t>{t|(</a:t>
            </a:r>
            <a:r>
              <a:rPr lang="en-US" altLang="zh-CN" sz="2000" b="1" dirty="0">
                <a:solidFill>
                  <a:schemeClr val="bg2"/>
                </a:solidFill>
                <a:sym typeface="Symbol" pitchFamily="18" charset="2"/>
              </a:rPr>
              <a:t></a:t>
            </a:r>
            <a:r>
              <a:rPr lang="en-US" altLang="zh-CN" sz="2000" b="1" dirty="0">
                <a:solidFill>
                  <a:schemeClr val="bg2"/>
                </a:solidFill>
              </a:rPr>
              <a:t>u)|R(u)∧t[l]=u[i</a:t>
            </a:r>
            <a:r>
              <a:rPr lang="en-US" altLang="zh-CN" sz="2000" b="1" baseline="-25000" dirty="0">
                <a:solidFill>
                  <a:schemeClr val="bg2"/>
                </a:solidFill>
              </a:rPr>
              <a:t>1</a:t>
            </a:r>
            <a:r>
              <a:rPr lang="en-US" altLang="zh-CN" sz="2000" b="1" dirty="0">
                <a:solidFill>
                  <a:schemeClr val="bg2"/>
                </a:solidFill>
              </a:rPr>
              <a:t>]∧</a:t>
            </a:r>
            <a:r>
              <a:rPr lang="en-US" altLang="zh-CN" sz="2000" b="1" dirty="0">
                <a:solidFill>
                  <a:schemeClr val="bg2"/>
                </a:solidFill>
                <a:latin typeface="Times New Roman"/>
              </a:rPr>
              <a:t>…</a:t>
            </a:r>
            <a:r>
              <a:rPr lang="en-US" altLang="zh-CN" sz="2000" b="1" dirty="0">
                <a:solidFill>
                  <a:schemeClr val="bg2"/>
                </a:solidFill>
              </a:rPr>
              <a:t>∧t[k]=u[</a:t>
            </a:r>
            <a:r>
              <a:rPr lang="en-US" altLang="zh-CN" sz="2000" b="1" dirty="0" err="1">
                <a:solidFill>
                  <a:schemeClr val="bg2"/>
                </a:solidFill>
              </a:rPr>
              <a:t>ik</a:t>
            </a:r>
            <a:r>
              <a:rPr lang="en-US" altLang="zh-CN" sz="2000" b="1" dirty="0">
                <a:solidFill>
                  <a:schemeClr val="bg2"/>
                </a:solidFill>
              </a:rPr>
              <a:t>]}} </a:t>
            </a:r>
          </a:p>
          <a:p>
            <a:pPr algn="l">
              <a:lnSpc>
                <a:spcPct val="150000"/>
              </a:lnSpc>
            </a:pPr>
            <a:r>
              <a:rPr lang="zh-CN" altLang="en-US" sz="2400" b="1" dirty="0">
                <a:solidFill>
                  <a:srgbClr val="660033"/>
                </a:solidFill>
              </a:rPr>
              <a:t>选择</a:t>
            </a:r>
            <a:r>
              <a:rPr lang="en-US" altLang="zh-CN" sz="2400" b="1" dirty="0">
                <a:solidFill>
                  <a:srgbClr val="660033"/>
                </a:solidFill>
              </a:rPr>
              <a:t>:</a:t>
            </a:r>
            <a:r>
              <a:rPr lang="en-US" altLang="zh-CN" sz="2400" b="1" dirty="0" err="1">
                <a:solidFill>
                  <a:srgbClr val="660033"/>
                </a:solidFill>
              </a:rPr>
              <a:t>σ</a:t>
            </a:r>
            <a:r>
              <a:rPr lang="en-US" altLang="zh-CN" sz="2400" b="1" baseline="-25000" dirty="0" err="1">
                <a:solidFill>
                  <a:srgbClr val="660033"/>
                </a:solidFill>
              </a:rPr>
              <a:t>F</a:t>
            </a:r>
            <a:r>
              <a:rPr lang="zh-CN" altLang="en-US" sz="2400" b="1" dirty="0">
                <a:solidFill>
                  <a:srgbClr val="660033"/>
                </a:solidFill>
              </a:rPr>
              <a:t>（</a:t>
            </a:r>
            <a:r>
              <a:rPr lang="en-US" altLang="zh-CN" sz="2400" b="1" dirty="0">
                <a:solidFill>
                  <a:srgbClr val="660033"/>
                </a:solidFill>
              </a:rPr>
              <a:t>R</a:t>
            </a:r>
            <a:r>
              <a:rPr lang="zh-CN" altLang="en-US" sz="2400" b="1" dirty="0">
                <a:solidFill>
                  <a:srgbClr val="660033"/>
                </a:solidFill>
              </a:rPr>
              <a:t>）</a:t>
            </a:r>
            <a:r>
              <a:rPr lang="zh-CN" altLang="en-US" sz="2400" b="1" dirty="0">
                <a:solidFill>
                  <a:schemeClr val="bg2"/>
                </a:solidFill>
              </a:rPr>
              <a:t>      </a:t>
            </a:r>
            <a:r>
              <a:rPr lang="en-US" altLang="zh-CN" sz="2400" b="1" dirty="0">
                <a:solidFill>
                  <a:schemeClr val="bg2"/>
                </a:solidFill>
              </a:rPr>
              <a:t>{</a:t>
            </a:r>
            <a:r>
              <a:rPr lang="en-US" altLang="zh-CN" sz="2400" b="1" dirty="0" err="1">
                <a:solidFill>
                  <a:schemeClr val="bg2"/>
                </a:solidFill>
              </a:rPr>
              <a:t>t|R</a:t>
            </a:r>
            <a:r>
              <a:rPr lang="en-US" altLang="zh-CN" sz="2400" b="1" dirty="0">
                <a:solidFill>
                  <a:schemeClr val="bg2"/>
                </a:solidFill>
              </a:rPr>
              <a:t>(t)∧F</a:t>
            </a:r>
            <a:r>
              <a:rPr lang="en-US" altLang="zh-CN" sz="2400" b="1" dirty="0">
                <a:solidFill>
                  <a:schemeClr val="bg2"/>
                </a:solidFill>
                <a:latin typeface="Times New Roman"/>
              </a:rPr>
              <a:t>’</a:t>
            </a:r>
            <a:r>
              <a:rPr lang="en-US" altLang="zh-CN" sz="2400" b="1" dirty="0">
                <a:solidFill>
                  <a:schemeClr val="bg2"/>
                </a:solidFill>
              </a:rPr>
              <a:t>}</a:t>
            </a:r>
          </a:p>
          <a:p>
            <a:pPr algn="l">
              <a:lnSpc>
                <a:spcPct val="150000"/>
              </a:lnSpc>
            </a:pPr>
            <a:r>
              <a:rPr lang="en-US" altLang="zh-CN" sz="2400" b="1" dirty="0">
                <a:solidFill>
                  <a:schemeClr val="bg2"/>
                </a:solidFill>
              </a:rPr>
              <a:t>                    </a:t>
            </a:r>
            <a:r>
              <a:rPr lang="en-US" altLang="zh-CN" sz="2000" b="1" dirty="0">
                <a:solidFill>
                  <a:schemeClr val="bg2"/>
                </a:solidFill>
              </a:rPr>
              <a:t>F</a:t>
            </a:r>
            <a:r>
              <a:rPr lang="en-US" altLang="zh-CN" sz="2000" b="1" dirty="0">
                <a:solidFill>
                  <a:schemeClr val="bg2"/>
                </a:solidFill>
                <a:latin typeface="Times New Roman"/>
              </a:rPr>
              <a:t>’</a:t>
            </a:r>
            <a:r>
              <a:rPr lang="zh-CN" altLang="en-US" sz="2000" b="1" dirty="0">
                <a:solidFill>
                  <a:schemeClr val="bg2"/>
                </a:solidFill>
              </a:rPr>
              <a:t>是</a:t>
            </a:r>
            <a:r>
              <a:rPr lang="en-US" altLang="zh-CN" sz="2000" b="1" dirty="0">
                <a:solidFill>
                  <a:schemeClr val="bg2"/>
                </a:solidFill>
              </a:rPr>
              <a:t>F</a:t>
            </a:r>
            <a:r>
              <a:rPr lang="zh-CN" altLang="en-US" sz="2000" b="1" dirty="0">
                <a:solidFill>
                  <a:schemeClr val="bg2"/>
                </a:solidFill>
              </a:rPr>
              <a:t>在元组演算中的等价表示形式。</a:t>
            </a:r>
            <a:r>
              <a:rPr lang="zh-CN" altLang="en-US" sz="2000" b="1" baseline="-30000" dirty="0">
                <a:solidFill>
                  <a:schemeClr val="bg2"/>
                </a:solidFill>
              </a:rPr>
              <a:t> </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F0767051-AEDE-B442-B522-C93FE13F7E6A}"/>
              </a:ext>
            </a:extLst>
          </p:cNvPr>
          <p:cNvGraphicFramePr>
            <a:graphicFrameLocks noGrp="1"/>
          </p:cNvGraphicFramePr>
          <p:nvPr>
            <p:extLst>
              <p:ext uri="{D42A27DB-BD31-4B8C-83A1-F6EECF244321}">
                <p14:modId xmlns:p14="http://schemas.microsoft.com/office/powerpoint/2010/main" val="2784708622"/>
              </p:ext>
            </p:extLst>
          </p:nvPr>
        </p:nvGraphicFramePr>
        <p:xfrm>
          <a:off x="529300" y="639550"/>
          <a:ext cx="1391814" cy="1483360"/>
        </p:xfrm>
        <a:graphic>
          <a:graphicData uri="http://schemas.openxmlformats.org/drawingml/2006/table">
            <a:tbl>
              <a:tblPr firstRow="1" bandRow="1">
                <a:tableStyleId>{21E4AEA4-8DFA-4A89-87EB-49C32662AFE0}</a:tableStyleId>
              </a:tblPr>
              <a:tblGrid>
                <a:gridCol w="463938">
                  <a:extLst>
                    <a:ext uri="{9D8B030D-6E8A-4147-A177-3AD203B41FA5}">
                      <a16:colId xmlns:a16="http://schemas.microsoft.com/office/drawing/2014/main" val="714252338"/>
                    </a:ext>
                  </a:extLst>
                </a:gridCol>
                <a:gridCol w="463938">
                  <a:extLst>
                    <a:ext uri="{9D8B030D-6E8A-4147-A177-3AD203B41FA5}">
                      <a16:colId xmlns:a16="http://schemas.microsoft.com/office/drawing/2014/main" val="2451546550"/>
                    </a:ext>
                  </a:extLst>
                </a:gridCol>
                <a:gridCol w="463938">
                  <a:extLst>
                    <a:ext uri="{9D8B030D-6E8A-4147-A177-3AD203B41FA5}">
                      <a16:colId xmlns:a16="http://schemas.microsoft.com/office/drawing/2014/main" val="3724693902"/>
                    </a:ext>
                  </a:extLst>
                </a:gridCol>
              </a:tblGrid>
              <a:tr h="370840">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extLst>
                  <a:ext uri="{0D108BD9-81ED-4DB2-BD59-A6C34878D82A}">
                    <a16:rowId xmlns:a16="http://schemas.microsoft.com/office/drawing/2014/main" val="3063712680"/>
                  </a:ext>
                </a:extLst>
              </a:tr>
              <a:tr h="370840">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1701660883"/>
                  </a:ext>
                </a:extLst>
              </a:tr>
              <a:tr h="370840">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1257682670"/>
                  </a:ext>
                </a:extLst>
              </a:tr>
              <a:tr h="370840">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2513993912"/>
                  </a:ext>
                </a:extLst>
              </a:tr>
            </a:tbl>
          </a:graphicData>
        </a:graphic>
      </p:graphicFrame>
      <p:sp>
        <p:nvSpPr>
          <p:cNvPr id="3" name="文本框 2">
            <a:extLst>
              <a:ext uri="{FF2B5EF4-FFF2-40B4-BE49-F238E27FC236}">
                <a16:creationId xmlns:a16="http://schemas.microsoft.com/office/drawing/2014/main" id="{331CD57B-41EC-584A-9C7F-9386A83F3743}"/>
              </a:ext>
            </a:extLst>
          </p:cNvPr>
          <p:cNvSpPr txBox="1"/>
          <p:nvPr/>
        </p:nvSpPr>
        <p:spPr>
          <a:xfrm>
            <a:off x="809868" y="300996"/>
            <a:ext cx="830677"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dirty="0">
                <a:solidFill>
                  <a:srgbClr val="FF0000"/>
                </a:solidFill>
              </a:rPr>
              <a:t>R</a:t>
            </a:r>
            <a:endParaRPr kumimoji="1" lang="zh-CN" altLang="en-US" sz="2000" b="1" u="sng" dirty="0">
              <a:solidFill>
                <a:schemeClr val="bg1"/>
              </a:solidFill>
            </a:endParaRPr>
          </a:p>
        </p:txBody>
      </p:sp>
      <p:graphicFrame>
        <p:nvGraphicFramePr>
          <p:cNvPr id="4" name="表格 2">
            <a:extLst>
              <a:ext uri="{FF2B5EF4-FFF2-40B4-BE49-F238E27FC236}">
                <a16:creationId xmlns:a16="http://schemas.microsoft.com/office/drawing/2014/main" id="{B1312B27-AAD6-4740-9169-5A564AB3ACB1}"/>
              </a:ext>
            </a:extLst>
          </p:cNvPr>
          <p:cNvGraphicFramePr>
            <a:graphicFrameLocks noGrp="1"/>
          </p:cNvGraphicFramePr>
          <p:nvPr>
            <p:extLst>
              <p:ext uri="{D42A27DB-BD31-4B8C-83A1-F6EECF244321}">
                <p14:modId xmlns:p14="http://schemas.microsoft.com/office/powerpoint/2010/main" val="976785223"/>
              </p:ext>
            </p:extLst>
          </p:nvPr>
        </p:nvGraphicFramePr>
        <p:xfrm>
          <a:off x="2134551" y="653951"/>
          <a:ext cx="1391814" cy="1483360"/>
        </p:xfrm>
        <a:graphic>
          <a:graphicData uri="http://schemas.openxmlformats.org/drawingml/2006/table">
            <a:tbl>
              <a:tblPr firstRow="1" bandRow="1">
                <a:tableStyleId>{21E4AEA4-8DFA-4A89-87EB-49C32662AFE0}</a:tableStyleId>
              </a:tblPr>
              <a:tblGrid>
                <a:gridCol w="463938">
                  <a:extLst>
                    <a:ext uri="{9D8B030D-6E8A-4147-A177-3AD203B41FA5}">
                      <a16:colId xmlns:a16="http://schemas.microsoft.com/office/drawing/2014/main" val="714252338"/>
                    </a:ext>
                  </a:extLst>
                </a:gridCol>
                <a:gridCol w="463938">
                  <a:extLst>
                    <a:ext uri="{9D8B030D-6E8A-4147-A177-3AD203B41FA5}">
                      <a16:colId xmlns:a16="http://schemas.microsoft.com/office/drawing/2014/main" val="2451546550"/>
                    </a:ext>
                  </a:extLst>
                </a:gridCol>
                <a:gridCol w="463938">
                  <a:extLst>
                    <a:ext uri="{9D8B030D-6E8A-4147-A177-3AD203B41FA5}">
                      <a16:colId xmlns:a16="http://schemas.microsoft.com/office/drawing/2014/main" val="3724693902"/>
                    </a:ext>
                  </a:extLst>
                </a:gridCol>
              </a:tblGrid>
              <a:tr h="370840">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extLst>
                  <a:ext uri="{0D108BD9-81ED-4DB2-BD59-A6C34878D82A}">
                    <a16:rowId xmlns:a16="http://schemas.microsoft.com/office/drawing/2014/main" val="3063712680"/>
                  </a:ext>
                </a:extLst>
              </a:tr>
              <a:tr h="370840">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1701660883"/>
                  </a:ext>
                </a:extLst>
              </a:tr>
              <a:tr h="370840">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1257682670"/>
                  </a:ext>
                </a:extLst>
              </a:tr>
              <a:tr h="370840">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2513993912"/>
                  </a:ext>
                </a:extLst>
              </a:tr>
            </a:tbl>
          </a:graphicData>
        </a:graphic>
      </p:graphicFrame>
      <p:sp>
        <p:nvSpPr>
          <p:cNvPr id="5" name="文本框 4">
            <a:extLst>
              <a:ext uri="{FF2B5EF4-FFF2-40B4-BE49-F238E27FC236}">
                <a16:creationId xmlns:a16="http://schemas.microsoft.com/office/drawing/2014/main" id="{84D2F9C9-E825-0045-810E-F451AB87A16F}"/>
              </a:ext>
            </a:extLst>
          </p:cNvPr>
          <p:cNvSpPr txBox="1"/>
          <p:nvPr/>
        </p:nvSpPr>
        <p:spPr>
          <a:xfrm>
            <a:off x="2415119" y="315397"/>
            <a:ext cx="830677"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dirty="0">
                <a:solidFill>
                  <a:srgbClr val="FF0000"/>
                </a:solidFill>
              </a:rPr>
              <a:t>S</a:t>
            </a:r>
            <a:endParaRPr kumimoji="1" lang="zh-CN" altLang="en-US" sz="2000" b="1" u="sng" dirty="0">
              <a:solidFill>
                <a:schemeClr val="bg1"/>
              </a:solidFill>
            </a:endParaRPr>
          </a:p>
        </p:txBody>
      </p:sp>
      <p:graphicFrame>
        <p:nvGraphicFramePr>
          <p:cNvPr id="6" name="表格 2">
            <a:extLst>
              <a:ext uri="{FF2B5EF4-FFF2-40B4-BE49-F238E27FC236}">
                <a16:creationId xmlns:a16="http://schemas.microsoft.com/office/drawing/2014/main" id="{9102200C-7D08-C949-BA8A-5B741CA0935D}"/>
              </a:ext>
            </a:extLst>
          </p:cNvPr>
          <p:cNvGraphicFramePr>
            <a:graphicFrameLocks noGrp="1"/>
          </p:cNvGraphicFramePr>
          <p:nvPr>
            <p:extLst>
              <p:ext uri="{D42A27DB-BD31-4B8C-83A1-F6EECF244321}">
                <p14:modId xmlns:p14="http://schemas.microsoft.com/office/powerpoint/2010/main" val="2347288850"/>
              </p:ext>
            </p:extLst>
          </p:nvPr>
        </p:nvGraphicFramePr>
        <p:xfrm>
          <a:off x="4332943" y="673545"/>
          <a:ext cx="1391814" cy="1112520"/>
        </p:xfrm>
        <a:graphic>
          <a:graphicData uri="http://schemas.openxmlformats.org/drawingml/2006/table">
            <a:tbl>
              <a:tblPr firstRow="1" bandRow="1">
                <a:tableStyleId>{21E4AEA4-8DFA-4A89-87EB-49C32662AFE0}</a:tableStyleId>
              </a:tblPr>
              <a:tblGrid>
                <a:gridCol w="463938">
                  <a:extLst>
                    <a:ext uri="{9D8B030D-6E8A-4147-A177-3AD203B41FA5}">
                      <a16:colId xmlns:a16="http://schemas.microsoft.com/office/drawing/2014/main" val="714252338"/>
                    </a:ext>
                  </a:extLst>
                </a:gridCol>
                <a:gridCol w="463938">
                  <a:extLst>
                    <a:ext uri="{9D8B030D-6E8A-4147-A177-3AD203B41FA5}">
                      <a16:colId xmlns:a16="http://schemas.microsoft.com/office/drawing/2014/main" val="2451546550"/>
                    </a:ext>
                  </a:extLst>
                </a:gridCol>
                <a:gridCol w="463938">
                  <a:extLst>
                    <a:ext uri="{9D8B030D-6E8A-4147-A177-3AD203B41FA5}">
                      <a16:colId xmlns:a16="http://schemas.microsoft.com/office/drawing/2014/main" val="3724693902"/>
                    </a:ext>
                  </a:extLst>
                </a:gridCol>
              </a:tblGrid>
              <a:tr h="370840">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extLst>
                  <a:ext uri="{0D108BD9-81ED-4DB2-BD59-A6C34878D82A}">
                    <a16:rowId xmlns:a16="http://schemas.microsoft.com/office/drawing/2014/main" val="3063712680"/>
                  </a:ext>
                </a:extLst>
              </a:tr>
              <a:tr h="370840">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1701660883"/>
                  </a:ext>
                </a:extLst>
              </a:tr>
              <a:tr h="370840">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1257682670"/>
                  </a:ext>
                </a:extLst>
              </a:tr>
            </a:tbl>
          </a:graphicData>
        </a:graphic>
      </p:graphicFrame>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B279092-E28F-6242-9355-4BE09C1A7009}"/>
                  </a:ext>
                </a:extLst>
              </p:cNvPr>
              <p:cNvSpPr txBox="1"/>
              <p:nvPr/>
            </p:nvSpPr>
            <p:spPr>
              <a:xfrm>
                <a:off x="3739801" y="300996"/>
                <a:ext cx="2542684" cy="338554"/>
              </a:xfrm>
              <a:prstGeom prst="rect">
                <a:avLst/>
              </a:prstGeom>
              <a:noFill/>
            </p:spPr>
            <p:txBody>
              <a:bodyPr wrap="none" rtlCol="0">
                <a:spAutoFit/>
              </a:bodyPr>
              <a:lstStyle/>
              <a:p>
                <a:r>
                  <a:rPr kumimoji="1" lang="en-US" altLang="zh-CN" sz="2000" b="1" dirty="0">
                    <a:solidFill>
                      <a:srgbClr val="FF0000"/>
                    </a:solidFill>
                  </a:rPr>
                  <a:t>R1=</a:t>
                </a:r>
                <a:r>
                  <a:rPr lang="en-US" altLang="zh-CN" sz="2000" b="1" dirty="0">
                    <a:solidFill>
                      <a:srgbClr val="FF0000"/>
                    </a:solidFill>
                  </a:rPr>
                  <a:t>{</a:t>
                </a:r>
                <a:r>
                  <a:rPr lang="en-US" altLang="zh-CN" sz="2000" b="1" dirty="0" err="1">
                    <a:solidFill>
                      <a:srgbClr val="FF0000"/>
                    </a:solidFill>
                  </a:rPr>
                  <a:t>t|S</a:t>
                </a:r>
                <a:r>
                  <a:rPr lang="en-US" altLang="zh-CN" sz="2000" b="1" dirty="0">
                    <a:solidFill>
                      <a:srgbClr val="FF0000"/>
                    </a:solidFill>
                  </a:rPr>
                  <a:t>(t)</a:t>
                </a:r>
                <a14:m>
                  <m:oMath xmlns:m="http://schemas.openxmlformats.org/officeDocument/2006/math">
                    <m:r>
                      <a:rPr lang="en-US" altLang="zh-CN" sz="2000" b="1" i="1" smtClean="0">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t[1]&gt;2}</a:t>
                </a:r>
                <a:endParaRPr kumimoji="1" lang="zh-CN" altLang="en-US" sz="2000" b="1" u="sng" dirty="0">
                  <a:solidFill>
                    <a:schemeClr val="bg1"/>
                  </a:solidFill>
                </a:endParaRPr>
              </a:p>
            </p:txBody>
          </p:sp>
        </mc:Choice>
        <mc:Fallback xmlns="">
          <p:sp>
            <p:nvSpPr>
              <p:cNvPr id="7" name="文本框 6">
                <a:extLst>
                  <a:ext uri="{FF2B5EF4-FFF2-40B4-BE49-F238E27FC236}">
                    <a16:creationId xmlns:a16="http://schemas.microsoft.com/office/drawing/2014/main" id="{EB279092-E28F-6242-9355-4BE09C1A7009}"/>
                  </a:ext>
                </a:extLst>
              </p:cNvPr>
              <p:cNvSpPr txBox="1">
                <a:spLocks noRot="1" noChangeAspect="1" noMove="1" noResize="1" noEditPoints="1" noAdjustHandles="1" noChangeArrowheads="1" noChangeShapeType="1" noTextEdit="1"/>
              </p:cNvSpPr>
              <p:nvPr/>
            </p:nvSpPr>
            <p:spPr>
              <a:xfrm>
                <a:off x="3739801" y="300996"/>
                <a:ext cx="2542684" cy="338554"/>
              </a:xfrm>
              <a:prstGeom prst="rect">
                <a:avLst/>
              </a:prstGeom>
              <a:blipFill>
                <a:blip r:embed="rId3"/>
                <a:stretch>
                  <a:fillRect l="-2488" t="-32143" r="-1493" b="-25000"/>
                </a:stretch>
              </a:blipFill>
            </p:spPr>
            <p:txBody>
              <a:bodyPr/>
              <a:lstStyle/>
              <a:p>
                <a:r>
                  <a:rPr lang="zh-CN" altLang="en-US">
                    <a:noFill/>
                  </a:rPr>
                  <a:t> </a:t>
                </a:r>
              </a:p>
            </p:txBody>
          </p:sp>
        </mc:Fallback>
      </mc:AlternateContent>
      <p:graphicFrame>
        <p:nvGraphicFramePr>
          <p:cNvPr id="8" name="表格 2">
            <a:extLst>
              <a:ext uri="{FF2B5EF4-FFF2-40B4-BE49-F238E27FC236}">
                <a16:creationId xmlns:a16="http://schemas.microsoft.com/office/drawing/2014/main" id="{73F87697-0EAD-A74D-96F9-A84D69220960}"/>
              </a:ext>
            </a:extLst>
          </p:cNvPr>
          <p:cNvGraphicFramePr>
            <a:graphicFrameLocks noGrp="1"/>
          </p:cNvGraphicFramePr>
          <p:nvPr>
            <p:extLst>
              <p:ext uri="{D42A27DB-BD31-4B8C-83A1-F6EECF244321}">
                <p14:modId xmlns:p14="http://schemas.microsoft.com/office/powerpoint/2010/main" val="566434293"/>
              </p:ext>
            </p:extLst>
          </p:nvPr>
        </p:nvGraphicFramePr>
        <p:xfrm>
          <a:off x="6912395" y="653951"/>
          <a:ext cx="1391814" cy="1112520"/>
        </p:xfrm>
        <a:graphic>
          <a:graphicData uri="http://schemas.openxmlformats.org/drawingml/2006/table">
            <a:tbl>
              <a:tblPr firstRow="1" bandRow="1">
                <a:tableStyleId>{21E4AEA4-8DFA-4A89-87EB-49C32662AFE0}</a:tableStyleId>
              </a:tblPr>
              <a:tblGrid>
                <a:gridCol w="463938">
                  <a:extLst>
                    <a:ext uri="{9D8B030D-6E8A-4147-A177-3AD203B41FA5}">
                      <a16:colId xmlns:a16="http://schemas.microsoft.com/office/drawing/2014/main" val="714252338"/>
                    </a:ext>
                  </a:extLst>
                </a:gridCol>
                <a:gridCol w="463938">
                  <a:extLst>
                    <a:ext uri="{9D8B030D-6E8A-4147-A177-3AD203B41FA5}">
                      <a16:colId xmlns:a16="http://schemas.microsoft.com/office/drawing/2014/main" val="2451546550"/>
                    </a:ext>
                  </a:extLst>
                </a:gridCol>
                <a:gridCol w="463938">
                  <a:extLst>
                    <a:ext uri="{9D8B030D-6E8A-4147-A177-3AD203B41FA5}">
                      <a16:colId xmlns:a16="http://schemas.microsoft.com/office/drawing/2014/main" val="3724693902"/>
                    </a:ext>
                  </a:extLst>
                </a:gridCol>
              </a:tblGrid>
              <a:tr h="370840">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extLst>
                  <a:ext uri="{0D108BD9-81ED-4DB2-BD59-A6C34878D82A}">
                    <a16:rowId xmlns:a16="http://schemas.microsoft.com/office/drawing/2014/main" val="3063712680"/>
                  </a:ext>
                </a:extLst>
              </a:tr>
              <a:tr h="370840">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1257682670"/>
                  </a:ext>
                </a:extLst>
              </a:tr>
              <a:tr h="370840">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2513993912"/>
                  </a:ext>
                </a:extLst>
              </a:tr>
            </a:tbl>
          </a:graphicData>
        </a:graphic>
      </p:graphicFrame>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95F1E315-19F7-E841-A825-FDC89807E596}"/>
                  </a:ext>
                </a:extLst>
              </p:cNvPr>
              <p:cNvSpPr txBox="1"/>
              <p:nvPr/>
            </p:nvSpPr>
            <p:spPr>
              <a:xfrm>
                <a:off x="6300192" y="300996"/>
                <a:ext cx="2661306" cy="338554"/>
              </a:xfrm>
              <a:prstGeom prst="rect">
                <a:avLst/>
              </a:prstGeom>
              <a:noFill/>
            </p:spPr>
            <p:txBody>
              <a:bodyPr wrap="none" rtlCol="0">
                <a:spAutoFit/>
              </a:bodyPr>
              <a:lstStyle/>
              <a:p>
                <a:r>
                  <a:rPr kumimoji="1" lang="en-US" altLang="zh-CN" sz="2000" b="1" dirty="0">
                    <a:solidFill>
                      <a:srgbClr val="FF0000"/>
                    </a:solidFill>
                  </a:rPr>
                  <a:t>R2=</a:t>
                </a:r>
                <a:r>
                  <a:rPr lang="en-US" altLang="zh-CN" sz="2000" b="1" dirty="0">
                    <a:solidFill>
                      <a:srgbClr val="FF0000"/>
                    </a:solidFill>
                  </a:rPr>
                  <a:t>{</a:t>
                </a:r>
                <a:r>
                  <a:rPr lang="en-US" altLang="zh-CN" sz="2000" b="1" dirty="0" err="1">
                    <a:solidFill>
                      <a:srgbClr val="FF0000"/>
                    </a:solidFill>
                  </a:rPr>
                  <a:t>t|R</a:t>
                </a:r>
                <a:r>
                  <a:rPr lang="en-US" altLang="zh-CN" sz="2000" b="1" dirty="0">
                    <a:solidFill>
                      <a:srgbClr val="FF0000"/>
                    </a:solidFill>
                  </a:rPr>
                  <a:t>(t)</a:t>
                </a:r>
                <a14:m>
                  <m:oMath xmlns:m="http://schemas.openxmlformats.org/officeDocument/2006/math">
                    <m:r>
                      <a:rPr lang="en-US" altLang="zh-CN" sz="2000" b="1" i="1" smtClean="0">
                        <a:solidFill>
                          <a:srgbClr val="FF0000"/>
                        </a:solidFill>
                        <a:latin typeface="Cambria Math" panose="02040503050406030204" pitchFamily="18" charset="0"/>
                        <a:ea typeface="Cambria Math" panose="02040503050406030204" pitchFamily="18" charset="0"/>
                      </a:rPr>
                      <m:t> ∧</m:t>
                    </m:r>
                  </m:oMath>
                </a14:m>
                <a:r>
                  <a:rPr lang="en-US" altLang="zh-CN" sz="2000" b="1" dirty="0">
                    <a:solidFill>
                      <a:srgbClr val="FF0000"/>
                    </a:solidFill>
                  </a:rPr>
                  <a:t> </a:t>
                </a:r>
                <a14:m>
                  <m:oMath xmlns:m="http://schemas.openxmlformats.org/officeDocument/2006/math">
                    <m:r>
                      <a:rPr lang="en-US" altLang="zh-CN" sz="2000" b="1" i="1">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S[t]}</a:t>
                </a:r>
                <a:endParaRPr kumimoji="1" lang="zh-CN" altLang="en-US" sz="2000" b="1" u="sng" dirty="0">
                  <a:solidFill>
                    <a:schemeClr val="bg1"/>
                  </a:solidFill>
                </a:endParaRPr>
              </a:p>
            </p:txBody>
          </p:sp>
        </mc:Choice>
        <mc:Fallback xmlns="">
          <p:sp>
            <p:nvSpPr>
              <p:cNvPr id="9" name="文本框 8">
                <a:extLst>
                  <a:ext uri="{FF2B5EF4-FFF2-40B4-BE49-F238E27FC236}">
                    <a16:creationId xmlns:a16="http://schemas.microsoft.com/office/drawing/2014/main" id="{95F1E315-19F7-E841-A825-FDC89807E596}"/>
                  </a:ext>
                </a:extLst>
              </p:cNvPr>
              <p:cNvSpPr txBox="1">
                <a:spLocks noRot="1" noChangeAspect="1" noMove="1" noResize="1" noEditPoints="1" noAdjustHandles="1" noChangeArrowheads="1" noChangeShapeType="1" noTextEdit="1"/>
              </p:cNvSpPr>
              <p:nvPr/>
            </p:nvSpPr>
            <p:spPr>
              <a:xfrm>
                <a:off x="6300192" y="300996"/>
                <a:ext cx="2661306" cy="338554"/>
              </a:xfrm>
              <a:prstGeom prst="rect">
                <a:avLst/>
              </a:prstGeom>
              <a:blipFill>
                <a:blip r:embed="rId4"/>
                <a:stretch>
                  <a:fillRect l="-1896" t="-32143" r="-1422" b="-25000"/>
                </a:stretch>
              </a:blipFill>
            </p:spPr>
            <p:txBody>
              <a:bodyPr/>
              <a:lstStyle/>
              <a:p>
                <a:r>
                  <a:rPr lang="zh-CN" altLang="en-US">
                    <a:noFill/>
                  </a:rPr>
                  <a:t> </a:t>
                </a:r>
              </a:p>
            </p:txBody>
          </p:sp>
        </mc:Fallback>
      </mc:AlternateContent>
      <p:graphicFrame>
        <p:nvGraphicFramePr>
          <p:cNvPr id="10" name="表格 2">
            <a:extLst>
              <a:ext uri="{FF2B5EF4-FFF2-40B4-BE49-F238E27FC236}">
                <a16:creationId xmlns:a16="http://schemas.microsoft.com/office/drawing/2014/main" id="{16E0D653-ACB3-334F-AAF1-7BB1AB2FFE66}"/>
              </a:ext>
            </a:extLst>
          </p:cNvPr>
          <p:cNvGraphicFramePr>
            <a:graphicFrameLocks noGrp="1"/>
          </p:cNvGraphicFramePr>
          <p:nvPr>
            <p:extLst>
              <p:ext uri="{D42A27DB-BD31-4B8C-83A1-F6EECF244321}">
                <p14:modId xmlns:p14="http://schemas.microsoft.com/office/powerpoint/2010/main" val="3042201353"/>
              </p:ext>
            </p:extLst>
          </p:nvPr>
        </p:nvGraphicFramePr>
        <p:xfrm>
          <a:off x="1535642" y="2938001"/>
          <a:ext cx="1391814" cy="1112520"/>
        </p:xfrm>
        <a:graphic>
          <a:graphicData uri="http://schemas.openxmlformats.org/drawingml/2006/table">
            <a:tbl>
              <a:tblPr firstRow="1" bandRow="1">
                <a:tableStyleId>{21E4AEA4-8DFA-4A89-87EB-49C32662AFE0}</a:tableStyleId>
              </a:tblPr>
              <a:tblGrid>
                <a:gridCol w="463938">
                  <a:extLst>
                    <a:ext uri="{9D8B030D-6E8A-4147-A177-3AD203B41FA5}">
                      <a16:colId xmlns:a16="http://schemas.microsoft.com/office/drawing/2014/main" val="714252338"/>
                    </a:ext>
                  </a:extLst>
                </a:gridCol>
                <a:gridCol w="463938">
                  <a:extLst>
                    <a:ext uri="{9D8B030D-6E8A-4147-A177-3AD203B41FA5}">
                      <a16:colId xmlns:a16="http://schemas.microsoft.com/office/drawing/2014/main" val="2451546550"/>
                    </a:ext>
                  </a:extLst>
                </a:gridCol>
                <a:gridCol w="463938">
                  <a:extLst>
                    <a:ext uri="{9D8B030D-6E8A-4147-A177-3AD203B41FA5}">
                      <a16:colId xmlns:a16="http://schemas.microsoft.com/office/drawing/2014/main" val="3724693902"/>
                    </a:ext>
                  </a:extLst>
                </a:gridCol>
              </a:tblGrid>
              <a:tr h="370840">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extLst>
                  <a:ext uri="{0D108BD9-81ED-4DB2-BD59-A6C34878D82A}">
                    <a16:rowId xmlns:a16="http://schemas.microsoft.com/office/drawing/2014/main" val="3063712680"/>
                  </a:ext>
                </a:extLst>
              </a:tr>
              <a:tr h="370840">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1257682670"/>
                  </a:ext>
                </a:extLst>
              </a:tr>
              <a:tr h="370840">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2667176031"/>
                  </a:ext>
                </a:extLst>
              </a:tr>
            </a:tbl>
          </a:graphicData>
        </a:graphic>
      </p:graphicFrame>
      <mc:AlternateContent xmlns:mc="http://schemas.openxmlformats.org/markup-compatibility/2006" xmlns:a14="http://schemas.microsoft.com/office/drawing/2010/main">
        <mc:Choice Requires="a14">
          <p:sp>
            <p:nvSpPr>
              <p:cNvPr id="11" name="文本框 10">
                <a:extLst>
                  <a:ext uri="{FF2B5EF4-FFF2-40B4-BE49-F238E27FC236}">
                    <a16:creationId xmlns:a16="http://schemas.microsoft.com/office/drawing/2014/main" id="{DB45DFEB-E47A-864D-9AA9-D2137D20026C}"/>
                  </a:ext>
                </a:extLst>
              </p:cNvPr>
              <p:cNvSpPr txBox="1"/>
              <p:nvPr/>
            </p:nvSpPr>
            <p:spPr>
              <a:xfrm>
                <a:off x="501478" y="2433162"/>
                <a:ext cx="4198585" cy="338554"/>
              </a:xfrm>
              <a:prstGeom prst="rect">
                <a:avLst/>
              </a:prstGeom>
              <a:noFill/>
            </p:spPr>
            <p:txBody>
              <a:bodyPr wrap="none" rtlCol="0">
                <a:spAutoFit/>
              </a:bodyPr>
              <a:lstStyle/>
              <a:p>
                <a:r>
                  <a:rPr kumimoji="1" lang="en-US" altLang="zh-CN" sz="2000" b="1" dirty="0">
                    <a:solidFill>
                      <a:srgbClr val="FF0000"/>
                    </a:solidFill>
                  </a:rPr>
                  <a:t>R3=</a:t>
                </a:r>
                <a:r>
                  <a:rPr lang="en-US" altLang="zh-CN" sz="2000" b="1" dirty="0">
                    <a:solidFill>
                      <a:srgbClr val="FF0000"/>
                    </a:solidFill>
                  </a:rPr>
                  <a:t>{t|(</a:t>
                </a:r>
                <a14:m>
                  <m:oMath xmlns:m="http://schemas.openxmlformats.org/officeDocument/2006/math">
                    <m:r>
                      <a:rPr lang="en-US" altLang="zh-CN" sz="2000" b="1" i="1" smtClean="0">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u)S(t)</a:t>
                </a:r>
                <a14:m>
                  <m:oMath xmlns:m="http://schemas.openxmlformats.org/officeDocument/2006/math">
                    <m:r>
                      <a:rPr lang="en-US" altLang="zh-CN" sz="2000" b="1" i="1" smtClean="0">
                        <a:solidFill>
                          <a:srgbClr val="FF0000"/>
                        </a:solidFill>
                        <a:latin typeface="Cambria Math" panose="02040503050406030204" pitchFamily="18" charset="0"/>
                        <a:ea typeface="Cambria Math" panose="02040503050406030204" pitchFamily="18" charset="0"/>
                      </a:rPr>
                      <m:t> ∧</m:t>
                    </m:r>
                  </m:oMath>
                </a14:m>
                <a:r>
                  <a:rPr lang="en-US" altLang="zh-CN" sz="2000" b="1" dirty="0">
                    <a:solidFill>
                      <a:srgbClr val="FF0000"/>
                    </a:solidFill>
                  </a:rPr>
                  <a:t>R(u)</a:t>
                </a:r>
                <a14:m>
                  <m:oMath xmlns:m="http://schemas.openxmlformats.org/officeDocument/2006/math">
                    <m:r>
                      <a:rPr lang="en-US" altLang="zh-CN" sz="2000" b="1" i="1">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t[3]&lt;u[2]}</a:t>
                </a:r>
                <a:endParaRPr kumimoji="1" lang="zh-CN" altLang="en-US" sz="2000" b="1" u="sng" dirty="0">
                  <a:solidFill>
                    <a:schemeClr val="bg1"/>
                  </a:solidFill>
                </a:endParaRPr>
              </a:p>
            </p:txBody>
          </p:sp>
        </mc:Choice>
        <mc:Fallback xmlns="">
          <p:sp>
            <p:nvSpPr>
              <p:cNvPr id="11" name="文本框 10">
                <a:extLst>
                  <a:ext uri="{FF2B5EF4-FFF2-40B4-BE49-F238E27FC236}">
                    <a16:creationId xmlns:a16="http://schemas.microsoft.com/office/drawing/2014/main" id="{DB45DFEB-E47A-864D-9AA9-D2137D20026C}"/>
                  </a:ext>
                </a:extLst>
              </p:cNvPr>
              <p:cNvSpPr txBox="1">
                <a:spLocks noRot="1" noChangeAspect="1" noMove="1" noResize="1" noEditPoints="1" noAdjustHandles="1" noChangeArrowheads="1" noChangeShapeType="1" noTextEdit="1"/>
              </p:cNvSpPr>
              <p:nvPr/>
            </p:nvSpPr>
            <p:spPr>
              <a:xfrm>
                <a:off x="501478" y="2433162"/>
                <a:ext cx="4198585" cy="338554"/>
              </a:xfrm>
              <a:prstGeom prst="rect">
                <a:avLst/>
              </a:prstGeom>
              <a:blipFill>
                <a:blip r:embed="rId5"/>
                <a:stretch>
                  <a:fillRect l="-1506" t="-32143" r="-301" b="-25000"/>
                </a:stretch>
              </a:blipFill>
            </p:spPr>
            <p:txBody>
              <a:bodyPr/>
              <a:lstStyle/>
              <a:p>
                <a:r>
                  <a:rPr lang="zh-CN" altLang="en-US">
                    <a:noFill/>
                  </a:rPr>
                  <a:t> </a:t>
                </a:r>
              </a:p>
            </p:txBody>
          </p:sp>
        </mc:Fallback>
      </mc:AlternateContent>
      <p:graphicFrame>
        <p:nvGraphicFramePr>
          <p:cNvPr id="12" name="表格 2">
            <a:extLst>
              <a:ext uri="{FF2B5EF4-FFF2-40B4-BE49-F238E27FC236}">
                <a16:creationId xmlns:a16="http://schemas.microsoft.com/office/drawing/2014/main" id="{4EB156B3-78C0-754E-B5FA-25E0DC8F819D}"/>
              </a:ext>
            </a:extLst>
          </p:cNvPr>
          <p:cNvGraphicFramePr>
            <a:graphicFrameLocks noGrp="1"/>
          </p:cNvGraphicFramePr>
          <p:nvPr>
            <p:extLst>
              <p:ext uri="{D42A27DB-BD31-4B8C-83A1-F6EECF244321}">
                <p14:modId xmlns:p14="http://schemas.microsoft.com/office/powerpoint/2010/main" val="3360907248"/>
              </p:ext>
            </p:extLst>
          </p:nvPr>
        </p:nvGraphicFramePr>
        <p:xfrm>
          <a:off x="5868144" y="2938001"/>
          <a:ext cx="1391814" cy="1112520"/>
        </p:xfrm>
        <a:graphic>
          <a:graphicData uri="http://schemas.openxmlformats.org/drawingml/2006/table">
            <a:tbl>
              <a:tblPr firstRow="1" bandRow="1">
                <a:tableStyleId>{21E4AEA4-8DFA-4A89-87EB-49C32662AFE0}</a:tableStyleId>
              </a:tblPr>
              <a:tblGrid>
                <a:gridCol w="463938">
                  <a:extLst>
                    <a:ext uri="{9D8B030D-6E8A-4147-A177-3AD203B41FA5}">
                      <a16:colId xmlns:a16="http://schemas.microsoft.com/office/drawing/2014/main" val="714252338"/>
                    </a:ext>
                  </a:extLst>
                </a:gridCol>
                <a:gridCol w="463938">
                  <a:extLst>
                    <a:ext uri="{9D8B030D-6E8A-4147-A177-3AD203B41FA5}">
                      <a16:colId xmlns:a16="http://schemas.microsoft.com/office/drawing/2014/main" val="2451546550"/>
                    </a:ext>
                  </a:extLst>
                </a:gridCol>
                <a:gridCol w="463938">
                  <a:extLst>
                    <a:ext uri="{9D8B030D-6E8A-4147-A177-3AD203B41FA5}">
                      <a16:colId xmlns:a16="http://schemas.microsoft.com/office/drawing/2014/main" val="3724693902"/>
                    </a:ext>
                  </a:extLst>
                </a:gridCol>
              </a:tblGrid>
              <a:tr h="370840">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extLst>
                  <a:ext uri="{0D108BD9-81ED-4DB2-BD59-A6C34878D82A}">
                    <a16:rowId xmlns:a16="http://schemas.microsoft.com/office/drawing/2014/main" val="3063712680"/>
                  </a:ext>
                </a:extLst>
              </a:tr>
              <a:tr h="370840">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1257682670"/>
                  </a:ext>
                </a:extLst>
              </a:tr>
              <a:tr h="370840">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2513993912"/>
                  </a:ext>
                </a:extLst>
              </a:tr>
            </a:tbl>
          </a:graphicData>
        </a:graphic>
      </p:graphicFrame>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F360A758-AD70-E644-BDF3-0CADEC03277C}"/>
                  </a:ext>
                </a:extLst>
              </p:cNvPr>
              <p:cNvSpPr txBox="1"/>
              <p:nvPr/>
            </p:nvSpPr>
            <p:spPr>
              <a:xfrm>
                <a:off x="4679403" y="2420888"/>
                <a:ext cx="4198585" cy="338554"/>
              </a:xfrm>
              <a:prstGeom prst="rect">
                <a:avLst/>
              </a:prstGeom>
              <a:noFill/>
            </p:spPr>
            <p:txBody>
              <a:bodyPr wrap="none" rtlCol="0">
                <a:spAutoFit/>
              </a:bodyPr>
              <a:lstStyle/>
              <a:p>
                <a:r>
                  <a:rPr kumimoji="1" lang="en-US" altLang="zh-CN" sz="2000" b="1" dirty="0">
                    <a:solidFill>
                      <a:srgbClr val="FF0000"/>
                    </a:solidFill>
                  </a:rPr>
                  <a:t>R4=</a:t>
                </a:r>
                <a:r>
                  <a:rPr lang="en-US" altLang="zh-CN" sz="2000" b="1" dirty="0">
                    <a:solidFill>
                      <a:srgbClr val="FF0000"/>
                    </a:solidFill>
                  </a:rPr>
                  <a:t>{t|(</a:t>
                </a:r>
                <a14:m>
                  <m:oMath xmlns:m="http://schemas.openxmlformats.org/officeDocument/2006/math">
                    <m:r>
                      <a:rPr lang="en-US" altLang="zh-CN" sz="2000" b="1" i="1" dirty="0" smtClean="0">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u)R(t)</a:t>
                </a:r>
                <a14:m>
                  <m:oMath xmlns:m="http://schemas.openxmlformats.org/officeDocument/2006/math">
                    <m:r>
                      <a:rPr lang="en-US" altLang="zh-CN" sz="2000" b="1" i="1" smtClean="0">
                        <a:solidFill>
                          <a:srgbClr val="FF0000"/>
                        </a:solidFill>
                        <a:latin typeface="Cambria Math" panose="02040503050406030204" pitchFamily="18" charset="0"/>
                        <a:ea typeface="Cambria Math" panose="02040503050406030204" pitchFamily="18" charset="0"/>
                      </a:rPr>
                      <m:t> ∧</m:t>
                    </m:r>
                  </m:oMath>
                </a14:m>
                <a:r>
                  <a:rPr lang="en-US" altLang="zh-CN" sz="2000" b="1" dirty="0">
                    <a:solidFill>
                      <a:srgbClr val="FF0000"/>
                    </a:solidFill>
                  </a:rPr>
                  <a:t>S(u)</a:t>
                </a:r>
                <a14:m>
                  <m:oMath xmlns:m="http://schemas.openxmlformats.org/officeDocument/2006/math">
                    <m:r>
                      <a:rPr lang="en-US" altLang="zh-CN" sz="2000" b="1" i="1">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t[3]&gt;u[1]}</a:t>
                </a:r>
                <a:endParaRPr kumimoji="1" lang="zh-CN" altLang="en-US" sz="2000" b="1" u="sng" dirty="0">
                  <a:solidFill>
                    <a:schemeClr val="bg1"/>
                  </a:solidFill>
                </a:endParaRPr>
              </a:p>
            </p:txBody>
          </p:sp>
        </mc:Choice>
        <mc:Fallback xmlns="">
          <p:sp>
            <p:nvSpPr>
              <p:cNvPr id="13" name="文本框 12">
                <a:extLst>
                  <a:ext uri="{FF2B5EF4-FFF2-40B4-BE49-F238E27FC236}">
                    <a16:creationId xmlns:a16="http://schemas.microsoft.com/office/drawing/2014/main" id="{F360A758-AD70-E644-BDF3-0CADEC03277C}"/>
                  </a:ext>
                </a:extLst>
              </p:cNvPr>
              <p:cNvSpPr txBox="1">
                <a:spLocks noRot="1" noChangeAspect="1" noMove="1" noResize="1" noEditPoints="1" noAdjustHandles="1" noChangeArrowheads="1" noChangeShapeType="1" noTextEdit="1"/>
              </p:cNvSpPr>
              <p:nvPr/>
            </p:nvSpPr>
            <p:spPr>
              <a:xfrm>
                <a:off x="4679403" y="2420888"/>
                <a:ext cx="4198585" cy="338554"/>
              </a:xfrm>
              <a:prstGeom prst="rect">
                <a:avLst/>
              </a:prstGeom>
              <a:blipFill>
                <a:blip r:embed="rId6"/>
                <a:stretch>
                  <a:fillRect l="-1511" t="-32143" r="-906" b="-25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6A11E12D-F9E9-2740-AD72-A97F96590286}"/>
                  </a:ext>
                </a:extLst>
              </p:cNvPr>
              <p:cNvSpPr txBox="1"/>
              <p:nvPr/>
            </p:nvSpPr>
            <p:spPr>
              <a:xfrm>
                <a:off x="221914" y="4258693"/>
                <a:ext cx="8956298" cy="338554"/>
              </a:xfrm>
              <a:prstGeom prst="rect">
                <a:avLst/>
              </a:prstGeom>
              <a:noFill/>
            </p:spPr>
            <p:txBody>
              <a:bodyPr wrap="none" rtlCol="0">
                <a:spAutoFit/>
              </a:bodyPr>
              <a:lstStyle/>
              <a:p>
                <a:r>
                  <a:rPr kumimoji="1" lang="en-US" altLang="zh-CN" sz="2000" b="1" dirty="0">
                    <a:solidFill>
                      <a:srgbClr val="FF0000"/>
                    </a:solidFill>
                  </a:rPr>
                  <a:t>R5=</a:t>
                </a:r>
                <a:r>
                  <a:rPr lang="en-US" altLang="zh-CN" sz="2000" b="1" dirty="0">
                    <a:solidFill>
                      <a:srgbClr val="FF0000"/>
                    </a:solidFill>
                  </a:rPr>
                  <a:t>{t|(</a:t>
                </a:r>
                <a14:m>
                  <m:oMath xmlns:m="http://schemas.openxmlformats.org/officeDocument/2006/math">
                    <m:r>
                      <a:rPr lang="en-US" altLang="zh-CN" sz="2000" b="1" i="1">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u)(</a:t>
                </a:r>
                <a14:m>
                  <m:oMath xmlns:m="http://schemas.openxmlformats.org/officeDocument/2006/math">
                    <m:r>
                      <a:rPr lang="en-US" altLang="zh-CN" sz="2000" b="1" i="1">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v)(</a:t>
                </a:r>
                <a:r>
                  <a:rPr lang="en-US" altLang="zh-CN" sz="2000" b="1" dirty="0">
                    <a:solidFill>
                      <a:srgbClr val="FF0000"/>
                    </a:solidFill>
                    <a:highlight>
                      <a:srgbClr val="00FFFF"/>
                    </a:highlight>
                  </a:rPr>
                  <a:t>R(u)</a:t>
                </a:r>
                <a14:m>
                  <m:oMath xmlns:m="http://schemas.openxmlformats.org/officeDocument/2006/math">
                    <m:r>
                      <a:rPr lang="en-US" altLang="zh-CN" sz="2000" b="1" i="1" smtClean="0">
                        <a:solidFill>
                          <a:srgbClr val="FF0000"/>
                        </a:solidFill>
                        <a:highlight>
                          <a:srgbClr val="00FFFF"/>
                        </a:highlight>
                        <a:latin typeface="Cambria Math" panose="02040503050406030204" pitchFamily="18" charset="0"/>
                        <a:ea typeface="Cambria Math" panose="02040503050406030204" pitchFamily="18" charset="0"/>
                      </a:rPr>
                      <m:t> ∧</m:t>
                    </m:r>
                  </m:oMath>
                </a14:m>
                <a:r>
                  <a:rPr lang="en-US" altLang="zh-CN" sz="2000" b="1" dirty="0">
                    <a:solidFill>
                      <a:srgbClr val="FF0000"/>
                    </a:solidFill>
                    <a:highlight>
                      <a:srgbClr val="00FFFF"/>
                    </a:highlight>
                  </a:rPr>
                  <a:t>S(v)</a:t>
                </a:r>
                <a14:m>
                  <m:oMath xmlns:m="http://schemas.openxmlformats.org/officeDocument/2006/math">
                    <m:r>
                      <a:rPr lang="en-US" altLang="zh-CN" sz="2000" b="1" i="1">
                        <a:solidFill>
                          <a:srgbClr val="FF0000"/>
                        </a:solidFill>
                        <a:highlight>
                          <a:srgbClr val="00FFFF"/>
                        </a:highlight>
                        <a:latin typeface="Cambria Math" panose="02040503050406030204" pitchFamily="18" charset="0"/>
                        <a:ea typeface="Cambria Math" panose="02040503050406030204" pitchFamily="18" charset="0"/>
                      </a:rPr>
                      <m:t>∧</m:t>
                    </m:r>
                  </m:oMath>
                </a14:m>
                <a:r>
                  <a:rPr lang="en-US" altLang="zh-CN" sz="2000" b="1" dirty="0">
                    <a:solidFill>
                      <a:srgbClr val="FF0000"/>
                    </a:solidFill>
                    <a:highlight>
                      <a:srgbClr val="00FFFF"/>
                    </a:highlight>
                  </a:rPr>
                  <a:t>u[1]&gt;v[2]</a:t>
                </a:r>
                <a14:m>
                  <m:oMath xmlns:m="http://schemas.openxmlformats.org/officeDocument/2006/math">
                    <m:r>
                      <a:rPr lang="en-US" altLang="zh-CN" sz="2000" b="1" i="1">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t[1]=u[2]</a:t>
                </a:r>
                <a14:m>
                  <m:oMath xmlns:m="http://schemas.openxmlformats.org/officeDocument/2006/math">
                    <m:r>
                      <a:rPr lang="en-US" altLang="zh-CN" sz="2000" b="1" i="1">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t[2]=v[3]</a:t>
                </a:r>
                <a14:m>
                  <m:oMath xmlns:m="http://schemas.openxmlformats.org/officeDocument/2006/math">
                    <m:r>
                      <a:rPr lang="en-US" altLang="zh-CN" sz="2000" b="1" i="1">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t[3]=u[1])}</a:t>
                </a:r>
              </a:p>
            </p:txBody>
          </p:sp>
        </mc:Choice>
        <mc:Fallback xmlns="">
          <p:sp>
            <p:nvSpPr>
              <p:cNvPr id="15" name="文本框 14">
                <a:extLst>
                  <a:ext uri="{FF2B5EF4-FFF2-40B4-BE49-F238E27FC236}">
                    <a16:creationId xmlns:a16="http://schemas.microsoft.com/office/drawing/2014/main" id="{6A11E12D-F9E9-2740-AD72-A97F96590286}"/>
                  </a:ext>
                </a:extLst>
              </p:cNvPr>
              <p:cNvSpPr txBox="1">
                <a:spLocks noRot="1" noChangeAspect="1" noMove="1" noResize="1" noEditPoints="1" noAdjustHandles="1" noChangeArrowheads="1" noChangeShapeType="1" noTextEdit="1"/>
              </p:cNvSpPr>
              <p:nvPr/>
            </p:nvSpPr>
            <p:spPr>
              <a:xfrm>
                <a:off x="221914" y="4258693"/>
                <a:ext cx="8956298" cy="338554"/>
              </a:xfrm>
              <a:prstGeom prst="rect">
                <a:avLst/>
              </a:prstGeom>
              <a:blipFill>
                <a:blip r:embed="rId7"/>
                <a:stretch>
                  <a:fillRect l="-708" t="-33333" b="-29630"/>
                </a:stretch>
              </a:blipFill>
            </p:spPr>
            <p:txBody>
              <a:bodyPr/>
              <a:lstStyle/>
              <a:p>
                <a:r>
                  <a:rPr lang="zh-CN" altLang="en-US">
                    <a:noFill/>
                  </a:rPr>
                  <a:t> </a:t>
                </a:r>
              </a:p>
            </p:txBody>
          </p:sp>
        </mc:Fallback>
      </mc:AlternateContent>
      <p:graphicFrame>
        <p:nvGraphicFramePr>
          <p:cNvPr id="16" name="表格 2">
            <a:extLst>
              <a:ext uri="{FF2B5EF4-FFF2-40B4-BE49-F238E27FC236}">
                <a16:creationId xmlns:a16="http://schemas.microsoft.com/office/drawing/2014/main" id="{AF7CA210-E9B8-F643-8A27-B5FA4809D570}"/>
              </a:ext>
            </a:extLst>
          </p:cNvPr>
          <p:cNvGraphicFramePr>
            <a:graphicFrameLocks noGrp="1"/>
          </p:cNvGraphicFramePr>
          <p:nvPr>
            <p:extLst>
              <p:ext uri="{D42A27DB-BD31-4B8C-83A1-F6EECF244321}">
                <p14:modId xmlns:p14="http://schemas.microsoft.com/office/powerpoint/2010/main" val="210938130"/>
              </p:ext>
            </p:extLst>
          </p:nvPr>
        </p:nvGraphicFramePr>
        <p:xfrm>
          <a:off x="5024298" y="4659752"/>
          <a:ext cx="2325969" cy="1982019"/>
        </p:xfrm>
        <a:graphic>
          <a:graphicData uri="http://schemas.openxmlformats.org/drawingml/2006/table">
            <a:tbl>
              <a:tblPr firstRow="1" bandRow="1">
                <a:tableStyleId>{21E4AEA4-8DFA-4A89-87EB-49C32662AFE0}</a:tableStyleId>
              </a:tblPr>
              <a:tblGrid>
                <a:gridCol w="775323">
                  <a:extLst>
                    <a:ext uri="{9D8B030D-6E8A-4147-A177-3AD203B41FA5}">
                      <a16:colId xmlns:a16="http://schemas.microsoft.com/office/drawing/2014/main" val="714252338"/>
                    </a:ext>
                  </a:extLst>
                </a:gridCol>
                <a:gridCol w="775323">
                  <a:extLst>
                    <a:ext uri="{9D8B030D-6E8A-4147-A177-3AD203B41FA5}">
                      <a16:colId xmlns:a16="http://schemas.microsoft.com/office/drawing/2014/main" val="2451546550"/>
                    </a:ext>
                  </a:extLst>
                </a:gridCol>
                <a:gridCol w="775323">
                  <a:extLst>
                    <a:ext uri="{9D8B030D-6E8A-4147-A177-3AD203B41FA5}">
                      <a16:colId xmlns:a16="http://schemas.microsoft.com/office/drawing/2014/main" val="3724693902"/>
                    </a:ext>
                  </a:extLst>
                </a:gridCol>
              </a:tblGrid>
              <a:tr h="370840">
                <a:tc>
                  <a:txBody>
                    <a:bodyPr/>
                    <a:lstStyle/>
                    <a:p>
                      <a:pPr algn="ctr"/>
                      <a:r>
                        <a:rPr lang="en-US" altLang="zh-CN" dirty="0"/>
                        <a:t>R.B</a:t>
                      </a:r>
                      <a:endParaRPr lang="zh-CN" altLang="en-US" dirty="0"/>
                    </a:p>
                  </a:txBody>
                  <a:tcPr/>
                </a:tc>
                <a:tc>
                  <a:txBody>
                    <a:bodyPr/>
                    <a:lstStyle/>
                    <a:p>
                      <a:pPr algn="ctr"/>
                      <a:r>
                        <a:rPr lang="en-US" altLang="zh-CN" dirty="0"/>
                        <a:t>S.C</a:t>
                      </a:r>
                      <a:endParaRPr lang="zh-CN" altLang="en-US" dirty="0"/>
                    </a:p>
                  </a:txBody>
                  <a:tcPr/>
                </a:tc>
                <a:tc>
                  <a:txBody>
                    <a:bodyPr/>
                    <a:lstStyle/>
                    <a:p>
                      <a:pPr algn="ctr"/>
                      <a:r>
                        <a:rPr lang="en-US" altLang="zh-CN" dirty="0"/>
                        <a:t>R.A</a:t>
                      </a:r>
                      <a:endParaRPr lang="zh-CN" altLang="en-US" dirty="0"/>
                    </a:p>
                  </a:txBody>
                  <a:tcPr/>
                </a:tc>
                <a:extLst>
                  <a:ext uri="{0D108BD9-81ED-4DB2-BD59-A6C34878D82A}">
                    <a16:rowId xmlns:a16="http://schemas.microsoft.com/office/drawing/2014/main" val="3063712680"/>
                  </a:ext>
                </a:extLst>
              </a:tr>
              <a:tr h="498659">
                <a:tc>
                  <a:txBody>
                    <a:bodyPr/>
                    <a:lstStyle/>
                    <a:p>
                      <a:pPr algn="ctr"/>
                      <a:r>
                        <a:rPr lang="en-US" altLang="zh-CN" dirty="0"/>
                        <a:t>5</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1701660883"/>
                  </a:ext>
                </a:extLst>
              </a:tr>
              <a:tr h="370840">
                <a:tc>
                  <a:txBody>
                    <a:bodyPr/>
                    <a:lstStyle/>
                    <a:p>
                      <a:pPr algn="ctr"/>
                      <a:r>
                        <a:rPr lang="en-US" altLang="zh-CN" dirty="0"/>
                        <a:t>8</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7</a:t>
                      </a:r>
                      <a:endParaRPr lang="zh-CN" altLang="en-US" dirty="0"/>
                    </a:p>
                  </a:txBody>
                  <a:tcPr/>
                </a:tc>
                <a:extLst>
                  <a:ext uri="{0D108BD9-81ED-4DB2-BD59-A6C34878D82A}">
                    <a16:rowId xmlns:a16="http://schemas.microsoft.com/office/drawing/2014/main" val="1257682670"/>
                  </a:ext>
                </a:extLst>
              </a:tr>
              <a:tr h="370840">
                <a:tc>
                  <a:txBody>
                    <a:bodyPr/>
                    <a:lstStyle/>
                    <a:p>
                      <a:pPr algn="ctr"/>
                      <a:r>
                        <a:rPr lang="en-US" altLang="zh-CN" dirty="0"/>
                        <a:t>8</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7</a:t>
                      </a:r>
                      <a:endParaRPr lang="zh-CN" altLang="en-US" dirty="0"/>
                    </a:p>
                  </a:txBody>
                  <a:tcPr/>
                </a:tc>
                <a:extLst>
                  <a:ext uri="{0D108BD9-81ED-4DB2-BD59-A6C34878D82A}">
                    <a16:rowId xmlns:a16="http://schemas.microsoft.com/office/drawing/2014/main" val="2513993912"/>
                  </a:ext>
                </a:extLst>
              </a:tr>
              <a:tr h="370840">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tc>
                  <a:txBody>
                    <a:bodyPr/>
                    <a:lstStyle/>
                    <a:p>
                      <a:pPr algn="ctr"/>
                      <a:r>
                        <a:rPr lang="en-US" altLang="zh-CN" dirty="0"/>
                        <a:t>7</a:t>
                      </a:r>
                      <a:endParaRPr lang="zh-CN" altLang="en-US" dirty="0"/>
                    </a:p>
                  </a:txBody>
                  <a:tcPr/>
                </a:tc>
                <a:extLst>
                  <a:ext uri="{0D108BD9-81ED-4DB2-BD59-A6C34878D82A}">
                    <a16:rowId xmlns:a16="http://schemas.microsoft.com/office/drawing/2014/main" val="380063713"/>
                  </a:ext>
                </a:extLst>
              </a:tr>
            </a:tbl>
          </a:graphicData>
        </a:graphic>
      </p:graphicFrame>
      <p:graphicFrame>
        <p:nvGraphicFramePr>
          <p:cNvPr id="18" name="表格 18">
            <a:extLst>
              <a:ext uri="{FF2B5EF4-FFF2-40B4-BE49-F238E27FC236}">
                <a16:creationId xmlns:a16="http://schemas.microsoft.com/office/drawing/2014/main" id="{F1D1AFF1-2369-6F4C-9D63-379D970E7D37}"/>
              </a:ext>
            </a:extLst>
          </p:cNvPr>
          <p:cNvGraphicFramePr>
            <a:graphicFrameLocks noGrp="1"/>
          </p:cNvGraphicFramePr>
          <p:nvPr>
            <p:extLst>
              <p:ext uri="{D42A27DB-BD31-4B8C-83A1-F6EECF244321}">
                <p14:modId xmlns:p14="http://schemas.microsoft.com/office/powerpoint/2010/main" val="4008573139"/>
              </p:ext>
            </p:extLst>
          </p:nvPr>
        </p:nvGraphicFramePr>
        <p:xfrm>
          <a:off x="1453958" y="4659751"/>
          <a:ext cx="2752998" cy="1982020"/>
        </p:xfrm>
        <a:graphic>
          <a:graphicData uri="http://schemas.openxmlformats.org/drawingml/2006/table">
            <a:tbl>
              <a:tblPr firstRow="1" bandRow="1">
                <a:tableStyleId>{5C22544A-7EE6-4342-B048-85BDC9FD1C3A}</a:tableStyleId>
              </a:tblPr>
              <a:tblGrid>
                <a:gridCol w="458833">
                  <a:extLst>
                    <a:ext uri="{9D8B030D-6E8A-4147-A177-3AD203B41FA5}">
                      <a16:colId xmlns:a16="http://schemas.microsoft.com/office/drawing/2014/main" val="4093480548"/>
                    </a:ext>
                  </a:extLst>
                </a:gridCol>
                <a:gridCol w="458833">
                  <a:extLst>
                    <a:ext uri="{9D8B030D-6E8A-4147-A177-3AD203B41FA5}">
                      <a16:colId xmlns:a16="http://schemas.microsoft.com/office/drawing/2014/main" val="608761719"/>
                    </a:ext>
                  </a:extLst>
                </a:gridCol>
                <a:gridCol w="458833">
                  <a:extLst>
                    <a:ext uri="{9D8B030D-6E8A-4147-A177-3AD203B41FA5}">
                      <a16:colId xmlns:a16="http://schemas.microsoft.com/office/drawing/2014/main" val="4099431555"/>
                    </a:ext>
                  </a:extLst>
                </a:gridCol>
                <a:gridCol w="458833">
                  <a:extLst>
                    <a:ext uri="{9D8B030D-6E8A-4147-A177-3AD203B41FA5}">
                      <a16:colId xmlns:a16="http://schemas.microsoft.com/office/drawing/2014/main" val="1215674076"/>
                    </a:ext>
                  </a:extLst>
                </a:gridCol>
                <a:gridCol w="458833">
                  <a:extLst>
                    <a:ext uri="{9D8B030D-6E8A-4147-A177-3AD203B41FA5}">
                      <a16:colId xmlns:a16="http://schemas.microsoft.com/office/drawing/2014/main" val="2564172800"/>
                    </a:ext>
                  </a:extLst>
                </a:gridCol>
                <a:gridCol w="458833">
                  <a:extLst>
                    <a:ext uri="{9D8B030D-6E8A-4147-A177-3AD203B41FA5}">
                      <a16:colId xmlns:a16="http://schemas.microsoft.com/office/drawing/2014/main" val="3581038774"/>
                    </a:ext>
                  </a:extLst>
                </a:gridCol>
              </a:tblGrid>
              <a:tr h="396404">
                <a:tc gridSpan="3">
                  <a:txBody>
                    <a:bodyPr/>
                    <a:lstStyle/>
                    <a:p>
                      <a:pPr algn="ctr"/>
                      <a:r>
                        <a:rPr lang="en-US" altLang="zh-CN" dirty="0">
                          <a:solidFill>
                            <a:schemeClr val="bg2"/>
                          </a:solidFill>
                        </a:rPr>
                        <a:t>u</a:t>
                      </a:r>
                      <a:endParaRPr lang="zh-CN" altLang="en-US" dirty="0">
                        <a:solidFill>
                          <a:schemeClr val="bg2"/>
                        </a:solidFill>
                      </a:endParaRPr>
                    </a:p>
                  </a:txBody>
                  <a:tcPr/>
                </a:tc>
                <a:tc hMerge="1">
                  <a:txBody>
                    <a:bodyPr/>
                    <a:lstStyle/>
                    <a:p>
                      <a:endParaRPr lang="zh-CN" altLang="en-US"/>
                    </a:p>
                  </a:txBody>
                  <a:tcPr/>
                </a:tc>
                <a:tc hMerge="1">
                  <a:txBody>
                    <a:bodyPr/>
                    <a:lstStyle/>
                    <a:p>
                      <a:endParaRPr lang="zh-CN" altLang="en-US"/>
                    </a:p>
                  </a:txBody>
                  <a:tcPr/>
                </a:tc>
                <a:tc gridSpan="3">
                  <a:txBody>
                    <a:bodyPr/>
                    <a:lstStyle/>
                    <a:p>
                      <a:pPr algn="ctr"/>
                      <a:r>
                        <a:rPr lang="en-US" altLang="zh-CN" dirty="0">
                          <a:solidFill>
                            <a:schemeClr val="bg2"/>
                          </a:solidFill>
                        </a:rPr>
                        <a:t>v</a:t>
                      </a:r>
                      <a:endParaRPr lang="zh-CN" altLang="en-US" dirty="0">
                        <a:solidFill>
                          <a:schemeClr val="bg2"/>
                        </a:solidFill>
                      </a:endParaRPr>
                    </a:p>
                  </a:txBody>
                  <a:tcPr/>
                </a:tc>
                <a:tc hMerge="1">
                  <a:txBody>
                    <a:bodyPr/>
                    <a:lstStyle/>
                    <a:p>
                      <a:endParaRPr lang="zh-CN" altLang="en-US"/>
                    </a:p>
                  </a:txBody>
                  <a:tcPr/>
                </a:tc>
                <a:tc hMerge="1">
                  <a:txBody>
                    <a:bodyPr/>
                    <a:lstStyle/>
                    <a:p>
                      <a:endParaRPr lang="zh-CN" altLang="en-US"/>
                    </a:p>
                  </a:txBody>
                  <a:tcPr/>
                </a:tc>
                <a:extLst>
                  <a:ext uri="{0D108BD9-81ED-4DB2-BD59-A6C34878D82A}">
                    <a16:rowId xmlns:a16="http://schemas.microsoft.com/office/drawing/2014/main" val="1620620288"/>
                  </a:ext>
                </a:extLst>
              </a:tr>
              <a:tr h="396404">
                <a:tc>
                  <a:txBody>
                    <a:bodyPr/>
                    <a:lstStyle/>
                    <a:p>
                      <a:pPr algn="ctr"/>
                      <a:r>
                        <a:rPr lang="en-US" altLang="zh-CN" dirty="0">
                          <a:solidFill>
                            <a:schemeClr val="bg2"/>
                          </a:solidFill>
                        </a:rPr>
                        <a:t>4</a:t>
                      </a:r>
                      <a:endParaRPr lang="zh-CN" altLang="en-US" dirty="0">
                        <a:solidFill>
                          <a:schemeClr val="bg2"/>
                        </a:solidFill>
                      </a:endParaRPr>
                    </a:p>
                  </a:txBody>
                  <a:tcPr/>
                </a:tc>
                <a:tc>
                  <a:txBody>
                    <a:bodyPr/>
                    <a:lstStyle/>
                    <a:p>
                      <a:pPr algn="ctr"/>
                      <a:r>
                        <a:rPr lang="en-US" altLang="zh-CN" dirty="0">
                          <a:solidFill>
                            <a:schemeClr val="bg2"/>
                          </a:solidFill>
                        </a:rPr>
                        <a:t>5</a:t>
                      </a:r>
                      <a:endParaRPr lang="zh-CN" altLang="en-US" dirty="0">
                        <a:solidFill>
                          <a:schemeClr val="bg2"/>
                        </a:solidFill>
                      </a:endParaRPr>
                    </a:p>
                  </a:txBody>
                  <a:tcPr/>
                </a:tc>
                <a:tc>
                  <a:txBody>
                    <a:bodyPr/>
                    <a:lstStyle/>
                    <a:p>
                      <a:pPr algn="ctr"/>
                      <a:r>
                        <a:rPr lang="en-US" altLang="zh-CN" dirty="0">
                          <a:solidFill>
                            <a:schemeClr val="bg2"/>
                          </a:solidFill>
                        </a:rPr>
                        <a:t>6</a:t>
                      </a:r>
                      <a:endParaRPr lang="zh-CN" altLang="en-US" dirty="0">
                        <a:solidFill>
                          <a:schemeClr val="bg2"/>
                        </a:solidFill>
                      </a:endParaRPr>
                    </a:p>
                  </a:txBody>
                  <a:tcPr/>
                </a:tc>
                <a:tc>
                  <a:txBody>
                    <a:bodyPr/>
                    <a:lstStyle/>
                    <a:p>
                      <a:pPr algn="ctr"/>
                      <a:r>
                        <a:rPr lang="en-US" altLang="zh-CN" dirty="0">
                          <a:solidFill>
                            <a:schemeClr val="bg2"/>
                          </a:solidFill>
                        </a:rPr>
                        <a:t>1</a:t>
                      </a:r>
                      <a:endParaRPr lang="zh-CN" altLang="en-US" dirty="0">
                        <a:solidFill>
                          <a:schemeClr val="bg2"/>
                        </a:solidFill>
                      </a:endParaRPr>
                    </a:p>
                  </a:txBody>
                  <a:tcPr/>
                </a:tc>
                <a:tc>
                  <a:txBody>
                    <a:bodyPr/>
                    <a:lstStyle/>
                    <a:p>
                      <a:pPr algn="ctr"/>
                      <a:r>
                        <a:rPr lang="en-US" altLang="zh-CN" dirty="0">
                          <a:solidFill>
                            <a:schemeClr val="bg2"/>
                          </a:solidFill>
                        </a:rPr>
                        <a:t>2</a:t>
                      </a:r>
                      <a:endParaRPr lang="zh-CN" altLang="en-US" dirty="0">
                        <a:solidFill>
                          <a:schemeClr val="bg2"/>
                        </a:solidFill>
                      </a:endParaRPr>
                    </a:p>
                  </a:txBody>
                  <a:tcPr/>
                </a:tc>
                <a:tc>
                  <a:txBody>
                    <a:bodyPr/>
                    <a:lstStyle/>
                    <a:p>
                      <a:pPr algn="ctr"/>
                      <a:r>
                        <a:rPr lang="en-US" altLang="zh-CN" dirty="0">
                          <a:solidFill>
                            <a:schemeClr val="bg2"/>
                          </a:solidFill>
                        </a:rPr>
                        <a:t>3</a:t>
                      </a:r>
                      <a:endParaRPr lang="zh-CN" altLang="en-US" dirty="0">
                        <a:solidFill>
                          <a:schemeClr val="bg2"/>
                        </a:solidFill>
                      </a:endParaRPr>
                    </a:p>
                  </a:txBody>
                  <a:tcPr/>
                </a:tc>
                <a:extLst>
                  <a:ext uri="{0D108BD9-81ED-4DB2-BD59-A6C34878D82A}">
                    <a16:rowId xmlns:a16="http://schemas.microsoft.com/office/drawing/2014/main" val="1214579483"/>
                  </a:ext>
                </a:extLst>
              </a:tr>
              <a:tr h="396404">
                <a:tc>
                  <a:txBody>
                    <a:bodyPr/>
                    <a:lstStyle/>
                    <a:p>
                      <a:pPr marL="0" algn="ctr" defTabSz="914400" rtl="0" eaLnBrk="1" latinLnBrk="0" hangingPunct="1"/>
                      <a:r>
                        <a:rPr lang="en-US" altLang="zh-CN" sz="1800" kern="1200" dirty="0">
                          <a:solidFill>
                            <a:schemeClr val="bg2"/>
                          </a:solidFill>
                          <a:latin typeface="+mn-lt"/>
                          <a:ea typeface="+mn-ea"/>
                          <a:cs typeface="+mn-cs"/>
                        </a:rPr>
                        <a:t>7</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a:solidFill>
                            <a:schemeClr val="bg2"/>
                          </a:solidFill>
                          <a:latin typeface="+mn-lt"/>
                          <a:ea typeface="+mn-ea"/>
                          <a:cs typeface="+mn-cs"/>
                        </a:rPr>
                        <a:t>8</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9</a:t>
                      </a:r>
                      <a:endParaRPr lang="zh-CN" altLang="en-US" sz="1800" kern="1200" dirty="0">
                        <a:solidFill>
                          <a:schemeClr val="bg2"/>
                        </a:solidFill>
                        <a:latin typeface="+mn-lt"/>
                        <a:ea typeface="+mn-ea"/>
                        <a:cs typeface="+mn-cs"/>
                      </a:endParaRPr>
                    </a:p>
                  </a:txBody>
                  <a:tcPr/>
                </a:tc>
                <a:tc>
                  <a:txBody>
                    <a:bodyPr/>
                    <a:lstStyle/>
                    <a:p>
                      <a:pPr algn="ctr"/>
                      <a:r>
                        <a:rPr lang="en-US" altLang="zh-CN" dirty="0">
                          <a:solidFill>
                            <a:schemeClr val="bg2"/>
                          </a:solidFill>
                        </a:rPr>
                        <a:t>1</a:t>
                      </a:r>
                      <a:endParaRPr lang="zh-CN" altLang="en-US" dirty="0">
                        <a:solidFill>
                          <a:schemeClr val="bg2"/>
                        </a:solidFill>
                      </a:endParaRPr>
                    </a:p>
                  </a:txBody>
                  <a:tcPr/>
                </a:tc>
                <a:tc>
                  <a:txBody>
                    <a:bodyPr/>
                    <a:lstStyle/>
                    <a:p>
                      <a:pPr algn="ctr"/>
                      <a:r>
                        <a:rPr lang="en-US" altLang="zh-CN" dirty="0">
                          <a:solidFill>
                            <a:schemeClr val="bg2"/>
                          </a:solidFill>
                        </a:rPr>
                        <a:t>2</a:t>
                      </a:r>
                      <a:endParaRPr lang="zh-CN" altLang="en-US" dirty="0">
                        <a:solidFill>
                          <a:schemeClr val="bg2"/>
                        </a:solidFill>
                      </a:endParaRPr>
                    </a:p>
                  </a:txBody>
                  <a:tcPr/>
                </a:tc>
                <a:tc>
                  <a:txBody>
                    <a:bodyPr/>
                    <a:lstStyle/>
                    <a:p>
                      <a:pPr algn="ctr"/>
                      <a:r>
                        <a:rPr lang="en-US" altLang="zh-CN" dirty="0">
                          <a:solidFill>
                            <a:schemeClr val="bg2"/>
                          </a:solidFill>
                        </a:rPr>
                        <a:t>3</a:t>
                      </a:r>
                      <a:endParaRPr lang="zh-CN" altLang="en-US" dirty="0">
                        <a:solidFill>
                          <a:schemeClr val="bg2"/>
                        </a:solidFill>
                      </a:endParaRPr>
                    </a:p>
                  </a:txBody>
                  <a:tcPr/>
                </a:tc>
                <a:extLst>
                  <a:ext uri="{0D108BD9-81ED-4DB2-BD59-A6C34878D82A}">
                    <a16:rowId xmlns:a16="http://schemas.microsoft.com/office/drawing/2014/main" val="3294011426"/>
                  </a:ext>
                </a:extLst>
              </a:tr>
              <a:tr h="396404">
                <a:tc>
                  <a:txBody>
                    <a:bodyPr/>
                    <a:lstStyle/>
                    <a:p>
                      <a:pPr marL="0" algn="ctr" defTabSz="914400" rtl="0" eaLnBrk="1" latinLnBrk="0" hangingPunct="1"/>
                      <a:r>
                        <a:rPr lang="en-US" altLang="zh-CN" sz="1800" kern="1200" dirty="0">
                          <a:solidFill>
                            <a:schemeClr val="bg2"/>
                          </a:solidFill>
                          <a:latin typeface="+mn-lt"/>
                          <a:ea typeface="+mn-ea"/>
                          <a:cs typeface="+mn-cs"/>
                        </a:rPr>
                        <a:t>7</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8</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9</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3</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4</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6</a:t>
                      </a:r>
                      <a:endParaRPr lang="zh-CN" altLang="en-US" sz="1800" kern="1200" dirty="0">
                        <a:solidFill>
                          <a:schemeClr val="bg2"/>
                        </a:solidFill>
                        <a:latin typeface="+mn-lt"/>
                        <a:ea typeface="+mn-ea"/>
                        <a:cs typeface="+mn-cs"/>
                      </a:endParaRPr>
                    </a:p>
                  </a:txBody>
                  <a:tcPr/>
                </a:tc>
                <a:extLst>
                  <a:ext uri="{0D108BD9-81ED-4DB2-BD59-A6C34878D82A}">
                    <a16:rowId xmlns:a16="http://schemas.microsoft.com/office/drawing/2014/main" val="581832607"/>
                  </a:ext>
                </a:extLst>
              </a:tr>
              <a:tr h="396404">
                <a:tc>
                  <a:txBody>
                    <a:bodyPr/>
                    <a:lstStyle/>
                    <a:p>
                      <a:pPr marL="0" algn="ctr" defTabSz="914400" rtl="0" eaLnBrk="1" latinLnBrk="0" hangingPunct="1"/>
                      <a:r>
                        <a:rPr lang="en-US" altLang="zh-CN" sz="1800" kern="1200" dirty="0">
                          <a:solidFill>
                            <a:schemeClr val="bg2"/>
                          </a:solidFill>
                          <a:latin typeface="+mn-lt"/>
                          <a:ea typeface="+mn-ea"/>
                          <a:cs typeface="+mn-cs"/>
                        </a:rPr>
                        <a:t>7</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8</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9</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5</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6</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9</a:t>
                      </a:r>
                      <a:endParaRPr lang="zh-CN" altLang="en-US" sz="1800" kern="1200" dirty="0">
                        <a:solidFill>
                          <a:schemeClr val="bg2"/>
                        </a:solidFill>
                        <a:latin typeface="+mn-lt"/>
                        <a:ea typeface="+mn-ea"/>
                        <a:cs typeface="+mn-cs"/>
                      </a:endParaRPr>
                    </a:p>
                  </a:txBody>
                  <a:tcPr/>
                </a:tc>
                <a:extLst>
                  <a:ext uri="{0D108BD9-81ED-4DB2-BD59-A6C34878D82A}">
                    <a16:rowId xmlns:a16="http://schemas.microsoft.com/office/drawing/2014/main" val="2666714220"/>
                  </a:ext>
                </a:extLst>
              </a:tr>
            </a:tbl>
          </a:graphicData>
        </a:graphic>
      </p:graphicFrame>
    </p:spTree>
    <p:extLst>
      <p:ext uri="{BB962C8B-B14F-4D97-AF65-F5344CB8AC3E}">
        <p14:creationId xmlns:p14="http://schemas.microsoft.com/office/powerpoint/2010/main" val="39992216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15"/>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8"/>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1" grpId="0"/>
      <p:bldP spid="13" grpId="0"/>
      <p:bldP spid="15" grpId="0"/>
    </p:bld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3731" name="Rectangle 3"/>
          <p:cNvSpPr>
            <a:spLocks noGrp="1" noChangeArrowheads="1"/>
          </p:cNvSpPr>
          <p:nvPr>
            <p:ph type="body" idx="1"/>
          </p:nvPr>
        </p:nvSpPr>
        <p:spPr>
          <a:xfrm>
            <a:off x="179388" y="333375"/>
            <a:ext cx="8785225" cy="5762625"/>
          </a:xfrm>
        </p:spPr>
        <p:txBody>
          <a:bodyPr/>
          <a:lstStyle/>
          <a:p>
            <a:pPr>
              <a:lnSpc>
                <a:spcPct val="150000"/>
              </a:lnSpc>
              <a:buFont typeface="Symbol" pitchFamily="18" charset="2"/>
              <a:buChar char="·"/>
            </a:pPr>
            <a:r>
              <a:rPr lang="zh-CN" altLang="en-US" sz="2000" b="1" dirty="0">
                <a:solidFill>
                  <a:srgbClr val="660033"/>
                </a:solidFill>
                <a:sym typeface="Symbol" pitchFamily="18" charset="2"/>
              </a:rPr>
              <a:t>如果</a:t>
            </a:r>
            <a:r>
              <a:rPr lang="en-US" altLang="zh-CN" sz="2000" b="1" dirty="0">
                <a:solidFill>
                  <a:srgbClr val="660033"/>
                </a:solidFill>
                <a:sym typeface="Symbol" pitchFamily="18" charset="2"/>
              </a:rPr>
              <a:t>P1</a:t>
            </a:r>
            <a:r>
              <a:rPr lang="zh-CN" altLang="en-US" sz="2000" b="1" dirty="0">
                <a:solidFill>
                  <a:srgbClr val="660033"/>
                </a:solidFill>
                <a:sym typeface="Symbol" pitchFamily="18" charset="2"/>
              </a:rPr>
              <a:t>和</a:t>
            </a:r>
            <a:r>
              <a:rPr lang="en-US" altLang="zh-CN" sz="2000" b="1" dirty="0">
                <a:solidFill>
                  <a:srgbClr val="660033"/>
                </a:solidFill>
                <a:sym typeface="Symbol" pitchFamily="18" charset="2"/>
              </a:rPr>
              <a:t>P2</a:t>
            </a:r>
            <a:r>
              <a:rPr lang="zh-CN" altLang="en-US" sz="2000" b="1" dirty="0">
                <a:solidFill>
                  <a:srgbClr val="660033"/>
                </a:solidFill>
                <a:sym typeface="Symbol" pitchFamily="18" charset="2"/>
              </a:rPr>
              <a:t>是公式，</a:t>
            </a:r>
            <a:r>
              <a:rPr lang="zh-CN" altLang="en-US" sz="2000" b="1" dirty="0">
                <a:solidFill>
                  <a:srgbClr val="660033"/>
                </a:solidFill>
                <a:latin typeface="宋体" pitchFamily="2" charset="-122"/>
              </a:rPr>
              <a:t>在元组关系演算的公式中，存在下列等价转换规则：</a:t>
            </a:r>
          </a:p>
          <a:p>
            <a:pPr>
              <a:lnSpc>
                <a:spcPct val="180000"/>
              </a:lnSpc>
              <a:buFont typeface="Wingdings" pitchFamily="2" charset="2"/>
              <a:buNone/>
            </a:pPr>
            <a:r>
              <a:rPr lang="zh-CN" altLang="en-US" sz="2000" b="1" dirty="0">
                <a:solidFill>
                  <a:schemeClr val="bg2"/>
                </a:solidFill>
              </a:rPr>
              <a:t>                </a:t>
            </a:r>
            <a:r>
              <a:rPr lang="en-US" altLang="zh-CN" b="1" dirty="0">
                <a:solidFill>
                  <a:schemeClr val="bg2"/>
                </a:solidFill>
              </a:rPr>
              <a:t>P1∧P2  </a:t>
            </a:r>
            <a:r>
              <a:rPr lang="en-US" altLang="zh-CN" b="1" dirty="0">
                <a:solidFill>
                  <a:schemeClr val="bg2"/>
                </a:solidFill>
                <a:sym typeface="Symbol" pitchFamily="18" charset="2"/>
              </a:rPr>
              <a:t>  </a:t>
            </a:r>
            <a:r>
              <a:rPr lang="en-US" altLang="zh-CN" b="1" dirty="0">
                <a:solidFill>
                  <a:schemeClr val="bg2"/>
                </a:solidFill>
              </a:rPr>
              <a:t>┐(┐P1∨┐P2)</a:t>
            </a:r>
          </a:p>
          <a:p>
            <a:pPr>
              <a:lnSpc>
                <a:spcPct val="180000"/>
              </a:lnSpc>
              <a:buFont typeface="Wingdings" pitchFamily="2" charset="2"/>
              <a:buNone/>
            </a:pPr>
            <a:r>
              <a:rPr lang="en-US" altLang="zh-CN" b="1" dirty="0">
                <a:solidFill>
                  <a:schemeClr val="bg2"/>
                </a:solidFill>
              </a:rPr>
              <a:t>          P1∨P2  </a:t>
            </a:r>
            <a:r>
              <a:rPr lang="en-US" altLang="zh-CN" b="1" dirty="0">
                <a:solidFill>
                  <a:schemeClr val="bg2"/>
                </a:solidFill>
                <a:sym typeface="Symbol" pitchFamily="18" charset="2"/>
              </a:rPr>
              <a:t>  </a:t>
            </a:r>
            <a:r>
              <a:rPr lang="en-US" altLang="zh-CN" b="1" dirty="0">
                <a:solidFill>
                  <a:schemeClr val="bg2"/>
                </a:solidFill>
              </a:rPr>
              <a:t>┐(┐P1∧┐P2</a:t>
            </a:r>
            <a:r>
              <a:rPr lang="zh-CN" altLang="en-US" b="1" dirty="0">
                <a:solidFill>
                  <a:schemeClr val="bg2"/>
                </a:solidFill>
              </a:rPr>
              <a:t>）</a:t>
            </a:r>
          </a:p>
          <a:p>
            <a:pPr>
              <a:lnSpc>
                <a:spcPct val="180000"/>
              </a:lnSpc>
              <a:buFont typeface="Wingdings" pitchFamily="2" charset="2"/>
              <a:buNone/>
            </a:pPr>
            <a:r>
              <a:rPr lang="zh-CN" altLang="en-US" b="1" dirty="0">
                <a:solidFill>
                  <a:schemeClr val="bg2"/>
                </a:solidFill>
              </a:rPr>
              <a:t>         </a:t>
            </a:r>
            <a:r>
              <a:rPr lang="en-US" altLang="zh-CN" b="1" dirty="0">
                <a:solidFill>
                  <a:schemeClr val="bg1"/>
                </a:solidFill>
              </a:rPr>
              <a:t>(</a:t>
            </a:r>
            <a:r>
              <a:rPr lang="en-US" altLang="zh-CN" b="1" dirty="0">
                <a:solidFill>
                  <a:schemeClr val="bg1"/>
                </a:solidFill>
                <a:sym typeface="Symbol" pitchFamily="18" charset="2"/>
              </a:rPr>
              <a:t></a:t>
            </a:r>
            <a:r>
              <a:rPr lang="en-US" altLang="zh-CN" b="1" dirty="0">
                <a:solidFill>
                  <a:schemeClr val="bg1"/>
                </a:solidFill>
              </a:rPr>
              <a:t>s)(P1(s))  </a:t>
            </a:r>
            <a:r>
              <a:rPr lang="en-US" altLang="zh-CN" b="1" dirty="0">
                <a:solidFill>
                  <a:schemeClr val="bg1"/>
                </a:solidFill>
                <a:sym typeface="Symbol" pitchFamily="18" charset="2"/>
              </a:rPr>
              <a:t>  </a:t>
            </a:r>
            <a:r>
              <a:rPr lang="en-US" altLang="zh-CN" b="1" dirty="0">
                <a:solidFill>
                  <a:schemeClr val="bg1"/>
                </a:solidFill>
              </a:rPr>
              <a:t>┐(</a:t>
            </a:r>
            <a:r>
              <a:rPr lang="en-US" altLang="zh-CN" b="1" dirty="0">
                <a:solidFill>
                  <a:schemeClr val="bg1"/>
                </a:solidFill>
                <a:sym typeface="Symbol" pitchFamily="18" charset="2"/>
              </a:rPr>
              <a:t></a:t>
            </a:r>
            <a:r>
              <a:rPr lang="en-US" altLang="zh-CN" b="1" dirty="0">
                <a:solidFill>
                  <a:schemeClr val="bg1"/>
                </a:solidFill>
              </a:rPr>
              <a:t>s)(┐P1(s)) </a:t>
            </a:r>
          </a:p>
          <a:p>
            <a:pPr>
              <a:lnSpc>
                <a:spcPct val="180000"/>
              </a:lnSpc>
              <a:buFont typeface="Wingdings" pitchFamily="2" charset="2"/>
              <a:buNone/>
            </a:pPr>
            <a:r>
              <a:rPr lang="en-US" altLang="zh-CN" b="1" dirty="0">
                <a:solidFill>
                  <a:schemeClr val="bg1"/>
                </a:solidFill>
              </a:rPr>
              <a:t>         (</a:t>
            </a:r>
            <a:r>
              <a:rPr lang="en-US" altLang="zh-CN" b="1" dirty="0">
                <a:solidFill>
                  <a:schemeClr val="bg1"/>
                </a:solidFill>
                <a:sym typeface="Symbol" pitchFamily="18" charset="2"/>
              </a:rPr>
              <a:t></a:t>
            </a:r>
            <a:r>
              <a:rPr lang="en-US" altLang="zh-CN" b="1" dirty="0">
                <a:solidFill>
                  <a:schemeClr val="bg1"/>
                </a:solidFill>
              </a:rPr>
              <a:t>s)(P1(s)) </a:t>
            </a:r>
            <a:r>
              <a:rPr lang="en-US" altLang="zh-CN" b="1" dirty="0">
                <a:solidFill>
                  <a:schemeClr val="bg1"/>
                </a:solidFill>
                <a:sym typeface="Symbol" pitchFamily="18" charset="2"/>
              </a:rPr>
              <a:t></a:t>
            </a:r>
            <a:r>
              <a:rPr lang="zh-CN" altLang="en-US" b="1" dirty="0">
                <a:solidFill>
                  <a:schemeClr val="bg1"/>
                </a:solidFill>
                <a:sym typeface="Symbol" pitchFamily="18" charset="2"/>
              </a:rPr>
              <a:t> </a:t>
            </a:r>
            <a:r>
              <a:rPr lang="en-US" altLang="zh-CN" b="1" dirty="0">
                <a:solidFill>
                  <a:schemeClr val="bg1"/>
                </a:solidFill>
              </a:rPr>
              <a:t>┐(</a:t>
            </a:r>
            <a:r>
              <a:rPr lang="en-US" altLang="zh-CN" b="1" dirty="0">
                <a:solidFill>
                  <a:schemeClr val="bg1"/>
                </a:solidFill>
                <a:sym typeface="Symbol" pitchFamily="18" charset="2"/>
              </a:rPr>
              <a:t></a:t>
            </a:r>
            <a:r>
              <a:rPr lang="en-US" altLang="zh-CN" b="1" dirty="0">
                <a:solidFill>
                  <a:schemeClr val="bg1"/>
                </a:solidFill>
              </a:rPr>
              <a:t>s) (┐P1(s))</a:t>
            </a:r>
          </a:p>
          <a:p>
            <a:pPr>
              <a:lnSpc>
                <a:spcPct val="180000"/>
              </a:lnSpc>
              <a:buFont typeface="Wingdings" pitchFamily="2" charset="2"/>
              <a:buNone/>
            </a:pPr>
            <a:r>
              <a:rPr lang="en-US" altLang="zh-CN" b="1" dirty="0">
                <a:solidFill>
                  <a:schemeClr val="bg2"/>
                </a:solidFill>
              </a:rPr>
              <a:t>          P1</a:t>
            </a:r>
            <a:r>
              <a:rPr lang="en-US" altLang="zh-CN" b="1" dirty="0">
                <a:solidFill>
                  <a:schemeClr val="bg2"/>
                </a:solidFill>
                <a:sym typeface="Symbol" pitchFamily="18" charset="2"/>
              </a:rPr>
              <a:t></a:t>
            </a:r>
            <a:r>
              <a:rPr lang="en-US" altLang="zh-CN" b="1" dirty="0">
                <a:solidFill>
                  <a:schemeClr val="bg2"/>
                </a:solidFill>
              </a:rPr>
              <a:t>P2 </a:t>
            </a:r>
            <a:r>
              <a:rPr lang="en-US" altLang="zh-CN" b="1" dirty="0">
                <a:solidFill>
                  <a:schemeClr val="bg2"/>
                </a:solidFill>
                <a:sym typeface="Symbol" pitchFamily="18" charset="2"/>
              </a:rPr>
              <a:t>  </a:t>
            </a:r>
            <a:r>
              <a:rPr lang="en-US" altLang="zh-CN" b="1" dirty="0">
                <a:solidFill>
                  <a:schemeClr val="bg2"/>
                </a:solidFill>
              </a:rPr>
              <a:t>┐P1∨P2</a:t>
            </a:r>
          </a:p>
        </p:txBody>
      </p:sp>
      <p:sp>
        <p:nvSpPr>
          <p:cNvPr id="3" name="左大括号 2">
            <a:extLst>
              <a:ext uri="{FF2B5EF4-FFF2-40B4-BE49-F238E27FC236}">
                <a16:creationId xmlns:a16="http://schemas.microsoft.com/office/drawing/2014/main" id="{F46AEC90-E4AE-1847-AAF1-84F71709DE84}"/>
              </a:ext>
            </a:extLst>
          </p:cNvPr>
          <p:cNvSpPr/>
          <p:nvPr/>
        </p:nvSpPr>
        <p:spPr bwMode="auto">
          <a:xfrm>
            <a:off x="899592" y="1340768"/>
            <a:ext cx="288032" cy="1224136"/>
          </a:xfrm>
          <a:prstGeom prst="leftBrac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5" name="左大括号 4">
            <a:extLst>
              <a:ext uri="{FF2B5EF4-FFF2-40B4-BE49-F238E27FC236}">
                <a16:creationId xmlns:a16="http://schemas.microsoft.com/office/drawing/2014/main" id="{60418E19-E138-2F4D-BF83-2FEA6C4572FD}"/>
              </a:ext>
            </a:extLst>
          </p:cNvPr>
          <p:cNvSpPr/>
          <p:nvPr/>
        </p:nvSpPr>
        <p:spPr bwMode="auto">
          <a:xfrm>
            <a:off x="898496" y="3224666"/>
            <a:ext cx="288032" cy="1224136"/>
          </a:xfrm>
          <a:prstGeom prst="leftBrac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6" name="左大括号 5">
            <a:extLst>
              <a:ext uri="{FF2B5EF4-FFF2-40B4-BE49-F238E27FC236}">
                <a16:creationId xmlns:a16="http://schemas.microsoft.com/office/drawing/2014/main" id="{BB4177C1-A47C-654A-B292-EC2A74FCE141}"/>
              </a:ext>
            </a:extLst>
          </p:cNvPr>
          <p:cNvSpPr/>
          <p:nvPr/>
        </p:nvSpPr>
        <p:spPr bwMode="auto">
          <a:xfrm>
            <a:off x="898496" y="4844127"/>
            <a:ext cx="288032" cy="1224136"/>
          </a:xfrm>
          <a:prstGeom prst="leftBrace">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animBg="1"/>
      <p:bldP spid="6"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6" name="Rectangle 4"/>
          <p:cNvSpPr>
            <a:spLocks noChangeArrowheads="1"/>
          </p:cNvSpPr>
          <p:nvPr/>
        </p:nvSpPr>
        <p:spPr bwMode="auto">
          <a:xfrm>
            <a:off x="115850" y="2128094"/>
            <a:ext cx="8547533"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lnSpc>
                <a:spcPct val="100000"/>
              </a:lnSpc>
              <a:spcBef>
                <a:spcPct val="0"/>
              </a:spcBef>
            </a:pPr>
            <a:r>
              <a:rPr lang="en-US" altLang="zh-CN" sz="2400" b="1" dirty="0">
                <a:solidFill>
                  <a:schemeClr val="bg2"/>
                </a:solidFill>
              </a:rPr>
              <a:t>1.</a:t>
            </a:r>
            <a:r>
              <a:rPr lang="zh-CN" altLang="en-US" sz="2400" b="1" dirty="0">
                <a:solidFill>
                  <a:schemeClr val="bg2"/>
                </a:solidFill>
              </a:rPr>
              <a:t>检索供应零件给工程</a:t>
            </a:r>
            <a:r>
              <a:rPr lang="en-US" altLang="zh-CN" sz="2400" b="1" dirty="0">
                <a:solidFill>
                  <a:schemeClr val="bg2"/>
                </a:solidFill>
              </a:rPr>
              <a:t>J1</a:t>
            </a:r>
            <a:r>
              <a:rPr lang="zh-CN" altLang="en-US" sz="2400" b="1" dirty="0">
                <a:solidFill>
                  <a:schemeClr val="bg2"/>
                </a:solidFill>
              </a:rPr>
              <a:t>的供应商编号</a:t>
            </a:r>
            <a:r>
              <a:rPr lang="en-US" altLang="zh-CN" sz="2400" b="1" dirty="0">
                <a:solidFill>
                  <a:schemeClr val="bg2"/>
                </a:solidFill>
              </a:rPr>
              <a:t>SNO</a:t>
            </a:r>
            <a:r>
              <a:rPr lang="zh-CN" altLang="en-US" sz="2400" b="1" dirty="0">
                <a:solidFill>
                  <a:schemeClr val="bg2"/>
                </a:solidFill>
              </a:rPr>
              <a:t>和零件编号</a:t>
            </a:r>
            <a:r>
              <a:rPr lang="en-US" altLang="zh-CN" sz="2400" b="1" dirty="0">
                <a:solidFill>
                  <a:schemeClr val="bg2"/>
                </a:solidFill>
              </a:rPr>
              <a:t>PNO </a:t>
            </a:r>
            <a:r>
              <a:rPr lang="zh-CN" altLang="en-US" sz="2400" b="1" dirty="0">
                <a:solidFill>
                  <a:schemeClr val="bg2"/>
                </a:solidFill>
              </a:rPr>
              <a:t>。 </a:t>
            </a:r>
          </a:p>
        </p:txBody>
      </p:sp>
      <p:sp>
        <p:nvSpPr>
          <p:cNvPr id="709637" name="Rectangle 5"/>
          <p:cNvSpPr>
            <a:spLocks noChangeArrowheads="1"/>
          </p:cNvSpPr>
          <p:nvPr/>
        </p:nvSpPr>
        <p:spPr bwMode="auto">
          <a:xfrm>
            <a:off x="92186" y="2740223"/>
            <a:ext cx="8275022"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lnSpc>
                <a:spcPct val="100000"/>
              </a:lnSpc>
              <a:spcBef>
                <a:spcPct val="0"/>
              </a:spcBef>
            </a:pPr>
            <a:r>
              <a:rPr lang="en-US" altLang="zh-CN" sz="2400" b="1" dirty="0">
                <a:solidFill>
                  <a:srgbClr val="660033"/>
                </a:solidFill>
              </a:rPr>
              <a:t>{</a:t>
            </a:r>
            <a:r>
              <a:rPr lang="en-US" altLang="zh-CN" sz="2400" b="1" dirty="0">
                <a:solidFill>
                  <a:srgbClr val="FF0000"/>
                </a:solidFill>
              </a:rPr>
              <a:t>t</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u)(SPJ(u)</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u[3]=</a:t>
            </a:r>
            <a:r>
              <a:rPr lang="en-US" altLang="zh-CN" sz="2400" b="1" dirty="0">
                <a:solidFill>
                  <a:srgbClr val="660033"/>
                </a:solidFill>
                <a:highlight>
                  <a:srgbClr val="00FFFF"/>
                </a:highlight>
                <a:latin typeface="Times New Roman"/>
                <a:sym typeface="Symbol" pitchFamily="18" charset="2"/>
              </a:rPr>
              <a:t>‘</a:t>
            </a:r>
            <a:r>
              <a:rPr lang="en-US" altLang="zh-CN" sz="2400" b="1" dirty="0">
                <a:solidFill>
                  <a:srgbClr val="660033"/>
                </a:solidFill>
                <a:highlight>
                  <a:srgbClr val="00FFFF"/>
                </a:highlight>
                <a:sym typeface="Symbol" pitchFamily="18" charset="2"/>
              </a:rPr>
              <a:t>J1</a:t>
            </a:r>
            <a:r>
              <a:rPr lang="en-US" altLang="zh-CN" sz="2400" b="1" dirty="0">
                <a:solidFill>
                  <a:srgbClr val="660033"/>
                </a:solidFill>
                <a:highlight>
                  <a:srgbClr val="00FFFF"/>
                </a:highlight>
                <a:latin typeface="Times New Roman"/>
                <a:sym typeface="Symbol" pitchFamily="18" charset="2"/>
              </a:rPr>
              <a:t>’</a:t>
            </a:r>
            <a:r>
              <a:rPr lang="en-US" altLang="zh-CN" sz="2400" b="1" dirty="0">
                <a:solidFill>
                  <a:srgbClr val="660033"/>
                </a:solidFill>
                <a:sym typeface="Symbol" pitchFamily="18" charset="2"/>
              </a:rPr>
              <a:t>∧ </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[l]= u[1]∧</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[2]=u[2])}</a:t>
            </a:r>
          </a:p>
        </p:txBody>
      </p:sp>
      <p:sp>
        <p:nvSpPr>
          <p:cNvPr id="709638" name="Rectangle 6"/>
          <p:cNvSpPr>
            <a:spLocks noChangeArrowheads="1"/>
          </p:cNvSpPr>
          <p:nvPr/>
        </p:nvSpPr>
        <p:spPr bwMode="auto">
          <a:xfrm>
            <a:off x="-396552" y="5105991"/>
            <a:ext cx="7154863"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indent="533400" algn="l"/>
            <a:r>
              <a:rPr lang="en-US" altLang="zh-CN" sz="2400" b="1" dirty="0">
                <a:solidFill>
                  <a:schemeClr val="bg2"/>
                </a:solidFill>
              </a:rPr>
              <a:t>3.</a:t>
            </a:r>
            <a:r>
              <a:rPr lang="zh-CN" altLang="en-US" sz="2400" b="1" dirty="0">
                <a:solidFill>
                  <a:schemeClr val="bg2"/>
                </a:solidFill>
              </a:rPr>
              <a:t>检索使用了编号为</a:t>
            </a:r>
            <a:r>
              <a:rPr lang="en-US" altLang="zh-CN" sz="2400" b="1" dirty="0">
                <a:solidFill>
                  <a:schemeClr val="bg2"/>
                </a:solidFill>
              </a:rPr>
              <a:t>P3</a:t>
            </a:r>
            <a:r>
              <a:rPr lang="zh-CN" altLang="en-US" sz="2400" b="1" dirty="0">
                <a:solidFill>
                  <a:schemeClr val="bg2"/>
                </a:solidFill>
              </a:rPr>
              <a:t>零件的工程编号和名称。</a:t>
            </a:r>
          </a:p>
        </p:txBody>
      </p:sp>
      <p:sp>
        <p:nvSpPr>
          <p:cNvPr id="709639" name="Rectangle 7"/>
          <p:cNvSpPr>
            <a:spLocks noChangeArrowheads="1"/>
          </p:cNvSpPr>
          <p:nvPr/>
        </p:nvSpPr>
        <p:spPr bwMode="auto">
          <a:xfrm>
            <a:off x="4044" y="5432371"/>
            <a:ext cx="8893175" cy="1113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spcBef>
                <a:spcPts val="0"/>
              </a:spcBef>
            </a:pPr>
            <a:r>
              <a:rPr lang="en-US" altLang="zh-CN" sz="2400" b="1" dirty="0">
                <a:solidFill>
                  <a:srgbClr val="660033"/>
                </a:solidFill>
              </a:rPr>
              <a:t>{</a:t>
            </a:r>
            <a:r>
              <a:rPr lang="en-US" altLang="zh-CN" sz="2400" b="1" dirty="0">
                <a:solidFill>
                  <a:srgbClr val="FF0000"/>
                </a:solidFill>
              </a:rPr>
              <a:t>t</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a:t>
            </a:r>
            <a:r>
              <a:rPr lang="en-US" altLang="zh-CN" sz="2400" b="1" dirty="0">
                <a:solidFill>
                  <a:srgbClr val="660033"/>
                </a:solidFill>
                <a:sym typeface="Symbol" pitchFamily="18" charset="2"/>
              </a:rPr>
              <a:t></a:t>
            </a:r>
            <a:r>
              <a:rPr lang="en-US" altLang="zh-CN" sz="2400" b="1" dirty="0">
                <a:solidFill>
                  <a:srgbClr val="660033"/>
                </a:solidFill>
              </a:rPr>
              <a:t>v)(J(u)</a:t>
            </a:r>
            <a:r>
              <a:rPr lang="en-US" altLang="zh-CN" sz="2400" b="1" dirty="0">
                <a:solidFill>
                  <a:srgbClr val="660033"/>
                </a:solidFill>
                <a:sym typeface="Symbol" pitchFamily="18" charset="2"/>
              </a:rPr>
              <a:t>∧SPJ(v)∧</a:t>
            </a:r>
            <a:r>
              <a:rPr lang="en-US" altLang="zh-CN" sz="2400" b="1" dirty="0">
                <a:solidFill>
                  <a:srgbClr val="660033"/>
                </a:solidFill>
                <a:highlight>
                  <a:srgbClr val="00FFFF"/>
                </a:highlight>
                <a:sym typeface="Symbol" pitchFamily="18" charset="2"/>
              </a:rPr>
              <a:t>v[2]=</a:t>
            </a:r>
            <a:r>
              <a:rPr lang="en-US" altLang="zh-CN" sz="2400" b="1" dirty="0">
                <a:solidFill>
                  <a:srgbClr val="660033"/>
                </a:solidFill>
                <a:highlight>
                  <a:srgbClr val="00FFFF"/>
                </a:highlight>
                <a:latin typeface="Times New Roman"/>
                <a:sym typeface="Symbol" pitchFamily="18" charset="2"/>
              </a:rPr>
              <a:t>‘</a:t>
            </a:r>
            <a:r>
              <a:rPr lang="en-US" altLang="zh-CN" sz="2400" b="1" dirty="0">
                <a:solidFill>
                  <a:srgbClr val="660033"/>
                </a:solidFill>
                <a:highlight>
                  <a:srgbClr val="00FFFF"/>
                </a:highlight>
                <a:sym typeface="Symbol" pitchFamily="18" charset="2"/>
              </a:rPr>
              <a:t>P3</a:t>
            </a:r>
            <a:r>
              <a:rPr lang="en-US" altLang="zh-CN" sz="2400" b="1" dirty="0">
                <a:solidFill>
                  <a:srgbClr val="660033"/>
                </a:solidFill>
                <a:highlight>
                  <a:srgbClr val="00FFFF"/>
                </a:highlight>
                <a:latin typeface="Times New Roman"/>
                <a:sym typeface="Symbol" pitchFamily="18" charset="2"/>
              </a:rPr>
              <a:t>’</a:t>
            </a:r>
            <a:r>
              <a:rPr lang="en-US" altLang="zh-CN" sz="2400" b="1" dirty="0">
                <a:solidFill>
                  <a:srgbClr val="660033"/>
                </a:solidFill>
                <a:sym typeface="Symbol" pitchFamily="18" charset="2"/>
              </a:rPr>
              <a:t>∧</a:t>
            </a:r>
            <a:r>
              <a:rPr lang="en-US" altLang="zh-CN" sz="2400" b="1" dirty="0">
                <a:highlight>
                  <a:srgbClr val="0000FF"/>
                </a:highlight>
                <a:sym typeface="Symbol" pitchFamily="18" charset="2"/>
              </a:rPr>
              <a:t>u[l]=v[3]</a:t>
            </a:r>
            <a:r>
              <a:rPr lang="en-US" altLang="zh-CN" sz="2400" b="1" dirty="0">
                <a:solidFill>
                  <a:srgbClr val="660033"/>
                </a:solidFill>
                <a:sym typeface="Symbol" pitchFamily="18" charset="2"/>
              </a:rPr>
              <a:t>∧</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[l]=u[1]</a:t>
            </a:r>
          </a:p>
          <a:p>
            <a:pPr>
              <a:lnSpc>
                <a:spcPct val="150000"/>
              </a:lnSpc>
              <a:spcBef>
                <a:spcPts val="0"/>
              </a:spcBef>
            </a:pPr>
            <a:r>
              <a:rPr lang="en-US" altLang="zh-CN" sz="2400" b="1" dirty="0">
                <a:solidFill>
                  <a:srgbClr val="660033"/>
                </a:solidFill>
                <a:sym typeface="Symbol" pitchFamily="18" charset="2"/>
              </a:rPr>
              <a:t>    ∧</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[2]=u[2])}</a:t>
            </a:r>
          </a:p>
        </p:txBody>
      </p:sp>
      <p:sp>
        <p:nvSpPr>
          <p:cNvPr id="9" name="Rectangle 2">
            <a:extLst>
              <a:ext uri="{FF2B5EF4-FFF2-40B4-BE49-F238E27FC236}">
                <a16:creationId xmlns:a16="http://schemas.microsoft.com/office/drawing/2014/main" id="{6A946AB1-5C51-1F4B-8976-433F400DCC6A}"/>
              </a:ext>
            </a:extLst>
          </p:cNvPr>
          <p:cNvSpPr txBox="1">
            <a:spLocks noChangeArrowheads="1"/>
          </p:cNvSpPr>
          <p:nvPr/>
        </p:nvSpPr>
        <p:spPr bwMode="auto">
          <a:xfrm>
            <a:off x="192360" y="210344"/>
            <a:ext cx="7772400" cy="130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accent2"/>
              </a:buClr>
              <a:buSzPct val="80000"/>
              <a:buFont typeface="Wingdings" pitchFamily="2" charset="2"/>
              <a:buChar char="l"/>
              <a:defRPr kumimoji="1" sz="3200">
                <a:solidFill>
                  <a:schemeClr val="tx1"/>
                </a:solidFill>
                <a:latin typeface="+mn-lt"/>
                <a:ea typeface="+mn-ea"/>
                <a:cs typeface="+mn-cs"/>
              </a:defRPr>
            </a:lvl1pPr>
            <a:lvl2pPr marL="742950" indent="-285750" algn="l" rtl="0" fontAlgn="base">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fontAlgn="base">
              <a:spcBef>
                <a:spcPct val="20000"/>
              </a:spcBef>
              <a:spcAft>
                <a:spcPct val="0"/>
              </a:spcAft>
              <a:buClr>
                <a:schemeClr val="accent1"/>
              </a:buClr>
              <a:buSzPct val="60000"/>
              <a:buFont typeface="Wingdings" pitchFamily="2" charset="2"/>
              <a:buChar char="l"/>
              <a:defRPr kumimoji="1" sz="2400">
                <a:solidFill>
                  <a:schemeClr val="tx1"/>
                </a:solidFill>
                <a:latin typeface="+mn-lt"/>
                <a:ea typeface="+mn-ea"/>
              </a:defRPr>
            </a:lvl3pPr>
            <a:lvl4pPr marL="1600200" indent="-228600" algn="l" rtl="0" fontAlgn="base">
              <a:spcBef>
                <a:spcPct val="20000"/>
              </a:spcBef>
              <a:spcAft>
                <a:spcPct val="0"/>
              </a:spcAft>
              <a:buClr>
                <a:schemeClr val="tx1"/>
              </a:buClr>
              <a:buChar char="–"/>
              <a:defRPr kumimoji="1" sz="2000">
                <a:solidFill>
                  <a:schemeClr val="tx1"/>
                </a:solidFill>
                <a:latin typeface="+mn-lt"/>
                <a:ea typeface="+mn-ea"/>
              </a:defRPr>
            </a:lvl4pPr>
            <a:lvl5pPr marL="2057400" indent="-228600" algn="l" rtl="0" fontAlgn="base">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a:lstStyle>
          <a:p>
            <a:pPr algn="just" eaLnBrk="0" hangingPunct="0">
              <a:lnSpc>
                <a:spcPct val="150000"/>
              </a:lnSpc>
              <a:spcBef>
                <a:spcPct val="50000"/>
              </a:spcBef>
              <a:buClrTx/>
              <a:buSzTx/>
              <a:buFontTx/>
              <a:buNone/>
            </a:pPr>
            <a:r>
              <a:rPr lang="en-US" altLang="zh-CN" b="1" kern="0">
                <a:solidFill>
                  <a:srgbClr val="000099"/>
                </a:solidFill>
              </a:rPr>
              <a:t>6. </a:t>
            </a:r>
            <a:r>
              <a:rPr lang="zh-CN" altLang="en-US" b="1" kern="0">
                <a:solidFill>
                  <a:srgbClr val="000099"/>
                </a:solidFill>
              </a:rPr>
              <a:t>实例</a:t>
            </a:r>
            <a:r>
              <a:rPr lang="en-US" altLang="zh-CN" b="1" kern="0">
                <a:solidFill>
                  <a:srgbClr val="000099"/>
                </a:solidFill>
              </a:rPr>
              <a:t>:</a:t>
            </a:r>
            <a:r>
              <a:rPr lang="zh-CN" altLang="en-US" b="1" kern="0">
                <a:solidFill>
                  <a:srgbClr val="000099"/>
                </a:solidFill>
              </a:rPr>
              <a:t>用元组表达式形式表示下列查询</a:t>
            </a:r>
          </a:p>
          <a:p>
            <a:pPr>
              <a:lnSpc>
                <a:spcPct val="100000"/>
              </a:lnSpc>
            </a:pPr>
            <a:endParaRPr lang="en-US" altLang="zh-CN" kern="0" dirty="0">
              <a:solidFill>
                <a:srgbClr val="000099"/>
              </a:solidFill>
            </a:endParaRPr>
          </a:p>
        </p:txBody>
      </p:sp>
      <p:graphicFrame>
        <p:nvGraphicFramePr>
          <p:cNvPr id="10" name="表格 9">
            <a:extLst>
              <a:ext uri="{FF2B5EF4-FFF2-40B4-BE49-F238E27FC236}">
                <a16:creationId xmlns:a16="http://schemas.microsoft.com/office/drawing/2014/main" id="{8F25F78A-4B89-2447-A00D-D0FDEB8B1F3E}"/>
              </a:ext>
            </a:extLst>
          </p:cNvPr>
          <p:cNvGraphicFramePr>
            <a:graphicFrameLocks noGrp="1"/>
          </p:cNvGraphicFramePr>
          <p:nvPr/>
        </p:nvGraphicFramePr>
        <p:xfrm>
          <a:off x="44545" y="1010330"/>
          <a:ext cx="4743479" cy="741680"/>
        </p:xfrm>
        <a:graphic>
          <a:graphicData uri="http://schemas.openxmlformats.org/drawingml/2006/table">
            <a:tbl>
              <a:tblPr firstRow="1" bandRow="1">
                <a:tableStyleId>{5C22544A-7EE6-4342-B048-85BDC9FD1C3A}</a:tableStyleId>
              </a:tblPr>
              <a:tblGrid>
                <a:gridCol w="683568">
                  <a:extLst>
                    <a:ext uri="{9D8B030D-6E8A-4147-A177-3AD203B41FA5}">
                      <a16:colId xmlns:a16="http://schemas.microsoft.com/office/drawing/2014/main" val="3624112539"/>
                    </a:ext>
                  </a:extLst>
                </a:gridCol>
                <a:gridCol w="720080">
                  <a:extLst>
                    <a:ext uri="{9D8B030D-6E8A-4147-A177-3AD203B41FA5}">
                      <a16:colId xmlns:a16="http://schemas.microsoft.com/office/drawing/2014/main" val="851219932"/>
                    </a:ext>
                  </a:extLst>
                </a:gridCol>
                <a:gridCol w="717850">
                  <a:extLst>
                    <a:ext uri="{9D8B030D-6E8A-4147-A177-3AD203B41FA5}">
                      <a16:colId xmlns:a16="http://schemas.microsoft.com/office/drawing/2014/main" val="1016015763"/>
                    </a:ext>
                  </a:extLst>
                </a:gridCol>
                <a:gridCol w="839910">
                  <a:extLst>
                    <a:ext uri="{9D8B030D-6E8A-4147-A177-3AD203B41FA5}">
                      <a16:colId xmlns:a16="http://schemas.microsoft.com/office/drawing/2014/main" val="2649775867"/>
                    </a:ext>
                  </a:extLst>
                </a:gridCol>
                <a:gridCol w="1059017">
                  <a:extLst>
                    <a:ext uri="{9D8B030D-6E8A-4147-A177-3AD203B41FA5}">
                      <a16:colId xmlns:a16="http://schemas.microsoft.com/office/drawing/2014/main" val="3781189654"/>
                    </a:ext>
                  </a:extLst>
                </a:gridCol>
                <a:gridCol w="723054">
                  <a:extLst>
                    <a:ext uri="{9D8B030D-6E8A-4147-A177-3AD203B41FA5}">
                      <a16:colId xmlns:a16="http://schemas.microsoft.com/office/drawing/2014/main" val="241062383"/>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extLst>
                  <a:ext uri="{0D108BD9-81ED-4DB2-BD59-A6C34878D82A}">
                    <a16:rowId xmlns:a16="http://schemas.microsoft.com/office/drawing/2014/main" val="1274320833"/>
                  </a:ext>
                </a:extLst>
              </a:tr>
              <a:tr h="370840">
                <a:tc>
                  <a:txBody>
                    <a:bodyPr/>
                    <a:lstStyle/>
                    <a:p>
                      <a:pPr algn="ctr"/>
                      <a:r>
                        <a:rPr lang="en-US" altLang="zh-CN" sz="1800" b="1" u="none" kern="1200" dirty="0">
                          <a:solidFill>
                            <a:schemeClr val="bg2"/>
                          </a:solidFill>
                          <a:latin typeface="+mn-lt"/>
                          <a:ea typeface="+mn-ea"/>
                          <a:cs typeface="+mn-cs"/>
                        </a:rPr>
                        <a:t>SPJ(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SNO,</a:t>
                      </a:r>
                      <a:endParaRPr lang="zh-CN" altLang="en-US" dirty="0"/>
                    </a:p>
                  </a:txBody>
                  <a:tcPr/>
                </a:tc>
                <a:tc>
                  <a:txBody>
                    <a:bodyPr/>
                    <a:lstStyle/>
                    <a:p>
                      <a:pPr algn="ctr"/>
                      <a:r>
                        <a:rPr lang="en-US" altLang="zh-CN" sz="1800" b="1" u="sng" dirty="0">
                          <a:solidFill>
                            <a:schemeClr val="bg2"/>
                          </a:solidFill>
                        </a:rPr>
                        <a:t>PNO,</a:t>
                      </a:r>
                      <a:endParaRPr lang="zh-CN" altLang="en-US" dirty="0"/>
                    </a:p>
                  </a:txBody>
                  <a:tcPr/>
                </a:tc>
                <a:tc>
                  <a:txBody>
                    <a:bodyPr/>
                    <a:lstStyle/>
                    <a:p>
                      <a:pPr algn="ctr"/>
                      <a:r>
                        <a:rPr lang="en-US" altLang="zh-CN" sz="1800" b="1" u="sng" dirty="0">
                          <a:solidFill>
                            <a:schemeClr val="bg2"/>
                          </a:solidFill>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PRICE,</a:t>
                      </a:r>
                      <a:endParaRPr lang="zh-CN" altLang="en-US" dirty="0"/>
                    </a:p>
                  </a:txBody>
                  <a:tcPr/>
                </a:tc>
                <a:tc>
                  <a:txBody>
                    <a:bodyPr/>
                    <a:lstStyle/>
                    <a:p>
                      <a:pPr algn="ctr"/>
                      <a:r>
                        <a:rPr lang="en-US" altLang="zh-CN" sz="1800" b="1" dirty="0">
                          <a:solidFill>
                            <a:schemeClr val="bg2"/>
                          </a:solidFill>
                        </a:rPr>
                        <a:t>QTY)</a:t>
                      </a:r>
                      <a:endParaRPr lang="zh-CN" altLang="en-US" dirty="0"/>
                    </a:p>
                  </a:txBody>
                  <a:tcPr/>
                </a:tc>
                <a:extLst>
                  <a:ext uri="{0D108BD9-81ED-4DB2-BD59-A6C34878D82A}">
                    <a16:rowId xmlns:a16="http://schemas.microsoft.com/office/drawing/2014/main" val="822562478"/>
                  </a:ext>
                </a:extLst>
              </a:tr>
            </a:tbl>
          </a:graphicData>
        </a:graphic>
      </p:graphicFrame>
      <p:graphicFrame>
        <p:nvGraphicFramePr>
          <p:cNvPr id="11" name="表格 3">
            <a:extLst>
              <a:ext uri="{FF2B5EF4-FFF2-40B4-BE49-F238E27FC236}">
                <a16:creationId xmlns:a16="http://schemas.microsoft.com/office/drawing/2014/main" id="{7C97B6FF-D583-184B-B0E4-77180B6F469E}"/>
              </a:ext>
            </a:extLst>
          </p:cNvPr>
          <p:cNvGraphicFramePr>
            <a:graphicFrameLocks noGrp="1"/>
          </p:cNvGraphicFramePr>
          <p:nvPr/>
        </p:nvGraphicFramePr>
        <p:xfrm>
          <a:off x="4747325" y="1001407"/>
          <a:ext cx="4368736" cy="741680"/>
        </p:xfrm>
        <a:graphic>
          <a:graphicData uri="http://schemas.openxmlformats.org/drawingml/2006/table">
            <a:tbl>
              <a:tblPr firstRow="1" bandRow="1">
                <a:tableStyleId>{21E4AEA4-8DFA-4A89-87EB-49C32662AFE0}</a:tableStyleId>
              </a:tblPr>
              <a:tblGrid>
                <a:gridCol w="386487">
                  <a:extLst>
                    <a:ext uri="{9D8B030D-6E8A-4147-A177-3AD203B41FA5}">
                      <a16:colId xmlns:a16="http://schemas.microsoft.com/office/drawing/2014/main" val="2512462284"/>
                    </a:ext>
                  </a:extLst>
                </a:gridCol>
                <a:gridCol w="737662">
                  <a:extLst>
                    <a:ext uri="{9D8B030D-6E8A-4147-A177-3AD203B41FA5}">
                      <a16:colId xmlns:a16="http://schemas.microsoft.com/office/drawing/2014/main" val="3152180614"/>
                    </a:ext>
                  </a:extLst>
                </a:gridCol>
                <a:gridCol w="998116">
                  <a:extLst>
                    <a:ext uri="{9D8B030D-6E8A-4147-A177-3AD203B41FA5}">
                      <a16:colId xmlns:a16="http://schemas.microsoft.com/office/drawing/2014/main" val="2487654462"/>
                    </a:ext>
                  </a:extLst>
                </a:gridCol>
                <a:gridCol w="864096">
                  <a:extLst>
                    <a:ext uri="{9D8B030D-6E8A-4147-A177-3AD203B41FA5}">
                      <a16:colId xmlns:a16="http://schemas.microsoft.com/office/drawing/2014/main" val="462313814"/>
                    </a:ext>
                  </a:extLst>
                </a:gridCol>
                <a:gridCol w="1382375">
                  <a:extLst>
                    <a:ext uri="{9D8B030D-6E8A-4147-A177-3AD203B41FA5}">
                      <a16:colId xmlns:a16="http://schemas.microsoft.com/office/drawing/2014/main" val="332626903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rPr>
                        <a:t>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JNAME,</a:t>
                      </a:r>
                      <a:endParaRPr lang="zh-CN" altLang="en-US" dirty="0"/>
                    </a:p>
                  </a:txBody>
                  <a:tcPr/>
                </a:tc>
                <a:tc>
                  <a:txBody>
                    <a:bodyPr/>
                    <a:lstStyle/>
                    <a:p>
                      <a:pPr algn="ctr"/>
                      <a:r>
                        <a:rPr lang="en-US" altLang="zh-CN" sz="1800" b="1" dirty="0">
                          <a:solidFill>
                            <a:schemeClr val="bg2"/>
                          </a:solidFill>
                        </a:rPr>
                        <a:t>JCITY,</a:t>
                      </a:r>
                      <a:endParaRPr lang="zh-CN" altLang="en-US" dirty="0"/>
                    </a:p>
                  </a:txBody>
                  <a:tcPr/>
                </a:tc>
                <a:tc>
                  <a:txBody>
                    <a:bodyPr/>
                    <a:lstStyle/>
                    <a:p>
                      <a:pPr algn="ctr"/>
                      <a:r>
                        <a:rPr lang="en-US" altLang="zh-CN" sz="1800" b="1" dirty="0">
                          <a:solidFill>
                            <a:schemeClr val="bg2"/>
                          </a:solidFill>
                        </a:rPr>
                        <a:t>BALANCE)</a:t>
                      </a:r>
                      <a:endParaRPr lang="zh-CN" altLang="en-US" dirty="0"/>
                    </a:p>
                  </a:txBody>
                  <a:tcPr/>
                </a:tc>
                <a:extLst>
                  <a:ext uri="{0D108BD9-81ED-4DB2-BD59-A6C34878D82A}">
                    <a16:rowId xmlns:a16="http://schemas.microsoft.com/office/drawing/2014/main" val="553996634"/>
                  </a:ext>
                </a:extLst>
              </a:tr>
            </a:tbl>
          </a:graphicData>
        </a:graphic>
      </p:graphicFrame>
      <p:sp>
        <p:nvSpPr>
          <p:cNvPr id="12" name="Rectangle 4">
            <a:extLst>
              <a:ext uri="{FF2B5EF4-FFF2-40B4-BE49-F238E27FC236}">
                <a16:creationId xmlns:a16="http://schemas.microsoft.com/office/drawing/2014/main" id="{7004E817-4D4F-9B42-BCD6-B5E5A0949457}"/>
              </a:ext>
            </a:extLst>
          </p:cNvPr>
          <p:cNvSpPr>
            <a:spLocks noChangeArrowheads="1"/>
          </p:cNvSpPr>
          <p:nvPr/>
        </p:nvSpPr>
        <p:spPr bwMode="auto">
          <a:xfrm>
            <a:off x="64963" y="3610013"/>
            <a:ext cx="8770938"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lnSpc>
                <a:spcPct val="100000"/>
              </a:lnSpc>
              <a:spcBef>
                <a:spcPct val="0"/>
              </a:spcBef>
            </a:pPr>
            <a:r>
              <a:rPr lang="en-US" altLang="zh-CN" sz="2400" b="1" dirty="0">
                <a:solidFill>
                  <a:schemeClr val="bg2"/>
                </a:solidFill>
              </a:rPr>
              <a:t>2.</a:t>
            </a:r>
            <a:r>
              <a:rPr lang="zh-CN" altLang="en-US" sz="2400" b="1" dirty="0">
                <a:solidFill>
                  <a:schemeClr val="bg2"/>
                </a:solidFill>
              </a:rPr>
              <a:t>检索供应零件给工程</a:t>
            </a:r>
            <a:r>
              <a:rPr lang="en-US" altLang="zh-CN" sz="2400" b="1" dirty="0">
                <a:solidFill>
                  <a:schemeClr val="bg2"/>
                </a:solidFill>
              </a:rPr>
              <a:t>J1</a:t>
            </a:r>
            <a:r>
              <a:rPr lang="zh-CN" altLang="en-US" sz="2400" b="1" dirty="0">
                <a:solidFill>
                  <a:schemeClr val="bg2"/>
                </a:solidFill>
              </a:rPr>
              <a:t>，且零件编号为</a:t>
            </a:r>
            <a:r>
              <a:rPr lang="en-US" altLang="zh-CN" sz="2400" b="1" dirty="0">
                <a:solidFill>
                  <a:schemeClr val="bg2"/>
                </a:solidFill>
              </a:rPr>
              <a:t>P1</a:t>
            </a:r>
            <a:r>
              <a:rPr lang="zh-CN" altLang="en-US" sz="2400" b="1" dirty="0">
                <a:solidFill>
                  <a:schemeClr val="bg2"/>
                </a:solidFill>
              </a:rPr>
              <a:t>的供应商编号</a:t>
            </a:r>
            <a:r>
              <a:rPr lang="en-US" altLang="zh-CN" sz="2400" b="1" dirty="0">
                <a:solidFill>
                  <a:schemeClr val="bg2"/>
                </a:solidFill>
              </a:rPr>
              <a:t>SNO</a:t>
            </a:r>
            <a:r>
              <a:rPr lang="zh-CN" altLang="en-US" sz="2400" b="1" dirty="0">
                <a:solidFill>
                  <a:schemeClr val="bg2"/>
                </a:solidFill>
              </a:rPr>
              <a:t>。 </a:t>
            </a:r>
          </a:p>
        </p:txBody>
      </p:sp>
      <p:sp>
        <p:nvSpPr>
          <p:cNvPr id="13" name="Rectangle 5">
            <a:extLst>
              <a:ext uri="{FF2B5EF4-FFF2-40B4-BE49-F238E27FC236}">
                <a16:creationId xmlns:a16="http://schemas.microsoft.com/office/drawing/2014/main" id="{112C86DD-A41F-CB45-BE3C-D979E00341DB}"/>
              </a:ext>
            </a:extLst>
          </p:cNvPr>
          <p:cNvSpPr>
            <a:spLocks noChangeArrowheads="1"/>
          </p:cNvSpPr>
          <p:nvPr/>
        </p:nvSpPr>
        <p:spPr bwMode="auto">
          <a:xfrm>
            <a:off x="41299" y="4222142"/>
            <a:ext cx="75279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lnSpc>
                <a:spcPct val="100000"/>
              </a:lnSpc>
              <a:spcBef>
                <a:spcPct val="0"/>
              </a:spcBef>
            </a:pPr>
            <a:r>
              <a:rPr lang="en-US" altLang="zh-CN" sz="2400" b="1" dirty="0">
                <a:solidFill>
                  <a:srgbClr val="660033"/>
                </a:solidFill>
              </a:rPr>
              <a:t>{</a:t>
            </a:r>
            <a:r>
              <a:rPr lang="en-US" altLang="zh-CN" sz="2400" b="1" dirty="0">
                <a:solidFill>
                  <a:srgbClr val="FF0000"/>
                </a:solidFill>
              </a:rPr>
              <a:t>t</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u)(SPJ(u)</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u[2]=</a:t>
            </a:r>
            <a:r>
              <a:rPr lang="en-US" altLang="zh-CN" sz="2400" b="1" dirty="0">
                <a:solidFill>
                  <a:srgbClr val="660033"/>
                </a:solidFill>
                <a:highlight>
                  <a:srgbClr val="00FFFF"/>
                </a:highlight>
                <a:latin typeface="Times New Roman"/>
                <a:sym typeface="Symbol" pitchFamily="18" charset="2"/>
              </a:rPr>
              <a:t>‘</a:t>
            </a:r>
            <a:r>
              <a:rPr lang="en-US" altLang="zh-CN" sz="2400" b="1" dirty="0">
                <a:solidFill>
                  <a:srgbClr val="660033"/>
                </a:solidFill>
                <a:highlight>
                  <a:srgbClr val="00FFFF"/>
                </a:highlight>
                <a:sym typeface="Symbol" pitchFamily="18" charset="2"/>
              </a:rPr>
              <a:t>P1</a:t>
            </a:r>
            <a:r>
              <a:rPr lang="en-US" altLang="zh-CN" sz="2400" b="1" dirty="0">
                <a:solidFill>
                  <a:srgbClr val="660033"/>
                </a:solidFill>
                <a:highlight>
                  <a:srgbClr val="00FFFF"/>
                </a:highlight>
                <a:latin typeface="Times New Roman"/>
                <a:sym typeface="Symbol" pitchFamily="18" charset="2"/>
              </a:rPr>
              <a:t>’</a:t>
            </a:r>
            <a:r>
              <a:rPr lang="en-US" altLang="zh-CN" sz="2400" b="1" dirty="0">
                <a:solidFill>
                  <a:srgbClr val="660033"/>
                </a:solidFill>
                <a:highlight>
                  <a:srgbClr val="00FFFF"/>
                </a:highlight>
                <a:sym typeface="Symbol" pitchFamily="18" charset="2"/>
              </a:rPr>
              <a:t>∧u[3]=</a:t>
            </a:r>
            <a:r>
              <a:rPr lang="en-US" altLang="zh-CN" sz="2400" b="1" dirty="0">
                <a:solidFill>
                  <a:srgbClr val="660033"/>
                </a:solidFill>
                <a:highlight>
                  <a:srgbClr val="00FFFF"/>
                </a:highlight>
                <a:latin typeface="Times New Roman"/>
                <a:sym typeface="Symbol" pitchFamily="18" charset="2"/>
              </a:rPr>
              <a:t>‘</a:t>
            </a:r>
            <a:r>
              <a:rPr lang="en-US" altLang="zh-CN" sz="2400" b="1" dirty="0">
                <a:solidFill>
                  <a:srgbClr val="660033"/>
                </a:solidFill>
                <a:highlight>
                  <a:srgbClr val="00FFFF"/>
                </a:highlight>
                <a:sym typeface="Symbol" pitchFamily="18" charset="2"/>
              </a:rPr>
              <a:t>J1</a:t>
            </a:r>
            <a:r>
              <a:rPr lang="en-US" altLang="zh-CN" sz="2400" b="1" dirty="0">
                <a:solidFill>
                  <a:srgbClr val="660033"/>
                </a:solidFill>
                <a:highlight>
                  <a:srgbClr val="00FFFF"/>
                </a:highlight>
                <a:latin typeface="Times New Roman"/>
                <a:sym typeface="Symbol" pitchFamily="18" charset="2"/>
              </a:rPr>
              <a:t>’</a:t>
            </a:r>
            <a:r>
              <a:rPr lang="en-US" altLang="zh-CN" sz="2400" b="1" dirty="0">
                <a:solidFill>
                  <a:srgbClr val="660033"/>
                </a:solidFill>
                <a:sym typeface="Symbol" pitchFamily="18" charset="2"/>
              </a:rPr>
              <a:t>∧</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[l]=u[1])}</a:t>
            </a:r>
          </a:p>
        </p:txBody>
      </p:sp>
    </p:spTree>
    <p:extLst>
      <p:ext uri="{BB962C8B-B14F-4D97-AF65-F5344CB8AC3E}">
        <p14:creationId xmlns:p14="http://schemas.microsoft.com/office/powerpoint/2010/main" val="717762901"/>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0963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3" presetClass="entr" presetSubtype="10" fill="hold" grpId="0" nodeType="clickEffect">
                                  <p:stCondLst>
                                    <p:cond delay="0"/>
                                  </p:stCondLst>
                                  <p:childTnLst>
                                    <p:set>
                                      <p:cBhvr>
                                        <p:cTn id="10" dur="1" fill="hold">
                                          <p:stCondLst>
                                            <p:cond delay="0"/>
                                          </p:stCondLst>
                                        </p:cTn>
                                        <p:tgtEl>
                                          <p:spTgt spid="709637"/>
                                        </p:tgtEl>
                                        <p:attrNameLst>
                                          <p:attrName>style.visibility</p:attrName>
                                        </p:attrNameLst>
                                      </p:cBhvr>
                                      <p:to>
                                        <p:strVal val="visible"/>
                                      </p:to>
                                    </p:set>
                                    <p:animEffect transition="in" filter="blinds(horizontal)">
                                      <p:cBhvr>
                                        <p:cTn id="11" dur="500"/>
                                        <p:tgtEl>
                                          <p:spTgt spid="709637"/>
                                        </p:tgtEl>
                                      </p:cBhvr>
                                    </p:animEffect>
                                  </p:childTnLst>
                                </p:cTn>
                              </p:par>
                            </p:childTnLst>
                          </p:cTn>
                        </p:par>
                      </p:childTnLst>
                    </p:cTn>
                  </p:par>
                  <p:par>
                    <p:cTn id="12" fill="hold">
                      <p:stCondLst>
                        <p:cond delay="indefinite"/>
                      </p:stCondLst>
                      <p:childTnLst>
                        <p:par>
                          <p:cTn id="13" fill="hold">
                            <p:stCondLst>
                              <p:cond delay="0"/>
                            </p:stCondLst>
                            <p:childTnLst>
                              <p:par>
                                <p:cTn id="14" presetID="1" presetClass="entr" presetSubtype="0" fill="hold" grpId="0" nodeType="clickEffect">
                                  <p:stCondLst>
                                    <p:cond delay="0"/>
                                  </p:stCondLst>
                                  <p:childTnLst>
                                    <p:set>
                                      <p:cBhvr>
                                        <p:cTn id="15" dur="1" fill="hold">
                                          <p:stCondLst>
                                            <p:cond delay="0"/>
                                          </p:stCondLst>
                                        </p:cTn>
                                        <p:tgtEl>
                                          <p:spTgt spid="12"/>
                                        </p:tgtEl>
                                        <p:attrNameLst>
                                          <p:attrName>style.visibility</p:attrName>
                                        </p:attrNameLst>
                                      </p:cBhvr>
                                      <p:to>
                                        <p:strVal val="visible"/>
                                      </p:to>
                                    </p:se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blinds(horizontal)">
                                      <p:cBhvr>
                                        <p:cTn id="20" dur="500"/>
                                        <p:tgtEl>
                                          <p:spTgt spid="1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ntr" presetSubtype="10" fill="hold" grpId="0" nodeType="clickEffect">
                                  <p:stCondLst>
                                    <p:cond delay="0"/>
                                  </p:stCondLst>
                                  <p:childTnLst>
                                    <p:set>
                                      <p:cBhvr>
                                        <p:cTn id="24" dur="1" fill="hold">
                                          <p:stCondLst>
                                            <p:cond delay="0"/>
                                          </p:stCondLst>
                                        </p:cTn>
                                        <p:tgtEl>
                                          <p:spTgt spid="709638"/>
                                        </p:tgtEl>
                                        <p:attrNameLst>
                                          <p:attrName>style.visibility</p:attrName>
                                        </p:attrNameLst>
                                      </p:cBhvr>
                                      <p:to>
                                        <p:strVal val="visible"/>
                                      </p:to>
                                    </p:set>
                                    <p:animEffect transition="in" filter="blinds(horizontal)">
                                      <p:cBhvr>
                                        <p:cTn id="25" dur="500"/>
                                        <p:tgtEl>
                                          <p:spTgt spid="709638"/>
                                        </p:tgtEl>
                                      </p:cBhvr>
                                    </p:animEffect>
                                  </p:childTnLst>
                                </p:cTn>
                              </p:par>
                            </p:childTnLst>
                          </p:cTn>
                        </p:par>
                      </p:childTnLst>
                    </p:cTn>
                  </p:par>
                  <p:par>
                    <p:cTn id="26" fill="hold">
                      <p:stCondLst>
                        <p:cond delay="indefinite"/>
                      </p:stCondLst>
                      <p:childTnLst>
                        <p:par>
                          <p:cTn id="27" fill="hold">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09639"/>
                                        </p:tgtEl>
                                        <p:attrNameLst>
                                          <p:attrName>style.visibility</p:attrName>
                                        </p:attrNameLst>
                                      </p:cBhvr>
                                      <p:to>
                                        <p:strVal val="visible"/>
                                      </p:to>
                                    </p:set>
                                    <p:animEffect transition="in" filter="blinds(horizontal)">
                                      <p:cBhvr>
                                        <p:cTn id="30" dur="500"/>
                                        <p:tgtEl>
                                          <p:spTgt spid="7096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6" grpId="0"/>
      <p:bldP spid="709637" grpId="0"/>
      <p:bldP spid="709638" grpId="0"/>
      <p:bldP spid="709639" grpId="0"/>
      <p:bldP spid="12" grpId="0"/>
      <p:bldP spid="13" grpId="0"/>
    </p:bldLst>
  </p:timing>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9636" name="Rectangle 4"/>
          <p:cNvSpPr>
            <a:spLocks noChangeArrowheads="1"/>
          </p:cNvSpPr>
          <p:nvPr/>
        </p:nvSpPr>
        <p:spPr bwMode="auto">
          <a:xfrm>
            <a:off x="170418" y="2511998"/>
            <a:ext cx="8622183"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nchor="ctr">
            <a:spAutoFit/>
          </a:bodyPr>
          <a:lstStyle/>
          <a:p>
            <a:pPr algn="l">
              <a:lnSpc>
                <a:spcPct val="100000"/>
              </a:lnSpc>
              <a:spcBef>
                <a:spcPct val="0"/>
              </a:spcBef>
            </a:pPr>
            <a:r>
              <a:rPr lang="en-US" altLang="zh-CN" sz="2400" b="1" dirty="0">
                <a:solidFill>
                  <a:schemeClr val="bg2"/>
                </a:solidFill>
              </a:rPr>
              <a:t>4.</a:t>
            </a:r>
            <a:r>
              <a:rPr lang="zh-CN" altLang="en-US" sz="2400" b="1" dirty="0">
                <a:solidFill>
                  <a:schemeClr val="bg2"/>
                </a:solidFill>
              </a:rPr>
              <a:t>检索供应零件给工程</a:t>
            </a:r>
            <a:r>
              <a:rPr lang="en-US" altLang="zh-CN" sz="2400" b="1" dirty="0">
                <a:solidFill>
                  <a:schemeClr val="bg2"/>
                </a:solidFill>
              </a:rPr>
              <a:t>J1</a:t>
            </a:r>
            <a:r>
              <a:rPr lang="zh-CN" altLang="en-US" sz="2400" b="1" dirty="0">
                <a:solidFill>
                  <a:schemeClr val="bg2"/>
                </a:solidFill>
              </a:rPr>
              <a:t>，且零件颜色为红色的供应商名称</a:t>
            </a:r>
            <a:r>
              <a:rPr lang="en-US" altLang="zh-CN" sz="2400" b="1" dirty="0">
                <a:solidFill>
                  <a:schemeClr val="bg2"/>
                </a:solidFill>
              </a:rPr>
              <a:t>SNAME</a:t>
            </a:r>
            <a:r>
              <a:rPr lang="zh-CN" altLang="en-US" sz="2400" b="1" dirty="0">
                <a:solidFill>
                  <a:schemeClr val="bg2"/>
                </a:solidFill>
              </a:rPr>
              <a:t>和地址</a:t>
            </a:r>
            <a:r>
              <a:rPr lang="en-US" altLang="zh-CN" sz="2400" b="1" dirty="0">
                <a:solidFill>
                  <a:schemeClr val="bg2"/>
                </a:solidFill>
              </a:rPr>
              <a:t>SADRESS</a:t>
            </a:r>
            <a:r>
              <a:rPr lang="zh-CN" altLang="en-US" sz="2400" b="1" dirty="0">
                <a:solidFill>
                  <a:schemeClr val="bg2"/>
                </a:solidFill>
              </a:rPr>
              <a:t>。 </a:t>
            </a:r>
          </a:p>
        </p:txBody>
      </p:sp>
      <p:sp>
        <p:nvSpPr>
          <p:cNvPr id="709637" name="Rectangle 5"/>
          <p:cNvSpPr>
            <a:spLocks noChangeArrowheads="1"/>
          </p:cNvSpPr>
          <p:nvPr/>
        </p:nvSpPr>
        <p:spPr bwMode="auto">
          <a:xfrm>
            <a:off x="176260" y="3406176"/>
            <a:ext cx="8924238" cy="83099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lnSpc>
                <a:spcPct val="100000"/>
              </a:lnSpc>
              <a:spcBef>
                <a:spcPct val="0"/>
              </a:spcBef>
            </a:pPr>
            <a:r>
              <a:rPr lang="en-US" altLang="zh-CN" sz="2400" b="1" dirty="0">
                <a:solidFill>
                  <a:srgbClr val="660033"/>
                </a:solidFill>
              </a:rPr>
              <a:t>{</a:t>
            </a:r>
            <a:r>
              <a:rPr lang="en-US" altLang="zh-CN" sz="2400" b="1" dirty="0">
                <a:solidFill>
                  <a:srgbClr val="FF0000"/>
                </a:solidFill>
              </a:rPr>
              <a:t>t</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a:t>
            </a:r>
            <a:r>
              <a:rPr lang="en-US" altLang="zh-CN" sz="2400" b="1" dirty="0">
                <a:solidFill>
                  <a:srgbClr val="660033"/>
                </a:solidFill>
                <a:sym typeface="Symbol" pitchFamily="18" charset="2"/>
              </a:rPr>
              <a:t></a:t>
            </a:r>
            <a:r>
              <a:rPr lang="en-US" altLang="zh-CN" sz="2400" b="1" dirty="0">
                <a:solidFill>
                  <a:srgbClr val="660033"/>
                </a:solidFill>
              </a:rPr>
              <a:t>v)(</a:t>
            </a:r>
            <a:r>
              <a:rPr lang="en-US" altLang="zh-CN" sz="2400" b="1" dirty="0">
                <a:solidFill>
                  <a:srgbClr val="660033"/>
                </a:solidFill>
                <a:sym typeface="Symbol" pitchFamily="18" charset="2"/>
              </a:rPr>
              <a:t>w</a:t>
            </a:r>
            <a:r>
              <a:rPr lang="en-US" altLang="zh-CN" sz="2400" b="1" dirty="0">
                <a:solidFill>
                  <a:srgbClr val="660033"/>
                </a:solidFill>
              </a:rPr>
              <a:t>)(</a:t>
            </a:r>
            <a:r>
              <a:rPr lang="en-US" altLang="zh-CN" sz="2400" b="1" dirty="0">
                <a:solidFill>
                  <a:srgbClr val="660033"/>
                </a:solidFill>
                <a:highlight>
                  <a:srgbClr val="C0C0C0"/>
                </a:highlight>
              </a:rPr>
              <a:t>S(u)</a:t>
            </a:r>
            <a:r>
              <a:rPr lang="en-US" altLang="zh-CN" sz="2400" b="1" dirty="0">
                <a:solidFill>
                  <a:srgbClr val="660033"/>
                </a:solidFill>
                <a:sym typeface="Symbol" pitchFamily="18" charset="2"/>
              </a:rPr>
              <a:t>∧</a:t>
            </a:r>
            <a:r>
              <a:rPr lang="en-US" altLang="zh-CN" sz="2400" b="1" dirty="0">
                <a:solidFill>
                  <a:srgbClr val="660033"/>
                </a:solidFill>
                <a:highlight>
                  <a:srgbClr val="00FFFF"/>
                </a:highlight>
              </a:rPr>
              <a:t>SPJ(v)</a:t>
            </a:r>
            <a:r>
              <a:rPr lang="en-US" altLang="zh-CN" sz="2400" b="1" dirty="0">
                <a:solidFill>
                  <a:srgbClr val="660033"/>
                </a:solidFill>
                <a:sym typeface="Symbol" pitchFamily="18" charset="2"/>
              </a:rPr>
              <a:t>∧</a:t>
            </a:r>
            <a:r>
              <a:rPr lang="en-US" altLang="zh-CN" sz="2400" b="1" dirty="0">
                <a:highlight>
                  <a:srgbClr val="000000"/>
                </a:highlight>
              </a:rPr>
              <a:t>P(w)</a:t>
            </a:r>
            <a:r>
              <a:rPr lang="en-US" altLang="zh-CN" sz="2400" b="1" dirty="0">
                <a:solidFill>
                  <a:srgbClr val="660033"/>
                </a:solidFill>
                <a:sym typeface="Symbol" pitchFamily="18" charset="2"/>
              </a:rPr>
              <a:t>∧</a:t>
            </a:r>
            <a:r>
              <a:rPr lang="en-US" altLang="zh-CN" sz="2400" b="1" dirty="0">
                <a:solidFill>
                  <a:srgbClr val="660033"/>
                </a:solidFill>
                <a:highlight>
                  <a:srgbClr val="C0C0C0"/>
                </a:highlight>
                <a:sym typeface="Symbol" pitchFamily="18" charset="2"/>
              </a:rPr>
              <a:t>u[l]=</a:t>
            </a:r>
            <a:r>
              <a:rPr lang="en-US" altLang="zh-CN" sz="2400" b="1" dirty="0">
                <a:solidFill>
                  <a:srgbClr val="660033"/>
                </a:solidFill>
                <a:highlight>
                  <a:srgbClr val="00FFFF"/>
                </a:highlight>
                <a:sym typeface="Symbol" pitchFamily="18" charset="2"/>
              </a:rPr>
              <a:t>v[1]</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v[2]=</a:t>
            </a:r>
            <a:r>
              <a:rPr lang="en-US" altLang="zh-CN" sz="2400" b="1" dirty="0">
                <a:highlight>
                  <a:srgbClr val="000000"/>
                </a:highlight>
                <a:sym typeface="Symbol" pitchFamily="18" charset="2"/>
              </a:rPr>
              <a:t>w[1]</a:t>
            </a:r>
          </a:p>
          <a:p>
            <a:pPr algn="l">
              <a:lnSpc>
                <a:spcPct val="100000"/>
              </a:lnSpc>
              <a:spcBef>
                <a:spcPct val="0"/>
              </a:spcBef>
            </a:pPr>
            <a:r>
              <a:rPr lang="en-US" altLang="zh-CN" sz="2400" b="1" dirty="0">
                <a:solidFill>
                  <a:srgbClr val="660033"/>
                </a:solidFill>
                <a:sym typeface="Symbol" pitchFamily="18" charset="2"/>
              </a:rPr>
              <a:t> ∧ </a:t>
            </a:r>
            <a:r>
              <a:rPr lang="en-US" altLang="zh-CN" sz="2400" b="1" dirty="0">
                <a:solidFill>
                  <a:schemeClr val="hlink"/>
                </a:solidFill>
                <a:highlight>
                  <a:srgbClr val="000000"/>
                </a:highlight>
                <a:sym typeface="Symbol" pitchFamily="18" charset="2"/>
              </a:rPr>
              <a:t>w[3]= </a:t>
            </a:r>
            <a:r>
              <a:rPr lang="en-US" altLang="zh-CN" sz="2400" b="1" dirty="0">
                <a:solidFill>
                  <a:schemeClr val="hlink"/>
                </a:solidFill>
                <a:highlight>
                  <a:srgbClr val="000000"/>
                </a:highlight>
                <a:latin typeface="Times New Roman"/>
                <a:sym typeface="Symbol" pitchFamily="18" charset="2"/>
              </a:rPr>
              <a:t>‘</a:t>
            </a:r>
            <a:r>
              <a:rPr lang="zh-CN" altLang="en-US" sz="2400" b="1" dirty="0">
                <a:solidFill>
                  <a:schemeClr val="hlink"/>
                </a:solidFill>
                <a:highlight>
                  <a:srgbClr val="000000"/>
                </a:highlight>
                <a:sym typeface="Symbol" pitchFamily="18" charset="2"/>
              </a:rPr>
              <a:t>红色</a:t>
            </a:r>
            <a:r>
              <a:rPr lang="en-US" altLang="zh-CN" sz="2400" b="1" dirty="0">
                <a:solidFill>
                  <a:schemeClr val="hlink"/>
                </a:solidFill>
                <a:highlight>
                  <a:srgbClr val="000000"/>
                </a:highlight>
                <a:latin typeface="Times New Roman"/>
                <a:sym typeface="Symbol" pitchFamily="18" charset="2"/>
              </a:rPr>
              <a:t>’</a:t>
            </a:r>
            <a:r>
              <a:rPr lang="en-US" altLang="zh-CN" sz="2400" b="1" dirty="0">
                <a:solidFill>
                  <a:srgbClr val="660033"/>
                </a:solidFill>
                <a:highlight>
                  <a:srgbClr val="000000"/>
                </a:highlight>
                <a:sym typeface="Symbol" pitchFamily="18" charset="2"/>
              </a:rPr>
              <a:t> </a:t>
            </a:r>
            <a:r>
              <a:rPr lang="en-US" altLang="zh-CN" sz="2400" b="1" dirty="0">
                <a:solidFill>
                  <a:srgbClr val="660033"/>
                </a:solidFill>
                <a:highlight>
                  <a:srgbClr val="00FFFF"/>
                </a:highlight>
                <a:sym typeface="Symbol" pitchFamily="18" charset="2"/>
              </a:rPr>
              <a:t>∧v[3]=</a:t>
            </a:r>
            <a:r>
              <a:rPr lang="en-US" altLang="zh-CN" sz="2400" b="1" dirty="0">
                <a:solidFill>
                  <a:srgbClr val="660033"/>
                </a:solidFill>
                <a:highlight>
                  <a:srgbClr val="00FFFF"/>
                </a:highlight>
                <a:latin typeface="Times New Roman"/>
                <a:sym typeface="Symbol" pitchFamily="18" charset="2"/>
              </a:rPr>
              <a:t>‘</a:t>
            </a:r>
            <a:r>
              <a:rPr lang="en-US" altLang="zh-CN" sz="2400" b="1" dirty="0">
                <a:solidFill>
                  <a:srgbClr val="660033"/>
                </a:solidFill>
                <a:highlight>
                  <a:srgbClr val="00FFFF"/>
                </a:highlight>
                <a:sym typeface="Symbol" pitchFamily="18" charset="2"/>
              </a:rPr>
              <a:t>J1</a:t>
            </a:r>
            <a:r>
              <a:rPr lang="en-US" altLang="zh-CN" sz="2400" b="1" dirty="0">
                <a:solidFill>
                  <a:srgbClr val="660033"/>
                </a:solidFill>
                <a:highlight>
                  <a:srgbClr val="00FFFF"/>
                </a:highlight>
                <a:latin typeface="Times New Roman"/>
                <a:sym typeface="Symbol" pitchFamily="18" charset="2"/>
              </a:rPr>
              <a:t>’</a:t>
            </a:r>
            <a:r>
              <a:rPr lang="en-US" altLang="zh-CN" sz="2400" b="1" dirty="0">
                <a:solidFill>
                  <a:srgbClr val="660033"/>
                </a:solidFill>
                <a:sym typeface="Symbol" pitchFamily="18" charset="2"/>
              </a:rPr>
              <a:t>∧</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[l]=</a:t>
            </a:r>
            <a:r>
              <a:rPr lang="en-US" altLang="zh-CN" sz="2400" b="1" dirty="0">
                <a:solidFill>
                  <a:srgbClr val="660033"/>
                </a:solidFill>
                <a:highlight>
                  <a:srgbClr val="C0C0C0"/>
                </a:highlight>
                <a:sym typeface="Symbol" pitchFamily="18" charset="2"/>
              </a:rPr>
              <a:t>u[2]</a:t>
            </a:r>
            <a:r>
              <a:rPr lang="en-US" altLang="zh-CN" sz="2400" b="1" dirty="0">
                <a:solidFill>
                  <a:srgbClr val="660033"/>
                </a:solidFill>
                <a:sym typeface="Symbol" pitchFamily="18" charset="2"/>
              </a:rPr>
              <a:t>∧</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[2]=</a:t>
            </a:r>
            <a:r>
              <a:rPr lang="en-US" altLang="zh-CN" sz="2400" b="1" dirty="0">
                <a:solidFill>
                  <a:srgbClr val="660033"/>
                </a:solidFill>
                <a:highlight>
                  <a:srgbClr val="C0C0C0"/>
                </a:highlight>
                <a:sym typeface="Symbol" pitchFamily="18" charset="2"/>
              </a:rPr>
              <a:t>u[3]</a:t>
            </a:r>
            <a:r>
              <a:rPr lang="en-US" altLang="zh-CN" sz="2400" b="1" dirty="0">
                <a:solidFill>
                  <a:srgbClr val="660033"/>
                </a:solidFill>
                <a:sym typeface="Symbol" pitchFamily="18" charset="2"/>
              </a:rPr>
              <a:t>)}</a:t>
            </a:r>
          </a:p>
        </p:txBody>
      </p:sp>
      <mc:AlternateContent xmlns:mc="http://schemas.openxmlformats.org/markup-compatibility/2006" xmlns:a14="http://schemas.microsoft.com/office/drawing/2010/main">
        <mc:Choice Requires="a14">
          <p:sp>
            <p:nvSpPr>
              <p:cNvPr id="709640" name="Rectangle 8"/>
              <p:cNvSpPr>
                <a:spLocks noChangeArrowheads="1"/>
              </p:cNvSpPr>
              <p:nvPr/>
            </p:nvSpPr>
            <p:spPr bwMode="auto">
              <a:xfrm>
                <a:off x="179181" y="4807886"/>
                <a:ext cx="8353425" cy="493148"/>
              </a:xfrm>
              <a:prstGeom prst="rect">
                <a:avLst/>
              </a:prstGeom>
              <a:noFill/>
              <a:ln>
                <a:noFill/>
              </a:ln>
              <a:effectLst/>
              <a:extLst>
                <a:ext uri="{909E8E84-426E-40DD-AFC4-6F175D3DCCD1}">
                  <a14:hiddenFill>
                    <a:solidFill>
                      <a:srgbClr val="FFFFFF"/>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rgbClr val="808080"/>
                      </a:outerShdw>
                    </a:effectLst>
                  </a14:hiddenEffects>
                </a:ext>
              </a:extLst>
            </p:spPr>
            <p:txBody>
              <a:bodyPr anchor="ctr">
                <a:spAutoFit/>
              </a:bodyPr>
              <a:lstStyle/>
              <a:p>
                <a:pPr algn="l">
                  <a:lnSpc>
                    <a:spcPct val="120000"/>
                  </a:lnSpc>
                  <a:spcBef>
                    <a:spcPts val="600"/>
                  </a:spcBef>
                </a:pPr>
                <a:r>
                  <a:rPr lang="en-US" altLang="zh-CN" sz="2400" b="1" dirty="0">
                    <a:solidFill>
                      <a:srgbClr val="660033"/>
                    </a:solidFill>
                  </a:rPr>
                  <a:t>{</a:t>
                </a:r>
                <a:r>
                  <a:rPr lang="en-US" altLang="zh-CN" sz="2400" b="1" dirty="0">
                    <a:solidFill>
                      <a:srgbClr val="FF0000"/>
                    </a:solidFill>
                  </a:rPr>
                  <a:t>t</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u)(SPJ(u)</a:t>
                </a:r>
                <a:r>
                  <a:rPr lang="en-US" altLang="zh-CN" sz="2400" b="1" dirty="0">
                    <a:solidFill>
                      <a:srgbClr val="660033"/>
                    </a:solidFill>
                    <a:sym typeface="Symbol" pitchFamily="18" charset="2"/>
                  </a:rPr>
                  <a:t>∧</a:t>
                </a:r>
                <a:r>
                  <a:rPr lang="zh-CN" altLang="en-US"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u[2]</a:t>
                </a:r>
                <a:r>
                  <a:rPr lang="en-US" altLang="zh-CN" sz="2400" b="1" dirty="0">
                    <a:solidFill>
                      <a:srgbClr val="660033"/>
                    </a:solidFill>
                    <a:sym typeface="Symbol" pitchFamily="18" charset="2"/>
                  </a:rPr>
                  <a:t>=</a:t>
                </a:r>
                <a:r>
                  <a:rPr lang="en-US" altLang="zh-CN" sz="2400" b="1" dirty="0">
                    <a:solidFill>
                      <a:srgbClr val="660033"/>
                    </a:solidFill>
                    <a:latin typeface="Times New Roman"/>
                    <a:sym typeface="Symbol" pitchFamily="18" charset="2"/>
                  </a:rPr>
                  <a:t>‘</a:t>
                </a:r>
                <a:r>
                  <a:rPr lang="en-US" altLang="zh-CN" sz="2400" b="1" dirty="0">
                    <a:solidFill>
                      <a:srgbClr val="660033"/>
                    </a:solidFill>
                    <a:sym typeface="Symbol" pitchFamily="18" charset="2"/>
                  </a:rPr>
                  <a:t>P3</a:t>
                </a:r>
                <a:r>
                  <a:rPr lang="en-US" altLang="zh-CN" sz="2400" b="1" dirty="0">
                    <a:solidFill>
                      <a:srgbClr val="660033"/>
                    </a:solidFill>
                    <a:latin typeface="Times New Roman"/>
                    <a:sym typeface="Symbol" pitchFamily="18" charset="2"/>
                  </a:rPr>
                  <a:t>’</a:t>
                </a:r>
                <a14:m>
                  <m:oMath xmlns:m="http://schemas.openxmlformats.org/officeDocument/2006/math">
                    <m:r>
                      <a:rPr lang="en-US" altLang="zh-CN" sz="2400" b="1" i="1" dirty="0" smtClean="0">
                        <a:solidFill>
                          <a:srgbClr val="FF0000"/>
                        </a:solidFill>
                        <a:latin typeface="Cambria Math" panose="02040503050406030204" pitchFamily="18" charset="0"/>
                        <a:ea typeface="Cambria Math" panose="02040503050406030204" pitchFamily="18" charset="0"/>
                        <a:sym typeface="Symbol" pitchFamily="18" charset="2"/>
                      </a:rPr>
                      <m:t>∨</m:t>
                    </m:r>
                    <m:r>
                      <a:rPr lang="en-US" altLang="zh-CN" sz="2400" b="1" i="1" dirty="0">
                        <a:solidFill>
                          <a:srgbClr val="660033"/>
                        </a:solidFill>
                        <a:latin typeface="Cambria Math" panose="02040503050406030204" pitchFamily="18" charset="0"/>
                        <a:ea typeface="Cambria Math" panose="02040503050406030204" pitchFamily="18" charset="0"/>
                        <a:sym typeface="Symbol" pitchFamily="18" charset="2"/>
                      </a:rPr>
                      <m:t> </m:t>
                    </m:r>
                  </m:oMath>
                </a14:m>
                <a:r>
                  <a:rPr lang="en-US" altLang="zh-CN" sz="2400" b="1" dirty="0">
                    <a:solidFill>
                      <a:srgbClr val="660033"/>
                    </a:solidFill>
                    <a:highlight>
                      <a:srgbClr val="00FFFF"/>
                    </a:highlight>
                    <a:sym typeface="Symbol" pitchFamily="18" charset="2"/>
                  </a:rPr>
                  <a:t>u[2]</a:t>
                </a:r>
                <a:r>
                  <a:rPr lang="en-US" altLang="zh-CN" sz="2400" b="1" dirty="0">
                    <a:solidFill>
                      <a:srgbClr val="660033"/>
                    </a:solidFill>
                    <a:sym typeface="Symbol" pitchFamily="18" charset="2"/>
                  </a:rPr>
                  <a:t>=</a:t>
                </a:r>
                <a:r>
                  <a:rPr lang="en-US" altLang="zh-CN" sz="2400" b="1" dirty="0">
                    <a:solidFill>
                      <a:srgbClr val="660033"/>
                    </a:solidFill>
                    <a:latin typeface="Times New Roman"/>
                    <a:sym typeface="Symbol" pitchFamily="18" charset="2"/>
                  </a:rPr>
                  <a:t>‘</a:t>
                </a:r>
                <a:r>
                  <a:rPr lang="en-US" altLang="zh-CN" sz="2400" b="1" dirty="0">
                    <a:solidFill>
                      <a:srgbClr val="660033"/>
                    </a:solidFill>
                    <a:sym typeface="Symbol" pitchFamily="18" charset="2"/>
                  </a:rPr>
                  <a:t>P5</a:t>
                </a:r>
                <a:r>
                  <a:rPr lang="en-US" altLang="zh-CN" sz="2400" b="1" dirty="0">
                    <a:solidFill>
                      <a:srgbClr val="660033"/>
                    </a:solidFill>
                    <a:latin typeface="Times New Roman"/>
                    <a:sym typeface="Symbol" pitchFamily="18" charset="2"/>
                  </a:rPr>
                  <a:t>’</a:t>
                </a:r>
                <a:r>
                  <a:rPr lang="zh-CN" altLang="en-US" sz="2400" b="1" dirty="0">
                    <a:solidFill>
                      <a:srgbClr val="660033"/>
                    </a:solidFill>
                    <a:latin typeface="Times New Roman"/>
                    <a:sym typeface="Symbol" pitchFamily="18" charset="2"/>
                  </a:rPr>
                  <a:t>）</a:t>
                </a:r>
                <a:r>
                  <a:rPr lang="en-US" altLang="zh-CN" sz="2400" b="1" dirty="0">
                    <a:solidFill>
                      <a:srgbClr val="660033"/>
                    </a:solidFill>
                    <a:sym typeface="Symbol" pitchFamily="18" charset="2"/>
                  </a:rPr>
                  <a:t>∧</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[l]=</a:t>
                </a:r>
                <a:r>
                  <a:rPr lang="en-US" altLang="zh-CN" sz="2400" b="1" dirty="0">
                    <a:solidFill>
                      <a:srgbClr val="660033"/>
                    </a:solidFill>
                    <a:highlight>
                      <a:srgbClr val="00FFFF"/>
                    </a:highlight>
                    <a:sym typeface="Symbol" pitchFamily="18" charset="2"/>
                  </a:rPr>
                  <a:t>u[3]</a:t>
                </a:r>
                <a:r>
                  <a:rPr lang="en-US" altLang="zh-CN" sz="2400" b="1" dirty="0">
                    <a:solidFill>
                      <a:srgbClr val="660033"/>
                    </a:solidFill>
                    <a:sym typeface="Symbol" pitchFamily="18" charset="2"/>
                  </a:rPr>
                  <a:t>)} </a:t>
                </a:r>
              </a:p>
            </p:txBody>
          </p:sp>
        </mc:Choice>
        <mc:Fallback xmlns="">
          <p:sp>
            <p:nvSpPr>
              <p:cNvPr id="709640" name="Rectangle 8"/>
              <p:cNvSpPr>
                <a:spLocks noRot="1" noChangeAspect="1" noMove="1" noResize="1" noEditPoints="1" noAdjustHandles="1" noChangeArrowheads="1" noChangeShapeType="1" noTextEdit="1"/>
              </p:cNvSpPr>
              <p:nvPr/>
            </p:nvSpPr>
            <p:spPr bwMode="auto">
              <a:xfrm>
                <a:off x="179181" y="4807886"/>
                <a:ext cx="8353425" cy="493148"/>
              </a:xfrm>
              <a:prstGeom prst="rect">
                <a:avLst/>
              </a:prstGeom>
              <a:blipFill>
                <a:blip r:embed="rId3"/>
                <a:stretch>
                  <a:fillRect l="-1062" t="-7500" b="-30000"/>
                </a:stretch>
              </a:blip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r>
                  <a:rPr lang="zh-CN" altLang="en-US">
                    <a:noFill/>
                  </a:rPr>
                  <a:t> </a:t>
                </a:r>
              </a:p>
            </p:txBody>
          </p:sp>
        </mc:Fallback>
      </mc:AlternateContent>
      <p:sp>
        <p:nvSpPr>
          <p:cNvPr id="709641" name="Rectangle 9"/>
          <p:cNvSpPr>
            <a:spLocks noChangeArrowheads="1"/>
          </p:cNvSpPr>
          <p:nvPr/>
        </p:nvSpPr>
        <p:spPr bwMode="auto">
          <a:xfrm>
            <a:off x="176260" y="4412977"/>
            <a:ext cx="828040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sz="2400" b="1" dirty="0">
                <a:solidFill>
                  <a:schemeClr val="bg2"/>
                </a:solidFill>
              </a:rPr>
              <a:t>5.</a:t>
            </a:r>
            <a:r>
              <a:rPr lang="zh-CN" altLang="en-US" sz="2400" b="1" dirty="0">
                <a:solidFill>
                  <a:schemeClr val="bg2"/>
                </a:solidFill>
              </a:rPr>
              <a:t>检索使用了零件编号为</a:t>
            </a:r>
            <a:r>
              <a:rPr lang="en-US" altLang="zh-CN" sz="2400" b="1" dirty="0">
                <a:solidFill>
                  <a:schemeClr val="bg2"/>
                </a:solidFill>
              </a:rPr>
              <a:t>P3</a:t>
            </a:r>
            <a:r>
              <a:rPr lang="zh-CN" altLang="en-US" sz="2400" b="1" dirty="0">
                <a:solidFill>
                  <a:srgbClr val="FF0000"/>
                </a:solidFill>
              </a:rPr>
              <a:t>或</a:t>
            </a:r>
            <a:r>
              <a:rPr lang="en-US" altLang="zh-CN" sz="2400" b="1" dirty="0">
                <a:solidFill>
                  <a:schemeClr val="bg2"/>
                </a:solidFill>
              </a:rPr>
              <a:t>P5</a:t>
            </a:r>
            <a:r>
              <a:rPr lang="zh-CN" altLang="en-US" sz="2400" b="1" dirty="0">
                <a:solidFill>
                  <a:schemeClr val="bg2"/>
                </a:solidFill>
              </a:rPr>
              <a:t>零件的工程编号</a:t>
            </a:r>
            <a:r>
              <a:rPr lang="en-US" altLang="zh-CN" sz="2400" b="1" dirty="0">
                <a:solidFill>
                  <a:schemeClr val="bg2"/>
                </a:solidFill>
              </a:rPr>
              <a:t>JNO</a:t>
            </a:r>
            <a:r>
              <a:rPr lang="zh-CN" altLang="en-US" sz="2400" b="1" dirty="0">
                <a:solidFill>
                  <a:schemeClr val="bg2"/>
                </a:solidFill>
              </a:rPr>
              <a:t>。</a:t>
            </a:r>
          </a:p>
        </p:txBody>
      </p:sp>
      <p:sp>
        <p:nvSpPr>
          <p:cNvPr id="9" name="Rectangle 2">
            <a:extLst>
              <a:ext uri="{FF2B5EF4-FFF2-40B4-BE49-F238E27FC236}">
                <a16:creationId xmlns:a16="http://schemas.microsoft.com/office/drawing/2014/main" id="{6A946AB1-5C51-1F4B-8976-433F400DCC6A}"/>
              </a:ext>
            </a:extLst>
          </p:cNvPr>
          <p:cNvSpPr txBox="1">
            <a:spLocks noChangeArrowheads="1"/>
          </p:cNvSpPr>
          <p:nvPr/>
        </p:nvSpPr>
        <p:spPr bwMode="auto">
          <a:xfrm>
            <a:off x="192360" y="210344"/>
            <a:ext cx="7772400" cy="1303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342900" indent="-342900" algn="l" rtl="0" fontAlgn="base">
              <a:spcBef>
                <a:spcPct val="20000"/>
              </a:spcBef>
              <a:spcAft>
                <a:spcPct val="0"/>
              </a:spcAft>
              <a:buClr>
                <a:schemeClr val="accent2"/>
              </a:buClr>
              <a:buSzPct val="80000"/>
              <a:buFont typeface="Wingdings" pitchFamily="2" charset="2"/>
              <a:buChar char="l"/>
              <a:defRPr kumimoji="1" sz="3200">
                <a:solidFill>
                  <a:schemeClr val="tx1"/>
                </a:solidFill>
                <a:latin typeface="+mn-lt"/>
                <a:ea typeface="+mn-ea"/>
                <a:cs typeface="+mn-cs"/>
              </a:defRPr>
            </a:lvl1pPr>
            <a:lvl2pPr marL="742950" indent="-285750" algn="l" rtl="0" fontAlgn="base">
              <a:spcBef>
                <a:spcPct val="20000"/>
              </a:spcBef>
              <a:spcAft>
                <a:spcPct val="0"/>
              </a:spcAft>
              <a:buClr>
                <a:schemeClr val="tx1"/>
              </a:buClr>
              <a:buSzPct val="90000"/>
              <a:buChar char="–"/>
              <a:defRPr kumimoji="1" sz="2800">
                <a:solidFill>
                  <a:schemeClr val="tx1"/>
                </a:solidFill>
                <a:latin typeface="+mn-lt"/>
                <a:ea typeface="+mn-ea"/>
              </a:defRPr>
            </a:lvl2pPr>
            <a:lvl3pPr marL="1143000" indent="-228600" algn="l" rtl="0" fontAlgn="base">
              <a:spcBef>
                <a:spcPct val="20000"/>
              </a:spcBef>
              <a:spcAft>
                <a:spcPct val="0"/>
              </a:spcAft>
              <a:buClr>
                <a:schemeClr val="accent1"/>
              </a:buClr>
              <a:buSzPct val="60000"/>
              <a:buFont typeface="Wingdings" pitchFamily="2" charset="2"/>
              <a:buChar char="l"/>
              <a:defRPr kumimoji="1" sz="2400">
                <a:solidFill>
                  <a:schemeClr val="tx1"/>
                </a:solidFill>
                <a:latin typeface="+mn-lt"/>
                <a:ea typeface="+mn-ea"/>
              </a:defRPr>
            </a:lvl3pPr>
            <a:lvl4pPr marL="1600200" indent="-228600" algn="l" rtl="0" fontAlgn="base">
              <a:spcBef>
                <a:spcPct val="20000"/>
              </a:spcBef>
              <a:spcAft>
                <a:spcPct val="0"/>
              </a:spcAft>
              <a:buClr>
                <a:schemeClr val="tx1"/>
              </a:buClr>
              <a:buChar char="–"/>
              <a:defRPr kumimoji="1" sz="2000">
                <a:solidFill>
                  <a:schemeClr val="tx1"/>
                </a:solidFill>
                <a:latin typeface="+mn-lt"/>
                <a:ea typeface="+mn-ea"/>
              </a:defRPr>
            </a:lvl4pPr>
            <a:lvl5pPr marL="2057400" indent="-228600" algn="l" rtl="0" fontAlgn="base">
              <a:spcBef>
                <a:spcPct val="20000"/>
              </a:spcBef>
              <a:spcAft>
                <a:spcPct val="0"/>
              </a:spcAft>
              <a:buClr>
                <a:schemeClr val="accent1"/>
              </a:buClr>
              <a:buChar char="•"/>
              <a:defRPr kumimoji="1" sz="2000">
                <a:solidFill>
                  <a:schemeClr val="tx1"/>
                </a:solidFill>
                <a:latin typeface="+mn-lt"/>
                <a:ea typeface="+mn-ea"/>
              </a:defRPr>
            </a:lvl5pPr>
            <a:lvl6pPr marL="2514600" indent="-228600" algn="l" rtl="0" fontAlgn="base">
              <a:spcBef>
                <a:spcPct val="20000"/>
              </a:spcBef>
              <a:spcAft>
                <a:spcPct val="0"/>
              </a:spcAft>
              <a:buClr>
                <a:schemeClr val="accent1"/>
              </a:buClr>
              <a:buChar char="•"/>
              <a:defRPr kumimoji="1" sz="2000">
                <a:solidFill>
                  <a:schemeClr val="tx1"/>
                </a:solidFill>
                <a:latin typeface="+mn-lt"/>
                <a:ea typeface="+mn-ea"/>
              </a:defRPr>
            </a:lvl6pPr>
            <a:lvl7pPr marL="2971800" indent="-228600" algn="l" rtl="0" fontAlgn="base">
              <a:spcBef>
                <a:spcPct val="20000"/>
              </a:spcBef>
              <a:spcAft>
                <a:spcPct val="0"/>
              </a:spcAft>
              <a:buClr>
                <a:schemeClr val="accent1"/>
              </a:buClr>
              <a:buChar char="•"/>
              <a:defRPr kumimoji="1" sz="2000">
                <a:solidFill>
                  <a:schemeClr val="tx1"/>
                </a:solidFill>
                <a:latin typeface="+mn-lt"/>
                <a:ea typeface="+mn-ea"/>
              </a:defRPr>
            </a:lvl7pPr>
            <a:lvl8pPr marL="3429000" indent="-228600" algn="l" rtl="0" fontAlgn="base">
              <a:spcBef>
                <a:spcPct val="20000"/>
              </a:spcBef>
              <a:spcAft>
                <a:spcPct val="0"/>
              </a:spcAft>
              <a:buClr>
                <a:schemeClr val="accent1"/>
              </a:buClr>
              <a:buChar char="•"/>
              <a:defRPr kumimoji="1" sz="2000">
                <a:solidFill>
                  <a:schemeClr val="tx1"/>
                </a:solidFill>
                <a:latin typeface="+mn-lt"/>
                <a:ea typeface="+mn-ea"/>
              </a:defRPr>
            </a:lvl8pPr>
            <a:lvl9pPr marL="3886200" indent="-228600" algn="l" rtl="0" fontAlgn="base">
              <a:spcBef>
                <a:spcPct val="20000"/>
              </a:spcBef>
              <a:spcAft>
                <a:spcPct val="0"/>
              </a:spcAft>
              <a:buClr>
                <a:schemeClr val="accent1"/>
              </a:buClr>
              <a:buChar char="•"/>
              <a:defRPr kumimoji="1" sz="2000">
                <a:solidFill>
                  <a:schemeClr val="tx1"/>
                </a:solidFill>
                <a:latin typeface="+mn-lt"/>
                <a:ea typeface="+mn-ea"/>
              </a:defRPr>
            </a:lvl9pPr>
          </a:lstStyle>
          <a:p>
            <a:pPr algn="just" eaLnBrk="0" hangingPunct="0">
              <a:lnSpc>
                <a:spcPct val="150000"/>
              </a:lnSpc>
              <a:spcBef>
                <a:spcPct val="50000"/>
              </a:spcBef>
              <a:buClrTx/>
              <a:buSzTx/>
              <a:buFontTx/>
              <a:buNone/>
            </a:pPr>
            <a:r>
              <a:rPr lang="en-US" altLang="zh-CN" b="1" kern="0">
                <a:solidFill>
                  <a:srgbClr val="000099"/>
                </a:solidFill>
              </a:rPr>
              <a:t>6. </a:t>
            </a:r>
            <a:r>
              <a:rPr lang="zh-CN" altLang="en-US" b="1" kern="0">
                <a:solidFill>
                  <a:srgbClr val="000099"/>
                </a:solidFill>
              </a:rPr>
              <a:t>实例</a:t>
            </a:r>
            <a:r>
              <a:rPr lang="en-US" altLang="zh-CN" b="1" kern="0">
                <a:solidFill>
                  <a:srgbClr val="000099"/>
                </a:solidFill>
              </a:rPr>
              <a:t>:</a:t>
            </a:r>
            <a:r>
              <a:rPr lang="zh-CN" altLang="en-US" b="1" kern="0">
                <a:solidFill>
                  <a:srgbClr val="000099"/>
                </a:solidFill>
              </a:rPr>
              <a:t>用元组表达式形式表示下列查询</a:t>
            </a:r>
          </a:p>
          <a:p>
            <a:pPr>
              <a:lnSpc>
                <a:spcPct val="100000"/>
              </a:lnSpc>
            </a:pPr>
            <a:endParaRPr lang="en-US" altLang="zh-CN" kern="0" dirty="0">
              <a:solidFill>
                <a:srgbClr val="000099"/>
              </a:solidFill>
            </a:endParaRPr>
          </a:p>
        </p:txBody>
      </p:sp>
      <p:graphicFrame>
        <p:nvGraphicFramePr>
          <p:cNvPr id="10" name="表格 9">
            <a:extLst>
              <a:ext uri="{FF2B5EF4-FFF2-40B4-BE49-F238E27FC236}">
                <a16:creationId xmlns:a16="http://schemas.microsoft.com/office/drawing/2014/main" id="{8F25F78A-4B89-2447-A00D-D0FDEB8B1F3E}"/>
              </a:ext>
            </a:extLst>
          </p:cNvPr>
          <p:cNvGraphicFramePr>
            <a:graphicFrameLocks noGrp="1"/>
          </p:cNvGraphicFramePr>
          <p:nvPr/>
        </p:nvGraphicFramePr>
        <p:xfrm>
          <a:off x="44545" y="1010330"/>
          <a:ext cx="4743479" cy="741680"/>
        </p:xfrm>
        <a:graphic>
          <a:graphicData uri="http://schemas.openxmlformats.org/drawingml/2006/table">
            <a:tbl>
              <a:tblPr firstRow="1" bandRow="1">
                <a:tableStyleId>{5C22544A-7EE6-4342-B048-85BDC9FD1C3A}</a:tableStyleId>
              </a:tblPr>
              <a:tblGrid>
                <a:gridCol w="683568">
                  <a:extLst>
                    <a:ext uri="{9D8B030D-6E8A-4147-A177-3AD203B41FA5}">
                      <a16:colId xmlns:a16="http://schemas.microsoft.com/office/drawing/2014/main" val="3624112539"/>
                    </a:ext>
                  </a:extLst>
                </a:gridCol>
                <a:gridCol w="720080">
                  <a:extLst>
                    <a:ext uri="{9D8B030D-6E8A-4147-A177-3AD203B41FA5}">
                      <a16:colId xmlns:a16="http://schemas.microsoft.com/office/drawing/2014/main" val="851219932"/>
                    </a:ext>
                  </a:extLst>
                </a:gridCol>
                <a:gridCol w="717850">
                  <a:extLst>
                    <a:ext uri="{9D8B030D-6E8A-4147-A177-3AD203B41FA5}">
                      <a16:colId xmlns:a16="http://schemas.microsoft.com/office/drawing/2014/main" val="1016015763"/>
                    </a:ext>
                  </a:extLst>
                </a:gridCol>
                <a:gridCol w="839910">
                  <a:extLst>
                    <a:ext uri="{9D8B030D-6E8A-4147-A177-3AD203B41FA5}">
                      <a16:colId xmlns:a16="http://schemas.microsoft.com/office/drawing/2014/main" val="2649775867"/>
                    </a:ext>
                  </a:extLst>
                </a:gridCol>
                <a:gridCol w="1059017">
                  <a:extLst>
                    <a:ext uri="{9D8B030D-6E8A-4147-A177-3AD203B41FA5}">
                      <a16:colId xmlns:a16="http://schemas.microsoft.com/office/drawing/2014/main" val="3781189654"/>
                    </a:ext>
                  </a:extLst>
                </a:gridCol>
                <a:gridCol w="723054">
                  <a:extLst>
                    <a:ext uri="{9D8B030D-6E8A-4147-A177-3AD203B41FA5}">
                      <a16:colId xmlns:a16="http://schemas.microsoft.com/office/drawing/2014/main" val="241062383"/>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extLst>
                  <a:ext uri="{0D108BD9-81ED-4DB2-BD59-A6C34878D82A}">
                    <a16:rowId xmlns:a16="http://schemas.microsoft.com/office/drawing/2014/main" val="1274320833"/>
                  </a:ext>
                </a:extLst>
              </a:tr>
              <a:tr h="370840">
                <a:tc>
                  <a:txBody>
                    <a:bodyPr/>
                    <a:lstStyle/>
                    <a:p>
                      <a:pPr algn="ctr"/>
                      <a:r>
                        <a:rPr lang="en-US" altLang="zh-CN" sz="1800" b="1" u="none" kern="1200" dirty="0">
                          <a:solidFill>
                            <a:schemeClr val="bg2"/>
                          </a:solidFill>
                          <a:latin typeface="+mn-lt"/>
                          <a:ea typeface="+mn-ea"/>
                          <a:cs typeface="+mn-cs"/>
                        </a:rPr>
                        <a:t>SPJ(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SNO,</a:t>
                      </a:r>
                      <a:endParaRPr lang="zh-CN" altLang="en-US" dirty="0"/>
                    </a:p>
                  </a:txBody>
                  <a:tcPr/>
                </a:tc>
                <a:tc>
                  <a:txBody>
                    <a:bodyPr/>
                    <a:lstStyle/>
                    <a:p>
                      <a:pPr algn="ctr"/>
                      <a:r>
                        <a:rPr lang="en-US" altLang="zh-CN" sz="1800" b="1" u="sng" dirty="0">
                          <a:solidFill>
                            <a:schemeClr val="bg2"/>
                          </a:solidFill>
                        </a:rPr>
                        <a:t>PNO,</a:t>
                      </a:r>
                      <a:endParaRPr lang="zh-CN" altLang="en-US" dirty="0"/>
                    </a:p>
                  </a:txBody>
                  <a:tcPr/>
                </a:tc>
                <a:tc>
                  <a:txBody>
                    <a:bodyPr/>
                    <a:lstStyle/>
                    <a:p>
                      <a:pPr algn="ctr"/>
                      <a:r>
                        <a:rPr lang="en-US" altLang="zh-CN" sz="1800" b="1" u="sng" dirty="0">
                          <a:solidFill>
                            <a:schemeClr val="bg2"/>
                          </a:solidFill>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PRICE,</a:t>
                      </a:r>
                      <a:endParaRPr lang="zh-CN" altLang="en-US" dirty="0"/>
                    </a:p>
                  </a:txBody>
                  <a:tcPr/>
                </a:tc>
                <a:tc>
                  <a:txBody>
                    <a:bodyPr/>
                    <a:lstStyle/>
                    <a:p>
                      <a:pPr algn="ctr"/>
                      <a:r>
                        <a:rPr lang="en-US" altLang="zh-CN" sz="1800" b="1" dirty="0">
                          <a:solidFill>
                            <a:schemeClr val="bg2"/>
                          </a:solidFill>
                        </a:rPr>
                        <a:t>QTY)</a:t>
                      </a:r>
                      <a:endParaRPr lang="zh-CN" altLang="en-US" dirty="0"/>
                    </a:p>
                  </a:txBody>
                  <a:tcPr/>
                </a:tc>
                <a:extLst>
                  <a:ext uri="{0D108BD9-81ED-4DB2-BD59-A6C34878D82A}">
                    <a16:rowId xmlns:a16="http://schemas.microsoft.com/office/drawing/2014/main" val="822562478"/>
                  </a:ext>
                </a:extLst>
              </a:tr>
            </a:tbl>
          </a:graphicData>
        </a:graphic>
      </p:graphicFrame>
      <p:graphicFrame>
        <p:nvGraphicFramePr>
          <p:cNvPr id="11" name="表格 3">
            <a:extLst>
              <a:ext uri="{FF2B5EF4-FFF2-40B4-BE49-F238E27FC236}">
                <a16:creationId xmlns:a16="http://schemas.microsoft.com/office/drawing/2014/main" id="{7C97B6FF-D583-184B-B0E4-77180B6F469E}"/>
              </a:ext>
            </a:extLst>
          </p:cNvPr>
          <p:cNvGraphicFramePr>
            <a:graphicFrameLocks noGrp="1"/>
          </p:cNvGraphicFramePr>
          <p:nvPr/>
        </p:nvGraphicFramePr>
        <p:xfrm>
          <a:off x="4747325" y="1001407"/>
          <a:ext cx="4368736" cy="741680"/>
        </p:xfrm>
        <a:graphic>
          <a:graphicData uri="http://schemas.openxmlformats.org/drawingml/2006/table">
            <a:tbl>
              <a:tblPr firstRow="1" bandRow="1">
                <a:tableStyleId>{21E4AEA4-8DFA-4A89-87EB-49C32662AFE0}</a:tableStyleId>
              </a:tblPr>
              <a:tblGrid>
                <a:gridCol w="386487">
                  <a:extLst>
                    <a:ext uri="{9D8B030D-6E8A-4147-A177-3AD203B41FA5}">
                      <a16:colId xmlns:a16="http://schemas.microsoft.com/office/drawing/2014/main" val="2512462284"/>
                    </a:ext>
                  </a:extLst>
                </a:gridCol>
                <a:gridCol w="737662">
                  <a:extLst>
                    <a:ext uri="{9D8B030D-6E8A-4147-A177-3AD203B41FA5}">
                      <a16:colId xmlns:a16="http://schemas.microsoft.com/office/drawing/2014/main" val="3152180614"/>
                    </a:ext>
                  </a:extLst>
                </a:gridCol>
                <a:gridCol w="998116">
                  <a:extLst>
                    <a:ext uri="{9D8B030D-6E8A-4147-A177-3AD203B41FA5}">
                      <a16:colId xmlns:a16="http://schemas.microsoft.com/office/drawing/2014/main" val="2487654462"/>
                    </a:ext>
                  </a:extLst>
                </a:gridCol>
                <a:gridCol w="864096">
                  <a:extLst>
                    <a:ext uri="{9D8B030D-6E8A-4147-A177-3AD203B41FA5}">
                      <a16:colId xmlns:a16="http://schemas.microsoft.com/office/drawing/2014/main" val="462313814"/>
                    </a:ext>
                  </a:extLst>
                </a:gridCol>
                <a:gridCol w="1382375">
                  <a:extLst>
                    <a:ext uri="{9D8B030D-6E8A-4147-A177-3AD203B41FA5}">
                      <a16:colId xmlns:a16="http://schemas.microsoft.com/office/drawing/2014/main" val="332626903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rPr>
                        <a:t>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JNAME,</a:t>
                      </a:r>
                      <a:endParaRPr lang="zh-CN" altLang="en-US" dirty="0"/>
                    </a:p>
                  </a:txBody>
                  <a:tcPr/>
                </a:tc>
                <a:tc>
                  <a:txBody>
                    <a:bodyPr/>
                    <a:lstStyle/>
                    <a:p>
                      <a:pPr algn="ctr"/>
                      <a:r>
                        <a:rPr lang="en-US" altLang="zh-CN" sz="1800" b="1" dirty="0">
                          <a:solidFill>
                            <a:schemeClr val="bg2"/>
                          </a:solidFill>
                        </a:rPr>
                        <a:t>JCITY,</a:t>
                      </a:r>
                      <a:endParaRPr lang="zh-CN" altLang="en-US" dirty="0"/>
                    </a:p>
                  </a:txBody>
                  <a:tcPr/>
                </a:tc>
                <a:tc>
                  <a:txBody>
                    <a:bodyPr/>
                    <a:lstStyle/>
                    <a:p>
                      <a:pPr algn="ctr"/>
                      <a:r>
                        <a:rPr lang="en-US" altLang="zh-CN" sz="1800" b="1" dirty="0">
                          <a:solidFill>
                            <a:schemeClr val="bg2"/>
                          </a:solidFill>
                        </a:rPr>
                        <a:t>BALANCE)</a:t>
                      </a:r>
                      <a:endParaRPr lang="zh-CN" altLang="en-US" dirty="0"/>
                    </a:p>
                  </a:txBody>
                  <a:tcPr/>
                </a:tc>
                <a:extLst>
                  <a:ext uri="{0D108BD9-81ED-4DB2-BD59-A6C34878D82A}">
                    <a16:rowId xmlns:a16="http://schemas.microsoft.com/office/drawing/2014/main" val="553996634"/>
                  </a:ext>
                </a:extLst>
              </a:tr>
            </a:tbl>
          </a:graphicData>
        </a:graphic>
      </p:graphicFrame>
      <p:sp>
        <p:nvSpPr>
          <p:cNvPr id="12" name="Rectangle 8">
            <a:extLst>
              <a:ext uri="{FF2B5EF4-FFF2-40B4-BE49-F238E27FC236}">
                <a16:creationId xmlns:a16="http://schemas.microsoft.com/office/drawing/2014/main" id="{AE6A726E-A451-CB41-AFF9-30DDF0FC97DC}"/>
              </a:ext>
            </a:extLst>
          </p:cNvPr>
          <p:cNvSpPr>
            <a:spLocks noChangeArrowheads="1"/>
          </p:cNvSpPr>
          <p:nvPr/>
        </p:nvSpPr>
        <p:spPr bwMode="auto">
          <a:xfrm>
            <a:off x="267769" y="5855460"/>
            <a:ext cx="8353425" cy="1013291"/>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20000"/>
              </a:lnSpc>
              <a:spcBef>
                <a:spcPts val="600"/>
              </a:spcBef>
            </a:pPr>
            <a:r>
              <a:rPr lang="en-US" altLang="zh-CN" sz="2400" b="1" dirty="0">
                <a:solidFill>
                  <a:srgbClr val="660033"/>
                </a:solidFill>
              </a:rPr>
              <a:t>{t|(</a:t>
            </a:r>
            <a:r>
              <a:rPr lang="en-US" altLang="zh-CN" sz="2400" b="1" dirty="0">
                <a:solidFill>
                  <a:srgbClr val="660033"/>
                </a:solidFill>
                <a:sym typeface="Symbol" pitchFamily="18" charset="2"/>
              </a:rPr>
              <a:t></a:t>
            </a:r>
            <a:r>
              <a:rPr lang="en-US" altLang="zh-CN" sz="2400" b="1" dirty="0">
                <a:solidFill>
                  <a:srgbClr val="660033"/>
                </a:solidFill>
              </a:rPr>
              <a:t>u)(</a:t>
            </a:r>
            <a:r>
              <a:rPr lang="en-US" altLang="zh-CN" sz="2400" b="1" dirty="0">
                <a:solidFill>
                  <a:srgbClr val="660033"/>
                </a:solidFill>
                <a:sym typeface="Symbol" pitchFamily="18" charset="2"/>
              </a:rPr>
              <a:t></a:t>
            </a:r>
            <a:r>
              <a:rPr lang="en-US" altLang="zh-CN" sz="2400" b="1" dirty="0">
                <a:solidFill>
                  <a:srgbClr val="660033"/>
                </a:solidFill>
              </a:rPr>
              <a:t>v)(SPJ(u)</a:t>
            </a:r>
            <a:r>
              <a:rPr lang="en-US" altLang="zh-CN" sz="2400" b="1" dirty="0">
                <a:solidFill>
                  <a:srgbClr val="660033"/>
                </a:solidFill>
                <a:sym typeface="Symbol" pitchFamily="18" charset="2"/>
              </a:rPr>
              <a:t>∧SPJ(v)∧</a:t>
            </a:r>
            <a:r>
              <a:rPr lang="en-US" altLang="zh-CN" sz="2400" b="1" dirty="0">
                <a:solidFill>
                  <a:srgbClr val="660033"/>
                </a:solidFill>
                <a:highlight>
                  <a:srgbClr val="00FFFF"/>
                </a:highlight>
                <a:sym typeface="Symbol" pitchFamily="18" charset="2"/>
              </a:rPr>
              <a:t>u[3]</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v[3]</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u[2]</a:t>
            </a:r>
            <a:r>
              <a:rPr lang="en-US" altLang="zh-CN" sz="2400" b="1" dirty="0">
                <a:solidFill>
                  <a:srgbClr val="660033"/>
                </a:solidFill>
                <a:sym typeface="Symbol" pitchFamily="18" charset="2"/>
              </a:rPr>
              <a:t>=</a:t>
            </a:r>
            <a:r>
              <a:rPr lang="en-US" altLang="zh-CN" sz="2400" b="1" dirty="0">
                <a:solidFill>
                  <a:srgbClr val="660033"/>
                </a:solidFill>
                <a:latin typeface="Times New Roman"/>
                <a:sym typeface="Symbol" pitchFamily="18" charset="2"/>
              </a:rPr>
              <a:t>‘</a:t>
            </a:r>
            <a:r>
              <a:rPr lang="en-US" altLang="zh-CN" sz="2400" b="1" dirty="0">
                <a:solidFill>
                  <a:srgbClr val="660033"/>
                </a:solidFill>
                <a:sym typeface="Symbol" pitchFamily="18" charset="2"/>
              </a:rPr>
              <a:t>P3</a:t>
            </a:r>
            <a:r>
              <a:rPr lang="en-US" altLang="zh-CN" sz="2400" b="1" dirty="0">
                <a:solidFill>
                  <a:srgbClr val="660033"/>
                </a:solidFill>
                <a:latin typeface="Times New Roman"/>
                <a:sym typeface="Symbol" pitchFamily="18" charset="2"/>
              </a:rPr>
              <a:t>’</a:t>
            </a:r>
            <a:endParaRPr lang="en-US" altLang="zh-CN" sz="2400" b="1" dirty="0">
              <a:solidFill>
                <a:srgbClr val="660033"/>
              </a:solidFill>
              <a:sym typeface="Symbol" pitchFamily="18" charset="2"/>
            </a:endParaRPr>
          </a:p>
          <a:p>
            <a:pPr algn="l">
              <a:lnSpc>
                <a:spcPct val="120000"/>
              </a:lnSpc>
              <a:spcBef>
                <a:spcPts val="600"/>
              </a:spcBef>
            </a:pPr>
            <a:r>
              <a:rPr lang="en-US" altLang="zh-CN" sz="2400" b="1" dirty="0">
                <a:solidFill>
                  <a:srgbClr val="660033"/>
                </a:solidFill>
                <a:sym typeface="Symbol" pitchFamily="18" charset="2"/>
              </a:rPr>
              <a:t>    </a:t>
            </a:r>
            <a:r>
              <a:rPr lang="en-US" altLang="zh-CN" sz="2400" b="1" dirty="0">
                <a:solidFill>
                  <a:srgbClr val="FF0000"/>
                </a:solidFill>
                <a:sym typeface="Symbol" pitchFamily="18" charset="2"/>
              </a:rPr>
              <a:t>∧</a:t>
            </a:r>
            <a:r>
              <a:rPr lang="en-US" altLang="zh-CN" sz="2400" b="1" dirty="0">
                <a:solidFill>
                  <a:srgbClr val="660033"/>
                </a:solidFill>
                <a:highlight>
                  <a:srgbClr val="00FFFF"/>
                </a:highlight>
                <a:sym typeface="Symbol" pitchFamily="18" charset="2"/>
              </a:rPr>
              <a:t>v[2]</a:t>
            </a:r>
            <a:r>
              <a:rPr lang="en-US" altLang="zh-CN" sz="2400" b="1" dirty="0">
                <a:solidFill>
                  <a:srgbClr val="660033"/>
                </a:solidFill>
                <a:sym typeface="Symbol" pitchFamily="18" charset="2"/>
              </a:rPr>
              <a:t>=</a:t>
            </a:r>
            <a:r>
              <a:rPr lang="en-US" altLang="zh-CN" sz="2400" b="1" dirty="0">
                <a:solidFill>
                  <a:srgbClr val="660033"/>
                </a:solidFill>
                <a:latin typeface="Times New Roman"/>
                <a:sym typeface="Symbol" pitchFamily="18" charset="2"/>
              </a:rPr>
              <a:t>‘</a:t>
            </a:r>
            <a:r>
              <a:rPr lang="en-US" altLang="zh-CN" sz="2400" b="1" dirty="0">
                <a:solidFill>
                  <a:srgbClr val="660033"/>
                </a:solidFill>
                <a:sym typeface="Symbol" pitchFamily="18" charset="2"/>
              </a:rPr>
              <a:t>P5</a:t>
            </a:r>
            <a:r>
              <a:rPr lang="en-US" altLang="zh-CN" sz="2400" b="1" dirty="0">
                <a:solidFill>
                  <a:srgbClr val="660033"/>
                </a:solidFill>
                <a:latin typeface="Times New Roman"/>
                <a:sym typeface="Symbol" pitchFamily="18" charset="2"/>
              </a:rPr>
              <a:t>’</a:t>
            </a:r>
            <a:r>
              <a:rPr lang="en-US" altLang="zh-CN" sz="2400" b="1" dirty="0">
                <a:solidFill>
                  <a:srgbClr val="660033"/>
                </a:solidFill>
                <a:sym typeface="Symbol" pitchFamily="18" charset="2"/>
              </a:rPr>
              <a:t>∧</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[l]=</a:t>
            </a:r>
            <a:r>
              <a:rPr lang="en-US" altLang="zh-CN" sz="2400" b="1" dirty="0">
                <a:solidFill>
                  <a:srgbClr val="660033"/>
                </a:solidFill>
                <a:highlight>
                  <a:srgbClr val="00FFFF"/>
                </a:highlight>
                <a:sym typeface="Symbol" pitchFamily="18" charset="2"/>
              </a:rPr>
              <a:t>u[3]</a:t>
            </a:r>
            <a:r>
              <a:rPr lang="en-US" altLang="zh-CN" sz="2400" b="1" dirty="0">
                <a:solidFill>
                  <a:srgbClr val="660033"/>
                </a:solidFill>
                <a:sym typeface="Symbol" pitchFamily="18" charset="2"/>
              </a:rPr>
              <a:t>)} </a:t>
            </a:r>
          </a:p>
        </p:txBody>
      </p:sp>
      <p:sp>
        <p:nvSpPr>
          <p:cNvPr id="13" name="Rectangle 9">
            <a:extLst>
              <a:ext uri="{FF2B5EF4-FFF2-40B4-BE49-F238E27FC236}">
                <a16:creationId xmlns:a16="http://schemas.microsoft.com/office/drawing/2014/main" id="{3F6E754B-EC6B-3E40-9310-93C18E5BCA7D}"/>
              </a:ext>
            </a:extLst>
          </p:cNvPr>
          <p:cNvSpPr>
            <a:spLocks noChangeArrowheads="1"/>
          </p:cNvSpPr>
          <p:nvPr/>
        </p:nvSpPr>
        <p:spPr bwMode="auto">
          <a:xfrm>
            <a:off x="267769" y="5408104"/>
            <a:ext cx="828040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sz="2400" b="1" dirty="0">
                <a:solidFill>
                  <a:schemeClr val="bg2"/>
                </a:solidFill>
              </a:rPr>
              <a:t>6.</a:t>
            </a:r>
            <a:r>
              <a:rPr lang="zh-CN" altLang="en-US" sz="2400" b="1" dirty="0">
                <a:solidFill>
                  <a:schemeClr val="bg2"/>
                </a:solidFill>
              </a:rPr>
              <a:t>检索至少使用了编号为</a:t>
            </a:r>
            <a:r>
              <a:rPr lang="en-US" altLang="zh-CN" sz="2400" b="1" dirty="0">
                <a:solidFill>
                  <a:schemeClr val="bg2"/>
                </a:solidFill>
              </a:rPr>
              <a:t>P3</a:t>
            </a:r>
            <a:r>
              <a:rPr lang="zh-CN" altLang="en-US" sz="2400" b="1" dirty="0">
                <a:solidFill>
                  <a:srgbClr val="FF0000"/>
                </a:solidFill>
              </a:rPr>
              <a:t>和</a:t>
            </a:r>
            <a:r>
              <a:rPr lang="en-US" altLang="zh-CN" sz="2400" b="1" dirty="0">
                <a:solidFill>
                  <a:schemeClr val="bg2"/>
                </a:solidFill>
              </a:rPr>
              <a:t>P5</a:t>
            </a:r>
            <a:r>
              <a:rPr lang="zh-CN" altLang="en-US" sz="2400" b="1" dirty="0">
                <a:solidFill>
                  <a:schemeClr val="bg2"/>
                </a:solidFill>
              </a:rPr>
              <a:t>零件的工程编号</a:t>
            </a:r>
            <a:r>
              <a:rPr lang="en-US" altLang="zh-CN" sz="2400" b="1" dirty="0">
                <a:solidFill>
                  <a:schemeClr val="bg2"/>
                </a:solidFill>
              </a:rPr>
              <a:t>JNO</a:t>
            </a:r>
            <a:r>
              <a:rPr lang="zh-CN" altLang="en-US" sz="2400" b="1" dirty="0">
                <a:solidFill>
                  <a:schemeClr val="bg2"/>
                </a:solidFill>
              </a:rPr>
              <a:t>。</a:t>
            </a:r>
          </a:p>
        </p:txBody>
      </p:sp>
      <p:graphicFrame>
        <p:nvGraphicFramePr>
          <p:cNvPr id="14" name="表格 13">
            <a:extLst>
              <a:ext uri="{FF2B5EF4-FFF2-40B4-BE49-F238E27FC236}">
                <a16:creationId xmlns:a16="http://schemas.microsoft.com/office/drawing/2014/main" id="{3B870FA1-D3BF-D841-9631-C3397C8F9A29}"/>
              </a:ext>
            </a:extLst>
          </p:cNvPr>
          <p:cNvGraphicFramePr>
            <a:graphicFrameLocks noGrp="1"/>
          </p:cNvGraphicFramePr>
          <p:nvPr>
            <p:extLst>
              <p:ext uri="{D42A27DB-BD31-4B8C-83A1-F6EECF244321}">
                <p14:modId xmlns:p14="http://schemas.microsoft.com/office/powerpoint/2010/main" val="2699556843"/>
              </p:ext>
            </p:extLst>
          </p:nvPr>
        </p:nvGraphicFramePr>
        <p:xfrm>
          <a:off x="179512" y="1772273"/>
          <a:ext cx="3990368" cy="731520"/>
        </p:xfrm>
        <a:graphic>
          <a:graphicData uri="http://schemas.openxmlformats.org/drawingml/2006/table">
            <a:tbl>
              <a:tblPr firstRow="1" bandRow="1">
                <a:tableStyleId>{00A15C55-8517-42AA-B614-E9B94910E393}</a:tableStyleId>
              </a:tblPr>
              <a:tblGrid>
                <a:gridCol w="678000">
                  <a:extLst>
                    <a:ext uri="{9D8B030D-6E8A-4147-A177-3AD203B41FA5}">
                      <a16:colId xmlns:a16="http://schemas.microsoft.com/office/drawing/2014/main" val="2425720516"/>
                    </a:ext>
                  </a:extLst>
                </a:gridCol>
                <a:gridCol w="936104">
                  <a:extLst>
                    <a:ext uri="{9D8B030D-6E8A-4147-A177-3AD203B41FA5}">
                      <a16:colId xmlns:a16="http://schemas.microsoft.com/office/drawing/2014/main" val="1045709388"/>
                    </a:ext>
                  </a:extLst>
                </a:gridCol>
                <a:gridCol w="1244522">
                  <a:extLst>
                    <a:ext uri="{9D8B030D-6E8A-4147-A177-3AD203B41FA5}">
                      <a16:colId xmlns:a16="http://schemas.microsoft.com/office/drawing/2014/main" val="4028450072"/>
                    </a:ext>
                  </a:extLst>
                </a:gridCol>
                <a:gridCol w="1131742">
                  <a:extLst>
                    <a:ext uri="{9D8B030D-6E8A-4147-A177-3AD203B41FA5}">
                      <a16:colId xmlns:a16="http://schemas.microsoft.com/office/drawing/2014/main" val="3740044886"/>
                    </a:ext>
                  </a:extLst>
                </a:gridCol>
              </a:tblGrid>
              <a:tr h="230833">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2805207510"/>
                  </a:ext>
                </a:extLst>
              </a:tr>
              <a:tr h="230833">
                <a:tc>
                  <a:txBody>
                    <a:bodyPr/>
                    <a:lstStyle/>
                    <a:p>
                      <a:pPr algn="ctr"/>
                      <a:r>
                        <a:rPr lang="en-US" altLang="zh-CN" sz="1800" b="1" u="none" kern="1200" dirty="0">
                          <a:solidFill>
                            <a:schemeClr val="bg2"/>
                          </a:solidFill>
                        </a:rPr>
                        <a:t>S(</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SNO,</a:t>
                      </a:r>
                      <a:endParaRPr lang="zh-CN" altLang="en-US" dirty="0"/>
                    </a:p>
                  </a:txBody>
                  <a:tcPr/>
                </a:tc>
                <a:tc>
                  <a:txBody>
                    <a:bodyPr/>
                    <a:lstStyle/>
                    <a:p>
                      <a:pPr algn="ctr"/>
                      <a:r>
                        <a:rPr lang="en-US" altLang="zh-CN" sz="1800" b="1" u="none" dirty="0">
                          <a:solidFill>
                            <a:schemeClr val="bg2"/>
                          </a:solidFill>
                        </a:rPr>
                        <a:t>SNAME,</a:t>
                      </a:r>
                      <a:endParaRPr lang="zh-CN" altLang="en-US" u="none" dirty="0"/>
                    </a:p>
                  </a:txBody>
                  <a:tcPr/>
                </a:tc>
                <a:tc>
                  <a:txBody>
                    <a:bodyPr/>
                    <a:lstStyle/>
                    <a:p>
                      <a:pPr algn="ctr"/>
                      <a:r>
                        <a:rPr lang="en-US" altLang="zh-CN" sz="1800" b="1" u="none" dirty="0">
                          <a:solidFill>
                            <a:schemeClr val="bg2"/>
                          </a:solidFill>
                        </a:rPr>
                        <a:t>SADDR)</a:t>
                      </a:r>
                      <a:endParaRPr lang="zh-CN" altLang="en-US" u="none" dirty="0"/>
                    </a:p>
                  </a:txBody>
                  <a:tcPr/>
                </a:tc>
                <a:extLst>
                  <a:ext uri="{0D108BD9-81ED-4DB2-BD59-A6C34878D82A}">
                    <a16:rowId xmlns:a16="http://schemas.microsoft.com/office/drawing/2014/main" val="1520466959"/>
                  </a:ext>
                </a:extLst>
              </a:tr>
            </a:tbl>
          </a:graphicData>
        </a:graphic>
      </p:graphicFrame>
      <p:graphicFrame>
        <p:nvGraphicFramePr>
          <p:cNvPr id="16" name="表格 3">
            <a:extLst>
              <a:ext uri="{FF2B5EF4-FFF2-40B4-BE49-F238E27FC236}">
                <a16:creationId xmlns:a16="http://schemas.microsoft.com/office/drawing/2014/main" id="{44D0DF02-C6BC-7E48-9D64-621A78122808}"/>
              </a:ext>
            </a:extLst>
          </p:cNvPr>
          <p:cNvGraphicFramePr>
            <a:graphicFrameLocks noGrp="1"/>
          </p:cNvGraphicFramePr>
          <p:nvPr>
            <p:extLst>
              <p:ext uri="{D42A27DB-BD31-4B8C-83A1-F6EECF244321}">
                <p14:modId xmlns:p14="http://schemas.microsoft.com/office/powerpoint/2010/main" val="842255590"/>
              </p:ext>
            </p:extLst>
          </p:nvPr>
        </p:nvGraphicFramePr>
        <p:xfrm>
          <a:off x="4169880" y="1755308"/>
          <a:ext cx="4728610" cy="741680"/>
        </p:xfrm>
        <a:graphic>
          <a:graphicData uri="http://schemas.openxmlformats.org/drawingml/2006/table">
            <a:tbl>
              <a:tblPr firstRow="1" bandRow="1">
                <a:tableStyleId>{073A0DAA-6AF3-43AB-8588-CEC1D06C72B9}</a:tableStyleId>
              </a:tblPr>
              <a:tblGrid>
                <a:gridCol w="480138">
                  <a:extLst>
                    <a:ext uri="{9D8B030D-6E8A-4147-A177-3AD203B41FA5}">
                      <a16:colId xmlns:a16="http://schemas.microsoft.com/office/drawing/2014/main" val="2512462284"/>
                    </a:ext>
                  </a:extLst>
                </a:gridCol>
                <a:gridCol w="720080">
                  <a:extLst>
                    <a:ext uri="{9D8B030D-6E8A-4147-A177-3AD203B41FA5}">
                      <a16:colId xmlns:a16="http://schemas.microsoft.com/office/drawing/2014/main" val="3152180614"/>
                    </a:ext>
                  </a:extLst>
                </a:gridCol>
                <a:gridCol w="1080120">
                  <a:extLst>
                    <a:ext uri="{9D8B030D-6E8A-4147-A177-3AD203B41FA5}">
                      <a16:colId xmlns:a16="http://schemas.microsoft.com/office/drawing/2014/main" val="2487654462"/>
                    </a:ext>
                  </a:extLst>
                </a:gridCol>
                <a:gridCol w="1080120">
                  <a:extLst>
                    <a:ext uri="{9D8B030D-6E8A-4147-A177-3AD203B41FA5}">
                      <a16:colId xmlns:a16="http://schemas.microsoft.com/office/drawing/2014/main" val="462313814"/>
                    </a:ext>
                  </a:extLst>
                </a:gridCol>
                <a:gridCol w="1368152">
                  <a:extLst>
                    <a:ext uri="{9D8B030D-6E8A-4147-A177-3AD203B41FA5}">
                      <a16:colId xmlns:a16="http://schemas.microsoft.com/office/drawing/2014/main" val="332626903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rPr>
                        <a:t>P(</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PNO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PNAME,</a:t>
                      </a:r>
                      <a:endParaRPr lang="zh-CN" altLang="en-US" dirty="0"/>
                    </a:p>
                  </a:txBody>
                  <a:tcPr/>
                </a:tc>
                <a:tc>
                  <a:txBody>
                    <a:bodyPr/>
                    <a:lstStyle/>
                    <a:p>
                      <a:pPr algn="ctr"/>
                      <a:r>
                        <a:rPr lang="en-US" altLang="zh-CN" sz="1800" b="1" dirty="0">
                          <a:solidFill>
                            <a:schemeClr val="bg2"/>
                          </a:solidFill>
                        </a:rPr>
                        <a:t>COLOR,</a:t>
                      </a:r>
                      <a:endParaRPr lang="zh-CN" altLang="en-US" dirty="0"/>
                    </a:p>
                  </a:txBody>
                  <a:tcPr/>
                </a:tc>
                <a:tc>
                  <a:txBody>
                    <a:bodyPr/>
                    <a:lstStyle/>
                    <a:p>
                      <a:pPr algn="ctr"/>
                      <a:r>
                        <a:rPr lang="en-US" altLang="zh-CN" sz="1800" b="1" dirty="0">
                          <a:solidFill>
                            <a:schemeClr val="bg2"/>
                          </a:solidFill>
                        </a:rPr>
                        <a:t>WEIGHT)</a:t>
                      </a:r>
                      <a:endParaRPr lang="zh-CN" altLang="en-US" dirty="0"/>
                    </a:p>
                  </a:txBody>
                  <a:tcPr/>
                </a:tc>
                <a:extLst>
                  <a:ext uri="{0D108BD9-81ED-4DB2-BD59-A6C34878D82A}">
                    <a16:rowId xmlns:a16="http://schemas.microsoft.com/office/drawing/2014/main" val="553996634"/>
                  </a:ext>
                </a:extLst>
              </a:tr>
            </a:tbl>
          </a:graphicData>
        </a:graphic>
      </p:graphicFrame>
    </p:spTree>
    <p:extLst>
      <p:ext uri="{BB962C8B-B14F-4D97-AF65-F5344CB8AC3E}">
        <p14:creationId xmlns:p14="http://schemas.microsoft.com/office/powerpoint/2010/main" val="331095834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9637"/>
                                        </p:tgtEl>
                                        <p:attrNameLst>
                                          <p:attrName>style.visibility</p:attrName>
                                        </p:attrNameLst>
                                      </p:cBhvr>
                                      <p:to>
                                        <p:strVal val="visible"/>
                                      </p:to>
                                    </p:set>
                                    <p:animEffect transition="in" filter="blinds(horizontal)">
                                      <p:cBhvr>
                                        <p:cTn id="7" dur="500"/>
                                        <p:tgtEl>
                                          <p:spTgt spid="70963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09641"/>
                                        </p:tgtEl>
                                        <p:attrNameLst>
                                          <p:attrName>style.visibility</p:attrName>
                                        </p:attrNameLst>
                                      </p:cBhvr>
                                      <p:to>
                                        <p:strVal val="visible"/>
                                      </p:to>
                                    </p:set>
                                    <p:animEffect transition="in" filter="blinds(horizontal)">
                                      <p:cBhvr>
                                        <p:cTn id="12" dur="500"/>
                                        <p:tgtEl>
                                          <p:spTgt spid="70964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9640"/>
                                        </p:tgtEl>
                                        <p:attrNameLst>
                                          <p:attrName>style.visibility</p:attrName>
                                        </p:attrNameLst>
                                      </p:cBhvr>
                                      <p:to>
                                        <p:strVal val="visible"/>
                                      </p:to>
                                    </p:set>
                                    <p:animEffect transition="in" filter="blinds(horizontal)">
                                      <p:cBhvr>
                                        <p:cTn id="17" dur="500"/>
                                        <p:tgtEl>
                                          <p:spTgt spid="709640"/>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blinds(horizontal)">
                                      <p:cBhvr>
                                        <p:cTn id="22" dur="500"/>
                                        <p:tgtEl>
                                          <p:spTgt spid="13"/>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blinds(horizontal)">
                                      <p:cBhvr>
                                        <p:cTn id="2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9637" grpId="0"/>
      <p:bldP spid="709640" grpId="0"/>
      <p:bldP spid="709641" grpId="0"/>
      <p:bldP spid="12" grpId="0"/>
      <p:bldP spid="13" grpId="0"/>
    </p:bld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8610" name="Rectangle 2"/>
          <p:cNvSpPr>
            <a:spLocks noChangeArrowheads="1"/>
          </p:cNvSpPr>
          <p:nvPr/>
        </p:nvSpPr>
        <p:spPr bwMode="auto">
          <a:xfrm>
            <a:off x="-17925" y="2171218"/>
            <a:ext cx="9144000" cy="1113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50000"/>
              </a:lnSpc>
              <a:spcBef>
                <a:spcPts val="0"/>
              </a:spcBef>
            </a:pPr>
            <a:r>
              <a:rPr lang="en-US" altLang="zh-CN" sz="2400" b="1" dirty="0">
                <a:solidFill>
                  <a:srgbClr val="660033"/>
                </a:solidFill>
              </a:rPr>
              <a:t>{</a:t>
            </a:r>
            <a:r>
              <a:rPr lang="en-US" altLang="zh-CN" sz="2400" b="1" dirty="0">
                <a:solidFill>
                  <a:srgbClr val="FF0000"/>
                </a:solidFill>
              </a:rPr>
              <a:t>t</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a:t>
            </a:r>
            <a:r>
              <a:rPr lang="en-US" altLang="zh-CN" sz="2400" b="1" dirty="0">
                <a:solidFill>
                  <a:srgbClr val="660033"/>
                </a:solidFill>
                <a:sym typeface="Symbol" pitchFamily="18" charset="2"/>
              </a:rPr>
              <a:t></a:t>
            </a:r>
            <a:r>
              <a:rPr lang="en-US" altLang="zh-CN" sz="2400" b="1" dirty="0">
                <a:solidFill>
                  <a:srgbClr val="660033"/>
                </a:solidFill>
              </a:rPr>
              <a:t>v)(J(u)</a:t>
            </a:r>
            <a:r>
              <a:rPr lang="en-US" altLang="zh-CN" sz="2400" b="1" dirty="0">
                <a:solidFill>
                  <a:srgbClr val="660033"/>
                </a:solidFill>
                <a:sym typeface="Symbol" pitchFamily="18" charset="2"/>
              </a:rPr>
              <a:t>∧SPJ(v)∧((</a:t>
            </a:r>
            <a:r>
              <a:rPr lang="en-US" altLang="zh-CN" sz="2400" b="1" dirty="0">
                <a:highlight>
                  <a:srgbClr val="0000FF"/>
                </a:highlight>
                <a:sym typeface="Symbol" pitchFamily="18" charset="2"/>
              </a:rPr>
              <a:t>u[l]</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v[3]</a:t>
            </a:r>
            <a:r>
              <a:rPr lang="en-US" altLang="zh-CN" sz="2400" b="1" dirty="0">
                <a:solidFill>
                  <a:srgbClr val="660033"/>
                </a:solidFill>
                <a:sym typeface="Symbol" pitchFamily="18" charset="2"/>
              </a:rPr>
              <a:t>)</a:t>
            </a:r>
            <a:r>
              <a:rPr lang="en-US" altLang="zh-CN" sz="2400" b="1" dirty="0">
                <a:solidFill>
                  <a:srgbClr val="660033"/>
                </a:solidFill>
              </a:rPr>
              <a:t> </a:t>
            </a:r>
            <a:r>
              <a:rPr lang="en-US" altLang="zh-CN" sz="2400" b="1" dirty="0">
                <a:solidFill>
                  <a:srgbClr val="660033"/>
                </a:solidFill>
                <a:highlight>
                  <a:srgbClr val="00FFFF"/>
                </a:highlight>
              </a:rPr>
              <a:t>v[2]</a:t>
            </a:r>
            <a:r>
              <a:rPr lang="en-US" altLang="zh-CN" sz="2400" b="1" dirty="0">
                <a:solidFill>
                  <a:srgbClr val="660033"/>
                </a:solidFill>
              </a:rPr>
              <a:t>≠</a:t>
            </a:r>
            <a:r>
              <a:rPr lang="en-US" altLang="zh-CN" sz="2400" b="1" dirty="0">
                <a:solidFill>
                  <a:srgbClr val="660033"/>
                </a:solidFill>
                <a:sym typeface="Symbol" pitchFamily="18" charset="2"/>
              </a:rPr>
              <a:t>’P3’)</a:t>
            </a:r>
            <a:r>
              <a:rPr lang="en-US" altLang="zh-CN" sz="2400" dirty="0">
                <a:solidFill>
                  <a:srgbClr val="660033"/>
                </a:solidFill>
              </a:rPr>
              <a:t> </a:t>
            </a:r>
          </a:p>
          <a:p>
            <a:pPr algn="l">
              <a:lnSpc>
                <a:spcPct val="150000"/>
              </a:lnSpc>
              <a:spcBef>
                <a:spcPts val="0"/>
              </a:spcBef>
            </a:pPr>
            <a:r>
              <a:rPr lang="en-US" altLang="zh-CN" sz="2400" b="1" dirty="0">
                <a:solidFill>
                  <a:srgbClr val="660033"/>
                </a:solidFill>
                <a:sym typeface="Symbol" pitchFamily="18" charset="2"/>
              </a:rPr>
              <a:t>      ∧</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[1]=</a:t>
            </a:r>
            <a:r>
              <a:rPr lang="en-US" altLang="zh-CN" sz="2400" b="1" dirty="0">
                <a:highlight>
                  <a:srgbClr val="0000FF"/>
                </a:highlight>
                <a:sym typeface="Symbol" pitchFamily="18" charset="2"/>
              </a:rPr>
              <a:t>u[l]</a:t>
            </a:r>
            <a:r>
              <a:rPr lang="en-US" altLang="zh-CN" sz="2400" b="1" dirty="0">
                <a:solidFill>
                  <a:srgbClr val="660033"/>
                </a:solidFill>
                <a:sym typeface="Symbol" pitchFamily="18" charset="2"/>
              </a:rPr>
              <a:t>∧</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[2]=</a:t>
            </a:r>
            <a:r>
              <a:rPr lang="en-US" altLang="zh-CN" sz="2400" b="1" dirty="0">
                <a:highlight>
                  <a:srgbClr val="0000FF"/>
                </a:highlight>
                <a:sym typeface="Symbol" pitchFamily="18" charset="2"/>
              </a:rPr>
              <a:t>u[2]</a:t>
            </a:r>
            <a:r>
              <a:rPr lang="en-US" altLang="zh-CN" sz="2400" b="1" dirty="0">
                <a:solidFill>
                  <a:srgbClr val="660033"/>
                </a:solidFill>
                <a:sym typeface="Symbol" pitchFamily="18" charset="2"/>
              </a:rPr>
              <a:t>)}</a:t>
            </a:r>
          </a:p>
        </p:txBody>
      </p:sp>
      <p:sp>
        <p:nvSpPr>
          <p:cNvPr id="708611" name="Rectangle 3"/>
          <p:cNvSpPr>
            <a:spLocks noChangeArrowheads="1"/>
          </p:cNvSpPr>
          <p:nvPr/>
        </p:nvSpPr>
        <p:spPr bwMode="auto">
          <a:xfrm>
            <a:off x="-13801" y="1787043"/>
            <a:ext cx="8547533" cy="3877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400" b="1" dirty="0">
                <a:solidFill>
                  <a:schemeClr val="bg2"/>
                </a:solidFill>
              </a:rPr>
              <a:t>7.</a:t>
            </a:r>
            <a:r>
              <a:rPr lang="zh-CN" altLang="en-US" sz="2400" b="1" dirty="0">
                <a:solidFill>
                  <a:schemeClr val="bg2"/>
                </a:solidFill>
              </a:rPr>
              <a:t>检索不使用编号为</a:t>
            </a:r>
            <a:r>
              <a:rPr lang="en-US" altLang="zh-CN" sz="2400" b="1" dirty="0">
                <a:solidFill>
                  <a:schemeClr val="bg2"/>
                </a:solidFill>
              </a:rPr>
              <a:t>P3</a:t>
            </a:r>
            <a:r>
              <a:rPr lang="zh-CN" altLang="en-US" sz="2400" b="1" dirty="0">
                <a:solidFill>
                  <a:schemeClr val="bg2"/>
                </a:solidFill>
              </a:rPr>
              <a:t>零件的工程编号</a:t>
            </a:r>
            <a:r>
              <a:rPr lang="en-US" altLang="zh-CN" sz="2400" b="1" dirty="0">
                <a:solidFill>
                  <a:schemeClr val="bg2"/>
                </a:solidFill>
              </a:rPr>
              <a:t>JNO</a:t>
            </a:r>
            <a:r>
              <a:rPr lang="zh-CN" altLang="en-US" sz="2400" b="1" dirty="0">
                <a:solidFill>
                  <a:schemeClr val="bg2"/>
                </a:solidFill>
              </a:rPr>
              <a:t>和工程名称</a:t>
            </a:r>
            <a:r>
              <a:rPr lang="en-US" altLang="zh-CN" sz="2400" b="1" dirty="0">
                <a:solidFill>
                  <a:schemeClr val="bg2"/>
                </a:solidFill>
              </a:rPr>
              <a:t>JNAME</a:t>
            </a:r>
            <a:r>
              <a:rPr lang="zh-CN" altLang="en-US" sz="2400" b="1" dirty="0">
                <a:solidFill>
                  <a:schemeClr val="bg2"/>
                </a:solidFill>
              </a:rPr>
              <a:t>。</a:t>
            </a:r>
          </a:p>
        </p:txBody>
      </p:sp>
      <p:sp>
        <p:nvSpPr>
          <p:cNvPr id="708612" name="Rectangle 4"/>
          <p:cNvSpPr>
            <a:spLocks noChangeArrowheads="1"/>
          </p:cNvSpPr>
          <p:nvPr/>
        </p:nvSpPr>
        <p:spPr bwMode="auto">
          <a:xfrm>
            <a:off x="32709" y="3364434"/>
            <a:ext cx="81375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00000"/>
              </a:lnSpc>
              <a:spcBef>
                <a:spcPct val="0"/>
              </a:spcBef>
            </a:pPr>
            <a:r>
              <a:rPr lang="en-US" altLang="zh-CN" sz="2400" b="1" dirty="0">
                <a:solidFill>
                  <a:schemeClr val="bg2"/>
                </a:solidFill>
              </a:rPr>
              <a:t>8.</a:t>
            </a:r>
            <a:r>
              <a:rPr lang="zh-CN" altLang="en-US" sz="2400" b="1" dirty="0">
                <a:solidFill>
                  <a:schemeClr val="bg2"/>
                </a:solidFill>
              </a:rPr>
              <a:t>检索使用了全部零件的工程名称</a:t>
            </a:r>
            <a:r>
              <a:rPr lang="en-US" altLang="zh-CN" sz="2400" b="1" dirty="0">
                <a:solidFill>
                  <a:schemeClr val="bg2"/>
                </a:solidFill>
              </a:rPr>
              <a:t>JNAME</a:t>
            </a:r>
            <a:r>
              <a:rPr lang="zh-CN" altLang="en-US" sz="2400" b="1" dirty="0">
                <a:solidFill>
                  <a:schemeClr val="bg2"/>
                </a:solidFill>
              </a:rPr>
              <a:t>。</a:t>
            </a:r>
          </a:p>
        </p:txBody>
      </p:sp>
      <p:sp>
        <p:nvSpPr>
          <p:cNvPr id="708613" name="Rectangle 5"/>
          <p:cNvSpPr>
            <a:spLocks noChangeArrowheads="1"/>
          </p:cNvSpPr>
          <p:nvPr/>
        </p:nvSpPr>
        <p:spPr bwMode="auto">
          <a:xfrm>
            <a:off x="-17925" y="3790560"/>
            <a:ext cx="8975534" cy="1113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lnSpc>
                <a:spcPct val="150000"/>
              </a:lnSpc>
              <a:spcBef>
                <a:spcPct val="0"/>
              </a:spcBef>
            </a:pPr>
            <a:r>
              <a:rPr lang="en-US" altLang="zh-CN" sz="2400" b="1" dirty="0">
                <a:solidFill>
                  <a:srgbClr val="660033"/>
                </a:solidFill>
              </a:rPr>
              <a:t>{</a:t>
            </a:r>
            <a:r>
              <a:rPr lang="en-US" altLang="zh-CN" sz="2400" b="1" dirty="0">
                <a:solidFill>
                  <a:srgbClr val="FF0000"/>
                </a:solidFill>
              </a:rPr>
              <a:t>t</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a:t>
            </a:r>
            <a:r>
              <a:rPr lang="en-US" altLang="zh-CN" sz="2400" b="1" dirty="0">
                <a:solidFill>
                  <a:srgbClr val="660033"/>
                </a:solidFill>
                <a:sym typeface="Symbol" pitchFamily="18" charset="2"/>
              </a:rPr>
              <a:t></a:t>
            </a:r>
            <a:r>
              <a:rPr lang="en-US" altLang="zh-CN" sz="2400" b="1" dirty="0">
                <a:solidFill>
                  <a:srgbClr val="660033"/>
                </a:solidFill>
              </a:rPr>
              <a:t>v)(</a:t>
            </a:r>
            <a:r>
              <a:rPr lang="en-US" altLang="zh-CN" sz="2400" b="1" dirty="0">
                <a:solidFill>
                  <a:srgbClr val="660033"/>
                </a:solidFill>
                <a:sym typeface="Symbol" pitchFamily="18" charset="2"/>
              </a:rPr>
              <a:t></a:t>
            </a:r>
            <a:r>
              <a:rPr lang="en-US" altLang="zh-CN" sz="2400" b="1" dirty="0">
                <a:solidFill>
                  <a:srgbClr val="660033"/>
                </a:solidFill>
              </a:rPr>
              <a:t>w)(J(u)</a:t>
            </a:r>
            <a:r>
              <a:rPr lang="en-US" altLang="zh-CN" sz="2400" b="1" dirty="0">
                <a:solidFill>
                  <a:srgbClr val="660033"/>
                </a:solidFill>
                <a:sym typeface="Symbol" pitchFamily="18" charset="2"/>
              </a:rPr>
              <a:t>∧P(v)∧SPJ(w)∧</a:t>
            </a:r>
            <a:r>
              <a:rPr lang="en-US" altLang="zh-CN" sz="2400" b="1" dirty="0">
                <a:highlight>
                  <a:srgbClr val="0000FF"/>
                </a:highlight>
                <a:sym typeface="Symbol" pitchFamily="18" charset="2"/>
              </a:rPr>
              <a:t>u[l]</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w[3]</a:t>
            </a:r>
            <a:r>
              <a:rPr lang="en-US" altLang="zh-CN" sz="2400" b="1" dirty="0">
                <a:solidFill>
                  <a:srgbClr val="660033"/>
                </a:solidFill>
                <a:sym typeface="Symbol" pitchFamily="18" charset="2"/>
              </a:rPr>
              <a:t>∧</a:t>
            </a:r>
            <a:r>
              <a:rPr lang="en-US" altLang="zh-CN" sz="2400" b="1" dirty="0">
                <a:highlight>
                  <a:srgbClr val="000000"/>
                </a:highlight>
                <a:sym typeface="Symbol" pitchFamily="18" charset="2"/>
              </a:rPr>
              <a:t>v[1]</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w[2]</a:t>
            </a:r>
          </a:p>
          <a:p>
            <a:pPr algn="l">
              <a:lnSpc>
                <a:spcPct val="150000"/>
              </a:lnSpc>
              <a:spcBef>
                <a:spcPct val="0"/>
              </a:spcBef>
            </a:pPr>
            <a:r>
              <a:rPr lang="en-US" altLang="zh-CN" sz="2400" b="1" dirty="0">
                <a:solidFill>
                  <a:srgbClr val="660033"/>
                </a:solidFill>
                <a:sym typeface="Symbol" pitchFamily="18" charset="2"/>
              </a:rPr>
              <a:t>    ∧</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[1]=</a:t>
            </a:r>
            <a:r>
              <a:rPr lang="en-US" altLang="zh-CN" sz="2400" b="1" dirty="0">
                <a:highlight>
                  <a:srgbClr val="0000FF"/>
                </a:highlight>
                <a:sym typeface="Symbol" pitchFamily="18" charset="2"/>
              </a:rPr>
              <a:t>u[2]</a:t>
            </a:r>
            <a:r>
              <a:rPr lang="en-US" altLang="zh-CN" sz="2400" b="1" dirty="0">
                <a:solidFill>
                  <a:srgbClr val="660033"/>
                </a:solidFill>
                <a:sym typeface="Symbol" pitchFamily="18" charset="2"/>
              </a:rPr>
              <a:t>)} </a:t>
            </a:r>
          </a:p>
        </p:txBody>
      </p:sp>
      <p:sp>
        <p:nvSpPr>
          <p:cNvPr id="708614" name="Rectangle 6"/>
          <p:cNvSpPr>
            <a:spLocks noChangeArrowheads="1"/>
          </p:cNvSpPr>
          <p:nvPr/>
        </p:nvSpPr>
        <p:spPr bwMode="auto">
          <a:xfrm>
            <a:off x="176212" y="5335279"/>
            <a:ext cx="8713788" cy="1207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50000"/>
              </a:lnSpc>
              <a:spcBef>
                <a:spcPts val="600"/>
              </a:spcBef>
            </a:pPr>
            <a:r>
              <a:rPr lang="en-US" altLang="zh-CN" sz="2400" b="1" dirty="0">
                <a:solidFill>
                  <a:srgbClr val="660033"/>
                </a:solidFill>
              </a:rPr>
              <a:t>{</a:t>
            </a:r>
            <a:r>
              <a:rPr lang="en-US" altLang="zh-CN" sz="2400" b="1" dirty="0">
                <a:solidFill>
                  <a:srgbClr val="FF0000"/>
                </a:solidFill>
              </a:rPr>
              <a:t>t</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u)(SPJ(u)</a:t>
            </a:r>
            <a:r>
              <a:rPr lang="en-US" altLang="zh-CN" sz="2400" b="1" dirty="0">
                <a:solidFill>
                  <a:srgbClr val="660033"/>
                </a:solidFill>
                <a:sym typeface="Symbol" pitchFamily="18" charset="2"/>
              </a:rPr>
              <a:t>∧(</a:t>
            </a:r>
            <a:r>
              <a:rPr lang="en-US" altLang="zh-CN" sz="2400" b="1" dirty="0">
                <a:solidFill>
                  <a:srgbClr val="660033"/>
                </a:solidFill>
              </a:rPr>
              <a:t>v)(SPJ(v)</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v[1]</a:t>
            </a:r>
            <a:r>
              <a:rPr lang="en-US" altLang="zh-CN" sz="2400" b="1" dirty="0">
                <a:solidFill>
                  <a:srgbClr val="660033"/>
                </a:solidFill>
                <a:sym typeface="Symbol" pitchFamily="18" charset="2"/>
              </a:rPr>
              <a:t>=</a:t>
            </a:r>
            <a:r>
              <a:rPr lang="en-US" altLang="zh-CN" sz="2400" b="1" dirty="0">
                <a:solidFill>
                  <a:srgbClr val="660033"/>
                </a:solidFill>
                <a:latin typeface="Times New Roman"/>
                <a:sym typeface="Symbol" pitchFamily="18" charset="2"/>
              </a:rPr>
              <a:t>‘</a:t>
            </a:r>
            <a:r>
              <a:rPr lang="en-US" altLang="zh-CN" sz="2400" b="1" dirty="0">
                <a:solidFill>
                  <a:srgbClr val="660033"/>
                </a:solidFill>
                <a:sym typeface="Symbol" pitchFamily="18" charset="2"/>
              </a:rPr>
              <a:t>S1</a:t>
            </a:r>
            <a:r>
              <a:rPr lang="en-US" altLang="zh-CN" sz="2400" b="1" dirty="0">
                <a:solidFill>
                  <a:srgbClr val="660033"/>
                </a:solidFill>
                <a:latin typeface="Times New Roman"/>
                <a:sym typeface="Symbol" pitchFamily="18" charset="2"/>
              </a:rPr>
              <a:t>’</a:t>
            </a:r>
            <a:r>
              <a:rPr lang="en-US" altLang="zh-CN" sz="2400" b="1" dirty="0">
                <a:solidFill>
                  <a:srgbClr val="660033"/>
                </a:solidFill>
                <a:sym typeface="Symbol" pitchFamily="18" charset="2"/>
              </a:rPr>
              <a:t></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w)(SPJ(w)</a:t>
            </a:r>
          </a:p>
          <a:p>
            <a:pPr algn="l">
              <a:lnSpc>
                <a:spcPct val="150000"/>
              </a:lnSpc>
              <a:spcBef>
                <a:spcPts val="600"/>
              </a:spcBef>
            </a:pPr>
            <a:r>
              <a:rPr lang="en-US" altLang="zh-CN" sz="2400" b="1" dirty="0">
                <a:solidFill>
                  <a:srgbClr val="660033"/>
                </a:solidFill>
              </a:rPr>
              <a:t>     </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w[3]</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u[3]</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w[2]</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v[2]</a:t>
            </a:r>
            <a:r>
              <a:rPr lang="en-US" altLang="zh-CN" sz="2400" b="1" dirty="0">
                <a:solidFill>
                  <a:srgbClr val="660033"/>
                </a:solidFill>
                <a:sym typeface="Symbol" pitchFamily="18" charset="2"/>
              </a:rPr>
              <a:t>)))∧</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[l]=u[3])}  </a:t>
            </a:r>
          </a:p>
        </p:txBody>
      </p:sp>
      <p:sp>
        <p:nvSpPr>
          <p:cNvPr id="708615" name="Rectangle 7"/>
          <p:cNvSpPr>
            <a:spLocks noChangeArrowheads="1"/>
          </p:cNvSpPr>
          <p:nvPr/>
        </p:nvSpPr>
        <p:spPr bwMode="auto">
          <a:xfrm>
            <a:off x="0" y="4951104"/>
            <a:ext cx="937895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400" b="1" dirty="0">
                <a:solidFill>
                  <a:schemeClr val="bg2"/>
                </a:solidFill>
              </a:rPr>
              <a:t>9.</a:t>
            </a:r>
            <a:r>
              <a:rPr lang="zh-CN" altLang="en-US" sz="2400" b="1" dirty="0">
                <a:solidFill>
                  <a:schemeClr val="bg2"/>
                </a:solidFill>
              </a:rPr>
              <a:t>检索使用零件包含编号为</a:t>
            </a:r>
            <a:r>
              <a:rPr lang="en-US" altLang="zh-CN" sz="2400" b="1" dirty="0">
                <a:solidFill>
                  <a:schemeClr val="bg2"/>
                </a:solidFill>
              </a:rPr>
              <a:t>S1</a:t>
            </a:r>
            <a:r>
              <a:rPr lang="zh-CN" altLang="en-US" sz="2400" b="1" dirty="0">
                <a:solidFill>
                  <a:schemeClr val="bg2"/>
                </a:solidFill>
              </a:rPr>
              <a:t>供应商所供应的全部零件的工程编号。</a:t>
            </a:r>
          </a:p>
        </p:txBody>
      </p:sp>
      <p:graphicFrame>
        <p:nvGraphicFramePr>
          <p:cNvPr id="8" name="表格 7">
            <a:extLst>
              <a:ext uri="{FF2B5EF4-FFF2-40B4-BE49-F238E27FC236}">
                <a16:creationId xmlns:a16="http://schemas.microsoft.com/office/drawing/2014/main" id="{18508B08-84E1-E04F-A95D-1A9D7A42F2F3}"/>
              </a:ext>
            </a:extLst>
          </p:cNvPr>
          <p:cNvGraphicFramePr>
            <a:graphicFrameLocks noGrp="1"/>
          </p:cNvGraphicFramePr>
          <p:nvPr>
            <p:extLst>
              <p:ext uri="{D42A27DB-BD31-4B8C-83A1-F6EECF244321}">
                <p14:modId xmlns:p14="http://schemas.microsoft.com/office/powerpoint/2010/main" val="811624004"/>
              </p:ext>
            </p:extLst>
          </p:nvPr>
        </p:nvGraphicFramePr>
        <p:xfrm>
          <a:off x="32709" y="206849"/>
          <a:ext cx="4743479" cy="741680"/>
        </p:xfrm>
        <a:graphic>
          <a:graphicData uri="http://schemas.openxmlformats.org/drawingml/2006/table">
            <a:tbl>
              <a:tblPr firstRow="1" bandRow="1">
                <a:tableStyleId>{5C22544A-7EE6-4342-B048-85BDC9FD1C3A}</a:tableStyleId>
              </a:tblPr>
              <a:tblGrid>
                <a:gridCol w="683568">
                  <a:extLst>
                    <a:ext uri="{9D8B030D-6E8A-4147-A177-3AD203B41FA5}">
                      <a16:colId xmlns:a16="http://schemas.microsoft.com/office/drawing/2014/main" val="3624112539"/>
                    </a:ext>
                  </a:extLst>
                </a:gridCol>
                <a:gridCol w="720080">
                  <a:extLst>
                    <a:ext uri="{9D8B030D-6E8A-4147-A177-3AD203B41FA5}">
                      <a16:colId xmlns:a16="http://schemas.microsoft.com/office/drawing/2014/main" val="851219932"/>
                    </a:ext>
                  </a:extLst>
                </a:gridCol>
                <a:gridCol w="717850">
                  <a:extLst>
                    <a:ext uri="{9D8B030D-6E8A-4147-A177-3AD203B41FA5}">
                      <a16:colId xmlns:a16="http://schemas.microsoft.com/office/drawing/2014/main" val="1016015763"/>
                    </a:ext>
                  </a:extLst>
                </a:gridCol>
                <a:gridCol w="839910">
                  <a:extLst>
                    <a:ext uri="{9D8B030D-6E8A-4147-A177-3AD203B41FA5}">
                      <a16:colId xmlns:a16="http://schemas.microsoft.com/office/drawing/2014/main" val="2649775867"/>
                    </a:ext>
                  </a:extLst>
                </a:gridCol>
                <a:gridCol w="1059017">
                  <a:extLst>
                    <a:ext uri="{9D8B030D-6E8A-4147-A177-3AD203B41FA5}">
                      <a16:colId xmlns:a16="http://schemas.microsoft.com/office/drawing/2014/main" val="3781189654"/>
                    </a:ext>
                  </a:extLst>
                </a:gridCol>
                <a:gridCol w="723054">
                  <a:extLst>
                    <a:ext uri="{9D8B030D-6E8A-4147-A177-3AD203B41FA5}">
                      <a16:colId xmlns:a16="http://schemas.microsoft.com/office/drawing/2014/main" val="241062383"/>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extLst>
                  <a:ext uri="{0D108BD9-81ED-4DB2-BD59-A6C34878D82A}">
                    <a16:rowId xmlns:a16="http://schemas.microsoft.com/office/drawing/2014/main" val="1274320833"/>
                  </a:ext>
                </a:extLst>
              </a:tr>
              <a:tr h="370840">
                <a:tc>
                  <a:txBody>
                    <a:bodyPr/>
                    <a:lstStyle/>
                    <a:p>
                      <a:pPr algn="ctr"/>
                      <a:r>
                        <a:rPr lang="en-US" altLang="zh-CN" sz="1800" b="1" u="none" kern="1200" dirty="0">
                          <a:solidFill>
                            <a:schemeClr val="bg2"/>
                          </a:solidFill>
                          <a:latin typeface="+mn-lt"/>
                          <a:ea typeface="+mn-ea"/>
                          <a:cs typeface="+mn-cs"/>
                        </a:rPr>
                        <a:t>SPJ(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SNO,</a:t>
                      </a:r>
                      <a:endParaRPr lang="zh-CN" altLang="en-US" dirty="0"/>
                    </a:p>
                  </a:txBody>
                  <a:tcPr/>
                </a:tc>
                <a:tc>
                  <a:txBody>
                    <a:bodyPr/>
                    <a:lstStyle/>
                    <a:p>
                      <a:pPr algn="ctr"/>
                      <a:r>
                        <a:rPr lang="en-US" altLang="zh-CN" sz="1800" b="1" u="sng" dirty="0">
                          <a:solidFill>
                            <a:schemeClr val="bg2"/>
                          </a:solidFill>
                        </a:rPr>
                        <a:t>PNO,</a:t>
                      </a:r>
                      <a:endParaRPr lang="zh-CN" altLang="en-US" dirty="0"/>
                    </a:p>
                  </a:txBody>
                  <a:tcPr/>
                </a:tc>
                <a:tc>
                  <a:txBody>
                    <a:bodyPr/>
                    <a:lstStyle/>
                    <a:p>
                      <a:pPr algn="ctr"/>
                      <a:r>
                        <a:rPr lang="en-US" altLang="zh-CN" sz="1800" b="1" u="sng" dirty="0">
                          <a:solidFill>
                            <a:schemeClr val="bg2"/>
                          </a:solidFill>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PRICE,</a:t>
                      </a:r>
                      <a:endParaRPr lang="zh-CN" altLang="en-US" dirty="0"/>
                    </a:p>
                  </a:txBody>
                  <a:tcPr/>
                </a:tc>
                <a:tc>
                  <a:txBody>
                    <a:bodyPr/>
                    <a:lstStyle/>
                    <a:p>
                      <a:pPr algn="ctr"/>
                      <a:r>
                        <a:rPr lang="en-US" altLang="zh-CN" sz="1800" b="1" dirty="0">
                          <a:solidFill>
                            <a:schemeClr val="bg2"/>
                          </a:solidFill>
                        </a:rPr>
                        <a:t>QTY)</a:t>
                      </a:r>
                      <a:endParaRPr lang="zh-CN" altLang="en-US" dirty="0"/>
                    </a:p>
                  </a:txBody>
                  <a:tcPr/>
                </a:tc>
                <a:extLst>
                  <a:ext uri="{0D108BD9-81ED-4DB2-BD59-A6C34878D82A}">
                    <a16:rowId xmlns:a16="http://schemas.microsoft.com/office/drawing/2014/main" val="822562478"/>
                  </a:ext>
                </a:extLst>
              </a:tr>
            </a:tbl>
          </a:graphicData>
        </a:graphic>
      </p:graphicFrame>
      <p:graphicFrame>
        <p:nvGraphicFramePr>
          <p:cNvPr id="9" name="表格 3">
            <a:extLst>
              <a:ext uri="{FF2B5EF4-FFF2-40B4-BE49-F238E27FC236}">
                <a16:creationId xmlns:a16="http://schemas.microsoft.com/office/drawing/2014/main" id="{F3D6E13E-BA02-BE4C-B4F1-4CEEF3073416}"/>
              </a:ext>
            </a:extLst>
          </p:cNvPr>
          <p:cNvGraphicFramePr>
            <a:graphicFrameLocks noGrp="1"/>
          </p:cNvGraphicFramePr>
          <p:nvPr>
            <p:extLst>
              <p:ext uri="{D42A27DB-BD31-4B8C-83A1-F6EECF244321}">
                <p14:modId xmlns:p14="http://schemas.microsoft.com/office/powerpoint/2010/main" val="3160716940"/>
              </p:ext>
            </p:extLst>
          </p:nvPr>
        </p:nvGraphicFramePr>
        <p:xfrm>
          <a:off x="4735489" y="197926"/>
          <a:ext cx="4368736" cy="741680"/>
        </p:xfrm>
        <a:graphic>
          <a:graphicData uri="http://schemas.openxmlformats.org/drawingml/2006/table">
            <a:tbl>
              <a:tblPr firstRow="1" bandRow="1">
                <a:tableStyleId>{21E4AEA4-8DFA-4A89-87EB-49C32662AFE0}</a:tableStyleId>
              </a:tblPr>
              <a:tblGrid>
                <a:gridCol w="386487">
                  <a:extLst>
                    <a:ext uri="{9D8B030D-6E8A-4147-A177-3AD203B41FA5}">
                      <a16:colId xmlns:a16="http://schemas.microsoft.com/office/drawing/2014/main" val="2512462284"/>
                    </a:ext>
                  </a:extLst>
                </a:gridCol>
                <a:gridCol w="737662">
                  <a:extLst>
                    <a:ext uri="{9D8B030D-6E8A-4147-A177-3AD203B41FA5}">
                      <a16:colId xmlns:a16="http://schemas.microsoft.com/office/drawing/2014/main" val="3152180614"/>
                    </a:ext>
                  </a:extLst>
                </a:gridCol>
                <a:gridCol w="998116">
                  <a:extLst>
                    <a:ext uri="{9D8B030D-6E8A-4147-A177-3AD203B41FA5}">
                      <a16:colId xmlns:a16="http://schemas.microsoft.com/office/drawing/2014/main" val="2487654462"/>
                    </a:ext>
                  </a:extLst>
                </a:gridCol>
                <a:gridCol w="864096">
                  <a:extLst>
                    <a:ext uri="{9D8B030D-6E8A-4147-A177-3AD203B41FA5}">
                      <a16:colId xmlns:a16="http://schemas.microsoft.com/office/drawing/2014/main" val="462313814"/>
                    </a:ext>
                  </a:extLst>
                </a:gridCol>
                <a:gridCol w="1382375">
                  <a:extLst>
                    <a:ext uri="{9D8B030D-6E8A-4147-A177-3AD203B41FA5}">
                      <a16:colId xmlns:a16="http://schemas.microsoft.com/office/drawing/2014/main" val="332626903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rPr>
                        <a:t>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JNAME,</a:t>
                      </a:r>
                      <a:endParaRPr lang="zh-CN" altLang="en-US" dirty="0"/>
                    </a:p>
                  </a:txBody>
                  <a:tcPr/>
                </a:tc>
                <a:tc>
                  <a:txBody>
                    <a:bodyPr/>
                    <a:lstStyle/>
                    <a:p>
                      <a:pPr algn="ctr"/>
                      <a:r>
                        <a:rPr lang="en-US" altLang="zh-CN" sz="1800" b="1" dirty="0">
                          <a:solidFill>
                            <a:schemeClr val="bg2"/>
                          </a:solidFill>
                        </a:rPr>
                        <a:t>JCITY,</a:t>
                      </a:r>
                      <a:endParaRPr lang="zh-CN" altLang="en-US" dirty="0"/>
                    </a:p>
                  </a:txBody>
                  <a:tcPr/>
                </a:tc>
                <a:tc>
                  <a:txBody>
                    <a:bodyPr/>
                    <a:lstStyle/>
                    <a:p>
                      <a:pPr algn="ctr"/>
                      <a:r>
                        <a:rPr lang="en-US" altLang="zh-CN" sz="1800" b="1" dirty="0">
                          <a:solidFill>
                            <a:schemeClr val="bg2"/>
                          </a:solidFill>
                        </a:rPr>
                        <a:t>BALANCE)</a:t>
                      </a:r>
                      <a:endParaRPr lang="zh-CN" altLang="en-US" dirty="0"/>
                    </a:p>
                  </a:txBody>
                  <a:tcPr/>
                </a:tc>
                <a:extLst>
                  <a:ext uri="{0D108BD9-81ED-4DB2-BD59-A6C34878D82A}">
                    <a16:rowId xmlns:a16="http://schemas.microsoft.com/office/drawing/2014/main" val="553996634"/>
                  </a:ext>
                </a:extLst>
              </a:tr>
            </a:tbl>
          </a:graphicData>
        </a:graphic>
      </p:graphicFrame>
      <p:graphicFrame>
        <p:nvGraphicFramePr>
          <p:cNvPr id="12" name="表格 3">
            <a:extLst>
              <a:ext uri="{FF2B5EF4-FFF2-40B4-BE49-F238E27FC236}">
                <a16:creationId xmlns:a16="http://schemas.microsoft.com/office/drawing/2014/main" id="{B39B8F0D-35AA-6746-9A7F-E3F676253050}"/>
              </a:ext>
            </a:extLst>
          </p:cNvPr>
          <p:cNvGraphicFramePr>
            <a:graphicFrameLocks noGrp="1"/>
          </p:cNvGraphicFramePr>
          <p:nvPr>
            <p:extLst>
              <p:ext uri="{D42A27DB-BD31-4B8C-83A1-F6EECF244321}">
                <p14:modId xmlns:p14="http://schemas.microsoft.com/office/powerpoint/2010/main" val="4188040961"/>
              </p:ext>
            </p:extLst>
          </p:nvPr>
        </p:nvGraphicFramePr>
        <p:xfrm>
          <a:off x="2207695" y="947331"/>
          <a:ext cx="4728610" cy="741680"/>
        </p:xfrm>
        <a:graphic>
          <a:graphicData uri="http://schemas.openxmlformats.org/drawingml/2006/table">
            <a:tbl>
              <a:tblPr firstRow="1" bandRow="1">
                <a:tableStyleId>{073A0DAA-6AF3-43AB-8588-CEC1D06C72B9}</a:tableStyleId>
              </a:tblPr>
              <a:tblGrid>
                <a:gridCol w="480138">
                  <a:extLst>
                    <a:ext uri="{9D8B030D-6E8A-4147-A177-3AD203B41FA5}">
                      <a16:colId xmlns:a16="http://schemas.microsoft.com/office/drawing/2014/main" val="2512462284"/>
                    </a:ext>
                  </a:extLst>
                </a:gridCol>
                <a:gridCol w="720080">
                  <a:extLst>
                    <a:ext uri="{9D8B030D-6E8A-4147-A177-3AD203B41FA5}">
                      <a16:colId xmlns:a16="http://schemas.microsoft.com/office/drawing/2014/main" val="3152180614"/>
                    </a:ext>
                  </a:extLst>
                </a:gridCol>
                <a:gridCol w="1080120">
                  <a:extLst>
                    <a:ext uri="{9D8B030D-6E8A-4147-A177-3AD203B41FA5}">
                      <a16:colId xmlns:a16="http://schemas.microsoft.com/office/drawing/2014/main" val="2487654462"/>
                    </a:ext>
                  </a:extLst>
                </a:gridCol>
                <a:gridCol w="1080120">
                  <a:extLst>
                    <a:ext uri="{9D8B030D-6E8A-4147-A177-3AD203B41FA5}">
                      <a16:colId xmlns:a16="http://schemas.microsoft.com/office/drawing/2014/main" val="462313814"/>
                    </a:ext>
                  </a:extLst>
                </a:gridCol>
                <a:gridCol w="1368152">
                  <a:extLst>
                    <a:ext uri="{9D8B030D-6E8A-4147-A177-3AD203B41FA5}">
                      <a16:colId xmlns:a16="http://schemas.microsoft.com/office/drawing/2014/main" val="332626903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rPr>
                        <a:t>P(</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PNO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PNAME,</a:t>
                      </a:r>
                      <a:endParaRPr lang="zh-CN" altLang="en-US" dirty="0"/>
                    </a:p>
                  </a:txBody>
                  <a:tcPr/>
                </a:tc>
                <a:tc>
                  <a:txBody>
                    <a:bodyPr/>
                    <a:lstStyle/>
                    <a:p>
                      <a:pPr algn="ctr"/>
                      <a:r>
                        <a:rPr lang="en-US" altLang="zh-CN" sz="1800" b="1" dirty="0">
                          <a:solidFill>
                            <a:schemeClr val="bg2"/>
                          </a:solidFill>
                        </a:rPr>
                        <a:t>COLOR,</a:t>
                      </a:r>
                      <a:endParaRPr lang="zh-CN" altLang="en-US" dirty="0"/>
                    </a:p>
                  </a:txBody>
                  <a:tcPr/>
                </a:tc>
                <a:tc>
                  <a:txBody>
                    <a:bodyPr/>
                    <a:lstStyle/>
                    <a:p>
                      <a:pPr algn="ctr"/>
                      <a:r>
                        <a:rPr lang="en-US" altLang="zh-CN" sz="1800" b="1" dirty="0">
                          <a:solidFill>
                            <a:schemeClr val="bg2"/>
                          </a:solidFill>
                        </a:rPr>
                        <a:t>WEIGHT)</a:t>
                      </a:r>
                      <a:endParaRPr lang="zh-CN" altLang="en-US" dirty="0"/>
                    </a:p>
                  </a:txBody>
                  <a:tcPr/>
                </a:tc>
                <a:extLst>
                  <a:ext uri="{0D108BD9-81ED-4DB2-BD59-A6C34878D82A}">
                    <a16:rowId xmlns:a16="http://schemas.microsoft.com/office/drawing/2014/main" val="55399663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8610"/>
                                        </p:tgtEl>
                                        <p:attrNameLst>
                                          <p:attrName>style.visibility</p:attrName>
                                        </p:attrNameLst>
                                      </p:cBhvr>
                                      <p:to>
                                        <p:strVal val="visible"/>
                                      </p:to>
                                    </p:set>
                                    <p:animEffect transition="in" filter="blinds(horizontal)">
                                      <p:cBhvr>
                                        <p:cTn id="7" dur="500"/>
                                        <p:tgtEl>
                                          <p:spTgt spid="708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08612">
                                            <p:txEl>
                                              <p:pRg st="0" end="0"/>
                                            </p:txEl>
                                          </p:spTgt>
                                        </p:tgtEl>
                                        <p:attrNameLst>
                                          <p:attrName>style.visibility</p:attrName>
                                        </p:attrNameLst>
                                      </p:cBhvr>
                                      <p:to>
                                        <p:strVal val="visible"/>
                                      </p:to>
                                    </p:set>
                                    <p:animEffect transition="in" filter="blinds(horizontal)">
                                      <p:cBhvr>
                                        <p:cTn id="12" dur="500"/>
                                        <p:tgtEl>
                                          <p:spTgt spid="70861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8613">
                                            <p:txEl>
                                              <p:pRg st="0" end="0"/>
                                            </p:txEl>
                                          </p:spTgt>
                                        </p:tgtEl>
                                        <p:attrNameLst>
                                          <p:attrName>style.visibility</p:attrName>
                                        </p:attrNameLst>
                                      </p:cBhvr>
                                      <p:to>
                                        <p:strVal val="visible"/>
                                      </p:to>
                                    </p:set>
                                    <p:animEffect transition="in" filter="blinds(horizontal)">
                                      <p:cBhvr>
                                        <p:cTn id="17" dur="500"/>
                                        <p:tgtEl>
                                          <p:spTgt spid="708613">
                                            <p:txEl>
                                              <p:pRg st="0" end="0"/>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708613">
                                            <p:txEl>
                                              <p:pRg st="1" end="1"/>
                                            </p:txEl>
                                          </p:spTgt>
                                        </p:tgtEl>
                                        <p:attrNameLst>
                                          <p:attrName>style.visibility</p:attrName>
                                        </p:attrNameLst>
                                      </p:cBhvr>
                                      <p:to>
                                        <p:strVal val="visible"/>
                                      </p:to>
                                    </p:set>
                                    <p:animEffect transition="in" filter="blinds(horizontal)">
                                      <p:cBhvr>
                                        <p:cTn id="20" dur="500"/>
                                        <p:tgtEl>
                                          <p:spTgt spid="708613">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708613">
                                            <p:txEl>
                                              <p:pRg st="1" end="1"/>
                                            </p:txEl>
                                          </p:spTgt>
                                        </p:tgtEl>
                                        <p:attrNameLst>
                                          <p:attrName>style.visibility</p:attrName>
                                        </p:attrNameLst>
                                      </p:cBhvr>
                                      <p:to>
                                        <p:strVal val="visible"/>
                                      </p:to>
                                    </p:set>
                                    <p:animEffect transition="in" filter="blinds(horizontal)">
                                      <p:cBhvr>
                                        <p:cTn id="25" dur="500"/>
                                        <p:tgtEl>
                                          <p:spTgt spid="708613">
                                            <p:txEl>
                                              <p:pRg st="1" end="1"/>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08615"/>
                                        </p:tgtEl>
                                        <p:attrNameLst>
                                          <p:attrName>style.visibility</p:attrName>
                                        </p:attrNameLst>
                                      </p:cBhvr>
                                      <p:to>
                                        <p:strVal val="visible"/>
                                      </p:to>
                                    </p:set>
                                    <p:animEffect transition="in" filter="blinds(horizontal)">
                                      <p:cBhvr>
                                        <p:cTn id="30" dur="500"/>
                                        <p:tgtEl>
                                          <p:spTgt spid="70861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708614"/>
                                        </p:tgtEl>
                                        <p:attrNameLst>
                                          <p:attrName>style.visibility</p:attrName>
                                        </p:attrNameLst>
                                      </p:cBhvr>
                                      <p:to>
                                        <p:strVal val="visible"/>
                                      </p:to>
                                    </p:set>
                                    <p:animEffect transition="in" filter="blinds(horizontal)">
                                      <p:cBhvr>
                                        <p:cTn id="35" dur="500"/>
                                        <p:tgtEl>
                                          <p:spTgt spid="708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8610" grpId="0"/>
      <p:bldP spid="708613" grpId="0" build="allAtOnce"/>
      <p:bldP spid="708614" grpId="0"/>
      <p:bldP spid="708615" grpId="0"/>
    </p:bld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0546" name="Rectangle 2"/>
          <p:cNvSpPr>
            <a:spLocks noChangeArrowheads="1"/>
          </p:cNvSpPr>
          <p:nvPr/>
        </p:nvSpPr>
        <p:spPr bwMode="auto">
          <a:xfrm>
            <a:off x="0" y="44450"/>
            <a:ext cx="9144000" cy="30495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2800" b="1" dirty="0">
                <a:solidFill>
                  <a:srgbClr val="000099"/>
                </a:solidFill>
              </a:rPr>
              <a:t> </a:t>
            </a:r>
            <a:r>
              <a:rPr lang="zh-CN" altLang="en-US" sz="2800" b="1" dirty="0">
                <a:solidFill>
                  <a:srgbClr val="000099"/>
                </a:solidFill>
              </a:rPr>
              <a:t>二、域关系演算</a:t>
            </a:r>
          </a:p>
          <a:p>
            <a:pPr>
              <a:lnSpc>
                <a:spcPct val="150000"/>
              </a:lnSpc>
            </a:pPr>
            <a:r>
              <a:rPr lang="zh-CN" altLang="en-US" sz="2400" b="1" dirty="0">
                <a:solidFill>
                  <a:schemeClr val="bg2"/>
                </a:solidFill>
                <a:cs typeface="Times New Roman" pitchFamily="18" charset="0"/>
              </a:rPr>
              <a:t>    域演算表达式的定义</a:t>
            </a:r>
            <a:r>
              <a:rPr lang="zh-CN" altLang="en-US" sz="2400" b="1" dirty="0">
                <a:solidFill>
                  <a:srgbClr val="660033"/>
                </a:solidFill>
                <a:cs typeface="Times New Roman" pitchFamily="18" charset="0"/>
              </a:rPr>
              <a:t>类似于</a:t>
            </a:r>
            <a:r>
              <a:rPr lang="zh-CN" altLang="en-US" sz="2400" b="1" dirty="0">
                <a:solidFill>
                  <a:schemeClr val="bg2"/>
                </a:solidFill>
                <a:cs typeface="Times New Roman" pitchFamily="18" charset="0"/>
              </a:rPr>
              <a:t>元组演算表达式的定义，</a:t>
            </a:r>
          </a:p>
          <a:p>
            <a:pPr>
              <a:lnSpc>
                <a:spcPct val="150000"/>
              </a:lnSpc>
            </a:pPr>
            <a:r>
              <a:rPr lang="zh-CN" altLang="en-US" sz="2400" b="1" dirty="0">
                <a:solidFill>
                  <a:schemeClr val="bg2"/>
                </a:solidFill>
                <a:cs typeface="Times New Roman" pitchFamily="18" charset="0"/>
              </a:rPr>
              <a:t>    所不同的是公式中用</a:t>
            </a:r>
            <a:r>
              <a:rPr lang="zh-CN" altLang="en-US" sz="2400" b="1" dirty="0">
                <a:solidFill>
                  <a:srgbClr val="660033"/>
                </a:solidFill>
                <a:cs typeface="Times New Roman" pitchFamily="18" charset="0"/>
              </a:rPr>
              <a:t>域变量</a:t>
            </a:r>
            <a:r>
              <a:rPr lang="zh-CN" altLang="en-US" sz="2400" b="1" dirty="0">
                <a:solidFill>
                  <a:schemeClr val="bg2"/>
                </a:solidFill>
                <a:cs typeface="Times New Roman" pitchFamily="18" charset="0"/>
              </a:rPr>
              <a:t>代替元组变量的每一个分量，</a:t>
            </a:r>
          </a:p>
          <a:p>
            <a:pPr>
              <a:lnSpc>
                <a:spcPct val="150000"/>
              </a:lnSpc>
            </a:pPr>
            <a:r>
              <a:rPr lang="zh-CN" altLang="en-US" sz="2400" b="1" dirty="0">
                <a:solidFill>
                  <a:schemeClr val="bg2"/>
                </a:solidFill>
                <a:cs typeface="Times New Roman" pitchFamily="18" charset="0"/>
              </a:rPr>
              <a:t>    域变量的</a:t>
            </a:r>
            <a:r>
              <a:rPr lang="zh-CN" altLang="en-US" sz="2400" b="1" dirty="0">
                <a:solidFill>
                  <a:srgbClr val="660033"/>
                </a:solidFill>
                <a:cs typeface="Times New Roman" pitchFamily="18" charset="0"/>
              </a:rPr>
              <a:t>变化范围</a:t>
            </a:r>
            <a:r>
              <a:rPr lang="zh-CN" altLang="en-US" sz="2400" b="1" dirty="0">
                <a:solidFill>
                  <a:schemeClr val="bg2"/>
                </a:solidFill>
                <a:cs typeface="Times New Roman" pitchFamily="18" charset="0"/>
              </a:rPr>
              <a:t>是某个值域而不是一个关系。</a:t>
            </a:r>
            <a:r>
              <a:rPr lang="zh-CN" altLang="en-US" sz="2800" b="1" dirty="0">
                <a:solidFill>
                  <a:schemeClr val="bg1"/>
                </a:solidFill>
                <a:cs typeface="Times New Roman" pitchFamily="18" charset="0"/>
              </a:rPr>
              <a:t> </a:t>
            </a:r>
            <a:r>
              <a:rPr lang="zh-CN" altLang="en-US" sz="2400" b="1" dirty="0">
                <a:solidFill>
                  <a:schemeClr val="bg2"/>
                </a:solidFill>
              </a:rPr>
              <a:t>   </a:t>
            </a:r>
          </a:p>
        </p:txBody>
      </p:sp>
      <p:sp>
        <p:nvSpPr>
          <p:cNvPr id="660483" name="Rectangle 1027"/>
          <p:cNvSpPr>
            <a:spLocks noChangeArrowheads="1"/>
          </p:cNvSpPr>
          <p:nvPr/>
        </p:nvSpPr>
        <p:spPr bwMode="auto">
          <a:xfrm>
            <a:off x="539750" y="3500438"/>
            <a:ext cx="8424863" cy="24971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20000"/>
              </a:lnSpc>
            </a:pPr>
            <a:r>
              <a:rPr lang="en-US" altLang="zh-CN" sz="2400" b="1">
                <a:solidFill>
                  <a:srgbClr val="000099"/>
                </a:solidFill>
              </a:rPr>
              <a:t>1</a:t>
            </a:r>
            <a:r>
              <a:rPr lang="zh-CN" altLang="en-US" sz="2400" b="1">
                <a:solidFill>
                  <a:srgbClr val="000099"/>
                </a:solidFill>
              </a:rPr>
              <a:t>、域演算表达式：</a:t>
            </a:r>
          </a:p>
          <a:p>
            <a:pPr algn="l">
              <a:lnSpc>
                <a:spcPct val="120000"/>
              </a:lnSpc>
            </a:pPr>
            <a:r>
              <a:rPr lang="zh-CN" altLang="en-US" sz="2400" b="1">
                <a:solidFill>
                  <a:schemeClr val="bg2"/>
                </a:solidFill>
              </a:rPr>
              <a:t>  一般形式</a:t>
            </a:r>
            <a:r>
              <a:rPr lang="en-US" altLang="zh-CN" sz="2400" b="1">
                <a:solidFill>
                  <a:schemeClr val="bg2"/>
                </a:solidFill>
              </a:rPr>
              <a:t>: </a:t>
            </a:r>
            <a:r>
              <a:rPr lang="en-US" altLang="zh-CN" sz="3200" b="1">
                <a:solidFill>
                  <a:srgbClr val="660033"/>
                </a:solidFill>
              </a:rPr>
              <a:t>{t</a:t>
            </a:r>
            <a:r>
              <a:rPr lang="en-US" altLang="zh-CN" sz="3200" b="1" baseline="-25000">
                <a:solidFill>
                  <a:srgbClr val="660033"/>
                </a:solidFill>
              </a:rPr>
              <a:t>1</a:t>
            </a:r>
            <a:r>
              <a:rPr lang="en-US" altLang="zh-CN" sz="3200" b="1">
                <a:solidFill>
                  <a:srgbClr val="660033"/>
                </a:solidFill>
              </a:rPr>
              <a:t> t</a:t>
            </a:r>
            <a:r>
              <a:rPr lang="en-US" altLang="zh-CN" sz="3200" b="1" baseline="-25000">
                <a:solidFill>
                  <a:srgbClr val="660033"/>
                </a:solidFill>
              </a:rPr>
              <a:t>2</a:t>
            </a:r>
            <a:r>
              <a:rPr lang="en-US" altLang="zh-CN" sz="3200" b="1">
                <a:solidFill>
                  <a:srgbClr val="660033"/>
                </a:solidFill>
              </a:rPr>
              <a:t>…t</a:t>
            </a:r>
            <a:r>
              <a:rPr lang="en-US" altLang="zh-CN" sz="3200" b="1" baseline="-25000">
                <a:solidFill>
                  <a:srgbClr val="660033"/>
                </a:solidFill>
              </a:rPr>
              <a:t>k </a:t>
            </a:r>
            <a:r>
              <a:rPr lang="en-US" altLang="zh-CN" sz="3200" b="1">
                <a:solidFill>
                  <a:srgbClr val="660033"/>
                </a:solidFill>
              </a:rPr>
              <a:t>∣P(t</a:t>
            </a:r>
            <a:r>
              <a:rPr lang="en-US" altLang="zh-CN" sz="3200" b="1" baseline="-25000">
                <a:solidFill>
                  <a:srgbClr val="660033"/>
                </a:solidFill>
              </a:rPr>
              <a:t>1</a:t>
            </a:r>
            <a:r>
              <a:rPr lang="en-US" altLang="zh-CN" sz="3200" b="1">
                <a:solidFill>
                  <a:srgbClr val="660033"/>
                </a:solidFill>
              </a:rPr>
              <a:t>,t</a:t>
            </a:r>
            <a:r>
              <a:rPr lang="en-US" altLang="zh-CN" sz="3200" b="1" baseline="-25000">
                <a:solidFill>
                  <a:srgbClr val="660033"/>
                </a:solidFill>
              </a:rPr>
              <a:t>2</a:t>
            </a:r>
            <a:r>
              <a:rPr lang="en-US" altLang="zh-CN" sz="3200" b="1">
                <a:solidFill>
                  <a:srgbClr val="660033"/>
                </a:solidFill>
              </a:rPr>
              <a:t>,…,t</a:t>
            </a:r>
            <a:r>
              <a:rPr lang="en-US" altLang="zh-CN" sz="3200" b="1" baseline="-25000">
                <a:solidFill>
                  <a:srgbClr val="660033"/>
                </a:solidFill>
              </a:rPr>
              <a:t>k</a:t>
            </a:r>
            <a:r>
              <a:rPr lang="en-US" altLang="zh-CN" sz="3200" b="1">
                <a:solidFill>
                  <a:srgbClr val="660033"/>
                </a:solidFill>
              </a:rPr>
              <a:t> )</a:t>
            </a:r>
            <a:r>
              <a:rPr lang="zh-CN" altLang="en-US" sz="3200" b="1">
                <a:solidFill>
                  <a:srgbClr val="660033"/>
                </a:solidFill>
              </a:rPr>
              <a:t>｝</a:t>
            </a:r>
          </a:p>
          <a:p>
            <a:pPr>
              <a:lnSpc>
                <a:spcPct val="120000"/>
              </a:lnSpc>
            </a:pPr>
            <a:r>
              <a:rPr lang="zh-CN" altLang="en-US" sz="2400" b="1">
                <a:solidFill>
                  <a:schemeClr val="bg2"/>
                </a:solidFill>
              </a:rPr>
              <a:t>  </a:t>
            </a:r>
            <a:r>
              <a:rPr lang="zh-CN" altLang="en-US" sz="2000" b="1">
                <a:solidFill>
                  <a:schemeClr val="bg2"/>
                </a:solidFill>
              </a:rPr>
              <a:t>其中</a:t>
            </a:r>
            <a:r>
              <a:rPr lang="en-US" altLang="zh-CN" sz="2000" b="1">
                <a:solidFill>
                  <a:schemeClr val="bg2"/>
                </a:solidFill>
              </a:rPr>
              <a:t>t</a:t>
            </a:r>
            <a:r>
              <a:rPr lang="en-US" altLang="zh-CN" sz="2000" b="1" baseline="-25000">
                <a:solidFill>
                  <a:schemeClr val="bg2"/>
                </a:solidFill>
              </a:rPr>
              <a:t>1</a:t>
            </a:r>
            <a:r>
              <a:rPr lang="zh-CN" altLang="en-US" sz="2000" b="1">
                <a:solidFill>
                  <a:schemeClr val="bg2"/>
                </a:solidFill>
              </a:rPr>
              <a:t>、</a:t>
            </a:r>
            <a:r>
              <a:rPr lang="en-US" altLang="zh-CN" sz="2000" b="1">
                <a:solidFill>
                  <a:schemeClr val="bg2"/>
                </a:solidFill>
              </a:rPr>
              <a:t>t</a:t>
            </a:r>
            <a:r>
              <a:rPr lang="en-US" altLang="zh-CN" sz="2000" b="1" baseline="-25000">
                <a:solidFill>
                  <a:schemeClr val="bg2"/>
                </a:solidFill>
              </a:rPr>
              <a:t>2</a:t>
            </a:r>
            <a:r>
              <a:rPr lang="zh-CN" altLang="en-US" sz="2000" b="1">
                <a:solidFill>
                  <a:schemeClr val="bg2"/>
                </a:solidFill>
              </a:rPr>
              <a:t>、</a:t>
            </a:r>
            <a:r>
              <a:rPr lang="en-US" altLang="zh-CN" sz="2000" b="1">
                <a:solidFill>
                  <a:schemeClr val="bg2"/>
                </a:solidFill>
              </a:rPr>
              <a:t>…</a:t>
            </a:r>
            <a:r>
              <a:rPr lang="zh-CN" altLang="en-US" sz="2000" b="1">
                <a:solidFill>
                  <a:schemeClr val="bg2"/>
                </a:solidFill>
              </a:rPr>
              <a:t>、</a:t>
            </a:r>
            <a:r>
              <a:rPr lang="en-US" altLang="zh-CN" sz="2000" b="1">
                <a:solidFill>
                  <a:schemeClr val="bg2"/>
                </a:solidFill>
              </a:rPr>
              <a:t>t</a:t>
            </a:r>
            <a:r>
              <a:rPr lang="en-US" altLang="zh-CN" sz="2000" b="1" baseline="-25000">
                <a:solidFill>
                  <a:schemeClr val="bg2"/>
                </a:solidFill>
              </a:rPr>
              <a:t>k</a:t>
            </a:r>
            <a:r>
              <a:rPr lang="zh-CN" altLang="en-US" sz="2000" b="1">
                <a:solidFill>
                  <a:schemeClr val="bg2"/>
                </a:solidFill>
              </a:rPr>
              <a:t>分别是元组变量</a:t>
            </a:r>
            <a:r>
              <a:rPr lang="en-US" altLang="zh-CN" sz="2000" b="1">
                <a:solidFill>
                  <a:schemeClr val="bg2"/>
                </a:solidFill>
              </a:rPr>
              <a:t>t</a:t>
            </a:r>
            <a:r>
              <a:rPr lang="zh-CN" altLang="en-US" sz="2000" b="1">
                <a:solidFill>
                  <a:schemeClr val="bg2"/>
                </a:solidFill>
              </a:rPr>
              <a:t>的各个分量的域变量，</a:t>
            </a:r>
          </a:p>
          <a:p>
            <a:pPr>
              <a:lnSpc>
                <a:spcPct val="120000"/>
              </a:lnSpc>
            </a:pPr>
            <a:r>
              <a:rPr lang="zh-CN" altLang="en-US" sz="2000" b="1">
                <a:solidFill>
                  <a:schemeClr val="bg2"/>
                </a:solidFill>
              </a:rPr>
              <a:t>   </a:t>
            </a:r>
            <a:r>
              <a:rPr lang="en-US" altLang="zh-CN" sz="2000" b="1">
                <a:solidFill>
                  <a:schemeClr val="bg2"/>
                </a:solidFill>
              </a:rPr>
              <a:t>P</a:t>
            </a:r>
            <a:r>
              <a:rPr lang="zh-CN" altLang="en-US" sz="2000" b="1">
                <a:solidFill>
                  <a:schemeClr val="bg2"/>
                </a:solidFill>
              </a:rPr>
              <a:t>是域演算公式。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0483"/>
                                        </p:tgtEl>
                                        <p:attrNameLst>
                                          <p:attrName>style.visibility</p:attrName>
                                        </p:attrNameLst>
                                      </p:cBhvr>
                                      <p:to>
                                        <p:strVal val="visible"/>
                                      </p:to>
                                    </p:set>
                                    <p:animEffect transition="in" filter="blinds(horizontal)">
                                      <p:cBhvr>
                                        <p:cTn id="7" dur="500"/>
                                        <p:tgtEl>
                                          <p:spTgt spid="66048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0483" grpId="0"/>
    </p:bld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1570" name="Rectangle 2"/>
          <p:cNvSpPr>
            <a:spLocks noChangeArrowheads="1"/>
          </p:cNvSpPr>
          <p:nvPr/>
        </p:nvSpPr>
        <p:spPr bwMode="auto">
          <a:xfrm>
            <a:off x="0" y="304800"/>
            <a:ext cx="9144000" cy="6481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2400" b="1">
                <a:solidFill>
                  <a:srgbClr val="000099"/>
                </a:solidFill>
              </a:rPr>
              <a:t>  ①</a:t>
            </a:r>
            <a:r>
              <a:rPr lang="zh-CN" altLang="en-US" sz="2400" b="1">
                <a:solidFill>
                  <a:srgbClr val="000099"/>
                </a:solidFill>
              </a:rPr>
              <a:t>原子公式有下列两种形式：</a:t>
            </a:r>
          </a:p>
          <a:p>
            <a:pPr>
              <a:lnSpc>
                <a:spcPct val="150000"/>
              </a:lnSpc>
            </a:pPr>
            <a:r>
              <a:rPr lang="zh-CN" altLang="en-US" sz="2400" b="1">
                <a:solidFill>
                  <a:schemeClr val="bg2"/>
                </a:solidFill>
              </a:rPr>
              <a:t>      </a:t>
            </a:r>
            <a:r>
              <a:rPr lang="en-US" altLang="zh-CN" sz="2400" b="1">
                <a:solidFill>
                  <a:schemeClr val="bg2"/>
                </a:solidFill>
              </a:rPr>
              <a:t>i</a:t>
            </a:r>
            <a:r>
              <a:rPr lang="zh-CN" altLang="en-US" sz="2400" b="1">
                <a:solidFill>
                  <a:schemeClr val="bg2"/>
                </a:solidFill>
              </a:rPr>
              <a:t>．</a:t>
            </a:r>
            <a:r>
              <a:rPr lang="en-US" altLang="zh-CN" sz="2400" b="1">
                <a:solidFill>
                  <a:schemeClr val="bg2"/>
                </a:solidFill>
              </a:rPr>
              <a:t>R</a:t>
            </a:r>
            <a:r>
              <a:rPr lang="zh-CN" altLang="en-US" sz="2400" b="1">
                <a:solidFill>
                  <a:schemeClr val="bg2"/>
                </a:solidFill>
              </a:rPr>
              <a:t>（</a:t>
            </a:r>
            <a:r>
              <a:rPr lang="en-US" altLang="zh-CN" sz="2400" b="1">
                <a:solidFill>
                  <a:schemeClr val="bg2"/>
                </a:solidFill>
              </a:rPr>
              <a:t>t1</a:t>
            </a:r>
            <a:r>
              <a:rPr lang="en-US" altLang="zh-CN" sz="2400" b="1">
                <a:solidFill>
                  <a:schemeClr val="bg2"/>
                </a:solidFill>
                <a:latin typeface="Times New Roman"/>
              </a:rPr>
              <a:t>…</a:t>
            </a:r>
            <a:r>
              <a:rPr lang="en-US" altLang="zh-CN" sz="2400" b="1">
                <a:solidFill>
                  <a:schemeClr val="bg2"/>
                </a:solidFill>
              </a:rPr>
              <a:t>tk</a:t>
            </a:r>
            <a:r>
              <a:rPr lang="zh-CN" altLang="en-US" sz="2400" b="1">
                <a:solidFill>
                  <a:schemeClr val="bg2"/>
                </a:solidFill>
              </a:rPr>
              <a:t>）：</a:t>
            </a:r>
            <a:r>
              <a:rPr lang="en-US" altLang="zh-CN" sz="2400" b="1">
                <a:solidFill>
                  <a:schemeClr val="bg2"/>
                </a:solidFill>
              </a:rPr>
              <a:t>R</a:t>
            </a:r>
            <a:r>
              <a:rPr lang="zh-CN" altLang="en-US" sz="2400" b="1">
                <a:solidFill>
                  <a:schemeClr val="bg2"/>
                </a:solidFill>
              </a:rPr>
              <a:t>是</a:t>
            </a:r>
            <a:r>
              <a:rPr lang="en-US" altLang="zh-CN" sz="2400" b="1">
                <a:solidFill>
                  <a:schemeClr val="bg2"/>
                </a:solidFill>
              </a:rPr>
              <a:t>K</a:t>
            </a:r>
            <a:r>
              <a:rPr lang="zh-CN" altLang="en-US" sz="2400" b="1">
                <a:solidFill>
                  <a:schemeClr val="bg2"/>
                </a:solidFill>
              </a:rPr>
              <a:t>元关系，每个</a:t>
            </a:r>
            <a:r>
              <a:rPr lang="en-US" altLang="zh-CN" sz="2400" b="1">
                <a:solidFill>
                  <a:schemeClr val="bg2"/>
                </a:solidFill>
              </a:rPr>
              <a:t>ti</a:t>
            </a:r>
            <a:r>
              <a:rPr lang="zh-CN" altLang="en-US" sz="2400" b="1">
                <a:solidFill>
                  <a:schemeClr val="bg2"/>
                </a:solidFill>
              </a:rPr>
              <a:t>是域变量或常量。</a:t>
            </a:r>
          </a:p>
          <a:p>
            <a:pPr>
              <a:lnSpc>
                <a:spcPct val="150000"/>
              </a:lnSpc>
            </a:pPr>
            <a:r>
              <a:rPr lang="zh-CN" altLang="en-US" sz="2400" b="1">
                <a:solidFill>
                  <a:schemeClr val="bg2"/>
                </a:solidFill>
              </a:rPr>
              <a:t>      </a:t>
            </a:r>
            <a:r>
              <a:rPr lang="en-US" altLang="zh-CN" sz="2400" b="1">
                <a:solidFill>
                  <a:schemeClr val="bg2"/>
                </a:solidFill>
              </a:rPr>
              <a:t>ii</a:t>
            </a:r>
            <a:r>
              <a:rPr lang="zh-CN" altLang="en-US" sz="2400" b="1">
                <a:solidFill>
                  <a:schemeClr val="bg2"/>
                </a:solidFill>
              </a:rPr>
              <a:t>．</a:t>
            </a:r>
            <a:r>
              <a:rPr lang="en-US" altLang="zh-CN" sz="2400" b="1">
                <a:solidFill>
                  <a:schemeClr val="bg2"/>
                </a:solidFill>
              </a:rPr>
              <a:t>xθy,</a:t>
            </a:r>
            <a:r>
              <a:rPr lang="zh-CN" altLang="en-US" sz="2400" b="1">
                <a:solidFill>
                  <a:schemeClr val="bg2"/>
                </a:solidFill>
              </a:rPr>
              <a:t>其中</a:t>
            </a:r>
            <a:r>
              <a:rPr lang="en-US" altLang="zh-CN" sz="2400" b="1">
                <a:solidFill>
                  <a:schemeClr val="bg2"/>
                </a:solidFill>
              </a:rPr>
              <a:t>x,y</a:t>
            </a:r>
            <a:r>
              <a:rPr lang="zh-CN" altLang="en-US" sz="2400" b="1">
                <a:solidFill>
                  <a:schemeClr val="bg2"/>
                </a:solidFill>
              </a:rPr>
              <a:t>是域变量或常量，但至少有一个是域变</a:t>
            </a:r>
          </a:p>
          <a:p>
            <a:pPr>
              <a:lnSpc>
                <a:spcPct val="150000"/>
              </a:lnSpc>
            </a:pPr>
            <a:r>
              <a:rPr lang="zh-CN" altLang="en-US" sz="2400" b="1">
                <a:solidFill>
                  <a:schemeClr val="bg2"/>
                </a:solidFill>
              </a:rPr>
              <a:t>               量，</a:t>
            </a:r>
            <a:r>
              <a:rPr lang="en-US" altLang="zh-CN" sz="2400" b="1">
                <a:solidFill>
                  <a:schemeClr val="bg2"/>
                </a:solidFill>
              </a:rPr>
              <a:t>θ</a:t>
            </a:r>
            <a:r>
              <a:rPr lang="zh-CN" altLang="en-US" sz="2400" b="1">
                <a:solidFill>
                  <a:schemeClr val="bg2"/>
                </a:solidFill>
              </a:rPr>
              <a:t>是算术比较运算符。                                                            </a:t>
            </a:r>
          </a:p>
          <a:p>
            <a:pPr>
              <a:lnSpc>
                <a:spcPct val="150000"/>
              </a:lnSpc>
            </a:pPr>
            <a:r>
              <a:rPr lang="zh-CN" altLang="en-US" sz="2400" b="1">
                <a:solidFill>
                  <a:srgbClr val="000099"/>
                </a:solidFill>
              </a:rPr>
              <a:t>  ②域关系演算的公式中</a:t>
            </a:r>
            <a:r>
              <a:rPr lang="zh-CN" altLang="en-US" sz="2400" b="1">
                <a:solidFill>
                  <a:schemeClr val="bg2"/>
                </a:solidFill>
              </a:rPr>
              <a:t>也可使用∧、∨、</a:t>
            </a:r>
            <a:r>
              <a:rPr lang="zh-CN" altLang="en-US" sz="2400" b="1">
                <a:solidFill>
                  <a:schemeClr val="bg2"/>
                </a:solidFill>
                <a:sym typeface="Symbol" pitchFamily="18" charset="2"/>
              </a:rPr>
              <a:t></a:t>
            </a:r>
            <a:r>
              <a:rPr lang="zh-CN" altLang="en-US" sz="2400" b="1">
                <a:solidFill>
                  <a:schemeClr val="bg2"/>
                </a:solidFill>
              </a:rPr>
              <a:t> 和</a:t>
            </a:r>
            <a:r>
              <a:rPr lang="en-US" altLang="zh-CN" sz="2400" b="1">
                <a:solidFill>
                  <a:schemeClr val="bg2"/>
                </a:solidFill>
              </a:rPr>
              <a:t>=&gt;</a:t>
            </a:r>
            <a:r>
              <a:rPr lang="zh-CN" altLang="en-US" sz="2400" b="1">
                <a:solidFill>
                  <a:schemeClr val="bg2"/>
                </a:solidFill>
              </a:rPr>
              <a:t>等逻辑运算符</a:t>
            </a:r>
          </a:p>
          <a:p>
            <a:pPr>
              <a:lnSpc>
                <a:spcPct val="150000"/>
              </a:lnSpc>
            </a:pPr>
            <a:r>
              <a:rPr lang="zh-CN" altLang="en-US" sz="2400" b="1">
                <a:solidFill>
                  <a:schemeClr val="bg2"/>
                </a:solidFill>
              </a:rPr>
              <a:t>      也可用</a:t>
            </a:r>
            <a:r>
              <a:rPr lang="en-US" altLang="zh-CN" sz="2400" b="1">
                <a:solidFill>
                  <a:schemeClr val="bg2"/>
                </a:solidFill>
              </a:rPr>
              <a:t>(</a:t>
            </a:r>
            <a:r>
              <a:rPr lang="en-US" altLang="zh-CN" sz="2400" b="1">
                <a:solidFill>
                  <a:schemeClr val="bg2"/>
                </a:solidFill>
                <a:sym typeface="Symbol" pitchFamily="18" charset="2"/>
              </a:rPr>
              <a:t></a:t>
            </a:r>
            <a:r>
              <a:rPr lang="en-US" altLang="zh-CN" sz="2400" b="1">
                <a:solidFill>
                  <a:schemeClr val="bg2"/>
                </a:solidFill>
              </a:rPr>
              <a:t>x)</a:t>
            </a:r>
            <a:r>
              <a:rPr lang="zh-CN" altLang="en-US" sz="2400" b="1">
                <a:solidFill>
                  <a:schemeClr val="bg2"/>
                </a:solidFill>
              </a:rPr>
              <a:t>和（</a:t>
            </a:r>
            <a:r>
              <a:rPr lang="zh-CN" altLang="en-US" sz="2400" b="1">
                <a:solidFill>
                  <a:schemeClr val="bg2"/>
                </a:solidFill>
                <a:sym typeface="Symbol" pitchFamily="18" charset="2"/>
              </a:rPr>
              <a:t></a:t>
            </a:r>
            <a:r>
              <a:rPr lang="en-US" altLang="zh-CN" sz="2400" b="1">
                <a:solidFill>
                  <a:schemeClr val="bg2"/>
                </a:solidFill>
              </a:rPr>
              <a:t>x</a:t>
            </a:r>
            <a:r>
              <a:rPr lang="zh-CN" altLang="en-US" sz="2400" b="1">
                <a:solidFill>
                  <a:schemeClr val="bg2"/>
                </a:solidFill>
              </a:rPr>
              <a:t>）形成新的公式，但变量</a:t>
            </a:r>
            <a:r>
              <a:rPr lang="en-US" altLang="zh-CN" sz="2400" b="1">
                <a:solidFill>
                  <a:schemeClr val="bg2"/>
                </a:solidFill>
              </a:rPr>
              <a:t>x</a:t>
            </a:r>
            <a:r>
              <a:rPr lang="zh-CN" altLang="en-US" sz="2400" b="1">
                <a:solidFill>
                  <a:schemeClr val="bg2"/>
                </a:solidFill>
              </a:rPr>
              <a:t>是域变量，</a:t>
            </a:r>
          </a:p>
          <a:p>
            <a:pPr>
              <a:lnSpc>
                <a:spcPct val="150000"/>
              </a:lnSpc>
            </a:pPr>
            <a:r>
              <a:rPr lang="zh-CN" altLang="en-US" sz="2400" b="1">
                <a:solidFill>
                  <a:schemeClr val="bg2"/>
                </a:solidFill>
              </a:rPr>
              <a:t>      不是元组变量。</a:t>
            </a:r>
          </a:p>
          <a:p>
            <a:pPr>
              <a:lnSpc>
                <a:spcPct val="150000"/>
              </a:lnSpc>
            </a:pPr>
            <a:r>
              <a:rPr lang="zh-CN" altLang="en-US" sz="2400" b="1">
                <a:solidFill>
                  <a:schemeClr val="bg2"/>
                </a:solidFill>
              </a:rPr>
              <a:t>   自由域变量、约束域变量等概念和元组演算中一样。</a:t>
            </a:r>
          </a:p>
          <a:p>
            <a:pPr>
              <a:lnSpc>
                <a:spcPct val="150000"/>
              </a:lnSpc>
            </a:pPr>
            <a:endParaRPr lang="en-US" altLang="zh-CN" sz="2400" b="1">
              <a:solidFill>
                <a:schemeClr val="bg2"/>
              </a:solidFill>
            </a:endParaRP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表格 2">
            <a:extLst>
              <a:ext uri="{FF2B5EF4-FFF2-40B4-BE49-F238E27FC236}">
                <a16:creationId xmlns:a16="http://schemas.microsoft.com/office/drawing/2014/main" id="{F0767051-AEDE-B442-B522-C93FE13F7E6A}"/>
              </a:ext>
            </a:extLst>
          </p:cNvPr>
          <p:cNvGraphicFramePr>
            <a:graphicFrameLocks noGrp="1"/>
          </p:cNvGraphicFramePr>
          <p:nvPr>
            <p:extLst>
              <p:ext uri="{D42A27DB-BD31-4B8C-83A1-F6EECF244321}">
                <p14:modId xmlns:p14="http://schemas.microsoft.com/office/powerpoint/2010/main" val="803998465"/>
              </p:ext>
            </p:extLst>
          </p:nvPr>
        </p:nvGraphicFramePr>
        <p:xfrm>
          <a:off x="791349" y="770766"/>
          <a:ext cx="1391814" cy="1483360"/>
        </p:xfrm>
        <a:graphic>
          <a:graphicData uri="http://schemas.openxmlformats.org/drawingml/2006/table">
            <a:tbl>
              <a:tblPr firstRow="1" bandRow="1">
                <a:tableStyleId>{21E4AEA4-8DFA-4A89-87EB-49C32662AFE0}</a:tableStyleId>
              </a:tblPr>
              <a:tblGrid>
                <a:gridCol w="463938">
                  <a:extLst>
                    <a:ext uri="{9D8B030D-6E8A-4147-A177-3AD203B41FA5}">
                      <a16:colId xmlns:a16="http://schemas.microsoft.com/office/drawing/2014/main" val="714252338"/>
                    </a:ext>
                  </a:extLst>
                </a:gridCol>
                <a:gridCol w="463938">
                  <a:extLst>
                    <a:ext uri="{9D8B030D-6E8A-4147-A177-3AD203B41FA5}">
                      <a16:colId xmlns:a16="http://schemas.microsoft.com/office/drawing/2014/main" val="2451546550"/>
                    </a:ext>
                  </a:extLst>
                </a:gridCol>
                <a:gridCol w="463938">
                  <a:extLst>
                    <a:ext uri="{9D8B030D-6E8A-4147-A177-3AD203B41FA5}">
                      <a16:colId xmlns:a16="http://schemas.microsoft.com/office/drawing/2014/main" val="3724693902"/>
                    </a:ext>
                  </a:extLst>
                </a:gridCol>
              </a:tblGrid>
              <a:tr h="370840">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extLst>
                  <a:ext uri="{0D108BD9-81ED-4DB2-BD59-A6C34878D82A}">
                    <a16:rowId xmlns:a16="http://schemas.microsoft.com/office/drawing/2014/main" val="3063712680"/>
                  </a:ext>
                </a:extLst>
              </a:tr>
              <a:tr h="370840">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1701660883"/>
                  </a:ext>
                </a:extLst>
              </a:tr>
              <a:tr h="370840">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1257682670"/>
                  </a:ext>
                </a:extLst>
              </a:tr>
              <a:tr h="370840">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2513993912"/>
                  </a:ext>
                </a:extLst>
              </a:tr>
            </a:tbl>
          </a:graphicData>
        </a:graphic>
      </p:graphicFrame>
      <p:sp>
        <p:nvSpPr>
          <p:cNvPr id="3" name="文本框 2">
            <a:extLst>
              <a:ext uri="{FF2B5EF4-FFF2-40B4-BE49-F238E27FC236}">
                <a16:creationId xmlns:a16="http://schemas.microsoft.com/office/drawing/2014/main" id="{331CD57B-41EC-584A-9C7F-9386A83F3743}"/>
              </a:ext>
            </a:extLst>
          </p:cNvPr>
          <p:cNvSpPr txBox="1"/>
          <p:nvPr/>
        </p:nvSpPr>
        <p:spPr>
          <a:xfrm>
            <a:off x="1071917" y="432212"/>
            <a:ext cx="830677"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dirty="0">
                <a:solidFill>
                  <a:srgbClr val="FF0000"/>
                </a:solidFill>
              </a:rPr>
              <a:t>R</a:t>
            </a:r>
            <a:endParaRPr kumimoji="1" lang="zh-CN" altLang="en-US" sz="2000" b="1" u="sng" dirty="0">
              <a:solidFill>
                <a:schemeClr val="bg1"/>
              </a:solidFill>
            </a:endParaRPr>
          </a:p>
        </p:txBody>
      </p:sp>
      <p:graphicFrame>
        <p:nvGraphicFramePr>
          <p:cNvPr id="4" name="表格 2">
            <a:extLst>
              <a:ext uri="{FF2B5EF4-FFF2-40B4-BE49-F238E27FC236}">
                <a16:creationId xmlns:a16="http://schemas.microsoft.com/office/drawing/2014/main" id="{B1312B27-AAD6-4740-9169-5A564AB3ACB1}"/>
              </a:ext>
            </a:extLst>
          </p:cNvPr>
          <p:cNvGraphicFramePr>
            <a:graphicFrameLocks noGrp="1"/>
          </p:cNvGraphicFramePr>
          <p:nvPr>
            <p:extLst>
              <p:ext uri="{D42A27DB-BD31-4B8C-83A1-F6EECF244321}">
                <p14:modId xmlns:p14="http://schemas.microsoft.com/office/powerpoint/2010/main" val="2778914754"/>
              </p:ext>
            </p:extLst>
          </p:nvPr>
        </p:nvGraphicFramePr>
        <p:xfrm>
          <a:off x="2396600" y="785167"/>
          <a:ext cx="1391814" cy="1483360"/>
        </p:xfrm>
        <a:graphic>
          <a:graphicData uri="http://schemas.openxmlformats.org/drawingml/2006/table">
            <a:tbl>
              <a:tblPr firstRow="1" bandRow="1">
                <a:tableStyleId>{21E4AEA4-8DFA-4A89-87EB-49C32662AFE0}</a:tableStyleId>
              </a:tblPr>
              <a:tblGrid>
                <a:gridCol w="463938">
                  <a:extLst>
                    <a:ext uri="{9D8B030D-6E8A-4147-A177-3AD203B41FA5}">
                      <a16:colId xmlns:a16="http://schemas.microsoft.com/office/drawing/2014/main" val="714252338"/>
                    </a:ext>
                  </a:extLst>
                </a:gridCol>
                <a:gridCol w="463938">
                  <a:extLst>
                    <a:ext uri="{9D8B030D-6E8A-4147-A177-3AD203B41FA5}">
                      <a16:colId xmlns:a16="http://schemas.microsoft.com/office/drawing/2014/main" val="2451546550"/>
                    </a:ext>
                  </a:extLst>
                </a:gridCol>
                <a:gridCol w="463938">
                  <a:extLst>
                    <a:ext uri="{9D8B030D-6E8A-4147-A177-3AD203B41FA5}">
                      <a16:colId xmlns:a16="http://schemas.microsoft.com/office/drawing/2014/main" val="3724693902"/>
                    </a:ext>
                  </a:extLst>
                </a:gridCol>
              </a:tblGrid>
              <a:tr h="370840">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extLst>
                  <a:ext uri="{0D108BD9-81ED-4DB2-BD59-A6C34878D82A}">
                    <a16:rowId xmlns:a16="http://schemas.microsoft.com/office/drawing/2014/main" val="3063712680"/>
                  </a:ext>
                </a:extLst>
              </a:tr>
              <a:tr h="370840">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1701660883"/>
                  </a:ext>
                </a:extLst>
              </a:tr>
              <a:tr h="370840">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1257682670"/>
                  </a:ext>
                </a:extLst>
              </a:tr>
              <a:tr h="370840">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2513993912"/>
                  </a:ext>
                </a:extLst>
              </a:tr>
            </a:tbl>
          </a:graphicData>
        </a:graphic>
      </p:graphicFrame>
      <p:sp>
        <p:nvSpPr>
          <p:cNvPr id="5" name="文本框 4">
            <a:extLst>
              <a:ext uri="{FF2B5EF4-FFF2-40B4-BE49-F238E27FC236}">
                <a16:creationId xmlns:a16="http://schemas.microsoft.com/office/drawing/2014/main" id="{84D2F9C9-E825-0045-810E-F451AB87A16F}"/>
              </a:ext>
            </a:extLst>
          </p:cNvPr>
          <p:cNvSpPr txBox="1"/>
          <p:nvPr/>
        </p:nvSpPr>
        <p:spPr>
          <a:xfrm>
            <a:off x="2677168" y="446613"/>
            <a:ext cx="830677"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dirty="0">
                <a:solidFill>
                  <a:srgbClr val="FF0000"/>
                </a:solidFill>
              </a:rPr>
              <a:t>S</a:t>
            </a:r>
            <a:endParaRPr kumimoji="1" lang="zh-CN" altLang="en-US" sz="2000" b="1" u="sng" dirty="0">
              <a:solidFill>
                <a:schemeClr val="bg1"/>
              </a:solidFill>
            </a:endParaRPr>
          </a:p>
        </p:txBody>
      </p:sp>
      <p:graphicFrame>
        <p:nvGraphicFramePr>
          <p:cNvPr id="6" name="表格 2">
            <a:extLst>
              <a:ext uri="{FF2B5EF4-FFF2-40B4-BE49-F238E27FC236}">
                <a16:creationId xmlns:a16="http://schemas.microsoft.com/office/drawing/2014/main" id="{9102200C-7D08-C949-BA8A-5B741CA0935D}"/>
              </a:ext>
            </a:extLst>
          </p:cNvPr>
          <p:cNvGraphicFramePr>
            <a:graphicFrameLocks noGrp="1"/>
          </p:cNvGraphicFramePr>
          <p:nvPr>
            <p:extLst>
              <p:ext uri="{D42A27DB-BD31-4B8C-83A1-F6EECF244321}">
                <p14:modId xmlns:p14="http://schemas.microsoft.com/office/powerpoint/2010/main" val="2710901984"/>
              </p:ext>
            </p:extLst>
          </p:nvPr>
        </p:nvGraphicFramePr>
        <p:xfrm>
          <a:off x="6391234" y="785167"/>
          <a:ext cx="1391814" cy="741680"/>
        </p:xfrm>
        <a:graphic>
          <a:graphicData uri="http://schemas.openxmlformats.org/drawingml/2006/table">
            <a:tbl>
              <a:tblPr firstRow="1" bandRow="1">
                <a:tableStyleId>{21E4AEA4-8DFA-4A89-87EB-49C32662AFE0}</a:tableStyleId>
              </a:tblPr>
              <a:tblGrid>
                <a:gridCol w="463938">
                  <a:extLst>
                    <a:ext uri="{9D8B030D-6E8A-4147-A177-3AD203B41FA5}">
                      <a16:colId xmlns:a16="http://schemas.microsoft.com/office/drawing/2014/main" val="714252338"/>
                    </a:ext>
                  </a:extLst>
                </a:gridCol>
                <a:gridCol w="463938">
                  <a:extLst>
                    <a:ext uri="{9D8B030D-6E8A-4147-A177-3AD203B41FA5}">
                      <a16:colId xmlns:a16="http://schemas.microsoft.com/office/drawing/2014/main" val="2451546550"/>
                    </a:ext>
                  </a:extLst>
                </a:gridCol>
                <a:gridCol w="463938">
                  <a:extLst>
                    <a:ext uri="{9D8B030D-6E8A-4147-A177-3AD203B41FA5}">
                      <a16:colId xmlns:a16="http://schemas.microsoft.com/office/drawing/2014/main" val="3724693902"/>
                    </a:ext>
                  </a:extLst>
                </a:gridCol>
              </a:tblGrid>
              <a:tr h="370840">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extLst>
                  <a:ext uri="{0D108BD9-81ED-4DB2-BD59-A6C34878D82A}">
                    <a16:rowId xmlns:a16="http://schemas.microsoft.com/office/drawing/2014/main" val="3063712680"/>
                  </a:ext>
                </a:extLst>
              </a:tr>
              <a:tr h="370840">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1701660883"/>
                  </a:ext>
                </a:extLst>
              </a:tr>
            </a:tbl>
          </a:graphicData>
        </a:graphic>
      </p:graphicFrame>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EB279092-E28F-6242-9355-4BE09C1A7009}"/>
                  </a:ext>
                </a:extLst>
              </p:cNvPr>
              <p:cNvSpPr txBox="1"/>
              <p:nvPr/>
            </p:nvSpPr>
            <p:spPr>
              <a:xfrm>
                <a:off x="5513148" y="424382"/>
                <a:ext cx="3456587" cy="338554"/>
              </a:xfrm>
              <a:prstGeom prst="rect">
                <a:avLst/>
              </a:prstGeom>
              <a:noFill/>
            </p:spPr>
            <p:txBody>
              <a:bodyPr wrap="none" rtlCol="0">
                <a:spAutoFit/>
              </a:bodyPr>
              <a:lstStyle/>
              <a:p>
                <a:r>
                  <a:rPr kumimoji="1" lang="en-US" altLang="zh-CN" sz="2000" b="1" dirty="0">
                    <a:solidFill>
                      <a:srgbClr val="FF0000"/>
                    </a:solidFill>
                  </a:rPr>
                  <a:t>R1=</a:t>
                </a:r>
                <a:r>
                  <a:rPr lang="en-US" altLang="zh-CN" sz="2000" b="1" dirty="0">
                    <a:solidFill>
                      <a:srgbClr val="FF0000"/>
                    </a:solidFill>
                  </a:rPr>
                  <a:t>{</a:t>
                </a:r>
                <a:r>
                  <a:rPr lang="en-US" altLang="zh-CN" sz="2000" b="1" dirty="0" err="1">
                    <a:solidFill>
                      <a:srgbClr val="FF0000"/>
                    </a:solidFill>
                  </a:rPr>
                  <a:t>xyz|R</a:t>
                </a:r>
                <a:r>
                  <a:rPr lang="en-US" altLang="zh-CN" sz="2000" b="1" dirty="0">
                    <a:solidFill>
                      <a:srgbClr val="FF0000"/>
                    </a:solidFill>
                  </a:rPr>
                  <a:t>(</a:t>
                </a:r>
                <a:r>
                  <a:rPr lang="en-US" altLang="zh-CN" sz="2000" b="1" dirty="0" err="1">
                    <a:solidFill>
                      <a:srgbClr val="FF0000"/>
                    </a:solidFill>
                  </a:rPr>
                  <a:t>xyz</a:t>
                </a:r>
                <a:r>
                  <a:rPr lang="en-US" altLang="zh-CN" sz="2000" b="1" dirty="0">
                    <a:solidFill>
                      <a:srgbClr val="FF0000"/>
                    </a:solidFill>
                  </a:rPr>
                  <a:t>)</a:t>
                </a:r>
                <a14:m>
                  <m:oMath xmlns:m="http://schemas.openxmlformats.org/officeDocument/2006/math">
                    <m:r>
                      <a:rPr lang="en-US" altLang="zh-CN" sz="2000" b="1" i="1" smtClean="0">
                        <a:solidFill>
                          <a:srgbClr val="FF0000"/>
                        </a:solidFill>
                        <a:latin typeface="Cambria Math" panose="02040503050406030204" pitchFamily="18" charset="0"/>
                        <a:ea typeface="Cambria Math" panose="02040503050406030204" pitchFamily="18" charset="0"/>
                      </a:rPr>
                      <m:t>∧</m:t>
                    </m:r>
                    <m:r>
                      <m:rPr>
                        <m:nor/>
                      </m:rPr>
                      <a:rPr lang="en-US" altLang="zh-CN" sz="2000" b="1" dirty="0">
                        <a:solidFill>
                          <a:srgbClr val="FF0000"/>
                        </a:solidFill>
                      </a:rPr>
                      <m:t>x</m:t>
                    </m:r>
                    <m:r>
                      <m:rPr>
                        <m:nor/>
                      </m:rPr>
                      <a:rPr lang="en-US" altLang="zh-CN" sz="2000" b="1" dirty="0">
                        <a:solidFill>
                          <a:srgbClr val="FF0000"/>
                        </a:solidFill>
                      </a:rPr>
                      <m:t>&lt;5</m:t>
                    </m:r>
                    <m:r>
                      <a:rPr lang="en-US" altLang="zh-CN" sz="2000" b="1" i="1">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y&gt;3}</a:t>
                </a:r>
                <a:endParaRPr kumimoji="1" lang="zh-CN" altLang="en-US" sz="2000" b="1" u="sng" dirty="0">
                  <a:solidFill>
                    <a:schemeClr val="bg1"/>
                  </a:solidFill>
                </a:endParaRPr>
              </a:p>
            </p:txBody>
          </p:sp>
        </mc:Choice>
        <mc:Fallback xmlns="">
          <p:sp>
            <p:nvSpPr>
              <p:cNvPr id="7" name="文本框 6">
                <a:extLst>
                  <a:ext uri="{FF2B5EF4-FFF2-40B4-BE49-F238E27FC236}">
                    <a16:creationId xmlns:a16="http://schemas.microsoft.com/office/drawing/2014/main" id="{EB279092-E28F-6242-9355-4BE09C1A7009}"/>
                  </a:ext>
                </a:extLst>
              </p:cNvPr>
              <p:cNvSpPr txBox="1">
                <a:spLocks noRot="1" noChangeAspect="1" noMove="1" noResize="1" noEditPoints="1" noAdjustHandles="1" noChangeArrowheads="1" noChangeShapeType="1" noTextEdit="1"/>
              </p:cNvSpPr>
              <p:nvPr/>
            </p:nvSpPr>
            <p:spPr>
              <a:xfrm>
                <a:off x="5513148" y="424382"/>
                <a:ext cx="3456587" cy="338554"/>
              </a:xfrm>
              <a:prstGeom prst="rect">
                <a:avLst/>
              </a:prstGeom>
              <a:blipFill>
                <a:blip r:embed="rId3"/>
                <a:stretch>
                  <a:fillRect l="-1460" t="-32143" b="-25000"/>
                </a:stretch>
              </a:blipFill>
            </p:spPr>
            <p:txBody>
              <a:bodyPr/>
              <a:lstStyle/>
              <a:p>
                <a:r>
                  <a:rPr lang="zh-CN" altLang="en-US">
                    <a:noFill/>
                  </a:rPr>
                  <a:t> </a:t>
                </a:r>
              </a:p>
            </p:txBody>
          </p:sp>
        </mc:Fallback>
      </mc:AlternateContent>
      <p:graphicFrame>
        <p:nvGraphicFramePr>
          <p:cNvPr id="17" name="表格 2">
            <a:extLst>
              <a:ext uri="{FF2B5EF4-FFF2-40B4-BE49-F238E27FC236}">
                <a16:creationId xmlns:a16="http://schemas.microsoft.com/office/drawing/2014/main" id="{C0A8F93E-83AC-EE46-A55F-4A3EF63BEF52}"/>
              </a:ext>
            </a:extLst>
          </p:cNvPr>
          <p:cNvGraphicFramePr>
            <a:graphicFrameLocks noGrp="1"/>
          </p:cNvGraphicFramePr>
          <p:nvPr>
            <p:extLst>
              <p:ext uri="{D42A27DB-BD31-4B8C-83A1-F6EECF244321}">
                <p14:modId xmlns:p14="http://schemas.microsoft.com/office/powerpoint/2010/main" val="1415103047"/>
              </p:ext>
            </p:extLst>
          </p:nvPr>
        </p:nvGraphicFramePr>
        <p:xfrm>
          <a:off x="4036001" y="785167"/>
          <a:ext cx="927876" cy="1112520"/>
        </p:xfrm>
        <a:graphic>
          <a:graphicData uri="http://schemas.openxmlformats.org/drawingml/2006/table">
            <a:tbl>
              <a:tblPr firstRow="1" bandRow="1">
                <a:tableStyleId>{21E4AEA4-8DFA-4A89-87EB-49C32662AFE0}</a:tableStyleId>
              </a:tblPr>
              <a:tblGrid>
                <a:gridCol w="463938">
                  <a:extLst>
                    <a:ext uri="{9D8B030D-6E8A-4147-A177-3AD203B41FA5}">
                      <a16:colId xmlns:a16="http://schemas.microsoft.com/office/drawing/2014/main" val="714252338"/>
                    </a:ext>
                  </a:extLst>
                </a:gridCol>
                <a:gridCol w="463938">
                  <a:extLst>
                    <a:ext uri="{9D8B030D-6E8A-4147-A177-3AD203B41FA5}">
                      <a16:colId xmlns:a16="http://schemas.microsoft.com/office/drawing/2014/main" val="2451546550"/>
                    </a:ext>
                  </a:extLst>
                </a:gridCol>
              </a:tblGrid>
              <a:tr h="370840">
                <a:tc>
                  <a:txBody>
                    <a:bodyPr/>
                    <a:lstStyle/>
                    <a:p>
                      <a:pPr algn="ctr"/>
                      <a:r>
                        <a:rPr lang="en-US" altLang="zh-CN" dirty="0"/>
                        <a:t>D</a:t>
                      </a:r>
                      <a:endParaRPr lang="zh-CN" altLang="en-US" dirty="0"/>
                    </a:p>
                  </a:txBody>
                  <a:tcPr/>
                </a:tc>
                <a:tc>
                  <a:txBody>
                    <a:bodyPr/>
                    <a:lstStyle/>
                    <a:p>
                      <a:pPr algn="ctr"/>
                      <a:r>
                        <a:rPr lang="en-US" altLang="zh-CN" dirty="0"/>
                        <a:t>E</a:t>
                      </a:r>
                      <a:endParaRPr lang="zh-CN" altLang="en-US" dirty="0"/>
                    </a:p>
                  </a:txBody>
                  <a:tcPr/>
                </a:tc>
                <a:extLst>
                  <a:ext uri="{0D108BD9-81ED-4DB2-BD59-A6C34878D82A}">
                    <a16:rowId xmlns:a16="http://schemas.microsoft.com/office/drawing/2014/main" val="3063712680"/>
                  </a:ext>
                </a:extLst>
              </a:tr>
              <a:tr h="370840">
                <a:tc>
                  <a:txBody>
                    <a:bodyPr/>
                    <a:lstStyle/>
                    <a:p>
                      <a:pPr algn="ctr"/>
                      <a:r>
                        <a:rPr lang="en-US" altLang="zh-CN" dirty="0"/>
                        <a:t>7</a:t>
                      </a:r>
                      <a:endParaRPr lang="zh-CN" altLang="en-US" dirty="0"/>
                    </a:p>
                  </a:txBody>
                  <a:tcPr/>
                </a:tc>
                <a:tc>
                  <a:txBody>
                    <a:bodyPr/>
                    <a:lstStyle/>
                    <a:p>
                      <a:pPr algn="ctr"/>
                      <a:r>
                        <a:rPr lang="en-US" altLang="zh-CN" dirty="0"/>
                        <a:t>5</a:t>
                      </a:r>
                      <a:endParaRPr lang="zh-CN" altLang="en-US" dirty="0"/>
                    </a:p>
                  </a:txBody>
                  <a:tcPr/>
                </a:tc>
                <a:extLst>
                  <a:ext uri="{0D108BD9-81ED-4DB2-BD59-A6C34878D82A}">
                    <a16:rowId xmlns:a16="http://schemas.microsoft.com/office/drawing/2014/main" val="1701660883"/>
                  </a:ext>
                </a:extLst>
              </a:tr>
              <a:tr h="370840">
                <a:tc>
                  <a:txBody>
                    <a:bodyPr/>
                    <a:lstStyle/>
                    <a:p>
                      <a:pPr algn="ctr"/>
                      <a:r>
                        <a:rPr lang="en-US" altLang="zh-CN" dirty="0"/>
                        <a:t>4</a:t>
                      </a:r>
                      <a:endParaRPr lang="zh-CN" altLang="en-US" dirty="0"/>
                    </a:p>
                  </a:txBody>
                  <a:tcPr/>
                </a:tc>
                <a:tc>
                  <a:txBody>
                    <a:bodyPr/>
                    <a:lstStyle/>
                    <a:p>
                      <a:pPr algn="ctr"/>
                      <a:r>
                        <a:rPr lang="en-US" altLang="zh-CN" dirty="0"/>
                        <a:t>8</a:t>
                      </a:r>
                      <a:endParaRPr lang="zh-CN" altLang="en-US" dirty="0"/>
                    </a:p>
                  </a:txBody>
                  <a:tcPr/>
                </a:tc>
                <a:extLst>
                  <a:ext uri="{0D108BD9-81ED-4DB2-BD59-A6C34878D82A}">
                    <a16:rowId xmlns:a16="http://schemas.microsoft.com/office/drawing/2014/main" val="1257682670"/>
                  </a:ext>
                </a:extLst>
              </a:tr>
            </a:tbl>
          </a:graphicData>
        </a:graphic>
      </p:graphicFrame>
      <p:sp>
        <p:nvSpPr>
          <p:cNvPr id="19" name="文本框 18">
            <a:extLst>
              <a:ext uri="{FF2B5EF4-FFF2-40B4-BE49-F238E27FC236}">
                <a16:creationId xmlns:a16="http://schemas.microsoft.com/office/drawing/2014/main" id="{A54B7232-248C-8F4A-9BFE-25CA247BB302}"/>
              </a:ext>
            </a:extLst>
          </p:cNvPr>
          <p:cNvSpPr txBox="1"/>
          <p:nvPr/>
        </p:nvSpPr>
        <p:spPr>
          <a:xfrm>
            <a:off x="4084600" y="446613"/>
            <a:ext cx="830677" cy="338554"/>
          </a:xfrm>
          <a:prstGeom prst="rect">
            <a:avLst/>
          </a:prstGeom>
          <a:noFill/>
        </p:spPr>
        <p:txBody>
          <a:bodyPr wrap="none" rtlCol="0">
            <a:spAutoFit/>
          </a:bodyPr>
          <a:lstStyle/>
          <a:p>
            <a:r>
              <a:rPr kumimoji="1" lang="zh-CN" altLang="en-US" sz="2000" b="1" u="sng" dirty="0">
                <a:solidFill>
                  <a:schemeClr val="bg1"/>
                </a:solidFill>
              </a:rPr>
              <a:t>关系</a:t>
            </a:r>
            <a:r>
              <a:rPr kumimoji="1" lang="en-US" altLang="zh-CN" sz="2000" b="1" dirty="0">
                <a:solidFill>
                  <a:srgbClr val="FF0000"/>
                </a:solidFill>
              </a:rPr>
              <a:t>W</a:t>
            </a:r>
            <a:endParaRPr kumimoji="1" lang="zh-CN" altLang="en-US" sz="2000" b="1" u="sng" dirty="0">
              <a:solidFill>
                <a:schemeClr val="bg1"/>
              </a:solidFill>
            </a:endParaRPr>
          </a:p>
        </p:txBody>
      </p:sp>
      <mc:AlternateContent xmlns:mc="http://schemas.openxmlformats.org/markup-compatibility/2006" xmlns:a14="http://schemas.microsoft.com/office/drawing/2010/main">
        <mc:Choice Requires="a14">
          <p:sp>
            <p:nvSpPr>
              <p:cNvPr id="20" name="文本框 19">
                <a:extLst>
                  <a:ext uri="{FF2B5EF4-FFF2-40B4-BE49-F238E27FC236}">
                    <a16:creationId xmlns:a16="http://schemas.microsoft.com/office/drawing/2014/main" id="{793B5386-F579-C140-95B8-E041FE57D412}"/>
                  </a:ext>
                </a:extLst>
              </p:cNvPr>
              <p:cNvSpPr txBox="1"/>
              <p:nvPr/>
            </p:nvSpPr>
            <p:spPr>
              <a:xfrm>
                <a:off x="106729" y="2806661"/>
                <a:ext cx="3951916" cy="338554"/>
              </a:xfrm>
              <a:prstGeom prst="rect">
                <a:avLst/>
              </a:prstGeom>
              <a:noFill/>
            </p:spPr>
            <p:txBody>
              <a:bodyPr wrap="none" rtlCol="0">
                <a:spAutoFit/>
              </a:bodyPr>
              <a:lstStyle/>
              <a:p>
                <a:r>
                  <a:rPr kumimoji="1" lang="en-US" altLang="zh-CN" sz="2000" b="1" dirty="0">
                    <a:solidFill>
                      <a:srgbClr val="FF0000"/>
                    </a:solidFill>
                  </a:rPr>
                  <a:t>R2=</a:t>
                </a:r>
                <a:r>
                  <a:rPr lang="en-US" altLang="zh-CN" sz="2000" b="1" dirty="0">
                    <a:solidFill>
                      <a:srgbClr val="FF0000"/>
                    </a:solidFill>
                  </a:rPr>
                  <a:t>{</a:t>
                </a:r>
                <a:r>
                  <a:rPr lang="en-US" altLang="zh-CN" sz="2000" b="1" dirty="0" err="1">
                    <a:solidFill>
                      <a:srgbClr val="FF0000"/>
                    </a:solidFill>
                  </a:rPr>
                  <a:t>xyz|R</a:t>
                </a:r>
                <a:r>
                  <a:rPr lang="en-US" altLang="zh-CN" sz="2000" b="1" dirty="0">
                    <a:solidFill>
                      <a:srgbClr val="FF0000"/>
                    </a:solidFill>
                  </a:rPr>
                  <a:t>(</a:t>
                </a:r>
                <a:r>
                  <a:rPr lang="en-US" altLang="zh-CN" sz="2000" b="1" dirty="0" err="1">
                    <a:solidFill>
                      <a:srgbClr val="FF0000"/>
                    </a:solidFill>
                  </a:rPr>
                  <a:t>xyz</a:t>
                </a:r>
                <a:r>
                  <a:rPr lang="en-US" altLang="zh-CN" sz="2000" b="1" dirty="0">
                    <a:solidFill>
                      <a:srgbClr val="FF0000"/>
                    </a:solidFill>
                  </a:rPr>
                  <a:t>)</a:t>
                </a:r>
                <a14:m>
                  <m:oMath xmlns:m="http://schemas.openxmlformats.org/officeDocument/2006/math">
                    <m:r>
                      <a:rPr lang="en-US" altLang="zh-CN" sz="2000" b="1" i="1" dirty="0">
                        <a:solidFill>
                          <a:srgbClr val="FF0000"/>
                        </a:solidFill>
                        <a:latin typeface="Cambria Math" panose="02040503050406030204" pitchFamily="18" charset="0"/>
                        <a:ea typeface="Cambria Math" panose="02040503050406030204" pitchFamily="18" charset="0"/>
                        <a:sym typeface="Symbol" pitchFamily="18" charset="2"/>
                      </a:rPr>
                      <m:t>∨</m:t>
                    </m:r>
                    <m:r>
                      <m:rPr>
                        <m:nor/>
                      </m:rPr>
                      <a:rPr lang="en-US" altLang="zh-CN" sz="2000" b="1" dirty="0">
                        <a:solidFill>
                          <a:srgbClr val="FF0000"/>
                        </a:solidFill>
                      </a:rPr>
                      <m:t>(</m:t>
                    </m:r>
                    <m:r>
                      <m:rPr>
                        <m:nor/>
                      </m:rPr>
                      <a:rPr lang="en-US" altLang="zh-CN" sz="2000" b="1" i="0" dirty="0" smtClean="0">
                        <a:solidFill>
                          <a:srgbClr val="FF0000"/>
                        </a:solidFill>
                      </a:rPr>
                      <m:t>S</m:t>
                    </m:r>
                    <m:r>
                      <m:rPr>
                        <m:nor/>
                      </m:rPr>
                      <a:rPr lang="en-US" altLang="zh-CN" sz="2000" b="1" dirty="0">
                        <a:solidFill>
                          <a:srgbClr val="FF0000"/>
                        </a:solidFill>
                      </a:rPr>
                      <m:t>(</m:t>
                    </m:r>
                    <m:r>
                      <m:rPr>
                        <m:nor/>
                      </m:rPr>
                      <a:rPr lang="en-US" altLang="zh-CN" sz="2000" b="1" dirty="0">
                        <a:solidFill>
                          <a:srgbClr val="FF0000"/>
                        </a:solidFill>
                      </a:rPr>
                      <m:t>xyz</m:t>
                    </m:r>
                    <m:r>
                      <m:rPr>
                        <m:nor/>
                      </m:rPr>
                      <a:rPr lang="en-US" altLang="zh-CN" sz="2000" b="1" dirty="0">
                        <a:solidFill>
                          <a:srgbClr val="FF0000"/>
                        </a:solidFill>
                      </a:rPr>
                      <m:t>)</m:t>
                    </m:r>
                    <m:r>
                      <a:rPr lang="en-US" altLang="zh-CN" sz="2000" b="1" i="1" smtClean="0">
                        <a:solidFill>
                          <a:srgbClr val="FF0000"/>
                        </a:solidFill>
                        <a:latin typeface="Cambria Math" panose="02040503050406030204" pitchFamily="18" charset="0"/>
                        <a:ea typeface="Cambria Math" panose="02040503050406030204" pitchFamily="18" charset="0"/>
                      </a:rPr>
                      <m:t>∧</m:t>
                    </m:r>
                  </m:oMath>
                </a14:m>
                <a:r>
                  <a:rPr lang="en-US" altLang="zh-CN" sz="2000" b="1" dirty="0">
                    <a:solidFill>
                      <a:srgbClr val="FF0000"/>
                    </a:solidFill>
                  </a:rPr>
                  <a:t>y=4)}</a:t>
                </a:r>
                <a:endParaRPr kumimoji="1" lang="zh-CN" altLang="en-US" sz="2000" b="1" u="sng" dirty="0">
                  <a:solidFill>
                    <a:schemeClr val="bg1"/>
                  </a:solidFill>
                </a:endParaRPr>
              </a:p>
            </p:txBody>
          </p:sp>
        </mc:Choice>
        <mc:Fallback xmlns="">
          <p:sp>
            <p:nvSpPr>
              <p:cNvPr id="20" name="文本框 19">
                <a:extLst>
                  <a:ext uri="{FF2B5EF4-FFF2-40B4-BE49-F238E27FC236}">
                    <a16:creationId xmlns:a16="http://schemas.microsoft.com/office/drawing/2014/main" id="{793B5386-F579-C140-95B8-E041FE57D412}"/>
                  </a:ext>
                </a:extLst>
              </p:cNvPr>
              <p:cNvSpPr txBox="1">
                <a:spLocks noRot="1" noChangeAspect="1" noMove="1" noResize="1" noEditPoints="1" noAdjustHandles="1" noChangeArrowheads="1" noChangeShapeType="1" noTextEdit="1"/>
              </p:cNvSpPr>
              <p:nvPr/>
            </p:nvSpPr>
            <p:spPr>
              <a:xfrm>
                <a:off x="106729" y="2806661"/>
                <a:ext cx="3951916" cy="338554"/>
              </a:xfrm>
              <a:prstGeom prst="rect">
                <a:avLst/>
              </a:prstGeom>
              <a:blipFill>
                <a:blip r:embed="rId4"/>
                <a:stretch>
                  <a:fillRect l="-1603" t="-28571" r="-1282" b="-25000"/>
                </a:stretch>
              </a:blipFill>
            </p:spPr>
            <p:txBody>
              <a:bodyPr/>
              <a:lstStyle/>
              <a:p>
                <a:r>
                  <a:rPr lang="zh-CN" altLang="en-US">
                    <a:noFill/>
                  </a:rPr>
                  <a:t> </a:t>
                </a:r>
              </a:p>
            </p:txBody>
          </p:sp>
        </mc:Fallback>
      </mc:AlternateContent>
      <p:graphicFrame>
        <p:nvGraphicFramePr>
          <p:cNvPr id="21" name="表格 2">
            <a:extLst>
              <a:ext uri="{FF2B5EF4-FFF2-40B4-BE49-F238E27FC236}">
                <a16:creationId xmlns:a16="http://schemas.microsoft.com/office/drawing/2014/main" id="{A1BA8AE2-D00A-C847-9E6E-2E80A4A33845}"/>
              </a:ext>
            </a:extLst>
          </p:cNvPr>
          <p:cNvGraphicFramePr>
            <a:graphicFrameLocks noGrp="1"/>
          </p:cNvGraphicFramePr>
          <p:nvPr>
            <p:extLst>
              <p:ext uri="{D42A27DB-BD31-4B8C-83A1-F6EECF244321}">
                <p14:modId xmlns:p14="http://schemas.microsoft.com/office/powerpoint/2010/main" val="1989315717"/>
              </p:ext>
            </p:extLst>
          </p:nvPr>
        </p:nvGraphicFramePr>
        <p:xfrm>
          <a:off x="1225889" y="3403563"/>
          <a:ext cx="1391814" cy="1854200"/>
        </p:xfrm>
        <a:graphic>
          <a:graphicData uri="http://schemas.openxmlformats.org/drawingml/2006/table">
            <a:tbl>
              <a:tblPr firstRow="1" bandRow="1">
                <a:tableStyleId>{21E4AEA4-8DFA-4A89-87EB-49C32662AFE0}</a:tableStyleId>
              </a:tblPr>
              <a:tblGrid>
                <a:gridCol w="463938">
                  <a:extLst>
                    <a:ext uri="{9D8B030D-6E8A-4147-A177-3AD203B41FA5}">
                      <a16:colId xmlns:a16="http://schemas.microsoft.com/office/drawing/2014/main" val="714252338"/>
                    </a:ext>
                  </a:extLst>
                </a:gridCol>
                <a:gridCol w="463938">
                  <a:extLst>
                    <a:ext uri="{9D8B030D-6E8A-4147-A177-3AD203B41FA5}">
                      <a16:colId xmlns:a16="http://schemas.microsoft.com/office/drawing/2014/main" val="2451546550"/>
                    </a:ext>
                  </a:extLst>
                </a:gridCol>
                <a:gridCol w="463938">
                  <a:extLst>
                    <a:ext uri="{9D8B030D-6E8A-4147-A177-3AD203B41FA5}">
                      <a16:colId xmlns:a16="http://schemas.microsoft.com/office/drawing/2014/main" val="3724693902"/>
                    </a:ext>
                  </a:extLst>
                </a:gridCol>
              </a:tblGrid>
              <a:tr h="370840">
                <a:tc>
                  <a:txBody>
                    <a:bodyPr/>
                    <a:lstStyle/>
                    <a:p>
                      <a:pPr algn="ctr"/>
                      <a:r>
                        <a:rPr lang="en-US" altLang="zh-CN" dirty="0"/>
                        <a:t>A</a:t>
                      </a:r>
                      <a:endParaRPr lang="zh-CN" altLang="en-US" dirty="0"/>
                    </a:p>
                  </a:txBody>
                  <a:tcPr/>
                </a:tc>
                <a:tc>
                  <a:txBody>
                    <a:bodyPr/>
                    <a:lstStyle/>
                    <a:p>
                      <a:pPr algn="ctr"/>
                      <a:r>
                        <a:rPr lang="en-US" altLang="zh-CN" dirty="0"/>
                        <a:t>B</a:t>
                      </a:r>
                      <a:endParaRPr lang="zh-CN" altLang="en-US" dirty="0"/>
                    </a:p>
                  </a:txBody>
                  <a:tcPr/>
                </a:tc>
                <a:tc>
                  <a:txBody>
                    <a:bodyPr/>
                    <a:lstStyle/>
                    <a:p>
                      <a:pPr algn="ctr"/>
                      <a:r>
                        <a:rPr lang="en-US" altLang="zh-CN" dirty="0"/>
                        <a:t>C</a:t>
                      </a:r>
                      <a:endParaRPr lang="zh-CN" altLang="en-US" dirty="0"/>
                    </a:p>
                  </a:txBody>
                  <a:tcPr/>
                </a:tc>
                <a:extLst>
                  <a:ext uri="{0D108BD9-81ED-4DB2-BD59-A6C34878D82A}">
                    <a16:rowId xmlns:a16="http://schemas.microsoft.com/office/drawing/2014/main" val="3063712680"/>
                  </a:ext>
                </a:extLst>
              </a:tr>
              <a:tr h="370840">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extLst>
                  <a:ext uri="{0D108BD9-81ED-4DB2-BD59-A6C34878D82A}">
                    <a16:rowId xmlns:a16="http://schemas.microsoft.com/office/drawing/2014/main" val="1701660883"/>
                  </a:ext>
                </a:extLst>
              </a:tr>
              <a:tr h="370840">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tc>
                  <a:txBody>
                    <a:bodyPr/>
                    <a:lstStyle/>
                    <a:p>
                      <a:pPr algn="ctr"/>
                      <a:r>
                        <a:rPr lang="en-US" altLang="zh-CN" dirty="0"/>
                        <a:t>6</a:t>
                      </a:r>
                      <a:endParaRPr lang="zh-CN" altLang="en-US" dirty="0"/>
                    </a:p>
                  </a:txBody>
                  <a:tcPr/>
                </a:tc>
                <a:extLst>
                  <a:ext uri="{0D108BD9-81ED-4DB2-BD59-A6C34878D82A}">
                    <a16:rowId xmlns:a16="http://schemas.microsoft.com/office/drawing/2014/main" val="1257682670"/>
                  </a:ext>
                </a:extLst>
              </a:tr>
              <a:tr h="370840">
                <a:tc>
                  <a:txBody>
                    <a:bodyPr/>
                    <a:lstStyle/>
                    <a:p>
                      <a:pPr algn="ctr"/>
                      <a:r>
                        <a:rPr lang="en-US" altLang="zh-CN" dirty="0"/>
                        <a:t>7</a:t>
                      </a:r>
                      <a:endParaRPr lang="zh-CN" altLang="en-US" dirty="0"/>
                    </a:p>
                  </a:txBody>
                  <a:tcPr/>
                </a:tc>
                <a:tc>
                  <a:txBody>
                    <a:bodyPr/>
                    <a:lstStyle/>
                    <a:p>
                      <a:pPr algn="ctr"/>
                      <a:r>
                        <a:rPr lang="en-US" altLang="zh-CN" dirty="0"/>
                        <a:t>8</a:t>
                      </a:r>
                      <a:endParaRPr lang="zh-CN" altLang="en-US" dirty="0"/>
                    </a:p>
                  </a:txBody>
                  <a:tcPr/>
                </a:tc>
                <a:tc>
                  <a:txBody>
                    <a:bodyPr/>
                    <a:lstStyle/>
                    <a:p>
                      <a:pPr algn="ctr"/>
                      <a:r>
                        <a:rPr lang="en-US" altLang="zh-CN" dirty="0"/>
                        <a:t>9</a:t>
                      </a:r>
                      <a:endParaRPr lang="zh-CN" altLang="en-US" dirty="0"/>
                    </a:p>
                  </a:txBody>
                  <a:tcPr/>
                </a:tc>
                <a:extLst>
                  <a:ext uri="{0D108BD9-81ED-4DB2-BD59-A6C34878D82A}">
                    <a16:rowId xmlns:a16="http://schemas.microsoft.com/office/drawing/2014/main" val="2513993912"/>
                  </a:ext>
                </a:extLst>
              </a:tr>
              <a:tr h="370840">
                <a:tc>
                  <a:txBody>
                    <a:bodyPr/>
                    <a:lstStyle/>
                    <a:p>
                      <a:pPr algn="ctr"/>
                      <a:r>
                        <a:rPr lang="en-US" altLang="zh-CN" dirty="0">
                          <a:solidFill>
                            <a:srgbClr val="FF0000"/>
                          </a:solidFill>
                        </a:rPr>
                        <a:t>3</a:t>
                      </a:r>
                      <a:endParaRPr lang="zh-CN" altLang="en-US" dirty="0">
                        <a:solidFill>
                          <a:srgbClr val="FF0000"/>
                        </a:solidFill>
                      </a:endParaRPr>
                    </a:p>
                  </a:txBody>
                  <a:tcPr/>
                </a:tc>
                <a:tc>
                  <a:txBody>
                    <a:bodyPr/>
                    <a:lstStyle/>
                    <a:p>
                      <a:pPr algn="ctr"/>
                      <a:r>
                        <a:rPr lang="en-US" altLang="zh-CN" dirty="0">
                          <a:solidFill>
                            <a:srgbClr val="FF0000"/>
                          </a:solidFill>
                        </a:rPr>
                        <a:t>4</a:t>
                      </a:r>
                      <a:endParaRPr lang="zh-CN" altLang="en-US" dirty="0">
                        <a:solidFill>
                          <a:srgbClr val="FF0000"/>
                        </a:solidFill>
                      </a:endParaRPr>
                    </a:p>
                  </a:txBody>
                  <a:tcPr/>
                </a:tc>
                <a:tc>
                  <a:txBody>
                    <a:bodyPr/>
                    <a:lstStyle/>
                    <a:p>
                      <a:pPr algn="ctr"/>
                      <a:r>
                        <a:rPr lang="en-US" altLang="zh-CN" dirty="0">
                          <a:solidFill>
                            <a:srgbClr val="FF0000"/>
                          </a:solidFill>
                        </a:rPr>
                        <a:t>6</a:t>
                      </a:r>
                      <a:endParaRPr lang="zh-CN" altLang="en-US" dirty="0">
                        <a:solidFill>
                          <a:srgbClr val="FF0000"/>
                        </a:solidFill>
                      </a:endParaRPr>
                    </a:p>
                  </a:txBody>
                  <a:tcPr/>
                </a:tc>
                <a:extLst>
                  <a:ext uri="{0D108BD9-81ED-4DB2-BD59-A6C34878D82A}">
                    <a16:rowId xmlns:a16="http://schemas.microsoft.com/office/drawing/2014/main" val="737872020"/>
                  </a:ext>
                </a:extLst>
              </a:tr>
            </a:tbl>
          </a:graphicData>
        </a:graphic>
      </p:graphicFrame>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0C002C44-370D-3E43-9929-3639120D0F23}"/>
                  </a:ext>
                </a:extLst>
              </p:cNvPr>
              <p:cNvSpPr txBox="1"/>
              <p:nvPr/>
            </p:nvSpPr>
            <p:spPr>
              <a:xfrm>
                <a:off x="3988105" y="2830933"/>
                <a:ext cx="5263877" cy="338554"/>
              </a:xfrm>
              <a:prstGeom prst="rect">
                <a:avLst/>
              </a:prstGeom>
              <a:noFill/>
            </p:spPr>
            <p:txBody>
              <a:bodyPr wrap="none" rtlCol="0">
                <a:spAutoFit/>
              </a:bodyPr>
              <a:lstStyle/>
              <a:p>
                <a:r>
                  <a:rPr kumimoji="1" lang="en-US" altLang="zh-CN" sz="2000" b="1" dirty="0">
                    <a:solidFill>
                      <a:srgbClr val="FF0000"/>
                    </a:solidFill>
                  </a:rPr>
                  <a:t>R3=</a:t>
                </a:r>
                <a:r>
                  <a:rPr lang="en-US" altLang="zh-CN" sz="2000" b="1" dirty="0">
                    <a:solidFill>
                      <a:srgbClr val="FF0000"/>
                    </a:solidFill>
                  </a:rPr>
                  <a:t>{</a:t>
                </a:r>
                <a:r>
                  <a:rPr lang="en-US" altLang="zh-CN" sz="2000" b="1" dirty="0" err="1">
                    <a:solidFill>
                      <a:srgbClr val="FF0000"/>
                    </a:solidFill>
                  </a:rPr>
                  <a:t>xyz</a:t>
                </a:r>
                <a:r>
                  <a:rPr lang="en-US" altLang="zh-CN" sz="2000" b="1" dirty="0">
                    <a:solidFill>
                      <a:srgbClr val="FF0000"/>
                    </a:solidFill>
                  </a:rPr>
                  <a:t>|</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u)(</a:t>
                </a:r>
                <a:r>
                  <a:rPr lang="en-US" altLang="zh-CN" sz="2000" b="1" dirty="0">
                    <a:solidFill>
                      <a:srgbClr val="660033"/>
                    </a:solidFill>
                    <a:sym typeface="Symbol" pitchFamily="18" charset="2"/>
                  </a:rPr>
                  <a:t></a:t>
                </a:r>
                <a:r>
                  <a:rPr lang="en-US" altLang="zh-CN" sz="2000" b="1" dirty="0">
                    <a:solidFill>
                      <a:srgbClr val="660033"/>
                    </a:solidFill>
                  </a:rPr>
                  <a:t>v)(</a:t>
                </a:r>
                <a:r>
                  <a:rPr lang="en-US" altLang="zh-CN" sz="2000" b="1" dirty="0">
                    <a:solidFill>
                      <a:srgbClr val="FF0000"/>
                    </a:solidFill>
                  </a:rPr>
                  <a:t>R(</a:t>
                </a:r>
                <a:r>
                  <a:rPr lang="en-US" altLang="zh-CN" sz="2000" b="1" dirty="0" err="1">
                    <a:solidFill>
                      <a:srgbClr val="FF0000"/>
                    </a:solidFill>
                  </a:rPr>
                  <a:t>zxu</a:t>
                </a:r>
                <a:r>
                  <a:rPr lang="en-US" altLang="zh-CN" sz="2000" b="1" dirty="0">
                    <a:solidFill>
                      <a:srgbClr val="FF0000"/>
                    </a:solidFill>
                  </a:rPr>
                  <a:t>)</a:t>
                </a:r>
                <a14:m>
                  <m:oMath xmlns:m="http://schemas.openxmlformats.org/officeDocument/2006/math">
                    <m:r>
                      <a:rPr lang="en-US" altLang="zh-CN" sz="2000" b="1" i="1" dirty="0">
                        <a:solidFill>
                          <a:srgbClr val="FF0000"/>
                        </a:solidFill>
                        <a:latin typeface="Cambria Math" panose="02040503050406030204" pitchFamily="18" charset="0"/>
                        <a:ea typeface="Cambria Math" panose="02040503050406030204" pitchFamily="18" charset="0"/>
                        <a:sym typeface="Symbol" pitchFamily="18" charset="2"/>
                      </a:rPr>
                      <m:t>∨</m:t>
                    </m:r>
                    <m:r>
                      <m:rPr>
                        <m:nor/>
                      </m:rPr>
                      <a:rPr lang="en-US" altLang="zh-CN" sz="2000" b="1" i="0" dirty="0" smtClean="0">
                        <a:solidFill>
                          <a:srgbClr val="FF0000"/>
                        </a:solidFill>
                        <a:latin typeface="Cambria Math" panose="02040503050406030204" pitchFamily="18" charset="0"/>
                        <a:ea typeface="Cambria Math" panose="02040503050406030204" pitchFamily="18" charset="0"/>
                        <a:sym typeface="Symbol" pitchFamily="18" charset="2"/>
                      </a:rPr>
                      <m:t>W</m:t>
                    </m:r>
                    <m:r>
                      <m:rPr>
                        <m:nor/>
                      </m:rPr>
                      <a:rPr lang="en-US" altLang="zh-CN" sz="2000" b="1" i="0" dirty="0" smtClean="0">
                        <a:solidFill>
                          <a:srgbClr val="FF0000"/>
                        </a:solidFill>
                        <a:latin typeface="Cambria Math" panose="02040503050406030204" pitchFamily="18" charset="0"/>
                        <a:ea typeface="Cambria Math" panose="02040503050406030204" pitchFamily="18" charset="0"/>
                        <a:sym typeface="Symbol" pitchFamily="18" charset="2"/>
                      </a:rPr>
                      <m:t>(</m:t>
                    </m:r>
                    <m:r>
                      <m:rPr>
                        <m:nor/>
                      </m:rPr>
                      <a:rPr lang="en-US" altLang="zh-CN" sz="2000" b="1" i="0" dirty="0" smtClean="0">
                        <a:solidFill>
                          <a:srgbClr val="FF0000"/>
                        </a:solidFill>
                        <a:latin typeface="Cambria Math" panose="02040503050406030204" pitchFamily="18" charset="0"/>
                        <a:ea typeface="Cambria Math" panose="02040503050406030204" pitchFamily="18" charset="0"/>
                        <a:sym typeface="Symbol" pitchFamily="18" charset="2"/>
                      </a:rPr>
                      <m:t>yv</m:t>
                    </m:r>
                    <m:r>
                      <m:rPr>
                        <m:nor/>
                      </m:rPr>
                      <a:rPr lang="en-US" altLang="zh-CN" sz="2000" b="1" i="0" dirty="0" smtClean="0">
                        <a:solidFill>
                          <a:srgbClr val="FF0000"/>
                        </a:solidFill>
                        <a:latin typeface="Cambria Math" panose="02040503050406030204" pitchFamily="18" charset="0"/>
                        <a:ea typeface="Cambria Math" panose="02040503050406030204" pitchFamily="18" charset="0"/>
                        <a:sym typeface="Symbol" pitchFamily="18" charset="2"/>
                      </a:rPr>
                      <m:t>)</m:t>
                    </m:r>
                    <m:r>
                      <a:rPr lang="en-US" altLang="zh-CN" sz="2000" b="1" i="1" smtClean="0">
                        <a:solidFill>
                          <a:srgbClr val="FF0000"/>
                        </a:solidFill>
                        <a:latin typeface="Cambria Math" panose="02040503050406030204" pitchFamily="18" charset="0"/>
                        <a:ea typeface="Cambria Math" panose="02040503050406030204" pitchFamily="18" charset="0"/>
                      </a:rPr>
                      <m:t>∧</m:t>
                    </m:r>
                    <m:r>
                      <a:rPr lang="en-US" altLang="zh-CN" sz="2000" b="1" i="0" smtClean="0">
                        <a:solidFill>
                          <a:srgbClr val="FF0000"/>
                        </a:solidFill>
                        <a:latin typeface="Cambria Math" panose="02040503050406030204" pitchFamily="18" charset="0"/>
                        <a:ea typeface="Cambria Math" panose="02040503050406030204" pitchFamily="18" charset="0"/>
                      </a:rPr>
                      <m:t>𝐮</m:t>
                    </m:r>
                    <m:r>
                      <a:rPr lang="en-US" altLang="zh-CN" sz="2000" b="1" i="0" smtClean="0">
                        <a:solidFill>
                          <a:srgbClr val="FF0000"/>
                        </a:solidFill>
                        <a:latin typeface="Cambria Math" panose="02040503050406030204" pitchFamily="18" charset="0"/>
                        <a:ea typeface="Cambria Math" panose="02040503050406030204" pitchFamily="18" charset="0"/>
                      </a:rPr>
                      <m:t>&gt;</m:t>
                    </m:r>
                    <m:r>
                      <a:rPr lang="en-US" altLang="zh-CN" sz="2000" b="1" i="0" smtClean="0">
                        <a:solidFill>
                          <a:srgbClr val="FF0000"/>
                        </a:solidFill>
                        <a:latin typeface="Cambria Math" panose="02040503050406030204" pitchFamily="18" charset="0"/>
                        <a:ea typeface="Cambria Math" panose="02040503050406030204" pitchFamily="18" charset="0"/>
                      </a:rPr>
                      <m:t>𝐯</m:t>
                    </m:r>
                  </m:oMath>
                </a14:m>
                <a:r>
                  <a:rPr lang="en-US" altLang="zh-CN" sz="2000" b="1" dirty="0">
                    <a:solidFill>
                      <a:srgbClr val="FF0000"/>
                    </a:solidFill>
                  </a:rPr>
                  <a:t>}</a:t>
                </a:r>
                <a:endParaRPr kumimoji="1" lang="zh-CN" altLang="en-US" sz="2000" b="1" u="sng" dirty="0">
                  <a:solidFill>
                    <a:schemeClr val="bg1"/>
                  </a:solidFill>
                </a:endParaRPr>
              </a:p>
            </p:txBody>
          </p:sp>
        </mc:Choice>
        <mc:Fallback xmlns="">
          <p:sp>
            <p:nvSpPr>
              <p:cNvPr id="22" name="文本框 21">
                <a:extLst>
                  <a:ext uri="{FF2B5EF4-FFF2-40B4-BE49-F238E27FC236}">
                    <a16:creationId xmlns:a16="http://schemas.microsoft.com/office/drawing/2014/main" id="{0C002C44-370D-3E43-9929-3639120D0F23}"/>
                  </a:ext>
                </a:extLst>
              </p:cNvPr>
              <p:cNvSpPr txBox="1">
                <a:spLocks noRot="1" noChangeAspect="1" noMove="1" noResize="1" noEditPoints="1" noAdjustHandles="1" noChangeArrowheads="1" noChangeShapeType="1" noTextEdit="1"/>
              </p:cNvSpPr>
              <p:nvPr/>
            </p:nvSpPr>
            <p:spPr>
              <a:xfrm>
                <a:off x="3988105" y="2830933"/>
                <a:ext cx="5263877" cy="338554"/>
              </a:xfrm>
              <a:prstGeom prst="rect">
                <a:avLst/>
              </a:prstGeom>
              <a:blipFill>
                <a:blip r:embed="rId5"/>
                <a:stretch>
                  <a:fillRect l="-962" t="-28571" b="-28571"/>
                </a:stretch>
              </a:blipFill>
            </p:spPr>
            <p:txBody>
              <a:bodyPr/>
              <a:lstStyle/>
              <a:p>
                <a:r>
                  <a:rPr lang="zh-CN" altLang="en-US">
                    <a:noFill/>
                  </a:rPr>
                  <a:t> </a:t>
                </a:r>
              </a:p>
            </p:txBody>
          </p:sp>
        </mc:Fallback>
      </mc:AlternateContent>
      <p:graphicFrame>
        <p:nvGraphicFramePr>
          <p:cNvPr id="23" name="表格 2">
            <a:extLst>
              <a:ext uri="{FF2B5EF4-FFF2-40B4-BE49-F238E27FC236}">
                <a16:creationId xmlns:a16="http://schemas.microsoft.com/office/drawing/2014/main" id="{2E5C6B11-F222-2946-8D35-1E4979A6A57F}"/>
              </a:ext>
            </a:extLst>
          </p:cNvPr>
          <p:cNvGraphicFramePr>
            <a:graphicFrameLocks noGrp="1"/>
          </p:cNvGraphicFramePr>
          <p:nvPr>
            <p:extLst>
              <p:ext uri="{D42A27DB-BD31-4B8C-83A1-F6EECF244321}">
                <p14:modId xmlns:p14="http://schemas.microsoft.com/office/powerpoint/2010/main" val="3513083794"/>
              </p:ext>
            </p:extLst>
          </p:nvPr>
        </p:nvGraphicFramePr>
        <p:xfrm>
          <a:off x="7166302" y="3588983"/>
          <a:ext cx="1391814" cy="1483360"/>
        </p:xfrm>
        <a:graphic>
          <a:graphicData uri="http://schemas.openxmlformats.org/drawingml/2006/table">
            <a:tbl>
              <a:tblPr firstRow="1" bandRow="1">
                <a:tableStyleId>{21E4AEA4-8DFA-4A89-87EB-49C32662AFE0}</a:tableStyleId>
              </a:tblPr>
              <a:tblGrid>
                <a:gridCol w="463938">
                  <a:extLst>
                    <a:ext uri="{9D8B030D-6E8A-4147-A177-3AD203B41FA5}">
                      <a16:colId xmlns:a16="http://schemas.microsoft.com/office/drawing/2014/main" val="714252338"/>
                    </a:ext>
                  </a:extLst>
                </a:gridCol>
                <a:gridCol w="463938">
                  <a:extLst>
                    <a:ext uri="{9D8B030D-6E8A-4147-A177-3AD203B41FA5}">
                      <a16:colId xmlns:a16="http://schemas.microsoft.com/office/drawing/2014/main" val="2451546550"/>
                    </a:ext>
                  </a:extLst>
                </a:gridCol>
                <a:gridCol w="463938">
                  <a:extLst>
                    <a:ext uri="{9D8B030D-6E8A-4147-A177-3AD203B41FA5}">
                      <a16:colId xmlns:a16="http://schemas.microsoft.com/office/drawing/2014/main" val="3724693902"/>
                    </a:ext>
                  </a:extLst>
                </a:gridCol>
              </a:tblGrid>
              <a:tr h="370840">
                <a:tc>
                  <a:txBody>
                    <a:bodyPr/>
                    <a:lstStyle/>
                    <a:p>
                      <a:pPr algn="ctr"/>
                      <a:r>
                        <a:rPr lang="en-US" altLang="zh-CN" dirty="0"/>
                        <a:t>B</a:t>
                      </a:r>
                      <a:endParaRPr lang="zh-CN" altLang="en-US" dirty="0"/>
                    </a:p>
                  </a:txBody>
                  <a:tcPr/>
                </a:tc>
                <a:tc>
                  <a:txBody>
                    <a:bodyPr/>
                    <a:lstStyle/>
                    <a:p>
                      <a:pPr algn="ctr"/>
                      <a:r>
                        <a:rPr lang="en-US" altLang="zh-CN" dirty="0"/>
                        <a:t>D</a:t>
                      </a:r>
                      <a:endParaRPr lang="zh-CN" altLang="en-US" dirty="0"/>
                    </a:p>
                  </a:txBody>
                  <a:tcPr/>
                </a:tc>
                <a:tc>
                  <a:txBody>
                    <a:bodyPr/>
                    <a:lstStyle/>
                    <a:p>
                      <a:pPr algn="ctr"/>
                      <a:r>
                        <a:rPr lang="en-US" altLang="zh-CN" dirty="0"/>
                        <a:t>A</a:t>
                      </a:r>
                      <a:endParaRPr lang="zh-CN" altLang="en-US" dirty="0"/>
                    </a:p>
                  </a:txBody>
                  <a:tcPr/>
                </a:tc>
                <a:extLst>
                  <a:ext uri="{0D108BD9-81ED-4DB2-BD59-A6C34878D82A}">
                    <a16:rowId xmlns:a16="http://schemas.microsoft.com/office/drawing/2014/main" val="3063712680"/>
                  </a:ext>
                </a:extLst>
              </a:tr>
              <a:tr h="370840">
                <a:tc>
                  <a:txBody>
                    <a:bodyPr/>
                    <a:lstStyle/>
                    <a:p>
                      <a:pPr algn="ctr"/>
                      <a:r>
                        <a:rPr lang="en-US" altLang="zh-CN" dirty="0"/>
                        <a:t>5</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1701660883"/>
                  </a:ext>
                </a:extLst>
              </a:tr>
              <a:tr h="370840">
                <a:tc>
                  <a:txBody>
                    <a:bodyPr/>
                    <a:lstStyle/>
                    <a:p>
                      <a:pPr algn="ctr"/>
                      <a:r>
                        <a:rPr lang="en-US" altLang="zh-CN" dirty="0"/>
                        <a:t>8</a:t>
                      </a:r>
                      <a:endParaRPr lang="zh-CN" altLang="en-US" dirty="0"/>
                    </a:p>
                  </a:txBody>
                  <a:tcPr/>
                </a:tc>
                <a:tc>
                  <a:txBody>
                    <a:bodyPr/>
                    <a:lstStyle/>
                    <a:p>
                      <a:pPr algn="ctr"/>
                      <a:r>
                        <a:rPr lang="en-US" altLang="zh-CN" dirty="0"/>
                        <a:t>7</a:t>
                      </a:r>
                      <a:endParaRPr lang="zh-CN" altLang="en-US" dirty="0"/>
                    </a:p>
                  </a:txBody>
                  <a:tcPr/>
                </a:tc>
                <a:tc>
                  <a:txBody>
                    <a:bodyPr/>
                    <a:lstStyle/>
                    <a:p>
                      <a:pPr algn="ctr"/>
                      <a:r>
                        <a:rPr lang="en-US" altLang="zh-CN" dirty="0"/>
                        <a:t>7</a:t>
                      </a:r>
                      <a:endParaRPr lang="zh-CN" altLang="en-US" dirty="0"/>
                    </a:p>
                  </a:txBody>
                  <a:tcPr/>
                </a:tc>
                <a:extLst>
                  <a:ext uri="{0D108BD9-81ED-4DB2-BD59-A6C34878D82A}">
                    <a16:rowId xmlns:a16="http://schemas.microsoft.com/office/drawing/2014/main" val="1257682670"/>
                  </a:ext>
                </a:extLst>
              </a:tr>
              <a:tr h="370840">
                <a:tc>
                  <a:txBody>
                    <a:bodyPr/>
                    <a:lstStyle/>
                    <a:p>
                      <a:pPr algn="ctr"/>
                      <a:r>
                        <a:rPr lang="en-US" altLang="zh-CN" dirty="0"/>
                        <a:t>8</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7</a:t>
                      </a:r>
                      <a:endParaRPr lang="zh-CN" altLang="en-US" dirty="0"/>
                    </a:p>
                  </a:txBody>
                  <a:tcPr/>
                </a:tc>
                <a:extLst>
                  <a:ext uri="{0D108BD9-81ED-4DB2-BD59-A6C34878D82A}">
                    <a16:rowId xmlns:a16="http://schemas.microsoft.com/office/drawing/2014/main" val="2513993912"/>
                  </a:ext>
                </a:extLst>
              </a:tr>
            </a:tbl>
          </a:graphicData>
        </a:graphic>
      </p:graphicFrame>
      <p:graphicFrame>
        <p:nvGraphicFramePr>
          <p:cNvPr id="24" name="表格 18">
            <a:extLst>
              <a:ext uri="{FF2B5EF4-FFF2-40B4-BE49-F238E27FC236}">
                <a16:creationId xmlns:a16="http://schemas.microsoft.com/office/drawing/2014/main" id="{AB138B7F-6A73-524A-AB29-3F15C6D8DF35}"/>
              </a:ext>
            </a:extLst>
          </p:cNvPr>
          <p:cNvGraphicFramePr>
            <a:graphicFrameLocks noGrp="1"/>
          </p:cNvGraphicFramePr>
          <p:nvPr>
            <p:extLst>
              <p:ext uri="{D42A27DB-BD31-4B8C-83A1-F6EECF244321}">
                <p14:modId xmlns:p14="http://schemas.microsoft.com/office/powerpoint/2010/main" val="1924769991"/>
              </p:ext>
            </p:extLst>
          </p:nvPr>
        </p:nvGraphicFramePr>
        <p:xfrm>
          <a:off x="4366067" y="3965684"/>
          <a:ext cx="2294165" cy="1585616"/>
        </p:xfrm>
        <a:graphic>
          <a:graphicData uri="http://schemas.openxmlformats.org/drawingml/2006/table">
            <a:tbl>
              <a:tblPr firstRow="1" bandRow="1">
                <a:tableStyleId>{5C22544A-7EE6-4342-B048-85BDC9FD1C3A}</a:tableStyleId>
              </a:tblPr>
              <a:tblGrid>
                <a:gridCol w="458833">
                  <a:extLst>
                    <a:ext uri="{9D8B030D-6E8A-4147-A177-3AD203B41FA5}">
                      <a16:colId xmlns:a16="http://schemas.microsoft.com/office/drawing/2014/main" val="4093480548"/>
                    </a:ext>
                  </a:extLst>
                </a:gridCol>
                <a:gridCol w="458833">
                  <a:extLst>
                    <a:ext uri="{9D8B030D-6E8A-4147-A177-3AD203B41FA5}">
                      <a16:colId xmlns:a16="http://schemas.microsoft.com/office/drawing/2014/main" val="608761719"/>
                    </a:ext>
                  </a:extLst>
                </a:gridCol>
                <a:gridCol w="458833">
                  <a:extLst>
                    <a:ext uri="{9D8B030D-6E8A-4147-A177-3AD203B41FA5}">
                      <a16:colId xmlns:a16="http://schemas.microsoft.com/office/drawing/2014/main" val="4099431555"/>
                    </a:ext>
                  </a:extLst>
                </a:gridCol>
                <a:gridCol w="458833">
                  <a:extLst>
                    <a:ext uri="{9D8B030D-6E8A-4147-A177-3AD203B41FA5}">
                      <a16:colId xmlns:a16="http://schemas.microsoft.com/office/drawing/2014/main" val="1215674076"/>
                    </a:ext>
                  </a:extLst>
                </a:gridCol>
                <a:gridCol w="458833">
                  <a:extLst>
                    <a:ext uri="{9D8B030D-6E8A-4147-A177-3AD203B41FA5}">
                      <a16:colId xmlns:a16="http://schemas.microsoft.com/office/drawing/2014/main" val="2564172800"/>
                    </a:ext>
                  </a:extLst>
                </a:gridCol>
              </a:tblGrid>
              <a:tr h="396404">
                <a:tc>
                  <a:txBody>
                    <a:bodyPr/>
                    <a:lstStyle/>
                    <a:p>
                      <a:pPr algn="ctr"/>
                      <a:r>
                        <a:rPr lang="en-US" altLang="zh-CN" dirty="0">
                          <a:solidFill>
                            <a:schemeClr val="bg2"/>
                          </a:solidFill>
                        </a:rPr>
                        <a:t>A</a:t>
                      </a:r>
                      <a:endParaRPr lang="zh-CN" altLang="en-US" dirty="0">
                        <a:solidFill>
                          <a:schemeClr val="bg2"/>
                        </a:solidFill>
                      </a:endParaRPr>
                    </a:p>
                  </a:txBody>
                  <a:tcPr/>
                </a:tc>
                <a:tc>
                  <a:txBody>
                    <a:bodyPr/>
                    <a:lstStyle/>
                    <a:p>
                      <a:pPr algn="ctr"/>
                      <a:r>
                        <a:rPr lang="en-US" altLang="zh-CN" dirty="0">
                          <a:solidFill>
                            <a:schemeClr val="bg2"/>
                          </a:solidFill>
                        </a:rPr>
                        <a:t>B</a:t>
                      </a:r>
                      <a:endParaRPr lang="zh-CN" altLang="en-US" dirty="0">
                        <a:solidFill>
                          <a:schemeClr val="bg2"/>
                        </a:solidFill>
                      </a:endParaRPr>
                    </a:p>
                  </a:txBody>
                  <a:tcPr/>
                </a:tc>
                <a:tc>
                  <a:txBody>
                    <a:bodyPr/>
                    <a:lstStyle/>
                    <a:p>
                      <a:pPr algn="ctr"/>
                      <a:r>
                        <a:rPr lang="en-US" altLang="zh-CN" dirty="0">
                          <a:solidFill>
                            <a:schemeClr val="bg2"/>
                          </a:solidFill>
                        </a:rPr>
                        <a:t>C</a:t>
                      </a:r>
                      <a:endParaRPr lang="zh-CN" altLang="en-US" dirty="0">
                        <a:solidFill>
                          <a:schemeClr val="bg2"/>
                        </a:solidFill>
                      </a:endParaRPr>
                    </a:p>
                  </a:txBody>
                  <a:tcPr/>
                </a:tc>
                <a:tc>
                  <a:txBody>
                    <a:bodyPr/>
                    <a:lstStyle/>
                    <a:p>
                      <a:pPr algn="ctr"/>
                      <a:r>
                        <a:rPr lang="en-US" altLang="zh-CN" dirty="0">
                          <a:solidFill>
                            <a:schemeClr val="bg2"/>
                          </a:solidFill>
                        </a:rPr>
                        <a:t>D</a:t>
                      </a:r>
                      <a:endParaRPr lang="zh-CN" altLang="en-US" dirty="0">
                        <a:solidFill>
                          <a:schemeClr val="bg2"/>
                        </a:solidFill>
                      </a:endParaRPr>
                    </a:p>
                  </a:txBody>
                  <a:tcPr/>
                </a:tc>
                <a:tc>
                  <a:txBody>
                    <a:bodyPr/>
                    <a:lstStyle/>
                    <a:p>
                      <a:pPr algn="ctr"/>
                      <a:r>
                        <a:rPr lang="en-US" altLang="zh-CN" dirty="0">
                          <a:solidFill>
                            <a:schemeClr val="bg2"/>
                          </a:solidFill>
                        </a:rPr>
                        <a:t>E</a:t>
                      </a:r>
                      <a:endParaRPr lang="zh-CN" altLang="en-US" dirty="0">
                        <a:solidFill>
                          <a:schemeClr val="bg2"/>
                        </a:solidFill>
                      </a:endParaRPr>
                    </a:p>
                  </a:txBody>
                  <a:tcPr/>
                </a:tc>
                <a:extLst>
                  <a:ext uri="{0D108BD9-81ED-4DB2-BD59-A6C34878D82A}">
                    <a16:rowId xmlns:a16="http://schemas.microsoft.com/office/drawing/2014/main" val="2033514866"/>
                  </a:ext>
                </a:extLst>
              </a:tr>
              <a:tr h="396404">
                <a:tc>
                  <a:txBody>
                    <a:bodyPr/>
                    <a:lstStyle/>
                    <a:p>
                      <a:pPr algn="ctr"/>
                      <a:r>
                        <a:rPr lang="en-US" altLang="zh-CN" dirty="0">
                          <a:solidFill>
                            <a:schemeClr val="bg2"/>
                          </a:solidFill>
                        </a:rPr>
                        <a:t>4</a:t>
                      </a:r>
                      <a:endParaRPr lang="zh-CN" altLang="en-US" dirty="0">
                        <a:solidFill>
                          <a:schemeClr val="bg2"/>
                        </a:solidFill>
                      </a:endParaRPr>
                    </a:p>
                  </a:txBody>
                  <a:tcPr/>
                </a:tc>
                <a:tc>
                  <a:txBody>
                    <a:bodyPr/>
                    <a:lstStyle/>
                    <a:p>
                      <a:pPr algn="ctr"/>
                      <a:r>
                        <a:rPr lang="en-US" altLang="zh-CN" dirty="0">
                          <a:solidFill>
                            <a:schemeClr val="bg2"/>
                          </a:solidFill>
                        </a:rPr>
                        <a:t>5</a:t>
                      </a:r>
                      <a:endParaRPr lang="zh-CN" altLang="en-US" dirty="0">
                        <a:solidFill>
                          <a:schemeClr val="bg2"/>
                        </a:solidFill>
                      </a:endParaRPr>
                    </a:p>
                  </a:txBody>
                  <a:tcPr/>
                </a:tc>
                <a:tc>
                  <a:txBody>
                    <a:bodyPr/>
                    <a:lstStyle/>
                    <a:p>
                      <a:pPr algn="ctr"/>
                      <a:r>
                        <a:rPr lang="en-US" altLang="zh-CN" dirty="0">
                          <a:solidFill>
                            <a:srgbClr val="FF0000"/>
                          </a:solidFill>
                        </a:rPr>
                        <a:t>6</a:t>
                      </a:r>
                      <a:endParaRPr lang="zh-CN" altLang="en-US" dirty="0">
                        <a:solidFill>
                          <a:srgbClr val="FF0000"/>
                        </a:solidFill>
                      </a:endParaRPr>
                    </a:p>
                  </a:txBody>
                  <a:tcPr/>
                </a:tc>
                <a:tc>
                  <a:txBody>
                    <a:bodyPr/>
                    <a:lstStyle/>
                    <a:p>
                      <a:pPr algn="ctr"/>
                      <a:r>
                        <a:rPr lang="en-US" altLang="zh-CN" dirty="0">
                          <a:solidFill>
                            <a:schemeClr val="bg2"/>
                          </a:solidFill>
                        </a:rPr>
                        <a:t>7</a:t>
                      </a:r>
                      <a:endParaRPr lang="zh-CN" altLang="en-US" dirty="0">
                        <a:solidFill>
                          <a:schemeClr val="bg2"/>
                        </a:solidFill>
                      </a:endParaRPr>
                    </a:p>
                  </a:txBody>
                  <a:tcPr/>
                </a:tc>
                <a:tc>
                  <a:txBody>
                    <a:bodyPr/>
                    <a:lstStyle/>
                    <a:p>
                      <a:pPr algn="ctr"/>
                      <a:r>
                        <a:rPr lang="en-US" altLang="zh-CN" dirty="0">
                          <a:solidFill>
                            <a:srgbClr val="FF0000"/>
                          </a:solidFill>
                        </a:rPr>
                        <a:t>5</a:t>
                      </a:r>
                      <a:endParaRPr lang="zh-CN" altLang="en-US" dirty="0">
                        <a:solidFill>
                          <a:srgbClr val="FF0000"/>
                        </a:solidFill>
                      </a:endParaRPr>
                    </a:p>
                  </a:txBody>
                  <a:tcPr/>
                </a:tc>
                <a:extLst>
                  <a:ext uri="{0D108BD9-81ED-4DB2-BD59-A6C34878D82A}">
                    <a16:rowId xmlns:a16="http://schemas.microsoft.com/office/drawing/2014/main" val="1214579483"/>
                  </a:ext>
                </a:extLst>
              </a:tr>
              <a:tr h="396404">
                <a:tc>
                  <a:txBody>
                    <a:bodyPr/>
                    <a:lstStyle/>
                    <a:p>
                      <a:pPr marL="0" algn="ctr" defTabSz="914400" rtl="0" eaLnBrk="1" latinLnBrk="0" hangingPunct="1"/>
                      <a:r>
                        <a:rPr lang="en-US" altLang="zh-CN" sz="1800" kern="1200" dirty="0">
                          <a:solidFill>
                            <a:schemeClr val="bg2"/>
                          </a:solidFill>
                          <a:latin typeface="+mn-lt"/>
                          <a:ea typeface="+mn-ea"/>
                          <a:cs typeface="+mn-cs"/>
                        </a:rPr>
                        <a:t>7</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a:solidFill>
                            <a:schemeClr val="bg2"/>
                          </a:solidFill>
                          <a:latin typeface="+mn-lt"/>
                          <a:ea typeface="+mn-ea"/>
                          <a:cs typeface="+mn-cs"/>
                        </a:rPr>
                        <a:t>8</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rgbClr val="FF0000"/>
                          </a:solidFill>
                          <a:latin typeface="+mn-lt"/>
                          <a:ea typeface="+mn-ea"/>
                          <a:cs typeface="+mn-cs"/>
                        </a:rPr>
                        <a:t>9</a:t>
                      </a:r>
                      <a:endParaRPr lang="zh-CN" altLang="en-US" sz="1800" kern="1200" dirty="0">
                        <a:solidFill>
                          <a:srgbClr val="FF0000"/>
                        </a:solidFill>
                        <a:latin typeface="+mn-lt"/>
                        <a:ea typeface="+mn-ea"/>
                        <a:cs typeface="+mn-cs"/>
                      </a:endParaRPr>
                    </a:p>
                  </a:txBody>
                  <a:tcPr/>
                </a:tc>
                <a:tc>
                  <a:txBody>
                    <a:bodyPr/>
                    <a:lstStyle/>
                    <a:p>
                      <a:pPr algn="ctr"/>
                      <a:r>
                        <a:rPr lang="en-US" altLang="zh-CN" dirty="0">
                          <a:solidFill>
                            <a:schemeClr val="bg2"/>
                          </a:solidFill>
                        </a:rPr>
                        <a:t>7</a:t>
                      </a:r>
                      <a:endParaRPr lang="zh-CN" altLang="en-US" dirty="0">
                        <a:solidFill>
                          <a:schemeClr val="bg2"/>
                        </a:solidFill>
                      </a:endParaRPr>
                    </a:p>
                  </a:txBody>
                  <a:tcPr/>
                </a:tc>
                <a:tc>
                  <a:txBody>
                    <a:bodyPr/>
                    <a:lstStyle/>
                    <a:p>
                      <a:pPr algn="ctr"/>
                      <a:r>
                        <a:rPr lang="en-US" altLang="zh-CN" dirty="0">
                          <a:solidFill>
                            <a:srgbClr val="FF0000"/>
                          </a:solidFill>
                        </a:rPr>
                        <a:t>5</a:t>
                      </a:r>
                      <a:endParaRPr lang="zh-CN" altLang="en-US" dirty="0">
                        <a:solidFill>
                          <a:srgbClr val="FF0000"/>
                        </a:solidFill>
                      </a:endParaRPr>
                    </a:p>
                  </a:txBody>
                  <a:tcPr/>
                </a:tc>
                <a:extLst>
                  <a:ext uri="{0D108BD9-81ED-4DB2-BD59-A6C34878D82A}">
                    <a16:rowId xmlns:a16="http://schemas.microsoft.com/office/drawing/2014/main" val="3294011426"/>
                  </a:ext>
                </a:extLst>
              </a:tr>
              <a:tr h="396404">
                <a:tc>
                  <a:txBody>
                    <a:bodyPr/>
                    <a:lstStyle/>
                    <a:p>
                      <a:pPr marL="0" algn="ctr" defTabSz="914400" rtl="0" eaLnBrk="1" latinLnBrk="0" hangingPunct="1"/>
                      <a:r>
                        <a:rPr lang="en-US" altLang="zh-CN" sz="1800" kern="1200" dirty="0">
                          <a:solidFill>
                            <a:schemeClr val="bg2"/>
                          </a:solidFill>
                          <a:latin typeface="+mn-lt"/>
                          <a:ea typeface="+mn-ea"/>
                          <a:cs typeface="+mn-cs"/>
                        </a:rPr>
                        <a:t>7</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8</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rgbClr val="FF0000"/>
                          </a:solidFill>
                          <a:latin typeface="+mn-lt"/>
                          <a:ea typeface="+mn-ea"/>
                          <a:cs typeface="+mn-cs"/>
                        </a:rPr>
                        <a:t>9</a:t>
                      </a:r>
                      <a:endParaRPr lang="zh-CN" altLang="en-US" sz="1800" kern="1200" dirty="0">
                        <a:solidFill>
                          <a:srgbClr val="FF0000"/>
                        </a:solidFill>
                        <a:latin typeface="+mn-lt"/>
                        <a:ea typeface="+mn-ea"/>
                        <a:cs typeface="+mn-cs"/>
                      </a:endParaRPr>
                    </a:p>
                  </a:txBody>
                  <a:tcPr/>
                </a:tc>
                <a:tc>
                  <a:txBody>
                    <a:bodyPr/>
                    <a:lstStyle/>
                    <a:p>
                      <a:pPr marL="0" algn="ctr" defTabSz="914400" rtl="0" eaLnBrk="1" latinLnBrk="0" hangingPunct="1"/>
                      <a:r>
                        <a:rPr lang="en-US" altLang="zh-CN" sz="1800" kern="1200" dirty="0">
                          <a:solidFill>
                            <a:schemeClr val="bg2"/>
                          </a:solidFill>
                          <a:latin typeface="+mn-lt"/>
                          <a:ea typeface="+mn-ea"/>
                          <a:cs typeface="+mn-cs"/>
                        </a:rPr>
                        <a:t>4</a:t>
                      </a:r>
                      <a:endParaRPr lang="zh-CN" altLang="en-US" sz="1800" kern="1200" dirty="0">
                        <a:solidFill>
                          <a:schemeClr val="bg2"/>
                        </a:solidFill>
                        <a:latin typeface="+mn-lt"/>
                        <a:ea typeface="+mn-ea"/>
                        <a:cs typeface="+mn-cs"/>
                      </a:endParaRPr>
                    </a:p>
                  </a:txBody>
                  <a:tcPr/>
                </a:tc>
                <a:tc>
                  <a:txBody>
                    <a:bodyPr/>
                    <a:lstStyle/>
                    <a:p>
                      <a:pPr marL="0" algn="ctr" defTabSz="914400" rtl="0" eaLnBrk="1" latinLnBrk="0" hangingPunct="1"/>
                      <a:r>
                        <a:rPr lang="en-US" altLang="zh-CN" sz="1800" kern="1200" dirty="0">
                          <a:solidFill>
                            <a:srgbClr val="FF0000"/>
                          </a:solidFill>
                          <a:latin typeface="+mn-lt"/>
                          <a:ea typeface="+mn-ea"/>
                          <a:cs typeface="+mn-cs"/>
                        </a:rPr>
                        <a:t>8</a:t>
                      </a:r>
                      <a:endParaRPr lang="zh-CN" altLang="en-US" sz="1800" kern="1200" dirty="0">
                        <a:solidFill>
                          <a:srgbClr val="FF0000"/>
                        </a:solidFill>
                        <a:latin typeface="+mn-lt"/>
                        <a:ea typeface="+mn-ea"/>
                        <a:cs typeface="+mn-cs"/>
                      </a:endParaRPr>
                    </a:p>
                  </a:txBody>
                  <a:tcPr/>
                </a:tc>
                <a:extLst>
                  <a:ext uri="{0D108BD9-81ED-4DB2-BD59-A6C34878D82A}">
                    <a16:rowId xmlns:a16="http://schemas.microsoft.com/office/drawing/2014/main" val="581832607"/>
                  </a:ext>
                </a:extLst>
              </a:tr>
            </a:tbl>
          </a:graphicData>
        </a:graphic>
      </p:graphicFrame>
      <p:graphicFrame>
        <p:nvGraphicFramePr>
          <p:cNvPr id="25" name="表格 24">
            <a:extLst>
              <a:ext uri="{FF2B5EF4-FFF2-40B4-BE49-F238E27FC236}">
                <a16:creationId xmlns:a16="http://schemas.microsoft.com/office/drawing/2014/main" id="{01FD94D4-22B0-E74C-89D5-2ADD08257F90}"/>
              </a:ext>
            </a:extLst>
          </p:cNvPr>
          <p:cNvGraphicFramePr>
            <a:graphicFrameLocks noGrp="1"/>
          </p:cNvGraphicFramePr>
          <p:nvPr>
            <p:extLst>
              <p:ext uri="{D42A27DB-BD31-4B8C-83A1-F6EECF244321}">
                <p14:modId xmlns:p14="http://schemas.microsoft.com/office/powerpoint/2010/main" val="1053968466"/>
              </p:ext>
            </p:extLst>
          </p:nvPr>
        </p:nvGraphicFramePr>
        <p:xfrm>
          <a:off x="4366066" y="3545008"/>
          <a:ext cx="2294165" cy="396404"/>
        </p:xfrm>
        <a:graphic>
          <a:graphicData uri="http://schemas.openxmlformats.org/drawingml/2006/table">
            <a:tbl>
              <a:tblPr firstRow="1" bandRow="1">
                <a:tableStyleId>{5C22544A-7EE6-4342-B048-85BDC9FD1C3A}</a:tableStyleId>
              </a:tblPr>
              <a:tblGrid>
                <a:gridCol w="458833">
                  <a:extLst>
                    <a:ext uri="{9D8B030D-6E8A-4147-A177-3AD203B41FA5}">
                      <a16:colId xmlns:a16="http://schemas.microsoft.com/office/drawing/2014/main" val="2860555700"/>
                    </a:ext>
                  </a:extLst>
                </a:gridCol>
                <a:gridCol w="458833">
                  <a:extLst>
                    <a:ext uri="{9D8B030D-6E8A-4147-A177-3AD203B41FA5}">
                      <a16:colId xmlns:a16="http://schemas.microsoft.com/office/drawing/2014/main" val="2331431672"/>
                    </a:ext>
                  </a:extLst>
                </a:gridCol>
                <a:gridCol w="458833">
                  <a:extLst>
                    <a:ext uri="{9D8B030D-6E8A-4147-A177-3AD203B41FA5}">
                      <a16:colId xmlns:a16="http://schemas.microsoft.com/office/drawing/2014/main" val="744363512"/>
                    </a:ext>
                  </a:extLst>
                </a:gridCol>
                <a:gridCol w="458833">
                  <a:extLst>
                    <a:ext uri="{9D8B030D-6E8A-4147-A177-3AD203B41FA5}">
                      <a16:colId xmlns:a16="http://schemas.microsoft.com/office/drawing/2014/main" val="2252477882"/>
                    </a:ext>
                  </a:extLst>
                </a:gridCol>
                <a:gridCol w="458833">
                  <a:extLst>
                    <a:ext uri="{9D8B030D-6E8A-4147-A177-3AD203B41FA5}">
                      <a16:colId xmlns:a16="http://schemas.microsoft.com/office/drawing/2014/main" val="2181008441"/>
                    </a:ext>
                  </a:extLst>
                </a:gridCol>
              </a:tblGrid>
              <a:tr h="396404">
                <a:tc>
                  <a:txBody>
                    <a:bodyPr/>
                    <a:lstStyle/>
                    <a:p>
                      <a:pPr algn="ctr"/>
                      <a:r>
                        <a:rPr lang="en-US" altLang="zh-CN" dirty="0">
                          <a:solidFill>
                            <a:schemeClr val="bg2"/>
                          </a:solidFill>
                          <a:highlight>
                            <a:srgbClr val="FFFF00"/>
                          </a:highlight>
                        </a:rPr>
                        <a:t>z</a:t>
                      </a:r>
                      <a:endParaRPr lang="zh-CN" altLang="en-US" dirty="0">
                        <a:solidFill>
                          <a:schemeClr val="bg2"/>
                        </a:solidFill>
                        <a:highlight>
                          <a:srgbClr val="FFFF00"/>
                        </a:highlight>
                      </a:endParaRPr>
                    </a:p>
                  </a:txBody>
                  <a:tcPr/>
                </a:tc>
                <a:tc>
                  <a:txBody>
                    <a:bodyPr/>
                    <a:lstStyle/>
                    <a:p>
                      <a:pPr algn="ctr"/>
                      <a:r>
                        <a:rPr lang="en-US" altLang="zh-CN" dirty="0">
                          <a:solidFill>
                            <a:schemeClr val="bg2"/>
                          </a:solidFill>
                          <a:highlight>
                            <a:srgbClr val="FFFF00"/>
                          </a:highlight>
                        </a:rPr>
                        <a:t>x</a:t>
                      </a:r>
                      <a:endParaRPr lang="zh-CN" altLang="en-US" dirty="0">
                        <a:solidFill>
                          <a:schemeClr val="bg2"/>
                        </a:solidFill>
                        <a:highlight>
                          <a:srgbClr val="FFFF00"/>
                        </a:highlight>
                      </a:endParaRPr>
                    </a:p>
                  </a:txBody>
                  <a:tcPr/>
                </a:tc>
                <a:tc>
                  <a:txBody>
                    <a:bodyPr/>
                    <a:lstStyle/>
                    <a:p>
                      <a:pPr algn="ctr"/>
                      <a:r>
                        <a:rPr lang="en-US" altLang="zh-CN" dirty="0">
                          <a:solidFill>
                            <a:schemeClr val="bg2"/>
                          </a:solidFill>
                        </a:rPr>
                        <a:t>u</a:t>
                      </a:r>
                      <a:endParaRPr lang="zh-CN" altLang="en-US" dirty="0">
                        <a:solidFill>
                          <a:schemeClr val="bg2"/>
                        </a:solidFill>
                      </a:endParaRPr>
                    </a:p>
                  </a:txBody>
                  <a:tcPr/>
                </a:tc>
                <a:tc>
                  <a:txBody>
                    <a:bodyPr/>
                    <a:lstStyle/>
                    <a:p>
                      <a:pPr algn="ctr"/>
                      <a:r>
                        <a:rPr lang="en-US" altLang="zh-CN" dirty="0">
                          <a:solidFill>
                            <a:schemeClr val="bg2"/>
                          </a:solidFill>
                          <a:highlight>
                            <a:srgbClr val="FFFF00"/>
                          </a:highlight>
                        </a:rPr>
                        <a:t>y</a:t>
                      </a:r>
                      <a:endParaRPr lang="zh-CN" altLang="en-US" dirty="0">
                        <a:solidFill>
                          <a:schemeClr val="bg2"/>
                        </a:solidFill>
                        <a:highlight>
                          <a:srgbClr val="FFFF00"/>
                        </a:highlight>
                      </a:endParaRPr>
                    </a:p>
                  </a:txBody>
                  <a:tcPr/>
                </a:tc>
                <a:tc>
                  <a:txBody>
                    <a:bodyPr/>
                    <a:lstStyle/>
                    <a:p>
                      <a:pPr algn="ctr"/>
                      <a:r>
                        <a:rPr lang="en-US" altLang="zh-CN" dirty="0">
                          <a:solidFill>
                            <a:schemeClr val="bg2"/>
                          </a:solidFill>
                        </a:rPr>
                        <a:t>v</a:t>
                      </a:r>
                      <a:endParaRPr lang="zh-CN" altLang="en-US" dirty="0">
                        <a:solidFill>
                          <a:schemeClr val="bg2"/>
                        </a:solidFill>
                      </a:endParaRPr>
                    </a:p>
                  </a:txBody>
                  <a:tcPr/>
                </a:tc>
                <a:extLst>
                  <a:ext uri="{0D108BD9-81ED-4DB2-BD59-A6C34878D82A}">
                    <a16:rowId xmlns:a16="http://schemas.microsoft.com/office/drawing/2014/main" val="395769137"/>
                  </a:ext>
                </a:extLst>
              </a:tr>
            </a:tbl>
          </a:graphicData>
        </a:graphic>
      </p:graphicFrame>
    </p:spTree>
    <p:extLst>
      <p:ext uri="{BB962C8B-B14F-4D97-AF65-F5344CB8AC3E}">
        <p14:creationId xmlns:p14="http://schemas.microsoft.com/office/powerpoint/2010/main" val="1205722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2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20" grpId="0"/>
      <p:bldP spid="22" grpId="0"/>
    </p:bldLst>
  </p:timing>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0482" name="Rectangle 1026"/>
          <p:cNvSpPr>
            <a:spLocks noChangeArrowheads="1"/>
          </p:cNvSpPr>
          <p:nvPr/>
        </p:nvSpPr>
        <p:spPr bwMode="auto">
          <a:xfrm>
            <a:off x="612775" y="0"/>
            <a:ext cx="9144000" cy="742318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2800" b="1" dirty="0">
                <a:solidFill>
                  <a:srgbClr val="000099"/>
                </a:solidFill>
              </a:rPr>
              <a:t>2.</a:t>
            </a:r>
            <a:r>
              <a:rPr lang="zh-CN" altLang="en-US" sz="2800" b="1" dirty="0">
                <a:solidFill>
                  <a:srgbClr val="000099"/>
                </a:solidFill>
              </a:rPr>
              <a:t>元组表达式到域表达式的转换规则：</a:t>
            </a:r>
          </a:p>
          <a:p>
            <a:pPr>
              <a:lnSpc>
                <a:spcPct val="150000"/>
              </a:lnSpc>
            </a:pPr>
            <a:r>
              <a:rPr lang="zh-CN" altLang="en-US" sz="2400" b="1" dirty="0">
                <a:solidFill>
                  <a:schemeClr val="bg2"/>
                </a:solidFill>
              </a:rPr>
              <a:t>① 对于</a:t>
            </a:r>
            <a:r>
              <a:rPr lang="en-US" altLang="zh-CN" sz="2400" b="1" dirty="0">
                <a:solidFill>
                  <a:schemeClr val="bg2"/>
                </a:solidFill>
              </a:rPr>
              <a:t>k</a:t>
            </a:r>
            <a:r>
              <a:rPr lang="zh-CN" altLang="en-US" sz="2400" b="1" dirty="0">
                <a:solidFill>
                  <a:schemeClr val="bg2"/>
                </a:solidFill>
              </a:rPr>
              <a:t>元的元组变量</a:t>
            </a:r>
            <a:r>
              <a:rPr lang="en-US" altLang="zh-CN" sz="2400" b="1" dirty="0">
                <a:solidFill>
                  <a:schemeClr val="bg2"/>
                </a:solidFill>
              </a:rPr>
              <a:t>t, </a:t>
            </a:r>
            <a:r>
              <a:rPr lang="zh-CN" altLang="en-US" sz="2400" b="1" dirty="0">
                <a:solidFill>
                  <a:schemeClr val="bg2"/>
                </a:solidFill>
              </a:rPr>
              <a:t>引入</a:t>
            </a:r>
            <a:r>
              <a:rPr lang="en-US" altLang="zh-CN" sz="2400" b="1" dirty="0">
                <a:solidFill>
                  <a:schemeClr val="bg2"/>
                </a:solidFill>
              </a:rPr>
              <a:t>k</a:t>
            </a:r>
            <a:r>
              <a:rPr lang="zh-CN" altLang="en-US" sz="2400" b="1" dirty="0">
                <a:solidFill>
                  <a:schemeClr val="bg2"/>
                </a:solidFill>
              </a:rPr>
              <a:t>个域变量</a:t>
            </a:r>
            <a:r>
              <a:rPr lang="en-US" altLang="zh-CN" sz="2400" b="1" dirty="0">
                <a:solidFill>
                  <a:schemeClr val="bg2"/>
                </a:solidFill>
              </a:rPr>
              <a:t>t</a:t>
            </a:r>
            <a:r>
              <a:rPr lang="en-US" altLang="zh-CN" sz="2400" b="1" baseline="-25000" dirty="0">
                <a:solidFill>
                  <a:schemeClr val="bg2"/>
                </a:solidFill>
              </a:rPr>
              <a:t>1</a:t>
            </a:r>
            <a:r>
              <a:rPr lang="en-US" altLang="zh-CN" sz="2400" b="1" dirty="0">
                <a:solidFill>
                  <a:schemeClr val="bg2"/>
                </a:solidFill>
              </a:rPr>
              <a:t>,t</a:t>
            </a:r>
            <a:r>
              <a:rPr lang="en-US" altLang="zh-CN" sz="2400" b="1" baseline="-25000" dirty="0">
                <a:solidFill>
                  <a:schemeClr val="bg2"/>
                </a:solidFill>
              </a:rPr>
              <a:t>2</a:t>
            </a:r>
            <a:r>
              <a:rPr lang="en-US" altLang="zh-CN" sz="2400" b="1" dirty="0">
                <a:solidFill>
                  <a:schemeClr val="bg2"/>
                </a:solidFill>
              </a:rPr>
              <a:t>,</a:t>
            </a:r>
            <a:r>
              <a:rPr lang="en-US" altLang="zh-CN" sz="2400" b="1" dirty="0">
                <a:solidFill>
                  <a:schemeClr val="bg2"/>
                </a:solidFill>
                <a:latin typeface="Times New Roman"/>
              </a:rPr>
              <a:t>…</a:t>
            </a:r>
            <a:r>
              <a:rPr lang="en-US" altLang="zh-CN" sz="2400" b="1" dirty="0">
                <a:solidFill>
                  <a:schemeClr val="bg2"/>
                </a:solidFill>
              </a:rPr>
              <a:t>,</a:t>
            </a:r>
            <a:r>
              <a:rPr lang="en-US" altLang="zh-CN" sz="2400" b="1" dirty="0" err="1">
                <a:solidFill>
                  <a:schemeClr val="bg2"/>
                </a:solidFill>
              </a:rPr>
              <a:t>t</a:t>
            </a:r>
            <a:r>
              <a:rPr lang="en-US" altLang="zh-CN" sz="2400" b="1" baseline="-25000" dirty="0" err="1">
                <a:solidFill>
                  <a:schemeClr val="bg2"/>
                </a:solidFill>
              </a:rPr>
              <a:t>k</a:t>
            </a:r>
            <a:r>
              <a:rPr lang="en-US" altLang="zh-CN" sz="2400" b="1" dirty="0">
                <a:solidFill>
                  <a:schemeClr val="bg2"/>
                </a:solidFill>
              </a:rPr>
              <a:t>,</a:t>
            </a:r>
          </a:p>
          <a:p>
            <a:pPr>
              <a:lnSpc>
                <a:spcPct val="150000"/>
              </a:lnSpc>
            </a:pPr>
            <a:r>
              <a:rPr lang="en-US" altLang="zh-CN" sz="2400" b="1" dirty="0">
                <a:solidFill>
                  <a:schemeClr val="bg2"/>
                </a:solidFill>
              </a:rPr>
              <a:t>   </a:t>
            </a:r>
            <a:r>
              <a:rPr lang="zh-CN" altLang="en-US" sz="2400" b="1" dirty="0">
                <a:solidFill>
                  <a:schemeClr val="bg2"/>
                </a:solidFill>
              </a:rPr>
              <a:t>在公式中</a:t>
            </a:r>
            <a:r>
              <a:rPr lang="en-US" altLang="zh-CN" sz="2400" b="1" dirty="0">
                <a:solidFill>
                  <a:schemeClr val="bg2"/>
                </a:solidFill>
              </a:rPr>
              <a:t>t</a:t>
            </a:r>
            <a:r>
              <a:rPr lang="zh-CN" altLang="en-US" sz="2400" b="1" dirty="0">
                <a:solidFill>
                  <a:schemeClr val="bg2"/>
                </a:solidFill>
              </a:rPr>
              <a:t>用</a:t>
            </a:r>
            <a:r>
              <a:rPr lang="en-US" altLang="zh-CN" sz="2400" b="1" dirty="0">
                <a:solidFill>
                  <a:schemeClr val="bg2"/>
                </a:solidFill>
              </a:rPr>
              <a:t>t</a:t>
            </a:r>
            <a:r>
              <a:rPr lang="en-US" altLang="zh-CN" sz="2400" b="1" baseline="-25000" dirty="0">
                <a:solidFill>
                  <a:schemeClr val="bg2"/>
                </a:solidFill>
              </a:rPr>
              <a:t>1</a:t>
            </a:r>
            <a:r>
              <a:rPr lang="en-US" altLang="zh-CN" sz="2400" b="1" dirty="0">
                <a:solidFill>
                  <a:schemeClr val="bg2"/>
                </a:solidFill>
              </a:rPr>
              <a:t>,t</a:t>
            </a:r>
            <a:r>
              <a:rPr lang="en-US" altLang="zh-CN" sz="2400" b="1" baseline="-25000" dirty="0">
                <a:solidFill>
                  <a:schemeClr val="bg2"/>
                </a:solidFill>
              </a:rPr>
              <a:t>2</a:t>
            </a:r>
            <a:r>
              <a:rPr lang="en-US" altLang="zh-CN" sz="2400" b="1" dirty="0">
                <a:solidFill>
                  <a:schemeClr val="bg2"/>
                </a:solidFill>
              </a:rPr>
              <a:t>,</a:t>
            </a:r>
            <a:r>
              <a:rPr lang="en-US" altLang="zh-CN" sz="2400" b="1" dirty="0">
                <a:solidFill>
                  <a:schemeClr val="bg2"/>
                </a:solidFill>
                <a:latin typeface="Times New Roman"/>
              </a:rPr>
              <a:t>…</a:t>
            </a:r>
            <a:r>
              <a:rPr lang="en-US" altLang="zh-CN" sz="2400" b="1" dirty="0">
                <a:solidFill>
                  <a:schemeClr val="bg2"/>
                </a:solidFill>
              </a:rPr>
              <a:t>,</a:t>
            </a:r>
            <a:r>
              <a:rPr lang="en-US" altLang="zh-CN" sz="2400" b="1" dirty="0" err="1">
                <a:solidFill>
                  <a:schemeClr val="bg2"/>
                </a:solidFill>
              </a:rPr>
              <a:t>t</a:t>
            </a:r>
            <a:r>
              <a:rPr lang="en-US" altLang="zh-CN" sz="2400" b="1" baseline="-25000" dirty="0" err="1">
                <a:solidFill>
                  <a:schemeClr val="bg2"/>
                </a:solidFill>
              </a:rPr>
              <a:t>k</a:t>
            </a:r>
            <a:r>
              <a:rPr lang="zh-CN" altLang="en-US" sz="2400" b="1" dirty="0">
                <a:solidFill>
                  <a:schemeClr val="bg2"/>
                </a:solidFill>
              </a:rPr>
              <a:t>替换，元组分量</a:t>
            </a:r>
            <a:r>
              <a:rPr lang="en-US" altLang="zh-CN" sz="2400" b="1" dirty="0">
                <a:solidFill>
                  <a:schemeClr val="bg2"/>
                </a:solidFill>
              </a:rPr>
              <a:t>t[</a:t>
            </a:r>
            <a:r>
              <a:rPr lang="en-US" altLang="zh-CN" sz="2400" b="1" dirty="0" err="1">
                <a:solidFill>
                  <a:schemeClr val="bg2"/>
                </a:solidFill>
              </a:rPr>
              <a:t>i</a:t>
            </a:r>
            <a:r>
              <a:rPr lang="en-US" altLang="zh-CN" sz="2400" b="1" dirty="0">
                <a:solidFill>
                  <a:schemeClr val="bg2"/>
                </a:solidFill>
              </a:rPr>
              <a:t>]</a:t>
            </a:r>
            <a:r>
              <a:rPr lang="zh-CN" altLang="en-US" sz="2400" b="1" dirty="0">
                <a:solidFill>
                  <a:schemeClr val="bg2"/>
                </a:solidFill>
              </a:rPr>
              <a:t>用</a:t>
            </a:r>
            <a:r>
              <a:rPr lang="en-US" altLang="zh-CN" sz="2400" b="1" dirty="0" err="1">
                <a:solidFill>
                  <a:schemeClr val="bg2"/>
                </a:solidFill>
              </a:rPr>
              <a:t>t</a:t>
            </a:r>
            <a:r>
              <a:rPr lang="en-US" altLang="zh-CN" sz="2400" b="1" baseline="-25000" dirty="0" err="1">
                <a:solidFill>
                  <a:schemeClr val="bg2"/>
                </a:solidFill>
              </a:rPr>
              <a:t>i</a:t>
            </a:r>
            <a:r>
              <a:rPr lang="zh-CN" altLang="en-US" sz="2400" b="1" dirty="0">
                <a:solidFill>
                  <a:schemeClr val="bg2"/>
                </a:solidFill>
              </a:rPr>
              <a:t>替换。</a:t>
            </a:r>
          </a:p>
          <a:p>
            <a:pPr>
              <a:lnSpc>
                <a:spcPct val="150000"/>
              </a:lnSpc>
            </a:pPr>
            <a:r>
              <a:rPr lang="zh-CN" altLang="en-US" sz="2400" b="1" dirty="0">
                <a:solidFill>
                  <a:schemeClr val="bg2"/>
                </a:solidFill>
              </a:rPr>
              <a:t>② 对于每个量词</a:t>
            </a:r>
            <a:r>
              <a:rPr lang="en-US" altLang="zh-CN" sz="2400" b="1" dirty="0">
                <a:solidFill>
                  <a:schemeClr val="bg2"/>
                </a:solidFill>
              </a:rPr>
              <a:t>(</a:t>
            </a:r>
            <a:r>
              <a:rPr lang="en-US" altLang="zh-CN" sz="2400" b="1" dirty="0">
                <a:solidFill>
                  <a:schemeClr val="bg2"/>
                </a:solidFill>
                <a:sym typeface="Symbol" pitchFamily="18" charset="2"/>
              </a:rPr>
              <a:t></a:t>
            </a:r>
            <a:r>
              <a:rPr lang="en-US" altLang="zh-CN" sz="2400" b="1" dirty="0">
                <a:solidFill>
                  <a:schemeClr val="bg2"/>
                </a:solidFill>
              </a:rPr>
              <a:t>u)</a:t>
            </a:r>
            <a:r>
              <a:rPr lang="zh-CN" altLang="en-US" sz="2400" b="1" dirty="0">
                <a:solidFill>
                  <a:schemeClr val="bg2"/>
                </a:solidFill>
              </a:rPr>
              <a:t>或（</a:t>
            </a:r>
            <a:r>
              <a:rPr lang="zh-CN" altLang="en-US" sz="2400" b="1" dirty="0">
                <a:solidFill>
                  <a:schemeClr val="bg2"/>
                </a:solidFill>
                <a:sym typeface="Symbol" pitchFamily="18" charset="2"/>
              </a:rPr>
              <a:t></a:t>
            </a:r>
            <a:r>
              <a:rPr lang="en-US" altLang="zh-CN" sz="2400" b="1" dirty="0">
                <a:solidFill>
                  <a:schemeClr val="bg2"/>
                </a:solidFill>
              </a:rPr>
              <a:t>u</a:t>
            </a:r>
            <a:r>
              <a:rPr lang="zh-CN" altLang="en-US" sz="2400" b="1" dirty="0">
                <a:solidFill>
                  <a:schemeClr val="bg2"/>
                </a:solidFill>
              </a:rPr>
              <a:t>），若</a:t>
            </a:r>
            <a:r>
              <a:rPr lang="en-US" altLang="zh-CN" sz="2400" b="1" dirty="0">
                <a:solidFill>
                  <a:schemeClr val="bg2"/>
                </a:solidFill>
              </a:rPr>
              <a:t>u</a:t>
            </a:r>
            <a:r>
              <a:rPr lang="zh-CN" altLang="en-US" sz="2400" b="1" dirty="0">
                <a:solidFill>
                  <a:schemeClr val="bg2"/>
                </a:solidFill>
              </a:rPr>
              <a:t>是</a:t>
            </a:r>
            <a:r>
              <a:rPr lang="en-US" altLang="zh-CN" sz="2400" b="1" dirty="0">
                <a:solidFill>
                  <a:schemeClr val="bg2"/>
                </a:solidFill>
              </a:rPr>
              <a:t>m</a:t>
            </a:r>
            <a:r>
              <a:rPr lang="zh-CN" altLang="en-US" sz="2400" b="1" dirty="0">
                <a:solidFill>
                  <a:schemeClr val="bg2"/>
                </a:solidFill>
              </a:rPr>
              <a:t>元的元组变量，</a:t>
            </a:r>
          </a:p>
          <a:p>
            <a:pPr>
              <a:lnSpc>
                <a:spcPct val="150000"/>
              </a:lnSpc>
            </a:pPr>
            <a:r>
              <a:rPr lang="zh-CN" altLang="en-US" sz="2400" b="1" dirty="0">
                <a:solidFill>
                  <a:schemeClr val="bg2"/>
                </a:solidFill>
              </a:rPr>
              <a:t>   则引入</a:t>
            </a:r>
            <a:r>
              <a:rPr lang="en-US" altLang="zh-CN" sz="2400" b="1" dirty="0">
                <a:solidFill>
                  <a:schemeClr val="bg2"/>
                </a:solidFill>
              </a:rPr>
              <a:t>m</a:t>
            </a:r>
            <a:r>
              <a:rPr lang="zh-CN" altLang="en-US" sz="2400" b="1" dirty="0">
                <a:solidFill>
                  <a:schemeClr val="bg2"/>
                </a:solidFill>
              </a:rPr>
              <a:t>个新的域变量</a:t>
            </a:r>
            <a:r>
              <a:rPr lang="en-US" altLang="zh-CN" sz="2400" b="1" dirty="0">
                <a:solidFill>
                  <a:schemeClr val="bg2"/>
                </a:solidFill>
              </a:rPr>
              <a:t>u</a:t>
            </a:r>
            <a:r>
              <a:rPr lang="en-US" altLang="zh-CN" sz="2400" b="1" baseline="-25000" dirty="0">
                <a:solidFill>
                  <a:schemeClr val="bg2"/>
                </a:solidFill>
              </a:rPr>
              <a:t>1</a:t>
            </a:r>
            <a:r>
              <a:rPr lang="en-US" altLang="zh-CN" sz="2400" b="1" dirty="0">
                <a:solidFill>
                  <a:schemeClr val="bg2"/>
                </a:solidFill>
              </a:rPr>
              <a:t>,u</a:t>
            </a:r>
            <a:r>
              <a:rPr lang="en-US" altLang="zh-CN" sz="2400" b="1" baseline="-25000" dirty="0">
                <a:solidFill>
                  <a:schemeClr val="bg2"/>
                </a:solidFill>
              </a:rPr>
              <a:t>2</a:t>
            </a:r>
            <a:r>
              <a:rPr lang="en-US" altLang="zh-CN" sz="2400" b="1" dirty="0">
                <a:solidFill>
                  <a:schemeClr val="bg2"/>
                </a:solidFill>
              </a:rPr>
              <a:t>,</a:t>
            </a:r>
            <a:r>
              <a:rPr lang="en-US" altLang="zh-CN" sz="2400" b="1" dirty="0">
                <a:solidFill>
                  <a:schemeClr val="bg2"/>
                </a:solidFill>
                <a:latin typeface="Times New Roman"/>
              </a:rPr>
              <a:t>…</a:t>
            </a:r>
            <a:r>
              <a:rPr lang="en-US" altLang="zh-CN" sz="2400" b="1" dirty="0">
                <a:solidFill>
                  <a:schemeClr val="bg2"/>
                </a:solidFill>
              </a:rPr>
              <a:t>,u</a:t>
            </a:r>
            <a:r>
              <a:rPr lang="en-US" altLang="zh-CN" sz="2400" b="1" baseline="-25000" dirty="0">
                <a:solidFill>
                  <a:schemeClr val="bg2"/>
                </a:solidFill>
              </a:rPr>
              <a:t>m</a:t>
            </a:r>
            <a:r>
              <a:rPr lang="zh-CN" altLang="en-US" sz="2400" b="1" dirty="0">
                <a:solidFill>
                  <a:schemeClr val="bg2"/>
                </a:solidFill>
              </a:rPr>
              <a:t>。</a:t>
            </a:r>
          </a:p>
          <a:p>
            <a:pPr>
              <a:lnSpc>
                <a:spcPct val="150000"/>
              </a:lnSpc>
            </a:pPr>
            <a:r>
              <a:rPr lang="zh-CN" altLang="en-US" sz="2400" b="1" dirty="0">
                <a:solidFill>
                  <a:schemeClr val="bg2"/>
                </a:solidFill>
              </a:rPr>
              <a:t>     在量词的辖域内，</a:t>
            </a:r>
            <a:r>
              <a:rPr lang="en-US" altLang="zh-CN" sz="2400" b="1" dirty="0">
                <a:solidFill>
                  <a:schemeClr val="bg2"/>
                </a:solidFill>
              </a:rPr>
              <a:t>u</a:t>
            </a:r>
            <a:r>
              <a:rPr lang="zh-CN" altLang="en-US" sz="2400" b="1" dirty="0">
                <a:solidFill>
                  <a:schemeClr val="bg2"/>
                </a:solidFill>
              </a:rPr>
              <a:t>用</a:t>
            </a:r>
            <a:r>
              <a:rPr lang="en-US" altLang="zh-CN" sz="2400" b="1" dirty="0">
                <a:solidFill>
                  <a:schemeClr val="bg2"/>
                </a:solidFill>
              </a:rPr>
              <a:t>u</a:t>
            </a:r>
            <a:r>
              <a:rPr lang="en-US" altLang="zh-CN" sz="2400" b="1" baseline="-25000" dirty="0">
                <a:solidFill>
                  <a:schemeClr val="bg2"/>
                </a:solidFill>
              </a:rPr>
              <a:t>1</a:t>
            </a:r>
            <a:r>
              <a:rPr lang="en-US" altLang="zh-CN" sz="2400" b="1" dirty="0">
                <a:solidFill>
                  <a:schemeClr val="bg2"/>
                </a:solidFill>
              </a:rPr>
              <a:t>u</a:t>
            </a:r>
            <a:r>
              <a:rPr lang="en-US" altLang="zh-CN" sz="2400" b="1" baseline="-25000" dirty="0">
                <a:solidFill>
                  <a:schemeClr val="bg2"/>
                </a:solidFill>
              </a:rPr>
              <a:t>2</a:t>
            </a:r>
            <a:r>
              <a:rPr lang="en-US" altLang="zh-CN" sz="2400" b="1" dirty="0">
                <a:solidFill>
                  <a:schemeClr val="bg2"/>
                </a:solidFill>
                <a:latin typeface="Times New Roman"/>
              </a:rPr>
              <a:t>…</a:t>
            </a:r>
            <a:r>
              <a:rPr lang="en-US" altLang="zh-CN" sz="2400" b="1" dirty="0">
                <a:solidFill>
                  <a:schemeClr val="bg2"/>
                </a:solidFill>
              </a:rPr>
              <a:t>u</a:t>
            </a:r>
            <a:r>
              <a:rPr lang="en-US" altLang="zh-CN" sz="2400" b="1" baseline="-25000" dirty="0">
                <a:solidFill>
                  <a:schemeClr val="bg2"/>
                </a:solidFill>
              </a:rPr>
              <a:t>m</a:t>
            </a:r>
            <a:r>
              <a:rPr lang="zh-CN" altLang="en-US" sz="2400" b="1" dirty="0">
                <a:solidFill>
                  <a:schemeClr val="bg2"/>
                </a:solidFill>
              </a:rPr>
              <a:t>替换，</a:t>
            </a:r>
            <a:r>
              <a:rPr lang="en-US" altLang="zh-CN" sz="2400" b="1" dirty="0">
                <a:solidFill>
                  <a:schemeClr val="bg2"/>
                </a:solidFill>
              </a:rPr>
              <a:t>u[</a:t>
            </a:r>
            <a:r>
              <a:rPr lang="en-US" altLang="zh-CN" sz="2400" b="1" dirty="0" err="1">
                <a:solidFill>
                  <a:schemeClr val="bg2"/>
                </a:solidFill>
              </a:rPr>
              <a:t>i</a:t>
            </a:r>
            <a:r>
              <a:rPr lang="en-US" altLang="zh-CN" sz="2400" b="1" dirty="0">
                <a:solidFill>
                  <a:schemeClr val="bg2"/>
                </a:solidFill>
              </a:rPr>
              <a:t>]</a:t>
            </a:r>
            <a:r>
              <a:rPr lang="zh-CN" altLang="en-US" sz="2400" b="1" dirty="0">
                <a:solidFill>
                  <a:schemeClr val="bg2"/>
                </a:solidFill>
              </a:rPr>
              <a:t>用</a:t>
            </a:r>
            <a:r>
              <a:rPr lang="en-US" altLang="zh-CN" sz="2400" b="1" dirty="0" err="1">
                <a:solidFill>
                  <a:schemeClr val="bg2"/>
                </a:solidFill>
              </a:rPr>
              <a:t>u</a:t>
            </a:r>
            <a:r>
              <a:rPr lang="en-US" altLang="zh-CN" sz="2400" b="1" baseline="-25000" dirty="0" err="1">
                <a:solidFill>
                  <a:schemeClr val="bg2"/>
                </a:solidFill>
              </a:rPr>
              <a:t>i</a:t>
            </a:r>
            <a:r>
              <a:rPr lang="zh-CN" altLang="en-US" sz="2400" b="1" dirty="0">
                <a:solidFill>
                  <a:schemeClr val="bg2"/>
                </a:solidFill>
              </a:rPr>
              <a:t>替换，</a:t>
            </a:r>
          </a:p>
          <a:p>
            <a:pPr>
              <a:lnSpc>
                <a:spcPct val="150000"/>
              </a:lnSpc>
            </a:pPr>
            <a:r>
              <a:rPr lang="zh-CN" altLang="en-US" sz="2400" b="1" dirty="0">
                <a:solidFill>
                  <a:schemeClr val="bg2"/>
                </a:solidFill>
              </a:rPr>
              <a:t>       </a:t>
            </a:r>
            <a:r>
              <a:rPr lang="en-US" altLang="zh-CN" sz="2400" b="1" dirty="0">
                <a:solidFill>
                  <a:schemeClr val="bg2"/>
                </a:solidFill>
              </a:rPr>
              <a:t>(</a:t>
            </a:r>
            <a:r>
              <a:rPr lang="en-US" altLang="zh-CN" sz="2400" b="1" dirty="0">
                <a:solidFill>
                  <a:schemeClr val="bg2"/>
                </a:solidFill>
                <a:sym typeface="Symbol" pitchFamily="18" charset="2"/>
              </a:rPr>
              <a:t></a:t>
            </a:r>
            <a:r>
              <a:rPr lang="en-US" altLang="zh-CN" sz="2400" b="1" dirty="0">
                <a:solidFill>
                  <a:schemeClr val="bg2"/>
                </a:solidFill>
              </a:rPr>
              <a:t>u)</a:t>
            </a:r>
            <a:r>
              <a:rPr lang="zh-CN" altLang="en-US" sz="2400" b="1" dirty="0">
                <a:solidFill>
                  <a:schemeClr val="bg2"/>
                </a:solidFill>
              </a:rPr>
              <a:t>用</a:t>
            </a:r>
            <a:r>
              <a:rPr lang="en-US" altLang="zh-CN" sz="2400" b="1" dirty="0">
                <a:solidFill>
                  <a:schemeClr val="bg2"/>
                </a:solidFill>
              </a:rPr>
              <a:t>(</a:t>
            </a:r>
            <a:r>
              <a:rPr lang="en-US" altLang="zh-CN" sz="2400" b="1" dirty="0">
                <a:solidFill>
                  <a:schemeClr val="bg2"/>
                </a:solidFill>
                <a:sym typeface="Symbol" pitchFamily="18" charset="2"/>
              </a:rPr>
              <a:t></a:t>
            </a:r>
            <a:r>
              <a:rPr lang="en-US" altLang="zh-CN" sz="2400" b="1" dirty="0">
                <a:solidFill>
                  <a:schemeClr val="bg2"/>
                </a:solidFill>
              </a:rPr>
              <a:t>u</a:t>
            </a:r>
            <a:r>
              <a:rPr lang="en-US" altLang="zh-CN" sz="2400" b="1" baseline="-25000" dirty="0">
                <a:solidFill>
                  <a:schemeClr val="bg2"/>
                </a:solidFill>
              </a:rPr>
              <a:t>1</a:t>
            </a:r>
            <a:r>
              <a:rPr lang="en-US" altLang="zh-CN" sz="2400" b="1" dirty="0">
                <a:solidFill>
                  <a:schemeClr val="bg2"/>
                </a:solidFill>
              </a:rPr>
              <a:t>)</a:t>
            </a:r>
            <a:r>
              <a:rPr lang="en-US" altLang="zh-CN" sz="2400" b="1" dirty="0">
                <a:solidFill>
                  <a:schemeClr val="bg2"/>
                </a:solidFill>
                <a:latin typeface="Times New Roman"/>
              </a:rPr>
              <a:t>…</a:t>
            </a:r>
            <a:r>
              <a:rPr lang="en-US" altLang="zh-CN" sz="2400" b="1" dirty="0">
                <a:solidFill>
                  <a:schemeClr val="bg2"/>
                </a:solidFill>
              </a:rPr>
              <a:t>(</a:t>
            </a:r>
            <a:r>
              <a:rPr lang="en-US" altLang="zh-CN" sz="2400" b="1" dirty="0">
                <a:solidFill>
                  <a:schemeClr val="bg2"/>
                </a:solidFill>
                <a:sym typeface="Symbol" pitchFamily="18" charset="2"/>
              </a:rPr>
              <a:t></a:t>
            </a:r>
            <a:r>
              <a:rPr lang="en-US" altLang="zh-CN" sz="2400" b="1" dirty="0">
                <a:solidFill>
                  <a:schemeClr val="bg2"/>
                </a:solidFill>
              </a:rPr>
              <a:t>u</a:t>
            </a:r>
            <a:r>
              <a:rPr lang="en-US" altLang="zh-CN" sz="2400" b="1" baseline="-25000" dirty="0">
                <a:solidFill>
                  <a:schemeClr val="bg2"/>
                </a:solidFill>
              </a:rPr>
              <a:t>m</a:t>
            </a:r>
            <a:r>
              <a:rPr lang="en-US" altLang="zh-CN" sz="2400" b="1" dirty="0">
                <a:solidFill>
                  <a:schemeClr val="bg2"/>
                </a:solidFill>
              </a:rPr>
              <a:t>) </a:t>
            </a:r>
            <a:r>
              <a:rPr lang="zh-CN" altLang="en-US" sz="2400" b="1" dirty="0">
                <a:solidFill>
                  <a:schemeClr val="bg2"/>
                </a:solidFill>
              </a:rPr>
              <a:t>替换，</a:t>
            </a:r>
          </a:p>
          <a:p>
            <a:pPr>
              <a:lnSpc>
                <a:spcPct val="150000"/>
              </a:lnSpc>
            </a:pPr>
            <a:r>
              <a:rPr lang="zh-CN" altLang="en-US" sz="2400" b="1" dirty="0">
                <a:solidFill>
                  <a:schemeClr val="bg2"/>
                </a:solidFill>
              </a:rPr>
              <a:t>       </a:t>
            </a:r>
            <a:r>
              <a:rPr lang="en-US" altLang="zh-CN" sz="2400" b="1" dirty="0">
                <a:solidFill>
                  <a:schemeClr val="bg2"/>
                </a:solidFill>
              </a:rPr>
              <a:t>(</a:t>
            </a:r>
            <a:r>
              <a:rPr lang="en-US" altLang="zh-CN" sz="2400" b="1" dirty="0">
                <a:solidFill>
                  <a:schemeClr val="bg2"/>
                </a:solidFill>
                <a:sym typeface="Symbol" pitchFamily="18" charset="2"/>
              </a:rPr>
              <a:t></a:t>
            </a:r>
            <a:r>
              <a:rPr lang="en-US" altLang="zh-CN" sz="2400" b="1" dirty="0">
                <a:solidFill>
                  <a:schemeClr val="bg2"/>
                </a:solidFill>
              </a:rPr>
              <a:t>u</a:t>
            </a:r>
            <a:r>
              <a:rPr lang="zh-CN" altLang="en-US" sz="2400" b="1" dirty="0">
                <a:solidFill>
                  <a:schemeClr val="bg2"/>
                </a:solidFill>
              </a:rPr>
              <a:t>）用（</a:t>
            </a:r>
            <a:r>
              <a:rPr lang="zh-CN" altLang="en-US" sz="2400" b="1" dirty="0">
                <a:solidFill>
                  <a:schemeClr val="bg2"/>
                </a:solidFill>
                <a:sym typeface="Symbol" pitchFamily="18" charset="2"/>
              </a:rPr>
              <a:t></a:t>
            </a:r>
            <a:r>
              <a:rPr lang="en-US" altLang="zh-CN" sz="2400" b="1" dirty="0">
                <a:solidFill>
                  <a:schemeClr val="bg2"/>
                </a:solidFill>
              </a:rPr>
              <a:t>u</a:t>
            </a:r>
            <a:r>
              <a:rPr lang="en-US" altLang="zh-CN" sz="2400" b="1" baseline="-25000" dirty="0">
                <a:solidFill>
                  <a:schemeClr val="bg2"/>
                </a:solidFill>
              </a:rPr>
              <a:t>1</a:t>
            </a:r>
            <a:r>
              <a:rPr lang="zh-CN" altLang="en-US" sz="2400" b="1" dirty="0">
                <a:solidFill>
                  <a:schemeClr val="bg2"/>
                </a:solidFill>
              </a:rPr>
              <a:t>）</a:t>
            </a:r>
            <a:r>
              <a:rPr lang="en-US" altLang="zh-CN" sz="2400" b="1" dirty="0">
                <a:solidFill>
                  <a:schemeClr val="bg2"/>
                </a:solidFill>
                <a:latin typeface="Times New Roman"/>
              </a:rPr>
              <a:t>…</a:t>
            </a:r>
            <a:r>
              <a:rPr lang="en-US" altLang="zh-CN" sz="2400" b="1" dirty="0">
                <a:solidFill>
                  <a:schemeClr val="bg2"/>
                </a:solidFill>
              </a:rPr>
              <a:t>(</a:t>
            </a:r>
            <a:r>
              <a:rPr lang="en-US" altLang="zh-CN" sz="2400" b="1" dirty="0">
                <a:solidFill>
                  <a:schemeClr val="bg2"/>
                </a:solidFill>
                <a:sym typeface="Symbol" pitchFamily="18" charset="2"/>
              </a:rPr>
              <a:t></a:t>
            </a:r>
            <a:r>
              <a:rPr lang="en-US" altLang="zh-CN" sz="2400" b="1" dirty="0">
                <a:solidFill>
                  <a:schemeClr val="bg2"/>
                </a:solidFill>
              </a:rPr>
              <a:t>u</a:t>
            </a:r>
            <a:r>
              <a:rPr lang="en-US" altLang="zh-CN" sz="2400" b="1" baseline="-25000" dirty="0">
                <a:solidFill>
                  <a:schemeClr val="bg2"/>
                </a:solidFill>
              </a:rPr>
              <a:t>m</a:t>
            </a:r>
            <a:r>
              <a:rPr lang="en-US" altLang="zh-CN" sz="2400" b="1" dirty="0">
                <a:solidFill>
                  <a:schemeClr val="bg2"/>
                </a:solidFill>
              </a:rPr>
              <a:t>)</a:t>
            </a:r>
            <a:r>
              <a:rPr lang="zh-CN" altLang="en-US" sz="2400" b="1" dirty="0">
                <a:solidFill>
                  <a:schemeClr val="bg2"/>
                </a:solidFill>
              </a:rPr>
              <a:t>替换。</a:t>
            </a:r>
          </a:p>
          <a:p>
            <a:pPr>
              <a:lnSpc>
                <a:spcPct val="150000"/>
              </a:lnSpc>
            </a:pPr>
            <a:endParaRPr lang="zh-CN" altLang="en-US" sz="2800" b="1" dirty="0">
              <a:solidFill>
                <a:schemeClr val="bg2"/>
              </a:solidFill>
              <a:cs typeface="Times New Roman" pitchFamily="18" charset="0"/>
            </a:endParaRPr>
          </a:p>
          <a:p>
            <a:pPr>
              <a:lnSpc>
                <a:spcPct val="150000"/>
              </a:lnSpc>
            </a:pPr>
            <a:r>
              <a:rPr lang="zh-CN" altLang="en-US" sz="2400" b="1" dirty="0">
                <a:solidFill>
                  <a:schemeClr val="bg2"/>
                </a:solidFill>
              </a:rPr>
              <a:t> </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0898" name="Rectangle 2"/>
          <p:cNvSpPr>
            <a:spLocks noChangeArrowheads="1"/>
          </p:cNvSpPr>
          <p:nvPr/>
        </p:nvSpPr>
        <p:spPr bwMode="auto">
          <a:xfrm>
            <a:off x="250825" y="260648"/>
            <a:ext cx="52133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lnSpc>
                <a:spcPct val="100000"/>
              </a:lnSpc>
              <a:spcBef>
                <a:spcPct val="0"/>
              </a:spcBef>
            </a:pPr>
            <a:r>
              <a:rPr lang="zh-CN" altLang="en-US" sz="2400" b="1">
                <a:solidFill>
                  <a:schemeClr val="bg2"/>
                </a:solidFill>
              </a:rPr>
              <a:t>例</a:t>
            </a:r>
            <a:r>
              <a:rPr lang="en-US" altLang="zh-CN" sz="2400" b="1">
                <a:solidFill>
                  <a:schemeClr val="bg2"/>
                </a:solidFill>
              </a:rPr>
              <a:t>:  </a:t>
            </a:r>
            <a:r>
              <a:rPr lang="zh-CN" altLang="en-US" sz="2400" b="1">
                <a:solidFill>
                  <a:schemeClr val="bg2"/>
                </a:solidFill>
              </a:rPr>
              <a:t>用域表达式形式表示下列查询：</a:t>
            </a:r>
          </a:p>
        </p:txBody>
      </p:sp>
      <p:sp>
        <p:nvSpPr>
          <p:cNvPr id="720899" name="Rectangle 3"/>
          <p:cNvSpPr>
            <a:spLocks noChangeArrowheads="1"/>
          </p:cNvSpPr>
          <p:nvPr/>
        </p:nvSpPr>
        <p:spPr bwMode="auto">
          <a:xfrm>
            <a:off x="292463" y="1611163"/>
            <a:ext cx="831215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lnSpc>
                <a:spcPct val="100000"/>
              </a:lnSpc>
              <a:spcBef>
                <a:spcPct val="0"/>
              </a:spcBef>
            </a:pPr>
            <a:r>
              <a:rPr lang="en-US" altLang="zh-CN" sz="2400" b="1" dirty="0">
                <a:solidFill>
                  <a:schemeClr val="bg2"/>
                </a:solidFill>
              </a:rPr>
              <a:t>1.</a:t>
            </a:r>
            <a:r>
              <a:rPr lang="zh-CN" altLang="en-US" sz="2400" b="1" dirty="0">
                <a:solidFill>
                  <a:schemeClr val="bg2"/>
                </a:solidFill>
              </a:rPr>
              <a:t>检索供应零件给工程</a:t>
            </a:r>
            <a:r>
              <a:rPr lang="en-US" altLang="zh-CN" sz="2400" b="1" dirty="0">
                <a:solidFill>
                  <a:schemeClr val="bg2"/>
                </a:solidFill>
              </a:rPr>
              <a:t>J1</a:t>
            </a:r>
            <a:r>
              <a:rPr lang="zh-CN" altLang="en-US" sz="2400" b="1" dirty="0">
                <a:solidFill>
                  <a:schemeClr val="bg2"/>
                </a:solidFill>
              </a:rPr>
              <a:t>的供应商编号</a:t>
            </a:r>
            <a:r>
              <a:rPr lang="en-US" altLang="zh-CN" sz="2400" b="1" dirty="0">
                <a:solidFill>
                  <a:schemeClr val="bg2"/>
                </a:solidFill>
              </a:rPr>
              <a:t>SNO</a:t>
            </a:r>
            <a:r>
              <a:rPr lang="zh-CN" altLang="en-US" sz="2400" b="1" dirty="0">
                <a:solidFill>
                  <a:schemeClr val="bg2"/>
                </a:solidFill>
              </a:rPr>
              <a:t>和零件编号</a:t>
            </a:r>
            <a:r>
              <a:rPr lang="en-US" altLang="zh-CN" sz="2400" b="1" dirty="0">
                <a:solidFill>
                  <a:schemeClr val="bg2"/>
                </a:solidFill>
              </a:rPr>
              <a:t>PNO</a:t>
            </a:r>
            <a:r>
              <a:rPr lang="zh-CN" altLang="en-US" sz="2400" b="1" dirty="0">
                <a:solidFill>
                  <a:schemeClr val="bg2"/>
                </a:solidFill>
              </a:rPr>
              <a:t>。 </a:t>
            </a:r>
          </a:p>
        </p:txBody>
      </p:sp>
      <p:sp>
        <p:nvSpPr>
          <p:cNvPr id="720900" name="Rectangle 4"/>
          <p:cNvSpPr>
            <a:spLocks noChangeArrowheads="1"/>
          </p:cNvSpPr>
          <p:nvPr/>
        </p:nvSpPr>
        <p:spPr bwMode="auto">
          <a:xfrm>
            <a:off x="249374" y="2131979"/>
            <a:ext cx="8759129" cy="40011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lnSpc>
                <a:spcPct val="100000"/>
              </a:lnSpc>
              <a:spcBef>
                <a:spcPct val="0"/>
              </a:spcBef>
            </a:pPr>
            <a:r>
              <a:rPr lang="en-US" altLang="zh-CN" sz="2000" b="1" dirty="0">
                <a:solidFill>
                  <a:srgbClr val="660033"/>
                </a:solidFill>
              </a:rPr>
              <a:t>{</a:t>
            </a:r>
            <a:r>
              <a:rPr lang="en-US" altLang="zh-CN" sz="2000" b="1" dirty="0">
                <a:solidFill>
                  <a:srgbClr val="FF0000"/>
                </a:solidFill>
              </a:rPr>
              <a:t>t</a:t>
            </a:r>
            <a:r>
              <a:rPr lang="en-US" altLang="zh-CN" sz="2000" b="1" baseline="-25000" dirty="0">
                <a:solidFill>
                  <a:srgbClr val="FF0000"/>
                </a:solidFill>
              </a:rPr>
              <a:t>1</a:t>
            </a:r>
            <a:r>
              <a:rPr lang="en-US" altLang="zh-CN" sz="2000" b="1" dirty="0">
                <a:solidFill>
                  <a:srgbClr val="FF0000"/>
                </a:solidFill>
              </a:rPr>
              <a:t>t</a:t>
            </a:r>
            <a:r>
              <a:rPr lang="en-US" altLang="zh-CN" sz="2000" b="1" baseline="-25000" dirty="0">
                <a:solidFill>
                  <a:srgbClr val="FF0000"/>
                </a:solidFill>
              </a:rPr>
              <a:t>2</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u</a:t>
            </a:r>
            <a:r>
              <a:rPr lang="en-US" altLang="zh-CN" sz="2000" b="1" baseline="-25000" dirty="0">
                <a:solidFill>
                  <a:srgbClr val="660033"/>
                </a:solidFill>
              </a:rPr>
              <a:t>1</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u</a:t>
            </a:r>
            <a:r>
              <a:rPr lang="en-US" altLang="zh-CN" sz="2000" b="1" baseline="-25000" dirty="0">
                <a:solidFill>
                  <a:srgbClr val="660033"/>
                </a:solidFill>
              </a:rPr>
              <a:t>2</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u</a:t>
            </a:r>
            <a:r>
              <a:rPr lang="en-US" altLang="zh-CN" sz="2000" b="1" baseline="-25000" dirty="0">
                <a:solidFill>
                  <a:srgbClr val="660033"/>
                </a:solidFill>
              </a:rPr>
              <a:t>3</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u</a:t>
            </a:r>
            <a:r>
              <a:rPr lang="en-US" altLang="zh-CN" sz="2000" b="1" baseline="-25000" dirty="0">
                <a:solidFill>
                  <a:srgbClr val="660033"/>
                </a:solidFill>
              </a:rPr>
              <a:t>4</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u</a:t>
            </a:r>
            <a:r>
              <a:rPr lang="en-US" altLang="zh-CN" sz="2000" b="1" baseline="-25000" dirty="0">
                <a:solidFill>
                  <a:srgbClr val="660033"/>
                </a:solidFill>
              </a:rPr>
              <a:t>5</a:t>
            </a:r>
            <a:r>
              <a:rPr lang="en-US" altLang="zh-CN" sz="2000" b="1" dirty="0">
                <a:solidFill>
                  <a:srgbClr val="660033"/>
                </a:solidFill>
              </a:rPr>
              <a:t>)(SPJ(u</a:t>
            </a:r>
            <a:r>
              <a:rPr lang="en-US" altLang="zh-CN" sz="2000" b="1" baseline="-25000" dirty="0">
                <a:solidFill>
                  <a:srgbClr val="660033"/>
                </a:solidFill>
              </a:rPr>
              <a:t>1</a:t>
            </a:r>
            <a:r>
              <a:rPr lang="en-US" altLang="zh-CN" sz="2000" b="1" dirty="0">
                <a:solidFill>
                  <a:srgbClr val="660033"/>
                </a:solidFill>
              </a:rPr>
              <a:t>u</a:t>
            </a:r>
            <a:r>
              <a:rPr lang="en-US" altLang="zh-CN" sz="2000" b="1" baseline="-25000" dirty="0">
                <a:solidFill>
                  <a:srgbClr val="660033"/>
                </a:solidFill>
              </a:rPr>
              <a:t>2</a:t>
            </a:r>
            <a:r>
              <a:rPr lang="en-US" altLang="zh-CN" sz="2000" b="1" dirty="0">
                <a:solidFill>
                  <a:srgbClr val="660033"/>
                </a:solidFill>
              </a:rPr>
              <a:t>u</a:t>
            </a:r>
            <a:r>
              <a:rPr lang="en-US" altLang="zh-CN" sz="2000" b="1" baseline="-25000" dirty="0">
                <a:solidFill>
                  <a:srgbClr val="660033"/>
                </a:solidFill>
              </a:rPr>
              <a:t>3</a:t>
            </a:r>
            <a:r>
              <a:rPr lang="en-US" altLang="zh-CN" sz="2000" b="1" dirty="0">
                <a:solidFill>
                  <a:srgbClr val="660033"/>
                </a:solidFill>
              </a:rPr>
              <a:t>u</a:t>
            </a:r>
            <a:r>
              <a:rPr lang="en-US" altLang="zh-CN" sz="2000" b="1" baseline="-25000" dirty="0">
                <a:solidFill>
                  <a:srgbClr val="660033"/>
                </a:solidFill>
              </a:rPr>
              <a:t>4</a:t>
            </a:r>
            <a:r>
              <a:rPr lang="en-US" altLang="zh-CN" sz="2000" b="1" dirty="0">
                <a:solidFill>
                  <a:srgbClr val="660033"/>
                </a:solidFill>
              </a:rPr>
              <a:t>u</a:t>
            </a:r>
            <a:r>
              <a:rPr lang="en-US" altLang="zh-CN" sz="2000" b="1" baseline="-25000" dirty="0">
                <a:solidFill>
                  <a:srgbClr val="660033"/>
                </a:solidFill>
              </a:rPr>
              <a:t>5</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FF0000"/>
                </a:solidFill>
                <a:highlight>
                  <a:srgbClr val="00FFFF"/>
                </a:highlight>
                <a:sym typeface="Symbol" pitchFamily="18" charset="2"/>
              </a:rPr>
              <a:t>u</a:t>
            </a:r>
            <a:r>
              <a:rPr lang="en-US" altLang="zh-CN" sz="2000" b="1" baseline="-25000" dirty="0">
                <a:solidFill>
                  <a:srgbClr val="FF0000"/>
                </a:solidFill>
                <a:highlight>
                  <a:srgbClr val="00FFFF"/>
                </a:highlight>
                <a:sym typeface="Symbol" pitchFamily="18" charset="2"/>
              </a:rPr>
              <a:t>3</a:t>
            </a:r>
            <a:r>
              <a:rPr lang="en-US" altLang="zh-CN" sz="2000" b="1" dirty="0">
                <a:solidFill>
                  <a:srgbClr val="FF0000"/>
                </a:solidFill>
                <a:highlight>
                  <a:srgbClr val="00FFFF"/>
                </a:highlight>
                <a:sym typeface="Symbol" pitchFamily="18" charset="2"/>
              </a:rPr>
              <a:t>=</a:t>
            </a:r>
            <a:r>
              <a:rPr lang="en-US" altLang="zh-CN" sz="2000" b="1" dirty="0">
                <a:solidFill>
                  <a:srgbClr val="FF0000"/>
                </a:solidFill>
                <a:highlight>
                  <a:srgbClr val="00FFFF"/>
                </a:highlight>
                <a:latin typeface="Times New Roman"/>
                <a:sym typeface="Symbol" pitchFamily="18" charset="2"/>
              </a:rPr>
              <a:t>‘</a:t>
            </a:r>
            <a:r>
              <a:rPr lang="en-US" altLang="zh-CN" sz="2000" b="1" dirty="0">
                <a:solidFill>
                  <a:srgbClr val="FF0000"/>
                </a:solidFill>
                <a:highlight>
                  <a:srgbClr val="00FFFF"/>
                </a:highlight>
                <a:sym typeface="Symbol" pitchFamily="18" charset="2"/>
              </a:rPr>
              <a:t>J1</a:t>
            </a:r>
            <a:r>
              <a:rPr lang="en-US" altLang="zh-CN" sz="2000" b="1" dirty="0">
                <a:solidFill>
                  <a:srgbClr val="FF0000"/>
                </a:solidFill>
                <a:highlight>
                  <a:srgbClr val="00FFFF"/>
                </a:highlight>
                <a:latin typeface="Times New Roman"/>
                <a:sym typeface="Symbol" pitchFamily="18" charset="2"/>
              </a:rPr>
              <a:t>’</a:t>
            </a:r>
            <a:r>
              <a:rPr lang="en-US" altLang="zh-CN" sz="2000" b="1" dirty="0">
                <a:solidFill>
                  <a:srgbClr val="660033"/>
                </a:solidFill>
                <a:sym typeface="Symbol" pitchFamily="18" charset="2"/>
              </a:rPr>
              <a:t>∧</a:t>
            </a:r>
            <a:r>
              <a:rPr lang="en-US" altLang="zh-CN" sz="2000" b="1" dirty="0">
                <a:solidFill>
                  <a:srgbClr val="FF0000"/>
                </a:solidFill>
                <a:sym typeface="Symbol" pitchFamily="18" charset="2"/>
              </a:rPr>
              <a:t>t</a:t>
            </a:r>
            <a:r>
              <a:rPr lang="en-US" altLang="zh-CN" sz="2000" b="1" baseline="-25000" dirty="0">
                <a:solidFill>
                  <a:srgbClr val="FF0000"/>
                </a:solidFill>
                <a:sym typeface="Symbol" pitchFamily="18" charset="2"/>
              </a:rPr>
              <a:t>l</a:t>
            </a:r>
            <a:r>
              <a:rPr lang="en-US" altLang="zh-CN" sz="2000" b="1" dirty="0">
                <a:solidFill>
                  <a:srgbClr val="660033"/>
                </a:solidFill>
                <a:sym typeface="Symbol" pitchFamily="18" charset="2"/>
              </a:rPr>
              <a:t>=u</a:t>
            </a:r>
            <a:r>
              <a:rPr lang="en-US" altLang="zh-CN" sz="2000" b="1" baseline="-25000" dirty="0">
                <a:solidFill>
                  <a:srgbClr val="660033"/>
                </a:solidFill>
                <a:sym typeface="Symbol" pitchFamily="18" charset="2"/>
              </a:rPr>
              <a:t>1</a:t>
            </a:r>
            <a:r>
              <a:rPr lang="en-US" altLang="zh-CN" sz="2000" b="1" dirty="0">
                <a:solidFill>
                  <a:srgbClr val="660033"/>
                </a:solidFill>
                <a:sym typeface="Symbol" pitchFamily="18" charset="2"/>
              </a:rPr>
              <a:t>∧</a:t>
            </a:r>
            <a:r>
              <a:rPr lang="en-US" altLang="zh-CN" sz="2000" b="1" dirty="0">
                <a:solidFill>
                  <a:srgbClr val="FF0000"/>
                </a:solidFill>
                <a:sym typeface="Symbol" pitchFamily="18" charset="2"/>
              </a:rPr>
              <a:t>t</a:t>
            </a:r>
            <a:r>
              <a:rPr lang="en-US" altLang="zh-CN" sz="2000" b="1" baseline="-25000" dirty="0">
                <a:solidFill>
                  <a:srgbClr val="FF0000"/>
                </a:solidFill>
                <a:sym typeface="Symbol" pitchFamily="18" charset="2"/>
              </a:rPr>
              <a:t>2</a:t>
            </a:r>
            <a:r>
              <a:rPr lang="en-US" altLang="zh-CN" sz="2000" b="1" dirty="0">
                <a:solidFill>
                  <a:srgbClr val="660033"/>
                </a:solidFill>
                <a:sym typeface="Symbol" pitchFamily="18" charset="2"/>
              </a:rPr>
              <a:t>=u</a:t>
            </a:r>
            <a:r>
              <a:rPr lang="en-US" altLang="zh-CN" sz="2000" b="1" baseline="-25000" dirty="0">
                <a:solidFill>
                  <a:srgbClr val="660033"/>
                </a:solidFill>
                <a:sym typeface="Symbol" pitchFamily="18" charset="2"/>
              </a:rPr>
              <a:t>2</a:t>
            </a:r>
            <a:r>
              <a:rPr lang="en-US" altLang="zh-CN" sz="2000" b="1" dirty="0">
                <a:solidFill>
                  <a:srgbClr val="660033"/>
                </a:solidFill>
                <a:sym typeface="Symbol" pitchFamily="18" charset="2"/>
              </a:rPr>
              <a:t>)}</a:t>
            </a:r>
          </a:p>
        </p:txBody>
      </p:sp>
      <p:sp>
        <p:nvSpPr>
          <p:cNvPr id="720901" name="Rectangle 5"/>
          <p:cNvSpPr>
            <a:spLocks noChangeArrowheads="1"/>
          </p:cNvSpPr>
          <p:nvPr/>
        </p:nvSpPr>
        <p:spPr bwMode="auto">
          <a:xfrm>
            <a:off x="-171450" y="3386613"/>
            <a:ext cx="930275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indent="533400" algn="l"/>
            <a:r>
              <a:rPr lang="en-US" altLang="zh-CN" sz="2400" b="1" dirty="0">
                <a:solidFill>
                  <a:schemeClr val="bg2"/>
                </a:solidFill>
              </a:rPr>
              <a:t>2.</a:t>
            </a:r>
            <a:r>
              <a:rPr lang="zh-CN" altLang="en-US" sz="2400" b="1" dirty="0">
                <a:solidFill>
                  <a:schemeClr val="bg2"/>
                </a:solidFill>
              </a:rPr>
              <a:t>检索供应零件给工程</a:t>
            </a:r>
            <a:r>
              <a:rPr lang="en-US" altLang="zh-CN" sz="2400" b="1" dirty="0">
                <a:solidFill>
                  <a:schemeClr val="bg2"/>
                </a:solidFill>
              </a:rPr>
              <a:t>J1</a:t>
            </a:r>
            <a:r>
              <a:rPr lang="zh-CN" altLang="en-US" sz="2400" b="1" dirty="0">
                <a:solidFill>
                  <a:schemeClr val="bg2"/>
                </a:solidFill>
              </a:rPr>
              <a:t>，且零件编号为</a:t>
            </a:r>
            <a:r>
              <a:rPr lang="en-US" altLang="zh-CN" sz="2400" b="1" dirty="0">
                <a:solidFill>
                  <a:schemeClr val="bg2"/>
                </a:solidFill>
              </a:rPr>
              <a:t>P1</a:t>
            </a:r>
            <a:r>
              <a:rPr lang="zh-CN" altLang="en-US" sz="2400" b="1" dirty="0">
                <a:solidFill>
                  <a:schemeClr val="bg2"/>
                </a:solidFill>
              </a:rPr>
              <a:t>的供应商编号</a:t>
            </a:r>
            <a:r>
              <a:rPr lang="en-US" altLang="zh-CN" sz="2400" b="1" dirty="0">
                <a:solidFill>
                  <a:schemeClr val="bg2"/>
                </a:solidFill>
              </a:rPr>
              <a:t>SNO</a:t>
            </a:r>
            <a:r>
              <a:rPr lang="zh-CN" altLang="en-US" sz="2400" b="1" dirty="0">
                <a:solidFill>
                  <a:schemeClr val="bg2"/>
                </a:solidFill>
              </a:rPr>
              <a:t>。</a:t>
            </a:r>
            <a:r>
              <a:rPr lang="zh-CN" altLang="en-US" sz="2400" dirty="0"/>
              <a:t> </a:t>
            </a:r>
          </a:p>
        </p:txBody>
      </p:sp>
      <p:sp>
        <p:nvSpPr>
          <p:cNvPr id="720902" name="Rectangle 6"/>
          <p:cNvSpPr>
            <a:spLocks noChangeArrowheads="1"/>
          </p:cNvSpPr>
          <p:nvPr/>
        </p:nvSpPr>
        <p:spPr bwMode="auto">
          <a:xfrm>
            <a:off x="339515" y="3746048"/>
            <a:ext cx="8893175" cy="57624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2400" b="1" dirty="0">
                <a:solidFill>
                  <a:srgbClr val="660033"/>
                </a:solidFill>
              </a:rPr>
              <a:t>{t</a:t>
            </a:r>
            <a:r>
              <a:rPr lang="en-US" altLang="zh-CN" sz="2400" b="1" baseline="-25000" dirty="0">
                <a:solidFill>
                  <a:srgbClr val="660033"/>
                </a:solidFill>
              </a:rPr>
              <a:t>1</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a:t>
            </a:r>
            <a:r>
              <a:rPr lang="en-US" altLang="zh-CN" sz="2400" b="1" baseline="-25000" dirty="0">
                <a:solidFill>
                  <a:srgbClr val="660033"/>
                </a:solidFill>
              </a:rPr>
              <a:t>4</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a:t>
            </a:r>
            <a:r>
              <a:rPr lang="en-US" altLang="zh-CN" sz="2400" b="1" baseline="-25000" dirty="0">
                <a:solidFill>
                  <a:srgbClr val="660033"/>
                </a:solidFill>
              </a:rPr>
              <a:t>5</a:t>
            </a:r>
            <a:r>
              <a:rPr lang="en-US" altLang="zh-CN" sz="2400" b="1" dirty="0">
                <a:solidFill>
                  <a:srgbClr val="660033"/>
                </a:solidFill>
              </a:rPr>
              <a:t>)(</a:t>
            </a:r>
            <a:r>
              <a:rPr lang="en-US" altLang="zh-CN" sz="2400" b="1" dirty="0">
                <a:solidFill>
                  <a:srgbClr val="660033"/>
                </a:solidFill>
                <a:sym typeface="Symbol" pitchFamily="18" charset="2"/>
              </a:rPr>
              <a:t>SPJ(t</a:t>
            </a:r>
            <a:r>
              <a:rPr lang="en-US" altLang="zh-CN" sz="2400" b="1" baseline="-25000" dirty="0">
                <a:solidFill>
                  <a:srgbClr val="660033"/>
                </a:solidFill>
                <a:sym typeface="Symbol" pitchFamily="18" charset="2"/>
              </a:rPr>
              <a:t>1</a:t>
            </a:r>
            <a:r>
              <a:rPr lang="zh-CN" altLang="en-US" sz="2400" b="1" baseline="-25000" dirty="0">
                <a:solidFill>
                  <a:srgbClr val="660033"/>
                </a:solidFill>
                <a:sym typeface="Symbol" pitchFamily="18" charset="2"/>
              </a:rPr>
              <a:t> </a:t>
            </a:r>
            <a:r>
              <a:rPr lang="en-US" altLang="zh-CN" sz="2400" b="1" dirty="0">
                <a:solidFill>
                  <a:srgbClr val="FF0000"/>
                </a:solidFill>
                <a:latin typeface="Times New Roman"/>
                <a:sym typeface="Symbol" pitchFamily="18" charset="2"/>
              </a:rPr>
              <a:t>’</a:t>
            </a:r>
            <a:r>
              <a:rPr lang="en-US" altLang="zh-CN" sz="2400" b="1" dirty="0">
                <a:solidFill>
                  <a:srgbClr val="FF0000"/>
                </a:solidFill>
                <a:sym typeface="Symbol" pitchFamily="18" charset="2"/>
              </a:rPr>
              <a:t>P1</a:t>
            </a:r>
            <a:r>
              <a:rPr lang="en-US" altLang="zh-CN" sz="2400" b="1" dirty="0">
                <a:solidFill>
                  <a:srgbClr val="FF0000"/>
                </a:solidFill>
                <a:latin typeface="Times New Roman"/>
                <a:sym typeface="Symbol" pitchFamily="18" charset="2"/>
              </a:rPr>
              <a:t>’ ’</a:t>
            </a:r>
            <a:r>
              <a:rPr lang="en-US" altLang="zh-CN" sz="2400" b="1" dirty="0">
                <a:solidFill>
                  <a:srgbClr val="FF0000"/>
                </a:solidFill>
                <a:sym typeface="Symbol" pitchFamily="18" charset="2"/>
              </a:rPr>
              <a:t>J1</a:t>
            </a:r>
            <a:r>
              <a:rPr lang="en-US" altLang="zh-CN" sz="2400" b="1" dirty="0">
                <a:solidFill>
                  <a:srgbClr val="FF0000"/>
                </a:solidFill>
                <a:latin typeface="Times New Roman"/>
                <a:sym typeface="Symbol" pitchFamily="18" charset="2"/>
              </a:rPr>
              <a:t>’ </a:t>
            </a:r>
            <a:r>
              <a:rPr lang="en-US" altLang="zh-CN" sz="2400" b="1" dirty="0">
                <a:solidFill>
                  <a:srgbClr val="660033"/>
                </a:solidFill>
                <a:sym typeface="Symbol" pitchFamily="18" charset="2"/>
              </a:rPr>
              <a:t>u</a:t>
            </a:r>
            <a:r>
              <a:rPr lang="en-US" altLang="zh-CN" sz="2400" b="1" baseline="-25000" dirty="0">
                <a:solidFill>
                  <a:srgbClr val="660033"/>
                </a:solidFill>
                <a:sym typeface="Symbol" pitchFamily="18" charset="2"/>
              </a:rPr>
              <a:t>4</a:t>
            </a:r>
            <a:r>
              <a:rPr lang="en-US" altLang="zh-CN" sz="2400" b="1" dirty="0">
                <a:solidFill>
                  <a:srgbClr val="660033"/>
                </a:solidFill>
                <a:sym typeface="Symbol" pitchFamily="18" charset="2"/>
              </a:rPr>
              <a:t>u</a:t>
            </a:r>
            <a:r>
              <a:rPr lang="en-US" altLang="zh-CN" sz="2400" b="1" baseline="-25000" dirty="0">
                <a:solidFill>
                  <a:srgbClr val="660033"/>
                </a:solidFill>
                <a:sym typeface="Symbol" pitchFamily="18" charset="2"/>
              </a:rPr>
              <a:t>5</a:t>
            </a:r>
            <a:r>
              <a:rPr lang="en-US" altLang="zh-CN" sz="2400" b="1" dirty="0">
                <a:solidFill>
                  <a:srgbClr val="660033"/>
                </a:solidFill>
                <a:sym typeface="Symbol" pitchFamily="18" charset="2"/>
              </a:rPr>
              <a:t>)}</a:t>
            </a:r>
            <a:r>
              <a:rPr lang="zh-CN" altLang="en-US" sz="2400" b="1" dirty="0">
                <a:solidFill>
                  <a:srgbClr val="660033"/>
                </a:solidFill>
                <a:sym typeface="Symbol" pitchFamily="18" charset="2"/>
              </a:rPr>
              <a:t> </a:t>
            </a:r>
            <a:endParaRPr lang="en-US" altLang="zh-CN" sz="2400" b="1" dirty="0">
              <a:solidFill>
                <a:srgbClr val="660033"/>
              </a:solidFill>
              <a:sym typeface="Symbol" pitchFamily="18" charset="2"/>
            </a:endParaRPr>
          </a:p>
        </p:txBody>
      </p:sp>
      <p:sp>
        <p:nvSpPr>
          <p:cNvPr id="720903" name="Rectangle 7"/>
          <p:cNvSpPr>
            <a:spLocks noChangeArrowheads="1"/>
          </p:cNvSpPr>
          <p:nvPr/>
        </p:nvSpPr>
        <p:spPr bwMode="auto">
          <a:xfrm>
            <a:off x="468313" y="5876482"/>
            <a:ext cx="8353425" cy="4263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20000"/>
              </a:lnSpc>
            </a:pPr>
            <a:r>
              <a:rPr lang="en-US" altLang="zh-CN" sz="2000" b="1" dirty="0">
                <a:solidFill>
                  <a:srgbClr val="660033"/>
                </a:solidFill>
              </a:rPr>
              <a:t>{</a:t>
            </a:r>
            <a:r>
              <a:rPr lang="en-US" altLang="zh-CN" sz="2000" b="1" dirty="0">
                <a:solidFill>
                  <a:srgbClr val="FF0000"/>
                </a:solidFill>
              </a:rPr>
              <a:t>t</a:t>
            </a:r>
            <a:r>
              <a:rPr lang="en-US" altLang="zh-CN" sz="2000" b="1" baseline="-25000" dirty="0">
                <a:solidFill>
                  <a:srgbClr val="FF0000"/>
                </a:solidFill>
              </a:rPr>
              <a:t>1</a:t>
            </a:r>
            <a:r>
              <a:rPr lang="en-US" altLang="zh-CN" sz="2000" b="1" dirty="0">
                <a:solidFill>
                  <a:srgbClr val="FF0000"/>
                </a:solidFill>
              </a:rPr>
              <a:t>t</a:t>
            </a:r>
            <a:r>
              <a:rPr lang="en-US" altLang="zh-CN" sz="2000" b="1" baseline="-25000" dirty="0">
                <a:solidFill>
                  <a:srgbClr val="FF0000"/>
                </a:solidFill>
              </a:rPr>
              <a:t>2</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u</a:t>
            </a:r>
            <a:r>
              <a:rPr lang="en-US" altLang="zh-CN" sz="2000" b="1" baseline="-25000" dirty="0">
                <a:solidFill>
                  <a:srgbClr val="660033"/>
                </a:solidFill>
              </a:rPr>
              <a:t>3</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u</a:t>
            </a:r>
            <a:r>
              <a:rPr lang="en-US" altLang="zh-CN" sz="2000" b="1" baseline="-25000" dirty="0">
                <a:solidFill>
                  <a:srgbClr val="660033"/>
                </a:solidFill>
              </a:rPr>
              <a:t>4</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v</a:t>
            </a:r>
            <a:r>
              <a:rPr lang="en-US" altLang="zh-CN" sz="2000" b="1" baseline="-25000" dirty="0">
                <a:solidFill>
                  <a:srgbClr val="660033"/>
                </a:solidFill>
              </a:rPr>
              <a:t>1</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v</a:t>
            </a:r>
            <a:r>
              <a:rPr lang="en-US" altLang="zh-CN" sz="2000" b="1" baseline="-25000" dirty="0">
                <a:solidFill>
                  <a:srgbClr val="660033"/>
                </a:solidFill>
              </a:rPr>
              <a:t>4</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v</a:t>
            </a:r>
            <a:r>
              <a:rPr lang="en-US" altLang="zh-CN" sz="2000" b="1" baseline="-25000" dirty="0">
                <a:solidFill>
                  <a:srgbClr val="660033"/>
                </a:solidFill>
              </a:rPr>
              <a:t>5</a:t>
            </a:r>
            <a:r>
              <a:rPr lang="en-US" altLang="zh-CN" sz="2000" b="1" dirty="0">
                <a:solidFill>
                  <a:srgbClr val="660033"/>
                </a:solidFill>
              </a:rPr>
              <a:t>) (J(</a:t>
            </a:r>
            <a:r>
              <a:rPr lang="en-US" altLang="zh-CN" sz="2000" b="1" dirty="0">
                <a:solidFill>
                  <a:srgbClr val="FF0000"/>
                </a:solidFill>
              </a:rPr>
              <a:t>t</a:t>
            </a:r>
            <a:r>
              <a:rPr lang="en-US" altLang="zh-CN" sz="2000" b="1" baseline="-25000" dirty="0">
                <a:solidFill>
                  <a:srgbClr val="FF0000"/>
                </a:solidFill>
              </a:rPr>
              <a:t>1</a:t>
            </a:r>
            <a:r>
              <a:rPr lang="en-US" altLang="zh-CN" sz="2000" b="1" dirty="0">
                <a:solidFill>
                  <a:srgbClr val="FF0000"/>
                </a:solidFill>
              </a:rPr>
              <a:t>t</a:t>
            </a:r>
            <a:r>
              <a:rPr lang="en-US" altLang="zh-CN" sz="2000" b="1" baseline="-25000" dirty="0">
                <a:solidFill>
                  <a:srgbClr val="FF0000"/>
                </a:solidFill>
              </a:rPr>
              <a:t>2</a:t>
            </a:r>
            <a:r>
              <a:rPr lang="en-US" altLang="zh-CN" sz="2000" b="1" dirty="0">
                <a:solidFill>
                  <a:srgbClr val="660033"/>
                </a:solidFill>
              </a:rPr>
              <a:t>u</a:t>
            </a:r>
            <a:r>
              <a:rPr lang="en-US" altLang="zh-CN" sz="2000" b="1" baseline="-25000" dirty="0">
                <a:solidFill>
                  <a:srgbClr val="660033"/>
                </a:solidFill>
              </a:rPr>
              <a:t>3</a:t>
            </a:r>
            <a:r>
              <a:rPr lang="en-US" altLang="zh-CN" sz="2000" b="1" dirty="0">
                <a:solidFill>
                  <a:srgbClr val="660033"/>
                </a:solidFill>
              </a:rPr>
              <a:t>u</a:t>
            </a:r>
            <a:r>
              <a:rPr lang="en-US" altLang="zh-CN" sz="2000" b="1" baseline="-25000" dirty="0">
                <a:solidFill>
                  <a:srgbClr val="660033"/>
                </a:solidFill>
              </a:rPr>
              <a:t>4</a:t>
            </a:r>
            <a:r>
              <a:rPr lang="en-US" altLang="zh-CN" sz="2000" b="1" dirty="0">
                <a:solidFill>
                  <a:srgbClr val="660033"/>
                </a:solidFill>
              </a:rPr>
              <a:t>)</a:t>
            </a:r>
            <a:r>
              <a:rPr lang="en-US" altLang="zh-CN" sz="2000" b="1" dirty="0">
                <a:solidFill>
                  <a:srgbClr val="660033"/>
                </a:solidFill>
                <a:sym typeface="Symbol" pitchFamily="18" charset="2"/>
              </a:rPr>
              <a:t>∧SPJ(v</a:t>
            </a:r>
            <a:r>
              <a:rPr lang="en-US" altLang="zh-CN" sz="2000" b="1" baseline="-25000" dirty="0">
                <a:solidFill>
                  <a:srgbClr val="660033"/>
                </a:solidFill>
                <a:sym typeface="Symbol" pitchFamily="18" charset="2"/>
              </a:rPr>
              <a:t>1</a:t>
            </a:r>
            <a:r>
              <a:rPr lang="en-US" altLang="zh-CN" sz="2000" b="1" dirty="0">
                <a:solidFill>
                  <a:srgbClr val="660033"/>
                </a:solidFill>
                <a:highlight>
                  <a:srgbClr val="00FFFF"/>
                </a:highlight>
                <a:latin typeface="Times New Roman"/>
                <a:sym typeface="Symbol" pitchFamily="18" charset="2"/>
              </a:rPr>
              <a:t>’</a:t>
            </a:r>
            <a:r>
              <a:rPr lang="en-US" altLang="zh-CN" sz="2000" b="1" dirty="0">
                <a:solidFill>
                  <a:srgbClr val="660033"/>
                </a:solidFill>
                <a:highlight>
                  <a:srgbClr val="00FFFF"/>
                </a:highlight>
                <a:sym typeface="Symbol" pitchFamily="18" charset="2"/>
              </a:rPr>
              <a:t>P3</a:t>
            </a:r>
            <a:r>
              <a:rPr lang="en-US" altLang="zh-CN" sz="2000" b="1" dirty="0">
                <a:solidFill>
                  <a:srgbClr val="660033"/>
                </a:solidFill>
                <a:highlight>
                  <a:srgbClr val="00FFFF"/>
                </a:highlight>
                <a:latin typeface="Times New Roman"/>
                <a:sym typeface="Symbol" pitchFamily="18" charset="2"/>
              </a:rPr>
              <a:t>’</a:t>
            </a:r>
            <a:r>
              <a:rPr lang="en-US" altLang="zh-CN" sz="2000" b="1" dirty="0">
                <a:solidFill>
                  <a:srgbClr val="FF0000"/>
                </a:solidFill>
                <a:sym typeface="Symbol" pitchFamily="18" charset="2"/>
              </a:rPr>
              <a:t>t</a:t>
            </a:r>
            <a:r>
              <a:rPr lang="en-US" altLang="zh-CN" sz="2000" b="1" baseline="-25000" dirty="0">
                <a:solidFill>
                  <a:srgbClr val="FF0000"/>
                </a:solidFill>
                <a:sym typeface="Symbol" pitchFamily="18" charset="2"/>
              </a:rPr>
              <a:t>1</a:t>
            </a:r>
            <a:r>
              <a:rPr lang="en-US" altLang="zh-CN" sz="2000" b="1" dirty="0">
                <a:solidFill>
                  <a:srgbClr val="660033"/>
                </a:solidFill>
                <a:sym typeface="Symbol" pitchFamily="18" charset="2"/>
              </a:rPr>
              <a:t>v</a:t>
            </a:r>
            <a:r>
              <a:rPr lang="en-US" altLang="zh-CN" sz="2000" b="1" baseline="-25000" dirty="0">
                <a:solidFill>
                  <a:srgbClr val="660033"/>
                </a:solidFill>
                <a:sym typeface="Symbol" pitchFamily="18" charset="2"/>
              </a:rPr>
              <a:t>4</a:t>
            </a:r>
            <a:r>
              <a:rPr lang="en-US" altLang="zh-CN" sz="2000" b="1" dirty="0">
                <a:solidFill>
                  <a:srgbClr val="660033"/>
                </a:solidFill>
                <a:sym typeface="Symbol" pitchFamily="18" charset="2"/>
              </a:rPr>
              <a:t>v</a:t>
            </a:r>
            <a:r>
              <a:rPr lang="en-US" altLang="zh-CN" sz="2000" b="1" baseline="-25000" dirty="0">
                <a:solidFill>
                  <a:srgbClr val="660033"/>
                </a:solidFill>
                <a:sym typeface="Symbol" pitchFamily="18" charset="2"/>
              </a:rPr>
              <a:t>5</a:t>
            </a:r>
            <a:r>
              <a:rPr lang="en-US" altLang="zh-CN" sz="2000" b="1" dirty="0">
                <a:solidFill>
                  <a:srgbClr val="660033"/>
                </a:solidFill>
                <a:sym typeface="Symbol" pitchFamily="18" charset="2"/>
              </a:rPr>
              <a:t>))}</a:t>
            </a:r>
          </a:p>
        </p:txBody>
      </p:sp>
      <p:sp>
        <p:nvSpPr>
          <p:cNvPr id="720904" name="Rectangle 8"/>
          <p:cNvSpPr>
            <a:spLocks noChangeArrowheads="1"/>
          </p:cNvSpPr>
          <p:nvPr/>
        </p:nvSpPr>
        <p:spPr bwMode="auto">
          <a:xfrm>
            <a:off x="392702" y="4571205"/>
            <a:ext cx="828040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r>
              <a:rPr lang="en-US" altLang="zh-CN" sz="2400" b="1" dirty="0">
                <a:solidFill>
                  <a:schemeClr val="bg2"/>
                </a:solidFill>
              </a:rPr>
              <a:t>3.</a:t>
            </a:r>
            <a:r>
              <a:rPr lang="zh-CN" altLang="en-US" sz="2400" b="1" dirty="0">
                <a:solidFill>
                  <a:schemeClr val="bg2"/>
                </a:solidFill>
              </a:rPr>
              <a:t>检索使用了编号为</a:t>
            </a:r>
            <a:r>
              <a:rPr lang="en-US" altLang="zh-CN" sz="2400" b="1" dirty="0">
                <a:solidFill>
                  <a:schemeClr val="bg2"/>
                </a:solidFill>
              </a:rPr>
              <a:t>P3</a:t>
            </a:r>
            <a:r>
              <a:rPr lang="zh-CN" altLang="en-US" sz="2400" b="1" dirty="0">
                <a:solidFill>
                  <a:schemeClr val="bg2"/>
                </a:solidFill>
              </a:rPr>
              <a:t>零件的工程编号和名称。</a:t>
            </a:r>
          </a:p>
        </p:txBody>
      </p:sp>
      <p:sp>
        <p:nvSpPr>
          <p:cNvPr id="720905" name="Rectangle 9"/>
          <p:cNvSpPr>
            <a:spLocks noChangeArrowheads="1"/>
          </p:cNvSpPr>
          <p:nvPr/>
        </p:nvSpPr>
        <p:spPr bwMode="auto">
          <a:xfrm>
            <a:off x="249374" y="2677464"/>
            <a:ext cx="5554341" cy="46166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lnSpc>
                <a:spcPct val="100000"/>
              </a:lnSpc>
              <a:spcBef>
                <a:spcPct val="0"/>
              </a:spcBef>
            </a:pPr>
            <a:r>
              <a:rPr lang="en-US" altLang="zh-CN" sz="2400" b="1" dirty="0">
                <a:solidFill>
                  <a:srgbClr val="660033"/>
                </a:solidFill>
              </a:rPr>
              <a:t>{t</a:t>
            </a:r>
            <a:r>
              <a:rPr lang="en-US" altLang="zh-CN" sz="2400" b="1" baseline="-25000" dirty="0">
                <a:solidFill>
                  <a:srgbClr val="660033"/>
                </a:solidFill>
              </a:rPr>
              <a:t>1</a:t>
            </a:r>
            <a:r>
              <a:rPr lang="en-US" altLang="zh-CN" sz="2400" b="1" dirty="0">
                <a:solidFill>
                  <a:srgbClr val="660033"/>
                </a:solidFill>
              </a:rPr>
              <a:t>t</a:t>
            </a:r>
            <a:r>
              <a:rPr lang="en-US" altLang="zh-CN" sz="2400" b="1" baseline="-25000" dirty="0">
                <a:solidFill>
                  <a:srgbClr val="660033"/>
                </a:solidFill>
              </a:rPr>
              <a:t>2</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a:t>
            </a:r>
            <a:r>
              <a:rPr lang="en-US" altLang="zh-CN" sz="2400" b="1" baseline="-25000" dirty="0">
                <a:solidFill>
                  <a:srgbClr val="660033"/>
                </a:solidFill>
              </a:rPr>
              <a:t>4</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a:t>
            </a:r>
            <a:r>
              <a:rPr lang="en-US" altLang="zh-CN" sz="2400" b="1" baseline="-25000" dirty="0">
                <a:solidFill>
                  <a:srgbClr val="660033"/>
                </a:solidFill>
              </a:rPr>
              <a:t>5</a:t>
            </a:r>
            <a:r>
              <a:rPr lang="en-US" altLang="zh-CN" sz="2400" b="1" dirty="0">
                <a:solidFill>
                  <a:srgbClr val="660033"/>
                </a:solidFill>
              </a:rPr>
              <a:t>)(SPJ(t</a:t>
            </a:r>
            <a:r>
              <a:rPr lang="en-US" altLang="zh-CN" sz="2400" b="1" baseline="-25000" dirty="0">
                <a:solidFill>
                  <a:srgbClr val="660033"/>
                </a:solidFill>
              </a:rPr>
              <a:t>1</a:t>
            </a:r>
            <a:r>
              <a:rPr lang="en-US" altLang="zh-CN" sz="2400" b="1" dirty="0">
                <a:solidFill>
                  <a:srgbClr val="660033"/>
                </a:solidFill>
              </a:rPr>
              <a:t>t</a:t>
            </a:r>
            <a:r>
              <a:rPr lang="en-US" altLang="zh-CN" sz="2400" b="1" baseline="-25000" dirty="0">
                <a:solidFill>
                  <a:srgbClr val="660033"/>
                </a:solidFill>
              </a:rPr>
              <a:t>2 </a:t>
            </a:r>
            <a:r>
              <a:rPr lang="en-US" altLang="zh-CN" sz="2400" b="1" dirty="0">
                <a:solidFill>
                  <a:srgbClr val="660033"/>
                </a:solidFill>
                <a:latin typeface="Times New Roman"/>
                <a:sym typeface="Symbol" pitchFamily="18" charset="2"/>
              </a:rPr>
              <a:t>’</a:t>
            </a:r>
            <a:r>
              <a:rPr lang="en-US" altLang="zh-CN" sz="2400" b="1" dirty="0">
                <a:solidFill>
                  <a:srgbClr val="660033"/>
                </a:solidFill>
              </a:rPr>
              <a:t>J1</a:t>
            </a:r>
            <a:r>
              <a:rPr lang="en-US" altLang="zh-CN" sz="2400" b="1" dirty="0">
                <a:solidFill>
                  <a:srgbClr val="660033"/>
                </a:solidFill>
                <a:latin typeface="Times New Roman"/>
                <a:sym typeface="Symbol" pitchFamily="18" charset="2"/>
              </a:rPr>
              <a:t>’ </a:t>
            </a:r>
            <a:r>
              <a:rPr lang="en-US" altLang="zh-CN" sz="2400" b="1" dirty="0">
                <a:solidFill>
                  <a:srgbClr val="660033"/>
                </a:solidFill>
              </a:rPr>
              <a:t>u</a:t>
            </a:r>
            <a:r>
              <a:rPr lang="en-US" altLang="zh-CN" sz="2400" b="1" baseline="-25000" dirty="0">
                <a:solidFill>
                  <a:srgbClr val="660033"/>
                </a:solidFill>
              </a:rPr>
              <a:t>4</a:t>
            </a:r>
            <a:r>
              <a:rPr lang="en-US" altLang="zh-CN" sz="2400" b="1" dirty="0">
                <a:solidFill>
                  <a:srgbClr val="660033"/>
                </a:solidFill>
              </a:rPr>
              <a:t>u</a:t>
            </a:r>
            <a:r>
              <a:rPr lang="en-US" altLang="zh-CN" sz="2400" b="1" baseline="-25000" dirty="0">
                <a:solidFill>
                  <a:srgbClr val="660033"/>
                </a:solidFill>
              </a:rPr>
              <a:t>5</a:t>
            </a:r>
            <a:r>
              <a:rPr lang="en-US" altLang="zh-CN" sz="2400" b="1" dirty="0">
                <a:solidFill>
                  <a:srgbClr val="660033"/>
                </a:solidFill>
              </a:rPr>
              <a:t>)</a:t>
            </a:r>
            <a:r>
              <a:rPr lang="en-US" altLang="zh-CN" sz="2400" b="1" dirty="0">
                <a:solidFill>
                  <a:srgbClr val="660033"/>
                </a:solidFill>
                <a:sym typeface="Symbol" pitchFamily="18" charset="2"/>
              </a:rPr>
              <a:t>)}</a:t>
            </a:r>
          </a:p>
        </p:txBody>
      </p:sp>
      <p:sp>
        <p:nvSpPr>
          <p:cNvPr id="720907" name="Rectangle 11"/>
          <p:cNvSpPr>
            <a:spLocks noChangeArrowheads="1"/>
          </p:cNvSpPr>
          <p:nvPr/>
        </p:nvSpPr>
        <p:spPr bwMode="auto">
          <a:xfrm>
            <a:off x="468313" y="4983162"/>
            <a:ext cx="8353425" cy="8223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20000"/>
              </a:lnSpc>
            </a:pPr>
            <a:r>
              <a:rPr lang="en-US" altLang="zh-CN" sz="2000" b="1" dirty="0">
                <a:solidFill>
                  <a:srgbClr val="660033"/>
                </a:solidFill>
              </a:rPr>
              <a:t>{</a:t>
            </a:r>
            <a:r>
              <a:rPr lang="en-US" altLang="zh-CN" sz="2000" b="1" dirty="0">
                <a:solidFill>
                  <a:srgbClr val="FF0000"/>
                </a:solidFill>
              </a:rPr>
              <a:t>t</a:t>
            </a:r>
            <a:r>
              <a:rPr lang="en-US" altLang="zh-CN" sz="2000" b="1" baseline="-25000" dirty="0">
                <a:solidFill>
                  <a:srgbClr val="FF0000"/>
                </a:solidFill>
              </a:rPr>
              <a:t>1</a:t>
            </a:r>
            <a:r>
              <a:rPr lang="en-US" altLang="zh-CN" sz="2000" b="1" dirty="0">
                <a:solidFill>
                  <a:srgbClr val="FF0000"/>
                </a:solidFill>
              </a:rPr>
              <a:t>t</a:t>
            </a:r>
            <a:r>
              <a:rPr lang="en-US" altLang="zh-CN" sz="2000" b="1" baseline="-25000" dirty="0">
                <a:solidFill>
                  <a:srgbClr val="FF0000"/>
                </a:solidFill>
              </a:rPr>
              <a:t>2</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u</a:t>
            </a:r>
            <a:r>
              <a:rPr lang="en-US" altLang="zh-CN" sz="2000" b="1" baseline="-25000" dirty="0">
                <a:solidFill>
                  <a:srgbClr val="660033"/>
                </a:solidFill>
              </a:rPr>
              <a:t>1</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u</a:t>
            </a:r>
            <a:r>
              <a:rPr lang="en-US" altLang="zh-CN" sz="2000" b="1" baseline="-25000" dirty="0">
                <a:solidFill>
                  <a:srgbClr val="660033"/>
                </a:solidFill>
              </a:rPr>
              <a:t>2</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u</a:t>
            </a:r>
            <a:r>
              <a:rPr lang="en-US" altLang="zh-CN" sz="2000" b="1" baseline="-25000" dirty="0">
                <a:solidFill>
                  <a:srgbClr val="660033"/>
                </a:solidFill>
              </a:rPr>
              <a:t>3</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u</a:t>
            </a:r>
            <a:r>
              <a:rPr lang="en-US" altLang="zh-CN" sz="2000" b="1" baseline="-25000" dirty="0">
                <a:solidFill>
                  <a:srgbClr val="660033"/>
                </a:solidFill>
              </a:rPr>
              <a:t>4</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v</a:t>
            </a:r>
            <a:r>
              <a:rPr lang="en-US" altLang="zh-CN" sz="2000" b="1" baseline="-25000" dirty="0">
                <a:solidFill>
                  <a:srgbClr val="660033"/>
                </a:solidFill>
              </a:rPr>
              <a:t>1</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v</a:t>
            </a:r>
            <a:r>
              <a:rPr lang="en-US" altLang="zh-CN" sz="2000" b="1" baseline="-25000" dirty="0">
                <a:solidFill>
                  <a:srgbClr val="660033"/>
                </a:solidFill>
              </a:rPr>
              <a:t>2</a:t>
            </a:r>
            <a:r>
              <a:rPr lang="en-US" altLang="zh-CN" sz="2000" b="1" dirty="0">
                <a:solidFill>
                  <a:srgbClr val="660033"/>
                </a:solidFill>
              </a:rPr>
              <a:t>)(</a:t>
            </a:r>
            <a:r>
              <a:rPr lang="en-US" altLang="zh-CN" sz="2000" b="1" dirty="0">
                <a:solidFill>
                  <a:srgbClr val="660033"/>
                </a:solidFill>
                <a:sym typeface="Symbol" pitchFamily="18" charset="2"/>
              </a:rPr>
              <a:t>v</a:t>
            </a:r>
            <a:r>
              <a:rPr lang="en-US" altLang="zh-CN" sz="2000" b="1" baseline="-25000" dirty="0">
                <a:solidFill>
                  <a:srgbClr val="660033"/>
                </a:solidFill>
                <a:sym typeface="Symbol" pitchFamily="18" charset="2"/>
              </a:rPr>
              <a:t>3</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v</a:t>
            </a:r>
            <a:r>
              <a:rPr lang="en-US" altLang="zh-CN" sz="2000" b="1" baseline="-25000" dirty="0">
                <a:solidFill>
                  <a:srgbClr val="660033"/>
                </a:solidFill>
              </a:rPr>
              <a:t>4</a:t>
            </a:r>
            <a:r>
              <a:rPr lang="en-US" altLang="zh-CN" sz="2000" b="1" dirty="0">
                <a:solidFill>
                  <a:srgbClr val="660033"/>
                </a:solidFill>
              </a:rPr>
              <a:t>)(</a:t>
            </a:r>
            <a:r>
              <a:rPr lang="en-US" altLang="zh-CN" sz="2000" b="1" dirty="0">
                <a:solidFill>
                  <a:srgbClr val="660033"/>
                </a:solidFill>
                <a:sym typeface="Symbol" pitchFamily="18" charset="2"/>
              </a:rPr>
              <a:t></a:t>
            </a:r>
            <a:r>
              <a:rPr lang="en-US" altLang="zh-CN" sz="2000" b="1" dirty="0">
                <a:solidFill>
                  <a:srgbClr val="660033"/>
                </a:solidFill>
              </a:rPr>
              <a:t>v</a:t>
            </a:r>
            <a:r>
              <a:rPr lang="en-US" altLang="zh-CN" sz="2000" b="1" baseline="-25000" dirty="0">
                <a:solidFill>
                  <a:srgbClr val="660033"/>
                </a:solidFill>
              </a:rPr>
              <a:t>5</a:t>
            </a:r>
            <a:r>
              <a:rPr lang="en-US" altLang="zh-CN" sz="2000" b="1" dirty="0">
                <a:solidFill>
                  <a:srgbClr val="660033"/>
                </a:solidFill>
              </a:rPr>
              <a:t>) (</a:t>
            </a:r>
            <a:r>
              <a:rPr lang="en-US" altLang="zh-CN" sz="2000" b="1" dirty="0">
                <a:highlight>
                  <a:srgbClr val="0000FF"/>
                </a:highlight>
              </a:rPr>
              <a:t>J(u</a:t>
            </a:r>
            <a:r>
              <a:rPr lang="en-US" altLang="zh-CN" sz="2000" b="1" baseline="-25000" dirty="0">
                <a:highlight>
                  <a:srgbClr val="0000FF"/>
                </a:highlight>
              </a:rPr>
              <a:t>1</a:t>
            </a:r>
            <a:r>
              <a:rPr lang="en-US" altLang="zh-CN" sz="2000" b="1" dirty="0">
                <a:highlight>
                  <a:srgbClr val="0000FF"/>
                </a:highlight>
              </a:rPr>
              <a:t>u</a:t>
            </a:r>
            <a:r>
              <a:rPr lang="en-US" altLang="zh-CN" sz="2000" b="1" baseline="-25000" dirty="0">
                <a:highlight>
                  <a:srgbClr val="0000FF"/>
                </a:highlight>
              </a:rPr>
              <a:t>2</a:t>
            </a:r>
            <a:r>
              <a:rPr lang="en-US" altLang="zh-CN" sz="2000" b="1" dirty="0">
                <a:highlight>
                  <a:srgbClr val="0000FF"/>
                </a:highlight>
              </a:rPr>
              <a:t>u</a:t>
            </a:r>
            <a:r>
              <a:rPr lang="en-US" altLang="zh-CN" sz="2000" b="1" baseline="-25000" dirty="0">
                <a:highlight>
                  <a:srgbClr val="0000FF"/>
                </a:highlight>
              </a:rPr>
              <a:t>3</a:t>
            </a:r>
            <a:r>
              <a:rPr lang="en-US" altLang="zh-CN" sz="2000" b="1" dirty="0">
                <a:highlight>
                  <a:srgbClr val="0000FF"/>
                </a:highlight>
              </a:rPr>
              <a:t>u</a:t>
            </a:r>
            <a:r>
              <a:rPr lang="en-US" altLang="zh-CN" sz="2000" b="1" baseline="-25000" dirty="0">
                <a:highlight>
                  <a:srgbClr val="0000FF"/>
                </a:highlight>
              </a:rPr>
              <a:t>4</a:t>
            </a:r>
            <a:r>
              <a:rPr lang="en-US" altLang="zh-CN" sz="2000" b="1" dirty="0">
                <a:highlight>
                  <a:srgbClr val="0000FF"/>
                </a:highlight>
              </a:rPr>
              <a:t>)</a:t>
            </a:r>
            <a:r>
              <a:rPr lang="en-US" altLang="zh-CN" sz="2000" b="1" dirty="0">
                <a:solidFill>
                  <a:srgbClr val="660033"/>
                </a:solidFill>
                <a:sym typeface="Symbol" pitchFamily="18" charset="2"/>
              </a:rPr>
              <a:t>∧</a:t>
            </a:r>
            <a:r>
              <a:rPr lang="en-US" altLang="zh-CN" sz="2000" b="1" dirty="0">
                <a:solidFill>
                  <a:srgbClr val="660033"/>
                </a:solidFill>
                <a:highlight>
                  <a:srgbClr val="00FFFF"/>
                </a:highlight>
                <a:sym typeface="Symbol" pitchFamily="18" charset="2"/>
              </a:rPr>
              <a:t>SPJ(v</a:t>
            </a:r>
            <a:r>
              <a:rPr lang="en-US" altLang="zh-CN" sz="2000" b="1" baseline="-25000" dirty="0">
                <a:solidFill>
                  <a:srgbClr val="660033"/>
                </a:solidFill>
                <a:highlight>
                  <a:srgbClr val="00FFFF"/>
                </a:highlight>
                <a:sym typeface="Symbol" pitchFamily="18" charset="2"/>
              </a:rPr>
              <a:t>1</a:t>
            </a:r>
            <a:r>
              <a:rPr lang="en-US" altLang="zh-CN" sz="2000" b="1" dirty="0">
                <a:solidFill>
                  <a:srgbClr val="660033"/>
                </a:solidFill>
                <a:highlight>
                  <a:srgbClr val="00FFFF"/>
                </a:highlight>
                <a:sym typeface="Symbol" pitchFamily="18" charset="2"/>
              </a:rPr>
              <a:t>v</a:t>
            </a:r>
            <a:r>
              <a:rPr lang="en-US" altLang="zh-CN" sz="2000" b="1" baseline="-25000" dirty="0">
                <a:solidFill>
                  <a:srgbClr val="660033"/>
                </a:solidFill>
                <a:highlight>
                  <a:srgbClr val="00FFFF"/>
                </a:highlight>
                <a:sym typeface="Symbol" pitchFamily="18" charset="2"/>
              </a:rPr>
              <a:t>2</a:t>
            </a:r>
            <a:r>
              <a:rPr lang="en-US" altLang="zh-CN" sz="2000" b="1" dirty="0">
                <a:solidFill>
                  <a:srgbClr val="660033"/>
                </a:solidFill>
                <a:highlight>
                  <a:srgbClr val="00FFFF"/>
                </a:highlight>
                <a:sym typeface="Symbol" pitchFamily="18" charset="2"/>
              </a:rPr>
              <a:t>v</a:t>
            </a:r>
            <a:r>
              <a:rPr lang="en-US" altLang="zh-CN" sz="2000" b="1" baseline="-25000" dirty="0">
                <a:solidFill>
                  <a:srgbClr val="660033"/>
                </a:solidFill>
                <a:highlight>
                  <a:srgbClr val="00FFFF"/>
                </a:highlight>
                <a:sym typeface="Symbol" pitchFamily="18" charset="2"/>
              </a:rPr>
              <a:t>3</a:t>
            </a:r>
            <a:r>
              <a:rPr lang="en-US" altLang="zh-CN" sz="2000" b="1" dirty="0">
                <a:solidFill>
                  <a:srgbClr val="660033"/>
                </a:solidFill>
                <a:highlight>
                  <a:srgbClr val="00FFFF"/>
                </a:highlight>
                <a:sym typeface="Symbol" pitchFamily="18" charset="2"/>
              </a:rPr>
              <a:t>v</a:t>
            </a:r>
            <a:r>
              <a:rPr lang="en-US" altLang="zh-CN" sz="2000" b="1" baseline="-25000" dirty="0">
                <a:solidFill>
                  <a:srgbClr val="660033"/>
                </a:solidFill>
                <a:highlight>
                  <a:srgbClr val="00FFFF"/>
                </a:highlight>
                <a:sym typeface="Symbol" pitchFamily="18" charset="2"/>
              </a:rPr>
              <a:t>4</a:t>
            </a:r>
            <a:r>
              <a:rPr lang="en-US" altLang="zh-CN" sz="2000" b="1" dirty="0">
                <a:solidFill>
                  <a:srgbClr val="660033"/>
                </a:solidFill>
                <a:highlight>
                  <a:srgbClr val="00FFFF"/>
                </a:highlight>
                <a:sym typeface="Symbol" pitchFamily="18" charset="2"/>
              </a:rPr>
              <a:t>v</a:t>
            </a:r>
            <a:r>
              <a:rPr lang="en-US" altLang="zh-CN" sz="2000" b="1" baseline="-25000" dirty="0">
                <a:solidFill>
                  <a:srgbClr val="660033"/>
                </a:solidFill>
                <a:highlight>
                  <a:srgbClr val="00FFFF"/>
                </a:highlight>
                <a:sym typeface="Symbol" pitchFamily="18" charset="2"/>
              </a:rPr>
              <a:t>5</a:t>
            </a:r>
            <a:r>
              <a:rPr lang="en-US" altLang="zh-CN" sz="2000" b="1" dirty="0">
                <a:solidFill>
                  <a:srgbClr val="660033"/>
                </a:solidFill>
                <a:highlight>
                  <a:srgbClr val="00FFFF"/>
                </a:highlight>
                <a:sym typeface="Symbol" pitchFamily="18" charset="2"/>
              </a:rPr>
              <a:t>)</a:t>
            </a:r>
            <a:r>
              <a:rPr lang="en-US" altLang="zh-CN" sz="2000" b="1" dirty="0">
                <a:solidFill>
                  <a:srgbClr val="660033"/>
                </a:solidFill>
                <a:sym typeface="Symbol" pitchFamily="18" charset="2"/>
              </a:rPr>
              <a:t>∧</a:t>
            </a:r>
            <a:r>
              <a:rPr lang="en-US" altLang="zh-CN" sz="2000" b="1" dirty="0">
                <a:solidFill>
                  <a:srgbClr val="660033"/>
                </a:solidFill>
                <a:highlight>
                  <a:srgbClr val="00FFFF"/>
                </a:highlight>
                <a:sym typeface="Symbol" pitchFamily="18" charset="2"/>
              </a:rPr>
              <a:t>v</a:t>
            </a:r>
            <a:r>
              <a:rPr lang="en-US" altLang="zh-CN" sz="2000" b="1" baseline="-25000" dirty="0">
                <a:solidFill>
                  <a:srgbClr val="660033"/>
                </a:solidFill>
                <a:highlight>
                  <a:srgbClr val="00FFFF"/>
                </a:highlight>
                <a:sym typeface="Symbol" pitchFamily="18" charset="2"/>
              </a:rPr>
              <a:t>2</a:t>
            </a:r>
            <a:r>
              <a:rPr lang="en-US" altLang="zh-CN" sz="2000" b="1" dirty="0">
                <a:solidFill>
                  <a:srgbClr val="660033"/>
                </a:solidFill>
                <a:sym typeface="Symbol" pitchFamily="18" charset="2"/>
              </a:rPr>
              <a:t>=</a:t>
            </a:r>
            <a:r>
              <a:rPr lang="en-US" altLang="zh-CN" sz="2000" b="1" dirty="0">
                <a:solidFill>
                  <a:srgbClr val="660033"/>
                </a:solidFill>
                <a:latin typeface="Times New Roman"/>
                <a:sym typeface="Symbol" pitchFamily="18" charset="2"/>
              </a:rPr>
              <a:t>‘</a:t>
            </a:r>
            <a:r>
              <a:rPr lang="en-US" altLang="zh-CN" sz="2000" b="1" dirty="0">
                <a:solidFill>
                  <a:srgbClr val="660033"/>
                </a:solidFill>
                <a:sym typeface="Symbol" pitchFamily="18" charset="2"/>
              </a:rPr>
              <a:t>P3</a:t>
            </a:r>
            <a:r>
              <a:rPr lang="en-US" altLang="zh-CN" sz="2000" b="1" dirty="0">
                <a:solidFill>
                  <a:srgbClr val="660033"/>
                </a:solidFill>
                <a:latin typeface="Times New Roman"/>
                <a:sym typeface="Symbol" pitchFamily="18" charset="2"/>
              </a:rPr>
              <a:t>’</a:t>
            </a:r>
            <a:r>
              <a:rPr lang="en-US" altLang="zh-CN" sz="2000" b="1" dirty="0">
                <a:solidFill>
                  <a:srgbClr val="660033"/>
                </a:solidFill>
                <a:sym typeface="Symbol" pitchFamily="18" charset="2"/>
              </a:rPr>
              <a:t>∧</a:t>
            </a:r>
            <a:r>
              <a:rPr lang="en-US" altLang="zh-CN" sz="2000" b="1" dirty="0">
                <a:highlight>
                  <a:srgbClr val="0000FF"/>
                </a:highlight>
              </a:rPr>
              <a:t>u</a:t>
            </a:r>
            <a:r>
              <a:rPr lang="en-US" altLang="zh-CN" sz="2000" b="1" baseline="-25000" dirty="0">
                <a:highlight>
                  <a:srgbClr val="0000FF"/>
                </a:highlight>
              </a:rPr>
              <a:t>1</a:t>
            </a:r>
            <a:r>
              <a:rPr lang="en-US" altLang="zh-CN" sz="2000" b="1" dirty="0">
                <a:solidFill>
                  <a:srgbClr val="660033"/>
                </a:solidFill>
                <a:sym typeface="Symbol" pitchFamily="18" charset="2"/>
              </a:rPr>
              <a:t>=v</a:t>
            </a:r>
            <a:r>
              <a:rPr lang="en-US" altLang="zh-CN" sz="2000" b="1" baseline="-25000" dirty="0">
                <a:solidFill>
                  <a:srgbClr val="660033"/>
                </a:solidFill>
                <a:sym typeface="Symbol" pitchFamily="18" charset="2"/>
              </a:rPr>
              <a:t>3</a:t>
            </a:r>
            <a:r>
              <a:rPr lang="en-US" altLang="zh-CN" sz="2000" b="1" dirty="0">
                <a:solidFill>
                  <a:srgbClr val="660033"/>
                </a:solidFill>
                <a:sym typeface="Symbol" pitchFamily="18" charset="2"/>
              </a:rPr>
              <a:t>∧</a:t>
            </a:r>
            <a:r>
              <a:rPr lang="en-US" altLang="zh-CN" sz="2000" b="1" dirty="0">
                <a:solidFill>
                  <a:srgbClr val="FF0000"/>
                </a:solidFill>
                <a:sym typeface="Symbol" pitchFamily="18" charset="2"/>
              </a:rPr>
              <a:t>t</a:t>
            </a:r>
            <a:r>
              <a:rPr lang="en-US" altLang="zh-CN" sz="2000" b="1" baseline="-25000" dirty="0">
                <a:solidFill>
                  <a:srgbClr val="FF0000"/>
                </a:solidFill>
                <a:sym typeface="Symbol" pitchFamily="18" charset="2"/>
              </a:rPr>
              <a:t>1</a:t>
            </a:r>
            <a:r>
              <a:rPr lang="en-US" altLang="zh-CN" sz="2000" b="1" dirty="0">
                <a:solidFill>
                  <a:srgbClr val="660033"/>
                </a:solidFill>
                <a:sym typeface="Symbol" pitchFamily="18" charset="2"/>
              </a:rPr>
              <a:t>=</a:t>
            </a:r>
            <a:r>
              <a:rPr lang="en-US" altLang="zh-CN" sz="2000" b="1" dirty="0">
                <a:highlight>
                  <a:srgbClr val="0000FF"/>
                </a:highlight>
              </a:rPr>
              <a:t>u</a:t>
            </a:r>
            <a:r>
              <a:rPr lang="en-US" altLang="zh-CN" sz="2000" b="1" baseline="-25000" dirty="0">
                <a:highlight>
                  <a:srgbClr val="0000FF"/>
                </a:highlight>
              </a:rPr>
              <a:t>1</a:t>
            </a:r>
            <a:r>
              <a:rPr lang="en-US" altLang="zh-CN" sz="2000" b="1" dirty="0">
                <a:solidFill>
                  <a:srgbClr val="660033"/>
                </a:solidFill>
                <a:sym typeface="Symbol" pitchFamily="18" charset="2"/>
              </a:rPr>
              <a:t>∧</a:t>
            </a:r>
            <a:r>
              <a:rPr lang="en-US" altLang="zh-CN" sz="2000" b="1" dirty="0">
                <a:solidFill>
                  <a:srgbClr val="FF0000"/>
                </a:solidFill>
                <a:sym typeface="Symbol" pitchFamily="18" charset="2"/>
              </a:rPr>
              <a:t>t</a:t>
            </a:r>
            <a:r>
              <a:rPr lang="en-US" altLang="zh-CN" sz="2000" b="1" baseline="-25000" dirty="0">
                <a:solidFill>
                  <a:srgbClr val="FF0000"/>
                </a:solidFill>
                <a:sym typeface="Symbol" pitchFamily="18" charset="2"/>
              </a:rPr>
              <a:t>2</a:t>
            </a:r>
            <a:r>
              <a:rPr lang="en-US" altLang="zh-CN" sz="2000" b="1" dirty="0">
                <a:solidFill>
                  <a:srgbClr val="660033"/>
                </a:solidFill>
                <a:sym typeface="Symbol" pitchFamily="18" charset="2"/>
              </a:rPr>
              <a:t>=</a:t>
            </a:r>
            <a:r>
              <a:rPr lang="en-US" altLang="zh-CN" sz="2000" b="1" dirty="0">
                <a:highlight>
                  <a:srgbClr val="0000FF"/>
                </a:highlight>
              </a:rPr>
              <a:t>u</a:t>
            </a:r>
            <a:r>
              <a:rPr lang="en-US" altLang="zh-CN" sz="2000" b="1" baseline="-25000" dirty="0">
                <a:highlight>
                  <a:srgbClr val="0000FF"/>
                </a:highlight>
              </a:rPr>
              <a:t>2</a:t>
            </a:r>
            <a:r>
              <a:rPr lang="en-US" altLang="zh-CN" sz="2000" b="1" dirty="0">
                <a:solidFill>
                  <a:srgbClr val="660033"/>
                </a:solidFill>
                <a:sym typeface="Symbol" pitchFamily="18" charset="2"/>
              </a:rPr>
              <a:t>)} </a:t>
            </a:r>
          </a:p>
        </p:txBody>
      </p:sp>
      <p:graphicFrame>
        <p:nvGraphicFramePr>
          <p:cNvPr id="11" name="表格 10">
            <a:extLst>
              <a:ext uri="{FF2B5EF4-FFF2-40B4-BE49-F238E27FC236}">
                <a16:creationId xmlns:a16="http://schemas.microsoft.com/office/drawing/2014/main" id="{2816342B-C565-B542-B3B8-2805E80A0C2F}"/>
              </a:ext>
            </a:extLst>
          </p:cNvPr>
          <p:cNvGraphicFramePr>
            <a:graphicFrameLocks noGrp="1"/>
          </p:cNvGraphicFramePr>
          <p:nvPr>
            <p:extLst>
              <p:ext uri="{D42A27DB-BD31-4B8C-83A1-F6EECF244321}">
                <p14:modId xmlns:p14="http://schemas.microsoft.com/office/powerpoint/2010/main" val="4196731183"/>
              </p:ext>
            </p:extLst>
          </p:nvPr>
        </p:nvGraphicFramePr>
        <p:xfrm>
          <a:off x="42624" y="726045"/>
          <a:ext cx="4743479" cy="741680"/>
        </p:xfrm>
        <a:graphic>
          <a:graphicData uri="http://schemas.openxmlformats.org/drawingml/2006/table">
            <a:tbl>
              <a:tblPr firstRow="1" bandRow="1">
                <a:tableStyleId>{5C22544A-7EE6-4342-B048-85BDC9FD1C3A}</a:tableStyleId>
              </a:tblPr>
              <a:tblGrid>
                <a:gridCol w="683568">
                  <a:extLst>
                    <a:ext uri="{9D8B030D-6E8A-4147-A177-3AD203B41FA5}">
                      <a16:colId xmlns:a16="http://schemas.microsoft.com/office/drawing/2014/main" val="3624112539"/>
                    </a:ext>
                  </a:extLst>
                </a:gridCol>
                <a:gridCol w="720080">
                  <a:extLst>
                    <a:ext uri="{9D8B030D-6E8A-4147-A177-3AD203B41FA5}">
                      <a16:colId xmlns:a16="http://schemas.microsoft.com/office/drawing/2014/main" val="851219932"/>
                    </a:ext>
                  </a:extLst>
                </a:gridCol>
                <a:gridCol w="717850">
                  <a:extLst>
                    <a:ext uri="{9D8B030D-6E8A-4147-A177-3AD203B41FA5}">
                      <a16:colId xmlns:a16="http://schemas.microsoft.com/office/drawing/2014/main" val="1016015763"/>
                    </a:ext>
                  </a:extLst>
                </a:gridCol>
                <a:gridCol w="839910">
                  <a:extLst>
                    <a:ext uri="{9D8B030D-6E8A-4147-A177-3AD203B41FA5}">
                      <a16:colId xmlns:a16="http://schemas.microsoft.com/office/drawing/2014/main" val="2649775867"/>
                    </a:ext>
                  </a:extLst>
                </a:gridCol>
                <a:gridCol w="1059017">
                  <a:extLst>
                    <a:ext uri="{9D8B030D-6E8A-4147-A177-3AD203B41FA5}">
                      <a16:colId xmlns:a16="http://schemas.microsoft.com/office/drawing/2014/main" val="3781189654"/>
                    </a:ext>
                  </a:extLst>
                </a:gridCol>
                <a:gridCol w="723054">
                  <a:extLst>
                    <a:ext uri="{9D8B030D-6E8A-4147-A177-3AD203B41FA5}">
                      <a16:colId xmlns:a16="http://schemas.microsoft.com/office/drawing/2014/main" val="241062383"/>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extLst>
                  <a:ext uri="{0D108BD9-81ED-4DB2-BD59-A6C34878D82A}">
                    <a16:rowId xmlns:a16="http://schemas.microsoft.com/office/drawing/2014/main" val="1274320833"/>
                  </a:ext>
                </a:extLst>
              </a:tr>
              <a:tr h="370840">
                <a:tc>
                  <a:txBody>
                    <a:bodyPr/>
                    <a:lstStyle/>
                    <a:p>
                      <a:pPr algn="ctr"/>
                      <a:r>
                        <a:rPr lang="en-US" altLang="zh-CN" sz="1800" b="1" u="none" kern="1200" dirty="0">
                          <a:solidFill>
                            <a:schemeClr val="bg2"/>
                          </a:solidFill>
                          <a:latin typeface="+mn-lt"/>
                          <a:ea typeface="+mn-ea"/>
                          <a:cs typeface="+mn-cs"/>
                        </a:rPr>
                        <a:t>SPJ(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SNO,</a:t>
                      </a:r>
                      <a:endParaRPr lang="zh-CN" altLang="en-US" dirty="0"/>
                    </a:p>
                  </a:txBody>
                  <a:tcPr/>
                </a:tc>
                <a:tc>
                  <a:txBody>
                    <a:bodyPr/>
                    <a:lstStyle/>
                    <a:p>
                      <a:pPr algn="ctr"/>
                      <a:r>
                        <a:rPr lang="en-US" altLang="zh-CN" sz="1800" b="1" u="sng" dirty="0">
                          <a:solidFill>
                            <a:schemeClr val="bg2"/>
                          </a:solidFill>
                        </a:rPr>
                        <a:t>PNO,</a:t>
                      </a:r>
                      <a:endParaRPr lang="zh-CN" altLang="en-US" dirty="0"/>
                    </a:p>
                  </a:txBody>
                  <a:tcPr/>
                </a:tc>
                <a:tc>
                  <a:txBody>
                    <a:bodyPr/>
                    <a:lstStyle/>
                    <a:p>
                      <a:pPr algn="ctr"/>
                      <a:r>
                        <a:rPr lang="en-US" altLang="zh-CN" sz="1800" b="1" u="sng" dirty="0">
                          <a:solidFill>
                            <a:schemeClr val="bg2"/>
                          </a:solidFill>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PRICE,</a:t>
                      </a:r>
                      <a:endParaRPr lang="zh-CN" altLang="en-US" dirty="0"/>
                    </a:p>
                  </a:txBody>
                  <a:tcPr/>
                </a:tc>
                <a:tc>
                  <a:txBody>
                    <a:bodyPr/>
                    <a:lstStyle/>
                    <a:p>
                      <a:pPr algn="ctr"/>
                      <a:r>
                        <a:rPr lang="en-US" altLang="zh-CN" sz="1800" b="1" dirty="0">
                          <a:solidFill>
                            <a:schemeClr val="bg2"/>
                          </a:solidFill>
                        </a:rPr>
                        <a:t>QTY)</a:t>
                      </a:r>
                      <a:endParaRPr lang="zh-CN" altLang="en-US" dirty="0"/>
                    </a:p>
                  </a:txBody>
                  <a:tcPr/>
                </a:tc>
                <a:extLst>
                  <a:ext uri="{0D108BD9-81ED-4DB2-BD59-A6C34878D82A}">
                    <a16:rowId xmlns:a16="http://schemas.microsoft.com/office/drawing/2014/main" val="822562478"/>
                  </a:ext>
                </a:extLst>
              </a:tr>
            </a:tbl>
          </a:graphicData>
        </a:graphic>
      </p:graphicFrame>
      <p:graphicFrame>
        <p:nvGraphicFramePr>
          <p:cNvPr id="12" name="表格 3">
            <a:extLst>
              <a:ext uri="{FF2B5EF4-FFF2-40B4-BE49-F238E27FC236}">
                <a16:creationId xmlns:a16="http://schemas.microsoft.com/office/drawing/2014/main" id="{7C018E3D-3241-E240-B77E-C9E027252360}"/>
              </a:ext>
            </a:extLst>
          </p:cNvPr>
          <p:cNvGraphicFramePr>
            <a:graphicFrameLocks noGrp="1"/>
          </p:cNvGraphicFramePr>
          <p:nvPr>
            <p:extLst>
              <p:ext uri="{D42A27DB-BD31-4B8C-83A1-F6EECF244321}">
                <p14:modId xmlns:p14="http://schemas.microsoft.com/office/powerpoint/2010/main" val="3287096789"/>
              </p:ext>
            </p:extLst>
          </p:nvPr>
        </p:nvGraphicFramePr>
        <p:xfrm>
          <a:off x="4745404" y="717122"/>
          <a:ext cx="4368736" cy="741680"/>
        </p:xfrm>
        <a:graphic>
          <a:graphicData uri="http://schemas.openxmlformats.org/drawingml/2006/table">
            <a:tbl>
              <a:tblPr firstRow="1" bandRow="1">
                <a:tableStyleId>{21E4AEA4-8DFA-4A89-87EB-49C32662AFE0}</a:tableStyleId>
              </a:tblPr>
              <a:tblGrid>
                <a:gridCol w="386487">
                  <a:extLst>
                    <a:ext uri="{9D8B030D-6E8A-4147-A177-3AD203B41FA5}">
                      <a16:colId xmlns:a16="http://schemas.microsoft.com/office/drawing/2014/main" val="2512462284"/>
                    </a:ext>
                  </a:extLst>
                </a:gridCol>
                <a:gridCol w="737662">
                  <a:extLst>
                    <a:ext uri="{9D8B030D-6E8A-4147-A177-3AD203B41FA5}">
                      <a16:colId xmlns:a16="http://schemas.microsoft.com/office/drawing/2014/main" val="3152180614"/>
                    </a:ext>
                  </a:extLst>
                </a:gridCol>
                <a:gridCol w="998116">
                  <a:extLst>
                    <a:ext uri="{9D8B030D-6E8A-4147-A177-3AD203B41FA5}">
                      <a16:colId xmlns:a16="http://schemas.microsoft.com/office/drawing/2014/main" val="2487654462"/>
                    </a:ext>
                  </a:extLst>
                </a:gridCol>
                <a:gridCol w="864096">
                  <a:extLst>
                    <a:ext uri="{9D8B030D-6E8A-4147-A177-3AD203B41FA5}">
                      <a16:colId xmlns:a16="http://schemas.microsoft.com/office/drawing/2014/main" val="462313814"/>
                    </a:ext>
                  </a:extLst>
                </a:gridCol>
                <a:gridCol w="1382375">
                  <a:extLst>
                    <a:ext uri="{9D8B030D-6E8A-4147-A177-3AD203B41FA5}">
                      <a16:colId xmlns:a16="http://schemas.microsoft.com/office/drawing/2014/main" val="332626903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rPr>
                        <a:t>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JNAME,</a:t>
                      </a:r>
                      <a:endParaRPr lang="zh-CN" altLang="en-US" dirty="0"/>
                    </a:p>
                  </a:txBody>
                  <a:tcPr/>
                </a:tc>
                <a:tc>
                  <a:txBody>
                    <a:bodyPr/>
                    <a:lstStyle/>
                    <a:p>
                      <a:pPr algn="ctr"/>
                      <a:r>
                        <a:rPr lang="en-US" altLang="zh-CN" sz="1800" b="1" dirty="0">
                          <a:solidFill>
                            <a:schemeClr val="bg2"/>
                          </a:solidFill>
                        </a:rPr>
                        <a:t>JCITY,</a:t>
                      </a:r>
                      <a:endParaRPr lang="zh-CN" altLang="en-US" dirty="0"/>
                    </a:p>
                  </a:txBody>
                  <a:tcPr/>
                </a:tc>
                <a:tc>
                  <a:txBody>
                    <a:bodyPr/>
                    <a:lstStyle/>
                    <a:p>
                      <a:pPr algn="ctr"/>
                      <a:r>
                        <a:rPr lang="en-US" altLang="zh-CN" sz="1800" b="1" dirty="0">
                          <a:solidFill>
                            <a:schemeClr val="bg2"/>
                          </a:solidFill>
                        </a:rPr>
                        <a:t>BALANCE)</a:t>
                      </a:r>
                      <a:endParaRPr lang="zh-CN" altLang="en-US" dirty="0"/>
                    </a:p>
                  </a:txBody>
                  <a:tcPr/>
                </a:tc>
                <a:extLst>
                  <a:ext uri="{0D108BD9-81ED-4DB2-BD59-A6C34878D82A}">
                    <a16:rowId xmlns:a16="http://schemas.microsoft.com/office/drawing/2014/main" val="55399663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20900"/>
                                        </p:tgtEl>
                                        <p:attrNameLst>
                                          <p:attrName>style.visibility</p:attrName>
                                        </p:attrNameLst>
                                      </p:cBhvr>
                                      <p:to>
                                        <p:strVal val="visible"/>
                                      </p:to>
                                    </p:set>
                                    <p:animEffect transition="in" filter="blinds(horizontal)">
                                      <p:cBhvr>
                                        <p:cTn id="7" dur="500"/>
                                        <p:tgtEl>
                                          <p:spTgt spid="72090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20905"/>
                                        </p:tgtEl>
                                        <p:attrNameLst>
                                          <p:attrName>style.visibility</p:attrName>
                                        </p:attrNameLst>
                                      </p:cBhvr>
                                      <p:to>
                                        <p:strVal val="visible"/>
                                      </p:to>
                                    </p:set>
                                    <p:animEffect transition="in" filter="blinds(horizontal)">
                                      <p:cBhvr>
                                        <p:cTn id="12" dur="500"/>
                                        <p:tgtEl>
                                          <p:spTgt spid="72090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20901"/>
                                        </p:tgtEl>
                                        <p:attrNameLst>
                                          <p:attrName>style.visibility</p:attrName>
                                        </p:attrNameLst>
                                      </p:cBhvr>
                                      <p:to>
                                        <p:strVal val="visible"/>
                                      </p:to>
                                    </p:set>
                                    <p:animEffect transition="in" filter="blinds(horizontal)">
                                      <p:cBhvr>
                                        <p:cTn id="17" dur="500"/>
                                        <p:tgtEl>
                                          <p:spTgt spid="72090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20902"/>
                                        </p:tgtEl>
                                        <p:attrNameLst>
                                          <p:attrName>style.visibility</p:attrName>
                                        </p:attrNameLst>
                                      </p:cBhvr>
                                      <p:to>
                                        <p:strVal val="visible"/>
                                      </p:to>
                                    </p:set>
                                    <p:animEffect transition="in" filter="blinds(horizontal)">
                                      <p:cBhvr>
                                        <p:cTn id="22" dur="500"/>
                                        <p:tgtEl>
                                          <p:spTgt spid="72090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20904"/>
                                        </p:tgtEl>
                                        <p:attrNameLst>
                                          <p:attrName>style.visibility</p:attrName>
                                        </p:attrNameLst>
                                      </p:cBhvr>
                                      <p:to>
                                        <p:strVal val="visible"/>
                                      </p:to>
                                    </p:set>
                                    <p:animEffect transition="in" filter="blinds(horizontal)">
                                      <p:cBhvr>
                                        <p:cTn id="27" dur="500"/>
                                        <p:tgtEl>
                                          <p:spTgt spid="72090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720907"/>
                                        </p:tgtEl>
                                        <p:attrNameLst>
                                          <p:attrName>style.visibility</p:attrName>
                                        </p:attrNameLst>
                                      </p:cBhvr>
                                      <p:to>
                                        <p:strVal val="visible"/>
                                      </p:to>
                                    </p:set>
                                    <p:animEffect transition="in" filter="blinds(horizontal)">
                                      <p:cBhvr>
                                        <p:cTn id="32" dur="500"/>
                                        <p:tgtEl>
                                          <p:spTgt spid="72090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720903"/>
                                        </p:tgtEl>
                                        <p:attrNameLst>
                                          <p:attrName>style.visibility</p:attrName>
                                        </p:attrNameLst>
                                      </p:cBhvr>
                                      <p:to>
                                        <p:strVal val="visible"/>
                                      </p:to>
                                    </p:set>
                                    <p:animEffect transition="in" filter="blinds(horizontal)">
                                      <p:cBhvr>
                                        <p:cTn id="37" dur="500"/>
                                        <p:tgtEl>
                                          <p:spTgt spid="7209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0900" grpId="0"/>
      <p:bldP spid="720901" grpId="0"/>
      <p:bldP spid="720902" grpId="0"/>
      <p:bldP spid="720903" grpId="0"/>
      <p:bldP spid="720904" grpId="0"/>
      <p:bldP spid="720905" grpId="0"/>
      <p:bldP spid="720907" grpId="0"/>
    </p:bldLst>
  </p:timing>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2594" name="Rectangle 2"/>
          <p:cNvSpPr>
            <a:spLocks noChangeArrowheads="1"/>
          </p:cNvSpPr>
          <p:nvPr/>
        </p:nvSpPr>
        <p:spPr bwMode="auto">
          <a:xfrm>
            <a:off x="-19569" y="3662874"/>
            <a:ext cx="9144000" cy="3077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457200" indent="-457200">
              <a:lnSpc>
                <a:spcPct val="100000"/>
              </a:lnSpc>
              <a:spcBef>
                <a:spcPts val="600"/>
              </a:spcBef>
              <a:spcAft>
                <a:spcPts val="600"/>
              </a:spcAft>
            </a:pPr>
            <a:r>
              <a:rPr lang="en-US" altLang="zh-CN" sz="2400" b="1" dirty="0">
                <a:solidFill>
                  <a:srgbClr val="000099"/>
                </a:solidFill>
              </a:rPr>
              <a:t>  </a:t>
            </a:r>
            <a:r>
              <a:rPr lang="zh-CN" altLang="en-US" sz="2400" b="1" dirty="0">
                <a:solidFill>
                  <a:srgbClr val="000099"/>
                </a:solidFill>
              </a:rPr>
              <a:t>安全运算：</a:t>
            </a:r>
            <a:r>
              <a:rPr lang="zh-CN" altLang="en-US" sz="2400" b="1" dirty="0">
                <a:solidFill>
                  <a:schemeClr val="bg2"/>
                </a:solidFill>
                <a:cs typeface="Times New Roman" pitchFamily="18" charset="0"/>
              </a:rPr>
              <a:t>不产生无限关系和无穷次验证</a:t>
            </a:r>
            <a:r>
              <a:rPr lang="zh-CN" altLang="en-US" sz="2400" b="1" dirty="0">
                <a:solidFill>
                  <a:schemeClr val="bg2"/>
                </a:solidFill>
              </a:rPr>
              <a:t>的运算称为安全运算，</a:t>
            </a:r>
          </a:p>
          <a:p>
            <a:pPr marL="457200" indent="-457200">
              <a:lnSpc>
                <a:spcPct val="100000"/>
              </a:lnSpc>
              <a:spcBef>
                <a:spcPts val="600"/>
              </a:spcBef>
              <a:spcAft>
                <a:spcPts val="600"/>
              </a:spcAft>
            </a:pPr>
            <a:r>
              <a:rPr lang="zh-CN" altLang="en-US" sz="2400" b="1" dirty="0">
                <a:solidFill>
                  <a:schemeClr val="bg2"/>
                </a:solidFill>
              </a:rPr>
              <a:t>  相应的</a:t>
            </a:r>
            <a:r>
              <a:rPr lang="zh-CN" altLang="en-US" sz="2400" b="1" dirty="0">
                <a:solidFill>
                  <a:schemeClr val="bg2"/>
                </a:solidFill>
                <a:cs typeface="Times New Roman" pitchFamily="18" charset="0"/>
              </a:rPr>
              <a:t>表达式称为是安全表达式。</a:t>
            </a:r>
            <a:r>
              <a:rPr lang="zh-CN" altLang="en-US" sz="2400" b="1" dirty="0">
                <a:solidFill>
                  <a:schemeClr val="bg2"/>
                </a:solidFill>
              </a:rPr>
              <a:t>所采用的措施称为安全约束。</a:t>
            </a:r>
          </a:p>
          <a:p>
            <a:pPr indent="-457200" algn="l">
              <a:lnSpc>
                <a:spcPct val="100000"/>
              </a:lnSpc>
              <a:spcBef>
                <a:spcPts val="600"/>
              </a:spcBef>
              <a:spcAft>
                <a:spcPts val="600"/>
              </a:spcAft>
            </a:pPr>
            <a:r>
              <a:rPr lang="zh-CN" altLang="en-US" sz="2400" b="1" dirty="0">
                <a:solidFill>
                  <a:srgbClr val="660033"/>
                </a:solidFill>
              </a:rPr>
              <a:t>  安全约束：</a:t>
            </a:r>
            <a:r>
              <a:rPr lang="zh-CN" altLang="en-US" sz="2400" b="1" dirty="0">
                <a:solidFill>
                  <a:schemeClr val="bg2"/>
                </a:solidFill>
              </a:rPr>
              <a:t>对关系演算表达式施加限定条件，对表达式中的变量 </a:t>
            </a:r>
            <a:endParaRPr lang="en-US" altLang="zh-CN" sz="2400" b="1" dirty="0">
              <a:solidFill>
                <a:schemeClr val="bg2"/>
              </a:solidFill>
            </a:endParaRPr>
          </a:p>
          <a:p>
            <a:pPr indent="-457200" algn="l">
              <a:lnSpc>
                <a:spcPct val="100000"/>
              </a:lnSpc>
              <a:spcBef>
                <a:spcPts val="600"/>
              </a:spcBef>
              <a:spcAft>
                <a:spcPts val="600"/>
              </a:spcAft>
            </a:pPr>
            <a:r>
              <a:rPr lang="zh-CN" altLang="en-US" sz="2400" b="1" dirty="0">
                <a:solidFill>
                  <a:schemeClr val="bg2"/>
                </a:solidFill>
              </a:rPr>
              <a:t>           取值规定一个范围，使之不产生无限关系和无穷验证。</a:t>
            </a:r>
            <a:endParaRPr lang="en-US" altLang="zh-CN" sz="2400" b="1" dirty="0">
              <a:solidFill>
                <a:schemeClr val="bg2"/>
              </a:solidFill>
            </a:endParaRPr>
          </a:p>
          <a:p>
            <a:pPr indent="-457200" algn="l">
              <a:lnSpc>
                <a:spcPct val="100000"/>
              </a:lnSpc>
              <a:spcBef>
                <a:spcPts val="600"/>
              </a:spcBef>
              <a:spcAft>
                <a:spcPts val="600"/>
              </a:spcAft>
            </a:pPr>
            <a:r>
              <a:rPr lang="zh-CN" altLang="en-US" sz="2400" b="1" dirty="0">
                <a:solidFill>
                  <a:srgbClr val="660033"/>
                </a:solidFill>
              </a:rPr>
              <a:t>  安全约束集</a:t>
            </a:r>
            <a:r>
              <a:rPr lang="en-US" altLang="zh-CN" sz="2400" b="1" dirty="0">
                <a:solidFill>
                  <a:srgbClr val="660033"/>
                </a:solidFill>
              </a:rPr>
              <a:t>DOM(</a:t>
            </a:r>
            <a:r>
              <a:rPr lang="en-US" altLang="zh-CN" sz="2400" b="1" dirty="0">
                <a:solidFill>
                  <a:srgbClr val="660033"/>
                </a:solidFill>
                <a:sym typeface="Symbol" pitchFamily="18" charset="2"/>
              </a:rPr>
              <a:t></a:t>
            </a:r>
            <a:r>
              <a:rPr lang="en-US" altLang="zh-CN" sz="2400" b="1" dirty="0">
                <a:solidFill>
                  <a:srgbClr val="660033"/>
                </a:solidFill>
              </a:rPr>
              <a:t>):</a:t>
            </a:r>
            <a:r>
              <a:rPr lang="en-US" altLang="zh-CN" sz="2400" b="1" dirty="0">
                <a:solidFill>
                  <a:schemeClr val="bg2"/>
                </a:solidFill>
              </a:rPr>
              <a:t> </a:t>
            </a:r>
            <a:r>
              <a:rPr lang="zh-CN" altLang="en-US" sz="2400" b="1" dirty="0">
                <a:solidFill>
                  <a:schemeClr val="bg2"/>
                </a:solidFill>
              </a:rPr>
              <a:t>公式</a:t>
            </a:r>
            <a:r>
              <a:rPr lang="zh-CN" altLang="en-US" sz="2400" b="1" dirty="0">
                <a:solidFill>
                  <a:schemeClr val="bg2"/>
                </a:solidFill>
                <a:sym typeface="Symbol" pitchFamily="18" charset="2"/>
              </a:rPr>
              <a:t>中的常量和中所出现关系的所有</a:t>
            </a:r>
          </a:p>
          <a:p>
            <a:pPr indent="-457200" algn="l">
              <a:lnSpc>
                <a:spcPct val="100000"/>
              </a:lnSpc>
              <a:spcBef>
                <a:spcPts val="600"/>
              </a:spcBef>
              <a:spcAft>
                <a:spcPts val="600"/>
              </a:spcAft>
            </a:pPr>
            <a:r>
              <a:rPr lang="zh-CN" altLang="en-US" sz="2400" b="1" dirty="0">
                <a:solidFill>
                  <a:schemeClr val="bg2"/>
                </a:solidFill>
                <a:sym typeface="Symbol" pitchFamily="18" charset="2"/>
              </a:rPr>
              <a:t>                     属性值组成的集合。</a:t>
            </a:r>
          </a:p>
        </p:txBody>
      </p:sp>
      <p:sp>
        <p:nvSpPr>
          <p:cNvPr id="622595" name="Rectangle 3"/>
          <p:cNvSpPr>
            <a:spLocks noChangeArrowheads="1"/>
          </p:cNvSpPr>
          <p:nvPr/>
        </p:nvSpPr>
        <p:spPr bwMode="auto">
          <a:xfrm>
            <a:off x="198815" y="133938"/>
            <a:ext cx="8893175" cy="351442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zh-CN" altLang="en-US" sz="2400" b="1" dirty="0">
                <a:solidFill>
                  <a:srgbClr val="000099"/>
                </a:solidFill>
              </a:rPr>
              <a:t>三、关系运算的安全性和等价性</a:t>
            </a:r>
          </a:p>
          <a:p>
            <a:pPr>
              <a:lnSpc>
                <a:spcPct val="150000"/>
              </a:lnSpc>
            </a:pPr>
            <a:r>
              <a:rPr lang="zh-CN" altLang="en-US" sz="2400" b="1" dirty="0">
                <a:solidFill>
                  <a:srgbClr val="660033"/>
                </a:solidFill>
              </a:rPr>
              <a:t>  </a:t>
            </a:r>
            <a:r>
              <a:rPr lang="en-US" altLang="zh-CN" sz="2400" b="1" dirty="0">
                <a:solidFill>
                  <a:srgbClr val="660033"/>
                </a:solidFill>
              </a:rPr>
              <a:t>1.</a:t>
            </a:r>
            <a:r>
              <a:rPr lang="zh-CN" altLang="en-US" sz="2400" b="1" dirty="0">
                <a:solidFill>
                  <a:srgbClr val="660033"/>
                </a:solidFill>
              </a:rPr>
              <a:t>关系运算的安全性</a:t>
            </a:r>
          </a:p>
          <a:p>
            <a:pPr>
              <a:lnSpc>
                <a:spcPct val="150000"/>
              </a:lnSpc>
            </a:pPr>
            <a:r>
              <a:rPr lang="zh-CN" altLang="en-US" sz="2400" b="1" dirty="0">
                <a:solidFill>
                  <a:srgbClr val="660033"/>
                </a:solidFill>
              </a:rPr>
              <a:t>   无限关系（指元组个数为无穷多个的关系）</a:t>
            </a:r>
            <a:r>
              <a:rPr lang="zh-CN" altLang="en-US" sz="2400" b="1" dirty="0">
                <a:solidFill>
                  <a:schemeClr val="bg2"/>
                </a:solidFill>
              </a:rPr>
              <a:t> </a:t>
            </a:r>
            <a:r>
              <a:rPr lang="en-US" altLang="zh-CN" sz="2400" b="1" dirty="0">
                <a:solidFill>
                  <a:schemeClr val="bg2"/>
                </a:solidFill>
              </a:rPr>
              <a:t>{t|</a:t>
            </a:r>
            <a:r>
              <a:rPr lang="en-US" altLang="zh-CN" sz="2400" b="1" dirty="0">
                <a:solidFill>
                  <a:schemeClr val="bg2"/>
                </a:solidFill>
                <a:sym typeface="Symbol" pitchFamily="18" charset="2"/>
              </a:rPr>
              <a:t></a:t>
            </a:r>
            <a:r>
              <a:rPr lang="en-US" altLang="zh-CN" sz="2400" b="1" dirty="0">
                <a:solidFill>
                  <a:schemeClr val="bg2"/>
                </a:solidFill>
              </a:rPr>
              <a:t>R(t)} </a:t>
            </a:r>
            <a:r>
              <a:rPr lang="zh-CN" altLang="en-US" sz="2400" b="1" dirty="0">
                <a:solidFill>
                  <a:schemeClr val="bg2"/>
                </a:solidFill>
              </a:rPr>
              <a:t> </a:t>
            </a:r>
          </a:p>
          <a:p>
            <a:pPr>
              <a:lnSpc>
                <a:spcPct val="150000"/>
              </a:lnSpc>
            </a:pPr>
            <a:r>
              <a:rPr lang="zh-CN" altLang="en-US" sz="2400" b="1" dirty="0">
                <a:solidFill>
                  <a:schemeClr val="bg2"/>
                </a:solidFill>
              </a:rPr>
              <a:t>   </a:t>
            </a:r>
            <a:r>
              <a:rPr lang="zh-CN" altLang="en-US" sz="2400" b="1" dirty="0">
                <a:solidFill>
                  <a:srgbClr val="660033"/>
                </a:solidFill>
              </a:rPr>
              <a:t>无穷验证（验证公式真假时需要进行无限次验证）</a:t>
            </a:r>
            <a:endParaRPr lang="en-US" altLang="zh-CN" sz="2400" b="1" dirty="0">
              <a:solidFill>
                <a:srgbClr val="660033"/>
              </a:solidFill>
            </a:endParaRPr>
          </a:p>
          <a:p>
            <a:pPr>
              <a:lnSpc>
                <a:spcPct val="150000"/>
              </a:lnSpc>
            </a:pPr>
            <a:r>
              <a:rPr lang="zh-CN" altLang="en-US" sz="2400" b="1" dirty="0">
                <a:solidFill>
                  <a:schemeClr val="bg2"/>
                </a:solidFill>
              </a:rPr>
              <a:t>      验证</a:t>
            </a:r>
            <a:r>
              <a:rPr lang="en-US" altLang="zh-CN" sz="2400" b="1" dirty="0">
                <a:solidFill>
                  <a:schemeClr val="bg2"/>
                </a:solidFill>
              </a:rPr>
              <a:t>(</a:t>
            </a:r>
            <a:r>
              <a:rPr lang="en-US" altLang="zh-CN" sz="2400" b="1" dirty="0">
                <a:solidFill>
                  <a:schemeClr val="bg2"/>
                </a:solidFill>
                <a:sym typeface="Symbol" pitchFamily="18" charset="2"/>
              </a:rPr>
              <a:t></a:t>
            </a:r>
            <a:r>
              <a:rPr lang="en-US" altLang="zh-CN" sz="2400" b="1" dirty="0">
                <a:solidFill>
                  <a:schemeClr val="bg2"/>
                </a:solidFill>
              </a:rPr>
              <a:t>u)(w(u))</a:t>
            </a:r>
            <a:r>
              <a:rPr lang="zh-CN" altLang="en-US" sz="2400" b="1" dirty="0">
                <a:solidFill>
                  <a:schemeClr val="bg2"/>
                </a:solidFill>
              </a:rPr>
              <a:t>为</a:t>
            </a:r>
            <a:r>
              <a:rPr lang="zh-CN" altLang="en-US" sz="2400" b="1" dirty="0">
                <a:solidFill>
                  <a:schemeClr val="bg2"/>
                </a:solidFill>
                <a:latin typeface="Times New Roman"/>
              </a:rPr>
              <a:t>’</a:t>
            </a:r>
            <a:r>
              <a:rPr lang="en-US" altLang="zh-CN" sz="2400" b="1" dirty="0">
                <a:solidFill>
                  <a:schemeClr val="bg2"/>
                </a:solidFill>
              </a:rPr>
              <a:t>T</a:t>
            </a:r>
            <a:r>
              <a:rPr lang="en-US" altLang="zh-CN" sz="2400" b="1" dirty="0">
                <a:solidFill>
                  <a:schemeClr val="bg2"/>
                </a:solidFill>
                <a:latin typeface="Times New Roman"/>
              </a:rPr>
              <a:t>’</a:t>
            </a:r>
            <a:r>
              <a:rPr lang="en-US" altLang="zh-CN" sz="2400" b="1" dirty="0">
                <a:solidFill>
                  <a:schemeClr val="bg2"/>
                </a:solidFill>
              </a:rPr>
              <a:t> </a:t>
            </a:r>
            <a:r>
              <a:rPr lang="zh-CN" altLang="en-US" sz="2400" b="1" dirty="0">
                <a:solidFill>
                  <a:schemeClr val="bg2"/>
                </a:solidFill>
              </a:rPr>
              <a:t>或（</a:t>
            </a:r>
            <a:r>
              <a:rPr lang="zh-CN" altLang="en-US" sz="2400" b="1" dirty="0">
                <a:solidFill>
                  <a:schemeClr val="bg2"/>
                </a:solidFill>
                <a:sym typeface="Symbol" pitchFamily="18" charset="2"/>
              </a:rPr>
              <a:t></a:t>
            </a:r>
            <a:r>
              <a:rPr lang="en-US" altLang="zh-CN" sz="2400" b="1" dirty="0">
                <a:solidFill>
                  <a:schemeClr val="bg2"/>
                </a:solidFill>
              </a:rPr>
              <a:t>u</a:t>
            </a:r>
            <a:r>
              <a:rPr lang="zh-CN" altLang="en-US" sz="2400" b="1" dirty="0">
                <a:solidFill>
                  <a:schemeClr val="bg2"/>
                </a:solidFill>
              </a:rPr>
              <a:t>）</a:t>
            </a:r>
            <a:r>
              <a:rPr lang="en-US" altLang="zh-CN" sz="2400" b="1" dirty="0">
                <a:solidFill>
                  <a:schemeClr val="bg2"/>
                </a:solidFill>
              </a:rPr>
              <a:t>(w(u))</a:t>
            </a:r>
            <a:r>
              <a:rPr lang="zh-CN" altLang="en-US" sz="2400" b="1" dirty="0">
                <a:solidFill>
                  <a:schemeClr val="bg2"/>
                </a:solidFill>
              </a:rPr>
              <a:t>为</a:t>
            </a:r>
            <a:r>
              <a:rPr lang="zh-CN" altLang="en-US" sz="2400" b="1" dirty="0">
                <a:solidFill>
                  <a:schemeClr val="bg2"/>
                </a:solidFill>
                <a:latin typeface="Times New Roman"/>
              </a:rPr>
              <a:t>’</a:t>
            </a:r>
            <a:r>
              <a:rPr lang="en-US" altLang="zh-CN" sz="2400" b="1" dirty="0">
                <a:solidFill>
                  <a:schemeClr val="bg2"/>
                </a:solidFill>
              </a:rPr>
              <a:t>F</a:t>
            </a:r>
            <a:r>
              <a:rPr lang="en-US" altLang="zh-CN" sz="2400" b="1" dirty="0">
                <a:solidFill>
                  <a:schemeClr val="bg2"/>
                </a:solidFill>
                <a:latin typeface="Times New Roman"/>
              </a:rPr>
              <a:t>’</a:t>
            </a:r>
            <a:endParaRPr lang="zh-CN" altLang="en-US" sz="2400" b="1" dirty="0">
              <a:solidFill>
                <a:schemeClr val="bg2"/>
              </a:solidFill>
            </a:endParaRPr>
          </a:p>
        </p:txBody>
      </p:sp>
      <p:pic>
        <p:nvPicPr>
          <p:cNvPr id="4" name="图片 3">
            <a:extLst>
              <a:ext uri="{FF2B5EF4-FFF2-40B4-BE49-F238E27FC236}">
                <a16:creationId xmlns:a16="http://schemas.microsoft.com/office/drawing/2014/main" id="{DB491064-CA35-B140-BED7-601C48035B9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76" t="20973" r="54062" b="13716"/>
          <a:stretch>
            <a:fillRect/>
          </a:stretch>
        </p:blipFill>
        <p:spPr bwMode="auto">
          <a:xfrm>
            <a:off x="323528" y="908720"/>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1026" name="Rectangle 2"/>
          <p:cNvSpPr>
            <a:spLocks noChangeArrowheads="1"/>
          </p:cNvSpPr>
          <p:nvPr/>
        </p:nvSpPr>
        <p:spPr bwMode="auto">
          <a:xfrm>
            <a:off x="228600" y="914400"/>
            <a:ext cx="8519864" cy="402225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nSpc>
                <a:spcPct val="200000"/>
              </a:lnSpc>
            </a:pPr>
            <a:r>
              <a:rPr lang="en-US" altLang="zh-CN" sz="2400" b="1" dirty="0">
                <a:solidFill>
                  <a:srgbClr val="660033"/>
                </a:solidFill>
              </a:rPr>
              <a:t>2. </a:t>
            </a:r>
            <a:r>
              <a:rPr lang="zh-CN" altLang="en-US" sz="2400" b="1" dirty="0">
                <a:solidFill>
                  <a:srgbClr val="660033"/>
                </a:solidFill>
              </a:rPr>
              <a:t>关系运算的等价性</a:t>
            </a:r>
          </a:p>
          <a:p>
            <a:pPr>
              <a:lnSpc>
                <a:spcPct val="200000"/>
              </a:lnSpc>
            </a:pPr>
            <a:r>
              <a:rPr lang="zh-CN" altLang="en-US" sz="2400" b="1" dirty="0">
                <a:solidFill>
                  <a:schemeClr val="bg2"/>
                </a:solidFill>
              </a:rPr>
              <a:t>    并、差、笛卡儿积、投影和选择是关系代数最基本的操作，并构成了关系代数运算的最小完备集。</a:t>
            </a:r>
            <a:endParaRPr lang="en-US" altLang="zh-CN" sz="2400" b="1" dirty="0">
              <a:solidFill>
                <a:schemeClr val="bg2"/>
              </a:solidFill>
            </a:endParaRPr>
          </a:p>
          <a:p>
            <a:pPr>
              <a:lnSpc>
                <a:spcPct val="200000"/>
              </a:lnSpc>
            </a:pPr>
            <a:r>
              <a:rPr lang="zh-CN" altLang="en-US" sz="2400" b="1" dirty="0">
                <a:solidFill>
                  <a:schemeClr val="bg2"/>
                </a:solidFill>
              </a:rPr>
              <a:t>    可以证明，在这个基础上，</a:t>
            </a:r>
            <a:r>
              <a:rPr lang="zh-CN" altLang="en-US" sz="2400" b="1" u="sng" dirty="0">
                <a:solidFill>
                  <a:schemeClr val="bg2"/>
                </a:solidFill>
              </a:rPr>
              <a:t>关系代数、</a:t>
            </a:r>
            <a:r>
              <a:rPr lang="zh-CN" altLang="en-US" sz="2400" b="1" u="sng" dirty="0">
                <a:solidFill>
                  <a:schemeClr val="bg1"/>
                </a:solidFill>
              </a:rPr>
              <a:t>安全的</a:t>
            </a:r>
            <a:r>
              <a:rPr lang="zh-CN" altLang="en-US" sz="2400" b="1" u="sng" dirty="0">
                <a:solidFill>
                  <a:schemeClr val="bg2"/>
                </a:solidFill>
              </a:rPr>
              <a:t>元组关系演算、</a:t>
            </a:r>
            <a:r>
              <a:rPr lang="zh-CN" altLang="en-US" sz="2400" b="1" u="sng" dirty="0">
                <a:solidFill>
                  <a:schemeClr val="bg1"/>
                </a:solidFill>
              </a:rPr>
              <a:t>安全的</a:t>
            </a:r>
            <a:r>
              <a:rPr lang="zh-CN" altLang="en-US" sz="2400" b="1" u="sng" dirty="0">
                <a:solidFill>
                  <a:schemeClr val="bg2"/>
                </a:solidFill>
              </a:rPr>
              <a:t>域关系演算</a:t>
            </a:r>
            <a:r>
              <a:rPr lang="zh-CN" altLang="en-US" sz="2400" b="1" dirty="0">
                <a:solidFill>
                  <a:schemeClr val="bg2"/>
                </a:solidFill>
              </a:rPr>
              <a:t>在关系的表达和操作能力上是</a:t>
            </a:r>
            <a:r>
              <a:rPr lang="zh-CN" altLang="en-US" sz="2400" b="1" dirty="0">
                <a:solidFill>
                  <a:schemeClr val="bg1"/>
                </a:solidFill>
              </a:rPr>
              <a:t>等价</a:t>
            </a:r>
            <a:r>
              <a:rPr lang="zh-CN" altLang="en-US" sz="2400" b="1" dirty="0">
                <a:solidFill>
                  <a:schemeClr val="bg2"/>
                </a:solidFill>
              </a:rPr>
              <a:t>的。</a:t>
            </a:r>
          </a:p>
        </p:txBody>
      </p:sp>
      <p:sp>
        <p:nvSpPr>
          <p:cNvPr id="641027" name="Rectangle 3"/>
          <p:cNvSpPr>
            <a:spLocks noGrp="1" noChangeArrowheads="1"/>
          </p:cNvSpPr>
          <p:nvPr>
            <p:ph type="title" idx="4294967295"/>
          </p:nvPr>
        </p:nvSpPr>
        <p:spPr/>
        <p:txBody>
          <a:bodyPr/>
          <a:lstStyle/>
          <a:p>
            <a:r>
              <a:rPr lang="en-US" altLang="zh-CN"/>
              <a:t>                                                      </a:t>
            </a:r>
          </a:p>
        </p:txBody>
      </p:sp>
      <p:pic>
        <p:nvPicPr>
          <p:cNvPr id="4" name="图片 3">
            <a:extLst>
              <a:ext uri="{FF2B5EF4-FFF2-40B4-BE49-F238E27FC236}">
                <a16:creationId xmlns:a16="http://schemas.microsoft.com/office/drawing/2014/main" id="{14D15082-7515-C446-B5D8-BE0F9CC864D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168275" y="1186404"/>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73176C3B-3FED-C445-ADEC-B1E243501E8E}"/>
              </a:ext>
            </a:extLst>
          </p:cNvPr>
          <p:cNvSpPr txBox="1"/>
          <p:nvPr/>
        </p:nvSpPr>
        <p:spPr>
          <a:xfrm>
            <a:off x="269776" y="836712"/>
            <a:ext cx="8604448" cy="2117503"/>
          </a:xfrm>
          <a:prstGeom prst="rect">
            <a:avLst/>
          </a:prstGeom>
          <a:noFill/>
        </p:spPr>
        <p:txBody>
          <a:bodyPr wrap="square">
            <a:spAutoFit/>
          </a:bodyPr>
          <a:lstStyle/>
          <a:p>
            <a:r>
              <a:rPr kumimoji="1" lang="zh-CN" altLang="en-US" sz="2800" dirty="0">
                <a:solidFill>
                  <a:schemeClr val="bg2"/>
                </a:solidFill>
              </a:rPr>
              <a:t>假设 </a:t>
            </a:r>
            <a:r>
              <a:rPr kumimoji="1" lang="en-US" altLang="zh-CN" sz="2800" dirty="0">
                <a:solidFill>
                  <a:schemeClr val="bg2"/>
                </a:solidFill>
              </a:rPr>
              <a:t>R </a:t>
            </a:r>
            <a:r>
              <a:rPr kumimoji="1" lang="zh-CN" altLang="en-US" sz="2800" dirty="0">
                <a:solidFill>
                  <a:schemeClr val="bg2"/>
                </a:solidFill>
              </a:rPr>
              <a:t>和 </a:t>
            </a:r>
            <a:r>
              <a:rPr kumimoji="1" lang="en-US" altLang="zh-CN" sz="2800" dirty="0">
                <a:solidFill>
                  <a:schemeClr val="bg2"/>
                </a:solidFill>
              </a:rPr>
              <a:t>S </a:t>
            </a:r>
            <a:r>
              <a:rPr kumimoji="1" lang="zh-CN" altLang="en-US" sz="2800" dirty="0">
                <a:solidFill>
                  <a:schemeClr val="bg2"/>
                </a:solidFill>
              </a:rPr>
              <a:t>分别是三元和二元关系，试把表达式</a:t>
            </a:r>
            <a:endParaRPr kumimoji="1" lang="en-US" altLang="zh-CN" sz="2800" dirty="0">
              <a:solidFill>
                <a:schemeClr val="bg2"/>
              </a:solidFill>
            </a:endParaRPr>
          </a:p>
          <a:p>
            <a:r>
              <a:rPr kumimoji="1" lang="el-GR" altLang="zh-CN" sz="2800" dirty="0">
                <a:solidFill>
                  <a:schemeClr val="bg2"/>
                </a:solidFill>
              </a:rPr>
              <a:t>π</a:t>
            </a:r>
            <a:r>
              <a:rPr kumimoji="1" lang="el-GR" altLang="zh-CN" sz="2800" baseline="-25000" dirty="0">
                <a:solidFill>
                  <a:schemeClr val="bg2"/>
                </a:solidFill>
              </a:rPr>
              <a:t>1,5</a:t>
            </a:r>
            <a:r>
              <a:rPr kumimoji="1" lang="el-GR" altLang="zh-CN" sz="2800" dirty="0">
                <a:solidFill>
                  <a:schemeClr val="bg2"/>
                </a:solidFill>
              </a:rPr>
              <a:t> (σ</a:t>
            </a:r>
            <a:r>
              <a:rPr kumimoji="1" lang="en-US" altLang="zh-CN" sz="2800" dirty="0">
                <a:solidFill>
                  <a:schemeClr val="bg2"/>
                </a:solidFill>
              </a:rPr>
              <a:t> </a:t>
            </a:r>
            <a:r>
              <a:rPr kumimoji="1" lang="en-US" altLang="zh-CN" sz="2800" baseline="-25000" dirty="0">
                <a:solidFill>
                  <a:schemeClr val="bg2"/>
                </a:solidFill>
              </a:rPr>
              <a:t>2=4∨3=4</a:t>
            </a:r>
            <a:r>
              <a:rPr kumimoji="1" lang="el-GR" altLang="zh-CN" sz="2800" baseline="-25000" dirty="0">
                <a:solidFill>
                  <a:schemeClr val="bg2"/>
                </a:solidFill>
              </a:rPr>
              <a:t> </a:t>
            </a:r>
            <a:r>
              <a:rPr kumimoji="1" lang="el-GR" altLang="zh-CN" sz="2800" dirty="0">
                <a:solidFill>
                  <a:schemeClr val="bg2"/>
                </a:solidFill>
              </a:rPr>
              <a:t>(</a:t>
            </a:r>
            <a:r>
              <a:rPr kumimoji="1" lang="en-US" altLang="zh-CN" sz="2800" dirty="0">
                <a:solidFill>
                  <a:schemeClr val="bg2"/>
                </a:solidFill>
              </a:rPr>
              <a:t>R×S))</a:t>
            </a:r>
          </a:p>
          <a:p>
            <a:r>
              <a:rPr kumimoji="1" lang="zh-CN" altLang="en-US" sz="2800" dirty="0">
                <a:solidFill>
                  <a:schemeClr val="bg2"/>
                </a:solidFill>
              </a:rPr>
              <a:t>转换成等价的</a:t>
            </a:r>
            <a:r>
              <a:rPr kumimoji="1" lang="en-US" altLang="zh-CN" sz="2800" dirty="0">
                <a:solidFill>
                  <a:schemeClr val="bg2"/>
                </a:solidFill>
              </a:rPr>
              <a:t>:</a:t>
            </a:r>
          </a:p>
          <a:p>
            <a:r>
              <a:rPr kumimoji="1" lang="en-US" altLang="zh-CN" sz="2800" dirty="0">
                <a:solidFill>
                  <a:schemeClr val="bg2"/>
                </a:solidFill>
              </a:rPr>
              <a:t>①</a:t>
            </a:r>
            <a:r>
              <a:rPr kumimoji="1" lang="zh-CN" altLang="en-US" sz="2800" dirty="0">
                <a:solidFill>
                  <a:schemeClr val="bg2"/>
                </a:solidFill>
              </a:rPr>
              <a:t>汉语查询句子</a:t>
            </a:r>
            <a:r>
              <a:rPr kumimoji="1" lang="en-US" altLang="zh-CN" sz="2800" dirty="0">
                <a:solidFill>
                  <a:schemeClr val="bg2"/>
                </a:solidFill>
              </a:rPr>
              <a:t>;②</a:t>
            </a:r>
            <a:r>
              <a:rPr kumimoji="1" lang="zh-CN" altLang="en-US" sz="2800" dirty="0">
                <a:solidFill>
                  <a:schemeClr val="bg2"/>
                </a:solidFill>
              </a:rPr>
              <a:t>元组表达式</a:t>
            </a:r>
            <a:r>
              <a:rPr kumimoji="1" lang="en-US" altLang="zh-CN" sz="2800" dirty="0">
                <a:solidFill>
                  <a:schemeClr val="bg2"/>
                </a:solidFill>
              </a:rPr>
              <a:t>;③</a:t>
            </a:r>
            <a:r>
              <a:rPr kumimoji="1" lang="zh-CN" altLang="en-US" sz="2800" dirty="0">
                <a:solidFill>
                  <a:schemeClr val="bg2"/>
                </a:solidFill>
              </a:rPr>
              <a:t>域表达式。</a:t>
            </a:r>
          </a:p>
        </p:txBody>
      </p:sp>
      <p:pic>
        <p:nvPicPr>
          <p:cNvPr id="6" name="图片 5">
            <a:extLst>
              <a:ext uri="{FF2B5EF4-FFF2-40B4-BE49-F238E27FC236}">
                <a16:creationId xmlns:a16="http://schemas.microsoft.com/office/drawing/2014/main" id="{71C30141-41A4-3E4C-B3C3-EA605C3C3299}"/>
              </a:ext>
            </a:extLst>
          </p:cNvPr>
          <p:cNvPicPr>
            <a:picLocks noChangeAspect="1"/>
          </p:cNvPicPr>
          <p:nvPr/>
        </p:nvPicPr>
        <p:blipFill rotWithShape="1">
          <a:blip r:embed="rId3"/>
          <a:srcRect l="21377" t="9709" r="20826" b="8302"/>
          <a:stretch/>
        </p:blipFill>
        <p:spPr>
          <a:xfrm>
            <a:off x="7712710" y="1561388"/>
            <a:ext cx="812132" cy="1535138"/>
          </a:xfrm>
          <a:prstGeom prst="rect">
            <a:avLst/>
          </a:prstGeom>
        </p:spPr>
      </p:pic>
      <p:sp>
        <p:nvSpPr>
          <p:cNvPr id="7" name="文本框 6">
            <a:extLst>
              <a:ext uri="{FF2B5EF4-FFF2-40B4-BE49-F238E27FC236}">
                <a16:creationId xmlns:a16="http://schemas.microsoft.com/office/drawing/2014/main" id="{1CC8F612-8B03-9840-BB3F-BABB580E5972}"/>
              </a:ext>
            </a:extLst>
          </p:cNvPr>
          <p:cNvSpPr txBox="1"/>
          <p:nvPr/>
        </p:nvSpPr>
        <p:spPr>
          <a:xfrm>
            <a:off x="719572" y="3497441"/>
            <a:ext cx="7704856" cy="1569660"/>
          </a:xfrm>
          <a:prstGeom prst="rect">
            <a:avLst/>
          </a:prstGeom>
          <a:noFill/>
        </p:spPr>
        <p:txBody>
          <a:bodyPr wrap="square">
            <a:spAutoFit/>
          </a:bodyPr>
          <a:lstStyle/>
          <a:p>
            <a:pPr>
              <a:lnSpc>
                <a:spcPct val="100000"/>
              </a:lnSpc>
              <a:spcBef>
                <a:spcPts val="0"/>
              </a:spcBef>
            </a:pPr>
            <a:r>
              <a:rPr lang="zh-CN" altLang="en-US" sz="2400" dirty="0">
                <a:solidFill>
                  <a:schemeClr val="bg2"/>
                </a:solidFill>
              </a:rPr>
              <a:t>①汉语查询句子:在关系 R 和 S 的笛卡尔积中，选取第 2 个属性值与第 4 个属性值相等，或者 第 3 个属性值与第 4 个属性值相等的那些元组，再取第 1 列和第 5 列组成新的关系。</a:t>
            </a:r>
          </a:p>
        </p:txBody>
      </p:sp>
    </p:spTree>
    <p:extLst>
      <p:ext uri="{BB962C8B-B14F-4D97-AF65-F5344CB8AC3E}">
        <p14:creationId xmlns:p14="http://schemas.microsoft.com/office/powerpoint/2010/main" val="29008964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B5AA4782-12FC-AE4F-8FB6-50BE548C3A8F}"/>
              </a:ext>
            </a:extLst>
          </p:cNvPr>
          <p:cNvPicPr>
            <a:picLocks noChangeAspect="1"/>
          </p:cNvPicPr>
          <p:nvPr/>
        </p:nvPicPr>
        <p:blipFill rotWithShape="1">
          <a:blip r:embed="rId3"/>
          <a:srcRect l="204" t="5480" r="-204"/>
          <a:stretch/>
        </p:blipFill>
        <p:spPr>
          <a:xfrm>
            <a:off x="47216" y="764704"/>
            <a:ext cx="9144000" cy="4968546"/>
          </a:xfrm>
          <a:prstGeom prst="rect">
            <a:avLst/>
          </a:prstGeom>
        </p:spPr>
      </p:pic>
      <p:sp>
        <p:nvSpPr>
          <p:cNvPr id="4" name="文本框 3">
            <a:extLst>
              <a:ext uri="{FF2B5EF4-FFF2-40B4-BE49-F238E27FC236}">
                <a16:creationId xmlns:a16="http://schemas.microsoft.com/office/drawing/2014/main" id="{9B698D9F-1FD1-E846-9A5A-ED8276C8FFE7}"/>
              </a:ext>
            </a:extLst>
          </p:cNvPr>
          <p:cNvSpPr txBox="1"/>
          <p:nvPr/>
        </p:nvSpPr>
        <p:spPr>
          <a:xfrm>
            <a:off x="37592" y="332656"/>
            <a:ext cx="4581624" cy="289310"/>
          </a:xfrm>
          <a:prstGeom prst="rect">
            <a:avLst/>
          </a:prstGeom>
          <a:noFill/>
        </p:spPr>
        <p:txBody>
          <a:bodyPr wrap="square">
            <a:spAutoFit/>
          </a:bodyPr>
          <a:lstStyle/>
          <a:p>
            <a:pPr marL="342900" indent="-342900">
              <a:buFont typeface="+mj-ea"/>
              <a:buAutoNum type="circleNumDbPlain" startAt="2"/>
            </a:pPr>
            <a:r>
              <a:rPr kumimoji="1" lang="zh-CN" altLang="en-US" sz="1600" dirty="0">
                <a:solidFill>
                  <a:schemeClr val="bg2"/>
                </a:solidFill>
              </a:rPr>
              <a:t>与</a:t>
            </a:r>
            <a:r>
              <a:rPr kumimoji="1" lang="en-US" altLang="zh-CN" sz="1600" dirty="0">
                <a:solidFill>
                  <a:schemeClr val="bg2"/>
                </a:solidFill>
              </a:rPr>
              <a:t>R×S</a:t>
            </a:r>
            <a:r>
              <a:rPr lang="zh-CN" altLang="en-US" sz="1600" dirty="0">
                <a:solidFill>
                  <a:schemeClr val="bg2"/>
                </a:solidFill>
              </a:rPr>
              <a:t>等价的元组表达式是：</a:t>
            </a:r>
            <a:endParaRPr lang="zh-CN" altLang="en-US" sz="1600" dirty="0"/>
          </a:p>
        </p:txBody>
      </p:sp>
      <p:cxnSp>
        <p:nvCxnSpPr>
          <p:cNvPr id="6" name="直线连接符 5">
            <a:extLst>
              <a:ext uri="{FF2B5EF4-FFF2-40B4-BE49-F238E27FC236}">
                <a16:creationId xmlns:a16="http://schemas.microsoft.com/office/drawing/2014/main" id="{012A93F3-C584-2147-A4C3-E382109DD062}"/>
              </a:ext>
            </a:extLst>
          </p:cNvPr>
          <p:cNvCxnSpPr>
            <a:cxnSpLocks/>
          </p:cNvCxnSpPr>
          <p:nvPr/>
        </p:nvCxnSpPr>
        <p:spPr bwMode="auto">
          <a:xfrm>
            <a:off x="2699792" y="1052736"/>
            <a:ext cx="3168352"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8" name="直线连接符 7">
            <a:extLst>
              <a:ext uri="{FF2B5EF4-FFF2-40B4-BE49-F238E27FC236}">
                <a16:creationId xmlns:a16="http://schemas.microsoft.com/office/drawing/2014/main" id="{6470F583-9259-1248-8F17-9BADFD20A700}"/>
              </a:ext>
            </a:extLst>
          </p:cNvPr>
          <p:cNvCxnSpPr>
            <a:cxnSpLocks/>
          </p:cNvCxnSpPr>
          <p:nvPr/>
        </p:nvCxnSpPr>
        <p:spPr bwMode="auto">
          <a:xfrm>
            <a:off x="6156176" y="1052736"/>
            <a:ext cx="2376264"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30EB79C4-541A-504F-A487-B2BF495069A7}"/>
              </a:ext>
            </a:extLst>
          </p:cNvPr>
          <p:cNvSpPr/>
          <p:nvPr/>
        </p:nvSpPr>
        <p:spPr bwMode="auto">
          <a:xfrm>
            <a:off x="395536" y="1988840"/>
            <a:ext cx="2880320" cy="432048"/>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11" name="矩形 10">
            <a:extLst>
              <a:ext uri="{FF2B5EF4-FFF2-40B4-BE49-F238E27FC236}">
                <a16:creationId xmlns:a16="http://schemas.microsoft.com/office/drawing/2014/main" id="{D45EB699-D720-0543-A733-B422E7BABF1B}"/>
              </a:ext>
            </a:extLst>
          </p:cNvPr>
          <p:cNvSpPr/>
          <p:nvPr/>
        </p:nvSpPr>
        <p:spPr bwMode="auto">
          <a:xfrm>
            <a:off x="323528" y="1195475"/>
            <a:ext cx="1080120" cy="432048"/>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12" name="矩形 11">
            <a:extLst>
              <a:ext uri="{FF2B5EF4-FFF2-40B4-BE49-F238E27FC236}">
                <a16:creationId xmlns:a16="http://schemas.microsoft.com/office/drawing/2014/main" id="{7F7A4387-5228-644C-A3E1-971BFE185971}"/>
              </a:ext>
            </a:extLst>
          </p:cNvPr>
          <p:cNvSpPr/>
          <p:nvPr/>
        </p:nvSpPr>
        <p:spPr bwMode="auto">
          <a:xfrm>
            <a:off x="323528" y="2458805"/>
            <a:ext cx="720080" cy="432048"/>
          </a:xfrm>
          <a:prstGeom prst="rect">
            <a:avLst/>
          </a:prstGeom>
          <a:noFill/>
          <a:ln w="19050"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13" name="矩形 12">
            <a:extLst>
              <a:ext uri="{FF2B5EF4-FFF2-40B4-BE49-F238E27FC236}">
                <a16:creationId xmlns:a16="http://schemas.microsoft.com/office/drawing/2014/main" id="{6D017992-8CAA-BA42-8990-3DA3198AD29F}"/>
              </a:ext>
            </a:extLst>
          </p:cNvPr>
          <p:cNvSpPr/>
          <p:nvPr/>
        </p:nvSpPr>
        <p:spPr bwMode="auto">
          <a:xfrm>
            <a:off x="2771800" y="3193715"/>
            <a:ext cx="2304256" cy="432048"/>
          </a:xfrm>
          <a:prstGeom prst="rect">
            <a:avLst/>
          </a:prstGeom>
          <a:noFill/>
          <a:ln w="19050" cap="flat" cmpd="sng" algn="ctr">
            <a:solidFill>
              <a:srgbClr val="FFC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cxnSp>
        <p:nvCxnSpPr>
          <p:cNvPr id="14" name="直线连接符 13">
            <a:extLst>
              <a:ext uri="{FF2B5EF4-FFF2-40B4-BE49-F238E27FC236}">
                <a16:creationId xmlns:a16="http://schemas.microsoft.com/office/drawing/2014/main" id="{18751042-36F8-784B-92CD-1562AB59A947}"/>
              </a:ext>
            </a:extLst>
          </p:cNvPr>
          <p:cNvCxnSpPr>
            <a:cxnSpLocks/>
          </p:cNvCxnSpPr>
          <p:nvPr/>
        </p:nvCxnSpPr>
        <p:spPr bwMode="auto">
          <a:xfrm>
            <a:off x="3131840" y="5085184"/>
            <a:ext cx="720080" cy="0"/>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5" name="直线连接符 14">
            <a:extLst>
              <a:ext uri="{FF2B5EF4-FFF2-40B4-BE49-F238E27FC236}">
                <a16:creationId xmlns:a16="http://schemas.microsoft.com/office/drawing/2014/main" id="{6907798B-56C7-024B-A358-8E16066B5E41}"/>
              </a:ext>
            </a:extLst>
          </p:cNvPr>
          <p:cNvCxnSpPr>
            <a:cxnSpLocks/>
          </p:cNvCxnSpPr>
          <p:nvPr/>
        </p:nvCxnSpPr>
        <p:spPr bwMode="auto">
          <a:xfrm>
            <a:off x="4166968" y="5083312"/>
            <a:ext cx="621056" cy="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6" name="直线连接符 15">
            <a:extLst>
              <a:ext uri="{FF2B5EF4-FFF2-40B4-BE49-F238E27FC236}">
                <a16:creationId xmlns:a16="http://schemas.microsoft.com/office/drawing/2014/main" id="{1DF33B94-ACA9-354B-B470-B319CB6F9ABB}"/>
              </a:ext>
            </a:extLst>
          </p:cNvPr>
          <p:cNvCxnSpPr>
            <a:cxnSpLocks/>
          </p:cNvCxnSpPr>
          <p:nvPr/>
        </p:nvCxnSpPr>
        <p:spPr bwMode="auto">
          <a:xfrm>
            <a:off x="3275856" y="4149080"/>
            <a:ext cx="2016224" cy="7920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7" name="直线连接符 16">
            <a:extLst>
              <a:ext uri="{FF2B5EF4-FFF2-40B4-BE49-F238E27FC236}">
                <a16:creationId xmlns:a16="http://schemas.microsoft.com/office/drawing/2014/main" id="{43121F3B-FAE0-6C49-99E5-E8B6241E46E3}"/>
              </a:ext>
            </a:extLst>
          </p:cNvPr>
          <p:cNvCxnSpPr>
            <a:cxnSpLocks/>
          </p:cNvCxnSpPr>
          <p:nvPr/>
        </p:nvCxnSpPr>
        <p:spPr bwMode="auto">
          <a:xfrm>
            <a:off x="4067944" y="4149080"/>
            <a:ext cx="1983080" cy="792088"/>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8" name="直线连接符 17">
            <a:extLst>
              <a:ext uri="{FF2B5EF4-FFF2-40B4-BE49-F238E27FC236}">
                <a16:creationId xmlns:a16="http://schemas.microsoft.com/office/drawing/2014/main" id="{DB1DD26D-7F8E-5A4A-9E4C-AC87BE9369B1}"/>
              </a:ext>
            </a:extLst>
          </p:cNvPr>
          <p:cNvCxnSpPr>
            <a:cxnSpLocks/>
          </p:cNvCxnSpPr>
          <p:nvPr/>
        </p:nvCxnSpPr>
        <p:spPr bwMode="auto">
          <a:xfrm>
            <a:off x="5868144" y="4149080"/>
            <a:ext cx="620946" cy="720080"/>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1" name="直线连接符 20">
            <a:extLst>
              <a:ext uri="{FF2B5EF4-FFF2-40B4-BE49-F238E27FC236}">
                <a16:creationId xmlns:a16="http://schemas.microsoft.com/office/drawing/2014/main" id="{1F84CA2E-8C90-4F40-B4EF-785FF9DD9F78}"/>
              </a:ext>
            </a:extLst>
          </p:cNvPr>
          <p:cNvCxnSpPr>
            <a:cxnSpLocks/>
          </p:cNvCxnSpPr>
          <p:nvPr/>
        </p:nvCxnSpPr>
        <p:spPr bwMode="auto">
          <a:xfrm>
            <a:off x="6760228" y="4168109"/>
            <a:ext cx="618752" cy="773056"/>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3F6A73A4-714F-2340-853C-C890A728CB0D}"/>
              </a:ext>
            </a:extLst>
          </p:cNvPr>
          <p:cNvCxnSpPr>
            <a:cxnSpLocks/>
          </p:cNvCxnSpPr>
          <p:nvPr/>
        </p:nvCxnSpPr>
        <p:spPr bwMode="auto">
          <a:xfrm flipH="1">
            <a:off x="2483768" y="5083312"/>
            <a:ext cx="985616" cy="46323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直线连接符 27">
            <a:extLst>
              <a:ext uri="{FF2B5EF4-FFF2-40B4-BE49-F238E27FC236}">
                <a16:creationId xmlns:a16="http://schemas.microsoft.com/office/drawing/2014/main" id="{C7444E3F-2FB2-774D-B7D7-CA1935294590}"/>
              </a:ext>
            </a:extLst>
          </p:cNvPr>
          <p:cNvCxnSpPr>
            <a:cxnSpLocks/>
          </p:cNvCxnSpPr>
          <p:nvPr/>
        </p:nvCxnSpPr>
        <p:spPr bwMode="auto">
          <a:xfrm flipH="1">
            <a:off x="3700068" y="5062288"/>
            <a:ext cx="892860" cy="484258"/>
          </a:xfrm>
          <a:prstGeom prst="line">
            <a:avLst/>
          </a:prstGeom>
          <a:ln w="19050">
            <a:solidFill>
              <a:srgbClr val="00B05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55909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4"/>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5"/>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16"/>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17"/>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2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25"/>
                                        </p:tgtEl>
                                        <p:attrNameLst>
                                          <p:attrName>style.visibility</p:attrName>
                                        </p:attrNameLst>
                                      </p:cBhvr>
                                      <p:to>
                                        <p:strVal val="visible"/>
                                      </p:to>
                                    </p:set>
                                  </p:childTnLst>
                                </p:cTn>
                              </p:par>
                            </p:childTnLst>
                          </p:cTn>
                        </p:par>
                      </p:childTnLst>
                    </p:cTn>
                  </p:par>
                  <p:par>
                    <p:cTn id="55" fill="hold">
                      <p:stCondLst>
                        <p:cond delay="indefinite"/>
                      </p:stCondLst>
                      <p:childTnLst>
                        <p:par>
                          <p:cTn id="56" fill="hold">
                            <p:stCondLst>
                              <p:cond delay="0"/>
                            </p:stCondLst>
                            <p:childTnLst>
                              <p:par>
                                <p:cTn id="57" presetID="1" presetClass="entr" presetSubtype="0" fill="hold" nodeType="clickEffect">
                                  <p:stCondLst>
                                    <p:cond delay="0"/>
                                  </p:stCondLst>
                                  <p:childTnLst>
                                    <p:set>
                                      <p:cBhvr>
                                        <p:cTn id="58"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Lst>
  </p:timing>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43084" name="Group 12"/>
          <p:cNvGrpSpPr>
            <a:grpSpLocks/>
          </p:cNvGrpSpPr>
          <p:nvPr/>
        </p:nvGrpSpPr>
        <p:grpSpPr bwMode="auto">
          <a:xfrm>
            <a:off x="0" y="-225425"/>
            <a:ext cx="9220200" cy="4591050"/>
            <a:chOff x="0" y="0"/>
            <a:chExt cx="5808" cy="2847"/>
          </a:xfrm>
        </p:grpSpPr>
        <p:sp>
          <p:nvSpPr>
            <p:cNvPr id="643074" name="Rectangle 2"/>
            <p:cNvSpPr>
              <a:spLocks noChangeArrowheads="1"/>
            </p:cNvSpPr>
            <p:nvPr/>
          </p:nvSpPr>
          <p:spPr bwMode="auto">
            <a:xfrm>
              <a:off x="0" y="0"/>
              <a:ext cx="5760" cy="284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266700" algn="l">
                <a:lnSpc>
                  <a:spcPct val="100000"/>
                </a:lnSpc>
                <a:spcBef>
                  <a:spcPct val="0"/>
                </a:spcBef>
              </a:pPr>
              <a:endParaRPr lang="en-US" altLang="zh-CN" sz="2400" b="1" dirty="0">
                <a:solidFill>
                  <a:schemeClr val="bg2"/>
                </a:solidFill>
                <a:latin typeface="Times New Roman" pitchFamily="18" charset="0"/>
              </a:endParaRPr>
            </a:p>
            <a:p>
              <a:pPr indent="266700" algn="l">
                <a:lnSpc>
                  <a:spcPct val="200000"/>
                </a:lnSpc>
                <a:spcBef>
                  <a:spcPct val="0"/>
                </a:spcBef>
              </a:pPr>
              <a:r>
                <a:rPr lang="en-US" altLang="zh-CN" sz="3200" b="1" dirty="0">
                  <a:solidFill>
                    <a:schemeClr val="bg2"/>
                  </a:solidFill>
                  <a:latin typeface="Times New Roman" pitchFamily="18" charset="0"/>
                </a:rPr>
                <a:t>               </a:t>
              </a:r>
              <a:r>
                <a:rPr lang="en-US" altLang="zh-CN" sz="3200" b="1" dirty="0">
                  <a:solidFill>
                    <a:schemeClr val="bg2"/>
                  </a:solidFill>
                  <a:effectLst>
                    <a:outerShdw blurRad="38100" dist="38100" dir="2700000" algn="tl">
                      <a:srgbClr val="C0C0C0"/>
                    </a:outerShdw>
                  </a:effectLst>
                  <a:latin typeface="Times New Roman" pitchFamily="18" charset="0"/>
                </a:rPr>
                <a:t>§3.4   </a:t>
              </a:r>
              <a:r>
                <a:rPr lang="zh-CN" altLang="en-US" sz="3200" b="1" dirty="0">
                  <a:solidFill>
                    <a:schemeClr val="bg2"/>
                  </a:solidFill>
                  <a:effectLst>
                    <a:outerShdw blurRad="38100" dist="38100" dir="2700000" algn="tl">
                      <a:srgbClr val="C0C0C0"/>
                    </a:outerShdw>
                  </a:effectLst>
                  <a:latin typeface="Times New Roman" pitchFamily="18" charset="0"/>
                </a:rPr>
                <a:t>查询优化</a:t>
              </a:r>
            </a:p>
            <a:p>
              <a:pPr indent="266700">
                <a:lnSpc>
                  <a:spcPct val="200000"/>
                </a:lnSpc>
                <a:spcBef>
                  <a:spcPct val="0"/>
                </a:spcBef>
              </a:pPr>
              <a:r>
                <a:rPr lang="zh-CN" altLang="en-US" sz="2800" b="1" dirty="0">
                  <a:solidFill>
                    <a:srgbClr val="000099"/>
                  </a:solidFill>
                </a:rPr>
                <a:t> 关系代数表达式的优化问题</a:t>
              </a:r>
              <a:r>
                <a:rPr lang="en-US" altLang="zh-CN" sz="2800" b="1" dirty="0">
                  <a:solidFill>
                    <a:srgbClr val="000099"/>
                  </a:solidFill>
                </a:rPr>
                <a:t>:</a:t>
              </a:r>
            </a:p>
            <a:p>
              <a:pPr indent="266700" eaLnBrk="0" hangingPunct="0">
                <a:lnSpc>
                  <a:spcPct val="180000"/>
                </a:lnSpc>
                <a:spcBef>
                  <a:spcPct val="0"/>
                </a:spcBef>
              </a:pPr>
              <a:r>
                <a:rPr lang="en-US" altLang="zh-CN" sz="2800" b="1" dirty="0">
                  <a:solidFill>
                    <a:schemeClr val="bg2"/>
                  </a:solidFill>
                  <a:latin typeface="Times New Roman"/>
                </a:rPr>
                <a:t> </a:t>
              </a:r>
              <a:r>
                <a:rPr lang="en-US" altLang="zh-CN" sz="2800" b="1" dirty="0">
                  <a:solidFill>
                    <a:schemeClr val="bg2"/>
                  </a:solidFill>
                </a:rPr>
                <a:t>  </a:t>
              </a:r>
              <a:r>
                <a:rPr lang="zh-CN" altLang="en-US" sz="2800" b="1" dirty="0">
                  <a:solidFill>
                    <a:schemeClr val="bg2"/>
                  </a:solidFill>
                </a:rPr>
                <a:t>在关系代数表达式中需要指出若干关系的操作步骤。   </a:t>
              </a:r>
            </a:p>
            <a:p>
              <a:pPr indent="266700" eaLnBrk="0" hangingPunct="0">
                <a:lnSpc>
                  <a:spcPct val="180000"/>
                </a:lnSpc>
                <a:spcBef>
                  <a:spcPct val="0"/>
                </a:spcBef>
              </a:pPr>
              <a:r>
                <a:rPr lang="zh-CN" altLang="en-US" sz="2800" b="1" dirty="0">
                  <a:solidFill>
                    <a:schemeClr val="bg2"/>
                  </a:solidFill>
                </a:rPr>
                <a:t>  系统应该以什么样的操作顺序，才能做到既省时间，</a:t>
              </a:r>
            </a:p>
            <a:p>
              <a:pPr indent="266700" eaLnBrk="0" hangingPunct="0">
                <a:lnSpc>
                  <a:spcPct val="180000"/>
                </a:lnSpc>
                <a:spcBef>
                  <a:spcPct val="0"/>
                </a:spcBef>
              </a:pPr>
              <a:r>
                <a:rPr lang="zh-CN" altLang="en-US" sz="2800" b="1" dirty="0">
                  <a:solidFill>
                    <a:schemeClr val="bg2"/>
                  </a:solidFill>
                </a:rPr>
                <a:t>又省空间，而且效率也比较高呢？</a:t>
              </a:r>
            </a:p>
          </p:txBody>
        </p:sp>
        <p:grpSp>
          <p:nvGrpSpPr>
            <p:cNvPr id="643075" name="Group 3"/>
            <p:cNvGrpSpPr>
              <a:grpSpLocks/>
            </p:cNvGrpSpPr>
            <p:nvPr/>
          </p:nvGrpSpPr>
          <p:grpSpPr bwMode="auto">
            <a:xfrm>
              <a:off x="144" y="432"/>
              <a:ext cx="5664" cy="613"/>
              <a:chOff x="0" y="288"/>
              <a:chExt cx="5760" cy="864"/>
            </a:xfrm>
          </p:grpSpPr>
          <p:sp>
            <p:nvSpPr>
              <p:cNvPr id="643076" name="Rectangle 4"/>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43077" name="Rectangle 5"/>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43078" name="Rectangle 6"/>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43079" name="Rectangle 7"/>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43080" name="Rectangle 8"/>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sp>
            <p:nvSpPr>
              <p:cNvPr id="643081" name="Rectangle 9"/>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pPr algn="ctr">
                  <a:lnSpc>
                    <a:spcPct val="100000"/>
                  </a:lnSpc>
                  <a:spcBef>
                    <a:spcPct val="0"/>
                  </a:spcBef>
                </a:pPr>
                <a:endParaRPr lang="zh-CN" altLang="zh-CN" sz="2400">
                  <a:latin typeface="Tahoma" pitchFamily="34" charset="0"/>
                </a:endParaRPr>
              </a:p>
            </p:txBody>
          </p:sp>
        </p:grpSp>
      </p:grpSp>
      <p:sp>
        <p:nvSpPr>
          <p:cNvPr id="643082" name="Rectangle 10"/>
          <p:cNvSpPr>
            <a:spLocks noChangeArrowheads="1"/>
          </p:cNvSpPr>
          <p:nvPr/>
        </p:nvSpPr>
        <p:spPr bwMode="auto">
          <a:xfrm>
            <a:off x="160908" y="4497700"/>
            <a:ext cx="8822184" cy="100155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pPr algn="ctr">
              <a:lnSpc>
                <a:spcPct val="110000"/>
              </a:lnSpc>
              <a:spcBef>
                <a:spcPts val="0"/>
              </a:spcBef>
            </a:pPr>
            <a:r>
              <a:rPr lang="zh-CN" altLang="en-US" sz="2800" b="1" dirty="0">
                <a:solidFill>
                  <a:srgbClr val="660033"/>
                </a:solidFill>
                <a:latin typeface="Times New Roman" pitchFamily="18" charset="0"/>
              </a:rPr>
              <a:t>如何花费较少的时间和空间，</a:t>
            </a:r>
            <a:endParaRPr lang="en-US" altLang="zh-CN" sz="2800" b="1" dirty="0">
              <a:solidFill>
                <a:srgbClr val="660033"/>
              </a:solidFill>
              <a:latin typeface="Times New Roman" pitchFamily="18" charset="0"/>
            </a:endParaRPr>
          </a:p>
          <a:p>
            <a:pPr algn="ctr">
              <a:lnSpc>
                <a:spcPct val="110000"/>
              </a:lnSpc>
              <a:spcBef>
                <a:spcPts val="0"/>
              </a:spcBef>
            </a:pPr>
            <a:r>
              <a:rPr lang="zh-CN" altLang="en-US" sz="2800" b="1" dirty="0">
                <a:solidFill>
                  <a:srgbClr val="660033"/>
                </a:solidFill>
                <a:latin typeface="Times New Roman" pitchFamily="18" charset="0"/>
              </a:rPr>
              <a:t>有效地执行笛卡儿积操作。</a:t>
            </a:r>
            <a:endParaRPr lang="en-US" altLang="zh-CN" sz="2800" b="1" dirty="0">
              <a:solidFill>
                <a:srgbClr val="660033"/>
              </a:solidFill>
              <a:latin typeface="Times New Roman" pitchFamily="18" charset="0"/>
            </a:endParaRPr>
          </a:p>
        </p:txBody>
      </p:sp>
      <p:sp>
        <p:nvSpPr>
          <p:cNvPr id="14" name="文本框 13">
            <a:extLst>
              <a:ext uri="{FF2B5EF4-FFF2-40B4-BE49-F238E27FC236}">
                <a16:creationId xmlns:a16="http://schemas.microsoft.com/office/drawing/2014/main" id="{18440668-1711-0C44-9C37-5400E0979173}"/>
              </a:ext>
            </a:extLst>
          </p:cNvPr>
          <p:cNvSpPr txBox="1"/>
          <p:nvPr/>
        </p:nvSpPr>
        <p:spPr>
          <a:xfrm>
            <a:off x="1835696" y="5804798"/>
            <a:ext cx="4734838" cy="437043"/>
          </a:xfrm>
          <a:prstGeom prst="rect">
            <a:avLst/>
          </a:prstGeom>
          <a:noFill/>
        </p:spPr>
        <p:txBody>
          <a:bodyPr wrap="square">
            <a:spAutoFit/>
          </a:bodyPr>
          <a:lstStyle/>
          <a:p>
            <a:pPr marL="0" marR="0" indent="0" algn="ctr" defTabSz="914400" rtl="0" eaLnBrk="1" fontAlgn="base" latinLnBrk="0" hangingPunct="1">
              <a:lnSpc>
                <a:spcPct val="80000"/>
              </a:lnSpc>
              <a:spcBef>
                <a:spcPct val="50000"/>
              </a:spcBef>
              <a:spcAft>
                <a:spcPct val="0"/>
              </a:spcAft>
              <a:buClrTx/>
              <a:buSzTx/>
              <a:buFontTx/>
              <a:buNone/>
              <a:tabLst/>
            </a:pPr>
            <a:r>
              <a:rPr kumimoji="1" lang="zh-CN" altLang="en-US" sz="2800" b="1" i="0" u="none" strike="noStrike" cap="none" normalizeH="0" baseline="0" dirty="0">
                <a:ln>
                  <a:noFill/>
                </a:ln>
                <a:solidFill>
                  <a:srgbClr val="FF0000"/>
                </a:solidFill>
                <a:effectLst/>
                <a:latin typeface="宋体" pitchFamily="2" charset="-122"/>
                <a:ea typeface="宋体" pitchFamily="2" charset="-122"/>
              </a:rPr>
              <a:t>查询优化</a:t>
            </a:r>
          </a:p>
        </p:txBody>
      </p:sp>
      <p:pic>
        <p:nvPicPr>
          <p:cNvPr id="15" name="图片 14">
            <a:extLst>
              <a:ext uri="{FF2B5EF4-FFF2-40B4-BE49-F238E27FC236}">
                <a16:creationId xmlns:a16="http://schemas.microsoft.com/office/drawing/2014/main" id="{2C625C94-C1DA-7E4D-ACA4-C74D8F0BD2CC}"/>
              </a:ext>
            </a:extLst>
          </p:cNvPr>
          <p:cNvPicPr>
            <a:picLocks noChangeAspect="1"/>
          </p:cNvPicPr>
          <p:nvPr/>
        </p:nvPicPr>
        <p:blipFill rotWithShape="1">
          <a:blip r:embed="rId3"/>
          <a:srcRect l="21377" t="9709" r="20826" b="8302"/>
          <a:stretch/>
        </p:blipFill>
        <p:spPr>
          <a:xfrm>
            <a:off x="7308304" y="3964118"/>
            <a:ext cx="812132" cy="1535138"/>
          </a:xfrm>
          <a:prstGeom prst="rect">
            <a:avLst/>
          </a:prstGeom>
        </p:spPr>
      </p:pic>
      <p:pic>
        <p:nvPicPr>
          <p:cNvPr id="16" name="图片 15">
            <a:extLst>
              <a:ext uri="{FF2B5EF4-FFF2-40B4-BE49-F238E27FC236}">
                <a16:creationId xmlns:a16="http://schemas.microsoft.com/office/drawing/2014/main" id="{CDA92E20-BE21-224A-8D51-B9FFEEFF57E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676" t="20973" r="54062" b="13716"/>
          <a:stretch>
            <a:fillRect/>
          </a:stretch>
        </p:blipFill>
        <p:spPr bwMode="auto">
          <a:xfrm>
            <a:off x="1216416" y="4662282"/>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64308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3082" grpId="1"/>
      <p:bldP spid="14" grpId="0"/>
    </p:bldLst>
  </p:timing>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4098" name="Rectangle 2"/>
          <p:cNvSpPr>
            <a:spLocks noChangeArrowheads="1"/>
          </p:cNvSpPr>
          <p:nvPr/>
        </p:nvSpPr>
        <p:spPr bwMode="auto">
          <a:xfrm>
            <a:off x="107950" y="549275"/>
            <a:ext cx="9144000" cy="48482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pPr>
            <a:r>
              <a:rPr lang="en-US" altLang="zh-CN" sz="3600" b="1">
                <a:solidFill>
                  <a:srgbClr val="000099"/>
                </a:solidFill>
              </a:rPr>
              <a:t>  </a:t>
            </a:r>
            <a:r>
              <a:rPr lang="zh-CN" altLang="en-US" sz="3600" b="1">
                <a:solidFill>
                  <a:srgbClr val="000099"/>
                </a:solidFill>
              </a:rPr>
              <a:t>一、查询优化的总目标</a:t>
            </a:r>
          </a:p>
          <a:p>
            <a:pPr>
              <a:lnSpc>
                <a:spcPct val="200000"/>
              </a:lnSpc>
            </a:pPr>
            <a:r>
              <a:rPr lang="zh-CN" altLang="en-US" sz="3200" b="1">
                <a:solidFill>
                  <a:schemeClr val="bg2"/>
                </a:solidFill>
              </a:rPr>
              <a:t>      选择有效的策略，</a:t>
            </a:r>
          </a:p>
          <a:p>
            <a:pPr>
              <a:lnSpc>
                <a:spcPct val="200000"/>
              </a:lnSpc>
            </a:pPr>
            <a:r>
              <a:rPr lang="zh-CN" altLang="en-US" sz="3200" b="1">
                <a:solidFill>
                  <a:schemeClr val="bg2"/>
                </a:solidFill>
              </a:rPr>
              <a:t>      求得给定关系代数表达式的值，</a:t>
            </a:r>
          </a:p>
          <a:p>
            <a:pPr>
              <a:lnSpc>
                <a:spcPct val="200000"/>
              </a:lnSpc>
            </a:pPr>
            <a:r>
              <a:rPr lang="zh-CN" altLang="en-US" sz="3200" b="1">
                <a:solidFill>
                  <a:schemeClr val="bg2"/>
                </a:solidFill>
              </a:rPr>
              <a:t>      达到提高</a:t>
            </a:r>
            <a:r>
              <a:rPr lang="en-US" altLang="zh-CN" sz="3200" b="1">
                <a:solidFill>
                  <a:schemeClr val="bg2"/>
                </a:solidFill>
              </a:rPr>
              <a:t>DBMS</a:t>
            </a:r>
            <a:r>
              <a:rPr lang="zh-CN" altLang="en-US" sz="3200" b="1">
                <a:solidFill>
                  <a:schemeClr val="bg2"/>
                </a:solidFill>
              </a:rPr>
              <a:t>系统效率的目标。</a:t>
            </a:r>
          </a:p>
        </p:txBody>
      </p:sp>
      <p:sp>
        <p:nvSpPr>
          <p:cNvPr id="645126" name="AutoShape 1030">
            <a:hlinkClick r:id="rId2" action="ppaction://hlinksldjump"/>
          </p:cNvPr>
          <p:cNvSpPr>
            <a:spLocks noChangeArrowheads="1"/>
          </p:cNvSpPr>
          <p:nvPr/>
        </p:nvSpPr>
        <p:spPr bwMode="auto">
          <a:xfrm>
            <a:off x="7885113" y="5805488"/>
            <a:ext cx="792162" cy="431800"/>
          </a:xfrm>
          <a:prstGeom prst="rightArrow">
            <a:avLst>
              <a:gd name="adj1" fmla="val 50000"/>
              <a:gd name="adj2" fmla="val 45864"/>
            </a:avLst>
          </a:prstGeom>
          <a:solidFill>
            <a:srgbClr val="00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4" name="图片 3">
            <a:extLst>
              <a:ext uri="{FF2B5EF4-FFF2-40B4-BE49-F238E27FC236}">
                <a16:creationId xmlns:a16="http://schemas.microsoft.com/office/drawing/2014/main" id="{3F69E81F-1AE0-D14B-83E7-CBE944F9AC9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539552" y="916529"/>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22" name="Rectangle 2"/>
          <p:cNvSpPr>
            <a:spLocks noChangeArrowheads="1"/>
          </p:cNvSpPr>
          <p:nvPr/>
        </p:nvSpPr>
        <p:spPr bwMode="auto">
          <a:xfrm>
            <a:off x="0" y="0"/>
            <a:ext cx="9144000" cy="27209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304800">
              <a:lnSpc>
                <a:spcPct val="180000"/>
              </a:lnSpc>
              <a:spcBef>
                <a:spcPct val="0"/>
              </a:spcBef>
            </a:pPr>
            <a:r>
              <a:rPr lang="zh-CN" altLang="en-US" sz="2400" b="1">
                <a:solidFill>
                  <a:schemeClr val="bg2"/>
                </a:solidFill>
              </a:rPr>
              <a:t>例</a:t>
            </a:r>
            <a:r>
              <a:rPr lang="en-US" altLang="zh-CN" sz="2400" b="1">
                <a:solidFill>
                  <a:schemeClr val="bg2"/>
                </a:solidFill>
              </a:rPr>
              <a:t>:</a:t>
            </a:r>
            <a:r>
              <a:rPr lang="zh-CN" altLang="en-US" sz="2400" b="1">
                <a:solidFill>
                  <a:schemeClr val="bg2"/>
                </a:solidFill>
              </a:rPr>
              <a:t>学生数据库：</a:t>
            </a:r>
            <a:r>
              <a:rPr lang="en-US" altLang="zh-CN" sz="2400" b="1">
                <a:solidFill>
                  <a:schemeClr val="bg2"/>
                </a:solidFill>
              </a:rPr>
              <a:t>S(SNO,SNAME,SEX,SDEPT)</a:t>
            </a:r>
          </a:p>
          <a:p>
            <a:pPr indent="304800">
              <a:lnSpc>
                <a:spcPct val="180000"/>
              </a:lnSpc>
              <a:spcBef>
                <a:spcPct val="0"/>
              </a:spcBef>
            </a:pPr>
            <a:r>
              <a:rPr lang="en-US" altLang="zh-CN" sz="2400" b="1">
                <a:solidFill>
                  <a:schemeClr val="bg2"/>
                </a:solidFill>
              </a:rPr>
              <a:t>               C(CNO,CNAME,TEACHER,CDEPT)</a:t>
            </a:r>
          </a:p>
          <a:p>
            <a:pPr indent="304800">
              <a:lnSpc>
                <a:spcPct val="180000"/>
              </a:lnSpc>
              <a:spcBef>
                <a:spcPct val="0"/>
              </a:spcBef>
            </a:pPr>
            <a:r>
              <a:rPr lang="en-US" altLang="zh-CN" sz="2400" b="1">
                <a:solidFill>
                  <a:schemeClr val="bg2"/>
                </a:solidFill>
              </a:rPr>
              <a:t>               SC(SNO,CNO,GRADE)</a:t>
            </a:r>
          </a:p>
          <a:p>
            <a:pPr indent="304800">
              <a:lnSpc>
                <a:spcPct val="180000"/>
              </a:lnSpc>
              <a:spcBef>
                <a:spcPct val="0"/>
              </a:spcBef>
            </a:pPr>
            <a:r>
              <a:rPr lang="zh-CN" altLang="en-US" sz="2400" b="1">
                <a:solidFill>
                  <a:schemeClr val="bg2"/>
                </a:solidFill>
              </a:rPr>
              <a:t>检索选修</a:t>
            </a:r>
            <a:r>
              <a:rPr lang="en-US" altLang="zh-CN" sz="2400" b="1">
                <a:solidFill>
                  <a:schemeClr val="bg2"/>
                </a:solidFill>
              </a:rPr>
              <a:t>C2</a:t>
            </a:r>
            <a:r>
              <a:rPr lang="zh-CN" altLang="en-US" sz="2400" b="1">
                <a:solidFill>
                  <a:schemeClr val="bg2"/>
                </a:solidFill>
              </a:rPr>
              <a:t>课程的学生的学号和姓名</a:t>
            </a:r>
            <a:r>
              <a:rPr lang="en-US" altLang="zh-CN" sz="2400" b="1">
                <a:solidFill>
                  <a:schemeClr val="bg2"/>
                </a:solidFill>
              </a:rPr>
              <a:t>,</a:t>
            </a:r>
            <a:r>
              <a:rPr lang="zh-CN" altLang="en-US" sz="2400" b="1">
                <a:solidFill>
                  <a:schemeClr val="bg2"/>
                </a:solidFill>
              </a:rPr>
              <a:t>用关系代数表达式表示：</a:t>
            </a:r>
          </a:p>
        </p:txBody>
      </p:sp>
      <p:sp>
        <p:nvSpPr>
          <p:cNvPr id="645123" name="Rectangle 3"/>
          <p:cNvSpPr>
            <a:spLocks noChangeArrowheads="1"/>
          </p:cNvSpPr>
          <p:nvPr/>
        </p:nvSpPr>
        <p:spPr bwMode="auto">
          <a:xfrm>
            <a:off x="381000" y="2743200"/>
            <a:ext cx="9144000" cy="2544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30000"/>
              </a:lnSpc>
            </a:pPr>
            <a:r>
              <a:rPr lang="en-US" altLang="zh-CN" sz="2400" b="1" dirty="0">
                <a:solidFill>
                  <a:schemeClr val="bg1"/>
                </a:solidFill>
              </a:rPr>
              <a:t>      </a:t>
            </a:r>
            <a:r>
              <a:rPr lang="en-US" altLang="zh-CN" sz="2400" b="1" dirty="0">
                <a:solidFill>
                  <a:srgbClr val="000099"/>
                </a:solidFill>
              </a:rPr>
              <a:t>E1 =π</a:t>
            </a:r>
            <a:r>
              <a:rPr lang="en-US" altLang="zh-CN" sz="2400" b="1" baseline="-25000" dirty="0">
                <a:solidFill>
                  <a:srgbClr val="000099"/>
                </a:solidFill>
              </a:rPr>
              <a:t>SNAME</a:t>
            </a:r>
            <a:r>
              <a:rPr lang="zh-CN" altLang="en-US" sz="2400" b="1" dirty="0">
                <a:solidFill>
                  <a:srgbClr val="000099"/>
                </a:solidFill>
              </a:rPr>
              <a:t>（</a:t>
            </a:r>
            <a:r>
              <a:rPr lang="en-US" altLang="zh-CN" sz="2400" b="1" dirty="0" err="1">
                <a:solidFill>
                  <a:srgbClr val="000099"/>
                </a:solidFill>
              </a:rPr>
              <a:t>σ</a:t>
            </a:r>
            <a:r>
              <a:rPr lang="en-US" altLang="zh-CN" sz="2400" b="1" baseline="-25000" dirty="0" err="1">
                <a:solidFill>
                  <a:srgbClr val="000099"/>
                </a:solidFill>
              </a:rPr>
              <a:t>S.SNO</a:t>
            </a:r>
            <a:r>
              <a:rPr lang="en-US" altLang="zh-CN" sz="2400" b="1" baseline="-25000" dirty="0">
                <a:solidFill>
                  <a:srgbClr val="000099"/>
                </a:solidFill>
              </a:rPr>
              <a:t>=SC.SNO∧SC.CNO=‘C2’</a:t>
            </a:r>
            <a:r>
              <a:rPr lang="zh-CN" altLang="en-US" sz="2400" b="1" dirty="0">
                <a:solidFill>
                  <a:srgbClr val="000099"/>
                </a:solidFill>
              </a:rPr>
              <a:t>（</a:t>
            </a:r>
            <a:r>
              <a:rPr lang="en-US" altLang="zh-CN" sz="2400" b="1" dirty="0">
                <a:solidFill>
                  <a:srgbClr val="000099"/>
                </a:solidFill>
              </a:rPr>
              <a:t>S×SC</a:t>
            </a:r>
            <a:r>
              <a:rPr lang="zh-CN" altLang="en-US" sz="2400" b="1" dirty="0">
                <a:solidFill>
                  <a:srgbClr val="000099"/>
                </a:solidFill>
              </a:rPr>
              <a:t>））</a:t>
            </a:r>
          </a:p>
          <a:p>
            <a:pPr eaLnBrk="0" hangingPunct="0">
              <a:lnSpc>
                <a:spcPct val="130000"/>
              </a:lnSpc>
            </a:pPr>
            <a:r>
              <a:rPr lang="zh-CN" altLang="en-US" sz="2400" b="1" dirty="0">
                <a:solidFill>
                  <a:srgbClr val="000099"/>
                </a:solidFill>
              </a:rPr>
              <a:t>      </a:t>
            </a:r>
            <a:r>
              <a:rPr lang="en-US" altLang="zh-CN" sz="2400" b="1" dirty="0">
                <a:solidFill>
                  <a:srgbClr val="000099"/>
                </a:solidFill>
              </a:rPr>
              <a:t>E2 =π</a:t>
            </a:r>
            <a:r>
              <a:rPr lang="en-US" altLang="zh-CN" sz="2400" b="1" baseline="-25000" dirty="0">
                <a:solidFill>
                  <a:srgbClr val="000099"/>
                </a:solidFill>
              </a:rPr>
              <a:t>SNAME </a:t>
            </a:r>
            <a:r>
              <a:rPr lang="zh-CN" altLang="en-US" sz="2400" b="1" dirty="0">
                <a:solidFill>
                  <a:srgbClr val="000099"/>
                </a:solidFill>
              </a:rPr>
              <a:t>（</a:t>
            </a:r>
            <a:r>
              <a:rPr lang="en-US" altLang="zh-CN" sz="2400" b="1" dirty="0" err="1">
                <a:solidFill>
                  <a:srgbClr val="000099"/>
                </a:solidFill>
              </a:rPr>
              <a:t>σ</a:t>
            </a:r>
            <a:r>
              <a:rPr lang="en-US" altLang="zh-CN" sz="2400" b="1" dirty="0">
                <a:solidFill>
                  <a:srgbClr val="000099"/>
                </a:solidFill>
              </a:rPr>
              <a:t> </a:t>
            </a:r>
            <a:r>
              <a:rPr lang="en-US" altLang="zh-CN" sz="2400" b="1" baseline="-25000" dirty="0">
                <a:solidFill>
                  <a:srgbClr val="000099"/>
                </a:solidFill>
              </a:rPr>
              <a:t>SC.CNO=‘C2’</a:t>
            </a:r>
            <a:r>
              <a:rPr lang="zh-CN" altLang="en-US" sz="2400" b="1" dirty="0">
                <a:solidFill>
                  <a:srgbClr val="000099"/>
                </a:solidFill>
              </a:rPr>
              <a:t>（</a:t>
            </a:r>
            <a:r>
              <a:rPr lang="en-US" altLang="zh-CN" sz="2400" b="1" dirty="0">
                <a:solidFill>
                  <a:srgbClr val="000099"/>
                </a:solidFill>
              </a:rPr>
              <a:t>S </a:t>
            </a:r>
            <a:r>
              <a:rPr lang="en-US" altLang="zh-CN" sz="3600" b="1" dirty="0">
                <a:solidFill>
                  <a:srgbClr val="000099"/>
                </a:solidFill>
                <a:latin typeface="Times New Roman" pitchFamily="18" charset="0"/>
              </a:rPr>
              <a:t>⋈</a:t>
            </a:r>
            <a:r>
              <a:rPr lang="en-US" altLang="zh-CN" sz="2400" b="1" dirty="0">
                <a:solidFill>
                  <a:srgbClr val="000099"/>
                </a:solidFill>
              </a:rPr>
              <a:t> SC</a:t>
            </a:r>
            <a:r>
              <a:rPr lang="zh-CN" altLang="en-US" sz="2400" b="1" dirty="0">
                <a:solidFill>
                  <a:srgbClr val="000099"/>
                </a:solidFill>
              </a:rPr>
              <a:t>））</a:t>
            </a:r>
          </a:p>
          <a:p>
            <a:pPr eaLnBrk="0" hangingPunct="0">
              <a:lnSpc>
                <a:spcPct val="130000"/>
              </a:lnSpc>
            </a:pPr>
            <a:r>
              <a:rPr lang="zh-CN" altLang="en-US" sz="2400" b="1" dirty="0">
                <a:solidFill>
                  <a:srgbClr val="000099"/>
                </a:solidFill>
                <a:latin typeface="Times New Roman" pitchFamily="18" charset="0"/>
                <a:cs typeface="Times New Roman" pitchFamily="18" charset="0"/>
              </a:rPr>
              <a:t>            </a:t>
            </a:r>
            <a:r>
              <a:rPr lang="en-US" altLang="zh-CN" sz="2400" b="1" dirty="0">
                <a:solidFill>
                  <a:srgbClr val="000099"/>
                </a:solidFill>
                <a:latin typeface="Times New Roman" pitchFamily="18" charset="0"/>
                <a:cs typeface="Times New Roman" pitchFamily="18" charset="0"/>
              </a:rPr>
              <a:t>E3 = </a:t>
            </a:r>
            <a:r>
              <a:rPr lang="en-US" altLang="zh-CN" sz="2400" b="1" dirty="0">
                <a:solidFill>
                  <a:srgbClr val="000099"/>
                </a:solidFill>
              </a:rPr>
              <a:t>π</a:t>
            </a:r>
            <a:r>
              <a:rPr lang="en-US" altLang="zh-CN" sz="2400" b="1" baseline="-25000" dirty="0">
                <a:solidFill>
                  <a:srgbClr val="000099"/>
                </a:solidFill>
              </a:rPr>
              <a:t>SNAME</a:t>
            </a:r>
            <a:r>
              <a:rPr lang="en-US" altLang="zh-CN" sz="2400" b="1" baseline="-25000" dirty="0">
                <a:solidFill>
                  <a:srgbClr val="000099"/>
                </a:solidFill>
                <a:latin typeface="Times New Roman" pitchFamily="18" charset="0"/>
                <a:cs typeface="Times New Roman" pitchFamily="18" charset="0"/>
              </a:rPr>
              <a:t> </a:t>
            </a:r>
            <a:r>
              <a:rPr lang="zh-CN" altLang="en-US" sz="2400" b="1" dirty="0">
                <a:solidFill>
                  <a:srgbClr val="000099"/>
                </a:solidFill>
              </a:rPr>
              <a:t>（ </a:t>
            </a:r>
            <a:r>
              <a:rPr lang="en-US" altLang="zh-CN" sz="2400" b="1" dirty="0">
                <a:solidFill>
                  <a:srgbClr val="000099"/>
                </a:solidFill>
              </a:rPr>
              <a:t>S </a:t>
            </a:r>
            <a:r>
              <a:rPr lang="en-US" altLang="zh-CN" sz="3600" b="1" dirty="0">
                <a:solidFill>
                  <a:srgbClr val="000099"/>
                </a:solidFill>
                <a:latin typeface="Times New Roman" pitchFamily="18" charset="0"/>
              </a:rPr>
              <a:t>⋈</a:t>
            </a:r>
            <a:r>
              <a:rPr lang="en-US" altLang="zh-CN" sz="2400" b="1" dirty="0">
                <a:solidFill>
                  <a:srgbClr val="000099"/>
                </a:solidFill>
              </a:rPr>
              <a:t> </a:t>
            </a:r>
            <a:r>
              <a:rPr lang="en-US" altLang="zh-CN" sz="2400" b="1" dirty="0" err="1">
                <a:solidFill>
                  <a:srgbClr val="000099"/>
                </a:solidFill>
              </a:rPr>
              <a:t>σ</a:t>
            </a:r>
            <a:r>
              <a:rPr lang="en-US" altLang="zh-CN" sz="2400" b="1" baseline="-25000" dirty="0" err="1">
                <a:solidFill>
                  <a:srgbClr val="000099"/>
                </a:solidFill>
              </a:rPr>
              <a:t>SC.CNO</a:t>
            </a:r>
            <a:r>
              <a:rPr lang="en-US" altLang="zh-CN" sz="2400" b="1" baseline="-25000" dirty="0">
                <a:solidFill>
                  <a:srgbClr val="000099"/>
                </a:solidFill>
              </a:rPr>
              <a:t>=‘C2’</a:t>
            </a:r>
            <a:r>
              <a:rPr lang="zh-CN" altLang="en-US" sz="2400" b="1" dirty="0">
                <a:solidFill>
                  <a:srgbClr val="000099"/>
                </a:solidFill>
              </a:rPr>
              <a:t>（</a:t>
            </a:r>
            <a:r>
              <a:rPr lang="en-US" altLang="zh-CN" sz="2400" b="1" dirty="0">
                <a:solidFill>
                  <a:srgbClr val="000099"/>
                </a:solidFill>
                <a:latin typeface="Times New Roman" pitchFamily="18" charset="0"/>
                <a:cs typeface="Times New Roman" pitchFamily="18" charset="0"/>
              </a:rPr>
              <a:t>SC</a:t>
            </a:r>
            <a:r>
              <a:rPr lang="zh-CN" altLang="en-US" sz="2400" b="1" dirty="0">
                <a:solidFill>
                  <a:srgbClr val="000099"/>
                </a:solidFill>
              </a:rPr>
              <a:t>）） </a:t>
            </a:r>
          </a:p>
        </p:txBody>
      </p:sp>
      <p:sp>
        <p:nvSpPr>
          <p:cNvPr id="645124" name="Rectangle 4"/>
          <p:cNvSpPr>
            <a:spLocks noChangeArrowheads="1"/>
          </p:cNvSpPr>
          <p:nvPr/>
        </p:nvSpPr>
        <p:spPr bwMode="auto">
          <a:xfrm>
            <a:off x="228600" y="5411788"/>
            <a:ext cx="8534400" cy="1041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30000"/>
              </a:lnSpc>
            </a:pPr>
            <a:r>
              <a:rPr lang="zh-CN" altLang="en-US" sz="2400" b="1">
                <a:solidFill>
                  <a:schemeClr val="bg2"/>
                </a:solidFill>
              </a:rPr>
              <a:t>这三个关系代数表达式是等价的，但执行的效率大不一样。显然，求</a:t>
            </a:r>
            <a:r>
              <a:rPr lang="en-US" altLang="zh-CN" sz="2400" b="1">
                <a:solidFill>
                  <a:schemeClr val="bg2"/>
                </a:solidFill>
              </a:rPr>
              <a:t>El</a:t>
            </a:r>
            <a:r>
              <a:rPr lang="zh-CN" altLang="en-US" sz="2400" b="1">
                <a:solidFill>
                  <a:schemeClr val="bg2"/>
                </a:solidFill>
              </a:rPr>
              <a:t>，</a:t>
            </a:r>
            <a:r>
              <a:rPr lang="en-US" altLang="zh-CN" sz="2400" b="1">
                <a:solidFill>
                  <a:schemeClr val="bg2"/>
                </a:solidFill>
              </a:rPr>
              <a:t>E2</a:t>
            </a:r>
            <a:r>
              <a:rPr lang="zh-CN" altLang="en-US" sz="2400" b="1">
                <a:solidFill>
                  <a:schemeClr val="bg2"/>
                </a:solidFill>
              </a:rPr>
              <a:t>，</a:t>
            </a:r>
            <a:r>
              <a:rPr lang="en-US" altLang="zh-CN" sz="2400" b="1">
                <a:solidFill>
                  <a:schemeClr val="bg2"/>
                </a:solidFill>
              </a:rPr>
              <a:t>E3</a:t>
            </a:r>
            <a:r>
              <a:rPr lang="zh-CN" altLang="en-US" sz="2400" b="1">
                <a:solidFill>
                  <a:schemeClr val="bg2"/>
                </a:solidFill>
              </a:rPr>
              <a:t>的大部分时间是花在联接操作上的。</a:t>
            </a:r>
          </a:p>
        </p:txBody>
      </p:sp>
      <p:pic>
        <p:nvPicPr>
          <p:cNvPr id="5" name="图片 4">
            <a:extLst>
              <a:ext uri="{FF2B5EF4-FFF2-40B4-BE49-F238E27FC236}">
                <a16:creationId xmlns:a16="http://schemas.microsoft.com/office/drawing/2014/main" id="{AA34BBFD-5316-A341-BBF1-13173FA2C8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76" t="20973" r="54062" b="13716"/>
          <a:stretch>
            <a:fillRect/>
          </a:stretch>
        </p:blipFill>
        <p:spPr bwMode="auto">
          <a:xfrm>
            <a:off x="228600" y="3429000"/>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5123"/>
                                        </p:tgtEl>
                                        <p:attrNameLst>
                                          <p:attrName>style.visibility</p:attrName>
                                        </p:attrNameLst>
                                      </p:cBhvr>
                                      <p:to>
                                        <p:strVal val="visible"/>
                                      </p:to>
                                    </p:set>
                                    <p:animEffect transition="in" filter="blinds(horizontal)">
                                      <p:cBhvr>
                                        <p:cTn id="7" dur="500"/>
                                        <p:tgtEl>
                                          <p:spTgt spid="64512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 presetClass="entr" presetSubtype="4" fill="hold" grpId="0" nodeType="clickEffect">
                                  <p:stCondLst>
                                    <p:cond delay="0"/>
                                  </p:stCondLst>
                                  <p:childTnLst>
                                    <p:set>
                                      <p:cBhvr>
                                        <p:cTn id="11" dur="1" fill="hold">
                                          <p:stCondLst>
                                            <p:cond delay="0"/>
                                          </p:stCondLst>
                                        </p:cTn>
                                        <p:tgtEl>
                                          <p:spTgt spid="645124"/>
                                        </p:tgtEl>
                                        <p:attrNameLst>
                                          <p:attrName>style.visibility</p:attrName>
                                        </p:attrNameLst>
                                      </p:cBhvr>
                                      <p:to>
                                        <p:strVal val="visible"/>
                                      </p:to>
                                    </p:set>
                                    <p:anim calcmode="lin" valueType="num">
                                      <p:cBhvr additive="base">
                                        <p:cTn id="12" dur="500" fill="hold"/>
                                        <p:tgtEl>
                                          <p:spTgt spid="645124"/>
                                        </p:tgtEl>
                                        <p:attrNameLst>
                                          <p:attrName>ppt_x</p:attrName>
                                        </p:attrNameLst>
                                      </p:cBhvr>
                                      <p:tavLst>
                                        <p:tav tm="0">
                                          <p:val>
                                            <p:strVal val="#ppt_x"/>
                                          </p:val>
                                        </p:tav>
                                        <p:tav tm="100000">
                                          <p:val>
                                            <p:strVal val="#ppt_x"/>
                                          </p:val>
                                        </p:tav>
                                      </p:tavLst>
                                    </p:anim>
                                    <p:anim calcmode="lin" valueType="num">
                                      <p:cBhvr additive="base">
                                        <p:cTn id="13" dur="500" fill="hold"/>
                                        <p:tgtEl>
                                          <p:spTgt spid="645124"/>
                                        </p:tgtEl>
                                        <p:attrNameLst>
                                          <p:attrName>ppt_y</p:attrName>
                                        </p:attrNameLst>
                                      </p:cBhvr>
                                      <p:tavLst>
                                        <p:tav tm="0">
                                          <p:val>
                                            <p:strVal val="1+#ppt_h/2"/>
                                          </p:val>
                                        </p:tav>
                                        <p:tav tm="100000">
                                          <p:val>
                                            <p:strVal val="#ppt_y"/>
                                          </p:val>
                                        </p:tav>
                                      </p:tavLst>
                                    </p:anim>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5123" grpId="0" autoUpdateAnimBg="0"/>
      <p:bldP spid="645124" grpId="0" autoUpdateAnimBg="0"/>
    </p:bldLst>
  </p:timing>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D7CC617A-C47D-1D4F-BA8B-3E52230974C2}"/>
              </a:ext>
            </a:extLst>
          </p:cNvPr>
          <p:cNvSpPr txBox="1"/>
          <p:nvPr/>
        </p:nvSpPr>
        <p:spPr>
          <a:xfrm>
            <a:off x="1976223" y="152586"/>
            <a:ext cx="1346844" cy="338554"/>
          </a:xfrm>
          <a:prstGeom prst="rect">
            <a:avLst/>
          </a:prstGeom>
          <a:noFill/>
        </p:spPr>
        <p:txBody>
          <a:bodyPr wrap="none" rtlCol="0">
            <a:spAutoFit/>
          </a:bodyPr>
          <a:lstStyle/>
          <a:p>
            <a:r>
              <a:rPr kumimoji="1" lang="zh-CN" altLang="en-US" sz="2000" b="1" u="sng" dirty="0">
                <a:solidFill>
                  <a:schemeClr val="bg1"/>
                </a:solidFill>
              </a:rPr>
              <a:t>学生关系</a:t>
            </a:r>
            <a:r>
              <a:rPr kumimoji="1" lang="en-US" altLang="zh-CN" sz="2000" b="1" u="sng" dirty="0">
                <a:solidFill>
                  <a:schemeClr val="bg1"/>
                </a:solidFill>
              </a:rPr>
              <a:t>S</a:t>
            </a:r>
            <a:endParaRPr kumimoji="1" lang="zh-CN" altLang="en-US" sz="2000" b="1" u="sng" dirty="0">
              <a:solidFill>
                <a:schemeClr val="bg1"/>
              </a:solidFill>
            </a:endParaRPr>
          </a:p>
        </p:txBody>
      </p:sp>
      <p:graphicFrame>
        <p:nvGraphicFramePr>
          <p:cNvPr id="13" name="表格 2">
            <a:extLst>
              <a:ext uri="{FF2B5EF4-FFF2-40B4-BE49-F238E27FC236}">
                <a16:creationId xmlns:a16="http://schemas.microsoft.com/office/drawing/2014/main" id="{B4CAFCB6-16C9-1942-980C-36D864A818AD}"/>
              </a:ext>
            </a:extLst>
          </p:cNvPr>
          <p:cNvGraphicFramePr>
            <a:graphicFrameLocks noGrp="1"/>
          </p:cNvGraphicFramePr>
          <p:nvPr>
            <p:extLst>
              <p:ext uri="{D42A27DB-BD31-4B8C-83A1-F6EECF244321}">
                <p14:modId xmlns:p14="http://schemas.microsoft.com/office/powerpoint/2010/main" val="3936318060"/>
              </p:ext>
            </p:extLst>
          </p:nvPr>
        </p:nvGraphicFramePr>
        <p:xfrm>
          <a:off x="5662808" y="418435"/>
          <a:ext cx="2456443" cy="2595880"/>
        </p:xfrm>
        <a:graphic>
          <a:graphicData uri="http://schemas.openxmlformats.org/drawingml/2006/table">
            <a:tbl>
              <a:tblPr firstRow="1" bandRow="1">
                <a:tableStyleId>{5C22544A-7EE6-4342-B048-85BDC9FD1C3A}</a:tableStyleId>
              </a:tblPr>
              <a:tblGrid>
                <a:gridCol w="691796">
                  <a:extLst>
                    <a:ext uri="{9D8B030D-6E8A-4147-A177-3AD203B41FA5}">
                      <a16:colId xmlns:a16="http://schemas.microsoft.com/office/drawing/2014/main" val="3250390251"/>
                    </a:ext>
                  </a:extLst>
                </a:gridCol>
                <a:gridCol w="748364">
                  <a:extLst>
                    <a:ext uri="{9D8B030D-6E8A-4147-A177-3AD203B41FA5}">
                      <a16:colId xmlns:a16="http://schemas.microsoft.com/office/drawing/2014/main" val="3954880262"/>
                    </a:ext>
                  </a:extLst>
                </a:gridCol>
                <a:gridCol w="1016283">
                  <a:extLst>
                    <a:ext uri="{9D8B030D-6E8A-4147-A177-3AD203B41FA5}">
                      <a16:colId xmlns:a16="http://schemas.microsoft.com/office/drawing/2014/main" val="4168470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CNO</a:t>
                      </a:r>
                      <a:endParaRPr lang="zh-CN" altLang="en-US" dirty="0"/>
                    </a:p>
                  </a:txBody>
                  <a:tcPr/>
                </a:tc>
                <a:tc>
                  <a:txBody>
                    <a:bodyPr/>
                    <a:lstStyle/>
                    <a:p>
                      <a:pPr algn="ctr"/>
                      <a:r>
                        <a:rPr lang="en-US" altLang="zh-CN" dirty="0"/>
                        <a:t>GRADE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extLst>
                  <a:ext uri="{0D108BD9-81ED-4DB2-BD59-A6C34878D82A}">
                    <a16:rowId xmlns:a16="http://schemas.microsoft.com/office/drawing/2014/main" val="3713937122"/>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8418211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79</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S1</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76</a:t>
                      </a:r>
                      <a:endParaRPr lang="zh-CN" altLang="en-US" dirty="0"/>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extLst>
                  <a:ext uri="{0D108BD9-81ED-4DB2-BD59-A6C34878D82A}">
                    <a16:rowId xmlns:a16="http://schemas.microsoft.com/office/drawing/2014/main" val="2604247982"/>
                  </a:ext>
                </a:extLst>
              </a:tr>
              <a:tr h="370840">
                <a:tc>
                  <a:txBody>
                    <a:bodyPr/>
                    <a:lstStyle/>
                    <a:p>
                      <a:pPr algn="ctr"/>
                      <a:r>
                        <a:rPr lang="en-US" altLang="zh-CN" dirty="0"/>
                        <a:t>S6</a:t>
                      </a:r>
                      <a:endParaRPr lang="zh-CN" altLang="en-US" dirty="0"/>
                    </a:p>
                  </a:txBody>
                  <a:tcPr/>
                </a:tc>
                <a:tc>
                  <a:txBody>
                    <a:bodyPr/>
                    <a:lstStyle/>
                    <a:p>
                      <a:pPr algn="ctr"/>
                      <a:r>
                        <a:rPr lang="en-US" altLang="zh-CN" dirty="0"/>
                        <a:t>C1</a:t>
                      </a:r>
                      <a:endParaRPr lang="zh-CN" altLang="en-US" dirty="0"/>
                    </a:p>
                  </a:txBody>
                  <a:tcPr/>
                </a:tc>
                <a:tc>
                  <a:txBody>
                    <a:bodyPr/>
                    <a:lstStyle/>
                    <a:p>
                      <a:pPr algn="ctr"/>
                      <a:r>
                        <a:rPr lang="en-US" altLang="zh-CN" dirty="0"/>
                        <a:t>78</a:t>
                      </a:r>
                      <a:endParaRPr lang="zh-CN" altLang="en-US" dirty="0"/>
                    </a:p>
                  </a:txBody>
                  <a:tcPr/>
                </a:tc>
                <a:extLst>
                  <a:ext uri="{0D108BD9-81ED-4DB2-BD59-A6C34878D82A}">
                    <a16:rowId xmlns:a16="http://schemas.microsoft.com/office/drawing/2014/main" val="1236409575"/>
                  </a:ext>
                </a:extLst>
              </a:tr>
            </a:tbl>
          </a:graphicData>
        </a:graphic>
      </p:graphicFrame>
      <p:sp>
        <p:nvSpPr>
          <p:cNvPr id="14" name="文本框 13">
            <a:extLst>
              <a:ext uri="{FF2B5EF4-FFF2-40B4-BE49-F238E27FC236}">
                <a16:creationId xmlns:a16="http://schemas.microsoft.com/office/drawing/2014/main" id="{F37889B6-06E0-334B-85BA-96157E44D7A3}"/>
              </a:ext>
            </a:extLst>
          </p:cNvPr>
          <p:cNvSpPr txBox="1"/>
          <p:nvPr/>
        </p:nvSpPr>
        <p:spPr>
          <a:xfrm>
            <a:off x="6152687" y="-16691"/>
            <a:ext cx="1476686" cy="338554"/>
          </a:xfrm>
          <a:prstGeom prst="rect">
            <a:avLst/>
          </a:prstGeom>
          <a:noFill/>
        </p:spPr>
        <p:txBody>
          <a:bodyPr wrap="none" rtlCol="0">
            <a:spAutoFit/>
          </a:bodyPr>
          <a:lstStyle/>
          <a:p>
            <a:r>
              <a:rPr kumimoji="1" lang="zh-CN" altLang="en-US" sz="2000" b="1" u="sng" dirty="0">
                <a:solidFill>
                  <a:schemeClr val="bg1"/>
                </a:solidFill>
              </a:rPr>
              <a:t>学习关系</a:t>
            </a:r>
            <a:r>
              <a:rPr kumimoji="1" lang="en-US" altLang="zh-CN" sz="2000" b="1" u="sng" dirty="0">
                <a:solidFill>
                  <a:schemeClr val="bg1"/>
                </a:solidFill>
              </a:rPr>
              <a:t>SC</a:t>
            </a:r>
            <a:endParaRPr kumimoji="1" lang="zh-CN" altLang="en-US" sz="2000" b="1" u="sng" dirty="0">
              <a:solidFill>
                <a:schemeClr val="bg1"/>
              </a:solidFill>
            </a:endParaRPr>
          </a:p>
        </p:txBody>
      </p:sp>
      <p:graphicFrame>
        <p:nvGraphicFramePr>
          <p:cNvPr id="20" name="表格 2">
            <a:extLst>
              <a:ext uri="{FF2B5EF4-FFF2-40B4-BE49-F238E27FC236}">
                <a16:creationId xmlns:a16="http://schemas.microsoft.com/office/drawing/2014/main" id="{2D1F580E-62FA-5D46-8A89-98BE464282CC}"/>
              </a:ext>
            </a:extLst>
          </p:cNvPr>
          <p:cNvGraphicFramePr>
            <a:graphicFrameLocks noGrp="1"/>
          </p:cNvGraphicFramePr>
          <p:nvPr>
            <p:extLst>
              <p:ext uri="{D42A27DB-BD31-4B8C-83A1-F6EECF244321}">
                <p14:modId xmlns:p14="http://schemas.microsoft.com/office/powerpoint/2010/main" val="1671554058"/>
              </p:ext>
            </p:extLst>
          </p:nvPr>
        </p:nvGraphicFramePr>
        <p:xfrm>
          <a:off x="5220072" y="3149600"/>
          <a:ext cx="3025408" cy="3708400"/>
        </p:xfrm>
        <a:graphic>
          <a:graphicData uri="http://schemas.openxmlformats.org/drawingml/2006/table">
            <a:tbl>
              <a:tblPr firstRow="1" bandRow="1">
                <a:tableStyleId>{5C22544A-7EE6-4342-B048-85BDC9FD1C3A}</a:tableStyleId>
              </a:tblPr>
              <a:tblGrid>
                <a:gridCol w="1083245">
                  <a:extLst>
                    <a:ext uri="{9D8B030D-6E8A-4147-A177-3AD203B41FA5}">
                      <a16:colId xmlns:a16="http://schemas.microsoft.com/office/drawing/2014/main" val="3250390251"/>
                    </a:ext>
                  </a:extLst>
                </a:gridCol>
                <a:gridCol w="792088">
                  <a:extLst>
                    <a:ext uri="{9D8B030D-6E8A-4147-A177-3AD203B41FA5}">
                      <a16:colId xmlns:a16="http://schemas.microsoft.com/office/drawing/2014/main" val="3954880262"/>
                    </a:ext>
                  </a:extLst>
                </a:gridCol>
                <a:gridCol w="1150075">
                  <a:extLst>
                    <a:ext uri="{9D8B030D-6E8A-4147-A177-3AD203B41FA5}">
                      <a16:colId xmlns:a16="http://schemas.microsoft.com/office/drawing/2014/main" val="41684705"/>
                    </a:ext>
                  </a:extLst>
                </a:gridCol>
              </a:tblGrid>
              <a:tr h="370840">
                <a:tc>
                  <a:txBody>
                    <a:bodyPr/>
                    <a:lstStyle/>
                    <a:p>
                      <a:pPr algn="ctr"/>
                      <a:r>
                        <a:rPr lang="en-US" altLang="zh-CN" dirty="0"/>
                        <a:t>SC.SNO</a:t>
                      </a:r>
                      <a:endParaRPr lang="zh-CN" altLang="en-US" dirty="0"/>
                    </a:p>
                  </a:txBody>
                  <a:tcPr/>
                </a:tc>
                <a:tc>
                  <a:txBody>
                    <a:bodyPr/>
                    <a:lstStyle/>
                    <a:p>
                      <a:pPr algn="ctr"/>
                      <a:r>
                        <a:rPr lang="en-US" altLang="zh-CN" dirty="0"/>
                        <a:t>CNO</a:t>
                      </a:r>
                      <a:endParaRPr lang="zh-CN" altLang="en-US" dirty="0"/>
                    </a:p>
                  </a:txBody>
                  <a:tcPr/>
                </a:tc>
                <a:tc>
                  <a:txBody>
                    <a:bodyPr/>
                    <a:lstStyle/>
                    <a:p>
                      <a:pPr algn="ctr"/>
                      <a:r>
                        <a:rPr lang="en-US" altLang="zh-CN" dirty="0"/>
                        <a:t>GRADE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extLst>
                  <a:ext uri="{0D108BD9-81ED-4DB2-BD59-A6C34878D82A}">
                    <a16:rowId xmlns:a16="http://schemas.microsoft.com/office/drawing/2014/main" val="3713937122"/>
                  </a:ext>
                </a:extLst>
              </a:tr>
              <a:tr h="370840">
                <a:tc>
                  <a:txBody>
                    <a:bodyPr/>
                    <a:lstStyle/>
                    <a:p>
                      <a:pPr algn="ctr"/>
                      <a:r>
                        <a:rPr lang="en-US" altLang="zh-CN" dirty="0"/>
                        <a:t>S1</a:t>
                      </a:r>
                      <a:endParaRPr lang="zh-CN" altLang="en-US" dirty="0"/>
                    </a:p>
                  </a:txBody>
                  <a:tcPr/>
                </a:tc>
                <a:tc>
                  <a:txBody>
                    <a:bodyPr/>
                    <a:lstStyle/>
                    <a:p>
                      <a:pPr algn="ctr"/>
                      <a:r>
                        <a:rPr lang="en-US" altLang="zh-CN" dirty="0">
                          <a:solidFill>
                            <a:srgbClr val="FF0000"/>
                          </a:solidFill>
                        </a:rPr>
                        <a:t>C2</a:t>
                      </a:r>
                      <a:endParaRPr lang="zh-CN" altLang="en-US" dirty="0">
                        <a:solidFill>
                          <a:srgbClr val="FF0000"/>
                        </a:solidFill>
                      </a:endParaRPr>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8418211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79</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S1</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76</a:t>
                      </a:r>
                      <a:endParaRPr lang="zh-CN" altLang="en-US" dirty="0"/>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extLst>
                  <a:ext uri="{0D108BD9-81ED-4DB2-BD59-A6C34878D82A}">
                    <a16:rowId xmlns:a16="http://schemas.microsoft.com/office/drawing/2014/main" val="2604247982"/>
                  </a:ext>
                </a:extLst>
              </a:tr>
              <a:tr h="370840">
                <a:tc>
                  <a:txBody>
                    <a:bodyPr/>
                    <a:lstStyle/>
                    <a:p>
                      <a:pPr algn="ctr"/>
                      <a:r>
                        <a:rPr lang="en-US" altLang="zh-CN" dirty="0"/>
                        <a:t>S6</a:t>
                      </a:r>
                      <a:endParaRPr lang="zh-CN" altLang="en-US" dirty="0"/>
                    </a:p>
                  </a:txBody>
                  <a:tcPr/>
                </a:tc>
                <a:tc>
                  <a:txBody>
                    <a:bodyPr/>
                    <a:lstStyle/>
                    <a:p>
                      <a:pPr algn="ctr"/>
                      <a:r>
                        <a:rPr lang="en-US" altLang="zh-CN" dirty="0"/>
                        <a:t>C1</a:t>
                      </a:r>
                      <a:endParaRPr lang="zh-CN" altLang="en-US" dirty="0"/>
                    </a:p>
                  </a:txBody>
                  <a:tcPr/>
                </a:tc>
                <a:tc>
                  <a:txBody>
                    <a:bodyPr/>
                    <a:lstStyle/>
                    <a:p>
                      <a:pPr algn="ctr"/>
                      <a:r>
                        <a:rPr lang="en-US" altLang="zh-CN" dirty="0"/>
                        <a:t>78</a:t>
                      </a:r>
                      <a:endParaRPr lang="zh-CN" altLang="en-US" dirty="0"/>
                    </a:p>
                  </a:txBody>
                  <a:tcPr/>
                </a:tc>
                <a:extLst>
                  <a:ext uri="{0D108BD9-81ED-4DB2-BD59-A6C34878D82A}">
                    <a16:rowId xmlns:a16="http://schemas.microsoft.com/office/drawing/2014/main" val="1236409575"/>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extLst>
                  <a:ext uri="{0D108BD9-81ED-4DB2-BD59-A6C34878D82A}">
                    <a16:rowId xmlns:a16="http://schemas.microsoft.com/office/drawing/2014/main" val="2469498560"/>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2410345556"/>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Times New Roman"/>
                          <a:ea typeface="宋体"/>
                          <a:cs typeface="+mn-cs"/>
                        </a:rPr>
                        <a:t>……</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Times New Roman"/>
                          <a:ea typeface="宋体"/>
                          <a:cs typeface="+mn-cs"/>
                        </a:rPr>
                        <a:t>……</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793272462"/>
                  </a:ext>
                </a:extLst>
              </a:tr>
            </a:tbl>
          </a:graphicData>
        </a:graphic>
      </p:graphicFrame>
      <p:graphicFrame>
        <p:nvGraphicFramePr>
          <p:cNvPr id="21" name="表格 2">
            <a:extLst>
              <a:ext uri="{FF2B5EF4-FFF2-40B4-BE49-F238E27FC236}">
                <a16:creationId xmlns:a16="http://schemas.microsoft.com/office/drawing/2014/main" id="{C0F93CA9-E2DC-4546-803D-E358D0B01D1E}"/>
              </a:ext>
            </a:extLst>
          </p:cNvPr>
          <p:cNvGraphicFramePr>
            <a:graphicFrameLocks noGrp="1"/>
          </p:cNvGraphicFramePr>
          <p:nvPr>
            <p:extLst>
              <p:ext uri="{D42A27DB-BD31-4B8C-83A1-F6EECF244321}">
                <p14:modId xmlns:p14="http://schemas.microsoft.com/office/powerpoint/2010/main" val="1193789074"/>
              </p:ext>
            </p:extLst>
          </p:nvPr>
        </p:nvGraphicFramePr>
        <p:xfrm>
          <a:off x="399830" y="506287"/>
          <a:ext cx="4796250" cy="370840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1226704">
                  <a:extLst>
                    <a:ext uri="{9D8B030D-6E8A-4147-A177-3AD203B41FA5}">
                      <a16:colId xmlns:a16="http://schemas.microsoft.com/office/drawing/2014/main" val="3954880262"/>
                    </a:ext>
                  </a:extLst>
                </a:gridCol>
                <a:gridCol w="959250">
                  <a:extLst>
                    <a:ext uri="{9D8B030D-6E8A-4147-A177-3AD203B41FA5}">
                      <a16:colId xmlns:a16="http://schemas.microsoft.com/office/drawing/2014/main" val="41684705"/>
                    </a:ext>
                  </a:extLst>
                </a:gridCol>
                <a:gridCol w="959250">
                  <a:extLst>
                    <a:ext uri="{9D8B030D-6E8A-4147-A177-3AD203B41FA5}">
                      <a16:colId xmlns:a16="http://schemas.microsoft.com/office/drawing/2014/main" val="2861137485"/>
                    </a:ext>
                  </a:extLst>
                </a:gridCol>
                <a:gridCol w="959250">
                  <a:extLst>
                    <a:ext uri="{9D8B030D-6E8A-4147-A177-3AD203B41FA5}">
                      <a16:colId xmlns:a16="http://schemas.microsoft.com/office/drawing/2014/main" val="119331567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tc>
                  <a:txBody>
                    <a:bodyPr/>
                    <a:lstStyle/>
                    <a:p>
                      <a:pPr algn="ctr"/>
                      <a:r>
                        <a:rPr lang="en-US" altLang="zh-CN" dirty="0"/>
                        <a:t>AGE</a:t>
                      </a:r>
                      <a:endParaRPr lang="zh-CN" altLang="en-US" dirty="0"/>
                    </a:p>
                  </a:txBody>
                  <a:tcPr/>
                </a:tc>
                <a:tc>
                  <a:txBody>
                    <a:bodyPr/>
                    <a:lstStyle/>
                    <a:p>
                      <a:pPr algn="ctr"/>
                      <a:r>
                        <a:rPr lang="en-US" altLang="zh-CN" dirty="0"/>
                        <a:t>SEX</a:t>
                      </a:r>
                      <a:endParaRPr lang="zh-CN" altLang="en-US" dirty="0"/>
                    </a:p>
                  </a:txBody>
                  <a:tcPr/>
                </a:tc>
                <a:tc>
                  <a:txBody>
                    <a:bodyPr/>
                    <a:lstStyle/>
                    <a:p>
                      <a:pPr algn="ctr"/>
                      <a:r>
                        <a:rPr lang="en-US" altLang="zh-CN" dirty="0"/>
                        <a:t>SDEPT</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370840">
                <a:tc>
                  <a:txBody>
                    <a:bodyPr/>
                    <a:lstStyle/>
                    <a:p>
                      <a:pPr algn="ctr"/>
                      <a:r>
                        <a:rPr lang="en-US" altLang="zh-CN" dirty="0"/>
                        <a:t>S2</a:t>
                      </a:r>
                      <a:endParaRPr lang="zh-CN" altLang="en-US" dirty="0"/>
                    </a:p>
                  </a:txBody>
                  <a:tcPr/>
                </a:tc>
                <a:tc>
                  <a:txBody>
                    <a:bodyPr/>
                    <a:lstStyle/>
                    <a:p>
                      <a:pPr algn="ctr"/>
                      <a:r>
                        <a:rPr lang="zh-CN" altLang="en-US" dirty="0"/>
                        <a:t>张飞</a:t>
                      </a:r>
                    </a:p>
                  </a:txBody>
                  <a:tcPr/>
                </a:tc>
                <a:tc>
                  <a:txBody>
                    <a:bodyPr/>
                    <a:lstStyle/>
                    <a:p>
                      <a:pPr algn="ctr"/>
                      <a:r>
                        <a:rPr lang="en-US" altLang="zh-CN" dirty="0"/>
                        <a:t>20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8418211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S3</a:t>
                      </a:r>
                      <a:endParaRPr lang="zh-CN" altLang="en-US" dirty="0"/>
                    </a:p>
                  </a:txBody>
                  <a:tcPr/>
                </a:tc>
                <a:tc>
                  <a:txBody>
                    <a:bodyPr/>
                    <a:lstStyle/>
                    <a:p>
                      <a:pPr algn="ctr"/>
                      <a:r>
                        <a:rPr lang="zh-CN" altLang="en-US" dirty="0"/>
                        <a:t>刘莎莎</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zh-CN" altLang="en-US" dirty="0"/>
                        <a:t>李小刚</a:t>
                      </a:r>
                    </a:p>
                  </a:txBody>
                  <a:tcPr/>
                </a:tc>
                <a:tc>
                  <a:txBody>
                    <a:bodyPr/>
                    <a:lstStyle/>
                    <a:p>
                      <a:pPr algn="ctr"/>
                      <a:r>
                        <a:rPr lang="en-US" altLang="zh-CN" dirty="0"/>
                        <a:t>21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男</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2604247982"/>
                  </a:ext>
                </a:extLst>
              </a:tr>
              <a:tr h="370840">
                <a:tc>
                  <a:txBody>
                    <a:bodyPr/>
                    <a:lstStyle/>
                    <a:p>
                      <a:pPr algn="ctr"/>
                      <a:r>
                        <a:rPr lang="en-US" altLang="zh-CN" dirty="0"/>
                        <a:t>S6</a:t>
                      </a:r>
                      <a:endParaRPr lang="zh-CN" altLang="en-US" dirty="0"/>
                    </a:p>
                  </a:txBody>
                  <a:tcPr/>
                </a:tc>
                <a:tc>
                  <a:txBody>
                    <a:bodyPr/>
                    <a:lstStyle/>
                    <a:p>
                      <a:pPr algn="ctr"/>
                      <a:r>
                        <a:rPr lang="zh-CN" altLang="en-US" dirty="0"/>
                        <a:t>陈爱国</a:t>
                      </a:r>
                    </a:p>
                  </a:txBody>
                  <a:tcPr/>
                </a:tc>
                <a:tc>
                  <a:txBody>
                    <a:bodyPr/>
                    <a:lstStyle/>
                    <a:p>
                      <a:pPr algn="ctr"/>
                      <a:r>
                        <a:rPr lang="en-US" altLang="zh-CN" dirty="0"/>
                        <a:t>19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extLst>
                  <a:ext uri="{0D108BD9-81ED-4DB2-BD59-A6C34878D82A}">
                    <a16:rowId xmlns:a16="http://schemas.microsoft.com/office/drawing/2014/main" val="12364095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S7</a:t>
                      </a:r>
                      <a:endParaRPr lang="zh-CN" altLang="en-US" dirty="0"/>
                    </a:p>
                  </a:txBody>
                  <a:tcPr/>
                </a:tc>
                <a:tc>
                  <a:txBody>
                    <a:bodyPr/>
                    <a:lstStyle/>
                    <a:p>
                      <a:pPr algn="ctr"/>
                      <a:r>
                        <a:rPr lang="zh-CN" altLang="en-US" dirty="0"/>
                        <a:t>柳庆国</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22310997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S8</a:t>
                      </a:r>
                      <a:endParaRPr lang="zh-CN" altLang="en-US" dirty="0"/>
                    </a:p>
                  </a:txBody>
                  <a:tcPr/>
                </a:tc>
                <a:tc>
                  <a:txBody>
                    <a:bodyPr/>
                    <a:lstStyle/>
                    <a:p>
                      <a:pPr algn="ctr"/>
                      <a:r>
                        <a:rPr lang="zh-CN" altLang="en-US" dirty="0"/>
                        <a:t>姜名</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extLst>
                  <a:ext uri="{0D108BD9-81ED-4DB2-BD59-A6C34878D82A}">
                    <a16:rowId xmlns:a16="http://schemas.microsoft.com/office/drawing/2014/main" val="11242298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S9</a:t>
                      </a:r>
                      <a:endParaRPr lang="zh-CN" altLang="en-US" dirty="0"/>
                    </a:p>
                  </a:txBody>
                  <a:tcPr/>
                </a:tc>
                <a:tc>
                  <a:txBody>
                    <a:bodyPr/>
                    <a:lstStyle/>
                    <a:p>
                      <a:pPr algn="ctr"/>
                      <a:r>
                        <a:rPr lang="zh-CN" altLang="en-US" dirty="0"/>
                        <a:t>王莉</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女</a:t>
                      </a:r>
                    </a:p>
                  </a:txBody>
                  <a:tcPr/>
                </a:tc>
                <a:tc>
                  <a:txBody>
                    <a:bodyPr/>
                    <a:lstStyle/>
                    <a:p>
                      <a:pPr algn="ctr"/>
                      <a:r>
                        <a:rPr lang="zh-CN" altLang="en-US" dirty="0"/>
                        <a:t>计算机</a:t>
                      </a:r>
                    </a:p>
                  </a:txBody>
                  <a:tcPr/>
                </a:tc>
                <a:extLst>
                  <a:ext uri="{0D108BD9-81ED-4DB2-BD59-A6C34878D82A}">
                    <a16:rowId xmlns:a16="http://schemas.microsoft.com/office/drawing/2014/main" val="1909949203"/>
                  </a:ext>
                </a:extLst>
              </a:tr>
            </a:tbl>
          </a:graphicData>
        </a:graphic>
      </p:graphicFrame>
      <p:graphicFrame>
        <p:nvGraphicFramePr>
          <p:cNvPr id="18" name="表格 2">
            <a:extLst>
              <a:ext uri="{FF2B5EF4-FFF2-40B4-BE49-F238E27FC236}">
                <a16:creationId xmlns:a16="http://schemas.microsoft.com/office/drawing/2014/main" id="{FA7392EF-3D56-A645-A575-6D1777C101B7}"/>
              </a:ext>
            </a:extLst>
          </p:cNvPr>
          <p:cNvGraphicFramePr>
            <a:graphicFrameLocks noGrp="1"/>
          </p:cNvGraphicFramePr>
          <p:nvPr>
            <p:extLst>
              <p:ext uri="{D42A27DB-BD31-4B8C-83A1-F6EECF244321}">
                <p14:modId xmlns:p14="http://schemas.microsoft.com/office/powerpoint/2010/main" val="4165059668"/>
              </p:ext>
            </p:extLst>
          </p:nvPr>
        </p:nvGraphicFramePr>
        <p:xfrm>
          <a:off x="423822" y="3149600"/>
          <a:ext cx="4796250" cy="3708400"/>
        </p:xfrm>
        <a:graphic>
          <a:graphicData uri="http://schemas.openxmlformats.org/drawingml/2006/table">
            <a:tbl>
              <a:tblPr firstRow="1" bandRow="1">
                <a:tableStyleId>{21E4AEA4-8DFA-4A89-87EB-49C32662AFE0}</a:tableStyleId>
              </a:tblPr>
              <a:tblGrid>
                <a:gridCol w="860607">
                  <a:extLst>
                    <a:ext uri="{9D8B030D-6E8A-4147-A177-3AD203B41FA5}">
                      <a16:colId xmlns:a16="http://schemas.microsoft.com/office/drawing/2014/main" val="3250390251"/>
                    </a:ext>
                  </a:extLst>
                </a:gridCol>
                <a:gridCol w="1057893">
                  <a:extLst>
                    <a:ext uri="{9D8B030D-6E8A-4147-A177-3AD203B41FA5}">
                      <a16:colId xmlns:a16="http://schemas.microsoft.com/office/drawing/2014/main" val="3954880262"/>
                    </a:ext>
                  </a:extLst>
                </a:gridCol>
                <a:gridCol w="959250">
                  <a:extLst>
                    <a:ext uri="{9D8B030D-6E8A-4147-A177-3AD203B41FA5}">
                      <a16:colId xmlns:a16="http://schemas.microsoft.com/office/drawing/2014/main" val="41684705"/>
                    </a:ext>
                  </a:extLst>
                </a:gridCol>
                <a:gridCol w="959250">
                  <a:extLst>
                    <a:ext uri="{9D8B030D-6E8A-4147-A177-3AD203B41FA5}">
                      <a16:colId xmlns:a16="http://schemas.microsoft.com/office/drawing/2014/main" val="2861137485"/>
                    </a:ext>
                  </a:extLst>
                </a:gridCol>
                <a:gridCol w="959250">
                  <a:extLst>
                    <a:ext uri="{9D8B030D-6E8A-4147-A177-3AD203B41FA5}">
                      <a16:colId xmlns:a16="http://schemas.microsoft.com/office/drawing/2014/main" val="1193315675"/>
                    </a:ext>
                  </a:extLst>
                </a:gridCol>
              </a:tblGrid>
              <a:tr h="370840">
                <a:tc>
                  <a:txBody>
                    <a:bodyPr/>
                    <a:lstStyle/>
                    <a:p>
                      <a:pPr algn="ctr"/>
                      <a:r>
                        <a:rPr lang="en-US" altLang="zh-CN" dirty="0"/>
                        <a:t>S.SNO</a:t>
                      </a:r>
                      <a:endParaRPr lang="zh-CN" altLang="en-US" dirty="0"/>
                    </a:p>
                  </a:txBody>
                  <a:tcPr/>
                </a:tc>
                <a:tc>
                  <a:txBody>
                    <a:bodyPr/>
                    <a:lstStyle/>
                    <a:p>
                      <a:pPr algn="ctr"/>
                      <a:r>
                        <a:rPr lang="en-US" altLang="zh-CN" dirty="0"/>
                        <a:t>SNAME</a:t>
                      </a:r>
                      <a:endParaRPr lang="zh-CN" altLang="en-US" dirty="0"/>
                    </a:p>
                  </a:txBody>
                  <a:tcPr/>
                </a:tc>
                <a:tc>
                  <a:txBody>
                    <a:bodyPr/>
                    <a:lstStyle/>
                    <a:p>
                      <a:pPr algn="ctr"/>
                      <a:r>
                        <a:rPr lang="en-US" altLang="zh-CN" dirty="0"/>
                        <a:t>AGE</a:t>
                      </a:r>
                      <a:endParaRPr lang="zh-CN" altLang="en-US" dirty="0"/>
                    </a:p>
                  </a:txBody>
                  <a:tcPr/>
                </a:tc>
                <a:tc>
                  <a:txBody>
                    <a:bodyPr/>
                    <a:lstStyle/>
                    <a:p>
                      <a:pPr algn="ctr"/>
                      <a:r>
                        <a:rPr lang="en-US" altLang="zh-CN" dirty="0"/>
                        <a:t>SEX</a:t>
                      </a:r>
                      <a:endParaRPr lang="zh-CN" altLang="en-US" dirty="0"/>
                    </a:p>
                  </a:txBody>
                  <a:tcPr/>
                </a:tc>
                <a:tc>
                  <a:txBody>
                    <a:bodyPr/>
                    <a:lstStyle/>
                    <a:p>
                      <a:pPr algn="ctr"/>
                      <a:r>
                        <a:rPr lang="en-US" altLang="zh-CN" dirty="0"/>
                        <a:t>SDEPT</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1525745174"/>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919232552"/>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4092507802"/>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468897104"/>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633446029"/>
                  </a:ext>
                </a:extLst>
              </a:tr>
              <a:tr h="370840">
                <a:tc>
                  <a:txBody>
                    <a:bodyPr/>
                    <a:lstStyle/>
                    <a:p>
                      <a:pPr algn="ctr"/>
                      <a:r>
                        <a:rPr lang="en-US" altLang="zh-CN" dirty="0"/>
                        <a:t>S2</a:t>
                      </a:r>
                      <a:endParaRPr lang="zh-CN" altLang="en-US" dirty="0"/>
                    </a:p>
                  </a:txBody>
                  <a:tcPr/>
                </a:tc>
                <a:tc>
                  <a:txBody>
                    <a:bodyPr/>
                    <a:lstStyle/>
                    <a:p>
                      <a:pPr algn="ctr"/>
                      <a:r>
                        <a:rPr lang="zh-CN" altLang="en-US" dirty="0"/>
                        <a:t>张飞</a:t>
                      </a:r>
                    </a:p>
                  </a:txBody>
                  <a:tcPr/>
                </a:tc>
                <a:tc>
                  <a:txBody>
                    <a:bodyPr/>
                    <a:lstStyle/>
                    <a:p>
                      <a:pPr algn="ctr"/>
                      <a:r>
                        <a:rPr lang="en-US" altLang="zh-CN" dirty="0"/>
                        <a:t>20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r h="370840">
                <a:tc>
                  <a:txBody>
                    <a:bodyPr/>
                    <a:lstStyle/>
                    <a:p>
                      <a:pPr algn="ctr"/>
                      <a:r>
                        <a:rPr lang="en-US" altLang="zh-CN" dirty="0"/>
                        <a:t>S2</a:t>
                      </a:r>
                      <a:endParaRPr lang="zh-CN" altLang="en-US" dirty="0"/>
                    </a:p>
                  </a:txBody>
                  <a:tcPr/>
                </a:tc>
                <a:tc>
                  <a:txBody>
                    <a:bodyPr/>
                    <a:lstStyle/>
                    <a:p>
                      <a:pPr algn="ctr"/>
                      <a:r>
                        <a:rPr lang="zh-CN" altLang="en-US" dirty="0"/>
                        <a:t>张飞</a:t>
                      </a:r>
                    </a:p>
                  </a:txBody>
                  <a:tcPr/>
                </a:tc>
                <a:tc>
                  <a:txBody>
                    <a:bodyPr/>
                    <a:lstStyle/>
                    <a:p>
                      <a:pPr algn="ctr"/>
                      <a:r>
                        <a:rPr lang="en-US" altLang="zh-CN" dirty="0"/>
                        <a:t>20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37709247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Times New Roman"/>
                          <a:ea typeface="宋体"/>
                          <a:cs typeface="+mn-cs"/>
                        </a:rPr>
                        <a:t>……</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Times New Roman"/>
                          <a:ea typeface="宋体"/>
                          <a:cs typeface="+mn-cs"/>
                        </a:rPr>
                        <a:t>……</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Times New Roman"/>
                          <a:ea typeface="宋体"/>
                          <a:cs typeface="+mn-cs"/>
                        </a:rPr>
                        <a:t>……</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a:ln>
                            <a:noFill/>
                          </a:ln>
                          <a:solidFill>
                            <a:srgbClr val="000000"/>
                          </a:solidFill>
                          <a:effectLst/>
                          <a:uLnTx/>
                          <a:uFillTx/>
                          <a:latin typeface="Times New Roman"/>
                          <a:ea typeface="宋体"/>
                          <a:cs typeface="+mn-cs"/>
                        </a:rPr>
                        <a:t>……</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800" b="0" i="0" u="none" strike="noStrike" kern="1200" cap="none" spc="0" normalizeH="0" baseline="0" noProof="0" dirty="0">
                          <a:ln>
                            <a:noFill/>
                          </a:ln>
                          <a:solidFill>
                            <a:srgbClr val="000000"/>
                          </a:solidFill>
                          <a:effectLst/>
                          <a:uLnTx/>
                          <a:uFillTx/>
                          <a:latin typeface="Times New Roman"/>
                          <a:ea typeface="宋体"/>
                          <a:cs typeface="+mn-cs"/>
                        </a:rPr>
                        <a:t>……</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2545283094"/>
                  </a:ext>
                </a:extLst>
              </a:tr>
            </a:tbl>
          </a:graphicData>
        </a:graphic>
      </p:graphicFrame>
      <p:sp>
        <p:nvSpPr>
          <p:cNvPr id="15" name="文本框 14">
            <a:extLst>
              <a:ext uri="{FF2B5EF4-FFF2-40B4-BE49-F238E27FC236}">
                <a16:creationId xmlns:a16="http://schemas.microsoft.com/office/drawing/2014/main" id="{BF2F64FD-E24F-8D44-B109-CB6683AAF5A1}"/>
              </a:ext>
            </a:extLst>
          </p:cNvPr>
          <p:cNvSpPr txBox="1"/>
          <p:nvPr/>
        </p:nvSpPr>
        <p:spPr>
          <a:xfrm>
            <a:off x="3376808" y="2768026"/>
            <a:ext cx="4572000" cy="313932"/>
          </a:xfrm>
          <a:prstGeom prst="rect">
            <a:avLst/>
          </a:prstGeom>
          <a:noFill/>
        </p:spPr>
        <p:txBody>
          <a:bodyPr wrap="square">
            <a:spAutoFit/>
          </a:bodyPr>
          <a:lstStyle/>
          <a:p>
            <a:r>
              <a:rPr lang="en-US" altLang="zh-CN" sz="1800" b="1" dirty="0">
                <a:solidFill>
                  <a:srgbClr val="FF0000"/>
                </a:solidFill>
                <a:highlight>
                  <a:srgbClr val="FFFF00"/>
                </a:highlight>
              </a:rPr>
              <a:t>S×SC</a:t>
            </a:r>
            <a:r>
              <a:rPr lang="zh-CN" altLang="en-US" sz="1800" b="1" dirty="0">
                <a:solidFill>
                  <a:srgbClr val="FF0000"/>
                </a:solidFill>
                <a:highlight>
                  <a:srgbClr val="FFFF00"/>
                </a:highlight>
              </a:rPr>
              <a:t>：</a:t>
            </a:r>
            <a:r>
              <a:rPr lang="en-US" altLang="zh-CN" sz="1800" b="1" dirty="0">
                <a:solidFill>
                  <a:srgbClr val="FF0000"/>
                </a:solidFill>
                <a:highlight>
                  <a:srgbClr val="FFFF00"/>
                </a:highlight>
              </a:rPr>
              <a:t>9</a:t>
            </a:r>
            <a:r>
              <a:rPr lang="zh-CN" altLang="en-US" sz="1800" b="1" dirty="0">
                <a:solidFill>
                  <a:srgbClr val="FF0000"/>
                </a:solidFill>
                <a:highlight>
                  <a:srgbClr val="FFFF00"/>
                </a:highlight>
              </a:rPr>
              <a:t>*</a:t>
            </a:r>
            <a:r>
              <a:rPr lang="en-US" altLang="zh-CN" sz="1800" b="1" dirty="0">
                <a:solidFill>
                  <a:srgbClr val="FF0000"/>
                </a:solidFill>
                <a:highlight>
                  <a:srgbClr val="FFFF00"/>
                </a:highlight>
              </a:rPr>
              <a:t>6=54</a:t>
            </a:r>
            <a:endParaRPr lang="zh-CN" altLang="en-US" dirty="0">
              <a:solidFill>
                <a:srgbClr val="FF0000"/>
              </a:solidFill>
              <a:highlight>
                <a:srgbClr val="FFFF00"/>
              </a:highlight>
            </a:endParaRPr>
          </a:p>
        </p:txBody>
      </p:sp>
    </p:spTree>
    <p:extLst>
      <p:ext uri="{BB962C8B-B14F-4D97-AF65-F5344CB8AC3E}">
        <p14:creationId xmlns:p14="http://schemas.microsoft.com/office/powerpoint/2010/main" val="23053304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D7CC617A-C47D-1D4F-BA8B-3E52230974C2}"/>
              </a:ext>
            </a:extLst>
          </p:cNvPr>
          <p:cNvSpPr txBox="1"/>
          <p:nvPr/>
        </p:nvSpPr>
        <p:spPr>
          <a:xfrm>
            <a:off x="1976223" y="152586"/>
            <a:ext cx="1346844" cy="338554"/>
          </a:xfrm>
          <a:prstGeom prst="rect">
            <a:avLst/>
          </a:prstGeom>
          <a:noFill/>
        </p:spPr>
        <p:txBody>
          <a:bodyPr wrap="none" rtlCol="0">
            <a:spAutoFit/>
          </a:bodyPr>
          <a:lstStyle/>
          <a:p>
            <a:r>
              <a:rPr kumimoji="1" lang="zh-CN" altLang="en-US" sz="2000" b="1" u="sng" dirty="0">
                <a:solidFill>
                  <a:schemeClr val="bg1"/>
                </a:solidFill>
              </a:rPr>
              <a:t>学生关系</a:t>
            </a:r>
            <a:r>
              <a:rPr kumimoji="1" lang="en-US" altLang="zh-CN" sz="2000" b="1" u="sng" dirty="0">
                <a:solidFill>
                  <a:schemeClr val="bg1"/>
                </a:solidFill>
              </a:rPr>
              <a:t>S</a:t>
            </a:r>
            <a:endParaRPr kumimoji="1" lang="zh-CN" altLang="en-US" sz="2000" b="1" u="sng" dirty="0">
              <a:solidFill>
                <a:schemeClr val="bg1"/>
              </a:solidFill>
            </a:endParaRPr>
          </a:p>
        </p:txBody>
      </p:sp>
      <p:graphicFrame>
        <p:nvGraphicFramePr>
          <p:cNvPr id="13" name="表格 2">
            <a:extLst>
              <a:ext uri="{FF2B5EF4-FFF2-40B4-BE49-F238E27FC236}">
                <a16:creationId xmlns:a16="http://schemas.microsoft.com/office/drawing/2014/main" id="{B4CAFCB6-16C9-1942-980C-36D864A818AD}"/>
              </a:ext>
            </a:extLst>
          </p:cNvPr>
          <p:cNvGraphicFramePr>
            <a:graphicFrameLocks noGrp="1"/>
          </p:cNvGraphicFramePr>
          <p:nvPr>
            <p:extLst>
              <p:ext uri="{D42A27DB-BD31-4B8C-83A1-F6EECF244321}">
                <p14:modId xmlns:p14="http://schemas.microsoft.com/office/powerpoint/2010/main" val="657656397"/>
              </p:ext>
            </p:extLst>
          </p:nvPr>
        </p:nvGraphicFramePr>
        <p:xfrm>
          <a:off x="5436096" y="377323"/>
          <a:ext cx="2456443" cy="2595880"/>
        </p:xfrm>
        <a:graphic>
          <a:graphicData uri="http://schemas.openxmlformats.org/drawingml/2006/table">
            <a:tbl>
              <a:tblPr firstRow="1" bandRow="1">
                <a:tableStyleId>{5C22544A-7EE6-4342-B048-85BDC9FD1C3A}</a:tableStyleId>
              </a:tblPr>
              <a:tblGrid>
                <a:gridCol w="691796">
                  <a:extLst>
                    <a:ext uri="{9D8B030D-6E8A-4147-A177-3AD203B41FA5}">
                      <a16:colId xmlns:a16="http://schemas.microsoft.com/office/drawing/2014/main" val="3250390251"/>
                    </a:ext>
                  </a:extLst>
                </a:gridCol>
                <a:gridCol w="748364">
                  <a:extLst>
                    <a:ext uri="{9D8B030D-6E8A-4147-A177-3AD203B41FA5}">
                      <a16:colId xmlns:a16="http://schemas.microsoft.com/office/drawing/2014/main" val="3954880262"/>
                    </a:ext>
                  </a:extLst>
                </a:gridCol>
                <a:gridCol w="1016283">
                  <a:extLst>
                    <a:ext uri="{9D8B030D-6E8A-4147-A177-3AD203B41FA5}">
                      <a16:colId xmlns:a16="http://schemas.microsoft.com/office/drawing/2014/main" val="4168470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CNO</a:t>
                      </a:r>
                      <a:endParaRPr lang="zh-CN" altLang="en-US" dirty="0"/>
                    </a:p>
                  </a:txBody>
                  <a:tcPr/>
                </a:tc>
                <a:tc>
                  <a:txBody>
                    <a:bodyPr/>
                    <a:lstStyle/>
                    <a:p>
                      <a:pPr algn="ctr"/>
                      <a:r>
                        <a:rPr lang="en-US" altLang="zh-CN" dirty="0"/>
                        <a:t>GRADE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extLst>
                  <a:ext uri="{0D108BD9-81ED-4DB2-BD59-A6C34878D82A}">
                    <a16:rowId xmlns:a16="http://schemas.microsoft.com/office/drawing/2014/main" val="3713937122"/>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8418211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79</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S1</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76</a:t>
                      </a:r>
                      <a:endParaRPr lang="zh-CN" altLang="en-US" dirty="0"/>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extLst>
                  <a:ext uri="{0D108BD9-81ED-4DB2-BD59-A6C34878D82A}">
                    <a16:rowId xmlns:a16="http://schemas.microsoft.com/office/drawing/2014/main" val="2604247982"/>
                  </a:ext>
                </a:extLst>
              </a:tr>
              <a:tr h="370840">
                <a:tc>
                  <a:txBody>
                    <a:bodyPr/>
                    <a:lstStyle/>
                    <a:p>
                      <a:pPr algn="ctr"/>
                      <a:r>
                        <a:rPr lang="en-US" altLang="zh-CN" dirty="0"/>
                        <a:t>S6</a:t>
                      </a:r>
                      <a:endParaRPr lang="zh-CN" altLang="en-US" dirty="0"/>
                    </a:p>
                  </a:txBody>
                  <a:tcPr/>
                </a:tc>
                <a:tc>
                  <a:txBody>
                    <a:bodyPr/>
                    <a:lstStyle/>
                    <a:p>
                      <a:pPr algn="ctr"/>
                      <a:r>
                        <a:rPr lang="en-US" altLang="zh-CN" dirty="0"/>
                        <a:t>C1</a:t>
                      </a:r>
                      <a:endParaRPr lang="zh-CN" altLang="en-US" dirty="0"/>
                    </a:p>
                  </a:txBody>
                  <a:tcPr/>
                </a:tc>
                <a:tc>
                  <a:txBody>
                    <a:bodyPr/>
                    <a:lstStyle/>
                    <a:p>
                      <a:pPr algn="ctr"/>
                      <a:r>
                        <a:rPr lang="en-US" altLang="zh-CN" dirty="0"/>
                        <a:t>78</a:t>
                      </a:r>
                      <a:endParaRPr lang="zh-CN" altLang="en-US" dirty="0"/>
                    </a:p>
                  </a:txBody>
                  <a:tcPr/>
                </a:tc>
                <a:extLst>
                  <a:ext uri="{0D108BD9-81ED-4DB2-BD59-A6C34878D82A}">
                    <a16:rowId xmlns:a16="http://schemas.microsoft.com/office/drawing/2014/main" val="1236409575"/>
                  </a:ext>
                </a:extLst>
              </a:tr>
            </a:tbl>
          </a:graphicData>
        </a:graphic>
      </p:graphicFrame>
      <p:sp>
        <p:nvSpPr>
          <p:cNvPr id="14" name="文本框 13">
            <a:extLst>
              <a:ext uri="{FF2B5EF4-FFF2-40B4-BE49-F238E27FC236}">
                <a16:creationId xmlns:a16="http://schemas.microsoft.com/office/drawing/2014/main" id="{F37889B6-06E0-334B-85BA-96157E44D7A3}"/>
              </a:ext>
            </a:extLst>
          </p:cNvPr>
          <p:cNvSpPr txBox="1"/>
          <p:nvPr/>
        </p:nvSpPr>
        <p:spPr>
          <a:xfrm>
            <a:off x="6152687" y="-16691"/>
            <a:ext cx="1476686" cy="338554"/>
          </a:xfrm>
          <a:prstGeom prst="rect">
            <a:avLst/>
          </a:prstGeom>
          <a:noFill/>
        </p:spPr>
        <p:txBody>
          <a:bodyPr wrap="none" rtlCol="0">
            <a:spAutoFit/>
          </a:bodyPr>
          <a:lstStyle/>
          <a:p>
            <a:r>
              <a:rPr kumimoji="1" lang="zh-CN" altLang="en-US" sz="2000" b="1" u="sng" dirty="0">
                <a:solidFill>
                  <a:schemeClr val="bg1"/>
                </a:solidFill>
              </a:rPr>
              <a:t>学习关系</a:t>
            </a:r>
            <a:r>
              <a:rPr kumimoji="1" lang="en-US" altLang="zh-CN" sz="2000" b="1" u="sng" dirty="0">
                <a:solidFill>
                  <a:schemeClr val="bg1"/>
                </a:solidFill>
              </a:rPr>
              <a:t>SC</a:t>
            </a:r>
            <a:endParaRPr kumimoji="1" lang="zh-CN" altLang="en-US" sz="2000" b="1" u="sng" dirty="0">
              <a:solidFill>
                <a:schemeClr val="bg1"/>
              </a:solidFill>
            </a:endParaRPr>
          </a:p>
        </p:txBody>
      </p:sp>
      <p:sp>
        <p:nvSpPr>
          <p:cNvPr id="15" name="文本框 14">
            <a:extLst>
              <a:ext uri="{FF2B5EF4-FFF2-40B4-BE49-F238E27FC236}">
                <a16:creationId xmlns:a16="http://schemas.microsoft.com/office/drawing/2014/main" id="{BF2F64FD-E24F-8D44-B109-CB6683AAF5A1}"/>
              </a:ext>
            </a:extLst>
          </p:cNvPr>
          <p:cNvSpPr txBox="1"/>
          <p:nvPr/>
        </p:nvSpPr>
        <p:spPr>
          <a:xfrm>
            <a:off x="5788274" y="3768090"/>
            <a:ext cx="4572000" cy="446597"/>
          </a:xfrm>
          <a:prstGeom prst="rect">
            <a:avLst/>
          </a:prstGeom>
          <a:noFill/>
        </p:spPr>
        <p:txBody>
          <a:bodyPr wrap="square">
            <a:spAutoFit/>
          </a:bodyPr>
          <a:lstStyle/>
          <a:p>
            <a:r>
              <a:rPr lang="en-US" altLang="zh-CN" sz="1800" b="1" dirty="0">
                <a:solidFill>
                  <a:srgbClr val="FF0000"/>
                </a:solidFill>
              </a:rPr>
              <a:t>S </a:t>
            </a:r>
            <a:r>
              <a:rPr lang="en-US" altLang="zh-CN" sz="2800" b="1" dirty="0">
                <a:solidFill>
                  <a:srgbClr val="FF0000"/>
                </a:solidFill>
                <a:latin typeface="Times New Roman" pitchFamily="18" charset="0"/>
              </a:rPr>
              <a:t>⋈</a:t>
            </a:r>
            <a:r>
              <a:rPr lang="en-US" altLang="zh-CN" sz="1800" b="1" dirty="0">
                <a:solidFill>
                  <a:srgbClr val="FF0000"/>
                </a:solidFill>
              </a:rPr>
              <a:t> SC </a:t>
            </a:r>
            <a:r>
              <a:rPr lang="zh-CN" altLang="en-US" sz="1800" b="1" dirty="0">
                <a:solidFill>
                  <a:srgbClr val="FF0000"/>
                </a:solidFill>
              </a:rPr>
              <a:t>：</a:t>
            </a:r>
            <a:r>
              <a:rPr lang="en-US" altLang="zh-CN" sz="1800" b="1" dirty="0">
                <a:solidFill>
                  <a:srgbClr val="FF0000"/>
                </a:solidFill>
              </a:rPr>
              <a:t>6</a:t>
            </a:r>
            <a:endParaRPr lang="zh-CN" altLang="en-US" dirty="0">
              <a:solidFill>
                <a:srgbClr val="FF0000"/>
              </a:solidFill>
            </a:endParaRPr>
          </a:p>
        </p:txBody>
      </p:sp>
      <p:graphicFrame>
        <p:nvGraphicFramePr>
          <p:cNvPr id="18" name="表格 2">
            <a:extLst>
              <a:ext uri="{FF2B5EF4-FFF2-40B4-BE49-F238E27FC236}">
                <a16:creationId xmlns:a16="http://schemas.microsoft.com/office/drawing/2014/main" id="{FA7392EF-3D56-A645-A575-6D1777C101B7}"/>
              </a:ext>
            </a:extLst>
          </p:cNvPr>
          <p:cNvGraphicFramePr>
            <a:graphicFrameLocks noGrp="1"/>
          </p:cNvGraphicFramePr>
          <p:nvPr>
            <p:extLst>
              <p:ext uri="{D42A27DB-BD31-4B8C-83A1-F6EECF244321}">
                <p14:modId xmlns:p14="http://schemas.microsoft.com/office/powerpoint/2010/main" val="817370456"/>
              </p:ext>
            </p:extLst>
          </p:nvPr>
        </p:nvGraphicFramePr>
        <p:xfrm>
          <a:off x="399242" y="4306959"/>
          <a:ext cx="4796250" cy="2595880"/>
        </p:xfrm>
        <a:graphic>
          <a:graphicData uri="http://schemas.openxmlformats.org/drawingml/2006/table">
            <a:tbl>
              <a:tblPr firstRow="1" bandRow="1">
                <a:tableStyleId>{21E4AEA4-8DFA-4A89-87EB-49C32662AFE0}</a:tableStyleId>
              </a:tblPr>
              <a:tblGrid>
                <a:gridCol w="860607">
                  <a:extLst>
                    <a:ext uri="{9D8B030D-6E8A-4147-A177-3AD203B41FA5}">
                      <a16:colId xmlns:a16="http://schemas.microsoft.com/office/drawing/2014/main" val="3250390251"/>
                    </a:ext>
                  </a:extLst>
                </a:gridCol>
                <a:gridCol w="1057893">
                  <a:extLst>
                    <a:ext uri="{9D8B030D-6E8A-4147-A177-3AD203B41FA5}">
                      <a16:colId xmlns:a16="http://schemas.microsoft.com/office/drawing/2014/main" val="3954880262"/>
                    </a:ext>
                  </a:extLst>
                </a:gridCol>
                <a:gridCol w="959250">
                  <a:extLst>
                    <a:ext uri="{9D8B030D-6E8A-4147-A177-3AD203B41FA5}">
                      <a16:colId xmlns:a16="http://schemas.microsoft.com/office/drawing/2014/main" val="41684705"/>
                    </a:ext>
                  </a:extLst>
                </a:gridCol>
                <a:gridCol w="959250">
                  <a:extLst>
                    <a:ext uri="{9D8B030D-6E8A-4147-A177-3AD203B41FA5}">
                      <a16:colId xmlns:a16="http://schemas.microsoft.com/office/drawing/2014/main" val="2861137485"/>
                    </a:ext>
                  </a:extLst>
                </a:gridCol>
                <a:gridCol w="959250">
                  <a:extLst>
                    <a:ext uri="{9D8B030D-6E8A-4147-A177-3AD203B41FA5}">
                      <a16:colId xmlns:a16="http://schemas.microsoft.com/office/drawing/2014/main" val="119331567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tc>
                  <a:txBody>
                    <a:bodyPr/>
                    <a:lstStyle/>
                    <a:p>
                      <a:pPr algn="ctr"/>
                      <a:r>
                        <a:rPr lang="en-US" altLang="zh-CN" dirty="0"/>
                        <a:t>AGE</a:t>
                      </a:r>
                      <a:endParaRPr lang="zh-CN" altLang="en-US" dirty="0"/>
                    </a:p>
                  </a:txBody>
                  <a:tcPr/>
                </a:tc>
                <a:tc>
                  <a:txBody>
                    <a:bodyPr/>
                    <a:lstStyle/>
                    <a:p>
                      <a:pPr algn="ctr"/>
                      <a:r>
                        <a:rPr lang="en-US" altLang="zh-CN" dirty="0"/>
                        <a:t>SEX</a:t>
                      </a:r>
                      <a:endParaRPr lang="zh-CN" altLang="en-US" dirty="0"/>
                    </a:p>
                  </a:txBody>
                  <a:tcPr/>
                </a:tc>
                <a:tc>
                  <a:txBody>
                    <a:bodyPr/>
                    <a:lstStyle/>
                    <a:p>
                      <a:pPr algn="ctr"/>
                      <a:r>
                        <a:rPr lang="en-US" altLang="zh-CN" dirty="0"/>
                        <a:t>SDEPT</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152574517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S3</a:t>
                      </a:r>
                      <a:endParaRPr lang="zh-CN" altLang="en-US" dirty="0"/>
                    </a:p>
                  </a:txBody>
                  <a:tcPr/>
                </a:tc>
                <a:tc>
                  <a:txBody>
                    <a:bodyPr/>
                    <a:lstStyle/>
                    <a:p>
                      <a:pPr algn="ctr"/>
                      <a:r>
                        <a:rPr lang="zh-CN" altLang="en-US" dirty="0"/>
                        <a:t>刘莎莎</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3770924754"/>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2545283094"/>
                  </a:ext>
                </a:extLst>
              </a:tr>
              <a:tr h="370840">
                <a:tc>
                  <a:txBody>
                    <a:bodyPr/>
                    <a:lstStyle/>
                    <a:p>
                      <a:pPr algn="ctr"/>
                      <a:r>
                        <a:rPr lang="en-US" altLang="zh-CN" dirty="0"/>
                        <a:t>S5</a:t>
                      </a:r>
                      <a:endParaRPr lang="zh-CN" altLang="en-US" dirty="0"/>
                    </a:p>
                  </a:txBody>
                  <a:tcPr/>
                </a:tc>
                <a:tc>
                  <a:txBody>
                    <a:bodyPr/>
                    <a:lstStyle/>
                    <a:p>
                      <a:pPr algn="ctr"/>
                      <a:r>
                        <a:rPr lang="zh-CN" altLang="en-US" dirty="0"/>
                        <a:t>李小刚</a:t>
                      </a:r>
                    </a:p>
                  </a:txBody>
                  <a:tcPr/>
                </a:tc>
                <a:tc>
                  <a:txBody>
                    <a:bodyPr/>
                    <a:lstStyle/>
                    <a:p>
                      <a:pPr algn="ctr"/>
                      <a:r>
                        <a:rPr lang="en-US" altLang="zh-CN" dirty="0"/>
                        <a:t>21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537037459"/>
                  </a:ext>
                </a:extLst>
              </a:tr>
              <a:tr h="370840">
                <a:tc>
                  <a:txBody>
                    <a:bodyPr/>
                    <a:lstStyle/>
                    <a:p>
                      <a:pPr algn="ctr"/>
                      <a:r>
                        <a:rPr lang="en-US" altLang="zh-CN" dirty="0"/>
                        <a:t>S6</a:t>
                      </a:r>
                      <a:endParaRPr lang="zh-CN" altLang="en-US" dirty="0"/>
                    </a:p>
                  </a:txBody>
                  <a:tcPr/>
                </a:tc>
                <a:tc>
                  <a:txBody>
                    <a:bodyPr/>
                    <a:lstStyle/>
                    <a:p>
                      <a:pPr algn="ctr"/>
                      <a:r>
                        <a:rPr lang="zh-CN" altLang="en-US" dirty="0"/>
                        <a:t>陈爱国</a:t>
                      </a:r>
                    </a:p>
                  </a:txBody>
                  <a:tcPr/>
                </a:tc>
                <a:tc>
                  <a:txBody>
                    <a:bodyPr/>
                    <a:lstStyle/>
                    <a:p>
                      <a:pPr algn="ctr"/>
                      <a:r>
                        <a:rPr lang="en-US" altLang="zh-CN" dirty="0"/>
                        <a:t>19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extLst>
                  <a:ext uri="{0D108BD9-81ED-4DB2-BD59-A6C34878D82A}">
                    <a16:rowId xmlns:a16="http://schemas.microsoft.com/office/drawing/2014/main" val="2033922944"/>
                  </a:ext>
                </a:extLst>
              </a:tr>
            </a:tbl>
          </a:graphicData>
        </a:graphic>
      </p:graphicFrame>
      <p:graphicFrame>
        <p:nvGraphicFramePr>
          <p:cNvPr id="20" name="表格 2">
            <a:extLst>
              <a:ext uri="{FF2B5EF4-FFF2-40B4-BE49-F238E27FC236}">
                <a16:creationId xmlns:a16="http://schemas.microsoft.com/office/drawing/2014/main" id="{2D1F580E-62FA-5D46-8A89-98BE464282CC}"/>
              </a:ext>
            </a:extLst>
          </p:cNvPr>
          <p:cNvGraphicFramePr>
            <a:graphicFrameLocks noGrp="1"/>
          </p:cNvGraphicFramePr>
          <p:nvPr>
            <p:extLst>
              <p:ext uri="{D42A27DB-BD31-4B8C-83A1-F6EECF244321}">
                <p14:modId xmlns:p14="http://schemas.microsoft.com/office/powerpoint/2010/main" val="3511078397"/>
              </p:ext>
            </p:extLst>
          </p:nvPr>
        </p:nvGraphicFramePr>
        <p:xfrm>
          <a:off x="5230888" y="4306959"/>
          <a:ext cx="3025408" cy="2595880"/>
        </p:xfrm>
        <a:graphic>
          <a:graphicData uri="http://schemas.openxmlformats.org/drawingml/2006/table">
            <a:tbl>
              <a:tblPr firstRow="1" bandRow="1">
                <a:tableStyleId>{5C22544A-7EE6-4342-B048-85BDC9FD1C3A}</a:tableStyleId>
              </a:tblPr>
              <a:tblGrid>
                <a:gridCol w="1083245">
                  <a:extLst>
                    <a:ext uri="{9D8B030D-6E8A-4147-A177-3AD203B41FA5}">
                      <a16:colId xmlns:a16="http://schemas.microsoft.com/office/drawing/2014/main" val="3250390251"/>
                    </a:ext>
                  </a:extLst>
                </a:gridCol>
                <a:gridCol w="792088">
                  <a:extLst>
                    <a:ext uri="{9D8B030D-6E8A-4147-A177-3AD203B41FA5}">
                      <a16:colId xmlns:a16="http://schemas.microsoft.com/office/drawing/2014/main" val="3954880262"/>
                    </a:ext>
                  </a:extLst>
                </a:gridCol>
                <a:gridCol w="1150075">
                  <a:extLst>
                    <a:ext uri="{9D8B030D-6E8A-4147-A177-3AD203B41FA5}">
                      <a16:colId xmlns:a16="http://schemas.microsoft.com/office/drawing/2014/main" val="41684705"/>
                    </a:ext>
                  </a:extLst>
                </a:gridCol>
              </a:tblGrid>
              <a:tr h="370840">
                <a:tc>
                  <a:txBody>
                    <a:bodyPr/>
                    <a:lstStyle/>
                    <a:p>
                      <a:pPr algn="ctr"/>
                      <a:r>
                        <a:rPr lang="en-US" altLang="zh-CN" dirty="0"/>
                        <a:t>SC.SNO</a:t>
                      </a:r>
                      <a:endParaRPr lang="zh-CN" altLang="en-US" dirty="0"/>
                    </a:p>
                  </a:txBody>
                  <a:tcPr/>
                </a:tc>
                <a:tc>
                  <a:txBody>
                    <a:bodyPr/>
                    <a:lstStyle/>
                    <a:p>
                      <a:pPr algn="ctr"/>
                      <a:r>
                        <a:rPr lang="en-US" altLang="zh-CN" dirty="0"/>
                        <a:t>CNO</a:t>
                      </a:r>
                      <a:endParaRPr lang="zh-CN" altLang="en-US" dirty="0"/>
                    </a:p>
                  </a:txBody>
                  <a:tcPr/>
                </a:tc>
                <a:tc>
                  <a:txBody>
                    <a:bodyPr/>
                    <a:lstStyle/>
                    <a:p>
                      <a:pPr algn="ctr"/>
                      <a:r>
                        <a:rPr lang="en-US" altLang="zh-CN" dirty="0"/>
                        <a:t>GRADE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en-US" altLang="zh-CN" dirty="0">
                          <a:solidFill>
                            <a:srgbClr val="FF0000"/>
                          </a:solidFill>
                        </a:rPr>
                        <a:t>C2</a:t>
                      </a:r>
                      <a:endParaRPr lang="zh-CN" altLang="en-US" dirty="0">
                        <a:solidFill>
                          <a:srgbClr val="FF0000"/>
                        </a:solidFill>
                      </a:endParaRPr>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371393712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S1</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76</a:t>
                      </a:r>
                      <a:endParaRPr lang="zh-CN" altLang="en-US" dirty="0"/>
                    </a:p>
                  </a:txBody>
                  <a:tcPr/>
                </a:tc>
                <a:extLst>
                  <a:ext uri="{0D108BD9-81ED-4DB2-BD59-A6C34878D82A}">
                    <a16:rowId xmlns:a16="http://schemas.microsoft.com/office/drawing/2014/main" val="1150971900"/>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extLst>
                  <a:ext uri="{0D108BD9-81ED-4DB2-BD59-A6C34878D82A}">
                    <a16:rowId xmlns:a16="http://schemas.microsoft.com/office/drawing/2014/main" val="260424798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79</a:t>
                      </a:r>
                      <a:endParaRPr lang="zh-CN" altLang="en-US" dirty="0"/>
                    </a:p>
                  </a:txBody>
                  <a:tcPr/>
                </a:tc>
                <a:extLst>
                  <a:ext uri="{0D108BD9-81ED-4DB2-BD59-A6C34878D82A}">
                    <a16:rowId xmlns:a16="http://schemas.microsoft.com/office/drawing/2014/main" val="1236409575"/>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extLst>
                  <a:ext uri="{0D108BD9-81ED-4DB2-BD59-A6C34878D82A}">
                    <a16:rowId xmlns:a16="http://schemas.microsoft.com/office/drawing/2014/main" val="312913635"/>
                  </a:ext>
                </a:extLst>
              </a:tr>
              <a:tr h="370840">
                <a:tc>
                  <a:txBody>
                    <a:bodyPr/>
                    <a:lstStyle/>
                    <a:p>
                      <a:pPr algn="ctr"/>
                      <a:r>
                        <a:rPr lang="en-US" altLang="zh-CN" dirty="0"/>
                        <a:t>S6</a:t>
                      </a:r>
                      <a:endParaRPr lang="zh-CN" altLang="en-US" dirty="0"/>
                    </a:p>
                  </a:txBody>
                  <a:tcPr/>
                </a:tc>
                <a:tc>
                  <a:txBody>
                    <a:bodyPr/>
                    <a:lstStyle/>
                    <a:p>
                      <a:pPr algn="ctr"/>
                      <a:r>
                        <a:rPr lang="en-US" altLang="zh-CN" dirty="0"/>
                        <a:t>C1</a:t>
                      </a:r>
                      <a:endParaRPr lang="zh-CN" altLang="en-US" dirty="0"/>
                    </a:p>
                  </a:txBody>
                  <a:tcPr/>
                </a:tc>
                <a:tc>
                  <a:txBody>
                    <a:bodyPr/>
                    <a:lstStyle/>
                    <a:p>
                      <a:pPr algn="ctr"/>
                      <a:r>
                        <a:rPr lang="en-US" altLang="zh-CN" dirty="0"/>
                        <a:t>78</a:t>
                      </a:r>
                      <a:endParaRPr lang="zh-CN" altLang="en-US" dirty="0"/>
                    </a:p>
                  </a:txBody>
                  <a:tcPr/>
                </a:tc>
                <a:extLst>
                  <a:ext uri="{0D108BD9-81ED-4DB2-BD59-A6C34878D82A}">
                    <a16:rowId xmlns:a16="http://schemas.microsoft.com/office/drawing/2014/main" val="2410345556"/>
                  </a:ext>
                </a:extLst>
              </a:tr>
            </a:tbl>
          </a:graphicData>
        </a:graphic>
      </p:graphicFrame>
      <p:graphicFrame>
        <p:nvGraphicFramePr>
          <p:cNvPr id="12" name="表格 2">
            <a:extLst>
              <a:ext uri="{FF2B5EF4-FFF2-40B4-BE49-F238E27FC236}">
                <a16:creationId xmlns:a16="http://schemas.microsoft.com/office/drawing/2014/main" id="{02712662-A5DD-3E4A-BAA9-00686E684BC1}"/>
              </a:ext>
            </a:extLst>
          </p:cNvPr>
          <p:cNvGraphicFramePr>
            <a:graphicFrameLocks noGrp="1"/>
          </p:cNvGraphicFramePr>
          <p:nvPr>
            <p:extLst>
              <p:ext uri="{D42A27DB-BD31-4B8C-83A1-F6EECF244321}">
                <p14:modId xmlns:p14="http://schemas.microsoft.com/office/powerpoint/2010/main" val="3729437089"/>
              </p:ext>
            </p:extLst>
          </p:nvPr>
        </p:nvGraphicFramePr>
        <p:xfrm>
          <a:off x="399830" y="506287"/>
          <a:ext cx="4796250" cy="370840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1226704">
                  <a:extLst>
                    <a:ext uri="{9D8B030D-6E8A-4147-A177-3AD203B41FA5}">
                      <a16:colId xmlns:a16="http://schemas.microsoft.com/office/drawing/2014/main" val="3954880262"/>
                    </a:ext>
                  </a:extLst>
                </a:gridCol>
                <a:gridCol w="959250">
                  <a:extLst>
                    <a:ext uri="{9D8B030D-6E8A-4147-A177-3AD203B41FA5}">
                      <a16:colId xmlns:a16="http://schemas.microsoft.com/office/drawing/2014/main" val="41684705"/>
                    </a:ext>
                  </a:extLst>
                </a:gridCol>
                <a:gridCol w="959250">
                  <a:extLst>
                    <a:ext uri="{9D8B030D-6E8A-4147-A177-3AD203B41FA5}">
                      <a16:colId xmlns:a16="http://schemas.microsoft.com/office/drawing/2014/main" val="2861137485"/>
                    </a:ext>
                  </a:extLst>
                </a:gridCol>
                <a:gridCol w="959250">
                  <a:extLst>
                    <a:ext uri="{9D8B030D-6E8A-4147-A177-3AD203B41FA5}">
                      <a16:colId xmlns:a16="http://schemas.microsoft.com/office/drawing/2014/main" val="119331567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tc>
                  <a:txBody>
                    <a:bodyPr/>
                    <a:lstStyle/>
                    <a:p>
                      <a:pPr algn="ctr"/>
                      <a:r>
                        <a:rPr lang="en-US" altLang="zh-CN" dirty="0"/>
                        <a:t>AGE</a:t>
                      </a:r>
                      <a:endParaRPr lang="zh-CN" altLang="en-US" dirty="0"/>
                    </a:p>
                  </a:txBody>
                  <a:tcPr/>
                </a:tc>
                <a:tc>
                  <a:txBody>
                    <a:bodyPr/>
                    <a:lstStyle/>
                    <a:p>
                      <a:pPr algn="ctr"/>
                      <a:r>
                        <a:rPr lang="en-US" altLang="zh-CN" dirty="0"/>
                        <a:t>SEX</a:t>
                      </a:r>
                      <a:endParaRPr lang="zh-CN" altLang="en-US" dirty="0"/>
                    </a:p>
                  </a:txBody>
                  <a:tcPr/>
                </a:tc>
                <a:tc>
                  <a:txBody>
                    <a:bodyPr/>
                    <a:lstStyle/>
                    <a:p>
                      <a:pPr algn="ctr"/>
                      <a:r>
                        <a:rPr lang="en-US" altLang="zh-CN" dirty="0"/>
                        <a:t>SDEPT</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370840">
                <a:tc>
                  <a:txBody>
                    <a:bodyPr/>
                    <a:lstStyle/>
                    <a:p>
                      <a:pPr algn="ctr"/>
                      <a:r>
                        <a:rPr lang="en-US" altLang="zh-CN" dirty="0"/>
                        <a:t>S2</a:t>
                      </a:r>
                      <a:endParaRPr lang="zh-CN" altLang="en-US" dirty="0"/>
                    </a:p>
                  </a:txBody>
                  <a:tcPr/>
                </a:tc>
                <a:tc>
                  <a:txBody>
                    <a:bodyPr/>
                    <a:lstStyle/>
                    <a:p>
                      <a:pPr algn="ctr"/>
                      <a:r>
                        <a:rPr lang="zh-CN" altLang="en-US" dirty="0"/>
                        <a:t>张飞</a:t>
                      </a:r>
                    </a:p>
                  </a:txBody>
                  <a:tcPr/>
                </a:tc>
                <a:tc>
                  <a:txBody>
                    <a:bodyPr/>
                    <a:lstStyle/>
                    <a:p>
                      <a:pPr algn="ctr"/>
                      <a:r>
                        <a:rPr lang="en-US" altLang="zh-CN" dirty="0"/>
                        <a:t>20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8418211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S3</a:t>
                      </a:r>
                      <a:endParaRPr lang="zh-CN" altLang="en-US" dirty="0"/>
                    </a:p>
                  </a:txBody>
                  <a:tcPr/>
                </a:tc>
                <a:tc>
                  <a:txBody>
                    <a:bodyPr/>
                    <a:lstStyle/>
                    <a:p>
                      <a:pPr algn="ctr"/>
                      <a:r>
                        <a:rPr lang="zh-CN" altLang="en-US" dirty="0"/>
                        <a:t>刘莎莎</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zh-CN" altLang="en-US" dirty="0"/>
                        <a:t>李小刚</a:t>
                      </a:r>
                    </a:p>
                  </a:txBody>
                  <a:tcPr/>
                </a:tc>
                <a:tc>
                  <a:txBody>
                    <a:bodyPr/>
                    <a:lstStyle/>
                    <a:p>
                      <a:pPr algn="ctr"/>
                      <a:r>
                        <a:rPr lang="en-US" altLang="zh-CN" dirty="0"/>
                        <a:t>21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2604247982"/>
                  </a:ext>
                </a:extLst>
              </a:tr>
              <a:tr h="370840">
                <a:tc>
                  <a:txBody>
                    <a:bodyPr/>
                    <a:lstStyle/>
                    <a:p>
                      <a:pPr algn="ctr"/>
                      <a:r>
                        <a:rPr lang="en-US" altLang="zh-CN" dirty="0"/>
                        <a:t>S6</a:t>
                      </a:r>
                      <a:endParaRPr lang="zh-CN" altLang="en-US" dirty="0"/>
                    </a:p>
                  </a:txBody>
                  <a:tcPr/>
                </a:tc>
                <a:tc>
                  <a:txBody>
                    <a:bodyPr/>
                    <a:lstStyle/>
                    <a:p>
                      <a:pPr algn="ctr"/>
                      <a:r>
                        <a:rPr lang="zh-CN" altLang="en-US" dirty="0"/>
                        <a:t>陈爱国</a:t>
                      </a:r>
                    </a:p>
                  </a:txBody>
                  <a:tcPr/>
                </a:tc>
                <a:tc>
                  <a:txBody>
                    <a:bodyPr/>
                    <a:lstStyle/>
                    <a:p>
                      <a:pPr algn="ctr"/>
                      <a:r>
                        <a:rPr lang="en-US" altLang="zh-CN" dirty="0"/>
                        <a:t>19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extLst>
                  <a:ext uri="{0D108BD9-81ED-4DB2-BD59-A6C34878D82A}">
                    <a16:rowId xmlns:a16="http://schemas.microsoft.com/office/drawing/2014/main" val="12364095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S7</a:t>
                      </a:r>
                      <a:endParaRPr lang="zh-CN" altLang="en-US" dirty="0"/>
                    </a:p>
                  </a:txBody>
                  <a:tcPr/>
                </a:tc>
                <a:tc>
                  <a:txBody>
                    <a:bodyPr/>
                    <a:lstStyle/>
                    <a:p>
                      <a:pPr algn="ctr"/>
                      <a:r>
                        <a:rPr lang="zh-CN" altLang="en-US" dirty="0"/>
                        <a:t>柳庆国</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22310997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S8</a:t>
                      </a:r>
                      <a:endParaRPr lang="zh-CN" altLang="en-US" dirty="0"/>
                    </a:p>
                  </a:txBody>
                  <a:tcPr/>
                </a:tc>
                <a:tc>
                  <a:txBody>
                    <a:bodyPr/>
                    <a:lstStyle/>
                    <a:p>
                      <a:pPr algn="ctr"/>
                      <a:r>
                        <a:rPr lang="zh-CN" altLang="en-US" dirty="0"/>
                        <a:t>姜名</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extLst>
                  <a:ext uri="{0D108BD9-81ED-4DB2-BD59-A6C34878D82A}">
                    <a16:rowId xmlns:a16="http://schemas.microsoft.com/office/drawing/2014/main" val="11242298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S9</a:t>
                      </a:r>
                      <a:endParaRPr lang="zh-CN" altLang="en-US" dirty="0"/>
                    </a:p>
                  </a:txBody>
                  <a:tcPr/>
                </a:tc>
                <a:tc>
                  <a:txBody>
                    <a:bodyPr/>
                    <a:lstStyle/>
                    <a:p>
                      <a:pPr algn="ctr"/>
                      <a:r>
                        <a:rPr lang="zh-CN" altLang="en-US" dirty="0"/>
                        <a:t>王莉</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女</a:t>
                      </a:r>
                    </a:p>
                  </a:txBody>
                  <a:tcPr/>
                </a:tc>
                <a:tc>
                  <a:txBody>
                    <a:bodyPr/>
                    <a:lstStyle/>
                    <a:p>
                      <a:pPr algn="ctr"/>
                      <a:r>
                        <a:rPr lang="zh-CN" altLang="en-US" dirty="0"/>
                        <a:t>计算机</a:t>
                      </a:r>
                    </a:p>
                  </a:txBody>
                  <a:tcPr/>
                </a:tc>
                <a:extLst>
                  <a:ext uri="{0D108BD9-81ED-4DB2-BD59-A6C34878D82A}">
                    <a16:rowId xmlns:a16="http://schemas.microsoft.com/office/drawing/2014/main" val="1909949203"/>
                  </a:ext>
                </a:extLst>
              </a:tr>
            </a:tbl>
          </a:graphicData>
        </a:graphic>
      </p:graphicFrame>
      <p:pic>
        <p:nvPicPr>
          <p:cNvPr id="3" name="图片 2">
            <a:extLst>
              <a:ext uri="{FF2B5EF4-FFF2-40B4-BE49-F238E27FC236}">
                <a16:creationId xmlns:a16="http://schemas.microsoft.com/office/drawing/2014/main" id="{D947F866-6C40-437E-CFD9-AFE8B2E3F175}"/>
              </a:ext>
            </a:extLst>
          </p:cNvPr>
          <p:cNvPicPr>
            <a:picLocks noChangeAspect="1"/>
          </p:cNvPicPr>
          <p:nvPr/>
        </p:nvPicPr>
        <p:blipFill>
          <a:blip r:embed="rId2">
            <a:extLst>
              <a:ext uri="{BEBA8EAE-BF5A-486C-A8C5-ECC9F3942E4B}">
                <a14:imgProps xmlns:a14="http://schemas.microsoft.com/office/drawing/2010/main">
                  <a14:imgLayer r:embed="rId3">
                    <a14:imgEffect>
                      <a14:backgroundRemoval t="10000" b="90000" l="10000" r="90000"/>
                    </a14:imgEffect>
                  </a14:imgLayer>
                </a14:imgProps>
              </a:ext>
            </a:extLst>
          </a:blip>
          <a:stretch>
            <a:fillRect/>
          </a:stretch>
        </p:blipFill>
        <p:spPr>
          <a:xfrm>
            <a:off x="5485256" y="5343613"/>
            <a:ext cx="606037" cy="606037"/>
          </a:xfrm>
          <a:prstGeom prst="rect">
            <a:avLst/>
          </a:prstGeom>
        </p:spPr>
      </p:pic>
    </p:spTree>
    <p:extLst>
      <p:ext uri="{BB962C8B-B14F-4D97-AF65-F5344CB8AC3E}">
        <p14:creationId xmlns:p14="http://schemas.microsoft.com/office/powerpoint/2010/main" val="30345609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 name="表格 2">
            <a:extLst>
              <a:ext uri="{FF2B5EF4-FFF2-40B4-BE49-F238E27FC236}">
                <a16:creationId xmlns:a16="http://schemas.microsoft.com/office/drawing/2014/main" id="{B4CAFCB6-16C9-1942-980C-36D864A818AD}"/>
              </a:ext>
            </a:extLst>
          </p:cNvPr>
          <p:cNvGraphicFramePr>
            <a:graphicFrameLocks noGrp="1"/>
          </p:cNvGraphicFramePr>
          <p:nvPr>
            <p:extLst>
              <p:ext uri="{D42A27DB-BD31-4B8C-83A1-F6EECF244321}">
                <p14:modId xmlns:p14="http://schemas.microsoft.com/office/powerpoint/2010/main" val="2025127034"/>
              </p:ext>
            </p:extLst>
          </p:nvPr>
        </p:nvGraphicFramePr>
        <p:xfrm>
          <a:off x="665601" y="1844824"/>
          <a:ext cx="2456443" cy="2595880"/>
        </p:xfrm>
        <a:graphic>
          <a:graphicData uri="http://schemas.openxmlformats.org/drawingml/2006/table">
            <a:tbl>
              <a:tblPr firstRow="1" bandRow="1">
                <a:tableStyleId>{5C22544A-7EE6-4342-B048-85BDC9FD1C3A}</a:tableStyleId>
              </a:tblPr>
              <a:tblGrid>
                <a:gridCol w="691796">
                  <a:extLst>
                    <a:ext uri="{9D8B030D-6E8A-4147-A177-3AD203B41FA5}">
                      <a16:colId xmlns:a16="http://schemas.microsoft.com/office/drawing/2014/main" val="3250390251"/>
                    </a:ext>
                  </a:extLst>
                </a:gridCol>
                <a:gridCol w="748364">
                  <a:extLst>
                    <a:ext uri="{9D8B030D-6E8A-4147-A177-3AD203B41FA5}">
                      <a16:colId xmlns:a16="http://schemas.microsoft.com/office/drawing/2014/main" val="3954880262"/>
                    </a:ext>
                  </a:extLst>
                </a:gridCol>
                <a:gridCol w="1016283">
                  <a:extLst>
                    <a:ext uri="{9D8B030D-6E8A-4147-A177-3AD203B41FA5}">
                      <a16:colId xmlns:a16="http://schemas.microsoft.com/office/drawing/2014/main" val="4168470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CNO</a:t>
                      </a:r>
                      <a:endParaRPr lang="zh-CN" altLang="en-US" dirty="0"/>
                    </a:p>
                  </a:txBody>
                  <a:tcPr/>
                </a:tc>
                <a:tc>
                  <a:txBody>
                    <a:bodyPr/>
                    <a:lstStyle/>
                    <a:p>
                      <a:pPr algn="ctr"/>
                      <a:r>
                        <a:rPr lang="en-US" altLang="zh-CN" dirty="0"/>
                        <a:t>GRADE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S3</a:t>
                      </a:r>
                      <a:endParaRPr lang="zh-CN" altLang="en-US" dirty="0"/>
                    </a:p>
                  </a:txBody>
                  <a:tcPr/>
                </a:tc>
                <a:tc>
                  <a:txBody>
                    <a:bodyPr/>
                    <a:lstStyle/>
                    <a:p>
                      <a:pPr algn="ctr"/>
                      <a:r>
                        <a:rPr lang="en-US" altLang="zh-CN" dirty="0"/>
                        <a:t>C3</a:t>
                      </a:r>
                      <a:endParaRPr lang="zh-CN" altLang="en-US" dirty="0"/>
                    </a:p>
                  </a:txBody>
                  <a:tcPr/>
                </a:tc>
                <a:tc>
                  <a:txBody>
                    <a:bodyPr/>
                    <a:lstStyle/>
                    <a:p>
                      <a:pPr algn="ctr"/>
                      <a:r>
                        <a:rPr lang="en-US" altLang="zh-CN" dirty="0"/>
                        <a:t>87</a:t>
                      </a:r>
                      <a:endParaRPr lang="zh-CN" altLang="en-US" dirty="0"/>
                    </a:p>
                  </a:txBody>
                  <a:tcPr/>
                </a:tc>
                <a:extLst>
                  <a:ext uri="{0D108BD9-81ED-4DB2-BD59-A6C34878D82A}">
                    <a16:rowId xmlns:a16="http://schemas.microsoft.com/office/drawing/2014/main" val="3713937122"/>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8418211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79</a:t>
                      </a:r>
                      <a:endParaRPr lang="zh-CN" altLang="en-US" dirty="0"/>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S1</a:t>
                      </a:r>
                      <a:endParaRPr lang="zh-CN" altLang="en-US" dirty="0"/>
                    </a:p>
                  </a:txBody>
                  <a:tcPr/>
                </a:tc>
                <a:tc>
                  <a:txBody>
                    <a:bodyPr/>
                    <a:lstStyle/>
                    <a:p>
                      <a:pPr algn="ctr"/>
                      <a:r>
                        <a:rPr lang="en-US" altLang="zh-CN" dirty="0"/>
                        <a:t>C3</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76</a:t>
                      </a:r>
                      <a:endParaRPr lang="zh-CN" altLang="en-US" dirty="0"/>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extLst>
                  <a:ext uri="{0D108BD9-81ED-4DB2-BD59-A6C34878D82A}">
                    <a16:rowId xmlns:a16="http://schemas.microsoft.com/office/drawing/2014/main" val="2604247982"/>
                  </a:ext>
                </a:extLst>
              </a:tr>
              <a:tr h="370840">
                <a:tc>
                  <a:txBody>
                    <a:bodyPr/>
                    <a:lstStyle/>
                    <a:p>
                      <a:pPr algn="ctr"/>
                      <a:r>
                        <a:rPr lang="en-US" altLang="zh-CN" dirty="0"/>
                        <a:t>S6</a:t>
                      </a:r>
                      <a:endParaRPr lang="zh-CN" altLang="en-US" dirty="0"/>
                    </a:p>
                  </a:txBody>
                  <a:tcPr/>
                </a:tc>
                <a:tc>
                  <a:txBody>
                    <a:bodyPr/>
                    <a:lstStyle/>
                    <a:p>
                      <a:pPr algn="ctr"/>
                      <a:r>
                        <a:rPr lang="en-US" altLang="zh-CN" dirty="0"/>
                        <a:t>C1</a:t>
                      </a:r>
                      <a:endParaRPr lang="zh-CN" altLang="en-US" dirty="0"/>
                    </a:p>
                  </a:txBody>
                  <a:tcPr/>
                </a:tc>
                <a:tc>
                  <a:txBody>
                    <a:bodyPr/>
                    <a:lstStyle/>
                    <a:p>
                      <a:pPr algn="ctr"/>
                      <a:r>
                        <a:rPr lang="en-US" altLang="zh-CN" dirty="0"/>
                        <a:t>78</a:t>
                      </a:r>
                      <a:endParaRPr lang="zh-CN" altLang="en-US" dirty="0"/>
                    </a:p>
                  </a:txBody>
                  <a:tcPr/>
                </a:tc>
                <a:extLst>
                  <a:ext uri="{0D108BD9-81ED-4DB2-BD59-A6C34878D82A}">
                    <a16:rowId xmlns:a16="http://schemas.microsoft.com/office/drawing/2014/main" val="1236409575"/>
                  </a:ext>
                </a:extLst>
              </a:tr>
            </a:tbl>
          </a:graphicData>
        </a:graphic>
      </p:graphicFrame>
      <p:sp>
        <p:nvSpPr>
          <p:cNvPr id="14" name="文本框 13">
            <a:extLst>
              <a:ext uri="{FF2B5EF4-FFF2-40B4-BE49-F238E27FC236}">
                <a16:creationId xmlns:a16="http://schemas.microsoft.com/office/drawing/2014/main" id="{F37889B6-06E0-334B-85BA-96157E44D7A3}"/>
              </a:ext>
            </a:extLst>
          </p:cNvPr>
          <p:cNvSpPr txBox="1"/>
          <p:nvPr/>
        </p:nvSpPr>
        <p:spPr>
          <a:xfrm>
            <a:off x="1155479" y="1340768"/>
            <a:ext cx="1476686" cy="338554"/>
          </a:xfrm>
          <a:prstGeom prst="rect">
            <a:avLst/>
          </a:prstGeom>
          <a:noFill/>
        </p:spPr>
        <p:txBody>
          <a:bodyPr wrap="none" rtlCol="0">
            <a:spAutoFit/>
          </a:bodyPr>
          <a:lstStyle/>
          <a:p>
            <a:r>
              <a:rPr kumimoji="1" lang="zh-CN" altLang="en-US" sz="2000" b="1" u="sng" dirty="0">
                <a:solidFill>
                  <a:schemeClr val="bg1"/>
                </a:solidFill>
              </a:rPr>
              <a:t>学习关系</a:t>
            </a:r>
            <a:r>
              <a:rPr kumimoji="1" lang="en-US" altLang="zh-CN" sz="2000" b="1" u="sng" dirty="0">
                <a:solidFill>
                  <a:schemeClr val="bg1"/>
                </a:solidFill>
              </a:rPr>
              <a:t>SC</a:t>
            </a:r>
            <a:endParaRPr kumimoji="1" lang="zh-CN" altLang="en-US" sz="2000" b="1" u="sng" dirty="0">
              <a:solidFill>
                <a:schemeClr val="bg1"/>
              </a:solidFill>
            </a:endParaRPr>
          </a:p>
        </p:txBody>
      </p:sp>
      <p:sp>
        <p:nvSpPr>
          <p:cNvPr id="12" name="文本框 11">
            <a:extLst>
              <a:ext uri="{FF2B5EF4-FFF2-40B4-BE49-F238E27FC236}">
                <a16:creationId xmlns:a16="http://schemas.microsoft.com/office/drawing/2014/main" id="{0313939F-2B7E-F441-ABC9-44662D39D7A5}"/>
              </a:ext>
            </a:extLst>
          </p:cNvPr>
          <p:cNvSpPr txBox="1"/>
          <p:nvPr/>
        </p:nvSpPr>
        <p:spPr>
          <a:xfrm>
            <a:off x="3135233" y="2852936"/>
            <a:ext cx="4572000" cy="313932"/>
          </a:xfrm>
          <a:prstGeom prst="rect">
            <a:avLst/>
          </a:prstGeom>
          <a:noFill/>
        </p:spPr>
        <p:txBody>
          <a:bodyPr wrap="square">
            <a:spAutoFit/>
          </a:bodyPr>
          <a:lstStyle/>
          <a:p>
            <a:r>
              <a:rPr lang="en-US" altLang="zh-CN" sz="1800" b="1" dirty="0" err="1">
                <a:solidFill>
                  <a:srgbClr val="FF0000"/>
                </a:solidFill>
              </a:rPr>
              <a:t>σ</a:t>
            </a:r>
            <a:r>
              <a:rPr lang="en-US" altLang="zh-CN" sz="1800" b="1" baseline="-25000" dirty="0" err="1">
                <a:solidFill>
                  <a:srgbClr val="FF0000"/>
                </a:solidFill>
              </a:rPr>
              <a:t>SC.CNO</a:t>
            </a:r>
            <a:r>
              <a:rPr lang="en-US" altLang="zh-CN" sz="1800" b="1" baseline="-25000" dirty="0">
                <a:solidFill>
                  <a:srgbClr val="FF0000"/>
                </a:solidFill>
              </a:rPr>
              <a:t>=‘C2’</a:t>
            </a:r>
            <a:r>
              <a:rPr lang="zh-CN" altLang="en-US" sz="1800" b="1" dirty="0">
                <a:solidFill>
                  <a:srgbClr val="FF0000"/>
                </a:solidFill>
              </a:rPr>
              <a:t>（</a:t>
            </a:r>
            <a:r>
              <a:rPr lang="en-US" altLang="zh-CN" sz="1800" b="1" dirty="0">
                <a:solidFill>
                  <a:srgbClr val="FF0000"/>
                </a:solidFill>
                <a:latin typeface="Times New Roman" pitchFamily="18" charset="0"/>
                <a:cs typeface="Times New Roman" pitchFamily="18" charset="0"/>
              </a:rPr>
              <a:t>SC</a:t>
            </a:r>
            <a:r>
              <a:rPr lang="zh-CN" altLang="en-US" sz="1800" b="1" dirty="0">
                <a:solidFill>
                  <a:srgbClr val="FF0000"/>
                </a:solidFill>
              </a:rPr>
              <a:t>）</a:t>
            </a:r>
            <a:endParaRPr lang="zh-CN" altLang="en-US" dirty="0">
              <a:solidFill>
                <a:srgbClr val="FF0000"/>
              </a:solidFill>
            </a:endParaRPr>
          </a:p>
        </p:txBody>
      </p:sp>
      <p:sp>
        <p:nvSpPr>
          <p:cNvPr id="17" name="文本框 16">
            <a:extLst>
              <a:ext uri="{FF2B5EF4-FFF2-40B4-BE49-F238E27FC236}">
                <a16:creationId xmlns:a16="http://schemas.microsoft.com/office/drawing/2014/main" id="{3F81FB4D-B6F6-3D42-9E7E-5C06E24169F9}"/>
              </a:ext>
            </a:extLst>
          </p:cNvPr>
          <p:cNvSpPr txBox="1"/>
          <p:nvPr/>
        </p:nvSpPr>
        <p:spPr>
          <a:xfrm>
            <a:off x="6179114" y="-749522"/>
            <a:ext cx="4572000" cy="446597"/>
          </a:xfrm>
          <a:prstGeom prst="rect">
            <a:avLst/>
          </a:prstGeom>
          <a:noFill/>
        </p:spPr>
        <p:txBody>
          <a:bodyPr wrap="square">
            <a:spAutoFit/>
          </a:bodyPr>
          <a:lstStyle/>
          <a:p>
            <a:r>
              <a:rPr lang="en-US" altLang="zh-CN" sz="1800" b="1" dirty="0">
                <a:solidFill>
                  <a:srgbClr val="FF0000"/>
                </a:solidFill>
              </a:rPr>
              <a:t>S </a:t>
            </a:r>
            <a:r>
              <a:rPr lang="en-US" altLang="zh-CN" sz="2800" b="1" dirty="0">
                <a:solidFill>
                  <a:srgbClr val="FF0000"/>
                </a:solidFill>
                <a:latin typeface="Times New Roman" pitchFamily="18" charset="0"/>
              </a:rPr>
              <a:t>⋈</a:t>
            </a:r>
            <a:r>
              <a:rPr lang="en-US" altLang="zh-CN" sz="1800" b="1" dirty="0">
                <a:solidFill>
                  <a:srgbClr val="FF0000"/>
                </a:solidFill>
              </a:rPr>
              <a:t> </a:t>
            </a:r>
            <a:r>
              <a:rPr lang="en-US" altLang="zh-CN" sz="1800" b="1" dirty="0" err="1">
                <a:solidFill>
                  <a:srgbClr val="FF0000"/>
                </a:solidFill>
              </a:rPr>
              <a:t>σ</a:t>
            </a:r>
            <a:r>
              <a:rPr lang="en-US" altLang="zh-CN" sz="1800" b="1" baseline="-25000" dirty="0" err="1">
                <a:solidFill>
                  <a:srgbClr val="FF0000"/>
                </a:solidFill>
              </a:rPr>
              <a:t>SC.CNO</a:t>
            </a:r>
            <a:r>
              <a:rPr lang="en-US" altLang="zh-CN" sz="1800" b="1" baseline="-25000" dirty="0">
                <a:solidFill>
                  <a:srgbClr val="FF0000"/>
                </a:solidFill>
              </a:rPr>
              <a:t>=‘C2’</a:t>
            </a:r>
            <a:r>
              <a:rPr lang="zh-CN" altLang="en-US" sz="1800" b="1" dirty="0">
                <a:solidFill>
                  <a:srgbClr val="FF0000"/>
                </a:solidFill>
              </a:rPr>
              <a:t>（</a:t>
            </a:r>
            <a:r>
              <a:rPr lang="en-US" altLang="zh-CN" sz="1800" b="1" dirty="0">
                <a:solidFill>
                  <a:srgbClr val="FF0000"/>
                </a:solidFill>
                <a:latin typeface="Times New Roman" pitchFamily="18" charset="0"/>
                <a:cs typeface="Times New Roman" pitchFamily="18" charset="0"/>
              </a:rPr>
              <a:t>SC</a:t>
            </a:r>
            <a:r>
              <a:rPr lang="zh-CN" altLang="en-US" sz="1800" b="1" dirty="0">
                <a:solidFill>
                  <a:srgbClr val="FF0000"/>
                </a:solidFill>
              </a:rPr>
              <a:t>）</a:t>
            </a:r>
            <a:endParaRPr lang="zh-CN" altLang="en-US" dirty="0">
              <a:solidFill>
                <a:srgbClr val="FF0000"/>
              </a:solidFill>
            </a:endParaRPr>
          </a:p>
        </p:txBody>
      </p:sp>
      <p:graphicFrame>
        <p:nvGraphicFramePr>
          <p:cNvPr id="21" name="表格 2">
            <a:extLst>
              <a:ext uri="{FF2B5EF4-FFF2-40B4-BE49-F238E27FC236}">
                <a16:creationId xmlns:a16="http://schemas.microsoft.com/office/drawing/2014/main" id="{77C8AA5E-90BC-4242-B3D8-0A442824172A}"/>
              </a:ext>
            </a:extLst>
          </p:cNvPr>
          <p:cNvGraphicFramePr>
            <a:graphicFrameLocks noGrp="1"/>
          </p:cNvGraphicFramePr>
          <p:nvPr>
            <p:extLst>
              <p:ext uri="{D42A27DB-BD31-4B8C-83A1-F6EECF244321}">
                <p14:modId xmlns:p14="http://schemas.microsoft.com/office/powerpoint/2010/main" val="2093067664"/>
              </p:ext>
            </p:extLst>
          </p:nvPr>
        </p:nvGraphicFramePr>
        <p:xfrm>
          <a:off x="5421233" y="2419463"/>
          <a:ext cx="3071478" cy="1112520"/>
        </p:xfrm>
        <a:graphic>
          <a:graphicData uri="http://schemas.openxmlformats.org/drawingml/2006/table">
            <a:tbl>
              <a:tblPr firstRow="1" bandRow="1">
                <a:tableStyleId>{5C22544A-7EE6-4342-B048-85BDC9FD1C3A}</a:tableStyleId>
              </a:tblPr>
              <a:tblGrid>
                <a:gridCol w="1127262">
                  <a:extLst>
                    <a:ext uri="{9D8B030D-6E8A-4147-A177-3AD203B41FA5}">
                      <a16:colId xmlns:a16="http://schemas.microsoft.com/office/drawing/2014/main" val="3250390251"/>
                    </a:ext>
                  </a:extLst>
                </a:gridCol>
                <a:gridCol w="720080">
                  <a:extLst>
                    <a:ext uri="{9D8B030D-6E8A-4147-A177-3AD203B41FA5}">
                      <a16:colId xmlns:a16="http://schemas.microsoft.com/office/drawing/2014/main" val="3954880262"/>
                    </a:ext>
                  </a:extLst>
                </a:gridCol>
                <a:gridCol w="1224136">
                  <a:extLst>
                    <a:ext uri="{9D8B030D-6E8A-4147-A177-3AD203B41FA5}">
                      <a16:colId xmlns:a16="http://schemas.microsoft.com/office/drawing/2014/main" val="41684705"/>
                    </a:ext>
                  </a:extLst>
                </a:gridCol>
              </a:tblGrid>
              <a:tr h="370840">
                <a:tc>
                  <a:txBody>
                    <a:bodyPr/>
                    <a:lstStyle/>
                    <a:p>
                      <a:pPr algn="ctr"/>
                      <a:r>
                        <a:rPr lang="en-US" altLang="zh-CN" dirty="0"/>
                        <a:t>SC.SNO</a:t>
                      </a:r>
                      <a:endParaRPr lang="zh-CN" altLang="en-US" dirty="0"/>
                    </a:p>
                  </a:txBody>
                  <a:tcPr/>
                </a:tc>
                <a:tc>
                  <a:txBody>
                    <a:bodyPr/>
                    <a:lstStyle/>
                    <a:p>
                      <a:pPr algn="ctr"/>
                      <a:r>
                        <a:rPr lang="en-US" altLang="zh-CN" dirty="0"/>
                        <a:t>CNO</a:t>
                      </a:r>
                      <a:endParaRPr lang="zh-CN" altLang="en-US" dirty="0"/>
                    </a:p>
                  </a:txBody>
                  <a:tcPr/>
                </a:tc>
                <a:tc>
                  <a:txBody>
                    <a:bodyPr/>
                    <a:lstStyle/>
                    <a:p>
                      <a:pPr algn="ctr"/>
                      <a:r>
                        <a:rPr lang="en-US" altLang="zh-CN" dirty="0"/>
                        <a:t>GRADE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841821175"/>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extLst>
                  <a:ext uri="{0D108BD9-81ED-4DB2-BD59-A6C34878D82A}">
                    <a16:rowId xmlns:a16="http://schemas.microsoft.com/office/drawing/2014/main" val="2604247982"/>
                  </a:ext>
                </a:extLst>
              </a:tr>
            </a:tbl>
          </a:graphicData>
        </a:graphic>
      </p:graphicFrame>
    </p:spTree>
    <p:extLst>
      <p:ext uri="{BB962C8B-B14F-4D97-AF65-F5344CB8AC3E}">
        <p14:creationId xmlns:p14="http://schemas.microsoft.com/office/powerpoint/2010/main" val="3795194067"/>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文本框 9">
            <a:extLst>
              <a:ext uri="{FF2B5EF4-FFF2-40B4-BE49-F238E27FC236}">
                <a16:creationId xmlns:a16="http://schemas.microsoft.com/office/drawing/2014/main" id="{D7CC617A-C47D-1D4F-BA8B-3E52230974C2}"/>
              </a:ext>
            </a:extLst>
          </p:cNvPr>
          <p:cNvSpPr txBox="1"/>
          <p:nvPr/>
        </p:nvSpPr>
        <p:spPr>
          <a:xfrm>
            <a:off x="1985914" y="26167"/>
            <a:ext cx="1346844" cy="338554"/>
          </a:xfrm>
          <a:prstGeom prst="rect">
            <a:avLst/>
          </a:prstGeom>
          <a:noFill/>
        </p:spPr>
        <p:txBody>
          <a:bodyPr wrap="none" rtlCol="0">
            <a:spAutoFit/>
          </a:bodyPr>
          <a:lstStyle/>
          <a:p>
            <a:r>
              <a:rPr kumimoji="1" lang="zh-CN" altLang="en-US" sz="2000" b="1" u="sng" dirty="0">
                <a:solidFill>
                  <a:schemeClr val="bg1"/>
                </a:solidFill>
              </a:rPr>
              <a:t>学生关系</a:t>
            </a:r>
            <a:r>
              <a:rPr kumimoji="1" lang="en-US" altLang="zh-CN" sz="2000" b="1" u="sng" dirty="0">
                <a:solidFill>
                  <a:schemeClr val="bg1"/>
                </a:solidFill>
              </a:rPr>
              <a:t>S</a:t>
            </a:r>
            <a:endParaRPr kumimoji="1" lang="zh-CN" altLang="en-US" sz="2000" b="1" u="sng" dirty="0">
              <a:solidFill>
                <a:schemeClr val="bg1"/>
              </a:solidFill>
            </a:endParaRPr>
          </a:p>
        </p:txBody>
      </p:sp>
      <p:sp>
        <p:nvSpPr>
          <p:cNvPr id="12" name="文本框 11">
            <a:extLst>
              <a:ext uri="{FF2B5EF4-FFF2-40B4-BE49-F238E27FC236}">
                <a16:creationId xmlns:a16="http://schemas.microsoft.com/office/drawing/2014/main" id="{0313939F-2B7E-F441-ABC9-44662D39D7A5}"/>
              </a:ext>
            </a:extLst>
          </p:cNvPr>
          <p:cNvSpPr txBox="1"/>
          <p:nvPr/>
        </p:nvSpPr>
        <p:spPr>
          <a:xfrm>
            <a:off x="5820917" y="12995"/>
            <a:ext cx="4572000" cy="313932"/>
          </a:xfrm>
          <a:prstGeom prst="rect">
            <a:avLst/>
          </a:prstGeom>
          <a:noFill/>
        </p:spPr>
        <p:txBody>
          <a:bodyPr wrap="square">
            <a:spAutoFit/>
          </a:bodyPr>
          <a:lstStyle/>
          <a:p>
            <a:r>
              <a:rPr lang="en-US" altLang="zh-CN" sz="1800" b="1" dirty="0" err="1">
                <a:solidFill>
                  <a:srgbClr val="FF0000"/>
                </a:solidFill>
              </a:rPr>
              <a:t>σ</a:t>
            </a:r>
            <a:r>
              <a:rPr lang="en-US" altLang="zh-CN" sz="1800" b="1" baseline="-25000" dirty="0" err="1">
                <a:solidFill>
                  <a:srgbClr val="FF0000"/>
                </a:solidFill>
              </a:rPr>
              <a:t>SC.CNO</a:t>
            </a:r>
            <a:r>
              <a:rPr lang="en-US" altLang="zh-CN" sz="1800" b="1" baseline="-25000" dirty="0">
                <a:solidFill>
                  <a:srgbClr val="FF0000"/>
                </a:solidFill>
              </a:rPr>
              <a:t>=‘C2’</a:t>
            </a:r>
            <a:r>
              <a:rPr lang="zh-CN" altLang="en-US" sz="1800" b="1" dirty="0">
                <a:solidFill>
                  <a:srgbClr val="FF0000"/>
                </a:solidFill>
              </a:rPr>
              <a:t>（</a:t>
            </a:r>
            <a:r>
              <a:rPr lang="en-US" altLang="zh-CN" sz="1800" b="1" dirty="0">
                <a:solidFill>
                  <a:srgbClr val="FF0000"/>
                </a:solidFill>
                <a:latin typeface="Times New Roman" pitchFamily="18" charset="0"/>
                <a:cs typeface="Times New Roman" pitchFamily="18" charset="0"/>
              </a:rPr>
              <a:t>SC</a:t>
            </a:r>
            <a:r>
              <a:rPr lang="zh-CN" altLang="en-US" sz="1800" b="1" dirty="0">
                <a:solidFill>
                  <a:srgbClr val="FF0000"/>
                </a:solidFill>
              </a:rPr>
              <a:t>）</a:t>
            </a:r>
            <a:endParaRPr lang="zh-CN" altLang="en-US" dirty="0">
              <a:solidFill>
                <a:srgbClr val="FF0000"/>
              </a:solidFill>
            </a:endParaRPr>
          </a:p>
        </p:txBody>
      </p:sp>
      <p:sp>
        <p:nvSpPr>
          <p:cNvPr id="17" name="文本框 16">
            <a:extLst>
              <a:ext uri="{FF2B5EF4-FFF2-40B4-BE49-F238E27FC236}">
                <a16:creationId xmlns:a16="http://schemas.microsoft.com/office/drawing/2014/main" id="{3F81FB4D-B6F6-3D42-9E7E-5C06E24169F9}"/>
              </a:ext>
            </a:extLst>
          </p:cNvPr>
          <p:cNvSpPr txBox="1"/>
          <p:nvPr/>
        </p:nvSpPr>
        <p:spPr>
          <a:xfrm>
            <a:off x="5330444" y="4008150"/>
            <a:ext cx="4572000" cy="446597"/>
          </a:xfrm>
          <a:prstGeom prst="rect">
            <a:avLst/>
          </a:prstGeom>
          <a:noFill/>
        </p:spPr>
        <p:txBody>
          <a:bodyPr wrap="square">
            <a:spAutoFit/>
          </a:bodyPr>
          <a:lstStyle/>
          <a:p>
            <a:r>
              <a:rPr lang="en-US" altLang="zh-CN" sz="1800" b="1" dirty="0">
                <a:solidFill>
                  <a:srgbClr val="FF0000"/>
                </a:solidFill>
              </a:rPr>
              <a:t>S </a:t>
            </a:r>
            <a:r>
              <a:rPr lang="en-US" altLang="zh-CN" sz="2800" b="1" dirty="0">
                <a:solidFill>
                  <a:srgbClr val="FF0000"/>
                </a:solidFill>
                <a:latin typeface="Times New Roman" pitchFamily="18" charset="0"/>
              </a:rPr>
              <a:t>⋈</a:t>
            </a:r>
            <a:r>
              <a:rPr lang="en-US" altLang="zh-CN" sz="1800" b="1" dirty="0">
                <a:solidFill>
                  <a:srgbClr val="FF0000"/>
                </a:solidFill>
              </a:rPr>
              <a:t> </a:t>
            </a:r>
            <a:r>
              <a:rPr lang="en-US" altLang="zh-CN" sz="1800" b="1" dirty="0" err="1">
                <a:solidFill>
                  <a:srgbClr val="FF0000"/>
                </a:solidFill>
              </a:rPr>
              <a:t>σ</a:t>
            </a:r>
            <a:r>
              <a:rPr lang="en-US" altLang="zh-CN" sz="1800" b="1" baseline="-25000" dirty="0" err="1">
                <a:solidFill>
                  <a:srgbClr val="FF0000"/>
                </a:solidFill>
              </a:rPr>
              <a:t>SC.CNO</a:t>
            </a:r>
            <a:r>
              <a:rPr lang="en-US" altLang="zh-CN" sz="1800" b="1" baseline="-25000" dirty="0">
                <a:solidFill>
                  <a:srgbClr val="FF0000"/>
                </a:solidFill>
              </a:rPr>
              <a:t>=‘C2’</a:t>
            </a:r>
            <a:r>
              <a:rPr lang="zh-CN" altLang="en-US" sz="1800" b="1" dirty="0">
                <a:solidFill>
                  <a:srgbClr val="FF0000"/>
                </a:solidFill>
              </a:rPr>
              <a:t>（</a:t>
            </a:r>
            <a:r>
              <a:rPr lang="en-US" altLang="zh-CN" sz="1800" b="1" dirty="0">
                <a:solidFill>
                  <a:srgbClr val="FF0000"/>
                </a:solidFill>
                <a:latin typeface="Times New Roman" pitchFamily="18" charset="0"/>
                <a:cs typeface="Times New Roman" pitchFamily="18" charset="0"/>
              </a:rPr>
              <a:t>SC</a:t>
            </a:r>
            <a:r>
              <a:rPr lang="zh-CN" altLang="en-US" sz="1800" b="1" dirty="0">
                <a:solidFill>
                  <a:srgbClr val="FF0000"/>
                </a:solidFill>
              </a:rPr>
              <a:t>）</a:t>
            </a:r>
            <a:endParaRPr lang="zh-CN" altLang="en-US" dirty="0">
              <a:solidFill>
                <a:srgbClr val="FF0000"/>
              </a:solidFill>
            </a:endParaRPr>
          </a:p>
        </p:txBody>
      </p:sp>
      <p:graphicFrame>
        <p:nvGraphicFramePr>
          <p:cNvPr id="19" name="表格 2">
            <a:extLst>
              <a:ext uri="{FF2B5EF4-FFF2-40B4-BE49-F238E27FC236}">
                <a16:creationId xmlns:a16="http://schemas.microsoft.com/office/drawing/2014/main" id="{70B83C74-DA8D-2F4C-BBAD-3B756F16541E}"/>
              </a:ext>
            </a:extLst>
          </p:cNvPr>
          <p:cNvGraphicFramePr>
            <a:graphicFrameLocks noGrp="1"/>
          </p:cNvGraphicFramePr>
          <p:nvPr>
            <p:extLst>
              <p:ext uri="{D42A27DB-BD31-4B8C-83A1-F6EECF244321}">
                <p14:modId xmlns:p14="http://schemas.microsoft.com/office/powerpoint/2010/main" val="3440882537"/>
              </p:ext>
            </p:extLst>
          </p:nvPr>
        </p:nvGraphicFramePr>
        <p:xfrm>
          <a:off x="261211" y="4463881"/>
          <a:ext cx="4796250" cy="111252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1226704">
                  <a:extLst>
                    <a:ext uri="{9D8B030D-6E8A-4147-A177-3AD203B41FA5}">
                      <a16:colId xmlns:a16="http://schemas.microsoft.com/office/drawing/2014/main" val="3954880262"/>
                    </a:ext>
                  </a:extLst>
                </a:gridCol>
                <a:gridCol w="959250">
                  <a:extLst>
                    <a:ext uri="{9D8B030D-6E8A-4147-A177-3AD203B41FA5}">
                      <a16:colId xmlns:a16="http://schemas.microsoft.com/office/drawing/2014/main" val="41684705"/>
                    </a:ext>
                  </a:extLst>
                </a:gridCol>
                <a:gridCol w="959250">
                  <a:extLst>
                    <a:ext uri="{9D8B030D-6E8A-4147-A177-3AD203B41FA5}">
                      <a16:colId xmlns:a16="http://schemas.microsoft.com/office/drawing/2014/main" val="2861137485"/>
                    </a:ext>
                  </a:extLst>
                </a:gridCol>
                <a:gridCol w="959250">
                  <a:extLst>
                    <a:ext uri="{9D8B030D-6E8A-4147-A177-3AD203B41FA5}">
                      <a16:colId xmlns:a16="http://schemas.microsoft.com/office/drawing/2014/main" val="119331567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tc>
                  <a:txBody>
                    <a:bodyPr/>
                    <a:lstStyle/>
                    <a:p>
                      <a:pPr algn="ctr"/>
                      <a:r>
                        <a:rPr lang="en-US" altLang="zh-CN" dirty="0"/>
                        <a:t>AGE</a:t>
                      </a:r>
                      <a:endParaRPr lang="zh-CN" altLang="en-US" dirty="0"/>
                    </a:p>
                  </a:txBody>
                  <a:tcPr/>
                </a:tc>
                <a:tc>
                  <a:txBody>
                    <a:bodyPr/>
                    <a:lstStyle/>
                    <a:p>
                      <a:pPr algn="ctr"/>
                      <a:r>
                        <a:rPr lang="en-US" altLang="zh-CN" dirty="0"/>
                        <a:t>SEX</a:t>
                      </a:r>
                      <a:endParaRPr lang="zh-CN" altLang="en-US" dirty="0"/>
                    </a:p>
                  </a:txBody>
                  <a:tcPr/>
                </a:tc>
                <a:tc>
                  <a:txBody>
                    <a:bodyPr/>
                    <a:lstStyle/>
                    <a:p>
                      <a:pPr algn="ctr"/>
                      <a:r>
                        <a:rPr lang="en-US" altLang="zh-CN" dirty="0"/>
                        <a:t>SDEPT</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370840">
                <a:tc>
                  <a:txBody>
                    <a:bodyPr/>
                    <a:lstStyle/>
                    <a:p>
                      <a:pPr algn="ctr"/>
                      <a:r>
                        <a:rPr lang="en-US" altLang="zh-CN" dirty="0"/>
                        <a:t>S5</a:t>
                      </a:r>
                      <a:endParaRPr lang="zh-CN" altLang="en-US" dirty="0"/>
                    </a:p>
                  </a:txBody>
                  <a:tcPr/>
                </a:tc>
                <a:tc>
                  <a:txBody>
                    <a:bodyPr/>
                    <a:lstStyle/>
                    <a:p>
                      <a:pPr algn="ctr"/>
                      <a:r>
                        <a:rPr lang="zh-CN" altLang="en-US" dirty="0"/>
                        <a:t>李小刚</a:t>
                      </a:r>
                    </a:p>
                  </a:txBody>
                  <a:tcPr/>
                </a:tc>
                <a:tc>
                  <a:txBody>
                    <a:bodyPr/>
                    <a:lstStyle/>
                    <a:p>
                      <a:pPr algn="ctr"/>
                      <a:r>
                        <a:rPr lang="en-US" altLang="zh-CN" dirty="0"/>
                        <a:t>21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bl>
          </a:graphicData>
        </a:graphic>
      </p:graphicFrame>
      <p:graphicFrame>
        <p:nvGraphicFramePr>
          <p:cNvPr id="21" name="表格 2">
            <a:extLst>
              <a:ext uri="{FF2B5EF4-FFF2-40B4-BE49-F238E27FC236}">
                <a16:creationId xmlns:a16="http://schemas.microsoft.com/office/drawing/2014/main" id="{77C8AA5E-90BC-4242-B3D8-0A442824172A}"/>
              </a:ext>
            </a:extLst>
          </p:cNvPr>
          <p:cNvGraphicFramePr>
            <a:graphicFrameLocks noGrp="1"/>
          </p:cNvGraphicFramePr>
          <p:nvPr>
            <p:extLst>
              <p:ext uri="{D42A27DB-BD31-4B8C-83A1-F6EECF244321}">
                <p14:modId xmlns:p14="http://schemas.microsoft.com/office/powerpoint/2010/main" val="4107013227"/>
              </p:ext>
            </p:extLst>
          </p:nvPr>
        </p:nvGraphicFramePr>
        <p:xfrm>
          <a:off x="5352769" y="391373"/>
          <a:ext cx="3071478" cy="1112520"/>
        </p:xfrm>
        <a:graphic>
          <a:graphicData uri="http://schemas.openxmlformats.org/drawingml/2006/table">
            <a:tbl>
              <a:tblPr firstRow="1" bandRow="1">
                <a:tableStyleId>{5C22544A-7EE6-4342-B048-85BDC9FD1C3A}</a:tableStyleId>
              </a:tblPr>
              <a:tblGrid>
                <a:gridCol w="1127262">
                  <a:extLst>
                    <a:ext uri="{9D8B030D-6E8A-4147-A177-3AD203B41FA5}">
                      <a16:colId xmlns:a16="http://schemas.microsoft.com/office/drawing/2014/main" val="3250390251"/>
                    </a:ext>
                  </a:extLst>
                </a:gridCol>
                <a:gridCol w="720080">
                  <a:extLst>
                    <a:ext uri="{9D8B030D-6E8A-4147-A177-3AD203B41FA5}">
                      <a16:colId xmlns:a16="http://schemas.microsoft.com/office/drawing/2014/main" val="3954880262"/>
                    </a:ext>
                  </a:extLst>
                </a:gridCol>
                <a:gridCol w="1224136">
                  <a:extLst>
                    <a:ext uri="{9D8B030D-6E8A-4147-A177-3AD203B41FA5}">
                      <a16:colId xmlns:a16="http://schemas.microsoft.com/office/drawing/2014/main" val="41684705"/>
                    </a:ext>
                  </a:extLst>
                </a:gridCol>
              </a:tblGrid>
              <a:tr h="370840">
                <a:tc>
                  <a:txBody>
                    <a:bodyPr/>
                    <a:lstStyle/>
                    <a:p>
                      <a:pPr algn="ctr"/>
                      <a:r>
                        <a:rPr lang="en-US" altLang="zh-CN" dirty="0"/>
                        <a:t>SC.SNO</a:t>
                      </a:r>
                      <a:endParaRPr lang="zh-CN" altLang="en-US" dirty="0"/>
                    </a:p>
                  </a:txBody>
                  <a:tcPr/>
                </a:tc>
                <a:tc>
                  <a:txBody>
                    <a:bodyPr/>
                    <a:lstStyle/>
                    <a:p>
                      <a:pPr algn="ctr"/>
                      <a:r>
                        <a:rPr lang="en-US" altLang="zh-CN" dirty="0"/>
                        <a:t>CNO</a:t>
                      </a:r>
                      <a:endParaRPr lang="zh-CN" altLang="en-US" dirty="0"/>
                    </a:p>
                  </a:txBody>
                  <a:tcPr/>
                </a:tc>
                <a:tc>
                  <a:txBody>
                    <a:bodyPr/>
                    <a:lstStyle/>
                    <a:p>
                      <a:pPr algn="ctr"/>
                      <a:r>
                        <a:rPr lang="en-US" altLang="zh-CN" dirty="0"/>
                        <a:t>GRADE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841821175"/>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extLst>
                  <a:ext uri="{0D108BD9-81ED-4DB2-BD59-A6C34878D82A}">
                    <a16:rowId xmlns:a16="http://schemas.microsoft.com/office/drawing/2014/main" val="2604247982"/>
                  </a:ext>
                </a:extLst>
              </a:tr>
            </a:tbl>
          </a:graphicData>
        </a:graphic>
      </p:graphicFrame>
      <p:graphicFrame>
        <p:nvGraphicFramePr>
          <p:cNvPr id="22" name="表格 2">
            <a:extLst>
              <a:ext uri="{FF2B5EF4-FFF2-40B4-BE49-F238E27FC236}">
                <a16:creationId xmlns:a16="http://schemas.microsoft.com/office/drawing/2014/main" id="{DF1367FC-B3C1-434D-A859-B83234DCA174}"/>
              </a:ext>
            </a:extLst>
          </p:cNvPr>
          <p:cNvGraphicFramePr>
            <a:graphicFrameLocks noGrp="1"/>
          </p:cNvGraphicFramePr>
          <p:nvPr>
            <p:extLst>
              <p:ext uri="{D42A27DB-BD31-4B8C-83A1-F6EECF244321}">
                <p14:modId xmlns:p14="http://schemas.microsoft.com/office/powerpoint/2010/main" val="2321303209"/>
              </p:ext>
            </p:extLst>
          </p:nvPr>
        </p:nvGraphicFramePr>
        <p:xfrm>
          <a:off x="261211" y="394665"/>
          <a:ext cx="4796250" cy="3708400"/>
        </p:xfrm>
        <a:graphic>
          <a:graphicData uri="http://schemas.openxmlformats.org/drawingml/2006/table">
            <a:tbl>
              <a:tblPr firstRow="1" bandRow="1">
                <a:tableStyleId>{21E4AEA4-8DFA-4A89-87EB-49C32662AFE0}</a:tableStyleId>
              </a:tblPr>
              <a:tblGrid>
                <a:gridCol w="691796">
                  <a:extLst>
                    <a:ext uri="{9D8B030D-6E8A-4147-A177-3AD203B41FA5}">
                      <a16:colId xmlns:a16="http://schemas.microsoft.com/office/drawing/2014/main" val="3250390251"/>
                    </a:ext>
                  </a:extLst>
                </a:gridCol>
                <a:gridCol w="1226704">
                  <a:extLst>
                    <a:ext uri="{9D8B030D-6E8A-4147-A177-3AD203B41FA5}">
                      <a16:colId xmlns:a16="http://schemas.microsoft.com/office/drawing/2014/main" val="3954880262"/>
                    </a:ext>
                  </a:extLst>
                </a:gridCol>
                <a:gridCol w="959250">
                  <a:extLst>
                    <a:ext uri="{9D8B030D-6E8A-4147-A177-3AD203B41FA5}">
                      <a16:colId xmlns:a16="http://schemas.microsoft.com/office/drawing/2014/main" val="41684705"/>
                    </a:ext>
                  </a:extLst>
                </a:gridCol>
                <a:gridCol w="959250">
                  <a:extLst>
                    <a:ext uri="{9D8B030D-6E8A-4147-A177-3AD203B41FA5}">
                      <a16:colId xmlns:a16="http://schemas.microsoft.com/office/drawing/2014/main" val="2861137485"/>
                    </a:ext>
                  </a:extLst>
                </a:gridCol>
                <a:gridCol w="959250">
                  <a:extLst>
                    <a:ext uri="{9D8B030D-6E8A-4147-A177-3AD203B41FA5}">
                      <a16:colId xmlns:a16="http://schemas.microsoft.com/office/drawing/2014/main" val="1193315675"/>
                    </a:ext>
                  </a:extLst>
                </a:gridCol>
              </a:tblGrid>
              <a:tr h="370840">
                <a:tc>
                  <a:txBody>
                    <a:bodyPr/>
                    <a:lstStyle/>
                    <a:p>
                      <a:pPr algn="ctr"/>
                      <a:r>
                        <a:rPr lang="en-US" altLang="zh-CN" dirty="0"/>
                        <a:t>SNO</a:t>
                      </a:r>
                      <a:endParaRPr lang="zh-CN" altLang="en-US" dirty="0"/>
                    </a:p>
                  </a:txBody>
                  <a:tcPr/>
                </a:tc>
                <a:tc>
                  <a:txBody>
                    <a:bodyPr/>
                    <a:lstStyle/>
                    <a:p>
                      <a:pPr algn="ctr"/>
                      <a:r>
                        <a:rPr lang="en-US" altLang="zh-CN" dirty="0"/>
                        <a:t>SNAME</a:t>
                      </a:r>
                      <a:endParaRPr lang="zh-CN" altLang="en-US" dirty="0"/>
                    </a:p>
                  </a:txBody>
                  <a:tcPr/>
                </a:tc>
                <a:tc>
                  <a:txBody>
                    <a:bodyPr/>
                    <a:lstStyle/>
                    <a:p>
                      <a:pPr algn="ctr"/>
                      <a:r>
                        <a:rPr lang="en-US" altLang="zh-CN" dirty="0"/>
                        <a:t>AGE</a:t>
                      </a:r>
                      <a:endParaRPr lang="zh-CN" altLang="en-US" dirty="0"/>
                    </a:p>
                  </a:txBody>
                  <a:tcPr/>
                </a:tc>
                <a:tc>
                  <a:txBody>
                    <a:bodyPr/>
                    <a:lstStyle/>
                    <a:p>
                      <a:pPr algn="ctr"/>
                      <a:r>
                        <a:rPr lang="en-US" altLang="zh-CN" dirty="0"/>
                        <a:t>SEX</a:t>
                      </a:r>
                      <a:endParaRPr lang="zh-CN" altLang="en-US" dirty="0"/>
                    </a:p>
                  </a:txBody>
                  <a:tcPr/>
                </a:tc>
                <a:tc>
                  <a:txBody>
                    <a:bodyPr/>
                    <a:lstStyle/>
                    <a:p>
                      <a:pPr algn="ctr"/>
                      <a:r>
                        <a:rPr lang="en-US" altLang="zh-CN" dirty="0"/>
                        <a:t>SDEPT</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zh-CN" altLang="en-US" dirty="0"/>
                        <a:t>程宏</a:t>
                      </a:r>
                    </a:p>
                  </a:txBody>
                  <a:tcPr/>
                </a:tc>
                <a:tc>
                  <a:txBody>
                    <a:bodyPr/>
                    <a:lstStyle/>
                    <a:p>
                      <a:pPr algn="ctr"/>
                      <a:r>
                        <a:rPr lang="en-US" altLang="zh-CN" dirty="0"/>
                        <a:t>19</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mn-lt"/>
                          <a:ea typeface="+mn-ea"/>
                          <a:cs typeface="+mn-cs"/>
                        </a:rPr>
                        <a:t>通信</a:t>
                      </a:r>
                    </a:p>
                  </a:txBody>
                  <a:tcPr/>
                </a:tc>
                <a:extLst>
                  <a:ext uri="{0D108BD9-81ED-4DB2-BD59-A6C34878D82A}">
                    <a16:rowId xmlns:a16="http://schemas.microsoft.com/office/drawing/2014/main" val="3713937122"/>
                  </a:ext>
                </a:extLst>
              </a:tr>
              <a:tr h="370840">
                <a:tc>
                  <a:txBody>
                    <a:bodyPr/>
                    <a:lstStyle/>
                    <a:p>
                      <a:pPr algn="ctr"/>
                      <a:r>
                        <a:rPr lang="en-US" altLang="zh-CN" dirty="0"/>
                        <a:t>S2</a:t>
                      </a:r>
                      <a:endParaRPr lang="zh-CN" altLang="en-US" dirty="0"/>
                    </a:p>
                  </a:txBody>
                  <a:tcPr/>
                </a:tc>
                <a:tc>
                  <a:txBody>
                    <a:bodyPr/>
                    <a:lstStyle/>
                    <a:p>
                      <a:pPr algn="ctr"/>
                      <a:r>
                        <a:rPr lang="zh-CN" altLang="en-US" dirty="0"/>
                        <a:t>张飞</a:t>
                      </a:r>
                    </a:p>
                  </a:txBody>
                  <a:tcPr/>
                </a:tc>
                <a:tc>
                  <a:txBody>
                    <a:bodyPr/>
                    <a:lstStyle/>
                    <a:p>
                      <a:pPr algn="ctr"/>
                      <a:r>
                        <a:rPr lang="en-US" altLang="zh-CN" dirty="0"/>
                        <a:t>20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8418211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S3</a:t>
                      </a:r>
                      <a:endParaRPr lang="zh-CN" altLang="en-US" dirty="0"/>
                    </a:p>
                  </a:txBody>
                  <a:tcPr/>
                </a:tc>
                <a:tc>
                  <a:txBody>
                    <a:bodyPr/>
                    <a:lstStyle/>
                    <a:p>
                      <a:pPr algn="ctr"/>
                      <a:r>
                        <a:rPr lang="zh-CN" altLang="en-US" dirty="0"/>
                        <a:t>刘莎莎</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女</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115097190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S4</a:t>
                      </a:r>
                      <a:endParaRPr lang="zh-CN" altLang="en-US" dirty="0"/>
                    </a:p>
                  </a:txBody>
                  <a:tcPr/>
                </a:tc>
                <a:tc>
                  <a:txBody>
                    <a:bodyPr/>
                    <a:lstStyle/>
                    <a:p>
                      <a:pPr algn="ctr"/>
                      <a:r>
                        <a:rPr lang="zh-CN" altLang="en-US" dirty="0"/>
                        <a:t>李刚奇</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3770924754"/>
                  </a:ext>
                </a:extLst>
              </a:tr>
              <a:tr h="370840">
                <a:tc>
                  <a:txBody>
                    <a:bodyPr/>
                    <a:lstStyle/>
                    <a:p>
                      <a:pPr algn="ctr"/>
                      <a:r>
                        <a:rPr lang="en-US" altLang="zh-CN" dirty="0"/>
                        <a:t>S5</a:t>
                      </a:r>
                      <a:endParaRPr lang="zh-CN" altLang="en-US" dirty="0"/>
                    </a:p>
                  </a:txBody>
                  <a:tcPr/>
                </a:tc>
                <a:tc>
                  <a:txBody>
                    <a:bodyPr/>
                    <a:lstStyle/>
                    <a:p>
                      <a:pPr algn="ctr"/>
                      <a:r>
                        <a:rPr lang="zh-CN" altLang="en-US" dirty="0"/>
                        <a:t>李小刚</a:t>
                      </a:r>
                    </a:p>
                  </a:txBody>
                  <a:tcPr/>
                </a:tc>
                <a:tc>
                  <a:txBody>
                    <a:bodyPr/>
                    <a:lstStyle/>
                    <a:p>
                      <a:pPr algn="ctr"/>
                      <a:r>
                        <a:rPr lang="en-US" altLang="zh-CN" dirty="0"/>
                        <a:t>21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通信</a:t>
                      </a:r>
                    </a:p>
                  </a:txBody>
                  <a:tcPr/>
                </a:tc>
                <a:extLst>
                  <a:ext uri="{0D108BD9-81ED-4DB2-BD59-A6C34878D82A}">
                    <a16:rowId xmlns:a16="http://schemas.microsoft.com/office/drawing/2014/main" val="2604247982"/>
                  </a:ext>
                </a:extLst>
              </a:tr>
              <a:tr h="370840">
                <a:tc>
                  <a:txBody>
                    <a:bodyPr/>
                    <a:lstStyle/>
                    <a:p>
                      <a:pPr algn="ctr"/>
                      <a:r>
                        <a:rPr lang="en-US" altLang="zh-CN" dirty="0"/>
                        <a:t>S6</a:t>
                      </a:r>
                      <a:endParaRPr lang="zh-CN" altLang="en-US" dirty="0"/>
                    </a:p>
                  </a:txBody>
                  <a:tcPr/>
                </a:tc>
                <a:tc>
                  <a:txBody>
                    <a:bodyPr/>
                    <a:lstStyle/>
                    <a:p>
                      <a:pPr algn="ctr"/>
                      <a:r>
                        <a:rPr lang="zh-CN" altLang="en-US" dirty="0"/>
                        <a:t>陈爱国</a:t>
                      </a:r>
                    </a:p>
                  </a:txBody>
                  <a:tcPr/>
                </a:tc>
                <a:tc>
                  <a:txBody>
                    <a:bodyPr/>
                    <a:lstStyle/>
                    <a:p>
                      <a:pPr algn="ctr"/>
                      <a:r>
                        <a:rPr lang="en-US" altLang="zh-CN" dirty="0"/>
                        <a:t>19</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extLst>
                  <a:ext uri="{0D108BD9-81ED-4DB2-BD59-A6C34878D82A}">
                    <a16:rowId xmlns:a16="http://schemas.microsoft.com/office/drawing/2014/main" val="1236409575"/>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S7</a:t>
                      </a:r>
                      <a:endParaRPr lang="zh-CN" altLang="en-US" dirty="0"/>
                    </a:p>
                  </a:txBody>
                  <a:tcPr/>
                </a:tc>
                <a:tc>
                  <a:txBody>
                    <a:bodyPr/>
                    <a:lstStyle/>
                    <a:p>
                      <a:pPr algn="ctr"/>
                      <a:r>
                        <a:rPr lang="zh-CN" altLang="en-US" dirty="0"/>
                        <a:t>柳庆国</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18</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a:ln>
                            <a:noFill/>
                          </a:ln>
                          <a:solidFill>
                            <a:srgbClr val="000000"/>
                          </a:solidFill>
                          <a:effectLst/>
                          <a:uLnTx/>
                          <a:uFillTx/>
                          <a:latin typeface="Times New Roman"/>
                          <a:ea typeface="宋体"/>
                          <a:cs typeface="+mn-cs"/>
                        </a:rPr>
                        <a:t>计算机</a:t>
                      </a:r>
                      <a:endPar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endParaRPr>
                    </a:p>
                  </a:txBody>
                  <a:tcPr/>
                </a:tc>
                <a:extLst>
                  <a:ext uri="{0D108BD9-81ED-4DB2-BD59-A6C34878D82A}">
                    <a16:rowId xmlns:a16="http://schemas.microsoft.com/office/drawing/2014/main" val="2231099752"/>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S8</a:t>
                      </a:r>
                      <a:endParaRPr lang="zh-CN" altLang="en-US" dirty="0"/>
                    </a:p>
                  </a:txBody>
                  <a:tcPr/>
                </a:tc>
                <a:tc>
                  <a:txBody>
                    <a:bodyPr/>
                    <a:lstStyle/>
                    <a:p>
                      <a:pPr algn="ctr"/>
                      <a:r>
                        <a:rPr lang="zh-CN" altLang="en-US" dirty="0"/>
                        <a:t>姜名</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20</a:t>
                      </a:r>
                      <a:endParaRPr lang="zh-CN" altLang="en-US" dirty="0"/>
                    </a:p>
                  </a:txBody>
                  <a:tcPr/>
                </a:tc>
                <a:tc>
                  <a:txBody>
                    <a:bodyPr/>
                    <a:lstStyle/>
                    <a:p>
                      <a:pPr algn="ctr"/>
                      <a:r>
                        <a:rPr lang="zh-CN" altLang="en-US" dirty="0"/>
                        <a:t>男</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000000"/>
                          </a:solidFill>
                          <a:effectLst/>
                          <a:uLnTx/>
                          <a:uFillTx/>
                          <a:latin typeface="Times New Roman"/>
                          <a:ea typeface="宋体"/>
                          <a:cs typeface="+mn-cs"/>
                        </a:rPr>
                        <a:t>计算机</a:t>
                      </a:r>
                    </a:p>
                  </a:txBody>
                  <a:tcPr/>
                </a:tc>
                <a:extLst>
                  <a:ext uri="{0D108BD9-81ED-4DB2-BD59-A6C34878D82A}">
                    <a16:rowId xmlns:a16="http://schemas.microsoft.com/office/drawing/2014/main" val="112422980"/>
                  </a:ext>
                </a:extLst>
              </a:tr>
              <a:tr h="370840">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S9</a:t>
                      </a:r>
                      <a:endParaRPr lang="zh-CN" altLang="en-US" dirty="0"/>
                    </a:p>
                  </a:txBody>
                  <a:tcPr/>
                </a:tc>
                <a:tc>
                  <a:txBody>
                    <a:bodyPr/>
                    <a:lstStyle/>
                    <a:p>
                      <a:pPr algn="ctr"/>
                      <a:r>
                        <a:rPr lang="zh-CN" altLang="en-US" dirty="0"/>
                        <a:t>王莉</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CN" dirty="0"/>
                        <a:t>21</a:t>
                      </a:r>
                      <a:endParaRPr lang="zh-CN" altLang="en-US"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zh-CN" altLang="en-US" dirty="0"/>
                        <a:t>女</a:t>
                      </a:r>
                    </a:p>
                  </a:txBody>
                  <a:tcPr/>
                </a:tc>
                <a:tc>
                  <a:txBody>
                    <a:bodyPr/>
                    <a:lstStyle/>
                    <a:p>
                      <a:pPr algn="ctr"/>
                      <a:r>
                        <a:rPr lang="zh-CN" altLang="en-US" dirty="0"/>
                        <a:t>计算机</a:t>
                      </a:r>
                    </a:p>
                  </a:txBody>
                  <a:tcPr/>
                </a:tc>
                <a:extLst>
                  <a:ext uri="{0D108BD9-81ED-4DB2-BD59-A6C34878D82A}">
                    <a16:rowId xmlns:a16="http://schemas.microsoft.com/office/drawing/2014/main" val="1909949203"/>
                  </a:ext>
                </a:extLst>
              </a:tr>
            </a:tbl>
          </a:graphicData>
        </a:graphic>
      </p:graphicFrame>
      <p:graphicFrame>
        <p:nvGraphicFramePr>
          <p:cNvPr id="23" name="表格 2">
            <a:extLst>
              <a:ext uri="{FF2B5EF4-FFF2-40B4-BE49-F238E27FC236}">
                <a16:creationId xmlns:a16="http://schemas.microsoft.com/office/drawing/2014/main" id="{135466BE-E476-7B44-96FE-1AFBCA5BAE39}"/>
              </a:ext>
            </a:extLst>
          </p:cNvPr>
          <p:cNvGraphicFramePr>
            <a:graphicFrameLocks noGrp="1"/>
          </p:cNvGraphicFramePr>
          <p:nvPr>
            <p:extLst>
              <p:ext uri="{D42A27DB-BD31-4B8C-83A1-F6EECF244321}">
                <p14:modId xmlns:p14="http://schemas.microsoft.com/office/powerpoint/2010/main" val="3560947340"/>
              </p:ext>
            </p:extLst>
          </p:nvPr>
        </p:nvGraphicFramePr>
        <p:xfrm>
          <a:off x="5060288" y="4496563"/>
          <a:ext cx="3071478" cy="1112520"/>
        </p:xfrm>
        <a:graphic>
          <a:graphicData uri="http://schemas.openxmlformats.org/drawingml/2006/table">
            <a:tbl>
              <a:tblPr firstRow="1" bandRow="1">
                <a:tableStyleId>{5C22544A-7EE6-4342-B048-85BDC9FD1C3A}</a:tableStyleId>
              </a:tblPr>
              <a:tblGrid>
                <a:gridCol w="1127262">
                  <a:extLst>
                    <a:ext uri="{9D8B030D-6E8A-4147-A177-3AD203B41FA5}">
                      <a16:colId xmlns:a16="http://schemas.microsoft.com/office/drawing/2014/main" val="3250390251"/>
                    </a:ext>
                  </a:extLst>
                </a:gridCol>
                <a:gridCol w="720080">
                  <a:extLst>
                    <a:ext uri="{9D8B030D-6E8A-4147-A177-3AD203B41FA5}">
                      <a16:colId xmlns:a16="http://schemas.microsoft.com/office/drawing/2014/main" val="3954880262"/>
                    </a:ext>
                  </a:extLst>
                </a:gridCol>
                <a:gridCol w="1224136">
                  <a:extLst>
                    <a:ext uri="{9D8B030D-6E8A-4147-A177-3AD203B41FA5}">
                      <a16:colId xmlns:a16="http://schemas.microsoft.com/office/drawing/2014/main" val="41684705"/>
                    </a:ext>
                  </a:extLst>
                </a:gridCol>
              </a:tblGrid>
              <a:tr h="370840">
                <a:tc>
                  <a:txBody>
                    <a:bodyPr/>
                    <a:lstStyle/>
                    <a:p>
                      <a:pPr algn="ctr"/>
                      <a:r>
                        <a:rPr lang="en-US" altLang="zh-CN" dirty="0"/>
                        <a:t>SC.SNO</a:t>
                      </a:r>
                      <a:endParaRPr lang="zh-CN" altLang="en-US" dirty="0"/>
                    </a:p>
                  </a:txBody>
                  <a:tcPr/>
                </a:tc>
                <a:tc>
                  <a:txBody>
                    <a:bodyPr/>
                    <a:lstStyle/>
                    <a:p>
                      <a:pPr algn="ctr"/>
                      <a:r>
                        <a:rPr lang="en-US" altLang="zh-CN" dirty="0"/>
                        <a:t>CNO</a:t>
                      </a:r>
                      <a:endParaRPr lang="zh-CN" altLang="en-US" dirty="0"/>
                    </a:p>
                  </a:txBody>
                  <a:tcPr/>
                </a:tc>
                <a:tc>
                  <a:txBody>
                    <a:bodyPr/>
                    <a:lstStyle/>
                    <a:p>
                      <a:pPr algn="ctr"/>
                      <a:r>
                        <a:rPr lang="en-US" altLang="zh-CN" dirty="0"/>
                        <a:t>GRADE</a:t>
                      </a:r>
                      <a:endParaRPr lang="zh-CN" altLang="en-US" dirty="0"/>
                    </a:p>
                  </a:txBody>
                  <a:tcPr/>
                </a:tc>
                <a:extLst>
                  <a:ext uri="{0D108BD9-81ED-4DB2-BD59-A6C34878D82A}">
                    <a16:rowId xmlns:a16="http://schemas.microsoft.com/office/drawing/2014/main" val="3145990871"/>
                  </a:ext>
                </a:extLst>
              </a:tr>
              <a:tr h="370840">
                <a:tc>
                  <a:txBody>
                    <a:bodyPr/>
                    <a:lstStyle/>
                    <a:p>
                      <a:pPr algn="ctr"/>
                      <a:r>
                        <a:rPr lang="en-US" altLang="zh-CN" dirty="0"/>
                        <a:t>S1</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88</a:t>
                      </a:r>
                      <a:endParaRPr lang="zh-CN" altLang="en-US" dirty="0"/>
                    </a:p>
                  </a:txBody>
                  <a:tcPr/>
                </a:tc>
                <a:extLst>
                  <a:ext uri="{0D108BD9-81ED-4DB2-BD59-A6C34878D82A}">
                    <a16:rowId xmlns:a16="http://schemas.microsoft.com/office/drawing/2014/main" val="841821175"/>
                  </a:ext>
                </a:extLst>
              </a:tr>
              <a:tr h="370840">
                <a:tc>
                  <a:txBody>
                    <a:bodyPr/>
                    <a:lstStyle/>
                    <a:p>
                      <a:pPr algn="ctr"/>
                      <a:r>
                        <a:rPr lang="en-US" altLang="zh-CN" dirty="0"/>
                        <a:t>S5</a:t>
                      </a:r>
                      <a:endParaRPr lang="zh-CN" altLang="en-US" dirty="0"/>
                    </a:p>
                  </a:txBody>
                  <a:tcPr/>
                </a:tc>
                <a:tc>
                  <a:txBody>
                    <a:bodyPr/>
                    <a:lstStyle/>
                    <a:p>
                      <a:pPr algn="ctr"/>
                      <a:r>
                        <a:rPr lang="en-US" altLang="zh-CN" dirty="0"/>
                        <a:t>C2</a:t>
                      </a:r>
                      <a:endParaRPr lang="zh-CN" altLang="en-US" dirty="0"/>
                    </a:p>
                  </a:txBody>
                  <a:tcPr/>
                </a:tc>
                <a:tc>
                  <a:txBody>
                    <a:bodyPr/>
                    <a:lstStyle/>
                    <a:p>
                      <a:pPr algn="ctr"/>
                      <a:r>
                        <a:rPr lang="en-US" altLang="zh-CN" dirty="0"/>
                        <a:t>91</a:t>
                      </a:r>
                      <a:endParaRPr lang="zh-CN" altLang="en-US" dirty="0"/>
                    </a:p>
                  </a:txBody>
                  <a:tcPr/>
                </a:tc>
                <a:extLst>
                  <a:ext uri="{0D108BD9-81ED-4DB2-BD59-A6C34878D82A}">
                    <a16:rowId xmlns:a16="http://schemas.microsoft.com/office/drawing/2014/main" val="2604247982"/>
                  </a:ext>
                </a:extLst>
              </a:tr>
            </a:tbl>
          </a:graphicData>
        </a:graphic>
      </p:graphicFrame>
    </p:spTree>
    <p:extLst>
      <p:ext uri="{BB962C8B-B14F-4D97-AF65-F5344CB8AC3E}">
        <p14:creationId xmlns:p14="http://schemas.microsoft.com/office/powerpoint/2010/main" val="298963291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62556" name="Group 28"/>
          <p:cNvGrpSpPr>
            <a:grpSpLocks/>
          </p:cNvGrpSpPr>
          <p:nvPr/>
        </p:nvGrpSpPr>
        <p:grpSpPr bwMode="auto">
          <a:xfrm>
            <a:off x="34925" y="-242888"/>
            <a:ext cx="9144000" cy="3867151"/>
            <a:chOff x="0" y="-48"/>
            <a:chExt cx="5760" cy="2436"/>
          </a:xfrm>
        </p:grpSpPr>
        <p:sp>
          <p:nvSpPr>
            <p:cNvPr id="662530" name="Rectangle 2"/>
            <p:cNvSpPr>
              <a:spLocks noChangeArrowheads="1"/>
            </p:cNvSpPr>
            <p:nvPr/>
          </p:nvSpPr>
          <p:spPr bwMode="auto">
            <a:xfrm>
              <a:off x="0" y="-48"/>
              <a:ext cx="5760" cy="243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spcBef>
                  <a:spcPct val="0"/>
                </a:spcBef>
              </a:pPr>
              <a:r>
                <a:rPr lang="en-US" altLang="zh-CN" sz="2800" b="1">
                  <a:solidFill>
                    <a:srgbClr val="000099"/>
                  </a:solidFill>
                </a:rPr>
                <a:t>  </a:t>
              </a:r>
              <a:r>
                <a:rPr lang="zh-CN" altLang="en-US" sz="2800" b="1">
                  <a:solidFill>
                    <a:srgbClr val="000099"/>
                  </a:solidFill>
                </a:rPr>
                <a:t>二、代数表达式的等价变换规则</a:t>
              </a:r>
            </a:p>
            <a:p>
              <a:pPr>
                <a:lnSpc>
                  <a:spcPct val="200000"/>
                </a:lnSpc>
                <a:spcBef>
                  <a:spcPct val="0"/>
                </a:spcBef>
              </a:pPr>
              <a:r>
                <a:rPr lang="zh-CN" altLang="en-US" sz="2400" b="1">
                  <a:solidFill>
                    <a:srgbClr val="660033"/>
                  </a:solidFill>
                  <a:latin typeface="Times New Roman"/>
                </a:rPr>
                <a:t> </a:t>
              </a:r>
              <a:r>
                <a:rPr lang="zh-CN" altLang="en-US" sz="2400" b="1">
                  <a:solidFill>
                    <a:srgbClr val="660033"/>
                  </a:solidFill>
                </a:rPr>
                <a:t>  </a:t>
              </a:r>
              <a:r>
                <a:rPr lang="en-US" altLang="zh-CN" sz="2400" b="1">
                  <a:solidFill>
                    <a:srgbClr val="660033"/>
                  </a:solidFill>
                  <a:latin typeface="Times New Roman" pitchFamily="18" charset="0"/>
                  <a:cs typeface="Times New Roman" pitchFamily="18" charset="0"/>
                </a:rPr>
                <a:t>1</a:t>
              </a:r>
              <a:r>
                <a:rPr lang="zh-CN" altLang="en-US" sz="2400" b="1">
                  <a:solidFill>
                    <a:srgbClr val="660033"/>
                  </a:solidFill>
                  <a:latin typeface="Times New Roman" pitchFamily="18" charset="0"/>
                </a:rPr>
                <a:t>、</a:t>
              </a:r>
              <a:r>
                <a:rPr lang="zh-CN" altLang="en-US" sz="2400" b="1">
                  <a:solidFill>
                    <a:srgbClr val="660033"/>
                  </a:solidFill>
                  <a:latin typeface="Times New Roman" pitchFamily="18" charset="0"/>
                  <a:cs typeface="Times New Roman" pitchFamily="18" charset="0"/>
                </a:rPr>
                <a:t> </a:t>
              </a:r>
              <a:r>
                <a:rPr lang="zh-CN" altLang="en-US" sz="2400" b="1">
                  <a:solidFill>
                    <a:srgbClr val="660033"/>
                  </a:solidFill>
                </a:rPr>
                <a:t>联接和笛卡儿积的交换律</a:t>
              </a:r>
            </a:p>
            <a:p>
              <a:pPr>
                <a:lnSpc>
                  <a:spcPct val="200000"/>
                </a:lnSpc>
                <a:spcBef>
                  <a:spcPct val="0"/>
                </a:spcBef>
              </a:pPr>
              <a:r>
                <a:rPr lang="zh-CN" altLang="en-US" sz="2400" b="1">
                  <a:solidFill>
                    <a:schemeClr val="bg2"/>
                  </a:solidFill>
                  <a:latin typeface="Times New Roman"/>
                </a:rPr>
                <a:t> </a:t>
              </a:r>
              <a:r>
                <a:rPr lang="zh-CN" altLang="en-US" sz="2400" b="1">
                  <a:solidFill>
                    <a:schemeClr val="bg2"/>
                  </a:solidFill>
                </a:rPr>
                <a:t>      </a:t>
              </a:r>
              <a:r>
                <a:rPr lang="en-US" altLang="zh-CN" sz="2400" b="1">
                  <a:solidFill>
                    <a:schemeClr val="bg2"/>
                  </a:solidFill>
                </a:rPr>
                <a:t>E1  </a:t>
              </a:r>
              <a:r>
                <a:rPr lang="en-US" altLang="zh-CN" sz="2400" b="1" baseline="-25000">
                  <a:solidFill>
                    <a:schemeClr val="bg2"/>
                  </a:solidFill>
                </a:rPr>
                <a:t> </a:t>
              </a:r>
              <a:r>
                <a:rPr lang="en-US" altLang="zh-CN" sz="2400" b="1">
                  <a:solidFill>
                    <a:schemeClr val="bg2"/>
                  </a:solidFill>
                </a:rPr>
                <a:t>  E2 ≡ E2      E1</a:t>
              </a:r>
            </a:p>
            <a:p>
              <a:pPr>
                <a:lnSpc>
                  <a:spcPct val="200000"/>
                </a:lnSpc>
                <a:spcBef>
                  <a:spcPct val="0"/>
                </a:spcBef>
              </a:pPr>
              <a:r>
                <a:rPr lang="en-US" altLang="zh-CN" sz="2400" b="1">
                  <a:solidFill>
                    <a:schemeClr val="bg2"/>
                  </a:solidFill>
                </a:rPr>
                <a:t>       E1     E2 ≡ E2     E1</a:t>
              </a:r>
            </a:p>
            <a:p>
              <a:pPr>
                <a:lnSpc>
                  <a:spcPct val="200000"/>
                </a:lnSpc>
                <a:spcBef>
                  <a:spcPct val="0"/>
                </a:spcBef>
              </a:pPr>
              <a:r>
                <a:rPr lang="en-US" altLang="zh-CN" sz="2400" b="1">
                  <a:solidFill>
                    <a:schemeClr val="bg2"/>
                  </a:solidFill>
                </a:rPr>
                <a:t>       E1 × E2 ≡ E2  × E1</a:t>
              </a:r>
              <a:endParaRPr lang="en-US" altLang="zh-CN" sz="2400" b="1">
                <a:solidFill>
                  <a:schemeClr val="bg2"/>
                </a:solidFill>
                <a:latin typeface="Times New Roman" pitchFamily="18" charset="0"/>
              </a:endParaRPr>
            </a:p>
          </p:txBody>
        </p:sp>
        <p:sp>
          <p:nvSpPr>
            <p:cNvPr id="662531" name="Text Box 3"/>
            <p:cNvSpPr txBox="1">
              <a:spLocks noChangeArrowheads="1"/>
            </p:cNvSpPr>
            <p:nvPr/>
          </p:nvSpPr>
          <p:spPr bwMode="auto">
            <a:xfrm>
              <a:off x="816" y="890"/>
              <a:ext cx="672"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a:t>
              </a:r>
            </a:p>
            <a:p>
              <a:pPr algn="just" eaLnBrk="0" hangingPunct="0">
                <a:lnSpc>
                  <a:spcPct val="100000"/>
                </a:lnSpc>
                <a:spcBef>
                  <a:spcPct val="50000"/>
                </a:spcBef>
              </a:pPr>
              <a:r>
                <a:rPr lang="en-US" altLang="zh-CN" baseline="3000">
                  <a:solidFill>
                    <a:schemeClr val="bg2"/>
                  </a:solidFill>
                  <a:latin typeface="宋体" pitchFamily="2" charset="-122"/>
                </a:rPr>
                <a:t>  </a:t>
              </a:r>
              <a:r>
                <a:rPr lang="en-US" altLang="zh-CN" baseline="1000">
                  <a:solidFill>
                    <a:schemeClr val="bg2"/>
                  </a:solidFill>
                  <a:latin typeface="宋体" pitchFamily="2" charset="-122"/>
                </a:rPr>
                <a:t>F</a:t>
              </a:r>
            </a:p>
          </p:txBody>
        </p:sp>
        <p:sp>
          <p:nvSpPr>
            <p:cNvPr id="662532" name="Text Box 4"/>
            <p:cNvSpPr txBox="1">
              <a:spLocks noChangeArrowheads="1"/>
            </p:cNvSpPr>
            <p:nvPr/>
          </p:nvSpPr>
          <p:spPr bwMode="auto">
            <a:xfrm>
              <a:off x="2112" y="890"/>
              <a:ext cx="672"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 </a:t>
              </a:r>
            </a:p>
            <a:p>
              <a:pPr algn="just" eaLnBrk="0" hangingPunct="0">
                <a:lnSpc>
                  <a:spcPct val="100000"/>
                </a:lnSpc>
                <a:spcBef>
                  <a:spcPct val="50000"/>
                </a:spcBef>
              </a:pPr>
              <a:r>
                <a:rPr lang="en-US" altLang="zh-CN" baseline="3000">
                  <a:solidFill>
                    <a:schemeClr val="bg2"/>
                  </a:solidFill>
                  <a:latin typeface="宋体" pitchFamily="2" charset="-122"/>
                </a:rPr>
                <a:t>  </a:t>
              </a:r>
              <a:r>
                <a:rPr lang="en-US" altLang="zh-CN" baseline="1000">
                  <a:solidFill>
                    <a:schemeClr val="bg2"/>
                  </a:solidFill>
                  <a:latin typeface="宋体" pitchFamily="2" charset="-122"/>
                </a:rPr>
                <a:t>F </a:t>
              </a:r>
            </a:p>
          </p:txBody>
        </p:sp>
        <p:sp>
          <p:nvSpPr>
            <p:cNvPr id="662533" name="Text Box 5"/>
            <p:cNvSpPr txBox="1">
              <a:spLocks noChangeArrowheads="1"/>
            </p:cNvSpPr>
            <p:nvPr/>
          </p:nvSpPr>
          <p:spPr bwMode="auto">
            <a:xfrm>
              <a:off x="2117" y="1389"/>
              <a:ext cx="672"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 </a:t>
              </a:r>
            </a:p>
            <a:p>
              <a:pPr algn="just" eaLnBrk="0" hangingPunct="0">
                <a:lnSpc>
                  <a:spcPct val="100000"/>
                </a:lnSpc>
                <a:spcBef>
                  <a:spcPct val="50000"/>
                </a:spcBef>
              </a:pPr>
              <a:endParaRPr lang="en-US" altLang="zh-CN" baseline="1000">
                <a:solidFill>
                  <a:schemeClr val="bg2"/>
                </a:solidFill>
                <a:latin typeface="宋体" pitchFamily="2" charset="-122"/>
              </a:endParaRPr>
            </a:p>
          </p:txBody>
        </p:sp>
        <p:sp>
          <p:nvSpPr>
            <p:cNvPr id="662534" name="Text Box 6"/>
            <p:cNvSpPr txBox="1">
              <a:spLocks noChangeArrowheads="1"/>
            </p:cNvSpPr>
            <p:nvPr/>
          </p:nvSpPr>
          <p:spPr bwMode="auto">
            <a:xfrm>
              <a:off x="864" y="1389"/>
              <a:ext cx="528"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 </a:t>
              </a:r>
            </a:p>
            <a:p>
              <a:pPr algn="just" eaLnBrk="0" hangingPunct="0">
                <a:lnSpc>
                  <a:spcPct val="100000"/>
                </a:lnSpc>
                <a:spcBef>
                  <a:spcPct val="50000"/>
                </a:spcBef>
              </a:pPr>
              <a:endParaRPr lang="en-US" altLang="zh-CN" baseline="1000">
                <a:solidFill>
                  <a:schemeClr val="bg2"/>
                </a:solidFill>
                <a:latin typeface="宋体" pitchFamily="2" charset="-122"/>
              </a:endParaRPr>
            </a:p>
          </p:txBody>
        </p:sp>
      </p:grpSp>
      <p:grpSp>
        <p:nvGrpSpPr>
          <p:cNvPr id="662557" name="Group 29"/>
          <p:cNvGrpSpPr>
            <a:grpSpLocks/>
          </p:cNvGrpSpPr>
          <p:nvPr/>
        </p:nvGrpSpPr>
        <p:grpSpPr bwMode="auto">
          <a:xfrm>
            <a:off x="323850" y="3573463"/>
            <a:ext cx="9144000" cy="3013075"/>
            <a:chOff x="48" y="2122"/>
            <a:chExt cx="5760" cy="1898"/>
          </a:xfrm>
        </p:grpSpPr>
        <p:sp>
          <p:nvSpPr>
            <p:cNvPr id="662545" name="Rectangle 17"/>
            <p:cNvSpPr>
              <a:spLocks noChangeArrowheads="1"/>
            </p:cNvSpPr>
            <p:nvPr/>
          </p:nvSpPr>
          <p:spPr bwMode="auto">
            <a:xfrm>
              <a:off x="48" y="2122"/>
              <a:ext cx="5760" cy="18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spcBef>
                  <a:spcPct val="0"/>
                </a:spcBef>
              </a:pPr>
              <a:r>
                <a:rPr lang="en-US" altLang="zh-CN" sz="2400" b="1">
                  <a:solidFill>
                    <a:srgbClr val="660033"/>
                  </a:solidFill>
                </a:rPr>
                <a:t>  2</a:t>
              </a:r>
              <a:r>
                <a:rPr lang="zh-CN" altLang="en-US" sz="2400" b="1">
                  <a:solidFill>
                    <a:srgbClr val="660033"/>
                  </a:solidFill>
                </a:rPr>
                <a:t>．联接和笛卡儿积的结合律</a:t>
              </a:r>
              <a:r>
                <a:rPr lang="zh-CN" altLang="en-US" sz="2400" b="1">
                  <a:solidFill>
                    <a:schemeClr val="bg2"/>
                  </a:solidFill>
                  <a:latin typeface="Times New Roman" pitchFamily="18" charset="0"/>
                </a:rPr>
                <a:t> </a:t>
              </a:r>
            </a:p>
            <a:p>
              <a:pPr>
                <a:lnSpc>
                  <a:spcPct val="200000"/>
                </a:lnSpc>
                <a:spcBef>
                  <a:spcPct val="0"/>
                </a:spcBef>
              </a:pPr>
              <a:r>
                <a:rPr lang="zh-CN" altLang="en-US" sz="2400" b="1">
                  <a:solidFill>
                    <a:schemeClr val="bg2"/>
                  </a:solidFill>
                </a:rPr>
                <a:t>     （</a:t>
              </a:r>
              <a:r>
                <a:rPr lang="en-US" altLang="zh-CN" sz="2400" b="1">
                  <a:solidFill>
                    <a:schemeClr val="bg2"/>
                  </a:solidFill>
                </a:rPr>
                <a:t>E1     E2 </a:t>
              </a:r>
              <a:r>
                <a:rPr lang="zh-CN" altLang="en-US" sz="2400" b="1">
                  <a:solidFill>
                    <a:schemeClr val="bg2"/>
                  </a:solidFill>
                </a:rPr>
                <a:t>）   </a:t>
              </a:r>
              <a:r>
                <a:rPr lang="en-US" altLang="zh-CN" sz="2400" b="1">
                  <a:solidFill>
                    <a:schemeClr val="bg2"/>
                  </a:solidFill>
                </a:rPr>
                <a:t>E3≡ E1    </a:t>
              </a:r>
              <a:r>
                <a:rPr lang="zh-CN" altLang="en-US" sz="2400" b="1">
                  <a:solidFill>
                    <a:schemeClr val="bg2"/>
                  </a:solidFill>
                </a:rPr>
                <a:t>（</a:t>
              </a:r>
              <a:r>
                <a:rPr lang="en-US" altLang="zh-CN" sz="2400" b="1">
                  <a:solidFill>
                    <a:schemeClr val="bg2"/>
                  </a:solidFill>
                </a:rPr>
                <a:t>E2    E3</a:t>
              </a:r>
              <a:r>
                <a:rPr lang="zh-CN" altLang="en-US" sz="2400" b="1">
                  <a:solidFill>
                    <a:schemeClr val="bg2"/>
                  </a:solidFill>
                </a:rPr>
                <a:t>）</a:t>
              </a:r>
              <a:endParaRPr lang="zh-CN" altLang="en-US" sz="2400" b="1">
                <a:solidFill>
                  <a:schemeClr val="bg2"/>
                </a:solidFill>
                <a:latin typeface="Times New Roman" pitchFamily="18" charset="0"/>
              </a:endParaRPr>
            </a:p>
            <a:p>
              <a:pPr>
                <a:lnSpc>
                  <a:spcPct val="200000"/>
                </a:lnSpc>
                <a:spcBef>
                  <a:spcPct val="0"/>
                </a:spcBef>
              </a:pPr>
              <a:r>
                <a:rPr lang="zh-CN" altLang="en-US" sz="2400" b="1">
                  <a:solidFill>
                    <a:schemeClr val="bg2"/>
                  </a:solidFill>
                </a:rPr>
                <a:t>     （</a:t>
              </a:r>
              <a:r>
                <a:rPr lang="en-US" altLang="zh-CN" sz="2400" b="1">
                  <a:solidFill>
                    <a:schemeClr val="bg2"/>
                  </a:solidFill>
                </a:rPr>
                <a:t>E1     E2</a:t>
              </a:r>
              <a:r>
                <a:rPr lang="zh-CN" altLang="en-US" sz="2400" b="1">
                  <a:solidFill>
                    <a:schemeClr val="bg2"/>
                  </a:solidFill>
                </a:rPr>
                <a:t>）    </a:t>
              </a:r>
              <a:r>
                <a:rPr lang="en-US" altLang="zh-CN" sz="2400" b="1">
                  <a:solidFill>
                    <a:schemeClr val="bg2"/>
                  </a:solidFill>
                </a:rPr>
                <a:t>E3≡ E1    </a:t>
              </a:r>
              <a:r>
                <a:rPr lang="zh-CN" altLang="en-US" sz="2400" b="1">
                  <a:solidFill>
                    <a:schemeClr val="bg2"/>
                  </a:solidFill>
                </a:rPr>
                <a:t>（</a:t>
              </a:r>
              <a:r>
                <a:rPr lang="en-US" altLang="zh-CN" sz="2400" b="1">
                  <a:solidFill>
                    <a:schemeClr val="bg2"/>
                  </a:solidFill>
                </a:rPr>
                <a:t>E2    E3</a:t>
              </a:r>
              <a:r>
                <a:rPr lang="zh-CN" altLang="en-US" sz="2400" b="1">
                  <a:solidFill>
                    <a:schemeClr val="bg2"/>
                  </a:solidFill>
                </a:rPr>
                <a:t>）</a:t>
              </a:r>
              <a:endParaRPr lang="zh-CN" altLang="en-US" sz="2400" b="1">
                <a:solidFill>
                  <a:schemeClr val="bg2"/>
                </a:solidFill>
                <a:latin typeface="Times New Roman" pitchFamily="18" charset="0"/>
              </a:endParaRPr>
            </a:p>
            <a:p>
              <a:pPr>
                <a:lnSpc>
                  <a:spcPct val="200000"/>
                </a:lnSpc>
                <a:spcBef>
                  <a:spcPct val="0"/>
                </a:spcBef>
              </a:pPr>
              <a:r>
                <a:rPr lang="zh-CN" altLang="en-US" sz="2400" b="1">
                  <a:solidFill>
                    <a:schemeClr val="bg2"/>
                  </a:solidFill>
                  <a:latin typeface="Times New Roman" pitchFamily="18" charset="0"/>
                </a:rPr>
                <a:t>          </a:t>
              </a:r>
              <a:r>
                <a:rPr lang="zh-CN" altLang="en-US" sz="2400" b="1">
                  <a:solidFill>
                    <a:schemeClr val="bg2"/>
                  </a:solidFill>
                </a:rPr>
                <a:t>（</a:t>
              </a:r>
              <a:r>
                <a:rPr lang="en-US" altLang="zh-CN" sz="2400" b="1">
                  <a:solidFill>
                    <a:schemeClr val="bg2"/>
                  </a:solidFill>
                </a:rPr>
                <a:t>E1 ×  E2</a:t>
              </a:r>
              <a:r>
                <a:rPr lang="zh-CN" altLang="en-US" sz="2400" b="1">
                  <a:solidFill>
                    <a:schemeClr val="bg2"/>
                  </a:solidFill>
                </a:rPr>
                <a:t>）</a:t>
              </a:r>
              <a:r>
                <a:rPr lang="zh-CN" altLang="en-US" sz="2400" b="1">
                  <a:solidFill>
                    <a:schemeClr val="bg2"/>
                  </a:solidFill>
                  <a:latin typeface="Times New Roman" pitchFamily="18" charset="0"/>
                </a:rPr>
                <a:t> </a:t>
              </a:r>
              <a:r>
                <a:rPr lang="en-US" altLang="zh-CN" sz="2400" b="1">
                  <a:solidFill>
                    <a:schemeClr val="bg2"/>
                  </a:solidFill>
                </a:rPr>
                <a:t>×</a:t>
              </a:r>
              <a:r>
                <a:rPr lang="en-US" altLang="zh-CN" sz="2400" b="1">
                  <a:solidFill>
                    <a:schemeClr val="bg2"/>
                  </a:solidFill>
                  <a:latin typeface="Times New Roman" pitchFamily="18" charset="0"/>
                </a:rPr>
                <a:t> </a:t>
              </a:r>
              <a:r>
                <a:rPr lang="en-US" altLang="zh-CN" sz="2400" b="1">
                  <a:solidFill>
                    <a:schemeClr val="bg2"/>
                  </a:solidFill>
                </a:rPr>
                <a:t>E3≡ E1 ×</a:t>
              </a:r>
              <a:r>
                <a:rPr lang="zh-CN" altLang="en-US" sz="2400" b="1">
                  <a:solidFill>
                    <a:schemeClr val="bg2"/>
                  </a:solidFill>
                </a:rPr>
                <a:t>（</a:t>
              </a:r>
              <a:r>
                <a:rPr lang="en-US" altLang="zh-CN" sz="2400" b="1">
                  <a:solidFill>
                    <a:schemeClr val="bg2"/>
                  </a:solidFill>
                </a:rPr>
                <a:t>E2× E3</a:t>
              </a:r>
              <a:r>
                <a:rPr lang="zh-CN" altLang="en-US" sz="2400" b="1">
                  <a:solidFill>
                    <a:schemeClr val="bg2"/>
                  </a:solidFill>
                </a:rPr>
                <a:t>）   </a:t>
              </a:r>
              <a:endParaRPr lang="zh-CN" altLang="en-US" sz="2400" b="1">
                <a:solidFill>
                  <a:schemeClr val="bg2"/>
                </a:solidFill>
                <a:latin typeface="Times New Roman" pitchFamily="18" charset="0"/>
              </a:endParaRPr>
            </a:p>
          </p:txBody>
        </p:sp>
        <p:grpSp>
          <p:nvGrpSpPr>
            <p:cNvPr id="662546" name="Group 18"/>
            <p:cNvGrpSpPr>
              <a:grpSpLocks/>
            </p:cNvGrpSpPr>
            <p:nvPr/>
          </p:nvGrpSpPr>
          <p:grpSpPr bwMode="auto">
            <a:xfrm>
              <a:off x="930" y="2505"/>
              <a:ext cx="3360" cy="1152"/>
              <a:chOff x="864" y="2736"/>
              <a:chExt cx="3360" cy="1152"/>
            </a:xfrm>
          </p:grpSpPr>
          <p:sp>
            <p:nvSpPr>
              <p:cNvPr id="662547" name="Text Box 19"/>
              <p:cNvSpPr txBox="1">
                <a:spLocks noChangeArrowheads="1"/>
              </p:cNvSpPr>
              <p:nvPr/>
            </p:nvSpPr>
            <p:spPr bwMode="auto">
              <a:xfrm>
                <a:off x="2784" y="2784"/>
                <a:ext cx="672"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a:t>
                </a:r>
              </a:p>
              <a:p>
                <a:pPr algn="just" eaLnBrk="0" hangingPunct="0">
                  <a:lnSpc>
                    <a:spcPct val="100000"/>
                  </a:lnSpc>
                  <a:spcBef>
                    <a:spcPct val="50000"/>
                  </a:spcBef>
                </a:pPr>
                <a:r>
                  <a:rPr lang="en-US" altLang="zh-CN" baseline="3000">
                    <a:solidFill>
                      <a:schemeClr val="bg2"/>
                    </a:solidFill>
                    <a:latin typeface="宋体" pitchFamily="2" charset="-122"/>
                  </a:rPr>
                  <a:t>  </a:t>
                </a:r>
                <a:r>
                  <a:rPr lang="en-US" altLang="zh-CN" baseline="1000">
                    <a:solidFill>
                      <a:schemeClr val="bg2"/>
                    </a:solidFill>
                    <a:latin typeface="宋体" pitchFamily="2" charset="-122"/>
                  </a:rPr>
                  <a:t>F1</a:t>
                </a:r>
              </a:p>
            </p:txBody>
          </p:sp>
          <p:sp>
            <p:nvSpPr>
              <p:cNvPr id="662548" name="Text Box 20"/>
              <p:cNvSpPr txBox="1">
                <a:spLocks noChangeArrowheads="1"/>
              </p:cNvSpPr>
              <p:nvPr/>
            </p:nvSpPr>
            <p:spPr bwMode="auto">
              <a:xfrm>
                <a:off x="864" y="2773"/>
                <a:ext cx="672"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a:t>
                </a:r>
              </a:p>
              <a:p>
                <a:pPr algn="just" eaLnBrk="0" hangingPunct="0">
                  <a:lnSpc>
                    <a:spcPct val="100000"/>
                  </a:lnSpc>
                  <a:spcBef>
                    <a:spcPct val="50000"/>
                  </a:spcBef>
                </a:pPr>
                <a:r>
                  <a:rPr lang="en-US" altLang="zh-CN" baseline="3000">
                    <a:solidFill>
                      <a:schemeClr val="bg2"/>
                    </a:solidFill>
                    <a:latin typeface="宋体" pitchFamily="2" charset="-122"/>
                  </a:rPr>
                  <a:t>  </a:t>
                </a:r>
                <a:r>
                  <a:rPr lang="en-US" altLang="zh-CN" baseline="1000">
                    <a:solidFill>
                      <a:schemeClr val="bg2"/>
                    </a:solidFill>
                    <a:latin typeface="宋体" pitchFamily="2" charset="-122"/>
                  </a:rPr>
                  <a:t>F1</a:t>
                </a:r>
              </a:p>
            </p:txBody>
          </p:sp>
          <p:sp>
            <p:nvSpPr>
              <p:cNvPr id="662549" name="Text Box 21"/>
              <p:cNvSpPr txBox="1">
                <a:spLocks noChangeArrowheads="1"/>
              </p:cNvSpPr>
              <p:nvPr/>
            </p:nvSpPr>
            <p:spPr bwMode="auto">
              <a:xfrm>
                <a:off x="3552" y="2784"/>
                <a:ext cx="672"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a:t>
                </a:r>
              </a:p>
              <a:p>
                <a:pPr algn="just" eaLnBrk="0" hangingPunct="0">
                  <a:lnSpc>
                    <a:spcPct val="100000"/>
                  </a:lnSpc>
                  <a:spcBef>
                    <a:spcPct val="50000"/>
                  </a:spcBef>
                </a:pPr>
                <a:r>
                  <a:rPr lang="en-US" altLang="zh-CN" baseline="3000">
                    <a:solidFill>
                      <a:schemeClr val="bg2"/>
                    </a:solidFill>
                    <a:latin typeface="宋体" pitchFamily="2" charset="-122"/>
                  </a:rPr>
                  <a:t>  </a:t>
                </a:r>
                <a:r>
                  <a:rPr lang="en-US" altLang="zh-CN" baseline="1000">
                    <a:solidFill>
                      <a:schemeClr val="bg2"/>
                    </a:solidFill>
                    <a:latin typeface="宋体" pitchFamily="2" charset="-122"/>
                  </a:rPr>
                  <a:t>F2</a:t>
                </a:r>
              </a:p>
            </p:txBody>
          </p:sp>
          <p:sp>
            <p:nvSpPr>
              <p:cNvPr id="662550" name="Text Box 22"/>
              <p:cNvSpPr txBox="1">
                <a:spLocks noChangeArrowheads="1"/>
              </p:cNvSpPr>
              <p:nvPr/>
            </p:nvSpPr>
            <p:spPr bwMode="auto">
              <a:xfrm>
                <a:off x="1680" y="2736"/>
                <a:ext cx="672"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a:t>
                </a:r>
              </a:p>
              <a:p>
                <a:pPr algn="just" eaLnBrk="0" hangingPunct="0">
                  <a:lnSpc>
                    <a:spcPct val="100000"/>
                  </a:lnSpc>
                  <a:spcBef>
                    <a:spcPct val="50000"/>
                  </a:spcBef>
                </a:pPr>
                <a:r>
                  <a:rPr lang="en-US" altLang="zh-CN" baseline="3000">
                    <a:solidFill>
                      <a:schemeClr val="bg2"/>
                    </a:solidFill>
                    <a:latin typeface="宋体" pitchFamily="2" charset="-122"/>
                  </a:rPr>
                  <a:t>  </a:t>
                </a:r>
                <a:r>
                  <a:rPr lang="en-US" altLang="zh-CN" baseline="1000">
                    <a:solidFill>
                      <a:schemeClr val="bg2"/>
                    </a:solidFill>
                    <a:latin typeface="宋体" pitchFamily="2" charset="-122"/>
                  </a:rPr>
                  <a:t>F2</a:t>
                </a:r>
              </a:p>
            </p:txBody>
          </p:sp>
          <p:sp>
            <p:nvSpPr>
              <p:cNvPr id="662551" name="Text Box 23"/>
              <p:cNvSpPr txBox="1">
                <a:spLocks noChangeArrowheads="1"/>
              </p:cNvSpPr>
              <p:nvPr/>
            </p:nvSpPr>
            <p:spPr bwMode="auto">
              <a:xfrm>
                <a:off x="3552" y="3216"/>
                <a:ext cx="528"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 </a:t>
                </a:r>
              </a:p>
              <a:p>
                <a:pPr algn="just" eaLnBrk="0" hangingPunct="0">
                  <a:lnSpc>
                    <a:spcPct val="100000"/>
                  </a:lnSpc>
                  <a:spcBef>
                    <a:spcPct val="50000"/>
                  </a:spcBef>
                </a:pPr>
                <a:endParaRPr lang="en-US" altLang="zh-CN" baseline="1000">
                  <a:solidFill>
                    <a:schemeClr val="bg2"/>
                  </a:solidFill>
                  <a:latin typeface="宋体" pitchFamily="2" charset="-122"/>
                </a:endParaRPr>
              </a:p>
            </p:txBody>
          </p:sp>
          <p:sp>
            <p:nvSpPr>
              <p:cNvPr id="662552" name="Text Box 24"/>
              <p:cNvSpPr txBox="1">
                <a:spLocks noChangeArrowheads="1"/>
              </p:cNvSpPr>
              <p:nvPr/>
            </p:nvSpPr>
            <p:spPr bwMode="auto">
              <a:xfrm>
                <a:off x="2784" y="3216"/>
                <a:ext cx="528"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 </a:t>
                </a:r>
              </a:p>
              <a:p>
                <a:pPr algn="just" eaLnBrk="0" hangingPunct="0">
                  <a:lnSpc>
                    <a:spcPct val="100000"/>
                  </a:lnSpc>
                  <a:spcBef>
                    <a:spcPct val="50000"/>
                  </a:spcBef>
                </a:pPr>
                <a:endParaRPr lang="en-US" altLang="zh-CN" baseline="1000">
                  <a:solidFill>
                    <a:schemeClr val="bg2"/>
                  </a:solidFill>
                  <a:latin typeface="宋体" pitchFamily="2" charset="-122"/>
                </a:endParaRPr>
              </a:p>
            </p:txBody>
          </p:sp>
          <p:sp>
            <p:nvSpPr>
              <p:cNvPr id="662553" name="Text Box 25"/>
              <p:cNvSpPr txBox="1">
                <a:spLocks noChangeArrowheads="1"/>
              </p:cNvSpPr>
              <p:nvPr/>
            </p:nvSpPr>
            <p:spPr bwMode="auto">
              <a:xfrm>
                <a:off x="1728" y="3253"/>
                <a:ext cx="528"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 </a:t>
                </a:r>
              </a:p>
              <a:p>
                <a:pPr algn="just" eaLnBrk="0" hangingPunct="0">
                  <a:lnSpc>
                    <a:spcPct val="100000"/>
                  </a:lnSpc>
                  <a:spcBef>
                    <a:spcPct val="50000"/>
                  </a:spcBef>
                </a:pPr>
                <a:endParaRPr lang="en-US" altLang="zh-CN" baseline="1000">
                  <a:solidFill>
                    <a:schemeClr val="bg2"/>
                  </a:solidFill>
                  <a:latin typeface="宋体" pitchFamily="2" charset="-122"/>
                </a:endParaRPr>
              </a:p>
            </p:txBody>
          </p:sp>
          <p:sp>
            <p:nvSpPr>
              <p:cNvPr id="662554" name="Text Box 26"/>
              <p:cNvSpPr txBox="1">
                <a:spLocks noChangeArrowheads="1"/>
              </p:cNvSpPr>
              <p:nvPr/>
            </p:nvSpPr>
            <p:spPr bwMode="auto">
              <a:xfrm>
                <a:off x="864" y="3216"/>
                <a:ext cx="528"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a:t>
                </a:r>
                <a:r>
                  <a:rPr lang="en-US" altLang="zh-CN" sz="5400" baseline="-35000"/>
                  <a:t> </a:t>
                </a:r>
              </a:p>
              <a:p>
                <a:pPr algn="just" eaLnBrk="0" hangingPunct="0">
                  <a:lnSpc>
                    <a:spcPct val="100000"/>
                  </a:lnSpc>
                  <a:spcBef>
                    <a:spcPct val="50000"/>
                  </a:spcBef>
                </a:pPr>
                <a:endParaRPr lang="en-US" altLang="zh-CN" baseline="1000">
                  <a:latin typeface="宋体" pitchFamily="2" charset="-122"/>
                </a:endParaRPr>
              </a:p>
            </p:txBody>
          </p:sp>
        </p:gr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662557"/>
                                        </p:tgtEl>
                                        <p:attrNameLst>
                                          <p:attrName>style.visibility</p:attrName>
                                        </p:attrNameLst>
                                      </p:cBhvr>
                                      <p:to>
                                        <p:strVal val="visible"/>
                                      </p:to>
                                    </p:set>
                                    <p:animEffect transition="in" filter="blinds(horizontal)">
                                      <p:cBhvr>
                                        <p:cTn id="7" dur="500"/>
                                        <p:tgtEl>
                                          <p:spTgt spid="66255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7170" name="Rectangle 2"/>
          <p:cNvSpPr>
            <a:spLocks noChangeArrowheads="1"/>
          </p:cNvSpPr>
          <p:nvPr/>
        </p:nvSpPr>
        <p:spPr bwMode="auto">
          <a:xfrm>
            <a:off x="152400" y="0"/>
            <a:ext cx="9144000" cy="26479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pPr>
            <a:r>
              <a:rPr lang="en-US" altLang="zh-CN" sz="2400" b="1" dirty="0">
                <a:solidFill>
                  <a:srgbClr val="660033"/>
                </a:solidFill>
              </a:rPr>
              <a:t>  3. </a:t>
            </a:r>
            <a:r>
              <a:rPr lang="zh-CN" altLang="en-US" sz="2400" b="1" dirty="0">
                <a:solidFill>
                  <a:srgbClr val="660033"/>
                </a:solidFill>
              </a:rPr>
              <a:t>投影的串接</a:t>
            </a:r>
          </a:p>
          <a:p>
            <a:pPr>
              <a:lnSpc>
                <a:spcPct val="200000"/>
              </a:lnSpc>
            </a:pPr>
            <a:r>
              <a:rPr lang="zh-CN" altLang="en-US" sz="2400" b="1" dirty="0">
                <a:solidFill>
                  <a:schemeClr val="bg2"/>
                </a:solidFill>
              </a:rPr>
              <a:t>  设</a:t>
            </a:r>
            <a:r>
              <a:rPr lang="en-US" altLang="zh-CN" sz="2400" b="1" dirty="0">
                <a:solidFill>
                  <a:schemeClr val="bg2"/>
                </a:solidFill>
              </a:rPr>
              <a:t>L1</a:t>
            </a:r>
            <a:r>
              <a:rPr lang="zh-CN" altLang="en-US" sz="2400" b="1" dirty="0">
                <a:solidFill>
                  <a:schemeClr val="bg2"/>
                </a:solidFill>
              </a:rPr>
              <a:t>，</a:t>
            </a:r>
            <a:r>
              <a:rPr lang="en-US" altLang="zh-CN" sz="2400" b="1" dirty="0">
                <a:solidFill>
                  <a:schemeClr val="bg2"/>
                </a:solidFill>
              </a:rPr>
              <a:t>L2</a:t>
            </a:r>
            <a:r>
              <a:rPr lang="zh-CN" altLang="en-US" sz="2400" b="1" dirty="0">
                <a:solidFill>
                  <a:schemeClr val="bg2"/>
                </a:solidFill>
              </a:rPr>
              <a:t>，</a:t>
            </a:r>
            <a:r>
              <a:rPr lang="en-US" altLang="zh-CN" sz="2400" b="1" dirty="0">
                <a:solidFill>
                  <a:schemeClr val="bg2"/>
                </a:solidFill>
                <a:latin typeface="Times New Roman"/>
              </a:rPr>
              <a:t>…</a:t>
            </a:r>
            <a:r>
              <a:rPr lang="zh-CN" altLang="en-US" sz="2400" b="1" dirty="0">
                <a:solidFill>
                  <a:schemeClr val="bg2"/>
                </a:solidFill>
              </a:rPr>
              <a:t>，</a:t>
            </a:r>
            <a:r>
              <a:rPr lang="en-US" altLang="zh-CN" sz="2400" b="1" dirty="0">
                <a:solidFill>
                  <a:schemeClr val="bg2"/>
                </a:solidFill>
              </a:rPr>
              <a:t>Ln</a:t>
            </a:r>
            <a:r>
              <a:rPr lang="zh-CN" altLang="en-US" sz="2400" b="1" dirty="0">
                <a:solidFill>
                  <a:schemeClr val="bg2"/>
                </a:solidFill>
              </a:rPr>
              <a:t>为属性集，并且</a:t>
            </a:r>
            <a:r>
              <a:rPr lang="en-US" altLang="zh-CN" sz="2400" b="1" dirty="0">
                <a:solidFill>
                  <a:schemeClr val="bg2"/>
                </a:solidFill>
              </a:rPr>
              <a:t>L1</a:t>
            </a:r>
            <a:r>
              <a:rPr lang="en-US" altLang="zh-CN" sz="2400" b="1" dirty="0">
                <a:solidFill>
                  <a:schemeClr val="bg2"/>
                </a:solidFill>
                <a:sym typeface="Symbol" pitchFamily="18" charset="2"/>
              </a:rPr>
              <a:t></a:t>
            </a:r>
            <a:r>
              <a:rPr lang="en-US" altLang="zh-CN" sz="2400" b="1" dirty="0">
                <a:solidFill>
                  <a:schemeClr val="bg2"/>
                </a:solidFill>
              </a:rPr>
              <a:t>L2</a:t>
            </a:r>
            <a:r>
              <a:rPr lang="en-US" altLang="zh-CN" sz="2400" b="1" dirty="0">
                <a:solidFill>
                  <a:schemeClr val="bg2"/>
                </a:solidFill>
                <a:sym typeface="Symbol" pitchFamily="18" charset="2"/>
              </a:rPr>
              <a:t></a:t>
            </a:r>
            <a:r>
              <a:rPr lang="en-US" altLang="zh-CN" sz="2400" b="1" dirty="0">
                <a:solidFill>
                  <a:schemeClr val="bg2"/>
                </a:solidFill>
                <a:latin typeface="Times New Roman"/>
              </a:rPr>
              <a:t>…</a:t>
            </a:r>
            <a:r>
              <a:rPr lang="en-US" altLang="zh-CN" sz="2400" b="1" dirty="0">
                <a:solidFill>
                  <a:schemeClr val="bg2"/>
                </a:solidFill>
                <a:sym typeface="Symbol" pitchFamily="18" charset="2"/>
              </a:rPr>
              <a:t></a:t>
            </a:r>
            <a:r>
              <a:rPr lang="en-US" altLang="zh-CN" sz="2400" b="1" dirty="0">
                <a:solidFill>
                  <a:schemeClr val="bg2"/>
                </a:solidFill>
              </a:rPr>
              <a:t>Ln</a:t>
            </a:r>
            <a:r>
              <a:rPr lang="zh-CN" altLang="en-US" sz="2400" b="1" dirty="0">
                <a:solidFill>
                  <a:schemeClr val="bg2"/>
                </a:solidFill>
              </a:rPr>
              <a:t>， 成立：</a:t>
            </a:r>
          </a:p>
          <a:p>
            <a:pPr>
              <a:lnSpc>
                <a:spcPct val="200000"/>
              </a:lnSpc>
            </a:pPr>
            <a:r>
              <a:rPr lang="zh-CN" altLang="en-US" sz="2400" b="1" dirty="0">
                <a:solidFill>
                  <a:schemeClr val="bg2"/>
                </a:solidFill>
              </a:rPr>
              <a:t>  </a:t>
            </a:r>
            <a:r>
              <a:rPr lang="en-US" altLang="zh-CN" sz="2400" b="1" dirty="0">
                <a:solidFill>
                  <a:schemeClr val="bg2"/>
                </a:solidFill>
              </a:rPr>
              <a:t>π</a:t>
            </a:r>
            <a:r>
              <a:rPr lang="en-US" altLang="zh-CN" sz="2400" b="1" baseline="-25000" dirty="0">
                <a:solidFill>
                  <a:schemeClr val="bg2"/>
                </a:solidFill>
              </a:rPr>
              <a:t>L1</a:t>
            </a:r>
            <a:r>
              <a:rPr lang="zh-CN" altLang="en-US" sz="2400" b="1" dirty="0">
                <a:solidFill>
                  <a:schemeClr val="bg2"/>
                </a:solidFill>
              </a:rPr>
              <a:t>（</a:t>
            </a:r>
            <a:r>
              <a:rPr lang="en-US" altLang="zh-CN" sz="2400" b="1" dirty="0">
                <a:solidFill>
                  <a:schemeClr val="bg2"/>
                </a:solidFill>
              </a:rPr>
              <a:t>π</a:t>
            </a:r>
            <a:r>
              <a:rPr lang="en-US" altLang="zh-CN" sz="2400" b="1" baseline="-25000" dirty="0">
                <a:solidFill>
                  <a:schemeClr val="bg2"/>
                </a:solidFill>
              </a:rPr>
              <a:t>L2</a:t>
            </a:r>
            <a:r>
              <a:rPr lang="zh-CN" altLang="en-US" sz="2400" b="1" dirty="0">
                <a:solidFill>
                  <a:schemeClr val="bg2"/>
                </a:solidFill>
              </a:rPr>
              <a:t>（</a:t>
            </a:r>
            <a:r>
              <a:rPr lang="en-US" altLang="zh-CN" sz="2400" b="1" dirty="0">
                <a:solidFill>
                  <a:schemeClr val="bg2"/>
                </a:solidFill>
                <a:latin typeface="Times New Roman"/>
              </a:rPr>
              <a:t>…</a:t>
            </a:r>
            <a:r>
              <a:rPr lang="zh-CN" altLang="en-US" sz="2400" b="1" dirty="0">
                <a:solidFill>
                  <a:schemeClr val="bg2"/>
                </a:solidFill>
              </a:rPr>
              <a:t>（</a:t>
            </a:r>
            <a:r>
              <a:rPr lang="en-US" altLang="zh-CN" sz="2400" b="1" dirty="0">
                <a:solidFill>
                  <a:schemeClr val="bg2"/>
                </a:solidFill>
              </a:rPr>
              <a:t>π</a:t>
            </a:r>
            <a:r>
              <a:rPr lang="en-US" altLang="zh-CN" sz="2400" b="1" baseline="-25000" dirty="0">
                <a:solidFill>
                  <a:schemeClr val="bg2"/>
                </a:solidFill>
              </a:rPr>
              <a:t>Ln</a:t>
            </a:r>
            <a:r>
              <a:rPr lang="zh-CN" altLang="en-US" sz="2400" b="1" dirty="0">
                <a:solidFill>
                  <a:schemeClr val="bg2"/>
                </a:solidFill>
              </a:rPr>
              <a:t>（</a:t>
            </a:r>
            <a:r>
              <a:rPr lang="en-US" altLang="zh-CN" sz="2400" b="1" dirty="0">
                <a:solidFill>
                  <a:schemeClr val="bg2"/>
                </a:solidFill>
              </a:rPr>
              <a:t>E</a:t>
            </a:r>
            <a:r>
              <a:rPr lang="zh-CN" altLang="en-US" sz="2400" b="1" dirty="0">
                <a:solidFill>
                  <a:schemeClr val="bg2"/>
                </a:solidFill>
              </a:rPr>
              <a:t>））</a:t>
            </a:r>
            <a:r>
              <a:rPr lang="en-US" altLang="zh-CN" sz="2400" b="1" dirty="0">
                <a:solidFill>
                  <a:schemeClr val="bg2"/>
                </a:solidFill>
                <a:latin typeface="Times New Roman"/>
              </a:rPr>
              <a:t>…</a:t>
            </a:r>
            <a:r>
              <a:rPr lang="zh-CN" altLang="en-US" sz="2400" b="1" dirty="0">
                <a:solidFill>
                  <a:schemeClr val="bg2"/>
                </a:solidFill>
              </a:rPr>
              <a:t>））≡</a:t>
            </a:r>
            <a:r>
              <a:rPr lang="en-US" altLang="zh-CN" sz="2400" b="1" dirty="0">
                <a:solidFill>
                  <a:schemeClr val="bg2"/>
                </a:solidFill>
              </a:rPr>
              <a:t>π</a:t>
            </a:r>
            <a:r>
              <a:rPr lang="en-US" altLang="zh-CN" sz="2400" b="1" baseline="-25000" dirty="0">
                <a:solidFill>
                  <a:schemeClr val="bg2"/>
                </a:solidFill>
              </a:rPr>
              <a:t>L1</a:t>
            </a:r>
            <a:r>
              <a:rPr lang="zh-CN" altLang="en-US" sz="2400" b="1" dirty="0">
                <a:solidFill>
                  <a:schemeClr val="bg2"/>
                </a:solidFill>
              </a:rPr>
              <a:t>（</a:t>
            </a:r>
            <a:r>
              <a:rPr lang="en-US" altLang="zh-CN" sz="2400" b="1" dirty="0">
                <a:solidFill>
                  <a:schemeClr val="bg2"/>
                </a:solidFill>
              </a:rPr>
              <a:t>E</a:t>
            </a:r>
            <a:r>
              <a:rPr lang="zh-CN" altLang="en-US" sz="2400" b="1" dirty="0">
                <a:solidFill>
                  <a:schemeClr val="bg2"/>
                </a:solidFill>
              </a:rPr>
              <a:t>）</a:t>
            </a:r>
          </a:p>
        </p:txBody>
      </p:sp>
      <p:sp>
        <p:nvSpPr>
          <p:cNvPr id="647171" name="Rectangle 3"/>
          <p:cNvSpPr>
            <a:spLocks noChangeArrowheads="1"/>
          </p:cNvSpPr>
          <p:nvPr/>
        </p:nvSpPr>
        <p:spPr bwMode="auto">
          <a:xfrm>
            <a:off x="381000" y="2971800"/>
            <a:ext cx="8915400" cy="35607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pPr>
            <a:r>
              <a:rPr lang="en-US" altLang="zh-CN" sz="2400" b="1" dirty="0">
                <a:solidFill>
                  <a:srgbClr val="660033"/>
                </a:solidFill>
              </a:rPr>
              <a:t>4</a:t>
            </a:r>
            <a:r>
              <a:rPr lang="zh-CN" altLang="en-US" sz="2400" b="1" dirty="0">
                <a:solidFill>
                  <a:srgbClr val="660033"/>
                </a:solidFill>
              </a:rPr>
              <a:t>．</a:t>
            </a:r>
            <a:r>
              <a:rPr lang="zh-CN" altLang="en-US" sz="2400" b="1" dirty="0">
                <a:solidFill>
                  <a:srgbClr val="660033"/>
                </a:solidFill>
                <a:latin typeface="Times New Roman" pitchFamily="18" charset="0"/>
                <a:cs typeface="Times New Roman" pitchFamily="18" charset="0"/>
              </a:rPr>
              <a:t> </a:t>
            </a:r>
            <a:r>
              <a:rPr lang="zh-CN" altLang="en-US" sz="2400" b="1" dirty="0">
                <a:solidFill>
                  <a:srgbClr val="660033"/>
                </a:solidFill>
              </a:rPr>
              <a:t>选择的串接</a:t>
            </a:r>
          </a:p>
          <a:p>
            <a:pPr>
              <a:lnSpc>
                <a:spcPct val="200000"/>
              </a:lnSpc>
            </a:pPr>
            <a:r>
              <a:rPr lang="zh-CN" altLang="en-US" sz="2400" b="1" dirty="0">
                <a:solidFill>
                  <a:schemeClr val="bg2"/>
                </a:solidFill>
                <a:latin typeface="Times New Roman"/>
              </a:rPr>
              <a:t> </a:t>
            </a:r>
            <a:r>
              <a:rPr lang="zh-CN" altLang="en-US" sz="2400" b="1" dirty="0">
                <a:solidFill>
                  <a:schemeClr val="bg2"/>
                </a:solidFill>
              </a:rPr>
              <a:t>     </a:t>
            </a:r>
            <a:r>
              <a:rPr lang="en-US" altLang="zh-CN" sz="2400" b="1" dirty="0">
                <a:solidFill>
                  <a:schemeClr val="bg2"/>
                </a:solidFill>
              </a:rPr>
              <a:t>σ</a:t>
            </a:r>
            <a:r>
              <a:rPr lang="en-US" altLang="zh-CN" sz="2400" b="1" baseline="-25000" dirty="0">
                <a:solidFill>
                  <a:schemeClr val="bg2"/>
                </a:solidFill>
              </a:rPr>
              <a:t>F1</a:t>
            </a:r>
            <a:r>
              <a:rPr lang="zh-CN" altLang="en-US" sz="2400" b="1" dirty="0">
                <a:solidFill>
                  <a:schemeClr val="bg2"/>
                </a:solidFill>
              </a:rPr>
              <a:t>（</a:t>
            </a:r>
            <a:r>
              <a:rPr lang="en-US" altLang="zh-CN" sz="2400" b="1" dirty="0">
                <a:solidFill>
                  <a:schemeClr val="bg2"/>
                </a:solidFill>
              </a:rPr>
              <a:t>σ</a:t>
            </a:r>
            <a:r>
              <a:rPr lang="en-US" altLang="zh-CN" sz="2400" b="1" baseline="-25000" dirty="0">
                <a:solidFill>
                  <a:schemeClr val="bg2"/>
                </a:solidFill>
              </a:rPr>
              <a:t>F2</a:t>
            </a:r>
            <a:r>
              <a:rPr lang="zh-CN" altLang="en-US" sz="2400" b="1" dirty="0">
                <a:solidFill>
                  <a:schemeClr val="bg2"/>
                </a:solidFill>
              </a:rPr>
              <a:t>（</a:t>
            </a:r>
            <a:r>
              <a:rPr lang="en-US" altLang="zh-CN" sz="2400" b="1" dirty="0">
                <a:solidFill>
                  <a:schemeClr val="bg2"/>
                </a:solidFill>
              </a:rPr>
              <a:t>E</a:t>
            </a:r>
            <a:r>
              <a:rPr lang="zh-CN" altLang="en-US" sz="2400" b="1" dirty="0">
                <a:solidFill>
                  <a:schemeClr val="bg2"/>
                </a:solidFill>
              </a:rPr>
              <a:t>））≡</a:t>
            </a:r>
            <a:r>
              <a:rPr lang="en-US" altLang="zh-CN" sz="2400" b="1" dirty="0">
                <a:solidFill>
                  <a:schemeClr val="bg2"/>
                </a:solidFill>
              </a:rPr>
              <a:t>σ</a:t>
            </a:r>
            <a:r>
              <a:rPr lang="en-US" altLang="zh-CN" sz="2400" b="1" baseline="-25000" dirty="0">
                <a:solidFill>
                  <a:schemeClr val="bg2"/>
                </a:solidFill>
              </a:rPr>
              <a:t>F1∧ F2</a:t>
            </a:r>
            <a:r>
              <a:rPr lang="zh-CN" altLang="en-US" sz="2400" b="1" dirty="0">
                <a:solidFill>
                  <a:schemeClr val="bg2"/>
                </a:solidFill>
              </a:rPr>
              <a:t>（</a:t>
            </a:r>
            <a:r>
              <a:rPr lang="en-US" altLang="zh-CN" sz="2400" b="1" dirty="0">
                <a:solidFill>
                  <a:schemeClr val="bg2"/>
                </a:solidFill>
              </a:rPr>
              <a:t>E</a:t>
            </a:r>
            <a:r>
              <a:rPr lang="zh-CN" altLang="en-US" sz="2400" b="1" dirty="0">
                <a:solidFill>
                  <a:schemeClr val="bg2"/>
                </a:solidFill>
              </a:rPr>
              <a:t>）</a:t>
            </a:r>
          </a:p>
          <a:p>
            <a:pPr>
              <a:lnSpc>
                <a:spcPct val="200000"/>
              </a:lnSpc>
            </a:pPr>
            <a:r>
              <a:rPr lang="zh-CN" altLang="en-US" sz="2400" b="1" dirty="0">
                <a:solidFill>
                  <a:schemeClr val="bg2"/>
                </a:solidFill>
              </a:rPr>
              <a:t>  由于</a:t>
            </a:r>
            <a:r>
              <a:rPr lang="en-US" altLang="zh-CN" sz="2400" b="1" dirty="0">
                <a:solidFill>
                  <a:schemeClr val="bg2"/>
                </a:solidFill>
              </a:rPr>
              <a:t>F1∧ F2 = F2∧ F1</a:t>
            </a:r>
            <a:r>
              <a:rPr lang="zh-CN" altLang="en-US" sz="2400" b="1" dirty="0">
                <a:solidFill>
                  <a:schemeClr val="bg2"/>
                </a:solidFill>
              </a:rPr>
              <a:t>，选择的交换律也成立：</a:t>
            </a:r>
          </a:p>
          <a:p>
            <a:pPr>
              <a:lnSpc>
                <a:spcPct val="200000"/>
              </a:lnSpc>
            </a:pPr>
            <a:r>
              <a:rPr lang="zh-CN" altLang="en-US" sz="2400" b="1" dirty="0">
                <a:solidFill>
                  <a:schemeClr val="bg2"/>
                </a:solidFill>
                <a:cs typeface="Times New Roman" pitchFamily="18" charset="0"/>
              </a:rPr>
              <a:t>     </a:t>
            </a:r>
            <a:r>
              <a:rPr lang="en-US" altLang="zh-CN" sz="2400" b="1" dirty="0">
                <a:solidFill>
                  <a:schemeClr val="bg2"/>
                </a:solidFill>
              </a:rPr>
              <a:t>σ</a:t>
            </a:r>
            <a:r>
              <a:rPr lang="en-US" altLang="zh-CN" sz="2400" b="1" baseline="-25000" dirty="0">
                <a:solidFill>
                  <a:schemeClr val="bg2"/>
                </a:solidFill>
              </a:rPr>
              <a:t>F1</a:t>
            </a:r>
            <a:r>
              <a:rPr lang="zh-CN" altLang="en-US" sz="2400" b="1" dirty="0">
                <a:solidFill>
                  <a:schemeClr val="bg2"/>
                </a:solidFill>
              </a:rPr>
              <a:t>（</a:t>
            </a:r>
            <a:r>
              <a:rPr lang="en-US" altLang="zh-CN" sz="2400" b="1" dirty="0">
                <a:solidFill>
                  <a:schemeClr val="bg2"/>
                </a:solidFill>
              </a:rPr>
              <a:t>σ</a:t>
            </a:r>
            <a:r>
              <a:rPr lang="en-US" altLang="zh-CN" sz="2400" b="1" baseline="-25000" dirty="0">
                <a:solidFill>
                  <a:schemeClr val="bg2"/>
                </a:solidFill>
              </a:rPr>
              <a:t>F2</a:t>
            </a:r>
            <a:r>
              <a:rPr lang="zh-CN" altLang="en-US" sz="2400" b="1" dirty="0">
                <a:solidFill>
                  <a:schemeClr val="bg2"/>
                </a:solidFill>
              </a:rPr>
              <a:t>（</a:t>
            </a:r>
            <a:r>
              <a:rPr lang="en-US" altLang="zh-CN" sz="2400" b="1" dirty="0">
                <a:solidFill>
                  <a:schemeClr val="bg2"/>
                </a:solidFill>
              </a:rPr>
              <a:t>E</a:t>
            </a:r>
            <a:r>
              <a:rPr lang="zh-CN" altLang="en-US" sz="2400" b="1" dirty="0">
                <a:solidFill>
                  <a:schemeClr val="bg2"/>
                </a:solidFill>
              </a:rPr>
              <a:t>））≡</a:t>
            </a:r>
            <a:r>
              <a:rPr lang="en-US" altLang="zh-CN" sz="2400" b="1" dirty="0">
                <a:solidFill>
                  <a:schemeClr val="bg2"/>
                </a:solidFill>
              </a:rPr>
              <a:t>σ</a:t>
            </a:r>
            <a:r>
              <a:rPr lang="en-US" altLang="zh-CN" sz="2400" b="1" baseline="-25000" dirty="0">
                <a:solidFill>
                  <a:schemeClr val="bg2"/>
                </a:solidFill>
              </a:rPr>
              <a:t>F2</a:t>
            </a:r>
            <a:r>
              <a:rPr lang="zh-CN" altLang="en-US" sz="2400" b="1" dirty="0">
                <a:solidFill>
                  <a:schemeClr val="bg2"/>
                </a:solidFill>
              </a:rPr>
              <a:t>（</a:t>
            </a:r>
            <a:r>
              <a:rPr lang="en-US" altLang="zh-CN" sz="2400" b="1" dirty="0">
                <a:solidFill>
                  <a:schemeClr val="bg2"/>
                </a:solidFill>
              </a:rPr>
              <a:t>σ</a:t>
            </a:r>
            <a:r>
              <a:rPr lang="en-US" altLang="zh-CN" sz="2400" b="1" baseline="-25000" dirty="0">
                <a:solidFill>
                  <a:schemeClr val="bg2"/>
                </a:solidFill>
              </a:rPr>
              <a:t>F1</a:t>
            </a:r>
            <a:r>
              <a:rPr lang="zh-CN" altLang="en-US" sz="2400" b="1" dirty="0">
                <a:solidFill>
                  <a:schemeClr val="bg2"/>
                </a:solidFill>
              </a:rPr>
              <a:t>（</a:t>
            </a:r>
            <a:r>
              <a:rPr lang="en-US" altLang="zh-CN" sz="2400" b="1" dirty="0">
                <a:solidFill>
                  <a:schemeClr val="bg2"/>
                </a:solidFill>
              </a:rPr>
              <a:t>E</a:t>
            </a:r>
            <a:r>
              <a:rPr lang="zh-CN" altLang="en-US" sz="2400" b="1" dirty="0">
                <a:solidFill>
                  <a:schemeClr val="bg2"/>
                </a:solidFill>
              </a:rPr>
              <a:t>））</a:t>
            </a:r>
            <a:r>
              <a:rPr lang="zh-CN" altLang="en-US" sz="2400" b="1" dirty="0">
                <a:solidFill>
                  <a:schemeClr val="bg2"/>
                </a:solidFill>
                <a:latin typeface="Times New Roman"/>
              </a:rPr>
              <a:t> </a:t>
            </a:r>
            <a:endParaRPr lang="zh-CN" altLang="en-US" sz="2400" b="1" dirty="0">
              <a:solidFill>
                <a:schemeClr val="bg2"/>
              </a:solidFill>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7171"/>
                                        </p:tgtEl>
                                        <p:attrNameLst>
                                          <p:attrName>style.visibility</p:attrName>
                                        </p:attrNameLst>
                                      </p:cBhvr>
                                      <p:to>
                                        <p:strVal val="visible"/>
                                      </p:to>
                                    </p:set>
                                    <p:animEffect transition="in" filter="blinds(horizontal)">
                                      <p:cBhvr>
                                        <p:cTn id="7" dur="500"/>
                                        <p:tgtEl>
                                          <p:spTgt spid="6471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7171" grpId="0" autoUpdateAnimBg="0"/>
    </p:bld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8194" name="Rectangle 2"/>
          <p:cNvSpPr>
            <a:spLocks noChangeArrowheads="1"/>
          </p:cNvSpPr>
          <p:nvPr/>
        </p:nvSpPr>
        <p:spPr bwMode="auto">
          <a:xfrm>
            <a:off x="0" y="-100013"/>
            <a:ext cx="9396413" cy="34147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90000"/>
              </a:lnSpc>
            </a:pPr>
            <a:r>
              <a:rPr lang="en-US" altLang="zh-CN" sz="2400" b="1" dirty="0">
                <a:solidFill>
                  <a:srgbClr val="660033"/>
                </a:solidFill>
              </a:rPr>
              <a:t>    5</a:t>
            </a:r>
            <a:r>
              <a:rPr lang="zh-CN" altLang="en-US" sz="2400" b="1" dirty="0">
                <a:solidFill>
                  <a:srgbClr val="660033"/>
                </a:solidFill>
              </a:rPr>
              <a:t>．</a:t>
            </a:r>
            <a:r>
              <a:rPr lang="zh-CN" altLang="en-US" sz="2400" b="1" dirty="0">
                <a:solidFill>
                  <a:srgbClr val="660033"/>
                </a:solidFill>
                <a:latin typeface="Times New Roman" pitchFamily="18" charset="0"/>
                <a:cs typeface="Times New Roman" pitchFamily="18" charset="0"/>
              </a:rPr>
              <a:t> </a:t>
            </a:r>
            <a:r>
              <a:rPr lang="zh-CN" altLang="en-US" sz="2400" b="1" dirty="0">
                <a:solidFill>
                  <a:srgbClr val="660033"/>
                </a:solidFill>
              </a:rPr>
              <a:t>选择和投影操作的交换</a:t>
            </a:r>
          </a:p>
          <a:p>
            <a:pPr>
              <a:lnSpc>
                <a:spcPct val="190000"/>
              </a:lnSpc>
            </a:pPr>
            <a:r>
              <a:rPr lang="zh-CN" altLang="en-US" sz="2400" b="1" dirty="0">
                <a:solidFill>
                  <a:schemeClr val="bg2"/>
                </a:solidFill>
              </a:rPr>
              <a:t>     </a:t>
            </a:r>
            <a:r>
              <a:rPr lang="en-US" altLang="zh-CN" sz="2400" b="1" dirty="0">
                <a:solidFill>
                  <a:schemeClr val="bg2"/>
                </a:solidFill>
              </a:rPr>
              <a:t>π</a:t>
            </a:r>
            <a:r>
              <a:rPr lang="en-US" altLang="zh-CN" sz="2400" b="1" baseline="-25000" dirty="0">
                <a:solidFill>
                  <a:schemeClr val="bg2"/>
                </a:solidFill>
              </a:rPr>
              <a:t>L</a:t>
            </a:r>
            <a:r>
              <a:rPr lang="zh-CN" altLang="en-US" sz="2400" b="1" dirty="0">
                <a:solidFill>
                  <a:schemeClr val="bg2"/>
                </a:solidFill>
              </a:rPr>
              <a:t>（</a:t>
            </a:r>
            <a:r>
              <a:rPr lang="en-US" altLang="zh-CN" sz="2400" b="1" dirty="0" err="1">
                <a:solidFill>
                  <a:schemeClr val="bg2"/>
                </a:solidFill>
              </a:rPr>
              <a:t>σ</a:t>
            </a:r>
            <a:r>
              <a:rPr lang="en-US" altLang="zh-CN" sz="2400" b="1" baseline="-25000" dirty="0" err="1">
                <a:solidFill>
                  <a:schemeClr val="bg2"/>
                </a:solidFill>
              </a:rPr>
              <a:t>F</a:t>
            </a:r>
            <a:r>
              <a:rPr lang="zh-CN" altLang="en-US" sz="2400" b="1" dirty="0">
                <a:solidFill>
                  <a:schemeClr val="bg2"/>
                </a:solidFill>
              </a:rPr>
              <a:t>（</a:t>
            </a:r>
            <a:r>
              <a:rPr lang="en-US" altLang="zh-CN" sz="2400" b="1" dirty="0">
                <a:solidFill>
                  <a:schemeClr val="bg2"/>
                </a:solidFill>
              </a:rPr>
              <a:t>E</a:t>
            </a:r>
            <a:r>
              <a:rPr lang="zh-CN" altLang="en-US" sz="2400" b="1" dirty="0">
                <a:solidFill>
                  <a:schemeClr val="bg2"/>
                </a:solidFill>
              </a:rPr>
              <a:t>））≡</a:t>
            </a:r>
            <a:r>
              <a:rPr lang="en-US" altLang="zh-CN" sz="2400" b="1" dirty="0" err="1">
                <a:solidFill>
                  <a:schemeClr val="bg2"/>
                </a:solidFill>
              </a:rPr>
              <a:t>σ</a:t>
            </a:r>
            <a:r>
              <a:rPr lang="en-US" altLang="zh-CN" sz="2400" b="1" baseline="-25000" dirty="0" err="1">
                <a:solidFill>
                  <a:schemeClr val="bg2"/>
                </a:solidFill>
              </a:rPr>
              <a:t>F</a:t>
            </a:r>
            <a:r>
              <a:rPr lang="zh-CN" altLang="en-US" sz="2400" b="1" dirty="0">
                <a:solidFill>
                  <a:schemeClr val="bg2"/>
                </a:solidFill>
              </a:rPr>
              <a:t>（</a:t>
            </a:r>
            <a:r>
              <a:rPr lang="en-US" altLang="zh-CN" sz="2400" b="1" dirty="0">
                <a:solidFill>
                  <a:schemeClr val="bg2"/>
                </a:solidFill>
              </a:rPr>
              <a:t>π</a:t>
            </a:r>
            <a:r>
              <a:rPr lang="en-US" altLang="zh-CN" sz="2400" b="1" baseline="-25000" dirty="0">
                <a:solidFill>
                  <a:schemeClr val="bg2"/>
                </a:solidFill>
              </a:rPr>
              <a:t>L</a:t>
            </a:r>
            <a:r>
              <a:rPr lang="zh-CN" altLang="en-US" sz="2400" b="1" dirty="0">
                <a:solidFill>
                  <a:schemeClr val="bg2"/>
                </a:solidFill>
              </a:rPr>
              <a:t>（</a:t>
            </a:r>
            <a:r>
              <a:rPr lang="en-US" altLang="zh-CN" sz="2400" b="1" dirty="0">
                <a:solidFill>
                  <a:schemeClr val="bg2"/>
                </a:solidFill>
              </a:rPr>
              <a:t>E</a:t>
            </a:r>
            <a:r>
              <a:rPr lang="zh-CN" altLang="en-US" sz="2400" b="1" dirty="0">
                <a:solidFill>
                  <a:schemeClr val="bg2"/>
                </a:solidFill>
              </a:rPr>
              <a:t>））</a:t>
            </a:r>
          </a:p>
          <a:p>
            <a:pPr algn="l">
              <a:lnSpc>
                <a:spcPct val="190000"/>
              </a:lnSpc>
            </a:pPr>
            <a:r>
              <a:rPr lang="zh-CN" altLang="en-US" sz="2400" b="1" dirty="0">
                <a:solidFill>
                  <a:schemeClr val="bg2"/>
                </a:solidFill>
              </a:rPr>
              <a:t>要求条件</a:t>
            </a:r>
            <a:r>
              <a:rPr lang="en-US" altLang="zh-CN" sz="2400" b="1" dirty="0">
                <a:solidFill>
                  <a:schemeClr val="bg2"/>
                </a:solidFill>
              </a:rPr>
              <a:t>F</a:t>
            </a:r>
            <a:r>
              <a:rPr lang="zh-CN" altLang="en-US" sz="2400" b="1" dirty="0">
                <a:solidFill>
                  <a:schemeClr val="bg2"/>
                </a:solidFill>
              </a:rPr>
              <a:t>只涉及到</a:t>
            </a:r>
            <a:r>
              <a:rPr lang="en-US" altLang="zh-CN" sz="2400" b="1" dirty="0">
                <a:solidFill>
                  <a:schemeClr val="bg2"/>
                </a:solidFill>
              </a:rPr>
              <a:t>L</a:t>
            </a:r>
            <a:r>
              <a:rPr lang="zh-CN" altLang="en-US" sz="2400" b="1" dirty="0">
                <a:solidFill>
                  <a:schemeClr val="bg2"/>
                </a:solidFill>
              </a:rPr>
              <a:t>中的属性</a:t>
            </a:r>
            <a:r>
              <a:rPr lang="en-US" altLang="zh-CN" sz="2400" b="1" dirty="0">
                <a:solidFill>
                  <a:schemeClr val="bg2"/>
                </a:solidFill>
              </a:rPr>
              <a:t>,</a:t>
            </a:r>
            <a:r>
              <a:rPr lang="zh-CN" altLang="en-US" sz="2400" b="1" dirty="0">
                <a:solidFill>
                  <a:schemeClr val="bg2"/>
                </a:solidFill>
              </a:rPr>
              <a:t>如果</a:t>
            </a:r>
            <a:r>
              <a:rPr lang="en-US" altLang="zh-CN" sz="2400" b="1" dirty="0">
                <a:solidFill>
                  <a:schemeClr val="bg2"/>
                </a:solidFill>
              </a:rPr>
              <a:t>F</a:t>
            </a:r>
            <a:r>
              <a:rPr lang="zh-CN" altLang="en-US" sz="2400" b="1" dirty="0">
                <a:solidFill>
                  <a:schemeClr val="bg2"/>
                </a:solidFill>
              </a:rPr>
              <a:t>还涉及到不在</a:t>
            </a:r>
            <a:r>
              <a:rPr lang="en-US" altLang="zh-CN" sz="2400" b="1" dirty="0">
                <a:solidFill>
                  <a:schemeClr val="bg2"/>
                </a:solidFill>
              </a:rPr>
              <a:t>L</a:t>
            </a:r>
            <a:r>
              <a:rPr lang="zh-CN" altLang="en-US" sz="2400" b="1" dirty="0">
                <a:solidFill>
                  <a:schemeClr val="bg2"/>
                </a:solidFill>
              </a:rPr>
              <a:t>中的属性集</a:t>
            </a:r>
            <a:r>
              <a:rPr lang="en-US" altLang="zh-CN" sz="2400" b="1" dirty="0">
                <a:solidFill>
                  <a:schemeClr val="bg2"/>
                </a:solidFill>
              </a:rPr>
              <a:t>L1</a:t>
            </a:r>
            <a:r>
              <a:rPr lang="zh-CN" altLang="en-US" sz="2400" b="1" dirty="0">
                <a:solidFill>
                  <a:schemeClr val="bg2"/>
                </a:solidFill>
              </a:rPr>
              <a:t>：      </a:t>
            </a:r>
          </a:p>
          <a:p>
            <a:pPr>
              <a:lnSpc>
                <a:spcPct val="190000"/>
              </a:lnSpc>
            </a:pPr>
            <a:r>
              <a:rPr lang="zh-CN" altLang="en-US" sz="2400" b="1" dirty="0">
                <a:solidFill>
                  <a:schemeClr val="bg2"/>
                </a:solidFill>
              </a:rPr>
              <a:t>     </a:t>
            </a:r>
            <a:r>
              <a:rPr lang="en-US" altLang="zh-CN" sz="2400" b="1" dirty="0">
                <a:solidFill>
                  <a:schemeClr val="bg2"/>
                </a:solidFill>
              </a:rPr>
              <a:t>π</a:t>
            </a:r>
            <a:r>
              <a:rPr lang="en-US" altLang="zh-CN" sz="2400" b="1" baseline="-25000" dirty="0">
                <a:solidFill>
                  <a:schemeClr val="bg2"/>
                </a:solidFill>
              </a:rPr>
              <a:t>L</a:t>
            </a:r>
            <a:r>
              <a:rPr lang="zh-CN" altLang="en-US" sz="2400" b="1" dirty="0">
                <a:solidFill>
                  <a:schemeClr val="bg2"/>
                </a:solidFill>
              </a:rPr>
              <a:t>（</a:t>
            </a:r>
            <a:r>
              <a:rPr lang="en-US" altLang="zh-CN" sz="2400" b="1" dirty="0" err="1">
                <a:solidFill>
                  <a:schemeClr val="bg2"/>
                </a:solidFill>
              </a:rPr>
              <a:t>σ</a:t>
            </a:r>
            <a:r>
              <a:rPr lang="en-US" altLang="zh-CN" sz="2400" b="1" baseline="-25000" dirty="0" err="1">
                <a:solidFill>
                  <a:schemeClr val="bg2"/>
                </a:solidFill>
              </a:rPr>
              <a:t>F</a:t>
            </a:r>
            <a:r>
              <a:rPr lang="zh-CN" altLang="en-US" sz="2400" b="1" dirty="0">
                <a:solidFill>
                  <a:schemeClr val="bg2"/>
                </a:solidFill>
              </a:rPr>
              <a:t>（</a:t>
            </a:r>
            <a:r>
              <a:rPr lang="en-US" altLang="zh-CN" sz="2400" b="1" dirty="0">
                <a:solidFill>
                  <a:schemeClr val="bg2"/>
                </a:solidFill>
              </a:rPr>
              <a:t>E</a:t>
            </a:r>
            <a:r>
              <a:rPr lang="zh-CN" altLang="en-US" sz="2400" b="1" dirty="0">
                <a:solidFill>
                  <a:schemeClr val="bg2"/>
                </a:solidFill>
              </a:rPr>
              <a:t>））≡</a:t>
            </a:r>
            <a:r>
              <a:rPr lang="en-US" altLang="zh-CN" sz="2400" b="1" dirty="0">
                <a:solidFill>
                  <a:schemeClr val="bg2"/>
                </a:solidFill>
              </a:rPr>
              <a:t>π</a:t>
            </a:r>
            <a:r>
              <a:rPr lang="en-US" altLang="zh-CN" sz="2400" b="1" baseline="-25000" dirty="0">
                <a:solidFill>
                  <a:schemeClr val="bg2"/>
                </a:solidFill>
              </a:rPr>
              <a:t>L</a:t>
            </a:r>
            <a:r>
              <a:rPr lang="zh-CN" altLang="en-US" sz="2400" b="1" dirty="0">
                <a:solidFill>
                  <a:schemeClr val="bg2"/>
                </a:solidFill>
              </a:rPr>
              <a:t>（</a:t>
            </a:r>
            <a:r>
              <a:rPr lang="en-US" altLang="zh-CN" sz="2400" b="1" dirty="0" err="1">
                <a:solidFill>
                  <a:schemeClr val="bg2"/>
                </a:solidFill>
              </a:rPr>
              <a:t>σ</a:t>
            </a:r>
            <a:r>
              <a:rPr lang="en-US" altLang="zh-CN" sz="2400" b="1" baseline="-25000" dirty="0" err="1">
                <a:solidFill>
                  <a:schemeClr val="bg2"/>
                </a:solidFill>
              </a:rPr>
              <a:t>F</a:t>
            </a:r>
            <a:r>
              <a:rPr lang="zh-CN" altLang="en-US" sz="2400" b="1" dirty="0">
                <a:solidFill>
                  <a:schemeClr val="bg2"/>
                </a:solidFill>
              </a:rPr>
              <a:t>（</a:t>
            </a:r>
            <a:r>
              <a:rPr lang="en-US" altLang="zh-CN" sz="2400" b="1" dirty="0">
                <a:solidFill>
                  <a:schemeClr val="bg2"/>
                </a:solidFill>
              </a:rPr>
              <a:t>π</a:t>
            </a:r>
            <a:r>
              <a:rPr lang="en-US" altLang="zh-CN" sz="2400" b="1" baseline="-25000" dirty="0">
                <a:solidFill>
                  <a:schemeClr val="bg2"/>
                </a:solidFill>
              </a:rPr>
              <a:t>L∪L1</a:t>
            </a:r>
            <a:r>
              <a:rPr lang="zh-CN" altLang="en-US" sz="2400" b="1" dirty="0">
                <a:solidFill>
                  <a:schemeClr val="bg2"/>
                </a:solidFill>
              </a:rPr>
              <a:t>（</a:t>
            </a:r>
            <a:r>
              <a:rPr lang="en-US" altLang="zh-CN" sz="2400" b="1" dirty="0">
                <a:solidFill>
                  <a:schemeClr val="bg2"/>
                </a:solidFill>
              </a:rPr>
              <a:t>E</a:t>
            </a:r>
            <a:r>
              <a:rPr lang="zh-CN" altLang="en-US" sz="2400" b="1" dirty="0">
                <a:solidFill>
                  <a:schemeClr val="bg2"/>
                </a:solidFill>
              </a:rPr>
              <a:t>）））</a:t>
            </a:r>
            <a:endParaRPr lang="zh-CN" altLang="en-US" sz="2400" b="1" dirty="0">
              <a:solidFill>
                <a:schemeClr val="bg2"/>
              </a:solidFill>
              <a:latin typeface="Times New Roman" pitchFamily="18" charset="0"/>
            </a:endParaRPr>
          </a:p>
        </p:txBody>
      </p:sp>
      <p:sp>
        <p:nvSpPr>
          <p:cNvPr id="648195" name="Rectangle 3"/>
          <p:cNvSpPr>
            <a:spLocks noChangeArrowheads="1"/>
          </p:cNvSpPr>
          <p:nvPr/>
        </p:nvSpPr>
        <p:spPr bwMode="auto">
          <a:xfrm>
            <a:off x="457200" y="3284538"/>
            <a:ext cx="9144000" cy="34147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90000"/>
              </a:lnSpc>
            </a:pPr>
            <a:r>
              <a:rPr lang="en-US" altLang="zh-CN" sz="2400" b="1" dirty="0">
                <a:solidFill>
                  <a:srgbClr val="660033"/>
                </a:solidFill>
              </a:rPr>
              <a:t>6</a:t>
            </a:r>
            <a:r>
              <a:rPr lang="zh-CN" altLang="en-US" sz="2400" b="1" dirty="0">
                <a:solidFill>
                  <a:srgbClr val="660033"/>
                </a:solidFill>
              </a:rPr>
              <a:t>．</a:t>
            </a:r>
            <a:r>
              <a:rPr lang="zh-CN" altLang="en-US" sz="2400" b="1" dirty="0">
                <a:solidFill>
                  <a:srgbClr val="660033"/>
                </a:solidFill>
                <a:latin typeface="Times New Roman" pitchFamily="18" charset="0"/>
                <a:cs typeface="Times New Roman" pitchFamily="18" charset="0"/>
              </a:rPr>
              <a:t> </a:t>
            </a:r>
            <a:r>
              <a:rPr lang="zh-CN" altLang="en-US" sz="2400" b="1" dirty="0">
                <a:solidFill>
                  <a:srgbClr val="660033"/>
                </a:solidFill>
              </a:rPr>
              <a:t>选择对笛卡儿积的分配律</a:t>
            </a:r>
          </a:p>
          <a:p>
            <a:pPr>
              <a:lnSpc>
                <a:spcPct val="190000"/>
              </a:lnSpc>
            </a:pPr>
            <a:r>
              <a:rPr lang="zh-CN" altLang="en-US" sz="2400" b="1" dirty="0">
                <a:solidFill>
                  <a:schemeClr val="bg2"/>
                </a:solidFill>
                <a:latin typeface="Times New Roman"/>
              </a:rPr>
              <a:t> </a:t>
            </a:r>
            <a:r>
              <a:rPr lang="zh-CN" altLang="en-US" sz="2400" b="1" dirty="0">
                <a:solidFill>
                  <a:schemeClr val="bg2"/>
                </a:solidFill>
              </a:rPr>
              <a:t>    </a:t>
            </a:r>
            <a:r>
              <a:rPr lang="en-US" altLang="zh-CN" sz="2400" b="1" dirty="0" err="1">
                <a:solidFill>
                  <a:schemeClr val="bg2"/>
                </a:solidFill>
              </a:rPr>
              <a:t>σ</a:t>
            </a:r>
            <a:r>
              <a:rPr lang="en-US" altLang="zh-CN" sz="2400" b="1" baseline="-25000" dirty="0" err="1">
                <a:solidFill>
                  <a:schemeClr val="bg2"/>
                </a:solidFill>
              </a:rPr>
              <a:t>F</a:t>
            </a:r>
            <a:r>
              <a:rPr lang="zh-CN" altLang="en-US" sz="2400" b="1" dirty="0">
                <a:solidFill>
                  <a:schemeClr val="bg2"/>
                </a:solidFill>
              </a:rPr>
              <a:t>（</a:t>
            </a:r>
            <a:r>
              <a:rPr lang="en-US" altLang="zh-CN" sz="2400" b="1" dirty="0">
                <a:solidFill>
                  <a:schemeClr val="bg2"/>
                </a:solidFill>
              </a:rPr>
              <a:t>E1×E2</a:t>
            </a:r>
            <a:r>
              <a:rPr lang="zh-CN" altLang="en-US" sz="2400" b="1" dirty="0">
                <a:solidFill>
                  <a:schemeClr val="bg2"/>
                </a:solidFill>
              </a:rPr>
              <a:t>）≡</a:t>
            </a:r>
            <a:r>
              <a:rPr lang="en-US" altLang="zh-CN" sz="2400" b="1" dirty="0" err="1">
                <a:solidFill>
                  <a:schemeClr val="bg2"/>
                </a:solidFill>
              </a:rPr>
              <a:t>σ</a:t>
            </a:r>
            <a:r>
              <a:rPr lang="en-US" altLang="zh-CN" sz="2400" b="1" baseline="-25000" dirty="0" err="1">
                <a:solidFill>
                  <a:schemeClr val="bg2"/>
                </a:solidFill>
              </a:rPr>
              <a:t>F</a:t>
            </a:r>
            <a:r>
              <a:rPr lang="zh-CN" altLang="en-US" sz="2400" b="1" dirty="0">
                <a:solidFill>
                  <a:schemeClr val="bg2"/>
                </a:solidFill>
              </a:rPr>
              <a:t>（</a:t>
            </a:r>
            <a:r>
              <a:rPr lang="en-US" altLang="zh-CN" sz="2400" b="1" dirty="0">
                <a:solidFill>
                  <a:schemeClr val="bg2"/>
                </a:solidFill>
              </a:rPr>
              <a:t>E1</a:t>
            </a:r>
            <a:r>
              <a:rPr lang="zh-CN" altLang="en-US" sz="2400" b="1" dirty="0">
                <a:solidFill>
                  <a:schemeClr val="bg2"/>
                </a:solidFill>
              </a:rPr>
              <a:t>）</a:t>
            </a:r>
            <a:r>
              <a:rPr lang="en-US" altLang="zh-CN" sz="2400" b="1" dirty="0">
                <a:solidFill>
                  <a:schemeClr val="bg2"/>
                </a:solidFill>
              </a:rPr>
              <a:t>×E2</a:t>
            </a:r>
          </a:p>
          <a:p>
            <a:pPr>
              <a:lnSpc>
                <a:spcPct val="190000"/>
              </a:lnSpc>
            </a:pPr>
            <a:r>
              <a:rPr lang="en-US" altLang="zh-CN" sz="2400" b="1" dirty="0">
                <a:solidFill>
                  <a:schemeClr val="bg2"/>
                </a:solidFill>
              </a:rPr>
              <a:t>    </a:t>
            </a:r>
            <a:r>
              <a:rPr lang="en-US" altLang="zh-CN" sz="2400" b="1" dirty="0" err="1">
                <a:solidFill>
                  <a:schemeClr val="bg2"/>
                </a:solidFill>
              </a:rPr>
              <a:t>σ</a:t>
            </a:r>
            <a:r>
              <a:rPr lang="en-US" altLang="zh-CN" sz="2400" b="1" baseline="-25000" dirty="0" err="1">
                <a:solidFill>
                  <a:schemeClr val="bg2"/>
                </a:solidFill>
              </a:rPr>
              <a:t>F</a:t>
            </a:r>
            <a:r>
              <a:rPr lang="zh-CN" altLang="en-US" sz="2400" b="1" dirty="0">
                <a:solidFill>
                  <a:schemeClr val="bg2"/>
                </a:solidFill>
              </a:rPr>
              <a:t>（</a:t>
            </a:r>
            <a:r>
              <a:rPr lang="en-US" altLang="zh-CN" sz="2400" b="1" dirty="0">
                <a:solidFill>
                  <a:schemeClr val="bg2"/>
                </a:solidFill>
              </a:rPr>
              <a:t>E1×E2</a:t>
            </a:r>
            <a:r>
              <a:rPr lang="zh-CN" altLang="en-US" sz="2400" b="1" dirty="0">
                <a:solidFill>
                  <a:schemeClr val="bg2"/>
                </a:solidFill>
              </a:rPr>
              <a:t>）≡</a:t>
            </a:r>
            <a:r>
              <a:rPr lang="en-US" altLang="zh-CN" sz="2400" b="1" dirty="0">
                <a:solidFill>
                  <a:schemeClr val="bg2"/>
                </a:solidFill>
              </a:rPr>
              <a:t>σ</a:t>
            </a:r>
            <a:r>
              <a:rPr lang="en-US" altLang="zh-CN" sz="2400" b="1" baseline="-25000" dirty="0">
                <a:solidFill>
                  <a:schemeClr val="bg2"/>
                </a:solidFill>
              </a:rPr>
              <a:t>F1</a:t>
            </a:r>
            <a:r>
              <a:rPr lang="zh-CN" altLang="en-US" sz="2400" b="1" dirty="0">
                <a:solidFill>
                  <a:schemeClr val="bg2"/>
                </a:solidFill>
              </a:rPr>
              <a:t>（</a:t>
            </a:r>
            <a:r>
              <a:rPr lang="en-US" altLang="zh-CN" sz="2400" b="1" dirty="0">
                <a:solidFill>
                  <a:schemeClr val="bg2"/>
                </a:solidFill>
              </a:rPr>
              <a:t>E1</a:t>
            </a:r>
            <a:r>
              <a:rPr lang="zh-CN" altLang="en-US" sz="2400" b="1" dirty="0">
                <a:solidFill>
                  <a:schemeClr val="bg2"/>
                </a:solidFill>
              </a:rPr>
              <a:t>）</a:t>
            </a:r>
            <a:r>
              <a:rPr lang="en-US" altLang="zh-CN" sz="2400" b="1" dirty="0">
                <a:solidFill>
                  <a:schemeClr val="bg2"/>
                </a:solidFill>
              </a:rPr>
              <a:t>×σ</a:t>
            </a:r>
            <a:r>
              <a:rPr lang="en-US" altLang="zh-CN" sz="2400" b="1" baseline="-25000" dirty="0">
                <a:solidFill>
                  <a:schemeClr val="bg2"/>
                </a:solidFill>
              </a:rPr>
              <a:t>F2</a:t>
            </a:r>
            <a:r>
              <a:rPr lang="zh-CN" altLang="en-US" sz="2400" b="1" dirty="0">
                <a:solidFill>
                  <a:schemeClr val="bg2"/>
                </a:solidFill>
              </a:rPr>
              <a:t>（</a:t>
            </a:r>
            <a:r>
              <a:rPr lang="en-US" altLang="zh-CN" sz="2400" b="1" dirty="0">
                <a:solidFill>
                  <a:schemeClr val="bg2"/>
                </a:solidFill>
              </a:rPr>
              <a:t>E2</a:t>
            </a:r>
            <a:r>
              <a:rPr lang="zh-CN" altLang="en-US" sz="2400" b="1" dirty="0">
                <a:solidFill>
                  <a:schemeClr val="bg2"/>
                </a:solidFill>
              </a:rPr>
              <a:t>）</a:t>
            </a:r>
          </a:p>
          <a:p>
            <a:pPr>
              <a:lnSpc>
                <a:spcPct val="190000"/>
              </a:lnSpc>
            </a:pPr>
            <a:r>
              <a:rPr lang="zh-CN" altLang="en-US" sz="2400" b="1" dirty="0">
                <a:solidFill>
                  <a:schemeClr val="bg2"/>
                </a:solidFill>
              </a:rPr>
              <a:t>    </a:t>
            </a:r>
            <a:r>
              <a:rPr lang="en-US" altLang="zh-CN" sz="2400" b="1" dirty="0" err="1">
                <a:solidFill>
                  <a:schemeClr val="bg2"/>
                </a:solidFill>
              </a:rPr>
              <a:t>σ</a:t>
            </a:r>
            <a:r>
              <a:rPr lang="en-US" altLang="zh-CN" sz="2400" b="1" baseline="-25000" dirty="0" err="1">
                <a:solidFill>
                  <a:schemeClr val="bg2"/>
                </a:solidFill>
              </a:rPr>
              <a:t>F</a:t>
            </a:r>
            <a:r>
              <a:rPr lang="zh-CN" altLang="en-US" sz="2400" b="1" dirty="0">
                <a:solidFill>
                  <a:schemeClr val="bg2"/>
                </a:solidFill>
              </a:rPr>
              <a:t>（</a:t>
            </a:r>
            <a:r>
              <a:rPr lang="en-US" altLang="zh-CN" sz="2400" b="1" dirty="0">
                <a:solidFill>
                  <a:schemeClr val="bg2"/>
                </a:solidFill>
              </a:rPr>
              <a:t>E1×E2</a:t>
            </a:r>
            <a:r>
              <a:rPr lang="zh-CN" altLang="en-US" sz="2400" b="1" dirty="0">
                <a:solidFill>
                  <a:schemeClr val="bg2"/>
                </a:solidFill>
              </a:rPr>
              <a:t>）≡</a:t>
            </a:r>
            <a:r>
              <a:rPr lang="en-US" altLang="zh-CN" sz="2400" b="1" dirty="0">
                <a:solidFill>
                  <a:schemeClr val="bg2"/>
                </a:solidFill>
              </a:rPr>
              <a:t>σ</a:t>
            </a:r>
            <a:r>
              <a:rPr lang="en-US" altLang="zh-CN" sz="2400" b="1" baseline="-25000" dirty="0">
                <a:solidFill>
                  <a:schemeClr val="bg2"/>
                </a:solidFill>
              </a:rPr>
              <a:t>F2</a:t>
            </a:r>
            <a:r>
              <a:rPr lang="zh-CN" altLang="en-US" sz="2400" b="1" dirty="0">
                <a:solidFill>
                  <a:schemeClr val="bg2"/>
                </a:solidFill>
              </a:rPr>
              <a:t>（</a:t>
            </a:r>
            <a:r>
              <a:rPr lang="en-US" altLang="zh-CN" sz="2400" b="1" dirty="0">
                <a:solidFill>
                  <a:schemeClr val="bg2"/>
                </a:solidFill>
              </a:rPr>
              <a:t>σ</a:t>
            </a:r>
            <a:r>
              <a:rPr lang="en-US" altLang="zh-CN" sz="2400" b="1" baseline="-25000" dirty="0">
                <a:solidFill>
                  <a:schemeClr val="bg2"/>
                </a:solidFill>
              </a:rPr>
              <a:t>F1</a:t>
            </a:r>
            <a:r>
              <a:rPr lang="zh-CN" altLang="en-US" sz="2400" b="1" dirty="0">
                <a:solidFill>
                  <a:schemeClr val="bg2"/>
                </a:solidFill>
              </a:rPr>
              <a:t>（</a:t>
            </a:r>
            <a:r>
              <a:rPr lang="en-US" altLang="zh-CN" sz="2400" b="1" dirty="0">
                <a:solidFill>
                  <a:schemeClr val="bg2"/>
                </a:solidFill>
              </a:rPr>
              <a:t>E1</a:t>
            </a:r>
            <a:r>
              <a:rPr lang="zh-CN" altLang="en-US" sz="2400" b="1" dirty="0">
                <a:solidFill>
                  <a:schemeClr val="bg2"/>
                </a:solidFill>
              </a:rPr>
              <a:t>）</a:t>
            </a:r>
            <a:r>
              <a:rPr lang="en-US" altLang="zh-CN" sz="2400" b="1" dirty="0">
                <a:solidFill>
                  <a:schemeClr val="bg2"/>
                </a:solidFill>
              </a:rPr>
              <a:t>×E2</a:t>
            </a:r>
            <a:r>
              <a:rPr lang="zh-CN" altLang="en-US" sz="2400" b="1" dirty="0">
                <a:solidFill>
                  <a:schemeClr val="bg2"/>
                </a:solidFill>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48195"/>
                                        </p:tgtEl>
                                        <p:attrNameLst>
                                          <p:attrName>style.visibility</p:attrName>
                                        </p:attrNameLst>
                                      </p:cBhvr>
                                      <p:to>
                                        <p:strVal val="visible"/>
                                      </p:to>
                                    </p:set>
                                    <p:animEffect transition="in" filter="blinds(horizontal)">
                                      <p:cBhvr>
                                        <p:cTn id="7" dur="500"/>
                                        <p:tgtEl>
                                          <p:spTgt spid="6481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8195" grpId="0" autoUpdateAnimBg="0"/>
    </p:bld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9218" name="Rectangle 2"/>
          <p:cNvSpPr>
            <a:spLocks noChangeArrowheads="1"/>
          </p:cNvSpPr>
          <p:nvPr/>
        </p:nvSpPr>
        <p:spPr bwMode="auto">
          <a:xfrm>
            <a:off x="0" y="0"/>
            <a:ext cx="9144000" cy="48974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60000"/>
              </a:lnSpc>
            </a:pPr>
            <a:r>
              <a:rPr lang="en-US" altLang="zh-CN" sz="2400" b="1">
                <a:solidFill>
                  <a:srgbClr val="660033"/>
                </a:solidFill>
              </a:rPr>
              <a:t>    7. </a:t>
            </a:r>
            <a:r>
              <a:rPr lang="en-US" altLang="zh-CN" sz="2400" b="1">
                <a:solidFill>
                  <a:srgbClr val="660033"/>
                </a:solidFill>
                <a:latin typeface="Times New Roman" pitchFamily="18" charset="0"/>
                <a:cs typeface="Times New Roman" pitchFamily="18" charset="0"/>
              </a:rPr>
              <a:t> </a:t>
            </a:r>
            <a:r>
              <a:rPr lang="zh-CN" altLang="en-US" sz="2400" b="1">
                <a:solidFill>
                  <a:srgbClr val="660033"/>
                </a:solidFill>
              </a:rPr>
              <a:t>选择对并的分配律</a:t>
            </a:r>
          </a:p>
          <a:p>
            <a:pPr>
              <a:lnSpc>
                <a:spcPct val="160000"/>
              </a:lnSpc>
            </a:pPr>
            <a:r>
              <a:rPr lang="zh-CN" altLang="en-US" sz="2400" b="1">
                <a:solidFill>
                  <a:schemeClr val="bg2"/>
                </a:solidFill>
                <a:latin typeface="Times New Roman"/>
              </a:rPr>
              <a:t> </a:t>
            </a:r>
            <a:r>
              <a:rPr lang="zh-CN" altLang="en-US" sz="2400" b="1">
                <a:solidFill>
                  <a:schemeClr val="bg2"/>
                </a:solidFill>
              </a:rPr>
              <a:t>       </a:t>
            </a:r>
            <a:r>
              <a:rPr lang="en-US" altLang="zh-CN" sz="2400" b="1">
                <a:solidFill>
                  <a:schemeClr val="bg2"/>
                </a:solidFill>
              </a:rPr>
              <a:t>σ</a:t>
            </a:r>
            <a:r>
              <a:rPr lang="en-US" altLang="zh-CN" sz="2400" b="1" baseline="-25000">
                <a:solidFill>
                  <a:schemeClr val="bg2"/>
                </a:solidFill>
              </a:rPr>
              <a:t>F</a:t>
            </a:r>
            <a:r>
              <a:rPr lang="zh-CN" altLang="en-US" sz="2400" b="1">
                <a:solidFill>
                  <a:schemeClr val="bg2"/>
                </a:solidFill>
              </a:rPr>
              <a:t>（</a:t>
            </a:r>
            <a:r>
              <a:rPr lang="en-US" altLang="zh-CN" sz="2400" b="1">
                <a:solidFill>
                  <a:schemeClr val="bg2"/>
                </a:solidFill>
              </a:rPr>
              <a:t>E1∪E2</a:t>
            </a:r>
            <a:r>
              <a:rPr lang="zh-CN" altLang="en-US" sz="2400" b="1">
                <a:solidFill>
                  <a:schemeClr val="bg2"/>
                </a:solidFill>
              </a:rPr>
              <a:t>）≡</a:t>
            </a:r>
            <a:r>
              <a:rPr lang="en-US" altLang="zh-CN" sz="2400" b="1">
                <a:solidFill>
                  <a:schemeClr val="bg2"/>
                </a:solidFill>
              </a:rPr>
              <a:t>σ</a:t>
            </a:r>
            <a:r>
              <a:rPr lang="en-US" altLang="zh-CN" sz="2400" b="1" baseline="-25000">
                <a:solidFill>
                  <a:schemeClr val="bg2"/>
                </a:solidFill>
              </a:rPr>
              <a:t>F1</a:t>
            </a:r>
            <a:r>
              <a:rPr lang="zh-CN" altLang="en-US" sz="2400" b="1">
                <a:solidFill>
                  <a:schemeClr val="bg2"/>
                </a:solidFill>
              </a:rPr>
              <a:t>（</a:t>
            </a:r>
            <a:r>
              <a:rPr lang="en-US" altLang="zh-CN" sz="2400" b="1">
                <a:solidFill>
                  <a:schemeClr val="bg2"/>
                </a:solidFill>
              </a:rPr>
              <a:t>E1</a:t>
            </a:r>
            <a:r>
              <a:rPr lang="zh-CN" altLang="en-US" sz="2400" b="1">
                <a:solidFill>
                  <a:schemeClr val="bg2"/>
                </a:solidFill>
              </a:rPr>
              <a:t>）∪</a:t>
            </a:r>
            <a:r>
              <a:rPr lang="en-US" altLang="zh-CN" sz="2400" b="1">
                <a:solidFill>
                  <a:schemeClr val="bg2"/>
                </a:solidFill>
              </a:rPr>
              <a:t>σ</a:t>
            </a:r>
            <a:r>
              <a:rPr lang="en-US" altLang="zh-CN" sz="2400" b="1" baseline="-25000">
                <a:solidFill>
                  <a:schemeClr val="bg2"/>
                </a:solidFill>
              </a:rPr>
              <a:t>F2</a:t>
            </a:r>
            <a:r>
              <a:rPr lang="zh-CN" altLang="en-US" sz="2400" b="1">
                <a:solidFill>
                  <a:schemeClr val="bg2"/>
                </a:solidFill>
              </a:rPr>
              <a:t>（</a:t>
            </a:r>
            <a:r>
              <a:rPr lang="en-US" altLang="zh-CN" sz="2400" b="1">
                <a:solidFill>
                  <a:schemeClr val="bg2"/>
                </a:solidFill>
              </a:rPr>
              <a:t>E2</a:t>
            </a:r>
            <a:r>
              <a:rPr lang="zh-CN" altLang="en-US" sz="2400" b="1">
                <a:solidFill>
                  <a:schemeClr val="bg2"/>
                </a:solidFill>
              </a:rPr>
              <a:t>）</a:t>
            </a:r>
          </a:p>
          <a:p>
            <a:pPr>
              <a:lnSpc>
                <a:spcPct val="160000"/>
              </a:lnSpc>
            </a:pPr>
            <a:r>
              <a:rPr lang="zh-CN" altLang="en-US" sz="2400" b="1">
                <a:solidFill>
                  <a:srgbClr val="660033"/>
                </a:solidFill>
              </a:rPr>
              <a:t>    </a:t>
            </a:r>
            <a:r>
              <a:rPr lang="en-US" altLang="zh-CN" sz="2400" b="1">
                <a:solidFill>
                  <a:srgbClr val="660033"/>
                </a:solidFill>
              </a:rPr>
              <a:t>8</a:t>
            </a:r>
            <a:r>
              <a:rPr lang="zh-CN" altLang="en-US" sz="2400" b="1">
                <a:solidFill>
                  <a:srgbClr val="660033"/>
                </a:solidFill>
              </a:rPr>
              <a:t>． 选择对集合差的分配律</a:t>
            </a:r>
          </a:p>
          <a:p>
            <a:pPr>
              <a:lnSpc>
                <a:spcPct val="160000"/>
              </a:lnSpc>
            </a:pPr>
            <a:r>
              <a:rPr lang="zh-CN" altLang="en-US" sz="2400" b="1">
                <a:solidFill>
                  <a:schemeClr val="bg2"/>
                </a:solidFill>
              </a:rPr>
              <a:t>       </a:t>
            </a:r>
            <a:r>
              <a:rPr lang="en-US" altLang="zh-CN" sz="2400" b="1">
                <a:solidFill>
                  <a:schemeClr val="bg2"/>
                </a:solidFill>
              </a:rPr>
              <a:t>σ</a:t>
            </a:r>
            <a:r>
              <a:rPr lang="en-US" altLang="zh-CN" sz="2400" b="1" baseline="-25000">
                <a:solidFill>
                  <a:schemeClr val="bg2"/>
                </a:solidFill>
              </a:rPr>
              <a:t>F</a:t>
            </a:r>
            <a:r>
              <a:rPr lang="zh-CN" altLang="en-US" sz="2400" b="1">
                <a:solidFill>
                  <a:schemeClr val="bg2"/>
                </a:solidFill>
              </a:rPr>
              <a:t>（</a:t>
            </a:r>
            <a:r>
              <a:rPr lang="en-US" altLang="zh-CN" sz="2400" b="1">
                <a:solidFill>
                  <a:schemeClr val="bg2"/>
                </a:solidFill>
              </a:rPr>
              <a:t>E1</a:t>
            </a:r>
            <a:r>
              <a:rPr lang="zh-CN" altLang="en-US" sz="2400" b="1">
                <a:solidFill>
                  <a:schemeClr val="bg2"/>
                </a:solidFill>
              </a:rPr>
              <a:t>－</a:t>
            </a:r>
            <a:r>
              <a:rPr lang="en-US" altLang="zh-CN" sz="2400" b="1">
                <a:solidFill>
                  <a:schemeClr val="bg2"/>
                </a:solidFill>
              </a:rPr>
              <a:t>E2</a:t>
            </a:r>
            <a:r>
              <a:rPr lang="zh-CN" altLang="en-US" sz="2400" b="1">
                <a:solidFill>
                  <a:schemeClr val="bg2"/>
                </a:solidFill>
              </a:rPr>
              <a:t>）≡</a:t>
            </a:r>
            <a:r>
              <a:rPr lang="en-US" altLang="zh-CN" sz="2400" b="1">
                <a:solidFill>
                  <a:schemeClr val="bg2"/>
                </a:solidFill>
              </a:rPr>
              <a:t>σ</a:t>
            </a:r>
            <a:r>
              <a:rPr lang="en-US" altLang="zh-CN" sz="2400" b="1" baseline="-25000">
                <a:solidFill>
                  <a:schemeClr val="bg2"/>
                </a:solidFill>
              </a:rPr>
              <a:t>F</a:t>
            </a:r>
            <a:r>
              <a:rPr lang="zh-CN" altLang="en-US" sz="2400" b="1">
                <a:solidFill>
                  <a:schemeClr val="bg2"/>
                </a:solidFill>
              </a:rPr>
              <a:t>（</a:t>
            </a:r>
            <a:r>
              <a:rPr lang="en-US" altLang="zh-CN" sz="2400" b="1">
                <a:solidFill>
                  <a:schemeClr val="bg2"/>
                </a:solidFill>
              </a:rPr>
              <a:t>E1</a:t>
            </a:r>
            <a:r>
              <a:rPr lang="zh-CN" altLang="en-US" sz="2400" b="1">
                <a:solidFill>
                  <a:schemeClr val="bg2"/>
                </a:solidFill>
              </a:rPr>
              <a:t>）－</a:t>
            </a:r>
            <a:r>
              <a:rPr lang="en-US" altLang="zh-CN" sz="2400" b="1">
                <a:solidFill>
                  <a:schemeClr val="bg2"/>
                </a:solidFill>
              </a:rPr>
              <a:t>σ</a:t>
            </a:r>
            <a:r>
              <a:rPr lang="en-US" altLang="zh-CN" sz="2400" b="1" baseline="-25000">
                <a:solidFill>
                  <a:schemeClr val="bg2"/>
                </a:solidFill>
              </a:rPr>
              <a:t>F</a:t>
            </a:r>
            <a:r>
              <a:rPr lang="zh-CN" altLang="en-US" sz="2400" b="1">
                <a:solidFill>
                  <a:schemeClr val="bg2"/>
                </a:solidFill>
              </a:rPr>
              <a:t>（</a:t>
            </a:r>
            <a:r>
              <a:rPr lang="en-US" altLang="zh-CN" sz="2400" b="1">
                <a:solidFill>
                  <a:schemeClr val="bg2"/>
                </a:solidFill>
              </a:rPr>
              <a:t>E2</a:t>
            </a:r>
            <a:r>
              <a:rPr lang="zh-CN" altLang="en-US" sz="2400" b="1">
                <a:solidFill>
                  <a:schemeClr val="bg2"/>
                </a:solidFill>
              </a:rPr>
              <a:t>）</a:t>
            </a:r>
          </a:p>
          <a:p>
            <a:pPr>
              <a:lnSpc>
                <a:spcPct val="160000"/>
              </a:lnSpc>
            </a:pPr>
            <a:r>
              <a:rPr lang="zh-CN" altLang="en-US" sz="2400" b="1">
                <a:solidFill>
                  <a:srgbClr val="660033"/>
                </a:solidFill>
              </a:rPr>
              <a:t>    </a:t>
            </a:r>
            <a:r>
              <a:rPr lang="en-US" altLang="zh-CN" sz="2400" b="1">
                <a:solidFill>
                  <a:srgbClr val="660033"/>
                </a:solidFill>
              </a:rPr>
              <a:t>9</a:t>
            </a:r>
            <a:r>
              <a:rPr lang="zh-CN" altLang="en-US" sz="2400" b="1">
                <a:solidFill>
                  <a:srgbClr val="660033"/>
                </a:solidFill>
              </a:rPr>
              <a:t>．选择对自然联接的分配律</a:t>
            </a:r>
          </a:p>
          <a:p>
            <a:pPr>
              <a:lnSpc>
                <a:spcPct val="160000"/>
              </a:lnSpc>
            </a:pPr>
            <a:r>
              <a:rPr lang="zh-CN" altLang="en-US" sz="2400" b="1">
                <a:solidFill>
                  <a:schemeClr val="bg2"/>
                </a:solidFill>
              </a:rPr>
              <a:t>      </a:t>
            </a:r>
            <a:r>
              <a:rPr lang="en-US" altLang="zh-CN" sz="2400" b="1">
                <a:solidFill>
                  <a:schemeClr val="bg2"/>
                </a:solidFill>
              </a:rPr>
              <a:t>σ</a:t>
            </a:r>
            <a:r>
              <a:rPr lang="en-US" altLang="zh-CN" sz="2400" b="1" baseline="-25000">
                <a:solidFill>
                  <a:schemeClr val="bg2"/>
                </a:solidFill>
              </a:rPr>
              <a:t>F</a:t>
            </a:r>
            <a:r>
              <a:rPr lang="zh-CN" altLang="en-US" sz="2400" b="1">
                <a:solidFill>
                  <a:schemeClr val="bg2"/>
                </a:solidFill>
              </a:rPr>
              <a:t>（</a:t>
            </a:r>
            <a:r>
              <a:rPr lang="en-US" altLang="zh-CN" sz="2400" b="1">
                <a:solidFill>
                  <a:schemeClr val="bg2"/>
                </a:solidFill>
              </a:rPr>
              <a:t>E1 </a:t>
            </a:r>
            <a:r>
              <a:rPr lang="en-US" altLang="zh-CN" sz="3600" b="1">
                <a:solidFill>
                  <a:schemeClr val="bg2"/>
                </a:solidFill>
                <a:latin typeface="Times New Roman" pitchFamily="18" charset="0"/>
              </a:rPr>
              <a:t>⋈</a:t>
            </a:r>
            <a:r>
              <a:rPr lang="en-US" altLang="zh-CN" sz="2400" b="1">
                <a:solidFill>
                  <a:schemeClr val="bg2"/>
                </a:solidFill>
              </a:rPr>
              <a:t> E2</a:t>
            </a:r>
            <a:r>
              <a:rPr lang="zh-CN" altLang="en-US" sz="2400" b="1">
                <a:solidFill>
                  <a:schemeClr val="bg2"/>
                </a:solidFill>
              </a:rPr>
              <a:t>）≡</a:t>
            </a:r>
            <a:r>
              <a:rPr lang="en-US" altLang="zh-CN" sz="2400" b="1">
                <a:solidFill>
                  <a:schemeClr val="bg2"/>
                </a:solidFill>
              </a:rPr>
              <a:t>σ</a:t>
            </a:r>
            <a:r>
              <a:rPr lang="en-US" altLang="zh-CN" sz="2400" b="1" baseline="-25000">
                <a:solidFill>
                  <a:schemeClr val="bg2"/>
                </a:solidFill>
              </a:rPr>
              <a:t>F</a:t>
            </a:r>
            <a:r>
              <a:rPr lang="zh-CN" altLang="en-US" sz="2400" b="1">
                <a:solidFill>
                  <a:schemeClr val="bg2"/>
                </a:solidFill>
              </a:rPr>
              <a:t>（</a:t>
            </a:r>
            <a:r>
              <a:rPr lang="en-US" altLang="zh-CN" sz="2400" b="1">
                <a:solidFill>
                  <a:schemeClr val="bg2"/>
                </a:solidFill>
              </a:rPr>
              <a:t>E1</a:t>
            </a:r>
            <a:r>
              <a:rPr lang="zh-CN" altLang="en-US" sz="2400" b="1">
                <a:solidFill>
                  <a:schemeClr val="bg2"/>
                </a:solidFill>
              </a:rPr>
              <a:t>） </a:t>
            </a:r>
            <a:r>
              <a:rPr lang="zh-CN" altLang="en-US" sz="3600" b="1">
                <a:solidFill>
                  <a:schemeClr val="bg2"/>
                </a:solidFill>
                <a:latin typeface="Times New Roman" pitchFamily="18" charset="0"/>
              </a:rPr>
              <a:t>⋈</a:t>
            </a:r>
            <a:r>
              <a:rPr lang="zh-CN" altLang="en-US" sz="2400" b="1">
                <a:solidFill>
                  <a:schemeClr val="bg2"/>
                </a:solidFill>
              </a:rPr>
              <a:t> </a:t>
            </a:r>
            <a:r>
              <a:rPr lang="en-US" altLang="zh-CN" sz="2400" b="1">
                <a:solidFill>
                  <a:schemeClr val="bg2"/>
                </a:solidFill>
              </a:rPr>
              <a:t>σ</a:t>
            </a:r>
            <a:r>
              <a:rPr lang="en-US" altLang="zh-CN" sz="2400" b="1" baseline="-25000">
                <a:solidFill>
                  <a:schemeClr val="bg2"/>
                </a:solidFill>
              </a:rPr>
              <a:t>F</a:t>
            </a:r>
            <a:r>
              <a:rPr lang="zh-CN" altLang="en-US" sz="2400" b="1">
                <a:solidFill>
                  <a:schemeClr val="bg2"/>
                </a:solidFill>
              </a:rPr>
              <a:t>（</a:t>
            </a:r>
            <a:r>
              <a:rPr lang="en-US" altLang="zh-CN" sz="2400" b="1">
                <a:solidFill>
                  <a:schemeClr val="bg2"/>
                </a:solidFill>
              </a:rPr>
              <a:t>E2</a:t>
            </a:r>
            <a:r>
              <a:rPr lang="zh-CN" altLang="en-US" sz="2400" b="1">
                <a:solidFill>
                  <a:schemeClr val="bg2"/>
                </a:solidFill>
              </a:rPr>
              <a:t>）</a:t>
            </a:r>
          </a:p>
        </p:txBody>
      </p:sp>
      <p:sp>
        <p:nvSpPr>
          <p:cNvPr id="649219" name="Rectangle 3"/>
          <p:cNvSpPr>
            <a:spLocks noChangeArrowheads="1"/>
          </p:cNvSpPr>
          <p:nvPr/>
        </p:nvSpPr>
        <p:spPr bwMode="auto">
          <a:xfrm>
            <a:off x="609600" y="5029200"/>
            <a:ext cx="9144000" cy="1443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60000"/>
              </a:lnSpc>
            </a:pPr>
            <a:r>
              <a:rPr lang="en-US" altLang="zh-CN" sz="2400" b="1">
                <a:solidFill>
                  <a:srgbClr val="660033"/>
                </a:solidFill>
              </a:rPr>
              <a:t>10</a:t>
            </a:r>
            <a:r>
              <a:rPr lang="zh-CN" altLang="en-US" sz="2400" b="1">
                <a:solidFill>
                  <a:srgbClr val="660033"/>
                </a:solidFill>
              </a:rPr>
              <a:t>． 投影对笛卡儿积的分配律</a:t>
            </a:r>
          </a:p>
          <a:p>
            <a:pPr>
              <a:lnSpc>
                <a:spcPct val="160000"/>
              </a:lnSpc>
            </a:pPr>
            <a:r>
              <a:rPr lang="zh-CN" altLang="en-US" sz="2400" b="1">
                <a:solidFill>
                  <a:schemeClr val="bg2"/>
                </a:solidFill>
                <a:latin typeface="Times New Roman"/>
              </a:rPr>
              <a:t> </a:t>
            </a:r>
            <a:r>
              <a:rPr lang="en-US" altLang="zh-CN" sz="2400" b="1">
                <a:solidFill>
                  <a:schemeClr val="bg2"/>
                </a:solidFill>
              </a:rPr>
              <a:t>π</a:t>
            </a:r>
            <a:r>
              <a:rPr lang="en-US" altLang="zh-CN" sz="2400" b="1" baseline="-25000">
                <a:solidFill>
                  <a:schemeClr val="bg2"/>
                </a:solidFill>
              </a:rPr>
              <a:t>L1∪L2</a:t>
            </a:r>
            <a:r>
              <a:rPr lang="zh-CN" altLang="en-US" sz="2400" b="1">
                <a:solidFill>
                  <a:schemeClr val="bg2"/>
                </a:solidFill>
              </a:rPr>
              <a:t>（</a:t>
            </a:r>
            <a:r>
              <a:rPr lang="en-US" altLang="zh-CN" sz="2400" b="1">
                <a:solidFill>
                  <a:schemeClr val="bg2"/>
                </a:solidFill>
              </a:rPr>
              <a:t>E1×E2</a:t>
            </a:r>
            <a:r>
              <a:rPr lang="zh-CN" altLang="en-US" sz="2400" b="1">
                <a:solidFill>
                  <a:schemeClr val="bg2"/>
                </a:solidFill>
              </a:rPr>
              <a:t>）≡</a:t>
            </a:r>
            <a:r>
              <a:rPr lang="en-US" altLang="zh-CN" sz="2400" b="1">
                <a:solidFill>
                  <a:schemeClr val="bg2"/>
                </a:solidFill>
              </a:rPr>
              <a:t>π</a:t>
            </a:r>
            <a:r>
              <a:rPr lang="en-US" altLang="zh-CN" sz="2400" b="1" baseline="-25000">
                <a:solidFill>
                  <a:schemeClr val="bg2"/>
                </a:solidFill>
              </a:rPr>
              <a:t>L1</a:t>
            </a:r>
            <a:r>
              <a:rPr lang="zh-CN" altLang="en-US" sz="2400" b="1">
                <a:solidFill>
                  <a:schemeClr val="bg2"/>
                </a:solidFill>
              </a:rPr>
              <a:t>（</a:t>
            </a:r>
            <a:r>
              <a:rPr lang="en-US" altLang="zh-CN" sz="2400" b="1">
                <a:solidFill>
                  <a:schemeClr val="bg2"/>
                </a:solidFill>
              </a:rPr>
              <a:t>E1</a:t>
            </a:r>
            <a:r>
              <a:rPr lang="zh-CN" altLang="en-US" sz="2400" b="1">
                <a:solidFill>
                  <a:schemeClr val="bg2"/>
                </a:solidFill>
              </a:rPr>
              <a:t>）</a:t>
            </a:r>
            <a:r>
              <a:rPr lang="en-US" altLang="zh-CN" sz="2400" b="1">
                <a:solidFill>
                  <a:schemeClr val="bg2"/>
                </a:solidFill>
              </a:rPr>
              <a:t>×π</a:t>
            </a:r>
            <a:r>
              <a:rPr lang="en-US" altLang="zh-CN" sz="2400" b="1" baseline="-25000">
                <a:solidFill>
                  <a:schemeClr val="bg2"/>
                </a:solidFill>
              </a:rPr>
              <a:t>L2</a:t>
            </a:r>
            <a:r>
              <a:rPr lang="zh-CN" altLang="en-US" sz="2400" b="1">
                <a:solidFill>
                  <a:schemeClr val="bg2"/>
                </a:solidFill>
              </a:rPr>
              <a:t>（</a:t>
            </a:r>
            <a:r>
              <a:rPr lang="en-US" altLang="zh-CN" sz="2400" b="1">
                <a:solidFill>
                  <a:schemeClr val="bg2"/>
                </a:solidFill>
              </a:rPr>
              <a:t>E2</a:t>
            </a:r>
            <a:r>
              <a:rPr lang="zh-CN" altLang="en-US" sz="2400" b="1">
                <a:solidFill>
                  <a:schemeClr val="bg2"/>
                </a:solidFill>
              </a:rPr>
              <a:t>）</a:t>
            </a: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50242" name="Group 2"/>
          <p:cNvGrpSpPr>
            <a:grpSpLocks/>
          </p:cNvGrpSpPr>
          <p:nvPr/>
        </p:nvGrpSpPr>
        <p:grpSpPr bwMode="auto">
          <a:xfrm>
            <a:off x="0" y="0"/>
            <a:ext cx="9144000" cy="6856413"/>
            <a:chOff x="0" y="0"/>
            <a:chExt cx="5760" cy="4319"/>
          </a:xfrm>
        </p:grpSpPr>
        <p:sp>
          <p:nvSpPr>
            <p:cNvPr id="650243" name="Rectangle 3"/>
            <p:cNvSpPr>
              <a:spLocks noChangeArrowheads="1"/>
            </p:cNvSpPr>
            <p:nvPr/>
          </p:nvSpPr>
          <p:spPr bwMode="auto">
            <a:xfrm>
              <a:off x="0" y="0"/>
              <a:ext cx="5760" cy="4319"/>
            </a:xfrm>
            <a:prstGeom prst="rect">
              <a:avLst/>
            </a:prstGeom>
            <a:noFill/>
            <a:ln w="9525">
              <a:solidFill>
                <a:srgbClr val="660033"/>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indent="476250">
                <a:lnSpc>
                  <a:spcPct val="140000"/>
                </a:lnSpc>
              </a:pPr>
              <a:r>
                <a:rPr lang="en-US" altLang="zh-CN" sz="2400" b="1">
                  <a:solidFill>
                    <a:srgbClr val="660033"/>
                  </a:solidFill>
                </a:rPr>
                <a:t>11</a:t>
              </a:r>
              <a:r>
                <a:rPr lang="zh-CN" altLang="en-US" sz="2400" b="1">
                  <a:solidFill>
                    <a:srgbClr val="660033"/>
                  </a:solidFill>
                </a:rPr>
                <a:t>． 投影对并的分配律</a:t>
              </a:r>
            </a:p>
            <a:p>
              <a:pPr indent="476250">
                <a:lnSpc>
                  <a:spcPct val="140000"/>
                </a:lnSpc>
              </a:pPr>
              <a:r>
                <a:rPr lang="zh-CN" altLang="en-US" sz="2400" b="1">
                  <a:solidFill>
                    <a:schemeClr val="bg2"/>
                  </a:solidFill>
                  <a:latin typeface="Times New Roman"/>
                </a:rPr>
                <a:t> </a:t>
              </a:r>
              <a:r>
                <a:rPr lang="zh-CN" altLang="en-US" sz="2400" b="1">
                  <a:solidFill>
                    <a:schemeClr val="bg2"/>
                  </a:solidFill>
                </a:rPr>
                <a:t>   </a:t>
              </a:r>
              <a:r>
                <a:rPr lang="en-US" altLang="zh-CN" sz="2400" b="1">
                  <a:solidFill>
                    <a:schemeClr val="bg2"/>
                  </a:solidFill>
                </a:rPr>
                <a:t>π</a:t>
              </a:r>
              <a:r>
                <a:rPr lang="en-US" altLang="zh-CN" sz="2400" b="1" baseline="-25000">
                  <a:solidFill>
                    <a:schemeClr val="bg2"/>
                  </a:solidFill>
                </a:rPr>
                <a:t>L</a:t>
              </a:r>
              <a:r>
                <a:rPr lang="zh-CN" altLang="en-US" sz="2400" b="1">
                  <a:solidFill>
                    <a:schemeClr val="bg2"/>
                  </a:solidFill>
                </a:rPr>
                <a:t>（</a:t>
              </a:r>
              <a:r>
                <a:rPr lang="en-US" altLang="zh-CN" sz="2400" b="1">
                  <a:solidFill>
                    <a:schemeClr val="bg2"/>
                  </a:solidFill>
                </a:rPr>
                <a:t>E1∪E2</a:t>
              </a:r>
              <a:r>
                <a:rPr lang="zh-CN" altLang="en-US" sz="2400" b="1">
                  <a:solidFill>
                    <a:schemeClr val="bg2"/>
                  </a:solidFill>
                </a:rPr>
                <a:t>）≡</a:t>
              </a:r>
              <a:r>
                <a:rPr lang="en-US" altLang="zh-CN" sz="2400" b="1">
                  <a:solidFill>
                    <a:schemeClr val="bg2"/>
                  </a:solidFill>
                </a:rPr>
                <a:t>π</a:t>
              </a:r>
              <a:r>
                <a:rPr lang="en-US" altLang="zh-CN" sz="2400" b="1" baseline="-25000">
                  <a:solidFill>
                    <a:schemeClr val="bg2"/>
                  </a:solidFill>
                </a:rPr>
                <a:t>L</a:t>
              </a:r>
              <a:r>
                <a:rPr lang="zh-CN" altLang="en-US" sz="2400" b="1">
                  <a:solidFill>
                    <a:schemeClr val="bg2"/>
                  </a:solidFill>
                </a:rPr>
                <a:t>（</a:t>
              </a:r>
              <a:r>
                <a:rPr lang="en-US" altLang="zh-CN" sz="2400" b="1">
                  <a:solidFill>
                    <a:schemeClr val="bg2"/>
                  </a:solidFill>
                </a:rPr>
                <a:t>E1</a:t>
              </a:r>
              <a:r>
                <a:rPr lang="zh-CN" altLang="en-US" sz="2400" b="1">
                  <a:solidFill>
                    <a:schemeClr val="bg2"/>
                  </a:solidFill>
                </a:rPr>
                <a:t>）∪</a:t>
              </a:r>
              <a:r>
                <a:rPr lang="en-US" altLang="zh-CN" sz="2400" b="1">
                  <a:solidFill>
                    <a:schemeClr val="bg2"/>
                  </a:solidFill>
                </a:rPr>
                <a:t>π</a:t>
              </a:r>
              <a:r>
                <a:rPr lang="en-US" altLang="zh-CN" sz="2400" b="1" baseline="-25000">
                  <a:solidFill>
                    <a:schemeClr val="bg2"/>
                  </a:solidFill>
                </a:rPr>
                <a:t>L</a:t>
              </a:r>
              <a:r>
                <a:rPr lang="zh-CN" altLang="en-US" sz="2400" b="1">
                  <a:solidFill>
                    <a:schemeClr val="bg2"/>
                  </a:solidFill>
                </a:rPr>
                <a:t>（</a:t>
              </a:r>
              <a:r>
                <a:rPr lang="en-US" altLang="zh-CN" sz="2400" b="1">
                  <a:solidFill>
                    <a:schemeClr val="bg2"/>
                  </a:solidFill>
                </a:rPr>
                <a:t>E2</a:t>
              </a:r>
              <a:r>
                <a:rPr lang="zh-CN" altLang="en-US" sz="2400" b="1">
                  <a:solidFill>
                    <a:schemeClr val="bg2"/>
                  </a:solidFill>
                </a:rPr>
                <a:t>）</a:t>
              </a:r>
            </a:p>
            <a:p>
              <a:pPr indent="476250">
                <a:lnSpc>
                  <a:spcPct val="140000"/>
                </a:lnSpc>
              </a:pPr>
              <a:r>
                <a:rPr lang="en-US" altLang="zh-CN" sz="2400" b="1">
                  <a:solidFill>
                    <a:srgbClr val="660033"/>
                  </a:solidFill>
                </a:rPr>
                <a:t>12</a:t>
              </a:r>
              <a:r>
                <a:rPr lang="zh-CN" altLang="en-US" sz="2400" b="1">
                  <a:solidFill>
                    <a:srgbClr val="660033"/>
                  </a:solidFill>
                </a:rPr>
                <a:t>． 选择与联接操作的结合</a:t>
              </a:r>
            </a:p>
            <a:p>
              <a:pPr indent="476250">
                <a:lnSpc>
                  <a:spcPct val="140000"/>
                </a:lnSpc>
              </a:pPr>
              <a:r>
                <a:rPr lang="zh-CN" altLang="en-US" sz="2400" b="1">
                  <a:solidFill>
                    <a:schemeClr val="bg2"/>
                  </a:solidFill>
                </a:rPr>
                <a:t>   </a:t>
              </a:r>
              <a:r>
                <a:rPr lang="en-US" altLang="zh-CN" sz="2400" b="1">
                  <a:solidFill>
                    <a:schemeClr val="bg2"/>
                  </a:solidFill>
                </a:rPr>
                <a:t>σ</a:t>
              </a:r>
              <a:r>
                <a:rPr lang="en-US" altLang="zh-CN" sz="2400" b="1" baseline="-25000">
                  <a:solidFill>
                    <a:schemeClr val="bg2"/>
                  </a:solidFill>
                </a:rPr>
                <a:t>F1</a:t>
              </a:r>
              <a:r>
                <a:rPr lang="zh-CN" altLang="en-US" sz="2400" b="1">
                  <a:solidFill>
                    <a:schemeClr val="bg2"/>
                  </a:solidFill>
                </a:rPr>
                <a:t>（</a:t>
              </a:r>
              <a:r>
                <a:rPr lang="en-US" altLang="zh-CN" sz="2400" b="1">
                  <a:solidFill>
                    <a:schemeClr val="bg2"/>
                  </a:solidFill>
                </a:rPr>
                <a:t>E1     E2</a:t>
              </a:r>
              <a:r>
                <a:rPr lang="zh-CN" altLang="en-US" sz="2400" b="1">
                  <a:solidFill>
                    <a:schemeClr val="bg2"/>
                  </a:solidFill>
                </a:rPr>
                <a:t>）≡ </a:t>
              </a:r>
              <a:r>
                <a:rPr lang="en-US" altLang="zh-CN" sz="2400" b="1">
                  <a:solidFill>
                    <a:schemeClr val="bg2"/>
                  </a:solidFill>
                </a:rPr>
                <a:t>E1 </a:t>
              </a:r>
              <a:r>
                <a:rPr lang="en-US" altLang="zh-CN" sz="2400" b="1" baseline="-25000">
                  <a:solidFill>
                    <a:schemeClr val="bg2"/>
                  </a:solidFill>
                </a:rPr>
                <a:t>       </a:t>
              </a:r>
              <a:r>
                <a:rPr lang="en-US" altLang="zh-CN" sz="2400" b="1">
                  <a:solidFill>
                    <a:schemeClr val="bg2"/>
                  </a:solidFill>
                </a:rPr>
                <a:t>E2</a:t>
              </a:r>
            </a:p>
            <a:p>
              <a:pPr indent="476250">
                <a:lnSpc>
                  <a:spcPct val="140000"/>
                </a:lnSpc>
              </a:pPr>
              <a:r>
                <a:rPr lang="en-US" altLang="zh-CN" sz="2400" b="1">
                  <a:solidFill>
                    <a:srgbClr val="660033"/>
                  </a:solidFill>
                  <a:latin typeface="Times New Roman"/>
                </a:rPr>
                <a:t> </a:t>
              </a:r>
              <a:r>
                <a:rPr lang="en-US" altLang="zh-CN" sz="2400" b="1">
                  <a:solidFill>
                    <a:srgbClr val="660033"/>
                  </a:solidFill>
                </a:rPr>
                <a:t>13</a:t>
              </a:r>
              <a:r>
                <a:rPr lang="zh-CN" altLang="en-US" sz="2400" b="1">
                  <a:solidFill>
                    <a:srgbClr val="660033"/>
                  </a:solidFill>
                </a:rPr>
                <a:t>． 并和交的交换律</a:t>
              </a:r>
            </a:p>
            <a:p>
              <a:pPr indent="476250">
                <a:lnSpc>
                  <a:spcPct val="140000"/>
                </a:lnSpc>
              </a:pPr>
              <a:r>
                <a:rPr lang="zh-CN" altLang="en-US" sz="2400" b="1">
                  <a:solidFill>
                    <a:schemeClr val="bg2"/>
                  </a:solidFill>
                </a:rPr>
                <a:t>   </a:t>
              </a:r>
              <a:r>
                <a:rPr lang="zh-CN" altLang="en-US" sz="2400" b="1">
                  <a:solidFill>
                    <a:schemeClr val="bg2"/>
                  </a:solidFill>
                  <a:latin typeface="Times New Roman"/>
                </a:rPr>
                <a:t> </a:t>
              </a:r>
              <a:r>
                <a:rPr lang="en-US" altLang="zh-CN" sz="2400" b="1">
                  <a:solidFill>
                    <a:schemeClr val="bg2"/>
                  </a:solidFill>
                </a:rPr>
                <a:t>E1∪E2 ≡ E2∪E1   </a:t>
              </a:r>
            </a:p>
            <a:p>
              <a:pPr indent="476250">
                <a:lnSpc>
                  <a:spcPct val="140000"/>
                </a:lnSpc>
              </a:pPr>
              <a:r>
                <a:rPr lang="en-US" altLang="zh-CN" sz="2400" b="1">
                  <a:solidFill>
                    <a:schemeClr val="bg2"/>
                  </a:solidFill>
                </a:rPr>
                <a:t>    E1∩E2 ≡ E2∩E1</a:t>
              </a:r>
            </a:p>
            <a:p>
              <a:pPr indent="476250">
                <a:lnSpc>
                  <a:spcPct val="140000"/>
                </a:lnSpc>
              </a:pPr>
              <a:r>
                <a:rPr lang="en-US" altLang="zh-CN" sz="2400" b="1">
                  <a:solidFill>
                    <a:srgbClr val="660033"/>
                  </a:solidFill>
                </a:rPr>
                <a:t>14</a:t>
              </a:r>
              <a:r>
                <a:rPr lang="zh-CN" altLang="en-US" sz="2400" b="1">
                  <a:solidFill>
                    <a:srgbClr val="660033"/>
                  </a:solidFill>
                </a:rPr>
                <a:t>． 并和交的结合律</a:t>
              </a:r>
            </a:p>
            <a:p>
              <a:pPr indent="476250">
                <a:lnSpc>
                  <a:spcPct val="140000"/>
                </a:lnSpc>
              </a:pPr>
              <a:r>
                <a:rPr lang="zh-CN" altLang="en-US" sz="2400" b="1">
                  <a:solidFill>
                    <a:schemeClr val="bg2"/>
                  </a:solidFill>
                  <a:latin typeface="Times New Roman"/>
                </a:rPr>
                <a:t> </a:t>
              </a:r>
              <a:r>
                <a:rPr lang="zh-CN" altLang="en-US" sz="2400" b="1">
                  <a:solidFill>
                    <a:schemeClr val="bg2"/>
                  </a:solidFill>
                </a:rPr>
                <a:t>  （</a:t>
              </a:r>
              <a:r>
                <a:rPr lang="en-US" altLang="zh-CN" sz="2400" b="1">
                  <a:solidFill>
                    <a:schemeClr val="bg2"/>
                  </a:solidFill>
                </a:rPr>
                <a:t>E1∪E2</a:t>
              </a:r>
              <a:r>
                <a:rPr lang="zh-CN" altLang="en-US" sz="2400" b="1">
                  <a:solidFill>
                    <a:schemeClr val="bg2"/>
                  </a:solidFill>
                </a:rPr>
                <a:t>）∪</a:t>
              </a:r>
              <a:r>
                <a:rPr lang="en-US" altLang="zh-CN" sz="2400" b="1">
                  <a:solidFill>
                    <a:schemeClr val="bg2"/>
                  </a:solidFill>
                </a:rPr>
                <a:t>E3≡ E1∪</a:t>
              </a:r>
              <a:r>
                <a:rPr lang="zh-CN" altLang="en-US" sz="2400" b="1">
                  <a:solidFill>
                    <a:schemeClr val="bg2"/>
                  </a:solidFill>
                </a:rPr>
                <a:t>（</a:t>
              </a:r>
              <a:r>
                <a:rPr lang="en-US" altLang="zh-CN" sz="2400" b="1">
                  <a:solidFill>
                    <a:schemeClr val="bg2"/>
                  </a:solidFill>
                </a:rPr>
                <a:t>E2∪E3</a:t>
              </a:r>
              <a:r>
                <a:rPr lang="zh-CN" altLang="en-US" sz="2400" b="1">
                  <a:solidFill>
                    <a:schemeClr val="bg2"/>
                  </a:solidFill>
                </a:rPr>
                <a:t>）</a:t>
              </a:r>
            </a:p>
            <a:p>
              <a:pPr indent="476250">
                <a:lnSpc>
                  <a:spcPct val="140000"/>
                </a:lnSpc>
              </a:pPr>
              <a:r>
                <a:rPr lang="zh-CN" altLang="en-US" sz="2400" b="1">
                  <a:solidFill>
                    <a:schemeClr val="bg2"/>
                  </a:solidFill>
                </a:rPr>
                <a:t>   （</a:t>
              </a:r>
              <a:r>
                <a:rPr lang="en-US" altLang="zh-CN" sz="2400" b="1">
                  <a:solidFill>
                    <a:schemeClr val="bg2"/>
                  </a:solidFill>
                </a:rPr>
                <a:t>E1∩E2</a:t>
              </a:r>
              <a:r>
                <a:rPr lang="zh-CN" altLang="en-US" sz="2400" b="1">
                  <a:solidFill>
                    <a:schemeClr val="bg2"/>
                  </a:solidFill>
                </a:rPr>
                <a:t>）∩</a:t>
              </a:r>
              <a:r>
                <a:rPr lang="en-US" altLang="zh-CN" sz="2400" b="1">
                  <a:solidFill>
                    <a:schemeClr val="bg2"/>
                  </a:solidFill>
                </a:rPr>
                <a:t>E3≡ E1∩</a:t>
              </a:r>
              <a:r>
                <a:rPr lang="zh-CN" altLang="en-US" sz="2400" b="1">
                  <a:solidFill>
                    <a:schemeClr val="bg2"/>
                  </a:solidFill>
                </a:rPr>
                <a:t>（</a:t>
              </a:r>
              <a:r>
                <a:rPr lang="en-US" altLang="zh-CN" sz="2400" b="1">
                  <a:solidFill>
                    <a:schemeClr val="bg2"/>
                  </a:solidFill>
                </a:rPr>
                <a:t>E2∩E3</a:t>
              </a:r>
              <a:r>
                <a:rPr lang="zh-CN" altLang="en-US" sz="2400" b="1">
                  <a:solidFill>
                    <a:schemeClr val="bg2"/>
                  </a:solidFill>
                </a:rPr>
                <a:t>） </a:t>
              </a:r>
            </a:p>
          </p:txBody>
        </p:sp>
        <p:sp>
          <p:nvSpPr>
            <p:cNvPr id="650244" name="Text Box 4"/>
            <p:cNvSpPr txBox="1">
              <a:spLocks noChangeArrowheads="1"/>
            </p:cNvSpPr>
            <p:nvPr/>
          </p:nvSpPr>
          <p:spPr bwMode="auto">
            <a:xfrm>
              <a:off x="1296" y="1152"/>
              <a:ext cx="672"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9525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a:t>
              </a:r>
            </a:p>
            <a:p>
              <a:pPr algn="just" eaLnBrk="0" hangingPunct="0">
                <a:lnSpc>
                  <a:spcPct val="100000"/>
                </a:lnSpc>
                <a:spcBef>
                  <a:spcPct val="50000"/>
                </a:spcBef>
              </a:pPr>
              <a:r>
                <a:rPr lang="en-US" altLang="zh-CN" baseline="3000">
                  <a:solidFill>
                    <a:schemeClr val="bg2"/>
                  </a:solidFill>
                  <a:latin typeface="宋体" pitchFamily="2" charset="-122"/>
                </a:rPr>
                <a:t> </a:t>
              </a:r>
              <a:r>
                <a:rPr lang="en-US" altLang="zh-CN" baseline="1000">
                  <a:solidFill>
                    <a:schemeClr val="bg2"/>
                  </a:solidFill>
                  <a:latin typeface="宋体" pitchFamily="2" charset="-122"/>
                </a:rPr>
                <a:t>F2</a:t>
              </a:r>
            </a:p>
          </p:txBody>
        </p:sp>
        <p:sp>
          <p:nvSpPr>
            <p:cNvPr id="650245" name="Text Box 5"/>
            <p:cNvSpPr txBox="1">
              <a:spLocks noChangeArrowheads="1"/>
            </p:cNvSpPr>
            <p:nvPr/>
          </p:nvSpPr>
          <p:spPr bwMode="auto">
            <a:xfrm>
              <a:off x="2592" y="1152"/>
              <a:ext cx="672" cy="63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lvl1pPr marL="190500" algn="l">
                <a:spcBef>
                  <a:spcPct val="0"/>
                </a:spcBef>
                <a:defRPr kumimoji="1" sz="2400">
                  <a:solidFill>
                    <a:schemeClr val="tx1"/>
                  </a:solidFill>
                  <a:latin typeface="Times New Roman" pitchFamily="18" charset="0"/>
                  <a:ea typeface="宋体" pitchFamily="2" charset="-122"/>
                </a:defRPr>
              </a:lvl1pPr>
              <a:lvl2pPr algn="l">
                <a:spcBef>
                  <a:spcPct val="0"/>
                </a:spcBef>
                <a:defRPr kumimoji="1" sz="2400">
                  <a:solidFill>
                    <a:schemeClr val="tx1"/>
                  </a:solidFill>
                  <a:latin typeface="Times New Roman" pitchFamily="18" charset="0"/>
                  <a:ea typeface="宋体" pitchFamily="2" charset="-122"/>
                </a:defRPr>
              </a:lvl2pPr>
              <a:lvl3pPr algn="l">
                <a:spcBef>
                  <a:spcPct val="0"/>
                </a:spcBef>
                <a:defRPr kumimoji="1" sz="2400">
                  <a:solidFill>
                    <a:schemeClr val="tx1"/>
                  </a:solidFill>
                  <a:latin typeface="Times New Roman" pitchFamily="18" charset="0"/>
                  <a:ea typeface="宋体" pitchFamily="2" charset="-122"/>
                </a:defRPr>
              </a:lvl3pPr>
              <a:lvl4pPr algn="l">
                <a:spcBef>
                  <a:spcPct val="0"/>
                </a:spcBef>
                <a:defRPr kumimoji="1" sz="2400">
                  <a:solidFill>
                    <a:schemeClr val="tx1"/>
                  </a:solidFill>
                  <a:latin typeface="Times New Roman" pitchFamily="18" charset="0"/>
                  <a:ea typeface="宋体" pitchFamily="2" charset="-122"/>
                </a:defRPr>
              </a:lvl4pPr>
              <a:lvl5pPr algn="l">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lgn="just" eaLnBrk="0" hangingPunct="0">
                <a:lnSpc>
                  <a:spcPct val="100000"/>
                </a:lnSpc>
                <a:spcBef>
                  <a:spcPct val="50000"/>
                </a:spcBef>
              </a:pPr>
              <a:r>
                <a:rPr lang="en-US" altLang="zh-CN" sz="5400" baseline="-35000">
                  <a:solidFill>
                    <a:schemeClr val="bg2"/>
                  </a:solidFill>
                </a:rPr>
                <a:t>⋈</a:t>
              </a:r>
            </a:p>
            <a:p>
              <a:pPr algn="just" eaLnBrk="0" hangingPunct="0">
                <a:lnSpc>
                  <a:spcPct val="100000"/>
                </a:lnSpc>
                <a:spcBef>
                  <a:spcPct val="50000"/>
                </a:spcBef>
              </a:pPr>
              <a:r>
                <a:rPr lang="en-US" altLang="zh-CN" baseline="10000">
                  <a:solidFill>
                    <a:schemeClr val="bg2"/>
                  </a:solidFill>
                  <a:latin typeface="宋体" pitchFamily="2" charset="-122"/>
                </a:rPr>
                <a:t>F1∧F2</a:t>
              </a:r>
            </a:p>
          </p:txBody>
        </p:sp>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1266" name="Rectangle 2"/>
          <p:cNvSpPr>
            <a:spLocks noChangeArrowheads="1"/>
          </p:cNvSpPr>
          <p:nvPr/>
        </p:nvSpPr>
        <p:spPr bwMode="auto">
          <a:xfrm>
            <a:off x="152400" y="80963"/>
            <a:ext cx="9144000" cy="1443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457200" indent="-457200" algn="l">
              <a:lnSpc>
                <a:spcPct val="160000"/>
              </a:lnSpc>
            </a:pPr>
            <a:r>
              <a:rPr lang="en-US" altLang="zh-CN" sz="2400" b="1">
                <a:solidFill>
                  <a:srgbClr val="000099"/>
                </a:solidFill>
              </a:rPr>
              <a:t>  </a:t>
            </a:r>
            <a:r>
              <a:rPr lang="zh-CN" altLang="en-US" sz="2400" b="1">
                <a:solidFill>
                  <a:srgbClr val="000099"/>
                </a:solidFill>
              </a:rPr>
              <a:t>三、</a:t>
            </a:r>
            <a:r>
              <a:rPr lang="zh-CN" altLang="en-US" sz="2400" b="1">
                <a:solidFill>
                  <a:srgbClr val="000099"/>
                </a:solidFill>
                <a:cs typeface="Times New Roman" pitchFamily="18" charset="0"/>
              </a:rPr>
              <a:t>优化的一般策略</a:t>
            </a:r>
            <a:r>
              <a:rPr lang="zh-CN" altLang="en-US" sz="2400" b="1">
                <a:solidFill>
                  <a:srgbClr val="000099"/>
                </a:solidFill>
              </a:rPr>
              <a:t> </a:t>
            </a:r>
            <a:r>
              <a:rPr lang="en-US" altLang="zh-CN" sz="2400" b="1">
                <a:solidFill>
                  <a:srgbClr val="000099"/>
                </a:solidFill>
              </a:rPr>
              <a:t>(1--6)</a:t>
            </a:r>
          </a:p>
          <a:p>
            <a:pPr marL="457200" indent="-457200" algn="l">
              <a:lnSpc>
                <a:spcPct val="160000"/>
              </a:lnSpc>
            </a:pPr>
            <a:r>
              <a:rPr lang="en-US" altLang="zh-CN" sz="2400" b="1">
                <a:solidFill>
                  <a:schemeClr val="bg2"/>
                </a:solidFill>
              </a:rPr>
              <a:t>(1) </a:t>
            </a:r>
            <a:r>
              <a:rPr lang="zh-CN" altLang="en-US" sz="2400" b="1">
                <a:solidFill>
                  <a:schemeClr val="bg2"/>
                </a:solidFill>
                <a:cs typeface="Times New Roman" pitchFamily="18" charset="0"/>
              </a:rPr>
              <a:t>在关系代数表达式中尽可能早地执行选择操作。</a:t>
            </a:r>
          </a:p>
        </p:txBody>
      </p:sp>
      <p:sp>
        <p:nvSpPr>
          <p:cNvPr id="651267" name="Rectangle 3"/>
          <p:cNvSpPr>
            <a:spLocks noChangeArrowheads="1"/>
          </p:cNvSpPr>
          <p:nvPr/>
        </p:nvSpPr>
        <p:spPr bwMode="auto">
          <a:xfrm>
            <a:off x="152400" y="1533525"/>
            <a:ext cx="9144000"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457200" indent="-457200" algn="l">
              <a:lnSpc>
                <a:spcPct val="160000"/>
              </a:lnSpc>
            </a:pPr>
            <a:r>
              <a:rPr lang="en-US" altLang="zh-CN" sz="2400" b="1">
                <a:solidFill>
                  <a:srgbClr val="660033"/>
                </a:solidFill>
                <a:cs typeface="Times New Roman" pitchFamily="18" charset="0"/>
              </a:rPr>
              <a:t>(2) </a:t>
            </a:r>
            <a:r>
              <a:rPr lang="zh-CN" altLang="en-US" sz="2400" b="1">
                <a:solidFill>
                  <a:srgbClr val="660033"/>
                </a:solidFill>
                <a:cs typeface="Times New Roman" pitchFamily="18" charset="0"/>
              </a:rPr>
              <a:t>把笛卡儿积和其后的选择操作合并成</a:t>
            </a:r>
            <a:r>
              <a:rPr lang="en-US" altLang="zh-CN" sz="2400" b="1">
                <a:solidFill>
                  <a:srgbClr val="660033"/>
                </a:solidFill>
                <a:cs typeface="Times New Roman" pitchFamily="18" charset="0"/>
              </a:rPr>
              <a:t>F</a:t>
            </a:r>
            <a:r>
              <a:rPr lang="zh-CN" altLang="en-US" sz="2400" b="1">
                <a:solidFill>
                  <a:srgbClr val="660033"/>
                </a:solidFill>
                <a:cs typeface="Times New Roman" pitchFamily="18" charset="0"/>
              </a:rPr>
              <a:t>联接运算。</a:t>
            </a:r>
            <a:endParaRPr lang="zh-CN" altLang="en-US" sz="2400" b="1">
              <a:solidFill>
                <a:srgbClr val="660033"/>
              </a:solidFill>
            </a:endParaRPr>
          </a:p>
        </p:txBody>
      </p:sp>
      <p:sp>
        <p:nvSpPr>
          <p:cNvPr id="651268" name="Rectangle 4"/>
          <p:cNvSpPr>
            <a:spLocks noChangeArrowheads="1"/>
          </p:cNvSpPr>
          <p:nvPr/>
        </p:nvSpPr>
        <p:spPr bwMode="auto">
          <a:xfrm>
            <a:off x="152400" y="2209800"/>
            <a:ext cx="9144000" cy="1443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marL="457200" indent="-457200" algn="l">
              <a:lnSpc>
                <a:spcPct val="160000"/>
              </a:lnSpc>
            </a:pPr>
            <a:r>
              <a:rPr lang="en-US" altLang="zh-CN" sz="2400" b="1">
                <a:solidFill>
                  <a:schemeClr val="bg2"/>
                </a:solidFill>
              </a:rPr>
              <a:t>(3) </a:t>
            </a:r>
            <a:r>
              <a:rPr lang="zh-CN" altLang="en-US" sz="2400" b="1">
                <a:solidFill>
                  <a:schemeClr val="bg2"/>
                </a:solidFill>
              </a:rPr>
              <a:t>同时计算一连串的选择和投影操作，以免分开运算造成多次</a:t>
            </a:r>
          </a:p>
          <a:p>
            <a:pPr marL="457200" indent="-457200" algn="l">
              <a:lnSpc>
                <a:spcPct val="160000"/>
              </a:lnSpc>
            </a:pPr>
            <a:r>
              <a:rPr lang="zh-CN" altLang="en-US" sz="2400" b="1">
                <a:solidFill>
                  <a:schemeClr val="bg2"/>
                </a:solidFill>
              </a:rPr>
              <a:t>    扫描文件，节省操作时间。</a:t>
            </a:r>
          </a:p>
        </p:txBody>
      </p:sp>
      <p:sp>
        <p:nvSpPr>
          <p:cNvPr id="651269" name="Rectangle 5"/>
          <p:cNvSpPr>
            <a:spLocks noChangeArrowheads="1"/>
          </p:cNvSpPr>
          <p:nvPr/>
        </p:nvSpPr>
        <p:spPr bwMode="auto">
          <a:xfrm>
            <a:off x="152400" y="3662363"/>
            <a:ext cx="9144000" cy="144303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lnSpc>
                <a:spcPct val="160000"/>
              </a:lnSpc>
            </a:pPr>
            <a:r>
              <a:rPr lang="en-US" altLang="zh-CN" sz="2400" b="1">
                <a:solidFill>
                  <a:srgbClr val="660033"/>
                </a:solidFill>
                <a:cs typeface="Times New Roman" pitchFamily="18" charset="0"/>
              </a:rPr>
              <a:t>(4) </a:t>
            </a:r>
            <a:r>
              <a:rPr lang="zh-CN" altLang="en-US" sz="2400" b="1">
                <a:solidFill>
                  <a:srgbClr val="660033"/>
                </a:solidFill>
                <a:cs typeface="Times New Roman" pitchFamily="18" charset="0"/>
              </a:rPr>
              <a:t>如在一个表达式中多次出现某个子表达式，</a:t>
            </a:r>
            <a:r>
              <a:rPr lang="zh-CN" altLang="en-US" sz="2400" b="1">
                <a:solidFill>
                  <a:srgbClr val="660033"/>
                </a:solidFill>
              </a:rPr>
              <a:t>可先对</a:t>
            </a:r>
            <a:r>
              <a:rPr lang="zh-CN" altLang="en-US" sz="2400" b="1">
                <a:solidFill>
                  <a:srgbClr val="660033"/>
                </a:solidFill>
                <a:cs typeface="Times New Roman" pitchFamily="18" charset="0"/>
              </a:rPr>
              <a:t>该子</a:t>
            </a:r>
          </a:p>
          <a:p>
            <a:pPr algn="l">
              <a:lnSpc>
                <a:spcPct val="160000"/>
              </a:lnSpc>
            </a:pPr>
            <a:r>
              <a:rPr lang="zh-CN" altLang="en-US" sz="2400" b="1">
                <a:solidFill>
                  <a:srgbClr val="660033"/>
                </a:solidFill>
                <a:cs typeface="Times New Roman" pitchFamily="18" charset="0"/>
              </a:rPr>
              <a:t>   表达式</a:t>
            </a:r>
            <a:r>
              <a:rPr lang="zh-CN" altLang="en-US" sz="2400" b="1">
                <a:solidFill>
                  <a:srgbClr val="660033"/>
                </a:solidFill>
              </a:rPr>
              <a:t>进行</a:t>
            </a:r>
            <a:r>
              <a:rPr lang="zh-CN" altLang="en-US" sz="2400" b="1">
                <a:solidFill>
                  <a:srgbClr val="660033"/>
                </a:solidFill>
                <a:cs typeface="Times New Roman" pitchFamily="18" charset="0"/>
              </a:rPr>
              <a:t>计算</a:t>
            </a:r>
            <a:r>
              <a:rPr lang="zh-CN" altLang="en-US" sz="2400" b="1">
                <a:solidFill>
                  <a:srgbClr val="660033"/>
                </a:solidFill>
              </a:rPr>
              <a:t>并</a:t>
            </a:r>
            <a:r>
              <a:rPr lang="zh-CN" altLang="en-US" sz="2400" b="1">
                <a:solidFill>
                  <a:srgbClr val="660033"/>
                </a:solidFill>
                <a:cs typeface="Times New Roman" pitchFamily="18" charset="0"/>
              </a:rPr>
              <a:t>保存结果，以免重复计算。</a:t>
            </a:r>
            <a:r>
              <a:rPr lang="zh-CN" altLang="en-US" sz="2400" b="1">
                <a:solidFill>
                  <a:srgbClr val="660033"/>
                </a:solidFill>
              </a:rPr>
              <a:t> </a:t>
            </a:r>
          </a:p>
        </p:txBody>
      </p:sp>
      <p:sp>
        <p:nvSpPr>
          <p:cNvPr id="651270" name="Rectangle 6"/>
          <p:cNvSpPr>
            <a:spLocks noChangeArrowheads="1"/>
          </p:cNvSpPr>
          <p:nvPr/>
        </p:nvSpPr>
        <p:spPr bwMode="auto">
          <a:xfrm>
            <a:off x="152400" y="5038725"/>
            <a:ext cx="9144000"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lnSpc>
                <a:spcPct val="160000"/>
              </a:lnSpc>
            </a:pPr>
            <a:r>
              <a:rPr lang="en-US" altLang="zh-CN" sz="2400" b="1">
                <a:solidFill>
                  <a:schemeClr val="bg2"/>
                </a:solidFill>
                <a:cs typeface="Times New Roman" pitchFamily="18" charset="0"/>
              </a:rPr>
              <a:t>(5) </a:t>
            </a:r>
            <a:r>
              <a:rPr lang="zh-CN" altLang="en-US" sz="2400" b="1">
                <a:solidFill>
                  <a:schemeClr val="bg2"/>
                </a:solidFill>
                <a:cs typeface="Times New Roman" pitchFamily="18" charset="0"/>
              </a:rPr>
              <a:t>适当地对关系文件进行预处理。</a:t>
            </a:r>
            <a:r>
              <a:rPr lang="zh-CN" altLang="en-US" sz="2400" b="1">
                <a:solidFill>
                  <a:schemeClr val="bg2"/>
                </a:solidFill>
              </a:rPr>
              <a:t> </a:t>
            </a:r>
          </a:p>
        </p:txBody>
      </p:sp>
      <p:sp>
        <p:nvSpPr>
          <p:cNvPr id="651271" name="Rectangle 7"/>
          <p:cNvSpPr>
            <a:spLocks noChangeArrowheads="1"/>
          </p:cNvSpPr>
          <p:nvPr/>
        </p:nvSpPr>
        <p:spPr bwMode="auto">
          <a:xfrm>
            <a:off x="152400" y="5800725"/>
            <a:ext cx="7042150" cy="676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pPr algn="l">
              <a:lnSpc>
                <a:spcPct val="160000"/>
              </a:lnSpc>
            </a:pPr>
            <a:r>
              <a:rPr lang="en-US" altLang="zh-CN" sz="2400" b="1">
                <a:solidFill>
                  <a:srgbClr val="660033"/>
                </a:solidFill>
                <a:cs typeface="Times New Roman" pitchFamily="18" charset="0"/>
              </a:rPr>
              <a:t>(6) </a:t>
            </a:r>
            <a:r>
              <a:rPr lang="zh-CN" altLang="en-US" sz="2400" b="1">
                <a:solidFill>
                  <a:srgbClr val="660033"/>
                </a:solidFill>
                <a:cs typeface="Times New Roman" pitchFamily="18" charset="0"/>
              </a:rPr>
              <a:t>在计算表达式前应先估计一下怎么计算合算。</a:t>
            </a:r>
            <a:r>
              <a:rPr lang="zh-CN" altLang="en-US" sz="2400" b="1">
                <a:solidFill>
                  <a:srgbClr val="660033"/>
                </a:solidFill>
              </a:rPr>
              <a:t>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1267"/>
                                        </p:tgtEl>
                                        <p:attrNameLst>
                                          <p:attrName>style.visibility</p:attrName>
                                        </p:attrNameLst>
                                      </p:cBhvr>
                                      <p:to>
                                        <p:strVal val="visible"/>
                                      </p:to>
                                    </p:set>
                                    <p:animEffect transition="in" filter="blinds(horizontal)">
                                      <p:cBhvr>
                                        <p:cTn id="7" dur="500"/>
                                        <p:tgtEl>
                                          <p:spTgt spid="65126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51268"/>
                                        </p:tgtEl>
                                        <p:attrNameLst>
                                          <p:attrName>style.visibility</p:attrName>
                                        </p:attrNameLst>
                                      </p:cBhvr>
                                      <p:to>
                                        <p:strVal val="visible"/>
                                      </p:to>
                                    </p:set>
                                    <p:animEffect transition="in" filter="blinds(horizontal)">
                                      <p:cBhvr>
                                        <p:cTn id="12" dur="500"/>
                                        <p:tgtEl>
                                          <p:spTgt spid="65126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51269"/>
                                        </p:tgtEl>
                                        <p:attrNameLst>
                                          <p:attrName>style.visibility</p:attrName>
                                        </p:attrNameLst>
                                      </p:cBhvr>
                                      <p:to>
                                        <p:strVal val="visible"/>
                                      </p:to>
                                    </p:set>
                                    <p:animEffect transition="in" filter="blinds(horizontal)">
                                      <p:cBhvr>
                                        <p:cTn id="17" dur="500"/>
                                        <p:tgtEl>
                                          <p:spTgt spid="65126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651270"/>
                                        </p:tgtEl>
                                        <p:attrNameLst>
                                          <p:attrName>style.visibility</p:attrName>
                                        </p:attrNameLst>
                                      </p:cBhvr>
                                      <p:to>
                                        <p:strVal val="visible"/>
                                      </p:to>
                                    </p:set>
                                    <p:animEffect transition="in" filter="blinds(horizontal)">
                                      <p:cBhvr>
                                        <p:cTn id="22" dur="500"/>
                                        <p:tgtEl>
                                          <p:spTgt spid="65127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651271"/>
                                        </p:tgtEl>
                                        <p:attrNameLst>
                                          <p:attrName>style.visibility</p:attrName>
                                        </p:attrNameLst>
                                      </p:cBhvr>
                                      <p:to>
                                        <p:strVal val="visible"/>
                                      </p:to>
                                    </p:set>
                                    <p:animEffect transition="in" filter="blinds(horizontal)">
                                      <p:cBhvr>
                                        <p:cTn id="27" dur="500"/>
                                        <p:tgtEl>
                                          <p:spTgt spid="65127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1267" grpId="0" autoUpdateAnimBg="0"/>
      <p:bldP spid="651268" grpId="0" autoUpdateAnimBg="0"/>
      <p:bldP spid="651269" grpId="0" autoUpdateAnimBg="0"/>
      <p:bldP spid="651270" grpId="0" autoUpdateAnimBg="0"/>
      <p:bldP spid="651271" grpId="0" autoUpdateAnimBg="0"/>
    </p:bldLst>
  </p:timing>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2290" name="Rectangle 2"/>
          <p:cNvSpPr>
            <a:spLocks noChangeArrowheads="1"/>
          </p:cNvSpPr>
          <p:nvPr/>
        </p:nvSpPr>
        <p:spPr bwMode="auto">
          <a:xfrm>
            <a:off x="0" y="-26988"/>
            <a:ext cx="9144000" cy="2100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zh-CN" altLang="en-US" sz="2400" b="1">
                <a:solidFill>
                  <a:srgbClr val="000099"/>
                </a:solidFill>
              </a:rPr>
              <a:t>三、关系代数表达式的优化算法</a:t>
            </a:r>
          </a:p>
          <a:p>
            <a:pPr>
              <a:lnSpc>
                <a:spcPct val="150000"/>
              </a:lnSpc>
            </a:pPr>
            <a:r>
              <a:rPr lang="zh-CN" altLang="en-US" sz="2400" b="1">
                <a:solidFill>
                  <a:srgbClr val="660033"/>
                </a:solidFill>
              </a:rPr>
              <a:t>    输入：</a:t>
            </a:r>
            <a:r>
              <a:rPr lang="zh-CN" altLang="en-US" sz="2400" b="1">
                <a:solidFill>
                  <a:schemeClr val="bg2"/>
                </a:solidFill>
              </a:rPr>
              <a:t>一个关系代数表达式的语法树。</a:t>
            </a:r>
          </a:p>
          <a:p>
            <a:pPr>
              <a:lnSpc>
                <a:spcPct val="150000"/>
              </a:lnSpc>
            </a:pPr>
            <a:r>
              <a:rPr lang="zh-CN" altLang="en-US" sz="2400" b="1">
                <a:solidFill>
                  <a:schemeClr val="bg2"/>
                </a:solidFill>
              </a:rPr>
              <a:t>    </a:t>
            </a:r>
            <a:r>
              <a:rPr lang="zh-CN" altLang="en-US" sz="2400" b="1">
                <a:solidFill>
                  <a:srgbClr val="660033"/>
                </a:solidFill>
              </a:rPr>
              <a:t>输出：</a:t>
            </a:r>
            <a:r>
              <a:rPr lang="zh-CN" altLang="en-US" sz="2400" b="1">
                <a:solidFill>
                  <a:schemeClr val="bg2"/>
                </a:solidFill>
              </a:rPr>
              <a:t>计算表达式的一个优化序列。</a:t>
            </a:r>
          </a:p>
        </p:txBody>
      </p:sp>
      <p:sp>
        <p:nvSpPr>
          <p:cNvPr id="652291" name="Rectangle 3"/>
          <p:cNvSpPr>
            <a:spLocks noChangeArrowheads="1"/>
          </p:cNvSpPr>
          <p:nvPr/>
        </p:nvSpPr>
        <p:spPr bwMode="auto">
          <a:xfrm>
            <a:off x="0" y="2060575"/>
            <a:ext cx="9144000" cy="1954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50000"/>
              </a:lnSpc>
            </a:pPr>
            <a:r>
              <a:rPr lang="en-US" altLang="zh-CN" sz="2400" b="1" dirty="0">
                <a:solidFill>
                  <a:schemeClr val="bg2"/>
                </a:solidFill>
              </a:rPr>
              <a:t>    </a:t>
            </a:r>
            <a:r>
              <a:rPr lang="zh-CN" altLang="en-US" sz="2400" b="1" dirty="0">
                <a:solidFill>
                  <a:srgbClr val="660033"/>
                </a:solidFill>
              </a:rPr>
              <a:t>方法</a:t>
            </a:r>
            <a:r>
              <a:rPr lang="en-US" altLang="zh-CN" sz="2400" b="1" dirty="0">
                <a:solidFill>
                  <a:srgbClr val="660033"/>
                </a:solidFill>
              </a:rPr>
              <a:t>:</a:t>
            </a:r>
            <a:r>
              <a:rPr lang="en-US" altLang="zh-CN" sz="2400" b="1" dirty="0">
                <a:solidFill>
                  <a:schemeClr val="bg2"/>
                </a:solidFill>
              </a:rPr>
              <a:t> </a:t>
            </a:r>
            <a:r>
              <a:rPr lang="zh-CN" altLang="en-US" sz="2400" b="1" dirty="0">
                <a:solidFill>
                  <a:schemeClr val="bg2"/>
                </a:solidFill>
              </a:rPr>
              <a:t>依次执行下面每一步。</a:t>
            </a:r>
          </a:p>
          <a:p>
            <a:pPr>
              <a:lnSpc>
                <a:spcPct val="130000"/>
              </a:lnSpc>
            </a:pPr>
            <a:r>
              <a:rPr lang="zh-CN" altLang="en-US" sz="2400" b="1" dirty="0">
                <a:solidFill>
                  <a:schemeClr val="bg2"/>
                </a:solidFill>
              </a:rPr>
              <a:t> ① 使用等价变换</a:t>
            </a:r>
            <a:r>
              <a:rPr lang="zh-CN" altLang="en-US" sz="2400" b="1" dirty="0">
                <a:solidFill>
                  <a:srgbClr val="000099"/>
                </a:solidFill>
              </a:rPr>
              <a:t>规则⑷</a:t>
            </a:r>
            <a:r>
              <a:rPr lang="zh-CN" altLang="en-US" sz="2400" b="1" dirty="0">
                <a:solidFill>
                  <a:schemeClr val="bg2"/>
                </a:solidFill>
              </a:rPr>
              <a:t>把每个形为</a:t>
            </a:r>
            <a:r>
              <a:rPr lang="en-US" altLang="zh-CN" sz="2400" b="1" dirty="0">
                <a:solidFill>
                  <a:schemeClr val="bg2"/>
                </a:solidFill>
              </a:rPr>
              <a:t>σ</a:t>
            </a:r>
            <a:r>
              <a:rPr lang="en-US" altLang="zh-CN" sz="2400" b="1" baseline="-25000" dirty="0">
                <a:solidFill>
                  <a:schemeClr val="bg2"/>
                </a:solidFill>
              </a:rPr>
              <a:t>F1∧</a:t>
            </a:r>
            <a:r>
              <a:rPr lang="en-US" altLang="zh-CN" sz="2400" b="1" baseline="-25000" dirty="0">
                <a:solidFill>
                  <a:schemeClr val="bg2"/>
                </a:solidFill>
                <a:latin typeface="Times New Roman"/>
              </a:rPr>
              <a:t>…</a:t>
            </a:r>
            <a:r>
              <a:rPr lang="en-US" altLang="zh-CN" sz="2400" b="1" baseline="-25000" dirty="0">
                <a:solidFill>
                  <a:schemeClr val="bg2"/>
                </a:solidFill>
              </a:rPr>
              <a:t> ∧</a:t>
            </a:r>
            <a:r>
              <a:rPr lang="en-US" altLang="zh-CN" sz="2400" b="1" baseline="-25000" dirty="0" err="1">
                <a:solidFill>
                  <a:schemeClr val="bg2"/>
                </a:solidFill>
              </a:rPr>
              <a:t>Fn</a:t>
            </a:r>
            <a:r>
              <a:rPr lang="zh-CN" altLang="en-US" sz="2400" b="1" dirty="0">
                <a:solidFill>
                  <a:schemeClr val="bg2"/>
                </a:solidFill>
              </a:rPr>
              <a:t>（</a:t>
            </a:r>
            <a:r>
              <a:rPr lang="en-US" altLang="zh-CN" sz="2400" b="1" dirty="0">
                <a:solidFill>
                  <a:schemeClr val="bg2"/>
                </a:solidFill>
              </a:rPr>
              <a:t>E</a:t>
            </a:r>
            <a:r>
              <a:rPr lang="zh-CN" altLang="en-US" sz="2400" b="1" dirty="0">
                <a:solidFill>
                  <a:schemeClr val="bg2"/>
                </a:solidFill>
              </a:rPr>
              <a:t>）的子表达式转 </a:t>
            </a:r>
          </a:p>
          <a:p>
            <a:pPr>
              <a:lnSpc>
                <a:spcPct val="130000"/>
              </a:lnSpc>
            </a:pPr>
            <a:r>
              <a:rPr lang="zh-CN" altLang="en-US" sz="2400" b="1" dirty="0">
                <a:solidFill>
                  <a:schemeClr val="bg2"/>
                </a:solidFill>
              </a:rPr>
              <a:t>    换成选择串接形式：  </a:t>
            </a:r>
            <a:r>
              <a:rPr lang="en-US" altLang="zh-CN" sz="2400" b="1" dirty="0">
                <a:solidFill>
                  <a:schemeClr val="bg2"/>
                </a:solidFill>
              </a:rPr>
              <a:t>σ</a:t>
            </a:r>
            <a:r>
              <a:rPr lang="en-US" altLang="zh-CN" sz="2400" b="1" baseline="-25000" dirty="0">
                <a:solidFill>
                  <a:schemeClr val="bg2"/>
                </a:solidFill>
              </a:rPr>
              <a:t>F1</a:t>
            </a:r>
            <a:r>
              <a:rPr lang="zh-CN" altLang="en-US" sz="2400" b="1" dirty="0">
                <a:solidFill>
                  <a:schemeClr val="bg2"/>
                </a:solidFill>
              </a:rPr>
              <a:t>（</a:t>
            </a:r>
            <a:r>
              <a:rPr lang="en-US" altLang="zh-CN" sz="2400" b="1" dirty="0">
                <a:solidFill>
                  <a:schemeClr val="bg2"/>
                </a:solidFill>
                <a:latin typeface="Times New Roman"/>
              </a:rPr>
              <a:t>…</a:t>
            </a:r>
            <a:r>
              <a:rPr lang="en-US" altLang="zh-CN" sz="2400" b="1" dirty="0" err="1">
                <a:solidFill>
                  <a:schemeClr val="bg2"/>
                </a:solidFill>
              </a:rPr>
              <a:t>σ</a:t>
            </a:r>
            <a:r>
              <a:rPr lang="en-US" altLang="zh-CN" sz="2400" b="1" baseline="-25000" dirty="0" err="1">
                <a:solidFill>
                  <a:schemeClr val="bg2"/>
                </a:solidFill>
              </a:rPr>
              <a:t>Fn</a:t>
            </a:r>
            <a:r>
              <a:rPr lang="zh-CN" altLang="en-US" sz="2400" b="1" dirty="0">
                <a:solidFill>
                  <a:schemeClr val="bg2"/>
                </a:solidFill>
              </a:rPr>
              <a:t>（</a:t>
            </a:r>
            <a:r>
              <a:rPr lang="en-US" altLang="zh-CN" sz="2400" b="1" dirty="0">
                <a:solidFill>
                  <a:schemeClr val="bg2"/>
                </a:solidFill>
              </a:rPr>
              <a:t>E</a:t>
            </a:r>
            <a:r>
              <a:rPr lang="zh-CN" altLang="en-US" sz="2400" b="1" dirty="0">
                <a:solidFill>
                  <a:schemeClr val="bg2"/>
                </a:solidFill>
              </a:rPr>
              <a:t>））</a:t>
            </a:r>
            <a:r>
              <a:rPr lang="en-US" altLang="zh-CN" sz="2400" b="1" dirty="0">
                <a:solidFill>
                  <a:schemeClr val="bg2"/>
                </a:solidFill>
                <a:latin typeface="Times New Roman"/>
              </a:rPr>
              <a:t>…</a:t>
            </a:r>
            <a:r>
              <a:rPr lang="zh-CN" altLang="en-US" sz="2400" b="1" dirty="0">
                <a:solidFill>
                  <a:schemeClr val="bg2"/>
                </a:solidFill>
              </a:rPr>
              <a:t>）</a:t>
            </a:r>
          </a:p>
        </p:txBody>
      </p:sp>
      <p:sp>
        <p:nvSpPr>
          <p:cNvPr id="652292" name="Rectangle 4"/>
          <p:cNvSpPr>
            <a:spLocks noChangeArrowheads="1"/>
          </p:cNvSpPr>
          <p:nvPr/>
        </p:nvSpPr>
        <p:spPr bwMode="auto">
          <a:xfrm>
            <a:off x="152400" y="4076700"/>
            <a:ext cx="9144000" cy="12239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pPr>
            <a:r>
              <a:rPr lang="en-US" altLang="zh-CN" sz="2400" b="1">
                <a:solidFill>
                  <a:schemeClr val="bg2"/>
                </a:solidFill>
              </a:rPr>
              <a:t>② </a:t>
            </a:r>
            <a:r>
              <a:rPr lang="zh-CN" altLang="en-US" sz="2400" b="1">
                <a:solidFill>
                  <a:schemeClr val="bg2"/>
                </a:solidFill>
              </a:rPr>
              <a:t>对每个选择操作，使用</a:t>
            </a:r>
            <a:r>
              <a:rPr lang="zh-CN" altLang="en-US" sz="2400" b="1">
                <a:solidFill>
                  <a:srgbClr val="000099"/>
                </a:solidFill>
              </a:rPr>
              <a:t>规则⑷～⑼</a:t>
            </a:r>
            <a:r>
              <a:rPr lang="zh-CN" altLang="en-US" sz="2400" b="1">
                <a:solidFill>
                  <a:schemeClr val="bg2"/>
                </a:solidFill>
              </a:rPr>
              <a:t>，尽可能把</a:t>
            </a:r>
            <a:r>
              <a:rPr lang="zh-CN" altLang="en-US" sz="2400" b="1">
                <a:solidFill>
                  <a:srgbClr val="000099"/>
                </a:solidFill>
              </a:rPr>
              <a:t>选择操作移近树</a:t>
            </a:r>
          </a:p>
          <a:p>
            <a:pPr>
              <a:lnSpc>
                <a:spcPct val="130000"/>
              </a:lnSpc>
            </a:pPr>
            <a:r>
              <a:rPr lang="zh-CN" altLang="en-US" sz="2400" b="1">
                <a:solidFill>
                  <a:srgbClr val="000099"/>
                </a:solidFill>
              </a:rPr>
              <a:t>    的叶端</a:t>
            </a:r>
            <a:r>
              <a:rPr lang="zh-CN" altLang="en-US" sz="2400" b="1">
                <a:solidFill>
                  <a:schemeClr val="bg2"/>
                </a:solidFill>
              </a:rPr>
              <a:t>（即尽可能早地执行选择操作）。</a:t>
            </a:r>
          </a:p>
        </p:txBody>
      </p:sp>
      <p:sp>
        <p:nvSpPr>
          <p:cNvPr id="652293" name="Rectangle 5"/>
          <p:cNvSpPr>
            <a:spLocks noChangeArrowheads="1"/>
          </p:cNvSpPr>
          <p:nvPr/>
        </p:nvSpPr>
        <p:spPr bwMode="auto">
          <a:xfrm>
            <a:off x="152400" y="5373688"/>
            <a:ext cx="9144000" cy="1223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pPr>
            <a:r>
              <a:rPr lang="en-US" altLang="zh-CN" sz="2400" b="1">
                <a:solidFill>
                  <a:schemeClr val="bg2"/>
                </a:solidFill>
              </a:rPr>
              <a:t>③ </a:t>
            </a:r>
            <a:r>
              <a:rPr lang="zh-CN" altLang="en-US" sz="2400" b="1">
                <a:solidFill>
                  <a:schemeClr val="bg2"/>
                </a:solidFill>
              </a:rPr>
              <a:t>对每个投影操作，使用</a:t>
            </a:r>
            <a:r>
              <a:rPr lang="zh-CN" altLang="en-US" sz="2400" b="1">
                <a:solidFill>
                  <a:srgbClr val="000099"/>
                </a:solidFill>
              </a:rPr>
              <a:t>规则</a:t>
            </a:r>
            <a:r>
              <a:rPr lang="en-US" altLang="zh-CN" sz="2400" b="1">
                <a:solidFill>
                  <a:srgbClr val="000099"/>
                </a:solidFill>
              </a:rPr>
              <a:t>(3)</a:t>
            </a:r>
            <a:r>
              <a:rPr lang="zh-CN" altLang="en-US" sz="2400" b="1">
                <a:solidFill>
                  <a:srgbClr val="000099"/>
                </a:solidFill>
              </a:rPr>
              <a:t>，</a:t>
            </a:r>
            <a:r>
              <a:rPr lang="en-US" altLang="zh-CN" sz="2400" b="1">
                <a:solidFill>
                  <a:srgbClr val="000099"/>
                </a:solidFill>
              </a:rPr>
              <a:t>(5)</a:t>
            </a:r>
            <a:r>
              <a:rPr lang="zh-CN" altLang="en-US" sz="2400" b="1">
                <a:solidFill>
                  <a:srgbClr val="000099"/>
                </a:solidFill>
              </a:rPr>
              <a:t>，</a:t>
            </a:r>
            <a:r>
              <a:rPr lang="en-US" altLang="zh-CN" sz="2400" b="1">
                <a:solidFill>
                  <a:srgbClr val="000099"/>
                </a:solidFill>
              </a:rPr>
              <a:t>(10)</a:t>
            </a:r>
            <a:r>
              <a:rPr lang="zh-CN" altLang="en-US" sz="2400" b="1">
                <a:solidFill>
                  <a:srgbClr val="000099"/>
                </a:solidFill>
              </a:rPr>
              <a:t>和</a:t>
            </a:r>
            <a:r>
              <a:rPr lang="en-US" altLang="zh-CN" sz="2400" b="1">
                <a:solidFill>
                  <a:srgbClr val="000099"/>
                </a:solidFill>
              </a:rPr>
              <a:t>(11)</a:t>
            </a:r>
            <a:r>
              <a:rPr lang="zh-CN" altLang="en-US" sz="2400" b="1">
                <a:solidFill>
                  <a:schemeClr val="bg2"/>
                </a:solidFill>
              </a:rPr>
              <a:t>，尽可能把</a:t>
            </a:r>
          </a:p>
          <a:p>
            <a:pPr>
              <a:lnSpc>
                <a:spcPct val="130000"/>
              </a:lnSpc>
            </a:pPr>
            <a:r>
              <a:rPr lang="zh-CN" altLang="en-US" sz="2400" b="1">
                <a:solidFill>
                  <a:schemeClr val="bg2"/>
                </a:solidFill>
              </a:rPr>
              <a:t>    </a:t>
            </a:r>
            <a:r>
              <a:rPr lang="zh-CN" altLang="en-US" sz="2400" b="1">
                <a:solidFill>
                  <a:srgbClr val="000099"/>
                </a:solidFill>
              </a:rPr>
              <a:t>投影操作移近树的叶端。</a:t>
            </a:r>
          </a:p>
        </p:txBody>
      </p:sp>
      <p:pic>
        <p:nvPicPr>
          <p:cNvPr id="6" name="图片 5">
            <a:extLst>
              <a:ext uri="{FF2B5EF4-FFF2-40B4-BE49-F238E27FC236}">
                <a16:creationId xmlns:a16="http://schemas.microsoft.com/office/drawing/2014/main" id="{4A119DBF-7AA2-4045-8000-5FCEBDD9E1F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76" t="20973" r="54062" b="13716"/>
          <a:stretch>
            <a:fillRect/>
          </a:stretch>
        </p:blipFill>
        <p:spPr bwMode="auto">
          <a:xfrm>
            <a:off x="4572000" y="135446"/>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图片 6">
            <a:extLst>
              <a:ext uri="{FF2B5EF4-FFF2-40B4-BE49-F238E27FC236}">
                <a16:creationId xmlns:a16="http://schemas.microsoft.com/office/drawing/2014/main" id="{0B434F6E-C70B-7043-B5F9-CF0292F3ED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76" t="20973" r="54062" b="13716"/>
          <a:stretch>
            <a:fillRect/>
          </a:stretch>
        </p:blipFill>
        <p:spPr bwMode="auto">
          <a:xfrm>
            <a:off x="5149850" y="135445"/>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图片 7">
            <a:extLst>
              <a:ext uri="{FF2B5EF4-FFF2-40B4-BE49-F238E27FC236}">
                <a16:creationId xmlns:a16="http://schemas.microsoft.com/office/drawing/2014/main" id="{77AE3ABA-3E4B-9B47-BB23-B27AC6F152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676" t="20973" r="54062" b="13716"/>
          <a:stretch>
            <a:fillRect/>
          </a:stretch>
        </p:blipFill>
        <p:spPr bwMode="auto">
          <a:xfrm>
            <a:off x="5709492" y="135444"/>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2291"/>
                                        </p:tgtEl>
                                        <p:attrNameLst>
                                          <p:attrName>style.visibility</p:attrName>
                                        </p:attrNameLst>
                                      </p:cBhvr>
                                      <p:to>
                                        <p:strVal val="visible"/>
                                      </p:to>
                                    </p:set>
                                    <p:animEffect transition="in" filter="blinds(horizontal)">
                                      <p:cBhvr>
                                        <p:cTn id="7" dur="500"/>
                                        <p:tgtEl>
                                          <p:spTgt spid="65229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52292"/>
                                        </p:tgtEl>
                                        <p:attrNameLst>
                                          <p:attrName>style.visibility</p:attrName>
                                        </p:attrNameLst>
                                      </p:cBhvr>
                                      <p:to>
                                        <p:strVal val="visible"/>
                                      </p:to>
                                    </p:set>
                                    <p:animEffect transition="in" filter="blinds(horizontal)">
                                      <p:cBhvr>
                                        <p:cTn id="12" dur="500"/>
                                        <p:tgtEl>
                                          <p:spTgt spid="65229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52293"/>
                                        </p:tgtEl>
                                        <p:attrNameLst>
                                          <p:attrName>style.visibility</p:attrName>
                                        </p:attrNameLst>
                                      </p:cBhvr>
                                      <p:to>
                                        <p:strVal val="visible"/>
                                      </p:to>
                                    </p:set>
                                    <p:animEffect transition="in" filter="blinds(horizontal)">
                                      <p:cBhvr>
                                        <p:cTn id="17" dur="500"/>
                                        <p:tgtEl>
                                          <p:spTgt spid="652293"/>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7"/>
                                        </p:tgtEl>
                                        <p:attrNameLst>
                                          <p:attrName>style.visibility</p:attrName>
                                        </p:attrNameLst>
                                      </p:cBhvr>
                                      <p:to>
                                        <p:strVal val="visible"/>
                                      </p:to>
                                    </p:set>
                                  </p:childTnLst>
                                </p:cTn>
                              </p:par>
                            </p:childTnLst>
                          </p:cTn>
                        </p:par>
                      </p:childTnLst>
                    </p:cTn>
                  </p:par>
                  <p:par>
                    <p:cTn id="26" fill="hold">
                      <p:stCondLst>
                        <p:cond delay="indefinite"/>
                      </p:stCondLst>
                      <p:childTnLst>
                        <p:par>
                          <p:cTn id="27" fill="hold">
                            <p:stCondLst>
                              <p:cond delay="0"/>
                            </p:stCondLst>
                            <p:childTnLst>
                              <p:par>
                                <p:cTn id="28" presetID="1" presetClass="entr" presetSubtype="0" fill="hold" nodeType="clickEffect">
                                  <p:stCondLst>
                                    <p:cond delay="0"/>
                                  </p:stCondLst>
                                  <p:childTnLst>
                                    <p:set>
                                      <p:cBhvr>
                                        <p:cTn id="2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2291" grpId="0" autoUpdateAnimBg="0"/>
      <p:bldP spid="652292" grpId="0" autoUpdateAnimBg="0"/>
      <p:bldP spid="652293" grpId="0" autoUpdateAnimBg="0"/>
    </p:bldLst>
  </p:timing>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3314" name="Rectangle 2"/>
          <p:cNvSpPr>
            <a:spLocks noChangeArrowheads="1"/>
          </p:cNvSpPr>
          <p:nvPr/>
        </p:nvSpPr>
        <p:spPr bwMode="auto">
          <a:xfrm>
            <a:off x="0" y="0"/>
            <a:ext cx="9144000" cy="12604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60000"/>
              </a:lnSpc>
            </a:pPr>
            <a:r>
              <a:rPr lang="en-US" altLang="zh-CN" sz="2400" b="1">
                <a:solidFill>
                  <a:schemeClr val="bg2"/>
                </a:solidFill>
              </a:rPr>
              <a:t>④ </a:t>
            </a:r>
            <a:r>
              <a:rPr lang="zh-CN" altLang="en-US" sz="2400" b="1">
                <a:solidFill>
                  <a:srgbClr val="000099"/>
                </a:solidFill>
              </a:rPr>
              <a:t>使用规则⑶～⑸，把选择和投影合并成单个选择、单个投影或一个选择后跟一个投影。</a:t>
            </a:r>
          </a:p>
        </p:txBody>
      </p:sp>
      <p:sp>
        <p:nvSpPr>
          <p:cNvPr id="653315" name="Rectangle 3"/>
          <p:cNvSpPr>
            <a:spLocks noChangeArrowheads="1"/>
          </p:cNvSpPr>
          <p:nvPr/>
        </p:nvSpPr>
        <p:spPr bwMode="auto">
          <a:xfrm>
            <a:off x="0" y="1268413"/>
            <a:ext cx="9144000" cy="25384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pPr>
            <a:r>
              <a:rPr lang="en-US" altLang="zh-CN" sz="2400" b="1" dirty="0">
                <a:solidFill>
                  <a:schemeClr val="bg2"/>
                </a:solidFill>
              </a:rPr>
              <a:t>⑤ </a:t>
            </a:r>
            <a:r>
              <a:rPr lang="zh-CN" altLang="en-US" sz="2400" b="1" dirty="0">
                <a:solidFill>
                  <a:srgbClr val="660033"/>
                </a:solidFill>
              </a:rPr>
              <a:t>将上述步骤得到的语法树的内结点分组。分组原则：</a:t>
            </a:r>
          </a:p>
          <a:p>
            <a:pPr>
              <a:lnSpc>
                <a:spcPct val="130000"/>
              </a:lnSpc>
            </a:pPr>
            <a:r>
              <a:rPr lang="zh-CN" altLang="en-US" sz="2400" b="1" dirty="0">
                <a:solidFill>
                  <a:schemeClr val="bg1"/>
                </a:solidFill>
              </a:rPr>
              <a:t> </a:t>
            </a:r>
            <a:r>
              <a:rPr lang="en-US" altLang="zh-CN" sz="2400" b="1" dirty="0">
                <a:solidFill>
                  <a:schemeClr val="bg1"/>
                </a:solidFill>
              </a:rPr>
              <a:t>a</a:t>
            </a:r>
            <a:r>
              <a:rPr lang="zh-CN" altLang="en-US" sz="2400" b="1" dirty="0">
                <a:solidFill>
                  <a:schemeClr val="bg1"/>
                </a:solidFill>
              </a:rPr>
              <a:t>、</a:t>
            </a:r>
            <a:r>
              <a:rPr lang="zh-CN" altLang="en-US" sz="2400" b="1" dirty="0">
                <a:solidFill>
                  <a:schemeClr val="bg2"/>
                </a:solidFill>
              </a:rPr>
              <a:t>每个二元运算</a:t>
            </a:r>
            <a:r>
              <a:rPr lang="en-US" altLang="zh-CN" sz="2400" b="1" dirty="0">
                <a:solidFill>
                  <a:srgbClr val="000099"/>
                </a:solidFill>
              </a:rPr>
              <a:t>(×</a:t>
            </a:r>
            <a:r>
              <a:rPr lang="zh-CN" altLang="en-US" sz="2400" b="1" dirty="0">
                <a:solidFill>
                  <a:srgbClr val="000099"/>
                </a:solidFill>
              </a:rPr>
              <a:t>、∪、－</a:t>
            </a:r>
            <a:r>
              <a:rPr lang="en-US" altLang="zh-CN" sz="2400" b="1" dirty="0">
                <a:solidFill>
                  <a:srgbClr val="000099"/>
                </a:solidFill>
              </a:rPr>
              <a:t>)</a:t>
            </a:r>
            <a:r>
              <a:rPr lang="zh-CN" altLang="en-US" sz="2400" b="1" dirty="0">
                <a:solidFill>
                  <a:schemeClr val="bg2"/>
                </a:solidFill>
              </a:rPr>
              <a:t>结点</a:t>
            </a:r>
            <a:r>
              <a:rPr lang="zh-CN" altLang="en-US" sz="2400" b="1" dirty="0">
                <a:solidFill>
                  <a:srgbClr val="000099"/>
                </a:solidFill>
              </a:rPr>
              <a:t>与其直接祖先</a:t>
            </a:r>
            <a:r>
              <a:rPr lang="en-US" altLang="zh-CN" sz="2400" b="1" dirty="0">
                <a:solidFill>
                  <a:schemeClr val="bg2"/>
                </a:solidFill>
              </a:rPr>
              <a:t>(</a:t>
            </a:r>
            <a:r>
              <a:rPr lang="zh-CN" altLang="en-US" sz="2400" b="1" dirty="0">
                <a:solidFill>
                  <a:schemeClr val="bg2"/>
                </a:solidFill>
              </a:rPr>
              <a:t>不超过别的二 </a:t>
            </a:r>
          </a:p>
          <a:p>
            <a:pPr>
              <a:lnSpc>
                <a:spcPct val="130000"/>
              </a:lnSpc>
            </a:pPr>
            <a:r>
              <a:rPr lang="zh-CN" altLang="en-US" sz="2400" b="1" dirty="0">
                <a:solidFill>
                  <a:schemeClr val="bg2"/>
                </a:solidFill>
              </a:rPr>
              <a:t>    元运算结点）的</a:t>
            </a:r>
            <a:r>
              <a:rPr lang="zh-CN" altLang="en-US" sz="2400" b="1" dirty="0">
                <a:solidFill>
                  <a:srgbClr val="000099"/>
                </a:solidFill>
              </a:rPr>
              <a:t>一元运算结点</a:t>
            </a:r>
            <a:r>
              <a:rPr lang="en-US" altLang="zh-CN" sz="2400" b="1" dirty="0">
                <a:solidFill>
                  <a:schemeClr val="bg1"/>
                </a:solidFill>
              </a:rPr>
              <a:t>(</a:t>
            </a:r>
            <a:r>
              <a:rPr lang="en-US" altLang="zh-CN" sz="2400" b="1" dirty="0" err="1">
                <a:solidFill>
                  <a:schemeClr val="bg2"/>
                </a:solidFill>
              </a:rPr>
              <a:t>σ</a:t>
            </a:r>
            <a:r>
              <a:rPr lang="zh-CN" altLang="en-US" sz="2400" b="1" dirty="0">
                <a:solidFill>
                  <a:schemeClr val="bg2"/>
                </a:solidFill>
              </a:rPr>
              <a:t>或</a:t>
            </a:r>
            <a:r>
              <a:rPr lang="en-US" altLang="zh-CN" sz="2400" b="1" dirty="0">
                <a:solidFill>
                  <a:schemeClr val="bg2"/>
                </a:solidFill>
              </a:rPr>
              <a:t>π)</a:t>
            </a:r>
            <a:r>
              <a:rPr lang="zh-CN" altLang="en-US" sz="2400" b="1" dirty="0">
                <a:solidFill>
                  <a:schemeClr val="bg2"/>
                </a:solidFill>
              </a:rPr>
              <a:t>分为一组。</a:t>
            </a:r>
            <a:r>
              <a:rPr lang="zh-CN" altLang="en-US" sz="2400" b="1" dirty="0">
                <a:solidFill>
                  <a:srgbClr val="000099"/>
                </a:solidFill>
              </a:rPr>
              <a:t>如果它的子</a:t>
            </a:r>
          </a:p>
          <a:p>
            <a:pPr>
              <a:lnSpc>
                <a:spcPct val="130000"/>
              </a:lnSpc>
            </a:pPr>
            <a:r>
              <a:rPr lang="zh-CN" altLang="en-US" sz="2400" b="1" dirty="0">
                <a:solidFill>
                  <a:srgbClr val="000099"/>
                </a:solidFill>
              </a:rPr>
              <a:t>    孙结点一直到叶都是一元运算符</a:t>
            </a:r>
            <a:r>
              <a:rPr lang="en-US" altLang="zh-CN" sz="2400" b="1" dirty="0">
                <a:solidFill>
                  <a:srgbClr val="000099"/>
                </a:solidFill>
              </a:rPr>
              <a:t>(</a:t>
            </a:r>
            <a:r>
              <a:rPr lang="en-US" altLang="zh-CN" sz="2400" b="1" dirty="0" err="1">
                <a:solidFill>
                  <a:srgbClr val="000099"/>
                </a:solidFill>
              </a:rPr>
              <a:t>σ</a:t>
            </a:r>
            <a:r>
              <a:rPr lang="zh-CN" altLang="en-US" sz="2400" b="1" dirty="0">
                <a:solidFill>
                  <a:srgbClr val="000099"/>
                </a:solidFill>
              </a:rPr>
              <a:t>或</a:t>
            </a:r>
            <a:r>
              <a:rPr lang="en-US" altLang="zh-CN" sz="2400" b="1" dirty="0">
                <a:solidFill>
                  <a:srgbClr val="000099"/>
                </a:solidFill>
                <a:latin typeface="Times New Roman" pitchFamily="18" charset="0"/>
              </a:rPr>
              <a:t>π)</a:t>
            </a:r>
            <a:r>
              <a:rPr lang="en-US" altLang="zh-CN" sz="2400" b="1" dirty="0">
                <a:solidFill>
                  <a:srgbClr val="000099"/>
                </a:solidFill>
              </a:rPr>
              <a:t>,</a:t>
            </a:r>
            <a:r>
              <a:rPr lang="zh-CN" altLang="en-US" sz="2400" b="1" dirty="0">
                <a:solidFill>
                  <a:srgbClr val="000099"/>
                </a:solidFill>
              </a:rPr>
              <a:t>则也并入该组。</a:t>
            </a:r>
          </a:p>
        </p:txBody>
      </p:sp>
      <p:sp>
        <p:nvSpPr>
          <p:cNvPr id="653316" name="Rectangle 4"/>
          <p:cNvSpPr>
            <a:spLocks noChangeArrowheads="1"/>
          </p:cNvSpPr>
          <p:nvPr/>
        </p:nvSpPr>
        <p:spPr bwMode="auto">
          <a:xfrm>
            <a:off x="0" y="3789363"/>
            <a:ext cx="9144000" cy="11691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pPr>
            <a:r>
              <a:rPr lang="en-US" altLang="zh-CN" sz="2400" b="1" dirty="0">
                <a:solidFill>
                  <a:schemeClr val="bg2"/>
                </a:solidFill>
              </a:rPr>
              <a:t> b</a:t>
            </a:r>
            <a:r>
              <a:rPr lang="zh-CN" altLang="en-US" sz="2400" b="1" dirty="0">
                <a:solidFill>
                  <a:schemeClr val="bg2"/>
                </a:solidFill>
              </a:rPr>
              <a:t>、如果</a:t>
            </a:r>
            <a:r>
              <a:rPr lang="zh-CN" altLang="en-US" sz="2400" b="1" u="sng" dirty="0">
                <a:solidFill>
                  <a:schemeClr val="bg2"/>
                </a:solidFill>
              </a:rPr>
              <a:t>二元运算是笛卡儿积，而且后面不是与它组合成等值联接</a:t>
            </a:r>
          </a:p>
          <a:p>
            <a:pPr>
              <a:lnSpc>
                <a:spcPct val="130000"/>
              </a:lnSpc>
            </a:pPr>
            <a:r>
              <a:rPr lang="zh-CN" altLang="en-US" sz="2400" b="1" u="sng" dirty="0">
                <a:solidFill>
                  <a:schemeClr val="bg2"/>
                </a:solidFill>
              </a:rPr>
              <a:t>    的选择时</a:t>
            </a:r>
            <a:r>
              <a:rPr lang="zh-CN" altLang="en-US" sz="2400" b="1" dirty="0">
                <a:solidFill>
                  <a:schemeClr val="bg2"/>
                </a:solidFill>
              </a:rPr>
              <a:t>，则不能将选择与这个二元运算组成同一组。</a:t>
            </a:r>
          </a:p>
        </p:txBody>
      </p:sp>
      <p:sp>
        <p:nvSpPr>
          <p:cNvPr id="653317" name="Rectangle 5"/>
          <p:cNvSpPr>
            <a:spLocks noChangeArrowheads="1"/>
          </p:cNvSpPr>
          <p:nvPr/>
        </p:nvSpPr>
        <p:spPr bwMode="auto">
          <a:xfrm>
            <a:off x="76200" y="5157788"/>
            <a:ext cx="9144000" cy="12239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130000"/>
              </a:lnSpc>
            </a:pPr>
            <a:r>
              <a:rPr lang="en-US" altLang="zh-CN" sz="2400" b="1">
                <a:solidFill>
                  <a:schemeClr val="bg2"/>
                </a:solidFill>
              </a:rPr>
              <a:t>⑥ </a:t>
            </a:r>
            <a:r>
              <a:rPr lang="zh-CN" altLang="en-US" sz="2400" b="1">
                <a:solidFill>
                  <a:schemeClr val="bg2"/>
                </a:solidFill>
              </a:rPr>
              <a:t>生成一个程序，每一组结点的计算是程序中的一步，各步的顺</a:t>
            </a:r>
          </a:p>
          <a:p>
            <a:pPr>
              <a:lnSpc>
                <a:spcPct val="130000"/>
              </a:lnSpc>
            </a:pPr>
            <a:r>
              <a:rPr lang="zh-CN" altLang="en-US" sz="2400" b="1">
                <a:solidFill>
                  <a:schemeClr val="bg2"/>
                </a:solidFill>
              </a:rPr>
              <a:t>   序是任意的只要保证任何一组不会在它的子孙组之前计算。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3315"/>
                                        </p:tgtEl>
                                        <p:attrNameLst>
                                          <p:attrName>style.visibility</p:attrName>
                                        </p:attrNameLst>
                                      </p:cBhvr>
                                      <p:to>
                                        <p:strVal val="visible"/>
                                      </p:to>
                                    </p:set>
                                    <p:animEffect transition="in" filter="blinds(horizontal)">
                                      <p:cBhvr>
                                        <p:cTn id="7" dur="500"/>
                                        <p:tgtEl>
                                          <p:spTgt spid="65331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53316"/>
                                        </p:tgtEl>
                                        <p:attrNameLst>
                                          <p:attrName>style.visibility</p:attrName>
                                        </p:attrNameLst>
                                      </p:cBhvr>
                                      <p:to>
                                        <p:strVal val="visible"/>
                                      </p:to>
                                    </p:set>
                                    <p:animEffect transition="in" filter="blinds(horizontal)">
                                      <p:cBhvr>
                                        <p:cTn id="12" dur="500"/>
                                        <p:tgtEl>
                                          <p:spTgt spid="6533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53317"/>
                                        </p:tgtEl>
                                        <p:attrNameLst>
                                          <p:attrName>style.visibility</p:attrName>
                                        </p:attrNameLst>
                                      </p:cBhvr>
                                      <p:to>
                                        <p:strVal val="visible"/>
                                      </p:to>
                                    </p:set>
                                    <p:animEffect transition="in" filter="blinds(horizontal)">
                                      <p:cBhvr>
                                        <p:cTn id="17" dur="500"/>
                                        <p:tgtEl>
                                          <p:spTgt spid="6533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3315" grpId="0" autoUpdateAnimBg="0"/>
      <p:bldP spid="653316" grpId="0" autoUpdateAnimBg="0"/>
      <p:bldP spid="653317" grpId="0" autoUpdateAnimBg="0"/>
    </p:bldLst>
  </p:timing>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69FC44-95C5-6F77-4197-439FA306C603}"/>
            </a:ext>
          </a:extLst>
        </p:cNvPr>
        <p:cNvGrpSpPr/>
        <p:nvPr/>
      </p:nvGrpSpPr>
      <p:grpSpPr>
        <a:xfrm>
          <a:off x="0" y="0"/>
          <a:ext cx="0" cy="0"/>
          <a:chOff x="0" y="0"/>
          <a:chExt cx="0" cy="0"/>
        </a:xfrm>
      </p:grpSpPr>
      <p:sp>
        <p:nvSpPr>
          <p:cNvPr id="654338" name="Rectangle 2">
            <a:extLst>
              <a:ext uri="{FF2B5EF4-FFF2-40B4-BE49-F238E27FC236}">
                <a16:creationId xmlns:a16="http://schemas.microsoft.com/office/drawing/2014/main" id="{AF889EE5-A904-175A-B194-1012C0E5B4FF}"/>
              </a:ext>
            </a:extLst>
          </p:cNvPr>
          <p:cNvSpPr>
            <a:spLocks noChangeArrowheads="1"/>
          </p:cNvSpPr>
          <p:nvPr/>
        </p:nvSpPr>
        <p:spPr bwMode="auto">
          <a:xfrm>
            <a:off x="0" y="0"/>
            <a:ext cx="9144000" cy="7577074"/>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pPr>
            <a:r>
              <a:rPr lang="en-US" altLang="zh-CN" sz="2400" b="1" dirty="0">
                <a:solidFill>
                  <a:schemeClr val="bg2"/>
                </a:solidFill>
              </a:rPr>
              <a:t>  </a:t>
            </a:r>
            <a:r>
              <a:rPr lang="zh-CN" altLang="en-US" sz="2400" b="1" dirty="0">
                <a:solidFill>
                  <a:srgbClr val="660033"/>
                </a:solidFill>
              </a:rPr>
              <a:t>举例</a:t>
            </a:r>
            <a:r>
              <a:rPr lang="en-US" altLang="zh-CN" sz="2400" b="1" dirty="0">
                <a:solidFill>
                  <a:srgbClr val="660033"/>
                </a:solidFill>
              </a:rPr>
              <a:t>1:</a:t>
            </a:r>
            <a:r>
              <a:rPr lang="en-US" altLang="zh-CN" sz="2400" b="1" dirty="0">
                <a:solidFill>
                  <a:schemeClr val="bg2"/>
                </a:solidFill>
              </a:rPr>
              <a:t>   </a:t>
            </a:r>
            <a:r>
              <a:rPr lang="zh-CN" altLang="en-US" sz="2400" b="1" dirty="0">
                <a:solidFill>
                  <a:schemeClr val="bg2"/>
                </a:solidFill>
              </a:rPr>
              <a:t>工程数据库：</a:t>
            </a:r>
            <a:r>
              <a:rPr lang="en-US" altLang="zh-CN" sz="2400" b="1" dirty="0">
                <a:solidFill>
                  <a:schemeClr val="bg2"/>
                </a:solidFill>
              </a:rPr>
              <a:t>S(SNO,SNAME,SADDR)</a:t>
            </a:r>
          </a:p>
          <a:p>
            <a:pPr>
              <a:lnSpc>
                <a:spcPct val="200000"/>
              </a:lnSpc>
              <a:spcBef>
                <a:spcPct val="0"/>
              </a:spcBef>
            </a:pPr>
            <a:r>
              <a:rPr lang="en-US" altLang="zh-CN" sz="2400" b="1" dirty="0">
                <a:solidFill>
                  <a:schemeClr val="bg2"/>
                </a:solidFill>
              </a:rPr>
              <a:t>                      P(PNO,PNAME,COLOR,WEIGHT)</a:t>
            </a:r>
          </a:p>
          <a:p>
            <a:pPr>
              <a:lnSpc>
                <a:spcPct val="200000"/>
              </a:lnSpc>
              <a:spcBef>
                <a:spcPct val="0"/>
              </a:spcBef>
            </a:pPr>
            <a:r>
              <a:rPr lang="zh-CN" altLang="en-US" sz="2400" b="1" dirty="0">
                <a:solidFill>
                  <a:schemeClr val="bg2"/>
                </a:solidFill>
              </a:rPr>
              <a:t>                      </a:t>
            </a:r>
            <a:r>
              <a:rPr lang="en-US" altLang="zh-CN" sz="2400" b="1" dirty="0">
                <a:solidFill>
                  <a:schemeClr val="bg2"/>
                </a:solidFill>
              </a:rPr>
              <a:t>J(JNO,JNAME,JCITY,BALANCE)</a:t>
            </a:r>
          </a:p>
          <a:p>
            <a:pPr>
              <a:lnSpc>
                <a:spcPct val="200000"/>
              </a:lnSpc>
              <a:spcBef>
                <a:spcPct val="0"/>
              </a:spcBef>
            </a:pPr>
            <a:r>
              <a:rPr lang="en-US" altLang="zh-CN" sz="2400" b="1" dirty="0">
                <a:solidFill>
                  <a:schemeClr val="bg2"/>
                </a:solidFill>
              </a:rPr>
              <a:t>                      SPJ(SNO,PNO,JNO,PRICE,QTY)</a:t>
            </a:r>
          </a:p>
          <a:p>
            <a:pPr>
              <a:lnSpc>
                <a:spcPct val="200000"/>
              </a:lnSpc>
              <a:spcBef>
                <a:spcPct val="0"/>
              </a:spcBef>
            </a:pPr>
            <a:r>
              <a:rPr lang="en-US" altLang="zh-CN" sz="2400" b="1" dirty="0">
                <a:solidFill>
                  <a:schemeClr val="bg2"/>
                </a:solidFill>
              </a:rPr>
              <a:t>   </a:t>
            </a:r>
            <a:r>
              <a:rPr lang="en-US" altLang="zh-CN" sz="2400" b="1" dirty="0">
                <a:solidFill>
                  <a:schemeClr val="bg2"/>
                </a:solidFill>
                <a:latin typeface="Times New Roman"/>
              </a:rPr>
              <a:t>“</a:t>
            </a:r>
            <a:r>
              <a:rPr lang="zh-CN" altLang="en-US" sz="2400" b="1" dirty="0">
                <a:solidFill>
                  <a:schemeClr val="bg2"/>
                </a:solidFill>
              </a:rPr>
              <a:t>检索供应给工程</a:t>
            </a:r>
            <a:r>
              <a:rPr lang="en-US" altLang="zh-CN" sz="2400" b="1" dirty="0">
                <a:solidFill>
                  <a:schemeClr val="bg2"/>
                </a:solidFill>
              </a:rPr>
              <a:t>J1</a:t>
            </a:r>
            <a:r>
              <a:rPr lang="zh-CN" altLang="en-US" sz="2400" b="1" dirty="0">
                <a:solidFill>
                  <a:schemeClr val="bg2"/>
                </a:solidFill>
              </a:rPr>
              <a:t>零件位红色的供应商名称和地址</a:t>
            </a:r>
            <a:r>
              <a:rPr lang="zh-CN" altLang="en-US" sz="2400" b="1" dirty="0">
                <a:solidFill>
                  <a:schemeClr val="bg2"/>
                </a:solidFill>
                <a:latin typeface="Times New Roman"/>
              </a:rPr>
              <a:t>”</a:t>
            </a:r>
            <a:r>
              <a:rPr lang="zh-CN" altLang="en-US" sz="2400" b="1" dirty="0">
                <a:solidFill>
                  <a:schemeClr val="bg2"/>
                </a:solidFill>
              </a:rPr>
              <a:t>。</a:t>
            </a:r>
          </a:p>
          <a:p>
            <a:pPr>
              <a:lnSpc>
                <a:spcPct val="200000"/>
              </a:lnSpc>
              <a:spcBef>
                <a:spcPct val="0"/>
              </a:spcBef>
            </a:pPr>
            <a:r>
              <a:rPr lang="zh-CN" altLang="en-US" sz="2400" b="1" dirty="0">
                <a:solidFill>
                  <a:schemeClr val="bg2"/>
                </a:solidFill>
              </a:rPr>
              <a:t>   用关系代数表达式表示：</a:t>
            </a:r>
          </a:p>
          <a:p>
            <a:pPr algn="l" eaLnBrk="0" hangingPunct="0">
              <a:lnSpc>
                <a:spcPct val="150000"/>
              </a:lnSpc>
              <a:spcBef>
                <a:spcPct val="0"/>
              </a:spcBef>
            </a:pPr>
            <a:r>
              <a:rPr lang="en-US" altLang="zh-CN" sz="3600" b="1" dirty="0">
                <a:solidFill>
                  <a:srgbClr val="660033"/>
                </a:solidFill>
              </a:rPr>
              <a:t>π</a:t>
            </a:r>
            <a:r>
              <a:rPr lang="en-US" altLang="zh-CN" sz="3200" b="1" baseline="-10000" dirty="0">
                <a:solidFill>
                  <a:srgbClr val="660033"/>
                </a:solidFill>
              </a:rPr>
              <a:t>SNAME,SADDR</a:t>
            </a:r>
            <a:r>
              <a:rPr lang="en-US" altLang="zh-CN" sz="3200" b="1" dirty="0">
                <a:solidFill>
                  <a:srgbClr val="660033"/>
                </a:solidFill>
              </a:rPr>
              <a:t>(</a:t>
            </a:r>
            <a:r>
              <a:rPr lang="en-US" altLang="zh-CN" sz="3200" b="1" dirty="0" err="1">
                <a:solidFill>
                  <a:srgbClr val="660033"/>
                </a:solidFill>
              </a:rPr>
              <a:t>σ</a:t>
            </a:r>
            <a:r>
              <a:rPr lang="en-US" altLang="zh-CN" sz="3200" b="1" baseline="-10000" dirty="0" err="1">
                <a:solidFill>
                  <a:srgbClr val="660033"/>
                </a:solidFill>
              </a:rPr>
              <a:t>JNO</a:t>
            </a:r>
            <a:r>
              <a:rPr lang="en-US" altLang="zh-CN" sz="3200" b="1" baseline="-10000" dirty="0">
                <a:solidFill>
                  <a:srgbClr val="660033"/>
                </a:solidFill>
              </a:rPr>
              <a:t> =‘J1’∧COLOR =‘</a:t>
            </a:r>
            <a:r>
              <a:rPr lang="zh-CN" altLang="en-US" sz="3200" b="1" baseline="-10000" dirty="0">
                <a:solidFill>
                  <a:srgbClr val="660033"/>
                </a:solidFill>
              </a:rPr>
              <a:t>红色</a:t>
            </a:r>
            <a:r>
              <a:rPr lang="en-US" altLang="zh-CN" sz="3200" b="1" baseline="-10000" dirty="0">
                <a:solidFill>
                  <a:srgbClr val="660033"/>
                </a:solidFill>
              </a:rPr>
              <a:t>’</a:t>
            </a:r>
            <a:r>
              <a:rPr lang="en-US" altLang="zh-CN" sz="3200" b="1" dirty="0">
                <a:solidFill>
                  <a:srgbClr val="660033"/>
                </a:solidFill>
              </a:rPr>
              <a:t>(S</a:t>
            </a:r>
            <a:r>
              <a:rPr lang="en-US" altLang="zh-CN" sz="3600" b="1" dirty="0">
                <a:solidFill>
                  <a:srgbClr val="660033"/>
                </a:solidFill>
                <a:latin typeface="Times New Roman" pitchFamily="18" charset="0"/>
              </a:rPr>
              <a:t>⋈</a:t>
            </a:r>
            <a:r>
              <a:rPr lang="en-US" altLang="zh-CN" sz="3200" b="1" dirty="0">
                <a:solidFill>
                  <a:srgbClr val="660033"/>
                </a:solidFill>
              </a:rPr>
              <a:t>SPJ</a:t>
            </a:r>
            <a:r>
              <a:rPr lang="en-US" altLang="zh-CN" sz="3600" b="1" dirty="0">
                <a:solidFill>
                  <a:srgbClr val="660033"/>
                </a:solidFill>
                <a:latin typeface="Times New Roman" pitchFamily="18" charset="0"/>
              </a:rPr>
              <a:t>⋈</a:t>
            </a:r>
            <a:r>
              <a:rPr lang="en-US" altLang="zh-CN" sz="3200" b="1" dirty="0">
                <a:solidFill>
                  <a:srgbClr val="660033"/>
                </a:solidFill>
              </a:rPr>
              <a:t>P))</a:t>
            </a:r>
          </a:p>
          <a:p>
            <a:pPr algn="l" eaLnBrk="0" hangingPunct="0">
              <a:lnSpc>
                <a:spcPct val="150000"/>
              </a:lnSpc>
              <a:spcBef>
                <a:spcPct val="0"/>
              </a:spcBef>
            </a:pPr>
            <a:r>
              <a:rPr lang="en-US" altLang="zh-CN" sz="3200" b="1" dirty="0">
                <a:solidFill>
                  <a:srgbClr val="660033"/>
                </a:solidFill>
              </a:rPr>
              <a:t>=</a:t>
            </a:r>
            <a:r>
              <a:rPr lang="en-US" altLang="zh-CN" sz="4000" b="1" dirty="0">
                <a:solidFill>
                  <a:srgbClr val="660033"/>
                </a:solidFill>
              </a:rPr>
              <a:t> π</a:t>
            </a:r>
            <a:r>
              <a:rPr lang="en-US" altLang="zh-CN" sz="3600" b="1" baseline="-10000" dirty="0">
                <a:solidFill>
                  <a:srgbClr val="660033"/>
                </a:solidFill>
              </a:rPr>
              <a:t>SNAME,SADDR</a:t>
            </a:r>
            <a:r>
              <a:rPr lang="en-US" altLang="zh-CN" sz="3200" b="1" dirty="0">
                <a:solidFill>
                  <a:srgbClr val="660033"/>
                </a:solidFill>
              </a:rPr>
              <a:t>(</a:t>
            </a:r>
            <a:r>
              <a:rPr lang="en-US" altLang="zh-CN" sz="3200" b="1" dirty="0" err="1">
                <a:solidFill>
                  <a:srgbClr val="660033"/>
                </a:solidFill>
              </a:rPr>
              <a:t>σ</a:t>
            </a:r>
            <a:r>
              <a:rPr lang="en-US" altLang="zh-CN" sz="3200" b="1" baseline="-10000" dirty="0" err="1">
                <a:solidFill>
                  <a:srgbClr val="660033"/>
                </a:solidFill>
              </a:rPr>
              <a:t>JNO</a:t>
            </a:r>
            <a:r>
              <a:rPr lang="en-US" altLang="zh-CN" sz="3200" b="1" baseline="-10000" dirty="0">
                <a:solidFill>
                  <a:srgbClr val="660033"/>
                </a:solidFill>
              </a:rPr>
              <a:t> =‘J1’∧COLOR =‘</a:t>
            </a:r>
            <a:r>
              <a:rPr lang="zh-CN" altLang="en-US" sz="3200" b="1" baseline="-10000" dirty="0">
                <a:solidFill>
                  <a:srgbClr val="660033"/>
                </a:solidFill>
              </a:rPr>
              <a:t>红色</a:t>
            </a:r>
            <a:r>
              <a:rPr lang="en-US" altLang="zh-CN" sz="3200" b="1" baseline="-10000" dirty="0">
                <a:solidFill>
                  <a:srgbClr val="660033"/>
                </a:solidFill>
              </a:rPr>
              <a:t>’</a:t>
            </a:r>
            <a:r>
              <a:rPr lang="en-US" altLang="zh-CN" sz="3200" b="1" dirty="0">
                <a:solidFill>
                  <a:srgbClr val="660033"/>
                </a:solidFill>
              </a:rPr>
              <a:t>(</a:t>
            </a:r>
          </a:p>
          <a:p>
            <a:pPr algn="l" eaLnBrk="0" hangingPunct="0">
              <a:lnSpc>
                <a:spcPct val="150000"/>
              </a:lnSpc>
              <a:spcBef>
                <a:spcPct val="0"/>
              </a:spcBef>
            </a:pPr>
            <a:r>
              <a:rPr lang="en-US" altLang="zh-CN" sz="3200" b="1" dirty="0">
                <a:solidFill>
                  <a:srgbClr val="660033"/>
                </a:solidFill>
              </a:rPr>
              <a:t> π</a:t>
            </a:r>
            <a:r>
              <a:rPr lang="en-US" altLang="zh-CN" sz="3200" b="1" baseline="-10000" dirty="0">
                <a:solidFill>
                  <a:srgbClr val="660033"/>
                </a:solidFill>
              </a:rPr>
              <a:t>L</a:t>
            </a:r>
            <a:r>
              <a:rPr lang="en-US" altLang="zh-CN" sz="3200" b="1" dirty="0">
                <a:solidFill>
                  <a:srgbClr val="660033"/>
                </a:solidFill>
              </a:rPr>
              <a:t>(</a:t>
            </a:r>
            <a:r>
              <a:rPr lang="en-US" altLang="zh-CN" sz="3200" b="1" dirty="0" err="1">
                <a:solidFill>
                  <a:srgbClr val="660033"/>
                </a:solidFill>
              </a:rPr>
              <a:t>σ</a:t>
            </a:r>
            <a:r>
              <a:rPr lang="en-US" altLang="zh-CN" sz="3200" b="1" baseline="-10000" dirty="0" err="1">
                <a:solidFill>
                  <a:srgbClr val="660033"/>
                </a:solidFill>
              </a:rPr>
              <a:t>S.SNO</a:t>
            </a:r>
            <a:r>
              <a:rPr lang="en-US" altLang="zh-CN" sz="3200" b="1" baseline="-10000" dirty="0">
                <a:solidFill>
                  <a:srgbClr val="660033"/>
                </a:solidFill>
              </a:rPr>
              <a:t>=SPJ.SNO ∧ SPJ.PNO = P.PNO</a:t>
            </a:r>
            <a:r>
              <a:rPr lang="en-US" altLang="zh-CN" sz="3200" b="1" dirty="0">
                <a:solidFill>
                  <a:srgbClr val="660033"/>
                </a:solidFill>
              </a:rPr>
              <a:t>(S</a:t>
            </a:r>
            <a:r>
              <a:rPr kumimoji="0" lang="en-US" altLang="zh-CN" sz="3600" b="1" dirty="0">
                <a:solidFill>
                  <a:schemeClr val="bg2"/>
                </a:solidFill>
                <a:latin typeface="Times New Roman" pitchFamily="18" charset="0"/>
              </a:rPr>
              <a:t>×</a:t>
            </a:r>
            <a:r>
              <a:rPr lang="en-US" altLang="zh-CN" sz="3200" b="1" dirty="0">
                <a:solidFill>
                  <a:srgbClr val="660033"/>
                </a:solidFill>
              </a:rPr>
              <a:t>SPJ</a:t>
            </a:r>
            <a:r>
              <a:rPr kumimoji="0" lang="en-US" altLang="zh-CN" sz="3600" b="1" dirty="0">
                <a:solidFill>
                  <a:schemeClr val="bg2"/>
                </a:solidFill>
                <a:latin typeface="Times New Roman" pitchFamily="18" charset="0"/>
              </a:rPr>
              <a:t>×</a:t>
            </a:r>
            <a:r>
              <a:rPr lang="en-US" altLang="zh-CN" sz="3200" b="1" dirty="0">
                <a:solidFill>
                  <a:srgbClr val="660033"/>
                </a:solidFill>
              </a:rPr>
              <a:t>P))))</a:t>
            </a:r>
          </a:p>
          <a:p>
            <a:pPr eaLnBrk="0" hangingPunct="0">
              <a:lnSpc>
                <a:spcPct val="150000"/>
              </a:lnSpc>
              <a:spcBef>
                <a:spcPct val="0"/>
              </a:spcBef>
            </a:pPr>
            <a:r>
              <a:rPr lang="en-US" altLang="zh-CN" sz="2400" b="1" dirty="0">
                <a:solidFill>
                  <a:schemeClr val="bg2"/>
                </a:solidFill>
              </a:rPr>
              <a:t>      </a:t>
            </a:r>
          </a:p>
        </p:txBody>
      </p:sp>
      <p:pic>
        <p:nvPicPr>
          <p:cNvPr id="2" name="图片 1">
            <a:extLst>
              <a:ext uri="{FF2B5EF4-FFF2-40B4-BE49-F238E27FC236}">
                <a16:creationId xmlns:a16="http://schemas.microsoft.com/office/drawing/2014/main" id="{7D06AD32-EE8C-DB96-F44B-82CCD107982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179512" y="836712"/>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ED502549-D69C-394C-D335-E97DBCAB210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757362" y="836711"/>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C419A08B-4EC3-EE4A-6A5C-48BBD119AAE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1335212" y="836711"/>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1385808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E49613-8DE3-1E28-3775-13FB44E45A28}"/>
            </a:ext>
          </a:extLst>
        </p:cNvPr>
        <p:cNvGrpSpPr/>
        <p:nvPr/>
      </p:nvGrpSpPr>
      <p:grpSpPr>
        <a:xfrm>
          <a:off x="0" y="0"/>
          <a:ext cx="0" cy="0"/>
          <a:chOff x="0" y="0"/>
          <a:chExt cx="0" cy="0"/>
        </a:xfrm>
      </p:grpSpPr>
      <p:sp>
        <p:nvSpPr>
          <p:cNvPr id="655363" name="Text Box 3">
            <a:extLst>
              <a:ext uri="{FF2B5EF4-FFF2-40B4-BE49-F238E27FC236}">
                <a16:creationId xmlns:a16="http://schemas.microsoft.com/office/drawing/2014/main" id="{D6559D29-7FF8-CB42-EBEB-3D6B5AED1FD5}"/>
              </a:ext>
            </a:extLst>
          </p:cNvPr>
          <p:cNvSpPr txBox="1">
            <a:spLocks noChangeArrowheads="1"/>
          </p:cNvSpPr>
          <p:nvPr/>
        </p:nvSpPr>
        <p:spPr bwMode="auto">
          <a:xfrm>
            <a:off x="3386659" y="1211214"/>
            <a:ext cx="2868612" cy="4826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3200" b="1" baseline="-10000" dirty="0">
                <a:solidFill>
                  <a:schemeClr val="bg2"/>
                </a:solidFill>
              </a:rPr>
              <a:t> SNAME,SADDR</a:t>
            </a:r>
            <a:endParaRPr lang="en-US" altLang="zh-CN" sz="3200" b="1" baseline="-10000" dirty="0">
              <a:solidFill>
                <a:schemeClr val="bg2"/>
              </a:solidFill>
            </a:endParaRPr>
          </a:p>
        </p:txBody>
      </p:sp>
      <p:sp>
        <p:nvSpPr>
          <p:cNvPr id="655368" name="Line 8">
            <a:extLst>
              <a:ext uri="{FF2B5EF4-FFF2-40B4-BE49-F238E27FC236}">
                <a16:creationId xmlns:a16="http://schemas.microsoft.com/office/drawing/2014/main" id="{263B5405-69E9-9AEA-4077-32567925407A}"/>
              </a:ext>
            </a:extLst>
          </p:cNvPr>
          <p:cNvSpPr>
            <a:spLocks noChangeShapeType="1"/>
          </p:cNvSpPr>
          <p:nvPr/>
        </p:nvSpPr>
        <p:spPr bwMode="auto">
          <a:xfrm>
            <a:off x="3050109" y="1058814"/>
            <a:ext cx="0" cy="5334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386" name="Text Box 26">
            <a:extLst>
              <a:ext uri="{FF2B5EF4-FFF2-40B4-BE49-F238E27FC236}">
                <a16:creationId xmlns:a16="http://schemas.microsoft.com/office/drawing/2014/main" id="{E6AC2AA6-AF8A-10E8-86CD-EECD505633F5}"/>
              </a:ext>
            </a:extLst>
          </p:cNvPr>
          <p:cNvSpPr txBox="1">
            <a:spLocks noChangeArrowheads="1"/>
          </p:cNvSpPr>
          <p:nvPr/>
        </p:nvSpPr>
        <p:spPr bwMode="auto">
          <a:xfrm>
            <a:off x="2842146" y="646064"/>
            <a:ext cx="9906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00000"/>
              </a:lnSpc>
            </a:pPr>
            <a:r>
              <a:rPr kumimoji="0" lang="en-US" altLang="zh-CN" sz="2400" b="1">
                <a:solidFill>
                  <a:schemeClr val="bg2"/>
                </a:solidFill>
                <a:latin typeface="Times New Roman" pitchFamily="18" charset="0"/>
              </a:rPr>
              <a:t>π</a:t>
            </a:r>
          </a:p>
        </p:txBody>
      </p:sp>
      <p:sp>
        <p:nvSpPr>
          <p:cNvPr id="655396" name="Text Box 36">
            <a:extLst>
              <a:ext uri="{FF2B5EF4-FFF2-40B4-BE49-F238E27FC236}">
                <a16:creationId xmlns:a16="http://schemas.microsoft.com/office/drawing/2014/main" id="{26FDA068-B684-4A4F-54CA-E9CAEDBEAA85}"/>
              </a:ext>
            </a:extLst>
          </p:cNvPr>
          <p:cNvSpPr txBox="1">
            <a:spLocks noChangeArrowheads="1"/>
          </p:cNvSpPr>
          <p:nvPr/>
        </p:nvSpPr>
        <p:spPr bwMode="auto">
          <a:xfrm>
            <a:off x="3779912" y="2063702"/>
            <a:ext cx="4978400" cy="4826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highlight>
                  <a:srgbClr val="FFFF00"/>
                </a:highlight>
              </a:rPr>
              <a:t> JNO =‘J1’</a:t>
            </a:r>
            <a:r>
              <a:rPr kumimoji="0" lang="en-US" altLang="zh-CN" sz="2000" b="1" dirty="0">
                <a:solidFill>
                  <a:schemeClr val="bg2"/>
                </a:solidFill>
              </a:rPr>
              <a:t>∧</a:t>
            </a:r>
            <a:r>
              <a:rPr kumimoji="0" lang="en-US" altLang="zh-CN" sz="2000" b="1" dirty="0">
                <a:solidFill>
                  <a:schemeClr val="bg2"/>
                </a:solidFill>
                <a:highlight>
                  <a:srgbClr val="FF00FF"/>
                </a:highlight>
              </a:rPr>
              <a:t>COLOR =‘</a:t>
            </a:r>
            <a:r>
              <a:rPr kumimoji="0" lang="zh-CN" altLang="en-US" sz="2000" b="1" dirty="0">
                <a:solidFill>
                  <a:schemeClr val="bg2"/>
                </a:solidFill>
                <a:highlight>
                  <a:srgbClr val="FF00FF"/>
                </a:highlight>
              </a:rPr>
              <a:t>红色’</a:t>
            </a:r>
            <a:endParaRPr lang="en-US" altLang="zh-CN" sz="3200" b="1" baseline="-10000" dirty="0">
              <a:solidFill>
                <a:schemeClr val="bg2"/>
              </a:solidFill>
              <a:highlight>
                <a:srgbClr val="FF00FF"/>
              </a:highlight>
            </a:endParaRPr>
          </a:p>
        </p:txBody>
      </p:sp>
      <p:sp>
        <p:nvSpPr>
          <p:cNvPr id="655397" name="Line 37">
            <a:extLst>
              <a:ext uri="{FF2B5EF4-FFF2-40B4-BE49-F238E27FC236}">
                <a16:creationId xmlns:a16="http://schemas.microsoft.com/office/drawing/2014/main" id="{1C2EB32E-FA6A-F263-1A71-AE05E91AC240}"/>
              </a:ext>
            </a:extLst>
          </p:cNvPr>
          <p:cNvSpPr>
            <a:spLocks noChangeShapeType="1"/>
          </p:cNvSpPr>
          <p:nvPr/>
        </p:nvSpPr>
        <p:spPr bwMode="auto">
          <a:xfrm>
            <a:off x="3086621" y="1985914"/>
            <a:ext cx="0" cy="60483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398" name="Text Box 38">
            <a:extLst>
              <a:ext uri="{FF2B5EF4-FFF2-40B4-BE49-F238E27FC236}">
                <a16:creationId xmlns:a16="http://schemas.microsoft.com/office/drawing/2014/main" id="{C94FA5C2-DAB1-C4D8-3CB3-8521C7411799}"/>
              </a:ext>
            </a:extLst>
          </p:cNvPr>
          <p:cNvSpPr txBox="1">
            <a:spLocks noChangeArrowheads="1"/>
          </p:cNvSpPr>
          <p:nvPr/>
        </p:nvSpPr>
        <p:spPr bwMode="auto">
          <a:xfrm>
            <a:off x="2837384" y="1595389"/>
            <a:ext cx="827087" cy="42703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σ</a:t>
            </a:r>
          </a:p>
        </p:txBody>
      </p:sp>
      <p:sp>
        <p:nvSpPr>
          <p:cNvPr id="655420" name="Text Box 60">
            <a:extLst>
              <a:ext uri="{FF2B5EF4-FFF2-40B4-BE49-F238E27FC236}">
                <a16:creationId xmlns:a16="http://schemas.microsoft.com/office/drawing/2014/main" id="{C75DEDAF-D62F-D543-5AC0-4ABCBCF53E21}"/>
              </a:ext>
            </a:extLst>
          </p:cNvPr>
          <p:cNvSpPr txBox="1">
            <a:spLocks noChangeArrowheads="1"/>
          </p:cNvSpPr>
          <p:nvPr/>
        </p:nvSpPr>
        <p:spPr bwMode="auto">
          <a:xfrm>
            <a:off x="3283471" y="2839989"/>
            <a:ext cx="5867400" cy="94773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lang="en-US" altLang="zh-CN" sz="2000" b="1" dirty="0">
                <a:solidFill>
                  <a:schemeClr val="bg2"/>
                </a:solidFill>
              </a:rPr>
              <a:t> SNO,SNAME,SADDR</a:t>
            </a:r>
            <a:r>
              <a:rPr lang="zh-CN" altLang="en-US" sz="2000" b="1" dirty="0">
                <a:solidFill>
                  <a:schemeClr val="bg2"/>
                </a:solidFill>
              </a:rPr>
              <a:t>，</a:t>
            </a:r>
            <a:r>
              <a:rPr lang="en-US" altLang="zh-CN" sz="2000" b="1" dirty="0">
                <a:solidFill>
                  <a:schemeClr val="bg2"/>
                </a:solidFill>
              </a:rPr>
              <a:t> SNO,PNO,JNO,PRICE,QTY</a:t>
            </a:r>
            <a:r>
              <a:rPr lang="zh-CN" altLang="en-US" sz="2000" b="1" dirty="0">
                <a:solidFill>
                  <a:schemeClr val="bg2"/>
                </a:solidFill>
              </a:rPr>
              <a:t>，</a:t>
            </a:r>
            <a:endParaRPr lang="en-US" altLang="zh-CN" sz="2000" b="1" dirty="0">
              <a:solidFill>
                <a:schemeClr val="bg2"/>
              </a:solidFill>
            </a:endParaRPr>
          </a:p>
          <a:p>
            <a:pPr eaLnBrk="0" hangingPunct="0">
              <a:lnSpc>
                <a:spcPct val="100000"/>
              </a:lnSpc>
              <a:spcBef>
                <a:spcPct val="0"/>
              </a:spcBef>
            </a:pPr>
            <a:r>
              <a:rPr lang="zh-CN" altLang="en-US" sz="2000" b="1" dirty="0">
                <a:solidFill>
                  <a:schemeClr val="bg2"/>
                </a:solidFill>
              </a:rPr>
              <a:t> </a:t>
            </a:r>
            <a:r>
              <a:rPr lang="en-US" altLang="zh-CN" sz="2000" b="1" dirty="0">
                <a:solidFill>
                  <a:schemeClr val="bg2"/>
                </a:solidFill>
              </a:rPr>
              <a:t>PNO,PNAME,COLOR,WEIGHT</a:t>
            </a:r>
          </a:p>
        </p:txBody>
      </p:sp>
      <p:sp>
        <p:nvSpPr>
          <p:cNvPr id="655421" name="Line 61">
            <a:extLst>
              <a:ext uri="{FF2B5EF4-FFF2-40B4-BE49-F238E27FC236}">
                <a16:creationId xmlns:a16="http://schemas.microsoft.com/office/drawing/2014/main" id="{CB6A1201-D5BD-5E23-39C6-C7DD600C89AE}"/>
              </a:ext>
            </a:extLst>
          </p:cNvPr>
          <p:cNvSpPr>
            <a:spLocks noChangeShapeType="1"/>
          </p:cNvSpPr>
          <p:nvPr/>
        </p:nvSpPr>
        <p:spPr bwMode="auto">
          <a:xfrm>
            <a:off x="3086621" y="2993977"/>
            <a:ext cx="0" cy="604837"/>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422" name="Text Box 62">
            <a:extLst>
              <a:ext uri="{FF2B5EF4-FFF2-40B4-BE49-F238E27FC236}">
                <a16:creationId xmlns:a16="http://schemas.microsoft.com/office/drawing/2014/main" id="{24856D49-571B-2997-CD48-D0D754ECA1BC}"/>
              </a:ext>
            </a:extLst>
          </p:cNvPr>
          <p:cNvSpPr txBox="1">
            <a:spLocks noChangeArrowheads="1"/>
          </p:cNvSpPr>
          <p:nvPr/>
        </p:nvSpPr>
        <p:spPr bwMode="auto">
          <a:xfrm>
            <a:off x="2888184" y="2590752"/>
            <a:ext cx="776287" cy="427037"/>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a:t>
            </a:r>
          </a:p>
        </p:txBody>
      </p:sp>
      <p:sp>
        <p:nvSpPr>
          <p:cNvPr id="655440" name="Text Box 80">
            <a:extLst>
              <a:ext uri="{FF2B5EF4-FFF2-40B4-BE49-F238E27FC236}">
                <a16:creationId xmlns:a16="http://schemas.microsoft.com/office/drawing/2014/main" id="{A0408B00-1839-D99A-7AF8-DB0C81B4099F}"/>
              </a:ext>
            </a:extLst>
          </p:cNvPr>
          <p:cNvSpPr txBox="1">
            <a:spLocks noChangeArrowheads="1"/>
          </p:cNvSpPr>
          <p:nvPr/>
        </p:nvSpPr>
        <p:spPr bwMode="auto">
          <a:xfrm>
            <a:off x="3708921" y="4157614"/>
            <a:ext cx="5332413" cy="4826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highlight>
                  <a:srgbClr val="00FFFF"/>
                </a:highlight>
              </a:rPr>
              <a:t>S.SNO=SPJ.SNO </a:t>
            </a:r>
            <a:r>
              <a:rPr kumimoji="0" lang="en-US" altLang="zh-CN" sz="2000" b="1" dirty="0">
                <a:solidFill>
                  <a:schemeClr val="bg2"/>
                </a:solidFill>
              </a:rPr>
              <a:t>∧ </a:t>
            </a:r>
            <a:r>
              <a:rPr kumimoji="0" lang="en-US" altLang="zh-CN" sz="2000" b="1" dirty="0">
                <a:solidFill>
                  <a:schemeClr val="bg2"/>
                </a:solidFill>
                <a:highlight>
                  <a:srgbClr val="00FF00"/>
                </a:highlight>
              </a:rPr>
              <a:t>SPJ.PNO = P.PNO</a:t>
            </a:r>
          </a:p>
        </p:txBody>
      </p:sp>
      <p:sp>
        <p:nvSpPr>
          <p:cNvPr id="655441" name="Line 81">
            <a:extLst>
              <a:ext uri="{FF2B5EF4-FFF2-40B4-BE49-F238E27FC236}">
                <a16:creationId xmlns:a16="http://schemas.microsoft.com/office/drawing/2014/main" id="{B85DC072-2106-5D0F-242C-449B3B9E9801}"/>
              </a:ext>
            </a:extLst>
          </p:cNvPr>
          <p:cNvSpPr>
            <a:spLocks noChangeShapeType="1"/>
          </p:cNvSpPr>
          <p:nvPr/>
        </p:nvSpPr>
        <p:spPr bwMode="auto">
          <a:xfrm>
            <a:off x="3086621" y="3948064"/>
            <a:ext cx="0" cy="75565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442" name="Text Box 82">
            <a:extLst>
              <a:ext uri="{FF2B5EF4-FFF2-40B4-BE49-F238E27FC236}">
                <a16:creationId xmlns:a16="http://schemas.microsoft.com/office/drawing/2014/main" id="{42E09E4A-77F3-5648-1E2F-85BE13AA9C31}"/>
              </a:ext>
            </a:extLst>
          </p:cNvPr>
          <p:cNvSpPr txBox="1">
            <a:spLocks noChangeArrowheads="1"/>
          </p:cNvSpPr>
          <p:nvPr/>
        </p:nvSpPr>
        <p:spPr bwMode="auto">
          <a:xfrm>
            <a:off x="2888184" y="3589289"/>
            <a:ext cx="776287" cy="4286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σ</a:t>
            </a:r>
          </a:p>
        </p:txBody>
      </p:sp>
      <p:sp>
        <p:nvSpPr>
          <p:cNvPr id="655456" name="Line 96">
            <a:extLst>
              <a:ext uri="{FF2B5EF4-FFF2-40B4-BE49-F238E27FC236}">
                <a16:creationId xmlns:a16="http://schemas.microsoft.com/office/drawing/2014/main" id="{958B59B3-C0DD-1B17-1170-C63BEAF1CE2E}"/>
              </a:ext>
            </a:extLst>
          </p:cNvPr>
          <p:cNvSpPr>
            <a:spLocks noChangeShapeType="1"/>
          </p:cNvSpPr>
          <p:nvPr/>
        </p:nvSpPr>
        <p:spPr bwMode="auto">
          <a:xfrm flipH="1">
            <a:off x="2346622" y="4967239"/>
            <a:ext cx="571723" cy="56991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457" name="Line 97">
            <a:extLst>
              <a:ext uri="{FF2B5EF4-FFF2-40B4-BE49-F238E27FC236}">
                <a16:creationId xmlns:a16="http://schemas.microsoft.com/office/drawing/2014/main" id="{FDDEFE92-CF7F-A81F-180E-5DB6B6BC8852}"/>
              </a:ext>
            </a:extLst>
          </p:cNvPr>
          <p:cNvSpPr>
            <a:spLocks noChangeShapeType="1"/>
          </p:cNvSpPr>
          <p:nvPr/>
        </p:nvSpPr>
        <p:spPr bwMode="auto">
          <a:xfrm>
            <a:off x="3354910" y="4967239"/>
            <a:ext cx="762000" cy="56991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458" name="Text Box 98">
            <a:extLst>
              <a:ext uri="{FF2B5EF4-FFF2-40B4-BE49-F238E27FC236}">
                <a16:creationId xmlns:a16="http://schemas.microsoft.com/office/drawing/2014/main" id="{F2D57DA7-C64F-9FA7-66CC-7437A640B2D6}"/>
              </a:ext>
            </a:extLst>
          </p:cNvPr>
          <p:cNvSpPr txBox="1">
            <a:spLocks noChangeArrowheads="1"/>
          </p:cNvSpPr>
          <p:nvPr/>
        </p:nvSpPr>
        <p:spPr bwMode="auto">
          <a:xfrm>
            <a:off x="2891359" y="4678314"/>
            <a:ext cx="776287" cy="42703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a:t>
            </a:r>
          </a:p>
        </p:txBody>
      </p:sp>
      <p:sp>
        <p:nvSpPr>
          <p:cNvPr id="655468" name="Line 108">
            <a:extLst>
              <a:ext uri="{FF2B5EF4-FFF2-40B4-BE49-F238E27FC236}">
                <a16:creationId xmlns:a16="http://schemas.microsoft.com/office/drawing/2014/main" id="{D23F91ED-6ED6-456A-89B9-DB4FDE53E0A3}"/>
              </a:ext>
            </a:extLst>
          </p:cNvPr>
          <p:cNvSpPr>
            <a:spLocks noChangeShapeType="1"/>
          </p:cNvSpPr>
          <p:nvPr/>
        </p:nvSpPr>
        <p:spPr bwMode="auto">
          <a:xfrm flipH="1">
            <a:off x="1448185" y="5845523"/>
            <a:ext cx="644475" cy="4540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469" name="Line 109">
            <a:extLst>
              <a:ext uri="{FF2B5EF4-FFF2-40B4-BE49-F238E27FC236}">
                <a16:creationId xmlns:a16="http://schemas.microsoft.com/office/drawing/2014/main" id="{AFD80E66-81BF-47FA-FB58-017A154E1B4E}"/>
              </a:ext>
            </a:extLst>
          </p:cNvPr>
          <p:cNvSpPr>
            <a:spLocks noChangeShapeType="1"/>
          </p:cNvSpPr>
          <p:nvPr/>
        </p:nvSpPr>
        <p:spPr bwMode="auto">
          <a:xfrm>
            <a:off x="2463413" y="5845523"/>
            <a:ext cx="554408" cy="45085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470" name="Text Box 110">
            <a:extLst>
              <a:ext uri="{FF2B5EF4-FFF2-40B4-BE49-F238E27FC236}">
                <a16:creationId xmlns:a16="http://schemas.microsoft.com/office/drawing/2014/main" id="{6662A109-EB16-1115-AE87-4030BD7D78E0}"/>
              </a:ext>
            </a:extLst>
          </p:cNvPr>
          <p:cNvSpPr txBox="1">
            <a:spLocks noChangeArrowheads="1"/>
          </p:cNvSpPr>
          <p:nvPr/>
        </p:nvSpPr>
        <p:spPr bwMode="auto">
          <a:xfrm>
            <a:off x="2015058" y="5522864"/>
            <a:ext cx="931863"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latin typeface="Times New Roman" pitchFamily="18" charset="0"/>
              </a:rPr>
              <a:t>×</a:t>
            </a:r>
          </a:p>
        </p:txBody>
      </p:sp>
      <p:sp>
        <p:nvSpPr>
          <p:cNvPr id="655480" name="Text Box 120">
            <a:extLst>
              <a:ext uri="{FF2B5EF4-FFF2-40B4-BE49-F238E27FC236}">
                <a16:creationId xmlns:a16="http://schemas.microsoft.com/office/drawing/2014/main" id="{C979D95F-BA07-824D-C4D3-4679889010E6}"/>
              </a:ext>
            </a:extLst>
          </p:cNvPr>
          <p:cNvSpPr txBox="1">
            <a:spLocks noChangeArrowheads="1"/>
          </p:cNvSpPr>
          <p:nvPr/>
        </p:nvSpPr>
        <p:spPr bwMode="auto">
          <a:xfrm>
            <a:off x="3669605" y="5522863"/>
            <a:ext cx="776287"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latin typeface="Times New Roman" pitchFamily="18" charset="0"/>
              </a:rPr>
              <a:t>    P</a:t>
            </a:r>
          </a:p>
        </p:txBody>
      </p:sp>
      <p:sp>
        <p:nvSpPr>
          <p:cNvPr id="655481" name="Text Box 121">
            <a:extLst>
              <a:ext uri="{FF2B5EF4-FFF2-40B4-BE49-F238E27FC236}">
                <a16:creationId xmlns:a16="http://schemas.microsoft.com/office/drawing/2014/main" id="{FD53708B-2CEE-36C2-7CC7-45A125864F1E}"/>
              </a:ext>
            </a:extLst>
          </p:cNvPr>
          <p:cNvSpPr txBox="1">
            <a:spLocks noChangeArrowheads="1"/>
          </p:cNvSpPr>
          <p:nvPr/>
        </p:nvSpPr>
        <p:spPr bwMode="auto">
          <a:xfrm>
            <a:off x="2740617" y="6326528"/>
            <a:ext cx="1552575"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latin typeface="Times New Roman" pitchFamily="18" charset="0"/>
              </a:rPr>
              <a:t>SPJ</a:t>
            </a:r>
          </a:p>
        </p:txBody>
      </p:sp>
      <p:sp>
        <p:nvSpPr>
          <p:cNvPr id="655482" name="Text Box 122">
            <a:extLst>
              <a:ext uri="{FF2B5EF4-FFF2-40B4-BE49-F238E27FC236}">
                <a16:creationId xmlns:a16="http://schemas.microsoft.com/office/drawing/2014/main" id="{3F40C8DD-DC06-A435-9AC7-4FD3A849D690}"/>
              </a:ext>
            </a:extLst>
          </p:cNvPr>
          <p:cNvSpPr txBox="1">
            <a:spLocks noChangeArrowheads="1"/>
          </p:cNvSpPr>
          <p:nvPr/>
        </p:nvSpPr>
        <p:spPr bwMode="auto">
          <a:xfrm>
            <a:off x="1263873" y="6305501"/>
            <a:ext cx="931863"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latin typeface="Times New Roman" pitchFamily="18" charset="0"/>
              </a:rPr>
              <a:t>S</a:t>
            </a:r>
          </a:p>
        </p:txBody>
      </p:sp>
      <p:sp>
        <p:nvSpPr>
          <p:cNvPr id="655483" name="Rectangle 123">
            <a:extLst>
              <a:ext uri="{FF2B5EF4-FFF2-40B4-BE49-F238E27FC236}">
                <a16:creationId xmlns:a16="http://schemas.microsoft.com/office/drawing/2014/main" id="{A2454BB9-2665-482E-0787-76672A4DA997}"/>
              </a:ext>
            </a:extLst>
          </p:cNvPr>
          <p:cNvSpPr>
            <a:spLocks noChangeArrowheads="1"/>
          </p:cNvSpPr>
          <p:nvPr/>
        </p:nvSpPr>
        <p:spPr bwMode="auto">
          <a:xfrm>
            <a:off x="210369" y="777827"/>
            <a:ext cx="1435100"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800" b="1" dirty="0">
                <a:solidFill>
                  <a:srgbClr val="660033"/>
                </a:solidFill>
              </a:rPr>
              <a:t>语法树</a:t>
            </a:r>
            <a:r>
              <a:rPr lang="en-US" altLang="zh-CN" sz="2800" b="1" dirty="0">
                <a:solidFill>
                  <a:srgbClr val="660033"/>
                </a:solidFill>
              </a:rPr>
              <a:t>:</a:t>
            </a:r>
          </a:p>
        </p:txBody>
      </p:sp>
      <p:sp>
        <p:nvSpPr>
          <p:cNvPr id="25" name="矩形 24">
            <a:extLst>
              <a:ext uri="{FF2B5EF4-FFF2-40B4-BE49-F238E27FC236}">
                <a16:creationId xmlns:a16="http://schemas.microsoft.com/office/drawing/2014/main" id="{01F2392F-4477-F03C-8CBA-8FECFFDA8010}"/>
              </a:ext>
            </a:extLst>
          </p:cNvPr>
          <p:cNvSpPr/>
          <p:nvPr/>
        </p:nvSpPr>
        <p:spPr bwMode="auto">
          <a:xfrm>
            <a:off x="3664471" y="2019252"/>
            <a:ext cx="4031253" cy="563562"/>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26" name="矩形 25">
            <a:extLst>
              <a:ext uri="{FF2B5EF4-FFF2-40B4-BE49-F238E27FC236}">
                <a16:creationId xmlns:a16="http://schemas.microsoft.com/office/drawing/2014/main" id="{7C191E6A-39F7-3C7C-4071-B9AE79BDCCC9}"/>
              </a:ext>
            </a:extLst>
          </p:cNvPr>
          <p:cNvSpPr/>
          <p:nvPr/>
        </p:nvSpPr>
        <p:spPr bwMode="auto">
          <a:xfrm>
            <a:off x="3708921" y="4044108"/>
            <a:ext cx="4319460" cy="563562"/>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27" name="矩形 26">
            <a:extLst>
              <a:ext uri="{FF2B5EF4-FFF2-40B4-BE49-F238E27FC236}">
                <a16:creationId xmlns:a16="http://schemas.microsoft.com/office/drawing/2014/main" id="{C6087978-0AFA-16C0-C979-7BF36EF3F2D8}"/>
              </a:ext>
            </a:extLst>
          </p:cNvPr>
          <p:cNvSpPr/>
          <p:nvPr/>
        </p:nvSpPr>
        <p:spPr bwMode="auto">
          <a:xfrm>
            <a:off x="4850173" y="4759970"/>
            <a:ext cx="3508670" cy="978729"/>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r>
              <a:rPr kumimoji="1" lang="zh-CN" altLang="en-US" sz="2400" b="0" i="0" u="none" strike="noStrike" cap="none" normalizeH="0" baseline="0" dirty="0">
                <a:ln>
                  <a:noFill/>
                </a:ln>
                <a:solidFill>
                  <a:schemeClr val="bg1"/>
                </a:solidFill>
                <a:effectLst/>
              </a:rPr>
              <a:t>把每个选择操作分裂成</a:t>
            </a:r>
            <a:r>
              <a:rPr kumimoji="1" lang="en-US" altLang="zh-CN" sz="2400" b="1" i="0" u="none" strike="noStrike" cap="none" normalizeH="0" baseline="0" dirty="0">
                <a:ln>
                  <a:noFill/>
                </a:ln>
                <a:solidFill>
                  <a:srgbClr val="FF0000"/>
                </a:solidFill>
                <a:effectLst/>
              </a:rPr>
              <a:t>2</a:t>
            </a:r>
            <a:r>
              <a:rPr kumimoji="1" lang="zh-CN" altLang="en-US" sz="2400" b="0" i="0" u="none" strike="noStrike" cap="none" normalizeH="0" baseline="0" dirty="0">
                <a:ln>
                  <a:noFill/>
                </a:ln>
                <a:solidFill>
                  <a:schemeClr val="bg1"/>
                </a:solidFill>
                <a:effectLst/>
              </a:rPr>
              <a:t>个选择运算</a:t>
            </a:r>
            <a:r>
              <a:rPr lang="zh-CN" altLang="en-US" sz="2400" dirty="0">
                <a:solidFill>
                  <a:schemeClr val="bg1"/>
                </a:solidFill>
              </a:rPr>
              <a:t>得到</a:t>
            </a:r>
            <a:r>
              <a:rPr lang="en-US" altLang="zh-CN" sz="2400" b="1" dirty="0">
                <a:solidFill>
                  <a:srgbClr val="FF0000"/>
                </a:solidFill>
              </a:rPr>
              <a:t>4</a:t>
            </a:r>
            <a:r>
              <a:rPr lang="zh-CN" altLang="en-US" sz="2400" dirty="0">
                <a:solidFill>
                  <a:schemeClr val="bg1"/>
                </a:solidFill>
              </a:rPr>
              <a:t>个选择运算</a:t>
            </a:r>
            <a:endParaRPr kumimoji="1" lang="zh-CN" altLang="en-US" sz="2400" b="0" i="0" u="none" strike="noStrike" cap="none" normalizeH="0" baseline="0" dirty="0">
              <a:ln>
                <a:noFill/>
              </a:ln>
              <a:solidFill>
                <a:schemeClr val="bg1"/>
              </a:solidFill>
              <a:effectLst/>
            </a:endParaRPr>
          </a:p>
        </p:txBody>
      </p:sp>
      <p:sp>
        <p:nvSpPr>
          <p:cNvPr id="28" name="矩形 27">
            <a:extLst>
              <a:ext uri="{FF2B5EF4-FFF2-40B4-BE49-F238E27FC236}">
                <a16:creationId xmlns:a16="http://schemas.microsoft.com/office/drawing/2014/main" id="{E27A29B0-8A60-1199-ACE4-332FF992FB9F}"/>
              </a:ext>
            </a:extLst>
          </p:cNvPr>
          <p:cNvSpPr/>
          <p:nvPr/>
        </p:nvSpPr>
        <p:spPr bwMode="auto">
          <a:xfrm>
            <a:off x="4840648" y="5845837"/>
            <a:ext cx="3508670" cy="978729"/>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r>
              <a:rPr lang="zh-CN" altLang="en-US" sz="2400" dirty="0">
                <a:solidFill>
                  <a:schemeClr val="bg1"/>
                </a:solidFill>
              </a:rPr>
              <a:t>使用等价变换规则</a:t>
            </a:r>
            <a:r>
              <a:rPr lang="en-US" altLang="zh-CN" sz="2400" dirty="0">
                <a:solidFill>
                  <a:schemeClr val="bg1"/>
                </a:solidFill>
              </a:rPr>
              <a:t>4-8</a:t>
            </a:r>
            <a:r>
              <a:rPr lang="zh-CN" altLang="en-US" sz="2400" dirty="0">
                <a:solidFill>
                  <a:schemeClr val="bg1"/>
                </a:solidFill>
              </a:rPr>
              <a:t>，把</a:t>
            </a:r>
            <a:r>
              <a:rPr lang="en-US" altLang="zh-CN" sz="2400" dirty="0">
                <a:solidFill>
                  <a:schemeClr val="bg1"/>
                </a:solidFill>
              </a:rPr>
              <a:t>4</a:t>
            </a:r>
            <a:r>
              <a:rPr lang="zh-CN" altLang="en-US" sz="2400" dirty="0">
                <a:solidFill>
                  <a:schemeClr val="bg1"/>
                </a:solidFill>
              </a:rPr>
              <a:t>个选择运算尽可能地向树的叶端靠拢。</a:t>
            </a:r>
            <a:endParaRPr kumimoji="1" lang="en-US" altLang="zh-CN" sz="2400" b="0" i="0" u="none" strike="noStrike" cap="none" normalizeH="0" baseline="0" dirty="0">
              <a:ln>
                <a:noFill/>
              </a:ln>
              <a:solidFill>
                <a:schemeClr val="bg1"/>
              </a:solidFill>
              <a:effectLst/>
            </a:endParaRPr>
          </a:p>
        </p:txBody>
      </p:sp>
      <p:sp>
        <p:nvSpPr>
          <p:cNvPr id="3" name="文本框 2">
            <a:extLst>
              <a:ext uri="{FF2B5EF4-FFF2-40B4-BE49-F238E27FC236}">
                <a16:creationId xmlns:a16="http://schemas.microsoft.com/office/drawing/2014/main" id="{8D851C09-C99A-A48F-9DB6-7849724B8EA7}"/>
              </a:ext>
            </a:extLst>
          </p:cNvPr>
          <p:cNvSpPr txBox="1"/>
          <p:nvPr/>
        </p:nvSpPr>
        <p:spPr>
          <a:xfrm>
            <a:off x="0" y="-25992"/>
            <a:ext cx="10620671" cy="637675"/>
          </a:xfrm>
          <a:prstGeom prst="rect">
            <a:avLst/>
          </a:prstGeom>
          <a:noFill/>
        </p:spPr>
        <p:txBody>
          <a:bodyPr wrap="square">
            <a:spAutoFit/>
          </a:bodyPr>
          <a:lstStyle/>
          <a:p>
            <a:pPr algn="l" eaLnBrk="0" hangingPunct="0">
              <a:lnSpc>
                <a:spcPct val="150000"/>
              </a:lnSpc>
              <a:spcBef>
                <a:spcPct val="0"/>
              </a:spcBef>
            </a:pPr>
            <a:r>
              <a:rPr lang="en-US" altLang="zh-CN" sz="2800" b="1" dirty="0">
                <a:solidFill>
                  <a:srgbClr val="660033"/>
                </a:solidFill>
              </a:rPr>
              <a:t>π</a:t>
            </a:r>
            <a:r>
              <a:rPr lang="en-US" altLang="zh-CN" sz="2400" b="1" baseline="-10000" dirty="0">
                <a:solidFill>
                  <a:srgbClr val="660033"/>
                </a:solidFill>
              </a:rPr>
              <a:t>SNAME,SADDR</a:t>
            </a:r>
            <a:r>
              <a:rPr lang="en-US" altLang="zh-CN" sz="2000" b="1" dirty="0">
                <a:solidFill>
                  <a:srgbClr val="660033"/>
                </a:solidFill>
              </a:rPr>
              <a:t>(</a:t>
            </a:r>
            <a:r>
              <a:rPr lang="en-US" altLang="zh-CN" sz="2000" b="1" dirty="0" err="1">
                <a:solidFill>
                  <a:srgbClr val="660033"/>
                </a:solidFill>
              </a:rPr>
              <a:t>σ</a:t>
            </a:r>
            <a:r>
              <a:rPr lang="en-US" altLang="zh-CN" sz="2000" b="1" baseline="-10000" dirty="0" err="1">
                <a:solidFill>
                  <a:srgbClr val="660033"/>
                </a:solidFill>
              </a:rPr>
              <a:t>JNO</a:t>
            </a:r>
            <a:r>
              <a:rPr lang="en-US" altLang="zh-CN" sz="2000" b="1" baseline="-10000" dirty="0">
                <a:solidFill>
                  <a:srgbClr val="660033"/>
                </a:solidFill>
              </a:rPr>
              <a:t> =‘J1’∧COLOR =‘</a:t>
            </a:r>
            <a:r>
              <a:rPr lang="zh-CN" altLang="en-US" sz="2000" b="1" baseline="-10000" dirty="0">
                <a:solidFill>
                  <a:srgbClr val="660033"/>
                </a:solidFill>
              </a:rPr>
              <a:t>红色</a:t>
            </a:r>
            <a:r>
              <a:rPr lang="en-US" altLang="zh-CN" sz="2000" b="1" baseline="-10000" dirty="0">
                <a:solidFill>
                  <a:srgbClr val="660033"/>
                </a:solidFill>
              </a:rPr>
              <a:t>’</a:t>
            </a:r>
            <a:r>
              <a:rPr lang="en-US" altLang="zh-CN" sz="2000" b="1" dirty="0">
                <a:solidFill>
                  <a:srgbClr val="660033"/>
                </a:solidFill>
              </a:rPr>
              <a:t>(π</a:t>
            </a:r>
            <a:r>
              <a:rPr lang="en-US" altLang="zh-CN" sz="2000" b="1" baseline="-10000" dirty="0">
                <a:solidFill>
                  <a:srgbClr val="660033"/>
                </a:solidFill>
              </a:rPr>
              <a:t>L</a:t>
            </a:r>
            <a:r>
              <a:rPr lang="en-US" altLang="zh-CN" sz="2000" b="1" dirty="0">
                <a:solidFill>
                  <a:srgbClr val="660033"/>
                </a:solidFill>
              </a:rPr>
              <a:t>(</a:t>
            </a:r>
            <a:r>
              <a:rPr lang="en-US" altLang="zh-CN" sz="2000" b="1" dirty="0" err="1">
                <a:solidFill>
                  <a:srgbClr val="660033"/>
                </a:solidFill>
              </a:rPr>
              <a:t>σ</a:t>
            </a:r>
            <a:r>
              <a:rPr lang="en-US" altLang="zh-CN" sz="2000" b="1" baseline="-10000" dirty="0" err="1">
                <a:solidFill>
                  <a:srgbClr val="660033"/>
                </a:solidFill>
              </a:rPr>
              <a:t>S.SNO</a:t>
            </a:r>
            <a:r>
              <a:rPr lang="en-US" altLang="zh-CN" sz="2000" b="1" baseline="-10000" dirty="0">
                <a:solidFill>
                  <a:srgbClr val="660033"/>
                </a:solidFill>
              </a:rPr>
              <a:t>=SPJ.SNO∧SPJ.PNO=P.PNO</a:t>
            </a:r>
            <a:r>
              <a:rPr lang="en-US" altLang="zh-CN" sz="2000" b="1" dirty="0">
                <a:solidFill>
                  <a:srgbClr val="660033"/>
                </a:solidFill>
              </a:rPr>
              <a:t>(</a:t>
            </a:r>
            <a:r>
              <a:rPr lang="en-US" altLang="zh-CN" sz="1600" b="1" dirty="0">
                <a:solidFill>
                  <a:srgbClr val="660033"/>
                </a:solidFill>
              </a:rPr>
              <a:t>S</a:t>
            </a:r>
            <a:r>
              <a:rPr kumimoji="0" lang="en-US" altLang="zh-CN" b="1" dirty="0">
                <a:solidFill>
                  <a:schemeClr val="bg2"/>
                </a:solidFill>
                <a:latin typeface="Times New Roman" pitchFamily="18" charset="0"/>
              </a:rPr>
              <a:t>×</a:t>
            </a:r>
            <a:r>
              <a:rPr lang="en-US" altLang="zh-CN" sz="1600" b="1" dirty="0">
                <a:solidFill>
                  <a:srgbClr val="660033"/>
                </a:solidFill>
              </a:rPr>
              <a:t>SPJ</a:t>
            </a:r>
            <a:r>
              <a:rPr kumimoji="0" lang="en-US" altLang="zh-CN" b="1" dirty="0">
                <a:solidFill>
                  <a:schemeClr val="bg2"/>
                </a:solidFill>
                <a:latin typeface="Times New Roman" pitchFamily="18" charset="0"/>
              </a:rPr>
              <a:t>×</a:t>
            </a:r>
            <a:r>
              <a:rPr lang="en-US" altLang="zh-CN" sz="1600" b="1" dirty="0">
                <a:solidFill>
                  <a:srgbClr val="660033"/>
                </a:solidFill>
              </a:rPr>
              <a:t>P))))</a:t>
            </a:r>
            <a:endParaRPr lang="en-US" altLang="zh-CN" sz="2000" b="1" dirty="0">
              <a:solidFill>
                <a:srgbClr val="660033"/>
              </a:solidFill>
            </a:endParaRPr>
          </a:p>
        </p:txBody>
      </p:sp>
    </p:spTree>
    <p:extLst>
      <p:ext uri="{BB962C8B-B14F-4D97-AF65-F5344CB8AC3E}">
        <p14:creationId xmlns:p14="http://schemas.microsoft.com/office/powerpoint/2010/main" val="3917115754"/>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5398"/>
                                        </p:tgtEl>
                                        <p:attrNameLst>
                                          <p:attrName>style.visibility</p:attrName>
                                        </p:attrNameLst>
                                      </p:cBhvr>
                                      <p:to>
                                        <p:strVal val="visible"/>
                                      </p:to>
                                    </p:set>
                                    <p:animEffect transition="in" filter="blinds(horizontal)">
                                      <p:cBhvr>
                                        <p:cTn id="7" dur="500"/>
                                        <p:tgtEl>
                                          <p:spTgt spid="65539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55397"/>
                                        </p:tgtEl>
                                        <p:attrNameLst>
                                          <p:attrName>style.visibility</p:attrName>
                                        </p:attrNameLst>
                                      </p:cBhvr>
                                      <p:to>
                                        <p:strVal val="visible"/>
                                      </p:to>
                                    </p:set>
                                    <p:animEffect transition="in" filter="blinds(horizontal)">
                                      <p:cBhvr>
                                        <p:cTn id="10" dur="500"/>
                                        <p:tgtEl>
                                          <p:spTgt spid="65539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55396"/>
                                        </p:tgtEl>
                                        <p:attrNameLst>
                                          <p:attrName>style.visibility</p:attrName>
                                        </p:attrNameLst>
                                      </p:cBhvr>
                                      <p:to>
                                        <p:strVal val="visible"/>
                                      </p:to>
                                    </p:set>
                                    <p:animEffect transition="in" filter="blinds(horizontal)">
                                      <p:cBhvr>
                                        <p:cTn id="13" dur="500"/>
                                        <p:tgtEl>
                                          <p:spTgt spid="65539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55422"/>
                                        </p:tgtEl>
                                        <p:attrNameLst>
                                          <p:attrName>style.visibility</p:attrName>
                                        </p:attrNameLst>
                                      </p:cBhvr>
                                      <p:to>
                                        <p:strVal val="visible"/>
                                      </p:to>
                                    </p:set>
                                    <p:animEffect transition="in" filter="blinds(horizontal)">
                                      <p:cBhvr>
                                        <p:cTn id="18" dur="500"/>
                                        <p:tgtEl>
                                          <p:spTgt spid="655422"/>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55421"/>
                                        </p:tgtEl>
                                        <p:attrNameLst>
                                          <p:attrName>style.visibility</p:attrName>
                                        </p:attrNameLst>
                                      </p:cBhvr>
                                      <p:to>
                                        <p:strVal val="visible"/>
                                      </p:to>
                                    </p:set>
                                    <p:animEffect transition="in" filter="blinds(horizontal)">
                                      <p:cBhvr>
                                        <p:cTn id="21" dur="500"/>
                                        <p:tgtEl>
                                          <p:spTgt spid="65542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55420"/>
                                        </p:tgtEl>
                                        <p:attrNameLst>
                                          <p:attrName>style.visibility</p:attrName>
                                        </p:attrNameLst>
                                      </p:cBhvr>
                                      <p:to>
                                        <p:strVal val="visible"/>
                                      </p:to>
                                    </p:set>
                                    <p:animEffect transition="in" filter="blinds(horizontal)">
                                      <p:cBhvr>
                                        <p:cTn id="24" dur="500"/>
                                        <p:tgtEl>
                                          <p:spTgt spid="65542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55442"/>
                                        </p:tgtEl>
                                        <p:attrNameLst>
                                          <p:attrName>style.visibility</p:attrName>
                                        </p:attrNameLst>
                                      </p:cBhvr>
                                      <p:to>
                                        <p:strVal val="visible"/>
                                      </p:to>
                                    </p:set>
                                    <p:animEffect transition="in" filter="blinds(horizontal)">
                                      <p:cBhvr>
                                        <p:cTn id="29" dur="500"/>
                                        <p:tgtEl>
                                          <p:spTgt spid="655442"/>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655441"/>
                                        </p:tgtEl>
                                        <p:attrNameLst>
                                          <p:attrName>style.visibility</p:attrName>
                                        </p:attrNameLst>
                                      </p:cBhvr>
                                      <p:to>
                                        <p:strVal val="visible"/>
                                      </p:to>
                                    </p:set>
                                    <p:animEffect transition="in" filter="blinds(horizontal)">
                                      <p:cBhvr>
                                        <p:cTn id="32" dur="500"/>
                                        <p:tgtEl>
                                          <p:spTgt spid="655441"/>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655440"/>
                                        </p:tgtEl>
                                        <p:attrNameLst>
                                          <p:attrName>style.visibility</p:attrName>
                                        </p:attrNameLst>
                                      </p:cBhvr>
                                      <p:to>
                                        <p:strVal val="visible"/>
                                      </p:to>
                                    </p:set>
                                    <p:animEffect transition="in" filter="blinds(horizontal)">
                                      <p:cBhvr>
                                        <p:cTn id="35" dur="500"/>
                                        <p:tgtEl>
                                          <p:spTgt spid="65544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655458"/>
                                        </p:tgtEl>
                                        <p:attrNameLst>
                                          <p:attrName>style.visibility</p:attrName>
                                        </p:attrNameLst>
                                      </p:cBhvr>
                                      <p:to>
                                        <p:strVal val="visible"/>
                                      </p:to>
                                    </p:set>
                                    <p:animEffect transition="in" filter="blinds(horizontal)">
                                      <p:cBhvr>
                                        <p:cTn id="40" dur="500"/>
                                        <p:tgtEl>
                                          <p:spTgt spid="655458"/>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655456"/>
                                        </p:tgtEl>
                                        <p:attrNameLst>
                                          <p:attrName>style.visibility</p:attrName>
                                        </p:attrNameLst>
                                      </p:cBhvr>
                                      <p:to>
                                        <p:strVal val="visible"/>
                                      </p:to>
                                    </p:set>
                                    <p:animEffect transition="in" filter="blinds(horizontal)">
                                      <p:cBhvr>
                                        <p:cTn id="43" dur="500"/>
                                        <p:tgtEl>
                                          <p:spTgt spid="655456"/>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655457"/>
                                        </p:tgtEl>
                                        <p:attrNameLst>
                                          <p:attrName>style.visibility</p:attrName>
                                        </p:attrNameLst>
                                      </p:cBhvr>
                                      <p:to>
                                        <p:strVal val="visible"/>
                                      </p:to>
                                    </p:set>
                                    <p:animEffect transition="in" filter="blinds(horizontal)">
                                      <p:cBhvr>
                                        <p:cTn id="46" dur="500"/>
                                        <p:tgtEl>
                                          <p:spTgt spid="655457"/>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655480"/>
                                        </p:tgtEl>
                                        <p:attrNameLst>
                                          <p:attrName>style.visibility</p:attrName>
                                        </p:attrNameLst>
                                      </p:cBhvr>
                                      <p:to>
                                        <p:strVal val="visible"/>
                                      </p:to>
                                    </p:set>
                                    <p:animEffect transition="in" filter="blinds(horizontal)">
                                      <p:cBhvr>
                                        <p:cTn id="49" dur="500"/>
                                        <p:tgtEl>
                                          <p:spTgt spid="655480"/>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655470"/>
                                        </p:tgtEl>
                                        <p:attrNameLst>
                                          <p:attrName>style.visibility</p:attrName>
                                        </p:attrNameLst>
                                      </p:cBhvr>
                                      <p:to>
                                        <p:strVal val="visible"/>
                                      </p:to>
                                    </p:set>
                                    <p:animEffect transition="in" filter="blinds(horizontal)">
                                      <p:cBhvr>
                                        <p:cTn id="52" dur="500"/>
                                        <p:tgtEl>
                                          <p:spTgt spid="65547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55468"/>
                                        </p:tgtEl>
                                        <p:attrNameLst>
                                          <p:attrName>style.visibility</p:attrName>
                                        </p:attrNameLst>
                                      </p:cBhvr>
                                      <p:to>
                                        <p:strVal val="visible"/>
                                      </p:to>
                                    </p:set>
                                    <p:animEffect transition="in" filter="blinds(horizontal)">
                                      <p:cBhvr>
                                        <p:cTn id="57" dur="500"/>
                                        <p:tgtEl>
                                          <p:spTgt spid="655468"/>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655469"/>
                                        </p:tgtEl>
                                        <p:attrNameLst>
                                          <p:attrName>style.visibility</p:attrName>
                                        </p:attrNameLst>
                                      </p:cBhvr>
                                      <p:to>
                                        <p:strVal val="visible"/>
                                      </p:to>
                                    </p:set>
                                    <p:animEffect transition="in" filter="blinds(horizontal)">
                                      <p:cBhvr>
                                        <p:cTn id="60" dur="500"/>
                                        <p:tgtEl>
                                          <p:spTgt spid="655469"/>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655482"/>
                                        </p:tgtEl>
                                        <p:attrNameLst>
                                          <p:attrName>style.visibility</p:attrName>
                                        </p:attrNameLst>
                                      </p:cBhvr>
                                      <p:to>
                                        <p:strVal val="visible"/>
                                      </p:to>
                                    </p:set>
                                    <p:animEffect transition="in" filter="blinds(horizontal)">
                                      <p:cBhvr>
                                        <p:cTn id="63" dur="500"/>
                                        <p:tgtEl>
                                          <p:spTgt spid="655482"/>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655481"/>
                                        </p:tgtEl>
                                        <p:attrNameLst>
                                          <p:attrName>style.visibility</p:attrName>
                                        </p:attrNameLst>
                                      </p:cBhvr>
                                      <p:to>
                                        <p:strVal val="visible"/>
                                      </p:to>
                                    </p:set>
                                    <p:animEffect transition="in" filter="blinds(horizontal)">
                                      <p:cBhvr>
                                        <p:cTn id="66" dur="500"/>
                                        <p:tgtEl>
                                          <p:spTgt spid="655481"/>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6" grpId="0"/>
      <p:bldP spid="655397" grpId="0" animBg="1"/>
      <p:bldP spid="655398" grpId="0"/>
      <p:bldP spid="655420" grpId="0"/>
      <p:bldP spid="655421" grpId="0" animBg="1"/>
      <p:bldP spid="655422" grpId="0"/>
      <p:bldP spid="655440" grpId="0"/>
      <p:bldP spid="655441" grpId="0" animBg="1"/>
      <p:bldP spid="655442" grpId="0"/>
      <p:bldP spid="655456" grpId="0" animBg="1"/>
      <p:bldP spid="655457" grpId="0" animBg="1"/>
      <p:bldP spid="655458" grpId="0"/>
      <p:bldP spid="655468" grpId="0" animBg="1"/>
      <p:bldP spid="655469" grpId="0" animBg="1"/>
      <p:bldP spid="655470" grpId="0"/>
      <p:bldP spid="655480" grpId="0"/>
      <p:bldP spid="655481" grpId="0"/>
      <p:bldP spid="655482" grpId="0"/>
      <p:bldP spid="25" grpId="0" animBg="1"/>
      <p:bldP spid="26" grpId="0" animBg="1"/>
      <p:bldP spid="27" grpId="0" animBg="1"/>
      <p:bldP spid="28" grpId="0" animBg="1"/>
    </p:bldLst>
  </p:timing>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本框 3">
            <a:extLst>
              <a:ext uri="{FF2B5EF4-FFF2-40B4-BE49-F238E27FC236}">
                <a16:creationId xmlns:a16="http://schemas.microsoft.com/office/drawing/2014/main" id="{BD70D3F7-F953-47E9-4AF1-C5B3F12AF5BE}"/>
              </a:ext>
            </a:extLst>
          </p:cNvPr>
          <p:cNvSpPr txBox="1"/>
          <p:nvPr/>
        </p:nvSpPr>
        <p:spPr>
          <a:xfrm>
            <a:off x="-72007" y="-265733"/>
            <a:ext cx="10620671" cy="637675"/>
          </a:xfrm>
          <a:prstGeom prst="rect">
            <a:avLst/>
          </a:prstGeom>
          <a:noFill/>
        </p:spPr>
        <p:txBody>
          <a:bodyPr wrap="square">
            <a:spAutoFit/>
          </a:bodyPr>
          <a:lstStyle/>
          <a:p>
            <a:pPr algn="l" eaLnBrk="0" hangingPunct="0">
              <a:lnSpc>
                <a:spcPct val="150000"/>
              </a:lnSpc>
              <a:spcBef>
                <a:spcPct val="0"/>
              </a:spcBef>
            </a:pPr>
            <a:r>
              <a:rPr lang="en-US" altLang="zh-CN" sz="2800" b="1" dirty="0">
                <a:solidFill>
                  <a:srgbClr val="660033"/>
                </a:solidFill>
              </a:rPr>
              <a:t>π</a:t>
            </a:r>
            <a:r>
              <a:rPr lang="en-US" altLang="zh-CN" sz="2400" b="1" baseline="-10000" dirty="0">
                <a:solidFill>
                  <a:srgbClr val="660033"/>
                </a:solidFill>
              </a:rPr>
              <a:t>SNAME,SADDR</a:t>
            </a:r>
            <a:r>
              <a:rPr lang="en-US" altLang="zh-CN" sz="2000" b="1" dirty="0">
                <a:solidFill>
                  <a:srgbClr val="660033"/>
                </a:solidFill>
              </a:rPr>
              <a:t>(</a:t>
            </a:r>
            <a:r>
              <a:rPr lang="en-US" altLang="zh-CN" sz="2000" b="1" dirty="0" err="1">
                <a:solidFill>
                  <a:srgbClr val="660033"/>
                </a:solidFill>
              </a:rPr>
              <a:t>σ</a:t>
            </a:r>
            <a:r>
              <a:rPr lang="en-US" altLang="zh-CN" sz="2000" b="1" baseline="-10000" dirty="0" err="1">
                <a:solidFill>
                  <a:srgbClr val="660033"/>
                </a:solidFill>
              </a:rPr>
              <a:t>JNO</a:t>
            </a:r>
            <a:r>
              <a:rPr lang="en-US" altLang="zh-CN" sz="2000" b="1" baseline="-10000" dirty="0">
                <a:solidFill>
                  <a:srgbClr val="660033"/>
                </a:solidFill>
              </a:rPr>
              <a:t> =‘J1’∧COLOR =‘</a:t>
            </a:r>
            <a:r>
              <a:rPr lang="zh-CN" altLang="en-US" sz="2000" b="1" baseline="-10000" dirty="0">
                <a:solidFill>
                  <a:srgbClr val="660033"/>
                </a:solidFill>
              </a:rPr>
              <a:t>红色</a:t>
            </a:r>
            <a:r>
              <a:rPr lang="en-US" altLang="zh-CN" sz="2000" b="1" baseline="-10000" dirty="0">
                <a:solidFill>
                  <a:srgbClr val="660033"/>
                </a:solidFill>
              </a:rPr>
              <a:t>’</a:t>
            </a:r>
            <a:r>
              <a:rPr lang="en-US" altLang="zh-CN" sz="2000" b="1" dirty="0">
                <a:solidFill>
                  <a:srgbClr val="660033"/>
                </a:solidFill>
              </a:rPr>
              <a:t>(π</a:t>
            </a:r>
            <a:r>
              <a:rPr lang="en-US" altLang="zh-CN" sz="2000" b="1" baseline="-10000" dirty="0">
                <a:solidFill>
                  <a:srgbClr val="660033"/>
                </a:solidFill>
              </a:rPr>
              <a:t>L</a:t>
            </a:r>
            <a:r>
              <a:rPr lang="en-US" altLang="zh-CN" sz="2000" b="1" dirty="0">
                <a:solidFill>
                  <a:srgbClr val="660033"/>
                </a:solidFill>
              </a:rPr>
              <a:t>(</a:t>
            </a:r>
            <a:r>
              <a:rPr lang="en-US" altLang="zh-CN" sz="2000" b="1" dirty="0" err="1">
                <a:solidFill>
                  <a:srgbClr val="660033"/>
                </a:solidFill>
              </a:rPr>
              <a:t>σ</a:t>
            </a:r>
            <a:r>
              <a:rPr lang="en-US" altLang="zh-CN" sz="2000" b="1" baseline="-10000" dirty="0" err="1">
                <a:solidFill>
                  <a:srgbClr val="660033"/>
                </a:solidFill>
              </a:rPr>
              <a:t>S.SNO</a:t>
            </a:r>
            <a:r>
              <a:rPr lang="en-US" altLang="zh-CN" sz="2000" b="1" baseline="-10000" dirty="0">
                <a:solidFill>
                  <a:srgbClr val="660033"/>
                </a:solidFill>
              </a:rPr>
              <a:t>=SPJ.SNO∧SPJ.PNO=P.PNO</a:t>
            </a:r>
            <a:r>
              <a:rPr lang="en-US" altLang="zh-CN" sz="2000" b="1" dirty="0">
                <a:solidFill>
                  <a:srgbClr val="660033"/>
                </a:solidFill>
              </a:rPr>
              <a:t>(</a:t>
            </a:r>
            <a:r>
              <a:rPr lang="en-US" altLang="zh-CN" sz="1600" b="1" dirty="0">
                <a:solidFill>
                  <a:srgbClr val="660033"/>
                </a:solidFill>
              </a:rPr>
              <a:t>S</a:t>
            </a:r>
            <a:r>
              <a:rPr kumimoji="0" lang="en-US" altLang="zh-CN" b="1" dirty="0">
                <a:solidFill>
                  <a:schemeClr val="bg2"/>
                </a:solidFill>
                <a:latin typeface="Times New Roman" pitchFamily="18" charset="0"/>
              </a:rPr>
              <a:t>×</a:t>
            </a:r>
            <a:r>
              <a:rPr lang="en-US" altLang="zh-CN" sz="1600" b="1" dirty="0">
                <a:solidFill>
                  <a:srgbClr val="660033"/>
                </a:solidFill>
              </a:rPr>
              <a:t>SPJ</a:t>
            </a:r>
            <a:r>
              <a:rPr kumimoji="0" lang="en-US" altLang="zh-CN" b="1" dirty="0">
                <a:solidFill>
                  <a:schemeClr val="bg2"/>
                </a:solidFill>
                <a:latin typeface="Times New Roman" pitchFamily="18" charset="0"/>
              </a:rPr>
              <a:t>×</a:t>
            </a:r>
            <a:r>
              <a:rPr lang="en-US" altLang="zh-CN" sz="1600" b="1" dirty="0">
                <a:solidFill>
                  <a:srgbClr val="660033"/>
                </a:solidFill>
              </a:rPr>
              <a:t>P))))</a:t>
            </a:r>
            <a:endParaRPr lang="en-US" altLang="zh-CN" sz="2000" b="1" dirty="0">
              <a:solidFill>
                <a:srgbClr val="660033"/>
              </a:solidFill>
            </a:endParaRPr>
          </a:p>
        </p:txBody>
      </p:sp>
      <p:sp>
        <p:nvSpPr>
          <p:cNvPr id="52" name="文本框 51">
            <a:extLst>
              <a:ext uri="{FF2B5EF4-FFF2-40B4-BE49-F238E27FC236}">
                <a16:creationId xmlns:a16="http://schemas.microsoft.com/office/drawing/2014/main" id="{7C9CAFD7-253B-09A8-895B-E4BCDD137F62}"/>
              </a:ext>
            </a:extLst>
          </p:cNvPr>
          <p:cNvSpPr txBox="1"/>
          <p:nvPr/>
        </p:nvSpPr>
        <p:spPr>
          <a:xfrm>
            <a:off x="0" y="260648"/>
            <a:ext cx="9828584" cy="7822334"/>
          </a:xfrm>
          <a:prstGeom prst="rect">
            <a:avLst/>
          </a:prstGeom>
          <a:noFill/>
        </p:spPr>
        <p:txBody>
          <a:bodyPr wrap="square">
            <a:spAutoFit/>
          </a:bodyPr>
          <a:lstStyle/>
          <a:p>
            <a:pPr>
              <a:lnSpc>
                <a:spcPct val="150000"/>
              </a:lnSpc>
              <a:spcBef>
                <a:spcPts val="0"/>
              </a:spcBef>
            </a:pPr>
            <a:r>
              <a:rPr lang="zh-CN" altLang="en-US" sz="1400" dirty="0">
                <a:solidFill>
                  <a:schemeClr val="bg1"/>
                </a:solidFill>
              </a:rPr>
              <a:t>使用等价变换规则</a:t>
            </a:r>
            <a:r>
              <a:rPr lang="en-US" altLang="zh-CN" sz="1400" dirty="0">
                <a:solidFill>
                  <a:schemeClr val="bg1"/>
                </a:solidFill>
              </a:rPr>
              <a:t>4</a:t>
            </a:r>
            <a:r>
              <a:rPr lang="zh-CN" altLang="en-US" sz="1400" dirty="0">
                <a:solidFill>
                  <a:schemeClr val="bg1"/>
                </a:solidFill>
              </a:rPr>
              <a:t>： </a:t>
            </a:r>
            <a:r>
              <a:rPr lang="zh-CN" altLang="en-US" sz="1400" b="1" dirty="0">
                <a:solidFill>
                  <a:srgbClr val="660033"/>
                </a:solidFill>
              </a:rPr>
              <a:t>选择的串接</a:t>
            </a:r>
            <a:endParaRPr lang="en-US" altLang="zh-CN" sz="1400" b="1" dirty="0">
              <a:solidFill>
                <a:srgbClr val="660033"/>
              </a:solidFill>
            </a:endParaRPr>
          </a:p>
          <a:p>
            <a:pPr>
              <a:lnSpc>
                <a:spcPct val="150000"/>
              </a:lnSpc>
              <a:spcBef>
                <a:spcPts val="0"/>
              </a:spcBef>
            </a:pPr>
            <a:r>
              <a:rPr lang="en-US" altLang="zh-CN" sz="1600" b="1" dirty="0">
                <a:solidFill>
                  <a:schemeClr val="bg2"/>
                </a:solidFill>
              </a:rPr>
              <a:t>σ</a:t>
            </a:r>
            <a:r>
              <a:rPr lang="en-US" altLang="zh-CN" sz="1600" b="1" baseline="-25000" dirty="0">
                <a:solidFill>
                  <a:schemeClr val="bg2"/>
                </a:solidFill>
              </a:rPr>
              <a:t>F1</a:t>
            </a:r>
            <a:r>
              <a:rPr lang="zh-CN" altLang="en-US" sz="1600" b="1" dirty="0">
                <a:solidFill>
                  <a:schemeClr val="bg2"/>
                </a:solidFill>
              </a:rPr>
              <a:t>（</a:t>
            </a:r>
            <a:r>
              <a:rPr lang="en-US" altLang="zh-CN" sz="1600" b="1" dirty="0">
                <a:solidFill>
                  <a:schemeClr val="bg2"/>
                </a:solidFill>
              </a:rPr>
              <a:t>σ</a:t>
            </a:r>
            <a:r>
              <a:rPr lang="en-US" altLang="zh-CN" sz="1600" b="1" baseline="-25000" dirty="0">
                <a:solidFill>
                  <a:schemeClr val="bg2"/>
                </a:solidFill>
              </a:rPr>
              <a:t>F2</a:t>
            </a:r>
            <a:r>
              <a:rPr lang="zh-CN" altLang="en-US" sz="1600" b="1" dirty="0">
                <a:solidFill>
                  <a:schemeClr val="bg2"/>
                </a:solidFill>
              </a:rPr>
              <a:t>（</a:t>
            </a:r>
            <a:r>
              <a:rPr lang="en-US" altLang="zh-CN" sz="1600" b="1" dirty="0">
                <a:solidFill>
                  <a:schemeClr val="bg2"/>
                </a:solidFill>
              </a:rPr>
              <a:t>E</a:t>
            </a:r>
            <a:r>
              <a:rPr lang="zh-CN" altLang="en-US" sz="1600" b="1" dirty="0">
                <a:solidFill>
                  <a:schemeClr val="bg2"/>
                </a:solidFill>
              </a:rPr>
              <a:t>））≡</a:t>
            </a:r>
            <a:r>
              <a:rPr lang="en-US" altLang="zh-CN" sz="1600" b="1" dirty="0">
                <a:solidFill>
                  <a:srgbClr val="FF0000"/>
                </a:solidFill>
              </a:rPr>
              <a:t>σ</a:t>
            </a:r>
            <a:r>
              <a:rPr lang="en-US" altLang="zh-CN" sz="1600" b="1" baseline="-25000" dirty="0">
                <a:solidFill>
                  <a:srgbClr val="FF0000"/>
                </a:solidFill>
              </a:rPr>
              <a:t>F1∧ F2</a:t>
            </a:r>
            <a:r>
              <a:rPr lang="zh-CN" altLang="en-US" sz="1600" b="1" dirty="0">
                <a:solidFill>
                  <a:srgbClr val="FF0000"/>
                </a:solidFill>
              </a:rPr>
              <a:t>（</a:t>
            </a:r>
            <a:r>
              <a:rPr lang="en-US" altLang="zh-CN" sz="1600" b="1" dirty="0">
                <a:solidFill>
                  <a:srgbClr val="FF0000"/>
                </a:solidFill>
              </a:rPr>
              <a:t>E</a:t>
            </a:r>
            <a:r>
              <a:rPr lang="zh-CN" altLang="en-US" sz="1600" b="1" dirty="0">
                <a:solidFill>
                  <a:srgbClr val="FF0000"/>
                </a:solidFill>
              </a:rPr>
              <a:t>）</a:t>
            </a:r>
            <a:r>
              <a:rPr lang="zh-CN" altLang="en-US" sz="1600" b="1" dirty="0">
                <a:solidFill>
                  <a:schemeClr val="bg2"/>
                </a:solidFill>
              </a:rPr>
              <a:t>，</a:t>
            </a:r>
            <a:r>
              <a:rPr lang="en-US" altLang="zh-CN" sz="1600" b="1" dirty="0">
                <a:solidFill>
                  <a:schemeClr val="bg2"/>
                </a:solidFill>
              </a:rPr>
              <a:t>σ</a:t>
            </a:r>
            <a:r>
              <a:rPr lang="en-US" altLang="zh-CN" sz="1600" b="1" baseline="-25000" dirty="0">
                <a:solidFill>
                  <a:schemeClr val="bg2"/>
                </a:solidFill>
              </a:rPr>
              <a:t>F1</a:t>
            </a:r>
            <a:r>
              <a:rPr lang="zh-CN" altLang="en-US" sz="1600" b="1" dirty="0">
                <a:solidFill>
                  <a:schemeClr val="bg2"/>
                </a:solidFill>
              </a:rPr>
              <a:t>（</a:t>
            </a:r>
            <a:r>
              <a:rPr lang="en-US" altLang="zh-CN" sz="1600" b="1" dirty="0">
                <a:solidFill>
                  <a:schemeClr val="bg2"/>
                </a:solidFill>
              </a:rPr>
              <a:t>σ</a:t>
            </a:r>
            <a:r>
              <a:rPr lang="en-US" altLang="zh-CN" sz="1600" b="1" baseline="-25000" dirty="0">
                <a:solidFill>
                  <a:schemeClr val="bg2"/>
                </a:solidFill>
              </a:rPr>
              <a:t>F2</a:t>
            </a:r>
            <a:r>
              <a:rPr lang="zh-CN" altLang="en-US" sz="1600" b="1" dirty="0">
                <a:solidFill>
                  <a:schemeClr val="bg2"/>
                </a:solidFill>
              </a:rPr>
              <a:t>（</a:t>
            </a:r>
            <a:r>
              <a:rPr lang="en-US" altLang="zh-CN" sz="1600" b="1" dirty="0">
                <a:solidFill>
                  <a:schemeClr val="bg2"/>
                </a:solidFill>
              </a:rPr>
              <a:t>E</a:t>
            </a:r>
            <a:r>
              <a:rPr lang="zh-CN" altLang="en-US" sz="1600" b="1" dirty="0">
                <a:solidFill>
                  <a:schemeClr val="bg2"/>
                </a:solidFill>
              </a:rPr>
              <a:t>））≡</a:t>
            </a:r>
            <a:r>
              <a:rPr lang="en-US" altLang="zh-CN" sz="1600" b="1" dirty="0">
                <a:solidFill>
                  <a:srgbClr val="FF0000"/>
                </a:solidFill>
              </a:rPr>
              <a:t>σ</a:t>
            </a:r>
            <a:r>
              <a:rPr lang="en-US" altLang="zh-CN" sz="1600" b="1" baseline="-25000" dirty="0">
                <a:solidFill>
                  <a:srgbClr val="FF0000"/>
                </a:solidFill>
              </a:rPr>
              <a:t>F2</a:t>
            </a:r>
            <a:r>
              <a:rPr lang="zh-CN" altLang="en-US" sz="1600" b="1" dirty="0">
                <a:solidFill>
                  <a:srgbClr val="FF0000"/>
                </a:solidFill>
              </a:rPr>
              <a:t>（</a:t>
            </a:r>
            <a:r>
              <a:rPr lang="en-US" altLang="zh-CN" sz="1600" b="1" dirty="0">
                <a:solidFill>
                  <a:srgbClr val="FF0000"/>
                </a:solidFill>
              </a:rPr>
              <a:t>σ</a:t>
            </a:r>
            <a:r>
              <a:rPr lang="en-US" altLang="zh-CN" sz="1600" b="1" baseline="-25000" dirty="0">
                <a:solidFill>
                  <a:srgbClr val="FF0000"/>
                </a:solidFill>
              </a:rPr>
              <a:t>F1</a:t>
            </a:r>
            <a:r>
              <a:rPr lang="zh-CN" altLang="en-US" sz="1600" b="1" dirty="0">
                <a:solidFill>
                  <a:srgbClr val="FF0000"/>
                </a:solidFill>
              </a:rPr>
              <a:t>（</a:t>
            </a:r>
            <a:r>
              <a:rPr lang="en-US" altLang="zh-CN" sz="1600" b="1" dirty="0">
                <a:solidFill>
                  <a:srgbClr val="FF0000"/>
                </a:solidFill>
              </a:rPr>
              <a:t>E</a:t>
            </a:r>
            <a:r>
              <a:rPr lang="zh-CN" altLang="en-US" sz="1600" b="1" dirty="0">
                <a:solidFill>
                  <a:srgbClr val="FF0000"/>
                </a:solidFill>
              </a:rPr>
              <a:t>））</a:t>
            </a:r>
            <a:r>
              <a:rPr lang="zh-CN" altLang="en-US" sz="1600" b="1" dirty="0">
                <a:solidFill>
                  <a:srgbClr val="FF0000"/>
                </a:solidFill>
                <a:latin typeface="Times New Roman"/>
              </a:rPr>
              <a:t> </a:t>
            </a:r>
            <a:endParaRPr lang="zh-CN" altLang="en-US" sz="1600" b="1" dirty="0">
              <a:solidFill>
                <a:srgbClr val="FF0000"/>
              </a:solidFill>
            </a:endParaRPr>
          </a:p>
          <a:p>
            <a:pPr>
              <a:lnSpc>
                <a:spcPct val="150000"/>
              </a:lnSpc>
              <a:spcBef>
                <a:spcPts val="0"/>
              </a:spcBef>
            </a:pPr>
            <a:r>
              <a:rPr lang="zh-CN" altLang="en-US" sz="1600" dirty="0">
                <a:solidFill>
                  <a:schemeClr val="bg1"/>
                </a:solidFill>
              </a:rPr>
              <a:t>规则</a:t>
            </a:r>
            <a:r>
              <a:rPr lang="en-US" altLang="zh-CN" sz="1600" dirty="0">
                <a:solidFill>
                  <a:schemeClr val="bg1"/>
                </a:solidFill>
              </a:rPr>
              <a:t>5</a:t>
            </a:r>
            <a:r>
              <a:rPr lang="zh-CN" altLang="en-US" sz="1600" dirty="0">
                <a:solidFill>
                  <a:schemeClr val="bg1"/>
                </a:solidFill>
              </a:rPr>
              <a:t>：</a:t>
            </a:r>
            <a:r>
              <a:rPr lang="zh-CN" altLang="en-US" sz="1600" b="1" dirty="0">
                <a:solidFill>
                  <a:srgbClr val="660033"/>
                </a:solidFill>
              </a:rPr>
              <a:t>选择和投影操作的交换 </a:t>
            </a:r>
            <a:r>
              <a:rPr lang="en-US" altLang="zh-CN" sz="1600" b="1" dirty="0">
                <a:solidFill>
                  <a:srgbClr val="FF0000"/>
                </a:solidFill>
              </a:rPr>
              <a:t>π</a:t>
            </a:r>
            <a:r>
              <a:rPr lang="en-US" altLang="zh-CN" sz="1600" b="1" baseline="-25000" dirty="0">
                <a:solidFill>
                  <a:srgbClr val="FF0000"/>
                </a:solidFill>
              </a:rPr>
              <a:t>L</a:t>
            </a:r>
            <a:r>
              <a:rPr lang="zh-CN" altLang="en-US" sz="1600" b="1" dirty="0">
                <a:solidFill>
                  <a:srgbClr val="FF0000"/>
                </a:solidFill>
              </a:rPr>
              <a:t>（</a:t>
            </a:r>
            <a:r>
              <a:rPr lang="en-US" altLang="zh-CN" sz="1600" b="1" dirty="0" err="1">
                <a:solidFill>
                  <a:srgbClr val="FF0000"/>
                </a:solidFill>
              </a:rPr>
              <a:t>σ</a:t>
            </a:r>
            <a:r>
              <a:rPr lang="en-US" altLang="zh-CN" sz="1600" b="1" baseline="-25000" dirty="0" err="1">
                <a:solidFill>
                  <a:srgbClr val="FF0000"/>
                </a:solidFill>
              </a:rPr>
              <a:t>F</a:t>
            </a:r>
            <a:r>
              <a:rPr lang="zh-CN" altLang="en-US" sz="1600" b="1" dirty="0">
                <a:solidFill>
                  <a:srgbClr val="FF0000"/>
                </a:solidFill>
              </a:rPr>
              <a:t>（</a:t>
            </a:r>
            <a:r>
              <a:rPr lang="en-US" altLang="zh-CN" sz="1600" b="1" dirty="0">
                <a:solidFill>
                  <a:srgbClr val="FF0000"/>
                </a:solidFill>
              </a:rPr>
              <a:t>E</a:t>
            </a:r>
            <a:r>
              <a:rPr lang="zh-CN" altLang="en-US" sz="1600" b="1" dirty="0">
                <a:solidFill>
                  <a:srgbClr val="FF0000"/>
                </a:solidFill>
              </a:rPr>
              <a:t>））≡</a:t>
            </a:r>
            <a:r>
              <a:rPr lang="en-US" altLang="zh-CN" sz="1600" b="1" dirty="0" err="1">
                <a:solidFill>
                  <a:srgbClr val="FF0000"/>
                </a:solidFill>
              </a:rPr>
              <a:t>σ</a:t>
            </a:r>
            <a:r>
              <a:rPr lang="en-US" altLang="zh-CN" sz="1600" b="1" baseline="-25000" dirty="0" err="1">
                <a:solidFill>
                  <a:srgbClr val="FF0000"/>
                </a:solidFill>
              </a:rPr>
              <a:t>F</a:t>
            </a:r>
            <a:r>
              <a:rPr lang="zh-CN" altLang="en-US" sz="1600" b="1" dirty="0">
                <a:solidFill>
                  <a:srgbClr val="FF0000"/>
                </a:solidFill>
              </a:rPr>
              <a:t>（</a:t>
            </a:r>
            <a:r>
              <a:rPr lang="en-US" altLang="zh-CN" sz="1600" b="1" dirty="0">
                <a:solidFill>
                  <a:srgbClr val="FF0000"/>
                </a:solidFill>
              </a:rPr>
              <a:t>π</a:t>
            </a:r>
            <a:r>
              <a:rPr lang="en-US" altLang="zh-CN" sz="1600" b="1" baseline="-25000" dirty="0">
                <a:solidFill>
                  <a:srgbClr val="FF0000"/>
                </a:solidFill>
              </a:rPr>
              <a:t>L</a:t>
            </a:r>
            <a:r>
              <a:rPr lang="zh-CN" altLang="en-US" sz="1600" b="1" dirty="0">
                <a:solidFill>
                  <a:srgbClr val="FF0000"/>
                </a:solidFill>
              </a:rPr>
              <a:t>（</a:t>
            </a:r>
            <a:r>
              <a:rPr lang="en-US" altLang="zh-CN" sz="1600" b="1" dirty="0">
                <a:solidFill>
                  <a:srgbClr val="FF0000"/>
                </a:solidFill>
              </a:rPr>
              <a:t>E</a:t>
            </a:r>
            <a:r>
              <a:rPr lang="zh-CN" altLang="en-US" sz="1600" b="1" dirty="0">
                <a:solidFill>
                  <a:srgbClr val="FF0000"/>
                </a:solidFill>
              </a:rPr>
              <a:t>））</a:t>
            </a:r>
          </a:p>
          <a:p>
            <a:pPr algn="l">
              <a:lnSpc>
                <a:spcPct val="150000"/>
              </a:lnSpc>
              <a:spcBef>
                <a:spcPts val="0"/>
              </a:spcBef>
            </a:pPr>
            <a:r>
              <a:rPr lang="zh-CN" altLang="en-US" sz="1200" b="1" dirty="0">
                <a:solidFill>
                  <a:schemeClr val="tx1">
                    <a:lumMod val="50000"/>
                  </a:schemeClr>
                </a:solidFill>
              </a:rPr>
              <a:t>要求条件</a:t>
            </a:r>
            <a:r>
              <a:rPr lang="en-US" altLang="zh-CN" sz="1200" b="1" dirty="0">
                <a:solidFill>
                  <a:schemeClr val="tx1">
                    <a:lumMod val="50000"/>
                  </a:schemeClr>
                </a:solidFill>
              </a:rPr>
              <a:t>F</a:t>
            </a:r>
            <a:r>
              <a:rPr lang="zh-CN" altLang="en-US" sz="1200" b="1" dirty="0">
                <a:solidFill>
                  <a:schemeClr val="tx1">
                    <a:lumMod val="50000"/>
                  </a:schemeClr>
                </a:solidFill>
              </a:rPr>
              <a:t>只涉及到</a:t>
            </a:r>
            <a:r>
              <a:rPr lang="en-US" altLang="zh-CN" sz="1200" b="1" dirty="0">
                <a:solidFill>
                  <a:schemeClr val="tx1">
                    <a:lumMod val="50000"/>
                  </a:schemeClr>
                </a:solidFill>
              </a:rPr>
              <a:t>L</a:t>
            </a:r>
            <a:r>
              <a:rPr lang="zh-CN" altLang="en-US" sz="1200" b="1" dirty="0">
                <a:solidFill>
                  <a:schemeClr val="tx1">
                    <a:lumMod val="50000"/>
                  </a:schemeClr>
                </a:solidFill>
              </a:rPr>
              <a:t>中的属性</a:t>
            </a:r>
            <a:r>
              <a:rPr lang="en-US" altLang="zh-CN" sz="1200" b="1" dirty="0">
                <a:solidFill>
                  <a:schemeClr val="tx1">
                    <a:lumMod val="50000"/>
                  </a:schemeClr>
                </a:solidFill>
              </a:rPr>
              <a:t>,</a:t>
            </a:r>
            <a:r>
              <a:rPr lang="zh-CN" altLang="en-US" sz="1200" b="1" dirty="0">
                <a:solidFill>
                  <a:schemeClr val="tx1">
                    <a:lumMod val="50000"/>
                  </a:schemeClr>
                </a:solidFill>
              </a:rPr>
              <a:t>如果</a:t>
            </a:r>
            <a:r>
              <a:rPr lang="en-US" altLang="zh-CN" sz="1200" b="1" dirty="0">
                <a:solidFill>
                  <a:schemeClr val="tx1">
                    <a:lumMod val="50000"/>
                  </a:schemeClr>
                </a:solidFill>
              </a:rPr>
              <a:t>F</a:t>
            </a:r>
            <a:r>
              <a:rPr lang="zh-CN" altLang="en-US" sz="1200" b="1" dirty="0">
                <a:solidFill>
                  <a:schemeClr val="tx1">
                    <a:lumMod val="50000"/>
                  </a:schemeClr>
                </a:solidFill>
              </a:rPr>
              <a:t>还涉及到不在</a:t>
            </a:r>
            <a:r>
              <a:rPr lang="en-US" altLang="zh-CN" sz="1200" b="1" dirty="0">
                <a:solidFill>
                  <a:schemeClr val="tx1">
                    <a:lumMod val="50000"/>
                  </a:schemeClr>
                </a:solidFill>
              </a:rPr>
              <a:t>L</a:t>
            </a:r>
            <a:r>
              <a:rPr lang="zh-CN" altLang="en-US" sz="1200" b="1" dirty="0">
                <a:solidFill>
                  <a:schemeClr val="tx1">
                    <a:lumMod val="50000"/>
                  </a:schemeClr>
                </a:solidFill>
              </a:rPr>
              <a:t>中的属性集</a:t>
            </a:r>
            <a:r>
              <a:rPr lang="en-US" altLang="zh-CN" sz="1200" b="1" dirty="0">
                <a:solidFill>
                  <a:schemeClr val="tx1">
                    <a:lumMod val="50000"/>
                  </a:schemeClr>
                </a:solidFill>
              </a:rPr>
              <a:t>L1</a:t>
            </a:r>
            <a:r>
              <a:rPr lang="zh-CN" altLang="en-US" sz="1200" b="1" dirty="0">
                <a:solidFill>
                  <a:schemeClr val="tx1">
                    <a:lumMod val="50000"/>
                  </a:schemeClr>
                </a:solidFill>
              </a:rPr>
              <a:t>：      </a:t>
            </a:r>
          </a:p>
          <a:p>
            <a:pPr>
              <a:lnSpc>
                <a:spcPct val="150000"/>
              </a:lnSpc>
              <a:spcBef>
                <a:spcPts val="0"/>
              </a:spcBef>
            </a:pPr>
            <a:r>
              <a:rPr lang="zh-CN" altLang="en-US" sz="1200" b="1" dirty="0">
                <a:solidFill>
                  <a:schemeClr val="tx1">
                    <a:lumMod val="50000"/>
                  </a:schemeClr>
                </a:solidFill>
              </a:rPr>
              <a:t>     </a:t>
            </a:r>
            <a:r>
              <a:rPr lang="en-US" altLang="zh-CN" sz="1200" b="1" dirty="0">
                <a:solidFill>
                  <a:schemeClr val="tx1">
                    <a:lumMod val="50000"/>
                  </a:schemeClr>
                </a:solidFill>
              </a:rPr>
              <a:t>π</a:t>
            </a:r>
            <a:r>
              <a:rPr lang="en-US" altLang="zh-CN" sz="1200" b="1" baseline="-25000" dirty="0">
                <a:solidFill>
                  <a:schemeClr val="tx1">
                    <a:lumMod val="50000"/>
                  </a:schemeClr>
                </a:solidFill>
              </a:rPr>
              <a:t>L</a:t>
            </a:r>
            <a:r>
              <a:rPr lang="zh-CN" altLang="en-US" sz="1200" b="1" dirty="0">
                <a:solidFill>
                  <a:schemeClr val="tx1">
                    <a:lumMod val="50000"/>
                  </a:schemeClr>
                </a:solidFill>
              </a:rPr>
              <a:t>（</a:t>
            </a:r>
            <a:r>
              <a:rPr lang="en-US" altLang="zh-CN" sz="1200" b="1" dirty="0" err="1">
                <a:solidFill>
                  <a:schemeClr val="tx1">
                    <a:lumMod val="50000"/>
                  </a:schemeClr>
                </a:solidFill>
              </a:rPr>
              <a:t>σ</a:t>
            </a:r>
            <a:r>
              <a:rPr lang="en-US" altLang="zh-CN" sz="1200" b="1" baseline="-25000" dirty="0" err="1">
                <a:solidFill>
                  <a:schemeClr val="tx1">
                    <a:lumMod val="50000"/>
                  </a:schemeClr>
                </a:solidFill>
              </a:rPr>
              <a:t>F</a:t>
            </a:r>
            <a:r>
              <a:rPr lang="zh-CN" altLang="en-US" sz="1200" b="1" dirty="0">
                <a:solidFill>
                  <a:schemeClr val="tx1">
                    <a:lumMod val="50000"/>
                  </a:schemeClr>
                </a:solidFill>
              </a:rPr>
              <a:t>（</a:t>
            </a:r>
            <a:r>
              <a:rPr lang="en-US" altLang="zh-CN" sz="1200" b="1" dirty="0">
                <a:solidFill>
                  <a:schemeClr val="tx1">
                    <a:lumMod val="50000"/>
                  </a:schemeClr>
                </a:solidFill>
              </a:rPr>
              <a:t>E</a:t>
            </a:r>
            <a:r>
              <a:rPr lang="zh-CN" altLang="en-US" sz="1200" b="1" dirty="0">
                <a:solidFill>
                  <a:schemeClr val="tx1">
                    <a:lumMod val="50000"/>
                  </a:schemeClr>
                </a:solidFill>
              </a:rPr>
              <a:t>））≡</a:t>
            </a:r>
            <a:r>
              <a:rPr lang="en-US" altLang="zh-CN" sz="1200" b="1" dirty="0">
                <a:solidFill>
                  <a:schemeClr val="tx1">
                    <a:lumMod val="50000"/>
                  </a:schemeClr>
                </a:solidFill>
              </a:rPr>
              <a:t>π</a:t>
            </a:r>
            <a:r>
              <a:rPr lang="en-US" altLang="zh-CN" sz="1200" b="1" baseline="-25000" dirty="0">
                <a:solidFill>
                  <a:schemeClr val="tx1">
                    <a:lumMod val="50000"/>
                  </a:schemeClr>
                </a:solidFill>
              </a:rPr>
              <a:t>L</a:t>
            </a:r>
            <a:r>
              <a:rPr lang="zh-CN" altLang="en-US" sz="1200" b="1" dirty="0">
                <a:solidFill>
                  <a:schemeClr val="tx1">
                    <a:lumMod val="50000"/>
                  </a:schemeClr>
                </a:solidFill>
              </a:rPr>
              <a:t>（</a:t>
            </a:r>
            <a:r>
              <a:rPr lang="en-US" altLang="zh-CN" sz="1200" b="1" dirty="0" err="1">
                <a:solidFill>
                  <a:schemeClr val="tx1">
                    <a:lumMod val="50000"/>
                  </a:schemeClr>
                </a:solidFill>
              </a:rPr>
              <a:t>σ</a:t>
            </a:r>
            <a:r>
              <a:rPr lang="en-US" altLang="zh-CN" sz="1200" b="1" baseline="-25000" dirty="0" err="1">
                <a:solidFill>
                  <a:schemeClr val="tx1">
                    <a:lumMod val="50000"/>
                  </a:schemeClr>
                </a:solidFill>
              </a:rPr>
              <a:t>F</a:t>
            </a:r>
            <a:r>
              <a:rPr lang="zh-CN" altLang="en-US" sz="1200" b="1" dirty="0">
                <a:solidFill>
                  <a:schemeClr val="tx1">
                    <a:lumMod val="50000"/>
                  </a:schemeClr>
                </a:solidFill>
              </a:rPr>
              <a:t>（</a:t>
            </a:r>
            <a:r>
              <a:rPr lang="en-US" altLang="zh-CN" sz="1200" b="1" dirty="0">
                <a:solidFill>
                  <a:schemeClr val="tx1">
                    <a:lumMod val="50000"/>
                  </a:schemeClr>
                </a:solidFill>
              </a:rPr>
              <a:t>π</a:t>
            </a:r>
            <a:r>
              <a:rPr lang="en-US" altLang="zh-CN" sz="1200" b="1" baseline="-25000" dirty="0">
                <a:solidFill>
                  <a:schemeClr val="tx1">
                    <a:lumMod val="50000"/>
                  </a:schemeClr>
                </a:solidFill>
              </a:rPr>
              <a:t>L∪L1</a:t>
            </a:r>
            <a:r>
              <a:rPr lang="zh-CN" altLang="en-US" sz="1200" b="1" dirty="0">
                <a:solidFill>
                  <a:schemeClr val="tx1">
                    <a:lumMod val="50000"/>
                  </a:schemeClr>
                </a:solidFill>
              </a:rPr>
              <a:t>（</a:t>
            </a:r>
            <a:r>
              <a:rPr lang="en-US" altLang="zh-CN" sz="1200" b="1" dirty="0">
                <a:solidFill>
                  <a:schemeClr val="tx1">
                    <a:lumMod val="50000"/>
                  </a:schemeClr>
                </a:solidFill>
              </a:rPr>
              <a:t>E</a:t>
            </a:r>
            <a:r>
              <a:rPr lang="zh-CN" altLang="en-US" sz="1200" b="1" dirty="0">
                <a:solidFill>
                  <a:schemeClr val="tx1">
                    <a:lumMod val="50000"/>
                  </a:schemeClr>
                </a:solidFill>
              </a:rPr>
              <a:t>）））</a:t>
            </a:r>
            <a:endParaRPr lang="en-US" altLang="zh-CN" sz="1200" b="1" dirty="0">
              <a:solidFill>
                <a:schemeClr val="tx1">
                  <a:lumMod val="50000"/>
                </a:schemeClr>
              </a:solidFill>
            </a:endParaRPr>
          </a:p>
          <a:p>
            <a:pPr>
              <a:lnSpc>
                <a:spcPct val="150000"/>
              </a:lnSpc>
              <a:spcBef>
                <a:spcPts val="0"/>
              </a:spcBef>
            </a:pPr>
            <a:r>
              <a:rPr lang="zh-CN" altLang="en-US" sz="1600" dirty="0">
                <a:solidFill>
                  <a:schemeClr val="bg1"/>
                </a:solidFill>
              </a:rPr>
              <a:t>规则</a:t>
            </a:r>
            <a:r>
              <a:rPr lang="en-US" altLang="zh-CN" sz="1600" dirty="0">
                <a:solidFill>
                  <a:schemeClr val="bg1"/>
                </a:solidFill>
              </a:rPr>
              <a:t>6</a:t>
            </a:r>
            <a:r>
              <a:rPr lang="zh-CN" altLang="en-US" sz="1600" dirty="0">
                <a:solidFill>
                  <a:schemeClr val="bg1"/>
                </a:solidFill>
              </a:rPr>
              <a:t>：</a:t>
            </a:r>
            <a:r>
              <a:rPr lang="zh-CN" altLang="en-US" sz="1600" b="1" dirty="0">
                <a:solidFill>
                  <a:srgbClr val="660033"/>
                </a:solidFill>
              </a:rPr>
              <a:t>选择对笛卡儿积的分配律 </a:t>
            </a:r>
            <a:r>
              <a:rPr lang="en-US" altLang="zh-CN" sz="1600" b="1" dirty="0" err="1">
                <a:solidFill>
                  <a:srgbClr val="FF0000"/>
                </a:solidFill>
              </a:rPr>
              <a:t>σ</a:t>
            </a:r>
            <a:r>
              <a:rPr lang="en-US" altLang="zh-CN" sz="1600" b="1" baseline="-25000" dirty="0" err="1">
                <a:solidFill>
                  <a:srgbClr val="FF0000"/>
                </a:solidFill>
              </a:rPr>
              <a:t>F</a:t>
            </a:r>
            <a:r>
              <a:rPr lang="zh-CN" altLang="en-US" sz="1600" b="1" dirty="0">
                <a:solidFill>
                  <a:srgbClr val="FF0000"/>
                </a:solidFill>
              </a:rPr>
              <a:t>（</a:t>
            </a:r>
            <a:r>
              <a:rPr lang="en-US" altLang="zh-CN" sz="1600" b="1" dirty="0">
                <a:solidFill>
                  <a:srgbClr val="FF0000"/>
                </a:solidFill>
              </a:rPr>
              <a:t>E1×E2</a:t>
            </a:r>
            <a:r>
              <a:rPr lang="zh-CN" altLang="en-US" sz="1600" b="1" dirty="0">
                <a:solidFill>
                  <a:srgbClr val="FF0000"/>
                </a:solidFill>
              </a:rPr>
              <a:t>）≡</a:t>
            </a:r>
            <a:r>
              <a:rPr lang="en-US" altLang="zh-CN" sz="1600" b="1" dirty="0" err="1">
                <a:solidFill>
                  <a:srgbClr val="FF0000"/>
                </a:solidFill>
              </a:rPr>
              <a:t>σ</a:t>
            </a:r>
            <a:r>
              <a:rPr lang="en-US" altLang="zh-CN" sz="1600" b="1" baseline="-25000" dirty="0" err="1">
                <a:solidFill>
                  <a:srgbClr val="FF0000"/>
                </a:solidFill>
              </a:rPr>
              <a:t>F</a:t>
            </a:r>
            <a:r>
              <a:rPr lang="zh-CN" altLang="en-US" sz="1600" b="1" dirty="0">
                <a:solidFill>
                  <a:srgbClr val="FF0000"/>
                </a:solidFill>
              </a:rPr>
              <a:t>（</a:t>
            </a:r>
            <a:r>
              <a:rPr lang="en-US" altLang="zh-CN" sz="1600" b="1" dirty="0">
                <a:solidFill>
                  <a:srgbClr val="FF0000"/>
                </a:solidFill>
              </a:rPr>
              <a:t>E1</a:t>
            </a:r>
            <a:r>
              <a:rPr lang="zh-CN" altLang="en-US" sz="1600" b="1" dirty="0">
                <a:solidFill>
                  <a:srgbClr val="FF0000"/>
                </a:solidFill>
              </a:rPr>
              <a:t>）</a:t>
            </a:r>
            <a:r>
              <a:rPr lang="en-US" altLang="zh-CN" sz="1600" b="1" dirty="0">
                <a:solidFill>
                  <a:srgbClr val="FF0000"/>
                </a:solidFill>
              </a:rPr>
              <a:t>×E2</a:t>
            </a:r>
            <a:r>
              <a:rPr lang="zh-CN" altLang="en-US" sz="1600" b="1" dirty="0">
                <a:solidFill>
                  <a:schemeClr val="bg2"/>
                </a:solidFill>
              </a:rPr>
              <a:t>，</a:t>
            </a:r>
            <a:endParaRPr lang="en-US" altLang="zh-CN" sz="1600" b="1" dirty="0">
              <a:solidFill>
                <a:schemeClr val="bg2"/>
              </a:solidFill>
            </a:endParaRPr>
          </a:p>
          <a:p>
            <a:pPr>
              <a:lnSpc>
                <a:spcPct val="150000"/>
              </a:lnSpc>
              <a:spcBef>
                <a:spcPts val="0"/>
              </a:spcBef>
            </a:pPr>
            <a:r>
              <a:rPr lang="en-US" altLang="zh-CN" sz="1600" b="1" dirty="0" err="1">
                <a:solidFill>
                  <a:schemeClr val="bg2"/>
                </a:solidFill>
              </a:rPr>
              <a:t>σ</a:t>
            </a:r>
            <a:r>
              <a:rPr lang="en-US" altLang="zh-CN" sz="1600" b="1" baseline="-25000" dirty="0" err="1">
                <a:solidFill>
                  <a:schemeClr val="bg2"/>
                </a:solidFill>
              </a:rPr>
              <a:t>F</a:t>
            </a:r>
            <a:r>
              <a:rPr lang="zh-CN" altLang="en-US" sz="1600" b="1" dirty="0">
                <a:solidFill>
                  <a:schemeClr val="bg2"/>
                </a:solidFill>
              </a:rPr>
              <a:t>（</a:t>
            </a:r>
            <a:r>
              <a:rPr lang="en-US" altLang="zh-CN" sz="1600" b="1" dirty="0">
                <a:solidFill>
                  <a:schemeClr val="bg2"/>
                </a:solidFill>
              </a:rPr>
              <a:t>E1×E2</a:t>
            </a:r>
            <a:r>
              <a:rPr lang="zh-CN" altLang="en-US" sz="1600" b="1" dirty="0">
                <a:solidFill>
                  <a:schemeClr val="bg2"/>
                </a:solidFill>
              </a:rPr>
              <a:t>）</a:t>
            </a:r>
            <a:r>
              <a:rPr lang="zh-CN" altLang="en-US" sz="1600" b="1" dirty="0">
                <a:solidFill>
                  <a:srgbClr val="FF0000"/>
                </a:solidFill>
              </a:rPr>
              <a:t>≡</a:t>
            </a:r>
            <a:r>
              <a:rPr lang="en-US" altLang="zh-CN" sz="1600" b="1" dirty="0">
                <a:solidFill>
                  <a:srgbClr val="FF0000"/>
                </a:solidFill>
              </a:rPr>
              <a:t>σ</a:t>
            </a:r>
            <a:r>
              <a:rPr lang="en-US" altLang="zh-CN" sz="1600" b="1" baseline="-25000" dirty="0">
                <a:solidFill>
                  <a:srgbClr val="FF0000"/>
                </a:solidFill>
              </a:rPr>
              <a:t>F1</a:t>
            </a:r>
            <a:r>
              <a:rPr lang="zh-CN" altLang="en-US" sz="1600" b="1" dirty="0">
                <a:solidFill>
                  <a:srgbClr val="FF0000"/>
                </a:solidFill>
              </a:rPr>
              <a:t>（</a:t>
            </a:r>
            <a:r>
              <a:rPr lang="en-US" altLang="zh-CN" sz="1600" b="1" dirty="0">
                <a:solidFill>
                  <a:srgbClr val="FF0000"/>
                </a:solidFill>
              </a:rPr>
              <a:t>E1</a:t>
            </a:r>
            <a:r>
              <a:rPr lang="zh-CN" altLang="en-US" sz="1600" b="1" dirty="0">
                <a:solidFill>
                  <a:srgbClr val="FF0000"/>
                </a:solidFill>
              </a:rPr>
              <a:t>）</a:t>
            </a:r>
            <a:r>
              <a:rPr lang="en-US" altLang="zh-CN" sz="1600" b="1" dirty="0">
                <a:solidFill>
                  <a:srgbClr val="FF0000"/>
                </a:solidFill>
              </a:rPr>
              <a:t>×σ</a:t>
            </a:r>
            <a:r>
              <a:rPr lang="en-US" altLang="zh-CN" sz="1600" b="1" baseline="-25000" dirty="0">
                <a:solidFill>
                  <a:srgbClr val="FF0000"/>
                </a:solidFill>
              </a:rPr>
              <a:t>F2</a:t>
            </a:r>
            <a:r>
              <a:rPr lang="zh-CN" altLang="en-US" sz="1600" b="1" dirty="0">
                <a:solidFill>
                  <a:srgbClr val="FF0000"/>
                </a:solidFill>
              </a:rPr>
              <a:t>（</a:t>
            </a:r>
            <a:r>
              <a:rPr lang="en-US" altLang="zh-CN" sz="1600" b="1" dirty="0">
                <a:solidFill>
                  <a:srgbClr val="FF0000"/>
                </a:solidFill>
              </a:rPr>
              <a:t>E2),</a:t>
            </a:r>
            <a:r>
              <a:rPr lang="en-US" altLang="zh-CN" sz="1600" b="1" dirty="0" err="1">
                <a:solidFill>
                  <a:schemeClr val="bg2"/>
                </a:solidFill>
              </a:rPr>
              <a:t>σ</a:t>
            </a:r>
            <a:r>
              <a:rPr lang="en-US" altLang="zh-CN" sz="1600" b="1" baseline="-25000" dirty="0" err="1">
                <a:solidFill>
                  <a:schemeClr val="bg2"/>
                </a:solidFill>
              </a:rPr>
              <a:t>F</a:t>
            </a:r>
            <a:r>
              <a:rPr lang="zh-CN" altLang="en-US" sz="1600" b="1" dirty="0">
                <a:solidFill>
                  <a:schemeClr val="bg2"/>
                </a:solidFill>
              </a:rPr>
              <a:t>（</a:t>
            </a:r>
            <a:r>
              <a:rPr lang="en-US" altLang="zh-CN" sz="1600" b="1" dirty="0">
                <a:solidFill>
                  <a:schemeClr val="bg2"/>
                </a:solidFill>
              </a:rPr>
              <a:t>E1×E2</a:t>
            </a:r>
            <a:r>
              <a:rPr lang="zh-CN" altLang="en-US" sz="1600" b="1" dirty="0">
                <a:solidFill>
                  <a:schemeClr val="bg2"/>
                </a:solidFill>
              </a:rPr>
              <a:t>）≡</a:t>
            </a:r>
            <a:r>
              <a:rPr lang="en-US" altLang="zh-CN" sz="1600" b="1" dirty="0">
                <a:solidFill>
                  <a:srgbClr val="FF0000"/>
                </a:solidFill>
              </a:rPr>
              <a:t>σ</a:t>
            </a:r>
            <a:r>
              <a:rPr lang="en-US" altLang="zh-CN" sz="1600" b="1" baseline="-25000" dirty="0">
                <a:solidFill>
                  <a:srgbClr val="FF0000"/>
                </a:solidFill>
              </a:rPr>
              <a:t>F2</a:t>
            </a:r>
            <a:r>
              <a:rPr lang="zh-CN" altLang="en-US" sz="1600" b="1" dirty="0">
                <a:solidFill>
                  <a:srgbClr val="FF0000"/>
                </a:solidFill>
              </a:rPr>
              <a:t>（</a:t>
            </a:r>
            <a:r>
              <a:rPr lang="en-US" altLang="zh-CN" sz="1600" b="1" dirty="0">
                <a:solidFill>
                  <a:srgbClr val="FF0000"/>
                </a:solidFill>
              </a:rPr>
              <a:t>σ</a:t>
            </a:r>
            <a:r>
              <a:rPr lang="en-US" altLang="zh-CN" sz="1600" b="1" baseline="-25000" dirty="0">
                <a:solidFill>
                  <a:srgbClr val="FF0000"/>
                </a:solidFill>
              </a:rPr>
              <a:t>F1</a:t>
            </a:r>
            <a:r>
              <a:rPr lang="zh-CN" altLang="en-US" sz="1600" b="1" dirty="0">
                <a:solidFill>
                  <a:srgbClr val="FF0000"/>
                </a:solidFill>
              </a:rPr>
              <a:t>（</a:t>
            </a:r>
            <a:r>
              <a:rPr lang="en-US" altLang="zh-CN" sz="1600" b="1" dirty="0">
                <a:solidFill>
                  <a:srgbClr val="FF0000"/>
                </a:solidFill>
              </a:rPr>
              <a:t>E1</a:t>
            </a:r>
            <a:r>
              <a:rPr lang="zh-CN" altLang="en-US" sz="1600" b="1" dirty="0">
                <a:solidFill>
                  <a:srgbClr val="FF0000"/>
                </a:solidFill>
              </a:rPr>
              <a:t>）</a:t>
            </a:r>
            <a:r>
              <a:rPr lang="en-US" altLang="zh-CN" sz="1600" b="1" dirty="0">
                <a:solidFill>
                  <a:srgbClr val="FF0000"/>
                </a:solidFill>
              </a:rPr>
              <a:t>×E2</a:t>
            </a:r>
            <a:r>
              <a:rPr lang="zh-CN" altLang="en-US" sz="1600" b="1" dirty="0">
                <a:solidFill>
                  <a:srgbClr val="FF0000"/>
                </a:solidFill>
              </a:rPr>
              <a:t>）</a:t>
            </a:r>
            <a:endParaRPr lang="en-US" altLang="zh-CN" sz="1600" dirty="0">
              <a:solidFill>
                <a:srgbClr val="FF0000"/>
              </a:solidFill>
            </a:endParaRPr>
          </a:p>
          <a:p>
            <a:pPr lvl="0" eaLnBrk="0" hangingPunct="0">
              <a:lnSpc>
                <a:spcPct val="150000"/>
              </a:lnSpc>
              <a:spcBef>
                <a:spcPts val="0"/>
              </a:spcBef>
              <a:defRPr/>
            </a:pPr>
            <a:r>
              <a:rPr lang="zh-CN" altLang="en-US" dirty="0">
                <a:solidFill>
                  <a:schemeClr val="bg1"/>
                </a:solidFill>
              </a:rPr>
              <a:t>把</a:t>
            </a:r>
            <a:r>
              <a:rPr kumimoji="0" lang="en-US" altLang="zh-CN" b="1" dirty="0" err="1">
                <a:solidFill>
                  <a:schemeClr val="bg2"/>
                </a:solidFill>
              </a:rPr>
              <a:t>σ</a:t>
            </a:r>
            <a:r>
              <a:rPr kumimoji="0" lang="en-US" altLang="zh-CN" b="1" baseline="-25000" dirty="0" err="1">
                <a:solidFill>
                  <a:schemeClr val="bg2"/>
                </a:solidFill>
              </a:rPr>
              <a:t>JNO</a:t>
            </a:r>
            <a:r>
              <a:rPr kumimoji="0" lang="en-US" altLang="zh-CN" b="1" baseline="-25000" dirty="0">
                <a:solidFill>
                  <a:schemeClr val="bg2"/>
                </a:solidFill>
              </a:rPr>
              <a:t> =‘J1’</a:t>
            </a:r>
            <a:r>
              <a:rPr kumimoji="0" lang="zh-CN" altLang="en-US" b="1" dirty="0">
                <a:solidFill>
                  <a:schemeClr val="bg2"/>
                </a:solidFill>
              </a:rPr>
              <a:t>和</a:t>
            </a:r>
            <a:r>
              <a:rPr kumimoji="0" lang="en-US" altLang="zh-CN" b="1" dirty="0" err="1">
                <a:solidFill>
                  <a:schemeClr val="bg2"/>
                </a:solidFill>
              </a:rPr>
              <a:t>σ</a:t>
            </a:r>
            <a:r>
              <a:rPr kumimoji="0" lang="en-US" altLang="zh-CN" b="1" baseline="-25000" dirty="0" err="1">
                <a:solidFill>
                  <a:srgbClr val="000000"/>
                </a:solidFill>
              </a:rPr>
              <a:t>COLOR</a:t>
            </a:r>
            <a:r>
              <a:rPr kumimoji="0" lang="en-US" altLang="zh-CN" b="1" baseline="-25000" dirty="0">
                <a:solidFill>
                  <a:srgbClr val="000000"/>
                </a:solidFill>
              </a:rPr>
              <a:t> =‘</a:t>
            </a:r>
            <a:r>
              <a:rPr kumimoji="0" lang="zh-CN" altLang="en-US" b="1" baseline="-25000" dirty="0">
                <a:solidFill>
                  <a:srgbClr val="000000"/>
                </a:solidFill>
              </a:rPr>
              <a:t>红色’</a:t>
            </a:r>
            <a:r>
              <a:rPr kumimoji="0" lang="zh-CN" altLang="en-US" sz="1600" b="1" dirty="0">
                <a:solidFill>
                  <a:schemeClr val="bg2"/>
                </a:solidFill>
              </a:rPr>
              <a:t>移动到投影和另两个选择操作下面，</a:t>
            </a:r>
            <a:endParaRPr kumimoji="0" lang="en-US" altLang="zh-CN" sz="1600" b="1" dirty="0">
              <a:solidFill>
                <a:schemeClr val="bg2"/>
              </a:solidFill>
            </a:endParaRPr>
          </a:p>
          <a:p>
            <a:pPr lvl="0" eaLnBrk="0" hangingPunct="0">
              <a:lnSpc>
                <a:spcPct val="150000"/>
              </a:lnSpc>
              <a:spcBef>
                <a:spcPts val="0"/>
              </a:spcBef>
              <a:defRPr/>
            </a:pPr>
            <a:r>
              <a:rPr kumimoji="0" lang="zh-CN" altLang="en-US" sz="1600" b="1" dirty="0">
                <a:solidFill>
                  <a:schemeClr val="bg2"/>
                </a:solidFill>
              </a:rPr>
              <a:t>直接放在笛卡尔积外面得到子表达式</a:t>
            </a:r>
            <a:endParaRPr lang="en-US" altLang="zh-CN" sz="1600" b="1" dirty="0">
              <a:solidFill>
                <a:srgbClr val="660033"/>
              </a:solidFill>
            </a:endParaRPr>
          </a:p>
          <a:p>
            <a:pPr eaLnBrk="0" hangingPunct="0">
              <a:lnSpc>
                <a:spcPct val="150000"/>
              </a:lnSpc>
              <a:spcBef>
                <a:spcPts val="0"/>
              </a:spcBef>
              <a:defRPr/>
            </a:pPr>
            <a:r>
              <a:rPr lang="en-US" altLang="zh-CN" sz="2000" b="1" dirty="0">
                <a:solidFill>
                  <a:srgbClr val="660033"/>
                </a:solidFill>
              </a:rPr>
              <a:t>π</a:t>
            </a:r>
            <a:r>
              <a:rPr lang="en-US" altLang="zh-CN" sz="2000" b="1" baseline="-10000" dirty="0">
                <a:solidFill>
                  <a:srgbClr val="660033"/>
                </a:solidFill>
              </a:rPr>
              <a:t>SNAME,SADDR</a:t>
            </a:r>
            <a:r>
              <a:rPr lang="en-US" altLang="zh-CN" sz="2000" b="1" dirty="0">
                <a:solidFill>
                  <a:srgbClr val="660033"/>
                </a:solidFill>
              </a:rPr>
              <a:t>(</a:t>
            </a:r>
            <a:r>
              <a:rPr lang="en-US" altLang="zh-CN" sz="2000" b="1" dirty="0" err="1">
                <a:solidFill>
                  <a:srgbClr val="660033"/>
                </a:solidFill>
              </a:rPr>
              <a:t>σ</a:t>
            </a:r>
            <a:r>
              <a:rPr lang="en-US" altLang="zh-CN" sz="2000" b="1" baseline="-10000" dirty="0" err="1">
                <a:solidFill>
                  <a:srgbClr val="660033"/>
                </a:solidFill>
              </a:rPr>
              <a:t>JNO</a:t>
            </a:r>
            <a:r>
              <a:rPr lang="en-US" altLang="zh-CN" sz="2000" b="1" baseline="-10000" dirty="0">
                <a:solidFill>
                  <a:srgbClr val="660033"/>
                </a:solidFill>
              </a:rPr>
              <a:t> =‘J1’∧COLOR =‘</a:t>
            </a:r>
            <a:r>
              <a:rPr lang="zh-CN" altLang="en-US" sz="2000" b="1" baseline="-10000" dirty="0">
                <a:solidFill>
                  <a:srgbClr val="660033"/>
                </a:solidFill>
              </a:rPr>
              <a:t>红色</a:t>
            </a:r>
            <a:r>
              <a:rPr lang="en-US" altLang="zh-CN" sz="2000" b="1" baseline="-10000" dirty="0">
                <a:solidFill>
                  <a:srgbClr val="660033"/>
                </a:solidFill>
              </a:rPr>
              <a:t>’</a:t>
            </a:r>
            <a:r>
              <a:rPr lang="en-US" altLang="zh-CN" sz="2000" b="1" dirty="0">
                <a:solidFill>
                  <a:srgbClr val="660033"/>
                </a:solidFill>
              </a:rPr>
              <a:t>(π</a:t>
            </a:r>
            <a:r>
              <a:rPr lang="en-US" altLang="zh-CN" sz="2000" b="1" baseline="-10000" dirty="0">
                <a:solidFill>
                  <a:srgbClr val="660033"/>
                </a:solidFill>
              </a:rPr>
              <a:t>L</a:t>
            </a:r>
            <a:r>
              <a:rPr lang="en-US" altLang="zh-CN" sz="2000" b="1" dirty="0">
                <a:solidFill>
                  <a:srgbClr val="660033"/>
                </a:solidFill>
              </a:rPr>
              <a:t>(</a:t>
            </a:r>
            <a:r>
              <a:rPr lang="en-US" altLang="zh-CN" sz="2000" b="1" dirty="0" err="1">
                <a:solidFill>
                  <a:srgbClr val="660033"/>
                </a:solidFill>
              </a:rPr>
              <a:t>σ</a:t>
            </a:r>
            <a:r>
              <a:rPr lang="en-US" altLang="zh-CN" sz="2000" b="1" baseline="-10000" dirty="0" err="1">
                <a:solidFill>
                  <a:srgbClr val="660033"/>
                </a:solidFill>
              </a:rPr>
              <a:t>S.SNO</a:t>
            </a:r>
            <a:r>
              <a:rPr lang="en-US" altLang="zh-CN" sz="2000" b="1" baseline="-10000" dirty="0">
                <a:solidFill>
                  <a:srgbClr val="660033"/>
                </a:solidFill>
              </a:rPr>
              <a:t>=SPJ.SNO∧SPJ.PNO=P.PNO</a:t>
            </a:r>
            <a:r>
              <a:rPr lang="en-US" altLang="zh-CN" sz="2000" b="1" dirty="0">
                <a:solidFill>
                  <a:srgbClr val="660033"/>
                </a:solidFill>
              </a:rPr>
              <a:t>(</a:t>
            </a:r>
            <a:r>
              <a:rPr lang="en-US" altLang="zh-CN" sz="1600" b="1" dirty="0">
                <a:solidFill>
                  <a:srgbClr val="660033"/>
                </a:solidFill>
              </a:rPr>
              <a:t>S</a:t>
            </a:r>
            <a:r>
              <a:rPr kumimoji="0" lang="en-US" altLang="zh-CN" sz="2000" b="1" dirty="0">
                <a:solidFill>
                  <a:schemeClr val="bg2"/>
                </a:solidFill>
                <a:latin typeface="Times New Roman" pitchFamily="18" charset="0"/>
              </a:rPr>
              <a:t>×</a:t>
            </a:r>
            <a:r>
              <a:rPr lang="en-US" altLang="zh-CN" sz="1600" b="1" dirty="0">
                <a:solidFill>
                  <a:srgbClr val="660033"/>
                </a:solidFill>
              </a:rPr>
              <a:t>SPJ</a:t>
            </a:r>
            <a:r>
              <a:rPr kumimoji="0" lang="en-US" altLang="zh-CN" sz="2000" b="1" dirty="0">
                <a:solidFill>
                  <a:schemeClr val="bg2"/>
                </a:solidFill>
                <a:latin typeface="Times New Roman" pitchFamily="18" charset="0"/>
              </a:rPr>
              <a:t>×</a:t>
            </a:r>
            <a:r>
              <a:rPr lang="en-US" altLang="zh-CN" sz="1600" b="1" dirty="0">
                <a:solidFill>
                  <a:srgbClr val="660033"/>
                </a:solidFill>
              </a:rPr>
              <a:t>P))))</a:t>
            </a:r>
            <a:endParaRPr lang="en-US" altLang="zh-CN" sz="2000" b="1" dirty="0">
              <a:solidFill>
                <a:srgbClr val="660033"/>
              </a:solidFill>
            </a:endParaRPr>
          </a:p>
          <a:p>
            <a:pPr eaLnBrk="0" hangingPunct="0">
              <a:lnSpc>
                <a:spcPct val="150000"/>
              </a:lnSpc>
              <a:spcBef>
                <a:spcPts val="0"/>
              </a:spcBef>
              <a:defRPr/>
            </a:pPr>
            <a:r>
              <a:rPr lang="en-US" altLang="zh-CN" sz="2000" dirty="0">
                <a:solidFill>
                  <a:schemeClr val="bg1"/>
                </a:solidFill>
              </a:rPr>
              <a:t>=</a:t>
            </a:r>
            <a:r>
              <a:rPr lang="en-US" altLang="zh-CN" sz="2000" b="1" dirty="0">
                <a:solidFill>
                  <a:srgbClr val="660033"/>
                </a:solidFill>
              </a:rPr>
              <a:t>π</a:t>
            </a:r>
            <a:r>
              <a:rPr lang="en-US" altLang="zh-CN" sz="2000" b="1" baseline="-10000" dirty="0">
                <a:solidFill>
                  <a:srgbClr val="660033"/>
                </a:solidFill>
              </a:rPr>
              <a:t>SNAME,SADDR</a:t>
            </a:r>
            <a:r>
              <a:rPr lang="en-US" altLang="zh-CN" b="1" dirty="0">
                <a:solidFill>
                  <a:srgbClr val="660033"/>
                </a:solidFill>
              </a:rPr>
              <a:t>π</a:t>
            </a:r>
            <a:r>
              <a:rPr lang="en-US" altLang="zh-CN" b="1" baseline="-10000" dirty="0">
                <a:solidFill>
                  <a:srgbClr val="660033"/>
                </a:solidFill>
              </a:rPr>
              <a:t>L</a:t>
            </a:r>
            <a:r>
              <a:rPr lang="en-US" altLang="zh-CN" sz="2000" b="1" dirty="0">
                <a:solidFill>
                  <a:srgbClr val="660033"/>
                </a:solidFill>
              </a:rPr>
              <a:t>(</a:t>
            </a:r>
            <a:r>
              <a:rPr lang="en-US" altLang="zh-CN" sz="2000" b="1" dirty="0" err="1">
                <a:solidFill>
                  <a:srgbClr val="660033"/>
                </a:solidFill>
              </a:rPr>
              <a:t>σ</a:t>
            </a:r>
            <a:r>
              <a:rPr lang="en-US" altLang="zh-CN" sz="2000" b="1" baseline="-10000" dirty="0" err="1">
                <a:solidFill>
                  <a:srgbClr val="660033"/>
                </a:solidFill>
              </a:rPr>
              <a:t>S.SNO</a:t>
            </a:r>
            <a:r>
              <a:rPr lang="en-US" altLang="zh-CN" sz="2000" b="1" baseline="-10000" dirty="0">
                <a:solidFill>
                  <a:srgbClr val="660033"/>
                </a:solidFill>
              </a:rPr>
              <a:t>=SPJ.SNO∧SPJ.PNO=P.PNO</a:t>
            </a:r>
            <a:r>
              <a:rPr lang="en-US" altLang="zh-CN" sz="2000" b="1" dirty="0">
                <a:solidFill>
                  <a:srgbClr val="660033"/>
                </a:solidFill>
              </a:rPr>
              <a:t>(</a:t>
            </a:r>
            <a:r>
              <a:rPr lang="en-US" altLang="zh-CN" sz="2000" b="1" dirty="0" err="1">
                <a:solidFill>
                  <a:srgbClr val="660033"/>
                </a:solidFill>
              </a:rPr>
              <a:t>σ</a:t>
            </a:r>
            <a:r>
              <a:rPr lang="en-US" altLang="zh-CN" sz="2000" b="1" baseline="-10000" dirty="0" err="1">
                <a:solidFill>
                  <a:srgbClr val="660033"/>
                </a:solidFill>
              </a:rPr>
              <a:t>JNO</a:t>
            </a:r>
            <a:r>
              <a:rPr lang="en-US" altLang="zh-CN" sz="2000" b="1" baseline="-10000" dirty="0">
                <a:solidFill>
                  <a:srgbClr val="660033"/>
                </a:solidFill>
              </a:rPr>
              <a:t> =‘J1’∧COLOR =‘</a:t>
            </a:r>
            <a:r>
              <a:rPr lang="zh-CN" altLang="en-US" sz="2000" b="1" baseline="-10000" dirty="0">
                <a:solidFill>
                  <a:srgbClr val="660033"/>
                </a:solidFill>
              </a:rPr>
              <a:t>红色</a:t>
            </a:r>
            <a:r>
              <a:rPr lang="en-US" altLang="zh-CN" sz="2000" b="1" baseline="-10000" dirty="0">
                <a:solidFill>
                  <a:srgbClr val="660033"/>
                </a:solidFill>
              </a:rPr>
              <a:t>’</a:t>
            </a:r>
            <a:r>
              <a:rPr lang="en-US" altLang="zh-CN" sz="2000" b="1" dirty="0">
                <a:solidFill>
                  <a:srgbClr val="660033"/>
                </a:solidFill>
              </a:rPr>
              <a:t>(</a:t>
            </a:r>
            <a:r>
              <a:rPr lang="en-US" altLang="zh-CN" sz="1600" b="1" dirty="0">
                <a:solidFill>
                  <a:srgbClr val="660033"/>
                </a:solidFill>
              </a:rPr>
              <a:t>S</a:t>
            </a:r>
            <a:r>
              <a:rPr kumimoji="0" lang="en-US" altLang="zh-CN" sz="2000" b="1" dirty="0">
                <a:solidFill>
                  <a:schemeClr val="bg2"/>
                </a:solidFill>
                <a:latin typeface="Times New Roman" pitchFamily="18" charset="0"/>
              </a:rPr>
              <a:t>×</a:t>
            </a:r>
            <a:r>
              <a:rPr lang="en-US" altLang="zh-CN" sz="1600" b="1" dirty="0">
                <a:solidFill>
                  <a:srgbClr val="660033"/>
                </a:solidFill>
              </a:rPr>
              <a:t>SPJ</a:t>
            </a:r>
            <a:r>
              <a:rPr kumimoji="0" lang="en-US" altLang="zh-CN" sz="2000" b="1" dirty="0">
                <a:solidFill>
                  <a:schemeClr val="bg2"/>
                </a:solidFill>
                <a:latin typeface="Times New Roman" pitchFamily="18" charset="0"/>
              </a:rPr>
              <a:t>×</a:t>
            </a:r>
            <a:r>
              <a:rPr lang="en-US" altLang="zh-CN" sz="1600" b="1" dirty="0">
                <a:solidFill>
                  <a:srgbClr val="660033"/>
                </a:solidFill>
              </a:rPr>
              <a:t>P)))</a:t>
            </a:r>
          </a:p>
          <a:p>
            <a:pPr eaLnBrk="0" hangingPunct="0">
              <a:lnSpc>
                <a:spcPct val="150000"/>
              </a:lnSpc>
              <a:spcBef>
                <a:spcPts val="0"/>
              </a:spcBef>
              <a:defRPr/>
            </a:pPr>
            <a:r>
              <a:rPr lang="en-US" altLang="zh-CN" sz="2000" b="1" dirty="0">
                <a:solidFill>
                  <a:srgbClr val="660033"/>
                </a:solidFill>
              </a:rPr>
              <a:t>=π</a:t>
            </a:r>
            <a:r>
              <a:rPr lang="en-US" altLang="zh-CN" sz="2000" b="1" baseline="-10000" dirty="0">
                <a:solidFill>
                  <a:srgbClr val="660033"/>
                </a:solidFill>
              </a:rPr>
              <a:t>SNAME,SADDR</a:t>
            </a:r>
            <a:r>
              <a:rPr lang="en-US" altLang="zh-CN" sz="2000" b="1" dirty="0">
                <a:solidFill>
                  <a:srgbClr val="660033"/>
                </a:solidFill>
              </a:rPr>
              <a:t>π</a:t>
            </a:r>
            <a:r>
              <a:rPr lang="en-US" altLang="zh-CN" sz="2000" b="1" baseline="-10000" dirty="0">
                <a:solidFill>
                  <a:srgbClr val="660033"/>
                </a:solidFill>
              </a:rPr>
              <a:t>L</a:t>
            </a:r>
            <a:r>
              <a:rPr lang="en-US" altLang="zh-CN" sz="2000" b="1" dirty="0">
                <a:solidFill>
                  <a:srgbClr val="660033"/>
                </a:solidFill>
              </a:rPr>
              <a:t>(</a:t>
            </a:r>
            <a:r>
              <a:rPr lang="en-US" altLang="zh-CN" sz="2000" b="1" dirty="0" err="1">
                <a:solidFill>
                  <a:srgbClr val="660033"/>
                </a:solidFill>
              </a:rPr>
              <a:t>σ</a:t>
            </a:r>
            <a:r>
              <a:rPr lang="en-US" altLang="zh-CN" sz="2000" b="1" baseline="-10000" dirty="0" err="1">
                <a:solidFill>
                  <a:srgbClr val="660033"/>
                </a:solidFill>
              </a:rPr>
              <a:t>S.SNO</a:t>
            </a:r>
            <a:r>
              <a:rPr lang="en-US" altLang="zh-CN" sz="2000" b="1" baseline="-10000" dirty="0">
                <a:solidFill>
                  <a:srgbClr val="660033"/>
                </a:solidFill>
              </a:rPr>
              <a:t>=SPJ.SNO∧SPJ.PNO=P.PNO</a:t>
            </a:r>
            <a:r>
              <a:rPr lang="en-US" altLang="zh-CN" sz="2000" b="1" dirty="0">
                <a:solidFill>
                  <a:srgbClr val="660033"/>
                </a:solidFill>
              </a:rPr>
              <a:t>(</a:t>
            </a:r>
            <a:r>
              <a:rPr kumimoji="0" lang="en-US" altLang="zh-CN" sz="2000" b="1" dirty="0" err="1">
                <a:solidFill>
                  <a:schemeClr val="bg2"/>
                </a:solidFill>
              </a:rPr>
              <a:t>σ</a:t>
            </a:r>
            <a:r>
              <a:rPr kumimoji="0" lang="en-US" altLang="zh-CN" sz="2000" b="1" baseline="-25000" dirty="0" err="1">
                <a:solidFill>
                  <a:srgbClr val="000000"/>
                </a:solidFill>
              </a:rPr>
              <a:t>COLOR</a:t>
            </a:r>
            <a:r>
              <a:rPr kumimoji="0" lang="en-US" altLang="zh-CN" sz="2000" b="1" baseline="-25000" dirty="0">
                <a:solidFill>
                  <a:srgbClr val="000000"/>
                </a:solidFill>
              </a:rPr>
              <a:t> =‘</a:t>
            </a:r>
            <a:r>
              <a:rPr kumimoji="0" lang="zh-CN" altLang="en-US" sz="2000" b="1" baseline="-25000" dirty="0">
                <a:solidFill>
                  <a:srgbClr val="000000"/>
                </a:solidFill>
              </a:rPr>
              <a:t>红色’</a:t>
            </a:r>
            <a:r>
              <a:rPr kumimoji="0" lang="en-US" altLang="zh-CN" sz="2000" b="1" dirty="0">
                <a:solidFill>
                  <a:srgbClr val="000000"/>
                </a:solidFill>
              </a:rPr>
              <a:t>(</a:t>
            </a:r>
            <a:r>
              <a:rPr kumimoji="0" lang="en-US" altLang="zh-CN" sz="2000" b="1" dirty="0" err="1">
                <a:solidFill>
                  <a:srgbClr val="000000"/>
                </a:solidFill>
              </a:rPr>
              <a:t>σ</a:t>
            </a:r>
            <a:r>
              <a:rPr kumimoji="0" lang="en-US" altLang="zh-CN" sz="2000" b="1" baseline="-25000" dirty="0" err="1">
                <a:solidFill>
                  <a:srgbClr val="000000"/>
                </a:solidFill>
              </a:rPr>
              <a:t>JNO</a:t>
            </a:r>
            <a:r>
              <a:rPr kumimoji="0" lang="en-US" altLang="zh-CN" sz="2000" b="1" baseline="-25000" dirty="0">
                <a:solidFill>
                  <a:srgbClr val="000000"/>
                </a:solidFill>
              </a:rPr>
              <a:t> =‘J1</a:t>
            </a:r>
            <a:r>
              <a:rPr kumimoji="0" lang="en-US" altLang="zh-CN" sz="1600" b="1" baseline="-25000" dirty="0">
                <a:solidFill>
                  <a:srgbClr val="000000"/>
                </a:solidFill>
              </a:rPr>
              <a:t>’</a:t>
            </a:r>
            <a:r>
              <a:rPr kumimoji="0" lang="en-US" altLang="zh-CN" sz="1600" b="1" dirty="0">
                <a:solidFill>
                  <a:srgbClr val="000000"/>
                </a:solidFill>
              </a:rPr>
              <a:t>(</a:t>
            </a:r>
            <a:r>
              <a:rPr lang="en-US" altLang="zh-CN" sz="1600" b="1" dirty="0">
                <a:solidFill>
                  <a:srgbClr val="660033"/>
                </a:solidFill>
              </a:rPr>
              <a:t>S</a:t>
            </a:r>
            <a:r>
              <a:rPr kumimoji="0" lang="en-US" altLang="zh-CN" sz="1600" b="1" dirty="0">
                <a:solidFill>
                  <a:schemeClr val="bg2"/>
                </a:solidFill>
                <a:latin typeface="Times New Roman" pitchFamily="18" charset="0"/>
              </a:rPr>
              <a:t>×</a:t>
            </a:r>
            <a:r>
              <a:rPr lang="en-US" altLang="zh-CN" sz="1600" b="1" dirty="0">
                <a:solidFill>
                  <a:srgbClr val="660033"/>
                </a:solidFill>
              </a:rPr>
              <a:t>SPJ</a:t>
            </a:r>
            <a:r>
              <a:rPr kumimoji="0" lang="en-US" altLang="zh-CN" sz="1600" b="1" dirty="0">
                <a:solidFill>
                  <a:schemeClr val="bg2"/>
                </a:solidFill>
                <a:latin typeface="Times New Roman" pitchFamily="18" charset="0"/>
              </a:rPr>
              <a:t>×</a:t>
            </a:r>
            <a:r>
              <a:rPr lang="en-US" altLang="zh-CN" sz="1600" b="1" dirty="0">
                <a:solidFill>
                  <a:srgbClr val="660033"/>
                </a:solidFill>
              </a:rPr>
              <a:t>P</a:t>
            </a:r>
            <a:r>
              <a:rPr kumimoji="0" lang="en-US" altLang="zh-CN" sz="1600" b="1" dirty="0">
                <a:solidFill>
                  <a:srgbClr val="000000"/>
                </a:solidFill>
              </a:rPr>
              <a:t>)))</a:t>
            </a:r>
            <a:endParaRPr lang="en-US" altLang="zh-CN" sz="1600" b="1" dirty="0">
              <a:solidFill>
                <a:srgbClr val="660033"/>
              </a:solidFill>
            </a:endParaRPr>
          </a:p>
          <a:p>
            <a:pPr eaLnBrk="0" hangingPunct="0">
              <a:lnSpc>
                <a:spcPct val="150000"/>
              </a:lnSpc>
              <a:spcBef>
                <a:spcPts val="0"/>
              </a:spcBef>
              <a:defRPr/>
            </a:pPr>
            <a:r>
              <a:rPr kumimoji="0" lang="en-US" altLang="zh-CN" sz="2000" b="1" dirty="0">
                <a:solidFill>
                  <a:schemeClr val="bg2"/>
                </a:solidFill>
              </a:rPr>
              <a:t>=</a:t>
            </a:r>
            <a:r>
              <a:rPr lang="en-US" altLang="zh-CN" sz="2000" b="1" dirty="0">
                <a:solidFill>
                  <a:srgbClr val="660033"/>
                </a:solidFill>
              </a:rPr>
              <a:t>π</a:t>
            </a:r>
            <a:r>
              <a:rPr lang="en-US" altLang="zh-CN" sz="2000" b="1" baseline="-10000" dirty="0">
                <a:solidFill>
                  <a:srgbClr val="660033"/>
                </a:solidFill>
              </a:rPr>
              <a:t>SNAME,SADDR</a:t>
            </a:r>
            <a:r>
              <a:rPr lang="en-US" altLang="zh-CN" sz="2000" b="1" dirty="0">
                <a:solidFill>
                  <a:srgbClr val="660033"/>
                </a:solidFill>
              </a:rPr>
              <a:t>π</a:t>
            </a:r>
            <a:r>
              <a:rPr lang="en-US" altLang="zh-CN" sz="2000" b="1" baseline="-10000" dirty="0">
                <a:solidFill>
                  <a:srgbClr val="660033"/>
                </a:solidFill>
              </a:rPr>
              <a:t>L</a:t>
            </a:r>
            <a:r>
              <a:rPr lang="en-US" altLang="zh-CN" sz="2000" b="1" dirty="0">
                <a:solidFill>
                  <a:srgbClr val="660033"/>
                </a:solidFill>
              </a:rPr>
              <a:t>(</a:t>
            </a:r>
            <a:r>
              <a:rPr lang="en-US" altLang="zh-CN" sz="2000" b="1" dirty="0" err="1">
                <a:solidFill>
                  <a:srgbClr val="660033"/>
                </a:solidFill>
              </a:rPr>
              <a:t>σ</a:t>
            </a:r>
            <a:r>
              <a:rPr lang="en-US" altLang="zh-CN" sz="2000" b="1" baseline="-10000" dirty="0" err="1">
                <a:solidFill>
                  <a:srgbClr val="660033"/>
                </a:solidFill>
              </a:rPr>
              <a:t>S.SNO</a:t>
            </a:r>
            <a:r>
              <a:rPr lang="en-US" altLang="zh-CN" sz="2000" b="1" baseline="-10000" dirty="0">
                <a:solidFill>
                  <a:srgbClr val="660033"/>
                </a:solidFill>
              </a:rPr>
              <a:t>=SPJ.SNO∧SPJ.PNO=P.PNO</a:t>
            </a:r>
            <a:r>
              <a:rPr lang="en-US" altLang="zh-CN" sz="2000" b="1" dirty="0">
                <a:solidFill>
                  <a:srgbClr val="660033"/>
                </a:solidFill>
              </a:rPr>
              <a:t>(</a:t>
            </a:r>
            <a:r>
              <a:rPr kumimoji="0" lang="en-US" altLang="zh-CN" sz="2000" b="1" dirty="0" err="1">
                <a:solidFill>
                  <a:schemeClr val="bg2"/>
                </a:solidFill>
              </a:rPr>
              <a:t>σ</a:t>
            </a:r>
            <a:r>
              <a:rPr kumimoji="0" lang="en-US" altLang="zh-CN" sz="2000" b="1" baseline="-25000" dirty="0" err="1">
                <a:solidFill>
                  <a:srgbClr val="000000"/>
                </a:solidFill>
              </a:rPr>
              <a:t>COLOR</a:t>
            </a:r>
            <a:r>
              <a:rPr kumimoji="0" lang="en-US" altLang="zh-CN" sz="2000" b="1" baseline="-25000" dirty="0">
                <a:solidFill>
                  <a:srgbClr val="000000"/>
                </a:solidFill>
              </a:rPr>
              <a:t> =‘</a:t>
            </a:r>
            <a:r>
              <a:rPr kumimoji="0" lang="zh-CN" altLang="en-US" sz="2000" b="1" baseline="-25000" dirty="0">
                <a:solidFill>
                  <a:srgbClr val="000000"/>
                </a:solidFill>
              </a:rPr>
              <a:t>红色’</a:t>
            </a:r>
            <a:r>
              <a:rPr kumimoji="0" lang="en-US" altLang="zh-CN" sz="2000" b="1" dirty="0">
                <a:solidFill>
                  <a:srgbClr val="000000"/>
                </a:solidFill>
              </a:rPr>
              <a:t>(</a:t>
            </a:r>
            <a:r>
              <a:rPr kumimoji="0" lang="en-US" altLang="zh-CN" sz="2000" b="1" i="0" u="none" strike="noStrike" kern="1200" cap="none" spc="0" normalizeH="0" baseline="0" noProof="0" dirty="0" err="1">
                <a:ln>
                  <a:noFill/>
                </a:ln>
                <a:solidFill>
                  <a:srgbClr val="000000"/>
                </a:solidFill>
                <a:effectLst/>
                <a:uLnTx/>
                <a:uFillTx/>
                <a:latin typeface="宋体" pitchFamily="2" charset="-122"/>
                <a:ea typeface="宋体" pitchFamily="2" charset="-122"/>
                <a:cs typeface="+mn-cs"/>
              </a:rPr>
              <a:t>σ</a:t>
            </a:r>
            <a:r>
              <a:rPr kumimoji="0" lang="en-US" altLang="zh-CN" sz="2000" b="1" i="0" u="none" strike="noStrike" kern="1200" cap="none" spc="0" normalizeH="0" baseline="-25000" noProof="0" dirty="0" err="1">
                <a:ln>
                  <a:noFill/>
                </a:ln>
                <a:solidFill>
                  <a:srgbClr val="000000"/>
                </a:solidFill>
                <a:effectLst/>
                <a:uLnTx/>
                <a:uFillTx/>
                <a:latin typeface="宋体" pitchFamily="2" charset="-122"/>
                <a:ea typeface="宋体" pitchFamily="2" charset="-122"/>
                <a:cs typeface="+mn-cs"/>
              </a:rPr>
              <a:t>JNO</a:t>
            </a:r>
            <a:r>
              <a:rPr kumimoji="0" lang="en-US" altLang="zh-CN" sz="2000" b="1" i="0" u="none" strike="noStrike" kern="1200" cap="none" spc="0" normalizeH="0" baseline="-25000" noProof="0" dirty="0">
                <a:ln>
                  <a:noFill/>
                </a:ln>
                <a:solidFill>
                  <a:srgbClr val="000000"/>
                </a:solidFill>
                <a:effectLst/>
                <a:uLnTx/>
                <a:uFillTx/>
                <a:latin typeface="宋体" pitchFamily="2" charset="-122"/>
                <a:ea typeface="宋体" pitchFamily="2" charset="-122"/>
                <a:cs typeface="+mn-cs"/>
              </a:rPr>
              <a:t> =‘J1</a:t>
            </a:r>
            <a:r>
              <a:rPr kumimoji="0" lang="en-US" altLang="zh-CN" sz="1600" b="1" i="0" u="none" strike="noStrike" kern="1200" cap="none" spc="0" normalizeH="0" baseline="-25000" noProof="0" dirty="0">
                <a:ln>
                  <a:noFill/>
                </a:ln>
                <a:solidFill>
                  <a:srgbClr val="000000"/>
                </a:solidFill>
                <a:effectLst/>
                <a:uLnTx/>
                <a:uFillTx/>
                <a:latin typeface="宋体" pitchFamily="2" charset="-122"/>
                <a:ea typeface="宋体" pitchFamily="2" charset="-122"/>
                <a:cs typeface="+mn-cs"/>
              </a:rPr>
              <a:t>’</a:t>
            </a:r>
            <a:r>
              <a:rPr kumimoji="0" lang="en-US" altLang="zh-CN" sz="1600" b="1" dirty="0">
                <a:solidFill>
                  <a:srgbClr val="000000"/>
                </a:solidFill>
              </a:rPr>
              <a:t>(</a:t>
            </a:r>
            <a:r>
              <a:rPr lang="en-US" altLang="zh-CN" sz="1600" b="1" dirty="0">
                <a:solidFill>
                  <a:srgbClr val="660033"/>
                </a:solidFill>
              </a:rPr>
              <a:t>S</a:t>
            </a:r>
            <a:r>
              <a:rPr kumimoji="0" lang="en-US" altLang="zh-CN" sz="1600" b="1" dirty="0">
                <a:solidFill>
                  <a:schemeClr val="bg2"/>
                </a:solidFill>
                <a:latin typeface="Times New Roman" pitchFamily="18" charset="0"/>
              </a:rPr>
              <a:t>×</a:t>
            </a:r>
            <a:r>
              <a:rPr lang="en-US" altLang="zh-CN" sz="1600" b="1" dirty="0">
                <a:solidFill>
                  <a:srgbClr val="660033"/>
                </a:solidFill>
              </a:rPr>
              <a:t>SPJ)</a:t>
            </a:r>
            <a:r>
              <a:rPr kumimoji="0" lang="en-US" altLang="zh-CN" sz="1600" b="1" dirty="0">
                <a:solidFill>
                  <a:schemeClr val="bg2"/>
                </a:solidFill>
                <a:latin typeface="Times New Roman" pitchFamily="18" charset="0"/>
              </a:rPr>
              <a:t>×</a:t>
            </a:r>
            <a:r>
              <a:rPr lang="en-US" altLang="zh-CN" sz="1600" b="1" dirty="0">
                <a:solidFill>
                  <a:srgbClr val="660033"/>
                </a:solidFill>
              </a:rPr>
              <a:t>P))</a:t>
            </a:r>
            <a:r>
              <a:rPr kumimoji="0" lang="en-US" altLang="zh-CN" sz="1600" b="1" dirty="0">
                <a:solidFill>
                  <a:srgbClr val="000000"/>
                </a:solidFill>
              </a:rPr>
              <a:t>)</a:t>
            </a:r>
          </a:p>
          <a:p>
            <a:pPr eaLnBrk="0" hangingPunct="0">
              <a:lnSpc>
                <a:spcPct val="150000"/>
              </a:lnSpc>
              <a:spcBef>
                <a:spcPts val="0"/>
              </a:spcBef>
              <a:defRPr/>
            </a:pPr>
            <a:r>
              <a:rPr kumimoji="0" lang="en-US" altLang="zh-CN" sz="2000" b="1" dirty="0">
                <a:solidFill>
                  <a:schemeClr val="bg2"/>
                </a:solidFill>
              </a:rPr>
              <a:t>=</a:t>
            </a:r>
            <a:r>
              <a:rPr lang="en-US" altLang="zh-CN" sz="2000" b="1" dirty="0">
                <a:solidFill>
                  <a:srgbClr val="660033"/>
                </a:solidFill>
              </a:rPr>
              <a:t>π</a:t>
            </a:r>
            <a:r>
              <a:rPr lang="en-US" altLang="zh-CN" sz="2000" b="1" baseline="-10000" dirty="0">
                <a:solidFill>
                  <a:srgbClr val="660033"/>
                </a:solidFill>
              </a:rPr>
              <a:t>SNAME,SADDR</a:t>
            </a:r>
            <a:r>
              <a:rPr lang="en-US" altLang="zh-CN" sz="2000" b="1" dirty="0">
                <a:solidFill>
                  <a:srgbClr val="660033"/>
                </a:solidFill>
              </a:rPr>
              <a:t>π</a:t>
            </a:r>
            <a:r>
              <a:rPr lang="en-US" altLang="zh-CN" sz="2000" b="1" baseline="-10000" dirty="0">
                <a:solidFill>
                  <a:srgbClr val="660033"/>
                </a:solidFill>
              </a:rPr>
              <a:t>L</a:t>
            </a:r>
            <a:r>
              <a:rPr lang="en-US" altLang="zh-CN" sz="2000" b="1" dirty="0">
                <a:solidFill>
                  <a:srgbClr val="660033"/>
                </a:solidFill>
              </a:rPr>
              <a:t>(</a:t>
            </a:r>
            <a:r>
              <a:rPr lang="en-US" altLang="zh-CN" sz="2000" b="1" dirty="0" err="1">
                <a:solidFill>
                  <a:srgbClr val="660033"/>
                </a:solidFill>
              </a:rPr>
              <a:t>σ</a:t>
            </a:r>
            <a:r>
              <a:rPr lang="en-US" altLang="zh-CN" sz="2000" b="1" baseline="-10000" dirty="0" err="1">
                <a:solidFill>
                  <a:srgbClr val="660033"/>
                </a:solidFill>
              </a:rPr>
              <a:t>S.SNO</a:t>
            </a:r>
            <a:r>
              <a:rPr lang="en-US" altLang="zh-CN" sz="2000" b="1" baseline="-10000" dirty="0">
                <a:solidFill>
                  <a:srgbClr val="660033"/>
                </a:solidFill>
              </a:rPr>
              <a:t>=SPJ.SNO∧SPJ.PNO=P.PNO</a:t>
            </a:r>
            <a:r>
              <a:rPr lang="en-US" altLang="zh-CN" sz="1600" b="1" dirty="0">
                <a:solidFill>
                  <a:srgbClr val="660033"/>
                </a:solidFill>
              </a:rPr>
              <a:t>(</a:t>
            </a:r>
            <a:r>
              <a:rPr kumimoji="0" lang="en-US" altLang="zh-CN" sz="1600" b="1" dirty="0">
                <a:solidFill>
                  <a:srgbClr val="000000"/>
                </a:solidFill>
              </a:rPr>
              <a:t>(</a:t>
            </a:r>
            <a:r>
              <a:rPr kumimoji="0" lang="en-US" altLang="zh-CN" sz="1600" b="1" dirty="0" err="1">
                <a:solidFill>
                  <a:srgbClr val="000000"/>
                </a:solidFill>
              </a:rPr>
              <a:t>σ</a:t>
            </a:r>
            <a:r>
              <a:rPr kumimoji="0" lang="en-US" altLang="zh-CN" sz="1600" b="1" baseline="-25000" dirty="0" err="1">
                <a:solidFill>
                  <a:srgbClr val="000000"/>
                </a:solidFill>
              </a:rPr>
              <a:t>JNO</a:t>
            </a:r>
            <a:r>
              <a:rPr kumimoji="0" lang="en-US" altLang="zh-CN" sz="1600" b="1" baseline="-25000" dirty="0">
                <a:solidFill>
                  <a:srgbClr val="000000"/>
                </a:solidFill>
              </a:rPr>
              <a:t> =‘J1’</a:t>
            </a:r>
            <a:r>
              <a:rPr kumimoji="0" lang="en-US" altLang="zh-CN" sz="1600" b="1" dirty="0">
                <a:solidFill>
                  <a:schemeClr val="bg2"/>
                </a:solidFill>
              </a:rPr>
              <a:t>(SPJ)</a:t>
            </a:r>
            <a:r>
              <a:rPr kumimoji="0" lang="en-US" altLang="zh-CN" sz="1600" b="1" dirty="0">
                <a:solidFill>
                  <a:schemeClr val="bg2"/>
                </a:solidFill>
                <a:latin typeface="Times New Roman" pitchFamily="18" charset="0"/>
              </a:rPr>
              <a:t>×S)×</a:t>
            </a:r>
            <a:r>
              <a:rPr kumimoji="0" lang="en-US" altLang="zh-CN" sz="1600" b="1" dirty="0" err="1">
                <a:solidFill>
                  <a:schemeClr val="bg2"/>
                </a:solidFill>
              </a:rPr>
              <a:t>σ</a:t>
            </a:r>
            <a:r>
              <a:rPr kumimoji="0" lang="en-US" altLang="zh-CN" sz="1600" b="1" baseline="-25000" dirty="0" err="1">
                <a:solidFill>
                  <a:srgbClr val="000000"/>
                </a:solidFill>
              </a:rPr>
              <a:t>COLOR</a:t>
            </a:r>
            <a:r>
              <a:rPr kumimoji="0" lang="en-US" altLang="zh-CN" sz="1600" b="1" baseline="-25000" dirty="0">
                <a:solidFill>
                  <a:srgbClr val="000000"/>
                </a:solidFill>
              </a:rPr>
              <a:t> =‘</a:t>
            </a:r>
            <a:r>
              <a:rPr kumimoji="0" lang="zh-CN" altLang="en-US" sz="1600" b="1" baseline="-25000" dirty="0">
                <a:solidFill>
                  <a:srgbClr val="000000"/>
                </a:solidFill>
              </a:rPr>
              <a:t>红色’</a:t>
            </a:r>
            <a:r>
              <a:rPr kumimoji="0" lang="en-US" altLang="zh-CN" sz="1600" b="1" dirty="0">
                <a:solidFill>
                  <a:srgbClr val="000000"/>
                </a:solidFill>
              </a:rPr>
              <a:t>(</a:t>
            </a:r>
            <a:r>
              <a:rPr lang="en-US" altLang="zh-CN" sz="1600" b="1" dirty="0">
                <a:solidFill>
                  <a:srgbClr val="660033"/>
                </a:solidFill>
              </a:rPr>
              <a:t>P</a:t>
            </a:r>
            <a:r>
              <a:rPr kumimoji="0" lang="en-US" altLang="zh-CN" sz="1600" b="1" dirty="0">
                <a:solidFill>
                  <a:srgbClr val="000000"/>
                </a:solidFill>
              </a:rPr>
              <a:t>)))</a:t>
            </a:r>
          </a:p>
          <a:p>
            <a:pPr eaLnBrk="0" hangingPunct="0">
              <a:lnSpc>
                <a:spcPct val="150000"/>
              </a:lnSpc>
              <a:spcBef>
                <a:spcPts val="0"/>
              </a:spcBef>
              <a:defRPr/>
            </a:pPr>
            <a:r>
              <a:rPr kumimoji="0" lang="en-US" altLang="zh-CN" sz="1600" b="1" dirty="0">
                <a:solidFill>
                  <a:schemeClr val="bg2"/>
                </a:solidFill>
              </a:rPr>
              <a:t>=</a:t>
            </a:r>
            <a:r>
              <a:rPr lang="en-US" altLang="zh-CN" sz="1600" b="1" dirty="0">
                <a:solidFill>
                  <a:srgbClr val="660033"/>
                </a:solidFill>
              </a:rPr>
              <a:t>π</a:t>
            </a:r>
            <a:r>
              <a:rPr lang="en-US" altLang="zh-CN" sz="1600" b="1" baseline="-10000" dirty="0">
                <a:solidFill>
                  <a:srgbClr val="660033"/>
                </a:solidFill>
              </a:rPr>
              <a:t>SNAME,SADDR</a:t>
            </a:r>
            <a:r>
              <a:rPr lang="en-US" altLang="zh-CN" sz="1600" b="1" dirty="0">
                <a:solidFill>
                  <a:srgbClr val="660033"/>
                </a:solidFill>
              </a:rPr>
              <a:t>π</a:t>
            </a:r>
            <a:r>
              <a:rPr lang="en-US" altLang="zh-CN" sz="1600" b="1" baseline="-10000" dirty="0">
                <a:solidFill>
                  <a:srgbClr val="660033"/>
                </a:solidFill>
              </a:rPr>
              <a:t>L</a:t>
            </a:r>
            <a:r>
              <a:rPr lang="en-US" altLang="zh-CN" sz="1600" b="1" dirty="0">
                <a:solidFill>
                  <a:srgbClr val="660033"/>
                </a:solidFill>
              </a:rPr>
              <a:t>(</a:t>
            </a:r>
            <a:r>
              <a:rPr lang="en-US" altLang="zh-CN" sz="1600" b="1" dirty="0" err="1">
                <a:solidFill>
                  <a:srgbClr val="660033"/>
                </a:solidFill>
              </a:rPr>
              <a:t>σ</a:t>
            </a:r>
            <a:r>
              <a:rPr lang="en-US" altLang="zh-CN" sz="1600" b="1" baseline="-10000" dirty="0" err="1">
                <a:solidFill>
                  <a:srgbClr val="660033"/>
                </a:solidFill>
              </a:rPr>
              <a:t>SPJ.PNO</a:t>
            </a:r>
            <a:r>
              <a:rPr lang="en-US" altLang="zh-CN" sz="1600" b="1" baseline="-10000" dirty="0">
                <a:solidFill>
                  <a:srgbClr val="660033"/>
                </a:solidFill>
              </a:rPr>
              <a:t>=P.PNO</a:t>
            </a:r>
            <a:r>
              <a:rPr lang="zh-CN" altLang="en-US" sz="1600" b="1" dirty="0">
                <a:solidFill>
                  <a:srgbClr val="660033"/>
                </a:solidFill>
              </a:rPr>
              <a:t>（</a:t>
            </a:r>
            <a:r>
              <a:rPr lang="en-US" altLang="zh-CN" sz="1600" b="1" dirty="0" err="1">
                <a:solidFill>
                  <a:srgbClr val="660033"/>
                </a:solidFill>
              </a:rPr>
              <a:t>σ</a:t>
            </a:r>
            <a:r>
              <a:rPr lang="en-US" altLang="zh-CN" sz="1600" b="1" baseline="-10000" dirty="0" err="1">
                <a:solidFill>
                  <a:srgbClr val="660033"/>
                </a:solidFill>
              </a:rPr>
              <a:t>S.SNO</a:t>
            </a:r>
            <a:r>
              <a:rPr lang="en-US" altLang="zh-CN" sz="1600" b="1" baseline="-10000" dirty="0">
                <a:solidFill>
                  <a:srgbClr val="660033"/>
                </a:solidFill>
              </a:rPr>
              <a:t>=SPJ.SNO</a:t>
            </a:r>
            <a:r>
              <a:rPr lang="zh-CN" altLang="en-US" sz="1600" b="1" baseline="-10000" dirty="0">
                <a:solidFill>
                  <a:srgbClr val="660033"/>
                </a:solidFill>
              </a:rPr>
              <a:t> </a:t>
            </a:r>
            <a:r>
              <a:rPr lang="zh-CN" altLang="en-US" sz="1600" b="1" u="sng" dirty="0">
                <a:solidFill>
                  <a:srgbClr val="660033"/>
                </a:solidFill>
              </a:rPr>
              <a:t>（</a:t>
            </a:r>
            <a:r>
              <a:rPr kumimoji="0" lang="en-US" altLang="zh-CN" sz="1600" b="1" u="sng" dirty="0">
                <a:solidFill>
                  <a:srgbClr val="000000"/>
                </a:solidFill>
              </a:rPr>
              <a:t>(</a:t>
            </a:r>
            <a:r>
              <a:rPr kumimoji="0" lang="en-US" altLang="zh-CN" sz="1600" b="1" u="sng" dirty="0" err="1">
                <a:solidFill>
                  <a:srgbClr val="000000"/>
                </a:solidFill>
              </a:rPr>
              <a:t>σ</a:t>
            </a:r>
            <a:r>
              <a:rPr kumimoji="0" lang="en-US" altLang="zh-CN" sz="1600" b="1" u="sng" baseline="-25000" dirty="0" err="1">
                <a:solidFill>
                  <a:srgbClr val="000000"/>
                </a:solidFill>
              </a:rPr>
              <a:t>JNO</a:t>
            </a:r>
            <a:r>
              <a:rPr kumimoji="0" lang="en-US" altLang="zh-CN" sz="1600" b="1" u="sng" baseline="-25000" dirty="0">
                <a:solidFill>
                  <a:srgbClr val="000000"/>
                </a:solidFill>
              </a:rPr>
              <a:t> =‘J1’</a:t>
            </a:r>
            <a:r>
              <a:rPr kumimoji="0" lang="en-US" altLang="zh-CN" sz="1600" b="1" u="sng" dirty="0">
                <a:solidFill>
                  <a:schemeClr val="bg2"/>
                </a:solidFill>
              </a:rPr>
              <a:t>(SPJ)</a:t>
            </a:r>
            <a:r>
              <a:rPr kumimoji="0" lang="en-US" altLang="zh-CN" sz="1600" b="1" u="sng" dirty="0">
                <a:solidFill>
                  <a:schemeClr val="bg2"/>
                </a:solidFill>
                <a:latin typeface="Times New Roman" pitchFamily="18" charset="0"/>
              </a:rPr>
              <a:t>×S</a:t>
            </a:r>
            <a:r>
              <a:rPr kumimoji="0" lang="zh-CN" altLang="en-US" sz="1600" b="1" u="sng" dirty="0">
                <a:solidFill>
                  <a:schemeClr val="bg2"/>
                </a:solidFill>
                <a:latin typeface="Times New Roman" pitchFamily="18" charset="0"/>
              </a:rPr>
              <a:t>）</a:t>
            </a:r>
            <a:r>
              <a:rPr kumimoji="0" lang="en-US" altLang="zh-CN" sz="1600" b="1" u="sng" dirty="0">
                <a:solidFill>
                  <a:schemeClr val="bg2"/>
                </a:solidFill>
                <a:latin typeface="Times New Roman" pitchFamily="18" charset="0"/>
              </a:rPr>
              <a:t>×</a:t>
            </a:r>
            <a:r>
              <a:rPr kumimoji="0" lang="en-US" altLang="zh-CN" sz="1600" b="1" u="sng" dirty="0" err="1">
                <a:solidFill>
                  <a:schemeClr val="bg2"/>
                </a:solidFill>
              </a:rPr>
              <a:t>σ</a:t>
            </a:r>
            <a:r>
              <a:rPr kumimoji="0" lang="en-US" altLang="zh-CN" sz="1600" b="1" u="sng" baseline="-25000" dirty="0" err="1">
                <a:solidFill>
                  <a:srgbClr val="000000"/>
                </a:solidFill>
              </a:rPr>
              <a:t>COLOR</a:t>
            </a:r>
            <a:r>
              <a:rPr kumimoji="0" lang="en-US" altLang="zh-CN" sz="1600" b="1" u="sng" baseline="-25000" dirty="0">
                <a:solidFill>
                  <a:srgbClr val="000000"/>
                </a:solidFill>
              </a:rPr>
              <a:t> =‘</a:t>
            </a:r>
            <a:r>
              <a:rPr kumimoji="0" lang="zh-CN" altLang="en-US" sz="1600" b="1" u="sng" baseline="-25000" dirty="0">
                <a:solidFill>
                  <a:srgbClr val="000000"/>
                </a:solidFill>
              </a:rPr>
              <a:t>红色’</a:t>
            </a:r>
            <a:r>
              <a:rPr kumimoji="0" lang="en-US" altLang="zh-CN" sz="1600" b="1" u="sng" dirty="0">
                <a:solidFill>
                  <a:srgbClr val="000000"/>
                </a:solidFill>
              </a:rPr>
              <a:t>(</a:t>
            </a:r>
            <a:r>
              <a:rPr lang="en-US" altLang="zh-CN" sz="1600" b="1" u="sng" dirty="0">
                <a:solidFill>
                  <a:srgbClr val="660033"/>
                </a:solidFill>
              </a:rPr>
              <a:t>P</a:t>
            </a:r>
            <a:r>
              <a:rPr kumimoji="0" lang="en-US" altLang="zh-CN" sz="1600" b="1" u="sng" dirty="0">
                <a:solidFill>
                  <a:srgbClr val="000000"/>
                </a:solidFill>
              </a:rPr>
              <a:t>)</a:t>
            </a:r>
            <a:r>
              <a:rPr kumimoji="0" lang="zh-CN" altLang="en-US" sz="1600" b="1" u="sng" dirty="0">
                <a:solidFill>
                  <a:srgbClr val="000000"/>
                </a:solidFill>
              </a:rPr>
              <a:t>）</a:t>
            </a:r>
            <a:r>
              <a:rPr kumimoji="0" lang="en-US" altLang="zh-CN" sz="1600" b="1" dirty="0">
                <a:solidFill>
                  <a:srgbClr val="000000"/>
                </a:solidFill>
              </a:rPr>
              <a:t>)</a:t>
            </a:r>
            <a:r>
              <a:rPr kumimoji="0" lang="zh-CN" altLang="en-US" sz="1600" b="1" dirty="0">
                <a:solidFill>
                  <a:srgbClr val="000000"/>
                </a:solidFill>
              </a:rPr>
              <a:t>）</a:t>
            </a:r>
            <a:r>
              <a:rPr kumimoji="0" lang="en-US" altLang="zh-CN" b="1" dirty="0">
                <a:solidFill>
                  <a:srgbClr val="000000"/>
                </a:solidFill>
              </a:rPr>
              <a:t>(</a:t>
            </a:r>
            <a:r>
              <a:rPr kumimoji="0" lang="zh-CN" altLang="en-US" sz="1400" b="1" dirty="0">
                <a:solidFill>
                  <a:srgbClr val="000000"/>
                </a:solidFill>
              </a:rPr>
              <a:t>规则</a:t>
            </a:r>
            <a:r>
              <a:rPr kumimoji="0" lang="en-US" altLang="zh-CN" sz="1400" b="1" dirty="0">
                <a:solidFill>
                  <a:srgbClr val="000000"/>
                </a:solidFill>
              </a:rPr>
              <a:t>4)</a:t>
            </a:r>
          </a:p>
          <a:p>
            <a:pPr eaLnBrk="0" hangingPunct="0">
              <a:lnSpc>
                <a:spcPct val="150000"/>
              </a:lnSpc>
              <a:spcBef>
                <a:spcPts val="0"/>
              </a:spcBef>
              <a:defRPr/>
            </a:pPr>
            <a:r>
              <a:rPr kumimoji="0" lang="en-US" altLang="zh-CN" sz="1600" b="1" dirty="0">
                <a:solidFill>
                  <a:srgbClr val="000000"/>
                </a:solidFill>
              </a:rPr>
              <a:t>=</a:t>
            </a:r>
            <a:r>
              <a:rPr lang="en-US" altLang="zh-CN" sz="1600" b="1" dirty="0">
                <a:solidFill>
                  <a:srgbClr val="660033"/>
                </a:solidFill>
              </a:rPr>
              <a:t>π</a:t>
            </a:r>
            <a:r>
              <a:rPr lang="en-US" altLang="zh-CN" sz="1600" b="1" baseline="-10000" dirty="0">
                <a:solidFill>
                  <a:srgbClr val="660033"/>
                </a:solidFill>
              </a:rPr>
              <a:t>SNAME,SADDR</a:t>
            </a:r>
            <a:r>
              <a:rPr lang="en-US" altLang="zh-CN" sz="1600" b="1" dirty="0">
                <a:solidFill>
                  <a:srgbClr val="660033"/>
                </a:solidFill>
              </a:rPr>
              <a:t>π</a:t>
            </a:r>
            <a:r>
              <a:rPr lang="en-US" altLang="zh-CN" sz="1600" b="1" baseline="-10000" dirty="0">
                <a:solidFill>
                  <a:srgbClr val="660033"/>
                </a:solidFill>
              </a:rPr>
              <a:t>L</a:t>
            </a:r>
            <a:r>
              <a:rPr lang="en-US" altLang="zh-CN" sz="1600" b="1" dirty="0">
                <a:solidFill>
                  <a:srgbClr val="660033"/>
                </a:solidFill>
              </a:rPr>
              <a:t>(</a:t>
            </a:r>
            <a:r>
              <a:rPr lang="en-US" altLang="zh-CN" sz="1600" b="1" dirty="0" err="1">
                <a:solidFill>
                  <a:srgbClr val="660033"/>
                </a:solidFill>
              </a:rPr>
              <a:t>σ</a:t>
            </a:r>
            <a:r>
              <a:rPr lang="en-US" altLang="zh-CN" sz="1600" b="1" baseline="-10000" dirty="0" err="1">
                <a:solidFill>
                  <a:srgbClr val="660033"/>
                </a:solidFill>
              </a:rPr>
              <a:t>SPJ.PNO</a:t>
            </a:r>
            <a:r>
              <a:rPr lang="en-US" altLang="zh-CN" sz="1600" b="1" baseline="-10000" dirty="0">
                <a:solidFill>
                  <a:srgbClr val="660033"/>
                </a:solidFill>
              </a:rPr>
              <a:t>=P.PNO</a:t>
            </a:r>
            <a:r>
              <a:rPr lang="zh-CN" altLang="en-US" sz="1600" b="1" dirty="0">
                <a:solidFill>
                  <a:srgbClr val="660033"/>
                </a:solidFill>
              </a:rPr>
              <a:t>（</a:t>
            </a:r>
            <a:r>
              <a:rPr lang="zh-CN" altLang="en-US" sz="1600" b="1" u="sng" dirty="0">
                <a:solidFill>
                  <a:srgbClr val="660033"/>
                </a:solidFill>
              </a:rPr>
              <a:t>（</a:t>
            </a:r>
            <a:r>
              <a:rPr lang="en-US" altLang="zh-CN" sz="1600" b="1" u="sng" dirty="0" err="1">
                <a:solidFill>
                  <a:srgbClr val="660033"/>
                </a:solidFill>
              </a:rPr>
              <a:t>σ</a:t>
            </a:r>
            <a:r>
              <a:rPr lang="en-US" altLang="zh-CN" sz="1600" b="1" u="sng" baseline="-10000" dirty="0" err="1">
                <a:solidFill>
                  <a:srgbClr val="660033"/>
                </a:solidFill>
              </a:rPr>
              <a:t>S.SNO</a:t>
            </a:r>
            <a:r>
              <a:rPr lang="en-US" altLang="zh-CN" sz="1600" b="1" u="sng" baseline="-10000" dirty="0">
                <a:solidFill>
                  <a:srgbClr val="660033"/>
                </a:solidFill>
              </a:rPr>
              <a:t>=SPJ.SNO</a:t>
            </a:r>
            <a:r>
              <a:rPr lang="zh-CN" altLang="en-US" sz="1600" b="1" u="sng" baseline="-10000" dirty="0">
                <a:solidFill>
                  <a:srgbClr val="660033"/>
                </a:solidFill>
              </a:rPr>
              <a:t> </a:t>
            </a:r>
            <a:r>
              <a:rPr kumimoji="0" lang="en-US" altLang="zh-CN" sz="1600" b="1" u="sng" dirty="0">
                <a:solidFill>
                  <a:srgbClr val="000000"/>
                </a:solidFill>
              </a:rPr>
              <a:t>(</a:t>
            </a:r>
            <a:r>
              <a:rPr kumimoji="0" lang="en-US" altLang="zh-CN" sz="1600" b="1" u="sng" dirty="0" err="1">
                <a:solidFill>
                  <a:srgbClr val="000000"/>
                </a:solidFill>
              </a:rPr>
              <a:t>σ</a:t>
            </a:r>
            <a:r>
              <a:rPr kumimoji="0" lang="en-US" altLang="zh-CN" sz="1600" b="1" u="sng" baseline="-25000" dirty="0" err="1">
                <a:solidFill>
                  <a:srgbClr val="000000"/>
                </a:solidFill>
              </a:rPr>
              <a:t>JNO</a:t>
            </a:r>
            <a:r>
              <a:rPr kumimoji="0" lang="en-US" altLang="zh-CN" sz="1600" b="1" u="sng" baseline="-25000" dirty="0">
                <a:solidFill>
                  <a:srgbClr val="000000"/>
                </a:solidFill>
              </a:rPr>
              <a:t> =‘J1’</a:t>
            </a:r>
            <a:r>
              <a:rPr kumimoji="0" lang="en-US" altLang="zh-CN" sz="1600" b="1" u="sng" dirty="0">
                <a:solidFill>
                  <a:schemeClr val="bg2"/>
                </a:solidFill>
              </a:rPr>
              <a:t>(SPJ)</a:t>
            </a:r>
            <a:r>
              <a:rPr kumimoji="0" lang="en-US" altLang="zh-CN" sz="1600" b="1" u="sng" dirty="0">
                <a:solidFill>
                  <a:schemeClr val="bg2"/>
                </a:solidFill>
                <a:latin typeface="Times New Roman" pitchFamily="18" charset="0"/>
              </a:rPr>
              <a:t>×S</a:t>
            </a:r>
            <a:r>
              <a:rPr kumimoji="0" lang="zh-CN" altLang="en-US" sz="1600" b="1" u="sng" dirty="0">
                <a:solidFill>
                  <a:schemeClr val="bg2"/>
                </a:solidFill>
                <a:latin typeface="Times New Roman" pitchFamily="18" charset="0"/>
              </a:rPr>
              <a:t>）</a:t>
            </a:r>
            <a:r>
              <a:rPr kumimoji="0" lang="en-US" altLang="zh-CN" sz="1600" b="1" dirty="0">
                <a:solidFill>
                  <a:schemeClr val="bg2"/>
                </a:solidFill>
                <a:latin typeface="Times New Roman" pitchFamily="18" charset="0"/>
              </a:rPr>
              <a:t>×</a:t>
            </a:r>
            <a:r>
              <a:rPr kumimoji="0" lang="en-US" altLang="zh-CN" sz="1600" b="1" dirty="0" err="1">
                <a:solidFill>
                  <a:schemeClr val="bg2"/>
                </a:solidFill>
              </a:rPr>
              <a:t>σ</a:t>
            </a:r>
            <a:r>
              <a:rPr kumimoji="0" lang="en-US" altLang="zh-CN" sz="1600" b="1" baseline="-25000" dirty="0" err="1">
                <a:solidFill>
                  <a:srgbClr val="000000"/>
                </a:solidFill>
              </a:rPr>
              <a:t>COLOR</a:t>
            </a:r>
            <a:r>
              <a:rPr kumimoji="0" lang="en-US" altLang="zh-CN" sz="1600" b="1" baseline="-25000" dirty="0">
                <a:solidFill>
                  <a:srgbClr val="000000"/>
                </a:solidFill>
              </a:rPr>
              <a:t> =‘</a:t>
            </a:r>
            <a:r>
              <a:rPr kumimoji="0" lang="zh-CN" altLang="en-US" sz="1600" b="1" baseline="-25000" dirty="0">
                <a:solidFill>
                  <a:srgbClr val="000000"/>
                </a:solidFill>
              </a:rPr>
              <a:t>红色’</a:t>
            </a:r>
            <a:r>
              <a:rPr kumimoji="0" lang="en-US" altLang="zh-CN" sz="1600" b="1" dirty="0">
                <a:solidFill>
                  <a:srgbClr val="000000"/>
                </a:solidFill>
              </a:rPr>
              <a:t>(</a:t>
            </a:r>
            <a:r>
              <a:rPr lang="en-US" altLang="zh-CN" sz="1600" b="1" dirty="0">
                <a:solidFill>
                  <a:srgbClr val="660033"/>
                </a:solidFill>
              </a:rPr>
              <a:t>P</a:t>
            </a:r>
            <a:r>
              <a:rPr kumimoji="0" lang="en-US" altLang="zh-CN" sz="1600" b="1" dirty="0">
                <a:solidFill>
                  <a:srgbClr val="000000"/>
                </a:solidFill>
              </a:rPr>
              <a:t>)</a:t>
            </a:r>
            <a:r>
              <a:rPr kumimoji="0" lang="zh-CN" altLang="en-US" sz="1600" b="1" dirty="0">
                <a:solidFill>
                  <a:srgbClr val="000000"/>
                </a:solidFill>
              </a:rPr>
              <a:t>）</a:t>
            </a:r>
            <a:r>
              <a:rPr kumimoji="0" lang="en-US" altLang="zh-CN" sz="1600" b="1" dirty="0">
                <a:solidFill>
                  <a:srgbClr val="000000"/>
                </a:solidFill>
              </a:rPr>
              <a:t>)</a:t>
            </a:r>
            <a:r>
              <a:rPr kumimoji="0" lang="zh-CN" altLang="en-US" sz="1600" b="1" dirty="0">
                <a:solidFill>
                  <a:srgbClr val="000000"/>
                </a:solidFill>
              </a:rPr>
              <a:t>）</a:t>
            </a:r>
            <a:r>
              <a:rPr kumimoji="0" lang="en-US" altLang="zh-CN" sz="1400" b="1" dirty="0">
                <a:solidFill>
                  <a:srgbClr val="000000"/>
                </a:solidFill>
              </a:rPr>
              <a:t>(</a:t>
            </a:r>
            <a:r>
              <a:rPr kumimoji="0" lang="zh-CN" altLang="en-US" sz="1400" b="1" dirty="0">
                <a:solidFill>
                  <a:srgbClr val="000000"/>
                </a:solidFill>
              </a:rPr>
              <a:t>规则</a:t>
            </a:r>
            <a:r>
              <a:rPr kumimoji="0" lang="en-US" altLang="zh-CN" sz="1400" b="1" dirty="0">
                <a:solidFill>
                  <a:srgbClr val="000000"/>
                </a:solidFill>
              </a:rPr>
              <a:t>6)</a:t>
            </a:r>
            <a:endParaRPr kumimoji="0" lang="en-US" altLang="zh-CN" sz="1600" b="1" dirty="0">
              <a:solidFill>
                <a:srgbClr val="000000"/>
              </a:solidFill>
            </a:endParaRPr>
          </a:p>
          <a:p>
            <a:pPr eaLnBrk="0" hangingPunct="0">
              <a:lnSpc>
                <a:spcPct val="150000"/>
              </a:lnSpc>
              <a:spcBef>
                <a:spcPts val="0"/>
              </a:spcBef>
              <a:defRPr/>
            </a:pPr>
            <a:r>
              <a:rPr kumimoji="0" lang="en-US" altLang="zh-CN" sz="1600" b="1" dirty="0">
                <a:solidFill>
                  <a:schemeClr val="bg2"/>
                </a:solidFill>
              </a:rPr>
              <a:t>=</a:t>
            </a:r>
            <a:r>
              <a:rPr lang="en-US" altLang="zh-CN" sz="1600" b="1" dirty="0">
                <a:solidFill>
                  <a:srgbClr val="660033"/>
                </a:solidFill>
              </a:rPr>
              <a:t> π</a:t>
            </a:r>
            <a:r>
              <a:rPr lang="en-US" altLang="zh-CN" sz="1600" b="1" baseline="-10000" dirty="0">
                <a:solidFill>
                  <a:srgbClr val="660033"/>
                </a:solidFill>
              </a:rPr>
              <a:t>SNAME,SADDR</a:t>
            </a:r>
            <a:r>
              <a:rPr lang="en-US" altLang="zh-CN" sz="1600" b="1" dirty="0">
                <a:solidFill>
                  <a:srgbClr val="660033"/>
                </a:solidFill>
              </a:rPr>
              <a:t>(</a:t>
            </a:r>
            <a:r>
              <a:rPr lang="en-US" altLang="zh-CN" sz="1600" b="1" dirty="0" err="1">
                <a:solidFill>
                  <a:srgbClr val="660033"/>
                </a:solidFill>
              </a:rPr>
              <a:t>σ</a:t>
            </a:r>
            <a:r>
              <a:rPr lang="en-US" altLang="zh-CN" sz="1600" b="1" baseline="-10000" dirty="0" err="1">
                <a:solidFill>
                  <a:srgbClr val="660033"/>
                </a:solidFill>
              </a:rPr>
              <a:t>SPJ.PNO</a:t>
            </a:r>
            <a:r>
              <a:rPr lang="en-US" altLang="zh-CN" sz="1600" b="1" baseline="-10000" dirty="0">
                <a:solidFill>
                  <a:srgbClr val="660033"/>
                </a:solidFill>
              </a:rPr>
              <a:t>=P.PNO</a:t>
            </a:r>
            <a:r>
              <a:rPr lang="zh-CN" altLang="en-US" sz="1600" b="1" dirty="0">
                <a:solidFill>
                  <a:srgbClr val="660033"/>
                </a:solidFill>
              </a:rPr>
              <a:t>（</a:t>
            </a:r>
            <a:r>
              <a:rPr lang="zh-CN" altLang="en-US" sz="1600" b="1" u="sng" dirty="0">
                <a:solidFill>
                  <a:srgbClr val="660033"/>
                </a:solidFill>
              </a:rPr>
              <a:t>（</a:t>
            </a:r>
            <a:r>
              <a:rPr lang="en-US" altLang="zh-CN" sz="1600" b="1" u="sng" dirty="0">
                <a:solidFill>
                  <a:srgbClr val="660033"/>
                </a:solidFill>
              </a:rPr>
              <a:t> </a:t>
            </a:r>
            <a:r>
              <a:rPr lang="en-US" altLang="zh-CN" sz="1600" b="1" u="sng" dirty="0" err="1">
                <a:solidFill>
                  <a:srgbClr val="660033"/>
                </a:solidFill>
              </a:rPr>
              <a:t>σ</a:t>
            </a:r>
            <a:r>
              <a:rPr lang="en-US" altLang="zh-CN" sz="1600" b="1" u="sng" baseline="-10000" dirty="0" err="1">
                <a:solidFill>
                  <a:srgbClr val="660033"/>
                </a:solidFill>
              </a:rPr>
              <a:t>S.SNO</a:t>
            </a:r>
            <a:r>
              <a:rPr lang="en-US" altLang="zh-CN" sz="1600" b="1" u="sng" baseline="-10000" dirty="0">
                <a:solidFill>
                  <a:srgbClr val="660033"/>
                </a:solidFill>
              </a:rPr>
              <a:t>=SPJ.SNO</a:t>
            </a:r>
            <a:r>
              <a:rPr lang="zh-CN" altLang="en-US" sz="1600" b="1" u="sng" baseline="-10000" dirty="0">
                <a:solidFill>
                  <a:srgbClr val="660033"/>
                </a:solidFill>
              </a:rPr>
              <a:t> </a:t>
            </a:r>
            <a:r>
              <a:rPr kumimoji="0" lang="en-US" altLang="zh-CN" sz="1600" b="1" u="sng" dirty="0">
                <a:solidFill>
                  <a:srgbClr val="000000"/>
                </a:solidFill>
              </a:rPr>
              <a:t>(</a:t>
            </a:r>
            <a:r>
              <a:rPr kumimoji="0" lang="en-US" altLang="zh-CN" sz="1600" b="1" u="sng" dirty="0" err="1">
                <a:solidFill>
                  <a:srgbClr val="000000"/>
                </a:solidFill>
              </a:rPr>
              <a:t>σ</a:t>
            </a:r>
            <a:r>
              <a:rPr kumimoji="0" lang="en-US" altLang="zh-CN" sz="1600" b="1" u="sng" baseline="-25000" dirty="0" err="1">
                <a:solidFill>
                  <a:srgbClr val="000000"/>
                </a:solidFill>
              </a:rPr>
              <a:t>JNO</a:t>
            </a:r>
            <a:r>
              <a:rPr kumimoji="0" lang="en-US" altLang="zh-CN" sz="1600" b="1" u="sng" baseline="-25000" dirty="0">
                <a:solidFill>
                  <a:srgbClr val="000000"/>
                </a:solidFill>
              </a:rPr>
              <a:t> =‘J1’</a:t>
            </a:r>
            <a:r>
              <a:rPr kumimoji="0" lang="en-US" altLang="zh-CN" sz="1600" b="1" u="sng" dirty="0">
                <a:solidFill>
                  <a:schemeClr val="bg2"/>
                </a:solidFill>
              </a:rPr>
              <a:t>(SPJ)</a:t>
            </a:r>
            <a:r>
              <a:rPr kumimoji="0" lang="en-US" altLang="zh-CN" sz="1600" b="1" u="sng" dirty="0">
                <a:solidFill>
                  <a:schemeClr val="bg2"/>
                </a:solidFill>
                <a:latin typeface="Times New Roman" pitchFamily="18" charset="0"/>
              </a:rPr>
              <a:t>×S</a:t>
            </a:r>
            <a:r>
              <a:rPr kumimoji="0" lang="zh-CN" altLang="en-US" sz="1600" b="1" u="sng" dirty="0">
                <a:solidFill>
                  <a:schemeClr val="bg2"/>
                </a:solidFill>
                <a:latin typeface="Times New Roman" pitchFamily="18" charset="0"/>
              </a:rPr>
              <a:t>）</a:t>
            </a:r>
            <a:r>
              <a:rPr kumimoji="0" lang="en-US" altLang="zh-CN" sz="1600" b="1" dirty="0">
                <a:solidFill>
                  <a:schemeClr val="bg2"/>
                </a:solidFill>
                <a:latin typeface="Times New Roman" pitchFamily="18" charset="0"/>
              </a:rPr>
              <a:t>×</a:t>
            </a:r>
            <a:r>
              <a:rPr kumimoji="0" lang="en-US" altLang="zh-CN" sz="1600" b="1" dirty="0" err="1">
                <a:solidFill>
                  <a:schemeClr val="bg2"/>
                </a:solidFill>
              </a:rPr>
              <a:t>σ</a:t>
            </a:r>
            <a:r>
              <a:rPr kumimoji="0" lang="en-US" altLang="zh-CN" sz="1600" b="1" baseline="-25000" dirty="0" err="1">
                <a:solidFill>
                  <a:srgbClr val="000000"/>
                </a:solidFill>
              </a:rPr>
              <a:t>COLOR</a:t>
            </a:r>
            <a:r>
              <a:rPr kumimoji="0" lang="en-US" altLang="zh-CN" sz="1600" b="1" baseline="-25000" dirty="0">
                <a:solidFill>
                  <a:srgbClr val="000000"/>
                </a:solidFill>
              </a:rPr>
              <a:t> =‘</a:t>
            </a:r>
            <a:r>
              <a:rPr kumimoji="0" lang="zh-CN" altLang="en-US" sz="1600" b="1" baseline="-25000" dirty="0">
                <a:solidFill>
                  <a:srgbClr val="000000"/>
                </a:solidFill>
              </a:rPr>
              <a:t>红色’</a:t>
            </a:r>
            <a:r>
              <a:rPr kumimoji="0" lang="en-US" altLang="zh-CN" sz="1600" b="1" dirty="0">
                <a:solidFill>
                  <a:srgbClr val="000000"/>
                </a:solidFill>
              </a:rPr>
              <a:t>(</a:t>
            </a:r>
            <a:r>
              <a:rPr lang="en-US" altLang="zh-CN" sz="1600" b="1" dirty="0">
                <a:solidFill>
                  <a:srgbClr val="660033"/>
                </a:solidFill>
              </a:rPr>
              <a:t>P</a:t>
            </a:r>
            <a:r>
              <a:rPr kumimoji="0" lang="en-US" altLang="zh-CN" sz="1600" b="1" dirty="0">
                <a:solidFill>
                  <a:srgbClr val="000000"/>
                </a:solidFill>
              </a:rPr>
              <a:t>)</a:t>
            </a:r>
            <a:r>
              <a:rPr kumimoji="0" lang="zh-CN" altLang="en-US" sz="1600" b="1" dirty="0">
                <a:solidFill>
                  <a:srgbClr val="000000"/>
                </a:solidFill>
              </a:rPr>
              <a:t>） </a:t>
            </a:r>
            <a:r>
              <a:rPr kumimoji="0" lang="en-US" altLang="zh-CN" sz="1600" b="1" dirty="0">
                <a:solidFill>
                  <a:srgbClr val="000000"/>
                </a:solidFill>
              </a:rPr>
              <a:t>)</a:t>
            </a:r>
            <a:r>
              <a:rPr kumimoji="0" lang="zh-CN" altLang="en-US" sz="1600" b="1" dirty="0">
                <a:solidFill>
                  <a:srgbClr val="000000"/>
                </a:solidFill>
              </a:rPr>
              <a:t>）</a:t>
            </a:r>
            <a:r>
              <a:rPr kumimoji="0" lang="en-US" altLang="zh-CN" sz="1600" b="1" dirty="0">
                <a:solidFill>
                  <a:srgbClr val="000000"/>
                </a:solidFill>
              </a:rPr>
              <a:t>(</a:t>
            </a:r>
            <a:r>
              <a:rPr kumimoji="0" lang="zh-CN" altLang="en-US" sz="1200" b="1" dirty="0">
                <a:solidFill>
                  <a:srgbClr val="000000"/>
                </a:solidFill>
              </a:rPr>
              <a:t>规则</a:t>
            </a:r>
            <a:r>
              <a:rPr kumimoji="0" lang="en-US" altLang="zh-CN" sz="1200" b="1" dirty="0">
                <a:solidFill>
                  <a:srgbClr val="000000"/>
                </a:solidFill>
              </a:rPr>
              <a:t>3)</a:t>
            </a:r>
          </a:p>
          <a:p>
            <a:pPr eaLnBrk="0" hangingPunct="0">
              <a:lnSpc>
                <a:spcPct val="150000"/>
              </a:lnSpc>
              <a:spcBef>
                <a:spcPts val="0"/>
              </a:spcBef>
              <a:defRPr/>
            </a:pPr>
            <a:endParaRPr kumimoji="0" lang="en-US" altLang="zh-CN" sz="1600" b="1" dirty="0">
              <a:solidFill>
                <a:srgbClr val="000000"/>
              </a:solidFill>
            </a:endParaRPr>
          </a:p>
          <a:p>
            <a:pPr eaLnBrk="0" hangingPunct="0">
              <a:lnSpc>
                <a:spcPct val="150000"/>
              </a:lnSpc>
              <a:spcBef>
                <a:spcPts val="0"/>
              </a:spcBef>
              <a:defRPr/>
            </a:pPr>
            <a:endParaRPr kumimoji="0" lang="en-US" altLang="zh-CN" sz="1600" b="1" i="0" u="none" strike="noStrike" cap="none" normalizeH="0" baseline="0" dirty="0">
              <a:ln>
                <a:noFill/>
              </a:ln>
              <a:solidFill>
                <a:srgbClr val="FF0000"/>
              </a:solidFill>
              <a:effectLst/>
            </a:endParaRPr>
          </a:p>
          <a:p>
            <a:pPr lvl="0" eaLnBrk="0" hangingPunct="0">
              <a:lnSpc>
                <a:spcPct val="150000"/>
              </a:lnSpc>
              <a:spcBef>
                <a:spcPts val="0"/>
              </a:spcBef>
              <a:defRPr/>
            </a:pPr>
            <a:endParaRPr kumimoji="1" lang="en-US" altLang="zh-CN" sz="2000" b="0" i="0" u="none" strike="noStrike" cap="none" normalizeH="0" baseline="0" dirty="0">
              <a:ln>
                <a:noFill/>
              </a:ln>
              <a:solidFill>
                <a:schemeClr val="bg1"/>
              </a:solidFill>
              <a:effectLst/>
            </a:endParaRPr>
          </a:p>
        </p:txBody>
      </p:sp>
      <p:grpSp>
        <p:nvGrpSpPr>
          <p:cNvPr id="29" name="组合 28">
            <a:extLst>
              <a:ext uri="{FF2B5EF4-FFF2-40B4-BE49-F238E27FC236}">
                <a16:creationId xmlns:a16="http://schemas.microsoft.com/office/drawing/2014/main" id="{5788A5C6-FF86-7033-290F-F989591F4362}"/>
              </a:ext>
            </a:extLst>
          </p:cNvPr>
          <p:cNvGrpSpPr/>
          <p:nvPr/>
        </p:nvGrpSpPr>
        <p:grpSpPr>
          <a:xfrm>
            <a:off x="3738770" y="2215761"/>
            <a:ext cx="5184577" cy="3085447"/>
            <a:chOff x="3738770" y="2422191"/>
            <a:chExt cx="5184577" cy="3085447"/>
          </a:xfrm>
        </p:grpSpPr>
        <p:sp>
          <p:nvSpPr>
            <p:cNvPr id="12" name="矩形 11">
              <a:extLst>
                <a:ext uri="{FF2B5EF4-FFF2-40B4-BE49-F238E27FC236}">
                  <a16:creationId xmlns:a16="http://schemas.microsoft.com/office/drawing/2014/main" id="{398DDB9B-3253-EEB9-0E00-022BCE3D9746}"/>
                </a:ext>
              </a:extLst>
            </p:cNvPr>
            <p:cNvSpPr/>
            <p:nvPr/>
          </p:nvSpPr>
          <p:spPr bwMode="auto">
            <a:xfrm>
              <a:off x="3738770" y="2422191"/>
              <a:ext cx="3569533" cy="432048"/>
            </a:xfrm>
            <a:prstGeom prst="rect">
              <a:avLst/>
            </a:prstGeom>
            <a:noFill/>
            <a:ln w="38100"/>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cxnSp>
          <p:nvCxnSpPr>
            <p:cNvPr id="13" name="直线箭头连接符 12">
              <a:extLst>
                <a:ext uri="{FF2B5EF4-FFF2-40B4-BE49-F238E27FC236}">
                  <a16:creationId xmlns:a16="http://schemas.microsoft.com/office/drawing/2014/main" id="{D1CE41DE-1998-4D87-0B38-89E47CE4D329}"/>
                </a:ext>
              </a:extLst>
            </p:cNvPr>
            <p:cNvCxnSpPr>
              <a:cxnSpLocks/>
            </p:cNvCxnSpPr>
            <p:nvPr/>
          </p:nvCxnSpPr>
          <p:spPr bwMode="auto">
            <a:xfrm>
              <a:off x="5353814" y="2854239"/>
              <a:ext cx="2237385" cy="2653399"/>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2" name="直线连接符 21">
              <a:extLst>
                <a:ext uri="{FF2B5EF4-FFF2-40B4-BE49-F238E27FC236}">
                  <a16:creationId xmlns:a16="http://schemas.microsoft.com/office/drawing/2014/main" id="{AF4E2B9A-A9A2-E89C-FA56-CA6589582DAD}"/>
                </a:ext>
              </a:extLst>
            </p:cNvPr>
            <p:cNvCxnSpPr/>
            <p:nvPr/>
          </p:nvCxnSpPr>
          <p:spPr bwMode="auto">
            <a:xfrm>
              <a:off x="6259051" y="5507638"/>
              <a:ext cx="2664296"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28" name="组合 27">
            <a:extLst>
              <a:ext uri="{FF2B5EF4-FFF2-40B4-BE49-F238E27FC236}">
                <a16:creationId xmlns:a16="http://schemas.microsoft.com/office/drawing/2014/main" id="{7DB8D030-48A2-8230-CE55-7E40656EA443}"/>
              </a:ext>
            </a:extLst>
          </p:cNvPr>
          <p:cNvGrpSpPr/>
          <p:nvPr/>
        </p:nvGrpSpPr>
        <p:grpSpPr>
          <a:xfrm>
            <a:off x="179512" y="759931"/>
            <a:ext cx="6912768" cy="3605173"/>
            <a:chOff x="179512" y="1076379"/>
            <a:chExt cx="6912768" cy="3605173"/>
          </a:xfrm>
        </p:grpSpPr>
        <p:sp>
          <p:nvSpPr>
            <p:cNvPr id="5" name="矩形 4">
              <a:extLst>
                <a:ext uri="{FF2B5EF4-FFF2-40B4-BE49-F238E27FC236}">
                  <a16:creationId xmlns:a16="http://schemas.microsoft.com/office/drawing/2014/main" id="{139D8B2E-EB32-7A04-661B-A0402DA644D3}"/>
                </a:ext>
              </a:extLst>
            </p:cNvPr>
            <p:cNvSpPr/>
            <p:nvPr/>
          </p:nvSpPr>
          <p:spPr bwMode="auto">
            <a:xfrm>
              <a:off x="2987824" y="1076379"/>
              <a:ext cx="3775502" cy="720000"/>
            </a:xfrm>
            <a:prstGeom prst="rect">
              <a:avLst/>
            </a:prstGeom>
            <a:noFill/>
            <a:ln w="38100"/>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cxnSp>
          <p:nvCxnSpPr>
            <p:cNvPr id="7" name="直线箭头连接符 6">
              <a:extLst>
                <a:ext uri="{FF2B5EF4-FFF2-40B4-BE49-F238E27FC236}">
                  <a16:creationId xmlns:a16="http://schemas.microsoft.com/office/drawing/2014/main" id="{56EAD8F5-DCEA-0F7B-355A-C3C37F4875E8}"/>
                </a:ext>
              </a:extLst>
            </p:cNvPr>
            <p:cNvCxnSpPr>
              <a:cxnSpLocks/>
            </p:cNvCxnSpPr>
            <p:nvPr/>
          </p:nvCxnSpPr>
          <p:spPr bwMode="auto">
            <a:xfrm flipH="1">
              <a:off x="974693" y="1796379"/>
              <a:ext cx="2427182" cy="28851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25" name="直线连接符 24">
              <a:extLst>
                <a:ext uri="{FF2B5EF4-FFF2-40B4-BE49-F238E27FC236}">
                  <a16:creationId xmlns:a16="http://schemas.microsoft.com/office/drawing/2014/main" id="{9E6362AB-E7E9-0B79-BCD7-65ACCB6DA351}"/>
                </a:ext>
              </a:extLst>
            </p:cNvPr>
            <p:cNvCxnSpPr>
              <a:cxnSpLocks/>
            </p:cNvCxnSpPr>
            <p:nvPr/>
          </p:nvCxnSpPr>
          <p:spPr bwMode="auto">
            <a:xfrm>
              <a:off x="179512" y="4681552"/>
              <a:ext cx="6912768"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37" name="组合 36">
            <a:extLst>
              <a:ext uri="{FF2B5EF4-FFF2-40B4-BE49-F238E27FC236}">
                <a16:creationId xmlns:a16="http://schemas.microsoft.com/office/drawing/2014/main" id="{38CDD7BF-80AF-C964-24D4-2D85667700F7}"/>
              </a:ext>
            </a:extLst>
          </p:cNvPr>
          <p:cNvGrpSpPr/>
          <p:nvPr/>
        </p:nvGrpSpPr>
        <p:grpSpPr>
          <a:xfrm>
            <a:off x="1835696" y="620688"/>
            <a:ext cx="5760640" cy="4281863"/>
            <a:chOff x="1835696" y="937136"/>
            <a:chExt cx="5760640" cy="4281863"/>
          </a:xfrm>
        </p:grpSpPr>
        <p:cxnSp>
          <p:nvCxnSpPr>
            <p:cNvPr id="33" name="直线连接符 32">
              <a:extLst>
                <a:ext uri="{FF2B5EF4-FFF2-40B4-BE49-F238E27FC236}">
                  <a16:creationId xmlns:a16="http://schemas.microsoft.com/office/drawing/2014/main" id="{2818B720-FA50-C2F7-0BDC-684E3A9F48D4}"/>
                </a:ext>
              </a:extLst>
            </p:cNvPr>
            <p:cNvCxnSpPr>
              <a:cxnSpLocks/>
            </p:cNvCxnSpPr>
            <p:nvPr/>
          </p:nvCxnSpPr>
          <p:spPr bwMode="auto">
            <a:xfrm>
              <a:off x="4788024" y="5185608"/>
              <a:ext cx="2808312" cy="0"/>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17" name="直线箭头连接符 16">
              <a:extLst>
                <a:ext uri="{FF2B5EF4-FFF2-40B4-BE49-F238E27FC236}">
                  <a16:creationId xmlns:a16="http://schemas.microsoft.com/office/drawing/2014/main" id="{9DD413D4-B5EB-69C3-7045-E35F5EBC6BD0}"/>
                </a:ext>
              </a:extLst>
            </p:cNvPr>
            <p:cNvCxnSpPr>
              <a:cxnSpLocks/>
            </p:cNvCxnSpPr>
            <p:nvPr/>
          </p:nvCxnSpPr>
          <p:spPr bwMode="auto">
            <a:xfrm flipH="1">
              <a:off x="6259051" y="1369184"/>
              <a:ext cx="365187" cy="3849815"/>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sp>
          <p:nvSpPr>
            <p:cNvPr id="16" name="矩形 15">
              <a:extLst>
                <a:ext uri="{FF2B5EF4-FFF2-40B4-BE49-F238E27FC236}">
                  <a16:creationId xmlns:a16="http://schemas.microsoft.com/office/drawing/2014/main" id="{174CA911-66AE-4800-BD24-0621DED97F99}"/>
                </a:ext>
              </a:extLst>
            </p:cNvPr>
            <p:cNvSpPr/>
            <p:nvPr/>
          </p:nvSpPr>
          <p:spPr bwMode="auto">
            <a:xfrm>
              <a:off x="1835696" y="937136"/>
              <a:ext cx="4927630" cy="432048"/>
            </a:xfrm>
            <a:prstGeom prst="rect">
              <a:avLst/>
            </a:prstGeom>
            <a:noFill/>
            <a:ln w="38100"/>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grpSp>
      <p:grpSp>
        <p:nvGrpSpPr>
          <p:cNvPr id="45" name="组合 44">
            <a:extLst>
              <a:ext uri="{FF2B5EF4-FFF2-40B4-BE49-F238E27FC236}">
                <a16:creationId xmlns:a16="http://schemas.microsoft.com/office/drawing/2014/main" id="{BB4C5158-6C88-45B9-C517-055F9810DC3D}"/>
              </a:ext>
            </a:extLst>
          </p:cNvPr>
          <p:cNvGrpSpPr/>
          <p:nvPr/>
        </p:nvGrpSpPr>
        <p:grpSpPr>
          <a:xfrm>
            <a:off x="1619672" y="2308373"/>
            <a:ext cx="6696744" cy="3424883"/>
            <a:chOff x="1835696" y="2956445"/>
            <a:chExt cx="6696744" cy="3424883"/>
          </a:xfrm>
        </p:grpSpPr>
        <p:sp>
          <p:nvSpPr>
            <p:cNvPr id="40" name="矩形 39">
              <a:extLst>
                <a:ext uri="{FF2B5EF4-FFF2-40B4-BE49-F238E27FC236}">
                  <a16:creationId xmlns:a16="http://schemas.microsoft.com/office/drawing/2014/main" id="{33F66DA7-A396-6A18-4FA6-F2D055D8200D}"/>
                </a:ext>
              </a:extLst>
            </p:cNvPr>
            <p:cNvSpPr/>
            <p:nvPr/>
          </p:nvSpPr>
          <p:spPr bwMode="auto">
            <a:xfrm>
              <a:off x="1835696" y="2956445"/>
              <a:ext cx="6696744" cy="432048"/>
            </a:xfrm>
            <a:prstGeom prst="rect">
              <a:avLst/>
            </a:prstGeom>
            <a:noFill/>
            <a:ln w="38100"/>
          </p:spPr>
          <p:style>
            <a:lnRef idx="2">
              <a:schemeClr val="accent1"/>
            </a:lnRef>
            <a:fillRef idx="1">
              <a:schemeClr val="lt1"/>
            </a:fillRef>
            <a:effectRef idx="0">
              <a:schemeClr val="accent1"/>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cxnSp>
          <p:nvCxnSpPr>
            <p:cNvPr id="41" name="直线箭头连接符 40">
              <a:extLst>
                <a:ext uri="{FF2B5EF4-FFF2-40B4-BE49-F238E27FC236}">
                  <a16:creationId xmlns:a16="http://schemas.microsoft.com/office/drawing/2014/main" id="{BDB5D7AD-E424-835C-AFAF-087D434E40E5}"/>
                </a:ext>
              </a:extLst>
            </p:cNvPr>
            <p:cNvCxnSpPr>
              <a:cxnSpLocks/>
            </p:cNvCxnSpPr>
            <p:nvPr/>
          </p:nvCxnSpPr>
          <p:spPr bwMode="auto">
            <a:xfrm>
              <a:off x="3401875" y="3378837"/>
              <a:ext cx="3906429" cy="2892473"/>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cxnSp>
          <p:nvCxnSpPr>
            <p:cNvPr id="43" name="直线连接符 42">
              <a:extLst>
                <a:ext uri="{FF2B5EF4-FFF2-40B4-BE49-F238E27FC236}">
                  <a16:creationId xmlns:a16="http://schemas.microsoft.com/office/drawing/2014/main" id="{D2FCF343-9F25-1007-CCEA-F6C07E70B6C7}"/>
                </a:ext>
              </a:extLst>
            </p:cNvPr>
            <p:cNvCxnSpPr>
              <a:cxnSpLocks/>
            </p:cNvCxnSpPr>
            <p:nvPr/>
          </p:nvCxnSpPr>
          <p:spPr bwMode="auto">
            <a:xfrm>
              <a:off x="4788024" y="6381328"/>
              <a:ext cx="3744416" cy="0"/>
            </a:xfrm>
            <a:prstGeom prst="line">
              <a:avLst/>
            </a:prstGeom>
            <a:ln w="38100"/>
          </p:spPr>
          <p:style>
            <a:lnRef idx="1">
              <a:schemeClr val="accent1"/>
            </a:lnRef>
            <a:fillRef idx="0">
              <a:schemeClr val="accent1"/>
            </a:fillRef>
            <a:effectRef idx="0">
              <a:schemeClr val="accent1"/>
            </a:effectRef>
            <a:fontRef idx="minor">
              <a:schemeClr val="tx1"/>
            </a:fontRef>
          </p:style>
        </p:cxnSp>
      </p:grpSp>
      <p:grpSp>
        <p:nvGrpSpPr>
          <p:cNvPr id="50" name="组合 49">
            <a:extLst>
              <a:ext uri="{FF2B5EF4-FFF2-40B4-BE49-F238E27FC236}">
                <a16:creationId xmlns:a16="http://schemas.microsoft.com/office/drawing/2014/main" id="{0B58891D-2F29-04ED-5031-72DA8750E677}"/>
              </a:ext>
            </a:extLst>
          </p:cNvPr>
          <p:cNvGrpSpPr/>
          <p:nvPr/>
        </p:nvGrpSpPr>
        <p:grpSpPr>
          <a:xfrm>
            <a:off x="4492314" y="3119909"/>
            <a:ext cx="4543925" cy="3477443"/>
            <a:chOff x="4586611" y="3896125"/>
            <a:chExt cx="4543925" cy="3477443"/>
          </a:xfrm>
        </p:grpSpPr>
        <p:sp>
          <p:nvSpPr>
            <p:cNvPr id="47" name="文本框 46">
              <a:extLst>
                <a:ext uri="{FF2B5EF4-FFF2-40B4-BE49-F238E27FC236}">
                  <a16:creationId xmlns:a16="http://schemas.microsoft.com/office/drawing/2014/main" id="{EB5A47E4-0F17-B7C1-115B-B47737A73262}"/>
                </a:ext>
              </a:extLst>
            </p:cNvPr>
            <p:cNvSpPr txBox="1"/>
            <p:nvPr/>
          </p:nvSpPr>
          <p:spPr>
            <a:xfrm>
              <a:off x="4586611" y="3896125"/>
              <a:ext cx="4543925" cy="313932"/>
            </a:xfrm>
            <a:prstGeom prst="rect">
              <a:avLst/>
            </a:prstGeom>
          </p:spPr>
          <p:style>
            <a:lnRef idx="2">
              <a:schemeClr val="accent1"/>
            </a:lnRef>
            <a:fillRef idx="1">
              <a:schemeClr val="lt1"/>
            </a:fillRef>
            <a:effectRef idx="0">
              <a:schemeClr val="accent1"/>
            </a:effectRef>
            <a:fontRef idx="minor">
              <a:schemeClr val="dk1"/>
            </a:fontRef>
          </p:style>
          <p:txBody>
            <a:bodyPr wrap="square">
              <a:spAutoFit/>
            </a:bodyPr>
            <a:lstStyle/>
            <a:p>
              <a:r>
                <a:rPr lang="en-US" altLang="zh-CN" sz="1800" b="1" dirty="0">
                  <a:solidFill>
                    <a:schemeClr val="bg2"/>
                  </a:solidFill>
                </a:rPr>
                <a:t>π</a:t>
              </a:r>
              <a:r>
                <a:rPr lang="en-US" altLang="zh-CN" sz="1800" b="1" baseline="-25000" dirty="0">
                  <a:solidFill>
                    <a:schemeClr val="bg2"/>
                  </a:solidFill>
                </a:rPr>
                <a:t>L1</a:t>
              </a:r>
              <a:r>
                <a:rPr lang="zh-CN" altLang="en-US" sz="1800" b="1" dirty="0">
                  <a:solidFill>
                    <a:schemeClr val="bg2"/>
                  </a:solidFill>
                </a:rPr>
                <a:t>（</a:t>
              </a:r>
              <a:r>
                <a:rPr lang="en-US" altLang="zh-CN" sz="1800" b="1" dirty="0">
                  <a:solidFill>
                    <a:schemeClr val="bg2"/>
                  </a:solidFill>
                </a:rPr>
                <a:t>π</a:t>
              </a:r>
              <a:r>
                <a:rPr lang="en-US" altLang="zh-CN" sz="1800" b="1" baseline="-25000" dirty="0">
                  <a:solidFill>
                    <a:schemeClr val="bg2"/>
                  </a:solidFill>
                </a:rPr>
                <a:t>L2</a:t>
              </a:r>
              <a:r>
                <a:rPr lang="zh-CN" altLang="en-US" sz="1800" b="1" dirty="0">
                  <a:solidFill>
                    <a:schemeClr val="bg2"/>
                  </a:solidFill>
                </a:rPr>
                <a:t>（</a:t>
              </a:r>
              <a:r>
                <a:rPr lang="en-US" altLang="zh-CN" sz="1800" b="1" dirty="0">
                  <a:solidFill>
                    <a:schemeClr val="bg2"/>
                  </a:solidFill>
                  <a:latin typeface="Times New Roman"/>
                </a:rPr>
                <a:t>…</a:t>
              </a:r>
              <a:r>
                <a:rPr lang="zh-CN" altLang="en-US" sz="1800" b="1" dirty="0">
                  <a:solidFill>
                    <a:schemeClr val="bg2"/>
                  </a:solidFill>
                </a:rPr>
                <a:t>（</a:t>
              </a:r>
              <a:r>
                <a:rPr lang="en-US" altLang="zh-CN" sz="1800" b="1" dirty="0">
                  <a:solidFill>
                    <a:schemeClr val="bg2"/>
                  </a:solidFill>
                </a:rPr>
                <a:t>π</a:t>
              </a:r>
              <a:r>
                <a:rPr lang="en-US" altLang="zh-CN" sz="1800" b="1" baseline="-25000" dirty="0">
                  <a:solidFill>
                    <a:schemeClr val="bg2"/>
                  </a:solidFill>
                </a:rPr>
                <a:t>Ln</a:t>
              </a:r>
              <a:r>
                <a:rPr lang="zh-CN" altLang="en-US" sz="1800" b="1" dirty="0">
                  <a:solidFill>
                    <a:schemeClr val="bg2"/>
                  </a:solidFill>
                </a:rPr>
                <a:t>（</a:t>
              </a:r>
              <a:r>
                <a:rPr lang="en-US" altLang="zh-CN" sz="1800" b="1" dirty="0">
                  <a:solidFill>
                    <a:schemeClr val="bg2"/>
                  </a:solidFill>
                </a:rPr>
                <a:t>E</a:t>
              </a:r>
              <a:r>
                <a:rPr lang="zh-CN" altLang="en-US" sz="1800" b="1" dirty="0">
                  <a:solidFill>
                    <a:schemeClr val="bg2"/>
                  </a:solidFill>
                </a:rPr>
                <a:t>））</a:t>
              </a:r>
              <a:r>
                <a:rPr lang="en-US" altLang="zh-CN" sz="1800" b="1" dirty="0">
                  <a:solidFill>
                    <a:schemeClr val="bg2"/>
                  </a:solidFill>
                  <a:latin typeface="Times New Roman"/>
                </a:rPr>
                <a:t>…</a:t>
              </a:r>
              <a:r>
                <a:rPr lang="zh-CN" altLang="en-US" sz="1800" b="1" dirty="0">
                  <a:solidFill>
                    <a:schemeClr val="bg2"/>
                  </a:solidFill>
                </a:rPr>
                <a:t>））≡</a:t>
              </a:r>
              <a:r>
                <a:rPr lang="en-US" altLang="zh-CN" sz="1800" b="1" dirty="0">
                  <a:solidFill>
                    <a:schemeClr val="bg2"/>
                  </a:solidFill>
                </a:rPr>
                <a:t>π</a:t>
              </a:r>
              <a:r>
                <a:rPr lang="en-US" altLang="zh-CN" sz="1800" b="1" baseline="-25000" dirty="0">
                  <a:solidFill>
                    <a:schemeClr val="bg2"/>
                  </a:solidFill>
                </a:rPr>
                <a:t>L1</a:t>
              </a:r>
              <a:r>
                <a:rPr lang="zh-CN" altLang="en-US" sz="1800" b="1" dirty="0">
                  <a:solidFill>
                    <a:schemeClr val="bg2"/>
                  </a:solidFill>
                </a:rPr>
                <a:t>（</a:t>
              </a:r>
              <a:r>
                <a:rPr lang="en-US" altLang="zh-CN" sz="1800" b="1" dirty="0">
                  <a:solidFill>
                    <a:schemeClr val="bg2"/>
                  </a:solidFill>
                </a:rPr>
                <a:t>E</a:t>
              </a:r>
              <a:r>
                <a:rPr lang="zh-CN" altLang="en-US" sz="1800" b="1" dirty="0">
                  <a:solidFill>
                    <a:schemeClr val="bg2"/>
                  </a:solidFill>
                </a:rPr>
                <a:t>）</a:t>
              </a:r>
              <a:endParaRPr lang="zh-CN" altLang="en-US" dirty="0"/>
            </a:p>
          </p:txBody>
        </p:sp>
        <p:cxnSp>
          <p:nvCxnSpPr>
            <p:cNvPr id="48" name="直线箭头连接符 47">
              <a:extLst>
                <a:ext uri="{FF2B5EF4-FFF2-40B4-BE49-F238E27FC236}">
                  <a16:creationId xmlns:a16="http://schemas.microsoft.com/office/drawing/2014/main" id="{500B26CA-D4F9-E9EB-287A-AA644058CC1F}"/>
                </a:ext>
              </a:extLst>
            </p:cNvPr>
            <p:cNvCxnSpPr>
              <a:cxnSpLocks/>
            </p:cNvCxnSpPr>
            <p:nvPr/>
          </p:nvCxnSpPr>
          <p:spPr bwMode="auto">
            <a:xfrm>
              <a:off x="9100429" y="4205216"/>
              <a:ext cx="30107" cy="3168352"/>
            </a:xfrm>
            <a:prstGeom prst="straightConnector1">
              <a:avLst/>
            </a:prstGeom>
            <a:ln w="38100">
              <a:tailEnd type="triangle"/>
            </a:ln>
          </p:spPr>
          <p:style>
            <a:lnRef idx="1">
              <a:schemeClr val="accent1"/>
            </a:lnRef>
            <a:fillRef idx="0">
              <a:schemeClr val="accent1"/>
            </a:fillRef>
            <a:effectRef idx="0">
              <a:schemeClr val="accent1"/>
            </a:effectRef>
            <a:fontRef idx="minor">
              <a:schemeClr val="tx1"/>
            </a:fontRef>
          </p:style>
        </p:cxnSp>
      </p:grpSp>
      <p:grpSp>
        <p:nvGrpSpPr>
          <p:cNvPr id="66" name="组合 65">
            <a:extLst>
              <a:ext uri="{FF2B5EF4-FFF2-40B4-BE49-F238E27FC236}">
                <a16:creationId xmlns:a16="http://schemas.microsoft.com/office/drawing/2014/main" id="{9F8E7784-6B7B-16D1-8D30-ABCDF2BD9FCF}"/>
              </a:ext>
            </a:extLst>
          </p:cNvPr>
          <p:cNvGrpSpPr/>
          <p:nvPr/>
        </p:nvGrpSpPr>
        <p:grpSpPr>
          <a:xfrm>
            <a:off x="0" y="1045913"/>
            <a:ext cx="9324528" cy="5047383"/>
            <a:chOff x="0" y="1045913"/>
            <a:chExt cx="9324528" cy="5047383"/>
          </a:xfrm>
        </p:grpSpPr>
        <p:cxnSp>
          <p:nvCxnSpPr>
            <p:cNvPr id="63" name="直线连接符 62">
              <a:extLst>
                <a:ext uri="{FF2B5EF4-FFF2-40B4-BE49-F238E27FC236}">
                  <a16:creationId xmlns:a16="http://schemas.microsoft.com/office/drawing/2014/main" id="{E5042126-C93D-F2A0-FD12-37F9C158D92C}"/>
                </a:ext>
              </a:extLst>
            </p:cNvPr>
            <p:cNvCxnSpPr/>
            <p:nvPr/>
          </p:nvCxnSpPr>
          <p:spPr bwMode="auto">
            <a:xfrm>
              <a:off x="8532440" y="6093296"/>
              <a:ext cx="792088" cy="0"/>
            </a:xfrm>
            <a:prstGeom prst="line">
              <a:avLst/>
            </a:prstGeom>
            <a:noFill/>
            <a:ln w="381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4" name="直线连接符 63">
              <a:extLst>
                <a:ext uri="{FF2B5EF4-FFF2-40B4-BE49-F238E27FC236}">
                  <a16:creationId xmlns:a16="http://schemas.microsoft.com/office/drawing/2014/main" id="{6EE2169A-4090-21DF-CA4F-20580C0D1BF3}"/>
                </a:ext>
              </a:extLst>
            </p:cNvPr>
            <p:cNvCxnSpPr/>
            <p:nvPr/>
          </p:nvCxnSpPr>
          <p:spPr bwMode="auto">
            <a:xfrm>
              <a:off x="0" y="1045913"/>
              <a:ext cx="2987824" cy="0"/>
            </a:xfrm>
            <a:prstGeom prst="line">
              <a:avLst/>
            </a:prstGeom>
            <a:noFill/>
            <a:ln w="381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grpSp>
        <p:nvGrpSpPr>
          <p:cNvPr id="71" name="组合 70">
            <a:extLst>
              <a:ext uri="{FF2B5EF4-FFF2-40B4-BE49-F238E27FC236}">
                <a16:creationId xmlns:a16="http://schemas.microsoft.com/office/drawing/2014/main" id="{58DE044F-3074-8A38-0D93-1AF37BF3C01B}"/>
              </a:ext>
            </a:extLst>
          </p:cNvPr>
          <p:cNvGrpSpPr/>
          <p:nvPr/>
        </p:nvGrpSpPr>
        <p:grpSpPr>
          <a:xfrm>
            <a:off x="25341" y="2657870"/>
            <a:ext cx="9290949" cy="3795466"/>
            <a:chOff x="25341" y="2657870"/>
            <a:chExt cx="9290949" cy="3795466"/>
          </a:xfrm>
        </p:grpSpPr>
        <p:cxnSp>
          <p:nvCxnSpPr>
            <p:cNvPr id="68" name="直线连接符 67">
              <a:extLst>
                <a:ext uri="{FF2B5EF4-FFF2-40B4-BE49-F238E27FC236}">
                  <a16:creationId xmlns:a16="http://schemas.microsoft.com/office/drawing/2014/main" id="{5E02B1D6-DEF4-6706-88F7-16AAD041EB85}"/>
                </a:ext>
              </a:extLst>
            </p:cNvPr>
            <p:cNvCxnSpPr/>
            <p:nvPr/>
          </p:nvCxnSpPr>
          <p:spPr bwMode="auto">
            <a:xfrm>
              <a:off x="8524202" y="6453336"/>
              <a:ext cx="792088" cy="0"/>
            </a:xfrm>
            <a:prstGeom prst="line">
              <a:avLst/>
            </a:prstGeom>
            <a:noFill/>
            <a:ln w="381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cxnSp>
          <p:nvCxnSpPr>
            <p:cNvPr id="69" name="直线连接符 68">
              <a:extLst>
                <a:ext uri="{FF2B5EF4-FFF2-40B4-BE49-F238E27FC236}">
                  <a16:creationId xmlns:a16="http://schemas.microsoft.com/office/drawing/2014/main" id="{C669E54D-AA3A-4099-2EBA-CAA665FFECB4}"/>
                </a:ext>
              </a:extLst>
            </p:cNvPr>
            <p:cNvCxnSpPr/>
            <p:nvPr/>
          </p:nvCxnSpPr>
          <p:spPr bwMode="auto">
            <a:xfrm>
              <a:off x="25341" y="2657870"/>
              <a:ext cx="3569533" cy="9948"/>
            </a:xfrm>
            <a:prstGeom prst="line">
              <a:avLst/>
            </a:prstGeom>
            <a:noFill/>
            <a:ln w="3810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cxnSp>
      </p:grpSp>
    </p:spTree>
    <p:extLst>
      <p:ext uri="{BB962C8B-B14F-4D97-AF65-F5344CB8AC3E}">
        <p14:creationId xmlns:p14="http://schemas.microsoft.com/office/powerpoint/2010/main" val="3920360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8"/>
                                        </p:tgtEl>
                                        <p:attrNameLst>
                                          <p:attrName>style.visibility</p:attrName>
                                        </p:attrNameLst>
                                      </p:cBhvr>
                                      <p:to>
                                        <p:strVal val="visible"/>
                                      </p:to>
                                    </p:set>
                                  </p:childTnLst>
                                  <p:subTnLst>
                                    <p:set>
                                      <p:cBhvr override="childStyle">
                                        <p:cTn dur="1" fill="hold" display="0" masterRel="nextClick" afterEffect="1"/>
                                        <p:tgtEl>
                                          <p:spTgt spid="28"/>
                                        </p:tgtEl>
                                        <p:attrNameLst>
                                          <p:attrName>style.visibility</p:attrName>
                                        </p:attrNameLst>
                                      </p:cBhvr>
                                      <p:to>
                                        <p:strVal val="hidden"/>
                                      </p:to>
                                    </p:set>
                                  </p:sub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7"/>
                                        </p:tgtEl>
                                        <p:attrNameLst>
                                          <p:attrName>style.visibility</p:attrName>
                                        </p:attrNameLst>
                                      </p:cBhvr>
                                      <p:to>
                                        <p:strVal val="visible"/>
                                      </p:to>
                                    </p:set>
                                  </p:childTnLst>
                                  <p:subTnLst>
                                    <p:set>
                                      <p:cBhvr override="childStyle">
                                        <p:cTn dur="1" fill="hold" display="0" masterRel="nextClick" afterEffect="1"/>
                                        <p:tgtEl>
                                          <p:spTgt spid="37"/>
                                        </p:tgtEl>
                                        <p:attrNameLst>
                                          <p:attrName>style.visibility</p:attrName>
                                        </p:attrNameLst>
                                      </p:cBhvr>
                                      <p:to>
                                        <p:strVal val="hidden"/>
                                      </p:to>
                                    </p:set>
                                  </p:sub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29"/>
                                        </p:tgtEl>
                                        <p:attrNameLst>
                                          <p:attrName>style.visibility</p:attrName>
                                        </p:attrNameLst>
                                      </p:cBhvr>
                                      <p:to>
                                        <p:strVal val="visible"/>
                                      </p:to>
                                    </p:set>
                                  </p:childTnLst>
                                  <p:subTnLst>
                                    <p:set>
                                      <p:cBhvr override="childStyle">
                                        <p:cTn dur="1" fill="hold" display="0" masterRel="nextClick" afterEffect="1"/>
                                        <p:tgtEl>
                                          <p:spTgt spid="29"/>
                                        </p:tgtEl>
                                        <p:attrNameLst>
                                          <p:attrName>style.visibility</p:attrName>
                                        </p:attrNameLst>
                                      </p:cBhvr>
                                      <p:to>
                                        <p:strVal val="hidden"/>
                                      </p:to>
                                    </p:set>
                                  </p:sub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5"/>
                                        </p:tgtEl>
                                        <p:attrNameLst>
                                          <p:attrName>style.visibility</p:attrName>
                                        </p:attrNameLst>
                                      </p:cBhvr>
                                      <p:to>
                                        <p:strVal val="visible"/>
                                      </p:to>
                                    </p:set>
                                  </p:childTnLst>
                                  <p:subTnLst>
                                    <p:set>
                                      <p:cBhvr override="childStyle">
                                        <p:cTn dur="1" fill="hold" display="0" masterRel="nextClick" afterEffect="1"/>
                                        <p:tgtEl>
                                          <p:spTgt spid="45"/>
                                        </p:tgtEl>
                                        <p:attrNameLst>
                                          <p:attrName>style.visibility</p:attrName>
                                        </p:attrNameLst>
                                      </p:cBhvr>
                                      <p:to>
                                        <p:strVal val="hidden"/>
                                      </p:to>
                                    </p:set>
                                  </p:sub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66"/>
                                        </p:tgtEl>
                                        <p:attrNameLst>
                                          <p:attrName>style.visibility</p:attrName>
                                        </p:attrNameLst>
                                      </p:cBhvr>
                                      <p:to>
                                        <p:strVal val="visible"/>
                                      </p:to>
                                    </p:set>
                                  </p:childTnLst>
                                  <p:subTnLst>
                                    <p:set>
                                      <p:cBhvr override="childStyle">
                                        <p:cTn dur="1" fill="hold" display="0" masterRel="nextClick" afterEffect="1"/>
                                        <p:tgtEl>
                                          <p:spTgt spid="66"/>
                                        </p:tgtEl>
                                        <p:attrNameLst>
                                          <p:attrName>style.visibility</p:attrName>
                                        </p:attrNameLst>
                                      </p:cBhvr>
                                      <p:to>
                                        <p:strVal val="hidden"/>
                                      </p:to>
                                    </p:set>
                                  </p:sub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7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751ACD-5072-EB47-E947-137E82FF63E2}"/>
            </a:ext>
          </a:extLst>
        </p:cNvPr>
        <p:cNvGrpSpPr/>
        <p:nvPr/>
      </p:nvGrpSpPr>
      <p:grpSpPr>
        <a:xfrm>
          <a:off x="0" y="0"/>
          <a:ext cx="0" cy="0"/>
          <a:chOff x="0" y="0"/>
          <a:chExt cx="0" cy="0"/>
        </a:xfrm>
      </p:grpSpPr>
      <p:sp>
        <p:nvSpPr>
          <p:cNvPr id="666627" name="Line 3">
            <a:extLst>
              <a:ext uri="{FF2B5EF4-FFF2-40B4-BE49-F238E27FC236}">
                <a16:creationId xmlns:a16="http://schemas.microsoft.com/office/drawing/2014/main" id="{11854780-9453-90A9-B9AB-06FD1D40240A}"/>
              </a:ext>
            </a:extLst>
          </p:cNvPr>
          <p:cNvSpPr>
            <a:spLocks noChangeShapeType="1"/>
          </p:cNvSpPr>
          <p:nvPr/>
        </p:nvSpPr>
        <p:spPr bwMode="auto">
          <a:xfrm>
            <a:off x="4414764" y="1746938"/>
            <a:ext cx="0" cy="53657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32" name="Text Box 8">
            <a:extLst>
              <a:ext uri="{FF2B5EF4-FFF2-40B4-BE49-F238E27FC236}">
                <a16:creationId xmlns:a16="http://schemas.microsoft.com/office/drawing/2014/main" id="{9316E45A-4329-39F0-EA86-B27E34A4D5AD}"/>
              </a:ext>
            </a:extLst>
          </p:cNvPr>
          <p:cNvSpPr txBox="1">
            <a:spLocks noChangeArrowheads="1"/>
          </p:cNvSpPr>
          <p:nvPr/>
        </p:nvSpPr>
        <p:spPr bwMode="auto">
          <a:xfrm>
            <a:off x="4946576" y="1883463"/>
            <a:ext cx="2743200" cy="7620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highlight>
                  <a:srgbClr val="00FF00"/>
                </a:highlight>
              </a:rPr>
              <a:t>SPJ.PNO = P.PNO</a:t>
            </a:r>
            <a:endParaRPr kumimoji="0" lang="en-US" altLang="zh-CN" sz="2000" b="1" dirty="0">
              <a:solidFill>
                <a:srgbClr val="FF0000"/>
              </a:solidFill>
              <a:highlight>
                <a:srgbClr val="00FF00"/>
              </a:highlight>
            </a:endParaRPr>
          </a:p>
        </p:txBody>
      </p:sp>
      <p:sp>
        <p:nvSpPr>
          <p:cNvPr id="666641" name="Text Box 17">
            <a:extLst>
              <a:ext uri="{FF2B5EF4-FFF2-40B4-BE49-F238E27FC236}">
                <a16:creationId xmlns:a16="http://schemas.microsoft.com/office/drawing/2014/main" id="{D8A9B2E0-B801-8521-EE86-C90156E1FB7D}"/>
              </a:ext>
            </a:extLst>
          </p:cNvPr>
          <p:cNvSpPr txBox="1">
            <a:spLocks noChangeArrowheads="1"/>
          </p:cNvSpPr>
          <p:nvPr/>
        </p:nvSpPr>
        <p:spPr bwMode="auto">
          <a:xfrm>
            <a:off x="3986139" y="1197663"/>
            <a:ext cx="1531937" cy="403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dirty="0">
                <a:solidFill>
                  <a:schemeClr val="bg2"/>
                </a:solidFill>
              </a:rPr>
              <a:t> </a:t>
            </a:r>
            <a:r>
              <a:rPr kumimoji="0" lang="en-US" altLang="zh-CN" sz="2800" b="1" dirty="0" err="1">
                <a:solidFill>
                  <a:schemeClr val="bg2"/>
                </a:solidFill>
              </a:rPr>
              <a:t>σ</a:t>
            </a:r>
            <a:endParaRPr kumimoji="0" lang="en-US" altLang="zh-CN" sz="2800" b="1" dirty="0">
              <a:solidFill>
                <a:schemeClr val="bg2"/>
              </a:solidFill>
            </a:endParaRPr>
          </a:p>
        </p:txBody>
      </p:sp>
      <p:sp>
        <p:nvSpPr>
          <p:cNvPr id="666636" name="Text Box 12">
            <a:extLst>
              <a:ext uri="{FF2B5EF4-FFF2-40B4-BE49-F238E27FC236}">
                <a16:creationId xmlns:a16="http://schemas.microsoft.com/office/drawing/2014/main" id="{5FEF01E9-7850-E02D-2F8C-8F67A45970D8}"/>
              </a:ext>
            </a:extLst>
          </p:cNvPr>
          <p:cNvSpPr txBox="1">
            <a:spLocks noChangeArrowheads="1"/>
          </p:cNvSpPr>
          <p:nvPr/>
        </p:nvSpPr>
        <p:spPr bwMode="auto">
          <a:xfrm>
            <a:off x="2184326" y="4448863"/>
            <a:ext cx="1252538" cy="4048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a:t>
            </a:r>
          </a:p>
        </p:txBody>
      </p:sp>
      <p:sp>
        <p:nvSpPr>
          <p:cNvPr id="666643" name="Text Box 19">
            <a:extLst>
              <a:ext uri="{FF2B5EF4-FFF2-40B4-BE49-F238E27FC236}">
                <a16:creationId xmlns:a16="http://schemas.microsoft.com/office/drawing/2014/main" id="{697D2319-9CE3-B26C-B37A-593E262FF729}"/>
              </a:ext>
            </a:extLst>
          </p:cNvPr>
          <p:cNvSpPr txBox="1">
            <a:spLocks noChangeArrowheads="1"/>
          </p:cNvSpPr>
          <p:nvPr/>
        </p:nvSpPr>
        <p:spPr bwMode="auto">
          <a:xfrm>
            <a:off x="6569001" y="4425051"/>
            <a:ext cx="1044575" cy="403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dirty="0">
                <a:solidFill>
                  <a:schemeClr val="bg2"/>
                </a:solidFill>
              </a:rPr>
              <a:t>P</a:t>
            </a:r>
          </a:p>
        </p:txBody>
      </p:sp>
      <p:sp>
        <p:nvSpPr>
          <p:cNvPr id="666638" name="Text Box 14">
            <a:extLst>
              <a:ext uri="{FF2B5EF4-FFF2-40B4-BE49-F238E27FC236}">
                <a16:creationId xmlns:a16="http://schemas.microsoft.com/office/drawing/2014/main" id="{110805F4-AA10-03C5-81D6-1A446D2C5808}"/>
              </a:ext>
            </a:extLst>
          </p:cNvPr>
          <p:cNvSpPr txBox="1">
            <a:spLocks noChangeArrowheads="1"/>
          </p:cNvSpPr>
          <p:nvPr/>
        </p:nvSpPr>
        <p:spPr bwMode="auto">
          <a:xfrm>
            <a:off x="755576" y="5517251"/>
            <a:ext cx="1252538"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S</a:t>
            </a:r>
          </a:p>
        </p:txBody>
      </p:sp>
      <p:sp>
        <p:nvSpPr>
          <p:cNvPr id="666647" name="Line 23">
            <a:extLst>
              <a:ext uri="{FF2B5EF4-FFF2-40B4-BE49-F238E27FC236}">
                <a16:creationId xmlns:a16="http://schemas.microsoft.com/office/drawing/2014/main" id="{7201DCA3-E6E8-8D83-2E86-73D6674DBF0C}"/>
              </a:ext>
            </a:extLst>
          </p:cNvPr>
          <p:cNvSpPr>
            <a:spLocks noChangeShapeType="1"/>
          </p:cNvSpPr>
          <p:nvPr/>
        </p:nvSpPr>
        <p:spPr bwMode="auto">
          <a:xfrm flipH="1">
            <a:off x="1073076" y="4867963"/>
            <a:ext cx="1252538" cy="6731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48" name="Line 24">
            <a:extLst>
              <a:ext uri="{FF2B5EF4-FFF2-40B4-BE49-F238E27FC236}">
                <a16:creationId xmlns:a16="http://schemas.microsoft.com/office/drawing/2014/main" id="{D0B6890A-60C7-CB3F-5716-5E2526D26571}"/>
              </a:ext>
            </a:extLst>
          </p:cNvPr>
          <p:cNvSpPr>
            <a:spLocks noChangeShapeType="1"/>
          </p:cNvSpPr>
          <p:nvPr/>
        </p:nvSpPr>
        <p:spPr bwMode="auto">
          <a:xfrm>
            <a:off x="2741539" y="4860026"/>
            <a:ext cx="1463675"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29" name="Text Box 5">
            <a:extLst>
              <a:ext uri="{FF2B5EF4-FFF2-40B4-BE49-F238E27FC236}">
                <a16:creationId xmlns:a16="http://schemas.microsoft.com/office/drawing/2014/main" id="{FF997042-1727-1103-E53A-EE426DA94E32}"/>
              </a:ext>
            </a:extLst>
          </p:cNvPr>
          <p:cNvSpPr txBox="1">
            <a:spLocks noChangeArrowheads="1"/>
          </p:cNvSpPr>
          <p:nvPr/>
        </p:nvSpPr>
        <p:spPr bwMode="auto">
          <a:xfrm>
            <a:off x="4413176" y="6074463"/>
            <a:ext cx="2667000" cy="6096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highlight>
                  <a:srgbClr val="FFFF00"/>
                </a:highlight>
              </a:rPr>
              <a:t> JNO =‘J1’</a:t>
            </a:r>
            <a:endParaRPr kumimoji="0" lang="en-US" altLang="zh-CN" sz="2000" b="1" dirty="0">
              <a:solidFill>
                <a:srgbClr val="FF0000"/>
              </a:solidFill>
            </a:endParaRPr>
          </a:p>
        </p:txBody>
      </p:sp>
      <p:sp>
        <p:nvSpPr>
          <p:cNvPr id="666637" name="Text Box 13">
            <a:extLst>
              <a:ext uri="{FF2B5EF4-FFF2-40B4-BE49-F238E27FC236}">
                <a16:creationId xmlns:a16="http://schemas.microsoft.com/office/drawing/2014/main" id="{C9EE0449-B580-D712-CA84-8191C2C80738}"/>
              </a:ext>
            </a:extLst>
          </p:cNvPr>
          <p:cNvSpPr txBox="1">
            <a:spLocks noChangeArrowheads="1"/>
          </p:cNvSpPr>
          <p:nvPr/>
        </p:nvSpPr>
        <p:spPr bwMode="auto">
          <a:xfrm>
            <a:off x="3776588" y="6473580"/>
            <a:ext cx="1463675" cy="420966"/>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  SPJ</a:t>
            </a:r>
          </a:p>
        </p:txBody>
      </p:sp>
      <p:sp>
        <p:nvSpPr>
          <p:cNvPr id="666639" name="Text Box 15">
            <a:extLst>
              <a:ext uri="{FF2B5EF4-FFF2-40B4-BE49-F238E27FC236}">
                <a16:creationId xmlns:a16="http://schemas.microsoft.com/office/drawing/2014/main" id="{7D9A8D0C-0965-FB61-BD2B-C73B91D3159E}"/>
              </a:ext>
            </a:extLst>
          </p:cNvPr>
          <p:cNvSpPr txBox="1">
            <a:spLocks noChangeArrowheads="1"/>
          </p:cNvSpPr>
          <p:nvPr/>
        </p:nvSpPr>
        <p:spPr bwMode="auto">
          <a:xfrm>
            <a:off x="4054401" y="5364851"/>
            <a:ext cx="10445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σ</a:t>
            </a:r>
          </a:p>
        </p:txBody>
      </p:sp>
      <p:sp>
        <p:nvSpPr>
          <p:cNvPr id="666649" name="Line 25">
            <a:extLst>
              <a:ext uri="{FF2B5EF4-FFF2-40B4-BE49-F238E27FC236}">
                <a16:creationId xmlns:a16="http://schemas.microsoft.com/office/drawing/2014/main" id="{AD3A818F-8260-704F-5C57-88B7F96EBBED}"/>
              </a:ext>
            </a:extLst>
          </p:cNvPr>
          <p:cNvSpPr>
            <a:spLocks noChangeShapeType="1"/>
          </p:cNvSpPr>
          <p:nvPr/>
        </p:nvSpPr>
        <p:spPr bwMode="auto">
          <a:xfrm>
            <a:off x="4336976" y="5936351"/>
            <a:ext cx="246" cy="550946"/>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42" name="Text Box 18">
            <a:extLst>
              <a:ext uri="{FF2B5EF4-FFF2-40B4-BE49-F238E27FC236}">
                <a16:creationId xmlns:a16="http://schemas.microsoft.com/office/drawing/2014/main" id="{5E80B65D-D0A0-BFEC-6B27-C5F0643BC343}"/>
              </a:ext>
            </a:extLst>
          </p:cNvPr>
          <p:cNvSpPr txBox="1">
            <a:spLocks noChangeArrowheads="1"/>
          </p:cNvSpPr>
          <p:nvPr/>
        </p:nvSpPr>
        <p:spPr bwMode="auto">
          <a:xfrm>
            <a:off x="3986139" y="2454963"/>
            <a:ext cx="1044575" cy="4048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   ×</a:t>
            </a:r>
          </a:p>
        </p:txBody>
      </p:sp>
      <p:sp>
        <p:nvSpPr>
          <p:cNvPr id="666650" name="Line 26">
            <a:extLst>
              <a:ext uri="{FF2B5EF4-FFF2-40B4-BE49-F238E27FC236}">
                <a16:creationId xmlns:a16="http://schemas.microsoft.com/office/drawing/2014/main" id="{38325B6C-F820-A641-C291-F11E180BDAF8}"/>
              </a:ext>
            </a:extLst>
          </p:cNvPr>
          <p:cNvSpPr>
            <a:spLocks noChangeShapeType="1"/>
          </p:cNvSpPr>
          <p:nvPr/>
        </p:nvSpPr>
        <p:spPr bwMode="auto">
          <a:xfrm flipH="1">
            <a:off x="2732014" y="2707376"/>
            <a:ext cx="1252537"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51" name="Line 27">
            <a:extLst>
              <a:ext uri="{FF2B5EF4-FFF2-40B4-BE49-F238E27FC236}">
                <a16:creationId xmlns:a16="http://schemas.microsoft.com/office/drawing/2014/main" id="{5AF9D293-4326-120C-969B-34D5680BEB3B}"/>
              </a:ext>
            </a:extLst>
          </p:cNvPr>
          <p:cNvSpPr>
            <a:spLocks noChangeShapeType="1"/>
          </p:cNvSpPr>
          <p:nvPr/>
        </p:nvSpPr>
        <p:spPr bwMode="auto">
          <a:xfrm>
            <a:off x="4821164" y="2707376"/>
            <a:ext cx="146050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33" name="Text Box 9">
            <a:extLst>
              <a:ext uri="{FF2B5EF4-FFF2-40B4-BE49-F238E27FC236}">
                <a16:creationId xmlns:a16="http://schemas.microsoft.com/office/drawing/2014/main" id="{F647C209-B1C5-C449-B033-CBFDB54E4D40}"/>
              </a:ext>
            </a:extLst>
          </p:cNvPr>
          <p:cNvSpPr txBox="1">
            <a:spLocks noChangeArrowheads="1"/>
          </p:cNvSpPr>
          <p:nvPr/>
        </p:nvSpPr>
        <p:spPr bwMode="auto">
          <a:xfrm>
            <a:off x="6931227" y="3965469"/>
            <a:ext cx="2317750" cy="685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highlight>
                  <a:srgbClr val="FF00FF"/>
                </a:highlight>
              </a:rPr>
              <a:t>COLOR =‘</a:t>
            </a:r>
            <a:r>
              <a:rPr kumimoji="0" lang="zh-CN" altLang="en-US" sz="2000" b="1" dirty="0">
                <a:solidFill>
                  <a:schemeClr val="bg2"/>
                </a:solidFill>
                <a:highlight>
                  <a:srgbClr val="FF00FF"/>
                </a:highlight>
              </a:rPr>
              <a:t>红色’</a:t>
            </a:r>
            <a:endParaRPr kumimoji="0" lang="en-US" altLang="zh-CN" sz="2000" b="1" dirty="0">
              <a:solidFill>
                <a:srgbClr val="FF0000"/>
              </a:solidFill>
              <a:highlight>
                <a:srgbClr val="FF00FF"/>
              </a:highlight>
            </a:endParaRPr>
          </a:p>
        </p:txBody>
      </p:sp>
      <p:sp>
        <p:nvSpPr>
          <p:cNvPr id="666644" name="Text Box 20">
            <a:extLst>
              <a:ext uri="{FF2B5EF4-FFF2-40B4-BE49-F238E27FC236}">
                <a16:creationId xmlns:a16="http://schemas.microsoft.com/office/drawing/2014/main" id="{3CE1C154-DD13-3D5C-EC7C-FDB7CE021B37}"/>
              </a:ext>
            </a:extLst>
          </p:cNvPr>
          <p:cNvSpPr txBox="1">
            <a:spLocks noChangeArrowheads="1"/>
          </p:cNvSpPr>
          <p:nvPr/>
        </p:nvSpPr>
        <p:spPr bwMode="auto">
          <a:xfrm>
            <a:off x="6129264" y="3101076"/>
            <a:ext cx="10445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 σ</a:t>
            </a:r>
          </a:p>
        </p:txBody>
      </p:sp>
      <p:sp>
        <p:nvSpPr>
          <p:cNvPr id="666652" name="Line 28">
            <a:extLst>
              <a:ext uri="{FF2B5EF4-FFF2-40B4-BE49-F238E27FC236}">
                <a16:creationId xmlns:a16="http://schemas.microsoft.com/office/drawing/2014/main" id="{2E3ACFFE-E2E9-40FE-217D-C3A2349E2560}"/>
              </a:ext>
            </a:extLst>
          </p:cNvPr>
          <p:cNvSpPr>
            <a:spLocks noChangeShapeType="1"/>
          </p:cNvSpPr>
          <p:nvPr/>
        </p:nvSpPr>
        <p:spPr bwMode="auto">
          <a:xfrm>
            <a:off x="6699176" y="3783701"/>
            <a:ext cx="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34" name="Text Box 10">
            <a:extLst>
              <a:ext uri="{FF2B5EF4-FFF2-40B4-BE49-F238E27FC236}">
                <a16:creationId xmlns:a16="http://schemas.microsoft.com/office/drawing/2014/main" id="{68D39C7F-3A4D-23D7-3908-CCAA2531EDA6}"/>
              </a:ext>
            </a:extLst>
          </p:cNvPr>
          <p:cNvSpPr txBox="1">
            <a:spLocks noChangeArrowheads="1"/>
          </p:cNvSpPr>
          <p:nvPr/>
        </p:nvSpPr>
        <p:spPr bwMode="auto">
          <a:xfrm>
            <a:off x="2736776" y="3864663"/>
            <a:ext cx="2057400" cy="685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highlight>
                  <a:srgbClr val="00FFFF"/>
                </a:highlight>
              </a:rPr>
              <a:t>S.SNO=SPJ.SNO</a:t>
            </a:r>
            <a:endParaRPr kumimoji="0" lang="en-US" altLang="zh-CN" sz="2000" b="1" dirty="0">
              <a:solidFill>
                <a:srgbClr val="FF0000"/>
              </a:solidFill>
            </a:endParaRPr>
          </a:p>
        </p:txBody>
      </p:sp>
      <p:sp>
        <p:nvSpPr>
          <p:cNvPr id="666645" name="Text Box 21">
            <a:extLst>
              <a:ext uri="{FF2B5EF4-FFF2-40B4-BE49-F238E27FC236}">
                <a16:creationId xmlns:a16="http://schemas.microsoft.com/office/drawing/2014/main" id="{6B5647FA-392C-5553-271C-54CA704D8A8F}"/>
              </a:ext>
            </a:extLst>
          </p:cNvPr>
          <p:cNvSpPr txBox="1">
            <a:spLocks noChangeArrowheads="1"/>
          </p:cNvSpPr>
          <p:nvPr/>
        </p:nvSpPr>
        <p:spPr bwMode="auto">
          <a:xfrm>
            <a:off x="2117651" y="3180451"/>
            <a:ext cx="10445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 σ</a:t>
            </a:r>
          </a:p>
        </p:txBody>
      </p:sp>
      <p:sp>
        <p:nvSpPr>
          <p:cNvPr id="666653" name="Line 29">
            <a:extLst>
              <a:ext uri="{FF2B5EF4-FFF2-40B4-BE49-F238E27FC236}">
                <a16:creationId xmlns:a16="http://schemas.microsoft.com/office/drawing/2014/main" id="{CE1F9526-A6BF-1A65-1BAB-9BA93F42F802}"/>
              </a:ext>
            </a:extLst>
          </p:cNvPr>
          <p:cNvSpPr>
            <a:spLocks noChangeShapeType="1"/>
          </p:cNvSpPr>
          <p:nvPr/>
        </p:nvSpPr>
        <p:spPr bwMode="auto">
          <a:xfrm>
            <a:off x="2522464" y="3783701"/>
            <a:ext cx="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65" name="Text Box 41">
            <a:extLst>
              <a:ext uri="{FF2B5EF4-FFF2-40B4-BE49-F238E27FC236}">
                <a16:creationId xmlns:a16="http://schemas.microsoft.com/office/drawing/2014/main" id="{6891C02D-DB16-4BD6-5EA7-C6200735DDCA}"/>
              </a:ext>
            </a:extLst>
          </p:cNvPr>
          <p:cNvSpPr txBox="1">
            <a:spLocks noChangeArrowheads="1"/>
          </p:cNvSpPr>
          <p:nvPr/>
        </p:nvSpPr>
        <p:spPr bwMode="auto">
          <a:xfrm>
            <a:off x="4870376" y="892863"/>
            <a:ext cx="2336800" cy="38258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SNAME,SADDR</a:t>
            </a:r>
          </a:p>
        </p:txBody>
      </p:sp>
      <p:sp>
        <p:nvSpPr>
          <p:cNvPr id="666666" name="Text Box 42">
            <a:extLst>
              <a:ext uri="{FF2B5EF4-FFF2-40B4-BE49-F238E27FC236}">
                <a16:creationId xmlns:a16="http://schemas.microsoft.com/office/drawing/2014/main" id="{EB97F34D-9941-31B1-3F37-5CA2CC36E287}"/>
              </a:ext>
            </a:extLst>
          </p:cNvPr>
          <p:cNvSpPr txBox="1">
            <a:spLocks noChangeArrowheads="1"/>
          </p:cNvSpPr>
          <p:nvPr/>
        </p:nvSpPr>
        <p:spPr bwMode="auto">
          <a:xfrm>
            <a:off x="3940101" y="416613"/>
            <a:ext cx="1530350" cy="403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dirty="0">
                <a:solidFill>
                  <a:schemeClr val="bg2"/>
                </a:solidFill>
              </a:rPr>
              <a:t> π</a:t>
            </a:r>
          </a:p>
        </p:txBody>
      </p:sp>
      <p:sp>
        <p:nvSpPr>
          <p:cNvPr id="666667" name="Line 43">
            <a:extLst>
              <a:ext uri="{FF2B5EF4-FFF2-40B4-BE49-F238E27FC236}">
                <a16:creationId xmlns:a16="http://schemas.microsoft.com/office/drawing/2014/main" id="{A74FF310-88CB-F9F2-72B7-3455BB9A8481}"/>
              </a:ext>
            </a:extLst>
          </p:cNvPr>
          <p:cNvSpPr>
            <a:spLocks noChangeShapeType="1"/>
          </p:cNvSpPr>
          <p:nvPr/>
        </p:nvSpPr>
        <p:spPr bwMode="auto">
          <a:xfrm>
            <a:off x="4400476" y="816663"/>
            <a:ext cx="0" cy="5334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5" name="文本框 4">
            <a:extLst>
              <a:ext uri="{FF2B5EF4-FFF2-40B4-BE49-F238E27FC236}">
                <a16:creationId xmlns:a16="http://schemas.microsoft.com/office/drawing/2014/main" id="{AD90F34E-F864-1B84-5154-EDB0BBDE7169}"/>
              </a:ext>
            </a:extLst>
          </p:cNvPr>
          <p:cNvSpPr txBox="1"/>
          <p:nvPr/>
        </p:nvSpPr>
        <p:spPr>
          <a:xfrm>
            <a:off x="-139445" y="135550"/>
            <a:ext cx="9622766" cy="313932"/>
          </a:xfrm>
          <a:prstGeom prst="rect">
            <a:avLst/>
          </a:prstGeom>
          <a:noFill/>
        </p:spPr>
        <p:txBody>
          <a:bodyPr wrap="square">
            <a:spAutoFit/>
          </a:bodyPr>
          <a:lstStyle/>
          <a:p>
            <a:r>
              <a:rPr lang="en-US" altLang="zh-CN" sz="1800" b="1" dirty="0">
                <a:solidFill>
                  <a:srgbClr val="660033"/>
                </a:solidFill>
              </a:rPr>
              <a:t>π</a:t>
            </a:r>
            <a:r>
              <a:rPr lang="en-US" altLang="zh-CN" sz="1800" b="1" baseline="-10000" dirty="0">
                <a:solidFill>
                  <a:srgbClr val="660033"/>
                </a:solidFill>
              </a:rPr>
              <a:t>SNAME,SADDR</a:t>
            </a:r>
            <a:r>
              <a:rPr lang="en-US" altLang="zh-CN" sz="1800" b="1" dirty="0">
                <a:solidFill>
                  <a:srgbClr val="660033"/>
                </a:solidFill>
              </a:rPr>
              <a:t>(</a:t>
            </a:r>
            <a:r>
              <a:rPr lang="en-US" altLang="zh-CN" sz="1800" b="1" dirty="0" err="1">
                <a:solidFill>
                  <a:srgbClr val="660033"/>
                </a:solidFill>
              </a:rPr>
              <a:t>σ</a:t>
            </a:r>
            <a:r>
              <a:rPr lang="en-US" altLang="zh-CN" sz="1800" b="1" baseline="-10000" dirty="0" err="1">
                <a:solidFill>
                  <a:srgbClr val="660033"/>
                </a:solidFill>
              </a:rPr>
              <a:t>SPJ.PNO</a:t>
            </a:r>
            <a:r>
              <a:rPr lang="en-US" altLang="zh-CN" sz="1800" b="1" baseline="-10000" dirty="0">
                <a:solidFill>
                  <a:srgbClr val="660033"/>
                </a:solidFill>
              </a:rPr>
              <a:t>=P.PNO</a:t>
            </a:r>
            <a:r>
              <a:rPr lang="zh-CN" altLang="en-US" sz="1800" b="1" dirty="0">
                <a:solidFill>
                  <a:srgbClr val="660033"/>
                </a:solidFill>
              </a:rPr>
              <a:t>（</a:t>
            </a:r>
            <a:r>
              <a:rPr lang="zh-CN" altLang="en-US" sz="1800" b="1" u="sng" dirty="0">
                <a:solidFill>
                  <a:srgbClr val="660033"/>
                </a:solidFill>
              </a:rPr>
              <a:t>（</a:t>
            </a:r>
            <a:r>
              <a:rPr lang="en-US" altLang="zh-CN" sz="1800" b="1" u="sng" dirty="0">
                <a:solidFill>
                  <a:srgbClr val="660033"/>
                </a:solidFill>
              </a:rPr>
              <a:t> </a:t>
            </a:r>
            <a:r>
              <a:rPr lang="en-US" altLang="zh-CN" sz="1800" b="1" u="sng" dirty="0" err="1">
                <a:solidFill>
                  <a:srgbClr val="660033"/>
                </a:solidFill>
              </a:rPr>
              <a:t>σ</a:t>
            </a:r>
            <a:r>
              <a:rPr lang="en-US" altLang="zh-CN" sz="1800" b="1" u="sng" baseline="-10000" dirty="0" err="1">
                <a:solidFill>
                  <a:srgbClr val="660033"/>
                </a:solidFill>
              </a:rPr>
              <a:t>S.SNO</a:t>
            </a:r>
            <a:r>
              <a:rPr lang="en-US" altLang="zh-CN" sz="1800" b="1" u="sng" baseline="-10000" dirty="0">
                <a:solidFill>
                  <a:srgbClr val="660033"/>
                </a:solidFill>
              </a:rPr>
              <a:t>=SPJ.SNO</a:t>
            </a:r>
            <a:r>
              <a:rPr lang="zh-CN" altLang="en-US" sz="1800" b="1" u="sng" baseline="-10000" dirty="0">
                <a:solidFill>
                  <a:srgbClr val="660033"/>
                </a:solidFill>
              </a:rPr>
              <a:t> </a:t>
            </a:r>
            <a:r>
              <a:rPr kumimoji="0" lang="en-US" altLang="zh-CN" sz="1800" b="1" u="sng" dirty="0">
                <a:solidFill>
                  <a:srgbClr val="000000"/>
                </a:solidFill>
              </a:rPr>
              <a:t>(</a:t>
            </a:r>
            <a:r>
              <a:rPr kumimoji="0" lang="en-US" altLang="zh-CN" sz="1800" b="1" u="sng" dirty="0" err="1">
                <a:solidFill>
                  <a:srgbClr val="000000"/>
                </a:solidFill>
              </a:rPr>
              <a:t>σ</a:t>
            </a:r>
            <a:r>
              <a:rPr kumimoji="0" lang="en-US" altLang="zh-CN" sz="1800" b="1" u="sng" baseline="-25000" dirty="0" err="1">
                <a:solidFill>
                  <a:srgbClr val="000000"/>
                </a:solidFill>
              </a:rPr>
              <a:t>JNO</a:t>
            </a:r>
            <a:r>
              <a:rPr kumimoji="0" lang="en-US" altLang="zh-CN" sz="1800" b="1" u="sng" baseline="-25000" dirty="0">
                <a:solidFill>
                  <a:srgbClr val="000000"/>
                </a:solidFill>
              </a:rPr>
              <a:t> =‘J1’</a:t>
            </a:r>
            <a:r>
              <a:rPr kumimoji="0" lang="en-US" altLang="zh-CN" sz="1800" b="1" u="sng" dirty="0">
                <a:solidFill>
                  <a:schemeClr val="bg2"/>
                </a:solidFill>
              </a:rPr>
              <a:t>(SPJ)</a:t>
            </a:r>
            <a:r>
              <a:rPr kumimoji="0" lang="en-US" altLang="zh-CN" sz="1800" b="1" u="sng" dirty="0">
                <a:solidFill>
                  <a:schemeClr val="bg2"/>
                </a:solidFill>
                <a:latin typeface="Times New Roman" pitchFamily="18" charset="0"/>
              </a:rPr>
              <a:t>×S</a:t>
            </a:r>
            <a:r>
              <a:rPr kumimoji="0" lang="zh-CN" altLang="en-US" sz="1800" b="1" u="sng" dirty="0">
                <a:solidFill>
                  <a:schemeClr val="bg2"/>
                </a:solidFill>
                <a:latin typeface="Times New Roman" pitchFamily="18" charset="0"/>
              </a:rPr>
              <a:t>）</a:t>
            </a:r>
            <a:r>
              <a:rPr kumimoji="0" lang="en-US" altLang="zh-CN" sz="1800" b="1" dirty="0">
                <a:solidFill>
                  <a:schemeClr val="bg2"/>
                </a:solidFill>
                <a:latin typeface="Times New Roman" pitchFamily="18" charset="0"/>
              </a:rPr>
              <a:t>×</a:t>
            </a:r>
            <a:r>
              <a:rPr kumimoji="0" lang="en-US" altLang="zh-CN" sz="1800" b="1" dirty="0" err="1">
                <a:solidFill>
                  <a:schemeClr val="bg2"/>
                </a:solidFill>
              </a:rPr>
              <a:t>σ</a:t>
            </a:r>
            <a:r>
              <a:rPr kumimoji="0" lang="en-US" altLang="zh-CN" sz="1800" b="1" baseline="-25000" dirty="0" err="1">
                <a:solidFill>
                  <a:srgbClr val="000000"/>
                </a:solidFill>
              </a:rPr>
              <a:t>COLOR</a:t>
            </a:r>
            <a:r>
              <a:rPr kumimoji="0" lang="en-US" altLang="zh-CN" sz="1800" b="1" baseline="-25000" dirty="0">
                <a:solidFill>
                  <a:srgbClr val="000000"/>
                </a:solidFill>
              </a:rPr>
              <a:t> =‘</a:t>
            </a:r>
            <a:r>
              <a:rPr kumimoji="0" lang="zh-CN" altLang="en-US" sz="1800" b="1" baseline="-25000" dirty="0">
                <a:solidFill>
                  <a:srgbClr val="000000"/>
                </a:solidFill>
              </a:rPr>
              <a:t>红色’</a:t>
            </a:r>
            <a:r>
              <a:rPr kumimoji="0" lang="en-US" altLang="zh-CN" sz="1800" b="1" dirty="0">
                <a:solidFill>
                  <a:srgbClr val="000000"/>
                </a:solidFill>
              </a:rPr>
              <a:t>(</a:t>
            </a:r>
            <a:r>
              <a:rPr lang="en-US" altLang="zh-CN" sz="1800" b="1" dirty="0">
                <a:solidFill>
                  <a:srgbClr val="660033"/>
                </a:solidFill>
              </a:rPr>
              <a:t>P</a:t>
            </a:r>
            <a:r>
              <a:rPr kumimoji="0" lang="en-US" altLang="zh-CN" sz="1800" b="1" dirty="0">
                <a:solidFill>
                  <a:srgbClr val="000000"/>
                </a:solidFill>
              </a:rPr>
              <a:t>)</a:t>
            </a:r>
            <a:r>
              <a:rPr kumimoji="0" lang="zh-CN" altLang="en-US" sz="1800" b="1" dirty="0">
                <a:solidFill>
                  <a:srgbClr val="000000"/>
                </a:solidFill>
              </a:rPr>
              <a:t>） </a:t>
            </a:r>
            <a:r>
              <a:rPr kumimoji="0" lang="en-US" altLang="zh-CN" sz="1800" b="1" dirty="0">
                <a:solidFill>
                  <a:srgbClr val="000000"/>
                </a:solidFill>
              </a:rPr>
              <a:t>)</a:t>
            </a:r>
            <a:r>
              <a:rPr kumimoji="0" lang="zh-CN" altLang="en-US" sz="1800" b="1" dirty="0">
                <a:solidFill>
                  <a:srgbClr val="000000"/>
                </a:solidFill>
              </a:rPr>
              <a:t>）</a:t>
            </a:r>
            <a:endParaRPr lang="zh-CN" altLang="en-US" dirty="0"/>
          </a:p>
        </p:txBody>
      </p:sp>
    </p:spTree>
    <p:extLst>
      <p:ext uri="{BB962C8B-B14F-4D97-AF65-F5344CB8AC3E}">
        <p14:creationId xmlns:p14="http://schemas.microsoft.com/office/powerpoint/2010/main" val="191363972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6666"/>
                                        </p:tgtEl>
                                        <p:attrNameLst>
                                          <p:attrName>style.visibility</p:attrName>
                                        </p:attrNameLst>
                                      </p:cBhvr>
                                      <p:to>
                                        <p:strVal val="visible"/>
                                      </p:to>
                                    </p:set>
                                    <p:animEffect transition="in" filter="blinds(horizontal)">
                                      <p:cBhvr>
                                        <p:cTn id="7" dur="500"/>
                                        <p:tgtEl>
                                          <p:spTgt spid="66666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66667"/>
                                        </p:tgtEl>
                                        <p:attrNameLst>
                                          <p:attrName>style.visibility</p:attrName>
                                        </p:attrNameLst>
                                      </p:cBhvr>
                                      <p:to>
                                        <p:strVal val="visible"/>
                                      </p:to>
                                    </p:set>
                                    <p:animEffect transition="in" filter="blinds(horizontal)">
                                      <p:cBhvr>
                                        <p:cTn id="10" dur="500"/>
                                        <p:tgtEl>
                                          <p:spTgt spid="66666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66665"/>
                                        </p:tgtEl>
                                        <p:attrNameLst>
                                          <p:attrName>style.visibility</p:attrName>
                                        </p:attrNameLst>
                                      </p:cBhvr>
                                      <p:to>
                                        <p:strVal val="visible"/>
                                      </p:to>
                                    </p:set>
                                    <p:animEffect transition="in" filter="blinds(horizontal)">
                                      <p:cBhvr>
                                        <p:cTn id="13" dur="500"/>
                                        <p:tgtEl>
                                          <p:spTgt spid="66666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66641"/>
                                        </p:tgtEl>
                                        <p:attrNameLst>
                                          <p:attrName>style.visibility</p:attrName>
                                        </p:attrNameLst>
                                      </p:cBhvr>
                                      <p:to>
                                        <p:strVal val="visible"/>
                                      </p:to>
                                    </p:set>
                                    <p:animEffect transition="in" filter="blinds(horizontal)">
                                      <p:cBhvr>
                                        <p:cTn id="16" dur="500"/>
                                        <p:tgtEl>
                                          <p:spTgt spid="66664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66627"/>
                                        </p:tgtEl>
                                        <p:attrNameLst>
                                          <p:attrName>style.visibility</p:attrName>
                                        </p:attrNameLst>
                                      </p:cBhvr>
                                      <p:to>
                                        <p:strVal val="visible"/>
                                      </p:to>
                                    </p:set>
                                    <p:animEffect transition="in" filter="blinds(horizontal)">
                                      <p:cBhvr>
                                        <p:cTn id="19" dur="500"/>
                                        <p:tgtEl>
                                          <p:spTgt spid="666627"/>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66632"/>
                                        </p:tgtEl>
                                        <p:attrNameLst>
                                          <p:attrName>style.visibility</p:attrName>
                                        </p:attrNameLst>
                                      </p:cBhvr>
                                      <p:to>
                                        <p:strVal val="visible"/>
                                      </p:to>
                                    </p:set>
                                    <p:animEffect transition="in" filter="blinds(horizontal)">
                                      <p:cBhvr>
                                        <p:cTn id="22" dur="500"/>
                                        <p:tgtEl>
                                          <p:spTgt spid="666632"/>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66642"/>
                                        </p:tgtEl>
                                        <p:attrNameLst>
                                          <p:attrName>style.visibility</p:attrName>
                                        </p:attrNameLst>
                                      </p:cBhvr>
                                      <p:to>
                                        <p:strVal val="visible"/>
                                      </p:to>
                                    </p:set>
                                    <p:animEffect transition="in" filter="blinds(horizontal)">
                                      <p:cBhvr>
                                        <p:cTn id="25" dur="500"/>
                                        <p:tgtEl>
                                          <p:spTgt spid="66664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666645"/>
                                        </p:tgtEl>
                                        <p:attrNameLst>
                                          <p:attrName>style.visibility</p:attrName>
                                        </p:attrNameLst>
                                      </p:cBhvr>
                                      <p:to>
                                        <p:strVal val="visible"/>
                                      </p:to>
                                    </p:set>
                                    <p:animEffect transition="in" filter="blinds(horizontal)">
                                      <p:cBhvr>
                                        <p:cTn id="30" dur="500"/>
                                        <p:tgtEl>
                                          <p:spTgt spid="666645"/>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666650"/>
                                        </p:tgtEl>
                                        <p:attrNameLst>
                                          <p:attrName>style.visibility</p:attrName>
                                        </p:attrNameLst>
                                      </p:cBhvr>
                                      <p:to>
                                        <p:strVal val="visible"/>
                                      </p:to>
                                    </p:set>
                                    <p:animEffect transition="in" filter="blinds(horizontal)">
                                      <p:cBhvr>
                                        <p:cTn id="33" dur="500"/>
                                        <p:tgtEl>
                                          <p:spTgt spid="666650"/>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666651"/>
                                        </p:tgtEl>
                                        <p:attrNameLst>
                                          <p:attrName>style.visibility</p:attrName>
                                        </p:attrNameLst>
                                      </p:cBhvr>
                                      <p:to>
                                        <p:strVal val="visible"/>
                                      </p:to>
                                    </p:set>
                                    <p:animEffect transition="in" filter="blinds(horizontal)">
                                      <p:cBhvr>
                                        <p:cTn id="36" dur="500"/>
                                        <p:tgtEl>
                                          <p:spTgt spid="666651"/>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666644"/>
                                        </p:tgtEl>
                                        <p:attrNameLst>
                                          <p:attrName>style.visibility</p:attrName>
                                        </p:attrNameLst>
                                      </p:cBhvr>
                                      <p:to>
                                        <p:strVal val="visible"/>
                                      </p:to>
                                    </p:set>
                                    <p:animEffect transition="in" filter="blinds(horizontal)">
                                      <p:cBhvr>
                                        <p:cTn id="39" dur="500"/>
                                        <p:tgtEl>
                                          <p:spTgt spid="666644"/>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666634"/>
                                        </p:tgtEl>
                                        <p:attrNameLst>
                                          <p:attrName>style.visibility</p:attrName>
                                        </p:attrNameLst>
                                      </p:cBhvr>
                                      <p:to>
                                        <p:strVal val="visible"/>
                                      </p:to>
                                    </p:set>
                                    <p:animEffect transition="in" filter="blinds(horizontal)">
                                      <p:cBhvr>
                                        <p:cTn id="42" dur="500"/>
                                        <p:tgtEl>
                                          <p:spTgt spid="666634"/>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666653"/>
                                        </p:tgtEl>
                                        <p:attrNameLst>
                                          <p:attrName>style.visibility</p:attrName>
                                        </p:attrNameLst>
                                      </p:cBhvr>
                                      <p:to>
                                        <p:strVal val="visible"/>
                                      </p:to>
                                    </p:set>
                                    <p:animEffect transition="in" filter="blinds(horizontal)">
                                      <p:cBhvr>
                                        <p:cTn id="45" dur="500"/>
                                        <p:tgtEl>
                                          <p:spTgt spid="666653"/>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666652"/>
                                        </p:tgtEl>
                                        <p:attrNameLst>
                                          <p:attrName>style.visibility</p:attrName>
                                        </p:attrNameLst>
                                      </p:cBhvr>
                                      <p:to>
                                        <p:strVal val="visible"/>
                                      </p:to>
                                    </p:set>
                                    <p:animEffect transition="in" filter="blinds(horizontal)">
                                      <p:cBhvr>
                                        <p:cTn id="48" dur="500"/>
                                        <p:tgtEl>
                                          <p:spTgt spid="666652"/>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666633"/>
                                        </p:tgtEl>
                                        <p:attrNameLst>
                                          <p:attrName>style.visibility</p:attrName>
                                        </p:attrNameLst>
                                      </p:cBhvr>
                                      <p:to>
                                        <p:strVal val="visible"/>
                                      </p:to>
                                    </p:set>
                                    <p:animEffect transition="in" filter="blinds(horizontal)">
                                      <p:cBhvr>
                                        <p:cTn id="51" dur="500"/>
                                        <p:tgtEl>
                                          <p:spTgt spid="666633"/>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666643"/>
                                        </p:tgtEl>
                                        <p:attrNameLst>
                                          <p:attrName>style.visibility</p:attrName>
                                        </p:attrNameLst>
                                      </p:cBhvr>
                                      <p:to>
                                        <p:strVal val="visible"/>
                                      </p:to>
                                    </p:set>
                                    <p:animEffect transition="in" filter="blinds(horizontal)">
                                      <p:cBhvr>
                                        <p:cTn id="54" dur="500"/>
                                        <p:tgtEl>
                                          <p:spTgt spid="66664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666636"/>
                                        </p:tgtEl>
                                        <p:attrNameLst>
                                          <p:attrName>style.visibility</p:attrName>
                                        </p:attrNameLst>
                                      </p:cBhvr>
                                      <p:to>
                                        <p:strVal val="visible"/>
                                      </p:to>
                                    </p:set>
                                    <p:animEffect transition="in" filter="blinds(horizontal)">
                                      <p:cBhvr>
                                        <p:cTn id="59" dur="500"/>
                                        <p:tgtEl>
                                          <p:spTgt spid="666636"/>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666647"/>
                                        </p:tgtEl>
                                        <p:attrNameLst>
                                          <p:attrName>style.visibility</p:attrName>
                                        </p:attrNameLst>
                                      </p:cBhvr>
                                      <p:to>
                                        <p:strVal val="visible"/>
                                      </p:to>
                                    </p:set>
                                    <p:animEffect transition="in" filter="blinds(horizontal)">
                                      <p:cBhvr>
                                        <p:cTn id="62" dur="500"/>
                                        <p:tgtEl>
                                          <p:spTgt spid="666647"/>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666648"/>
                                        </p:tgtEl>
                                        <p:attrNameLst>
                                          <p:attrName>style.visibility</p:attrName>
                                        </p:attrNameLst>
                                      </p:cBhvr>
                                      <p:to>
                                        <p:strVal val="visible"/>
                                      </p:to>
                                    </p:set>
                                    <p:animEffect transition="in" filter="blinds(horizontal)">
                                      <p:cBhvr>
                                        <p:cTn id="65" dur="500"/>
                                        <p:tgtEl>
                                          <p:spTgt spid="666648"/>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666638"/>
                                        </p:tgtEl>
                                        <p:attrNameLst>
                                          <p:attrName>style.visibility</p:attrName>
                                        </p:attrNameLst>
                                      </p:cBhvr>
                                      <p:to>
                                        <p:strVal val="visible"/>
                                      </p:to>
                                    </p:set>
                                    <p:animEffect transition="in" filter="blinds(horizontal)">
                                      <p:cBhvr>
                                        <p:cTn id="68" dur="500"/>
                                        <p:tgtEl>
                                          <p:spTgt spid="666638"/>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666639"/>
                                        </p:tgtEl>
                                        <p:attrNameLst>
                                          <p:attrName>style.visibility</p:attrName>
                                        </p:attrNameLst>
                                      </p:cBhvr>
                                      <p:to>
                                        <p:strVal val="visible"/>
                                      </p:to>
                                    </p:set>
                                    <p:animEffect transition="in" filter="blinds(horizontal)">
                                      <p:cBhvr>
                                        <p:cTn id="71" dur="500"/>
                                        <p:tgtEl>
                                          <p:spTgt spid="666639"/>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666649"/>
                                        </p:tgtEl>
                                        <p:attrNameLst>
                                          <p:attrName>style.visibility</p:attrName>
                                        </p:attrNameLst>
                                      </p:cBhvr>
                                      <p:to>
                                        <p:strVal val="visible"/>
                                      </p:to>
                                    </p:set>
                                    <p:animEffect transition="in" filter="blinds(horizontal)">
                                      <p:cBhvr>
                                        <p:cTn id="74" dur="500"/>
                                        <p:tgtEl>
                                          <p:spTgt spid="666649"/>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666629"/>
                                        </p:tgtEl>
                                        <p:attrNameLst>
                                          <p:attrName>style.visibility</p:attrName>
                                        </p:attrNameLst>
                                      </p:cBhvr>
                                      <p:to>
                                        <p:strVal val="visible"/>
                                      </p:to>
                                    </p:set>
                                    <p:animEffect transition="in" filter="blinds(horizontal)">
                                      <p:cBhvr>
                                        <p:cTn id="77" dur="500"/>
                                        <p:tgtEl>
                                          <p:spTgt spid="666629"/>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666637"/>
                                        </p:tgtEl>
                                        <p:attrNameLst>
                                          <p:attrName>style.visibility</p:attrName>
                                        </p:attrNameLst>
                                      </p:cBhvr>
                                      <p:to>
                                        <p:strVal val="visible"/>
                                      </p:to>
                                    </p:set>
                                    <p:animEffect transition="in" filter="blinds(horizontal)">
                                      <p:cBhvr>
                                        <p:cTn id="80" dur="500"/>
                                        <p:tgtEl>
                                          <p:spTgt spid="666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27" grpId="0" animBg="1"/>
      <p:bldP spid="666632" grpId="0"/>
      <p:bldP spid="666641" grpId="0"/>
      <p:bldP spid="666636" grpId="0"/>
      <p:bldP spid="666643" grpId="0"/>
      <p:bldP spid="666638" grpId="0"/>
      <p:bldP spid="666647" grpId="0" animBg="1"/>
      <p:bldP spid="666648" grpId="0" animBg="1"/>
      <p:bldP spid="666629" grpId="0"/>
      <p:bldP spid="666637" grpId="0"/>
      <p:bldP spid="666639" grpId="0"/>
      <p:bldP spid="666649" grpId="0" animBg="1"/>
      <p:bldP spid="666642" grpId="0"/>
      <p:bldP spid="666650" grpId="0" animBg="1"/>
      <p:bldP spid="666651" grpId="0" animBg="1"/>
      <p:bldP spid="666633" grpId="0"/>
      <p:bldP spid="666644" grpId="0"/>
      <p:bldP spid="666652" grpId="0" animBg="1"/>
      <p:bldP spid="666634" grpId="0"/>
      <p:bldP spid="666645" grpId="0"/>
      <p:bldP spid="666653" grpId="0" animBg="1"/>
      <p:bldP spid="666665" grpId="0"/>
      <p:bldP spid="666666" grpId="0"/>
      <p:bldP spid="666667" grpId="0" animBg="1"/>
    </p:bld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48A052-F8F8-77D2-3012-9483C676D7F1}"/>
            </a:ext>
          </a:extLst>
        </p:cNvPr>
        <p:cNvGrpSpPr/>
        <p:nvPr/>
      </p:nvGrpSpPr>
      <p:grpSpPr>
        <a:xfrm>
          <a:off x="0" y="0"/>
          <a:ext cx="0" cy="0"/>
          <a:chOff x="0" y="0"/>
          <a:chExt cx="0" cy="0"/>
        </a:xfrm>
      </p:grpSpPr>
      <p:sp>
        <p:nvSpPr>
          <p:cNvPr id="661506" name="AutoShape 2">
            <a:extLst>
              <a:ext uri="{FF2B5EF4-FFF2-40B4-BE49-F238E27FC236}">
                <a16:creationId xmlns:a16="http://schemas.microsoft.com/office/drawing/2014/main" id="{E68847E9-EE89-BEFB-DCC9-ECB4EBA9E405}"/>
              </a:ext>
            </a:extLst>
          </p:cNvPr>
          <p:cNvSpPr>
            <a:spLocks noChangeArrowheads="1"/>
          </p:cNvSpPr>
          <p:nvPr/>
        </p:nvSpPr>
        <p:spPr bwMode="auto">
          <a:xfrm>
            <a:off x="5541490" y="1744487"/>
            <a:ext cx="3595714" cy="710602"/>
          </a:xfrm>
          <a:prstGeom prst="wedgeRectCallout">
            <a:avLst>
              <a:gd name="adj1" fmla="val -65843"/>
              <a:gd name="adj2" fmla="val -23092"/>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defRPr/>
            </a:pPr>
            <a:r>
              <a:rPr kumimoji="0" lang="en-US" altLang="zh-CN" sz="2800" b="1" dirty="0">
                <a:solidFill>
                  <a:schemeClr val="bg1"/>
                </a:solidFill>
              </a:rPr>
              <a:t>π</a:t>
            </a:r>
            <a:r>
              <a:rPr kumimoji="0" lang="en-US" altLang="zh-CN" sz="2800" b="1" i="0" u="none" strike="noStrike" kern="1200" cap="none" spc="0" normalizeH="0" baseline="-25000" noProof="0" dirty="0">
                <a:ln>
                  <a:noFill/>
                </a:ln>
                <a:solidFill>
                  <a:schemeClr val="bg1"/>
                </a:solidFill>
                <a:effectLst/>
                <a:uLnTx/>
                <a:uFillTx/>
                <a:latin typeface="宋体" pitchFamily="2" charset="-122"/>
                <a:ea typeface="宋体" pitchFamily="2" charset="-122"/>
                <a:cs typeface="+mn-cs"/>
              </a:rPr>
              <a:t>SNAME</a:t>
            </a:r>
            <a:r>
              <a:rPr kumimoji="0" lang="en-US" altLang="zh-CN" sz="2800" b="1" baseline="-25000" dirty="0">
                <a:solidFill>
                  <a:schemeClr val="bg1"/>
                </a:solidFill>
              </a:rPr>
              <a:t>,SADDR,SPJ.PNO,P.PNO</a:t>
            </a:r>
          </a:p>
          <a:p>
            <a:pPr eaLnBrk="0" hangingPunct="0">
              <a:lnSpc>
                <a:spcPct val="100000"/>
              </a:lnSpc>
              <a:spcBef>
                <a:spcPct val="0"/>
              </a:spcBef>
              <a:defRPr/>
            </a:pPr>
            <a:endParaRPr kumimoji="0" lang="en-US" altLang="zh-CN" sz="3600" b="1" baseline="-10000" dirty="0">
              <a:solidFill>
                <a:schemeClr val="bg1"/>
              </a:solidFill>
            </a:endParaRPr>
          </a:p>
          <a:p>
            <a:pPr algn="ctr" eaLnBrk="0" hangingPunct="0">
              <a:lnSpc>
                <a:spcPct val="100000"/>
              </a:lnSpc>
              <a:spcBef>
                <a:spcPct val="0"/>
              </a:spcBef>
            </a:pPr>
            <a:endParaRPr kumimoji="0" lang="en-US" altLang="zh-CN" sz="3600" b="1" dirty="0">
              <a:solidFill>
                <a:schemeClr val="bg1"/>
              </a:solidFill>
              <a:latin typeface="Times New Roman" pitchFamily="18" charset="0"/>
            </a:endParaRPr>
          </a:p>
        </p:txBody>
      </p:sp>
      <p:sp>
        <p:nvSpPr>
          <p:cNvPr id="661508" name="Text Box 4">
            <a:extLst>
              <a:ext uri="{FF2B5EF4-FFF2-40B4-BE49-F238E27FC236}">
                <a16:creationId xmlns:a16="http://schemas.microsoft.com/office/drawing/2014/main" id="{FFF82DCB-CA55-5143-71FD-D783EF6FDA20}"/>
              </a:ext>
            </a:extLst>
          </p:cNvPr>
          <p:cNvSpPr txBox="1">
            <a:spLocks noChangeArrowheads="1"/>
          </p:cNvSpPr>
          <p:nvPr/>
        </p:nvSpPr>
        <p:spPr bwMode="auto">
          <a:xfrm>
            <a:off x="4898982" y="5791200"/>
            <a:ext cx="2667000" cy="6096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JNO =‘J1’</a:t>
            </a:r>
          </a:p>
        </p:txBody>
      </p:sp>
      <p:sp>
        <p:nvSpPr>
          <p:cNvPr id="661510" name="Text Box 6">
            <a:extLst>
              <a:ext uri="{FF2B5EF4-FFF2-40B4-BE49-F238E27FC236}">
                <a16:creationId xmlns:a16="http://schemas.microsoft.com/office/drawing/2014/main" id="{85FDC0F4-1CFA-FF19-02B0-AE5567FEF4F3}"/>
              </a:ext>
            </a:extLst>
          </p:cNvPr>
          <p:cNvSpPr txBox="1">
            <a:spLocks noChangeArrowheads="1"/>
          </p:cNvSpPr>
          <p:nvPr/>
        </p:nvSpPr>
        <p:spPr bwMode="auto">
          <a:xfrm>
            <a:off x="5356182" y="609600"/>
            <a:ext cx="2336800" cy="38258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SNAME,SADDR</a:t>
            </a:r>
          </a:p>
        </p:txBody>
      </p:sp>
      <p:sp>
        <p:nvSpPr>
          <p:cNvPr id="661511" name="Text Box 7">
            <a:extLst>
              <a:ext uri="{FF2B5EF4-FFF2-40B4-BE49-F238E27FC236}">
                <a16:creationId xmlns:a16="http://schemas.microsoft.com/office/drawing/2014/main" id="{897818F8-4AB0-E392-7850-A6870A7E3B65}"/>
              </a:ext>
            </a:extLst>
          </p:cNvPr>
          <p:cNvSpPr txBox="1">
            <a:spLocks noChangeArrowheads="1"/>
          </p:cNvSpPr>
          <p:nvPr/>
        </p:nvSpPr>
        <p:spPr bwMode="auto">
          <a:xfrm>
            <a:off x="5322416" y="1341438"/>
            <a:ext cx="2743200" cy="7620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SPJ.PNO = P.PNO</a:t>
            </a:r>
            <a:endParaRPr kumimoji="0" lang="en-US" altLang="zh-CN" sz="2000" b="1" dirty="0">
              <a:solidFill>
                <a:srgbClr val="FF0000"/>
              </a:solidFill>
            </a:endParaRPr>
          </a:p>
        </p:txBody>
      </p:sp>
      <p:sp>
        <p:nvSpPr>
          <p:cNvPr id="661512" name="Text Box 8">
            <a:extLst>
              <a:ext uri="{FF2B5EF4-FFF2-40B4-BE49-F238E27FC236}">
                <a16:creationId xmlns:a16="http://schemas.microsoft.com/office/drawing/2014/main" id="{2A57EA07-4E99-7594-5C4D-39CB8C3DB349}"/>
              </a:ext>
            </a:extLst>
          </p:cNvPr>
          <p:cNvSpPr txBox="1">
            <a:spLocks noChangeArrowheads="1"/>
          </p:cNvSpPr>
          <p:nvPr/>
        </p:nvSpPr>
        <p:spPr bwMode="auto">
          <a:xfrm>
            <a:off x="7222802" y="3530299"/>
            <a:ext cx="2317750" cy="685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COLOR =‘</a:t>
            </a:r>
            <a:r>
              <a:rPr kumimoji="0" lang="zh-CN" altLang="en-US" sz="2000" b="1" dirty="0">
                <a:solidFill>
                  <a:schemeClr val="bg2"/>
                </a:solidFill>
              </a:rPr>
              <a:t>红色’</a:t>
            </a:r>
          </a:p>
        </p:txBody>
      </p:sp>
      <p:sp>
        <p:nvSpPr>
          <p:cNvPr id="661513" name="Text Box 9">
            <a:extLst>
              <a:ext uri="{FF2B5EF4-FFF2-40B4-BE49-F238E27FC236}">
                <a16:creationId xmlns:a16="http://schemas.microsoft.com/office/drawing/2014/main" id="{80B8701D-C028-DF29-A572-BB373DAEF2AA}"/>
              </a:ext>
            </a:extLst>
          </p:cNvPr>
          <p:cNvSpPr txBox="1">
            <a:spLocks noChangeArrowheads="1"/>
          </p:cNvSpPr>
          <p:nvPr/>
        </p:nvSpPr>
        <p:spPr bwMode="auto">
          <a:xfrm>
            <a:off x="3222582" y="3581400"/>
            <a:ext cx="2057400" cy="685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S.SNO=SPJ.SNO</a:t>
            </a:r>
          </a:p>
        </p:txBody>
      </p:sp>
      <p:sp>
        <p:nvSpPr>
          <p:cNvPr id="661515" name="Text Box 11">
            <a:extLst>
              <a:ext uri="{FF2B5EF4-FFF2-40B4-BE49-F238E27FC236}">
                <a16:creationId xmlns:a16="http://schemas.microsoft.com/office/drawing/2014/main" id="{24917044-8133-CDE8-C99E-CE08D967B861}"/>
              </a:ext>
            </a:extLst>
          </p:cNvPr>
          <p:cNvSpPr txBox="1">
            <a:spLocks noChangeArrowheads="1"/>
          </p:cNvSpPr>
          <p:nvPr/>
        </p:nvSpPr>
        <p:spPr bwMode="auto">
          <a:xfrm>
            <a:off x="2670132" y="4165600"/>
            <a:ext cx="1252538" cy="4048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a:t>
            </a:r>
          </a:p>
        </p:txBody>
      </p:sp>
      <p:sp>
        <p:nvSpPr>
          <p:cNvPr id="661516" name="Text Box 12">
            <a:extLst>
              <a:ext uri="{FF2B5EF4-FFF2-40B4-BE49-F238E27FC236}">
                <a16:creationId xmlns:a16="http://schemas.microsoft.com/office/drawing/2014/main" id="{FB224665-F8E6-FFF9-27FF-5C0EABF9C5BE}"/>
              </a:ext>
            </a:extLst>
          </p:cNvPr>
          <p:cNvSpPr txBox="1">
            <a:spLocks noChangeArrowheads="1"/>
          </p:cNvSpPr>
          <p:nvPr/>
        </p:nvSpPr>
        <p:spPr bwMode="auto">
          <a:xfrm>
            <a:off x="4425907" y="6453188"/>
            <a:ext cx="14636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  SPUJ</a:t>
            </a:r>
          </a:p>
        </p:txBody>
      </p:sp>
      <p:sp>
        <p:nvSpPr>
          <p:cNvPr id="661517" name="Text Box 13">
            <a:extLst>
              <a:ext uri="{FF2B5EF4-FFF2-40B4-BE49-F238E27FC236}">
                <a16:creationId xmlns:a16="http://schemas.microsoft.com/office/drawing/2014/main" id="{6F068741-C142-23A9-285B-F1B119EFE746}"/>
              </a:ext>
            </a:extLst>
          </p:cNvPr>
          <p:cNvSpPr txBox="1">
            <a:spLocks noChangeArrowheads="1"/>
          </p:cNvSpPr>
          <p:nvPr/>
        </p:nvSpPr>
        <p:spPr bwMode="auto">
          <a:xfrm>
            <a:off x="1241382" y="5233988"/>
            <a:ext cx="1252538"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S</a:t>
            </a:r>
          </a:p>
        </p:txBody>
      </p:sp>
      <p:sp>
        <p:nvSpPr>
          <p:cNvPr id="661518" name="Text Box 14">
            <a:extLst>
              <a:ext uri="{FF2B5EF4-FFF2-40B4-BE49-F238E27FC236}">
                <a16:creationId xmlns:a16="http://schemas.microsoft.com/office/drawing/2014/main" id="{D21D88E4-5DB7-C959-A553-4727BACF18E4}"/>
              </a:ext>
            </a:extLst>
          </p:cNvPr>
          <p:cNvSpPr txBox="1">
            <a:spLocks noChangeArrowheads="1"/>
          </p:cNvSpPr>
          <p:nvPr/>
        </p:nvSpPr>
        <p:spPr bwMode="auto">
          <a:xfrm>
            <a:off x="4540207" y="5081588"/>
            <a:ext cx="10445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σ</a:t>
            </a:r>
          </a:p>
        </p:txBody>
      </p:sp>
      <p:sp>
        <p:nvSpPr>
          <p:cNvPr id="661519" name="Text Box 15">
            <a:extLst>
              <a:ext uri="{FF2B5EF4-FFF2-40B4-BE49-F238E27FC236}">
                <a16:creationId xmlns:a16="http://schemas.microsoft.com/office/drawing/2014/main" id="{C26A9125-BF1D-563B-FB18-0C9605F5651E}"/>
              </a:ext>
            </a:extLst>
          </p:cNvPr>
          <p:cNvSpPr txBox="1">
            <a:spLocks noChangeArrowheads="1"/>
          </p:cNvSpPr>
          <p:nvPr/>
        </p:nvSpPr>
        <p:spPr bwMode="auto">
          <a:xfrm>
            <a:off x="4471945" y="0"/>
            <a:ext cx="1530350" cy="403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 π</a:t>
            </a:r>
          </a:p>
        </p:txBody>
      </p:sp>
      <p:sp>
        <p:nvSpPr>
          <p:cNvPr id="661520" name="Text Box 16">
            <a:extLst>
              <a:ext uri="{FF2B5EF4-FFF2-40B4-BE49-F238E27FC236}">
                <a16:creationId xmlns:a16="http://schemas.microsoft.com/office/drawing/2014/main" id="{A302D98E-DB6C-0C3E-9A6E-D1431EB7063C}"/>
              </a:ext>
            </a:extLst>
          </p:cNvPr>
          <p:cNvSpPr txBox="1">
            <a:spLocks noChangeArrowheads="1"/>
          </p:cNvSpPr>
          <p:nvPr/>
        </p:nvSpPr>
        <p:spPr bwMode="auto">
          <a:xfrm>
            <a:off x="4471945" y="914400"/>
            <a:ext cx="1531937" cy="403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 σ</a:t>
            </a:r>
          </a:p>
        </p:txBody>
      </p:sp>
      <p:sp>
        <p:nvSpPr>
          <p:cNvPr id="661521" name="Text Box 17">
            <a:extLst>
              <a:ext uri="{FF2B5EF4-FFF2-40B4-BE49-F238E27FC236}">
                <a16:creationId xmlns:a16="http://schemas.microsoft.com/office/drawing/2014/main" id="{1FF25B7D-F7E9-F7A1-6CB5-2D70D5299D8B}"/>
              </a:ext>
            </a:extLst>
          </p:cNvPr>
          <p:cNvSpPr txBox="1">
            <a:spLocks noChangeArrowheads="1"/>
          </p:cNvSpPr>
          <p:nvPr/>
        </p:nvSpPr>
        <p:spPr bwMode="auto">
          <a:xfrm>
            <a:off x="4471945" y="2171700"/>
            <a:ext cx="1044575" cy="4048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   ×</a:t>
            </a:r>
          </a:p>
        </p:txBody>
      </p:sp>
      <p:sp>
        <p:nvSpPr>
          <p:cNvPr id="661522" name="Text Box 18">
            <a:extLst>
              <a:ext uri="{FF2B5EF4-FFF2-40B4-BE49-F238E27FC236}">
                <a16:creationId xmlns:a16="http://schemas.microsoft.com/office/drawing/2014/main" id="{471471B0-4B07-7245-B229-993A498EF293}"/>
              </a:ext>
            </a:extLst>
          </p:cNvPr>
          <p:cNvSpPr txBox="1">
            <a:spLocks noChangeArrowheads="1"/>
          </p:cNvSpPr>
          <p:nvPr/>
        </p:nvSpPr>
        <p:spPr bwMode="auto">
          <a:xfrm>
            <a:off x="7054807" y="4141788"/>
            <a:ext cx="1044575" cy="403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P</a:t>
            </a:r>
          </a:p>
        </p:txBody>
      </p:sp>
      <p:sp>
        <p:nvSpPr>
          <p:cNvPr id="661523" name="Text Box 19">
            <a:extLst>
              <a:ext uri="{FF2B5EF4-FFF2-40B4-BE49-F238E27FC236}">
                <a16:creationId xmlns:a16="http://schemas.microsoft.com/office/drawing/2014/main" id="{77ACF809-557C-B221-0240-D9FAC788A0BB}"/>
              </a:ext>
            </a:extLst>
          </p:cNvPr>
          <p:cNvSpPr txBox="1">
            <a:spLocks noChangeArrowheads="1"/>
          </p:cNvSpPr>
          <p:nvPr/>
        </p:nvSpPr>
        <p:spPr bwMode="auto">
          <a:xfrm>
            <a:off x="6615070" y="2817813"/>
            <a:ext cx="10445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 σ</a:t>
            </a:r>
          </a:p>
        </p:txBody>
      </p:sp>
      <p:sp>
        <p:nvSpPr>
          <p:cNvPr id="661524" name="Text Box 20">
            <a:extLst>
              <a:ext uri="{FF2B5EF4-FFF2-40B4-BE49-F238E27FC236}">
                <a16:creationId xmlns:a16="http://schemas.microsoft.com/office/drawing/2014/main" id="{4E7FB1D2-0634-45F0-2D28-92A76A348F35}"/>
              </a:ext>
            </a:extLst>
          </p:cNvPr>
          <p:cNvSpPr txBox="1">
            <a:spLocks noChangeArrowheads="1"/>
          </p:cNvSpPr>
          <p:nvPr/>
        </p:nvSpPr>
        <p:spPr bwMode="auto">
          <a:xfrm>
            <a:off x="2603457" y="2897188"/>
            <a:ext cx="10445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dirty="0">
                <a:solidFill>
                  <a:schemeClr val="bg2"/>
                </a:solidFill>
              </a:rPr>
              <a:t> </a:t>
            </a:r>
            <a:r>
              <a:rPr kumimoji="0" lang="en-US" altLang="zh-CN" sz="2800" b="1" dirty="0" err="1">
                <a:solidFill>
                  <a:schemeClr val="bg2"/>
                </a:solidFill>
              </a:rPr>
              <a:t>σ</a:t>
            </a:r>
            <a:endParaRPr kumimoji="0" lang="en-US" altLang="zh-CN" sz="2800" b="1" dirty="0">
              <a:solidFill>
                <a:schemeClr val="bg2"/>
              </a:solidFill>
            </a:endParaRPr>
          </a:p>
        </p:txBody>
      </p:sp>
      <p:sp>
        <p:nvSpPr>
          <p:cNvPr id="661526" name="Line 22">
            <a:extLst>
              <a:ext uri="{FF2B5EF4-FFF2-40B4-BE49-F238E27FC236}">
                <a16:creationId xmlns:a16="http://schemas.microsoft.com/office/drawing/2014/main" id="{812B3127-CDB5-46DD-E80B-ADADACF8582E}"/>
              </a:ext>
            </a:extLst>
          </p:cNvPr>
          <p:cNvSpPr>
            <a:spLocks noChangeShapeType="1"/>
          </p:cNvSpPr>
          <p:nvPr/>
        </p:nvSpPr>
        <p:spPr bwMode="auto">
          <a:xfrm flipH="1">
            <a:off x="1558882" y="4584700"/>
            <a:ext cx="1252538" cy="6731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27" name="Line 23">
            <a:extLst>
              <a:ext uri="{FF2B5EF4-FFF2-40B4-BE49-F238E27FC236}">
                <a16:creationId xmlns:a16="http://schemas.microsoft.com/office/drawing/2014/main" id="{B5B7E588-48F4-6E65-7236-CABD93E3410C}"/>
              </a:ext>
            </a:extLst>
          </p:cNvPr>
          <p:cNvSpPr>
            <a:spLocks noChangeShapeType="1"/>
          </p:cNvSpPr>
          <p:nvPr/>
        </p:nvSpPr>
        <p:spPr bwMode="auto">
          <a:xfrm>
            <a:off x="3227345" y="4576763"/>
            <a:ext cx="1463675"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28" name="Line 24">
            <a:extLst>
              <a:ext uri="{FF2B5EF4-FFF2-40B4-BE49-F238E27FC236}">
                <a16:creationId xmlns:a16="http://schemas.microsoft.com/office/drawing/2014/main" id="{8238898C-05B2-43E9-9801-8797095B882A}"/>
              </a:ext>
            </a:extLst>
          </p:cNvPr>
          <p:cNvSpPr>
            <a:spLocks noChangeShapeType="1"/>
          </p:cNvSpPr>
          <p:nvPr/>
        </p:nvSpPr>
        <p:spPr bwMode="auto">
          <a:xfrm>
            <a:off x="4822782" y="5653088"/>
            <a:ext cx="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29" name="Line 25">
            <a:extLst>
              <a:ext uri="{FF2B5EF4-FFF2-40B4-BE49-F238E27FC236}">
                <a16:creationId xmlns:a16="http://schemas.microsoft.com/office/drawing/2014/main" id="{7A181246-7AB6-0400-C6D9-4F6679597C11}"/>
              </a:ext>
            </a:extLst>
          </p:cNvPr>
          <p:cNvSpPr>
            <a:spLocks noChangeShapeType="1"/>
          </p:cNvSpPr>
          <p:nvPr/>
        </p:nvSpPr>
        <p:spPr bwMode="auto">
          <a:xfrm flipH="1">
            <a:off x="3217820" y="2424113"/>
            <a:ext cx="1252537"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30" name="Line 26">
            <a:extLst>
              <a:ext uri="{FF2B5EF4-FFF2-40B4-BE49-F238E27FC236}">
                <a16:creationId xmlns:a16="http://schemas.microsoft.com/office/drawing/2014/main" id="{0E7BEEB6-901E-3895-661B-AA7A51804C64}"/>
              </a:ext>
            </a:extLst>
          </p:cNvPr>
          <p:cNvSpPr>
            <a:spLocks noChangeShapeType="1"/>
          </p:cNvSpPr>
          <p:nvPr/>
        </p:nvSpPr>
        <p:spPr bwMode="auto">
          <a:xfrm>
            <a:off x="5306970" y="2424113"/>
            <a:ext cx="146050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31" name="Line 27">
            <a:extLst>
              <a:ext uri="{FF2B5EF4-FFF2-40B4-BE49-F238E27FC236}">
                <a16:creationId xmlns:a16="http://schemas.microsoft.com/office/drawing/2014/main" id="{E15C36DC-1974-2C73-524A-70EEAB6BFA15}"/>
              </a:ext>
            </a:extLst>
          </p:cNvPr>
          <p:cNvSpPr>
            <a:spLocks noChangeShapeType="1"/>
          </p:cNvSpPr>
          <p:nvPr/>
        </p:nvSpPr>
        <p:spPr bwMode="auto">
          <a:xfrm>
            <a:off x="7184982" y="3500438"/>
            <a:ext cx="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32" name="Line 28">
            <a:extLst>
              <a:ext uri="{FF2B5EF4-FFF2-40B4-BE49-F238E27FC236}">
                <a16:creationId xmlns:a16="http://schemas.microsoft.com/office/drawing/2014/main" id="{3CD52B82-00F7-8C29-534D-19FA7F549097}"/>
              </a:ext>
            </a:extLst>
          </p:cNvPr>
          <p:cNvSpPr>
            <a:spLocks noChangeShapeType="1"/>
          </p:cNvSpPr>
          <p:nvPr/>
        </p:nvSpPr>
        <p:spPr bwMode="auto">
          <a:xfrm>
            <a:off x="3008270" y="3500438"/>
            <a:ext cx="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33" name="Line 29">
            <a:extLst>
              <a:ext uri="{FF2B5EF4-FFF2-40B4-BE49-F238E27FC236}">
                <a16:creationId xmlns:a16="http://schemas.microsoft.com/office/drawing/2014/main" id="{B46B819C-F583-C454-FC70-8655B3312F4A}"/>
              </a:ext>
            </a:extLst>
          </p:cNvPr>
          <p:cNvSpPr>
            <a:spLocks noChangeShapeType="1"/>
          </p:cNvSpPr>
          <p:nvPr/>
        </p:nvSpPr>
        <p:spPr bwMode="auto">
          <a:xfrm>
            <a:off x="4886282" y="533400"/>
            <a:ext cx="0" cy="5334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34" name="Line 30">
            <a:extLst>
              <a:ext uri="{FF2B5EF4-FFF2-40B4-BE49-F238E27FC236}">
                <a16:creationId xmlns:a16="http://schemas.microsoft.com/office/drawing/2014/main" id="{9D2C32A2-8320-D193-015C-994ABCD84110}"/>
              </a:ext>
            </a:extLst>
          </p:cNvPr>
          <p:cNvSpPr>
            <a:spLocks noChangeShapeType="1"/>
          </p:cNvSpPr>
          <p:nvPr/>
        </p:nvSpPr>
        <p:spPr bwMode="auto">
          <a:xfrm>
            <a:off x="4900570" y="1463675"/>
            <a:ext cx="0" cy="53657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 name="矩形 26">
            <a:extLst>
              <a:ext uri="{FF2B5EF4-FFF2-40B4-BE49-F238E27FC236}">
                <a16:creationId xmlns:a16="http://schemas.microsoft.com/office/drawing/2014/main" id="{7048ACD6-A559-FE88-CCDF-14136026D751}"/>
              </a:ext>
            </a:extLst>
          </p:cNvPr>
          <p:cNvSpPr/>
          <p:nvPr/>
        </p:nvSpPr>
        <p:spPr bwMode="auto">
          <a:xfrm>
            <a:off x="178769" y="203528"/>
            <a:ext cx="3841055" cy="584775"/>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r>
              <a:rPr kumimoji="1" lang="zh-CN" altLang="en-US" sz="2000" b="0" i="0" u="none" strike="noStrike" cap="none" normalizeH="0" baseline="0" dirty="0">
                <a:ln>
                  <a:noFill/>
                </a:ln>
                <a:solidFill>
                  <a:schemeClr val="bg1"/>
                </a:solidFill>
                <a:effectLst/>
              </a:rPr>
              <a:t>根据规则</a:t>
            </a:r>
            <a:r>
              <a:rPr kumimoji="1" lang="en-US" altLang="zh-CN" sz="2000" b="0" i="0" u="none" strike="noStrike" cap="none" normalizeH="0" baseline="0" dirty="0">
                <a:ln>
                  <a:noFill/>
                </a:ln>
                <a:solidFill>
                  <a:schemeClr val="bg1"/>
                </a:solidFill>
                <a:effectLst/>
              </a:rPr>
              <a:t>5</a:t>
            </a:r>
            <a:r>
              <a:rPr kumimoji="1" lang="zh-CN" altLang="en-US" sz="2000" b="0" i="0" u="none" strike="noStrike" cap="none" normalizeH="0" baseline="0" dirty="0">
                <a:ln>
                  <a:noFill/>
                </a:ln>
                <a:solidFill>
                  <a:schemeClr val="bg1"/>
                </a:solidFill>
                <a:effectLst/>
              </a:rPr>
              <a:t>，把投影和选择进行交换</a:t>
            </a:r>
            <a:r>
              <a:rPr lang="zh-CN" altLang="en-US" sz="2000" dirty="0">
                <a:solidFill>
                  <a:schemeClr val="bg1"/>
                </a:solidFill>
              </a:rPr>
              <a:t>，</a:t>
            </a:r>
            <a:r>
              <a:rPr kumimoji="1" lang="zh-CN" altLang="en-US" sz="2000" b="0" i="0" u="none" strike="noStrike" cap="none" normalizeH="0" baseline="0" dirty="0">
                <a:ln>
                  <a:noFill/>
                </a:ln>
                <a:solidFill>
                  <a:schemeClr val="bg2"/>
                </a:solidFill>
                <a:effectLst/>
              </a:rPr>
              <a:t>在</a:t>
            </a:r>
            <a:r>
              <a:rPr kumimoji="0" lang="en-US" altLang="zh-CN" sz="2000" b="1" dirty="0" err="1">
                <a:solidFill>
                  <a:schemeClr val="bg1"/>
                </a:solidFill>
              </a:rPr>
              <a:t>σ</a:t>
            </a:r>
            <a:r>
              <a:rPr kumimoji="0" lang="zh-CN" altLang="en-US" sz="2000" b="1" dirty="0">
                <a:solidFill>
                  <a:schemeClr val="bg2"/>
                </a:solidFill>
              </a:rPr>
              <a:t>前增加一个</a:t>
            </a:r>
            <a:r>
              <a:rPr kumimoji="0" lang="en-US" altLang="zh-CN" sz="2000" b="1" dirty="0">
                <a:solidFill>
                  <a:schemeClr val="bg1"/>
                </a:solidFill>
              </a:rPr>
              <a:t>π</a:t>
            </a:r>
            <a:r>
              <a:rPr kumimoji="0" lang="zh-CN" altLang="en-US" sz="2000" b="1" dirty="0">
                <a:solidFill>
                  <a:schemeClr val="bg2"/>
                </a:solidFill>
              </a:rPr>
              <a:t>操作</a:t>
            </a:r>
            <a:endParaRPr kumimoji="1" lang="zh-CN" altLang="en-US" sz="2000" b="0" i="0" u="none" strike="noStrike" cap="none" normalizeH="0" baseline="0" dirty="0">
              <a:ln>
                <a:noFill/>
              </a:ln>
              <a:solidFill>
                <a:schemeClr val="bg2"/>
              </a:solidFill>
              <a:effectLst/>
            </a:endParaRPr>
          </a:p>
        </p:txBody>
      </p:sp>
      <p:sp>
        <p:nvSpPr>
          <p:cNvPr id="3" name="文本框 2">
            <a:extLst>
              <a:ext uri="{FF2B5EF4-FFF2-40B4-BE49-F238E27FC236}">
                <a16:creationId xmlns:a16="http://schemas.microsoft.com/office/drawing/2014/main" id="{20A00FAA-085E-5DDC-5A42-D03C09BAE446}"/>
              </a:ext>
            </a:extLst>
          </p:cNvPr>
          <p:cNvSpPr txBox="1"/>
          <p:nvPr/>
        </p:nvSpPr>
        <p:spPr>
          <a:xfrm>
            <a:off x="120618" y="751348"/>
            <a:ext cx="3687439" cy="646331"/>
          </a:xfrm>
          <a:prstGeom prst="rect">
            <a:avLst/>
          </a:prstGeom>
          <a:noFill/>
        </p:spPr>
        <p:txBody>
          <a:bodyPr wrap="square">
            <a:spAutoFit/>
          </a:bodyPr>
          <a:lstStyle/>
          <a:p>
            <a:pPr>
              <a:lnSpc>
                <a:spcPct val="100000"/>
              </a:lnSpc>
              <a:spcBef>
                <a:spcPts val="0"/>
              </a:spcBef>
            </a:pPr>
            <a:r>
              <a:rPr lang="zh-CN" altLang="en-US" sz="1800" dirty="0">
                <a:solidFill>
                  <a:schemeClr val="bg1"/>
                </a:solidFill>
              </a:rPr>
              <a:t>规则</a:t>
            </a:r>
            <a:r>
              <a:rPr lang="en-US" altLang="zh-CN" sz="1800" dirty="0">
                <a:solidFill>
                  <a:schemeClr val="bg1"/>
                </a:solidFill>
              </a:rPr>
              <a:t>5</a:t>
            </a:r>
            <a:r>
              <a:rPr lang="zh-CN" altLang="en-US" sz="1800" dirty="0">
                <a:solidFill>
                  <a:schemeClr val="bg1"/>
                </a:solidFill>
              </a:rPr>
              <a:t>：</a:t>
            </a:r>
            <a:r>
              <a:rPr lang="zh-CN" altLang="en-US" sz="1800" b="1" dirty="0">
                <a:solidFill>
                  <a:srgbClr val="660033"/>
                </a:solidFill>
              </a:rPr>
              <a:t>选择和投影操作的交换 </a:t>
            </a:r>
            <a:r>
              <a:rPr lang="en-US" altLang="zh-CN" sz="1800" b="1" dirty="0">
                <a:solidFill>
                  <a:schemeClr val="bg2"/>
                </a:solidFill>
              </a:rPr>
              <a:t>π</a:t>
            </a:r>
            <a:r>
              <a:rPr lang="en-US" altLang="zh-CN" sz="1800" b="1" baseline="-25000" dirty="0">
                <a:solidFill>
                  <a:schemeClr val="bg2"/>
                </a:solidFill>
              </a:rPr>
              <a:t>L</a:t>
            </a:r>
            <a:r>
              <a:rPr lang="zh-CN" altLang="en-US" sz="1800" b="1" dirty="0">
                <a:solidFill>
                  <a:schemeClr val="bg2"/>
                </a:solidFill>
              </a:rPr>
              <a:t>（</a:t>
            </a:r>
            <a:r>
              <a:rPr lang="en-US" altLang="zh-CN" sz="1800" b="1" dirty="0" err="1">
                <a:solidFill>
                  <a:schemeClr val="bg2"/>
                </a:solidFill>
              </a:rPr>
              <a:t>σ</a:t>
            </a:r>
            <a:r>
              <a:rPr lang="en-US" altLang="zh-CN" sz="1800" b="1" baseline="-25000" dirty="0" err="1">
                <a:solidFill>
                  <a:schemeClr val="bg2"/>
                </a:solidFill>
              </a:rPr>
              <a:t>F</a:t>
            </a:r>
            <a:r>
              <a:rPr lang="zh-CN" altLang="en-US" sz="1800" b="1" dirty="0">
                <a:solidFill>
                  <a:schemeClr val="bg2"/>
                </a:solidFill>
              </a:rPr>
              <a:t>（</a:t>
            </a:r>
            <a:r>
              <a:rPr lang="en-US" altLang="zh-CN" sz="1800" b="1" dirty="0">
                <a:solidFill>
                  <a:schemeClr val="bg2"/>
                </a:solidFill>
              </a:rPr>
              <a:t>E</a:t>
            </a:r>
            <a:r>
              <a:rPr lang="zh-CN" altLang="en-US" sz="1800" b="1" dirty="0">
                <a:solidFill>
                  <a:schemeClr val="bg2"/>
                </a:solidFill>
              </a:rPr>
              <a:t>））≡</a:t>
            </a:r>
            <a:r>
              <a:rPr lang="en-US" altLang="zh-CN" sz="1800" b="1" dirty="0" err="1">
                <a:solidFill>
                  <a:schemeClr val="bg2"/>
                </a:solidFill>
              </a:rPr>
              <a:t>σ</a:t>
            </a:r>
            <a:r>
              <a:rPr lang="en-US" altLang="zh-CN" sz="1800" b="1" baseline="-25000" dirty="0" err="1">
                <a:solidFill>
                  <a:schemeClr val="bg2"/>
                </a:solidFill>
              </a:rPr>
              <a:t>F</a:t>
            </a:r>
            <a:r>
              <a:rPr lang="zh-CN" altLang="en-US" sz="1800" b="1" dirty="0">
                <a:solidFill>
                  <a:schemeClr val="bg2"/>
                </a:solidFill>
              </a:rPr>
              <a:t>（</a:t>
            </a:r>
            <a:r>
              <a:rPr lang="en-US" altLang="zh-CN" sz="1800" b="1" dirty="0">
                <a:solidFill>
                  <a:schemeClr val="bg2"/>
                </a:solidFill>
              </a:rPr>
              <a:t>π</a:t>
            </a:r>
            <a:r>
              <a:rPr lang="en-US" altLang="zh-CN" sz="1800" b="1" baseline="-25000" dirty="0">
                <a:solidFill>
                  <a:schemeClr val="bg2"/>
                </a:solidFill>
              </a:rPr>
              <a:t>L</a:t>
            </a:r>
            <a:r>
              <a:rPr lang="zh-CN" altLang="en-US" sz="1800" b="1" dirty="0">
                <a:solidFill>
                  <a:schemeClr val="bg2"/>
                </a:solidFill>
              </a:rPr>
              <a:t>（</a:t>
            </a:r>
            <a:r>
              <a:rPr lang="en-US" altLang="zh-CN" sz="1800" b="1" dirty="0">
                <a:solidFill>
                  <a:schemeClr val="bg2"/>
                </a:solidFill>
              </a:rPr>
              <a:t>E</a:t>
            </a:r>
            <a:r>
              <a:rPr lang="zh-CN" altLang="en-US" sz="1800" b="1" dirty="0">
                <a:solidFill>
                  <a:schemeClr val="bg2"/>
                </a:solidFill>
              </a:rPr>
              <a:t>））</a:t>
            </a:r>
          </a:p>
        </p:txBody>
      </p:sp>
      <p:sp>
        <p:nvSpPr>
          <p:cNvPr id="5" name="文本框 4">
            <a:extLst>
              <a:ext uri="{FF2B5EF4-FFF2-40B4-BE49-F238E27FC236}">
                <a16:creationId xmlns:a16="http://schemas.microsoft.com/office/drawing/2014/main" id="{488DEC61-9C89-7403-2B6A-E4714568B74B}"/>
              </a:ext>
            </a:extLst>
          </p:cNvPr>
          <p:cNvSpPr txBox="1"/>
          <p:nvPr/>
        </p:nvSpPr>
        <p:spPr>
          <a:xfrm>
            <a:off x="142385" y="1317625"/>
            <a:ext cx="4117266" cy="1689373"/>
          </a:xfrm>
          <a:prstGeom prst="rect">
            <a:avLst/>
          </a:prstGeom>
          <a:noFill/>
        </p:spPr>
        <p:txBody>
          <a:bodyPr wrap="square">
            <a:spAutoFit/>
          </a:bodyPr>
          <a:lstStyle/>
          <a:p>
            <a:pPr algn="l">
              <a:lnSpc>
                <a:spcPct val="150000"/>
              </a:lnSpc>
              <a:spcBef>
                <a:spcPts val="0"/>
              </a:spcBef>
            </a:pPr>
            <a:r>
              <a:rPr lang="zh-CN" altLang="en-US" sz="1800" b="1" dirty="0">
                <a:solidFill>
                  <a:schemeClr val="tx1">
                    <a:lumMod val="50000"/>
                  </a:schemeClr>
                </a:solidFill>
              </a:rPr>
              <a:t>要求条件</a:t>
            </a:r>
            <a:r>
              <a:rPr lang="en-US" altLang="zh-CN" sz="1800" b="1" dirty="0">
                <a:solidFill>
                  <a:schemeClr val="tx1">
                    <a:lumMod val="50000"/>
                  </a:schemeClr>
                </a:solidFill>
              </a:rPr>
              <a:t>F</a:t>
            </a:r>
            <a:r>
              <a:rPr lang="zh-CN" altLang="en-US" sz="1800" b="1" dirty="0">
                <a:solidFill>
                  <a:schemeClr val="tx1">
                    <a:lumMod val="50000"/>
                  </a:schemeClr>
                </a:solidFill>
              </a:rPr>
              <a:t>只涉及到</a:t>
            </a:r>
            <a:r>
              <a:rPr lang="en-US" altLang="zh-CN" sz="1800" b="1" dirty="0">
                <a:solidFill>
                  <a:schemeClr val="tx1">
                    <a:lumMod val="50000"/>
                  </a:schemeClr>
                </a:solidFill>
              </a:rPr>
              <a:t>L</a:t>
            </a:r>
            <a:r>
              <a:rPr lang="zh-CN" altLang="en-US" sz="1800" b="1" dirty="0">
                <a:solidFill>
                  <a:schemeClr val="tx1">
                    <a:lumMod val="50000"/>
                  </a:schemeClr>
                </a:solidFill>
              </a:rPr>
              <a:t>中的属性</a:t>
            </a:r>
            <a:r>
              <a:rPr lang="en-US" altLang="zh-CN" sz="1800" b="1" dirty="0">
                <a:solidFill>
                  <a:schemeClr val="tx1">
                    <a:lumMod val="50000"/>
                  </a:schemeClr>
                </a:solidFill>
              </a:rPr>
              <a:t>,</a:t>
            </a:r>
            <a:r>
              <a:rPr lang="zh-CN" altLang="en-US" sz="1800" b="1" dirty="0">
                <a:solidFill>
                  <a:schemeClr val="tx1">
                    <a:lumMod val="50000"/>
                  </a:schemeClr>
                </a:solidFill>
              </a:rPr>
              <a:t>如果</a:t>
            </a:r>
            <a:r>
              <a:rPr lang="en-US" altLang="zh-CN" sz="1800" b="1" dirty="0">
                <a:solidFill>
                  <a:schemeClr val="tx1">
                    <a:lumMod val="50000"/>
                  </a:schemeClr>
                </a:solidFill>
              </a:rPr>
              <a:t>F</a:t>
            </a:r>
            <a:r>
              <a:rPr lang="zh-CN" altLang="en-US" sz="1800" b="1" dirty="0">
                <a:solidFill>
                  <a:schemeClr val="tx1">
                    <a:lumMod val="50000"/>
                  </a:schemeClr>
                </a:solidFill>
              </a:rPr>
              <a:t>还涉及到不在</a:t>
            </a:r>
            <a:r>
              <a:rPr lang="en-US" altLang="zh-CN" sz="1800" b="1" dirty="0">
                <a:solidFill>
                  <a:schemeClr val="tx1">
                    <a:lumMod val="50000"/>
                  </a:schemeClr>
                </a:solidFill>
              </a:rPr>
              <a:t>L</a:t>
            </a:r>
            <a:r>
              <a:rPr lang="zh-CN" altLang="en-US" sz="1800" b="1" dirty="0">
                <a:solidFill>
                  <a:schemeClr val="tx1">
                    <a:lumMod val="50000"/>
                  </a:schemeClr>
                </a:solidFill>
              </a:rPr>
              <a:t>中的属性集</a:t>
            </a:r>
            <a:r>
              <a:rPr lang="en-US" altLang="zh-CN" sz="1800" b="1" dirty="0">
                <a:solidFill>
                  <a:schemeClr val="tx1">
                    <a:lumMod val="50000"/>
                  </a:schemeClr>
                </a:solidFill>
              </a:rPr>
              <a:t>L1</a:t>
            </a:r>
            <a:r>
              <a:rPr lang="zh-CN" altLang="en-US" sz="1800" b="1" dirty="0">
                <a:solidFill>
                  <a:schemeClr val="tx1">
                    <a:lumMod val="50000"/>
                  </a:schemeClr>
                </a:solidFill>
              </a:rPr>
              <a:t>：      </a:t>
            </a:r>
          </a:p>
          <a:p>
            <a:pPr>
              <a:lnSpc>
                <a:spcPct val="150000"/>
              </a:lnSpc>
              <a:spcBef>
                <a:spcPts val="0"/>
              </a:spcBef>
            </a:pPr>
            <a:r>
              <a:rPr lang="en-US" altLang="zh-CN" sz="1800" b="1" dirty="0">
                <a:solidFill>
                  <a:srgbClr val="FF0000"/>
                </a:solidFill>
              </a:rPr>
              <a:t>π</a:t>
            </a:r>
            <a:r>
              <a:rPr lang="en-US" altLang="zh-CN" sz="1800" b="1" baseline="-25000" dirty="0">
                <a:solidFill>
                  <a:srgbClr val="FF0000"/>
                </a:solidFill>
              </a:rPr>
              <a:t>L</a:t>
            </a:r>
            <a:r>
              <a:rPr lang="zh-CN" altLang="en-US" sz="1800" b="1" dirty="0">
                <a:solidFill>
                  <a:srgbClr val="FF0000"/>
                </a:solidFill>
              </a:rPr>
              <a:t>（</a:t>
            </a:r>
            <a:r>
              <a:rPr lang="en-US" altLang="zh-CN" sz="1800" b="1" dirty="0" err="1">
                <a:solidFill>
                  <a:srgbClr val="FF0000"/>
                </a:solidFill>
              </a:rPr>
              <a:t>σ</a:t>
            </a:r>
            <a:r>
              <a:rPr lang="en-US" altLang="zh-CN" sz="1800" b="1" baseline="-25000" dirty="0" err="1">
                <a:solidFill>
                  <a:srgbClr val="FF0000"/>
                </a:solidFill>
              </a:rPr>
              <a:t>F</a:t>
            </a:r>
            <a:r>
              <a:rPr lang="zh-CN" altLang="en-US" sz="1800" b="1" dirty="0">
                <a:solidFill>
                  <a:srgbClr val="FF0000"/>
                </a:solidFill>
              </a:rPr>
              <a:t>（</a:t>
            </a:r>
            <a:r>
              <a:rPr lang="en-US" altLang="zh-CN" sz="1800" b="1" dirty="0">
                <a:solidFill>
                  <a:srgbClr val="FF0000"/>
                </a:solidFill>
              </a:rPr>
              <a:t>E</a:t>
            </a:r>
            <a:r>
              <a:rPr lang="zh-CN" altLang="en-US" sz="1800" b="1" dirty="0">
                <a:solidFill>
                  <a:srgbClr val="FF0000"/>
                </a:solidFill>
              </a:rPr>
              <a:t>））≡</a:t>
            </a:r>
            <a:endParaRPr lang="en-US" altLang="zh-CN" sz="1800" b="1" dirty="0">
              <a:solidFill>
                <a:srgbClr val="FF0000"/>
              </a:solidFill>
            </a:endParaRPr>
          </a:p>
          <a:p>
            <a:pPr>
              <a:lnSpc>
                <a:spcPct val="150000"/>
              </a:lnSpc>
              <a:spcBef>
                <a:spcPts val="0"/>
              </a:spcBef>
            </a:pPr>
            <a:r>
              <a:rPr lang="en-US" altLang="zh-CN" sz="1800" b="1" dirty="0">
                <a:solidFill>
                  <a:srgbClr val="FF0000"/>
                </a:solidFill>
              </a:rPr>
              <a:t>π</a:t>
            </a:r>
            <a:r>
              <a:rPr lang="en-US" altLang="zh-CN" sz="1800" b="1" baseline="-25000" dirty="0">
                <a:solidFill>
                  <a:srgbClr val="FF0000"/>
                </a:solidFill>
              </a:rPr>
              <a:t>L</a:t>
            </a:r>
            <a:r>
              <a:rPr lang="zh-CN" altLang="en-US" sz="1800" b="1" dirty="0">
                <a:solidFill>
                  <a:srgbClr val="FF0000"/>
                </a:solidFill>
              </a:rPr>
              <a:t>（</a:t>
            </a:r>
            <a:r>
              <a:rPr lang="en-US" altLang="zh-CN" sz="1800" b="1" dirty="0" err="1">
                <a:solidFill>
                  <a:srgbClr val="FF0000"/>
                </a:solidFill>
              </a:rPr>
              <a:t>σ</a:t>
            </a:r>
            <a:r>
              <a:rPr lang="en-US" altLang="zh-CN" sz="1800" b="1" baseline="-25000" dirty="0" err="1">
                <a:solidFill>
                  <a:srgbClr val="FF0000"/>
                </a:solidFill>
              </a:rPr>
              <a:t>F</a:t>
            </a:r>
            <a:r>
              <a:rPr lang="zh-CN" altLang="en-US" sz="1800" b="1" dirty="0">
                <a:solidFill>
                  <a:srgbClr val="FF0000"/>
                </a:solidFill>
              </a:rPr>
              <a:t>（</a:t>
            </a:r>
            <a:r>
              <a:rPr lang="en-US" altLang="zh-CN" sz="1800" b="1" dirty="0">
                <a:solidFill>
                  <a:srgbClr val="FF0000"/>
                </a:solidFill>
              </a:rPr>
              <a:t>π</a:t>
            </a:r>
            <a:r>
              <a:rPr lang="en-US" altLang="zh-CN" sz="1800" b="1" baseline="-25000" dirty="0">
                <a:solidFill>
                  <a:srgbClr val="FF0000"/>
                </a:solidFill>
              </a:rPr>
              <a:t>L∪L1</a:t>
            </a:r>
            <a:r>
              <a:rPr lang="zh-CN" altLang="en-US" sz="1800" b="1" dirty="0">
                <a:solidFill>
                  <a:srgbClr val="FF0000"/>
                </a:solidFill>
              </a:rPr>
              <a:t>（</a:t>
            </a:r>
            <a:r>
              <a:rPr lang="en-US" altLang="zh-CN" sz="1800" b="1" dirty="0">
                <a:solidFill>
                  <a:srgbClr val="FF0000"/>
                </a:solidFill>
              </a:rPr>
              <a:t>E</a:t>
            </a:r>
            <a:r>
              <a:rPr lang="zh-CN" altLang="en-US" sz="1800" b="1" dirty="0">
                <a:solidFill>
                  <a:srgbClr val="FF0000"/>
                </a:solidFill>
              </a:rPr>
              <a:t>）））</a:t>
            </a:r>
            <a:endParaRPr lang="en-US" altLang="zh-CN" sz="1800" b="1" dirty="0">
              <a:solidFill>
                <a:srgbClr val="FF0000"/>
              </a:solidFill>
            </a:endParaRPr>
          </a:p>
        </p:txBody>
      </p:sp>
    </p:spTree>
    <p:extLst>
      <p:ext uri="{BB962C8B-B14F-4D97-AF65-F5344CB8AC3E}">
        <p14:creationId xmlns:p14="http://schemas.microsoft.com/office/powerpoint/2010/main" val="3429042549"/>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E00B79-373C-F897-EC56-3FF22FB832B0}"/>
            </a:ext>
          </a:extLst>
        </p:cNvPr>
        <p:cNvGrpSpPr/>
        <p:nvPr/>
      </p:nvGrpSpPr>
      <p:grpSpPr>
        <a:xfrm>
          <a:off x="0" y="0"/>
          <a:ext cx="0" cy="0"/>
          <a:chOff x="0" y="0"/>
          <a:chExt cx="0" cy="0"/>
        </a:xfrm>
      </p:grpSpPr>
      <p:sp>
        <p:nvSpPr>
          <p:cNvPr id="658435" name="Text Box 3">
            <a:extLst>
              <a:ext uri="{FF2B5EF4-FFF2-40B4-BE49-F238E27FC236}">
                <a16:creationId xmlns:a16="http://schemas.microsoft.com/office/drawing/2014/main" id="{EEF74FFB-464F-6D7A-26AA-6F1CEE2E3E4D}"/>
              </a:ext>
            </a:extLst>
          </p:cNvPr>
          <p:cNvSpPr txBox="1">
            <a:spLocks noChangeArrowheads="1"/>
          </p:cNvSpPr>
          <p:nvPr/>
        </p:nvSpPr>
        <p:spPr bwMode="auto">
          <a:xfrm>
            <a:off x="5791200" y="2725738"/>
            <a:ext cx="3048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latin typeface="Times New Roman" pitchFamily="18" charset="0"/>
              </a:rPr>
              <a:t>π </a:t>
            </a:r>
            <a:r>
              <a:rPr kumimoji="0" lang="en-US" altLang="zh-CN" sz="2400" baseline="-10000" dirty="0">
                <a:solidFill>
                  <a:schemeClr val="bg2"/>
                </a:solidFill>
                <a:latin typeface="Times New Roman" pitchFamily="18" charset="0"/>
              </a:rPr>
              <a:t>P.</a:t>
            </a:r>
            <a:r>
              <a:rPr kumimoji="0" lang="en-US" altLang="zh-CN" sz="2400" b="1" baseline="-10000" dirty="0">
                <a:solidFill>
                  <a:schemeClr val="bg2"/>
                </a:solidFill>
              </a:rPr>
              <a:t>PNO</a:t>
            </a:r>
          </a:p>
        </p:txBody>
      </p:sp>
      <p:sp>
        <p:nvSpPr>
          <p:cNvPr id="658436" name="Line 4">
            <a:extLst>
              <a:ext uri="{FF2B5EF4-FFF2-40B4-BE49-F238E27FC236}">
                <a16:creationId xmlns:a16="http://schemas.microsoft.com/office/drawing/2014/main" id="{12495B2F-6929-69A2-51A6-8579D16B00ED}"/>
              </a:ext>
            </a:extLst>
          </p:cNvPr>
          <p:cNvSpPr>
            <a:spLocks noChangeShapeType="1"/>
          </p:cNvSpPr>
          <p:nvPr/>
        </p:nvSpPr>
        <p:spPr bwMode="auto">
          <a:xfrm>
            <a:off x="6019800" y="3657600"/>
            <a:ext cx="3175" cy="8382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8437" name="Text Box 5">
            <a:extLst>
              <a:ext uri="{FF2B5EF4-FFF2-40B4-BE49-F238E27FC236}">
                <a16:creationId xmlns:a16="http://schemas.microsoft.com/office/drawing/2014/main" id="{0F4D9194-2E6C-7300-D1DA-BF2762DDCA6E}"/>
              </a:ext>
            </a:extLst>
          </p:cNvPr>
          <p:cNvSpPr txBox="1">
            <a:spLocks noChangeArrowheads="1"/>
          </p:cNvSpPr>
          <p:nvPr/>
        </p:nvSpPr>
        <p:spPr bwMode="auto">
          <a:xfrm>
            <a:off x="5791200" y="4230688"/>
            <a:ext cx="3619500"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lnSpc>
                <a:spcPct val="100000"/>
              </a:lnSpc>
              <a:spcBef>
                <a:spcPct val="0"/>
              </a:spcBef>
            </a:pPr>
            <a:r>
              <a:rPr kumimoji="0" lang="en-US" altLang="zh-CN" sz="2400" b="1" dirty="0" err="1">
                <a:solidFill>
                  <a:schemeClr val="bg2"/>
                </a:solidFill>
                <a:latin typeface="Times New Roman" pitchFamily="18" charset="0"/>
              </a:rPr>
              <a:t>σ</a:t>
            </a:r>
            <a:r>
              <a:rPr kumimoji="0" lang="en-US" altLang="zh-CN" sz="2400" b="1" dirty="0">
                <a:solidFill>
                  <a:schemeClr val="bg2"/>
                </a:solidFill>
                <a:latin typeface="Times New Roman" pitchFamily="18" charset="0"/>
              </a:rPr>
              <a:t> </a:t>
            </a:r>
            <a:r>
              <a:rPr kumimoji="0" lang="en-US" altLang="zh-CN" sz="2400" b="1" baseline="-10000" dirty="0">
                <a:solidFill>
                  <a:schemeClr val="bg2"/>
                </a:solidFill>
              </a:rPr>
              <a:t>COLOR=</a:t>
            </a:r>
            <a:r>
              <a:rPr kumimoji="0" lang="en-US" altLang="zh-CN" sz="2400" b="1" baseline="-10000" dirty="0">
                <a:solidFill>
                  <a:schemeClr val="bg2"/>
                </a:solidFill>
                <a:latin typeface="Times New Roman"/>
              </a:rPr>
              <a:t>‘</a:t>
            </a:r>
            <a:r>
              <a:rPr kumimoji="0" lang="zh-CN" altLang="en-US" sz="2400" b="1" baseline="-10000" dirty="0">
                <a:solidFill>
                  <a:schemeClr val="bg2"/>
                </a:solidFill>
              </a:rPr>
              <a:t>红色</a:t>
            </a:r>
            <a:r>
              <a:rPr kumimoji="0" lang="en-US" altLang="zh-CN" sz="2400" b="1" baseline="-10000" dirty="0">
                <a:solidFill>
                  <a:schemeClr val="bg2"/>
                </a:solidFill>
                <a:latin typeface="Times New Roman"/>
              </a:rPr>
              <a:t>’</a:t>
            </a:r>
            <a:endParaRPr kumimoji="0" lang="en-US" altLang="zh-CN" sz="2400" b="1" baseline="-10000" dirty="0">
              <a:solidFill>
                <a:schemeClr val="bg2"/>
              </a:solidFill>
            </a:endParaRPr>
          </a:p>
        </p:txBody>
      </p:sp>
      <p:sp>
        <p:nvSpPr>
          <p:cNvPr id="658439" name="Text Box 7">
            <a:extLst>
              <a:ext uri="{FF2B5EF4-FFF2-40B4-BE49-F238E27FC236}">
                <a16:creationId xmlns:a16="http://schemas.microsoft.com/office/drawing/2014/main" id="{3ABB720B-2F67-56C2-6142-7D8BE4AF575E}"/>
              </a:ext>
            </a:extLst>
          </p:cNvPr>
          <p:cNvSpPr txBox="1">
            <a:spLocks noChangeArrowheads="1"/>
          </p:cNvSpPr>
          <p:nvPr/>
        </p:nvSpPr>
        <p:spPr bwMode="auto">
          <a:xfrm>
            <a:off x="1676400" y="3030538"/>
            <a:ext cx="3367088"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latin typeface="Times New Roman" pitchFamily="18" charset="0"/>
              </a:rPr>
              <a:t>π </a:t>
            </a:r>
            <a:r>
              <a:rPr kumimoji="0" lang="en-US" altLang="zh-CN" sz="2400" b="1" baseline="-10000" dirty="0">
                <a:solidFill>
                  <a:schemeClr val="bg1"/>
                </a:solidFill>
              </a:rPr>
              <a:t>SNAME,SADDR,SPJ.PNO</a:t>
            </a:r>
            <a:endParaRPr kumimoji="0" lang="en-US" altLang="zh-CN" sz="2400" b="1" baseline="-10000" dirty="0">
              <a:solidFill>
                <a:schemeClr val="bg2"/>
              </a:solidFill>
            </a:endParaRPr>
          </a:p>
        </p:txBody>
      </p:sp>
      <p:sp>
        <p:nvSpPr>
          <p:cNvPr id="658440" name="Text Box 8">
            <a:extLst>
              <a:ext uri="{FF2B5EF4-FFF2-40B4-BE49-F238E27FC236}">
                <a16:creationId xmlns:a16="http://schemas.microsoft.com/office/drawing/2014/main" id="{3AE0B867-9894-1676-7345-5C1ADF8CD015}"/>
              </a:ext>
            </a:extLst>
          </p:cNvPr>
          <p:cNvSpPr txBox="1">
            <a:spLocks noChangeArrowheads="1"/>
          </p:cNvSpPr>
          <p:nvPr/>
        </p:nvSpPr>
        <p:spPr bwMode="auto">
          <a:xfrm>
            <a:off x="1676400" y="4529138"/>
            <a:ext cx="2132013"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lnSpc>
                <a:spcPct val="100000"/>
              </a:lnSpc>
              <a:spcBef>
                <a:spcPct val="0"/>
              </a:spcBef>
            </a:pPr>
            <a:r>
              <a:rPr kumimoji="0" lang="en-US" altLang="zh-CN" sz="2400" b="1" dirty="0" err="1">
                <a:solidFill>
                  <a:schemeClr val="bg2"/>
                </a:solidFill>
                <a:latin typeface="Times New Roman" pitchFamily="18" charset="0"/>
              </a:rPr>
              <a:t>σ</a:t>
            </a:r>
            <a:r>
              <a:rPr kumimoji="0" lang="en-US" altLang="zh-CN" sz="2400" b="1" dirty="0">
                <a:solidFill>
                  <a:schemeClr val="bg2"/>
                </a:solidFill>
                <a:latin typeface="Times New Roman" pitchFamily="18" charset="0"/>
              </a:rPr>
              <a:t> </a:t>
            </a:r>
            <a:r>
              <a:rPr kumimoji="0" lang="en-US" altLang="zh-CN" sz="2400" b="1" baseline="-10000" dirty="0">
                <a:solidFill>
                  <a:schemeClr val="bg2"/>
                </a:solidFill>
              </a:rPr>
              <a:t>S.SNO =SPJ.SNO</a:t>
            </a:r>
          </a:p>
        </p:txBody>
      </p:sp>
      <p:sp>
        <p:nvSpPr>
          <p:cNvPr id="658441" name="Text Box 9">
            <a:extLst>
              <a:ext uri="{FF2B5EF4-FFF2-40B4-BE49-F238E27FC236}">
                <a16:creationId xmlns:a16="http://schemas.microsoft.com/office/drawing/2014/main" id="{584FB417-63F7-3A34-04CA-53DA34274639}"/>
              </a:ext>
            </a:extLst>
          </p:cNvPr>
          <p:cNvSpPr txBox="1">
            <a:spLocks noChangeArrowheads="1"/>
          </p:cNvSpPr>
          <p:nvPr/>
        </p:nvSpPr>
        <p:spPr bwMode="auto">
          <a:xfrm>
            <a:off x="1676400" y="5715000"/>
            <a:ext cx="5257800"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latin typeface="Times New Roman" pitchFamily="18" charset="0"/>
              </a:rPr>
              <a:t>π</a:t>
            </a:r>
            <a:r>
              <a:rPr kumimoji="0" lang="en-US" altLang="zh-CN" sz="2400" b="1" baseline="-25000" dirty="0">
                <a:solidFill>
                  <a:srgbClr val="660033"/>
                </a:solidFill>
              </a:rPr>
              <a:t> S.SNO,SNAME,SADDR,SPJ.SNO,SPJ.PNO</a:t>
            </a:r>
            <a:r>
              <a:rPr kumimoji="0" lang="zh-CN" altLang="en-US" sz="2400" b="1" baseline="-25000" dirty="0">
                <a:solidFill>
                  <a:srgbClr val="660033"/>
                </a:solidFill>
              </a:rPr>
              <a:t> </a:t>
            </a:r>
            <a:endParaRPr kumimoji="0" lang="en-US" altLang="zh-CN" sz="2400" b="1" baseline="-10000" dirty="0">
              <a:solidFill>
                <a:schemeClr val="bg2"/>
              </a:solidFill>
              <a:latin typeface="Times New Roman" pitchFamily="18" charset="0"/>
            </a:endParaRPr>
          </a:p>
        </p:txBody>
      </p:sp>
      <p:sp>
        <p:nvSpPr>
          <p:cNvPr id="658442" name="Line 10">
            <a:extLst>
              <a:ext uri="{FF2B5EF4-FFF2-40B4-BE49-F238E27FC236}">
                <a16:creationId xmlns:a16="http://schemas.microsoft.com/office/drawing/2014/main" id="{A968126F-C8B9-18A8-765C-7B7A68071171}"/>
              </a:ext>
            </a:extLst>
          </p:cNvPr>
          <p:cNvSpPr>
            <a:spLocks noChangeShapeType="1"/>
          </p:cNvSpPr>
          <p:nvPr/>
        </p:nvSpPr>
        <p:spPr bwMode="auto">
          <a:xfrm>
            <a:off x="1905000" y="5087938"/>
            <a:ext cx="0" cy="62706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8443" name="Line 11">
            <a:extLst>
              <a:ext uri="{FF2B5EF4-FFF2-40B4-BE49-F238E27FC236}">
                <a16:creationId xmlns:a16="http://schemas.microsoft.com/office/drawing/2014/main" id="{5B6CBC11-8108-1A58-DE66-AE6A4933DBBB}"/>
              </a:ext>
            </a:extLst>
          </p:cNvPr>
          <p:cNvSpPr>
            <a:spLocks noChangeShapeType="1"/>
          </p:cNvSpPr>
          <p:nvPr/>
        </p:nvSpPr>
        <p:spPr bwMode="auto">
          <a:xfrm>
            <a:off x="1905000" y="3716338"/>
            <a:ext cx="0" cy="6858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8444" name="AutoShape 12">
            <a:extLst>
              <a:ext uri="{FF2B5EF4-FFF2-40B4-BE49-F238E27FC236}">
                <a16:creationId xmlns:a16="http://schemas.microsoft.com/office/drawing/2014/main" id="{EE7DE9B7-1B68-2C70-3E65-51902A175753}"/>
              </a:ext>
            </a:extLst>
          </p:cNvPr>
          <p:cNvSpPr>
            <a:spLocks/>
          </p:cNvSpPr>
          <p:nvPr/>
        </p:nvSpPr>
        <p:spPr bwMode="auto">
          <a:xfrm>
            <a:off x="2895600" y="1905000"/>
            <a:ext cx="2819400" cy="838200"/>
          </a:xfrm>
          <a:prstGeom prst="leftBrace">
            <a:avLst>
              <a:gd name="adj1" fmla="val 8333"/>
              <a:gd name="adj2" fmla="val 50000"/>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8445" name="Rectangle 13">
            <a:extLst>
              <a:ext uri="{FF2B5EF4-FFF2-40B4-BE49-F238E27FC236}">
                <a16:creationId xmlns:a16="http://schemas.microsoft.com/office/drawing/2014/main" id="{ED852DF8-84C7-1677-2A75-5CA956D6D8EA}"/>
              </a:ext>
            </a:extLst>
          </p:cNvPr>
          <p:cNvSpPr>
            <a:spLocks noChangeArrowheads="1"/>
          </p:cNvSpPr>
          <p:nvPr/>
        </p:nvSpPr>
        <p:spPr bwMode="auto">
          <a:xfrm>
            <a:off x="0" y="0"/>
            <a:ext cx="9144000" cy="33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lnSpc>
                <a:spcPct val="150000"/>
              </a:lnSpc>
              <a:spcBef>
                <a:spcPct val="0"/>
              </a:spcBef>
            </a:pPr>
            <a:r>
              <a:rPr lang="en-US" altLang="zh-CN" sz="2000" b="1" dirty="0">
                <a:solidFill>
                  <a:schemeClr val="bg2"/>
                </a:solidFill>
              </a:rPr>
              <a:t>  </a:t>
            </a:r>
            <a:r>
              <a:rPr lang="zh-CN" altLang="en-US" sz="2400" b="1" dirty="0">
                <a:solidFill>
                  <a:schemeClr val="bg2"/>
                </a:solidFill>
              </a:rPr>
              <a:t>把</a:t>
            </a:r>
            <a:r>
              <a:rPr kumimoji="0" lang="el-GR" altLang="zh-CN" sz="2400" b="1" dirty="0">
                <a:solidFill>
                  <a:srgbClr val="660033"/>
                </a:solidFill>
              </a:rPr>
              <a:t>π</a:t>
            </a:r>
            <a:r>
              <a:rPr kumimoji="0" lang="en-US" altLang="zh-CN" sz="2400" b="1" baseline="-25000" dirty="0">
                <a:solidFill>
                  <a:srgbClr val="660033"/>
                </a:solidFill>
              </a:rPr>
              <a:t>SNAME,SADDR,SPJ.PNO,P.PNO</a:t>
            </a:r>
            <a:r>
              <a:rPr kumimoji="0" lang="zh-CN" altLang="en-US" sz="2400" b="1" baseline="-25000" dirty="0">
                <a:solidFill>
                  <a:srgbClr val="660033"/>
                </a:solidFill>
              </a:rPr>
              <a:t> </a:t>
            </a:r>
            <a:r>
              <a:rPr lang="zh-CN" altLang="en-US" sz="2400" b="1" dirty="0">
                <a:solidFill>
                  <a:schemeClr val="bg2"/>
                </a:solidFill>
              </a:rPr>
              <a:t>分成</a:t>
            </a:r>
            <a:r>
              <a:rPr lang="en-US" altLang="zh-CN" sz="2400" b="1" dirty="0">
                <a:solidFill>
                  <a:schemeClr val="bg2"/>
                </a:solidFill>
              </a:rPr>
              <a:t>:</a:t>
            </a:r>
          </a:p>
          <a:p>
            <a:pPr algn="l">
              <a:lnSpc>
                <a:spcPct val="150000"/>
              </a:lnSpc>
              <a:spcBef>
                <a:spcPct val="0"/>
              </a:spcBef>
            </a:pPr>
            <a:r>
              <a:rPr lang="en-US" altLang="zh-CN" sz="2400" b="1" dirty="0">
                <a:solidFill>
                  <a:schemeClr val="bg1"/>
                </a:solidFill>
              </a:rPr>
              <a:t>             </a:t>
            </a:r>
            <a:r>
              <a:rPr kumimoji="0" lang="en-US" altLang="zh-CN" sz="2800" b="1" dirty="0">
                <a:solidFill>
                  <a:schemeClr val="bg1"/>
                </a:solidFill>
              </a:rPr>
              <a:t>π</a:t>
            </a:r>
            <a:r>
              <a:rPr kumimoji="0" lang="en-US" altLang="zh-CN" sz="2800" b="1" baseline="-10000" dirty="0">
                <a:solidFill>
                  <a:schemeClr val="bg1"/>
                </a:solidFill>
              </a:rPr>
              <a:t>SNAME,SADDR,SPJ.PNO</a:t>
            </a:r>
            <a:r>
              <a:rPr kumimoji="0" lang="en-US" altLang="zh-CN" sz="2400" b="1" baseline="-10000" dirty="0">
                <a:solidFill>
                  <a:schemeClr val="bg1"/>
                </a:solidFill>
              </a:rPr>
              <a:t>    </a:t>
            </a:r>
            <a:r>
              <a:rPr lang="zh-CN" altLang="en-US" sz="2400" b="1" dirty="0">
                <a:solidFill>
                  <a:schemeClr val="bg1"/>
                </a:solidFill>
              </a:rPr>
              <a:t>和   </a:t>
            </a:r>
            <a:r>
              <a:rPr kumimoji="0" lang="en-US" altLang="zh-CN" sz="2800" b="1" dirty="0">
                <a:solidFill>
                  <a:schemeClr val="bg1"/>
                </a:solidFill>
              </a:rPr>
              <a:t>π</a:t>
            </a:r>
            <a:r>
              <a:rPr kumimoji="0" lang="en-US" altLang="zh-CN" sz="2800" b="1" baseline="-10000" dirty="0">
                <a:solidFill>
                  <a:schemeClr val="bg1"/>
                </a:solidFill>
              </a:rPr>
              <a:t>P.PNO</a:t>
            </a:r>
          </a:p>
          <a:p>
            <a:pPr algn="l">
              <a:lnSpc>
                <a:spcPct val="150000"/>
              </a:lnSpc>
              <a:spcBef>
                <a:spcPct val="0"/>
              </a:spcBef>
            </a:pPr>
            <a:r>
              <a:rPr kumimoji="0" lang="en-US" altLang="zh-CN" sz="2400" b="1" baseline="-10000" dirty="0">
                <a:solidFill>
                  <a:schemeClr val="bg2"/>
                </a:solidFill>
              </a:rPr>
              <a:t> </a:t>
            </a:r>
            <a:r>
              <a:rPr lang="zh-CN" altLang="en-US" sz="2400" b="1" dirty="0">
                <a:solidFill>
                  <a:srgbClr val="660033"/>
                </a:solidFill>
              </a:rPr>
              <a:t>使它们分别对</a:t>
            </a:r>
            <a:r>
              <a:rPr lang="en-US" altLang="zh-CN" sz="2400" b="1" dirty="0" err="1">
                <a:solidFill>
                  <a:srgbClr val="660033"/>
                </a:solidFill>
              </a:rPr>
              <a:t>σ</a:t>
            </a:r>
            <a:r>
              <a:rPr kumimoji="0" lang="en-US" altLang="zh-CN" sz="2400" b="1" baseline="-10000" dirty="0">
                <a:solidFill>
                  <a:schemeClr val="bg2"/>
                </a:solidFill>
              </a:rPr>
              <a:t> S.SNO =SPJ.SNO</a:t>
            </a:r>
            <a:r>
              <a:rPr kumimoji="0" lang="en-US" altLang="zh-CN" sz="2400" b="1" dirty="0">
                <a:solidFill>
                  <a:srgbClr val="660033"/>
                </a:solidFill>
              </a:rPr>
              <a:t>(</a:t>
            </a:r>
            <a:r>
              <a:rPr lang="en-US" altLang="zh-CN" sz="2400" b="1" dirty="0">
                <a:solidFill>
                  <a:srgbClr val="660033"/>
                </a:solidFill>
                <a:latin typeface="Times New Roman"/>
              </a:rPr>
              <a:t>…</a:t>
            </a:r>
            <a:r>
              <a:rPr lang="en-US" altLang="zh-CN" sz="2400" b="1" dirty="0">
                <a:solidFill>
                  <a:srgbClr val="660033"/>
                </a:solidFill>
              </a:rPr>
              <a:t>)</a:t>
            </a:r>
            <a:r>
              <a:rPr lang="zh-CN" altLang="en-US" sz="2400" b="1" dirty="0">
                <a:solidFill>
                  <a:srgbClr val="660033"/>
                </a:solidFill>
              </a:rPr>
              <a:t>和</a:t>
            </a:r>
            <a:r>
              <a:rPr lang="en-US" altLang="zh-CN" sz="2400" b="1" dirty="0" err="1">
                <a:solidFill>
                  <a:srgbClr val="660033"/>
                </a:solidFill>
              </a:rPr>
              <a:t>σ</a:t>
            </a:r>
            <a:r>
              <a:rPr kumimoji="0" lang="en-US" altLang="zh-CN" sz="2400" b="1" baseline="-10000" dirty="0">
                <a:solidFill>
                  <a:schemeClr val="bg2"/>
                </a:solidFill>
              </a:rPr>
              <a:t> COLOR=</a:t>
            </a:r>
            <a:r>
              <a:rPr kumimoji="0" lang="en-US" altLang="zh-CN" sz="2400" b="1" baseline="-10000" dirty="0">
                <a:solidFill>
                  <a:schemeClr val="bg2"/>
                </a:solidFill>
                <a:latin typeface="Times New Roman"/>
              </a:rPr>
              <a:t>‘</a:t>
            </a:r>
            <a:r>
              <a:rPr kumimoji="0" lang="zh-CN" altLang="en-US" sz="2400" b="1" baseline="-10000" dirty="0">
                <a:solidFill>
                  <a:schemeClr val="bg2"/>
                </a:solidFill>
              </a:rPr>
              <a:t>红色</a:t>
            </a:r>
            <a:r>
              <a:rPr kumimoji="0" lang="en-US" altLang="zh-CN" sz="2400" b="1" baseline="-10000" dirty="0">
                <a:solidFill>
                  <a:schemeClr val="bg2"/>
                </a:solidFill>
                <a:latin typeface="Times New Roman"/>
              </a:rPr>
              <a:t>’</a:t>
            </a:r>
            <a:r>
              <a:rPr lang="en-US" altLang="zh-CN" sz="2400" b="1" dirty="0">
                <a:solidFill>
                  <a:srgbClr val="660033"/>
                </a:solidFill>
              </a:rPr>
              <a:t>(P)</a:t>
            </a:r>
            <a:r>
              <a:rPr lang="zh-CN" altLang="en-US" sz="2400" b="1" dirty="0">
                <a:solidFill>
                  <a:srgbClr val="660033"/>
                </a:solidFill>
              </a:rPr>
              <a:t>做投影操作。</a:t>
            </a:r>
          </a:p>
          <a:p>
            <a:pPr algn="l">
              <a:lnSpc>
                <a:spcPct val="150000"/>
              </a:lnSpc>
              <a:spcBef>
                <a:spcPct val="0"/>
              </a:spcBef>
            </a:pPr>
            <a:r>
              <a:rPr lang="zh-CN" altLang="en-US" sz="2400" b="1" dirty="0">
                <a:solidFill>
                  <a:schemeClr val="bg2"/>
                </a:solidFill>
              </a:rPr>
              <a:t> 再根据规则⑸，将投影</a:t>
            </a:r>
            <a:r>
              <a:rPr kumimoji="0" lang="en-US" altLang="zh-CN" sz="2400" b="1" dirty="0">
                <a:solidFill>
                  <a:schemeClr val="bg2"/>
                </a:solidFill>
                <a:latin typeface="Times New Roman" pitchFamily="18" charset="0"/>
              </a:rPr>
              <a:t>π </a:t>
            </a:r>
            <a:r>
              <a:rPr kumimoji="0" lang="en-US" altLang="zh-CN" sz="2400" b="1" baseline="-10000" dirty="0">
                <a:solidFill>
                  <a:schemeClr val="bg1"/>
                </a:solidFill>
              </a:rPr>
              <a:t>SNAME,SADDR,SPJ.PNO</a:t>
            </a:r>
            <a:r>
              <a:rPr lang="zh-CN" altLang="en-US" sz="2400" b="1" dirty="0">
                <a:solidFill>
                  <a:schemeClr val="bg2"/>
                </a:solidFill>
              </a:rPr>
              <a:t>和</a:t>
            </a:r>
            <a:r>
              <a:rPr kumimoji="0" lang="en-US" altLang="zh-CN" sz="2400" b="1" dirty="0">
                <a:solidFill>
                  <a:schemeClr val="bg2"/>
                </a:solidFill>
                <a:latin typeface="Times New Roman" pitchFamily="18" charset="0"/>
              </a:rPr>
              <a:t>π </a:t>
            </a:r>
            <a:r>
              <a:rPr kumimoji="0" lang="en-US" altLang="zh-CN" sz="2400" baseline="-10000" dirty="0">
                <a:solidFill>
                  <a:schemeClr val="bg2"/>
                </a:solidFill>
                <a:latin typeface="Times New Roman" pitchFamily="18" charset="0"/>
              </a:rPr>
              <a:t>P.</a:t>
            </a:r>
            <a:r>
              <a:rPr kumimoji="0" lang="en-US" altLang="zh-CN" sz="2400" b="1" baseline="-10000" dirty="0">
                <a:solidFill>
                  <a:schemeClr val="bg2"/>
                </a:solidFill>
              </a:rPr>
              <a:t>SNO</a:t>
            </a:r>
            <a:r>
              <a:rPr lang="zh-CN" altLang="en-US" sz="2400" b="1" dirty="0">
                <a:solidFill>
                  <a:schemeClr val="bg2"/>
                </a:solidFill>
              </a:rPr>
              <a:t>分别与前面的选择运算形成两个串接运算：</a:t>
            </a:r>
            <a:endParaRPr lang="zh-CN" altLang="en-US" sz="2400" b="1" dirty="0">
              <a:solidFill>
                <a:schemeClr val="bg2"/>
              </a:solidFill>
              <a:latin typeface="Times New Roman" pitchFamily="18" charset="0"/>
            </a:endParaRPr>
          </a:p>
          <a:p>
            <a:pPr algn="l" eaLnBrk="0" hangingPunct="0">
              <a:lnSpc>
                <a:spcPct val="100000"/>
              </a:lnSpc>
              <a:spcBef>
                <a:spcPct val="0"/>
              </a:spcBef>
            </a:pPr>
            <a:endParaRPr lang="en-US" altLang="zh-CN" sz="2400" b="1" dirty="0">
              <a:solidFill>
                <a:schemeClr val="bg2"/>
              </a:solidFill>
              <a:latin typeface="Times New Roman" pitchFamily="18" charset="0"/>
            </a:endParaRPr>
          </a:p>
        </p:txBody>
      </p:sp>
    </p:spTree>
    <p:extLst>
      <p:ext uri="{BB962C8B-B14F-4D97-AF65-F5344CB8AC3E}">
        <p14:creationId xmlns:p14="http://schemas.microsoft.com/office/powerpoint/2010/main" val="4029174779"/>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8439"/>
                                        </p:tgtEl>
                                        <p:attrNameLst>
                                          <p:attrName>style.visibility</p:attrName>
                                        </p:attrNameLst>
                                      </p:cBhvr>
                                      <p:to>
                                        <p:strVal val="visible"/>
                                      </p:to>
                                    </p:set>
                                    <p:animEffect transition="in" filter="blinds(horizontal)">
                                      <p:cBhvr>
                                        <p:cTn id="7" dur="500"/>
                                        <p:tgtEl>
                                          <p:spTgt spid="65843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58443"/>
                                        </p:tgtEl>
                                        <p:attrNameLst>
                                          <p:attrName>style.visibility</p:attrName>
                                        </p:attrNameLst>
                                      </p:cBhvr>
                                      <p:to>
                                        <p:strVal val="visible"/>
                                      </p:to>
                                    </p:set>
                                    <p:animEffect transition="in" filter="blinds(horizontal)">
                                      <p:cBhvr>
                                        <p:cTn id="10" dur="500"/>
                                        <p:tgtEl>
                                          <p:spTgt spid="65844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58440"/>
                                        </p:tgtEl>
                                        <p:attrNameLst>
                                          <p:attrName>style.visibility</p:attrName>
                                        </p:attrNameLst>
                                      </p:cBhvr>
                                      <p:to>
                                        <p:strVal val="visible"/>
                                      </p:to>
                                    </p:set>
                                    <p:animEffect transition="in" filter="blinds(horizontal)">
                                      <p:cBhvr>
                                        <p:cTn id="13" dur="500"/>
                                        <p:tgtEl>
                                          <p:spTgt spid="65844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58442"/>
                                        </p:tgtEl>
                                        <p:attrNameLst>
                                          <p:attrName>style.visibility</p:attrName>
                                        </p:attrNameLst>
                                      </p:cBhvr>
                                      <p:to>
                                        <p:strVal val="visible"/>
                                      </p:to>
                                    </p:set>
                                    <p:animEffect transition="in" filter="blinds(horizontal)">
                                      <p:cBhvr>
                                        <p:cTn id="16" dur="500"/>
                                        <p:tgtEl>
                                          <p:spTgt spid="658442"/>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58441"/>
                                        </p:tgtEl>
                                        <p:attrNameLst>
                                          <p:attrName>style.visibility</p:attrName>
                                        </p:attrNameLst>
                                      </p:cBhvr>
                                      <p:to>
                                        <p:strVal val="visible"/>
                                      </p:to>
                                    </p:set>
                                    <p:animEffect transition="in" filter="blinds(horizontal)">
                                      <p:cBhvr>
                                        <p:cTn id="19" dur="500"/>
                                        <p:tgtEl>
                                          <p:spTgt spid="65844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658435"/>
                                        </p:tgtEl>
                                        <p:attrNameLst>
                                          <p:attrName>style.visibility</p:attrName>
                                        </p:attrNameLst>
                                      </p:cBhvr>
                                      <p:to>
                                        <p:strVal val="visible"/>
                                      </p:to>
                                    </p:set>
                                    <p:animEffect transition="in" filter="blinds(horizontal)">
                                      <p:cBhvr>
                                        <p:cTn id="24" dur="500"/>
                                        <p:tgtEl>
                                          <p:spTgt spid="658435"/>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58436"/>
                                        </p:tgtEl>
                                        <p:attrNameLst>
                                          <p:attrName>style.visibility</p:attrName>
                                        </p:attrNameLst>
                                      </p:cBhvr>
                                      <p:to>
                                        <p:strVal val="visible"/>
                                      </p:to>
                                    </p:set>
                                    <p:animEffect transition="in" filter="blinds(horizontal)">
                                      <p:cBhvr>
                                        <p:cTn id="27" dur="500"/>
                                        <p:tgtEl>
                                          <p:spTgt spid="65843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58437"/>
                                        </p:tgtEl>
                                        <p:attrNameLst>
                                          <p:attrName>style.visibility</p:attrName>
                                        </p:attrNameLst>
                                      </p:cBhvr>
                                      <p:to>
                                        <p:strVal val="visible"/>
                                      </p:to>
                                    </p:set>
                                    <p:animEffect transition="in" filter="blinds(horizontal)">
                                      <p:cBhvr>
                                        <p:cTn id="30" dur="500"/>
                                        <p:tgtEl>
                                          <p:spTgt spid="65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8435" grpId="0"/>
      <p:bldP spid="658436" grpId="0" animBg="1"/>
      <p:bldP spid="658437" grpId="0"/>
      <p:bldP spid="658439" grpId="0"/>
      <p:bldP spid="658440" grpId="0"/>
      <p:bldP spid="658441" grpId="0"/>
      <p:bldP spid="658442" grpId="0" animBg="1"/>
      <p:bldP spid="658443" grpId="0" animBg="1"/>
    </p:bldLst>
  </p:timing>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373F4B-13BD-95B3-4AAF-FFD807EEA69F}"/>
            </a:ext>
          </a:extLst>
        </p:cNvPr>
        <p:cNvGrpSpPr/>
        <p:nvPr/>
      </p:nvGrpSpPr>
      <p:grpSpPr>
        <a:xfrm>
          <a:off x="0" y="0"/>
          <a:ext cx="0" cy="0"/>
          <a:chOff x="0" y="0"/>
          <a:chExt cx="0" cy="0"/>
        </a:xfrm>
      </p:grpSpPr>
      <p:sp>
        <p:nvSpPr>
          <p:cNvPr id="659459" name="Text Box 3">
            <a:extLst>
              <a:ext uri="{FF2B5EF4-FFF2-40B4-BE49-F238E27FC236}">
                <a16:creationId xmlns:a16="http://schemas.microsoft.com/office/drawing/2014/main" id="{A89A246C-40E3-874C-32AA-79BD88DAD483}"/>
              </a:ext>
            </a:extLst>
          </p:cNvPr>
          <p:cNvSpPr txBox="1">
            <a:spLocks noChangeArrowheads="1"/>
          </p:cNvSpPr>
          <p:nvPr/>
        </p:nvSpPr>
        <p:spPr bwMode="auto">
          <a:xfrm>
            <a:off x="3643313" y="44450"/>
            <a:ext cx="928687" cy="48736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a:t>
            </a:r>
          </a:p>
        </p:txBody>
      </p:sp>
      <p:sp>
        <p:nvSpPr>
          <p:cNvPr id="659460" name="Text Box 4">
            <a:extLst>
              <a:ext uri="{FF2B5EF4-FFF2-40B4-BE49-F238E27FC236}">
                <a16:creationId xmlns:a16="http://schemas.microsoft.com/office/drawing/2014/main" id="{112D551E-681B-A149-E0D8-BB8AD68124A3}"/>
              </a:ext>
            </a:extLst>
          </p:cNvPr>
          <p:cNvSpPr txBox="1">
            <a:spLocks noChangeArrowheads="1"/>
          </p:cNvSpPr>
          <p:nvPr/>
        </p:nvSpPr>
        <p:spPr bwMode="auto">
          <a:xfrm>
            <a:off x="3663950" y="958850"/>
            <a:ext cx="831850" cy="48577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σ</a:t>
            </a:r>
          </a:p>
        </p:txBody>
      </p:sp>
      <p:sp>
        <p:nvSpPr>
          <p:cNvPr id="659461" name="Text Box 5">
            <a:extLst>
              <a:ext uri="{FF2B5EF4-FFF2-40B4-BE49-F238E27FC236}">
                <a16:creationId xmlns:a16="http://schemas.microsoft.com/office/drawing/2014/main" id="{6B7DC3C8-5200-1454-50B4-2C1A64A7C596}"/>
              </a:ext>
            </a:extLst>
          </p:cNvPr>
          <p:cNvSpPr txBox="1">
            <a:spLocks noChangeArrowheads="1"/>
          </p:cNvSpPr>
          <p:nvPr/>
        </p:nvSpPr>
        <p:spPr bwMode="auto">
          <a:xfrm>
            <a:off x="4108450" y="606425"/>
            <a:ext cx="2216150" cy="42227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b="1" dirty="0">
                <a:solidFill>
                  <a:schemeClr val="bg2"/>
                </a:solidFill>
              </a:rPr>
              <a:t>SNAME,SADDR</a:t>
            </a:r>
          </a:p>
        </p:txBody>
      </p:sp>
      <p:sp>
        <p:nvSpPr>
          <p:cNvPr id="659462" name="Text Box 6">
            <a:extLst>
              <a:ext uri="{FF2B5EF4-FFF2-40B4-BE49-F238E27FC236}">
                <a16:creationId xmlns:a16="http://schemas.microsoft.com/office/drawing/2014/main" id="{7B617F42-97F8-8742-918B-AF8DDEBD7B56}"/>
              </a:ext>
            </a:extLst>
          </p:cNvPr>
          <p:cNvSpPr txBox="1">
            <a:spLocks noChangeArrowheads="1"/>
          </p:cNvSpPr>
          <p:nvPr/>
        </p:nvSpPr>
        <p:spPr bwMode="auto">
          <a:xfrm>
            <a:off x="4114800" y="1339850"/>
            <a:ext cx="4027488"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SPJ.PNO = P.PNO</a:t>
            </a:r>
          </a:p>
          <a:p>
            <a:pPr eaLnBrk="0" hangingPunct="0">
              <a:lnSpc>
                <a:spcPct val="100000"/>
              </a:lnSpc>
              <a:spcBef>
                <a:spcPct val="0"/>
              </a:spcBef>
            </a:pPr>
            <a:endParaRPr kumimoji="0" lang="en-US" altLang="zh-CN" b="1" dirty="0">
              <a:solidFill>
                <a:schemeClr val="bg2"/>
              </a:solidFill>
            </a:endParaRPr>
          </a:p>
        </p:txBody>
      </p:sp>
      <p:sp>
        <p:nvSpPr>
          <p:cNvPr id="659463" name="Text Box 7">
            <a:extLst>
              <a:ext uri="{FF2B5EF4-FFF2-40B4-BE49-F238E27FC236}">
                <a16:creationId xmlns:a16="http://schemas.microsoft.com/office/drawing/2014/main" id="{2D30BF53-5D24-8C2A-765B-407D6225650C}"/>
              </a:ext>
            </a:extLst>
          </p:cNvPr>
          <p:cNvSpPr txBox="1">
            <a:spLocks noChangeArrowheads="1"/>
          </p:cNvSpPr>
          <p:nvPr/>
        </p:nvSpPr>
        <p:spPr bwMode="auto">
          <a:xfrm>
            <a:off x="3576638" y="1806575"/>
            <a:ext cx="687387" cy="24765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1"/>
                </a:solidFill>
                <a:latin typeface="Times New Roman" pitchFamily="18" charset="0"/>
              </a:rPr>
              <a:t>×</a:t>
            </a:r>
          </a:p>
        </p:txBody>
      </p:sp>
      <p:sp>
        <p:nvSpPr>
          <p:cNvPr id="659464" name="Text Box 8">
            <a:extLst>
              <a:ext uri="{FF2B5EF4-FFF2-40B4-BE49-F238E27FC236}">
                <a16:creationId xmlns:a16="http://schemas.microsoft.com/office/drawing/2014/main" id="{2C3536C7-82CC-FB82-CFAE-C23113DC38CA}"/>
              </a:ext>
            </a:extLst>
          </p:cNvPr>
          <p:cNvSpPr txBox="1">
            <a:spLocks noChangeArrowheads="1"/>
          </p:cNvSpPr>
          <p:nvPr/>
        </p:nvSpPr>
        <p:spPr bwMode="auto">
          <a:xfrm>
            <a:off x="6324600" y="4006850"/>
            <a:ext cx="1981200" cy="7620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baseline="-10000" dirty="0">
                <a:solidFill>
                  <a:schemeClr val="bg2"/>
                </a:solidFill>
              </a:rPr>
              <a:t>COLOR=</a:t>
            </a:r>
            <a:r>
              <a:rPr kumimoji="0" lang="en-US" altLang="zh-CN" sz="2800" b="1" baseline="-10000" dirty="0">
                <a:solidFill>
                  <a:schemeClr val="bg2"/>
                </a:solidFill>
                <a:latin typeface="Times New Roman"/>
              </a:rPr>
              <a:t>‘</a:t>
            </a:r>
            <a:r>
              <a:rPr kumimoji="0" lang="zh-CN" altLang="en-US" sz="2800" b="1" baseline="-10000" dirty="0">
                <a:solidFill>
                  <a:schemeClr val="bg2"/>
                </a:solidFill>
              </a:rPr>
              <a:t>红色</a:t>
            </a:r>
            <a:r>
              <a:rPr kumimoji="0" lang="en-US" altLang="zh-CN" sz="2800" b="1" baseline="-10000" dirty="0">
                <a:solidFill>
                  <a:schemeClr val="bg2"/>
                </a:solidFill>
                <a:latin typeface="Times New Roman"/>
              </a:rPr>
              <a:t>’</a:t>
            </a:r>
            <a:endParaRPr kumimoji="0" lang="en-US" altLang="zh-CN" sz="2800" b="1" baseline="-10000" dirty="0">
              <a:solidFill>
                <a:schemeClr val="bg2"/>
              </a:solidFill>
            </a:endParaRPr>
          </a:p>
          <a:p>
            <a:pPr eaLnBrk="0" hangingPunct="0">
              <a:lnSpc>
                <a:spcPct val="100000"/>
              </a:lnSpc>
              <a:spcBef>
                <a:spcPct val="0"/>
              </a:spcBef>
            </a:pPr>
            <a:endParaRPr kumimoji="0" lang="en-US" altLang="zh-CN" sz="2800" b="1" baseline="-10000" dirty="0">
              <a:solidFill>
                <a:schemeClr val="bg2"/>
              </a:solidFill>
              <a:latin typeface="Times New Roman" pitchFamily="18" charset="0"/>
            </a:endParaRPr>
          </a:p>
        </p:txBody>
      </p:sp>
      <p:sp>
        <p:nvSpPr>
          <p:cNvPr id="659465" name="Text Box 9">
            <a:extLst>
              <a:ext uri="{FF2B5EF4-FFF2-40B4-BE49-F238E27FC236}">
                <a16:creationId xmlns:a16="http://schemas.microsoft.com/office/drawing/2014/main" id="{43E79970-CCB2-40DA-A5A8-3354CFB5CE56}"/>
              </a:ext>
            </a:extLst>
          </p:cNvPr>
          <p:cNvSpPr txBox="1">
            <a:spLocks noChangeArrowheads="1"/>
          </p:cNvSpPr>
          <p:nvPr/>
        </p:nvSpPr>
        <p:spPr bwMode="auto">
          <a:xfrm>
            <a:off x="5867400" y="4464050"/>
            <a:ext cx="687388" cy="3413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S</a:t>
            </a:r>
          </a:p>
        </p:txBody>
      </p:sp>
      <p:sp>
        <p:nvSpPr>
          <p:cNvPr id="659466" name="Text Box 10">
            <a:extLst>
              <a:ext uri="{FF2B5EF4-FFF2-40B4-BE49-F238E27FC236}">
                <a16:creationId xmlns:a16="http://schemas.microsoft.com/office/drawing/2014/main" id="{EE1AD313-5DCF-F632-6BAA-C21C8C44E56D}"/>
              </a:ext>
            </a:extLst>
          </p:cNvPr>
          <p:cNvSpPr txBox="1">
            <a:spLocks noChangeArrowheads="1"/>
          </p:cNvSpPr>
          <p:nvPr/>
        </p:nvSpPr>
        <p:spPr bwMode="auto">
          <a:xfrm>
            <a:off x="5791200" y="2787650"/>
            <a:ext cx="687388" cy="48577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latin typeface="Times New Roman" pitchFamily="18" charset="0"/>
              </a:rPr>
              <a:t>π</a:t>
            </a:r>
          </a:p>
        </p:txBody>
      </p:sp>
      <p:sp>
        <p:nvSpPr>
          <p:cNvPr id="659467" name="Text Box 11">
            <a:extLst>
              <a:ext uri="{FF2B5EF4-FFF2-40B4-BE49-F238E27FC236}">
                <a16:creationId xmlns:a16="http://schemas.microsoft.com/office/drawing/2014/main" id="{354B14AC-DA13-48FA-8BDB-DD2C58E174F8}"/>
              </a:ext>
            </a:extLst>
          </p:cNvPr>
          <p:cNvSpPr txBox="1">
            <a:spLocks noChangeArrowheads="1"/>
          </p:cNvSpPr>
          <p:nvPr/>
        </p:nvSpPr>
        <p:spPr bwMode="auto">
          <a:xfrm>
            <a:off x="5791200" y="3625850"/>
            <a:ext cx="687388" cy="57943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lnSpc>
                <a:spcPct val="100000"/>
              </a:lnSpc>
              <a:spcBef>
                <a:spcPct val="0"/>
              </a:spcBef>
            </a:pPr>
            <a:r>
              <a:rPr kumimoji="0" lang="en-US" altLang="zh-CN" sz="2400" b="1">
                <a:solidFill>
                  <a:schemeClr val="bg2"/>
                </a:solidFill>
                <a:latin typeface="Times New Roman" pitchFamily="18" charset="0"/>
              </a:rPr>
              <a:t>σ</a:t>
            </a:r>
            <a:endParaRPr kumimoji="0" lang="en-US" altLang="zh-CN" sz="2400" b="1">
              <a:solidFill>
                <a:schemeClr val="bg2"/>
              </a:solidFill>
            </a:endParaRPr>
          </a:p>
          <a:p>
            <a:pPr eaLnBrk="0" hangingPunct="0">
              <a:lnSpc>
                <a:spcPct val="100000"/>
              </a:lnSpc>
              <a:spcBef>
                <a:spcPct val="0"/>
              </a:spcBef>
            </a:pPr>
            <a:endParaRPr kumimoji="0" lang="en-US" altLang="zh-CN" sz="2400" b="1">
              <a:solidFill>
                <a:schemeClr val="bg2"/>
              </a:solidFill>
              <a:latin typeface="Times New Roman" pitchFamily="18" charset="0"/>
            </a:endParaRPr>
          </a:p>
        </p:txBody>
      </p:sp>
      <p:sp>
        <p:nvSpPr>
          <p:cNvPr id="659468" name="Text Box 12">
            <a:extLst>
              <a:ext uri="{FF2B5EF4-FFF2-40B4-BE49-F238E27FC236}">
                <a16:creationId xmlns:a16="http://schemas.microsoft.com/office/drawing/2014/main" id="{5DAA1CA6-91D3-DD35-6D9F-7F698B438A0D}"/>
              </a:ext>
            </a:extLst>
          </p:cNvPr>
          <p:cNvSpPr txBox="1">
            <a:spLocks noChangeArrowheads="1"/>
          </p:cNvSpPr>
          <p:nvPr/>
        </p:nvSpPr>
        <p:spPr bwMode="auto">
          <a:xfrm>
            <a:off x="6227763" y="2924175"/>
            <a:ext cx="1871662" cy="64928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baseline="-10000" dirty="0">
                <a:solidFill>
                  <a:schemeClr val="bg2"/>
                </a:solidFill>
                <a:latin typeface="Times New Roman" pitchFamily="18" charset="0"/>
              </a:rPr>
              <a:t> </a:t>
            </a:r>
            <a:r>
              <a:rPr kumimoji="0" lang="en-US" altLang="zh-CN" sz="2800" b="1" baseline="-10000" dirty="0">
                <a:solidFill>
                  <a:schemeClr val="bg2"/>
                </a:solidFill>
                <a:latin typeface="Times New Roman" pitchFamily="18" charset="0"/>
              </a:rPr>
              <a:t>P.PNO</a:t>
            </a:r>
          </a:p>
        </p:txBody>
      </p:sp>
      <p:sp>
        <p:nvSpPr>
          <p:cNvPr id="659470" name="Line 14">
            <a:extLst>
              <a:ext uri="{FF2B5EF4-FFF2-40B4-BE49-F238E27FC236}">
                <a16:creationId xmlns:a16="http://schemas.microsoft.com/office/drawing/2014/main" id="{AC5578AA-6557-A9A5-00C5-B441BB87BABE}"/>
              </a:ext>
            </a:extLst>
          </p:cNvPr>
          <p:cNvSpPr>
            <a:spLocks noChangeShapeType="1"/>
          </p:cNvSpPr>
          <p:nvPr/>
        </p:nvSpPr>
        <p:spPr bwMode="auto">
          <a:xfrm>
            <a:off x="3851275" y="501650"/>
            <a:ext cx="0" cy="4540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71" name="Line 15">
            <a:extLst>
              <a:ext uri="{FF2B5EF4-FFF2-40B4-BE49-F238E27FC236}">
                <a16:creationId xmlns:a16="http://schemas.microsoft.com/office/drawing/2014/main" id="{ECE0C657-220A-1582-D74E-FCB6E86E178D}"/>
              </a:ext>
            </a:extLst>
          </p:cNvPr>
          <p:cNvSpPr>
            <a:spLocks noChangeShapeType="1"/>
          </p:cNvSpPr>
          <p:nvPr/>
        </p:nvSpPr>
        <p:spPr bwMode="auto">
          <a:xfrm>
            <a:off x="3851275" y="1373188"/>
            <a:ext cx="0" cy="4540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72" name="Line 16">
            <a:extLst>
              <a:ext uri="{FF2B5EF4-FFF2-40B4-BE49-F238E27FC236}">
                <a16:creationId xmlns:a16="http://schemas.microsoft.com/office/drawing/2014/main" id="{26359BD4-E730-7C7A-F0E7-053A061C6DA4}"/>
              </a:ext>
            </a:extLst>
          </p:cNvPr>
          <p:cNvSpPr>
            <a:spLocks noChangeShapeType="1"/>
          </p:cNvSpPr>
          <p:nvPr/>
        </p:nvSpPr>
        <p:spPr bwMode="auto">
          <a:xfrm flipH="1">
            <a:off x="2057400" y="2085975"/>
            <a:ext cx="1374775" cy="60166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73" name="Line 17">
            <a:extLst>
              <a:ext uri="{FF2B5EF4-FFF2-40B4-BE49-F238E27FC236}">
                <a16:creationId xmlns:a16="http://schemas.microsoft.com/office/drawing/2014/main" id="{1A5441AD-E6B8-D904-241A-D60B775FD343}"/>
              </a:ext>
            </a:extLst>
          </p:cNvPr>
          <p:cNvSpPr>
            <a:spLocks noChangeShapeType="1"/>
          </p:cNvSpPr>
          <p:nvPr/>
        </p:nvSpPr>
        <p:spPr bwMode="auto">
          <a:xfrm>
            <a:off x="4279900" y="2054225"/>
            <a:ext cx="1511300" cy="71437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74" name="Line 18">
            <a:extLst>
              <a:ext uri="{FF2B5EF4-FFF2-40B4-BE49-F238E27FC236}">
                <a16:creationId xmlns:a16="http://schemas.microsoft.com/office/drawing/2014/main" id="{5E6E026C-53ED-C070-2BBE-EBA347CCA139}"/>
              </a:ext>
            </a:extLst>
          </p:cNvPr>
          <p:cNvSpPr>
            <a:spLocks noChangeShapeType="1"/>
          </p:cNvSpPr>
          <p:nvPr/>
        </p:nvSpPr>
        <p:spPr bwMode="auto">
          <a:xfrm>
            <a:off x="6026150" y="3208338"/>
            <a:ext cx="0" cy="3413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75" name="Line 19">
            <a:extLst>
              <a:ext uri="{FF2B5EF4-FFF2-40B4-BE49-F238E27FC236}">
                <a16:creationId xmlns:a16="http://schemas.microsoft.com/office/drawing/2014/main" id="{1B4DB4FB-EAFD-FC36-9FEC-90254C3A2BC5}"/>
              </a:ext>
            </a:extLst>
          </p:cNvPr>
          <p:cNvSpPr>
            <a:spLocks noChangeShapeType="1"/>
          </p:cNvSpPr>
          <p:nvPr/>
        </p:nvSpPr>
        <p:spPr bwMode="auto">
          <a:xfrm>
            <a:off x="6019800" y="4122738"/>
            <a:ext cx="0" cy="3413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78" name="Text Box 22">
            <a:extLst>
              <a:ext uri="{FF2B5EF4-FFF2-40B4-BE49-F238E27FC236}">
                <a16:creationId xmlns:a16="http://schemas.microsoft.com/office/drawing/2014/main" id="{A560F160-DAC0-5465-80F0-32C89BE2E8B1}"/>
              </a:ext>
            </a:extLst>
          </p:cNvPr>
          <p:cNvSpPr txBox="1">
            <a:spLocks noChangeArrowheads="1"/>
          </p:cNvSpPr>
          <p:nvPr/>
        </p:nvSpPr>
        <p:spPr bwMode="auto">
          <a:xfrm>
            <a:off x="1960091" y="3946525"/>
            <a:ext cx="1925637"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lnSpc>
                <a:spcPct val="100000"/>
              </a:lnSpc>
              <a:spcBef>
                <a:spcPct val="0"/>
              </a:spcBef>
            </a:pPr>
            <a:r>
              <a:rPr kumimoji="0" lang="en-US" altLang="zh-CN" sz="2800" b="1" baseline="-25000" dirty="0">
                <a:solidFill>
                  <a:schemeClr val="bg2"/>
                </a:solidFill>
              </a:rPr>
              <a:t>S.SNO=SPJ.SNO</a:t>
            </a:r>
          </a:p>
          <a:p>
            <a:pPr eaLnBrk="0" hangingPunct="0">
              <a:lnSpc>
                <a:spcPct val="100000"/>
              </a:lnSpc>
              <a:spcBef>
                <a:spcPct val="0"/>
              </a:spcBef>
            </a:pPr>
            <a:endParaRPr kumimoji="0" lang="en-US" altLang="zh-CN" sz="2800" b="1" dirty="0">
              <a:solidFill>
                <a:schemeClr val="bg2"/>
              </a:solidFill>
              <a:latin typeface="Times New Roman" pitchFamily="18" charset="0"/>
            </a:endParaRPr>
          </a:p>
          <a:p>
            <a:pPr eaLnBrk="0" hangingPunct="0">
              <a:lnSpc>
                <a:spcPct val="100000"/>
              </a:lnSpc>
              <a:spcBef>
                <a:spcPct val="0"/>
              </a:spcBef>
            </a:pPr>
            <a:endParaRPr kumimoji="0" lang="en-US" altLang="zh-CN" sz="2800" b="1" dirty="0">
              <a:solidFill>
                <a:schemeClr val="bg2"/>
              </a:solidFill>
              <a:latin typeface="Times New Roman" pitchFamily="18" charset="0"/>
            </a:endParaRPr>
          </a:p>
        </p:txBody>
      </p:sp>
      <p:sp>
        <p:nvSpPr>
          <p:cNvPr id="659479" name="Text Box 23">
            <a:extLst>
              <a:ext uri="{FF2B5EF4-FFF2-40B4-BE49-F238E27FC236}">
                <a16:creationId xmlns:a16="http://schemas.microsoft.com/office/drawing/2014/main" id="{318E076E-26E3-A1C2-9A95-9172F82B6BDC}"/>
              </a:ext>
            </a:extLst>
          </p:cNvPr>
          <p:cNvSpPr txBox="1">
            <a:spLocks noChangeArrowheads="1"/>
          </p:cNvSpPr>
          <p:nvPr/>
        </p:nvSpPr>
        <p:spPr bwMode="auto">
          <a:xfrm>
            <a:off x="1765300" y="4384675"/>
            <a:ext cx="825500" cy="3397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1"/>
                </a:solidFill>
                <a:latin typeface="Times New Roman" pitchFamily="18" charset="0"/>
              </a:rPr>
              <a:t>×</a:t>
            </a:r>
          </a:p>
        </p:txBody>
      </p:sp>
      <p:sp>
        <p:nvSpPr>
          <p:cNvPr id="659480" name="Text Box 24">
            <a:extLst>
              <a:ext uri="{FF2B5EF4-FFF2-40B4-BE49-F238E27FC236}">
                <a16:creationId xmlns:a16="http://schemas.microsoft.com/office/drawing/2014/main" id="{E387A6CC-2117-1069-6760-20B4CF9533C1}"/>
              </a:ext>
            </a:extLst>
          </p:cNvPr>
          <p:cNvSpPr txBox="1">
            <a:spLocks noChangeArrowheads="1"/>
          </p:cNvSpPr>
          <p:nvPr/>
        </p:nvSpPr>
        <p:spPr bwMode="auto">
          <a:xfrm>
            <a:off x="1766888" y="2711450"/>
            <a:ext cx="823912"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a:t>
            </a:r>
          </a:p>
        </p:txBody>
      </p:sp>
      <p:sp>
        <p:nvSpPr>
          <p:cNvPr id="659481" name="Text Box 25">
            <a:extLst>
              <a:ext uri="{FF2B5EF4-FFF2-40B4-BE49-F238E27FC236}">
                <a16:creationId xmlns:a16="http://schemas.microsoft.com/office/drawing/2014/main" id="{A0C268D6-6EC2-8C36-FAE3-3DE5C3978132}"/>
              </a:ext>
            </a:extLst>
          </p:cNvPr>
          <p:cNvSpPr txBox="1">
            <a:spLocks noChangeArrowheads="1"/>
          </p:cNvSpPr>
          <p:nvPr/>
        </p:nvSpPr>
        <p:spPr bwMode="auto">
          <a:xfrm>
            <a:off x="1781175" y="3527425"/>
            <a:ext cx="962025"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lnSpc>
                <a:spcPct val="100000"/>
              </a:lnSpc>
              <a:spcBef>
                <a:spcPct val="0"/>
              </a:spcBef>
            </a:pPr>
            <a:r>
              <a:rPr kumimoji="0" lang="en-US" altLang="zh-CN" sz="2400" b="1">
                <a:solidFill>
                  <a:schemeClr val="bg2"/>
                </a:solidFill>
                <a:latin typeface="Times New Roman" pitchFamily="18" charset="0"/>
              </a:rPr>
              <a:t>σ</a:t>
            </a:r>
            <a:endParaRPr kumimoji="0" lang="en-US" altLang="zh-CN" sz="2400" b="1">
              <a:solidFill>
                <a:schemeClr val="bg2"/>
              </a:solidFill>
            </a:endParaRPr>
          </a:p>
          <a:p>
            <a:pPr eaLnBrk="0" hangingPunct="0">
              <a:lnSpc>
                <a:spcPct val="100000"/>
              </a:lnSpc>
              <a:spcBef>
                <a:spcPct val="0"/>
              </a:spcBef>
            </a:pPr>
            <a:endParaRPr kumimoji="0" lang="en-US" altLang="zh-CN" sz="2400" b="1">
              <a:solidFill>
                <a:schemeClr val="bg2"/>
              </a:solidFill>
              <a:latin typeface="Times New Roman" pitchFamily="18" charset="0"/>
            </a:endParaRPr>
          </a:p>
        </p:txBody>
      </p:sp>
      <p:sp>
        <p:nvSpPr>
          <p:cNvPr id="659482" name="Text Box 26">
            <a:extLst>
              <a:ext uri="{FF2B5EF4-FFF2-40B4-BE49-F238E27FC236}">
                <a16:creationId xmlns:a16="http://schemas.microsoft.com/office/drawing/2014/main" id="{CA646988-7992-46A9-6136-60C770F2A3A1}"/>
              </a:ext>
            </a:extLst>
          </p:cNvPr>
          <p:cNvSpPr txBox="1">
            <a:spLocks noChangeArrowheads="1"/>
          </p:cNvSpPr>
          <p:nvPr/>
        </p:nvSpPr>
        <p:spPr bwMode="auto">
          <a:xfrm>
            <a:off x="1907704" y="3092450"/>
            <a:ext cx="3024187" cy="56515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baseline="-10000" dirty="0">
                <a:solidFill>
                  <a:schemeClr val="bg1"/>
                </a:solidFill>
              </a:rPr>
              <a:t>SNAME,SADDR,SPJ.PNO</a:t>
            </a:r>
            <a:endParaRPr kumimoji="0" lang="en-US" altLang="zh-CN" sz="2800" b="1" dirty="0">
              <a:solidFill>
                <a:schemeClr val="bg2"/>
              </a:solidFill>
              <a:latin typeface="Times New Roman" pitchFamily="18" charset="0"/>
            </a:endParaRPr>
          </a:p>
        </p:txBody>
      </p:sp>
      <p:sp>
        <p:nvSpPr>
          <p:cNvPr id="659483" name="Text Box 27">
            <a:extLst>
              <a:ext uri="{FF2B5EF4-FFF2-40B4-BE49-F238E27FC236}">
                <a16:creationId xmlns:a16="http://schemas.microsoft.com/office/drawing/2014/main" id="{CF6035F1-A17B-FE99-1424-F60D8335CB1E}"/>
              </a:ext>
            </a:extLst>
          </p:cNvPr>
          <p:cNvSpPr txBox="1">
            <a:spLocks noChangeArrowheads="1"/>
          </p:cNvSpPr>
          <p:nvPr/>
        </p:nvSpPr>
        <p:spPr bwMode="auto">
          <a:xfrm>
            <a:off x="633414" y="5077292"/>
            <a:ext cx="706437" cy="4667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latin typeface="Times New Roman" pitchFamily="18" charset="0"/>
              </a:rPr>
              <a:t>S</a:t>
            </a:r>
          </a:p>
        </p:txBody>
      </p:sp>
      <p:sp>
        <p:nvSpPr>
          <p:cNvPr id="659484" name="Text Box 28">
            <a:extLst>
              <a:ext uri="{FF2B5EF4-FFF2-40B4-BE49-F238E27FC236}">
                <a16:creationId xmlns:a16="http://schemas.microsoft.com/office/drawing/2014/main" id="{F038C053-F062-EEA6-194E-266DB5B94E86}"/>
              </a:ext>
            </a:extLst>
          </p:cNvPr>
          <p:cNvSpPr txBox="1">
            <a:spLocks noChangeArrowheads="1"/>
          </p:cNvSpPr>
          <p:nvPr/>
        </p:nvSpPr>
        <p:spPr bwMode="auto">
          <a:xfrm>
            <a:off x="3124200" y="6140450"/>
            <a:ext cx="25146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 </a:t>
            </a:r>
            <a:r>
              <a:rPr kumimoji="0" lang="en-US" altLang="zh-CN" b="1" dirty="0">
                <a:solidFill>
                  <a:schemeClr val="bg2"/>
                </a:solidFill>
              </a:rPr>
              <a:t>JNO =‘J1’</a:t>
            </a:r>
          </a:p>
          <a:p>
            <a:pPr eaLnBrk="0" hangingPunct="0">
              <a:lnSpc>
                <a:spcPct val="100000"/>
              </a:lnSpc>
              <a:spcBef>
                <a:spcPct val="0"/>
              </a:spcBef>
            </a:pPr>
            <a:endParaRPr kumimoji="0" lang="en-US" altLang="zh-CN" b="1" dirty="0">
              <a:solidFill>
                <a:schemeClr val="bg2"/>
              </a:solidFill>
            </a:endParaRPr>
          </a:p>
        </p:txBody>
      </p:sp>
      <p:sp>
        <p:nvSpPr>
          <p:cNvPr id="659485" name="Text Box 29">
            <a:extLst>
              <a:ext uri="{FF2B5EF4-FFF2-40B4-BE49-F238E27FC236}">
                <a16:creationId xmlns:a16="http://schemas.microsoft.com/office/drawing/2014/main" id="{D1EBEC93-E9C3-F4A1-7095-71F7681D4B74}"/>
              </a:ext>
            </a:extLst>
          </p:cNvPr>
          <p:cNvSpPr txBox="1">
            <a:spLocks noChangeArrowheads="1"/>
          </p:cNvSpPr>
          <p:nvPr/>
        </p:nvSpPr>
        <p:spPr bwMode="auto">
          <a:xfrm>
            <a:off x="2967038" y="5645150"/>
            <a:ext cx="708025"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σ</a:t>
            </a:r>
          </a:p>
        </p:txBody>
      </p:sp>
      <p:sp>
        <p:nvSpPr>
          <p:cNvPr id="659486" name="Text Box 30">
            <a:extLst>
              <a:ext uri="{FF2B5EF4-FFF2-40B4-BE49-F238E27FC236}">
                <a16:creationId xmlns:a16="http://schemas.microsoft.com/office/drawing/2014/main" id="{89542118-FE93-80EB-3332-F0FF4BBC16F2}"/>
              </a:ext>
            </a:extLst>
          </p:cNvPr>
          <p:cNvSpPr txBox="1">
            <a:spLocks noChangeArrowheads="1"/>
          </p:cNvSpPr>
          <p:nvPr/>
        </p:nvSpPr>
        <p:spPr bwMode="auto">
          <a:xfrm>
            <a:off x="2967038" y="4962525"/>
            <a:ext cx="1008062" cy="4556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a:t>
            </a:r>
          </a:p>
        </p:txBody>
      </p:sp>
      <p:sp>
        <p:nvSpPr>
          <p:cNvPr id="659487" name="Text Box 31">
            <a:extLst>
              <a:ext uri="{FF2B5EF4-FFF2-40B4-BE49-F238E27FC236}">
                <a16:creationId xmlns:a16="http://schemas.microsoft.com/office/drawing/2014/main" id="{885F1924-7CB9-ED65-5508-CF5BEE358315}"/>
              </a:ext>
            </a:extLst>
          </p:cNvPr>
          <p:cNvSpPr txBox="1">
            <a:spLocks noChangeArrowheads="1"/>
          </p:cNvSpPr>
          <p:nvPr/>
        </p:nvSpPr>
        <p:spPr bwMode="auto">
          <a:xfrm>
            <a:off x="2967038" y="6440488"/>
            <a:ext cx="1374775" cy="3413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rPr>
              <a:t>SPJ</a:t>
            </a:r>
          </a:p>
        </p:txBody>
      </p:sp>
      <p:sp>
        <p:nvSpPr>
          <p:cNvPr id="659489" name="Line 33">
            <a:extLst>
              <a:ext uri="{FF2B5EF4-FFF2-40B4-BE49-F238E27FC236}">
                <a16:creationId xmlns:a16="http://schemas.microsoft.com/office/drawing/2014/main" id="{5DE82BDA-BC02-0902-FFD6-646DAB03432A}"/>
              </a:ext>
            </a:extLst>
          </p:cNvPr>
          <p:cNvSpPr>
            <a:spLocks noChangeShapeType="1"/>
          </p:cNvSpPr>
          <p:nvPr/>
        </p:nvSpPr>
        <p:spPr bwMode="auto">
          <a:xfrm>
            <a:off x="1911350" y="3262313"/>
            <a:ext cx="0" cy="3413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90" name="Line 34">
            <a:extLst>
              <a:ext uri="{FF2B5EF4-FFF2-40B4-BE49-F238E27FC236}">
                <a16:creationId xmlns:a16="http://schemas.microsoft.com/office/drawing/2014/main" id="{B88A22AE-683A-0F37-CDB8-F2DA315A9448}"/>
              </a:ext>
            </a:extLst>
          </p:cNvPr>
          <p:cNvSpPr>
            <a:spLocks noChangeShapeType="1"/>
          </p:cNvSpPr>
          <p:nvPr/>
        </p:nvSpPr>
        <p:spPr bwMode="auto">
          <a:xfrm>
            <a:off x="1911350" y="4010025"/>
            <a:ext cx="0" cy="4540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91" name="Line 35">
            <a:extLst>
              <a:ext uri="{FF2B5EF4-FFF2-40B4-BE49-F238E27FC236}">
                <a16:creationId xmlns:a16="http://schemas.microsoft.com/office/drawing/2014/main" id="{78670141-CE8F-E738-D981-0AC30193F7AD}"/>
              </a:ext>
            </a:extLst>
          </p:cNvPr>
          <p:cNvSpPr>
            <a:spLocks noChangeShapeType="1"/>
          </p:cNvSpPr>
          <p:nvPr/>
        </p:nvSpPr>
        <p:spPr bwMode="auto">
          <a:xfrm>
            <a:off x="2282825" y="4768850"/>
            <a:ext cx="823913" cy="3397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92" name="Line 36">
            <a:extLst>
              <a:ext uri="{FF2B5EF4-FFF2-40B4-BE49-F238E27FC236}">
                <a16:creationId xmlns:a16="http://schemas.microsoft.com/office/drawing/2014/main" id="{76046BEB-ADDD-DFA1-F878-113D58ED970E}"/>
              </a:ext>
            </a:extLst>
          </p:cNvPr>
          <p:cNvSpPr>
            <a:spLocks noChangeShapeType="1"/>
          </p:cNvSpPr>
          <p:nvPr/>
        </p:nvSpPr>
        <p:spPr bwMode="auto">
          <a:xfrm>
            <a:off x="3128963" y="6143625"/>
            <a:ext cx="0" cy="34131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93" name="Line 37">
            <a:extLst>
              <a:ext uri="{FF2B5EF4-FFF2-40B4-BE49-F238E27FC236}">
                <a16:creationId xmlns:a16="http://schemas.microsoft.com/office/drawing/2014/main" id="{E31F5D60-94D3-43EA-166C-824FC470EDB0}"/>
              </a:ext>
            </a:extLst>
          </p:cNvPr>
          <p:cNvSpPr>
            <a:spLocks noChangeShapeType="1"/>
          </p:cNvSpPr>
          <p:nvPr/>
        </p:nvSpPr>
        <p:spPr bwMode="auto">
          <a:xfrm flipH="1">
            <a:off x="812800" y="4749800"/>
            <a:ext cx="687388" cy="24765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94" name="Line 38">
            <a:extLst>
              <a:ext uri="{FF2B5EF4-FFF2-40B4-BE49-F238E27FC236}">
                <a16:creationId xmlns:a16="http://schemas.microsoft.com/office/drawing/2014/main" id="{43FDFBD1-8553-A77F-8894-CEAC4F8219CE}"/>
              </a:ext>
            </a:extLst>
          </p:cNvPr>
          <p:cNvSpPr>
            <a:spLocks noChangeShapeType="1"/>
          </p:cNvSpPr>
          <p:nvPr/>
        </p:nvSpPr>
        <p:spPr bwMode="auto">
          <a:xfrm>
            <a:off x="3128963" y="5380038"/>
            <a:ext cx="0" cy="3413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99" name="Text Box 43">
            <a:extLst>
              <a:ext uri="{FF2B5EF4-FFF2-40B4-BE49-F238E27FC236}">
                <a16:creationId xmlns:a16="http://schemas.microsoft.com/office/drawing/2014/main" id="{52573800-26F5-48B1-BE78-498D03CB6C0E}"/>
              </a:ext>
            </a:extLst>
          </p:cNvPr>
          <p:cNvSpPr txBox="1">
            <a:spLocks noChangeArrowheads="1"/>
          </p:cNvSpPr>
          <p:nvPr/>
        </p:nvSpPr>
        <p:spPr bwMode="auto">
          <a:xfrm>
            <a:off x="3042851" y="5257028"/>
            <a:ext cx="25146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rPr>
              <a:t> </a:t>
            </a:r>
            <a:r>
              <a:rPr kumimoji="0" lang="en-US" altLang="zh-CN" b="1" dirty="0">
                <a:solidFill>
                  <a:schemeClr val="bg2"/>
                </a:solidFill>
              </a:rPr>
              <a:t>SPJ.SNO, SPJ.PNO</a:t>
            </a:r>
            <a:endParaRPr kumimoji="0" lang="en-US" altLang="zh-CN" sz="2400" b="1" dirty="0">
              <a:solidFill>
                <a:schemeClr val="bg2"/>
              </a:solidFill>
            </a:endParaRPr>
          </a:p>
          <a:p>
            <a:pPr eaLnBrk="0" hangingPunct="0">
              <a:lnSpc>
                <a:spcPct val="100000"/>
              </a:lnSpc>
              <a:spcBef>
                <a:spcPct val="0"/>
              </a:spcBef>
            </a:pPr>
            <a:endParaRPr kumimoji="0" lang="en-US" altLang="zh-CN" sz="2400" b="1" baseline="-10000" dirty="0">
              <a:solidFill>
                <a:schemeClr val="bg2"/>
              </a:solidFill>
            </a:endParaRPr>
          </a:p>
        </p:txBody>
      </p:sp>
      <p:sp>
        <p:nvSpPr>
          <p:cNvPr id="659511" name="Oval 55">
            <a:extLst>
              <a:ext uri="{FF2B5EF4-FFF2-40B4-BE49-F238E27FC236}">
                <a16:creationId xmlns:a16="http://schemas.microsoft.com/office/drawing/2014/main" id="{948B5502-EA10-985D-C809-CDA40759180A}"/>
              </a:ext>
            </a:extLst>
          </p:cNvPr>
          <p:cNvSpPr>
            <a:spLocks noChangeArrowheads="1"/>
          </p:cNvSpPr>
          <p:nvPr/>
        </p:nvSpPr>
        <p:spPr bwMode="auto">
          <a:xfrm>
            <a:off x="8458200" y="6477000"/>
            <a:ext cx="1371600" cy="762000"/>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pic>
        <p:nvPicPr>
          <p:cNvPr id="4" name="图片 3">
            <a:extLst>
              <a:ext uri="{FF2B5EF4-FFF2-40B4-BE49-F238E27FC236}">
                <a16:creationId xmlns:a16="http://schemas.microsoft.com/office/drawing/2014/main" id="{6D43582F-043B-94F4-8750-533E57D34AE5}"/>
              </a:ext>
            </a:extLst>
          </p:cNvPr>
          <p:cNvPicPr>
            <a:picLocks noChangeAspect="1"/>
          </p:cNvPicPr>
          <p:nvPr/>
        </p:nvPicPr>
        <p:blipFill>
          <a:blip r:embed="rId2"/>
          <a:stretch>
            <a:fillRect/>
          </a:stretch>
        </p:blipFill>
        <p:spPr>
          <a:xfrm>
            <a:off x="79572" y="188640"/>
            <a:ext cx="3593152" cy="1469482"/>
          </a:xfrm>
          <a:prstGeom prst="rect">
            <a:avLst/>
          </a:prstGeom>
        </p:spPr>
      </p:pic>
      <p:cxnSp>
        <p:nvCxnSpPr>
          <p:cNvPr id="3" name="直线连接符 2">
            <a:extLst>
              <a:ext uri="{FF2B5EF4-FFF2-40B4-BE49-F238E27FC236}">
                <a16:creationId xmlns:a16="http://schemas.microsoft.com/office/drawing/2014/main" id="{7C7E100A-8B99-DC84-E4B1-C10035EC999C}"/>
              </a:ext>
            </a:extLst>
          </p:cNvPr>
          <p:cNvCxnSpPr/>
          <p:nvPr/>
        </p:nvCxnSpPr>
        <p:spPr bwMode="auto">
          <a:xfrm>
            <a:off x="1763688" y="143847"/>
            <a:ext cx="5182964" cy="6048648"/>
          </a:xfrm>
          <a:prstGeom prst="line">
            <a:avLst/>
          </a:prstGeom>
          <a:ln>
            <a:solidFill>
              <a:srgbClr val="FF0000"/>
            </a:solidFill>
            <a:prstDash val="dash"/>
            <a:headEnd type="none" w="med" len="med"/>
            <a:tailEnd type="none" w="med" len="med"/>
          </a:ln>
        </p:spPr>
        <p:style>
          <a:lnRef idx="3">
            <a:schemeClr val="accent2"/>
          </a:lnRef>
          <a:fillRef idx="0">
            <a:schemeClr val="accent2"/>
          </a:fillRef>
          <a:effectRef idx="2">
            <a:schemeClr val="accent2"/>
          </a:effectRef>
          <a:fontRef idx="minor">
            <a:schemeClr val="tx1"/>
          </a:fontRef>
        </p:style>
      </p:cxnSp>
      <p:sp>
        <p:nvSpPr>
          <p:cNvPr id="5" name="任意形状 4">
            <a:extLst>
              <a:ext uri="{FF2B5EF4-FFF2-40B4-BE49-F238E27FC236}">
                <a16:creationId xmlns:a16="http://schemas.microsoft.com/office/drawing/2014/main" id="{B6F325BC-4652-F6FD-1EF6-290E635B87D0}"/>
              </a:ext>
            </a:extLst>
          </p:cNvPr>
          <p:cNvSpPr/>
          <p:nvPr/>
        </p:nvSpPr>
        <p:spPr bwMode="auto">
          <a:xfrm>
            <a:off x="3381405" y="21516"/>
            <a:ext cx="4707924" cy="5053914"/>
          </a:xfrm>
          <a:custGeom>
            <a:avLst/>
            <a:gdLst>
              <a:gd name="csX0" fmla="*/ 0 w 4707924"/>
              <a:gd name="csY0" fmla="*/ 247136 h 5053914"/>
              <a:gd name="csX1" fmla="*/ 0 w 4707924"/>
              <a:gd name="csY1" fmla="*/ 247136 h 5053914"/>
              <a:gd name="csX2" fmla="*/ 210064 w 4707924"/>
              <a:gd name="csY2" fmla="*/ 222422 h 5053914"/>
              <a:gd name="csX3" fmla="*/ 864973 w 4707924"/>
              <a:gd name="csY3" fmla="*/ 49428 h 5053914"/>
              <a:gd name="csX4" fmla="*/ 1519881 w 4707924"/>
              <a:gd name="csY4" fmla="*/ 0 h 5053914"/>
              <a:gd name="csX5" fmla="*/ 2001794 w 4707924"/>
              <a:gd name="csY5" fmla="*/ 12357 h 5053914"/>
              <a:gd name="csX6" fmla="*/ 2150075 w 4707924"/>
              <a:gd name="csY6" fmla="*/ 37071 h 5053914"/>
              <a:gd name="csX7" fmla="*/ 2347783 w 4707924"/>
              <a:gd name="csY7" fmla="*/ 86498 h 5053914"/>
              <a:gd name="csX8" fmla="*/ 2409567 w 4707924"/>
              <a:gd name="csY8" fmla="*/ 123568 h 5053914"/>
              <a:gd name="csX9" fmla="*/ 2471351 w 4707924"/>
              <a:gd name="csY9" fmla="*/ 148282 h 5053914"/>
              <a:gd name="csX10" fmla="*/ 2520778 w 4707924"/>
              <a:gd name="csY10" fmla="*/ 185352 h 5053914"/>
              <a:gd name="csX11" fmla="*/ 2570205 w 4707924"/>
              <a:gd name="csY11" fmla="*/ 210065 h 5053914"/>
              <a:gd name="csX12" fmla="*/ 2631989 w 4707924"/>
              <a:gd name="csY12" fmla="*/ 296563 h 5053914"/>
              <a:gd name="csX13" fmla="*/ 2706129 w 4707924"/>
              <a:gd name="csY13" fmla="*/ 407773 h 5053914"/>
              <a:gd name="csX14" fmla="*/ 3027405 w 4707924"/>
              <a:gd name="csY14" fmla="*/ 852617 h 5053914"/>
              <a:gd name="csX15" fmla="*/ 3200400 w 4707924"/>
              <a:gd name="csY15" fmla="*/ 1149179 h 5053914"/>
              <a:gd name="csX16" fmla="*/ 3262183 w 4707924"/>
              <a:gd name="csY16" fmla="*/ 1322173 h 5053914"/>
              <a:gd name="csX17" fmla="*/ 3299254 w 4707924"/>
              <a:gd name="csY17" fmla="*/ 1408671 h 5053914"/>
              <a:gd name="csX18" fmla="*/ 3336324 w 4707924"/>
              <a:gd name="csY18" fmla="*/ 1519882 h 5053914"/>
              <a:gd name="csX19" fmla="*/ 3373394 w 4707924"/>
              <a:gd name="csY19" fmla="*/ 1569309 h 5053914"/>
              <a:gd name="csX20" fmla="*/ 3398108 w 4707924"/>
              <a:gd name="csY20" fmla="*/ 1606379 h 5053914"/>
              <a:gd name="csX21" fmla="*/ 3521675 w 4707924"/>
              <a:gd name="csY21" fmla="*/ 1878228 h 5053914"/>
              <a:gd name="csX22" fmla="*/ 4127156 w 4707924"/>
              <a:gd name="csY22" fmla="*/ 2879125 h 5053914"/>
              <a:gd name="csX23" fmla="*/ 4361935 w 4707924"/>
              <a:gd name="csY23" fmla="*/ 3249828 h 5053914"/>
              <a:gd name="csX24" fmla="*/ 4399005 w 4707924"/>
              <a:gd name="csY24" fmla="*/ 3323968 h 5053914"/>
              <a:gd name="csX25" fmla="*/ 4312508 w 4707924"/>
              <a:gd name="csY25" fmla="*/ 3286898 h 5053914"/>
              <a:gd name="csX26" fmla="*/ 4213654 w 4707924"/>
              <a:gd name="csY26" fmla="*/ 3225114 h 5053914"/>
              <a:gd name="csX27" fmla="*/ 4238367 w 4707924"/>
              <a:gd name="csY27" fmla="*/ 3336325 h 5053914"/>
              <a:gd name="csX28" fmla="*/ 4386648 w 4707924"/>
              <a:gd name="csY28" fmla="*/ 3756455 h 5053914"/>
              <a:gd name="csX29" fmla="*/ 4497859 w 4707924"/>
              <a:gd name="csY29" fmla="*/ 4065373 h 5053914"/>
              <a:gd name="csX30" fmla="*/ 4683210 w 4707924"/>
              <a:gd name="csY30" fmla="*/ 4596714 h 5053914"/>
              <a:gd name="csX31" fmla="*/ 4707924 w 4707924"/>
              <a:gd name="csY31" fmla="*/ 4646141 h 5053914"/>
              <a:gd name="csX32" fmla="*/ 4695567 w 4707924"/>
              <a:gd name="csY32" fmla="*/ 4769709 h 5053914"/>
              <a:gd name="csX33" fmla="*/ 4609070 w 4707924"/>
              <a:gd name="csY33" fmla="*/ 4880919 h 5053914"/>
              <a:gd name="csX34" fmla="*/ 4584356 w 4707924"/>
              <a:gd name="csY34" fmla="*/ 4917990 h 5053914"/>
              <a:gd name="csX35" fmla="*/ 4436075 w 4707924"/>
              <a:gd name="csY35" fmla="*/ 5004487 h 5053914"/>
              <a:gd name="csX36" fmla="*/ 4374291 w 4707924"/>
              <a:gd name="csY36" fmla="*/ 5016844 h 5053914"/>
              <a:gd name="csX37" fmla="*/ 4213654 w 4707924"/>
              <a:gd name="csY37" fmla="*/ 5053914 h 5053914"/>
              <a:gd name="csX38" fmla="*/ 3361037 w 4707924"/>
              <a:gd name="csY38" fmla="*/ 5041557 h 5053914"/>
              <a:gd name="csX39" fmla="*/ 3076832 w 4707924"/>
              <a:gd name="csY39" fmla="*/ 5016844 h 5053914"/>
              <a:gd name="csX40" fmla="*/ 2607275 w 4707924"/>
              <a:gd name="csY40" fmla="*/ 5004487 h 5053914"/>
              <a:gd name="csX41" fmla="*/ 2594919 w 4707924"/>
              <a:gd name="csY41" fmla="*/ 4955060 h 5053914"/>
              <a:gd name="csX42" fmla="*/ 2545491 w 4707924"/>
              <a:gd name="csY42" fmla="*/ 4893276 h 5053914"/>
              <a:gd name="csX43" fmla="*/ 2483708 w 4707924"/>
              <a:gd name="csY43" fmla="*/ 4806779 h 5053914"/>
              <a:gd name="csX44" fmla="*/ 2298356 w 4707924"/>
              <a:gd name="csY44" fmla="*/ 4609071 h 5053914"/>
              <a:gd name="csX45" fmla="*/ 2150075 w 4707924"/>
              <a:gd name="csY45" fmla="*/ 4485503 h 5053914"/>
              <a:gd name="csX46" fmla="*/ 2038864 w 4707924"/>
              <a:gd name="csY46" fmla="*/ 4399006 h 5053914"/>
              <a:gd name="csX47" fmla="*/ 1927654 w 4707924"/>
              <a:gd name="csY47" fmla="*/ 4275438 h 5053914"/>
              <a:gd name="csX48" fmla="*/ 1816443 w 4707924"/>
              <a:gd name="csY48" fmla="*/ 4151871 h 5053914"/>
              <a:gd name="csX49" fmla="*/ 1383956 w 4707924"/>
              <a:gd name="csY49" fmla="*/ 3558746 h 5053914"/>
              <a:gd name="csX50" fmla="*/ 1322173 w 4707924"/>
              <a:gd name="csY50" fmla="*/ 3422822 h 5053914"/>
              <a:gd name="csX51" fmla="*/ 1309816 w 4707924"/>
              <a:gd name="csY51" fmla="*/ 3361038 h 5053914"/>
              <a:gd name="csX52" fmla="*/ 1272746 w 4707924"/>
              <a:gd name="csY52" fmla="*/ 3101546 h 5053914"/>
              <a:gd name="csX53" fmla="*/ 1223319 w 4707924"/>
              <a:gd name="csY53" fmla="*/ 2916195 h 5053914"/>
              <a:gd name="csX54" fmla="*/ 1198605 w 4707924"/>
              <a:gd name="csY54" fmla="*/ 2755557 h 5053914"/>
              <a:gd name="csX55" fmla="*/ 1149178 w 4707924"/>
              <a:gd name="csY55" fmla="*/ 2582563 h 5053914"/>
              <a:gd name="csX56" fmla="*/ 1136821 w 4707924"/>
              <a:gd name="csY56" fmla="*/ 2533136 h 5053914"/>
              <a:gd name="csX57" fmla="*/ 1062681 w 4707924"/>
              <a:gd name="csY57" fmla="*/ 2434282 h 5053914"/>
              <a:gd name="csX58" fmla="*/ 1013254 w 4707924"/>
              <a:gd name="csY58" fmla="*/ 2397211 h 5053914"/>
              <a:gd name="csX59" fmla="*/ 976183 w 4707924"/>
              <a:gd name="csY59" fmla="*/ 2347784 h 5053914"/>
              <a:gd name="csX60" fmla="*/ 939113 w 4707924"/>
              <a:gd name="csY60" fmla="*/ 2310714 h 5053914"/>
              <a:gd name="csX61" fmla="*/ 877329 w 4707924"/>
              <a:gd name="csY61" fmla="*/ 2236573 h 5053914"/>
              <a:gd name="csX62" fmla="*/ 679621 w 4707924"/>
              <a:gd name="csY62" fmla="*/ 2150076 h 5053914"/>
              <a:gd name="csX63" fmla="*/ 531340 w 4707924"/>
              <a:gd name="csY63" fmla="*/ 2026509 h 5053914"/>
              <a:gd name="csX64" fmla="*/ 457200 w 4707924"/>
              <a:gd name="csY64" fmla="*/ 1964725 h 5053914"/>
              <a:gd name="csX65" fmla="*/ 333632 w 4707924"/>
              <a:gd name="csY65" fmla="*/ 1853514 h 5053914"/>
              <a:gd name="csX66" fmla="*/ 308919 w 4707924"/>
              <a:gd name="csY66" fmla="*/ 1618736 h 5053914"/>
              <a:gd name="csX67" fmla="*/ 222421 w 4707924"/>
              <a:gd name="csY67" fmla="*/ 1198606 h 5053914"/>
              <a:gd name="csX68" fmla="*/ 210064 w 4707924"/>
              <a:gd name="csY68" fmla="*/ 1112109 h 5053914"/>
              <a:gd name="csX69" fmla="*/ 185351 w 4707924"/>
              <a:gd name="csY69" fmla="*/ 1050325 h 5053914"/>
              <a:gd name="csX70" fmla="*/ 160637 w 4707924"/>
              <a:gd name="csY70" fmla="*/ 926757 h 5053914"/>
              <a:gd name="csX71" fmla="*/ 160637 w 4707924"/>
              <a:gd name="csY71" fmla="*/ 395417 h 5053914"/>
              <a:gd name="csX72" fmla="*/ 135924 w 4707924"/>
              <a:gd name="csY72" fmla="*/ 358346 h 5053914"/>
              <a:gd name="csX73" fmla="*/ 61783 w 4707924"/>
              <a:gd name="csY73" fmla="*/ 284206 h 5053914"/>
              <a:gd name="csX74" fmla="*/ 49427 w 4707924"/>
              <a:gd name="csY74" fmla="*/ 247136 h 5053914"/>
              <a:gd name="csX75" fmla="*/ 74140 w 4707924"/>
              <a:gd name="csY75" fmla="*/ 284206 h 5053914"/>
              <a:gd name="csX76" fmla="*/ 49427 w 4707924"/>
              <a:gd name="csY76" fmla="*/ 234779 h 5053914"/>
              <a:gd name="csX77" fmla="*/ 49427 w 4707924"/>
              <a:gd name="csY77" fmla="*/ 234779 h 505391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Lst>
            <a:rect l="l" t="t" r="r" b="b"/>
            <a:pathLst>
              <a:path w="4707924" h="5053914">
                <a:moveTo>
                  <a:pt x="0" y="247136"/>
                </a:moveTo>
                <a:lnTo>
                  <a:pt x="0" y="247136"/>
                </a:lnTo>
                <a:cubicBezTo>
                  <a:pt x="70021" y="238898"/>
                  <a:pt x="141341" y="238171"/>
                  <a:pt x="210064" y="222422"/>
                </a:cubicBezTo>
                <a:cubicBezTo>
                  <a:pt x="541253" y="146524"/>
                  <a:pt x="562097" y="97888"/>
                  <a:pt x="864973" y="49428"/>
                </a:cubicBezTo>
                <a:cubicBezTo>
                  <a:pt x="1115903" y="9279"/>
                  <a:pt x="1270566" y="9973"/>
                  <a:pt x="1519881" y="0"/>
                </a:cubicBezTo>
                <a:cubicBezTo>
                  <a:pt x="1680519" y="4119"/>
                  <a:pt x="1841381" y="2921"/>
                  <a:pt x="2001794" y="12357"/>
                </a:cubicBezTo>
                <a:cubicBezTo>
                  <a:pt x="2051816" y="15300"/>
                  <a:pt x="2100851" y="27695"/>
                  <a:pt x="2150075" y="37071"/>
                </a:cubicBezTo>
                <a:cubicBezTo>
                  <a:pt x="2243741" y="54912"/>
                  <a:pt x="2261741" y="61914"/>
                  <a:pt x="2347783" y="86498"/>
                </a:cubicBezTo>
                <a:cubicBezTo>
                  <a:pt x="2368378" y="98855"/>
                  <a:pt x="2388085" y="112827"/>
                  <a:pt x="2409567" y="123568"/>
                </a:cubicBezTo>
                <a:cubicBezTo>
                  <a:pt x="2429406" y="133488"/>
                  <a:pt x="2451961" y="137510"/>
                  <a:pt x="2471351" y="148282"/>
                </a:cubicBezTo>
                <a:cubicBezTo>
                  <a:pt x="2489354" y="158284"/>
                  <a:pt x="2503314" y="174437"/>
                  <a:pt x="2520778" y="185352"/>
                </a:cubicBezTo>
                <a:cubicBezTo>
                  <a:pt x="2536398" y="195115"/>
                  <a:pt x="2553729" y="201827"/>
                  <a:pt x="2570205" y="210065"/>
                </a:cubicBezTo>
                <a:cubicBezTo>
                  <a:pt x="2672659" y="363745"/>
                  <a:pt x="2494047" y="97313"/>
                  <a:pt x="2631989" y="296563"/>
                </a:cubicBezTo>
                <a:cubicBezTo>
                  <a:pt x="2657349" y="333194"/>
                  <a:pt x="2679397" y="372131"/>
                  <a:pt x="2706129" y="407773"/>
                </a:cubicBezTo>
                <a:cubicBezTo>
                  <a:pt x="2878556" y="637675"/>
                  <a:pt x="2821941" y="500393"/>
                  <a:pt x="3027405" y="852617"/>
                </a:cubicBezTo>
                <a:cubicBezTo>
                  <a:pt x="3085070" y="951471"/>
                  <a:pt x="3160216" y="1042022"/>
                  <a:pt x="3200400" y="1149179"/>
                </a:cubicBezTo>
                <a:cubicBezTo>
                  <a:pt x="3222409" y="1207870"/>
                  <a:pt x="3244261" y="1262432"/>
                  <a:pt x="3262183" y="1322173"/>
                </a:cubicBezTo>
                <a:cubicBezTo>
                  <a:pt x="3283945" y="1394712"/>
                  <a:pt x="3260045" y="1349858"/>
                  <a:pt x="3299254" y="1408671"/>
                </a:cubicBezTo>
                <a:cubicBezTo>
                  <a:pt x="3309434" y="1449392"/>
                  <a:pt x="3315171" y="1481808"/>
                  <a:pt x="3336324" y="1519882"/>
                </a:cubicBezTo>
                <a:cubicBezTo>
                  <a:pt x="3346326" y="1537885"/>
                  <a:pt x="3361424" y="1552551"/>
                  <a:pt x="3373394" y="1569309"/>
                </a:cubicBezTo>
                <a:cubicBezTo>
                  <a:pt x="3382026" y="1581394"/>
                  <a:pt x="3389870" y="1594022"/>
                  <a:pt x="3398108" y="1606379"/>
                </a:cubicBezTo>
                <a:cubicBezTo>
                  <a:pt x="3427936" y="1725698"/>
                  <a:pt x="3415712" y="1691990"/>
                  <a:pt x="3521675" y="1878228"/>
                </a:cubicBezTo>
                <a:cubicBezTo>
                  <a:pt x="4253115" y="3163787"/>
                  <a:pt x="3660552" y="2172553"/>
                  <a:pt x="4127156" y="2879125"/>
                </a:cubicBezTo>
                <a:cubicBezTo>
                  <a:pt x="4207757" y="3001178"/>
                  <a:pt x="4296523" y="3119004"/>
                  <a:pt x="4361935" y="3249828"/>
                </a:cubicBezTo>
                <a:cubicBezTo>
                  <a:pt x="4374292" y="3274541"/>
                  <a:pt x="4421109" y="3307390"/>
                  <a:pt x="4399005" y="3323968"/>
                </a:cubicBezTo>
                <a:cubicBezTo>
                  <a:pt x="4373910" y="3342789"/>
                  <a:pt x="4340186" y="3301660"/>
                  <a:pt x="4312508" y="3286898"/>
                </a:cubicBezTo>
                <a:cubicBezTo>
                  <a:pt x="4278222" y="3268612"/>
                  <a:pt x="4246605" y="3245709"/>
                  <a:pt x="4213654" y="3225114"/>
                </a:cubicBezTo>
                <a:cubicBezTo>
                  <a:pt x="4190180" y="3295533"/>
                  <a:pt x="4200518" y="3235395"/>
                  <a:pt x="4238367" y="3336325"/>
                </a:cubicBezTo>
                <a:cubicBezTo>
                  <a:pt x="4290512" y="3475379"/>
                  <a:pt x="4336849" y="3616544"/>
                  <a:pt x="4386648" y="3756455"/>
                </a:cubicBezTo>
                <a:cubicBezTo>
                  <a:pt x="4423347" y="3859561"/>
                  <a:pt x="4464676" y="3961083"/>
                  <a:pt x="4497859" y="4065373"/>
                </a:cubicBezTo>
                <a:cubicBezTo>
                  <a:pt x="4537861" y="4191093"/>
                  <a:pt x="4623079" y="4476454"/>
                  <a:pt x="4683210" y="4596714"/>
                </a:cubicBezTo>
                <a:lnTo>
                  <a:pt x="4707924" y="4646141"/>
                </a:lnTo>
                <a:cubicBezTo>
                  <a:pt x="4703805" y="4687330"/>
                  <a:pt x="4706233" y="4729712"/>
                  <a:pt x="4695567" y="4769709"/>
                </a:cubicBezTo>
                <a:cubicBezTo>
                  <a:pt x="4681656" y="4821876"/>
                  <a:pt x="4641382" y="4843222"/>
                  <a:pt x="4609070" y="4880919"/>
                </a:cubicBezTo>
                <a:cubicBezTo>
                  <a:pt x="4599405" y="4892195"/>
                  <a:pt x="4595953" y="4908713"/>
                  <a:pt x="4584356" y="4917990"/>
                </a:cubicBezTo>
                <a:cubicBezTo>
                  <a:pt x="4576236" y="4924486"/>
                  <a:pt x="4469840" y="4993232"/>
                  <a:pt x="4436075" y="5004487"/>
                </a:cubicBezTo>
                <a:cubicBezTo>
                  <a:pt x="4416150" y="5011129"/>
                  <a:pt x="4394553" y="5011318"/>
                  <a:pt x="4374291" y="5016844"/>
                </a:cubicBezTo>
                <a:cubicBezTo>
                  <a:pt x="4225028" y="5057552"/>
                  <a:pt x="4379037" y="5030287"/>
                  <a:pt x="4213654" y="5053914"/>
                </a:cubicBezTo>
                <a:lnTo>
                  <a:pt x="3361037" y="5041557"/>
                </a:lnTo>
                <a:cubicBezTo>
                  <a:pt x="3265995" y="5038458"/>
                  <a:pt x="3171892" y="5019346"/>
                  <a:pt x="3076832" y="5016844"/>
                </a:cubicBezTo>
                <a:lnTo>
                  <a:pt x="2607275" y="5004487"/>
                </a:lnTo>
                <a:cubicBezTo>
                  <a:pt x="2603156" y="4988011"/>
                  <a:pt x="2603167" y="4969906"/>
                  <a:pt x="2594919" y="4955060"/>
                </a:cubicBezTo>
                <a:cubicBezTo>
                  <a:pt x="2582111" y="4932005"/>
                  <a:pt x="2561316" y="4914375"/>
                  <a:pt x="2545491" y="4893276"/>
                </a:cubicBezTo>
                <a:cubicBezTo>
                  <a:pt x="2524232" y="4864930"/>
                  <a:pt x="2505842" y="4834447"/>
                  <a:pt x="2483708" y="4806779"/>
                </a:cubicBezTo>
                <a:cubicBezTo>
                  <a:pt x="2437248" y="4748704"/>
                  <a:pt x="2352898" y="4658159"/>
                  <a:pt x="2298356" y="4609071"/>
                </a:cubicBezTo>
                <a:cubicBezTo>
                  <a:pt x="2250533" y="4566030"/>
                  <a:pt x="2200010" y="4526075"/>
                  <a:pt x="2150075" y="4485503"/>
                </a:cubicBezTo>
                <a:cubicBezTo>
                  <a:pt x="2135045" y="4473291"/>
                  <a:pt x="2045659" y="4409199"/>
                  <a:pt x="2038864" y="4399006"/>
                </a:cubicBezTo>
                <a:cubicBezTo>
                  <a:pt x="1986487" y="4320440"/>
                  <a:pt x="2038506" y="4393218"/>
                  <a:pt x="1927654" y="4275438"/>
                </a:cubicBezTo>
                <a:cubicBezTo>
                  <a:pt x="1889675" y="4235085"/>
                  <a:pt x="1851206" y="4195025"/>
                  <a:pt x="1816443" y="4151871"/>
                </a:cubicBezTo>
                <a:cubicBezTo>
                  <a:pt x="1774946" y="4100357"/>
                  <a:pt x="1424215" y="3652684"/>
                  <a:pt x="1383956" y="3558746"/>
                </a:cubicBezTo>
                <a:cubicBezTo>
                  <a:pt x="1339630" y="3455318"/>
                  <a:pt x="1360914" y="3500306"/>
                  <a:pt x="1322173" y="3422822"/>
                </a:cubicBezTo>
                <a:cubicBezTo>
                  <a:pt x="1318054" y="3402227"/>
                  <a:pt x="1313010" y="3381796"/>
                  <a:pt x="1309816" y="3361038"/>
                </a:cubicBezTo>
                <a:cubicBezTo>
                  <a:pt x="1296530" y="3274679"/>
                  <a:pt x="1295259" y="3185971"/>
                  <a:pt x="1272746" y="3101546"/>
                </a:cubicBezTo>
                <a:cubicBezTo>
                  <a:pt x="1256270" y="3039762"/>
                  <a:pt x="1236717" y="2978718"/>
                  <a:pt x="1223319" y="2916195"/>
                </a:cubicBezTo>
                <a:cubicBezTo>
                  <a:pt x="1211967" y="2863222"/>
                  <a:pt x="1208742" y="2808776"/>
                  <a:pt x="1198605" y="2755557"/>
                </a:cubicBezTo>
                <a:cubicBezTo>
                  <a:pt x="1179773" y="2656691"/>
                  <a:pt x="1175275" y="2669552"/>
                  <a:pt x="1149178" y="2582563"/>
                </a:cubicBezTo>
                <a:cubicBezTo>
                  <a:pt x="1144298" y="2566296"/>
                  <a:pt x="1143511" y="2548746"/>
                  <a:pt x="1136821" y="2533136"/>
                </a:cubicBezTo>
                <a:cubicBezTo>
                  <a:pt x="1128264" y="2513169"/>
                  <a:pt x="1066715" y="2438316"/>
                  <a:pt x="1062681" y="2434282"/>
                </a:cubicBezTo>
                <a:cubicBezTo>
                  <a:pt x="1048118" y="2419719"/>
                  <a:pt x="1027817" y="2411774"/>
                  <a:pt x="1013254" y="2397211"/>
                </a:cubicBezTo>
                <a:cubicBezTo>
                  <a:pt x="998691" y="2382648"/>
                  <a:pt x="989586" y="2363421"/>
                  <a:pt x="976183" y="2347784"/>
                </a:cubicBezTo>
                <a:cubicBezTo>
                  <a:pt x="964810" y="2334516"/>
                  <a:pt x="950300" y="2324139"/>
                  <a:pt x="939113" y="2310714"/>
                </a:cubicBezTo>
                <a:cubicBezTo>
                  <a:pt x="918836" y="2286382"/>
                  <a:pt x="908274" y="2252046"/>
                  <a:pt x="877329" y="2236573"/>
                </a:cubicBezTo>
                <a:cubicBezTo>
                  <a:pt x="733151" y="2164484"/>
                  <a:pt x="801290" y="2239726"/>
                  <a:pt x="679621" y="2150076"/>
                </a:cubicBezTo>
                <a:cubicBezTo>
                  <a:pt x="627824" y="2111910"/>
                  <a:pt x="580767" y="2067698"/>
                  <a:pt x="531340" y="2026509"/>
                </a:cubicBezTo>
                <a:cubicBezTo>
                  <a:pt x="506627" y="2005914"/>
                  <a:pt x="479947" y="1987472"/>
                  <a:pt x="457200" y="1964725"/>
                </a:cubicBezTo>
                <a:cubicBezTo>
                  <a:pt x="368496" y="1876021"/>
                  <a:pt x="411019" y="1911554"/>
                  <a:pt x="333632" y="1853514"/>
                </a:cubicBezTo>
                <a:cubicBezTo>
                  <a:pt x="296237" y="1741332"/>
                  <a:pt x="343159" y="1892658"/>
                  <a:pt x="308919" y="1618736"/>
                </a:cubicBezTo>
                <a:cubicBezTo>
                  <a:pt x="276636" y="1360471"/>
                  <a:pt x="277898" y="1383530"/>
                  <a:pt x="222421" y="1198606"/>
                </a:cubicBezTo>
                <a:cubicBezTo>
                  <a:pt x="218302" y="1169774"/>
                  <a:pt x="217128" y="1140364"/>
                  <a:pt x="210064" y="1112109"/>
                </a:cubicBezTo>
                <a:cubicBezTo>
                  <a:pt x="204684" y="1090590"/>
                  <a:pt x="190731" y="1071844"/>
                  <a:pt x="185351" y="1050325"/>
                </a:cubicBezTo>
                <a:cubicBezTo>
                  <a:pt x="128558" y="823153"/>
                  <a:pt x="201253" y="1048605"/>
                  <a:pt x="160637" y="926757"/>
                </a:cubicBezTo>
                <a:cubicBezTo>
                  <a:pt x="163091" y="850687"/>
                  <a:pt x="188069" y="532579"/>
                  <a:pt x="160637" y="395417"/>
                </a:cubicBezTo>
                <a:cubicBezTo>
                  <a:pt x="157724" y="380854"/>
                  <a:pt x="145791" y="369446"/>
                  <a:pt x="135924" y="358346"/>
                </a:cubicBezTo>
                <a:cubicBezTo>
                  <a:pt x="112704" y="332224"/>
                  <a:pt x="61783" y="284206"/>
                  <a:pt x="61783" y="284206"/>
                </a:cubicBezTo>
                <a:cubicBezTo>
                  <a:pt x="57664" y="271849"/>
                  <a:pt x="36402" y="247136"/>
                  <a:pt x="49427" y="247136"/>
                </a:cubicBezTo>
                <a:cubicBezTo>
                  <a:pt x="64278" y="247136"/>
                  <a:pt x="74140" y="284206"/>
                  <a:pt x="74140" y="284206"/>
                </a:cubicBezTo>
                <a:lnTo>
                  <a:pt x="49427" y="234779"/>
                </a:lnTo>
                <a:lnTo>
                  <a:pt x="49427" y="234779"/>
                </a:lnTo>
              </a:path>
            </a:pathLst>
          </a:custGeom>
          <a:ln/>
        </p:spPr>
        <p:style>
          <a:lnRef idx="1">
            <a:schemeClr val="accent1"/>
          </a:lnRef>
          <a:fillRef idx="0">
            <a:schemeClr val="accent1"/>
          </a:fillRef>
          <a:effectRef idx="0">
            <a:schemeClr val="accent1"/>
          </a:effectRef>
          <a:fontRef idx="minor">
            <a:schemeClr val="tx1"/>
          </a:fontRef>
        </p:style>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7" name="任意形状 6">
            <a:extLst>
              <a:ext uri="{FF2B5EF4-FFF2-40B4-BE49-F238E27FC236}">
                <a16:creationId xmlns:a16="http://schemas.microsoft.com/office/drawing/2014/main" id="{256EF727-808E-DBAE-4D0D-878F098BA875}"/>
              </a:ext>
            </a:extLst>
          </p:cNvPr>
          <p:cNvSpPr/>
          <p:nvPr/>
        </p:nvSpPr>
        <p:spPr bwMode="auto">
          <a:xfrm>
            <a:off x="395536" y="2483708"/>
            <a:ext cx="5055397" cy="4361935"/>
          </a:xfrm>
          <a:custGeom>
            <a:avLst/>
            <a:gdLst>
              <a:gd name="csX0" fmla="*/ 2335427 w 5055397"/>
              <a:gd name="csY0" fmla="*/ 86497 h 4361935"/>
              <a:gd name="csX1" fmla="*/ 2335427 w 5055397"/>
              <a:gd name="csY1" fmla="*/ 86497 h 4361935"/>
              <a:gd name="csX2" fmla="*/ 1804087 w 5055397"/>
              <a:gd name="csY2" fmla="*/ 86497 h 4361935"/>
              <a:gd name="csX3" fmla="*/ 1643449 w 5055397"/>
              <a:gd name="csY3" fmla="*/ 49427 h 4361935"/>
              <a:gd name="csX4" fmla="*/ 1519881 w 5055397"/>
              <a:gd name="csY4" fmla="*/ 24714 h 4361935"/>
              <a:gd name="csX5" fmla="*/ 1408671 w 5055397"/>
              <a:gd name="csY5" fmla="*/ 12357 h 4361935"/>
              <a:gd name="csX6" fmla="*/ 1309816 w 5055397"/>
              <a:gd name="csY6" fmla="*/ 0 h 4361935"/>
              <a:gd name="csX7" fmla="*/ 1062681 w 5055397"/>
              <a:gd name="csY7" fmla="*/ 12357 h 4361935"/>
              <a:gd name="csX8" fmla="*/ 1000898 w 5055397"/>
              <a:gd name="csY8" fmla="*/ 37070 h 4361935"/>
              <a:gd name="csX9" fmla="*/ 914400 w 5055397"/>
              <a:gd name="csY9" fmla="*/ 86497 h 4361935"/>
              <a:gd name="csX10" fmla="*/ 864973 w 5055397"/>
              <a:gd name="csY10" fmla="*/ 111211 h 4361935"/>
              <a:gd name="csX11" fmla="*/ 741406 w 5055397"/>
              <a:gd name="csY11" fmla="*/ 197708 h 4361935"/>
              <a:gd name="csX12" fmla="*/ 593125 w 5055397"/>
              <a:gd name="csY12" fmla="*/ 333633 h 4361935"/>
              <a:gd name="csX13" fmla="*/ 531341 w 5055397"/>
              <a:gd name="csY13" fmla="*/ 407773 h 4361935"/>
              <a:gd name="csX14" fmla="*/ 420130 w 5055397"/>
              <a:gd name="csY14" fmla="*/ 580768 h 4361935"/>
              <a:gd name="csX15" fmla="*/ 358346 w 5055397"/>
              <a:gd name="csY15" fmla="*/ 704335 h 4361935"/>
              <a:gd name="csX16" fmla="*/ 234779 w 5055397"/>
              <a:gd name="csY16" fmla="*/ 1037968 h 4361935"/>
              <a:gd name="csX17" fmla="*/ 135925 w 5055397"/>
              <a:gd name="csY17" fmla="*/ 1396314 h 4361935"/>
              <a:gd name="csX18" fmla="*/ 111211 w 5055397"/>
              <a:gd name="csY18" fmla="*/ 1544595 h 4361935"/>
              <a:gd name="csX19" fmla="*/ 24714 w 5055397"/>
              <a:gd name="csY19" fmla="*/ 1779373 h 4361935"/>
              <a:gd name="csX20" fmla="*/ 0 w 5055397"/>
              <a:gd name="csY20" fmla="*/ 1816443 h 4361935"/>
              <a:gd name="csX21" fmla="*/ 37071 w 5055397"/>
              <a:gd name="csY21" fmla="*/ 2261287 h 4361935"/>
              <a:gd name="csX22" fmla="*/ 49427 w 5055397"/>
              <a:gd name="csY22" fmla="*/ 2681416 h 4361935"/>
              <a:gd name="csX23" fmla="*/ 74141 w 5055397"/>
              <a:gd name="csY23" fmla="*/ 3052119 h 4361935"/>
              <a:gd name="csX24" fmla="*/ 123568 w 5055397"/>
              <a:gd name="csY24" fmla="*/ 3323968 h 4361935"/>
              <a:gd name="csX25" fmla="*/ 135925 w 5055397"/>
              <a:gd name="csY25" fmla="*/ 3385751 h 4361935"/>
              <a:gd name="csX26" fmla="*/ 160638 w 5055397"/>
              <a:gd name="csY26" fmla="*/ 3422822 h 4361935"/>
              <a:gd name="csX27" fmla="*/ 172995 w 5055397"/>
              <a:gd name="csY27" fmla="*/ 3459892 h 4361935"/>
              <a:gd name="csX28" fmla="*/ 222422 w 5055397"/>
              <a:gd name="csY28" fmla="*/ 3472249 h 4361935"/>
              <a:gd name="csX29" fmla="*/ 284206 w 5055397"/>
              <a:gd name="csY29" fmla="*/ 3496962 h 4361935"/>
              <a:gd name="csX30" fmla="*/ 617838 w 5055397"/>
              <a:gd name="csY30" fmla="*/ 3620530 h 4361935"/>
              <a:gd name="csX31" fmla="*/ 1161535 w 5055397"/>
              <a:gd name="csY31" fmla="*/ 3830595 h 4361935"/>
              <a:gd name="csX32" fmla="*/ 1383957 w 5055397"/>
              <a:gd name="csY32" fmla="*/ 3941806 h 4361935"/>
              <a:gd name="csX33" fmla="*/ 1532238 w 5055397"/>
              <a:gd name="csY33" fmla="*/ 4003589 h 4361935"/>
              <a:gd name="csX34" fmla="*/ 1631092 w 5055397"/>
              <a:gd name="csY34" fmla="*/ 4053016 h 4361935"/>
              <a:gd name="csX35" fmla="*/ 1532238 w 5055397"/>
              <a:gd name="csY35" fmla="*/ 3929449 h 4361935"/>
              <a:gd name="csX36" fmla="*/ 1482811 w 5055397"/>
              <a:gd name="csY36" fmla="*/ 3880022 h 4361935"/>
              <a:gd name="csX37" fmla="*/ 1581665 w 5055397"/>
              <a:gd name="csY37" fmla="*/ 3904735 h 4361935"/>
              <a:gd name="csX38" fmla="*/ 1729946 w 5055397"/>
              <a:gd name="csY38" fmla="*/ 3954162 h 4361935"/>
              <a:gd name="csX39" fmla="*/ 1853514 w 5055397"/>
              <a:gd name="csY39" fmla="*/ 3978876 h 4361935"/>
              <a:gd name="csX40" fmla="*/ 1915298 w 5055397"/>
              <a:gd name="csY40" fmla="*/ 3991233 h 4361935"/>
              <a:gd name="csX41" fmla="*/ 1964725 w 5055397"/>
              <a:gd name="csY41" fmla="*/ 4003589 h 4361935"/>
              <a:gd name="csX42" fmla="*/ 2088292 w 5055397"/>
              <a:gd name="csY42" fmla="*/ 4028303 h 4361935"/>
              <a:gd name="csX43" fmla="*/ 2150076 w 5055397"/>
              <a:gd name="csY43" fmla="*/ 4040660 h 4361935"/>
              <a:gd name="csX44" fmla="*/ 2187146 w 5055397"/>
              <a:gd name="csY44" fmla="*/ 4053016 h 4361935"/>
              <a:gd name="csX45" fmla="*/ 2150076 w 5055397"/>
              <a:gd name="csY45" fmla="*/ 4003589 h 4361935"/>
              <a:gd name="csX46" fmla="*/ 2310714 w 5055397"/>
              <a:gd name="csY46" fmla="*/ 4090087 h 4361935"/>
              <a:gd name="csX47" fmla="*/ 2409568 w 5055397"/>
              <a:gd name="csY47" fmla="*/ 4139514 h 4361935"/>
              <a:gd name="csX48" fmla="*/ 2533135 w 5055397"/>
              <a:gd name="csY48" fmla="*/ 4213654 h 4361935"/>
              <a:gd name="csX49" fmla="*/ 2582562 w 5055397"/>
              <a:gd name="csY49" fmla="*/ 4250724 h 4361935"/>
              <a:gd name="csX50" fmla="*/ 2619633 w 5055397"/>
              <a:gd name="csY50" fmla="*/ 4263081 h 4361935"/>
              <a:gd name="csX51" fmla="*/ 2718487 w 5055397"/>
              <a:gd name="csY51" fmla="*/ 4300151 h 4361935"/>
              <a:gd name="csX52" fmla="*/ 2792627 w 5055397"/>
              <a:gd name="csY52" fmla="*/ 4324865 h 4361935"/>
              <a:gd name="csX53" fmla="*/ 2879125 w 5055397"/>
              <a:gd name="csY53" fmla="*/ 4337222 h 4361935"/>
              <a:gd name="csX54" fmla="*/ 3101546 w 5055397"/>
              <a:gd name="csY54" fmla="*/ 4361935 h 4361935"/>
              <a:gd name="csX55" fmla="*/ 3398108 w 5055397"/>
              <a:gd name="csY55" fmla="*/ 4349578 h 4361935"/>
              <a:gd name="csX56" fmla="*/ 3534033 w 5055397"/>
              <a:gd name="csY56" fmla="*/ 4324865 h 4361935"/>
              <a:gd name="csX57" fmla="*/ 3620530 w 5055397"/>
              <a:gd name="csY57" fmla="*/ 4287795 h 4361935"/>
              <a:gd name="csX58" fmla="*/ 3657600 w 5055397"/>
              <a:gd name="csY58" fmla="*/ 4275438 h 4361935"/>
              <a:gd name="csX59" fmla="*/ 3707027 w 5055397"/>
              <a:gd name="csY59" fmla="*/ 4238368 h 4361935"/>
              <a:gd name="csX60" fmla="*/ 3756454 w 5055397"/>
              <a:gd name="csY60" fmla="*/ 4213654 h 4361935"/>
              <a:gd name="csX61" fmla="*/ 3855308 w 5055397"/>
              <a:gd name="csY61" fmla="*/ 4139514 h 4361935"/>
              <a:gd name="csX62" fmla="*/ 3904735 w 5055397"/>
              <a:gd name="csY62" fmla="*/ 4102443 h 4361935"/>
              <a:gd name="csX63" fmla="*/ 3941806 w 5055397"/>
              <a:gd name="csY63" fmla="*/ 4077730 h 4361935"/>
              <a:gd name="csX64" fmla="*/ 4040660 w 5055397"/>
              <a:gd name="csY64" fmla="*/ 3978876 h 4361935"/>
              <a:gd name="csX65" fmla="*/ 4102443 w 5055397"/>
              <a:gd name="csY65" fmla="*/ 3917092 h 4361935"/>
              <a:gd name="csX66" fmla="*/ 4127157 w 5055397"/>
              <a:gd name="csY66" fmla="*/ 3867665 h 4361935"/>
              <a:gd name="csX67" fmla="*/ 4077730 w 5055397"/>
              <a:gd name="csY67" fmla="*/ 3855308 h 4361935"/>
              <a:gd name="csX68" fmla="*/ 4399006 w 5055397"/>
              <a:gd name="csY68" fmla="*/ 3842951 h 4361935"/>
              <a:gd name="csX69" fmla="*/ 4720281 w 5055397"/>
              <a:gd name="csY69" fmla="*/ 3781168 h 4361935"/>
              <a:gd name="csX70" fmla="*/ 4843849 w 5055397"/>
              <a:gd name="csY70" fmla="*/ 3756454 h 4361935"/>
              <a:gd name="csX71" fmla="*/ 5016843 w 5055397"/>
              <a:gd name="csY71" fmla="*/ 3744097 h 4361935"/>
              <a:gd name="csX72" fmla="*/ 5041557 w 5055397"/>
              <a:gd name="csY72" fmla="*/ 3707027 h 4361935"/>
              <a:gd name="csX73" fmla="*/ 5041557 w 5055397"/>
              <a:gd name="csY73" fmla="*/ 3410465 h 4361935"/>
              <a:gd name="csX74" fmla="*/ 4992130 w 5055397"/>
              <a:gd name="csY74" fmla="*/ 3311611 h 4361935"/>
              <a:gd name="csX75" fmla="*/ 4955060 w 5055397"/>
              <a:gd name="csY75" fmla="*/ 3249827 h 4361935"/>
              <a:gd name="csX76" fmla="*/ 4930346 w 5055397"/>
              <a:gd name="csY76" fmla="*/ 3200400 h 4361935"/>
              <a:gd name="csX77" fmla="*/ 4893276 w 5055397"/>
              <a:gd name="csY77" fmla="*/ 3150973 h 4361935"/>
              <a:gd name="csX78" fmla="*/ 4843849 w 5055397"/>
              <a:gd name="csY78" fmla="*/ 3039762 h 4361935"/>
              <a:gd name="csX79" fmla="*/ 4831492 w 5055397"/>
              <a:gd name="csY79" fmla="*/ 2990335 h 4361935"/>
              <a:gd name="csX80" fmla="*/ 4819135 w 5055397"/>
              <a:gd name="csY80" fmla="*/ 2953265 h 4361935"/>
              <a:gd name="csX81" fmla="*/ 4806779 w 5055397"/>
              <a:gd name="csY81" fmla="*/ 2903838 h 4361935"/>
              <a:gd name="csX82" fmla="*/ 4782065 w 5055397"/>
              <a:gd name="csY82" fmla="*/ 2866768 h 4361935"/>
              <a:gd name="csX83" fmla="*/ 4744995 w 5055397"/>
              <a:gd name="csY83" fmla="*/ 2804984 h 4361935"/>
              <a:gd name="csX84" fmla="*/ 4732638 w 5055397"/>
              <a:gd name="csY84" fmla="*/ 2767914 h 4361935"/>
              <a:gd name="csX85" fmla="*/ 4658498 w 5055397"/>
              <a:gd name="csY85" fmla="*/ 2669060 h 4361935"/>
              <a:gd name="csX86" fmla="*/ 4633784 w 5055397"/>
              <a:gd name="csY86" fmla="*/ 2619633 h 4361935"/>
              <a:gd name="csX87" fmla="*/ 4559643 w 5055397"/>
              <a:gd name="csY87" fmla="*/ 2533135 h 4361935"/>
              <a:gd name="csX88" fmla="*/ 4522573 w 5055397"/>
              <a:gd name="csY88" fmla="*/ 2520778 h 4361935"/>
              <a:gd name="csX89" fmla="*/ 4485503 w 5055397"/>
              <a:gd name="csY89" fmla="*/ 2483708 h 4361935"/>
              <a:gd name="csX90" fmla="*/ 4361935 w 5055397"/>
              <a:gd name="csY90" fmla="*/ 2409568 h 4361935"/>
              <a:gd name="csX91" fmla="*/ 4263081 w 5055397"/>
              <a:gd name="csY91" fmla="*/ 2310714 h 4361935"/>
              <a:gd name="csX92" fmla="*/ 4164227 w 5055397"/>
              <a:gd name="csY92" fmla="*/ 2137719 h 4361935"/>
              <a:gd name="csX93" fmla="*/ 4151871 w 5055397"/>
              <a:gd name="csY93" fmla="*/ 2088292 h 4361935"/>
              <a:gd name="csX94" fmla="*/ 4188941 w 5055397"/>
              <a:gd name="csY94" fmla="*/ 1754660 h 4361935"/>
              <a:gd name="csX95" fmla="*/ 4226011 w 5055397"/>
              <a:gd name="csY95" fmla="*/ 1556951 h 4361935"/>
              <a:gd name="csX96" fmla="*/ 4263081 w 5055397"/>
              <a:gd name="csY96" fmla="*/ 1272746 h 4361935"/>
              <a:gd name="csX97" fmla="*/ 4250725 w 5055397"/>
              <a:gd name="csY97" fmla="*/ 1112108 h 4361935"/>
              <a:gd name="csX98" fmla="*/ 4139514 w 5055397"/>
              <a:gd name="csY98" fmla="*/ 1000897 h 4361935"/>
              <a:gd name="csX99" fmla="*/ 4090087 w 5055397"/>
              <a:gd name="csY99" fmla="*/ 939114 h 4361935"/>
              <a:gd name="csX100" fmla="*/ 4065373 w 5055397"/>
              <a:gd name="csY100" fmla="*/ 889687 h 4361935"/>
              <a:gd name="csX101" fmla="*/ 3941806 w 5055397"/>
              <a:gd name="csY101" fmla="*/ 741406 h 4361935"/>
              <a:gd name="csX102" fmla="*/ 3904735 w 5055397"/>
              <a:gd name="csY102" fmla="*/ 729049 h 4361935"/>
              <a:gd name="csX103" fmla="*/ 3855308 w 5055397"/>
              <a:gd name="csY103" fmla="*/ 704335 h 4361935"/>
              <a:gd name="csX104" fmla="*/ 3805881 w 5055397"/>
              <a:gd name="csY104" fmla="*/ 667265 h 4361935"/>
              <a:gd name="csX105" fmla="*/ 3756454 w 5055397"/>
              <a:gd name="csY105" fmla="*/ 654908 h 4361935"/>
              <a:gd name="csX106" fmla="*/ 3608173 w 5055397"/>
              <a:gd name="csY106" fmla="*/ 593124 h 4361935"/>
              <a:gd name="csX107" fmla="*/ 3534033 w 5055397"/>
              <a:gd name="csY107" fmla="*/ 556054 h 4361935"/>
              <a:gd name="csX108" fmla="*/ 3496962 w 5055397"/>
              <a:gd name="csY108" fmla="*/ 531341 h 4361935"/>
              <a:gd name="csX109" fmla="*/ 3447535 w 5055397"/>
              <a:gd name="csY109" fmla="*/ 518984 h 4361935"/>
              <a:gd name="csX110" fmla="*/ 3385752 w 5055397"/>
              <a:gd name="csY110" fmla="*/ 494270 h 4361935"/>
              <a:gd name="csX111" fmla="*/ 3274541 w 5055397"/>
              <a:gd name="csY111" fmla="*/ 457200 h 4361935"/>
              <a:gd name="csX112" fmla="*/ 3015049 w 5055397"/>
              <a:gd name="csY112" fmla="*/ 345989 h 4361935"/>
              <a:gd name="csX113" fmla="*/ 2903838 w 5055397"/>
              <a:gd name="csY113" fmla="*/ 321276 h 4361935"/>
              <a:gd name="csX114" fmla="*/ 2743200 w 5055397"/>
              <a:gd name="csY114" fmla="*/ 284206 h 4361935"/>
              <a:gd name="csX115" fmla="*/ 2693773 w 5055397"/>
              <a:gd name="csY115" fmla="*/ 259492 h 4361935"/>
              <a:gd name="csX116" fmla="*/ 2619633 w 5055397"/>
              <a:gd name="csY116" fmla="*/ 247135 h 4361935"/>
              <a:gd name="csX117" fmla="*/ 2582562 w 5055397"/>
              <a:gd name="csY117" fmla="*/ 234778 h 4361935"/>
              <a:gd name="csX118" fmla="*/ 2533135 w 5055397"/>
              <a:gd name="csY118" fmla="*/ 222422 h 4361935"/>
              <a:gd name="csX119" fmla="*/ 2458995 w 5055397"/>
              <a:gd name="csY119" fmla="*/ 185351 h 4361935"/>
              <a:gd name="csX120" fmla="*/ 2421925 w 5055397"/>
              <a:gd name="csY120" fmla="*/ 172995 h 4361935"/>
              <a:gd name="csX121" fmla="*/ 2372498 w 5055397"/>
              <a:gd name="csY121" fmla="*/ 98854 h 4361935"/>
              <a:gd name="csX122" fmla="*/ 2335427 w 5055397"/>
              <a:gd name="csY122" fmla="*/ 86497 h 436193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Lst>
            <a:rect l="l" t="t" r="r" b="b"/>
            <a:pathLst>
              <a:path w="5055397" h="4361935">
                <a:moveTo>
                  <a:pt x="2335427" y="86497"/>
                </a:moveTo>
                <a:lnTo>
                  <a:pt x="2335427" y="86497"/>
                </a:lnTo>
                <a:cubicBezTo>
                  <a:pt x="2116371" y="104752"/>
                  <a:pt x="2091095" y="112589"/>
                  <a:pt x="1804087" y="86497"/>
                </a:cubicBezTo>
                <a:cubicBezTo>
                  <a:pt x="1749359" y="81522"/>
                  <a:pt x="1697148" y="61101"/>
                  <a:pt x="1643449" y="49427"/>
                </a:cubicBezTo>
                <a:cubicBezTo>
                  <a:pt x="1602403" y="40504"/>
                  <a:pt x="1561372" y="31265"/>
                  <a:pt x="1519881" y="24714"/>
                </a:cubicBezTo>
                <a:cubicBezTo>
                  <a:pt x="1483039" y="18897"/>
                  <a:pt x="1445714" y="16715"/>
                  <a:pt x="1408671" y="12357"/>
                </a:cubicBezTo>
                <a:lnTo>
                  <a:pt x="1309816" y="0"/>
                </a:lnTo>
                <a:cubicBezTo>
                  <a:pt x="1227438" y="4119"/>
                  <a:pt x="1144575" y="2530"/>
                  <a:pt x="1062681" y="12357"/>
                </a:cubicBezTo>
                <a:cubicBezTo>
                  <a:pt x="1040658" y="15000"/>
                  <a:pt x="1021167" y="28061"/>
                  <a:pt x="1000898" y="37070"/>
                </a:cubicBezTo>
                <a:cubicBezTo>
                  <a:pt x="916893" y="74406"/>
                  <a:pt x="983966" y="46745"/>
                  <a:pt x="914400" y="86497"/>
                </a:cubicBezTo>
                <a:cubicBezTo>
                  <a:pt x="898407" y="95636"/>
                  <a:pt x="881075" y="102265"/>
                  <a:pt x="864973" y="111211"/>
                </a:cubicBezTo>
                <a:cubicBezTo>
                  <a:pt x="810531" y="141457"/>
                  <a:pt x="789047" y="155672"/>
                  <a:pt x="741406" y="197708"/>
                </a:cubicBezTo>
                <a:cubicBezTo>
                  <a:pt x="691129" y="242071"/>
                  <a:pt x="640537" y="286221"/>
                  <a:pt x="593125" y="333633"/>
                </a:cubicBezTo>
                <a:cubicBezTo>
                  <a:pt x="570378" y="356380"/>
                  <a:pt x="550955" y="382275"/>
                  <a:pt x="531341" y="407773"/>
                </a:cubicBezTo>
                <a:cubicBezTo>
                  <a:pt x="480884" y="473367"/>
                  <a:pt x="458430" y="508423"/>
                  <a:pt x="420130" y="580768"/>
                </a:cubicBezTo>
                <a:cubicBezTo>
                  <a:pt x="398583" y="621467"/>
                  <a:pt x="375647" y="661658"/>
                  <a:pt x="358346" y="704335"/>
                </a:cubicBezTo>
                <a:cubicBezTo>
                  <a:pt x="313790" y="814240"/>
                  <a:pt x="266316" y="923645"/>
                  <a:pt x="234779" y="1037968"/>
                </a:cubicBezTo>
                <a:cubicBezTo>
                  <a:pt x="201828" y="1157417"/>
                  <a:pt x="156296" y="1274090"/>
                  <a:pt x="135925" y="1396314"/>
                </a:cubicBezTo>
                <a:cubicBezTo>
                  <a:pt x="127687" y="1445741"/>
                  <a:pt x="123787" y="1496090"/>
                  <a:pt x="111211" y="1544595"/>
                </a:cubicBezTo>
                <a:cubicBezTo>
                  <a:pt x="93692" y="1612170"/>
                  <a:pt x="64384" y="1709950"/>
                  <a:pt x="24714" y="1779373"/>
                </a:cubicBezTo>
                <a:cubicBezTo>
                  <a:pt x="17346" y="1792267"/>
                  <a:pt x="8238" y="1804086"/>
                  <a:pt x="0" y="1816443"/>
                </a:cubicBezTo>
                <a:cubicBezTo>
                  <a:pt x="21937" y="2024846"/>
                  <a:pt x="29113" y="2058355"/>
                  <a:pt x="37071" y="2261287"/>
                </a:cubicBezTo>
                <a:cubicBezTo>
                  <a:pt x="42561" y="2401283"/>
                  <a:pt x="42867" y="2541466"/>
                  <a:pt x="49427" y="2681416"/>
                </a:cubicBezTo>
                <a:cubicBezTo>
                  <a:pt x="55226" y="2805122"/>
                  <a:pt x="63413" y="2928743"/>
                  <a:pt x="74141" y="3052119"/>
                </a:cubicBezTo>
                <a:cubicBezTo>
                  <a:pt x="99519" y="3343965"/>
                  <a:pt x="78858" y="3160034"/>
                  <a:pt x="123568" y="3323968"/>
                </a:cubicBezTo>
                <a:cubicBezTo>
                  <a:pt x="129094" y="3344230"/>
                  <a:pt x="128551" y="3366086"/>
                  <a:pt x="135925" y="3385751"/>
                </a:cubicBezTo>
                <a:cubicBezTo>
                  <a:pt x="141140" y="3399657"/>
                  <a:pt x="153996" y="3409539"/>
                  <a:pt x="160638" y="3422822"/>
                </a:cubicBezTo>
                <a:cubicBezTo>
                  <a:pt x="166463" y="3434472"/>
                  <a:pt x="162824" y="3451755"/>
                  <a:pt x="172995" y="3459892"/>
                </a:cubicBezTo>
                <a:cubicBezTo>
                  <a:pt x="186256" y="3470501"/>
                  <a:pt x="206311" y="3466879"/>
                  <a:pt x="222422" y="3472249"/>
                </a:cubicBezTo>
                <a:cubicBezTo>
                  <a:pt x="243465" y="3479263"/>
                  <a:pt x="263818" y="3488224"/>
                  <a:pt x="284206" y="3496962"/>
                </a:cubicBezTo>
                <a:cubicBezTo>
                  <a:pt x="605655" y="3634725"/>
                  <a:pt x="89488" y="3424529"/>
                  <a:pt x="617838" y="3620530"/>
                </a:cubicBezTo>
                <a:cubicBezTo>
                  <a:pt x="799997" y="3688105"/>
                  <a:pt x="987758" y="3743706"/>
                  <a:pt x="1161535" y="3830595"/>
                </a:cubicBezTo>
                <a:cubicBezTo>
                  <a:pt x="1235676" y="3867665"/>
                  <a:pt x="1308842" y="3906752"/>
                  <a:pt x="1383957" y="3941806"/>
                </a:cubicBezTo>
                <a:cubicBezTo>
                  <a:pt x="1432479" y="3964450"/>
                  <a:pt x="1483789" y="3980789"/>
                  <a:pt x="1532238" y="4003589"/>
                </a:cubicBezTo>
                <a:cubicBezTo>
                  <a:pt x="1673972" y="4070287"/>
                  <a:pt x="1533936" y="4020632"/>
                  <a:pt x="1631092" y="4053016"/>
                </a:cubicBezTo>
                <a:cubicBezTo>
                  <a:pt x="1590776" y="3992542"/>
                  <a:pt x="1602078" y="4006273"/>
                  <a:pt x="1532238" y="3929449"/>
                </a:cubicBezTo>
                <a:cubicBezTo>
                  <a:pt x="1516565" y="3912208"/>
                  <a:pt x="1461971" y="3890442"/>
                  <a:pt x="1482811" y="3880022"/>
                </a:cubicBezTo>
                <a:cubicBezTo>
                  <a:pt x="1513190" y="3864832"/>
                  <a:pt x="1549443" y="3893994"/>
                  <a:pt x="1581665" y="3904735"/>
                </a:cubicBezTo>
                <a:cubicBezTo>
                  <a:pt x="1631092" y="3921211"/>
                  <a:pt x="1678857" y="3943944"/>
                  <a:pt x="1729946" y="3954162"/>
                </a:cubicBezTo>
                <a:lnTo>
                  <a:pt x="1853514" y="3978876"/>
                </a:lnTo>
                <a:cubicBezTo>
                  <a:pt x="1874109" y="3982995"/>
                  <a:pt x="1894922" y="3986139"/>
                  <a:pt x="1915298" y="3991233"/>
                </a:cubicBezTo>
                <a:cubicBezTo>
                  <a:pt x="1931774" y="3995352"/>
                  <a:pt x="1948119" y="4000031"/>
                  <a:pt x="1964725" y="4003589"/>
                </a:cubicBezTo>
                <a:cubicBezTo>
                  <a:pt x="2005797" y="4012390"/>
                  <a:pt x="2047103" y="4020065"/>
                  <a:pt x="2088292" y="4028303"/>
                </a:cubicBezTo>
                <a:cubicBezTo>
                  <a:pt x="2108887" y="4032422"/>
                  <a:pt x="2130151" y="4034019"/>
                  <a:pt x="2150076" y="4040660"/>
                </a:cubicBezTo>
                <a:lnTo>
                  <a:pt x="2187146" y="4053016"/>
                </a:lnTo>
                <a:cubicBezTo>
                  <a:pt x="2174789" y="4036540"/>
                  <a:pt x="2129481" y="4003589"/>
                  <a:pt x="2150076" y="4003589"/>
                </a:cubicBezTo>
                <a:cubicBezTo>
                  <a:pt x="2175043" y="4003589"/>
                  <a:pt x="2279513" y="4073286"/>
                  <a:pt x="2310714" y="4090087"/>
                </a:cubicBezTo>
                <a:cubicBezTo>
                  <a:pt x="2343151" y="4107553"/>
                  <a:pt x="2376617" y="4123038"/>
                  <a:pt x="2409568" y="4139514"/>
                </a:cubicBezTo>
                <a:cubicBezTo>
                  <a:pt x="2467070" y="4168265"/>
                  <a:pt x="2473484" y="4168916"/>
                  <a:pt x="2533135" y="4213654"/>
                </a:cubicBezTo>
                <a:cubicBezTo>
                  <a:pt x="2549611" y="4226011"/>
                  <a:pt x="2564681" y="4240506"/>
                  <a:pt x="2582562" y="4250724"/>
                </a:cubicBezTo>
                <a:cubicBezTo>
                  <a:pt x="2593871" y="4257186"/>
                  <a:pt x="2607661" y="4257950"/>
                  <a:pt x="2619633" y="4263081"/>
                </a:cubicBezTo>
                <a:cubicBezTo>
                  <a:pt x="2748543" y="4318329"/>
                  <a:pt x="2591915" y="4262179"/>
                  <a:pt x="2718487" y="4300151"/>
                </a:cubicBezTo>
                <a:cubicBezTo>
                  <a:pt x="2743439" y="4307636"/>
                  <a:pt x="2766839" y="4321181"/>
                  <a:pt x="2792627" y="4324865"/>
                </a:cubicBezTo>
                <a:cubicBezTo>
                  <a:pt x="2821460" y="4328984"/>
                  <a:pt x="2850207" y="4333752"/>
                  <a:pt x="2879125" y="4337222"/>
                </a:cubicBezTo>
                <a:lnTo>
                  <a:pt x="3101546" y="4361935"/>
                </a:lnTo>
                <a:cubicBezTo>
                  <a:pt x="3200400" y="4357816"/>
                  <a:pt x="3299387" y="4356159"/>
                  <a:pt x="3398108" y="4349578"/>
                </a:cubicBezTo>
                <a:cubicBezTo>
                  <a:pt x="3413138" y="4348576"/>
                  <a:pt x="3514599" y="4329724"/>
                  <a:pt x="3534033" y="4324865"/>
                </a:cubicBezTo>
                <a:cubicBezTo>
                  <a:pt x="3580395" y="4313274"/>
                  <a:pt x="3571025" y="4309011"/>
                  <a:pt x="3620530" y="4287795"/>
                </a:cubicBezTo>
                <a:cubicBezTo>
                  <a:pt x="3632502" y="4282664"/>
                  <a:pt x="3645243" y="4279557"/>
                  <a:pt x="3657600" y="4275438"/>
                </a:cubicBezTo>
                <a:cubicBezTo>
                  <a:pt x="3674076" y="4263081"/>
                  <a:pt x="3689563" y="4249283"/>
                  <a:pt x="3707027" y="4238368"/>
                </a:cubicBezTo>
                <a:cubicBezTo>
                  <a:pt x="3722647" y="4228605"/>
                  <a:pt x="3741127" y="4223872"/>
                  <a:pt x="3756454" y="4213654"/>
                </a:cubicBezTo>
                <a:cubicBezTo>
                  <a:pt x="3790725" y="4190806"/>
                  <a:pt x="3822357" y="4164227"/>
                  <a:pt x="3855308" y="4139514"/>
                </a:cubicBezTo>
                <a:cubicBezTo>
                  <a:pt x="3871784" y="4127157"/>
                  <a:pt x="3887599" y="4113867"/>
                  <a:pt x="3904735" y="4102443"/>
                </a:cubicBezTo>
                <a:cubicBezTo>
                  <a:pt x="3917092" y="4094205"/>
                  <a:pt x="3930817" y="4087720"/>
                  <a:pt x="3941806" y="4077730"/>
                </a:cubicBezTo>
                <a:cubicBezTo>
                  <a:pt x="3976288" y="4046383"/>
                  <a:pt x="4014811" y="4017650"/>
                  <a:pt x="4040660" y="3978876"/>
                </a:cubicBezTo>
                <a:cubicBezTo>
                  <a:pt x="4073611" y="3929449"/>
                  <a:pt x="4053016" y="3950044"/>
                  <a:pt x="4102443" y="3917092"/>
                </a:cubicBezTo>
                <a:cubicBezTo>
                  <a:pt x="4110681" y="3900616"/>
                  <a:pt x="4133998" y="3884768"/>
                  <a:pt x="4127157" y="3867665"/>
                </a:cubicBezTo>
                <a:cubicBezTo>
                  <a:pt x="4120850" y="3851897"/>
                  <a:pt x="4060817" y="3856846"/>
                  <a:pt x="4077730" y="3855308"/>
                </a:cubicBezTo>
                <a:cubicBezTo>
                  <a:pt x="4184461" y="3845605"/>
                  <a:pt x="4291914" y="3847070"/>
                  <a:pt x="4399006" y="3842951"/>
                </a:cubicBezTo>
                <a:cubicBezTo>
                  <a:pt x="4689396" y="3775938"/>
                  <a:pt x="4429453" y="3831747"/>
                  <a:pt x="4720281" y="3781168"/>
                </a:cubicBezTo>
                <a:cubicBezTo>
                  <a:pt x="4761665" y="3773971"/>
                  <a:pt x="4802168" y="3761664"/>
                  <a:pt x="4843849" y="3756454"/>
                </a:cubicBezTo>
                <a:cubicBezTo>
                  <a:pt x="4901214" y="3749283"/>
                  <a:pt x="4959178" y="3748216"/>
                  <a:pt x="5016843" y="3744097"/>
                </a:cubicBezTo>
                <a:cubicBezTo>
                  <a:pt x="5025081" y="3731740"/>
                  <a:pt x="5036861" y="3721116"/>
                  <a:pt x="5041557" y="3707027"/>
                </a:cubicBezTo>
                <a:cubicBezTo>
                  <a:pt x="5067869" y="3628094"/>
                  <a:pt x="5050127" y="3455027"/>
                  <a:pt x="5041557" y="3410465"/>
                </a:cubicBezTo>
                <a:cubicBezTo>
                  <a:pt x="5034600" y="3374287"/>
                  <a:pt x="5011084" y="3343202"/>
                  <a:pt x="4992130" y="3311611"/>
                </a:cubicBezTo>
                <a:cubicBezTo>
                  <a:pt x="4979773" y="3291016"/>
                  <a:pt x="4966724" y="3270822"/>
                  <a:pt x="4955060" y="3249827"/>
                </a:cubicBezTo>
                <a:cubicBezTo>
                  <a:pt x="4946114" y="3233725"/>
                  <a:pt x="4940109" y="3216020"/>
                  <a:pt x="4930346" y="3200400"/>
                </a:cubicBezTo>
                <a:cubicBezTo>
                  <a:pt x="4919431" y="3182936"/>
                  <a:pt x="4904191" y="3168437"/>
                  <a:pt x="4893276" y="3150973"/>
                </a:cubicBezTo>
                <a:cubicBezTo>
                  <a:pt x="4877894" y="3126362"/>
                  <a:pt x="4852220" y="3064877"/>
                  <a:pt x="4843849" y="3039762"/>
                </a:cubicBezTo>
                <a:cubicBezTo>
                  <a:pt x="4838479" y="3023651"/>
                  <a:pt x="4836158" y="3006664"/>
                  <a:pt x="4831492" y="2990335"/>
                </a:cubicBezTo>
                <a:cubicBezTo>
                  <a:pt x="4827914" y="2977811"/>
                  <a:pt x="4822713" y="2965789"/>
                  <a:pt x="4819135" y="2953265"/>
                </a:cubicBezTo>
                <a:cubicBezTo>
                  <a:pt x="4814470" y="2936936"/>
                  <a:pt x="4813469" y="2919448"/>
                  <a:pt x="4806779" y="2903838"/>
                </a:cubicBezTo>
                <a:cubicBezTo>
                  <a:pt x="4800929" y="2890188"/>
                  <a:pt x="4789936" y="2879362"/>
                  <a:pt x="4782065" y="2866768"/>
                </a:cubicBezTo>
                <a:cubicBezTo>
                  <a:pt x="4769336" y="2846401"/>
                  <a:pt x="4755736" y="2826466"/>
                  <a:pt x="4744995" y="2804984"/>
                </a:cubicBezTo>
                <a:cubicBezTo>
                  <a:pt x="4739170" y="2793334"/>
                  <a:pt x="4739541" y="2778959"/>
                  <a:pt x="4732638" y="2767914"/>
                </a:cubicBezTo>
                <a:cubicBezTo>
                  <a:pt x="4653400" y="2641133"/>
                  <a:pt x="4709403" y="2758144"/>
                  <a:pt x="4658498" y="2669060"/>
                </a:cubicBezTo>
                <a:cubicBezTo>
                  <a:pt x="4649359" y="2653067"/>
                  <a:pt x="4642923" y="2635626"/>
                  <a:pt x="4633784" y="2619633"/>
                </a:cubicBezTo>
                <a:cubicBezTo>
                  <a:pt x="4615766" y="2588102"/>
                  <a:pt x="4588791" y="2553955"/>
                  <a:pt x="4559643" y="2533135"/>
                </a:cubicBezTo>
                <a:cubicBezTo>
                  <a:pt x="4549044" y="2525564"/>
                  <a:pt x="4534930" y="2524897"/>
                  <a:pt x="4522573" y="2520778"/>
                </a:cubicBezTo>
                <a:cubicBezTo>
                  <a:pt x="4510216" y="2508421"/>
                  <a:pt x="4499871" y="2493655"/>
                  <a:pt x="4485503" y="2483708"/>
                </a:cubicBezTo>
                <a:cubicBezTo>
                  <a:pt x="4446009" y="2456366"/>
                  <a:pt x="4395900" y="2443533"/>
                  <a:pt x="4361935" y="2409568"/>
                </a:cubicBezTo>
                <a:cubicBezTo>
                  <a:pt x="4328984" y="2376617"/>
                  <a:pt x="4287056" y="2350673"/>
                  <a:pt x="4263081" y="2310714"/>
                </a:cubicBezTo>
                <a:cubicBezTo>
                  <a:pt x="4179464" y="2171351"/>
                  <a:pt x="4210423" y="2230109"/>
                  <a:pt x="4164227" y="2137719"/>
                </a:cubicBezTo>
                <a:cubicBezTo>
                  <a:pt x="4160108" y="2121243"/>
                  <a:pt x="4151871" y="2105275"/>
                  <a:pt x="4151871" y="2088292"/>
                </a:cubicBezTo>
                <a:cubicBezTo>
                  <a:pt x="4151871" y="1980332"/>
                  <a:pt x="4170632" y="1860853"/>
                  <a:pt x="4188941" y="1754660"/>
                </a:cubicBezTo>
                <a:cubicBezTo>
                  <a:pt x="4200334" y="1688584"/>
                  <a:pt x="4214988" y="1623090"/>
                  <a:pt x="4226011" y="1556951"/>
                </a:cubicBezTo>
                <a:cubicBezTo>
                  <a:pt x="4246007" y="1436975"/>
                  <a:pt x="4250691" y="1384260"/>
                  <a:pt x="4263081" y="1272746"/>
                </a:cubicBezTo>
                <a:cubicBezTo>
                  <a:pt x="4258962" y="1219200"/>
                  <a:pt x="4272948" y="1160999"/>
                  <a:pt x="4250725" y="1112108"/>
                </a:cubicBezTo>
                <a:cubicBezTo>
                  <a:pt x="4229031" y="1064382"/>
                  <a:pt x="4172264" y="1041834"/>
                  <a:pt x="4139514" y="1000897"/>
                </a:cubicBezTo>
                <a:cubicBezTo>
                  <a:pt x="4123038" y="980303"/>
                  <a:pt x="4104717" y="961058"/>
                  <a:pt x="4090087" y="939114"/>
                </a:cubicBezTo>
                <a:cubicBezTo>
                  <a:pt x="4079869" y="923787"/>
                  <a:pt x="4075591" y="905014"/>
                  <a:pt x="4065373" y="889687"/>
                </a:cubicBezTo>
                <a:cubicBezTo>
                  <a:pt x="4046439" y="861287"/>
                  <a:pt x="3981220" y="769559"/>
                  <a:pt x="3941806" y="741406"/>
                </a:cubicBezTo>
                <a:cubicBezTo>
                  <a:pt x="3931207" y="733835"/>
                  <a:pt x="3916707" y="734180"/>
                  <a:pt x="3904735" y="729049"/>
                </a:cubicBezTo>
                <a:cubicBezTo>
                  <a:pt x="3887804" y="721793"/>
                  <a:pt x="3870928" y="714098"/>
                  <a:pt x="3855308" y="704335"/>
                </a:cubicBezTo>
                <a:cubicBezTo>
                  <a:pt x="3837844" y="693420"/>
                  <a:pt x="3824301" y="676475"/>
                  <a:pt x="3805881" y="667265"/>
                </a:cubicBezTo>
                <a:cubicBezTo>
                  <a:pt x="3790691" y="659670"/>
                  <a:pt x="3772130" y="661440"/>
                  <a:pt x="3756454" y="654908"/>
                </a:cubicBezTo>
                <a:cubicBezTo>
                  <a:pt x="3585388" y="583630"/>
                  <a:pt x="3719627" y="620988"/>
                  <a:pt x="3608173" y="593124"/>
                </a:cubicBezTo>
                <a:cubicBezTo>
                  <a:pt x="3501941" y="522303"/>
                  <a:pt x="3636346" y="607210"/>
                  <a:pt x="3534033" y="556054"/>
                </a:cubicBezTo>
                <a:cubicBezTo>
                  <a:pt x="3520750" y="549412"/>
                  <a:pt x="3510612" y="537191"/>
                  <a:pt x="3496962" y="531341"/>
                </a:cubicBezTo>
                <a:cubicBezTo>
                  <a:pt x="3481352" y="524651"/>
                  <a:pt x="3463646" y="524355"/>
                  <a:pt x="3447535" y="518984"/>
                </a:cubicBezTo>
                <a:cubicBezTo>
                  <a:pt x="3426492" y="511970"/>
                  <a:pt x="3406641" y="501730"/>
                  <a:pt x="3385752" y="494270"/>
                </a:cubicBezTo>
                <a:cubicBezTo>
                  <a:pt x="3348953" y="481127"/>
                  <a:pt x="3310822" y="471712"/>
                  <a:pt x="3274541" y="457200"/>
                </a:cubicBezTo>
                <a:cubicBezTo>
                  <a:pt x="3174506" y="417186"/>
                  <a:pt x="3116837" y="378133"/>
                  <a:pt x="3015049" y="345989"/>
                </a:cubicBezTo>
                <a:cubicBezTo>
                  <a:pt x="2978837" y="334554"/>
                  <a:pt x="2940679" y="330486"/>
                  <a:pt x="2903838" y="321276"/>
                </a:cubicBezTo>
                <a:cubicBezTo>
                  <a:pt x="2745854" y="281780"/>
                  <a:pt x="2886521" y="308091"/>
                  <a:pt x="2743200" y="284206"/>
                </a:cubicBezTo>
                <a:cubicBezTo>
                  <a:pt x="2726724" y="275968"/>
                  <a:pt x="2711417" y="264785"/>
                  <a:pt x="2693773" y="259492"/>
                </a:cubicBezTo>
                <a:cubicBezTo>
                  <a:pt x="2669775" y="252293"/>
                  <a:pt x="2644091" y="252570"/>
                  <a:pt x="2619633" y="247135"/>
                </a:cubicBezTo>
                <a:cubicBezTo>
                  <a:pt x="2606918" y="244309"/>
                  <a:pt x="2595086" y="238356"/>
                  <a:pt x="2582562" y="234778"/>
                </a:cubicBezTo>
                <a:cubicBezTo>
                  <a:pt x="2566233" y="230113"/>
                  <a:pt x="2549464" y="227087"/>
                  <a:pt x="2533135" y="222422"/>
                </a:cubicBezTo>
                <a:cubicBezTo>
                  <a:pt x="2460665" y="201717"/>
                  <a:pt x="2531201" y="221454"/>
                  <a:pt x="2458995" y="185351"/>
                </a:cubicBezTo>
                <a:cubicBezTo>
                  <a:pt x="2447345" y="179526"/>
                  <a:pt x="2434282" y="177114"/>
                  <a:pt x="2421925" y="172995"/>
                </a:cubicBezTo>
                <a:cubicBezTo>
                  <a:pt x="2408970" y="134130"/>
                  <a:pt x="2412167" y="125300"/>
                  <a:pt x="2372498" y="98854"/>
                </a:cubicBezTo>
                <a:cubicBezTo>
                  <a:pt x="2361660" y="91629"/>
                  <a:pt x="2341605" y="88556"/>
                  <a:pt x="2335427" y="86497"/>
                </a:cubicBezTo>
                <a:close/>
              </a:path>
            </a:pathLst>
          </a:custGeom>
          <a:noFill/>
          <a:ln/>
        </p:spPr>
        <p:style>
          <a:lnRef idx="2">
            <a:schemeClr val="accent2"/>
          </a:lnRef>
          <a:fillRef idx="1">
            <a:schemeClr val="lt1"/>
          </a:fillRef>
          <a:effectRef idx="0">
            <a:schemeClr val="accent2"/>
          </a:effectRef>
          <a:fontRef idx="minor">
            <a:schemeClr val="dk1"/>
          </a:fontRef>
        </p:style>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Tree>
    <p:extLst>
      <p:ext uri="{BB962C8B-B14F-4D97-AF65-F5344CB8AC3E}">
        <p14:creationId xmlns:p14="http://schemas.microsoft.com/office/powerpoint/2010/main" val="2145051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Lst>
  </p:timing>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4338" name="Rectangle 2"/>
          <p:cNvSpPr>
            <a:spLocks noChangeArrowheads="1"/>
          </p:cNvSpPr>
          <p:nvPr/>
        </p:nvSpPr>
        <p:spPr bwMode="auto">
          <a:xfrm>
            <a:off x="0" y="0"/>
            <a:ext cx="9144000" cy="674607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nSpc>
                <a:spcPct val="200000"/>
              </a:lnSpc>
            </a:pPr>
            <a:r>
              <a:rPr lang="en-US" altLang="zh-CN" sz="2400" b="1" dirty="0">
                <a:solidFill>
                  <a:schemeClr val="bg2"/>
                </a:solidFill>
              </a:rPr>
              <a:t>  </a:t>
            </a:r>
            <a:r>
              <a:rPr lang="zh-CN" altLang="en-US" sz="2400" b="1" dirty="0">
                <a:solidFill>
                  <a:srgbClr val="660033"/>
                </a:solidFill>
              </a:rPr>
              <a:t>举例</a:t>
            </a:r>
            <a:r>
              <a:rPr lang="en-US" altLang="zh-CN" sz="2400" b="1" dirty="0">
                <a:solidFill>
                  <a:srgbClr val="660033"/>
                </a:solidFill>
              </a:rPr>
              <a:t>2:</a:t>
            </a:r>
            <a:r>
              <a:rPr lang="en-US" altLang="zh-CN" sz="2400" b="1" dirty="0">
                <a:solidFill>
                  <a:schemeClr val="bg2"/>
                </a:solidFill>
              </a:rPr>
              <a:t>   </a:t>
            </a:r>
            <a:r>
              <a:rPr lang="zh-CN" altLang="en-US" sz="2400" b="1" dirty="0">
                <a:solidFill>
                  <a:schemeClr val="bg2"/>
                </a:solidFill>
              </a:rPr>
              <a:t>学生数据库：</a:t>
            </a:r>
            <a:r>
              <a:rPr lang="en-US" altLang="zh-CN" sz="2400" b="1" dirty="0">
                <a:solidFill>
                  <a:schemeClr val="bg2"/>
                </a:solidFill>
              </a:rPr>
              <a:t>S(SNO,SNAME,SEX,SDEPT)</a:t>
            </a:r>
          </a:p>
          <a:p>
            <a:pPr>
              <a:lnSpc>
                <a:spcPct val="200000"/>
              </a:lnSpc>
              <a:spcBef>
                <a:spcPct val="0"/>
              </a:spcBef>
            </a:pPr>
            <a:r>
              <a:rPr lang="en-US" altLang="zh-CN" sz="2400" b="1" dirty="0">
                <a:solidFill>
                  <a:schemeClr val="bg2"/>
                </a:solidFill>
              </a:rPr>
              <a:t>                      C(CNO,CNAME,TEACHER,CDEPT)</a:t>
            </a:r>
          </a:p>
          <a:p>
            <a:pPr>
              <a:lnSpc>
                <a:spcPct val="200000"/>
              </a:lnSpc>
              <a:spcBef>
                <a:spcPct val="0"/>
              </a:spcBef>
            </a:pPr>
            <a:r>
              <a:rPr lang="en-US" altLang="zh-CN" sz="2400" b="1" dirty="0">
                <a:solidFill>
                  <a:schemeClr val="bg2"/>
                </a:solidFill>
              </a:rPr>
              <a:t>                      SC(SNO,CNO,GRADE)</a:t>
            </a:r>
          </a:p>
          <a:p>
            <a:pPr>
              <a:lnSpc>
                <a:spcPct val="200000"/>
              </a:lnSpc>
              <a:spcBef>
                <a:spcPct val="0"/>
              </a:spcBef>
            </a:pPr>
            <a:r>
              <a:rPr lang="en-US" altLang="zh-CN" sz="2400" b="1" dirty="0">
                <a:solidFill>
                  <a:schemeClr val="bg2"/>
                </a:solidFill>
              </a:rPr>
              <a:t>   </a:t>
            </a:r>
            <a:r>
              <a:rPr lang="en-US" altLang="zh-CN" sz="2400" b="1" dirty="0">
                <a:solidFill>
                  <a:schemeClr val="bg2"/>
                </a:solidFill>
                <a:latin typeface="Times New Roman"/>
              </a:rPr>
              <a:t>“</a:t>
            </a:r>
            <a:r>
              <a:rPr lang="zh-CN" altLang="en-US" sz="2400" b="1" dirty="0">
                <a:solidFill>
                  <a:schemeClr val="bg2"/>
                </a:solidFill>
              </a:rPr>
              <a:t>检索选修</a:t>
            </a:r>
            <a:r>
              <a:rPr lang="en-US" altLang="zh-CN" sz="2400" b="1" dirty="0">
                <a:solidFill>
                  <a:schemeClr val="bg2"/>
                </a:solidFill>
              </a:rPr>
              <a:t>LIU</a:t>
            </a:r>
            <a:r>
              <a:rPr lang="zh-CN" altLang="en-US" sz="2400" b="1" dirty="0">
                <a:solidFill>
                  <a:schemeClr val="bg2"/>
                </a:solidFill>
              </a:rPr>
              <a:t>老师所教课程的女学生的学号和姓名</a:t>
            </a:r>
            <a:r>
              <a:rPr lang="zh-CN" altLang="en-US" sz="2400" b="1" dirty="0">
                <a:solidFill>
                  <a:schemeClr val="bg2"/>
                </a:solidFill>
                <a:latin typeface="Times New Roman"/>
              </a:rPr>
              <a:t>”</a:t>
            </a:r>
            <a:r>
              <a:rPr lang="zh-CN" altLang="en-US" sz="2400" b="1" dirty="0">
                <a:solidFill>
                  <a:schemeClr val="bg2"/>
                </a:solidFill>
              </a:rPr>
              <a:t>。</a:t>
            </a:r>
          </a:p>
          <a:p>
            <a:pPr>
              <a:lnSpc>
                <a:spcPct val="200000"/>
              </a:lnSpc>
              <a:spcBef>
                <a:spcPct val="0"/>
              </a:spcBef>
            </a:pPr>
            <a:r>
              <a:rPr lang="zh-CN" altLang="en-US" sz="2400" b="1" dirty="0">
                <a:solidFill>
                  <a:schemeClr val="bg2"/>
                </a:solidFill>
              </a:rPr>
              <a:t>   用关系代数表达式表示：</a:t>
            </a:r>
          </a:p>
          <a:p>
            <a:pPr algn="l" eaLnBrk="0" hangingPunct="0">
              <a:lnSpc>
                <a:spcPct val="150000"/>
              </a:lnSpc>
              <a:spcBef>
                <a:spcPct val="0"/>
              </a:spcBef>
            </a:pPr>
            <a:r>
              <a:rPr lang="zh-CN" altLang="en-US" sz="3600" b="1" dirty="0">
                <a:solidFill>
                  <a:schemeClr val="bg2"/>
                </a:solidFill>
              </a:rPr>
              <a:t> </a:t>
            </a:r>
            <a:r>
              <a:rPr lang="en-US" altLang="zh-CN" sz="3600" b="1" dirty="0">
                <a:solidFill>
                  <a:srgbClr val="660033"/>
                </a:solidFill>
              </a:rPr>
              <a:t>π</a:t>
            </a:r>
            <a:r>
              <a:rPr lang="en-US" altLang="zh-CN" sz="3200" b="1" baseline="-10000" dirty="0">
                <a:solidFill>
                  <a:srgbClr val="660033"/>
                </a:solidFill>
              </a:rPr>
              <a:t>SNO,SNAME</a:t>
            </a:r>
            <a:r>
              <a:rPr lang="en-US" altLang="zh-CN" sz="3200" b="1" dirty="0">
                <a:solidFill>
                  <a:srgbClr val="660033"/>
                </a:solidFill>
              </a:rPr>
              <a:t>(</a:t>
            </a:r>
            <a:r>
              <a:rPr lang="en-US" altLang="zh-CN" sz="3200" b="1" dirty="0" err="1">
                <a:solidFill>
                  <a:srgbClr val="660033"/>
                </a:solidFill>
              </a:rPr>
              <a:t>σ</a:t>
            </a:r>
            <a:r>
              <a:rPr lang="en-US" altLang="zh-CN" sz="3200" b="1" baseline="-10000" dirty="0" err="1">
                <a:solidFill>
                  <a:srgbClr val="660033"/>
                </a:solidFill>
              </a:rPr>
              <a:t>TEACHER</a:t>
            </a:r>
            <a:r>
              <a:rPr lang="en-US" altLang="zh-CN" sz="3200" b="1" baseline="-10000" dirty="0">
                <a:solidFill>
                  <a:srgbClr val="660033"/>
                </a:solidFill>
              </a:rPr>
              <a:t> =‘LIU’∧SEX =‘F’</a:t>
            </a:r>
            <a:r>
              <a:rPr lang="en-US" altLang="zh-CN" sz="3200" b="1" dirty="0">
                <a:solidFill>
                  <a:srgbClr val="660033"/>
                </a:solidFill>
              </a:rPr>
              <a:t>(S</a:t>
            </a:r>
            <a:r>
              <a:rPr lang="en-US" altLang="zh-CN" sz="3600" b="1" dirty="0">
                <a:solidFill>
                  <a:srgbClr val="660033"/>
                </a:solidFill>
                <a:latin typeface="Times New Roman" pitchFamily="18" charset="0"/>
              </a:rPr>
              <a:t>⋈</a:t>
            </a:r>
            <a:r>
              <a:rPr lang="en-US" altLang="zh-CN" sz="3200" b="1" dirty="0">
                <a:solidFill>
                  <a:srgbClr val="660033"/>
                </a:solidFill>
              </a:rPr>
              <a:t>SC</a:t>
            </a:r>
            <a:r>
              <a:rPr lang="en-US" altLang="zh-CN" sz="3600" b="1" dirty="0">
                <a:solidFill>
                  <a:srgbClr val="660033"/>
                </a:solidFill>
                <a:latin typeface="Times New Roman" pitchFamily="18" charset="0"/>
              </a:rPr>
              <a:t>⋈</a:t>
            </a:r>
            <a:r>
              <a:rPr lang="en-US" altLang="zh-CN" sz="3200" b="1" dirty="0">
                <a:solidFill>
                  <a:srgbClr val="660033"/>
                </a:solidFill>
              </a:rPr>
              <a:t>C))</a:t>
            </a:r>
          </a:p>
          <a:p>
            <a:pPr algn="l" eaLnBrk="0" hangingPunct="0">
              <a:lnSpc>
                <a:spcPct val="150000"/>
              </a:lnSpc>
              <a:spcBef>
                <a:spcPct val="0"/>
              </a:spcBef>
            </a:pPr>
            <a:r>
              <a:rPr lang="en-US" altLang="zh-CN" sz="3200" b="1" dirty="0">
                <a:solidFill>
                  <a:srgbClr val="660033"/>
                </a:solidFill>
              </a:rPr>
              <a:t>=</a:t>
            </a:r>
            <a:r>
              <a:rPr lang="en-US" altLang="zh-CN" sz="3600" b="1" dirty="0">
                <a:solidFill>
                  <a:srgbClr val="660033"/>
                </a:solidFill>
              </a:rPr>
              <a:t>π</a:t>
            </a:r>
            <a:r>
              <a:rPr lang="en-US" altLang="zh-CN" sz="3200" b="1" baseline="-10000" dirty="0">
                <a:solidFill>
                  <a:srgbClr val="660033"/>
                </a:solidFill>
              </a:rPr>
              <a:t>SNO,SNAME</a:t>
            </a:r>
            <a:r>
              <a:rPr lang="en-US" altLang="zh-CN" sz="3200" b="1" dirty="0">
                <a:solidFill>
                  <a:srgbClr val="660033"/>
                </a:solidFill>
              </a:rPr>
              <a:t>(</a:t>
            </a:r>
            <a:r>
              <a:rPr lang="en-US" altLang="zh-CN" sz="3200" b="1" dirty="0" err="1">
                <a:solidFill>
                  <a:srgbClr val="660033"/>
                </a:solidFill>
              </a:rPr>
              <a:t>σ</a:t>
            </a:r>
            <a:r>
              <a:rPr lang="en-US" altLang="zh-CN" sz="3200" b="1" baseline="-10000" dirty="0" err="1">
                <a:solidFill>
                  <a:srgbClr val="660033"/>
                </a:solidFill>
              </a:rPr>
              <a:t>TEACHER</a:t>
            </a:r>
            <a:r>
              <a:rPr lang="en-US" altLang="zh-CN" sz="3200" b="1" baseline="-10000" dirty="0">
                <a:solidFill>
                  <a:srgbClr val="660033"/>
                </a:solidFill>
              </a:rPr>
              <a:t> =‘LIU’∧SEX =‘F’</a:t>
            </a:r>
            <a:r>
              <a:rPr lang="en-US" altLang="zh-CN" sz="3200" b="1" dirty="0">
                <a:solidFill>
                  <a:srgbClr val="660033"/>
                </a:solidFill>
              </a:rPr>
              <a:t>(</a:t>
            </a:r>
          </a:p>
          <a:p>
            <a:pPr algn="l" eaLnBrk="0" hangingPunct="0">
              <a:lnSpc>
                <a:spcPct val="150000"/>
              </a:lnSpc>
              <a:spcBef>
                <a:spcPct val="0"/>
              </a:spcBef>
            </a:pPr>
            <a:r>
              <a:rPr lang="en-US" altLang="zh-CN" sz="3200" b="1" dirty="0">
                <a:solidFill>
                  <a:srgbClr val="660033"/>
                </a:solidFill>
              </a:rPr>
              <a:t> π</a:t>
            </a:r>
            <a:r>
              <a:rPr lang="en-US" altLang="zh-CN" sz="3200" b="1" baseline="-10000" dirty="0">
                <a:solidFill>
                  <a:srgbClr val="660033"/>
                </a:solidFill>
              </a:rPr>
              <a:t>L</a:t>
            </a:r>
            <a:r>
              <a:rPr lang="en-US" altLang="zh-CN" sz="3200" b="1" dirty="0">
                <a:solidFill>
                  <a:srgbClr val="660033"/>
                </a:solidFill>
              </a:rPr>
              <a:t>(</a:t>
            </a:r>
            <a:r>
              <a:rPr lang="en-US" altLang="zh-CN" sz="3200" b="1" dirty="0" err="1">
                <a:solidFill>
                  <a:srgbClr val="660033"/>
                </a:solidFill>
              </a:rPr>
              <a:t>σ</a:t>
            </a:r>
            <a:r>
              <a:rPr lang="en-US" altLang="zh-CN" sz="3200" b="1" baseline="-10000" dirty="0" err="1">
                <a:solidFill>
                  <a:srgbClr val="660033"/>
                </a:solidFill>
              </a:rPr>
              <a:t>S.SNO</a:t>
            </a:r>
            <a:r>
              <a:rPr lang="en-US" altLang="zh-CN" sz="3200" b="1" baseline="-10000" dirty="0">
                <a:solidFill>
                  <a:srgbClr val="660033"/>
                </a:solidFill>
              </a:rPr>
              <a:t>=SC.SNO ∧ SC.CNO = C.CNO</a:t>
            </a:r>
            <a:r>
              <a:rPr lang="en-US" altLang="zh-CN" sz="3200" b="1" dirty="0">
                <a:solidFill>
                  <a:srgbClr val="660033"/>
                </a:solidFill>
              </a:rPr>
              <a:t>(S</a:t>
            </a:r>
            <a:r>
              <a:rPr kumimoji="0" lang="en-US" altLang="zh-CN" sz="3600" b="1" dirty="0">
                <a:solidFill>
                  <a:schemeClr val="bg2"/>
                </a:solidFill>
                <a:latin typeface="Times New Roman" pitchFamily="18" charset="0"/>
              </a:rPr>
              <a:t>×</a:t>
            </a:r>
            <a:r>
              <a:rPr lang="en-US" altLang="zh-CN" sz="3200" b="1" dirty="0">
                <a:solidFill>
                  <a:srgbClr val="660033"/>
                </a:solidFill>
              </a:rPr>
              <a:t>SC</a:t>
            </a:r>
            <a:r>
              <a:rPr kumimoji="0" lang="en-US" altLang="zh-CN" sz="3600" b="1" dirty="0">
                <a:solidFill>
                  <a:schemeClr val="bg2"/>
                </a:solidFill>
                <a:latin typeface="Times New Roman" pitchFamily="18" charset="0"/>
              </a:rPr>
              <a:t>×</a:t>
            </a:r>
            <a:r>
              <a:rPr lang="en-US" altLang="zh-CN" sz="3200" b="1" dirty="0">
                <a:solidFill>
                  <a:srgbClr val="660033"/>
                </a:solidFill>
              </a:rPr>
              <a:t>C))))</a:t>
            </a:r>
          </a:p>
          <a:p>
            <a:pPr eaLnBrk="0" hangingPunct="0">
              <a:lnSpc>
                <a:spcPct val="150000"/>
              </a:lnSpc>
              <a:spcBef>
                <a:spcPct val="0"/>
              </a:spcBef>
            </a:pPr>
            <a:r>
              <a:rPr lang="en-US" altLang="zh-CN" sz="2400" b="1" dirty="0">
                <a:solidFill>
                  <a:schemeClr val="bg2"/>
                </a:solidFill>
              </a:rPr>
              <a:t>      </a:t>
            </a:r>
          </a:p>
        </p:txBody>
      </p:sp>
      <p:pic>
        <p:nvPicPr>
          <p:cNvPr id="2" name="图片 1">
            <a:extLst>
              <a:ext uri="{FF2B5EF4-FFF2-40B4-BE49-F238E27FC236}">
                <a16:creationId xmlns:a16="http://schemas.microsoft.com/office/drawing/2014/main" id="{8D958532-215B-CCE2-3B8E-E6B18941FB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179512" y="836712"/>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图片 2">
            <a:extLst>
              <a:ext uri="{FF2B5EF4-FFF2-40B4-BE49-F238E27FC236}">
                <a16:creationId xmlns:a16="http://schemas.microsoft.com/office/drawing/2014/main" id="{75F63E7D-A28D-530A-7581-61917C455E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757362" y="836711"/>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图片 3">
            <a:extLst>
              <a:ext uri="{FF2B5EF4-FFF2-40B4-BE49-F238E27FC236}">
                <a16:creationId xmlns:a16="http://schemas.microsoft.com/office/drawing/2014/main" id="{5DBD5E41-99DD-4965-9027-0CD94DCDFC0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676" t="20973" r="54062" b="13716"/>
          <a:stretch>
            <a:fillRect/>
          </a:stretch>
        </p:blipFill>
        <p:spPr bwMode="auto">
          <a:xfrm>
            <a:off x="1335212" y="836711"/>
            <a:ext cx="577850" cy="549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1.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
        <p:nvSpPr>
          <p:cNvPr id="655363" name="Text Box 3"/>
          <p:cNvSpPr txBox="1">
            <a:spLocks noChangeArrowheads="1"/>
          </p:cNvSpPr>
          <p:nvPr/>
        </p:nvSpPr>
        <p:spPr bwMode="auto">
          <a:xfrm>
            <a:off x="3386659" y="1211214"/>
            <a:ext cx="2868612" cy="4826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3200" b="1" baseline="-10000">
                <a:solidFill>
                  <a:schemeClr val="bg2"/>
                </a:solidFill>
              </a:rPr>
              <a:t> S.</a:t>
            </a:r>
            <a:r>
              <a:rPr lang="en-US" altLang="zh-CN" sz="3200" b="1" baseline="-10000">
                <a:solidFill>
                  <a:schemeClr val="bg2"/>
                </a:solidFill>
              </a:rPr>
              <a:t>SNO, SNAME</a:t>
            </a:r>
          </a:p>
        </p:txBody>
      </p:sp>
      <p:sp>
        <p:nvSpPr>
          <p:cNvPr id="655368" name="Line 8"/>
          <p:cNvSpPr>
            <a:spLocks noChangeShapeType="1"/>
          </p:cNvSpPr>
          <p:nvPr/>
        </p:nvSpPr>
        <p:spPr bwMode="auto">
          <a:xfrm>
            <a:off x="3050109" y="1058814"/>
            <a:ext cx="0" cy="5334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386" name="Text Box 26"/>
          <p:cNvSpPr txBox="1">
            <a:spLocks noChangeArrowheads="1"/>
          </p:cNvSpPr>
          <p:nvPr/>
        </p:nvSpPr>
        <p:spPr bwMode="auto">
          <a:xfrm>
            <a:off x="2842146" y="646064"/>
            <a:ext cx="9906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eaLnBrk="0" hangingPunct="0">
              <a:lnSpc>
                <a:spcPct val="100000"/>
              </a:lnSpc>
            </a:pPr>
            <a:r>
              <a:rPr kumimoji="0" lang="en-US" altLang="zh-CN" sz="2400" b="1">
                <a:solidFill>
                  <a:schemeClr val="bg2"/>
                </a:solidFill>
                <a:latin typeface="Times New Roman" pitchFamily="18" charset="0"/>
              </a:rPr>
              <a:t>π</a:t>
            </a:r>
          </a:p>
        </p:txBody>
      </p:sp>
      <p:sp>
        <p:nvSpPr>
          <p:cNvPr id="655396" name="Text Box 36"/>
          <p:cNvSpPr txBox="1">
            <a:spLocks noChangeArrowheads="1"/>
          </p:cNvSpPr>
          <p:nvPr/>
        </p:nvSpPr>
        <p:spPr bwMode="auto">
          <a:xfrm>
            <a:off x="3458096" y="2063702"/>
            <a:ext cx="4978400" cy="4826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chemeClr val="bg2"/>
                </a:solidFill>
              </a:rPr>
              <a:t>  </a:t>
            </a:r>
            <a:r>
              <a:rPr lang="en-US" altLang="zh-CN" sz="3200" b="1" baseline="-10000" dirty="0">
                <a:solidFill>
                  <a:schemeClr val="bg2"/>
                </a:solidFill>
              </a:rPr>
              <a:t>TEACHER =‘LIU’∧SEX =‘F’</a:t>
            </a:r>
          </a:p>
        </p:txBody>
      </p:sp>
      <p:sp>
        <p:nvSpPr>
          <p:cNvPr id="655397" name="Line 37"/>
          <p:cNvSpPr>
            <a:spLocks noChangeShapeType="1"/>
          </p:cNvSpPr>
          <p:nvPr/>
        </p:nvSpPr>
        <p:spPr bwMode="auto">
          <a:xfrm>
            <a:off x="3086621" y="1985914"/>
            <a:ext cx="0" cy="604838"/>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398" name="Text Box 38"/>
          <p:cNvSpPr txBox="1">
            <a:spLocks noChangeArrowheads="1"/>
          </p:cNvSpPr>
          <p:nvPr/>
        </p:nvSpPr>
        <p:spPr bwMode="auto">
          <a:xfrm>
            <a:off x="2837384" y="1595389"/>
            <a:ext cx="827087" cy="42703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σ</a:t>
            </a:r>
          </a:p>
        </p:txBody>
      </p:sp>
      <p:sp>
        <p:nvSpPr>
          <p:cNvPr id="655420" name="Text Box 60"/>
          <p:cNvSpPr txBox="1">
            <a:spLocks noChangeArrowheads="1"/>
          </p:cNvSpPr>
          <p:nvPr/>
        </p:nvSpPr>
        <p:spPr bwMode="auto">
          <a:xfrm>
            <a:off x="3283471" y="2839989"/>
            <a:ext cx="5867400" cy="94773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lang="en-US" altLang="zh-CN" sz="2000" b="1" dirty="0">
                <a:solidFill>
                  <a:schemeClr val="bg2"/>
                </a:solidFill>
              </a:rPr>
              <a:t>   SNO,SNAME,SEX,SDEPT,CNO,CNAME,</a:t>
            </a:r>
          </a:p>
          <a:p>
            <a:pPr eaLnBrk="0" hangingPunct="0">
              <a:lnSpc>
                <a:spcPct val="100000"/>
              </a:lnSpc>
              <a:spcBef>
                <a:spcPct val="0"/>
              </a:spcBef>
            </a:pPr>
            <a:r>
              <a:rPr lang="en-US" altLang="zh-CN" sz="2000" b="1" dirty="0">
                <a:solidFill>
                  <a:schemeClr val="bg2"/>
                </a:solidFill>
              </a:rPr>
              <a:t>   TEACHER,CDEPT,GRADE</a:t>
            </a:r>
          </a:p>
        </p:txBody>
      </p:sp>
      <p:sp>
        <p:nvSpPr>
          <p:cNvPr id="655421" name="Line 61"/>
          <p:cNvSpPr>
            <a:spLocks noChangeShapeType="1"/>
          </p:cNvSpPr>
          <p:nvPr/>
        </p:nvSpPr>
        <p:spPr bwMode="auto">
          <a:xfrm>
            <a:off x="3086621" y="2993977"/>
            <a:ext cx="0" cy="604837"/>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422" name="Text Box 62"/>
          <p:cNvSpPr txBox="1">
            <a:spLocks noChangeArrowheads="1"/>
          </p:cNvSpPr>
          <p:nvPr/>
        </p:nvSpPr>
        <p:spPr bwMode="auto">
          <a:xfrm>
            <a:off x="2888184" y="2590752"/>
            <a:ext cx="776287" cy="427037"/>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a:t>
            </a:r>
          </a:p>
        </p:txBody>
      </p:sp>
      <p:sp>
        <p:nvSpPr>
          <p:cNvPr id="655440" name="Text Box 80"/>
          <p:cNvSpPr txBox="1">
            <a:spLocks noChangeArrowheads="1"/>
          </p:cNvSpPr>
          <p:nvPr/>
        </p:nvSpPr>
        <p:spPr bwMode="auto">
          <a:xfrm>
            <a:off x="3708921" y="4157614"/>
            <a:ext cx="5332413" cy="4826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S.SNO =SC.SNO∧SC.CNO = C.CNO</a:t>
            </a:r>
          </a:p>
        </p:txBody>
      </p:sp>
      <p:sp>
        <p:nvSpPr>
          <p:cNvPr id="655441" name="Line 81"/>
          <p:cNvSpPr>
            <a:spLocks noChangeShapeType="1"/>
          </p:cNvSpPr>
          <p:nvPr/>
        </p:nvSpPr>
        <p:spPr bwMode="auto">
          <a:xfrm>
            <a:off x="3086621" y="3948064"/>
            <a:ext cx="0" cy="75565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442" name="Text Box 82"/>
          <p:cNvSpPr txBox="1">
            <a:spLocks noChangeArrowheads="1"/>
          </p:cNvSpPr>
          <p:nvPr/>
        </p:nvSpPr>
        <p:spPr bwMode="auto">
          <a:xfrm>
            <a:off x="2888184" y="3589289"/>
            <a:ext cx="776287" cy="4286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σ</a:t>
            </a:r>
          </a:p>
        </p:txBody>
      </p:sp>
      <p:sp>
        <p:nvSpPr>
          <p:cNvPr id="655456" name="Line 96"/>
          <p:cNvSpPr>
            <a:spLocks noChangeShapeType="1"/>
          </p:cNvSpPr>
          <p:nvPr/>
        </p:nvSpPr>
        <p:spPr bwMode="auto">
          <a:xfrm flipH="1">
            <a:off x="2346622" y="4967239"/>
            <a:ext cx="571723" cy="56991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457" name="Line 97"/>
          <p:cNvSpPr>
            <a:spLocks noChangeShapeType="1"/>
          </p:cNvSpPr>
          <p:nvPr/>
        </p:nvSpPr>
        <p:spPr bwMode="auto">
          <a:xfrm>
            <a:off x="3354910" y="4967239"/>
            <a:ext cx="762000" cy="56991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458" name="Text Box 98"/>
          <p:cNvSpPr txBox="1">
            <a:spLocks noChangeArrowheads="1"/>
          </p:cNvSpPr>
          <p:nvPr/>
        </p:nvSpPr>
        <p:spPr bwMode="auto">
          <a:xfrm>
            <a:off x="2891359" y="4678314"/>
            <a:ext cx="776287" cy="42703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a:t>
            </a:r>
          </a:p>
        </p:txBody>
      </p:sp>
      <p:sp>
        <p:nvSpPr>
          <p:cNvPr id="655468" name="Line 108"/>
          <p:cNvSpPr>
            <a:spLocks noChangeShapeType="1"/>
          </p:cNvSpPr>
          <p:nvPr/>
        </p:nvSpPr>
        <p:spPr bwMode="auto">
          <a:xfrm flipH="1">
            <a:off x="1448185" y="5845523"/>
            <a:ext cx="644475" cy="4540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469" name="Line 109"/>
          <p:cNvSpPr>
            <a:spLocks noChangeShapeType="1"/>
          </p:cNvSpPr>
          <p:nvPr/>
        </p:nvSpPr>
        <p:spPr bwMode="auto">
          <a:xfrm>
            <a:off x="2463413" y="5845523"/>
            <a:ext cx="554408" cy="45085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5470" name="Text Box 110"/>
          <p:cNvSpPr txBox="1">
            <a:spLocks noChangeArrowheads="1"/>
          </p:cNvSpPr>
          <p:nvPr/>
        </p:nvSpPr>
        <p:spPr bwMode="auto">
          <a:xfrm>
            <a:off x="2015058" y="5522864"/>
            <a:ext cx="931863"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latin typeface="Times New Roman" pitchFamily="18" charset="0"/>
              </a:rPr>
              <a:t>×</a:t>
            </a:r>
          </a:p>
        </p:txBody>
      </p:sp>
      <p:sp>
        <p:nvSpPr>
          <p:cNvPr id="655480" name="Text Box 120"/>
          <p:cNvSpPr txBox="1">
            <a:spLocks noChangeArrowheads="1"/>
          </p:cNvSpPr>
          <p:nvPr/>
        </p:nvSpPr>
        <p:spPr bwMode="auto">
          <a:xfrm>
            <a:off x="3669605" y="5522863"/>
            <a:ext cx="776287"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    S</a:t>
            </a:r>
          </a:p>
        </p:txBody>
      </p:sp>
      <p:sp>
        <p:nvSpPr>
          <p:cNvPr id="655481" name="Text Box 121"/>
          <p:cNvSpPr txBox="1">
            <a:spLocks noChangeArrowheads="1"/>
          </p:cNvSpPr>
          <p:nvPr/>
        </p:nvSpPr>
        <p:spPr bwMode="auto">
          <a:xfrm>
            <a:off x="2918345" y="6289577"/>
            <a:ext cx="1552575"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latin typeface="Times New Roman" pitchFamily="18" charset="0"/>
              </a:rPr>
              <a:t>C</a:t>
            </a:r>
          </a:p>
        </p:txBody>
      </p:sp>
      <p:sp>
        <p:nvSpPr>
          <p:cNvPr id="655482" name="Text Box 122"/>
          <p:cNvSpPr txBox="1">
            <a:spLocks noChangeArrowheads="1"/>
          </p:cNvSpPr>
          <p:nvPr/>
        </p:nvSpPr>
        <p:spPr bwMode="auto">
          <a:xfrm>
            <a:off x="1092869" y="6305501"/>
            <a:ext cx="931863"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dirty="0">
                <a:solidFill>
                  <a:schemeClr val="bg2"/>
                </a:solidFill>
                <a:latin typeface="Times New Roman" pitchFamily="18" charset="0"/>
              </a:rPr>
              <a:t>SC</a:t>
            </a:r>
          </a:p>
        </p:txBody>
      </p:sp>
      <p:sp>
        <p:nvSpPr>
          <p:cNvPr id="655483" name="Rectangle 123"/>
          <p:cNvSpPr>
            <a:spLocks noChangeArrowheads="1"/>
          </p:cNvSpPr>
          <p:nvPr/>
        </p:nvSpPr>
        <p:spPr bwMode="auto">
          <a:xfrm>
            <a:off x="210369" y="777827"/>
            <a:ext cx="1435100" cy="4333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zh-CN" altLang="en-US" sz="2800" b="1" dirty="0">
                <a:solidFill>
                  <a:srgbClr val="660033"/>
                </a:solidFill>
              </a:rPr>
              <a:t>语法树</a:t>
            </a:r>
            <a:r>
              <a:rPr lang="en-US" altLang="zh-CN" sz="2800" b="1" dirty="0">
                <a:solidFill>
                  <a:srgbClr val="660033"/>
                </a:solidFill>
              </a:rPr>
              <a:t>:</a:t>
            </a:r>
          </a:p>
        </p:txBody>
      </p:sp>
      <p:sp>
        <p:nvSpPr>
          <p:cNvPr id="25" name="矩形 24">
            <a:extLst>
              <a:ext uri="{FF2B5EF4-FFF2-40B4-BE49-F238E27FC236}">
                <a16:creationId xmlns:a16="http://schemas.microsoft.com/office/drawing/2014/main" id="{342E4BBE-5768-5E46-9B7F-FA89C2AD2E48}"/>
              </a:ext>
            </a:extLst>
          </p:cNvPr>
          <p:cNvSpPr/>
          <p:nvPr/>
        </p:nvSpPr>
        <p:spPr bwMode="auto">
          <a:xfrm>
            <a:off x="3664471" y="2019252"/>
            <a:ext cx="4031253" cy="563562"/>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26" name="矩形 25">
            <a:extLst>
              <a:ext uri="{FF2B5EF4-FFF2-40B4-BE49-F238E27FC236}">
                <a16:creationId xmlns:a16="http://schemas.microsoft.com/office/drawing/2014/main" id="{E48672E4-3E5E-2547-8F54-5EC37D67F575}"/>
              </a:ext>
            </a:extLst>
          </p:cNvPr>
          <p:cNvSpPr/>
          <p:nvPr/>
        </p:nvSpPr>
        <p:spPr bwMode="auto">
          <a:xfrm>
            <a:off x="3708921" y="4044108"/>
            <a:ext cx="4031253" cy="563562"/>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endParaRPr kumimoji="1" lang="zh-CN" altLang="en-US" sz="1800" b="0" i="0" u="none" strike="noStrike" cap="none" normalizeH="0" baseline="0">
              <a:ln>
                <a:noFill/>
              </a:ln>
              <a:solidFill>
                <a:schemeClr val="tx1"/>
              </a:solidFill>
              <a:effectLst/>
              <a:latin typeface="宋体" pitchFamily="2" charset="-122"/>
              <a:ea typeface="宋体" pitchFamily="2" charset="-122"/>
            </a:endParaRPr>
          </a:p>
        </p:txBody>
      </p:sp>
      <p:sp>
        <p:nvSpPr>
          <p:cNvPr id="27" name="矩形 26">
            <a:extLst>
              <a:ext uri="{FF2B5EF4-FFF2-40B4-BE49-F238E27FC236}">
                <a16:creationId xmlns:a16="http://schemas.microsoft.com/office/drawing/2014/main" id="{CBF4A067-1657-5F47-9BCF-4911BFC495BC}"/>
              </a:ext>
            </a:extLst>
          </p:cNvPr>
          <p:cNvSpPr/>
          <p:nvPr/>
        </p:nvSpPr>
        <p:spPr bwMode="auto">
          <a:xfrm>
            <a:off x="4850173" y="4759970"/>
            <a:ext cx="3508670" cy="978729"/>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r>
              <a:rPr kumimoji="1" lang="zh-CN" altLang="en-US" sz="2400" b="0" i="0" u="none" strike="noStrike" cap="none" normalizeH="0" baseline="0" dirty="0">
                <a:ln>
                  <a:noFill/>
                </a:ln>
                <a:solidFill>
                  <a:schemeClr val="bg1"/>
                </a:solidFill>
                <a:effectLst/>
              </a:rPr>
              <a:t>把每个选择操作分裂成</a:t>
            </a:r>
            <a:r>
              <a:rPr kumimoji="1" lang="en-US" altLang="zh-CN" sz="2400" b="1" i="0" u="none" strike="noStrike" cap="none" normalizeH="0" baseline="0" dirty="0">
                <a:ln>
                  <a:noFill/>
                </a:ln>
                <a:solidFill>
                  <a:srgbClr val="FF0000"/>
                </a:solidFill>
                <a:effectLst/>
              </a:rPr>
              <a:t>2</a:t>
            </a:r>
            <a:r>
              <a:rPr kumimoji="1" lang="zh-CN" altLang="en-US" sz="2400" b="0" i="0" u="none" strike="noStrike" cap="none" normalizeH="0" baseline="0" dirty="0">
                <a:ln>
                  <a:noFill/>
                </a:ln>
                <a:solidFill>
                  <a:schemeClr val="bg1"/>
                </a:solidFill>
                <a:effectLst/>
              </a:rPr>
              <a:t>个选择运算</a:t>
            </a:r>
            <a:r>
              <a:rPr lang="zh-CN" altLang="en-US" sz="2400" dirty="0">
                <a:solidFill>
                  <a:schemeClr val="bg1"/>
                </a:solidFill>
              </a:rPr>
              <a:t>得到</a:t>
            </a:r>
            <a:r>
              <a:rPr lang="en-US" altLang="zh-CN" sz="2400" b="1" dirty="0">
                <a:solidFill>
                  <a:srgbClr val="FF0000"/>
                </a:solidFill>
              </a:rPr>
              <a:t>4</a:t>
            </a:r>
            <a:r>
              <a:rPr lang="zh-CN" altLang="en-US" sz="2400" dirty="0">
                <a:solidFill>
                  <a:schemeClr val="bg1"/>
                </a:solidFill>
              </a:rPr>
              <a:t>个选择运算</a:t>
            </a:r>
            <a:endParaRPr kumimoji="1" lang="zh-CN" altLang="en-US" sz="2400" b="0" i="0" u="none" strike="noStrike" cap="none" normalizeH="0" baseline="0" dirty="0">
              <a:ln>
                <a:noFill/>
              </a:ln>
              <a:solidFill>
                <a:schemeClr val="bg1"/>
              </a:solidFill>
              <a:effectLst/>
            </a:endParaRPr>
          </a:p>
        </p:txBody>
      </p:sp>
      <p:sp>
        <p:nvSpPr>
          <p:cNvPr id="28" name="矩形 27">
            <a:extLst>
              <a:ext uri="{FF2B5EF4-FFF2-40B4-BE49-F238E27FC236}">
                <a16:creationId xmlns:a16="http://schemas.microsoft.com/office/drawing/2014/main" id="{D4BBCFE9-94A8-594E-BA03-CA593E3B9BCB}"/>
              </a:ext>
            </a:extLst>
          </p:cNvPr>
          <p:cNvSpPr/>
          <p:nvPr/>
        </p:nvSpPr>
        <p:spPr bwMode="auto">
          <a:xfrm>
            <a:off x="4840648" y="5845837"/>
            <a:ext cx="3508670" cy="978729"/>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r>
              <a:rPr lang="zh-CN" altLang="en-US" sz="2400" dirty="0">
                <a:solidFill>
                  <a:schemeClr val="bg1"/>
                </a:solidFill>
              </a:rPr>
              <a:t>使用等价变换规则</a:t>
            </a:r>
            <a:r>
              <a:rPr lang="en-US" altLang="zh-CN" sz="2400" dirty="0">
                <a:solidFill>
                  <a:schemeClr val="bg1"/>
                </a:solidFill>
              </a:rPr>
              <a:t>4-8</a:t>
            </a:r>
            <a:r>
              <a:rPr lang="zh-CN" altLang="en-US" sz="2400" dirty="0">
                <a:solidFill>
                  <a:schemeClr val="bg1"/>
                </a:solidFill>
              </a:rPr>
              <a:t>，把</a:t>
            </a:r>
            <a:r>
              <a:rPr lang="en-US" altLang="zh-CN" sz="2400" dirty="0">
                <a:solidFill>
                  <a:schemeClr val="bg1"/>
                </a:solidFill>
              </a:rPr>
              <a:t>4</a:t>
            </a:r>
            <a:r>
              <a:rPr lang="zh-CN" altLang="en-US" sz="2400" dirty="0">
                <a:solidFill>
                  <a:schemeClr val="bg1"/>
                </a:solidFill>
              </a:rPr>
              <a:t>个选择运算尽可能地向树的叶端靠拢。</a:t>
            </a:r>
            <a:endParaRPr kumimoji="1" lang="en-US" altLang="zh-CN" sz="2400" b="0" i="0" u="none" strike="noStrike" cap="none" normalizeH="0" baseline="0" dirty="0">
              <a:ln>
                <a:noFill/>
              </a:ln>
              <a:solidFill>
                <a:schemeClr val="bg1"/>
              </a:solidFill>
              <a:effectLst/>
            </a:endParaRPr>
          </a:p>
        </p:txBody>
      </p:sp>
      <p:sp>
        <p:nvSpPr>
          <p:cNvPr id="3" name="文本框 2">
            <a:extLst>
              <a:ext uri="{FF2B5EF4-FFF2-40B4-BE49-F238E27FC236}">
                <a16:creationId xmlns:a16="http://schemas.microsoft.com/office/drawing/2014/main" id="{E91FB056-BAC0-898F-8181-30FC03EB7972}"/>
              </a:ext>
            </a:extLst>
          </p:cNvPr>
          <p:cNvSpPr txBox="1"/>
          <p:nvPr/>
        </p:nvSpPr>
        <p:spPr>
          <a:xfrm>
            <a:off x="683568" y="39506"/>
            <a:ext cx="8357763" cy="597279"/>
          </a:xfrm>
          <a:prstGeom prst="rect">
            <a:avLst/>
          </a:prstGeom>
          <a:noFill/>
        </p:spPr>
        <p:txBody>
          <a:bodyPr wrap="square">
            <a:spAutoFit/>
          </a:bodyPr>
          <a:lstStyle/>
          <a:p>
            <a:pPr algn="l" eaLnBrk="0" hangingPunct="0">
              <a:lnSpc>
                <a:spcPct val="200000"/>
              </a:lnSpc>
              <a:spcBef>
                <a:spcPct val="0"/>
              </a:spcBef>
            </a:pPr>
            <a:r>
              <a:rPr lang="en-US" altLang="zh-CN" sz="2000" b="1" dirty="0">
                <a:solidFill>
                  <a:srgbClr val="660033"/>
                </a:solidFill>
              </a:rPr>
              <a:t>π</a:t>
            </a:r>
            <a:r>
              <a:rPr lang="en-US" altLang="zh-CN" sz="1800" b="1" baseline="-10000" dirty="0">
                <a:solidFill>
                  <a:srgbClr val="660033"/>
                </a:solidFill>
              </a:rPr>
              <a:t>SNO,SNAME</a:t>
            </a:r>
            <a:r>
              <a:rPr lang="en-US" altLang="zh-CN" sz="1800" b="1" dirty="0">
                <a:solidFill>
                  <a:srgbClr val="660033"/>
                </a:solidFill>
              </a:rPr>
              <a:t>(</a:t>
            </a:r>
            <a:r>
              <a:rPr lang="en-US" altLang="zh-CN" sz="1800" b="1" dirty="0" err="1">
                <a:solidFill>
                  <a:srgbClr val="660033"/>
                </a:solidFill>
              </a:rPr>
              <a:t>σ</a:t>
            </a:r>
            <a:r>
              <a:rPr lang="en-US" altLang="zh-CN" sz="1800" b="1" baseline="-10000" dirty="0" err="1">
                <a:solidFill>
                  <a:srgbClr val="660033"/>
                </a:solidFill>
              </a:rPr>
              <a:t>TEACHER</a:t>
            </a:r>
            <a:r>
              <a:rPr lang="en-US" altLang="zh-CN" sz="1800" b="1" baseline="-10000" dirty="0">
                <a:solidFill>
                  <a:srgbClr val="660033"/>
                </a:solidFill>
              </a:rPr>
              <a:t> =‘LIU’∧SEX =‘F’</a:t>
            </a:r>
            <a:r>
              <a:rPr lang="en-US" altLang="zh-CN" sz="1800" b="1" dirty="0">
                <a:solidFill>
                  <a:srgbClr val="660033"/>
                </a:solidFill>
              </a:rPr>
              <a:t>(π</a:t>
            </a:r>
            <a:r>
              <a:rPr lang="en-US" altLang="zh-CN" sz="1800" b="1" baseline="-10000" dirty="0">
                <a:solidFill>
                  <a:srgbClr val="660033"/>
                </a:solidFill>
              </a:rPr>
              <a:t>L</a:t>
            </a:r>
            <a:r>
              <a:rPr lang="en-US" altLang="zh-CN" sz="1800" b="1" dirty="0">
                <a:solidFill>
                  <a:srgbClr val="660033"/>
                </a:solidFill>
              </a:rPr>
              <a:t>(</a:t>
            </a:r>
            <a:r>
              <a:rPr lang="en-US" altLang="zh-CN" sz="1800" b="1" dirty="0" err="1">
                <a:solidFill>
                  <a:srgbClr val="660033"/>
                </a:solidFill>
              </a:rPr>
              <a:t>σ</a:t>
            </a:r>
            <a:r>
              <a:rPr lang="en-US" altLang="zh-CN" sz="1800" b="1" baseline="-10000" dirty="0" err="1">
                <a:solidFill>
                  <a:srgbClr val="660033"/>
                </a:solidFill>
              </a:rPr>
              <a:t>S.SNO</a:t>
            </a:r>
            <a:r>
              <a:rPr lang="en-US" altLang="zh-CN" sz="1800" b="1" baseline="-10000" dirty="0">
                <a:solidFill>
                  <a:srgbClr val="660033"/>
                </a:solidFill>
              </a:rPr>
              <a:t>=SC.SNO ∧ C.CNO=SC.CNO </a:t>
            </a:r>
            <a:r>
              <a:rPr lang="en-US" altLang="zh-CN" sz="1800" b="1" dirty="0">
                <a:solidFill>
                  <a:srgbClr val="660033"/>
                </a:solidFill>
              </a:rPr>
              <a:t>(S</a:t>
            </a:r>
            <a:r>
              <a:rPr kumimoji="0" lang="en-US" altLang="zh-CN" sz="2000" b="1" dirty="0">
                <a:solidFill>
                  <a:schemeClr val="bg2"/>
                </a:solidFill>
                <a:latin typeface="Times New Roman" pitchFamily="18" charset="0"/>
              </a:rPr>
              <a:t>×</a:t>
            </a:r>
            <a:r>
              <a:rPr lang="en-US" altLang="zh-CN" sz="1800" b="1" dirty="0">
                <a:solidFill>
                  <a:srgbClr val="660033"/>
                </a:solidFill>
              </a:rPr>
              <a:t>SC</a:t>
            </a:r>
            <a:r>
              <a:rPr kumimoji="0" lang="en-US" altLang="zh-CN" sz="2000" b="1" dirty="0">
                <a:solidFill>
                  <a:schemeClr val="bg2"/>
                </a:solidFill>
                <a:latin typeface="Times New Roman" pitchFamily="18" charset="0"/>
              </a:rPr>
              <a:t>×</a:t>
            </a:r>
            <a:r>
              <a:rPr lang="en-US" altLang="zh-CN" sz="1800" b="1" dirty="0">
                <a:solidFill>
                  <a:srgbClr val="660033"/>
                </a:solidFill>
              </a:rPr>
              <a:t>C))))</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5398"/>
                                        </p:tgtEl>
                                        <p:attrNameLst>
                                          <p:attrName>style.visibility</p:attrName>
                                        </p:attrNameLst>
                                      </p:cBhvr>
                                      <p:to>
                                        <p:strVal val="visible"/>
                                      </p:to>
                                    </p:set>
                                    <p:animEffect transition="in" filter="blinds(horizontal)">
                                      <p:cBhvr>
                                        <p:cTn id="7" dur="500"/>
                                        <p:tgtEl>
                                          <p:spTgt spid="655398"/>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55397"/>
                                        </p:tgtEl>
                                        <p:attrNameLst>
                                          <p:attrName>style.visibility</p:attrName>
                                        </p:attrNameLst>
                                      </p:cBhvr>
                                      <p:to>
                                        <p:strVal val="visible"/>
                                      </p:to>
                                    </p:set>
                                    <p:animEffect transition="in" filter="blinds(horizontal)">
                                      <p:cBhvr>
                                        <p:cTn id="10" dur="500"/>
                                        <p:tgtEl>
                                          <p:spTgt spid="65539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55396"/>
                                        </p:tgtEl>
                                        <p:attrNameLst>
                                          <p:attrName>style.visibility</p:attrName>
                                        </p:attrNameLst>
                                      </p:cBhvr>
                                      <p:to>
                                        <p:strVal val="visible"/>
                                      </p:to>
                                    </p:set>
                                    <p:animEffect transition="in" filter="blinds(horizontal)">
                                      <p:cBhvr>
                                        <p:cTn id="13" dur="500"/>
                                        <p:tgtEl>
                                          <p:spTgt spid="655396"/>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grpId="0" nodeType="clickEffect">
                                  <p:stCondLst>
                                    <p:cond delay="0"/>
                                  </p:stCondLst>
                                  <p:childTnLst>
                                    <p:set>
                                      <p:cBhvr>
                                        <p:cTn id="17" dur="1" fill="hold">
                                          <p:stCondLst>
                                            <p:cond delay="0"/>
                                          </p:stCondLst>
                                        </p:cTn>
                                        <p:tgtEl>
                                          <p:spTgt spid="655422"/>
                                        </p:tgtEl>
                                        <p:attrNameLst>
                                          <p:attrName>style.visibility</p:attrName>
                                        </p:attrNameLst>
                                      </p:cBhvr>
                                      <p:to>
                                        <p:strVal val="visible"/>
                                      </p:to>
                                    </p:set>
                                    <p:animEffect transition="in" filter="blinds(horizontal)">
                                      <p:cBhvr>
                                        <p:cTn id="18" dur="500"/>
                                        <p:tgtEl>
                                          <p:spTgt spid="655422"/>
                                        </p:tgtEl>
                                      </p:cBhvr>
                                    </p:animEffect>
                                  </p:childTnLst>
                                </p:cTn>
                              </p:par>
                              <p:par>
                                <p:cTn id="19" presetID="3" presetClass="entr" presetSubtype="10" fill="hold" grpId="0" nodeType="withEffect">
                                  <p:stCondLst>
                                    <p:cond delay="0"/>
                                  </p:stCondLst>
                                  <p:childTnLst>
                                    <p:set>
                                      <p:cBhvr>
                                        <p:cTn id="20" dur="1" fill="hold">
                                          <p:stCondLst>
                                            <p:cond delay="0"/>
                                          </p:stCondLst>
                                        </p:cTn>
                                        <p:tgtEl>
                                          <p:spTgt spid="655421"/>
                                        </p:tgtEl>
                                        <p:attrNameLst>
                                          <p:attrName>style.visibility</p:attrName>
                                        </p:attrNameLst>
                                      </p:cBhvr>
                                      <p:to>
                                        <p:strVal val="visible"/>
                                      </p:to>
                                    </p:set>
                                    <p:animEffect transition="in" filter="blinds(horizontal)">
                                      <p:cBhvr>
                                        <p:cTn id="21" dur="500"/>
                                        <p:tgtEl>
                                          <p:spTgt spid="655421"/>
                                        </p:tgtEl>
                                      </p:cBhvr>
                                    </p:animEffect>
                                  </p:childTnLst>
                                </p:cTn>
                              </p:par>
                              <p:par>
                                <p:cTn id="22" presetID="3" presetClass="entr" presetSubtype="10" fill="hold" grpId="0" nodeType="withEffect">
                                  <p:stCondLst>
                                    <p:cond delay="0"/>
                                  </p:stCondLst>
                                  <p:childTnLst>
                                    <p:set>
                                      <p:cBhvr>
                                        <p:cTn id="23" dur="1" fill="hold">
                                          <p:stCondLst>
                                            <p:cond delay="0"/>
                                          </p:stCondLst>
                                        </p:cTn>
                                        <p:tgtEl>
                                          <p:spTgt spid="655420"/>
                                        </p:tgtEl>
                                        <p:attrNameLst>
                                          <p:attrName>style.visibility</p:attrName>
                                        </p:attrNameLst>
                                      </p:cBhvr>
                                      <p:to>
                                        <p:strVal val="visible"/>
                                      </p:to>
                                    </p:set>
                                    <p:animEffect transition="in" filter="blinds(horizontal)">
                                      <p:cBhvr>
                                        <p:cTn id="24" dur="500"/>
                                        <p:tgtEl>
                                          <p:spTgt spid="65542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655442"/>
                                        </p:tgtEl>
                                        <p:attrNameLst>
                                          <p:attrName>style.visibility</p:attrName>
                                        </p:attrNameLst>
                                      </p:cBhvr>
                                      <p:to>
                                        <p:strVal val="visible"/>
                                      </p:to>
                                    </p:set>
                                    <p:animEffect transition="in" filter="blinds(horizontal)">
                                      <p:cBhvr>
                                        <p:cTn id="29" dur="500"/>
                                        <p:tgtEl>
                                          <p:spTgt spid="655442"/>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655441"/>
                                        </p:tgtEl>
                                        <p:attrNameLst>
                                          <p:attrName>style.visibility</p:attrName>
                                        </p:attrNameLst>
                                      </p:cBhvr>
                                      <p:to>
                                        <p:strVal val="visible"/>
                                      </p:to>
                                    </p:set>
                                    <p:animEffect transition="in" filter="blinds(horizontal)">
                                      <p:cBhvr>
                                        <p:cTn id="32" dur="500"/>
                                        <p:tgtEl>
                                          <p:spTgt spid="655441"/>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655440"/>
                                        </p:tgtEl>
                                        <p:attrNameLst>
                                          <p:attrName>style.visibility</p:attrName>
                                        </p:attrNameLst>
                                      </p:cBhvr>
                                      <p:to>
                                        <p:strVal val="visible"/>
                                      </p:to>
                                    </p:set>
                                    <p:animEffect transition="in" filter="blinds(horizontal)">
                                      <p:cBhvr>
                                        <p:cTn id="35" dur="500"/>
                                        <p:tgtEl>
                                          <p:spTgt spid="655440"/>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grpId="0" nodeType="clickEffect">
                                  <p:stCondLst>
                                    <p:cond delay="0"/>
                                  </p:stCondLst>
                                  <p:childTnLst>
                                    <p:set>
                                      <p:cBhvr>
                                        <p:cTn id="39" dur="1" fill="hold">
                                          <p:stCondLst>
                                            <p:cond delay="0"/>
                                          </p:stCondLst>
                                        </p:cTn>
                                        <p:tgtEl>
                                          <p:spTgt spid="655458"/>
                                        </p:tgtEl>
                                        <p:attrNameLst>
                                          <p:attrName>style.visibility</p:attrName>
                                        </p:attrNameLst>
                                      </p:cBhvr>
                                      <p:to>
                                        <p:strVal val="visible"/>
                                      </p:to>
                                    </p:set>
                                    <p:animEffect transition="in" filter="blinds(horizontal)">
                                      <p:cBhvr>
                                        <p:cTn id="40" dur="500"/>
                                        <p:tgtEl>
                                          <p:spTgt spid="655458"/>
                                        </p:tgtEl>
                                      </p:cBhvr>
                                    </p:animEffect>
                                  </p:childTnLst>
                                </p:cTn>
                              </p:par>
                              <p:par>
                                <p:cTn id="41" presetID="3" presetClass="entr" presetSubtype="10" fill="hold" grpId="0" nodeType="withEffect">
                                  <p:stCondLst>
                                    <p:cond delay="0"/>
                                  </p:stCondLst>
                                  <p:childTnLst>
                                    <p:set>
                                      <p:cBhvr>
                                        <p:cTn id="42" dur="1" fill="hold">
                                          <p:stCondLst>
                                            <p:cond delay="0"/>
                                          </p:stCondLst>
                                        </p:cTn>
                                        <p:tgtEl>
                                          <p:spTgt spid="655456"/>
                                        </p:tgtEl>
                                        <p:attrNameLst>
                                          <p:attrName>style.visibility</p:attrName>
                                        </p:attrNameLst>
                                      </p:cBhvr>
                                      <p:to>
                                        <p:strVal val="visible"/>
                                      </p:to>
                                    </p:set>
                                    <p:animEffect transition="in" filter="blinds(horizontal)">
                                      <p:cBhvr>
                                        <p:cTn id="43" dur="500"/>
                                        <p:tgtEl>
                                          <p:spTgt spid="655456"/>
                                        </p:tgtEl>
                                      </p:cBhvr>
                                    </p:animEffect>
                                  </p:childTnLst>
                                </p:cTn>
                              </p:par>
                              <p:par>
                                <p:cTn id="44" presetID="3" presetClass="entr" presetSubtype="10" fill="hold" grpId="0" nodeType="withEffect">
                                  <p:stCondLst>
                                    <p:cond delay="0"/>
                                  </p:stCondLst>
                                  <p:childTnLst>
                                    <p:set>
                                      <p:cBhvr>
                                        <p:cTn id="45" dur="1" fill="hold">
                                          <p:stCondLst>
                                            <p:cond delay="0"/>
                                          </p:stCondLst>
                                        </p:cTn>
                                        <p:tgtEl>
                                          <p:spTgt spid="655457"/>
                                        </p:tgtEl>
                                        <p:attrNameLst>
                                          <p:attrName>style.visibility</p:attrName>
                                        </p:attrNameLst>
                                      </p:cBhvr>
                                      <p:to>
                                        <p:strVal val="visible"/>
                                      </p:to>
                                    </p:set>
                                    <p:animEffect transition="in" filter="blinds(horizontal)">
                                      <p:cBhvr>
                                        <p:cTn id="46" dur="500"/>
                                        <p:tgtEl>
                                          <p:spTgt spid="655457"/>
                                        </p:tgtEl>
                                      </p:cBhvr>
                                    </p:animEffect>
                                  </p:childTnLst>
                                </p:cTn>
                              </p:par>
                              <p:par>
                                <p:cTn id="47" presetID="3" presetClass="entr" presetSubtype="10" fill="hold" grpId="0" nodeType="withEffect">
                                  <p:stCondLst>
                                    <p:cond delay="0"/>
                                  </p:stCondLst>
                                  <p:childTnLst>
                                    <p:set>
                                      <p:cBhvr>
                                        <p:cTn id="48" dur="1" fill="hold">
                                          <p:stCondLst>
                                            <p:cond delay="0"/>
                                          </p:stCondLst>
                                        </p:cTn>
                                        <p:tgtEl>
                                          <p:spTgt spid="655480"/>
                                        </p:tgtEl>
                                        <p:attrNameLst>
                                          <p:attrName>style.visibility</p:attrName>
                                        </p:attrNameLst>
                                      </p:cBhvr>
                                      <p:to>
                                        <p:strVal val="visible"/>
                                      </p:to>
                                    </p:set>
                                    <p:animEffect transition="in" filter="blinds(horizontal)">
                                      <p:cBhvr>
                                        <p:cTn id="49" dur="500"/>
                                        <p:tgtEl>
                                          <p:spTgt spid="655480"/>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655470"/>
                                        </p:tgtEl>
                                        <p:attrNameLst>
                                          <p:attrName>style.visibility</p:attrName>
                                        </p:attrNameLst>
                                      </p:cBhvr>
                                      <p:to>
                                        <p:strVal val="visible"/>
                                      </p:to>
                                    </p:set>
                                    <p:animEffect transition="in" filter="blinds(horizontal)">
                                      <p:cBhvr>
                                        <p:cTn id="52" dur="500"/>
                                        <p:tgtEl>
                                          <p:spTgt spid="655470"/>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655468"/>
                                        </p:tgtEl>
                                        <p:attrNameLst>
                                          <p:attrName>style.visibility</p:attrName>
                                        </p:attrNameLst>
                                      </p:cBhvr>
                                      <p:to>
                                        <p:strVal val="visible"/>
                                      </p:to>
                                    </p:set>
                                    <p:animEffect transition="in" filter="blinds(horizontal)">
                                      <p:cBhvr>
                                        <p:cTn id="57" dur="500"/>
                                        <p:tgtEl>
                                          <p:spTgt spid="655468"/>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655469"/>
                                        </p:tgtEl>
                                        <p:attrNameLst>
                                          <p:attrName>style.visibility</p:attrName>
                                        </p:attrNameLst>
                                      </p:cBhvr>
                                      <p:to>
                                        <p:strVal val="visible"/>
                                      </p:to>
                                    </p:set>
                                    <p:animEffect transition="in" filter="blinds(horizontal)">
                                      <p:cBhvr>
                                        <p:cTn id="60" dur="500"/>
                                        <p:tgtEl>
                                          <p:spTgt spid="655469"/>
                                        </p:tgtEl>
                                      </p:cBhvr>
                                    </p:animEffect>
                                  </p:childTnLst>
                                </p:cTn>
                              </p:par>
                              <p:par>
                                <p:cTn id="61" presetID="3" presetClass="entr" presetSubtype="10" fill="hold" grpId="0" nodeType="withEffect">
                                  <p:stCondLst>
                                    <p:cond delay="0"/>
                                  </p:stCondLst>
                                  <p:childTnLst>
                                    <p:set>
                                      <p:cBhvr>
                                        <p:cTn id="62" dur="1" fill="hold">
                                          <p:stCondLst>
                                            <p:cond delay="0"/>
                                          </p:stCondLst>
                                        </p:cTn>
                                        <p:tgtEl>
                                          <p:spTgt spid="655482"/>
                                        </p:tgtEl>
                                        <p:attrNameLst>
                                          <p:attrName>style.visibility</p:attrName>
                                        </p:attrNameLst>
                                      </p:cBhvr>
                                      <p:to>
                                        <p:strVal val="visible"/>
                                      </p:to>
                                    </p:set>
                                    <p:animEffect transition="in" filter="blinds(horizontal)">
                                      <p:cBhvr>
                                        <p:cTn id="63" dur="500"/>
                                        <p:tgtEl>
                                          <p:spTgt spid="655482"/>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655481"/>
                                        </p:tgtEl>
                                        <p:attrNameLst>
                                          <p:attrName>style.visibility</p:attrName>
                                        </p:attrNameLst>
                                      </p:cBhvr>
                                      <p:to>
                                        <p:strVal val="visible"/>
                                      </p:to>
                                    </p:set>
                                    <p:animEffect transition="in" filter="blinds(horizontal)">
                                      <p:cBhvr>
                                        <p:cTn id="66" dur="500"/>
                                        <p:tgtEl>
                                          <p:spTgt spid="655481"/>
                                        </p:tgtEl>
                                      </p:cBhvr>
                                    </p:animEffect>
                                  </p:childTnLst>
                                </p:cTn>
                              </p:par>
                            </p:childTnLst>
                          </p:cTn>
                        </p:par>
                      </p:childTnLst>
                    </p:cTn>
                  </p:par>
                  <p:par>
                    <p:cTn id="67" fill="hold">
                      <p:stCondLst>
                        <p:cond delay="indefinite"/>
                      </p:stCondLst>
                      <p:childTnLst>
                        <p:par>
                          <p:cTn id="68" fill="hold">
                            <p:stCondLst>
                              <p:cond delay="0"/>
                            </p:stCondLst>
                            <p:childTnLst>
                              <p:par>
                                <p:cTn id="69" presetID="1" presetClass="entr" presetSubtype="0" fill="hold" grpId="0" nodeType="clickEffect">
                                  <p:stCondLst>
                                    <p:cond delay="0"/>
                                  </p:stCondLst>
                                  <p:childTnLst>
                                    <p:set>
                                      <p:cBhvr>
                                        <p:cTn id="70" dur="1" fill="hold">
                                          <p:stCondLst>
                                            <p:cond delay="0"/>
                                          </p:stCondLst>
                                        </p:cTn>
                                        <p:tgtEl>
                                          <p:spTgt spid="25"/>
                                        </p:tgtEl>
                                        <p:attrNameLst>
                                          <p:attrName>style.visibility</p:attrName>
                                        </p:attrNameLst>
                                      </p:cBhvr>
                                      <p:to>
                                        <p:strVal val="visible"/>
                                      </p:to>
                                    </p:set>
                                  </p:childTnLst>
                                </p:cTn>
                              </p:par>
                            </p:childTnLst>
                          </p:cTn>
                        </p:par>
                      </p:childTnLst>
                    </p:cTn>
                  </p:par>
                  <p:par>
                    <p:cTn id="71" fill="hold">
                      <p:stCondLst>
                        <p:cond delay="indefinite"/>
                      </p:stCondLst>
                      <p:childTnLst>
                        <p:par>
                          <p:cTn id="72" fill="hold">
                            <p:stCondLst>
                              <p:cond delay="0"/>
                            </p:stCondLst>
                            <p:childTnLst>
                              <p:par>
                                <p:cTn id="73" presetID="1" presetClass="entr" presetSubtype="0" fill="hold" grpId="0" nodeType="clickEffect">
                                  <p:stCondLst>
                                    <p:cond delay="0"/>
                                  </p:stCondLst>
                                  <p:childTnLst>
                                    <p:set>
                                      <p:cBhvr>
                                        <p:cTn id="74" dur="1" fill="hold">
                                          <p:stCondLst>
                                            <p:cond delay="0"/>
                                          </p:stCondLst>
                                        </p:cTn>
                                        <p:tgtEl>
                                          <p:spTgt spid="26"/>
                                        </p:tgtEl>
                                        <p:attrNameLst>
                                          <p:attrName>style.visibility</p:attrName>
                                        </p:attrNameLst>
                                      </p:cBhvr>
                                      <p:to>
                                        <p:strVal val="visible"/>
                                      </p:to>
                                    </p:set>
                                  </p:childTnLst>
                                </p:cTn>
                              </p:par>
                            </p:childTnLst>
                          </p:cTn>
                        </p:par>
                      </p:childTnLst>
                    </p:cTn>
                  </p:par>
                  <p:par>
                    <p:cTn id="75" fill="hold">
                      <p:stCondLst>
                        <p:cond delay="indefinite"/>
                      </p:stCondLst>
                      <p:childTnLst>
                        <p:par>
                          <p:cTn id="76" fill="hold">
                            <p:stCondLst>
                              <p:cond delay="0"/>
                            </p:stCondLst>
                            <p:childTnLst>
                              <p:par>
                                <p:cTn id="77" presetID="1" presetClass="entr" presetSubtype="0" fill="hold" grpId="0" nodeType="clickEffect">
                                  <p:stCondLst>
                                    <p:cond delay="0"/>
                                  </p:stCondLst>
                                  <p:childTnLst>
                                    <p:set>
                                      <p:cBhvr>
                                        <p:cTn id="78" dur="1" fill="hold">
                                          <p:stCondLst>
                                            <p:cond delay="0"/>
                                          </p:stCondLst>
                                        </p:cTn>
                                        <p:tgtEl>
                                          <p:spTgt spid="27"/>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5396" grpId="0"/>
      <p:bldP spid="655397" grpId="0" animBg="1"/>
      <p:bldP spid="655398" grpId="0"/>
      <p:bldP spid="655420" grpId="0"/>
      <p:bldP spid="655421" grpId="0" animBg="1"/>
      <p:bldP spid="655422" grpId="0"/>
      <p:bldP spid="655440" grpId="0"/>
      <p:bldP spid="655441" grpId="0" animBg="1"/>
      <p:bldP spid="655442" grpId="0"/>
      <p:bldP spid="655456" grpId="0" animBg="1"/>
      <p:bldP spid="655457" grpId="0" animBg="1"/>
      <p:bldP spid="655458" grpId="0"/>
      <p:bldP spid="655468" grpId="0" animBg="1"/>
      <p:bldP spid="655469" grpId="0" animBg="1"/>
      <p:bldP spid="655470" grpId="0"/>
      <p:bldP spid="655480" grpId="0"/>
      <p:bldP spid="655481" grpId="0"/>
      <p:bldP spid="655482" grpId="0"/>
      <p:bldP spid="25" grpId="0" animBg="1"/>
      <p:bldP spid="26" grpId="0" animBg="1"/>
      <p:bldP spid="27" grpId="0" animBg="1"/>
      <p:bldP spid="28" grpId="0" animBg="1"/>
    </p:bldLst>
  </p:timing>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6627" name="Line 3"/>
          <p:cNvSpPr>
            <a:spLocks noChangeShapeType="1"/>
          </p:cNvSpPr>
          <p:nvPr/>
        </p:nvSpPr>
        <p:spPr bwMode="auto">
          <a:xfrm>
            <a:off x="5360665" y="1463675"/>
            <a:ext cx="0" cy="53657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32" name="Text Box 8"/>
          <p:cNvSpPr txBox="1">
            <a:spLocks noChangeArrowheads="1"/>
          </p:cNvSpPr>
          <p:nvPr/>
        </p:nvSpPr>
        <p:spPr bwMode="auto">
          <a:xfrm>
            <a:off x="5892477" y="1600200"/>
            <a:ext cx="2743200" cy="7620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rgbClr val="FF0000"/>
                </a:solidFill>
              </a:rPr>
              <a:t>SC.SNO = S.SNO</a:t>
            </a:r>
          </a:p>
        </p:txBody>
      </p:sp>
      <p:sp>
        <p:nvSpPr>
          <p:cNvPr id="666641" name="Text Box 17"/>
          <p:cNvSpPr txBox="1">
            <a:spLocks noChangeArrowheads="1"/>
          </p:cNvSpPr>
          <p:nvPr/>
        </p:nvSpPr>
        <p:spPr bwMode="auto">
          <a:xfrm>
            <a:off x="4932040" y="914400"/>
            <a:ext cx="1531937" cy="403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 σ</a:t>
            </a:r>
          </a:p>
        </p:txBody>
      </p:sp>
      <p:sp>
        <p:nvSpPr>
          <p:cNvPr id="666636" name="Text Box 12"/>
          <p:cNvSpPr txBox="1">
            <a:spLocks noChangeArrowheads="1"/>
          </p:cNvSpPr>
          <p:nvPr/>
        </p:nvSpPr>
        <p:spPr bwMode="auto">
          <a:xfrm>
            <a:off x="3130227" y="4165600"/>
            <a:ext cx="1252538" cy="4048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a:t>
            </a:r>
          </a:p>
        </p:txBody>
      </p:sp>
      <p:sp>
        <p:nvSpPr>
          <p:cNvPr id="666643" name="Text Box 19"/>
          <p:cNvSpPr txBox="1">
            <a:spLocks noChangeArrowheads="1"/>
          </p:cNvSpPr>
          <p:nvPr/>
        </p:nvSpPr>
        <p:spPr bwMode="auto">
          <a:xfrm>
            <a:off x="7514902" y="4141788"/>
            <a:ext cx="1044575" cy="403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a:solidFill>
                  <a:schemeClr val="bg2"/>
                </a:solidFill>
              </a:rPr>
              <a:t>S</a:t>
            </a:r>
          </a:p>
        </p:txBody>
      </p:sp>
      <p:sp>
        <p:nvSpPr>
          <p:cNvPr id="666638" name="Text Box 14"/>
          <p:cNvSpPr txBox="1">
            <a:spLocks noChangeArrowheads="1"/>
          </p:cNvSpPr>
          <p:nvPr/>
        </p:nvSpPr>
        <p:spPr bwMode="auto">
          <a:xfrm>
            <a:off x="1701477" y="5233988"/>
            <a:ext cx="1252538"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SC</a:t>
            </a:r>
          </a:p>
        </p:txBody>
      </p:sp>
      <p:sp>
        <p:nvSpPr>
          <p:cNvPr id="666647" name="Line 23"/>
          <p:cNvSpPr>
            <a:spLocks noChangeShapeType="1"/>
          </p:cNvSpPr>
          <p:nvPr/>
        </p:nvSpPr>
        <p:spPr bwMode="auto">
          <a:xfrm flipH="1">
            <a:off x="2018977" y="4584700"/>
            <a:ext cx="1252538" cy="6731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48" name="Line 24"/>
          <p:cNvSpPr>
            <a:spLocks noChangeShapeType="1"/>
          </p:cNvSpPr>
          <p:nvPr/>
        </p:nvSpPr>
        <p:spPr bwMode="auto">
          <a:xfrm>
            <a:off x="3687440" y="4576763"/>
            <a:ext cx="1463675"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29" name="Text Box 5"/>
          <p:cNvSpPr txBox="1">
            <a:spLocks noChangeArrowheads="1"/>
          </p:cNvSpPr>
          <p:nvPr/>
        </p:nvSpPr>
        <p:spPr bwMode="auto">
          <a:xfrm>
            <a:off x="5359077" y="5791200"/>
            <a:ext cx="2667000" cy="6096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rgbClr val="FF0000"/>
                </a:solidFill>
              </a:rPr>
              <a:t>TEACHER =</a:t>
            </a:r>
            <a:r>
              <a:rPr kumimoji="0" lang="en-US" altLang="zh-CN" sz="2000" b="1" dirty="0">
                <a:solidFill>
                  <a:srgbClr val="FF0000"/>
                </a:solidFill>
                <a:latin typeface="Times New Roman"/>
              </a:rPr>
              <a:t>‘</a:t>
            </a:r>
            <a:r>
              <a:rPr kumimoji="0" lang="en-US" altLang="zh-CN" sz="2000" b="1" dirty="0">
                <a:solidFill>
                  <a:srgbClr val="FF0000"/>
                </a:solidFill>
              </a:rPr>
              <a:t>LIU</a:t>
            </a:r>
            <a:r>
              <a:rPr kumimoji="0" lang="en-US" altLang="zh-CN" sz="2000" b="1" dirty="0">
                <a:solidFill>
                  <a:srgbClr val="FF0000"/>
                </a:solidFill>
                <a:latin typeface="Times New Roman"/>
              </a:rPr>
              <a:t>’</a:t>
            </a:r>
            <a:endParaRPr kumimoji="0" lang="en-US" altLang="zh-CN" sz="2000" b="1" dirty="0">
              <a:solidFill>
                <a:srgbClr val="FF0000"/>
              </a:solidFill>
            </a:endParaRPr>
          </a:p>
        </p:txBody>
      </p:sp>
      <p:sp>
        <p:nvSpPr>
          <p:cNvPr id="666637" name="Text Box 13"/>
          <p:cNvSpPr txBox="1">
            <a:spLocks noChangeArrowheads="1"/>
          </p:cNvSpPr>
          <p:nvPr/>
        </p:nvSpPr>
        <p:spPr bwMode="auto">
          <a:xfrm>
            <a:off x="4886002" y="6453188"/>
            <a:ext cx="14636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  C</a:t>
            </a:r>
          </a:p>
        </p:txBody>
      </p:sp>
      <p:sp>
        <p:nvSpPr>
          <p:cNvPr id="666639" name="Text Box 15"/>
          <p:cNvSpPr txBox="1">
            <a:spLocks noChangeArrowheads="1"/>
          </p:cNvSpPr>
          <p:nvPr/>
        </p:nvSpPr>
        <p:spPr bwMode="auto">
          <a:xfrm>
            <a:off x="5000302" y="5081588"/>
            <a:ext cx="10445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σ</a:t>
            </a:r>
          </a:p>
        </p:txBody>
      </p:sp>
      <p:sp>
        <p:nvSpPr>
          <p:cNvPr id="666649" name="Line 25"/>
          <p:cNvSpPr>
            <a:spLocks noChangeShapeType="1"/>
          </p:cNvSpPr>
          <p:nvPr/>
        </p:nvSpPr>
        <p:spPr bwMode="auto">
          <a:xfrm>
            <a:off x="5282877" y="5653088"/>
            <a:ext cx="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42" name="Text Box 18"/>
          <p:cNvSpPr txBox="1">
            <a:spLocks noChangeArrowheads="1"/>
          </p:cNvSpPr>
          <p:nvPr/>
        </p:nvSpPr>
        <p:spPr bwMode="auto">
          <a:xfrm>
            <a:off x="4932040" y="2171700"/>
            <a:ext cx="1044575" cy="4048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   ×</a:t>
            </a:r>
          </a:p>
        </p:txBody>
      </p:sp>
      <p:sp>
        <p:nvSpPr>
          <p:cNvPr id="666650" name="Line 26"/>
          <p:cNvSpPr>
            <a:spLocks noChangeShapeType="1"/>
          </p:cNvSpPr>
          <p:nvPr/>
        </p:nvSpPr>
        <p:spPr bwMode="auto">
          <a:xfrm flipH="1">
            <a:off x="3677915" y="2424113"/>
            <a:ext cx="1252537"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51" name="Line 27"/>
          <p:cNvSpPr>
            <a:spLocks noChangeShapeType="1"/>
          </p:cNvSpPr>
          <p:nvPr/>
        </p:nvSpPr>
        <p:spPr bwMode="auto">
          <a:xfrm>
            <a:off x="5767065" y="2424113"/>
            <a:ext cx="146050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33" name="Text Box 9"/>
          <p:cNvSpPr txBox="1">
            <a:spLocks noChangeArrowheads="1"/>
          </p:cNvSpPr>
          <p:nvPr/>
        </p:nvSpPr>
        <p:spPr bwMode="auto">
          <a:xfrm>
            <a:off x="7994327" y="3581400"/>
            <a:ext cx="2317750" cy="685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rgbClr val="FF0000"/>
                </a:solidFill>
              </a:rPr>
              <a:t>SEX=</a:t>
            </a:r>
            <a:r>
              <a:rPr kumimoji="0" lang="en-US" altLang="zh-CN" sz="2000" b="1" dirty="0">
                <a:solidFill>
                  <a:srgbClr val="FF0000"/>
                </a:solidFill>
                <a:latin typeface="Times New Roman"/>
              </a:rPr>
              <a:t>‘</a:t>
            </a:r>
            <a:r>
              <a:rPr kumimoji="0" lang="en-US" altLang="zh-CN" sz="2000" b="1" dirty="0">
                <a:solidFill>
                  <a:srgbClr val="FF0000"/>
                </a:solidFill>
              </a:rPr>
              <a:t>F</a:t>
            </a:r>
            <a:r>
              <a:rPr kumimoji="0" lang="en-US" altLang="zh-CN" sz="2000" b="1" dirty="0">
                <a:solidFill>
                  <a:srgbClr val="FF0000"/>
                </a:solidFill>
                <a:latin typeface="Times New Roman"/>
              </a:rPr>
              <a:t>’</a:t>
            </a:r>
            <a:endParaRPr kumimoji="0" lang="en-US" altLang="zh-CN" sz="2000" b="1" dirty="0">
              <a:solidFill>
                <a:srgbClr val="FF0000"/>
              </a:solidFill>
            </a:endParaRPr>
          </a:p>
        </p:txBody>
      </p:sp>
      <p:sp>
        <p:nvSpPr>
          <p:cNvPr id="666644" name="Text Box 20"/>
          <p:cNvSpPr txBox="1">
            <a:spLocks noChangeArrowheads="1"/>
          </p:cNvSpPr>
          <p:nvPr/>
        </p:nvSpPr>
        <p:spPr bwMode="auto">
          <a:xfrm>
            <a:off x="7075165" y="2817813"/>
            <a:ext cx="10445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 σ</a:t>
            </a:r>
          </a:p>
        </p:txBody>
      </p:sp>
      <p:sp>
        <p:nvSpPr>
          <p:cNvPr id="666652" name="Line 28"/>
          <p:cNvSpPr>
            <a:spLocks noChangeShapeType="1"/>
          </p:cNvSpPr>
          <p:nvPr/>
        </p:nvSpPr>
        <p:spPr bwMode="auto">
          <a:xfrm>
            <a:off x="7645077" y="3500438"/>
            <a:ext cx="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34" name="Text Box 10"/>
          <p:cNvSpPr txBox="1">
            <a:spLocks noChangeArrowheads="1"/>
          </p:cNvSpPr>
          <p:nvPr/>
        </p:nvSpPr>
        <p:spPr bwMode="auto">
          <a:xfrm>
            <a:off x="3682677" y="3581400"/>
            <a:ext cx="2057400" cy="685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dirty="0">
                <a:solidFill>
                  <a:srgbClr val="FF0000"/>
                </a:solidFill>
              </a:rPr>
              <a:t>SC.CNO =C.CNO</a:t>
            </a:r>
          </a:p>
        </p:txBody>
      </p:sp>
      <p:sp>
        <p:nvSpPr>
          <p:cNvPr id="666645" name="Text Box 21"/>
          <p:cNvSpPr txBox="1">
            <a:spLocks noChangeArrowheads="1"/>
          </p:cNvSpPr>
          <p:nvPr/>
        </p:nvSpPr>
        <p:spPr bwMode="auto">
          <a:xfrm>
            <a:off x="3063552" y="2897188"/>
            <a:ext cx="10445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 σ</a:t>
            </a:r>
          </a:p>
        </p:txBody>
      </p:sp>
      <p:sp>
        <p:nvSpPr>
          <p:cNvPr id="666653" name="Line 29"/>
          <p:cNvSpPr>
            <a:spLocks noChangeShapeType="1"/>
          </p:cNvSpPr>
          <p:nvPr/>
        </p:nvSpPr>
        <p:spPr bwMode="auto">
          <a:xfrm>
            <a:off x="3468365" y="3500438"/>
            <a:ext cx="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6665" name="Text Box 41"/>
          <p:cNvSpPr txBox="1">
            <a:spLocks noChangeArrowheads="1"/>
          </p:cNvSpPr>
          <p:nvPr/>
        </p:nvSpPr>
        <p:spPr bwMode="auto">
          <a:xfrm>
            <a:off x="5816277" y="609600"/>
            <a:ext cx="2336800" cy="38258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S.SNO, SNAME</a:t>
            </a:r>
          </a:p>
        </p:txBody>
      </p:sp>
      <p:sp>
        <p:nvSpPr>
          <p:cNvPr id="666666" name="Text Box 42"/>
          <p:cNvSpPr txBox="1">
            <a:spLocks noChangeArrowheads="1"/>
          </p:cNvSpPr>
          <p:nvPr/>
        </p:nvSpPr>
        <p:spPr bwMode="auto">
          <a:xfrm>
            <a:off x="4932040" y="0"/>
            <a:ext cx="1530350" cy="403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 π</a:t>
            </a:r>
          </a:p>
        </p:txBody>
      </p:sp>
      <p:sp>
        <p:nvSpPr>
          <p:cNvPr id="666667" name="Line 43"/>
          <p:cNvSpPr>
            <a:spLocks noChangeShapeType="1"/>
          </p:cNvSpPr>
          <p:nvPr/>
        </p:nvSpPr>
        <p:spPr bwMode="auto">
          <a:xfrm>
            <a:off x="5346377" y="533400"/>
            <a:ext cx="0" cy="5334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8" name="矩形 27">
            <a:extLst>
              <a:ext uri="{FF2B5EF4-FFF2-40B4-BE49-F238E27FC236}">
                <a16:creationId xmlns:a16="http://schemas.microsoft.com/office/drawing/2014/main" id="{CEA04F0B-CCE4-9748-8EE7-854B7712D2B5}"/>
              </a:ext>
            </a:extLst>
          </p:cNvPr>
          <p:cNvSpPr/>
          <p:nvPr/>
        </p:nvSpPr>
        <p:spPr bwMode="auto">
          <a:xfrm>
            <a:off x="178770" y="203528"/>
            <a:ext cx="3508670" cy="978729"/>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r>
              <a:rPr kumimoji="1" lang="zh-CN" altLang="en-US" sz="2400" b="0" i="0" u="none" strike="noStrike" cap="none" normalizeH="0" baseline="0" dirty="0">
                <a:ln>
                  <a:noFill/>
                </a:ln>
                <a:solidFill>
                  <a:schemeClr val="bg1"/>
                </a:solidFill>
                <a:effectLst/>
              </a:rPr>
              <a:t>把每个选择操作分裂成</a:t>
            </a:r>
            <a:r>
              <a:rPr kumimoji="1" lang="en-US" altLang="zh-CN" sz="2400" b="1" i="0" u="none" strike="noStrike" cap="none" normalizeH="0" baseline="0" dirty="0">
                <a:ln>
                  <a:noFill/>
                </a:ln>
                <a:solidFill>
                  <a:srgbClr val="FF0000"/>
                </a:solidFill>
                <a:effectLst/>
              </a:rPr>
              <a:t>2</a:t>
            </a:r>
            <a:r>
              <a:rPr kumimoji="1" lang="zh-CN" altLang="en-US" sz="2400" b="0" i="0" u="none" strike="noStrike" cap="none" normalizeH="0" baseline="0" dirty="0">
                <a:ln>
                  <a:noFill/>
                </a:ln>
                <a:solidFill>
                  <a:schemeClr val="bg1"/>
                </a:solidFill>
                <a:effectLst/>
              </a:rPr>
              <a:t>个选择运算</a:t>
            </a:r>
            <a:r>
              <a:rPr lang="zh-CN" altLang="en-US" sz="2400" dirty="0">
                <a:solidFill>
                  <a:schemeClr val="bg1"/>
                </a:solidFill>
              </a:rPr>
              <a:t>得到</a:t>
            </a:r>
            <a:r>
              <a:rPr lang="en-US" altLang="zh-CN" sz="2400" b="1" dirty="0">
                <a:solidFill>
                  <a:srgbClr val="FF0000"/>
                </a:solidFill>
              </a:rPr>
              <a:t>4</a:t>
            </a:r>
            <a:r>
              <a:rPr lang="zh-CN" altLang="en-US" sz="2400" dirty="0">
                <a:solidFill>
                  <a:schemeClr val="bg1"/>
                </a:solidFill>
              </a:rPr>
              <a:t>个选择运算</a:t>
            </a:r>
            <a:endParaRPr kumimoji="1" lang="zh-CN" altLang="en-US" sz="2400" b="0" i="0" u="none" strike="noStrike" cap="none" normalizeH="0" baseline="0" dirty="0">
              <a:ln>
                <a:noFill/>
              </a:ln>
              <a:solidFill>
                <a:schemeClr val="bg1"/>
              </a:solidFill>
              <a:effectLst/>
            </a:endParaRPr>
          </a:p>
        </p:txBody>
      </p:sp>
      <p:sp>
        <p:nvSpPr>
          <p:cNvPr id="29" name="矩形 28">
            <a:extLst>
              <a:ext uri="{FF2B5EF4-FFF2-40B4-BE49-F238E27FC236}">
                <a16:creationId xmlns:a16="http://schemas.microsoft.com/office/drawing/2014/main" id="{F6FC8F0E-53A9-9646-9B1B-1DDDF47B6026}"/>
              </a:ext>
            </a:extLst>
          </p:cNvPr>
          <p:cNvSpPr/>
          <p:nvPr/>
        </p:nvSpPr>
        <p:spPr bwMode="auto">
          <a:xfrm>
            <a:off x="169245" y="1289395"/>
            <a:ext cx="3508670" cy="978729"/>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r>
              <a:rPr lang="zh-CN" altLang="en-US" sz="2400" dirty="0">
                <a:solidFill>
                  <a:schemeClr val="bg1"/>
                </a:solidFill>
              </a:rPr>
              <a:t>使用等价变换规则</a:t>
            </a:r>
            <a:r>
              <a:rPr lang="en-US" altLang="zh-CN" sz="2400" dirty="0">
                <a:solidFill>
                  <a:schemeClr val="bg1"/>
                </a:solidFill>
              </a:rPr>
              <a:t>4-8</a:t>
            </a:r>
            <a:r>
              <a:rPr lang="zh-CN" altLang="en-US" sz="2400" dirty="0">
                <a:solidFill>
                  <a:schemeClr val="bg1"/>
                </a:solidFill>
              </a:rPr>
              <a:t>，把</a:t>
            </a:r>
            <a:r>
              <a:rPr lang="en-US" altLang="zh-CN" sz="2400" dirty="0">
                <a:solidFill>
                  <a:schemeClr val="bg1"/>
                </a:solidFill>
              </a:rPr>
              <a:t>4</a:t>
            </a:r>
            <a:r>
              <a:rPr lang="zh-CN" altLang="en-US" sz="2400" dirty="0">
                <a:solidFill>
                  <a:schemeClr val="bg1"/>
                </a:solidFill>
              </a:rPr>
              <a:t>个选择运算尽可能地向树的叶端靠拢。</a:t>
            </a:r>
            <a:endParaRPr kumimoji="1" lang="en-US" altLang="zh-CN" sz="2400" b="0" i="0" u="none" strike="noStrike" cap="none" normalizeH="0" baseline="0" dirty="0">
              <a:ln>
                <a:noFill/>
              </a:ln>
              <a:solidFill>
                <a:schemeClr val="bg1"/>
              </a:solidFill>
              <a:effectLst/>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66666"/>
                                        </p:tgtEl>
                                        <p:attrNameLst>
                                          <p:attrName>style.visibility</p:attrName>
                                        </p:attrNameLst>
                                      </p:cBhvr>
                                      <p:to>
                                        <p:strVal val="visible"/>
                                      </p:to>
                                    </p:set>
                                    <p:animEffect transition="in" filter="blinds(horizontal)">
                                      <p:cBhvr>
                                        <p:cTn id="7" dur="500"/>
                                        <p:tgtEl>
                                          <p:spTgt spid="666666"/>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66667"/>
                                        </p:tgtEl>
                                        <p:attrNameLst>
                                          <p:attrName>style.visibility</p:attrName>
                                        </p:attrNameLst>
                                      </p:cBhvr>
                                      <p:to>
                                        <p:strVal val="visible"/>
                                      </p:to>
                                    </p:set>
                                    <p:animEffect transition="in" filter="blinds(horizontal)">
                                      <p:cBhvr>
                                        <p:cTn id="10" dur="500"/>
                                        <p:tgtEl>
                                          <p:spTgt spid="666667"/>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66665"/>
                                        </p:tgtEl>
                                        <p:attrNameLst>
                                          <p:attrName>style.visibility</p:attrName>
                                        </p:attrNameLst>
                                      </p:cBhvr>
                                      <p:to>
                                        <p:strVal val="visible"/>
                                      </p:to>
                                    </p:set>
                                    <p:animEffect transition="in" filter="blinds(horizontal)">
                                      <p:cBhvr>
                                        <p:cTn id="13" dur="500"/>
                                        <p:tgtEl>
                                          <p:spTgt spid="66666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66641"/>
                                        </p:tgtEl>
                                        <p:attrNameLst>
                                          <p:attrName>style.visibility</p:attrName>
                                        </p:attrNameLst>
                                      </p:cBhvr>
                                      <p:to>
                                        <p:strVal val="visible"/>
                                      </p:to>
                                    </p:set>
                                    <p:animEffect transition="in" filter="blinds(horizontal)">
                                      <p:cBhvr>
                                        <p:cTn id="16" dur="500"/>
                                        <p:tgtEl>
                                          <p:spTgt spid="666641"/>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66627"/>
                                        </p:tgtEl>
                                        <p:attrNameLst>
                                          <p:attrName>style.visibility</p:attrName>
                                        </p:attrNameLst>
                                      </p:cBhvr>
                                      <p:to>
                                        <p:strVal val="visible"/>
                                      </p:to>
                                    </p:set>
                                    <p:animEffect transition="in" filter="blinds(horizontal)">
                                      <p:cBhvr>
                                        <p:cTn id="19" dur="500"/>
                                        <p:tgtEl>
                                          <p:spTgt spid="666627"/>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666632"/>
                                        </p:tgtEl>
                                        <p:attrNameLst>
                                          <p:attrName>style.visibility</p:attrName>
                                        </p:attrNameLst>
                                      </p:cBhvr>
                                      <p:to>
                                        <p:strVal val="visible"/>
                                      </p:to>
                                    </p:set>
                                    <p:animEffect transition="in" filter="blinds(horizontal)">
                                      <p:cBhvr>
                                        <p:cTn id="22" dur="500"/>
                                        <p:tgtEl>
                                          <p:spTgt spid="666632"/>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666642"/>
                                        </p:tgtEl>
                                        <p:attrNameLst>
                                          <p:attrName>style.visibility</p:attrName>
                                        </p:attrNameLst>
                                      </p:cBhvr>
                                      <p:to>
                                        <p:strVal val="visible"/>
                                      </p:to>
                                    </p:set>
                                    <p:animEffect transition="in" filter="blinds(horizontal)">
                                      <p:cBhvr>
                                        <p:cTn id="25" dur="500"/>
                                        <p:tgtEl>
                                          <p:spTgt spid="66664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666645"/>
                                        </p:tgtEl>
                                        <p:attrNameLst>
                                          <p:attrName>style.visibility</p:attrName>
                                        </p:attrNameLst>
                                      </p:cBhvr>
                                      <p:to>
                                        <p:strVal val="visible"/>
                                      </p:to>
                                    </p:set>
                                    <p:animEffect transition="in" filter="blinds(horizontal)">
                                      <p:cBhvr>
                                        <p:cTn id="30" dur="500"/>
                                        <p:tgtEl>
                                          <p:spTgt spid="666645"/>
                                        </p:tgtEl>
                                      </p:cBhvr>
                                    </p:animEffect>
                                  </p:childTnLst>
                                </p:cTn>
                              </p:par>
                              <p:par>
                                <p:cTn id="31" presetID="3" presetClass="entr" presetSubtype="10" fill="hold" grpId="0" nodeType="withEffect">
                                  <p:stCondLst>
                                    <p:cond delay="0"/>
                                  </p:stCondLst>
                                  <p:childTnLst>
                                    <p:set>
                                      <p:cBhvr>
                                        <p:cTn id="32" dur="1" fill="hold">
                                          <p:stCondLst>
                                            <p:cond delay="0"/>
                                          </p:stCondLst>
                                        </p:cTn>
                                        <p:tgtEl>
                                          <p:spTgt spid="666650"/>
                                        </p:tgtEl>
                                        <p:attrNameLst>
                                          <p:attrName>style.visibility</p:attrName>
                                        </p:attrNameLst>
                                      </p:cBhvr>
                                      <p:to>
                                        <p:strVal val="visible"/>
                                      </p:to>
                                    </p:set>
                                    <p:animEffect transition="in" filter="blinds(horizontal)">
                                      <p:cBhvr>
                                        <p:cTn id="33" dur="500"/>
                                        <p:tgtEl>
                                          <p:spTgt spid="666650"/>
                                        </p:tgtEl>
                                      </p:cBhvr>
                                    </p:animEffect>
                                  </p:childTnLst>
                                </p:cTn>
                              </p:par>
                              <p:par>
                                <p:cTn id="34" presetID="3" presetClass="entr" presetSubtype="10" fill="hold" grpId="0" nodeType="withEffect">
                                  <p:stCondLst>
                                    <p:cond delay="0"/>
                                  </p:stCondLst>
                                  <p:childTnLst>
                                    <p:set>
                                      <p:cBhvr>
                                        <p:cTn id="35" dur="1" fill="hold">
                                          <p:stCondLst>
                                            <p:cond delay="0"/>
                                          </p:stCondLst>
                                        </p:cTn>
                                        <p:tgtEl>
                                          <p:spTgt spid="666651"/>
                                        </p:tgtEl>
                                        <p:attrNameLst>
                                          <p:attrName>style.visibility</p:attrName>
                                        </p:attrNameLst>
                                      </p:cBhvr>
                                      <p:to>
                                        <p:strVal val="visible"/>
                                      </p:to>
                                    </p:set>
                                    <p:animEffect transition="in" filter="blinds(horizontal)">
                                      <p:cBhvr>
                                        <p:cTn id="36" dur="500"/>
                                        <p:tgtEl>
                                          <p:spTgt spid="666651"/>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666644"/>
                                        </p:tgtEl>
                                        <p:attrNameLst>
                                          <p:attrName>style.visibility</p:attrName>
                                        </p:attrNameLst>
                                      </p:cBhvr>
                                      <p:to>
                                        <p:strVal val="visible"/>
                                      </p:to>
                                    </p:set>
                                    <p:animEffect transition="in" filter="blinds(horizontal)">
                                      <p:cBhvr>
                                        <p:cTn id="39" dur="500"/>
                                        <p:tgtEl>
                                          <p:spTgt spid="666644"/>
                                        </p:tgtEl>
                                      </p:cBhvr>
                                    </p:animEffect>
                                  </p:childTnLst>
                                </p:cTn>
                              </p:par>
                              <p:par>
                                <p:cTn id="40" presetID="3" presetClass="entr" presetSubtype="10" fill="hold" grpId="0" nodeType="withEffect">
                                  <p:stCondLst>
                                    <p:cond delay="0"/>
                                  </p:stCondLst>
                                  <p:childTnLst>
                                    <p:set>
                                      <p:cBhvr>
                                        <p:cTn id="41" dur="1" fill="hold">
                                          <p:stCondLst>
                                            <p:cond delay="0"/>
                                          </p:stCondLst>
                                        </p:cTn>
                                        <p:tgtEl>
                                          <p:spTgt spid="666634"/>
                                        </p:tgtEl>
                                        <p:attrNameLst>
                                          <p:attrName>style.visibility</p:attrName>
                                        </p:attrNameLst>
                                      </p:cBhvr>
                                      <p:to>
                                        <p:strVal val="visible"/>
                                      </p:to>
                                    </p:set>
                                    <p:animEffect transition="in" filter="blinds(horizontal)">
                                      <p:cBhvr>
                                        <p:cTn id="42" dur="500"/>
                                        <p:tgtEl>
                                          <p:spTgt spid="666634"/>
                                        </p:tgtEl>
                                      </p:cBhvr>
                                    </p:animEffect>
                                  </p:childTnLst>
                                </p:cTn>
                              </p:par>
                              <p:par>
                                <p:cTn id="43" presetID="3" presetClass="entr" presetSubtype="10" fill="hold" grpId="0" nodeType="withEffect">
                                  <p:stCondLst>
                                    <p:cond delay="0"/>
                                  </p:stCondLst>
                                  <p:childTnLst>
                                    <p:set>
                                      <p:cBhvr>
                                        <p:cTn id="44" dur="1" fill="hold">
                                          <p:stCondLst>
                                            <p:cond delay="0"/>
                                          </p:stCondLst>
                                        </p:cTn>
                                        <p:tgtEl>
                                          <p:spTgt spid="666653"/>
                                        </p:tgtEl>
                                        <p:attrNameLst>
                                          <p:attrName>style.visibility</p:attrName>
                                        </p:attrNameLst>
                                      </p:cBhvr>
                                      <p:to>
                                        <p:strVal val="visible"/>
                                      </p:to>
                                    </p:set>
                                    <p:animEffect transition="in" filter="blinds(horizontal)">
                                      <p:cBhvr>
                                        <p:cTn id="45" dur="500"/>
                                        <p:tgtEl>
                                          <p:spTgt spid="666653"/>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666652"/>
                                        </p:tgtEl>
                                        <p:attrNameLst>
                                          <p:attrName>style.visibility</p:attrName>
                                        </p:attrNameLst>
                                      </p:cBhvr>
                                      <p:to>
                                        <p:strVal val="visible"/>
                                      </p:to>
                                    </p:set>
                                    <p:animEffect transition="in" filter="blinds(horizontal)">
                                      <p:cBhvr>
                                        <p:cTn id="48" dur="500"/>
                                        <p:tgtEl>
                                          <p:spTgt spid="666652"/>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666633"/>
                                        </p:tgtEl>
                                        <p:attrNameLst>
                                          <p:attrName>style.visibility</p:attrName>
                                        </p:attrNameLst>
                                      </p:cBhvr>
                                      <p:to>
                                        <p:strVal val="visible"/>
                                      </p:to>
                                    </p:set>
                                    <p:animEffect transition="in" filter="blinds(horizontal)">
                                      <p:cBhvr>
                                        <p:cTn id="51" dur="500"/>
                                        <p:tgtEl>
                                          <p:spTgt spid="666633"/>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666643"/>
                                        </p:tgtEl>
                                        <p:attrNameLst>
                                          <p:attrName>style.visibility</p:attrName>
                                        </p:attrNameLst>
                                      </p:cBhvr>
                                      <p:to>
                                        <p:strVal val="visible"/>
                                      </p:to>
                                    </p:set>
                                    <p:animEffect transition="in" filter="blinds(horizontal)">
                                      <p:cBhvr>
                                        <p:cTn id="54" dur="500"/>
                                        <p:tgtEl>
                                          <p:spTgt spid="666643"/>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grpId="0" nodeType="clickEffect">
                                  <p:stCondLst>
                                    <p:cond delay="0"/>
                                  </p:stCondLst>
                                  <p:childTnLst>
                                    <p:set>
                                      <p:cBhvr>
                                        <p:cTn id="58" dur="1" fill="hold">
                                          <p:stCondLst>
                                            <p:cond delay="0"/>
                                          </p:stCondLst>
                                        </p:cTn>
                                        <p:tgtEl>
                                          <p:spTgt spid="666636"/>
                                        </p:tgtEl>
                                        <p:attrNameLst>
                                          <p:attrName>style.visibility</p:attrName>
                                        </p:attrNameLst>
                                      </p:cBhvr>
                                      <p:to>
                                        <p:strVal val="visible"/>
                                      </p:to>
                                    </p:set>
                                    <p:animEffect transition="in" filter="blinds(horizontal)">
                                      <p:cBhvr>
                                        <p:cTn id="59" dur="500"/>
                                        <p:tgtEl>
                                          <p:spTgt spid="666636"/>
                                        </p:tgtEl>
                                      </p:cBhvr>
                                    </p:animEffect>
                                  </p:childTnLst>
                                </p:cTn>
                              </p:par>
                              <p:par>
                                <p:cTn id="60" presetID="3" presetClass="entr" presetSubtype="10" fill="hold" grpId="0" nodeType="withEffect">
                                  <p:stCondLst>
                                    <p:cond delay="0"/>
                                  </p:stCondLst>
                                  <p:childTnLst>
                                    <p:set>
                                      <p:cBhvr>
                                        <p:cTn id="61" dur="1" fill="hold">
                                          <p:stCondLst>
                                            <p:cond delay="0"/>
                                          </p:stCondLst>
                                        </p:cTn>
                                        <p:tgtEl>
                                          <p:spTgt spid="666647"/>
                                        </p:tgtEl>
                                        <p:attrNameLst>
                                          <p:attrName>style.visibility</p:attrName>
                                        </p:attrNameLst>
                                      </p:cBhvr>
                                      <p:to>
                                        <p:strVal val="visible"/>
                                      </p:to>
                                    </p:set>
                                    <p:animEffect transition="in" filter="blinds(horizontal)">
                                      <p:cBhvr>
                                        <p:cTn id="62" dur="500"/>
                                        <p:tgtEl>
                                          <p:spTgt spid="666647"/>
                                        </p:tgtEl>
                                      </p:cBhvr>
                                    </p:animEffect>
                                  </p:childTnLst>
                                </p:cTn>
                              </p:par>
                              <p:par>
                                <p:cTn id="63" presetID="3" presetClass="entr" presetSubtype="10" fill="hold" grpId="0" nodeType="withEffect">
                                  <p:stCondLst>
                                    <p:cond delay="0"/>
                                  </p:stCondLst>
                                  <p:childTnLst>
                                    <p:set>
                                      <p:cBhvr>
                                        <p:cTn id="64" dur="1" fill="hold">
                                          <p:stCondLst>
                                            <p:cond delay="0"/>
                                          </p:stCondLst>
                                        </p:cTn>
                                        <p:tgtEl>
                                          <p:spTgt spid="666648"/>
                                        </p:tgtEl>
                                        <p:attrNameLst>
                                          <p:attrName>style.visibility</p:attrName>
                                        </p:attrNameLst>
                                      </p:cBhvr>
                                      <p:to>
                                        <p:strVal val="visible"/>
                                      </p:to>
                                    </p:set>
                                    <p:animEffect transition="in" filter="blinds(horizontal)">
                                      <p:cBhvr>
                                        <p:cTn id="65" dur="500"/>
                                        <p:tgtEl>
                                          <p:spTgt spid="666648"/>
                                        </p:tgtEl>
                                      </p:cBhvr>
                                    </p:animEffect>
                                  </p:childTnLst>
                                </p:cTn>
                              </p:par>
                              <p:par>
                                <p:cTn id="66" presetID="3" presetClass="entr" presetSubtype="10" fill="hold" grpId="0" nodeType="withEffect">
                                  <p:stCondLst>
                                    <p:cond delay="0"/>
                                  </p:stCondLst>
                                  <p:childTnLst>
                                    <p:set>
                                      <p:cBhvr>
                                        <p:cTn id="67" dur="1" fill="hold">
                                          <p:stCondLst>
                                            <p:cond delay="0"/>
                                          </p:stCondLst>
                                        </p:cTn>
                                        <p:tgtEl>
                                          <p:spTgt spid="666638"/>
                                        </p:tgtEl>
                                        <p:attrNameLst>
                                          <p:attrName>style.visibility</p:attrName>
                                        </p:attrNameLst>
                                      </p:cBhvr>
                                      <p:to>
                                        <p:strVal val="visible"/>
                                      </p:to>
                                    </p:set>
                                    <p:animEffect transition="in" filter="blinds(horizontal)">
                                      <p:cBhvr>
                                        <p:cTn id="68" dur="500"/>
                                        <p:tgtEl>
                                          <p:spTgt spid="666638"/>
                                        </p:tgtEl>
                                      </p:cBhvr>
                                    </p:animEffect>
                                  </p:childTnLst>
                                </p:cTn>
                              </p:par>
                              <p:par>
                                <p:cTn id="69" presetID="3" presetClass="entr" presetSubtype="10" fill="hold" grpId="0" nodeType="withEffect">
                                  <p:stCondLst>
                                    <p:cond delay="0"/>
                                  </p:stCondLst>
                                  <p:childTnLst>
                                    <p:set>
                                      <p:cBhvr>
                                        <p:cTn id="70" dur="1" fill="hold">
                                          <p:stCondLst>
                                            <p:cond delay="0"/>
                                          </p:stCondLst>
                                        </p:cTn>
                                        <p:tgtEl>
                                          <p:spTgt spid="666639"/>
                                        </p:tgtEl>
                                        <p:attrNameLst>
                                          <p:attrName>style.visibility</p:attrName>
                                        </p:attrNameLst>
                                      </p:cBhvr>
                                      <p:to>
                                        <p:strVal val="visible"/>
                                      </p:to>
                                    </p:set>
                                    <p:animEffect transition="in" filter="blinds(horizontal)">
                                      <p:cBhvr>
                                        <p:cTn id="71" dur="500"/>
                                        <p:tgtEl>
                                          <p:spTgt spid="666639"/>
                                        </p:tgtEl>
                                      </p:cBhvr>
                                    </p:animEffect>
                                  </p:childTnLst>
                                </p:cTn>
                              </p:par>
                              <p:par>
                                <p:cTn id="72" presetID="3" presetClass="entr" presetSubtype="10" fill="hold" grpId="0" nodeType="withEffect">
                                  <p:stCondLst>
                                    <p:cond delay="0"/>
                                  </p:stCondLst>
                                  <p:childTnLst>
                                    <p:set>
                                      <p:cBhvr>
                                        <p:cTn id="73" dur="1" fill="hold">
                                          <p:stCondLst>
                                            <p:cond delay="0"/>
                                          </p:stCondLst>
                                        </p:cTn>
                                        <p:tgtEl>
                                          <p:spTgt spid="666649"/>
                                        </p:tgtEl>
                                        <p:attrNameLst>
                                          <p:attrName>style.visibility</p:attrName>
                                        </p:attrNameLst>
                                      </p:cBhvr>
                                      <p:to>
                                        <p:strVal val="visible"/>
                                      </p:to>
                                    </p:set>
                                    <p:animEffect transition="in" filter="blinds(horizontal)">
                                      <p:cBhvr>
                                        <p:cTn id="74" dur="500"/>
                                        <p:tgtEl>
                                          <p:spTgt spid="666649"/>
                                        </p:tgtEl>
                                      </p:cBhvr>
                                    </p:animEffect>
                                  </p:childTnLst>
                                </p:cTn>
                              </p:par>
                              <p:par>
                                <p:cTn id="75" presetID="3" presetClass="entr" presetSubtype="10" fill="hold" grpId="0" nodeType="withEffect">
                                  <p:stCondLst>
                                    <p:cond delay="0"/>
                                  </p:stCondLst>
                                  <p:childTnLst>
                                    <p:set>
                                      <p:cBhvr>
                                        <p:cTn id="76" dur="1" fill="hold">
                                          <p:stCondLst>
                                            <p:cond delay="0"/>
                                          </p:stCondLst>
                                        </p:cTn>
                                        <p:tgtEl>
                                          <p:spTgt spid="666629"/>
                                        </p:tgtEl>
                                        <p:attrNameLst>
                                          <p:attrName>style.visibility</p:attrName>
                                        </p:attrNameLst>
                                      </p:cBhvr>
                                      <p:to>
                                        <p:strVal val="visible"/>
                                      </p:to>
                                    </p:set>
                                    <p:animEffect transition="in" filter="blinds(horizontal)">
                                      <p:cBhvr>
                                        <p:cTn id="77" dur="500"/>
                                        <p:tgtEl>
                                          <p:spTgt spid="666629"/>
                                        </p:tgtEl>
                                      </p:cBhvr>
                                    </p:animEffect>
                                  </p:childTnLst>
                                </p:cTn>
                              </p:par>
                              <p:par>
                                <p:cTn id="78" presetID="3" presetClass="entr" presetSubtype="10" fill="hold" grpId="0" nodeType="withEffect">
                                  <p:stCondLst>
                                    <p:cond delay="0"/>
                                  </p:stCondLst>
                                  <p:childTnLst>
                                    <p:set>
                                      <p:cBhvr>
                                        <p:cTn id="79" dur="1" fill="hold">
                                          <p:stCondLst>
                                            <p:cond delay="0"/>
                                          </p:stCondLst>
                                        </p:cTn>
                                        <p:tgtEl>
                                          <p:spTgt spid="666637"/>
                                        </p:tgtEl>
                                        <p:attrNameLst>
                                          <p:attrName>style.visibility</p:attrName>
                                        </p:attrNameLst>
                                      </p:cBhvr>
                                      <p:to>
                                        <p:strVal val="visible"/>
                                      </p:to>
                                    </p:set>
                                    <p:animEffect transition="in" filter="blinds(horizontal)">
                                      <p:cBhvr>
                                        <p:cTn id="80" dur="500"/>
                                        <p:tgtEl>
                                          <p:spTgt spid="6666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6627" grpId="0" animBg="1"/>
      <p:bldP spid="666632" grpId="0"/>
      <p:bldP spid="666641" grpId="0"/>
      <p:bldP spid="666636" grpId="0"/>
      <p:bldP spid="666643" grpId="0"/>
      <p:bldP spid="666638" grpId="0"/>
      <p:bldP spid="666647" grpId="0" animBg="1"/>
      <p:bldP spid="666648" grpId="0" animBg="1"/>
      <p:bldP spid="666629" grpId="0"/>
      <p:bldP spid="666637" grpId="0"/>
      <p:bldP spid="666639" grpId="0"/>
      <p:bldP spid="666649" grpId="0" animBg="1"/>
      <p:bldP spid="666642" grpId="0"/>
      <p:bldP spid="666650" grpId="0" animBg="1"/>
      <p:bldP spid="666651" grpId="0" animBg="1"/>
      <p:bldP spid="666633" grpId="0"/>
      <p:bldP spid="666644" grpId="0"/>
      <p:bldP spid="666652" grpId="0" animBg="1"/>
      <p:bldP spid="666634" grpId="0"/>
      <p:bldP spid="666645" grpId="0"/>
      <p:bldP spid="666653" grpId="0" animBg="1"/>
      <p:bldP spid="666665" grpId="0"/>
      <p:bldP spid="666666" grpId="0"/>
      <p:bldP spid="666667" grpId="0" animBg="1"/>
    </p:bldLst>
  </p:timing>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1506" name="AutoShape 2"/>
          <p:cNvSpPr>
            <a:spLocks noChangeArrowheads="1"/>
          </p:cNvSpPr>
          <p:nvPr/>
        </p:nvSpPr>
        <p:spPr bwMode="auto">
          <a:xfrm>
            <a:off x="5206825" y="2019300"/>
            <a:ext cx="3429000" cy="685800"/>
          </a:xfrm>
          <a:prstGeom prst="wedgeRectCallout">
            <a:avLst>
              <a:gd name="adj1" fmla="val -80277"/>
              <a:gd name="adj2" fmla="val -57871"/>
            </a:avLst>
          </a:prstGeom>
          <a:solidFill>
            <a:srgbClr val="FFFFFF"/>
          </a:solidFill>
          <a:ln w="9525">
            <a:solidFill>
              <a:schemeClr val="bg2"/>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lnSpc>
                <a:spcPct val="100000"/>
              </a:lnSpc>
            </a:pPr>
            <a:r>
              <a:rPr kumimoji="0" lang="en-US" altLang="zh-CN" sz="3600" b="1" dirty="0">
                <a:solidFill>
                  <a:schemeClr val="bg1"/>
                </a:solidFill>
              </a:rPr>
              <a:t>π</a:t>
            </a:r>
            <a:r>
              <a:rPr kumimoji="0" lang="en-US" altLang="zh-CN" sz="3600" b="1" baseline="-10000" dirty="0">
                <a:solidFill>
                  <a:schemeClr val="bg1"/>
                </a:solidFill>
              </a:rPr>
              <a:t>S.SNO,SNAME,SC.SNO</a:t>
            </a:r>
          </a:p>
          <a:p>
            <a:pPr algn="ctr" eaLnBrk="0" hangingPunct="0">
              <a:lnSpc>
                <a:spcPct val="100000"/>
              </a:lnSpc>
              <a:spcBef>
                <a:spcPct val="0"/>
              </a:spcBef>
            </a:pPr>
            <a:endParaRPr kumimoji="0" lang="en-US" altLang="zh-CN" sz="3600" b="1" dirty="0">
              <a:solidFill>
                <a:schemeClr val="bg1"/>
              </a:solidFill>
              <a:latin typeface="Times New Roman" pitchFamily="18" charset="0"/>
            </a:endParaRPr>
          </a:p>
        </p:txBody>
      </p:sp>
      <p:sp>
        <p:nvSpPr>
          <p:cNvPr id="661508" name="Text Box 4"/>
          <p:cNvSpPr txBox="1">
            <a:spLocks noChangeArrowheads="1"/>
          </p:cNvSpPr>
          <p:nvPr/>
        </p:nvSpPr>
        <p:spPr bwMode="auto">
          <a:xfrm>
            <a:off x="4038600" y="5791200"/>
            <a:ext cx="2667000" cy="6096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TEACHER =</a:t>
            </a:r>
            <a:r>
              <a:rPr kumimoji="0" lang="en-US" altLang="zh-CN" sz="2000" b="1">
                <a:solidFill>
                  <a:schemeClr val="bg2"/>
                </a:solidFill>
                <a:latin typeface="Times New Roman"/>
              </a:rPr>
              <a:t>‘</a:t>
            </a:r>
            <a:r>
              <a:rPr kumimoji="0" lang="en-US" altLang="zh-CN" sz="2000" b="1">
                <a:solidFill>
                  <a:schemeClr val="bg2"/>
                </a:solidFill>
              </a:rPr>
              <a:t>LIU</a:t>
            </a:r>
            <a:r>
              <a:rPr kumimoji="0" lang="en-US" altLang="zh-CN" sz="2000" b="1">
                <a:solidFill>
                  <a:schemeClr val="bg2"/>
                </a:solidFill>
                <a:latin typeface="Times New Roman"/>
              </a:rPr>
              <a:t>’</a:t>
            </a:r>
            <a:endParaRPr kumimoji="0" lang="en-US" altLang="zh-CN" sz="2000" b="1">
              <a:solidFill>
                <a:schemeClr val="bg2"/>
              </a:solidFill>
            </a:endParaRPr>
          </a:p>
        </p:txBody>
      </p:sp>
      <p:sp>
        <p:nvSpPr>
          <p:cNvPr id="661510" name="Text Box 6"/>
          <p:cNvSpPr txBox="1">
            <a:spLocks noChangeArrowheads="1"/>
          </p:cNvSpPr>
          <p:nvPr/>
        </p:nvSpPr>
        <p:spPr bwMode="auto">
          <a:xfrm>
            <a:off x="4495800" y="609600"/>
            <a:ext cx="2336800" cy="38258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S.SNO</a:t>
            </a:r>
            <a:r>
              <a:rPr kumimoji="0" lang="zh-CN" altLang="en-US" sz="2000" b="1">
                <a:solidFill>
                  <a:schemeClr val="bg2"/>
                </a:solidFill>
              </a:rPr>
              <a:t>，</a:t>
            </a:r>
            <a:r>
              <a:rPr kumimoji="0" lang="en-US" altLang="zh-CN" sz="2000" b="1">
                <a:solidFill>
                  <a:schemeClr val="bg2"/>
                </a:solidFill>
              </a:rPr>
              <a:t>SNAME</a:t>
            </a:r>
          </a:p>
        </p:txBody>
      </p:sp>
      <p:sp>
        <p:nvSpPr>
          <p:cNvPr id="661511" name="Text Box 7"/>
          <p:cNvSpPr txBox="1">
            <a:spLocks noChangeArrowheads="1"/>
          </p:cNvSpPr>
          <p:nvPr/>
        </p:nvSpPr>
        <p:spPr bwMode="auto">
          <a:xfrm>
            <a:off x="4572000" y="1600200"/>
            <a:ext cx="2743200" cy="7620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SC.SNO = S.SNO</a:t>
            </a:r>
          </a:p>
        </p:txBody>
      </p:sp>
      <p:sp>
        <p:nvSpPr>
          <p:cNvPr id="661512" name="Text Box 8"/>
          <p:cNvSpPr txBox="1">
            <a:spLocks noChangeArrowheads="1"/>
          </p:cNvSpPr>
          <p:nvPr/>
        </p:nvSpPr>
        <p:spPr bwMode="auto">
          <a:xfrm>
            <a:off x="6673850" y="3581400"/>
            <a:ext cx="2317750" cy="685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SEX=</a:t>
            </a:r>
            <a:r>
              <a:rPr kumimoji="0" lang="en-US" altLang="zh-CN" sz="2000" b="1">
                <a:solidFill>
                  <a:schemeClr val="bg2"/>
                </a:solidFill>
                <a:latin typeface="Times New Roman"/>
              </a:rPr>
              <a:t>‘</a:t>
            </a:r>
            <a:r>
              <a:rPr kumimoji="0" lang="en-US" altLang="zh-CN" sz="2000" b="1">
                <a:solidFill>
                  <a:schemeClr val="bg2"/>
                </a:solidFill>
              </a:rPr>
              <a:t>F</a:t>
            </a:r>
            <a:r>
              <a:rPr kumimoji="0" lang="en-US" altLang="zh-CN" sz="2000" b="1">
                <a:solidFill>
                  <a:schemeClr val="bg2"/>
                </a:solidFill>
                <a:latin typeface="Times New Roman"/>
              </a:rPr>
              <a:t>’</a:t>
            </a:r>
            <a:endParaRPr kumimoji="0" lang="en-US" altLang="zh-CN" sz="2000" b="1">
              <a:solidFill>
                <a:schemeClr val="bg2"/>
              </a:solidFill>
            </a:endParaRPr>
          </a:p>
        </p:txBody>
      </p:sp>
      <p:sp>
        <p:nvSpPr>
          <p:cNvPr id="661513" name="Text Box 9"/>
          <p:cNvSpPr txBox="1">
            <a:spLocks noChangeArrowheads="1"/>
          </p:cNvSpPr>
          <p:nvPr/>
        </p:nvSpPr>
        <p:spPr bwMode="auto">
          <a:xfrm>
            <a:off x="2362200" y="3581400"/>
            <a:ext cx="2057400" cy="6858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SC.CNO =C.CNO</a:t>
            </a:r>
          </a:p>
        </p:txBody>
      </p:sp>
      <p:sp>
        <p:nvSpPr>
          <p:cNvPr id="661515" name="Text Box 11"/>
          <p:cNvSpPr txBox="1">
            <a:spLocks noChangeArrowheads="1"/>
          </p:cNvSpPr>
          <p:nvPr/>
        </p:nvSpPr>
        <p:spPr bwMode="auto">
          <a:xfrm>
            <a:off x="1809750" y="4165600"/>
            <a:ext cx="1252538" cy="4048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a:t>
            </a:r>
          </a:p>
        </p:txBody>
      </p:sp>
      <p:sp>
        <p:nvSpPr>
          <p:cNvPr id="661516" name="Text Box 12"/>
          <p:cNvSpPr txBox="1">
            <a:spLocks noChangeArrowheads="1"/>
          </p:cNvSpPr>
          <p:nvPr/>
        </p:nvSpPr>
        <p:spPr bwMode="auto">
          <a:xfrm>
            <a:off x="3565525" y="6453188"/>
            <a:ext cx="14636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  C</a:t>
            </a:r>
          </a:p>
        </p:txBody>
      </p:sp>
      <p:sp>
        <p:nvSpPr>
          <p:cNvPr id="661517" name="Text Box 13"/>
          <p:cNvSpPr txBox="1">
            <a:spLocks noChangeArrowheads="1"/>
          </p:cNvSpPr>
          <p:nvPr/>
        </p:nvSpPr>
        <p:spPr bwMode="auto">
          <a:xfrm>
            <a:off x="381000" y="5233988"/>
            <a:ext cx="1252538"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SC</a:t>
            </a:r>
          </a:p>
        </p:txBody>
      </p:sp>
      <p:sp>
        <p:nvSpPr>
          <p:cNvPr id="661518" name="Text Box 14"/>
          <p:cNvSpPr txBox="1">
            <a:spLocks noChangeArrowheads="1"/>
          </p:cNvSpPr>
          <p:nvPr/>
        </p:nvSpPr>
        <p:spPr bwMode="auto">
          <a:xfrm>
            <a:off x="3679825" y="5081588"/>
            <a:ext cx="10445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σ</a:t>
            </a:r>
          </a:p>
        </p:txBody>
      </p:sp>
      <p:sp>
        <p:nvSpPr>
          <p:cNvPr id="661519" name="Text Box 15"/>
          <p:cNvSpPr txBox="1">
            <a:spLocks noChangeArrowheads="1"/>
          </p:cNvSpPr>
          <p:nvPr/>
        </p:nvSpPr>
        <p:spPr bwMode="auto">
          <a:xfrm>
            <a:off x="3611563" y="0"/>
            <a:ext cx="1530350" cy="403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 π</a:t>
            </a:r>
          </a:p>
        </p:txBody>
      </p:sp>
      <p:sp>
        <p:nvSpPr>
          <p:cNvPr id="661520" name="Text Box 16"/>
          <p:cNvSpPr txBox="1">
            <a:spLocks noChangeArrowheads="1"/>
          </p:cNvSpPr>
          <p:nvPr/>
        </p:nvSpPr>
        <p:spPr bwMode="auto">
          <a:xfrm>
            <a:off x="3611563" y="914400"/>
            <a:ext cx="1531937" cy="403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 σ</a:t>
            </a:r>
          </a:p>
        </p:txBody>
      </p:sp>
      <p:sp>
        <p:nvSpPr>
          <p:cNvPr id="661521" name="Text Box 17"/>
          <p:cNvSpPr txBox="1">
            <a:spLocks noChangeArrowheads="1"/>
          </p:cNvSpPr>
          <p:nvPr/>
        </p:nvSpPr>
        <p:spPr bwMode="auto">
          <a:xfrm>
            <a:off x="3611563" y="2171700"/>
            <a:ext cx="1044575" cy="4048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   ×</a:t>
            </a:r>
          </a:p>
        </p:txBody>
      </p:sp>
      <p:sp>
        <p:nvSpPr>
          <p:cNvPr id="661522" name="Text Box 18"/>
          <p:cNvSpPr txBox="1">
            <a:spLocks noChangeArrowheads="1"/>
          </p:cNvSpPr>
          <p:nvPr/>
        </p:nvSpPr>
        <p:spPr bwMode="auto">
          <a:xfrm>
            <a:off x="6194425" y="4141788"/>
            <a:ext cx="1044575" cy="4032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S</a:t>
            </a:r>
          </a:p>
        </p:txBody>
      </p:sp>
      <p:sp>
        <p:nvSpPr>
          <p:cNvPr id="661523" name="Text Box 19"/>
          <p:cNvSpPr txBox="1">
            <a:spLocks noChangeArrowheads="1"/>
          </p:cNvSpPr>
          <p:nvPr/>
        </p:nvSpPr>
        <p:spPr bwMode="auto">
          <a:xfrm>
            <a:off x="5754688" y="2817813"/>
            <a:ext cx="10445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a:solidFill>
                  <a:schemeClr val="bg2"/>
                </a:solidFill>
              </a:rPr>
              <a:t> σ</a:t>
            </a:r>
          </a:p>
        </p:txBody>
      </p:sp>
      <p:sp>
        <p:nvSpPr>
          <p:cNvPr id="661524" name="Text Box 20"/>
          <p:cNvSpPr txBox="1">
            <a:spLocks noChangeArrowheads="1"/>
          </p:cNvSpPr>
          <p:nvPr/>
        </p:nvSpPr>
        <p:spPr bwMode="auto">
          <a:xfrm>
            <a:off x="1743075" y="2897188"/>
            <a:ext cx="1044575" cy="4048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chemeClr val="bg2"/>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dirty="0">
                <a:solidFill>
                  <a:schemeClr val="bg2"/>
                </a:solidFill>
              </a:rPr>
              <a:t> </a:t>
            </a:r>
            <a:r>
              <a:rPr kumimoji="0" lang="en-US" altLang="zh-CN" sz="2800" b="1" dirty="0" err="1">
                <a:solidFill>
                  <a:schemeClr val="bg2"/>
                </a:solidFill>
              </a:rPr>
              <a:t>σ</a:t>
            </a:r>
            <a:endParaRPr kumimoji="0" lang="en-US" altLang="zh-CN" sz="2800" b="1" dirty="0">
              <a:solidFill>
                <a:schemeClr val="bg2"/>
              </a:solidFill>
            </a:endParaRPr>
          </a:p>
        </p:txBody>
      </p:sp>
      <p:sp>
        <p:nvSpPr>
          <p:cNvPr id="661526" name="Line 22"/>
          <p:cNvSpPr>
            <a:spLocks noChangeShapeType="1"/>
          </p:cNvSpPr>
          <p:nvPr/>
        </p:nvSpPr>
        <p:spPr bwMode="auto">
          <a:xfrm flipH="1">
            <a:off x="698500" y="4584700"/>
            <a:ext cx="1252538" cy="6731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27" name="Line 23"/>
          <p:cNvSpPr>
            <a:spLocks noChangeShapeType="1"/>
          </p:cNvSpPr>
          <p:nvPr/>
        </p:nvSpPr>
        <p:spPr bwMode="auto">
          <a:xfrm>
            <a:off x="2366963" y="4576763"/>
            <a:ext cx="1463675"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28" name="Line 24"/>
          <p:cNvSpPr>
            <a:spLocks noChangeShapeType="1"/>
          </p:cNvSpPr>
          <p:nvPr/>
        </p:nvSpPr>
        <p:spPr bwMode="auto">
          <a:xfrm>
            <a:off x="3962400" y="5653088"/>
            <a:ext cx="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29" name="Line 25"/>
          <p:cNvSpPr>
            <a:spLocks noChangeShapeType="1"/>
          </p:cNvSpPr>
          <p:nvPr/>
        </p:nvSpPr>
        <p:spPr bwMode="auto">
          <a:xfrm flipH="1">
            <a:off x="2357438" y="2424113"/>
            <a:ext cx="1252537"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30" name="Line 26"/>
          <p:cNvSpPr>
            <a:spLocks noChangeShapeType="1"/>
          </p:cNvSpPr>
          <p:nvPr/>
        </p:nvSpPr>
        <p:spPr bwMode="auto">
          <a:xfrm>
            <a:off x="4446588" y="2424113"/>
            <a:ext cx="146050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31" name="Line 27"/>
          <p:cNvSpPr>
            <a:spLocks noChangeShapeType="1"/>
          </p:cNvSpPr>
          <p:nvPr/>
        </p:nvSpPr>
        <p:spPr bwMode="auto">
          <a:xfrm>
            <a:off x="6324600" y="3500438"/>
            <a:ext cx="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32" name="Line 28"/>
          <p:cNvSpPr>
            <a:spLocks noChangeShapeType="1"/>
          </p:cNvSpPr>
          <p:nvPr/>
        </p:nvSpPr>
        <p:spPr bwMode="auto">
          <a:xfrm>
            <a:off x="2147888" y="3500438"/>
            <a:ext cx="0" cy="6715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33" name="Line 29"/>
          <p:cNvSpPr>
            <a:spLocks noChangeShapeType="1"/>
          </p:cNvSpPr>
          <p:nvPr/>
        </p:nvSpPr>
        <p:spPr bwMode="auto">
          <a:xfrm>
            <a:off x="4025900" y="533400"/>
            <a:ext cx="0" cy="5334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61534" name="Line 30"/>
          <p:cNvSpPr>
            <a:spLocks noChangeShapeType="1"/>
          </p:cNvSpPr>
          <p:nvPr/>
        </p:nvSpPr>
        <p:spPr bwMode="auto">
          <a:xfrm>
            <a:off x="4040188" y="1463675"/>
            <a:ext cx="0" cy="53657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27" name="矩形 26">
            <a:extLst>
              <a:ext uri="{FF2B5EF4-FFF2-40B4-BE49-F238E27FC236}">
                <a16:creationId xmlns:a16="http://schemas.microsoft.com/office/drawing/2014/main" id="{AAE3AA56-FFD7-A349-B4F9-010834BBB0F9}"/>
              </a:ext>
            </a:extLst>
          </p:cNvPr>
          <p:cNvSpPr/>
          <p:nvPr/>
        </p:nvSpPr>
        <p:spPr bwMode="auto">
          <a:xfrm>
            <a:off x="178770" y="203528"/>
            <a:ext cx="3508670" cy="1163395"/>
          </a:xfrm>
          <a:prstGeom prst="rect">
            <a:avLst/>
          </a:prstGeom>
          <a:noFill/>
          <a:ln w="19050" cap="flat" cmpd="sng" algn="ctr">
            <a:solidFill>
              <a:srgbClr val="FF0000"/>
            </a:solidFill>
            <a:prstDash val="solid"/>
            <a:round/>
            <a:headEnd type="none" w="med" len="med"/>
            <a:tailEnd type="none" w="med" len="me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vert="horz" wrap="square" lIns="91440" tIns="45720" rIns="91440" bIns="45720" numCol="1" rtlCol="0" anchor="t" anchorCtr="0" compatLnSpc="1">
            <a:prstTxWarp prst="textNoShape">
              <a:avLst/>
            </a:prstTxWarp>
            <a:spAutoFit/>
          </a:bodyPr>
          <a:lstStyle/>
          <a:p>
            <a:pPr marL="0" marR="0" indent="0" algn="just" defTabSz="914400" rtl="0" eaLnBrk="1" fontAlgn="base" latinLnBrk="0" hangingPunct="1">
              <a:lnSpc>
                <a:spcPct val="80000"/>
              </a:lnSpc>
              <a:spcBef>
                <a:spcPct val="50000"/>
              </a:spcBef>
              <a:spcAft>
                <a:spcPct val="0"/>
              </a:spcAft>
              <a:buClrTx/>
              <a:buSzTx/>
              <a:buFontTx/>
              <a:buNone/>
              <a:tabLst/>
            </a:pPr>
            <a:r>
              <a:rPr kumimoji="1" lang="zh-CN" altLang="en-US" sz="2400" b="0" i="0" u="none" strike="noStrike" cap="none" normalizeH="0" baseline="0" dirty="0">
                <a:ln>
                  <a:noFill/>
                </a:ln>
                <a:solidFill>
                  <a:schemeClr val="bg1"/>
                </a:solidFill>
                <a:effectLst/>
              </a:rPr>
              <a:t>根据规则</a:t>
            </a:r>
            <a:r>
              <a:rPr kumimoji="1" lang="en-US" altLang="zh-CN" sz="2400" b="0" i="0" u="none" strike="noStrike" cap="none" normalizeH="0" baseline="0" dirty="0">
                <a:ln>
                  <a:noFill/>
                </a:ln>
                <a:solidFill>
                  <a:schemeClr val="bg1"/>
                </a:solidFill>
                <a:effectLst/>
              </a:rPr>
              <a:t>5</a:t>
            </a:r>
            <a:r>
              <a:rPr kumimoji="1" lang="zh-CN" altLang="en-US" sz="2400" b="0" i="0" u="none" strike="noStrike" cap="none" normalizeH="0" baseline="0" dirty="0">
                <a:ln>
                  <a:noFill/>
                </a:ln>
                <a:solidFill>
                  <a:schemeClr val="bg1"/>
                </a:solidFill>
                <a:effectLst/>
              </a:rPr>
              <a:t>，把投影和选择进行交换</a:t>
            </a:r>
            <a:endParaRPr kumimoji="1" lang="en-US" altLang="zh-CN" sz="2400" b="0" i="0" u="none" strike="noStrike" cap="none" normalizeH="0" baseline="0" dirty="0">
              <a:ln>
                <a:noFill/>
              </a:ln>
              <a:solidFill>
                <a:schemeClr val="bg1"/>
              </a:solidFill>
              <a:effectLst/>
            </a:endParaRPr>
          </a:p>
          <a:p>
            <a:pPr marL="0" marR="0" indent="0" algn="just" defTabSz="914400" rtl="0" eaLnBrk="1" fontAlgn="base" latinLnBrk="0" hangingPunct="1">
              <a:lnSpc>
                <a:spcPct val="80000"/>
              </a:lnSpc>
              <a:spcBef>
                <a:spcPct val="50000"/>
              </a:spcBef>
              <a:spcAft>
                <a:spcPct val="0"/>
              </a:spcAft>
              <a:buClrTx/>
              <a:buSzTx/>
              <a:buFontTx/>
              <a:buNone/>
              <a:tabLst/>
            </a:pPr>
            <a:r>
              <a:rPr kumimoji="1" lang="zh-CN" altLang="en-US" sz="2400" b="0" i="0" u="none" strike="noStrike" cap="none" normalizeH="0" baseline="0" dirty="0">
                <a:ln>
                  <a:noFill/>
                </a:ln>
                <a:solidFill>
                  <a:schemeClr val="bg2"/>
                </a:solidFill>
                <a:effectLst/>
              </a:rPr>
              <a:t>在</a:t>
            </a:r>
            <a:r>
              <a:rPr kumimoji="0" lang="en-US" altLang="zh-CN" sz="2400" b="1" dirty="0" err="1">
                <a:solidFill>
                  <a:schemeClr val="bg1"/>
                </a:solidFill>
              </a:rPr>
              <a:t>σ</a:t>
            </a:r>
            <a:r>
              <a:rPr kumimoji="0" lang="zh-CN" altLang="en-US" sz="2400" b="1" dirty="0">
                <a:solidFill>
                  <a:schemeClr val="bg2"/>
                </a:solidFill>
              </a:rPr>
              <a:t>前增加一个</a:t>
            </a:r>
            <a:r>
              <a:rPr kumimoji="0" lang="en-US" altLang="zh-CN" sz="2400" b="1" dirty="0">
                <a:solidFill>
                  <a:schemeClr val="bg1"/>
                </a:solidFill>
              </a:rPr>
              <a:t>π</a:t>
            </a:r>
            <a:r>
              <a:rPr kumimoji="0" lang="zh-CN" altLang="en-US" sz="2400" b="1" dirty="0">
                <a:solidFill>
                  <a:schemeClr val="bg2"/>
                </a:solidFill>
              </a:rPr>
              <a:t>操作</a:t>
            </a:r>
            <a:endParaRPr kumimoji="1" lang="zh-CN" altLang="en-US" sz="2400" b="0" i="0" u="none" strike="noStrike" cap="none" normalizeH="0" baseline="0" dirty="0">
              <a:ln>
                <a:noFill/>
              </a:ln>
              <a:solidFill>
                <a:schemeClr val="bg2"/>
              </a:solidFill>
              <a:effectLst/>
            </a:endParaRPr>
          </a:p>
        </p:txBody>
      </p:sp>
    </p:spTree>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8435" name="Text Box 3"/>
          <p:cNvSpPr txBox="1">
            <a:spLocks noChangeArrowheads="1"/>
          </p:cNvSpPr>
          <p:nvPr/>
        </p:nvSpPr>
        <p:spPr bwMode="auto">
          <a:xfrm>
            <a:off x="5791200" y="3048000"/>
            <a:ext cx="3048000" cy="990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 </a:t>
            </a:r>
            <a:r>
              <a:rPr kumimoji="0" lang="en-US" altLang="zh-CN" sz="2400" b="1" baseline="-10000">
                <a:solidFill>
                  <a:schemeClr val="bg2"/>
                </a:solidFill>
                <a:latin typeface="Times New Roman" pitchFamily="18" charset="0"/>
              </a:rPr>
              <a:t>S.</a:t>
            </a:r>
            <a:r>
              <a:rPr kumimoji="0" lang="en-US" altLang="zh-CN" sz="2400" b="1" baseline="-10000">
                <a:solidFill>
                  <a:schemeClr val="bg2"/>
                </a:solidFill>
              </a:rPr>
              <a:t>SNO,SNAME</a:t>
            </a:r>
          </a:p>
        </p:txBody>
      </p:sp>
      <p:sp>
        <p:nvSpPr>
          <p:cNvPr id="658436" name="Line 4"/>
          <p:cNvSpPr>
            <a:spLocks noChangeShapeType="1"/>
          </p:cNvSpPr>
          <p:nvPr/>
        </p:nvSpPr>
        <p:spPr bwMode="auto">
          <a:xfrm>
            <a:off x="6019800" y="3657600"/>
            <a:ext cx="3175" cy="8382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8437" name="Text Box 5"/>
          <p:cNvSpPr txBox="1">
            <a:spLocks noChangeArrowheads="1"/>
          </p:cNvSpPr>
          <p:nvPr/>
        </p:nvSpPr>
        <p:spPr bwMode="auto">
          <a:xfrm>
            <a:off x="5791200" y="4546600"/>
            <a:ext cx="3619500"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lnSpc>
                <a:spcPct val="100000"/>
              </a:lnSpc>
              <a:spcBef>
                <a:spcPct val="0"/>
              </a:spcBef>
            </a:pPr>
            <a:r>
              <a:rPr kumimoji="0" lang="en-US" altLang="zh-CN" sz="2400" b="1">
                <a:solidFill>
                  <a:schemeClr val="bg2"/>
                </a:solidFill>
                <a:latin typeface="Times New Roman" pitchFamily="18" charset="0"/>
              </a:rPr>
              <a:t>σ </a:t>
            </a:r>
            <a:r>
              <a:rPr kumimoji="0" lang="en-US" altLang="zh-CN" sz="2400" b="1" baseline="-10000">
                <a:solidFill>
                  <a:schemeClr val="bg2"/>
                </a:solidFill>
              </a:rPr>
              <a:t>SEX=</a:t>
            </a:r>
            <a:r>
              <a:rPr kumimoji="0" lang="en-US" altLang="zh-CN" sz="2400" b="1" baseline="-10000">
                <a:solidFill>
                  <a:schemeClr val="bg2"/>
                </a:solidFill>
                <a:latin typeface="Times New Roman"/>
              </a:rPr>
              <a:t>‘</a:t>
            </a:r>
            <a:r>
              <a:rPr kumimoji="0" lang="en-US" altLang="zh-CN" sz="2400" b="1" baseline="-10000">
                <a:solidFill>
                  <a:schemeClr val="bg2"/>
                </a:solidFill>
              </a:rPr>
              <a:t>F</a:t>
            </a:r>
            <a:r>
              <a:rPr kumimoji="0" lang="en-US" altLang="zh-CN" sz="2400" b="1" baseline="-10000">
                <a:solidFill>
                  <a:schemeClr val="bg2"/>
                </a:solidFill>
                <a:latin typeface="Times New Roman"/>
              </a:rPr>
              <a:t>’</a:t>
            </a:r>
            <a:endParaRPr kumimoji="0" lang="en-US" altLang="zh-CN" sz="2400" b="1" baseline="-10000">
              <a:solidFill>
                <a:schemeClr val="bg2"/>
              </a:solidFill>
            </a:endParaRPr>
          </a:p>
        </p:txBody>
      </p:sp>
      <p:sp>
        <p:nvSpPr>
          <p:cNvPr id="658439" name="Text Box 7"/>
          <p:cNvSpPr txBox="1">
            <a:spLocks noChangeArrowheads="1"/>
          </p:cNvSpPr>
          <p:nvPr/>
        </p:nvSpPr>
        <p:spPr bwMode="auto">
          <a:xfrm>
            <a:off x="1676400" y="3030538"/>
            <a:ext cx="3367088" cy="8556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 </a:t>
            </a:r>
            <a:r>
              <a:rPr kumimoji="0" lang="en-US" altLang="zh-CN" sz="2400" b="1" baseline="-10000">
                <a:solidFill>
                  <a:schemeClr val="bg2"/>
                </a:solidFill>
              </a:rPr>
              <a:t>SC.SNO </a:t>
            </a:r>
          </a:p>
        </p:txBody>
      </p:sp>
      <p:sp>
        <p:nvSpPr>
          <p:cNvPr id="658440" name="Text Box 8"/>
          <p:cNvSpPr txBox="1">
            <a:spLocks noChangeArrowheads="1"/>
          </p:cNvSpPr>
          <p:nvPr/>
        </p:nvSpPr>
        <p:spPr bwMode="auto">
          <a:xfrm>
            <a:off x="1676400" y="4529138"/>
            <a:ext cx="2132013" cy="8572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lnSpc>
                <a:spcPct val="100000"/>
              </a:lnSpc>
              <a:spcBef>
                <a:spcPct val="0"/>
              </a:spcBef>
            </a:pPr>
            <a:r>
              <a:rPr kumimoji="0" lang="en-US" altLang="zh-CN" sz="2400" b="1">
                <a:solidFill>
                  <a:schemeClr val="bg2"/>
                </a:solidFill>
                <a:latin typeface="Times New Roman" pitchFamily="18" charset="0"/>
              </a:rPr>
              <a:t>σ </a:t>
            </a:r>
            <a:r>
              <a:rPr kumimoji="0" lang="en-US" altLang="zh-CN" sz="2400" b="1" baseline="-10000">
                <a:solidFill>
                  <a:schemeClr val="bg2"/>
                </a:solidFill>
              </a:rPr>
              <a:t>SC.CNO =C.CNO</a:t>
            </a:r>
          </a:p>
        </p:txBody>
      </p:sp>
      <p:sp>
        <p:nvSpPr>
          <p:cNvPr id="658441" name="Text Box 9"/>
          <p:cNvSpPr txBox="1">
            <a:spLocks noChangeArrowheads="1"/>
          </p:cNvSpPr>
          <p:nvPr/>
        </p:nvSpPr>
        <p:spPr bwMode="auto">
          <a:xfrm>
            <a:off x="1676400" y="5715000"/>
            <a:ext cx="5257800" cy="8556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a:t>
            </a:r>
            <a:r>
              <a:rPr kumimoji="0" lang="en-US" altLang="zh-CN" sz="2400" b="1" baseline="-10000">
                <a:solidFill>
                  <a:schemeClr val="bg2"/>
                </a:solidFill>
              </a:rPr>
              <a:t>SC.SNO,SC.CNO,C.CNO</a:t>
            </a:r>
            <a:endParaRPr kumimoji="0" lang="en-US" altLang="zh-CN" sz="2400" b="1" baseline="-10000">
              <a:solidFill>
                <a:schemeClr val="bg2"/>
              </a:solidFill>
              <a:latin typeface="Times New Roman" pitchFamily="18" charset="0"/>
            </a:endParaRPr>
          </a:p>
        </p:txBody>
      </p:sp>
      <p:sp>
        <p:nvSpPr>
          <p:cNvPr id="658442" name="Line 10"/>
          <p:cNvSpPr>
            <a:spLocks noChangeShapeType="1"/>
          </p:cNvSpPr>
          <p:nvPr/>
        </p:nvSpPr>
        <p:spPr bwMode="auto">
          <a:xfrm>
            <a:off x="1905000" y="5087938"/>
            <a:ext cx="0" cy="627062"/>
          </a:xfrm>
          <a:prstGeom prst="line">
            <a:avLst/>
          </a:prstGeom>
          <a:noFill/>
          <a:ln w="9525">
            <a:solidFill>
              <a:srgbClr val="000000"/>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8443" name="Line 11"/>
          <p:cNvSpPr>
            <a:spLocks noChangeShapeType="1"/>
          </p:cNvSpPr>
          <p:nvPr/>
        </p:nvSpPr>
        <p:spPr bwMode="auto">
          <a:xfrm>
            <a:off x="1905000" y="3716338"/>
            <a:ext cx="0" cy="68580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8444" name="AutoShape 12"/>
          <p:cNvSpPr>
            <a:spLocks/>
          </p:cNvSpPr>
          <p:nvPr/>
        </p:nvSpPr>
        <p:spPr bwMode="auto">
          <a:xfrm>
            <a:off x="2895600" y="1905000"/>
            <a:ext cx="2819400" cy="838200"/>
          </a:xfrm>
          <a:prstGeom prst="leftBrace">
            <a:avLst>
              <a:gd name="adj1" fmla="val 8333"/>
              <a:gd name="adj2" fmla="val 50000"/>
            </a:avLst>
          </a:prstGeom>
          <a:noFill/>
          <a:ln w="9525">
            <a:solidFill>
              <a:schemeClr val="tx1"/>
            </a:solidFill>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zh-CN" altLang="en-US"/>
          </a:p>
        </p:txBody>
      </p:sp>
      <p:sp>
        <p:nvSpPr>
          <p:cNvPr id="658445" name="Rectangle 13"/>
          <p:cNvSpPr>
            <a:spLocks noChangeArrowheads="1"/>
          </p:cNvSpPr>
          <p:nvPr/>
        </p:nvSpPr>
        <p:spPr bwMode="auto">
          <a:xfrm>
            <a:off x="0" y="0"/>
            <a:ext cx="9144000" cy="32893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pPr algn="l">
              <a:lnSpc>
                <a:spcPct val="150000"/>
              </a:lnSpc>
              <a:spcBef>
                <a:spcPct val="0"/>
              </a:spcBef>
            </a:pPr>
            <a:r>
              <a:rPr lang="en-US" altLang="zh-CN" sz="2000" b="1">
                <a:solidFill>
                  <a:schemeClr val="bg2"/>
                </a:solidFill>
              </a:rPr>
              <a:t>  </a:t>
            </a:r>
            <a:r>
              <a:rPr lang="zh-CN" altLang="en-US" sz="2400" b="1">
                <a:solidFill>
                  <a:schemeClr val="bg2"/>
                </a:solidFill>
              </a:rPr>
              <a:t>把</a:t>
            </a:r>
            <a:r>
              <a:rPr kumimoji="0" lang="en-US" altLang="zh-CN" sz="2400" b="1">
                <a:solidFill>
                  <a:srgbClr val="660033"/>
                </a:solidFill>
              </a:rPr>
              <a:t>π</a:t>
            </a:r>
            <a:r>
              <a:rPr kumimoji="0" lang="en-US" altLang="zh-CN" sz="2800" b="1" baseline="-10000">
                <a:solidFill>
                  <a:srgbClr val="660033"/>
                </a:solidFill>
              </a:rPr>
              <a:t>S.SNO,SNAME,SC.SNO </a:t>
            </a:r>
            <a:r>
              <a:rPr lang="zh-CN" altLang="en-US" sz="2400" b="1">
                <a:solidFill>
                  <a:schemeClr val="bg2"/>
                </a:solidFill>
              </a:rPr>
              <a:t>分成</a:t>
            </a:r>
            <a:r>
              <a:rPr lang="en-US" altLang="zh-CN" sz="2400" b="1">
                <a:solidFill>
                  <a:schemeClr val="bg2"/>
                </a:solidFill>
              </a:rPr>
              <a:t>:</a:t>
            </a:r>
          </a:p>
          <a:p>
            <a:pPr algn="l">
              <a:lnSpc>
                <a:spcPct val="150000"/>
              </a:lnSpc>
              <a:spcBef>
                <a:spcPct val="0"/>
              </a:spcBef>
            </a:pPr>
            <a:r>
              <a:rPr lang="en-US" altLang="zh-CN" sz="2400" b="1">
                <a:solidFill>
                  <a:schemeClr val="bg1"/>
                </a:solidFill>
              </a:rPr>
              <a:t>             </a:t>
            </a:r>
            <a:r>
              <a:rPr kumimoji="0" lang="en-US" altLang="zh-CN" sz="2800" b="1">
                <a:solidFill>
                  <a:schemeClr val="bg1"/>
                </a:solidFill>
              </a:rPr>
              <a:t>π</a:t>
            </a:r>
            <a:r>
              <a:rPr kumimoji="0" lang="en-US" altLang="zh-CN" sz="2800" b="1" baseline="-10000">
                <a:solidFill>
                  <a:schemeClr val="bg1"/>
                </a:solidFill>
              </a:rPr>
              <a:t>SC.SNO</a:t>
            </a:r>
            <a:r>
              <a:rPr kumimoji="0" lang="en-US" altLang="zh-CN" sz="2400" b="1" baseline="-10000">
                <a:solidFill>
                  <a:schemeClr val="bg1"/>
                </a:solidFill>
              </a:rPr>
              <a:t>    </a:t>
            </a:r>
            <a:r>
              <a:rPr lang="zh-CN" altLang="en-US" sz="2400" b="1">
                <a:solidFill>
                  <a:schemeClr val="bg1"/>
                </a:solidFill>
              </a:rPr>
              <a:t>和   </a:t>
            </a:r>
            <a:r>
              <a:rPr kumimoji="0" lang="en-US" altLang="zh-CN" sz="2800" b="1">
                <a:solidFill>
                  <a:schemeClr val="bg1"/>
                </a:solidFill>
              </a:rPr>
              <a:t>π</a:t>
            </a:r>
            <a:r>
              <a:rPr kumimoji="0" lang="en-US" altLang="zh-CN" sz="2800" b="1" baseline="-10000">
                <a:solidFill>
                  <a:schemeClr val="bg1"/>
                </a:solidFill>
              </a:rPr>
              <a:t>SNO,SNAME</a:t>
            </a:r>
          </a:p>
          <a:p>
            <a:pPr algn="l">
              <a:lnSpc>
                <a:spcPct val="150000"/>
              </a:lnSpc>
              <a:spcBef>
                <a:spcPct val="0"/>
              </a:spcBef>
            </a:pPr>
            <a:r>
              <a:rPr kumimoji="0" lang="en-US" altLang="zh-CN" sz="2400" b="1" baseline="-10000">
                <a:solidFill>
                  <a:schemeClr val="bg2"/>
                </a:solidFill>
              </a:rPr>
              <a:t> </a:t>
            </a:r>
            <a:r>
              <a:rPr lang="zh-CN" altLang="en-US" sz="2400" b="1">
                <a:solidFill>
                  <a:srgbClr val="660033"/>
                </a:solidFill>
              </a:rPr>
              <a:t>使它们分别对</a:t>
            </a:r>
            <a:r>
              <a:rPr lang="en-US" altLang="zh-CN" sz="2400" b="1">
                <a:solidFill>
                  <a:srgbClr val="660033"/>
                </a:solidFill>
              </a:rPr>
              <a:t>σ</a:t>
            </a:r>
            <a:r>
              <a:rPr kumimoji="0" lang="en-US" altLang="zh-CN" sz="2400" b="1" baseline="-10000">
                <a:solidFill>
                  <a:srgbClr val="660033"/>
                </a:solidFill>
              </a:rPr>
              <a:t>SC.CNO =C.CNO</a:t>
            </a:r>
            <a:r>
              <a:rPr kumimoji="0" lang="en-US" altLang="zh-CN" sz="2400" b="1">
                <a:solidFill>
                  <a:srgbClr val="660033"/>
                </a:solidFill>
              </a:rPr>
              <a:t>(</a:t>
            </a:r>
            <a:r>
              <a:rPr lang="en-US" altLang="zh-CN" sz="2400" b="1">
                <a:solidFill>
                  <a:srgbClr val="660033"/>
                </a:solidFill>
                <a:latin typeface="Times New Roman"/>
              </a:rPr>
              <a:t>…</a:t>
            </a:r>
            <a:r>
              <a:rPr lang="en-US" altLang="zh-CN" sz="2400" b="1">
                <a:solidFill>
                  <a:srgbClr val="660033"/>
                </a:solidFill>
              </a:rPr>
              <a:t>)</a:t>
            </a:r>
            <a:r>
              <a:rPr lang="zh-CN" altLang="en-US" sz="2400" b="1">
                <a:solidFill>
                  <a:srgbClr val="660033"/>
                </a:solidFill>
              </a:rPr>
              <a:t>和</a:t>
            </a:r>
            <a:r>
              <a:rPr lang="en-US" altLang="zh-CN" sz="2400" b="1">
                <a:solidFill>
                  <a:srgbClr val="660033"/>
                </a:solidFill>
              </a:rPr>
              <a:t>σ</a:t>
            </a:r>
            <a:r>
              <a:rPr kumimoji="0" lang="en-US" altLang="zh-CN" sz="2400" b="1" baseline="-10000">
                <a:solidFill>
                  <a:srgbClr val="660033"/>
                </a:solidFill>
              </a:rPr>
              <a:t>SEX=</a:t>
            </a:r>
            <a:r>
              <a:rPr kumimoji="0" lang="en-US" altLang="zh-CN" sz="2400" b="1" baseline="-10000">
                <a:solidFill>
                  <a:srgbClr val="660033"/>
                </a:solidFill>
                <a:latin typeface="Times New Roman"/>
              </a:rPr>
              <a:t>‘</a:t>
            </a:r>
            <a:r>
              <a:rPr kumimoji="0" lang="en-US" altLang="zh-CN" sz="2400" b="1" baseline="-10000">
                <a:solidFill>
                  <a:srgbClr val="660033"/>
                </a:solidFill>
              </a:rPr>
              <a:t>F</a:t>
            </a:r>
            <a:r>
              <a:rPr kumimoji="0" lang="en-US" altLang="zh-CN" sz="2400" b="1" baseline="-10000">
                <a:solidFill>
                  <a:srgbClr val="660033"/>
                </a:solidFill>
                <a:latin typeface="Times New Roman"/>
              </a:rPr>
              <a:t>’</a:t>
            </a:r>
            <a:r>
              <a:rPr lang="en-US" altLang="zh-CN" sz="2400" b="1">
                <a:solidFill>
                  <a:srgbClr val="660033"/>
                </a:solidFill>
              </a:rPr>
              <a:t>(S)</a:t>
            </a:r>
            <a:r>
              <a:rPr lang="zh-CN" altLang="en-US" sz="2400" b="1">
                <a:solidFill>
                  <a:srgbClr val="660033"/>
                </a:solidFill>
              </a:rPr>
              <a:t>做投影操作。</a:t>
            </a:r>
          </a:p>
          <a:p>
            <a:pPr algn="l">
              <a:lnSpc>
                <a:spcPct val="150000"/>
              </a:lnSpc>
              <a:spcBef>
                <a:spcPct val="0"/>
              </a:spcBef>
            </a:pPr>
            <a:r>
              <a:rPr lang="zh-CN" altLang="en-US" sz="2400" b="1">
                <a:solidFill>
                  <a:schemeClr val="bg2"/>
                </a:solidFill>
              </a:rPr>
              <a:t> 再据规则⑸，将投影</a:t>
            </a:r>
            <a:r>
              <a:rPr kumimoji="0" lang="en-US" altLang="zh-CN" sz="2400" b="1">
                <a:solidFill>
                  <a:schemeClr val="bg2"/>
                </a:solidFill>
              </a:rPr>
              <a:t>π</a:t>
            </a:r>
            <a:r>
              <a:rPr kumimoji="0" lang="en-US" altLang="zh-CN" sz="2400" b="1" baseline="-10000">
                <a:solidFill>
                  <a:schemeClr val="bg2"/>
                </a:solidFill>
              </a:rPr>
              <a:t>SC.SNO</a:t>
            </a:r>
            <a:r>
              <a:rPr lang="zh-CN" altLang="en-US" sz="2400" b="1">
                <a:solidFill>
                  <a:schemeClr val="bg2"/>
                </a:solidFill>
              </a:rPr>
              <a:t>和</a:t>
            </a:r>
            <a:r>
              <a:rPr kumimoji="0" lang="en-US" altLang="zh-CN" sz="2400" b="1">
                <a:solidFill>
                  <a:schemeClr val="bg2"/>
                </a:solidFill>
              </a:rPr>
              <a:t>π</a:t>
            </a:r>
            <a:r>
              <a:rPr kumimoji="0" lang="en-US" altLang="zh-CN" sz="2400" b="1" baseline="-10000">
                <a:solidFill>
                  <a:schemeClr val="bg2"/>
                </a:solidFill>
              </a:rPr>
              <a:t>SNO,SNAME</a:t>
            </a:r>
            <a:r>
              <a:rPr lang="zh-CN" altLang="en-US" sz="2400" b="1">
                <a:solidFill>
                  <a:schemeClr val="bg2"/>
                </a:solidFill>
              </a:rPr>
              <a:t>分别与前面的选择运算形成两个串接运算：</a:t>
            </a:r>
            <a:endParaRPr lang="zh-CN" altLang="en-US" sz="2400" b="1">
              <a:solidFill>
                <a:schemeClr val="bg2"/>
              </a:solidFill>
              <a:latin typeface="Times New Roman" pitchFamily="18" charset="0"/>
            </a:endParaRPr>
          </a:p>
          <a:p>
            <a:pPr algn="l" eaLnBrk="0" hangingPunct="0">
              <a:lnSpc>
                <a:spcPct val="100000"/>
              </a:lnSpc>
              <a:spcBef>
                <a:spcPct val="0"/>
              </a:spcBef>
            </a:pPr>
            <a:endParaRPr lang="en-US" altLang="zh-CN" sz="2400" b="1">
              <a:solidFill>
                <a:schemeClr val="bg2"/>
              </a:solidFill>
              <a:latin typeface="Times New Roman"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8439"/>
                                        </p:tgtEl>
                                        <p:attrNameLst>
                                          <p:attrName>style.visibility</p:attrName>
                                        </p:attrNameLst>
                                      </p:cBhvr>
                                      <p:to>
                                        <p:strVal val="visible"/>
                                      </p:to>
                                    </p:set>
                                    <p:animEffect transition="in" filter="blinds(horizontal)">
                                      <p:cBhvr>
                                        <p:cTn id="7" dur="500"/>
                                        <p:tgtEl>
                                          <p:spTgt spid="658439"/>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658443"/>
                                        </p:tgtEl>
                                        <p:attrNameLst>
                                          <p:attrName>style.visibility</p:attrName>
                                        </p:attrNameLst>
                                      </p:cBhvr>
                                      <p:to>
                                        <p:strVal val="visible"/>
                                      </p:to>
                                    </p:set>
                                    <p:animEffect transition="in" filter="blinds(horizontal)">
                                      <p:cBhvr>
                                        <p:cTn id="10" dur="500"/>
                                        <p:tgtEl>
                                          <p:spTgt spid="658443"/>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658440"/>
                                        </p:tgtEl>
                                        <p:attrNameLst>
                                          <p:attrName>style.visibility</p:attrName>
                                        </p:attrNameLst>
                                      </p:cBhvr>
                                      <p:to>
                                        <p:strVal val="visible"/>
                                      </p:to>
                                    </p:set>
                                    <p:animEffect transition="in" filter="blinds(horizontal)">
                                      <p:cBhvr>
                                        <p:cTn id="13" dur="500"/>
                                        <p:tgtEl>
                                          <p:spTgt spid="65844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58442"/>
                                        </p:tgtEl>
                                        <p:attrNameLst>
                                          <p:attrName>style.visibility</p:attrName>
                                        </p:attrNameLst>
                                      </p:cBhvr>
                                      <p:to>
                                        <p:strVal val="visible"/>
                                      </p:to>
                                    </p:set>
                                    <p:animEffect transition="in" filter="blinds(horizontal)">
                                      <p:cBhvr>
                                        <p:cTn id="16" dur="500"/>
                                        <p:tgtEl>
                                          <p:spTgt spid="658442"/>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658441"/>
                                        </p:tgtEl>
                                        <p:attrNameLst>
                                          <p:attrName>style.visibility</p:attrName>
                                        </p:attrNameLst>
                                      </p:cBhvr>
                                      <p:to>
                                        <p:strVal val="visible"/>
                                      </p:to>
                                    </p:set>
                                    <p:animEffect transition="in" filter="blinds(horizontal)">
                                      <p:cBhvr>
                                        <p:cTn id="19" dur="500"/>
                                        <p:tgtEl>
                                          <p:spTgt spid="658441"/>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grpId="0" nodeType="clickEffect">
                                  <p:stCondLst>
                                    <p:cond delay="0"/>
                                  </p:stCondLst>
                                  <p:childTnLst>
                                    <p:set>
                                      <p:cBhvr>
                                        <p:cTn id="23" dur="1" fill="hold">
                                          <p:stCondLst>
                                            <p:cond delay="0"/>
                                          </p:stCondLst>
                                        </p:cTn>
                                        <p:tgtEl>
                                          <p:spTgt spid="658435"/>
                                        </p:tgtEl>
                                        <p:attrNameLst>
                                          <p:attrName>style.visibility</p:attrName>
                                        </p:attrNameLst>
                                      </p:cBhvr>
                                      <p:to>
                                        <p:strVal val="visible"/>
                                      </p:to>
                                    </p:set>
                                    <p:animEffect transition="in" filter="blinds(horizontal)">
                                      <p:cBhvr>
                                        <p:cTn id="24" dur="500"/>
                                        <p:tgtEl>
                                          <p:spTgt spid="658435"/>
                                        </p:tgtEl>
                                      </p:cBhvr>
                                    </p:animEffect>
                                  </p:childTnLst>
                                </p:cTn>
                              </p:par>
                              <p:par>
                                <p:cTn id="25" presetID="3" presetClass="entr" presetSubtype="10" fill="hold" grpId="0" nodeType="withEffect">
                                  <p:stCondLst>
                                    <p:cond delay="0"/>
                                  </p:stCondLst>
                                  <p:childTnLst>
                                    <p:set>
                                      <p:cBhvr>
                                        <p:cTn id="26" dur="1" fill="hold">
                                          <p:stCondLst>
                                            <p:cond delay="0"/>
                                          </p:stCondLst>
                                        </p:cTn>
                                        <p:tgtEl>
                                          <p:spTgt spid="658436"/>
                                        </p:tgtEl>
                                        <p:attrNameLst>
                                          <p:attrName>style.visibility</p:attrName>
                                        </p:attrNameLst>
                                      </p:cBhvr>
                                      <p:to>
                                        <p:strVal val="visible"/>
                                      </p:to>
                                    </p:set>
                                    <p:animEffect transition="in" filter="blinds(horizontal)">
                                      <p:cBhvr>
                                        <p:cTn id="27" dur="500"/>
                                        <p:tgtEl>
                                          <p:spTgt spid="658436"/>
                                        </p:tgtEl>
                                      </p:cBhvr>
                                    </p:animEffect>
                                  </p:childTnLst>
                                </p:cTn>
                              </p:par>
                              <p:par>
                                <p:cTn id="28" presetID="3" presetClass="entr" presetSubtype="10" fill="hold" grpId="0" nodeType="withEffect">
                                  <p:stCondLst>
                                    <p:cond delay="0"/>
                                  </p:stCondLst>
                                  <p:childTnLst>
                                    <p:set>
                                      <p:cBhvr>
                                        <p:cTn id="29" dur="1" fill="hold">
                                          <p:stCondLst>
                                            <p:cond delay="0"/>
                                          </p:stCondLst>
                                        </p:cTn>
                                        <p:tgtEl>
                                          <p:spTgt spid="658437"/>
                                        </p:tgtEl>
                                        <p:attrNameLst>
                                          <p:attrName>style.visibility</p:attrName>
                                        </p:attrNameLst>
                                      </p:cBhvr>
                                      <p:to>
                                        <p:strVal val="visible"/>
                                      </p:to>
                                    </p:set>
                                    <p:animEffect transition="in" filter="blinds(horizontal)">
                                      <p:cBhvr>
                                        <p:cTn id="30" dur="500"/>
                                        <p:tgtEl>
                                          <p:spTgt spid="6584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8435" grpId="0"/>
      <p:bldP spid="658436" grpId="0" animBg="1"/>
      <p:bldP spid="658437" grpId="0"/>
      <p:bldP spid="658439" grpId="0"/>
      <p:bldP spid="658440" grpId="0"/>
      <p:bldP spid="658441" grpId="0"/>
      <p:bldP spid="658442" grpId="0" animBg="1"/>
      <p:bldP spid="658443" grpId="0" animBg="1"/>
    </p:bldLst>
  </p:timing>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9459" name="Text Box 3"/>
          <p:cNvSpPr txBox="1">
            <a:spLocks noChangeArrowheads="1"/>
          </p:cNvSpPr>
          <p:nvPr/>
        </p:nvSpPr>
        <p:spPr bwMode="auto">
          <a:xfrm>
            <a:off x="3643313" y="44450"/>
            <a:ext cx="928687" cy="48736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a:t>
            </a:r>
          </a:p>
        </p:txBody>
      </p:sp>
      <p:sp>
        <p:nvSpPr>
          <p:cNvPr id="659460" name="Text Box 4"/>
          <p:cNvSpPr txBox="1">
            <a:spLocks noChangeArrowheads="1"/>
          </p:cNvSpPr>
          <p:nvPr/>
        </p:nvSpPr>
        <p:spPr bwMode="auto">
          <a:xfrm>
            <a:off x="3663950" y="958850"/>
            <a:ext cx="831850" cy="48577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σ</a:t>
            </a:r>
          </a:p>
        </p:txBody>
      </p:sp>
      <p:sp>
        <p:nvSpPr>
          <p:cNvPr id="659461" name="Text Box 5"/>
          <p:cNvSpPr txBox="1">
            <a:spLocks noChangeArrowheads="1"/>
          </p:cNvSpPr>
          <p:nvPr/>
        </p:nvSpPr>
        <p:spPr bwMode="auto">
          <a:xfrm>
            <a:off x="4108450" y="606425"/>
            <a:ext cx="2216150" cy="42227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b="1">
                <a:solidFill>
                  <a:schemeClr val="bg2"/>
                </a:solidFill>
              </a:rPr>
              <a:t>S.SNO,SNAME</a:t>
            </a:r>
          </a:p>
        </p:txBody>
      </p:sp>
      <p:sp>
        <p:nvSpPr>
          <p:cNvPr id="659462" name="Text Box 6"/>
          <p:cNvSpPr txBox="1">
            <a:spLocks noChangeArrowheads="1"/>
          </p:cNvSpPr>
          <p:nvPr/>
        </p:nvSpPr>
        <p:spPr bwMode="auto">
          <a:xfrm>
            <a:off x="4114800" y="1339850"/>
            <a:ext cx="4027488"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SC.SNO = S.SNO</a:t>
            </a:r>
            <a:endParaRPr kumimoji="0" lang="en-US" altLang="zh-CN" b="1">
              <a:solidFill>
                <a:schemeClr val="bg2"/>
              </a:solidFill>
            </a:endParaRPr>
          </a:p>
          <a:p>
            <a:pPr eaLnBrk="0" hangingPunct="0">
              <a:lnSpc>
                <a:spcPct val="100000"/>
              </a:lnSpc>
              <a:spcBef>
                <a:spcPct val="0"/>
              </a:spcBef>
            </a:pPr>
            <a:endParaRPr kumimoji="0" lang="en-US" altLang="zh-CN" b="1">
              <a:solidFill>
                <a:schemeClr val="bg2"/>
              </a:solidFill>
            </a:endParaRPr>
          </a:p>
        </p:txBody>
      </p:sp>
      <p:sp>
        <p:nvSpPr>
          <p:cNvPr id="659463" name="Text Box 7"/>
          <p:cNvSpPr txBox="1">
            <a:spLocks noChangeArrowheads="1"/>
          </p:cNvSpPr>
          <p:nvPr/>
        </p:nvSpPr>
        <p:spPr bwMode="auto">
          <a:xfrm>
            <a:off x="3576638" y="1806575"/>
            <a:ext cx="687387" cy="24765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1"/>
                </a:solidFill>
                <a:latin typeface="Times New Roman" pitchFamily="18" charset="0"/>
              </a:rPr>
              <a:t>×</a:t>
            </a:r>
          </a:p>
        </p:txBody>
      </p:sp>
      <p:sp>
        <p:nvSpPr>
          <p:cNvPr id="659464" name="Text Box 8"/>
          <p:cNvSpPr txBox="1">
            <a:spLocks noChangeArrowheads="1"/>
          </p:cNvSpPr>
          <p:nvPr/>
        </p:nvSpPr>
        <p:spPr bwMode="auto">
          <a:xfrm>
            <a:off x="6324600" y="4006850"/>
            <a:ext cx="1981200" cy="7620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baseline="-10000">
                <a:solidFill>
                  <a:schemeClr val="bg2"/>
                </a:solidFill>
                <a:latin typeface="Times New Roman" pitchFamily="18" charset="0"/>
              </a:rPr>
              <a:t> SEX=‘F’</a:t>
            </a:r>
          </a:p>
        </p:txBody>
      </p:sp>
      <p:sp>
        <p:nvSpPr>
          <p:cNvPr id="659465" name="Text Box 9"/>
          <p:cNvSpPr txBox="1">
            <a:spLocks noChangeArrowheads="1"/>
          </p:cNvSpPr>
          <p:nvPr/>
        </p:nvSpPr>
        <p:spPr bwMode="auto">
          <a:xfrm>
            <a:off x="5867400" y="4464050"/>
            <a:ext cx="687388" cy="3413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S</a:t>
            </a:r>
          </a:p>
        </p:txBody>
      </p:sp>
      <p:sp>
        <p:nvSpPr>
          <p:cNvPr id="659466" name="Text Box 10"/>
          <p:cNvSpPr txBox="1">
            <a:spLocks noChangeArrowheads="1"/>
          </p:cNvSpPr>
          <p:nvPr/>
        </p:nvSpPr>
        <p:spPr bwMode="auto">
          <a:xfrm>
            <a:off x="5791200" y="2787650"/>
            <a:ext cx="687388" cy="48577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a:t>
            </a:r>
          </a:p>
        </p:txBody>
      </p:sp>
      <p:sp>
        <p:nvSpPr>
          <p:cNvPr id="659467" name="Text Box 11"/>
          <p:cNvSpPr txBox="1">
            <a:spLocks noChangeArrowheads="1"/>
          </p:cNvSpPr>
          <p:nvPr/>
        </p:nvSpPr>
        <p:spPr bwMode="auto">
          <a:xfrm>
            <a:off x="5791200" y="3625850"/>
            <a:ext cx="687388" cy="57943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lnSpc>
                <a:spcPct val="100000"/>
              </a:lnSpc>
              <a:spcBef>
                <a:spcPct val="0"/>
              </a:spcBef>
            </a:pPr>
            <a:r>
              <a:rPr kumimoji="0" lang="en-US" altLang="zh-CN" sz="2400" b="1">
                <a:solidFill>
                  <a:schemeClr val="bg2"/>
                </a:solidFill>
                <a:latin typeface="Times New Roman" pitchFamily="18" charset="0"/>
              </a:rPr>
              <a:t>σ</a:t>
            </a:r>
            <a:endParaRPr kumimoji="0" lang="en-US" altLang="zh-CN" sz="2400" b="1">
              <a:solidFill>
                <a:schemeClr val="bg2"/>
              </a:solidFill>
            </a:endParaRPr>
          </a:p>
          <a:p>
            <a:pPr eaLnBrk="0" hangingPunct="0">
              <a:lnSpc>
                <a:spcPct val="100000"/>
              </a:lnSpc>
              <a:spcBef>
                <a:spcPct val="0"/>
              </a:spcBef>
            </a:pPr>
            <a:endParaRPr kumimoji="0" lang="en-US" altLang="zh-CN" sz="2400" b="1">
              <a:solidFill>
                <a:schemeClr val="bg2"/>
              </a:solidFill>
              <a:latin typeface="Times New Roman" pitchFamily="18" charset="0"/>
            </a:endParaRPr>
          </a:p>
        </p:txBody>
      </p:sp>
      <p:sp>
        <p:nvSpPr>
          <p:cNvPr id="659468" name="Text Box 12"/>
          <p:cNvSpPr txBox="1">
            <a:spLocks noChangeArrowheads="1"/>
          </p:cNvSpPr>
          <p:nvPr/>
        </p:nvSpPr>
        <p:spPr bwMode="auto">
          <a:xfrm>
            <a:off x="6227763" y="2924175"/>
            <a:ext cx="1871662" cy="649288"/>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baseline="-10000">
                <a:solidFill>
                  <a:schemeClr val="bg2"/>
                </a:solidFill>
                <a:latin typeface="Times New Roman" pitchFamily="18" charset="0"/>
              </a:rPr>
              <a:t> </a:t>
            </a:r>
            <a:r>
              <a:rPr kumimoji="0" lang="en-US" altLang="zh-CN" sz="2800" b="1" baseline="-10000">
                <a:solidFill>
                  <a:schemeClr val="bg2"/>
                </a:solidFill>
                <a:latin typeface="Times New Roman" pitchFamily="18" charset="0"/>
              </a:rPr>
              <a:t>S.SNO,SNAME</a:t>
            </a:r>
          </a:p>
        </p:txBody>
      </p:sp>
      <p:sp>
        <p:nvSpPr>
          <p:cNvPr id="659470" name="Line 14"/>
          <p:cNvSpPr>
            <a:spLocks noChangeShapeType="1"/>
          </p:cNvSpPr>
          <p:nvPr/>
        </p:nvSpPr>
        <p:spPr bwMode="auto">
          <a:xfrm>
            <a:off x="3851275" y="501650"/>
            <a:ext cx="0" cy="4540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71" name="Line 15"/>
          <p:cNvSpPr>
            <a:spLocks noChangeShapeType="1"/>
          </p:cNvSpPr>
          <p:nvPr/>
        </p:nvSpPr>
        <p:spPr bwMode="auto">
          <a:xfrm>
            <a:off x="3851275" y="1373188"/>
            <a:ext cx="0" cy="4540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72" name="Line 16"/>
          <p:cNvSpPr>
            <a:spLocks noChangeShapeType="1"/>
          </p:cNvSpPr>
          <p:nvPr/>
        </p:nvSpPr>
        <p:spPr bwMode="auto">
          <a:xfrm flipH="1">
            <a:off x="2057400" y="2085975"/>
            <a:ext cx="1374775" cy="60166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73" name="Line 17"/>
          <p:cNvSpPr>
            <a:spLocks noChangeShapeType="1"/>
          </p:cNvSpPr>
          <p:nvPr/>
        </p:nvSpPr>
        <p:spPr bwMode="auto">
          <a:xfrm>
            <a:off x="4279900" y="2054225"/>
            <a:ext cx="1511300" cy="71437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74" name="Line 18"/>
          <p:cNvSpPr>
            <a:spLocks noChangeShapeType="1"/>
          </p:cNvSpPr>
          <p:nvPr/>
        </p:nvSpPr>
        <p:spPr bwMode="auto">
          <a:xfrm>
            <a:off x="6026150" y="3208338"/>
            <a:ext cx="0" cy="3413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75" name="Line 19"/>
          <p:cNvSpPr>
            <a:spLocks noChangeShapeType="1"/>
          </p:cNvSpPr>
          <p:nvPr/>
        </p:nvSpPr>
        <p:spPr bwMode="auto">
          <a:xfrm>
            <a:off x="6019800" y="4122738"/>
            <a:ext cx="0" cy="3413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78" name="Text Box 22"/>
          <p:cNvSpPr txBox="1">
            <a:spLocks noChangeArrowheads="1"/>
          </p:cNvSpPr>
          <p:nvPr/>
        </p:nvSpPr>
        <p:spPr bwMode="auto">
          <a:xfrm>
            <a:off x="2189163" y="3810000"/>
            <a:ext cx="1925637"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lnSpc>
                <a:spcPct val="100000"/>
              </a:lnSpc>
              <a:spcBef>
                <a:spcPct val="0"/>
              </a:spcBef>
            </a:pPr>
            <a:r>
              <a:rPr kumimoji="0" lang="en-US" altLang="zh-CN" sz="2400" b="1" baseline="-25000">
                <a:solidFill>
                  <a:schemeClr val="bg2"/>
                </a:solidFill>
              </a:rPr>
              <a:t>SC.CNO =C.CNO</a:t>
            </a:r>
            <a:endParaRPr kumimoji="0" lang="en-US" altLang="zh-CN" sz="2400" b="1">
              <a:solidFill>
                <a:schemeClr val="bg2"/>
              </a:solidFill>
              <a:latin typeface="Times New Roman" pitchFamily="18" charset="0"/>
            </a:endParaRPr>
          </a:p>
          <a:p>
            <a:pPr eaLnBrk="0" hangingPunct="0">
              <a:lnSpc>
                <a:spcPct val="100000"/>
              </a:lnSpc>
              <a:spcBef>
                <a:spcPct val="0"/>
              </a:spcBef>
            </a:pPr>
            <a:endParaRPr kumimoji="0" lang="en-US" altLang="zh-CN" sz="2400" b="1">
              <a:solidFill>
                <a:schemeClr val="bg2"/>
              </a:solidFill>
              <a:latin typeface="Times New Roman" pitchFamily="18" charset="0"/>
            </a:endParaRPr>
          </a:p>
          <a:p>
            <a:pPr eaLnBrk="0" hangingPunct="0">
              <a:lnSpc>
                <a:spcPct val="100000"/>
              </a:lnSpc>
              <a:spcBef>
                <a:spcPct val="0"/>
              </a:spcBef>
            </a:pPr>
            <a:endParaRPr kumimoji="0" lang="en-US" altLang="zh-CN" sz="2400" b="1">
              <a:solidFill>
                <a:schemeClr val="bg2"/>
              </a:solidFill>
              <a:latin typeface="Times New Roman" pitchFamily="18" charset="0"/>
            </a:endParaRPr>
          </a:p>
        </p:txBody>
      </p:sp>
      <p:sp>
        <p:nvSpPr>
          <p:cNvPr id="659479" name="Text Box 23"/>
          <p:cNvSpPr txBox="1">
            <a:spLocks noChangeArrowheads="1"/>
          </p:cNvSpPr>
          <p:nvPr/>
        </p:nvSpPr>
        <p:spPr bwMode="auto">
          <a:xfrm>
            <a:off x="1765300" y="4384675"/>
            <a:ext cx="825500" cy="3397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1"/>
                </a:solidFill>
                <a:latin typeface="Times New Roman" pitchFamily="18" charset="0"/>
              </a:rPr>
              <a:t>×</a:t>
            </a:r>
          </a:p>
        </p:txBody>
      </p:sp>
      <p:sp>
        <p:nvSpPr>
          <p:cNvPr id="659480" name="Text Box 24"/>
          <p:cNvSpPr txBox="1">
            <a:spLocks noChangeArrowheads="1"/>
          </p:cNvSpPr>
          <p:nvPr/>
        </p:nvSpPr>
        <p:spPr bwMode="auto">
          <a:xfrm>
            <a:off x="1766888" y="2711450"/>
            <a:ext cx="823912"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a:t>
            </a:r>
          </a:p>
        </p:txBody>
      </p:sp>
      <p:sp>
        <p:nvSpPr>
          <p:cNvPr id="659481" name="Text Box 25"/>
          <p:cNvSpPr txBox="1">
            <a:spLocks noChangeArrowheads="1"/>
          </p:cNvSpPr>
          <p:nvPr/>
        </p:nvSpPr>
        <p:spPr bwMode="auto">
          <a:xfrm>
            <a:off x="1781175" y="3527425"/>
            <a:ext cx="962025"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algn="l" eaLnBrk="0" hangingPunct="0">
              <a:lnSpc>
                <a:spcPct val="100000"/>
              </a:lnSpc>
              <a:spcBef>
                <a:spcPct val="0"/>
              </a:spcBef>
            </a:pPr>
            <a:r>
              <a:rPr kumimoji="0" lang="en-US" altLang="zh-CN" sz="2400" b="1">
                <a:solidFill>
                  <a:schemeClr val="bg2"/>
                </a:solidFill>
                <a:latin typeface="Times New Roman" pitchFamily="18" charset="0"/>
              </a:rPr>
              <a:t>σ</a:t>
            </a:r>
            <a:endParaRPr kumimoji="0" lang="en-US" altLang="zh-CN" sz="2400" b="1">
              <a:solidFill>
                <a:schemeClr val="bg2"/>
              </a:solidFill>
            </a:endParaRPr>
          </a:p>
          <a:p>
            <a:pPr eaLnBrk="0" hangingPunct="0">
              <a:lnSpc>
                <a:spcPct val="100000"/>
              </a:lnSpc>
              <a:spcBef>
                <a:spcPct val="0"/>
              </a:spcBef>
            </a:pPr>
            <a:endParaRPr kumimoji="0" lang="en-US" altLang="zh-CN" sz="2400" b="1">
              <a:solidFill>
                <a:schemeClr val="bg2"/>
              </a:solidFill>
              <a:latin typeface="Times New Roman" pitchFamily="18" charset="0"/>
            </a:endParaRPr>
          </a:p>
        </p:txBody>
      </p:sp>
      <p:sp>
        <p:nvSpPr>
          <p:cNvPr id="659482" name="Text Box 26"/>
          <p:cNvSpPr txBox="1">
            <a:spLocks noChangeArrowheads="1"/>
          </p:cNvSpPr>
          <p:nvPr/>
        </p:nvSpPr>
        <p:spPr bwMode="auto">
          <a:xfrm>
            <a:off x="2125663" y="3092450"/>
            <a:ext cx="3024187" cy="56515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800" b="1" baseline="-25000">
                <a:solidFill>
                  <a:schemeClr val="bg2"/>
                </a:solidFill>
              </a:rPr>
              <a:t>SC.SNO</a:t>
            </a:r>
            <a:endParaRPr kumimoji="0" lang="en-US" altLang="zh-CN" sz="2800" b="1">
              <a:solidFill>
                <a:schemeClr val="bg2"/>
              </a:solidFill>
              <a:latin typeface="Times New Roman" pitchFamily="18" charset="0"/>
            </a:endParaRPr>
          </a:p>
        </p:txBody>
      </p:sp>
      <p:sp>
        <p:nvSpPr>
          <p:cNvPr id="659483" name="Text Box 27"/>
          <p:cNvSpPr txBox="1">
            <a:spLocks noChangeArrowheads="1"/>
          </p:cNvSpPr>
          <p:nvPr/>
        </p:nvSpPr>
        <p:spPr bwMode="auto">
          <a:xfrm>
            <a:off x="684213" y="5949950"/>
            <a:ext cx="706437" cy="4667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SC</a:t>
            </a:r>
          </a:p>
        </p:txBody>
      </p:sp>
      <p:sp>
        <p:nvSpPr>
          <p:cNvPr id="659484" name="Text Box 28"/>
          <p:cNvSpPr txBox="1">
            <a:spLocks noChangeArrowheads="1"/>
          </p:cNvSpPr>
          <p:nvPr/>
        </p:nvSpPr>
        <p:spPr bwMode="auto">
          <a:xfrm>
            <a:off x="3124200" y="6140450"/>
            <a:ext cx="25146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000" b="1">
                <a:solidFill>
                  <a:schemeClr val="bg2"/>
                </a:solidFill>
              </a:rPr>
              <a:t> </a:t>
            </a:r>
            <a:r>
              <a:rPr kumimoji="0" lang="en-US" altLang="zh-CN" b="1">
                <a:solidFill>
                  <a:schemeClr val="bg2"/>
                </a:solidFill>
              </a:rPr>
              <a:t>TEACHER =</a:t>
            </a:r>
            <a:r>
              <a:rPr kumimoji="0" lang="en-US" altLang="zh-CN" b="1">
                <a:solidFill>
                  <a:schemeClr val="bg2"/>
                </a:solidFill>
                <a:latin typeface="Times New Roman"/>
              </a:rPr>
              <a:t>‘</a:t>
            </a:r>
            <a:r>
              <a:rPr kumimoji="0" lang="en-US" altLang="zh-CN" b="1">
                <a:solidFill>
                  <a:schemeClr val="bg2"/>
                </a:solidFill>
              </a:rPr>
              <a:t>LIU</a:t>
            </a:r>
            <a:r>
              <a:rPr kumimoji="0" lang="en-US" altLang="zh-CN" b="1">
                <a:solidFill>
                  <a:schemeClr val="bg2"/>
                </a:solidFill>
                <a:latin typeface="Times New Roman"/>
              </a:rPr>
              <a:t>’</a:t>
            </a:r>
            <a:endParaRPr kumimoji="0" lang="en-US" altLang="zh-CN" b="1">
              <a:solidFill>
                <a:schemeClr val="bg2"/>
              </a:solidFill>
            </a:endParaRPr>
          </a:p>
        </p:txBody>
      </p:sp>
      <p:sp>
        <p:nvSpPr>
          <p:cNvPr id="659485" name="Text Box 29"/>
          <p:cNvSpPr txBox="1">
            <a:spLocks noChangeArrowheads="1"/>
          </p:cNvSpPr>
          <p:nvPr/>
        </p:nvSpPr>
        <p:spPr bwMode="auto">
          <a:xfrm>
            <a:off x="2967038" y="5645150"/>
            <a:ext cx="708025" cy="454025"/>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σ</a:t>
            </a:r>
          </a:p>
        </p:txBody>
      </p:sp>
      <p:sp>
        <p:nvSpPr>
          <p:cNvPr id="659486" name="Text Box 30"/>
          <p:cNvSpPr txBox="1">
            <a:spLocks noChangeArrowheads="1"/>
          </p:cNvSpPr>
          <p:nvPr/>
        </p:nvSpPr>
        <p:spPr bwMode="auto">
          <a:xfrm>
            <a:off x="2967038" y="4962525"/>
            <a:ext cx="1008062" cy="455613"/>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a:t>
            </a:r>
          </a:p>
        </p:txBody>
      </p:sp>
      <p:sp>
        <p:nvSpPr>
          <p:cNvPr id="659487" name="Text Box 31"/>
          <p:cNvSpPr txBox="1">
            <a:spLocks noChangeArrowheads="1"/>
          </p:cNvSpPr>
          <p:nvPr/>
        </p:nvSpPr>
        <p:spPr bwMode="auto">
          <a:xfrm>
            <a:off x="2967038" y="6440488"/>
            <a:ext cx="1374775" cy="3413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rPr>
              <a:t>C</a:t>
            </a:r>
          </a:p>
        </p:txBody>
      </p:sp>
      <p:sp>
        <p:nvSpPr>
          <p:cNvPr id="659489" name="Line 33"/>
          <p:cNvSpPr>
            <a:spLocks noChangeShapeType="1"/>
          </p:cNvSpPr>
          <p:nvPr/>
        </p:nvSpPr>
        <p:spPr bwMode="auto">
          <a:xfrm>
            <a:off x="1911350" y="3262313"/>
            <a:ext cx="0" cy="3413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90" name="Line 34"/>
          <p:cNvSpPr>
            <a:spLocks noChangeShapeType="1"/>
          </p:cNvSpPr>
          <p:nvPr/>
        </p:nvSpPr>
        <p:spPr bwMode="auto">
          <a:xfrm>
            <a:off x="1911350" y="4010025"/>
            <a:ext cx="0" cy="4540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91" name="Line 35"/>
          <p:cNvSpPr>
            <a:spLocks noChangeShapeType="1"/>
          </p:cNvSpPr>
          <p:nvPr/>
        </p:nvSpPr>
        <p:spPr bwMode="auto">
          <a:xfrm>
            <a:off x="2282825" y="4768850"/>
            <a:ext cx="823913" cy="339725"/>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92" name="Line 36"/>
          <p:cNvSpPr>
            <a:spLocks noChangeShapeType="1"/>
          </p:cNvSpPr>
          <p:nvPr/>
        </p:nvSpPr>
        <p:spPr bwMode="auto">
          <a:xfrm>
            <a:off x="3128963" y="6143625"/>
            <a:ext cx="0" cy="34131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93" name="Line 37"/>
          <p:cNvSpPr>
            <a:spLocks noChangeShapeType="1"/>
          </p:cNvSpPr>
          <p:nvPr/>
        </p:nvSpPr>
        <p:spPr bwMode="auto">
          <a:xfrm flipH="1">
            <a:off x="812800" y="4749800"/>
            <a:ext cx="687388" cy="247650"/>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94" name="Line 38"/>
          <p:cNvSpPr>
            <a:spLocks noChangeShapeType="1"/>
          </p:cNvSpPr>
          <p:nvPr/>
        </p:nvSpPr>
        <p:spPr bwMode="auto">
          <a:xfrm>
            <a:off x="3128963" y="5380038"/>
            <a:ext cx="0" cy="341312"/>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499" name="Text Box 43"/>
          <p:cNvSpPr txBox="1">
            <a:spLocks noChangeArrowheads="1"/>
          </p:cNvSpPr>
          <p:nvPr/>
        </p:nvSpPr>
        <p:spPr bwMode="auto">
          <a:xfrm>
            <a:off x="3200400" y="5157788"/>
            <a:ext cx="25146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rPr>
              <a:t> </a:t>
            </a:r>
            <a:r>
              <a:rPr kumimoji="0" lang="en-US" altLang="zh-CN" sz="2400" b="1" baseline="-10000">
                <a:solidFill>
                  <a:schemeClr val="bg2"/>
                </a:solidFill>
              </a:rPr>
              <a:t>C.CNO</a:t>
            </a:r>
          </a:p>
        </p:txBody>
      </p:sp>
      <p:sp>
        <p:nvSpPr>
          <p:cNvPr id="659506" name="Freeform 50"/>
          <p:cNvSpPr>
            <a:spLocks/>
          </p:cNvSpPr>
          <p:nvPr/>
        </p:nvSpPr>
        <p:spPr bwMode="auto">
          <a:xfrm>
            <a:off x="2858849" y="116632"/>
            <a:ext cx="5875328" cy="4904444"/>
          </a:xfrm>
          <a:custGeom>
            <a:avLst/>
            <a:gdLst>
              <a:gd name="T0" fmla="*/ 1908 w 3701"/>
              <a:gd name="T1" fmla="*/ 96 h 3372"/>
              <a:gd name="T2" fmla="*/ 1128 w 3701"/>
              <a:gd name="T3" fmla="*/ 0 h 3372"/>
              <a:gd name="T4" fmla="*/ 684 w 3701"/>
              <a:gd name="T5" fmla="*/ 12 h 3372"/>
              <a:gd name="T6" fmla="*/ 468 w 3701"/>
              <a:gd name="T7" fmla="*/ 60 h 3372"/>
              <a:gd name="T8" fmla="*/ 120 w 3701"/>
              <a:gd name="T9" fmla="*/ 192 h 3372"/>
              <a:gd name="T10" fmla="*/ 48 w 3701"/>
              <a:gd name="T11" fmla="*/ 300 h 3372"/>
              <a:gd name="T12" fmla="*/ 0 w 3701"/>
              <a:gd name="T13" fmla="*/ 456 h 3372"/>
              <a:gd name="T14" fmla="*/ 12 w 3701"/>
              <a:gd name="T15" fmla="*/ 792 h 3372"/>
              <a:gd name="T16" fmla="*/ 84 w 3701"/>
              <a:gd name="T17" fmla="*/ 1032 h 3372"/>
              <a:gd name="T18" fmla="*/ 204 w 3701"/>
              <a:gd name="T19" fmla="*/ 1452 h 3372"/>
              <a:gd name="T20" fmla="*/ 228 w 3701"/>
              <a:gd name="T21" fmla="*/ 1488 h 3372"/>
              <a:gd name="T22" fmla="*/ 336 w 3701"/>
              <a:gd name="T23" fmla="*/ 1704 h 3372"/>
              <a:gd name="T24" fmla="*/ 384 w 3701"/>
              <a:gd name="T25" fmla="*/ 1812 h 3372"/>
              <a:gd name="T26" fmla="*/ 468 w 3701"/>
              <a:gd name="T27" fmla="*/ 1956 h 3372"/>
              <a:gd name="T28" fmla="*/ 552 w 3701"/>
              <a:gd name="T29" fmla="*/ 2136 h 3372"/>
              <a:gd name="T30" fmla="*/ 660 w 3701"/>
              <a:gd name="T31" fmla="*/ 2316 h 3372"/>
              <a:gd name="T32" fmla="*/ 876 w 3701"/>
              <a:gd name="T33" fmla="*/ 2760 h 3372"/>
              <a:gd name="T34" fmla="*/ 912 w 3701"/>
              <a:gd name="T35" fmla="*/ 2844 h 3372"/>
              <a:gd name="T36" fmla="*/ 1068 w 3701"/>
              <a:gd name="T37" fmla="*/ 3024 h 3372"/>
              <a:gd name="T38" fmla="*/ 1356 w 3701"/>
              <a:gd name="T39" fmla="*/ 3180 h 3372"/>
              <a:gd name="T40" fmla="*/ 1620 w 3701"/>
              <a:gd name="T41" fmla="*/ 3300 h 3372"/>
              <a:gd name="T42" fmla="*/ 2196 w 3701"/>
              <a:gd name="T43" fmla="*/ 3324 h 3372"/>
              <a:gd name="T44" fmla="*/ 2448 w 3701"/>
              <a:gd name="T45" fmla="*/ 3372 h 3372"/>
              <a:gd name="T46" fmla="*/ 2784 w 3701"/>
              <a:gd name="T47" fmla="*/ 3300 h 3372"/>
              <a:gd name="T48" fmla="*/ 2892 w 3701"/>
              <a:gd name="T49" fmla="*/ 3252 h 3372"/>
              <a:gd name="T50" fmla="*/ 3000 w 3701"/>
              <a:gd name="T51" fmla="*/ 3192 h 3372"/>
              <a:gd name="T52" fmla="*/ 3072 w 3701"/>
              <a:gd name="T53" fmla="*/ 3168 h 3372"/>
              <a:gd name="T54" fmla="*/ 3216 w 3701"/>
              <a:gd name="T55" fmla="*/ 3096 h 3372"/>
              <a:gd name="T56" fmla="*/ 3468 w 3701"/>
              <a:gd name="T57" fmla="*/ 2904 h 3372"/>
              <a:gd name="T58" fmla="*/ 3648 w 3701"/>
              <a:gd name="T59" fmla="*/ 2616 h 3372"/>
              <a:gd name="T60" fmla="*/ 3660 w 3701"/>
              <a:gd name="T61" fmla="*/ 2568 h 3372"/>
              <a:gd name="T62" fmla="*/ 3684 w 3701"/>
              <a:gd name="T63" fmla="*/ 2496 h 3372"/>
              <a:gd name="T64" fmla="*/ 3672 w 3701"/>
              <a:gd name="T65" fmla="*/ 2052 h 3372"/>
              <a:gd name="T66" fmla="*/ 3540 w 3701"/>
              <a:gd name="T67" fmla="*/ 1656 h 3372"/>
              <a:gd name="T68" fmla="*/ 3516 w 3701"/>
              <a:gd name="T69" fmla="*/ 1620 h 3372"/>
              <a:gd name="T70" fmla="*/ 3492 w 3701"/>
              <a:gd name="T71" fmla="*/ 1548 h 3372"/>
              <a:gd name="T72" fmla="*/ 3480 w 3701"/>
              <a:gd name="T73" fmla="*/ 1500 h 3372"/>
              <a:gd name="T74" fmla="*/ 3456 w 3701"/>
              <a:gd name="T75" fmla="*/ 1464 h 3372"/>
              <a:gd name="T76" fmla="*/ 3408 w 3701"/>
              <a:gd name="T77" fmla="*/ 1320 h 3372"/>
              <a:gd name="T78" fmla="*/ 3372 w 3701"/>
              <a:gd name="T79" fmla="*/ 1248 h 3372"/>
              <a:gd name="T80" fmla="*/ 3336 w 3701"/>
              <a:gd name="T81" fmla="*/ 1128 h 3372"/>
              <a:gd name="T82" fmla="*/ 3240 w 3701"/>
              <a:gd name="T83" fmla="*/ 984 h 3372"/>
              <a:gd name="T84" fmla="*/ 3108 w 3701"/>
              <a:gd name="T85" fmla="*/ 804 h 3372"/>
              <a:gd name="T86" fmla="*/ 2988 w 3701"/>
              <a:gd name="T87" fmla="*/ 636 h 3372"/>
              <a:gd name="T88" fmla="*/ 2892 w 3701"/>
              <a:gd name="T89" fmla="*/ 540 h 3372"/>
              <a:gd name="T90" fmla="*/ 2832 w 3701"/>
              <a:gd name="T91" fmla="*/ 480 h 3372"/>
              <a:gd name="T92" fmla="*/ 2808 w 3701"/>
              <a:gd name="T93" fmla="*/ 444 h 3372"/>
              <a:gd name="T94" fmla="*/ 2664 w 3701"/>
              <a:gd name="T95" fmla="*/ 336 h 3372"/>
              <a:gd name="T96" fmla="*/ 2136 w 3701"/>
              <a:gd name="T97" fmla="*/ 96 h 3372"/>
              <a:gd name="T98" fmla="*/ 1908 w 3701"/>
              <a:gd name="T99" fmla="*/ 96 h 33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701" h="3372">
                <a:moveTo>
                  <a:pt x="1908" y="96"/>
                </a:moveTo>
                <a:cubicBezTo>
                  <a:pt x="1654" y="45"/>
                  <a:pt x="1387" y="20"/>
                  <a:pt x="1128" y="0"/>
                </a:cubicBezTo>
                <a:cubicBezTo>
                  <a:pt x="980" y="4"/>
                  <a:pt x="832" y="5"/>
                  <a:pt x="684" y="12"/>
                </a:cubicBezTo>
                <a:cubicBezTo>
                  <a:pt x="609" y="15"/>
                  <a:pt x="539" y="41"/>
                  <a:pt x="468" y="60"/>
                </a:cubicBezTo>
                <a:cubicBezTo>
                  <a:pt x="346" y="93"/>
                  <a:pt x="225" y="122"/>
                  <a:pt x="120" y="192"/>
                </a:cubicBezTo>
                <a:cubicBezTo>
                  <a:pt x="96" y="228"/>
                  <a:pt x="72" y="264"/>
                  <a:pt x="48" y="300"/>
                </a:cubicBezTo>
                <a:cubicBezTo>
                  <a:pt x="24" y="336"/>
                  <a:pt x="11" y="411"/>
                  <a:pt x="0" y="456"/>
                </a:cubicBezTo>
                <a:cubicBezTo>
                  <a:pt x="4" y="568"/>
                  <a:pt x="5" y="680"/>
                  <a:pt x="12" y="792"/>
                </a:cubicBezTo>
                <a:cubicBezTo>
                  <a:pt x="17" y="872"/>
                  <a:pt x="59" y="956"/>
                  <a:pt x="84" y="1032"/>
                </a:cubicBezTo>
                <a:cubicBezTo>
                  <a:pt x="130" y="1170"/>
                  <a:pt x="158" y="1314"/>
                  <a:pt x="204" y="1452"/>
                </a:cubicBezTo>
                <a:cubicBezTo>
                  <a:pt x="209" y="1466"/>
                  <a:pt x="222" y="1475"/>
                  <a:pt x="228" y="1488"/>
                </a:cubicBezTo>
                <a:cubicBezTo>
                  <a:pt x="264" y="1560"/>
                  <a:pt x="300" y="1632"/>
                  <a:pt x="336" y="1704"/>
                </a:cubicBezTo>
                <a:cubicBezTo>
                  <a:pt x="353" y="1739"/>
                  <a:pt x="365" y="1778"/>
                  <a:pt x="384" y="1812"/>
                </a:cubicBezTo>
                <a:cubicBezTo>
                  <a:pt x="412" y="1863"/>
                  <a:pt x="442" y="1905"/>
                  <a:pt x="468" y="1956"/>
                </a:cubicBezTo>
                <a:cubicBezTo>
                  <a:pt x="497" y="2015"/>
                  <a:pt x="520" y="2079"/>
                  <a:pt x="552" y="2136"/>
                </a:cubicBezTo>
                <a:cubicBezTo>
                  <a:pt x="570" y="2169"/>
                  <a:pt x="650" y="2287"/>
                  <a:pt x="660" y="2316"/>
                </a:cubicBezTo>
                <a:cubicBezTo>
                  <a:pt x="713" y="2475"/>
                  <a:pt x="783" y="2621"/>
                  <a:pt x="876" y="2760"/>
                </a:cubicBezTo>
                <a:cubicBezTo>
                  <a:pt x="893" y="2785"/>
                  <a:pt x="896" y="2818"/>
                  <a:pt x="912" y="2844"/>
                </a:cubicBezTo>
                <a:cubicBezTo>
                  <a:pt x="957" y="2916"/>
                  <a:pt x="1002" y="2973"/>
                  <a:pt x="1068" y="3024"/>
                </a:cubicBezTo>
                <a:cubicBezTo>
                  <a:pt x="1156" y="3092"/>
                  <a:pt x="1261" y="3126"/>
                  <a:pt x="1356" y="3180"/>
                </a:cubicBezTo>
                <a:cubicBezTo>
                  <a:pt x="1435" y="3225"/>
                  <a:pt x="1528" y="3285"/>
                  <a:pt x="1620" y="3300"/>
                </a:cubicBezTo>
                <a:cubicBezTo>
                  <a:pt x="1800" y="3330"/>
                  <a:pt x="2056" y="3320"/>
                  <a:pt x="2196" y="3324"/>
                </a:cubicBezTo>
                <a:cubicBezTo>
                  <a:pt x="2280" y="3345"/>
                  <a:pt x="2362" y="3358"/>
                  <a:pt x="2448" y="3372"/>
                </a:cubicBezTo>
                <a:cubicBezTo>
                  <a:pt x="2529" y="3362"/>
                  <a:pt x="2717" y="3344"/>
                  <a:pt x="2784" y="3300"/>
                </a:cubicBezTo>
                <a:cubicBezTo>
                  <a:pt x="2817" y="3278"/>
                  <a:pt x="2859" y="3274"/>
                  <a:pt x="2892" y="3252"/>
                </a:cubicBezTo>
                <a:cubicBezTo>
                  <a:pt x="2925" y="3230"/>
                  <a:pt x="2964" y="3208"/>
                  <a:pt x="3000" y="3192"/>
                </a:cubicBezTo>
                <a:cubicBezTo>
                  <a:pt x="3023" y="3182"/>
                  <a:pt x="3051" y="3182"/>
                  <a:pt x="3072" y="3168"/>
                </a:cubicBezTo>
                <a:cubicBezTo>
                  <a:pt x="3118" y="3138"/>
                  <a:pt x="3169" y="3122"/>
                  <a:pt x="3216" y="3096"/>
                </a:cubicBezTo>
                <a:cubicBezTo>
                  <a:pt x="3310" y="3044"/>
                  <a:pt x="3393" y="2979"/>
                  <a:pt x="3468" y="2904"/>
                </a:cubicBezTo>
                <a:cubicBezTo>
                  <a:pt x="3557" y="2815"/>
                  <a:pt x="3583" y="2714"/>
                  <a:pt x="3648" y="2616"/>
                </a:cubicBezTo>
                <a:cubicBezTo>
                  <a:pt x="3652" y="2600"/>
                  <a:pt x="3655" y="2584"/>
                  <a:pt x="3660" y="2568"/>
                </a:cubicBezTo>
                <a:cubicBezTo>
                  <a:pt x="3667" y="2544"/>
                  <a:pt x="3684" y="2496"/>
                  <a:pt x="3684" y="2496"/>
                </a:cubicBezTo>
                <a:cubicBezTo>
                  <a:pt x="3699" y="2348"/>
                  <a:pt x="3701" y="2199"/>
                  <a:pt x="3672" y="2052"/>
                </a:cubicBezTo>
                <a:cubicBezTo>
                  <a:pt x="3644" y="1912"/>
                  <a:pt x="3584" y="1789"/>
                  <a:pt x="3540" y="1656"/>
                </a:cubicBezTo>
                <a:cubicBezTo>
                  <a:pt x="3535" y="1642"/>
                  <a:pt x="3522" y="1633"/>
                  <a:pt x="3516" y="1620"/>
                </a:cubicBezTo>
                <a:cubicBezTo>
                  <a:pt x="3506" y="1597"/>
                  <a:pt x="3498" y="1573"/>
                  <a:pt x="3492" y="1548"/>
                </a:cubicBezTo>
                <a:cubicBezTo>
                  <a:pt x="3488" y="1532"/>
                  <a:pt x="3486" y="1515"/>
                  <a:pt x="3480" y="1500"/>
                </a:cubicBezTo>
                <a:cubicBezTo>
                  <a:pt x="3474" y="1487"/>
                  <a:pt x="3462" y="1477"/>
                  <a:pt x="3456" y="1464"/>
                </a:cubicBezTo>
                <a:cubicBezTo>
                  <a:pt x="3439" y="1426"/>
                  <a:pt x="3432" y="1356"/>
                  <a:pt x="3408" y="1320"/>
                </a:cubicBezTo>
                <a:cubicBezTo>
                  <a:pt x="3382" y="1281"/>
                  <a:pt x="3384" y="1291"/>
                  <a:pt x="3372" y="1248"/>
                </a:cubicBezTo>
                <a:cubicBezTo>
                  <a:pt x="3364" y="1219"/>
                  <a:pt x="3350" y="1149"/>
                  <a:pt x="3336" y="1128"/>
                </a:cubicBezTo>
                <a:cubicBezTo>
                  <a:pt x="3304" y="1080"/>
                  <a:pt x="3272" y="1032"/>
                  <a:pt x="3240" y="984"/>
                </a:cubicBezTo>
                <a:cubicBezTo>
                  <a:pt x="3198" y="921"/>
                  <a:pt x="3154" y="863"/>
                  <a:pt x="3108" y="804"/>
                </a:cubicBezTo>
                <a:cubicBezTo>
                  <a:pt x="3062" y="745"/>
                  <a:pt x="3050" y="678"/>
                  <a:pt x="2988" y="636"/>
                </a:cubicBezTo>
                <a:cubicBezTo>
                  <a:pt x="2960" y="595"/>
                  <a:pt x="2933" y="568"/>
                  <a:pt x="2892" y="540"/>
                </a:cubicBezTo>
                <a:cubicBezTo>
                  <a:pt x="2828" y="444"/>
                  <a:pt x="2912" y="560"/>
                  <a:pt x="2832" y="480"/>
                </a:cubicBezTo>
                <a:cubicBezTo>
                  <a:pt x="2822" y="470"/>
                  <a:pt x="2818" y="454"/>
                  <a:pt x="2808" y="444"/>
                </a:cubicBezTo>
                <a:cubicBezTo>
                  <a:pt x="2768" y="404"/>
                  <a:pt x="2710" y="367"/>
                  <a:pt x="2664" y="336"/>
                </a:cubicBezTo>
                <a:cubicBezTo>
                  <a:pt x="2500" y="226"/>
                  <a:pt x="2332" y="135"/>
                  <a:pt x="2136" y="96"/>
                </a:cubicBezTo>
                <a:cubicBezTo>
                  <a:pt x="1904" y="108"/>
                  <a:pt x="1908" y="184"/>
                  <a:pt x="1908" y="96"/>
                </a:cubicBezTo>
                <a:close/>
              </a:path>
            </a:pathLst>
          </a:custGeom>
          <a:noFill/>
          <a:ln w="9525" cap="flat" cmpd="sng">
            <a:solidFill>
              <a:srgbClr val="660033"/>
            </a:solidFill>
            <a:prstDash val="solid"/>
            <a:round/>
            <a:headEnd/>
            <a:tailEnd/>
          </a:ln>
          <a:effectLst/>
          <a:extLst>
            <a:ext uri="{909E8E84-426E-40DD-AFC4-6F175D3DCCD1}">
              <a14:hiddenFill xmlns:a14="http://schemas.microsoft.com/office/drawing/2010/main">
                <a:solidFill>
                  <a:srgbClr val="660033"/>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square">
            <a:spAutoFit/>
          </a:bodyPr>
          <a:lstStyle/>
          <a:p>
            <a:endParaRPr lang="zh-CN" altLang="en-US"/>
          </a:p>
        </p:txBody>
      </p:sp>
      <p:sp>
        <p:nvSpPr>
          <p:cNvPr id="659507" name="Freeform 51"/>
          <p:cNvSpPr>
            <a:spLocks/>
          </p:cNvSpPr>
          <p:nvPr/>
        </p:nvSpPr>
        <p:spPr bwMode="auto">
          <a:xfrm>
            <a:off x="38100" y="2173288"/>
            <a:ext cx="5314950" cy="4684712"/>
          </a:xfrm>
          <a:custGeom>
            <a:avLst/>
            <a:gdLst>
              <a:gd name="T0" fmla="*/ 2388 w 3348"/>
              <a:gd name="T1" fmla="*/ 1283 h 2951"/>
              <a:gd name="T2" fmla="*/ 2280 w 3348"/>
              <a:gd name="T3" fmla="*/ 1031 h 2951"/>
              <a:gd name="T4" fmla="*/ 2100 w 3348"/>
              <a:gd name="T5" fmla="*/ 827 h 2951"/>
              <a:gd name="T6" fmla="*/ 1944 w 3348"/>
              <a:gd name="T7" fmla="*/ 647 h 2951"/>
              <a:gd name="T8" fmla="*/ 1860 w 3348"/>
              <a:gd name="T9" fmla="*/ 551 h 2951"/>
              <a:gd name="T10" fmla="*/ 1812 w 3348"/>
              <a:gd name="T11" fmla="*/ 479 h 2951"/>
              <a:gd name="T12" fmla="*/ 1776 w 3348"/>
              <a:gd name="T13" fmla="*/ 455 h 2951"/>
              <a:gd name="T14" fmla="*/ 1740 w 3348"/>
              <a:gd name="T15" fmla="*/ 419 h 2951"/>
              <a:gd name="T16" fmla="*/ 1680 w 3348"/>
              <a:gd name="T17" fmla="*/ 359 h 2951"/>
              <a:gd name="T18" fmla="*/ 1560 w 3348"/>
              <a:gd name="T19" fmla="*/ 215 h 2951"/>
              <a:gd name="T20" fmla="*/ 1536 w 3348"/>
              <a:gd name="T21" fmla="*/ 179 h 2951"/>
              <a:gd name="T22" fmla="*/ 1200 w 3348"/>
              <a:gd name="T23" fmla="*/ 23 h 2951"/>
              <a:gd name="T24" fmla="*/ 984 w 3348"/>
              <a:gd name="T25" fmla="*/ 11 h 2951"/>
              <a:gd name="T26" fmla="*/ 864 w 3348"/>
              <a:gd name="T27" fmla="*/ 23 h 2951"/>
              <a:gd name="T28" fmla="*/ 684 w 3348"/>
              <a:gd name="T29" fmla="*/ 119 h 2951"/>
              <a:gd name="T30" fmla="*/ 576 w 3348"/>
              <a:gd name="T31" fmla="*/ 191 h 2951"/>
              <a:gd name="T32" fmla="*/ 540 w 3348"/>
              <a:gd name="T33" fmla="*/ 215 h 2951"/>
              <a:gd name="T34" fmla="*/ 420 w 3348"/>
              <a:gd name="T35" fmla="*/ 347 h 2951"/>
              <a:gd name="T36" fmla="*/ 372 w 3348"/>
              <a:gd name="T37" fmla="*/ 419 h 2951"/>
              <a:gd name="T38" fmla="*/ 348 w 3348"/>
              <a:gd name="T39" fmla="*/ 455 h 2951"/>
              <a:gd name="T40" fmla="*/ 264 w 3348"/>
              <a:gd name="T41" fmla="*/ 731 h 2951"/>
              <a:gd name="T42" fmla="*/ 192 w 3348"/>
              <a:gd name="T43" fmla="*/ 995 h 2951"/>
              <a:gd name="T44" fmla="*/ 96 w 3348"/>
              <a:gd name="T45" fmla="*/ 1247 h 2951"/>
              <a:gd name="T46" fmla="*/ 48 w 3348"/>
              <a:gd name="T47" fmla="*/ 1415 h 2951"/>
              <a:gd name="T48" fmla="*/ 12 w 3348"/>
              <a:gd name="T49" fmla="*/ 1487 h 2951"/>
              <a:gd name="T50" fmla="*/ 0 w 3348"/>
              <a:gd name="T51" fmla="*/ 1679 h 2951"/>
              <a:gd name="T52" fmla="*/ 108 w 3348"/>
              <a:gd name="T53" fmla="*/ 2171 h 2951"/>
              <a:gd name="T54" fmla="*/ 156 w 3348"/>
              <a:gd name="T55" fmla="*/ 2243 h 2951"/>
              <a:gd name="T56" fmla="*/ 168 w 3348"/>
              <a:gd name="T57" fmla="*/ 2279 h 2951"/>
              <a:gd name="T58" fmla="*/ 372 w 3348"/>
              <a:gd name="T59" fmla="*/ 2471 h 2951"/>
              <a:gd name="T60" fmla="*/ 480 w 3348"/>
              <a:gd name="T61" fmla="*/ 2579 h 2951"/>
              <a:gd name="T62" fmla="*/ 672 w 3348"/>
              <a:gd name="T63" fmla="*/ 2711 h 2951"/>
              <a:gd name="T64" fmla="*/ 780 w 3348"/>
              <a:gd name="T65" fmla="*/ 2747 h 2951"/>
              <a:gd name="T66" fmla="*/ 1080 w 3348"/>
              <a:gd name="T67" fmla="*/ 2807 h 2951"/>
              <a:gd name="T68" fmla="*/ 1572 w 3348"/>
              <a:gd name="T69" fmla="*/ 2843 h 2951"/>
              <a:gd name="T70" fmla="*/ 1740 w 3348"/>
              <a:gd name="T71" fmla="*/ 2915 h 2951"/>
              <a:gd name="T72" fmla="*/ 1812 w 3348"/>
              <a:gd name="T73" fmla="*/ 2939 h 2951"/>
              <a:gd name="T74" fmla="*/ 1848 w 3348"/>
              <a:gd name="T75" fmla="*/ 2951 h 2951"/>
              <a:gd name="T76" fmla="*/ 2340 w 3348"/>
              <a:gd name="T77" fmla="*/ 2879 h 2951"/>
              <a:gd name="T78" fmla="*/ 2760 w 3348"/>
              <a:gd name="T79" fmla="*/ 2807 h 2951"/>
              <a:gd name="T80" fmla="*/ 2928 w 3348"/>
              <a:gd name="T81" fmla="*/ 2843 h 2951"/>
              <a:gd name="T82" fmla="*/ 3180 w 3348"/>
              <a:gd name="T83" fmla="*/ 2771 h 2951"/>
              <a:gd name="T84" fmla="*/ 3312 w 3348"/>
              <a:gd name="T85" fmla="*/ 2591 h 2951"/>
              <a:gd name="T86" fmla="*/ 3168 w 3348"/>
              <a:gd name="T87" fmla="*/ 2315 h 2951"/>
              <a:gd name="T88" fmla="*/ 2952 w 3348"/>
              <a:gd name="T89" fmla="*/ 2135 h 2951"/>
              <a:gd name="T90" fmla="*/ 2808 w 3348"/>
              <a:gd name="T91" fmla="*/ 1991 h 2951"/>
              <a:gd name="T92" fmla="*/ 2784 w 3348"/>
              <a:gd name="T93" fmla="*/ 1955 h 2951"/>
              <a:gd name="T94" fmla="*/ 2712 w 3348"/>
              <a:gd name="T95" fmla="*/ 1907 h 2951"/>
              <a:gd name="T96" fmla="*/ 2676 w 3348"/>
              <a:gd name="T97" fmla="*/ 1871 h 2951"/>
              <a:gd name="T98" fmla="*/ 2604 w 3348"/>
              <a:gd name="T99" fmla="*/ 1823 h 2951"/>
              <a:gd name="T100" fmla="*/ 2472 w 3348"/>
              <a:gd name="T101" fmla="*/ 1643 h 2951"/>
              <a:gd name="T102" fmla="*/ 2424 w 3348"/>
              <a:gd name="T103" fmla="*/ 1499 h 2951"/>
              <a:gd name="T104" fmla="*/ 2400 w 3348"/>
              <a:gd name="T105" fmla="*/ 1463 h 2951"/>
              <a:gd name="T106" fmla="*/ 2376 w 3348"/>
              <a:gd name="T107" fmla="*/ 1391 h 2951"/>
              <a:gd name="T108" fmla="*/ 2388 w 3348"/>
              <a:gd name="T109" fmla="*/ 1283 h 29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3348" h="2951">
                <a:moveTo>
                  <a:pt x="2388" y="1283"/>
                </a:moveTo>
                <a:cubicBezTo>
                  <a:pt x="2377" y="1176"/>
                  <a:pt x="2374" y="1094"/>
                  <a:pt x="2280" y="1031"/>
                </a:cubicBezTo>
                <a:cubicBezTo>
                  <a:pt x="2251" y="944"/>
                  <a:pt x="2175" y="877"/>
                  <a:pt x="2100" y="827"/>
                </a:cubicBezTo>
                <a:cubicBezTo>
                  <a:pt x="2056" y="761"/>
                  <a:pt x="1993" y="710"/>
                  <a:pt x="1944" y="647"/>
                </a:cubicBezTo>
                <a:cubicBezTo>
                  <a:pt x="1869" y="550"/>
                  <a:pt x="1930" y="597"/>
                  <a:pt x="1860" y="551"/>
                </a:cubicBezTo>
                <a:cubicBezTo>
                  <a:pt x="1844" y="527"/>
                  <a:pt x="1828" y="503"/>
                  <a:pt x="1812" y="479"/>
                </a:cubicBezTo>
                <a:cubicBezTo>
                  <a:pt x="1804" y="467"/>
                  <a:pt x="1787" y="464"/>
                  <a:pt x="1776" y="455"/>
                </a:cubicBezTo>
                <a:cubicBezTo>
                  <a:pt x="1763" y="444"/>
                  <a:pt x="1751" y="432"/>
                  <a:pt x="1740" y="419"/>
                </a:cubicBezTo>
                <a:cubicBezTo>
                  <a:pt x="1690" y="359"/>
                  <a:pt x="1746" y="403"/>
                  <a:pt x="1680" y="359"/>
                </a:cubicBezTo>
                <a:cubicBezTo>
                  <a:pt x="1613" y="259"/>
                  <a:pt x="1652" y="307"/>
                  <a:pt x="1560" y="215"/>
                </a:cubicBezTo>
                <a:cubicBezTo>
                  <a:pt x="1550" y="205"/>
                  <a:pt x="1547" y="188"/>
                  <a:pt x="1536" y="179"/>
                </a:cubicBezTo>
                <a:cubicBezTo>
                  <a:pt x="1456" y="109"/>
                  <a:pt x="1298" y="56"/>
                  <a:pt x="1200" y="23"/>
                </a:cubicBezTo>
                <a:cubicBezTo>
                  <a:pt x="1132" y="0"/>
                  <a:pt x="1056" y="15"/>
                  <a:pt x="984" y="11"/>
                </a:cubicBezTo>
                <a:cubicBezTo>
                  <a:pt x="944" y="15"/>
                  <a:pt x="904" y="16"/>
                  <a:pt x="864" y="23"/>
                </a:cubicBezTo>
                <a:cubicBezTo>
                  <a:pt x="792" y="36"/>
                  <a:pt x="743" y="80"/>
                  <a:pt x="684" y="119"/>
                </a:cubicBezTo>
                <a:cubicBezTo>
                  <a:pt x="648" y="143"/>
                  <a:pt x="612" y="167"/>
                  <a:pt x="576" y="191"/>
                </a:cubicBezTo>
                <a:cubicBezTo>
                  <a:pt x="564" y="199"/>
                  <a:pt x="540" y="215"/>
                  <a:pt x="540" y="215"/>
                </a:cubicBezTo>
                <a:cubicBezTo>
                  <a:pt x="507" y="265"/>
                  <a:pt x="458" y="299"/>
                  <a:pt x="420" y="347"/>
                </a:cubicBezTo>
                <a:cubicBezTo>
                  <a:pt x="402" y="370"/>
                  <a:pt x="388" y="395"/>
                  <a:pt x="372" y="419"/>
                </a:cubicBezTo>
                <a:cubicBezTo>
                  <a:pt x="364" y="431"/>
                  <a:pt x="348" y="455"/>
                  <a:pt x="348" y="455"/>
                </a:cubicBezTo>
                <a:cubicBezTo>
                  <a:pt x="325" y="548"/>
                  <a:pt x="287" y="638"/>
                  <a:pt x="264" y="731"/>
                </a:cubicBezTo>
                <a:cubicBezTo>
                  <a:pt x="242" y="821"/>
                  <a:pt x="221" y="907"/>
                  <a:pt x="192" y="995"/>
                </a:cubicBezTo>
                <a:cubicBezTo>
                  <a:pt x="164" y="1079"/>
                  <a:pt x="145" y="1173"/>
                  <a:pt x="96" y="1247"/>
                </a:cubicBezTo>
                <a:cubicBezTo>
                  <a:pt x="86" y="1299"/>
                  <a:pt x="78" y="1371"/>
                  <a:pt x="48" y="1415"/>
                </a:cubicBezTo>
                <a:cubicBezTo>
                  <a:pt x="17" y="1462"/>
                  <a:pt x="29" y="1437"/>
                  <a:pt x="12" y="1487"/>
                </a:cubicBezTo>
                <a:cubicBezTo>
                  <a:pt x="8" y="1551"/>
                  <a:pt x="0" y="1615"/>
                  <a:pt x="0" y="1679"/>
                </a:cubicBezTo>
                <a:cubicBezTo>
                  <a:pt x="0" y="1850"/>
                  <a:pt x="55" y="2011"/>
                  <a:pt x="108" y="2171"/>
                </a:cubicBezTo>
                <a:cubicBezTo>
                  <a:pt x="117" y="2198"/>
                  <a:pt x="140" y="2219"/>
                  <a:pt x="156" y="2243"/>
                </a:cubicBezTo>
                <a:cubicBezTo>
                  <a:pt x="163" y="2254"/>
                  <a:pt x="160" y="2269"/>
                  <a:pt x="168" y="2279"/>
                </a:cubicBezTo>
                <a:cubicBezTo>
                  <a:pt x="227" y="2355"/>
                  <a:pt x="302" y="2408"/>
                  <a:pt x="372" y="2471"/>
                </a:cubicBezTo>
                <a:cubicBezTo>
                  <a:pt x="410" y="2505"/>
                  <a:pt x="438" y="2551"/>
                  <a:pt x="480" y="2579"/>
                </a:cubicBezTo>
                <a:cubicBezTo>
                  <a:pt x="545" y="2623"/>
                  <a:pt x="605" y="2669"/>
                  <a:pt x="672" y="2711"/>
                </a:cubicBezTo>
                <a:cubicBezTo>
                  <a:pt x="704" y="2731"/>
                  <a:pt x="744" y="2735"/>
                  <a:pt x="780" y="2747"/>
                </a:cubicBezTo>
                <a:cubicBezTo>
                  <a:pt x="879" y="2780"/>
                  <a:pt x="976" y="2794"/>
                  <a:pt x="1080" y="2807"/>
                </a:cubicBezTo>
                <a:cubicBezTo>
                  <a:pt x="1248" y="2798"/>
                  <a:pt x="1410" y="2794"/>
                  <a:pt x="1572" y="2843"/>
                </a:cubicBezTo>
                <a:cubicBezTo>
                  <a:pt x="1632" y="2861"/>
                  <a:pt x="1685" y="2890"/>
                  <a:pt x="1740" y="2915"/>
                </a:cubicBezTo>
                <a:cubicBezTo>
                  <a:pt x="1763" y="2925"/>
                  <a:pt x="1788" y="2931"/>
                  <a:pt x="1812" y="2939"/>
                </a:cubicBezTo>
                <a:cubicBezTo>
                  <a:pt x="1824" y="2943"/>
                  <a:pt x="1848" y="2951"/>
                  <a:pt x="1848" y="2951"/>
                </a:cubicBezTo>
                <a:cubicBezTo>
                  <a:pt x="2010" y="2910"/>
                  <a:pt x="2173" y="2889"/>
                  <a:pt x="2340" y="2879"/>
                </a:cubicBezTo>
                <a:cubicBezTo>
                  <a:pt x="2479" y="2844"/>
                  <a:pt x="2618" y="2827"/>
                  <a:pt x="2760" y="2807"/>
                </a:cubicBezTo>
                <a:cubicBezTo>
                  <a:pt x="2820" y="2816"/>
                  <a:pt x="2871" y="2824"/>
                  <a:pt x="2928" y="2843"/>
                </a:cubicBezTo>
                <a:cubicBezTo>
                  <a:pt x="3239" y="2824"/>
                  <a:pt x="3038" y="2866"/>
                  <a:pt x="3180" y="2771"/>
                </a:cubicBezTo>
                <a:cubicBezTo>
                  <a:pt x="3222" y="2708"/>
                  <a:pt x="3258" y="2645"/>
                  <a:pt x="3312" y="2591"/>
                </a:cubicBezTo>
                <a:cubicBezTo>
                  <a:pt x="3348" y="2482"/>
                  <a:pt x="3254" y="2373"/>
                  <a:pt x="3168" y="2315"/>
                </a:cubicBezTo>
                <a:cubicBezTo>
                  <a:pt x="3112" y="2231"/>
                  <a:pt x="3025" y="2200"/>
                  <a:pt x="2952" y="2135"/>
                </a:cubicBezTo>
                <a:cubicBezTo>
                  <a:pt x="2902" y="2091"/>
                  <a:pt x="2856" y="2039"/>
                  <a:pt x="2808" y="1991"/>
                </a:cubicBezTo>
                <a:cubicBezTo>
                  <a:pt x="2798" y="1981"/>
                  <a:pt x="2795" y="1964"/>
                  <a:pt x="2784" y="1955"/>
                </a:cubicBezTo>
                <a:cubicBezTo>
                  <a:pt x="2762" y="1936"/>
                  <a:pt x="2736" y="1923"/>
                  <a:pt x="2712" y="1907"/>
                </a:cubicBezTo>
                <a:cubicBezTo>
                  <a:pt x="2698" y="1898"/>
                  <a:pt x="2689" y="1881"/>
                  <a:pt x="2676" y="1871"/>
                </a:cubicBezTo>
                <a:cubicBezTo>
                  <a:pt x="2653" y="1853"/>
                  <a:pt x="2604" y="1823"/>
                  <a:pt x="2604" y="1823"/>
                </a:cubicBezTo>
                <a:cubicBezTo>
                  <a:pt x="2579" y="1747"/>
                  <a:pt x="2498" y="1720"/>
                  <a:pt x="2472" y="1643"/>
                </a:cubicBezTo>
                <a:cubicBezTo>
                  <a:pt x="2456" y="1595"/>
                  <a:pt x="2440" y="1547"/>
                  <a:pt x="2424" y="1499"/>
                </a:cubicBezTo>
                <a:cubicBezTo>
                  <a:pt x="2419" y="1485"/>
                  <a:pt x="2406" y="1476"/>
                  <a:pt x="2400" y="1463"/>
                </a:cubicBezTo>
                <a:cubicBezTo>
                  <a:pt x="2390" y="1440"/>
                  <a:pt x="2384" y="1415"/>
                  <a:pt x="2376" y="1391"/>
                </a:cubicBezTo>
                <a:cubicBezTo>
                  <a:pt x="2365" y="1357"/>
                  <a:pt x="2384" y="1319"/>
                  <a:pt x="2388" y="1283"/>
                </a:cubicBezTo>
                <a:close/>
              </a:path>
            </a:pathLst>
          </a:custGeom>
          <a:noFill/>
          <a:ln w="9525" cap="flat" cmpd="sng">
            <a:solidFill>
              <a:srgbClr val="660033"/>
            </a:solidFill>
            <a:prstDash val="solid"/>
            <a:round/>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spAutoFit/>
          </a:bodyPr>
          <a:lstStyle/>
          <a:p>
            <a:endParaRPr lang="zh-CN" altLang="en-US"/>
          </a:p>
        </p:txBody>
      </p:sp>
      <p:sp>
        <p:nvSpPr>
          <p:cNvPr id="659511" name="Oval 55"/>
          <p:cNvSpPr>
            <a:spLocks noChangeArrowheads="1"/>
          </p:cNvSpPr>
          <p:nvPr/>
        </p:nvSpPr>
        <p:spPr bwMode="auto">
          <a:xfrm>
            <a:off x="8458200" y="6477000"/>
            <a:ext cx="1371600" cy="762000"/>
          </a:xfrm>
          <a:prstGeom prst="ellipse">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endParaRPr lang="zh-CN" altLang="en-US"/>
          </a:p>
        </p:txBody>
      </p:sp>
      <p:sp>
        <p:nvSpPr>
          <p:cNvPr id="659513" name="Text Box 57"/>
          <p:cNvSpPr txBox="1">
            <a:spLocks noChangeArrowheads="1"/>
          </p:cNvSpPr>
          <p:nvPr/>
        </p:nvSpPr>
        <p:spPr bwMode="auto">
          <a:xfrm>
            <a:off x="611188" y="4941888"/>
            <a:ext cx="1008062" cy="455612"/>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a:solidFill>
                  <a:schemeClr val="bg2"/>
                </a:solidFill>
                <a:latin typeface="Times New Roman" pitchFamily="18" charset="0"/>
              </a:rPr>
              <a:t>π</a:t>
            </a:r>
          </a:p>
        </p:txBody>
      </p:sp>
      <p:sp>
        <p:nvSpPr>
          <p:cNvPr id="659514" name="Line 58"/>
          <p:cNvSpPr>
            <a:spLocks noChangeShapeType="1"/>
          </p:cNvSpPr>
          <p:nvPr/>
        </p:nvSpPr>
        <p:spPr bwMode="auto">
          <a:xfrm>
            <a:off x="773113" y="5359400"/>
            <a:ext cx="0" cy="341313"/>
          </a:xfrm>
          <a:prstGeom prst="line">
            <a:avLst/>
          </a:prstGeom>
          <a:noFill/>
          <a:ln w="9525">
            <a:solidFill>
              <a:schemeClr val="bg2"/>
            </a:solidFill>
            <a:round/>
            <a:headEnd/>
            <a:tailE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endParaRPr lang="zh-CN" altLang="en-US"/>
          </a:p>
        </p:txBody>
      </p:sp>
      <p:sp>
        <p:nvSpPr>
          <p:cNvPr id="659515" name="Text Box 59"/>
          <p:cNvSpPr txBox="1">
            <a:spLocks noChangeArrowheads="1"/>
          </p:cNvSpPr>
          <p:nvPr/>
        </p:nvSpPr>
        <p:spPr bwMode="auto">
          <a:xfrm>
            <a:off x="844550" y="5281613"/>
            <a:ext cx="2514600" cy="457200"/>
          </a:xfrm>
          <a:prstGeom prst="rect">
            <a:avLst/>
          </a:prstGeom>
          <a:noFill/>
          <a:ln>
            <a:noFill/>
          </a:ln>
          <a:effectLst/>
          <a:extLst>
            <a:ext uri="{909E8E84-426E-40DD-AFC4-6F175D3DCCD1}">
              <a14:hiddenFill xmlns:a14="http://schemas.microsoft.com/office/drawing/2010/main">
                <a:solidFill>
                  <a:schemeClr val="bg2"/>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p>
            <a:pPr eaLnBrk="0" hangingPunct="0">
              <a:lnSpc>
                <a:spcPct val="100000"/>
              </a:lnSpc>
              <a:spcBef>
                <a:spcPct val="0"/>
              </a:spcBef>
            </a:pPr>
            <a:r>
              <a:rPr kumimoji="0" lang="en-US" altLang="zh-CN" sz="2400" b="1" baseline="-25000">
                <a:solidFill>
                  <a:schemeClr val="bg1"/>
                </a:solidFill>
              </a:rPr>
              <a:t>SC.CNO</a:t>
            </a:r>
            <a:r>
              <a:rPr kumimoji="0" lang="zh-CN" altLang="en-US" sz="2400" b="1" baseline="-25000">
                <a:solidFill>
                  <a:schemeClr val="bg1"/>
                </a:solidFill>
              </a:rPr>
              <a:t>，</a:t>
            </a:r>
            <a:r>
              <a:rPr kumimoji="0" lang="en-US" altLang="zh-CN" sz="2400" b="1" baseline="-25000">
                <a:solidFill>
                  <a:schemeClr val="bg1"/>
                </a:solidFill>
              </a:rPr>
              <a:t>SC.SNO</a:t>
            </a:r>
          </a:p>
        </p:txBody>
      </p:sp>
      <p:sp>
        <p:nvSpPr>
          <p:cNvPr id="659516" name="AutoShape 60">
            <a:hlinkClick r:id="rId2" action="ppaction://hlinksldjump"/>
          </p:cNvPr>
          <p:cNvSpPr>
            <a:spLocks noChangeArrowheads="1"/>
          </p:cNvSpPr>
          <p:nvPr/>
        </p:nvSpPr>
        <p:spPr bwMode="auto">
          <a:xfrm>
            <a:off x="8252126" y="6484938"/>
            <a:ext cx="647700" cy="360362"/>
          </a:xfrm>
          <a:prstGeom prst="leftArrow">
            <a:avLst>
              <a:gd name="adj1" fmla="val 50000"/>
              <a:gd name="adj2" fmla="val 44934"/>
            </a:avLst>
          </a:prstGeom>
          <a:solidFill>
            <a:srgbClr val="009999"/>
          </a:solidFill>
          <a:ln w="9525">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pic>
        <p:nvPicPr>
          <p:cNvPr id="2" name="图片 1">
            <a:extLst>
              <a:ext uri="{FF2B5EF4-FFF2-40B4-BE49-F238E27FC236}">
                <a16:creationId xmlns:a16="http://schemas.microsoft.com/office/drawing/2014/main" id="{4AFC036E-6113-E101-7604-3CC78D44F832}"/>
              </a:ext>
            </a:extLst>
          </p:cNvPr>
          <p:cNvPicPr>
            <a:picLocks noChangeAspect="1"/>
          </p:cNvPicPr>
          <p:nvPr/>
        </p:nvPicPr>
        <p:blipFill>
          <a:blip r:embed="rId3"/>
          <a:stretch>
            <a:fillRect/>
          </a:stretch>
        </p:blipFill>
        <p:spPr>
          <a:xfrm>
            <a:off x="5353050" y="5047549"/>
            <a:ext cx="3593152" cy="1469482"/>
          </a:xfrm>
          <a:prstGeom prst="rect">
            <a:avLst/>
          </a:prstGeom>
        </p:spPr>
      </p:pic>
      <p:cxnSp>
        <p:nvCxnSpPr>
          <p:cNvPr id="3" name="直线连接符 2">
            <a:extLst>
              <a:ext uri="{FF2B5EF4-FFF2-40B4-BE49-F238E27FC236}">
                <a16:creationId xmlns:a16="http://schemas.microsoft.com/office/drawing/2014/main" id="{4CBADE2B-F976-20C4-8E02-E3561A3C0540}"/>
              </a:ext>
            </a:extLst>
          </p:cNvPr>
          <p:cNvCxnSpPr/>
          <p:nvPr/>
        </p:nvCxnSpPr>
        <p:spPr bwMode="auto">
          <a:xfrm>
            <a:off x="1063613" y="601526"/>
            <a:ext cx="5182964" cy="6048648"/>
          </a:xfrm>
          <a:prstGeom prst="line">
            <a:avLst/>
          </a:prstGeom>
          <a:ln>
            <a:solidFill>
              <a:srgbClr val="FF0000"/>
            </a:solidFill>
            <a:prstDash val="dash"/>
            <a:headEnd type="none" w="med" len="med"/>
            <a:tailEnd type="none" w="med" len="med"/>
          </a:ln>
        </p:spPr>
        <p:style>
          <a:lnRef idx="3">
            <a:schemeClr val="accent2"/>
          </a:lnRef>
          <a:fillRef idx="0">
            <a:schemeClr val="accent2"/>
          </a:fillRef>
          <a:effectRef idx="2">
            <a:schemeClr val="accent2"/>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59506"/>
                                        </p:tgtEl>
                                        <p:attrNameLst>
                                          <p:attrName>style.visibility</p:attrName>
                                        </p:attrNameLst>
                                      </p:cBhvr>
                                      <p:to>
                                        <p:strVal val="visible"/>
                                      </p:to>
                                    </p:set>
                                    <p:animEffect transition="in" filter="blinds(horizontal)">
                                      <p:cBhvr>
                                        <p:cTn id="7" dur="500"/>
                                        <p:tgtEl>
                                          <p:spTgt spid="65950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659507"/>
                                        </p:tgtEl>
                                        <p:attrNameLst>
                                          <p:attrName>style.visibility</p:attrName>
                                        </p:attrNameLst>
                                      </p:cBhvr>
                                      <p:to>
                                        <p:strVal val="visible"/>
                                      </p:to>
                                    </p:set>
                                    <p:animEffect transition="in" filter="blinds(horizontal)">
                                      <p:cBhvr>
                                        <p:cTn id="12" dur="500"/>
                                        <p:tgtEl>
                                          <p:spTgt spid="659507"/>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59506" grpId="0" animBg="1"/>
      <p:bldP spid="659507" grpId="0" animBg="1"/>
    </p:bldLst>
  </p:timing>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410F2C16-3BF5-EFD1-9593-5DF42D76BB97}"/>
              </a:ext>
            </a:extLst>
          </p:cNvPr>
          <p:cNvSpPr txBox="1"/>
          <p:nvPr/>
        </p:nvSpPr>
        <p:spPr>
          <a:xfrm>
            <a:off x="395536" y="260648"/>
            <a:ext cx="8352928" cy="2022670"/>
          </a:xfrm>
          <a:prstGeom prst="rect">
            <a:avLst/>
          </a:prstGeom>
          <a:noFill/>
        </p:spPr>
        <p:txBody>
          <a:bodyPr wrap="square">
            <a:spAutoFit/>
          </a:bodyPr>
          <a:lstStyle/>
          <a:p>
            <a:pPr>
              <a:lnSpc>
                <a:spcPct val="150000"/>
              </a:lnSpc>
              <a:spcBef>
                <a:spcPts val="0"/>
              </a:spcBef>
            </a:pPr>
            <a:r>
              <a:rPr kumimoji="1" lang="en-US" altLang="zh-CN" sz="2000" b="1" dirty="0">
                <a:solidFill>
                  <a:schemeClr val="bg2"/>
                </a:solidFill>
              </a:rPr>
              <a:t>3.16 </a:t>
            </a:r>
            <a:r>
              <a:rPr kumimoji="1" lang="zh-CN" altLang="en-US" sz="2000" b="1" dirty="0">
                <a:solidFill>
                  <a:schemeClr val="bg2"/>
                </a:solidFill>
              </a:rPr>
              <a:t>为什么要对关系代数表达式进行优化？有哪三条启发式规则？对优化起什么作用？ </a:t>
            </a:r>
            <a:endParaRPr kumimoji="1" lang="en-US" altLang="zh-CN" sz="2000" b="1" dirty="0">
              <a:solidFill>
                <a:schemeClr val="bg2"/>
              </a:solidFill>
            </a:endParaRPr>
          </a:p>
          <a:p>
            <a:pPr>
              <a:lnSpc>
                <a:spcPct val="150000"/>
              </a:lnSpc>
              <a:spcBef>
                <a:spcPts val="0"/>
              </a:spcBef>
            </a:pPr>
            <a:endParaRPr lang="en-US" altLang="zh-CN" sz="2000" dirty="0">
              <a:solidFill>
                <a:schemeClr val="bg2"/>
              </a:solidFill>
            </a:endParaRPr>
          </a:p>
          <a:p>
            <a:pPr>
              <a:lnSpc>
                <a:spcPct val="150000"/>
              </a:lnSpc>
              <a:spcBef>
                <a:spcPts val="0"/>
              </a:spcBef>
            </a:pPr>
            <a:endParaRPr kumimoji="1" lang="zh-CN" altLang="en-US" sz="2800" dirty="0">
              <a:solidFill>
                <a:schemeClr val="bg2"/>
              </a:solidFill>
            </a:endParaRPr>
          </a:p>
        </p:txBody>
      </p:sp>
      <p:sp>
        <p:nvSpPr>
          <p:cNvPr id="5" name="文本框 4">
            <a:extLst>
              <a:ext uri="{FF2B5EF4-FFF2-40B4-BE49-F238E27FC236}">
                <a16:creationId xmlns:a16="http://schemas.microsoft.com/office/drawing/2014/main" id="{D4B26A30-FDC5-E481-A1E9-1B061EEDDCF9}"/>
              </a:ext>
            </a:extLst>
          </p:cNvPr>
          <p:cNvSpPr txBox="1"/>
          <p:nvPr/>
        </p:nvSpPr>
        <p:spPr>
          <a:xfrm>
            <a:off x="539552" y="1700808"/>
            <a:ext cx="8064896" cy="3766865"/>
          </a:xfrm>
          <a:prstGeom prst="rect">
            <a:avLst/>
          </a:prstGeom>
          <a:noFill/>
        </p:spPr>
        <p:txBody>
          <a:bodyPr wrap="square">
            <a:spAutoFit/>
          </a:bodyPr>
          <a:lstStyle/>
          <a:p>
            <a:pPr>
              <a:lnSpc>
                <a:spcPct val="150000"/>
              </a:lnSpc>
              <a:spcBef>
                <a:spcPts val="0"/>
              </a:spcBef>
            </a:pPr>
            <a:r>
              <a:rPr kumimoji="1" lang="zh-CN" altLang="en-US" sz="1800" dirty="0">
                <a:solidFill>
                  <a:schemeClr val="bg2"/>
                </a:solidFill>
              </a:rPr>
              <a:t>答：关系代数表达式由关系代数操作组合而成。操作中，以笛卡尔积和联接操作最费时，并生成大量的中间结果。如果直接按表达式书写的顺序执行，必将花费很多时间，并生成大量的中间结果，效率较低。在执行前，由 </a:t>
            </a:r>
            <a:r>
              <a:rPr kumimoji="1" lang="en-US" altLang="zh-CN" sz="1800" dirty="0">
                <a:solidFill>
                  <a:schemeClr val="bg2"/>
                </a:solidFill>
              </a:rPr>
              <a:t>DBMS </a:t>
            </a:r>
            <a:r>
              <a:rPr kumimoji="1" lang="zh-CN" altLang="en-US" sz="1800" dirty="0">
                <a:solidFill>
                  <a:schemeClr val="bg2"/>
                </a:solidFill>
              </a:rPr>
              <a:t>的查询子系统先对关系代数表达式进行优化，尽可能先执行选择和投影操作，以便减少中间结果，并节省时间。</a:t>
            </a:r>
            <a:r>
              <a:rPr lang="zh-CN" altLang="en-US" sz="1800" dirty="0">
                <a:solidFill>
                  <a:schemeClr val="bg2"/>
                </a:solidFill>
              </a:rPr>
              <a:t>优化工作是由 </a:t>
            </a:r>
            <a:r>
              <a:rPr lang="en-US" altLang="zh-CN" sz="1800" dirty="0">
                <a:solidFill>
                  <a:schemeClr val="bg2"/>
                </a:solidFill>
              </a:rPr>
              <a:t>DBMS </a:t>
            </a:r>
            <a:r>
              <a:rPr lang="zh-CN" altLang="en-US" sz="1800" dirty="0">
                <a:solidFill>
                  <a:schemeClr val="bg2"/>
                </a:solidFill>
              </a:rPr>
              <a:t>做的，用户书写时不必关心优化一事，仍以简练的形式书写。 </a:t>
            </a:r>
            <a:endParaRPr lang="en-US" altLang="zh-CN" sz="1800" dirty="0">
              <a:solidFill>
                <a:schemeClr val="bg2"/>
              </a:solidFill>
            </a:endParaRPr>
          </a:p>
          <a:p>
            <a:pPr>
              <a:lnSpc>
                <a:spcPct val="150000"/>
              </a:lnSpc>
              <a:spcBef>
                <a:spcPts val="0"/>
              </a:spcBef>
            </a:pPr>
            <a:r>
              <a:rPr lang="zh-CN" altLang="en-US" sz="1800" b="1" dirty="0">
                <a:solidFill>
                  <a:schemeClr val="bg2"/>
                </a:solidFill>
              </a:rPr>
              <a:t>三条启发式规则是</a:t>
            </a:r>
            <a:r>
              <a:rPr lang="zh-CN" altLang="en-US" sz="1800" dirty="0">
                <a:solidFill>
                  <a:schemeClr val="bg2"/>
                </a:solidFill>
              </a:rPr>
              <a:t>：</a:t>
            </a:r>
            <a:r>
              <a:rPr lang="zh-CN" altLang="en-US" sz="1800" u="sng" dirty="0">
                <a:solidFill>
                  <a:schemeClr val="bg2"/>
                </a:solidFill>
              </a:rPr>
              <a:t>尽可能早执行选择操作</a:t>
            </a:r>
            <a:r>
              <a:rPr lang="zh-CN" altLang="en-US" sz="1800" dirty="0">
                <a:solidFill>
                  <a:schemeClr val="bg2"/>
                </a:solidFill>
              </a:rPr>
              <a:t>；</a:t>
            </a:r>
            <a:r>
              <a:rPr lang="zh-CN" altLang="en-US" sz="1800" u="sng" dirty="0">
                <a:solidFill>
                  <a:schemeClr val="bg2"/>
                </a:solidFill>
              </a:rPr>
              <a:t>尽可能早执行投影操作</a:t>
            </a:r>
            <a:r>
              <a:rPr lang="zh-CN" altLang="en-US" sz="1800" dirty="0">
                <a:solidFill>
                  <a:schemeClr val="bg2"/>
                </a:solidFill>
              </a:rPr>
              <a:t>；</a:t>
            </a:r>
            <a:r>
              <a:rPr lang="zh-CN" altLang="en-US" sz="1800" u="sng" dirty="0">
                <a:solidFill>
                  <a:schemeClr val="bg2"/>
                </a:solidFill>
              </a:rPr>
              <a:t>把笛卡尔积与附近的一连串选择和投影合并起来做</a:t>
            </a:r>
            <a:r>
              <a:rPr lang="zh-CN" altLang="en-US" sz="1800" dirty="0">
                <a:solidFill>
                  <a:schemeClr val="bg2"/>
                </a:solidFill>
              </a:rPr>
              <a:t>。使用这三条规则，可以使计算时尽可能减少中间关系的数据量。</a:t>
            </a:r>
            <a:endParaRPr kumimoji="1" lang="zh-CN" altLang="en-US" sz="1800" dirty="0">
              <a:solidFill>
                <a:schemeClr val="bg2"/>
              </a:solidFill>
            </a:endParaRPr>
          </a:p>
        </p:txBody>
      </p:sp>
    </p:spTree>
    <p:extLst>
      <p:ext uri="{BB962C8B-B14F-4D97-AF65-F5344CB8AC3E}">
        <p14:creationId xmlns:p14="http://schemas.microsoft.com/office/powerpoint/2010/main" val="25185614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2" name="Rectangle 2">
            <a:extLst>
              <a:ext uri="{FF2B5EF4-FFF2-40B4-BE49-F238E27FC236}">
                <a16:creationId xmlns:a16="http://schemas.microsoft.com/office/drawing/2014/main" id="{643326E7-FF3C-A14E-B8DE-E6B18D19FACD}"/>
              </a:ext>
            </a:extLst>
          </p:cNvPr>
          <p:cNvSpPr>
            <a:spLocks noChangeArrowheads="1"/>
          </p:cNvSpPr>
          <p:nvPr/>
        </p:nvSpPr>
        <p:spPr bwMode="auto">
          <a:xfrm>
            <a:off x="820738" y="2166938"/>
            <a:ext cx="7705725" cy="42463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200000"/>
              </a:lnSpc>
              <a:spcBef>
                <a:spcPct val="0"/>
              </a:spcBef>
              <a:buClrTx/>
              <a:buSzTx/>
              <a:buFontTx/>
              <a:buNone/>
            </a:pPr>
            <a:r>
              <a:rPr lang="zh-CN" altLang="en-US" sz="2800" b="1" dirty="0">
                <a:solidFill>
                  <a:schemeClr val="bg2"/>
                </a:solidFill>
                <a:latin typeface="宋体" panose="02010600030101010101" pitchFamily="2" charset="-122"/>
              </a:rPr>
              <a:t>精 读</a:t>
            </a:r>
            <a:r>
              <a:rPr lang="en-US" altLang="zh-CN" sz="2800" b="1" dirty="0">
                <a:solidFill>
                  <a:schemeClr val="bg2"/>
                </a:solidFill>
                <a:latin typeface="宋体" panose="02010600030101010101" pitchFamily="2" charset="-122"/>
              </a:rPr>
              <a:t>:  </a:t>
            </a:r>
            <a:r>
              <a:rPr lang="zh-CN" altLang="en-US" sz="2800" b="1" dirty="0">
                <a:solidFill>
                  <a:schemeClr val="bg2"/>
                </a:solidFill>
                <a:latin typeface="宋体" panose="02010600030101010101" pitchFamily="2" charset="-122"/>
              </a:rPr>
              <a:t>教材     </a:t>
            </a:r>
            <a:r>
              <a:rPr lang="en-US" altLang="zh-CN" sz="2800" b="1" dirty="0">
                <a:solidFill>
                  <a:schemeClr val="bg2"/>
                </a:solidFill>
                <a:latin typeface="宋体" panose="02010600030101010101" pitchFamily="2" charset="-122"/>
              </a:rPr>
              <a:t>P.40 </a:t>
            </a:r>
            <a:r>
              <a:rPr lang="en-US" altLang="zh-CN" sz="2800" b="1" dirty="0">
                <a:solidFill>
                  <a:schemeClr val="bg2"/>
                </a:solidFill>
                <a:latin typeface="宋体" panose="02010600030101010101" pitchFamily="2" charset="-122"/>
                <a:sym typeface="Symbol" pitchFamily="2" charset="2"/>
              </a:rPr>
              <a:t> P.</a:t>
            </a:r>
            <a:r>
              <a:rPr lang="en-US" altLang="zh-CN" sz="2800" b="1" dirty="0">
                <a:solidFill>
                  <a:schemeClr val="bg2"/>
                </a:solidFill>
                <a:latin typeface="宋体" panose="02010600030101010101" pitchFamily="2" charset="-122"/>
              </a:rPr>
              <a:t>66</a:t>
            </a:r>
          </a:p>
          <a:p>
            <a:pPr algn="just">
              <a:lnSpc>
                <a:spcPct val="200000"/>
              </a:lnSpc>
              <a:spcBef>
                <a:spcPct val="0"/>
              </a:spcBef>
              <a:buClrTx/>
              <a:buSzTx/>
              <a:buFontTx/>
              <a:buNone/>
            </a:pPr>
            <a:r>
              <a:rPr lang="zh-CN" altLang="en-US" sz="2800" b="1" dirty="0">
                <a:solidFill>
                  <a:schemeClr val="bg2"/>
                </a:solidFill>
                <a:latin typeface="宋体" panose="02010600030101010101" pitchFamily="2" charset="-122"/>
              </a:rPr>
              <a:t>习 题</a:t>
            </a:r>
            <a:r>
              <a:rPr lang="en-US" altLang="zh-CN" sz="2800" b="1" dirty="0">
                <a:solidFill>
                  <a:schemeClr val="bg2"/>
                </a:solidFill>
                <a:latin typeface="宋体" panose="02010600030101010101" pitchFamily="2" charset="-122"/>
              </a:rPr>
              <a:t>3</a:t>
            </a:r>
            <a:r>
              <a:rPr lang="zh-CN" altLang="en-US" sz="2800" b="1" dirty="0">
                <a:solidFill>
                  <a:schemeClr val="bg2"/>
                </a:solidFill>
                <a:latin typeface="宋体" panose="02010600030101010101" pitchFamily="2" charset="-122"/>
              </a:rPr>
              <a:t>：  </a:t>
            </a:r>
            <a:r>
              <a:rPr lang="en-US" altLang="zh-CN" sz="2800" b="1" dirty="0">
                <a:solidFill>
                  <a:schemeClr val="bg2"/>
                </a:solidFill>
                <a:latin typeface="宋体" panose="02010600030101010101" pitchFamily="2" charset="-122"/>
              </a:rPr>
              <a:t>P.67   6 </a:t>
            </a:r>
            <a:r>
              <a:rPr lang="en-US" altLang="zh-CN" sz="2800" b="1" dirty="0">
                <a:solidFill>
                  <a:schemeClr val="bg2"/>
                </a:solidFill>
                <a:latin typeface="宋体" panose="02010600030101010101" pitchFamily="2" charset="-122"/>
                <a:sym typeface="Symbol" pitchFamily="2" charset="2"/>
              </a:rPr>
              <a:t></a:t>
            </a:r>
            <a:r>
              <a:rPr lang="en-US" altLang="zh-CN" sz="2800" b="1" dirty="0">
                <a:latin typeface="宋体" panose="02010600030101010101" pitchFamily="2" charset="-122"/>
                <a:sym typeface="Symbol" pitchFamily="2" charset="2"/>
              </a:rPr>
              <a:t> </a:t>
            </a:r>
            <a:r>
              <a:rPr lang="en-US" altLang="zh-CN" sz="2800" b="1" dirty="0">
                <a:solidFill>
                  <a:schemeClr val="bg2"/>
                </a:solidFill>
                <a:latin typeface="宋体" panose="02010600030101010101" pitchFamily="2" charset="-122"/>
              </a:rPr>
              <a:t>15</a:t>
            </a:r>
          </a:p>
          <a:p>
            <a:pPr algn="just">
              <a:lnSpc>
                <a:spcPct val="200000"/>
              </a:lnSpc>
              <a:spcBef>
                <a:spcPct val="0"/>
              </a:spcBef>
              <a:buClrTx/>
              <a:buSzTx/>
              <a:buFontTx/>
              <a:buNone/>
            </a:pPr>
            <a:r>
              <a:rPr lang="zh-CN" altLang="en-US" sz="2800" b="1" dirty="0">
                <a:solidFill>
                  <a:schemeClr val="bg2"/>
                </a:solidFill>
                <a:latin typeface="宋体" panose="02010600030101010101" pitchFamily="2" charset="-122"/>
              </a:rPr>
              <a:t>（实验三）熟悉数据库应用开发环境（可自选开发环境）</a:t>
            </a:r>
            <a:endParaRPr lang="en-US" altLang="zh-CN" sz="2800" b="1" dirty="0">
              <a:solidFill>
                <a:schemeClr val="bg2"/>
              </a:solidFill>
              <a:latin typeface="宋体" panose="02010600030101010101" pitchFamily="2" charset="-122"/>
            </a:endParaRPr>
          </a:p>
          <a:p>
            <a:pPr algn="just">
              <a:lnSpc>
                <a:spcPct val="200000"/>
              </a:lnSpc>
              <a:spcBef>
                <a:spcPct val="0"/>
              </a:spcBef>
              <a:buClrTx/>
              <a:buSzTx/>
              <a:buFontTx/>
              <a:buNone/>
            </a:pPr>
            <a:endParaRPr lang="en-US" altLang="zh-CN" sz="2800" b="1" dirty="0">
              <a:solidFill>
                <a:schemeClr val="bg2"/>
              </a:solidFill>
              <a:latin typeface="宋体" panose="02010600030101010101" pitchFamily="2" charset="-122"/>
            </a:endParaRPr>
          </a:p>
        </p:txBody>
      </p:sp>
      <p:grpSp>
        <p:nvGrpSpPr>
          <p:cNvPr id="71683" name="组合 1">
            <a:extLst>
              <a:ext uri="{FF2B5EF4-FFF2-40B4-BE49-F238E27FC236}">
                <a16:creationId xmlns:a16="http://schemas.microsoft.com/office/drawing/2014/main" id="{76DA014D-B080-374A-BFC3-9B4011EF8A9C}"/>
              </a:ext>
            </a:extLst>
          </p:cNvPr>
          <p:cNvGrpSpPr>
            <a:grpSpLocks/>
          </p:cNvGrpSpPr>
          <p:nvPr/>
        </p:nvGrpSpPr>
        <p:grpSpPr bwMode="auto">
          <a:xfrm>
            <a:off x="222250" y="131763"/>
            <a:ext cx="8382000" cy="1428750"/>
            <a:chOff x="222250" y="131203"/>
            <a:chExt cx="8382000" cy="1429310"/>
          </a:xfrm>
        </p:grpSpPr>
        <p:grpSp>
          <p:nvGrpSpPr>
            <p:cNvPr id="71684" name="Group 3">
              <a:extLst>
                <a:ext uri="{FF2B5EF4-FFF2-40B4-BE49-F238E27FC236}">
                  <a16:creationId xmlns:a16="http://schemas.microsoft.com/office/drawing/2014/main" id="{C55C892E-D9B8-E046-B13D-E7FD99774777}"/>
                </a:ext>
              </a:extLst>
            </p:cNvPr>
            <p:cNvGrpSpPr>
              <a:grpSpLocks/>
            </p:cNvGrpSpPr>
            <p:nvPr/>
          </p:nvGrpSpPr>
          <p:grpSpPr bwMode="auto">
            <a:xfrm>
              <a:off x="222250" y="188913"/>
              <a:ext cx="8382000" cy="1371600"/>
              <a:chOff x="0" y="288"/>
              <a:chExt cx="5760" cy="864"/>
            </a:xfrm>
          </p:grpSpPr>
          <p:sp>
            <p:nvSpPr>
              <p:cNvPr id="71686" name="Rectangle 4">
                <a:extLst>
                  <a:ext uri="{FF2B5EF4-FFF2-40B4-BE49-F238E27FC236}">
                    <a16:creationId xmlns:a16="http://schemas.microsoft.com/office/drawing/2014/main" id="{4F5AC728-35EE-D747-AB62-DB256C135E96}"/>
                  </a:ext>
                </a:extLst>
              </p:cNvPr>
              <p:cNvSpPr>
                <a:spLocks noChangeArrowheads="1"/>
              </p:cNvSpPr>
              <p:nvPr/>
            </p:nvSpPr>
            <p:spPr bwMode="ltGray">
              <a:xfrm>
                <a:off x="196" y="377"/>
                <a:ext cx="428" cy="389"/>
              </a:xfrm>
              <a:prstGeom prst="rect">
                <a:avLst/>
              </a:prstGeom>
              <a:gradFill rotWithShape="0">
                <a:gsLst>
                  <a:gs pos="0">
                    <a:schemeClr val="bg1"/>
                  </a:gs>
                  <a:gs pos="100000">
                    <a:schemeClr val="accent1"/>
                  </a:gs>
                </a:gsLst>
                <a:lin ang="54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latin typeface="Tahoma" panose="020B0604030504040204" pitchFamily="34" charset="0"/>
                </a:endParaRPr>
              </a:p>
            </p:txBody>
          </p:sp>
          <p:sp>
            <p:nvSpPr>
              <p:cNvPr id="71687" name="Rectangle 5">
                <a:extLst>
                  <a:ext uri="{FF2B5EF4-FFF2-40B4-BE49-F238E27FC236}">
                    <a16:creationId xmlns:a16="http://schemas.microsoft.com/office/drawing/2014/main" id="{5E9D9F96-CF1B-4642-968D-86CB39A26BCB}"/>
                  </a:ext>
                </a:extLst>
              </p:cNvPr>
              <p:cNvSpPr>
                <a:spLocks noChangeArrowheads="1"/>
              </p:cNvSpPr>
              <p:nvPr/>
            </p:nvSpPr>
            <p:spPr bwMode="ltGray">
              <a:xfrm>
                <a:off x="279" y="723"/>
                <a:ext cx="285" cy="390"/>
              </a:xfrm>
              <a:prstGeom prst="rect">
                <a:avLst/>
              </a:prstGeom>
              <a:solidFill>
                <a:schemeClr val="folHlink"/>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latin typeface="Tahoma" panose="020B0604030504040204" pitchFamily="34" charset="0"/>
                </a:endParaRPr>
              </a:p>
            </p:txBody>
          </p:sp>
          <p:sp>
            <p:nvSpPr>
              <p:cNvPr id="71688" name="Rectangle 6">
                <a:extLst>
                  <a:ext uri="{FF2B5EF4-FFF2-40B4-BE49-F238E27FC236}">
                    <a16:creationId xmlns:a16="http://schemas.microsoft.com/office/drawing/2014/main" id="{DE003813-F483-7B47-9427-83CB33B4E503}"/>
                  </a:ext>
                </a:extLst>
              </p:cNvPr>
              <p:cNvSpPr>
                <a:spLocks noChangeArrowheads="1"/>
              </p:cNvSpPr>
              <p:nvPr/>
            </p:nvSpPr>
            <p:spPr bwMode="ltGray">
              <a:xfrm>
                <a:off x="529" y="723"/>
                <a:ext cx="248" cy="390"/>
              </a:xfrm>
              <a:prstGeom prst="rect">
                <a:avLst/>
              </a:prstGeom>
              <a:gradFill rotWithShape="0">
                <a:gsLst>
                  <a:gs pos="0">
                    <a:schemeClr val="folHlink"/>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latin typeface="Tahoma" panose="020B0604030504040204" pitchFamily="34" charset="0"/>
                </a:endParaRPr>
              </a:p>
            </p:txBody>
          </p:sp>
          <p:sp>
            <p:nvSpPr>
              <p:cNvPr id="71689" name="Rectangle 7">
                <a:extLst>
                  <a:ext uri="{FF2B5EF4-FFF2-40B4-BE49-F238E27FC236}">
                    <a16:creationId xmlns:a16="http://schemas.microsoft.com/office/drawing/2014/main" id="{DED0ED2D-E84F-934F-B518-1704915458F0}"/>
                  </a:ext>
                </a:extLst>
              </p:cNvPr>
              <p:cNvSpPr>
                <a:spLocks noChangeArrowheads="1"/>
              </p:cNvSpPr>
              <p:nvPr/>
            </p:nvSpPr>
            <p:spPr bwMode="ltGray">
              <a:xfrm>
                <a:off x="0" y="576"/>
                <a:ext cx="432" cy="384"/>
              </a:xfrm>
              <a:prstGeom prst="rect">
                <a:avLst/>
              </a:prstGeom>
              <a:gradFill rotWithShape="0">
                <a:gsLst>
                  <a:gs pos="0">
                    <a:schemeClr val="bg1"/>
                  </a:gs>
                  <a:gs pos="100000">
                    <a:schemeClr val="hlink"/>
                  </a:gs>
                </a:gsLst>
                <a:lin ang="1890000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latin typeface="Tahoma" panose="020B0604030504040204" pitchFamily="34" charset="0"/>
                </a:endParaRPr>
              </a:p>
            </p:txBody>
          </p:sp>
          <p:sp>
            <p:nvSpPr>
              <p:cNvPr id="71690" name="Rectangle 8">
                <a:extLst>
                  <a:ext uri="{FF2B5EF4-FFF2-40B4-BE49-F238E27FC236}">
                    <a16:creationId xmlns:a16="http://schemas.microsoft.com/office/drawing/2014/main" id="{68D2641A-41E4-F443-A0C9-18C19050F556}"/>
                  </a:ext>
                </a:extLst>
              </p:cNvPr>
              <p:cNvSpPr>
                <a:spLocks noChangeArrowheads="1"/>
              </p:cNvSpPr>
              <p:nvPr/>
            </p:nvSpPr>
            <p:spPr bwMode="gray">
              <a:xfrm>
                <a:off x="428" y="288"/>
                <a:ext cx="22" cy="864"/>
              </a:xfrm>
              <a:prstGeom prst="rect">
                <a:avLst/>
              </a:prstGeom>
              <a:solidFill>
                <a:schemeClr val="bg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latin typeface="Tahoma" panose="020B0604030504040204" pitchFamily="34" charset="0"/>
                </a:endParaRPr>
              </a:p>
            </p:txBody>
          </p:sp>
          <p:sp>
            <p:nvSpPr>
              <p:cNvPr id="71691" name="Rectangle 9">
                <a:extLst>
                  <a:ext uri="{FF2B5EF4-FFF2-40B4-BE49-F238E27FC236}">
                    <a16:creationId xmlns:a16="http://schemas.microsoft.com/office/drawing/2014/main" id="{9DAC7DC6-CC85-3242-B23B-51AC5B11B780}"/>
                  </a:ext>
                </a:extLst>
              </p:cNvPr>
              <p:cNvSpPr>
                <a:spLocks noChangeArrowheads="1"/>
              </p:cNvSpPr>
              <p:nvPr/>
            </p:nvSpPr>
            <p:spPr bwMode="gray">
              <a:xfrm>
                <a:off x="213" y="937"/>
                <a:ext cx="5547" cy="26"/>
              </a:xfrm>
              <a:prstGeom prst="rect">
                <a:avLst/>
              </a:prstGeom>
              <a:gradFill rotWithShape="0">
                <a:gsLst>
                  <a:gs pos="0">
                    <a:schemeClr val="bg2"/>
                  </a:gs>
                  <a:gs pos="100000">
                    <a:schemeClr val="bg1"/>
                  </a:gs>
                </a:gsLst>
                <a:lin ang="0" scaled="1"/>
              </a:gra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ctr" eaLnBrk="1" hangingPunct="1">
                  <a:spcBef>
                    <a:spcPct val="0"/>
                  </a:spcBef>
                  <a:buClrTx/>
                  <a:buSzTx/>
                  <a:buFontTx/>
                  <a:buNone/>
                </a:pPr>
                <a:endParaRPr lang="zh-CN" altLang="zh-CN" sz="2400">
                  <a:latin typeface="Tahoma" panose="020B0604030504040204" pitchFamily="34" charset="0"/>
                </a:endParaRPr>
              </a:p>
            </p:txBody>
          </p:sp>
        </p:grpSp>
        <p:sp>
          <p:nvSpPr>
            <p:cNvPr id="2" name="Text Box 10">
              <a:extLst>
                <a:ext uri="{FF2B5EF4-FFF2-40B4-BE49-F238E27FC236}">
                  <a16:creationId xmlns:a16="http://schemas.microsoft.com/office/drawing/2014/main" id="{7F5DDC04-562A-D941-B151-8512DF392560}"/>
                </a:ext>
              </a:extLst>
            </p:cNvPr>
            <p:cNvSpPr txBox="1">
              <a:spLocks noChangeArrowheads="1"/>
            </p:cNvSpPr>
            <p:nvPr/>
          </p:nvSpPr>
          <p:spPr bwMode="auto">
            <a:xfrm>
              <a:off x="1763713" y="131203"/>
              <a:ext cx="5184775" cy="1010046"/>
            </a:xfrm>
            <a:prstGeom prst="rect">
              <a:avLst/>
            </a:prstGeom>
            <a:noFill/>
            <a:ln>
              <a:noFill/>
            </a:ln>
            <a:effectLst/>
          </p:spPr>
          <p:txBody>
            <a:bodyPr>
              <a:spAutoFit/>
            </a:bodyPr>
            <a:lstStyle>
              <a:lvl1pPr indent="609600">
                <a:spcBef>
                  <a:spcPct val="20000"/>
                </a:spcBef>
                <a:buClr>
                  <a:schemeClr val="accent2"/>
                </a:buClr>
                <a:buSzPct val="80000"/>
                <a:buFont typeface="Wingdings" pitchFamily="2" charset="2"/>
                <a:buChar char="l"/>
                <a:defRPr kumimoji="1" sz="3200">
                  <a:solidFill>
                    <a:schemeClr val="tx1"/>
                  </a:solidFill>
                  <a:latin typeface="Times New Roman" panose="02020603050405020304" pitchFamily="18" charset="0"/>
                  <a:ea typeface="宋体" panose="02010600030101010101" pitchFamily="2" charset="-122"/>
                </a:defRPr>
              </a:lvl1pPr>
              <a:lvl2pPr marL="742950" indent="-285750">
                <a:spcBef>
                  <a:spcPct val="20000"/>
                </a:spcBef>
                <a:buClr>
                  <a:schemeClr val="tx1"/>
                </a:buClr>
                <a:buSzPct val="90000"/>
                <a:buChar char="–"/>
                <a:defRPr kumimoji="1" sz="2800">
                  <a:solidFill>
                    <a:schemeClr val="tx1"/>
                  </a:solidFill>
                  <a:latin typeface="Times New Roman" panose="02020603050405020304" pitchFamily="18" charset="0"/>
                  <a:ea typeface="宋体" panose="02010600030101010101" pitchFamily="2" charset="-122"/>
                </a:defRPr>
              </a:lvl2pPr>
              <a:lvl3pPr marL="1143000" indent="-228600">
                <a:spcBef>
                  <a:spcPct val="20000"/>
                </a:spcBef>
                <a:buClr>
                  <a:schemeClr val="accent1"/>
                </a:buClr>
                <a:buSzPct val="60000"/>
                <a:buFont typeface="Wingdings" pitchFamily="2" charset="2"/>
                <a:buChar char="l"/>
                <a:defRPr kumimoji="1" sz="2400">
                  <a:solidFill>
                    <a:schemeClr val="tx1"/>
                  </a:solidFill>
                  <a:latin typeface="Times New Roman" panose="02020603050405020304" pitchFamily="18" charset="0"/>
                  <a:ea typeface="宋体" panose="02010600030101010101" pitchFamily="2" charset="-122"/>
                </a:defRPr>
              </a:lvl3pPr>
              <a:lvl4pPr marL="1600200" indent="-228600">
                <a:spcBef>
                  <a:spcPct val="20000"/>
                </a:spcBef>
                <a:buClr>
                  <a:schemeClr val="tx1"/>
                </a:buClr>
                <a:buChar char="–"/>
                <a:defRPr kumimoji="1" sz="2000">
                  <a:solidFill>
                    <a:schemeClr val="tx1"/>
                  </a:solidFill>
                  <a:latin typeface="Times New Roman" panose="02020603050405020304" pitchFamily="18" charset="0"/>
                  <a:ea typeface="宋体" panose="02010600030101010101" pitchFamily="2" charset="-122"/>
                </a:defRPr>
              </a:lvl4pPr>
              <a:lvl5pPr marL="2057400" indent="-228600">
                <a:spcBef>
                  <a:spcPct val="20000"/>
                </a:spcBef>
                <a:buClr>
                  <a:schemeClr val="accent1"/>
                </a:buClr>
                <a:buChar char="•"/>
                <a:defRPr kumimoji="1" sz="2000">
                  <a:solidFill>
                    <a:schemeClr val="tx1"/>
                  </a:solidFill>
                  <a:latin typeface="Times New Roman" panose="02020603050405020304" pitchFamily="18" charset="0"/>
                  <a:ea typeface="宋体" panose="02010600030101010101" pitchFamily="2" charset="-122"/>
                </a:defRPr>
              </a:lvl5pPr>
              <a:lvl6pPr marL="25146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6pPr>
              <a:lvl7pPr marL="29718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7pPr>
              <a:lvl8pPr marL="34290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8pPr>
              <a:lvl9pPr marL="3886200" indent="-228600" eaLnBrk="0" fontAlgn="base" hangingPunct="0">
                <a:spcBef>
                  <a:spcPct val="20000"/>
                </a:spcBef>
                <a:spcAft>
                  <a:spcPct val="0"/>
                </a:spcAft>
                <a:buClr>
                  <a:schemeClr val="accent1"/>
                </a:buClr>
                <a:buChar char="•"/>
                <a:defRPr kumimoji="1" sz="2000">
                  <a:solidFill>
                    <a:schemeClr val="tx1"/>
                  </a:solidFill>
                  <a:latin typeface="Times New Roman" panose="02020603050405020304" pitchFamily="18" charset="0"/>
                  <a:ea typeface="宋体" panose="02010600030101010101" pitchFamily="2" charset="-122"/>
                </a:defRPr>
              </a:lvl9pPr>
            </a:lstStyle>
            <a:p>
              <a:pPr algn="just">
                <a:lnSpc>
                  <a:spcPct val="180000"/>
                </a:lnSpc>
                <a:spcBef>
                  <a:spcPct val="50000"/>
                </a:spcBef>
                <a:buClrTx/>
                <a:buSzTx/>
                <a:buFontTx/>
                <a:buNone/>
              </a:pPr>
              <a:r>
                <a:rPr lang="zh-CN" altLang="en-US" sz="4000" b="1">
                  <a:solidFill>
                    <a:srgbClr val="990000"/>
                  </a:solidFill>
                  <a:effectLst>
                    <a:outerShdw blurRad="38100" dist="38100" dir="2700000" algn="tl">
                      <a:srgbClr val="C0C0C0"/>
                    </a:outerShdw>
                  </a:effectLst>
                  <a:latin typeface="楷体" panose="02010609060101010101" pitchFamily="49" charset="-122"/>
                  <a:ea typeface="楷体" panose="02010609060101010101" pitchFamily="49" charset="-122"/>
                </a:rPr>
                <a:t>精读和习题要求</a:t>
              </a:r>
            </a:p>
          </p:txBody>
        </p:sp>
      </p:gr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DC46BE-097E-BD35-0055-8506F1F9E63E}"/>
            </a:ext>
          </a:extLst>
        </p:cNvPr>
        <p:cNvGrpSpPr/>
        <p:nvPr/>
      </p:nvGrpSpPr>
      <p:grpSpPr>
        <a:xfrm>
          <a:off x="0" y="0"/>
          <a:ext cx="0" cy="0"/>
          <a:chOff x="0" y="0"/>
          <a:chExt cx="0" cy="0"/>
        </a:xfrm>
      </p:grpSpPr>
      <p:sp>
        <p:nvSpPr>
          <p:cNvPr id="708610" name="Rectangle 2">
            <a:extLst>
              <a:ext uri="{FF2B5EF4-FFF2-40B4-BE49-F238E27FC236}">
                <a16:creationId xmlns:a16="http://schemas.microsoft.com/office/drawing/2014/main" id="{48385F36-B4F1-2A4C-CF52-C2925217A040}"/>
              </a:ext>
            </a:extLst>
          </p:cNvPr>
          <p:cNvSpPr>
            <a:spLocks noChangeArrowheads="1"/>
          </p:cNvSpPr>
          <p:nvPr/>
        </p:nvSpPr>
        <p:spPr bwMode="auto">
          <a:xfrm>
            <a:off x="-17925" y="2171218"/>
            <a:ext cx="9144000" cy="1113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50000"/>
              </a:lnSpc>
              <a:spcBef>
                <a:spcPts val="0"/>
              </a:spcBef>
            </a:pPr>
            <a:r>
              <a:rPr lang="en-US" altLang="zh-CN" sz="2400" b="1" dirty="0">
                <a:solidFill>
                  <a:srgbClr val="660033"/>
                </a:solidFill>
              </a:rPr>
              <a:t>{</a:t>
            </a:r>
            <a:r>
              <a:rPr lang="en-US" altLang="zh-CN" sz="2400" b="1" dirty="0">
                <a:solidFill>
                  <a:srgbClr val="FF0000"/>
                </a:solidFill>
              </a:rPr>
              <a:t>t</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a:t>
            </a:r>
            <a:r>
              <a:rPr lang="en-US" altLang="zh-CN" sz="2400" b="1" dirty="0">
                <a:solidFill>
                  <a:srgbClr val="660033"/>
                </a:solidFill>
                <a:sym typeface="Symbol" pitchFamily="18" charset="2"/>
              </a:rPr>
              <a:t></a:t>
            </a:r>
            <a:r>
              <a:rPr lang="en-US" altLang="zh-CN" sz="2400" b="1" dirty="0">
                <a:solidFill>
                  <a:srgbClr val="660033"/>
                </a:solidFill>
              </a:rPr>
              <a:t>v)(J(u)</a:t>
            </a:r>
            <a:r>
              <a:rPr lang="en-US" altLang="zh-CN" sz="2400" b="1" dirty="0">
                <a:solidFill>
                  <a:srgbClr val="660033"/>
                </a:solidFill>
                <a:sym typeface="Symbol" pitchFamily="18" charset="2"/>
              </a:rPr>
              <a:t>∧SPJ(v)∧((</a:t>
            </a:r>
            <a:r>
              <a:rPr lang="en-US" altLang="zh-CN" sz="2400" b="1" dirty="0">
                <a:highlight>
                  <a:srgbClr val="0000FF"/>
                </a:highlight>
                <a:sym typeface="Symbol" pitchFamily="18" charset="2"/>
              </a:rPr>
              <a:t>u[l]</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v[3]</a:t>
            </a:r>
            <a:r>
              <a:rPr lang="en-US" altLang="zh-CN" sz="2400" b="1" dirty="0">
                <a:solidFill>
                  <a:srgbClr val="660033"/>
                </a:solidFill>
                <a:sym typeface="Symbol" pitchFamily="18" charset="2"/>
              </a:rPr>
              <a:t>)</a:t>
            </a:r>
            <a:r>
              <a:rPr lang="en-US" altLang="zh-CN" sz="2400" b="1" dirty="0">
                <a:solidFill>
                  <a:srgbClr val="660033"/>
                </a:solidFill>
              </a:rPr>
              <a:t> </a:t>
            </a:r>
            <a:r>
              <a:rPr lang="en-US" altLang="zh-CN" sz="2400" b="1" dirty="0">
                <a:solidFill>
                  <a:srgbClr val="660033"/>
                </a:solidFill>
                <a:highlight>
                  <a:srgbClr val="00FFFF"/>
                </a:highlight>
              </a:rPr>
              <a:t>v[2]</a:t>
            </a:r>
            <a:r>
              <a:rPr lang="en-US" altLang="zh-CN" sz="2400" b="1" dirty="0">
                <a:solidFill>
                  <a:srgbClr val="660033"/>
                </a:solidFill>
              </a:rPr>
              <a:t>≠</a:t>
            </a:r>
            <a:r>
              <a:rPr lang="en-US" altLang="zh-CN" sz="2400" b="1" dirty="0">
                <a:solidFill>
                  <a:srgbClr val="660033"/>
                </a:solidFill>
                <a:sym typeface="Symbol" pitchFamily="18" charset="2"/>
              </a:rPr>
              <a:t>’P3’)</a:t>
            </a:r>
            <a:r>
              <a:rPr lang="en-US" altLang="zh-CN" sz="2400" dirty="0">
                <a:solidFill>
                  <a:srgbClr val="660033"/>
                </a:solidFill>
              </a:rPr>
              <a:t> </a:t>
            </a:r>
          </a:p>
          <a:p>
            <a:pPr algn="l">
              <a:lnSpc>
                <a:spcPct val="150000"/>
              </a:lnSpc>
              <a:spcBef>
                <a:spcPts val="0"/>
              </a:spcBef>
            </a:pPr>
            <a:r>
              <a:rPr lang="en-US" altLang="zh-CN" sz="2400" b="1" dirty="0">
                <a:solidFill>
                  <a:srgbClr val="660033"/>
                </a:solidFill>
                <a:sym typeface="Symbol" pitchFamily="18" charset="2"/>
              </a:rPr>
              <a:t>      ∧</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[1]=</a:t>
            </a:r>
            <a:r>
              <a:rPr lang="en-US" altLang="zh-CN" sz="2400" b="1" dirty="0">
                <a:highlight>
                  <a:srgbClr val="0000FF"/>
                </a:highlight>
                <a:sym typeface="Symbol" pitchFamily="18" charset="2"/>
              </a:rPr>
              <a:t>u[l]</a:t>
            </a:r>
            <a:r>
              <a:rPr lang="en-US" altLang="zh-CN" sz="2400" b="1" dirty="0">
                <a:solidFill>
                  <a:srgbClr val="660033"/>
                </a:solidFill>
                <a:sym typeface="Symbol" pitchFamily="18" charset="2"/>
              </a:rPr>
              <a:t>∧</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[2]=</a:t>
            </a:r>
            <a:r>
              <a:rPr lang="en-US" altLang="zh-CN" sz="2400" b="1" dirty="0">
                <a:highlight>
                  <a:srgbClr val="0000FF"/>
                </a:highlight>
                <a:sym typeface="Symbol" pitchFamily="18" charset="2"/>
              </a:rPr>
              <a:t>u[2]</a:t>
            </a:r>
            <a:r>
              <a:rPr lang="en-US" altLang="zh-CN" sz="2400" b="1" dirty="0">
                <a:solidFill>
                  <a:srgbClr val="660033"/>
                </a:solidFill>
                <a:sym typeface="Symbol" pitchFamily="18" charset="2"/>
              </a:rPr>
              <a:t>)}</a:t>
            </a:r>
          </a:p>
        </p:txBody>
      </p:sp>
      <p:sp>
        <p:nvSpPr>
          <p:cNvPr id="708611" name="Rectangle 3">
            <a:extLst>
              <a:ext uri="{FF2B5EF4-FFF2-40B4-BE49-F238E27FC236}">
                <a16:creationId xmlns:a16="http://schemas.microsoft.com/office/drawing/2014/main" id="{3798EA3B-F5DD-0F13-7FD1-E4F8003CDA3F}"/>
              </a:ext>
            </a:extLst>
          </p:cNvPr>
          <p:cNvSpPr>
            <a:spLocks noChangeArrowheads="1"/>
          </p:cNvSpPr>
          <p:nvPr/>
        </p:nvSpPr>
        <p:spPr bwMode="auto">
          <a:xfrm>
            <a:off x="-13801" y="1787043"/>
            <a:ext cx="8547533" cy="38779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400" b="1" dirty="0">
                <a:solidFill>
                  <a:schemeClr val="bg2"/>
                </a:solidFill>
              </a:rPr>
              <a:t>7.</a:t>
            </a:r>
            <a:r>
              <a:rPr lang="zh-CN" altLang="en-US" sz="2400" b="1" dirty="0">
                <a:solidFill>
                  <a:schemeClr val="bg2"/>
                </a:solidFill>
              </a:rPr>
              <a:t>检索不使用编号为</a:t>
            </a:r>
            <a:r>
              <a:rPr lang="en-US" altLang="zh-CN" sz="2400" b="1" dirty="0">
                <a:solidFill>
                  <a:schemeClr val="bg2"/>
                </a:solidFill>
              </a:rPr>
              <a:t>P3</a:t>
            </a:r>
            <a:r>
              <a:rPr lang="zh-CN" altLang="en-US" sz="2400" b="1" dirty="0">
                <a:solidFill>
                  <a:schemeClr val="bg2"/>
                </a:solidFill>
              </a:rPr>
              <a:t>零件的工程编号</a:t>
            </a:r>
            <a:r>
              <a:rPr lang="en-US" altLang="zh-CN" sz="2400" b="1" dirty="0">
                <a:solidFill>
                  <a:schemeClr val="bg2"/>
                </a:solidFill>
              </a:rPr>
              <a:t>JNO</a:t>
            </a:r>
            <a:r>
              <a:rPr lang="zh-CN" altLang="en-US" sz="2400" b="1" dirty="0">
                <a:solidFill>
                  <a:schemeClr val="bg2"/>
                </a:solidFill>
              </a:rPr>
              <a:t>和工程名称</a:t>
            </a:r>
            <a:r>
              <a:rPr lang="en-US" altLang="zh-CN" sz="2400" b="1" dirty="0">
                <a:solidFill>
                  <a:schemeClr val="bg2"/>
                </a:solidFill>
              </a:rPr>
              <a:t>JNAME</a:t>
            </a:r>
            <a:r>
              <a:rPr lang="zh-CN" altLang="en-US" sz="2400" b="1" dirty="0">
                <a:solidFill>
                  <a:schemeClr val="bg2"/>
                </a:solidFill>
              </a:rPr>
              <a:t>。</a:t>
            </a:r>
          </a:p>
        </p:txBody>
      </p:sp>
      <p:sp>
        <p:nvSpPr>
          <p:cNvPr id="708612" name="Rectangle 4">
            <a:extLst>
              <a:ext uri="{FF2B5EF4-FFF2-40B4-BE49-F238E27FC236}">
                <a16:creationId xmlns:a16="http://schemas.microsoft.com/office/drawing/2014/main" id="{9E13EE04-67B0-35D4-5421-691CABF73E43}"/>
              </a:ext>
            </a:extLst>
          </p:cNvPr>
          <p:cNvSpPr>
            <a:spLocks noChangeArrowheads="1"/>
          </p:cNvSpPr>
          <p:nvPr/>
        </p:nvSpPr>
        <p:spPr bwMode="auto">
          <a:xfrm>
            <a:off x="32709" y="3364434"/>
            <a:ext cx="8137525"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00000"/>
              </a:lnSpc>
              <a:spcBef>
                <a:spcPct val="0"/>
              </a:spcBef>
            </a:pPr>
            <a:r>
              <a:rPr lang="en-US" altLang="zh-CN" sz="2400" b="1" dirty="0">
                <a:solidFill>
                  <a:schemeClr val="bg2"/>
                </a:solidFill>
              </a:rPr>
              <a:t>8.</a:t>
            </a:r>
            <a:r>
              <a:rPr lang="zh-CN" altLang="en-US" sz="2400" b="1" dirty="0">
                <a:solidFill>
                  <a:schemeClr val="bg2"/>
                </a:solidFill>
              </a:rPr>
              <a:t>检索使用了全部零件的工程名称</a:t>
            </a:r>
            <a:r>
              <a:rPr lang="en-US" altLang="zh-CN" sz="2400" b="1" dirty="0">
                <a:solidFill>
                  <a:schemeClr val="bg2"/>
                </a:solidFill>
              </a:rPr>
              <a:t>JNAME</a:t>
            </a:r>
            <a:r>
              <a:rPr lang="zh-CN" altLang="en-US" sz="2400" b="1" dirty="0">
                <a:solidFill>
                  <a:schemeClr val="bg2"/>
                </a:solidFill>
              </a:rPr>
              <a:t>。</a:t>
            </a:r>
          </a:p>
        </p:txBody>
      </p:sp>
      <p:sp>
        <p:nvSpPr>
          <p:cNvPr id="708613" name="Rectangle 5">
            <a:extLst>
              <a:ext uri="{FF2B5EF4-FFF2-40B4-BE49-F238E27FC236}">
                <a16:creationId xmlns:a16="http://schemas.microsoft.com/office/drawing/2014/main" id="{AAB42479-AD92-AF7E-DF85-0CFE3C75C597}"/>
              </a:ext>
            </a:extLst>
          </p:cNvPr>
          <p:cNvSpPr>
            <a:spLocks noChangeArrowheads="1"/>
          </p:cNvSpPr>
          <p:nvPr/>
        </p:nvSpPr>
        <p:spPr bwMode="auto">
          <a:xfrm>
            <a:off x="-17925" y="3790560"/>
            <a:ext cx="8975534" cy="1113766"/>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spAutoFit/>
          </a:bodyPr>
          <a:lstStyle/>
          <a:p>
            <a:pPr algn="l">
              <a:lnSpc>
                <a:spcPct val="150000"/>
              </a:lnSpc>
              <a:spcBef>
                <a:spcPct val="0"/>
              </a:spcBef>
            </a:pPr>
            <a:r>
              <a:rPr lang="en-US" altLang="zh-CN" sz="2400" b="1" dirty="0">
                <a:solidFill>
                  <a:srgbClr val="660033"/>
                </a:solidFill>
              </a:rPr>
              <a:t>{</a:t>
            </a:r>
            <a:r>
              <a:rPr lang="en-US" altLang="zh-CN" sz="2400" b="1" dirty="0">
                <a:solidFill>
                  <a:srgbClr val="FF0000"/>
                </a:solidFill>
              </a:rPr>
              <a:t>t</a:t>
            </a:r>
            <a:r>
              <a:rPr lang="en-US" altLang="zh-CN" sz="2400" b="1" dirty="0">
                <a:solidFill>
                  <a:srgbClr val="660033"/>
                </a:solidFill>
              </a:rPr>
              <a:t>|(</a:t>
            </a:r>
            <a:r>
              <a:rPr lang="en-US" altLang="zh-CN" sz="2400" b="1" dirty="0">
                <a:solidFill>
                  <a:srgbClr val="660033"/>
                </a:solidFill>
                <a:sym typeface="Symbol" pitchFamily="18" charset="2"/>
              </a:rPr>
              <a:t></a:t>
            </a:r>
            <a:r>
              <a:rPr lang="en-US" altLang="zh-CN" sz="2400" b="1" dirty="0">
                <a:solidFill>
                  <a:srgbClr val="660033"/>
                </a:solidFill>
              </a:rPr>
              <a:t>u)(</a:t>
            </a:r>
            <a:r>
              <a:rPr lang="en-US" altLang="zh-CN" sz="2400" b="1" dirty="0">
                <a:solidFill>
                  <a:srgbClr val="660033"/>
                </a:solidFill>
                <a:sym typeface="Symbol" pitchFamily="18" charset="2"/>
              </a:rPr>
              <a:t></a:t>
            </a:r>
            <a:r>
              <a:rPr lang="en-US" altLang="zh-CN" sz="2400" b="1" dirty="0">
                <a:solidFill>
                  <a:srgbClr val="660033"/>
                </a:solidFill>
              </a:rPr>
              <a:t>v)(</a:t>
            </a:r>
            <a:r>
              <a:rPr lang="en-US" altLang="zh-CN" sz="2400" b="1" dirty="0">
                <a:solidFill>
                  <a:srgbClr val="660033"/>
                </a:solidFill>
                <a:sym typeface="Symbol" pitchFamily="18" charset="2"/>
              </a:rPr>
              <a:t></a:t>
            </a:r>
            <a:r>
              <a:rPr lang="en-US" altLang="zh-CN" sz="2400" b="1" dirty="0">
                <a:solidFill>
                  <a:srgbClr val="660033"/>
                </a:solidFill>
              </a:rPr>
              <a:t>w)(J(u)</a:t>
            </a:r>
            <a:r>
              <a:rPr lang="en-US" altLang="zh-CN" sz="2400" b="1" dirty="0">
                <a:solidFill>
                  <a:srgbClr val="660033"/>
                </a:solidFill>
                <a:sym typeface="Symbol" pitchFamily="18" charset="2"/>
              </a:rPr>
              <a:t>∧P(v)∧SPJ(w)∧</a:t>
            </a:r>
            <a:r>
              <a:rPr lang="en-US" altLang="zh-CN" sz="2400" b="1" dirty="0">
                <a:highlight>
                  <a:srgbClr val="0000FF"/>
                </a:highlight>
                <a:sym typeface="Symbol" pitchFamily="18" charset="2"/>
              </a:rPr>
              <a:t>u[l]</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w[3]</a:t>
            </a:r>
            <a:r>
              <a:rPr lang="en-US" altLang="zh-CN" sz="2400" b="1" dirty="0">
                <a:solidFill>
                  <a:srgbClr val="660033"/>
                </a:solidFill>
                <a:sym typeface="Symbol" pitchFamily="18" charset="2"/>
              </a:rPr>
              <a:t>∧</a:t>
            </a:r>
            <a:r>
              <a:rPr lang="en-US" altLang="zh-CN" sz="2400" b="1" dirty="0">
                <a:highlight>
                  <a:srgbClr val="000000"/>
                </a:highlight>
                <a:sym typeface="Symbol" pitchFamily="18" charset="2"/>
              </a:rPr>
              <a:t>v[1]</a:t>
            </a:r>
            <a:r>
              <a:rPr lang="en-US" altLang="zh-CN" sz="2400" b="1" dirty="0">
                <a:solidFill>
                  <a:srgbClr val="660033"/>
                </a:solidFill>
                <a:sym typeface="Symbol" pitchFamily="18" charset="2"/>
              </a:rPr>
              <a:t>=</a:t>
            </a:r>
            <a:r>
              <a:rPr lang="en-US" altLang="zh-CN" sz="2400" b="1" dirty="0">
                <a:solidFill>
                  <a:srgbClr val="660033"/>
                </a:solidFill>
                <a:highlight>
                  <a:srgbClr val="00FFFF"/>
                </a:highlight>
                <a:sym typeface="Symbol" pitchFamily="18" charset="2"/>
              </a:rPr>
              <a:t>w[2]</a:t>
            </a:r>
          </a:p>
          <a:p>
            <a:pPr algn="l">
              <a:lnSpc>
                <a:spcPct val="150000"/>
              </a:lnSpc>
              <a:spcBef>
                <a:spcPct val="0"/>
              </a:spcBef>
            </a:pPr>
            <a:r>
              <a:rPr lang="en-US" altLang="zh-CN" sz="2400" b="1" dirty="0">
                <a:solidFill>
                  <a:srgbClr val="660033"/>
                </a:solidFill>
                <a:sym typeface="Symbol" pitchFamily="18" charset="2"/>
              </a:rPr>
              <a:t>    ∧</a:t>
            </a:r>
            <a:r>
              <a:rPr lang="en-US" altLang="zh-CN" sz="2400" b="1" dirty="0">
                <a:solidFill>
                  <a:srgbClr val="FF0000"/>
                </a:solidFill>
                <a:sym typeface="Symbol" pitchFamily="18" charset="2"/>
              </a:rPr>
              <a:t>t</a:t>
            </a:r>
            <a:r>
              <a:rPr lang="en-US" altLang="zh-CN" sz="2400" b="1" dirty="0">
                <a:solidFill>
                  <a:srgbClr val="660033"/>
                </a:solidFill>
                <a:sym typeface="Symbol" pitchFamily="18" charset="2"/>
              </a:rPr>
              <a:t>[1]=</a:t>
            </a:r>
            <a:r>
              <a:rPr lang="en-US" altLang="zh-CN" sz="2400" b="1" dirty="0">
                <a:highlight>
                  <a:srgbClr val="0000FF"/>
                </a:highlight>
                <a:sym typeface="Symbol" pitchFamily="18" charset="2"/>
              </a:rPr>
              <a:t>u[2]</a:t>
            </a:r>
            <a:r>
              <a:rPr lang="en-US" altLang="zh-CN" sz="2400" b="1" dirty="0">
                <a:solidFill>
                  <a:srgbClr val="660033"/>
                </a:solidFill>
                <a:sym typeface="Symbol" pitchFamily="18" charset="2"/>
              </a:rPr>
              <a:t>)} </a:t>
            </a:r>
          </a:p>
        </p:txBody>
      </p:sp>
      <p:sp>
        <p:nvSpPr>
          <p:cNvPr id="708614" name="Rectangle 6">
            <a:extLst>
              <a:ext uri="{FF2B5EF4-FFF2-40B4-BE49-F238E27FC236}">
                <a16:creationId xmlns:a16="http://schemas.microsoft.com/office/drawing/2014/main" id="{71D5C479-1A15-17D3-9B03-286F20A44414}"/>
              </a:ext>
            </a:extLst>
          </p:cNvPr>
          <p:cNvSpPr>
            <a:spLocks noChangeArrowheads="1"/>
          </p:cNvSpPr>
          <p:nvPr/>
        </p:nvSpPr>
        <p:spPr bwMode="auto">
          <a:xfrm>
            <a:off x="176212" y="5335279"/>
            <a:ext cx="8713788" cy="1207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50000"/>
              </a:lnSpc>
              <a:spcBef>
                <a:spcPts val="600"/>
              </a:spcBef>
            </a:pPr>
            <a:r>
              <a:rPr lang="en-US" altLang="zh-CN" sz="2400" b="1" dirty="0">
                <a:solidFill>
                  <a:srgbClr val="660033"/>
                </a:solidFill>
              </a:rPr>
              <a:t>{</a:t>
            </a:r>
            <a:r>
              <a:rPr lang="en-US" altLang="zh-CN" sz="2400" b="1" dirty="0">
                <a:solidFill>
                  <a:srgbClr val="FF0000"/>
                </a:solidFill>
              </a:rPr>
              <a:t>t</a:t>
            </a:r>
            <a:r>
              <a:rPr lang="en-US" altLang="zh-CN" sz="2400" b="1" dirty="0">
                <a:solidFill>
                  <a:srgbClr val="660033"/>
                </a:solidFill>
                <a:highlight>
                  <a:srgbClr val="00FF00"/>
                </a:highlight>
              </a:rPr>
              <a:t>|(</a:t>
            </a:r>
            <a:r>
              <a:rPr lang="en-US" altLang="zh-CN" sz="2400" b="1" dirty="0">
                <a:solidFill>
                  <a:srgbClr val="660033"/>
                </a:solidFill>
                <a:highlight>
                  <a:srgbClr val="00FF00"/>
                </a:highlight>
                <a:sym typeface="Symbol" pitchFamily="18" charset="2"/>
              </a:rPr>
              <a:t></a:t>
            </a:r>
            <a:r>
              <a:rPr lang="en-US" altLang="zh-CN" sz="2400" b="1" dirty="0">
                <a:solidFill>
                  <a:srgbClr val="660033"/>
                </a:solidFill>
                <a:highlight>
                  <a:srgbClr val="00FF00"/>
                </a:highlight>
              </a:rPr>
              <a:t>u)(SPJ(u)</a:t>
            </a:r>
            <a:r>
              <a:rPr lang="en-US" altLang="zh-CN" sz="2400" b="1" dirty="0">
                <a:solidFill>
                  <a:srgbClr val="660033"/>
                </a:solidFill>
                <a:sym typeface="Symbol" pitchFamily="18" charset="2"/>
              </a:rPr>
              <a:t>∧</a:t>
            </a:r>
            <a:r>
              <a:rPr lang="en-US" altLang="zh-CN" sz="2400" b="1" u="sng" dirty="0">
                <a:solidFill>
                  <a:srgbClr val="660033"/>
                </a:solidFill>
                <a:highlight>
                  <a:srgbClr val="FF00FF"/>
                </a:highlight>
                <a:sym typeface="Symbol" pitchFamily="18" charset="2"/>
              </a:rPr>
              <a:t>(</a:t>
            </a:r>
            <a:r>
              <a:rPr lang="en-US" altLang="zh-CN" sz="2400" b="1" u="sng" dirty="0">
                <a:solidFill>
                  <a:srgbClr val="660033"/>
                </a:solidFill>
                <a:highlight>
                  <a:srgbClr val="FF00FF"/>
                </a:highlight>
              </a:rPr>
              <a:t>v)(SPJ(v)</a:t>
            </a:r>
            <a:r>
              <a:rPr lang="en-US" altLang="zh-CN" sz="2400" b="1" u="sng" dirty="0">
                <a:solidFill>
                  <a:srgbClr val="660033"/>
                </a:solidFill>
                <a:highlight>
                  <a:srgbClr val="FF00FF"/>
                </a:highlight>
                <a:sym typeface="Symbol" pitchFamily="18" charset="2"/>
              </a:rPr>
              <a:t>∧(v[1]=</a:t>
            </a:r>
            <a:r>
              <a:rPr lang="en-US" altLang="zh-CN" sz="2400" b="1" u="sng" dirty="0">
                <a:solidFill>
                  <a:srgbClr val="660033"/>
                </a:solidFill>
                <a:highlight>
                  <a:srgbClr val="FF00FF"/>
                </a:highlight>
                <a:latin typeface="Times New Roman"/>
                <a:sym typeface="Symbol" pitchFamily="18" charset="2"/>
              </a:rPr>
              <a:t>‘</a:t>
            </a:r>
            <a:r>
              <a:rPr lang="en-US" altLang="zh-CN" sz="2400" b="1" u="sng" dirty="0">
                <a:solidFill>
                  <a:srgbClr val="660033"/>
                </a:solidFill>
                <a:highlight>
                  <a:srgbClr val="FF00FF"/>
                </a:highlight>
                <a:sym typeface="Symbol" pitchFamily="18" charset="2"/>
              </a:rPr>
              <a:t>S1</a:t>
            </a:r>
            <a:r>
              <a:rPr lang="en-US" altLang="zh-CN" sz="2400" b="1" u="sng" dirty="0">
                <a:solidFill>
                  <a:srgbClr val="660033"/>
                </a:solidFill>
                <a:highlight>
                  <a:srgbClr val="FF00FF"/>
                </a:highlight>
                <a:latin typeface="Times New Roman"/>
                <a:sym typeface="Symbol" pitchFamily="18" charset="2"/>
              </a:rPr>
              <a:t>’</a:t>
            </a:r>
            <a:r>
              <a:rPr lang="en-US" altLang="zh-CN" sz="2400" b="1" u="sng" dirty="0">
                <a:solidFill>
                  <a:srgbClr val="660033"/>
                </a:solidFill>
                <a:sym typeface="Symbol" pitchFamily="18" charset="2"/>
              </a:rPr>
              <a:t></a:t>
            </a:r>
            <a:r>
              <a:rPr lang="en-US" altLang="zh-CN" sz="2400" b="1" u="sng" dirty="0">
                <a:solidFill>
                  <a:srgbClr val="660033"/>
                </a:solidFill>
                <a:highlight>
                  <a:srgbClr val="FFFF00"/>
                </a:highlight>
              </a:rPr>
              <a:t>(</a:t>
            </a:r>
            <a:r>
              <a:rPr lang="en-US" altLang="zh-CN" sz="2400" b="1" u="sng" dirty="0">
                <a:solidFill>
                  <a:srgbClr val="660033"/>
                </a:solidFill>
                <a:highlight>
                  <a:srgbClr val="FFFF00"/>
                </a:highlight>
                <a:sym typeface="Symbol" pitchFamily="18" charset="2"/>
              </a:rPr>
              <a:t></a:t>
            </a:r>
            <a:r>
              <a:rPr lang="en-US" altLang="zh-CN" sz="2400" b="1" u="sng" dirty="0">
                <a:solidFill>
                  <a:srgbClr val="660033"/>
                </a:solidFill>
                <a:highlight>
                  <a:srgbClr val="FFFF00"/>
                </a:highlight>
              </a:rPr>
              <a:t>w)(SPJ(w)</a:t>
            </a:r>
          </a:p>
          <a:p>
            <a:pPr algn="l">
              <a:lnSpc>
                <a:spcPct val="150000"/>
              </a:lnSpc>
              <a:spcBef>
                <a:spcPts val="600"/>
              </a:spcBef>
            </a:pPr>
            <a:r>
              <a:rPr lang="en-US" altLang="zh-CN" sz="2400" b="1" u="sng" dirty="0">
                <a:solidFill>
                  <a:srgbClr val="660033"/>
                </a:solidFill>
              </a:rPr>
              <a:t>     </a:t>
            </a:r>
            <a:r>
              <a:rPr lang="en-US" altLang="zh-CN" sz="2400" b="1" u="sng" dirty="0">
                <a:solidFill>
                  <a:srgbClr val="660033"/>
                </a:solidFill>
                <a:sym typeface="Symbol" pitchFamily="18" charset="2"/>
              </a:rPr>
              <a:t>∧</a:t>
            </a:r>
            <a:r>
              <a:rPr lang="en-US" altLang="zh-CN" sz="2400" b="1" u="sng" dirty="0">
                <a:solidFill>
                  <a:srgbClr val="660033"/>
                </a:solidFill>
                <a:highlight>
                  <a:srgbClr val="FFFF00"/>
                </a:highlight>
                <a:sym typeface="Symbol" pitchFamily="18" charset="2"/>
              </a:rPr>
              <a:t>w[3]=u[3]</a:t>
            </a:r>
            <a:r>
              <a:rPr lang="en-US" altLang="zh-CN" sz="2400" b="1" u="sng" dirty="0">
                <a:solidFill>
                  <a:srgbClr val="660033"/>
                </a:solidFill>
                <a:sym typeface="Symbol" pitchFamily="18" charset="2"/>
              </a:rPr>
              <a:t>∧</a:t>
            </a:r>
            <a:r>
              <a:rPr lang="en-US" altLang="zh-CN" sz="2400" b="1" u="sng" dirty="0">
                <a:solidFill>
                  <a:srgbClr val="660033"/>
                </a:solidFill>
                <a:highlight>
                  <a:srgbClr val="FFFF00"/>
                </a:highlight>
                <a:sym typeface="Symbol" pitchFamily="18" charset="2"/>
              </a:rPr>
              <a:t>w[2]=v[2])</a:t>
            </a:r>
            <a:r>
              <a:rPr lang="en-US" altLang="zh-CN" sz="2400" b="1" u="sng" dirty="0">
                <a:solidFill>
                  <a:srgbClr val="660033"/>
                </a:solidFill>
                <a:highlight>
                  <a:srgbClr val="FF40FF"/>
                </a:highlight>
                <a:sym typeface="Symbol" pitchFamily="18" charset="2"/>
              </a:rPr>
              <a:t>))</a:t>
            </a:r>
            <a:r>
              <a:rPr lang="en-US" altLang="zh-CN" sz="2400" b="1" dirty="0">
                <a:solidFill>
                  <a:srgbClr val="660033"/>
                </a:solidFill>
                <a:sym typeface="Symbol" pitchFamily="18" charset="2"/>
              </a:rPr>
              <a:t>∧</a:t>
            </a:r>
            <a:r>
              <a:rPr lang="en-US" altLang="zh-CN" sz="2400" b="1" dirty="0">
                <a:solidFill>
                  <a:srgbClr val="FF0000"/>
                </a:solidFill>
                <a:highlight>
                  <a:srgbClr val="00FF00"/>
                </a:highlight>
                <a:sym typeface="Symbol" pitchFamily="18" charset="2"/>
              </a:rPr>
              <a:t>t</a:t>
            </a:r>
            <a:r>
              <a:rPr lang="en-US" altLang="zh-CN" sz="2400" b="1" dirty="0">
                <a:solidFill>
                  <a:srgbClr val="660033"/>
                </a:solidFill>
                <a:highlight>
                  <a:srgbClr val="00FF00"/>
                </a:highlight>
                <a:sym typeface="Symbol" pitchFamily="18" charset="2"/>
              </a:rPr>
              <a:t>[l]=u[3]</a:t>
            </a:r>
            <a:r>
              <a:rPr lang="en-US" altLang="zh-CN" sz="2400" b="1" dirty="0">
                <a:solidFill>
                  <a:srgbClr val="660033"/>
                </a:solidFill>
                <a:sym typeface="Symbol" pitchFamily="18" charset="2"/>
              </a:rPr>
              <a:t>)}  </a:t>
            </a:r>
          </a:p>
        </p:txBody>
      </p:sp>
      <p:sp>
        <p:nvSpPr>
          <p:cNvPr id="708615" name="Rectangle 7">
            <a:extLst>
              <a:ext uri="{FF2B5EF4-FFF2-40B4-BE49-F238E27FC236}">
                <a16:creationId xmlns:a16="http://schemas.microsoft.com/office/drawing/2014/main" id="{1E036846-1F35-1378-0D82-D05166443E95}"/>
              </a:ext>
            </a:extLst>
          </p:cNvPr>
          <p:cNvSpPr>
            <a:spLocks noChangeArrowheads="1"/>
          </p:cNvSpPr>
          <p:nvPr/>
        </p:nvSpPr>
        <p:spPr bwMode="auto">
          <a:xfrm>
            <a:off x="0" y="4951104"/>
            <a:ext cx="937895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400" b="1" dirty="0">
                <a:solidFill>
                  <a:schemeClr val="bg2"/>
                </a:solidFill>
              </a:rPr>
              <a:t>9.</a:t>
            </a:r>
            <a:r>
              <a:rPr lang="zh-CN" altLang="en-US" sz="2400" b="1" dirty="0">
                <a:solidFill>
                  <a:schemeClr val="bg2"/>
                </a:solidFill>
                <a:highlight>
                  <a:srgbClr val="00FF00"/>
                </a:highlight>
              </a:rPr>
              <a:t>检索</a:t>
            </a:r>
            <a:r>
              <a:rPr lang="zh-CN" altLang="en-US" sz="2400" b="1" dirty="0">
                <a:solidFill>
                  <a:schemeClr val="bg2"/>
                </a:solidFill>
              </a:rPr>
              <a:t>使用零件包含编号为</a:t>
            </a:r>
            <a:r>
              <a:rPr lang="en-US" altLang="zh-CN" sz="2400" b="1" dirty="0">
                <a:solidFill>
                  <a:schemeClr val="bg2"/>
                </a:solidFill>
              </a:rPr>
              <a:t>S1</a:t>
            </a:r>
            <a:r>
              <a:rPr lang="zh-CN" altLang="en-US" sz="2400" b="1" dirty="0">
                <a:solidFill>
                  <a:schemeClr val="bg2"/>
                </a:solidFill>
              </a:rPr>
              <a:t>供应商所供应的全部零件的</a:t>
            </a:r>
            <a:r>
              <a:rPr lang="zh-CN" altLang="en-US" sz="2400" b="1" dirty="0">
                <a:solidFill>
                  <a:schemeClr val="bg2"/>
                </a:solidFill>
                <a:highlight>
                  <a:srgbClr val="00FF00"/>
                </a:highlight>
              </a:rPr>
              <a:t>工程编号</a:t>
            </a:r>
            <a:r>
              <a:rPr lang="zh-CN" altLang="en-US" sz="2400" b="1" dirty="0">
                <a:solidFill>
                  <a:schemeClr val="bg2"/>
                </a:solidFill>
              </a:rPr>
              <a:t>。</a:t>
            </a:r>
          </a:p>
        </p:txBody>
      </p:sp>
      <p:graphicFrame>
        <p:nvGraphicFramePr>
          <p:cNvPr id="8" name="表格 7">
            <a:extLst>
              <a:ext uri="{FF2B5EF4-FFF2-40B4-BE49-F238E27FC236}">
                <a16:creationId xmlns:a16="http://schemas.microsoft.com/office/drawing/2014/main" id="{92275F54-90D9-8C07-C32D-092F9D26AE49}"/>
              </a:ext>
            </a:extLst>
          </p:cNvPr>
          <p:cNvGraphicFramePr>
            <a:graphicFrameLocks noGrp="1"/>
          </p:cNvGraphicFramePr>
          <p:nvPr/>
        </p:nvGraphicFramePr>
        <p:xfrm>
          <a:off x="32709" y="206849"/>
          <a:ext cx="4743479" cy="741680"/>
        </p:xfrm>
        <a:graphic>
          <a:graphicData uri="http://schemas.openxmlformats.org/drawingml/2006/table">
            <a:tbl>
              <a:tblPr firstRow="1" bandRow="1">
                <a:tableStyleId>{5C22544A-7EE6-4342-B048-85BDC9FD1C3A}</a:tableStyleId>
              </a:tblPr>
              <a:tblGrid>
                <a:gridCol w="683568">
                  <a:extLst>
                    <a:ext uri="{9D8B030D-6E8A-4147-A177-3AD203B41FA5}">
                      <a16:colId xmlns:a16="http://schemas.microsoft.com/office/drawing/2014/main" val="3624112539"/>
                    </a:ext>
                  </a:extLst>
                </a:gridCol>
                <a:gridCol w="720080">
                  <a:extLst>
                    <a:ext uri="{9D8B030D-6E8A-4147-A177-3AD203B41FA5}">
                      <a16:colId xmlns:a16="http://schemas.microsoft.com/office/drawing/2014/main" val="851219932"/>
                    </a:ext>
                  </a:extLst>
                </a:gridCol>
                <a:gridCol w="717850">
                  <a:extLst>
                    <a:ext uri="{9D8B030D-6E8A-4147-A177-3AD203B41FA5}">
                      <a16:colId xmlns:a16="http://schemas.microsoft.com/office/drawing/2014/main" val="1016015763"/>
                    </a:ext>
                  </a:extLst>
                </a:gridCol>
                <a:gridCol w="839910">
                  <a:extLst>
                    <a:ext uri="{9D8B030D-6E8A-4147-A177-3AD203B41FA5}">
                      <a16:colId xmlns:a16="http://schemas.microsoft.com/office/drawing/2014/main" val="2649775867"/>
                    </a:ext>
                  </a:extLst>
                </a:gridCol>
                <a:gridCol w="1059017">
                  <a:extLst>
                    <a:ext uri="{9D8B030D-6E8A-4147-A177-3AD203B41FA5}">
                      <a16:colId xmlns:a16="http://schemas.microsoft.com/office/drawing/2014/main" val="3781189654"/>
                    </a:ext>
                  </a:extLst>
                </a:gridCol>
                <a:gridCol w="723054">
                  <a:extLst>
                    <a:ext uri="{9D8B030D-6E8A-4147-A177-3AD203B41FA5}">
                      <a16:colId xmlns:a16="http://schemas.microsoft.com/office/drawing/2014/main" val="241062383"/>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tc>
                  <a:txBody>
                    <a:bodyPr/>
                    <a:lstStyle/>
                    <a:p>
                      <a:pPr algn="ctr"/>
                      <a:r>
                        <a:rPr lang="en-US" altLang="zh-CN" dirty="0"/>
                        <a:t>5</a:t>
                      </a:r>
                      <a:endParaRPr lang="zh-CN" altLang="en-US" dirty="0"/>
                    </a:p>
                  </a:txBody>
                  <a:tcPr/>
                </a:tc>
                <a:extLst>
                  <a:ext uri="{0D108BD9-81ED-4DB2-BD59-A6C34878D82A}">
                    <a16:rowId xmlns:a16="http://schemas.microsoft.com/office/drawing/2014/main" val="1274320833"/>
                  </a:ext>
                </a:extLst>
              </a:tr>
              <a:tr h="370840">
                <a:tc>
                  <a:txBody>
                    <a:bodyPr/>
                    <a:lstStyle/>
                    <a:p>
                      <a:pPr algn="ctr"/>
                      <a:r>
                        <a:rPr lang="en-US" altLang="zh-CN" sz="1800" b="1" u="none" kern="1200" dirty="0">
                          <a:solidFill>
                            <a:schemeClr val="bg2"/>
                          </a:solidFill>
                          <a:latin typeface="+mn-lt"/>
                          <a:ea typeface="+mn-ea"/>
                          <a:cs typeface="+mn-cs"/>
                        </a:rPr>
                        <a:t>SPJ(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SNO,</a:t>
                      </a:r>
                      <a:endParaRPr lang="zh-CN" altLang="en-US" dirty="0"/>
                    </a:p>
                  </a:txBody>
                  <a:tcPr/>
                </a:tc>
                <a:tc>
                  <a:txBody>
                    <a:bodyPr/>
                    <a:lstStyle/>
                    <a:p>
                      <a:pPr algn="ctr"/>
                      <a:r>
                        <a:rPr lang="en-US" altLang="zh-CN" sz="1800" b="1" u="sng" dirty="0">
                          <a:solidFill>
                            <a:schemeClr val="bg2"/>
                          </a:solidFill>
                        </a:rPr>
                        <a:t>PNO,</a:t>
                      </a:r>
                      <a:endParaRPr lang="zh-CN" altLang="en-US" dirty="0"/>
                    </a:p>
                  </a:txBody>
                  <a:tcPr/>
                </a:tc>
                <a:tc>
                  <a:txBody>
                    <a:bodyPr/>
                    <a:lstStyle/>
                    <a:p>
                      <a:pPr algn="ctr"/>
                      <a:r>
                        <a:rPr lang="en-US" altLang="zh-CN" sz="1800" b="1" u="sng" dirty="0">
                          <a:solidFill>
                            <a:schemeClr val="bg2"/>
                          </a:solidFill>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PRICE,</a:t>
                      </a:r>
                      <a:endParaRPr lang="zh-CN" altLang="en-US" dirty="0"/>
                    </a:p>
                  </a:txBody>
                  <a:tcPr/>
                </a:tc>
                <a:tc>
                  <a:txBody>
                    <a:bodyPr/>
                    <a:lstStyle/>
                    <a:p>
                      <a:pPr algn="ctr"/>
                      <a:r>
                        <a:rPr lang="en-US" altLang="zh-CN" sz="1800" b="1" dirty="0">
                          <a:solidFill>
                            <a:schemeClr val="bg2"/>
                          </a:solidFill>
                        </a:rPr>
                        <a:t>QTY)</a:t>
                      </a:r>
                      <a:endParaRPr lang="zh-CN" altLang="en-US" dirty="0"/>
                    </a:p>
                  </a:txBody>
                  <a:tcPr/>
                </a:tc>
                <a:extLst>
                  <a:ext uri="{0D108BD9-81ED-4DB2-BD59-A6C34878D82A}">
                    <a16:rowId xmlns:a16="http://schemas.microsoft.com/office/drawing/2014/main" val="822562478"/>
                  </a:ext>
                </a:extLst>
              </a:tr>
            </a:tbl>
          </a:graphicData>
        </a:graphic>
      </p:graphicFrame>
      <p:graphicFrame>
        <p:nvGraphicFramePr>
          <p:cNvPr id="9" name="表格 3">
            <a:extLst>
              <a:ext uri="{FF2B5EF4-FFF2-40B4-BE49-F238E27FC236}">
                <a16:creationId xmlns:a16="http://schemas.microsoft.com/office/drawing/2014/main" id="{7845AA9C-0A0C-385F-641C-A4F14D04BA59}"/>
              </a:ext>
            </a:extLst>
          </p:cNvPr>
          <p:cNvGraphicFramePr>
            <a:graphicFrameLocks noGrp="1"/>
          </p:cNvGraphicFramePr>
          <p:nvPr/>
        </p:nvGraphicFramePr>
        <p:xfrm>
          <a:off x="4735489" y="197926"/>
          <a:ext cx="4368736" cy="741680"/>
        </p:xfrm>
        <a:graphic>
          <a:graphicData uri="http://schemas.openxmlformats.org/drawingml/2006/table">
            <a:tbl>
              <a:tblPr firstRow="1" bandRow="1">
                <a:tableStyleId>{21E4AEA4-8DFA-4A89-87EB-49C32662AFE0}</a:tableStyleId>
              </a:tblPr>
              <a:tblGrid>
                <a:gridCol w="386487">
                  <a:extLst>
                    <a:ext uri="{9D8B030D-6E8A-4147-A177-3AD203B41FA5}">
                      <a16:colId xmlns:a16="http://schemas.microsoft.com/office/drawing/2014/main" val="2512462284"/>
                    </a:ext>
                  </a:extLst>
                </a:gridCol>
                <a:gridCol w="737662">
                  <a:extLst>
                    <a:ext uri="{9D8B030D-6E8A-4147-A177-3AD203B41FA5}">
                      <a16:colId xmlns:a16="http://schemas.microsoft.com/office/drawing/2014/main" val="3152180614"/>
                    </a:ext>
                  </a:extLst>
                </a:gridCol>
                <a:gridCol w="998116">
                  <a:extLst>
                    <a:ext uri="{9D8B030D-6E8A-4147-A177-3AD203B41FA5}">
                      <a16:colId xmlns:a16="http://schemas.microsoft.com/office/drawing/2014/main" val="2487654462"/>
                    </a:ext>
                  </a:extLst>
                </a:gridCol>
                <a:gridCol w="864096">
                  <a:extLst>
                    <a:ext uri="{9D8B030D-6E8A-4147-A177-3AD203B41FA5}">
                      <a16:colId xmlns:a16="http://schemas.microsoft.com/office/drawing/2014/main" val="462313814"/>
                    </a:ext>
                  </a:extLst>
                </a:gridCol>
                <a:gridCol w="1382375">
                  <a:extLst>
                    <a:ext uri="{9D8B030D-6E8A-4147-A177-3AD203B41FA5}">
                      <a16:colId xmlns:a16="http://schemas.microsoft.com/office/drawing/2014/main" val="332626903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rPr>
                        <a:t>J(</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JNO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JNAME,</a:t>
                      </a:r>
                      <a:endParaRPr lang="zh-CN" altLang="en-US" dirty="0"/>
                    </a:p>
                  </a:txBody>
                  <a:tcPr/>
                </a:tc>
                <a:tc>
                  <a:txBody>
                    <a:bodyPr/>
                    <a:lstStyle/>
                    <a:p>
                      <a:pPr algn="ctr"/>
                      <a:r>
                        <a:rPr lang="en-US" altLang="zh-CN" sz="1800" b="1" dirty="0">
                          <a:solidFill>
                            <a:schemeClr val="bg2"/>
                          </a:solidFill>
                        </a:rPr>
                        <a:t>JCITY,</a:t>
                      </a:r>
                      <a:endParaRPr lang="zh-CN" altLang="en-US" dirty="0"/>
                    </a:p>
                  </a:txBody>
                  <a:tcPr/>
                </a:tc>
                <a:tc>
                  <a:txBody>
                    <a:bodyPr/>
                    <a:lstStyle/>
                    <a:p>
                      <a:pPr algn="ctr"/>
                      <a:r>
                        <a:rPr lang="en-US" altLang="zh-CN" sz="1800" b="1" dirty="0">
                          <a:solidFill>
                            <a:schemeClr val="bg2"/>
                          </a:solidFill>
                        </a:rPr>
                        <a:t>BALANCE)</a:t>
                      </a:r>
                      <a:endParaRPr lang="zh-CN" altLang="en-US" dirty="0"/>
                    </a:p>
                  </a:txBody>
                  <a:tcPr/>
                </a:tc>
                <a:extLst>
                  <a:ext uri="{0D108BD9-81ED-4DB2-BD59-A6C34878D82A}">
                    <a16:rowId xmlns:a16="http://schemas.microsoft.com/office/drawing/2014/main" val="553996634"/>
                  </a:ext>
                </a:extLst>
              </a:tr>
            </a:tbl>
          </a:graphicData>
        </a:graphic>
      </p:graphicFrame>
      <p:graphicFrame>
        <p:nvGraphicFramePr>
          <p:cNvPr id="12" name="表格 3">
            <a:extLst>
              <a:ext uri="{FF2B5EF4-FFF2-40B4-BE49-F238E27FC236}">
                <a16:creationId xmlns:a16="http://schemas.microsoft.com/office/drawing/2014/main" id="{7D289ED2-0B5F-76FE-65B3-781619C173D5}"/>
              </a:ext>
            </a:extLst>
          </p:cNvPr>
          <p:cNvGraphicFramePr>
            <a:graphicFrameLocks noGrp="1"/>
          </p:cNvGraphicFramePr>
          <p:nvPr/>
        </p:nvGraphicFramePr>
        <p:xfrm>
          <a:off x="2207695" y="947331"/>
          <a:ext cx="4728610" cy="741680"/>
        </p:xfrm>
        <a:graphic>
          <a:graphicData uri="http://schemas.openxmlformats.org/drawingml/2006/table">
            <a:tbl>
              <a:tblPr firstRow="1" bandRow="1">
                <a:tableStyleId>{073A0DAA-6AF3-43AB-8588-CEC1D06C72B9}</a:tableStyleId>
              </a:tblPr>
              <a:tblGrid>
                <a:gridCol w="480138">
                  <a:extLst>
                    <a:ext uri="{9D8B030D-6E8A-4147-A177-3AD203B41FA5}">
                      <a16:colId xmlns:a16="http://schemas.microsoft.com/office/drawing/2014/main" val="2512462284"/>
                    </a:ext>
                  </a:extLst>
                </a:gridCol>
                <a:gridCol w="720080">
                  <a:extLst>
                    <a:ext uri="{9D8B030D-6E8A-4147-A177-3AD203B41FA5}">
                      <a16:colId xmlns:a16="http://schemas.microsoft.com/office/drawing/2014/main" val="3152180614"/>
                    </a:ext>
                  </a:extLst>
                </a:gridCol>
                <a:gridCol w="1080120">
                  <a:extLst>
                    <a:ext uri="{9D8B030D-6E8A-4147-A177-3AD203B41FA5}">
                      <a16:colId xmlns:a16="http://schemas.microsoft.com/office/drawing/2014/main" val="2487654462"/>
                    </a:ext>
                  </a:extLst>
                </a:gridCol>
                <a:gridCol w="1080120">
                  <a:extLst>
                    <a:ext uri="{9D8B030D-6E8A-4147-A177-3AD203B41FA5}">
                      <a16:colId xmlns:a16="http://schemas.microsoft.com/office/drawing/2014/main" val="462313814"/>
                    </a:ext>
                  </a:extLst>
                </a:gridCol>
                <a:gridCol w="1368152">
                  <a:extLst>
                    <a:ext uri="{9D8B030D-6E8A-4147-A177-3AD203B41FA5}">
                      <a16:colId xmlns:a16="http://schemas.microsoft.com/office/drawing/2014/main" val="3326269037"/>
                    </a:ext>
                  </a:extLst>
                </a:gridCol>
              </a:tblGrid>
              <a:tr h="370840">
                <a:tc>
                  <a:txBody>
                    <a:bodyPr/>
                    <a:lstStyle/>
                    <a:p>
                      <a:pPr algn="ctr"/>
                      <a:endParaRPr lang="zh-CN" altLang="en-US" dirty="0"/>
                    </a:p>
                  </a:txBody>
                  <a:tcPr/>
                </a:tc>
                <a:tc>
                  <a:txBody>
                    <a:bodyPr/>
                    <a:lstStyle/>
                    <a:p>
                      <a:pPr algn="ctr"/>
                      <a:r>
                        <a:rPr lang="en-US" altLang="zh-CN" dirty="0"/>
                        <a:t>1</a:t>
                      </a:r>
                      <a:endParaRPr lang="zh-CN" altLang="en-US" dirty="0"/>
                    </a:p>
                  </a:txBody>
                  <a:tcPr/>
                </a:tc>
                <a:tc>
                  <a:txBody>
                    <a:bodyPr/>
                    <a:lstStyle/>
                    <a:p>
                      <a:pPr algn="ctr"/>
                      <a:r>
                        <a:rPr lang="en-US" altLang="zh-CN" dirty="0"/>
                        <a:t>2</a:t>
                      </a:r>
                      <a:endParaRPr lang="zh-CN" altLang="en-US" dirty="0"/>
                    </a:p>
                  </a:txBody>
                  <a:tcPr/>
                </a:tc>
                <a:tc>
                  <a:txBody>
                    <a:bodyPr/>
                    <a:lstStyle/>
                    <a:p>
                      <a:pPr algn="ctr"/>
                      <a:r>
                        <a:rPr lang="en-US" altLang="zh-CN" dirty="0"/>
                        <a:t>3</a:t>
                      </a:r>
                      <a:endParaRPr lang="zh-CN" altLang="en-US" dirty="0"/>
                    </a:p>
                  </a:txBody>
                  <a:tcPr/>
                </a:tc>
                <a:tc>
                  <a:txBody>
                    <a:bodyPr/>
                    <a:lstStyle/>
                    <a:p>
                      <a:pPr algn="ctr"/>
                      <a:r>
                        <a:rPr lang="en-US" altLang="zh-CN" dirty="0"/>
                        <a:t>4</a:t>
                      </a:r>
                      <a:endParaRPr lang="zh-CN" altLang="en-US" dirty="0"/>
                    </a:p>
                  </a:txBody>
                  <a:tcPr/>
                </a:tc>
                <a:extLst>
                  <a:ext uri="{0D108BD9-81ED-4DB2-BD59-A6C34878D82A}">
                    <a16:rowId xmlns:a16="http://schemas.microsoft.com/office/drawing/2014/main" val="3215005340"/>
                  </a:ext>
                </a:extLst>
              </a:tr>
              <a:tr h="370840">
                <a:tc>
                  <a:txBody>
                    <a:bodyPr/>
                    <a:lstStyle/>
                    <a:p>
                      <a:pPr algn="ctr"/>
                      <a:r>
                        <a:rPr lang="en-US" altLang="zh-CN" sz="1800" b="1" u="none" kern="1200" dirty="0">
                          <a:solidFill>
                            <a:schemeClr val="bg2"/>
                          </a:solidFill>
                        </a:rPr>
                        <a:t>P(</a:t>
                      </a:r>
                      <a:endParaRPr lang="zh-CN" altLang="en-US" sz="1800" b="1" u="none" kern="1200" dirty="0">
                        <a:solidFill>
                          <a:schemeClr val="bg2"/>
                        </a:solidFill>
                        <a:latin typeface="+mn-lt"/>
                        <a:ea typeface="+mn-ea"/>
                        <a:cs typeface="+mn-cs"/>
                      </a:endParaRPr>
                    </a:p>
                  </a:txBody>
                  <a:tcPr/>
                </a:tc>
                <a:tc>
                  <a:txBody>
                    <a:bodyPr/>
                    <a:lstStyle/>
                    <a:p>
                      <a:pPr algn="ctr"/>
                      <a:r>
                        <a:rPr lang="en-US" altLang="zh-CN" sz="1800" b="1" u="sng" dirty="0">
                          <a:solidFill>
                            <a:schemeClr val="bg2"/>
                          </a:solidFill>
                        </a:rPr>
                        <a:t>PNO</a:t>
                      </a:r>
                      <a:r>
                        <a:rPr lang="en-US" altLang="zh-CN" sz="1800" b="1" dirty="0">
                          <a:solidFill>
                            <a:schemeClr val="bg2"/>
                          </a:solidFill>
                        </a:rPr>
                        <a:t>,</a:t>
                      </a:r>
                      <a:endParaRPr lang="zh-CN" altLang="en-US" dirty="0"/>
                    </a:p>
                  </a:txBody>
                  <a:tcPr/>
                </a:tc>
                <a:tc>
                  <a:txBody>
                    <a:bodyPr/>
                    <a:lstStyle/>
                    <a:p>
                      <a:pPr algn="ctr"/>
                      <a:r>
                        <a:rPr lang="en-US" altLang="zh-CN" sz="1800" b="1" dirty="0">
                          <a:solidFill>
                            <a:schemeClr val="bg2"/>
                          </a:solidFill>
                        </a:rPr>
                        <a:t>PNAME,</a:t>
                      </a:r>
                      <a:endParaRPr lang="zh-CN" altLang="en-US" dirty="0"/>
                    </a:p>
                  </a:txBody>
                  <a:tcPr/>
                </a:tc>
                <a:tc>
                  <a:txBody>
                    <a:bodyPr/>
                    <a:lstStyle/>
                    <a:p>
                      <a:pPr algn="ctr"/>
                      <a:r>
                        <a:rPr lang="en-US" altLang="zh-CN" sz="1800" b="1" dirty="0">
                          <a:solidFill>
                            <a:schemeClr val="bg2"/>
                          </a:solidFill>
                        </a:rPr>
                        <a:t>COLOR,</a:t>
                      </a:r>
                      <a:endParaRPr lang="zh-CN" altLang="en-US" dirty="0"/>
                    </a:p>
                  </a:txBody>
                  <a:tcPr/>
                </a:tc>
                <a:tc>
                  <a:txBody>
                    <a:bodyPr/>
                    <a:lstStyle/>
                    <a:p>
                      <a:pPr algn="ctr"/>
                      <a:r>
                        <a:rPr lang="en-US" altLang="zh-CN" sz="1800" b="1" dirty="0">
                          <a:solidFill>
                            <a:schemeClr val="bg2"/>
                          </a:solidFill>
                        </a:rPr>
                        <a:t>WEIGHT)</a:t>
                      </a:r>
                      <a:endParaRPr lang="zh-CN" altLang="en-US" dirty="0"/>
                    </a:p>
                  </a:txBody>
                  <a:tcPr/>
                </a:tc>
                <a:extLst>
                  <a:ext uri="{0D108BD9-81ED-4DB2-BD59-A6C34878D82A}">
                    <a16:rowId xmlns:a16="http://schemas.microsoft.com/office/drawing/2014/main" val="553996634"/>
                  </a:ext>
                </a:extLst>
              </a:tr>
            </a:tbl>
          </a:graphicData>
        </a:graphic>
      </p:graphicFrame>
      <p:sp>
        <p:nvSpPr>
          <p:cNvPr id="3" name="文本框 2">
            <a:extLst>
              <a:ext uri="{FF2B5EF4-FFF2-40B4-BE49-F238E27FC236}">
                <a16:creationId xmlns:a16="http://schemas.microsoft.com/office/drawing/2014/main" id="{0DB7E7BA-1C03-1DBB-69A9-B6C2F603FF20}"/>
              </a:ext>
            </a:extLst>
          </p:cNvPr>
          <p:cNvSpPr txBox="1"/>
          <p:nvPr/>
        </p:nvSpPr>
        <p:spPr>
          <a:xfrm>
            <a:off x="503388" y="5883309"/>
            <a:ext cx="1579278" cy="313932"/>
          </a:xfrm>
          <a:prstGeom prst="rect">
            <a:avLst/>
          </a:prstGeom>
          <a:noFill/>
        </p:spPr>
        <p:txBody>
          <a:bodyPr wrap="none" rtlCol="0">
            <a:spAutoFit/>
          </a:bodyPr>
          <a:lstStyle/>
          <a:p>
            <a:r>
              <a:rPr kumimoji="1" lang="zh-CN" altLang="en-US" b="1" dirty="0">
                <a:solidFill>
                  <a:srgbClr val="00B050"/>
                </a:solidFill>
              </a:rPr>
              <a:t>找这样的工程</a:t>
            </a:r>
          </a:p>
        </p:txBody>
      </p:sp>
      <p:sp>
        <p:nvSpPr>
          <p:cNvPr id="4" name="文本框 3">
            <a:extLst>
              <a:ext uri="{FF2B5EF4-FFF2-40B4-BE49-F238E27FC236}">
                <a16:creationId xmlns:a16="http://schemas.microsoft.com/office/drawing/2014/main" id="{56EA97AB-1C06-E80A-1337-5B948C35A542}"/>
              </a:ext>
            </a:extLst>
          </p:cNvPr>
          <p:cNvSpPr txBox="1"/>
          <p:nvPr/>
        </p:nvSpPr>
        <p:spPr>
          <a:xfrm>
            <a:off x="2207695" y="5850164"/>
            <a:ext cx="4370107" cy="313932"/>
          </a:xfrm>
          <a:prstGeom prst="rect">
            <a:avLst/>
          </a:prstGeom>
          <a:noFill/>
        </p:spPr>
        <p:txBody>
          <a:bodyPr wrap="none" rtlCol="0">
            <a:spAutoFit/>
          </a:bodyPr>
          <a:lstStyle/>
          <a:p>
            <a:r>
              <a:rPr lang="zh-CN" altLang="en-US" b="1" dirty="0">
                <a:solidFill>
                  <a:srgbClr val="FF40FF"/>
                </a:solidFill>
              </a:rPr>
              <a:t>它使用的零件包含了由</a:t>
            </a:r>
            <a:r>
              <a:rPr lang="en-US" altLang="zh-CN" b="1" dirty="0">
                <a:solidFill>
                  <a:srgbClr val="FF40FF"/>
                </a:solidFill>
              </a:rPr>
              <a:t>s1</a:t>
            </a:r>
            <a:r>
              <a:rPr lang="zh-CN" altLang="en-US" b="1" dirty="0">
                <a:solidFill>
                  <a:srgbClr val="FF40FF"/>
                </a:solidFill>
              </a:rPr>
              <a:t>提供的所有</a:t>
            </a:r>
            <a:r>
              <a:rPr kumimoji="1" lang="zh-CN" altLang="en-US" b="1" dirty="0">
                <a:solidFill>
                  <a:srgbClr val="FF40FF"/>
                </a:solidFill>
              </a:rPr>
              <a:t>零件</a:t>
            </a:r>
          </a:p>
        </p:txBody>
      </p:sp>
    </p:spTree>
    <p:extLst>
      <p:ext uri="{BB962C8B-B14F-4D97-AF65-F5344CB8AC3E}">
        <p14:creationId xmlns:p14="http://schemas.microsoft.com/office/powerpoint/2010/main" val="527543786"/>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08610"/>
                                        </p:tgtEl>
                                        <p:attrNameLst>
                                          <p:attrName>style.visibility</p:attrName>
                                        </p:attrNameLst>
                                      </p:cBhvr>
                                      <p:to>
                                        <p:strVal val="visible"/>
                                      </p:to>
                                    </p:set>
                                    <p:animEffect transition="in" filter="blinds(horizontal)">
                                      <p:cBhvr>
                                        <p:cTn id="7" dur="500"/>
                                        <p:tgtEl>
                                          <p:spTgt spid="70861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708612">
                                            <p:txEl>
                                              <p:pRg st="0" end="0"/>
                                            </p:txEl>
                                          </p:spTgt>
                                        </p:tgtEl>
                                        <p:attrNameLst>
                                          <p:attrName>style.visibility</p:attrName>
                                        </p:attrNameLst>
                                      </p:cBhvr>
                                      <p:to>
                                        <p:strVal val="visible"/>
                                      </p:to>
                                    </p:set>
                                    <p:animEffect transition="in" filter="blinds(horizontal)">
                                      <p:cBhvr>
                                        <p:cTn id="12" dur="500"/>
                                        <p:tgtEl>
                                          <p:spTgt spid="708612">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08613">
                                            <p:txEl>
                                              <p:pRg st="0" end="0"/>
                                            </p:txEl>
                                          </p:spTgt>
                                        </p:tgtEl>
                                        <p:attrNameLst>
                                          <p:attrName>style.visibility</p:attrName>
                                        </p:attrNameLst>
                                      </p:cBhvr>
                                      <p:to>
                                        <p:strVal val="visible"/>
                                      </p:to>
                                    </p:set>
                                    <p:animEffect transition="in" filter="blinds(horizontal)">
                                      <p:cBhvr>
                                        <p:cTn id="17" dur="500"/>
                                        <p:tgtEl>
                                          <p:spTgt spid="708613">
                                            <p:txEl>
                                              <p:pRg st="0" end="0"/>
                                            </p:txEl>
                                          </p:spTgt>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708613">
                                            <p:txEl>
                                              <p:pRg st="1" end="1"/>
                                            </p:txEl>
                                          </p:spTgt>
                                        </p:tgtEl>
                                        <p:attrNameLst>
                                          <p:attrName>style.visibility</p:attrName>
                                        </p:attrNameLst>
                                      </p:cBhvr>
                                      <p:to>
                                        <p:strVal val="visible"/>
                                      </p:to>
                                    </p:set>
                                    <p:animEffect transition="in" filter="blinds(horizontal)">
                                      <p:cBhvr>
                                        <p:cTn id="20" dur="500"/>
                                        <p:tgtEl>
                                          <p:spTgt spid="708613">
                                            <p:txEl>
                                              <p:pRg st="1" end="1"/>
                                            </p:txEl>
                                          </p:spTgt>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3" presetClass="entr" presetSubtype="10" fill="hold" nodeType="clickEffect">
                                  <p:stCondLst>
                                    <p:cond delay="0"/>
                                  </p:stCondLst>
                                  <p:childTnLst>
                                    <p:set>
                                      <p:cBhvr>
                                        <p:cTn id="24" dur="1" fill="hold">
                                          <p:stCondLst>
                                            <p:cond delay="0"/>
                                          </p:stCondLst>
                                        </p:cTn>
                                        <p:tgtEl>
                                          <p:spTgt spid="708613">
                                            <p:txEl>
                                              <p:pRg st="1" end="1"/>
                                            </p:txEl>
                                          </p:spTgt>
                                        </p:tgtEl>
                                        <p:attrNameLst>
                                          <p:attrName>style.visibility</p:attrName>
                                        </p:attrNameLst>
                                      </p:cBhvr>
                                      <p:to>
                                        <p:strVal val="visible"/>
                                      </p:to>
                                    </p:set>
                                    <p:animEffect transition="in" filter="blinds(horizontal)">
                                      <p:cBhvr>
                                        <p:cTn id="25" dur="500"/>
                                        <p:tgtEl>
                                          <p:spTgt spid="708613">
                                            <p:txEl>
                                              <p:pRg st="1" end="1"/>
                                            </p:txEl>
                                          </p:spTgt>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708615"/>
                                        </p:tgtEl>
                                        <p:attrNameLst>
                                          <p:attrName>style.visibility</p:attrName>
                                        </p:attrNameLst>
                                      </p:cBhvr>
                                      <p:to>
                                        <p:strVal val="visible"/>
                                      </p:to>
                                    </p:set>
                                    <p:animEffect transition="in" filter="blinds(horizontal)">
                                      <p:cBhvr>
                                        <p:cTn id="30" dur="500"/>
                                        <p:tgtEl>
                                          <p:spTgt spid="708615"/>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708614"/>
                                        </p:tgtEl>
                                        <p:attrNameLst>
                                          <p:attrName>style.visibility</p:attrName>
                                        </p:attrNameLst>
                                      </p:cBhvr>
                                      <p:to>
                                        <p:strVal val="visible"/>
                                      </p:to>
                                    </p:set>
                                    <p:animEffect transition="in" filter="blinds(horizontal)">
                                      <p:cBhvr>
                                        <p:cTn id="35" dur="500"/>
                                        <p:tgtEl>
                                          <p:spTgt spid="7086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08610" grpId="0"/>
      <p:bldP spid="708613" grpId="0" build="allAtOnce"/>
      <p:bldP spid="708614" grpId="0"/>
      <p:bldP spid="708615" grpId="0"/>
    </p:bldLst>
  </p:timing>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10">
            <a:extLst>
              <a:ext uri="{FF2B5EF4-FFF2-40B4-BE49-F238E27FC236}">
                <a16:creationId xmlns:a16="http://schemas.microsoft.com/office/drawing/2014/main" id="{A9B2F53E-2E5E-1F5C-8008-B8AD9E3FE6E5}"/>
              </a:ext>
            </a:extLst>
          </p:cNvPr>
          <p:cNvSpPr>
            <a:spLocks noChangeArrowheads="1"/>
          </p:cNvSpPr>
          <p:nvPr/>
        </p:nvSpPr>
        <p:spPr bwMode="auto">
          <a:xfrm>
            <a:off x="0" y="404664"/>
            <a:ext cx="9267826" cy="52322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00000"/>
              </a:lnSpc>
              <a:spcBef>
                <a:spcPct val="0"/>
              </a:spcBef>
            </a:pPr>
            <a:r>
              <a:rPr lang="en-US" altLang="zh-CN" sz="2800" b="1" dirty="0">
                <a:solidFill>
                  <a:srgbClr val="660033"/>
                </a:solidFill>
              </a:rPr>
              <a:t> π</a:t>
            </a:r>
            <a:r>
              <a:rPr lang="en-US" altLang="zh-CN" sz="2800" b="1" baseline="-25000" dirty="0">
                <a:solidFill>
                  <a:srgbClr val="660033"/>
                </a:solidFill>
              </a:rPr>
              <a:t>JNO,PNO</a:t>
            </a:r>
            <a:r>
              <a:rPr lang="en-US" altLang="zh-CN" sz="2800" b="1" dirty="0">
                <a:solidFill>
                  <a:srgbClr val="660033"/>
                </a:solidFill>
              </a:rPr>
              <a:t>(</a:t>
            </a:r>
            <a:r>
              <a:rPr lang="en-US" altLang="zh-CN" sz="2800" b="1" dirty="0" err="1">
                <a:solidFill>
                  <a:srgbClr val="660033"/>
                </a:solidFill>
              </a:rPr>
              <a:t>σ</a:t>
            </a:r>
            <a:r>
              <a:rPr lang="en-US" altLang="zh-CN" sz="2800" b="1" baseline="-25000" dirty="0" err="1">
                <a:solidFill>
                  <a:srgbClr val="660033"/>
                </a:solidFill>
              </a:rPr>
              <a:t>SNO</a:t>
            </a:r>
            <a:r>
              <a:rPr lang="en-US" altLang="zh-CN" sz="2800" b="1" baseline="-25000" dirty="0">
                <a:solidFill>
                  <a:srgbClr val="660033"/>
                </a:solidFill>
              </a:rPr>
              <a:t>=‘S1’</a:t>
            </a:r>
            <a:r>
              <a:rPr lang="en-US" altLang="zh-CN" sz="2800" b="1" dirty="0">
                <a:solidFill>
                  <a:srgbClr val="660033"/>
                </a:solidFill>
              </a:rPr>
              <a:t>(SPJ))÷π</a:t>
            </a:r>
            <a:r>
              <a:rPr lang="en-US" altLang="zh-CN" sz="2800" b="1" baseline="-25000" dirty="0">
                <a:solidFill>
                  <a:srgbClr val="660033"/>
                </a:solidFill>
              </a:rPr>
              <a:t>PNO</a:t>
            </a:r>
            <a:r>
              <a:rPr lang="en-US" altLang="zh-CN" sz="2800" b="1" dirty="0">
                <a:solidFill>
                  <a:srgbClr val="660033"/>
                </a:solidFill>
              </a:rPr>
              <a:t>(</a:t>
            </a:r>
            <a:r>
              <a:rPr lang="en-US" altLang="zh-CN" sz="2800" b="1" dirty="0" err="1">
                <a:solidFill>
                  <a:srgbClr val="660033"/>
                </a:solidFill>
              </a:rPr>
              <a:t>σ</a:t>
            </a:r>
            <a:r>
              <a:rPr lang="en-US" altLang="zh-CN" sz="2800" b="1" baseline="-25000" dirty="0" err="1">
                <a:solidFill>
                  <a:srgbClr val="660033"/>
                </a:solidFill>
              </a:rPr>
              <a:t>SNO</a:t>
            </a:r>
            <a:r>
              <a:rPr lang="en-US" altLang="zh-CN" sz="2800" b="1" baseline="-25000" dirty="0">
                <a:solidFill>
                  <a:srgbClr val="660033"/>
                </a:solidFill>
              </a:rPr>
              <a:t>=‘S1’</a:t>
            </a:r>
            <a:r>
              <a:rPr lang="en-US" altLang="zh-CN" sz="2800" b="1" dirty="0">
                <a:solidFill>
                  <a:srgbClr val="660033"/>
                </a:solidFill>
              </a:rPr>
              <a:t>(SPJ))</a:t>
            </a:r>
          </a:p>
        </p:txBody>
      </p:sp>
      <p:sp>
        <p:nvSpPr>
          <p:cNvPr id="2" name="Rectangle 6">
            <a:extLst>
              <a:ext uri="{FF2B5EF4-FFF2-40B4-BE49-F238E27FC236}">
                <a16:creationId xmlns:a16="http://schemas.microsoft.com/office/drawing/2014/main" id="{95C3ED33-C001-8F39-1FEB-04A18787BAA6}"/>
              </a:ext>
            </a:extLst>
          </p:cNvPr>
          <p:cNvSpPr>
            <a:spLocks noChangeArrowheads="1"/>
          </p:cNvSpPr>
          <p:nvPr/>
        </p:nvSpPr>
        <p:spPr bwMode="auto">
          <a:xfrm>
            <a:off x="186608" y="1724943"/>
            <a:ext cx="8713788" cy="12071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spAutoFit/>
          </a:bodyPr>
          <a:lstStyle/>
          <a:p>
            <a:pPr algn="l">
              <a:lnSpc>
                <a:spcPct val="150000"/>
              </a:lnSpc>
              <a:spcBef>
                <a:spcPts val="600"/>
              </a:spcBef>
            </a:pPr>
            <a:r>
              <a:rPr lang="en-US" altLang="zh-CN" sz="2400" b="1" dirty="0">
                <a:solidFill>
                  <a:srgbClr val="660033"/>
                </a:solidFill>
              </a:rPr>
              <a:t>{</a:t>
            </a:r>
            <a:r>
              <a:rPr lang="en-US" altLang="zh-CN" sz="2400" b="1" dirty="0">
                <a:solidFill>
                  <a:srgbClr val="FF0000"/>
                </a:solidFill>
              </a:rPr>
              <a:t>t</a:t>
            </a:r>
            <a:r>
              <a:rPr lang="en-US" altLang="zh-CN" sz="2400" b="1" dirty="0">
                <a:solidFill>
                  <a:srgbClr val="660033"/>
                </a:solidFill>
                <a:highlight>
                  <a:srgbClr val="00FF00"/>
                </a:highlight>
              </a:rPr>
              <a:t>|(</a:t>
            </a:r>
            <a:r>
              <a:rPr lang="en-US" altLang="zh-CN" sz="2400" b="1" dirty="0">
                <a:solidFill>
                  <a:srgbClr val="660033"/>
                </a:solidFill>
                <a:highlight>
                  <a:srgbClr val="00FF00"/>
                </a:highlight>
                <a:sym typeface="Symbol" pitchFamily="18" charset="2"/>
              </a:rPr>
              <a:t></a:t>
            </a:r>
            <a:r>
              <a:rPr lang="en-US" altLang="zh-CN" sz="2400" b="1" dirty="0">
                <a:solidFill>
                  <a:srgbClr val="660033"/>
                </a:solidFill>
                <a:highlight>
                  <a:srgbClr val="00FF00"/>
                </a:highlight>
              </a:rPr>
              <a:t>u)(SPJ(u)</a:t>
            </a:r>
            <a:r>
              <a:rPr lang="en-US" altLang="zh-CN" sz="2400" b="1" dirty="0">
                <a:solidFill>
                  <a:srgbClr val="660033"/>
                </a:solidFill>
                <a:sym typeface="Symbol" pitchFamily="18" charset="2"/>
              </a:rPr>
              <a:t>∧</a:t>
            </a:r>
            <a:r>
              <a:rPr lang="en-US" altLang="zh-CN" sz="2400" b="1" u="sng" dirty="0">
                <a:solidFill>
                  <a:srgbClr val="660033"/>
                </a:solidFill>
                <a:highlight>
                  <a:srgbClr val="FF00FF"/>
                </a:highlight>
                <a:sym typeface="Symbol" pitchFamily="18" charset="2"/>
              </a:rPr>
              <a:t>(</a:t>
            </a:r>
            <a:r>
              <a:rPr lang="en-US" altLang="zh-CN" sz="2400" b="1" u="sng" dirty="0">
                <a:solidFill>
                  <a:srgbClr val="660033"/>
                </a:solidFill>
                <a:highlight>
                  <a:srgbClr val="FF00FF"/>
                </a:highlight>
              </a:rPr>
              <a:t>v)(SPJ(v)</a:t>
            </a:r>
            <a:r>
              <a:rPr lang="en-US" altLang="zh-CN" sz="2400" b="1" u="sng" dirty="0">
                <a:solidFill>
                  <a:srgbClr val="660033"/>
                </a:solidFill>
                <a:highlight>
                  <a:srgbClr val="FF00FF"/>
                </a:highlight>
                <a:sym typeface="Symbol" pitchFamily="18" charset="2"/>
              </a:rPr>
              <a:t>∧(v[1]=</a:t>
            </a:r>
            <a:r>
              <a:rPr lang="en-US" altLang="zh-CN" sz="2400" b="1" u="sng" dirty="0">
                <a:solidFill>
                  <a:srgbClr val="660033"/>
                </a:solidFill>
                <a:highlight>
                  <a:srgbClr val="FF00FF"/>
                </a:highlight>
                <a:latin typeface="Times New Roman"/>
                <a:sym typeface="Symbol" pitchFamily="18" charset="2"/>
              </a:rPr>
              <a:t>‘</a:t>
            </a:r>
            <a:r>
              <a:rPr lang="en-US" altLang="zh-CN" sz="2400" b="1" u="sng" dirty="0">
                <a:solidFill>
                  <a:srgbClr val="660033"/>
                </a:solidFill>
                <a:highlight>
                  <a:srgbClr val="FF00FF"/>
                </a:highlight>
                <a:sym typeface="Symbol" pitchFamily="18" charset="2"/>
              </a:rPr>
              <a:t>S1</a:t>
            </a:r>
            <a:r>
              <a:rPr lang="en-US" altLang="zh-CN" sz="2400" b="1" u="sng" dirty="0">
                <a:solidFill>
                  <a:srgbClr val="660033"/>
                </a:solidFill>
                <a:highlight>
                  <a:srgbClr val="FF00FF"/>
                </a:highlight>
                <a:latin typeface="Times New Roman"/>
                <a:sym typeface="Symbol" pitchFamily="18" charset="2"/>
              </a:rPr>
              <a:t>’</a:t>
            </a:r>
            <a:r>
              <a:rPr lang="en-US" altLang="zh-CN" sz="2400" b="1" u="sng" dirty="0">
                <a:solidFill>
                  <a:srgbClr val="660033"/>
                </a:solidFill>
                <a:sym typeface="Symbol" pitchFamily="18" charset="2"/>
              </a:rPr>
              <a:t></a:t>
            </a:r>
            <a:r>
              <a:rPr lang="en-US" altLang="zh-CN" sz="2400" b="1" u="sng" dirty="0">
                <a:solidFill>
                  <a:srgbClr val="660033"/>
                </a:solidFill>
                <a:highlight>
                  <a:srgbClr val="FFFF00"/>
                </a:highlight>
              </a:rPr>
              <a:t>(</a:t>
            </a:r>
            <a:r>
              <a:rPr lang="en-US" altLang="zh-CN" sz="2400" b="1" u="sng" dirty="0">
                <a:solidFill>
                  <a:srgbClr val="660033"/>
                </a:solidFill>
                <a:highlight>
                  <a:srgbClr val="FFFF00"/>
                </a:highlight>
                <a:sym typeface="Symbol" pitchFamily="18" charset="2"/>
              </a:rPr>
              <a:t></a:t>
            </a:r>
            <a:r>
              <a:rPr lang="en-US" altLang="zh-CN" sz="2400" b="1" u="sng" dirty="0">
                <a:solidFill>
                  <a:srgbClr val="660033"/>
                </a:solidFill>
                <a:highlight>
                  <a:srgbClr val="FFFF00"/>
                </a:highlight>
              </a:rPr>
              <a:t>w)(SPJ(w)</a:t>
            </a:r>
          </a:p>
          <a:p>
            <a:pPr algn="l">
              <a:lnSpc>
                <a:spcPct val="150000"/>
              </a:lnSpc>
              <a:spcBef>
                <a:spcPts val="600"/>
              </a:spcBef>
            </a:pPr>
            <a:r>
              <a:rPr lang="en-US" altLang="zh-CN" sz="2400" b="1" u="sng" dirty="0">
                <a:solidFill>
                  <a:srgbClr val="660033"/>
                </a:solidFill>
              </a:rPr>
              <a:t>     </a:t>
            </a:r>
            <a:r>
              <a:rPr lang="en-US" altLang="zh-CN" sz="2400" b="1" u="sng" dirty="0">
                <a:solidFill>
                  <a:srgbClr val="660033"/>
                </a:solidFill>
                <a:sym typeface="Symbol" pitchFamily="18" charset="2"/>
              </a:rPr>
              <a:t>∧</a:t>
            </a:r>
            <a:r>
              <a:rPr lang="en-US" altLang="zh-CN" sz="2400" b="1" u="sng" dirty="0">
                <a:solidFill>
                  <a:srgbClr val="660033"/>
                </a:solidFill>
                <a:highlight>
                  <a:srgbClr val="FFFF00"/>
                </a:highlight>
                <a:sym typeface="Symbol" pitchFamily="18" charset="2"/>
              </a:rPr>
              <a:t>w[3]=u[3]</a:t>
            </a:r>
            <a:r>
              <a:rPr lang="en-US" altLang="zh-CN" sz="2400" b="1" u="sng" dirty="0">
                <a:solidFill>
                  <a:srgbClr val="660033"/>
                </a:solidFill>
                <a:sym typeface="Symbol" pitchFamily="18" charset="2"/>
              </a:rPr>
              <a:t>∧</a:t>
            </a:r>
            <a:r>
              <a:rPr lang="en-US" altLang="zh-CN" sz="2400" b="1" u="sng" dirty="0">
                <a:solidFill>
                  <a:srgbClr val="660033"/>
                </a:solidFill>
                <a:highlight>
                  <a:srgbClr val="FFFF00"/>
                </a:highlight>
                <a:sym typeface="Symbol" pitchFamily="18" charset="2"/>
              </a:rPr>
              <a:t>w[2]=v[2])</a:t>
            </a:r>
            <a:r>
              <a:rPr lang="en-US" altLang="zh-CN" sz="2400" b="1" u="sng" dirty="0">
                <a:solidFill>
                  <a:srgbClr val="660033"/>
                </a:solidFill>
                <a:highlight>
                  <a:srgbClr val="FF40FF"/>
                </a:highlight>
                <a:sym typeface="Symbol" pitchFamily="18" charset="2"/>
              </a:rPr>
              <a:t>))</a:t>
            </a:r>
            <a:r>
              <a:rPr lang="en-US" altLang="zh-CN" sz="2400" b="1" dirty="0">
                <a:solidFill>
                  <a:srgbClr val="660033"/>
                </a:solidFill>
                <a:sym typeface="Symbol" pitchFamily="18" charset="2"/>
              </a:rPr>
              <a:t>∧</a:t>
            </a:r>
            <a:r>
              <a:rPr lang="en-US" altLang="zh-CN" sz="2400" b="1" dirty="0">
                <a:solidFill>
                  <a:srgbClr val="FF0000"/>
                </a:solidFill>
                <a:highlight>
                  <a:srgbClr val="00FF00"/>
                </a:highlight>
                <a:sym typeface="Symbol" pitchFamily="18" charset="2"/>
              </a:rPr>
              <a:t>t</a:t>
            </a:r>
            <a:r>
              <a:rPr lang="en-US" altLang="zh-CN" sz="2400" b="1" dirty="0">
                <a:solidFill>
                  <a:srgbClr val="660033"/>
                </a:solidFill>
                <a:highlight>
                  <a:srgbClr val="00FF00"/>
                </a:highlight>
                <a:sym typeface="Symbol" pitchFamily="18" charset="2"/>
              </a:rPr>
              <a:t>[l]=u[3]</a:t>
            </a:r>
            <a:r>
              <a:rPr lang="en-US" altLang="zh-CN" sz="2400" b="1" dirty="0">
                <a:solidFill>
                  <a:srgbClr val="660033"/>
                </a:solidFill>
                <a:sym typeface="Symbol" pitchFamily="18" charset="2"/>
              </a:rPr>
              <a:t>)}  </a:t>
            </a:r>
          </a:p>
        </p:txBody>
      </p:sp>
      <p:sp>
        <p:nvSpPr>
          <p:cNvPr id="3" name="Rectangle 7">
            <a:extLst>
              <a:ext uri="{FF2B5EF4-FFF2-40B4-BE49-F238E27FC236}">
                <a16:creationId xmlns:a16="http://schemas.microsoft.com/office/drawing/2014/main" id="{E6FF194D-CFF3-3082-D336-BE3C06BDC621}"/>
              </a:ext>
            </a:extLst>
          </p:cNvPr>
          <p:cNvSpPr>
            <a:spLocks noChangeArrowheads="1"/>
          </p:cNvSpPr>
          <p:nvPr/>
        </p:nvSpPr>
        <p:spPr bwMode="auto">
          <a:xfrm>
            <a:off x="10396" y="1340768"/>
            <a:ext cx="9378950" cy="384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spAutoFit/>
          </a:bodyPr>
          <a:lstStyle/>
          <a:p>
            <a:r>
              <a:rPr lang="en-US" altLang="zh-CN" sz="2400" b="1" dirty="0">
                <a:solidFill>
                  <a:schemeClr val="bg2"/>
                </a:solidFill>
              </a:rPr>
              <a:t>9.</a:t>
            </a:r>
            <a:r>
              <a:rPr lang="zh-CN" altLang="en-US" sz="2400" b="1" dirty="0">
                <a:solidFill>
                  <a:schemeClr val="bg2"/>
                </a:solidFill>
                <a:highlight>
                  <a:srgbClr val="00FF00"/>
                </a:highlight>
              </a:rPr>
              <a:t>检索</a:t>
            </a:r>
            <a:r>
              <a:rPr lang="zh-CN" altLang="en-US" sz="2400" b="1" dirty="0">
                <a:solidFill>
                  <a:schemeClr val="bg2"/>
                </a:solidFill>
              </a:rPr>
              <a:t>使用零件包含编号为</a:t>
            </a:r>
            <a:r>
              <a:rPr lang="en-US" altLang="zh-CN" sz="2400" b="1" dirty="0">
                <a:solidFill>
                  <a:schemeClr val="bg2"/>
                </a:solidFill>
              </a:rPr>
              <a:t>S1</a:t>
            </a:r>
            <a:r>
              <a:rPr lang="zh-CN" altLang="en-US" sz="2400" b="1" dirty="0">
                <a:solidFill>
                  <a:schemeClr val="bg2"/>
                </a:solidFill>
              </a:rPr>
              <a:t>供应商所供应的全部零件的</a:t>
            </a:r>
            <a:r>
              <a:rPr lang="zh-CN" altLang="en-US" sz="2400" b="1" dirty="0">
                <a:solidFill>
                  <a:schemeClr val="bg2"/>
                </a:solidFill>
                <a:highlight>
                  <a:srgbClr val="00FF00"/>
                </a:highlight>
              </a:rPr>
              <a:t>工程编号</a:t>
            </a:r>
            <a:r>
              <a:rPr lang="zh-CN" altLang="en-US" sz="2400" b="1" dirty="0">
                <a:solidFill>
                  <a:schemeClr val="bg2"/>
                </a:solidFill>
              </a:rPr>
              <a:t>。</a:t>
            </a:r>
          </a:p>
        </p:txBody>
      </p:sp>
      <p:sp>
        <p:nvSpPr>
          <p:cNvPr id="4" name="文本框 3">
            <a:extLst>
              <a:ext uri="{FF2B5EF4-FFF2-40B4-BE49-F238E27FC236}">
                <a16:creationId xmlns:a16="http://schemas.microsoft.com/office/drawing/2014/main" id="{60E54870-5514-F45A-CD1B-4600BA1E5DA3}"/>
              </a:ext>
            </a:extLst>
          </p:cNvPr>
          <p:cNvSpPr txBox="1"/>
          <p:nvPr/>
        </p:nvSpPr>
        <p:spPr>
          <a:xfrm>
            <a:off x="513784" y="2272973"/>
            <a:ext cx="1579278" cy="313932"/>
          </a:xfrm>
          <a:prstGeom prst="rect">
            <a:avLst/>
          </a:prstGeom>
          <a:noFill/>
        </p:spPr>
        <p:txBody>
          <a:bodyPr wrap="none" rtlCol="0">
            <a:spAutoFit/>
          </a:bodyPr>
          <a:lstStyle/>
          <a:p>
            <a:r>
              <a:rPr kumimoji="1" lang="zh-CN" altLang="en-US" b="1" dirty="0">
                <a:solidFill>
                  <a:srgbClr val="00B050"/>
                </a:solidFill>
              </a:rPr>
              <a:t>找这样的工程</a:t>
            </a:r>
          </a:p>
        </p:txBody>
      </p:sp>
      <p:sp>
        <p:nvSpPr>
          <p:cNvPr id="7" name="文本框 6">
            <a:extLst>
              <a:ext uri="{FF2B5EF4-FFF2-40B4-BE49-F238E27FC236}">
                <a16:creationId xmlns:a16="http://schemas.microsoft.com/office/drawing/2014/main" id="{54813F46-7845-D79E-BF94-8F56F0B6E59C}"/>
              </a:ext>
            </a:extLst>
          </p:cNvPr>
          <p:cNvSpPr txBox="1"/>
          <p:nvPr/>
        </p:nvSpPr>
        <p:spPr>
          <a:xfrm>
            <a:off x="2218091" y="2239828"/>
            <a:ext cx="4370107" cy="313932"/>
          </a:xfrm>
          <a:prstGeom prst="rect">
            <a:avLst/>
          </a:prstGeom>
          <a:noFill/>
        </p:spPr>
        <p:txBody>
          <a:bodyPr wrap="none" rtlCol="0">
            <a:spAutoFit/>
          </a:bodyPr>
          <a:lstStyle/>
          <a:p>
            <a:r>
              <a:rPr lang="zh-CN" altLang="en-US" b="1" dirty="0">
                <a:solidFill>
                  <a:srgbClr val="FF40FF"/>
                </a:solidFill>
              </a:rPr>
              <a:t>它使用的零件包含了由</a:t>
            </a:r>
            <a:r>
              <a:rPr lang="en-US" altLang="zh-CN" b="1" dirty="0">
                <a:solidFill>
                  <a:srgbClr val="FF40FF"/>
                </a:solidFill>
              </a:rPr>
              <a:t>s1</a:t>
            </a:r>
            <a:r>
              <a:rPr lang="zh-CN" altLang="en-US" b="1" dirty="0">
                <a:solidFill>
                  <a:srgbClr val="FF40FF"/>
                </a:solidFill>
              </a:rPr>
              <a:t>提供的所有</a:t>
            </a:r>
            <a:r>
              <a:rPr kumimoji="1" lang="zh-CN" altLang="en-US" b="1" dirty="0">
                <a:solidFill>
                  <a:srgbClr val="FF40FF"/>
                </a:solidFill>
              </a:rPr>
              <a:t>零件</a:t>
            </a:r>
          </a:p>
        </p:txBody>
      </p:sp>
      <p:pic>
        <p:nvPicPr>
          <p:cNvPr id="10" name="图片 9">
            <a:extLst>
              <a:ext uri="{FF2B5EF4-FFF2-40B4-BE49-F238E27FC236}">
                <a16:creationId xmlns:a16="http://schemas.microsoft.com/office/drawing/2014/main" id="{040903F9-5D58-0343-A58F-845F52B11B41}"/>
              </a:ext>
            </a:extLst>
          </p:cNvPr>
          <p:cNvPicPr>
            <a:picLocks noChangeAspect="1"/>
          </p:cNvPicPr>
          <p:nvPr/>
        </p:nvPicPr>
        <p:blipFill>
          <a:blip r:embed="rId2"/>
          <a:stretch>
            <a:fillRect/>
          </a:stretch>
        </p:blipFill>
        <p:spPr>
          <a:xfrm>
            <a:off x="186608" y="3134935"/>
            <a:ext cx="6120212" cy="1054264"/>
          </a:xfrm>
          <a:prstGeom prst="rect">
            <a:avLst/>
          </a:prstGeom>
        </p:spPr>
      </p:pic>
      <p:pic>
        <p:nvPicPr>
          <p:cNvPr id="11" name="图片 10">
            <a:extLst>
              <a:ext uri="{FF2B5EF4-FFF2-40B4-BE49-F238E27FC236}">
                <a16:creationId xmlns:a16="http://schemas.microsoft.com/office/drawing/2014/main" id="{E4D42E9D-B98D-D24E-27DD-FF080B238B94}"/>
              </a:ext>
            </a:extLst>
          </p:cNvPr>
          <p:cNvPicPr>
            <a:picLocks noChangeAspect="1"/>
          </p:cNvPicPr>
          <p:nvPr/>
        </p:nvPicPr>
        <p:blipFill>
          <a:blip r:embed="rId3"/>
          <a:stretch>
            <a:fillRect/>
          </a:stretch>
        </p:blipFill>
        <p:spPr>
          <a:xfrm>
            <a:off x="85324" y="4407285"/>
            <a:ext cx="9028945" cy="1902035"/>
          </a:xfrm>
          <a:prstGeom prst="rect">
            <a:avLst/>
          </a:prstGeom>
        </p:spPr>
      </p:pic>
      <p:sp>
        <p:nvSpPr>
          <p:cNvPr id="16" name="文本框 15">
            <a:extLst>
              <a:ext uri="{FF2B5EF4-FFF2-40B4-BE49-F238E27FC236}">
                <a16:creationId xmlns:a16="http://schemas.microsoft.com/office/drawing/2014/main" id="{1347C3FE-7471-B8DA-8C14-06A9F4BE2C87}"/>
              </a:ext>
            </a:extLst>
          </p:cNvPr>
          <p:cNvSpPr txBox="1"/>
          <p:nvPr/>
        </p:nvSpPr>
        <p:spPr>
          <a:xfrm>
            <a:off x="3995936" y="5661248"/>
            <a:ext cx="936104" cy="338554"/>
          </a:xfrm>
          <a:prstGeom prst="rect">
            <a:avLst/>
          </a:prstGeom>
          <a:noFill/>
        </p:spPr>
        <p:txBody>
          <a:bodyPr wrap="square">
            <a:spAutoFit/>
          </a:bodyPr>
          <a:lstStyle/>
          <a:p>
            <a:r>
              <a:rPr lang="en-US" altLang="zh-CN" sz="1900" b="1" dirty="0">
                <a:solidFill>
                  <a:srgbClr val="660033"/>
                </a:solidFill>
                <a:sym typeface="Symbol" pitchFamily="18" charset="2"/>
              </a:rPr>
              <a:t></a:t>
            </a:r>
            <a:endParaRPr lang="zh-CN" altLang="en-US" sz="1900" dirty="0"/>
          </a:p>
        </p:txBody>
      </p:sp>
    </p:spTree>
    <p:extLst>
      <p:ext uri="{BB962C8B-B14F-4D97-AF65-F5344CB8AC3E}">
        <p14:creationId xmlns:p14="http://schemas.microsoft.com/office/powerpoint/2010/main" val="5771542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linds(horizontal)">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2" grpId="0"/>
      <p:bldP spid="3" grpId="0"/>
    </p:bldLst>
  </p:timing>
</p:sld>
</file>

<file path=ppt/theme/theme1.xml><?xml version="1.0" encoding="utf-8"?>
<a:theme xmlns:a="http://schemas.openxmlformats.org/drawingml/2006/main" name="Soaring">
  <a:themeElements>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fontScheme name="Soaring">
      <a:majorFont>
        <a:latin typeface="Arial"/>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spAutoFit/>
      </a:bodyPr>
      <a:lstStyle>
        <a:defPPr marL="0" marR="0" indent="0" algn="just" defTabSz="914400" rtl="0" eaLnBrk="1" fontAlgn="base" latinLnBrk="0" hangingPunct="1">
          <a:lnSpc>
            <a:spcPct val="8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宋体" pitchFamily="2" charset="-122"/>
            <a:ea typeface="宋体" pitchFamily="2" charset="-122"/>
          </a:defRPr>
        </a:defPPr>
      </a:lstStyle>
    </a:spDef>
    <a:lnDef>
      <a:spPr bwMode="auto">
        <a:xfrm>
          <a:off x="0" y="0"/>
          <a:ext cx="1" cy="1"/>
        </a:xfrm>
        <a:custGeom>
          <a:avLst/>
          <a:gdLst/>
          <a:ahLst/>
          <a:cxnLst/>
          <a:rect l="0" t="0" r="0" b="0"/>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dist="35921" dir="2700000" algn="ctr" rotWithShape="0">
                  <a:srgbClr val="808080"/>
                </a:outerShdw>
              </a:effectLst>
            </a14:hiddenEffects>
          </a:ext>
        </a:extLst>
      </a:spPr>
      <a:bodyPr vert="horz" wrap="square" lIns="91440" tIns="45720" rIns="91440" bIns="45720" numCol="1" anchor="t" anchorCtr="0" compatLnSpc="1">
        <a:prstTxWarp prst="textNoShape">
          <a:avLst/>
        </a:prstTxWarp>
        <a:spAutoFit/>
      </a:bodyPr>
      <a:lstStyle>
        <a:defPPr marL="0" marR="0" indent="0" algn="just" defTabSz="914400" rtl="0" eaLnBrk="1" fontAlgn="base" latinLnBrk="0" hangingPunct="1">
          <a:lnSpc>
            <a:spcPct val="80000"/>
          </a:lnSpc>
          <a:spcBef>
            <a:spcPct val="50000"/>
          </a:spcBef>
          <a:spcAft>
            <a:spcPct val="0"/>
          </a:spcAft>
          <a:buClrTx/>
          <a:buSzTx/>
          <a:buFontTx/>
          <a:buNone/>
          <a:tabLst/>
          <a:defRPr kumimoji="1" lang="zh-CN" altLang="en-US" sz="1800" b="0" i="0" u="none" strike="noStrike" cap="none" normalizeH="0" baseline="0" smtClean="0">
            <a:ln>
              <a:noFill/>
            </a:ln>
            <a:solidFill>
              <a:schemeClr val="tx1"/>
            </a:solidFill>
            <a:effectLst/>
            <a:latin typeface="宋体" pitchFamily="2" charset="-122"/>
            <a:ea typeface="宋体" pitchFamily="2" charset="-122"/>
          </a:defRPr>
        </a:defPPr>
      </a:lstStyle>
    </a:lnDef>
  </a:objectDefaults>
  <a:extraClrSchemeLst>
    <a:extraClrScheme>
      <a:clrScheme name="Soaring 1">
        <a:dk1>
          <a:srgbClr val="000000"/>
        </a:dk1>
        <a:lt1>
          <a:srgbClr val="FFFFFF"/>
        </a:lt1>
        <a:dk2>
          <a:srgbClr val="0000FF"/>
        </a:dk2>
        <a:lt2>
          <a:srgbClr val="FFCC66"/>
        </a:lt2>
        <a:accent1>
          <a:srgbClr val="00FFFF"/>
        </a:accent1>
        <a:accent2>
          <a:srgbClr val="3366FF"/>
        </a:accent2>
        <a:accent3>
          <a:srgbClr val="AAAAFF"/>
        </a:accent3>
        <a:accent4>
          <a:srgbClr val="DADADA"/>
        </a:accent4>
        <a:accent5>
          <a:srgbClr val="AAFFFF"/>
        </a:accent5>
        <a:accent6>
          <a:srgbClr val="2D5CE7"/>
        </a:accent6>
        <a:hlink>
          <a:srgbClr val="FF0033"/>
        </a:hlink>
        <a:folHlink>
          <a:srgbClr val="FFFF00"/>
        </a:folHlink>
      </a:clrScheme>
      <a:clrMap bg1="dk2" tx1="lt1" bg2="dk1" tx2="lt2" accent1="accent1" accent2="accent2" accent3="accent3" accent4="accent4" accent5="accent5" accent6="accent6" hlink="hlink" folHlink="folHlink"/>
    </a:extraClrScheme>
    <a:extraClrScheme>
      <a:clrScheme name="Soaring 2">
        <a:dk1>
          <a:srgbClr val="000000"/>
        </a:dk1>
        <a:lt1>
          <a:srgbClr val="FFFFFF"/>
        </a:lt1>
        <a:dk2>
          <a:srgbClr val="000000"/>
        </a:dk2>
        <a:lt2>
          <a:srgbClr val="CCECFF"/>
        </a:lt2>
        <a:accent1>
          <a:srgbClr val="6699FF"/>
        </a:accent1>
        <a:accent2>
          <a:srgbClr val="66CCFF"/>
        </a:accent2>
        <a:accent3>
          <a:srgbClr val="FFFFFF"/>
        </a:accent3>
        <a:accent4>
          <a:srgbClr val="000000"/>
        </a:accent4>
        <a:accent5>
          <a:srgbClr val="B8CAFF"/>
        </a:accent5>
        <a:accent6>
          <a:srgbClr val="5CB9E7"/>
        </a:accent6>
        <a:hlink>
          <a:srgbClr val="CC99FF"/>
        </a:hlink>
        <a:folHlink>
          <a:srgbClr val="00CCCC"/>
        </a:folHlink>
      </a:clrScheme>
      <a:clrMap bg1="lt1" tx1="dk1" bg2="lt2" tx2="dk2" accent1="accent1" accent2="accent2" accent3="accent3" accent4="accent4" accent5="accent5" accent6="accent6" hlink="hlink" folHlink="folHlink"/>
    </a:extraClrScheme>
    <a:extraClrScheme>
      <a:clrScheme name="Soaring 3">
        <a:dk1>
          <a:srgbClr val="000000"/>
        </a:dk1>
        <a:lt1>
          <a:srgbClr val="FFFFFF"/>
        </a:lt1>
        <a:dk2>
          <a:srgbClr val="000000"/>
        </a:dk2>
        <a:lt2>
          <a:srgbClr val="FFFFFF"/>
        </a:lt2>
        <a:accent1>
          <a:srgbClr val="CBCBCB"/>
        </a:accent1>
        <a:accent2>
          <a:srgbClr val="EAEAEA"/>
        </a:accent2>
        <a:accent3>
          <a:srgbClr val="FFFFFF"/>
        </a:accent3>
        <a:accent4>
          <a:srgbClr val="000000"/>
        </a:accent4>
        <a:accent5>
          <a:srgbClr val="E2E2E2"/>
        </a:accent5>
        <a:accent6>
          <a:srgbClr val="D4D4D4"/>
        </a:accent6>
        <a:hlink>
          <a:srgbClr val="5F5F5F"/>
        </a:hlink>
        <a:folHlink>
          <a:srgbClr val="969696"/>
        </a:folHlink>
      </a:clrScheme>
      <a:clrMap bg1="lt1" tx1="dk1" bg2="lt2" tx2="dk2" accent1="accent1" accent2="accent2" accent3="accent3" accent4="accent4" accent5="accent5" accent6="accent6" hlink="hlink" folHlink="folHlink"/>
    </a:extraClrScheme>
    <a:extraClrScheme>
      <a:clrScheme name="Soaring 4">
        <a:dk1>
          <a:srgbClr val="000000"/>
        </a:dk1>
        <a:lt1>
          <a:srgbClr val="FFFFFF"/>
        </a:lt1>
        <a:dk2>
          <a:srgbClr val="008080"/>
        </a:dk2>
        <a:lt2>
          <a:srgbClr val="FFCC66"/>
        </a:lt2>
        <a:accent1>
          <a:srgbClr val="0099CC"/>
        </a:accent1>
        <a:accent2>
          <a:srgbClr val="009999"/>
        </a:accent2>
        <a:accent3>
          <a:srgbClr val="AAC0C0"/>
        </a:accent3>
        <a:accent4>
          <a:srgbClr val="DADADA"/>
        </a:accent4>
        <a:accent5>
          <a:srgbClr val="AACAE2"/>
        </a:accent5>
        <a:accent6>
          <a:srgbClr val="008A8A"/>
        </a:accent6>
        <a:hlink>
          <a:srgbClr val="6600CC"/>
        </a:hlink>
        <a:folHlink>
          <a:srgbClr val="FFFF00"/>
        </a:folHlink>
      </a:clrScheme>
      <a:clrMap bg1="dk2" tx1="lt1" bg2="dk1" tx2="lt2" accent1="accent1" accent2="accent2" accent3="accent3" accent4="accent4" accent5="accent5" accent6="accent6" hlink="hlink" folHlink="folHlink"/>
    </a:extraClrScheme>
    <a:extraClrScheme>
      <a:clrScheme name="Soaring 5">
        <a:dk1>
          <a:srgbClr val="000000"/>
        </a:dk1>
        <a:lt1>
          <a:srgbClr val="FFFFFF"/>
        </a:lt1>
        <a:dk2>
          <a:srgbClr val="993300"/>
        </a:dk2>
        <a:lt2>
          <a:srgbClr val="FFCC66"/>
        </a:lt2>
        <a:accent1>
          <a:srgbClr val="FF6633"/>
        </a:accent1>
        <a:accent2>
          <a:srgbClr val="CC6600"/>
        </a:accent2>
        <a:accent3>
          <a:srgbClr val="CAADAA"/>
        </a:accent3>
        <a:accent4>
          <a:srgbClr val="DADADA"/>
        </a:accent4>
        <a:accent5>
          <a:srgbClr val="FFB8AD"/>
        </a:accent5>
        <a:accent6>
          <a:srgbClr val="B95C00"/>
        </a:accent6>
        <a:hlink>
          <a:srgbClr val="CC0000"/>
        </a:hlink>
        <a:folHlink>
          <a:srgbClr val="FFFF0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C:\Program Files\Microsoft Office\Templates\Presentation Designs\Soaring.pot</Template>
  <TotalTime>20822</TotalTime>
  <Words>15028</Words>
  <Application>Microsoft Macintosh PowerPoint</Application>
  <PresentationFormat>全屏显示(4:3)</PresentationFormat>
  <Paragraphs>3189</Paragraphs>
  <Slides>109</Slides>
  <Notes>35</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109</vt:i4>
      </vt:variant>
    </vt:vector>
  </HeadingPairs>
  <TitlesOfParts>
    <vt:vector size="121" baseType="lpstr">
      <vt:lpstr>-apple-system</vt:lpstr>
      <vt:lpstr>楷体</vt:lpstr>
      <vt:lpstr>宋体</vt:lpstr>
      <vt:lpstr>微软雅黑</vt:lpstr>
      <vt:lpstr>Arial</vt:lpstr>
      <vt:lpstr>Cambria Math</vt:lpstr>
      <vt:lpstr>Courier New</vt:lpstr>
      <vt:lpstr>Symbol</vt:lpstr>
      <vt:lpstr>Tahoma</vt:lpstr>
      <vt:lpstr>Times New Roman</vt:lpstr>
      <vt:lpstr>Wingdings</vt:lpstr>
      <vt:lpstr>Soaring</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                                                                                                                                                                                                                                                                                                                                                                                                                                                                                                                                                                                                                                                                                                 </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                                                      </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Intel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DJQ</dc:creator>
  <cp:lastModifiedBy>Microsoft Office 用户</cp:lastModifiedBy>
  <cp:revision>1440</cp:revision>
  <dcterms:created xsi:type="dcterms:W3CDTF">2003-01-18T12:09:21Z</dcterms:created>
  <dcterms:modified xsi:type="dcterms:W3CDTF">2026-04-23T05:12:59Z</dcterms:modified>
</cp:coreProperties>
</file>