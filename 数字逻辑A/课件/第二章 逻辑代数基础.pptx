
<file path=[Content_Types].xml><?xml version="1.0" encoding="utf-8"?>
<Types xmlns="http://schemas.openxmlformats.org/package/2006/content-types">
  <Default Extension="bin" ContentType="application/vnd.openxmlformats-officedocument.oleObject"/>
  <Default Extension="png" ContentType="image/png"/>
  <Default Extension="wmf" ContentType="image/x-wmf"/>
  <Default Extension="jpeg" ContentType="image/jpeg"/>
  <Default Extension="rels" ContentType="application/vnd.openxmlformats-package.relationships+xml"/>
  <Default Extension="xml" ContentType="application/xml"/>
  <Default Extension="wav" ContentType="audio/wav"/>
  <Default Extension="vml" ContentType="application/vnd.openxmlformats-officedocument.vmlDrawing"/>
  <Default Extension="doc" ContentType="application/msword"/>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90"/>
  </p:notesMasterIdLst>
  <p:handoutMasterIdLst>
    <p:handoutMasterId r:id="rId91"/>
  </p:handoutMasterIdLst>
  <p:sldIdLst>
    <p:sldId id="343" r:id="rId2"/>
    <p:sldId id="297" r:id="rId3"/>
    <p:sldId id="374" r:id="rId4"/>
    <p:sldId id="375" r:id="rId5"/>
    <p:sldId id="376" r:id="rId6"/>
    <p:sldId id="377" r:id="rId7"/>
    <p:sldId id="378" r:id="rId8"/>
    <p:sldId id="452" r:id="rId9"/>
    <p:sldId id="379" r:id="rId10"/>
    <p:sldId id="451" r:id="rId11"/>
    <p:sldId id="380" r:id="rId12"/>
    <p:sldId id="453" r:id="rId13"/>
    <p:sldId id="381" r:id="rId14"/>
    <p:sldId id="382" r:id="rId15"/>
    <p:sldId id="383" r:id="rId16"/>
    <p:sldId id="384" r:id="rId17"/>
    <p:sldId id="422" r:id="rId18"/>
    <p:sldId id="424" r:id="rId19"/>
    <p:sldId id="425" r:id="rId20"/>
    <p:sldId id="426" r:id="rId21"/>
    <p:sldId id="427" r:id="rId22"/>
    <p:sldId id="428" r:id="rId23"/>
    <p:sldId id="429" r:id="rId24"/>
    <p:sldId id="423" r:id="rId25"/>
    <p:sldId id="385" r:id="rId26"/>
    <p:sldId id="387" r:id="rId27"/>
    <p:sldId id="430" r:id="rId28"/>
    <p:sldId id="388" r:id="rId29"/>
    <p:sldId id="431" r:id="rId30"/>
    <p:sldId id="386" r:id="rId31"/>
    <p:sldId id="389" r:id="rId32"/>
    <p:sldId id="390" r:id="rId33"/>
    <p:sldId id="391" r:id="rId34"/>
    <p:sldId id="392" r:id="rId35"/>
    <p:sldId id="393" r:id="rId36"/>
    <p:sldId id="394" r:id="rId37"/>
    <p:sldId id="395" r:id="rId38"/>
    <p:sldId id="396" r:id="rId39"/>
    <p:sldId id="397" r:id="rId40"/>
    <p:sldId id="398" r:id="rId41"/>
    <p:sldId id="399" r:id="rId42"/>
    <p:sldId id="432" r:id="rId43"/>
    <p:sldId id="434" r:id="rId44"/>
    <p:sldId id="400" r:id="rId45"/>
    <p:sldId id="401" r:id="rId46"/>
    <p:sldId id="433" r:id="rId47"/>
    <p:sldId id="435" r:id="rId48"/>
    <p:sldId id="402" r:id="rId49"/>
    <p:sldId id="373" r:id="rId50"/>
    <p:sldId id="404" r:id="rId51"/>
    <p:sldId id="405" r:id="rId52"/>
    <p:sldId id="437" r:id="rId53"/>
    <p:sldId id="436" r:id="rId54"/>
    <p:sldId id="406" r:id="rId55"/>
    <p:sldId id="438" r:id="rId56"/>
    <p:sldId id="407" r:id="rId57"/>
    <p:sldId id="403" r:id="rId58"/>
    <p:sldId id="409" r:id="rId59"/>
    <p:sldId id="439" r:id="rId60"/>
    <p:sldId id="410" r:id="rId61"/>
    <p:sldId id="440" r:id="rId62"/>
    <p:sldId id="411" r:id="rId63"/>
    <p:sldId id="414" r:id="rId64"/>
    <p:sldId id="415" r:id="rId65"/>
    <p:sldId id="441" r:id="rId66"/>
    <p:sldId id="442" r:id="rId67"/>
    <p:sldId id="413" r:id="rId68"/>
    <p:sldId id="416" r:id="rId69"/>
    <p:sldId id="417" r:id="rId70"/>
    <p:sldId id="444" r:id="rId71"/>
    <p:sldId id="418" r:id="rId72"/>
    <p:sldId id="419" r:id="rId73"/>
    <p:sldId id="443" r:id="rId74"/>
    <p:sldId id="445" r:id="rId75"/>
    <p:sldId id="446" r:id="rId76"/>
    <p:sldId id="447" r:id="rId77"/>
    <p:sldId id="459" r:id="rId78"/>
    <p:sldId id="420" r:id="rId79"/>
    <p:sldId id="448" r:id="rId80"/>
    <p:sldId id="421" r:id="rId81"/>
    <p:sldId id="454" r:id="rId82"/>
    <p:sldId id="455" r:id="rId83"/>
    <p:sldId id="456" r:id="rId84"/>
    <p:sldId id="449" r:id="rId85"/>
    <p:sldId id="450" r:id="rId86"/>
    <p:sldId id="458" r:id="rId87"/>
    <p:sldId id="457" r:id="rId88"/>
    <p:sldId id="408" r:id="rId89"/>
  </p:sldIdLst>
  <p:sldSz cx="9144000" cy="6858000" type="screen4x3"/>
  <p:notesSz cx="6858000" cy="9144000"/>
  <p:defaultTextStyle>
    <a:defPPr>
      <a:defRPr lang="zh-CN"/>
    </a:defPPr>
    <a:lvl1pPr algn="l" rtl="0" fontAlgn="base">
      <a:spcBef>
        <a:spcPct val="0"/>
      </a:spcBef>
      <a:spcAft>
        <a:spcPct val="0"/>
      </a:spcAft>
      <a:defRPr kumimoji="1" sz="2400" kern="1200">
        <a:solidFill>
          <a:schemeClr val="tx1"/>
        </a:solidFill>
        <a:latin typeface="Times New Roman" pitchFamily="18" charset="0"/>
        <a:ea typeface="宋体" charset="-122"/>
        <a:cs typeface="+mn-cs"/>
      </a:defRPr>
    </a:lvl1pPr>
    <a:lvl2pPr marL="457200" algn="l" rtl="0" fontAlgn="base">
      <a:spcBef>
        <a:spcPct val="0"/>
      </a:spcBef>
      <a:spcAft>
        <a:spcPct val="0"/>
      </a:spcAft>
      <a:defRPr kumimoji="1" sz="2400" kern="1200">
        <a:solidFill>
          <a:schemeClr val="tx1"/>
        </a:solidFill>
        <a:latin typeface="Times New Roman" pitchFamily="18" charset="0"/>
        <a:ea typeface="宋体" charset="-122"/>
        <a:cs typeface="+mn-cs"/>
      </a:defRPr>
    </a:lvl2pPr>
    <a:lvl3pPr marL="914400" algn="l" rtl="0" fontAlgn="base">
      <a:spcBef>
        <a:spcPct val="0"/>
      </a:spcBef>
      <a:spcAft>
        <a:spcPct val="0"/>
      </a:spcAft>
      <a:defRPr kumimoji="1" sz="2400" kern="1200">
        <a:solidFill>
          <a:schemeClr val="tx1"/>
        </a:solidFill>
        <a:latin typeface="Times New Roman" pitchFamily="18" charset="0"/>
        <a:ea typeface="宋体" charset="-122"/>
        <a:cs typeface="+mn-cs"/>
      </a:defRPr>
    </a:lvl3pPr>
    <a:lvl4pPr marL="1371600" algn="l" rtl="0" fontAlgn="base">
      <a:spcBef>
        <a:spcPct val="0"/>
      </a:spcBef>
      <a:spcAft>
        <a:spcPct val="0"/>
      </a:spcAft>
      <a:defRPr kumimoji="1" sz="2400" kern="1200">
        <a:solidFill>
          <a:schemeClr val="tx1"/>
        </a:solidFill>
        <a:latin typeface="Times New Roman" pitchFamily="18" charset="0"/>
        <a:ea typeface="宋体" charset="-122"/>
        <a:cs typeface="+mn-cs"/>
      </a:defRPr>
    </a:lvl4pPr>
    <a:lvl5pPr marL="1828800" algn="l" rtl="0" fontAlgn="base">
      <a:spcBef>
        <a:spcPct val="0"/>
      </a:spcBef>
      <a:spcAft>
        <a:spcPct val="0"/>
      </a:spcAft>
      <a:defRPr kumimoji="1" sz="2400" kern="1200">
        <a:solidFill>
          <a:schemeClr val="tx1"/>
        </a:solidFill>
        <a:latin typeface="Times New Roman" pitchFamily="18" charset="0"/>
        <a:ea typeface="宋体" charset="-122"/>
        <a:cs typeface="+mn-cs"/>
      </a:defRPr>
    </a:lvl5pPr>
    <a:lvl6pPr marL="2286000" algn="l" defTabSz="914400" rtl="0" eaLnBrk="1" latinLnBrk="0" hangingPunct="1">
      <a:defRPr kumimoji="1" sz="2400" kern="1200">
        <a:solidFill>
          <a:schemeClr val="tx1"/>
        </a:solidFill>
        <a:latin typeface="Times New Roman" pitchFamily="18" charset="0"/>
        <a:ea typeface="宋体" charset="-122"/>
        <a:cs typeface="+mn-cs"/>
      </a:defRPr>
    </a:lvl6pPr>
    <a:lvl7pPr marL="2743200" algn="l" defTabSz="914400" rtl="0" eaLnBrk="1" latinLnBrk="0" hangingPunct="1">
      <a:defRPr kumimoji="1" sz="2400" kern="1200">
        <a:solidFill>
          <a:schemeClr val="tx1"/>
        </a:solidFill>
        <a:latin typeface="Times New Roman" pitchFamily="18" charset="0"/>
        <a:ea typeface="宋体" charset="-122"/>
        <a:cs typeface="+mn-cs"/>
      </a:defRPr>
    </a:lvl7pPr>
    <a:lvl8pPr marL="3200400" algn="l" defTabSz="914400" rtl="0" eaLnBrk="1" latinLnBrk="0" hangingPunct="1">
      <a:defRPr kumimoji="1" sz="2400" kern="1200">
        <a:solidFill>
          <a:schemeClr val="tx1"/>
        </a:solidFill>
        <a:latin typeface="Times New Roman" pitchFamily="18" charset="0"/>
        <a:ea typeface="宋体" charset="-122"/>
        <a:cs typeface="+mn-cs"/>
      </a:defRPr>
    </a:lvl8pPr>
    <a:lvl9pPr marL="3657600" algn="l" defTabSz="914400" rtl="0" eaLnBrk="1" latinLnBrk="0" hangingPunct="1">
      <a:defRPr kumimoji="1" sz="2400" kern="1200">
        <a:solidFill>
          <a:schemeClr val="tx1"/>
        </a:solidFill>
        <a:latin typeface="Times New Roman" pitchFamily="18" charset="0"/>
        <a:ea typeface="宋体"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ACB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672" autoAdjust="0"/>
    <p:restoredTop sz="58872" autoAdjust="0"/>
  </p:normalViewPr>
  <p:slideViewPr>
    <p:cSldViewPr>
      <p:cViewPr>
        <p:scale>
          <a:sx n="70" d="100"/>
          <a:sy n="70" d="100"/>
        </p:scale>
        <p:origin x="-3102" y="-1056"/>
      </p:cViewPr>
      <p:guideLst>
        <p:guide orient="horz" pos="2160"/>
        <p:guide pos="2880"/>
      </p:guideLst>
    </p:cSldViewPr>
  </p:slideViewPr>
  <p:outlineViewPr>
    <p:cViewPr>
      <p:scale>
        <a:sx n="33" d="100"/>
        <a:sy n="33" d="100"/>
      </p:scale>
      <p:origin x="0" y="0"/>
    </p:cViewPr>
    <p:sldLst>
      <p:sld r:id="rId1" collapse="1"/>
      <p:sld r:id="rId2" collapse="1"/>
    </p:sldLst>
  </p:outlineViewPr>
  <p:notesTextViewPr>
    <p:cViewPr>
      <p:scale>
        <a:sx n="100" d="100"/>
        <a:sy n="100" d="100"/>
      </p:scale>
      <p:origin x="0" y="0"/>
    </p:cViewPr>
  </p:notesTextViewPr>
  <p:sorterViewPr>
    <p:cViewPr>
      <p:scale>
        <a:sx n="100" d="100"/>
        <a:sy n="100" d="100"/>
      </p:scale>
      <p:origin x="0" y="3804"/>
    </p:cViewPr>
  </p:sorterViewPr>
  <p:notesViewPr>
    <p:cSldViewPr>
      <p:cViewPr varScale="1">
        <p:scale>
          <a:sx n="55" d="100"/>
          <a:sy n="55" d="100"/>
        </p:scale>
        <p:origin x="-1878"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notesMaster" Target="notesMasters/notesMaster1.xml"/><Relationship Id="rId95"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_rels/viewProps.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slide" Target="slides/slide14.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wmf"/><Relationship Id="rId1" Type="http://schemas.openxmlformats.org/officeDocument/2006/relationships/image" Target="../media/image1.wmf"/><Relationship Id="rId4"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6.wmf"/><Relationship Id="rId1" Type="http://schemas.openxmlformats.org/officeDocument/2006/relationships/image" Target="../media/image5.wmf"/><Relationship Id="rId4" Type="http://schemas.openxmlformats.org/officeDocument/2006/relationships/image" Target="../media/image8.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image" Target="../media/image9.wmf"/><Relationship Id="rId4" Type="http://schemas.openxmlformats.org/officeDocument/2006/relationships/image" Target="../media/image12.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image" Target="../media/image13.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27.wmf"/><Relationship Id="rId1" Type="http://schemas.openxmlformats.org/officeDocument/2006/relationships/image" Target="../media/image26.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image" Target="../media/image29.wmf"/><Relationship Id="rId1" Type="http://schemas.openxmlformats.org/officeDocument/2006/relationships/image" Target="../media/image28.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image" Target="../media/image32.wmf"/><Relationship Id="rId1" Type="http://schemas.openxmlformats.org/officeDocument/2006/relationships/image" Target="../media/image31.wmf"/><Relationship Id="rId4" Type="http://schemas.openxmlformats.org/officeDocument/2006/relationships/image" Target="../media/image34.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35.wmf"/><Relationship Id="rId1" Type="http://schemas.openxmlformats.org/officeDocument/2006/relationships/image" Target="../media/image28.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image" Target="../media/image37.wmf"/><Relationship Id="rId1" Type="http://schemas.openxmlformats.org/officeDocument/2006/relationships/image" Target="../media/image36.wmf"/><Relationship Id="rId4" Type="http://schemas.openxmlformats.org/officeDocument/2006/relationships/image" Target="../media/image39.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42.wmf"/><Relationship Id="rId2" Type="http://schemas.openxmlformats.org/officeDocument/2006/relationships/image" Target="../media/image41.wmf"/><Relationship Id="rId1" Type="http://schemas.openxmlformats.org/officeDocument/2006/relationships/image" Target="../media/image40.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45.wmf"/><Relationship Id="rId2" Type="http://schemas.openxmlformats.org/officeDocument/2006/relationships/image" Target="../media/image44.wmf"/><Relationship Id="rId1" Type="http://schemas.openxmlformats.org/officeDocument/2006/relationships/image" Target="../media/image43.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48.wmf"/><Relationship Id="rId2" Type="http://schemas.openxmlformats.org/officeDocument/2006/relationships/image" Target="../media/image47.wmf"/><Relationship Id="rId1" Type="http://schemas.openxmlformats.org/officeDocument/2006/relationships/image" Target="../media/image46.wmf"/><Relationship Id="rId4" Type="http://schemas.openxmlformats.org/officeDocument/2006/relationships/image" Target="../media/image49.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50.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52.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57.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64.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119.wmf"/><Relationship Id="rId2" Type="http://schemas.openxmlformats.org/officeDocument/2006/relationships/image" Target="../media/image118.wmf"/><Relationship Id="rId1" Type="http://schemas.openxmlformats.org/officeDocument/2006/relationships/image" Target="../media/image117.wmf"/><Relationship Id="rId6" Type="http://schemas.openxmlformats.org/officeDocument/2006/relationships/image" Target="../media/image122.wmf"/><Relationship Id="rId5" Type="http://schemas.openxmlformats.org/officeDocument/2006/relationships/image" Target="../media/image121.wmf"/><Relationship Id="rId4" Type="http://schemas.openxmlformats.org/officeDocument/2006/relationships/image" Target="../media/image120.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902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New Roman" charset="0"/>
                <a:ea typeface="宋体" pitchFamily="2" charset="-122"/>
              </a:defRPr>
            </a:lvl1pPr>
          </a:lstStyle>
          <a:p>
            <a:pPr>
              <a:defRPr/>
            </a:pPr>
            <a:endParaRPr lang="en-US" altLang="zh-CN"/>
          </a:p>
        </p:txBody>
      </p:sp>
      <p:sp>
        <p:nvSpPr>
          <p:cNvPr id="129027"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New Roman" charset="0"/>
                <a:ea typeface="宋体" pitchFamily="2" charset="-122"/>
              </a:defRPr>
            </a:lvl1pPr>
          </a:lstStyle>
          <a:p>
            <a:pPr>
              <a:defRPr/>
            </a:pPr>
            <a:endParaRPr lang="en-US" altLang="zh-CN"/>
          </a:p>
        </p:txBody>
      </p:sp>
      <p:sp>
        <p:nvSpPr>
          <p:cNvPr id="129028"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New Roman" charset="0"/>
                <a:ea typeface="宋体" pitchFamily="2" charset="-122"/>
              </a:defRPr>
            </a:lvl1pPr>
          </a:lstStyle>
          <a:p>
            <a:pPr>
              <a:defRPr/>
            </a:pPr>
            <a:endParaRPr lang="en-US" altLang="zh-CN"/>
          </a:p>
        </p:txBody>
      </p:sp>
      <p:sp>
        <p:nvSpPr>
          <p:cNvPr id="129029"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imes New Roman" charset="0"/>
                <a:ea typeface="宋体" pitchFamily="2" charset="-122"/>
              </a:defRPr>
            </a:lvl1pPr>
          </a:lstStyle>
          <a:p>
            <a:pPr>
              <a:defRPr/>
            </a:pPr>
            <a:fld id="{8DD5117F-E724-4CBC-A98B-244E4F4843F0}" type="slidenum">
              <a:rPr lang="en-US" altLang="zh-CN"/>
              <a:pPr>
                <a:defRPr/>
              </a:pPr>
              <a:t>‹#›</a:t>
            </a:fld>
            <a:endParaRPr lang="en-US" altLang="zh-CN"/>
          </a:p>
        </p:txBody>
      </p:sp>
    </p:spTree>
    <p:extLst>
      <p:ext uri="{BB962C8B-B14F-4D97-AF65-F5344CB8AC3E}">
        <p14:creationId xmlns:p14="http://schemas.microsoft.com/office/powerpoint/2010/main" val="10684466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800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New Roman" charset="0"/>
                <a:ea typeface="宋体" pitchFamily="2" charset="-122"/>
              </a:defRPr>
            </a:lvl1pPr>
          </a:lstStyle>
          <a:p>
            <a:pPr>
              <a:defRPr/>
            </a:pPr>
            <a:endParaRPr lang="en-US" altLang="zh-CN"/>
          </a:p>
        </p:txBody>
      </p:sp>
      <p:sp>
        <p:nvSpPr>
          <p:cNvPr id="128003"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New Roman" charset="0"/>
                <a:ea typeface="宋体" pitchFamily="2" charset="-122"/>
              </a:defRPr>
            </a:lvl1pPr>
          </a:lstStyle>
          <a:p>
            <a:pPr>
              <a:defRPr/>
            </a:pPr>
            <a:endParaRPr lang="en-US" altLang="zh-CN"/>
          </a:p>
        </p:txBody>
      </p:sp>
      <p:sp>
        <p:nvSpPr>
          <p:cNvPr id="8704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8005"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128006"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New Roman" charset="0"/>
                <a:ea typeface="宋体" pitchFamily="2" charset="-122"/>
              </a:defRPr>
            </a:lvl1pPr>
          </a:lstStyle>
          <a:p>
            <a:pPr>
              <a:defRPr/>
            </a:pPr>
            <a:endParaRPr lang="en-US" altLang="zh-CN"/>
          </a:p>
        </p:txBody>
      </p:sp>
      <p:sp>
        <p:nvSpPr>
          <p:cNvPr id="128007"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imes New Roman" charset="0"/>
                <a:ea typeface="宋体" pitchFamily="2" charset="-122"/>
              </a:defRPr>
            </a:lvl1pPr>
          </a:lstStyle>
          <a:p>
            <a:pPr>
              <a:defRPr/>
            </a:pPr>
            <a:fld id="{1A2DCF69-A2E4-4DEE-A8E7-68268323916B}" type="slidenum">
              <a:rPr lang="en-US" altLang="zh-CN"/>
              <a:pPr>
                <a:defRPr/>
              </a:pPr>
              <a:t>‹#›</a:t>
            </a:fld>
            <a:endParaRPr lang="en-US" altLang="zh-CN"/>
          </a:p>
        </p:txBody>
      </p:sp>
    </p:spTree>
    <p:extLst>
      <p:ext uri="{BB962C8B-B14F-4D97-AF65-F5344CB8AC3E}">
        <p14:creationId xmlns:p14="http://schemas.microsoft.com/office/powerpoint/2010/main" val="115623310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幻灯片图像占位符 1"/>
          <p:cNvSpPr>
            <a:spLocks noGrp="1" noRot="1" noChangeAspect="1" noTextEdit="1"/>
          </p:cNvSpPr>
          <p:nvPr>
            <p:ph type="sldImg"/>
          </p:nvPr>
        </p:nvSpPr>
        <p:spPr>
          <a:ln/>
        </p:spPr>
      </p:sp>
      <p:sp>
        <p:nvSpPr>
          <p:cNvPr id="8806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latin typeface="Times New Roman" pitchFamily="18" charset="0"/>
              <a:ea typeface="宋体" charset="-122"/>
            </a:endParaRPr>
          </a:p>
        </p:txBody>
      </p:sp>
      <p:sp>
        <p:nvSpPr>
          <p:cNvPr id="8806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fld id="{04ADF4B4-55C7-4B19-9266-1D01653FC227}" type="slidenum">
              <a:rPr lang="en-US" altLang="zh-CN" sz="1200" smtClean="0"/>
              <a:pPr eaLnBrk="1" hangingPunct="1"/>
              <a:t>17</a:t>
            </a:fld>
            <a:endParaRPr lang="en-US" altLang="zh-CN" sz="1200"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p:cNvSpPr>
            <a:spLocks noGrp="1" noRot="1" noChangeAspect="1" noTextEdit="1"/>
          </p:cNvSpPr>
          <p:nvPr>
            <p:ph type="sldImg"/>
          </p:nvPr>
        </p:nvSpPr>
        <p:spPr>
          <a:ln/>
        </p:spPr>
      </p:sp>
      <p:sp>
        <p:nvSpPr>
          <p:cNvPr id="8909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latin typeface="Times New Roman" pitchFamily="18" charset="0"/>
              <a:ea typeface="宋体" charset="-122"/>
            </a:endParaRPr>
          </a:p>
        </p:txBody>
      </p:sp>
      <p:sp>
        <p:nvSpPr>
          <p:cNvPr id="8909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fld id="{C39E5075-E3EB-4BC2-905B-75122AE1B1EE}" type="slidenum">
              <a:rPr lang="en-US" altLang="zh-CN" sz="1200" smtClean="0"/>
              <a:pPr eaLnBrk="1" hangingPunct="1"/>
              <a:t>18</a:t>
            </a:fld>
            <a:endParaRPr lang="en-US" altLang="zh-CN" sz="1200"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幻灯片图像占位符 1"/>
          <p:cNvSpPr>
            <a:spLocks noGrp="1" noRot="1" noChangeAspect="1" noTextEdit="1"/>
          </p:cNvSpPr>
          <p:nvPr>
            <p:ph type="sldImg"/>
          </p:nvPr>
        </p:nvSpPr>
        <p:spPr>
          <a:ln/>
        </p:spPr>
      </p:sp>
      <p:sp>
        <p:nvSpPr>
          <p:cNvPr id="9011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latin typeface="Times New Roman" pitchFamily="18" charset="0"/>
              <a:ea typeface="宋体" charset="-122"/>
            </a:endParaRPr>
          </a:p>
        </p:txBody>
      </p:sp>
      <p:sp>
        <p:nvSpPr>
          <p:cNvPr id="9011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fld id="{F582D2D8-E29B-495B-9304-CE2D9D94C956}" type="slidenum">
              <a:rPr lang="en-US" altLang="zh-CN" sz="1200" smtClean="0"/>
              <a:pPr eaLnBrk="1" hangingPunct="1"/>
              <a:t>19</a:t>
            </a:fld>
            <a:endParaRPr lang="en-US" altLang="zh-CN" sz="1200"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幻灯片图像占位符 1"/>
          <p:cNvSpPr>
            <a:spLocks noGrp="1" noRot="1" noChangeAspect="1" noTextEdit="1"/>
          </p:cNvSpPr>
          <p:nvPr>
            <p:ph type="sldImg"/>
          </p:nvPr>
        </p:nvSpPr>
        <p:spPr>
          <a:ln/>
        </p:spPr>
      </p:sp>
      <p:sp>
        <p:nvSpPr>
          <p:cNvPr id="9113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latin typeface="Times New Roman" pitchFamily="18" charset="0"/>
              <a:ea typeface="宋体" charset="-122"/>
            </a:endParaRPr>
          </a:p>
        </p:txBody>
      </p:sp>
      <p:sp>
        <p:nvSpPr>
          <p:cNvPr id="9114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fld id="{6EE80053-B3DD-477F-86A9-E5119103891F}" type="slidenum">
              <a:rPr lang="en-US" altLang="zh-CN" sz="1200" smtClean="0"/>
              <a:pPr eaLnBrk="1" hangingPunct="1"/>
              <a:t>20</a:t>
            </a:fld>
            <a:endParaRPr lang="en-US" altLang="zh-CN" sz="1200"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幻灯片图像占位符 1"/>
          <p:cNvSpPr>
            <a:spLocks noGrp="1" noRot="1" noChangeAspect="1" noTextEdit="1"/>
          </p:cNvSpPr>
          <p:nvPr>
            <p:ph type="sldImg"/>
          </p:nvPr>
        </p:nvSpPr>
        <p:spPr>
          <a:ln/>
        </p:spPr>
      </p:sp>
      <p:sp>
        <p:nvSpPr>
          <p:cNvPr id="9216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latin typeface="Times New Roman" pitchFamily="18" charset="0"/>
              <a:ea typeface="宋体" charset="-122"/>
            </a:endParaRPr>
          </a:p>
        </p:txBody>
      </p:sp>
      <p:sp>
        <p:nvSpPr>
          <p:cNvPr id="9216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fld id="{9CB01ED1-8A3D-4DE5-BE88-47AB5DA46EB3}" type="slidenum">
              <a:rPr lang="en-US" altLang="zh-CN" sz="1200" smtClean="0"/>
              <a:pPr eaLnBrk="1" hangingPunct="1"/>
              <a:t>21</a:t>
            </a:fld>
            <a:endParaRPr lang="en-US" altLang="zh-CN" sz="1200"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幻灯片图像占位符 1"/>
          <p:cNvSpPr>
            <a:spLocks noGrp="1" noRot="1" noChangeAspect="1" noTextEdit="1"/>
          </p:cNvSpPr>
          <p:nvPr>
            <p:ph type="sldImg"/>
          </p:nvPr>
        </p:nvSpPr>
        <p:spPr>
          <a:ln/>
        </p:spPr>
      </p:sp>
      <p:sp>
        <p:nvSpPr>
          <p:cNvPr id="9318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latin typeface="Times New Roman" pitchFamily="18" charset="0"/>
              <a:ea typeface="宋体" charset="-122"/>
            </a:endParaRPr>
          </a:p>
        </p:txBody>
      </p:sp>
      <p:sp>
        <p:nvSpPr>
          <p:cNvPr id="9318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fld id="{3DD354ED-1E19-459C-8D97-31710DB2AA54}" type="slidenum">
              <a:rPr lang="en-US" altLang="zh-CN" sz="1200" smtClean="0"/>
              <a:pPr eaLnBrk="1" hangingPunct="1"/>
              <a:t>22</a:t>
            </a:fld>
            <a:endParaRPr lang="en-US" altLang="zh-CN" sz="1200"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幻灯片图像占位符 1"/>
          <p:cNvSpPr>
            <a:spLocks noGrp="1" noRot="1" noChangeAspect="1" noTextEdit="1"/>
          </p:cNvSpPr>
          <p:nvPr>
            <p:ph type="sldImg"/>
          </p:nvPr>
        </p:nvSpPr>
        <p:spPr>
          <a:ln/>
        </p:spPr>
      </p:sp>
      <p:sp>
        <p:nvSpPr>
          <p:cNvPr id="9421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latin typeface="Times New Roman" pitchFamily="18" charset="0"/>
              <a:ea typeface="宋体" charset="-122"/>
            </a:endParaRPr>
          </a:p>
        </p:txBody>
      </p:sp>
      <p:sp>
        <p:nvSpPr>
          <p:cNvPr id="9421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fld id="{95E265D0-ADEC-4102-8A6E-3464A25E8F2B}" type="slidenum">
              <a:rPr lang="en-US" altLang="zh-CN" sz="1200" smtClean="0"/>
              <a:pPr eaLnBrk="1" hangingPunct="1"/>
              <a:t>23</a:t>
            </a:fld>
            <a:endParaRPr lang="en-US" altLang="zh-CN" sz="1200"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a:grpSpLocks/>
          </p:cNvGrpSpPr>
          <p:nvPr/>
        </p:nvGrpSpPr>
        <p:grpSpPr bwMode="auto">
          <a:xfrm>
            <a:off x="0" y="2438400"/>
            <a:ext cx="9009063" cy="1052513"/>
            <a:chOff x="0" y="1536"/>
            <a:chExt cx="5675" cy="663"/>
          </a:xfrm>
        </p:grpSpPr>
        <p:grpSp>
          <p:nvGrpSpPr>
            <p:cNvPr id="5" name="Group 3"/>
            <p:cNvGrpSpPr>
              <a:grpSpLocks/>
            </p:cNvGrpSpPr>
            <p:nvPr/>
          </p:nvGrpSpPr>
          <p:grpSpPr bwMode="auto">
            <a:xfrm>
              <a:off x="185" y="1604"/>
              <a:ext cx="449"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grpSp>
        <p:grpSp>
          <p:nvGrpSpPr>
            <p:cNvPr id="6" name="Group 6"/>
            <p:cNvGrpSpPr>
              <a:grpSpLocks/>
            </p:cNvGrpSpPr>
            <p:nvPr/>
          </p:nvGrpSpPr>
          <p:grpSpPr bwMode="auto">
            <a:xfrm>
              <a:off x="263" y="1870"/>
              <a:ext cx="466"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11"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8" name="Rectangle 10"/>
            <p:cNvSpPr>
              <a:spLocks noChangeArrowheads="1"/>
            </p:cNvSpPr>
            <p:nvPr/>
          </p:nvSpPr>
          <p:spPr bwMode="auto">
            <a:xfrm>
              <a:off x="400" y="1536"/>
              <a:ext cx="20" cy="66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grpSp>
      <p:sp>
        <p:nvSpPr>
          <p:cNvPr id="10252" name="Rectangle 12"/>
          <p:cNvSpPr>
            <a:spLocks noGrp="1" noChangeArrowheads="1"/>
          </p:cNvSpPr>
          <p:nvPr>
            <p:ph type="ctrTitle"/>
          </p:nvPr>
        </p:nvSpPr>
        <p:spPr>
          <a:xfrm>
            <a:off x="990600" y="1828800"/>
            <a:ext cx="7772400" cy="1143000"/>
          </a:xfrm>
        </p:spPr>
        <p:txBody>
          <a:bodyPr/>
          <a:lstStyle>
            <a:lvl1pPr>
              <a:defRPr/>
            </a:lvl1pPr>
          </a:lstStyle>
          <a:p>
            <a:r>
              <a:rPr lang="en-US" altLang="zh-CN"/>
              <a:t>Click to edit Master title style</a:t>
            </a:r>
          </a:p>
        </p:txBody>
      </p:sp>
      <p:sp>
        <p:nvSpPr>
          <p:cNvPr id="10253"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en-US" altLang="zh-CN"/>
              <a:t>Click to edit Master subtitle style</a:t>
            </a:r>
          </a:p>
        </p:txBody>
      </p:sp>
      <p:sp>
        <p:nvSpPr>
          <p:cNvPr id="14" name="Rectangle 14"/>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fld id="{6CE70B03-5E6A-476B-A220-29A543CAD9AA}" type="datetime1">
              <a:rPr lang="zh-CN" altLang="en-US"/>
              <a:pPr>
                <a:defRPr/>
              </a:pPr>
              <a:t>2021/9/21</a:t>
            </a:fld>
            <a:endParaRPr lang="en-US" altLang="zh-CN"/>
          </a:p>
        </p:txBody>
      </p:sp>
      <p:sp>
        <p:nvSpPr>
          <p:cNvPr id="15" name="Rectangle 15"/>
          <p:cNvSpPr>
            <a:spLocks noGrp="1" noChangeArrowheads="1"/>
          </p:cNvSpPr>
          <p:nvPr>
            <p:ph type="ftr" sz="quarter" idx="11"/>
          </p:nvPr>
        </p:nvSpPr>
        <p:spPr>
          <a:xfrm>
            <a:off x="3429000" y="6248400"/>
            <a:ext cx="2895600" cy="457200"/>
          </a:xfrm>
        </p:spPr>
        <p:txBody>
          <a:bodyPr/>
          <a:lstStyle>
            <a:lvl1pPr>
              <a:defRPr>
                <a:solidFill>
                  <a:schemeClr val="bg2"/>
                </a:solidFill>
              </a:defRPr>
            </a:lvl1pPr>
          </a:lstStyle>
          <a:p>
            <a:pPr>
              <a:defRPr/>
            </a:pPr>
            <a:r>
              <a:rPr lang="en-US" altLang="zh-CN"/>
              <a:t>上海大学计算机学院</a:t>
            </a:r>
          </a:p>
        </p:txBody>
      </p:sp>
      <p:sp>
        <p:nvSpPr>
          <p:cNvPr id="16" name="Rectangle 16"/>
          <p:cNvSpPr>
            <a:spLocks noGrp="1" noChangeArrowheads="1"/>
          </p:cNvSpPr>
          <p:nvPr>
            <p:ph type="sldNum" sz="quarter" idx="12"/>
          </p:nvPr>
        </p:nvSpPr>
        <p:spPr>
          <a:xfrm>
            <a:off x="6858000" y="6248400"/>
            <a:ext cx="1905000" cy="457200"/>
          </a:xfrm>
        </p:spPr>
        <p:txBody>
          <a:bodyPr/>
          <a:lstStyle>
            <a:lvl1pPr>
              <a:defRPr>
                <a:solidFill>
                  <a:schemeClr val="bg2"/>
                </a:solidFill>
              </a:defRPr>
            </a:lvl1pPr>
          </a:lstStyle>
          <a:p>
            <a:pPr>
              <a:defRPr/>
            </a:pPr>
            <a:fld id="{54424048-FA2C-435F-9BC1-00D2CC9F7B8B}" type="slidenum">
              <a:rPr lang="en-US" altLang="zh-CN"/>
              <a:pPr>
                <a:defRPr/>
              </a:pPr>
              <a:t>‹#›</a:t>
            </a:fld>
            <a:endParaRPr lang="en-US" altLang="zh-CN"/>
          </a:p>
        </p:txBody>
      </p:sp>
    </p:spTree>
    <p:extLst>
      <p:ext uri="{BB962C8B-B14F-4D97-AF65-F5344CB8AC3E}">
        <p14:creationId xmlns:p14="http://schemas.microsoft.com/office/powerpoint/2010/main" val="195291554"/>
      </p:ext>
    </p:extLst>
  </p:cSld>
  <p:clrMapOvr>
    <a:masterClrMapping/>
  </p:clrMapOvr>
  <p:transition>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11"/>
          <p:cNvSpPr>
            <a:spLocks noGrp="1" noChangeArrowheads="1"/>
          </p:cNvSpPr>
          <p:nvPr>
            <p:ph type="dt" sz="half" idx="10"/>
          </p:nvPr>
        </p:nvSpPr>
        <p:spPr>
          <a:ln/>
        </p:spPr>
        <p:txBody>
          <a:bodyPr/>
          <a:lstStyle>
            <a:lvl1pPr>
              <a:defRPr/>
            </a:lvl1pPr>
          </a:lstStyle>
          <a:p>
            <a:pPr>
              <a:defRPr/>
            </a:pPr>
            <a:fld id="{6CA98A37-2FDB-488C-AB3F-864019BB58B4}" type="datetime1">
              <a:rPr lang="zh-CN" altLang="en-US"/>
              <a:pPr>
                <a:defRPr/>
              </a:pPr>
              <a:t>2021/9/21</a:t>
            </a:fld>
            <a:endParaRPr lang="en-US" altLang="zh-CN"/>
          </a:p>
        </p:txBody>
      </p:sp>
      <p:sp>
        <p:nvSpPr>
          <p:cNvPr id="5" name="Rectangle 12"/>
          <p:cNvSpPr>
            <a:spLocks noGrp="1" noChangeArrowheads="1"/>
          </p:cNvSpPr>
          <p:nvPr>
            <p:ph type="ftr" sz="quarter" idx="11"/>
          </p:nvPr>
        </p:nvSpPr>
        <p:spPr>
          <a:ln/>
        </p:spPr>
        <p:txBody>
          <a:bodyPr/>
          <a:lstStyle>
            <a:lvl1pPr>
              <a:defRPr/>
            </a:lvl1pPr>
          </a:lstStyle>
          <a:p>
            <a:pPr>
              <a:defRPr/>
            </a:pPr>
            <a:r>
              <a:rPr lang="en-US" altLang="zh-CN"/>
              <a:t>上海大学计算机学院</a:t>
            </a:r>
          </a:p>
        </p:txBody>
      </p:sp>
      <p:sp>
        <p:nvSpPr>
          <p:cNvPr id="6" name="Rectangle 13"/>
          <p:cNvSpPr>
            <a:spLocks noGrp="1" noChangeArrowheads="1"/>
          </p:cNvSpPr>
          <p:nvPr>
            <p:ph type="sldNum" sz="quarter" idx="12"/>
          </p:nvPr>
        </p:nvSpPr>
        <p:spPr>
          <a:ln/>
        </p:spPr>
        <p:txBody>
          <a:bodyPr/>
          <a:lstStyle>
            <a:lvl1pPr>
              <a:defRPr/>
            </a:lvl1pPr>
          </a:lstStyle>
          <a:p>
            <a:pPr>
              <a:defRPr/>
            </a:pPr>
            <a:fld id="{E45407AE-4D07-4A66-9E6D-0DBA2F104CCD}" type="slidenum">
              <a:rPr lang="en-US" altLang="zh-CN"/>
              <a:pPr>
                <a:defRPr/>
              </a:pPr>
              <a:t>‹#›</a:t>
            </a:fld>
            <a:endParaRPr lang="en-US" altLang="zh-CN"/>
          </a:p>
        </p:txBody>
      </p:sp>
    </p:spTree>
    <p:extLst>
      <p:ext uri="{BB962C8B-B14F-4D97-AF65-F5344CB8AC3E}">
        <p14:creationId xmlns:p14="http://schemas.microsoft.com/office/powerpoint/2010/main" val="1401961383"/>
      </p:ext>
    </p:extLst>
  </p:cSld>
  <p:clrMapOvr>
    <a:masterClrMapping/>
  </p:clrMapOvr>
  <p:transition>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11"/>
          <p:cNvSpPr>
            <a:spLocks noGrp="1" noChangeArrowheads="1"/>
          </p:cNvSpPr>
          <p:nvPr>
            <p:ph type="dt" sz="half" idx="10"/>
          </p:nvPr>
        </p:nvSpPr>
        <p:spPr>
          <a:ln/>
        </p:spPr>
        <p:txBody>
          <a:bodyPr/>
          <a:lstStyle>
            <a:lvl1pPr>
              <a:defRPr/>
            </a:lvl1pPr>
          </a:lstStyle>
          <a:p>
            <a:pPr>
              <a:defRPr/>
            </a:pPr>
            <a:fld id="{C243067E-11D8-4534-A860-88F052187136}" type="datetime1">
              <a:rPr lang="zh-CN" altLang="en-US"/>
              <a:pPr>
                <a:defRPr/>
              </a:pPr>
              <a:t>2021/9/21</a:t>
            </a:fld>
            <a:endParaRPr lang="en-US" altLang="zh-CN"/>
          </a:p>
        </p:txBody>
      </p:sp>
      <p:sp>
        <p:nvSpPr>
          <p:cNvPr id="5" name="Rectangle 12"/>
          <p:cNvSpPr>
            <a:spLocks noGrp="1" noChangeArrowheads="1"/>
          </p:cNvSpPr>
          <p:nvPr>
            <p:ph type="ftr" sz="quarter" idx="11"/>
          </p:nvPr>
        </p:nvSpPr>
        <p:spPr>
          <a:ln/>
        </p:spPr>
        <p:txBody>
          <a:bodyPr/>
          <a:lstStyle>
            <a:lvl1pPr>
              <a:defRPr/>
            </a:lvl1pPr>
          </a:lstStyle>
          <a:p>
            <a:pPr>
              <a:defRPr/>
            </a:pPr>
            <a:r>
              <a:rPr lang="en-US" altLang="zh-CN"/>
              <a:t>上海大学计算机学院</a:t>
            </a:r>
          </a:p>
        </p:txBody>
      </p:sp>
      <p:sp>
        <p:nvSpPr>
          <p:cNvPr id="6" name="Rectangle 13"/>
          <p:cNvSpPr>
            <a:spLocks noGrp="1" noChangeArrowheads="1"/>
          </p:cNvSpPr>
          <p:nvPr>
            <p:ph type="sldNum" sz="quarter" idx="12"/>
          </p:nvPr>
        </p:nvSpPr>
        <p:spPr>
          <a:ln/>
        </p:spPr>
        <p:txBody>
          <a:bodyPr/>
          <a:lstStyle>
            <a:lvl1pPr>
              <a:defRPr/>
            </a:lvl1pPr>
          </a:lstStyle>
          <a:p>
            <a:pPr>
              <a:defRPr/>
            </a:pPr>
            <a:fld id="{2D11CD6C-73B9-4280-90E6-95D61C7C1494}" type="slidenum">
              <a:rPr lang="en-US" altLang="zh-CN"/>
              <a:pPr>
                <a:defRPr/>
              </a:pPr>
              <a:t>‹#›</a:t>
            </a:fld>
            <a:endParaRPr lang="en-US" altLang="zh-CN"/>
          </a:p>
        </p:txBody>
      </p:sp>
    </p:spTree>
    <p:extLst>
      <p:ext uri="{BB962C8B-B14F-4D97-AF65-F5344CB8AC3E}">
        <p14:creationId xmlns:p14="http://schemas.microsoft.com/office/powerpoint/2010/main" val="205201780"/>
      </p:ext>
    </p:extLst>
  </p:cSld>
  <p:clrMapOvr>
    <a:masterClrMapping/>
  </p:clrMapOvr>
  <p:transition>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371600"/>
            <a:ext cx="41148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724400" y="1371600"/>
            <a:ext cx="41148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11"/>
          <p:cNvSpPr>
            <a:spLocks noGrp="1" noChangeArrowheads="1"/>
          </p:cNvSpPr>
          <p:nvPr>
            <p:ph type="dt" sz="half" idx="10"/>
          </p:nvPr>
        </p:nvSpPr>
        <p:spPr>
          <a:ln/>
        </p:spPr>
        <p:txBody>
          <a:bodyPr/>
          <a:lstStyle>
            <a:lvl1pPr>
              <a:defRPr/>
            </a:lvl1pPr>
          </a:lstStyle>
          <a:p>
            <a:pPr>
              <a:defRPr/>
            </a:pPr>
            <a:fld id="{A4F2F613-FD99-4420-8501-73F44655237A}" type="datetime1">
              <a:rPr lang="zh-CN" altLang="en-US"/>
              <a:pPr>
                <a:defRPr/>
              </a:pPr>
              <a:t>2021/9/21</a:t>
            </a:fld>
            <a:endParaRPr lang="en-US" altLang="zh-CN"/>
          </a:p>
        </p:txBody>
      </p:sp>
      <p:sp>
        <p:nvSpPr>
          <p:cNvPr id="6" name="Rectangle 12"/>
          <p:cNvSpPr>
            <a:spLocks noGrp="1" noChangeArrowheads="1"/>
          </p:cNvSpPr>
          <p:nvPr>
            <p:ph type="ftr" sz="quarter" idx="11"/>
          </p:nvPr>
        </p:nvSpPr>
        <p:spPr>
          <a:ln/>
        </p:spPr>
        <p:txBody>
          <a:bodyPr/>
          <a:lstStyle>
            <a:lvl1pPr>
              <a:defRPr/>
            </a:lvl1pPr>
          </a:lstStyle>
          <a:p>
            <a:pPr>
              <a:defRPr/>
            </a:pPr>
            <a:r>
              <a:rPr lang="en-US" altLang="zh-CN"/>
              <a:t>上海大学计算机学院</a:t>
            </a:r>
          </a:p>
        </p:txBody>
      </p:sp>
      <p:sp>
        <p:nvSpPr>
          <p:cNvPr id="7" name="Rectangle 13"/>
          <p:cNvSpPr>
            <a:spLocks noGrp="1" noChangeArrowheads="1"/>
          </p:cNvSpPr>
          <p:nvPr>
            <p:ph type="sldNum" sz="quarter" idx="12"/>
          </p:nvPr>
        </p:nvSpPr>
        <p:spPr>
          <a:ln/>
        </p:spPr>
        <p:txBody>
          <a:bodyPr/>
          <a:lstStyle>
            <a:lvl1pPr>
              <a:defRPr/>
            </a:lvl1pPr>
          </a:lstStyle>
          <a:p>
            <a:pPr>
              <a:defRPr/>
            </a:pPr>
            <a:fld id="{2670024E-199A-451B-9577-98C89A9E3662}" type="slidenum">
              <a:rPr lang="en-US" altLang="zh-CN"/>
              <a:pPr>
                <a:defRPr/>
              </a:pPr>
              <a:t>‹#›</a:t>
            </a:fld>
            <a:endParaRPr lang="en-US" altLang="zh-CN"/>
          </a:p>
        </p:txBody>
      </p:sp>
    </p:spTree>
    <p:extLst>
      <p:ext uri="{BB962C8B-B14F-4D97-AF65-F5344CB8AC3E}">
        <p14:creationId xmlns:p14="http://schemas.microsoft.com/office/powerpoint/2010/main" val="2599635451"/>
      </p:ext>
    </p:extLst>
  </p:cSld>
  <p:clrMapOvr>
    <a:masterClrMapping/>
  </p:clrMapOvr>
  <p:transition>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11"/>
          <p:cNvSpPr>
            <a:spLocks noGrp="1" noChangeArrowheads="1"/>
          </p:cNvSpPr>
          <p:nvPr>
            <p:ph type="dt" sz="half" idx="10"/>
          </p:nvPr>
        </p:nvSpPr>
        <p:spPr>
          <a:ln/>
        </p:spPr>
        <p:txBody>
          <a:bodyPr/>
          <a:lstStyle>
            <a:lvl1pPr>
              <a:defRPr/>
            </a:lvl1pPr>
          </a:lstStyle>
          <a:p>
            <a:pPr>
              <a:defRPr/>
            </a:pPr>
            <a:fld id="{69B910DE-9827-43EF-A400-A43F72C29260}" type="datetime1">
              <a:rPr lang="zh-CN" altLang="en-US"/>
              <a:pPr>
                <a:defRPr/>
              </a:pPr>
              <a:t>2021/9/21</a:t>
            </a:fld>
            <a:endParaRPr lang="en-US" altLang="zh-CN"/>
          </a:p>
        </p:txBody>
      </p:sp>
      <p:sp>
        <p:nvSpPr>
          <p:cNvPr id="8" name="Rectangle 12"/>
          <p:cNvSpPr>
            <a:spLocks noGrp="1" noChangeArrowheads="1"/>
          </p:cNvSpPr>
          <p:nvPr>
            <p:ph type="ftr" sz="quarter" idx="11"/>
          </p:nvPr>
        </p:nvSpPr>
        <p:spPr>
          <a:ln/>
        </p:spPr>
        <p:txBody>
          <a:bodyPr/>
          <a:lstStyle>
            <a:lvl1pPr>
              <a:defRPr/>
            </a:lvl1pPr>
          </a:lstStyle>
          <a:p>
            <a:pPr>
              <a:defRPr/>
            </a:pPr>
            <a:r>
              <a:rPr lang="en-US" altLang="zh-CN"/>
              <a:t>上海大学计算机学院</a:t>
            </a:r>
          </a:p>
        </p:txBody>
      </p:sp>
      <p:sp>
        <p:nvSpPr>
          <p:cNvPr id="9" name="Rectangle 13"/>
          <p:cNvSpPr>
            <a:spLocks noGrp="1" noChangeArrowheads="1"/>
          </p:cNvSpPr>
          <p:nvPr>
            <p:ph type="sldNum" sz="quarter" idx="12"/>
          </p:nvPr>
        </p:nvSpPr>
        <p:spPr>
          <a:ln/>
        </p:spPr>
        <p:txBody>
          <a:bodyPr/>
          <a:lstStyle>
            <a:lvl1pPr>
              <a:defRPr/>
            </a:lvl1pPr>
          </a:lstStyle>
          <a:p>
            <a:pPr>
              <a:defRPr/>
            </a:pPr>
            <a:fld id="{6D168190-702B-4381-8D14-3631D0410C58}" type="slidenum">
              <a:rPr lang="en-US" altLang="zh-CN"/>
              <a:pPr>
                <a:defRPr/>
              </a:pPr>
              <a:t>‹#›</a:t>
            </a:fld>
            <a:endParaRPr lang="en-US" altLang="zh-CN"/>
          </a:p>
        </p:txBody>
      </p:sp>
    </p:spTree>
    <p:extLst>
      <p:ext uri="{BB962C8B-B14F-4D97-AF65-F5344CB8AC3E}">
        <p14:creationId xmlns:p14="http://schemas.microsoft.com/office/powerpoint/2010/main" val="1490603817"/>
      </p:ext>
    </p:extLst>
  </p:cSld>
  <p:clrMapOvr>
    <a:masterClrMapping/>
  </p:clrMapOvr>
  <p:transition>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11"/>
          <p:cNvSpPr>
            <a:spLocks noGrp="1" noChangeArrowheads="1"/>
          </p:cNvSpPr>
          <p:nvPr>
            <p:ph type="dt" sz="half" idx="10"/>
          </p:nvPr>
        </p:nvSpPr>
        <p:spPr>
          <a:ln/>
        </p:spPr>
        <p:txBody>
          <a:bodyPr/>
          <a:lstStyle>
            <a:lvl1pPr>
              <a:defRPr/>
            </a:lvl1pPr>
          </a:lstStyle>
          <a:p>
            <a:pPr>
              <a:defRPr/>
            </a:pPr>
            <a:fld id="{01E645B8-58E5-4157-9E1E-028AC0AC9C48}" type="datetime1">
              <a:rPr lang="zh-CN" altLang="en-US"/>
              <a:pPr>
                <a:defRPr/>
              </a:pPr>
              <a:t>2021/9/21</a:t>
            </a:fld>
            <a:endParaRPr lang="en-US" altLang="zh-CN"/>
          </a:p>
        </p:txBody>
      </p:sp>
      <p:sp>
        <p:nvSpPr>
          <p:cNvPr id="4" name="Rectangle 12"/>
          <p:cNvSpPr>
            <a:spLocks noGrp="1" noChangeArrowheads="1"/>
          </p:cNvSpPr>
          <p:nvPr>
            <p:ph type="ftr" sz="quarter" idx="11"/>
          </p:nvPr>
        </p:nvSpPr>
        <p:spPr>
          <a:ln/>
        </p:spPr>
        <p:txBody>
          <a:bodyPr/>
          <a:lstStyle>
            <a:lvl1pPr>
              <a:defRPr/>
            </a:lvl1pPr>
          </a:lstStyle>
          <a:p>
            <a:pPr>
              <a:defRPr/>
            </a:pPr>
            <a:r>
              <a:rPr lang="en-US" altLang="zh-CN"/>
              <a:t>上海大学计算机学院</a:t>
            </a:r>
          </a:p>
        </p:txBody>
      </p:sp>
      <p:sp>
        <p:nvSpPr>
          <p:cNvPr id="5" name="Rectangle 13"/>
          <p:cNvSpPr>
            <a:spLocks noGrp="1" noChangeArrowheads="1"/>
          </p:cNvSpPr>
          <p:nvPr>
            <p:ph type="sldNum" sz="quarter" idx="12"/>
          </p:nvPr>
        </p:nvSpPr>
        <p:spPr>
          <a:ln/>
        </p:spPr>
        <p:txBody>
          <a:bodyPr/>
          <a:lstStyle>
            <a:lvl1pPr>
              <a:defRPr/>
            </a:lvl1pPr>
          </a:lstStyle>
          <a:p>
            <a:pPr>
              <a:defRPr/>
            </a:pPr>
            <a:fld id="{840CBABF-FBFD-46EB-A8C5-C3E214F38D4F}" type="slidenum">
              <a:rPr lang="en-US" altLang="zh-CN"/>
              <a:pPr>
                <a:defRPr/>
              </a:pPr>
              <a:t>‹#›</a:t>
            </a:fld>
            <a:endParaRPr lang="en-US" altLang="zh-CN"/>
          </a:p>
        </p:txBody>
      </p:sp>
    </p:spTree>
    <p:extLst>
      <p:ext uri="{BB962C8B-B14F-4D97-AF65-F5344CB8AC3E}">
        <p14:creationId xmlns:p14="http://schemas.microsoft.com/office/powerpoint/2010/main" val="494061721"/>
      </p:ext>
    </p:extLst>
  </p:cSld>
  <p:clrMapOvr>
    <a:masterClrMapping/>
  </p:clrMapOvr>
  <p:transition>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1"/>
          <p:cNvSpPr>
            <a:spLocks noGrp="1" noChangeArrowheads="1"/>
          </p:cNvSpPr>
          <p:nvPr>
            <p:ph type="dt" sz="half" idx="10"/>
          </p:nvPr>
        </p:nvSpPr>
        <p:spPr>
          <a:ln/>
        </p:spPr>
        <p:txBody>
          <a:bodyPr/>
          <a:lstStyle>
            <a:lvl1pPr>
              <a:defRPr/>
            </a:lvl1pPr>
          </a:lstStyle>
          <a:p>
            <a:pPr>
              <a:defRPr/>
            </a:pPr>
            <a:fld id="{B985FAE6-C2CB-4A60-8AE4-B64903C1EAD0}" type="datetime1">
              <a:rPr lang="zh-CN" altLang="en-US"/>
              <a:pPr>
                <a:defRPr/>
              </a:pPr>
              <a:t>2021/9/21</a:t>
            </a:fld>
            <a:endParaRPr lang="en-US" altLang="zh-CN"/>
          </a:p>
        </p:txBody>
      </p:sp>
      <p:sp>
        <p:nvSpPr>
          <p:cNvPr id="3" name="Rectangle 12"/>
          <p:cNvSpPr>
            <a:spLocks noGrp="1" noChangeArrowheads="1"/>
          </p:cNvSpPr>
          <p:nvPr>
            <p:ph type="ftr" sz="quarter" idx="11"/>
          </p:nvPr>
        </p:nvSpPr>
        <p:spPr>
          <a:ln/>
        </p:spPr>
        <p:txBody>
          <a:bodyPr/>
          <a:lstStyle>
            <a:lvl1pPr>
              <a:defRPr/>
            </a:lvl1pPr>
          </a:lstStyle>
          <a:p>
            <a:pPr>
              <a:defRPr/>
            </a:pPr>
            <a:r>
              <a:rPr lang="en-US" altLang="zh-CN"/>
              <a:t>上海大学计算机学院</a:t>
            </a:r>
          </a:p>
        </p:txBody>
      </p:sp>
      <p:sp>
        <p:nvSpPr>
          <p:cNvPr id="4" name="Rectangle 13"/>
          <p:cNvSpPr>
            <a:spLocks noGrp="1" noChangeArrowheads="1"/>
          </p:cNvSpPr>
          <p:nvPr>
            <p:ph type="sldNum" sz="quarter" idx="12"/>
          </p:nvPr>
        </p:nvSpPr>
        <p:spPr>
          <a:ln/>
        </p:spPr>
        <p:txBody>
          <a:bodyPr/>
          <a:lstStyle>
            <a:lvl1pPr>
              <a:defRPr/>
            </a:lvl1pPr>
          </a:lstStyle>
          <a:p>
            <a:pPr>
              <a:defRPr/>
            </a:pPr>
            <a:fld id="{3F1800E0-5332-46F4-B881-9258FF922E18}" type="slidenum">
              <a:rPr lang="en-US" altLang="zh-CN"/>
              <a:pPr>
                <a:defRPr/>
              </a:pPr>
              <a:t>‹#›</a:t>
            </a:fld>
            <a:endParaRPr lang="en-US" altLang="zh-CN"/>
          </a:p>
        </p:txBody>
      </p:sp>
    </p:spTree>
    <p:extLst>
      <p:ext uri="{BB962C8B-B14F-4D97-AF65-F5344CB8AC3E}">
        <p14:creationId xmlns:p14="http://schemas.microsoft.com/office/powerpoint/2010/main" val="2037470131"/>
      </p:ext>
    </p:extLst>
  </p:cSld>
  <p:clrMapOvr>
    <a:masterClrMapping/>
  </p:clrMapOvr>
  <p:transition>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11"/>
          <p:cNvSpPr>
            <a:spLocks noGrp="1" noChangeArrowheads="1"/>
          </p:cNvSpPr>
          <p:nvPr>
            <p:ph type="dt" sz="half" idx="10"/>
          </p:nvPr>
        </p:nvSpPr>
        <p:spPr>
          <a:ln/>
        </p:spPr>
        <p:txBody>
          <a:bodyPr/>
          <a:lstStyle>
            <a:lvl1pPr>
              <a:defRPr/>
            </a:lvl1pPr>
          </a:lstStyle>
          <a:p>
            <a:pPr>
              <a:defRPr/>
            </a:pPr>
            <a:fld id="{79D3F8CC-5E03-4C33-BACE-9AF38AC9B9EB}" type="datetime1">
              <a:rPr lang="zh-CN" altLang="en-US"/>
              <a:pPr>
                <a:defRPr/>
              </a:pPr>
              <a:t>2021/9/21</a:t>
            </a:fld>
            <a:endParaRPr lang="en-US" altLang="zh-CN"/>
          </a:p>
        </p:txBody>
      </p:sp>
      <p:sp>
        <p:nvSpPr>
          <p:cNvPr id="6" name="Rectangle 12"/>
          <p:cNvSpPr>
            <a:spLocks noGrp="1" noChangeArrowheads="1"/>
          </p:cNvSpPr>
          <p:nvPr>
            <p:ph type="ftr" sz="quarter" idx="11"/>
          </p:nvPr>
        </p:nvSpPr>
        <p:spPr>
          <a:ln/>
        </p:spPr>
        <p:txBody>
          <a:bodyPr/>
          <a:lstStyle>
            <a:lvl1pPr>
              <a:defRPr/>
            </a:lvl1pPr>
          </a:lstStyle>
          <a:p>
            <a:pPr>
              <a:defRPr/>
            </a:pPr>
            <a:r>
              <a:rPr lang="en-US" altLang="zh-CN"/>
              <a:t>上海大学计算机学院</a:t>
            </a:r>
          </a:p>
        </p:txBody>
      </p:sp>
      <p:sp>
        <p:nvSpPr>
          <p:cNvPr id="7" name="Rectangle 13"/>
          <p:cNvSpPr>
            <a:spLocks noGrp="1" noChangeArrowheads="1"/>
          </p:cNvSpPr>
          <p:nvPr>
            <p:ph type="sldNum" sz="quarter" idx="12"/>
          </p:nvPr>
        </p:nvSpPr>
        <p:spPr>
          <a:ln/>
        </p:spPr>
        <p:txBody>
          <a:bodyPr/>
          <a:lstStyle>
            <a:lvl1pPr>
              <a:defRPr/>
            </a:lvl1pPr>
          </a:lstStyle>
          <a:p>
            <a:pPr>
              <a:defRPr/>
            </a:pPr>
            <a:fld id="{FB9EC202-C622-41BD-9E59-B60D1446A4F3}" type="slidenum">
              <a:rPr lang="en-US" altLang="zh-CN"/>
              <a:pPr>
                <a:defRPr/>
              </a:pPr>
              <a:t>‹#›</a:t>
            </a:fld>
            <a:endParaRPr lang="en-US" altLang="zh-CN"/>
          </a:p>
        </p:txBody>
      </p:sp>
    </p:spTree>
    <p:extLst>
      <p:ext uri="{BB962C8B-B14F-4D97-AF65-F5344CB8AC3E}">
        <p14:creationId xmlns:p14="http://schemas.microsoft.com/office/powerpoint/2010/main" val="3264585879"/>
      </p:ext>
    </p:extLst>
  </p:cSld>
  <p:clrMapOvr>
    <a:masterClrMapping/>
  </p:clrMapOvr>
  <p:transition>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11"/>
          <p:cNvSpPr>
            <a:spLocks noGrp="1" noChangeArrowheads="1"/>
          </p:cNvSpPr>
          <p:nvPr>
            <p:ph type="dt" sz="half" idx="10"/>
          </p:nvPr>
        </p:nvSpPr>
        <p:spPr>
          <a:ln/>
        </p:spPr>
        <p:txBody>
          <a:bodyPr/>
          <a:lstStyle>
            <a:lvl1pPr>
              <a:defRPr/>
            </a:lvl1pPr>
          </a:lstStyle>
          <a:p>
            <a:pPr>
              <a:defRPr/>
            </a:pPr>
            <a:fld id="{FBA666E7-F800-4D9B-8A7C-7817EC16D67E}" type="datetime1">
              <a:rPr lang="zh-CN" altLang="en-US"/>
              <a:pPr>
                <a:defRPr/>
              </a:pPr>
              <a:t>2021/9/21</a:t>
            </a:fld>
            <a:endParaRPr lang="en-US" altLang="zh-CN"/>
          </a:p>
        </p:txBody>
      </p:sp>
      <p:sp>
        <p:nvSpPr>
          <p:cNvPr id="6" name="Rectangle 12"/>
          <p:cNvSpPr>
            <a:spLocks noGrp="1" noChangeArrowheads="1"/>
          </p:cNvSpPr>
          <p:nvPr>
            <p:ph type="ftr" sz="quarter" idx="11"/>
          </p:nvPr>
        </p:nvSpPr>
        <p:spPr>
          <a:ln/>
        </p:spPr>
        <p:txBody>
          <a:bodyPr/>
          <a:lstStyle>
            <a:lvl1pPr>
              <a:defRPr/>
            </a:lvl1pPr>
          </a:lstStyle>
          <a:p>
            <a:pPr>
              <a:defRPr/>
            </a:pPr>
            <a:r>
              <a:rPr lang="en-US" altLang="zh-CN"/>
              <a:t>上海大学计算机学院</a:t>
            </a:r>
          </a:p>
        </p:txBody>
      </p:sp>
      <p:sp>
        <p:nvSpPr>
          <p:cNvPr id="7" name="Rectangle 13"/>
          <p:cNvSpPr>
            <a:spLocks noGrp="1" noChangeArrowheads="1"/>
          </p:cNvSpPr>
          <p:nvPr>
            <p:ph type="sldNum" sz="quarter" idx="12"/>
          </p:nvPr>
        </p:nvSpPr>
        <p:spPr>
          <a:ln/>
        </p:spPr>
        <p:txBody>
          <a:bodyPr/>
          <a:lstStyle>
            <a:lvl1pPr>
              <a:defRPr/>
            </a:lvl1pPr>
          </a:lstStyle>
          <a:p>
            <a:pPr>
              <a:defRPr/>
            </a:pPr>
            <a:fld id="{5B3621A0-8A75-4ABA-9239-EC08F35B032C}" type="slidenum">
              <a:rPr lang="en-US" altLang="zh-CN"/>
              <a:pPr>
                <a:defRPr/>
              </a:pPr>
              <a:t>‹#›</a:t>
            </a:fld>
            <a:endParaRPr lang="en-US" altLang="zh-CN"/>
          </a:p>
        </p:txBody>
      </p:sp>
    </p:spTree>
    <p:extLst>
      <p:ext uri="{BB962C8B-B14F-4D97-AF65-F5344CB8AC3E}">
        <p14:creationId xmlns:p14="http://schemas.microsoft.com/office/powerpoint/2010/main" val="2049171077"/>
      </p:ext>
    </p:extLst>
  </p:cSld>
  <p:clrMapOvr>
    <a:masterClrMapping/>
  </p:clrMapOvr>
  <p:transition>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11"/>
          <p:cNvSpPr>
            <a:spLocks noGrp="1" noChangeArrowheads="1"/>
          </p:cNvSpPr>
          <p:nvPr>
            <p:ph type="dt" sz="half" idx="10"/>
          </p:nvPr>
        </p:nvSpPr>
        <p:spPr>
          <a:ln/>
        </p:spPr>
        <p:txBody>
          <a:bodyPr/>
          <a:lstStyle>
            <a:lvl1pPr>
              <a:defRPr/>
            </a:lvl1pPr>
          </a:lstStyle>
          <a:p>
            <a:pPr>
              <a:defRPr/>
            </a:pPr>
            <a:fld id="{8A8E948E-F799-4300-900B-C508E32C1043}" type="datetime1">
              <a:rPr lang="zh-CN" altLang="en-US"/>
              <a:pPr>
                <a:defRPr/>
              </a:pPr>
              <a:t>2021/9/21</a:t>
            </a:fld>
            <a:endParaRPr lang="en-US" altLang="zh-CN"/>
          </a:p>
        </p:txBody>
      </p:sp>
      <p:sp>
        <p:nvSpPr>
          <p:cNvPr id="5" name="Rectangle 12"/>
          <p:cNvSpPr>
            <a:spLocks noGrp="1" noChangeArrowheads="1"/>
          </p:cNvSpPr>
          <p:nvPr>
            <p:ph type="ftr" sz="quarter" idx="11"/>
          </p:nvPr>
        </p:nvSpPr>
        <p:spPr>
          <a:ln/>
        </p:spPr>
        <p:txBody>
          <a:bodyPr/>
          <a:lstStyle>
            <a:lvl1pPr>
              <a:defRPr/>
            </a:lvl1pPr>
          </a:lstStyle>
          <a:p>
            <a:pPr>
              <a:defRPr/>
            </a:pPr>
            <a:r>
              <a:rPr lang="en-US" altLang="zh-CN"/>
              <a:t>上海大学计算机学院</a:t>
            </a:r>
          </a:p>
        </p:txBody>
      </p:sp>
      <p:sp>
        <p:nvSpPr>
          <p:cNvPr id="6" name="Rectangle 13"/>
          <p:cNvSpPr>
            <a:spLocks noGrp="1" noChangeArrowheads="1"/>
          </p:cNvSpPr>
          <p:nvPr>
            <p:ph type="sldNum" sz="quarter" idx="12"/>
          </p:nvPr>
        </p:nvSpPr>
        <p:spPr>
          <a:ln/>
        </p:spPr>
        <p:txBody>
          <a:bodyPr/>
          <a:lstStyle>
            <a:lvl1pPr>
              <a:defRPr/>
            </a:lvl1pPr>
          </a:lstStyle>
          <a:p>
            <a:pPr>
              <a:defRPr/>
            </a:pPr>
            <a:fld id="{C87FF8BA-166B-4D7F-8374-D765299DC587}" type="slidenum">
              <a:rPr lang="en-US" altLang="zh-CN"/>
              <a:pPr>
                <a:defRPr/>
              </a:pPr>
              <a:t>‹#›</a:t>
            </a:fld>
            <a:endParaRPr lang="en-US" altLang="zh-CN"/>
          </a:p>
        </p:txBody>
      </p:sp>
    </p:spTree>
    <p:extLst>
      <p:ext uri="{BB962C8B-B14F-4D97-AF65-F5344CB8AC3E}">
        <p14:creationId xmlns:p14="http://schemas.microsoft.com/office/powerpoint/2010/main" val="3890890664"/>
      </p:ext>
    </p:extLst>
  </p:cSld>
  <p:clrMapOvr>
    <a:masterClrMapping/>
  </p:clrMapOvr>
  <p:transition>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23075" y="457200"/>
            <a:ext cx="2120900" cy="57912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457200"/>
            <a:ext cx="6213475" cy="57912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11"/>
          <p:cNvSpPr>
            <a:spLocks noGrp="1" noChangeArrowheads="1"/>
          </p:cNvSpPr>
          <p:nvPr>
            <p:ph type="dt" sz="half" idx="10"/>
          </p:nvPr>
        </p:nvSpPr>
        <p:spPr>
          <a:ln/>
        </p:spPr>
        <p:txBody>
          <a:bodyPr/>
          <a:lstStyle>
            <a:lvl1pPr>
              <a:defRPr/>
            </a:lvl1pPr>
          </a:lstStyle>
          <a:p>
            <a:pPr>
              <a:defRPr/>
            </a:pPr>
            <a:fld id="{3992242B-4FBA-409A-B2E1-17AE785B1BF1}" type="datetime1">
              <a:rPr lang="zh-CN" altLang="en-US"/>
              <a:pPr>
                <a:defRPr/>
              </a:pPr>
              <a:t>2021/9/21</a:t>
            </a:fld>
            <a:endParaRPr lang="en-US" altLang="zh-CN"/>
          </a:p>
        </p:txBody>
      </p:sp>
      <p:sp>
        <p:nvSpPr>
          <p:cNvPr id="5" name="Rectangle 12"/>
          <p:cNvSpPr>
            <a:spLocks noGrp="1" noChangeArrowheads="1"/>
          </p:cNvSpPr>
          <p:nvPr>
            <p:ph type="ftr" sz="quarter" idx="11"/>
          </p:nvPr>
        </p:nvSpPr>
        <p:spPr>
          <a:ln/>
        </p:spPr>
        <p:txBody>
          <a:bodyPr/>
          <a:lstStyle>
            <a:lvl1pPr>
              <a:defRPr/>
            </a:lvl1pPr>
          </a:lstStyle>
          <a:p>
            <a:pPr>
              <a:defRPr/>
            </a:pPr>
            <a:r>
              <a:rPr lang="en-US" altLang="zh-CN"/>
              <a:t>上海大学计算机学院</a:t>
            </a:r>
          </a:p>
        </p:txBody>
      </p:sp>
      <p:sp>
        <p:nvSpPr>
          <p:cNvPr id="6" name="Rectangle 13"/>
          <p:cNvSpPr>
            <a:spLocks noGrp="1" noChangeArrowheads="1"/>
          </p:cNvSpPr>
          <p:nvPr>
            <p:ph type="sldNum" sz="quarter" idx="12"/>
          </p:nvPr>
        </p:nvSpPr>
        <p:spPr>
          <a:ln/>
        </p:spPr>
        <p:txBody>
          <a:bodyPr/>
          <a:lstStyle>
            <a:lvl1pPr>
              <a:defRPr/>
            </a:lvl1pPr>
          </a:lstStyle>
          <a:p>
            <a:pPr>
              <a:defRPr/>
            </a:pPr>
            <a:fld id="{B10CA4DF-69E7-47CB-A385-327B7B0E2846}" type="slidenum">
              <a:rPr lang="en-US" altLang="zh-CN"/>
              <a:pPr>
                <a:defRPr/>
              </a:pPr>
              <a:t>‹#›</a:t>
            </a:fld>
            <a:endParaRPr lang="en-US" altLang="zh-CN"/>
          </a:p>
        </p:txBody>
      </p:sp>
    </p:spTree>
    <p:extLst>
      <p:ext uri="{BB962C8B-B14F-4D97-AF65-F5344CB8AC3E}">
        <p14:creationId xmlns:p14="http://schemas.microsoft.com/office/powerpoint/2010/main" val="4242935918"/>
      </p:ext>
    </p:extLst>
  </p:cSld>
  <p:clrMapOvr>
    <a:masterClrMapping/>
  </p:clrMapOvr>
  <p:transition>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ltGray">
          <a:xfrm>
            <a:off x="290513" y="547688"/>
            <a:ext cx="438150" cy="38735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zh-CN">
              <a:latin typeface="Tahoma" pitchFamily="34" charset="0"/>
            </a:endParaRPr>
          </a:p>
        </p:txBody>
      </p:sp>
      <p:sp>
        <p:nvSpPr>
          <p:cNvPr id="1027" name="Rectangle 5"/>
          <p:cNvSpPr>
            <a:spLocks noChangeArrowheads="1"/>
          </p:cNvSpPr>
          <p:nvPr/>
        </p:nvSpPr>
        <p:spPr bwMode="ltGray">
          <a:xfrm>
            <a:off x="784225" y="969963"/>
            <a:ext cx="368300" cy="387350"/>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zh-CN">
              <a:latin typeface="Tahoma" pitchFamily="34" charset="0"/>
            </a:endParaRPr>
          </a:p>
        </p:txBody>
      </p:sp>
      <p:sp>
        <p:nvSpPr>
          <p:cNvPr id="1028" name="Rectangle 6"/>
          <p:cNvSpPr>
            <a:spLocks noChangeArrowheads="1"/>
          </p:cNvSpPr>
          <p:nvPr/>
        </p:nvSpPr>
        <p:spPr bwMode="ltGray">
          <a:xfrm>
            <a:off x="0" y="887413"/>
            <a:ext cx="560388" cy="344487"/>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zh-CN">
              <a:latin typeface="Tahoma" pitchFamily="34" charset="0"/>
            </a:endParaRPr>
          </a:p>
        </p:txBody>
      </p:sp>
      <p:sp>
        <p:nvSpPr>
          <p:cNvPr id="1029" name="Rectangle 7"/>
          <p:cNvSpPr>
            <a:spLocks noChangeArrowheads="1"/>
          </p:cNvSpPr>
          <p:nvPr/>
        </p:nvSpPr>
        <p:spPr bwMode="gray">
          <a:xfrm>
            <a:off x="762000" y="38100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zh-CN">
              <a:latin typeface="Tahoma" pitchFamily="34" charset="0"/>
            </a:endParaRPr>
          </a:p>
        </p:txBody>
      </p:sp>
      <p:sp>
        <p:nvSpPr>
          <p:cNvPr id="1030" name="Rectangle 8"/>
          <p:cNvSpPr>
            <a:spLocks noChangeArrowheads="1"/>
          </p:cNvSpPr>
          <p:nvPr/>
        </p:nvSpPr>
        <p:spPr bwMode="gray">
          <a:xfrm>
            <a:off x="315913" y="11430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zh-CN">
              <a:latin typeface="Tahoma" pitchFamily="34" charset="0"/>
            </a:endParaRPr>
          </a:p>
        </p:txBody>
      </p:sp>
      <p:sp>
        <p:nvSpPr>
          <p:cNvPr id="1031" name="Rectangle 9"/>
          <p:cNvSpPr>
            <a:spLocks noGrp="1" noChangeArrowheads="1"/>
          </p:cNvSpPr>
          <p:nvPr>
            <p:ph type="title"/>
          </p:nvPr>
        </p:nvSpPr>
        <p:spPr bwMode="auto">
          <a:xfrm>
            <a:off x="1150938" y="457200"/>
            <a:ext cx="7793037"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zh-CN" smtClean="0"/>
              <a:t>Click to edit Master title style</a:t>
            </a:r>
          </a:p>
        </p:txBody>
      </p:sp>
      <p:sp>
        <p:nvSpPr>
          <p:cNvPr id="1032" name="Rectangle 10"/>
          <p:cNvSpPr>
            <a:spLocks noGrp="1" noChangeArrowheads="1"/>
          </p:cNvSpPr>
          <p:nvPr>
            <p:ph type="body" idx="1"/>
          </p:nvPr>
        </p:nvSpPr>
        <p:spPr bwMode="auto">
          <a:xfrm>
            <a:off x="457200" y="1371600"/>
            <a:ext cx="83820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smtClean="0"/>
              <a:t>Click to edit Master text styles</a:t>
            </a:r>
          </a:p>
          <a:p>
            <a:pPr lvl="1"/>
            <a:r>
              <a:rPr lang="en-US" altLang="zh-CN" smtClean="0"/>
              <a:t>Second level</a:t>
            </a:r>
          </a:p>
          <a:p>
            <a:pPr lvl="2"/>
            <a:r>
              <a:rPr lang="en-US" altLang="zh-CN" smtClean="0"/>
              <a:t>Third level</a:t>
            </a:r>
          </a:p>
          <a:p>
            <a:pPr lvl="3"/>
            <a:r>
              <a:rPr lang="en-US" altLang="zh-CN" smtClean="0"/>
              <a:t>Fourth level</a:t>
            </a:r>
          </a:p>
          <a:p>
            <a:pPr lvl="4"/>
            <a:r>
              <a:rPr lang="en-US" altLang="zh-CN" smtClean="0"/>
              <a:t>Fifth level</a:t>
            </a:r>
          </a:p>
        </p:txBody>
      </p:sp>
      <p:sp>
        <p:nvSpPr>
          <p:cNvPr id="9227" name="Rectangle 11"/>
          <p:cNvSpPr>
            <a:spLocks noGrp="1" noChangeArrowheads="1"/>
          </p:cNvSpPr>
          <p:nvPr>
            <p:ph type="dt" sz="half" idx="2"/>
          </p:nvPr>
        </p:nvSpPr>
        <p:spPr bwMode="auto">
          <a:xfrm>
            <a:off x="9144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400">
                <a:latin typeface="+mn-lt"/>
                <a:ea typeface="宋体" pitchFamily="2" charset="-122"/>
              </a:defRPr>
            </a:lvl1pPr>
          </a:lstStyle>
          <a:p>
            <a:pPr>
              <a:defRPr/>
            </a:pPr>
            <a:fld id="{C3905253-3490-41AD-AB26-A49CD7CED0F4}" type="datetime1">
              <a:rPr lang="zh-CN" altLang="en-US"/>
              <a:pPr>
                <a:defRPr/>
              </a:pPr>
              <a:t>2021/9/21</a:t>
            </a:fld>
            <a:endParaRPr lang="en-US" altLang="zh-CN"/>
          </a:p>
        </p:txBody>
      </p:sp>
      <p:sp>
        <p:nvSpPr>
          <p:cNvPr id="9228" name="Rectangle 12"/>
          <p:cNvSpPr>
            <a:spLocks noGrp="1" noChangeArrowheads="1"/>
          </p:cNvSpPr>
          <p:nvPr>
            <p:ph type="ftr" sz="quarter" idx="3"/>
          </p:nvPr>
        </p:nvSpPr>
        <p:spPr bwMode="auto">
          <a:xfrm>
            <a:off x="3352800" y="63246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400">
                <a:latin typeface="+mn-lt"/>
                <a:ea typeface="宋体" pitchFamily="2" charset="-122"/>
              </a:defRPr>
            </a:lvl1pPr>
          </a:lstStyle>
          <a:p>
            <a:pPr>
              <a:defRPr/>
            </a:pPr>
            <a:r>
              <a:rPr lang="en-US" altLang="zh-CN"/>
              <a:t>上海大学计算机学院</a:t>
            </a:r>
          </a:p>
        </p:txBody>
      </p:sp>
      <p:sp>
        <p:nvSpPr>
          <p:cNvPr id="9229" name="Rectangle 13"/>
          <p:cNvSpPr>
            <a:spLocks noGrp="1" noChangeArrowheads="1"/>
          </p:cNvSpPr>
          <p:nvPr>
            <p:ph type="sldNum" sz="quarter" idx="4"/>
          </p:nvPr>
        </p:nvSpPr>
        <p:spPr bwMode="auto">
          <a:xfrm>
            <a:off x="67818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400">
                <a:latin typeface="+mn-lt"/>
                <a:ea typeface="宋体" pitchFamily="2" charset="-122"/>
              </a:defRPr>
            </a:lvl1pPr>
          </a:lstStyle>
          <a:p>
            <a:pPr>
              <a:defRPr/>
            </a:pPr>
            <a:fld id="{5051A887-D007-4B4E-9648-CF83E2C2D986}"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756"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ransition>
    <p:random/>
  </p:transition>
  <p:hf hdr="0" ftr="0"/>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ea typeface="宋体" pitchFamily="2" charset="-122"/>
        </a:defRPr>
      </a:lvl2pPr>
      <a:lvl3pPr algn="l" rtl="0" eaLnBrk="0" fontAlgn="base" hangingPunct="0">
        <a:spcBef>
          <a:spcPct val="0"/>
        </a:spcBef>
        <a:spcAft>
          <a:spcPct val="0"/>
        </a:spcAft>
        <a:defRPr sz="4400">
          <a:solidFill>
            <a:schemeClr val="tx2"/>
          </a:solidFill>
          <a:latin typeface="Tahoma" pitchFamily="34" charset="0"/>
          <a:ea typeface="宋体" pitchFamily="2" charset="-122"/>
        </a:defRPr>
      </a:lvl3pPr>
      <a:lvl4pPr algn="l" rtl="0" eaLnBrk="0" fontAlgn="base" hangingPunct="0">
        <a:spcBef>
          <a:spcPct val="0"/>
        </a:spcBef>
        <a:spcAft>
          <a:spcPct val="0"/>
        </a:spcAft>
        <a:defRPr sz="4400">
          <a:solidFill>
            <a:schemeClr val="tx2"/>
          </a:solidFill>
          <a:latin typeface="Tahoma" pitchFamily="34" charset="0"/>
          <a:ea typeface="宋体" pitchFamily="2" charset="-122"/>
        </a:defRPr>
      </a:lvl4pPr>
      <a:lvl5pPr algn="l" rtl="0" eaLnBrk="0" fontAlgn="base" hangingPunct="0">
        <a:spcBef>
          <a:spcPct val="0"/>
        </a:spcBef>
        <a:spcAft>
          <a:spcPct val="0"/>
        </a:spcAft>
        <a:defRPr sz="4400">
          <a:solidFill>
            <a:schemeClr val="tx2"/>
          </a:solidFill>
          <a:latin typeface="Tahoma" pitchFamily="34" charset="0"/>
          <a:ea typeface="宋体" pitchFamily="2" charset="-122"/>
        </a:defRPr>
      </a:lvl5pPr>
      <a:lvl6pPr marL="457200" algn="l" rtl="0" fontAlgn="base">
        <a:spcBef>
          <a:spcPct val="0"/>
        </a:spcBef>
        <a:spcAft>
          <a:spcPct val="0"/>
        </a:spcAft>
        <a:defRPr sz="4400">
          <a:solidFill>
            <a:schemeClr val="tx2"/>
          </a:solidFill>
          <a:latin typeface="Tahoma" pitchFamily="34" charset="0"/>
          <a:ea typeface="宋体" pitchFamily="2" charset="-122"/>
        </a:defRPr>
      </a:lvl6pPr>
      <a:lvl7pPr marL="914400" algn="l" rtl="0" fontAlgn="base">
        <a:spcBef>
          <a:spcPct val="0"/>
        </a:spcBef>
        <a:spcAft>
          <a:spcPct val="0"/>
        </a:spcAft>
        <a:defRPr sz="4400">
          <a:solidFill>
            <a:schemeClr val="tx2"/>
          </a:solidFill>
          <a:latin typeface="Tahoma" pitchFamily="34" charset="0"/>
          <a:ea typeface="宋体" pitchFamily="2" charset="-122"/>
        </a:defRPr>
      </a:lvl7pPr>
      <a:lvl8pPr marL="1371600" algn="l" rtl="0" fontAlgn="base">
        <a:spcBef>
          <a:spcPct val="0"/>
        </a:spcBef>
        <a:spcAft>
          <a:spcPct val="0"/>
        </a:spcAft>
        <a:defRPr sz="4400">
          <a:solidFill>
            <a:schemeClr val="tx2"/>
          </a:solidFill>
          <a:latin typeface="Tahoma" pitchFamily="34" charset="0"/>
          <a:ea typeface="宋体" pitchFamily="2" charset="-122"/>
        </a:defRPr>
      </a:lvl8pPr>
      <a:lvl9pPr marL="1828800" algn="l" rtl="0" fontAlgn="base">
        <a:spcBef>
          <a:spcPct val="0"/>
        </a:spcBef>
        <a:spcAft>
          <a:spcPct val="0"/>
        </a:spcAft>
        <a:defRPr sz="4400">
          <a:solidFill>
            <a:schemeClr val="tx2"/>
          </a:solidFill>
          <a:latin typeface="Tahoma" pitchFamily="34" charset="0"/>
          <a:ea typeface="宋体"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3.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2.wmf"/><Relationship Id="rId5" Type="http://schemas.openxmlformats.org/officeDocument/2006/relationships/oleObject" Target="../embeddings/oleObject2.bin"/><Relationship Id="rId10" Type="http://schemas.openxmlformats.org/officeDocument/2006/relationships/image" Target="../media/image4.wmf"/><Relationship Id="rId4" Type="http://schemas.openxmlformats.org/officeDocument/2006/relationships/image" Target="../media/image1.wmf"/><Relationship Id="rId9" Type="http://schemas.openxmlformats.org/officeDocument/2006/relationships/oleObject" Target="../embeddings/oleObject4.bin"/></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6.bin"/><Relationship Id="rId13" Type="http://schemas.openxmlformats.org/officeDocument/2006/relationships/image" Target="../media/image8.wmf"/><Relationship Id="rId3" Type="http://schemas.openxmlformats.org/officeDocument/2006/relationships/audio" Target="../media/audio1.wav"/><Relationship Id="rId7" Type="http://schemas.openxmlformats.org/officeDocument/2006/relationships/image" Target="../media/image5.wmf"/><Relationship Id="rId12" Type="http://schemas.openxmlformats.org/officeDocument/2006/relationships/oleObject" Target="../embeddings/oleObject8.bin"/><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oleObject" Target="../embeddings/oleObject5.bin"/><Relationship Id="rId11" Type="http://schemas.openxmlformats.org/officeDocument/2006/relationships/image" Target="../media/image7.wmf"/><Relationship Id="rId5" Type="http://schemas.openxmlformats.org/officeDocument/2006/relationships/audio" Target="../media/audio3.wav"/><Relationship Id="rId10" Type="http://schemas.openxmlformats.org/officeDocument/2006/relationships/oleObject" Target="../embeddings/oleObject7.bin"/><Relationship Id="rId4" Type="http://schemas.openxmlformats.org/officeDocument/2006/relationships/audio" Target="../media/audio2.wav"/><Relationship Id="rId9" Type="http://schemas.openxmlformats.org/officeDocument/2006/relationships/image" Target="../media/image6.w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10.bin"/><Relationship Id="rId13" Type="http://schemas.openxmlformats.org/officeDocument/2006/relationships/oleObject" Target="../embeddings/Microsoft_Word_97_-_2003___2.doc"/><Relationship Id="rId3" Type="http://schemas.openxmlformats.org/officeDocument/2006/relationships/audio" Target="../media/audio1.wav"/><Relationship Id="rId7" Type="http://schemas.openxmlformats.org/officeDocument/2006/relationships/image" Target="../media/image9.wmf"/><Relationship Id="rId12" Type="http://schemas.openxmlformats.org/officeDocument/2006/relationships/oleObject" Target="../embeddings/oleObject12.bin"/><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oleObject" Target="../embeddings/Microsoft_Word_97_-_2003___1.doc"/><Relationship Id="rId11" Type="http://schemas.openxmlformats.org/officeDocument/2006/relationships/image" Target="../media/image11.wmf"/><Relationship Id="rId5" Type="http://schemas.openxmlformats.org/officeDocument/2006/relationships/oleObject" Target="../embeddings/oleObject9.bin"/><Relationship Id="rId10" Type="http://schemas.openxmlformats.org/officeDocument/2006/relationships/oleObject" Target="../embeddings/oleObject11.bin"/><Relationship Id="rId4" Type="http://schemas.openxmlformats.org/officeDocument/2006/relationships/audio" Target="../media/audio3.wav"/><Relationship Id="rId9" Type="http://schemas.openxmlformats.org/officeDocument/2006/relationships/image" Target="../media/image10.wmf"/><Relationship Id="rId14" Type="http://schemas.openxmlformats.org/officeDocument/2006/relationships/image" Target="../media/image12.wmf"/></Relationships>
</file>

<file path=ppt/slides/_rels/slide13.xml.rels><?xml version="1.0" encoding="UTF-8" standalone="yes"?>
<Relationships xmlns="http://schemas.openxmlformats.org/package/2006/relationships"><Relationship Id="rId8" Type="http://schemas.openxmlformats.org/officeDocument/2006/relationships/image" Target="../media/image15.wmf"/><Relationship Id="rId3" Type="http://schemas.openxmlformats.org/officeDocument/2006/relationships/oleObject" Target="../embeddings/oleObject13.bin"/><Relationship Id="rId7" Type="http://schemas.openxmlformats.org/officeDocument/2006/relationships/oleObject" Target="../embeddings/oleObject15.bin"/><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14.wmf"/><Relationship Id="rId5" Type="http://schemas.openxmlformats.org/officeDocument/2006/relationships/oleObject" Target="../embeddings/oleObject14.bin"/><Relationship Id="rId4" Type="http://schemas.openxmlformats.org/officeDocument/2006/relationships/image" Target="../media/image13.wmf"/><Relationship Id="rId9" Type="http://schemas.openxmlformats.org/officeDocument/2006/relationships/oleObject" Target="../embeddings/oleObject16.bin"/></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27.wmf"/><Relationship Id="rId5" Type="http://schemas.openxmlformats.org/officeDocument/2006/relationships/oleObject" Target="../embeddings/oleObject18.bin"/><Relationship Id="rId4" Type="http://schemas.openxmlformats.org/officeDocument/2006/relationships/image" Target="../media/image26.wmf"/></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21.bin"/><Relationship Id="rId3" Type="http://schemas.openxmlformats.org/officeDocument/2006/relationships/image" Target="../media/image31.png"/><Relationship Id="rId7" Type="http://schemas.openxmlformats.org/officeDocument/2006/relationships/image" Target="../media/image29.wmf"/><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oleObject" Target="../embeddings/oleObject20.bin"/><Relationship Id="rId5" Type="http://schemas.openxmlformats.org/officeDocument/2006/relationships/image" Target="../media/image28.wmf"/><Relationship Id="rId4" Type="http://schemas.openxmlformats.org/officeDocument/2006/relationships/oleObject" Target="../embeddings/oleObject19.bin"/><Relationship Id="rId9" Type="http://schemas.openxmlformats.org/officeDocument/2006/relationships/image" Target="../media/image30.wmf"/></Relationships>
</file>

<file path=ppt/slides/_rels/slide27.xml.rels><?xml version="1.0" encoding="UTF-8" standalone="yes"?>
<Relationships xmlns="http://schemas.openxmlformats.org/package/2006/relationships"><Relationship Id="rId8" Type="http://schemas.openxmlformats.org/officeDocument/2006/relationships/image" Target="../media/image32.wmf"/><Relationship Id="rId13" Type="http://schemas.openxmlformats.org/officeDocument/2006/relationships/oleObject" Target="../embeddings/Microsoft_Word_97_-_2003___6.doc"/><Relationship Id="rId3" Type="http://schemas.openxmlformats.org/officeDocument/2006/relationships/oleObject" Target="../embeddings/oleObject22.bin"/><Relationship Id="rId7" Type="http://schemas.openxmlformats.org/officeDocument/2006/relationships/oleObject" Target="../embeddings/Microsoft_Word_97_-_2003___4.doc"/><Relationship Id="rId12" Type="http://schemas.openxmlformats.org/officeDocument/2006/relationships/oleObject" Target="../embeddings/oleObject25.bin"/><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oleObject" Target="../embeddings/oleObject23.bin"/><Relationship Id="rId11" Type="http://schemas.openxmlformats.org/officeDocument/2006/relationships/image" Target="../media/image33.wmf"/><Relationship Id="rId5" Type="http://schemas.openxmlformats.org/officeDocument/2006/relationships/image" Target="../media/image31.wmf"/><Relationship Id="rId10" Type="http://schemas.openxmlformats.org/officeDocument/2006/relationships/oleObject" Target="../embeddings/Microsoft_Word_97_-_2003___5.doc"/><Relationship Id="rId4" Type="http://schemas.openxmlformats.org/officeDocument/2006/relationships/oleObject" Target="../embeddings/Microsoft_Word_97_-_2003___3.doc"/><Relationship Id="rId9" Type="http://schemas.openxmlformats.org/officeDocument/2006/relationships/oleObject" Target="../embeddings/oleObject24.bin"/><Relationship Id="rId14" Type="http://schemas.openxmlformats.org/officeDocument/2006/relationships/image" Target="../media/image34.wmf"/></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image" Target="../media/image35.wmf"/><Relationship Id="rId5" Type="http://schemas.openxmlformats.org/officeDocument/2006/relationships/oleObject" Target="../embeddings/oleObject27.bin"/><Relationship Id="rId4" Type="http://schemas.openxmlformats.org/officeDocument/2006/relationships/image" Target="../media/image28.wmf"/></Relationships>
</file>

<file path=ppt/slides/_rels/slide29.xml.rels><?xml version="1.0" encoding="UTF-8" standalone="yes"?>
<Relationships xmlns="http://schemas.openxmlformats.org/package/2006/relationships"><Relationship Id="rId8" Type="http://schemas.openxmlformats.org/officeDocument/2006/relationships/image" Target="../media/image37.wmf"/><Relationship Id="rId13" Type="http://schemas.openxmlformats.org/officeDocument/2006/relationships/oleObject" Target="../embeddings/Microsoft_Word_97_-_2003___10.doc"/><Relationship Id="rId3" Type="http://schemas.openxmlformats.org/officeDocument/2006/relationships/oleObject" Target="../embeddings/oleObject28.bin"/><Relationship Id="rId7" Type="http://schemas.openxmlformats.org/officeDocument/2006/relationships/oleObject" Target="../embeddings/Microsoft_Word_97_-_2003___8.doc"/><Relationship Id="rId12" Type="http://schemas.openxmlformats.org/officeDocument/2006/relationships/oleObject" Target="../embeddings/oleObject31.bin"/><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oleObject" Target="../embeddings/oleObject29.bin"/><Relationship Id="rId11" Type="http://schemas.openxmlformats.org/officeDocument/2006/relationships/image" Target="../media/image38.wmf"/><Relationship Id="rId5" Type="http://schemas.openxmlformats.org/officeDocument/2006/relationships/image" Target="../media/image36.wmf"/><Relationship Id="rId10" Type="http://schemas.openxmlformats.org/officeDocument/2006/relationships/oleObject" Target="../embeddings/Microsoft_Word_97_-_2003___9.doc"/><Relationship Id="rId4" Type="http://schemas.openxmlformats.org/officeDocument/2006/relationships/oleObject" Target="../embeddings/Microsoft_Word_97_-_2003___7.doc"/><Relationship Id="rId9" Type="http://schemas.openxmlformats.org/officeDocument/2006/relationships/oleObject" Target="../embeddings/oleObject30.bin"/><Relationship Id="rId14" Type="http://schemas.openxmlformats.org/officeDocument/2006/relationships/image" Target="../media/image39.wmf"/></Relationships>
</file>

<file path=ppt/slides/_rels/slide30.xml.rels><?xml version="1.0" encoding="UTF-8" standalone="yes"?>
<Relationships xmlns="http://schemas.openxmlformats.org/package/2006/relationships"><Relationship Id="rId8" Type="http://schemas.openxmlformats.org/officeDocument/2006/relationships/image" Target="../media/image42.wmf"/><Relationship Id="rId3" Type="http://schemas.openxmlformats.org/officeDocument/2006/relationships/oleObject" Target="../embeddings/oleObject32.bin"/><Relationship Id="rId7" Type="http://schemas.openxmlformats.org/officeDocument/2006/relationships/oleObject" Target="../embeddings/oleObject34.bin"/><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image" Target="../media/image41.wmf"/><Relationship Id="rId5" Type="http://schemas.openxmlformats.org/officeDocument/2006/relationships/oleObject" Target="../embeddings/oleObject33.bin"/><Relationship Id="rId4" Type="http://schemas.openxmlformats.org/officeDocument/2006/relationships/image" Target="../media/image40.wmf"/></Relationships>
</file>

<file path=ppt/slides/_rels/slide31.xml.rels><?xml version="1.0" encoding="UTF-8" standalone="yes"?>
<Relationships xmlns="http://schemas.openxmlformats.org/package/2006/relationships"><Relationship Id="rId8" Type="http://schemas.openxmlformats.org/officeDocument/2006/relationships/image" Target="../media/image45.wmf"/><Relationship Id="rId3" Type="http://schemas.openxmlformats.org/officeDocument/2006/relationships/oleObject" Target="../embeddings/oleObject35.bin"/><Relationship Id="rId7" Type="http://schemas.openxmlformats.org/officeDocument/2006/relationships/oleObject" Target="../embeddings/oleObject37.bin"/><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image" Target="../media/image44.wmf"/><Relationship Id="rId5" Type="http://schemas.openxmlformats.org/officeDocument/2006/relationships/oleObject" Target="../embeddings/oleObject36.bin"/><Relationship Id="rId4" Type="http://schemas.openxmlformats.org/officeDocument/2006/relationships/image" Target="../media/image43.wmf"/></Relationships>
</file>

<file path=ppt/slides/_rels/slide32.xml.rels><?xml version="1.0" encoding="UTF-8" standalone="yes"?>
<Relationships xmlns="http://schemas.openxmlformats.org/package/2006/relationships"><Relationship Id="rId8" Type="http://schemas.openxmlformats.org/officeDocument/2006/relationships/image" Target="../media/image48.wmf"/><Relationship Id="rId3" Type="http://schemas.openxmlformats.org/officeDocument/2006/relationships/oleObject" Target="../embeddings/oleObject38.bin"/><Relationship Id="rId7" Type="http://schemas.openxmlformats.org/officeDocument/2006/relationships/oleObject" Target="../embeddings/oleObject40.bin"/><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image" Target="../media/image47.wmf"/><Relationship Id="rId5" Type="http://schemas.openxmlformats.org/officeDocument/2006/relationships/oleObject" Target="../embeddings/oleObject39.bin"/><Relationship Id="rId10" Type="http://schemas.openxmlformats.org/officeDocument/2006/relationships/image" Target="../media/image49.wmf"/><Relationship Id="rId4" Type="http://schemas.openxmlformats.org/officeDocument/2006/relationships/image" Target="../media/image46.wmf"/><Relationship Id="rId9" Type="http://schemas.openxmlformats.org/officeDocument/2006/relationships/oleObject" Target="../embeddings/oleObject41.bin"/></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42.bin"/><Relationship Id="rId2" Type="http://schemas.openxmlformats.org/officeDocument/2006/relationships/slideLayout" Target="../slideLayouts/slideLayout2.xml"/><Relationship Id="rId1" Type="http://schemas.openxmlformats.org/officeDocument/2006/relationships/vmlDrawing" Target="../drawings/vmlDrawing13.vml"/><Relationship Id="rId4" Type="http://schemas.openxmlformats.org/officeDocument/2006/relationships/image" Target="../media/image50.wmf"/></Relationships>
</file>

<file path=ppt/slides/_rels/slide3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43.bin"/><Relationship Id="rId2" Type="http://schemas.openxmlformats.org/officeDocument/2006/relationships/slideLayout" Target="../slideLayouts/slideLayout2.xml"/><Relationship Id="rId1" Type="http://schemas.openxmlformats.org/officeDocument/2006/relationships/vmlDrawing" Target="../drawings/vmlDrawing14.vml"/><Relationship Id="rId5" Type="http://schemas.openxmlformats.org/officeDocument/2006/relationships/image" Target="../media/image52.wmf"/><Relationship Id="rId4" Type="http://schemas.openxmlformats.org/officeDocument/2006/relationships/oleObject" Target="../embeddings/Microsoft_Word_97_-_2003___11.doc"/></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7.xml"/><Relationship Id="rId4" Type="http://schemas.openxmlformats.org/officeDocument/2006/relationships/image" Target="../media/image56.png"/></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44.bin"/><Relationship Id="rId2" Type="http://schemas.openxmlformats.org/officeDocument/2006/relationships/slideLayout" Target="../slideLayouts/slideLayout2.xml"/><Relationship Id="rId1" Type="http://schemas.openxmlformats.org/officeDocument/2006/relationships/vmlDrawing" Target="../drawings/vmlDrawing15.vml"/><Relationship Id="rId4" Type="http://schemas.openxmlformats.org/officeDocument/2006/relationships/image" Target="../media/image57.wmf"/></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7.xml"/><Relationship Id="rId4" Type="http://schemas.openxmlformats.org/officeDocument/2006/relationships/image" Target="../media/image60.png"/></Relationships>
</file>

<file path=ppt/slides/_rels/slide4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7.xml"/><Relationship Id="rId4" Type="http://schemas.openxmlformats.org/officeDocument/2006/relationships/image" Target="../media/image63.png"/></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45.bin"/><Relationship Id="rId2" Type="http://schemas.openxmlformats.org/officeDocument/2006/relationships/slideLayout" Target="../slideLayouts/slideLayout2.xml"/><Relationship Id="rId1" Type="http://schemas.openxmlformats.org/officeDocument/2006/relationships/vmlDrawing" Target="../drawings/vmlDrawing16.vml"/><Relationship Id="rId4" Type="http://schemas.openxmlformats.org/officeDocument/2006/relationships/image" Target="../media/image64.wmf"/></Relationships>
</file>

<file path=ppt/slides/_rels/slide49.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xml"/><Relationship Id="rId4" Type="http://schemas.openxmlformats.org/officeDocument/2006/relationships/image" Target="../media/image69.png"/></Relationships>
</file>

<file path=ppt/slides/_rels/slide52.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7.xml"/><Relationship Id="rId4" Type="http://schemas.openxmlformats.org/officeDocument/2006/relationships/image" Target="../media/image72.png"/></Relationships>
</file>

<file path=ppt/slides/_rels/slide53.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2.xml"/><Relationship Id="rId5" Type="http://schemas.openxmlformats.org/officeDocument/2006/relationships/image" Target="../media/image76.png"/><Relationship Id="rId4" Type="http://schemas.openxmlformats.org/officeDocument/2006/relationships/image" Target="../media/image75.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80.png"/><Relationship Id="rId1" Type="http://schemas.openxmlformats.org/officeDocument/2006/relationships/slideLayout" Target="../slideLayouts/slideLayout2.xml"/><Relationship Id="rId6" Type="http://schemas.openxmlformats.org/officeDocument/2006/relationships/image" Target="../media/image83.png"/><Relationship Id="rId5" Type="http://schemas.openxmlformats.org/officeDocument/2006/relationships/image" Target="../media/image82.png"/><Relationship Id="rId4" Type="http://schemas.openxmlformats.org/officeDocument/2006/relationships/image" Target="../media/image81.png"/></Relationships>
</file>

<file path=ppt/slides/_rels/slide59.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7.xml"/><Relationship Id="rId4" Type="http://schemas.openxmlformats.org/officeDocument/2006/relationships/image" Target="../media/image88.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7.xml"/><Relationship Id="rId4" Type="http://schemas.openxmlformats.org/officeDocument/2006/relationships/image" Target="../media/image93.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7.xml"/><Relationship Id="rId5" Type="http://schemas.openxmlformats.org/officeDocument/2006/relationships/image" Target="../media/image101.png"/><Relationship Id="rId4" Type="http://schemas.openxmlformats.org/officeDocument/2006/relationships/image" Target="../media/image100.png"/></Relationships>
</file>

<file path=ppt/slides/_rels/slide77.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102.png"/><Relationship Id="rId1" Type="http://schemas.openxmlformats.org/officeDocument/2006/relationships/slideLayout" Target="../slideLayouts/slideLayout7.xml"/><Relationship Id="rId5" Type="http://schemas.openxmlformats.org/officeDocument/2006/relationships/image" Target="../media/image105.png"/><Relationship Id="rId4" Type="http://schemas.openxmlformats.org/officeDocument/2006/relationships/image" Target="../media/image104.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image" Target="../media/image106.png"/><Relationship Id="rId1" Type="http://schemas.openxmlformats.org/officeDocument/2006/relationships/slideLayout" Target="../slideLayouts/slideLayout7.xml"/><Relationship Id="rId5" Type="http://schemas.openxmlformats.org/officeDocument/2006/relationships/image" Target="../media/image109.png"/><Relationship Id="rId4" Type="http://schemas.openxmlformats.org/officeDocument/2006/relationships/image" Target="../media/image108.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image" Target="../media/image112.png"/><Relationship Id="rId1" Type="http://schemas.openxmlformats.org/officeDocument/2006/relationships/slideLayout" Target="../slideLayouts/slideLayout2.xml"/><Relationship Id="rId4" Type="http://schemas.openxmlformats.org/officeDocument/2006/relationships/image" Target="../media/image114.png"/></Relationships>
</file>

<file path=ppt/slides/_rels/slide83.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image" Target="../media/image115.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audio" Target="../media/audio4.wav"/><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8" Type="http://schemas.openxmlformats.org/officeDocument/2006/relationships/oleObject" Target="../embeddings/oleObject48.bin"/><Relationship Id="rId13" Type="http://schemas.openxmlformats.org/officeDocument/2006/relationships/image" Target="../media/image121.wmf"/><Relationship Id="rId3" Type="http://schemas.openxmlformats.org/officeDocument/2006/relationships/oleObject" Target="../embeddings/oleObject46.bin"/><Relationship Id="rId7" Type="http://schemas.openxmlformats.org/officeDocument/2006/relationships/image" Target="../media/image118.wmf"/><Relationship Id="rId12" Type="http://schemas.openxmlformats.org/officeDocument/2006/relationships/oleObject" Target="../embeddings/oleObject50.bin"/><Relationship Id="rId2" Type="http://schemas.openxmlformats.org/officeDocument/2006/relationships/slideLayout" Target="../slideLayouts/slideLayout7.xml"/><Relationship Id="rId1" Type="http://schemas.openxmlformats.org/officeDocument/2006/relationships/vmlDrawing" Target="../drawings/vmlDrawing17.vml"/><Relationship Id="rId6" Type="http://schemas.openxmlformats.org/officeDocument/2006/relationships/oleObject" Target="../embeddings/oleObject47.bin"/><Relationship Id="rId11" Type="http://schemas.openxmlformats.org/officeDocument/2006/relationships/image" Target="../media/image120.wmf"/><Relationship Id="rId5" Type="http://schemas.openxmlformats.org/officeDocument/2006/relationships/image" Target="../media/image117.wmf"/><Relationship Id="rId15" Type="http://schemas.openxmlformats.org/officeDocument/2006/relationships/image" Target="../media/image122.wmf"/><Relationship Id="rId10" Type="http://schemas.openxmlformats.org/officeDocument/2006/relationships/oleObject" Target="../embeddings/oleObject49.bin"/><Relationship Id="rId4" Type="http://schemas.openxmlformats.org/officeDocument/2006/relationships/oleObject" Target="../embeddings/Microsoft_Word_97_-_2003___12.doc"/><Relationship Id="rId9" Type="http://schemas.openxmlformats.org/officeDocument/2006/relationships/image" Target="../media/image119.wmf"/><Relationship Id="rId14" Type="http://schemas.openxmlformats.org/officeDocument/2006/relationships/oleObject" Target="../embeddings/oleObject51.bin"/></Relationships>
</file>

<file path=ppt/slides/_rels/slide86.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image" Target="../media/image123.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125.pn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4"/>
          <p:cNvSpPr>
            <a:spLocks noGrp="1" noChangeArrowheads="1"/>
          </p:cNvSpPr>
          <p:nvPr>
            <p:ph type="dt" sz="quarter" idx="10"/>
          </p:nvPr>
        </p:nvSpPr>
        <p:spPr/>
        <p:txBody>
          <a:bodyPr/>
          <a:lstStyle/>
          <a:p>
            <a:pPr>
              <a:defRPr/>
            </a:pPr>
            <a:fld id="{FBDD96E0-D2E8-4898-811F-BC5EBEDBEE5B}" type="datetime1">
              <a:rPr lang="zh-CN" altLang="en-US"/>
              <a:pPr>
                <a:defRPr/>
              </a:pPr>
              <a:t>2021/9/21</a:t>
            </a:fld>
            <a:endParaRPr lang="en-US" altLang="zh-CN"/>
          </a:p>
        </p:txBody>
      </p:sp>
      <p:sp>
        <p:nvSpPr>
          <p:cNvPr id="4" name="Rectangle 16"/>
          <p:cNvSpPr>
            <a:spLocks noGrp="1" noChangeArrowheads="1"/>
          </p:cNvSpPr>
          <p:nvPr>
            <p:ph type="sldNum" sz="quarter" idx="12"/>
          </p:nvPr>
        </p:nvSpPr>
        <p:spPr/>
        <p:txBody>
          <a:bodyPr/>
          <a:lstStyle/>
          <a:p>
            <a:pPr>
              <a:defRPr/>
            </a:pPr>
            <a:fld id="{B4B6AAB9-BAA4-454D-834F-241547F7C924}" type="slidenum">
              <a:rPr lang="en-US" altLang="zh-CN"/>
              <a:pPr>
                <a:defRPr/>
              </a:pPr>
              <a:t>1</a:t>
            </a:fld>
            <a:endParaRPr lang="en-US" altLang="zh-CN"/>
          </a:p>
        </p:txBody>
      </p:sp>
      <p:sp>
        <p:nvSpPr>
          <p:cNvPr id="108546" name="Rectangle 2"/>
          <p:cNvSpPr>
            <a:spLocks noGrp="1" noChangeArrowheads="1"/>
          </p:cNvSpPr>
          <p:nvPr>
            <p:ph type="ctrTitle"/>
          </p:nvPr>
        </p:nvSpPr>
        <p:spPr>
          <a:xfrm>
            <a:off x="1066800" y="2133600"/>
            <a:ext cx="7772400" cy="1143000"/>
          </a:xfrm>
        </p:spPr>
        <p:txBody>
          <a:bodyPr/>
          <a:lstStyle/>
          <a:p>
            <a:pPr eaLnBrk="1" hangingPunct="1">
              <a:defRPr/>
            </a:pPr>
            <a:r>
              <a:rPr lang="zh-CN" altLang="en-US" b="1" smtClean="0">
                <a:effectLst>
                  <a:outerShdw blurRad="38100" dist="38100" dir="2700000" algn="tl">
                    <a:srgbClr val="C0C0C0"/>
                  </a:outerShdw>
                </a:effectLst>
              </a:rPr>
              <a:t>第二章 逻辑代数基础</a:t>
            </a:r>
          </a:p>
        </p:txBody>
      </p:sp>
    </p:spTree>
  </p:cSld>
  <p:clrMapOvr>
    <a:masterClrMapping/>
  </p:clrMapOvr>
  <p:transition>
    <p:rand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AFFF09C2-F2B2-4C01-AF63-7F32BD602881}" type="datetime1">
              <a:rPr lang="zh-CN" altLang="en-US"/>
              <a:pPr>
                <a:defRPr/>
              </a:pPr>
              <a:t>2021/9/21</a:t>
            </a:fld>
            <a:endParaRPr lang="en-US" altLang="zh-CN"/>
          </a:p>
        </p:txBody>
      </p:sp>
      <p:sp>
        <p:nvSpPr>
          <p:cNvPr id="5" name="灯片编号占位符 5"/>
          <p:cNvSpPr>
            <a:spLocks noGrp="1"/>
          </p:cNvSpPr>
          <p:nvPr>
            <p:ph type="sldNum" sz="quarter" idx="12"/>
          </p:nvPr>
        </p:nvSpPr>
        <p:spPr/>
        <p:txBody>
          <a:bodyPr/>
          <a:lstStyle/>
          <a:p>
            <a:pPr>
              <a:defRPr/>
            </a:pPr>
            <a:fld id="{51BE269B-2F0A-4628-A921-206BE799DDFF}" type="slidenum">
              <a:rPr lang="en-US" altLang="zh-CN"/>
              <a:pPr>
                <a:defRPr/>
              </a:pPr>
              <a:t>2</a:t>
            </a:fld>
            <a:endParaRPr lang="en-US" altLang="zh-CN"/>
          </a:p>
        </p:txBody>
      </p:sp>
      <p:sp>
        <p:nvSpPr>
          <p:cNvPr id="4100" name="Rectangle 3"/>
          <p:cNvSpPr>
            <a:spLocks noGrp="1" noChangeArrowheads="1"/>
          </p:cNvSpPr>
          <p:nvPr>
            <p:ph type="body" idx="1"/>
          </p:nvPr>
        </p:nvSpPr>
        <p:spPr/>
        <p:txBody>
          <a:bodyPr/>
          <a:lstStyle/>
          <a:p>
            <a:pPr eaLnBrk="1" hangingPunct="1"/>
            <a:r>
              <a:rPr lang="zh-CN" altLang="en-US" smtClean="0"/>
              <a:t>逻辑代数的基本概念</a:t>
            </a:r>
          </a:p>
          <a:p>
            <a:pPr eaLnBrk="1" hangingPunct="1"/>
            <a:r>
              <a:rPr lang="zh-CN" altLang="en-US" smtClean="0"/>
              <a:t>逻辑代数的公理、定理及规则</a:t>
            </a:r>
          </a:p>
          <a:p>
            <a:pPr eaLnBrk="1" hangingPunct="1"/>
            <a:r>
              <a:rPr lang="zh-CN" altLang="en-US" smtClean="0"/>
              <a:t>逻辑函数表达式的形式与转换</a:t>
            </a:r>
          </a:p>
          <a:p>
            <a:pPr eaLnBrk="1" hangingPunct="1"/>
            <a:r>
              <a:rPr lang="zh-CN" altLang="en-US" smtClean="0"/>
              <a:t>逻辑函数的化简</a:t>
            </a:r>
            <a:endParaRPr lang="zh-CN" altLang="en-US" sz="2400" smtClean="0"/>
          </a:p>
        </p:txBody>
      </p:sp>
      <p:sp>
        <p:nvSpPr>
          <p:cNvPr id="4101" name="Rectangle 2"/>
          <p:cNvSpPr>
            <a:spLocks noGrp="1" noChangeArrowheads="1"/>
          </p:cNvSpPr>
          <p:nvPr>
            <p:ph type="title"/>
          </p:nvPr>
        </p:nvSpPr>
        <p:spPr>
          <a:xfrm>
            <a:off x="1274763" y="533400"/>
            <a:ext cx="7793037" cy="609600"/>
          </a:xfrm>
        </p:spPr>
        <p:txBody>
          <a:bodyPr/>
          <a:lstStyle/>
          <a:p>
            <a:pPr eaLnBrk="1" hangingPunct="1"/>
            <a:r>
              <a:rPr lang="zh-CN" altLang="en-US" smtClean="0"/>
              <a:t>本章的组成</a:t>
            </a:r>
          </a:p>
        </p:txBody>
      </p:sp>
    </p:spTree>
  </p:cSld>
  <p:clrMapOvr>
    <a:masterClrMapping/>
  </p:clrMapOvr>
  <p:transition>
    <p:rand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C2334FB3-CE79-4744-B44D-99517CED591E}" type="datetime1">
              <a:rPr lang="zh-CN" altLang="en-US"/>
              <a:pPr>
                <a:defRPr/>
              </a:pPr>
              <a:t>2021/9/21</a:t>
            </a:fld>
            <a:endParaRPr lang="en-US" altLang="zh-CN"/>
          </a:p>
        </p:txBody>
      </p:sp>
      <p:sp>
        <p:nvSpPr>
          <p:cNvPr id="5" name="灯片编号占位符 5"/>
          <p:cNvSpPr>
            <a:spLocks noGrp="1"/>
          </p:cNvSpPr>
          <p:nvPr>
            <p:ph type="sldNum" sz="quarter" idx="12"/>
          </p:nvPr>
        </p:nvSpPr>
        <p:spPr/>
        <p:txBody>
          <a:bodyPr/>
          <a:lstStyle/>
          <a:p>
            <a:pPr>
              <a:defRPr/>
            </a:pPr>
            <a:fld id="{4F445507-6886-4A42-8F11-9E5A22B9BB7B}" type="slidenum">
              <a:rPr lang="en-US" altLang="zh-CN"/>
              <a:pPr>
                <a:defRPr/>
              </a:pPr>
              <a:t>3</a:t>
            </a:fld>
            <a:endParaRPr lang="en-US" altLang="zh-CN"/>
          </a:p>
        </p:txBody>
      </p:sp>
      <p:sp>
        <p:nvSpPr>
          <p:cNvPr id="5124" name="Rectangle 2"/>
          <p:cNvSpPr>
            <a:spLocks noGrp="1" noChangeArrowheads="1"/>
          </p:cNvSpPr>
          <p:nvPr>
            <p:ph type="body" idx="1"/>
          </p:nvPr>
        </p:nvSpPr>
        <p:spPr/>
        <p:txBody>
          <a:bodyPr/>
          <a:lstStyle/>
          <a:p>
            <a:pPr eaLnBrk="1" hangingPunct="1"/>
            <a:r>
              <a:rPr lang="zh-CN" altLang="en-US" smtClean="0"/>
              <a:t>逻辑变量</a:t>
            </a:r>
          </a:p>
          <a:p>
            <a:pPr eaLnBrk="1" hangingPunct="1"/>
            <a:r>
              <a:rPr lang="zh-CN" altLang="en-US" smtClean="0"/>
              <a:t>逻辑运算</a:t>
            </a:r>
          </a:p>
          <a:p>
            <a:pPr eaLnBrk="1" hangingPunct="1"/>
            <a:r>
              <a:rPr lang="zh-CN" altLang="en-US" smtClean="0"/>
              <a:t>逻辑函数</a:t>
            </a:r>
            <a:endParaRPr lang="zh-CN" altLang="en-US" sz="2400" smtClean="0"/>
          </a:p>
        </p:txBody>
      </p:sp>
      <p:sp>
        <p:nvSpPr>
          <p:cNvPr id="5125" name="Rectangle 3"/>
          <p:cNvSpPr>
            <a:spLocks noGrp="1" noChangeArrowheads="1"/>
          </p:cNvSpPr>
          <p:nvPr>
            <p:ph type="title"/>
          </p:nvPr>
        </p:nvSpPr>
        <p:spPr>
          <a:xfrm>
            <a:off x="1274763" y="533400"/>
            <a:ext cx="7793037" cy="609600"/>
          </a:xfrm>
        </p:spPr>
        <p:txBody>
          <a:bodyPr/>
          <a:lstStyle/>
          <a:p>
            <a:pPr eaLnBrk="1" hangingPunct="1"/>
            <a:r>
              <a:rPr lang="en-US" altLang="zh-CN" smtClean="0"/>
              <a:t>2.1 </a:t>
            </a:r>
            <a:r>
              <a:rPr lang="zh-CN" altLang="en-US" smtClean="0"/>
              <a:t>逻辑代数的基本概念</a:t>
            </a:r>
          </a:p>
        </p:txBody>
      </p:sp>
    </p:spTree>
  </p:cSld>
  <p:clrMapOvr>
    <a:masterClrMapping/>
  </p:clrMapOvr>
  <p:transition>
    <p:rand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2907A307-CB3E-4DC3-A5AB-A1A798315069}" type="datetime1">
              <a:rPr lang="zh-CN" altLang="en-US"/>
              <a:pPr>
                <a:defRPr/>
              </a:pPr>
              <a:t>2021/9/21</a:t>
            </a:fld>
            <a:endParaRPr lang="en-US" altLang="zh-CN"/>
          </a:p>
        </p:txBody>
      </p:sp>
      <p:sp>
        <p:nvSpPr>
          <p:cNvPr id="5" name="灯片编号占位符 5"/>
          <p:cNvSpPr>
            <a:spLocks noGrp="1"/>
          </p:cNvSpPr>
          <p:nvPr>
            <p:ph type="sldNum" sz="quarter" idx="12"/>
          </p:nvPr>
        </p:nvSpPr>
        <p:spPr/>
        <p:txBody>
          <a:bodyPr/>
          <a:lstStyle/>
          <a:p>
            <a:pPr>
              <a:defRPr/>
            </a:pPr>
            <a:fld id="{0D2677AE-B319-4819-A69C-9E811F83E20B}" type="slidenum">
              <a:rPr lang="en-US" altLang="zh-CN"/>
              <a:pPr>
                <a:defRPr/>
              </a:pPr>
              <a:t>4</a:t>
            </a:fld>
            <a:endParaRPr lang="en-US" altLang="zh-CN"/>
          </a:p>
        </p:txBody>
      </p:sp>
      <p:sp>
        <p:nvSpPr>
          <p:cNvPr id="6148" name="Rectangle 2"/>
          <p:cNvSpPr>
            <a:spLocks noGrp="1" noChangeArrowheads="1"/>
          </p:cNvSpPr>
          <p:nvPr>
            <p:ph type="body" idx="1"/>
          </p:nvPr>
        </p:nvSpPr>
        <p:spPr/>
        <p:txBody>
          <a:bodyPr/>
          <a:lstStyle/>
          <a:p>
            <a:pPr eaLnBrk="1" hangingPunct="1">
              <a:lnSpc>
                <a:spcPct val="90000"/>
              </a:lnSpc>
            </a:pPr>
            <a:r>
              <a:rPr lang="zh-CN" altLang="en-US" sz="2800" smtClean="0"/>
              <a:t>逻辑命题</a:t>
            </a:r>
          </a:p>
          <a:p>
            <a:pPr lvl="1" eaLnBrk="1" hangingPunct="1">
              <a:lnSpc>
                <a:spcPct val="90000"/>
              </a:lnSpc>
            </a:pPr>
            <a:r>
              <a:rPr lang="zh-CN" altLang="en-US" sz="2400" smtClean="0"/>
              <a:t>在陈述句中凡是可以判断“真”、“假”的句子称为“逻辑命题”</a:t>
            </a:r>
          </a:p>
          <a:p>
            <a:pPr eaLnBrk="1" hangingPunct="1">
              <a:lnSpc>
                <a:spcPct val="90000"/>
              </a:lnSpc>
            </a:pPr>
            <a:r>
              <a:rPr lang="zh-CN" altLang="en-US" sz="2800" smtClean="0"/>
              <a:t>逻辑变量</a:t>
            </a:r>
          </a:p>
          <a:p>
            <a:pPr lvl="1" eaLnBrk="1" hangingPunct="1">
              <a:lnSpc>
                <a:spcPct val="90000"/>
              </a:lnSpc>
            </a:pPr>
            <a:r>
              <a:rPr lang="zh-CN" altLang="en-US" sz="2400" smtClean="0"/>
              <a:t>逻辑命题可以用变量来表示，这种变量称为“逻辑变量”</a:t>
            </a:r>
          </a:p>
          <a:p>
            <a:pPr eaLnBrk="1" hangingPunct="1">
              <a:lnSpc>
                <a:spcPct val="90000"/>
              </a:lnSpc>
            </a:pPr>
            <a:r>
              <a:rPr lang="zh-CN" altLang="en-US" sz="2800" smtClean="0"/>
              <a:t>逻辑代数系统是一种二值代数系统</a:t>
            </a:r>
          </a:p>
          <a:p>
            <a:pPr lvl="1" eaLnBrk="1" hangingPunct="1">
              <a:lnSpc>
                <a:spcPct val="90000"/>
              </a:lnSpc>
            </a:pPr>
            <a:r>
              <a:rPr lang="zh-CN" altLang="en-US" sz="2400" smtClean="0"/>
              <a:t>任何逻辑变量的取值只有“</a:t>
            </a:r>
            <a:r>
              <a:rPr lang="en-US" altLang="zh-CN" sz="2400" smtClean="0"/>
              <a:t>1”</a:t>
            </a:r>
            <a:r>
              <a:rPr lang="zh-CN" altLang="en-US" sz="2400" smtClean="0"/>
              <a:t>或“</a:t>
            </a:r>
            <a:r>
              <a:rPr lang="en-US" altLang="zh-CN" sz="2400" smtClean="0"/>
              <a:t>0”</a:t>
            </a:r>
            <a:r>
              <a:rPr lang="zh-CN" altLang="en-US" sz="2400" smtClean="0"/>
              <a:t>两种，即表示“真”或“假”、“是”或“非”、“有”或“无”等两种对立的状态，不具有“量”的概念；</a:t>
            </a:r>
          </a:p>
          <a:p>
            <a:pPr lvl="1" eaLnBrk="1" hangingPunct="1">
              <a:lnSpc>
                <a:spcPct val="90000"/>
              </a:lnSpc>
            </a:pPr>
            <a:r>
              <a:rPr lang="zh-CN" altLang="en-US" sz="2400" smtClean="0"/>
              <a:t>在数字系统中表现为开关的接通与断开、晶体管的导通与截止、电压的高与低、信号的有与无等两种稳定的物理状态</a:t>
            </a:r>
          </a:p>
        </p:txBody>
      </p:sp>
      <p:sp>
        <p:nvSpPr>
          <p:cNvPr id="6149" name="Rectangle 3"/>
          <p:cNvSpPr>
            <a:spLocks noGrp="1" noChangeArrowheads="1"/>
          </p:cNvSpPr>
          <p:nvPr>
            <p:ph type="title"/>
          </p:nvPr>
        </p:nvSpPr>
        <p:spPr>
          <a:xfrm>
            <a:off x="1274763" y="533400"/>
            <a:ext cx="7793037" cy="609600"/>
          </a:xfrm>
        </p:spPr>
        <p:txBody>
          <a:bodyPr/>
          <a:lstStyle/>
          <a:p>
            <a:pPr eaLnBrk="1" hangingPunct="1"/>
            <a:r>
              <a:rPr lang="zh-CN" altLang="en-US" smtClean="0"/>
              <a:t>逻辑变量</a:t>
            </a:r>
          </a:p>
        </p:txBody>
      </p:sp>
    </p:spTree>
  </p:cSld>
  <p:clrMapOvr>
    <a:masterClrMapping/>
  </p:clrMapOvr>
  <p:transition>
    <p:rand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75B191D-70BE-475B-AE11-05914BA95280}" type="datetime1">
              <a:rPr lang="zh-CN" altLang="en-US"/>
              <a:pPr>
                <a:defRPr/>
              </a:pPr>
              <a:t>2021/9/21</a:t>
            </a:fld>
            <a:endParaRPr lang="en-US" altLang="zh-CN"/>
          </a:p>
        </p:txBody>
      </p:sp>
      <p:sp>
        <p:nvSpPr>
          <p:cNvPr id="5" name="灯片编号占位符 5"/>
          <p:cNvSpPr>
            <a:spLocks noGrp="1"/>
          </p:cNvSpPr>
          <p:nvPr>
            <p:ph type="sldNum" sz="quarter" idx="12"/>
          </p:nvPr>
        </p:nvSpPr>
        <p:spPr/>
        <p:txBody>
          <a:bodyPr/>
          <a:lstStyle/>
          <a:p>
            <a:pPr>
              <a:defRPr/>
            </a:pPr>
            <a:fld id="{E7020144-31E0-4C9E-9D92-7570D1D23AC8}" type="slidenum">
              <a:rPr lang="en-US" altLang="zh-CN"/>
              <a:pPr>
                <a:defRPr/>
              </a:pPr>
              <a:t>5</a:t>
            </a:fld>
            <a:endParaRPr lang="en-US" altLang="zh-CN"/>
          </a:p>
        </p:txBody>
      </p:sp>
      <p:sp>
        <p:nvSpPr>
          <p:cNvPr id="7172" name="Rectangle 2"/>
          <p:cNvSpPr>
            <a:spLocks noGrp="1" noChangeArrowheads="1"/>
          </p:cNvSpPr>
          <p:nvPr>
            <p:ph type="body" idx="1"/>
          </p:nvPr>
        </p:nvSpPr>
        <p:spPr/>
        <p:txBody>
          <a:bodyPr/>
          <a:lstStyle/>
          <a:p>
            <a:pPr eaLnBrk="1" hangingPunct="1"/>
            <a:r>
              <a:rPr lang="zh-CN" altLang="en-US" smtClean="0"/>
              <a:t>逻辑变量</a:t>
            </a:r>
            <a:r>
              <a:rPr lang="en-US" altLang="zh-CN" smtClean="0"/>
              <a:t>x</a:t>
            </a:r>
            <a:r>
              <a:rPr lang="zh-CN" altLang="en-US" smtClean="0"/>
              <a:t>、</a:t>
            </a:r>
            <a:r>
              <a:rPr lang="en-US" altLang="zh-CN" smtClean="0"/>
              <a:t>y</a:t>
            </a:r>
            <a:r>
              <a:rPr lang="zh-CN" altLang="en-US" smtClean="0"/>
              <a:t>、</a:t>
            </a:r>
            <a:r>
              <a:rPr lang="en-US" altLang="zh-CN" smtClean="0"/>
              <a:t>z</a:t>
            </a:r>
            <a:r>
              <a:rPr lang="zh-CN" altLang="en-US" smtClean="0"/>
              <a:t>具有如下关系</a:t>
            </a:r>
          </a:p>
          <a:p>
            <a:pPr lvl="1" eaLnBrk="1" hangingPunct="1"/>
            <a:r>
              <a:rPr lang="zh-CN" altLang="en-US" smtClean="0"/>
              <a:t>自反性：</a:t>
            </a:r>
            <a:r>
              <a:rPr lang="en-US" altLang="zh-CN" smtClean="0"/>
              <a:t>x=x</a:t>
            </a:r>
          </a:p>
          <a:p>
            <a:pPr lvl="1" eaLnBrk="1" hangingPunct="1"/>
            <a:r>
              <a:rPr lang="zh-CN" altLang="en-US" smtClean="0"/>
              <a:t>对称性：若</a:t>
            </a:r>
            <a:r>
              <a:rPr lang="en-US" altLang="zh-CN" smtClean="0"/>
              <a:t>x=y</a:t>
            </a:r>
            <a:r>
              <a:rPr lang="zh-CN" altLang="en-US" smtClean="0"/>
              <a:t>，则</a:t>
            </a:r>
            <a:r>
              <a:rPr lang="en-US" altLang="zh-CN" smtClean="0"/>
              <a:t>y=x</a:t>
            </a:r>
          </a:p>
          <a:p>
            <a:pPr lvl="1" eaLnBrk="1" hangingPunct="1"/>
            <a:r>
              <a:rPr lang="zh-CN" altLang="en-US" smtClean="0"/>
              <a:t>传递性：若</a:t>
            </a:r>
            <a:r>
              <a:rPr lang="en-US" altLang="zh-CN" smtClean="0"/>
              <a:t>x=y</a:t>
            </a:r>
            <a:r>
              <a:rPr lang="zh-CN" altLang="en-US" smtClean="0"/>
              <a:t>，且</a:t>
            </a:r>
            <a:r>
              <a:rPr lang="en-US" altLang="zh-CN" smtClean="0"/>
              <a:t>y=z</a:t>
            </a:r>
            <a:r>
              <a:rPr lang="zh-CN" altLang="en-US" smtClean="0"/>
              <a:t>，则</a:t>
            </a:r>
            <a:r>
              <a:rPr lang="en-US" altLang="zh-CN" smtClean="0"/>
              <a:t>x=z</a:t>
            </a:r>
          </a:p>
          <a:p>
            <a:pPr eaLnBrk="1" hangingPunct="1"/>
            <a:endParaRPr lang="en-US" altLang="zh-CN" smtClean="0"/>
          </a:p>
        </p:txBody>
      </p:sp>
      <p:sp>
        <p:nvSpPr>
          <p:cNvPr id="7173" name="Rectangle 3"/>
          <p:cNvSpPr>
            <a:spLocks noGrp="1" noChangeArrowheads="1"/>
          </p:cNvSpPr>
          <p:nvPr>
            <p:ph type="title"/>
          </p:nvPr>
        </p:nvSpPr>
        <p:spPr>
          <a:xfrm>
            <a:off x="1274763" y="533400"/>
            <a:ext cx="7793037" cy="609600"/>
          </a:xfrm>
        </p:spPr>
        <p:txBody>
          <a:bodyPr/>
          <a:lstStyle/>
          <a:p>
            <a:pPr eaLnBrk="1" hangingPunct="1"/>
            <a:r>
              <a:rPr lang="zh-CN" altLang="en-US" smtClean="0"/>
              <a:t>逻辑变量</a:t>
            </a:r>
          </a:p>
        </p:txBody>
      </p:sp>
    </p:spTree>
  </p:cSld>
  <p:clrMapOvr>
    <a:masterClrMapping/>
  </p:clrMapOvr>
  <p:transition>
    <p:rand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CF9CEE12-0F42-494B-8768-A28565928CC9}" type="datetime1">
              <a:rPr lang="zh-CN" altLang="en-US"/>
              <a:pPr>
                <a:defRPr/>
              </a:pPr>
              <a:t>2021/9/21</a:t>
            </a:fld>
            <a:endParaRPr lang="en-US" altLang="zh-CN"/>
          </a:p>
        </p:txBody>
      </p:sp>
      <p:sp>
        <p:nvSpPr>
          <p:cNvPr id="5" name="灯片编号占位符 5"/>
          <p:cNvSpPr>
            <a:spLocks noGrp="1"/>
          </p:cNvSpPr>
          <p:nvPr>
            <p:ph type="sldNum" sz="quarter" idx="12"/>
          </p:nvPr>
        </p:nvSpPr>
        <p:spPr/>
        <p:txBody>
          <a:bodyPr/>
          <a:lstStyle/>
          <a:p>
            <a:pPr>
              <a:defRPr/>
            </a:pPr>
            <a:fld id="{3FE16754-D349-4499-BB25-66428089A4F0}" type="slidenum">
              <a:rPr lang="en-US" altLang="zh-CN"/>
              <a:pPr>
                <a:defRPr/>
              </a:pPr>
              <a:t>6</a:t>
            </a:fld>
            <a:endParaRPr lang="en-US" altLang="zh-CN"/>
          </a:p>
        </p:txBody>
      </p:sp>
      <p:sp>
        <p:nvSpPr>
          <p:cNvPr id="8196" name="Rectangle 2"/>
          <p:cNvSpPr>
            <a:spLocks noGrp="1" noChangeArrowheads="1"/>
          </p:cNvSpPr>
          <p:nvPr>
            <p:ph type="body" idx="1"/>
          </p:nvPr>
        </p:nvSpPr>
        <p:spPr/>
        <p:txBody>
          <a:bodyPr/>
          <a:lstStyle/>
          <a:p>
            <a:pPr eaLnBrk="1" hangingPunct="1"/>
            <a:r>
              <a:rPr lang="zh-CN" altLang="en-US" dirty="0" smtClean="0"/>
              <a:t>三种基本逻辑运算</a:t>
            </a:r>
          </a:p>
          <a:p>
            <a:pPr lvl="1" eaLnBrk="1" hangingPunct="1"/>
            <a:r>
              <a:rPr lang="zh-CN" altLang="en-US" dirty="0" smtClean="0"/>
              <a:t>“或”运算 </a:t>
            </a:r>
            <a:r>
              <a:rPr lang="en-US" altLang="zh-CN" dirty="0" smtClean="0"/>
              <a:t>OR</a:t>
            </a:r>
          </a:p>
          <a:p>
            <a:pPr lvl="1" eaLnBrk="1" hangingPunct="1"/>
            <a:r>
              <a:rPr lang="en-US" altLang="zh-CN" dirty="0" smtClean="0"/>
              <a:t>“</a:t>
            </a:r>
            <a:r>
              <a:rPr lang="zh-CN" altLang="en-US" dirty="0" smtClean="0"/>
              <a:t>与”运算 </a:t>
            </a:r>
            <a:r>
              <a:rPr lang="en-US" altLang="zh-CN" dirty="0" smtClean="0"/>
              <a:t>AND</a:t>
            </a:r>
          </a:p>
          <a:p>
            <a:pPr lvl="1" eaLnBrk="1" hangingPunct="1"/>
            <a:r>
              <a:rPr lang="en-US" altLang="zh-CN" dirty="0" smtClean="0"/>
              <a:t>“</a:t>
            </a:r>
            <a:r>
              <a:rPr lang="zh-CN" altLang="en-US" dirty="0" smtClean="0"/>
              <a:t>非”运算 </a:t>
            </a:r>
            <a:r>
              <a:rPr lang="en-US" altLang="zh-CN" dirty="0" smtClean="0"/>
              <a:t>NOT</a:t>
            </a:r>
          </a:p>
          <a:p>
            <a:pPr eaLnBrk="1" hangingPunct="1"/>
            <a:endParaRPr lang="en-US" altLang="zh-CN" dirty="0" smtClean="0"/>
          </a:p>
        </p:txBody>
      </p:sp>
      <p:sp>
        <p:nvSpPr>
          <p:cNvPr id="8197" name="Rectangle 3"/>
          <p:cNvSpPr>
            <a:spLocks noGrp="1" noChangeArrowheads="1"/>
          </p:cNvSpPr>
          <p:nvPr>
            <p:ph type="title"/>
          </p:nvPr>
        </p:nvSpPr>
        <p:spPr>
          <a:xfrm>
            <a:off x="1274763" y="533400"/>
            <a:ext cx="7793037" cy="609600"/>
          </a:xfrm>
        </p:spPr>
        <p:txBody>
          <a:bodyPr/>
          <a:lstStyle/>
          <a:p>
            <a:pPr eaLnBrk="1" hangingPunct="1"/>
            <a:r>
              <a:rPr lang="zh-CN" altLang="en-US" smtClean="0"/>
              <a:t>逻辑运算</a:t>
            </a:r>
          </a:p>
        </p:txBody>
      </p:sp>
    </p:spTree>
  </p:cSld>
  <p:clrMapOvr>
    <a:masterClrMapping/>
  </p:clrMapOvr>
  <p:transition>
    <p:rand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日期占位符 3"/>
          <p:cNvSpPr>
            <a:spLocks noGrp="1"/>
          </p:cNvSpPr>
          <p:nvPr>
            <p:ph type="dt" sz="quarter" idx="10"/>
          </p:nvPr>
        </p:nvSpPr>
        <p:spPr/>
        <p:txBody>
          <a:bodyPr/>
          <a:lstStyle/>
          <a:p>
            <a:pPr>
              <a:defRPr/>
            </a:pPr>
            <a:fld id="{2FA59A2C-5735-4702-B405-213CAC1F758A}" type="datetime1">
              <a:rPr lang="zh-CN" altLang="en-US"/>
              <a:pPr>
                <a:defRPr/>
              </a:pPr>
              <a:t>2021/9/21</a:t>
            </a:fld>
            <a:endParaRPr lang="en-US" altLang="zh-CN"/>
          </a:p>
        </p:txBody>
      </p:sp>
      <p:sp>
        <p:nvSpPr>
          <p:cNvPr id="39" name="灯片编号占位符 5"/>
          <p:cNvSpPr>
            <a:spLocks noGrp="1"/>
          </p:cNvSpPr>
          <p:nvPr>
            <p:ph type="sldNum" sz="quarter" idx="12"/>
          </p:nvPr>
        </p:nvSpPr>
        <p:spPr/>
        <p:txBody>
          <a:bodyPr/>
          <a:lstStyle/>
          <a:p>
            <a:pPr>
              <a:defRPr/>
            </a:pPr>
            <a:fld id="{CB72C6B5-96F2-4C31-9BFE-5AB3434DE6E1}" type="slidenum">
              <a:rPr lang="en-US" altLang="zh-CN"/>
              <a:pPr>
                <a:defRPr/>
              </a:pPr>
              <a:t>7</a:t>
            </a:fld>
            <a:endParaRPr lang="en-US" altLang="zh-CN"/>
          </a:p>
        </p:txBody>
      </p:sp>
      <p:sp>
        <p:nvSpPr>
          <p:cNvPr id="9220" name="Rectangle 2"/>
          <p:cNvSpPr>
            <a:spLocks noGrp="1" noChangeArrowheads="1"/>
          </p:cNvSpPr>
          <p:nvPr>
            <p:ph type="body" idx="1"/>
          </p:nvPr>
        </p:nvSpPr>
        <p:spPr/>
        <p:txBody>
          <a:bodyPr/>
          <a:lstStyle/>
          <a:p>
            <a:pPr eaLnBrk="1" hangingPunct="1"/>
            <a:r>
              <a:rPr lang="zh-CN" altLang="en-US" sz="2800" smtClean="0"/>
              <a:t>亦称逻辑加、逻辑和，</a:t>
            </a:r>
            <a:r>
              <a:rPr lang="en-US" altLang="zh-CN" sz="2800" smtClean="0"/>
              <a:t>Logic Addition</a:t>
            </a:r>
            <a:r>
              <a:rPr lang="zh-CN" altLang="en-US" sz="2800" smtClean="0"/>
              <a:t>、</a:t>
            </a:r>
            <a:r>
              <a:rPr lang="en-US" altLang="zh-CN" sz="2800" smtClean="0"/>
              <a:t>Logic Sum</a:t>
            </a:r>
          </a:p>
          <a:p>
            <a:pPr eaLnBrk="1" hangingPunct="1"/>
            <a:r>
              <a:rPr lang="zh-CN" altLang="en-US" sz="2800" smtClean="0"/>
              <a:t>运算符号：＋　　∨</a:t>
            </a:r>
          </a:p>
          <a:p>
            <a:pPr eaLnBrk="1" hangingPunct="1"/>
            <a:r>
              <a:rPr lang="zh-CN" altLang="en-US" sz="2800" smtClean="0"/>
              <a:t>“或”逻辑：在数理逻辑中，当决定事件发生的各种条件中，只要有一个或一个以上条件成立，该事件便发生。</a:t>
            </a:r>
          </a:p>
          <a:p>
            <a:pPr eaLnBrk="1" hangingPunct="1"/>
            <a:r>
              <a:rPr lang="zh-CN" altLang="en-US" sz="2800" smtClean="0"/>
              <a:t>表示形式：</a:t>
            </a:r>
            <a:r>
              <a:rPr lang="en-US" altLang="zh-CN" sz="2800" smtClean="0"/>
              <a:t>F=A+B     F=A∨B</a:t>
            </a:r>
          </a:p>
          <a:p>
            <a:pPr eaLnBrk="1" hangingPunct="1"/>
            <a:r>
              <a:rPr lang="zh-CN" altLang="en-US" sz="2800" smtClean="0"/>
              <a:t>真值表（</a:t>
            </a:r>
            <a:r>
              <a:rPr lang="en-US" altLang="zh-CN" sz="2800" smtClean="0"/>
              <a:t>truth table</a:t>
            </a:r>
            <a:r>
              <a:rPr lang="zh-CN" altLang="en-US" sz="2800" smtClean="0"/>
              <a:t>）</a:t>
            </a:r>
          </a:p>
          <a:p>
            <a:pPr eaLnBrk="1" hangingPunct="1"/>
            <a:r>
              <a:rPr lang="zh-CN" altLang="en-US" sz="2800" smtClean="0"/>
              <a:t>运算法则：</a:t>
            </a:r>
            <a:r>
              <a:rPr lang="en-US" altLang="zh-CN" sz="2800" smtClean="0"/>
              <a:t>0+0=0    0+1=1</a:t>
            </a:r>
          </a:p>
          <a:p>
            <a:pPr eaLnBrk="1" hangingPunct="1">
              <a:buFont typeface="Wingdings" pitchFamily="2" charset="2"/>
              <a:buNone/>
            </a:pPr>
            <a:r>
              <a:rPr lang="en-US" altLang="zh-CN" sz="2800" smtClean="0"/>
              <a:t>                   1+0=1    1+1=1</a:t>
            </a:r>
          </a:p>
          <a:p>
            <a:pPr eaLnBrk="1" hangingPunct="1"/>
            <a:endParaRPr lang="en-US" altLang="zh-CN" sz="2800" smtClean="0"/>
          </a:p>
        </p:txBody>
      </p:sp>
      <p:sp>
        <p:nvSpPr>
          <p:cNvPr id="9221" name="Rectangle 3"/>
          <p:cNvSpPr>
            <a:spLocks noGrp="1" noChangeArrowheads="1"/>
          </p:cNvSpPr>
          <p:nvPr>
            <p:ph type="title"/>
          </p:nvPr>
        </p:nvSpPr>
        <p:spPr>
          <a:xfrm>
            <a:off x="1274763" y="533400"/>
            <a:ext cx="7793037" cy="609600"/>
          </a:xfrm>
        </p:spPr>
        <p:txBody>
          <a:bodyPr/>
          <a:lstStyle/>
          <a:p>
            <a:pPr eaLnBrk="1" hangingPunct="1"/>
            <a:r>
              <a:rPr lang="zh-CN" altLang="en-US" smtClean="0"/>
              <a:t>逻辑运算之“或”运算 </a:t>
            </a:r>
            <a:r>
              <a:rPr lang="en-US" altLang="zh-CN" smtClean="0"/>
              <a:t>OR</a:t>
            </a:r>
          </a:p>
        </p:txBody>
      </p:sp>
      <p:graphicFrame>
        <p:nvGraphicFramePr>
          <p:cNvPr id="148578" name="Group 98"/>
          <p:cNvGraphicFramePr>
            <a:graphicFrameLocks noGrp="1"/>
          </p:cNvGraphicFramePr>
          <p:nvPr/>
        </p:nvGraphicFramePr>
        <p:xfrm>
          <a:off x="6629400" y="3871913"/>
          <a:ext cx="1905000" cy="2381250"/>
        </p:xfrm>
        <a:graphic>
          <a:graphicData uri="http://schemas.openxmlformats.org/drawingml/2006/table">
            <a:tbl>
              <a:tblPr/>
              <a:tblGrid>
                <a:gridCol w="646113"/>
                <a:gridCol w="639762"/>
                <a:gridCol w="619125"/>
              </a:tblGrid>
              <a:tr h="381000">
                <a:tc gridSpan="3">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smtClean="0">
                          <a:ln>
                            <a:noFill/>
                          </a:ln>
                          <a:solidFill>
                            <a:schemeClr val="tx1"/>
                          </a:solidFill>
                          <a:effectLst/>
                          <a:latin typeface="Tahoma" pitchFamily="34" charset="0"/>
                          <a:ea typeface="宋体" pitchFamily="2" charset="-122"/>
                        </a:rPr>
                        <a:t>真值表</a:t>
                      </a:r>
                    </a:p>
                  </a:txBody>
                  <a:tcPr horzOverflow="overflow">
                    <a:lnL>
                      <a:noFill/>
                    </a:lnL>
                    <a:lnR>
                      <a:noFill/>
                    </a:lnR>
                    <a:lnT>
                      <a:noFill/>
                    </a:lnT>
                    <a:lnB w="12700" cap="flat" cmpd="sng" algn="ctr">
                      <a:solidFill>
                        <a:schemeClr val="tx1"/>
                      </a:solidFill>
                      <a:prstDash val="solid"/>
                      <a:miter lim="800000"/>
                      <a:headEnd type="none" w="med" len="med"/>
                      <a:tailEnd type="none" w="med" len="med"/>
                    </a:lnB>
                    <a:lnTlToBr>
                      <a:noFill/>
                    </a:lnTlToBr>
                    <a:lnBlToTr>
                      <a:noFill/>
                    </a:lnBlToTr>
                    <a:solidFill>
                      <a:srgbClr val="CACBCC">
                        <a:alpha val="50195"/>
                      </a:srgbClr>
                    </a:solidFill>
                  </a:tcPr>
                </a:tc>
                <a:tc hMerge="1">
                  <a:txBody>
                    <a:bodyPr/>
                    <a:lstStyle/>
                    <a:p>
                      <a:endParaRPr lang="zh-CN" altLang="en-US"/>
                    </a:p>
                  </a:txBody>
                  <a:tcPr/>
                </a:tc>
                <a:tc hMerge="1">
                  <a:txBody>
                    <a:bodyPr/>
                    <a:lstStyle/>
                    <a:p>
                      <a:endParaRPr lang="zh-CN" altLang="en-US"/>
                    </a:p>
                  </a:txBody>
                  <a:tcPr/>
                </a:tc>
              </a:tr>
              <a:tr h="3810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A</a:t>
                      </a:r>
                    </a:p>
                  </a:txBody>
                  <a:tcPr horzOverflow="overflow">
                    <a:lnL>
                      <a:noFill/>
                    </a:lnL>
                    <a:lnR>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CACBCC">
                        <a:alpha val="50195"/>
                      </a:srgb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B</a:t>
                      </a:r>
                    </a:p>
                  </a:txBody>
                  <a:tcPr horzOverflow="overflow">
                    <a:lnL>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CACBCC">
                        <a:alpha val="50195"/>
                      </a:srgb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F</a:t>
                      </a:r>
                    </a:p>
                  </a:txBody>
                  <a:tcPr horzOverflow="overflow">
                    <a:lnL w="12700" cap="flat" cmpd="sng" algn="ctr">
                      <a:solidFill>
                        <a:schemeClr val="tx1"/>
                      </a:solidFill>
                      <a:prstDash val="solid"/>
                      <a:miter lim="800000"/>
                      <a:headEnd type="none" w="med" len="med"/>
                      <a:tailEnd type="none" w="med" len="med"/>
                    </a:lnL>
                    <a:lnR>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CACBCC">
                        <a:alpha val="50195"/>
                      </a:srgbClr>
                    </a:solidFill>
                  </a:tcPr>
                </a:tc>
              </a:tr>
              <a:tr h="20796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0</a:t>
                      </a:r>
                    </a:p>
                  </a:txBody>
                  <a:tcPr horzOverflow="overflow">
                    <a:lnL>
                      <a:noFill/>
                    </a:lnL>
                    <a:lnR>
                      <a:noFill/>
                    </a:lnR>
                    <a:lnT w="12700" cap="flat" cmpd="sng" algn="ctr">
                      <a:solidFill>
                        <a:schemeClr val="tx1"/>
                      </a:solidFill>
                      <a:prstDash val="solid"/>
                      <a:miter lim="800000"/>
                      <a:headEnd type="none" w="med" len="med"/>
                      <a:tailEnd type="none" w="med" len="med"/>
                    </a:lnT>
                    <a:lnB>
                      <a:noFill/>
                    </a:lnB>
                    <a:lnTlToBr>
                      <a:noFill/>
                    </a:lnTlToBr>
                    <a:lnBlToTr>
                      <a:noFill/>
                    </a:lnBlToTr>
                    <a:solidFill>
                      <a:srgbClr val="CACBCC">
                        <a:alpha val="50195"/>
                      </a:srgb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0</a:t>
                      </a:r>
                    </a:p>
                  </a:txBody>
                  <a:tcPr horzOverflow="overflow">
                    <a:lnL>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a:noFill/>
                    </a:lnB>
                    <a:lnTlToBr>
                      <a:noFill/>
                    </a:lnTlToBr>
                    <a:lnBlToTr>
                      <a:noFill/>
                    </a:lnBlToTr>
                    <a:solidFill>
                      <a:srgbClr val="CACBCC">
                        <a:alpha val="50195"/>
                      </a:srgb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0</a:t>
                      </a:r>
                    </a:p>
                  </a:txBody>
                  <a:tcPr horzOverflow="overflow">
                    <a:lnL w="12700" cap="flat" cmpd="sng" algn="ctr">
                      <a:solidFill>
                        <a:schemeClr val="tx1"/>
                      </a:solidFill>
                      <a:prstDash val="solid"/>
                      <a:miter lim="800000"/>
                      <a:headEnd type="none" w="med" len="med"/>
                      <a:tailEnd type="none" w="med" len="med"/>
                    </a:lnL>
                    <a:lnR>
                      <a:noFill/>
                    </a:lnR>
                    <a:lnT w="12700" cap="flat" cmpd="sng" algn="ctr">
                      <a:solidFill>
                        <a:schemeClr val="tx1"/>
                      </a:solidFill>
                      <a:prstDash val="solid"/>
                      <a:miter lim="800000"/>
                      <a:headEnd type="none" w="med" len="med"/>
                      <a:tailEnd type="none" w="med" len="med"/>
                    </a:lnT>
                    <a:lnB>
                      <a:noFill/>
                    </a:lnB>
                    <a:lnTlToBr>
                      <a:noFill/>
                    </a:lnTlToBr>
                    <a:lnBlToTr>
                      <a:noFill/>
                    </a:lnBlToTr>
                    <a:solidFill>
                      <a:srgbClr val="CACBCC">
                        <a:alpha val="50195"/>
                      </a:srgbClr>
                    </a:solidFill>
                  </a:tcPr>
                </a:tc>
              </a:tr>
              <a:tr h="20955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0</a:t>
                      </a:r>
                    </a:p>
                  </a:txBody>
                  <a:tcPr horzOverflow="overflow">
                    <a:lnL>
                      <a:noFill/>
                    </a:lnL>
                    <a:lnR>
                      <a:noFill/>
                    </a:lnR>
                    <a:lnT>
                      <a:noFill/>
                    </a:lnT>
                    <a:lnB>
                      <a:noFill/>
                    </a:lnB>
                    <a:lnTlToBr>
                      <a:noFill/>
                    </a:lnTlToBr>
                    <a:lnBlToTr>
                      <a:noFill/>
                    </a:lnBlToTr>
                    <a:solidFill>
                      <a:srgbClr val="CACBCC">
                        <a:alpha val="50195"/>
                      </a:srgb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1</a:t>
                      </a:r>
                    </a:p>
                  </a:txBody>
                  <a:tcPr horzOverflow="overflow">
                    <a:lnL>
                      <a:noFill/>
                    </a:lnL>
                    <a:lnR w="12700" cap="flat" cmpd="sng" algn="ctr">
                      <a:solidFill>
                        <a:schemeClr val="tx1"/>
                      </a:solidFill>
                      <a:prstDash val="solid"/>
                      <a:miter lim="800000"/>
                      <a:headEnd type="none" w="med" len="med"/>
                      <a:tailEnd type="none" w="med" len="med"/>
                    </a:lnR>
                    <a:lnT>
                      <a:noFill/>
                    </a:lnT>
                    <a:lnB>
                      <a:noFill/>
                    </a:lnB>
                    <a:lnTlToBr>
                      <a:noFill/>
                    </a:lnTlToBr>
                    <a:lnBlToTr>
                      <a:noFill/>
                    </a:lnBlToTr>
                    <a:solidFill>
                      <a:srgbClr val="CACBCC">
                        <a:alpha val="50195"/>
                      </a:srgb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1</a:t>
                      </a:r>
                    </a:p>
                  </a:txBody>
                  <a:tcPr horzOverflow="overflow">
                    <a:lnL w="12700" cap="flat" cmpd="sng" algn="ctr">
                      <a:solidFill>
                        <a:schemeClr val="tx1"/>
                      </a:solidFill>
                      <a:prstDash val="solid"/>
                      <a:miter lim="800000"/>
                      <a:headEnd type="none" w="med" len="med"/>
                      <a:tailEnd type="none" w="med" len="med"/>
                    </a:lnL>
                    <a:lnR>
                      <a:noFill/>
                    </a:lnR>
                    <a:lnT>
                      <a:noFill/>
                    </a:lnT>
                    <a:lnB>
                      <a:noFill/>
                    </a:lnB>
                    <a:lnTlToBr>
                      <a:noFill/>
                    </a:lnTlToBr>
                    <a:lnBlToTr>
                      <a:noFill/>
                    </a:lnBlToTr>
                    <a:solidFill>
                      <a:srgbClr val="CACBCC">
                        <a:alpha val="50195"/>
                      </a:srgbClr>
                    </a:solidFill>
                  </a:tcPr>
                </a:tc>
              </a:tr>
              <a:tr h="20796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1</a:t>
                      </a:r>
                    </a:p>
                  </a:txBody>
                  <a:tcPr horzOverflow="overflow">
                    <a:lnL>
                      <a:noFill/>
                    </a:lnL>
                    <a:lnR>
                      <a:noFill/>
                    </a:lnR>
                    <a:lnT>
                      <a:noFill/>
                    </a:lnT>
                    <a:lnB>
                      <a:noFill/>
                    </a:lnB>
                    <a:lnTlToBr>
                      <a:noFill/>
                    </a:lnTlToBr>
                    <a:lnBlToTr>
                      <a:noFill/>
                    </a:lnBlToTr>
                    <a:solidFill>
                      <a:srgbClr val="CACBCC">
                        <a:alpha val="50195"/>
                      </a:srgb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0</a:t>
                      </a:r>
                    </a:p>
                  </a:txBody>
                  <a:tcPr horzOverflow="overflow">
                    <a:lnL>
                      <a:noFill/>
                    </a:lnL>
                    <a:lnR w="12700" cap="flat" cmpd="sng" algn="ctr">
                      <a:solidFill>
                        <a:schemeClr val="tx1"/>
                      </a:solidFill>
                      <a:prstDash val="solid"/>
                      <a:miter lim="800000"/>
                      <a:headEnd type="none" w="med" len="med"/>
                      <a:tailEnd type="none" w="med" len="med"/>
                    </a:lnR>
                    <a:lnT>
                      <a:noFill/>
                    </a:lnT>
                    <a:lnB>
                      <a:noFill/>
                    </a:lnB>
                    <a:lnTlToBr>
                      <a:noFill/>
                    </a:lnTlToBr>
                    <a:lnBlToTr>
                      <a:noFill/>
                    </a:lnBlToTr>
                    <a:solidFill>
                      <a:srgbClr val="CACBCC">
                        <a:alpha val="50195"/>
                      </a:srgb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1</a:t>
                      </a:r>
                    </a:p>
                  </a:txBody>
                  <a:tcPr horzOverflow="overflow">
                    <a:lnL w="12700" cap="flat" cmpd="sng" algn="ctr">
                      <a:solidFill>
                        <a:schemeClr val="tx1"/>
                      </a:solidFill>
                      <a:prstDash val="solid"/>
                      <a:miter lim="800000"/>
                      <a:headEnd type="none" w="med" len="med"/>
                      <a:tailEnd type="none" w="med" len="med"/>
                    </a:lnL>
                    <a:lnR>
                      <a:noFill/>
                    </a:lnR>
                    <a:lnT>
                      <a:noFill/>
                    </a:lnT>
                    <a:lnB>
                      <a:noFill/>
                    </a:lnB>
                    <a:lnTlToBr>
                      <a:noFill/>
                    </a:lnTlToBr>
                    <a:lnBlToTr>
                      <a:noFill/>
                    </a:lnBlToTr>
                    <a:solidFill>
                      <a:srgbClr val="CACBCC">
                        <a:alpha val="50195"/>
                      </a:srgbClr>
                    </a:solidFill>
                  </a:tcPr>
                </a:tc>
              </a:tr>
              <a:tr h="40005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1</a:t>
                      </a:r>
                    </a:p>
                  </a:txBody>
                  <a:tcPr horzOverflow="overflow">
                    <a:lnL>
                      <a:noFill/>
                    </a:lnL>
                    <a:lnR>
                      <a:noFill/>
                    </a:lnR>
                    <a:lnT>
                      <a:noFill/>
                    </a:lnT>
                    <a:lnB w="12700" cap="flat" cmpd="sng" algn="ctr">
                      <a:solidFill>
                        <a:schemeClr val="tx1"/>
                      </a:solidFill>
                      <a:prstDash val="solid"/>
                      <a:miter lim="800000"/>
                      <a:headEnd type="none" w="med" len="med"/>
                      <a:tailEnd type="none" w="med" len="med"/>
                    </a:lnB>
                    <a:lnTlToBr>
                      <a:noFill/>
                    </a:lnTlToBr>
                    <a:lnBlToTr>
                      <a:noFill/>
                    </a:lnBlToTr>
                    <a:solidFill>
                      <a:srgbClr val="CACBCC">
                        <a:alpha val="50195"/>
                      </a:srgb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1</a:t>
                      </a:r>
                    </a:p>
                  </a:txBody>
                  <a:tcPr horzOverflow="overflow">
                    <a:lnL>
                      <a:noFill/>
                    </a:lnL>
                    <a:lnR w="12700" cap="flat" cmpd="sng" algn="ctr">
                      <a:solidFill>
                        <a:schemeClr val="tx1"/>
                      </a:solidFill>
                      <a:prstDash val="solid"/>
                      <a:miter lim="800000"/>
                      <a:headEnd type="none" w="med" len="med"/>
                      <a:tailEnd type="none" w="med" len="med"/>
                    </a:lnR>
                    <a:lnT>
                      <a:noFill/>
                    </a:lnT>
                    <a:lnB w="12700" cap="flat" cmpd="sng" algn="ctr">
                      <a:solidFill>
                        <a:schemeClr val="tx1"/>
                      </a:solidFill>
                      <a:prstDash val="solid"/>
                      <a:miter lim="800000"/>
                      <a:headEnd type="none" w="med" len="med"/>
                      <a:tailEnd type="none" w="med" len="med"/>
                    </a:lnB>
                    <a:lnTlToBr>
                      <a:noFill/>
                    </a:lnTlToBr>
                    <a:lnBlToTr>
                      <a:noFill/>
                    </a:lnBlToTr>
                    <a:solidFill>
                      <a:srgbClr val="CACBCC">
                        <a:alpha val="50195"/>
                      </a:srgb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1</a:t>
                      </a:r>
                    </a:p>
                  </a:txBody>
                  <a:tcPr horzOverflow="overflow">
                    <a:lnL w="12700" cap="flat" cmpd="sng" algn="ctr">
                      <a:solidFill>
                        <a:schemeClr val="tx1"/>
                      </a:solidFill>
                      <a:prstDash val="solid"/>
                      <a:miter lim="800000"/>
                      <a:headEnd type="none" w="med" len="med"/>
                      <a:tailEnd type="none" w="med" len="med"/>
                    </a:lnL>
                    <a:lnR>
                      <a:noFill/>
                    </a:lnR>
                    <a:lnT>
                      <a:noFill/>
                    </a:lnT>
                    <a:lnB w="12700" cap="flat" cmpd="sng" algn="ctr">
                      <a:solidFill>
                        <a:schemeClr val="tx1"/>
                      </a:solidFill>
                      <a:prstDash val="solid"/>
                      <a:miter lim="800000"/>
                      <a:headEnd type="none" w="med" len="med"/>
                      <a:tailEnd type="none" w="med" len="med"/>
                    </a:lnB>
                    <a:lnTlToBr>
                      <a:noFill/>
                    </a:lnTlToBr>
                    <a:lnBlToTr>
                      <a:noFill/>
                    </a:lnBlToTr>
                    <a:solidFill>
                      <a:srgbClr val="CACBCC">
                        <a:alpha val="50195"/>
                      </a:srgbClr>
                    </a:solidFill>
                  </a:tcPr>
                </a:tc>
              </a:tr>
            </a:tbl>
          </a:graphicData>
        </a:graphic>
      </p:graphicFrame>
    </p:spTree>
  </p:cSld>
  <p:clrMapOvr>
    <a:masterClrMapping/>
  </p:clrMapOvr>
  <p:transition>
    <p:rand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quarter" idx="10"/>
          </p:nvPr>
        </p:nvSpPr>
        <p:spPr/>
        <p:txBody>
          <a:bodyPr/>
          <a:lstStyle/>
          <a:p>
            <a:pPr>
              <a:defRPr/>
            </a:pPr>
            <a:fld id="{5994FD51-5411-4595-833B-C5B8FBE251F7}" type="datetime1">
              <a:rPr lang="zh-CN" altLang="en-US" smtClean="0"/>
              <a:pPr>
                <a:defRPr/>
              </a:pPr>
              <a:t>2021/9/21</a:t>
            </a:fld>
            <a:endParaRPr lang="en-US" altLang="zh-CN"/>
          </a:p>
        </p:txBody>
      </p:sp>
      <p:sp>
        <p:nvSpPr>
          <p:cNvPr id="3" name="灯片编号占位符 2"/>
          <p:cNvSpPr>
            <a:spLocks noGrp="1"/>
          </p:cNvSpPr>
          <p:nvPr>
            <p:ph type="sldNum" sz="quarter" idx="12"/>
          </p:nvPr>
        </p:nvSpPr>
        <p:spPr/>
        <p:txBody>
          <a:bodyPr/>
          <a:lstStyle/>
          <a:p>
            <a:pPr>
              <a:defRPr/>
            </a:pPr>
            <a:fld id="{B4CDB41C-C5C0-4561-B9D2-19BFB6DC6A6C}" type="slidenum">
              <a:rPr lang="en-US" altLang="zh-CN" smtClean="0"/>
              <a:pPr>
                <a:defRPr/>
              </a:pPr>
              <a:t>8</a:t>
            </a:fld>
            <a:endParaRPr lang="en-US" altLang="zh-CN"/>
          </a:p>
        </p:txBody>
      </p:sp>
      <p:graphicFrame>
        <p:nvGraphicFramePr>
          <p:cNvPr id="4" name="Object 2"/>
          <p:cNvGraphicFramePr>
            <a:graphicFrameLocks noChangeAspect="1"/>
          </p:cNvGraphicFramePr>
          <p:nvPr/>
        </p:nvGraphicFramePr>
        <p:xfrm>
          <a:off x="304800" y="2895600"/>
          <a:ext cx="4192588" cy="2239963"/>
        </p:xfrm>
        <a:graphic>
          <a:graphicData uri="http://schemas.openxmlformats.org/presentationml/2006/ole">
            <mc:AlternateContent xmlns:mc="http://schemas.openxmlformats.org/markup-compatibility/2006">
              <mc:Choice xmlns:v="urn:schemas-microsoft-com:vml" Requires="v">
                <p:oleObj spid="_x0000_s10308" name="Picture" r:id="rId3" imgW="1676400" imgH="895350" progId="Word.Picture.8">
                  <p:embed/>
                </p:oleObj>
              </mc:Choice>
              <mc:Fallback>
                <p:oleObj name="Picture" r:id="rId3" imgW="1676400" imgH="895350" progId="Word.Picture.8">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2895600"/>
                        <a:ext cx="4192588" cy="2239963"/>
                      </a:xfrm>
                      <a:prstGeom prst="rect">
                        <a:avLst/>
                      </a:prstGeom>
                      <a:solidFill>
                        <a:srgbClr val="D9FFE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 name="Object 3"/>
          <p:cNvGraphicFramePr>
            <a:graphicFrameLocks noChangeAspect="1"/>
          </p:cNvGraphicFramePr>
          <p:nvPr/>
        </p:nvGraphicFramePr>
        <p:xfrm>
          <a:off x="4648200" y="2895600"/>
          <a:ext cx="4192588" cy="2239963"/>
        </p:xfrm>
        <a:graphic>
          <a:graphicData uri="http://schemas.openxmlformats.org/presentationml/2006/ole">
            <mc:AlternateContent xmlns:mc="http://schemas.openxmlformats.org/markup-compatibility/2006">
              <mc:Choice xmlns:v="urn:schemas-microsoft-com:vml" Requires="v">
                <p:oleObj spid="_x0000_s10309" name="Picture" r:id="rId5" imgW="1676400" imgH="895350" progId="Word.Picture.8">
                  <p:embed/>
                </p:oleObj>
              </mc:Choice>
              <mc:Fallback>
                <p:oleObj name="Picture" r:id="rId5" imgW="1676400" imgH="895350" progId="Word.Picture.8">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48200" y="2895600"/>
                        <a:ext cx="4192588" cy="2239963"/>
                      </a:xfrm>
                      <a:prstGeom prst="rect">
                        <a:avLst/>
                      </a:prstGeom>
                      <a:solidFill>
                        <a:srgbClr val="D9FFE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Rectangle 4"/>
          <p:cNvSpPr>
            <a:spLocks noChangeArrowheads="1"/>
          </p:cNvSpPr>
          <p:nvPr/>
        </p:nvSpPr>
        <p:spPr bwMode="auto">
          <a:xfrm>
            <a:off x="457200" y="5781675"/>
            <a:ext cx="4495800" cy="955675"/>
          </a:xfrm>
          <a:prstGeom prst="rect">
            <a:avLst/>
          </a:prstGeom>
          <a:noFill/>
          <a:ln w="9525">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lIns="0" rIns="0">
            <a:spAutoFit/>
          </a:bodyPr>
          <a:lstStyle/>
          <a:p>
            <a:pPr algn="ctr"/>
            <a:r>
              <a:rPr lang="zh-CN" altLang="en-US" sz="2800" b="1">
                <a:ea typeface="隶书" pitchFamily="49" charset="-122"/>
              </a:rPr>
              <a:t>两个开关只要有一个接通，灯就会亮。逻辑表达式为：</a:t>
            </a:r>
            <a:endParaRPr lang="zh-CN" altLang="en-US"/>
          </a:p>
        </p:txBody>
      </p:sp>
      <p:sp>
        <p:nvSpPr>
          <p:cNvPr id="7" name="Text Box 5"/>
          <p:cNvSpPr txBox="1">
            <a:spLocks noChangeArrowheads="1"/>
          </p:cNvSpPr>
          <p:nvPr/>
        </p:nvSpPr>
        <p:spPr bwMode="auto">
          <a:xfrm>
            <a:off x="5181600" y="5943600"/>
            <a:ext cx="2514600" cy="701675"/>
          </a:xfrm>
          <a:prstGeom prst="rect">
            <a:avLst/>
          </a:prstGeom>
          <a:solidFill>
            <a:srgbClr val="CCFFCC"/>
          </a:solidFill>
          <a:ln w="9525">
            <a:noFill/>
            <a:miter lim="800000"/>
            <a:headEnd/>
            <a:tailEnd/>
          </a:ln>
          <a:effectLst/>
        </p:spPr>
        <p:txBody>
          <a:bodyPr lIns="0" rIns="0">
            <a:spAutoFit/>
          </a:bodyPr>
          <a:lstStyle/>
          <a:p>
            <a:pPr>
              <a:defRPr/>
            </a:pPr>
            <a:r>
              <a:rPr lang="zh-CN" altLang="en-US" sz="4000" b="1">
                <a:solidFill>
                  <a:srgbClr val="CC3300"/>
                </a:solidFill>
                <a:effectLst>
                  <a:outerShdw blurRad="38100" dist="38100" dir="2700000" algn="tl">
                    <a:srgbClr val="000000"/>
                  </a:outerShdw>
                </a:effectLst>
                <a:ea typeface="宋体" pitchFamily="2" charset="-122"/>
              </a:rPr>
              <a:t>Ｙ＝Ａ</a:t>
            </a:r>
            <a:r>
              <a:rPr lang="en-US" altLang="zh-CN" sz="4000" b="1">
                <a:solidFill>
                  <a:srgbClr val="CC3300"/>
                </a:solidFill>
                <a:effectLst>
                  <a:outerShdw blurRad="38100" dist="38100" dir="2700000" algn="tl">
                    <a:srgbClr val="000000"/>
                  </a:outerShdw>
                </a:effectLst>
                <a:ea typeface="宋体" pitchFamily="2" charset="-122"/>
              </a:rPr>
              <a:t>+</a:t>
            </a:r>
            <a:r>
              <a:rPr lang="zh-CN" altLang="en-US" sz="4000" b="1">
                <a:solidFill>
                  <a:srgbClr val="CC3300"/>
                </a:solidFill>
                <a:effectLst>
                  <a:outerShdw blurRad="38100" dist="38100" dir="2700000" algn="tl">
                    <a:srgbClr val="000000"/>
                  </a:outerShdw>
                </a:effectLst>
                <a:ea typeface="宋体" pitchFamily="2" charset="-122"/>
              </a:rPr>
              <a:t>Ｂ</a:t>
            </a:r>
            <a:endParaRPr lang="zh-CN" altLang="en-US">
              <a:ea typeface="宋体" pitchFamily="2" charset="-122"/>
            </a:endParaRPr>
          </a:p>
        </p:txBody>
      </p:sp>
      <p:sp>
        <p:nvSpPr>
          <p:cNvPr id="8" name="Rectangle 6"/>
          <p:cNvSpPr>
            <a:spLocks noChangeArrowheads="1"/>
          </p:cNvSpPr>
          <p:nvPr/>
        </p:nvSpPr>
        <p:spPr bwMode="auto">
          <a:xfrm>
            <a:off x="587375" y="2352675"/>
            <a:ext cx="3657600" cy="466725"/>
          </a:xfrm>
          <a:prstGeom prst="rect">
            <a:avLst/>
          </a:prstGeom>
          <a:noFill/>
          <a:ln w="9525">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lIns="0" rIns="0">
            <a:spAutoFit/>
          </a:bodyPr>
          <a:lstStyle/>
          <a:p>
            <a:pPr algn="ctr"/>
            <a:r>
              <a:rPr lang="en-US" altLang="zh-CN" b="1">
                <a:ea typeface="隶书" pitchFamily="49" charset="-122"/>
              </a:rPr>
              <a:t>A</a:t>
            </a:r>
            <a:r>
              <a:rPr lang="zh-CN" altLang="en-US" b="1">
                <a:ea typeface="隶书" pitchFamily="49" charset="-122"/>
              </a:rPr>
              <a:t>、</a:t>
            </a:r>
            <a:r>
              <a:rPr lang="en-US" altLang="zh-CN" b="1">
                <a:ea typeface="隶书" pitchFamily="49" charset="-122"/>
              </a:rPr>
              <a:t>B</a:t>
            </a:r>
            <a:r>
              <a:rPr lang="zh-CN" altLang="en-US" b="1">
                <a:ea typeface="隶书" pitchFamily="49" charset="-122"/>
              </a:rPr>
              <a:t>都断开，灯不亮。</a:t>
            </a:r>
          </a:p>
        </p:txBody>
      </p:sp>
      <p:sp>
        <p:nvSpPr>
          <p:cNvPr id="9" name="Rectangle 7"/>
          <p:cNvSpPr>
            <a:spLocks noChangeArrowheads="1"/>
          </p:cNvSpPr>
          <p:nvPr/>
        </p:nvSpPr>
        <p:spPr bwMode="auto">
          <a:xfrm>
            <a:off x="5006975" y="2352675"/>
            <a:ext cx="3657600" cy="466725"/>
          </a:xfrm>
          <a:prstGeom prst="rect">
            <a:avLst/>
          </a:prstGeom>
          <a:noFill/>
          <a:ln w="9525">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lIns="0" rIns="0">
            <a:spAutoFit/>
          </a:bodyPr>
          <a:lstStyle/>
          <a:p>
            <a:pPr algn="ctr"/>
            <a:r>
              <a:rPr lang="en-US" altLang="zh-CN" b="1">
                <a:ea typeface="隶书" pitchFamily="49" charset="-122"/>
              </a:rPr>
              <a:t>A</a:t>
            </a:r>
            <a:r>
              <a:rPr lang="zh-CN" altLang="en-US" b="1">
                <a:ea typeface="隶书" pitchFamily="49" charset="-122"/>
              </a:rPr>
              <a:t>断开、</a:t>
            </a:r>
            <a:r>
              <a:rPr lang="en-US" altLang="zh-CN" b="1">
                <a:ea typeface="隶书" pitchFamily="49" charset="-122"/>
              </a:rPr>
              <a:t>B</a:t>
            </a:r>
            <a:r>
              <a:rPr lang="zh-CN" altLang="en-US" b="1">
                <a:ea typeface="隶书" pitchFamily="49" charset="-122"/>
              </a:rPr>
              <a:t>接通，灯亮。</a:t>
            </a:r>
            <a:endParaRPr lang="zh-CN" altLang="en-US"/>
          </a:p>
        </p:txBody>
      </p:sp>
      <p:sp>
        <p:nvSpPr>
          <p:cNvPr id="10" name="Rectangle 8"/>
          <p:cNvSpPr>
            <a:spLocks noChangeArrowheads="1"/>
          </p:cNvSpPr>
          <p:nvPr/>
        </p:nvSpPr>
        <p:spPr bwMode="auto">
          <a:xfrm>
            <a:off x="609600" y="5181600"/>
            <a:ext cx="3733800" cy="466725"/>
          </a:xfrm>
          <a:prstGeom prst="rect">
            <a:avLst/>
          </a:prstGeom>
          <a:noFill/>
          <a:ln w="9525">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lIns="0" rIns="0">
            <a:spAutoFit/>
          </a:bodyPr>
          <a:lstStyle/>
          <a:p>
            <a:pPr algn="ctr"/>
            <a:r>
              <a:rPr lang="en-US" altLang="zh-CN" b="1">
                <a:ea typeface="隶书" pitchFamily="49" charset="-122"/>
              </a:rPr>
              <a:t>A</a:t>
            </a:r>
            <a:r>
              <a:rPr lang="zh-CN" altLang="en-US" b="1">
                <a:ea typeface="隶书" pitchFamily="49" charset="-122"/>
              </a:rPr>
              <a:t>接通、</a:t>
            </a:r>
            <a:r>
              <a:rPr lang="en-US" altLang="zh-CN" b="1">
                <a:ea typeface="隶书" pitchFamily="49" charset="-122"/>
              </a:rPr>
              <a:t>B</a:t>
            </a:r>
            <a:r>
              <a:rPr lang="zh-CN" altLang="en-US" b="1">
                <a:ea typeface="隶书" pitchFamily="49" charset="-122"/>
              </a:rPr>
              <a:t>断开，灯亮。</a:t>
            </a:r>
            <a:endParaRPr lang="zh-CN" altLang="en-US" sz="3200" b="1">
              <a:ea typeface="隶书" pitchFamily="49" charset="-122"/>
            </a:endParaRPr>
          </a:p>
        </p:txBody>
      </p:sp>
      <p:sp>
        <p:nvSpPr>
          <p:cNvPr id="11" name="Rectangle 9"/>
          <p:cNvSpPr>
            <a:spLocks noChangeArrowheads="1"/>
          </p:cNvSpPr>
          <p:nvPr/>
        </p:nvSpPr>
        <p:spPr bwMode="auto">
          <a:xfrm>
            <a:off x="4953000" y="5181600"/>
            <a:ext cx="3733800" cy="466725"/>
          </a:xfrm>
          <a:prstGeom prst="rect">
            <a:avLst/>
          </a:prstGeom>
          <a:noFill/>
          <a:ln w="9525">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lIns="0" rIns="0">
            <a:spAutoFit/>
          </a:bodyPr>
          <a:lstStyle/>
          <a:p>
            <a:pPr algn="ctr"/>
            <a:r>
              <a:rPr lang="en-US" altLang="zh-CN" b="1">
                <a:ea typeface="隶书" pitchFamily="49" charset="-122"/>
              </a:rPr>
              <a:t>A</a:t>
            </a:r>
            <a:r>
              <a:rPr lang="zh-CN" altLang="en-US" b="1">
                <a:ea typeface="隶书" pitchFamily="49" charset="-122"/>
              </a:rPr>
              <a:t>、</a:t>
            </a:r>
            <a:r>
              <a:rPr lang="en-US" altLang="zh-CN" b="1">
                <a:ea typeface="隶书" pitchFamily="49" charset="-122"/>
              </a:rPr>
              <a:t>B</a:t>
            </a:r>
            <a:r>
              <a:rPr lang="zh-CN" altLang="en-US" b="1">
                <a:ea typeface="隶书" pitchFamily="49" charset="-122"/>
              </a:rPr>
              <a:t>都接通，灯亮。</a:t>
            </a:r>
            <a:endParaRPr lang="zh-CN" altLang="en-US" sz="3200" b="1">
              <a:ea typeface="隶书" pitchFamily="49" charset="-122"/>
            </a:endParaRPr>
          </a:p>
        </p:txBody>
      </p:sp>
      <p:sp>
        <p:nvSpPr>
          <p:cNvPr id="12" name="Line 10"/>
          <p:cNvSpPr>
            <a:spLocks noChangeShapeType="1"/>
          </p:cNvSpPr>
          <p:nvPr/>
        </p:nvSpPr>
        <p:spPr bwMode="auto">
          <a:xfrm flipV="1">
            <a:off x="8721725" y="3733800"/>
            <a:ext cx="98425" cy="533400"/>
          </a:xfrm>
          <a:prstGeom prst="line">
            <a:avLst/>
          </a:prstGeom>
          <a:noFill/>
          <a:ln w="38100">
            <a:solidFill>
              <a:srgbClr val="CC3300"/>
            </a:solidFill>
            <a:round/>
            <a:headEnd/>
            <a:tailEnd type="arrow" w="med" len="med"/>
          </a:ln>
          <a:extLst>
            <a:ext uri="{909E8E84-426E-40DD-AFC4-6F175D3DCCD1}">
              <a14:hiddenFill xmlns:a14="http://schemas.microsoft.com/office/drawing/2010/main">
                <a:noFill/>
              </a14:hiddenFill>
            </a:ext>
          </a:extLst>
        </p:spPr>
        <p:txBody>
          <a:bodyPr lIns="0" rIns="0" anchor="ctr">
            <a:spAutoFit/>
          </a:bodyPr>
          <a:lstStyle/>
          <a:p>
            <a:endParaRPr lang="zh-CN" altLang="en-US"/>
          </a:p>
        </p:txBody>
      </p:sp>
      <p:sp>
        <p:nvSpPr>
          <p:cNvPr id="13" name="Line 11"/>
          <p:cNvSpPr>
            <a:spLocks noChangeShapeType="1"/>
          </p:cNvSpPr>
          <p:nvPr/>
        </p:nvSpPr>
        <p:spPr bwMode="auto">
          <a:xfrm flipV="1">
            <a:off x="8874125" y="3733800"/>
            <a:ext cx="98425" cy="609600"/>
          </a:xfrm>
          <a:prstGeom prst="line">
            <a:avLst/>
          </a:prstGeom>
          <a:noFill/>
          <a:ln w="38100">
            <a:solidFill>
              <a:srgbClr val="CC3300"/>
            </a:solidFill>
            <a:round/>
            <a:headEnd/>
            <a:tailEnd type="arrow" w="med" len="med"/>
          </a:ln>
          <a:extLst>
            <a:ext uri="{909E8E84-426E-40DD-AFC4-6F175D3DCCD1}">
              <a14:hiddenFill xmlns:a14="http://schemas.microsoft.com/office/drawing/2010/main">
                <a:noFill/>
              </a14:hiddenFill>
            </a:ext>
          </a:extLst>
        </p:spPr>
        <p:txBody>
          <a:bodyPr lIns="0" rIns="0" anchor="ctr">
            <a:spAutoFit/>
          </a:bodyPr>
          <a:lstStyle/>
          <a:p>
            <a:endParaRPr lang="zh-CN" altLang="en-US"/>
          </a:p>
        </p:txBody>
      </p:sp>
      <p:graphicFrame>
        <p:nvGraphicFramePr>
          <p:cNvPr id="14" name="Object 12"/>
          <p:cNvGraphicFramePr>
            <a:graphicFrameLocks noChangeAspect="1"/>
          </p:cNvGraphicFramePr>
          <p:nvPr/>
        </p:nvGraphicFramePr>
        <p:xfrm>
          <a:off x="304800" y="76200"/>
          <a:ext cx="4192588" cy="2239963"/>
        </p:xfrm>
        <a:graphic>
          <a:graphicData uri="http://schemas.openxmlformats.org/presentationml/2006/ole">
            <mc:AlternateContent xmlns:mc="http://schemas.openxmlformats.org/markup-compatibility/2006">
              <mc:Choice xmlns:v="urn:schemas-microsoft-com:vml" Requires="v">
                <p:oleObj spid="_x0000_s10310" name="Picture" r:id="rId7" imgW="1676400" imgH="895350" progId="Word.Picture.8">
                  <p:embed/>
                </p:oleObj>
              </mc:Choice>
              <mc:Fallback>
                <p:oleObj name="Picture" r:id="rId7" imgW="1676400" imgH="895350" progId="Word.Picture.8">
                  <p:embed/>
                  <p:pic>
                    <p:nvPicPr>
                      <p:cNvPr id="0"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4800" y="76200"/>
                        <a:ext cx="4192588" cy="2239963"/>
                      </a:xfrm>
                      <a:prstGeom prst="rect">
                        <a:avLst/>
                      </a:prstGeom>
                      <a:solidFill>
                        <a:srgbClr val="D9FFE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 name="Object 13"/>
          <p:cNvGraphicFramePr>
            <a:graphicFrameLocks noChangeAspect="1"/>
          </p:cNvGraphicFramePr>
          <p:nvPr/>
        </p:nvGraphicFramePr>
        <p:xfrm>
          <a:off x="4724400" y="46038"/>
          <a:ext cx="4192588" cy="2239962"/>
        </p:xfrm>
        <a:graphic>
          <a:graphicData uri="http://schemas.openxmlformats.org/presentationml/2006/ole">
            <mc:AlternateContent xmlns:mc="http://schemas.openxmlformats.org/markup-compatibility/2006">
              <mc:Choice xmlns:v="urn:schemas-microsoft-com:vml" Requires="v">
                <p:oleObj spid="_x0000_s10311" name="Picture" r:id="rId9" imgW="1676400" imgH="895350" progId="Word.Picture.8">
                  <p:embed/>
                </p:oleObj>
              </mc:Choice>
              <mc:Fallback>
                <p:oleObj name="Picture" r:id="rId9" imgW="1676400" imgH="895350" progId="Word.Picture.8">
                  <p:embed/>
                  <p:pic>
                    <p:nvPicPr>
                      <p:cNvPr id="0" name="Object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724400" y="46038"/>
                        <a:ext cx="4192588" cy="2239962"/>
                      </a:xfrm>
                      <a:prstGeom prst="rect">
                        <a:avLst/>
                      </a:prstGeom>
                      <a:solidFill>
                        <a:srgbClr val="D9FFE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 name="Line 14"/>
          <p:cNvSpPr>
            <a:spLocks noChangeShapeType="1"/>
          </p:cNvSpPr>
          <p:nvPr/>
        </p:nvSpPr>
        <p:spPr bwMode="auto">
          <a:xfrm flipV="1">
            <a:off x="8759825" y="838200"/>
            <a:ext cx="98425" cy="533400"/>
          </a:xfrm>
          <a:prstGeom prst="line">
            <a:avLst/>
          </a:prstGeom>
          <a:noFill/>
          <a:ln w="38100">
            <a:solidFill>
              <a:srgbClr val="CC3300"/>
            </a:solidFill>
            <a:round/>
            <a:headEnd/>
            <a:tailEnd type="arrow" w="med" len="med"/>
          </a:ln>
          <a:extLst>
            <a:ext uri="{909E8E84-426E-40DD-AFC4-6F175D3DCCD1}">
              <a14:hiddenFill xmlns:a14="http://schemas.microsoft.com/office/drawing/2010/main">
                <a:noFill/>
              </a14:hiddenFill>
            </a:ext>
          </a:extLst>
        </p:spPr>
        <p:txBody>
          <a:bodyPr lIns="0" rIns="0" anchor="ctr">
            <a:spAutoFit/>
          </a:bodyPr>
          <a:lstStyle/>
          <a:p>
            <a:endParaRPr lang="zh-CN" altLang="en-US"/>
          </a:p>
        </p:txBody>
      </p:sp>
      <p:sp>
        <p:nvSpPr>
          <p:cNvPr id="17" name="Line 15"/>
          <p:cNvSpPr>
            <a:spLocks noChangeShapeType="1"/>
          </p:cNvSpPr>
          <p:nvPr/>
        </p:nvSpPr>
        <p:spPr bwMode="auto">
          <a:xfrm flipV="1">
            <a:off x="8912225" y="838200"/>
            <a:ext cx="98425" cy="609600"/>
          </a:xfrm>
          <a:prstGeom prst="line">
            <a:avLst/>
          </a:prstGeom>
          <a:noFill/>
          <a:ln w="38100">
            <a:solidFill>
              <a:srgbClr val="CC3300"/>
            </a:solidFill>
            <a:round/>
            <a:headEnd/>
            <a:tailEnd type="arrow" w="med" len="med"/>
          </a:ln>
          <a:extLst>
            <a:ext uri="{909E8E84-426E-40DD-AFC4-6F175D3DCCD1}">
              <a14:hiddenFill xmlns:a14="http://schemas.microsoft.com/office/drawing/2010/main">
                <a:noFill/>
              </a14:hiddenFill>
            </a:ext>
          </a:extLst>
        </p:spPr>
        <p:txBody>
          <a:bodyPr lIns="0" rIns="0" anchor="ctr">
            <a:spAutoFit/>
          </a:bodyPr>
          <a:lstStyle/>
          <a:p>
            <a:endParaRPr lang="zh-CN" altLang="en-US"/>
          </a:p>
        </p:txBody>
      </p:sp>
      <p:sp>
        <p:nvSpPr>
          <p:cNvPr id="18" name="Line 16"/>
          <p:cNvSpPr>
            <a:spLocks noChangeShapeType="1"/>
          </p:cNvSpPr>
          <p:nvPr/>
        </p:nvSpPr>
        <p:spPr bwMode="auto">
          <a:xfrm flipV="1">
            <a:off x="4343400" y="3733800"/>
            <a:ext cx="98425" cy="533400"/>
          </a:xfrm>
          <a:prstGeom prst="line">
            <a:avLst/>
          </a:prstGeom>
          <a:noFill/>
          <a:ln w="38100">
            <a:solidFill>
              <a:srgbClr val="CC3300"/>
            </a:solidFill>
            <a:round/>
            <a:headEnd/>
            <a:tailEnd type="arrow" w="med" len="med"/>
          </a:ln>
          <a:extLst>
            <a:ext uri="{909E8E84-426E-40DD-AFC4-6F175D3DCCD1}">
              <a14:hiddenFill xmlns:a14="http://schemas.microsoft.com/office/drawing/2010/main">
                <a:noFill/>
              </a14:hiddenFill>
            </a:ext>
          </a:extLst>
        </p:spPr>
        <p:txBody>
          <a:bodyPr lIns="0" rIns="0" anchor="ctr">
            <a:spAutoFit/>
          </a:bodyPr>
          <a:lstStyle/>
          <a:p>
            <a:endParaRPr lang="zh-CN" altLang="en-US"/>
          </a:p>
        </p:txBody>
      </p:sp>
      <p:sp>
        <p:nvSpPr>
          <p:cNvPr id="19" name="Line 17"/>
          <p:cNvSpPr>
            <a:spLocks noChangeShapeType="1"/>
          </p:cNvSpPr>
          <p:nvPr/>
        </p:nvSpPr>
        <p:spPr bwMode="auto">
          <a:xfrm flipV="1">
            <a:off x="4495800" y="3733800"/>
            <a:ext cx="98425" cy="609600"/>
          </a:xfrm>
          <a:prstGeom prst="line">
            <a:avLst/>
          </a:prstGeom>
          <a:noFill/>
          <a:ln w="38100">
            <a:solidFill>
              <a:srgbClr val="CC3300"/>
            </a:solidFill>
            <a:round/>
            <a:headEnd/>
            <a:tailEnd type="arrow" w="med" len="med"/>
          </a:ln>
          <a:extLst>
            <a:ext uri="{909E8E84-426E-40DD-AFC4-6F175D3DCCD1}">
              <a14:hiddenFill xmlns:a14="http://schemas.microsoft.com/office/drawing/2010/main">
                <a:noFill/>
              </a14:hiddenFill>
            </a:ext>
          </a:extLst>
        </p:spPr>
        <p:txBody>
          <a:bodyPr lIns="0" rIns="0" anchor="ctr">
            <a:spAutoFit/>
          </a:bodyPr>
          <a:lstStyle/>
          <a:p>
            <a:endParaRPr lang="zh-CN" altLang="en-US"/>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dissolve">
                                      <p:cBhvr>
                                        <p:cTn id="7" dur="500"/>
                                        <p:tgtEl>
                                          <p:spTgt spid="14"/>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left)">
                                      <p:cBhvr>
                                        <p:cTn id="11" dur="500"/>
                                        <p:tgtEl>
                                          <p:spTgt spid="8"/>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9" presetClass="entr" presetSubtype="0" fill="hold" nodeType="click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dissolve">
                                      <p:cBhvr>
                                        <p:cTn id="16" dur="500"/>
                                        <p:tgtEl>
                                          <p:spTgt spid="15"/>
                                        </p:tgtEl>
                                      </p:cBhvr>
                                    </p:animEffect>
                                  </p:childTnLst>
                                </p:cTn>
                              </p:par>
                            </p:childTnLst>
                          </p:cTn>
                        </p:par>
                        <p:par>
                          <p:cTn id="17" fill="hold" nodeType="afterGroup">
                            <p:stCondLst>
                              <p:cond delay="500"/>
                            </p:stCondLst>
                            <p:childTnLst>
                              <p:par>
                                <p:cTn id="18" presetID="18" presetClass="entr" presetSubtype="3" fill="hold" grpId="0" nodeType="after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strips(upRight)">
                                      <p:cBhvr>
                                        <p:cTn id="20" dur="500"/>
                                        <p:tgtEl>
                                          <p:spTgt spid="16"/>
                                        </p:tgtEl>
                                      </p:cBhvr>
                                    </p:animEffect>
                                  </p:childTnLst>
                                </p:cTn>
                              </p:par>
                            </p:childTnLst>
                          </p:cTn>
                        </p:par>
                        <p:par>
                          <p:cTn id="21" fill="hold" nodeType="afterGroup">
                            <p:stCondLst>
                              <p:cond delay="1000"/>
                            </p:stCondLst>
                            <p:childTnLst>
                              <p:par>
                                <p:cTn id="22" presetID="18" presetClass="entr" presetSubtype="3" fill="hold" grpId="0" nodeType="after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strips(upRight)">
                                      <p:cBhvr>
                                        <p:cTn id="24" dur="500"/>
                                        <p:tgtEl>
                                          <p:spTgt spid="17"/>
                                        </p:tgtEl>
                                      </p:cBhvr>
                                    </p:animEffect>
                                  </p:childTnLst>
                                </p:cTn>
                              </p:par>
                            </p:childTnLst>
                          </p:cTn>
                        </p:par>
                        <p:par>
                          <p:cTn id="25" fill="hold" nodeType="afterGroup">
                            <p:stCondLst>
                              <p:cond delay="1500"/>
                            </p:stCondLst>
                            <p:childTnLst>
                              <p:par>
                                <p:cTn id="26" presetID="4" presetClass="entr" presetSubtype="32" fill="hold" grpId="0" nodeType="after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box(out)">
                                      <p:cBhvr>
                                        <p:cTn id="28" dur="500"/>
                                        <p:tgtEl>
                                          <p:spTgt spid="9"/>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8" fill="hold" nodeType="clickEffect">
                                  <p:stCondLst>
                                    <p:cond delay="0"/>
                                  </p:stCondLst>
                                  <p:childTnLst>
                                    <p:set>
                                      <p:cBhvr>
                                        <p:cTn id="32" dur="1" fill="hold">
                                          <p:stCondLst>
                                            <p:cond delay="0"/>
                                          </p:stCondLst>
                                        </p:cTn>
                                        <p:tgtEl>
                                          <p:spTgt spid="4"/>
                                        </p:tgtEl>
                                        <p:attrNameLst>
                                          <p:attrName>style.visibility</p:attrName>
                                        </p:attrNameLst>
                                      </p:cBhvr>
                                      <p:to>
                                        <p:strVal val="visible"/>
                                      </p:to>
                                    </p:set>
                                    <p:anim calcmode="lin" valueType="num">
                                      <p:cBhvr additive="base">
                                        <p:cTn id="33" dur="500" fill="hold"/>
                                        <p:tgtEl>
                                          <p:spTgt spid="4"/>
                                        </p:tgtEl>
                                        <p:attrNameLst>
                                          <p:attrName>ppt_x</p:attrName>
                                        </p:attrNameLst>
                                      </p:cBhvr>
                                      <p:tavLst>
                                        <p:tav tm="0">
                                          <p:val>
                                            <p:strVal val="0-#ppt_w/2"/>
                                          </p:val>
                                        </p:tav>
                                        <p:tav tm="100000">
                                          <p:val>
                                            <p:strVal val="#ppt_x"/>
                                          </p:val>
                                        </p:tav>
                                      </p:tavLst>
                                    </p:anim>
                                    <p:anim calcmode="lin" valueType="num">
                                      <p:cBhvr additive="base">
                                        <p:cTn id="34" dur="500" fill="hold"/>
                                        <p:tgtEl>
                                          <p:spTgt spid="4"/>
                                        </p:tgtEl>
                                        <p:attrNameLst>
                                          <p:attrName>ppt_y</p:attrName>
                                        </p:attrNameLst>
                                      </p:cBhvr>
                                      <p:tavLst>
                                        <p:tav tm="0">
                                          <p:val>
                                            <p:strVal val="#ppt_y"/>
                                          </p:val>
                                        </p:tav>
                                        <p:tav tm="100000">
                                          <p:val>
                                            <p:strVal val="#ppt_y"/>
                                          </p:val>
                                        </p:tav>
                                      </p:tavLst>
                                    </p:anim>
                                  </p:childTnLst>
                                </p:cTn>
                              </p:par>
                            </p:childTnLst>
                          </p:cTn>
                        </p:par>
                        <p:par>
                          <p:cTn id="35" fill="hold" nodeType="afterGroup">
                            <p:stCondLst>
                              <p:cond delay="500"/>
                            </p:stCondLst>
                            <p:childTnLst>
                              <p:par>
                                <p:cTn id="36" presetID="18" presetClass="entr" presetSubtype="3" fill="hold" grpId="0" nodeType="after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strips(upRight)">
                                      <p:cBhvr>
                                        <p:cTn id="38" dur="500"/>
                                        <p:tgtEl>
                                          <p:spTgt spid="18"/>
                                        </p:tgtEl>
                                      </p:cBhvr>
                                    </p:animEffect>
                                  </p:childTnLst>
                                </p:cTn>
                              </p:par>
                            </p:childTnLst>
                          </p:cTn>
                        </p:par>
                        <p:par>
                          <p:cTn id="39" fill="hold" nodeType="afterGroup">
                            <p:stCondLst>
                              <p:cond delay="1000"/>
                            </p:stCondLst>
                            <p:childTnLst>
                              <p:par>
                                <p:cTn id="40" presetID="18" presetClass="entr" presetSubtype="3" fill="hold" grpId="0" nodeType="after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strips(upRight)">
                                      <p:cBhvr>
                                        <p:cTn id="42" dur="500"/>
                                        <p:tgtEl>
                                          <p:spTgt spid="19"/>
                                        </p:tgtEl>
                                      </p:cBhvr>
                                    </p:animEffect>
                                  </p:childTnLst>
                                </p:cTn>
                              </p:par>
                            </p:childTnLst>
                          </p:cTn>
                        </p:par>
                        <p:par>
                          <p:cTn id="43" fill="hold" nodeType="afterGroup">
                            <p:stCondLst>
                              <p:cond delay="1500"/>
                            </p:stCondLst>
                            <p:childTnLst>
                              <p:par>
                                <p:cTn id="44" presetID="2" presetClass="entr" presetSubtype="8" fill="hold" grpId="0" nodeType="afterEffect">
                                  <p:stCondLst>
                                    <p:cond delay="0"/>
                                  </p:stCondLst>
                                  <p:childTnLst>
                                    <p:set>
                                      <p:cBhvr>
                                        <p:cTn id="45" dur="1" fill="hold">
                                          <p:stCondLst>
                                            <p:cond delay="0"/>
                                          </p:stCondLst>
                                        </p:cTn>
                                        <p:tgtEl>
                                          <p:spTgt spid="10"/>
                                        </p:tgtEl>
                                        <p:attrNameLst>
                                          <p:attrName>style.visibility</p:attrName>
                                        </p:attrNameLst>
                                      </p:cBhvr>
                                      <p:to>
                                        <p:strVal val="visible"/>
                                      </p:to>
                                    </p:set>
                                    <p:anim calcmode="lin" valueType="num">
                                      <p:cBhvr additive="base">
                                        <p:cTn id="46" dur="500" fill="hold"/>
                                        <p:tgtEl>
                                          <p:spTgt spid="10"/>
                                        </p:tgtEl>
                                        <p:attrNameLst>
                                          <p:attrName>ppt_x</p:attrName>
                                        </p:attrNameLst>
                                      </p:cBhvr>
                                      <p:tavLst>
                                        <p:tav tm="0">
                                          <p:val>
                                            <p:strVal val="0-#ppt_w/2"/>
                                          </p:val>
                                        </p:tav>
                                        <p:tav tm="100000">
                                          <p:val>
                                            <p:strVal val="#ppt_x"/>
                                          </p:val>
                                        </p:tav>
                                      </p:tavLst>
                                    </p:anim>
                                    <p:anim calcmode="lin" valueType="num">
                                      <p:cBhvr additive="base">
                                        <p:cTn id="47"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48" fill="hold" nodeType="clickPar">
                      <p:stCondLst>
                        <p:cond delay="indefinite"/>
                      </p:stCondLst>
                      <p:childTnLst>
                        <p:par>
                          <p:cTn id="49" fill="hold" nodeType="withGroup">
                            <p:stCondLst>
                              <p:cond delay="0"/>
                            </p:stCondLst>
                            <p:childTnLst>
                              <p:par>
                                <p:cTn id="50" presetID="9" presetClass="entr" presetSubtype="0" fill="hold" nodeType="clickEffect">
                                  <p:stCondLst>
                                    <p:cond delay="0"/>
                                  </p:stCondLst>
                                  <p:childTnLst>
                                    <p:set>
                                      <p:cBhvr>
                                        <p:cTn id="51" dur="1" fill="hold">
                                          <p:stCondLst>
                                            <p:cond delay="0"/>
                                          </p:stCondLst>
                                        </p:cTn>
                                        <p:tgtEl>
                                          <p:spTgt spid="5"/>
                                        </p:tgtEl>
                                        <p:attrNameLst>
                                          <p:attrName>style.visibility</p:attrName>
                                        </p:attrNameLst>
                                      </p:cBhvr>
                                      <p:to>
                                        <p:strVal val="visible"/>
                                      </p:to>
                                    </p:set>
                                    <p:animEffect transition="in" filter="dissolve">
                                      <p:cBhvr>
                                        <p:cTn id="52" dur="500"/>
                                        <p:tgtEl>
                                          <p:spTgt spid="5"/>
                                        </p:tgtEl>
                                      </p:cBhvr>
                                    </p:animEffect>
                                  </p:childTnLst>
                                </p:cTn>
                              </p:par>
                            </p:childTnLst>
                          </p:cTn>
                        </p:par>
                        <p:par>
                          <p:cTn id="53" fill="hold" nodeType="afterGroup">
                            <p:stCondLst>
                              <p:cond delay="500"/>
                            </p:stCondLst>
                            <p:childTnLst>
                              <p:par>
                                <p:cTn id="54" presetID="18" presetClass="entr" presetSubtype="3" fill="hold" grpId="0" nodeType="afterEffect">
                                  <p:stCondLst>
                                    <p:cond delay="0"/>
                                  </p:stCondLst>
                                  <p:childTnLst>
                                    <p:set>
                                      <p:cBhvr>
                                        <p:cTn id="55" dur="1" fill="hold">
                                          <p:stCondLst>
                                            <p:cond delay="0"/>
                                          </p:stCondLst>
                                        </p:cTn>
                                        <p:tgtEl>
                                          <p:spTgt spid="12"/>
                                        </p:tgtEl>
                                        <p:attrNameLst>
                                          <p:attrName>style.visibility</p:attrName>
                                        </p:attrNameLst>
                                      </p:cBhvr>
                                      <p:to>
                                        <p:strVal val="visible"/>
                                      </p:to>
                                    </p:set>
                                    <p:animEffect transition="in" filter="strips(upRight)">
                                      <p:cBhvr>
                                        <p:cTn id="56" dur="500"/>
                                        <p:tgtEl>
                                          <p:spTgt spid="12"/>
                                        </p:tgtEl>
                                      </p:cBhvr>
                                    </p:animEffect>
                                  </p:childTnLst>
                                </p:cTn>
                              </p:par>
                            </p:childTnLst>
                          </p:cTn>
                        </p:par>
                        <p:par>
                          <p:cTn id="57" fill="hold" nodeType="afterGroup">
                            <p:stCondLst>
                              <p:cond delay="1000"/>
                            </p:stCondLst>
                            <p:childTnLst>
                              <p:par>
                                <p:cTn id="58" presetID="18" presetClass="entr" presetSubtype="3" fill="hold" grpId="0" nodeType="afterEffect">
                                  <p:stCondLst>
                                    <p:cond delay="0"/>
                                  </p:stCondLst>
                                  <p:childTnLst>
                                    <p:set>
                                      <p:cBhvr>
                                        <p:cTn id="59" dur="1" fill="hold">
                                          <p:stCondLst>
                                            <p:cond delay="0"/>
                                          </p:stCondLst>
                                        </p:cTn>
                                        <p:tgtEl>
                                          <p:spTgt spid="13"/>
                                        </p:tgtEl>
                                        <p:attrNameLst>
                                          <p:attrName>style.visibility</p:attrName>
                                        </p:attrNameLst>
                                      </p:cBhvr>
                                      <p:to>
                                        <p:strVal val="visible"/>
                                      </p:to>
                                    </p:set>
                                    <p:animEffect transition="in" filter="strips(upRight)">
                                      <p:cBhvr>
                                        <p:cTn id="60" dur="500"/>
                                        <p:tgtEl>
                                          <p:spTgt spid="13"/>
                                        </p:tgtEl>
                                      </p:cBhvr>
                                    </p:animEffect>
                                  </p:childTnLst>
                                </p:cTn>
                              </p:par>
                            </p:childTnLst>
                          </p:cTn>
                        </p:par>
                        <p:par>
                          <p:cTn id="61" fill="hold" nodeType="afterGroup">
                            <p:stCondLst>
                              <p:cond delay="1500"/>
                            </p:stCondLst>
                            <p:childTnLst>
                              <p:par>
                                <p:cTn id="62" presetID="2" presetClass="entr" presetSubtype="2" fill="hold" grpId="0" nodeType="afterEffect">
                                  <p:stCondLst>
                                    <p:cond delay="0"/>
                                  </p:stCondLst>
                                  <p:childTnLst>
                                    <p:set>
                                      <p:cBhvr>
                                        <p:cTn id="63" dur="1" fill="hold">
                                          <p:stCondLst>
                                            <p:cond delay="0"/>
                                          </p:stCondLst>
                                        </p:cTn>
                                        <p:tgtEl>
                                          <p:spTgt spid="11"/>
                                        </p:tgtEl>
                                        <p:attrNameLst>
                                          <p:attrName>style.visibility</p:attrName>
                                        </p:attrNameLst>
                                      </p:cBhvr>
                                      <p:to>
                                        <p:strVal val="visible"/>
                                      </p:to>
                                    </p:set>
                                    <p:anim calcmode="lin" valueType="num">
                                      <p:cBhvr additive="base">
                                        <p:cTn id="64" dur="500" fill="hold"/>
                                        <p:tgtEl>
                                          <p:spTgt spid="11"/>
                                        </p:tgtEl>
                                        <p:attrNameLst>
                                          <p:attrName>ppt_x</p:attrName>
                                        </p:attrNameLst>
                                      </p:cBhvr>
                                      <p:tavLst>
                                        <p:tav tm="0">
                                          <p:val>
                                            <p:strVal val="1+#ppt_w/2"/>
                                          </p:val>
                                        </p:tav>
                                        <p:tav tm="100000">
                                          <p:val>
                                            <p:strVal val="#ppt_x"/>
                                          </p:val>
                                        </p:tav>
                                      </p:tavLst>
                                    </p:anim>
                                    <p:anim calcmode="lin" valueType="num">
                                      <p:cBhvr additive="base">
                                        <p:cTn id="65"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66" fill="hold" nodeType="clickPar">
                      <p:stCondLst>
                        <p:cond delay="indefinite"/>
                      </p:stCondLst>
                      <p:childTnLst>
                        <p:par>
                          <p:cTn id="67" fill="hold" nodeType="withGroup">
                            <p:stCondLst>
                              <p:cond delay="0"/>
                            </p:stCondLst>
                            <p:childTnLst>
                              <p:par>
                                <p:cTn id="68" presetID="9" presetClass="entr" presetSubtype="0" fill="hold" grpId="0" nodeType="clickEffect">
                                  <p:stCondLst>
                                    <p:cond delay="0"/>
                                  </p:stCondLst>
                                  <p:childTnLst>
                                    <p:set>
                                      <p:cBhvr>
                                        <p:cTn id="69" dur="1" fill="hold">
                                          <p:stCondLst>
                                            <p:cond delay="0"/>
                                          </p:stCondLst>
                                        </p:cTn>
                                        <p:tgtEl>
                                          <p:spTgt spid="6"/>
                                        </p:tgtEl>
                                        <p:attrNameLst>
                                          <p:attrName>style.visibility</p:attrName>
                                        </p:attrNameLst>
                                      </p:cBhvr>
                                      <p:to>
                                        <p:strVal val="visible"/>
                                      </p:to>
                                    </p:set>
                                    <p:animEffect transition="in" filter="dissolve">
                                      <p:cBhvr>
                                        <p:cTn id="70" dur="500"/>
                                        <p:tgtEl>
                                          <p:spTgt spid="6"/>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 presetClass="entr" presetSubtype="8" fill="hold" grpId="0" nodeType="clickEffect">
                                  <p:stCondLst>
                                    <p:cond delay="0"/>
                                  </p:stCondLst>
                                  <p:childTnLst>
                                    <p:set>
                                      <p:cBhvr>
                                        <p:cTn id="74" dur="1" fill="hold">
                                          <p:stCondLst>
                                            <p:cond delay="0"/>
                                          </p:stCondLst>
                                        </p:cTn>
                                        <p:tgtEl>
                                          <p:spTgt spid="7"/>
                                        </p:tgtEl>
                                        <p:attrNameLst>
                                          <p:attrName>style.visibility</p:attrName>
                                        </p:attrNameLst>
                                      </p:cBhvr>
                                      <p:to>
                                        <p:strVal val="visible"/>
                                      </p:to>
                                    </p:set>
                                    <p:anim calcmode="lin" valueType="num">
                                      <p:cBhvr additive="base">
                                        <p:cTn id="75" dur="500" fill="hold"/>
                                        <p:tgtEl>
                                          <p:spTgt spid="7"/>
                                        </p:tgtEl>
                                        <p:attrNameLst>
                                          <p:attrName>ppt_x</p:attrName>
                                        </p:attrNameLst>
                                      </p:cBhvr>
                                      <p:tavLst>
                                        <p:tav tm="0">
                                          <p:val>
                                            <p:strVal val="0-#ppt_w/2"/>
                                          </p:val>
                                        </p:tav>
                                        <p:tav tm="100000">
                                          <p:val>
                                            <p:strVal val="#ppt_x"/>
                                          </p:val>
                                        </p:tav>
                                      </p:tavLst>
                                    </p:anim>
                                    <p:anim calcmode="lin" valueType="num">
                                      <p:cBhvr additive="base">
                                        <p:cTn id="76"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autoUpdateAnimBg="0"/>
      <p:bldP spid="7" grpId="0" animBg="1" autoUpdateAnimBg="0"/>
      <p:bldP spid="8" grpId="0" animBg="1" autoUpdateAnimBg="0"/>
      <p:bldP spid="9" grpId="0" animBg="1" autoUpdateAnimBg="0"/>
      <p:bldP spid="10" grpId="0" animBg="1" autoUpdateAnimBg="0"/>
      <p:bldP spid="11" grpId="0" animBg="1" autoUpdateAnimBg="0"/>
      <p:bldP spid="12" grpId="0" animBg="1"/>
      <p:bldP spid="13" grpId="0" animBg="1"/>
      <p:bldP spid="16" grpId="0" animBg="1"/>
      <p:bldP spid="17" grpId="0" animBg="1"/>
      <p:bldP spid="18" grpId="0" animBg="1"/>
      <p:bldP spid="1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日期占位符 3"/>
          <p:cNvSpPr>
            <a:spLocks noGrp="1"/>
          </p:cNvSpPr>
          <p:nvPr>
            <p:ph type="dt" sz="quarter" idx="10"/>
          </p:nvPr>
        </p:nvSpPr>
        <p:spPr/>
        <p:txBody>
          <a:bodyPr/>
          <a:lstStyle/>
          <a:p>
            <a:pPr>
              <a:defRPr/>
            </a:pPr>
            <a:fld id="{C6A44024-09BB-42E5-A8BE-DC6C91AF9217}" type="datetime1">
              <a:rPr lang="zh-CN" altLang="en-US"/>
              <a:pPr>
                <a:defRPr/>
              </a:pPr>
              <a:t>2021/9/21</a:t>
            </a:fld>
            <a:endParaRPr lang="en-US" altLang="zh-CN"/>
          </a:p>
        </p:txBody>
      </p:sp>
      <p:sp>
        <p:nvSpPr>
          <p:cNvPr id="39" name="灯片编号占位符 5"/>
          <p:cNvSpPr>
            <a:spLocks noGrp="1"/>
          </p:cNvSpPr>
          <p:nvPr>
            <p:ph type="sldNum" sz="quarter" idx="12"/>
          </p:nvPr>
        </p:nvSpPr>
        <p:spPr/>
        <p:txBody>
          <a:bodyPr/>
          <a:lstStyle/>
          <a:p>
            <a:pPr>
              <a:defRPr/>
            </a:pPr>
            <a:fld id="{E2874880-6238-4C9A-B1F7-145A66E1E3B5}" type="slidenum">
              <a:rPr lang="en-US" altLang="zh-CN"/>
              <a:pPr>
                <a:defRPr/>
              </a:pPr>
              <a:t>9</a:t>
            </a:fld>
            <a:endParaRPr lang="en-US" altLang="zh-CN"/>
          </a:p>
        </p:txBody>
      </p:sp>
      <p:sp>
        <p:nvSpPr>
          <p:cNvPr id="11268" name="Rectangle 2"/>
          <p:cNvSpPr>
            <a:spLocks noGrp="1" noChangeArrowheads="1"/>
          </p:cNvSpPr>
          <p:nvPr>
            <p:ph type="body" idx="1"/>
          </p:nvPr>
        </p:nvSpPr>
        <p:spPr/>
        <p:txBody>
          <a:bodyPr/>
          <a:lstStyle/>
          <a:p>
            <a:pPr eaLnBrk="1" hangingPunct="1"/>
            <a:r>
              <a:rPr lang="zh-CN" altLang="en-US" sz="2800" smtClean="0"/>
              <a:t>亦称逻辑乘、逻辑积，</a:t>
            </a:r>
            <a:r>
              <a:rPr lang="en-US" altLang="zh-CN" sz="2800" smtClean="0"/>
              <a:t>Logic Multiplication</a:t>
            </a:r>
            <a:r>
              <a:rPr lang="zh-CN" altLang="en-US" sz="2800" smtClean="0"/>
              <a:t>、</a:t>
            </a:r>
            <a:r>
              <a:rPr lang="en-US" altLang="zh-CN" sz="2800" smtClean="0"/>
              <a:t>Logic Product</a:t>
            </a:r>
          </a:p>
          <a:p>
            <a:pPr eaLnBrk="1" hangingPunct="1"/>
            <a:r>
              <a:rPr lang="zh-CN" altLang="en-US" sz="2800" smtClean="0"/>
              <a:t>运算符号：</a:t>
            </a:r>
            <a:r>
              <a:rPr lang="en-US" altLang="zh-CN" sz="2800" smtClean="0"/>
              <a:t>·</a:t>
            </a:r>
            <a:r>
              <a:rPr lang="zh-CN" altLang="en-US" sz="2800" smtClean="0"/>
              <a:t>　　∧</a:t>
            </a:r>
          </a:p>
          <a:p>
            <a:pPr eaLnBrk="1" hangingPunct="1"/>
            <a:r>
              <a:rPr lang="zh-CN" altLang="en-US" sz="2800" smtClean="0"/>
              <a:t>“与”逻辑：在数理逻辑中，当决定事件发生的各种条件中，只有全部条件同时具备时，该事件才发生。</a:t>
            </a:r>
          </a:p>
          <a:p>
            <a:pPr eaLnBrk="1" hangingPunct="1"/>
            <a:r>
              <a:rPr lang="zh-CN" altLang="en-US" sz="2800" smtClean="0"/>
              <a:t>表示形式：</a:t>
            </a:r>
            <a:r>
              <a:rPr lang="en-US" altLang="zh-CN" sz="2800" smtClean="0"/>
              <a:t>F=A·B     F=A∧B</a:t>
            </a:r>
          </a:p>
          <a:p>
            <a:pPr eaLnBrk="1" hangingPunct="1"/>
            <a:r>
              <a:rPr lang="zh-CN" altLang="en-US" sz="2800" smtClean="0"/>
              <a:t>真值表（</a:t>
            </a:r>
            <a:r>
              <a:rPr lang="en-US" altLang="zh-CN" sz="2800" smtClean="0"/>
              <a:t>truth table</a:t>
            </a:r>
            <a:r>
              <a:rPr lang="zh-CN" altLang="en-US" sz="2800" smtClean="0"/>
              <a:t>）</a:t>
            </a:r>
          </a:p>
          <a:p>
            <a:pPr eaLnBrk="1" hangingPunct="1"/>
            <a:r>
              <a:rPr lang="zh-CN" altLang="en-US" sz="2800" smtClean="0"/>
              <a:t>运算法则：</a:t>
            </a:r>
            <a:r>
              <a:rPr lang="en-US" altLang="zh-CN" sz="2800" smtClean="0"/>
              <a:t>0·0=0    0·1=0</a:t>
            </a:r>
          </a:p>
          <a:p>
            <a:pPr eaLnBrk="1" hangingPunct="1">
              <a:buFont typeface="Wingdings" pitchFamily="2" charset="2"/>
              <a:buNone/>
            </a:pPr>
            <a:r>
              <a:rPr lang="en-US" altLang="zh-CN" sz="2800" smtClean="0"/>
              <a:t>                   1·0=0    1·1=1</a:t>
            </a:r>
          </a:p>
          <a:p>
            <a:pPr eaLnBrk="1" hangingPunct="1"/>
            <a:endParaRPr lang="en-US" altLang="zh-CN" sz="2800" smtClean="0"/>
          </a:p>
        </p:txBody>
      </p:sp>
      <p:sp>
        <p:nvSpPr>
          <p:cNvPr id="11269" name="Rectangle 3"/>
          <p:cNvSpPr>
            <a:spLocks noGrp="1" noChangeArrowheads="1"/>
          </p:cNvSpPr>
          <p:nvPr>
            <p:ph type="title"/>
          </p:nvPr>
        </p:nvSpPr>
        <p:spPr>
          <a:xfrm>
            <a:off x="1274763" y="533400"/>
            <a:ext cx="7793037" cy="609600"/>
          </a:xfrm>
        </p:spPr>
        <p:txBody>
          <a:bodyPr/>
          <a:lstStyle/>
          <a:p>
            <a:pPr eaLnBrk="1" hangingPunct="1"/>
            <a:r>
              <a:rPr lang="zh-CN" altLang="en-US" smtClean="0"/>
              <a:t>逻辑运算之“与”运算 </a:t>
            </a:r>
            <a:r>
              <a:rPr lang="en-US" altLang="zh-CN" smtClean="0"/>
              <a:t>AND</a:t>
            </a:r>
          </a:p>
        </p:txBody>
      </p:sp>
      <p:graphicFrame>
        <p:nvGraphicFramePr>
          <p:cNvPr id="149543" name="Group 39"/>
          <p:cNvGraphicFramePr>
            <a:graphicFrameLocks noGrp="1"/>
          </p:cNvGraphicFramePr>
          <p:nvPr/>
        </p:nvGraphicFramePr>
        <p:xfrm>
          <a:off x="6629400" y="3886200"/>
          <a:ext cx="1905000" cy="2381250"/>
        </p:xfrm>
        <a:graphic>
          <a:graphicData uri="http://schemas.openxmlformats.org/drawingml/2006/table">
            <a:tbl>
              <a:tblPr/>
              <a:tblGrid>
                <a:gridCol w="646113"/>
                <a:gridCol w="573087"/>
                <a:gridCol w="685800"/>
              </a:tblGrid>
              <a:tr h="366713">
                <a:tc gridSpan="3">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smtClean="0">
                          <a:ln>
                            <a:noFill/>
                          </a:ln>
                          <a:solidFill>
                            <a:schemeClr val="tx1"/>
                          </a:solidFill>
                          <a:effectLst/>
                          <a:latin typeface="Tahoma" pitchFamily="34" charset="0"/>
                          <a:ea typeface="宋体" pitchFamily="2" charset="-122"/>
                        </a:rPr>
                        <a:t>真值表</a:t>
                      </a:r>
                    </a:p>
                  </a:txBody>
                  <a:tcPr horzOverflow="overflow">
                    <a:lnL>
                      <a:noFill/>
                    </a:lnL>
                    <a:lnR>
                      <a:noFill/>
                    </a:lnR>
                    <a:lnT>
                      <a:noFill/>
                    </a:lnT>
                    <a:lnB w="12700" cap="flat" cmpd="sng" algn="ctr">
                      <a:solidFill>
                        <a:schemeClr val="tx1"/>
                      </a:solidFill>
                      <a:prstDash val="solid"/>
                      <a:miter lim="800000"/>
                      <a:headEnd type="none" w="med" len="med"/>
                      <a:tailEnd type="none" w="med" len="med"/>
                    </a:lnB>
                    <a:lnTlToBr>
                      <a:noFill/>
                    </a:lnTlToBr>
                    <a:lnBlToTr>
                      <a:noFill/>
                    </a:lnBlToTr>
                    <a:solidFill>
                      <a:srgbClr val="CACBCC">
                        <a:alpha val="50195"/>
                      </a:srgbClr>
                    </a:solidFill>
                  </a:tcPr>
                </a:tc>
                <a:tc hMerge="1">
                  <a:txBody>
                    <a:bodyPr/>
                    <a:lstStyle/>
                    <a:p>
                      <a:endParaRPr lang="zh-CN" altLang="en-US"/>
                    </a:p>
                  </a:txBody>
                  <a:tcPr/>
                </a:tc>
                <a:tc hMerge="1">
                  <a:txBody>
                    <a:bodyPr/>
                    <a:lstStyle/>
                    <a:p>
                      <a:endParaRPr lang="zh-CN" altLang="en-US"/>
                    </a:p>
                  </a:txBody>
                  <a:tcPr/>
                </a:tc>
              </a:tr>
              <a:tr h="3810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A</a:t>
                      </a:r>
                    </a:p>
                  </a:txBody>
                  <a:tcPr horzOverflow="overflow">
                    <a:lnL>
                      <a:noFill/>
                    </a:lnL>
                    <a:lnR>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CACBCC">
                        <a:alpha val="50195"/>
                      </a:srgb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B</a:t>
                      </a:r>
                    </a:p>
                  </a:txBody>
                  <a:tcPr horzOverflow="overflow">
                    <a:lnL>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CACBCC">
                        <a:alpha val="50195"/>
                      </a:srgb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F</a:t>
                      </a:r>
                    </a:p>
                  </a:txBody>
                  <a:tcPr horzOverflow="overflow">
                    <a:lnL w="12700" cap="flat" cmpd="sng" algn="ctr">
                      <a:solidFill>
                        <a:schemeClr val="tx1"/>
                      </a:solidFill>
                      <a:prstDash val="solid"/>
                      <a:miter lim="800000"/>
                      <a:headEnd type="none" w="med" len="med"/>
                      <a:tailEnd type="none" w="med" len="med"/>
                    </a:lnL>
                    <a:lnR>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CACBCC">
                        <a:alpha val="50195"/>
                      </a:srgbClr>
                    </a:solidFill>
                  </a:tcPr>
                </a:tc>
              </a:tr>
              <a:tr h="20796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0</a:t>
                      </a:r>
                    </a:p>
                  </a:txBody>
                  <a:tcPr horzOverflow="overflow">
                    <a:lnL>
                      <a:noFill/>
                    </a:lnL>
                    <a:lnR>
                      <a:noFill/>
                    </a:lnR>
                    <a:lnT w="12700" cap="flat" cmpd="sng" algn="ctr">
                      <a:solidFill>
                        <a:schemeClr val="tx1"/>
                      </a:solidFill>
                      <a:prstDash val="solid"/>
                      <a:miter lim="800000"/>
                      <a:headEnd type="none" w="med" len="med"/>
                      <a:tailEnd type="none" w="med" len="med"/>
                    </a:lnT>
                    <a:lnB>
                      <a:noFill/>
                    </a:lnB>
                    <a:lnTlToBr>
                      <a:noFill/>
                    </a:lnTlToBr>
                    <a:lnBlToTr>
                      <a:noFill/>
                    </a:lnBlToTr>
                    <a:solidFill>
                      <a:srgbClr val="CACBCC">
                        <a:alpha val="50195"/>
                      </a:srgb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0</a:t>
                      </a:r>
                    </a:p>
                  </a:txBody>
                  <a:tcPr horzOverflow="overflow">
                    <a:lnL>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a:noFill/>
                    </a:lnB>
                    <a:lnTlToBr>
                      <a:noFill/>
                    </a:lnTlToBr>
                    <a:lnBlToTr>
                      <a:noFill/>
                    </a:lnBlToTr>
                    <a:solidFill>
                      <a:srgbClr val="CACBCC">
                        <a:alpha val="50195"/>
                      </a:srgb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0</a:t>
                      </a:r>
                    </a:p>
                  </a:txBody>
                  <a:tcPr horzOverflow="overflow">
                    <a:lnL w="12700" cap="flat" cmpd="sng" algn="ctr">
                      <a:solidFill>
                        <a:schemeClr val="tx1"/>
                      </a:solidFill>
                      <a:prstDash val="solid"/>
                      <a:miter lim="800000"/>
                      <a:headEnd type="none" w="med" len="med"/>
                      <a:tailEnd type="none" w="med" len="med"/>
                    </a:lnL>
                    <a:lnR>
                      <a:noFill/>
                    </a:lnR>
                    <a:lnT w="12700" cap="flat" cmpd="sng" algn="ctr">
                      <a:solidFill>
                        <a:schemeClr val="tx1"/>
                      </a:solidFill>
                      <a:prstDash val="solid"/>
                      <a:miter lim="800000"/>
                      <a:headEnd type="none" w="med" len="med"/>
                      <a:tailEnd type="none" w="med" len="med"/>
                    </a:lnT>
                    <a:lnB>
                      <a:noFill/>
                    </a:lnB>
                    <a:lnTlToBr>
                      <a:noFill/>
                    </a:lnTlToBr>
                    <a:lnBlToTr>
                      <a:noFill/>
                    </a:lnBlToTr>
                    <a:solidFill>
                      <a:srgbClr val="CACBCC">
                        <a:alpha val="50195"/>
                      </a:srgbClr>
                    </a:solidFill>
                  </a:tcPr>
                </a:tc>
              </a:tr>
              <a:tr h="20955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0</a:t>
                      </a:r>
                    </a:p>
                  </a:txBody>
                  <a:tcPr horzOverflow="overflow">
                    <a:lnL>
                      <a:noFill/>
                    </a:lnL>
                    <a:lnR>
                      <a:noFill/>
                    </a:lnR>
                    <a:lnT>
                      <a:noFill/>
                    </a:lnT>
                    <a:lnB>
                      <a:noFill/>
                    </a:lnB>
                    <a:lnTlToBr>
                      <a:noFill/>
                    </a:lnTlToBr>
                    <a:lnBlToTr>
                      <a:noFill/>
                    </a:lnBlToTr>
                    <a:solidFill>
                      <a:srgbClr val="CACBCC">
                        <a:alpha val="50195"/>
                      </a:srgb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1</a:t>
                      </a:r>
                    </a:p>
                  </a:txBody>
                  <a:tcPr horzOverflow="overflow">
                    <a:lnL>
                      <a:noFill/>
                    </a:lnL>
                    <a:lnR w="12700" cap="flat" cmpd="sng" algn="ctr">
                      <a:solidFill>
                        <a:schemeClr val="tx1"/>
                      </a:solidFill>
                      <a:prstDash val="solid"/>
                      <a:miter lim="800000"/>
                      <a:headEnd type="none" w="med" len="med"/>
                      <a:tailEnd type="none" w="med" len="med"/>
                    </a:lnR>
                    <a:lnT>
                      <a:noFill/>
                    </a:lnT>
                    <a:lnB>
                      <a:noFill/>
                    </a:lnB>
                    <a:lnTlToBr>
                      <a:noFill/>
                    </a:lnTlToBr>
                    <a:lnBlToTr>
                      <a:noFill/>
                    </a:lnBlToTr>
                    <a:solidFill>
                      <a:srgbClr val="CACBCC">
                        <a:alpha val="50195"/>
                      </a:srgb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0</a:t>
                      </a:r>
                    </a:p>
                  </a:txBody>
                  <a:tcPr horzOverflow="overflow">
                    <a:lnL w="12700" cap="flat" cmpd="sng" algn="ctr">
                      <a:solidFill>
                        <a:schemeClr val="tx1"/>
                      </a:solidFill>
                      <a:prstDash val="solid"/>
                      <a:miter lim="800000"/>
                      <a:headEnd type="none" w="med" len="med"/>
                      <a:tailEnd type="none" w="med" len="med"/>
                    </a:lnL>
                    <a:lnR>
                      <a:noFill/>
                    </a:lnR>
                    <a:lnT>
                      <a:noFill/>
                    </a:lnT>
                    <a:lnB>
                      <a:noFill/>
                    </a:lnB>
                    <a:lnTlToBr>
                      <a:noFill/>
                    </a:lnTlToBr>
                    <a:lnBlToTr>
                      <a:noFill/>
                    </a:lnBlToTr>
                    <a:solidFill>
                      <a:srgbClr val="CACBCC">
                        <a:alpha val="50195"/>
                      </a:srgbClr>
                    </a:solidFill>
                  </a:tcPr>
                </a:tc>
              </a:tr>
              <a:tr h="20796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1</a:t>
                      </a:r>
                    </a:p>
                  </a:txBody>
                  <a:tcPr horzOverflow="overflow">
                    <a:lnL>
                      <a:noFill/>
                    </a:lnL>
                    <a:lnR>
                      <a:noFill/>
                    </a:lnR>
                    <a:lnT>
                      <a:noFill/>
                    </a:lnT>
                    <a:lnB>
                      <a:noFill/>
                    </a:lnB>
                    <a:lnTlToBr>
                      <a:noFill/>
                    </a:lnTlToBr>
                    <a:lnBlToTr>
                      <a:noFill/>
                    </a:lnBlToTr>
                    <a:solidFill>
                      <a:srgbClr val="CACBCC">
                        <a:alpha val="50195"/>
                      </a:srgb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0</a:t>
                      </a:r>
                    </a:p>
                  </a:txBody>
                  <a:tcPr horzOverflow="overflow">
                    <a:lnL>
                      <a:noFill/>
                    </a:lnL>
                    <a:lnR w="12700" cap="flat" cmpd="sng" algn="ctr">
                      <a:solidFill>
                        <a:schemeClr val="tx1"/>
                      </a:solidFill>
                      <a:prstDash val="solid"/>
                      <a:miter lim="800000"/>
                      <a:headEnd type="none" w="med" len="med"/>
                      <a:tailEnd type="none" w="med" len="med"/>
                    </a:lnR>
                    <a:lnT>
                      <a:noFill/>
                    </a:lnT>
                    <a:lnB>
                      <a:noFill/>
                    </a:lnB>
                    <a:lnTlToBr>
                      <a:noFill/>
                    </a:lnTlToBr>
                    <a:lnBlToTr>
                      <a:noFill/>
                    </a:lnBlToTr>
                    <a:solidFill>
                      <a:srgbClr val="CACBCC">
                        <a:alpha val="50195"/>
                      </a:srgb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0</a:t>
                      </a:r>
                    </a:p>
                  </a:txBody>
                  <a:tcPr horzOverflow="overflow">
                    <a:lnL w="12700" cap="flat" cmpd="sng" algn="ctr">
                      <a:solidFill>
                        <a:schemeClr val="tx1"/>
                      </a:solidFill>
                      <a:prstDash val="solid"/>
                      <a:miter lim="800000"/>
                      <a:headEnd type="none" w="med" len="med"/>
                      <a:tailEnd type="none" w="med" len="med"/>
                    </a:lnL>
                    <a:lnR>
                      <a:noFill/>
                    </a:lnR>
                    <a:lnT>
                      <a:noFill/>
                    </a:lnT>
                    <a:lnB>
                      <a:noFill/>
                    </a:lnB>
                    <a:lnTlToBr>
                      <a:noFill/>
                    </a:lnTlToBr>
                    <a:lnBlToTr>
                      <a:noFill/>
                    </a:lnBlToTr>
                    <a:solidFill>
                      <a:srgbClr val="CACBCC">
                        <a:alpha val="50195"/>
                      </a:srgbClr>
                    </a:solidFill>
                  </a:tcPr>
                </a:tc>
              </a:tr>
              <a:tr h="40005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1</a:t>
                      </a:r>
                    </a:p>
                  </a:txBody>
                  <a:tcPr horzOverflow="overflow">
                    <a:lnL>
                      <a:noFill/>
                    </a:lnL>
                    <a:lnR>
                      <a:noFill/>
                    </a:lnR>
                    <a:lnT>
                      <a:noFill/>
                    </a:lnT>
                    <a:lnB w="12700" cap="flat" cmpd="sng" algn="ctr">
                      <a:solidFill>
                        <a:schemeClr val="tx1"/>
                      </a:solidFill>
                      <a:prstDash val="solid"/>
                      <a:miter lim="800000"/>
                      <a:headEnd type="none" w="med" len="med"/>
                      <a:tailEnd type="none" w="med" len="med"/>
                    </a:lnB>
                    <a:lnTlToBr>
                      <a:noFill/>
                    </a:lnTlToBr>
                    <a:lnBlToTr>
                      <a:noFill/>
                    </a:lnBlToTr>
                    <a:solidFill>
                      <a:srgbClr val="CACBCC">
                        <a:alpha val="50195"/>
                      </a:srgb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1</a:t>
                      </a:r>
                    </a:p>
                  </a:txBody>
                  <a:tcPr horzOverflow="overflow">
                    <a:lnL>
                      <a:noFill/>
                    </a:lnL>
                    <a:lnR w="12700" cap="flat" cmpd="sng" algn="ctr">
                      <a:solidFill>
                        <a:schemeClr val="tx1"/>
                      </a:solidFill>
                      <a:prstDash val="solid"/>
                      <a:miter lim="800000"/>
                      <a:headEnd type="none" w="med" len="med"/>
                      <a:tailEnd type="none" w="med" len="med"/>
                    </a:lnR>
                    <a:lnT>
                      <a:noFill/>
                    </a:lnT>
                    <a:lnB w="12700" cap="flat" cmpd="sng" algn="ctr">
                      <a:solidFill>
                        <a:schemeClr val="tx1"/>
                      </a:solidFill>
                      <a:prstDash val="solid"/>
                      <a:miter lim="800000"/>
                      <a:headEnd type="none" w="med" len="med"/>
                      <a:tailEnd type="none" w="med" len="med"/>
                    </a:lnB>
                    <a:lnTlToBr>
                      <a:noFill/>
                    </a:lnTlToBr>
                    <a:lnBlToTr>
                      <a:noFill/>
                    </a:lnBlToTr>
                    <a:solidFill>
                      <a:srgbClr val="CACBCC">
                        <a:alpha val="50195"/>
                      </a:srgb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1</a:t>
                      </a:r>
                    </a:p>
                  </a:txBody>
                  <a:tcPr horzOverflow="overflow">
                    <a:lnL w="12700" cap="flat" cmpd="sng" algn="ctr">
                      <a:solidFill>
                        <a:schemeClr val="tx1"/>
                      </a:solidFill>
                      <a:prstDash val="solid"/>
                      <a:miter lim="800000"/>
                      <a:headEnd type="none" w="med" len="med"/>
                      <a:tailEnd type="none" w="med" len="med"/>
                    </a:lnL>
                    <a:lnR>
                      <a:noFill/>
                    </a:lnR>
                    <a:lnT>
                      <a:noFill/>
                    </a:lnT>
                    <a:lnB w="12700" cap="flat" cmpd="sng" algn="ctr">
                      <a:solidFill>
                        <a:schemeClr val="tx1"/>
                      </a:solidFill>
                      <a:prstDash val="solid"/>
                      <a:miter lim="800000"/>
                      <a:headEnd type="none" w="med" len="med"/>
                      <a:tailEnd type="none" w="med" len="med"/>
                    </a:lnB>
                    <a:lnTlToBr>
                      <a:noFill/>
                    </a:lnTlToBr>
                    <a:lnBlToTr>
                      <a:noFill/>
                    </a:lnBlToTr>
                    <a:solidFill>
                      <a:srgbClr val="CACBCC">
                        <a:alpha val="50195"/>
                      </a:srgbClr>
                    </a:solidFill>
                  </a:tcPr>
                </a:tc>
              </a:tr>
            </a:tbl>
          </a:graphicData>
        </a:graphic>
      </p:graphicFrame>
    </p:spTree>
  </p:cSld>
  <p:clrMapOvr>
    <a:masterClrMapping/>
  </p:clrMapOvr>
  <p:transition>
    <p:random/>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quarter" idx="10"/>
          </p:nvPr>
        </p:nvSpPr>
        <p:spPr/>
        <p:txBody>
          <a:bodyPr/>
          <a:lstStyle/>
          <a:p>
            <a:pPr>
              <a:defRPr/>
            </a:pPr>
            <a:fld id="{5994FD51-5411-4595-833B-C5B8FBE251F7}" type="datetime1">
              <a:rPr lang="zh-CN" altLang="en-US" smtClean="0"/>
              <a:pPr>
                <a:defRPr/>
              </a:pPr>
              <a:t>2021/9/21</a:t>
            </a:fld>
            <a:endParaRPr lang="en-US" altLang="zh-CN"/>
          </a:p>
        </p:txBody>
      </p:sp>
      <p:sp>
        <p:nvSpPr>
          <p:cNvPr id="3" name="灯片编号占位符 2"/>
          <p:cNvSpPr>
            <a:spLocks noGrp="1"/>
          </p:cNvSpPr>
          <p:nvPr>
            <p:ph type="sldNum" sz="quarter" idx="12"/>
          </p:nvPr>
        </p:nvSpPr>
        <p:spPr/>
        <p:txBody>
          <a:bodyPr/>
          <a:lstStyle/>
          <a:p>
            <a:pPr>
              <a:defRPr/>
            </a:pPr>
            <a:fld id="{45267442-900B-421C-AC50-1A7D14AFEC09}" type="slidenum">
              <a:rPr lang="en-US" altLang="zh-CN" smtClean="0"/>
              <a:pPr>
                <a:defRPr/>
              </a:pPr>
              <a:t>10</a:t>
            </a:fld>
            <a:endParaRPr lang="en-US" altLang="zh-CN"/>
          </a:p>
        </p:txBody>
      </p:sp>
      <p:graphicFrame>
        <p:nvGraphicFramePr>
          <p:cNvPr id="4" name="Object 2"/>
          <p:cNvGraphicFramePr>
            <a:graphicFrameLocks noChangeAspect="1"/>
          </p:cNvGraphicFramePr>
          <p:nvPr/>
        </p:nvGraphicFramePr>
        <p:xfrm>
          <a:off x="282575" y="238125"/>
          <a:ext cx="4192588" cy="1739900"/>
        </p:xfrm>
        <a:graphic>
          <a:graphicData uri="http://schemas.openxmlformats.org/presentationml/2006/ole">
            <mc:AlternateContent xmlns:mc="http://schemas.openxmlformats.org/markup-compatibility/2006">
              <mc:Choice xmlns:v="urn:schemas-microsoft-com:vml" Requires="v">
                <p:oleObj spid="_x0000_s12352" name="Picture" r:id="rId6" imgW="1676400" imgH="695325" progId="Word.Picture.8">
                  <p:embed/>
                </p:oleObj>
              </mc:Choice>
              <mc:Fallback>
                <p:oleObj name="Picture" r:id="rId6" imgW="1676400" imgH="695325" progId="Word.Picture.8">
                  <p:embed/>
                  <p:pic>
                    <p:nvPicPr>
                      <p:cNvPr id="0" name="Object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2575" y="238125"/>
                        <a:ext cx="4192588" cy="1739900"/>
                      </a:xfrm>
                      <a:prstGeom prst="rect">
                        <a:avLst/>
                      </a:prstGeom>
                      <a:solidFill>
                        <a:srgbClr val="D9FFE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 name="Object 3"/>
          <p:cNvGraphicFramePr>
            <a:graphicFrameLocks noChangeAspect="1"/>
          </p:cNvGraphicFramePr>
          <p:nvPr/>
        </p:nvGraphicFramePr>
        <p:xfrm>
          <a:off x="4625975" y="228600"/>
          <a:ext cx="4192588" cy="1739900"/>
        </p:xfrm>
        <a:graphic>
          <a:graphicData uri="http://schemas.openxmlformats.org/presentationml/2006/ole">
            <mc:AlternateContent xmlns:mc="http://schemas.openxmlformats.org/markup-compatibility/2006">
              <mc:Choice xmlns:v="urn:schemas-microsoft-com:vml" Requires="v">
                <p:oleObj spid="_x0000_s12353" name="Picture" r:id="rId8" imgW="1676400" imgH="695325" progId="Word.Picture.8">
                  <p:embed/>
                </p:oleObj>
              </mc:Choice>
              <mc:Fallback>
                <p:oleObj name="Picture" r:id="rId8" imgW="1676400" imgH="695325" progId="Word.Picture.8">
                  <p:embed/>
                  <p:pic>
                    <p:nvPicPr>
                      <p:cNvPr id="0" name="Object 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625975" y="228600"/>
                        <a:ext cx="4192588" cy="1739900"/>
                      </a:xfrm>
                      <a:prstGeom prst="rect">
                        <a:avLst/>
                      </a:prstGeom>
                      <a:solidFill>
                        <a:srgbClr val="D9FFE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 name="Object 4"/>
          <p:cNvGraphicFramePr>
            <a:graphicFrameLocks noChangeAspect="1"/>
          </p:cNvGraphicFramePr>
          <p:nvPr/>
        </p:nvGraphicFramePr>
        <p:xfrm>
          <a:off x="282575" y="2828925"/>
          <a:ext cx="4192588" cy="1739900"/>
        </p:xfrm>
        <a:graphic>
          <a:graphicData uri="http://schemas.openxmlformats.org/presentationml/2006/ole">
            <mc:AlternateContent xmlns:mc="http://schemas.openxmlformats.org/markup-compatibility/2006">
              <mc:Choice xmlns:v="urn:schemas-microsoft-com:vml" Requires="v">
                <p:oleObj spid="_x0000_s12354" name="Picture" r:id="rId10" imgW="1676400" imgH="695325" progId="Word.Picture.8">
                  <p:embed/>
                </p:oleObj>
              </mc:Choice>
              <mc:Fallback>
                <p:oleObj name="Picture" r:id="rId10" imgW="1676400" imgH="695325" progId="Word.Picture.8">
                  <p:embed/>
                  <p:pic>
                    <p:nvPicPr>
                      <p:cNvPr id="0" name="Object 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82575" y="2828925"/>
                        <a:ext cx="4192588" cy="1739900"/>
                      </a:xfrm>
                      <a:prstGeom prst="rect">
                        <a:avLst/>
                      </a:prstGeom>
                      <a:solidFill>
                        <a:srgbClr val="D9FFE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 name="Object 5"/>
          <p:cNvGraphicFramePr>
            <a:graphicFrameLocks noChangeAspect="1"/>
          </p:cNvGraphicFramePr>
          <p:nvPr/>
        </p:nvGraphicFramePr>
        <p:xfrm>
          <a:off x="4625975" y="2819400"/>
          <a:ext cx="4192588" cy="1739900"/>
        </p:xfrm>
        <a:graphic>
          <a:graphicData uri="http://schemas.openxmlformats.org/presentationml/2006/ole">
            <mc:AlternateContent xmlns:mc="http://schemas.openxmlformats.org/markup-compatibility/2006">
              <mc:Choice xmlns:v="urn:schemas-microsoft-com:vml" Requires="v">
                <p:oleObj spid="_x0000_s12355" name="Picture" r:id="rId12" imgW="1676400" imgH="695325" progId="Word.Picture.8">
                  <p:embed/>
                </p:oleObj>
              </mc:Choice>
              <mc:Fallback>
                <p:oleObj name="Picture" r:id="rId12" imgW="1676400" imgH="695325" progId="Word.Picture.8">
                  <p:embed/>
                  <p:pic>
                    <p:nvPicPr>
                      <p:cNvPr id="0" name="Object 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625975" y="2819400"/>
                        <a:ext cx="4192588" cy="1739900"/>
                      </a:xfrm>
                      <a:prstGeom prst="rect">
                        <a:avLst/>
                      </a:prstGeom>
                      <a:solidFill>
                        <a:srgbClr val="D9FFE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 name="Rectangle 6"/>
          <p:cNvSpPr>
            <a:spLocks noChangeArrowheads="1"/>
          </p:cNvSpPr>
          <p:nvPr/>
        </p:nvSpPr>
        <p:spPr bwMode="auto">
          <a:xfrm>
            <a:off x="685800" y="5334000"/>
            <a:ext cx="4648200" cy="1076325"/>
          </a:xfrm>
          <a:prstGeom prst="rect">
            <a:avLst/>
          </a:prstGeom>
          <a:noFill/>
          <a:ln w="9525">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lIns="0" rIns="0">
            <a:spAutoFit/>
          </a:bodyPr>
          <a:lstStyle/>
          <a:p>
            <a:pPr algn="ctr"/>
            <a:r>
              <a:rPr lang="zh-CN" altLang="en-US" sz="3200" b="1">
                <a:ea typeface="隶书" pitchFamily="49" charset="-122"/>
              </a:rPr>
              <a:t>两个开关必须同时接通，灯才亮。逻辑表达式为：</a:t>
            </a:r>
            <a:endParaRPr lang="zh-CN" altLang="en-US"/>
          </a:p>
        </p:txBody>
      </p:sp>
      <p:sp>
        <p:nvSpPr>
          <p:cNvPr id="9" name="Text Box 7"/>
          <p:cNvSpPr txBox="1">
            <a:spLocks noChangeArrowheads="1"/>
          </p:cNvSpPr>
          <p:nvPr/>
        </p:nvSpPr>
        <p:spPr bwMode="auto">
          <a:xfrm>
            <a:off x="5943600" y="5486400"/>
            <a:ext cx="2286000" cy="701675"/>
          </a:xfrm>
          <a:prstGeom prst="rect">
            <a:avLst/>
          </a:prstGeom>
          <a:solidFill>
            <a:srgbClr val="CCFFCC"/>
          </a:solidFill>
          <a:ln w="9525">
            <a:noFill/>
            <a:miter lim="800000"/>
            <a:headEnd/>
            <a:tailEnd/>
          </a:ln>
          <a:effectLst/>
        </p:spPr>
        <p:txBody>
          <a:bodyPr lIns="0" rIns="0">
            <a:spAutoFit/>
          </a:bodyPr>
          <a:lstStyle/>
          <a:p>
            <a:pPr>
              <a:defRPr/>
            </a:pPr>
            <a:r>
              <a:rPr lang="zh-CN" altLang="en-US" sz="4000" b="1">
                <a:solidFill>
                  <a:srgbClr val="CC3300"/>
                </a:solidFill>
                <a:effectLst>
                  <a:outerShdw blurRad="38100" dist="38100" dir="2700000" algn="tl">
                    <a:srgbClr val="000000"/>
                  </a:outerShdw>
                </a:effectLst>
                <a:ea typeface="宋体" pitchFamily="2" charset="-122"/>
              </a:rPr>
              <a:t>Ｙ＝ＡＢ</a:t>
            </a:r>
            <a:endParaRPr lang="zh-CN" altLang="en-US">
              <a:ea typeface="宋体" pitchFamily="2" charset="-122"/>
            </a:endParaRPr>
          </a:p>
        </p:txBody>
      </p:sp>
      <p:sp>
        <p:nvSpPr>
          <p:cNvPr id="10" name="Rectangle 8"/>
          <p:cNvSpPr>
            <a:spLocks noChangeArrowheads="1"/>
          </p:cNvSpPr>
          <p:nvPr/>
        </p:nvSpPr>
        <p:spPr bwMode="auto">
          <a:xfrm>
            <a:off x="587375" y="2133600"/>
            <a:ext cx="3657600" cy="466725"/>
          </a:xfrm>
          <a:prstGeom prst="rect">
            <a:avLst/>
          </a:prstGeom>
          <a:noFill/>
          <a:ln w="9525">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lIns="0" rIns="0">
            <a:spAutoFit/>
          </a:bodyPr>
          <a:lstStyle/>
          <a:p>
            <a:pPr algn="ctr"/>
            <a:r>
              <a:rPr lang="en-US" altLang="zh-CN" b="1">
                <a:ea typeface="隶书" pitchFamily="49" charset="-122"/>
              </a:rPr>
              <a:t>A</a:t>
            </a:r>
            <a:r>
              <a:rPr lang="zh-CN" altLang="en-US" b="1">
                <a:ea typeface="隶书" pitchFamily="49" charset="-122"/>
              </a:rPr>
              <a:t>、</a:t>
            </a:r>
            <a:r>
              <a:rPr lang="en-US" altLang="zh-CN" b="1">
                <a:ea typeface="隶书" pitchFamily="49" charset="-122"/>
              </a:rPr>
              <a:t>B</a:t>
            </a:r>
            <a:r>
              <a:rPr lang="zh-CN" altLang="en-US" b="1">
                <a:ea typeface="隶书" pitchFamily="49" charset="-122"/>
              </a:rPr>
              <a:t>都断开，灯不亮。</a:t>
            </a:r>
          </a:p>
        </p:txBody>
      </p:sp>
      <p:sp>
        <p:nvSpPr>
          <p:cNvPr id="11" name="Rectangle 9"/>
          <p:cNvSpPr>
            <a:spLocks noChangeArrowheads="1"/>
          </p:cNvSpPr>
          <p:nvPr/>
        </p:nvSpPr>
        <p:spPr bwMode="auto">
          <a:xfrm>
            <a:off x="5006975" y="2124075"/>
            <a:ext cx="3657600" cy="466725"/>
          </a:xfrm>
          <a:prstGeom prst="rect">
            <a:avLst/>
          </a:prstGeom>
          <a:noFill/>
          <a:ln w="9525">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lIns="0" rIns="0">
            <a:spAutoFit/>
          </a:bodyPr>
          <a:lstStyle/>
          <a:p>
            <a:pPr algn="ctr"/>
            <a:r>
              <a:rPr lang="en-US" altLang="zh-CN" b="1">
                <a:ea typeface="隶书" pitchFamily="49" charset="-122"/>
              </a:rPr>
              <a:t>A</a:t>
            </a:r>
            <a:r>
              <a:rPr lang="zh-CN" altLang="en-US" b="1">
                <a:ea typeface="隶书" pitchFamily="49" charset="-122"/>
              </a:rPr>
              <a:t>断开、</a:t>
            </a:r>
            <a:r>
              <a:rPr lang="en-US" altLang="zh-CN" b="1">
                <a:ea typeface="隶书" pitchFamily="49" charset="-122"/>
              </a:rPr>
              <a:t>B</a:t>
            </a:r>
            <a:r>
              <a:rPr lang="zh-CN" altLang="en-US" b="1">
                <a:ea typeface="隶书" pitchFamily="49" charset="-122"/>
              </a:rPr>
              <a:t>接通，灯不亮。</a:t>
            </a:r>
            <a:endParaRPr lang="zh-CN" altLang="en-US"/>
          </a:p>
        </p:txBody>
      </p:sp>
      <p:sp>
        <p:nvSpPr>
          <p:cNvPr id="12" name="Rectangle 10"/>
          <p:cNvSpPr>
            <a:spLocks noChangeArrowheads="1"/>
          </p:cNvSpPr>
          <p:nvPr/>
        </p:nvSpPr>
        <p:spPr bwMode="auto">
          <a:xfrm>
            <a:off x="587375" y="4638675"/>
            <a:ext cx="3733800" cy="466725"/>
          </a:xfrm>
          <a:prstGeom prst="rect">
            <a:avLst/>
          </a:prstGeom>
          <a:noFill/>
          <a:ln w="9525">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lIns="0" rIns="0">
            <a:spAutoFit/>
          </a:bodyPr>
          <a:lstStyle/>
          <a:p>
            <a:pPr algn="ctr"/>
            <a:r>
              <a:rPr lang="en-US" altLang="zh-CN" b="1">
                <a:ea typeface="隶书" pitchFamily="49" charset="-122"/>
              </a:rPr>
              <a:t>A</a:t>
            </a:r>
            <a:r>
              <a:rPr lang="zh-CN" altLang="en-US" b="1">
                <a:ea typeface="隶书" pitchFamily="49" charset="-122"/>
              </a:rPr>
              <a:t>接通、</a:t>
            </a:r>
            <a:r>
              <a:rPr lang="en-US" altLang="zh-CN" b="1">
                <a:ea typeface="隶书" pitchFamily="49" charset="-122"/>
              </a:rPr>
              <a:t>B</a:t>
            </a:r>
            <a:r>
              <a:rPr lang="zh-CN" altLang="en-US" b="1">
                <a:ea typeface="隶书" pitchFamily="49" charset="-122"/>
              </a:rPr>
              <a:t>断开，灯不亮。</a:t>
            </a:r>
            <a:endParaRPr lang="zh-CN" altLang="en-US" sz="3200" b="1">
              <a:ea typeface="隶书" pitchFamily="49" charset="-122"/>
            </a:endParaRPr>
          </a:p>
        </p:txBody>
      </p:sp>
      <p:sp>
        <p:nvSpPr>
          <p:cNvPr id="13" name="Rectangle 11"/>
          <p:cNvSpPr>
            <a:spLocks noChangeArrowheads="1"/>
          </p:cNvSpPr>
          <p:nvPr/>
        </p:nvSpPr>
        <p:spPr bwMode="auto">
          <a:xfrm>
            <a:off x="4930775" y="4638675"/>
            <a:ext cx="3733800" cy="466725"/>
          </a:xfrm>
          <a:prstGeom prst="rect">
            <a:avLst/>
          </a:prstGeom>
          <a:noFill/>
          <a:ln w="9525">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lIns="0" rIns="0">
            <a:spAutoFit/>
          </a:bodyPr>
          <a:lstStyle/>
          <a:p>
            <a:pPr algn="ctr"/>
            <a:r>
              <a:rPr lang="en-US" altLang="zh-CN" b="1">
                <a:ea typeface="隶书" pitchFamily="49" charset="-122"/>
              </a:rPr>
              <a:t>A</a:t>
            </a:r>
            <a:r>
              <a:rPr lang="zh-CN" altLang="en-US" b="1">
                <a:ea typeface="隶书" pitchFamily="49" charset="-122"/>
              </a:rPr>
              <a:t>、</a:t>
            </a:r>
            <a:r>
              <a:rPr lang="en-US" altLang="zh-CN" b="1">
                <a:ea typeface="隶书" pitchFamily="49" charset="-122"/>
              </a:rPr>
              <a:t>B</a:t>
            </a:r>
            <a:r>
              <a:rPr lang="zh-CN" altLang="en-US" b="1">
                <a:ea typeface="隶书" pitchFamily="49" charset="-122"/>
              </a:rPr>
              <a:t>都接通，灯亮。</a:t>
            </a:r>
            <a:endParaRPr lang="zh-CN" altLang="en-US" sz="3200" b="1">
              <a:ea typeface="隶书" pitchFamily="49" charset="-122"/>
            </a:endParaRPr>
          </a:p>
        </p:txBody>
      </p:sp>
      <p:sp>
        <p:nvSpPr>
          <p:cNvPr id="14" name="Line 12"/>
          <p:cNvSpPr>
            <a:spLocks noChangeShapeType="1"/>
          </p:cNvSpPr>
          <p:nvPr/>
        </p:nvSpPr>
        <p:spPr bwMode="auto">
          <a:xfrm flipV="1">
            <a:off x="8664575" y="3200400"/>
            <a:ext cx="98425" cy="533400"/>
          </a:xfrm>
          <a:prstGeom prst="line">
            <a:avLst/>
          </a:prstGeom>
          <a:noFill/>
          <a:ln w="38100">
            <a:solidFill>
              <a:srgbClr val="CC3300"/>
            </a:solidFill>
            <a:round/>
            <a:headEnd/>
            <a:tailEnd type="arrow" w="med" len="med"/>
          </a:ln>
          <a:extLst>
            <a:ext uri="{909E8E84-426E-40DD-AFC4-6F175D3DCCD1}">
              <a14:hiddenFill xmlns:a14="http://schemas.microsoft.com/office/drawing/2010/main">
                <a:noFill/>
              </a14:hiddenFill>
            </a:ext>
          </a:extLst>
        </p:spPr>
        <p:txBody>
          <a:bodyPr lIns="0" rIns="0" anchor="ctr">
            <a:spAutoFit/>
          </a:bodyPr>
          <a:lstStyle/>
          <a:p>
            <a:endParaRPr lang="zh-CN" altLang="en-US"/>
          </a:p>
        </p:txBody>
      </p:sp>
      <p:sp>
        <p:nvSpPr>
          <p:cNvPr id="15" name="Line 13"/>
          <p:cNvSpPr>
            <a:spLocks noChangeShapeType="1"/>
          </p:cNvSpPr>
          <p:nvPr/>
        </p:nvSpPr>
        <p:spPr bwMode="auto">
          <a:xfrm flipV="1">
            <a:off x="8816975" y="3200400"/>
            <a:ext cx="98425" cy="609600"/>
          </a:xfrm>
          <a:prstGeom prst="line">
            <a:avLst/>
          </a:prstGeom>
          <a:noFill/>
          <a:ln w="38100">
            <a:solidFill>
              <a:srgbClr val="CC3300"/>
            </a:solidFill>
            <a:round/>
            <a:headEnd/>
            <a:tailEnd type="arrow" w="med" len="med"/>
          </a:ln>
          <a:extLst>
            <a:ext uri="{909E8E84-426E-40DD-AFC4-6F175D3DCCD1}">
              <a14:hiddenFill xmlns:a14="http://schemas.microsoft.com/office/drawing/2010/main">
                <a:noFill/>
              </a14:hiddenFill>
            </a:ext>
          </a:extLst>
        </p:spPr>
        <p:txBody>
          <a:bodyPr lIns="0" rIns="0" anchor="ctr">
            <a:spAutoFit/>
          </a:bodyPr>
          <a:lstStyle/>
          <a:p>
            <a:endParaRPr lang="zh-CN" altLang="en-US"/>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left)">
                                      <p:cBhvr>
                                        <p:cTn id="11" dur="500"/>
                                        <p:tgtEl>
                                          <p:spTgt spid="10"/>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9" presetClass="entr" presetSubtype="0" fill="hold"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dissolve">
                                      <p:cBhvr>
                                        <p:cTn id="16" dur="500"/>
                                        <p:tgtEl>
                                          <p:spTgt spid="5"/>
                                        </p:tgtEl>
                                      </p:cBhvr>
                                    </p:animEffect>
                                  </p:childTnLst>
                                </p:cTn>
                              </p:par>
                            </p:childTnLst>
                          </p:cTn>
                        </p:par>
                        <p:par>
                          <p:cTn id="17" fill="hold" nodeType="afterGroup">
                            <p:stCondLst>
                              <p:cond delay="500"/>
                            </p:stCondLst>
                            <p:childTnLst>
                              <p:par>
                                <p:cTn id="18" presetID="4" presetClass="entr" presetSubtype="32" fill="hold" grpId="0" nodeType="after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box(out)">
                                      <p:cBhvr>
                                        <p:cTn id="20" dur="500"/>
                                        <p:tgtEl>
                                          <p:spTgt spid="11"/>
                                        </p:tgtEl>
                                      </p:cBhvr>
                                    </p:animEffect>
                                  </p:childTnLst>
                                  <p:subTnLst>
                                    <p:audio>
                                      <p:cMediaNode>
                                        <p:cTn display="0" masterRel="sameClick">
                                          <p:stCondLst>
                                            <p:cond evt="begin" delay="0">
                                              <p:tn val="18"/>
                                            </p:cond>
                                          </p:stCondLst>
                                          <p:endCondLst>
                                            <p:cond evt="onStopAudio" delay="0">
                                              <p:tgtEl>
                                                <p:sldTgt/>
                                              </p:tgtEl>
                                            </p:cond>
                                          </p:endCondLst>
                                        </p:cTn>
                                        <p:tgtEl>
                                          <p:sndTgt r:embed="rId3" name="CAMERA.WAV"/>
                                        </p:tgtEl>
                                      </p:cMediaNode>
                                    </p:audio>
                                  </p:subTnLst>
                                </p:cTn>
                              </p:par>
                            </p:childTnLst>
                          </p:cTn>
                        </p:par>
                      </p:childTnLst>
                    </p:cTn>
                  </p:par>
                  <p:par>
                    <p:cTn id="21" fill="hold" nodeType="clickPar">
                      <p:stCondLst>
                        <p:cond delay="indefinite"/>
                      </p:stCondLst>
                      <p:childTnLst>
                        <p:par>
                          <p:cTn id="22" fill="hold" nodeType="withGroup">
                            <p:stCondLst>
                              <p:cond delay="0"/>
                            </p:stCondLst>
                            <p:childTnLst>
                              <p:par>
                                <p:cTn id="23" presetID="9" presetClass="entr" presetSubtype="0"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dissolve">
                                      <p:cBhvr>
                                        <p:cTn id="25" dur="500"/>
                                        <p:tgtEl>
                                          <p:spTgt spid="6"/>
                                        </p:tgtEl>
                                      </p:cBhvr>
                                    </p:animEffect>
                                  </p:childTnLst>
                                </p:cTn>
                              </p:par>
                            </p:childTnLst>
                          </p:cTn>
                        </p:par>
                        <p:par>
                          <p:cTn id="26" fill="hold" nodeType="afterGroup">
                            <p:stCondLst>
                              <p:cond delay="500"/>
                            </p:stCondLst>
                            <p:childTnLst>
                              <p:par>
                                <p:cTn id="27" presetID="2" presetClass="entr" presetSubtype="8" fill="hold" grpId="0" nodeType="afterEffect">
                                  <p:stCondLst>
                                    <p:cond delay="0"/>
                                  </p:stCondLst>
                                  <p:childTnLst>
                                    <p:set>
                                      <p:cBhvr>
                                        <p:cTn id="28" dur="1" fill="hold">
                                          <p:stCondLst>
                                            <p:cond delay="0"/>
                                          </p:stCondLst>
                                        </p:cTn>
                                        <p:tgtEl>
                                          <p:spTgt spid="12"/>
                                        </p:tgtEl>
                                        <p:attrNameLst>
                                          <p:attrName>style.visibility</p:attrName>
                                        </p:attrNameLst>
                                      </p:cBhvr>
                                      <p:to>
                                        <p:strVal val="visible"/>
                                      </p:to>
                                    </p:set>
                                    <p:anim calcmode="lin" valueType="num">
                                      <p:cBhvr additive="base">
                                        <p:cTn id="29" dur="500" fill="hold"/>
                                        <p:tgtEl>
                                          <p:spTgt spid="12"/>
                                        </p:tgtEl>
                                        <p:attrNameLst>
                                          <p:attrName>ppt_x</p:attrName>
                                        </p:attrNameLst>
                                      </p:cBhvr>
                                      <p:tavLst>
                                        <p:tav tm="0">
                                          <p:val>
                                            <p:strVal val="0-#ppt_w/2"/>
                                          </p:val>
                                        </p:tav>
                                        <p:tav tm="100000">
                                          <p:val>
                                            <p:strVal val="#ppt_x"/>
                                          </p:val>
                                        </p:tav>
                                      </p:tavLst>
                                    </p:anim>
                                    <p:anim calcmode="lin" valueType="num">
                                      <p:cBhvr additive="base">
                                        <p:cTn id="30" dur="500" fill="hold"/>
                                        <p:tgtEl>
                                          <p:spTgt spid="1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7"/>
                                            </p:cond>
                                          </p:stCondLst>
                                          <p:endCondLst>
                                            <p:cond evt="onStopAudio" delay="0">
                                              <p:tgtEl>
                                                <p:sldTgt/>
                                              </p:tgtEl>
                                            </p:cond>
                                          </p:endCondLst>
                                        </p:cTn>
                                        <p:tgtEl>
                                          <p:sndTgt r:embed="rId4" name="WHOOSH.WAV"/>
                                        </p:tgtEl>
                                      </p:cMediaNode>
                                    </p:audio>
                                  </p:subTnLst>
                                </p:cTn>
                              </p:par>
                            </p:childTnLst>
                          </p:cTn>
                        </p:par>
                      </p:childTnLst>
                    </p:cTn>
                  </p:par>
                  <p:par>
                    <p:cTn id="31" fill="hold" nodeType="clickPar">
                      <p:stCondLst>
                        <p:cond delay="indefinite"/>
                      </p:stCondLst>
                      <p:childTnLst>
                        <p:par>
                          <p:cTn id="32" fill="hold" nodeType="withGroup">
                            <p:stCondLst>
                              <p:cond delay="0"/>
                            </p:stCondLst>
                            <p:childTnLst>
                              <p:par>
                                <p:cTn id="33" presetID="9" presetClass="entr" presetSubtype="0" fill="hold"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dissolve">
                                      <p:cBhvr>
                                        <p:cTn id="35" dur="500"/>
                                        <p:tgtEl>
                                          <p:spTgt spid="7"/>
                                        </p:tgtEl>
                                      </p:cBhvr>
                                    </p:animEffect>
                                  </p:childTnLst>
                                </p:cTn>
                              </p:par>
                            </p:childTnLst>
                          </p:cTn>
                        </p:par>
                        <p:par>
                          <p:cTn id="36" fill="hold" nodeType="afterGroup">
                            <p:stCondLst>
                              <p:cond delay="500"/>
                            </p:stCondLst>
                            <p:childTnLst>
                              <p:par>
                                <p:cTn id="37" presetID="18" presetClass="entr" presetSubtype="3" fill="hold" grpId="0" nodeType="after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strips(upRight)">
                                      <p:cBhvr>
                                        <p:cTn id="39" dur="500"/>
                                        <p:tgtEl>
                                          <p:spTgt spid="14"/>
                                        </p:tgtEl>
                                      </p:cBhvr>
                                    </p:animEffect>
                                  </p:childTnLst>
                                </p:cTn>
                              </p:par>
                            </p:childTnLst>
                          </p:cTn>
                        </p:par>
                        <p:par>
                          <p:cTn id="40" fill="hold" nodeType="afterGroup">
                            <p:stCondLst>
                              <p:cond delay="1000"/>
                            </p:stCondLst>
                            <p:childTnLst>
                              <p:par>
                                <p:cTn id="41" presetID="18" presetClass="entr" presetSubtype="3" fill="hold" grpId="0" nodeType="after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strips(upRight)">
                                      <p:cBhvr>
                                        <p:cTn id="43" dur="500"/>
                                        <p:tgtEl>
                                          <p:spTgt spid="15"/>
                                        </p:tgtEl>
                                      </p:cBhvr>
                                    </p:animEffect>
                                  </p:childTnLst>
                                </p:cTn>
                              </p:par>
                            </p:childTnLst>
                          </p:cTn>
                        </p:par>
                        <p:par>
                          <p:cTn id="44" fill="hold" nodeType="afterGroup">
                            <p:stCondLst>
                              <p:cond delay="1500"/>
                            </p:stCondLst>
                            <p:childTnLst>
                              <p:par>
                                <p:cTn id="45" presetID="2" presetClass="entr" presetSubtype="2" fill="hold" grpId="0" nodeType="afterEffect">
                                  <p:stCondLst>
                                    <p:cond delay="0"/>
                                  </p:stCondLst>
                                  <p:childTnLst>
                                    <p:set>
                                      <p:cBhvr>
                                        <p:cTn id="46" dur="1" fill="hold">
                                          <p:stCondLst>
                                            <p:cond delay="0"/>
                                          </p:stCondLst>
                                        </p:cTn>
                                        <p:tgtEl>
                                          <p:spTgt spid="13"/>
                                        </p:tgtEl>
                                        <p:attrNameLst>
                                          <p:attrName>style.visibility</p:attrName>
                                        </p:attrNameLst>
                                      </p:cBhvr>
                                      <p:to>
                                        <p:strVal val="visible"/>
                                      </p:to>
                                    </p:set>
                                    <p:anim calcmode="lin" valueType="num">
                                      <p:cBhvr additive="base">
                                        <p:cTn id="47" dur="500" fill="hold"/>
                                        <p:tgtEl>
                                          <p:spTgt spid="13"/>
                                        </p:tgtEl>
                                        <p:attrNameLst>
                                          <p:attrName>ppt_x</p:attrName>
                                        </p:attrNameLst>
                                      </p:cBhvr>
                                      <p:tavLst>
                                        <p:tav tm="0">
                                          <p:val>
                                            <p:strVal val="1+#ppt_w/2"/>
                                          </p:val>
                                        </p:tav>
                                        <p:tav tm="100000">
                                          <p:val>
                                            <p:strVal val="#ppt_x"/>
                                          </p:val>
                                        </p:tav>
                                      </p:tavLst>
                                    </p:anim>
                                    <p:anim calcmode="lin" valueType="num">
                                      <p:cBhvr additive="base">
                                        <p:cTn id="48" dur="500" fill="hold"/>
                                        <p:tgtEl>
                                          <p:spTgt spid="13"/>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5"/>
                                            </p:cond>
                                          </p:stCondLst>
                                          <p:endCondLst>
                                            <p:cond evt="onStopAudio" delay="0">
                                              <p:tgtEl>
                                                <p:sldTgt/>
                                              </p:tgtEl>
                                            </p:cond>
                                          </p:endCondLst>
                                        </p:cTn>
                                        <p:tgtEl>
                                          <p:sndTgt r:embed="rId5" name="CARBRAKE.WAV"/>
                                        </p:tgtEl>
                                      </p:cMediaNode>
                                    </p:audio>
                                  </p:subTnLst>
                                </p:cTn>
                              </p:par>
                            </p:childTnLst>
                          </p:cTn>
                        </p:par>
                      </p:childTnLst>
                    </p:cTn>
                  </p:par>
                  <p:par>
                    <p:cTn id="49" fill="hold" nodeType="clickPar">
                      <p:stCondLst>
                        <p:cond delay="indefinite"/>
                      </p:stCondLst>
                      <p:childTnLst>
                        <p:par>
                          <p:cTn id="50" fill="hold" nodeType="withGroup">
                            <p:stCondLst>
                              <p:cond delay="0"/>
                            </p:stCondLst>
                            <p:childTnLst>
                              <p:par>
                                <p:cTn id="51" presetID="9" presetClass="entr" presetSubtype="0" fill="hold" grpId="0" nodeType="clickEffect">
                                  <p:stCondLst>
                                    <p:cond delay="0"/>
                                  </p:stCondLst>
                                  <p:childTnLst>
                                    <p:set>
                                      <p:cBhvr>
                                        <p:cTn id="52" dur="1" fill="hold">
                                          <p:stCondLst>
                                            <p:cond delay="0"/>
                                          </p:stCondLst>
                                        </p:cTn>
                                        <p:tgtEl>
                                          <p:spTgt spid="8"/>
                                        </p:tgtEl>
                                        <p:attrNameLst>
                                          <p:attrName>style.visibility</p:attrName>
                                        </p:attrNameLst>
                                      </p:cBhvr>
                                      <p:to>
                                        <p:strVal val="visible"/>
                                      </p:to>
                                    </p:set>
                                    <p:animEffect transition="in" filter="dissolve">
                                      <p:cBhvr>
                                        <p:cTn id="53" dur="500"/>
                                        <p:tgtEl>
                                          <p:spTgt spid="8"/>
                                        </p:tgtEl>
                                      </p:cBhvr>
                                    </p:animEffect>
                                  </p:childTnLst>
                                </p:cTn>
                              </p:par>
                            </p:childTnLst>
                          </p:cTn>
                        </p:par>
                        <p:par>
                          <p:cTn id="54" fill="hold" nodeType="afterGroup">
                            <p:stCondLst>
                              <p:cond delay="500"/>
                            </p:stCondLst>
                            <p:childTnLst>
                              <p:par>
                                <p:cTn id="55" presetID="4" presetClass="entr" presetSubtype="32" fill="hold" grpId="0" nodeType="afterEffect">
                                  <p:stCondLst>
                                    <p:cond delay="0"/>
                                  </p:stCondLst>
                                  <p:childTnLst>
                                    <p:set>
                                      <p:cBhvr>
                                        <p:cTn id="56" dur="1" fill="hold">
                                          <p:stCondLst>
                                            <p:cond delay="0"/>
                                          </p:stCondLst>
                                        </p:cTn>
                                        <p:tgtEl>
                                          <p:spTgt spid="9"/>
                                        </p:tgtEl>
                                        <p:attrNameLst>
                                          <p:attrName>style.visibility</p:attrName>
                                        </p:attrNameLst>
                                      </p:cBhvr>
                                      <p:to>
                                        <p:strVal val="visible"/>
                                      </p:to>
                                    </p:set>
                                    <p:animEffect transition="in" filter="box(out)">
                                      <p:cBhvr>
                                        <p:cTn id="57" dur="500"/>
                                        <p:tgtEl>
                                          <p:spTgt spid="9"/>
                                        </p:tgtEl>
                                      </p:cBhvr>
                                    </p:animEffect>
                                  </p:childTnLst>
                                  <p:subTnLst>
                                    <p:audio>
                                      <p:cMediaNode>
                                        <p:cTn display="0" masterRel="sameClick">
                                          <p:stCondLst>
                                            <p:cond evt="begin" delay="0">
                                              <p:tn val="55"/>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autoUpdateAnimBg="0"/>
      <p:bldP spid="9" grpId="0" animBg="1" autoUpdateAnimBg="0"/>
      <p:bldP spid="10" grpId="0" animBg="1" autoUpdateAnimBg="0"/>
      <p:bldP spid="11" grpId="0" animBg="1" autoUpdateAnimBg="0"/>
      <p:bldP spid="12" grpId="0" animBg="1" autoUpdateAnimBg="0"/>
      <p:bldP spid="13" grpId="0" animBg="1" autoUpdateAnimBg="0"/>
      <p:bldP spid="14" grpId="0" animBg="1"/>
      <p:bldP spid="1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日期占位符 3"/>
          <p:cNvSpPr>
            <a:spLocks noGrp="1"/>
          </p:cNvSpPr>
          <p:nvPr>
            <p:ph type="dt" sz="quarter" idx="10"/>
          </p:nvPr>
        </p:nvSpPr>
        <p:spPr/>
        <p:txBody>
          <a:bodyPr/>
          <a:lstStyle/>
          <a:p>
            <a:pPr>
              <a:defRPr/>
            </a:pPr>
            <a:fld id="{24B023E8-828D-4615-89EE-4B1ACCE66DCD}" type="datetime1">
              <a:rPr lang="zh-CN" altLang="en-US"/>
              <a:pPr>
                <a:defRPr/>
              </a:pPr>
              <a:t>2021/9/21</a:t>
            </a:fld>
            <a:endParaRPr lang="en-US" altLang="zh-CN"/>
          </a:p>
        </p:txBody>
      </p:sp>
      <p:sp>
        <p:nvSpPr>
          <p:cNvPr id="30" name="灯片编号占位符 5"/>
          <p:cNvSpPr>
            <a:spLocks noGrp="1"/>
          </p:cNvSpPr>
          <p:nvPr>
            <p:ph type="sldNum" sz="quarter" idx="12"/>
          </p:nvPr>
        </p:nvSpPr>
        <p:spPr/>
        <p:txBody>
          <a:bodyPr/>
          <a:lstStyle/>
          <a:p>
            <a:pPr>
              <a:defRPr/>
            </a:pPr>
            <a:fld id="{293AB0C9-5FCC-40FC-BABB-0AC94CB961CB}" type="slidenum">
              <a:rPr lang="en-US" altLang="zh-CN"/>
              <a:pPr>
                <a:defRPr/>
              </a:pPr>
              <a:t>11</a:t>
            </a:fld>
            <a:endParaRPr lang="en-US" altLang="zh-CN"/>
          </a:p>
        </p:txBody>
      </p:sp>
      <p:sp>
        <p:nvSpPr>
          <p:cNvPr id="13316" name="Rectangle 2"/>
          <p:cNvSpPr>
            <a:spLocks noGrp="1" noChangeArrowheads="1"/>
          </p:cNvSpPr>
          <p:nvPr>
            <p:ph type="body" idx="1"/>
          </p:nvPr>
        </p:nvSpPr>
        <p:spPr/>
        <p:txBody>
          <a:bodyPr/>
          <a:lstStyle/>
          <a:p>
            <a:pPr eaLnBrk="1" hangingPunct="1">
              <a:lnSpc>
                <a:spcPct val="90000"/>
              </a:lnSpc>
            </a:pPr>
            <a:r>
              <a:rPr lang="zh-CN" altLang="en-US" dirty="0" smtClean="0"/>
              <a:t>亦称反运算、逻辑非，</a:t>
            </a:r>
            <a:r>
              <a:rPr lang="en-US" altLang="zh-CN" dirty="0" smtClean="0"/>
              <a:t>Inversion</a:t>
            </a:r>
            <a:r>
              <a:rPr lang="zh-CN" altLang="en-US" dirty="0" smtClean="0"/>
              <a:t>、</a:t>
            </a:r>
            <a:r>
              <a:rPr lang="en-US" altLang="zh-CN" dirty="0" smtClean="0"/>
              <a:t>Logic Negation</a:t>
            </a:r>
          </a:p>
          <a:p>
            <a:pPr eaLnBrk="1" hangingPunct="1">
              <a:lnSpc>
                <a:spcPct val="90000"/>
              </a:lnSpc>
            </a:pPr>
            <a:r>
              <a:rPr lang="zh-CN" altLang="en-US" dirty="0" smtClean="0"/>
              <a:t>运算符号：</a:t>
            </a:r>
          </a:p>
          <a:p>
            <a:pPr eaLnBrk="1" hangingPunct="1">
              <a:lnSpc>
                <a:spcPct val="90000"/>
              </a:lnSpc>
            </a:pPr>
            <a:r>
              <a:rPr lang="zh-CN" altLang="en-US" dirty="0" smtClean="0"/>
              <a:t>“非”逻辑：是逻辑代数所特有的一种形式。在数理逻辑中，事件的发生取决于条件的否定。</a:t>
            </a:r>
          </a:p>
          <a:p>
            <a:pPr eaLnBrk="1" hangingPunct="1">
              <a:lnSpc>
                <a:spcPct val="90000"/>
              </a:lnSpc>
            </a:pPr>
            <a:r>
              <a:rPr lang="zh-CN" altLang="en-US" dirty="0" smtClean="0"/>
              <a:t>表示形式：</a:t>
            </a:r>
            <a:r>
              <a:rPr lang="en-US" altLang="zh-CN" dirty="0" smtClean="0"/>
              <a:t>F= A     F=   A</a:t>
            </a:r>
          </a:p>
          <a:p>
            <a:pPr eaLnBrk="1" hangingPunct="1">
              <a:lnSpc>
                <a:spcPct val="90000"/>
              </a:lnSpc>
            </a:pPr>
            <a:r>
              <a:rPr lang="zh-CN" altLang="en-US" dirty="0" smtClean="0"/>
              <a:t>真值表（</a:t>
            </a:r>
            <a:r>
              <a:rPr lang="en-US" altLang="zh-CN" dirty="0" smtClean="0"/>
              <a:t>truth table</a:t>
            </a:r>
            <a:r>
              <a:rPr lang="zh-CN" altLang="en-US" dirty="0" smtClean="0"/>
              <a:t>）</a:t>
            </a:r>
          </a:p>
          <a:p>
            <a:pPr eaLnBrk="1" hangingPunct="1">
              <a:lnSpc>
                <a:spcPct val="90000"/>
              </a:lnSpc>
            </a:pPr>
            <a:r>
              <a:rPr lang="zh-CN" altLang="en-US" dirty="0" smtClean="0"/>
              <a:t>运算法则：</a:t>
            </a:r>
            <a:r>
              <a:rPr lang="zh-CN" altLang="en-US" dirty="0" smtClean="0">
                <a:sym typeface="Symbol"/>
              </a:rPr>
              <a:t></a:t>
            </a:r>
            <a:r>
              <a:rPr lang="en-US" altLang="zh-CN" dirty="0" smtClean="0"/>
              <a:t>0 =1    </a:t>
            </a:r>
            <a:r>
              <a:rPr lang="en-US" altLang="zh-CN" dirty="0" smtClean="0">
                <a:sym typeface="Symbol"/>
              </a:rPr>
              <a:t></a:t>
            </a:r>
            <a:r>
              <a:rPr lang="en-US" altLang="zh-CN" dirty="0" smtClean="0"/>
              <a:t>1 =0</a:t>
            </a:r>
          </a:p>
        </p:txBody>
      </p:sp>
      <p:sp>
        <p:nvSpPr>
          <p:cNvPr id="13317" name="Rectangle 3"/>
          <p:cNvSpPr>
            <a:spLocks noGrp="1" noChangeArrowheads="1"/>
          </p:cNvSpPr>
          <p:nvPr>
            <p:ph type="title"/>
          </p:nvPr>
        </p:nvSpPr>
        <p:spPr>
          <a:xfrm>
            <a:off x="1274763" y="533400"/>
            <a:ext cx="7793037" cy="609600"/>
          </a:xfrm>
        </p:spPr>
        <p:txBody>
          <a:bodyPr/>
          <a:lstStyle/>
          <a:p>
            <a:pPr eaLnBrk="1" hangingPunct="1"/>
            <a:r>
              <a:rPr lang="zh-CN" altLang="en-US" smtClean="0"/>
              <a:t>逻辑运算之“非”运算 </a:t>
            </a:r>
            <a:r>
              <a:rPr lang="en-US" altLang="zh-CN" smtClean="0"/>
              <a:t>NOT</a:t>
            </a:r>
          </a:p>
        </p:txBody>
      </p:sp>
      <p:graphicFrame>
        <p:nvGraphicFramePr>
          <p:cNvPr id="150604" name="Group 76"/>
          <p:cNvGraphicFramePr>
            <a:graphicFrameLocks noGrp="1"/>
          </p:cNvGraphicFramePr>
          <p:nvPr/>
        </p:nvGraphicFramePr>
        <p:xfrm>
          <a:off x="6629400" y="4438650"/>
          <a:ext cx="1371600" cy="1584704"/>
        </p:xfrm>
        <a:graphic>
          <a:graphicData uri="http://schemas.openxmlformats.org/drawingml/2006/table">
            <a:tbl>
              <a:tblPr/>
              <a:tblGrid>
                <a:gridCol w="685800"/>
                <a:gridCol w="685800"/>
              </a:tblGrid>
              <a:tr h="396081">
                <a:tc grid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smtClean="0">
                          <a:ln>
                            <a:noFill/>
                          </a:ln>
                          <a:solidFill>
                            <a:schemeClr val="tx1"/>
                          </a:solidFill>
                          <a:effectLst/>
                          <a:latin typeface="Tahoma" pitchFamily="34" charset="0"/>
                          <a:ea typeface="宋体" pitchFamily="2" charset="-122"/>
                        </a:rPr>
                        <a:t>真值表</a:t>
                      </a:r>
                    </a:p>
                  </a:txBody>
                  <a:tcPr marT="45688" marB="45688" horzOverflow="overflow">
                    <a:lnL>
                      <a:noFill/>
                    </a:lnL>
                    <a:lnR>
                      <a:noFill/>
                    </a:lnR>
                    <a:lnT>
                      <a:noFill/>
                    </a:lnT>
                    <a:lnB w="12700" cap="flat" cmpd="sng" algn="ctr">
                      <a:solidFill>
                        <a:schemeClr val="tx1"/>
                      </a:solidFill>
                      <a:prstDash val="solid"/>
                      <a:miter lim="800000"/>
                      <a:headEnd type="none" w="med" len="med"/>
                      <a:tailEnd type="none" w="med" len="med"/>
                    </a:lnB>
                    <a:lnTlToBr>
                      <a:noFill/>
                    </a:lnTlToBr>
                    <a:lnBlToTr>
                      <a:noFill/>
                    </a:lnBlToTr>
                    <a:solidFill>
                      <a:srgbClr val="CACBCC">
                        <a:alpha val="50195"/>
                      </a:srgbClr>
                    </a:solidFill>
                  </a:tcPr>
                </a:tc>
                <a:tc hMerge="1">
                  <a:txBody>
                    <a:bodyPr/>
                    <a:lstStyle/>
                    <a:p>
                      <a:endParaRPr lang="zh-CN" altLang="en-US"/>
                    </a:p>
                  </a:txBody>
                  <a:tcPr/>
                </a:tc>
              </a:tr>
              <a:tr h="396081">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A</a:t>
                      </a:r>
                    </a:p>
                  </a:txBody>
                  <a:tcPr marT="45688" marB="45688" horzOverflow="overflow">
                    <a:lnL>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CACBCC">
                        <a:alpha val="50195"/>
                      </a:srgb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F</a:t>
                      </a:r>
                    </a:p>
                  </a:txBody>
                  <a:tcPr marT="45688" marB="45688" horzOverflow="overflow">
                    <a:lnL w="12700" cap="flat" cmpd="sng" algn="ctr">
                      <a:solidFill>
                        <a:schemeClr val="tx1"/>
                      </a:solidFill>
                      <a:prstDash val="solid"/>
                      <a:miter lim="800000"/>
                      <a:headEnd type="none" w="med" len="med"/>
                      <a:tailEnd type="none" w="med" len="med"/>
                    </a:lnL>
                    <a:lnR>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CACBCC">
                        <a:alpha val="50195"/>
                      </a:srgbClr>
                    </a:solidFill>
                  </a:tcPr>
                </a:tc>
              </a:tr>
              <a:tr h="396081">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0</a:t>
                      </a:r>
                    </a:p>
                  </a:txBody>
                  <a:tcPr marT="45688" marB="45688" horzOverflow="overflow">
                    <a:lnL>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a:noFill/>
                    </a:lnB>
                    <a:lnTlToBr>
                      <a:noFill/>
                    </a:lnTlToBr>
                    <a:lnBlToTr>
                      <a:noFill/>
                    </a:lnBlToTr>
                    <a:solidFill>
                      <a:srgbClr val="CACBCC">
                        <a:alpha val="50195"/>
                      </a:srgb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1</a:t>
                      </a:r>
                    </a:p>
                  </a:txBody>
                  <a:tcPr marT="45688" marB="45688" horzOverflow="overflow">
                    <a:lnL w="12700" cap="flat" cmpd="sng" algn="ctr">
                      <a:solidFill>
                        <a:schemeClr val="tx1"/>
                      </a:solidFill>
                      <a:prstDash val="solid"/>
                      <a:miter lim="800000"/>
                      <a:headEnd type="none" w="med" len="med"/>
                      <a:tailEnd type="none" w="med" len="med"/>
                    </a:lnL>
                    <a:lnR>
                      <a:noFill/>
                    </a:lnR>
                    <a:lnT w="12700" cap="flat" cmpd="sng" algn="ctr">
                      <a:solidFill>
                        <a:schemeClr val="tx1"/>
                      </a:solidFill>
                      <a:prstDash val="solid"/>
                      <a:miter lim="800000"/>
                      <a:headEnd type="none" w="med" len="med"/>
                      <a:tailEnd type="none" w="med" len="med"/>
                    </a:lnT>
                    <a:lnB>
                      <a:noFill/>
                    </a:lnB>
                    <a:lnTlToBr>
                      <a:noFill/>
                    </a:lnTlToBr>
                    <a:lnBlToTr>
                      <a:noFill/>
                    </a:lnBlToTr>
                    <a:solidFill>
                      <a:srgbClr val="CACBCC">
                        <a:alpha val="50195"/>
                      </a:srgbClr>
                    </a:solidFill>
                  </a:tcPr>
                </a:tc>
              </a:tr>
              <a:tr h="396081">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1</a:t>
                      </a:r>
                    </a:p>
                  </a:txBody>
                  <a:tcPr marT="45688" marB="45688" horzOverflow="overflow">
                    <a:lnL>
                      <a:noFill/>
                    </a:lnL>
                    <a:lnR w="12700" cap="flat" cmpd="sng" algn="ctr">
                      <a:solidFill>
                        <a:schemeClr val="tx1"/>
                      </a:solidFill>
                      <a:prstDash val="solid"/>
                      <a:miter lim="800000"/>
                      <a:headEnd type="none" w="med" len="med"/>
                      <a:tailEnd type="none" w="med" len="med"/>
                    </a:lnR>
                    <a:lnT>
                      <a:noFill/>
                    </a:lnT>
                    <a:lnB w="12700" cap="flat" cmpd="sng" algn="ctr">
                      <a:solidFill>
                        <a:schemeClr val="tx1"/>
                      </a:solidFill>
                      <a:prstDash val="solid"/>
                      <a:miter lim="800000"/>
                      <a:headEnd type="none" w="med" len="med"/>
                      <a:tailEnd type="none" w="med" len="med"/>
                    </a:lnB>
                    <a:lnTlToBr>
                      <a:noFill/>
                    </a:lnTlToBr>
                    <a:lnBlToTr>
                      <a:noFill/>
                    </a:lnBlToTr>
                    <a:solidFill>
                      <a:srgbClr val="CACBCC">
                        <a:alpha val="50195"/>
                      </a:srgb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0</a:t>
                      </a:r>
                    </a:p>
                  </a:txBody>
                  <a:tcPr marT="45688" marB="45688" horzOverflow="overflow">
                    <a:lnL w="12700" cap="flat" cmpd="sng" algn="ctr">
                      <a:solidFill>
                        <a:schemeClr val="tx1"/>
                      </a:solidFill>
                      <a:prstDash val="solid"/>
                      <a:miter lim="800000"/>
                      <a:headEnd type="none" w="med" len="med"/>
                      <a:tailEnd type="none" w="med" len="med"/>
                    </a:lnL>
                    <a:lnR>
                      <a:noFill/>
                    </a:lnR>
                    <a:lnT>
                      <a:noFill/>
                    </a:lnT>
                    <a:lnB w="12700" cap="flat" cmpd="sng" algn="ctr">
                      <a:solidFill>
                        <a:schemeClr val="tx1"/>
                      </a:solidFill>
                      <a:prstDash val="solid"/>
                      <a:miter lim="800000"/>
                      <a:headEnd type="none" w="med" len="med"/>
                      <a:tailEnd type="none" w="med" len="med"/>
                    </a:lnB>
                    <a:lnTlToBr>
                      <a:noFill/>
                    </a:lnTlToBr>
                    <a:lnBlToTr>
                      <a:noFill/>
                    </a:lnBlToTr>
                    <a:solidFill>
                      <a:srgbClr val="CACBCC">
                        <a:alpha val="50195"/>
                      </a:srgbClr>
                    </a:solidFill>
                  </a:tcPr>
                </a:tc>
              </a:tr>
            </a:tbl>
          </a:graphicData>
        </a:graphic>
      </p:graphicFrame>
      <p:sp>
        <p:nvSpPr>
          <p:cNvPr id="13330" name="Freeform 38"/>
          <p:cNvSpPr>
            <a:spLocks/>
          </p:cNvSpPr>
          <p:nvPr/>
        </p:nvSpPr>
        <p:spPr bwMode="auto">
          <a:xfrm>
            <a:off x="4191000" y="2514600"/>
            <a:ext cx="304800" cy="76200"/>
          </a:xfrm>
          <a:custGeom>
            <a:avLst/>
            <a:gdLst>
              <a:gd name="T0" fmla="*/ 0 w 192"/>
              <a:gd name="T1" fmla="*/ 0 h 48"/>
              <a:gd name="T2" fmla="*/ 2147483647 w 192"/>
              <a:gd name="T3" fmla="*/ 0 h 48"/>
              <a:gd name="T4" fmla="*/ 2147483647 w 192"/>
              <a:gd name="T5" fmla="*/ 2147483647 h 48"/>
              <a:gd name="T6" fmla="*/ 0 60000 65536"/>
              <a:gd name="T7" fmla="*/ 0 60000 65536"/>
              <a:gd name="T8" fmla="*/ 0 60000 65536"/>
              <a:gd name="T9" fmla="*/ 0 w 192"/>
              <a:gd name="T10" fmla="*/ 0 h 48"/>
              <a:gd name="T11" fmla="*/ 192 w 192"/>
              <a:gd name="T12" fmla="*/ 48 h 48"/>
            </a:gdLst>
            <a:ahLst/>
            <a:cxnLst>
              <a:cxn ang="T6">
                <a:pos x="T0" y="T1"/>
              </a:cxn>
              <a:cxn ang="T7">
                <a:pos x="T2" y="T3"/>
              </a:cxn>
              <a:cxn ang="T8">
                <a:pos x="T4" y="T5"/>
              </a:cxn>
            </a:cxnLst>
            <a:rect l="T9" t="T10" r="T11" b="T12"/>
            <a:pathLst>
              <a:path w="192" h="48">
                <a:moveTo>
                  <a:pt x="0" y="0"/>
                </a:moveTo>
                <a:lnTo>
                  <a:pt x="192" y="0"/>
                </a:lnTo>
                <a:lnTo>
                  <a:pt x="144" y="48"/>
                </a:lnTo>
              </a:path>
            </a:pathLst>
          </a:cu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3331" name="Line 39"/>
          <p:cNvSpPr>
            <a:spLocks noChangeShapeType="1"/>
          </p:cNvSpPr>
          <p:nvPr/>
        </p:nvSpPr>
        <p:spPr bwMode="auto">
          <a:xfrm>
            <a:off x="2971800" y="2438400"/>
            <a:ext cx="3810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3333" name="Freeform 41"/>
          <p:cNvSpPr>
            <a:spLocks/>
          </p:cNvSpPr>
          <p:nvPr/>
        </p:nvSpPr>
        <p:spPr bwMode="auto">
          <a:xfrm>
            <a:off x="5029200" y="4495800"/>
            <a:ext cx="304800" cy="76200"/>
          </a:xfrm>
          <a:custGeom>
            <a:avLst/>
            <a:gdLst>
              <a:gd name="T0" fmla="*/ 0 w 192"/>
              <a:gd name="T1" fmla="*/ 0 h 48"/>
              <a:gd name="T2" fmla="*/ 2147483647 w 192"/>
              <a:gd name="T3" fmla="*/ 0 h 48"/>
              <a:gd name="T4" fmla="*/ 2147483647 w 192"/>
              <a:gd name="T5" fmla="*/ 2147483647 h 48"/>
              <a:gd name="T6" fmla="*/ 0 60000 65536"/>
              <a:gd name="T7" fmla="*/ 0 60000 65536"/>
              <a:gd name="T8" fmla="*/ 0 60000 65536"/>
              <a:gd name="T9" fmla="*/ 0 w 192"/>
              <a:gd name="T10" fmla="*/ 0 h 48"/>
              <a:gd name="T11" fmla="*/ 192 w 192"/>
              <a:gd name="T12" fmla="*/ 48 h 48"/>
            </a:gdLst>
            <a:ahLst/>
            <a:cxnLst>
              <a:cxn ang="T6">
                <a:pos x="T0" y="T1"/>
              </a:cxn>
              <a:cxn ang="T7">
                <a:pos x="T2" y="T3"/>
              </a:cxn>
              <a:cxn ang="T8">
                <a:pos x="T4" y="T5"/>
              </a:cxn>
            </a:cxnLst>
            <a:rect l="T9" t="T10" r="T11" b="T12"/>
            <a:pathLst>
              <a:path w="192" h="48">
                <a:moveTo>
                  <a:pt x="0" y="0"/>
                </a:moveTo>
                <a:lnTo>
                  <a:pt x="192" y="0"/>
                </a:lnTo>
                <a:lnTo>
                  <a:pt x="144" y="48"/>
                </a:lnTo>
              </a:path>
            </a:pathLst>
          </a:cu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Tree>
  </p:cSld>
  <p:clrMapOvr>
    <a:masterClrMapping/>
  </p:clrMapOvr>
  <p:transition>
    <p:rand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quarter" idx="10"/>
          </p:nvPr>
        </p:nvSpPr>
        <p:spPr/>
        <p:txBody>
          <a:bodyPr/>
          <a:lstStyle/>
          <a:p>
            <a:pPr>
              <a:defRPr/>
            </a:pPr>
            <a:fld id="{5994FD51-5411-4595-833B-C5B8FBE251F7}" type="datetime1">
              <a:rPr lang="zh-CN" altLang="en-US" smtClean="0"/>
              <a:pPr>
                <a:defRPr/>
              </a:pPr>
              <a:t>2021/9/21</a:t>
            </a:fld>
            <a:endParaRPr lang="en-US" altLang="zh-CN"/>
          </a:p>
        </p:txBody>
      </p:sp>
      <p:sp>
        <p:nvSpPr>
          <p:cNvPr id="3" name="灯片编号占位符 2"/>
          <p:cNvSpPr>
            <a:spLocks noGrp="1"/>
          </p:cNvSpPr>
          <p:nvPr>
            <p:ph type="sldNum" sz="quarter" idx="12"/>
          </p:nvPr>
        </p:nvSpPr>
        <p:spPr/>
        <p:txBody>
          <a:bodyPr/>
          <a:lstStyle/>
          <a:p>
            <a:pPr>
              <a:defRPr/>
            </a:pPr>
            <a:fld id="{11DD0234-1ABD-42EA-8CE9-D2D643BE5DEB}" type="slidenum">
              <a:rPr lang="en-US" altLang="zh-CN" smtClean="0"/>
              <a:pPr>
                <a:defRPr/>
              </a:pPr>
              <a:t>12</a:t>
            </a:fld>
            <a:endParaRPr lang="en-US" altLang="zh-CN"/>
          </a:p>
        </p:txBody>
      </p:sp>
      <p:graphicFrame>
        <p:nvGraphicFramePr>
          <p:cNvPr id="4" name="Object 2"/>
          <p:cNvGraphicFramePr>
            <a:graphicFrameLocks noChangeAspect="1"/>
          </p:cNvGraphicFramePr>
          <p:nvPr/>
        </p:nvGraphicFramePr>
        <p:xfrm>
          <a:off x="5105400" y="2590800"/>
          <a:ext cx="2743200" cy="1652588"/>
        </p:xfrm>
        <a:graphic>
          <a:graphicData uri="http://schemas.openxmlformats.org/presentationml/2006/ole">
            <mc:AlternateContent xmlns:mc="http://schemas.openxmlformats.org/markup-compatibility/2006">
              <mc:Choice xmlns:v="urn:schemas-microsoft-com:vml" Requires="v">
                <p:oleObj spid="_x0000_s14401" name="Document" r:id="rId6" imgW="3552825" imgH="2438400" progId="Word.Document.8">
                  <p:embed/>
                </p:oleObj>
              </mc:Choice>
              <mc:Fallback>
                <p:oleObj name="Document" r:id="rId6" imgW="3552825" imgH="2438400" progId="Word.Document.8">
                  <p:embed/>
                  <p:pic>
                    <p:nvPicPr>
                      <p:cNvPr id="0" name="Object 2"/>
                      <p:cNvPicPr>
                        <a:picLocks noChangeAspect="1" noChangeArrowheads="1"/>
                      </p:cNvPicPr>
                      <p:nvPr/>
                    </p:nvPicPr>
                    <p:blipFill>
                      <a:blip r:embed="rId7">
                        <a:extLst>
                          <a:ext uri="{28A0092B-C50C-407E-A947-70E740481C1C}">
                            <a14:useLocalDpi xmlns:a14="http://schemas.microsoft.com/office/drawing/2010/main" val="0"/>
                          </a:ext>
                        </a:extLst>
                      </a:blip>
                      <a:srcRect l="21849" t="12500" r="21313" b="37500"/>
                      <a:stretch>
                        <a:fillRect/>
                      </a:stretch>
                    </p:blipFill>
                    <p:spPr bwMode="auto">
                      <a:xfrm>
                        <a:off x="5105400" y="2590800"/>
                        <a:ext cx="2743200" cy="1652588"/>
                      </a:xfrm>
                      <a:prstGeom prst="rect">
                        <a:avLst/>
                      </a:prstGeom>
                      <a:solidFill>
                        <a:srgbClr val="D9FFE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5" name="Group 5"/>
          <p:cNvGrpSpPr>
            <a:grpSpLocks/>
          </p:cNvGrpSpPr>
          <p:nvPr/>
        </p:nvGrpSpPr>
        <p:grpSpPr bwMode="auto">
          <a:xfrm>
            <a:off x="4929188" y="5592763"/>
            <a:ext cx="1143000" cy="579437"/>
            <a:chOff x="4848" y="3312"/>
            <a:chExt cx="720" cy="365"/>
          </a:xfrm>
        </p:grpSpPr>
        <p:sp>
          <p:nvSpPr>
            <p:cNvPr id="8" name="Text Box 6"/>
            <p:cNvSpPr txBox="1">
              <a:spLocks noChangeArrowheads="1"/>
            </p:cNvSpPr>
            <p:nvPr/>
          </p:nvSpPr>
          <p:spPr bwMode="auto">
            <a:xfrm>
              <a:off x="4848" y="3312"/>
              <a:ext cx="720" cy="365"/>
            </a:xfrm>
            <a:prstGeom prst="rect">
              <a:avLst/>
            </a:prstGeom>
            <a:solidFill>
              <a:srgbClr val="FFCCFF"/>
            </a:solidFill>
            <a:ln w="9525">
              <a:noFill/>
              <a:miter lim="800000"/>
              <a:headEnd/>
              <a:tailEnd/>
            </a:ln>
            <a:effectLst/>
          </p:spPr>
          <p:txBody>
            <a:bodyPr lIns="0" rIns="0">
              <a:spAutoFit/>
            </a:bodyPr>
            <a:lstStyle/>
            <a:p>
              <a:pPr>
                <a:defRPr/>
              </a:pPr>
              <a:r>
                <a:rPr lang="en-US" altLang="zh-CN" sz="3200" b="1">
                  <a:solidFill>
                    <a:srgbClr val="CC3300"/>
                  </a:solidFill>
                  <a:effectLst>
                    <a:outerShdw blurRad="38100" dist="38100" dir="2700000" algn="tl">
                      <a:srgbClr val="000000"/>
                    </a:outerShdw>
                  </a:effectLst>
                  <a:ea typeface="宋体" pitchFamily="2" charset="-122"/>
                </a:rPr>
                <a:t>Y=A</a:t>
              </a:r>
              <a:endParaRPr lang="en-US" altLang="zh-CN">
                <a:solidFill>
                  <a:srgbClr val="CC3300"/>
                </a:solidFill>
                <a:ea typeface="宋体" pitchFamily="2" charset="-122"/>
              </a:endParaRPr>
            </a:p>
          </p:txBody>
        </p:sp>
        <p:sp>
          <p:nvSpPr>
            <p:cNvPr id="14352" name="Line 7"/>
            <p:cNvSpPr>
              <a:spLocks noChangeShapeType="1"/>
            </p:cNvSpPr>
            <p:nvPr/>
          </p:nvSpPr>
          <p:spPr bwMode="auto">
            <a:xfrm>
              <a:off x="5172" y="3360"/>
              <a:ext cx="192" cy="0"/>
            </a:xfrm>
            <a:prstGeom prst="line">
              <a:avLst/>
            </a:prstGeom>
            <a:noFill/>
            <a:ln w="38100">
              <a:solidFill>
                <a:srgbClr val="339933"/>
              </a:solidFill>
              <a:round/>
              <a:headEnd/>
              <a:tailEnd/>
            </a:ln>
            <a:extLst>
              <a:ext uri="{909E8E84-426E-40DD-AFC4-6F175D3DCCD1}">
                <a14:hiddenFill xmlns:a14="http://schemas.microsoft.com/office/drawing/2010/main">
                  <a:noFill/>
                </a14:hiddenFill>
              </a:ext>
            </a:extLst>
          </p:spPr>
          <p:txBody>
            <a:bodyPr wrap="none" lIns="0" rIns="0" anchor="ctr">
              <a:spAutoFit/>
            </a:bodyPr>
            <a:lstStyle/>
            <a:p>
              <a:endParaRPr lang="zh-CN" altLang="en-US"/>
            </a:p>
          </p:txBody>
        </p:sp>
      </p:grpSp>
      <p:graphicFrame>
        <p:nvGraphicFramePr>
          <p:cNvPr id="10" name="Object 8"/>
          <p:cNvGraphicFramePr>
            <a:graphicFrameLocks noChangeAspect="1"/>
          </p:cNvGraphicFramePr>
          <p:nvPr/>
        </p:nvGraphicFramePr>
        <p:xfrm>
          <a:off x="609600" y="219075"/>
          <a:ext cx="3340100" cy="1479550"/>
        </p:xfrm>
        <a:graphic>
          <a:graphicData uri="http://schemas.openxmlformats.org/presentationml/2006/ole">
            <mc:AlternateContent xmlns:mc="http://schemas.openxmlformats.org/markup-compatibility/2006">
              <mc:Choice xmlns:v="urn:schemas-microsoft-com:vml" Requires="v">
                <p:oleObj spid="_x0000_s14402" name="Picture" r:id="rId8" imgW="1333500" imgH="590550" progId="Word.Picture.8">
                  <p:embed/>
                </p:oleObj>
              </mc:Choice>
              <mc:Fallback>
                <p:oleObj name="Picture" r:id="rId8" imgW="1333500" imgH="590550" progId="Word.Picture.8">
                  <p:embed/>
                  <p:pic>
                    <p:nvPicPr>
                      <p:cNvPr id="0"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09600" y="219075"/>
                        <a:ext cx="3340100" cy="1479550"/>
                      </a:xfrm>
                      <a:prstGeom prst="rect">
                        <a:avLst/>
                      </a:prstGeom>
                      <a:solidFill>
                        <a:srgbClr val="D9FFE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 name="Rectangle 9"/>
          <p:cNvSpPr>
            <a:spLocks noChangeArrowheads="1"/>
          </p:cNvSpPr>
          <p:nvPr/>
        </p:nvSpPr>
        <p:spPr bwMode="auto">
          <a:xfrm>
            <a:off x="1143000" y="1895475"/>
            <a:ext cx="2438400" cy="466725"/>
          </a:xfrm>
          <a:prstGeom prst="rect">
            <a:avLst/>
          </a:prstGeom>
          <a:noFill/>
          <a:ln w="9525">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lIns="0" rIns="0">
            <a:spAutoFit/>
          </a:bodyPr>
          <a:lstStyle/>
          <a:p>
            <a:pPr algn="ctr"/>
            <a:r>
              <a:rPr lang="en-US" altLang="zh-CN" b="1">
                <a:ea typeface="隶书" pitchFamily="49" charset="-122"/>
              </a:rPr>
              <a:t>A</a:t>
            </a:r>
            <a:r>
              <a:rPr lang="zh-CN" altLang="en-US" b="1">
                <a:ea typeface="隶书" pitchFamily="49" charset="-122"/>
              </a:rPr>
              <a:t>断开，灯亮。</a:t>
            </a:r>
            <a:endParaRPr lang="zh-CN" altLang="en-US"/>
          </a:p>
        </p:txBody>
      </p:sp>
      <p:sp>
        <p:nvSpPr>
          <p:cNvPr id="12" name="Line 10"/>
          <p:cNvSpPr>
            <a:spLocks noChangeShapeType="1"/>
          </p:cNvSpPr>
          <p:nvPr/>
        </p:nvSpPr>
        <p:spPr bwMode="auto">
          <a:xfrm flipV="1">
            <a:off x="3368675" y="219075"/>
            <a:ext cx="98425" cy="533400"/>
          </a:xfrm>
          <a:prstGeom prst="line">
            <a:avLst/>
          </a:prstGeom>
          <a:noFill/>
          <a:ln w="38100">
            <a:solidFill>
              <a:srgbClr val="CC3300"/>
            </a:solidFill>
            <a:round/>
            <a:headEnd/>
            <a:tailEnd type="arrow" w="med" len="med"/>
          </a:ln>
          <a:extLst>
            <a:ext uri="{909E8E84-426E-40DD-AFC4-6F175D3DCCD1}">
              <a14:hiddenFill xmlns:a14="http://schemas.microsoft.com/office/drawing/2010/main">
                <a:noFill/>
              </a14:hiddenFill>
            </a:ext>
          </a:extLst>
        </p:spPr>
        <p:txBody>
          <a:bodyPr lIns="0" rIns="0" anchor="ctr">
            <a:spAutoFit/>
          </a:bodyPr>
          <a:lstStyle/>
          <a:p>
            <a:endParaRPr lang="zh-CN" altLang="en-US"/>
          </a:p>
        </p:txBody>
      </p:sp>
      <p:sp>
        <p:nvSpPr>
          <p:cNvPr id="13" name="Line 11"/>
          <p:cNvSpPr>
            <a:spLocks noChangeShapeType="1"/>
          </p:cNvSpPr>
          <p:nvPr/>
        </p:nvSpPr>
        <p:spPr bwMode="auto">
          <a:xfrm flipV="1">
            <a:off x="3521075" y="219075"/>
            <a:ext cx="98425" cy="609600"/>
          </a:xfrm>
          <a:prstGeom prst="line">
            <a:avLst/>
          </a:prstGeom>
          <a:noFill/>
          <a:ln w="38100">
            <a:solidFill>
              <a:srgbClr val="CC3300"/>
            </a:solidFill>
            <a:round/>
            <a:headEnd/>
            <a:tailEnd type="arrow" w="med" len="med"/>
          </a:ln>
          <a:extLst>
            <a:ext uri="{909E8E84-426E-40DD-AFC4-6F175D3DCCD1}">
              <a14:hiddenFill xmlns:a14="http://schemas.microsoft.com/office/drawing/2010/main">
                <a:noFill/>
              </a14:hiddenFill>
            </a:ext>
          </a:extLst>
        </p:spPr>
        <p:txBody>
          <a:bodyPr lIns="0" rIns="0" anchor="ctr">
            <a:spAutoFit/>
          </a:bodyPr>
          <a:lstStyle/>
          <a:p>
            <a:endParaRPr lang="zh-CN" altLang="en-US"/>
          </a:p>
        </p:txBody>
      </p:sp>
      <p:graphicFrame>
        <p:nvGraphicFramePr>
          <p:cNvPr id="14" name="Object 12"/>
          <p:cNvGraphicFramePr>
            <a:graphicFrameLocks noChangeAspect="1"/>
          </p:cNvGraphicFramePr>
          <p:nvPr/>
        </p:nvGraphicFramePr>
        <p:xfrm>
          <a:off x="4800600" y="219075"/>
          <a:ext cx="3340100" cy="1479550"/>
        </p:xfrm>
        <a:graphic>
          <a:graphicData uri="http://schemas.openxmlformats.org/presentationml/2006/ole">
            <mc:AlternateContent xmlns:mc="http://schemas.openxmlformats.org/markup-compatibility/2006">
              <mc:Choice xmlns:v="urn:schemas-microsoft-com:vml" Requires="v">
                <p:oleObj spid="_x0000_s14403" name="Picture" r:id="rId10" imgW="1333500" imgH="590550" progId="Word.Picture.8">
                  <p:embed/>
                </p:oleObj>
              </mc:Choice>
              <mc:Fallback>
                <p:oleObj name="Picture" r:id="rId10" imgW="1333500" imgH="590550" progId="Word.Picture.8">
                  <p:embed/>
                  <p:pic>
                    <p:nvPicPr>
                      <p:cNvPr id="0" name="Object 1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800600" y="219075"/>
                        <a:ext cx="3340100" cy="1479550"/>
                      </a:xfrm>
                      <a:prstGeom prst="rect">
                        <a:avLst/>
                      </a:prstGeom>
                      <a:solidFill>
                        <a:srgbClr val="D9FFE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 name="Rectangle 13"/>
          <p:cNvSpPr>
            <a:spLocks noChangeArrowheads="1"/>
          </p:cNvSpPr>
          <p:nvPr/>
        </p:nvSpPr>
        <p:spPr bwMode="auto">
          <a:xfrm>
            <a:off x="5410200" y="1819275"/>
            <a:ext cx="2438400" cy="466725"/>
          </a:xfrm>
          <a:prstGeom prst="rect">
            <a:avLst/>
          </a:prstGeom>
          <a:noFill/>
          <a:ln w="9525">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lIns="0" rIns="0">
            <a:spAutoFit/>
          </a:bodyPr>
          <a:lstStyle/>
          <a:p>
            <a:pPr algn="ctr"/>
            <a:r>
              <a:rPr lang="en-US" altLang="zh-CN" b="1">
                <a:ea typeface="隶书" pitchFamily="49" charset="-122"/>
              </a:rPr>
              <a:t>A</a:t>
            </a:r>
            <a:r>
              <a:rPr lang="zh-CN" altLang="en-US" b="1">
                <a:ea typeface="隶书" pitchFamily="49" charset="-122"/>
              </a:rPr>
              <a:t>接通，灯灭。</a:t>
            </a:r>
            <a:endParaRPr lang="zh-CN" altLang="en-US"/>
          </a:p>
        </p:txBody>
      </p:sp>
      <p:sp>
        <p:nvSpPr>
          <p:cNvPr id="16" name="Text Box 14"/>
          <p:cNvSpPr txBox="1">
            <a:spLocks noChangeArrowheads="1"/>
          </p:cNvSpPr>
          <p:nvPr/>
        </p:nvSpPr>
        <p:spPr bwMode="auto">
          <a:xfrm>
            <a:off x="8077200" y="2627313"/>
            <a:ext cx="685800" cy="1563687"/>
          </a:xfrm>
          <a:prstGeom prst="rect">
            <a:avLst/>
          </a:prstGeom>
          <a:noFill/>
          <a:ln w="9525">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lIns="0" rIns="0">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ctr" eaLnBrk="1" hangingPunct="1"/>
            <a:r>
              <a:rPr lang="zh-CN" altLang="en-US" sz="3200" b="1">
                <a:ea typeface="隶书" pitchFamily="49" charset="-122"/>
              </a:rPr>
              <a:t>真值表</a:t>
            </a:r>
            <a:endParaRPr lang="zh-CN" altLang="en-US">
              <a:solidFill>
                <a:srgbClr val="CC3300"/>
              </a:solidFill>
            </a:endParaRPr>
          </a:p>
        </p:txBody>
      </p:sp>
      <p:sp>
        <p:nvSpPr>
          <p:cNvPr id="17" name="Text Box 15"/>
          <p:cNvSpPr txBox="1">
            <a:spLocks noChangeArrowheads="1"/>
          </p:cNvSpPr>
          <p:nvPr/>
        </p:nvSpPr>
        <p:spPr bwMode="auto">
          <a:xfrm>
            <a:off x="304800" y="2667000"/>
            <a:ext cx="533400" cy="1563688"/>
          </a:xfrm>
          <a:prstGeom prst="rect">
            <a:avLst/>
          </a:prstGeom>
          <a:noFill/>
          <a:ln w="9525">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lIns="0" rIns="0">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ctr" eaLnBrk="1" hangingPunct="1"/>
            <a:r>
              <a:rPr lang="zh-CN" altLang="en-US" sz="3200" b="1">
                <a:ea typeface="隶书" pitchFamily="49" charset="-122"/>
              </a:rPr>
              <a:t>功能表</a:t>
            </a:r>
            <a:endParaRPr lang="zh-CN" altLang="en-US">
              <a:solidFill>
                <a:srgbClr val="CC3300"/>
              </a:solidFill>
            </a:endParaRPr>
          </a:p>
        </p:txBody>
      </p:sp>
      <p:graphicFrame>
        <p:nvGraphicFramePr>
          <p:cNvPr id="19" name="Object 17"/>
          <p:cNvGraphicFramePr>
            <a:graphicFrameLocks noChangeAspect="1"/>
          </p:cNvGraphicFramePr>
          <p:nvPr/>
        </p:nvGraphicFramePr>
        <p:xfrm>
          <a:off x="1066800" y="2667000"/>
          <a:ext cx="3505200" cy="1668463"/>
        </p:xfrm>
        <a:graphic>
          <a:graphicData uri="http://schemas.openxmlformats.org/presentationml/2006/ole">
            <mc:AlternateContent xmlns:mc="http://schemas.openxmlformats.org/markup-compatibility/2006">
              <mc:Choice xmlns:v="urn:schemas-microsoft-com:vml" Requires="v">
                <p:oleObj spid="_x0000_s14404" name="Document" r:id="rId13" imgW="1809750" imgH="990600" progId="Word.Document.8">
                  <p:embed/>
                </p:oleObj>
              </mc:Choice>
              <mc:Fallback>
                <p:oleObj name="Document" r:id="rId13" imgW="1809750" imgH="990600" progId="Word.Document.8">
                  <p:embed/>
                  <p:pic>
                    <p:nvPicPr>
                      <p:cNvPr id="0" name="Object 17"/>
                      <p:cNvPicPr>
                        <a:picLocks noChangeAspect="1" noChangeArrowheads="1"/>
                      </p:cNvPicPr>
                      <p:nvPr/>
                    </p:nvPicPr>
                    <p:blipFill>
                      <a:blip r:embed="rId14">
                        <a:extLst>
                          <a:ext uri="{28A0092B-C50C-407E-A947-70E740481C1C}">
                            <a14:useLocalDpi xmlns:a14="http://schemas.microsoft.com/office/drawing/2010/main" val="0"/>
                          </a:ext>
                        </a:extLst>
                      </a:blip>
                      <a:srcRect l="5661" t="16644" r="15094" b="16782"/>
                      <a:stretch>
                        <a:fillRect/>
                      </a:stretch>
                    </p:blipFill>
                    <p:spPr bwMode="auto">
                      <a:xfrm>
                        <a:off x="1066800" y="2667000"/>
                        <a:ext cx="3505200" cy="1668463"/>
                      </a:xfrm>
                      <a:prstGeom prst="rect">
                        <a:avLst/>
                      </a:prstGeom>
                      <a:solidFill>
                        <a:srgbClr val="FFFFFF"/>
                      </a:solidFill>
                      <a:ln>
                        <a:noFill/>
                      </a:ln>
                      <a:effectLst/>
                      <a:extLst>
                        <a:ext uri="{91240B29-F687-4F45-9708-019B960494DF}">
                          <a14:hiddenLine xmlns:a14="http://schemas.microsoft.com/office/drawing/2010/main" w="9525">
                            <a:solidFill>
                              <a:srgbClr val="CC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ssolve">
                                      <p:cBhvr>
                                        <p:cTn id="7" dur="500"/>
                                        <p:tgtEl>
                                          <p:spTgt spid="10"/>
                                        </p:tgtEl>
                                      </p:cBhvr>
                                    </p:animEffect>
                                  </p:childTnLst>
                                </p:cTn>
                              </p:par>
                            </p:childTnLst>
                          </p:cTn>
                        </p:par>
                        <p:par>
                          <p:cTn id="8" fill="hold" nodeType="afterGroup">
                            <p:stCondLst>
                              <p:cond delay="500"/>
                            </p:stCondLst>
                            <p:childTnLst>
                              <p:par>
                                <p:cTn id="9" presetID="18" presetClass="entr" presetSubtype="3"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strips(upRight)">
                                      <p:cBhvr>
                                        <p:cTn id="11" dur="500"/>
                                        <p:tgtEl>
                                          <p:spTgt spid="12"/>
                                        </p:tgtEl>
                                      </p:cBhvr>
                                    </p:animEffect>
                                  </p:childTnLst>
                                </p:cTn>
                              </p:par>
                            </p:childTnLst>
                          </p:cTn>
                        </p:par>
                        <p:par>
                          <p:cTn id="12" fill="hold" nodeType="afterGroup">
                            <p:stCondLst>
                              <p:cond delay="1000"/>
                            </p:stCondLst>
                            <p:childTnLst>
                              <p:par>
                                <p:cTn id="13" presetID="18" presetClass="entr" presetSubtype="3" fill="hold" grpId="0"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strips(upRight)">
                                      <p:cBhvr>
                                        <p:cTn id="15" dur="500"/>
                                        <p:tgtEl>
                                          <p:spTgt spid="13"/>
                                        </p:tgtEl>
                                      </p:cBhvr>
                                    </p:animEffect>
                                  </p:childTnLst>
                                </p:cTn>
                              </p:par>
                            </p:childTnLst>
                          </p:cTn>
                        </p:par>
                        <p:par>
                          <p:cTn id="16" fill="hold" nodeType="afterGroup">
                            <p:stCondLst>
                              <p:cond delay="1500"/>
                            </p:stCondLst>
                            <p:childTnLst>
                              <p:par>
                                <p:cTn id="17" presetID="4" presetClass="entr" presetSubtype="32" fill="hold" grpId="0" nodeType="after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box(out)">
                                      <p:cBhvr>
                                        <p:cTn id="19" dur="500"/>
                                        <p:tgtEl>
                                          <p:spTgt spid="11"/>
                                        </p:tgtEl>
                                      </p:cBhvr>
                                    </p:animEffect>
                                  </p:childTnLst>
                                  <p:subTnLst>
                                    <p:audio>
                                      <p:cMediaNode>
                                        <p:cTn display="0" masterRel="sameClick">
                                          <p:stCondLst>
                                            <p:cond evt="begin" delay="0">
                                              <p:tn val="17"/>
                                            </p:cond>
                                          </p:stCondLst>
                                          <p:endCondLst>
                                            <p:cond evt="onStopAudio" delay="0">
                                              <p:tgtEl>
                                                <p:sldTgt/>
                                              </p:tgtEl>
                                            </p:cond>
                                          </p:endCondLst>
                                        </p:cTn>
                                        <p:tgtEl>
                                          <p:sndTgt r:embed="rId3" name="CAMERA.WAV"/>
                                        </p:tgtEl>
                                      </p:cMediaNode>
                                    </p:audio>
                                  </p:subTnLst>
                                </p:cTn>
                              </p:par>
                            </p:childTnLst>
                          </p:cTn>
                        </p:par>
                      </p:childTnLst>
                    </p:cTn>
                  </p:par>
                  <p:par>
                    <p:cTn id="20" fill="hold" nodeType="clickPar">
                      <p:stCondLst>
                        <p:cond delay="indefinite"/>
                      </p:stCondLst>
                      <p:childTnLst>
                        <p:par>
                          <p:cTn id="21" fill="hold" nodeType="withGroup">
                            <p:stCondLst>
                              <p:cond delay="0"/>
                            </p:stCondLst>
                            <p:childTnLst>
                              <p:par>
                                <p:cTn id="22" presetID="9" presetClass="entr" presetSubtype="0" fill="hold"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dissolve">
                                      <p:cBhvr>
                                        <p:cTn id="24" dur="500"/>
                                        <p:tgtEl>
                                          <p:spTgt spid="14"/>
                                        </p:tgtEl>
                                      </p:cBhvr>
                                    </p:animEffect>
                                  </p:childTnLst>
                                </p:cTn>
                              </p:par>
                            </p:childTnLst>
                          </p:cTn>
                        </p:par>
                        <p:par>
                          <p:cTn id="25" fill="hold" nodeType="afterGroup">
                            <p:stCondLst>
                              <p:cond delay="500"/>
                            </p:stCondLst>
                            <p:childTnLst>
                              <p:par>
                                <p:cTn id="26" presetID="4" presetClass="entr" presetSubtype="32" fill="hold" grpId="0" nodeType="after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box(out)">
                                      <p:cBhvr>
                                        <p:cTn id="28" dur="500"/>
                                        <p:tgtEl>
                                          <p:spTgt spid="15"/>
                                        </p:tgtEl>
                                      </p:cBhvr>
                                    </p:animEffect>
                                  </p:childTnLst>
                                  <p:subTnLst>
                                    <p:audio>
                                      <p:cMediaNode>
                                        <p:cTn display="0" masterRel="sameClick">
                                          <p:stCondLst>
                                            <p:cond evt="begin" delay="0">
                                              <p:tn val="26"/>
                                            </p:cond>
                                          </p:stCondLst>
                                          <p:endCondLst>
                                            <p:cond evt="onStopAudio" delay="0">
                                              <p:tgtEl>
                                                <p:sldTgt/>
                                              </p:tgtEl>
                                            </p:cond>
                                          </p:endCondLst>
                                        </p:cTn>
                                        <p:tgtEl>
                                          <p:sndTgt r:embed="rId3" name="CAMERA.WAV"/>
                                        </p:tgtEl>
                                      </p:cMediaNode>
                                    </p:audio>
                                  </p:subTnLst>
                                </p:cTn>
                              </p:par>
                            </p:childTnLst>
                          </p:cTn>
                        </p:par>
                      </p:childTnLst>
                    </p:cTn>
                  </p:par>
                  <p:par>
                    <p:cTn id="29" fill="hold" nodeType="clickPar">
                      <p:stCondLst>
                        <p:cond delay="indefinite"/>
                      </p:stCondLst>
                      <p:childTnLst>
                        <p:par>
                          <p:cTn id="30" fill="hold" nodeType="withGroup">
                            <p:stCondLst>
                              <p:cond delay="0"/>
                            </p:stCondLst>
                            <p:childTnLst>
                              <p:par>
                                <p:cTn id="31" presetID="4" presetClass="entr" presetSubtype="32" fill="hold" grpId="0" nodeType="click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box(out)">
                                      <p:cBhvr>
                                        <p:cTn id="33" dur="500"/>
                                        <p:tgtEl>
                                          <p:spTgt spid="17"/>
                                        </p:tgtEl>
                                      </p:cBhvr>
                                    </p:animEffect>
                                  </p:childTnLst>
                                  <p:subTnLst>
                                    <p:audio>
                                      <p:cMediaNode>
                                        <p:cTn display="0" masterRel="sameClick">
                                          <p:stCondLst>
                                            <p:cond evt="begin" delay="0">
                                              <p:tn val="31"/>
                                            </p:cond>
                                          </p:stCondLst>
                                          <p:endCondLst>
                                            <p:cond evt="onStopAudio" delay="0">
                                              <p:tgtEl>
                                                <p:sldTgt/>
                                              </p:tgtEl>
                                            </p:cond>
                                          </p:endCondLst>
                                        </p:cTn>
                                        <p:tgtEl>
                                          <p:sndTgt r:embed="rId3" name="CAMERA.WAV"/>
                                        </p:tgtEl>
                                      </p:cMediaNode>
                                    </p:audio>
                                  </p:subTnLst>
                                </p:cTn>
                              </p:par>
                            </p:childTnLst>
                          </p:cTn>
                        </p:par>
                        <p:par>
                          <p:cTn id="34" fill="hold" nodeType="afterGroup">
                            <p:stCondLst>
                              <p:cond delay="500"/>
                            </p:stCondLst>
                            <p:childTnLst>
                              <p:par>
                                <p:cTn id="35" presetID="9" presetClass="entr" presetSubtype="0" fill="hold" nodeType="after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dissolve">
                                      <p:cBhvr>
                                        <p:cTn id="37" dur="500"/>
                                        <p:tgtEl>
                                          <p:spTgt spid="1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32" fill="hold" grpId="0" nodeType="click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box(out)">
                                      <p:cBhvr>
                                        <p:cTn id="42" dur="500"/>
                                        <p:tgtEl>
                                          <p:spTgt spid="16"/>
                                        </p:tgtEl>
                                      </p:cBhvr>
                                    </p:animEffect>
                                  </p:childTnLst>
                                  <p:subTnLst>
                                    <p:audio>
                                      <p:cMediaNode>
                                        <p:cTn display="0" masterRel="sameClick">
                                          <p:stCondLst>
                                            <p:cond evt="begin" delay="0">
                                              <p:tn val="40"/>
                                            </p:cond>
                                          </p:stCondLst>
                                          <p:endCondLst>
                                            <p:cond evt="onStopAudio" delay="0">
                                              <p:tgtEl>
                                                <p:sldTgt/>
                                              </p:tgtEl>
                                            </p:cond>
                                          </p:endCondLst>
                                        </p:cTn>
                                        <p:tgtEl>
                                          <p:sndTgt r:embed="rId3" name="CAMERA.WAV"/>
                                        </p:tgtEl>
                                      </p:cMediaNode>
                                    </p:audio>
                                  </p:subTnLst>
                                </p:cTn>
                              </p:par>
                            </p:childTnLst>
                          </p:cTn>
                        </p:par>
                        <p:par>
                          <p:cTn id="43" fill="hold" nodeType="afterGroup">
                            <p:stCondLst>
                              <p:cond delay="500"/>
                            </p:stCondLst>
                            <p:childTnLst>
                              <p:par>
                                <p:cTn id="44" presetID="9" presetClass="entr" presetSubtype="0" fill="hold" nodeType="afterEffect">
                                  <p:stCondLst>
                                    <p:cond delay="0"/>
                                  </p:stCondLst>
                                  <p:childTnLst>
                                    <p:set>
                                      <p:cBhvr>
                                        <p:cTn id="45" dur="1" fill="hold">
                                          <p:stCondLst>
                                            <p:cond delay="0"/>
                                          </p:stCondLst>
                                        </p:cTn>
                                        <p:tgtEl>
                                          <p:spTgt spid="4"/>
                                        </p:tgtEl>
                                        <p:attrNameLst>
                                          <p:attrName>style.visibility</p:attrName>
                                        </p:attrNameLst>
                                      </p:cBhvr>
                                      <p:to>
                                        <p:strVal val="visible"/>
                                      </p:to>
                                    </p:set>
                                    <p:animEffect transition="in" filter="dissolve">
                                      <p:cBhvr>
                                        <p:cTn id="46" dur="500"/>
                                        <p:tgtEl>
                                          <p:spTgt spid="4"/>
                                        </p:tgtEl>
                                      </p:cBhvr>
                                    </p:animEffect>
                                  </p:childTnLst>
                                </p:cTn>
                              </p:par>
                            </p:childTnLst>
                          </p:cTn>
                        </p:par>
                        <p:par>
                          <p:cTn id="47" fill="hold" nodeType="afterGroup">
                            <p:stCondLst>
                              <p:cond delay="1000"/>
                            </p:stCondLst>
                            <p:childTnLst>
                              <p:par>
                                <p:cTn id="48" presetID="2" presetClass="entr" presetSubtype="2" fill="hold" nodeType="afterEffect">
                                  <p:stCondLst>
                                    <p:cond delay="0"/>
                                  </p:stCondLst>
                                  <p:childTnLst>
                                    <p:set>
                                      <p:cBhvr>
                                        <p:cTn id="49" dur="1" fill="hold">
                                          <p:stCondLst>
                                            <p:cond delay="0"/>
                                          </p:stCondLst>
                                        </p:cTn>
                                        <p:tgtEl>
                                          <p:spTgt spid="5"/>
                                        </p:tgtEl>
                                        <p:attrNameLst>
                                          <p:attrName>style.visibility</p:attrName>
                                        </p:attrNameLst>
                                      </p:cBhvr>
                                      <p:to>
                                        <p:strVal val="visible"/>
                                      </p:to>
                                    </p:set>
                                    <p:anim calcmode="lin" valueType="num">
                                      <p:cBhvr additive="base">
                                        <p:cTn id="50" dur="500" fill="hold"/>
                                        <p:tgtEl>
                                          <p:spTgt spid="5"/>
                                        </p:tgtEl>
                                        <p:attrNameLst>
                                          <p:attrName>ppt_x</p:attrName>
                                        </p:attrNameLst>
                                      </p:cBhvr>
                                      <p:tavLst>
                                        <p:tav tm="0">
                                          <p:val>
                                            <p:strVal val="1+#ppt_w/2"/>
                                          </p:val>
                                        </p:tav>
                                        <p:tav tm="100000">
                                          <p:val>
                                            <p:strVal val="#ppt_x"/>
                                          </p:val>
                                        </p:tav>
                                      </p:tavLst>
                                    </p:anim>
                                    <p:anim calcmode="lin" valueType="num">
                                      <p:cBhvr additive="base">
                                        <p:cTn id="51" dur="500" fill="hold"/>
                                        <p:tgtEl>
                                          <p:spTgt spid="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8"/>
                                            </p:cond>
                                          </p:stCondLst>
                                          <p:endCondLst>
                                            <p:cond evt="onStopAudio" delay="0">
                                              <p:tgtEl>
                                                <p:sldTgt/>
                                              </p:tgtEl>
                                            </p:cond>
                                          </p:endCondLst>
                                        </p:cTn>
                                        <p:tgtEl>
                                          <p:sndTgt r:embed="rId4" name="CARBRAK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autoUpdateAnimBg="0"/>
      <p:bldP spid="12" grpId="0" animBg="1"/>
      <p:bldP spid="13" grpId="0" animBg="1"/>
      <p:bldP spid="15" grpId="0" animBg="1" autoUpdateAnimBg="0"/>
      <p:bldP spid="16" grpId="0" animBg="1" autoUpdateAnimBg="0"/>
      <p:bldP spid="17" grpId="0" animBg="1"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日期占位符 3"/>
          <p:cNvSpPr>
            <a:spLocks noGrp="1"/>
          </p:cNvSpPr>
          <p:nvPr>
            <p:ph type="dt" sz="quarter" idx="10"/>
          </p:nvPr>
        </p:nvSpPr>
        <p:spPr/>
        <p:txBody>
          <a:bodyPr/>
          <a:lstStyle/>
          <a:p>
            <a:pPr>
              <a:defRPr/>
            </a:pPr>
            <a:fld id="{C6998DC5-76CA-4DF1-AA08-AC7FB833DA4F}" type="datetime1">
              <a:rPr lang="zh-CN" altLang="en-US"/>
              <a:pPr>
                <a:defRPr/>
              </a:pPr>
              <a:t>2021/9/21</a:t>
            </a:fld>
            <a:endParaRPr lang="en-US" altLang="zh-CN"/>
          </a:p>
        </p:txBody>
      </p:sp>
      <p:sp>
        <p:nvSpPr>
          <p:cNvPr id="9" name="灯片编号占位符 5"/>
          <p:cNvSpPr>
            <a:spLocks noGrp="1"/>
          </p:cNvSpPr>
          <p:nvPr>
            <p:ph type="sldNum" sz="quarter" idx="12"/>
          </p:nvPr>
        </p:nvSpPr>
        <p:spPr/>
        <p:txBody>
          <a:bodyPr/>
          <a:lstStyle/>
          <a:p>
            <a:pPr>
              <a:defRPr/>
            </a:pPr>
            <a:fld id="{137CF6B5-9ACD-4733-953E-9EDFDE932FA8}" type="slidenum">
              <a:rPr lang="en-US" altLang="zh-CN"/>
              <a:pPr>
                <a:defRPr/>
              </a:pPr>
              <a:t>13</a:t>
            </a:fld>
            <a:endParaRPr lang="en-US" altLang="zh-CN"/>
          </a:p>
        </p:txBody>
      </p:sp>
      <p:sp>
        <p:nvSpPr>
          <p:cNvPr id="15364" name="Rectangle 2"/>
          <p:cNvSpPr>
            <a:spLocks noGrp="1" noChangeArrowheads="1"/>
          </p:cNvSpPr>
          <p:nvPr>
            <p:ph type="body" idx="1"/>
          </p:nvPr>
        </p:nvSpPr>
        <p:spPr/>
        <p:txBody>
          <a:bodyPr/>
          <a:lstStyle/>
          <a:p>
            <a:pPr eaLnBrk="1" hangingPunct="1">
              <a:lnSpc>
                <a:spcPct val="90000"/>
              </a:lnSpc>
            </a:pPr>
            <a:r>
              <a:rPr lang="zh-CN" altLang="en-US" sz="2800" smtClean="0"/>
              <a:t>定义：设有</a:t>
            </a:r>
            <a:r>
              <a:rPr lang="en-US" altLang="zh-CN" sz="2800" smtClean="0"/>
              <a:t>n</a:t>
            </a:r>
            <a:r>
              <a:rPr lang="zh-CN" altLang="en-US" sz="2800" smtClean="0"/>
              <a:t>个逻辑变量</a:t>
            </a:r>
            <a:r>
              <a:rPr lang="en-US" altLang="zh-CN" sz="2800" smtClean="0"/>
              <a:t>A</a:t>
            </a:r>
            <a:r>
              <a:rPr lang="en-US" altLang="zh-CN" sz="2800" baseline="-25000" smtClean="0"/>
              <a:t>1</a:t>
            </a:r>
            <a:r>
              <a:rPr lang="en-US" altLang="zh-CN" sz="2800" smtClean="0"/>
              <a:t>,A</a:t>
            </a:r>
            <a:r>
              <a:rPr lang="en-US" altLang="zh-CN" sz="2800" baseline="-25000" smtClean="0"/>
              <a:t>2</a:t>
            </a:r>
            <a:r>
              <a:rPr lang="en-US" altLang="zh-CN" sz="2800" smtClean="0"/>
              <a:t>,</a:t>
            </a:r>
            <a:r>
              <a:rPr lang="en-US" altLang="zh-CN" sz="2800" baseline="30000" smtClean="0"/>
              <a:t>… …</a:t>
            </a:r>
            <a:r>
              <a:rPr lang="en-US" altLang="zh-CN" sz="2800" smtClean="0"/>
              <a:t>A</a:t>
            </a:r>
            <a:r>
              <a:rPr lang="en-US" altLang="zh-CN" sz="2800" baseline="-25000" smtClean="0"/>
              <a:t>n</a:t>
            </a:r>
            <a:r>
              <a:rPr lang="zh-CN" altLang="en-US" sz="2800" smtClean="0"/>
              <a:t>，则</a:t>
            </a:r>
          </a:p>
          <a:p>
            <a:pPr eaLnBrk="1" hangingPunct="1">
              <a:lnSpc>
                <a:spcPct val="90000"/>
              </a:lnSpc>
              <a:buFont typeface="Wingdings" pitchFamily="2" charset="2"/>
              <a:buNone/>
            </a:pPr>
            <a:r>
              <a:rPr lang="zh-CN" altLang="en-US" sz="2800" smtClean="0"/>
              <a:t>                代表</a:t>
            </a:r>
            <a:r>
              <a:rPr lang="en-US" altLang="zh-CN" sz="2800" smtClean="0"/>
              <a:t>A</a:t>
            </a:r>
            <a:r>
              <a:rPr lang="en-US" altLang="zh-CN" sz="2800" baseline="-25000" smtClean="0"/>
              <a:t>1</a:t>
            </a:r>
            <a:r>
              <a:rPr lang="en-US" altLang="zh-CN" sz="2800" smtClean="0"/>
              <a:t>,A</a:t>
            </a:r>
            <a:r>
              <a:rPr lang="en-US" altLang="zh-CN" sz="2800" baseline="-25000" smtClean="0"/>
              <a:t>2</a:t>
            </a:r>
            <a:r>
              <a:rPr lang="en-US" altLang="zh-CN" sz="2800" smtClean="0"/>
              <a:t>,</a:t>
            </a:r>
            <a:r>
              <a:rPr lang="en-US" altLang="zh-CN" sz="2800" baseline="30000" smtClean="0"/>
              <a:t>… …</a:t>
            </a:r>
            <a:r>
              <a:rPr lang="en-US" altLang="zh-CN" sz="2800" smtClean="0"/>
              <a:t>A</a:t>
            </a:r>
            <a:r>
              <a:rPr lang="en-US" altLang="zh-CN" sz="2800" baseline="-25000" smtClean="0"/>
              <a:t>n</a:t>
            </a:r>
            <a:r>
              <a:rPr lang="zh-CN" altLang="en-US" sz="2800" smtClean="0"/>
              <a:t>构成的逻辑函数，</a:t>
            </a:r>
          </a:p>
          <a:p>
            <a:pPr eaLnBrk="1" hangingPunct="1">
              <a:lnSpc>
                <a:spcPct val="90000"/>
              </a:lnSpc>
              <a:buFont typeface="Wingdings" pitchFamily="2" charset="2"/>
              <a:buNone/>
            </a:pPr>
            <a:r>
              <a:rPr lang="zh-CN" altLang="en-US" sz="2800" smtClean="0"/>
              <a:t>                的值取决于</a:t>
            </a:r>
            <a:r>
              <a:rPr lang="en-US" altLang="zh-CN" sz="2800" smtClean="0"/>
              <a:t>A</a:t>
            </a:r>
            <a:r>
              <a:rPr lang="en-US" altLang="zh-CN" sz="2800" baseline="-25000" smtClean="0"/>
              <a:t>1</a:t>
            </a:r>
            <a:r>
              <a:rPr lang="en-US" altLang="zh-CN" sz="2800" smtClean="0"/>
              <a:t>,A</a:t>
            </a:r>
            <a:r>
              <a:rPr lang="en-US" altLang="zh-CN" sz="2800" baseline="-25000" smtClean="0"/>
              <a:t>2</a:t>
            </a:r>
            <a:r>
              <a:rPr lang="en-US" altLang="zh-CN" sz="2800" smtClean="0"/>
              <a:t>,</a:t>
            </a:r>
            <a:r>
              <a:rPr lang="en-US" altLang="zh-CN" sz="2800" baseline="30000" smtClean="0"/>
              <a:t>… …</a:t>
            </a:r>
            <a:r>
              <a:rPr lang="en-US" altLang="zh-CN" sz="2800" smtClean="0"/>
              <a:t>A</a:t>
            </a:r>
            <a:r>
              <a:rPr lang="en-US" altLang="zh-CN" sz="2800" baseline="-25000" smtClean="0"/>
              <a:t>n</a:t>
            </a:r>
            <a:r>
              <a:rPr lang="zh-CN" altLang="en-US" sz="2800" smtClean="0"/>
              <a:t>的取值。</a:t>
            </a:r>
          </a:p>
          <a:p>
            <a:pPr eaLnBrk="1" hangingPunct="1">
              <a:lnSpc>
                <a:spcPct val="90000"/>
              </a:lnSpc>
            </a:pPr>
            <a:r>
              <a:rPr lang="zh-CN" altLang="en-US" sz="2800" smtClean="0"/>
              <a:t>特点</a:t>
            </a:r>
          </a:p>
          <a:p>
            <a:pPr lvl="1" eaLnBrk="1" hangingPunct="1">
              <a:lnSpc>
                <a:spcPct val="90000"/>
              </a:lnSpc>
            </a:pPr>
            <a:r>
              <a:rPr lang="zh-CN" altLang="en-US" sz="2400" smtClean="0"/>
              <a:t>逻辑变量和逻辑函数的取值只有“</a:t>
            </a:r>
            <a:r>
              <a:rPr lang="en-US" altLang="zh-CN" sz="2400" smtClean="0"/>
              <a:t>0”</a:t>
            </a:r>
            <a:r>
              <a:rPr lang="zh-CN" altLang="en-US" sz="2400" smtClean="0"/>
              <a:t>和“</a:t>
            </a:r>
            <a:r>
              <a:rPr lang="en-US" altLang="zh-CN" sz="2400" smtClean="0"/>
              <a:t>1”</a:t>
            </a:r>
            <a:r>
              <a:rPr lang="zh-CN" altLang="en-US" sz="2400" smtClean="0"/>
              <a:t>两种</a:t>
            </a:r>
          </a:p>
          <a:p>
            <a:pPr lvl="1" eaLnBrk="1" hangingPunct="1">
              <a:lnSpc>
                <a:spcPct val="90000"/>
              </a:lnSpc>
            </a:pPr>
            <a:r>
              <a:rPr lang="zh-CN" altLang="en-US" sz="2400" smtClean="0"/>
              <a:t>逻辑函数中各变量之间的运算关系只能是“与”、“或”、“非”三种基本逻辑运算</a:t>
            </a:r>
          </a:p>
          <a:p>
            <a:pPr eaLnBrk="1" hangingPunct="1">
              <a:lnSpc>
                <a:spcPct val="90000"/>
              </a:lnSpc>
            </a:pPr>
            <a:r>
              <a:rPr lang="zh-CN" altLang="en-US" sz="2800" smtClean="0"/>
              <a:t>逻辑函数的相等</a:t>
            </a:r>
          </a:p>
          <a:p>
            <a:pPr lvl="1" eaLnBrk="1" hangingPunct="1">
              <a:lnSpc>
                <a:spcPct val="90000"/>
              </a:lnSpc>
            </a:pPr>
            <a:r>
              <a:rPr lang="zh-CN" altLang="en-US" sz="2400" smtClean="0"/>
              <a:t>设有两个逻辑函数：</a:t>
            </a:r>
          </a:p>
          <a:p>
            <a:pPr lvl="1" eaLnBrk="1" hangingPunct="1">
              <a:lnSpc>
                <a:spcPct val="90000"/>
              </a:lnSpc>
              <a:buFont typeface="Wingdings" pitchFamily="2" charset="2"/>
              <a:buNone/>
            </a:pPr>
            <a:r>
              <a:rPr lang="zh-CN" altLang="en-US" sz="2400" smtClean="0"/>
              <a:t>   若对应与逻辑变量</a:t>
            </a:r>
            <a:r>
              <a:rPr lang="en-US" altLang="zh-CN" sz="2400" smtClean="0"/>
              <a:t>A</a:t>
            </a:r>
            <a:r>
              <a:rPr lang="en-US" altLang="zh-CN" sz="2400" baseline="-25000" smtClean="0"/>
              <a:t>1</a:t>
            </a:r>
            <a:r>
              <a:rPr lang="en-US" altLang="zh-CN" sz="2400" smtClean="0"/>
              <a:t>,A</a:t>
            </a:r>
            <a:r>
              <a:rPr lang="en-US" altLang="zh-CN" sz="2400" baseline="-25000" smtClean="0"/>
              <a:t>2</a:t>
            </a:r>
            <a:r>
              <a:rPr lang="en-US" altLang="zh-CN" sz="2400" smtClean="0"/>
              <a:t>,</a:t>
            </a:r>
            <a:r>
              <a:rPr lang="en-US" altLang="zh-CN" sz="2400" baseline="30000" smtClean="0"/>
              <a:t>… …</a:t>
            </a:r>
            <a:r>
              <a:rPr lang="en-US" altLang="zh-CN" sz="2400" smtClean="0"/>
              <a:t>A</a:t>
            </a:r>
            <a:r>
              <a:rPr lang="en-US" altLang="zh-CN" sz="2400" baseline="-25000" smtClean="0"/>
              <a:t>n</a:t>
            </a:r>
            <a:r>
              <a:rPr lang="zh-CN" altLang="en-US" sz="2400" smtClean="0"/>
              <a:t>的任何一组取值，</a:t>
            </a:r>
            <a:r>
              <a:rPr lang="en-US" altLang="zh-CN" sz="2400" smtClean="0"/>
              <a:t>F</a:t>
            </a:r>
            <a:r>
              <a:rPr lang="en-US" altLang="zh-CN" sz="2400" baseline="-25000" smtClean="0"/>
              <a:t>1</a:t>
            </a:r>
            <a:r>
              <a:rPr lang="zh-CN" altLang="en-US" sz="2400" smtClean="0"/>
              <a:t>和</a:t>
            </a:r>
            <a:r>
              <a:rPr lang="en-US" altLang="zh-CN" sz="2400" smtClean="0"/>
              <a:t>F</a:t>
            </a:r>
            <a:r>
              <a:rPr lang="en-US" altLang="zh-CN" sz="2400" baseline="-25000" smtClean="0"/>
              <a:t>2</a:t>
            </a:r>
            <a:r>
              <a:rPr lang="zh-CN" altLang="en-US" sz="2400" smtClean="0"/>
              <a:t>的值都相同，则称函数</a:t>
            </a:r>
            <a:r>
              <a:rPr lang="en-US" altLang="zh-CN" sz="2400" smtClean="0"/>
              <a:t>F</a:t>
            </a:r>
            <a:r>
              <a:rPr lang="en-US" altLang="zh-CN" sz="2400" baseline="-25000" smtClean="0"/>
              <a:t>1</a:t>
            </a:r>
            <a:r>
              <a:rPr lang="zh-CN" altLang="en-US" sz="2400" smtClean="0"/>
              <a:t>和</a:t>
            </a:r>
            <a:r>
              <a:rPr lang="en-US" altLang="zh-CN" sz="2400" smtClean="0"/>
              <a:t>F</a:t>
            </a:r>
            <a:r>
              <a:rPr lang="en-US" altLang="zh-CN" sz="2400" baseline="-25000" smtClean="0"/>
              <a:t>2</a:t>
            </a:r>
            <a:r>
              <a:rPr lang="zh-CN" altLang="en-US" sz="2400" smtClean="0"/>
              <a:t>相等，记作</a:t>
            </a:r>
            <a:r>
              <a:rPr lang="en-US" altLang="zh-CN" sz="2400" smtClean="0"/>
              <a:t>F</a:t>
            </a:r>
            <a:r>
              <a:rPr lang="en-US" altLang="zh-CN" sz="2400" baseline="-25000" smtClean="0"/>
              <a:t>1</a:t>
            </a:r>
            <a:r>
              <a:rPr lang="en-US" altLang="zh-CN" sz="2400" smtClean="0"/>
              <a:t>=F</a:t>
            </a:r>
            <a:r>
              <a:rPr lang="en-US" altLang="zh-CN" sz="2400" baseline="-25000" smtClean="0"/>
              <a:t>2</a:t>
            </a:r>
          </a:p>
          <a:p>
            <a:pPr lvl="1" eaLnBrk="1" hangingPunct="1">
              <a:lnSpc>
                <a:spcPct val="90000"/>
              </a:lnSpc>
            </a:pPr>
            <a:r>
              <a:rPr lang="zh-CN" altLang="en-US" sz="2400" smtClean="0"/>
              <a:t>如果</a:t>
            </a:r>
            <a:r>
              <a:rPr lang="en-US" altLang="zh-CN" sz="2400" smtClean="0"/>
              <a:t>F</a:t>
            </a:r>
            <a:r>
              <a:rPr lang="en-US" altLang="zh-CN" sz="2400" baseline="-25000" smtClean="0"/>
              <a:t>1</a:t>
            </a:r>
            <a:r>
              <a:rPr lang="zh-CN" altLang="en-US" sz="2400" smtClean="0"/>
              <a:t>和</a:t>
            </a:r>
            <a:r>
              <a:rPr lang="en-US" altLang="zh-CN" sz="2400" smtClean="0"/>
              <a:t>F</a:t>
            </a:r>
            <a:r>
              <a:rPr lang="en-US" altLang="zh-CN" sz="2400" baseline="-25000" smtClean="0"/>
              <a:t>2</a:t>
            </a:r>
            <a:r>
              <a:rPr lang="zh-CN" altLang="en-US" sz="2400" smtClean="0"/>
              <a:t>有相同的真值表，则</a:t>
            </a:r>
            <a:r>
              <a:rPr lang="en-US" altLang="zh-CN" sz="2400" smtClean="0"/>
              <a:t>F</a:t>
            </a:r>
            <a:r>
              <a:rPr lang="en-US" altLang="zh-CN" sz="2400" baseline="-25000" smtClean="0"/>
              <a:t>1</a:t>
            </a:r>
            <a:r>
              <a:rPr lang="en-US" altLang="zh-CN" sz="2400" smtClean="0"/>
              <a:t>=F</a:t>
            </a:r>
            <a:r>
              <a:rPr lang="en-US" altLang="zh-CN" sz="2400" baseline="-25000" smtClean="0"/>
              <a:t>2</a:t>
            </a:r>
          </a:p>
          <a:p>
            <a:pPr lvl="1" eaLnBrk="1" hangingPunct="1">
              <a:lnSpc>
                <a:spcPct val="90000"/>
              </a:lnSpc>
            </a:pPr>
            <a:r>
              <a:rPr lang="zh-CN" altLang="en-US" sz="2400" smtClean="0"/>
              <a:t>如果</a:t>
            </a:r>
            <a:r>
              <a:rPr lang="en-US" altLang="zh-CN" sz="2400" smtClean="0"/>
              <a:t>F</a:t>
            </a:r>
            <a:r>
              <a:rPr lang="en-US" altLang="zh-CN" sz="2400" baseline="-25000" smtClean="0"/>
              <a:t>1</a:t>
            </a:r>
            <a:r>
              <a:rPr lang="en-US" altLang="zh-CN" sz="2400" smtClean="0"/>
              <a:t>=F</a:t>
            </a:r>
            <a:r>
              <a:rPr lang="en-US" altLang="zh-CN" sz="2400" baseline="-25000" smtClean="0"/>
              <a:t>2</a:t>
            </a:r>
            <a:r>
              <a:rPr lang="zh-CN" altLang="en-US" sz="2400" smtClean="0"/>
              <a:t>，则它们的真值表一定相同</a:t>
            </a:r>
            <a:endParaRPr lang="zh-CN" altLang="en-US" sz="2400" baseline="-25000" smtClean="0"/>
          </a:p>
        </p:txBody>
      </p:sp>
      <p:sp>
        <p:nvSpPr>
          <p:cNvPr id="15365" name="Rectangle 3"/>
          <p:cNvSpPr>
            <a:spLocks noGrp="1" noChangeArrowheads="1"/>
          </p:cNvSpPr>
          <p:nvPr>
            <p:ph type="title"/>
          </p:nvPr>
        </p:nvSpPr>
        <p:spPr>
          <a:xfrm>
            <a:off x="1274763" y="533400"/>
            <a:ext cx="7793037" cy="609600"/>
          </a:xfrm>
        </p:spPr>
        <p:txBody>
          <a:bodyPr/>
          <a:lstStyle/>
          <a:p>
            <a:pPr eaLnBrk="1" hangingPunct="1"/>
            <a:r>
              <a:rPr lang="zh-CN" altLang="en-US" smtClean="0"/>
              <a:t>逻辑函数</a:t>
            </a:r>
          </a:p>
        </p:txBody>
      </p:sp>
      <p:graphicFrame>
        <p:nvGraphicFramePr>
          <p:cNvPr id="15366" name="Object 29"/>
          <p:cNvGraphicFramePr>
            <a:graphicFrameLocks noChangeAspect="1"/>
          </p:cNvGraphicFramePr>
          <p:nvPr/>
        </p:nvGraphicFramePr>
        <p:xfrm>
          <a:off x="990600" y="1841500"/>
          <a:ext cx="1371600" cy="520700"/>
        </p:xfrm>
        <a:graphic>
          <a:graphicData uri="http://schemas.openxmlformats.org/presentationml/2006/ole">
            <mc:AlternateContent xmlns:mc="http://schemas.openxmlformats.org/markup-compatibility/2006">
              <mc:Choice xmlns:v="urn:schemas-microsoft-com:vml" Requires="v">
                <p:oleObj spid="_x0000_s15418" name="公式" r:id="rId3" imgW="634725" imgH="241195" progId="Equation.3">
                  <p:embed/>
                </p:oleObj>
              </mc:Choice>
              <mc:Fallback>
                <p:oleObj name="公式" r:id="rId3" imgW="634725" imgH="241195" progId="Equation.3">
                  <p:embed/>
                  <p:pic>
                    <p:nvPicPr>
                      <p:cNvPr id="0" name="Object 2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600" y="1841500"/>
                        <a:ext cx="1371600"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67" name="Object 32"/>
          <p:cNvGraphicFramePr>
            <a:graphicFrameLocks noChangeAspect="1"/>
          </p:cNvGraphicFramePr>
          <p:nvPr/>
        </p:nvGraphicFramePr>
        <p:xfrm>
          <a:off x="3962400" y="4826000"/>
          <a:ext cx="2032000" cy="508000"/>
        </p:xfrm>
        <a:graphic>
          <a:graphicData uri="http://schemas.openxmlformats.org/presentationml/2006/ole">
            <mc:AlternateContent xmlns:mc="http://schemas.openxmlformats.org/markup-compatibility/2006">
              <mc:Choice xmlns:v="urn:schemas-microsoft-com:vml" Requires="v">
                <p:oleObj spid="_x0000_s15419" name="公式" r:id="rId5" imgW="965200" imgH="241300" progId="Equation.3">
                  <p:embed/>
                </p:oleObj>
              </mc:Choice>
              <mc:Fallback>
                <p:oleObj name="公式" r:id="rId5" imgW="965200" imgH="241300" progId="Equation.3">
                  <p:embed/>
                  <p:pic>
                    <p:nvPicPr>
                      <p:cNvPr id="0" name="Object 3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62400" y="4826000"/>
                        <a:ext cx="2032000"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68" name="Object 33"/>
          <p:cNvGraphicFramePr>
            <a:graphicFrameLocks noChangeAspect="1"/>
          </p:cNvGraphicFramePr>
          <p:nvPr/>
        </p:nvGraphicFramePr>
        <p:xfrm>
          <a:off x="6448425" y="4826000"/>
          <a:ext cx="2085975" cy="508000"/>
        </p:xfrm>
        <a:graphic>
          <a:graphicData uri="http://schemas.openxmlformats.org/presentationml/2006/ole">
            <mc:AlternateContent xmlns:mc="http://schemas.openxmlformats.org/markup-compatibility/2006">
              <mc:Choice xmlns:v="urn:schemas-microsoft-com:vml" Requires="v">
                <p:oleObj spid="_x0000_s15420" name="公式" r:id="rId7" imgW="990170" imgH="241195" progId="Equation.3">
                  <p:embed/>
                </p:oleObj>
              </mc:Choice>
              <mc:Fallback>
                <p:oleObj name="公式" r:id="rId7" imgW="990170" imgH="241195" progId="Equation.3">
                  <p:embed/>
                  <p:pic>
                    <p:nvPicPr>
                      <p:cNvPr id="0" name="Object 3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448425" y="4826000"/>
                        <a:ext cx="2085975"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69" name="Object 34"/>
          <p:cNvGraphicFramePr>
            <a:graphicFrameLocks noChangeAspect="1"/>
          </p:cNvGraphicFramePr>
          <p:nvPr/>
        </p:nvGraphicFramePr>
        <p:xfrm>
          <a:off x="990600" y="2298700"/>
          <a:ext cx="1371600" cy="520700"/>
        </p:xfrm>
        <a:graphic>
          <a:graphicData uri="http://schemas.openxmlformats.org/presentationml/2006/ole">
            <mc:AlternateContent xmlns:mc="http://schemas.openxmlformats.org/markup-compatibility/2006">
              <mc:Choice xmlns:v="urn:schemas-microsoft-com:vml" Requires="v">
                <p:oleObj spid="_x0000_s15421" name="公式" r:id="rId9" imgW="634725" imgH="241195" progId="Equation.3">
                  <p:embed/>
                </p:oleObj>
              </mc:Choice>
              <mc:Fallback>
                <p:oleObj name="公式" r:id="rId9" imgW="634725" imgH="241195" progId="Equation.3">
                  <p:embed/>
                  <p:pic>
                    <p:nvPicPr>
                      <p:cNvPr id="0" name="Object 3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600" y="2298700"/>
                        <a:ext cx="1371600"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rand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46294597-C925-46F5-A126-73B19F9A9A7B}" type="datetime1">
              <a:rPr lang="zh-CN" altLang="en-US"/>
              <a:pPr>
                <a:defRPr/>
              </a:pPr>
              <a:t>2021/9/21</a:t>
            </a:fld>
            <a:endParaRPr lang="en-US" altLang="zh-CN"/>
          </a:p>
        </p:txBody>
      </p:sp>
      <p:sp>
        <p:nvSpPr>
          <p:cNvPr id="5" name="灯片编号占位符 5"/>
          <p:cNvSpPr>
            <a:spLocks noGrp="1"/>
          </p:cNvSpPr>
          <p:nvPr>
            <p:ph type="sldNum" sz="quarter" idx="12"/>
          </p:nvPr>
        </p:nvSpPr>
        <p:spPr/>
        <p:txBody>
          <a:bodyPr/>
          <a:lstStyle/>
          <a:p>
            <a:pPr>
              <a:defRPr/>
            </a:pPr>
            <a:fld id="{629F4ED4-EB94-4B36-9031-94B4BE3108DF}" type="slidenum">
              <a:rPr lang="en-US" altLang="zh-CN"/>
              <a:pPr>
                <a:defRPr/>
              </a:pPr>
              <a:t>14</a:t>
            </a:fld>
            <a:endParaRPr lang="en-US" altLang="zh-CN"/>
          </a:p>
        </p:txBody>
      </p:sp>
      <p:sp>
        <p:nvSpPr>
          <p:cNvPr id="16388" name="Rectangle 2"/>
          <p:cNvSpPr>
            <a:spLocks noGrp="1" noChangeArrowheads="1"/>
          </p:cNvSpPr>
          <p:nvPr>
            <p:ph type="body" idx="1"/>
          </p:nvPr>
        </p:nvSpPr>
        <p:spPr/>
        <p:txBody>
          <a:bodyPr/>
          <a:lstStyle/>
          <a:p>
            <a:pPr eaLnBrk="1" hangingPunct="1"/>
            <a:r>
              <a:rPr lang="zh-CN" altLang="en-US" smtClean="0"/>
              <a:t>逻辑代数的公理和基本定理</a:t>
            </a:r>
          </a:p>
          <a:p>
            <a:pPr eaLnBrk="1" hangingPunct="1"/>
            <a:r>
              <a:rPr lang="zh-CN" altLang="en-US" smtClean="0"/>
              <a:t>逻辑代数的重要规则</a:t>
            </a:r>
          </a:p>
          <a:p>
            <a:pPr eaLnBrk="1" hangingPunct="1"/>
            <a:r>
              <a:rPr lang="zh-CN" altLang="en-US" smtClean="0"/>
              <a:t>复合逻辑</a:t>
            </a:r>
          </a:p>
        </p:txBody>
      </p:sp>
      <p:sp>
        <p:nvSpPr>
          <p:cNvPr id="16389" name="Rectangle 3"/>
          <p:cNvSpPr>
            <a:spLocks noGrp="1" noChangeArrowheads="1"/>
          </p:cNvSpPr>
          <p:nvPr>
            <p:ph type="title"/>
          </p:nvPr>
        </p:nvSpPr>
        <p:spPr>
          <a:xfrm>
            <a:off x="1274763" y="533400"/>
            <a:ext cx="7793037" cy="609600"/>
          </a:xfrm>
        </p:spPr>
        <p:txBody>
          <a:bodyPr/>
          <a:lstStyle/>
          <a:p>
            <a:pPr eaLnBrk="1" hangingPunct="1"/>
            <a:r>
              <a:rPr lang="en-US" altLang="zh-CN" sz="4000" smtClean="0"/>
              <a:t>2.2 </a:t>
            </a:r>
            <a:r>
              <a:rPr lang="zh-CN" altLang="en-US" sz="4000" smtClean="0"/>
              <a:t>逻辑代数的公理、定理及规则</a:t>
            </a:r>
          </a:p>
        </p:txBody>
      </p:sp>
    </p:spTree>
  </p:cSld>
  <p:clrMapOvr>
    <a:masterClrMapping/>
  </p:clrMapOvr>
  <p:transition>
    <p:rand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quarter" idx="10"/>
          </p:nvPr>
        </p:nvSpPr>
        <p:spPr/>
        <p:txBody>
          <a:bodyPr/>
          <a:lstStyle/>
          <a:p>
            <a:pPr>
              <a:defRPr/>
            </a:pPr>
            <a:fld id="{20297B4F-3F7F-485F-A475-D6DA60C8581A}" type="datetime1">
              <a:rPr lang="zh-CN" altLang="en-US"/>
              <a:pPr>
                <a:defRPr/>
              </a:pPr>
              <a:t>2021/9/21</a:t>
            </a:fld>
            <a:endParaRPr lang="en-US" altLang="zh-CN"/>
          </a:p>
        </p:txBody>
      </p:sp>
      <p:sp>
        <p:nvSpPr>
          <p:cNvPr id="7" name="灯片编号占位符 5"/>
          <p:cNvSpPr>
            <a:spLocks noGrp="1"/>
          </p:cNvSpPr>
          <p:nvPr>
            <p:ph type="sldNum" sz="quarter" idx="12"/>
          </p:nvPr>
        </p:nvSpPr>
        <p:spPr/>
        <p:txBody>
          <a:bodyPr/>
          <a:lstStyle/>
          <a:p>
            <a:pPr>
              <a:defRPr/>
            </a:pPr>
            <a:fld id="{9E096223-5104-46EC-B09F-A92BD2599EDC}" type="slidenum">
              <a:rPr lang="en-US" altLang="zh-CN"/>
              <a:pPr>
                <a:defRPr/>
              </a:pPr>
              <a:t>15</a:t>
            </a:fld>
            <a:endParaRPr lang="en-US" altLang="zh-CN"/>
          </a:p>
        </p:txBody>
      </p:sp>
      <p:sp>
        <p:nvSpPr>
          <p:cNvPr id="17412" name="Rectangle 2"/>
          <p:cNvSpPr>
            <a:spLocks noGrp="1" noChangeArrowheads="1"/>
          </p:cNvSpPr>
          <p:nvPr>
            <p:ph type="body" idx="1"/>
          </p:nvPr>
        </p:nvSpPr>
        <p:spPr>
          <a:xfrm>
            <a:off x="457200" y="1371600"/>
            <a:ext cx="8686800" cy="4876800"/>
          </a:xfrm>
        </p:spPr>
        <p:txBody>
          <a:bodyPr/>
          <a:lstStyle/>
          <a:p>
            <a:pPr eaLnBrk="1" hangingPunct="1">
              <a:lnSpc>
                <a:spcPct val="90000"/>
              </a:lnSpc>
            </a:pPr>
            <a:r>
              <a:rPr lang="zh-CN" altLang="en-US" sz="2800" dirty="0" smtClean="0"/>
              <a:t>公理系统</a:t>
            </a:r>
          </a:p>
          <a:p>
            <a:pPr lvl="1" eaLnBrk="1" hangingPunct="1">
              <a:lnSpc>
                <a:spcPct val="90000"/>
              </a:lnSpc>
            </a:pPr>
            <a:r>
              <a:rPr lang="zh-CN" altLang="en-US" sz="2400" dirty="0" smtClean="0"/>
              <a:t>公理</a:t>
            </a:r>
            <a:r>
              <a:rPr lang="en-US" altLang="zh-CN" sz="2400" dirty="0" smtClean="0"/>
              <a:t>1</a:t>
            </a:r>
            <a:r>
              <a:rPr lang="zh-CN" altLang="en-US" sz="2400" dirty="0" smtClean="0"/>
              <a:t>，交换律：</a:t>
            </a:r>
            <a:r>
              <a:rPr lang="en-US" altLang="zh-CN" sz="2400" dirty="0" smtClean="0"/>
              <a:t>A+B=B+A                   A·B=B·A</a:t>
            </a:r>
          </a:p>
          <a:p>
            <a:pPr lvl="1" eaLnBrk="1" hangingPunct="1">
              <a:lnSpc>
                <a:spcPct val="90000"/>
              </a:lnSpc>
            </a:pPr>
            <a:r>
              <a:rPr lang="zh-CN" altLang="en-US" sz="2400" dirty="0" smtClean="0"/>
              <a:t>公理</a:t>
            </a:r>
            <a:r>
              <a:rPr lang="en-US" altLang="zh-CN" sz="2400" dirty="0" smtClean="0"/>
              <a:t>2</a:t>
            </a:r>
            <a:r>
              <a:rPr lang="zh-CN" altLang="en-US" sz="2400" dirty="0" smtClean="0"/>
              <a:t>，结合律：</a:t>
            </a:r>
            <a:r>
              <a:rPr lang="en-US" altLang="zh-CN" sz="2400" dirty="0" smtClean="0"/>
              <a:t>(A+B)+C=A+(B+C)    (A·B)·C=A·(B·C)</a:t>
            </a:r>
          </a:p>
          <a:p>
            <a:pPr lvl="1" eaLnBrk="1" hangingPunct="1">
              <a:lnSpc>
                <a:spcPct val="90000"/>
              </a:lnSpc>
            </a:pPr>
            <a:r>
              <a:rPr lang="zh-CN" altLang="en-US" sz="2400" dirty="0" smtClean="0"/>
              <a:t>公理</a:t>
            </a:r>
            <a:r>
              <a:rPr lang="en-US" altLang="zh-CN" sz="2400" dirty="0" smtClean="0"/>
              <a:t>3</a:t>
            </a:r>
            <a:r>
              <a:rPr lang="zh-CN" altLang="en-US" sz="2400" dirty="0" smtClean="0"/>
              <a:t>，分配律：</a:t>
            </a:r>
            <a:r>
              <a:rPr lang="en-US" altLang="zh-CN" sz="2400" dirty="0" smtClean="0">
                <a:solidFill>
                  <a:schemeClr val="hlink"/>
                </a:solidFill>
              </a:rPr>
              <a:t>A+(B·C)=(A+B)·(A+C)</a:t>
            </a:r>
          </a:p>
          <a:p>
            <a:pPr lvl="1" eaLnBrk="1" hangingPunct="1">
              <a:lnSpc>
                <a:spcPct val="90000"/>
              </a:lnSpc>
              <a:buFont typeface="Wingdings" pitchFamily="2" charset="2"/>
              <a:buNone/>
            </a:pPr>
            <a:r>
              <a:rPr lang="en-US" altLang="zh-CN" sz="2400" dirty="0" smtClean="0"/>
              <a:t>                           A·(B+C)=A·B+A·C</a:t>
            </a:r>
          </a:p>
          <a:p>
            <a:pPr lvl="1" eaLnBrk="1" hangingPunct="1">
              <a:lnSpc>
                <a:spcPct val="90000"/>
              </a:lnSpc>
            </a:pPr>
            <a:r>
              <a:rPr lang="zh-CN" altLang="en-US" sz="2400" dirty="0" smtClean="0"/>
              <a:t>公理</a:t>
            </a:r>
            <a:r>
              <a:rPr lang="en-US" altLang="zh-CN" sz="2400" dirty="0" smtClean="0"/>
              <a:t>4</a:t>
            </a:r>
            <a:r>
              <a:rPr lang="zh-CN" altLang="en-US" sz="2400" dirty="0" smtClean="0"/>
              <a:t>，  </a:t>
            </a:r>
            <a:r>
              <a:rPr lang="en-US" altLang="zh-CN" sz="2400" dirty="0" smtClean="0"/>
              <a:t>0-1</a:t>
            </a:r>
            <a:r>
              <a:rPr lang="zh-CN" altLang="en-US" sz="2400" dirty="0" smtClean="0"/>
              <a:t>律：</a:t>
            </a:r>
            <a:r>
              <a:rPr lang="en-US" altLang="zh-CN" sz="2400" dirty="0" smtClean="0"/>
              <a:t>A+0=A    A·1=A</a:t>
            </a:r>
          </a:p>
          <a:p>
            <a:pPr lvl="1" eaLnBrk="1" hangingPunct="1">
              <a:lnSpc>
                <a:spcPct val="90000"/>
              </a:lnSpc>
              <a:buFont typeface="Wingdings" pitchFamily="2" charset="2"/>
              <a:buNone/>
            </a:pPr>
            <a:r>
              <a:rPr lang="en-US" altLang="zh-CN" sz="2400" dirty="0" smtClean="0"/>
              <a:t>                           A+1=1    A·0=0</a:t>
            </a:r>
          </a:p>
          <a:p>
            <a:pPr lvl="1" eaLnBrk="1" hangingPunct="1">
              <a:lnSpc>
                <a:spcPct val="90000"/>
              </a:lnSpc>
            </a:pPr>
            <a:r>
              <a:rPr lang="zh-CN" altLang="en-US" sz="2400" dirty="0" smtClean="0"/>
              <a:t>公理</a:t>
            </a:r>
            <a:r>
              <a:rPr lang="en-US" altLang="zh-CN" sz="2400" dirty="0" smtClean="0"/>
              <a:t>5</a:t>
            </a:r>
            <a:r>
              <a:rPr lang="zh-CN" altLang="en-US" sz="2400" dirty="0" smtClean="0"/>
              <a:t>，互补律：</a:t>
            </a:r>
            <a:r>
              <a:rPr lang="en-US" altLang="zh-CN" sz="2400" dirty="0" smtClean="0"/>
              <a:t>A +</a:t>
            </a:r>
            <a:r>
              <a:rPr lang="en-US" altLang="zh-CN" sz="2400" dirty="0" smtClean="0">
                <a:sym typeface="Symbol"/>
              </a:rPr>
              <a:t></a:t>
            </a:r>
            <a:r>
              <a:rPr lang="en-US" altLang="zh-CN" sz="2400" dirty="0" smtClean="0"/>
              <a:t>A=1    </a:t>
            </a:r>
            <a:r>
              <a:rPr lang="en-US" altLang="zh-CN" sz="2400" dirty="0" smtClean="0">
                <a:sym typeface="Symbol"/>
              </a:rPr>
              <a:t></a:t>
            </a:r>
            <a:r>
              <a:rPr lang="en-US" altLang="zh-CN" sz="2400" dirty="0" smtClean="0"/>
              <a:t>A·A=0</a:t>
            </a:r>
          </a:p>
          <a:p>
            <a:pPr lvl="1" eaLnBrk="1" hangingPunct="1">
              <a:lnSpc>
                <a:spcPct val="90000"/>
              </a:lnSpc>
            </a:pPr>
            <a:r>
              <a:rPr lang="zh-CN" altLang="en-US" sz="2400" dirty="0" smtClean="0"/>
              <a:t>公理系统满足：</a:t>
            </a:r>
          </a:p>
          <a:p>
            <a:pPr lvl="2" eaLnBrk="1" hangingPunct="1">
              <a:lnSpc>
                <a:spcPct val="90000"/>
              </a:lnSpc>
            </a:pPr>
            <a:r>
              <a:rPr lang="zh-CN" altLang="en-US" sz="2000" dirty="0" smtClean="0"/>
              <a:t>一致性：公理系统内各条公理之间不应当出现矛盾</a:t>
            </a:r>
          </a:p>
          <a:p>
            <a:pPr lvl="2" eaLnBrk="1" hangingPunct="1">
              <a:lnSpc>
                <a:spcPct val="90000"/>
              </a:lnSpc>
            </a:pPr>
            <a:r>
              <a:rPr lang="zh-CN" altLang="en-US" sz="2000" dirty="0" smtClean="0"/>
              <a:t>独立性：公理系统内任何一条公理都不能由另一条公理来证明</a:t>
            </a:r>
          </a:p>
          <a:p>
            <a:pPr lvl="2" eaLnBrk="1" hangingPunct="1">
              <a:lnSpc>
                <a:spcPct val="90000"/>
              </a:lnSpc>
            </a:pPr>
            <a:r>
              <a:rPr lang="zh-CN" altLang="en-US" sz="2000" dirty="0" smtClean="0"/>
              <a:t>完备性：所有定理都可以由公理系统推导出来</a:t>
            </a:r>
          </a:p>
        </p:txBody>
      </p:sp>
      <p:sp>
        <p:nvSpPr>
          <p:cNvPr id="17413" name="Rectangle 3"/>
          <p:cNvSpPr>
            <a:spLocks noGrp="1" noChangeArrowheads="1"/>
          </p:cNvSpPr>
          <p:nvPr>
            <p:ph type="title"/>
          </p:nvPr>
        </p:nvSpPr>
        <p:spPr>
          <a:xfrm>
            <a:off x="1274763" y="533400"/>
            <a:ext cx="7793037" cy="609600"/>
          </a:xfrm>
        </p:spPr>
        <p:txBody>
          <a:bodyPr/>
          <a:lstStyle/>
          <a:p>
            <a:pPr eaLnBrk="1" hangingPunct="1"/>
            <a:r>
              <a:rPr lang="zh-CN" altLang="en-US" smtClean="0"/>
              <a:t>逻辑代数的公理和基本定理</a:t>
            </a:r>
          </a:p>
        </p:txBody>
      </p:sp>
    </p:spTree>
  </p:cSld>
  <p:clrMapOvr>
    <a:masterClrMapping/>
  </p:clrMapOvr>
  <p:transition>
    <p:random/>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body" idx="1"/>
          </p:nvPr>
        </p:nvSpPr>
        <p:spPr>
          <a:xfrm>
            <a:off x="457200" y="1371600"/>
            <a:ext cx="8382000" cy="3343275"/>
          </a:xfrm>
        </p:spPr>
        <p:txBody>
          <a:bodyPr/>
          <a:lstStyle/>
          <a:p>
            <a:pPr eaLnBrk="1" hangingPunct="1">
              <a:lnSpc>
                <a:spcPct val="90000"/>
              </a:lnSpc>
            </a:pPr>
            <a:r>
              <a:rPr lang="zh-CN" altLang="en-US" sz="2800" dirty="0" smtClean="0"/>
              <a:t>基本定理</a:t>
            </a:r>
          </a:p>
          <a:p>
            <a:pPr lvl="1" eaLnBrk="1" hangingPunct="1">
              <a:lnSpc>
                <a:spcPct val="90000"/>
              </a:lnSpc>
            </a:pPr>
            <a:r>
              <a:rPr lang="zh-CN" altLang="en-US" sz="2400" dirty="0" smtClean="0"/>
              <a:t>定理</a:t>
            </a:r>
            <a:r>
              <a:rPr lang="en-US" altLang="zh-CN" sz="2400" dirty="0" smtClean="0"/>
              <a:t>1</a:t>
            </a:r>
            <a:r>
              <a:rPr lang="zh-CN" altLang="en-US" sz="2400" dirty="0" smtClean="0"/>
              <a:t>：</a:t>
            </a:r>
            <a:r>
              <a:rPr lang="en-US" altLang="zh-CN" sz="2400" dirty="0" smtClean="0"/>
              <a:t>0+0=0    1+0=1    0+1=1    1+1=1</a:t>
            </a:r>
          </a:p>
          <a:p>
            <a:pPr lvl="1" eaLnBrk="1" hangingPunct="1">
              <a:lnSpc>
                <a:spcPct val="90000"/>
              </a:lnSpc>
              <a:buFont typeface="Wingdings" pitchFamily="2" charset="2"/>
              <a:buNone/>
            </a:pPr>
            <a:r>
              <a:rPr lang="en-US" altLang="zh-CN" sz="2400" dirty="0" smtClean="0"/>
              <a:t>               0·0=0     1·0=0      0·1=0     1·1=1</a:t>
            </a:r>
          </a:p>
          <a:p>
            <a:pPr lvl="1" eaLnBrk="1" hangingPunct="1">
              <a:lnSpc>
                <a:spcPct val="90000"/>
              </a:lnSpc>
              <a:buFont typeface="Wingdings" pitchFamily="2" charset="2"/>
              <a:buNone/>
            </a:pPr>
            <a:r>
              <a:rPr lang="en-US" altLang="zh-CN" sz="2400" dirty="0" smtClean="0"/>
              <a:t>  </a:t>
            </a:r>
            <a:r>
              <a:rPr lang="zh-CN" altLang="en-US" sz="2400" dirty="0" smtClean="0"/>
              <a:t>证明：</a:t>
            </a:r>
            <a:r>
              <a:rPr lang="en-US" altLang="zh-CN" sz="2400" dirty="0" smtClean="0"/>
              <a:t> A=0,1 </a:t>
            </a:r>
            <a:r>
              <a:rPr lang="zh-CN" altLang="en-US" sz="2400" dirty="0" smtClean="0"/>
              <a:t>代入公理</a:t>
            </a:r>
            <a:r>
              <a:rPr lang="en-US" altLang="zh-CN" sz="2400" dirty="0" smtClean="0"/>
              <a:t>4</a:t>
            </a:r>
          </a:p>
          <a:p>
            <a:pPr lvl="1" eaLnBrk="1" hangingPunct="1">
              <a:lnSpc>
                <a:spcPct val="90000"/>
              </a:lnSpc>
              <a:buFont typeface="Wingdings" pitchFamily="2" charset="2"/>
              <a:buNone/>
            </a:pPr>
            <a:endParaRPr lang="en-US" altLang="zh-CN" sz="2400" dirty="0" smtClean="0"/>
          </a:p>
          <a:p>
            <a:pPr lvl="1" eaLnBrk="1" hangingPunct="1">
              <a:lnSpc>
                <a:spcPct val="90000"/>
              </a:lnSpc>
              <a:buFont typeface="Wingdings" pitchFamily="2" charset="2"/>
              <a:buNone/>
            </a:pPr>
            <a:r>
              <a:rPr lang="zh-CN" altLang="en-US" sz="2400" dirty="0" smtClean="0"/>
              <a:t>   推论：</a:t>
            </a:r>
            <a:r>
              <a:rPr lang="zh-CN" altLang="en-US" sz="2400" dirty="0" smtClean="0">
                <a:sym typeface="Symbol"/>
              </a:rPr>
              <a:t></a:t>
            </a:r>
            <a:r>
              <a:rPr lang="en-US" altLang="zh-CN" sz="2400" dirty="0" smtClean="0"/>
              <a:t>1=0    </a:t>
            </a:r>
            <a:r>
              <a:rPr lang="en-US" altLang="zh-CN" sz="2400" dirty="0" smtClean="0">
                <a:sym typeface="Symbol"/>
              </a:rPr>
              <a:t></a:t>
            </a:r>
            <a:r>
              <a:rPr lang="en-US" altLang="zh-CN" sz="2400" dirty="0" smtClean="0"/>
              <a:t>0=1</a:t>
            </a:r>
          </a:p>
          <a:p>
            <a:pPr lvl="1" eaLnBrk="1" hangingPunct="1">
              <a:lnSpc>
                <a:spcPct val="90000"/>
              </a:lnSpc>
              <a:buFont typeface="Wingdings" pitchFamily="2" charset="2"/>
              <a:buNone/>
            </a:pPr>
            <a:endParaRPr lang="en-US" altLang="zh-CN" sz="2400" dirty="0" smtClean="0"/>
          </a:p>
          <a:p>
            <a:pPr lvl="1" eaLnBrk="1" hangingPunct="1">
              <a:lnSpc>
                <a:spcPct val="90000"/>
              </a:lnSpc>
              <a:buFont typeface="Wingdings" pitchFamily="2" charset="2"/>
              <a:buNone/>
            </a:pPr>
            <a:r>
              <a:rPr lang="zh-CN" altLang="en-US" sz="2400" dirty="0" smtClean="0"/>
              <a:t>证明：</a:t>
            </a:r>
            <a:r>
              <a:rPr lang="en-US" altLang="zh-CN" sz="2400" dirty="0" smtClean="0"/>
              <a:t> A=0,1 </a:t>
            </a:r>
            <a:r>
              <a:rPr lang="zh-CN" altLang="en-US" sz="2400" dirty="0" smtClean="0"/>
              <a:t>代入公理</a:t>
            </a:r>
            <a:r>
              <a:rPr lang="en-US" altLang="zh-CN" sz="2400" dirty="0" smtClean="0"/>
              <a:t>5</a:t>
            </a:r>
          </a:p>
          <a:p>
            <a:pPr lvl="1" eaLnBrk="1" hangingPunct="1">
              <a:lnSpc>
                <a:spcPct val="90000"/>
              </a:lnSpc>
              <a:buFont typeface="Wingdings" pitchFamily="2" charset="2"/>
              <a:buNone/>
            </a:pPr>
            <a:endParaRPr lang="en-US" altLang="zh-CN" sz="2400" dirty="0" smtClean="0"/>
          </a:p>
          <a:p>
            <a:pPr lvl="1" eaLnBrk="1" hangingPunct="1">
              <a:lnSpc>
                <a:spcPct val="90000"/>
              </a:lnSpc>
              <a:buFont typeface="Wingdings" pitchFamily="2" charset="2"/>
              <a:buNone/>
            </a:pPr>
            <a:endParaRPr lang="en-US" altLang="zh-CN" sz="2400" dirty="0" smtClean="0"/>
          </a:p>
          <a:p>
            <a:pPr lvl="1" eaLnBrk="1" hangingPunct="1">
              <a:lnSpc>
                <a:spcPct val="90000"/>
              </a:lnSpc>
              <a:buFont typeface="Wingdings" pitchFamily="2" charset="2"/>
              <a:buNone/>
            </a:pPr>
            <a:endParaRPr lang="en-US" altLang="zh-CN" sz="2400" dirty="0" smtClean="0"/>
          </a:p>
          <a:p>
            <a:pPr lvl="1" eaLnBrk="1" hangingPunct="1">
              <a:lnSpc>
                <a:spcPct val="90000"/>
              </a:lnSpc>
              <a:buFont typeface="Wingdings" pitchFamily="2" charset="2"/>
              <a:buNone/>
            </a:pPr>
            <a:endParaRPr lang="en-US" altLang="zh-CN" sz="2400" dirty="0" smtClean="0"/>
          </a:p>
        </p:txBody>
      </p:sp>
      <p:sp>
        <p:nvSpPr>
          <p:cNvPr id="18435" name="Rectangle 3"/>
          <p:cNvSpPr>
            <a:spLocks noGrp="1" noChangeArrowheads="1"/>
          </p:cNvSpPr>
          <p:nvPr>
            <p:ph type="title"/>
          </p:nvPr>
        </p:nvSpPr>
        <p:spPr>
          <a:xfrm>
            <a:off x="1274763" y="533400"/>
            <a:ext cx="7793037" cy="609600"/>
          </a:xfrm>
        </p:spPr>
        <p:txBody>
          <a:bodyPr/>
          <a:lstStyle/>
          <a:p>
            <a:pPr eaLnBrk="1" hangingPunct="1"/>
            <a:r>
              <a:rPr lang="zh-CN" altLang="en-US" smtClean="0"/>
              <a:t>逻辑代数的公理和基本定理</a:t>
            </a:r>
          </a:p>
        </p:txBody>
      </p:sp>
      <p:grpSp>
        <p:nvGrpSpPr>
          <p:cNvPr id="18438" name="组合 24"/>
          <p:cNvGrpSpPr>
            <a:grpSpLocks/>
          </p:cNvGrpSpPr>
          <p:nvPr/>
        </p:nvGrpSpPr>
        <p:grpSpPr bwMode="auto">
          <a:xfrm>
            <a:off x="1176659" y="4797152"/>
            <a:ext cx="7643813" cy="1809750"/>
            <a:chOff x="1142976" y="862144"/>
            <a:chExt cx="7643866" cy="1809726"/>
          </a:xfrm>
        </p:grpSpPr>
        <p:sp>
          <p:nvSpPr>
            <p:cNvPr id="26" name="矩形 25"/>
            <p:cNvSpPr/>
            <p:nvPr/>
          </p:nvSpPr>
          <p:spPr>
            <a:xfrm>
              <a:off x="1142976" y="862144"/>
              <a:ext cx="7643866" cy="1809726"/>
            </a:xfrm>
            <a:prstGeom prst="rect">
              <a:avLst/>
            </a:prstGeom>
            <a:solidFill>
              <a:schemeClr val="accent1">
                <a:lumMod val="40000"/>
                <a:lumOff val="60000"/>
              </a:schemeClr>
            </a:solidFill>
            <a:ln>
              <a:solidFill>
                <a:schemeClr val="accent1"/>
              </a:solidFill>
            </a:ln>
          </p:spPr>
          <p:txBody>
            <a:bodyPr>
              <a:spAutoFit/>
            </a:bodyPr>
            <a:lstStyle/>
            <a:p>
              <a:pPr>
                <a:lnSpc>
                  <a:spcPct val="90000"/>
                </a:lnSpc>
                <a:defRPr/>
              </a:pPr>
              <a:r>
                <a:rPr lang="zh-CN" altLang="en-US" b="1" dirty="0">
                  <a:ea typeface="宋体" pitchFamily="2" charset="-122"/>
                </a:rPr>
                <a:t>公理系统</a:t>
              </a:r>
            </a:p>
            <a:p>
              <a:pPr lvl="1">
                <a:lnSpc>
                  <a:spcPct val="90000"/>
                </a:lnSpc>
                <a:defRPr/>
              </a:pPr>
              <a:r>
                <a:rPr lang="zh-CN" altLang="en-US" sz="2000" b="1" dirty="0">
                  <a:ea typeface="宋体" pitchFamily="2" charset="-122"/>
                </a:rPr>
                <a:t>公理</a:t>
              </a:r>
              <a:r>
                <a:rPr lang="en-US" altLang="zh-CN" sz="2000" b="1" dirty="0">
                  <a:ea typeface="宋体" pitchFamily="2" charset="-122"/>
                </a:rPr>
                <a:t>1</a:t>
              </a:r>
              <a:r>
                <a:rPr lang="zh-CN" altLang="en-US" sz="2000" b="1" dirty="0">
                  <a:ea typeface="宋体" pitchFamily="2" charset="-122"/>
                </a:rPr>
                <a:t>，交换律：</a:t>
              </a:r>
              <a:r>
                <a:rPr lang="en-US" altLang="zh-CN" sz="2000" b="1" dirty="0">
                  <a:ea typeface="宋体" pitchFamily="2" charset="-122"/>
                </a:rPr>
                <a:t>A+B=B+A                         A·B=B·A</a:t>
              </a:r>
            </a:p>
            <a:p>
              <a:pPr lvl="1">
                <a:lnSpc>
                  <a:spcPct val="90000"/>
                </a:lnSpc>
                <a:defRPr/>
              </a:pPr>
              <a:r>
                <a:rPr lang="zh-CN" altLang="en-US" sz="2000" b="1" dirty="0">
                  <a:ea typeface="宋体" pitchFamily="2" charset="-122"/>
                </a:rPr>
                <a:t>公理</a:t>
              </a:r>
              <a:r>
                <a:rPr lang="en-US" altLang="zh-CN" sz="2000" b="1" dirty="0">
                  <a:ea typeface="宋体" pitchFamily="2" charset="-122"/>
                </a:rPr>
                <a:t>2</a:t>
              </a:r>
              <a:r>
                <a:rPr lang="zh-CN" altLang="en-US" sz="2000" b="1" dirty="0">
                  <a:ea typeface="宋体" pitchFamily="2" charset="-122"/>
                </a:rPr>
                <a:t>，结合律：</a:t>
              </a:r>
              <a:r>
                <a:rPr lang="en-US" altLang="zh-CN" sz="2000" b="1" dirty="0">
                  <a:ea typeface="宋体" pitchFamily="2" charset="-122"/>
                </a:rPr>
                <a:t>(A+B)+C= A+(B+C)        (A·B) ·C= A·(B·C)</a:t>
              </a:r>
            </a:p>
            <a:p>
              <a:pPr lvl="1">
                <a:lnSpc>
                  <a:spcPct val="90000"/>
                </a:lnSpc>
                <a:defRPr/>
              </a:pPr>
              <a:r>
                <a:rPr lang="zh-CN" altLang="en-US" sz="2000" b="1" dirty="0">
                  <a:ea typeface="宋体" pitchFamily="2" charset="-122"/>
                </a:rPr>
                <a:t>公理</a:t>
              </a:r>
              <a:r>
                <a:rPr lang="en-US" altLang="zh-CN" sz="2000" b="1" dirty="0">
                  <a:ea typeface="宋体" pitchFamily="2" charset="-122"/>
                </a:rPr>
                <a:t>3</a:t>
              </a:r>
              <a:r>
                <a:rPr lang="zh-CN" altLang="en-US" sz="2000" b="1" dirty="0">
                  <a:ea typeface="宋体" pitchFamily="2" charset="-122"/>
                </a:rPr>
                <a:t>，分配律：</a:t>
              </a:r>
              <a:r>
                <a:rPr lang="en-US" altLang="zh-CN" sz="2000" b="1" dirty="0">
                  <a:ea typeface="宋体" pitchFamily="2" charset="-122"/>
                </a:rPr>
                <a:t>A+(B·C)=(A+B)·(A+C)    A·(B+C)=A·B+A·C</a:t>
              </a:r>
            </a:p>
            <a:p>
              <a:pPr lvl="1">
                <a:lnSpc>
                  <a:spcPct val="90000"/>
                </a:lnSpc>
                <a:defRPr/>
              </a:pPr>
              <a:r>
                <a:rPr lang="zh-CN" altLang="en-US" sz="2000" b="1" dirty="0">
                  <a:ea typeface="宋体" pitchFamily="2" charset="-122"/>
                </a:rPr>
                <a:t>公理</a:t>
              </a:r>
              <a:r>
                <a:rPr lang="en-US" altLang="zh-CN" sz="2000" b="1" dirty="0">
                  <a:ea typeface="宋体" pitchFamily="2" charset="-122"/>
                </a:rPr>
                <a:t>4</a:t>
              </a:r>
              <a:r>
                <a:rPr lang="zh-CN" altLang="en-US" sz="2000" b="1" dirty="0">
                  <a:ea typeface="宋体" pitchFamily="2" charset="-122"/>
                </a:rPr>
                <a:t>，  </a:t>
              </a:r>
              <a:r>
                <a:rPr lang="en-US" altLang="zh-CN" sz="2000" b="1" dirty="0">
                  <a:ea typeface="宋体" pitchFamily="2" charset="-122"/>
                </a:rPr>
                <a:t>0-1</a:t>
              </a:r>
              <a:r>
                <a:rPr lang="zh-CN" altLang="en-US" sz="2000" b="1" dirty="0">
                  <a:ea typeface="宋体" pitchFamily="2" charset="-122"/>
                </a:rPr>
                <a:t>律： </a:t>
              </a:r>
              <a:r>
                <a:rPr lang="en-US" altLang="zh-CN" sz="2000" b="1" dirty="0">
                  <a:ea typeface="宋体" pitchFamily="2" charset="-122"/>
                </a:rPr>
                <a:t>A+0=A    A·1=A                A+1=1    A·0=0</a:t>
              </a:r>
            </a:p>
            <a:p>
              <a:pPr lvl="1">
                <a:lnSpc>
                  <a:spcPct val="90000"/>
                </a:lnSpc>
                <a:defRPr/>
              </a:pPr>
              <a:r>
                <a:rPr lang="zh-CN" altLang="en-US" sz="2000" b="1" dirty="0">
                  <a:ea typeface="宋体" pitchFamily="2" charset="-122"/>
                </a:rPr>
                <a:t>公理</a:t>
              </a:r>
              <a:r>
                <a:rPr lang="en-US" altLang="zh-CN" sz="2000" b="1" dirty="0">
                  <a:ea typeface="宋体" pitchFamily="2" charset="-122"/>
                </a:rPr>
                <a:t>5</a:t>
              </a:r>
              <a:r>
                <a:rPr lang="zh-CN" altLang="en-US" sz="2000" b="1" dirty="0">
                  <a:ea typeface="宋体" pitchFamily="2" charset="-122"/>
                </a:rPr>
                <a:t>，互补律：</a:t>
              </a:r>
              <a:r>
                <a:rPr lang="en-US" altLang="zh-CN" sz="2000" b="1" dirty="0">
                  <a:ea typeface="宋体" pitchFamily="2" charset="-122"/>
                </a:rPr>
                <a:t>A+A=1    A·A=0 </a:t>
              </a:r>
            </a:p>
          </p:txBody>
        </p:sp>
        <p:sp>
          <p:nvSpPr>
            <p:cNvPr id="18440" name="Line 5"/>
            <p:cNvSpPr>
              <a:spLocks noChangeShapeType="1"/>
            </p:cNvSpPr>
            <p:nvPr/>
          </p:nvSpPr>
          <p:spPr bwMode="auto">
            <a:xfrm>
              <a:off x="4857752" y="2357430"/>
              <a:ext cx="2286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8441" name="Line 6"/>
            <p:cNvSpPr>
              <a:spLocks noChangeShapeType="1"/>
            </p:cNvSpPr>
            <p:nvPr/>
          </p:nvSpPr>
          <p:spPr bwMode="auto">
            <a:xfrm>
              <a:off x="3929058" y="2357430"/>
              <a:ext cx="2286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spTree>
  </p:cSld>
  <p:clrMapOvr>
    <a:masterClrMapping/>
  </p:clrMapOvr>
  <p:transition>
    <p:random/>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quarter" idx="10"/>
          </p:nvPr>
        </p:nvSpPr>
        <p:spPr/>
        <p:txBody>
          <a:bodyPr/>
          <a:lstStyle/>
          <a:p>
            <a:pPr>
              <a:defRPr/>
            </a:pPr>
            <a:fld id="{9AF0A557-9EDC-451A-B067-3835DCCF72DE}" type="datetime1">
              <a:rPr lang="zh-CN" altLang="en-US" smtClean="0"/>
              <a:pPr>
                <a:defRPr/>
              </a:pPr>
              <a:t>2021/9/21</a:t>
            </a:fld>
            <a:endParaRPr lang="en-US" altLang="zh-CN"/>
          </a:p>
        </p:txBody>
      </p:sp>
      <p:sp>
        <p:nvSpPr>
          <p:cNvPr id="3" name="灯片编号占位符 2"/>
          <p:cNvSpPr>
            <a:spLocks noGrp="1"/>
          </p:cNvSpPr>
          <p:nvPr>
            <p:ph type="sldNum" sz="quarter" idx="12"/>
          </p:nvPr>
        </p:nvSpPr>
        <p:spPr/>
        <p:txBody>
          <a:bodyPr/>
          <a:lstStyle/>
          <a:p>
            <a:pPr>
              <a:defRPr/>
            </a:pPr>
            <a:fld id="{94FF330C-C4B9-4EA5-B78F-EEDD1F29A23F}" type="slidenum">
              <a:rPr lang="en-US" altLang="zh-CN" smtClean="0"/>
              <a:pPr>
                <a:defRPr/>
              </a:pPr>
              <a:t>17</a:t>
            </a:fld>
            <a:endParaRPr lang="en-US" altLang="zh-CN"/>
          </a:p>
        </p:txBody>
      </p:sp>
      <p:sp>
        <p:nvSpPr>
          <p:cNvPr id="4" name="Rectangle 2"/>
          <p:cNvSpPr txBox="1">
            <a:spLocks noChangeArrowheads="1"/>
          </p:cNvSpPr>
          <p:nvPr/>
        </p:nvSpPr>
        <p:spPr>
          <a:xfrm>
            <a:off x="457200" y="1371600"/>
            <a:ext cx="8382000" cy="4876800"/>
          </a:xfrm>
          <a:prstGeom prst="rect">
            <a:avLst/>
          </a:prstGeom>
        </p:spPr>
        <p:txBody>
          <a:bodyPr/>
          <a:lstStyle/>
          <a:p>
            <a:pPr marL="742950" lvl="1" indent="-285750">
              <a:lnSpc>
                <a:spcPct val="90000"/>
              </a:lnSpc>
              <a:spcBef>
                <a:spcPct val="20000"/>
              </a:spcBef>
              <a:buClr>
                <a:schemeClr val="hlink"/>
              </a:buClr>
              <a:buSzPct val="55000"/>
              <a:buFont typeface="Wingdings" pitchFamily="2" charset="2"/>
              <a:buChar char="n"/>
              <a:defRPr/>
            </a:pPr>
            <a:r>
              <a:rPr kumimoji="0" lang="zh-CN" altLang="en-US" kern="0" dirty="0">
                <a:latin typeface="+mn-lt"/>
                <a:ea typeface="+mn-ea"/>
              </a:rPr>
              <a:t>定理</a:t>
            </a:r>
            <a:r>
              <a:rPr kumimoji="0" lang="en-US" altLang="zh-CN" kern="0" dirty="0">
                <a:latin typeface="+mn-lt"/>
                <a:ea typeface="+mn-ea"/>
              </a:rPr>
              <a:t>2</a:t>
            </a:r>
            <a:r>
              <a:rPr kumimoji="0" lang="zh-CN" altLang="en-US" kern="0" dirty="0">
                <a:latin typeface="+mn-lt"/>
                <a:ea typeface="+mn-ea"/>
              </a:rPr>
              <a:t>，重迭律： </a:t>
            </a:r>
            <a:r>
              <a:rPr kumimoji="0" lang="en-US" altLang="zh-CN" kern="0" dirty="0">
                <a:latin typeface="+mn-lt"/>
                <a:ea typeface="+mn-ea"/>
              </a:rPr>
              <a:t>A+A=A    A·A=A</a:t>
            </a:r>
          </a:p>
        </p:txBody>
      </p:sp>
      <p:pic>
        <p:nvPicPr>
          <p:cNvPr id="1946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6313" y="2071688"/>
            <a:ext cx="7596187" cy="180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9462" name="组合 24"/>
          <p:cNvGrpSpPr>
            <a:grpSpLocks/>
          </p:cNvGrpSpPr>
          <p:nvPr/>
        </p:nvGrpSpPr>
        <p:grpSpPr bwMode="auto">
          <a:xfrm>
            <a:off x="1000125" y="4221088"/>
            <a:ext cx="7643813" cy="1809750"/>
            <a:chOff x="1142976" y="862144"/>
            <a:chExt cx="7643866" cy="1809726"/>
          </a:xfrm>
        </p:grpSpPr>
        <p:sp>
          <p:nvSpPr>
            <p:cNvPr id="26" name="矩形 25"/>
            <p:cNvSpPr/>
            <p:nvPr/>
          </p:nvSpPr>
          <p:spPr>
            <a:xfrm>
              <a:off x="1142976" y="862144"/>
              <a:ext cx="7643866" cy="1809726"/>
            </a:xfrm>
            <a:prstGeom prst="rect">
              <a:avLst/>
            </a:prstGeom>
            <a:solidFill>
              <a:schemeClr val="accent1">
                <a:lumMod val="40000"/>
                <a:lumOff val="60000"/>
              </a:schemeClr>
            </a:solidFill>
            <a:ln>
              <a:solidFill>
                <a:schemeClr val="accent1"/>
              </a:solidFill>
            </a:ln>
          </p:spPr>
          <p:txBody>
            <a:bodyPr>
              <a:spAutoFit/>
            </a:bodyPr>
            <a:lstStyle/>
            <a:p>
              <a:pPr>
                <a:lnSpc>
                  <a:spcPct val="90000"/>
                </a:lnSpc>
                <a:defRPr/>
              </a:pPr>
              <a:r>
                <a:rPr lang="zh-CN" altLang="en-US" b="1" dirty="0">
                  <a:ea typeface="宋体" pitchFamily="2" charset="-122"/>
                </a:rPr>
                <a:t>公理系统</a:t>
              </a:r>
            </a:p>
            <a:p>
              <a:pPr lvl="1">
                <a:lnSpc>
                  <a:spcPct val="90000"/>
                </a:lnSpc>
                <a:defRPr/>
              </a:pPr>
              <a:r>
                <a:rPr lang="zh-CN" altLang="en-US" sz="2000" b="1" dirty="0">
                  <a:ea typeface="宋体" pitchFamily="2" charset="-122"/>
                </a:rPr>
                <a:t>公理</a:t>
              </a:r>
              <a:r>
                <a:rPr lang="en-US" altLang="zh-CN" sz="2000" b="1" dirty="0">
                  <a:ea typeface="宋体" pitchFamily="2" charset="-122"/>
                </a:rPr>
                <a:t>1</a:t>
              </a:r>
              <a:r>
                <a:rPr lang="zh-CN" altLang="en-US" sz="2000" b="1" dirty="0">
                  <a:ea typeface="宋体" pitchFamily="2" charset="-122"/>
                </a:rPr>
                <a:t>，交换律：</a:t>
              </a:r>
              <a:r>
                <a:rPr lang="en-US" altLang="zh-CN" sz="2000" b="1" dirty="0">
                  <a:ea typeface="宋体" pitchFamily="2" charset="-122"/>
                </a:rPr>
                <a:t>A+B=B+A                         A·B=B·A</a:t>
              </a:r>
            </a:p>
            <a:p>
              <a:pPr lvl="1">
                <a:lnSpc>
                  <a:spcPct val="90000"/>
                </a:lnSpc>
                <a:defRPr/>
              </a:pPr>
              <a:r>
                <a:rPr lang="zh-CN" altLang="en-US" sz="2000" b="1" dirty="0">
                  <a:ea typeface="宋体" pitchFamily="2" charset="-122"/>
                </a:rPr>
                <a:t>公理</a:t>
              </a:r>
              <a:r>
                <a:rPr lang="en-US" altLang="zh-CN" sz="2000" b="1" dirty="0">
                  <a:ea typeface="宋体" pitchFamily="2" charset="-122"/>
                </a:rPr>
                <a:t>2</a:t>
              </a:r>
              <a:r>
                <a:rPr lang="zh-CN" altLang="en-US" sz="2000" b="1" dirty="0">
                  <a:ea typeface="宋体" pitchFamily="2" charset="-122"/>
                </a:rPr>
                <a:t>，结合律：</a:t>
              </a:r>
              <a:r>
                <a:rPr lang="en-US" altLang="zh-CN" sz="2000" b="1" dirty="0">
                  <a:ea typeface="宋体" pitchFamily="2" charset="-122"/>
                </a:rPr>
                <a:t>(A+B)+C= A+(B+C)        (A·B) ·C= A·(B·C)</a:t>
              </a:r>
            </a:p>
            <a:p>
              <a:pPr lvl="1">
                <a:lnSpc>
                  <a:spcPct val="90000"/>
                </a:lnSpc>
                <a:defRPr/>
              </a:pPr>
              <a:r>
                <a:rPr lang="zh-CN" altLang="en-US" sz="2000" b="1" dirty="0">
                  <a:ea typeface="宋体" pitchFamily="2" charset="-122"/>
                </a:rPr>
                <a:t>公理</a:t>
              </a:r>
              <a:r>
                <a:rPr lang="en-US" altLang="zh-CN" sz="2000" b="1" dirty="0">
                  <a:ea typeface="宋体" pitchFamily="2" charset="-122"/>
                </a:rPr>
                <a:t>3</a:t>
              </a:r>
              <a:r>
                <a:rPr lang="zh-CN" altLang="en-US" sz="2000" b="1" dirty="0">
                  <a:ea typeface="宋体" pitchFamily="2" charset="-122"/>
                </a:rPr>
                <a:t>，分配律：</a:t>
              </a:r>
              <a:r>
                <a:rPr lang="en-US" altLang="zh-CN" sz="2000" b="1" dirty="0">
                  <a:ea typeface="宋体" pitchFamily="2" charset="-122"/>
                </a:rPr>
                <a:t>A+(B·C)=(A+B)·(A+C)    A·(B+C)=A·B+A·C</a:t>
              </a:r>
            </a:p>
            <a:p>
              <a:pPr lvl="1">
                <a:lnSpc>
                  <a:spcPct val="90000"/>
                </a:lnSpc>
                <a:defRPr/>
              </a:pPr>
              <a:r>
                <a:rPr lang="zh-CN" altLang="en-US" sz="2000" b="1" dirty="0">
                  <a:ea typeface="宋体" pitchFamily="2" charset="-122"/>
                </a:rPr>
                <a:t>公理</a:t>
              </a:r>
              <a:r>
                <a:rPr lang="en-US" altLang="zh-CN" sz="2000" b="1" dirty="0">
                  <a:ea typeface="宋体" pitchFamily="2" charset="-122"/>
                </a:rPr>
                <a:t>4</a:t>
              </a:r>
              <a:r>
                <a:rPr lang="zh-CN" altLang="en-US" sz="2000" b="1" dirty="0">
                  <a:ea typeface="宋体" pitchFamily="2" charset="-122"/>
                </a:rPr>
                <a:t>，  </a:t>
              </a:r>
              <a:r>
                <a:rPr lang="en-US" altLang="zh-CN" sz="2000" b="1" dirty="0">
                  <a:ea typeface="宋体" pitchFamily="2" charset="-122"/>
                </a:rPr>
                <a:t>0-1</a:t>
              </a:r>
              <a:r>
                <a:rPr lang="zh-CN" altLang="en-US" sz="2000" b="1" dirty="0">
                  <a:ea typeface="宋体" pitchFamily="2" charset="-122"/>
                </a:rPr>
                <a:t>律： </a:t>
              </a:r>
              <a:r>
                <a:rPr lang="en-US" altLang="zh-CN" sz="2000" b="1" dirty="0">
                  <a:ea typeface="宋体" pitchFamily="2" charset="-122"/>
                </a:rPr>
                <a:t>A+0=A    A·1=A                A+1=1    A·0=0</a:t>
              </a:r>
            </a:p>
            <a:p>
              <a:pPr lvl="1">
                <a:lnSpc>
                  <a:spcPct val="90000"/>
                </a:lnSpc>
                <a:defRPr/>
              </a:pPr>
              <a:r>
                <a:rPr lang="zh-CN" altLang="en-US" sz="2000" b="1" dirty="0">
                  <a:ea typeface="宋体" pitchFamily="2" charset="-122"/>
                </a:rPr>
                <a:t>公理</a:t>
              </a:r>
              <a:r>
                <a:rPr lang="en-US" altLang="zh-CN" sz="2000" b="1" dirty="0">
                  <a:ea typeface="宋体" pitchFamily="2" charset="-122"/>
                </a:rPr>
                <a:t>5</a:t>
              </a:r>
              <a:r>
                <a:rPr lang="zh-CN" altLang="en-US" sz="2000" b="1" dirty="0">
                  <a:ea typeface="宋体" pitchFamily="2" charset="-122"/>
                </a:rPr>
                <a:t>，互补律：</a:t>
              </a:r>
              <a:r>
                <a:rPr lang="en-US" altLang="zh-CN" sz="2000" b="1" dirty="0">
                  <a:ea typeface="宋体" pitchFamily="2" charset="-122"/>
                </a:rPr>
                <a:t>A+A=1    A·A=0 </a:t>
              </a:r>
            </a:p>
          </p:txBody>
        </p:sp>
        <p:sp>
          <p:nvSpPr>
            <p:cNvPr id="19464" name="Line 5"/>
            <p:cNvSpPr>
              <a:spLocks noChangeShapeType="1"/>
            </p:cNvSpPr>
            <p:nvPr/>
          </p:nvSpPr>
          <p:spPr bwMode="auto">
            <a:xfrm>
              <a:off x="4857752" y="2357430"/>
              <a:ext cx="2286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9465" name="Line 6"/>
            <p:cNvSpPr>
              <a:spLocks noChangeShapeType="1"/>
            </p:cNvSpPr>
            <p:nvPr/>
          </p:nvSpPr>
          <p:spPr bwMode="auto">
            <a:xfrm>
              <a:off x="3929058" y="2357430"/>
              <a:ext cx="2286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spTree>
  </p:cSld>
  <p:clrMapOvr>
    <a:masterClrMapping/>
  </p:clrMapOvr>
  <p:transition>
    <p:rand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quarter" idx="10"/>
          </p:nvPr>
        </p:nvSpPr>
        <p:spPr/>
        <p:txBody>
          <a:bodyPr/>
          <a:lstStyle/>
          <a:p>
            <a:pPr>
              <a:defRPr/>
            </a:pPr>
            <a:fld id="{9AF0A557-9EDC-451A-B067-3835DCCF72DE}" type="datetime1">
              <a:rPr lang="zh-CN" altLang="en-US" smtClean="0"/>
              <a:pPr>
                <a:defRPr/>
              </a:pPr>
              <a:t>2021/9/21</a:t>
            </a:fld>
            <a:endParaRPr lang="en-US" altLang="zh-CN"/>
          </a:p>
        </p:txBody>
      </p:sp>
      <p:sp>
        <p:nvSpPr>
          <p:cNvPr id="3" name="灯片编号占位符 2"/>
          <p:cNvSpPr>
            <a:spLocks noGrp="1"/>
          </p:cNvSpPr>
          <p:nvPr>
            <p:ph type="sldNum" sz="quarter" idx="12"/>
          </p:nvPr>
        </p:nvSpPr>
        <p:spPr/>
        <p:txBody>
          <a:bodyPr/>
          <a:lstStyle/>
          <a:p>
            <a:pPr>
              <a:defRPr/>
            </a:pPr>
            <a:fld id="{799D166B-04FD-47BF-AEF0-556AB4149A16}" type="slidenum">
              <a:rPr lang="en-US" altLang="zh-CN" smtClean="0"/>
              <a:pPr>
                <a:defRPr/>
              </a:pPr>
              <a:t>18</a:t>
            </a:fld>
            <a:endParaRPr lang="en-US" altLang="zh-CN"/>
          </a:p>
        </p:txBody>
      </p:sp>
      <p:sp>
        <p:nvSpPr>
          <p:cNvPr id="4" name="Rectangle 2"/>
          <p:cNvSpPr txBox="1">
            <a:spLocks noChangeArrowheads="1"/>
          </p:cNvSpPr>
          <p:nvPr/>
        </p:nvSpPr>
        <p:spPr>
          <a:xfrm>
            <a:off x="457200" y="1371600"/>
            <a:ext cx="8382000" cy="4876800"/>
          </a:xfrm>
          <a:prstGeom prst="rect">
            <a:avLst/>
          </a:prstGeom>
        </p:spPr>
        <p:txBody>
          <a:bodyPr/>
          <a:lstStyle/>
          <a:p>
            <a:pPr marL="742950" lvl="1" indent="-285750">
              <a:lnSpc>
                <a:spcPct val="90000"/>
              </a:lnSpc>
              <a:spcBef>
                <a:spcPct val="20000"/>
              </a:spcBef>
              <a:buClr>
                <a:schemeClr val="hlink"/>
              </a:buClr>
              <a:buSzPct val="55000"/>
              <a:buFont typeface="Wingdings" pitchFamily="2" charset="2"/>
              <a:buChar char="n"/>
              <a:defRPr/>
            </a:pPr>
            <a:r>
              <a:rPr kumimoji="0" lang="zh-CN" altLang="en-US" kern="0" dirty="0">
                <a:latin typeface="+mn-lt"/>
                <a:ea typeface="+mn-ea"/>
              </a:rPr>
              <a:t>定理</a:t>
            </a:r>
            <a:r>
              <a:rPr kumimoji="0" lang="en-US" altLang="zh-CN" kern="0" dirty="0">
                <a:latin typeface="+mn-lt"/>
                <a:ea typeface="+mn-ea"/>
              </a:rPr>
              <a:t>3</a:t>
            </a:r>
            <a:r>
              <a:rPr kumimoji="0" lang="zh-CN" altLang="en-US" kern="0" dirty="0">
                <a:latin typeface="+mn-lt"/>
                <a:ea typeface="+mn-ea"/>
              </a:rPr>
              <a:t>，吸收律：</a:t>
            </a:r>
            <a:r>
              <a:rPr kumimoji="0" lang="en-US" altLang="zh-CN" kern="0" dirty="0">
                <a:latin typeface="+mn-lt"/>
                <a:ea typeface="+mn-ea"/>
              </a:rPr>
              <a:t>A+A·B=A    </a:t>
            </a:r>
            <a:r>
              <a:rPr kumimoji="0" lang="en-US" altLang="zh-CN" kern="0" dirty="0" err="1">
                <a:latin typeface="+mn-lt"/>
                <a:ea typeface="+mn-ea"/>
              </a:rPr>
              <a:t>A</a:t>
            </a:r>
            <a:r>
              <a:rPr kumimoji="0" lang="en-US" altLang="zh-CN" kern="0" dirty="0">
                <a:latin typeface="+mn-lt"/>
                <a:ea typeface="+mn-ea"/>
              </a:rPr>
              <a:t>·(A+B)=A</a:t>
            </a:r>
          </a:p>
        </p:txBody>
      </p:sp>
      <p:pic>
        <p:nvPicPr>
          <p:cNvPr id="2048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8213" y="2071688"/>
            <a:ext cx="7267575" cy="2033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0486" name="组合 24"/>
          <p:cNvGrpSpPr>
            <a:grpSpLocks/>
          </p:cNvGrpSpPr>
          <p:nvPr/>
        </p:nvGrpSpPr>
        <p:grpSpPr bwMode="auto">
          <a:xfrm>
            <a:off x="1000125" y="4214813"/>
            <a:ext cx="7643813" cy="1809750"/>
            <a:chOff x="1142976" y="862144"/>
            <a:chExt cx="7643866" cy="1809726"/>
          </a:xfrm>
        </p:grpSpPr>
        <p:sp>
          <p:nvSpPr>
            <p:cNvPr id="26" name="矩形 25"/>
            <p:cNvSpPr/>
            <p:nvPr/>
          </p:nvSpPr>
          <p:spPr>
            <a:xfrm>
              <a:off x="1142976" y="862144"/>
              <a:ext cx="7643866" cy="1809726"/>
            </a:xfrm>
            <a:prstGeom prst="rect">
              <a:avLst/>
            </a:prstGeom>
            <a:solidFill>
              <a:schemeClr val="accent1">
                <a:lumMod val="40000"/>
                <a:lumOff val="60000"/>
              </a:schemeClr>
            </a:solidFill>
            <a:ln>
              <a:solidFill>
                <a:schemeClr val="accent1"/>
              </a:solidFill>
            </a:ln>
          </p:spPr>
          <p:txBody>
            <a:bodyPr>
              <a:spAutoFit/>
            </a:bodyPr>
            <a:lstStyle/>
            <a:p>
              <a:pPr>
                <a:lnSpc>
                  <a:spcPct val="90000"/>
                </a:lnSpc>
                <a:defRPr/>
              </a:pPr>
              <a:r>
                <a:rPr lang="zh-CN" altLang="en-US" b="1" dirty="0">
                  <a:ea typeface="宋体" pitchFamily="2" charset="-122"/>
                </a:rPr>
                <a:t>公理系统</a:t>
              </a:r>
            </a:p>
            <a:p>
              <a:pPr lvl="1">
                <a:lnSpc>
                  <a:spcPct val="90000"/>
                </a:lnSpc>
                <a:defRPr/>
              </a:pPr>
              <a:r>
                <a:rPr lang="zh-CN" altLang="en-US" sz="2000" b="1" dirty="0">
                  <a:ea typeface="宋体" pitchFamily="2" charset="-122"/>
                </a:rPr>
                <a:t>公理</a:t>
              </a:r>
              <a:r>
                <a:rPr lang="en-US" altLang="zh-CN" sz="2000" b="1" dirty="0">
                  <a:ea typeface="宋体" pitchFamily="2" charset="-122"/>
                </a:rPr>
                <a:t>1</a:t>
              </a:r>
              <a:r>
                <a:rPr lang="zh-CN" altLang="en-US" sz="2000" b="1" dirty="0">
                  <a:ea typeface="宋体" pitchFamily="2" charset="-122"/>
                </a:rPr>
                <a:t>，交换律：</a:t>
              </a:r>
              <a:r>
                <a:rPr lang="en-US" altLang="zh-CN" sz="2000" b="1" dirty="0">
                  <a:ea typeface="宋体" pitchFamily="2" charset="-122"/>
                </a:rPr>
                <a:t>A+B=B+A                         A·B=B·A</a:t>
              </a:r>
            </a:p>
            <a:p>
              <a:pPr lvl="1">
                <a:lnSpc>
                  <a:spcPct val="90000"/>
                </a:lnSpc>
                <a:defRPr/>
              </a:pPr>
              <a:r>
                <a:rPr lang="zh-CN" altLang="en-US" sz="2000" b="1" dirty="0">
                  <a:ea typeface="宋体" pitchFamily="2" charset="-122"/>
                </a:rPr>
                <a:t>公理</a:t>
              </a:r>
              <a:r>
                <a:rPr lang="en-US" altLang="zh-CN" sz="2000" b="1" dirty="0">
                  <a:ea typeface="宋体" pitchFamily="2" charset="-122"/>
                </a:rPr>
                <a:t>2</a:t>
              </a:r>
              <a:r>
                <a:rPr lang="zh-CN" altLang="en-US" sz="2000" b="1" dirty="0">
                  <a:ea typeface="宋体" pitchFamily="2" charset="-122"/>
                </a:rPr>
                <a:t>，结合律：</a:t>
              </a:r>
              <a:r>
                <a:rPr lang="en-US" altLang="zh-CN" sz="2000" b="1" dirty="0">
                  <a:ea typeface="宋体" pitchFamily="2" charset="-122"/>
                </a:rPr>
                <a:t>(A+B)+C= A+(B+C)        (A·B) ·C= A·(B·C)</a:t>
              </a:r>
            </a:p>
            <a:p>
              <a:pPr lvl="1">
                <a:lnSpc>
                  <a:spcPct val="90000"/>
                </a:lnSpc>
                <a:defRPr/>
              </a:pPr>
              <a:r>
                <a:rPr lang="zh-CN" altLang="en-US" sz="2000" b="1" dirty="0">
                  <a:ea typeface="宋体" pitchFamily="2" charset="-122"/>
                </a:rPr>
                <a:t>公理</a:t>
              </a:r>
              <a:r>
                <a:rPr lang="en-US" altLang="zh-CN" sz="2000" b="1" dirty="0">
                  <a:ea typeface="宋体" pitchFamily="2" charset="-122"/>
                </a:rPr>
                <a:t>3</a:t>
              </a:r>
              <a:r>
                <a:rPr lang="zh-CN" altLang="en-US" sz="2000" b="1" dirty="0">
                  <a:ea typeface="宋体" pitchFamily="2" charset="-122"/>
                </a:rPr>
                <a:t>，分配律：</a:t>
              </a:r>
              <a:r>
                <a:rPr lang="en-US" altLang="zh-CN" sz="2000" b="1" dirty="0">
                  <a:ea typeface="宋体" pitchFamily="2" charset="-122"/>
                </a:rPr>
                <a:t>A+(B·C)=(A+B)·(A+C)    A·(B+C)=A·B+A·C</a:t>
              </a:r>
            </a:p>
            <a:p>
              <a:pPr lvl="1">
                <a:lnSpc>
                  <a:spcPct val="90000"/>
                </a:lnSpc>
                <a:defRPr/>
              </a:pPr>
              <a:r>
                <a:rPr lang="zh-CN" altLang="en-US" sz="2000" b="1" dirty="0">
                  <a:ea typeface="宋体" pitchFamily="2" charset="-122"/>
                </a:rPr>
                <a:t>公理</a:t>
              </a:r>
              <a:r>
                <a:rPr lang="en-US" altLang="zh-CN" sz="2000" b="1" dirty="0">
                  <a:ea typeface="宋体" pitchFamily="2" charset="-122"/>
                </a:rPr>
                <a:t>4</a:t>
              </a:r>
              <a:r>
                <a:rPr lang="zh-CN" altLang="en-US" sz="2000" b="1" dirty="0">
                  <a:ea typeface="宋体" pitchFamily="2" charset="-122"/>
                </a:rPr>
                <a:t>，  </a:t>
              </a:r>
              <a:r>
                <a:rPr lang="en-US" altLang="zh-CN" sz="2000" b="1" dirty="0">
                  <a:ea typeface="宋体" pitchFamily="2" charset="-122"/>
                </a:rPr>
                <a:t>0-1</a:t>
              </a:r>
              <a:r>
                <a:rPr lang="zh-CN" altLang="en-US" sz="2000" b="1" dirty="0">
                  <a:ea typeface="宋体" pitchFamily="2" charset="-122"/>
                </a:rPr>
                <a:t>律： </a:t>
              </a:r>
              <a:r>
                <a:rPr lang="en-US" altLang="zh-CN" sz="2000" b="1" dirty="0">
                  <a:ea typeface="宋体" pitchFamily="2" charset="-122"/>
                </a:rPr>
                <a:t>A+0=A    A·1=A                A+1=1    A·0=0</a:t>
              </a:r>
            </a:p>
            <a:p>
              <a:pPr lvl="1">
                <a:lnSpc>
                  <a:spcPct val="90000"/>
                </a:lnSpc>
                <a:defRPr/>
              </a:pPr>
              <a:r>
                <a:rPr lang="zh-CN" altLang="en-US" sz="2000" b="1" dirty="0">
                  <a:ea typeface="宋体" pitchFamily="2" charset="-122"/>
                </a:rPr>
                <a:t>公理</a:t>
              </a:r>
              <a:r>
                <a:rPr lang="en-US" altLang="zh-CN" sz="2000" b="1" dirty="0">
                  <a:ea typeface="宋体" pitchFamily="2" charset="-122"/>
                </a:rPr>
                <a:t>5</a:t>
              </a:r>
              <a:r>
                <a:rPr lang="zh-CN" altLang="en-US" sz="2000" b="1" dirty="0">
                  <a:ea typeface="宋体" pitchFamily="2" charset="-122"/>
                </a:rPr>
                <a:t>，互补律：</a:t>
              </a:r>
              <a:r>
                <a:rPr lang="en-US" altLang="zh-CN" sz="2000" b="1" dirty="0">
                  <a:ea typeface="宋体" pitchFamily="2" charset="-122"/>
                </a:rPr>
                <a:t>A+A=1    A·A=0 </a:t>
              </a:r>
            </a:p>
          </p:txBody>
        </p:sp>
        <p:sp>
          <p:nvSpPr>
            <p:cNvPr id="20488" name="Line 5"/>
            <p:cNvSpPr>
              <a:spLocks noChangeShapeType="1"/>
            </p:cNvSpPr>
            <p:nvPr/>
          </p:nvSpPr>
          <p:spPr bwMode="auto">
            <a:xfrm>
              <a:off x="4857752" y="2357430"/>
              <a:ext cx="2286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0489" name="Line 6"/>
            <p:cNvSpPr>
              <a:spLocks noChangeShapeType="1"/>
            </p:cNvSpPr>
            <p:nvPr/>
          </p:nvSpPr>
          <p:spPr bwMode="auto">
            <a:xfrm>
              <a:off x="3929058" y="2357430"/>
              <a:ext cx="2286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spTree>
  </p:cSld>
  <p:clrMapOvr>
    <a:masterClrMapping/>
  </p:clrMapOvr>
  <p:transition>
    <p:random/>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quarter" idx="10"/>
          </p:nvPr>
        </p:nvSpPr>
        <p:spPr/>
        <p:txBody>
          <a:bodyPr/>
          <a:lstStyle/>
          <a:p>
            <a:pPr>
              <a:defRPr/>
            </a:pPr>
            <a:fld id="{9AF0A557-9EDC-451A-B067-3835DCCF72DE}" type="datetime1">
              <a:rPr lang="zh-CN" altLang="en-US" smtClean="0"/>
              <a:pPr>
                <a:defRPr/>
              </a:pPr>
              <a:t>2021/9/21</a:t>
            </a:fld>
            <a:endParaRPr lang="en-US" altLang="zh-CN"/>
          </a:p>
        </p:txBody>
      </p:sp>
      <p:sp>
        <p:nvSpPr>
          <p:cNvPr id="3" name="灯片编号占位符 2"/>
          <p:cNvSpPr>
            <a:spLocks noGrp="1"/>
          </p:cNvSpPr>
          <p:nvPr>
            <p:ph type="sldNum" sz="quarter" idx="12"/>
          </p:nvPr>
        </p:nvSpPr>
        <p:spPr/>
        <p:txBody>
          <a:bodyPr/>
          <a:lstStyle/>
          <a:p>
            <a:pPr>
              <a:defRPr/>
            </a:pPr>
            <a:fld id="{5761F629-A7E9-4FCF-B5D1-4E669699F03D}" type="slidenum">
              <a:rPr lang="en-US" altLang="zh-CN" smtClean="0"/>
              <a:pPr>
                <a:defRPr/>
              </a:pPr>
              <a:t>19</a:t>
            </a:fld>
            <a:endParaRPr lang="en-US" altLang="zh-CN"/>
          </a:p>
        </p:txBody>
      </p:sp>
      <p:sp>
        <p:nvSpPr>
          <p:cNvPr id="4" name="Rectangle 2"/>
          <p:cNvSpPr txBox="1">
            <a:spLocks noChangeArrowheads="1"/>
          </p:cNvSpPr>
          <p:nvPr/>
        </p:nvSpPr>
        <p:spPr>
          <a:xfrm>
            <a:off x="457200" y="1371600"/>
            <a:ext cx="8382000" cy="4876800"/>
          </a:xfrm>
          <a:prstGeom prst="rect">
            <a:avLst/>
          </a:prstGeom>
        </p:spPr>
        <p:txBody>
          <a:bodyPr/>
          <a:lstStyle/>
          <a:p>
            <a:pPr marL="742950" lvl="1" indent="-285750">
              <a:lnSpc>
                <a:spcPct val="90000"/>
              </a:lnSpc>
              <a:spcBef>
                <a:spcPct val="20000"/>
              </a:spcBef>
              <a:buClr>
                <a:schemeClr val="hlink"/>
              </a:buClr>
              <a:buSzPct val="55000"/>
              <a:buFont typeface="Wingdings" pitchFamily="2" charset="2"/>
              <a:buChar char="n"/>
              <a:defRPr/>
            </a:pPr>
            <a:r>
              <a:rPr kumimoji="0" lang="zh-CN" altLang="en-US" kern="0" dirty="0">
                <a:latin typeface="+mn-lt"/>
                <a:ea typeface="+mn-ea"/>
              </a:rPr>
              <a:t>定理</a:t>
            </a:r>
            <a:r>
              <a:rPr kumimoji="0" lang="en-US" altLang="zh-CN" kern="0" dirty="0">
                <a:latin typeface="+mn-lt"/>
                <a:ea typeface="+mn-ea"/>
              </a:rPr>
              <a:t>4</a:t>
            </a:r>
            <a:r>
              <a:rPr kumimoji="0" lang="zh-CN" altLang="en-US" kern="0" dirty="0">
                <a:latin typeface="+mn-lt"/>
                <a:ea typeface="+mn-ea"/>
              </a:rPr>
              <a:t>，广义吸收律： </a:t>
            </a:r>
            <a:r>
              <a:rPr kumimoji="0" lang="en-US" altLang="zh-CN" kern="0" dirty="0">
                <a:latin typeface="+mn-lt"/>
                <a:ea typeface="+mn-ea"/>
              </a:rPr>
              <a:t>A+A·B=A+B    A·(A+B)=A·B</a:t>
            </a:r>
          </a:p>
          <a:p>
            <a:pPr marL="742950" lvl="1" indent="-285750">
              <a:lnSpc>
                <a:spcPct val="90000"/>
              </a:lnSpc>
              <a:spcBef>
                <a:spcPct val="20000"/>
              </a:spcBef>
              <a:buClr>
                <a:schemeClr val="hlink"/>
              </a:buClr>
              <a:buSzPct val="55000"/>
              <a:buFont typeface="Wingdings" pitchFamily="2" charset="2"/>
              <a:buNone/>
              <a:defRPr/>
            </a:pPr>
            <a:endParaRPr kumimoji="0" lang="en-US" altLang="zh-CN" kern="0" dirty="0">
              <a:latin typeface="+mn-lt"/>
              <a:ea typeface="+mn-ea"/>
            </a:endParaRPr>
          </a:p>
        </p:txBody>
      </p:sp>
      <p:sp>
        <p:nvSpPr>
          <p:cNvPr id="21509" name="Line 6"/>
          <p:cNvSpPr>
            <a:spLocks noChangeShapeType="1"/>
          </p:cNvSpPr>
          <p:nvPr/>
        </p:nvSpPr>
        <p:spPr bwMode="auto">
          <a:xfrm>
            <a:off x="4656138" y="1416050"/>
            <a:ext cx="2286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1510" name="Line 7"/>
          <p:cNvSpPr>
            <a:spLocks noChangeShapeType="1"/>
          </p:cNvSpPr>
          <p:nvPr/>
        </p:nvSpPr>
        <p:spPr bwMode="auto">
          <a:xfrm>
            <a:off x="6715125" y="1416050"/>
            <a:ext cx="2286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pic>
        <p:nvPicPr>
          <p:cNvPr id="2151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2988" y="2000250"/>
            <a:ext cx="7058025" cy="164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1512" name="组合 24"/>
          <p:cNvGrpSpPr>
            <a:grpSpLocks/>
          </p:cNvGrpSpPr>
          <p:nvPr/>
        </p:nvGrpSpPr>
        <p:grpSpPr bwMode="auto">
          <a:xfrm>
            <a:off x="1000125" y="4214813"/>
            <a:ext cx="7643813" cy="1809750"/>
            <a:chOff x="1142976" y="862144"/>
            <a:chExt cx="7643866" cy="1809726"/>
          </a:xfrm>
        </p:grpSpPr>
        <p:sp>
          <p:nvSpPr>
            <p:cNvPr id="26" name="矩形 25"/>
            <p:cNvSpPr/>
            <p:nvPr/>
          </p:nvSpPr>
          <p:spPr>
            <a:xfrm>
              <a:off x="1142976" y="862144"/>
              <a:ext cx="7643866" cy="1809726"/>
            </a:xfrm>
            <a:prstGeom prst="rect">
              <a:avLst/>
            </a:prstGeom>
            <a:solidFill>
              <a:schemeClr val="accent1">
                <a:lumMod val="40000"/>
                <a:lumOff val="60000"/>
              </a:schemeClr>
            </a:solidFill>
            <a:ln>
              <a:solidFill>
                <a:schemeClr val="accent1"/>
              </a:solidFill>
            </a:ln>
          </p:spPr>
          <p:txBody>
            <a:bodyPr>
              <a:spAutoFit/>
            </a:bodyPr>
            <a:lstStyle/>
            <a:p>
              <a:pPr>
                <a:lnSpc>
                  <a:spcPct val="90000"/>
                </a:lnSpc>
                <a:defRPr/>
              </a:pPr>
              <a:r>
                <a:rPr lang="zh-CN" altLang="en-US" b="1" dirty="0">
                  <a:ea typeface="宋体" pitchFamily="2" charset="-122"/>
                </a:rPr>
                <a:t>公理系统</a:t>
              </a:r>
            </a:p>
            <a:p>
              <a:pPr lvl="1">
                <a:lnSpc>
                  <a:spcPct val="90000"/>
                </a:lnSpc>
                <a:defRPr/>
              </a:pPr>
              <a:r>
                <a:rPr lang="zh-CN" altLang="en-US" sz="2000" b="1" dirty="0">
                  <a:ea typeface="宋体" pitchFamily="2" charset="-122"/>
                </a:rPr>
                <a:t>公理</a:t>
              </a:r>
              <a:r>
                <a:rPr lang="en-US" altLang="zh-CN" sz="2000" b="1" dirty="0">
                  <a:ea typeface="宋体" pitchFamily="2" charset="-122"/>
                </a:rPr>
                <a:t>1</a:t>
              </a:r>
              <a:r>
                <a:rPr lang="zh-CN" altLang="en-US" sz="2000" b="1" dirty="0">
                  <a:ea typeface="宋体" pitchFamily="2" charset="-122"/>
                </a:rPr>
                <a:t>，交换律：</a:t>
              </a:r>
              <a:r>
                <a:rPr lang="en-US" altLang="zh-CN" sz="2000" b="1" dirty="0">
                  <a:ea typeface="宋体" pitchFamily="2" charset="-122"/>
                </a:rPr>
                <a:t>A+B=B+A                         A·B=B·A</a:t>
              </a:r>
            </a:p>
            <a:p>
              <a:pPr lvl="1">
                <a:lnSpc>
                  <a:spcPct val="90000"/>
                </a:lnSpc>
                <a:defRPr/>
              </a:pPr>
              <a:r>
                <a:rPr lang="zh-CN" altLang="en-US" sz="2000" b="1" dirty="0">
                  <a:ea typeface="宋体" pitchFamily="2" charset="-122"/>
                </a:rPr>
                <a:t>公理</a:t>
              </a:r>
              <a:r>
                <a:rPr lang="en-US" altLang="zh-CN" sz="2000" b="1" dirty="0">
                  <a:ea typeface="宋体" pitchFamily="2" charset="-122"/>
                </a:rPr>
                <a:t>2</a:t>
              </a:r>
              <a:r>
                <a:rPr lang="zh-CN" altLang="en-US" sz="2000" b="1" dirty="0">
                  <a:ea typeface="宋体" pitchFamily="2" charset="-122"/>
                </a:rPr>
                <a:t>，结合律：</a:t>
              </a:r>
              <a:r>
                <a:rPr lang="en-US" altLang="zh-CN" sz="2000" b="1" dirty="0">
                  <a:ea typeface="宋体" pitchFamily="2" charset="-122"/>
                </a:rPr>
                <a:t>(A+B)+C= A+(B+C)        (A·B) ·C= A·(B·C)</a:t>
              </a:r>
            </a:p>
            <a:p>
              <a:pPr lvl="1">
                <a:lnSpc>
                  <a:spcPct val="90000"/>
                </a:lnSpc>
                <a:defRPr/>
              </a:pPr>
              <a:r>
                <a:rPr lang="zh-CN" altLang="en-US" sz="2000" b="1" dirty="0">
                  <a:ea typeface="宋体" pitchFamily="2" charset="-122"/>
                </a:rPr>
                <a:t>公理</a:t>
              </a:r>
              <a:r>
                <a:rPr lang="en-US" altLang="zh-CN" sz="2000" b="1" dirty="0">
                  <a:ea typeface="宋体" pitchFamily="2" charset="-122"/>
                </a:rPr>
                <a:t>3</a:t>
              </a:r>
              <a:r>
                <a:rPr lang="zh-CN" altLang="en-US" sz="2000" b="1" dirty="0">
                  <a:ea typeface="宋体" pitchFamily="2" charset="-122"/>
                </a:rPr>
                <a:t>，分配律：</a:t>
              </a:r>
              <a:r>
                <a:rPr lang="en-US" altLang="zh-CN" sz="2000" b="1" dirty="0">
                  <a:ea typeface="宋体" pitchFamily="2" charset="-122"/>
                </a:rPr>
                <a:t>A+(B·C)=(A+B)·(A+C)    A·(B+C)=A·B+A·C</a:t>
              </a:r>
            </a:p>
            <a:p>
              <a:pPr lvl="1">
                <a:lnSpc>
                  <a:spcPct val="90000"/>
                </a:lnSpc>
                <a:defRPr/>
              </a:pPr>
              <a:r>
                <a:rPr lang="zh-CN" altLang="en-US" sz="2000" b="1" dirty="0">
                  <a:ea typeface="宋体" pitchFamily="2" charset="-122"/>
                </a:rPr>
                <a:t>公理</a:t>
              </a:r>
              <a:r>
                <a:rPr lang="en-US" altLang="zh-CN" sz="2000" b="1" dirty="0">
                  <a:ea typeface="宋体" pitchFamily="2" charset="-122"/>
                </a:rPr>
                <a:t>4</a:t>
              </a:r>
              <a:r>
                <a:rPr lang="zh-CN" altLang="en-US" sz="2000" b="1" dirty="0">
                  <a:ea typeface="宋体" pitchFamily="2" charset="-122"/>
                </a:rPr>
                <a:t>，  </a:t>
              </a:r>
              <a:r>
                <a:rPr lang="en-US" altLang="zh-CN" sz="2000" b="1" dirty="0">
                  <a:ea typeface="宋体" pitchFamily="2" charset="-122"/>
                </a:rPr>
                <a:t>0-1</a:t>
              </a:r>
              <a:r>
                <a:rPr lang="zh-CN" altLang="en-US" sz="2000" b="1" dirty="0">
                  <a:ea typeface="宋体" pitchFamily="2" charset="-122"/>
                </a:rPr>
                <a:t>律： </a:t>
              </a:r>
              <a:r>
                <a:rPr lang="en-US" altLang="zh-CN" sz="2000" b="1" dirty="0">
                  <a:ea typeface="宋体" pitchFamily="2" charset="-122"/>
                </a:rPr>
                <a:t>A+0=A    A·1=A                A+1=1    A·0=0</a:t>
              </a:r>
            </a:p>
            <a:p>
              <a:pPr lvl="1">
                <a:lnSpc>
                  <a:spcPct val="90000"/>
                </a:lnSpc>
                <a:defRPr/>
              </a:pPr>
              <a:r>
                <a:rPr lang="zh-CN" altLang="en-US" sz="2000" b="1" dirty="0">
                  <a:ea typeface="宋体" pitchFamily="2" charset="-122"/>
                </a:rPr>
                <a:t>公理</a:t>
              </a:r>
              <a:r>
                <a:rPr lang="en-US" altLang="zh-CN" sz="2000" b="1" dirty="0">
                  <a:ea typeface="宋体" pitchFamily="2" charset="-122"/>
                </a:rPr>
                <a:t>5</a:t>
              </a:r>
              <a:r>
                <a:rPr lang="zh-CN" altLang="en-US" sz="2000" b="1" dirty="0">
                  <a:ea typeface="宋体" pitchFamily="2" charset="-122"/>
                </a:rPr>
                <a:t>，互补律：</a:t>
              </a:r>
              <a:r>
                <a:rPr lang="en-US" altLang="zh-CN" sz="2000" b="1" dirty="0">
                  <a:ea typeface="宋体" pitchFamily="2" charset="-122"/>
                </a:rPr>
                <a:t>A+A=1    A·A=0 </a:t>
              </a:r>
            </a:p>
          </p:txBody>
        </p:sp>
        <p:sp>
          <p:nvSpPr>
            <p:cNvPr id="21514" name="Line 5"/>
            <p:cNvSpPr>
              <a:spLocks noChangeShapeType="1"/>
            </p:cNvSpPr>
            <p:nvPr/>
          </p:nvSpPr>
          <p:spPr bwMode="auto">
            <a:xfrm>
              <a:off x="4857752" y="2357430"/>
              <a:ext cx="2286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1515" name="Line 6"/>
            <p:cNvSpPr>
              <a:spLocks noChangeShapeType="1"/>
            </p:cNvSpPr>
            <p:nvPr/>
          </p:nvSpPr>
          <p:spPr bwMode="auto">
            <a:xfrm>
              <a:off x="3929058" y="2357430"/>
              <a:ext cx="2286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spTree>
  </p:cSld>
  <p:clrMapOvr>
    <a:masterClrMapping/>
  </p:clrMapOvr>
  <p:transition>
    <p:rand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quarter" idx="10"/>
          </p:nvPr>
        </p:nvSpPr>
        <p:spPr>
          <a:xfrm>
            <a:off x="914400" y="5861050"/>
            <a:ext cx="1905000" cy="457200"/>
          </a:xfrm>
        </p:spPr>
        <p:txBody>
          <a:bodyPr/>
          <a:lstStyle/>
          <a:p>
            <a:pPr>
              <a:defRPr/>
            </a:pPr>
            <a:fld id="{9AF0A557-9EDC-451A-B067-3835DCCF72DE}" type="datetime1">
              <a:rPr lang="zh-CN" altLang="en-US" smtClean="0"/>
              <a:pPr>
                <a:defRPr/>
              </a:pPr>
              <a:t>2021/9/21</a:t>
            </a:fld>
            <a:endParaRPr lang="en-US" altLang="zh-CN"/>
          </a:p>
        </p:txBody>
      </p:sp>
      <p:sp>
        <p:nvSpPr>
          <p:cNvPr id="3" name="灯片编号占位符 2"/>
          <p:cNvSpPr>
            <a:spLocks noGrp="1"/>
          </p:cNvSpPr>
          <p:nvPr>
            <p:ph type="sldNum" sz="quarter" idx="12"/>
          </p:nvPr>
        </p:nvSpPr>
        <p:spPr>
          <a:xfrm>
            <a:off x="6781800" y="5861050"/>
            <a:ext cx="1905000" cy="457200"/>
          </a:xfrm>
        </p:spPr>
        <p:txBody>
          <a:bodyPr/>
          <a:lstStyle/>
          <a:p>
            <a:pPr>
              <a:defRPr/>
            </a:pPr>
            <a:fld id="{9FD1BDFE-F2E7-4399-BF78-BCCA5651F2F3}" type="slidenum">
              <a:rPr lang="en-US" altLang="zh-CN" smtClean="0"/>
              <a:pPr>
                <a:defRPr/>
              </a:pPr>
              <a:t>20</a:t>
            </a:fld>
            <a:endParaRPr lang="en-US" altLang="zh-CN"/>
          </a:p>
        </p:txBody>
      </p:sp>
      <p:sp>
        <p:nvSpPr>
          <p:cNvPr id="4" name="Rectangle 2"/>
          <p:cNvSpPr txBox="1">
            <a:spLocks noChangeArrowheads="1"/>
          </p:cNvSpPr>
          <p:nvPr/>
        </p:nvSpPr>
        <p:spPr>
          <a:xfrm>
            <a:off x="457200" y="908050"/>
            <a:ext cx="8382000" cy="4876800"/>
          </a:xfrm>
          <a:prstGeom prst="rect">
            <a:avLst/>
          </a:prstGeom>
        </p:spPr>
        <p:txBody>
          <a:bodyPr/>
          <a:lstStyle/>
          <a:p>
            <a:pPr marL="342900" indent="-342900">
              <a:lnSpc>
                <a:spcPct val="90000"/>
              </a:lnSpc>
              <a:spcBef>
                <a:spcPct val="20000"/>
              </a:spcBef>
              <a:buClr>
                <a:schemeClr val="folHlink"/>
              </a:buClr>
              <a:buSzPct val="60000"/>
              <a:buFont typeface="Wingdings" pitchFamily="2" charset="2"/>
              <a:buChar char="n"/>
              <a:defRPr/>
            </a:pPr>
            <a:endParaRPr kumimoji="0" lang="en-US" altLang="zh-CN" kern="0" dirty="0">
              <a:latin typeface="+mn-lt"/>
              <a:ea typeface="+mn-ea"/>
            </a:endParaRPr>
          </a:p>
          <a:p>
            <a:pPr marL="742950" lvl="1" indent="-285750">
              <a:lnSpc>
                <a:spcPct val="90000"/>
              </a:lnSpc>
              <a:spcBef>
                <a:spcPct val="20000"/>
              </a:spcBef>
              <a:buClr>
                <a:schemeClr val="hlink"/>
              </a:buClr>
              <a:buSzPct val="55000"/>
              <a:buFont typeface="Wingdings" pitchFamily="2" charset="2"/>
              <a:buChar char="n"/>
              <a:defRPr/>
            </a:pPr>
            <a:r>
              <a:rPr kumimoji="0" lang="zh-CN" altLang="en-US" kern="0" dirty="0">
                <a:latin typeface="+mn-lt"/>
                <a:ea typeface="+mn-ea"/>
              </a:rPr>
              <a:t>定理</a:t>
            </a:r>
            <a:r>
              <a:rPr kumimoji="0" lang="en-US" altLang="zh-CN" kern="0" dirty="0">
                <a:latin typeface="+mn-lt"/>
                <a:ea typeface="+mn-ea"/>
              </a:rPr>
              <a:t>5</a:t>
            </a:r>
            <a:r>
              <a:rPr kumimoji="0" lang="zh-CN" altLang="en-US" kern="0" dirty="0">
                <a:latin typeface="+mn-lt"/>
                <a:ea typeface="+mn-ea"/>
              </a:rPr>
              <a:t>，对合律：</a:t>
            </a:r>
            <a:r>
              <a:rPr kumimoji="0" lang="en-US" altLang="zh-CN" kern="0" dirty="0">
                <a:latin typeface="+mn-lt"/>
                <a:ea typeface="+mn-ea"/>
              </a:rPr>
              <a:t>A=A</a:t>
            </a:r>
          </a:p>
        </p:txBody>
      </p:sp>
      <p:grpSp>
        <p:nvGrpSpPr>
          <p:cNvPr id="22533" name="Group 10"/>
          <p:cNvGrpSpPr>
            <a:grpSpLocks/>
          </p:cNvGrpSpPr>
          <p:nvPr/>
        </p:nvGrpSpPr>
        <p:grpSpPr bwMode="auto">
          <a:xfrm>
            <a:off x="3543300" y="1322388"/>
            <a:ext cx="228600" cy="38100"/>
            <a:chOff x="2232" y="2688"/>
            <a:chExt cx="144" cy="24"/>
          </a:xfrm>
        </p:grpSpPr>
        <p:sp>
          <p:nvSpPr>
            <p:cNvPr id="22541" name="Line 8"/>
            <p:cNvSpPr>
              <a:spLocks noChangeShapeType="1"/>
            </p:cNvSpPr>
            <p:nvPr/>
          </p:nvSpPr>
          <p:spPr bwMode="auto">
            <a:xfrm>
              <a:off x="2232" y="2712"/>
              <a:ext cx="144"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2542" name="Line 9"/>
            <p:cNvSpPr>
              <a:spLocks noChangeShapeType="1"/>
            </p:cNvSpPr>
            <p:nvPr/>
          </p:nvSpPr>
          <p:spPr bwMode="auto">
            <a:xfrm>
              <a:off x="2232" y="2688"/>
              <a:ext cx="144"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pic>
        <p:nvPicPr>
          <p:cNvPr id="2253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3938" y="1751013"/>
            <a:ext cx="7096125" cy="250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5"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09938" y="3608388"/>
            <a:ext cx="762000"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6"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47825" y="3965575"/>
            <a:ext cx="2362200"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2537" name="组合 28"/>
          <p:cNvGrpSpPr>
            <a:grpSpLocks/>
          </p:cNvGrpSpPr>
          <p:nvPr/>
        </p:nvGrpSpPr>
        <p:grpSpPr bwMode="auto">
          <a:xfrm>
            <a:off x="1143000" y="4513263"/>
            <a:ext cx="7643813" cy="1809750"/>
            <a:chOff x="1142976" y="862144"/>
            <a:chExt cx="7643866" cy="1809726"/>
          </a:xfrm>
        </p:grpSpPr>
        <p:sp>
          <p:nvSpPr>
            <p:cNvPr id="30" name="矩形 29"/>
            <p:cNvSpPr/>
            <p:nvPr/>
          </p:nvSpPr>
          <p:spPr>
            <a:xfrm>
              <a:off x="1142976" y="862144"/>
              <a:ext cx="7643866" cy="1809726"/>
            </a:xfrm>
            <a:prstGeom prst="rect">
              <a:avLst/>
            </a:prstGeom>
            <a:solidFill>
              <a:schemeClr val="accent1">
                <a:lumMod val="40000"/>
                <a:lumOff val="60000"/>
              </a:schemeClr>
            </a:solidFill>
            <a:ln>
              <a:solidFill>
                <a:schemeClr val="accent1"/>
              </a:solidFill>
            </a:ln>
          </p:spPr>
          <p:txBody>
            <a:bodyPr>
              <a:spAutoFit/>
            </a:bodyPr>
            <a:lstStyle/>
            <a:p>
              <a:pPr>
                <a:lnSpc>
                  <a:spcPct val="90000"/>
                </a:lnSpc>
                <a:defRPr/>
              </a:pPr>
              <a:r>
                <a:rPr lang="zh-CN" altLang="en-US" b="1" dirty="0">
                  <a:ea typeface="宋体" pitchFamily="2" charset="-122"/>
                </a:rPr>
                <a:t>公理系统</a:t>
              </a:r>
            </a:p>
            <a:p>
              <a:pPr lvl="1">
                <a:lnSpc>
                  <a:spcPct val="90000"/>
                </a:lnSpc>
                <a:defRPr/>
              </a:pPr>
              <a:r>
                <a:rPr lang="zh-CN" altLang="en-US" sz="2000" b="1" dirty="0">
                  <a:ea typeface="宋体" pitchFamily="2" charset="-122"/>
                </a:rPr>
                <a:t>公理</a:t>
              </a:r>
              <a:r>
                <a:rPr lang="en-US" altLang="zh-CN" sz="2000" b="1" dirty="0">
                  <a:ea typeface="宋体" pitchFamily="2" charset="-122"/>
                </a:rPr>
                <a:t>1</a:t>
              </a:r>
              <a:r>
                <a:rPr lang="zh-CN" altLang="en-US" sz="2000" b="1" dirty="0">
                  <a:ea typeface="宋体" pitchFamily="2" charset="-122"/>
                </a:rPr>
                <a:t>，交换律：</a:t>
              </a:r>
              <a:r>
                <a:rPr lang="en-US" altLang="zh-CN" sz="2000" b="1" dirty="0">
                  <a:ea typeface="宋体" pitchFamily="2" charset="-122"/>
                </a:rPr>
                <a:t>A+B=B+A                         A·B=B·A</a:t>
              </a:r>
            </a:p>
            <a:p>
              <a:pPr lvl="1">
                <a:lnSpc>
                  <a:spcPct val="90000"/>
                </a:lnSpc>
                <a:defRPr/>
              </a:pPr>
              <a:r>
                <a:rPr lang="zh-CN" altLang="en-US" sz="2000" b="1" dirty="0">
                  <a:ea typeface="宋体" pitchFamily="2" charset="-122"/>
                </a:rPr>
                <a:t>公理</a:t>
              </a:r>
              <a:r>
                <a:rPr lang="en-US" altLang="zh-CN" sz="2000" b="1" dirty="0">
                  <a:ea typeface="宋体" pitchFamily="2" charset="-122"/>
                </a:rPr>
                <a:t>2</a:t>
              </a:r>
              <a:r>
                <a:rPr lang="zh-CN" altLang="en-US" sz="2000" b="1" dirty="0">
                  <a:ea typeface="宋体" pitchFamily="2" charset="-122"/>
                </a:rPr>
                <a:t>，结合律：</a:t>
              </a:r>
              <a:r>
                <a:rPr lang="en-US" altLang="zh-CN" sz="2000" b="1" dirty="0">
                  <a:ea typeface="宋体" pitchFamily="2" charset="-122"/>
                </a:rPr>
                <a:t>(A+B)+C= A+(B+C)        (A·B) ·C= A·(B·C)</a:t>
              </a:r>
            </a:p>
            <a:p>
              <a:pPr lvl="1">
                <a:lnSpc>
                  <a:spcPct val="90000"/>
                </a:lnSpc>
                <a:defRPr/>
              </a:pPr>
              <a:r>
                <a:rPr lang="zh-CN" altLang="en-US" sz="2000" b="1" dirty="0">
                  <a:ea typeface="宋体" pitchFamily="2" charset="-122"/>
                </a:rPr>
                <a:t>公理</a:t>
              </a:r>
              <a:r>
                <a:rPr lang="en-US" altLang="zh-CN" sz="2000" b="1" dirty="0">
                  <a:ea typeface="宋体" pitchFamily="2" charset="-122"/>
                </a:rPr>
                <a:t>3</a:t>
              </a:r>
              <a:r>
                <a:rPr lang="zh-CN" altLang="en-US" sz="2000" b="1" dirty="0">
                  <a:ea typeface="宋体" pitchFamily="2" charset="-122"/>
                </a:rPr>
                <a:t>，分配律：</a:t>
              </a:r>
              <a:r>
                <a:rPr lang="en-US" altLang="zh-CN" sz="2000" b="1" dirty="0">
                  <a:ea typeface="宋体" pitchFamily="2" charset="-122"/>
                </a:rPr>
                <a:t>A+(B·C)=(A+B)·(A+C)    A·(B+C)=A·B+A·C</a:t>
              </a:r>
            </a:p>
            <a:p>
              <a:pPr lvl="1">
                <a:lnSpc>
                  <a:spcPct val="90000"/>
                </a:lnSpc>
                <a:defRPr/>
              </a:pPr>
              <a:r>
                <a:rPr lang="zh-CN" altLang="en-US" sz="2000" b="1" dirty="0">
                  <a:ea typeface="宋体" pitchFamily="2" charset="-122"/>
                </a:rPr>
                <a:t>公理</a:t>
              </a:r>
              <a:r>
                <a:rPr lang="en-US" altLang="zh-CN" sz="2000" b="1" dirty="0">
                  <a:ea typeface="宋体" pitchFamily="2" charset="-122"/>
                </a:rPr>
                <a:t>4</a:t>
              </a:r>
              <a:r>
                <a:rPr lang="zh-CN" altLang="en-US" sz="2000" b="1" dirty="0">
                  <a:ea typeface="宋体" pitchFamily="2" charset="-122"/>
                </a:rPr>
                <a:t>，  </a:t>
              </a:r>
              <a:r>
                <a:rPr lang="en-US" altLang="zh-CN" sz="2000" b="1" dirty="0">
                  <a:ea typeface="宋体" pitchFamily="2" charset="-122"/>
                </a:rPr>
                <a:t>0-1</a:t>
              </a:r>
              <a:r>
                <a:rPr lang="zh-CN" altLang="en-US" sz="2000" b="1" dirty="0">
                  <a:ea typeface="宋体" pitchFamily="2" charset="-122"/>
                </a:rPr>
                <a:t>律： </a:t>
              </a:r>
              <a:r>
                <a:rPr lang="en-US" altLang="zh-CN" sz="2000" b="1" dirty="0">
                  <a:ea typeface="宋体" pitchFamily="2" charset="-122"/>
                </a:rPr>
                <a:t>A+0=A    A·1=A                A+1=1    A·0=0</a:t>
              </a:r>
            </a:p>
            <a:p>
              <a:pPr lvl="1">
                <a:lnSpc>
                  <a:spcPct val="90000"/>
                </a:lnSpc>
                <a:defRPr/>
              </a:pPr>
              <a:r>
                <a:rPr lang="zh-CN" altLang="en-US" sz="2000" b="1" dirty="0">
                  <a:ea typeface="宋体" pitchFamily="2" charset="-122"/>
                </a:rPr>
                <a:t>公理</a:t>
              </a:r>
              <a:r>
                <a:rPr lang="en-US" altLang="zh-CN" sz="2000" b="1" dirty="0">
                  <a:ea typeface="宋体" pitchFamily="2" charset="-122"/>
                </a:rPr>
                <a:t>5</a:t>
              </a:r>
              <a:r>
                <a:rPr lang="zh-CN" altLang="en-US" sz="2000" b="1" dirty="0">
                  <a:ea typeface="宋体" pitchFamily="2" charset="-122"/>
                </a:rPr>
                <a:t>，互补律：</a:t>
              </a:r>
              <a:r>
                <a:rPr lang="en-US" altLang="zh-CN" sz="2000" b="1" dirty="0">
                  <a:ea typeface="宋体" pitchFamily="2" charset="-122"/>
                </a:rPr>
                <a:t>A+A=1    A·A=0 </a:t>
              </a:r>
            </a:p>
          </p:txBody>
        </p:sp>
        <p:sp>
          <p:nvSpPr>
            <p:cNvPr id="22539" name="Line 5"/>
            <p:cNvSpPr>
              <a:spLocks noChangeShapeType="1"/>
            </p:cNvSpPr>
            <p:nvPr/>
          </p:nvSpPr>
          <p:spPr bwMode="auto">
            <a:xfrm>
              <a:off x="4857752" y="2357430"/>
              <a:ext cx="2286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2540" name="Line 6"/>
            <p:cNvSpPr>
              <a:spLocks noChangeShapeType="1"/>
            </p:cNvSpPr>
            <p:nvPr/>
          </p:nvSpPr>
          <p:spPr bwMode="auto">
            <a:xfrm>
              <a:off x="3929058" y="2357430"/>
              <a:ext cx="2286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spTree>
  </p:cSld>
  <p:clrMapOvr>
    <a:masterClrMapping/>
  </p:clrMapOvr>
  <p:transition>
    <p:rand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quarter" idx="10"/>
          </p:nvPr>
        </p:nvSpPr>
        <p:spPr/>
        <p:txBody>
          <a:bodyPr/>
          <a:lstStyle/>
          <a:p>
            <a:pPr>
              <a:defRPr/>
            </a:pPr>
            <a:fld id="{9AF0A557-9EDC-451A-B067-3835DCCF72DE}" type="datetime1">
              <a:rPr lang="zh-CN" altLang="en-US" smtClean="0"/>
              <a:pPr>
                <a:defRPr/>
              </a:pPr>
              <a:t>2021/9/21</a:t>
            </a:fld>
            <a:endParaRPr lang="en-US" altLang="zh-CN"/>
          </a:p>
        </p:txBody>
      </p:sp>
      <p:sp>
        <p:nvSpPr>
          <p:cNvPr id="3" name="灯片编号占位符 2"/>
          <p:cNvSpPr>
            <a:spLocks noGrp="1"/>
          </p:cNvSpPr>
          <p:nvPr>
            <p:ph type="sldNum" sz="quarter" idx="12"/>
          </p:nvPr>
        </p:nvSpPr>
        <p:spPr/>
        <p:txBody>
          <a:bodyPr/>
          <a:lstStyle/>
          <a:p>
            <a:pPr>
              <a:defRPr/>
            </a:pPr>
            <a:fld id="{9C9985EF-72B6-4B0F-A2A5-5C875D006427}" type="slidenum">
              <a:rPr lang="en-US" altLang="zh-CN" smtClean="0"/>
              <a:pPr>
                <a:defRPr/>
              </a:pPr>
              <a:t>21</a:t>
            </a:fld>
            <a:endParaRPr lang="en-US" altLang="zh-CN"/>
          </a:p>
        </p:txBody>
      </p:sp>
      <p:sp>
        <p:nvSpPr>
          <p:cNvPr id="4" name="Rectangle 2"/>
          <p:cNvSpPr txBox="1">
            <a:spLocks noChangeArrowheads="1"/>
          </p:cNvSpPr>
          <p:nvPr/>
        </p:nvSpPr>
        <p:spPr>
          <a:xfrm>
            <a:off x="457200" y="1371600"/>
            <a:ext cx="8382000" cy="4876800"/>
          </a:xfrm>
          <a:prstGeom prst="rect">
            <a:avLst/>
          </a:prstGeom>
        </p:spPr>
        <p:txBody>
          <a:bodyPr/>
          <a:lstStyle/>
          <a:p>
            <a:pPr marL="742950" lvl="1" indent="-285750">
              <a:lnSpc>
                <a:spcPct val="90000"/>
              </a:lnSpc>
              <a:spcBef>
                <a:spcPct val="20000"/>
              </a:spcBef>
              <a:buClr>
                <a:schemeClr val="hlink"/>
              </a:buClr>
              <a:buSzPct val="55000"/>
              <a:buFont typeface="Wingdings" pitchFamily="2" charset="2"/>
              <a:buChar char="n"/>
              <a:defRPr/>
            </a:pPr>
            <a:r>
              <a:rPr kumimoji="0" lang="zh-CN" altLang="en-US" kern="0" dirty="0">
                <a:latin typeface="+mn-lt"/>
                <a:ea typeface="+mn-ea"/>
              </a:rPr>
              <a:t>定理</a:t>
            </a:r>
            <a:r>
              <a:rPr kumimoji="0" lang="en-US" altLang="zh-CN" kern="0" dirty="0">
                <a:latin typeface="+mn-lt"/>
                <a:ea typeface="+mn-ea"/>
              </a:rPr>
              <a:t>6</a:t>
            </a:r>
            <a:r>
              <a:rPr kumimoji="0" lang="zh-CN" altLang="en-US" kern="0" dirty="0">
                <a:latin typeface="+mn-lt"/>
                <a:ea typeface="+mn-ea"/>
              </a:rPr>
              <a:t>，狄</a:t>
            </a:r>
            <a:r>
              <a:rPr kumimoji="0" lang="en-US" altLang="zh-CN" kern="0" dirty="0">
                <a:latin typeface="+mn-lt"/>
                <a:ea typeface="+mn-ea"/>
              </a:rPr>
              <a:t>·</a:t>
            </a:r>
            <a:r>
              <a:rPr kumimoji="0" lang="zh-CN" altLang="en-US" kern="0" dirty="0">
                <a:latin typeface="+mn-lt"/>
                <a:ea typeface="+mn-ea"/>
              </a:rPr>
              <a:t>摩根定理：</a:t>
            </a:r>
            <a:r>
              <a:rPr kumimoji="0" lang="en-US" altLang="zh-CN" kern="0" dirty="0">
                <a:latin typeface="+mn-lt"/>
                <a:ea typeface="+mn-ea"/>
              </a:rPr>
              <a:t>A+B=A·B    </a:t>
            </a:r>
            <a:r>
              <a:rPr kumimoji="0" lang="en-US" altLang="zh-CN" kern="0" dirty="0" err="1">
                <a:latin typeface="+mn-lt"/>
                <a:ea typeface="+mn-ea"/>
              </a:rPr>
              <a:t>A·B</a:t>
            </a:r>
            <a:r>
              <a:rPr kumimoji="0" lang="en-US" altLang="zh-CN" kern="0" dirty="0">
                <a:latin typeface="+mn-lt"/>
                <a:ea typeface="+mn-ea"/>
              </a:rPr>
              <a:t>=A+B</a:t>
            </a:r>
          </a:p>
          <a:p>
            <a:pPr marL="742950" lvl="1" indent="-285750">
              <a:lnSpc>
                <a:spcPct val="90000"/>
              </a:lnSpc>
              <a:spcBef>
                <a:spcPct val="20000"/>
              </a:spcBef>
              <a:buClr>
                <a:schemeClr val="hlink"/>
              </a:buClr>
              <a:buSzPct val="55000"/>
              <a:buFont typeface="Wingdings" pitchFamily="2" charset="2"/>
              <a:buNone/>
              <a:defRPr/>
            </a:pPr>
            <a:endParaRPr kumimoji="0" lang="en-US" altLang="zh-CN" kern="0" dirty="0">
              <a:latin typeface="+mn-lt"/>
              <a:ea typeface="+mn-ea"/>
            </a:endParaRPr>
          </a:p>
        </p:txBody>
      </p:sp>
      <p:sp>
        <p:nvSpPr>
          <p:cNvPr id="23557" name="Line 11"/>
          <p:cNvSpPr>
            <a:spLocks noChangeShapeType="1"/>
          </p:cNvSpPr>
          <p:nvPr/>
        </p:nvSpPr>
        <p:spPr bwMode="auto">
          <a:xfrm>
            <a:off x="4273550" y="1395413"/>
            <a:ext cx="6096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3558" name="Line 12"/>
          <p:cNvSpPr>
            <a:spLocks noChangeShapeType="1"/>
          </p:cNvSpPr>
          <p:nvPr/>
        </p:nvSpPr>
        <p:spPr bwMode="auto">
          <a:xfrm>
            <a:off x="5060950" y="1395413"/>
            <a:ext cx="2286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3559" name="Line 13"/>
          <p:cNvSpPr>
            <a:spLocks noChangeShapeType="1"/>
          </p:cNvSpPr>
          <p:nvPr/>
        </p:nvSpPr>
        <p:spPr bwMode="auto">
          <a:xfrm>
            <a:off x="5340350" y="1395413"/>
            <a:ext cx="2286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3560" name="Line 14"/>
          <p:cNvSpPr>
            <a:spLocks noChangeShapeType="1"/>
          </p:cNvSpPr>
          <p:nvPr/>
        </p:nvSpPr>
        <p:spPr bwMode="auto">
          <a:xfrm>
            <a:off x="5937250" y="1395413"/>
            <a:ext cx="4572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3561" name="Line 15"/>
          <p:cNvSpPr>
            <a:spLocks noChangeShapeType="1"/>
          </p:cNvSpPr>
          <p:nvPr/>
        </p:nvSpPr>
        <p:spPr bwMode="auto">
          <a:xfrm>
            <a:off x="6584950" y="1395413"/>
            <a:ext cx="2286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3562" name="Line 16"/>
          <p:cNvSpPr>
            <a:spLocks noChangeShapeType="1"/>
          </p:cNvSpPr>
          <p:nvPr/>
        </p:nvSpPr>
        <p:spPr bwMode="auto">
          <a:xfrm>
            <a:off x="6978650" y="1395413"/>
            <a:ext cx="2286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pic>
        <p:nvPicPr>
          <p:cNvPr id="2356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7250" y="1852613"/>
            <a:ext cx="7643813" cy="486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组合 24"/>
          <p:cNvGrpSpPr>
            <a:grpSpLocks/>
          </p:cNvGrpSpPr>
          <p:nvPr/>
        </p:nvGrpSpPr>
        <p:grpSpPr bwMode="auto">
          <a:xfrm>
            <a:off x="1357313" y="71438"/>
            <a:ext cx="7643812" cy="1809750"/>
            <a:chOff x="1142976" y="862144"/>
            <a:chExt cx="7643866" cy="1809726"/>
          </a:xfrm>
        </p:grpSpPr>
        <p:sp>
          <p:nvSpPr>
            <p:cNvPr id="26" name="矩形 25"/>
            <p:cNvSpPr/>
            <p:nvPr/>
          </p:nvSpPr>
          <p:spPr>
            <a:xfrm>
              <a:off x="1142976" y="862144"/>
              <a:ext cx="7643866" cy="1809726"/>
            </a:xfrm>
            <a:prstGeom prst="rect">
              <a:avLst/>
            </a:prstGeom>
            <a:solidFill>
              <a:schemeClr val="accent1">
                <a:lumMod val="40000"/>
                <a:lumOff val="60000"/>
              </a:schemeClr>
            </a:solidFill>
            <a:ln>
              <a:solidFill>
                <a:schemeClr val="accent1"/>
              </a:solidFill>
            </a:ln>
          </p:spPr>
          <p:txBody>
            <a:bodyPr>
              <a:spAutoFit/>
            </a:bodyPr>
            <a:lstStyle/>
            <a:p>
              <a:pPr>
                <a:lnSpc>
                  <a:spcPct val="90000"/>
                </a:lnSpc>
                <a:defRPr/>
              </a:pPr>
              <a:r>
                <a:rPr lang="zh-CN" altLang="en-US" b="1" dirty="0">
                  <a:ea typeface="宋体" pitchFamily="2" charset="-122"/>
                </a:rPr>
                <a:t>公理系统</a:t>
              </a:r>
            </a:p>
            <a:p>
              <a:pPr lvl="1">
                <a:lnSpc>
                  <a:spcPct val="90000"/>
                </a:lnSpc>
                <a:defRPr/>
              </a:pPr>
              <a:r>
                <a:rPr lang="zh-CN" altLang="en-US" sz="2000" b="1" dirty="0">
                  <a:ea typeface="宋体" pitchFamily="2" charset="-122"/>
                </a:rPr>
                <a:t>公理</a:t>
              </a:r>
              <a:r>
                <a:rPr lang="en-US" altLang="zh-CN" sz="2000" b="1" dirty="0">
                  <a:ea typeface="宋体" pitchFamily="2" charset="-122"/>
                </a:rPr>
                <a:t>1</a:t>
              </a:r>
              <a:r>
                <a:rPr lang="zh-CN" altLang="en-US" sz="2000" b="1" dirty="0">
                  <a:ea typeface="宋体" pitchFamily="2" charset="-122"/>
                </a:rPr>
                <a:t>，交换律：</a:t>
              </a:r>
              <a:r>
                <a:rPr lang="en-US" altLang="zh-CN" sz="2000" b="1" dirty="0">
                  <a:ea typeface="宋体" pitchFamily="2" charset="-122"/>
                </a:rPr>
                <a:t>A+B=B+A                         A·B=B·A</a:t>
              </a:r>
            </a:p>
            <a:p>
              <a:pPr lvl="1">
                <a:lnSpc>
                  <a:spcPct val="90000"/>
                </a:lnSpc>
                <a:defRPr/>
              </a:pPr>
              <a:r>
                <a:rPr lang="zh-CN" altLang="en-US" sz="2000" b="1" dirty="0">
                  <a:ea typeface="宋体" pitchFamily="2" charset="-122"/>
                </a:rPr>
                <a:t>公理</a:t>
              </a:r>
              <a:r>
                <a:rPr lang="en-US" altLang="zh-CN" sz="2000" b="1" dirty="0">
                  <a:ea typeface="宋体" pitchFamily="2" charset="-122"/>
                </a:rPr>
                <a:t>2</a:t>
              </a:r>
              <a:r>
                <a:rPr lang="zh-CN" altLang="en-US" sz="2000" b="1" dirty="0">
                  <a:ea typeface="宋体" pitchFamily="2" charset="-122"/>
                </a:rPr>
                <a:t>，结合律：</a:t>
              </a:r>
              <a:r>
                <a:rPr lang="en-US" altLang="zh-CN" sz="2000" b="1" dirty="0">
                  <a:ea typeface="宋体" pitchFamily="2" charset="-122"/>
                </a:rPr>
                <a:t>(A+B)+C= A+(B+C)        (A·B) ·C= A·(B·C)</a:t>
              </a:r>
            </a:p>
            <a:p>
              <a:pPr lvl="1">
                <a:lnSpc>
                  <a:spcPct val="90000"/>
                </a:lnSpc>
                <a:defRPr/>
              </a:pPr>
              <a:r>
                <a:rPr lang="zh-CN" altLang="en-US" sz="2000" b="1" dirty="0">
                  <a:ea typeface="宋体" pitchFamily="2" charset="-122"/>
                </a:rPr>
                <a:t>公理</a:t>
              </a:r>
              <a:r>
                <a:rPr lang="en-US" altLang="zh-CN" sz="2000" b="1" dirty="0">
                  <a:ea typeface="宋体" pitchFamily="2" charset="-122"/>
                </a:rPr>
                <a:t>3</a:t>
              </a:r>
              <a:r>
                <a:rPr lang="zh-CN" altLang="en-US" sz="2000" b="1" dirty="0">
                  <a:ea typeface="宋体" pitchFamily="2" charset="-122"/>
                </a:rPr>
                <a:t>，分配律：</a:t>
              </a:r>
              <a:r>
                <a:rPr lang="en-US" altLang="zh-CN" sz="2000" b="1" dirty="0">
                  <a:ea typeface="宋体" pitchFamily="2" charset="-122"/>
                </a:rPr>
                <a:t>A+(B·C)=(A+B)·(A+C)    A·(B+C)=A·B+A·C</a:t>
              </a:r>
            </a:p>
            <a:p>
              <a:pPr lvl="1">
                <a:lnSpc>
                  <a:spcPct val="90000"/>
                </a:lnSpc>
                <a:defRPr/>
              </a:pPr>
              <a:r>
                <a:rPr lang="zh-CN" altLang="en-US" sz="2000" b="1" dirty="0">
                  <a:ea typeface="宋体" pitchFamily="2" charset="-122"/>
                </a:rPr>
                <a:t>公理</a:t>
              </a:r>
              <a:r>
                <a:rPr lang="en-US" altLang="zh-CN" sz="2000" b="1" dirty="0">
                  <a:ea typeface="宋体" pitchFamily="2" charset="-122"/>
                </a:rPr>
                <a:t>4</a:t>
              </a:r>
              <a:r>
                <a:rPr lang="zh-CN" altLang="en-US" sz="2000" b="1" dirty="0">
                  <a:ea typeface="宋体" pitchFamily="2" charset="-122"/>
                </a:rPr>
                <a:t>，  </a:t>
              </a:r>
              <a:r>
                <a:rPr lang="en-US" altLang="zh-CN" sz="2000" b="1" dirty="0">
                  <a:ea typeface="宋体" pitchFamily="2" charset="-122"/>
                </a:rPr>
                <a:t>0-1</a:t>
              </a:r>
              <a:r>
                <a:rPr lang="zh-CN" altLang="en-US" sz="2000" b="1" dirty="0">
                  <a:ea typeface="宋体" pitchFamily="2" charset="-122"/>
                </a:rPr>
                <a:t>律： </a:t>
              </a:r>
              <a:r>
                <a:rPr lang="en-US" altLang="zh-CN" sz="2000" b="1" dirty="0">
                  <a:ea typeface="宋体" pitchFamily="2" charset="-122"/>
                </a:rPr>
                <a:t>A+0=A    A·1=A                A+1=1    A·0=0</a:t>
              </a:r>
            </a:p>
            <a:p>
              <a:pPr lvl="1">
                <a:lnSpc>
                  <a:spcPct val="90000"/>
                </a:lnSpc>
                <a:defRPr/>
              </a:pPr>
              <a:r>
                <a:rPr lang="zh-CN" altLang="en-US" sz="2000" b="1" dirty="0">
                  <a:ea typeface="宋体" pitchFamily="2" charset="-122"/>
                </a:rPr>
                <a:t>公理</a:t>
              </a:r>
              <a:r>
                <a:rPr lang="en-US" altLang="zh-CN" sz="2000" b="1" dirty="0">
                  <a:ea typeface="宋体" pitchFamily="2" charset="-122"/>
                </a:rPr>
                <a:t>5</a:t>
              </a:r>
              <a:r>
                <a:rPr lang="zh-CN" altLang="en-US" sz="2000" b="1" dirty="0">
                  <a:ea typeface="宋体" pitchFamily="2" charset="-122"/>
                </a:rPr>
                <a:t>，互补律：</a:t>
              </a:r>
              <a:r>
                <a:rPr lang="en-US" altLang="zh-CN" sz="2000" b="1" dirty="0">
                  <a:ea typeface="宋体" pitchFamily="2" charset="-122"/>
                </a:rPr>
                <a:t>A+A=1    A·A=0 </a:t>
              </a:r>
            </a:p>
          </p:txBody>
        </p:sp>
        <p:sp>
          <p:nvSpPr>
            <p:cNvPr id="23566" name="Line 5"/>
            <p:cNvSpPr>
              <a:spLocks noChangeShapeType="1"/>
            </p:cNvSpPr>
            <p:nvPr/>
          </p:nvSpPr>
          <p:spPr bwMode="auto">
            <a:xfrm>
              <a:off x="4857752" y="2357430"/>
              <a:ext cx="2286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3567" name="Line 6"/>
            <p:cNvSpPr>
              <a:spLocks noChangeShapeType="1"/>
            </p:cNvSpPr>
            <p:nvPr/>
          </p:nvSpPr>
          <p:spPr bwMode="auto">
            <a:xfrm>
              <a:off x="3929058" y="2357430"/>
              <a:ext cx="2286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quarter" idx="10"/>
          </p:nvPr>
        </p:nvSpPr>
        <p:spPr/>
        <p:txBody>
          <a:bodyPr/>
          <a:lstStyle/>
          <a:p>
            <a:pPr>
              <a:defRPr/>
            </a:pPr>
            <a:fld id="{9AF0A557-9EDC-451A-B067-3835DCCF72DE}" type="datetime1">
              <a:rPr lang="zh-CN" altLang="en-US" smtClean="0"/>
              <a:pPr>
                <a:defRPr/>
              </a:pPr>
              <a:t>2021/9/21</a:t>
            </a:fld>
            <a:endParaRPr lang="en-US" altLang="zh-CN"/>
          </a:p>
        </p:txBody>
      </p:sp>
      <p:sp>
        <p:nvSpPr>
          <p:cNvPr id="3" name="灯片编号占位符 2"/>
          <p:cNvSpPr>
            <a:spLocks noGrp="1"/>
          </p:cNvSpPr>
          <p:nvPr>
            <p:ph type="sldNum" sz="quarter" idx="12"/>
          </p:nvPr>
        </p:nvSpPr>
        <p:spPr/>
        <p:txBody>
          <a:bodyPr/>
          <a:lstStyle/>
          <a:p>
            <a:pPr>
              <a:defRPr/>
            </a:pPr>
            <a:fld id="{75C9737A-DA74-42BE-A6AF-3ACAED27A803}" type="slidenum">
              <a:rPr lang="en-US" altLang="zh-CN" smtClean="0"/>
              <a:pPr>
                <a:defRPr/>
              </a:pPr>
              <a:t>22</a:t>
            </a:fld>
            <a:endParaRPr lang="en-US" altLang="zh-CN"/>
          </a:p>
        </p:txBody>
      </p:sp>
      <p:sp>
        <p:nvSpPr>
          <p:cNvPr id="4" name="Rectangle 2"/>
          <p:cNvSpPr txBox="1">
            <a:spLocks noChangeArrowheads="1"/>
          </p:cNvSpPr>
          <p:nvPr/>
        </p:nvSpPr>
        <p:spPr>
          <a:xfrm>
            <a:off x="457200" y="1371600"/>
            <a:ext cx="8382000" cy="4876800"/>
          </a:xfrm>
          <a:prstGeom prst="rect">
            <a:avLst/>
          </a:prstGeom>
        </p:spPr>
        <p:txBody>
          <a:bodyPr/>
          <a:lstStyle/>
          <a:p>
            <a:pPr marL="742950" lvl="1" indent="-285750">
              <a:lnSpc>
                <a:spcPct val="90000"/>
              </a:lnSpc>
              <a:spcBef>
                <a:spcPct val="20000"/>
              </a:spcBef>
              <a:buClr>
                <a:schemeClr val="hlink"/>
              </a:buClr>
              <a:buSzPct val="55000"/>
              <a:buFont typeface="Wingdings" pitchFamily="2" charset="2"/>
              <a:buChar char="n"/>
              <a:defRPr/>
            </a:pPr>
            <a:r>
              <a:rPr kumimoji="0" lang="zh-CN" altLang="en-US" kern="0" dirty="0">
                <a:latin typeface="+mn-lt"/>
                <a:ea typeface="+mn-ea"/>
              </a:rPr>
              <a:t>定理</a:t>
            </a:r>
            <a:r>
              <a:rPr kumimoji="0" lang="en-US" altLang="zh-CN" kern="0" dirty="0">
                <a:latin typeface="+mn-lt"/>
                <a:ea typeface="+mn-ea"/>
              </a:rPr>
              <a:t>7,</a:t>
            </a:r>
            <a:r>
              <a:rPr kumimoji="0" lang="zh-CN" altLang="en-US" kern="0" dirty="0">
                <a:latin typeface="+mn-lt"/>
                <a:ea typeface="+mn-ea"/>
              </a:rPr>
              <a:t>相邻</a:t>
            </a:r>
            <a:r>
              <a:rPr kumimoji="0" lang="zh-CN" altLang="en-US" kern="0" dirty="0">
                <a:ea typeface="宋体" pitchFamily="2" charset="-122"/>
              </a:rPr>
              <a:t>律</a:t>
            </a:r>
            <a:r>
              <a:rPr kumimoji="0" lang="zh-CN" altLang="en-US" kern="0" dirty="0">
                <a:latin typeface="+mn-lt"/>
                <a:ea typeface="+mn-ea"/>
              </a:rPr>
              <a:t>：</a:t>
            </a:r>
            <a:r>
              <a:rPr kumimoji="0" lang="en-US" altLang="zh-CN" kern="0" dirty="0">
                <a:latin typeface="+mn-lt"/>
                <a:ea typeface="+mn-ea"/>
              </a:rPr>
              <a:t>A·B+A·B=A    (A+B)·(A+B)=A</a:t>
            </a:r>
          </a:p>
        </p:txBody>
      </p:sp>
      <p:sp>
        <p:nvSpPr>
          <p:cNvPr id="24581" name="Line 17"/>
          <p:cNvSpPr>
            <a:spLocks noChangeShapeType="1"/>
          </p:cNvSpPr>
          <p:nvPr/>
        </p:nvSpPr>
        <p:spPr bwMode="auto">
          <a:xfrm>
            <a:off x="4271963" y="1416050"/>
            <a:ext cx="2286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4582" name="Line 18"/>
          <p:cNvSpPr>
            <a:spLocks noChangeShapeType="1"/>
          </p:cNvSpPr>
          <p:nvPr/>
        </p:nvSpPr>
        <p:spPr bwMode="auto">
          <a:xfrm>
            <a:off x="6700838" y="1416050"/>
            <a:ext cx="2286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pic>
        <p:nvPicPr>
          <p:cNvPr id="2458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2513" y="1903413"/>
            <a:ext cx="7038975" cy="1490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4584" name="组合 24"/>
          <p:cNvGrpSpPr>
            <a:grpSpLocks/>
          </p:cNvGrpSpPr>
          <p:nvPr/>
        </p:nvGrpSpPr>
        <p:grpSpPr bwMode="auto">
          <a:xfrm>
            <a:off x="1143000" y="4572000"/>
            <a:ext cx="7643813" cy="1809750"/>
            <a:chOff x="1142976" y="862144"/>
            <a:chExt cx="7643866" cy="1809726"/>
          </a:xfrm>
        </p:grpSpPr>
        <p:sp>
          <p:nvSpPr>
            <p:cNvPr id="26" name="矩形 25"/>
            <p:cNvSpPr/>
            <p:nvPr/>
          </p:nvSpPr>
          <p:spPr>
            <a:xfrm>
              <a:off x="1142976" y="862144"/>
              <a:ext cx="7643866" cy="1809726"/>
            </a:xfrm>
            <a:prstGeom prst="rect">
              <a:avLst/>
            </a:prstGeom>
            <a:solidFill>
              <a:schemeClr val="accent1">
                <a:lumMod val="40000"/>
                <a:lumOff val="60000"/>
              </a:schemeClr>
            </a:solidFill>
            <a:ln>
              <a:solidFill>
                <a:schemeClr val="accent1"/>
              </a:solidFill>
            </a:ln>
          </p:spPr>
          <p:txBody>
            <a:bodyPr>
              <a:spAutoFit/>
            </a:bodyPr>
            <a:lstStyle/>
            <a:p>
              <a:pPr>
                <a:lnSpc>
                  <a:spcPct val="90000"/>
                </a:lnSpc>
                <a:defRPr/>
              </a:pPr>
              <a:r>
                <a:rPr lang="zh-CN" altLang="en-US" b="1" dirty="0">
                  <a:ea typeface="宋体" pitchFamily="2" charset="-122"/>
                </a:rPr>
                <a:t>公理系统</a:t>
              </a:r>
            </a:p>
            <a:p>
              <a:pPr lvl="1">
                <a:lnSpc>
                  <a:spcPct val="90000"/>
                </a:lnSpc>
                <a:defRPr/>
              </a:pPr>
              <a:r>
                <a:rPr lang="zh-CN" altLang="en-US" sz="2000" b="1" dirty="0">
                  <a:ea typeface="宋体" pitchFamily="2" charset="-122"/>
                </a:rPr>
                <a:t>公理</a:t>
              </a:r>
              <a:r>
                <a:rPr lang="en-US" altLang="zh-CN" sz="2000" b="1" dirty="0">
                  <a:ea typeface="宋体" pitchFamily="2" charset="-122"/>
                </a:rPr>
                <a:t>1</a:t>
              </a:r>
              <a:r>
                <a:rPr lang="zh-CN" altLang="en-US" sz="2000" b="1" dirty="0">
                  <a:ea typeface="宋体" pitchFamily="2" charset="-122"/>
                </a:rPr>
                <a:t>，交换律：</a:t>
              </a:r>
              <a:r>
                <a:rPr lang="en-US" altLang="zh-CN" sz="2000" b="1" dirty="0">
                  <a:ea typeface="宋体" pitchFamily="2" charset="-122"/>
                </a:rPr>
                <a:t>A+B=B+A                         A·B=B·A</a:t>
              </a:r>
            </a:p>
            <a:p>
              <a:pPr lvl="1">
                <a:lnSpc>
                  <a:spcPct val="90000"/>
                </a:lnSpc>
                <a:defRPr/>
              </a:pPr>
              <a:r>
                <a:rPr lang="zh-CN" altLang="en-US" sz="2000" b="1" dirty="0">
                  <a:ea typeface="宋体" pitchFamily="2" charset="-122"/>
                </a:rPr>
                <a:t>公理</a:t>
              </a:r>
              <a:r>
                <a:rPr lang="en-US" altLang="zh-CN" sz="2000" b="1" dirty="0">
                  <a:ea typeface="宋体" pitchFamily="2" charset="-122"/>
                </a:rPr>
                <a:t>2</a:t>
              </a:r>
              <a:r>
                <a:rPr lang="zh-CN" altLang="en-US" sz="2000" b="1" dirty="0">
                  <a:ea typeface="宋体" pitchFamily="2" charset="-122"/>
                </a:rPr>
                <a:t>，结合律：</a:t>
              </a:r>
              <a:r>
                <a:rPr lang="en-US" altLang="zh-CN" sz="2000" b="1" dirty="0">
                  <a:ea typeface="宋体" pitchFamily="2" charset="-122"/>
                </a:rPr>
                <a:t>(A+B)+C= A+(B+C)        (A·B) ·C= A·(B·C)</a:t>
              </a:r>
            </a:p>
            <a:p>
              <a:pPr lvl="1">
                <a:lnSpc>
                  <a:spcPct val="90000"/>
                </a:lnSpc>
                <a:defRPr/>
              </a:pPr>
              <a:r>
                <a:rPr lang="zh-CN" altLang="en-US" sz="2000" b="1" dirty="0">
                  <a:ea typeface="宋体" pitchFamily="2" charset="-122"/>
                </a:rPr>
                <a:t>公理</a:t>
              </a:r>
              <a:r>
                <a:rPr lang="en-US" altLang="zh-CN" sz="2000" b="1" dirty="0">
                  <a:ea typeface="宋体" pitchFamily="2" charset="-122"/>
                </a:rPr>
                <a:t>3</a:t>
              </a:r>
              <a:r>
                <a:rPr lang="zh-CN" altLang="en-US" sz="2000" b="1" dirty="0">
                  <a:ea typeface="宋体" pitchFamily="2" charset="-122"/>
                </a:rPr>
                <a:t>，分配律：</a:t>
              </a:r>
              <a:r>
                <a:rPr lang="en-US" altLang="zh-CN" sz="2000" b="1" dirty="0">
                  <a:ea typeface="宋体" pitchFamily="2" charset="-122"/>
                </a:rPr>
                <a:t>A+(B·C)=(A+B)·(A+C)    A·(B+C)=A·B+A·C</a:t>
              </a:r>
            </a:p>
            <a:p>
              <a:pPr lvl="1">
                <a:lnSpc>
                  <a:spcPct val="90000"/>
                </a:lnSpc>
                <a:defRPr/>
              </a:pPr>
              <a:r>
                <a:rPr lang="zh-CN" altLang="en-US" sz="2000" b="1" dirty="0">
                  <a:ea typeface="宋体" pitchFamily="2" charset="-122"/>
                </a:rPr>
                <a:t>公理</a:t>
              </a:r>
              <a:r>
                <a:rPr lang="en-US" altLang="zh-CN" sz="2000" b="1" dirty="0">
                  <a:ea typeface="宋体" pitchFamily="2" charset="-122"/>
                </a:rPr>
                <a:t>4</a:t>
              </a:r>
              <a:r>
                <a:rPr lang="zh-CN" altLang="en-US" sz="2000" b="1" dirty="0">
                  <a:ea typeface="宋体" pitchFamily="2" charset="-122"/>
                </a:rPr>
                <a:t>，  </a:t>
              </a:r>
              <a:r>
                <a:rPr lang="en-US" altLang="zh-CN" sz="2000" b="1" dirty="0">
                  <a:ea typeface="宋体" pitchFamily="2" charset="-122"/>
                </a:rPr>
                <a:t>0-1</a:t>
              </a:r>
              <a:r>
                <a:rPr lang="zh-CN" altLang="en-US" sz="2000" b="1" dirty="0">
                  <a:ea typeface="宋体" pitchFamily="2" charset="-122"/>
                </a:rPr>
                <a:t>律： </a:t>
              </a:r>
              <a:r>
                <a:rPr lang="en-US" altLang="zh-CN" sz="2000" b="1" dirty="0">
                  <a:ea typeface="宋体" pitchFamily="2" charset="-122"/>
                </a:rPr>
                <a:t>A+0=A    A·1=A                A+1=1    A·0=0</a:t>
              </a:r>
            </a:p>
            <a:p>
              <a:pPr lvl="1">
                <a:lnSpc>
                  <a:spcPct val="90000"/>
                </a:lnSpc>
                <a:defRPr/>
              </a:pPr>
              <a:r>
                <a:rPr lang="zh-CN" altLang="en-US" sz="2000" b="1" dirty="0">
                  <a:ea typeface="宋体" pitchFamily="2" charset="-122"/>
                </a:rPr>
                <a:t>公理</a:t>
              </a:r>
              <a:r>
                <a:rPr lang="en-US" altLang="zh-CN" sz="2000" b="1" dirty="0">
                  <a:ea typeface="宋体" pitchFamily="2" charset="-122"/>
                </a:rPr>
                <a:t>5</a:t>
              </a:r>
              <a:r>
                <a:rPr lang="zh-CN" altLang="en-US" sz="2000" b="1" dirty="0">
                  <a:ea typeface="宋体" pitchFamily="2" charset="-122"/>
                </a:rPr>
                <a:t>，互补律：</a:t>
              </a:r>
              <a:r>
                <a:rPr lang="en-US" altLang="zh-CN" sz="2000" b="1" dirty="0">
                  <a:ea typeface="宋体" pitchFamily="2" charset="-122"/>
                </a:rPr>
                <a:t>A+A=1    A·A=0 </a:t>
              </a:r>
            </a:p>
          </p:txBody>
        </p:sp>
        <p:sp>
          <p:nvSpPr>
            <p:cNvPr id="24586" name="Line 5"/>
            <p:cNvSpPr>
              <a:spLocks noChangeShapeType="1"/>
            </p:cNvSpPr>
            <p:nvPr/>
          </p:nvSpPr>
          <p:spPr bwMode="auto">
            <a:xfrm>
              <a:off x="4857752" y="2357430"/>
              <a:ext cx="2286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4587" name="Line 6"/>
            <p:cNvSpPr>
              <a:spLocks noChangeShapeType="1"/>
            </p:cNvSpPr>
            <p:nvPr/>
          </p:nvSpPr>
          <p:spPr bwMode="auto">
            <a:xfrm>
              <a:off x="3929058" y="2357430"/>
              <a:ext cx="2286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spTree>
  </p:cSld>
  <p:clrMapOvr>
    <a:masterClrMapping/>
  </p:clrMapOvr>
  <p:transition>
    <p:random/>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quarter" idx="10"/>
          </p:nvPr>
        </p:nvSpPr>
        <p:spPr/>
        <p:txBody>
          <a:bodyPr/>
          <a:lstStyle/>
          <a:p>
            <a:pPr>
              <a:defRPr/>
            </a:pPr>
            <a:fld id="{9AF0A557-9EDC-451A-B067-3835DCCF72DE}" type="datetime1">
              <a:rPr lang="zh-CN" altLang="en-US" smtClean="0"/>
              <a:pPr>
                <a:defRPr/>
              </a:pPr>
              <a:t>2021/9/21</a:t>
            </a:fld>
            <a:endParaRPr lang="en-US" altLang="zh-CN"/>
          </a:p>
        </p:txBody>
      </p:sp>
      <p:sp>
        <p:nvSpPr>
          <p:cNvPr id="3" name="灯片编号占位符 2"/>
          <p:cNvSpPr>
            <a:spLocks noGrp="1"/>
          </p:cNvSpPr>
          <p:nvPr>
            <p:ph type="sldNum" sz="quarter" idx="12"/>
          </p:nvPr>
        </p:nvSpPr>
        <p:spPr/>
        <p:txBody>
          <a:bodyPr/>
          <a:lstStyle/>
          <a:p>
            <a:pPr>
              <a:defRPr/>
            </a:pPr>
            <a:fld id="{9467C07F-794F-49DB-B341-88DCA292D85D}" type="slidenum">
              <a:rPr lang="en-US" altLang="zh-CN" smtClean="0"/>
              <a:pPr>
                <a:defRPr/>
              </a:pPr>
              <a:t>23</a:t>
            </a:fld>
            <a:endParaRPr lang="en-US" altLang="zh-CN"/>
          </a:p>
        </p:txBody>
      </p:sp>
      <p:sp>
        <p:nvSpPr>
          <p:cNvPr id="4" name="Rectangle 2"/>
          <p:cNvSpPr txBox="1">
            <a:spLocks noChangeArrowheads="1"/>
          </p:cNvSpPr>
          <p:nvPr/>
        </p:nvSpPr>
        <p:spPr>
          <a:xfrm>
            <a:off x="457200" y="1371600"/>
            <a:ext cx="8382000" cy="4876800"/>
          </a:xfrm>
          <a:prstGeom prst="rect">
            <a:avLst/>
          </a:prstGeom>
        </p:spPr>
        <p:txBody>
          <a:bodyPr/>
          <a:lstStyle/>
          <a:p>
            <a:pPr marL="742950" lvl="1" indent="-285750">
              <a:lnSpc>
                <a:spcPct val="90000"/>
              </a:lnSpc>
              <a:spcBef>
                <a:spcPct val="20000"/>
              </a:spcBef>
              <a:buClr>
                <a:schemeClr val="hlink"/>
              </a:buClr>
              <a:buSzPct val="55000"/>
              <a:buFont typeface="Wingdings" pitchFamily="2" charset="2"/>
              <a:buChar char="n"/>
              <a:defRPr/>
            </a:pPr>
            <a:r>
              <a:rPr kumimoji="0" lang="zh-CN" altLang="en-US" kern="0" dirty="0">
                <a:latin typeface="+mn-lt"/>
                <a:ea typeface="+mn-ea"/>
              </a:rPr>
              <a:t>定理</a:t>
            </a:r>
            <a:r>
              <a:rPr kumimoji="0" lang="en-US" altLang="zh-CN" kern="0" dirty="0">
                <a:latin typeface="+mn-lt"/>
                <a:ea typeface="+mn-ea"/>
              </a:rPr>
              <a:t>8</a:t>
            </a:r>
            <a:r>
              <a:rPr kumimoji="0" lang="zh-CN" altLang="en-US" kern="0" dirty="0">
                <a:latin typeface="+mn-lt"/>
                <a:ea typeface="+mn-ea"/>
              </a:rPr>
              <a:t>，包含律，多余项定理：</a:t>
            </a:r>
          </a:p>
          <a:p>
            <a:pPr marL="742950" lvl="1" indent="-285750" algn="ctr">
              <a:lnSpc>
                <a:spcPct val="90000"/>
              </a:lnSpc>
              <a:spcBef>
                <a:spcPct val="20000"/>
              </a:spcBef>
              <a:buClr>
                <a:schemeClr val="hlink"/>
              </a:buClr>
              <a:buSzPct val="55000"/>
              <a:buFont typeface="Wingdings" pitchFamily="2" charset="2"/>
              <a:buNone/>
              <a:defRPr/>
            </a:pPr>
            <a:r>
              <a:rPr kumimoji="0" lang="en-US" altLang="zh-CN" kern="0" dirty="0">
                <a:latin typeface="+mn-lt"/>
                <a:ea typeface="+mn-ea"/>
              </a:rPr>
              <a:t>A·B+ A·C+B·C= A·B+ A·C</a:t>
            </a:r>
          </a:p>
          <a:p>
            <a:pPr marL="742950" lvl="1" indent="-285750" algn="ctr">
              <a:lnSpc>
                <a:spcPct val="90000"/>
              </a:lnSpc>
              <a:spcBef>
                <a:spcPct val="20000"/>
              </a:spcBef>
              <a:buClr>
                <a:schemeClr val="hlink"/>
              </a:buClr>
              <a:buSzPct val="55000"/>
              <a:buFont typeface="Wingdings" pitchFamily="2" charset="2"/>
              <a:buNone/>
              <a:defRPr/>
            </a:pPr>
            <a:r>
              <a:rPr kumimoji="0" lang="en-US" altLang="zh-CN" kern="0" dirty="0">
                <a:latin typeface="+mn-lt"/>
                <a:ea typeface="+mn-ea"/>
              </a:rPr>
              <a:t>(A+B)·(A+C)·(B+C)=(A+B)·(A+C)</a:t>
            </a:r>
          </a:p>
          <a:p>
            <a:pPr marL="742950" lvl="1" indent="-285750">
              <a:lnSpc>
                <a:spcPct val="90000"/>
              </a:lnSpc>
              <a:spcBef>
                <a:spcPct val="20000"/>
              </a:spcBef>
              <a:buClr>
                <a:schemeClr val="hlink"/>
              </a:buClr>
              <a:buSzPct val="55000"/>
              <a:buFont typeface="Wingdings" pitchFamily="2" charset="2"/>
              <a:buNone/>
              <a:defRPr/>
            </a:pPr>
            <a:endParaRPr kumimoji="0" lang="en-US" altLang="zh-CN" kern="0" dirty="0">
              <a:latin typeface="+mn-lt"/>
              <a:ea typeface="+mn-ea"/>
            </a:endParaRPr>
          </a:p>
        </p:txBody>
      </p:sp>
      <p:sp>
        <p:nvSpPr>
          <p:cNvPr id="25605" name="Line 19"/>
          <p:cNvSpPr>
            <a:spLocks noChangeShapeType="1"/>
          </p:cNvSpPr>
          <p:nvPr/>
        </p:nvSpPr>
        <p:spPr bwMode="auto">
          <a:xfrm>
            <a:off x="3886200" y="1811338"/>
            <a:ext cx="2286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5606" name="Line 20"/>
          <p:cNvSpPr>
            <a:spLocks noChangeShapeType="1"/>
          </p:cNvSpPr>
          <p:nvPr/>
        </p:nvSpPr>
        <p:spPr bwMode="auto">
          <a:xfrm>
            <a:off x="6108700" y="1811338"/>
            <a:ext cx="2286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5607" name="Line 21"/>
          <p:cNvSpPr>
            <a:spLocks noChangeShapeType="1"/>
          </p:cNvSpPr>
          <p:nvPr/>
        </p:nvSpPr>
        <p:spPr bwMode="auto">
          <a:xfrm>
            <a:off x="3581400" y="2217738"/>
            <a:ext cx="2286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5608" name="Line 22"/>
          <p:cNvSpPr>
            <a:spLocks noChangeShapeType="1"/>
          </p:cNvSpPr>
          <p:nvPr/>
        </p:nvSpPr>
        <p:spPr bwMode="auto">
          <a:xfrm>
            <a:off x="6477000" y="2217738"/>
            <a:ext cx="2286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pic>
        <p:nvPicPr>
          <p:cNvPr id="2560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7275" y="2571750"/>
            <a:ext cx="7029450" cy="154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1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71813" y="4071938"/>
            <a:ext cx="4981575" cy="928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5611" name="组合 25"/>
          <p:cNvGrpSpPr>
            <a:grpSpLocks/>
          </p:cNvGrpSpPr>
          <p:nvPr/>
        </p:nvGrpSpPr>
        <p:grpSpPr bwMode="auto">
          <a:xfrm>
            <a:off x="1143000" y="5072063"/>
            <a:ext cx="7643813" cy="1809750"/>
            <a:chOff x="1142976" y="862144"/>
            <a:chExt cx="7643866" cy="1809726"/>
          </a:xfrm>
        </p:grpSpPr>
        <p:sp>
          <p:nvSpPr>
            <p:cNvPr id="27" name="矩形 26"/>
            <p:cNvSpPr/>
            <p:nvPr/>
          </p:nvSpPr>
          <p:spPr>
            <a:xfrm>
              <a:off x="1142976" y="862144"/>
              <a:ext cx="7643866" cy="1809726"/>
            </a:xfrm>
            <a:prstGeom prst="rect">
              <a:avLst/>
            </a:prstGeom>
            <a:solidFill>
              <a:schemeClr val="accent1">
                <a:lumMod val="40000"/>
                <a:lumOff val="60000"/>
              </a:schemeClr>
            </a:solidFill>
            <a:ln>
              <a:solidFill>
                <a:schemeClr val="accent1"/>
              </a:solidFill>
            </a:ln>
          </p:spPr>
          <p:txBody>
            <a:bodyPr>
              <a:spAutoFit/>
            </a:bodyPr>
            <a:lstStyle/>
            <a:p>
              <a:pPr>
                <a:lnSpc>
                  <a:spcPct val="90000"/>
                </a:lnSpc>
                <a:defRPr/>
              </a:pPr>
              <a:r>
                <a:rPr lang="zh-CN" altLang="en-US" b="1" dirty="0">
                  <a:ea typeface="宋体" pitchFamily="2" charset="-122"/>
                </a:rPr>
                <a:t>公理系统</a:t>
              </a:r>
            </a:p>
            <a:p>
              <a:pPr lvl="1">
                <a:lnSpc>
                  <a:spcPct val="90000"/>
                </a:lnSpc>
                <a:defRPr/>
              </a:pPr>
              <a:r>
                <a:rPr lang="zh-CN" altLang="en-US" sz="2000" b="1" dirty="0">
                  <a:ea typeface="宋体" pitchFamily="2" charset="-122"/>
                </a:rPr>
                <a:t>公理</a:t>
              </a:r>
              <a:r>
                <a:rPr lang="en-US" altLang="zh-CN" sz="2000" b="1" dirty="0">
                  <a:ea typeface="宋体" pitchFamily="2" charset="-122"/>
                </a:rPr>
                <a:t>1</a:t>
              </a:r>
              <a:r>
                <a:rPr lang="zh-CN" altLang="en-US" sz="2000" b="1" dirty="0">
                  <a:ea typeface="宋体" pitchFamily="2" charset="-122"/>
                </a:rPr>
                <a:t>，交换律：</a:t>
              </a:r>
              <a:r>
                <a:rPr lang="en-US" altLang="zh-CN" sz="2000" b="1" dirty="0">
                  <a:ea typeface="宋体" pitchFamily="2" charset="-122"/>
                </a:rPr>
                <a:t>A+B=B+A                         A·B=B·A</a:t>
              </a:r>
            </a:p>
            <a:p>
              <a:pPr lvl="1">
                <a:lnSpc>
                  <a:spcPct val="90000"/>
                </a:lnSpc>
                <a:defRPr/>
              </a:pPr>
              <a:r>
                <a:rPr lang="zh-CN" altLang="en-US" sz="2000" b="1" dirty="0">
                  <a:ea typeface="宋体" pitchFamily="2" charset="-122"/>
                </a:rPr>
                <a:t>公理</a:t>
              </a:r>
              <a:r>
                <a:rPr lang="en-US" altLang="zh-CN" sz="2000" b="1" dirty="0">
                  <a:ea typeface="宋体" pitchFamily="2" charset="-122"/>
                </a:rPr>
                <a:t>2</a:t>
              </a:r>
              <a:r>
                <a:rPr lang="zh-CN" altLang="en-US" sz="2000" b="1" dirty="0">
                  <a:ea typeface="宋体" pitchFamily="2" charset="-122"/>
                </a:rPr>
                <a:t>，结合律：</a:t>
              </a:r>
              <a:r>
                <a:rPr lang="en-US" altLang="zh-CN" sz="2000" b="1" dirty="0">
                  <a:ea typeface="宋体" pitchFamily="2" charset="-122"/>
                </a:rPr>
                <a:t>(A+B)+C= A+(B+C)        (A·B) ·C= A·(B·C)</a:t>
              </a:r>
            </a:p>
            <a:p>
              <a:pPr lvl="1">
                <a:lnSpc>
                  <a:spcPct val="90000"/>
                </a:lnSpc>
                <a:defRPr/>
              </a:pPr>
              <a:r>
                <a:rPr lang="zh-CN" altLang="en-US" sz="2000" b="1" dirty="0">
                  <a:ea typeface="宋体" pitchFamily="2" charset="-122"/>
                </a:rPr>
                <a:t>公理</a:t>
              </a:r>
              <a:r>
                <a:rPr lang="en-US" altLang="zh-CN" sz="2000" b="1" dirty="0">
                  <a:ea typeface="宋体" pitchFamily="2" charset="-122"/>
                </a:rPr>
                <a:t>3</a:t>
              </a:r>
              <a:r>
                <a:rPr lang="zh-CN" altLang="en-US" sz="2000" b="1" dirty="0">
                  <a:ea typeface="宋体" pitchFamily="2" charset="-122"/>
                </a:rPr>
                <a:t>，分配律：</a:t>
              </a:r>
              <a:r>
                <a:rPr lang="en-US" altLang="zh-CN" sz="2000" b="1" dirty="0">
                  <a:ea typeface="宋体" pitchFamily="2" charset="-122"/>
                </a:rPr>
                <a:t>A+(B·C)=(A+B)·(A+C)    A·(B+C)=A·B+A·C</a:t>
              </a:r>
            </a:p>
            <a:p>
              <a:pPr lvl="1">
                <a:lnSpc>
                  <a:spcPct val="90000"/>
                </a:lnSpc>
                <a:defRPr/>
              </a:pPr>
              <a:r>
                <a:rPr lang="zh-CN" altLang="en-US" sz="2000" b="1" dirty="0">
                  <a:ea typeface="宋体" pitchFamily="2" charset="-122"/>
                </a:rPr>
                <a:t>公理</a:t>
              </a:r>
              <a:r>
                <a:rPr lang="en-US" altLang="zh-CN" sz="2000" b="1" dirty="0">
                  <a:ea typeface="宋体" pitchFamily="2" charset="-122"/>
                </a:rPr>
                <a:t>4</a:t>
              </a:r>
              <a:r>
                <a:rPr lang="zh-CN" altLang="en-US" sz="2000" b="1" dirty="0">
                  <a:ea typeface="宋体" pitchFamily="2" charset="-122"/>
                </a:rPr>
                <a:t>，  </a:t>
              </a:r>
              <a:r>
                <a:rPr lang="en-US" altLang="zh-CN" sz="2000" b="1" dirty="0">
                  <a:ea typeface="宋体" pitchFamily="2" charset="-122"/>
                </a:rPr>
                <a:t>0-1</a:t>
              </a:r>
              <a:r>
                <a:rPr lang="zh-CN" altLang="en-US" sz="2000" b="1" dirty="0">
                  <a:ea typeface="宋体" pitchFamily="2" charset="-122"/>
                </a:rPr>
                <a:t>律： </a:t>
              </a:r>
              <a:r>
                <a:rPr lang="en-US" altLang="zh-CN" sz="2000" b="1" dirty="0">
                  <a:ea typeface="宋体" pitchFamily="2" charset="-122"/>
                </a:rPr>
                <a:t>A+0=A    A·1=A                A+1=1    A·0=0</a:t>
              </a:r>
            </a:p>
            <a:p>
              <a:pPr lvl="1">
                <a:lnSpc>
                  <a:spcPct val="90000"/>
                </a:lnSpc>
                <a:defRPr/>
              </a:pPr>
              <a:r>
                <a:rPr lang="zh-CN" altLang="en-US" sz="2000" b="1" dirty="0">
                  <a:ea typeface="宋体" pitchFamily="2" charset="-122"/>
                </a:rPr>
                <a:t>公理</a:t>
              </a:r>
              <a:r>
                <a:rPr lang="en-US" altLang="zh-CN" sz="2000" b="1" dirty="0">
                  <a:ea typeface="宋体" pitchFamily="2" charset="-122"/>
                </a:rPr>
                <a:t>5</a:t>
              </a:r>
              <a:r>
                <a:rPr lang="zh-CN" altLang="en-US" sz="2000" b="1" dirty="0">
                  <a:ea typeface="宋体" pitchFamily="2" charset="-122"/>
                </a:rPr>
                <a:t>，互补律：</a:t>
              </a:r>
              <a:r>
                <a:rPr lang="en-US" altLang="zh-CN" sz="2000" b="1" dirty="0">
                  <a:ea typeface="宋体" pitchFamily="2" charset="-122"/>
                </a:rPr>
                <a:t>A+A=1    A·A=0 </a:t>
              </a:r>
            </a:p>
          </p:txBody>
        </p:sp>
        <p:sp>
          <p:nvSpPr>
            <p:cNvPr id="25613" name="Line 5"/>
            <p:cNvSpPr>
              <a:spLocks noChangeShapeType="1"/>
            </p:cNvSpPr>
            <p:nvPr/>
          </p:nvSpPr>
          <p:spPr bwMode="auto">
            <a:xfrm>
              <a:off x="4857752" y="2357430"/>
              <a:ext cx="2286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5614" name="Line 6"/>
            <p:cNvSpPr>
              <a:spLocks noChangeShapeType="1"/>
            </p:cNvSpPr>
            <p:nvPr/>
          </p:nvSpPr>
          <p:spPr bwMode="auto">
            <a:xfrm>
              <a:off x="3929058" y="2357430"/>
              <a:ext cx="2286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spTree>
  </p:cSld>
  <p:clrMapOvr>
    <a:masterClrMapping/>
  </p:clrMapOvr>
  <p:transition>
    <p:random/>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quarter" idx="10"/>
          </p:nvPr>
        </p:nvSpPr>
        <p:spPr/>
        <p:txBody>
          <a:bodyPr/>
          <a:lstStyle/>
          <a:p>
            <a:pPr>
              <a:defRPr/>
            </a:pPr>
            <a:fld id="{9AF0A557-9EDC-451A-B067-3835DCCF72DE}" type="datetime1">
              <a:rPr lang="zh-CN" altLang="en-US" smtClean="0"/>
              <a:pPr>
                <a:defRPr/>
              </a:pPr>
              <a:t>2021/9/21</a:t>
            </a:fld>
            <a:endParaRPr lang="en-US" altLang="zh-CN"/>
          </a:p>
        </p:txBody>
      </p:sp>
      <p:sp>
        <p:nvSpPr>
          <p:cNvPr id="3" name="灯片编号占位符 2"/>
          <p:cNvSpPr>
            <a:spLocks noGrp="1"/>
          </p:cNvSpPr>
          <p:nvPr>
            <p:ph type="sldNum" sz="quarter" idx="12"/>
          </p:nvPr>
        </p:nvSpPr>
        <p:spPr/>
        <p:txBody>
          <a:bodyPr/>
          <a:lstStyle/>
          <a:p>
            <a:pPr>
              <a:defRPr/>
            </a:pPr>
            <a:fld id="{BF042986-333E-49FE-9469-AC0F2A970E16}" type="slidenum">
              <a:rPr lang="en-US" altLang="zh-CN" smtClean="0"/>
              <a:pPr>
                <a:defRPr/>
              </a:pPr>
              <a:t>24</a:t>
            </a:fld>
            <a:endParaRPr lang="en-US" altLang="zh-CN"/>
          </a:p>
        </p:txBody>
      </p:sp>
    </p:spTree>
  </p:cSld>
  <p:clrMapOvr>
    <a:masterClrMapping/>
  </p:clrMapOvr>
  <p:transition>
    <p:random/>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06A1531D-E4F4-4886-A1E9-F2DD857074AA}" type="datetime1">
              <a:rPr lang="zh-CN" altLang="en-US"/>
              <a:pPr>
                <a:defRPr/>
              </a:pPr>
              <a:t>2021/9/21</a:t>
            </a:fld>
            <a:endParaRPr lang="en-US" altLang="zh-CN"/>
          </a:p>
        </p:txBody>
      </p:sp>
      <p:sp>
        <p:nvSpPr>
          <p:cNvPr id="5" name="灯片编号占位符 5"/>
          <p:cNvSpPr>
            <a:spLocks noGrp="1"/>
          </p:cNvSpPr>
          <p:nvPr>
            <p:ph type="sldNum" sz="quarter" idx="12"/>
          </p:nvPr>
        </p:nvSpPr>
        <p:spPr/>
        <p:txBody>
          <a:bodyPr/>
          <a:lstStyle/>
          <a:p>
            <a:pPr>
              <a:defRPr/>
            </a:pPr>
            <a:fld id="{3079E6AE-41DA-4166-A986-24217CE7F113}" type="slidenum">
              <a:rPr lang="en-US" altLang="zh-CN"/>
              <a:pPr>
                <a:defRPr/>
              </a:pPr>
              <a:t>25</a:t>
            </a:fld>
            <a:endParaRPr lang="en-US" altLang="zh-CN"/>
          </a:p>
        </p:txBody>
      </p:sp>
      <p:sp>
        <p:nvSpPr>
          <p:cNvPr id="27652" name="Rectangle 2"/>
          <p:cNvSpPr>
            <a:spLocks noGrp="1" noChangeArrowheads="1"/>
          </p:cNvSpPr>
          <p:nvPr>
            <p:ph type="body" idx="1"/>
          </p:nvPr>
        </p:nvSpPr>
        <p:spPr/>
        <p:txBody>
          <a:bodyPr/>
          <a:lstStyle/>
          <a:p>
            <a:pPr eaLnBrk="1" hangingPunct="1"/>
            <a:r>
              <a:rPr lang="zh-CN" altLang="en-US" smtClean="0"/>
              <a:t>代入规则</a:t>
            </a:r>
          </a:p>
          <a:p>
            <a:pPr lvl="1" eaLnBrk="1" hangingPunct="1"/>
            <a:r>
              <a:rPr lang="zh-CN" altLang="en-US" smtClean="0"/>
              <a:t>任何一个含有变量</a:t>
            </a:r>
            <a:r>
              <a:rPr lang="en-US" altLang="zh-CN" smtClean="0"/>
              <a:t>A</a:t>
            </a:r>
            <a:r>
              <a:rPr lang="zh-CN" altLang="en-US" smtClean="0"/>
              <a:t>的等式，如果将所有出现</a:t>
            </a:r>
            <a:r>
              <a:rPr lang="en-US" altLang="zh-CN" smtClean="0"/>
              <a:t>A</a:t>
            </a:r>
            <a:r>
              <a:rPr lang="zh-CN" altLang="en-US" smtClean="0"/>
              <a:t>的位置都代之以同一个逻辑函数</a:t>
            </a:r>
            <a:r>
              <a:rPr lang="en-US" altLang="zh-CN" smtClean="0"/>
              <a:t>F</a:t>
            </a:r>
            <a:r>
              <a:rPr lang="zh-CN" altLang="en-US" smtClean="0"/>
              <a:t>，则等式仍然成立。</a:t>
            </a:r>
          </a:p>
        </p:txBody>
      </p:sp>
      <p:sp>
        <p:nvSpPr>
          <p:cNvPr id="27653" name="Rectangle 3"/>
          <p:cNvSpPr>
            <a:spLocks noGrp="1" noChangeArrowheads="1"/>
          </p:cNvSpPr>
          <p:nvPr>
            <p:ph type="title"/>
          </p:nvPr>
        </p:nvSpPr>
        <p:spPr>
          <a:xfrm>
            <a:off x="1274763" y="533400"/>
            <a:ext cx="7793037" cy="609600"/>
          </a:xfrm>
        </p:spPr>
        <p:txBody>
          <a:bodyPr/>
          <a:lstStyle/>
          <a:p>
            <a:pPr eaLnBrk="1" hangingPunct="1"/>
            <a:r>
              <a:rPr lang="zh-CN" altLang="en-US" smtClean="0"/>
              <a:t>逻辑代数的重要规则</a:t>
            </a:r>
          </a:p>
        </p:txBody>
      </p:sp>
      <p:sp>
        <p:nvSpPr>
          <p:cNvPr id="6" name="Text Box 2"/>
          <p:cNvSpPr txBox="1">
            <a:spLocks noChangeArrowheads="1"/>
          </p:cNvSpPr>
          <p:nvPr/>
        </p:nvSpPr>
        <p:spPr bwMode="auto">
          <a:xfrm>
            <a:off x="381000" y="3998913"/>
            <a:ext cx="85344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zh-CN" altLang="en-US"/>
              <a:t>　　例如，已知等式    　　　　　　，用函数</a:t>
            </a:r>
            <a:r>
              <a:rPr lang="en-US" altLang="zh-CN"/>
              <a:t>Y</a:t>
            </a:r>
            <a:r>
              <a:rPr lang="en-US" altLang="zh-CN" i="1"/>
              <a:t>=</a:t>
            </a:r>
            <a:r>
              <a:rPr lang="en-US" altLang="zh-CN"/>
              <a:t>AC</a:t>
            </a:r>
            <a:r>
              <a:rPr lang="zh-CN" altLang="en-US"/>
              <a:t>代替等式中的</a:t>
            </a:r>
            <a:r>
              <a:rPr lang="en-US" altLang="zh-CN"/>
              <a:t>A</a:t>
            </a:r>
            <a:r>
              <a:rPr lang="zh-CN" altLang="en-US"/>
              <a:t>，根据代入规则，等式仍然成立，即有：</a:t>
            </a:r>
          </a:p>
        </p:txBody>
      </p:sp>
      <p:graphicFrame>
        <p:nvGraphicFramePr>
          <p:cNvPr id="7" name="Object 6"/>
          <p:cNvGraphicFramePr>
            <a:graphicFrameLocks noChangeAspect="1"/>
          </p:cNvGraphicFramePr>
          <p:nvPr/>
        </p:nvGraphicFramePr>
        <p:xfrm>
          <a:off x="1676400" y="4799013"/>
          <a:ext cx="5029200" cy="630237"/>
        </p:xfrm>
        <a:graphic>
          <a:graphicData uri="http://schemas.openxmlformats.org/presentationml/2006/ole">
            <mc:AlternateContent xmlns:mc="http://schemas.openxmlformats.org/markup-compatibility/2006">
              <mc:Choice xmlns:v="urn:schemas-microsoft-com:vml" Requires="v">
                <p:oleObj spid="_x0000_s27681" name="公式" r:id="rId3" imgW="1917700" imgH="241300" progId="Equation.3">
                  <p:embed/>
                </p:oleObj>
              </mc:Choice>
              <mc:Fallback>
                <p:oleObj name="公式" r:id="rId3" imgW="1917700" imgH="2413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6400" y="4799013"/>
                        <a:ext cx="5029200" cy="630237"/>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533" name="Object 5"/>
          <p:cNvGraphicFramePr>
            <a:graphicFrameLocks noChangeAspect="1"/>
          </p:cNvGraphicFramePr>
          <p:nvPr/>
        </p:nvGraphicFramePr>
        <p:xfrm>
          <a:off x="3200400" y="3921125"/>
          <a:ext cx="1981200" cy="508000"/>
        </p:xfrm>
        <a:graphic>
          <a:graphicData uri="http://schemas.openxmlformats.org/presentationml/2006/ole">
            <mc:AlternateContent xmlns:mc="http://schemas.openxmlformats.org/markup-compatibility/2006">
              <mc:Choice xmlns:v="urn:schemas-microsoft-com:vml" Requires="v">
                <p:oleObj spid="_x0000_s27682" name="公式" r:id="rId5" imgW="787058" imgH="203112" progId="Equation.3">
                  <p:embed/>
                </p:oleObj>
              </mc:Choice>
              <mc:Fallback>
                <p:oleObj name="公式" r:id="rId5" imgW="787058" imgH="203112"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00400" y="3921125"/>
                        <a:ext cx="1981200" cy="5080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par>
                          <p:cTn id="8" fill="hold" nodeType="afterGroup">
                            <p:stCondLst>
                              <p:cond delay="500"/>
                            </p:stCondLst>
                            <p:childTnLst>
                              <p:par>
                                <p:cTn id="9" presetID="16" presetClass="entr" presetSubtype="37"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barn(outVertical)">
                                      <p:cBhvr>
                                        <p:cTn id="11" dur="500"/>
                                        <p:tgtEl>
                                          <p:spTgt spid="7"/>
                                        </p:tgtEl>
                                      </p:cBhvr>
                                    </p:animEffect>
                                  </p:childTnLst>
                                </p:cTn>
                              </p:par>
                            </p:childTnLst>
                          </p:cTn>
                        </p:par>
                        <p:par>
                          <p:cTn id="12" fill="hold" nodeType="afterGroup">
                            <p:stCondLst>
                              <p:cond delay="1000"/>
                            </p:stCondLst>
                            <p:childTnLst>
                              <p:par>
                                <p:cTn id="13" presetID="1" presetClass="entr" presetSubtype="0" fill="hold" nodeType="afterEffect">
                                  <p:stCondLst>
                                    <p:cond delay="0"/>
                                  </p:stCondLst>
                                  <p:childTnLst>
                                    <p:set>
                                      <p:cBhvr>
                                        <p:cTn id="14" dur="1" fill="hold">
                                          <p:stCondLst>
                                            <p:cond delay="499"/>
                                          </p:stCondLst>
                                        </p:cTn>
                                        <p:tgtEl>
                                          <p:spTgt spid="225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utoUpdateAnimBg="0" advAuto="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日期占位符 3"/>
          <p:cNvSpPr>
            <a:spLocks noGrp="1"/>
          </p:cNvSpPr>
          <p:nvPr>
            <p:ph type="dt" sz="quarter" idx="10"/>
          </p:nvPr>
        </p:nvSpPr>
        <p:spPr/>
        <p:txBody>
          <a:bodyPr/>
          <a:lstStyle/>
          <a:p>
            <a:pPr>
              <a:defRPr/>
            </a:pPr>
            <a:fld id="{8BF3DAFF-72AB-49DB-8C71-B8EF167983AA}" type="datetime1">
              <a:rPr lang="zh-CN" altLang="en-US"/>
              <a:pPr>
                <a:defRPr/>
              </a:pPr>
              <a:t>2021/9/21</a:t>
            </a:fld>
            <a:endParaRPr lang="en-US" altLang="zh-CN"/>
          </a:p>
        </p:txBody>
      </p:sp>
      <p:sp>
        <p:nvSpPr>
          <p:cNvPr id="11" name="灯片编号占位符 5"/>
          <p:cNvSpPr>
            <a:spLocks noGrp="1"/>
          </p:cNvSpPr>
          <p:nvPr>
            <p:ph type="sldNum" sz="quarter" idx="12"/>
          </p:nvPr>
        </p:nvSpPr>
        <p:spPr/>
        <p:txBody>
          <a:bodyPr/>
          <a:lstStyle/>
          <a:p>
            <a:pPr>
              <a:defRPr/>
            </a:pPr>
            <a:fld id="{B637D51D-A346-47CD-8812-E1EDBFEAA553}" type="slidenum">
              <a:rPr lang="en-US" altLang="zh-CN"/>
              <a:pPr>
                <a:defRPr/>
              </a:pPr>
              <a:t>26</a:t>
            </a:fld>
            <a:endParaRPr lang="en-US" altLang="zh-CN"/>
          </a:p>
        </p:txBody>
      </p:sp>
      <mc:AlternateContent xmlns:mc="http://schemas.openxmlformats.org/markup-compatibility/2006" xmlns:a14="http://schemas.microsoft.com/office/drawing/2010/main">
        <mc:Choice Requires="a14">
          <p:sp>
            <p:nvSpPr>
              <p:cNvPr id="28676" name="Rectangle 2"/>
              <p:cNvSpPr>
                <a:spLocks noGrp="1" noChangeArrowheads="1"/>
              </p:cNvSpPr>
              <p:nvPr>
                <p:ph type="body" idx="1"/>
              </p:nvPr>
            </p:nvSpPr>
            <p:spPr/>
            <p:txBody>
              <a:bodyPr/>
              <a:lstStyle/>
              <a:p>
                <a:pPr eaLnBrk="1" hangingPunct="1"/>
                <a:r>
                  <a:rPr lang="zh-CN" altLang="en-US" sz="2800" dirty="0" smtClean="0"/>
                  <a:t>反演规则（香农定理）</a:t>
                </a:r>
              </a:p>
              <a:p>
                <a:pPr lvl="1" eaLnBrk="1" hangingPunct="1"/>
                <a:r>
                  <a:rPr lang="zh-CN" altLang="en-US" sz="2400" dirty="0" smtClean="0"/>
                  <a:t>设</a:t>
                </a:r>
                <a:r>
                  <a:rPr lang="en-US" altLang="zh-CN" sz="2400" dirty="0" smtClean="0"/>
                  <a:t>F</a:t>
                </a:r>
                <a:r>
                  <a:rPr lang="zh-CN" altLang="en-US" sz="2400" dirty="0" smtClean="0"/>
                  <a:t>为一个逻辑函数表达式，如果将</a:t>
                </a:r>
                <a:r>
                  <a:rPr lang="en-US" altLang="zh-CN" sz="2400" dirty="0" smtClean="0"/>
                  <a:t>F</a:t>
                </a:r>
                <a:r>
                  <a:rPr lang="zh-CN" altLang="en-US" sz="2400" dirty="0" smtClean="0"/>
                  <a:t>中所有的“</a:t>
                </a:r>
                <a:r>
                  <a:rPr lang="en-US" altLang="zh-CN" sz="2400" dirty="0" smtClean="0"/>
                  <a:t>·”</a:t>
                </a:r>
                <a:r>
                  <a:rPr lang="zh-CN" altLang="en-US" sz="2400" dirty="0" smtClean="0"/>
                  <a:t>变为“</a:t>
                </a:r>
                <a:r>
                  <a:rPr lang="en-US" altLang="zh-CN" sz="2400" dirty="0" smtClean="0"/>
                  <a:t>+”</a:t>
                </a:r>
                <a:r>
                  <a:rPr lang="zh-CN" altLang="en-US" sz="2400" dirty="0" smtClean="0"/>
                  <a:t>、“</a:t>
                </a:r>
                <a:r>
                  <a:rPr lang="en-US" altLang="zh-CN" sz="2400" dirty="0" smtClean="0"/>
                  <a:t>+”</a:t>
                </a:r>
                <a:r>
                  <a:rPr lang="zh-CN" altLang="en-US" sz="2400" dirty="0" smtClean="0"/>
                  <a:t>变为“</a:t>
                </a:r>
                <a:r>
                  <a:rPr lang="en-US" altLang="zh-CN" sz="2400" dirty="0" smtClean="0"/>
                  <a:t>·”</a:t>
                </a:r>
                <a:r>
                  <a:rPr lang="zh-CN" altLang="en-US" sz="2400" dirty="0" smtClean="0"/>
                  <a:t>、“</a:t>
                </a:r>
                <a:r>
                  <a:rPr lang="en-US" altLang="zh-CN" sz="2400" dirty="0" smtClean="0"/>
                  <a:t>0”</a:t>
                </a:r>
                <a:r>
                  <a:rPr lang="zh-CN" altLang="en-US" sz="2400" dirty="0" smtClean="0"/>
                  <a:t>变为“</a:t>
                </a:r>
                <a:r>
                  <a:rPr lang="en-US" altLang="zh-CN" sz="2400" dirty="0" smtClean="0"/>
                  <a:t>1”</a:t>
                </a:r>
                <a:r>
                  <a:rPr lang="zh-CN" altLang="en-US" sz="2400" dirty="0" smtClean="0"/>
                  <a:t>、“</a:t>
                </a:r>
                <a:r>
                  <a:rPr lang="en-US" altLang="zh-CN" sz="2400" dirty="0" smtClean="0"/>
                  <a:t>1”</a:t>
                </a:r>
                <a:r>
                  <a:rPr lang="zh-CN" altLang="en-US" sz="2400" dirty="0" smtClean="0"/>
                  <a:t>变为“</a:t>
                </a:r>
                <a:r>
                  <a:rPr lang="en-US" altLang="zh-CN" sz="2400" dirty="0" smtClean="0"/>
                  <a:t>0”</a:t>
                </a:r>
                <a:r>
                  <a:rPr lang="zh-CN" altLang="en-US" sz="2400" dirty="0" smtClean="0"/>
                  <a:t>、原变量变为反变量</a:t>
                </a:r>
                <a:r>
                  <a:rPr lang="en-US" altLang="zh-CN" sz="2400" dirty="0" smtClean="0"/>
                  <a:t>(A</a:t>
                </a:r>
                <a:r>
                  <a:rPr lang="zh-CN" altLang="en-US" sz="2400" dirty="0" smtClean="0"/>
                  <a:t>变为</a:t>
                </a:r>
                <a14:m>
                  <m:oMath xmlns:m="http://schemas.openxmlformats.org/officeDocument/2006/math">
                    <m:acc>
                      <m:accPr>
                        <m:chr m:val="̅"/>
                        <m:ctrlPr>
                          <a:rPr lang="en-US" altLang="zh-CN" sz="2400" i="1" dirty="0" smtClean="0">
                            <a:latin typeface="Cambria Math"/>
                          </a:rPr>
                        </m:ctrlPr>
                      </m:accPr>
                      <m:e>
                        <m:r>
                          <m:rPr>
                            <m:sty m:val="p"/>
                          </m:rPr>
                          <a:rPr lang="en-US" altLang="zh-CN" sz="2400" i="0" dirty="0" smtClean="0">
                            <a:latin typeface="Cambria Math"/>
                          </a:rPr>
                          <m:t>A</m:t>
                        </m:r>
                      </m:e>
                    </m:acc>
                  </m:oMath>
                </a14:m>
                <a:r>
                  <a:rPr lang="en-US" altLang="zh-CN" sz="2400" dirty="0" smtClean="0"/>
                  <a:t>)</a:t>
                </a:r>
                <a:r>
                  <a:rPr lang="zh-CN" altLang="en-US" sz="2400" dirty="0" smtClean="0"/>
                  <a:t>、反变量变为原变量</a:t>
                </a:r>
                <a:r>
                  <a:rPr lang="en-US" altLang="zh-CN" sz="2400" dirty="0" smtClean="0"/>
                  <a:t>(</a:t>
                </a:r>
                <a14:m>
                  <m:oMath xmlns:m="http://schemas.openxmlformats.org/officeDocument/2006/math">
                    <m:acc>
                      <m:accPr>
                        <m:chr m:val="̅"/>
                        <m:ctrlPr>
                          <a:rPr lang="en-US" altLang="zh-CN" sz="2400" i="1" dirty="0" smtClean="0">
                            <a:latin typeface="Cambria Math"/>
                          </a:rPr>
                        </m:ctrlPr>
                      </m:accPr>
                      <m:e>
                        <m:r>
                          <m:rPr>
                            <m:sty m:val="p"/>
                          </m:rPr>
                          <a:rPr lang="en-US" altLang="zh-CN" sz="2400" i="0" dirty="0" smtClean="0">
                            <a:latin typeface="Cambria Math"/>
                          </a:rPr>
                          <m:t>A</m:t>
                        </m:r>
                      </m:e>
                    </m:acc>
                  </m:oMath>
                </a14:m>
                <a:r>
                  <a:rPr lang="zh-CN" altLang="en-US" sz="2400" dirty="0" smtClean="0"/>
                  <a:t>变为</a:t>
                </a:r>
                <a:r>
                  <a:rPr lang="en-US" altLang="zh-CN" sz="2400" dirty="0" smtClean="0"/>
                  <a:t>A)</a:t>
                </a:r>
                <a:r>
                  <a:rPr lang="zh-CN" altLang="en-US" sz="2400" dirty="0" smtClean="0"/>
                  <a:t>，则所得到的新的逻辑函数表达式就是原函数</a:t>
                </a:r>
                <a:r>
                  <a:rPr lang="en-US" altLang="zh-CN" sz="2400" dirty="0" smtClean="0"/>
                  <a:t>F</a:t>
                </a:r>
                <a:r>
                  <a:rPr lang="zh-CN" altLang="en-US" sz="2400" dirty="0" smtClean="0"/>
                  <a:t>的反函数</a:t>
                </a:r>
                <a:r>
                  <a:rPr lang="en-US" altLang="zh-CN" sz="2400" dirty="0" smtClean="0"/>
                  <a:t>F</a:t>
                </a:r>
                <a:r>
                  <a:rPr lang="zh-CN" altLang="en-US" sz="2400" dirty="0" smtClean="0"/>
                  <a:t>。</a:t>
                </a:r>
              </a:p>
              <a:p>
                <a:pPr lvl="1" eaLnBrk="1" hangingPunct="1"/>
                <a:r>
                  <a:rPr lang="zh-CN" altLang="en-US" sz="2400" dirty="0" smtClean="0"/>
                  <a:t>若                              ，则</a:t>
                </a:r>
              </a:p>
              <a:p>
                <a:pPr lvl="1" eaLnBrk="1" hangingPunct="1"/>
                <a:endParaRPr lang="zh-CN" altLang="en-US" sz="2400" dirty="0" smtClean="0"/>
              </a:p>
              <a:p>
                <a:pPr lvl="1" eaLnBrk="1" hangingPunct="1"/>
                <a:r>
                  <a:rPr lang="zh-CN" altLang="en-US" sz="2400" dirty="0" smtClean="0"/>
                  <a:t> </a:t>
                </a:r>
              </a:p>
              <a:p>
                <a:pPr lvl="1" eaLnBrk="1" hangingPunct="1"/>
                <a:r>
                  <a:rPr lang="zh-CN" altLang="en-US" sz="2400" dirty="0" smtClean="0"/>
                  <a:t>注意：使用反演规则时，应保持原函数表达式中运算符号的优先顺序不变，且两个以上变量的公用“非”号保持不变。（优先顺序：“非”、“与”、“或”）</a:t>
                </a:r>
              </a:p>
            </p:txBody>
          </p:sp>
        </mc:Choice>
        <mc:Fallback xmlns="">
          <p:sp>
            <p:nvSpPr>
              <p:cNvPr id="28676" name="Rectangle 2"/>
              <p:cNvSpPr>
                <a:spLocks noGrp="1" noRot="1" noChangeAspect="1" noMove="1" noResize="1" noEditPoints="1" noAdjustHandles="1" noChangeArrowheads="1" noChangeShapeType="1" noTextEdit="1"/>
              </p:cNvSpPr>
              <p:nvPr>
                <p:ph type="body" idx="1"/>
              </p:nvPr>
            </p:nvSpPr>
            <p:spPr>
              <a:blipFill rotWithShape="1">
                <a:blip r:embed="rId3"/>
                <a:stretch>
                  <a:fillRect l="-291" t="-1500" b="-3250"/>
                </a:stretch>
              </a:blipFill>
            </p:spPr>
            <p:txBody>
              <a:bodyPr/>
              <a:lstStyle/>
              <a:p>
                <a:r>
                  <a:rPr lang="zh-CN" altLang="en-US">
                    <a:noFill/>
                  </a:rPr>
                  <a:t> </a:t>
                </a:r>
              </a:p>
            </p:txBody>
          </p:sp>
        </mc:Fallback>
      </mc:AlternateContent>
      <p:sp>
        <p:nvSpPr>
          <p:cNvPr id="28677" name="Rectangle 3"/>
          <p:cNvSpPr>
            <a:spLocks noGrp="1" noChangeArrowheads="1"/>
          </p:cNvSpPr>
          <p:nvPr>
            <p:ph type="title"/>
          </p:nvPr>
        </p:nvSpPr>
        <p:spPr>
          <a:xfrm>
            <a:off x="1274763" y="533400"/>
            <a:ext cx="7793037" cy="609600"/>
          </a:xfrm>
        </p:spPr>
        <p:txBody>
          <a:bodyPr/>
          <a:lstStyle/>
          <a:p>
            <a:pPr eaLnBrk="1" hangingPunct="1"/>
            <a:r>
              <a:rPr lang="zh-CN" altLang="en-US" smtClean="0"/>
              <a:t>逻辑代数的重要规则</a:t>
            </a:r>
          </a:p>
        </p:txBody>
      </p:sp>
      <p:graphicFrame>
        <p:nvGraphicFramePr>
          <p:cNvPr id="28678" name="Object 4"/>
          <p:cNvGraphicFramePr>
            <a:graphicFrameLocks noChangeAspect="1"/>
          </p:cNvGraphicFramePr>
          <p:nvPr/>
        </p:nvGraphicFramePr>
        <p:xfrm>
          <a:off x="1600200" y="3786188"/>
          <a:ext cx="2743200" cy="555625"/>
        </p:xfrm>
        <a:graphic>
          <a:graphicData uri="http://schemas.openxmlformats.org/presentationml/2006/ole">
            <mc:AlternateContent xmlns:mc="http://schemas.openxmlformats.org/markup-compatibility/2006">
              <mc:Choice xmlns:v="urn:schemas-microsoft-com:vml" Requires="v">
                <p:oleObj spid="_x0000_s28720" name="公式" r:id="rId4" imgW="1193800" imgH="241300" progId="Equation.3">
                  <p:embed/>
                </p:oleObj>
              </mc:Choice>
              <mc:Fallback>
                <p:oleObj name="公式" r:id="rId4" imgW="1193800" imgH="2413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00200" y="3786188"/>
                        <a:ext cx="2743200" cy="555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679" name="Object 5"/>
          <p:cNvGraphicFramePr>
            <a:graphicFrameLocks noChangeAspect="1"/>
          </p:cNvGraphicFramePr>
          <p:nvPr/>
        </p:nvGraphicFramePr>
        <p:xfrm>
          <a:off x="5105400" y="3787775"/>
          <a:ext cx="2590800" cy="641350"/>
        </p:xfrm>
        <a:graphic>
          <a:graphicData uri="http://schemas.openxmlformats.org/presentationml/2006/ole">
            <mc:AlternateContent xmlns:mc="http://schemas.openxmlformats.org/markup-compatibility/2006">
              <mc:Choice xmlns:v="urn:schemas-microsoft-com:vml" Requires="v">
                <p:oleObj spid="_x0000_s28721" name="公式" r:id="rId6" imgW="1180588" imgH="291973" progId="Equation.3">
                  <p:embed/>
                </p:oleObj>
              </mc:Choice>
              <mc:Fallback>
                <p:oleObj name="公式" r:id="rId6" imgW="1180588" imgH="291973"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05400" y="3787775"/>
                        <a:ext cx="2590800"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680" name="Object 6"/>
          <p:cNvGraphicFramePr>
            <a:graphicFrameLocks noChangeAspect="1"/>
          </p:cNvGraphicFramePr>
          <p:nvPr/>
        </p:nvGraphicFramePr>
        <p:xfrm>
          <a:off x="1295400" y="4619625"/>
          <a:ext cx="990600" cy="523875"/>
        </p:xfrm>
        <a:graphic>
          <a:graphicData uri="http://schemas.openxmlformats.org/presentationml/2006/ole">
            <mc:AlternateContent xmlns:mc="http://schemas.openxmlformats.org/markup-compatibility/2006">
              <mc:Choice xmlns:v="urn:schemas-microsoft-com:vml" Requires="v">
                <p:oleObj spid="_x0000_s28722" name="公式" r:id="rId8" imgW="431613" imgH="228501" progId="Equation.3">
                  <p:embed/>
                </p:oleObj>
              </mc:Choice>
              <mc:Fallback>
                <p:oleObj name="公式" r:id="rId8" imgW="431613" imgH="228501" progId="Equation.3">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95400" y="4619625"/>
                        <a:ext cx="990600" cy="523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683" name="Line 9"/>
          <p:cNvSpPr>
            <a:spLocks noChangeShapeType="1"/>
          </p:cNvSpPr>
          <p:nvPr/>
        </p:nvSpPr>
        <p:spPr bwMode="auto">
          <a:xfrm>
            <a:off x="1893888" y="3416300"/>
            <a:ext cx="1524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Tree>
  </p:cSld>
  <p:clrMapOvr>
    <a:masterClrMapping/>
  </p:clrMapOvr>
  <p:transition>
    <p:random/>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quarter" idx="10"/>
          </p:nvPr>
        </p:nvSpPr>
        <p:spPr/>
        <p:txBody>
          <a:bodyPr/>
          <a:lstStyle/>
          <a:p>
            <a:pPr>
              <a:defRPr/>
            </a:pPr>
            <a:fld id="{9AF0A557-9EDC-451A-B067-3835DCCF72DE}" type="datetime1">
              <a:rPr lang="zh-CN" altLang="en-US" smtClean="0"/>
              <a:pPr>
                <a:defRPr/>
              </a:pPr>
              <a:t>2021/9/21</a:t>
            </a:fld>
            <a:endParaRPr lang="en-US" altLang="zh-CN"/>
          </a:p>
        </p:txBody>
      </p:sp>
      <p:sp>
        <p:nvSpPr>
          <p:cNvPr id="3" name="灯片编号占位符 2"/>
          <p:cNvSpPr>
            <a:spLocks noGrp="1"/>
          </p:cNvSpPr>
          <p:nvPr>
            <p:ph type="sldNum" sz="quarter" idx="12"/>
          </p:nvPr>
        </p:nvSpPr>
        <p:spPr/>
        <p:txBody>
          <a:bodyPr/>
          <a:lstStyle/>
          <a:p>
            <a:pPr>
              <a:defRPr/>
            </a:pPr>
            <a:fld id="{C5430E95-46D8-4730-A3B5-4B17BBEFAC7A}" type="slidenum">
              <a:rPr lang="en-US" altLang="zh-CN" smtClean="0"/>
              <a:pPr>
                <a:defRPr/>
              </a:pPr>
              <a:t>27</a:t>
            </a:fld>
            <a:endParaRPr lang="en-US" altLang="zh-CN"/>
          </a:p>
        </p:txBody>
      </p:sp>
      <p:graphicFrame>
        <p:nvGraphicFramePr>
          <p:cNvPr id="4" name="Object 9"/>
          <p:cNvGraphicFramePr>
            <a:graphicFrameLocks noChangeAspect="1"/>
          </p:cNvGraphicFramePr>
          <p:nvPr/>
        </p:nvGraphicFramePr>
        <p:xfrm>
          <a:off x="457200" y="1933575"/>
          <a:ext cx="3276600" cy="533400"/>
        </p:xfrm>
        <a:graphic>
          <a:graphicData uri="http://schemas.openxmlformats.org/presentationml/2006/ole">
            <mc:AlternateContent xmlns:mc="http://schemas.openxmlformats.org/markup-compatibility/2006">
              <mc:Choice xmlns:v="urn:schemas-microsoft-com:vml" Requires="v">
                <p:oleObj spid="_x0000_s29754" name="Document" r:id="rId4" imgW="990600" imgH="200025" progId="Word.Document.8">
                  <p:embed/>
                </p:oleObj>
              </mc:Choice>
              <mc:Fallback>
                <p:oleObj name="Document" r:id="rId4" imgW="990600" imgH="200025" progId="Word.Document.8">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 y="1933575"/>
                        <a:ext cx="3276600" cy="5334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 name="Object 12"/>
          <p:cNvGraphicFramePr>
            <a:graphicFrameLocks noChangeAspect="1"/>
          </p:cNvGraphicFramePr>
          <p:nvPr/>
        </p:nvGraphicFramePr>
        <p:xfrm>
          <a:off x="5410200" y="1857375"/>
          <a:ext cx="3657600" cy="609600"/>
        </p:xfrm>
        <a:graphic>
          <a:graphicData uri="http://schemas.openxmlformats.org/presentationml/2006/ole">
            <mc:AlternateContent xmlns:mc="http://schemas.openxmlformats.org/markup-compatibility/2006">
              <mc:Choice xmlns:v="urn:schemas-microsoft-com:vml" Requires="v">
                <p:oleObj spid="_x0000_s29755" name="Document" r:id="rId7" imgW="1524000" imgH="228600" progId="Word.Document.8">
                  <p:embed/>
                </p:oleObj>
              </mc:Choice>
              <mc:Fallback>
                <p:oleObj name="Document" r:id="rId7" imgW="1524000" imgH="228600" progId="Word.Document.8">
                  <p:embed/>
                  <p:pic>
                    <p:nvPicPr>
                      <p:cNvPr id="0"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10200" y="1857375"/>
                        <a:ext cx="3657600" cy="6096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 name="Object 13"/>
          <p:cNvGraphicFramePr>
            <a:graphicFrameLocks noChangeAspect="1"/>
          </p:cNvGraphicFramePr>
          <p:nvPr/>
        </p:nvGraphicFramePr>
        <p:xfrm>
          <a:off x="457200" y="2619375"/>
          <a:ext cx="3352800" cy="638175"/>
        </p:xfrm>
        <a:graphic>
          <a:graphicData uri="http://schemas.openxmlformats.org/presentationml/2006/ole">
            <mc:AlternateContent xmlns:mc="http://schemas.openxmlformats.org/markup-compatibility/2006">
              <mc:Choice xmlns:v="urn:schemas-microsoft-com:vml" Requires="v">
                <p:oleObj spid="_x0000_s29756" name="Document" r:id="rId10" imgW="1447800" imgH="257175" progId="Word.Document.8">
                  <p:embed/>
                </p:oleObj>
              </mc:Choice>
              <mc:Fallback>
                <p:oleObj name="Document" r:id="rId10" imgW="1447800" imgH="257175" progId="Word.Document.8">
                  <p:embed/>
                  <p:pic>
                    <p:nvPicPr>
                      <p:cNvPr id="0" name="Object 1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57200" y="2619375"/>
                        <a:ext cx="3352800" cy="63817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 name="Object 14"/>
          <p:cNvGraphicFramePr>
            <a:graphicFrameLocks noChangeAspect="1"/>
          </p:cNvGraphicFramePr>
          <p:nvPr/>
        </p:nvGraphicFramePr>
        <p:xfrm>
          <a:off x="5410200" y="2619375"/>
          <a:ext cx="3733800" cy="663575"/>
        </p:xfrm>
        <a:graphic>
          <a:graphicData uri="http://schemas.openxmlformats.org/presentationml/2006/ole">
            <mc:AlternateContent xmlns:mc="http://schemas.openxmlformats.org/markup-compatibility/2006">
              <mc:Choice xmlns:v="urn:schemas-microsoft-com:vml" Requires="v">
                <p:oleObj spid="_x0000_s29757" name="Document" r:id="rId13" imgW="1219200" imgH="257175" progId="Word.Document.8">
                  <p:embed/>
                </p:oleObj>
              </mc:Choice>
              <mc:Fallback>
                <p:oleObj name="Document" r:id="rId13" imgW="1219200" imgH="257175" progId="Word.Document.8">
                  <p:embed/>
                  <p:pic>
                    <p:nvPicPr>
                      <p:cNvPr id="0" name="Object 1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410200" y="2619375"/>
                        <a:ext cx="3733800" cy="66357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 name="AutoShape 15"/>
          <p:cNvSpPr>
            <a:spLocks noChangeArrowheads="1"/>
          </p:cNvSpPr>
          <p:nvPr/>
        </p:nvSpPr>
        <p:spPr bwMode="auto">
          <a:xfrm>
            <a:off x="3810000" y="2009775"/>
            <a:ext cx="1524000" cy="304800"/>
          </a:xfrm>
          <a:prstGeom prst="rightArrow">
            <a:avLst>
              <a:gd name="adj1" fmla="val 50000"/>
              <a:gd name="adj2" fmla="val 125000"/>
            </a:avLst>
          </a:prstGeom>
          <a:solidFill>
            <a:srgbClr val="FFFF00"/>
          </a:solidFill>
          <a:ln w="9525">
            <a:solidFill>
              <a:srgbClr val="FFFF00"/>
            </a:solidFill>
            <a:miter lim="800000"/>
            <a:headEnd/>
            <a:tailEnd/>
          </a:ln>
        </p:spPr>
        <p:txBody>
          <a:bodyPr lIns="0" rIns="0" anchor="ctr">
            <a:spAutoFit/>
          </a:bodyPr>
          <a:lstStyle/>
          <a:p>
            <a:endParaRPr lang="zh-CN" altLang="en-US"/>
          </a:p>
        </p:txBody>
      </p:sp>
      <p:sp>
        <p:nvSpPr>
          <p:cNvPr id="9" name="AutoShape 16"/>
          <p:cNvSpPr>
            <a:spLocks noChangeArrowheads="1"/>
          </p:cNvSpPr>
          <p:nvPr/>
        </p:nvSpPr>
        <p:spPr bwMode="auto">
          <a:xfrm>
            <a:off x="3810000" y="2771775"/>
            <a:ext cx="1524000" cy="304800"/>
          </a:xfrm>
          <a:prstGeom prst="rightArrow">
            <a:avLst>
              <a:gd name="adj1" fmla="val 50000"/>
              <a:gd name="adj2" fmla="val 125000"/>
            </a:avLst>
          </a:prstGeom>
          <a:solidFill>
            <a:srgbClr val="FFFF00"/>
          </a:solidFill>
          <a:ln w="9525">
            <a:solidFill>
              <a:srgbClr val="FFFF00"/>
            </a:solidFill>
            <a:miter lim="800000"/>
            <a:headEnd/>
            <a:tailEnd/>
          </a:ln>
        </p:spPr>
        <p:txBody>
          <a:bodyPr lIns="0" rIns="0" anchor="ctr">
            <a:spAutoFit/>
          </a:bodyPr>
          <a:lstStyle/>
          <a:p>
            <a:endParaRPr lang="zh-CN" altLang="en-US"/>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37"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outVertical)">
                                      <p:cBhvr>
                                        <p:cTn id="7" dur="500"/>
                                        <p:tgtEl>
                                          <p:spTgt spid="4"/>
                                        </p:tgtEl>
                                      </p:cBhvr>
                                    </p:animEffect>
                                  </p:childTnLst>
                                </p:cTn>
                              </p:par>
                            </p:childTnLst>
                          </p:cTn>
                        </p:par>
                        <p:par>
                          <p:cTn id="8" fill="hold" nodeType="afterGroup">
                            <p:stCondLst>
                              <p:cond delay="500"/>
                            </p:stCondLst>
                            <p:childTnLst>
                              <p:par>
                                <p:cTn id="9" presetID="12" presetClass="entr" presetSubtype="8"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slide(fromLeft)">
                                      <p:cBhvr>
                                        <p:cTn id="11" dur="500"/>
                                        <p:tgtEl>
                                          <p:spTgt spid="8"/>
                                        </p:tgtEl>
                                      </p:cBhvr>
                                    </p:animEffect>
                                  </p:childTnLst>
                                </p:cTn>
                              </p:par>
                            </p:childTnLst>
                          </p:cTn>
                        </p:par>
                        <p:par>
                          <p:cTn id="12" fill="hold" nodeType="afterGroup">
                            <p:stCondLst>
                              <p:cond delay="1000"/>
                            </p:stCondLst>
                            <p:childTnLst>
                              <p:par>
                                <p:cTn id="13" presetID="4" presetClass="entr" presetSubtype="16" fill="hold"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box(in)">
                                      <p:cBhvr>
                                        <p:cTn id="15" dur="500"/>
                                        <p:tgtEl>
                                          <p:spTgt spid="5"/>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6" presetClass="entr" presetSubtype="37" fill="hold"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barn(outVertical)">
                                      <p:cBhvr>
                                        <p:cTn id="20" dur="500"/>
                                        <p:tgtEl>
                                          <p:spTgt spid="6"/>
                                        </p:tgtEl>
                                      </p:cBhvr>
                                    </p:animEffect>
                                  </p:childTnLst>
                                </p:cTn>
                              </p:par>
                            </p:childTnLst>
                          </p:cTn>
                        </p:par>
                        <p:par>
                          <p:cTn id="21" fill="hold" nodeType="afterGroup">
                            <p:stCondLst>
                              <p:cond delay="500"/>
                            </p:stCondLst>
                            <p:childTnLst>
                              <p:par>
                                <p:cTn id="22" presetID="12" presetClass="entr" presetSubtype="8"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slide(fromLeft)">
                                      <p:cBhvr>
                                        <p:cTn id="24" dur="500"/>
                                        <p:tgtEl>
                                          <p:spTgt spid="9"/>
                                        </p:tgtEl>
                                      </p:cBhvr>
                                    </p:animEffect>
                                  </p:childTnLst>
                                </p:cTn>
                              </p:par>
                            </p:childTnLst>
                          </p:cTn>
                        </p:par>
                        <p:par>
                          <p:cTn id="25" fill="hold" nodeType="afterGroup">
                            <p:stCondLst>
                              <p:cond delay="1000"/>
                            </p:stCondLst>
                            <p:childTnLst>
                              <p:par>
                                <p:cTn id="26" presetID="4" presetClass="entr" presetSubtype="16" fill="hold" nodeType="after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box(in)">
                                      <p:cBhvr>
                                        <p:cTn id="2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quarter" idx="10"/>
          </p:nvPr>
        </p:nvSpPr>
        <p:spPr/>
        <p:txBody>
          <a:bodyPr/>
          <a:lstStyle/>
          <a:p>
            <a:pPr>
              <a:defRPr/>
            </a:pPr>
            <a:fld id="{DB725744-C5BF-4E74-B82F-BB27C77A4981}" type="datetime1">
              <a:rPr lang="zh-CN" altLang="en-US"/>
              <a:pPr>
                <a:defRPr/>
              </a:pPr>
              <a:t>2021/9/21</a:t>
            </a:fld>
            <a:endParaRPr lang="en-US" altLang="zh-CN" dirty="0"/>
          </a:p>
        </p:txBody>
      </p:sp>
      <p:sp>
        <p:nvSpPr>
          <p:cNvPr id="7" name="灯片编号占位符 5"/>
          <p:cNvSpPr>
            <a:spLocks noGrp="1"/>
          </p:cNvSpPr>
          <p:nvPr>
            <p:ph type="sldNum" sz="quarter" idx="12"/>
          </p:nvPr>
        </p:nvSpPr>
        <p:spPr/>
        <p:txBody>
          <a:bodyPr/>
          <a:lstStyle/>
          <a:p>
            <a:pPr>
              <a:defRPr/>
            </a:pPr>
            <a:fld id="{25CDACB8-D05E-4247-B168-4A82FEF7F935}" type="slidenum">
              <a:rPr lang="en-US" altLang="zh-CN"/>
              <a:pPr>
                <a:defRPr/>
              </a:pPr>
              <a:t>28</a:t>
            </a:fld>
            <a:endParaRPr lang="en-US" altLang="zh-CN"/>
          </a:p>
        </p:txBody>
      </p:sp>
      <p:sp>
        <p:nvSpPr>
          <p:cNvPr id="30724" name="Rectangle 2"/>
          <p:cNvSpPr>
            <a:spLocks noGrp="1" noChangeArrowheads="1"/>
          </p:cNvSpPr>
          <p:nvPr>
            <p:ph type="body" idx="1"/>
          </p:nvPr>
        </p:nvSpPr>
        <p:spPr/>
        <p:txBody>
          <a:bodyPr/>
          <a:lstStyle/>
          <a:p>
            <a:pPr eaLnBrk="1" hangingPunct="1">
              <a:lnSpc>
                <a:spcPct val="90000"/>
              </a:lnSpc>
            </a:pPr>
            <a:r>
              <a:rPr lang="zh-CN" altLang="en-US" dirty="0" smtClean="0"/>
              <a:t>对偶规则</a:t>
            </a:r>
          </a:p>
          <a:p>
            <a:pPr lvl="1" eaLnBrk="1" hangingPunct="1">
              <a:lnSpc>
                <a:spcPct val="90000"/>
              </a:lnSpc>
            </a:pPr>
            <a:r>
              <a:rPr lang="zh-CN" altLang="en-US" dirty="0" smtClean="0"/>
              <a:t>对偶式：设</a:t>
            </a:r>
            <a:r>
              <a:rPr lang="en-US" altLang="zh-CN" dirty="0" smtClean="0"/>
              <a:t>F</a:t>
            </a:r>
            <a:r>
              <a:rPr lang="zh-CN" altLang="en-US" dirty="0" smtClean="0"/>
              <a:t>为一个逻辑函数表达式，如果将</a:t>
            </a:r>
            <a:r>
              <a:rPr lang="en-US" altLang="zh-CN" dirty="0" smtClean="0"/>
              <a:t>F</a:t>
            </a:r>
            <a:r>
              <a:rPr lang="zh-CN" altLang="en-US" dirty="0" smtClean="0"/>
              <a:t>中所有的“</a:t>
            </a:r>
            <a:r>
              <a:rPr lang="en-US" altLang="zh-CN" dirty="0" smtClean="0"/>
              <a:t>·”</a:t>
            </a:r>
            <a:r>
              <a:rPr lang="zh-CN" altLang="en-US" dirty="0" smtClean="0"/>
              <a:t>变为“</a:t>
            </a:r>
            <a:r>
              <a:rPr lang="en-US" altLang="zh-CN" dirty="0" smtClean="0"/>
              <a:t>+”</a:t>
            </a:r>
            <a:r>
              <a:rPr lang="zh-CN" altLang="en-US" dirty="0" smtClean="0"/>
              <a:t>、“</a:t>
            </a:r>
            <a:r>
              <a:rPr lang="en-US" altLang="zh-CN" dirty="0" smtClean="0"/>
              <a:t>+”</a:t>
            </a:r>
            <a:r>
              <a:rPr lang="zh-CN" altLang="en-US" dirty="0" smtClean="0"/>
              <a:t>变为“</a:t>
            </a:r>
            <a:r>
              <a:rPr lang="en-US" altLang="zh-CN" dirty="0" smtClean="0"/>
              <a:t>·”</a:t>
            </a:r>
            <a:r>
              <a:rPr lang="zh-CN" altLang="en-US" dirty="0" smtClean="0"/>
              <a:t>、“</a:t>
            </a:r>
            <a:r>
              <a:rPr lang="en-US" altLang="zh-CN" dirty="0" smtClean="0"/>
              <a:t>0”</a:t>
            </a:r>
            <a:r>
              <a:rPr lang="zh-CN" altLang="en-US" dirty="0" smtClean="0"/>
              <a:t>变为“</a:t>
            </a:r>
            <a:r>
              <a:rPr lang="en-US" altLang="zh-CN" dirty="0" smtClean="0"/>
              <a:t>1”</a:t>
            </a:r>
            <a:r>
              <a:rPr lang="zh-CN" altLang="en-US" dirty="0" smtClean="0"/>
              <a:t>、“</a:t>
            </a:r>
            <a:r>
              <a:rPr lang="en-US" altLang="zh-CN" dirty="0" smtClean="0"/>
              <a:t>1”</a:t>
            </a:r>
            <a:r>
              <a:rPr lang="zh-CN" altLang="en-US" dirty="0" smtClean="0"/>
              <a:t>变为“</a:t>
            </a:r>
            <a:r>
              <a:rPr lang="en-US" altLang="zh-CN" dirty="0" smtClean="0"/>
              <a:t>0”</a:t>
            </a:r>
            <a:r>
              <a:rPr lang="zh-CN" altLang="en-US" dirty="0" smtClean="0"/>
              <a:t>，而</a:t>
            </a:r>
            <a:r>
              <a:rPr lang="zh-CN" altLang="en-US" b="1" dirty="0" smtClean="0">
                <a:solidFill>
                  <a:srgbClr val="FF0000"/>
                </a:solidFill>
              </a:rPr>
              <a:t>逻辑变量保持不变</a:t>
            </a:r>
            <a:r>
              <a:rPr lang="zh-CN" altLang="en-US" dirty="0" smtClean="0"/>
              <a:t>，则所得到的新的逻辑函数表达式称为函数</a:t>
            </a:r>
            <a:r>
              <a:rPr lang="en-US" altLang="zh-CN" dirty="0" smtClean="0"/>
              <a:t>F</a:t>
            </a:r>
            <a:r>
              <a:rPr lang="zh-CN" altLang="en-US" dirty="0" smtClean="0"/>
              <a:t>的对偶式，记作</a:t>
            </a:r>
            <a:r>
              <a:rPr lang="en-US" altLang="zh-CN" dirty="0" smtClean="0"/>
              <a:t>F’</a:t>
            </a:r>
            <a:r>
              <a:rPr lang="zh-CN" altLang="en-US" dirty="0" smtClean="0"/>
              <a:t>。（必须保持原函数的运算顺序不变）</a:t>
            </a:r>
          </a:p>
          <a:p>
            <a:pPr lvl="2" eaLnBrk="1" hangingPunct="1">
              <a:lnSpc>
                <a:spcPct val="90000"/>
              </a:lnSpc>
            </a:pPr>
            <a:r>
              <a:rPr lang="zh-CN" altLang="en-US" dirty="0" smtClean="0"/>
              <a:t>若                           ，则</a:t>
            </a:r>
          </a:p>
          <a:p>
            <a:pPr lvl="2" eaLnBrk="1" hangingPunct="1">
              <a:lnSpc>
                <a:spcPct val="90000"/>
              </a:lnSpc>
            </a:pPr>
            <a:r>
              <a:rPr lang="en-US" altLang="zh-CN" dirty="0" smtClean="0"/>
              <a:t>F</a:t>
            </a:r>
            <a:r>
              <a:rPr lang="zh-CN" altLang="en-US" dirty="0" smtClean="0"/>
              <a:t>和</a:t>
            </a:r>
            <a:r>
              <a:rPr lang="en-US" altLang="zh-CN" dirty="0" smtClean="0"/>
              <a:t>F’</a:t>
            </a:r>
            <a:r>
              <a:rPr lang="zh-CN" altLang="en-US" dirty="0" smtClean="0"/>
              <a:t>互为对偶式，即</a:t>
            </a:r>
            <a:r>
              <a:rPr lang="en-US" altLang="zh-CN" dirty="0" smtClean="0"/>
              <a:t>(F’)’=F</a:t>
            </a:r>
          </a:p>
          <a:p>
            <a:pPr lvl="1" eaLnBrk="1" hangingPunct="1">
              <a:lnSpc>
                <a:spcPct val="90000"/>
              </a:lnSpc>
            </a:pPr>
            <a:r>
              <a:rPr lang="zh-CN" altLang="en-US" dirty="0" smtClean="0"/>
              <a:t>对偶规则：若两个逻辑函数表达式</a:t>
            </a:r>
            <a:r>
              <a:rPr lang="en-US" altLang="zh-CN" dirty="0" smtClean="0"/>
              <a:t>F</a:t>
            </a:r>
            <a:r>
              <a:rPr lang="zh-CN" altLang="en-US" dirty="0" smtClean="0"/>
              <a:t>和</a:t>
            </a:r>
            <a:r>
              <a:rPr lang="en-US" altLang="zh-CN" dirty="0" smtClean="0"/>
              <a:t>G</a:t>
            </a:r>
            <a:r>
              <a:rPr lang="zh-CN" altLang="en-US" dirty="0" smtClean="0"/>
              <a:t>相等，则它们的对偶式</a:t>
            </a:r>
            <a:r>
              <a:rPr lang="en-US" altLang="zh-CN" dirty="0" smtClean="0"/>
              <a:t>F’</a:t>
            </a:r>
            <a:r>
              <a:rPr lang="zh-CN" altLang="en-US" dirty="0" smtClean="0"/>
              <a:t>和</a:t>
            </a:r>
            <a:r>
              <a:rPr lang="en-US" altLang="zh-CN" dirty="0" smtClean="0"/>
              <a:t>G’</a:t>
            </a:r>
            <a:r>
              <a:rPr lang="zh-CN" altLang="en-US" dirty="0" smtClean="0"/>
              <a:t>也相等。</a:t>
            </a:r>
          </a:p>
          <a:p>
            <a:pPr lvl="2" eaLnBrk="1" hangingPunct="1">
              <a:lnSpc>
                <a:spcPct val="90000"/>
              </a:lnSpc>
            </a:pPr>
            <a:r>
              <a:rPr lang="zh-CN" altLang="en-US" dirty="0" smtClean="0"/>
              <a:t>若</a:t>
            </a:r>
            <a:r>
              <a:rPr lang="en-US" altLang="zh-CN" dirty="0" smtClean="0"/>
              <a:t>F=G</a:t>
            </a:r>
            <a:r>
              <a:rPr lang="zh-CN" altLang="en-US" dirty="0" smtClean="0"/>
              <a:t>，则</a:t>
            </a:r>
            <a:r>
              <a:rPr lang="en-US" altLang="zh-CN" dirty="0" smtClean="0"/>
              <a:t>F’=G’</a:t>
            </a:r>
          </a:p>
        </p:txBody>
      </p:sp>
      <p:sp>
        <p:nvSpPr>
          <p:cNvPr id="30725" name="Rectangle 3"/>
          <p:cNvSpPr>
            <a:spLocks noGrp="1" noChangeArrowheads="1"/>
          </p:cNvSpPr>
          <p:nvPr>
            <p:ph type="title"/>
          </p:nvPr>
        </p:nvSpPr>
        <p:spPr>
          <a:xfrm>
            <a:off x="1274763" y="533400"/>
            <a:ext cx="7793037" cy="609600"/>
          </a:xfrm>
        </p:spPr>
        <p:txBody>
          <a:bodyPr/>
          <a:lstStyle/>
          <a:p>
            <a:pPr eaLnBrk="1" hangingPunct="1"/>
            <a:r>
              <a:rPr lang="zh-CN" altLang="en-US" smtClean="0"/>
              <a:t>逻辑代数的重要规则</a:t>
            </a:r>
          </a:p>
        </p:txBody>
      </p:sp>
      <p:graphicFrame>
        <p:nvGraphicFramePr>
          <p:cNvPr id="30726" name="Object 5"/>
          <p:cNvGraphicFramePr>
            <a:graphicFrameLocks noChangeAspect="1"/>
          </p:cNvGraphicFramePr>
          <p:nvPr/>
        </p:nvGraphicFramePr>
        <p:xfrm>
          <a:off x="2057400" y="4237038"/>
          <a:ext cx="2362200" cy="477837"/>
        </p:xfrm>
        <a:graphic>
          <a:graphicData uri="http://schemas.openxmlformats.org/presentationml/2006/ole">
            <mc:AlternateContent xmlns:mc="http://schemas.openxmlformats.org/markup-compatibility/2006">
              <mc:Choice xmlns:v="urn:schemas-microsoft-com:vml" Requires="v">
                <p:oleObj spid="_x0000_s30752" name="公式" r:id="rId3" imgW="1193800" imgH="241300" progId="Equation.3">
                  <p:embed/>
                </p:oleObj>
              </mc:Choice>
              <mc:Fallback>
                <p:oleObj name="公式" r:id="rId3" imgW="1193800" imgH="2413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7400" y="4237038"/>
                        <a:ext cx="2362200" cy="4778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27" name="Object 7"/>
          <p:cNvGraphicFramePr>
            <a:graphicFrameLocks noChangeAspect="1"/>
          </p:cNvGraphicFramePr>
          <p:nvPr/>
        </p:nvGraphicFramePr>
        <p:xfrm>
          <a:off x="5257800" y="4237038"/>
          <a:ext cx="2438400" cy="477837"/>
        </p:xfrm>
        <a:graphic>
          <a:graphicData uri="http://schemas.openxmlformats.org/presentationml/2006/ole">
            <mc:AlternateContent xmlns:mc="http://schemas.openxmlformats.org/markup-compatibility/2006">
              <mc:Choice xmlns:v="urn:schemas-microsoft-com:vml" Requires="v">
                <p:oleObj spid="_x0000_s30753" name="公式" r:id="rId5" imgW="1231366" imgH="241195" progId="Equation.3">
                  <p:embed/>
                </p:oleObj>
              </mc:Choice>
              <mc:Fallback>
                <p:oleObj name="公式" r:id="rId5" imgW="1231366" imgH="241195"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57800" y="4237038"/>
                        <a:ext cx="2438400" cy="4778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random/>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quarter" idx="10"/>
          </p:nvPr>
        </p:nvSpPr>
        <p:spPr/>
        <p:txBody>
          <a:bodyPr/>
          <a:lstStyle/>
          <a:p>
            <a:pPr>
              <a:defRPr/>
            </a:pPr>
            <a:fld id="{9AF0A557-9EDC-451A-B067-3835DCCF72DE}" type="datetime1">
              <a:rPr lang="zh-CN" altLang="en-US" smtClean="0"/>
              <a:pPr>
                <a:defRPr/>
              </a:pPr>
              <a:t>2021/9/21</a:t>
            </a:fld>
            <a:endParaRPr lang="en-US" altLang="zh-CN"/>
          </a:p>
        </p:txBody>
      </p:sp>
      <p:sp>
        <p:nvSpPr>
          <p:cNvPr id="3" name="灯片编号占位符 2"/>
          <p:cNvSpPr>
            <a:spLocks noGrp="1"/>
          </p:cNvSpPr>
          <p:nvPr>
            <p:ph type="sldNum" sz="quarter" idx="12"/>
          </p:nvPr>
        </p:nvSpPr>
        <p:spPr/>
        <p:txBody>
          <a:bodyPr/>
          <a:lstStyle/>
          <a:p>
            <a:pPr>
              <a:defRPr/>
            </a:pPr>
            <a:fld id="{3224CC5A-2C21-41C0-9FF6-102C2F698F02}" type="slidenum">
              <a:rPr lang="en-US" altLang="zh-CN" smtClean="0"/>
              <a:pPr>
                <a:defRPr/>
              </a:pPr>
              <a:t>29</a:t>
            </a:fld>
            <a:endParaRPr lang="en-US" altLang="zh-CN"/>
          </a:p>
        </p:txBody>
      </p:sp>
      <p:graphicFrame>
        <p:nvGraphicFramePr>
          <p:cNvPr id="4" name="Object 4"/>
          <p:cNvGraphicFramePr>
            <a:graphicFrameLocks noChangeAspect="1"/>
          </p:cNvGraphicFramePr>
          <p:nvPr/>
        </p:nvGraphicFramePr>
        <p:xfrm>
          <a:off x="774700" y="1981200"/>
          <a:ext cx="2792413" cy="457200"/>
        </p:xfrm>
        <a:graphic>
          <a:graphicData uri="http://schemas.openxmlformats.org/presentationml/2006/ole">
            <mc:AlternateContent xmlns:mc="http://schemas.openxmlformats.org/markup-compatibility/2006">
              <mc:Choice xmlns:v="urn:schemas-microsoft-com:vml" Requires="v">
                <p:oleObj spid="_x0000_s31802" name="Document" r:id="rId4" imgW="971550" imgH="200025" progId="Word.Document.8">
                  <p:embed/>
                </p:oleObj>
              </mc:Choice>
              <mc:Fallback>
                <p:oleObj name="Document" r:id="rId4" imgW="971550" imgH="200025" progId="Word.Document.8">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4700" y="1981200"/>
                        <a:ext cx="2792413" cy="4572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 name="Object 13"/>
          <p:cNvGraphicFramePr>
            <a:graphicFrameLocks noChangeAspect="1"/>
          </p:cNvGraphicFramePr>
          <p:nvPr/>
        </p:nvGraphicFramePr>
        <p:xfrm>
          <a:off x="5257800" y="1981200"/>
          <a:ext cx="3429000" cy="457200"/>
        </p:xfrm>
        <a:graphic>
          <a:graphicData uri="http://schemas.openxmlformats.org/presentationml/2006/ole">
            <mc:AlternateContent xmlns:mc="http://schemas.openxmlformats.org/markup-compatibility/2006">
              <mc:Choice xmlns:v="urn:schemas-microsoft-com:vml" Requires="v">
                <p:oleObj spid="_x0000_s31803" name="Document" r:id="rId7" imgW="1524000" imgH="228600" progId="Word.Document.8">
                  <p:embed/>
                </p:oleObj>
              </mc:Choice>
              <mc:Fallback>
                <p:oleObj name="Document" r:id="rId7" imgW="1524000" imgH="228600" progId="Word.Document.8">
                  <p:embed/>
                  <p:pic>
                    <p:nvPicPr>
                      <p:cNvPr id="0" name="Object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57800" y="1981200"/>
                        <a:ext cx="3429000" cy="4572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 name="Object 14"/>
          <p:cNvGraphicFramePr>
            <a:graphicFrameLocks noChangeAspect="1"/>
          </p:cNvGraphicFramePr>
          <p:nvPr/>
        </p:nvGraphicFramePr>
        <p:xfrm>
          <a:off x="838200" y="2590800"/>
          <a:ext cx="2743200" cy="533400"/>
        </p:xfrm>
        <a:graphic>
          <a:graphicData uri="http://schemas.openxmlformats.org/presentationml/2006/ole">
            <mc:AlternateContent xmlns:mc="http://schemas.openxmlformats.org/markup-compatibility/2006">
              <mc:Choice xmlns:v="urn:schemas-microsoft-com:vml" Requires="v">
                <p:oleObj spid="_x0000_s31804" name="Document" r:id="rId10" imgW="1447800" imgH="257175" progId="Word.Document.8">
                  <p:embed/>
                </p:oleObj>
              </mc:Choice>
              <mc:Fallback>
                <p:oleObj name="Document" r:id="rId10" imgW="1447800" imgH="257175" progId="Word.Document.8">
                  <p:embed/>
                  <p:pic>
                    <p:nvPicPr>
                      <p:cNvPr id="0" name="Object 1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38200" y="2590800"/>
                        <a:ext cx="2743200" cy="5334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 name="Object 15"/>
          <p:cNvGraphicFramePr>
            <a:graphicFrameLocks noChangeAspect="1"/>
          </p:cNvGraphicFramePr>
          <p:nvPr/>
        </p:nvGraphicFramePr>
        <p:xfrm>
          <a:off x="5257800" y="2590800"/>
          <a:ext cx="3581400" cy="457200"/>
        </p:xfrm>
        <a:graphic>
          <a:graphicData uri="http://schemas.openxmlformats.org/presentationml/2006/ole">
            <mc:AlternateContent xmlns:mc="http://schemas.openxmlformats.org/markup-compatibility/2006">
              <mc:Choice xmlns:v="urn:schemas-microsoft-com:vml" Requires="v">
                <p:oleObj spid="_x0000_s31805" name="Document" r:id="rId13" imgW="1238250" imgH="257175" progId="Word.Document.8">
                  <p:embed/>
                </p:oleObj>
              </mc:Choice>
              <mc:Fallback>
                <p:oleObj name="Document" r:id="rId13" imgW="1238250" imgH="257175" progId="Word.Document.8">
                  <p:embed/>
                  <p:pic>
                    <p:nvPicPr>
                      <p:cNvPr id="0" name="Object 1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257800" y="2590800"/>
                        <a:ext cx="3581400" cy="4572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 name="AutoShape 16"/>
          <p:cNvSpPr>
            <a:spLocks noChangeArrowheads="1"/>
          </p:cNvSpPr>
          <p:nvPr/>
        </p:nvSpPr>
        <p:spPr bwMode="auto">
          <a:xfrm>
            <a:off x="3657600" y="2057400"/>
            <a:ext cx="1524000" cy="304800"/>
          </a:xfrm>
          <a:prstGeom prst="rightArrow">
            <a:avLst>
              <a:gd name="adj1" fmla="val 50000"/>
              <a:gd name="adj2" fmla="val 125000"/>
            </a:avLst>
          </a:prstGeom>
          <a:solidFill>
            <a:srgbClr val="FFFF00"/>
          </a:solidFill>
          <a:ln w="9525">
            <a:solidFill>
              <a:srgbClr val="FFFF00"/>
            </a:solidFill>
            <a:miter lim="800000"/>
            <a:headEnd/>
            <a:tailEnd/>
          </a:ln>
        </p:spPr>
        <p:txBody>
          <a:bodyPr lIns="0" rIns="0" anchor="ctr">
            <a:spAutoFit/>
          </a:bodyPr>
          <a:lstStyle/>
          <a:p>
            <a:endParaRPr lang="zh-CN" altLang="en-US"/>
          </a:p>
        </p:txBody>
      </p:sp>
      <p:sp>
        <p:nvSpPr>
          <p:cNvPr id="9" name="AutoShape 17"/>
          <p:cNvSpPr>
            <a:spLocks noChangeArrowheads="1"/>
          </p:cNvSpPr>
          <p:nvPr/>
        </p:nvSpPr>
        <p:spPr bwMode="auto">
          <a:xfrm>
            <a:off x="3657600" y="2686050"/>
            <a:ext cx="1524000" cy="304800"/>
          </a:xfrm>
          <a:prstGeom prst="rightArrow">
            <a:avLst>
              <a:gd name="adj1" fmla="val 50000"/>
              <a:gd name="adj2" fmla="val 125000"/>
            </a:avLst>
          </a:prstGeom>
          <a:solidFill>
            <a:srgbClr val="FFFF00"/>
          </a:solidFill>
          <a:ln w="9525">
            <a:solidFill>
              <a:srgbClr val="FFFF00"/>
            </a:solidFill>
            <a:miter lim="800000"/>
            <a:headEnd/>
            <a:tailEnd/>
          </a:ln>
        </p:spPr>
        <p:txBody>
          <a:bodyPr lIns="0" rIns="0" anchor="ctr">
            <a:spAutoFit/>
          </a:bodyPr>
          <a:lstStyle/>
          <a:p>
            <a:endParaRPr lang="zh-CN" altLang="en-US"/>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37"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outVertical)">
                                      <p:cBhvr>
                                        <p:cTn id="7" dur="500"/>
                                        <p:tgtEl>
                                          <p:spTgt spid="4"/>
                                        </p:tgtEl>
                                      </p:cBhvr>
                                    </p:animEffect>
                                  </p:childTnLst>
                                </p:cTn>
                              </p:par>
                            </p:childTnLst>
                          </p:cTn>
                        </p:par>
                        <p:par>
                          <p:cTn id="8" fill="hold" nodeType="afterGroup">
                            <p:stCondLst>
                              <p:cond delay="500"/>
                            </p:stCondLst>
                            <p:childTnLst>
                              <p:par>
                                <p:cTn id="9" presetID="12" presetClass="entr" presetSubtype="8"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slide(fromLeft)">
                                      <p:cBhvr>
                                        <p:cTn id="11" dur="500"/>
                                        <p:tgtEl>
                                          <p:spTgt spid="8"/>
                                        </p:tgtEl>
                                      </p:cBhvr>
                                    </p:animEffect>
                                  </p:childTnLst>
                                </p:cTn>
                              </p:par>
                            </p:childTnLst>
                          </p:cTn>
                        </p:par>
                        <p:par>
                          <p:cTn id="12" fill="hold" nodeType="afterGroup">
                            <p:stCondLst>
                              <p:cond delay="1000"/>
                            </p:stCondLst>
                            <p:childTnLst>
                              <p:par>
                                <p:cTn id="13" presetID="4" presetClass="entr" presetSubtype="16" fill="hold"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box(in)">
                                      <p:cBhvr>
                                        <p:cTn id="15" dur="500"/>
                                        <p:tgtEl>
                                          <p:spTgt spid="5"/>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6" presetClass="entr" presetSubtype="37" fill="hold"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barn(outVertical)">
                                      <p:cBhvr>
                                        <p:cTn id="20" dur="500"/>
                                        <p:tgtEl>
                                          <p:spTgt spid="6"/>
                                        </p:tgtEl>
                                      </p:cBhvr>
                                    </p:animEffect>
                                  </p:childTnLst>
                                </p:cTn>
                              </p:par>
                            </p:childTnLst>
                          </p:cTn>
                        </p:par>
                        <p:par>
                          <p:cTn id="21" fill="hold" nodeType="afterGroup">
                            <p:stCondLst>
                              <p:cond delay="500"/>
                            </p:stCondLst>
                            <p:childTnLst>
                              <p:par>
                                <p:cTn id="22" presetID="12" presetClass="entr" presetSubtype="8"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slide(fromLeft)">
                                      <p:cBhvr>
                                        <p:cTn id="24" dur="500"/>
                                        <p:tgtEl>
                                          <p:spTgt spid="9"/>
                                        </p:tgtEl>
                                      </p:cBhvr>
                                    </p:animEffect>
                                  </p:childTnLst>
                                </p:cTn>
                              </p:par>
                            </p:childTnLst>
                          </p:cTn>
                        </p:par>
                        <p:par>
                          <p:cTn id="25" fill="hold" nodeType="afterGroup">
                            <p:stCondLst>
                              <p:cond delay="1000"/>
                            </p:stCondLst>
                            <p:childTnLst>
                              <p:par>
                                <p:cTn id="26" presetID="4" presetClass="entr" presetSubtype="32" fill="hold" nodeType="after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box(out)">
                                      <p:cBhvr>
                                        <p:cTn id="2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body" idx="1"/>
          </p:nvPr>
        </p:nvSpPr>
        <p:spPr>
          <a:xfrm>
            <a:off x="457200" y="714375"/>
            <a:ext cx="8382000" cy="5929313"/>
          </a:xfrm>
          <a:solidFill>
            <a:schemeClr val="bg1"/>
          </a:solidFill>
          <a:ln>
            <a:solidFill>
              <a:schemeClr val="bg1"/>
            </a:solidFill>
            <a:miter lim="800000"/>
            <a:headEnd/>
            <a:tailEnd/>
          </a:ln>
        </p:spPr>
        <p:txBody>
          <a:bodyPr/>
          <a:lstStyle/>
          <a:p>
            <a:pPr eaLnBrk="1" hangingPunct="1">
              <a:lnSpc>
                <a:spcPct val="90000"/>
              </a:lnSpc>
            </a:pPr>
            <a:r>
              <a:rPr lang="zh-CN" altLang="en-US" smtClean="0">
                <a:solidFill>
                  <a:schemeClr val="folHlink"/>
                </a:solidFill>
              </a:rPr>
              <a:t>与非逻辑</a:t>
            </a:r>
            <a:r>
              <a:rPr lang="en-US" altLang="zh-CN" smtClean="0"/>
              <a:t>(NAND)</a:t>
            </a:r>
            <a:r>
              <a:rPr lang="zh-CN" altLang="en-US" smtClean="0"/>
              <a:t>：“与”和“非”的复合逻辑</a:t>
            </a:r>
          </a:p>
          <a:p>
            <a:pPr lvl="1" eaLnBrk="1" hangingPunct="1">
              <a:lnSpc>
                <a:spcPct val="90000"/>
              </a:lnSpc>
            </a:pPr>
            <a:r>
              <a:rPr lang="zh-CN" altLang="en-US" smtClean="0"/>
              <a:t>表达式形式：</a:t>
            </a:r>
          </a:p>
          <a:p>
            <a:pPr lvl="1" eaLnBrk="1" hangingPunct="1">
              <a:lnSpc>
                <a:spcPct val="90000"/>
              </a:lnSpc>
            </a:pPr>
            <a:r>
              <a:rPr lang="zh-CN" altLang="en-US" smtClean="0"/>
              <a:t>功能：只当所有变量的取值全为</a:t>
            </a:r>
            <a:r>
              <a:rPr lang="en-US" altLang="zh-CN" smtClean="0"/>
              <a:t>1</a:t>
            </a:r>
            <a:r>
              <a:rPr lang="zh-CN" altLang="en-US" smtClean="0"/>
              <a:t>时，</a:t>
            </a:r>
            <a:r>
              <a:rPr lang="en-US" altLang="zh-CN" smtClean="0"/>
              <a:t>F=0</a:t>
            </a:r>
            <a:r>
              <a:rPr lang="zh-CN" altLang="en-US" smtClean="0"/>
              <a:t>，否则，</a:t>
            </a:r>
            <a:r>
              <a:rPr lang="en-US" altLang="zh-CN" smtClean="0"/>
              <a:t>F=1</a:t>
            </a:r>
            <a:r>
              <a:rPr lang="zh-CN" altLang="en-US" smtClean="0"/>
              <a:t>。</a:t>
            </a:r>
          </a:p>
          <a:p>
            <a:pPr eaLnBrk="1" hangingPunct="1">
              <a:lnSpc>
                <a:spcPct val="90000"/>
              </a:lnSpc>
            </a:pPr>
            <a:r>
              <a:rPr lang="zh-CN" altLang="en-US" smtClean="0">
                <a:solidFill>
                  <a:schemeClr val="folHlink"/>
                </a:solidFill>
              </a:rPr>
              <a:t>或非逻辑</a:t>
            </a:r>
            <a:r>
              <a:rPr lang="en-US" altLang="zh-CN" smtClean="0"/>
              <a:t>(NOR)</a:t>
            </a:r>
            <a:r>
              <a:rPr lang="zh-CN" altLang="en-US" smtClean="0"/>
              <a:t>：“或”和“非”的复合逻辑</a:t>
            </a:r>
          </a:p>
          <a:p>
            <a:pPr lvl="1" eaLnBrk="1" hangingPunct="1">
              <a:lnSpc>
                <a:spcPct val="90000"/>
              </a:lnSpc>
            </a:pPr>
            <a:r>
              <a:rPr lang="zh-CN" altLang="en-US" smtClean="0"/>
              <a:t>表达式形式：</a:t>
            </a:r>
          </a:p>
          <a:p>
            <a:pPr lvl="1" eaLnBrk="1" hangingPunct="1">
              <a:lnSpc>
                <a:spcPct val="90000"/>
              </a:lnSpc>
            </a:pPr>
            <a:r>
              <a:rPr lang="zh-CN" altLang="en-US" smtClean="0"/>
              <a:t>功能：只当所有变量的取值全为</a:t>
            </a:r>
            <a:r>
              <a:rPr lang="en-US" altLang="zh-CN" smtClean="0"/>
              <a:t>0</a:t>
            </a:r>
            <a:r>
              <a:rPr lang="zh-CN" altLang="en-US" smtClean="0"/>
              <a:t>时，</a:t>
            </a:r>
            <a:r>
              <a:rPr lang="en-US" altLang="zh-CN" smtClean="0"/>
              <a:t>F=1</a:t>
            </a:r>
            <a:r>
              <a:rPr lang="zh-CN" altLang="en-US" smtClean="0"/>
              <a:t>，否则，</a:t>
            </a:r>
            <a:r>
              <a:rPr lang="en-US" altLang="zh-CN" smtClean="0"/>
              <a:t>F=0</a:t>
            </a:r>
            <a:r>
              <a:rPr lang="zh-CN" altLang="en-US" smtClean="0"/>
              <a:t>。</a:t>
            </a:r>
          </a:p>
          <a:p>
            <a:pPr eaLnBrk="1" hangingPunct="1">
              <a:lnSpc>
                <a:spcPct val="90000"/>
              </a:lnSpc>
            </a:pPr>
            <a:r>
              <a:rPr lang="zh-CN" altLang="en-US" smtClean="0">
                <a:solidFill>
                  <a:schemeClr val="folHlink"/>
                </a:solidFill>
              </a:rPr>
              <a:t>与或非逻辑</a:t>
            </a:r>
            <a:r>
              <a:rPr lang="zh-CN" altLang="en-US" smtClean="0"/>
              <a:t>： “与”、“或”和“非”的复合逻辑</a:t>
            </a:r>
          </a:p>
          <a:p>
            <a:pPr lvl="1" eaLnBrk="1" hangingPunct="1">
              <a:lnSpc>
                <a:spcPct val="90000"/>
              </a:lnSpc>
            </a:pPr>
            <a:r>
              <a:rPr lang="zh-CN" altLang="en-US" smtClean="0"/>
              <a:t>表达式形式：</a:t>
            </a:r>
          </a:p>
        </p:txBody>
      </p:sp>
      <p:sp>
        <p:nvSpPr>
          <p:cNvPr id="7" name="日期占位符 3"/>
          <p:cNvSpPr>
            <a:spLocks noGrp="1"/>
          </p:cNvSpPr>
          <p:nvPr>
            <p:ph type="dt" sz="quarter" idx="10"/>
          </p:nvPr>
        </p:nvSpPr>
        <p:spPr/>
        <p:txBody>
          <a:bodyPr/>
          <a:lstStyle/>
          <a:p>
            <a:pPr>
              <a:defRPr/>
            </a:pPr>
            <a:fld id="{1034C9D2-9775-420E-B747-3E7E5BC97C6C}" type="datetime1">
              <a:rPr lang="zh-CN" altLang="en-US"/>
              <a:pPr>
                <a:defRPr/>
              </a:pPr>
              <a:t>2021/9/21</a:t>
            </a:fld>
            <a:endParaRPr lang="en-US" altLang="zh-CN"/>
          </a:p>
        </p:txBody>
      </p:sp>
      <p:sp>
        <p:nvSpPr>
          <p:cNvPr id="8" name="灯片编号占位符 5"/>
          <p:cNvSpPr>
            <a:spLocks noGrp="1"/>
          </p:cNvSpPr>
          <p:nvPr>
            <p:ph type="sldNum" sz="quarter" idx="12"/>
          </p:nvPr>
        </p:nvSpPr>
        <p:spPr/>
        <p:txBody>
          <a:bodyPr/>
          <a:lstStyle/>
          <a:p>
            <a:pPr>
              <a:defRPr/>
            </a:pPr>
            <a:fld id="{0C538F0D-2580-4438-A033-70EF85FB7B8A}" type="slidenum">
              <a:rPr lang="en-US" altLang="zh-CN"/>
              <a:pPr>
                <a:defRPr/>
              </a:pPr>
              <a:t>30</a:t>
            </a:fld>
            <a:endParaRPr lang="en-US" altLang="zh-CN"/>
          </a:p>
        </p:txBody>
      </p:sp>
      <p:sp>
        <p:nvSpPr>
          <p:cNvPr id="32773" name="Rectangle 3"/>
          <p:cNvSpPr>
            <a:spLocks noGrp="1" noChangeArrowheads="1"/>
          </p:cNvSpPr>
          <p:nvPr>
            <p:ph type="title"/>
          </p:nvPr>
        </p:nvSpPr>
        <p:spPr>
          <a:xfrm>
            <a:off x="1143000" y="142875"/>
            <a:ext cx="7793038" cy="609600"/>
          </a:xfrm>
        </p:spPr>
        <p:txBody>
          <a:bodyPr/>
          <a:lstStyle/>
          <a:p>
            <a:pPr eaLnBrk="1" hangingPunct="1"/>
            <a:r>
              <a:rPr lang="zh-CN" altLang="en-US" smtClean="0"/>
              <a:t>复合逻辑</a:t>
            </a:r>
          </a:p>
        </p:txBody>
      </p:sp>
      <p:graphicFrame>
        <p:nvGraphicFramePr>
          <p:cNvPr id="32774" name="Object 5"/>
          <p:cNvGraphicFramePr>
            <a:graphicFrameLocks noChangeAspect="1"/>
          </p:cNvGraphicFramePr>
          <p:nvPr/>
        </p:nvGraphicFramePr>
        <p:xfrm>
          <a:off x="3332163" y="3929063"/>
          <a:ext cx="2611437" cy="487362"/>
        </p:xfrm>
        <a:graphic>
          <a:graphicData uri="http://schemas.openxmlformats.org/presentationml/2006/ole">
            <mc:AlternateContent xmlns:mc="http://schemas.openxmlformats.org/markup-compatibility/2006">
              <mc:Choice xmlns:v="urn:schemas-microsoft-com:vml" Requires="v">
                <p:oleObj spid="_x0000_s32813" name="公式" r:id="rId3" imgW="1155199" imgH="215806" progId="Equation.3">
                  <p:embed/>
                </p:oleObj>
              </mc:Choice>
              <mc:Fallback>
                <p:oleObj name="公式" r:id="rId3" imgW="1155199" imgH="215806"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32163" y="3929063"/>
                        <a:ext cx="2611437" cy="487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2775" name="Object 6"/>
          <p:cNvGraphicFramePr>
            <a:graphicFrameLocks noChangeAspect="1"/>
          </p:cNvGraphicFramePr>
          <p:nvPr/>
        </p:nvGraphicFramePr>
        <p:xfrm>
          <a:off x="3295650" y="6227763"/>
          <a:ext cx="2725738" cy="487362"/>
        </p:xfrm>
        <a:graphic>
          <a:graphicData uri="http://schemas.openxmlformats.org/presentationml/2006/ole">
            <mc:AlternateContent xmlns:mc="http://schemas.openxmlformats.org/markup-compatibility/2006">
              <mc:Choice xmlns:v="urn:schemas-microsoft-com:vml" Requires="v">
                <p:oleObj spid="_x0000_s32814" name="公式" r:id="rId5" imgW="1205977" imgH="215806" progId="Equation.3">
                  <p:embed/>
                </p:oleObj>
              </mc:Choice>
              <mc:Fallback>
                <p:oleObj name="公式" r:id="rId5" imgW="1205977" imgH="215806"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95650" y="6227763"/>
                        <a:ext cx="2725738" cy="487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2776" name="Object 4"/>
          <p:cNvGraphicFramePr>
            <a:graphicFrameLocks noChangeAspect="1"/>
          </p:cNvGraphicFramePr>
          <p:nvPr/>
        </p:nvGraphicFramePr>
        <p:xfrm>
          <a:off x="3352800" y="1571625"/>
          <a:ext cx="2209800" cy="487363"/>
        </p:xfrm>
        <a:graphic>
          <a:graphicData uri="http://schemas.openxmlformats.org/presentationml/2006/ole">
            <mc:AlternateContent xmlns:mc="http://schemas.openxmlformats.org/markup-compatibility/2006">
              <mc:Choice xmlns:v="urn:schemas-microsoft-com:vml" Requires="v">
                <p:oleObj spid="_x0000_s32815" name="公式" r:id="rId7" imgW="977476" imgH="215806" progId="Equation.3">
                  <p:embed/>
                </p:oleObj>
              </mc:Choice>
              <mc:Fallback>
                <p:oleObj name="公式" r:id="rId7" imgW="977476" imgH="215806"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52800" y="1571625"/>
                        <a:ext cx="2209800" cy="487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random/>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日期占位符 3"/>
          <p:cNvSpPr>
            <a:spLocks noGrp="1"/>
          </p:cNvSpPr>
          <p:nvPr>
            <p:ph type="dt" sz="quarter" idx="10"/>
          </p:nvPr>
        </p:nvSpPr>
        <p:spPr/>
        <p:txBody>
          <a:bodyPr/>
          <a:lstStyle/>
          <a:p>
            <a:pPr>
              <a:defRPr/>
            </a:pPr>
            <a:fld id="{9DD1AE59-1A44-4AEC-A398-B38FA28F2684}" type="datetime1">
              <a:rPr lang="zh-CN" altLang="en-US"/>
              <a:pPr>
                <a:defRPr/>
              </a:pPr>
              <a:t>2021/9/21</a:t>
            </a:fld>
            <a:endParaRPr lang="en-US" altLang="zh-CN"/>
          </a:p>
        </p:txBody>
      </p:sp>
      <p:sp>
        <p:nvSpPr>
          <p:cNvPr id="10" name="灯片编号占位符 5"/>
          <p:cNvSpPr>
            <a:spLocks noGrp="1"/>
          </p:cNvSpPr>
          <p:nvPr>
            <p:ph type="sldNum" sz="quarter" idx="12"/>
          </p:nvPr>
        </p:nvSpPr>
        <p:spPr/>
        <p:txBody>
          <a:bodyPr/>
          <a:lstStyle/>
          <a:p>
            <a:pPr>
              <a:defRPr/>
            </a:pPr>
            <a:fld id="{D55C46F7-A54F-4369-9F21-DE4D4A545C20}" type="slidenum">
              <a:rPr lang="en-US" altLang="zh-CN"/>
              <a:pPr>
                <a:defRPr/>
              </a:pPr>
              <a:t>31</a:t>
            </a:fld>
            <a:endParaRPr lang="en-US" altLang="zh-CN"/>
          </a:p>
        </p:txBody>
      </p:sp>
      <p:sp>
        <p:nvSpPr>
          <p:cNvPr id="33796" name="Rectangle 2"/>
          <p:cNvSpPr>
            <a:spLocks noGrp="1" noChangeArrowheads="1"/>
          </p:cNvSpPr>
          <p:nvPr>
            <p:ph type="body" idx="1"/>
          </p:nvPr>
        </p:nvSpPr>
        <p:spPr/>
        <p:txBody>
          <a:bodyPr/>
          <a:lstStyle/>
          <a:p>
            <a:pPr eaLnBrk="1" hangingPunct="1">
              <a:lnSpc>
                <a:spcPct val="90000"/>
              </a:lnSpc>
            </a:pPr>
            <a:r>
              <a:rPr lang="zh-CN" altLang="en-US" sz="2800" dirty="0" smtClean="0">
                <a:solidFill>
                  <a:schemeClr val="folHlink"/>
                </a:solidFill>
              </a:rPr>
              <a:t>异或逻辑</a:t>
            </a:r>
            <a:r>
              <a:rPr lang="en-US" altLang="zh-CN" sz="2800" dirty="0" smtClean="0"/>
              <a:t>(XOR)</a:t>
            </a:r>
          </a:p>
          <a:p>
            <a:pPr lvl="1" eaLnBrk="1" hangingPunct="1">
              <a:lnSpc>
                <a:spcPct val="90000"/>
              </a:lnSpc>
            </a:pPr>
            <a:r>
              <a:rPr lang="zh-CN" altLang="en-US" sz="2400" dirty="0" smtClean="0"/>
              <a:t>表达式形式：</a:t>
            </a:r>
          </a:p>
          <a:p>
            <a:pPr lvl="1" eaLnBrk="1" hangingPunct="1">
              <a:lnSpc>
                <a:spcPct val="90000"/>
              </a:lnSpc>
            </a:pPr>
            <a:r>
              <a:rPr lang="zh-CN" altLang="en-US" sz="2400" dirty="0" smtClean="0"/>
              <a:t>功能：当两个变量的取值相异时，</a:t>
            </a:r>
            <a:r>
              <a:rPr lang="en-US" altLang="zh-CN" sz="2400" dirty="0" smtClean="0"/>
              <a:t>F=1</a:t>
            </a:r>
            <a:r>
              <a:rPr lang="zh-CN" altLang="en-US" sz="2400" dirty="0" smtClean="0"/>
              <a:t>，否则，</a:t>
            </a:r>
            <a:r>
              <a:rPr lang="en-US" altLang="zh-CN" sz="2400" dirty="0" smtClean="0"/>
              <a:t>F=0</a:t>
            </a:r>
            <a:r>
              <a:rPr lang="zh-CN" altLang="en-US" sz="2400" dirty="0" smtClean="0"/>
              <a:t>。</a:t>
            </a:r>
          </a:p>
          <a:p>
            <a:pPr lvl="1" eaLnBrk="1" hangingPunct="1">
              <a:lnSpc>
                <a:spcPct val="90000"/>
              </a:lnSpc>
            </a:pPr>
            <a:r>
              <a:rPr lang="zh-CN" altLang="en-US" sz="2400" dirty="0" smtClean="0"/>
              <a:t>当多个</a:t>
            </a:r>
            <a:r>
              <a:rPr lang="en-US" altLang="zh-CN" sz="2400" dirty="0" smtClean="0"/>
              <a:t>(≥3</a:t>
            </a:r>
            <a:r>
              <a:rPr lang="zh-CN" altLang="en-US" sz="2400" dirty="0" smtClean="0"/>
              <a:t>个</a:t>
            </a:r>
            <a:r>
              <a:rPr lang="en-US" altLang="zh-CN" sz="2400" dirty="0" smtClean="0"/>
              <a:t>)</a:t>
            </a:r>
            <a:r>
              <a:rPr lang="zh-CN" altLang="en-US" sz="2400" dirty="0" smtClean="0"/>
              <a:t>变量时，当有奇数个变量取值为</a:t>
            </a:r>
            <a:r>
              <a:rPr lang="en-US" altLang="zh-CN" sz="2400" dirty="0" smtClean="0"/>
              <a:t>1</a:t>
            </a:r>
            <a:r>
              <a:rPr lang="zh-CN" altLang="en-US" sz="2400" dirty="0" smtClean="0"/>
              <a:t>时，</a:t>
            </a:r>
            <a:r>
              <a:rPr lang="en-US" altLang="zh-CN" sz="2400" dirty="0" smtClean="0"/>
              <a:t>F=1</a:t>
            </a:r>
            <a:r>
              <a:rPr lang="zh-CN" altLang="en-US" sz="2400" dirty="0" smtClean="0"/>
              <a:t>，否则，</a:t>
            </a:r>
            <a:r>
              <a:rPr lang="en-US" altLang="zh-CN" sz="2400" dirty="0" smtClean="0"/>
              <a:t>F=0</a:t>
            </a:r>
            <a:r>
              <a:rPr lang="zh-CN" altLang="en-US" sz="2400" dirty="0" smtClean="0"/>
              <a:t>。</a:t>
            </a:r>
          </a:p>
          <a:p>
            <a:pPr lvl="1" eaLnBrk="1" hangingPunct="1">
              <a:lnSpc>
                <a:spcPct val="90000"/>
              </a:lnSpc>
            </a:pPr>
            <a:r>
              <a:rPr lang="zh-CN" altLang="en-US" sz="2400" dirty="0" smtClean="0"/>
              <a:t>奇偶律：</a:t>
            </a:r>
          </a:p>
          <a:p>
            <a:pPr lvl="1" eaLnBrk="1" hangingPunct="1">
              <a:lnSpc>
                <a:spcPct val="90000"/>
              </a:lnSpc>
              <a:buFont typeface="Wingdings" pitchFamily="2" charset="2"/>
              <a:buNone/>
            </a:pPr>
            <a:r>
              <a:rPr lang="zh-CN" altLang="en-US" sz="2400" dirty="0" smtClean="0"/>
              <a:t>   求补律：</a:t>
            </a:r>
          </a:p>
          <a:p>
            <a:pPr eaLnBrk="1" hangingPunct="1">
              <a:lnSpc>
                <a:spcPct val="90000"/>
              </a:lnSpc>
            </a:pPr>
            <a:r>
              <a:rPr lang="zh-CN" altLang="en-US" sz="2800" dirty="0" smtClean="0">
                <a:solidFill>
                  <a:schemeClr val="folHlink"/>
                </a:solidFill>
              </a:rPr>
              <a:t>同或逻辑</a:t>
            </a:r>
            <a:r>
              <a:rPr lang="en-US" altLang="zh-CN" sz="2800" dirty="0" smtClean="0"/>
              <a:t>(XNOR)</a:t>
            </a:r>
          </a:p>
          <a:p>
            <a:pPr lvl="1" eaLnBrk="1" hangingPunct="1">
              <a:lnSpc>
                <a:spcPct val="90000"/>
              </a:lnSpc>
            </a:pPr>
            <a:r>
              <a:rPr lang="zh-CN" altLang="en-US" sz="2400" dirty="0" smtClean="0"/>
              <a:t>表达式形式：</a:t>
            </a:r>
            <a:r>
              <a:rPr lang="en-US" altLang="zh-CN" sz="2400" dirty="0" smtClean="0"/>
              <a:t>F=A⊙B</a:t>
            </a:r>
          </a:p>
          <a:p>
            <a:pPr lvl="1" eaLnBrk="1" hangingPunct="1">
              <a:lnSpc>
                <a:spcPct val="90000"/>
              </a:lnSpc>
            </a:pPr>
            <a:r>
              <a:rPr lang="zh-CN" altLang="en-US" sz="2400" dirty="0" smtClean="0"/>
              <a:t>功能：当两个变量的取值相同时，</a:t>
            </a:r>
            <a:r>
              <a:rPr lang="en-US" altLang="zh-CN" sz="2400" dirty="0" smtClean="0"/>
              <a:t>F=1</a:t>
            </a:r>
            <a:r>
              <a:rPr lang="zh-CN" altLang="en-US" sz="2400" dirty="0" smtClean="0"/>
              <a:t>，否则，</a:t>
            </a:r>
            <a:r>
              <a:rPr lang="en-US" altLang="zh-CN" sz="2400" dirty="0" smtClean="0"/>
              <a:t>F=0</a:t>
            </a:r>
            <a:r>
              <a:rPr lang="zh-CN" altLang="en-US" sz="2400" dirty="0" smtClean="0"/>
              <a:t>。</a:t>
            </a:r>
          </a:p>
          <a:p>
            <a:pPr lvl="1" eaLnBrk="1" hangingPunct="1">
              <a:lnSpc>
                <a:spcPct val="90000"/>
              </a:lnSpc>
            </a:pPr>
            <a:r>
              <a:rPr lang="zh-CN" altLang="en-US" sz="2400" dirty="0" smtClean="0"/>
              <a:t>奇偶律： </a:t>
            </a:r>
            <a:r>
              <a:rPr lang="en-US" altLang="zh-CN" sz="2400" dirty="0" smtClean="0"/>
              <a:t>A⊙A=1    A⊙1=A</a:t>
            </a:r>
          </a:p>
          <a:p>
            <a:pPr lvl="1" eaLnBrk="1" hangingPunct="1">
              <a:lnSpc>
                <a:spcPct val="90000"/>
              </a:lnSpc>
              <a:buFont typeface="Wingdings" pitchFamily="2" charset="2"/>
              <a:buNone/>
            </a:pPr>
            <a:r>
              <a:rPr lang="en-US" altLang="zh-CN" sz="2400" dirty="0" smtClean="0"/>
              <a:t>   </a:t>
            </a:r>
            <a:r>
              <a:rPr lang="zh-CN" altLang="en-US" sz="2400" dirty="0" smtClean="0"/>
              <a:t>求补律： </a:t>
            </a:r>
            <a:r>
              <a:rPr lang="en-US" altLang="zh-CN" sz="2400" dirty="0" smtClean="0"/>
              <a:t>A⊙A=0    A⊙0=A</a:t>
            </a:r>
          </a:p>
        </p:txBody>
      </p:sp>
      <p:sp>
        <p:nvSpPr>
          <p:cNvPr id="33797" name="Rectangle 3"/>
          <p:cNvSpPr>
            <a:spLocks noGrp="1" noChangeArrowheads="1"/>
          </p:cNvSpPr>
          <p:nvPr>
            <p:ph type="title"/>
          </p:nvPr>
        </p:nvSpPr>
        <p:spPr>
          <a:xfrm>
            <a:off x="1274763" y="533400"/>
            <a:ext cx="7793037" cy="609600"/>
          </a:xfrm>
        </p:spPr>
        <p:txBody>
          <a:bodyPr/>
          <a:lstStyle/>
          <a:p>
            <a:pPr eaLnBrk="1" hangingPunct="1"/>
            <a:r>
              <a:rPr lang="zh-CN" altLang="en-US" smtClean="0"/>
              <a:t>复合逻辑</a:t>
            </a:r>
          </a:p>
        </p:txBody>
      </p:sp>
      <p:graphicFrame>
        <p:nvGraphicFramePr>
          <p:cNvPr id="33798" name="Object 4"/>
          <p:cNvGraphicFramePr>
            <a:graphicFrameLocks noChangeAspect="1"/>
          </p:cNvGraphicFramePr>
          <p:nvPr/>
        </p:nvGraphicFramePr>
        <p:xfrm>
          <a:off x="3127375" y="1809750"/>
          <a:ext cx="1492250" cy="400050"/>
        </p:xfrm>
        <a:graphic>
          <a:graphicData uri="http://schemas.openxmlformats.org/presentationml/2006/ole">
            <mc:AlternateContent xmlns:mc="http://schemas.openxmlformats.org/markup-compatibility/2006">
              <mc:Choice xmlns:v="urn:schemas-microsoft-com:vml" Requires="v">
                <p:oleObj spid="_x0000_s33839" name="公式" r:id="rId3" imgW="660113" imgH="177723" progId="Equation.3">
                  <p:embed/>
                </p:oleObj>
              </mc:Choice>
              <mc:Fallback>
                <p:oleObj name="公式" r:id="rId3" imgW="660113" imgH="177723"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27375" y="1809750"/>
                        <a:ext cx="1492250" cy="400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3799" name="Object 7"/>
          <p:cNvGraphicFramePr>
            <a:graphicFrameLocks noChangeAspect="1"/>
          </p:cNvGraphicFramePr>
          <p:nvPr/>
        </p:nvGraphicFramePr>
        <p:xfrm>
          <a:off x="2541588" y="3322638"/>
          <a:ext cx="3216275" cy="488950"/>
        </p:xfrm>
        <a:graphic>
          <a:graphicData uri="http://schemas.openxmlformats.org/presentationml/2006/ole">
            <mc:AlternateContent xmlns:mc="http://schemas.openxmlformats.org/markup-compatibility/2006">
              <mc:Choice xmlns:v="urn:schemas-microsoft-com:vml" Requires="v">
                <p:oleObj spid="_x0000_s33840" name="公式" r:id="rId5" imgW="1422400" imgH="215900" progId="Equation.3">
                  <p:embed/>
                </p:oleObj>
              </mc:Choice>
              <mc:Fallback>
                <p:oleObj name="公式" r:id="rId5" imgW="1422400" imgH="21590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41588" y="3322638"/>
                        <a:ext cx="3216275" cy="488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3800" name="Object 8"/>
          <p:cNvGraphicFramePr>
            <a:graphicFrameLocks noChangeAspect="1"/>
          </p:cNvGraphicFramePr>
          <p:nvPr/>
        </p:nvGraphicFramePr>
        <p:xfrm>
          <a:off x="2551113" y="3735388"/>
          <a:ext cx="2879725" cy="506412"/>
        </p:xfrm>
        <a:graphic>
          <a:graphicData uri="http://schemas.openxmlformats.org/presentationml/2006/ole">
            <mc:AlternateContent xmlns:mc="http://schemas.openxmlformats.org/markup-compatibility/2006">
              <mc:Choice xmlns:v="urn:schemas-microsoft-com:vml" Requires="v">
                <p:oleObj spid="_x0000_s33841" name="公式" r:id="rId7" imgW="1371600" imgH="241200" progId="Equation.3">
                  <p:embed/>
                </p:oleObj>
              </mc:Choice>
              <mc:Fallback>
                <p:oleObj name="公式" r:id="rId7" imgW="1371600" imgH="241200"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51113" y="3735388"/>
                        <a:ext cx="2879725" cy="506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3801" name="Line 11"/>
          <p:cNvSpPr>
            <a:spLocks noChangeShapeType="1"/>
          </p:cNvSpPr>
          <p:nvPr/>
        </p:nvSpPr>
        <p:spPr bwMode="auto">
          <a:xfrm>
            <a:off x="3111500" y="5892800"/>
            <a:ext cx="1524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3802" name="Line 12"/>
          <p:cNvSpPr>
            <a:spLocks noChangeShapeType="1"/>
          </p:cNvSpPr>
          <p:nvPr/>
        </p:nvSpPr>
        <p:spPr bwMode="auto">
          <a:xfrm>
            <a:off x="4927600" y="5892800"/>
            <a:ext cx="1524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Tree>
  </p:cSld>
  <p:clrMapOvr>
    <a:masterClrMapping/>
  </p:clrMapOvr>
  <p:transition>
    <p:random/>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日期占位符 3"/>
          <p:cNvSpPr>
            <a:spLocks noGrp="1"/>
          </p:cNvSpPr>
          <p:nvPr>
            <p:ph type="dt" sz="quarter" idx="10"/>
          </p:nvPr>
        </p:nvSpPr>
        <p:spPr/>
        <p:txBody>
          <a:bodyPr/>
          <a:lstStyle/>
          <a:p>
            <a:pPr>
              <a:defRPr/>
            </a:pPr>
            <a:fld id="{AE801F70-03A6-456F-9FBC-61485C4F844A}" type="datetime1">
              <a:rPr lang="zh-CN" altLang="en-US"/>
              <a:pPr>
                <a:defRPr/>
              </a:pPr>
              <a:t>2021/9/21</a:t>
            </a:fld>
            <a:endParaRPr lang="en-US" altLang="zh-CN"/>
          </a:p>
        </p:txBody>
      </p:sp>
      <p:sp>
        <p:nvSpPr>
          <p:cNvPr id="11" name="灯片编号占位符 5"/>
          <p:cNvSpPr>
            <a:spLocks noGrp="1"/>
          </p:cNvSpPr>
          <p:nvPr>
            <p:ph type="sldNum" sz="quarter" idx="12"/>
          </p:nvPr>
        </p:nvSpPr>
        <p:spPr/>
        <p:txBody>
          <a:bodyPr/>
          <a:lstStyle/>
          <a:p>
            <a:pPr>
              <a:defRPr/>
            </a:pPr>
            <a:fld id="{F46F0BC2-9FF9-4A75-8062-1475AC424D73}" type="slidenum">
              <a:rPr lang="en-US" altLang="zh-CN"/>
              <a:pPr>
                <a:defRPr/>
              </a:pPr>
              <a:t>32</a:t>
            </a:fld>
            <a:endParaRPr lang="en-US" altLang="zh-CN"/>
          </a:p>
        </p:txBody>
      </p:sp>
      <p:sp>
        <p:nvSpPr>
          <p:cNvPr id="34820" name="Rectangle 2"/>
          <p:cNvSpPr>
            <a:spLocks noGrp="1" noChangeArrowheads="1"/>
          </p:cNvSpPr>
          <p:nvPr>
            <p:ph type="body" idx="1"/>
          </p:nvPr>
        </p:nvSpPr>
        <p:spPr/>
        <p:txBody>
          <a:bodyPr/>
          <a:lstStyle/>
          <a:p>
            <a:pPr eaLnBrk="1" hangingPunct="1"/>
            <a:r>
              <a:rPr lang="zh-CN" altLang="en-US" smtClean="0">
                <a:solidFill>
                  <a:schemeClr val="folHlink"/>
                </a:solidFill>
              </a:rPr>
              <a:t>异或逻辑与同或逻辑的关系</a:t>
            </a:r>
            <a:endParaRPr lang="zh-CN" altLang="en-US" smtClean="0"/>
          </a:p>
          <a:p>
            <a:pPr lvl="1" eaLnBrk="1" hangingPunct="1"/>
            <a:r>
              <a:rPr lang="zh-CN" altLang="en-US" smtClean="0"/>
              <a:t>对于二变量有如下关系：</a:t>
            </a:r>
          </a:p>
          <a:p>
            <a:pPr lvl="1" eaLnBrk="1" hangingPunct="1">
              <a:buFont typeface="Wingdings" pitchFamily="2" charset="2"/>
              <a:buNone/>
            </a:pPr>
            <a:r>
              <a:rPr lang="zh-CN" altLang="en-US" smtClean="0"/>
              <a:t>                  </a:t>
            </a:r>
            <a:r>
              <a:rPr lang="en-US" altLang="zh-CN" smtClean="0">
                <a:latin typeface="Times New Roman" pitchFamily="18" charset="0"/>
              </a:rPr>
              <a:t>A</a:t>
            </a:r>
            <a:r>
              <a:rPr lang="en-US" altLang="zh-CN" smtClean="0"/>
              <a:t>⊙</a:t>
            </a:r>
            <a:r>
              <a:rPr lang="en-US" altLang="zh-CN" smtClean="0">
                <a:latin typeface="Times New Roman" pitchFamily="18" charset="0"/>
              </a:rPr>
              <a:t>B      A</a:t>
            </a:r>
            <a:r>
              <a:rPr lang="en-US" altLang="zh-CN" smtClean="0"/>
              <a:t>⊙</a:t>
            </a:r>
            <a:r>
              <a:rPr lang="en-US" altLang="zh-CN" smtClean="0">
                <a:latin typeface="Times New Roman" pitchFamily="18" charset="0"/>
              </a:rPr>
              <a:t>B</a:t>
            </a:r>
            <a:endParaRPr lang="en-US" altLang="zh-CN" smtClean="0"/>
          </a:p>
          <a:p>
            <a:pPr lvl="1" eaLnBrk="1" hangingPunct="1"/>
            <a:r>
              <a:rPr lang="zh-CN" altLang="en-US" smtClean="0"/>
              <a:t>对于多变量</a:t>
            </a:r>
            <a:r>
              <a:rPr lang="en-US" altLang="zh-CN" smtClean="0"/>
              <a:t>(≥3</a:t>
            </a:r>
            <a:r>
              <a:rPr lang="zh-CN" altLang="en-US" smtClean="0"/>
              <a:t>个</a:t>
            </a:r>
            <a:r>
              <a:rPr lang="en-US" altLang="zh-CN" smtClean="0"/>
              <a:t>)</a:t>
            </a:r>
            <a:r>
              <a:rPr lang="zh-CN" altLang="en-US" smtClean="0"/>
              <a:t>有如下关系：</a:t>
            </a:r>
          </a:p>
          <a:p>
            <a:pPr lvl="2" eaLnBrk="1" hangingPunct="1"/>
            <a:r>
              <a:rPr lang="zh-CN" altLang="en-US" smtClean="0"/>
              <a:t>偶数个变量时具有互补关系</a:t>
            </a:r>
          </a:p>
          <a:p>
            <a:pPr lvl="2" eaLnBrk="1" hangingPunct="1">
              <a:buFont typeface="Wingdings" pitchFamily="2" charset="2"/>
              <a:buNone/>
            </a:pPr>
            <a:r>
              <a:rPr lang="zh-CN" altLang="en-US" smtClean="0"/>
              <a:t>   如：                       </a:t>
            </a:r>
            <a:r>
              <a:rPr lang="en-US" altLang="zh-CN" smtClean="0">
                <a:latin typeface="Times New Roman" pitchFamily="18" charset="0"/>
              </a:rPr>
              <a:t>A</a:t>
            </a:r>
            <a:r>
              <a:rPr lang="en-US" altLang="zh-CN" smtClean="0"/>
              <a:t>⊙</a:t>
            </a:r>
            <a:r>
              <a:rPr lang="en-US" altLang="zh-CN" smtClean="0">
                <a:latin typeface="Times New Roman" pitchFamily="18" charset="0"/>
              </a:rPr>
              <a:t>B</a:t>
            </a:r>
            <a:r>
              <a:rPr lang="en-US" altLang="zh-CN" smtClean="0"/>
              <a:t>⊙C⊙D</a:t>
            </a:r>
          </a:p>
          <a:p>
            <a:pPr lvl="2" eaLnBrk="1" hangingPunct="1"/>
            <a:r>
              <a:rPr lang="zh-CN" altLang="en-US" smtClean="0"/>
              <a:t>奇数个变量时具有相等关系</a:t>
            </a:r>
          </a:p>
          <a:p>
            <a:pPr lvl="2" eaLnBrk="1" hangingPunct="1">
              <a:buFont typeface="Wingdings" pitchFamily="2" charset="2"/>
              <a:buNone/>
            </a:pPr>
            <a:r>
              <a:rPr lang="zh-CN" altLang="en-US" smtClean="0"/>
              <a:t>   如：                 </a:t>
            </a:r>
            <a:r>
              <a:rPr lang="en-US" altLang="zh-CN" smtClean="0">
                <a:latin typeface="Times New Roman" pitchFamily="18" charset="0"/>
              </a:rPr>
              <a:t>A</a:t>
            </a:r>
            <a:r>
              <a:rPr lang="en-US" altLang="zh-CN" smtClean="0"/>
              <a:t>⊙</a:t>
            </a:r>
            <a:r>
              <a:rPr lang="en-US" altLang="zh-CN" smtClean="0">
                <a:latin typeface="Times New Roman" pitchFamily="18" charset="0"/>
              </a:rPr>
              <a:t>B</a:t>
            </a:r>
            <a:r>
              <a:rPr lang="en-US" altLang="zh-CN" smtClean="0"/>
              <a:t>⊙C</a:t>
            </a:r>
          </a:p>
        </p:txBody>
      </p:sp>
      <p:sp>
        <p:nvSpPr>
          <p:cNvPr id="34821" name="Rectangle 3"/>
          <p:cNvSpPr>
            <a:spLocks noGrp="1" noChangeArrowheads="1"/>
          </p:cNvSpPr>
          <p:nvPr>
            <p:ph type="title"/>
          </p:nvPr>
        </p:nvSpPr>
        <p:spPr>
          <a:xfrm>
            <a:off x="1274763" y="533400"/>
            <a:ext cx="7793037" cy="609600"/>
          </a:xfrm>
        </p:spPr>
        <p:txBody>
          <a:bodyPr/>
          <a:lstStyle/>
          <a:p>
            <a:pPr eaLnBrk="1" hangingPunct="1"/>
            <a:r>
              <a:rPr lang="zh-CN" altLang="en-US" smtClean="0"/>
              <a:t>复合逻辑</a:t>
            </a:r>
          </a:p>
        </p:txBody>
      </p:sp>
      <p:graphicFrame>
        <p:nvGraphicFramePr>
          <p:cNvPr id="34822" name="Object 4"/>
          <p:cNvGraphicFramePr>
            <a:graphicFrameLocks noChangeAspect="1"/>
          </p:cNvGraphicFramePr>
          <p:nvPr/>
        </p:nvGraphicFramePr>
        <p:xfrm>
          <a:off x="1752600" y="2514600"/>
          <a:ext cx="1235075" cy="400050"/>
        </p:xfrm>
        <a:graphic>
          <a:graphicData uri="http://schemas.openxmlformats.org/presentationml/2006/ole">
            <mc:AlternateContent xmlns:mc="http://schemas.openxmlformats.org/markup-compatibility/2006">
              <mc:Choice xmlns:v="urn:schemas-microsoft-com:vml" Requires="v">
                <p:oleObj spid="_x0000_s34876" name="公式" r:id="rId3" imgW="545626" imgH="177646" progId="Equation.3">
                  <p:embed/>
                </p:oleObj>
              </mc:Choice>
              <mc:Fallback>
                <p:oleObj name="公式" r:id="rId3" imgW="545626" imgH="177646"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2600" y="2514600"/>
                        <a:ext cx="1235075" cy="400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4823" name="Line 9"/>
          <p:cNvSpPr>
            <a:spLocks noChangeShapeType="1"/>
          </p:cNvSpPr>
          <p:nvPr/>
        </p:nvSpPr>
        <p:spPr bwMode="auto">
          <a:xfrm>
            <a:off x="3009900" y="2540000"/>
            <a:ext cx="838200" cy="0"/>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34824" name="Object 10"/>
          <p:cNvGraphicFramePr>
            <a:graphicFrameLocks noChangeAspect="1"/>
          </p:cNvGraphicFramePr>
          <p:nvPr/>
        </p:nvGraphicFramePr>
        <p:xfrm>
          <a:off x="5257800" y="2438400"/>
          <a:ext cx="1235075" cy="485775"/>
        </p:xfrm>
        <a:graphic>
          <a:graphicData uri="http://schemas.openxmlformats.org/presentationml/2006/ole">
            <mc:AlternateContent xmlns:mc="http://schemas.openxmlformats.org/markup-compatibility/2006">
              <mc:Choice xmlns:v="urn:schemas-microsoft-com:vml" Requires="v">
                <p:oleObj spid="_x0000_s34877" name="公式" r:id="rId5" imgW="545626" imgH="215713" progId="Equation.3">
                  <p:embed/>
                </p:oleObj>
              </mc:Choice>
              <mc:Fallback>
                <p:oleObj name="公式" r:id="rId5" imgW="545626" imgH="215713" progId="Equation.3">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57800" y="2438400"/>
                        <a:ext cx="1235075" cy="485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825" name="Object 11"/>
          <p:cNvGraphicFramePr>
            <a:graphicFrameLocks noChangeAspect="1"/>
          </p:cNvGraphicFramePr>
          <p:nvPr/>
        </p:nvGraphicFramePr>
        <p:xfrm>
          <a:off x="2282825" y="3981450"/>
          <a:ext cx="2212975" cy="361950"/>
        </p:xfrm>
        <a:graphic>
          <a:graphicData uri="http://schemas.openxmlformats.org/presentationml/2006/ole">
            <mc:AlternateContent xmlns:mc="http://schemas.openxmlformats.org/markup-compatibility/2006">
              <mc:Choice xmlns:v="urn:schemas-microsoft-com:vml" Requires="v">
                <p:oleObj spid="_x0000_s34878" name="公式" r:id="rId7" imgW="1079032" imgH="177723" progId="Equation.3">
                  <p:embed/>
                </p:oleObj>
              </mc:Choice>
              <mc:Fallback>
                <p:oleObj name="公式" r:id="rId7" imgW="1079032" imgH="177723" progId="Equation.3">
                  <p:embed/>
                  <p:pic>
                    <p:nvPicPr>
                      <p:cNvPr id="0"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82825" y="3981450"/>
                        <a:ext cx="2212975" cy="361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4826" name="Line 12"/>
          <p:cNvSpPr>
            <a:spLocks noChangeShapeType="1"/>
          </p:cNvSpPr>
          <p:nvPr/>
        </p:nvSpPr>
        <p:spPr bwMode="auto">
          <a:xfrm>
            <a:off x="4521200" y="3962400"/>
            <a:ext cx="1752600" cy="0"/>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34827" name="Object 13"/>
          <p:cNvGraphicFramePr>
            <a:graphicFrameLocks noChangeAspect="1"/>
          </p:cNvGraphicFramePr>
          <p:nvPr/>
        </p:nvGraphicFramePr>
        <p:xfrm>
          <a:off x="2295525" y="4851400"/>
          <a:ext cx="1666875" cy="361950"/>
        </p:xfrm>
        <a:graphic>
          <a:graphicData uri="http://schemas.openxmlformats.org/presentationml/2006/ole">
            <mc:AlternateContent xmlns:mc="http://schemas.openxmlformats.org/markup-compatibility/2006">
              <mc:Choice xmlns:v="urn:schemas-microsoft-com:vml" Requires="v">
                <p:oleObj spid="_x0000_s34879" name="公式" r:id="rId9" imgW="812447" imgH="177723" progId="Equation.3">
                  <p:embed/>
                </p:oleObj>
              </mc:Choice>
              <mc:Fallback>
                <p:oleObj name="公式" r:id="rId9" imgW="812447" imgH="177723" progId="Equation.3">
                  <p:embed/>
                  <p:pic>
                    <p:nvPicPr>
                      <p:cNvPr id="0" name="Object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95525" y="4851400"/>
                        <a:ext cx="1666875" cy="361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random/>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F1E13413-8CD6-402F-B0F1-C8E8D8F868E2}" type="datetime1">
              <a:rPr lang="zh-CN" altLang="en-US"/>
              <a:pPr>
                <a:defRPr/>
              </a:pPr>
              <a:t>2021/9/21</a:t>
            </a:fld>
            <a:endParaRPr lang="en-US" altLang="zh-CN"/>
          </a:p>
        </p:txBody>
      </p:sp>
      <p:sp>
        <p:nvSpPr>
          <p:cNvPr id="5" name="灯片编号占位符 5"/>
          <p:cNvSpPr>
            <a:spLocks noGrp="1"/>
          </p:cNvSpPr>
          <p:nvPr>
            <p:ph type="sldNum" sz="quarter" idx="12"/>
          </p:nvPr>
        </p:nvSpPr>
        <p:spPr/>
        <p:txBody>
          <a:bodyPr/>
          <a:lstStyle/>
          <a:p>
            <a:pPr>
              <a:defRPr/>
            </a:pPr>
            <a:fld id="{3491CAC3-FA4F-45B3-A1D0-CA7C6D26D8B3}" type="slidenum">
              <a:rPr lang="en-US" altLang="zh-CN"/>
              <a:pPr>
                <a:defRPr/>
              </a:pPr>
              <a:t>33</a:t>
            </a:fld>
            <a:endParaRPr lang="en-US" altLang="zh-CN"/>
          </a:p>
        </p:txBody>
      </p:sp>
      <p:sp>
        <p:nvSpPr>
          <p:cNvPr id="35844" name="Rectangle 2"/>
          <p:cNvSpPr>
            <a:spLocks noGrp="1" noChangeArrowheads="1"/>
          </p:cNvSpPr>
          <p:nvPr>
            <p:ph type="body" idx="1"/>
          </p:nvPr>
        </p:nvSpPr>
        <p:spPr/>
        <p:txBody>
          <a:bodyPr/>
          <a:lstStyle/>
          <a:p>
            <a:pPr eaLnBrk="1" hangingPunct="1"/>
            <a:r>
              <a:rPr lang="zh-CN" altLang="en-US" smtClean="0"/>
              <a:t>逻辑函数的表示法</a:t>
            </a:r>
          </a:p>
          <a:p>
            <a:pPr eaLnBrk="1" hangingPunct="1"/>
            <a:r>
              <a:rPr lang="zh-CN" altLang="en-US" smtClean="0"/>
              <a:t>逻辑函数表达式的基本形式</a:t>
            </a:r>
          </a:p>
          <a:p>
            <a:pPr eaLnBrk="1" hangingPunct="1"/>
            <a:r>
              <a:rPr lang="zh-CN" altLang="en-US" smtClean="0"/>
              <a:t>逻辑函数表达式的标准形式</a:t>
            </a:r>
          </a:p>
          <a:p>
            <a:pPr eaLnBrk="1" hangingPunct="1"/>
            <a:r>
              <a:rPr lang="zh-CN" altLang="en-US" smtClean="0"/>
              <a:t>逻辑函数表达式的转换</a:t>
            </a:r>
          </a:p>
        </p:txBody>
      </p:sp>
      <p:sp>
        <p:nvSpPr>
          <p:cNvPr id="35845" name="Rectangle 3"/>
          <p:cNvSpPr>
            <a:spLocks noGrp="1" noChangeArrowheads="1"/>
          </p:cNvSpPr>
          <p:nvPr>
            <p:ph type="title"/>
          </p:nvPr>
        </p:nvSpPr>
        <p:spPr>
          <a:xfrm>
            <a:off x="1274763" y="533400"/>
            <a:ext cx="7793037" cy="609600"/>
          </a:xfrm>
        </p:spPr>
        <p:txBody>
          <a:bodyPr/>
          <a:lstStyle/>
          <a:p>
            <a:pPr eaLnBrk="1" hangingPunct="1"/>
            <a:r>
              <a:rPr lang="en-US" altLang="zh-CN" sz="4000" smtClean="0"/>
              <a:t>2.3 </a:t>
            </a:r>
            <a:r>
              <a:rPr lang="zh-CN" altLang="en-US" sz="4000" smtClean="0"/>
              <a:t>逻辑函数表达式的形式与转换</a:t>
            </a:r>
          </a:p>
        </p:txBody>
      </p:sp>
    </p:spTree>
  </p:cSld>
  <p:clrMapOvr>
    <a:masterClrMapping/>
  </p:clrMapOvr>
  <p:transition>
    <p:random/>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0B5DD90F-1B3C-4A3E-8C7A-23F8C2E24292}" type="datetime1">
              <a:rPr lang="zh-CN" altLang="en-US"/>
              <a:pPr>
                <a:defRPr/>
              </a:pPr>
              <a:t>2021/9/21</a:t>
            </a:fld>
            <a:endParaRPr lang="en-US" altLang="zh-CN"/>
          </a:p>
        </p:txBody>
      </p:sp>
      <p:sp>
        <p:nvSpPr>
          <p:cNvPr id="5" name="灯片编号占位符 5"/>
          <p:cNvSpPr>
            <a:spLocks noGrp="1"/>
          </p:cNvSpPr>
          <p:nvPr>
            <p:ph type="sldNum" sz="quarter" idx="12"/>
          </p:nvPr>
        </p:nvSpPr>
        <p:spPr/>
        <p:txBody>
          <a:bodyPr/>
          <a:lstStyle/>
          <a:p>
            <a:pPr>
              <a:defRPr/>
            </a:pPr>
            <a:fld id="{34F73EB2-E0F3-4507-961E-783FCD764623}" type="slidenum">
              <a:rPr lang="en-US" altLang="zh-CN"/>
              <a:pPr>
                <a:defRPr/>
              </a:pPr>
              <a:t>34</a:t>
            </a:fld>
            <a:endParaRPr lang="en-US" altLang="zh-CN"/>
          </a:p>
        </p:txBody>
      </p:sp>
      <p:sp>
        <p:nvSpPr>
          <p:cNvPr id="36868" name="Rectangle 2"/>
          <p:cNvSpPr>
            <a:spLocks noGrp="1" noChangeArrowheads="1"/>
          </p:cNvSpPr>
          <p:nvPr>
            <p:ph type="body" idx="1"/>
          </p:nvPr>
        </p:nvSpPr>
        <p:spPr/>
        <p:txBody>
          <a:bodyPr/>
          <a:lstStyle/>
          <a:p>
            <a:pPr eaLnBrk="1" hangingPunct="1"/>
            <a:r>
              <a:rPr lang="zh-CN" altLang="en-US" smtClean="0"/>
              <a:t>逻辑表达式</a:t>
            </a:r>
          </a:p>
          <a:p>
            <a:pPr eaLnBrk="1" hangingPunct="1"/>
            <a:r>
              <a:rPr lang="zh-CN" altLang="en-US" smtClean="0"/>
              <a:t>真值表</a:t>
            </a:r>
          </a:p>
          <a:p>
            <a:pPr eaLnBrk="1" hangingPunct="1"/>
            <a:r>
              <a:rPr lang="zh-CN" altLang="en-US" smtClean="0"/>
              <a:t>卡诺图</a:t>
            </a:r>
          </a:p>
        </p:txBody>
      </p:sp>
      <p:sp>
        <p:nvSpPr>
          <p:cNvPr id="36869" name="Rectangle 3"/>
          <p:cNvSpPr>
            <a:spLocks noGrp="1" noChangeArrowheads="1"/>
          </p:cNvSpPr>
          <p:nvPr>
            <p:ph type="title"/>
          </p:nvPr>
        </p:nvSpPr>
        <p:spPr>
          <a:xfrm>
            <a:off x="1274763" y="533400"/>
            <a:ext cx="7793037" cy="609600"/>
          </a:xfrm>
        </p:spPr>
        <p:txBody>
          <a:bodyPr/>
          <a:lstStyle/>
          <a:p>
            <a:pPr eaLnBrk="1" hangingPunct="1"/>
            <a:r>
              <a:rPr lang="zh-CN" altLang="en-US" smtClean="0"/>
              <a:t>逻辑函数的表示法</a:t>
            </a:r>
          </a:p>
        </p:txBody>
      </p:sp>
    </p:spTree>
  </p:cSld>
  <p:clrMapOvr>
    <a:masterClrMapping/>
  </p:clrMapOvr>
  <p:transition>
    <p:random/>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p:txBody>
          <a:bodyPr/>
          <a:lstStyle/>
          <a:p>
            <a:pPr>
              <a:defRPr/>
            </a:pPr>
            <a:fld id="{CEDACBBB-BA97-47DE-A3B1-B71480309009}" type="datetime1">
              <a:rPr lang="zh-CN" altLang="en-US"/>
              <a:pPr>
                <a:defRPr/>
              </a:pPr>
              <a:t>2021/9/21</a:t>
            </a:fld>
            <a:endParaRPr lang="en-US" altLang="zh-CN"/>
          </a:p>
        </p:txBody>
      </p:sp>
      <p:sp>
        <p:nvSpPr>
          <p:cNvPr id="6" name="灯片编号占位符 5"/>
          <p:cNvSpPr>
            <a:spLocks noGrp="1"/>
          </p:cNvSpPr>
          <p:nvPr>
            <p:ph type="sldNum" sz="quarter" idx="12"/>
          </p:nvPr>
        </p:nvSpPr>
        <p:spPr/>
        <p:txBody>
          <a:bodyPr/>
          <a:lstStyle/>
          <a:p>
            <a:pPr>
              <a:defRPr/>
            </a:pPr>
            <a:fld id="{0EA60BF8-5068-40DB-B945-4904FFF4D165}" type="slidenum">
              <a:rPr lang="en-US" altLang="zh-CN"/>
              <a:pPr>
                <a:defRPr/>
              </a:pPr>
              <a:t>35</a:t>
            </a:fld>
            <a:endParaRPr lang="en-US" altLang="zh-CN"/>
          </a:p>
        </p:txBody>
      </p:sp>
      <p:sp>
        <p:nvSpPr>
          <p:cNvPr id="37892" name="Rectangle 2"/>
          <p:cNvSpPr>
            <a:spLocks noGrp="1" noChangeArrowheads="1"/>
          </p:cNvSpPr>
          <p:nvPr>
            <p:ph type="body" idx="1"/>
          </p:nvPr>
        </p:nvSpPr>
        <p:spPr/>
        <p:txBody>
          <a:bodyPr/>
          <a:lstStyle/>
          <a:p>
            <a:pPr eaLnBrk="1" hangingPunct="1"/>
            <a:r>
              <a:rPr lang="zh-CN" altLang="en-US" smtClean="0"/>
              <a:t>逻辑表达式是由逻辑变量、常量和运算符所构成的式子</a:t>
            </a:r>
          </a:p>
          <a:p>
            <a:pPr eaLnBrk="1" hangingPunct="1"/>
            <a:r>
              <a:rPr lang="zh-CN" altLang="en-US" smtClean="0"/>
              <a:t>书写时可简化</a:t>
            </a:r>
          </a:p>
          <a:p>
            <a:pPr lvl="1" eaLnBrk="1" hangingPunct="1"/>
            <a:r>
              <a:rPr lang="zh-CN" altLang="en-US" smtClean="0"/>
              <a:t>“非”运算可不加括号</a:t>
            </a:r>
          </a:p>
          <a:p>
            <a:pPr lvl="1" eaLnBrk="1" hangingPunct="1"/>
            <a:r>
              <a:rPr lang="zh-CN" altLang="en-US" smtClean="0"/>
              <a:t>“与”运算符常可省略</a:t>
            </a:r>
          </a:p>
          <a:p>
            <a:pPr lvl="1" eaLnBrk="1" hangingPunct="1"/>
            <a:r>
              <a:rPr lang="zh-CN" altLang="en-US" smtClean="0"/>
              <a:t>如果有括号，则可按先“非”后“与”再“或”的规则省去括号，如：</a:t>
            </a:r>
          </a:p>
        </p:txBody>
      </p:sp>
      <p:sp>
        <p:nvSpPr>
          <p:cNvPr id="37893" name="Rectangle 3"/>
          <p:cNvSpPr>
            <a:spLocks noGrp="1" noChangeArrowheads="1"/>
          </p:cNvSpPr>
          <p:nvPr>
            <p:ph type="title"/>
          </p:nvPr>
        </p:nvSpPr>
        <p:spPr>
          <a:xfrm>
            <a:off x="1274763" y="533400"/>
            <a:ext cx="7793037" cy="609600"/>
          </a:xfrm>
        </p:spPr>
        <p:txBody>
          <a:bodyPr/>
          <a:lstStyle/>
          <a:p>
            <a:pPr eaLnBrk="1" hangingPunct="1"/>
            <a:r>
              <a:rPr lang="zh-CN" altLang="en-US" smtClean="0"/>
              <a:t>逻辑表达式</a:t>
            </a:r>
          </a:p>
        </p:txBody>
      </p:sp>
      <p:graphicFrame>
        <p:nvGraphicFramePr>
          <p:cNvPr id="37894" name="Object 4"/>
          <p:cNvGraphicFramePr>
            <a:graphicFrameLocks noChangeAspect="1"/>
          </p:cNvGraphicFramePr>
          <p:nvPr/>
        </p:nvGraphicFramePr>
        <p:xfrm>
          <a:off x="3505200" y="5143500"/>
          <a:ext cx="3505200" cy="433388"/>
        </p:xfrm>
        <a:graphic>
          <a:graphicData uri="http://schemas.openxmlformats.org/presentationml/2006/ole">
            <mc:AlternateContent xmlns:mc="http://schemas.openxmlformats.org/markup-compatibility/2006">
              <mc:Choice xmlns:v="urn:schemas-microsoft-com:vml" Requires="v">
                <p:oleObj spid="_x0000_s37907" name="公式" r:id="rId3" imgW="1955800" imgH="241300" progId="Equation.3">
                  <p:embed/>
                </p:oleObj>
              </mc:Choice>
              <mc:Fallback>
                <p:oleObj name="公式" r:id="rId3" imgW="1955800" imgH="2413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05200" y="5143500"/>
                        <a:ext cx="3505200" cy="433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random/>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74FDDF8C-AF75-4DA8-82F7-0067176EDB55}" type="datetime1">
              <a:rPr lang="zh-CN" altLang="en-US"/>
              <a:pPr>
                <a:defRPr/>
              </a:pPr>
              <a:t>2021/9/21</a:t>
            </a:fld>
            <a:endParaRPr lang="en-US" altLang="zh-CN"/>
          </a:p>
        </p:txBody>
      </p:sp>
      <p:sp>
        <p:nvSpPr>
          <p:cNvPr id="5" name="灯片编号占位符 5"/>
          <p:cNvSpPr>
            <a:spLocks noGrp="1"/>
          </p:cNvSpPr>
          <p:nvPr>
            <p:ph type="sldNum" sz="quarter" idx="12"/>
          </p:nvPr>
        </p:nvSpPr>
        <p:spPr/>
        <p:txBody>
          <a:bodyPr/>
          <a:lstStyle/>
          <a:p>
            <a:pPr>
              <a:defRPr/>
            </a:pPr>
            <a:fld id="{F1BFDC85-EA39-41A6-9132-34FE53183663}" type="slidenum">
              <a:rPr lang="en-US" altLang="zh-CN"/>
              <a:pPr>
                <a:defRPr/>
              </a:pPr>
              <a:t>36</a:t>
            </a:fld>
            <a:endParaRPr lang="en-US" altLang="zh-CN"/>
          </a:p>
        </p:txBody>
      </p:sp>
      <p:sp>
        <p:nvSpPr>
          <p:cNvPr id="27652" name="Rectangle 2"/>
          <p:cNvSpPr>
            <a:spLocks noGrp="1" noChangeArrowheads="1"/>
          </p:cNvSpPr>
          <p:nvPr>
            <p:ph type="body" idx="1"/>
          </p:nvPr>
        </p:nvSpPr>
        <p:spPr>
          <a:xfrm>
            <a:off x="71438" y="1071563"/>
            <a:ext cx="8382000" cy="4876800"/>
          </a:xfrm>
          <a:solidFill>
            <a:schemeClr val="bg1"/>
          </a:solidFill>
        </p:spPr>
        <p:txBody>
          <a:bodyPr/>
          <a:lstStyle/>
          <a:p>
            <a:pPr eaLnBrk="1" hangingPunct="1">
              <a:defRPr/>
            </a:pPr>
            <a:r>
              <a:rPr lang="zh-CN" altLang="en-US" sz="2400" dirty="0" smtClean="0"/>
              <a:t>对一函数求出所有输入变量取值下的函数值，并用表格形式记录下来，这种表格称为真值表，亦称全值表。</a:t>
            </a:r>
          </a:p>
          <a:p>
            <a:pPr eaLnBrk="1" hangingPunct="1">
              <a:defRPr/>
            </a:pPr>
            <a:r>
              <a:rPr lang="zh-CN" altLang="en-US" sz="2400" dirty="0" smtClean="0"/>
              <a:t>真值表由两部分组成</a:t>
            </a:r>
          </a:p>
          <a:p>
            <a:pPr lvl="1" eaLnBrk="1" hangingPunct="1">
              <a:defRPr/>
            </a:pPr>
            <a:r>
              <a:rPr lang="zh-CN" altLang="en-US" sz="2000" dirty="0" smtClean="0">
                <a:latin typeface="+mn-ea"/>
              </a:rPr>
              <a:t>左边一栏列出变量的所有取值组合，</a:t>
            </a:r>
            <a:r>
              <a:rPr lang="en-US" altLang="zh-CN" sz="2000" dirty="0" smtClean="0">
                <a:latin typeface="+mn-ea"/>
              </a:rPr>
              <a:t>n</a:t>
            </a:r>
            <a:r>
              <a:rPr lang="zh-CN" altLang="en-US" sz="2000" dirty="0" smtClean="0">
                <a:latin typeface="+mn-ea"/>
              </a:rPr>
              <a:t>个逻辑变量则有</a:t>
            </a:r>
            <a:r>
              <a:rPr lang="en-US" altLang="zh-CN" sz="2000" dirty="0" smtClean="0">
                <a:latin typeface="+mn-ea"/>
              </a:rPr>
              <a:t>2</a:t>
            </a:r>
            <a:r>
              <a:rPr lang="en-US" altLang="zh-CN" sz="2000" baseline="30000" dirty="0" smtClean="0">
                <a:latin typeface="+mn-ea"/>
              </a:rPr>
              <a:t>n</a:t>
            </a:r>
            <a:r>
              <a:rPr lang="zh-CN" altLang="en-US" sz="2000" dirty="0" smtClean="0">
                <a:latin typeface="+mn-ea"/>
              </a:rPr>
              <a:t>种可能的取值组合</a:t>
            </a:r>
          </a:p>
          <a:p>
            <a:pPr lvl="1" eaLnBrk="1" hangingPunct="1">
              <a:defRPr/>
            </a:pPr>
            <a:r>
              <a:rPr lang="zh-CN" altLang="en-US" sz="2000" dirty="0" smtClean="0">
                <a:latin typeface="+mn-ea"/>
              </a:rPr>
              <a:t>右边一栏为相应变量取值组合下的逻辑函数值</a:t>
            </a:r>
          </a:p>
        </p:txBody>
      </p:sp>
      <p:sp>
        <p:nvSpPr>
          <p:cNvPr id="38917" name="Rectangle 3"/>
          <p:cNvSpPr>
            <a:spLocks noGrp="1" noChangeArrowheads="1"/>
          </p:cNvSpPr>
          <p:nvPr>
            <p:ph type="title"/>
          </p:nvPr>
        </p:nvSpPr>
        <p:spPr>
          <a:xfrm>
            <a:off x="1274763" y="533400"/>
            <a:ext cx="7793037" cy="609600"/>
          </a:xfrm>
        </p:spPr>
        <p:txBody>
          <a:bodyPr/>
          <a:lstStyle/>
          <a:p>
            <a:pPr eaLnBrk="1" hangingPunct="1"/>
            <a:r>
              <a:rPr lang="zh-CN" altLang="en-US" smtClean="0"/>
              <a:t>真值表</a:t>
            </a:r>
          </a:p>
        </p:txBody>
      </p:sp>
      <p:pic>
        <p:nvPicPr>
          <p:cNvPr id="38918"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15063" y="2714625"/>
            <a:ext cx="2786062" cy="410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9E76CF88-810A-4D52-BFF0-4A91170D9E1D}" type="datetime1">
              <a:rPr lang="zh-CN" altLang="en-US"/>
              <a:pPr>
                <a:defRPr/>
              </a:pPr>
              <a:t>2021/9/21</a:t>
            </a:fld>
            <a:endParaRPr lang="en-US" altLang="zh-CN"/>
          </a:p>
        </p:txBody>
      </p:sp>
      <p:sp>
        <p:nvSpPr>
          <p:cNvPr id="5" name="灯片编号占位符 5"/>
          <p:cNvSpPr>
            <a:spLocks noGrp="1"/>
          </p:cNvSpPr>
          <p:nvPr>
            <p:ph type="sldNum" sz="quarter" idx="12"/>
          </p:nvPr>
        </p:nvSpPr>
        <p:spPr/>
        <p:txBody>
          <a:bodyPr/>
          <a:lstStyle/>
          <a:p>
            <a:pPr>
              <a:defRPr/>
            </a:pPr>
            <a:fld id="{E8BC2C33-C907-41C9-B7C1-50BA87556C76}" type="slidenum">
              <a:rPr lang="en-US" altLang="zh-CN"/>
              <a:pPr>
                <a:defRPr/>
              </a:pPr>
              <a:t>37</a:t>
            </a:fld>
            <a:endParaRPr lang="en-US" altLang="zh-CN"/>
          </a:p>
        </p:txBody>
      </p:sp>
      <p:sp>
        <p:nvSpPr>
          <p:cNvPr id="39940" name="Rectangle 2"/>
          <p:cNvSpPr>
            <a:spLocks noGrp="1" noChangeArrowheads="1"/>
          </p:cNvSpPr>
          <p:nvPr>
            <p:ph type="body" idx="1"/>
          </p:nvPr>
        </p:nvSpPr>
        <p:spPr/>
        <p:txBody>
          <a:bodyPr/>
          <a:lstStyle/>
          <a:p>
            <a:pPr eaLnBrk="1" hangingPunct="1"/>
            <a:r>
              <a:rPr lang="zh-CN" altLang="en-US" smtClean="0"/>
              <a:t>是由表示逻辑变量的所有可能组合的小方格所构成的一幅或多幅方格子平面图。将在第四节中详述。</a:t>
            </a:r>
          </a:p>
        </p:txBody>
      </p:sp>
      <p:sp>
        <p:nvSpPr>
          <p:cNvPr id="39941" name="Rectangle 3"/>
          <p:cNvSpPr>
            <a:spLocks noGrp="1" noChangeArrowheads="1"/>
          </p:cNvSpPr>
          <p:nvPr>
            <p:ph type="title"/>
          </p:nvPr>
        </p:nvSpPr>
        <p:spPr>
          <a:xfrm>
            <a:off x="1274763" y="533400"/>
            <a:ext cx="7793037" cy="609600"/>
          </a:xfrm>
        </p:spPr>
        <p:txBody>
          <a:bodyPr/>
          <a:lstStyle/>
          <a:p>
            <a:pPr eaLnBrk="1" hangingPunct="1"/>
            <a:r>
              <a:rPr lang="zh-CN" altLang="en-US" smtClean="0"/>
              <a:t>卡诺图</a:t>
            </a:r>
          </a:p>
        </p:txBody>
      </p:sp>
      <p:graphicFrame>
        <p:nvGraphicFramePr>
          <p:cNvPr id="6" name="Group 179"/>
          <p:cNvGraphicFramePr>
            <a:graphicFrameLocks noGrp="1"/>
          </p:cNvGraphicFramePr>
          <p:nvPr/>
        </p:nvGraphicFramePr>
        <p:xfrm>
          <a:off x="2728913" y="3071813"/>
          <a:ext cx="3200400" cy="3003551"/>
        </p:xfrm>
        <a:graphic>
          <a:graphicData uri="http://schemas.openxmlformats.org/drawingml/2006/table">
            <a:tbl>
              <a:tblPr/>
              <a:tblGrid>
                <a:gridCol w="762000"/>
                <a:gridCol w="609600"/>
                <a:gridCol w="609600"/>
                <a:gridCol w="609600"/>
                <a:gridCol w="609600"/>
              </a:tblGrid>
              <a:tr h="815975">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dirty="0" smtClean="0">
                          <a:ln>
                            <a:noFill/>
                          </a:ln>
                          <a:solidFill>
                            <a:schemeClr val="tx1"/>
                          </a:solidFill>
                          <a:effectLst/>
                          <a:latin typeface="Tahoma" pitchFamily="34" charset="0"/>
                          <a:ea typeface="宋体" pitchFamily="2" charset="-122"/>
                        </a:rPr>
                        <a:t>AB</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dirty="0" smtClean="0">
                          <a:ln>
                            <a:noFill/>
                          </a:ln>
                          <a:solidFill>
                            <a:schemeClr val="tx1"/>
                          </a:solidFill>
                          <a:effectLst/>
                          <a:latin typeface="Tahoma" pitchFamily="34" charset="0"/>
                          <a:ea typeface="宋体" pitchFamily="2" charset="-122"/>
                        </a:rPr>
                        <a:t>CD</a:t>
                      </a:r>
                    </a:p>
                  </a:txBody>
                  <a:tcPr anchor="ctr" horzOverflow="overflow">
                    <a:lnL cap="flat">
                      <a:noFill/>
                    </a:lnL>
                    <a:lnR>
                      <a:noFill/>
                    </a:lnR>
                    <a:lnT cap="flat">
                      <a:noFill/>
                    </a:lnT>
                    <a:lnB>
                      <a:noFill/>
                    </a:lnB>
                    <a:lnTlToBr w="28575" cap="flat" cmpd="sng" algn="ctr">
                      <a:solidFill>
                        <a:schemeClr val="tx1"/>
                      </a:solidFill>
                      <a:prstDash val="solid"/>
                      <a:miter lim="800000"/>
                      <a:headEnd type="none" w="med" len="med"/>
                      <a:tailEnd type="none" w="med" len="med"/>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00</a:t>
                      </a:r>
                    </a:p>
                  </a:txBody>
                  <a:tcPr anchor="b" horzOverflow="overflow">
                    <a:lnL>
                      <a:noFill/>
                    </a:lnL>
                    <a:lnR>
                      <a:noFill/>
                    </a:lnR>
                    <a:lnT cap="flat">
                      <a:noFill/>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01</a:t>
                      </a:r>
                    </a:p>
                  </a:txBody>
                  <a:tcPr anchor="b" horzOverflow="overflow">
                    <a:lnL>
                      <a:noFill/>
                    </a:lnL>
                    <a:lnR>
                      <a:noFill/>
                    </a:lnR>
                    <a:lnT cap="flat">
                      <a:noFill/>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11</a:t>
                      </a:r>
                    </a:p>
                  </a:txBody>
                  <a:tcPr anchor="b" horzOverflow="overflow">
                    <a:lnL>
                      <a:noFill/>
                    </a:lnL>
                    <a:lnR>
                      <a:noFill/>
                    </a:lnR>
                    <a:lnT cap="flat">
                      <a:noFill/>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10</a:t>
                      </a:r>
                    </a:p>
                  </a:txBody>
                  <a:tcPr anchor="b" horzOverflow="overflow">
                    <a:lnL>
                      <a:noFill/>
                    </a:lnL>
                    <a:lnR cap="flat">
                      <a:noFill/>
                    </a:lnR>
                    <a:lnT cap="flat">
                      <a:noFill/>
                    </a:lnT>
                    <a:lnB w="28575" cap="flat" cmpd="sng" algn="ctr">
                      <a:solidFill>
                        <a:schemeClr val="tx1"/>
                      </a:solidFill>
                      <a:prstDash val="solid"/>
                      <a:miter lim="800000"/>
                      <a:headEnd type="none" w="med" len="med"/>
                      <a:tailEnd type="none" w="med" len="med"/>
                    </a:lnB>
                    <a:lnTlToBr>
                      <a:noFill/>
                    </a:lnTlToBr>
                    <a:lnBlToTr>
                      <a:noFill/>
                    </a:lnBlToTr>
                    <a:noFill/>
                  </a:tcPr>
                </a:tc>
              </a:tr>
              <a:tr h="547688">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00</a:t>
                      </a:r>
                    </a:p>
                  </a:txBody>
                  <a:tcPr anchor="ctr" horzOverflow="overflow">
                    <a:lnL cap="flat">
                      <a:noFill/>
                    </a:lnL>
                    <a:lnR w="28575" cap="flat" cmpd="sng" algn="ctr">
                      <a:solidFill>
                        <a:schemeClr val="tx1"/>
                      </a:solidFill>
                      <a:prstDash val="solid"/>
                      <a:miter lim="800000"/>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m</a:t>
                      </a:r>
                      <a:r>
                        <a:rPr kumimoji="0" lang="en-US" altLang="zh-CN" sz="2000" b="0" i="0" u="none" strike="noStrike" cap="none" normalizeH="0" baseline="-25000" smtClean="0">
                          <a:ln>
                            <a:noFill/>
                          </a:ln>
                          <a:solidFill>
                            <a:schemeClr val="tx1"/>
                          </a:solidFill>
                          <a:effectLst/>
                          <a:latin typeface="Tahoma" pitchFamily="34" charset="0"/>
                          <a:ea typeface="宋体" pitchFamily="2" charset="-122"/>
                        </a:rPr>
                        <a:t>0</a:t>
                      </a:r>
                    </a:p>
                  </a:txBody>
                  <a:tcPr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m</a:t>
                      </a:r>
                      <a:r>
                        <a:rPr kumimoji="0" lang="en-US" altLang="zh-CN" sz="2000" b="0" i="0" u="none" strike="noStrike" cap="none" normalizeH="0" baseline="-25000" smtClean="0">
                          <a:ln>
                            <a:noFill/>
                          </a:ln>
                          <a:solidFill>
                            <a:schemeClr val="tx1"/>
                          </a:solidFill>
                          <a:effectLst/>
                          <a:latin typeface="Tahoma" pitchFamily="34" charset="0"/>
                          <a:ea typeface="宋体" pitchFamily="2" charset="-122"/>
                        </a:rPr>
                        <a:t>4</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m</a:t>
                      </a:r>
                      <a:r>
                        <a:rPr kumimoji="0" lang="en-US" altLang="zh-CN" sz="2000" b="0" i="0" u="none" strike="noStrike" cap="none" normalizeH="0" baseline="-25000" smtClean="0">
                          <a:ln>
                            <a:noFill/>
                          </a:ln>
                          <a:solidFill>
                            <a:schemeClr val="tx1"/>
                          </a:solidFill>
                          <a:effectLst/>
                          <a:latin typeface="Tahoma" pitchFamily="34" charset="0"/>
                          <a:ea typeface="宋体" pitchFamily="2" charset="-122"/>
                        </a:rPr>
                        <a:t>12</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m</a:t>
                      </a:r>
                      <a:r>
                        <a:rPr kumimoji="0" lang="en-US" altLang="zh-CN" sz="2000" b="0" i="0" u="none" strike="noStrike" cap="none" normalizeH="0" baseline="-25000" smtClean="0">
                          <a:ln>
                            <a:noFill/>
                          </a:ln>
                          <a:solidFill>
                            <a:schemeClr val="tx1"/>
                          </a:solidFill>
                          <a:effectLst/>
                          <a:latin typeface="Tahoma" pitchFamily="34" charset="0"/>
                          <a:ea typeface="宋体" pitchFamily="2" charset="-122"/>
                        </a:rPr>
                        <a:t>8</a:t>
                      </a:r>
                    </a:p>
                  </a:txBody>
                  <a:tcPr anchor="ct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546100">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01</a:t>
                      </a:r>
                    </a:p>
                  </a:txBody>
                  <a:tcPr anchor="ctr" horzOverflow="overflow">
                    <a:lnL cap="flat">
                      <a:noFill/>
                    </a:lnL>
                    <a:lnR w="28575" cap="flat" cmpd="sng" algn="ctr">
                      <a:solidFill>
                        <a:schemeClr val="tx1"/>
                      </a:solidFill>
                      <a:prstDash val="solid"/>
                      <a:miter lim="800000"/>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m</a:t>
                      </a:r>
                      <a:r>
                        <a:rPr kumimoji="0" lang="en-US" altLang="zh-CN" sz="2000" b="0" i="0" u="none" strike="noStrike" cap="none" normalizeH="0" baseline="-25000" smtClean="0">
                          <a:ln>
                            <a:noFill/>
                          </a:ln>
                          <a:solidFill>
                            <a:schemeClr val="tx1"/>
                          </a:solidFill>
                          <a:effectLst/>
                          <a:latin typeface="Tahoma" pitchFamily="34" charset="0"/>
                          <a:ea typeface="宋体" pitchFamily="2" charset="-122"/>
                        </a:rPr>
                        <a:t>1</a:t>
                      </a:r>
                    </a:p>
                  </a:txBody>
                  <a:tcPr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m</a:t>
                      </a:r>
                      <a:r>
                        <a:rPr kumimoji="0" lang="en-US" altLang="zh-CN" sz="2000" b="0" i="0" u="none" strike="noStrike" cap="none" normalizeH="0" baseline="-25000" smtClean="0">
                          <a:ln>
                            <a:noFill/>
                          </a:ln>
                          <a:solidFill>
                            <a:schemeClr val="tx1"/>
                          </a:solidFill>
                          <a:effectLst/>
                          <a:latin typeface="Tahoma" pitchFamily="34" charset="0"/>
                          <a:ea typeface="宋体" pitchFamily="2" charset="-122"/>
                        </a:rPr>
                        <a:t>5</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m</a:t>
                      </a:r>
                      <a:r>
                        <a:rPr kumimoji="0" lang="en-US" altLang="zh-CN" sz="2000" b="0" i="0" u="none" strike="noStrike" cap="none" normalizeH="0" baseline="-25000" smtClean="0">
                          <a:ln>
                            <a:noFill/>
                          </a:ln>
                          <a:solidFill>
                            <a:schemeClr val="tx1"/>
                          </a:solidFill>
                          <a:effectLst/>
                          <a:latin typeface="Tahoma" pitchFamily="34" charset="0"/>
                          <a:ea typeface="宋体" pitchFamily="2" charset="-122"/>
                        </a:rPr>
                        <a:t>13</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dirty="0" smtClean="0">
                          <a:ln>
                            <a:noFill/>
                          </a:ln>
                          <a:solidFill>
                            <a:schemeClr val="tx1"/>
                          </a:solidFill>
                          <a:effectLst/>
                          <a:latin typeface="Tahoma" pitchFamily="34" charset="0"/>
                          <a:ea typeface="宋体" pitchFamily="2" charset="-122"/>
                        </a:rPr>
                        <a:t>m</a:t>
                      </a:r>
                      <a:r>
                        <a:rPr kumimoji="0" lang="en-US" altLang="zh-CN" sz="2000" b="0" i="0" u="none" strike="noStrike" cap="none" normalizeH="0" baseline="-25000" dirty="0" smtClean="0">
                          <a:ln>
                            <a:noFill/>
                          </a:ln>
                          <a:solidFill>
                            <a:schemeClr val="tx1"/>
                          </a:solidFill>
                          <a:effectLst/>
                          <a:latin typeface="Tahoma" pitchFamily="34" charset="0"/>
                          <a:ea typeface="宋体" pitchFamily="2" charset="-122"/>
                        </a:rPr>
                        <a:t>9</a:t>
                      </a:r>
                    </a:p>
                  </a:txBody>
                  <a:tcPr anchor="ct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547688">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11</a:t>
                      </a:r>
                    </a:p>
                  </a:txBody>
                  <a:tcPr anchor="ctr" horzOverflow="overflow">
                    <a:lnL cap="flat">
                      <a:noFill/>
                    </a:lnL>
                    <a:lnR w="28575" cap="flat" cmpd="sng" algn="ctr">
                      <a:solidFill>
                        <a:schemeClr val="tx1"/>
                      </a:solidFill>
                      <a:prstDash val="solid"/>
                      <a:miter lim="800000"/>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m</a:t>
                      </a:r>
                      <a:r>
                        <a:rPr kumimoji="0" lang="en-US" altLang="zh-CN" sz="2000" b="0" i="0" u="none" strike="noStrike" cap="none" normalizeH="0" baseline="-25000" smtClean="0">
                          <a:ln>
                            <a:noFill/>
                          </a:ln>
                          <a:solidFill>
                            <a:schemeClr val="tx1"/>
                          </a:solidFill>
                          <a:effectLst/>
                          <a:latin typeface="Tahoma" pitchFamily="34" charset="0"/>
                          <a:ea typeface="宋体" pitchFamily="2" charset="-122"/>
                        </a:rPr>
                        <a:t>3</a:t>
                      </a:r>
                    </a:p>
                  </a:txBody>
                  <a:tcPr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m</a:t>
                      </a:r>
                      <a:r>
                        <a:rPr kumimoji="0" lang="en-US" altLang="zh-CN" sz="2000" b="0" i="0" u="none" strike="noStrike" cap="none" normalizeH="0" baseline="-25000" smtClean="0">
                          <a:ln>
                            <a:noFill/>
                          </a:ln>
                          <a:solidFill>
                            <a:schemeClr val="tx1"/>
                          </a:solidFill>
                          <a:effectLst/>
                          <a:latin typeface="Tahoma" pitchFamily="34" charset="0"/>
                          <a:ea typeface="宋体" pitchFamily="2" charset="-122"/>
                        </a:rPr>
                        <a:t>7</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m</a:t>
                      </a:r>
                      <a:r>
                        <a:rPr kumimoji="0" lang="en-US" altLang="zh-CN" sz="2000" b="0" i="0" u="none" strike="noStrike" cap="none" normalizeH="0" baseline="-25000" smtClean="0">
                          <a:ln>
                            <a:noFill/>
                          </a:ln>
                          <a:solidFill>
                            <a:schemeClr val="tx1"/>
                          </a:solidFill>
                          <a:effectLst/>
                          <a:latin typeface="Tahoma" pitchFamily="34" charset="0"/>
                          <a:ea typeface="宋体" pitchFamily="2" charset="-122"/>
                        </a:rPr>
                        <a:t>15</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m</a:t>
                      </a:r>
                      <a:r>
                        <a:rPr kumimoji="0" lang="en-US" altLang="zh-CN" sz="2000" b="0" i="0" u="none" strike="noStrike" cap="none" normalizeH="0" baseline="-25000" smtClean="0">
                          <a:ln>
                            <a:noFill/>
                          </a:ln>
                          <a:solidFill>
                            <a:schemeClr val="tx1"/>
                          </a:solidFill>
                          <a:effectLst/>
                          <a:latin typeface="Tahoma" pitchFamily="34" charset="0"/>
                          <a:ea typeface="宋体" pitchFamily="2" charset="-122"/>
                        </a:rPr>
                        <a:t>11</a:t>
                      </a:r>
                    </a:p>
                  </a:txBody>
                  <a:tcPr anchor="ct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546100">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10</a:t>
                      </a:r>
                    </a:p>
                  </a:txBody>
                  <a:tcPr anchor="ctr" horzOverflow="overflow">
                    <a:lnL cap="flat">
                      <a:noFill/>
                    </a:lnL>
                    <a:lnR w="28575" cap="flat" cmpd="sng" algn="ctr">
                      <a:solidFill>
                        <a:schemeClr val="tx1"/>
                      </a:solidFill>
                      <a:prstDash val="solid"/>
                      <a:miter lim="800000"/>
                      <a:headEnd type="none" w="med" len="med"/>
                      <a:tailEnd type="none" w="med" len="med"/>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m</a:t>
                      </a:r>
                      <a:r>
                        <a:rPr kumimoji="0" lang="en-US" altLang="zh-CN" sz="2000" b="0" i="0" u="none" strike="noStrike" cap="none" normalizeH="0" baseline="-25000" smtClean="0">
                          <a:ln>
                            <a:noFill/>
                          </a:ln>
                          <a:solidFill>
                            <a:schemeClr val="tx1"/>
                          </a:solidFill>
                          <a:effectLst/>
                          <a:latin typeface="Tahoma" pitchFamily="34" charset="0"/>
                          <a:ea typeface="宋体" pitchFamily="2" charset="-122"/>
                        </a:rPr>
                        <a:t>2</a:t>
                      </a:r>
                    </a:p>
                  </a:txBody>
                  <a:tcPr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m</a:t>
                      </a:r>
                      <a:r>
                        <a:rPr kumimoji="0" lang="en-US" altLang="zh-CN" sz="2000" b="0" i="0" u="none" strike="noStrike" cap="none" normalizeH="0" baseline="-25000" smtClean="0">
                          <a:ln>
                            <a:noFill/>
                          </a:ln>
                          <a:solidFill>
                            <a:schemeClr val="tx1"/>
                          </a:solidFill>
                          <a:effectLst/>
                          <a:latin typeface="Tahoma" pitchFamily="34" charset="0"/>
                          <a:ea typeface="宋体" pitchFamily="2" charset="-122"/>
                        </a:rPr>
                        <a:t>6</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m</a:t>
                      </a:r>
                      <a:r>
                        <a:rPr kumimoji="0" lang="en-US" altLang="zh-CN" sz="2000" b="0" i="0" u="none" strike="noStrike" cap="none" normalizeH="0" baseline="-25000" smtClean="0">
                          <a:ln>
                            <a:noFill/>
                          </a:ln>
                          <a:solidFill>
                            <a:schemeClr val="tx1"/>
                          </a:solidFill>
                          <a:effectLst/>
                          <a:latin typeface="Tahoma" pitchFamily="34" charset="0"/>
                          <a:ea typeface="宋体" pitchFamily="2" charset="-122"/>
                        </a:rPr>
                        <a:t>14</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dirty="0" smtClean="0">
                          <a:ln>
                            <a:noFill/>
                          </a:ln>
                          <a:solidFill>
                            <a:schemeClr val="tx1"/>
                          </a:solidFill>
                          <a:effectLst/>
                          <a:latin typeface="Tahoma" pitchFamily="34" charset="0"/>
                          <a:ea typeface="宋体" pitchFamily="2" charset="-122"/>
                        </a:rPr>
                        <a:t>m</a:t>
                      </a:r>
                      <a:r>
                        <a:rPr kumimoji="0" lang="en-US" altLang="zh-CN" sz="2000" b="0" i="0" u="none" strike="noStrike" cap="none" normalizeH="0" baseline="-25000" dirty="0" smtClean="0">
                          <a:ln>
                            <a:noFill/>
                          </a:ln>
                          <a:solidFill>
                            <a:schemeClr val="tx1"/>
                          </a:solidFill>
                          <a:effectLst/>
                          <a:latin typeface="Tahoma" pitchFamily="34" charset="0"/>
                          <a:ea typeface="宋体" pitchFamily="2" charset="-122"/>
                        </a:rPr>
                        <a:t>10</a:t>
                      </a:r>
                    </a:p>
                  </a:txBody>
                  <a:tcPr anchor="ct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spTree>
  </p:cSld>
  <p:clrMapOvr>
    <a:masterClrMapping/>
  </p:clrMapOvr>
  <p:transition>
    <p:random/>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D7E11F4C-FC4B-453B-8E53-982571E41BA7}" type="datetime1">
              <a:rPr lang="zh-CN" altLang="en-US"/>
              <a:pPr>
                <a:defRPr/>
              </a:pPr>
              <a:t>2021/9/21</a:t>
            </a:fld>
            <a:endParaRPr lang="en-US" altLang="zh-CN"/>
          </a:p>
        </p:txBody>
      </p:sp>
      <p:sp>
        <p:nvSpPr>
          <p:cNvPr id="5" name="灯片编号占位符 5"/>
          <p:cNvSpPr>
            <a:spLocks noGrp="1"/>
          </p:cNvSpPr>
          <p:nvPr>
            <p:ph type="sldNum" sz="quarter" idx="12"/>
          </p:nvPr>
        </p:nvSpPr>
        <p:spPr/>
        <p:txBody>
          <a:bodyPr/>
          <a:lstStyle/>
          <a:p>
            <a:pPr>
              <a:defRPr/>
            </a:pPr>
            <a:fld id="{53BDEDBA-FA66-4388-9E63-226A0293E777}" type="slidenum">
              <a:rPr lang="en-US" altLang="zh-CN"/>
              <a:pPr>
                <a:defRPr/>
              </a:pPr>
              <a:t>38</a:t>
            </a:fld>
            <a:endParaRPr lang="en-US" altLang="zh-CN"/>
          </a:p>
        </p:txBody>
      </p:sp>
      <p:sp>
        <p:nvSpPr>
          <p:cNvPr id="40964" name="Rectangle 2"/>
          <p:cNvSpPr>
            <a:spLocks noGrp="1" noChangeArrowheads="1"/>
          </p:cNvSpPr>
          <p:nvPr>
            <p:ph type="body" idx="1"/>
          </p:nvPr>
        </p:nvSpPr>
        <p:spPr/>
        <p:txBody>
          <a:bodyPr/>
          <a:lstStyle/>
          <a:p>
            <a:pPr eaLnBrk="1" hangingPunct="1">
              <a:lnSpc>
                <a:spcPct val="90000"/>
              </a:lnSpc>
            </a:pPr>
            <a:r>
              <a:rPr lang="zh-CN" altLang="en-US" sz="2800" smtClean="0"/>
              <a:t>一个逻辑命题可以用多种形式的逻辑函数来描述，每一种函数式对应着一种逻辑电路。</a:t>
            </a:r>
          </a:p>
          <a:p>
            <a:pPr eaLnBrk="1" hangingPunct="1">
              <a:lnSpc>
                <a:spcPct val="90000"/>
              </a:lnSpc>
            </a:pPr>
            <a:r>
              <a:rPr lang="zh-CN" altLang="en-US" sz="2800" smtClean="0"/>
              <a:t>逻辑函数表达式种</a:t>
            </a:r>
            <a:r>
              <a:rPr lang="zh-CN" altLang="en-US" sz="2800" smtClean="0">
                <a:solidFill>
                  <a:schemeClr val="folHlink"/>
                </a:solidFill>
              </a:rPr>
              <a:t>最基本的两种形式</a:t>
            </a:r>
            <a:r>
              <a:rPr lang="zh-CN" altLang="en-US" sz="2800" smtClean="0"/>
              <a:t>是“与或”式和“或与”式</a:t>
            </a:r>
          </a:p>
          <a:p>
            <a:pPr lvl="1" eaLnBrk="1" hangingPunct="1">
              <a:lnSpc>
                <a:spcPct val="90000"/>
              </a:lnSpc>
            </a:pPr>
            <a:r>
              <a:rPr lang="zh-CN" altLang="en-US" sz="2400" smtClean="0">
                <a:solidFill>
                  <a:schemeClr val="folHlink"/>
                </a:solidFill>
              </a:rPr>
              <a:t>“与或”式</a:t>
            </a:r>
            <a:r>
              <a:rPr lang="en-US" altLang="zh-CN" sz="2400" smtClean="0"/>
              <a:t>(Sum of Product)</a:t>
            </a:r>
            <a:r>
              <a:rPr lang="zh-CN" altLang="en-US" sz="2400" smtClean="0"/>
              <a:t>：即“积之和”表达式，是指一个函数表达式中包含着若干个“积”项，每个“积”项中可以有一个或多个以原变量或反变量形式出现的字母，所有这些“积”项的“和”就表示了一个函数。</a:t>
            </a:r>
          </a:p>
          <a:p>
            <a:pPr lvl="1" eaLnBrk="1" hangingPunct="1">
              <a:lnSpc>
                <a:spcPct val="90000"/>
              </a:lnSpc>
            </a:pPr>
            <a:r>
              <a:rPr lang="zh-CN" altLang="en-US" sz="2400" smtClean="0">
                <a:solidFill>
                  <a:schemeClr val="folHlink"/>
                </a:solidFill>
              </a:rPr>
              <a:t>“或与”式</a:t>
            </a:r>
            <a:r>
              <a:rPr lang="en-US" altLang="zh-CN" sz="2400" smtClean="0"/>
              <a:t>(Product of Sum)</a:t>
            </a:r>
            <a:r>
              <a:rPr lang="zh-CN" altLang="en-US" sz="2400" smtClean="0"/>
              <a:t>：即“和之积”表达式，是指一个函数表达式中包含着若干个“和”项，每个“和”项中有若干个以原变量或反变量形式出现的字母，所有这些“和”项的“积”就表示了一个函数。</a:t>
            </a:r>
          </a:p>
        </p:txBody>
      </p:sp>
      <p:sp>
        <p:nvSpPr>
          <p:cNvPr id="40965" name="Rectangle 3"/>
          <p:cNvSpPr>
            <a:spLocks noGrp="1" noChangeArrowheads="1"/>
          </p:cNvSpPr>
          <p:nvPr>
            <p:ph type="title"/>
          </p:nvPr>
        </p:nvSpPr>
        <p:spPr>
          <a:xfrm>
            <a:off x="1274763" y="533400"/>
            <a:ext cx="7793037" cy="609600"/>
          </a:xfrm>
        </p:spPr>
        <p:txBody>
          <a:bodyPr/>
          <a:lstStyle/>
          <a:p>
            <a:pPr eaLnBrk="1" hangingPunct="1"/>
            <a:r>
              <a:rPr lang="zh-CN" altLang="en-US" smtClean="0"/>
              <a:t>逻辑函数表达式的基本形式</a:t>
            </a:r>
          </a:p>
        </p:txBody>
      </p:sp>
    </p:spTree>
  </p:cSld>
  <p:clrMapOvr>
    <a:masterClrMapping/>
  </p:clrMapOvr>
  <p:transition>
    <p:random/>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3C1E95B7-2A34-4431-9438-A6FDF7281731}" type="datetime1">
              <a:rPr lang="zh-CN" altLang="en-US"/>
              <a:pPr>
                <a:defRPr/>
              </a:pPr>
              <a:t>2021/9/21</a:t>
            </a:fld>
            <a:endParaRPr lang="en-US" altLang="zh-CN"/>
          </a:p>
        </p:txBody>
      </p:sp>
      <p:sp>
        <p:nvSpPr>
          <p:cNvPr id="5" name="灯片编号占位符 5"/>
          <p:cNvSpPr>
            <a:spLocks noGrp="1"/>
          </p:cNvSpPr>
          <p:nvPr>
            <p:ph type="sldNum" sz="quarter" idx="12"/>
          </p:nvPr>
        </p:nvSpPr>
        <p:spPr/>
        <p:txBody>
          <a:bodyPr/>
          <a:lstStyle/>
          <a:p>
            <a:pPr>
              <a:defRPr/>
            </a:pPr>
            <a:fld id="{AD7A2D1B-338D-4ED3-A209-374A5F4B87D5}" type="slidenum">
              <a:rPr lang="en-US" altLang="zh-CN"/>
              <a:pPr>
                <a:defRPr/>
              </a:pPr>
              <a:t>39</a:t>
            </a:fld>
            <a:endParaRPr lang="en-US" altLang="zh-CN"/>
          </a:p>
        </p:txBody>
      </p:sp>
      <p:sp>
        <p:nvSpPr>
          <p:cNvPr id="41988" name="Rectangle 2"/>
          <p:cNvSpPr>
            <a:spLocks noGrp="1" noChangeArrowheads="1"/>
          </p:cNvSpPr>
          <p:nvPr>
            <p:ph type="body" idx="1"/>
          </p:nvPr>
        </p:nvSpPr>
        <p:spPr/>
        <p:txBody>
          <a:bodyPr/>
          <a:lstStyle/>
          <a:p>
            <a:pPr eaLnBrk="1" hangingPunct="1"/>
            <a:r>
              <a:rPr lang="zh-CN" altLang="en-US" smtClean="0"/>
              <a:t>其它形式的表达式：</a:t>
            </a:r>
            <a:endParaRPr lang="en-US" altLang="zh-CN" smtClean="0"/>
          </a:p>
          <a:p>
            <a:pPr eaLnBrk="1" hangingPunct="1"/>
            <a:endParaRPr lang="zh-CN" altLang="en-US" smtClean="0"/>
          </a:p>
        </p:txBody>
      </p:sp>
      <p:sp>
        <p:nvSpPr>
          <p:cNvPr id="41989" name="Rectangle 3"/>
          <p:cNvSpPr>
            <a:spLocks noGrp="1" noChangeArrowheads="1"/>
          </p:cNvSpPr>
          <p:nvPr>
            <p:ph type="title"/>
          </p:nvPr>
        </p:nvSpPr>
        <p:spPr>
          <a:xfrm>
            <a:off x="1274763" y="533400"/>
            <a:ext cx="7793037" cy="609600"/>
          </a:xfrm>
        </p:spPr>
        <p:txBody>
          <a:bodyPr/>
          <a:lstStyle/>
          <a:p>
            <a:pPr eaLnBrk="1" hangingPunct="1"/>
            <a:r>
              <a:rPr lang="zh-CN" altLang="en-US" smtClean="0"/>
              <a:t>逻辑函数表达式的基本形式</a:t>
            </a:r>
          </a:p>
        </p:txBody>
      </p:sp>
      <p:graphicFrame>
        <p:nvGraphicFramePr>
          <p:cNvPr id="2" name="Object 3"/>
          <p:cNvGraphicFramePr>
            <a:graphicFrameLocks noChangeAspect="1"/>
          </p:cNvGraphicFramePr>
          <p:nvPr/>
        </p:nvGraphicFramePr>
        <p:xfrm>
          <a:off x="1143000" y="2559050"/>
          <a:ext cx="7162800" cy="3084513"/>
        </p:xfrm>
        <a:graphic>
          <a:graphicData uri="http://schemas.openxmlformats.org/presentationml/2006/ole">
            <mc:AlternateContent xmlns:mc="http://schemas.openxmlformats.org/markup-compatibility/2006">
              <mc:Choice xmlns:v="urn:schemas-microsoft-com:vml" Requires="v">
                <p:oleObj spid="_x0000_s42003" name="Document" r:id="rId4" imgW="2609850" imgH="1181100" progId="Word.Document.8">
                  <p:embed/>
                </p:oleObj>
              </mc:Choice>
              <mc:Fallback>
                <p:oleObj name="Document" r:id="rId4" imgW="2609850" imgH="1181100" progId="Word.Document.8">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43000" y="2559050"/>
                        <a:ext cx="7162800" cy="3084513"/>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6" presetClass="entr" presetSubtype="37"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out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C63C41B7-770F-4C95-BF8C-78D2FAB1DC0D}" type="datetime1">
              <a:rPr lang="zh-CN" altLang="en-US"/>
              <a:pPr>
                <a:defRPr/>
              </a:pPr>
              <a:t>2021/9/21</a:t>
            </a:fld>
            <a:endParaRPr lang="en-US" altLang="zh-CN"/>
          </a:p>
        </p:txBody>
      </p:sp>
      <p:sp>
        <p:nvSpPr>
          <p:cNvPr id="5" name="灯片编号占位符 5"/>
          <p:cNvSpPr>
            <a:spLocks noGrp="1"/>
          </p:cNvSpPr>
          <p:nvPr>
            <p:ph type="sldNum" sz="quarter" idx="12"/>
          </p:nvPr>
        </p:nvSpPr>
        <p:spPr/>
        <p:txBody>
          <a:bodyPr/>
          <a:lstStyle/>
          <a:p>
            <a:pPr>
              <a:defRPr/>
            </a:pPr>
            <a:fld id="{A4307C64-73B8-4AD3-93BC-E08DB35674F1}" type="slidenum">
              <a:rPr lang="en-US" altLang="zh-CN"/>
              <a:pPr>
                <a:defRPr/>
              </a:pPr>
              <a:t>40</a:t>
            </a:fld>
            <a:endParaRPr lang="en-US" altLang="zh-CN"/>
          </a:p>
        </p:txBody>
      </p:sp>
      <p:sp>
        <p:nvSpPr>
          <p:cNvPr id="43012" name="Rectangle 2"/>
          <p:cNvSpPr>
            <a:spLocks noGrp="1" noChangeArrowheads="1"/>
          </p:cNvSpPr>
          <p:nvPr>
            <p:ph type="body" idx="1"/>
          </p:nvPr>
        </p:nvSpPr>
        <p:spPr/>
        <p:txBody>
          <a:bodyPr/>
          <a:lstStyle/>
          <a:p>
            <a:pPr eaLnBrk="1" hangingPunct="1"/>
            <a:r>
              <a:rPr lang="zh-CN" altLang="en-US" smtClean="0"/>
              <a:t>最小项表达式</a:t>
            </a:r>
          </a:p>
          <a:p>
            <a:pPr eaLnBrk="1" hangingPunct="1"/>
            <a:r>
              <a:rPr lang="zh-CN" altLang="en-US" smtClean="0"/>
              <a:t>最大项表达式</a:t>
            </a:r>
          </a:p>
          <a:p>
            <a:pPr eaLnBrk="1" hangingPunct="1"/>
            <a:r>
              <a:rPr lang="zh-CN" altLang="en-US" smtClean="0"/>
              <a:t>两种标准形式的关系</a:t>
            </a:r>
          </a:p>
        </p:txBody>
      </p:sp>
      <p:sp>
        <p:nvSpPr>
          <p:cNvPr id="43013" name="Rectangle 3"/>
          <p:cNvSpPr>
            <a:spLocks noGrp="1" noChangeArrowheads="1"/>
          </p:cNvSpPr>
          <p:nvPr>
            <p:ph type="title"/>
          </p:nvPr>
        </p:nvSpPr>
        <p:spPr>
          <a:xfrm>
            <a:off x="1274763" y="533400"/>
            <a:ext cx="7793037" cy="609600"/>
          </a:xfrm>
        </p:spPr>
        <p:txBody>
          <a:bodyPr/>
          <a:lstStyle/>
          <a:p>
            <a:pPr eaLnBrk="1" hangingPunct="1"/>
            <a:r>
              <a:rPr lang="zh-CN" altLang="en-US" smtClean="0"/>
              <a:t>逻辑函数表达式的标准形式</a:t>
            </a:r>
          </a:p>
        </p:txBody>
      </p:sp>
    </p:spTree>
  </p:cSld>
  <p:clrMapOvr>
    <a:masterClrMapping/>
  </p:clrMapOvr>
  <p:transition>
    <p:random/>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日期占位符 3"/>
          <p:cNvSpPr>
            <a:spLocks noGrp="1"/>
          </p:cNvSpPr>
          <p:nvPr>
            <p:ph type="dt" sz="quarter" idx="10"/>
          </p:nvPr>
        </p:nvSpPr>
        <p:spPr/>
        <p:txBody>
          <a:bodyPr/>
          <a:lstStyle/>
          <a:p>
            <a:pPr>
              <a:defRPr/>
            </a:pPr>
            <a:fld id="{8B6CD0F8-00B5-48B9-A9DB-C7FFD43DA107}" type="datetime1">
              <a:rPr lang="zh-CN" altLang="en-US"/>
              <a:pPr>
                <a:defRPr/>
              </a:pPr>
              <a:t>2021/9/21</a:t>
            </a:fld>
            <a:endParaRPr lang="en-US" altLang="zh-CN"/>
          </a:p>
        </p:txBody>
      </p:sp>
      <p:sp>
        <p:nvSpPr>
          <p:cNvPr id="9" name="灯片编号占位符 5"/>
          <p:cNvSpPr>
            <a:spLocks noGrp="1"/>
          </p:cNvSpPr>
          <p:nvPr>
            <p:ph type="sldNum" sz="quarter" idx="12"/>
          </p:nvPr>
        </p:nvSpPr>
        <p:spPr/>
        <p:txBody>
          <a:bodyPr/>
          <a:lstStyle/>
          <a:p>
            <a:pPr>
              <a:defRPr/>
            </a:pPr>
            <a:fld id="{C05F4F9C-A287-41BE-A83E-B44DF59BE4B2}" type="slidenum">
              <a:rPr lang="en-US" altLang="zh-CN"/>
              <a:pPr>
                <a:defRPr/>
              </a:pPr>
              <a:t>41</a:t>
            </a:fld>
            <a:endParaRPr lang="en-US" altLang="zh-CN"/>
          </a:p>
        </p:txBody>
      </p:sp>
      <p:sp>
        <p:nvSpPr>
          <p:cNvPr id="44036" name="Rectangle 2"/>
          <p:cNvSpPr>
            <a:spLocks noGrp="1" noChangeArrowheads="1"/>
          </p:cNvSpPr>
          <p:nvPr>
            <p:ph type="body" idx="1"/>
          </p:nvPr>
        </p:nvSpPr>
        <p:spPr>
          <a:xfrm>
            <a:off x="457200" y="1143000"/>
            <a:ext cx="8472488" cy="5357813"/>
          </a:xfrm>
        </p:spPr>
        <p:txBody>
          <a:bodyPr/>
          <a:lstStyle/>
          <a:p>
            <a:pPr eaLnBrk="1" hangingPunct="1"/>
            <a:r>
              <a:rPr lang="zh-CN" altLang="en-US" sz="2400" smtClean="0">
                <a:solidFill>
                  <a:schemeClr val="folHlink"/>
                </a:solidFill>
              </a:rPr>
              <a:t>最小项</a:t>
            </a:r>
            <a:r>
              <a:rPr lang="en-US" altLang="zh-CN" sz="2400" smtClean="0"/>
              <a:t>(Minterm)</a:t>
            </a:r>
            <a:r>
              <a:rPr lang="zh-CN" altLang="en-US" sz="2400" smtClean="0"/>
              <a:t>：一个具有</a:t>
            </a:r>
            <a:r>
              <a:rPr lang="en-US" altLang="zh-CN" sz="2400" smtClean="0"/>
              <a:t>n</a:t>
            </a:r>
            <a:r>
              <a:rPr lang="zh-CN" altLang="en-US" sz="2400" smtClean="0"/>
              <a:t>个变量的函数的“积”项如果包含全部的</a:t>
            </a:r>
            <a:r>
              <a:rPr lang="en-US" altLang="zh-CN" sz="2400" smtClean="0"/>
              <a:t>n</a:t>
            </a:r>
            <a:r>
              <a:rPr lang="zh-CN" altLang="en-US" sz="2400" smtClean="0"/>
              <a:t>个变量，每个变量都以原变量或反变量形式出现，且仅出现一次，则这个“积”项称为</a:t>
            </a:r>
            <a:r>
              <a:rPr lang="en-US" altLang="zh-CN" sz="2400" smtClean="0"/>
              <a:t>n</a:t>
            </a:r>
            <a:r>
              <a:rPr lang="zh-CN" altLang="en-US" sz="2400" smtClean="0"/>
              <a:t>个变量的最小项。</a:t>
            </a:r>
          </a:p>
          <a:p>
            <a:pPr eaLnBrk="1" hangingPunct="1"/>
            <a:r>
              <a:rPr lang="zh-CN" altLang="en-US" sz="2400" smtClean="0">
                <a:solidFill>
                  <a:schemeClr val="folHlink"/>
                </a:solidFill>
              </a:rPr>
              <a:t>最小项表达式</a:t>
            </a:r>
            <a:r>
              <a:rPr lang="zh-CN" altLang="en-US" sz="2400" smtClean="0"/>
              <a:t>：由最小项之和所构成的函数表达式，亦称标准“积之和”表达式、标准与或式、逻辑函数的第一范式。</a:t>
            </a:r>
          </a:p>
          <a:p>
            <a:pPr eaLnBrk="1" hangingPunct="1"/>
            <a:r>
              <a:rPr lang="zh-CN" altLang="en-US" sz="2400" smtClean="0"/>
              <a:t>表示形式</a:t>
            </a:r>
          </a:p>
          <a:p>
            <a:pPr lvl="1" eaLnBrk="1" hangingPunct="1"/>
            <a:r>
              <a:rPr lang="zh-CN" altLang="en-US" sz="2000" smtClean="0"/>
              <a:t>最小项通常用</a:t>
            </a:r>
            <a:r>
              <a:rPr lang="en-US" altLang="zh-CN" sz="2000" smtClean="0"/>
              <a:t>m</a:t>
            </a:r>
            <a:r>
              <a:rPr lang="en-US" altLang="zh-CN" sz="2000" baseline="-25000" smtClean="0"/>
              <a:t>i</a:t>
            </a:r>
            <a:r>
              <a:rPr lang="zh-CN" altLang="en-US" sz="2000" smtClean="0"/>
              <a:t>表示</a:t>
            </a:r>
          </a:p>
          <a:p>
            <a:pPr lvl="2" eaLnBrk="1" hangingPunct="1"/>
            <a:r>
              <a:rPr lang="zh-CN" altLang="en-US" sz="1800" smtClean="0"/>
              <a:t>下标</a:t>
            </a:r>
            <a:r>
              <a:rPr lang="en-US" altLang="zh-CN" sz="1800" smtClean="0"/>
              <a:t>i</a:t>
            </a:r>
            <a:r>
              <a:rPr lang="zh-CN" altLang="en-US" sz="1800" smtClean="0"/>
              <a:t>的确定规则：变量按一定次序排列，如果积项中的变量以原变量出现，则记以</a:t>
            </a:r>
            <a:r>
              <a:rPr lang="en-US" altLang="zh-CN" sz="1800" smtClean="0"/>
              <a:t>1</a:t>
            </a:r>
            <a:r>
              <a:rPr lang="zh-CN" altLang="en-US" sz="1800" smtClean="0"/>
              <a:t>；变量以反变量出现，则记以</a:t>
            </a:r>
            <a:r>
              <a:rPr lang="en-US" altLang="zh-CN" sz="1800" smtClean="0"/>
              <a:t>0</a:t>
            </a:r>
            <a:r>
              <a:rPr lang="zh-CN" altLang="en-US" sz="1800" smtClean="0"/>
              <a:t>。这样构成的二进制数称为转换码，其所对应的十进制数就是该最小项</a:t>
            </a:r>
            <a:r>
              <a:rPr lang="en-US" altLang="zh-CN" sz="1800" smtClean="0"/>
              <a:t>m</a:t>
            </a:r>
            <a:r>
              <a:rPr lang="en-US" altLang="zh-CN" sz="1800" baseline="-25000" smtClean="0"/>
              <a:t>i</a:t>
            </a:r>
            <a:r>
              <a:rPr lang="zh-CN" altLang="en-US" sz="1800" smtClean="0"/>
              <a:t>的下标</a:t>
            </a:r>
            <a:r>
              <a:rPr lang="en-US" altLang="zh-CN" sz="1800" smtClean="0"/>
              <a:t>i</a:t>
            </a:r>
            <a:r>
              <a:rPr lang="zh-CN" altLang="en-US" sz="1800" smtClean="0"/>
              <a:t>的值。</a:t>
            </a:r>
          </a:p>
          <a:p>
            <a:pPr lvl="1" eaLnBrk="1" hangingPunct="1"/>
            <a:r>
              <a:rPr lang="zh-CN" altLang="en-US" sz="2000" smtClean="0"/>
              <a:t>最小项表达式的表示形式</a:t>
            </a:r>
          </a:p>
          <a:p>
            <a:pPr lvl="1" eaLnBrk="1" hangingPunct="1">
              <a:buFont typeface="Wingdings" pitchFamily="2" charset="2"/>
              <a:buNone/>
            </a:pPr>
            <a:r>
              <a:rPr lang="en-US" altLang="zh-CN" sz="2000" smtClean="0"/>
              <a:t>F(A,B,C)=ABC+ABC+ABC+ABC=m</a:t>
            </a:r>
            <a:r>
              <a:rPr lang="en-US" altLang="zh-CN" sz="2000" baseline="-25000" smtClean="0"/>
              <a:t>2</a:t>
            </a:r>
            <a:r>
              <a:rPr lang="en-US" altLang="zh-CN" sz="2000" smtClean="0"/>
              <a:t>+m</a:t>
            </a:r>
            <a:r>
              <a:rPr lang="en-US" altLang="zh-CN" sz="2000" baseline="-25000" smtClean="0"/>
              <a:t>3</a:t>
            </a:r>
            <a:r>
              <a:rPr lang="en-US" altLang="zh-CN" sz="2000" smtClean="0"/>
              <a:t>+m</a:t>
            </a:r>
            <a:r>
              <a:rPr lang="en-US" altLang="zh-CN" sz="2000" baseline="-25000" smtClean="0"/>
              <a:t>6</a:t>
            </a:r>
            <a:r>
              <a:rPr lang="en-US" altLang="zh-CN" sz="2000" smtClean="0"/>
              <a:t>+m</a:t>
            </a:r>
            <a:r>
              <a:rPr lang="en-US" altLang="zh-CN" sz="2000" baseline="-25000" smtClean="0"/>
              <a:t>7</a:t>
            </a:r>
            <a:r>
              <a:rPr lang="en-US" altLang="zh-CN" sz="2000" smtClean="0"/>
              <a:t>=</a:t>
            </a:r>
            <a:r>
              <a:rPr lang="en-US" altLang="zh-CN" sz="2400" b="1" smtClean="0"/>
              <a:t>∑</a:t>
            </a:r>
            <a:r>
              <a:rPr lang="en-US" altLang="zh-CN" sz="2000" smtClean="0"/>
              <a:t>m(2,3,6,7)</a:t>
            </a:r>
          </a:p>
        </p:txBody>
      </p:sp>
      <p:sp>
        <p:nvSpPr>
          <p:cNvPr id="44037" name="Rectangle 3"/>
          <p:cNvSpPr>
            <a:spLocks noGrp="1" noChangeArrowheads="1"/>
          </p:cNvSpPr>
          <p:nvPr>
            <p:ph type="title"/>
          </p:nvPr>
        </p:nvSpPr>
        <p:spPr>
          <a:xfrm>
            <a:off x="1274763" y="533400"/>
            <a:ext cx="7793037" cy="609600"/>
          </a:xfrm>
        </p:spPr>
        <p:txBody>
          <a:bodyPr/>
          <a:lstStyle/>
          <a:p>
            <a:pPr eaLnBrk="1" hangingPunct="1"/>
            <a:r>
              <a:rPr lang="zh-CN" altLang="en-US" smtClean="0"/>
              <a:t>最小项表达式</a:t>
            </a:r>
          </a:p>
        </p:txBody>
      </p:sp>
      <p:sp>
        <p:nvSpPr>
          <p:cNvPr id="44038" name="Line 4"/>
          <p:cNvSpPr>
            <a:spLocks noChangeShapeType="1"/>
          </p:cNvSpPr>
          <p:nvPr/>
        </p:nvSpPr>
        <p:spPr bwMode="auto">
          <a:xfrm>
            <a:off x="2133600" y="5286375"/>
            <a:ext cx="1524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4039" name="Line 5"/>
          <p:cNvSpPr>
            <a:spLocks noChangeShapeType="1"/>
          </p:cNvSpPr>
          <p:nvPr/>
        </p:nvSpPr>
        <p:spPr bwMode="auto">
          <a:xfrm>
            <a:off x="2438400" y="5286375"/>
            <a:ext cx="1524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4040" name="Line 6"/>
          <p:cNvSpPr>
            <a:spLocks noChangeShapeType="1"/>
          </p:cNvSpPr>
          <p:nvPr/>
        </p:nvSpPr>
        <p:spPr bwMode="auto">
          <a:xfrm>
            <a:off x="2768600" y="5286375"/>
            <a:ext cx="1524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4041" name="Line 7"/>
          <p:cNvSpPr>
            <a:spLocks noChangeShapeType="1"/>
          </p:cNvSpPr>
          <p:nvPr/>
        </p:nvSpPr>
        <p:spPr bwMode="auto">
          <a:xfrm>
            <a:off x="3708400" y="5286375"/>
            <a:ext cx="1524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Tree>
  </p:cSld>
  <p:clrMapOvr>
    <a:masterClrMapping/>
  </p:clrMapOvr>
  <p:transition>
    <p:random/>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quarter" idx="10"/>
          </p:nvPr>
        </p:nvSpPr>
        <p:spPr/>
        <p:txBody>
          <a:bodyPr/>
          <a:lstStyle/>
          <a:p>
            <a:pPr>
              <a:defRPr/>
            </a:pPr>
            <a:fld id="{5039F47D-A853-4B21-A894-15CDE5D87586}" type="datetime1">
              <a:rPr lang="zh-CN" altLang="en-US" smtClean="0"/>
              <a:pPr>
                <a:defRPr/>
              </a:pPr>
              <a:t>2021/9/21</a:t>
            </a:fld>
            <a:endParaRPr lang="en-US" altLang="zh-CN"/>
          </a:p>
        </p:txBody>
      </p:sp>
      <p:sp>
        <p:nvSpPr>
          <p:cNvPr id="3" name="灯片编号占位符 2"/>
          <p:cNvSpPr>
            <a:spLocks noGrp="1"/>
          </p:cNvSpPr>
          <p:nvPr>
            <p:ph type="sldNum" sz="quarter" idx="12"/>
          </p:nvPr>
        </p:nvSpPr>
        <p:spPr/>
        <p:txBody>
          <a:bodyPr/>
          <a:lstStyle/>
          <a:p>
            <a:pPr>
              <a:defRPr/>
            </a:pPr>
            <a:fld id="{A3D06603-5B7A-4182-8366-32120D26E785}" type="slidenum">
              <a:rPr lang="en-US" altLang="zh-CN" smtClean="0"/>
              <a:pPr>
                <a:defRPr/>
              </a:pPr>
              <a:t>42</a:t>
            </a:fld>
            <a:endParaRPr lang="en-US" altLang="zh-CN"/>
          </a:p>
        </p:txBody>
      </p:sp>
      <p:pic>
        <p:nvPicPr>
          <p:cNvPr id="4506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7313" y="1285875"/>
            <a:ext cx="6478587" cy="350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5061" name="组合 9"/>
          <p:cNvGrpSpPr>
            <a:grpSpLocks/>
          </p:cNvGrpSpPr>
          <p:nvPr/>
        </p:nvGrpSpPr>
        <p:grpSpPr bwMode="auto">
          <a:xfrm>
            <a:off x="642938" y="5253038"/>
            <a:ext cx="8072437" cy="461962"/>
            <a:chOff x="642910" y="5253351"/>
            <a:chExt cx="8072494" cy="461665"/>
          </a:xfrm>
        </p:grpSpPr>
        <p:sp>
          <p:nvSpPr>
            <p:cNvPr id="45062" name="矩形 4"/>
            <p:cNvSpPr>
              <a:spLocks noChangeArrowheads="1"/>
            </p:cNvSpPr>
            <p:nvPr/>
          </p:nvSpPr>
          <p:spPr bwMode="auto">
            <a:xfrm>
              <a:off x="642910" y="5253351"/>
              <a:ext cx="807249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lvl="1">
                <a:buFont typeface="Wingdings" pitchFamily="2" charset="2"/>
                <a:buNone/>
              </a:pPr>
              <a:r>
                <a:rPr lang="en-US" altLang="zh-CN" sz="2000" b="1"/>
                <a:t>F(A,B,C)=ABC+ABC+ABC+ABC=m</a:t>
              </a:r>
              <a:r>
                <a:rPr lang="en-US" altLang="zh-CN" sz="2000" b="1" baseline="-25000"/>
                <a:t>2</a:t>
              </a:r>
              <a:r>
                <a:rPr lang="en-US" altLang="zh-CN" sz="2000" b="1"/>
                <a:t>+m</a:t>
              </a:r>
              <a:r>
                <a:rPr lang="en-US" altLang="zh-CN" sz="2000" b="1" baseline="-25000"/>
                <a:t>3</a:t>
              </a:r>
              <a:r>
                <a:rPr lang="en-US" altLang="zh-CN" sz="2000" b="1"/>
                <a:t>+m</a:t>
              </a:r>
              <a:r>
                <a:rPr lang="en-US" altLang="zh-CN" sz="2000" b="1" baseline="-25000"/>
                <a:t>6</a:t>
              </a:r>
              <a:r>
                <a:rPr lang="en-US" altLang="zh-CN" sz="2000" b="1"/>
                <a:t>+m</a:t>
              </a:r>
              <a:r>
                <a:rPr lang="en-US" altLang="zh-CN" sz="2000" b="1" baseline="-25000"/>
                <a:t>7</a:t>
              </a:r>
              <a:r>
                <a:rPr lang="en-US" altLang="zh-CN" sz="2000" b="1"/>
                <a:t>=</a:t>
              </a:r>
              <a:r>
                <a:rPr lang="en-US" altLang="zh-CN" b="1"/>
                <a:t>∑</a:t>
              </a:r>
              <a:r>
                <a:rPr lang="en-US" altLang="zh-CN" sz="2000" b="1"/>
                <a:t>m(2,3,6,7)</a:t>
              </a:r>
            </a:p>
          </p:txBody>
        </p:sp>
        <p:sp>
          <p:nvSpPr>
            <p:cNvPr id="45063" name="Line 4"/>
            <p:cNvSpPr>
              <a:spLocks noChangeShapeType="1"/>
            </p:cNvSpPr>
            <p:nvPr/>
          </p:nvSpPr>
          <p:spPr bwMode="auto">
            <a:xfrm>
              <a:off x="2332208" y="5357826"/>
              <a:ext cx="1524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5064" name="Line 5"/>
            <p:cNvSpPr>
              <a:spLocks noChangeShapeType="1"/>
            </p:cNvSpPr>
            <p:nvPr/>
          </p:nvSpPr>
          <p:spPr bwMode="auto">
            <a:xfrm>
              <a:off x="2637008" y="5357826"/>
              <a:ext cx="1524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5065" name="Line 6"/>
            <p:cNvSpPr>
              <a:spLocks noChangeShapeType="1"/>
            </p:cNvSpPr>
            <p:nvPr/>
          </p:nvSpPr>
          <p:spPr bwMode="auto">
            <a:xfrm>
              <a:off x="2967208" y="5357826"/>
              <a:ext cx="1524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5066" name="Line 7"/>
            <p:cNvSpPr>
              <a:spLocks noChangeShapeType="1"/>
            </p:cNvSpPr>
            <p:nvPr/>
          </p:nvSpPr>
          <p:spPr bwMode="auto">
            <a:xfrm>
              <a:off x="3994690" y="5357826"/>
              <a:ext cx="1524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spTree>
  </p:cSld>
  <p:clrMapOvr>
    <a:masterClrMapping/>
  </p:clrMapOvr>
  <p:transition>
    <p:random/>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quarter" idx="10"/>
          </p:nvPr>
        </p:nvSpPr>
        <p:spPr/>
        <p:txBody>
          <a:bodyPr/>
          <a:lstStyle/>
          <a:p>
            <a:pPr>
              <a:defRPr/>
            </a:pPr>
            <a:fld id="{5039F47D-A853-4B21-A894-15CDE5D87586}" type="datetime1">
              <a:rPr lang="zh-CN" altLang="en-US" smtClean="0"/>
              <a:pPr>
                <a:defRPr/>
              </a:pPr>
              <a:t>2021/9/21</a:t>
            </a:fld>
            <a:endParaRPr lang="en-US" altLang="zh-CN"/>
          </a:p>
        </p:txBody>
      </p:sp>
      <p:sp>
        <p:nvSpPr>
          <p:cNvPr id="3" name="灯片编号占位符 2"/>
          <p:cNvSpPr>
            <a:spLocks noGrp="1"/>
          </p:cNvSpPr>
          <p:nvPr>
            <p:ph type="sldNum" sz="quarter" idx="12"/>
          </p:nvPr>
        </p:nvSpPr>
        <p:spPr/>
        <p:txBody>
          <a:bodyPr/>
          <a:lstStyle/>
          <a:p>
            <a:pPr>
              <a:defRPr/>
            </a:pPr>
            <a:fld id="{8231CC71-4259-46AB-B6D4-41186D72BEB8}" type="slidenum">
              <a:rPr lang="en-US" altLang="zh-CN" smtClean="0"/>
              <a:pPr>
                <a:defRPr/>
              </a:pPr>
              <a:t>43</a:t>
            </a:fld>
            <a:endParaRPr lang="en-US" altLang="zh-CN"/>
          </a:p>
        </p:txBody>
      </p:sp>
      <p:pic>
        <p:nvPicPr>
          <p:cNvPr id="4608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7313" y="357188"/>
            <a:ext cx="6586537" cy="3214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08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14625" y="3643313"/>
            <a:ext cx="3284538"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086"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5813" y="4581525"/>
            <a:ext cx="7000875"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p:txBody>
          <a:bodyPr/>
          <a:lstStyle/>
          <a:p>
            <a:pPr>
              <a:defRPr/>
            </a:pPr>
            <a:fld id="{1F7328C6-FCE9-4B79-9538-BCF26E315313}" type="datetime1">
              <a:rPr lang="zh-CN" altLang="en-US"/>
              <a:pPr>
                <a:defRPr/>
              </a:pPr>
              <a:t>2021/9/21</a:t>
            </a:fld>
            <a:endParaRPr lang="en-US" altLang="zh-CN"/>
          </a:p>
        </p:txBody>
      </p:sp>
      <p:sp>
        <p:nvSpPr>
          <p:cNvPr id="6" name="灯片编号占位符 5"/>
          <p:cNvSpPr>
            <a:spLocks noGrp="1"/>
          </p:cNvSpPr>
          <p:nvPr>
            <p:ph type="sldNum" sz="quarter" idx="12"/>
          </p:nvPr>
        </p:nvSpPr>
        <p:spPr/>
        <p:txBody>
          <a:bodyPr/>
          <a:lstStyle/>
          <a:p>
            <a:pPr>
              <a:defRPr/>
            </a:pPr>
            <a:fld id="{535DE682-25FA-4AD9-894F-CDAF3A301B7A}" type="slidenum">
              <a:rPr lang="en-US" altLang="zh-CN"/>
              <a:pPr>
                <a:defRPr/>
              </a:pPr>
              <a:t>44</a:t>
            </a:fld>
            <a:endParaRPr lang="en-US" altLang="zh-CN"/>
          </a:p>
        </p:txBody>
      </p:sp>
      <p:sp>
        <p:nvSpPr>
          <p:cNvPr id="47108" name="Rectangle 2"/>
          <p:cNvSpPr>
            <a:spLocks noGrp="1" noChangeArrowheads="1"/>
          </p:cNvSpPr>
          <p:nvPr>
            <p:ph type="body" idx="1"/>
          </p:nvPr>
        </p:nvSpPr>
        <p:spPr/>
        <p:txBody>
          <a:bodyPr/>
          <a:lstStyle/>
          <a:p>
            <a:pPr eaLnBrk="1" hangingPunct="1">
              <a:lnSpc>
                <a:spcPct val="90000"/>
              </a:lnSpc>
            </a:pPr>
            <a:r>
              <a:rPr lang="zh-CN" altLang="en-US" smtClean="0"/>
              <a:t>最小项性质</a:t>
            </a:r>
          </a:p>
          <a:p>
            <a:pPr lvl="1" eaLnBrk="1" hangingPunct="1">
              <a:lnSpc>
                <a:spcPct val="90000"/>
              </a:lnSpc>
            </a:pPr>
            <a:r>
              <a:rPr lang="zh-CN" altLang="en-US" smtClean="0"/>
              <a:t>任意一个最小项只有一组与之相对应的变量组合取值使其值为</a:t>
            </a:r>
            <a:r>
              <a:rPr lang="en-US" altLang="zh-CN" smtClean="0"/>
              <a:t>1</a:t>
            </a:r>
            <a:r>
              <a:rPr lang="zh-CN" altLang="en-US" smtClean="0"/>
              <a:t>。</a:t>
            </a:r>
          </a:p>
          <a:p>
            <a:pPr lvl="1" eaLnBrk="1" hangingPunct="1">
              <a:lnSpc>
                <a:spcPct val="90000"/>
              </a:lnSpc>
            </a:pPr>
            <a:r>
              <a:rPr lang="en-US" altLang="zh-CN" smtClean="0"/>
              <a:t>n</a:t>
            </a:r>
            <a:r>
              <a:rPr lang="zh-CN" altLang="en-US" smtClean="0"/>
              <a:t>个变量的全体最小项共有</a:t>
            </a:r>
            <a:r>
              <a:rPr lang="en-US" altLang="zh-CN" smtClean="0"/>
              <a:t>2</a:t>
            </a:r>
            <a:r>
              <a:rPr lang="en-US" altLang="zh-CN" baseline="30000" smtClean="0"/>
              <a:t>n</a:t>
            </a:r>
            <a:r>
              <a:rPr lang="zh-CN" altLang="en-US" smtClean="0"/>
              <a:t>个，而且它们之和为</a:t>
            </a:r>
            <a:r>
              <a:rPr lang="en-US" altLang="zh-CN" smtClean="0"/>
              <a:t>1</a:t>
            </a:r>
            <a:r>
              <a:rPr lang="zh-CN" altLang="en-US" smtClean="0"/>
              <a:t>，记为：</a:t>
            </a:r>
          </a:p>
          <a:p>
            <a:pPr lvl="1" eaLnBrk="1" hangingPunct="1">
              <a:lnSpc>
                <a:spcPct val="90000"/>
              </a:lnSpc>
            </a:pPr>
            <a:endParaRPr lang="zh-CN" altLang="en-US" smtClean="0"/>
          </a:p>
          <a:p>
            <a:pPr lvl="1" eaLnBrk="1" hangingPunct="1">
              <a:lnSpc>
                <a:spcPct val="90000"/>
              </a:lnSpc>
            </a:pPr>
            <a:r>
              <a:rPr lang="zh-CN" altLang="en-US" smtClean="0"/>
              <a:t>任意两个最小项</a:t>
            </a:r>
            <a:r>
              <a:rPr lang="en-US" altLang="zh-CN" smtClean="0"/>
              <a:t>m</a:t>
            </a:r>
            <a:r>
              <a:rPr lang="en-US" altLang="zh-CN" baseline="-25000" smtClean="0"/>
              <a:t>i</a:t>
            </a:r>
            <a:r>
              <a:rPr lang="zh-CN" altLang="en-US" smtClean="0"/>
              <a:t>和</a:t>
            </a:r>
            <a:r>
              <a:rPr lang="en-US" altLang="zh-CN" smtClean="0"/>
              <a:t>m</a:t>
            </a:r>
            <a:r>
              <a:rPr lang="en-US" altLang="zh-CN" baseline="-25000" smtClean="0"/>
              <a:t>j</a:t>
            </a:r>
            <a:r>
              <a:rPr lang="en-US" altLang="zh-CN" smtClean="0"/>
              <a:t>(i≠j)</a:t>
            </a:r>
            <a:r>
              <a:rPr lang="zh-CN" altLang="en-US" smtClean="0"/>
              <a:t>之积为</a:t>
            </a:r>
            <a:r>
              <a:rPr lang="en-US" altLang="zh-CN" smtClean="0"/>
              <a:t>0</a:t>
            </a:r>
            <a:r>
              <a:rPr lang="zh-CN" altLang="en-US" smtClean="0"/>
              <a:t>，记为：</a:t>
            </a:r>
          </a:p>
          <a:p>
            <a:pPr lvl="1" algn="ctr" eaLnBrk="1" hangingPunct="1">
              <a:lnSpc>
                <a:spcPct val="90000"/>
              </a:lnSpc>
              <a:buFont typeface="Wingdings" pitchFamily="2" charset="2"/>
              <a:buNone/>
            </a:pPr>
            <a:r>
              <a:rPr lang="en-US" altLang="zh-CN" smtClean="0"/>
              <a:t>m</a:t>
            </a:r>
            <a:r>
              <a:rPr lang="en-US" altLang="zh-CN" baseline="-25000" smtClean="0"/>
              <a:t>i</a:t>
            </a:r>
            <a:r>
              <a:rPr lang="en-US" altLang="zh-CN" smtClean="0"/>
              <a:t>·m</a:t>
            </a:r>
            <a:r>
              <a:rPr lang="en-US" altLang="zh-CN" baseline="-25000" smtClean="0"/>
              <a:t>j</a:t>
            </a:r>
            <a:r>
              <a:rPr lang="en-US" altLang="zh-CN" smtClean="0"/>
              <a:t>=0     (i ≠j)</a:t>
            </a:r>
          </a:p>
          <a:p>
            <a:pPr lvl="1" eaLnBrk="1" hangingPunct="1">
              <a:lnSpc>
                <a:spcPct val="90000"/>
              </a:lnSpc>
            </a:pPr>
            <a:r>
              <a:rPr lang="en-US" altLang="zh-CN" smtClean="0"/>
              <a:t>n</a:t>
            </a:r>
            <a:r>
              <a:rPr lang="zh-CN" altLang="en-US" smtClean="0"/>
              <a:t>变量的最小项有</a:t>
            </a:r>
            <a:r>
              <a:rPr lang="en-US" altLang="zh-CN" smtClean="0"/>
              <a:t>n</a:t>
            </a:r>
            <a:r>
              <a:rPr lang="zh-CN" altLang="en-US" smtClean="0"/>
              <a:t>个相邻项</a:t>
            </a:r>
            <a:r>
              <a:rPr lang="en-US" altLang="zh-CN" smtClean="0"/>
              <a:t>(</a:t>
            </a:r>
            <a:r>
              <a:rPr lang="zh-CN" altLang="en-US" smtClean="0"/>
              <a:t>相邻项：两个最小项间只有一个变量不同</a:t>
            </a:r>
            <a:r>
              <a:rPr lang="en-US" altLang="zh-CN" smtClean="0"/>
              <a:t>)</a:t>
            </a:r>
          </a:p>
        </p:txBody>
      </p:sp>
      <p:sp>
        <p:nvSpPr>
          <p:cNvPr id="47109" name="Rectangle 3"/>
          <p:cNvSpPr>
            <a:spLocks noGrp="1" noChangeArrowheads="1"/>
          </p:cNvSpPr>
          <p:nvPr>
            <p:ph type="title"/>
          </p:nvPr>
        </p:nvSpPr>
        <p:spPr>
          <a:xfrm>
            <a:off x="1274763" y="533400"/>
            <a:ext cx="7793037" cy="609600"/>
          </a:xfrm>
        </p:spPr>
        <p:txBody>
          <a:bodyPr/>
          <a:lstStyle/>
          <a:p>
            <a:pPr eaLnBrk="1" hangingPunct="1"/>
            <a:r>
              <a:rPr lang="zh-CN" altLang="en-US" smtClean="0"/>
              <a:t>最小项表达式</a:t>
            </a:r>
          </a:p>
        </p:txBody>
      </p:sp>
      <p:graphicFrame>
        <p:nvGraphicFramePr>
          <p:cNvPr id="47110" name="Object 4"/>
          <p:cNvGraphicFramePr>
            <a:graphicFrameLocks noChangeAspect="1"/>
          </p:cNvGraphicFramePr>
          <p:nvPr/>
        </p:nvGraphicFramePr>
        <p:xfrm>
          <a:off x="3276600" y="3160713"/>
          <a:ext cx="1219200" cy="954087"/>
        </p:xfrm>
        <a:graphic>
          <a:graphicData uri="http://schemas.openxmlformats.org/presentationml/2006/ole">
            <mc:AlternateContent xmlns:mc="http://schemas.openxmlformats.org/markup-compatibility/2006">
              <mc:Choice xmlns:v="urn:schemas-microsoft-com:vml" Requires="v">
                <p:oleObj spid="_x0000_s47123" name="公式" r:id="rId3" imgW="583947" imgH="457002" progId="Equation.3">
                  <p:embed/>
                </p:oleObj>
              </mc:Choice>
              <mc:Fallback>
                <p:oleObj name="公式" r:id="rId3" imgW="583947" imgH="457002"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6600" y="3160713"/>
                        <a:ext cx="1219200" cy="954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random/>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日期占位符 3"/>
          <p:cNvSpPr>
            <a:spLocks noGrp="1"/>
          </p:cNvSpPr>
          <p:nvPr>
            <p:ph type="dt" sz="quarter" idx="10"/>
          </p:nvPr>
        </p:nvSpPr>
        <p:spPr/>
        <p:txBody>
          <a:bodyPr/>
          <a:lstStyle/>
          <a:p>
            <a:pPr>
              <a:defRPr/>
            </a:pPr>
            <a:fld id="{72FADF87-95AA-4F94-8492-3DDA893FA199}" type="datetime1">
              <a:rPr lang="zh-CN" altLang="en-US"/>
              <a:pPr>
                <a:defRPr/>
              </a:pPr>
              <a:t>2021/9/21</a:t>
            </a:fld>
            <a:endParaRPr lang="en-US" altLang="zh-CN"/>
          </a:p>
        </p:txBody>
      </p:sp>
      <p:sp>
        <p:nvSpPr>
          <p:cNvPr id="9" name="灯片编号占位符 5"/>
          <p:cNvSpPr>
            <a:spLocks noGrp="1"/>
          </p:cNvSpPr>
          <p:nvPr>
            <p:ph type="sldNum" sz="quarter" idx="12"/>
          </p:nvPr>
        </p:nvSpPr>
        <p:spPr/>
        <p:txBody>
          <a:bodyPr/>
          <a:lstStyle/>
          <a:p>
            <a:pPr>
              <a:defRPr/>
            </a:pPr>
            <a:fld id="{0C200343-5415-47BC-92E3-5B23135E83CE}" type="slidenum">
              <a:rPr lang="en-US" altLang="zh-CN"/>
              <a:pPr>
                <a:defRPr/>
              </a:pPr>
              <a:t>45</a:t>
            </a:fld>
            <a:endParaRPr lang="en-US" altLang="zh-CN"/>
          </a:p>
        </p:txBody>
      </p:sp>
      <p:sp>
        <p:nvSpPr>
          <p:cNvPr id="48132" name="Rectangle 2"/>
          <p:cNvSpPr>
            <a:spLocks noGrp="1" noChangeArrowheads="1"/>
          </p:cNvSpPr>
          <p:nvPr>
            <p:ph type="body" idx="1"/>
          </p:nvPr>
        </p:nvSpPr>
        <p:spPr>
          <a:xfrm>
            <a:off x="457200" y="1266825"/>
            <a:ext cx="8543925" cy="4876800"/>
          </a:xfrm>
        </p:spPr>
        <p:txBody>
          <a:bodyPr/>
          <a:lstStyle/>
          <a:p>
            <a:pPr eaLnBrk="1" hangingPunct="1">
              <a:lnSpc>
                <a:spcPct val="90000"/>
              </a:lnSpc>
            </a:pPr>
            <a:r>
              <a:rPr lang="zh-CN" altLang="en-US" sz="2400" smtClean="0">
                <a:solidFill>
                  <a:schemeClr val="folHlink"/>
                </a:solidFill>
              </a:rPr>
              <a:t>最大项</a:t>
            </a:r>
            <a:r>
              <a:rPr lang="en-US" altLang="zh-CN" sz="2400" smtClean="0"/>
              <a:t>(Maxterm)</a:t>
            </a:r>
            <a:r>
              <a:rPr lang="zh-CN" altLang="en-US" sz="2400" smtClean="0"/>
              <a:t>：一个具有</a:t>
            </a:r>
            <a:r>
              <a:rPr lang="en-US" altLang="zh-CN" sz="2400" smtClean="0"/>
              <a:t>n</a:t>
            </a:r>
            <a:r>
              <a:rPr lang="zh-CN" altLang="en-US" sz="2400" smtClean="0"/>
              <a:t>个变量的函数的“和”项如果包含全部的</a:t>
            </a:r>
            <a:r>
              <a:rPr lang="en-US" altLang="zh-CN" sz="2400" smtClean="0"/>
              <a:t>n</a:t>
            </a:r>
            <a:r>
              <a:rPr lang="zh-CN" altLang="en-US" sz="2400" smtClean="0"/>
              <a:t>个变量，每个变量都以原变量或反变量形式出现，且仅出现一次，则这个“和”项称为</a:t>
            </a:r>
            <a:r>
              <a:rPr lang="en-US" altLang="zh-CN" sz="2400" smtClean="0"/>
              <a:t>n</a:t>
            </a:r>
            <a:r>
              <a:rPr lang="zh-CN" altLang="en-US" sz="2400" smtClean="0"/>
              <a:t>个变量的最大项。</a:t>
            </a:r>
          </a:p>
          <a:p>
            <a:pPr eaLnBrk="1" hangingPunct="1">
              <a:lnSpc>
                <a:spcPct val="90000"/>
              </a:lnSpc>
            </a:pPr>
            <a:r>
              <a:rPr lang="zh-CN" altLang="en-US" sz="2400" smtClean="0">
                <a:solidFill>
                  <a:schemeClr val="folHlink"/>
                </a:solidFill>
              </a:rPr>
              <a:t>最大项表达式</a:t>
            </a:r>
            <a:r>
              <a:rPr lang="zh-CN" altLang="en-US" sz="2400" smtClean="0"/>
              <a:t>：由最大项之积所构成的函数表达式，亦称标准“和之积”表达式、标准或与式、逻辑函数的第二范式。</a:t>
            </a:r>
          </a:p>
          <a:p>
            <a:pPr eaLnBrk="1" hangingPunct="1">
              <a:lnSpc>
                <a:spcPct val="90000"/>
              </a:lnSpc>
            </a:pPr>
            <a:r>
              <a:rPr lang="zh-CN" altLang="en-US" sz="2400" smtClean="0"/>
              <a:t>表示形式</a:t>
            </a:r>
          </a:p>
          <a:p>
            <a:pPr lvl="1" eaLnBrk="1" hangingPunct="1">
              <a:lnSpc>
                <a:spcPct val="90000"/>
              </a:lnSpc>
            </a:pPr>
            <a:r>
              <a:rPr lang="zh-CN" altLang="en-US" sz="2000" smtClean="0"/>
              <a:t>最大项通常用</a:t>
            </a:r>
            <a:r>
              <a:rPr lang="en-US" altLang="zh-CN" sz="2000" smtClean="0"/>
              <a:t>M</a:t>
            </a:r>
            <a:r>
              <a:rPr lang="en-US" altLang="zh-CN" sz="2000" baseline="-25000" smtClean="0"/>
              <a:t>i</a:t>
            </a:r>
            <a:r>
              <a:rPr lang="zh-CN" altLang="en-US" sz="2000" smtClean="0"/>
              <a:t>表示</a:t>
            </a:r>
          </a:p>
          <a:p>
            <a:pPr lvl="2" eaLnBrk="1" hangingPunct="1">
              <a:lnSpc>
                <a:spcPct val="90000"/>
              </a:lnSpc>
            </a:pPr>
            <a:r>
              <a:rPr lang="zh-CN" altLang="en-US" sz="1800" smtClean="0"/>
              <a:t>下标</a:t>
            </a:r>
            <a:r>
              <a:rPr lang="en-US" altLang="zh-CN" sz="1800" smtClean="0"/>
              <a:t>i</a:t>
            </a:r>
            <a:r>
              <a:rPr lang="zh-CN" altLang="en-US" sz="1800" smtClean="0"/>
              <a:t>的确定规则：变量按一定次序排列，如果和项中的变量以原变量出现，则记以</a:t>
            </a:r>
            <a:r>
              <a:rPr lang="en-US" altLang="zh-CN" sz="1800" smtClean="0"/>
              <a:t>0</a:t>
            </a:r>
            <a:r>
              <a:rPr lang="zh-CN" altLang="en-US" sz="1800" smtClean="0"/>
              <a:t>；变量以反变量出现，则记以</a:t>
            </a:r>
            <a:r>
              <a:rPr lang="en-US" altLang="zh-CN" sz="1800" smtClean="0"/>
              <a:t>1</a:t>
            </a:r>
            <a:r>
              <a:rPr lang="zh-CN" altLang="en-US" sz="1800" smtClean="0"/>
              <a:t>。这样构成的二进制数的转换码所对应的十进制数就是该最大项</a:t>
            </a:r>
            <a:r>
              <a:rPr lang="en-US" altLang="zh-CN" sz="1800" smtClean="0"/>
              <a:t>M</a:t>
            </a:r>
            <a:r>
              <a:rPr lang="en-US" altLang="zh-CN" sz="1800" baseline="-25000" smtClean="0"/>
              <a:t>i</a:t>
            </a:r>
            <a:r>
              <a:rPr lang="zh-CN" altLang="en-US" sz="1800" smtClean="0"/>
              <a:t>的下标</a:t>
            </a:r>
            <a:r>
              <a:rPr lang="en-US" altLang="zh-CN" sz="1800" smtClean="0"/>
              <a:t>i</a:t>
            </a:r>
            <a:r>
              <a:rPr lang="zh-CN" altLang="en-US" sz="1800" smtClean="0"/>
              <a:t>的值。</a:t>
            </a:r>
          </a:p>
          <a:p>
            <a:pPr lvl="1" eaLnBrk="1" hangingPunct="1">
              <a:lnSpc>
                <a:spcPct val="90000"/>
              </a:lnSpc>
            </a:pPr>
            <a:r>
              <a:rPr lang="zh-CN" altLang="en-US" sz="2000" smtClean="0"/>
              <a:t>最大项表达式的表示形式</a:t>
            </a:r>
          </a:p>
          <a:p>
            <a:pPr lvl="1" eaLnBrk="1" hangingPunct="1">
              <a:lnSpc>
                <a:spcPct val="90000"/>
              </a:lnSpc>
              <a:buFont typeface="Wingdings" pitchFamily="2" charset="2"/>
              <a:buNone/>
            </a:pPr>
            <a:r>
              <a:rPr lang="zh-CN" altLang="en-US" sz="2000" smtClean="0"/>
              <a:t>              </a:t>
            </a:r>
            <a:r>
              <a:rPr lang="en-US" altLang="zh-CN" sz="2000" smtClean="0"/>
              <a:t>F(A,B,C)=(A+B+C)(A+B+C)(A+B+C)(A+B+C)</a:t>
            </a:r>
          </a:p>
          <a:p>
            <a:pPr lvl="1" eaLnBrk="1" hangingPunct="1">
              <a:lnSpc>
                <a:spcPct val="90000"/>
              </a:lnSpc>
              <a:buFont typeface="Wingdings" pitchFamily="2" charset="2"/>
              <a:buNone/>
            </a:pPr>
            <a:r>
              <a:rPr lang="en-US" altLang="zh-CN" sz="2000" smtClean="0"/>
              <a:t>                          =M</a:t>
            </a:r>
            <a:r>
              <a:rPr lang="en-US" altLang="zh-CN" sz="2000" baseline="-25000" smtClean="0"/>
              <a:t>0</a:t>
            </a:r>
            <a:r>
              <a:rPr lang="en-US" altLang="zh-CN" sz="2000" smtClean="0"/>
              <a:t>M</a:t>
            </a:r>
            <a:r>
              <a:rPr lang="en-US" altLang="zh-CN" sz="2000" baseline="-25000" smtClean="0"/>
              <a:t>1</a:t>
            </a:r>
            <a:r>
              <a:rPr lang="en-US" altLang="zh-CN" sz="2000" smtClean="0"/>
              <a:t>M</a:t>
            </a:r>
            <a:r>
              <a:rPr lang="en-US" altLang="zh-CN" sz="2000" baseline="-25000" smtClean="0"/>
              <a:t>4</a:t>
            </a:r>
            <a:r>
              <a:rPr lang="en-US" altLang="zh-CN" sz="2000" smtClean="0"/>
              <a:t>M</a:t>
            </a:r>
            <a:r>
              <a:rPr lang="en-US" altLang="zh-CN" sz="2000" baseline="-25000" smtClean="0"/>
              <a:t>5</a:t>
            </a:r>
          </a:p>
          <a:p>
            <a:pPr lvl="1" eaLnBrk="1" hangingPunct="1">
              <a:lnSpc>
                <a:spcPct val="90000"/>
              </a:lnSpc>
              <a:buFont typeface="Wingdings" pitchFamily="2" charset="2"/>
              <a:buNone/>
            </a:pPr>
            <a:r>
              <a:rPr lang="en-US" altLang="zh-CN" sz="2000" smtClean="0"/>
              <a:t>                          =</a:t>
            </a:r>
            <a:r>
              <a:rPr lang="en-US" altLang="zh-CN" sz="2400" b="1" smtClean="0"/>
              <a:t>∏</a:t>
            </a:r>
            <a:r>
              <a:rPr lang="en-US" altLang="zh-CN" sz="2000" smtClean="0"/>
              <a:t>M(0,1,4,5)</a:t>
            </a:r>
          </a:p>
        </p:txBody>
      </p:sp>
      <p:sp>
        <p:nvSpPr>
          <p:cNvPr id="48133" name="Rectangle 3"/>
          <p:cNvSpPr>
            <a:spLocks noGrp="1" noChangeArrowheads="1"/>
          </p:cNvSpPr>
          <p:nvPr>
            <p:ph type="title"/>
          </p:nvPr>
        </p:nvSpPr>
        <p:spPr>
          <a:xfrm>
            <a:off x="1274763" y="533400"/>
            <a:ext cx="7793037" cy="609600"/>
          </a:xfrm>
        </p:spPr>
        <p:txBody>
          <a:bodyPr/>
          <a:lstStyle/>
          <a:p>
            <a:pPr eaLnBrk="1" hangingPunct="1"/>
            <a:r>
              <a:rPr lang="zh-CN" altLang="en-US" smtClean="0"/>
              <a:t>最大项表达式</a:t>
            </a:r>
          </a:p>
        </p:txBody>
      </p:sp>
      <p:sp>
        <p:nvSpPr>
          <p:cNvPr id="48134" name="Line 4"/>
          <p:cNvSpPr>
            <a:spLocks noChangeShapeType="1"/>
          </p:cNvSpPr>
          <p:nvPr/>
        </p:nvSpPr>
        <p:spPr bwMode="auto">
          <a:xfrm>
            <a:off x="5029200" y="4941888"/>
            <a:ext cx="1524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8135" name="Line 5"/>
          <p:cNvSpPr>
            <a:spLocks noChangeShapeType="1"/>
          </p:cNvSpPr>
          <p:nvPr/>
        </p:nvSpPr>
        <p:spPr bwMode="auto">
          <a:xfrm>
            <a:off x="5384800" y="4962525"/>
            <a:ext cx="1524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8136" name="Line 6"/>
          <p:cNvSpPr>
            <a:spLocks noChangeShapeType="1"/>
          </p:cNvSpPr>
          <p:nvPr/>
        </p:nvSpPr>
        <p:spPr bwMode="auto">
          <a:xfrm>
            <a:off x="6400800" y="4975225"/>
            <a:ext cx="1524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8137" name="Line 7"/>
          <p:cNvSpPr>
            <a:spLocks noChangeShapeType="1"/>
          </p:cNvSpPr>
          <p:nvPr/>
        </p:nvSpPr>
        <p:spPr bwMode="auto">
          <a:xfrm>
            <a:off x="7073900" y="4967288"/>
            <a:ext cx="1524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Tree>
  </p:cSld>
  <p:clrMapOvr>
    <a:masterClrMapping/>
  </p:clrMapOvr>
  <p:transition>
    <p:random/>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quarter" idx="10"/>
          </p:nvPr>
        </p:nvSpPr>
        <p:spPr/>
        <p:txBody>
          <a:bodyPr/>
          <a:lstStyle/>
          <a:p>
            <a:pPr>
              <a:defRPr/>
            </a:pPr>
            <a:fld id="{5039F47D-A853-4B21-A894-15CDE5D87586}" type="datetime1">
              <a:rPr lang="zh-CN" altLang="en-US" smtClean="0"/>
              <a:pPr>
                <a:defRPr/>
              </a:pPr>
              <a:t>2021/9/21</a:t>
            </a:fld>
            <a:endParaRPr lang="en-US" altLang="zh-CN"/>
          </a:p>
        </p:txBody>
      </p:sp>
      <p:sp>
        <p:nvSpPr>
          <p:cNvPr id="3" name="灯片编号占位符 2"/>
          <p:cNvSpPr>
            <a:spLocks noGrp="1"/>
          </p:cNvSpPr>
          <p:nvPr>
            <p:ph type="sldNum" sz="quarter" idx="12"/>
          </p:nvPr>
        </p:nvSpPr>
        <p:spPr/>
        <p:txBody>
          <a:bodyPr/>
          <a:lstStyle/>
          <a:p>
            <a:pPr>
              <a:defRPr/>
            </a:pPr>
            <a:fld id="{1CDDED05-15CD-4477-A8AF-065CA14EF17C}" type="slidenum">
              <a:rPr lang="en-US" altLang="zh-CN" smtClean="0"/>
              <a:pPr>
                <a:defRPr/>
              </a:pPr>
              <a:t>46</a:t>
            </a:fld>
            <a:endParaRPr lang="en-US" altLang="zh-CN"/>
          </a:p>
        </p:txBody>
      </p:sp>
      <p:pic>
        <p:nvPicPr>
          <p:cNvPr id="4915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4500" y="1428750"/>
            <a:ext cx="6000750" cy="330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15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8838" y="5000625"/>
            <a:ext cx="53721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158"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43250" y="5929313"/>
            <a:ext cx="13239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quarter" idx="10"/>
          </p:nvPr>
        </p:nvSpPr>
        <p:spPr/>
        <p:txBody>
          <a:bodyPr/>
          <a:lstStyle/>
          <a:p>
            <a:pPr>
              <a:defRPr/>
            </a:pPr>
            <a:fld id="{5039F47D-A853-4B21-A894-15CDE5D87586}" type="datetime1">
              <a:rPr lang="zh-CN" altLang="en-US" smtClean="0"/>
              <a:pPr>
                <a:defRPr/>
              </a:pPr>
              <a:t>2021/9/21</a:t>
            </a:fld>
            <a:endParaRPr lang="en-US" altLang="zh-CN"/>
          </a:p>
        </p:txBody>
      </p:sp>
      <p:sp>
        <p:nvSpPr>
          <p:cNvPr id="3" name="灯片编号占位符 2"/>
          <p:cNvSpPr>
            <a:spLocks noGrp="1"/>
          </p:cNvSpPr>
          <p:nvPr>
            <p:ph type="sldNum" sz="quarter" idx="12"/>
          </p:nvPr>
        </p:nvSpPr>
        <p:spPr/>
        <p:txBody>
          <a:bodyPr/>
          <a:lstStyle/>
          <a:p>
            <a:pPr>
              <a:defRPr/>
            </a:pPr>
            <a:fld id="{72690EF4-A892-4323-AF5E-C88BD1A94050}" type="slidenum">
              <a:rPr lang="en-US" altLang="zh-CN" smtClean="0"/>
              <a:pPr>
                <a:defRPr/>
              </a:pPr>
              <a:t>47</a:t>
            </a:fld>
            <a:endParaRPr lang="en-US" altLang="zh-CN"/>
          </a:p>
        </p:txBody>
      </p:sp>
      <p:pic>
        <p:nvPicPr>
          <p:cNvPr id="5018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428625"/>
            <a:ext cx="7286625" cy="3071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8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71750" y="3500438"/>
            <a:ext cx="3686175"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82"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8688" y="4386263"/>
            <a:ext cx="7319962" cy="2328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p:txBody>
          <a:bodyPr/>
          <a:lstStyle/>
          <a:p>
            <a:pPr>
              <a:defRPr/>
            </a:pPr>
            <a:fld id="{2281845B-15F7-42C4-A1F8-84F265CE048E}" type="datetime1">
              <a:rPr lang="zh-CN" altLang="en-US"/>
              <a:pPr>
                <a:defRPr/>
              </a:pPr>
              <a:t>2021/9/21</a:t>
            </a:fld>
            <a:endParaRPr lang="en-US" altLang="zh-CN"/>
          </a:p>
        </p:txBody>
      </p:sp>
      <p:sp>
        <p:nvSpPr>
          <p:cNvPr id="6" name="灯片编号占位符 5"/>
          <p:cNvSpPr>
            <a:spLocks noGrp="1"/>
          </p:cNvSpPr>
          <p:nvPr>
            <p:ph type="sldNum" sz="quarter" idx="12"/>
          </p:nvPr>
        </p:nvSpPr>
        <p:spPr/>
        <p:txBody>
          <a:bodyPr/>
          <a:lstStyle/>
          <a:p>
            <a:pPr>
              <a:defRPr/>
            </a:pPr>
            <a:fld id="{89E637BB-BC63-4511-92BA-C37D9284CED2}" type="slidenum">
              <a:rPr lang="en-US" altLang="zh-CN"/>
              <a:pPr>
                <a:defRPr/>
              </a:pPr>
              <a:t>48</a:t>
            </a:fld>
            <a:endParaRPr lang="en-US" altLang="zh-CN"/>
          </a:p>
        </p:txBody>
      </p:sp>
      <p:sp>
        <p:nvSpPr>
          <p:cNvPr id="51204" name="Rectangle 2"/>
          <p:cNvSpPr>
            <a:spLocks noGrp="1" noChangeArrowheads="1"/>
          </p:cNvSpPr>
          <p:nvPr>
            <p:ph type="body" idx="1"/>
          </p:nvPr>
        </p:nvSpPr>
        <p:spPr/>
        <p:txBody>
          <a:bodyPr/>
          <a:lstStyle/>
          <a:p>
            <a:pPr eaLnBrk="1" hangingPunct="1"/>
            <a:r>
              <a:rPr lang="zh-CN" altLang="en-US" smtClean="0"/>
              <a:t>最大项性质</a:t>
            </a:r>
          </a:p>
          <a:p>
            <a:pPr lvl="1" eaLnBrk="1" hangingPunct="1"/>
            <a:r>
              <a:rPr lang="zh-CN" altLang="en-US" smtClean="0"/>
              <a:t>每个最大项只有一组输入变量组合取值使其值为</a:t>
            </a:r>
            <a:r>
              <a:rPr lang="en-US" altLang="zh-CN" smtClean="0"/>
              <a:t>0</a:t>
            </a:r>
            <a:r>
              <a:rPr lang="zh-CN" altLang="en-US" smtClean="0"/>
              <a:t>。</a:t>
            </a:r>
          </a:p>
          <a:p>
            <a:pPr lvl="1" eaLnBrk="1" hangingPunct="1"/>
            <a:r>
              <a:rPr lang="en-US" altLang="zh-CN" smtClean="0"/>
              <a:t>n</a:t>
            </a:r>
            <a:r>
              <a:rPr lang="zh-CN" altLang="en-US" smtClean="0"/>
              <a:t>个变量的全部最大项共有</a:t>
            </a:r>
            <a:r>
              <a:rPr lang="en-US" altLang="zh-CN" smtClean="0"/>
              <a:t>2</a:t>
            </a:r>
            <a:r>
              <a:rPr lang="en-US" altLang="zh-CN" baseline="30000" smtClean="0"/>
              <a:t>n</a:t>
            </a:r>
            <a:r>
              <a:rPr lang="zh-CN" altLang="en-US" smtClean="0"/>
              <a:t>个，而且它们之积为</a:t>
            </a:r>
            <a:r>
              <a:rPr lang="en-US" altLang="zh-CN" smtClean="0"/>
              <a:t>0</a:t>
            </a:r>
            <a:r>
              <a:rPr lang="zh-CN" altLang="en-US" smtClean="0"/>
              <a:t>，记为：</a:t>
            </a:r>
          </a:p>
          <a:p>
            <a:pPr lvl="1" eaLnBrk="1" hangingPunct="1"/>
            <a:endParaRPr lang="zh-CN" altLang="en-US" smtClean="0"/>
          </a:p>
          <a:p>
            <a:pPr lvl="1" eaLnBrk="1" hangingPunct="1"/>
            <a:r>
              <a:rPr lang="zh-CN" altLang="en-US" smtClean="0"/>
              <a:t>任意两个最大项</a:t>
            </a:r>
            <a:r>
              <a:rPr lang="en-US" altLang="zh-CN" smtClean="0"/>
              <a:t>M</a:t>
            </a:r>
            <a:r>
              <a:rPr lang="en-US" altLang="zh-CN" baseline="-25000" smtClean="0"/>
              <a:t>i</a:t>
            </a:r>
            <a:r>
              <a:rPr lang="zh-CN" altLang="en-US" smtClean="0"/>
              <a:t>和</a:t>
            </a:r>
            <a:r>
              <a:rPr lang="en-US" altLang="zh-CN" smtClean="0"/>
              <a:t>M</a:t>
            </a:r>
            <a:r>
              <a:rPr lang="en-US" altLang="zh-CN" baseline="-25000" smtClean="0"/>
              <a:t>j</a:t>
            </a:r>
            <a:r>
              <a:rPr lang="en-US" altLang="zh-CN" smtClean="0"/>
              <a:t>(i≠j)</a:t>
            </a:r>
            <a:r>
              <a:rPr lang="zh-CN" altLang="en-US" smtClean="0"/>
              <a:t>之和为</a:t>
            </a:r>
            <a:r>
              <a:rPr lang="en-US" altLang="zh-CN" smtClean="0"/>
              <a:t>1</a:t>
            </a:r>
            <a:r>
              <a:rPr lang="zh-CN" altLang="en-US" smtClean="0"/>
              <a:t>，记为：</a:t>
            </a:r>
          </a:p>
          <a:p>
            <a:pPr lvl="1" algn="ctr" eaLnBrk="1" hangingPunct="1">
              <a:buFont typeface="Wingdings" pitchFamily="2" charset="2"/>
              <a:buNone/>
            </a:pPr>
            <a:r>
              <a:rPr lang="en-US" altLang="zh-CN" smtClean="0"/>
              <a:t>M</a:t>
            </a:r>
            <a:r>
              <a:rPr lang="en-US" altLang="zh-CN" baseline="-25000" smtClean="0"/>
              <a:t>i</a:t>
            </a:r>
            <a:r>
              <a:rPr lang="en-US" altLang="zh-CN" smtClean="0"/>
              <a:t>+M</a:t>
            </a:r>
            <a:r>
              <a:rPr lang="en-US" altLang="zh-CN" baseline="-25000" smtClean="0"/>
              <a:t>j</a:t>
            </a:r>
            <a:r>
              <a:rPr lang="en-US" altLang="zh-CN" smtClean="0"/>
              <a:t>=1     (i ≠j)</a:t>
            </a:r>
          </a:p>
          <a:p>
            <a:pPr lvl="1" eaLnBrk="1" hangingPunct="1"/>
            <a:r>
              <a:rPr lang="en-US" altLang="zh-CN" smtClean="0"/>
              <a:t>n</a:t>
            </a:r>
            <a:r>
              <a:rPr lang="zh-CN" altLang="en-US" smtClean="0"/>
              <a:t>变量的最大项有</a:t>
            </a:r>
            <a:r>
              <a:rPr lang="en-US" altLang="zh-CN" smtClean="0"/>
              <a:t>n</a:t>
            </a:r>
            <a:r>
              <a:rPr lang="zh-CN" altLang="en-US" smtClean="0"/>
              <a:t>个邻项</a:t>
            </a:r>
          </a:p>
        </p:txBody>
      </p:sp>
      <p:sp>
        <p:nvSpPr>
          <p:cNvPr id="51205" name="Rectangle 3"/>
          <p:cNvSpPr>
            <a:spLocks noGrp="1" noChangeArrowheads="1"/>
          </p:cNvSpPr>
          <p:nvPr>
            <p:ph type="title"/>
          </p:nvPr>
        </p:nvSpPr>
        <p:spPr>
          <a:xfrm>
            <a:off x="1274763" y="533400"/>
            <a:ext cx="7793037" cy="609600"/>
          </a:xfrm>
        </p:spPr>
        <p:txBody>
          <a:bodyPr/>
          <a:lstStyle/>
          <a:p>
            <a:pPr eaLnBrk="1" hangingPunct="1"/>
            <a:r>
              <a:rPr lang="zh-CN" altLang="en-US" smtClean="0"/>
              <a:t>最大项表达式</a:t>
            </a:r>
          </a:p>
        </p:txBody>
      </p:sp>
      <p:graphicFrame>
        <p:nvGraphicFramePr>
          <p:cNvPr id="51206" name="Object 4"/>
          <p:cNvGraphicFramePr>
            <a:graphicFrameLocks noChangeAspect="1"/>
          </p:cNvGraphicFramePr>
          <p:nvPr/>
        </p:nvGraphicFramePr>
        <p:xfrm>
          <a:off x="3270250" y="3389313"/>
          <a:ext cx="1377950" cy="954087"/>
        </p:xfrm>
        <a:graphic>
          <a:graphicData uri="http://schemas.openxmlformats.org/presentationml/2006/ole">
            <mc:AlternateContent xmlns:mc="http://schemas.openxmlformats.org/markup-compatibility/2006">
              <mc:Choice xmlns:v="urn:schemas-microsoft-com:vml" Requires="v">
                <p:oleObj spid="_x0000_s51219" name="公式" r:id="rId3" imgW="660400" imgH="457200" progId="Equation.3">
                  <p:embed/>
                </p:oleObj>
              </mc:Choice>
              <mc:Fallback>
                <p:oleObj name="公式" r:id="rId3" imgW="660400" imgH="4572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0250" y="3389313"/>
                        <a:ext cx="1377950" cy="954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random/>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quarter" idx="10"/>
          </p:nvPr>
        </p:nvSpPr>
        <p:spPr/>
        <p:txBody>
          <a:bodyPr/>
          <a:lstStyle/>
          <a:p>
            <a:pPr>
              <a:defRPr/>
            </a:pPr>
            <a:fld id="{DF8EFE81-7249-49FB-BD55-C604D4135271}" type="datetime1">
              <a:rPr lang="zh-CN" altLang="en-US"/>
              <a:pPr>
                <a:defRPr/>
              </a:pPr>
              <a:t>2021/9/21</a:t>
            </a:fld>
            <a:endParaRPr lang="en-US" altLang="zh-CN"/>
          </a:p>
        </p:txBody>
      </p:sp>
      <p:sp>
        <p:nvSpPr>
          <p:cNvPr id="7" name="灯片编号占位符 5"/>
          <p:cNvSpPr>
            <a:spLocks noGrp="1"/>
          </p:cNvSpPr>
          <p:nvPr>
            <p:ph type="sldNum" sz="quarter" idx="12"/>
          </p:nvPr>
        </p:nvSpPr>
        <p:spPr/>
        <p:txBody>
          <a:bodyPr/>
          <a:lstStyle/>
          <a:p>
            <a:pPr>
              <a:defRPr/>
            </a:pPr>
            <a:fld id="{49B3E9CF-2C4C-4AEB-A2F9-2F6F8CDB4622}" type="slidenum">
              <a:rPr lang="en-US" altLang="zh-CN"/>
              <a:pPr>
                <a:defRPr/>
              </a:pPr>
              <a:t>49</a:t>
            </a:fld>
            <a:endParaRPr lang="en-US" altLang="zh-CN"/>
          </a:p>
        </p:txBody>
      </p:sp>
      <p:sp>
        <p:nvSpPr>
          <p:cNvPr id="52228" name="Rectangle 2"/>
          <p:cNvSpPr>
            <a:spLocks noGrp="1" noChangeArrowheads="1"/>
          </p:cNvSpPr>
          <p:nvPr>
            <p:ph type="title"/>
          </p:nvPr>
        </p:nvSpPr>
        <p:spPr>
          <a:xfrm>
            <a:off x="1150938" y="533400"/>
            <a:ext cx="7793037" cy="609600"/>
          </a:xfrm>
        </p:spPr>
        <p:txBody>
          <a:bodyPr/>
          <a:lstStyle/>
          <a:p>
            <a:pPr eaLnBrk="1" hangingPunct="1"/>
            <a:r>
              <a:rPr lang="zh-CN" altLang="en-US" smtClean="0"/>
              <a:t>两种标准形式的关系</a:t>
            </a:r>
            <a:endParaRPr lang="zh-CN" altLang="en-US" sz="2400" smtClean="0"/>
          </a:p>
        </p:txBody>
      </p:sp>
      <p:sp>
        <p:nvSpPr>
          <p:cNvPr id="52229" name="Rectangle 3"/>
          <p:cNvSpPr>
            <a:spLocks noGrp="1" noChangeArrowheads="1"/>
          </p:cNvSpPr>
          <p:nvPr>
            <p:ph type="body" idx="1"/>
          </p:nvPr>
        </p:nvSpPr>
        <p:spPr/>
        <p:txBody>
          <a:bodyPr/>
          <a:lstStyle/>
          <a:p>
            <a:pPr eaLnBrk="1" hangingPunct="1"/>
            <a:r>
              <a:rPr lang="zh-CN" altLang="en-US" smtClean="0"/>
              <a:t>最小项和最大项是互补的关系：</a:t>
            </a:r>
          </a:p>
          <a:p>
            <a:pPr lvl="1" algn="ctr" eaLnBrk="1" hangingPunct="1">
              <a:buFont typeface="Wingdings" pitchFamily="2" charset="2"/>
              <a:buNone/>
            </a:pPr>
            <a:r>
              <a:rPr lang="en-US" altLang="zh-CN" smtClean="0"/>
              <a:t>M</a:t>
            </a:r>
            <a:r>
              <a:rPr lang="en-US" altLang="zh-CN" baseline="-25000" smtClean="0"/>
              <a:t>i</a:t>
            </a:r>
            <a:r>
              <a:rPr lang="en-US" altLang="zh-CN" smtClean="0"/>
              <a:t>=m</a:t>
            </a:r>
            <a:r>
              <a:rPr lang="en-US" altLang="zh-CN" baseline="-25000" smtClean="0"/>
              <a:t>i</a:t>
            </a:r>
            <a:r>
              <a:rPr lang="en-US" altLang="zh-CN" smtClean="0"/>
              <a:t>           M</a:t>
            </a:r>
            <a:r>
              <a:rPr lang="en-US" altLang="zh-CN" baseline="-25000" smtClean="0"/>
              <a:t>i</a:t>
            </a:r>
            <a:r>
              <a:rPr lang="en-US" altLang="zh-CN" smtClean="0"/>
              <a:t>=m</a:t>
            </a:r>
            <a:r>
              <a:rPr lang="en-US" altLang="zh-CN" baseline="-25000" smtClean="0"/>
              <a:t>i</a:t>
            </a:r>
            <a:endParaRPr lang="en-US" altLang="zh-CN" smtClean="0"/>
          </a:p>
          <a:p>
            <a:pPr lvl="1" algn="ctr" eaLnBrk="1" hangingPunct="1">
              <a:buFont typeface="Wingdings" pitchFamily="2" charset="2"/>
              <a:buNone/>
            </a:pPr>
            <a:endParaRPr lang="en-US" altLang="zh-CN" smtClean="0"/>
          </a:p>
          <a:p>
            <a:pPr lvl="1" algn="ctr" eaLnBrk="1" hangingPunct="1">
              <a:buFont typeface="Wingdings" pitchFamily="2" charset="2"/>
              <a:buNone/>
            </a:pPr>
            <a:endParaRPr lang="en-US" altLang="zh-CN" smtClean="0"/>
          </a:p>
          <a:p>
            <a:pPr lvl="1" algn="ctr" eaLnBrk="1" hangingPunct="1">
              <a:buFont typeface="Wingdings" pitchFamily="2" charset="2"/>
              <a:buNone/>
            </a:pPr>
            <a:r>
              <a:rPr lang="en-US" altLang="zh-CN" smtClean="0"/>
              <a:t>M</a:t>
            </a:r>
            <a:r>
              <a:rPr lang="en-US" altLang="zh-CN" baseline="-25000" smtClean="0"/>
              <a:t>i</a:t>
            </a:r>
            <a:r>
              <a:rPr lang="en-US" altLang="zh-CN" smtClean="0"/>
              <a:t>+m</a:t>
            </a:r>
            <a:r>
              <a:rPr lang="en-US" altLang="zh-CN" baseline="-25000" smtClean="0"/>
              <a:t>i</a:t>
            </a:r>
            <a:r>
              <a:rPr lang="en-US" altLang="zh-CN" smtClean="0"/>
              <a:t>=1        M</a:t>
            </a:r>
            <a:r>
              <a:rPr lang="en-US" altLang="zh-CN" baseline="-25000" smtClean="0"/>
              <a:t>i</a:t>
            </a:r>
            <a:r>
              <a:rPr lang="en-US" altLang="zh-CN" smtClean="0"/>
              <a:t>·m</a:t>
            </a:r>
            <a:r>
              <a:rPr lang="en-US" altLang="zh-CN" baseline="-25000" smtClean="0"/>
              <a:t>i</a:t>
            </a:r>
            <a:r>
              <a:rPr lang="en-US" altLang="zh-CN" smtClean="0"/>
              <a:t>=0</a:t>
            </a:r>
          </a:p>
          <a:p>
            <a:pPr eaLnBrk="1" hangingPunct="1"/>
            <a:r>
              <a:rPr lang="zh-CN" altLang="en-US" smtClean="0"/>
              <a:t>任一逻辑函数，都可以表示成“最小项之和”及“最大项之积”形式</a:t>
            </a:r>
          </a:p>
          <a:p>
            <a:pPr lvl="1" eaLnBrk="1" hangingPunct="1"/>
            <a:r>
              <a:rPr lang="zh-CN" altLang="en-US" smtClean="0"/>
              <a:t>方法：逻辑函数的一种标准形式转换成另一种标准形式时，互换∑和∏符号，并在符号后列出原函数中缺少的那些数字</a:t>
            </a:r>
          </a:p>
        </p:txBody>
      </p:sp>
      <p:sp>
        <p:nvSpPr>
          <p:cNvPr id="52230" name="Line 4"/>
          <p:cNvSpPr>
            <a:spLocks noChangeShapeType="1"/>
          </p:cNvSpPr>
          <p:nvPr/>
        </p:nvSpPr>
        <p:spPr bwMode="auto">
          <a:xfrm>
            <a:off x="3886200" y="2057400"/>
            <a:ext cx="3048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2231" name="Line 5"/>
          <p:cNvSpPr>
            <a:spLocks noChangeShapeType="1"/>
          </p:cNvSpPr>
          <p:nvPr/>
        </p:nvSpPr>
        <p:spPr bwMode="auto">
          <a:xfrm>
            <a:off x="5486400" y="2057400"/>
            <a:ext cx="3048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pic>
        <p:nvPicPr>
          <p:cNvPr id="52232"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3125" y="2786063"/>
            <a:ext cx="2366963"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233"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29188" y="2786063"/>
            <a:ext cx="3262312"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0AD95667-646F-4F77-8CA3-3715741DDB4F}" type="datetime1">
              <a:rPr lang="zh-CN" altLang="en-US"/>
              <a:pPr>
                <a:defRPr/>
              </a:pPr>
              <a:t>2021/9/21</a:t>
            </a:fld>
            <a:endParaRPr lang="en-US" altLang="zh-CN"/>
          </a:p>
        </p:txBody>
      </p:sp>
      <p:sp>
        <p:nvSpPr>
          <p:cNvPr id="5" name="灯片编号占位符 5"/>
          <p:cNvSpPr>
            <a:spLocks noGrp="1"/>
          </p:cNvSpPr>
          <p:nvPr>
            <p:ph type="sldNum" sz="quarter" idx="12"/>
          </p:nvPr>
        </p:nvSpPr>
        <p:spPr/>
        <p:txBody>
          <a:bodyPr/>
          <a:lstStyle/>
          <a:p>
            <a:pPr>
              <a:defRPr/>
            </a:pPr>
            <a:fld id="{8ACF7F30-6B5B-44E8-9AA2-4B8DB75CD7BD}" type="slidenum">
              <a:rPr lang="en-US" altLang="zh-CN"/>
              <a:pPr>
                <a:defRPr/>
              </a:pPr>
              <a:t>50</a:t>
            </a:fld>
            <a:endParaRPr lang="en-US" altLang="zh-CN"/>
          </a:p>
        </p:txBody>
      </p:sp>
      <p:sp>
        <p:nvSpPr>
          <p:cNvPr id="53252" name="Rectangle 2"/>
          <p:cNvSpPr>
            <a:spLocks noGrp="1" noChangeArrowheads="1"/>
          </p:cNvSpPr>
          <p:nvPr>
            <p:ph type="title"/>
          </p:nvPr>
        </p:nvSpPr>
        <p:spPr>
          <a:xfrm>
            <a:off x="1150938" y="533400"/>
            <a:ext cx="7793037" cy="609600"/>
          </a:xfrm>
        </p:spPr>
        <p:txBody>
          <a:bodyPr/>
          <a:lstStyle/>
          <a:p>
            <a:pPr eaLnBrk="1" hangingPunct="1"/>
            <a:r>
              <a:rPr lang="zh-CN" altLang="en-US" smtClean="0"/>
              <a:t>逻辑函数表达式的转换</a:t>
            </a:r>
            <a:endParaRPr lang="zh-CN" altLang="en-US" sz="2400" smtClean="0"/>
          </a:p>
        </p:txBody>
      </p:sp>
      <p:sp>
        <p:nvSpPr>
          <p:cNvPr id="53253" name="Rectangle 3"/>
          <p:cNvSpPr>
            <a:spLocks noGrp="1" noChangeArrowheads="1"/>
          </p:cNvSpPr>
          <p:nvPr>
            <p:ph type="body" idx="1"/>
          </p:nvPr>
        </p:nvSpPr>
        <p:spPr/>
        <p:txBody>
          <a:bodyPr/>
          <a:lstStyle/>
          <a:p>
            <a:pPr eaLnBrk="1" hangingPunct="1"/>
            <a:r>
              <a:rPr lang="zh-CN" altLang="en-US" smtClean="0"/>
              <a:t>代数转换法</a:t>
            </a:r>
          </a:p>
          <a:p>
            <a:pPr eaLnBrk="1" hangingPunct="1"/>
            <a:r>
              <a:rPr lang="zh-CN" altLang="en-US" smtClean="0"/>
              <a:t>真值表转换法</a:t>
            </a:r>
          </a:p>
        </p:txBody>
      </p:sp>
    </p:spTree>
  </p:cSld>
  <p:clrMapOvr>
    <a:masterClrMapping/>
  </p:clrMapOvr>
  <p:transition>
    <p:random/>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B609DA3D-84B6-422F-82AA-F2E4D54229FA}" type="datetime1">
              <a:rPr lang="zh-CN" altLang="en-US"/>
              <a:pPr>
                <a:defRPr/>
              </a:pPr>
              <a:t>2021/9/21</a:t>
            </a:fld>
            <a:endParaRPr lang="en-US" altLang="zh-CN"/>
          </a:p>
        </p:txBody>
      </p:sp>
      <p:sp>
        <p:nvSpPr>
          <p:cNvPr id="5" name="灯片编号占位符 5"/>
          <p:cNvSpPr>
            <a:spLocks noGrp="1"/>
          </p:cNvSpPr>
          <p:nvPr>
            <p:ph type="sldNum" sz="quarter" idx="12"/>
          </p:nvPr>
        </p:nvSpPr>
        <p:spPr/>
        <p:txBody>
          <a:bodyPr/>
          <a:lstStyle/>
          <a:p>
            <a:pPr>
              <a:defRPr/>
            </a:pPr>
            <a:fld id="{8314B9B8-F474-4735-8CFB-2A7CE4A96FFE}" type="slidenum">
              <a:rPr lang="en-US" altLang="zh-CN"/>
              <a:pPr>
                <a:defRPr/>
              </a:pPr>
              <a:t>51</a:t>
            </a:fld>
            <a:endParaRPr lang="en-US" altLang="zh-CN"/>
          </a:p>
        </p:txBody>
      </p:sp>
      <p:sp>
        <p:nvSpPr>
          <p:cNvPr id="54276" name="Rectangle 2"/>
          <p:cNvSpPr>
            <a:spLocks noGrp="1" noChangeArrowheads="1"/>
          </p:cNvSpPr>
          <p:nvPr>
            <p:ph type="title"/>
          </p:nvPr>
        </p:nvSpPr>
        <p:spPr>
          <a:xfrm>
            <a:off x="1150938" y="533400"/>
            <a:ext cx="7793037" cy="609600"/>
          </a:xfrm>
        </p:spPr>
        <p:txBody>
          <a:bodyPr/>
          <a:lstStyle/>
          <a:p>
            <a:pPr eaLnBrk="1" hangingPunct="1"/>
            <a:r>
              <a:rPr lang="zh-CN" altLang="en-US" smtClean="0"/>
              <a:t>代数转换法</a:t>
            </a:r>
          </a:p>
        </p:txBody>
      </p:sp>
      <p:sp>
        <p:nvSpPr>
          <p:cNvPr id="54277" name="Rectangle 3"/>
          <p:cNvSpPr>
            <a:spLocks noGrp="1" noChangeArrowheads="1"/>
          </p:cNvSpPr>
          <p:nvPr>
            <p:ph type="body" idx="1"/>
          </p:nvPr>
        </p:nvSpPr>
        <p:spPr>
          <a:xfrm>
            <a:off x="457200" y="1214438"/>
            <a:ext cx="8543925" cy="4876800"/>
          </a:xfrm>
        </p:spPr>
        <p:txBody>
          <a:bodyPr/>
          <a:lstStyle/>
          <a:p>
            <a:pPr eaLnBrk="1" hangingPunct="1"/>
            <a:r>
              <a:rPr lang="zh-CN" altLang="en-US" sz="2400" smtClean="0"/>
              <a:t>用代数转换法将逻辑函数表达式</a:t>
            </a:r>
            <a:r>
              <a:rPr lang="zh-CN" altLang="en-US" sz="2400" smtClean="0">
                <a:solidFill>
                  <a:schemeClr val="folHlink"/>
                </a:solidFill>
              </a:rPr>
              <a:t>转换成“最小项之和”形式</a:t>
            </a:r>
          </a:p>
          <a:p>
            <a:pPr lvl="1" eaLnBrk="1" hangingPunct="1"/>
            <a:r>
              <a:rPr lang="zh-CN" altLang="en-US" sz="2000" smtClean="0"/>
              <a:t>第一步，将函数表达式转换成</a:t>
            </a:r>
            <a:r>
              <a:rPr lang="zh-CN" altLang="en-US" sz="2000" smtClean="0">
                <a:solidFill>
                  <a:schemeClr val="folHlink"/>
                </a:solidFill>
              </a:rPr>
              <a:t>一般“与</a:t>
            </a:r>
            <a:r>
              <a:rPr lang="en-US" altLang="zh-CN" sz="2000" smtClean="0">
                <a:solidFill>
                  <a:schemeClr val="folHlink"/>
                </a:solidFill>
              </a:rPr>
              <a:t>-</a:t>
            </a:r>
            <a:r>
              <a:rPr lang="zh-CN" altLang="en-US" sz="2000" smtClean="0">
                <a:solidFill>
                  <a:schemeClr val="folHlink"/>
                </a:solidFill>
              </a:rPr>
              <a:t>或”表达式</a:t>
            </a:r>
          </a:p>
          <a:p>
            <a:pPr lvl="1" eaLnBrk="1" hangingPunct="1"/>
            <a:r>
              <a:rPr lang="zh-CN" altLang="en-US" sz="2000" smtClean="0"/>
              <a:t>第二步，将函数表达式中的非最小项的</a:t>
            </a:r>
            <a:r>
              <a:rPr lang="zh-CN" altLang="en-US" sz="2000" smtClean="0">
                <a:solidFill>
                  <a:schemeClr val="folHlink"/>
                </a:solidFill>
              </a:rPr>
              <a:t>“与”项都扩展成最小项</a:t>
            </a:r>
          </a:p>
        </p:txBody>
      </p:sp>
      <p:pic>
        <p:nvPicPr>
          <p:cNvPr id="54278"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8750" y="2643188"/>
            <a:ext cx="1809750" cy="328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279"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4625" y="3114675"/>
            <a:ext cx="4543425"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280"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28750" y="4071938"/>
            <a:ext cx="3571875"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quarter" idx="10"/>
          </p:nvPr>
        </p:nvSpPr>
        <p:spPr/>
        <p:txBody>
          <a:bodyPr/>
          <a:lstStyle/>
          <a:p>
            <a:pPr>
              <a:defRPr/>
            </a:pPr>
            <a:fld id="{5039F47D-A853-4B21-A894-15CDE5D87586}" type="datetime1">
              <a:rPr lang="zh-CN" altLang="en-US" smtClean="0"/>
              <a:pPr>
                <a:defRPr/>
              </a:pPr>
              <a:t>2021/9/21</a:t>
            </a:fld>
            <a:endParaRPr lang="en-US" altLang="zh-CN"/>
          </a:p>
        </p:txBody>
      </p:sp>
      <p:sp>
        <p:nvSpPr>
          <p:cNvPr id="3" name="灯片编号占位符 2"/>
          <p:cNvSpPr>
            <a:spLocks noGrp="1"/>
          </p:cNvSpPr>
          <p:nvPr>
            <p:ph type="sldNum" sz="quarter" idx="12"/>
          </p:nvPr>
        </p:nvSpPr>
        <p:spPr/>
        <p:txBody>
          <a:bodyPr/>
          <a:lstStyle/>
          <a:p>
            <a:pPr>
              <a:defRPr/>
            </a:pPr>
            <a:fld id="{5B2F71C0-3B3B-486D-8852-F7F7C26D33F8}" type="slidenum">
              <a:rPr lang="en-US" altLang="zh-CN" smtClean="0"/>
              <a:pPr>
                <a:defRPr/>
              </a:pPr>
              <a:t>52</a:t>
            </a:fld>
            <a:endParaRPr lang="en-US" altLang="zh-CN"/>
          </a:p>
        </p:txBody>
      </p:sp>
      <p:pic>
        <p:nvPicPr>
          <p:cNvPr id="5530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8750" y="872653"/>
            <a:ext cx="4595813" cy="2138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0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8750" y="3444403"/>
            <a:ext cx="4572000"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0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0188" y="4730278"/>
            <a:ext cx="3714750"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B609DA3D-84B6-422F-82AA-F2E4D54229FA}" type="datetime1">
              <a:rPr lang="zh-CN" altLang="en-US"/>
              <a:pPr>
                <a:defRPr/>
              </a:pPr>
              <a:t>2021/9/21</a:t>
            </a:fld>
            <a:endParaRPr lang="en-US" altLang="zh-CN"/>
          </a:p>
        </p:txBody>
      </p:sp>
      <p:sp>
        <p:nvSpPr>
          <p:cNvPr id="5" name="灯片编号占位符 5"/>
          <p:cNvSpPr>
            <a:spLocks noGrp="1"/>
          </p:cNvSpPr>
          <p:nvPr>
            <p:ph type="sldNum" sz="quarter" idx="12"/>
          </p:nvPr>
        </p:nvSpPr>
        <p:spPr/>
        <p:txBody>
          <a:bodyPr/>
          <a:lstStyle/>
          <a:p>
            <a:pPr>
              <a:defRPr/>
            </a:pPr>
            <a:fld id="{E6CA1F98-C1CE-45F6-ABD6-E184947F2469}" type="slidenum">
              <a:rPr lang="en-US" altLang="zh-CN"/>
              <a:pPr>
                <a:defRPr/>
              </a:pPr>
              <a:t>53</a:t>
            </a:fld>
            <a:endParaRPr lang="en-US" altLang="zh-CN"/>
          </a:p>
        </p:txBody>
      </p:sp>
      <p:sp>
        <p:nvSpPr>
          <p:cNvPr id="56324" name="Rectangle 2"/>
          <p:cNvSpPr>
            <a:spLocks noGrp="1" noChangeArrowheads="1"/>
          </p:cNvSpPr>
          <p:nvPr>
            <p:ph type="title"/>
          </p:nvPr>
        </p:nvSpPr>
        <p:spPr>
          <a:xfrm>
            <a:off x="1150938" y="533400"/>
            <a:ext cx="7793037" cy="609600"/>
          </a:xfrm>
        </p:spPr>
        <p:txBody>
          <a:bodyPr/>
          <a:lstStyle/>
          <a:p>
            <a:pPr eaLnBrk="1" hangingPunct="1"/>
            <a:r>
              <a:rPr lang="zh-CN" altLang="en-US" smtClean="0"/>
              <a:t>代数转换法</a:t>
            </a:r>
          </a:p>
        </p:txBody>
      </p:sp>
      <p:sp>
        <p:nvSpPr>
          <p:cNvPr id="56325" name="Rectangle 3"/>
          <p:cNvSpPr>
            <a:spLocks noGrp="1" noChangeArrowheads="1"/>
          </p:cNvSpPr>
          <p:nvPr>
            <p:ph type="body" idx="1"/>
          </p:nvPr>
        </p:nvSpPr>
        <p:spPr>
          <a:xfrm>
            <a:off x="285750" y="1371600"/>
            <a:ext cx="8858250" cy="4876800"/>
          </a:xfrm>
        </p:spPr>
        <p:txBody>
          <a:bodyPr/>
          <a:lstStyle/>
          <a:p>
            <a:pPr eaLnBrk="1" hangingPunct="1"/>
            <a:r>
              <a:rPr lang="zh-CN" altLang="en-US" sz="2400" dirty="0" smtClean="0"/>
              <a:t>用代数转换法将逻辑函数表达式</a:t>
            </a:r>
            <a:r>
              <a:rPr lang="zh-CN" altLang="en-US" sz="2400" dirty="0" smtClean="0">
                <a:solidFill>
                  <a:schemeClr val="folHlink"/>
                </a:solidFill>
              </a:rPr>
              <a:t>转换成“最大项之</a:t>
            </a:r>
            <a:r>
              <a:rPr lang="zh-CN" altLang="en-US" sz="2400" dirty="0">
                <a:solidFill>
                  <a:schemeClr val="folHlink"/>
                </a:solidFill>
              </a:rPr>
              <a:t>积</a:t>
            </a:r>
            <a:r>
              <a:rPr lang="zh-CN" altLang="en-US" sz="2400" dirty="0" smtClean="0">
                <a:solidFill>
                  <a:schemeClr val="folHlink"/>
                </a:solidFill>
              </a:rPr>
              <a:t>”形式</a:t>
            </a:r>
          </a:p>
          <a:p>
            <a:pPr lvl="1" eaLnBrk="1" hangingPunct="1"/>
            <a:r>
              <a:rPr lang="zh-CN" altLang="en-US" sz="2000" dirty="0" smtClean="0"/>
              <a:t>第一步，将函数表达式转换成</a:t>
            </a:r>
            <a:r>
              <a:rPr lang="zh-CN" altLang="en-US" sz="2000" dirty="0" smtClean="0">
                <a:solidFill>
                  <a:schemeClr val="folHlink"/>
                </a:solidFill>
              </a:rPr>
              <a:t>一般“或</a:t>
            </a:r>
            <a:r>
              <a:rPr lang="en-US" altLang="zh-CN" sz="2000" dirty="0" smtClean="0">
                <a:solidFill>
                  <a:schemeClr val="folHlink"/>
                </a:solidFill>
              </a:rPr>
              <a:t>-</a:t>
            </a:r>
            <a:r>
              <a:rPr lang="zh-CN" altLang="en-US" sz="2000" dirty="0" smtClean="0">
                <a:solidFill>
                  <a:schemeClr val="folHlink"/>
                </a:solidFill>
              </a:rPr>
              <a:t>与”表达式</a:t>
            </a:r>
          </a:p>
          <a:p>
            <a:pPr lvl="1" eaLnBrk="1" hangingPunct="1"/>
            <a:r>
              <a:rPr lang="zh-CN" altLang="en-US" sz="2000" dirty="0" smtClean="0"/>
              <a:t>第二步，将函数表达式中的非最大项的</a:t>
            </a:r>
            <a:r>
              <a:rPr lang="zh-CN" altLang="en-US" sz="2000" dirty="0" smtClean="0">
                <a:solidFill>
                  <a:schemeClr val="folHlink"/>
                </a:solidFill>
              </a:rPr>
              <a:t>“或”项都扩展成最大项</a:t>
            </a:r>
          </a:p>
        </p:txBody>
      </p:sp>
      <p:pic>
        <p:nvPicPr>
          <p:cNvPr id="563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8688" y="2857500"/>
            <a:ext cx="1743075"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8688" y="3357563"/>
            <a:ext cx="2505075" cy="1042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8688" y="4429125"/>
            <a:ext cx="4929187" cy="128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29"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28688" y="6000750"/>
            <a:ext cx="2428875"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组合 24"/>
          <p:cNvGrpSpPr>
            <a:grpSpLocks/>
          </p:cNvGrpSpPr>
          <p:nvPr/>
        </p:nvGrpSpPr>
        <p:grpSpPr bwMode="auto">
          <a:xfrm>
            <a:off x="1381088" y="116632"/>
            <a:ext cx="7643812" cy="1809750"/>
            <a:chOff x="1142976" y="862144"/>
            <a:chExt cx="7643866" cy="1809726"/>
          </a:xfrm>
        </p:grpSpPr>
        <p:sp>
          <p:nvSpPr>
            <p:cNvPr id="11" name="矩形 10"/>
            <p:cNvSpPr/>
            <p:nvPr/>
          </p:nvSpPr>
          <p:spPr>
            <a:xfrm>
              <a:off x="1142976" y="862144"/>
              <a:ext cx="7643866" cy="1809726"/>
            </a:xfrm>
            <a:prstGeom prst="rect">
              <a:avLst/>
            </a:prstGeom>
            <a:solidFill>
              <a:schemeClr val="accent1">
                <a:lumMod val="40000"/>
                <a:lumOff val="60000"/>
              </a:schemeClr>
            </a:solidFill>
            <a:ln>
              <a:solidFill>
                <a:schemeClr val="accent1"/>
              </a:solidFill>
            </a:ln>
          </p:spPr>
          <p:txBody>
            <a:bodyPr>
              <a:spAutoFit/>
            </a:bodyPr>
            <a:lstStyle/>
            <a:p>
              <a:pPr>
                <a:lnSpc>
                  <a:spcPct val="90000"/>
                </a:lnSpc>
                <a:defRPr/>
              </a:pPr>
              <a:r>
                <a:rPr lang="zh-CN" altLang="en-US" b="1" dirty="0">
                  <a:ea typeface="宋体" pitchFamily="2" charset="-122"/>
                </a:rPr>
                <a:t>公理系统</a:t>
              </a:r>
            </a:p>
            <a:p>
              <a:pPr lvl="1">
                <a:lnSpc>
                  <a:spcPct val="90000"/>
                </a:lnSpc>
                <a:defRPr/>
              </a:pPr>
              <a:r>
                <a:rPr lang="zh-CN" altLang="en-US" sz="2000" b="1" dirty="0">
                  <a:ea typeface="宋体" pitchFamily="2" charset="-122"/>
                </a:rPr>
                <a:t>公理</a:t>
              </a:r>
              <a:r>
                <a:rPr lang="en-US" altLang="zh-CN" sz="2000" b="1" dirty="0">
                  <a:ea typeface="宋体" pitchFamily="2" charset="-122"/>
                </a:rPr>
                <a:t>1</a:t>
              </a:r>
              <a:r>
                <a:rPr lang="zh-CN" altLang="en-US" sz="2000" b="1" dirty="0">
                  <a:ea typeface="宋体" pitchFamily="2" charset="-122"/>
                </a:rPr>
                <a:t>，交换律：</a:t>
              </a:r>
              <a:r>
                <a:rPr lang="en-US" altLang="zh-CN" sz="2000" b="1" dirty="0">
                  <a:ea typeface="宋体" pitchFamily="2" charset="-122"/>
                </a:rPr>
                <a:t>A+B=B+A                         A·B=B·A</a:t>
              </a:r>
            </a:p>
            <a:p>
              <a:pPr lvl="1">
                <a:lnSpc>
                  <a:spcPct val="90000"/>
                </a:lnSpc>
                <a:defRPr/>
              </a:pPr>
              <a:r>
                <a:rPr lang="zh-CN" altLang="en-US" sz="2000" b="1" dirty="0">
                  <a:ea typeface="宋体" pitchFamily="2" charset="-122"/>
                </a:rPr>
                <a:t>公理</a:t>
              </a:r>
              <a:r>
                <a:rPr lang="en-US" altLang="zh-CN" sz="2000" b="1" dirty="0">
                  <a:ea typeface="宋体" pitchFamily="2" charset="-122"/>
                </a:rPr>
                <a:t>2</a:t>
              </a:r>
              <a:r>
                <a:rPr lang="zh-CN" altLang="en-US" sz="2000" b="1" dirty="0">
                  <a:ea typeface="宋体" pitchFamily="2" charset="-122"/>
                </a:rPr>
                <a:t>，结合律：</a:t>
              </a:r>
              <a:r>
                <a:rPr lang="en-US" altLang="zh-CN" sz="2000" b="1" dirty="0">
                  <a:ea typeface="宋体" pitchFamily="2" charset="-122"/>
                </a:rPr>
                <a:t>(A+B)+C= A+(B+C)        (A·B) ·C= A·(B·C)</a:t>
              </a:r>
            </a:p>
            <a:p>
              <a:pPr lvl="1">
                <a:lnSpc>
                  <a:spcPct val="90000"/>
                </a:lnSpc>
                <a:defRPr/>
              </a:pPr>
              <a:r>
                <a:rPr lang="zh-CN" altLang="en-US" sz="2000" b="1" dirty="0">
                  <a:ea typeface="宋体" pitchFamily="2" charset="-122"/>
                </a:rPr>
                <a:t>公理</a:t>
              </a:r>
              <a:r>
                <a:rPr lang="en-US" altLang="zh-CN" sz="2000" b="1" dirty="0">
                  <a:ea typeface="宋体" pitchFamily="2" charset="-122"/>
                </a:rPr>
                <a:t>3</a:t>
              </a:r>
              <a:r>
                <a:rPr lang="zh-CN" altLang="en-US" sz="2000" b="1" dirty="0">
                  <a:ea typeface="宋体" pitchFamily="2" charset="-122"/>
                </a:rPr>
                <a:t>，分配律：</a:t>
              </a:r>
              <a:r>
                <a:rPr lang="en-US" altLang="zh-CN" sz="2000" b="1" dirty="0">
                  <a:ea typeface="宋体" pitchFamily="2" charset="-122"/>
                </a:rPr>
                <a:t>A+(B·C)=(A+B)·(A+C)    A·(B+C)=A·B+A·C</a:t>
              </a:r>
            </a:p>
            <a:p>
              <a:pPr lvl="1">
                <a:lnSpc>
                  <a:spcPct val="90000"/>
                </a:lnSpc>
                <a:defRPr/>
              </a:pPr>
              <a:r>
                <a:rPr lang="zh-CN" altLang="en-US" sz="2000" b="1" dirty="0">
                  <a:ea typeface="宋体" pitchFamily="2" charset="-122"/>
                </a:rPr>
                <a:t>公理</a:t>
              </a:r>
              <a:r>
                <a:rPr lang="en-US" altLang="zh-CN" sz="2000" b="1" dirty="0">
                  <a:ea typeface="宋体" pitchFamily="2" charset="-122"/>
                </a:rPr>
                <a:t>4</a:t>
              </a:r>
              <a:r>
                <a:rPr lang="zh-CN" altLang="en-US" sz="2000" b="1" dirty="0">
                  <a:ea typeface="宋体" pitchFamily="2" charset="-122"/>
                </a:rPr>
                <a:t>，  </a:t>
              </a:r>
              <a:r>
                <a:rPr lang="en-US" altLang="zh-CN" sz="2000" b="1" dirty="0">
                  <a:ea typeface="宋体" pitchFamily="2" charset="-122"/>
                </a:rPr>
                <a:t>0-1</a:t>
              </a:r>
              <a:r>
                <a:rPr lang="zh-CN" altLang="en-US" sz="2000" b="1" dirty="0">
                  <a:ea typeface="宋体" pitchFamily="2" charset="-122"/>
                </a:rPr>
                <a:t>律： </a:t>
              </a:r>
              <a:r>
                <a:rPr lang="en-US" altLang="zh-CN" sz="2000" b="1" dirty="0">
                  <a:ea typeface="宋体" pitchFamily="2" charset="-122"/>
                </a:rPr>
                <a:t>A+0=A    A·1=A                A+1=1    A·0=0</a:t>
              </a:r>
            </a:p>
            <a:p>
              <a:pPr lvl="1">
                <a:lnSpc>
                  <a:spcPct val="90000"/>
                </a:lnSpc>
                <a:defRPr/>
              </a:pPr>
              <a:r>
                <a:rPr lang="zh-CN" altLang="en-US" sz="2000" b="1" dirty="0">
                  <a:ea typeface="宋体" pitchFamily="2" charset="-122"/>
                </a:rPr>
                <a:t>公理</a:t>
              </a:r>
              <a:r>
                <a:rPr lang="en-US" altLang="zh-CN" sz="2000" b="1" dirty="0">
                  <a:ea typeface="宋体" pitchFamily="2" charset="-122"/>
                </a:rPr>
                <a:t>5</a:t>
              </a:r>
              <a:r>
                <a:rPr lang="zh-CN" altLang="en-US" sz="2000" b="1" dirty="0">
                  <a:ea typeface="宋体" pitchFamily="2" charset="-122"/>
                </a:rPr>
                <a:t>，互补律：</a:t>
              </a:r>
              <a:r>
                <a:rPr lang="en-US" altLang="zh-CN" sz="2000" b="1" dirty="0">
                  <a:ea typeface="宋体" pitchFamily="2" charset="-122"/>
                </a:rPr>
                <a:t>A+A=1    A·A=0 </a:t>
              </a:r>
            </a:p>
          </p:txBody>
        </p:sp>
        <p:sp>
          <p:nvSpPr>
            <p:cNvPr id="56332" name="Line 5"/>
            <p:cNvSpPr>
              <a:spLocks noChangeShapeType="1"/>
            </p:cNvSpPr>
            <p:nvPr/>
          </p:nvSpPr>
          <p:spPr bwMode="auto">
            <a:xfrm>
              <a:off x="4857752" y="2357430"/>
              <a:ext cx="2286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6333" name="Line 6"/>
            <p:cNvSpPr>
              <a:spLocks noChangeShapeType="1"/>
            </p:cNvSpPr>
            <p:nvPr/>
          </p:nvSpPr>
          <p:spPr bwMode="auto">
            <a:xfrm>
              <a:off x="3929058" y="2357430"/>
              <a:ext cx="2286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6023F0A6-5078-4B41-BFED-1A222E8659CD}" type="datetime1">
              <a:rPr lang="zh-CN" altLang="en-US"/>
              <a:pPr>
                <a:defRPr/>
              </a:pPr>
              <a:t>2021/9/21</a:t>
            </a:fld>
            <a:endParaRPr lang="en-US" altLang="zh-CN"/>
          </a:p>
        </p:txBody>
      </p:sp>
      <p:sp>
        <p:nvSpPr>
          <p:cNvPr id="5" name="灯片编号占位符 5"/>
          <p:cNvSpPr>
            <a:spLocks noGrp="1"/>
          </p:cNvSpPr>
          <p:nvPr>
            <p:ph type="sldNum" sz="quarter" idx="12"/>
          </p:nvPr>
        </p:nvSpPr>
        <p:spPr/>
        <p:txBody>
          <a:bodyPr/>
          <a:lstStyle/>
          <a:p>
            <a:pPr>
              <a:defRPr/>
            </a:pPr>
            <a:fld id="{FF9BD9A3-5880-4DC3-9BED-869BF70EF005}" type="slidenum">
              <a:rPr lang="en-US" altLang="zh-CN"/>
              <a:pPr>
                <a:defRPr/>
              </a:pPr>
              <a:t>54</a:t>
            </a:fld>
            <a:endParaRPr lang="en-US" altLang="zh-CN"/>
          </a:p>
        </p:txBody>
      </p:sp>
      <p:sp>
        <p:nvSpPr>
          <p:cNvPr id="57348" name="Rectangle 2"/>
          <p:cNvSpPr>
            <a:spLocks noGrp="1" noChangeArrowheads="1"/>
          </p:cNvSpPr>
          <p:nvPr>
            <p:ph type="title"/>
          </p:nvPr>
        </p:nvSpPr>
        <p:spPr>
          <a:xfrm>
            <a:off x="1150938" y="533400"/>
            <a:ext cx="7793037" cy="609600"/>
          </a:xfrm>
        </p:spPr>
        <p:txBody>
          <a:bodyPr/>
          <a:lstStyle/>
          <a:p>
            <a:pPr eaLnBrk="1" hangingPunct="1"/>
            <a:r>
              <a:rPr lang="zh-CN" altLang="en-US" smtClean="0"/>
              <a:t>真值表转换法</a:t>
            </a:r>
          </a:p>
        </p:txBody>
      </p:sp>
      <p:sp>
        <p:nvSpPr>
          <p:cNvPr id="57349" name="Rectangle 3"/>
          <p:cNvSpPr>
            <a:spLocks noGrp="1" noChangeArrowheads="1"/>
          </p:cNvSpPr>
          <p:nvPr>
            <p:ph type="body" idx="1"/>
          </p:nvPr>
        </p:nvSpPr>
        <p:spPr/>
        <p:txBody>
          <a:bodyPr/>
          <a:lstStyle/>
          <a:p>
            <a:pPr eaLnBrk="1" hangingPunct="1"/>
            <a:r>
              <a:rPr lang="zh-CN" altLang="en-US" smtClean="0"/>
              <a:t>化为“最小项之和”形式</a:t>
            </a:r>
          </a:p>
          <a:p>
            <a:pPr lvl="1" eaLnBrk="1" hangingPunct="1"/>
            <a:r>
              <a:rPr lang="zh-CN" altLang="en-US" smtClean="0"/>
              <a:t>假如在函数</a:t>
            </a:r>
            <a:r>
              <a:rPr lang="en-US" altLang="zh-CN" smtClean="0"/>
              <a:t>F</a:t>
            </a:r>
            <a:r>
              <a:rPr lang="zh-CN" altLang="en-US" smtClean="0"/>
              <a:t>的真值表中有</a:t>
            </a:r>
            <a:r>
              <a:rPr lang="en-US" altLang="zh-CN" smtClean="0"/>
              <a:t>n</a:t>
            </a:r>
            <a:r>
              <a:rPr lang="zh-CN" altLang="en-US" smtClean="0"/>
              <a:t>组变量的取值使函数</a:t>
            </a:r>
            <a:r>
              <a:rPr lang="en-US" altLang="zh-CN" smtClean="0"/>
              <a:t>F</a:t>
            </a:r>
            <a:r>
              <a:rPr lang="zh-CN" altLang="en-US" smtClean="0"/>
              <a:t>的值为</a:t>
            </a:r>
            <a:r>
              <a:rPr lang="en-US" altLang="zh-CN" smtClean="0"/>
              <a:t>1</a:t>
            </a:r>
            <a:r>
              <a:rPr lang="zh-CN" altLang="en-US" smtClean="0"/>
              <a:t>，那么函数</a:t>
            </a:r>
            <a:r>
              <a:rPr lang="en-US" altLang="zh-CN" smtClean="0"/>
              <a:t>F</a:t>
            </a:r>
            <a:r>
              <a:rPr lang="zh-CN" altLang="en-US" smtClean="0"/>
              <a:t>的“最小项之和”形式由这</a:t>
            </a:r>
            <a:r>
              <a:rPr lang="en-US" altLang="zh-CN" smtClean="0"/>
              <a:t>n</a:t>
            </a:r>
            <a:r>
              <a:rPr lang="zh-CN" altLang="en-US" smtClean="0"/>
              <a:t>组变量取值对应的</a:t>
            </a:r>
            <a:r>
              <a:rPr lang="en-US" altLang="zh-CN" smtClean="0"/>
              <a:t>n</a:t>
            </a:r>
            <a:r>
              <a:rPr lang="zh-CN" altLang="en-US" smtClean="0"/>
              <a:t>个最小项组成</a:t>
            </a:r>
          </a:p>
          <a:p>
            <a:pPr eaLnBrk="1" hangingPunct="1"/>
            <a:r>
              <a:rPr lang="zh-CN" altLang="en-US" smtClean="0"/>
              <a:t>化为“最大项之积”形式</a:t>
            </a:r>
          </a:p>
          <a:p>
            <a:pPr lvl="1" eaLnBrk="1" hangingPunct="1"/>
            <a:r>
              <a:rPr lang="zh-CN" altLang="en-US" smtClean="0"/>
              <a:t>假如在函数</a:t>
            </a:r>
            <a:r>
              <a:rPr lang="en-US" altLang="zh-CN" smtClean="0"/>
              <a:t>F</a:t>
            </a:r>
            <a:r>
              <a:rPr lang="zh-CN" altLang="en-US" smtClean="0"/>
              <a:t>的真值表中有</a:t>
            </a:r>
            <a:r>
              <a:rPr lang="en-US" altLang="zh-CN" smtClean="0"/>
              <a:t>n</a:t>
            </a:r>
            <a:r>
              <a:rPr lang="zh-CN" altLang="en-US" smtClean="0"/>
              <a:t>组变量的取值使函数</a:t>
            </a:r>
            <a:r>
              <a:rPr lang="en-US" altLang="zh-CN" smtClean="0"/>
              <a:t>F</a:t>
            </a:r>
            <a:r>
              <a:rPr lang="zh-CN" altLang="en-US" smtClean="0"/>
              <a:t>的值为</a:t>
            </a:r>
            <a:r>
              <a:rPr lang="en-US" altLang="zh-CN" smtClean="0"/>
              <a:t>0</a:t>
            </a:r>
            <a:r>
              <a:rPr lang="zh-CN" altLang="en-US" smtClean="0"/>
              <a:t>，那么函数</a:t>
            </a:r>
            <a:r>
              <a:rPr lang="en-US" altLang="zh-CN" smtClean="0"/>
              <a:t>F</a:t>
            </a:r>
            <a:r>
              <a:rPr lang="zh-CN" altLang="en-US" smtClean="0"/>
              <a:t>的“最大项之积”形式由这</a:t>
            </a:r>
            <a:r>
              <a:rPr lang="en-US" altLang="zh-CN" smtClean="0"/>
              <a:t>n</a:t>
            </a:r>
            <a:r>
              <a:rPr lang="zh-CN" altLang="en-US" smtClean="0"/>
              <a:t>组变量取值对应的</a:t>
            </a:r>
            <a:r>
              <a:rPr lang="en-US" altLang="zh-CN" smtClean="0"/>
              <a:t>n</a:t>
            </a:r>
            <a:r>
              <a:rPr lang="zh-CN" altLang="en-US" smtClean="0"/>
              <a:t>个最大项组成</a:t>
            </a:r>
          </a:p>
        </p:txBody>
      </p:sp>
    </p:spTree>
  </p:cSld>
  <p:clrMapOvr>
    <a:masterClrMapping/>
  </p:clrMapOvr>
  <p:transition>
    <p:random/>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quarter" idx="10"/>
          </p:nvPr>
        </p:nvSpPr>
        <p:spPr/>
        <p:txBody>
          <a:bodyPr/>
          <a:lstStyle/>
          <a:p>
            <a:pPr>
              <a:defRPr/>
            </a:pPr>
            <a:fld id="{5039F47D-A853-4B21-A894-15CDE5D87586}" type="datetime1">
              <a:rPr lang="zh-CN" altLang="en-US" smtClean="0"/>
              <a:pPr>
                <a:defRPr/>
              </a:pPr>
              <a:t>2021/9/21</a:t>
            </a:fld>
            <a:endParaRPr lang="en-US" altLang="zh-CN"/>
          </a:p>
        </p:txBody>
      </p:sp>
      <p:sp>
        <p:nvSpPr>
          <p:cNvPr id="3" name="灯片编号占位符 2"/>
          <p:cNvSpPr>
            <a:spLocks noGrp="1"/>
          </p:cNvSpPr>
          <p:nvPr>
            <p:ph type="sldNum" sz="quarter" idx="12"/>
          </p:nvPr>
        </p:nvSpPr>
        <p:spPr/>
        <p:txBody>
          <a:bodyPr/>
          <a:lstStyle/>
          <a:p>
            <a:pPr>
              <a:defRPr/>
            </a:pPr>
            <a:fld id="{56ABDC08-A668-4367-B5A5-F19A217816F8}" type="slidenum">
              <a:rPr lang="en-US" altLang="zh-CN" smtClean="0"/>
              <a:pPr>
                <a:defRPr/>
              </a:pPr>
              <a:t>55</a:t>
            </a:fld>
            <a:endParaRPr lang="en-US" altLang="zh-CN"/>
          </a:p>
        </p:txBody>
      </p:sp>
      <p:pic>
        <p:nvPicPr>
          <p:cNvPr id="5837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8263" y="214313"/>
            <a:ext cx="6467475" cy="300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7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5875" y="3571875"/>
            <a:ext cx="6667500" cy="285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ADC98188-7203-46CD-965C-86D08B86618F}" type="datetime1">
              <a:rPr lang="zh-CN" altLang="en-US"/>
              <a:pPr>
                <a:defRPr/>
              </a:pPr>
              <a:t>2021/9/21</a:t>
            </a:fld>
            <a:endParaRPr lang="en-US" altLang="zh-CN"/>
          </a:p>
        </p:txBody>
      </p:sp>
      <p:sp>
        <p:nvSpPr>
          <p:cNvPr id="5" name="灯片编号占位符 5"/>
          <p:cNvSpPr>
            <a:spLocks noGrp="1"/>
          </p:cNvSpPr>
          <p:nvPr>
            <p:ph type="sldNum" sz="quarter" idx="12"/>
          </p:nvPr>
        </p:nvSpPr>
        <p:spPr/>
        <p:txBody>
          <a:bodyPr/>
          <a:lstStyle/>
          <a:p>
            <a:pPr>
              <a:defRPr/>
            </a:pPr>
            <a:fld id="{011A4924-4F86-4163-BD65-CB213F9CE02E}" type="slidenum">
              <a:rPr lang="en-US" altLang="zh-CN"/>
              <a:pPr>
                <a:defRPr/>
              </a:pPr>
              <a:t>56</a:t>
            </a:fld>
            <a:endParaRPr lang="en-US" altLang="zh-CN"/>
          </a:p>
        </p:txBody>
      </p:sp>
      <p:sp>
        <p:nvSpPr>
          <p:cNvPr id="59396" name="Rectangle 2"/>
          <p:cNvSpPr>
            <a:spLocks noGrp="1" noChangeArrowheads="1"/>
          </p:cNvSpPr>
          <p:nvPr>
            <p:ph type="title"/>
          </p:nvPr>
        </p:nvSpPr>
        <p:spPr>
          <a:xfrm>
            <a:off x="1150938" y="533400"/>
            <a:ext cx="7793037" cy="609600"/>
          </a:xfrm>
        </p:spPr>
        <p:txBody>
          <a:bodyPr/>
          <a:lstStyle/>
          <a:p>
            <a:pPr eaLnBrk="1" hangingPunct="1"/>
            <a:r>
              <a:rPr lang="en-US" altLang="zh-CN" smtClean="0"/>
              <a:t>2.4 </a:t>
            </a:r>
            <a:r>
              <a:rPr lang="zh-CN" altLang="en-US" smtClean="0"/>
              <a:t>逻辑函数的化简</a:t>
            </a:r>
          </a:p>
        </p:txBody>
      </p:sp>
      <p:sp>
        <p:nvSpPr>
          <p:cNvPr id="59397" name="Rectangle 3"/>
          <p:cNvSpPr>
            <a:spLocks noGrp="1" noChangeArrowheads="1"/>
          </p:cNvSpPr>
          <p:nvPr>
            <p:ph type="body" idx="1"/>
          </p:nvPr>
        </p:nvSpPr>
        <p:spPr/>
        <p:txBody>
          <a:bodyPr/>
          <a:lstStyle/>
          <a:p>
            <a:pPr eaLnBrk="1" hangingPunct="1">
              <a:lnSpc>
                <a:spcPct val="90000"/>
              </a:lnSpc>
            </a:pPr>
            <a:r>
              <a:rPr lang="zh-CN" altLang="en-US" sz="2800" smtClean="0"/>
              <a:t>化简的目的</a:t>
            </a:r>
          </a:p>
          <a:p>
            <a:pPr lvl="1" eaLnBrk="1" hangingPunct="1">
              <a:lnSpc>
                <a:spcPct val="90000"/>
              </a:lnSpc>
            </a:pPr>
            <a:r>
              <a:rPr lang="zh-CN" altLang="en-US" sz="2400" smtClean="0"/>
              <a:t>就是寻求一种最佳等效函数式，以便在用集成电路去实现此函数时，能获得运算速度快、可靠性高的电路，并且是所用集成电路块数最少、输入端数最少的电路。</a:t>
            </a:r>
          </a:p>
          <a:p>
            <a:pPr eaLnBrk="1" hangingPunct="1">
              <a:lnSpc>
                <a:spcPct val="90000"/>
              </a:lnSpc>
            </a:pPr>
            <a:r>
              <a:rPr lang="zh-CN" altLang="en-US" sz="2800" smtClean="0"/>
              <a:t>化简的方法主要有</a:t>
            </a:r>
          </a:p>
          <a:p>
            <a:pPr lvl="1" eaLnBrk="1" hangingPunct="1">
              <a:lnSpc>
                <a:spcPct val="90000"/>
              </a:lnSpc>
            </a:pPr>
            <a:r>
              <a:rPr lang="zh-CN" altLang="en-US" sz="2400" smtClean="0"/>
              <a:t>代数法</a:t>
            </a:r>
          </a:p>
          <a:p>
            <a:pPr lvl="2" eaLnBrk="1" hangingPunct="1">
              <a:lnSpc>
                <a:spcPct val="90000"/>
              </a:lnSpc>
            </a:pPr>
            <a:r>
              <a:rPr lang="zh-CN" altLang="en-US" sz="2000" smtClean="0"/>
              <a:t>运用逻辑代数的基本公式和法则对函数式进行代数变换，消去多余项以获得最简函数式的方法，也称公式化简法。</a:t>
            </a:r>
          </a:p>
          <a:p>
            <a:pPr lvl="1" eaLnBrk="1" hangingPunct="1">
              <a:lnSpc>
                <a:spcPct val="90000"/>
              </a:lnSpc>
            </a:pPr>
            <a:r>
              <a:rPr lang="zh-CN" altLang="en-US" sz="2400" smtClean="0"/>
              <a:t>图解法</a:t>
            </a:r>
            <a:r>
              <a:rPr lang="en-US" altLang="zh-CN" sz="2400" smtClean="0"/>
              <a:t>——</a:t>
            </a:r>
            <a:r>
              <a:rPr lang="zh-CN" altLang="en-US" sz="2400" smtClean="0"/>
              <a:t>卡诺图化简法</a:t>
            </a:r>
          </a:p>
          <a:p>
            <a:pPr lvl="2" eaLnBrk="1" hangingPunct="1">
              <a:lnSpc>
                <a:spcPct val="90000"/>
              </a:lnSpc>
            </a:pPr>
            <a:r>
              <a:rPr lang="zh-CN" altLang="en-US" sz="2000" smtClean="0"/>
              <a:t>把真值表按坐标架的形式加以变换，将相应的</a:t>
            </a:r>
            <a:r>
              <a:rPr lang="en-US" altLang="zh-CN" sz="2000" smtClean="0"/>
              <a:t>n</a:t>
            </a:r>
            <a:r>
              <a:rPr lang="zh-CN" altLang="en-US" sz="2000" smtClean="0"/>
              <a:t>个变量</a:t>
            </a:r>
            <a:r>
              <a:rPr lang="en-US" altLang="zh-CN" sz="2000" smtClean="0"/>
              <a:t>(</a:t>
            </a:r>
            <a:r>
              <a:rPr lang="zh-CN" altLang="en-US" sz="2000" smtClean="0"/>
              <a:t>具有</a:t>
            </a:r>
            <a:r>
              <a:rPr lang="en-US" altLang="zh-CN" sz="2000" smtClean="0"/>
              <a:t>2</a:t>
            </a:r>
            <a:r>
              <a:rPr lang="en-US" altLang="zh-CN" sz="2000" baseline="30000" smtClean="0"/>
              <a:t>n</a:t>
            </a:r>
            <a:r>
              <a:rPr lang="zh-CN" altLang="en-US" sz="2000" smtClean="0"/>
              <a:t>个最小项</a:t>
            </a:r>
            <a:r>
              <a:rPr lang="en-US" altLang="zh-CN" sz="2000" smtClean="0"/>
              <a:t>)</a:t>
            </a:r>
            <a:r>
              <a:rPr lang="zh-CN" altLang="en-US" sz="2000" smtClean="0"/>
              <a:t>的逻辑函数连同它的系数一起列成一个表，这个表称为卡诺图。</a:t>
            </a:r>
          </a:p>
          <a:p>
            <a:pPr lvl="1" eaLnBrk="1" hangingPunct="1">
              <a:lnSpc>
                <a:spcPct val="90000"/>
              </a:lnSpc>
            </a:pPr>
            <a:r>
              <a:rPr lang="zh-CN" altLang="en-US" sz="2400" smtClean="0"/>
              <a:t>列表法</a:t>
            </a:r>
          </a:p>
        </p:txBody>
      </p:sp>
    </p:spTree>
  </p:cSld>
  <p:clrMapOvr>
    <a:masterClrMapping/>
  </p:clrMapOvr>
  <p:transition>
    <p:random/>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34326278-F010-4C9D-9521-D65EC609C741}" type="datetime1">
              <a:rPr lang="zh-CN" altLang="en-US"/>
              <a:pPr>
                <a:defRPr/>
              </a:pPr>
              <a:t>2021/9/21</a:t>
            </a:fld>
            <a:endParaRPr lang="en-US" altLang="zh-CN"/>
          </a:p>
        </p:txBody>
      </p:sp>
      <p:sp>
        <p:nvSpPr>
          <p:cNvPr id="5" name="灯片编号占位符 5"/>
          <p:cNvSpPr>
            <a:spLocks noGrp="1"/>
          </p:cNvSpPr>
          <p:nvPr>
            <p:ph type="sldNum" sz="quarter" idx="12"/>
          </p:nvPr>
        </p:nvSpPr>
        <p:spPr/>
        <p:txBody>
          <a:bodyPr/>
          <a:lstStyle/>
          <a:p>
            <a:pPr>
              <a:defRPr/>
            </a:pPr>
            <a:fld id="{C100435B-3EB9-4765-910A-EAE27FFE49B2}" type="slidenum">
              <a:rPr lang="en-US" altLang="zh-CN"/>
              <a:pPr>
                <a:defRPr/>
              </a:pPr>
              <a:t>57</a:t>
            </a:fld>
            <a:endParaRPr lang="en-US" altLang="zh-CN"/>
          </a:p>
        </p:txBody>
      </p:sp>
      <p:sp>
        <p:nvSpPr>
          <p:cNvPr id="60420" name="Rectangle 2"/>
          <p:cNvSpPr>
            <a:spLocks noGrp="1" noChangeArrowheads="1"/>
          </p:cNvSpPr>
          <p:nvPr>
            <p:ph type="title"/>
          </p:nvPr>
        </p:nvSpPr>
        <p:spPr>
          <a:xfrm>
            <a:off x="1150938" y="533400"/>
            <a:ext cx="7793037" cy="609600"/>
          </a:xfrm>
        </p:spPr>
        <p:txBody>
          <a:bodyPr/>
          <a:lstStyle/>
          <a:p>
            <a:pPr eaLnBrk="1" hangingPunct="1"/>
            <a:r>
              <a:rPr lang="zh-CN" altLang="en-US" smtClean="0"/>
              <a:t>代数化简法</a:t>
            </a:r>
          </a:p>
        </p:txBody>
      </p:sp>
      <p:sp>
        <p:nvSpPr>
          <p:cNvPr id="60421" name="Rectangle 3"/>
          <p:cNvSpPr>
            <a:spLocks noGrp="1" noChangeArrowheads="1"/>
          </p:cNvSpPr>
          <p:nvPr>
            <p:ph type="body" idx="1"/>
          </p:nvPr>
        </p:nvSpPr>
        <p:spPr/>
        <p:txBody>
          <a:bodyPr/>
          <a:lstStyle/>
          <a:p>
            <a:pPr eaLnBrk="1" hangingPunct="1"/>
            <a:r>
              <a:rPr lang="en-US" altLang="zh-CN" smtClean="0"/>
              <a:t>“</a:t>
            </a:r>
            <a:r>
              <a:rPr lang="zh-CN" altLang="en-US" smtClean="0"/>
              <a:t>与或”表达式的化简</a:t>
            </a:r>
          </a:p>
          <a:p>
            <a:pPr eaLnBrk="1" hangingPunct="1"/>
            <a:r>
              <a:rPr lang="zh-CN" altLang="en-US" smtClean="0"/>
              <a:t>“或与”表达式的化简</a:t>
            </a:r>
          </a:p>
        </p:txBody>
      </p:sp>
    </p:spTree>
  </p:cSld>
  <p:clrMapOvr>
    <a:masterClrMapping/>
  </p:clrMapOvr>
  <p:transition>
    <p:random/>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日期占位符 3"/>
          <p:cNvSpPr>
            <a:spLocks noGrp="1"/>
          </p:cNvSpPr>
          <p:nvPr>
            <p:ph type="dt" sz="quarter" idx="10"/>
          </p:nvPr>
        </p:nvSpPr>
        <p:spPr/>
        <p:txBody>
          <a:bodyPr/>
          <a:lstStyle/>
          <a:p>
            <a:pPr>
              <a:defRPr/>
            </a:pPr>
            <a:fld id="{63506256-E509-4C26-8549-85051575B5CE}" type="datetime1">
              <a:rPr lang="zh-CN" altLang="en-US"/>
              <a:pPr>
                <a:defRPr/>
              </a:pPr>
              <a:t>2021/9/21</a:t>
            </a:fld>
            <a:endParaRPr lang="en-US" altLang="zh-CN"/>
          </a:p>
        </p:txBody>
      </p:sp>
      <p:sp>
        <p:nvSpPr>
          <p:cNvPr id="8" name="灯片编号占位符 5"/>
          <p:cNvSpPr>
            <a:spLocks noGrp="1"/>
          </p:cNvSpPr>
          <p:nvPr>
            <p:ph type="sldNum" sz="quarter" idx="12"/>
          </p:nvPr>
        </p:nvSpPr>
        <p:spPr/>
        <p:txBody>
          <a:bodyPr/>
          <a:lstStyle/>
          <a:p>
            <a:pPr>
              <a:defRPr/>
            </a:pPr>
            <a:fld id="{CA9E5D51-F22D-427D-9B85-8450B7F14001}" type="slidenum">
              <a:rPr lang="en-US" altLang="zh-CN"/>
              <a:pPr>
                <a:defRPr/>
              </a:pPr>
              <a:t>58</a:t>
            </a:fld>
            <a:endParaRPr lang="en-US" altLang="zh-CN"/>
          </a:p>
        </p:txBody>
      </p:sp>
      <p:sp>
        <p:nvSpPr>
          <p:cNvPr id="61444" name="Rectangle 2"/>
          <p:cNvSpPr>
            <a:spLocks noGrp="1" noChangeArrowheads="1"/>
          </p:cNvSpPr>
          <p:nvPr>
            <p:ph type="title"/>
          </p:nvPr>
        </p:nvSpPr>
        <p:spPr>
          <a:xfrm>
            <a:off x="1150938" y="533400"/>
            <a:ext cx="7793037" cy="609600"/>
          </a:xfrm>
        </p:spPr>
        <p:txBody>
          <a:bodyPr/>
          <a:lstStyle/>
          <a:p>
            <a:pPr eaLnBrk="1" hangingPunct="1"/>
            <a:r>
              <a:rPr lang="en-US" altLang="zh-CN" smtClean="0"/>
              <a:t>“</a:t>
            </a:r>
            <a:r>
              <a:rPr lang="zh-CN" altLang="en-US" smtClean="0"/>
              <a:t>与或”表达式的化简</a:t>
            </a:r>
          </a:p>
        </p:txBody>
      </p:sp>
      <mc:AlternateContent xmlns:mc="http://schemas.openxmlformats.org/markup-compatibility/2006" xmlns:a14="http://schemas.microsoft.com/office/drawing/2010/main">
        <mc:Choice Requires="a14">
          <p:sp>
            <p:nvSpPr>
              <p:cNvPr id="61445" name="Rectangle 3"/>
              <p:cNvSpPr>
                <a:spLocks noGrp="1" noChangeArrowheads="1"/>
              </p:cNvSpPr>
              <p:nvPr>
                <p:ph type="body" idx="1"/>
              </p:nvPr>
            </p:nvSpPr>
            <p:spPr>
              <a:xfrm>
                <a:off x="431800" y="1143000"/>
                <a:ext cx="8382000" cy="4876800"/>
              </a:xfrm>
            </p:spPr>
            <p:txBody>
              <a:bodyPr/>
              <a:lstStyle/>
              <a:p>
                <a:pPr eaLnBrk="1" hangingPunct="1"/>
                <a:r>
                  <a:rPr lang="zh-CN" altLang="en-US" sz="2800" dirty="0" smtClean="0"/>
                  <a:t>衡量最简的与或式的两个条件</a:t>
                </a:r>
              </a:p>
              <a:p>
                <a:pPr lvl="1" eaLnBrk="1" hangingPunct="1"/>
                <a:r>
                  <a:rPr lang="zh-CN" altLang="en-US" sz="2000" dirty="0" smtClean="0"/>
                  <a:t>表达式中的乘积项</a:t>
                </a:r>
                <a:r>
                  <a:rPr lang="en-US" altLang="zh-CN" sz="2000" dirty="0" smtClean="0"/>
                  <a:t>(</a:t>
                </a:r>
                <a:r>
                  <a:rPr lang="zh-CN" altLang="en-US" sz="2000" dirty="0" smtClean="0"/>
                  <a:t>与项</a:t>
                </a:r>
                <a:r>
                  <a:rPr lang="en-US" altLang="zh-CN" sz="2000" dirty="0" smtClean="0"/>
                  <a:t>)</a:t>
                </a:r>
                <a:r>
                  <a:rPr lang="zh-CN" altLang="en-US" sz="2000" dirty="0" smtClean="0"/>
                  <a:t>个数最少</a:t>
                </a:r>
              </a:p>
              <a:p>
                <a:pPr lvl="1" eaLnBrk="1" hangingPunct="1"/>
                <a:r>
                  <a:rPr lang="zh-CN" altLang="en-US" sz="2000" dirty="0" smtClean="0"/>
                  <a:t>在满足上述的条件下，每个乘积项中的变量个数最少</a:t>
                </a:r>
              </a:p>
              <a:p>
                <a:pPr eaLnBrk="1" hangingPunct="1"/>
                <a:r>
                  <a:rPr lang="zh-CN" altLang="en-US" sz="2800" dirty="0" smtClean="0"/>
                  <a:t>常用方法</a:t>
                </a:r>
              </a:p>
              <a:p>
                <a:pPr lvl="1" eaLnBrk="1" hangingPunct="1"/>
                <a:r>
                  <a:rPr lang="zh-CN" altLang="en-US" sz="2000" dirty="0" smtClean="0"/>
                  <a:t>并项法：利用吸收律</a:t>
                </a:r>
                <a:r>
                  <a:rPr lang="en-US" altLang="zh-CN" sz="2000" dirty="0" smtClean="0"/>
                  <a:t>AB+A</a:t>
                </a:r>
                <a14:m>
                  <m:oMath xmlns:m="http://schemas.openxmlformats.org/officeDocument/2006/math">
                    <m:acc>
                      <m:accPr>
                        <m:chr m:val="̅"/>
                        <m:ctrlPr>
                          <a:rPr lang="en-US" altLang="zh-CN" sz="2000" i="1" dirty="0" smtClean="0">
                            <a:latin typeface="Cambria Math"/>
                          </a:rPr>
                        </m:ctrlPr>
                      </m:accPr>
                      <m:e>
                        <m:r>
                          <m:rPr>
                            <m:sty m:val="p"/>
                          </m:rPr>
                          <a:rPr lang="en-US" altLang="zh-CN" sz="2000" i="0" dirty="0" smtClean="0">
                            <a:latin typeface="Cambria Math"/>
                          </a:rPr>
                          <m:t>B</m:t>
                        </m:r>
                      </m:e>
                    </m:acc>
                  </m:oMath>
                </a14:m>
                <a:r>
                  <a:rPr lang="en-US" altLang="zh-CN" sz="2000" dirty="0" smtClean="0"/>
                  <a:t>=A</a:t>
                </a:r>
                <a:r>
                  <a:rPr lang="zh-CN" altLang="en-US" sz="2000" dirty="0" smtClean="0"/>
                  <a:t>以消去一个或多个变量</a:t>
                </a:r>
                <a:endParaRPr lang="en-US" altLang="zh-CN" sz="2000" dirty="0" smtClean="0"/>
              </a:p>
              <a:p>
                <a:pPr lvl="1" eaLnBrk="1" hangingPunct="1"/>
                <a:endParaRPr lang="zh-CN" altLang="en-US" sz="2000" dirty="0" smtClean="0"/>
              </a:p>
              <a:p>
                <a:pPr lvl="1" eaLnBrk="1" hangingPunct="1"/>
                <a:r>
                  <a:rPr lang="zh-CN" altLang="en-US" sz="2000" dirty="0" smtClean="0"/>
                  <a:t>吸收法：利用吸收律</a:t>
                </a:r>
                <a:r>
                  <a:rPr lang="en-US" altLang="zh-CN" sz="2000" dirty="0" smtClean="0"/>
                  <a:t>A+AB=A</a:t>
                </a:r>
                <a:r>
                  <a:rPr lang="zh-CN" altLang="en-US" sz="2000" dirty="0" smtClean="0"/>
                  <a:t>消去多余的项</a:t>
                </a:r>
                <a:endParaRPr lang="en-US" altLang="zh-CN" sz="2000" dirty="0" smtClean="0"/>
              </a:p>
              <a:p>
                <a:pPr lvl="1" eaLnBrk="1" hangingPunct="1"/>
                <a:endParaRPr lang="zh-CN" altLang="en-US" sz="2000" dirty="0" smtClean="0"/>
              </a:p>
              <a:p>
                <a:pPr lvl="1" eaLnBrk="1" hangingPunct="1"/>
                <a:r>
                  <a:rPr lang="zh-CN" altLang="en-US" sz="2000" dirty="0" smtClean="0"/>
                  <a:t>消去法：利用广义吸收律</a:t>
                </a:r>
                <a:r>
                  <a:rPr lang="en-US" altLang="zh-CN" sz="2000" dirty="0" smtClean="0"/>
                  <a:t>A+AB=A+B</a:t>
                </a:r>
                <a:r>
                  <a:rPr lang="zh-CN" altLang="en-US" sz="2000" dirty="0" smtClean="0"/>
                  <a:t>消去多余的变量</a:t>
                </a:r>
                <a:endParaRPr lang="en-US" altLang="zh-CN" sz="2000" dirty="0" smtClean="0"/>
              </a:p>
              <a:p>
                <a:pPr lvl="1" eaLnBrk="1" hangingPunct="1"/>
                <a:endParaRPr lang="en-US" altLang="zh-CN" sz="2000" dirty="0" smtClean="0"/>
              </a:p>
              <a:p>
                <a:pPr lvl="1" eaLnBrk="1" hangingPunct="1"/>
                <a:endParaRPr lang="zh-CN" altLang="en-US" sz="2000" dirty="0" smtClean="0"/>
              </a:p>
              <a:p>
                <a:pPr lvl="1" eaLnBrk="1" hangingPunct="1"/>
                <a:r>
                  <a:rPr lang="zh-CN" altLang="en-US" sz="2000" dirty="0" smtClean="0"/>
                  <a:t>配项法：利用公理</a:t>
                </a:r>
                <a:r>
                  <a:rPr lang="en-US" altLang="zh-CN" sz="2000" dirty="0" smtClean="0"/>
                  <a:t>A·1=A</a:t>
                </a:r>
                <a:r>
                  <a:rPr lang="zh-CN" altLang="en-US" sz="2000" dirty="0" smtClean="0"/>
                  <a:t>及</a:t>
                </a:r>
                <a:r>
                  <a:rPr lang="en-US" altLang="zh-CN" sz="2000" dirty="0" smtClean="0"/>
                  <a:t>A+A=1</a:t>
                </a:r>
                <a:r>
                  <a:rPr lang="zh-CN" altLang="en-US" sz="2000" dirty="0" smtClean="0"/>
                  <a:t>进行化简</a:t>
                </a:r>
              </a:p>
            </p:txBody>
          </p:sp>
        </mc:Choice>
        <mc:Fallback xmlns="">
          <p:sp>
            <p:nvSpPr>
              <p:cNvPr id="61445" name="Rectangle 3"/>
              <p:cNvSpPr>
                <a:spLocks noGrp="1" noRot="1" noChangeAspect="1" noMove="1" noResize="1" noEditPoints="1" noAdjustHandles="1" noChangeArrowheads="1" noChangeShapeType="1" noTextEdit="1"/>
              </p:cNvSpPr>
              <p:nvPr>
                <p:ph type="body" idx="1"/>
              </p:nvPr>
            </p:nvSpPr>
            <p:spPr>
              <a:xfrm>
                <a:off x="431800" y="1143000"/>
                <a:ext cx="8382000" cy="4876800"/>
              </a:xfrm>
              <a:blipFill rotWithShape="1">
                <a:blip r:embed="rId2"/>
                <a:stretch>
                  <a:fillRect l="-364" t="-1500"/>
                </a:stretch>
              </a:blipFill>
            </p:spPr>
            <p:txBody>
              <a:bodyPr/>
              <a:lstStyle/>
              <a:p>
                <a:r>
                  <a:rPr lang="zh-CN" altLang="en-US">
                    <a:noFill/>
                  </a:rPr>
                  <a:t> </a:t>
                </a:r>
              </a:p>
            </p:txBody>
          </p:sp>
        </mc:Fallback>
      </mc:AlternateContent>
      <p:sp>
        <p:nvSpPr>
          <p:cNvPr id="61446" name="Line 4"/>
          <p:cNvSpPr>
            <a:spLocks noChangeShapeType="1"/>
          </p:cNvSpPr>
          <p:nvPr/>
        </p:nvSpPr>
        <p:spPr bwMode="auto">
          <a:xfrm>
            <a:off x="4021138" y="3676650"/>
            <a:ext cx="1524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47" name="Line 5"/>
          <p:cNvSpPr>
            <a:spLocks noChangeShapeType="1"/>
          </p:cNvSpPr>
          <p:nvPr/>
        </p:nvSpPr>
        <p:spPr bwMode="auto">
          <a:xfrm>
            <a:off x="4487863" y="4391025"/>
            <a:ext cx="1524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48" name="Line 6"/>
          <p:cNvSpPr>
            <a:spLocks noChangeShapeType="1"/>
          </p:cNvSpPr>
          <p:nvPr/>
        </p:nvSpPr>
        <p:spPr bwMode="auto">
          <a:xfrm>
            <a:off x="4559300" y="5497513"/>
            <a:ext cx="1524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pic>
        <p:nvPicPr>
          <p:cNvPr id="61449"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58063" y="2857500"/>
            <a:ext cx="1685925" cy="62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50"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86500" y="3643313"/>
            <a:ext cx="2124075" cy="642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51" name="Picture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57938" y="4643438"/>
            <a:ext cx="2714625" cy="108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52" name="Picture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29250" y="5857875"/>
            <a:ext cx="3152775"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quarter" idx="10"/>
          </p:nvPr>
        </p:nvSpPr>
        <p:spPr/>
        <p:txBody>
          <a:bodyPr/>
          <a:lstStyle/>
          <a:p>
            <a:pPr>
              <a:defRPr/>
            </a:pPr>
            <a:fld id="{5039F47D-A853-4B21-A894-15CDE5D87586}" type="datetime1">
              <a:rPr lang="zh-CN" altLang="en-US" smtClean="0"/>
              <a:pPr>
                <a:defRPr/>
              </a:pPr>
              <a:t>2021/9/21</a:t>
            </a:fld>
            <a:endParaRPr lang="en-US" altLang="zh-CN"/>
          </a:p>
        </p:txBody>
      </p:sp>
      <p:sp>
        <p:nvSpPr>
          <p:cNvPr id="3" name="灯片编号占位符 2"/>
          <p:cNvSpPr>
            <a:spLocks noGrp="1"/>
          </p:cNvSpPr>
          <p:nvPr>
            <p:ph type="sldNum" sz="quarter" idx="12"/>
          </p:nvPr>
        </p:nvSpPr>
        <p:spPr/>
        <p:txBody>
          <a:bodyPr/>
          <a:lstStyle/>
          <a:p>
            <a:pPr>
              <a:defRPr/>
            </a:pPr>
            <a:fld id="{922E00AD-26E8-4419-BF46-C730DEC44AF5}" type="slidenum">
              <a:rPr lang="en-US" altLang="zh-CN" smtClean="0"/>
              <a:pPr>
                <a:defRPr/>
              </a:pPr>
              <a:t>59</a:t>
            </a:fld>
            <a:endParaRPr lang="en-US" altLang="zh-CN"/>
          </a:p>
        </p:txBody>
      </p:sp>
      <p:pic>
        <p:nvPicPr>
          <p:cNvPr id="6246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5875" y="285750"/>
            <a:ext cx="6572250" cy="2714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46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5875" y="3538538"/>
            <a:ext cx="5567363" cy="2105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BDA949BB-79F5-4D8C-984A-AE4A6A7C900B}" type="datetime1">
              <a:rPr lang="zh-CN" altLang="en-US"/>
              <a:pPr>
                <a:defRPr/>
              </a:pPr>
              <a:t>2021/9/21</a:t>
            </a:fld>
            <a:endParaRPr lang="en-US" altLang="zh-CN"/>
          </a:p>
        </p:txBody>
      </p:sp>
      <p:sp>
        <p:nvSpPr>
          <p:cNvPr id="5" name="灯片编号占位符 5"/>
          <p:cNvSpPr>
            <a:spLocks noGrp="1"/>
          </p:cNvSpPr>
          <p:nvPr>
            <p:ph type="sldNum" sz="quarter" idx="12"/>
          </p:nvPr>
        </p:nvSpPr>
        <p:spPr/>
        <p:txBody>
          <a:bodyPr/>
          <a:lstStyle/>
          <a:p>
            <a:pPr>
              <a:defRPr/>
            </a:pPr>
            <a:fld id="{FFD3A713-A58F-490F-ADA9-41A24327D97C}" type="slidenum">
              <a:rPr lang="en-US" altLang="zh-CN"/>
              <a:pPr>
                <a:defRPr/>
              </a:pPr>
              <a:t>60</a:t>
            </a:fld>
            <a:endParaRPr lang="en-US" altLang="zh-CN"/>
          </a:p>
        </p:txBody>
      </p:sp>
      <p:sp>
        <p:nvSpPr>
          <p:cNvPr id="63492" name="Rectangle 2"/>
          <p:cNvSpPr>
            <a:spLocks noGrp="1" noChangeArrowheads="1"/>
          </p:cNvSpPr>
          <p:nvPr>
            <p:ph type="title"/>
          </p:nvPr>
        </p:nvSpPr>
        <p:spPr>
          <a:xfrm>
            <a:off x="1150938" y="533400"/>
            <a:ext cx="7793037" cy="609600"/>
          </a:xfrm>
        </p:spPr>
        <p:txBody>
          <a:bodyPr/>
          <a:lstStyle/>
          <a:p>
            <a:pPr eaLnBrk="1" hangingPunct="1"/>
            <a:r>
              <a:rPr lang="en-US" altLang="zh-CN" smtClean="0"/>
              <a:t>“</a:t>
            </a:r>
            <a:r>
              <a:rPr lang="zh-CN" altLang="en-US" smtClean="0"/>
              <a:t>或与”表达式的化简</a:t>
            </a:r>
          </a:p>
        </p:txBody>
      </p:sp>
      <p:sp>
        <p:nvSpPr>
          <p:cNvPr id="63493" name="Rectangle 3"/>
          <p:cNvSpPr>
            <a:spLocks noGrp="1" noChangeArrowheads="1"/>
          </p:cNvSpPr>
          <p:nvPr>
            <p:ph type="body" idx="1"/>
          </p:nvPr>
        </p:nvSpPr>
        <p:spPr/>
        <p:txBody>
          <a:bodyPr/>
          <a:lstStyle/>
          <a:p>
            <a:pPr eaLnBrk="1" hangingPunct="1">
              <a:lnSpc>
                <a:spcPct val="90000"/>
              </a:lnSpc>
            </a:pPr>
            <a:r>
              <a:rPr lang="zh-CN" altLang="en-US" sz="2800" smtClean="0"/>
              <a:t>衡量最简的或与式的两个条件</a:t>
            </a:r>
          </a:p>
          <a:p>
            <a:pPr lvl="1" eaLnBrk="1" hangingPunct="1">
              <a:lnSpc>
                <a:spcPct val="90000"/>
              </a:lnSpc>
            </a:pPr>
            <a:r>
              <a:rPr lang="zh-CN" altLang="en-US" sz="2400" smtClean="0"/>
              <a:t>表达式中的或项个数最少</a:t>
            </a:r>
          </a:p>
          <a:p>
            <a:pPr lvl="1" eaLnBrk="1" hangingPunct="1">
              <a:lnSpc>
                <a:spcPct val="90000"/>
              </a:lnSpc>
            </a:pPr>
            <a:r>
              <a:rPr lang="zh-CN" altLang="en-US" sz="2400" smtClean="0"/>
              <a:t>在满足上述的条件下，每个或项中的变量个数最少</a:t>
            </a:r>
          </a:p>
          <a:p>
            <a:pPr eaLnBrk="1" hangingPunct="1">
              <a:lnSpc>
                <a:spcPct val="90000"/>
              </a:lnSpc>
            </a:pPr>
            <a:r>
              <a:rPr lang="zh-CN" altLang="en-US" sz="2800" smtClean="0"/>
              <a:t>常用方法</a:t>
            </a:r>
          </a:p>
          <a:p>
            <a:pPr lvl="1" eaLnBrk="1" hangingPunct="1">
              <a:lnSpc>
                <a:spcPct val="90000"/>
              </a:lnSpc>
            </a:pPr>
            <a:r>
              <a:rPr lang="zh-CN" altLang="en-US" sz="2400" smtClean="0"/>
              <a:t>直接化简法</a:t>
            </a:r>
          </a:p>
          <a:p>
            <a:pPr lvl="2" eaLnBrk="1" hangingPunct="1">
              <a:lnSpc>
                <a:spcPct val="90000"/>
              </a:lnSpc>
            </a:pPr>
            <a:r>
              <a:rPr lang="zh-CN" altLang="en-US" sz="2000" smtClean="0"/>
              <a:t>直接用定理、公式进行化简</a:t>
            </a:r>
          </a:p>
          <a:p>
            <a:pPr lvl="1" eaLnBrk="1" hangingPunct="1">
              <a:lnSpc>
                <a:spcPct val="90000"/>
              </a:lnSpc>
            </a:pPr>
            <a:r>
              <a:rPr lang="zh-CN" altLang="en-US" sz="2400" smtClean="0"/>
              <a:t>二次对偶法</a:t>
            </a:r>
          </a:p>
          <a:p>
            <a:pPr lvl="2" eaLnBrk="1" hangingPunct="1">
              <a:lnSpc>
                <a:spcPct val="90000"/>
              </a:lnSpc>
            </a:pPr>
            <a:r>
              <a:rPr lang="zh-CN" altLang="en-US" sz="2000" smtClean="0"/>
              <a:t>若原函数</a:t>
            </a:r>
            <a:r>
              <a:rPr lang="en-US" altLang="zh-CN" sz="2000" smtClean="0"/>
              <a:t>F</a:t>
            </a:r>
            <a:r>
              <a:rPr lang="zh-CN" altLang="en-US" sz="2000" smtClean="0"/>
              <a:t>是“或与”表达式，则它的对偶式</a:t>
            </a:r>
            <a:r>
              <a:rPr lang="en-US" altLang="zh-CN" sz="2000" smtClean="0"/>
              <a:t>F’</a:t>
            </a:r>
            <a:r>
              <a:rPr lang="zh-CN" altLang="en-US" sz="2000" smtClean="0"/>
              <a:t>必然是“与或”表达式，对</a:t>
            </a:r>
            <a:r>
              <a:rPr lang="en-US" altLang="zh-CN" sz="2000" smtClean="0"/>
              <a:t>F’</a:t>
            </a:r>
            <a:r>
              <a:rPr lang="zh-CN" altLang="en-US" sz="2000" smtClean="0"/>
              <a:t>使用公式等进行化简，化简后再求</a:t>
            </a:r>
            <a:r>
              <a:rPr lang="en-US" altLang="zh-CN" sz="2000" smtClean="0"/>
              <a:t>F’</a:t>
            </a:r>
            <a:r>
              <a:rPr lang="zh-CN" altLang="en-US" sz="2000" smtClean="0"/>
              <a:t>的对偶式</a:t>
            </a:r>
            <a:r>
              <a:rPr lang="en-US" altLang="zh-CN" sz="2000" smtClean="0"/>
              <a:t>(F’)’</a:t>
            </a:r>
            <a:r>
              <a:rPr lang="zh-CN" altLang="en-US" sz="2000" smtClean="0"/>
              <a:t>，即得</a:t>
            </a:r>
            <a:r>
              <a:rPr lang="en-US" altLang="zh-CN" sz="2000" smtClean="0"/>
              <a:t>F</a:t>
            </a:r>
            <a:r>
              <a:rPr lang="zh-CN" altLang="en-US" sz="2000" smtClean="0"/>
              <a:t>的最简“或与”表达式</a:t>
            </a:r>
          </a:p>
        </p:txBody>
      </p:sp>
    </p:spTree>
  </p:cSld>
  <p:clrMapOvr>
    <a:masterClrMapping/>
  </p:clrMapOvr>
  <p:transition>
    <p:random/>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quarter" idx="10"/>
          </p:nvPr>
        </p:nvSpPr>
        <p:spPr/>
        <p:txBody>
          <a:bodyPr/>
          <a:lstStyle/>
          <a:p>
            <a:pPr>
              <a:defRPr/>
            </a:pPr>
            <a:fld id="{5039F47D-A853-4B21-A894-15CDE5D87586}" type="datetime1">
              <a:rPr lang="zh-CN" altLang="en-US" smtClean="0"/>
              <a:pPr>
                <a:defRPr/>
              </a:pPr>
              <a:t>2021/9/21</a:t>
            </a:fld>
            <a:endParaRPr lang="en-US" altLang="zh-CN"/>
          </a:p>
        </p:txBody>
      </p:sp>
      <p:sp>
        <p:nvSpPr>
          <p:cNvPr id="3" name="灯片编号占位符 2"/>
          <p:cNvSpPr>
            <a:spLocks noGrp="1"/>
          </p:cNvSpPr>
          <p:nvPr>
            <p:ph type="sldNum" sz="quarter" idx="12"/>
          </p:nvPr>
        </p:nvSpPr>
        <p:spPr/>
        <p:txBody>
          <a:bodyPr/>
          <a:lstStyle/>
          <a:p>
            <a:pPr>
              <a:defRPr/>
            </a:pPr>
            <a:fld id="{2B3ADBA1-5DA1-4ADD-BB07-2BC3957E48EC}" type="slidenum">
              <a:rPr lang="en-US" altLang="zh-CN" smtClean="0"/>
              <a:pPr>
                <a:defRPr/>
              </a:pPr>
              <a:t>61</a:t>
            </a:fld>
            <a:endParaRPr lang="en-US" altLang="zh-CN"/>
          </a:p>
        </p:txBody>
      </p:sp>
      <p:pic>
        <p:nvPicPr>
          <p:cNvPr id="6451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8750" y="500063"/>
            <a:ext cx="5643563"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51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9725" y="1428750"/>
            <a:ext cx="4429125"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51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0188" y="2857500"/>
            <a:ext cx="5715000" cy="314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70DBE60A-BE8E-4088-AAB8-3ED91D1A9CF0}" type="datetime1">
              <a:rPr lang="zh-CN" altLang="en-US"/>
              <a:pPr>
                <a:defRPr/>
              </a:pPr>
              <a:t>2021/9/21</a:t>
            </a:fld>
            <a:endParaRPr lang="en-US" altLang="zh-CN"/>
          </a:p>
        </p:txBody>
      </p:sp>
      <p:sp>
        <p:nvSpPr>
          <p:cNvPr id="5" name="灯片编号占位符 5"/>
          <p:cNvSpPr>
            <a:spLocks noGrp="1"/>
          </p:cNvSpPr>
          <p:nvPr>
            <p:ph type="sldNum" sz="quarter" idx="12"/>
          </p:nvPr>
        </p:nvSpPr>
        <p:spPr/>
        <p:txBody>
          <a:bodyPr/>
          <a:lstStyle/>
          <a:p>
            <a:pPr>
              <a:defRPr/>
            </a:pPr>
            <a:fld id="{2DC909F3-E638-4071-84D7-189F0C9AB363}" type="slidenum">
              <a:rPr lang="en-US" altLang="zh-CN"/>
              <a:pPr>
                <a:defRPr/>
              </a:pPr>
              <a:t>62</a:t>
            </a:fld>
            <a:endParaRPr lang="en-US" altLang="zh-CN"/>
          </a:p>
        </p:txBody>
      </p:sp>
      <p:sp>
        <p:nvSpPr>
          <p:cNvPr id="65540" name="Rectangle 2"/>
          <p:cNvSpPr>
            <a:spLocks noGrp="1" noChangeArrowheads="1"/>
          </p:cNvSpPr>
          <p:nvPr>
            <p:ph type="title"/>
          </p:nvPr>
        </p:nvSpPr>
        <p:spPr>
          <a:xfrm>
            <a:off x="1150938" y="533400"/>
            <a:ext cx="7793037" cy="609600"/>
          </a:xfrm>
        </p:spPr>
        <p:txBody>
          <a:bodyPr/>
          <a:lstStyle/>
          <a:p>
            <a:pPr eaLnBrk="1" hangingPunct="1"/>
            <a:r>
              <a:rPr lang="zh-CN" altLang="en-US" smtClean="0"/>
              <a:t>卡诺图化简法</a:t>
            </a:r>
          </a:p>
        </p:txBody>
      </p:sp>
      <p:sp>
        <p:nvSpPr>
          <p:cNvPr id="65541" name="Rectangle 3"/>
          <p:cNvSpPr>
            <a:spLocks noGrp="1" noChangeArrowheads="1"/>
          </p:cNvSpPr>
          <p:nvPr>
            <p:ph type="body" idx="1"/>
          </p:nvPr>
        </p:nvSpPr>
        <p:spPr/>
        <p:txBody>
          <a:bodyPr/>
          <a:lstStyle/>
          <a:p>
            <a:pPr eaLnBrk="1" hangingPunct="1"/>
            <a:r>
              <a:rPr lang="zh-CN" altLang="en-US" smtClean="0"/>
              <a:t>卡诺图的构成</a:t>
            </a:r>
          </a:p>
          <a:p>
            <a:pPr eaLnBrk="1" hangingPunct="1"/>
            <a:r>
              <a:rPr lang="zh-CN" altLang="en-US" smtClean="0"/>
              <a:t>逻辑函数在卡诺图上的表示</a:t>
            </a:r>
          </a:p>
          <a:p>
            <a:pPr eaLnBrk="1" hangingPunct="1"/>
            <a:r>
              <a:rPr lang="zh-CN" altLang="en-US" smtClean="0"/>
              <a:t>卡诺图上最小项的合并</a:t>
            </a:r>
          </a:p>
          <a:p>
            <a:pPr eaLnBrk="1" hangingPunct="1"/>
            <a:r>
              <a:rPr lang="zh-CN" altLang="en-US" smtClean="0"/>
              <a:t>用卡诺图化简逻辑函数</a:t>
            </a:r>
          </a:p>
        </p:txBody>
      </p:sp>
    </p:spTree>
  </p:cSld>
  <p:clrMapOvr>
    <a:masterClrMapping/>
  </p:clrMapOvr>
  <p:transition>
    <p:random/>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日期占位符 3"/>
          <p:cNvSpPr>
            <a:spLocks noGrp="1"/>
          </p:cNvSpPr>
          <p:nvPr>
            <p:ph type="dt" sz="quarter" idx="10"/>
          </p:nvPr>
        </p:nvSpPr>
        <p:spPr/>
        <p:txBody>
          <a:bodyPr/>
          <a:lstStyle/>
          <a:p>
            <a:pPr>
              <a:defRPr/>
            </a:pPr>
            <a:fld id="{8D65503E-4DF2-4D90-BF25-F7928A9222DE}" type="datetime1">
              <a:rPr lang="zh-CN" altLang="en-US"/>
              <a:pPr>
                <a:defRPr/>
              </a:pPr>
              <a:t>2021/9/21</a:t>
            </a:fld>
            <a:endParaRPr lang="en-US" altLang="zh-CN"/>
          </a:p>
        </p:txBody>
      </p:sp>
      <p:sp>
        <p:nvSpPr>
          <p:cNvPr id="77" name="灯片编号占位符 5"/>
          <p:cNvSpPr>
            <a:spLocks noGrp="1"/>
          </p:cNvSpPr>
          <p:nvPr>
            <p:ph type="sldNum" sz="quarter" idx="12"/>
          </p:nvPr>
        </p:nvSpPr>
        <p:spPr/>
        <p:txBody>
          <a:bodyPr/>
          <a:lstStyle/>
          <a:p>
            <a:pPr>
              <a:defRPr/>
            </a:pPr>
            <a:fld id="{42495441-9CCF-4E97-8AE1-F0C449775192}" type="slidenum">
              <a:rPr lang="en-US" altLang="zh-CN"/>
              <a:pPr>
                <a:defRPr/>
              </a:pPr>
              <a:t>63</a:t>
            </a:fld>
            <a:endParaRPr lang="en-US" altLang="zh-CN"/>
          </a:p>
        </p:txBody>
      </p:sp>
      <p:sp>
        <p:nvSpPr>
          <p:cNvPr id="66564" name="Rectangle 2"/>
          <p:cNvSpPr>
            <a:spLocks noGrp="1" noChangeArrowheads="1"/>
          </p:cNvSpPr>
          <p:nvPr>
            <p:ph type="title"/>
          </p:nvPr>
        </p:nvSpPr>
        <p:spPr>
          <a:xfrm>
            <a:off x="1150938" y="533400"/>
            <a:ext cx="7793037" cy="609600"/>
          </a:xfrm>
        </p:spPr>
        <p:txBody>
          <a:bodyPr/>
          <a:lstStyle/>
          <a:p>
            <a:pPr eaLnBrk="1" hangingPunct="1"/>
            <a:r>
              <a:rPr lang="zh-CN" altLang="en-US" smtClean="0"/>
              <a:t>卡诺图的构成</a:t>
            </a:r>
          </a:p>
        </p:txBody>
      </p:sp>
      <p:sp>
        <p:nvSpPr>
          <p:cNvPr id="66565" name="Rectangle 3"/>
          <p:cNvSpPr>
            <a:spLocks noGrp="1" noChangeArrowheads="1"/>
          </p:cNvSpPr>
          <p:nvPr>
            <p:ph type="body" idx="1"/>
          </p:nvPr>
        </p:nvSpPr>
        <p:spPr/>
        <p:txBody>
          <a:bodyPr/>
          <a:lstStyle/>
          <a:p>
            <a:pPr eaLnBrk="1" hangingPunct="1"/>
            <a:r>
              <a:rPr lang="zh-CN" altLang="en-US" smtClean="0"/>
              <a:t>卡诺图是真值表的二维形式。</a:t>
            </a:r>
          </a:p>
          <a:p>
            <a:pPr eaLnBrk="1" hangingPunct="1"/>
            <a:r>
              <a:rPr lang="zh-CN" altLang="en-US" smtClean="0"/>
              <a:t>卡诺图的单元格采用以下的排列方式：相邻单元格的真值表输入只有一位不同。</a:t>
            </a:r>
          </a:p>
        </p:txBody>
      </p:sp>
      <p:graphicFrame>
        <p:nvGraphicFramePr>
          <p:cNvPr id="186474" name="Group 106"/>
          <p:cNvGraphicFramePr>
            <a:graphicFrameLocks noGrp="1"/>
          </p:cNvGraphicFramePr>
          <p:nvPr/>
        </p:nvGraphicFramePr>
        <p:xfrm>
          <a:off x="1600200" y="3124200"/>
          <a:ext cx="2438400" cy="2208213"/>
        </p:xfrm>
        <a:graphic>
          <a:graphicData uri="http://schemas.openxmlformats.org/drawingml/2006/table">
            <a:tbl>
              <a:tblPr/>
              <a:tblGrid>
                <a:gridCol w="776288"/>
                <a:gridCol w="849312"/>
                <a:gridCol w="812800"/>
              </a:tblGrid>
              <a:tr h="787400">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A</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B</a:t>
                      </a:r>
                    </a:p>
                  </a:txBody>
                  <a:tcPr horzOverflow="overflow">
                    <a:lnL>
                      <a:noFill/>
                    </a:lnL>
                    <a:lnR>
                      <a:noFill/>
                    </a:lnR>
                    <a:lnT>
                      <a:noFill/>
                    </a:lnT>
                    <a:lnB>
                      <a:noFill/>
                    </a:lnB>
                    <a:lnTlToBr w="28575" cap="flat" cmpd="sng" algn="ctr">
                      <a:solidFill>
                        <a:schemeClr val="tx1"/>
                      </a:solidFill>
                      <a:prstDash val="solid"/>
                      <a:miter lim="800000"/>
                      <a:headEnd type="none" w="med" len="med"/>
                      <a:tailEnd type="none" w="med" len="med"/>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altLang="zh-CN" sz="2000" b="0" i="0" u="none" strike="noStrike" cap="none" normalizeH="0" baseline="0" smtClean="0">
                        <a:ln>
                          <a:noFill/>
                        </a:ln>
                        <a:solidFill>
                          <a:schemeClr val="tx1"/>
                        </a:solidFill>
                        <a:effectLst/>
                        <a:latin typeface="Tahoma" pitchFamily="34" charset="0"/>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0</a:t>
                      </a:r>
                    </a:p>
                  </a:txBody>
                  <a:tcPr horzOverflow="overflow">
                    <a:lnL>
                      <a:noFill/>
                    </a:lnL>
                    <a:lnR>
                      <a:noFill/>
                    </a:lnR>
                    <a:lnT>
                      <a:noFill/>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altLang="zh-CN" sz="2000" b="0" i="0" u="none" strike="noStrike" cap="none" normalizeH="0" baseline="0" smtClean="0">
                        <a:ln>
                          <a:noFill/>
                        </a:ln>
                        <a:solidFill>
                          <a:schemeClr val="tx1"/>
                        </a:solidFill>
                        <a:effectLst/>
                        <a:latin typeface="Tahoma" pitchFamily="34" charset="0"/>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1</a:t>
                      </a:r>
                    </a:p>
                  </a:txBody>
                  <a:tcPr horzOverflow="overflow">
                    <a:lnL>
                      <a:noFill/>
                    </a:lnL>
                    <a:lnR>
                      <a:noFill/>
                    </a:lnR>
                    <a:lnT>
                      <a:noFill/>
                    </a:lnT>
                    <a:lnB w="28575" cap="flat" cmpd="sng" algn="ctr">
                      <a:solidFill>
                        <a:schemeClr val="tx1"/>
                      </a:solidFill>
                      <a:prstDash val="solid"/>
                      <a:miter lim="800000"/>
                      <a:headEnd type="none" w="med" len="med"/>
                      <a:tailEnd type="none" w="med" len="med"/>
                    </a:lnB>
                    <a:lnTlToBr>
                      <a:noFill/>
                    </a:lnTlToBr>
                    <a:lnBlToTr>
                      <a:noFill/>
                    </a:lnBlToTr>
                    <a:noFill/>
                  </a:tcPr>
                </a:tc>
              </a:tr>
              <a:tr h="711200">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0</a:t>
                      </a:r>
                    </a:p>
                  </a:txBody>
                  <a:tcPr anchor="ctr" horzOverflow="overflow">
                    <a:lnL>
                      <a:noFill/>
                    </a:lnL>
                    <a:lnR w="28575" cap="flat" cmpd="sng" algn="ctr">
                      <a:solidFill>
                        <a:schemeClr val="tx1"/>
                      </a:solidFill>
                      <a:prstDash val="solid"/>
                      <a:miter lim="800000"/>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smtClean="0">
                          <a:ln>
                            <a:noFill/>
                          </a:ln>
                          <a:solidFill>
                            <a:schemeClr val="tx1"/>
                          </a:solidFill>
                          <a:effectLst/>
                          <a:latin typeface="Tahoma" pitchFamily="34" charset="0"/>
                          <a:ea typeface="宋体" pitchFamily="2" charset="-122"/>
                        </a:rPr>
                        <a:t>m</a:t>
                      </a:r>
                      <a:r>
                        <a:rPr kumimoji="0" lang="en-US" altLang="zh-CN" sz="2800" b="0" i="0" u="none" strike="noStrike" cap="none" normalizeH="0" baseline="-25000" smtClean="0">
                          <a:ln>
                            <a:noFill/>
                          </a:ln>
                          <a:solidFill>
                            <a:schemeClr val="tx1"/>
                          </a:solidFill>
                          <a:effectLst/>
                          <a:latin typeface="Tahoma" pitchFamily="34" charset="0"/>
                          <a:ea typeface="宋体" pitchFamily="2" charset="-122"/>
                        </a:rPr>
                        <a:t>0</a:t>
                      </a:r>
                    </a:p>
                  </a:txBody>
                  <a:tcPr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smtClean="0">
                          <a:ln>
                            <a:noFill/>
                          </a:ln>
                          <a:solidFill>
                            <a:schemeClr val="tx1"/>
                          </a:solidFill>
                          <a:effectLst/>
                          <a:latin typeface="Tahoma" pitchFamily="34" charset="0"/>
                          <a:ea typeface="宋体" pitchFamily="2" charset="-122"/>
                        </a:rPr>
                        <a:t>m</a:t>
                      </a:r>
                      <a:r>
                        <a:rPr kumimoji="0" lang="en-US" altLang="zh-CN" sz="2800" b="0" i="0" u="none" strike="noStrike" cap="none" normalizeH="0" baseline="-25000" smtClean="0">
                          <a:ln>
                            <a:noFill/>
                          </a:ln>
                          <a:solidFill>
                            <a:schemeClr val="tx1"/>
                          </a:solidFill>
                          <a:effectLst/>
                          <a:latin typeface="Tahoma" pitchFamily="34" charset="0"/>
                          <a:ea typeface="宋体" pitchFamily="2" charset="-122"/>
                        </a:rPr>
                        <a:t>2</a:t>
                      </a:r>
                    </a:p>
                  </a:txBody>
                  <a:tcPr anchor="ct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709613">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1</a:t>
                      </a:r>
                    </a:p>
                  </a:txBody>
                  <a:tcPr anchor="ctr" horzOverflow="overflow">
                    <a:lnL>
                      <a:noFill/>
                    </a:lnL>
                    <a:lnR w="28575" cap="flat" cmpd="sng" algn="ctr">
                      <a:solidFill>
                        <a:schemeClr val="tx1"/>
                      </a:solidFill>
                      <a:prstDash val="solid"/>
                      <a:miter lim="800000"/>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smtClean="0">
                          <a:ln>
                            <a:noFill/>
                          </a:ln>
                          <a:solidFill>
                            <a:schemeClr val="tx1"/>
                          </a:solidFill>
                          <a:effectLst/>
                          <a:latin typeface="Tahoma" pitchFamily="34" charset="0"/>
                          <a:ea typeface="宋体" pitchFamily="2" charset="-122"/>
                        </a:rPr>
                        <a:t>m</a:t>
                      </a:r>
                      <a:r>
                        <a:rPr kumimoji="0" lang="en-US" altLang="zh-CN" sz="2800" b="0" i="0" u="none" strike="noStrike" cap="none" normalizeH="0" baseline="-25000" smtClean="0">
                          <a:ln>
                            <a:noFill/>
                          </a:ln>
                          <a:solidFill>
                            <a:schemeClr val="tx1"/>
                          </a:solidFill>
                          <a:effectLst/>
                          <a:latin typeface="Tahoma" pitchFamily="34" charset="0"/>
                          <a:ea typeface="宋体" pitchFamily="2" charset="-122"/>
                        </a:rPr>
                        <a:t>1</a:t>
                      </a:r>
                    </a:p>
                  </a:txBody>
                  <a:tcPr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smtClean="0">
                          <a:ln>
                            <a:noFill/>
                          </a:ln>
                          <a:solidFill>
                            <a:schemeClr val="tx1"/>
                          </a:solidFill>
                          <a:effectLst/>
                          <a:latin typeface="Tahoma" pitchFamily="34" charset="0"/>
                          <a:ea typeface="宋体" pitchFamily="2" charset="-122"/>
                        </a:rPr>
                        <a:t>m</a:t>
                      </a:r>
                      <a:r>
                        <a:rPr kumimoji="0" lang="en-US" altLang="zh-CN" sz="2800" b="0" i="0" u="none" strike="noStrike" cap="none" normalizeH="0" baseline="-25000" smtClean="0">
                          <a:ln>
                            <a:noFill/>
                          </a:ln>
                          <a:solidFill>
                            <a:schemeClr val="tx1"/>
                          </a:solidFill>
                          <a:effectLst/>
                          <a:latin typeface="Tahoma" pitchFamily="34" charset="0"/>
                          <a:ea typeface="宋体" pitchFamily="2" charset="-122"/>
                        </a:rPr>
                        <a:t>3</a:t>
                      </a:r>
                    </a:p>
                  </a:txBody>
                  <a:tcPr anchor="ct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graphicFrame>
        <p:nvGraphicFramePr>
          <p:cNvPr id="186476" name="Group 108"/>
          <p:cNvGraphicFramePr>
            <a:graphicFrameLocks noGrp="1"/>
          </p:cNvGraphicFramePr>
          <p:nvPr/>
        </p:nvGraphicFramePr>
        <p:xfrm>
          <a:off x="4572000" y="3124200"/>
          <a:ext cx="2438400" cy="2208213"/>
        </p:xfrm>
        <a:graphic>
          <a:graphicData uri="http://schemas.openxmlformats.org/drawingml/2006/table">
            <a:tbl>
              <a:tblPr/>
              <a:tblGrid>
                <a:gridCol w="776288"/>
                <a:gridCol w="849312"/>
                <a:gridCol w="812800"/>
              </a:tblGrid>
              <a:tr h="787400">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A</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B</a:t>
                      </a:r>
                    </a:p>
                  </a:txBody>
                  <a:tcPr horzOverflow="overflow">
                    <a:lnL>
                      <a:noFill/>
                    </a:lnL>
                    <a:lnR>
                      <a:noFill/>
                    </a:lnR>
                    <a:lnT>
                      <a:noFill/>
                    </a:lnT>
                    <a:lnB>
                      <a:noFill/>
                    </a:lnB>
                    <a:lnTlToBr w="28575" cap="flat" cmpd="sng" algn="ctr">
                      <a:solidFill>
                        <a:schemeClr val="tx1"/>
                      </a:solidFill>
                      <a:prstDash val="solid"/>
                      <a:miter lim="800000"/>
                      <a:headEnd type="none" w="med" len="med"/>
                      <a:tailEnd type="none" w="med" len="med"/>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altLang="zh-CN" sz="2000" b="0" i="0" u="none" strike="noStrike" cap="none" normalizeH="0" baseline="0" smtClean="0">
                        <a:ln>
                          <a:noFill/>
                        </a:ln>
                        <a:solidFill>
                          <a:schemeClr val="tx1"/>
                        </a:solidFill>
                        <a:effectLst/>
                        <a:latin typeface="Tahoma" pitchFamily="34" charset="0"/>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0</a:t>
                      </a:r>
                    </a:p>
                  </a:txBody>
                  <a:tcPr horzOverflow="overflow">
                    <a:lnL>
                      <a:noFill/>
                    </a:lnL>
                    <a:lnR>
                      <a:noFill/>
                    </a:lnR>
                    <a:lnT>
                      <a:noFill/>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altLang="zh-CN" sz="2000" b="0" i="0" u="none" strike="noStrike" cap="none" normalizeH="0" baseline="0" smtClean="0">
                        <a:ln>
                          <a:noFill/>
                        </a:ln>
                        <a:solidFill>
                          <a:schemeClr val="tx1"/>
                        </a:solidFill>
                        <a:effectLst/>
                        <a:latin typeface="Tahoma" pitchFamily="34" charset="0"/>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1</a:t>
                      </a:r>
                    </a:p>
                  </a:txBody>
                  <a:tcPr horzOverflow="overflow">
                    <a:lnL>
                      <a:noFill/>
                    </a:lnL>
                    <a:lnR>
                      <a:noFill/>
                    </a:lnR>
                    <a:lnT>
                      <a:noFill/>
                    </a:lnT>
                    <a:lnB w="28575" cap="flat" cmpd="sng" algn="ctr">
                      <a:solidFill>
                        <a:schemeClr val="tx1"/>
                      </a:solidFill>
                      <a:prstDash val="solid"/>
                      <a:miter lim="800000"/>
                      <a:headEnd type="none" w="med" len="med"/>
                      <a:tailEnd type="none" w="med" len="med"/>
                    </a:lnB>
                    <a:lnTlToBr>
                      <a:noFill/>
                    </a:lnTlToBr>
                    <a:lnBlToTr>
                      <a:noFill/>
                    </a:lnBlToTr>
                    <a:noFill/>
                  </a:tcPr>
                </a:tc>
              </a:tr>
              <a:tr h="711200">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0</a:t>
                      </a:r>
                    </a:p>
                  </a:txBody>
                  <a:tcPr anchor="ctr" horzOverflow="overflow">
                    <a:lnL>
                      <a:noFill/>
                    </a:lnL>
                    <a:lnR w="28575" cap="flat" cmpd="sng" algn="ctr">
                      <a:solidFill>
                        <a:schemeClr val="tx1"/>
                      </a:solidFill>
                      <a:prstDash val="solid"/>
                      <a:miter lim="800000"/>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smtClean="0">
                          <a:ln>
                            <a:noFill/>
                          </a:ln>
                          <a:solidFill>
                            <a:schemeClr val="tx1"/>
                          </a:solidFill>
                          <a:effectLst/>
                          <a:latin typeface="Tahoma" pitchFamily="34" charset="0"/>
                          <a:ea typeface="宋体" pitchFamily="2" charset="-122"/>
                        </a:rPr>
                        <a:t>AB</a:t>
                      </a:r>
                      <a:endParaRPr kumimoji="0" lang="en-US" altLang="zh-CN" sz="2800" b="0" i="0" u="none" strike="noStrike" cap="none" normalizeH="0" baseline="-25000" smtClean="0">
                        <a:ln>
                          <a:noFill/>
                        </a:ln>
                        <a:solidFill>
                          <a:schemeClr val="tx1"/>
                        </a:solidFill>
                        <a:effectLst/>
                        <a:latin typeface="Tahoma" pitchFamily="34" charset="0"/>
                        <a:ea typeface="宋体" pitchFamily="2" charset="-122"/>
                      </a:endParaRPr>
                    </a:p>
                  </a:txBody>
                  <a:tcPr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smtClean="0">
                          <a:ln>
                            <a:noFill/>
                          </a:ln>
                          <a:solidFill>
                            <a:schemeClr val="tx1"/>
                          </a:solidFill>
                          <a:effectLst/>
                          <a:latin typeface="Tahoma" pitchFamily="34" charset="0"/>
                          <a:ea typeface="宋体" pitchFamily="2" charset="-122"/>
                        </a:rPr>
                        <a:t>AB</a:t>
                      </a:r>
                      <a:endParaRPr kumimoji="0" lang="en-US" altLang="zh-CN" sz="2800" b="0" i="0" u="none" strike="noStrike" cap="none" normalizeH="0" baseline="-25000" smtClean="0">
                        <a:ln>
                          <a:noFill/>
                        </a:ln>
                        <a:solidFill>
                          <a:schemeClr val="tx1"/>
                        </a:solidFill>
                        <a:effectLst/>
                        <a:latin typeface="Tahoma" pitchFamily="34" charset="0"/>
                        <a:ea typeface="宋体" pitchFamily="2" charset="-122"/>
                      </a:endParaRPr>
                    </a:p>
                  </a:txBody>
                  <a:tcPr anchor="ct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709613">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1</a:t>
                      </a:r>
                    </a:p>
                  </a:txBody>
                  <a:tcPr anchor="ctr" horzOverflow="overflow">
                    <a:lnL>
                      <a:noFill/>
                    </a:lnL>
                    <a:lnR w="28575" cap="flat" cmpd="sng" algn="ctr">
                      <a:solidFill>
                        <a:schemeClr val="tx1"/>
                      </a:solidFill>
                      <a:prstDash val="solid"/>
                      <a:miter lim="800000"/>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smtClean="0">
                          <a:ln>
                            <a:noFill/>
                          </a:ln>
                          <a:solidFill>
                            <a:schemeClr val="tx1"/>
                          </a:solidFill>
                          <a:effectLst/>
                          <a:latin typeface="Tahoma" pitchFamily="34" charset="0"/>
                          <a:ea typeface="宋体" pitchFamily="2" charset="-122"/>
                        </a:rPr>
                        <a:t>AB</a:t>
                      </a:r>
                      <a:endParaRPr kumimoji="0" lang="en-US" altLang="zh-CN" sz="2800" b="0" i="0" u="none" strike="noStrike" cap="none" normalizeH="0" baseline="-25000" smtClean="0">
                        <a:ln>
                          <a:noFill/>
                        </a:ln>
                        <a:solidFill>
                          <a:schemeClr val="tx1"/>
                        </a:solidFill>
                        <a:effectLst/>
                        <a:latin typeface="Tahoma" pitchFamily="34" charset="0"/>
                        <a:ea typeface="宋体" pitchFamily="2" charset="-122"/>
                      </a:endParaRPr>
                    </a:p>
                  </a:txBody>
                  <a:tcPr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smtClean="0">
                          <a:ln>
                            <a:noFill/>
                          </a:ln>
                          <a:solidFill>
                            <a:schemeClr val="tx1"/>
                          </a:solidFill>
                          <a:effectLst/>
                          <a:latin typeface="Tahoma" pitchFamily="34" charset="0"/>
                          <a:ea typeface="宋体" pitchFamily="2" charset="-122"/>
                        </a:rPr>
                        <a:t>AB</a:t>
                      </a:r>
                      <a:endParaRPr kumimoji="0" lang="en-US" altLang="zh-CN" sz="2800" b="0" i="0" u="none" strike="noStrike" cap="none" normalizeH="0" baseline="-25000" smtClean="0">
                        <a:ln>
                          <a:noFill/>
                        </a:ln>
                        <a:solidFill>
                          <a:schemeClr val="tx1"/>
                        </a:solidFill>
                        <a:effectLst/>
                        <a:latin typeface="Tahoma" pitchFamily="34" charset="0"/>
                        <a:ea typeface="宋体" pitchFamily="2" charset="-122"/>
                      </a:endParaRPr>
                    </a:p>
                  </a:txBody>
                  <a:tcPr anchor="ct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sp>
        <p:nvSpPr>
          <p:cNvPr id="66600" name="Line 100"/>
          <p:cNvSpPr>
            <a:spLocks noChangeShapeType="1"/>
          </p:cNvSpPr>
          <p:nvPr/>
        </p:nvSpPr>
        <p:spPr bwMode="auto">
          <a:xfrm>
            <a:off x="5562600" y="4114800"/>
            <a:ext cx="1524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6601" name="Line 101"/>
          <p:cNvSpPr>
            <a:spLocks noChangeShapeType="1"/>
          </p:cNvSpPr>
          <p:nvPr/>
        </p:nvSpPr>
        <p:spPr bwMode="auto">
          <a:xfrm>
            <a:off x="5791200" y="4114800"/>
            <a:ext cx="1524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6602" name="Line 102"/>
          <p:cNvSpPr>
            <a:spLocks noChangeShapeType="1"/>
          </p:cNvSpPr>
          <p:nvPr/>
        </p:nvSpPr>
        <p:spPr bwMode="auto">
          <a:xfrm>
            <a:off x="5562600" y="4800600"/>
            <a:ext cx="1524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6603" name="Line 103"/>
          <p:cNvSpPr>
            <a:spLocks noChangeShapeType="1"/>
          </p:cNvSpPr>
          <p:nvPr/>
        </p:nvSpPr>
        <p:spPr bwMode="auto">
          <a:xfrm>
            <a:off x="6629400" y="4114800"/>
            <a:ext cx="1524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6604" name="AutoShape 104"/>
          <p:cNvSpPr>
            <a:spLocks/>
          </p:cNvSpPr>
          <p:nvPr/>
        </p:nvSpPr>
        <p:spPr bwMode="auto">
          <a:xfrm>
            <a:off x="4876800" y="3962400"/>
            <a:ext cx="76200" cy="609600"/>
          </a:xfrm>
          <a:prstGeom prst="leftBrace">
            <a:avLst>
              <a:gd name="adj1" fmla="val 66667"/>
              <a:gd name="adj2" fmla="val 50000"/>
            </a:avLst>
          </a:prstGeom>
          <a:noFill/>
          <a:ln w="2857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6605" name="AutoShape 109"/>
          <p:cNvSpPr>
            <a:spLocks/>
          </p:cNvSpPr>
          <p:nvPr/>
        </p:nvSpPr>
        <p:spPr bwMode="auto">
          <a:xfrm>
            <a:off x="4876800" y="4648200"/>
            <a:ext cx="76200" cy="609600"/>
          </a:xfrm>
          <a:prstGeom prst="leftBrace">
            <a:avLst>
              <a:gd name="adj1" fmla="val 66667"/>
              <a:gd name="adj2" fmla="val 50000"/>
            </a:avLst>
          </a:prstGeom>
          <a:noFill/>
          <a:ln w="2857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6606" name="AutoShape 110"/>
          <p:cNvSpPr>
            <a:spLocks/>
          </p:cNvSpPr>
          <p:nvPr/>
        </p:nvSpPr>
        <p:spPr bwMode="auto">
          <a:xfrm flipH="1">
            <a:off x="4191000" y="3962400"/>
            <a:ext cx="76200" cy="609600"/>
          </a:xfrm>
          <a:prstGeom prst="leftBrace">
            <a:avLst>
              <a:gd name="adj1" fmla="val 66667"/>
              <a:gd name="adj2" fmla="val 50000"/>
            </a:avLst>
          </a:prstGeom>
          <a:noFill/>
          <a:ln w="2857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6607" name="AutoShape 111"/>
          <p:cNvSpPr>
            <a:spLocks/>
          </p:cNvSpPr>
          <p:nvPr/>
        </p:nvSpPr>
        <p:spPr bwMode="auto">
          <a:xfrm flipH="1">
            <a:off x="4191000" y="4648200"/>
            <a:ext cx="76200" cy="609600"/>
          </a:xfrm>
          <a:prstGeom prst="leftBrace">
            <a:avLst>
              <a:gd name="adj1" fmla="val 66667"/>
              <a:gd name="adj2" fmla="val 50000"/>
            </a:avLst>
          </a:prstGeom>
          <a:noFill/>
          <a:ln w="2857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6608" name="Text Box 112"/>
          <p:cNvSpPr txBox="1">
            <a:spLocks noChangeArrowheads="1"/>
          </p:cNvSpPr>
          <p:nvPr/>
        </p:nvSpPr>
        <p:spPr bwMode="auto">
          <a:xfrm>
            <a:off x="4403725" y="4079875"/>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en-US" altLang="zh-CN">
                <a:solidFill>
                  <a:schemeClr val="folHlink"/>
                </a:solidFill>
              </a:rPr>
              <a:t>B</a:t>
            </a:r>
          </a:p>
        </p:txBody>
      </p:sp>
      <p:sp>
        <p:nvSpPr>
          <p:cNvPr id="66609" name="Line 113"/>
          <p:cNvSpPr>
            <a:spLocks noChangeShapeType="1"/>
          </p:cNvSpPr>
          <p:nvPr/>
        </p:nvSpPr>
        <p:spPr bwMode="auto">
          <a:xfrm>
            <a:off x="4495800" y="4165600"/>
            <a:ext cx="152400" cy="0"/>
          </a:xfrm>
          <a:prstGeom prst="line">
            <a:avLst/>
          </a:prstGeom>
          <a:noFill/>
          <a:ln w="28575">
            <a:solidFill>
              <a:schemeClr val="folHlink"/>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6610" name="Text Box 114"/>
          <p:cNvSpPr txBox="1">
            <a:spLocks noChangeArrowheads="1"/>
          </p:cNvSpPr>
          <p:nvPr/>
        </p:nvSpPr>
        <p:spPr bwMode="auto">
          <a:xfrm>
            <a:off x="4413250" y="4724400"/>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en-US" altLang="zh-CN">
                <a:solidFill>
                  <a:schemeClr val="folHlink"/>
                </a:solidFill>
              </a:rPr>
              <a:t>B</a:t>
            </a:r>
          </a:p>
        </p:txBody>
      </p:sp>
      <p:sp>
        <p:nvSpPr>
          <p:cNvPr id="66611" name="AutoShape 115"/>
          <p:cNvSpPr>
            <a:spLocks/>
          </p:cNvSpPr>
          <p:nvPr/>
        </p:nvSpPr>
        <p:spPr bwMode="auto">
          <a:xfrm rot="5400000" flipH="1">
            <a:off x="2781300" y="5143500"/>
            <a:ext cx="76200" cy="609600"/>
          </a:xfrm>
          <a:prstGeom prst="leftBrace">
            <a:avLst>
              <a:gd name="adj1" fmla="val 66667"/>
              <a:gd name="adj2" fmla="val 50000"/>
            </a:avLst>
          </a:prstGeom>
          <a:noFill/>
          <a:ln w="2857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6612" name="AutoShape 116"/>
          <p:cNvSpPr>
            <a:spLocks/>
          </p:cNvSpPr>
          <p:nvPr/>
        </p:nvSpPr>
        <p:spPr bwMode="auto">
          <a:xfrm rot="5400000" flipH="1">
            <a:off x="3619500" y="5143500"/>
            <a:ext cx="76200" cy="609600"/>
          </a:xfrm>
          <a:prstGeom prst="leftBrace">
            <a:avLst>
              <a:gd name="adj1" fmla="val 66667"/>
              <a:gd name="adj2" fmla="val 50000"/>
            </a:avLst>
          </a:prstGeom>
          <a:noFill/>
          <a:ln w="2857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6613" name="AutoShape 117"/>
          <p:cNvSpPr>
            <a:spLocks/>
          </p:cNvSpPr>
          <p:nvPr/>
        </p:nvSpPr>
        <p:spPr bwMode="auto">
          <a:xfrm rot="5400000" flipH="1">
            <a:off x="5676900" y="5143500"/>
            <a:ext cx="76200" cy="609600"/>
          </a:xfrm>
          <a:prstGeom prst="leftBrace">
            <a:avLst>
              <a:gd name="adj1" fmla="val 66667"/>
              <a:gd name="adj2" fmla="val 50000"/>
            </a:avLst>
          </a:prstGeom>
          <a:noFill/>
          <a:ln w="2857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6614" name="AutoShape 118"/>
          <p:cNvSpPr>
            <a:spLocks/>
          </p:cNvSpPr>
          <p:nvPr/>
        </p:nvSpPr>
        <p:spPr bwMode="auto">
          <a:xfrm rot="5400000" flipH="1">
            <a:off x="6591300" y="5143500"/>
            <a:ext cx="76200" cy="609600"/>
          </a:xfrm>
          <a:prstGeom prst="leftBrace">
            <a:avLst>
              <a:gd name="adj1" fmla="val 66667"/>
              <a:gd name="adj2" fmla="val 50000"/>
            </a:avLst>
          </a:prstGeom>
          <a:noFill/>
          <a:ln w="2857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6615" name="Text Box 119"/>
          <p:cNvSpPr txBox="1">
            <a:spLocks noChangeArrowheads="1"/>
          </p:cNvSpPr>
          <p:nvPr/>
        </p:nvSpPr>
        <p:spPr bwMode="auto">
          <a:xfrm>
            <a:off x="2660650" y="5486400"/>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en-US" altLang="zh-CN">
                <a:solidFill>
                  <a:schemeClr val="folHlink"/>
                </a:solidFill>
              </a:rPr>
              <a:t>A</a:t>
            </a:r>
          </a:p>
        </p:txBody>
      </p:sp>
      <p:sp>
        <p:nvSpPr>
          <p:cNvPr id="66616" name="Text Box 120"/>
          <p:cNvSpPr txBox="1">
            <a:spLocks noChangeArrowheads="1"/>
          </p:cNvSpPr>
          <p:nvPr/>
        </p:nvSpPr>
        <p:spPr bwMode="auto">
          <a:xfrm>
            <a:off x="3429000" y="5486400"/>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en-US" altLang="zh-CN">
                <a:solidFill>
                  <a:schemeClr val="folHlink"/>
                </a:solidFill>
              </a:rPr>
              <a:t>A</a:t>
            </a:r>
          </a:p>
        </p:txBody>
      </p:sp>
      <p:sp>
        <p:nvSpPr>
          <p:cNvPr id="66617" name="Text Box 121"/>
          <p:cNvSpPr txBox="1">
            <a:spLocks noChangeArrowheads="1"/>
          </p:cNvSpPr>
          <p:nvPr/>
        </p:nvSpPr>
        <p:spPr bwMode="auto">
          <a:xfrm>
            <a:off x="5538788" y="5486400"/>
            <a:ext cx="4048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en-US" altLang="zh-CN">
                <a:solidFill>
                  <a:schemeClr val="folHlink"/>
                </a:solidFill>
              </a:rPr>
              <a:t>A</a:t>
            </a:r>
          </a:p>
        </p:txBody>
      </p:sp>
      <p:sp>
        <p:nvSpPr>
          <p:cNvPr id="66618" name="Text Box 122"/>
          <p:cNvSpPr txBox="1">
            <a:spLocks noChangeArrowheads="1"/>
          </p:cNvSpPr>
          <p:nvPr/>
        </p:nvSpPr>
        <p:spPr bwMode="auto">
          <a:xfrm>
            <a:off x="6400800" y="5486400"/>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en-US" altLang="zh-CN">
                <a:solidFill>
                  <a:schemeClr val="folHlink"/>
                </a:solidFill>
              </a:rPr>
              <a:t>A</a:t>
            </a:r>
          </a:p>
        </p:txBody>
      </p:sp>
      <p:sp>
        <p:nvSpPr>
          <p:cNvPr id="66619" name="Line 123"/>
          <p:cNvSpPr>
            <a:spLocks noChangeShapeType="1"/>
          </p:cNvSpPr>
          <p:nvPr/>
        </p:nvSpPr>
        <p:spPr bwMode="auto">
          <a:xfrm>
            <a:off x="2781300" y="5575300"/>
            <a:ext cx="152400" cy="0"/>
          </a:xfrm>
          <a:prstGeom prst="line">
            <a:avLst/>
          </a:prstGeom>
          <a:noFill/>
          <a:ln w="28575">
            <a:solidFill>
              <a:schemeClr val="folHlink"/>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6620" name="Line 124"/>
          <p:cNvSpPr>
            <a:spLocks noChangeShapeType="1"/>
          </p:cNvSpPr>
          <p:nvPr/>
        </p:nvSpPr>
        <p:spPr bwMode="auto">
          <a:xfrm>
            <a:off x="5664200" y="5575300"/>
            <a:ext cx="152400" cy="0"/>
          </a:xfrm>
          <a:prstGeom prst="line">
            <a:avLst/>
          </a:prstGeom>
          <a:noFill/>
          <a:ln w="28575">
            <a:solidFill>
              <a:schemeClr val="folHlink"/>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6621" name="Text Box 125"/>
          <p:cNvSpPr txBox="1">
            <a:spLocks noChangeArrowheads="1"/>
          </p:cNvSpPr>
          <p:nvPr/>
        </p:nvSpPr>
        <p:spPr bwMode="auto">
          <a:xfrm>
            <a:off x="4006850" y="5867400"/>
            <a:ext cx="1098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zh-CN" altLang="en-US"/>
              <a:t>二变量</a:t>
            </a:r>
          </a:p>
        </p:txBody>
      </p:sp>
    </p:spTree>
  </p:cSld>
  <p:clrMapOvr>
    <a:masterClrMapping/>
  </p:clrMapOvr>
  <p:transition>
    <p:random/>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日期占位符 3"/>
          <p:cNvSpPr>
            <a:spLocks noGrp="1"/>
          </p:cNvSpPr>
          <p:nvPr>
            <p:ph type="dt" sz="quarter" idx="10"/>
          </p:nvPr>
        </p:nvSpPr>
        <p:spPr/>
        <p:txBody>
          <a:bodyPr/>
          <a:lstStyle/>
          <a:p>
            <a:pPr>
              <a:defRPr/>
            </a:pPr>
            <a:fld id="{7A2C125F-2871-4877-855F-5533900A344D}" type="datetime1">
              <a:rPr lang="zh-CN" altLang="en-US"/>
              <a:pPr>
                <a:defRPr/>
              </a:pPr>
              <a:t>2021/9/21</a:t>
            </a:fld>
            <a:endParaRPr lang="en-US" altLang="zh-CN"/>
          </a:p>
        </p:txBody>
      </p:sp>
      <p:sp>
        <p:nvSpPr>
          <p:cNvPr id="90" name="灯片编号占位符 5"/>
          <p:cNvSpPr>
            <a:spLocks noGrp="1"/>
          </p:cNvSpPr>
          <p:nvPr>
            <p:ph type="sldNum" sz="quarter" idx="12"/>
          </p:nvPr>
        </p:nvSpPr>
        <p:spPr/>
        <p:txBody>
          <a:bodyPr/>
          <a:lstStyle/>
          <a:p>
            <a:pPr>
              <a:defRPr/>
            </a:pPr>
            <a:fld id="{8EFFE5DC-A508-4D3A-A1DA-189B733B267B}" type="slidenum">
              <a:rPr lang="en-US" altLang="zh-CN"/>
              <a:pPr>
                <a:defRPr/>
              </a:pPr>
              <a:t>64</a:t>
            </a:fld>
            <a:endParaRPr lang="en-US" altLang="zh-CN"/>
          </a:p>
        </p:txBody>
      </p:sp>
      <p:sp>
        <p:nvSpPr>
          <p:cNvPr id="67588" name="Rectangle 2"/>
          <p:cNvSpPr>
            <a:spLocks noGrp="1" noChangeArrowheads="1"/>
          </p:cNvSpPr>
          <p:nvPr>
            <p:ph type="title"/>
          </p:nvPr>
        </p:nvSpPr>
        <p:spPr>
          <a:xfrm>
            <a:off x="1150938" y="533400"/>
            <a:ext cx="7793037" cy="609600"/>
          </a:xfrm>
        </p:spPr>
        <p:txBody>
          <a:bodyPr/>
          <a:lstStyle/>
          <a:p>
            <a:pPr eaLnBrk="1" hangingPunct="1"/>
            <a:r>
              <a:rPr lang="zh-CN" altLang="en-US" smtClean="0"/>
              <a:t>卡诺图的构成</a:t>
            </a:r>
          </a:p>
        </p:txBody>
      </p:sp>
      <p:graphicFrame>
        <p:nvGraphicFramePr>
          <p:cNvPr id="188595" name="Group 179"/>
          <p:cNvGraphicFramePr>
            <a:graphicFrameLocks noGrp="1"/>
          </p:cNvGraphicFramePr>
          <p:nvPr/>
        </p:nvGraphicFramePr>
        <p:xfrm>
          <a:off x="4419600" y="1981200"/>
          <a:ext cx="3200400" cy="3003551"/>
        </p:xfrm>
        <a:graphic>
          <a:graphicData uri="http://schemas.openxmlformats.org/drawingml/2006/table">
            <a:tbl>
              <a:tblPr/>
              <a:tblGrid>
                <a:gridCol w="762000"/>
                <a:gridCol w="609600"/>
                <a:gridCol w="609600"/>
                <a:gridCol w="609600"/>
                <a:gridCol w="609600"/>
              </a:tblGrid>
              <a:tr h="815975">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dirty="0" smtClean="0">
                          <a:ln>
                            <a:noFill/>
                          </a:ln>
                          <a:solidFill>
                            <a:schemeClr val="tx1"/>
                          </a:solidFill>
                          <a:effectLst/>
                          <a:latin typeface="Tahoma" pitchFamily="34" charset="0"/>
                          <a:ea typeface="宋体" pitchFamily="2" charset="-122"/>
                        </a:rPr>
                        <a:t>AB</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dirty="0" smtClean="0">
                          <a:ln>
                            <a:noFill/>
                          </a:ln>
                          <a:solidFill>
                            <a:schemeClr val="tx1"/>
                          </a:solidFill>
                          <a:effectLst/>
                          <a:latin typeface="Tahoma" pitchFamily="34" charset="0"/>
                          <a:ea typeface="宋体" pitchFamily="2" charset="-122"/>
                        </a:rPr>
                        <a:t>CD</a:t>
                      </a:r>
                    </a:p>
                  </a:txBody>
                  <a:tcPr anchor="ctr" horzOverflow="overflow">
                    <a:lnL cap="flat">
                      <a:noFill/>
                    </a:lnL>
                    <a:lnR>
                      <a:noFill/>
                    </a:lnR>
                    <a:lnT cap="flat">
                      <a:noFill/>
                    </a:lnT>
                    <a:lnB>
                      <a:noFill/>
                    </a:lnB>
                    <a:lnTlToBr w="28575" cap="flat" cmpd="sng" algn="ctr">
                      <a:solidFill>
                        <a:schemeClr val="tx1"/>
                      </a:solidFill>
                      <a:prstDash val="solid"/>
                      <a:miter lim="800000"/>
                      <a:headEnd type="none" w="med" len="med"/>
                      <a:tailEnd type="none" w="med" len="med"/>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00</a:t>
                      </a:r>
                    </a:p>
                  </a:txBody>
                  <a:tcPr anchor="b" horzOverflow="overflow">
                    <a:lnL>
                      <a:noFill/>
                    </a:lnL>
                    <a:lnR>
                      <a:noFill/>
                    </a:lnR>
                    <a:lnT cap="flat">
                      <a:noFill/>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01</a:t>
                      </a:r>
                    </a:p>
                  </a:txBody>
                  <a:tcPr anchor="b" horzOverflow="overflow">
                    <a:lnL>
                      <a:noFill/>
                    </a:lnL>
                    <a:lnR>
                      <a:noFill/>
                    </a:lnR>
                    <a:lnT cap="flat">
                      <a:noFill/>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11</a:t>
                      </a:r>
                    </a:p>
                  </a:txBody>
                  <a:tcPr anchor="b" horzOverflow="overflow">
                    <a:lnL>
                      <a:noFill/>
                    </a:lnL>
                    <a:lnR>
                      <a:noFill/>
                    </a:lnR>
                    <a:lnT cap="flat">
                      <a:noFill/>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10</a:t>
                      </a:r>
                    </a:p>
                  </a:txBody>
                  <a:tcPr anchor="b" horzOverflow="overflow">
                    <a:lnL>
                      <a:noFill/>
                    </a:lnL>
                    <a:lnR cap="flat">
                      <a:noFill/>
                    </a:lnR>
                    <a:lnT cap="flat">
                      <a:noFill/>
                    </a:lnT>
                    <a:lnB w="28575" cap="flat" cmpd="sng" algn="ctr">
                      <a:solidFill>
                        <a:schemeClr val="tx1"/>
                      </a:solidFill>
                      <a:prstDash val="solid"/>
                      <a:miter lim="800000"/>
                      <a:headEnd type="none" w="med" len="med"/>
                      <a:tailEnd type="none" w="med" len="med"/>
                    </a:lnB>
                    <a:lnTlToBr>
                      <a:noFill/>
                    </a:lnTlToBr>
                    <a:lnBlToTr>
                      <a:noFill/>
                    </a:lnBlToTr>
                    <a:noFill/>
                  </a:tcPr>
                </a:tc>
              </a:tr>
              <a:tr h="547688">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00</a:t>
                      </a:r>
                    </a:p>
                  </a:txBody>
                  <a:tcPr anchor="ctr" horzOverflow="overflow">
                    <a:lnL cap="flat">
                      <a:noFill/>
                    </a:lnL>
                    <a:lnR w="28575" cap="flat" cmpd="sng" algn="ctr">
                      <a:solidFill>
                        <a:schemeClr val="tx1"/>
                      </a:solidFill>
                      <a:prstDash val="solid"/>
                      <a:miter lim="800000"/>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m</a:t>
                      </a:r>
                      <a:r>
                        <a:rPr kumimoji="0" lang="en-US" altLang="zh-CN" sz="2000" b="0" i="0" u="none" strike="noStrike" cap="none" normalizeH="0" baseline="-25000" smtClean="0">
                          <a:ln>
                            <a:noFill/>
                          </a:ln>
                          <a:solidFill>
                            <a:schemeClr val="tx1"/>
                          </a:solidFill>
                          <a:effectLst/>
                          <a:latin typeface="Tahoma" pitchFamily="34" charset="0"/>
                          <a:ea typeface="宋体" pitchFamily="2" charset="-122"/>
                        </a:rPr>
                        <a:t>0</a:t>
                      </a:r>
                    </a:p>
                  </a:txBody>
                  <a:tcPr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m</a:t>
                      </a:r>
                      <a:r>
                        <a:rPr kumimoji="0" lang="en-US" altLang="zh-CN" sz="2000" b="0" i="0" u="none" strike="noStrike" cap="none" normalizeH="0" baseline="-25000" smtClean="0">
                          <a:ln>
                            <a:noFill/>
                          </a:ln>
                          <a:solidFill>
                            <a:schemeClr val="tx1"/>
                          </a:solidFill>
                          <a:effectLst/>
                          <a:latin typeface="Tahoma" pitchFamily="34" charset="0"/>
                          <a:ea typeface="宋体" pitchFamily="2" charset="-122"/>
                        </a:rPr>
                        <a:t>4</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m</a:t>
                      </a:r>
                      <a:r>
                        <a:rPr kumimoji="0" lang="en-US" altLang="zh-CN" sz="2000" b="0" i="0" u="none" strike="noStrike" cap="none" normalizeH="0" baseline="-25000" smtClean="0">
                          <a:ln>
                            <a:noFill/>
                          </a:ln>
                          <a:solidFill>
                            <a:schemeClr val="tx1"/>
                          </a:solidFill>
                          <a:effectLst/>
                          <a:latin typeface="Tahoma" pitchFamily="34" charset="0"/>
                          <a:ea typeface="宋体" pitchFamily="2" charset="-122"/>
                        </a:rPr>
                        <a:t>12</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m</a:t>
                      </a:r>
                      <a:r>
                        <a:rPr kumimoji="0" lang="en-US" altLang="zh-CN" sz="2000" b="0" i="0" u="none" strike="noStrike" cap="none" normalizeH="0" baseline="-25000" smtClean="0">
                          <a:ln>
                            <a:noFill/>
                          </a:ln>
                          <a:solidFill>
                            <a:schemeClr val="tx1"/>
                          </a:solidFill>
                          <a:effectLst/>
                          <a:latin typeface="Tahoma" pitchFamily="34" charset="0"/>
                          <a:ea typeface="宋体" pitchFamily="2" charset="-122"/>
                        </a:rPr>
                        <a:t>8</a:t>
                      </a:r>
                    </a:p>
                  </a:txBody>
                  <a:tcPr anchor="ct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546100">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01</a:t>
                      </a:r>
                    </a:p>
                  </a:txBody>
                  <a:tcPr anchor="ctr" horzOverflow="overflow">
                    <a:lnL cap="flat">
                      <a:noFill/>
                    </a:lnL>
                    <a:lnR w="28575" cap="flat" cmpd="sng" algn="ctr">
                      <a:solidFill>
                        <a:schemeClr val="tx1"/>
                      </a:solidFill>
                      <a:prstDash val="solid"/>
                      <a:miter lim="800000"/>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m</a:t>
                      </a:r>
                      <a:r>
                        <a:rPr kumimoji="0" lang="en-US" altLang="zh-CN" sz="2000" b="0" i="0" u="none" strike="noStrike" cap="none" normalizeH="0" baseline="-25000" smtClean="0">
                          <a:ln>
                            <a:noFill/>
                          </a:ln>
                          <a:solidFill>
                            <a:schemeClr val="tx1"/>
                          </a:solidFill>
                          <a:effectLst/>
                          <a:latin typeface="Tahoma" pitchFamily="34" charset="0"/>
                          <a:ea typeface="宋体" pitchFamily="2" charset="-122"/>
                        </a:rPr>
                        <a:t>1</a:t>
                      </a:r>
                    </a:p>
                  </a:txBody>
                  <a:tcPr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m</a:t>
                      </a:r>
                      <a:r>
                        <a:rPr kumimoji="0" lang="en-US" altLang="zh-CN" sz="2000" b="0" i="0" u="none" strike="noStrike" cap="none" normalizeH="0" baseline="-25000" smtClean="0">
                          <a:ln>
                            <a:noFill/>
                          </a:ln>
                          <a:solidFill>
                            <a:schemeClr val="tx1"/>
                          </a:solidFill>
                          <a:effectLst/>
                          <a:latin typeface="Tahoma" pitchFamily="34" charset="0"/>
                          <a:ea typeface="宋体" pitchFamily="2" charset="-122"/>
                        </a:rPr>
                        <a:t>5</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m</a:t>
                      </a:r>
                      <a:r>
                        <a:rPr kumimoji="0" lang="en-US" altLang="zh-CN" sz="2000" b="0" i="0" u="none" strike="noStrike" cap="none" normalizeH="0" baseline="-25000" smtClean="0">
                          <a:ln>
                            <a:noFill/>
                          </a:ln>
                          <a:solidFill>
                            <a:schemeClr val="tx1"/>
                          </a:solidFill>
                          <a:effectLst/>
                          <a:latin typeface="Tahoma" pitchFamily="34" charset="0"/>
                          <a:ea typeface="宋体" pitchFamily="2" charset="-122"/>
                        </a:rPr>
                        <a:t>13</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dirty="0" smtClean="0">
                          <a:ln>
                            <a:noFill/>
                          </a:ln>
                          <a:solidFill>
                            <a:schemeClr val="tx1"/>
                          </a:solidFill>
                          <a:effectLst/>
                          <a:latin typeface="Tahoma" pitchFamily="34" charset="0"/>
                          <a:ea typeface="宋体" pitchFamily="2" charset="-122"/>
                        </a:rPr>
                        <a:t>m</a:t>
                      </a:r>
                      <a:r>
                        <a:rPr kumimoji="0" lang="en-US" altLang="zh-CN" sz="2000" b="0" i="0" u="none" strike="noStrike" cap="none" normalizeH="0" baseline="-25000" dirty="0" smtClean="0">
                          <a:ln>
                            <a:noFill/>
                          </a:ln>
                          <a:solidFill>
                            <a:schemeClr val="tx1"/>
                          </a:solidFill>
                          <a:effectLst/>
                          <a:latin typeface="Tahoma" pitchFamily="34" charset="0"/>
                          <a:ea typeface="宋体" pitchFamily="2" charset="-122"/>
                        </a:rPr>
                        <a:t>9</a:t>
                      </a:r>
                    </a:p>
                  </a:txBody>
                  <a:tcPr anchor="ct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547688">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11</a:t>
                      </a:r>
                    </a:p>
                  </a:txBody>
                  <a:tcPr anchor="ctr" horzOverflow="overflow">
                    <a:lnL cap="flat">
                      <a:noFill/>
                    </a:lnL>
                    <a:lnR w="28575" cap="flat" cmpd="sng" algn="ctr">
                      <a:solidFill>
                        <a:schemeClr val="tx1"/>
                      </a:solidFill>
                      <a:prstDash val="solid"/>
                      <a:miter lim="800000"/>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m</a:t>
                      </a:r>
                      <a:r>
                        <a:rPr kumimoji="0" lang="en-US" altLang="zh-CN" sz="2000" b="0" i="0" u="none" strike="noStrike" cap="none" normalizeH="0" baseline="-25000" smtClean="0">
                          <a:ln>
                            <a:noFill/>
                          </a:ln>
                          <a:solidFill>
                            <a:schemeClr val="tx1"/>
                          </a:solidFill>
                          <a:effectLst/>
                          <a:latin typeface="Tahoma" pitchFamily="34" charset="0"/>
                          <a:ea typeface="宋体" pitchFamily="2" charset="-122"/>
                        </a:rPr>
                        <a:t>3</a:t>
                      </a:r>
                    </a:p>
                  </a:txBody>
                  <a:tcPr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m</a:t>
                      </a:r>
                      <a:r>
                        <a:rPr kumimoji="0" lang="en-US" altLang="zh-CN" sz="2000" b="0" i="0" u="none" strike="noStrike" cap="none" normalizeH="0" baseline="-25000" smtClean="0">
                          <a:ln>
                            <a:noFill/>
                          </a:ln>
                          <a:solidFill>
                            <a:schemeClr val="tx1"/>
                          </a:solidFill>
                          <a:effectLst/>
                          <a:latin typeface="Tahoma" pitchFamily="34" charset="0"/>
                          <a:ea typeface="宋体" pitchFamily="2" charset="-122"/>
                        </a:rPr>
                        <a:t>7</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m</a:t>
                      </a:r>
                      <a:r>
                        <a:rPr kumimoji="0" lang="en-US" altLang="zh-CN" sz="2000" b="0" i="0" u="none" strike="noStrike" cap="none" normalizeH="0" baseline="-25000" smtClean="0">
                          <a:ln>
                            <a:noFill/>
                          </a:ln>
                          <a:solidFill>
                            <a:schemeClr val="tx1"/>
                          </a:solidFill>
                          <a:effectLst/>
                          <a:latin typeface="Tahoma" pitchFamily="34" charset="0"/>
                          <a:ea typeface="宋体" pitchFamily="2" charset="-122"/>
                        </a:rPr>
                        <a:t>15</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m</a:t>
                      </a:r>
                      <a:r>
                        <a:rPr kumimoji="0" lang="en-US" altLang="zh-CN" sz="2000" b="0" i="0" u="none" strike="noStrike" cap="none" normalizeH="0" baseline="-25000" smtClean="0">
                          <a:ln>
                            <a:noFill/>
                          </a:ln>
                          <a:solidFill>
                            <a:schemeClr val="tx1"/>
                          </a:solidFill>
                          <a:effectLst/>
                          <a:latin typeface="Tahoma" pitchFamily="34" charset="0"/>
                          <a:ea typeface="宋体" pitchFamily="2" charset="-122"/>
                        </a:rPr>
                        <a:t>11</a:t>
                      </a:r>
                    </a:p>
                  </a:txBody>
                  <a:tcPr anchor="ct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546100">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10</a:t>
                      </a:r>
                    </a:p>
                  </a:txBody>
                  <a:tcPr anchor="ctr" horzOverflow="overflow">
                    <a:lnL cap="flat">
                      <a:noFill/>
                    </a:lnL>
                    <a:lnR w="28575" cap="flat" cmpd="sng" algn="ctr">
                      <a:solidFill>
                        <a:schemeClr val="tx1"/>
                      </a:solidFill>
                      <a:prstDash val="solid"/>
                      <a:miter lim="800000"/>
                      <a:headEnd type="none" w="med" len="med"/>
                      <a:tailEnd type="none" w="med" len="med"/>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m</a:t>
                      </a:r>
                      <a:r>
                        <a:rPr kumimoji="0" lang="en-US" altLang="zh-CN" sz="2000" b="0" i="0" u="none" strike="noStrike" cap="none" normalizeH="0" baseline="-25000" smtClean="0">
                          <a:ln>
                            <a:noFill/>
                          </a:ln>
                          <a:solidFill>
                            <a:schemeClr val="tx1"/>
                          </a:solidFill>
                          <a:effectLst/>
                          <a:latin typeface="Tahoma" pitchFamily="34" charset="0"/>
                          <a:ea typeface="宋体" pitchFamily="2" charset="-122"/>
                        </a:rPr>
                        <a:t>2</a:t>
                      </a:r>
                    </a:p>
                  </a:txBody>
                  <a:tcPr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m</a:t>
                      </a:r>
                      <a:r>
                        <a:rPr kumimoji="0" lang="en-US" altLang="zh-CN" sz="2000" b="0" i="0" u="none" strike="noStrike" cap="none" normalizeH="0" baseline="-25000" smtClean="0">
                          <a:ln>
                            <a:noFill/>
                          </a:ln>
                          <a:solidFill>
                            <a:schemeClr val="tx1"/>
                          </a:solidFill>
                          <a:effectLst/>
                          <a:latin typeface="Tahoma" pitchFamily="34" charset="0"/>
                          <a:ea typeface="宋体" pitchFamily="2" charset="-122"/>
                        </a:rPr>
                        <a:t>6</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m</a:t>
                      </a:r>
                      <a:r>
                        <a:rPr kumimoji="0" lang="en-US" altLang="zh-CN" sz="2000" b="0" i="0" u="none" strike="noStrike" cap="none" normalizeH="0" baseline="-25000" smtClean="0">
                          <a:ln>
                            <a:noFill/>
                          </a:ln>
                          <a:solidFill>
                            <a:schemeClr val="tx1"/>
                          </a:solidFill>
                          <a:effectLst/>
                          <a:latin typeface="Tahoma" pitchFamily="34" charset="0"/>
                          <a:ea typeface="宋体" pitchFamily="2" charset="-122"/>
                        </a:rPr>
                        <a:t>14</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dirty="0" smtClean="0">
                          <a:ln>
                            <a:noFill/>
                          </a:ln>
                          <a:solidFill>
                            <a:schemeClr val="tx1"/>
                          </a:solidFill>
                          <a:effectLst/>
                          <a:latin typeface="Tahoma" pitchFamily="34" charset="0"/>
                          <a:ea typeface="宋体" pitchFamily="2" charset="-122"/>
                        </a:rPr>
                        <a:t>m</a:t>
                      </a:r>
                      <a:r>
                        <a:rPr kumimoji="0" lang="en-US" altLang="zh-CN" sz="2000" b="0" i="0" u="none" strike="noStrike" cap="none" normalizeH="0" baseline="-25000" dirty="0" smtClean="0">
                          <a:ln>
                            <a:noFill/>
                          </a:ln>
                          <a:solidFill>
                            <a:schemeClr val="tx1"/>
                          </a:solidFill>
                          <a:effectLst/>
                          <a:latin typeface="Tahoma" pitchFamily="34" charset="0"/>
                          <a:ea typeface="宋体" pitchFamily="2" charset="-122"/>
                        </a:rPr>
                        <a:t>10</a:t>
                      </a:r>
                    </a:p>
                  </a:txBody>
                  <a:tcPr anchor="ct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graphicFrame>
        <p:nvGraphicFramePr>
          <p:cNvPr id="188655" name="Group 239"/>
          <p:cNvGraphicFramePr>
            <a:graphicFrameLocks noGrp="1"/>
          </p:cNvGraphicFramePr>
          <p:nvPr/>
        </p:nvGraphicFramePr>
        <p:xfrm>
          <a:off x="762000" y="2686050"/>
          <a:ext cx="3048000" cy="1811338"/>
        </p:xfrm>
        <a:graphic>
          <a:graphicData uri="http://schemas.openxmlformats.org/drawingml/2006/table">
            <a:tbl>
              <a:tblPr/>
              <a:tblGrid>
                <a:gridCol w="609600"/>
                <a:gridCol w="609600"/>
                <a:gridCol w="609600"/>
                <a:gridCol w="609600"/>
                <a:gridCol w="609600"/>
              </a:tblGrid>
              <a:tr h="525463">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AB</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C</a:t>
                      </a:r>
                    </a:p>
                  </a:txBody>
                  <a:tcPr anchor="ctr" horzOverflow="overflow">
                    <a:lnL>
                      <a:noFill/>
                    </a:lnL>
                    <a:lnR>
                      <a:noFill/>
                    </a:lnR>
                    <a:lnT>
                      <a:noFill/>
                    </a:lnT>
                    <a:lnB>
                      <a:noFill/>
                    </a:lnB>
                    <a:lnTlToBr w="28575" cap="flat" cmpd="sng" algn="ctr">
                      <a:solidFill>
                        <a:schemeClr val="tx1"/>
                      </a:solidFill>
                      <a:prstDash val="solid"/>
                      <a:miter lim="800000"/>
                      <a:headEnd type="none" w="med" len="med"/>
                      <a:tailEnd type="none" w="med" len="med"/>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00</a:t>
                      </a:r>
                    </a:p>
                  </a:txBody>
                  <a:tcPr anchor="b" horzOverflow="overflow">
                    <a:lnL>
                      <a:noFill/>
                    </a:lnL>
                    <a:lnR>
                      <a:noFill/>
                    </a:lnR>
                    <a:lnT>
                      <a:noFill/>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01</a:t>
                      </a:r>
                    </a:p>
                  </a:txBody>
                  <a:tcPr anchor="b" horzOverflow="overflow">
                    <a:lnL>
                      <a:noFill/>
                    </a:lnL>
                    <a:lnR>
                      <a:noFill/>
                    </a:lnR>
                    <a:lnT>
                      <a:noFill/>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11</a:t>
                      </a:r>
                    </a:p>
                  </a:txBody>
                  <a:tcPr anchor="b" horzOverflow="overflow">
                    <a:lnL>
                      <a:noFill/>
                    </a:lnL>
                    <a:lnR>
                      <a:noFill/>
                    </a:lnR>
                    <a:lnT>
                      <a:noFill/>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10</a:t>
                      </a:r>
                    </a:p>
                  </a:txBody>
                  <a:tcPr anchor="b" horzOverflow="overflow">
                    <a:lnL>
                      <a:noFill/>
                    </a:lnL>
                    <a:lnR>
                      <a:noFill/>
                    </a:lnR>
                    <a:lnT>
                      <a:noFill/>
                    </a:lnT>
                    <a:lnB w="28575" cap="flat" cmpd="sng" algn="ctr">
                      <a:solidFill>
                        <a:schemeClr val="tx1"/>
                      </a:solidFill>
                      <a:prstDash val="solid"/>
                      <a:miter lim="800000"/>
                      <a:headEnd type="none" w="med" len="med"/>
                      <a:tailEnd type="none" w="med" len="med"/>
                    </a:lnB>
                    <a:lnTlToBr>
                      <a:noFill/>
                    </a:lnTlToBr>
                    <a:lnBlToTr>
                      <a:noFill/>
                    </a:lnBlToTr>
                    <a:noFill/>
                  </a:tcPr>
                </a:tc>
              </a:tr>
              <a:tr h="523875">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0</a:t>
                      </a:r>
                    </a:p>
                  </a:txBody>
                  <a:tcPr anchor="ctr" horzOverflow="overflow">
                    <a:lnL>
                      <a:noFill/>
                    </a:lnL>
                    <a:lnR w="28575" cap="flat" cmpd="sng" algn="ctr">
                      <a:solidFill>
                        <a:schemeClr val="tx1"/>
                      </a:solidFill>
                      <a:prstDash val="solid"/>
                      <a:miter lim="800000"/>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m</a:t>
                      </a:r>
                      <a:r>
                        <a:rPr kumimoji="0" lang="en-US" altLang="zh-CN" sz="2000" b="0" i="0" u="none" strike="noStrike" cap="none" normalizeH="0" baseline="-25000" smtClean="0">
                          <a:ln>
                            <a:noFill/>
                          </a:ln>
                          <a:solidFill>
                            <a:schemeClr val="tx1"/>
                          </a:solidFill>
                          <a:effectLst/>
                          <a:latin typeface="Tahoma" pitchFamily="34" charset="0"/>
                          <a:ea typeface="宋体" pitchFamily="2" charset="-122"/>
                        </a:rPr>
                        <a:t>0</a:t>
                      </a:r>
                    </a:p>
                  </a:txBody>
                  <a:tcPr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m</a:t>
                      </a:r>
                      <a:r>
                        <a:rPr kumimoji="0" lang="en-US" altLang="zh-CN" sz="2000" b="0" i="0" u="none" strike="noStrike" cap="none" normalizeH="0" baseline="-25000" smtClean="0">
                          <a:ln>
                            <a:noFill/>
                          </a:ln>
                          <a:solidFill>
                            <a:schemeClr val="tx1"/>
                          </a:solidFill>
                          <a:effectLst/>
                          <a:latin typeface="Tahoma" pitchFamily="34" charset="0"/>
                          <a:ea typeface="宋体" pitchFamily="2" charset="-122"/>
                        </a:rPr>
                        <a:t>2</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m</a:t>
                      </a:r>
                      <a:r>
                        <a:rPr kumimoji="0" lang="en-US" altLang="zh-CN" sz="2000" b="0" i="0" u="none" strike="noStrike" cap="none" normalizeH="0" baseline="-25000" smtClean="0">
                          <a:ln>
                            <a:noFill/>
                          </a:ln>
                          <a:solidFill>
                            <a:schemeClr val="tx1"/>
                          </a:solidFill>
                          <a:effectLst/>
                          <a:latin typeface="Tahoma" pitchFamily="34" charset="0"/>
                          <a:ea typeface="宋体" pitchFamily="2" charset="-122"/>
                        </a:rPr>
                        <a:t>6</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m</a:t>
                      </a:r>
                      <a:r>
                        <a:rPr kumimoji="0" lang="en-US" altLang="zh-CN" sz="2000" b="0" i="0" u="none" strike="noStrike" cap="none" normalizeH="0" baseline="-25000" smtClean="0">
                          <a:ln>
                            <a:noFill/>
                          </a:ln>
                          <a:solidFill>
                            <a:schemeClr val="tx1"/>
                          </a:solidFill>
                          <a:effectLst/>
                          <a:latin typeface="Tahoma" pitchFamily="34" charset="0"/>
                          <a:ea typeface="宋体" pitchFamily="2" charset="-122"/>
                        </a:rPr>
                        <a:t>4</a:t>
                      </a:r>
                    </a:p>
                  </a:txBody>
                  <a:tcPr anchor="ct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525463">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1</a:t>
                      </a:r>
                    </a:p>
                  </a:txBody>
                  <a:tcPr anchor="ctr" horzOverflow="overflow">
                    <a:lnL>
                      <a:noFill/>
                    </a:lnL>
                    <a:lnR w="28575" cap="flat" cmpd="sng" algn="ctr">
                      <a:solidFill>
                        <a:schemeClr val="tx1"/>
                      </a:solidFill>
                      <a:prstDash val="solid"/>
                      <a:miter lim="800000"/>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m</a:t>
                      </a:r>
                      <a:r>
                        <a:rPr kumimoji="0" lang="en-US" altLang="zh-CN" sz="2000" b="0" i="0" u="none" strike="noStrike" cap="none" normalizeH="0" baseline="-25000" smtClean="0">
                          <a:ln>
                            <a:noFill/>
                          </a:ln>
                          <a:solidFill>
                            <a:schemeClr val="tx1"/>
                          </a:solidFill>
                          <a:effectLst/>
                          <a:latin typeface="Tahoma" pitchFamily="34" charset="0"/>
                          <a:ea typeface="宋体" pitchFamily="2" charset="-122"/>
                        </a:rPr>
                        <a:t>1</a:t>
                      </a:r>
                    </a:p>
                  </a:txBody>
                  <a:tcPr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m</a:t>
                      </a:r>
                      <a:r>
                        <a:rPr kumimoji="0" lang="en-US" altLang="zh-CN" sz="2000" b="0" i="0" u="none" strike="noStrike" cap="none" normalizeH="0" baseline="-25000" smtClean="0">
                          <a:ln>
                            <a:noFill/>
                          </a:ln>
                          <a:solidFill>
                            <a:schemeClr val="tx1"/>
                          </a:solidFill>
                          <a:effectLst/>
                          <a:latin typeface="Tahoma" pitchFamily="34" charset="0"/>
                          <a:ea typeface="宋体" pitchFamily="2" charset="-122"/>
                        </a:rPr>
                        <a:t>3</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m</a:t>
                      </a:r>
                      <a:r>
                        <a:rPr kumimoji="0" lang="en-US" altLang="zh-CN" sz="2000" b="0" i="0" u="none" strike="noStrike" cap="none" normalizeH="0" baseline="-25000" smtClean="0">
                          <a:ln>
                            <a:noFill/>
                          </a:ln>
                          <a:solidFill>
                            <a:schemeClr val="tx1"/>
                          </a:solidFill>
                          <a:effectLst/>
                          <a:latin typeface="Tahoma" pitchFamily="34" charset="0"/>
                          <a:ea typeface="宋体" pitchFamily="2" charset="-122"/>
                        </a:rPr>
                        <a:t>7</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smtClean="0">
                          <a:ln>
                            <a:noFill/>
                          </a:ln>
                          <a:solidFill>
                            <a:schemeClr val="tx1"/>
                          </a:solidFill>
                          <a:effectLst/>
                          <a:latin typeface="Tahoma" pitchFamily="34" charset="0"/>
                          <a:ea typeface="宋体" pitchFamily="2" charset="-122"/>
                        </a:rPr>
                        <a:t>m</a:t>
                      </a:r>
                      <a:r>
                        <a:rPr kumimoji="0" lang="en-US" altLang="zh-CN" sz="2000" b="0" i="0" u="none" strike="noStrike" cap="none" normalizeH="0" baseline="-25000" smtClean="0">
                          <a:ln>
                            <a:noFill/>
                          </a:ln>
                          <a:solidFill>
                            <a:schemeClr val="tx1"/>
                          </a:solidFill>
                          <a:effectLst/>
                          <a:latin typeface="Tahoma" pitchFamily="34" charset="0"/>
                          <a:ea typeface="宋体" pitchFamily="2" charset="-122"/>
                        </a:rPr>
                        <a:t>5</a:t>
                      </a:r>
                    </a:p>
                  </a:txBody>
                  <a:tcPr anchor="ct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sp>
        <p:nvSpPr>
          <p:cNvPr id="67651" name="Text Box 209"/>
          <p:cNvSpPr txBox="1">
            <a:spLocks noChangeArrowheads="1"/>
          </p:cNvSpPr>
          <p:nvPr/>
        </p:nvSpPr>
        <p:spPr bwMode="auto">
          <a:xfrm>
            <a:off x="2025650" y="4724400"/>
            <a:ext cx="1098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zh-CN" altLang="en-US"/>
              <a:t>三变量</a:t>
            </a:r>
          </a:p>
        </p:txBody>
      </p:sp>
      <p:sp>
        <p:nvSpPr>
          <p:cNvPr id="67652" name="Text Box 210"/>
          <p:cNvSpPr txBox="1">
            <a:spLocks noChangeArrowheads="1"/>
          </p:cNvSpPr>
          <p:nvPr/>
        </p:nvSpPr>
        <p:spPr bwMode="auto">
          <a:xfrm>
            <a:off x="5867400" y="5181600"/>
            <a:ext cx="1098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zh-CN" altLang="en-US"/>
              <a:t>四变量</a:t>
            </a:r>
          </a:p>
        </p:txBody>
      </p:sp>
    </p:spTree>
  </p:cSld>
  <p:clrMapOvr>
    <a:masterClrMapping/>
  </p:clrMapOvr>
  <p:transition>
    <p:random/>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quarter" idx="10"/>
          </p:nvPr>
        </p:nvSpPr>
        <p:spPr/>
        <p:txBody>
          <a:bodyPr/>
          <a:lstStyle/>
          <a:p>
            <a:pPr>
              <a:defRPr/>
            </a:pPr>
            <a:fld id="{5039F47D-A853-4B21-A894-15CDE5D87586}" type="datetime1">
              <a:rPr lang="zh-CN" altLang="en-US" smtClean="0"/>
              <a:pPr>
                <a:defRPr/>
              </a:pPr>
              <a:t>2021/9/21</a:t>
            </a:fld>
            <a:endParaRPr lang="en-US" altLang="zh-CN"/>
          </a:p>
        </p:txBody>
      </p:sp>
      <p:sp>
        <p:nvSpPr>
          <p:cNvPr id="3" name="灯片编号占位符 2"/>
          <p:cNvSpPr>
            <a:spLocks noGrp="1"/>
          </p:cNvSpPr>
          <p:nvPr>
            <p:ph type="sldNum" sz="quarter" idx="12"/>
          </p:nvPr>
        </p:nvSpPr>
        <p:spPr/>
        <p:txBody>
          <a:bodyPr/>
          <a:lstStyle/>
          <a:p>
            <a:pPr>
              <a:defRPr/>
            </a:pPr>
            <a:fld id="{52BC15C0-80F1-44DA-8829-868EC044B7B0}" type="slidenum">
              <a:rPr lang="en-US" altLang="zh-CN" smtClean="0"/>
              <a:pPr>
                <a:defRPr/>
              </a:pPr>
              <a:t>65</a:t>
            </a:fld>
            <a:endParaRPr lang="en-US" altLang="zh-CN"/>
          </a:p>
        </p:txBody>
      </p:sp>
      <p:pic>
        <p:nvPicPr>
          <p:cNvPr id="6861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85938" y="1428750"/>
            <a:ext cx="5786437" cy="414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quarter" idx="10"/>
          </p:nvPr>
        </p:nvSpPr>
        <p:spPr/>
        <p:txBody>
          <a:bodyPr/>
          <a:lstStyle/>
          <a:p>
            <a:pPr>
              <a:defRPr/>
            </a:pPr>
            <a:fld id="{5039F47D-A853-4B21-A894-15CDE5D87586}" type="datetime1">
              <a:rPr lang="zh-CN" altLang="en-US" smtClean="0"/>
              <a:pPr>
                <a:defRPr/>
              </a:pPr>
              <a:t>2021/9/21</a:t>
            </a:fld>
            <a:endParaRPr lang="en-US" altLang="zh-CN"/>
          </a:p>
        </p:txBody>
      </p:sp>
      <p:sp>
        <p:nvSpPr>
          <p:cNvPr id="3" name="灯片编号占位符 2"/>
          <p:cNvSpPr>
            <a:spLocks noGrp="1"/>
          </p:cNvSpPr>
          <p:nvPr>
            <p:ph type="sldNum" sz="quarter" idx="12"/>
          </p:nvPr>
        </p:nvSpPr>
        <p:spPr/>
        <p:txBody>
          <a:bodyPr/>
          <a:lstStyle/>
          <a:p>
            <a:pPr>
              <a:defRPr/>
            </a:pPr>
            <a:fld id="{C5346EEC-7454-4F98-8DAB-24B2D02CB6BC}" type="slidenum">
              <a:rPr lang="en-US" altLang="zh-CN" smtClean="0"/>
              <a:pPr>
                <a:defRPr/>
              </a:pPr>
              <a:t>66</a:t>
            </a:fld>
            <a:endParaRPr lang="en-US" altLang="zh-CN"/>
          </a:p>
        </p:txBody>
      </p:sp>
      <p:pic>
        <p:nvPicPr>
          <p:cNvPr id="6963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5875" y="933450"/>
            <a:ext cx="6500813" cy="5210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693DAFAD-233D-4CA6-8DDE-D68118856A5D}" type="datetime1">
              <a:rPr lang="zh-CN" altLang="en-US"/>
              <a:pPr>
                <a:defRPr/>
              </a:pPr>
              <a:t>2021/9/21</a:t>
            </a:fld>
            <a:endParaRPr lang="en-US" altLang="zh-CN"/>
          </a:p>
        </p:txBody>
      </p:sp>
      <p:sp>
        <p:nvSpPr>
          <p:cNvPr id="5" name="灯片编号占位符 5"/>
          <p:cNvSpPr>
            <a:spLocks noGrp="1"/>
          </p:cNvSpPr>
          <p:nvPr>
            <p:ph type="sldNum" sz="quarter" idx="12"/>
          </p:nvPr>
        </p:nvSpPr>
        <p:spPr/>
        <p:txBody>
          <a:bodyPr/>
          <a:lstStyle/>
          <a:p>
            <a:pPr>
              <a:defRPr/>
            </a:pPr>
            <a:fld id="{13088232-E099-4D1E-B7BF-89CE2D87EE63}" type="slidenum">
              <a:rPr lang="en-US" altLang="zh-CN"/>
              <a:pPr>
                <a:defRPr/>
              </a:pPr>
              <a:t>67</a:t>
            </a:fld>
            <a:endParaRPr lang="en-US" altLang="zh-CN"/>
          </a:p>
        </p:txBody>
      </p:sp>
      <p:sp>
        <p:nvSpPr>
          <p:cNvPr id="70660" name="Rectangle 2"/>
          <p:cNvSpPr>
            <a:spLocks noGrp="1" noChangeArrowheads="1"/>
          </p:cNvSpPr>
          <p:nvPr>
            <p:ph type="title"/>
          </p:nvPr>
        </p:nvSpPr>
        <p:spPr>
          <a:xfrm>
            <a:off x="1150938" y="533400"/>
            <a:ext cx="7793037" cy="609600"/>
          </a:xfrm>
        </p:spPr>
        <p:txBody>
          <a:bodyPr/>
          <a:lstStyle/>
          <a:p>
            <a:pPr eaLnBrk="1" hangingPunct="1"/>
            <a:r>
              <a:rPr lang="zh-CN" altLang="en-US" smtClean="0"/>
              <a:t>卡诺图的构成</a:t>
            </a:r>
          </a:p>
        </p:txBody>
      </p:sp>
      <p:sp>
        <p:nvSpPr>
          <p:cNvPr id="70661" name="Rectangle 3"/>
          <p:cNvSpPr>
            <a:spLocks noGrp="1" noChangeArrowheads="1"/>
          </p:cNvSpPr>
          <p:nvPr>
            <p:ph type="body" idx="1"/>
          </p:nvPr>
        </p:nvSpPr>
        <p:spPr/>
        <p:txBody>
          <a:bodyPr/>
          <a:lstStyle/>
          <a:p>
            <a:pPr eaLnBrk="1" hangingPunct="1">
              <a:lnSpc>
                <a:spcPct val="90000"/>
              </a:lnSpc>
            </a:pPr>
            <a:r>
              <a:rPr lang="zh-CN" altLang="en-US" smtClean="0"/>
              <a:t>构成的特点</a:t>
            </a:r>
          </a:p>
          <a:p>
            <a:pPr lvl="1" eaLnBrk="1" hangingPunct="1">
              <a:lnSpc>
                <a:spcPct val="90000"/>
              </a:lnSpc>
            </a:pPr>
            <a:r>
              <a:rPr lang="en-US" altLang="zh-CN" smtClean="0"/>
              <a:t>n</a:t>
            </a:r>
            <a:r>
              <a:rPr lang="zh-CN" altLang="en-US" smtClean="0"/>
              <a:t>变量的卡诺图包含有</a:t>
            </a:r>
            <a:r>
              <a:rPr lang="en-US" altLang="zh-CN" smtClean="0"/>
              <a:t>2</a:t>
            </a:r>
            <a:r>
              <a:rPr lang="en-US" altLang="zh-CN" baseline="30000" smtClean="0"/>
              <a:t>n</a:t>
            </a:r>
            <a:r>
              <a:rPr lang="zh-CN" altLang="en-US" smtClean="0"/>
              <a:t>个小方块，每个小方格对应真值表中的一行。</a:t>
            </a:r>
          </a:p>
          <a:p>
            <a:pPr lvl="1" eaLnBrk="1" hangingPunct="1">
              <a:lnSpc>
                <a:spcPct val="90000"/>
              </a:lnSpc>
            </a:pPr>
            <a:r>
              <a:rPr lang="zh-CN" altLang="en-US" smtClean="0"/>
              <a:t>整个卡诺图总是被每个变量分成两半：原变量和反变量各占一半。任一变量的原变量和反变量所占区域，总是被其它变量分成两半。</a:t>
            </a:r>
          </a:p>
          <a:p>
            <a:pPr lvl="1" eaLnBrk="1" hangingPunct="1">
              <a:lnSpc>
                <a:spcPct val="90000"/>
              </a:lnSpc>
            </a:pPr>
            <a:r>
              <a:rPr lang="zh-CN" altLang="en-US" smtClean="0"/>
              <a:t>在垂直方向、水平方向上相邻的小方格所对应的最小项，仅有一个变量状态不同。</a:t>
            </a:r>
          </a:p>
          <a:p>
            <a:pPr lvl="1" eaLnBrk="1" hangingPunct="1">
              <a:lnSpc>
                <a:spcPct val="90000"/>
              </a:lnSpc>
            </a:pPr>
            <a:r>
              <a:rPr lang="zh-CN" altLang="en-US" smtClean="0"/>
              <a:t>除掉某个小方格外的整个卡诺图区域对应一个最大项，该最大项的下标值就是被除掉的小方格中最小项的下标值。</a:t>
            </a:r>
          </a:p>
        </p:txBody>
      </p:sp>
    </p:spTree>
  </p:cSld>
  <p:clrMapOvr>
    <a:masterClrMapping/>
  </p:clrMapOvr>
  <p:transition>
    <p:random/>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E0B0365F-695B-492B-8B83-D00904464E65}" type="datetime1">
              <a:rPr lang="zh-CN" altLang="en-US"/>
              <a:pPr>
                <a:defRPr/>
              </a:pPr>
              <a:t>2021/9/21</a:t>
            </a:fld>
            <a:endParaRPr lang="en-US" altLang="zh-CN"/>
          </a:p>
        </p:txBody>
      </p:sp>
      <p:sp>
        <p:nvSpPr>
          <p:cNvPr id="5" name="灯片编号占位符 5"/>
          <p:cNvSpPr>
            <a:spLocks noGrp="1"/>
          </p:cNvSpPr>
          <p:nvPr>
            <p:ph type="sldNum" sz="quarter" idx="12"/>
          </p:nvPr>
        </p:nvSpPr>
        <p:spPr/>
        <p:txBody>
          <a:bodyPr/>
          <a:lstStyle/>
          <a:p>
            <a:pPr>
              <a:defRPr/>
            </a:pPr>
            <a:fld id="{849B2297-5A67-4D98-9E35-63B8F32BE2E0}" type="slidenum">
              <a:rPr lang="en-US" altLang="zh-CN"/>
              <a:pPr>
                <a:defRPr/>
              </a:pPr>
              <a:t>68</a:t>
            </a:fld>
            <a:endParaRPr lang="en-US" altLang="zh-CN"/>
          </a:p>
        </p:txBody>
      </p:sp>
      <p:sp>
        <p:nvSpPr>
          <p:cNvPr id="71684" name="Rectangle 2"/>
          <p:cNvSpPr>
            <a:spLocks noGrp="1" noChangeArrowheads="1"/>
          </p:cNvSpPr>
          <p:nvPr>
            <p:ph type="title"/>
          </p:nvPr>
        </p:nvSpPr>
        <p:spPr>
          <a:xfrm>
            <a:off x="1150938" y="533400"/>
            <a:ext cx="7793037" cy="609600"/>
          </a:xfrm>
        </p:spPr>
        <p:txBody>
          <a:bodyPr/>
          <a:lstStyle/>
          <a:p>
            <a:pPr eaLnBrk="1" hangingPunct="1"/>
            <a:r>
              <a:rPr lang="zh-CN" altLang="en-US" smtClean="0"/>
              <a:t>卡诺图的构成</a:t>
            </a:r>
          </a:p>
        </p:txBody>
      </p:sp>
      <p:sp>
        <p:nvSpPr>
          <p:cNvPr id="71685" name="Rectangle 3"/>
          <p:cNvSpPr>
            <a:spLocks noGrp="1" noChangeArrowheads="1"/>
          </p:cNvSpPr>
          <p:nvPr>
            <p:ph type="body" idx="1"/>
          </p:nvPr>
        </p:nvSpPr>
        <p:spPr/>
        <p:txBody>
          <a:bodyPr/>
          <a:lstStyle/>
          <a:p>
            <a:pPr eaLnBrk="1" hangingPunct="1"/>
            <a:r>
              <a:rPr lang="zh-CN" altLang="en-US" smtClean="0"/>
              <a:t>方格的相邻</a:t>
            </a:r>
          </a:p>
          <a:p>
            <a:pPr lvl="1" eaLnBrk="1" hangingPunct="1"/>
            <a:r>
              <a:rPr lang="zh-CN" altLang="en-US" smtClean="0"/>
              <a:t>几何相邻：在同一幅卡诺图中，有一条公共边界的方格。</a:t>
            </a:r>
          </a:p>
          <a:p>
            <a:pPr lvl="1" eaLnBrk="1" hangingPunct="1"/>
            <a:r>
              <a:rPr lang="zh-CN" altLang="en-US" smtClean="0"/>
              <a:t>相重相邻：在相邻的两幅卡诺图中，处于相同位置的两个方格。</a:t>
            </a:r>
          </a:p>
          <a:p>
            <a:pPr lvl="1" eaLnBrk="1" hangingPunct="1"/>
            <a:r>
              <a:rPr lang="zh-CN" altLang="en-US" smtClean="0"/>
              <a:t>在</a:t>
            </a:r>
            <a:r>
              <a:rPr lang="en-US" altLang="zh-CN" smtClean="0"/>
              <a:t>n</a:t>
            </a:r>
            <a:r>
              <a:rPr lang="zh-CN" altLang="en-US" smtClean="0"/>
              <a:t>变量的卡诺图中，每个方格</a:t>
            </a:r>
            <a:r>
              <a:rPr lang="en-US" altLang="zh-CN" smtClean="0"/>
              <a:t>(</a:t>
            </a:r>
            <a:r>
              <a:rPr lang="zh-CN" altLang="en-US" smtClean="0"/>
              <a:t>最小项</a:t>
            </a:r>
            <a:r>
              <a:rPr lang="en-US" altLang="zh-CN" smtClean="0"/>
              <a:t>)</a:t>
            </a:r>
            <a:r>
              <a:rPr lang="zh-CN" altLang="en-US" smtClean="0"/>
              <a:t>有</a:t>
            </a:r>
            <a:r>
              <a:rPr lang="en-US" altLang="zh-CN" smtClean="0"/>
              <a:t>n</a:t>
            </a:r>
            <a:r>
              <a:rPr lang="zh-CN" altLang="en-US" smtClean="0"/>
              <a:t>个相邻方格</a:t>
            </a:r>
            <a:r>
              <a:rPr lang="en-US" altLang="zh-CN" smtClean="0"/>
              <a:t>(</a:t>
            </a:r>
            <a:r>
              <a:rPr lang="zh-CN" altLang="en-US" smtClean="0"/>
              <a:t>相邻最小项</a:t>
            </a:r>
            <a:r>
              <a:rPr lang="en-US" altLang="zh-CN" smtClean="0"/>
              <a:t>)</a:t>
            </a:r>
            <a:r>
              <a:rPr lang="zh-CN" altLang="en-US" smtClean="0"/>
              <a:t>。</a:t>
            </a:r>
          </a:p>
        </p:txBody>
      </p:sp>
    </p:spTree>
  </p:cSld>
  <p:clrMapOvr>
    <a:masterClrMapping/>
  </p:clrMapOvr>
  <p:transition>
    <p:random/>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4B436927-8E7B-4269-BBEA-7400D48DFE00}" type="datetime1">
              <a:rPr lang="zh-CN" altLang="en-US"/>
              <a:pPr>
                <a:defRPr/>
              </a:pPr>
              <a:t>2021/9/21</a:t>
            </a:fld>
            <a:endParaRPr lang="en-US" altLang="zh-CN"/>
          </a:p>
        </p:txBody>
      </p:sp>
      <p:sp>
        <p:nvSpPr>
          <p:cNvPr id="5" name="灯片编号占位符 5"/>
          <p:cNvSpPr>
            <a:spLocks noGrp="1"/>
          </p:cNvSpPr>
          <p:nvPr>
            <p:ph type="sldNum" sz="quarter" idx="12"/>
          </p:nvPr>
        </p:nvSpPr>
        <p:spPr/>
        <p:txBody>
          <a:bodyPr/>
          <a:lstStyle/>
          <a:p>
            <a:pPr>
              <a:defRPr/>
            </a:pPr>
            <a:fld id="{321D6153-7254-4FD4-B96C-2C8D11D7BF12}" type="slidenum">
              <a:rPr lang="en-US" altLang="zh-CN"/>
              <a:pPr>
                <a:defRPr/>
              </a:pPr>
              <a:t>69</a:t>
            </a:fld>
            <a:endParaRPr lang="en-US" altLang="zh-CN"/>
          </a:p>
        </p:txBody>
      </p:sp>
      <p:sp>
        <p:nvSpPr>
          <p:cNvPr id="72708" name="Rectangle 2"/>
          <p:cNvSpPr>
            <a:spLocks noGrp="1" noChangeArrowheads="1"/>
          </p:cNvSpPr>
          <p:nvPr>
            <p:ph type="title"/>
          </p:nvPr>
        </p:nvSpPr>
        <p:spPr>
          <a:xfrm>
            <a:off x="1150938" y="533400"/>
            <a:ext cx="7793037" cy="609600"/>
          </a:xfrm>
        </p:spPr>
        <p:txBody>
          <a:bodyPr/>
          <a:lstStyle/>
          <a:p>
            <a:pPr eaLnBrk="1" hangingPunct="1"/>
            <a:r>
              <a:rPr lang="zh-CN" altLang="en-US" smtClean="0"/>
              <a:t>逻辑函数在卡诺图上的表示</a:t>
            </a:r>
          </a:p>
        </p:txBody>
      </p:sp>
      <p:sp>
        <p:nvSpPr>
          <p:cNvPr id="72709" name="Rectangle 3"/>
          <p:cNvSpPr>
            <a:spLocks noGrp="1" noChangeArrowheads="1"/>
          </p:cNvSpPr>
          <p:nvPr>
            <p:ph type="body" idx="1"/>
          </p:nvPr>
        </p:nvSpPr>
        <p:spPr/>
        <p:txBody>
          <a:bodyPr/>
          <a:lstStyle/>
          <a:p>
            <a:pPr eaLnBrk="1" hangingPunct="1"/>
            <a:r>
              <a:rPr lang="zh-CN" altLang="en-US" dirty="0" smtClean="0"/>
              <a:t>若逻辑函数是“最小项之和”形式，则在卡诺图中与所有</a:t>
            </a:r>
            <a:r>
              <a:rPr lang="zh-CN" altLang="en-US" b="1" dirty="0" smtClean="0">
                <a:solidFill>
                  <a:srgbClr val="FF0000"/>
                </a:solidFill>
              </a:rPr>
              <a:t>最小项对应的小方格填“</a:t>
            </a:r>
            <a:r>
              <a:rPr lang="en-US" altLang="zh-CN" b="1" dirty="0" smtClean="0">
                <a:solidFill>
                  <a:srgbClr val="FF0000"/>
                </a:solidFill>
              </a:rPr>
              <a:t>1”</a:t>
            </a:r>
            <a:r>
              <a:rPr lang="zh-CN" altLang="en-US" dirty="0" smtClean="0"/>
              <a:t>，其余的填“</a:t>
            </a:r>
            <a:r>
              <a:rPr lang="en-US" altLang="zh-CN" dirty="0" smtClean="0"/>
              <a:t>0”</a:t>
            </a:r>
            <a:r>
              <a:rPr lang="zh-CN" altLang="en-US" dirty="0" smtClean="0"/>
              <a:t>。</a:t>
            </a:r>
          </a:p>
          <a:p>
            <a:pPr eaLnBrk="1" hangingPunct="1"/>
            <a:r>
              <a:rPr lang="zh-CN" altLang="en-US" dirty="0" smtClean="0"/>
              <a:t>若逻辑函数是“与或”表达式，可先将函数展开成“最小项之和”形式。（或者将各与项分别表示在卡诺图上，然后叠加起来）</a:t>
            </a:r>
          </a:p>
          <a:p>
            <a:pPr eaLnBrk="1" hangingPunct="1"/>
            <a:r>
              <a:rPr lang="zh-CN" altLang="en-US" dirty="0" smtClean="0"/>
              <a:t>若逻辑函数是“最大项之积”形式，则式中</a:t>
            </a:r>
            <a:r>
              <a:rPr lang="zh-CN" altLang="en-US" b="1" dirty="0" smtClean="0">
                <a:solidFill>
                  <a:srgbClr val="FF0000"/>
                </a:solidFill>
              </a:rPr>
              <a:t>最大项下标值对应的方格填“</a:t>
            </a:r>
            <a:r>
              <a:rPr lang="en-US" altLang="zh-CN" b="1" dirty="0" smtClean="0">
                <a:solidFill>
                  <a:srgbClr val="FF0000"/>
                </a:solidFill>
              </a:rPr>
              <a:t>0”</a:t>
            </a:r>
            <a:r>
              <a:rPr lang="zh-CN" altLang="en-US" dirty="0" smtClean="0"/>
              <a:t>，其余的填“</a:t>
            </a:r>
            <a:r>
              <a:rPr lang="en-US" altLang="zh-CN" dirty="0" smtClean="0"/>
              <a:t>1”</a:t>
            </a:r>
            <a:r>
              <a:rPr lang="zh-CN" altLang="en-US" dirty="0" smtClean="0"/>
              <a:t>。</a:t>
            </a:r>
          </a:p>
        </p:txBody>
      </p:sp>
    </p:spTree>
  </p:cSld>
  <p:clrMapOvr>
    <a:masterClrMapping/>
  </p:clrMapOvr>
  <p:transition>
    <p:random/>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quarter" idx="10"/>
          </p:nvPr>
        </p:nvSpPr>
        <p:spPr/>
        <p:txBody>
          <a:bodyPr/>
          <a:lstStyle/>
          <a:p>
            <a:pPr>
              <a:defRPr/>
            </a:pPr>
            <a:fld id="{5039F47D-A853-4B21-A894-15CDE5D87586}" type="datetime1">
              <a:rPr lang="zh-CN" altLang="en-US" smtClean="0"/>
              <a:pPr>
                <a:defRPr/>
              </a:pPr>
              <a:t>2021/9/21</a:t>
            </a:fld>
            <a:endParaRPr lang="en-US" altLang="zh-CN"/>
          </a:p>
        </p:txBody>
      </p:sp>
      <p:sp>
        <p:nvSpPr>
          <p:cNvPr id="3" name="灯片编号占位符 2"/>
          <p:cNvSpPr>
            <a:spLocks noGrp="1"/>
          </p:cNvSpPr>
          <p:nvPr>
            <p:ph type="sldNum" sz="quarter" idx="12"/>
          </p:nvPr>
        </p:nvSpPr>
        <p:spPr/>
        <p:txBody>
          <a:bodyPr/>
          <a:lstStyle/>
          <a:p>
            <a:pPr>
              <a:defRPr/>
            </a:pPr>
            <a:fld id="{7099AA7A-8166-46CF-AC59-566692BEA060}" type="slidenum">
              <a:rPr lang="en-US" altLang="zh-CN" smtClean="0"/>
              <a:pPr>
                <a:defRPr/>
              </a:pPr>
              <a:t>70</a:t>
            </a:fld>
            <a:endParaRPr lang="en-US" altLang="zh-CN"/>
          </a:p>
        </p:txBody>
      </p:sp>
      <p:pic>
        <p:nvPicPr>
          <p:cNvPr id="7373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7188" y="1643063"/>
            <a:ext cx="2428875" cy="2465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373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57688" y="357188"/>
            <a:ext cx="2786062" cy="2536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373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00688" y="3643313"/>
            <a:ext cx="3286125" cy="3214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3837BCC2-501F-47AB-95B3-7BB52E83BC37}" type="datetime1">
              <a:rPr lang="zh-CN" altLang="en-US"/>
              <a:pPr>
                <a:defRPr/>
              </a:pPr>
              <a:t>2021/9/21</a:t>
            </a:fld>
            <a:endParaRPr lang="en-US" altLang="zh-CN"/>
          </a:p>
        </p:txBody>
      </p:sp>
      <p:sp>
        <p:nvSpPr>
          <p:cNvPr id="5" name="灯片编号占位符 5"/>
          <p:cNvSpPr>
            <a:spLocks noGrp="1"/>
          </p:cNvSpPr>
          <p:nvPr>
            <p:ph type="sldNum" sz="quarter" idx="12"/>
          </p:nvPr>
        </p:nvSpPr>
        <p:spPr/>
        <p:txBody>
          <a:bodyPr/>
          <a:lstStyle/>
          <a:p>
            <a:pPr>
              <a:defRPr/>
            </a:pPr>
            <a:fld id="{3D11370F-A6F3-4E14-8C5A-FCF26DF659ED}" type="slidenum">
              <a:rPr lang="en-US" altLang="zh-CN"/>
              <a:pPr>
                <a:defRPr/>
              </a:pPr>
              <a:t>71</a:t>
            </a:fld>
            <a:endParaRPr lang="en-US" altLang="zh-CN"/>
          </a:p>
        </p:txBody>
      </p:sp>
      <p:sp>
        <p:nvSpPr>
          <p:cNvPr id="74756" name="Rectangle 2"/>
          <p:cNvSpPr>
            <a:spLocks noGrp="1" noChangeArrowheads="1"/>
          </p:cNvSpPr>
          <p:nvPr>
            <p:ph type="title"/>
          </p:nvPr>
        </p:nvSpPr>
        <p:spPr>
          <a:xfrm>
            <a:off x="1150938" y="533400"/>
            <a:ext cx="7793037" cy="609600"/>
          </a:xfrm>
        </p:spPr>
        <p:txBody>
          <a:bodyPr/>
          <a:lstStyle/>
          <a:p>
            <a:pPr eaLnBrk="1" hangingPunct="1"/>
            <a:r>
              <a:rPr lang="zh-CN" altLang="en-US" smtClean="0"/>
              <a:t>卡诺图上最小项的合并</a:t>
            </a:r>
          </a:p>
        </p:txBody>
      </p:sp>
      <p:sp>
        <p:nvSpPr>
          <p:cNvPr id="74757" name="Rectangle 3"/>
          <p:cNvSpPr>
            <a:spLocks noGrp="1" noChangeArrowheads="1"/>
          </p:cNvSpPr>
          <p:nvPr>
            <p:ph type="body" idx="1"/>
          </p:nvPr>
        </p:nvSpPr>
        <p:spPr/>
        <p:txBody>
          <a:bodyPr/>
          <a:lstStyle/>
          <a:p>
            <a:pPr eaLnBrk="1" hangingPunct="1"/>
            <a:r>
              <a:rPr lang="zh-CN" altLang="en-US" sz="2800" smtClean="0"/>
              <a:t>相邻最小项</a:t>
            </a:r>
            <a:r>
              <a:rPr lang="en-US" altLang="zh-CN" sz="2800" smtClean="0"/>
              <a:t>(</a:t>
            </a:r>
            <a:r>
              <a:rPr lang="zh-CN" altLang="en-US" sz="2800" smtClean="0"/>
              <a:t>相邻方格</a:t>
            </a:r>
            <a:r>
              <a:rPr lang="en-US" altLang="zh-CN" sz="2800" smtClean="0"/>
              <a:t>)</a:t>
            </a:r>
            <a:r>
              <a:rPr lang="zh-CN" altLang="en-US" sz="2800" smtClean="0"/>
              <a:t>可以合并成一个较大的区域。</a:t>
            </a:r>
          </a:p>
          <a:p>
            <a:pPr eaLnBrk="1" hangingPunct="1"/>
            <a:r>
              <a:rPr lang="zh-CN" altLang="en-US" sz="2800" smtClean="0"/>
              <a:t>卡诺圈：表示相邻小方格合并结果的圈。</a:t>
            </a:r>
          </a:p>
          <a:p>
            <a:pPr lvl="1" eaLnBrk="1" hangingPunct="1"/>
            <a:r>
              <a:rPr lang="zh-CN" altLang="en-US" sz="2400" smtClean="0"/>
              <a:t>以“</a:t>
            </a:r>
            <a:r>
              <a:rPr lang="en-US" altLang="zh-CN" sz="2400" smtClean="0"/>
              <a:t>1”</a:t>
            </a:r>
            <a:r>
              <a:rPr lang="zh-CN" altLang="en-US" sz="2400" smtClean="0"/>
              <a:t>卡诺圈为例：</a:t>
            </a:r>
          </a:p>
          <a:p>
            <a:pPr lvl="2" eaLnBrk="1" hangingPunct="1"/>
            <a:r>
              <a:rPr lang="zh-CN" altLang="en-US" sz="2000" smtClean="0"/>
              <a:t>卡诺圈中的“</a:t>
            </a:r>
            <a:r>
              <a:rPr lang="en-US" altLang="zh-CN" sz="2000" smtClean="0"/>
              <a:t>1”</a:t>
            </a:r>
            <a:r>
              <a:rPr lang="zh-CN" altLang="en-US" sz="2000" smtClean="0"/>
              <a:t>方格数必须是</a:t>
            </a:r>
            <a:r>
              <a:rPr lang="en-US" altLang="zh-CN" sz="2000" smtClean="0"/>
              <a:t>2</a:t>
            </a:r>
            <a:r>
              <a:rPr lang="en-US" altLang="zh-CN" sz="2000" baseline="30000" smtClean="0"/>
              <a:t>m</a:t>
            </a:r>
            <a:r>
              <a:rPr lang="zh-CN" altLang="en-US" sz="2000" smtClean="0"/>
              <a:t>个，</a:t>
            </a:r>
            <a:r>
              <a:rPr lang="en-US" altLang="zh-CN" sz="2000" smtClean="0"/>
              <a:t>m≤n</a:t>
            </a:r>
            <a:r>
              <a:rPr lang="zh-CN" altLang="en-US" sz="2000" smtClean="0"/>
              <a:t>，</a:t>
            </a:r>
            <a:r>
              <a:rPr lang="en-US" altLang="zh-CN" sz="2000" smtClean="0"/>
              <a:t>n</a:t>
            </a:r>
            <a:r>
              <a:rPr lang="zh-CN" altLang="en-US" sz="2000" smtClean="0"/>
              <a:t>为变量总数。</a:t>
            </a:r>
          </a:p>
          <a:p>
            <a:pPr lvl="2" eaLnBrk="1" hangingPunct="1"/>
            <a:r>
              <a:rPr lang="en-US" altLang="zh-CN" sz="2000" smtClean="0"/>
              <a:t>2</a:t>
            </a:r>
            <a:r>
              <a:rPr lang="en-US" altLang="zh-CN" sz="2000" baseline="30000" smtClean="0"/>
              <a:t>m</a:t>
            </a:r>
            <a:r>
              <a:rPr lang="zh-CN" altLang="en-US" sz="2000" smtClean="0"/>
              <a:t>个“</a:t>
            </a:r>
            <a:r>
              <a:rPr lang="en-US" altLang="zh-CN" sz="2000" smtClean="0"/>
              <a:t>1”</a:t>
            </a:r>
            <a:r>
              <a:rPr lang="zh-CN" altLang="en-US" sz="2000" smtClean="0"/>
              <a:t>方格必须排列成方阵或矩阵。</a:t>
            </a:r>
            <a:r>
              <a:rPr lang="en-US" altLang="zh-CN" sz="2000" smtClean="0"/>
              <a:t>(</a:t>
            </a:r>
            <a:r>
              <a:rPr lang="zh-CN" altLang="en-US" sz="2000" smtClean="0"/>
              <a:t>四个角的小方格作为方阵的特例</a:t>
            </a:r>
            <a:r>
              <a:rPr lang="en-US" altLang="zh-CN" sz="2000" smtClean="0"/>
              <a:t>)</a:t>
            </a:r>
          </a:p>
          <a:p>
            <a:pPr lvl="2" eaLnBrk="1" hangingPunct="1"/>
            <a:r>
              <a:rPr lang="en-US" altLang="zh-CN" sz="2000" smtClean="0"/>
              <a:t>2</a:t>
            </a:r>
            <a:r>
              <a:rPr lang="en-US" altLang="zh-CN" sz="2000" baseline="30000" smtClean="0"/>
              <a:t>m</a:t>
            </a:r>
            <a:r>
              <a:rPr lang="zh-CN" altLang="en-US" sz="2000" smtClean="0"/>
              <a:t>个“</a:t>
            </a:r>
            <a:r>
              <a:rPr lang="en-US" altLang="zh-CN" sz="2000" smtClean="0"/>
              <a:t>1”</a:t>
            </a:r>
            <a:r>
              <a:rPr lang="zh-CN" altLang="en-US" sz="2000" smtClean="0"/>
              <a:t>方格的方阵或矩阵必须是对称相邻的。</a:t>
            </a:r>
          </a:p>
          <a:p>
            <a:pPr eaLnBrk="1" hangingPunct="1"/>
            <a:r>
              <a:rPr lang="zh-CN" altLang="en-US" sz="2800" smtClean="0"/>
              <a:t>在</a:t>
            </a:r>
            <a:r>
              <a:rPr lang="en-US" altLang="zh-CN" sz="2800" smtClean="0"/>
              <a:t>n</a:t>
            </a:r>
            <a:r>
              <a:rPr lang="zh-CN" altLang="en-US" sz="2800" smtClean="0"/>
              <a:t>变量卡诺图中，</a:t>
            </a:r>
            <a:r>
              <a:rPr lang="en-US" altLang="zh-CN" sz="2800" smtClean="0"/>
              <a:t>2</a:t>
            </a:r>
            <a:r>
              <a:rPr lang="en-US" altLang="zh-CN" sz="2800" baseline="30000" smtClean="0"/>
              <a:t>m</a:t>
            </a:r>
            <a:r>
              <a:rPr lang="zh-CN" altLang="en-US" sz="2800" smtClean="0"/>
              <a:t>个标以“</a:t>
            </a:r>
            <a:r>
              <a:rPr lang="en-US" altLang="zh-CN" sz="2800" smtClean="0"/>
              <a:t>1”</a:t>
            </a:r>
            <a:r>
              <a:rPr lang="zh-CN" altLang="en-US" sz="2800" smtClean="0"/>
              <a:t>的相邻方格都可以合并，即卡诺圈中的最小项可并成一项，并且消去</a:t>
            </a:r>
            <a:r>
              <a:rPr lang="en-US" altLang="zh-CN" sz="2800" smtClean="0"/>
              <a:t>m</a:t>
            </a:r>
            <a:r>
              <a:rPr lang="zh-CN" altLang="en-US" sz="2800" smtClean="0"/>
              <a:t>个变量。</a:t>
            </a:r>
          </a:p>
        </p:txBody>
      </p:sp>
    </p:spTree>
  </p:cSld>
  <p:clrMapOvr>
    <a:masterClrMapping/>
  </p:clrMapOvr>
  <p:transition>
    <p:random/>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01B77A13-C7CA-4B01-A2D1-B93708EA4A37}" type="datetime1">
              <a:rPr lang="zh-CN" altLang="en-US"/>
              <a:pPr>
                <a:defRPr/>
              </a:pPr>
              <a:t>2021/9/21</a:t>
            </a:fld>
            <a:endParaRPr lang="en-US" altLang="zh-CN"/>
          </a:p>
        </p:txBody>
      </p:sp>
      <p:sp>
        <p:nvSpPr>
          <p:cNvPr id="5" name="灯片编号占位符 5"/>
          <p:cNvSpPr>
            <a:spLocks noGrp="1"/>
          </p:cNvSpPr>
          <p:nvPr>
            <p:ph type="sldNum" sz="quarter" idx="12"/>
          </p:nvPr>
        </p:nvSpPr>
        <p:spPr/>
        <p:txBody>
          <a:bodyPr/>
          <a:lstStyle/>
          <a:p>
            <a:pPr>
              <a:defRPr/>
            </a:pPr>
            <a:fld id="{DE1ED0DE-CE67-4AEF-BCC8-3DC18D850F30}" type="slidenum">
              <a:rPr lang="en-US" altLang="zh-CN"/>
              <a:pPr>
                <a:defRPr/>
              </a:pPr>
              <a:t>72</a:t>
            </a:fld>
            <a:endParaRPr lang="en-US" altLang="zh-CN"/>
          </a:p>
        </p:txBody>
      </p:sp>
      <p:sp>
        <p:nvSpPr>
          <p:cNvPr id="75780" name="Rectangle 2"/>
          <p:cNvSpPr>
            <a:spLocks noGrp="1" noChangeArrowheads="1"/>
          </p:cNvSpPr>
          <p:nvPr>
            <p:ph type="title"/>
          </p:nvPr>
        </p:nvSpPr>
        <p:spPr>
          <a:xfrm>
            <a:off x="1150938" y="533400"/>
            <a:ext cx="7793037" cy="609600"/>
          </a:xfrm>
        </p:spPr>
        <p:txBody>
          <a:bodyPr/>
          <a:lstStyle/>
          <a:p>
            <a:pPr eaLnBrk="1" hangingPunct="1"/>
            <a:r>
              <a:rPr lang="zh-CN" altLang="en-US" smtClean="0"/>
              <a:t>用卡诺图化简逻辑函数</a:t>
            </a:r>
          </a:p>
        </p:txBody>
      </p:sp>
      <p:sp>
        <p:nvSpPr>
          <p:cNvPr id="75781" name="Rectangle 3"/>
          <p:cNvSpPr>
            <a:spLocks noGrp="1" noChangeArrowheads="1"/>
          </p:cNvSpPr>
          <p:nvPr>
            <p:ph type="body" idx="1"/>
          </p:nvPr>
        </p:nvSpPr>
        <p:spPr/>
        <p:txBody>
          <a:bodyPr/>
          <a:lstStyle/>
          <a:p>
            <a:pPr eaLnBrk="1" hangingPunct="1">
              <a:lnSpc>
                <a:spcPct val="90000"/>
              </a:lnSpc>
            </a:pPr>
            <a:r>
              <a:rPr lang="zh-CN" altLang="en-US" smtClean="0"/>
              <a:t>用卡诺图将逻辑函数化简为</a:t>
            </a:r>
            <a:r>
              <a:rPr lang="zh-CN" altLang="en-US" smtClean="0">
                <a:solidFill>
                  <a:schemeClr val="folHlink"/>
                </a:solidFill>
              </a:rPr>
              <a:t>最简“与或”式</a:t>
            </a:r>
          </a:p>
          <a:p>
            <a:pPr lvl="1" eaLnBrk="1" hangingPunct="1">
              <a:lnSpc>
                <a:spcPct val="90000"/>
              </a:lnSpc>
            </a:pPr>
            <a:r>
              <a:rPr lang="zh-CN" altLang="en-US" smtClean="0"/>
              <a:t>第一步，将真值表或原始函数移植到卡诺图</a:t>
            </a:r>
          </a:p>
          <a:p>
            <a:pPr lvl="1" eaLnBrk="1" hangingPunct="1">
              <a:lnSpc>
                <a:spcPct val="90000"/>
              </a:lnSpc>
            </a:pPr>
            <a:r>
              <a:rPr lang="zh-CN" altLang="en-US" smtClean="0"/>
              <a:t>第二步，对卡诺图中的</a:t>
            </a:r>
            <a:r>
              <a:rPr lang="en-US" altLang="zh-CN" smtClean="0"/>
              <a:t>1</a:t>
            </a:r>
            <a:r>
              <a:rPr lang="zh-CN" altLang="en-US" smtClean="0"/>
              <a:t>方格画卡诺圈</a:t>
            </a:r>
          </a:p>
          <a:p>
            <a:pPr lvl="2" eaLnBrk="1" hangingPunct="1">
              <a:lnSpc>
                <a:spcPct val="90000"/>
              </a:lnSpc>
            </a:pPr>
            <a:r>
              <a:rPr lang="zh-CN" altLang="en-US" smtClean="0"/>
              <a:t>在满足合并条件下，卡诺圈应尽可能大</a:t>
            </a:r>
            <a:r>
              <a:rPr lang="zh-CN" altLang="en-US" smtClean="0">
                <a:sym typeface="Wingdings" pitchFamily="2" charset="2"/>
              </a:rPr>
              <a:t>→→使得“与”项中变量个数最少</a:t>
            </a:r>
          </a:p>
          <a:p>
            <a:pPr lvl="2" eaLnBrk="1" hangingPunct="1">
              <a:lnSpc>
                <a:spcPct val="90000"/>
              </a:lnSpc>
            </a:pPr>
            <a:r>
              <a:rPr lang="zh-CN" altLang="en-US" smtClean="0">
                <a:sym typeface="Wingdings" pitchFamily="2" charset="2"/>
              </a:rPr>
              <a:t>在覆盖所有</a:t>
            </a:r>
            <a:r>
              <a:rPr lang="en-US" altLang="zh-CN" smtClean="0">
                <a:sym typeface="Wingdings" pitchFamily="2" charset="2"/>
              </a:rPr>
              <a:t>1</a:t>
            </a:r>
            <a:r>
              <a:rPr lang="zh-CN" altLang="en-US" smtClean="0">
                <a:sym typeface="Wingdings" pitchFamily="2" charset="2"/>
              </a:rPr>
              <a:t>方格的前提下，卡诺圈的个数应尽可能少→→使得“与”项的数目最少</a:t>
            </a:r>
          </a:p>
          <a:p>
            <a:pPr lvl="2" eaLnBrk="1" hangingPunct="1">
              <a:lnSpc>
                <a:spcPct val="90000"/>
              </a:lnSpc>
            </a:pPr>
            <a:r>
              <a:rPr lang="zh-CN" altLang="en-US" smtClean="0">
                <a:sym typeface="Wingdings" pitchFamily="2" charset="2"/>
              </a:rPr>
              <a:t>每个</a:t>
            </a:r>
            <a:r>
              <a:rPr lang="en-US" altLang="zh-CN" smtClean="0">
                <a:sym typeface="Wingdings" pitchFamily="2" charset="2"/>
              </a:rPr>
              <a:t>1</a:t>
            </a:r>
            <a:r>
              <a:rPr lang="zh-CN" altLang="en-US" smtClean="0">
                <a:sym typeface="Wingdings" pitchFamily="2" charset="2"/>
              </a:rPr>
              <a:t>方格为满足上述两条的需要可被多个卡诺圈包含，但至少被一个卡诺圈包含</a:t>
            </a:r>
          </a:p>
          <a:p>
            <a:pPr lvl="1" eaLnBrk="1" hangingPunct="1">
              <a:lnSpc>
                <a:spcPct val="90000"/>
              </a:lnSpc>
            </a:pPr>
            <a:r>
              <a:rPr lang="zh-CN" altLang="en-US" smtClean="0"/>
              <a:t>第三步，将所有卡诺圈对应的“与”项相“或”，得到该逻辑函数的最简“与或”式</a:t>
            </a:r>
          </a:p>
        </p:txBody>
      </p:sp>
    </p:spTree>
  </p:cSld>
  <p:clrMapOvr>
    <a:masterClrMapping/>
  </p:clrMapOvr>
  <p:transition>
    <p:random/>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quarter" idx="10"/>
          </p:nvPr>
        </p:nvSpPr>
        <p:spPr/>
        <p:txBody>
          <a:bodyPr/>
          <a:lstStyle/>
          <a:p>
            <a:pPr>
              <a:defRPr/>
            </a:pPr>
            <a:fld id="{5039F47D-A853-4B21-A894-15CDE5D87586}" type="datetime1">
              <a:rPr lang="zh-CN" altLang="en-US" smtClean="0"/>
              <a:pPr>
                <a:defRPr/>
              </a:pPr>
              <a:t>2021/9/21</a:t>
            </a:fld>
            <a:endParaRPr lang="en-US" altLang="zh-CN"/>
          </a:p>
        </p:txBody>
      </p:sp>
      <p:sp>
        <p:nvSpPr>
          <p:cNvPr id="3" name="灯片编号占位符 2"/>
          <p:cNvSpPr>
            <a:spLocks noGrp="1"/>
          </p:cNvSpPr>
          <p:nvPr>
            <p:ph type="sldNum" sz="quarter" idx="12"/>
          </p:nvPr>
        </p:nvSpPr>
        <p:spPr/>
        <p:txBody>
          <a:bodyPr/>
          <a:lstStyle/>
          <a:p>
            <a:pPr>
              <a:defRPr/>
            </a:pPr>
            <a:fld id="{2DD04BAE-D048-42EE-8D3D-86A6C56BCD46}" type="slidenum">
              <a:rPr lang="en-US" altLang="zh-CN" smtClean="0"/>
              <a:pPr>
                <a:defRPr/>
              </a:pPr>
              <a:t>73</a:t>
            </a:fld>
            <a:endParaRPr lang="en-US" altLang="zh-CN"/>
          </a:p>
        </p:txBody>
      </p:sp>
      <p:pic>
        <p:nvPicPr>
          <p:cNvPr id="7680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4500" y="428625"/>
            <a:ext cx="5191125" cy="259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80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4438" y="3714750"/>
            <a:ext cx="6929437" cy="242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quarter" idx="10"/>
          </p:nvPr>
        </p:nvSpPr>
        <p:spPr/>
        <p:txBody>
          <a:bodyPr/>
          <a:lstStyle/>
          <a:p>
            <a:pPr>
              <a:defRPr/>
            </a:pPr>
            <a:fld id="{5039F47D-A853-4B21-A894-15CDE5D87586}" type="datetime1">
              <a:rPr lang="zh-CN" altLang="en-US" smtClean="0"/>
              <a:pPr>
                <a:defRPr/>
              </a:pPr>
              <a:t>2021/9/21</a:t>
            </a:fld>
            <a:endParaRPr lang="en-US" altLang="zh-CN"/>
          </a:p>
        </p:txBody>
      </p:sp>
      <p:sp>
        <p:nvSpPr>
          <p:cNvPr id="3" name="灯片编号占位符 2"/>
          <p:cNvSpPr>
            <a:spLocks noGrp="1"/>
          </p:cNvSpPr>
          <p:nvPr>
            <p:ph type="sldNum" sz="quarter" idx="12"/>
          </p:nvPr>
        </p:nvSpPr>
        <p:spPr/>
        <p:txBody>
          <a:bodyPr/>
          <a:lstStyle/>
          <a:p>
            <a:pPr>
              <a:defRPr/>
            </a:pPr>
            <a:fld id="{EF398B61-4231-47EA-9225-8B6D6FD9CF92}" type="slidenum">
              <a:rPr lang="en-US" altLang="zh-CN" smtClean="0"/>
              <a:pPr>
                <a:defRPr/>
              </a:pPr>
              <a:t>74</a:t>
            </a:fld>
            <a:endParaRPr lang="en-US" altLang="zh-CN"/>
          </a:p>
        </p:txBody>
      </p:sp>
      <p:pic>
        <p:nvPicPr>
          <p:cNvPr id="7782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0125" y="428625"/>
            <a:ext cx="7286625" cy="335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quarter" idx="10"/>
          </p:nvPr>
        </p:nvSpPr>
        <p:spPr/>
        <p:txBody>
          <a:bodyPr/>
          <a:lstStyle/>
          <a:p>
            <a:pPr>
              <a:defRPr/>
            </a:pPr>
            <a:fld id="{5039F47D-A853-4B21-A894-15CDE5D87586}" type="datetime1">
              <a:rPr lang="zh-CN" altLang="en-US" smtClean="0"/>
              <a:pPr>
                <a:defRPr/>
              </a:pPr>
              <a:t>2021/9/21</a:t>
            </a:fld>
            <a:endParaRPr lang="en-US" altLang="zh-CN"/>
          </a:p>
        </p:txBody>
      </p:sp>
      <p:sp>
        <p:nvSpPr>
          <p:cNvPr id="3" name="灯片编号占位符 2"/>
          <p:cNvSpPr>
            <a:spLocks noGrp="1"/>
          </p:cNvSpPr>
          <p:nvPr>
            <p:ph type="sldNum" sz="quarter" idx="12"/>
          </p:nvPr>
        </p:nvSpPr>
        <p:spPr/>
        <p:txBody>
          <a:bodyPr/>
          <a:lstStyle/>
          <a:p>
            <a:pPr>
              <a:defRPr/>
            </a:pPr>
            <a:fld id="{74AD2472-C55F-4FD8-982E-9EBAFFBC1BFC}" type="slidenum">
              <a:rPr lang="en-US" altLang="zh-CN" smtClean="0"/>
              <a:pPr>
                <a:defRPr/>
              </a:pPr>
              <a:t>75</a:t>
            </a:fld>
            <a:endParaRPr lang="en-US" altLang="zh-CN"/>
          </a:p>
        </p:txBody>
      </p:sp>
      <p:pic>
        <p:nvPicPr>
          <p:cNvPr id="7885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7313" y="857250"/>
            <a:ext cx="6572250" cy="371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quarter" idx="10"/>
          </p:nvPr>
        </p:nvSpPr>
        <p:spPr/>
        <p:txBody>
          <a:bodyPr/>
          <a:lstStyle/>
          <a:p>
            <a:pPr>
              <a:defRPr/>
            </a:pPr>
            <a:fld id="{5039F47D-A853-4B21-A894-15CDE5D87586}" type="datetime1">
              <a:rPr lang="zh-CN" altLang="en-US" smtClean="0"/>
              <a:pPr>
                <a:defRPr/>
              </a:pPr>
              <a:t>2021/9/21</a:t>
            </a:fld>
            <a:endParaRPr lang="en-US" altLang="zh-CN"/>
          </a:p>
        </p:txBody>
      </p:sp>
      <p:sp>
        <p:nvSpPr>
          <p:cNvPr id="3" name="灯片编号占位符 2"/>
          <p:cNvSpPr>
            <a:spLocks noGrp="1"/>
          </p:cNvSpPr>
          <p:nvPr>
            <p:ph type="sldNum" sz="quarter" idx="12"/>
          </p:nvPr>
        </p:nvSpPr>
        <p:spPr/>
        <p:txBody>
          <a:bodyPr/>
          <a:lstStyle/>
          <a:p>
            <a:pPr>
              <a:defRPr/>
            </a:pPr>
            <a:fld id="{1CF26D8C-02D9-4D97-8929-2958B951E34D}" type="slidenum">
              <a:rPr lang="en-US" altLang="zh-CN" smtClean="0"/>
              <a:pPr>
                <a:defRPr/>
              </a:pPr>
              <a:t>76</a:t>
            </a:fld>
            <a:endParaRPr lang="en-US" altLang="zh-CN"/>
          </a:p>
        </p:txBody>
      </p:sp>
      <p:pic>
        <p:nvPicPr>
          <p:cNvPr id="7987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5875" y="285750"/>
            <a:ext cx="5657850" cy="87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987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528" y="1190180"/>
            <a:ext cx="3143250" cy="3243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601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17332" y="1522294"/>
            <a:ext cx="3026393" cy="2827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6019"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44793" y="4349582"/>
            <a:ext cx="3456384" cy="23748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右箭头 3"/>
          <p:cNvSpPr/>
          <p:nvPr/>
        </p:nvSpPr>
        <p:spPr bwMode="auto">
          <a:xfrm>
            <a:off x="3466778" y="2935938"/>
            <a:ext cx="648022" cy="421054"/>
          </a:xfrm>
          <a:prstGeom prst="rightArrow">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smtClean="0">
              <a:ln>
                <a:noFill/>
              </a:ln>
              <a:solidFill>
                <a:schemeClr val="tx1"/>
              </a:solidFill>
              <a:effectLst/>
              <a:latin typeface="Times New Roman" charset="0"/>
              <a:ea typeface="宋体" pitchFamily="2" charset="-122"/>
            </a:endParaRPr>
          </a:p>
        </p:txBody>
      </p:sp>
      <p:sp>
        <p:nvSpPr>
          <p:cNvPr id="5" name="下箭头 4"/>
          <p:cNvSpPr/>
          <p:nvPr/>
        </p:nvSpPr>
        <p:spPr bwMode="auto">
          <a:xfrm>
            <a:off x="5580112" y="4221088"/>
            <a:ext cx="360040" cy="432048"/>
          </a:xfrm>
          <a:prstGeom prst="downArrow">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smtClean="0">
              <a:ln>
                <a:noFill/>
              </a:ln>
              <a:solidFill>
                <a:schemeClr val="tx1"/>
              </a:solidFill>
              <a:effectLst/>
              <a:latin typeface="Times New Roman" charset="0"/>
              <a:ea typeface="宋体" pitchFamily="2" charset="-122"/>
            </a:endParaRPr>
          </a:p>
        </p:txBody>
      </p:sp>
    </p:spTree>
  </p:cSld>
  <p:clrMapOvr>
    <a:masterClrMapping/>
  </p:clrMapOvr>
  <p:transition>
    <p:random/>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fld id="{B985FAE6-C2CB-4A60-8AE4-B64903C1EAD0}" type="datetime1">
              <a:rPr lang="zh-CN" altLang="en-US" smtClean="0"/>
              <a:pPr>
                <a:defRPr/>
              </a:pPr>
              <a:t>2021/9/21</a:t>
            </a:fld>
            <a:endParaRPr lang="en-US" altLang="zh-CN"/>
          </a:p>
        </p:txBody>
      </p:sp>
      <p:sp>
        <p:nvSpPr>
          <p:cNvPr id="3" name="灯片编号占位符 2"/>
          <p:cNvSpPr>
            <a:spLocks noGrp="1"/>
          </p:cNvSpPr>
          <p:nvPr>
            <p:ph type="sldNum" sz="quarter" idx="12"/>
          </p:nvPr>
        </p:nvSpPr>
        <p:spPr/>
        <p:txBody>
          <a:bodyPr/>
          <a:lstStyle/>
          <a:p>
            <a:pPr>
              <a:defRPr/>
            </a:pPr>
            <a:fld id="{3F1800E0-5332-46F4-B881-9258FF922E18}" type="slidenum">
              <a:rPr lang="en-US" altLang="zh-CN" smtClean="0"/>
              <a:pPr>
                <a:defRPr/>
              </a:pPr>
              <a:t>77</a:t>
            </a:fld>
            <a:endParaRPr lang="en-US" altLang="zh-CN"/>
          </a:p>
        </p:txBody>
      </p:sp>
      <p:pic>
        <p:nvPicPr>
          <p:cNvPr id="870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5802" y="548680"/>
            <a:ext cx="7266262" cy="864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704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5802" y="1525888"/>
            <a:ext cx="6846761" cy="35283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704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0021" y="5376752"/>
            <a:ext cx="4306078" cy="432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下箭头 3"/>
          <p:cNvSpPr/>
          <p:nvPr/>
        </p:nvSpPr>
        <p:spPr bwMode="auto">
          <a:xfrm>
            <a:off x="2411760" y="4653136"/>
            <a:ext cx="432048" cy="576064"/>
          </a:xfrm>
          <a:prstGeom prst="downArrow">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smtClean="0">
              <a:ln>
                <a:noFill/>
              </a:ln>
              <a:solidFill>
                <a:schemeClr val="tx1"/>
              </a:solidFill>
              <a:effectLst/>
              <a:latin typeface="Times New Roman" charset="0"/>
              <a:ea typeface="宋体" pitchFamily="2" charset="-122"/>
            </a:endParaRPr>
          </a:p>
        </p:txBody>
      </p:sp>
      <p:pic>
        <p:nvPicPr>
          <p:cNvPr id="87045"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72031" y="5808800"/>
            <a:ext cx="5526614" cy="5760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下箭头 4"/>
          <p:cNvSpPr/>
          <p:nvPr/>
        </p:nvSpPr>
        <p:spPr bwMode="auto">
          <a:xfrm>
            <a:off x="6035338" y="4653136"/>
            <a:ext cx="336862" cy="1155664"/>
          </a:xfrm>
          <a:prstGeom prst="downArrow">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smtClean="0">
              <a:ln>
                <a:noFill/>
              </a:ln>
              <a:solidFill>
                <a:schemeClr val="tx1"/>
              </a:solidFill>
              <a:effectLst/>
              <a:latin typeface="Times New Roman" charset="0"/>
              <a:ea typeface="宋体" pitchFamily="2" charset="-122"/>
            </a:endParaRPr>
          </a:p>
        </p:txBody>
      </p:sp>
    </p:spTree>
    <p:extLst>
      <p:ext uri="{BB962C8B-B14F-4D97-AF65-F5344CB8AC3E}">
        <p14:creationId xmlns:p14="http://schemas.microsoft.com/office/powerpoint/2010/main" val="4032642853"/>
      </p:ext>
    </p:extLst>
  </p:cSld>
  <p:clrMapOvr>
    <a:masterClrMapping/>
  </p:clrMapOvr>
  <p:transition>
    <p:random/>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11E9B470-3A71-482B-B4B9-BC9D800F28CD}" type="datetime1">
              <a:rPr lang="zh-CN" altLang="en-US"/>
              <a:pPr>
                <a:defRPr/>
              </a:pPr>
              <a:t>2021/9/21</a:t>
            </a:fld>
            <a:endParaRPr lang="en-US" altLang="zh-CN"/>
          </a:p>
        </p:txBody>
      </p:sp>
      <p:sp>
        <p:nvSpPr>
          <p:cNvPr id="5" name="灯片编号占位符 5"/>
          <p:cNvSpPr>
            <a:spLocks noGrp="1"/>
          </p:cNvSpPr>
          <p:nvPr>
            <p:ph type="sldNum" sz="quarter" idx="12"/>
          </p:nvPr>
        </p:nvSpPr>
        <p:spPr/>
        <p:txBody>
          <a:bodyPr/>
          <a:lstStyle/>
          <a:p>
            <a:pPr>
              <a:defRPr/>
            </a:pPr>
            <a:fld id="{A69E1CF5-84C3-496C-BAEA-2C55B7559220}" type="slidenum">
              <a:rPr lang="en-US" altLang="zh-CN"/>
              <a:pPr>
                <a:defRPr/>
              </a:pPr>
              <a:t>78</a:t>
            </a:fld>
            <a:endParaRPr lang="en-US" altLang="zh-CN"/>
          </a:p>
        </p:txBody>
      </p:sp>
      <p:sp>
        <p:nvSpPr>
          <p:cNvPr id="80900" name="Rectangle 2"/>
          <p:cNvSpPr>
            <a:spLocks noGrp="1" noChangeArrowheads="1"/>
          </p:cNvSpPr>
          <p:nvPr>
            <p:ph type="title"/>
          </p:nvPr>
        </p:nvSpPr>
        <p:spPr>
          <a:xfrm>
            <a:off x="1150938" y="533400"/>
            <a:ext cx="7793037" cy="609600"/>
          </a:xfrm>
        </p:spPr>
        <p:txBody>
          <a:bodyPr/>
          <a:lstStyle/>
          <a:p>
            <a:pPr eaLnBrk="1" hangingPunct="1"/>
            <a:r>
              <a:rPr lang="zh-CN" altLang="en-US" smtClean="0"/>
              <a:t>用卡诺图化简逻辑函数</a:t>
            </a:r>
          </a:p>
        </p:txBody>
      </p:sp>
      <p:sp>
        <p:nvSpPr>
          <p:cNvPr id="80901" name="Rectangle 3"/>
          <p:cNvSpPr>
            <a:spLocks noGrp="1" noChangeArrowheads="1"/>
          </p:cNvSpPr>
          <p:nvPr>
            <p:ph type="body" idx="1"/>
          </p:nvPr>
        </p:nvSpPr>
        <p:spPr/>
        <p:txBody>
          <a:bodyPr/>
          <a:lstStyle/>
          <a:p>
            <a:pPr eaLnBrk="1" hangingPunct="1"/>
            <a:r>
              <a:rPr lang="zh-CN" altLang="en-US" sz="2800" smtClean="0"/>
              <a:t>用卡诺图将逻辑函数化简为</a:t>
            </a:r>
            <a:r>
              <a:rPr lang="zh-CN" altLang="en-US" sz="2800" smtClean="0">
                <a:solidFill>
                  <a:schemeClr val="folHlink"/>
                </a:solidFill>
              </a:rPr>
              <a:t>最简“或与”式</a:t>
            </a:r>
          </a:p>
          <a:p>
            <a:pPr lvl="1" eaLnBrk="1" hangingPunct="1"/>
            <a:r>
              <a:rPr lang="zh-CN" altLang="en-US" sz="2400" smtClean="0"/>
              <a:t>第一步，将逻辑函数用卡诺图表示</a:t>
            </a:r>
          </a:p>
          <a:p>
            <a:pPr lvl="1" eaLnBrk="1" hangingPunct="1"/>
            <a:r>
              <a:rPr lang="zh-CN" altLang="en-US" sz="2400" smtClean="0"/>
              <a:t>第二步，</a:t>
            </a:r>
            <a:r>
              <a:rPr lang="zh-CN" altLang="en-US" sz="2400" b="1" smtClean="0">
                <a:solidFill>
                  <a:schemeClr val="hlink"/>
                </a:solidFill>
              </a:rPr>
              <a:t>对卡诺图中的</a:t>
            </a:r>
            <a:r>
              <a:rPr lang="en-US" altLang="zh-CN" sz="2400" b="1" smtClean="0">
                <a:solidFill>
                  <a:schemeClr val="hlink"/>
                </a:solidFill>
              </a:rPr>
              <a:t>0</a:t>
            </a:r>
            <a:r>
              <a:rPr lang="zh-CN" altLang="en-US" sz="2400" b="1" smtClean="0">
                <a:solidFill>
                  <a:schemeClr val="hlink"/>
                </a:solidFill>
              </a:rPr>
              <a:t>方格画卡诺圈</a:t>
            </a:r>
          </a:p>
          <a:p>
            <a:pPr lvl="1" eaLnBrk="1" hangingPunct="1"/>
            <a:r>
              <a:rPr lang="zh-CN" altLang="en-US" sz="2400" smtClean="0"/>
              <a:t>第三步，将卡诺图上所有卡诺圈对应的“与”项相“或”，得到</a:t>
            </a:r>
            <a:r>
              <a:rPr lang="zh-CN" altLang="en-US" sz="2400" b="1" smtClean="0">
                <a:solidFill>
                  <a:schemeClr val="hlink"/>
                </a:solidFill>
              </a:rPr>
              <a:t>反</a:t>
            </a:r>
            <a:r>
              <a:rPr lang="zh-CN" altLang="en-US" sz="2400" smtClean="0"/>
              <a:t>函数的最简“与或”式</a:t>
            </a:r>
          </a:p>
          <a:p>
            <a:pPr lvl="1" eaLnBrk="1" hangingPunct="1"/>
            <a:r>
              <a:rPr lang="zh-CN" altLang="en-US" sz="2400" smtClean="0"/>
              <a:t>第四步，对反函数求反，得原函数的最简“或与”式</a:t>
            </a:r>
          </a:p>
        </p:txBody>
      </p:sp>
    </p:spTree>
  </p:cSld>
  <p:clrMapOvr>
    <a:masterClrMapping/>
  </p:clrMapOvr>
  <p:transition>
    <p:random/>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quarter" idx="10"/>
          </p:nvPr>
        </p:nvSpPr>
        <p:spPr/>
        <p:txBody>
          <a:bodyPr/>
          <a:lstStyle/>
          <a:p>
            <a:pPr>
              <a:defRPr/>
            </a:pPr>
            <a:fld id="{5039F47D-A853-4B21-A894-15CDE5D87586}" type="datetime1">
              <a:rPr lang="zh-CN" altLang="en-US" smtClean="0"/>
              <a:pPr>
                <a:defRPr/>
              </a:pPr>
              <a:t>2021/9/21</a:t>
            </a:fld>
            <a:endParaRPr lang="en-US" altLang="zh-CN"/>
          </a:p>
        </p:txBody>
      </p:sp>
      <p:sp>
        <p:nvSpPr>
          <p:cNvPr id="3" name="灯片编号占位符 2"/>
          <p:cNvSpPr>
            <a:spLocks noGrp="1"/>
          </p:cNvSpPr>
          <p:nvPr>
            <p:ph type="sldNum" sz="quarter" idx="12"/>
          </p:nvPr>
        </p:nvSpPr>
        <p:spPr/>
        <p:txBody>
          <a:bodyPr/>
          <a:lstStyle/>
          <a:p>
            <a:pPr>
              <a:defRPr/>
            </a:pPr>
            <a:fld id="{CAC488C8-76CB-448E-8277-2A9AB7FAA861}" type="slidenum">
              <a:rPr lang="en-US" altLang="zh-CN" smtClean="0"/>
              <a:pPr>
                <a:defRPr/>
              </a:pPr>
              <a:t>79</a:t>
            </a:fld>
            <a:endParaRPr lang="en-US" altLang="zh-CN"/>
          </a:p>
        </p:txBody>
      </p:sp>
      <p:pic>
        <p:nvPicPr>
          <p:cNvPr id="8192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1563" y="500063"/>
            <a:ext cx="681037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2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4438" y="4572000"/>
            <a:ext cx="21717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2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71875" y="1571625"/>
            <a:ext cx="3171825" cy="284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27"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14438" y="5214938"/>
            <a:ext cx="2857500" cy="50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4303D9B6-CE3D-4CE7-957C-242988FBEE86}" type="datetime1">
              <a:rPr lang="zh-CN" altLang="en-US"/>
              <a:pPr>
                <a:defRPr/>
              </a:pPr>
              <a:t>2021/9/21</a:t>
            </a:fld>
            <a:endParaRPr lang="en-US" altLang="zh-CN"/>
          </a:p>
        </p:txBody>
      </p:sp>
      <p:sp>
        <p:nvSpPr>
          <p:cNvPr id="5" name="灯片编号占位符 5"/>
          <p:cNvSpPr>
            <a:spLocks noGrp="1"/>
          </p:cNvSpPr>
          <p:nvPr>
            <p:ph type="sldNum" sz="quarter" idx="12"/>
          </p:nvPr>
        </p:nvSpPr>
        <p:spPr/>
        <p:txBody>
          <a:bodyPr/>
          <a:lstStyle/>
          <a:p>
            <a:pPr>
              <a:defRPr/>
            </a:pPr>
            <a:fld id="{575292FC-7F4F-4193-8914-A4F3DA7200A7}" type="slidenum">
              <a:rPr lang="en-US" altLang="zh-CN"/>
              <a:pPr>
                <a:defRPr/>
              </a:pPr>
              <a:t>80</a:t>
            </a:fld>
            <a:endParaRPr lang="en-US" altLang="zh-CN"/>
          </a:p>
        </p:txBody>
      </p:sp>
      <p:sp>
        <p:nvSpPr>
          <p:cNvPr id="82948" name="Rectangle 2"/>
          <p:cNvSpPr>
            <a:spLocks noGrp="1" noChangeArrowheads="1"/>
          </p:cNvSpPr>
          <p:nvPr>
            <p:ph type="title"/>
          </p:nvPr>
        </p:nvSpPr>
        <p:spPr>
          <a:xfrm>
            <a:off x="1150938" y="533400"/>
            <a:ext cx="7793037" cy="609600"/>
          </a:xfrm>
        </p:spPr>
        <p:txBody>
          <a:bodyPr/>
          <a:lstStyle/>
          <a:p>
            <a:pPr eaLnBrk="1" hangingPunct="1"/>
            <a:r>
              <a:rPr lang="zh-CN" altLang="en-US" sz="4000" smtClean="0"/>
              <a:t>逻辑函数化简中有关问题的考虑</a:t>
            </a:r>
          </a:p>
        </p:txBody>
      </p:sp>
      <p:sp>
        <p:nvSpPr>
          <p:cNvPr id="82949" name="Rectangle 3"/>
          <p:cNvSpPr>
            <a:spLocks noGrp="1" noChangeArrowheads="1"/>
          </p:cNvSpPr>
          <p:nvPr>
            <p:ph type="body" idx="1"/>
          </p:nvPr>
        </p:nvSpPr>
        <p:spPr/>
        <p:txBody>
          <a:bodyPr/>
          <a:lstStyle/>
          <a:p>
            <a:pPr eaLnBrk="1" hangingPunct="1"/>
            <a:r>
              <a:rPr lang="zh-CN" altLang="en-US" dirty="0" smtClean="0"/>
              <a:t>包含无关最小项的逻辑函数的化简</a:t>
            </a:r>
          </a:p>
          <a:p>
            <a:pPr lvl="1" eaLnBrk="1" hangingPunct="1"/>
            <a:r>
              <a:rPr lang="zh-CN" altLang="en-US" dirty="0" smtClean="0"/>
              <a:t>无关最小项：不能决定函数值的最小项。这部分最小项与函数的取值无关，通常用符号“</a:t>
            </a:r>
            <a:r>
              <a:rPr lang="en-US" altLang="zh-CN" i="1" dirty="0" smtClean="0">
                <a:latin typeface="Times New Roman" pitchFamily="18" charset="0"/>
              </a:rPr>
              <a:t>d </a:t>
            </a:r>
            <a:r>
              <a:rPr lang="en-US" altLang="zh-CN" dirty="0" smtClean="0"/>
              <a:t>”</a:t>
            </a:r>
            <a:r>
              <a:rPr lang="zh-CN" altLang="en-US" dirty="0" smtClean="0"/>
              <a:t>或“</a:t>
            </a:r>
            <a:r>
              <a:rPr lang="en-US" altLang="zh-CN" i="1" dirty="0" smtClean="0">
                <a:latin typeface="Times New Roman" pitchFamily="18" charset="0"/>
              </a:rPr>
              <a:t>x</a:t>
            </a:r>
            <a:r>
              <a:rPr lang="en-US" altLang="zh-CN" dirty="0" smtClean="0"/>
              <a:t>”</a:t>
            </a:r>
            <a:r>
              <a:rPr lang="zh-CN" altLang="en-US" dirty="0" smtClean="0"/>
              <a:t>或“</a:t>
            </a:r>
            <a:r>
              <a:rPr lang="en-US" altLang="zh-CN" i="1" dirty="0" smtClean="0"/>
              <a:t>Φ</a:t>
            </a:r>
            <a:r>
              <a:rPr lang="en-US" altLang="zh-CN" dirty="0" smtClean="0"/>
              <a:t>”</a:t>
            </a:r>
            <a:r>
              <a:rPr lang="zh-CN" altLang="en-US" dirty="0" smtClean="0"/>
              <a:t>表示无关最小项的函数值。</a:t>
            </a:r>
          </a:p>
          <a:p>
            <a:pPr lvl="1" eaLnBrk="1" hangingPunct="1"/>
            <a:r>
              <a:rPr lang="zh-CN" altLang="en-US" dirty="0" smtClean="0"/>
              <a:t>由于无关最小项加到逻辑函数中并不影响函数的逻辑值，所以在化简时应充分利用这些无关最小项</a:t>
            </a:r>
          </a:p>
          <a:p>
            <a:pPr eaLnBrk="1" hangingPunct="1"/>
            <a:r>
              <a:rPr lang="zh-CN" altLang="en-US" dirty="0" smtClean="0"/>
              <a:t>多输出逻辑函数的化简</a:t>
            </a:r>
          </a:p>
        </p:txBody>
      </p:sp>
    </p:spTree>
  </p:cSld>
  <p:clrMapOvr>
    <a:masterClrMapping/>
  </p:clrMapOvr>
  <p:transition>
    <p:random/>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457200"/>
            <a:ext cx="8748464" cy="609600"/>
          </a:xfrm>
        </p:spPr>
        <p:txBody>
          <a:bodyPr/>
          <a:lstStyle/>
          <a:p>
            <a:r>
              <a:rPr lang="zh-CN" altLang="en-US" dirty="0"/>
              <a:t>包含无关最小项的逻辑函数的化</a:t>
            </a:r>
            <a:r>
              <a:rPr lang="zh-CN" altLang="en-US" dirty="0" smtClean="0"/>
              <a:t>简</a:t>
            </a:r>
            <a:endParaRPr lang="zh-CN" altLang="en-US" dirty="0"/>
          </a:p>
        </p:txBody>
      </p:sp>
      <p:sp>
        <p:nvSpPr>
          <p:cNvPr id="3" name="内容占位符 2"/>
          <p:cNvSpPr>
            <a:spLocks noGrp="1"/>
          </p:cNvSpPr>
          <p:nvPr>
            <p:ph idx="1"/>
          </p:nvPr>
        </p:nvSpPr>
        <p:spPr>
          <a:xfrm>
            <a:off x="457200" y="1371600"/>
            <a:ext cx="8507288" cy="4876800"/>
          </a:xfrm>
        </p:spPr>
        <p:txBody>
          <a:bodyPr/>
          <a:lstStyle/>
          <a:p>
            <a:r>
              <a:rPr lang="zh-CN" altLang="en-US" sz="2400" dirty="0" smtClean="0"/>
              <a:t>下表中</a:t>
            </a:r>
            <a:r>
              <a:rPr lang="en-US" altLang="zh-CN" sz="2400" dirty="0" smtClean="0"/>
              <a:t>A</a:t>
            </a:r>
            <a:r>
              <a:rPr lang="zh-CN" altLang="en-US" sz="2400" dirty="0" smtClean="0"/>
              <a:t>、</a:t>
            </a:r>
            <a:r>
              <a:rPr lang="en-US" altLang="zh-CN" sz="2400" dirty="0" smtClean="0"/>
              <a:t>B</a:t>
            </a:r>
            <a:r>
              <a:rPr lang="zh-CN" altLang="en-US" sz="2400" dirty="0" smtClean="0"/>
              <a:t>、</a:t>
            </a:r>
            <a:r>
              <a:rPr lang="en-US" altLang="zh-CN" sz="2400" dirty="0" smtClean="0"/>
              <a:t>C</a:t>
            </a:r>
            <a:r>
              <a:rPr lang="zh-CN" altLang="en-US" sz="2400" dirty="0" smtClean="0"/>
              <a:t>、</a:t>
            </a:r>
            <a:r>
              <a:rPr lang="en-US" altLang="zh-CN" sz="2400" dirty="0" smtClean="0"/>
              <a:t>D</a:t>
            </a:r>
            <a:r>
              <a:rPr lang="zh-CN" altLang="en-US" sz="2400" dirty="0" smtClean="0"/>
              <a:t>表示</a:t>
            </a:r>
            <a:r>
              <a:rPr lang="en-US" altLang="zh-CN" sz="2400" dirty="0" smtClean="0"/>
              <a:t>8421BCD</a:t>
            </a:r>
            <a:r>
              <a:rPr lang="zh-CN" altLang="en-US" sz="2400" dirty="0" smtClean="0"/>
              <a:t>码，</a:t>
            </a:r>
            <a:r>
              <a:rPr lang="en-US" altLang="zh-CN" sz="2400" dirty="0" smtClean="0"/>
              <a:t>F</a:t>
            </a:r>
            <a:r>
              <a:rPr lang="zh-CN" altLang="en-US" sz="2400" dirty="0" smtClean="0"/>
              <a:t>为输出。</a:t>
            </a:r>
            <a:r>
              <a:rPr lang="zh-CN" altLang="en-US" sz="2400" dirty="0"/>
              <a:t>设计一个函数，</a:t>
            </a:r>
            <a:r>
              <a:rPr lang="zh-CN" altLang="en-US" sz="2400" dirty="0" smtClean="0"/>
              <a:t>当</a:t>
            </a:r>
            <a:r>
              <a:rPr lang="en-US" altLang="zh-CN" sz="2400" dirty="0" smtClean="0"/>
              <a:t>BCD</a:t>
            </a:r>
            <a:r>
              <a:rPr lang="zh-CN" altLang="en-US" sz="2400" dirty="0" smtClean="0"/>
              <a:t>码对应的十进制数大于或等于</a:t>
            </a:r>
            <a:r>
              <a:rPr lang="en-US" altLang="zh-CN" sz="2400" dirty="0" smtClean="0"/>
              <a:t>5</a:t>
            </a:r>
            <a:r>
              <a:rPr lang="zh-CN" altLang="en-US" sz="2400" dirty="0" smtClean="0"/>
              <a:t>时，输出为</a:t>
            </a:r>
            <a:r>
              <a:rPr lang="en-US" altLang="zh-CN" sz="2400" dirty="0" smtClean="0"/>
              <a:t>1</a:t>
            </a:r>
            <a:r>
              <a:rPr lang="zh-CN" altLang="en-US" sz="2400" dirty="0" smtClean="0"/>
              <a:t>，否则输出为</a:t>
            </a:r>
            <a:r>
              <a:rPr lang="en-US" altLang="zh-CN" sz="2400" dirty="0" smtClean="0"/>
              <a:t>0</a:t>
            </a:r>
            <a:r>
              <a:rPr lang="zh-CN" altLang="en-US" sz="2400" dirty="0" smtClean="0"/>
              <a:t>。而最后</a:t>
            </a:r>
            <a:r>
              <a:rPr lang="en-US" altLang="zh-CN" sz="2400" dirty="0" smtClean="0"/>
              <a:t>6</a:t>
            </a:r>
            <a:r>
              <a:rPr lang="zh-CN" altLang="en-US" sz="2400" dirty="0" smtClean="0"/>
              <a:t>种输入组合在实际应用中不出现。</a:t>
            </a:r>
            <a:endParaRPr lang="zh-CN" altLang="en-US" sz="2400" dirty="0"/>
          </a:p>
        </p:txBody>
      </p:sp>
      <p:sp>
        <p:nvSpPr>
          <p:cNvPr id="4" name="日期占位符 3"/>
          <p:cNvSpPr>
            <a:spLocks noGrp="1"/>
          </p:cNvSpPr>
          <p:nvPr>
            <p:ph type="dt" sz="half" idx="10"/>
          </p:nvPr>
        </p:nvSpPr>
        <p:spPr/>
        <p:txBody>
          <a:bodyPr/>
          <a:lstStyle/>
          <a:p>
            <a:pPr>
              <a:defRPr/>
            </a:pPr>
            <a:fld id="{6CA98A37-2FDB-488C-AB3F-864019BB58B4}" type="datetime1">
              <a:rPr lang="zh-CN" altLang="en-US" smtClean="0"/>
              <a:pPr>
                <a:defRPr/>
              </a:pPr>
              <a:t>2021/9/21</a:t>
            </a:fld>
            <a:endParaRPr lang="en-US" altLang="zh-CN"/>
          </a:p>
        </p:txBody>
      </p:sp>
      <p:sp>
        <p:nvSpPr>
          <p:cNvPr id="5" name="灯片编号占位符 4"/>
          <p:cNvSpPr>
            <a:spLocks noGrp="1"/>
          </p:cNvSpPr>
          <p:nvPr>
            <p:ph type="sldNum" sz="quarter" idx="12"/>
          </p:nvPr>
        </p:nvSpPr>
        <p:spPr/>
        <p:txBody>
          <a:bodyPr/>
          <a:lstStyle/>
          <a:p>
            <a:pPr>
              <a:defRPr/>
            </a:pPr>
            <a:fld id="{E45407AE-4D07-4A66-9E6D-0DBA2F104CCD}" type="slidenum">
              <a:rPr lang="en-US" altLang="zh-CN" smtClean="0"/>
              <a:pPr>
                <a:defRPr/>
              </a:pPr>
              <a:t>81</a:t>
            </a:fld>
            <a:endParaRPr lang="en-US" altLang="zh-CN"/>
          </a:p>
        </p:txBody>
      </p:sp>
      <p:pic>
        <p:nvPicPr>
          <p:cNvPr id="1075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5616" y="2468837"/>
            <a:ext cx="6800850" cy="1952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75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6342" y="4437112"/>
            <a:ext cx="6734175" cy="1847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6191949"/>
      </p:ext>
    </p:extLst>
  </p:cSld>
  <p:clrMapOvr>
    <a:masterClrMapping/>
  </p:clrMapOvr>
  <p:transition>
    <p:random/>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57200" y="1371600"/>
            <a:ext cx="8382000" cy="595646"/>
          </a:xfrm>
        </p:spPr>
        <p:txBody>
          <a:bodyPr/>
          <a:lstStyle/>
          <a:p>
            <a:pPr marL="0" indent="0">
              <a:buNone/>
            </a:pPr>
            <a:r>
              <a:rPr lang="zh-CN" altLang="en-US" sz="2800" dirty="0" smtClean="0"/>
              <a:t>  根据</a:t>
            </a:r>
            <a:r>
              <a:rPr lang="zh-CN" altLang="en-US" sz="2800" dirty="0"/>
              <a:t>真值表得到逻辑函数</a:t>
            </a:r>
            <a:r>
              <a:rPr lang="zh-CN" altLang="en-US" sz="2800" dirty="0" smtClean="0"/>
              <a:t>表达式：</a:t>
            </a:r>
            <a:endParaRPr lang="zh-CN" altLang="en-US" sz="2800" dirty="0"/>
          </a:p>
        </p:txBody>
      </p:sp>
      <p:sp>
        <p:nvSpPr>
          <p:cNvPr id="4" name="日期占位符 3"/>
          <p:cNvSpPr>
            <a:spLocks noGrp="1"/>
          </p:cNvSpPr>
          <p:nvPr>
            <p:ph type="dt" sz="half" idx="10"/>
          </p:nvPr>
        </p:nvSpPr>
        <p:spPr/>
        <p:txBody>
          <a:bodyPr/>
          <a:lstStyle/>
          <a:p>
            <a:pPr>
              <a:defRPr/>
            </a:pPr>
            <a:fld id="{6CA98A37-2FDB-488C-AB3F-864019BB58B4}" type="datetime1">
              <a:rPr lang="zh-CN" altLang="en-US" smtClean="0"/>
              <a:pPr>
                <a:defRPr/>
              </a:pPr>
              <a:t>2021/9/21</a:t>
            </a:fld>
            <a:endParaRPr lang="en-US" altLang="zh-CN"/>
          </a:p>
        </p:txBody>
      </p:sp>
      <p:sp>
        <p:nvSpPr>
          <p:cNvPr id="5" name="灯片编号占位符 4"/>
          <p:cNvSpPr>
            <a:spLocks noGrp="1"/>
          </p:cNvSpPr>
          <p:nvPr>
            <p:ph type="sldNum" sz="quarter" idx="12"/>
          </p:nvPr>
        </p:nvSpPr>
        <p:spPr/>
        <p:txBody>
          <a:bodyPr/>
          <a:lstStyle/>
          <a:p>
            <a:pPr>
              <a:defRPr/>
            </a:pPr>
            <a:fld id="{E45407AE-4D07-4A66-9E6D-0DBA2F104CCD}" type="slidenum">
              <a:rPr lang="en-US" altLang="zh-CN" smtClean="0"/>
              <a:pPr>
                <a:defRPr/>
              </a:pPr>
              <a:t>82</a:t>
            </a:fld>
            <a:endParaRPr lang="en-US" altLang="zh-CN"/>
          </a:p>
        </p:txBody>
      </p:sp>
      <p:pic>
        <p:nvPicPr>
          <p:cNvPr id="8602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624" y="1988840"/>
            <a:ext cx="7056784" cy="583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内容占位符 2"/>
          <p:cNvSpPr txBox="1">
            <a:spLocks/>
          </p:cNvSpPr>
          <p:nvPr/>
        </p:nvSpPr>
        <p:spPr bwMode="auto">
          <a:xfrm>
            <a:off x="609600" y="2636912"/>
            <a:ext cx="8382000" cy="595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9pPr>
          </a:lstStyle>
          <a:p>
            <a:pPr marL="0" indent="0">
              <a:buFont typeface="Wingdings" pitchFamily="2" charset="2"/>
              <a:buNone/>
            </a:pPr>
            <a:r>
              <a:rPr lang="zh-CN" altLang="en-US" sz="2800" dirty="0" smtClean="0"/>
              <a:t>  根据逻辑函数画出卡诺图：</a:t>
            </a:r>
            <a:endParaRPr lang="zh-CN" altLang="en-US" sz="2800" dirty="0"/>
          </a:p>
        </p:txBody>
      </p:sp>
      <p:pic>
        <p:nvPicPr>
          <p:cNvPr id="8602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5959" y="3068960"/>
            <a:ext cx="3448149" cy="3116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6022"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27896" y="3232558"/>
            <a:ext cx="3131488" cy="2936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内容占位符 2"/>
          <p:cNvSpPr txBox="1">
            <a:spLocks/>
          </p:cNvSpPr>
          <p:nvPr/>
        </p:nvSpPr>
        <p:spPr bwMode="auto">
          <a:xfrm>
            <a:off x="1619672" y="6169198"/>
            <a:ext cx="6840760" cy="595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9pPr>
          </a:lstStyle>
          <a:p>
            <a:pPr marL="0" indent="0">
              <a:buNone/>
            </a:pPr>
            <a:r>
              <a:rPr lang="zh-CN" altLang="en-US" sz="2000" dirty="0" smtClean="0"/>
              <a:t>  包含无关项的卡诺图             不包含</a:t>
            </a:r>
            <a:r>
              <a:rPr lang="zh-CN" altLang="en-US" sz="2000" dirty="0"/>
              <a:t>无关项的卡诺</a:t>
            </a:r>
            <a:r>
              <a:rPr lang="zh-CN" altLang="en-US" sz="2000" dirty="0" smtClean="0"/>
              <a:t>图</a:t>
            </a:r>
            <a:endParaRPr lang="zh-CN" altLang="en-US" sz="2000" dirty="0"/>
          </a:p>
        </p:txBody>
      </p:sp>
    </p:spTree>
    <p:extLst>
      <p:ext uri="{BB962C8B-B14F-4D97-AF65-F5344CB8AC3E}">
        <p14:creationId xmlns:p14="http://schemas.microsoft.com/office/powerpoint/2010/main" val="2978553691"/>
      </p:ext>
    </p:extLst>
  </p:cSld>
  <p:clrMapOvr>
    <a:masterClrMapping/>
  </p:clrMapOvr>
  <p:transition>
    <p:random/>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57200" y="1371600"/>
            <a:ext cx="8382000" cy="617240"/>
          </a:xfrm>
        </p:spPr>
        <p:txBody>
          <a:bodyPr/>
          <a:lstStyle/>
          <a:p>
            <a:r>
              <a:rPr lang="zh-CN" altLang="en-US" dirty="0" smtClean="0"/>
              <a:t>得到相应的函数</a:t>
            </a:r>
            <a:endParaRPr lang="zh-CN" altLang="en-US" dirty="0"/>
          </a:p>
        </p:txBody>
      </p:sp>
      <p:sp>
        <p:nvSpPr>
          <p:cNvPr id="4" name="日期占位符 3"/>
          <p:cNvSpPr>
            <a:spLocks noGrp="1"/>
          </p:cNvSpPr>
          <p:nvPr>
            <p:ph type="dt" sz="half" idx="10"/>
          </p:nvPr>
        </p:nvSpPr>
        <p:spPr/>
        <p:txBody>
          <a:bodyPr/>
          <a:lstStyle/>
          <a:p>
            <a:pPr>
              <a:defRPr/>
            </a:pPr>
            <a:fld id="{6CA98A37-2FDB-488C-AB3F-864019BB58B4}" type="datetime1">
              <a:rPr lang="zh-CN" altLang="en-US" smtClean="0"/>
              <a:pPr>
                <a:defRPr/>
              </a:pPr>
              <a:t>2021/9/21</a:t>
            </a:fld>
            <a:endParaRPr lang="en-US" altLang="zh-CN"/>
          </a:p>
        </p:txBody>
      </p:sp>
      <p:sp>
        <p:nvSpPr>
          <p:cNvPr id="5" name="灯片编号占位符 4"/>
          <p:cNvSpPr>
            <a:spLocks noGrp="1"/>
          </p:cNvSpPr>
          <p:nvPr>
            <p:ph type="sldNum" sz="quarter" idx="12"/>
          </p:nvPr>
        </p:nvSpPr>
        <p:spPr/>
        <p:txBody>
          <a:bodyPr/>
          <a:lstStyle/>
          <a:p>
            <a:pPr>
              <a:defRPr/>
            </a:pPr>
            <a:fld id="{E45407AE-4D07-4A66-9E6D-0DBA2F104CCD}" type="slidenum">
              <a:rPr lang="en-US" altLang="zh-CN" smtClean="0"/>
              <a:pPr>
                <a:defRPr/>
              </a:pPr>
              <a:t>83</a:t>
            </a:fld>
            <a:endParaRPr lang="en-US" altLang="zh-CN"/>
          </a:p>
        </p:txBody>
      </p:sp>
      <p:pic>
        <p:nvPicPr>
          <p:cNvPr id="870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2" y="2420888"/>
            <a:ext cx="6552728" cy="9206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704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568" y="3974240"/>
            <a:ext cx="7895659" cy="9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p:cNvSpPr txBox="1"/>
          <p:nvPr/>
        </p:nvSpPr>
        <p:spPr>
          <a:xfrm>
            <a:off x="755576" y="2030086"/>
            <a:ext cx="5184576" cy="461665"/>
          </a:xfrm>
          <a:prstGeom prst="rect">
            <a:avLst/>
          </a:prstGeom>
          <a:noFill/>
        </p:spPr>
        <p:txBody>
          <a:bodyPr wrap="square" rtlCol="0">
            <a:spAutoFit/>
          </a:bodyPr>
          <a:lstStyle/>
          <a:p>
            <a:pPr marL="457200" indent="-457200">
              <a:buFont typeface="+mj-lt"/>
              <a:buAutoNum type="arabicPeriod"/>
            </a:pPr>
            <a:r>
              <a:rPr lang="zh-CN" altLang="en-US" dirty="0"/>
              <a:t>包含无关项下的函数</a:t>
            </a:r>
          </a:p>
        </p:txBody>
      </p:sp>
      <p:sp>
        <p:nvSpPr>
          <p:cNvPr id="9" name="TextBox 8"/>
          <p:cNvSpPr txBox="1"/>
          <p:nvPr/>
        </p:nvSpPr>
        <p:spPr>
          <a:xfrm>
            <a:off x="827584" y="3483690"/>
            <a:ext cx="5184576" cy="461665"/>
          </a:xfrm>
          <a:prstGeom prst="rect">
            <a:avLst/>
          </a:prstGeom>
          <a:noFill/>
        </p:spPr>
        <p:txBody>
          <a:bodyPr wrap="square" rtlCol="0">
            <a:spAutoFit/>
          </a:bodyPr>
          <a:lstStyle>
            <a:defPPr>
              <a:defRPr lang="zh-CN"/>
            </a:defPPr>
            <a:lvl1pPr marL="457200" indent="-457200">
              <a:buFont typeface="+mj-lt"/>
              <a:buAutoNum type="arabicPeriod"/>
            </a:lvl1pPr>
          </a:lstStyle>
          <a:p>
            <a:pPr>
              <a:buFont typeface="+mj-lt"/>
              <a:buAutoNum type="arabicPeriod" startAt="2"/>
            </a:pPr>
            <a:r>
              <a:rPr lang="zh-CN" altLang="en-US" dirty="0"/>
              <a:t>不包含无关项下的函数</a:t>
            </a:r>
          </a:p>
        </p:txBody>
      </p:sp>
    </p:spTree>
    <p:extLst>
      <p:ext uri="{BB962C8B-B14F-4D97-AF65-F5344CB8AC3E}">
        <p14:creationId xmlns:p14="http://schemas.microsoft.com/office/powerpoint/2010/main" val="2284286141"/>
      </p:ext>
    </p:extLst>
  </p:cSld>
  <p:clrMapOvr>
    <a:masterClrMapping/>
  </p:clrMapOvr>
  <p:transition>
    <p:random/>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quarter" idx="10"/>
          </p:nvPr>
        </p:nvSpPr>
        <p:spPr/>
        <p:txBody>
          <a:bodyPr/>
          <a:lstStyle/>
          <a:p>
            <a:pPr>
              <a:defRPr/>
            </a:pPr>
            <a:fld id="{5039F47D-A853-4B21-A894-15CDE5D87586}" type="datetime1">
              <a:rPr lang="zh-CN" altLang="en-US" smtClean="0"/>
              <a:pPr>
                <a:defRPr/>
              </a:pPr>
              <a:t>2021/9/21</a:t>
            </a:fld>
            <a:endParaRPr lang="en-US" altLang="zh-CN"/>
          </a:p>
        </p:txBody>
      </p:sp>
      <p:sp>
        <p:nvSpPr>
          <p:cNvPr id="3" name="灯片编号占位符 2"/>
          <p:cNvSpPr>
            <a:spLocks noGrp="1"/>
          </p:cNvSpPr>
          <p:nvPr>
            <p:ph type="sldNum" sz="quarter" idx="12"/>
          </p:nvPr>
        </p:nvSpPr>
        <p:spPr/>
        <p:txBody>
          <a:bodyPr/>
          <a:lstStyle/>
          <a:p>
            <a:pPr>
              <a:defRPr/>
            </a:pPr>
            <a:fld id="{9ADD3477-6218-4B07-AB67-B9100EA8A6E7}" type="slidenum">
              <a:rPr lang="en-US" altLang="zh-CN" smtClean="0"/>
              <a:pPr>
                <a:defRPr/>
              </a:pPr>
              <a:t>84</a:t>
            </a:fld>
            <a:endParaRPr lang="en-US" altLang="zh-CN"/>
          </a:p>
        </p:txBody>
      </p:sp>
      <p:grpSp>
        <p:nvGrpSpPr>
          <p:cNvPr id="4" name="Group 6"/>
          <p:cNvGrpSpPr>
            <a:grpSpLocks/>
          </p:cNvGrpSpPr>
          <p:nvPr/>
        </p:nvGrpSpPr>
        <p:grpSpPr bwMode="auto">
          <a:xfrm>
            <a:off x="507810" y="1465518"/>
            <a:ext cx="8191500" cy="3962400"/>
            <a:chOff x="264" y="1936"/>
            <a:chExt cx="5160" cy="3440"/>
          </a:xfrm>
        </p:grpSpPr>
        <p:sp>
          <p:nvSpPr>
            <p:cNvPr id="83974" name="Rectangle 7"/>
            <p:cNvSpPr>
              <a:spLocks noChangeArrowheads="1"/>
            </p:cNvSpPr>
            <p:nvPr/>
          </p:nvSpPr>
          <p:spPr bwMode="auto">
            <a:xfrm>
              <a:off x="4392" y="4994"/>
              <a:ext cx="1032" cy="382"/>
            </a:xfrm>
            <a:prstGeom prst="rect">
              <a:avLst/>
            </a:prstGeom>
            <a:solidFill>
              <a:srgbClr val="CCFFFF"/>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nchorCtr="1"/>
            <a:lstStyle/>
            <a:p>
              <a:pPr>
                <a:spcBef>
                  <a:spcPct val="20000"/>
                </a:spcBef>
              </a:pPr>
              <a:r>
                <a:rPr lang="zh-CN" altLang="en-US" sz="2800"/>
                <a:t>不会出现</a:t>
              </a:r>
            </a:p>
          </p:txBody>
        </p:sp>
        <p:sp>
          <p:nvSpPr>
            <p:cNvPr id="83975" name="Rectangle 8"/>
            <p:cNvSpPr>
              <a:spLocks noChangeArrowheads="1"/>
            </p:cNvSpPr>
            <p:nvPr/>
          </p:nvSpPr>
          <p:spPr bwMode="auto">
            <a:xfrm>
              <a:off x="4392" y="4612"/>
              <a:ext cx="1032" cy="382"/>
            </a:xfrm>
            <a:prstGeom prst="rect">
              <a:avLst/>
            </a:prstGeom>
            <a:solidFill>
              <a:srgbClr val="CCFFFF"/>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nchorCtr="1"/>
            <a:lstStyle/>
            <a:p>
              <a:pPr>
                <a:spcBef>
                  <a:spcPct val="20000"/>
                </a:spcBef>
              </a:pPr>
              <a:r>
                <a:rPr lang="zh-CN" altLang="en-US" sz="2800"/>
                <a:t>不会出现</a:t>
              </a:r>
            </a:p>
          </p:txBody>
        </p:sp>
        <p:sp>
          <p:nvSpPr>
            <p:cNvPr id="83976" name="Rectangle 9"/>
            <p:cNvSpPr>
              <a:spLocks noChangeArrowheads="1"/>
            </p:cNvSpPr>
            <p:nvPr/>
          </p:nvSpPr>
          <p:spPr bwMode="auto">
            <a:xfrm>
              <a:off x="4392" y="4229"/>
              <a:ext cx="1032" cy="383"/>
            </a:xfrm>
            <a:prstGeom prst="rect">
              <a:avLst/>
            </a:prstGeom>
            <a:solidFill>
              <a:srgbClr val="CCFFFF"/>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nchorCtr="1"/>
            <a:lstStyle/>
            <a:p>
              <a:pPr>
                <a:spcBef>
                  <a:spcPct val="20000"/>
                </a:spcBef>
              </a:pPr>
              <a:r>
                <a:rPr lang="zh-CN" altLang="en-US" sz="2800"/>
                <a:t>不会出现</a:t>
              </a:r>
            </a:p>
          </p:txBody>
        </p:sp>
        <p:sp>
          <p:nvSpPr>
            <p:cNvPr id="83977" name="Rectangle 10"/>
            <p:cNvSpPr>
              <a:spLocks noChangeArrowheads="1"/>
            </p:cNvSpPr>
            <p:nvPr/>
          </p:nvSpPr>
          <p:spPr bwMode="auto">
            <a:xfrm>
              <a:off x="4392" y="3847"/>
              <a:ext cx="1032" cy="382"/>
            </a:xfrm>
            <a:prstGeom prst="rect">
              <a:avLst/>
            </a:prstGeom>
            <a:solidFill>
              <a:srgbClr val="CCFFFF"/>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nchorCtr="1"/>
            <a:lstStyle/>
            <a:p>
              <a:pPr>
                <a:spcBef>
                  <a:spcPct val="20000"/>
                </a:spcBef>
              </a:pPr>
              <a:r>
                <a:rPr lang="zh-CN" altLang="en-US" sz="2800"/>
                <a:t>不会出现</a:t>
              </a:r>
            </a:p>
          </p:txBody>
        </p:sp>
        <p:sp>
          <p:nvSpPr>
            <p:cNvPr id="83978" name="Rectangle 11"/>
            <p:cNvSpPr>
              <a:spLocks noChangeArrowheads="1"/>
            </p:cNvSpPr>
            <p:nvPr/>
          </p:nvSpPr>
          <p:spPr bwMode="auto">
            <a:xfrm>
              <a:off x="4392" y="3465"/>
              <a:ext cx="1032" cy="382"/>
            </a:xfrm>
            <a:prstGeom prst="rect">
              <a:avLst/>
            </a:prstGeom>
            <a:solidFill>
              <a:srgbClr val="CCFFFF"/>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nchorCtr="1"/>
            <a:lstStyle/>
            <a:p>
              <a:pPr>
                <a:spcBef>
                  <a:spcPct val="20000"/>
                </a:spcBef>
              </a:pPr>
              <a:r>
                <a:rPr lang="zh-CN" altLang="en-US" sz="2800"/>
                <a:t>不会出现</a:t>
              </a:r>
            </a:p>
          </p:txBody>
        </p:sp>
        <p:sp>
          <p:nvSpPr>
            <p:cNvPr id="83979" name="Rectangle 12"/>
            <p:cNvSpPr>
              <a:spLocks noChangeArrowheads="1"/>
            </p:cNvSpPr>
            <p:nvPr/>
          </p:nvSpPr>
          <p:spPr bwMode="auto">
            <a:xfrm>
              <a:off x="4392" y="3083"/>
              <a:ext cx="1032" cy="382"/>
            </a:xfrm>
            <a:prstGeom prst="rect">
              <a:avLst/>
            </a:prstGeom>
            <a:solidFill>
              <a:srgbClr val="CCFFFF"/>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nchorCtr="1"/>
            <a:lstStyle/>
            <a:p>
              <a:pPr>
                <a:spcBef>
                  <a:spcPct val="20000"/>
                </a:spcBef>
              </a:pPr>
              <a:r>
                <a:rPr lang="zh-CN" altLang="en-US" sz="2800"/>
                <a:t>不会出现</a:t>
              </a:r>
            </a:p>
          </p:txBody>
        </p:sp>
        <p:sp>
          <p:nvSpPr>
            <p:cNvPr id="83980" name="Rectangle 13"/>
            <p:cNvSpPr>
              <a:spLocks noChangeArrowheads="1"/>
            </p:cNvSpPr>
            <p:nvPr/>
          </p:nvSpPr>
          <p:spPr bwMode="auto">
            <a:xfrm>
              <a:off x="4392" y="2700"/>
              <a:ext cx="1032" cy="383"/>
            </a:xfrm>
            <a:prstGeom prst="rect">
              <a:avLst/>
            </a:prstGeom>
            <a:solidFill>
              <a:srgbClr val="CCFFFF"/>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nchorCtr="1"/>
            <a:lstStyle/>
            <a:p>
              <a:pPr>
                <a:spcBef>
                  <a:spcPct val="20000"/>
                </a:spcBef>
              </a:pPr>
              <a:endParaRPr lang="zh-CN" altLang="zh-CN" sz="2800"/>
            </a:p>
          </p:txBody>
        </p:sp>
        <p:sp>
          <p:nvSpPr>
            <p:cNvPr id="83981" name="Rectangle 14"/>
            <p:cNvSpPr>
              <a:spLocks noChangeArrowheads="1"/>
            </p:cNvSpPr>
            <p:nvPr/>
          </p:nvSpPr>
          <p:spPr bwMode="auto">
            <a:xfrm>
              <a:off x="4392" y="2318"/>
              <a:ext cx="1032" cy="382"/>
            </a:xfrm>
            <a:prstGeom prst="rect">
              <a:avLst/>
            </a:prstGeom>
            <a:solidFill>
              <a:srgbClr val="CCFFFF"/>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nchorCtr="1"/>
            <a:lstStyle/>
            <a:p>
              <a:pPr>
                <a:spcBef>
                  <a:spcPct val="20000"/>
                </a:spcBef>
              </a:pPr>
              <a:endParaRPr lang="zh-CN" altLang="zh-CN" sz="2800"/>
            </a:p>
          </p:txBody>
        </p:sp>
        <p:sp>
          <p:nvSpPr>
            <p:cNvPr id="83982" name="Rectangle 15"/>
            <p:cNvSpPr>
              <a:spLocks noChangeArrowheads="1"/>
            </p:cNvSpPr>
            <p:nvPr/>
          </p:nvSpPr>
          <p:spPr bwMode="auto">
            <a:xfrm>
              <a:off x="4392" y="1936"/>
              <a:ext cx="1032" cy="382"/>
            </a:xfrm>
            <a:prstGeom prst="rect">
              <a:avLst/>
            </a:prstGeom>
            <a:solidFill>
              <a:srgbClr val="CCFFFF"/>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nchorCtr="1"/>
            <a:lstStyle/>
            <a:p>
              <a:pPr>
                <a:spcBef>
                  <a:spcPct val="20000"/>
                </a:spcBef>
              </a:pPr>
              <a:r>
                <a:rPr lang="en-US" altLang="zh-CN" sz="2800"/>
                <a:t>   </a:t>
              </a:r>
              <a:r>
                <a:rPr lang="zh-CN" altLang="en-US" sz="2800"/>
                <a:t>说  明</a:t>
              </a:r>
            </a:p>
          </p:txBody>
        </p:sp>
        <p:sp>
          <p:nvSpPr>
            <p:cNvPr id="83983" name="Rectangle 16"/>
            <p:cNvSpPr>
              <a:spLocks noChangeArrowheads="1"/>
            </p:cNvSpPr>
            <p:nvPr/>
          </p:nvSpPr>
          <p:spPr bwMode="auto">
            <a:xfrm>
              <a:off x="3360" y="4994"/>
              <a:ext cx="1032" cy="382"/>
            </a:xfrm>
            <a:prstGeom prst="rect">
              <a:avLst/>
            </a:prstGeom>
            <a:solidFill>
              <a:srgbClr val="CCFFFF"/>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nchorCtr="1"/>
            <a:lstStyle/>
            <a:p>
              <a:pPr>
                <a:spcBef>
                  <a:spcPct val="20000"/>
                </a:spcBef>
              </a:pPr>
              <a:r>
                <a:rPr lang="en-US" altLang="zh-CN" sz="2800"/>
                <a:t>×</a:t>
              </a:r>
            </a:p>
          </p:txBody>
        </p:sp>
        <p:sp>
          <p:nvSpPr>
            <p:cNvPr id="83984" name="Rectangle 17"/>
            <p:cNvSpPr>
              <a:spLocks noChangeArrowheads="1"/>
            </p:cNvSpPr>
            <p:nvPr/>
          </p:nvSpPr>
          <p:spPr bwMode="auto">
            <a:xfrm>
              <a:off x="2328" y="4994"/>
              <a:ext cx="1032" cy="382"/>
            </a:xfrm>
            <a:prstGeom prst="rect">
              <a:avLst/>
            </a:prstGeom>
            <a:solidFill>
              <a:srgbClr val="CCFFFF"/>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nchorCtr="1"/>
            <a:lstStyle/>
            <a:p>
              <a:pPr>
                <a:spcBef>
                  <a:spcPct val="20000"/>
                </a:spcBef>
              </a:pPr>
              <a:r>
                <a:rPr lang="en-US" altLang="zh-CN" sz="2800"/>
                <a:t> 1  1  1  1</a:t>
              </a:r>
            </a:p>
          </p:txBody>
        </p:sp>
        <p:sp>
          <p:nvSpPr>
            <p:cNvPr id="83985" name="Rectangle 18"/>
            <p:cNvSpPr>
              <a:spLocks noChangeArrowheads="1"/>
            </p:cNvSpPr>
            <p:nvPr/>
          </p:nvSpPr>
          <p:spPr bwMode="auto">
            <a:xfrm>
              <a:off x="1296" y="4994"/>
              <a:ext cx="1032" cy="382"/>
            </a:xfrm>
            <a:prstGeom prst="rect">
              <a:avLst/>
            </a:prstGeom>
            <a:solidFill>
              <a:srgbClr val="CCFFFF"/>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nchorCtr="1"/>
            <a:lstStyle/>
            <a:p>
              <a:pPr>
                <a:spcBef>
                  <a:spcPct val="20000"/>
                </a:spcBef>
              </a:pPr>
              <a:r>
                <a:rPr lang="en-US" altLang="zh-CN" sz="2800"/>
                <a:t>0</a:t>
              </a:r>
            </a:p>
          </p:txBody>
        </p:sp>
        <p:sp>
          <p:nvSpPr>
            <p:cNvPr id="83986" name="Rectangle 19"/>
            <p:cNvSpPr>
              <a:spLocks noChangeArrowheads="1"/>
            </p:cNvSpPr>
            <p:nvPr/>
          </p:nvSpPr>
          <p:spPr bwMode="auto">
            <a:xfrm>
              <a:off x="264" y="4994"/>
              <a:ext cx="1032" cy="382"/>
            </a:xfrm>
            <a:prstGeom prst="rect">
              <a:avLst/>
            </a:prstGeom>
            <a:solidFill>
              <a:srgbClr val="CCFFFF"/>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nchorCtr="1"/>
            <a:lstStyle/>
            <a:p>
              <a:pPr>
                <a:spcBef>
                  <a:spcPct val="20000"/>
                </a:spcBef>
              </a:pPr>
              <a:r>
                <a:rPr lang="en-US" altLang="zh-CN" sz="2800"/>
                <a:t> 0  1  1  1</a:t>
              </a:r>
            </a:p>
          </p:txBody>
        </p:sp>
        <p:sp>
          <p:nvSpPr>
            <p:cNvPr id="83987" name="Rectangle 20"/>
            <p:cNvSpPr>
              <a:spLocks noChangeArrowheads="1"/>
            </p:cNvSpPr>
            <p:nvPr/>
          </p:nvSpPr>
          <p:spPr bwMode="auto">
            <a:xfrm>
              <a:off x="3360" y="4612"/>
              <a:ext cx="1032" cy="382"/>
            </a:xfrm>
            <a:prstGeom prst="rect">
              <a:avLst/>
            </a:prstGeom>
            <a:solidFill>
              <a:srgbClr val="CCFFFF"/>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nchorCtr="1"/>
            <a:lstStyle/>
            <a:p>
              <a:pPr>
                <a:spcBef>
                  <a:spcPct val="20000"/>
                </a:spcBef>
              </a:pPr>
              <a:r>
                <a:rPr lang="en-US" altLang="zh-CN" sz="2800"/>
                <a:t>×</a:t>
              </a:r>
            </a:p>
          </p:txBody>
        </p:sp>
        <p:sp>
          <p:nvSpPr>
            <p:cNvPr id="83988" name="Rectangle 21"/>
            <p:cNvSpPr>
              <a:spLocks noChangeArrowheads="1"/>
            </p:cNvSpPr>
            <p:nvPr/>
          </p:nvSpPr>
          <p:spPr bwMode="auto">
            <a:xfrm>
              <a:off x="2328" y="4612"/>
              <a:ext cx="1032" cy="382"/>
            </a:xfrm>
            <a:prstGeom prst="rect">
              <a:avLst/>
            </a:prstGeom>
            <a:solidFill>
              <a:srgbClr val="CCFFFF"/>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nchorCtr="1"/>
            <a:lstStyle/>
            <a:p>
              <a:pPr>
                <a:spcBef>
                  <a:spcPct val="20000"/>
                </a:spcBef>
              </a:pPr>
              <a:r>
                <a:rPr lang="en-US" altLang="zh-CN" sz="2800"/>
                <a:t> 1  1  1  0</a:t>
              </a:r>
            </a:p>
          </p:txBody>
        </p:sp>
        <p:sp>
          <p:nvSpPr>
            <p:cNvPr id="83989" name="Rectangle 22"/>
            <p:cNvSpPr>
              <a:spLocks noChangeArrowheads="1"/>
            </p:cNvSpPr>
            <p:nvPr/>
          </p:nvSpPr>
          <p:spPr bwMode="auto">
            <a:xfrm>
              <a:off x="1296" y="4612"/>
              <a:ext cx="1032" cy="382"/>
            </a:xfrm>
            <a:prstGeom prst="rect">
              <a:avLst/>
            </a:prstGeom>
            <a:solidFill>
              <a:srgbClr val="CCFFFF"/>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nchorCtr="1"/>
            <a:lstStyle/>
            <a:p>
              <a:pPr>
                <a:spcBef>
                  <a:spcPct val="20000"/>
                </a:spcBef>
              </a:pPr>
              <a:r>
                <a:rPr lang="en-US" altLang="zh-CN" sz="2800"/>
                <a:t>1</a:t>
              </a:r>
            </a:p>
          </p:txBody>
        </p:sp>
        <p:sp>
          <p:nvSpPr>
            <p:cNvPr id="83990" name="Rectangle 23"/>
            <p:cNvSpPr>
              <a:spLocks noChangeArrowheads="1"/>
            </p:cNvSpPr>
            <p:nvPr/>
          </p:nvSpPr>
          <p:spPr bwMode="auto">
            <a:xfrm>
              <a:off x="264" y="4612"/>
              <a:ext cx="1032" cy="382"/>
            </a:xfrm>
            <a:prstGeom prst="rect">
              <a:avLst/>
            </a:prstGeom>
            <a:solidFill>
              <a:srgbClr val="CCFFFF"/>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nchorCtr="1"/>
            <a:lstStyle/>
            <a:p>
              <a:pPr>
                <a:spcBef>
                  <a:spcPct val="20000"/>
                </a:spcBef>
              </a:pPr>
              <a:r>
                <a:rPr lang="en-US" altLang="zh-CN" sz="2800"/>
                <a:t> 0  1  1  0</a:t>
              </a:r>
            </a:p>
          </p:txBody>
        </p:sp>
        <p:sp>
          <p:nvSpPr>
            <p:cNvPr id="83991" name="Rectangle 24"/>
            <p:cNvSpPr>
              <a:spLocks noChangeArrowheads="1"/>
            </p:cNvSpPr>
            <p:nvPr/>
          </p:nvSpPr>
          <p:spPr bwMode="auto">
            <a:xfrm>
              <a:off x="3360" y="4229"/>
              <a:ext cx="1032" cy="383"/>
            </a:xfrm>
            <a:prstGeom prst="rect">
              <a:avLst/>
            </a:prstGeom>
            <a:solidFill>
              <a:srgbClr val="CCFFFF"/>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nchorCtr="1"/>
            <a:lstStyle/>
            <a:p>
              <a:pPr>
                <a:spcBef>
                  <a:spcPct val="20000"/>
                </a:spcBef>
              </a:pPr>
              <a:r>
                <a:rPr lang="en-US" altLang="zh-CN" sz="2800"/>
                <a:t>×</a:t>
              </a:r>
            </a:p>
          </p:txBody>
        </p:sp>
        <p:sp>
          <p:nvSpPr>
            <p:cNvPr id="83992" name="Rectangle 25"/>
            <p:cNvSpPr>
              <a:spLocks noChangeArrowheads="1"/>
            </p:cNvSpPr>
            <p:nvPr/>
          </p:nvSpPr>
          <p:spPr bwMode="auto">
            <a:xfrm>
              <a:off x="2328" y="4229"/>
              <a:ext cx="1032" cy="383"/>
            </a:xfrm>
            <a:prstGeom prst="rect">
              <a:avLst/>
            </a:prstGeom>
            <a:solidFill>
              <a:srgbClr val="CCFFFF"/>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nchorCtr="1"/>
            <a:lstStyle/>
            <a:p>
              <a:pPr>
                <a:spcBef>
                  <a:spcPct val="20000"/>
                </a:spcBef>
              </a:pPr>
              <a:r>
                <a:rPr lang="en-US" altLang="zh-CN" sz="2800"/>
                <a:t> 1  1  0  1</a:t>
              </a:r>
            </a:p>
          </p:txBody>
        </p:sp>
        <p:sp>
          <p:nvSpPr>
            <p:cNvPr id="83993" name="Rectangle 26"/>
            <p:cNvSpPr>
              <a:spLocks noChangeArrowheads="1"/>
            </p:cNvSpPr>
            <p:nvPr/>
          </p:nvSpPr>
          <p:spPr bwMode="auto">
            <a:xfrm>
              <a:off x="1296" y="4229"/>
              <a:ext cx="1032" cy="383"/>
            </a:xfrm>
            <a:prstGeom prst="rect">
              <a:avLst/>
            </a:prstGeom>
            <a:solidFill>
              <a:srgbClr val="CCFFFF"/>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nchorCtr="1"/>
            <a:lstStyle/>
            <a:p>
              <a:pPr>
                <a:spcBef>
                  <a:spcPct val="20000"/>
                </a:spcBef>
              </a:pPr>
              <a:r>
                <a:rPr lang="en-US" altLang="zh-CN" sz="2800"/>
                <a:t>0</a:t>
              </a:r>
            </a:p>
          </p:txBody>
        </p:sp>
        <p:sp>
          <p:nvSpPr>
            <p:cNvPr id="83994" name="Rectangle 27"/>
            <p:cNvSpPr>
              <a:spLocks noChangeArrowheads="1"/>
            </p:cNvSpPr>
            <p:nvPr/>
          </p:nvSpPr>
          <p:spPr bwMode="auto">
            <a:xfrm>
              <a:off x="264" y="4229"/>
              <a:ext cx="1032" cy="383"/>
            </a:xfrm>
            <a:prstGeom prst="rect">
              <a:avLst/>
            </a:prstGeom>
            <a:solidFill>
              <a:srgbClr val="CCFFFF"/>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nchorCtr="1"/>
            <a:lstStyle/>
            <a:p>
              <a:pPr>
                <a:spcBef>
                  <a:spcPct val="20000"/>
                </a:spcBef>
              </a:pPr>
              <a:r>
                <a:rPr lang="en-US" altLang="zh-CN" sz="2800"/>
                <a:t> 0  1  0  1</a:t>
              </a:r>
            </a:p>
          </p:txBody>
        </p:sp>
        <p:sp>
          <p:nvSpPr>
            <p:cNvPr id="83995" name="Rectangle 28"/>
            <p:cNvSpPr>
              <a:spLocks noChangeArrowheads="1"/>
            </p:cNvSpPr>
            <p:nvPr/>
          </p:nvSpPr>
          <p:spPr bwMode="auto">
            <a:xfrm>
              <a:off x="3360" y="3847"/>
              <a:ext cx="1032" cy="382"/>
            </a:xfrm>
            <a:prstGeom prst="rect">
              <a:avLst/>
            </a:prstGeom>
            <a:solidFill>
              <a:srgbClr val="CCFFFF"/>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nchorCtr="1"/>
            <a:lstStyle/>
            <a:p>
              <a:pPr>
                <a:spcBef>
                  <a:spcPct val="20000"/>
                </a:spcBef>
              </a:pPr>
              <a:r>
                <a:rPr lang="en-US" altLang="zh-CN" sz="2800"/>
                <a:t>×</a:t>
              </a:r>
            </a:p>
          </p:txBody>
        </p:sp>
        <p:sp>
          <p:nvSpPr>
            <p:cNvPr id="83996" name="Rectangle 29"/>
            <p:cNvSpPr>
              <a:spLocks noChangeArrowheads="1"/>
            </p:cNvSpPr>
            <p:nvPr/>
          </p:nvSpPr>
          <p:spPr bwMode="auto">
            <a:xfrm>
              <a:off x="2328" y="3847"/>
              <a:ext cx="1032" cy="382"/>
            </a:xfrm>
            <a:prstGeom prst="rect">
              <a:avLst/>
            </a:prstGeom>
            <a:solidFill>
              <a:srgbClr val="CCFFFF"/>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nchorCtr="1"/>
            <a:lstStyle/>
            <a:p>
              <a:pPr>
                <a:spcBef>
                  <a:spcPct val="20000"/>
                </a:spcBef>
              </a:pPr>
              <a:r>
                <a:rPr lang="en-US" altLang="zh-CN" sz="2800"/>
                <a:t> 1  1  0  0</a:t>
              </a:r>
            </a:p>
          </p:txBody>
        </p:sp>
        <p:sp>
          <p:nvSpPr>
            <p:cNvPr id="83997" name="Rectangle 30"/>
            <p:cNvSpPr>
              <a:spLocks noChangeArrowheads="1"/>
            </p:cNvSpPr>
            <p:nvPr/>
          </p:nvSpPr>
          <p:spPr bwMode="auto">
            <a:xfrm>
              <a:off x="1296" y="3847"/>
              <a:ext cx="1032" cy="382"/>
            </a:xfrm>
            <a:prstGeom prst="rect">
              <a:avLst/>
            </a:prstGeom>
            <a:solidFill>
              <a:srgbClr val="CCFFFF"/>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nchorCtr="1"/>
            <a:lstStyle/>
            <a:p>
              <a:pPr>
                <a:spcBef>
                  <a:spcPct val="20000"/>
                </a:spcBef>
              </a:pPr>
              <a:r>
                <a:rPr lang="en-US" altLang="zh-CN" sz="2800"/>
                <a:t>1</a:t>
              </a:r>
            </a:p>
          </p:txBody>
        </p:sp>
        <p:sp>
          <p:nvSpPr>
            <p:cNvPr id="83998" name="Rectangle 31"/>
            <p:cNvSpPr>
              <a:spLocks noChangeArrowheads="1"/>
            </p:cNvSpPr>
            <p:nvPr/>
          </p:nvSpPr>
          <p:spPr bwMode="auto">
            <a:xfrm>
              <a:off x="264" y="3847"/>
              <a:ext cx="1032" cy="382"/>
            </a:xfrm>
            <a:prstGeom prst="rect">
              <a:avLst/>
            </a:prstGeom>
            <a:solidFill>
              <a:srgbClr val="CCFFFF"/>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nchorCtr="1"/>
            <a:lstStyle/>
            <a:p>
              <a:pPr>
                <a:spcBef>
                  <a:spcPct val="20000"/>
                </a:spcBef>
              </a:pPr>
              <a:r>
                <a:rPr lang="en-US" altLang="zh-CN" sz="2800"/>
                <a:t> 0  1  0  0</a:t>
              </a:r>
            </a:p>
          </p:txBody>
        </p:sp>
        <p:sp>
          <p:nvSpPr>
            <p:cNvPr id="83999" name="Rectangle 32"/>
            <p:cNvSpPr>
              <a:spLocks noChangeArrowheads="1"/>
            </p:cNvSpPr>
            <p:nvPr/>
          </p:nvSpPr>
          <p:spPr bwMode="auto">
            <a:xfrm>
              <a:off x="3360" y="3465"/>
              <a:ext cx="1032" cy="382"/>
            </a:xfrm>
            <a:prstGeom prst="rect">
              <a:avLst/>
            </a:prstGeom>
            <a:solidFill>
              <a:srgbClr val="CCFFFF"/>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nchorCtr="1"/>
            <a:lstStyle/>
            <a:p>
              <a:pPr>
                <a:spcBef>
                  <a:spcPct val="20000"/>
                </a:spcBef>
              </a:pPr>
              <a:r>
                <a:rPr lang="en-US" altLang="zh-CN" sz="2800" dirty="0"/>
                <a:t>×</a:t>
              </a:r>
            </a:p>
          </p:txBody>
        </p:sp>
        <p:sp>
          <p:nvSpPr>
            <p:cNvPr id="84000" name="Rectangle 33"/>
            <p:cNvSpPr>
              <a:spLocks noChangeArrowheads="1"/>
            </p:cNvSpPr>
            <p:nvPr/>
          </p:nvSpPr>
          <p:spPr bwMode="auto">
            <a:xfrm>
              <a:off x="2328" y="3465"/>
              <a:ext cx="1032" cy="382"/>
            </a:xfrm>
            <a:prstGeom prst="rect">
              <a:avLst/>
            </a:prstGeom>
            <a:solidFill>
              <a:srgbClr val="CCFFFF"/>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nchorCtr="1"/>
            <a:lstStyle/>
            <a:p>
              <a:pPr>
                <a:spcBef>
                  <a:spcPct val="20000"/>
                </a:spcBef>
              </a:pPr>
              <a:r>
                <a:rPr lang="en-US" altLang="zh-CN" sz="2800"/>
                <a:t> 1  0  1  1</a:t>
              </a:r>
            </a:p>
          </p:txBody>
        </p:sp>
        <p:sp>
          <p:nvSpPr>
            <p:cNvPr id="84001" name="Rectangle 34"/>
            <p:cNvSpPr>
              <a:spLocks noChangeArrowheads="1"/>
            </p:cNvSpPr>
            <p:nvPr/>
          </p:nvSpPr>
          <p:spPr bwMode="auto">
            <a:xfrm>
              <a:off x="1296" y="3465"/>
              <a:ext cx="1032" cy="382"/>
            </a:xfrm>
            <a:prstGeom prst="rect">
              <a:avLst/>
            </a:prstGeom>
            <a:solidFill>
              <a:srgbClr val="CCFFFF"/>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nchorCtr="1"/>
            <a:lstStyle/>
            <a:p>
              <a:pPr>
                <a:spcBef>
                  <a:spcPct val="20000"/>
                </a:spcBef>
              </a:pPr>
              <a:r>
                <a:rPr lang="en-US" altLang="zh-CN" sz="2800"/>
                <a:t>0</a:t>
              </a:r>
            </a:p>
          </p:txBody>
        </p:sp>
        <p:sp>
          <p:nvSpPr>
            <p:cNvPr id="84002" name="Rectangle 35"/>
            <p:cNvSpPr>
              <a:spLocks noChangeArrowheads="1"/>
            </p:cNvSpPr>
            <p:nvPr/>
          </p:nvSpPr>
          <p:spPr bwMode="auto">
            <a:xfrm>
              <a:off x="264" y="3465"/>
              <a:ext cx="1032" cy="382"/>
            </a:xfrm>
            <a:prstGeom prst="rect">
              <a:avLst/>
            </a:prstGeom>
            <a:solidFill>
              <a:srgbClr val="CCFFFF"/>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nchorCtr="1"/>
            <a:lstStyle/>
            <a:p>
              <a:pPr>
                <a:spcBef>
                  <a:spcPct val="20000"/>
                </a:spcBef>
              </a:pPr>
              <a:r>
                <a:rPr lang="en-US" altLang="zh-CN" sz="2800"/>
                <a:t> 0  0  1  1</a:t>
              </a:r>
            </a:p>
          </p:txBody>
        </p:sp>
        <p:sp>
          <p:nvSpPr>
            <p:cNvPr id="84003" name="Rectangle 36"/>
            <p:cNvSpPr>
              <a:spLocks noChangeArrowheads="1"/>
            </p:cNvSpPr>
            <p:nvPr/>
          </p:nvSpPr>
          <p:spPr bwMode="auto">
            <a:xfrm>
              <a:off x="3360" y="3083"/>
              <a:ext cx="1032" cy="382"/>
            </a:xfrm>
            <a:prstGeom prst="rect">
              <a:avLst/>
            </a:prstGeom>
            <a:solidFill>
              <a:srgbClr val="CCFFFF"/>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nchorCtr="1"/>
            <a:lstStyle/>
            <a:p>
              <a:pPr>
                <a:spcBef>
                  <a:spcPct val="20000"/>
                </a:spcBef>
              </a:pPr>
              <a:r>
                <a:rPr lang="en-US" altLang="zh-CN" sz="2800"/>
                <a:t>×</a:t>
              </a:r>
            </a:p>
          </p:txBody>
        </p:sp>
        <p:sp>
          <p:nvSpPr>
            <p:cNvPr id="84004" name="Rectangle 37"/>
            <p:cNvSpPr>
              <a:spLocks noChangeArrowheads="1"/>
            </p:cNvSpPr>
            <p:nvPr/>
          </p:nvSpPr>
          <p:spPr bwMode="auto">
            <a:xfrm>
              <a:off x="2328" y="3083"/>
              <a:ext cx="1032" cy="382"/>
            </a:xfrm>
            <a:prstGeom prst="rect">
              <a:avLst/>
            </a:prstGeom>
            <a:solidFill>
              <a:srgbClr val="CCFFFF"/>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nchorCtr="1"/>
            <a:lstStyle/>
            <a:p>
              <a:pPr>
                <a:spcBef>
                  <a:spcPct val="20000"/>
                </a:spcBef>
              </a:pPr>
              <a:r>
                <a:rPr lang="en-US" altLang="zh-CN" sz="2800"/>
                <a:t> 1  0  1  0</a:t>
              </a:r>
            </a:p>
          </p:txBody>
        </p:sp>
        <p:sp>
          <p:nvSpPr>
            <p:cNvPr id="84005" name="Rectangle 38"/>
            <p:cNvSpPr>
              <a:spLocks noChangeArrowheads="1"/>
            </p:cNvSpPr>
            <p:nvPr/>
          </p:nvSpPr>
          <p:spPr bwMode="auto">
            <a:xfrm>
              <a:off x="1296" y="3083"/>
              <a:ext cx="1032" cy="382"/>
            </a:xfrm>
            <a:prstGeom prst="rect">
              <a:avLst/>
            </a:prstGeom>
            <a:solidFill>
              <a:srgbClr val="CCFFFF"/>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nchorCtr="1"/>
            <a:lstStyle/>
            <a:p>
              <a:pPr>
                <a:spcBef>
                  <a:spcPct val="20000"/>
                </a:spcBef>
              </a:pPr>
              <a:r>
                <a:rPr lang="en-US" altLang="zh-CN" sz="2800"/>
                <a:t>1</a:t>
              </a:r>
            </a:p>
          </p:txBody>
        </p:sp>
        <p:sp>
          <p:nvSpPr>
            <p:cNvPr id="84006" name="Rectangle 39"/>
            <p:cNvSpPr>
              <a:spLocks noChangeArrowheads="1"/>
            </p:cNvSpPr>
            <p:nvPr/>
          </p:nvSpPr>
          <p:spPr bwMode="auto">
            <a:xfrm>
              <a:off x="264" y="3083"/>
              <a:ext cx="1032" cy="382"/>
            </a:xfrm>
            <a:prstGeom prst="rect">
              <a:avLst/>
            </a:prstGeom>
            <a:solidFill>
              <a:srgbClr val="CCFFFF"/>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nchorCtr="1"/>
            <a:lstStyle/>
            <a:p>
              <a:pPr>
                <a:spcBef>
                  <a:spcPct val="20000"/>
                </a:spcBef>
              </a:pPr>
              <a:r>
                <a:rPr lang="en-US" altLang="zh-CN" sz="2800"/>
                <a:t> 0  0  1  0</a:t>
              </a:r>
            </a:p>
          </p:txBody>
        </p:sp>
        <p:sp>
          <p:nvSpPr>
            <p:cNvPr id="84007" name="Rectangle 40"/>
            <p:cNvSpPr>
              <a:spLocks noChangeArrowheads="1"/>
            </p:cNvSpPr>
            <p:nvPr/>
          </p:nvSpPr>
          <p:spPr bwMode="auto">
            <a:xfrm>
              <a:off x="3360" y="2700"/>
              <a:ext cx="1032" cy="383"/>
            </a:xfrm>
            <a:prstGeom prst="rect">
              <a:avLst/>
            </a:prstGeom>
            <a:solidFill>
              <a:srgbClr val="CCFFFF"/>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nchorCtr="1"/>
            <a:lstStyle/>
            <a:p>
              <a:pPr>
                <a:spcBef>
                  <a:spcPct val="20000"/>
                </a:spcBef>
              </a:pPr>
              <a:r>
                <a:rPr lang="en-US" altLang="zh-CN" sz="2800"/>
                <a:t>0</a:t>
              </a:r>
            </a:p>
          </p:txBody>
        </p:sp>
        <p:sp>
          <p:nvSpPr>
            <p:cNvPr id="84008" name="Rectangle 41"/>
            <p:cNvSpPr>
              <a:spLocks noChangeArrowheads="1"/>
            </p:cNvSpPr>
            <p:nvPr/>
          </p:nvSpPr>
          <p:spPr bwMode="auto">
            <a:xfrm>
              <a:off x="2328" y="2700"/>
              <a:ext cx="1032" cy="383"/>
            </a:xfrm>
            <a:prstGeom prst="rect">
              <a:avLst/>
            </a:prstGeom>
            <a:solidFill>
              <a:srgbClr val="CCFFFF"/>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nchorCtr="1"/>
            <a:lstStyle/>
            <a:p>
              <a:pPr>
                <a:spcBef>
                  <a:spcPct val="20000"/>
                </a:spcBef>
              </a:pPr>
              <a:r>
                <a:rPr lang="en-US" altLang="zh-CN" sz="2800"/>
                <a:t> 1  0  0  1</a:t>
              </a:r>
            </a:p>
          </p:txBody>
        </p:sp>
        <p:sp>
          <p:nvSpPr>
            <p:cNvPr id="84009" name="Rectangle 42"/>
            <p:cNvSpPr>
              <a:spLocks noChangeArrowheads="1"/>
            </p:cNvSpPr>
            <p:nvPr/>
          </p:nvSpPr>
          <p:spPr bwMode="auto">
            <a:xfrm>
              <a:off x="1296" y="2700"/>
              <a:ext cx="1032" cy="383"/>
            </a:xfrm>
            <a:prstGeom prst="rect">
              <a:avLst/>
            </a:prstGeom>
            <a:solidFill>
              <a:srgbClr val="CCFFFF"/>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nchorCtr="1"/>
            <a:lstStyle/>
            <a:p>
              <a:pPr>
                <a:spcBef>
                  <a:spcPct val="20000"/>
                </a:spcBef>
              </a:pPr>
              <a:r>
                <a:rPr lang="en-US" altLang="zh-CN" sz="2800"/>
                <a:t>0</a:t>
              </a:r>
            </a:p>
          </p:txBody>
        </p:sp>
        <p:sp>
          <p:nvSpPr>
            <p:cNvPr id="84010" name="Rectangle 43"/>
            <p:cNvSpPr>
              <a:spLocks noChangeArrowheads="1"/>
            </p:cNvSpPr>
            <p:nvPr/>
          </p:nvSpPr>
          <p:spPr bwMode="auto">
            <a:xfrm>
              <a:off x="264" y="2700"/>
              <a:ext cx="1032" cy="383"/>
            </a:xfrm>
            <a:prstGeom prst="rect">
              <a:avLst/>
            </a:prstGeom>
            <a:solidFill>
              <a:srgbClr val="CCFFFF"/>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nchorCtr="1"/>
            <a:lstStyle/>
            <a:p>
              <a:pPr>
                <a:spcBef>
                  <a:spcPct val="20000"/>
                </a:spcBef>
              </a:pPr>
              <a:r>
                <a:rPr lang="en-US" altLang="zh-CN" sz="2800"/>
                <a:t> 0  0  0  1</a:t>
              </a:r>
            </a:p>
          </p:txBody>
        </p:sp>
        <p:sp>
          <p:nvSpPr>
            <p:cNvPr id="84011" name="Rectangle 44"/>
            <p:cNvSpPr>
              <a:spLocks noChangeArrowheads="1"/>
            </p:cNvSpPr>
            <p:nvPr/>
          </p:nvSpPr>
          <p:spPr bwMode="auto">
            <a:xfrm>
              <a:off x="3360" y="2318"/>
              <a:ext cx="1032" cy="382"/>
            </a:xfrm>
            <a:prstGeom prst="rect">
              <a:avLst/>
            </a:prstGeom>
            <a:solidFill>
              <a:srgbClr val="CCFFFF"/>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nchorCtr="1"/>
            <a:lstStyle/>
            <a:p>
              <a:pPr>
                <a:spcBef>
                  <a:spcPct val="20000"/>
                </a:spcBef>
              </a:pPr>
              <a:r>
                <a:rPr lang="en-US" altLang="zh-CN" sz="2800"/>
                <a:t>1</a:t>
              </a:r>
            </a:p>
          </p:txBody>
        </p:sp>
        <p:sp>
          <p:nvSpPr>
            <p:cNvPr id="84012" name="Rectangle 45"/>
            <p:cNvSpPr>
              <a:spLocks noChangeArrowheads="1"/>
            </p:cNvSpPr>
            <p:nvPr/>
          </p:nvSpPr>
          <p:spPr bwMode="auto">
            <a:xfrm>
              <a:off x="2328" y="2318"/>
              <a:ext cx="1032" cy="382"/>
            </a:xfrm>
            <a:prstGeom prst="rect">
              <a:avLst/>
            </a:prstGeom>
            <a:solidFill>
              <a:srgbClr val="CCFFFF"/>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nchorCtr="1"/>
            <a:lstStyle/>
            <a:p>
              <a:pPr>
                <a:spcBef>
                  <a:spcPct val="20000"/>
                </a:spcBef>
              </a:pPr>
              <a:r>
                <a:rPr lang="en-US" altLang="zh-CN" sz="2800"/>
                <a:t> 1  0  0  0</a:t>
              </a:r>
            </a:p>
          </p:txBody>
        </p:sp>
        <p:sp>
          <p:nvSpPr>
            <p:cNvPr id="84013" name="Rectangle 46"/>
            <p:cNvSpPr>
              <a:spLocks noChangeArrowheads="1"/>
            </p:cNvSpPr>
            <p:nvPr/>
          </p:nvSpPr>
          <p:spPr bwMode="auto">
            <a:xfrm>
              <a:off x="1296" y="2318"/>
              <a:ext cx="1032" cy="382"/>
            </a:xfrm>
            <a:prstGeom prst="rect">
              <a:avLst/>
            </a:prstGeom>
            <a:solidFill>
              <a:srgbClr val="CCFFFF"/>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nchorCtr="1"/>
            <a:lstStyle/>
            <a:p>
              <a:pPr>
                <a:spcBef>
                  <a:spcPct val="20000"/>
                </a:spcBef>
              </a:pPr>
              <a:r>
                <a:rPr lang="en-US" altLang="zh-CN" sz="2800"/>
                <a:t>1</a:t>
              </a:r>
            </a:p>
          </p:txBody>
        </p:sp>
        <p:sp>
          <p:nvSpPr>
            <p:cNvPr id="84014" name="Rectangle 47"/>
            <p:cNvSpPr>
              <a:spLocks noChangeArrowheads="1"/>
            </p:cNvSpPr>
            <p:nvPr/>
          </p:nvSpPr>
          <p:spPr bwMode="auto">
            <a:xfrm>
              <a:off x="264" y="2318"/>
              <a:ext cx="1032" cy="382"/>
            </a:xfrm>
            <a:prstGeom prst="rect">
              <a:avLst/>
            </a:prstGeom>
            <a:solidFill>
              <a:srgbClr val="CCFFFF"/>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nchorCtr="1"/>
            <a:lstStyle/>
            <a:p>
              <a:pPr>
                <a:spcBef>
                  <a:spcPct val="20000"/>
                </a:spcBef>
              </a:pPr>
              <a:r>
                <a:rPr lang="en-US" altLang="zh-CN" sz="2800"/>
                <a:t> 0  0  0  0</a:t>
              </a:r>
            </a:p>
          </p:txBody>
        </p:sp>
        <p:sp>
          <p:nvSpPr>
            <p:cNvPr id="84015" name="Rectangle 48"/>
            <p:cNvSpPr>
              <a:spLocks noChangeArrowheads="1"/>
            </p:cNvSpPr>
            <p:nvPr/>
          </p:nvSpPr>
          <p:spPr bwMode="auto">
            <a:xfrm>
              <a:off x="3360" y="1936"/>
              <a:ext cx="1032" cy="382"/>
            </a:xfrm>
            <a:prstGeom prst="rect">
              <a:avLst/>
            </a:prstGeom>
            <a:solidFill>
              <a:srgbClr val="CCFFFF"/>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nchorCtr="1"/>
            <a:lstStyle/>
            <a:p>
              <a:pPr>
                <a:spcBef>
                  <a:spcPct val="20000"/>
                </a:spcBef>
              </a:pPr>
              <a:r>
                <a:rPr lang="en-US" altLang="zh-CN" sz="2800"/>
                <a:t>Y</a:t>
              </a:r>
            </a:p>
          </p:txBody>
        </p:sp>
        <p:sp>
          <p:nvSpPr>
            <p:cNvPr id="84016" name="Rectangle 49"/>
            <p:cNvSpPr>
              <a:spLocks noChangeArrowheads="1"/>
            </p:cNvSpPr>
            <p:nvPr/>
          </p:nvSpPr>
          <p:spPr bwMode="auto">
            <a:xfrm>
              <a:off x="2328" y="1936"/>
              <a:ext cx="1032" cy="382"/>
            </a:xfrm>
            <a:prstGeom prst="rect">
              <a:avLst/>
            </a:prstGeom>
            <a:solidFill>
              <a:srgbClr val="CCFFFF"/>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nchorCtr="1"/>
            <a:lstStyle/>
            <a:p>
              <a:pPr>
                <a:spcBef>
                  <a:spcPct val="20000"/>
                </a:spcBef>
              </a:pPr>
              <a:r>
                <a:rPr lang="en-US" altLang="zh-CN" sz="2800"/>
                <a:t> A B C D</a:t>
              </a:r>
            </a:p>
          </p:txBody>
        </p:sp>
        <p:sp>
          <p:nvSpPr>
            <p:cNvPr id="84017" name="Rectangle 50"/>
            <p:cNvSpPr>
              <a:spLocks noChangeArrowheads="1"/>
            </p:cNvSpPr>
            <p:nvPr/>
          </p:nvSpPr>
          <p:spPr bwMode="auto">
            <a:xfrm>
              <a:off x="1296" y="1936"/>
              <a:ext cx="1032" cy="382"/>
            </a:xfrm>
            <a:prstGeom prst="rect">
              <a:avLst/>
            </a:prstGeom>
            <a:solidFill>
              <a:srgbClr val="CCFFFF"/>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nchorCtr="1"/>
            <a:lstStyle/>
            <a:p>
              <a:pPr>
                <a:spcBef>
                  <a:spcPct val="20000"/>
                </a:spcBef>
              </a:pPr>
              <a:r>
                <a:rPr lang="en-US" altLang="zh-CN" sz="2800"/>
                <a:t>Y</a:t>
              </a:r>
            </a:p>
          </p:txBody>
        </p:sp>
        <p:sp>
          <p:nvSpPr>
            <p:cNvPr id="84018" name="Rectangle 51"/>
            <p:cNvSpPr>
              <a:spLocks noChangeArrowheads="1"/>
            </p:cNvSpPr>
            <p:nvPr/>
          </p:nvSpPr>
          <p:spPr bwMode="auto">
            <a:xfrm>
              <a:off x="264" y="1936"/>
              <a:ext cx="1032" cy="382"/>
            </a:xfrm>
            <a:prstGeom prst="rect">
              <a:avLst/>
            </a:prstGeom>
            <a:solidFill>
              <a:srgbClr val="CCFFFF"/>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nchorCtr="1"/>
            <a:lstStyle/>
            <a:p>
              <a:pPr>
                <a:spcBef>
                  <a:spcPct val="20000"/>
                </a:spcBef>
              </a:pPr>
              <a:r>
                <a:rPr lang="en-US" altLang="zh-CN" sz="2800"/>
                <a:t> A B C D</a:t>
              </a:r>
            </a:p>
          </p:txBody>
        </p:sp>
        <p:sp>
          <p:nvSpPr>
            <p:cNvPr id="84019" name="Line 52"/>
            <p:cNvSpPr>
              <a:spLocks noChangeShapeType="1"/>
            </p:cNvSpPr>
            <p:nvPr/>
          </p:nvSpPr>
          <p:spPr bwMode="auto">
            <a:xfrm>
              <a:off x="264" y="1936"/>
              <a:ext cx="5160"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nchor="ctr" anchorCtr="1"/>
            <a:lstStyle/>
            <a:p>
              <a:endParaRPr lang="zh-CN" altLang="en-US"/>
            </a:p>
          </p:txBody>
        </p:sp>
        <p:sp>
          <p:nvSpPr>
            <p:cNvPr id="84020" name="Line 53"/>
            <p:cNvSpPr>
              <a:spLocks noChangeShapeType="1"/>
            </p:cNvSpPr>
            <p:nvPr/>
          </p:nvSpPr>
          <p:spPr bwMode="auto">
            <a:xfrm>
              <a:off x="264" y="2318"/>
              <a:ext cx="516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nchor="ctr" anchorCtr="1"/>
            <a:lstStyle/>
            <a:p>
              <a:endParaRPr lang="zh-CN" altLang="en-US"/>
            </a:p>
          </p:txBody>
        </p:sp>
        <p:sp>
          <p:nvSpPr>
            <p:cNvPr id="84021" name="Line 54"/>
            <p:cNvSpPr>
              <a:spLocks noChangeShapeType="1"/>
            </p:cNvSpPr>
            <p:nvPr/>
          </p:nvSpPr>
          <p:spPr bwMode="auto">
            <a:xfrm>
              <a:off x="264" y="2700"/>
              <a:ext cx="516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nchor="ctr" anchorCtr="1"/>
            <a:lstStyle/>
            <a:p>
              <a:endParaRPr lang="zh-CN" altLang="en-US"/>
            </a:p>
          </p:txBody>
        </p:sp>
        <p:sp>
          <p:nvSpPr>
            <p:cNvPr id="84022" name="Line 55"/>
            <p:cNvSpPr>
              <a:spLocks noChangeShapeType="1"/>
            </p:cNvSpPr>
            <p:nvPr/>
          </p:nvSpPr>
          <p:spPr bwMode="auto">
            <a:xfrm>
              <a:off x="264" y="3083"/>
              <a:ext cx="516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nchor="ctr" anchorCtr="1"/>
            <a:lstStyle/>
            <a:p>
              <a:endParaRPr lang="zh-CN" altLang="en-US"/>
            </a:p>
          </p:txBody>
        </p:sp>
        <p:sp>
          <p:nvSpPr>
            <p:cNvPr id="84023" name="Line 56"/>
            <p:cNvSpPr>
              <a:spLocks noChangeShapeType="1"/>
            </p:cNvSpPr>
            <p:nvPr/>
          </p:nvSpPr>
          <p:spPr bwMode="auto">
            <a:xfrm>
              <a:off x="264" y="3465"/>
              <a:ext cx="516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nchor="ctr" anchorCtr="1"/>
            <a:lstStyle/>
            <a:p>
              <a:endParaRPr lang="zh-CN" altLang="en-US"/>
            </a:p>
          </p:txBody>
        </p:sp>
        <p:sp>
          <p:nvSpPr>
            <p:cNvPr id="84024" name="Line 57"/>
            <p:cNvSpPr>
              <a:spLocks noChangeShapeType="1"/>
            </p:cNvSpPr>
            <p:nvPr/>
          </p:nvSpPr>
          <p:spPr bwMode="auto">
            <a:xfrm>
              <a:off x="264" y="3847"/>
              <a:ext cx="516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nchor="ctr" anchorCtr="1"/>
            <a:lstStyle/>
            <a:p>
              <a:endParaRPr lang="zh-CN" altLang="en-US"/>
            </a:p>
          </p:txBody>
        </p:sp>
        <p:sp>
          <p:nvSpPr>
            <p:cNvPr id="84025" name="Line 58"/>
            <p:cNvSpPr>
              <a:spLocks noChangeShapeType="1"/>
            </p:cNvSpPr>
            <p:nvPr/>
          </p:nvSpPr>
          <p:spPr bwMode="auto">
            <a:xfrm>
              <a:off x="264" y="4229"/>
              <a:ext cx="516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nchor="ctr" anchorCtr="1"/>
            <a:lstStyle/>
            <a:p>
              <a:endParaRPr lang="zh-CN" altLang="en-US"/>
            </a:p>
          </p:txBody>
        </p:sp>
        <p:sp>
          <p:nvSpPr>
            <p:cNvPr id="84026" name="Line 59"/>
            <p:cNvSpPr>
              <a:spLocks noChangeShapeType="1"/>
            </p:cNvSpPr>
            <p:nvPr/>
          </p:nvSpPr>
          <p:spPr bwMode="auto">
            <a:xfrm>
              <a:off x="264" y="4612"/>
              <a:ext cx="516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nchor="ctr" anchorCtr="1"/>
            <a:lstStyle/>
            <a:p>
              <a:endParaRPr lang="zh-CN" altLang="en-US"/>
            </a:p>
          </p:txBody>
        </p:sp>
        <p:sp>
          <p:nvSpPr>
            <p:cNvPr id="84027" name="Line 60"/>
            <p:cNvSpPr>
              <a:spLocks noChangeShapeType="1"/>
            </p:cNvSpPr>
            <p:nvPr/>
          </p:nvSpPr>
          <p:spPr bwMode="auto">
            <a:xfrm>
              <a:off x="264" y="4994"/>
              <a:ext cx="516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nchor="ctr" anchorCtr="1"/>
            <a:lstStyle/>
            <a:p>
              <a:endParaRPr lang="zh-CN" altLang="en-US"/>
            </a:p>
          </p:txBody>
        </p:sp>
        <p:sp>
          <p:nvSpPr>
            <p:cNvPr id="84028" name="Line 61"/>
            <p:cNvSpPr>
              <a:spLocks noChangeShapeType="1"/>
            </p:cNvSpPr>
            <p:nvPr/>
          </p:nvSpPr>
          <p:spPr bwMode="auto">
            <a:xfrm>
              <a:off x="264" y="5376"/>
              <a:ext cx="5160"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nchor="ctr" anchorCtr="1"/>
            <a:lstStyle/>
            <a:p>
              <a:endParaRPr lang="zh-CN" altLang="en-US"/>
            </a:p>
          </p:txBody>
        </p:sp>
        <p:sp>
          <p:nvSpPr>
            <p:cNvPr id="84029" name="Line 62"/>
            <p:cNvSpPr>
              <a:spLocks noChangeShapeType="1"/>
            </p:cNvSpPr>
            <p:nvPr/>
          </p:nvSpPr>
          <p:spPr bwMode="auto">
            <a:xfrm>
              <a:off x="264" y="1936"/>
              <a:ext cx="0" cy="344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nchor="ctr" anchorCtr="1"/>
            <a:lstStyle/>
            <a:p>
              <a:endParaRPr lang="zh-CN" altLang="en-US"/>
            </a:p>
          </p:txBody>
        </p:sp>
        <p:sp>
          <p:nvSpPr>
            <p:cNvPr id="84030" name="Line 63"/>
            <p:cNvSpPr>
              <a:spLocks noChangeShapeType="1"/>
            </p:cNvSpPr>
            <p:nvPr/>
          </p:nvSpPr>
          <p:spPr bwMode="auto">
            <a:xfrm>
              <a:off x="1296" y="1936"/>
              <a:ext cx="0" cy="344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nchor="ctr" anchorCtr="1"/>
            <a:lstStyle/>
            <a:p>
              <a:endParaRPr lang="zh-CN" altLang="en-US"/>
            </a:p>
          </p:txBody>
        </p:sp>
        <p:sp>
          <p:nvSpPr>
            <p:cNvPr id="84031" name="Line 64"/>
            <p:cNvSpPr>
              <a:spLocks noChangeShapeType="1"/>
            </p:cNvSpPr>
            <p:nvPr/>
          </p:nvSpPr>
          <p:spPr bwMode="auto">
            <a:xfrm>
              <a:off x="2328" y="1936"/>
              <a:ext cx="0" cy="344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nchor="ctr" anchorCtr="1"/>
            <a:lstStyle/>
            <a:p>
              <a:endParaRPr lang="zh-CN" altLang="en-US"/>
            </a:p>
          </p:txBody>
        </p:sp>
        <p:sp>
          <p:nvSpPr>
            <p:cNvPr id="84032" name="Line 65"/>
            <p:cNvSpPr>
              <a:spLocks noChangeShapeType="1"/>
            </p:cNvSpPr>
            <p:nvPr/>
          </p:nvSpPr>
          <p:spPr bwMode="auto">
            <a:xfrm>
              <a:off x="3360" y="1936"/>
              <a:ext cx="0" cy="344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nchor="ctr" anchorCtr="1"/>
            <a:lstStyle/>
            <a:p>
              <a:endParaRPr lang="zh-CN" altLang="en-US"/>
            </a:p>
          </p:txBody>
        </p:sp>
        <p:sp>
          <p:nvSpPr>
            <p:cNvPr id="84033" name="Line 66"/>
            <p:cNvSpPr>
              <a:spLocks noChangeShapeType="1"/>
            </p:cNvSpPr>
            <p:nvPr/>
          </p:nvSpPr>
          <p:spPr bwMode="auto">
            <a:xfrm>
              <a:off x="5424" y="1936"/>
              <a:ext cx="0" cy="344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nchor="ctr" anchorCtr="1"/>
            <a:lstStyle/>
            <a:p>
              <a:endParaRPr lang="zh-CN" altLang="en-US"/>
            </a:p>
          </p:txBody>
        </p:sp>
        <p:sp>
          <p:nvSpPr>
            <p:cNvPr id="84034" name="Line 67"/>
            <p:cNvSpPr>
              <a:spLocks noChangeShapeType="1"/>
            </p:cNvSpPr>
            <p:nvPr/>
          </p:nvSpPr>
          <p:spPr bwMode="auto">
            <a:xfrm>
              <a:off x="4392" y="1936"/>
              <a:ext cx="0" cy="344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nchor="ctr" anchorCtr="1"/>
            <a:lstStyle/>
            <a:p>
              <a:endParaRPr lang="zh-CN" altLang="en-US"/>
            </a:p>
          </p:txBody>
        </p:sp>
      </p:grpSp>
      <p:sp>
        <p:nvSpPr>
          <p:cNvPr id="66" name="Rectangle 5"/>
          <p:cNvSpPr>
            <a:spLocks noChangeArrowheads="1"/>
          </p:cNvSpPr>
          <p:nvPr/>
        </p:nvSpPr>
        <p:spPr bwMode="auto">
          <a:xfrm>
            <a:off x="544583" y="476672"/>
            <a:ext cx="571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p>
            <a:r>
              <a:rPr lang="zh-CN" altLang="en-US" b="1" dirty="0"/>
              <a:t>例：判断一位十进制数是否为偶数。</a:t>
            </a:r>
            <a:endParaRPr lang="zh-CN" altLang="en-US" sz="3200" b="1"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iterate type="lt">
                                    <p:tmPct val="100000"/>
                                  </p:iterate>
                                  <p:childTnLst>
                                    <p:set>
                                      <p:cBhvr>
                                        <p:cTn id="11" dur="1" fill="hold">
                                          <p:stCondLst>
                                            <p:cond delay="0"/>
                                          </p:stCondLst>
                                        </p:cTn>
                                        <p:tgtEl>
                                          <p:spTgt spid="66">
                                            <p:txEl>
                                              <p:pRg st="0" end="0"/>
                                            </p:txEl>
                                          </p:spTgt>
                                        </p:tgtEl>
                                        <p:attrNameLst>
                                          <p:attrName>style.visibility</p:attrName>
                                        </p:attrNameLst>
                                      </p:cBhvr>
                                      <p:to>
                                        <p:strVal val="visible"/>
                                      </p:to>
                                    </p:set>
                                    <p:animEffect transition="in" filter="wipe(up)">
                                      <p:cBhvr>
                                        <p:cTn id="12" dur="75"/>
                                        <p:tgtEl>
                                          <p:spTgt spid="66">
                                            <p:txEl>
                                              <p:pRg st="0" end="0"/>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build="p" autoUpdateAnimBg="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quarter" idx="10"/>
          </p:nvPr>
        </p:nvSpPr>
        <p:spPr/>
        <p:txBody>
          <a:bodyPr/>
          <a:lstStyle/>
          <a:p>
            <a:pPr>
              <a:defRPr/>
            </a:pPr>
            <a:fld id="{5039F47D-A853-4B21-A894-15CDE5D87586}" type="datetime1">
              <a:rPr lang="zh-CN" altLang="en-US" smtClean="0"/>
              <a:pPr>
                <a:defRPr/>
              </a:pPr>
              <a:t>2021/9/21</a:t>
            </a:fld>
            <a:endParaRPr lang="en-US" altLang="zh-CN"/>
          </a:p>
        </p:txBody>
      </p:sp>
      <p:sp>
        <p:nvSpPr>
          <p:cNvPr id="3" name="灯片编号占位符 2"/>
          <p:cNvSpPr>
            <a:spLocks noGrp="1"/>
          </p:cNvSpPr>
          <p:nvPr>
            <p:ph type="sldNum" sz="quarter" idx="12"/>
          </p:nvPr>
        </p:nvSpPr>
        <p:spPr/>
        <p:txBody>
          <a:bodyPr/>
          <a:lstStyle/>
          <a:p>
            <a:pPr>
              <a:defRPr/>
            </a:pPr>
            <a:fld id="{06E70C51-DDF9-40A0-BE80-43B18CF74396}" type="slidenum">
              <a:rPr lang="en-US" altLang="zh-CN" smtClean="0"/>
              <a:pPr>
                <a:defRPr/>
              </a:pPr>
              <a:t>85</a:t>
            </a:fld>
            <a:endParaRPr lang="en-US" altLang="zh-CN"/>
          </a:p>
        </p:txBody>
      </p:sp>
      <p:graphicFrame>
        <p:nvGraphicFramePr>
          <p:cNvPr id="53250" name="Object 2"/>
          <p:cNvGraphicFramePr>
            <a:graphicFrameLocks noChangeAspect="1"/>
          </p:cNvGraphicFramePr>
          <p:nvPr/>
        </p:nvGraphicFramePr>
        <p:xfrm>
          <a:off x="1295400" y="57150"/>
          <a:ext cx="5791200" cy="3028950"/>
        </p:xfrm>
        <a:graphic>
          <a:graphicData uri="http://schemas.openxmlformats.org/presentationml/2006/ole">
            <mc:AlternateContent xmlns:mc="http://schemas.openxmlformats.org/markup-compatibility/2006">
              <mc:Choice xmlns:v="urn:schemas-microsoft-com:vml" Requires="v">
                <p:oleObj spid="_x0000_s85075" name="Document" r:id="rId4" imgW="1990725" imgH="1276350" progId="Word.Document.8">
                  <p:embed/>
                </p:oleObj>
              </mc:Choice>
              <mc:Fallback>
                <p:oleObj name="Document" r:id="rId4" imgW="1990725" imgH="1276350" progId="Word.Document.8">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95400" y="57150"/>
                        <a:ext cx="5791200" cy="3028950"/>
                      </a:xfrm>
                      <a:prstGeom prst="rect">
                        <a:avLst/>
                      </a:prstGeom>
                      <a:solidFill>
                        <a:srgbClr val="D9FFE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3252" name="Object 4"/>
          <p:cNvGraphicFramePr>
            <a:graphicFrameLocks noChangeAspect="1"/>
          </p:cNvGraphicFramePr>
          <p:nvPr/>
        </p:nvGraphicFramePr>
        <p:xfrm>
          <a:off x="1066800" y="3000375"/>
          <a:ext cx="6011863" cy="566738"/>
        </p:xfrm>
        <a:graphic>
          <a:graphicData uri="http://schemas.openxmlformats.org/presentationml/2006/ole">
            <mc:AlternateContent xmlns:mc="http://schemas.openxmlformats.org/markup-compatibility/2006">
              <mc:Choice xmlns:v="urn:schemas-microsoft-com:vml" Requires="v">
                <p:oleObj spid="_x0000_s85076" name="公式" r:id="rId6" imgW="1816100" imgH="203200" progId="Equation.3">
                  <p:embed/>
                </p:oleObj>
              </mc:Choice>
              <mc:Fallback>
                <p:oleObj name="公式" r:id="rId6" imgW="1816100" imgH="203200"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66800" y="3000375"/>
                        <a:ext cx="6011863" cy="566738"/>
                      </a:xfrm>
                      <a:prstGeom prst="rect">
                        <a:avLst/>
                      </a:prstGeom>
                      <a:solidFill>
                        <a:schemeClr val="accent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255" name="Object 7"/>
          <p:cNvGraphicFramePr>
            <a:graphicFrameLocks noChangeAspect="1"/>
          </p:cNvGraphicFramePr>
          <p:nvPr/>
        </p:nvGraphicFramePr>
        <p:xfrm>
          <a:off x="1857375" y="3714750"/>
          <a:ext cx="5222875" cy="609600"/>
        </p:xfrm>
        <a:graphic>
          <a:graphicData uri="http://schemas.openxmlformats.org/presentationml/2006/ole">
            <mc:AlternateContent xmlns:mc="http://schemas.openxmlformats.org/markup-compatibility/2006">
              <mc:Choice xmlns:v="urn:schemas-microsoft-com:vml" Requires="v">
                <p:oleObj spid="_x0000_s85077" name="公式" r:id="rId8" imgW="1562100" imgH="203200" progId="Equation.3">
                  <p:embed/>
                </p:oleObj>
              </mc:Choice>
              <mc:Fallback>
                <p:oleObj name="公式" r:id="rId8" imgW="1562100" imgH="203200" progId="Equation.3">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57375" y="3714750"/>
                        <a:ext cx="5222875" cy="609600"/>
                      </a:xfrm>
                      <a:prstGeom prst="rect">
                        <a:avLst/>
                      </a:prstGeom>
                      <a:solidFill>
                        <a:schemeClr val="accent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275" name="Object 3"/>
          <p:cNvGraphicFramePr>
            <a:graphicFrameLocks noChangeAspect="1"/>
          </p:cNvGraphicFramePr>
          <p:nvPr/>
        </p:nvGraphicFramePr>
        <p:xfrm>
          <a:off x="304800" y="4610100"/>
          <a:ext cx="8534400" cy="533400"/>
        </p:xfrm>
        <a:graphic>
          <a:graphicData uri="http://schemas.openxmlformats.org/presentationml/2006/ole">
            <mc:AlternateContent xmlns:mc="http://schemas.openxmlformats.org/markup-compatibility/2006">
              <mc:Choice xmlns:v="urn:schemas-microsoft-com:vml" Requires="v">
                <p:oleObj spid="_x0000_s85078" name="公式" r:id="rId10" imgW="3276600" imgH="203200" progId="Equation.3">
                  <p:embed/>
                </p:oleObj>
              </mc:Choice>
              <mc:Fallback>
                <p:oleObj name="公式" r:id="rId10" imgW="3276600" imgH="203200" progId="Equation.3">
                  <p:embed/>
                  <p:pic>
                    <p:nvPicPr>
                      <p:cNvPr id="0" name="Object 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04800" y="4610100"/>
                        <a:ext cx="8534400" cy="533400"/>
                      </a:xfrm>
                      <a:prstGeom prst="rect">
                        <a:avLst/>
                      </a:prstGeom>
                      <a:solidFill>
                        <a:schemeClr val="accent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282" name="Object 10"/>
          <p:cNvGraphicFramePr>
            <a:graphicFrameLocks noChangeAspect="1"/>
          </p:cNvGraphicFramePr>
          <p:nvPr/>
        </p:nvGraphicFramePr>
        <p:xfrm>
          <a:off x="857250" y="5357813"/>
          <a:ext cx="1235075" cy="560387"/>
        </p:xfrm>
        <a:graphic>
          <a:graphicData uri="http://schemas.openxmlformats.org/presentationml/2006/ole">
            <mc:AlternateContent xmlns:mc="http://schemas.openxmlformats.org/markup-compatibility/2006">
              <mc:Choice xmlns:v="urn:schemas-microsoft-com:vml" Requires="v">
                <p:oleObj spid="_x0000_s85079" name="公式" r:id="rId12" imgW="419100" imgH="190500" progId="Equation.3">
                  <p:embed/>
                </p:oleObj>
              </mc:Choice>
              <mc:Fallback>
                <p:oleObj name="公式" r:id="rId12" imgW="419100" imgH="190500" progId="Equation.3">
                  <p:embed/>
                  <p:pic>
                    <p:nvPicPr>
                      <p:cNvPr id="0" name="Object 1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57250" y="5357813"/>
                        <a:ext cx="1235075" cy="560387"/>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4280" name="Object 8"/>
          <p:cNvGraphicFramePr>
            <a:graphicFrameLocks noChangeAspect="1"/>
          </p:cNvGraphicFramePr>
          <p:nvPr>
            <p:extLst>
              <p:ext uri="{D42A27DB-BD31-4B8C-83A1-F6EECF244321}">
                <p14:modId xmlns:p14="http://schemas.microsoft.com/office/powerpoint/2010/main" val="1861247532"/>
              </p:ext>
            </p:extLst>
          </p:nvPr>
        </p:nvGraphicFramePr>
        <p:xfrm>
          <a:off x="6386513" y="5626100"/>
          <a:ext cx="2466975" cy="500063"/>
        </p:xfrm>
        <a:graphic>
          <a:graphicData uri="http://schemas.openxmlformats.org/presentationml/2006/ole">
            <mc:AlternateContent xmlns:mc="http://schemas.openxmlformats.org/markup-compatibility/2006">
              <mc:Choice xmlns:v="urn:schemas-microsoft-com:vml" Requires="v">
                <p:oleObj spid="_x0000_s85080" name="公式" r:id="rId14" imgW="1066680" imgH="190440" progId="Equation.3">
                  <p:embed/>
                </p:oleObj>
              </mc:Choice>
              <mc:Fallback>
                <p:oleObj name="公式" r:id="rId14" imgW="1066680" imgH="190440" progId="Equation.3">
                  <p:embed/>
                  <p:pic>
                    <p:nvPicPr>
                      <p:cNvPr id="0" name="Object 8"/>
                      <p:cNvPicPr>
                        <a:picLocks noChangeAspect="1" noChangeArrowheads="1"/>
                      </p:cNvPicPr>
                      <p:nvPr/>
                    </p:nvPicPr>
                    <p:blipFill>
                      <a:blip r:embed="rId15"/>
                      <a:srcRect/>
                      <a:stretch>
                        <a:fillRect/>
                      </a:stretch>
                    </p:blipFill>
                    <p:spPr bwMode="auto">
                      <a:xfrm>
                        <a:off x="6386513" y="5626100"/>
                        <a:ext cx="2466975" cy="500063"/>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 name="Text Box 7"/>
          <p:cNvSpPr txBox="1">
            <a:spLocks noChangeArrowheads="1"/>
          </p:cNvSpPr>
          <p:nvPr/>
        </p:nvSpPr>
        <p:spPr bwMode="auto">
          <a:xfrm>
            <a:off x="4429125" y="5321300"/>
            <a:ext cx="20574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zh-CN" altLang="en-US"/>
              <a:t>不利用无关最小项的化简结果为：</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afterEffect">
                                  <p:stCondLst>
                                    <p:cond delay="0"/>
                                  </p:stCondLst>
                                  <p:childTnLst>
                                    <p:set>
                                      <p:cBhvr>
                                        <p:cTn id="6" dur="1" fill="hold">
                                          <p:stCondLst>
                                            <p:cond delay="0"/>
                                          </p:stCondLst>
                                        </p:cTn>
                                        <p:tgtEl>
                                          <p:spTgt spid="53250"/>
                                        </p:tgtEl>
                                        <p:attrNameLst>
                                          <p:attrName>style.visibility</p:attrName>
                                        </p:attrNameLst>
                                      </p:cBhvr>
                                      <p:to>
                                        <p:strVal val="visible"/>
                                      </p:to>
                                    </p:set>
                                    <p:animEffect transition="in" filter="dissolve">
                                      <p:cBhvr>
                                        <p:cTn id="7" dur="500"/>
                                        <p:tgtEl>
                                          <p:spTgt spid="5325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53252"/>
                                        </p:tgtEl>
                                        <p:attrNameLst>
                                          <p:attrName>style.visibility</p:attrName>
                                        </p:attrNameLst>
                                      </p:cBhvr>
                                      <p:to>
                                        <p:strVal val="visible"/>
                                      </p:to>
                                    </p:set>
                                    <p:animEffect transition="in" filter="blinds(horizontal)">
                                      <p:cBhvr>
                                        <p:cTn id="12" dur="500"/>
                                        <p:tgtEl>
                                          <p:spTgt spid="5325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5" fill="hold" nodeType="clickEffect">
                                  <p:stCondLst>
                                    <p:cond delay="0"/>
                                  </p:stCondLst>
                                  <p:childTnLst>
                                    <p:set>
                                      <p:cBhvr>
                                        <p:cTn id="16" dur="1" fill="hold">
                                          <p:stCondLst>
                                            <p:cond delay="0"/>
                                          </p:stCondLst>
                                        </p:cTn>
                                        <p:tgtEl>
                                          <p:spTgt spid="53255"/>
                                        </p:tgtEl>
                                        <p:attrNameLst>
                                          <p:attrName>style.visibility</p:attrName>
                                        </p:attrNameLst>
                                      </p:cBhvr>
                                      <p:to>
                                        <p:strVal val="visible"/>
                                      </p:to>
                                    </p:set>
                                    <p:animEffect transition="in" filter="blinds(vertical)">
                                      <p:cBhvr>
                                        <p:cTn id="17" dur="500"/>
                                        <p:tgtEl>
                                          <p:spTgt spid="5325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37" fill="hold" nodeType="clickEffect">
                                  <p:stCondLst>
                                    <p:cond delay="0"/>
                                  </p:stCondLst>
                                  <p:childTnLst>
                                    <p:set>
                                      <p:cBhvr>
                                        <p:cTn id="21" dur="1" fill="hold">
                                          <p:stCondLst>
                                            <p:cond delay="0"/>
                                          </p:stCondLst>
                                        </p:cTn>
                                        <p:tgtEl>
                                          <p:spTgt spid="54275"/>
                                        </p:tgtEl>
                                        <p:attrNameLst>
                                          <p:attrName>style.visibility</p:attrName>
                                        </p:attrNameLst>
                                      </p:cBhvr>
                                      <p:to>
                                        <p:strVal val="visible"/>
                                      </p:to>
                                    </p:set>
                                    <p:animEffect transition="in" filter="barn(outVertical)">
                                      <p:cBhvr>
                                        <p:cTn id="22" dur="500"/>
                                        <p:tgtEl>
                                          <p:spTgt spid="5427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54282"/>
                                        </p:tgtEl>
                                        <p:attrNameLst>
                                          <p:attrName>style.visibility</p:attrName>
                                        </p:attrNameLst>
                                      </p:cBhvr>
                                      <p:to>
                                        <p:strVal val="visible"/>
                                      </p:to>
                                    </p:set>
                                    <p:animEffect transition="in" filter="dissolve">
                                      <p:cBhvr>
                                        <p:cTn id="27" dur="500"/>
                                        <p:tgtEl>
                                          <p:spTgt spid="5428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54280"/>
                                        </p:tgtEl>
                                        <p:attrNameLst>
                                          <p:attrName>style.visibility</p:attrName>
                                        </p:attrNameLst>
                                      </p:cBhvr>
                                      <p:to>
                                        <p:strVal val="visible"/>
                                      </p:to>
                                    </p:set>
                                    <p:animEffect transition="in" filter="dissolve">
                                      <p:cBhvr>
                                        <p:cTn id="32" dur="500"/>
                                        <p:tgtEl>
                                          <p:spTgt spid="5428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0">
                                            <p:txEl>
                                              <p:pRg st="0" end="0"/>
                                            </p:txEl>
                                          </p:spTgt>
                                        </p:tgtEl>
                                        <p:attrNameLst>
                                          <p:attrName>style.visibility</p:attrName>
                                        </p:attrNameLst>
                                      </p:cBhvr>
                                      <p:to>
                                        <p:strVal val="visible"/>
                                      </p:to>
                                    </p:set>
                                    <p:animEffect transition="in" filter="wipe(left)">
                                      <p:cBhvr>
                                        <p:cTn id="37" dur="5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autoUpdateAnimBg="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7584" y="457200"/>
            <a:ext cx="7344816" cy="609600"/>
          </a:xfrm>
        </p:spPr>
        <p:txBody>
          <a:bodyPr/>
          <a:lstStyle/>
          <a:p>
            <a:pPr eaLnBrk="1" hangingPunct="1"/>
            <a:r>
              <a:rPr lang="zh-CN" altLang="en-US" dirty="0"/>
              <a:t>多输出逻辑函数的化简</a:t>
            </a:r>
          </a:p>
        </p:txBody>
      </p:sp>
      <p:sp>
        <p:nvSpPr>
          <p:cNvPr id="3" name="内容占位符 2"/>
          <p:cNvSpPr>
            <a:spLocks noGrp="1"/>
          </p:cNvSpPr>
          <p:nvPr>
            <p:ph idx="1"/>
          </p:nvPr>
        </p:nvSpPr>
        <p:spPr>
          <a:xfrm>
            <a:off x="457200" y="1371600"/>
            <a:ext cx="8507288" cy="4876800"/>
          </a:xfrm>
        </p:spPr>
        <p:txBody>
          <a:bodyPr/>
          <a:lstStyle/>
          <a:p>
            <a:pPr>
              <a:lnSpc>
                <a:spcPct val="130000"/>
              </a:lnSpc>
            </a:pPr>
            <a:r>
              <a:rPr lang="zh-CN" altLang="en-US" sz="2400" dirty="0" smtClean="0"/>
              <a:t>多输出函数化简时，不仅仅要考虑单个函数的最简，而是以多个函数整体最简为目标。其</a:t>
            </a:r>
            <a:r>
              <a:rPr lang="zh-CN" altLang="en-US" sz="2400" smtClean="0"/>
              <a:t>化简的关键</a:t>
            </a:r>
            <a:r>
              <a:rPr lang="zh-CN" altLang="en-US" sz="2400" dirty="0" smtClean="0"/>
              <a:t>是要充分利用各函数间的共享部分，即将共享部分单独列出来。</a:t>
            </a:r>
            <a:endParaRPr lang="zh-CN" altLang="en-US" sz="2400" dirty="0"/>
          </a:p>
        </p:txBody>
      </p:sp>
      <p:sp>
        <p:nvSpPr>
          <p:cNvPr id="4" name="日期占位符 3"/>
          <p:cNvSpPr>
            <a:spLocks noGrp="1"/>
          </p:cNvSpPr>
          <p:nvPr>
            <p:ph type="dt" sz="half" idx="10"/>
          </p:nvPr>
        </p:nvSpPr>
        <p:spPr/>
        <p:txBody>
          <a:bodyPr/>
          <a:lstStyle/>
          <a:p>
            <a:pPr>
              <a:defRPr/>
            </a:pPr>
            <a:fld id="{6CA98A37-2FDB-488C-AB3F-864019BB58B4}" type="datetime1">
              <a:rPr lang="zh-CN" altLang="en-US" smtClean="0"/>
              <a:pPr>
                <a:defRPr/>
              </a:pPr>
              <a:t>2021/9/21</a:t>
            </a:fld>
            <a:endParaRPr lang="en-US" altLang="zh-CN"/>
          </a:p>
        </p:txBody>
      </p:sp>
      <p:sp>
        <p:nvSpPr>
          <p:cNvPr id="5" name="灯片编号占位符 4"/>
          <p:cNvSpPr>
            <a:spLocks noGrp="1"/>
          </p:cNvSpPr>
          <p:nvPr>
            <p:ph type="sldNum" sz="quarter" idx="12"/>
          </p:nvPr>
        </p:nvSpPr>
        <p:spPr/>
        <p:txBody>
          <a:bodyPr/>
          <a:lstStyle/>
          <a:p>
            <a:pPr>
              <a:defRPr/>
            </a:pPr>
            <a:fld id="{E45407AE-4D07-4A66-9E6D-0DBA2F104CCD}" type="slidenum">
              <a:rPr lang="en-US" altLang="zh-CN" smtClean="0"/>
              <a:pPr>
                <a:defRPr/>
              </a:pPr>
              <a:t>86</a:t>
            </a:fld>
            <a:endParaRPr lang="en-US" altLang="zh-CN"/>
          </a:p>
        </p:txBody>
      </p:sp>
      <p:pic>
        <p:nvPicPr>
          <p:cNvPr id="880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9752" y="2852936"/>
            <a:ext cx="4284476" cy="1368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806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7664" y="4142818"/>
            <a:ext cx="6624736" cy="2166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48760961"/>
      </p:ext>
    </p:extLst>
  </p:cSld>
  <p:clrMapOvr>
    <a:masterClrMapping/>
  </p:clrMapOvr>
  <p:transition>
    <p:random/>
  </p:transition>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fld id="{B985FAE6-C2CB-4A60-8AE4-B64903C1EAD0}" type="datetime1">
              <a:rPr lang="zh-CN" altLang="en-US" smtClean="0"/>
              <a:pPr>
                <a:defRPr/>
              </a:pPr>
              <a:t>2021/9/21</a:t>
            </a:fld>
            <a:endParaRPr lang="en-US" altLang="zh-CN"/>
          </a:p>
        </p:txBody>
      </p:sp>
      <p:sp>
        <p:nvSpPr>
          <p:cNvPr id="3" name="灯片编号占位符 2"/>
          <p:cNvSpPr>
            <a:spLocks noGrp="1"/>
          </p:cNvSpPr>
          <p:nvPr>
            <p:ph type="sldNum" sz="quarter" idx="12"/>
          </p:nvPr>
        </p:nvSpPr>
        <p:spPr/>
        <p:txBody>
          <a:bodyPr/>
          <a:lstStyle/>
          <a:p>
            <a:pPr>
              <a:defRPr/>
            </a:pPr>
            <a:fld id="{3F1800E0-5332-46F4-B881-9258FF922E18}" type="slidenum">
              <a:rPr lang="en-US" altLang="zh-CN" smtClean="0"/>
              <a:pPr>
                <a:defRPr/>
              </a:pPr>
              <a:t>87</a:t>
            </a:fld>
            <a:endParaRPr lang="en-US" altLang="zh-CN"/>
          </a:p>
        </p:txBody>
      </p:sp>
      <p:pic>
        <p:nvPicPr>
          <p:cNvPr id="890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648" y="2256418"/>
            <a:ext cx="5594459" cy="14235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640216" y="1599183"/>
            <a:ext cx="7776864" cy="461665"/>
          </a:xfrm>
          <a:prstGeom prst="rect">
            <a:avLst/>
          </a:prstGeom>
          <a:noFill/>
        </p:spPr>
        <p:txBody>
          <a:bodyPr wrap="square" rtlCol="0">
            <a:spAutoFit/>
          </a:bodyPr>
          <a:lstStyle/>
          <a:p>
            <a:r>
              <a:rPr lang="zh-CN" altLang="en-US" dirty="0" smtClean="0"/>
              <a:t>如果把图中虚线部分单独列出来，则得到如下函数：</a:t>
            </a:r>
            <a:endParaRPr lang="zh-CN" altLang="en-US" dirty="0"/>
          </a:p>
        </p:txBody>
      </p:sp>
      <p:sp>
        <p:nvSpPr>
          <p:cNvPr id="6" name="TextBox 5"/>
          <p:cNvSpPr txBox="1"/>
          <p:nvPr/>
        </p:nvSpPr>
        <p:spPr>
          <a:xfrm>
            <a:off x="827584" y="3791790"/>
            <a:ext cx="7776864" cy="461665"/>
          </a:xfrm>
          <a:prstGeom prst="rect">
            <a:avLst/>
          </a:prstGeom>
          <a:noFill/>
        </p:spPr>
        <p:txBody>
          <a:bodyPr wrap="square" rtlCol="0">
            <a:spAutoFit/>
          </a:bodyPr>
          <a:lstStyle/>
          <a:p>
            <a:r>
              <a:rPr lang="zh-CN" altLang="en-US" dirty="0" smtClean="0"/>
              <a:t>可以看到其中与相数少了，只有</a:t>
            </a:r>
            <a:r>
              <a:rPr lang="en-US" altLang="zh-CN" dirty="0" smtClean="0"/>
              <a:t>3</a:t>
            </a:r>
            <a:r>
              <a:rPr lang="zh-CN" altLang="en-US" dirty="0" smtClean="0"/>
              <a:t>项了。</a:t>
            </a:r>
            <a:endParaRPr lang="zh-CN" altLang="en-US" dirty="0"/>
          </a:p>
        </p:txBody>
      </p:sp>
    </p:spTree>
    <p:extLst>
      <p:ext uri="{BB962C8B-B14F-4D97-AF65-F5344CB8AC3E}">
        <p14:creationId xmlns:p14="http://schemas.microsoft.com/office/powerpoint/2010/main" val="312265395"/>
      </p:ext>
    </p:extLst>
  </p:cSld>
  <p:clrMapOvr>
    <a:masterClrMapping/>
  </p:clrMapOvr>
  <p:transition>
    <p:random/>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7753449-4A40-4BE9-8EB6-6381D6DD6DB1}" type="datetime1">
              <a:rPr lang="zh-CN" altLang="en-US"/>
              <a:pPr>
                <a:defRPr/>
              </a:pPr>
              <a:t>2021/9/21</a:t>
            </a:fld>
            <a:endParaRPr lang="en-US" altLang="zh-CN"/>
          </a:p>
        </p:txBody>
      </p:sp>
      <p:sp>
        <p:nvSpPr>
          <p:cNvPr id="5" name="灯片编号占位符 5"/>
          <p:cNvSpPr>
            <a:spLocks noGrp="1"/>
          </p:cNvSpPr>
          <p:nvPr>
            <p:ph type="sldNum" sz="quarter" idx="12"/>
          </p:nvPr>
        </p:nvSpPr>
        <p:spPr/>
        <p:txBody>
          <a:bodyPr/>
          <a:lstStyle/>
          <a:p>
            <a:pPr>
              <a:defRPr/>
            </a:pPr>
            <a:fld id="{1BCE8829-17E3-4384-89D7-9B9B24D96DE4}" type="slidenum">
              <a:rPr lang="en-US" altLang="zh-CN"/>
              <a:pPr>
                <a:defRPr/>
              </a:pPr>
              <a:t>88</a:t>
            </a:fld>
            <a:endParaRPr lang="en-US" altLang="zh-CN"/>
          </a:p>
        </p:txBody>
      </p:sp>
      <p:sp>
        <p:nvSpPr>
          <p:cNvPr id="86020" name="Rectangle 2"/>
          <p:cNvSpPr>
            <a:spLocks noGrp="1" noChangeArrowheads="1"/>
          </p:cNvSpPr>
          <p:nvPr>
            <p:ph type="title"/>
          </p:nvPr>
        </p:nvSpPr>
        <p:spPr>
          <a:xfrm>
            <a:off x="1150938" y="533400"/>
            <a:ext cx="7793037" cy="609600"/>
          </a:xfrm>
        </p:spPr>
        <p:txBody>
          <a:bodyPr/>
          <a:lstStyle/>
          <a:p>
            <a:pPr eaLnBrk="1" hangingPunct="1"/>
            <a:r>
              <a:rPr lang="zh-CN" altLang="en-US" smtClean="0"/>
              <a:t>本章小结</a:t>
            </a:r>
            <a:endParaRPr lang="zh-CN" altLang="en-US" sz="2400" smtClean="0"/>
          </a:p>
        </p:txBody>
      </p:sp>
      <p:sp>
        <p:nvSpPr>
          <p:cNvPr id="86021" name="Rectangle 3"/>
          <p:cNvSpPr>
            <a:spLocks noGrp="1" noChangeArrowheads="1"/>
          </p:cNvSpPr>
          <p:nvPr>
            <p:ph type="body" idx="1"/>
          </p:nvPr>
        </p:nvSpPr>
        <p:spPr/>
        <p:txBody>
          <a:bodyPr/>
          <a:lstStyle/>
          <a:p>
            <a:pPr eaLnBrk="1" hangingPunct="1"/>
            <a:r>
              <a:rPr lang="zh-CN" altLang="en-US" smtClean="0"/>
              <a:t>逻辑变量、逻辑运算、逻辑函数</a:t>
            </a:r>
          </a:p>
          <a:p>
            <a:pPr eaLnBrk="1" hangingPunct="1"/>
            <a:r>
              <a:rPr lang="zh-CN" altLang="en-US" smtClean="0"/>
              <a:t>逻辑代数的公理、定理和规则</a:t>
            </a:r>
          </a:p>
          <a:p>
            <a:pPr eaLnBrk="1" hangingPunct="1"/>
            <a:r>
              <a:rPr lang="zh-CN" altLang="en-US" smtClean="0"/>
              <a:t>逻辑函数的表示法</a:t>
            </a:r>
          </a:p>
          <a:p>
            <a:pPr eaLnBrk="1" hangingPunct="1"/>
            <a:r>
              <a:rPr lang="zh-CN" altLang="en-US" smtClean="0"/>
              <a:t>逻辑函数表达式的基本形式、标准形式及转换</a:t>
            </a:r>
          </a:p>
          <a:p>
            <a:pPr eaLnBrk="1" hangingPunct="1"/>
            <a:r>
              <a:rPr lang="zh-CN" altLang="en-US" smtClean="0"/>
              <a:t>代数法化简逻辑函数表达式</a:t>
            </a:r>
          </a:p>
          <a:p>
            <a:pPr eaLnBrk="1" hangingPunct="1"/>
            <a:r>
              <a:rPr lang="zh-CN" altLang="en-US" smtClean="0"/>
              <a:t>卡诺图法化简逻辑函数表达式</a:t>
            </a:r>
          </a:p>
        </p:txBody>
      </p:sp>
    </p:spTree>
  </p:cSld>
  <p:clrMapOvr>
    <a:masterClrMapping/>
  </p:clrMapOvr>
  <p:transition>
    <p:random/>
  </p:transition>
  <p:timing>
    <p:tnLst>
      <p:par>
        <p:cTn id="1" dur="indefinite" restart="never" nodeType="tmRoot"/>
      </p:par>
    </p:tnLst>
  </p:timing>
</p:sld>
</file>

<file path=ppt/theme/theme1.xml><?xml version="1.0" encoding="utf-8"?>
<a:theme xmlns:a="http://schemas.openxmlformats.org/drawingml/2006/main" name="routeFlap_zyx">
  <a:themeElements>
    <a:clrScheme name="routeFlap_zyx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routeFlap_zyx">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charset="0"/>
            <a:ea typeface="宋体" pitchFamily="2" charset="-122"/>
          </a:defRPr>
        </a:defPPr>
      </a:lstStyle>
    </a:lnDef>
  </a:objectDefaults>
  <a:extraClrSchemeLst>
    <a:extraClrScheme>
      <a:clrScheme name="routeFlap_zyx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routeFlap_zyx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routeFlap_zyx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routeFlap_zyx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routeFlap_zyx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routeFlap_zyx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routeFlap_zyx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D:\work\presentation\others\lecture-2001\routeFlap_zyx.ppt</Template>
  <TotalTime>3511</TotalTime>
  <Words>5062</Words>
  <Application>Microsoft Office PowerPoint</Application>
  <PresentationFormat>全屏显示(4:3)</PresentationFormat>
  <Paragraphs>782</Paragraphs>
  <Slides>88</Slides>
  <Notes>7</Notes>
  <HiddenSlides>0</HiddenSlides>
  <MMClips>0</MMClips>
  <ScaleCrop>false</ScaleCrop>
  <HeadingPairs>
    <vt:vector size="6" baseType="variant">
      <vt:variant>
        <vt:lpstr>主题</vt:lpstr>
      </vt:variant>
      <vt:variant>
        <vt:i4>1</vt:i4>
      </vt:variant>
      <vt:variant>
        <vt:lpstr>嵌入 OLE 服务器</vt:lpstr>
      </vt:variant>
      <vt:variant>
        <vt:i4>3</vt:i4>
      </vt:variant>
      <vt:variant>
        <vt:lpstr>幻灯片标题</vt:lpstr>
      </vt:variant>
      <vt:variant>
        <vt:i4>88</vt:i4>
      </vt:variant>
    </vt:vector>
  </HeadingPairs>
  <TitlesOfParts>
    <vt:vector size="92" baseType="lpstr">
      <vt:lpstr>routeFlap_zyx</vt:lpstr>
      <vt:lpstr>Picture</vt:lpstr>
      <vt:lpstr>Document</vt:lpstr>
      <vt:lpstr>公式</vt:lpstr>
      <vt:lpstr>第二章 逻辑代数基础</vt:lpstr>
      <vt:lpstr>本章的组成</vt:lpstr>
      <vt:lpstr>2.1 逻辑代数的基本概念</vt:lpstr>
      <vt:lpstr>逻辑变量</vt:lpstr>
      <vt:lpstr>逻辑变量</vt:lpstr>
      <vt:lpstr>逻辑运算</vt:lpstr>
      <vt:lpstr>逻辑运算之“或”运算 OR</vt:lpstr>
      <vt:lpstr>PowerPoint 演示文稿</vt:lpstr>
      <vt:lpstr>逻辑运算之“与”运算 AND</vt:lpstr>
      <vt:lpstr>PowerPoint 演示文稿</vt:lpstr>
      <vt:lpstr>逻辑运算之“非”运算 NOT</vt:lpstr>
      <vt:lpstr>PowerPoint 演示文稿</vt:lpstr>
      <vt:lpstr>逻辑函数</vt:lpstr>
      <vt:lpstr>2.2 逻辑代数的公理、定理及规则</vt:lpstr>
      <vt:lpstr>逻辑代数的公理和基本定理</vt:lpstr>
      <vt:lpstr>逻辑代数的公理和基本定理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逻辑代数的重要规则</vt:lpstr>
      <vt:lpstr>逻辑代数的重要规则</vt:lpstr>
      <vt:lpstr>PowerPoint 演示文稿</vt:lpstr>
      <vt:lpstr>逻辑代数的重要规则</vt:lpstr>
      <vt:lpstr>PowerPoint 演示文稿</vt:lpstr>
      <vt:lpstr>复合逻辑</vt:lpstr>
      <vt:lpstr>复合逻辑</vt:lpstr>
      <vt:lpstr>复合逻辑</vt:lpstr>
      <vt:lpstr>2.3 逻辑函数表达式的形式与转换</vt:lpstr>
      <vt:lpstr>逻辑函数的表示法</vt:lpstr>
      <vt:lpstr>逻辑表达式</vt:lpstr>
      <vt:lpstr>真值表</vt:lpstr>
      <vt:lpstr>卡诺图</vt:lpstr>
      <vt:lpstr>逻辑函数表达式的基本形式</vt:lpstr>
      <vt:lpstr>逻辑函数表达式的基本形式</vt:lpstr>
      <vt:lpstr>逻辑函数表达式的标准形式</vt:lpstr>
      <vt:lpstr>最小项表达式</vt:lpstr>
      <vt:lpstr>PowerPoint 演示文稿</vt:lpstr>
      <vt:lpstr>PowerPoint 演示文稿</vt:lpstr>
      <vt:lpstr>最小项表达式</vt:lpstr>
      <vt:lpstr>最大项表达式</vt:lpstr>
      <vt:lpstr>PowerPoint 演示文稿</vt:lpstr>
      <vt:lpstr>PowerPoint 演示文稿</vt:lpstr>
      <vt:lpstr>最大项表达式</vt:lpstr>
      <vt:lpstr>两种标准形式的关系</vt:lpstr>
      <vt:lpstr>逻辑函数表达式的转换</vt:lpstr>
      <vt:lpstr>代数转换法</vt:lpstr>
      <vt:lpstr>PowerPoint 演示文稿</vt:lpstr>
      <vt:lpstr>代数转换法</vt:lpstr>
      <vt:lpstr>真值表转换法</vt:lpstr>
      <vt:lpstr>PowerPoint 演示文稿</vt:lpstr>
      <vt:lpstr>2.4 逻辑函数的化简</vt:lpstr>
      <vt:lpstr>代数化简法</vt:lpstr>
      <vt:lpstr>“与或”表达式的化简</vt:lpstr>
      <vt:lpstr>PowerPoint 演示文稿</vt:lpstr>
      <vt:lpstr>“或与”表达式的化简</vt:lpstr>
      <vt:lpstr>PowerPoint 演示文稿</vt:lpstr>
      <vt:lpstr>卡诺图化简法</vt:lpstr>
      <vt:lpstr>卡诺图的构成</vt:lpstr>
      <vt:lpstr>卡诺图的构成</vt:lpstr>
      <vt:lpstr>PowerPoint 演示文稿</vt:lpstr>
      <vt:lpstr>PowerPoint 演示文稿</vt:lpstr>
      <vt:lpstr>卡诺图的构成</vt:lpstr>
      <vt:lpstr>卡诺图的构成</vt:lpstr>
      <vt:lpstr>逻辑函数在卡诺图上的表示</vt:lpstr>
      <vt:lpstr>PowerPoint 演示文稿</vt:lpstr>
      <vt:lpstr>卡诺图上最小项的合并</vt:lpstr>
      <vt:lpstr>用卡诺图化简逻辑函数</vt:lpstr>
      <vt:lpstr>PowerPoint 演示文稿</vt:lpstr>
      <vt:lpstr>PowerPoint 演示文稿</vt:lpstr>
      <vt:lpstr>PowerPoint 演示文稿</vt:lpstr>
      <vt:lpstr>PowerPoint 演示文稿</vt:lpstr>
      <vt:lpstr>PowerPoint 演示文稿</vt:lpstr>
      <vt:lpstr>用卡诺图化简逻辑函数</vt:lpstr>
      <vt:lpstr>PowerPoint 演示文稿</vt:lpstr>
      <vt:lpstr>逻辑函数化简中有关问题的考虑</vt:lpstr>
      <vt:lpstr>包含无关最小项的逻辑函数的化简</vt:lpstr>
      <vt:lpstr>PowerPoint 演示文稿</vt:lpstr>
      <vt:lpstr>PowerPoint 演示文稿</vt:lpstr>
      <vt:lpstr>PowerPoint 演示文稿</vt:lpstr>
      <vt:lpstr>PowerPoint 演示文稿</vt:lpstr>
      <vt:lpstr>多输出逻辑函数的化简</vt:lpstr>
      <vt:lpstr>PowerPoint 演示文稿</vt:lpstr>
      <vt:lpstr>本章小结</vt:lpstr>
    </vt:vector>
  </TitlesOfParts>
  <Company>SHU</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Logic</dc:title>
  <dc:creator>Wang Xiaowei</dc:creator>
  <cp:lastModifiedBy>zyhwin10</cp:lastModifiedBy>
  <cp:revision>720</cp:revision>
  <dcterms:created xsi:type="dcterms:W3CDTF">1999-09-03T07:07:43Z</dcterms:created>
  <dcterms:modified xsi:type="dcterms:W3CDTF">2021-09-21T11:49:10Z</dcterms:modified>
</cp:coreProperties>
</file>